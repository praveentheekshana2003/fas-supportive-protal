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322" r:id="rId8"/>
    <p:sldId id="323" r:id="rId9"/>
    <p:sldId id="324" r:id="rId10"/>
    <p:sldId id="325" r:id="rId11"/>
    <p:sldId id="326" r:id="rId12"/>
    <p:sldId id="261" r:id="rId13"/>
    <p:sldId id="327" r:id="rId14"/>
    <p:sldId id="328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314" r:id="rId28"/>
    <p:sldId id="274" r:id="rId29"/>
    <p:sldId id="315" r:id="rId30"/>
    <p:sldId id="316" r:id="rId31"/>
    <p:sldId id="317" r:id="rId33"/>
    <p:sldId id="318" r:id="rId34"/>
    <p:sldId id="319" r:id="rId35"/>
    <p:sldId id="320" r:id="rId36"/>
    <p:sldId id="275" r:id="rId37"/>
    <p:sldId id="276" r:id="rId38"/>
    <p:sldId id="277" r:id="rId39"/>
    <p:sldId id="278" r:id="rId40"/>
    <p:sldId id="279" r:id="rId41"/>
    <p:sldId id="280" r:id="rId42"/>
    <p:sldId id="282" r:id="rId43"/>
    <p:sldId id="334" r:id="rId44"/>
    <p:sldId id="337" r:id="rId45"/>
    <p:sldId id="339" r:id="rId46"/>
    <p:sldId id="341" r:id="rId47"/>
    <p:sldId id="283" r:id="rId48"/>
    <p:sldId id="284" r:id="rId4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2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D8E9B-1365-4965-8D02-81809376D60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09F85-CCAB-4B23-9701-45560CD218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BA0D925-54BF-4AF0-9826-1ABD5C6780F9}" type="slidenum">
              <a:rPr lang="en-US"/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54113" y="692150"/>
            <a:ext cx="4554537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3213"/>
          </a:xfrm>
          <a:prstGeom prst="rect">
            <a:avLst/>
          </a:prstGeom>
          <a:noFill/>
          <a:ln>
            <a:miter lim="800000"/>
          </a:ln>
        </p:spPr>
        <p:txBody>
          <a:bodyPr lIns="92075" tIns="46038" rIns="92075" bIns="46038"/>
          <a:lstStyle/>
          <a:p>
            <a:pPr eaLnBrk="0" hangingPunct="0">
              <a:spcBef>
                <a:spcPct val="0"/>
              </a:spcBef>
            </a:pPr>
            <a:endParaRPr lang="en-US"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62724"/>
            <a:ext cx="448309" cy="2795270"/>
          </a:xfrm>
          <a:custGeom>
            <a:avLst/>
            <a:gdLst/>
            <a:ahLst/>
            <a:cxnLst/>
            <a:rect l="l" t="t" r="r" b="b"/>
            <a:pathLst>
              <a:path w="448309" h="2795270">
                <a:moveTo>
                  <a:pt x="447991" y="2795275"/>
                </a:moveTo>
                <a:lnTo>
                  <a:pt x="20555" y="2795275"/>
                </a:lnTo>
                <a:lnTo>
                  <a:pt x="0" y="2794895"/>
                </a:lnTo>
                <a:lnTo>
                  <a:pt x="0" y="0"/>
                </a:lnTo>
                <a:lnTo>
                  <a:pt x="447930" y="2794895"/>
                </a:lnTo>
                <a:lnTo>
                  <a:pt x="447991" y="2795275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130800" y="4181477"/>
            <a:ext cx="4013200" cy="2676525"/>
          </a:xfrm>
          <a:custGeom>
            <a:avLst/>
            <a:gdLst/>
            <a:ahLst/>
            <a:cxnLst/>
            <a:rect l="l" t="t" r="r" b="b"/>
            <a:pathLst>
              <a:path w="4013200" h="2676525">
                <a:moveTo>
                  <a:pt x="0" y="2676522"/>
                </a:moveTo>
                <a:lnTo>
                  <a:pt x="4013200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042150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199" y="6857999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891338" y="0"/>
            <a:ext cx="2252980" cy="6858000"/>
          </a:xfrm>
          <a:custGeom>
            <a:avLst/>
            <a:gdLst/>
            <a:ahLst/>
            <a:cxnLst/>
            <a:rect l="l" t="t" r="r" b="b"/>
            <a:pathLst>
              <a:path w="2252979" h="6858000">
                <a:moveTo>
                  <a:pt x="2252661" y="6857999"/>
                </a:moveTo>
                <a:lnTo>
                  <a:pt x="141447" y="6857999"/>
                </a:lnTo>
                <a:lnTo>
                  <a:pt x="0" y="6857472"/>
                </a:lnTo>
                <a:lnTo>
                  <a:pt x="2024142" y="0"/>
                </a:lnTo>
                <a:lnTo>
                  <a:pt x="2252661" y="8158"/>
                </a:lnTo>
                <a:lnTo>
                  <a:pt x="2252661" y="6857999"/>
                </a:lnTo>
                <a:close/>
              </a:path>
            </a:pathLst>
          </a:custGeom>
          <a:solidFill>
            <a:srgbClr val="90C126">
              <a:alpha val="2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207053" y="0"/>
            <a:ext cx="1937385" cy="6858000"/>
          </a:xfrm>
          <a:custGeom>
            <a:avLst/>
            <a:gdLst/>
            <a:ahLst/>
            <a:cxnLst/>
            <a:rect l="l" t="t" r="r" b="b"/>
            <a:pathLst>
              <a:path w="1937384" h="6858000">
                <a:moveTo>
                  <a:pt x="1936946" y="6857999"/>
                </a:moveTo>
                <a:lnTo>
                  <a:pt x="1200701" y="6857999"/>
                </a:lnTo>
                <a:lnTo>
                  <a:pt x="0" y="0"/>
                </a:lnTo>
                <a:lnTo>
                  <a:pt x="1936946" y="0"/>
                </a:lnTo>
                <a:lnTo>
                  <a:pt x="1936946" y="6857999"/>
                </a:lnTo>
                <a:close/>
              </a:path>
            </a:pathLst>
          </a:custGeom>
          <a:solidFill>
            <a:srgbClr val="90C126">
              <a:alpha val="1960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638925" y="3921192"/>
            <a:ext cx="2505075" cy="2936875"/>
          </a:xfrm>
          <a:custGeom>
            <a:avLst/>
            <a:gdLst/>
            <a:ahLst/>
            <a:cxnLst/>
            <a:rect l="l" t="t" r="r" b="b"/>
            <a:pathLst>
              <a:path w="2505075" h="2936875">
                <a:moveTo>
                  <a:pt x="2505074" y="2936807"/>
                </a:moveTo>
                <a:lnTo>
                  <a:pt x="0" y="2936807"/>
                </a:lnTo>
                <a:lnTo>
                  <a:pt x="2505074" y="0"/>
                </a:lnTo>
                <a:lnTo>
                  <a:pt x="2505074" y="2936807"/>
                </a:lnTo>
                <a:close/>
              </a:path>
            </a:pathLst>
          </a:custGeom>
          <a:solidFill>
            <a:srgbClr val="54A021">
              <a:alpha val="7176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012546" y="0"/>
            <a:ext cx="2131695" cy="6858000"/>
          </a:xfrm>
          <a:custGeom>
            <a:avLst/>
            <a:gdLst/>
            <a:ahLst/>
            <a:cxnLst/>
            <a:rect l="l" t="t" r="r" b="b"/>
            <a:pathLst>
              <a:path w="2131695" h="6858000">
                <a:moveTo>
                  <a:pt x="1854803" y="6857999"/>
                </a:moveTo>
                <a:lnTo>
                  <a:pt x="0" y="0"/>
                </a:lnTo>
                <a:lnTo>
                  <a:pt x="2131453" y="0"/>
                </a:lnTo>
                <a:lnTo>
                  <a:pt x="2131453" y="6849815"/>
                </a:lnTo>
                <a:lnTo>
                  <a:pt x="1854803" y="6857999"/>
                </a:lnTo>
                <a:close/>
              </a:path>
            </a:pathLst>
          </a:custGeom>
          <a:solidFill>
            <a:srgbClr val="3E7819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296275" y="0"/>
            <a:ext cx="847725" cy="6858000"/>
          </a:xfrm>
          <a:custGeom>
            <a:avLst/>
            <a:gdLst/>
            <a:ahLst/>
            <a:cxnLst/>
            <a:rect l="l" t="t" r="r" b="b"/>
            <a:pathLst>
              <a:path w="847725" h="6858000">
                <a:moveTo>
                  <a:pt x="847725" y="6857999"/>
                </a:moveTo>
                <a:lnTo>
                  <a:pt x="0" y="6857999"/>
                </a:lnTo>
                <a:lnTo>
                  <a:pt x="675994" y="0"/>
                </a:lnTo>
                <a:lnTo>
                  <a:pt x="847725" y="0"/>
                </a:lnTo>
                <a:lnTo>
                  <a:pt x="847725" y="6857999"/>
                </a:lnTo>
                <a:close/>
              </a:path>
            </a:pathLst>
          </a:custGeom>
          <a:solidFill>
            <a:srgbClr val="C0E473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078285" y="0"/>
            <a:ext cx="1066165" cy="6858000"/>
          </a:xfrm>
          <a:custGeom>
            <a:avLst/>
            <a:gdLst/>
            <a:ahLst/>
            <a:cxnLst/>
            <a:rect l="l" t="t" r="r" b="b"/>
            <a:pathLst>
              <a:path w="1066165" h="6858000">
                <a:moveTo>
                  <a:pt x="1065509" y="6857999"/>
                </a:moveTo>
                <a:lnTo>
                  <a:pt x="937518" y="6857999"/>
                </a:lnTo>
                <a:lnTo>
                  <a:pt x="0" y="0"/>
                </a:lnTo>
                <a:lnTo>
                  <a:pt x="1051281" y="0"/>
                </a:lnTo>
                <a:lnTo>
                  <a:pt x="1051240" y="42983"/>
                </a:lnTo>
                <a:lnTo>
                  <a:pt x="1051197" y="93900"/>
                </a:lnTo>
                <a:lnTo>
                  <a:pt x="1051162" y="144815"/>
                </a:lnTo>
                <a:lnTo>
                  <a:pt x="1051133" y="195727"/>
                </a:lnTo>
                <a:lnTo>
                  <a:pt x="1051111" y="246636"/>
                </a:lnTo>
                <a:lnTo>
                  <a:pt x="1051095" y="297543"/>
                </a:lnTo>
                <a:lnTo>
                  <a:pt x="1051086" y="348447"/>
                </a:lnTo>
                <a:lnTo>
                  <a:pt x="1051083" y="399349"/>
                </a:lnTo>
                <a:lnTo>
                  <a:pt x="1051086" y="450248"/>
                </a:lnTo>
                <a:lnTo>
                  <a:pt x="1051096" y="501145"/>
                </a:lnTo>
                <a:lnTo>
                  <a:pt x="1051111" y="552040"/>
                </a:lnTo>
                <a:lnTo>
                  <a:pt x="1051132" y="602932"/>
                </a:lnTo>
                <a:lnTo>
                  <a:pt x="1051159" y="653822"/>
                </a:lnTo>
                <a:lnTo>
                  <a:pt x="1051192" y="704709"/>
                </a:lnTo>
                <a:lnTo>
                  <a:pt x="1051230" y="755595"/>
                </a:lnTo>
                <a:lnTo>
                  <a:pt x="1051274" y="806478"/>
                </a:lnTo>
                <a:lnTo>
                  <a:pt x="1051323" y="857359"/>
                </a:lnTo>
                <a:lnTo>
                  <a:pt x="1051377" y="908238"/>
                </a:lnTo>
                <a:lnTo>
                  <a:pt x="1051437" y="959115"/>
                </a:lnTo>
                <a:lnTo>
                  <a:pt x="1051501" y="1009990"/>
                </a:lnTo>
                <a:lnTo>
                  <a:pt x="1051571" y="1060863"/>
                </a:lnTo>
                <a:lnTo>
                  <a:pt x="1051645" y="1111734"/>
                </a:lnTo>
                <a:lnTo>
                  <a:pt x="1051724" y="1162604"/>
                </a:lnTo>
                <a:lnTo>
                  <a:pt x="1051807" y="1213471"/>
                </a:lnTo>
                <a:lnTo>
                  <a:pt x="1051896" y="1264337"/>
                </a:lnTo>
                <a:lnTo>
                  <a:pt x="1051988" y="1315201"/>
                </a:lnTo>
                <a:lnTo>
                  <a:pt x="1052085" y="1366063"/>
                </a:lnTo>
                <a:lnTo>
                  <a:pt x="1052186" y="1416923"/>
                </a:lnTo>
                <a:lnTo>
                  <a:pt x="1052291" y="1467782"/>
                </a:lnTo>
                <a:lnTo>
                  <a:pt x="1052401" y="1518639"/>
                </a:lnTo>
                <a:lnTo>
                  <a:pt x="1052514" y="1569495"/>
                </a:lnTo>
                <a:lnTo>
                  <a:pt x="1052631" y="1620349"/>
                </a:lnTo>
                <a:lnTo>
                  <a:pt x="1052751" y="1671202"/>
                </a:lnTo>
                <a:lnTo>
                  <a:pt x="1052875" y="1722053"/>
                </a:lnTo>
                <a:lnTo>
                  <a:pt x="1053003" y="1772903"/>
                </a:lnTo>
                <a:lnTo>
                  <a:pt x="1053134" y="1823752"/>
                </a:lnTo>
                <a:lnTo>
                  <a:pt x="1053269" y="1874599"/>
                </a:lnTo>
                <a:lnTo>
                  <a:pt x="1053406" y="1925445"/>
                </a:lnTo>
                <a:lnTo>
                  <a:pt x="1053547" y="1976290"/>
                </a:lnTo>
                <a:lnTo>
                  <a:pt x="1053690" y="2027133"/>
                </a:lnTo>
                <a:lnTo>
                  <a:pt x="1053837" y="2077976"/>
                </a:lnTo>
                <a:lnTo>
                  <a:pt x="1053986" y="2128817"/>
                </a:lnTo>
                <a:lnTo>
                  <a:pt x="1054138" y="2179658"/>
                </a:lnTo>
                <a:lnTo>
                  <a:pt x="1054292" y="2230497"/>
                </a:lnTo>
                <a:lnTo>
                  <a:pt x="1054449" y="2281335"/>
                </a:lnTo>
                <a:lnTo>
                  <a:pt x="1054608" y="2332173"/>
                </a:lnTo>
                <a:lnTo>
                  <a:pt x="1054769" y="2383009"/>
                </a:lnTo>
                <a:lnTo>
                  <a:pt x="1054933" y="2433845"/>
                </a:lnTo>
                <a:lnTo>
                  <a:pt x="1055098" y="2484680"/>
                </a:lnTo>
                <a:lnTo>
                  <a:pt x="1055266" y="2535514"/>
                </a:lnTo>
                <a:lnTo>
                  <a:pt x="1055435" y="2586347"/>
                </a:lnTo>
                <a:lnTo>
                  <a:pt x="1055606" y="2637180"/>
                </a:lnTo>
                <a:lnTo>
                  <a:pt x="1055779" y="2688012"/>
                </a:lnTo>
                <a:lnTo>
                  <a:pt x="1055953" y="2738844"/>
                </a:lnTo>
                <a:lnTo>
                  <a:pt x="1056129" y="2789675"/>
                </a:lnTo>
                <a:lnTo>
                  <a:pt x="1056305" y="2840505"/>
                </a:lnTo>
                <a:lnTo>
                  <a:pt x="1056483" y="2891335"/>
                </a:lnTo>
                <a:lnTo>
                  <a:pt x="1056663" y="2942164"/>
                </a:lnTo>
                <a:lnTo>
                  <a:pt x="1056843" y="2992993"/>
                </a:lnTo>
                <a:lnTo>
                  <a:pt x="1057024" y="3043822"/>
                </a:lnTo>
                <a:lnTo>
                  <a:pt x="1057206" y="3094651"/>
                </a:lnTo>
                <a:lnTo>
                  <a:pt x="1057388" y="3145479"/>
                </a:lnTo>
                <a:lnTo>
                  <a:pt x="1057571" y="3196307"/>
                </a:lnTo>
                <a:lnTo>
                  <a:pt x="1057938" y="3297962"/>
                </a:lnTo>
                <a:lnTo>
                  <a:pt x="1059043" y="3602927"/>
                </a:lnTo>
                <a:lnTo>
                  <a:pt x="1059410" y="3704583"/>
                </a:lnTo>
                <a:lnTo>
                  <a:pt x="1059592" y="3755411"/>
                </a:lnTo>
                <a:lnTo>
                  <a:pt x="1059774" y="3806240"/>
                </a:lnTo>
                <a:lnTo>
                  <a:pt x="1059955" y="3857068"/>
                </a:lnTo>
                <a:lnTo>
                  <a:pt x="1060135" y="3907897"/>
                </a:lnTo>
                <a:lnTo>
                  <a:pt x="1060315" y="3958727"/>
                </a:lnTo>
                <a:lnTo>
                  <a:pt x="1060493" y="4009557"/>
                </a:lnTo>
                <a:lnTo>
                  <a:pt x="1060669" y="4060387"/>
                </a:lnTo>
                <a:lnTo>
                  <a:pt x="1060845" y="4111218"/>
                </a:lnTo>
                <a:lnTo>
                  <a:pt x="1061019" y="4162050"/>
                </a:lnTo>
                <a:lnTo>
                  <a:pt x="1061192" y="4212882"/>
                </a:lnTo>
                <a:lnTo>
                  <a:pt x="1061363" y="4263714"/>
                </a:lnTo>
                <a:lnTo>
                  <a:pt x="1061532" y="4314548"/>
                </a:lnTo>
                <a:lnTo>
                  <a:pt x="1061700" y="4365382"/>
                </a:lnTo>
                <a:lnTo>
                  <a:pt x="1061865" y="4416217"/>
                </a:lnTo>
                <a:lnTo>
                  <a:pt x="1062029" y="4467053"/>
                </a:lnTo>
                <a:lnTo>
                  <a:pt x="1062190" y="4517889"/>
                </a:lnTo>
                <a:lnTo>
                  <a:pt x="1062349" y="4568727"/>
                </a:lnTo>
                <a:lnTo>
                  <a:pt x="1062506" y="4619565"/>
                </a:lnTo>
                <a:lnTo>
                  <a:pt x="1062660" y="4670404"/>
                </a:lnTo>
                <a:lnTo>
                  <a:pt x="1062812" y="4721245"/>
                </a:lnTo>
                <a:lnTo>
                  <a:pt x="1062961" y="4772086"/>
                </a:lnTo>
                <a:lnTo>
                  <a:pt x="1063108" y="4822928"/>
                </a:lnTo>
                <a:lnTo>
                  <a:pt x="1063251" y="4873772"/>
                </a:lnTo>
                <a:lnTo>
                  <a:pt x="1063392" y="4924617"/>
                </a:lnTo>
                <a:lnTo>
                  <a:pt x="1063530" y="4975463"/>
                </a:lnTo>
                <a:lnTo>
                  <a:pt x="1063664" y="5026310"/>
                </a:lnTo>
                <a:lnTo>
                  <a:pt x="1063795" y="5077159"/>
                </a:lnTo>
                <a:lnTo>
                  <a:pt x="1063923" y="5128009"/>
                </a:lnTo>
                <a:lnTo>
                  <a:pt x="1064047" y="5178860"/>
                </a:lnTo>
                <a:lnTo>
                  <a:pt x="1064167" y="5229713"/>
                </a:lnTo>
                <a:lnTo>
                  <a:pt x="1064284" y="5280567"/>
                </a:lnTo>
                <a:lnTo>
                  <a:pt x="1064397" y="5331423"/>
                </a:lnTo>
                <a:lnTo>
                  <a:pt x="1064507" y="5382280"/>
                </a:lnTo>
                <a:lnTo>
                  <a:pt x="1064612" y="5433139"/>
                </a:lnTo>
                <a:lnTo>
                  <a:pt x="1064713" y="5483999"/>
                </a:lnTo>
                <a:lnTo>
                  <a:pt x="1064810" y="5534861"/>
                </a:lnTo>
                <a:lnTo>
                  <a:pt x="1064903" y="5585725"/>
                </a:lnTo>
                <a:lnTo>
                  <a:pt x="1064991" y="5636591"/>
                </a:lnTo>
                <a:lnTo>
                  <a:pt x="1065074" y="5687458"/>
                </a:lnTo>
                <a:lnTo>
                  <a:pt x="1065153" y="5738327"/>
                </a:lnTo>
                <a:lnTo>
                  <a:pt x="1065228" y="5789199"/>
                </a:lnTo>
                <a:lnTo>
                  <a:pt x="1065297" y="5840072"/>
                </a:lnTo>
                <a:lnTo>
                  <a:pt x="1065361" y="5890947"/>
                </a:lnTo>
                <a:lnTo>
                  <a:pt x="1065421" y="5941824"/>
                </a:lnTo>
                <a:lnTo>
                  <a:pt x="1065475" y="5992703"/>
                </a:lnTo>
                <a:lnTo>
                  <a:pt x="1065524" y="6043584"/>
                </a:lnTo>
                <a:lnTo>
                  <a:pt x="1065568" y="6094467"/>
                </a:lnTo>
                <a:lnTo>
                  <a:pt x="1065715" y="6145353"/>
                </a:lnTo>
                <a:lnTo>
                  <a:pt x="1065715" y="6756162"/>
                </a:lnTo>
                <a:lnTo>
                  <a:pt x="1065559" y="6807079"/>
                </a:lnTo>
                <a:lnTo>
                  <a:pt x="1065509" y="6857999"/>
                </a:lnTo>
                <a:close/>
              </a:path>
            </a:pathLst>
          </a:custGeom>
          <a:solidFill>
            <a:srgbClr val="90C126">
              <a:alpha val="6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059737" y="4905100"/>
            <a:ext cx="1084580" cy="1953260"/>
          </a:xfrm>
          <a:custGeom>
            <a:avLst/>
            <a:gdLst/>
            <a:ahLst/>
            <a:cxnLst/>
            <a:rect l="l" t="t" r="r" b="b"/>
            <a:pathLst>
              <a:path w="1084579" h="1953259">
                <a:moveTo>
                  <a:pt x="0" y="1952898"/>
                </a:moveTo>
                <a:lnTo>
                  <a:pt x="1084262" y="0"/>
                </a:lnTo>
                <a:lnTo>
                  <a:pt x="1084262" y="1947862"/>
                </a:lnTo>
                <a:lnTo>
                  <a:pt x="0" y="1952898"/>
                </a:lnTo>
                <a:close/>
              </a:path>
            </a:pathLst>
          </a:custGeom>
          <a:solidFill>
            <a:srgbClr val="90C126">
              <a:alpha val="7960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8625" y="311911"/>
            <a:ext cx="8286750" cy="143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1862" y="2151443"/>
            <a:ext cx="6156325" cy="294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en.wikipedia.org/wiki/Database" TargetMode="External"/><Relationship Id="rId1" Type="http://schemas.openxmlformats.org/officeDocument/2006/relationships/hyperlink" Target="http://en.wikipedia.org/wiki/Programming_language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en.wikipedia.org/wiki/Revoke_(SQL)" TargetMode="External"/><Relationship Id="rId1" Type="http://schemas.openxmlformats.org/officeDocument/2006/relationships/hyperlink" Target="http://en.wikipedia.org/wiki/Grant_(SQL)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26038" y="-4761"/>
            <a:ext cx="4022725" cy="6867525"/>
            <a:chOff x="5126038" y="-4761"/>
            <a:chExt cx="4022725" cy="6867525"/>
          </a:xfrm>
        </p:grpSpPr>
        <p:sp>
          <p:nvSpPr>
            <p:cNvPr id="3" name="object 3"/>
            <p:cNvSpPr/>
            <p:nvPr/>
          </p:nvSpPr>
          <p:spPr>
            <a:xfrm>
              <a:off x="5130800" y="4181477"/>
              <a:ext cx="4013200" cy="2676525"/>
            </a:xfrm>
            <a:custGeom>
              <a:avLst/>
              <a:gdLst/>
              <a:ahLst/>
              <a:cxnLst/>
              <a:rect l="l" t="t" r="r" b="b"/>
              <a:pathLst>
                <a:path w="4013200" h="2676525">
                  <a:moveTo>
                    <a:pt x="0" y="2676522"/>
                  </a:moveTo>
                  <a:lnTo>
                    <a:pt x="4013199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042150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199" y="6857999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91338" y="0"/>
              <a:ext cx="2252980" cy="6858000"/>
            </a:xfrm>
            <a:custGeom>
              <a:avLst/>
              <a:gdLst/>
              <a:ahLst/>
              <a:cxnLst/>
              <a:rect l="l" t="t" r="r" b="b"/>
              <a:pathLst>
                <a:path w="2252979" h="6858000">
                  <a:moveTo>
                    <a:pt x="2252661" y="6857999"/>
                  </a:moveTo>
                  <a:lnTo>
                    <a:pt x="141447" y="6857999"/>
                  </a:lnTo>
                  <a:lnTo>
                    <a:pt x="0" y="6857472"/>
                  </a:lnTo>
                  <a:lnTo>
                    <a:pt x="2024142" y="0"/>
                  </a:lnTo>
                  <a:lnTo>
                    <a:pt x="2252661" y="8158"/>
                  </a:lnTo>
                  <a:lnTo>
                    <a:pt x="2252661" y="6857999"/>
                  </a:lnTo>
                  <a:close/>
                </a:path>
              </a:pathLst>
            </a:custGeom>
            <a:solidFill>
              <a:srgbClr val="90C126">
                <a:alpha val="2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207052" y="0"/>
              <a:ext cx="1937385" cy="6858000"/>
            </a:xfrm>
            <a:custGeom>
              <a:avLst/>
              <a:gdLst/>
              <a:ahLst/>
              <a:cxnLst/>
              <a:rect l="l" t="t" r="r" b="b"/>
              <a:pathLst>
                <a:path w="1937384" h="6858000">
                  <a:moveTo>
                    <a:pt x="1936947" y="6857999"/>
                  </a:moveTo>
                  <a:lnTo>
                    <a:pt x="1200702" y="6857999"/>
                  </a:lnTo>
                  <a:lnTo>
                    <a:pt x="0" y="0"/>
                  </a:lnTo>
                  <a:lnTo>
                    <a:pt x="1936947" y="0"/>
                  </a:lnTo>
                  <a:lnTo>
                    <a:pt x="1936947" y="6857999"/>
                  </a:lnTo>
                  <a:close/>
                </a:path>
              </a:pathLst>
            </a:custGeom>
            <a:solidFill>
              <a:srgbClr val="90C126">
                <a:alpha val="1960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38925" y="3921191"/>
              <a:ext cx="2505075" cy="2936875"/>
            </a:xfrm>
            <a:custGeom>
              <a:avLst/>
              <a:gdLst/>
              <a:ahLst/>
              <a:cxnLst/>
              <a:rect l="l" t="t" r="r" b="b"/>
              <a:pathLst>
                <a:path w="2505075" h="2936875">
                  <a:moveTo>
                    <a:pt x="2505074" y="2936808"/>
                  </a:moveTo>
                  <a:lnTo>
                    <a:pt x="0" y="2936808"/>
                  </a:lnTo>
                  <a:lnTo>
                    <a:pt x="2505074" y="0"/>
                  </a:lnTo>
                  <a:lnTo>
                    <a:pt x="2505074" y="2936808"/>
                  </a:lnTo>
                  <a:close/>
                </a:path>
              </a:pathLst>
            </a:custGeom>
            <a:solidFill>
              <a:srgbClr val="54A021">
                <a:alpha val="7176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12545" y="0"/>
              <a:ext cx="2131695" cy="6858000"/>
            </a:xfrm>
            <a:custGeom>
              <a:avLst/>
              <a:gdLst/>
              <a:ahLst/>
              <a:cxnLst/>
              <a:rect l="l" t="t" r="r" b="b"/>
              <a:pathLst>
                <a:path w="2131695" h="6858000">
                  <a:moveTo>
                    <a:pt x="1854804" y="6857999"/>
                  </a:moveTo>
                  <a:lnTo>
                    <a:pt x="0" y="0"/>
                  </a:lnTo>
                  <a:lnTo>
                    <a:pt x="2131454" y="0"/>
                  </a:lnTo>
                  <a:lnTo>
                    <a:pt x="2131454" y="6849815"/>
                  </a:lnTo>
                  <a:lnTo>
                    <a:pt x="1854804" y="6857999"/>
                  </a:lnTo>
                  <a:close/>
                </a:path>
              </a:pathLst>
            </a:custGeom>
            <a:solidFill>
              <a:srgbClr val="3E7819">
                <a:alpha val="6980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296275" y="0"/>
              <a:ext cx="847725" cy="6858000"/>
            </a:xfrm>
            <a:custGeom>
              <a:avLst/>
              <a:gdLst/>
              <a:ahLst/>
              <a:cxnLst/>
              <a:rect l="l" t="t" r="r" b="b"/>
              <a:pathLst>
                <a:path w="847725" h="6858000">
                  <a:moveTo>
                    <a:pt x="847725" y="6857999"/>
                  </a:moveTo>
                  <a:lnTo>
                    <a:pt x="0" y="6857999"/>
                  </a:lnTo>
                  <a:lnTo>
                    <a:pt x="675994" y="0"/>
                  </a:lnTo>
                  <a:lnTo>
                    <a:pt x="847725" y="0"/>
                  </a:lnTo>
                  <a:lnTo>
                    <a:pt x="847725" y="6857999"/>
                  </a:lnTo>
                  <a:close/>
                </a:path>
              </a:pathLst>
            </a:custGeom>
            <a:solidFill>
              <a:srgbClr val="C0E473">
                <a:alpha val="6980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078285" y="0"/>
              <a:ext cx="1066165" cy="6858000"/>
            </a:xfrm>
            <a:custGeom>
              <a:avLst/>
              <a:gdLst/>
              <a:ahLst/>
              <a:cxnLst/>
              <a:rect l="l" t="t" r="r" b="b"/>
              <a:pathLst>
                <a:path w="1066165" h="6858000">
                  <a:moveTo>
                    <a:pt x="1065509" y="6857999"/>
                  </a:moveTo>
                  <a:lnTo>
                    <a:pt x="937518" y="6857999"/>
                  </a:lnTo>
                  <a:lnTo>
                    <a:pt x="0" y="0"/>
                  </a:lnTo>
                  <a:lnTo>
                    <a:pt x="1051281" y="0"/>
                  </a:lnTo>
                  <a:lnTo>
                    <a:pt x="1051240" y="42983"/>
                  </a:lnTo>
                  <a:lnTo>
                    <a:pt x="1051197" y="93900"/>
                  </a:lnTo>
                  <a:lnTo>
                    <a:pt x="1051162" y="144815"/>
                  </a:lnTo>
                  <a:lnTo>
                    <a:pt x="1051133" y="195727"/>
                  </a:lnTo>
                  <a:lnTo>
                    <a:pt x="1051111" y="246636"/>
                  </a:lnTo>
                  <a:lnTo>
                    <a:pt x="1051095" y="297543"/>
                  </a:lnTo>
                  <a:lnTo>
                    <a:pt x="1051086" y="348447"/>
                  </a:lnTo>
                  <a:lnTo>
                    <a:pt x="1051083" y="399349"/>
                  </a:lnTo>
                  <a:lnTo>
                    <a:pt x="1051086" y="450248"/>
                  </a:lnTo>
                  <a:lnTo>
                    <a:pt x="1051096" y="501145"/>
                  </a:lnTo>
                  <a:lnTo>
                    <a:pt x="1051111" y="552040"/>
                  </a:lnTo>
                  <a:lnTo>
                    <a:pt x="1051132" y="602932"/>
                  </a:lnTo>
                  <a:lnTo>
                    <a:pt x="1051159" y="653822"/>
                  </a:lnTo>
                  <a:lnTo>
                    <a:pt x="1051192" y="704709"/>
                  </a:lnTo>
                  <a:lnTo>
                    <a:pt x="1051230" y="755595"/>
                  </a:lnTo>
                  <a:lnTo>
                    <a:pt x="1051274" y="806478"/>
                  </a:lnTo>
                  <a:lnTo>
                    <a:pt x="1051323" y="857359"/>
                  </a:lnTo>
                  <a:lnTo>
                    <a:pt x="1051377" y="908238"/>
                  </a:lnTo>
                  <a:lnTo>
                    <a:pt x="1051437" y="959115"/>
                  </a:lnTo>
                  <a:lnTo>
                    <a:pt x="1051501" y="1009990"/>
                  </a:lnTo>
                  <a:lnTo>
                    <a:pt x="1051571" y="1060863"/>
                  </a:lnTo>
                  <a:lnTo>
                    <a:pt x="1051645" y="1111734"/>
                  </a:lnTo>
                  <a:lnTo>
                    <a:pt x="1051724" y="1162604"/>
                  </a:lnTo>
                  <a:lnTo>
                    <a:pt x="1051807" y="1213471"/>
                  </a:lnTo>
                  <a:lnTo>
                    <a:pt x="1051896" y="1264337"/>
                  </a:lnTo>
                  <a:lnTo>
                    <a:pt x="1051988" y="1315201"/>
                  </a:lnTo>
                  <a:lnTo>
                    <a:pt x="1052085" y="1366063"/>
                  </a:lnTo>
                  <a:lnTo>
                    <a:pt x="1052186" y="1416923"/>
                  </a:lnTo>
                  <a:lnTo>
                    <a:pt x="1052291" y="1467782"/>
                  </a:lnTo>
                  <a:lnTo>
                    <a:pt x="1052401" y="1518639"/>
                  </a:lnTo>
                  <a:lnTo>
                    <a:pt x="1052514" y="1569495"/>
                  </a:lnTo>
                  <a:lnTo>
                    <a:pt x="1052631" y="1620349"/>
                  </a:lnTo>
                  <a:lnTo>
                    <a:pt x="1052751" y="1671202"/>
                  </a:lnTo>
                  <a:lnTo>
                    <a:pt x="1052875" y="1722053"/>
                  </a:lnTo>
                  <a:lnTo>
                    <a:pt x="1053003" y="1772903"/>
                  </a:lnTo>
                  <a:lnTo>
                    <a:pt x="1053134" y="1823752"/>
                  </a:lnTo>
                  <a:lnTo>
                    <a:pt x="1053269" y="1874599"/>
                  </a:lnTo>
                  <a:lnTo>
                    <a:pt x="1053406" y="1925445"/>
                  </a:lnTo>
                  <a:lnTo>
                    <a:pt x="1053547" y="1976290"/>
                  </a:lnTo>
                  <a:lnTo>
                    <a:pt x="1053690" y="2027133"/>
                  </a:lnTo>
                  <a:lnTo>
                    <a:pt x="1053837" y="2077976"/>
                  </a:lnTo>
                  <a:lnTo>
                    <a:pt x="1053986" y="2128817"/>
                  </a:lnTo>
                  <a:lnTo>
                    <a:pt x="1054138" y="2179658"/>
                  </a:lnTo>
                  <a:lnTo>
                    <a:pt x="1054292" y="2230497"/>
                  </a:lnTo>
                  <a:lnTo>
                    <a:pt x="1054449" y="2281335"/>
                  </a:lnTo>
                  <a:lnTo>
                    <a:pt x="1054608" y="2332173"/>
                  </a:lnTo>
                  <a:lnTo>
                    <a:pt x="1054769" y="2383009"/>
                  </a:lnTo>
                  <a:lnTo>
                    <a:pt x="1054933" y="2433845"/>
                  </a:lnTo>
                  <a:lnTo>
                    <a:pt x="1055099" y="2484680"/>
                  </a:lnTo>
                  <a:lnTo>
                    <a:pt x="1055266" y="2535514"/>
                  </a:lnTo>
                  <a:lnTo>
                    <a:pt x="1055435" y="2586347"/>
                  </a:lnTo>
                  <a:lnTo>
                    <a:pt x="1055606" y="2637180"/>
                  </a:lnTo>
                  <a:lnTo>
                    <a:pt x="1055779" y="2688012"/>
                  </a:lnTo>
                  <a:lnTo>
                    <a:pt x="1055953" y="2738844"/>
                  </a:lnTo>
                  <a:lnTo>
                    <a:pt x="1056129" y="2789675"/>
                  </a:lnTo>
                  <a:lnTo>
                    <a:pt x="1056306" y="2840505"/>
                  </a:lnTo>
                  <a:lnTo>
                    <a:pt x="1056484" y="2891335"/>
                  </a:lnTo>
                  <a:lnTo>
                    <a:pt x="1056663" y="2942164"/>
                  </a:lnTo>
                  <a:lnTo>
                    <a:pt x="1056843" y="2992993"/>
                  </a:lnTo>
                  <a:lnTo>
                    <a:pt x="1057024" y="3043822"/>
                  </a:lnTo>
                  <a:lnTo>
                    <a:pt x="1057206" y="3094651"/>
                  </a:lnTo>
                  <a:lnTo>
                    <a:pt x="1057388" y="3145479"/>
                  </a:lnTo>
                  <a:lnTo>
                    <a:pt x="1057571" y="3196307"/>
                  </a:lnTo>
                  <a:lnTo>
                    <a:pt x="1057939" y="3297962"/>
                  </a:lnTo>
                  <a:lnTo>
                    <a:pt x="1059044" y="3602927"/>
                  </a:lnTo>
                  <a:lnTo>
                    <a:pt x="1059410" y="3704583"/>
                  </a:lnTo>
                  <a:lnTo>
                    <a:pt x="1059593" y="3755411"/>
                  </a:lnTo>
                  <a:lnTo>
                    <a:pt x="1059774" y="3806240"/>
                  </a:lnTo>
                  <a:lnTo>
                    <a:pt x="1059955" y="3857068"/>
                  </a:lnTo>
                  <a:lnTo>
                    <a:pt x="1060136" y="3907897"/>
                  </a:lnTo>
                  <a:lnTo>
                    <a:pt x="1060315" y="3958727"/>
                  </a:lnTo>
                  <a:lnTo>
                    <a:pt x="1060493" y="4009557"/>
                  </a:lnTo>
                  <a:lnTo>
                    <a:pt x="1060670" y="4060387"/>
                  </a:lnTo>
                  <a:lnTo>
                    <a:pt x="1060845" y="4111218"/>
                  </a:lnTo>
                  <a:lnTo>
                    <a:pt x="1061019" y="4162050"/>
                  </a:lnTo>
                  <a:lnTo>
                    <a:pt x="1061192" y="4212882"/>
                  </a:lnTo>
                  <a:lnTo>
                    <a:pt x="1061363" y="4263714"/>
                  </a:lnTo>
                  <a:lnTo>
                    <a:pt x="1061532" y="4314548"/>
                  </a:lnTo>
                  <a:lnTo>
                    <a:pt x="1061700" y="4365382"/>
                  </a:lnTo>
                  <a:lnTo>
                    <a:pt x="1061865" y="4416217"/>
                  </a:lnTo>
                  <a:lnTo>
                    <a:pt x="1062029" y="4467053"/>
                  </a:lnTo>
                  <a:lnTo>
                    <a:pt x="1062190" y="4517889"/>
                  </a:lnTo>
                  <a:lnTo>
                    <a:pt x="1062349" y="4568727"/>
                  </a:lnTo>
                  <a:lnTo>
                    <a:pt x="1062506" y="4619565"/>
                  </a:lnTo>
                  <a:lnTo>
                    <a:pt x="1062661" y="4670404"/>
                  </a:lnTo>
                  <a:lnTo>
                    <a:pt x="1062812" y="4721245"/>
                  </a:lnTo>
                  <a:lnTo>
                    <a:pt x="1062962" y="4772086"/>
                  </a:lnTo>
                  <a:lnTo>
                    <a:pt x="1063108" y="4822928"/>
                  </a:lnTo>
                  <a:lnTo>
                    <a:pt x="1063252" y="4873772"/>
                  </a:lnTo>
                  <a:lnTo>
                    <a:pt x="1063392" y="4924617"/>
                  </a:lnTo>
                  <a:lnTo>
                    <a:pt x="1063530" y="4975463"/>
                  </a:lnTo>
                  <a:lnTo>
                    <a:pt x="1063664" y="5026310"/>
                  </a:lnTo>
                  <a:lnTo>
                    <a:pt x="1063795" y="5077159"/>
                  </a:lnTo>
                  <a:lnTo>
                    <a:pt x="1063923" y="5128009"/>
                  </a:lnTo>
                  <a:lnTo>
                    <a:pt x="1064047" y="5178860"/>
                  </a:lnTo>
                  <a:lnTo>
                    <a:pt x="1064168" y="5229713"/>
                  </a:lnTo>
                  <a:lnTo>
                    <a:pt x="1064285" y="5280567"/>
                  </a:lnTo>
                  <a:lnTo>
                    <a:pt x="1064398" y="5331423"/>
                  </a:lnTo>
                  <a:lnTo>
                    <a:pt x="1064507" y="5382280"/>
                  </a:lnTo>
                  <a:lnTo>
                    <a:pt x="1064612" y="5433139"/>
                  </a:lnTo>
                  <a:lnTo>
                    <a:pt x="1064713" y="5483999"/>
                  </a:lnTo>
                  <a:lnTo>
                    <a:pt x="1064810" y="5534861"/>
                  </a:lnTo>
                  <a:lnTo>
                    <a:pt x="1064903" y="5585725"/>
                  </a:lnTo>
                  <a:lnTo>
                    <a:pt x="1064991" y="5636591"/>
                  </a:lnTo>
                  <a:lnTo>
                    <a:pt x="1065074" y="5687458"/>
                  </a:lnTo>
                  <a:lnTo>
                    <a:pt x="1065153" y="5738327"/>
                  </a:lnTo>
                  <a:lnTo>
                    <a:pt x="1065228" y="5789199"/>
                  </a:lnTo>
                  <a:lnTo>
                    <a:pt x="1065297" y="5840072"/>
                  </a:lnTo>
                  <a:lnTo>
                    <a:pt x="1065362" y="5890947"/>
                  </a:lnTo>
                  <a:lnTo>
                    <a:pt x="1065421" y="5941824"/>
                  </a:lnTo>
                  <a:lnTo>
                    <a:pt x="1065475" y="5992703"/>
                  </a:lnTo>
                  <a:lnTo>
                    <a:pt x="1065524" y="6043584"/>
                  </a:lnTo>
                  <a:lnTo>
                    <a:pt x="1065568" y="6094467"/>
                  </a:lnTo>
                  <a:lnTo>
                    <a:pt x="1065715" y="6145353"/>
                  </a:lnTo>
                  <a:lnTo>
                    <a:pt x="1065715" y="6756162"/>
                  </a:lnTo>
                  <a:lnTo>
                    <a:pt x="1065559" y="6807079"/>
                  </a:lnTo>
                  <a:lnTo>
                    <a:pt x="1065509" y="6857999"/>
                  </a:lnTo>
                  <a:close/>
                </a:path>
              </a:pathLst>
            </a:custGeom>
            <a:solidFill>
              <a:srgbClr val="90C126">
                <a:alpha val="6470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059738" y="4905102"/>
              <a:ext cx="1084580" cy="1953260"/>
            </a:xfrm>
            <a:custGeom>
              <a:avLst/>
              <a:gdLst/>
              <a:ahLst/>
              <a:cxnLst/>
              <a:rect l="l" t="t" r="r" b="b"/>
              <a:pathLst>
                <a:path w="1084579" h="1953259">
                  <a:moveTo>
                    <a:pt x="0" y="1952897"/>
                  </a:moveTo>
                  <a:lnTo>
                    <a:pt x="1084261" y="0"/>
                  </a:lnTo>
                  <a:lnTo>
                    <a:pt x="1084261" y="1947861"/>
                  </a:lnTo>
                  <a:lnTo>
                    <a:pt x="0" y="1952897"/>
                  </a:lnTo>
                  <a:close/>
                </a:path>
              </a:pathLst>
            </a:custGeom>
            <a:solidFill>
              <a:srgbClr val="90C126">
                <a:alpha val="79606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855980" cy="5637530"/>
          </a:xfrm>
          <a:custGeom>
            <a:avLst/>
            <a:gdLst/>
            <a:ahLst/>
            <a:cxnLst/>
            <a:rect l="l" t="t" r="r" b="b"/>
            <a:pathLst>
              <a:path w="855980" h="5637530">
                <a:moveTo>
                  <a:pt x="0" y="5637392"/>
                </a:moveTo>
                <a:lnTo>
                  <a:pt x="0" y="451"/>
                </a:lnTo>
                <a:lnTo>
                  <a:pt x="46045" y="0"/>
                </a:lnTo>
                <a:lnTo>
                  <a:pt x="855663" y="0"/>
                </a:lnTo>
                <a:lnTo>
                  <a:pt x="855663" y="8995"/>
                </a:lnTo>
                <a:lnTo>
                  <a:pt x="0" y="5637392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51433" y="1839143"/>
            <a:ext cx="6558915" cy="16675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3727450">
              <a:lnSpc>
                <a:spcPts val="6450"/>
              </a:lnSpc>
              <a:spcBef>
                <a:spcPts val="230"/>
              </a:spcBef>
            </a:pPr>
            <a:r>
              <a:rPr sz="5400" spc="-10" dirty="0"/>
              <a:t>Database </a:t>
            </a:r>
            <a:r>
              <a:rPr sz="5400" dirty="0"/>
              <a:t>Management</a:t>
            </a:r>
            <a:r>
              <a:rPr sz="5400" spc="-360" dirty="0"/>
              <a:t> </a:t>
            </a:r>
            <a:r>
              <a:rPr sz="5400" spc="-10" dirty="0"/>
              <a:t>Systems</a:t>
            </a:r>
            <a:endParaRPr sz="5400"/>
          </a:p>
        </p:txBody>
      </p:sp>
      <p:sp>
        <p:nvSpPr>
          <p:cNvPr id="14" name="object 14"/>
          <p:cNvSpPr txBox="1"/>
          <p:nvPr/>
        </p:nvSpPr>
        <p:spPr>
          <a:xfrm>
            <a:off x="1641363" y="3670955"/>
            <a:ext cx="5869305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 MT"/>
                <a:cs typeface="Arial MT"/>
              </a:rPr>
              <a:t>Lesson</a:t>
            </a:r>
            <a:r>
              <a:rPr sz="1800" spc="-3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F7F7F"/>
                </a:solidFill>
                <a:latin typeface="Arial MT"/>
                <a:cs typeface="Arial MT"/>
              </a:rPr>
              <a:t>2</a:t>
            </a:r>
            <a:r>
              <a:rPr sz="1800" spc="-1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F7F7F"/>
                </a:solidFill>
                <a:latin typeface="Arial MT"/>
                <a:cs typeface="Arial MT"/>
              </a:rPr>
              <a:t>–</a:t>
            </a:r>
            <a:r>
              <a:rPr sz="1800" spc="-1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F7F7F"/>
                </a:solidFill>
                <a:latin typeface="Arial MT"/>
                <a:cs typeface="Arial MT"/>
              </a:rPr>
              <a:t>Database</a:t>
            </a:r>
            <a:r>
              <a:rPr sz="1800" spc="-1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F7F7F"/>
                </a:solidFill>
                <a:latin typeface="Arial MT"/>
                <a:cs typeface="Arial MT"/>
              </a:rPr>
              <a:t>Systems</a:t>
            </a:r>
            <a:r>
              <a:rPr sz="1800" spc="-1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F7F7F"/>
                </a:solidFill>
                <a:latin typeface="Arial MT"/>
                <a:cs typeface="Arial MT"/>
              </a:rPr>
              <a:t>Concepts</a:t>
            </a:r>
            <a:r>
              <a:rPr sz="1800" spc="-1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F7F7F"/>
                </a:solidFill>
                <a:latin typeface="Arial MT"/>
                <a:cs typeface="Arial MT"/>
              </a:rPr>
              <a:t>and</a:t>
            </a:r>
            <a:r>
              <a:rPr sz="1800" spc="-11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F7F7F"/>
                </a:solidFill>
                <a:latin typeface="Arial MT"/>
                <a:cs typeface="Arial MT"/>
              </a:rPr>
              <a:t>Architecture</a:t>
            </a:r>
            <a:endParaRPr lang="en-US" sz="1800" spc="-10" dirty="0">
              <a:solidFill>
                <a:srgbClr val="7F7F7F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 err="1">
                <a:solidFill>
                  <a:srgbClr val="7F7F7F"/>
                </a:solidFill>
                <a:latin typeface="Arial MT"/>
                <a:cs typeface="Arial MT"/>
              </a:rPr>
              <a:t>B.R.Madhurangi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616711"/>
            <a:ext cx="1654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Content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4594" y="1716151"/>
            <a:ext cx="4479925" cy="283210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400685" indent="-387985">
              <a:lnSpc>
                <a:spcPct val="100000"/>
              </a:lnSpc>
              <a:spcBef>
                <a:spcPts val="1115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r>
              <a:rPr sz="1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15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Categories</a:t>
            </a:r>
            <a:r>
              <a:rPr sz="1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99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Implementation</a:t>
            </a:r>
            <a:r>
              <a:rPr sz="1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99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Schemas</a:t>
            </a:r>
            <a:r>
              <a:rPr sz="18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Vs.</a:t>
            </a:r>
            <a:r>
              <a:rPr sz="1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Instances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99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8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18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Vs.</a:t>
            </a:r>
            <a:r>
              <a:rPr sz="18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8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99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Three-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1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Architecture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99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Some</a:t>
            </a:r>
            <a:r>
              <a:rPr sz="1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more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about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DBMSs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616711"/>
            <a:ext cx="2496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20" dirty="0"/>
              <a:t> </a:t>
            </a:r>
            <a:r>
              <a:rPr sz="3600" spc="-10" dirty="0"/>
              <a:t>Models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4289" y="1183092"/>
            <a:ext cx="7941945" cy="541147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1225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1005" algn="l"/>
              </a:tabLst>
            </a:pP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600" b="1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endParaRPr sz="2600">
              <a:latin typeface="Trebuchet MS" panose="020B0603020202020204"/>
              <a:cs typeface="Trebuchet MS" panose="020B0603020202020204"/>
            </a:endParaRPr>
          </a:p>
          <a:p>
            <a:pPr marL="821055" marR="5080" lvl="1" indent="-346710">
              <a:lnSpc>
                <a:spcPct val="100000"/>
              </a:lnSpc>
              <a:spcBef>
                <a:spcPts val="104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set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concepts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describe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database,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certain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constraints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should</a:t>
            </a:r>
            <a:r>
              <a:rPr sz="2400" spc="-1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obey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21105" lvl="2" indent="-261620">
              <a:lnSpc>
                <a:spcPct val="100000"/>
              </a:lnSpc>
              <a:spcBef>
                <a:spcPts val="1015"/>
              </a:spcBef>
              <a:buClr>
                <a:srgbClr val="90C126"/>
              </a:buClr>
              <a:buSzPct val="77000"/>
              <a:buFont typeface="Lucida Sans Unicode" panose="020B0602030504020204"/>
              <a:buChar char="►"/>
              <a:tabLst>
                <a:tab pos="1221105" algn="l"/>
              </a:tabLst>
            </a:pPr>
            <a:r>
              <a:rPr sz="13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i.e.:</a:t>
            </a:r>
            <a:r>
              <a:rPr sz="13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3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types,</a:t>
            </a:r>
            <a:r>
              <a:rPr sz="13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relationships</a:t>
            </a:r>
            <a:endParaRPr sz="1300">
              <a:latin typeface="Trebuchet MS" panose="020B0603020202020204"/>
              <a:cs typeface="Trebuchet MS" panose="020B0603020202020204"/>
            </a:endParaRPr>
          </a:p>
          <a:p>
            <a:pPr marL="421005" indent="-408305">
              <a:lnSpc>
                <a:spcPct val="100000"/>
              </a:lnSpc>
              <a:spcBef>
                <a:spcPts val="94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1005" algn="l"/>
              </a:tabLst>
            </a:pP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600" b="1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r>
              <a:rPr sz="2600" b="1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endParaRPr sz="2600">
              <a:latin typeface="Trebuchet MS" panose="020B0603020202020204"/>
              <a:cs typeface="Trebuchet MS" panose="020B0603020202020204"/>
            </a:endParaRPr>
          </a:p>
          <a:p>
            <a:pPr marL="821055" marR="393065" lvl="1" indent="-346710">
              <a:lnSpc>
                <a:spcPct val="100000"/>
              </a:lnSpc>
              <a:spcBef>
                <a:spcPts val="10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r>
              <a:rPr sz="2400" spc="-1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1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specifying</a:t>
            </a:r>
            <a:r>
              <a:rPr sz="2400" spc="-1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400" spc="-1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retrievals</a:t>
            </a:r>
            <a:r>
              <a:rPr sz="2400" spc="-1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updates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referring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concepts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1055" marR="506095" lvl="1" indent="-346710">
              <a:lnSpc>
                <a:spcPct val="100000"/>
              </a:lnSpc>
              <a:spcBef>
                <a:spcPts val="98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may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include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basic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(insert,</a:t>
            </a:r>
            <a:r>
              <a:rPr sz="22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delete,</a:t>
            </a:r>
            <a:r>
              <a:rPr sz="22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modify,</a:t>
            </a:r>
            <a:r>
              <a:rPr sz="22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retrieve)</a:t>
            </a:r>
            <a:r>
              <a:rPr sz="22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 user-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defined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r>
              <a:rPr sz="24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(i.e.:</a:t>
            </a:r>
            <a:r>
              <a:rPr sz="22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calculate</a:t>
            </a:r>
            <a:r>
              <a:rPr sz="22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GPA</a:t>
            </a:r>
            <a:r>
              <a:rPr sz="22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student)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8825" y="24574"/>
            <a:ext cx="5343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Categories</a:t>
            </a:r>
            <a:r>
              <a:rPr sz="3600" spc="-85" dirty="0"/>
              <a:t> </a:t>
            </a:r>
            <a:r>
              <a:rPr sz="3600" dirty="0"/>
              <a:t>of</a:t>
            </a:r>
            <a:r>
              <a:rPr sz="3600" spc="-85" dirty="0"/>
              <a:t> </a:t>
            </a:r>
            <a:r>
              <a:rPr sz="3600" dirty="0"/>
              <a:t>Data</a:t>
            </a:r>
            <a:r>
              <a:rPr sz="3600" spc="-85" dirty="0"/>
              <a:t> </a:t>
            </a:r>
            <a:r>
              <a:rPr sz="3600" spc="-10" dirty="0"/>
              <a:t>Models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6757" y="620416"/>
            <a:ext cx="8094345" cy="58039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27355" indent="-414655" algn="just">
              <a:lnSpc>
                <a:spcPct val="100000"/>
              </a:lnSpc>
              <a:spcBef>
                <a:spcPts val="130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7355" algn="l"/>
              </a:tabLst>
            </a:pPr>
            <a:r>
              <a:rPr sz="2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2800" b="1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(high-</a:t>
            </a:r>
            <a:r>
              <a:rPr sz="2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level)</a:t>
            </a:r>
            <a:r>
              <a:rPr sz="28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581660" lvl="1" indent="-346710" algn="just">
              <a:lnSpc>
                <a:spcPct val="100000"/>
              </a:lnSpc>
              <a:spcBef>
                <a:spcPts val="104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Provide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concepts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close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way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many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perceive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data.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(Also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called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entity-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 object-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4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models.)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7355" indent="-414655" algn="just">
              <a:lnSpc>
                <a:spcPct val="100000"/>
              </a:lnSpc>
              <a:spcBef>
                <a:spcPts val="95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7355" algn="l"/>
              </a:tabLst>
            </a:pPr>
            <a:r>
              <a:rPr sz="2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2800" b="1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(low-</a:t>
            </a:r>
            <a:r>
              <a:rPr sz="2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level,</a:t>
            </a:r>
            <a:r>
              <a:rPr sz="2800" b="1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internal)</a:t>
            </a:r>
            <a:r>
              <a:rPr sz="2800" b="1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5080" lvl="1" indent="-346710">
              <a:lnSpc>
                <a:spcPct val="100000"/>
              </a:lnSpc>
              <a:spcBef>
                <a:spcPts val="101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Provide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concepts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describe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details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how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stored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(mainly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computer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specialists,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not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end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marR="1073150" indent="-414020"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5450" algn="l"/>
              </a:tabLst>
            </a:pPr>
            <a:r>
              <a:rPr sz="28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Implementation</a:t>
            </a:r>
            <a:r>
              <a:rPr sz="2800" b="1" spc="-114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(representational)</a:t>
            </a:r>
            <a:r>
              <a:rPr sz="2800" b="1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297815" lvl="1" indent="-346710">
              <a:lnSpc>
                <a:spcPct val="100000"/>
              </a:lnSpc>
              <a:spcBef>
                <a:spcPts val="102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Provide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concepts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fall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between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above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two,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balancing</a:t>
            </a:r>
            <a:r>
              <a:rPr sz="2400" spc="-1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views</a:t>
            </a:r>
            <a:r>
              <a:rPr sz="2400" spc="-1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some</a:t>
            </a:r>
            <a:r>
              <a:rPr sz="2400" spc="-1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storage details.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025" y="720343"/>
            <a:ext cx="7312025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830"/>
              </a:lnSpc>
              <a:spcBef>
                <a:spcPts val="205"/>
              </a:spcBef>
            </a:pPr>
            <a:r>
              <a:rPr sz="3200" spc="-10" dirty="0"/>
              <a:t>Implementation</a:t>
            </a:r>
            <a:r>
              <a:rPr sz="3200" spc="-175" dirty="0"/>
              <a:t> </a:t>
            </a:r>
            <a:r>
              <a:rPr sz="3200" spc="-10" dirty="0"/>
              <a:t>(representational)</a:t>
            </a:r>
            <a:r>
              <a:rPr sz="3200" spc="-165" dirty="0"/>
              <a:t> </a:t>
            </a:r>
            <a:r>
              <a:rPr sz="3200" spc="-20" dirty="0"/>
              <a:t>Data </a:t>
            </a:r>
            <a:r>
              <a:rPr sz="3200" spc="-10" dirty="0"/>
              <a:t>Models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9157" y="1737563"/>
            <a:ext cx="8145145" cy="453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085" indent="-41338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Relational</a:t>
            </a:r>
            <a:r>
              <a:rPr sz="28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1608455" lvl="1" indent="-346710">
              <a:lnSpc>
                <a:spcPct val="69000"/>
              </a:lnSpc>
              <a:spcBef>
                <a:spcPts val="97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proposed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1970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E.F.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Codd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(IBM),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first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commercial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system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1981-82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ct val="100000"/>
              </a:lnSpc>
              <a:spcBef>
                <a:spcPts val="1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Network</a:t>
            </a:r>
            <a:r>
              <a:rPr sz="2800" spc="-1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5080" lvl="1" indent="-346710">
              <a:lnSpc>
                <a:spcPct val="69000"/>
              </a:lnSpc>
              <a:spcBef>
                <a:spcPts val="102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first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one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implement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was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Honeywell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1964-65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(IDS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System)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ct val="100000"/>
              </a:lnSpc>
              <a:spcBef>
                <a:spcPts val="1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Hierarchical</a:t>
            </a:r>
            <a:r>
              <a:rPr sz="28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8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861695" lvl="1" indent="-346710">
              <a:lnSpc>
                <a:spcPct val="69000"/>
              </a:lnSpc>
              <a:spcBef>
                <a:spcPts val="10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Implemented</a:t>
            </a:r>
            <a:r>
              <a:rPr sz="24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joint</a:t>
            </a:r>
            <a:r>
              <a:rPr sz="24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effort</a:t>
            </a:r>
            <a:r>
              <a:rPr sz="24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24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IBM</a:t>
            </a:r>
            <a:r>
              <a:rPr sz="24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North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American</a:t>
            </a:r>
            <a:r>
              <a:rPr sz="2400" spc="-1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Rockwell</a:t>
            </a:r>
            <a:r>
              <a:rPr sz="2400" spc="-1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around</a:t>
            </a:r>
            <a:r>
              <a:rPr sz="2400" spc="-1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1965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ts val="2870"/>
              </a:lnSpc>
              <a:spcBef>
                <a:spcPts val="1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(Relational</a:t>
            </a:r>
            <a:r>
              <a:rPr sz="2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</a:t>
            </a:r>
            <a:r>
              <a:rPr sz="2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widely</a:t>
            </a:r>
            <a:r>
              <a:rPr sz="2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used,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26085">
              <a:lnSpc>
                <a:spcPts val="2350"/>
              </a:lnSpc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network</a:t>
            </a:r>
            <a:r>
              <a:rPr sz="28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</a:t>
            </a:r>
            <a:r>
              <a:rPr sz="28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8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hierarchical</a:t>
            </a:r>
            <a:r>
              <a:rPr sz="28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</a:t>
            </a:r>
            <a:r>
              <a:rPr sz="28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26085" marR="822325">
              <a:lnSpc>
                <a:spcPct val="69000"/>
              </a:lnSpc>
              <a:spcBef>
                <a:spcPts val="520"/>
              </a:spcBef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called</a:t>
            </a:r>
            <a:r>
              <a:rPr sz="2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legacy</a:t>
            </a:r>
            <a:r>
              <a:rPr sz="2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models</a:t>
            </a:r>
            <a:r>
              <a:rPr sz="2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.They</a:t>
            </a:r>
            <a:r>
              <a:rPr sz="2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have</a:t>
            </a:r>
            <a:r>
              <a:rPr sz="2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been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widely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past)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“Relations”</a:t>
            </a: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Can be represented as tables in which rows represent “</a:t>
            </a:r>
            <a:r>
              <a:rPr lang="en-US" dirty="0" err="1">
                <a:solidFill>
                  <a:srgbClr val="FF0000"/>
                </a:solidFill>
              </a:rPr>
              <a:t>tuples</a:t>
            </a:r>
            <a:r>
              <a:rPr lang="en-US" dirty="0"/>
              <a:t>” and columns represents attributes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 relation may be described by its name and the related attributes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Eg</a:t>
            </a:r>
            <a:r>
              <a:rPr lang="en-US" dirty="0"/>
              <a:t> (Employee (</a:t>
            </a:r>
            <a:r>
              <a:rPr lang="en-US" dirty="0" err="1"/>
              <a:t>Emp_no</a:t>
            </a:r>
            <a:r>
              <a:rPr lang="en-US" dirty="0"/>
              <a:t>, </a:t>
            </a:r>
            <a:r>
              <a:rPr lang="en-US" dirty="0" err="1"/>
              <a:t>Emp</a:t>
            </a:r>
            <a:r>
              <a:rPr lang="en-US" dirty="0"/>
              <a:t>_ name, Age, </a:t>
            </a:r>
            <a:r>
              <a:rPr lang="en-US" dirty="0" err="1"/>
              <a:t>Start_date</a:t>
            </a:r>
            <a:r>
              <a:rPr lang="en-US" dirty="0"/>
              <a:t>, Address……. 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 descr="fig02_0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95400" y="933061"/>
            <a:ext cx="670560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5" name="Rectangle 6"/>
          <p:cNvSpPr>
            <a:spLocks noChangeArrowheads="1"/>
          </p:cNvSpPr>
          <p:nvPr/>
        </p:nvSpPr>
        <p:spPr bwMode="auto">
          <a:xfrm>
            <a:off x="5638800" y="685800"/>
            <a:ext cx="24384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5"/>
          <p:cNvGrpSpPr/>
          <p:nvPr/>
        </p:nvGrpSpPr>
        <p:grpSpPr bwMode="auto">
          <a:xfrm>
            <a:off x="2209800" y="609600"/>
            <a:ext cx="6172200" cy="5943600"/>
            <a:chOff x="1392" y="384"/>
            <a:chExt cx="3888" cy="3744"/>
          </a:xfrm>
        </p:grpSpPr>
        <p:grpSp>
          <p:nvGrpSpPr>
            <p:cNvPr id="3" name="Group 13"/>
            <p:cNvGrpSpPr/>
            <p:nvPr/>
          </p:nvGrpSpPr>
          <p:grpSpPr bwMode="auto">
            <a:xfrm>
              <a:off x="1392" y="624"/>
              <a:ext cx="3888" cy="3504"/>
              <a:chOff x="1392" y="624"/>
              <a:chExt cx="3888" cy="3504"/>
            </a:xfrm>
          </p:grpSpPr>
          <p:sp>
            <p:nvSpPr>
              <p:cNvPr id="28692" name="Line 7"/>
              <p:cNvSpPr>
                <a:spLocks noChangeShapeType="1"/>
              </p:cNvSpPr>
              <p:nvPr/>
            </p:nvSpPr>
            <p:spPr bwMode="auto">
              <a:xfrm>
                <a:off x="1392" y="403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3" name="Line 8"/>
              <p:cNvSpPr>
                <a:spLocks noChangeShapeType="1"/>
              </p:cNvSpPr>
              <p:nvPr/>
            </p:nvSpPr>
            <p:spPr bwMode="auto">
              <a:xfrm>
                <a:off x="1392" y="4128"/>
                <a:ext cx="3888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4" name="Line 9"/>
              <p:cNvSpPr>
                <a:spLocks noChangeShapeType="1"/>
              </p:cNvSpPr>
              <p:nvPr/>
            </p:nvSpPr>
            <p:spPr bwMode="auto">
              <a:xfrm flipV="1">
                <a:off x="5280" y="624"/>
                <a:ext cx="0" cy="3504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5" name="Line 10"/>
              <p:cNvSpPr>
                <a:spLocks noChangeShapeType="1"/>
              </p:cNvSpPr>
              <p:nvPr/>
            </p:nvSpPr>
            <p:spPr bwMode="auto">
              <a:xfrm flipH="1" flipV="1">
                <a:off x="1632" y="624"/>
                <a:ext cx="3648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6" name="Line 12"/>
              <p:cNvSpPr>
                <a:spLocks noChangeShapeType="1"/>
              </p:cNvSpPr>
              <p:nvPr/>
            </p:nvSpPr>
            <p:spPr bwMode="auto">
              <a:xfrm>
                <a:off x="1632" y="62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91" name="Text Box 14"/>
            <p:cNvSpPr txBox="1">
              <a:spLocks noChangeArrowheads="1"/>
            </p:cNvSpPr>
            <p:nvPr/>
          </p:nvSpPr>
          <p:spPr bwMode="auto">
            <a:xfrm>
              <a:off x="4128" y="384"/>
              <a:ext cx="587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33CC"/>
                  </a:solidFill>
                </a:rPr>
                <a:t>Exists</a:t>
              </a:r>
              <a:endParaRPr lang="en-US">
                <a:solidFill>
                  <a:srgbClr val="3333CC"/>
                </a:solidFill>
              </a:endParaRPr>
            </a:p>
          </p:txBody>
        </p:sp>
      </p:grpSp>
      <p:grpSp>
        <p:nvGrpSpPr>
          <p:cNvPr id="4" name="Group 29"/>
          <p:cNvGrpSpPr/>
          <p:nvPr/>
        </p:nvGrpSpPr>
        <p:grpSpPr bwMode="auto">
          <a:xfrm>
            <a:off x="2590800" y="2819400"/>
            <a:ext cx="1016000" cy="762000"/>
            <a:chOff x="1632" y="1776"/>
            <a:chExt cx="640" cy="480"/>
          </a:xfrm>
        </p:grpSpPr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 flipH="1">
              <a:off x="1632" y="1776"/>
              <a:ext cx="336" cy="48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9" name="Text Box 17"/>
            <p:cNvSpPr txBox="1">
              <a:spLocks noChangeArrowheads="1"/>
            </p:cNvSpPr>
            <p:nvPr/>
          </p:nvSpPr>
          <p:spPr bwMode="auto">
            <a:xfrm>
              <a:off x="1862" y="1879"/>
              <a:ext cx="410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33CC"/>
                  </a:solidFill>
                </a:rPr>
                <a:t>Has</a:t>
              </a:r>
              <a:endParaRPr lang="en-US">
                <a:solidFill>
                  <a:srgbClr val="3333CC"/>
                </a:solidFill>
              </a:endParaRPr>
            </a:p>
          </p:txBody>
        </p:sp>
      </p:grpSp>
      <p:grpSp>
        <p:nvGrpSpPr>
          <p:cNvPr id="5" name="Group 30"/>
          <p:cNvGrpSpPr/>
          <p:nvPr/>
        </p:nvGrpSpPr>
        <p:grpSpPr bwMode="auto">
          <a:xfrm>
            <a:off x="3581400" y="2833688"/>
            <a:ext cx="1930400" cy="1905000"/>
            <a:chOff x="2256" y="1824"/>
            <a:chExt cx="1216" cy="1200"/>
          </a:xfrm>
        </p:grpSpPr>
        <p:sp>
          <p:nvSpPr>
            <p:cNvPr id="28682" name="Line 19"/>
            <p:cNvSpPr>
              <a:spLocks noChangeShapeType="1"/>
            </p:cNvSpPr>
            <p:nvPr/>
          </p:nvSpPr>
          <p:spPr bwMode="auto">
            <a:xfrm>
              <a:off x="2400" y="1824"/>
              <a:ext cx="0" cy="14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3" name="Line 20"/>
            <p:cNvSpPr>
              <a:spLocks noChangeShapeType="1"/>
            </p:cNvSpPr>
            <p:nvPr/>
          </p:nvSpPr>
          <p:spPr bwMode="auto">
            <a:xfrm>
              <a:off x="2400" y="1968"/>
              <a:ext cx="624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Line 21"/>
            <p:cNvSpPr>
              <a:spLocks noChangeShapeType="1"/>
            </p:cNvSpPr>
            <p:nvPr/>
          </p:nvSpPr>
          <p:spPr bwMode="auto">
            <a:xfrm>
              <a:off x="3024" y="1968"/>
              <a:ext cx="0" cy="81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Line 22"/>
            <p:cNvSpPr>
              <a:spLocks noChangeShapeType="1"/>
            </p:cNvSpPr>
            <p:nvPr/>
          </p:nvSpPr>
          <p:spPr bwMode="auto">
            <a:xfrm>
              <a:off x="2256" y="2784"/>
              <a:ext cx="768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6" name="Line 26"/>
            <p:cNvSpPr>
              <a:spLocks noChangeShapeType="1"/>
            </p:cNvSpPr>
            <p:nvPr/>
          </p:nvSpPr>
          <p:spPr bwMode="auto">
            <a:xfrm>
              <a:off x="2256" y="2784"/>
              <a:ext cx="0" cy="24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Text Box 28"/>
            <p:cNvSpPr txBox="1">
              <a:spLocks noChangeArrowheads="1"/>
            </p:cNvSpPr>
            <p:nvPr/>
          </p:nvSpPr>
          <p:spPr bwMode="auto">
            <a:xfrm>
              <a:off x="3062" y="2071"/>
              <a:ext cx="410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33CC"/>
                  </a:solidFill>
                </a:rPr>
                <a:t>Has</a:t>
              </a:r>
              <a:endParaRPr lang="en-US">
                <a:solidFill>
                  <a:srgbClr val="3333CC"/>
                </a:solidFill>
              </a:endParaRPr>
            </a:p>
          </p:txBody>
        </p:sp>
      </p:grpSp>
      <p:grpSp>
        <p:nvGrpSpPr>
          <p:cNvPr id="6" name="Group 40"/>
          <p:cNvGrpSpPr/>
          <p:nvPr/>
        </p:nvGrpSpPr>
        <p:grpSpPr bwMode="auto">
          <a:xfrm>
            <a:off x="2286000" y="5257800"/>
            <a:ext cx="1431925" cy="685800"/>
            <a:chOff x="1440" y="3312"/>
            <a:chExt cx="902" cy="432"/>
          </a:xfrm>
        </p:grpSpPr>
        <p:sp>
          <p:nvSpPr>
            <p:cNvPr id="28680" name="Line 31"/>
            <p:cNvSpPr>
              <a:spLocks noChangeShapeType="1"/>
            </p:cNvSpPr>
            <p:nvPr/>
          </p:nvSpPr>
          <p:spPr bwMode="auto">
            <a:xfrm flipH="1" flipV="1">
              <a:off x="1440" y="3312"/>
              <a:ext cx="768" cy="432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1" name="Text Box 39"/>
            <p:cNvSpPr txBox="1">
              <a:spLocks noChangeArrowheads="1"/>
            </p:cNvSpPr>
            <p:nvPr/>
          </p:nvSpPr>
          <p:spPr bwMode="auto">
            <a:xfrm>
              <a:off x="1932" y="3408"/>
              <a:ext cx="410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33CC"/>
                  </a:solidFill>
                </a:rPr>
                <a:t>Has</a:t>
              </a:r>
              <a:endParaRPr lang="en-US">
                <a:solidFill>
                  <a:srgbClr val="3333CC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304800" y="159602"/>
            <a:ext cx="81914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spc="-120" dirty="0">
                <a:solidFill>
                  <a:srgbClr val="50B4C8"/>
                </a:solidFill>
                <a:ea typeface="+mj-ea"/>
                <a:cs typeface="+mj-cs"/>
              </a:rPr>
              <a:t>Relational Database - Example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Features of Relational DBMS</a:t>
            </a:r>
            <a:endParaRPr lang="en-US" sz="36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/>
              <a:t>2-D tables </a:t>
            </a:r>
            <a:r>
              <a:rPr lang="en-US" sz="2000">
                <a:solidFill>
                  <a:srgbClr val="FF6600"/>
                </a:solidFill>
              </a:rPr>
              <a:t>(rows and columns representing records/tuples and fields/attributes)</a:t>
            </a:r>
            <a:endParaRPr lang="en-US" sz="2000">
              <a:solidFill>
                <a:srgbClr val="FF6600"/>
              </a:solidFill>
            </a:endParaRPr>
          </a:p>
          <a:p>
            <a:pPr eaLnBrk="1" hangingPunct="1"/>
            <a:endParaRPr lang="en-US" sz="2000">
              <a:solidFill>
                <a:srgbClr val="FF6600"/>
              </a:solidFill>
            </a:endParaRPr>
          </a:p>
          <a:p>
            <a:pPr eaLnBrk="1" hangingPunct="1"/>
            <a:r>
              <a:rPr lang="en-US">
                <a:solidFill>
                  <a:schemeClr val="tx1"/>
                </a:solidFill>
              </a:rPr>
              <a:t>Dynamic links among tables</a:t>
            </a:r>
            <a:endParaRPr lang="en-US">
              <a:solidFill>
                <a:schemeClr val="tx1"/>
              </a:solidFill>
            </a:endParaRPr>
          </a:p>
          <a:p>
            <a:pPr eaLnBrk="1" hangingPunct="1"/>
            <a:endParaRPr lang="en-US">
              <a:solidFill>
                <a:schemeClr val="tx1"/>
              </a:solidFill>
            </a:endParaRPr>
          </a:p>
          <a:p>
            <a:pPr eaLnBrk="1" hangingPunct="1"/>
            <a:r>
              <a:rPr lang="en-US">
                <a:solidFill>
                  <a:schemeClr val="tx1"/>
                </a:solidFill>
              </a:rPr>
              <a:t>Easy and flexible to design and use</a:t>
            </a:r>
            <a:endParaRPr lang="en-US">
              <a:solidFill>
                <a:schemeClr val="tx1"/>
              </a:solidFill>
            </a:endParaRPr>
          </a:p>
          <a:p>
            <a:pPr eaLnBrk="1" hangingPunct="1"/>
            <a:endParaRPr lang="en-US">
              <a:solidFill>
                <a:schemeClr val="tx1"/>
              </a:solidFill>
            </a:endParaRPr>
          </a:p>
          <a:p>
            <a:pPr eaLnBrk="1" hangingPunct="1"/>
            <a:r>
              <a:rPr lang="en-US">
                <a:solidFill>
                  <a:schemeClr val="tx1"/>
                </a:solidFill>
              </a:rPr>
              <a:t>Data independence</a:t>
            </a:r>
            <a:endParaRPr lang="en-US">
              <a:solidFill>
                <a:schemeClr val="tx1"/>
              </a:solidFill>
            </a:endParaRPr>
          </a:p>
          <a:p>
            <a:pPr eaLnBrk="1" hangingPunct="1"/>
            <a:endParaRPr lang="en-US">
              <a:solidFill>
                <a:schemeClr val="tx1"/>
              </a:solidFill>
            </a:endParaRPr>
          </a:p>
          <a:p>
            <a:pPr eaLnBrk="1" hangingPunct="1"/>
            <a:r>
              <a:rPr lang="en-US">
                <a:solidFill>
                  <a:schemeClr val="tx1"/>
                </a:solidFill>
              </a:rPr>
              <a:t>Generic manipulation language (SQL)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Hierarchical Model</a:t>
            </a: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Represents a hierarchy with the whole at the root and the components forms the child nodes in turn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Thus, all the components or the nodes, taken together form the whole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Hierarchical Model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File:Hierarchical Model.svg"/>
          <p:cNvPicPr>
            <a:picLocks noChangeAspect="1" noChangeArrowheads="1"/>
          </p:cNvPicPr>
          <p:nvPr/>
        </p:nvPicPr>
        <p:blipFill>
          <a:blip r:embed="rId1"/>
          <a:srcRect t="11646"/>
          <a:stretch>
            <a:fillRect/>
          </a:stretch>
        </p:blipFill>
        <p:spPr bwMode="auto">
          <a:xfrm>
            <a:off x="381000" y="1905000"/>
            <a:ext cx="7851763" cy="396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025" y="540511"/>
            <a:ext cx="3847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Hierarchical</a:t>
            </a:r>
            <a:r>
              <a:rPr sz="3600" spc="-60" dirty="0"/>
              <a:t> </a:t>
            </a:r>
            <a:r>
              <a:rPr sz="3600" spc="-2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44857" y="1201301"/>
            <a:ext cx="8636635" cy="480949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26085" indent="-413385">
              <a:lnSpc>
                <a:spcPct val="100000"/>
              </a:lnSpc>
              <a:spcBef>
                <a:spcPts val="91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Advantages: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69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Hierarchical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simple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construct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operate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marR="318770" lvl="1" indent="-346710">
              <a:lnSpc>
                <a:spcPct val="91000"/>
              </a:lnSpc>
              <a:spcBef>
                <a:spcPts val="98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Corresponds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number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natural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hierarchically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organized</a:t>
            </a:r>
            <a:r>
              <a:rPr sz="2400" spc="-1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domains</a:t>
            </a:r>
            <a:r>
              <a:rPr sz="2400" spc="-1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e.g.,</a:t>
            </a:r>
            <a:r>
              <a:rPr sz="2400" spc="-10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assemblies</a:t>
            </a:r>
            <a:r>
              <a:rPr sz="2400" spc="-1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10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manufacturing,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personnel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organization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companies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marR="782320" lvl="1" indent="-346710">
              <a:lnSpc>
                <a:spcPts val="2600"/>
              </a:lnSpc>
              <a:spcBef>
                <a:spcPts val="106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Language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simple;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uses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constructs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like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GET,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GET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UNIQUE,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GET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NEXT,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GET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NEXT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WITHIN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PARENT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etc.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ct val="100000"/>
              </a:lnSpc>
              <a:spcBef>
                <a:spcPts val="65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Disadvantages: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74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Navigational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procedural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nature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processing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7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visualized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as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linear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arrangement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records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7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Little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scope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"query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optimization"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Network Model</a:t>
            </a: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/>
              <a:t>Resembles the hierarchical model with a provision for a record to have more than one parent</a:t>
            </a:r>
            <a:endParaRPr lang="en-US"/>
          </a:p>
          <a:p>
            <a:pPr eaLnBrk="1" hangingPunct="1"/>
            <a:endParaRPr lang="en-US"/>
          </a:p>
          <a:p>
            <a:pPr lvl="1" eaLnBrk="1" hangingPunct="1"/>
            <a:r>
              <a:rPr lang="en-US"/>
              <a:t>An </a:t>
            </a:r>
            <a:r>
              <a:rPr lang="en-US">
                <a:solidFill>
                  <a:srgbClr val="FF6600"/>
                </a:solidFill>
              </a:rPr>
              <a:t>owner</a:t>
            </a:r>
            <a:r>
              <a:rPr lang="en-US"/>
              <a:t> record is equivalent to a parent, and a </a:t>
            </a:r>
            <a:r>
              <a:rPr lang="en-US">
                <a:solidFill>
                  <a:srgbClr val="FF6600"/>
                </a:solidFill>
              </a:rPr>
              <a:t>member</a:t>
            </a:r>
            <a:r>
              <a:rPr lang="en-US"/>
              <a:t> record s equivalent to a child in the hierarchical model</a:t>
            </a:r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r>
              <a:rPr lang="en-US"/>
              <a:t>The difference is that a record can appear as a member in more than one set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Network Model</a:t>
            </a:r>
            <a:endParaRPr lang="en-US"/>
          </a:p>
        </p:txBody>
      </p:sp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1361" y="2400484"/>
            <a:ext cx="5276190" cy="2952381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625" y="604011"/>
            <a:ext cx="3084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Network</a:t>
            </a:r>
            <a:r>
              <a:rPr sz="3600" spc="-45" dirty="0"/>
              <a:t> </a:t>
            </a:r>
            <a:r>
              <a:rPr sz="3600" spc="-1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77234" y="1225321"/>
            <a:ext cx="8098790" cy="51371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54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1592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Advantages</a:t>
            </a:r>
            <a:r>
              <a:rPr sz="2400" spc="-1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: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marR="175895" lvl="1" indent="-346710">
              <a:lnSpc>
                <a:spcPct val="80000"/>
              </a:lnSpc>
              <a:spcBef>
                <a:spcPts val="10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Able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complex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relationships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represents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semantics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add/delete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relationships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marR="5080" lvl="1" indent="-346710">
              <a:lnSpc>
                <a:spcPct val="80000"/>
              </a:lnSpc>
              <a:spcBef>
                <a:spcPts val="102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Can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handle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most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situations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modeling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using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record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types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relationship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types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lvl="1" indent="-346710">
              <a:lnSpc>
                <a:spcPct val="100000"/>
              </a:lnSpc>
              <a:spcBef>
                <a:spcPts val="44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Language</a:t>
            </a:r>
            <a:r>
              <a:rPr sz="24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4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navigational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16025" marR="165100" lvl="2" indent="-279400">
              <a:lnSpc>
                <a:spcPct val="81000"/>
              </a:lnSpc>
              <a:spcBef>
                <a:spcPts val="975"/>
              </a:spcBef>
              <a:buSzPct val="80000"/>
              <a:buFont typeface="Lucida Sans Unicode" panose="020B0602030504020204"/>
              <a:buChar char="►"/>
              <a:tabLst>
                <a:tab pos="1216025" algn="l"/>
                <a:tab pos="1217295" algn="l"/>
              </a:tabLst>
            </a:pPr>
            <a:r>
              <a:rPr sz="200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Uses</a:t>
            </a:r>
            <a:r>
              <a:rPr sz="20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constructs</a:t>
            </a:r>
            <a:r>
              <a:rPr sz="20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like</a:t>
            </a:r>
            <a:r>
              <a:rPr sz="20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FIND,</a:t>
            </a:r>
            <a:r>
              <a:rPr sz="20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FIND</a:t>
            </a:r>
            <a:r>
              <a:rPr sz="20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member,</a:t>
            </a:r>
            <a:r>
              <a:rPr sz="20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FIND</a:t>
            </a:r>
            <a:r>
              <a:rPr sz="20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owner,</a:t>
            </a:r>
            <a:r>
              <a:rPr sz="20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FIND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NEXT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within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set,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GET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etc.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Programmers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can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do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optimal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navigation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through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415925" indent="-403225">
              <a:lnSpc>
                <a:spcPct val="100000"/>
              </a:lnSpc>
              <a:spcBef>
                <a:spcPts val="46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1592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Disadvantages: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lvl="1" indent="-346710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Navigational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procedural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nature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processing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marR="279400" lvl="1" indent="-346710">
              <a:lnSpc>
                <a:spcPct val="80000"/>
              </a:lnSpc>
              <a:spcBef>
                <a:spcPts val="10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contains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complex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array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pointers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thread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through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set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records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lvl="1" indent="-346710">
              <a:lnSpc>
                <a:spcPct val="100000"/>
              </a:lnSpc>
              <a:spcBef>
                <a:spcPts val="44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Little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scope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automated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"query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optimization”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95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Schemas</a:t>
            </a:r>
            <a:r>
              <a:rPr sz="3600" spc="-120" dirty="0"/>
              <a:t> </a:t>
            </a:r>
            <a:r>
              <a:rPr sz="3600" dirty="0"/>
              <a:t>Vs.</a:t>
            </a:r>
            <a:r>
              <a:rPr sz="3600" spc="-120" dirty="0"/>
              <a:t> </a:t>
            </a:r>
            <a:r>
              <a:rPr sz="3600" spc="-10" dirty="0"/>
              <a:t>Instances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26841" y="2067521"/>
            <a:ext cx="53898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845" indent="-39814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80000"/>
              <a:buFont typeface="Arial Black" panose="020B0A04020102020204"/>
              <a:buChar char="►"/>
              <a:tabLst>
                <a:tab pos="410845" algn="l"/>
              </a:tabLst>
            </a:pP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b="1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22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description</a:t>
            </a:r>
            <a:r>
              <a:rPr sz="22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a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525" y="2267546"/>
            <a:ext cx="12560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database.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1572" y="2610725"/>
            <a:ext cx="54489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34607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Includes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descriptions</a:t>
            </a:r>
            <a:r>
              <a:rPr sz="19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9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</a:t>
            </a:r>
            <a:endParaRPr sz="1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5575" y="2788525"/>
            <a:ext cx="47053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9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9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constraints</a:t>
            </a:r>
            <a:r>
              <a:rPr sz="19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19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should</a:t>
            </a:r>
            <a:r>
              <a:rPr sz="19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hold</a:t>
            </a:r>
            <a:r>
              <a:rPr sz="19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19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endParaRPr sz="1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5575" y="2959975"/>
            <a:ext cx="10877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database.</a:t>
            </a:r>
            <a:endParaRPr sz="1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841" y="3242271"/>
            <a:ext cx="54375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845" indent="-39814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80000"/>
              <a:buFont typeface="Arial Black" panose="020B0A04020102020204"/>
              <a:buChar char="►"/>
              <a:tabLst>
                <a:tab pos="410845" algn="l"/>
              </a:tabLst>
            </a:pP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2200" b="1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Construct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component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5525" y="3439121"/>
            <a:ext cx="4963795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object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within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412115" indent="-333375">
              <a:lnSpc>
                <a:spcPct val="100000"/>
              </a:lnSpc>
              <a:spcBef>
                <a:spcPts val="6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1211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i.e.:</a:t>
            </a:r>
            <a:r>
              <a:rPr sz="19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STUDENT,</a:t>
            </a:r>
            <a:r>
              <a:rPr sz="19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COURSE.</a:t>
            </a:r>
            <a:endParaRPr sz="1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5525" y="4267796"/>
            <a:ext cx="47910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(some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aspects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of)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schema.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6841" y="3882351"/>
            <a:ext cx="6127750" cy="107315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410845" indent="-398145">
              <a:lnSpc>
                <a:spcPct val="100000"/>
              </a:lnSpc>
              <a:spcBef>
                <a:spcPts val="1585"/>
              </a:spcBef>
              <a:buClr>
                <a:srgbClr val="90C126"/>
              </a:buClr>
              <a:buSzPct val="80000"/>
              <a:buFont typeface="Arial Black" panose="020B0A04020102020204"/>
              <a:buChar char="►"/>
              <a:tabLst>
                <a:tab pos="410845" algn="l"/>
              </a:tabLst>
            </a:pP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2200" b="1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Diagram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diagrammatic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display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410845" indent="-398145">
              <a:lnSpc>
                <a:spcPct val="100000"/>
              </a:lnSpc>
              <a:spcBef>
                <a:spcPts val="1485"/>
              </a:spcBef>
              <a:buClr>
                <a:srgbClr val="90C126"/>
              </a:buClr>
              <a:buSzPct val="80000"/>
              <a:buFont typeface="Arial Black" panose="020B0A04020102020204"/>
              <a:buChar char="►"/>
              <a:tabLst>
                <a:tab pos="410845" algn="l"/>
              </a:tabLst>
            </a:pP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b="1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Instance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22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actual</a:t>
            </a:r>
            <a:r>
              <a:rPr sz="22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2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stored</a:t>
            </a:r>
            <a:r>
              <a:rPr sz="22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5525" y="4791671"/>
            <a:ext cx="54584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at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particular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moment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time.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841" y="4991696"/>
            <a:ext cx="6071235" cy="68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845">
              <a:lnSpc>
                <a:spcPts val="261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Also</a:t>
            </a:r>
            <a:r>
              <a:rPr sz="22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called</a:t>
            </a:r>
            <a:r>
              <a:rPr sz="22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b="1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r>
              <a:rPr sz="2200" b="1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(or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occurrence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410845" indent="-398145">
              <a:lnSpc>
                <a:spcPts val="2610"/>
              </a:lnSpc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41084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Whenever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value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updated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5525" y="5515571"/>
            <a:ext cx="37687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changed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Schema</a:t>
            </a:r>
            <a:r>
              <a:rPr sz="3600" spc="-110" dirty="0"/>
              <a:t> </a:t>
            </a:r>
            <a:r>
              <a:rPr sz="3600" dirty="0"/>
              <a:t>Diagram</a:t>
            </a:r>
            <a:r>
              <a:rPr sz="3600" spc="-110" dirty="0"/>
              <a:t> </a:t>
            </a:r>
            <a:r>
              <a:rPr sz="3600" dirty="0"/>
              <a:t>for</a:t>
            </a:r>
            <a:r>
              <a:rPr sz="3600" spc="-105" dirty="0"/>
              <a:t> </a:t>
            </a:r>
            <a:r>
              <a:rPr sz="3600" dirty="0"/>
              <a:t>a</a:t>
            </a:r>
            <a:r>
              <a:rPr sz="3600" spc="-95" dirty="0"/>
              <a:t> </a:t>
            </a:r>
            <a:r>
              <a:rPr sz="3600" spc="-10" dirty="0"/>
              <a:t>Database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744537" y="1371600"/>
            <a:ext cx="7726680" cy="4953000"/>
            <a:chOff x="744537" y="1371600"/>
            <a:chExt cx="7726680" cy="4953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28675" y="2160587"/>
              <a:ext cx="5910261" cy="38814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49299" y="1727199"/>
              <a:ext cx="12700" cy="4572000"/>
            </a:xfrm>
            <a:custGeom>
              <a:avLst/>
              <a:gdLst/>
              <a:ahLst/>
              <a:cxnLst/>
              <a:rect l="l" t="t" r="r" b="b"/>
              <a:pathLst>
                <a:path w="12700" h="4572000">
                  <a:moveTo>
                    <a:pt x="12700" y="0"/>
                  </a:moveTo>
                  <a:lnTo>
                    <a:pt x="12700" y="304799"/>
                  </a:lnTo>
                </a:path>
                <a:path w="12700" h="4572000">
                  <a:moveTo>
                    <a:pt x="12700" y="1066799"/>
                  </a:moveTo>
                  <a:lnTo>
                    <a:pt x="12700" y="1371599"/>
                  </a:lnTo>
                </a:path>
                <a:path w="12700" h="4572000">
                  <a:moveTo>
                    <a:pt x="12700" y="2133599"/>
                  </a:moveTo>
                  <a:lnTo>
                    <a:pt x="12700" y="2438399"/>
                  </a:lnTo>
                </a:path>
                <a:path w="12700" h="4572000">
                  <a:moveTo>
                    <a:pt x="12700" y="3200399"/>
                  </a:moveTo>
                  <a:lnTo>
                    <a:pt x="12700" y="3505199"/>
                  </a:lnTo>
                </a:path>
                <a:path w="12700" h="4572000">
                  <a:moveTo>
                    <a:pt x="0" y="4267199"/>
                  </a:moveTo>
                  <a:lnTo>
                    <a:pt x="0" y="45719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700" y="1371600"/>
              <a:ext cx="7696199" cy="4952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910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Database</a:t>
            </a:r>
            <a:r>
              <a:rPr sz="3200" spc="-125" dirty="0"/>
              <a:t> </a:t>
            </a:r>
            <a:r>
              <a:rPr sz="3200" dirty="0"/>
              <a:t>Schema</a:t>
            </a:r>
            <a:r>
              <a:rPr sz="3200" spc="-125" dirty="0"/>
              <a:t> </a:t>
            </a:r>
            <a:r>
              <a:rPr sz="3200" dirty="0"/>
              <a:t>Vs.</a:t>
            </a:r>
            <a:r>
              <a:rPr sz="3200" spc="-125" dirty="0"/>
              <a:t> </a:t>
            </a:r>
            <a:r>
              <a:rPr sz="3200" dirty="0"/>
              <a:t>Database</a:t>
            </a:r>
            <a:r>
              <a:rPr sz="3200" spc="-125" dirty="0"/>
              <a:t> </a:t>
            </a:r>
            <a:r>
              <a:rPr sz="3200" spc="-10" dirty="0"/>
              <a:t>State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6689" y="2042169"/>
            <a:ext cx="7014845" cy="375602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63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1005" algn="l"/>
              </a:tabLst>
            </a:pP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600" b="1" spc="-1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endParaRPr sz="2600">
              <a:latin typeface="Trebuchet MS" panose="020B0603020202020204"/>
              <a:cs typeface="Trebuchet MS" panose="020B0603020202020204"/>
            </a:endParaRPr>
          </a:p>
          <a:p>
            <a:pPr marL="535305" marR="5080">
              <a:lnSpc>
                <a:spcPct val="79000"/>
              </a:lnSpc>
              <a:spcBef>
                <a:spcPts val="101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Refers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content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at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moment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 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time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221105" lvl="1" indent="-276860">
              <a:lnSpc>
                <a:spcPct val="100000"/>
              </a:lnSpc>
              <a:spcBef>
                <a:spcPts val="53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1221105" algn="l"/>
              </a:tabLst>
            </a:pPr>
            <a:r>
              <a:rPr sz="19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Initial</a:t>
            </a:r>
            <a:r>
              <a:rPr sz="1900" b="1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900" b="1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1678305" lvl="2" indent="-26670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1678305" algn="l"/>
              </a:tabLst>
            </a:pP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Refers</a:t>
            </a:r>
            <a:r>
              <a:rPr sz="15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5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5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5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when</a:t>
            </a:r>
            <a:r>
              <a:rPr sz="15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it</a:t>
            </a:r>
            <a:r>
              <a:rPr sz="15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15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loaded</a:t>
            </a:r>
            <a:endParaRPr sz="1500">
              <a:latin typeface="Trebuchet MS" panose="020B0603020202020204"/>
              <a:cs typeface="Trebuchet MS" panose="020B0603020202020204"/>
            </a:endParaRPr>
          </a:p>
          <a:p>
            <a:pPr marL="1221105" lvl="1" indent="-276860">
              <a:lnSpc>
                <a:spcPct val="100000"/>
              </a:lnSpc>
              <a:spcBef>
                <a:spcPts val="58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1221105" algn="l"/>
              </a:tabLst>
            </a:pPr>
            <a:r>
              <a:rPr sz="19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Valid</a:t>
            </a:r>
            <a:r>
              <a:rPr sz="1900" b="1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1678305" marR="456565" lvl="2" indent="-266700">
              <a:lnSpc>
                <a:spcPts val="1480"/>
              </a:lnSpc>
              <a:spcBef>
                <a:spcPts val="98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1678305" algn="l"/>
              </a:tabLst>
            </a:pP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5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r>
              <a:rPr sz="15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15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satisfies</a:t>
            </a:r>
            <a:r>
              <a:rPr sz="15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5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</a:t>
            </a:r>
            <a:r>
              <a:rPr sz="15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5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constraints</a:t>
            </a:r>
            <a:r>
              <a:rPr sz="15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5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5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5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endParaRPr sz="1500">
              <a:latin typeface="Trebuchet MS" panose="020B0603020202020204"/>
              <a:cs typeface="Trebuchet MS" panose="020B0603020202020204"/>
            </a:endParaRPr>
          </a:p>
          <a:p>
            <a:pPr marL="421005" marR="374650" indent="-408940">
              <a:lnSpc>
                <a:spcPct val="80000"/>
              </a:lnSpc>
              <a:spcBef>
                <a:spcPts val="99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1005" algn="l"/>
              </a:tabLst>
            </a:pP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6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600" b="1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2600" b="1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changes</a:t>
            </a:r>
            <a:r>
              <a:rPr sz="26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very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infrequently.</a:t>
            </a:r>
            <a:r>
              <a:rPr sz="26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6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600" b="1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r>
              <a:rPr sz="2600" b="1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changes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every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time</a:t>
            </a:r>
            <a:r>
              <a:rPr sz="2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updated</a:t>
            </a:r>
            <a:endParaRPr sz="2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616711"/>
            <a:ext cx="3702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20" dirty="0"/>
              <a:t> </a:t>
            </a:r>
            <a:r>
              <a:rPr sz="3600" spc="-10" dirty="0"/>
              <a:t>Organization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8089" y="1557983"/>
            <a:ext cx="8016875" cy="407860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6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1005" algn="l"/>
              </a:tabLst>
            </a:pP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Logical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organization</a:t>
            </a:r>
            <a:endParaRPr sz="2600">
              <a:latin typeface="Trebuchet MS" panose="020B0603020202020204"/>
              <a:cs typeface="Trebuchet MS" panose="020B0603020202020204"/>
            </a:endParaRPr>
          </a:p>
          <a:p>
            <a:pPr marL="821055" lvl="1" indent="-341630">
              <a:lnSpc>
                <a:spcPct val="100000"/>
              </a:lnSpc>
              <a:spcBef>
                <a:spcPts val="44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logical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format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221105" lvl="2" indent="-276860">
              <a:lnSpc>
                <a:spcPct val="100000"/>
              </a:lnSpc>
              <a:spcBef>
                <a:spcPts val="50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110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(e.g.,</a:t>
            </a:r>
            <a:r>
              <a:rPr sz="19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employee</a:t>
            </a:r>
            <a:r>
              <a:rPr sz="19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record</a:t>
            </a:r>
            <a:r>
              <a:rPr sz="19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has</a:t>
            </a:r>
            <a:r>
              <a:rPr sz="19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E#,</a:t>
            </a:r>
            <a:r>
              <a:rPr sz="19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Name,</a:t>
            </a:r>
            <a:r>
              <a:rPr sz="19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Address)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421005" indent="-408305">
              <a:lnSpc>
                <a:spcPct val="100000"/>
              </a:lnSpc>
              <a:spcBef>
                <a:spcPts val="41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1005" algn="l"/>
              </a:tabLst>
            </a:pP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2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organization</a:t>
            </a:r>
            <a:endParaRPr sz="2600">
              <a:latin typeface="Trebuchet MS" panose="020B0603020202020204"/>
              <a:cs typeface="Trebuchet MS" panose="020B0603020202020204"/>
            </a:endParaRPr>
          </a:p>
          <a:p>
            <a:pPr marL="821055" marR="480060" lvl="1" indent="-341630">
              <a:lnSpc>
                <a:spcPct val="79000"/>
              </a:lnSpc>
              <a:spcBef>
                <a:spcPts val="106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actual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all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supporting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structures</a:t>
            </a:r>
            <a:r>
              <a:rPr sz="22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(e.g.,</a:t>
            </a:r>
            <a:r>
              <a:rPr sz="22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index)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221105" lvl="2" indent="-276860">
              <a:lnSpc>
                <a:spcPct val="100000"/>
              </a:lnSpc>
              <a:spcBef>
                <a:spcPts val="5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110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(e.g.,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employee: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E#</a:t>
            </a:r>
            <a:r>
              <a:rPr sz="19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32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bits,</a:t>
            </a:r>
            <a:r>
              <a:rPr sz="19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30</a:t>
            </a:r>
            <a:r>
              <a:rPr sz="19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bytes,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Address</a:t>
            </a:r>
            <a:r>
              <a:rPr sz="19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50</a:t>
            </a:r>
            <a:r>
              <a:rPr sz="19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bytes)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421005" indent="-408305">
              <a:lnSpc>
                <a:spcPct val="100000"/>
              </a:lnSpc>
              <a:spcBef>
                <a:spcPts val="41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1005" algn="l"/>
              </a:tabLst>
            </a:pP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Benefits</a:t>
            </a:r>
            <a:endParaRPr sz="2600">
              <a:latin typeface="Trebuchet MS" panose="020B0603020202020204"/>
              <a:cs typeface="Trebuchet MS" panose="020B0603020202020204"/>
            </a:endParaRPr>
          </a:p>
          <a:p>
            <a:pPr marL="821055" marR="5080" lvl="1" indent="-341630">
              <a:lnSpc>
                <a:spcPct val="79000"/>
              </a:lnSpc>
              <a:spcBef>
                <a:spcPts val="104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application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programs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must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know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logical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organization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but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organization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implementation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detail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they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need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not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know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616711"/>
            <a:ext cx="5652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Three-</a:t>
            </a:r>
            <a:r>
              <a:rPr sz="3600" dirty="0"/>
              <a:t>Schema</a:t>
            </a:r>
            <a:r>
              <a:rPr sz="3600" spc="-10" dirty="0"/>
              <a:t> Architecture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1557" y="1687576"/>
            <a:ext cx="7030720" cy="34607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26085" marR="5080" indent="-414020">
              <a:lnSpc>
                <a:spcPct val="100000"/>
              </a:lnSpc>
              <a:spcBef>
                <a:spcPts val="8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Proposed</a:t>
            </a:r>
            <a:r>
              <a:rPr sz="2800" spc="-1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8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support</a:t>
            </a:r>
            <a:r>
              <a:rPr sz="28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</a:t>
            </a:r>
            <a:r>
              <a:rPr sz="28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characteristics </a:t>
            </a:r>
            <a:r>
              <a:rPr sz="28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250190" lvl="1" indent="-346710">
              <a:lnSpc>
                <a:spcPct val="100000"/>
              </a:lnSpc>
              <a:spcBef>
                <a:spcPts val="1035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826135" algn="l"/>
              </a:tabLst>
            </a:pPr>
            <a:r>
              <a:rPr sz="24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Program-</a:t>
            </a:r>
            <a:r>
              <a:rPr sz="24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400" b="1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independence</a:t>
            </a:r>
            <a:r>
              <a:rPr sz="2400" b="1" spc="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24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separate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applications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 database)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97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Support</a:t>
            </a:r>
            <a:r>
              <a:rPr sz="24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multiple</a:t>
            </a:r>
            <a:r>
              <a:rPr sz="2400" b="1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views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marR="461010" lvl="1" indent="-346710">
              <a:lnSpc>
                <a:spcPct val="101000"/>
              </a:lnSpc>
              <a:spcBef>
                <a:spcPts val="10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</a:t>
            </a:r>
            <a:r>
              <a:rPr sz="24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store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</a:t>
            </a:r>
            <a:r>
              <a:rPr sz="24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description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(mete-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data)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Three-</a:t>
            </a:r>
            <a:r>
              <a:rPr sz="3600" dirty="0"/>
              <a:t>Schema</a:t>
            </a:r>
            <a:r>
              <a:rPr sz="3600" spc="-10" dirty="0"/>
              <a:t> Architecture</a:t>
            </a:r>
            <a:endParaRPr sz="3600"/>
          </a:p>
          <a:p>
            <a:pPr marL="266700">
              <a:lnSpc>
                <a:spcPct val="100000"/>
              </a:lnSpc>
              <a:spcBef>
                <a:spcPts val="45"/>
              </a:spcBef>
            </a:pPr>
            <a:r>
              <a:rPr sz="3200" spc="-10" dirty="0"/>
              <a:t>contd.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524000" y="1524000"/>
            <a:ext cx="6096000" cy="4876800"/>
            <a:chOff x="1524000" y="1524000"/>
            <a:chExt cx="6096000" cy="48768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24000" y="1524000"/>
              <a:ext cx="5943599" cy="48767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91400" y="1584337"/>
              <a:ext cx="228600" cy="4816475"/>
            </a:xfrm>
            <a:custGeom>
              <a:avLst/>
              <a:gdLst/>
              <a:ahLst/>
              <a:cxnLst/>
              <a:rect l="l" t="t" r="r" b="b"/>
              <a:pathLst>
                <a:path w="228600" h="4816475">
                  <a:moveTo>
                    <a:pt x="152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52400" y="533400"/>
                  </a:lnTo>
                  <a:lnTo>
                    <a:pt x="152400" y="0"/>
                  </a:lnTo>
                  <a:close/>
                </a:path>
                <a:path w="228600" h="4816475">
                  <a:moveTo>
                    <a:pt x="228600" y="1158875"/>
                  </a:moveTo>
                  <a:lnTo>
                    <a:pt x="0" y="1158875"/>
                  </a:lnTo>
                  <a:lnTo>
                    <a:pt x="0" y="4816475"/>
                  </a:lnTo>
                  <a:lnTo>
                    <a:pt x="228600" y="4816475"/>
                  </a:lnTo>
                  <a:lnTo>
                    <a:pt x="228600" y="1158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235711"/>
            <a:ext cx="5652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Three-</a:t>
            </a:r>
            <a:r>
              <a:rPr sz="3600" dirty="0"/>
              <a:t>Schema</a:t>
            </a:r>
            <a:r>
              <a:rPr sz="3600" spc="-10" dirty="0"/>
              <a:t> Architecture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1972" y="790193"/>
            <a:ext cx="606869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contd.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403225" indent="-390525">
              <a:lnSpc>
                <a:spcPct val="100000"/>
              </a:lnSpc>
              <a:spcBef>
                <a:spcPts val="153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03225" algn="l"/>
              </a:tabLst>
            </a:pPr>
            <a:r>
              <a:rPr sz="19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Internal</a:t>
            </a:r>
            <a:r>
              <a:rPr sz="1900" b="1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803275" lvl="1" indent="-328295">
              <a:lnSpc>
                <a:spcPct val="100000"/>
              </a:lnSpc>
              <a:spcBef>
                <a:spcPts val="15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0327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Describe</a:t>
            </a:r>
            <a:r>
              <a:rPr sz="17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storage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structures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paths.</a:t>
            </a:r>
            <a:endParaRPr sz="1700">
              <a:latin typeface="Trebuchet MS" panose="020B0603020202020204"/>
              <a:cs typeface="Trebuchet MS" panose="020B0603020202020204"/>
            </a:endParaRPr>
          </a:p>
          <a:p>
            <a:pPr marL="803275" lvl="1" indent="-328295">
              <a:lnSpc>
                <a:spcPct val="100000"/>
              </a:lnSpc>
              <a:spcBef>
                <a:spcPts val="21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0327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Typically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uses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endParaRPr sz="1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304" y="2353208"/>
            <a:ext cx="75184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34099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Describes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complete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details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7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700" b="1" i="1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storage</a:t>
            </a:r>
            <a:r>
              <a:rPr sz="1700" b="1" i="1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700" b="1" i="1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</a:t>
            </a:r>
            <a:r>
              <a:rPr sz="1700" b="1" i="1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paths</a:t>
            </a:r>
            <a:r>
              <a:rPr sz="1700" b="1" i="1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endParaRPr sz="1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972" y="2511958"/>
            <a:ext cx="2598420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endParaRPr sz="1700">
              <a:latin typeface="Trebuchet MS" panose="020B0603020202020204"/>
              <a:cs typeface="Trebuchet MS" panose="020B0603020202020204"/>
            </a:endParaRPr>
          </a:p>
          <a:p>
            <a:pPr marL="403225" indent="-390525">
              <a:lnSpc>
                <a:spcPct val="100000"/>
              </a:lnSpc>
              <a:spcBef>
                <a:spcPts val="75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03225" algn="l"/>
              </a:tabLst>
            </a:pPr>
            <a:r>
              <a:rPr sz="19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1900" b="1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endParaRPr sz="1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4304" y="3096158"/>
            <a:ext cx="7044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34099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Describe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</a:t>
            </a:r>
            <a:r>
              <a:rPr sz="1700" b="1" i="1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constraints</a:t>
            </a:r>
            <a:r>
              <a:rPr sz="1700" b="1" i="1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whole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1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3175" y="3254908"/>
            <a:ext cx="19151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community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</a:t>
            </a:r>
            <a:endParaRPr sz="1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4304" y="3534308"/>
            <a:ext cx="68764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34099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Hides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details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storage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structures </a:t>
            </a:r>
            <a:r>
              <a:rPr sz="1700" b="1" i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700" b="1" i="1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concentrate</a:t>
            </a:r>
            <a:r>
              <a:rPr sz="17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endParaRPr sz="1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3175" y="3693058"/>
            <a:ext cx="63969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describing</a:t>
            </a:r>
            <a:r>
              <a:rPr sz="17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7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types,</a:t>
            </a:r>
            <a:r>
              <a:rPr sz="17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relationships,</a:t>
            </a:r>
            <a:r>
              <a:rPr sz="17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17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operations,</a:t>
            </a:r>
            <a:r>
              <a:rPr sz="17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entities</a:t>
            </a:r>
            <a:r>
              <a:rPr sz="17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endParaRPr sz="1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972" y="3825138"/>
            <a:ext cx="8075930" cy="24612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260"/>
              </a:spcBef>
            </a:pP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constraints.</a:t>
            </a:r>
            <a:endParaRPr sz="1700">
              <a:latin typeface="Trebuchet MS" panose="020B0603020202020204"/>
              <a:cs typeface="Trebuchet MS" panose="020B0603020202020204"/>
            </a:endParaRPr>
          </a:p>
          <a:p>
            <a:pPr marL="803275" indent="-328295">
              <a:lnSpc>
                <a:spcPct val="100000"/>
              </a:lnSpc>
              <a:spcBef>
                <a:spcPts val="16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0327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Uses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implementation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model.</a:t>
            </a:r>
            <a:endParaRPr sz="1700">
              <a:latin typeface="Trebuchet MS" panose="020B0603020202020204"/>
              <a:cs typeface="Trebuchet MS" panose="020B0603020202020204"/>
            </a:endParaRPr>
          </a:p>
          <a:p>
            <a:pPr marL="403225" indent="-390525">
              <a:lnSpc>
                <a:spcPct val="100000"/>
              </a:lnSpc>
              <a:spcBef>
                <a:spcPts val="125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03225" algn="l"/>
              </a:tabLst>
            </a:pPr>
            <a:r>
              <a:rPr sz="19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External</a:t>
            </a:r>
            <a:r>
              <a:rPr sz="1900" b="1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schemas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803275" marR="297815" lvl="1" indent="-328930">
              <a:lnSpc>
                <a:spcPct val="80000"/>
              </a:lnSpc>
              <a:spcBef>
                <a:spcPts val="9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0327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Describes</a:t>
            </a:r>
            <a:r>
              <a:rPr sz="17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subset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7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particular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group</a:t>
            </a:r>
            <a:r>
              <a:rPr sz="17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interested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in,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according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format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format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wants,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hides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rest</a:t>
            </a:r>
            <a:endParaRPr sz="1700">
              <a:latin typeface="Trebuchet MS" panose="020B0603020202020204"/>
              <a:cs typeface="Trebuchet MS" panose="020B0603020202020204"/>
            </a:endParaRPr>
          </a:p>
          <a:p>
            <a:pPr marL="803275" lvl="1" indent="-328295">
              <a:lnSpc>
                <a:spcPct val="100000"/>
              </a:lnSpc>
              <a:spcBef>
                <a:spcPts val="28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0327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Uses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same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as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level</a:t>
            </a:r>
            <a:endParaRPr sz="1700">
              <a:latin typeface="Trebuchet MS" panose="020B0603020202020204"/>
              <a:cs typeface="Trebuchet MS" panose="020B0603020202020204"/>
            </a:endParaRPr>
          </a:p>
          <a:p>
            <a:pPr marL="803275" marR="5080" lvl="1" indent="-328930">
              <a:lnSpc>
                <a:spcPct val="80000"/>
              </a:lnSpc>
              <a:spcBef>
                <a:spcPts val="95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03275" algn="l"/>
              </a:tabLst>
            </a:pP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may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contain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virtual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derived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from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files,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but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not</a:t>
            </a:r>
            <a:r>
              <a:rPr sz="17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explicitly stored.</a:t>
            </a:r>
            <a:endParaRPr sz="17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Three-</a:t>
            </a:r>
            <a:r>
              <a:rPr sz="3600" dirty="0"/>
              <a:t>Schema</a:t>
            </a:r>
            <a:r>
              <a:rPr sz="3600" spc="-10" dirty="0"/>
              <a:t> Architecture</a:t>
            </a:r>
            <a:endParaRPr sz="3600"/>
          </a:p>
          <a:p>
            <a:pPr marL="266700">
              <a:lnSpc>
                <a:spcPct val="100000"/>
              </a:lnSpc>
              <a:spcBef>
                <a:spcPts val="45"/>
              </a:spcBef>
            </a:pPr>
            <a:r>
              <a:rPr sz="3200" spc="-10" dirty="0"/>
              <a:t>contd.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05765" marR="5080" indent="-388620">
              <a:lnSpc>
                <a:spcPct val="101000"/>
              </a:lnSpc>
              <a:spcBef>
                <a:spcPts val="85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5765" algn="l"/>
              </a:tabLst>
            </a:pPr>
            <a:r>
              <a:rPr sz="1800" b="0" dirty="0">
                <a:latin typeface="Trebuchet MS" panose="020B0603020202020204"/>
                <a:cs typeface="Trebuchet MS" panose="020B0603020202020204"/>
              </a:rPr>
              <a:t>Mappings</a:t>
            </a:r>
            <a:r>
              <a:rPr sz="1800" b="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among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schema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levels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are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needed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b="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10" dirty="0">
                <a:latin typeface="Trebuchet MS" panose="020B0603020202020204"/>
                <a:cs typeface="Trebuchet MS" panose="020B0603020202020204"/>
              </a:rPr>
              <a:t>transform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requests</a:t>
            </a:r>
            <a:r>
              <a:rPr sz="1800" b="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sz="1800" b="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data</a:t>
            </a:r>
            <a:r>
              <a:rPr sz="1800" b="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between</a:t>
            </a:r>
            <a:r>
              <a:rPr sz="1800" b="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10" dirty="0">
                <a:latin typeface="Trebuchet MS" panose="020B0603020202020204"/>
                <a:cs typeface="Trebuchet MS" panose="020B0603020202020204"/>
              </a:rPr>
              <a:t>levels.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5765" marR="57785" indent="-388620">
              <a:lnSpc>
                <a:spcPts val="2150"/>
              </a:lnSpc>
              <a:spcBef>
                <a:spcPts val="1095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5765" algn="l"/>
              </a:tabLst>
            </a:pPr>
            <a:r>
              <a:rPr sz="1800" b="0" dirty="0">
                <a:latin typeface="Trebuchet MS" panose="020B0603020202020204"/>
                <a:cs typeface="Trebuchet MS" panose="020B0603020202020204"/>
              </a:rPr>
              <a:t>Programs</a:t>
            </a:r>
            <a:r>
              <a:rPr sz="1800" b="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refer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an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external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schema,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are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10" dirty="0">
                <a:latin typeface="Trebuchet MS" panose="020B0603020202020204"/>
                <a:cs typeface="Trebuchet MS" panose="020B0603020202020204"/>
              </a:rPr>
              <a:t>mapped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by</a:t>
            </a:r>
            <a:r>
              <a:rPr sz="1800" b="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DBMS</a:t>
            </a:r>
            <a:r>
              <a:rPr sz="1800"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b="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internal</a:t>
            </a:r>
            <a:r>
              <a:rPr sz="1800"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schema</a:t>
            </a:r>
            <a:r>
              <a:rPr sz="1800" b="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for</a:t>
            </a:r>
            <a:r>
              <a:rPr sz="1800"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10" dirty="0">
                <a:latin typeface="Trebuchet MS" panose="020B0603020202020204"/>
                <a:cs typeface="Trebuchet MS" panose="020B0603020202020204"/>
              </a:rPr>
              <a:t>execution.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405765" marR="252095" indent="-388620">
              <a:lnSpc>
                <a:spcPct val="100000"/>
              </a:lnSpc>
              <a:spcBef>
                <a:spcPts val="94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5765" algn="l"/>
              </a:tabLst>
            </a:pPr>
            <a:r>
              <a:rPr sz="1800" b="0" dirty="0">
                <a:latin typeface="Trebuchet MS" panose="020B0603020202020204"/>
                <a:cs typeface="Trebuchet MS" panose="020B0603020202020204"/>
              </a:rPr>
              <a:t>If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request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is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a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retrieval,</a:t>
            </a:r>
            <a:r>
              <a:rPr sz="1800" b="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20" dirty="0">
                <a:latin typeface="Trebuchet MS" panose="020B0603020202020204"/>
                <a:cs typeface="Trebuchet MS" panose="020B0603020202020204"/>
              </a:rPr>
              <a:t>data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extracted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from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stored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is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10" dirty="0">
                <a:latin typeface="Trebuchet MS" panose="020B0603020202020204"/>
                <a:cs typeface="Trebuchet MS" panose="020B0603020202020204"/>
              </a:rPr>
              <a:t>reformatted</a:t>
            </a:r>
            <a:r>
              <a:rPr sz="1800" b="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25" dirty="0">
                <a:latin typeface="Trebuchet MS" panose="020B0603020202020204"/>
                <a:cs typeface="Trebuchet MS" panose="020B0603020202020204"/>
              </a:rPr>
              <a:t>to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match</a:t>
            </a:r>
            <a:r>
              <a:rPr sz="1800" b="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b="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users</a:t>
            </a:r>
            <a:r>
              <a:rPr sz="1800" b="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dirty="0">
                <a:latin typeface="Trebuchet MS" panose="020B0603020202020204"/>
                <a:cs typeface="Trebuchet MS" panose="020B0603020202020204"/>
              </a:rPr>
              <a:t>external</a:t>
            </a:r>
            <a:r>
              <a:rPr sz="1800" b="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0" spc="-10" dirty="0">
                <a:latin typeface="Trebuchet MS" panose="020B0603020202020204"/>
                <a:cs typeface="Trebuchet MS" panose="020B0603020202020204"/>
              </a:rPr>
              <a:t>view.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242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20" dirty="0"/>
              <a:t> </a:t>
            </a:r>
            <a:r>
              <a:rPr sz="3600" spc="-10" dirty="0"/>
              <a:t>Independence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05765" marR="410845" indent="-393700" algn="just">
              <a:lnSpc>
                <a:spcPts val="2170"/>
              </a:lnSpc>
              <a:spcBef>
                <a:spcPts val="365"/>
              </a:spcBef>
              <a:buSzPct val="80000"/>
              <a:buFont typeface="Lucida Sans Unicode" panose="020B0602030504020204"/>
              <a:buChar char="►"/>
              <a:tabLst>
                <a:tab pos="405765" algn="l"/>
                <a:tab pos="408305" algn="l"/>
              </a:tabLst>
            </a:pPr>
            <a:r>
              <a:rPr b="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b="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pc="-10" dirty="0"/>
              <a:t>disjointing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descriptions</a:t>
            </a:r>
            <a:r>
              <a:rPr spc="-4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spc="-25" dirty="0"/>
              <a:t>the </a:t>
            </a:r>
            <a:r>
              <a:rPr dirty="0"/>
              <a:t>application</a:t>
            </a:r>
            <a:r>
              <a:rPr spc="-45" dirty="0"/>
              <a:t> </a:t>
            </a:r>
            <a:r>
              <a:rPr dirty="0"/>
              <a:t>programs</a:t>
            </a:r>
            <a:r>
              <a:rPr spc="-30" dirty="0"/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(or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spc="-10" dirty="0">
                <a:latin typeface="Trebuchet MS" panose="020B0603020202020204"/>
                <a:cs typeface="Trebuchet MS" panose="020B0603020202020204"/>
              </a:rPr>
              <a:t>user-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interfaces)</a:t>
            </a:r>
            <a:r>
              <a:rPr b="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that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uses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b="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data</a:t>
            </a:r>
            <a:endParaRPr b="0" spc="-20" dirty="0">
              <a:latin typeface="Trebuchet MS" panose="020B0603020202020204"/>
              <a:cs typeface="Trebuchet MS" panose="020B0603020202020204"/>
            </a:endParaRPr>
          </a:p>
          <a:p>
            <a:pPr marL="405765" marR="197485" indent="-393700" algn="just">
              <a:lnSpc>
                <a:spcPts val="2150"/>
              </a:lnSpc>
              <a:spcBef>
                <a:spcPts val="1030"/>
              </a:spcBef>
              <a:buSzPct val="80000"/>
              <a:buFont typeface="Lucida Sans Unicode" panose="020B0602030504020204"/>
              <a:buChar char="►"/>
              <a:tabLst>
                <a:tab pos="405765" algn="l"/>
                <a:tab pos="408305" algn="l"/>
              </a:tabLst>
            </a:pPr>
            <a:r>
              <a:rPr b="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When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a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schema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at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a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lower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level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is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changed,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only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b="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dirty="0"/>
              <a:t>mappings</a:t>
            </a:r>
            <a:r>
              <a:rPr spc="-20" dirty="0"/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between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this</a:t>
            </a:r>
            <a:r>
              <a:rPr b="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schema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and</a:t>
            </a:r>
            <a:endParaRPr b="0" spc="-25" dirty="0">
              <a:latin typeface="Trebuchet MS" panose="020B0603020202020204"/>
              <a:cs typeface="Trebuchet MS" panose="020B0603020202020204"/>
            </a:endParaRPr>
          </a:p>
          <a:p>
            <a:pPr marL="405765" marR="5080">
              <a:lnSpc>
                <a:spcPts val="2180"/>
              </a:lnSpc>
            </a:pPr>
            <a:r>
              <a:rPr b="0" spc="-10" dirty="0">
                <a:latin typeface="Trebuchet MS" panose="020B0603020202020204"/>
                <a:cs typeface="Trebuchet MS" panose="020B0603020202020204"/>
              </a:rPr>
              <a:t>higher-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level</a:t>
            </a:r>
            <a:r>
              <a:rPr b="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schemas</a:t>
            </a:r>
            <a:r>
              <a:rPr b="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need</a:t>
            </a:r>
            <a:r>
              <a:rPr b="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b="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be</a:t>
            </a:r>
            <a:r>
              <a:rPr b="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changed</a:t>
            </a:r>
            <a:r>
              <a:rPr b="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in</a:t>
            </a:r>
            <a:r>
              <a:rPr b="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spc="-50" dirty="0">
                <a:latin typeface="Trebuchet MS" panose="020B0603020202020204"/>
                <a:cs typeface="Trebuchet MS" panose="020B0603020202020204"/>
              </a:rPr>
              <a:t>a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DBMS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that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fully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supports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data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independence.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The </a:t>
            </a:r>
            <a:r>
              <a:rPr b="0" spc="-10" dirty="0">
                <a:latin typeface="Trebuchet MS" panose="020B0603020202020204"/>
                <a:cs typeface="Trebuchet MS" panose="020B0603020202020204"/>
              </a:rPr>
              <a:t>higher-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level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schemas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themselves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are</a:t>
            </a:r>
            <a:r>
              <a:rPr b="0" spc="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i="1" spc="-10" dirty="0">
                <a:latin typeface="Trebuchet MS" panose="020B0603020202020204"/>
                <a:cs typeface="Trebuchet MS" panose="020B0603020202020204"/>
              </a:rPr>
              <a:t>unchanged</a:t>
            </a:r>
            <a:r>
              <a:rPr b="0" spc="-10" dirty="0">
                <a:latin typeface="Trebuchet MS" panose="020B0603020202020204"/>
                <a:cs typeface="Trebuchet MS" panose="020B0603020202020204"/>
              </a:rPr>
              <a:t>.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Hence,</a:t>
            </a:r>
            <a:r>
              <a:rPr b="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b="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application</a:t>
            </a:r>
            <a:r>
              <a:rPr b="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programs</a:t>
            </a:r>
            <a:r>
              <a:rPr b="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need</a:t>
            </a:r>
            <a:r>
              <a:rPr b="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not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be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changed</a:t>
            </a:r>
            <a:r>
              <a:rPr b="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since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they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refer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b="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dirty="0">
                <a:latin typeface="Trebuchet MS" panose="020B0603020202020204"/>
                <a:cs typeface="Trebuchet MS" panose="020B0603020202020204"/>
              </a:rPr>
              <a:t>external</a:t>
            </a:r>
            <a:r>
              <a:rPr b="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b="0" spc="-10" dirty="0">
                <a:latin typeface="Trebuchet MS" panose="020B0603020202020204"/>
                <a:cs typeface="Trebuchet MS" panose="020B0603020202020204"/>
              </a:rPr>
              <a:t>schemas.</a:t>
            </a:r>
            <a:endParaRPr b="0" spc="-10" dirty="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06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Logical</a:t>
            </a:r>
            <a:r>
              <a:rPr sz="3600" spc="-85" dirty="0"/>
              <a:t> </a:t>
            </a:r>
            <a:r>
              <a:rPr sz="3600" dirty="0"/>
              <a:t>Data</a:t>
            </a:r>
            <a:r>
              <a:rPr sz="3600" spc="-85" dirty="0"/>
              <a:t> </a:t>
            </a:r>
            <a:r>
              <a:rPr sz="3600" spc="-10" dirty="0"/>
              <a:t>Independence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4594" y="1845055"/>
            <a:ext cx="7430134" cy="18421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00685" marR="5080" indent="-388620">
              <a:lnSpc>
                <a:spcPct val="101000"/>
              </a:lnSpc>
              <a:spcBef>
                <a:spcPts val="85"/>
              </a:spcBef>
              <a:buClr>
                <a:srgbClr val="90C126"/>
              </a:buClr>
              <a:buSzPct val="78000"/>
              <a:buFont typeface="Arial Black" panose="020B0A04020102020204"/>
              <a:buChar char="►"/>
              <a:tabLst>
                <a:tab pos="400685" algn="l"/>
              </a:tabLst>
            </a:pPr>
            <a:r>
              <a:rPr sz="1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Logical</a:t>
            </a:r>
            <a:r>
              <a:rPr sz="1800" b="1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800" b="1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Independence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1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capacity</a:t>
            </a:r>
            <a:r>
              <a:rPr sz="1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</a:t>
            </a:r>
            <a:r>
              <a:rPr sz="1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1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without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having</a:t>
            </a:r>
            <a:r>
              <a:rPr sz="1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external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schemas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8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their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application</a:t>
            </a:r>
            <a:r>
              <a:rPr sz="1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programs.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800735" lvl="1" indent="-326390">
              <a:lnSpc>
                <a:spcPct val="100000"/>
              </a:lnSpc>
              <a:spcBef>
                <a:spcPts val="102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800735" algn="l"/>
              </a:tabLst>
            </a:pP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ex:</a:t>
            </a:r>
            <a:r>
              <a:rPr sz="1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Employee</a:t>
            </a:r>
            <a:r>
              <a:rPr sz="1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(E#,</a:t>
            </a:r>
            <a:r>
              <a:rPr sz="1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Name,</a:t>
            </a:r>
            <a:r>
              <a:rPr sz="1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Address,</a:t>
            </a:r>
            <a:r>
              <a:rPr sz="1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Salary)</a:t>
            </a:r>
            <a:endParaRPr sz="1600">
              <a:latin typeface="Trebuchet MS" panose="020B0603020202020204"/>
              <a:cs typeface="Trebuchet MS" panose="020B0603020202020204"/>
            </a:endParaRPr>
          </a:p>
          <a:p>
            <a:pPr marL="800735" marR="120015" indent="-285750">
              <a:lnSpc>
                <a:spcPct val="100000"/>
              </a:lnSpc>
              <a:spcBef>
                <a:spcPts val="1005"/>
              </a:spcBef>
            </a:pP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view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including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only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E#</a:t>
            </a:r>
            <a:r>
              <a:rPr sz="1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not</a:t>
            </a:r>
            <a:r>
              <a:rPr sz="1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affected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changes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1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any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other attributes.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Physical</a:t>
            </a:r>
            <a:r>
              <a:rPr sz="3600" spc="-95" dirty="0"/>
              <a:t> </a:t>
            </a:r>
            <a:r>
              <a:rPr sz="3600" dirty="0"/>
              <a:t>Data</a:t>
            </a:r>
            <a:r>
              <a:rPr sz="3600" spc="-95" dirty="0"/>
              <a:t> </a:t>
            </a:r>
            <a:r>
              <a:rPr sz="3600" spc="-10" dirty="0"/>
              <a:t>Independence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36994" y="2154897"/>
            <a:ext cx="6120130" cy="2139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00685" marR="179705" indent="-388620">
              <a:lnSpc>
                <a:spcPts val="1950"/>
              </a:lnSpc>
              <a:spcBef>
                <a:spcPts val="340"/>
              </a:spcBef>
              <a:buClr>
                <a:srgbClr val="90C126"/>
              </a:buClr>
              <a:buSzPct val="78000"/>
              <a:buFont typeface="Arial Black" panose="020B0A04020102020204"/>
              <a:buChar char="►"/>
              <a:tabLst>
                <a:tab pos="400685" algn="l"/>
              </a:tabLst>
            </a:pPr>
            <a:r>
              <a:rPr sz="1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1800" b="1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1800" b="1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Independence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capacity</a:t>
            </a:r>
            <a:r>
              <a:rPr sz="1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internal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without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having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change</a:t>
            </a:r>
            <a:r>
              <a:rPr sz="18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18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schema.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800735" marR="5080" lvl="1" indent="-326390" algn="just">
              <a:lnSpc>
                <a:spcPts val="1700"/>
              </a:lnSpc>
              <a:spcBef>
                <a:spcPts val="1025"/>
              </a:spcBef>
              <a:buSzPct val="78000"/>
              <a:buFont typeface="Lucida Sans Unicode" panose="020B0602030504020204"/>
              <a:buChar char="►"/>
              <a:tabLst>
                <a:tab pos="800735" algn="l"/>
                <a:tab pos="802640" algn="l"/>
              </a:tabLst>
            </a:pPr>
            <a:r>
              <a:rPr sz="160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ability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modify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scheme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without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causing application</a:t>
            </a:r>
            <a:r>
              <a:rPr sz="1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programs</a:t>
            </a:r>
            <a:r>
              <a:rPr sz="1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be</a:t>
            </a:r>
            <a:r>
              <a:rPr sz="1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rewritten</a:t>
            </a:r>
            <a:endParaRPr sz="1600">
              <a:latin typeface="Trebuchet MS" panose="020B0603020202020204"/>
              <a:cs typeface="Trebuchet MS" panose="020B0603020202020204"/>
            </a:endParaRPr>
          </a:p>
          <a:p>
            <a:pPr marL="800735" marR="22225" lvl="1" indent="-326390" algn="just">
              <a:lnSpc>
                <a:spcPct val="89000"/>
              </a:lnSpc>
              <a:spcBef>
                <a:spcPts val="995"/>
              </a:spcBef>
              <a:buSzPct val="78000"/>
              <a:buFont typeface="Lucida Sans Unicode" panose="020B0602030504020204"/>
              <a:buChar char="►"/>
              <a:tabLst>
                <a:tab pos="800735" algn="l"/>
                <a:tab pos="802640" algn="l"/>
              </a:tabLst>
            </a:pPr>
            <a:r>
              <a:rPr sz="160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e.g.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reorganize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some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physical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files,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creating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additional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structures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improve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performance</a:t>
            </a:r>
            <a:r>
              <a:rPr sz="1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retrieval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1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update.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439" y="5475388"/>
            <a:ext cx="23050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**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Times" pitchFamily="18" charset="0"/>
              <a:buNone/>
            </a:pPr>
            <a:r>
              <a:rPr lang="en-US" dirty="0"/>
              <a:t>DBMS Languages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631862" y="2151443"/>
            <a:ext cx="6156325" cy="3785652"/>
          </a:xfrm>
        </p:spPr>
        <p:txBody>
          <a:bodyPr/>
          <a:lstStyle/>
          <a:p>
            <a:pPr eaLnBrk="1" hangingPunct="1">
              <a:buFont typeface="Times" pitchFamily="18" charset="0"/>
              <a:buChar char="•"/>
            </a:pPr>
            <a:endParaRPr lang="en-US" b="1" dirty="0"/>
          </a:p>
          <a:p>
            <a:pPr>
              <a:buFont typeface="Times" pitchFamily="18" charset="0"/>
              <a:buChar char="•"/>
            </a:pPr>
            <a:r>
              <a:rPr lang="en-US" b="1" u="sng" dirty="0"/>
              <a:t>Data Definition Language(DDL)</a:t>
            </a:r>
            <a:endParaRPr lang="en-US" b="1" u="sng" dirty="0"/>
          </a:p>
          <a:p>
            <a:pPr eaLnBrk="1" hangingPunct="1">
              <a:buFont typeface="Times" pitchFamily="18" charset="0"/>
              <a:buChar char="•"/>
            </a:pPr>
            <a:r>
              <a:rPr lang="en-US" b="1" u="sng" dirty="0"/>
              <a:t>Data Manipulation language(DML)</a:t>
            </a:r>
            <a:endParaRPr lang="en-US" b="1" u="sng" dirty="0"/>
          </a:p>
          <a:p>
            <a:pPr eaLnBrk="1" hangingPunct="1">
              <a:buFont typeface="Times" pitchFamily="18" charset="0"/>
              <a:buChar char="•"/>
            </a:pPr>
            <a:r>
              <a:rPr lang="en-US" dirty="0"/>
              <a:t>storage</a:t>
            </a:r>
            <a:r>
              <a:rPr lang="en-US" spc="-75" dirty="0"/>
              <a:t> </a:t>
            </a:r>
            <a:r>
              <a:rPr lang="en-US" spc="-10" dirty="0"/>
              <a:t>definition </a:t>
            </a:r>
            <a:r>
              <a:rPr lang="en-US" dirty="0"/>
              <a:t>language</a:t>
            </a:r>
            <a:r>
              <a:rPr lang="en-US" spc="-50" dirty="0"/>
              <a:t> </a:t>
            </a:r>
            <a:r>
              <a:rPr lang="en-US" dirty="0"/>
              <a:t>(SDL)</a:t>
            </a:r>
            <a:endParaRPr lang="en-US" b="1" u="sng" dirty="0"/>
          </a:p>
          <a:p>
            <a:pPr eaLnBrk="1" hangingPunct="1">
              <a:buFont typeface="Times" pitchFamily="18" charset="0"/>
              <a:buChar char="•"/>
            </a:pPr>
            <a:r>
              <a:rPr lang="en-US" b="1" u="sng" dirty="0"/>
              <a:t>Data Control Language(DCL)</a:t>
            </a:r>
            <a:endParaRPr lang="en-US" b="1" u="sng" dirty="0"/>
          </a:p>
          <a:p>
            <a:pPr eaLnBrk="1" hangingPunct="1">
              <a:buFont typeface="Times" pitchFamily="18" charset="0"/>
              <a:buChar char="•"/>
            </a:pPr>
            <a:r>
              <a:rPr lang="en-US" dirty="0"/>
              <a:t>view</a:t>
            </a:r>
            <a:r>
              <a:rPr lang="en-US" spc="-65" dirty="0"/>
              <a:t> </a:t>
            </a:r>
            <a:r>
              <a:rPr lang="en-US" dirty="0"/>
              <a:t>definition</a:t>
            </a:r>
            <a:r>
              <a:rPr lang="en-US" spc="-60" dirty="0"/>
              <a:t> </a:t>
            </a:r>
            <a:r>
              <a:rPr lang="en-US" dirty="0"/>
              <a:t>language</a:t>
            </a:r>
            <a:r>
              <a:rPr lang="en-US" spc="-40" dirty="0"/>
              <a:t> </a:t>
            </a:r>
            <a:r>
              <a:rPr lang="en-US" dirty="0"/>
              <a:t>(VDL)</a:t>
            </a:r>
            <a:endParaRPr lang="en-US" b="1" u="sng" dirty="0"/>
          </a:p>
          <a:p>
            <a:r>
              <a:rPr lang="en-US" sz="2000" b="1" dirty="0"/>
              <a:t>Transaction Control Language(TCL) –this is also another type</a:t>
            </a:r>
            <a:endParaRPr lang="en-US" sz="2000" b="1" dirty="0"/>
          </a:p>
          <a:p>
            <a:pPr eaLnBrk="1" hangingPunct="1">
              <a:buFont typeface="Times" pitchFamily="18" charset="0"/>
              <a:buChar char="•"/>
            </a:pPr>
            <a:endParaRPr lang="en-US" b="1" dirty="0"/>
          </a:p>
          <a:p>
            <a:pPr eaLnBrk="1" hangingPunct="1">
              <a:buFont typeface="Times" pitchFamily="18" charset="0"/>
              <a:buChar char="•"/>
            </a:pPr>
            <a:endParaRPr lang="en-US" b="1" dirty="0"/>
          </a:p>
          <a:p>
            <a:pPr eaLnBrk="1" hangingPunct="1">
              <a:buFont typeface="Times" pitchFamily="18" charset="0"/>
              <a:buChar char="•"/>
            </a:pPr>
            <a:endParaRPr lang="en-US" b="1" dirty="0"/>
          </a:p>
          <a:p>
            <a:pPr eaLnBrk="1" hangingPunct="1">
              <a:buFont typeface="Times" pitchFamily="18" charset="0"/>
              <a:buChar char="•"/>
            </a:pPr>
            <a:endParaRPr 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1169161"/>
            <a:ext cx="334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DBMS</a:t>
            </a:r>
            <a:r>
              <a:rPr sz="3600" spc="-110" dirty="0"/>
              <a:t> </a:t>
            </a:r>
            <a:r>
              <a:rPr sz="3600" spc="-10" dirty="0"/>
              <a:t>Languages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11889" y="1631008"/>
            <a:ext cx="8220709" cy="48514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630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1005" algn="l"/>
              </a:tabLst>
            </a:pP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600" b="1" spc="-1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Definition</a:t>
            </a:r>
            <a:r>
              <a:rPr sz="2600" b="1" spc="-1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Language</a:t>
            </a:r>
            <a:r>
              <a:rPr sz="2600" b="1" spc="-1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26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DDL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</a:t>
            </a:r>
            <a:endParaRPr sz="2600" dirty="0">
              <a:latin typeface="Trebuchet MS" panose="020B0603020202020204"/>
              <a:cs typeface="Trebuchet MS" panose="020B0603020202020204"/>
            </a:endParaRPr>
          </a:p>
          <a:p>
            <a:pPr marL="821055" marR="525780" lvl="1" indent="-341630">
              <a:lnSpc>
                <a:spcPct val="79000"/>
              </a:lnSpc>
              <a:spcBef>
                <a:spcPts val="101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DBA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designers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specify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endParaRPr sz="2200" dirty="0">
              <a:latin typeface="Trebuchet MS" panose="020B0603020202020204"/>
              <a:cs typeface="Trebuchet MS" panose="020B0603020202020204"/>
            </a:endParaRPr>
          </a:p>
          <a:p>
            <a:pPr marL="821055" marR="38100" lvl="1" indent="-341630">
              <a:lnSpc>
                <a:spcPct val="79000"/>
              </a:lnSpc>
              <a:spcBef>
                <a:spcPts val="101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2105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many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DBMSs,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DDL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also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define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internal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external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schemas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(where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strict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separation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levels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not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maintained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).</a:t>
            </a:r>
            <a:endParaRPr sz="2200" dirty="0">
              <a:latin typeface="Trebuchet MS" panose="020B0603020202020204"/>
              <a:cs typeface="Trebuchet MS" panose="020B0603020202020204"/>
            </a:endParaRPr>
          </a:p>
          <a:p>
            <a:pPr marL="421005" marR="31750" indent="-408940">
              <a:lnSpc>
                <a:spcPct val="80000"/>
              </a:lnSpc>
              <a:spcBef>
                <a:spcPts val="100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1005" algn="l"/>
              </a:tabLst>
            </a:pP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6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some</a:t>
            </a:r>
            <a:r>
              <a:rPr sz="26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DBMSs,</a:t>
            </a:r>
            <a:r>
              <a:rPr sz="26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separate</a:t>
            </a:r>
            <a:r>
              <a:rPr sz="26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storage</a:t>
            </a:r>
            <a:r>
              <a:rPr sz="2600" b="1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definition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language</a:t>
            </a:r>
            <a:r>
              <a:rPr sz="2600" b="1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SDL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</a:t>
            </a:r>
            <a:r>
              <a:rPr sz="2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define</a:t>
            </a:r>
            <a:r>
              <a:rPr sz="2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internal</a:t>
            </a:r>
            <a:r>
              <a:rPr sz="2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schemas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view</a:t>
            </a:r>
            <a:r>
              <a:rPr sz="2600" b="1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definition</a:t>
            </a:r>
            <a:r>
              <a:rPr sz="2600" b="1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language</a:t>
            </a:r>
            <a:r>
              <a:rPr sz="2600" b="1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VDL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</a:t>
            </a:r>
            <a:r>
              <a:rPr sz="26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define</a:t>
            </a:r>
            <a:r>
              <a:rPr sz="2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conceptual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schemas.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(where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clear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separation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levels</a:t>
            </a:r>
            <a:r>
              <a:rPr sz="2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maintained</a:t>
            </a:r>
            <a:r>
              <a:rPr sz="2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).</a:t>
            </a:r>
            <a:endParaRPr sz="2600" dirty="0">
              <a:latin typeface="Trebuchet MS" panose="020B0603020202020204"/>
              <a:cs typeface="Trebuchet MS" panose="020B0603020202020204"/>
            </a:endParaRPr>
          </a:p>
          <a:p>
            <a:pPr marL="421005" marR="5080" indent="-408940">
              <a:lnSpc>
                <a:spcPct val="80000"/>
              </a:lnSpc>
              <a:spcBef>
                <a:spcPts val="975"/>
              </a:spcBef>
              <a:buClr>
                <a:srgbClr val="90C126"/>
              </a:buClr>
              <a:buSzPct val="79000"/>
              <a:buFont typeface="Arial Black" panose="020B0A04020102020204"/>
              <a:buChar char="►"/>
              <a:tabLst>
                <a:tab pos="421005" algn="l"/>
              </a:tabLst>
            </a:pP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600" b="1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Manipulation</a:t>
            </a:r>
            <a:r>
              <a:rPr sz="2600" b="1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Language</a:t>
            </a:r>
            <a:r>
              <a:rPr sz="2600" b="1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2600" b="1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DML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):</a:t>
            </a:r>
            <a:r>
              <a:rPr sz="26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6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6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specify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retrievals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updates.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Helps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manipulate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6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database.</a:t>
            </a:r>
            <a:endParaRPr sz="2600" dirty="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6600"/>
                </a:solidFill>
              </a:rPr>
              <a:t>Data Definition Language</a:t>
            </a:r>
            <a:r>
              <a:rPr lang="en-US" sz="3600" dirty="0">
                <a:solidFill>
                  <a:srgbClr val="FF6600"/>
                </a:solidFill>
              </a:rPr>
              <a:t> (</a:t>
            </a:r>
            <a:r>
              <a:rPr lang="en-US" sz="3600" b="1" dirty="0">
                <a:solidFill>
                  <a:srgbClr val="FF6600"/>
                </a:solidFill>
              </a:rPr>
              <a:t>DDL</a:t>
            </a:r>
            <a:r>
              <a:rPr lang="en-US" sz="3600" dirty="0">
                <a:solidFill>
                  <a:srgbClr val="FF6600"/>
                </a:solidFill>
              </a:rPr>
              <a:t>)</a:t>
            </a:r>
            <a:endParaRPr lang="en-US" sz="3600" dirty="0">
              <a:solidFill>
                <a:srgbClr val="FF6600"/>
              </a:solidFill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507206" y="1600201"/>
            <a:ext cx="8065294" cy="4159378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endParaRPr lang="en-US" dirty="0">
              <a:solidFill>
                <a:srgbClr val="FF6600"/>
              </a:solidFill>
            </a:endParaRPr>
          </a:p>
          <a:p>
            <a:pPr>
              <a:buFont typeface="Times" pitchFamily="18" charset="0"/>
              <a:buChar char="•"/>
            </a:pPr>
            <a:r>
              <a:rPr lang="en-US" dirty="0"/>
              <a:t>A </a:t>
            </a:r>
            <a:r>
              <a:rPr lang="en-US" b="1" dirty="0"/>
              <a:t>data definition language</a:t>
            </a:r>
            <a:r>
              <a:rPr lang="en-US" dirty="0"/>
              <a:t> or </a:t>
            </a:r>
            <a:r>
              <a:rPr lang="en-US" b="1" dirty="0"/>
              <a:t>data description language</a:t>
            </a:r>
            <a:r>
              <a:rPr lang="en-US" dirty="0"/>
              <a:t> (</a:t>
            </a:r>
            <a:r>
              <a:rPr lang="en-US" b="1" dirty="0"/>
              <a:t>DDL</a:t>
            </a:r>
            <a:r>
              <a:rPr lang="en-US" dirty="0"/>
              <a:t>) is a syntax similar to a computer programming language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for defining data structures, especially database schemas.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Times" pitchFamily="18" charset="0"/>
              <a:buChar char="•"/>
            </a:pPr>
            <a:r>
              <a:rPr lang="en-US" dirty="0"/>
              <a:t>For  DBA and database designers</a:t>
            </a:r>
            <a:endParaRPr lang="en-US" dirty="0"/>
          </a:p>
          <a:p>
            <a:pPr lvl="1" eaLnBrk="1" hangingPunct="1">
              <a:buFont typeface="Times" pitchFamily="18" charset="0"/>
              <a:buChar char="•"/>
            </a:pPr>
            <a:r>
              <a:rPr lang="en-US" dirty="0"/>
              <a:t> to specify the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8000"/>
                </a:solidFill>
              </a:rPr>
              <a:t>conceptual schema</a:t>
            </a:r>
            <a:endParaRPr lang="en-US" i="1" dirty="0"/>
          </a:p>
          <a:p>
            <a:pPr lvl="1" eaLnBrk="1" hangingPunct="1">
              <a:buFont typeface="Times" pitchFamily="18" charset="0"/>
              <a:buChar char="•"/>
            </a:pPr>
            <a:r>
              <a:rPr lang="en-US" dirty="0"/>
              <a:t> also used to define internal and external schemas (views). </a:t>
            </a:r>
            <a:endParaRPr lang="en-US" dirty="0"/>
          </a:p>
          <a:p>
            <a:pPr lvl="1" eaLnBrk="1" hangingPunct="1">
              <a:buFont typeface="Times" pitchFamily="18" charset="0"/>
              <a:buChar char="•"/>
            </a:pPr>
            <a:r>
              <a:rPr lang="en-US" dirty="0"/>
              <a:t>In some DBMSs, separate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FF0066"/>
                </a:solidFill>
              </a:rPr>
              <a:t>storage definition language</a:t>
            </a:r>
            <a:r>
              <a:rPr lang="en-US" dirty="0">
                <a:solidFill>
                  <a:srgbClr val="FF0066"/>
                </a:solidFill>
              </a:rPr>
              <a:t> (</a:t>
            </a:r>
            <a:r>
              <a:rPr lang="en-US" b="1" dirty="0">
                <a:solidFill>
                  <a:srgbClr val="FF0066"/>
                </a:solidFill>
              </a:rPr>
              <a:t>SDL</a:t>
            </a:r>
            <a:r>
              <a:rPr lang="en-US" dirty="0">
                <a:solidFill>
                  <a:srgbClr val="FF0066"/>
                </a:solidFill>
              </a:rPr>
              <a:t>)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FF0066"/>
                </a:solidFill>
              </a:rPr>
              <a:t>view definition language</a:t>
            </a:r>
            <a:r>
              <a:rPr lang="en-US" dirty="0">
                <a:solidFill>
                  <a:srgbClr val="FF0066"/>
                </a:solidFill>
              </a:rPr>
              <a:t> (</a:t>
            </a:r>
            <a:r>
              <a:rPr lang="en-US" b="1" dirty="0">
                <a:solidFill>
                  <a:srgbClr val="FF0066"/>
                </a:solidFill>
              </a:rPr>
              <a:t>VDL</a:t>
            </a:r>
            <a:r>
              <a:rPr lang="en-US" dirty="0">
                <a:solidFill>
                  <a:srgbClr val="FF0066"/>
                </a:solidFill>
              </a:rPr>
              <a:t>)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/>
              <a:t>are used to define internal and external schemas.</a:t>
            </a:r>
            <a:endParaRPr lang="en-US" dirty="0"/>
          </a:p>
          <a:p>
            <a:pPr eaLnBrk="1" hangingPunct="1">
              <a:buFont typeface="Times" pitchFamily="18" charset="0"/>
              <a:buChar char="•"/>
            </a:pPr>
            <a:endParaRPr lang="en-US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10668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r>
              <a:rPr lang="en-US"/>
              <a:t>Data Definition Language</a:t>
            </a:r>
            <a:br>
              <a:rPr lang="en-US"/>
            </a:br>
            <a:r>
              <a:rPr lang="en-US"/>
              <a:t> (DDL)</a:t>
            </a: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133600"/>
            <a:ext cx="7772400" cy="1736502"/>
          </a:xfrm>
          <a:noFill/>
        </p:spPr>
        <p:txBody>
          <a:bodyPr lIns="92075" tIns="46038" rIns="92075" bIns="46038"/>
          <a:lstStyle/>
          <a:p>
            <a:pPr>
              <a:spcAft>
                <a:spcPct val="20000"/>
              </a:spcAft>
              <a:buFontTx/>
              <a:buNone/>
            </a:pPr>
            <a:r>
              <a:rPr lang="en-US" dirty="0">
                <a:solidFill>
                  <a:srgbClr val="030305"/>
                </a:solidFill>
              </a:rPr>
              <a:t>Used to create and modify database objects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Create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Drop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Alter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Truncate</a:t>
            </a:r>
            <a:endParaRPr lang="en-US" dirty="0">
              <a:solidFill>
                <a:srgbClr val="030305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6600"/>
                </a:solidFill>
              </a:rPr>
              <a:t>Data Manipulation Language</a:t>
            </a:r>
            <a:r>
              <a:rPr lang="en-US" sz="3600" dirty="0">
                <a:solidFill>
                  <a:srgbClr val="FF6600"/>
                </a:solidFill>
              </a:rPr>
              <a:t> (</a:t>
            </a:r>
            <a:r>
              <a:rPr lang="en-US" sz="3600" b="1" dirty="0">
                <a:solidFill>
                  <a:srgbClr val="FF6600"/>
                </a:solidFill>
              </a:rPr>
              <a:t>DML</a:t>
            </a:r>
            <a:r>
              <a:rPr lang="en-US" sz="3600" dirty="0">
                <a:solidFill>
                  <a:srgbClr val="FF6600"/>
                </a:solidFill>
              </a:rPr>
              <a:t>):</a:t>
            </a:r>
            <a:endParaRPr lang="en-US" sz="3600" b="0" dirty="0">
              <a:solidFill>
                <a:srgbClr val="000000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 typeface="Times" pitchFamily="18" charset="0"/>
              <a:buChar char="•"/>
            </a:pPr>
            <a:endParaRPr lang="en-US" b="1" dirty="0">
              <a:solidFill>
                <a:srgbClr val="000000"/>
              </a:solidFill>
            </a:endParaRPr>
          </a:p>
          <a:p>
            <a:r>
              <a:rPr lang="en-US" dirty="0"/>
              <a:t>A </a:t>
            </a:r>
            <a:r>
              <a:rPr lang="en-US" b="1" dirty="0"/>
              <a:t>data manipulation language</a:t>
            </a:r>
            <a:r>
              <a:rPr lang="en-US" dirty="0"/>
              <a:t> (</a:t>
            </a:r>
            <a:r>
              <a:rPr lang="en-US" b="1" dirty="0"/>
              <a:t>DML</a:t>
            </a:r>
            <a:r>
              <a:rPr lang="en-US" dirty="0"/>
              <a:t>) is a family of syntax elements similar to a computer </a:t>
            </a:r>
            <a:r>
              <a:rPr lang="en-US" dirty="0">
                <a:hlinkClick r:id="rId1" tooltip="Programming language"/>
              </a:rPr>
              <a:t>programming language</a:t>
            </a:r>
            <a:r>
              <a:rPr lang="en-US" dirty="0"/>
              <a:t> used for inserting, deleting and updating data in a </a:t>
            </a:r>
            <a:r>
              <a:rPr lang="en-US" dirty="0">
                <a:hlinkClick r:id="rId2" tooltip="Database"/>
              </a:rPr>
              <a:t>database</a:t>
            </a:r>
            <a:r>
              <a:rPr lang="en-US" dirty="0"/>
              <a:t>. Performing read-only queries of data is sometimes also considered a component of DML.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pPr lvl="1" eaLnBrk="1" hangingPunct="1">
              <a:lnSpc>
                <a:spcPct val="90000"/>
              </a:lnSpc>
              <a:buFont typeface="Times" pitchFamily="18" charset="0"/>
              <a:buChar char="•"/>
            </a:pPr>
            <a:r>
              <a:rPr lang="en-US" dirty="0"/>
              <a:t>DML commands  can be </a:t>
            </a:r>
            <a:r>
              <a:rPr lang="en-US" i="1" dirty="0"/>
              <a:t>embedded</a:t>
            </a:r>
            <a:r>
              <a:rPr lang="en-US" dirty="0"/>
              <a:t> in a general-purpose programming language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8000"/>
                </a:solidFill>
              </a:rPr>
              <a:t>(</a:t>
            </a:r>
            <a:r>
              <a:rPr lang="en-US" b="1" dirty="0">
                <a:solidFill>
                  <a:srgbClr val="008000"/>
                </a:solidFill>
              </a:rPr>
              <a:t>host language</a:t>
            </a:r>
            <a:r>
              <a:rPr lang="en-US" dirty="0">
                <a:solidFill>
                  <a:srgbClr val="008000"/>
                </a:solidFill>
              </a:rPr>
              <a:t>),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/>
              <a:t>such as COBOL, C, Java or an Assembly Language.</a:t>
            </a:r>
            <a:endParaRPr lang="en-US" dirty="0"/>
          </a:p>
          <a:p>
            <a:pPr lvl="1" eaLnBrk="1" hangingPunct="1">
              <a:lnSpc>
                <a:spcPct val="90000"/>
              </a:lnSpc>
              <a:buFont typeface="Times" pitchFamily="18" charset="0"/>
              <a:buChar char="•"/>
            </a:pPr>
            <a:endParaRPr lang="en-US" dirty="0"/>
          </a:p>
          <a:p>
            <a:pPr lvl="1" eaLnBrk="1" hangingPunct="1">
              <a:lnSpc>
                <a:spcPct val="90000"/>
              </a:lnSpc>
              <a:buFont typeface="Times" pitchFamily="18" charset="0"/>
              <a:buChar char="•"/>
            </a:pPr>
            <a:r>
              <a:rPr lang="en-US" dirty="0"/>
              <a:t>Alternatively, </a:t>
            </a:r>
            <a:r>
              <a:rPr lang="en-US" i="1" dirty="0"/>
              <a:t>stand-alone</a:t>
            </a:r>
            <a:r>
              <a:rPr lang="en-US" dirty="0"/>
              <a:t> DML commands can be applied directly </a:t>
            </a:r>
            <a:r>
              <a:rPr lang="en-US" dirty="0">
                <a:solidFill>
                  <a:srgbClr val="008000"/>
                </a:solidFill>
              </a:rPr>
              <a:t>(</a:t>
            </a:r>
            <a:r>
              <a:rPr lang="en-US" b="1" dirty="0">
                <a:solidFill>
                  <a:srgbClr val="008000"/>
                </a:solidFill>
              </a:rPr>
              <a:t>query language</a:t>
            </a:r>
            <a:r>
              <a:rPr lang="en-US" dirty="0">
                <a:solidFill>
                  <a:srgbClr val="008000"/>
                </a:solidFill>
              </a:rPr>
              <a:t>).</a:t>
            </a:r>
            <a:endParaRPr lang="en-US" dirty="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noFill/>
        </p:spPr>
        <p:txBody>
          <a:bodyPr lIns="92075" tIns="46038" rIns="92075" bIns="46038" anchor="ctr">
            <a:normAutofit/>
          </a:bodyPr>
          <a:lstStyle/>
          <a:p>
            <a:r>
              <a:rPr lang="en-US" sz="3600" b="1" dirty="0">
                <a:solidFill>
                  <a:srgbClr val="FF6600"/>
                </a:solidFill>
              </a:rPr>
              <a:t>Data Manipulation Language (DML)</a:t>
            </a:r>
            <a:endParaRPr lang="en-US" sz="3600" b="1" dirty="0">
              <a:solidFill>
                <a:srgbClr val="FF6600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4191000"/>
          </a:xfrm>
          <a:noFill/>
        </p:spPr>
        <p:txBody>
          <a:bodyPr lIns="92075" tIns="46038" rIns="92075" bIns="46038"/>
          <a:lstStyle/>
          <a:p>
            <a:pPr>
              <a:spcAft>
                <a:spcPct val="20000"/>
              </a:spcAft>
              <a:buFontTx/>
              <a:buNone/>
            </a:pPr>
            <a:r>
              <a:rPr lang="en-US" dirty="0">
                <a:solidFill>
                  <a:srgbClr val="030305"/>
                </a:solidFill>
              </a:rPr>
              <a:t>Used to create, modify and retrieve data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Insert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Select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Update</a:t>
            </a:r>
            <a:endParaRPr lang="en-US" dirty="0">
              <a:solidFill>
                <a:srgbClr val="030305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dirty="0">
                <a:solidFill>
                  <a:srgbClr val="030305"/>
                </a:solidFill>
              </a:rPr>
              <a:t>Delete</a:t>
            </a:r>
            <a:endParaRPr lang="en-US" dirty="0">
              <a:solidFill>
                <a:srgbClr val="030305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6600"/>
                </a:solidFill>
              </a:rPr>
              <a:t>Data Control Language</a:t>
            </a:r>
            <a:endParaRPr lang="en-US" sz="36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data control language</a:t>
            </a:r>
            <a:r>
              <a:rPr lang="en-US" dirty="0"/>
              <a:t> (</a:t>
            </a:r>
            <a:r>
              <a:rPr lang="en-US" b="1" dirty="0"/>
              <a:t>DCL</a:t>
            </a:r>
            <a:r>
              <a:rPr lang="en-US" dirty="0"/>
              <a:t>) is a syntax similar to a computer programming language used to control access to data stored in a database. In particular, it is a component of Structured Query Language (SQL).</a:t>
            </a:r>
            <a:endParaRPr lang="en-US" dirty="0"/>
          </a:p>
          <a:p>
            <a:r>
              <a:rPr lang="en-US" dirty="0"/>
              <a:t>Examples of DCL commands include:</a:t>
            </a:r>
            <a:endParaRPr lang="en-US" dirty="0"/>
          </a:p>
          <a:p>
            <a:r>
              <a:rPr lang="en-US" dirty="0">
                <a:hlinkClick r:id="rId1" tooltip="Grant (SQL)"/>
              </a:rPr>
              <a:t>GRANT</a:t>
            </a:r>
            <a:r>
              <a:rPr lang="en-US" dirty="0"/>
              <a:t> to allow specified users to perform specified tasks.</a:t>
            </a:r>
            <a:endParaRPr lang="en-US" dirty="0"/>
          </a:p>
          <a:p>
            <a:r>
              <a:rPr lang="en-US" dirty="0">
                <a:hlinkClick r:id="rId2" tooltip="Revoke (SQL)"/>
              </a:rPr>
              <a:t>REVOKE</a:t>
            </a:r>
            <a:r>
              <a:rPr lang="en-US" dirty="0"/>
              <a:t> to cancel previously granted or denied permissions.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Transaction Control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Transaction Control Language (TCL)</a:t>
            </a:r>
            <a:r>
              <a:rPr lang="en-US" dirty="0"/>
              <a:t> -  Transaction control commands manage changes made by DML commands. These SQL commands are used for managing changes affecting the data. These commands are COMMIT, ROLLBACK, and SAVEPOINT.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95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DBMS</a:t>
            </a:r>
            <a:r>
              <a:rPr sz="3600" spc="-110" dirty="0"/>
              <a:t> </a:t>
            </a:r>
            <a:r>
              <a:rPr sz="3600" spc="-10" dirty="0"/>
              <a:t>Interfaces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6757" y="1771700"/>
            <a:ext cx="8500110" cy="46723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26085" marR="381000" indent="-414020">
              <a:lnSpc>
                <a:spcPts val="2700"/>
              </a:lnSpc>
              <a:spcBef>
                <a:spcPts val="74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Interfaces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8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</a:t>
            </a:r>
            <a:r>
              <a:rPr sz="28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interacting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ct val="100000"/>
              </a:lnSpc>
              <a:spcBef>
                <a:spcPts val="36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User-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friendly</a:t>
            </a:r>
            <a:r>
              <a:rPr sz="28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interfaces: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0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Menu-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based,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popular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browsing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web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26185" marR="5080" lvl="2" indent="-279400">
              <a:lnSpc>
                <a:spcPts val="1930"/>
              </a:lnSpc>
              <a:spcBef>
                <a:spcPts val="970"/>
              </a:spcBef>
              <a:buSzPct val="80000"/>
              <a:buFont typeface="Lucida Sans Unicode" panose="020B0602030504020204"/>
              <a:buChar char="►"/>
              <a:tabLst>
                <a:tab pos="1226185" algn="l"/>
                <a:tab pos="1227455" algn="l"/>
              </a:tabLst>
            </a:pPr>
            <a:r>
              <a:rPr sz="200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Gives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list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options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called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menus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leads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user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through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formulation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request.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6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Forms-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based,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designed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naïve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27455" lvl="2" indent="-280670">
              <a:lnSpc>
                <a:spcPct val="100000"/>
              </a:lnSpc>
              <a:spcBef>
                <a:spcPts val="51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122745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can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fill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out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form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entries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insert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Graphics-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(Point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Click,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Drag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Drop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etc.)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27455" lvl="2" indent="-280670">
              <a:lnSpc>
                <a:spcPct val="100000"/>
              </a:lnSpc>
              <a:spcBef>
                <a:spcPts val="51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122745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can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specify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query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manipulating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diagram.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Natural</a:t>
            </a:r>
            <a:r>
              <a:rPr sz="2400" spc="-1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language:</a:t>
            </a:r>
            <a:r>
              <a:rPr sz="2400" spc="-1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requests</a:t>
            </a:r>
            <a:r>
              <a:rPr sz="2400" spc="-10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1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written</a:t>
            </a:r>
            <a:r>
              <a:rPr sz="2400" spc="-10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English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27455" lvl="2" indent="-280670">
              <a:lnSpc>
                <a:spcPct val="100000"/>
              </a:lnSpc>
              <a:spcBef>
                <a:spcPts val="51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122745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Combinations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above</a:t>
            </a:r>
            <a:endParaRPr sz="20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95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Other</a:t>
            </a:r>
            <a:r>
              <a:rPr sz="3600" spc="-70" dirty="0"/>
              <a:t> </a:t>
            </a:r>
            <a:r>
              <a:rPr sz="3600" dirty="0"/>
              <a:t>DBMS</a:t>
            </a:r>
            <a:r>
              <a:rPr sz="3600" spc="-65" dirty="0"/>
              <a:t> </a:t>
            </a:r>
            <a:r>
              <a:rPr sz="3600" spc="-10" dirty="0"/>
              <a:t>Interfaces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6689" y="2045982"/>
            <a:ext cx="53098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1005" algn="l"/>
              </a:tabLst>
            </a:pP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Parametric</a:t>
            </a:r>
            <a:r>
              <a:rPr sz="26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interfaces</a:t>
            </a:r>
            <a:r>
              <a:rPr sz="2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(i.e.:</a:t>
            </a:r>
            <a:r>
              <a:rPr sz="2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bank</a:t>
            </a:r>
            <a:endParaRPr sz="2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525" y="2284107"/>
            <a:ext cx="41376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tellers)</a:t>
            </a:r>
            <a:r>
              <a:rPr sz="26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using</a:t>
            </a:r>
            <a:r>
              <a:rPr sz="26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function</a:t>
            </a:r>
            <a:r>
              <a:rPr sz="26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keys.</a:t>
            </a:r>
            <a:endParaRPr sz="2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041" y="2670771"/>
            <a:ext cx="56375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35369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small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set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commands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included,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5575" y="2867621"/>
            <a:ext cx="4695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goal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minimizing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number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689" y="3067646"/>
            <a:ext cx="5420995" cy="72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055">
              <a:lnSpc>
                <a:spcPts val="2525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keystrokes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required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each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record.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421005" indent="-408305">
              <a:lnSpc>
                <a:spcPts val="3005"/>
              </a:lnSpc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1005" algn="l"/>
              </a:tabLst>
            </a:pP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Interfaces</a:t>
            </a:r>
            <a:r>
              <a:rPr sz="2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26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6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DBA:</a:t>
            </a:r>
            <a:endParaRPr sz="2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4041" y="3756621"/>
            <a:ext cx="56578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35369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Most</a:t>
            </a:r>
            <a:r>
              <a:rPr sz="22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systems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contains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privileged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5575" y="3953471"/>
            <a:ext cx="50038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commands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that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can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be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only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by</a:t>
            </a:r>
            <a:r>
              <a:rPr sz="22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041" y="4153496"/>
            <a:ext cx="5693410" cy="101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ts val="2605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DBA’s</a:t>
            </a:r>
            <a:r>
              <a:rPr sz="22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staff.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3695" indent="-340995">
              <a:lnSpc>
                <a:spcPts val="2565"/>
              </a:lnSpc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35369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Creating</a:t>
            </a:r>
            <a:r>
              <a:rPr sz="22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accounts,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granting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authorizations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353695" indent="-340995">
              <a:lnSpc>
                <a:spcPts val="2595"/>
              </a:lnSpc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35369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Setting</a:t>
            </a:r>
            <a:r>
              <a:rPr sz="22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system</a:t>
            </a:r>
            <a:r>
              <a:rPr sz="22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parameters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041" y="5128221"/>
            <a:ext cx="46913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35369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Changing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schemas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2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path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25575" y="5325071"/>
            <a:ext cx="46520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reorganize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storage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5575" y="5525096"/>
            <a:ext cx="13392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)</a:t>
            </a:r>
            <a:endParaRPr sz="2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95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Database</a:t>
            </a:r>
            <a:r>
              <a:rPr sz="3600" spc="-95" dirty="0"/>
              <a:t> </a:t>
            </a:r>
            <a:r>
              <a:rPr sz="3600" dirty="0"/>
              <a:t>System</a:t>
            </a:r>
            <a:r>
              <a:rPr sz="3600" spc="-90" dirty="0"/>
              <a:t> </a:t>
            </a:r>
            <a:r>
              <a:rPr sz="3600" spc="-10" dirty="0"/>
              <a:t>Utilities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2957" y="1771700"/>
            <a:ext cx="8049259" cy="47847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26085" marR="5080" indent="-414020">
              <a:lnSpc>
                <a:spcPts val="2700"/>
              </a:lnSpc>
              <a:spcBef>
                <a:spcPts val="74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utilities</a:t>
            </a:r>
            <a:r>
              <a:rPr sz="2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help</a:t>
            </a:r>
            <a:r>
              <a:rPr sz="2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DBA</a:t>
            </a:r>
            <a:r>
              <a:rPr sz="2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managing</a:t>
            </a:r>
            <a:r>
              <a:rPr sz="2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800" spc="-1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system.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ct val="100000"/>
              </a:lnSpc>
              <a:spcBef>
                <a:spcPts val="36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Perform</a:t>
            </a:r>
            <a:r>
              <a:rPr sz="28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certain</a:t>
            </a:r>
            <a:r>
              <a:rPr sz="2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functions</a:t>
            </a:r>
            <a:r>
              <a:rPr sz="2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such</a:t>
            </a:r>
            <a:r>
              <a:rPr sz="28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as: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75565" lvl="1" indent="-346710">
              <a:lnSpc>
                <a:spcPct val="80000"/>
              </a:lnSpc>
              <a:spcBef>
                <a:spcPts val="98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Loading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stored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files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into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database.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(Known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as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conversion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tools.)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4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Backing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up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periodically</a:t>
            </a:r>
            <a:r>
              <a:rPr sz="24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tape.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Restore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00" spc="-6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case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failure.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Reorganizing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file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structures.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Report</a:t>
            </a:r>
            <a:r>
              <a:rPr sz="2400" spc="-1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generation</a:t>
            </a:r>
            <a:r>
              <a:rPr sz="2400" spc="-1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utilities.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Performance</a:t>
            </a:r>
            <a:r>
              <a:rPr sz="2400" spc="-1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monitoring</a:t>
            </a:r>
            <a:r>
              <a:rPr sz="2400" spc="-1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utilities.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marR="419735" lvl="1" indent="-346710">
              <a:lnSpc>
                <a:spcPct val="80000"/>
              </a:lnSpc>
              <a:spcBef>
                <a:spcPts val="10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Other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functions,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such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as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sorting,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monitoring,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compression,</a:t>
            </a:r>
            <a:r>
              <a:rPr sz="2400" spc="-7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etc.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Database</a:t>
            </a:r>
            <a:r>
              <a:rPr sz="3600" spc="-40" dirty="0"/>
              <a:t> </a:t>
            </a:r>
            <a:r>
              <a:rPr sz="3600" spc="-10" dirty="0"/>
              <a:t>Architectures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09689" y="3124152"/>
            <a:ext cx="5951855" cy="193103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400685" indent="-387985">
              <a:lnSpc>
                <a:spcPct val="100000"/>
              </a:lnSpc>
              <a:spcBef>
                <a:spcPts val="1250"/>
              </a:spcBef>
              <a:buClr>
                <a:srgbClr val="90C126"/>
              </a:buClr>
              <a:buSzPct val="78000"/>
              <a:buFont typeface="Arial Black" panose="020B0A04020102020204"/>
              <a:buChar char="►"/>
              <a:tabLst>
                <a:tab pos="400685" algn="l"/>
              </a:tabLst>
            </a:pPr>
            <a:r>
              <a:rPr sz="1800" b="1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Centralized</a:t>
            </a:r>
            <a:r>
              <a:rPr sz="1800" b="1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</a:t>
            </a:r>
            <a:endParaRPr sz="1800">
              <a:latin typeface="Trebuchet MS" panose="020B0603020202020204"/>
              <a:cs typeface="Trebuchet MS" panose="020B0603020202020204"/>
            </a:endParaRPr>
          </a:p>
          <a:p>
            <a:pPr marL="800735" marR="118110" lvl="1" indent="-326390">
              <a:lnSpc>
                <a:spcPct val="101000"/>
              </a:lnSpc>
              <a:spcBef>
                <a:spcPts val="1005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800735" algn="l"/>
              </a:tabLst>
            </a:pP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Combines</a:t>
            </a:r>
            <a:r>
              <a:rPr sz="16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everything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into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single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system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including-DBMS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software,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hardware,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application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programs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interface</a:t>
            </a:r>
            <a:r>
              <a:rPr sz="16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processing</a:t>
            </a:r>
            <a:r>
              <a:rPr sz="1600" spc="-7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software.</a:t>
            </a:r>
            <a:endParaRPr sz="1600">
              <a:latin typeface="Trebuchet MS" panose="020B0603020202020204"/>
              <a:cs typeface="Trebuchet MS" panose="020B0603020202020204"/>
            </a:endParaRPr>
          </a:p>
          <a:p>
            <a:pPr marL="800735" marR="5080" lvl="1" indent="-326390">
              <a:lnSpc>
                <a:spcPct val="100000"/>
              </a:lnSpc>
              <a:spcBef>
                <a:spcPts val="103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800735" algn="l"/>
              </a:tabLst>
            </a:pP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Most</a:t>
            </a:r>
            <a:r>
              <a:rPr sz="16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16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accessing</a:t>
            </a:r>
            <a:r>
              <a:rPr sz="16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16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terminal</a:t>
            </a:r>
            <a:r>
              <a:rPr sz="16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did</a:t>
            </a:r>
            <a:r>
              <a:rPr sz="16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not</a:t>
            </a:r>
            <a:r>
              <a:rPr sz="1600" spc="-6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have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processing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power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only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provided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display</a:t>
            </a:r>
            <a:r>
              <a:rPr sz="1600" spc="-5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capabilities.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8200" y="1743075"/>
            <a:ext cx="6871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ym typeface="+mn-ea"/>
              </a:rPr>
              <a:t>The database architecture is the set of specifications, rules, and processes that dictate how data is stored in a database and how data is accessed by components of a system.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467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dirty="0"/>
              <a:t>Centralized</a:t>
            </a:r>
            <a:r>
              <a:rPr spc="-65" dirty="0"/>
              <a:t> </a:t>
            </a:r>
            <a:r>
              <a:rPr spc="-10" dirty="0"/>
              <a:t>DBMSs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54149" y="1385225"/>
            <a:ext cx="5902199" cy="50894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616711"/>
            <a:ext cx="4782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Database</a:t>
            </a:r>
            <a:r>
              <a:rPr sz="3600" spc="-40" dirty="0"/>
              <a:t> </a:t>
            </a:r>
            <a:r>
              <a:rPr sz="3600" spc="-10" dirty="0"/>
              <a:t>Architectures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2625" y="1171194"/>
            <a:ext cx="12033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contd.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557" y="2026031"/>
            <a:ext cx="6058535" cy="384175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26085" indent="-413385">
              <a:lnSpc>
                <a:spcPct val="100000"/>
              </a:lnSpc>
              <a:spcBef>
                <a:spcPts val="71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Basic</a:t>
            </a:r>
            <a:r>
              <a:rPr sz="2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Client-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</a:t>
            </a:r>
            <a:r>
              <a:rPr sz="2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Architectures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lvl="1" indent="-340995">
              <a:lnSpc>
                <a:spcPct val="100000"/>
              </a:lnSpc>
              <a:spcBef>
                <a:spcPts val="48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Consists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226185" lvl="2" indent="-276860">
              <a:lnSpc>
                <a:spcPct val="100000"/>
              </a:lnSpc>
              <a:spcBef>
                <a:spcPts val="5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618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Specialized</a:t>
            </a:r>
            <a:r>
              <a:rPr sz="19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Servers</a:t>
            </a:r>
            <a:r>
              <a:rPr sz="19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functions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1226185" lvl="2" indent="-276860">
              <a:lnSpc>
                <a:spcPct val="100000"/>
              </a:lnSpc>
              <a:spcBef>
                <a:spcPts val="57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6185" algn="l"/>
              </a:tabLst>
            </a:pP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Clients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1226185" lvl="2" indent="-276860">
              <a:lnSpc>
                <a:spcPct val="100000"/>
              </a:lnSpc>
              <a:spcBef>
                <a:spcPts val="57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618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</a:t>
            </a:r>
            <a:r>
              <a:rPr sz="19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826135" lvl="1" indent="-340995">
              <a:lnSpc>
                <a:spcPct val="100000"/>
              </a:lnSpc>
              <a:spcBef>
                <a:spcPts val="50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Specialized</a:t>
            </a:r>
            <a:r>
              <a:rPr sz="22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Servers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special</a:t>
            </a:r>
            <a:r>
              <a:rPr sz="22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functions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226185" lvl="2" indent="-276860">
              <a:lnSpc>
                <a:spcPct val="100000"/>
              </a:lnSpc>
              <a:spcBef>
                <a:spcPts val="5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618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File</a:t>
            </a:r>
            <a:r>
              <a:rPr sz="19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Servers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1226185" lvl="2" indent="-276860">
              <a:lnSpc>
                <a:spcPct val="100000"/>
              </a:lnSpc>
              <a:spcBef>
                <a:spcPts val="57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618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Printer</a:t>
            </a:r>
            <a:r>
              <a:rPr sz="19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Servers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1226185" lvl="2" indent="-276860">
              <a:lnSpc>
                <a:spcPct val="100000"/>
              </a:lnSpc>
              <a:spcBef>
                <a:spcPts val="57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6185" algn="l"/>
              </a:tabLst>
            </a:pP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Web</a:t>
            </a:r>
            <a:r>
              <a:rPr sz="1900" spc="-5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Servers</a:t>
            </a:r>
            <a:endParaRPr sz="1900">
              <a:latin typeface="Trebuchet MS" panose="020B0603020202020204"/>
              <a:cs typeface="Trebuchet MS" panose="020B0603020202020204"/>
            </a:endParaRPr>
          </a:p>
          <a:p>
            <a:pPr marL="1226185" lvl="2" indent="-276860">
              <a:lnSpc>
                <a:spcPct val="100000"/>
              </a:lnSpc>
              <a:spcBef>
                <a:spcPts val="57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1226185" algn="l"/>
              </a:tabLst>
            </a:pP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E-</a:t>
            </a:r>
            <a:r>
              <a:rPr sz="19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mail</a:t>
            </a:r>
            <a:r>
              <a:rPr sz="19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Servers</a:t>
            </a:r>
            <a:endParaRPr sz="19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625" y="159511"/>
            <a:ext cx="5687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Client</a:t>
            </a:r>
            <a:r>
              <a:rPr sz="3600" spc="-65" dirty="0"/>
              <a:t> </a:t>
            </a:r>
            <a:r>
              <a:rPr sz="3600" dirty="0"/>
              <a:t>–</a:t>
            </a:r>
            <a:r>
              <a:rPr sz="3600" spc="-60" dirty="0"/>
              <a:t> </a:t>
            </a:r>
            <a:r>
              <a:rPr sz="3600" dirty="0"/>
              <a:t>Server</a:t>
            </a:r>
            <a:r>
              <a:rPr sz="3600" spc="-60" dirty="0"/>
              <a:t> </a:t>
            </a:r>
            <a:r>
              <a:rPr sz="3600" spc="-10" dirty="0"/>
              <a:t>Architecture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2625" y="713993"/>
            <a:ext cx="12033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rPr>
              <a:t>contd.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709" y="1549125"/>
            <a:ext cx="8345170" cy="48533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15925" indent="-403225">
              <a:lnSpc>
                <a:spcPct val="100000"/>
              </a:lnSpc>
              <a:spcBef>
                <a:spcPts val="74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1592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marR="88265" lvl="1" indent="-336550">
              <a:lnSpc>
                <a:spcPts val="1930"/>
              </a:lnSpc>
              <a:spcBef>
                <a:spcPts val="99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Provide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appropriate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interfaces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client-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version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system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utilize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resources.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815975" marR="5080" lvl="1" indent="-336550">
              <a:lnSpc>
                <a:spcPts val="1930"/>
              </a:lnSpc>
              <a:spcBef>
                <a:spcPts val="101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Clients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maybe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diskless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machines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PCs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Workstations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0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disks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only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software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installed.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815975" marR="36195" lvl="1" indent="-336550">
              <a:lnSpc>
                <a:spcPts val="1930"/>
              </a:lnSpc>
              <a:spcBef>
                <a:spcPts val="101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Connected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servers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via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some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form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network.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(LAN: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local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area</a:t>
            </a:r>
            <a:r>
              <a:rPr sz="20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network,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wireless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network,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etc.)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415925" indent="-403225">
              <a:lnSpc>
                <a:spcPct val="100000"/>
              </a:lnSpc>
              <a:spcBef>
                <a:spcPts val="46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1592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(query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transaction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servers)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15975" lvl="1" indent="-336550">
              <a:lnSpc>
                <a:spcPct val="100000"/>
              </a:lnSpc>
              <a:spcBef>
                <a:spcPts val="510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Provides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query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transaction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services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clients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815975" marR="349885" lvl="1" indent="-336550">
              <a:lnSpc>
                <a:spcPts val="1930"/>
              </a:lnSpc>
              <a:spcBef>
                <a:spcPts val="98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When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access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required,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application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side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establishes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connection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815975" marR="66040" lvl="1" indent="-336550">
              <a:lnSpc>
                <a:spcPct val="81000"/>
              </a:lnSpc>
              <a:spcBef>
                <a:spcPts val="1015"/>
              </a:spcBef>
              <a:buClr>
                <a:srgbClr val="90C126"/>
              </a:buClr>
              <a:buSzPct val="80000"/>
              <a:buFont typeface="Lucida Sans Unicode" panose="020B0602030504020204"/>
              <a:buChar char="►"/>
              <a:tabLst>
                <a:tab pos="815975" algn="l"/>
              </a:tabLst>
            </a:pP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Then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can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communicate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DBMS.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(send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query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transaction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requests).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These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requests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processed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at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sever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site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results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sent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back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client</a:t>
            </a:r>
            <a:r>
              <a:rPr sz="2000" spc="-1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this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program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can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process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0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display</a:t>
            </a:r>
            <a:r>
              <a:rPr sz="20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results</a:t>
            </a:r>
            <a:endParaRPr sz="20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architecture divided into  two types</a:t>
            </a:r>
            <a:endParaRPr lang="en-US" dirty="0"/>
          </a:p>
          <a:p>
            <a:pPr lvl="1"/>
            <a:r>
              <a:rPr lang="en-US" dirty="0"/>
              <a:t>Logical 2 tier client server architecture</a:t>
            </a:r>
            <a:endParaRPr lang="en-US" dirty="0"/>
          </a:p>
          <a:p>
            <a:pPr lvl="1"/>
            <a:r>
              <a:rPr lang="en-US" dirty="0"/>
              <a:t>Logical 3 tier client server architecture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US" sz="4400" dirty="0"/>
              <a:t>Two tier client server 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used for user interface programs and application programs that run on client side.</a:t>
            </a:r>
            <a:endParaRPr lang="en-US" dirty="0"/>
          </a:p>
        </p:txBody>
      </p:sp>
      <p:pic>
        <p:nvPicPr>
          <p:cNvPr id="47106" name="Picture 2" descr="two-tier client/server database architectur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71600" y="2971800"/>
            <a:ext cx="7239000" cy="36923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tier client server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used in web application</a:t>
            </a:r>
            <a:endParaRPr lang="en-US" dirty="0"/>
          </a:p>
          <a:p>
            <a:endParaRPr lang="en-US" dirty="0"/>
          </a:p>
        </p:txBody>
      </p:sp>
      <p:pic>
        <p:nvPicPr>
          <p:cNvPr id="49154" name="Picture 2" descr="three-tier client/server database architectur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2438400"/>
            <a:ext cx="8534400" cy="4152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A simplified database system environment</a:t>
            </a:r>
            <a:br>
              <a:rPr lang="en-US" dirty="0">
                <a:solidFill>
                  <a:schemeClr val="accent2"/>
                </a:solidFill>
              </a:rPr>
            </a:br>
            <a:endParaRPr lang="en-US" dirty="0"/>
          </a:p>
        </p:txBody>
      </p:sp>
      <p:pic>
        <p:nvPicPr>
          <p:cNvPr id="4" name="Picture 2" descr="fig01_01"/>
          <p:cNvPicPr>
            <a:picLocks noChangeAspect="1" noChangeArrowheads="1"/>
          </p:cNvPicPr>
          <p:nvPr/>
        </p:nvPicPr>
        <p:blipFill>
          <a:blip r:embed="rId1"/>
          <a:srcRect r="23642"/>
          <a:stretch>
            <a:fillRect/>
          </a:stretch>
        </p:blipFill>
        <p:spPr bwMode="auto">
          <a:xfrm>
            <a:off x="1066800" y="1342390"/>
            <a:ext cx="6732905" cy="5229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912" y="540511"/>
            <a:ext cx="4700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Classification</a:t>
            </a:r>
            <a:r>
              <a:rPr sz="3600" spc="-50" dirty="0"/>
              <a:t> </a:t>
            </a:r>
            <a:r>
              <a:rPr sz="3600" dirty="0"/>
              <a:t>of</a:t>
            </a:r>
            <a:r>
              <a:rPr sz="3600" spc="-40" dirty="0"/>
              <a:t> </a:t>
            </a:r>
            <a:r>
              <a:rPr sz="3600" spc="-10" dirty="0"/>
              <a:t>DBMSs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71832" y="1360549"/>
            <a:ext cx="7998459" cy="51200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26085" indent="-413385">
              <a:lnSpc>
                <a:spcPct val="100000"/>
              </a:lnSpc>
              <a:spcBef>
                <a:spcPts val="60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</a:t>
            </a:r>
            <a:r>
              <a:rPr sz="2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</a:t>
            </a:r>
            <a:r>
              <a:rPr sz="2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model</a:t>
            </a:r>
            <a:r>
              <a:rPr sz="2800" spc="-4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Traditional:</a:t>
            </a:r>
            <a:r>
              <a:rPr sz="2400" spc="-1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Relational,</a:t>
            </a:r>
            <a:r>
              <a:rPr sz="2400" spc="-1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Network,</a:t>
            </a:r>
            <a:r>
              <a:rPr sz="2400" spc="-1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Hierarchical.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826135" lvl="1" indent="-346710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Emerging: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Object-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oriented,</a:t>
            </a:r>
            <a:r>
              <a:rPr sz="24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Object-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relational.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ct val="100000"/>
              </a:lnSpc>
              <a:spcBef>
                <a:spcPts val="33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8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number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8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</a:t>
            </a:r>
            <a:r>
              <a:rPr sz="2800" spc="-3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supported: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5080" lvl="1" indent="-346710">
              <a:lnSpc>
                <a:spcPct val="80000"/>
              </a:lnSpc>
              <a:spcBef>
                <a:spcPts val="97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Single-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(typically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used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personal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computers)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vs.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multi-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(most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DBMSs,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support</a:t>
            </a:r>
            <a:r>
              <a:rPr sz="2400" spc="-8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multiple</a:t>
            </a:r>
            <a:r>
              <a:rPr sz="2400" spc="-8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users concurrently).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marR="457835" indent="-414020">
              <a:lnSpc>
                <a:spcPct val="80000"/>
              </a:lnSpc>
              <a:spcBef>
                <a:spcPts val="103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</a:t>
            </a:r>
            <a:r>
              <a:rPr sz="2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number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sites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over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which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</a:t>
            </a:r>
            <a:r>
              <a:rPr sz="28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800" spc="-9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distributed: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826135" marR="102870" lvl="1" indent="-346710">
              <a:lnSpc>
                <a:spcPct val="80000"/>
              </a:lnSpc>
              <a:spcBef>
                <a:spcPts val="1000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826135" algn="l"/>
              </a:tabLst>
            </a:pP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Centralized</a:t>
            </a:r>
            <a:r>
              <a:rPr sz="2400" spc="-1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(uses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single</a:t>
            </a:r>
            <a:r>
              <a:rPr sz="2400" spc="-1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2400" spc="-9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one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database)</a:t>
            </a:r>
            <a:r>
              <a:rPr sz="2400" spc="-1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vs.</a:t>
            </a:r>
            <a:r>
              <a:rPr sz="2400" spc="-114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distributed</a:t>
            </a:r>
            <a:r>
              <a:rPr sz="2400" spc="-114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(uses</a:t>
            </a:r>
            <a:r>
              <a:rPr sz="2400" spc="-114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multiple</a:t>
            </a:r>
            <a:r>
              <a:rPr sz="2400" spc="-114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computers, </a:t>
            </a:r>
            <a:r>
              <a:rPr sz="24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multiple</a:t>
            </a:r>
            <a:r>
              <a:rPr sz="2400" spc="-1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databases)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426085" indent="-413385">
              <a:lnSpc>
                <a:spcPct val="100000"/>
              </a:lnSpc>
              <a:spcBef>
                <a:spcPts val="355"/>
              </a:spcBef>
              <a:buClr>
                <a:srgbClr val="90C126"/>
              </a:buClr>
              <a:buSzPct val="79000"/>
              <a:buFont typeface="Lucida Sans Unicode" panose="020B0602030504020204"/>
              <a:buChar char="►"/>
              <a:tabLst>
                <a:tab pos="425450" algn="l"/>
              </a:tabLst>
            </a:pP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Based</a:t>
            </a:r>
            <a:r>
              <a:rPr sz="2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on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cost</a:t>
            </a:r>
            <a:r>
              <a:rPr sz="2800" spc="-4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spc="-35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 panose="020B0603020202020204"/>
                <a:cs typeface="Trebuchet MS" panose="020B0603020202020204"/>
              </a:rPr>
              <a:t>DBMS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412" y="2966720"/>
            <a:ext cx="38525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404040"/>
                </a:solidFill>
              </a:rPr>
              <a:t>Thank</a:t>
            </a:r>
            <a:r>
              <a:rPr sz="6000" spc="-25" dirty="0">
                <a:solidFill>
                  <a:srgbClr val="404040"/>
                </a:solidFill>
              </a:rPr>
              <a:t> </a:t>
            </a:r>
            <a:r>
              <a:rPr sz="6000" spc="-20" dirty="0">
                <a:solidFill>
                  <a:srgbClr val="404040"/>
                </a:solidFill>
              </a:rPr>
              <a:t>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14085</Words>
  <Application>WPS Presentation</Application>
  <PresentationFormat>On-screen Show (4:3)</PresentationFormat>
  <Paragraphs>420</Paragraphs>
  <Slides>46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Arial</vt:lpstr>
      <vt:lpstr>SimSun</vt:lpstr>
      <vt:lpstr>Wingdings</vt:lpstr>
      <vt:lpstr>Trebuchet MS</vt:lpstr>
      <vt:lpstr>Arial MT</vt:lpstr>
      <vt:lpstr>Lucida Sans Unicode</vt:lpstr>
      <vt:lpstr>Arial Black</vt:lpstr>
      <vt:lpstr>Microsoft YaHei</vt:lpstr>
      <vt:lpstr>Arial Unicode MS</vt:lpstr>
      <vt:lpstr>Calibri</vt:lpstr>
      <vt:lpstr>Times</vt:lpstr>
      <vt:lpstr>Times New Roman</vt:lpstr>
      <vt:lpstr>Office Theme</vt:lpstr>
      <vt:lpstr>Database Management Systems</vt:lpstr>
      <vt:lpstr>Content</vt:lpstr>
      <vt:lpstr>Data Models</vt:lpstr>
      <vt:lpstr>Categories of Data Models</vt:lpstr>
      <vt:lpstr>Implementation (representational) Data Models</vt:lpstr>
      <vt:lpstr>“Relations”</vt:lpstr>
      <vt:lpstr>PowerPoint 演示文稿</vt:lpstr>
      <vt:lpstr>Features of Relational DBMS</vt:lpstr>
      <vt:lpstr>Hierarchical Model</vt:lpstr>
      <vt:lpstr>Hierarchical Model</vt:lpstr>
      <vt:lpstr>Hierarchical Model</vt:lpstr>
      <vt:lpstr>Network Model</vt:lpstr>
      <vt:lpstr>Network Model</vt:lpstr>
      <vt:lpstr>Network Model</vt:lpstr>
      <vt:lpstr>Schemas Vs. Instances</vt:lpstr>
      <vt:lpstr>Schema Diagram for a Database</vt:lpstr>
      <vt:lpstr>Database Schema Vs. Database State</vt:lpstr>
      <vt:lpstr>Data Organization</vt:lpstr>
      <vt:lpstr>Three-Schema Architecture</vt:lpstr>
      <vt:lpstr>contd.</vt:lpstr>
      <vt:lpstr>Three-Schema Architecture</vt:lpstr>
      <vt:lpstr>contd.</vt:lpstr>
      <vt:lpstr>Data Independence</vt:lpstr>
      <vt:lpstr>Logical Data Independence</vt:lpstr>
      <vt:lpstr>Physical Data Independence</vt:lpstr>
      <vt:lpstr>DBMS Languages</vt:lpstr>
      <vt:lpstr>DBMS Languages</vt:lpstr>
      <vt:lpstr>Data Definition Language (DDL)</vt:lpstr>
      <vt:lpstr>Data Definition Language  (DDL)</vt:lpstr>
      <vt:lpstr>Data Manipulation Language (DML):</vt:lpstr>
      <vt:lpstr>Data Manipulation Language (DML)</vt:lpstr>
      <vt:lpstr>Data Control Language</vt:lpstr>
      <vt:lpstr>Transaction Control Language</vt:lpstr>
      <vt:lpstr>DBMS Interfaces</vt:lpstr>
      <vt:lpstr>Other DBMS Interfaces</vt:lpstr>
      <vt:lpstr>Database System Utilities</vt:lpstr>
      <vt:lpstr>Database Architectures</vt:lpstr>
      <vt:lpstr>Centralized DBMSs</vt:lpstr>
      <vt:lpstr>Database Architectures</vt:lpstr>
      <vt:lpstr>Client – Server Architecture</vt:lpstr>
      <vt:lpstr>Database Architecture</vt:lpstr>
      <vt:lpstr>Two tier client server architecture </vt:lpstr>
      <vt:lpstr>Three tier client server architecture</vt:lpstr>
      <vt:lpstr>A simplified database system environment </vt:lpstr>
      <vt:lpstr>Classification of DBMSs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Rameesha</cp:lastModifiedBy>
  <cp:revision>6</cp:revision>
  <dcterms:created xsi:type="dcterms:W3CDTF">2025-06-08T05:09:00Z</dcterms:created>
  <dcterms:modified xsi:type="dcterms:W3CDTF">2025-06-13T02:38:18Z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2025-06-08T16:30:00Z</vt:filetime>
  </property>
  <property fmtid="{D5CDD505-2E9C-101B-9397-08002B2CF9AE}" pid="3" name="Creator">
    <vt:lpwstr>Google</vt:lpwstr>
  </property>
  <property fmtid="{D5CDD505-2E9C-101B-9397-08002B2CF9AE}" pid="4" name="LastSaved">
    <vt:filetime>2025-06-08T16:30:00Z</vt:filetime>
  </property>
  <property fmtid="{D5CDD505-2E9C-101B-9397-08002B2CF9AE}" pid="5" name="ICV">
    <vt:lpwstr>B303E030CE4146CF87405DFAE794862E_12</vt:lpwstr>
  </property>
  <property fmtid="{D5CDD505-2E9C-101B-9397-08002B2CF9AE}" pid="6" name="KSOProductBuildVer">
    <vt:lpwstr>1033-12.2.0.21179</vt:lpwstr>
  </property>
</Properties>
</file>