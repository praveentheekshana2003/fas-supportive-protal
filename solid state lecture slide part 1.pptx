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329" r:id="rId2"/>
    <p:sldId id="330" r:id="rId3"/>
    <p:sldId id="331" r:id="rId4"/>
    <p:sldId id="332" r:id="rId5"/>
    <p:sldId id="333" r:id="rId6"/>
    <p:sldId id="334" r:id="rId7"/>
    <p:sldId id="335" r:id="rId8"/>
    <p:sldId id="336" r:id="rId9"/>
    <p:sldId id="337" r:id="rId10"/>
    <p:sldId id="338" r:id="rId11"/>
    <p:sldId id="339" r:id="rId12"/>
    <p:sldId id="340" r:id="rId13"/>
    <p:sldId id="341" r:id="rId14"/>
    <p:sldId id="342" r:id="rId15"/>
    <p:sldId id="343" r:id="rId16"/>
    <p:sldId id="344" r:id="rId17"/>
    <p:sldId id="345" r:id="rId18"/>
    <p:sldId id="346" r:id="rId19"/>
    <p:sldId id="347" r:id="rId20"/>
    <p:sldId id="348" r:id="rId21"/>
    <p:sldId id="349" r:id="rId22"/>
    <p:sldId id="350" r:id="rId23"/>
    <p:sldId id="351" r:id="rId24"/>
    <p:sldId id="352" r:id="rId25"/>
    <p:sldId id="353" r:id="rId26"/>
    <p:sldId id="354" r:id="rId27"/>
    <p:sldId id="355" r:id="rId28"/>
    <p:sldId id="356" r:id="rId29"/>
    <p:sldId id="357" r:id="rId30"/>
    <p:sldId id="358" r:id="rId31"/>
    <p:sldId id="359" r:id="rId32"/>
    <p:sldId id="361" r:id="rId33"/>
    <p:sldId id="362" r:id="rId34"/>
    <p:sldId id="363" r:id="rId35"/>
    <p:sldId id="364" r:id="rId36"/>
    <p:sldId id="365" r:id="rId37"/>
    <p:sldId id="366" r:id="rId38"/>
    <p:sldId id="367" r:id="rId39"/>
    <p:sldId id="368" r:id="rId40"/>
    <p:sldId id="369" r:id="rId41"/>
    <p:sldId id="370" r:id="rId42"/>
    <p:sldId id="371" r:id="rId43"/>
    <p:sldId id="372" r:id="rId44"/>
    <p:sldId id="373" r:id="rId45"/>
    <p:sldId id="374" r:id="rId46"/>
    <p:sldId id="256"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6" d="100"/>
          <a:sy n="56" d="100"/>
        </p:scale>
        <p:origin x="-780"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image" Target="../media/image10.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 Id="rId4" Type="http://schemas.openxmlformats.org/officeDocument/2006/relationships/image" Target="../media/image30.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 Id="rId4" Type="http://schemas.openxmlformats.org/officeDocument/2006/relationships/image" Target="../media/image42.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E5481F6-5699-4616-8B2C-A80DA0E4EB65}" type="datetimeFigureOut">
              <a:rPr lang="en-US" smtClean="0"/>
              <a:t>1/21/2025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534B4A-E0AE-41BD-8250-10F885F5DA84}" type="slidenum">
              <a:rPr lang="en-US" smtClean="0"/>
              <a:t>‹#›</a:t>
            </a:fld>
            <a:endParaRPr lang="en-US"/>
          </a:p>
        </p:txBody>
      </p:sp>
    </p:spTree>
    <p:extLst>
      <p:ext uri="{BB962C8B-B14F-4D97-AF65-F5344CB8AC3E}">
        <p14:creationId xmlns:p14="http://schemas.microsoft.com/office/powerpoint/2010/main" val="399887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FFDB7AB8-4EBE-4F08-A9D3-98BCFAD84F42}" type="slidenum">
              <a:rPr lang="en-US">
                <a:latin typeface="Times New Roman" pitchFamily="18" charset="0"/>
              </a:rPr>
              <a:pPr/>
              <a:t>40</a:t>
            </a:fld>
            <a:endParaRPr lang="en-US">
              <a:latin typeface="Times New Roman" pitchFamily="18" charset="0"/>
            </a:endParaRPr>
          </a:p>
        </p:txBody>
      </p:sp>
      <p:sp>
        <p:nvSpPr>
          <p:cNvPr id="583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583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AFE957E-CF47-431D-A3BC-9891C9361E5C}"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4210111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FE957E-CF47-431D-A3BC-9891C9361E5C}"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1607403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FE957E-CF47-431D-A3BC-9891C9361E5C}"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2727053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AFE957E-CF47-431D-A3BC-9891C9361E5C}"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1678623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AFE957E-CF47-431D-A3BC-9891C9361E5C}" type="datetimeFigureOut">
              <a:rPr lang="en-US" smtClean="0"/>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785367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AFE957E-CF47-431D-A3BC-9891C9361E5C}" type="datetimeFigureOut">
              <a:rPr lang="en-US" smtClean="0"/>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254815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FE957E-CF47-431D-A3BC-9891C9361E5C}" type="datetimeFigureOut">
              <a:rPr lang="en-US" smtClean="0"/>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3544759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FE957E-CF47-431D-A3BC-9891C9361E5C}"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39080951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FE957E-CF47-431D-A3BC-9891C9361E5C}" type="datetimeFigureOut">
              <a:rPr lang="en-US" smtClean="0"/>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2452291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FE957E-CF47-431D-A3BC-9891C9361E5C}"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714745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FE957E-CF47-431D-A3BC-9891C9361E5C}" type="datetimeFigureOut">
              <a:rPr lang="en-US" smtClean="0"/>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5BC66D-876A-4DFA-B757-DE9BC3227A2C}" type="slidenum">
              <a:rPr lang="en-US" smtClean="0"/>
              <a:t>‹#›</a:t>
            </a:fld>
            <a:endParaRPr lang="en-US"/>
          </a:p>
        </p:txBody>
      </p:sp>
    </p:spTree>
    <p:extLst>
      <p:ext uri="{BB962C8B-B14F-4D97-AF65-F5344CB8AC3E}">
        <p14:creationId xmlns:p14="http://schemas.microsoft.com/office/powerpoint/2010/main" val="383938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FE957E-CF47-431D-A3BC-9891C9361E5C}" type="datetimeFigureOut">
              <a:rPr lang="en-US" smtClean="0"/>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BC66D-876A-4DFA-B757-DE9BC3227A2C}" type="slidenum">
              <a:rPr lang="en-US" smtClean="0"/>
              <a:t>‹#›</a:t>
            </a:fld>
            <a:endParaRPr lang="en-US"/>
          </a:p>
        </p:txBody>
      </p:sp>
    </p:spTree>
    <p:extLst>
      <p:ext uri="{BB962C8B-B14F-4D97-AF65-F5344CB8AC3E}">
        <p14:creationId xmlns:p14="http://schemas.microsoft.com/office/powerpoint/2010/main" val="3260198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6.xml"/><Relationship Id="rId1" Type="http://schemas.openxmlformats.org/officeDocument/2006/relationships/vmlDrawing" Target="../drawings/vmlDrawing3.vml"/><Relationship Id="rId6" Type="http://schemas.openxmlformats.org/officeDocument/2006/relationships/image" Target="../media/image11.png"/><Relationship Id="rId5" Type="http://schemas.openxmlformats.org/officeDocument/2006/relationships/oleObject" Target="../embeddings/oleObject4.bin"/><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26.jpe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28.png"/><Relationship Id="rId5" Type="http://schemas.openxmlformats.org/officeDocument/2006/relationships/oleObject" Target="../embeddings/oleObject8.bin"/><Relationship Id="rId10" Type="http://schemas.openxmlformats.org/officeDocument/2006/relationships/image" Target="../media/image30.png"/><Relationship Id="rId4" Type="http://schemas.openxmlformats.org/officeDocument/2006/relationships/image" Target="../media/image27.png"/><Relationship Id="rId9" Type="http://schemas.openxmlformats.org/officeDocument/2006/relationships/oleObject" Target="../embeddings/oleObject10.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40.png"/><Relationship Id="rId5" Type="http://schemas.openxmlformats.org/officeDocument/2006/relationships/oleObject" Target="../embeddings/oleObject13.bin"/><Relationship Id="rId10" Type="http://schemas.openxmlformats.org/officeDocument/2006/relationships/image" Target="../media/image42.png"/><Relationship Id="rId4" Type="http://schemas.openxmlformats.org/officeDocument/2006/relationships/image" Target="../media/image39.png"/><Relationship Id="rId9" Type="http://schemas.openxmlformats.org/officeDocument/2006/relationships/oleObject" Target="../embeddings/oleObject15.bin"/></Relationships>
</file>

<file path=ppt/slides/_rels/slide29.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e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61.png"/><Relationship Id="rId4" Type="http://schemas.openxmlformats.org/officeDocument/2006/relationships/image" Target="../media/image60.wm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1"/>
          <p:cNvSpPr>
            <a:spLocks noGrp="1"/>
          </p:cNvSpPr>
          <p:nvPr>
            <p:ph idx="1"/>
          </p:nvPr>
        </p:nvSpPr>
        <p:spPr/>
        <p:txBody>
          <a:bodyPr/>
          <a:lstStyle/>
          <a:p>
            <a:r>
              <a:rPr lang="en-US" smtClean="0"/>
              <a:t>Solids are a state of matter that are usually highly ordered.  The chemical and physical properties of the solid depend on the detail of this ordering. </a:t>
            </a:r>
          </a:p>
          <a:p>
            <a:r>
              <a:rPr lang="en-US" smtClean="0"/>
              <a:t>Elemental carbon can have two different solid phases with differing spatial (position) ordering and vastly different solid properties. </a:t>
            </a:r>
          </a:p>
        </p:txBody>
      </p:sp>
      <p:sp>
        <p:nvSpPr>
          <p:cNvPr id="3" name="Title 2"/>
          <p:cNvSpPr>
            <a:spLocks noGrp="1"/>
          </p:cNvSpPr>
          <p:nvPr>
            <p:ph type="title"/>
          </p:nvPr>
        </p:nvSpPr>
        <p:spPr/>
        <p:txBody>
          <a:bodyPr/>
          <a:lstStyle/>
          <a:p>
            <a:pPr>
              <a:defRPr/>
            </a:pPr>
            <a:r>
              <a:rPr lang="en-US" dirty="0" smtClean="0"/>
              <a:t>Solid State Chemistry</a:t>
            </a:r>
            <a:endParaRPr lang="en-US" dirty="0"/>
          </a:p>
        </p:txBody>
      </p:sp>
    </p:spTree>
    <p:extLst>
      <p:ext uri="{BB962C8B-B14F-4D97-AF65-F5344CB8AC3E}">
        <p14:creationId xmlns:p14="http://schemas.microsoft.com/office/powerpoint/2010/main" val="3024811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4525963"/>
          </a:xfrm>
        </p:spPr>
        <p:txBody>
          <a:bodyPr>
            <a:normAutofit fontScale="85000" lnSpcReduction="10000"/>
          </a:bodyPr>
          <a:lstStyle/>
          <a:p>
            <a:pPr>
              <a:defRPr/>
            </a:pPr>
            <a:r>
              <a:rPr lang="en-US" dirty="0" smtClean="0"/>
              <a:t>Two such allotropes of Carbon are Diamond and Graphite (sp3 and sp2)</a:t>
            </a:r>
          </a:p>
          <a:p>
            <a:pPr>
              <a:defRPr/>
            </a:pPr>
            <a:endParaRPr lang="en-US" dirty="0"/>
          </a:p>
          <a:p>
            <a:pPr>
              <a:defRPr/>
            </a:pPr>
            <a:endParaRPr lang="en-US" dirty="0" smtClean="0"/>
          </a:p>
          <a:p>
            <a:pPr>
              <a:defRPr/>
            </a:pPr>
            <a:endParaRPr lang="en-US" dirty="0"/>
          </a:p>
          <a:p>
            <a:pPr>
              <a:defRPr/>
            </a:pPr>
            <a:endParaRPr lang="en-US" dirty="0" smtClean="0"/>
          </a:p>
          <a:p>
            <a:pPr>
              <a:defRPr/>
            </a:pPr>
            <a:endParaRPr lang="en-US" dirty="0" smtClean="0"/>
          </a:p>
          <a:p>
            <a:pPr>
              <a:defRPr/>
            </a:pPr>
            <a:endParaRPr lang="en-US" dirty="0" smtClean="0"/>
          </a:p>
          <a:p>
            <a:pPr marL="109537" indent="0">
              <a:buFont typeface="Wingdings 3" pitchFamily="18" charset="2"/>
              <a:buNone/>
              <a:defRPr/>
            </a:pPr>
            <a:r>
              <a:rPr lang="en-US" sz="2400" dirty="0" smtClean="0"/>
              <a:t>In </a:t>
            </a:r>
            <a:r>
              <a:rPr lang="en-US" sz="2400" dirty="0"/>
              <a:t>carbon, the bonding in the solid forms is highly directional and dictates the long ranges order. In metals, the bonding is non-directional and often the solid structure is determined by atomic 'packing'. </a:t>
            </a:r>
          </a:p>
          <a:p>
            <a:pPr>
              <a:defRPr/>
            </a:pPr>
            <a:endParaRPr lang="en-US" dirty="0" smtClean="0"/>
          </a:p>
          <a:p>
            <a:pPr>
              <a:defRPr/>
            </a:pPr>
            <a:endParaRPr lang="en-US" dirty="0"/>
          </a:p>
        </p:txBody>
      </p:sp>
      <p:sp>
        <p:nvSpPr>
          <p:cNvPr id="3" name="Title 2"/>
          <p:cNvSpPr>
            <a:spLocks noGrp="1"/>
          </p:cNvSpPr>
          <p:nvPr>
            <p:ph type="title"/>
          </p:nvPr>
        </p:nvSpPr>
        <p:spPr>
          <a:xfrm>
            <a:off x="0" y="0"/>
            <a:ext cx="8229600" cy="1143000"/>
          </a:xfrm>
        </p:spPr>
        <p:txBody>
          <a:bodyPr/>
          <a:lstStyle/>
          <a:p>
            <a:pPr>
              <a:defRPr/>
            </a:pPr>
            <a:r>
              <a:rPr lang="en-US" dirty="0" smtClean="0"/>
              <a:t>Diamond </a:t>
            </a:r>
            <a:r>
              <a:rPr lang="en-US" dirty="0" err="1" smtClean="0"/>
              <a:t>vs</a:t>
            </a:r>
            <a:r>
              <a:rPr lang="en-US" dirty="0" smtClean="0"/>
              <a:t> Graphite</a:t>
            </a:r>
            <a:endParaRPr lang="en-US" dirty="0"/>
          </a:p>
        </p:txBody>
      </p:sp>
      <p:pic>
        <p:nvPicPr>
          <p:cNvPr id="11268" name="Picture 2"/>
          <p:cNvPicPr>
            <a:picLocks noChangeAspect="1" noChangeArrowheads="1"/>
          </p:cNvPicPr>
          <p:nvPr/>
        </p:nvPicPr>
        <p:blipFill>
          <a:blip r:embed="rId2"/>
          <a:srcRect l="6415" t="11247" r="4002" b="13792"/>
          <a:stretch>
            <a:fillRect/>
          </a:stretch>
        </p:blipFill>
        <p:spPr bwMode="auto">
          <a:xfrm>
            <a:off x="2252663" y="1855788"/>
            <a:ext cx="4757737" cy="2681287"/>
          </a:xfrm>
          <a:prstGeom prst="rect">
            <a:avLst/>
          </a:prstGeom>
          <a:noFill/>
          <a:ln w="9525">
            <a:noFill/>
            <a:miter lim="800000"/>
            <a:headEnd/>
            <a:tailEnd/>
          </a:ln>
          <a:effectLst/>
        </p:spPr>
      </p:pic>
    </p:spTree>
    <p:extLst>
      <p:ext uri="{BB962C8B-B14F-4D97-AF65-F5344CB8AC3E}">
        <p14:creationId xmlns:p14="http://schemas.microsoft.com/office/powerpoint/2010/main" val="2840695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Solids</a:t>
            </a:r>
            <a:endParaRPr lang="en-US" dirty="0"/>
          </a:p>
        </p:txBody>
      </p:sp>
      <p:sp>
        <p:nvSpPr>
          <p:cNvPr id="3" name="Rectangle 2"/>
          <p:cNvSpPr/>
          <p:nvPr/>
        </p:nvSpPr>
        <p:spPr>
          <a:xfrm>
            <a:off x="381000" y="1447800"/>
            <a:ext cx="4572000" cy="1200150"/>
          </a:xfrm>
          <a:prstGeom prst="rect">
            <a:avLst/>
          </a:prstGeom>
        </p:spPr>
        <p:txBody>
          <a:bodyPr>
            <a:spAutoFit/>
          </a:bodyPr>
          <a:lstStyle/>
          <a:p>
            <a:pPr fontAlgn="auto">
              <a:spcBef>
                <a:spcPts val="0"/>
              </a:spcBef>
              <a:spcAft>
                <a:spcPts val="0"/>
              </a:spcAft>
              <a:buFont typeface="Wingdings" pitchFamily="2" charset="2"/>
              <a:buChar char="Ø"/>
              <a:defRPr/>
            </a:pPr>
            <a:r>
              <a:rPr lang="en-US" sz="3600" dirty="0">
                <a:solidFill>
                  <a:schemeClr val="accent1">
                    <a:lumMod val="75000"/>
                  </a:schemeClr>
                </a:solidFill>
                <a:latin typeface="+mn-lt"/>
              </a:rPr>
              <a:t> Crystalline </a:t>
            </a:r>
          </a:p>
          <a:p>
            <a:pPr fontAlgn="auto">
              <a:spcBef>
                <a:spcPts val="0"/>
              </a:spcBef>
              <a:spcAft>
                <a:spcPts val="0"/>
              </a:spcAft>
              <a:buFont typeface="Wingdings" pitchFamily="2" charset="2"/>
              <a:buChar char="Ø"/>
              <a:defRPr/>
            </a:pPr>
            <a:r>
              <a:rPr lang="en-US" sz="3600" dirty="0">
                <a:solidFill>
                  <a:schemeClr val="accent1">
                    <a:lumMod val="75000"/>
                  </a:schemeClr>
                </a:solidFill>
                <a:latin typeface="+mn-lt"/>
              </a:rPr>
              <a:t> Amorphous</a:t>
            </a:r>
          </a:p>
        </p:txBody>
      </p:sp>
      <p:graphicFrame>
        <p:nvGraphicFramePr>
          <p:cNvPr id="1026" name="Object 2"/>
          <p:cNvGraphicFramePr>
            <a:graphicFrameLocks noChangeAspect="1"/>
          </p:cNvGraphicFramePr>
          <p:nvPr/>
        </p:nvGraphicFramePr>
        <p:xfrm>
          <a:off x="533400" y="3295650"/>
          <a:ext cx="1724025" cy="1962150"/>
        </p:xfrm>
        <a:graphic>
          <a:graphicData uri="http://schemas.openxmlformats.org/presentationml/2006/ole">
            <mc:AlternateContent xmlns:mc="http://schemas.openxmlformats.org/markup-compatibility/2006">
              <mc:Choice xmlns:v="urn:schemas-microsoft-com:vml" Requires="v">
                <p:oleObj spid="_x0000_s15364" name="Bitmap Image" r:id="rId3" imgW="1724266" imgH="1961905" progId="PBrush">
                  <p:embed/>
                </p:oleObj>
              </mc:Choice>
              <mc:Fallback>
                <p:oleObj name="Bitmap Image" r:id="rId3" imgW="1724266" imgH="1961905" progId="PBrush">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295650"/>
                        <a:ext cx="1724025"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5"/>
          <p:cNvSpPr txBox="1">
            <a:spLocks noChangeArrowheads="1"/>
          </p:cNvSpPr>
          <p:nvPr/>
        </p:nvSpPr>
        <p:spPr bwMode="auto">
          <a:xfrm>
            <a:off x="2362200" y="3276600"/>
            <a:ext cx="4343400" cy="830263"/>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dirty="0">
                <a:solidFill>
                  <a:schemeClr val="accent1">
                    <a:lumMod val="75000"/>
                  </a:schemeClr>
                </a:solidFill>
                <a:latin typeface="+mn-lt"/>
              </a:rPr>
              <a:t>Crystalline has long range order</a:t>
            </a:r>
          </a:p>
        </p:txBody>
      </p:sp>
      <p:sp>
        <p:nvSpPr>
          <p:cNvPr id="6" name="Text Box 6"/>
          <p:cNvSpPr txBox="1">
            <a:spLocks noChangeArrowheads="1"/>
          </p:cNvSpPr>
          <p:nvPr/>
        </p:nvSpPr>
        <p:spPr bwMode="auto">
          <a:xfrm>
            <a:off x="2362200" y="4419600"/>
            <a:ext cx="5715000" cy="830263"/>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dirty="0">
                <a:solidFill>
                  <a:schemeClr val="accent1">
                    <a:lumMod val="75000"/>
                  </a:schemeClr>
                </a:solidFill>
                <a:latin typeface="+mn-lt"/>
              </a:rPr>
              <a:t>Amorphous materials have short range order</a:t>
            </a:r>
          </a:p>
        </p:txBody>
      </p:sp>
      <p:sp>
        <p:nvSpPr>
          <p:cNvPr id="12295" name="Rectangle 7"/>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solidFill>
                  <a:schemeClr val="bg1"/>
                </a:solidFill>
                <a:latin typeface="Lucida Sans Unicode" pitchFamily="34" charset="0"/>
              </a:rPr>
              <a:t>203.199.213.48/834/1/</a:t>
            </a:r>
            <a:r>
              <a:rPr lang="en-US" sz="1000" b="1" i="1">
                <a:solidFill>
                  <a:schemeClr val="bg1"/>
                </a:solidFill>
                <a:latin typeface="Lucida Sans Unicode" pitchFamily="34" charset="0"/>
              </a:rPr>
              <a:t>Structuresofsolids</a:t>
            </a:r>
            <a:r>
              <a:rPr lang="en-US" sz="1000" i="1">
                <a:solidFill>
                  <a:schemeClr val="bg1"/>
                </a:solidFill>
                <a:latin typeface="Lucida Sans Unicode" pitchFamily="34" charset="0"/>
              </a:rPr>
              <a:t>.</a:t>
            </a:r>
            <a:r>
              <a:rPr lang="en-US" sz="1000" b="1" i="1">
                <a:solidFill>
                  <a:schemeClr val="bg1"/>
                </a:solidFill>
                <a:latin typeface="Lucida Sans Unicode" pitchFamily="34" charset="0"/>
              </a:rPr>
              <a:t>ppt</a:t>
            </a:r>
            <a:endParaRPr lang="en-US" sz="1000">
              <a:solidFill>
                <a:schemeClr val="bg1"/>
              </a:solidFill>
              <a:latin typeface="Lucida Sans Unicode" pitchFamily="34" charset="0"/>
            </a:endParaRPr>
          </a:p>
        </p:txBody>
      </p:sp>
    </p:spTree>
    <p:extLst>
      <p:ext uri="{BB962C8B-B14F-4D97-AF65-F5344CB8AC3E}">
        <p14:creationId xmlns:p14="http://schemas.microsoft.com/office/powerpoint/2010/main" val="34856033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blinds(horizontal)">
                                      <p:cBhvr>
                                        <p:cTn id="12" dur="500"/>
                                        <p:tgtEl>
                                          <p:spTgt spid="10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71"/>
          <p:cNvGraphicFramePr>
            <a:graphicFrameLocks noGrp="1"/>
          </p:cNvGraphicFramePr>
          <p:nvPr/>
        </p:nvGraphicFramePr>
        <p:xfrm>
          <a:off x="0" y="0"/>
          <a:ext cx="9144000" cy="6577584"/>
        </p:xfrm>
        <a:graphic>
          <a:graphicData uri="http://schemas.openxmlformats.org/drawingml/2006/table">
            <a:tbl>
              <a:tblPr>
                <a:tableStyleId>{3C2FFA5D-87B4-456A-9821-1D502468CF0F}</a:tableStyleId>
              </a:tblPr>
              <a:tblGrid>
                <a:gridCol w="1426128"/>
                <a:gridCol w="1240872"/>
                <a:gridCol w="1695276"/>
                <a:gridCol w="3299669"/>
                <a:gridCol w="1482055"/>
              </a:tblGrid>
              <a:tr h="60959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Crystal Type</a:t>
                      </a:r>
                      <a:endParaRPr kumimoji="0" lang="en-US" sz="1800" b="0" i="0" u="none" strike="noStrike" cap="none" normalizeH="0" baseline="0" dirty="0" smtClean="0">
                        <a:ln>
                          <a:noFill/>
                        </a:ln>
                        <a:solidFill>
                          <a:srgbClr val="CC0000"/>
                        </a:solidFill>
                        <a:effectLst/>
                        <a:latin typeface="Times New Roman" pitchFamily="18" charset="0"/>
                      </a:endParaRPr>
                    </a:p>
                  </a:txBody>
                  <a:tcPr horzOverflow="overflow">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smtClean="0">
                          <a:ln>
                            <a:noFill/>
                          </a:ln>
                          <a:effectLst/>
                        </a:rPr>
                        <a:t>Particles</a:t>
                      </a:r>
                      <a:endParaRPr kumimoji="0" lang="en-US" sz="1800" b="0" i="0" u="none" strike="noStrike" cap="none" normalizeH="0" baseline="0" smtClean="0">
                        <a:ln>
                          <a:noFill/>
                        </a:ln>
                        <a:solidFill>
                          <a:srgbClr val="CC0000"/>
                        </a:solidFill>
                        <a:effectLst/>
                        <a:latin typeface="Times New Roman" pitchFamily="18" charset="0"/>
                      </a:endParaRPr>
                    </a:p>
                  </a:txBody>
                  <a:tcPr horzOverflow="overflow">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smtClean="0">
                          <a:ln>
                            <a:noFill/>
                          </a:ln>
                          <a:effectLst/>
                        </a:rPr>
                        <a:t>Interparticle Forces</a:t>
                      </a:r>
                      <a:endParaRPr kumimoji="0" lang="en-US" sz="1800" b="0" i="0" u="none" strike="noStrike" cap="none" normalizeH="0" baseline="0" smtClean="0">
                        <a:ln>
                          <a:noFill/>
                        </a:ln>
                        <a:solidFill>
                          <a:srgbClr val="CC0000"/>
                        </a:solidFill>
                        <a:effectLst/>
                        <a:latin typeface="Times New Roman" pitchFamily="18" charset="0"/>
                      </a:endParaRPr>
                    </a:p>
                  </a:txBody>
                  <a:tcPr horzOverflow="overflow">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smtClean="0">
                          <a:ln>
                            <a:noFill/>
                          </a:ln>
                          <a:effectLst/>
                        </a:rPr>
                        <a:t>Physical Behaviour</a:t>
                      </a:r>
                      <a:endParaRPr kumimoji="0" lang="en-US" sz="1800" b="0" i="0" u="none" strike="noStrike" cap="none" normalizeH="0" baseline="0" smtClean="0">
                        <a:ln>
                          <a:noFill/>
                        </a:ln>
                        <a:solidFill>
                          <a:srgbClr val="CC0000"/>
                        </a:solidFill>
                        <a:effectLst/>
                        <a:latin typeface="Times New Roman" pitchFamily="18" charset="0"/>
                      </a:endParaRPr>
                    </a:p>
                  </a:txBody>
                  <a:tcPr horzOverflow="overflow">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Examples</a:t>
                      </a:r>
                      <a:endParaRPr kumimoji="0" lang="en-US" sz="1800" b="0" i="0" u="none" strike="noStrike" cap="none" normalizeH="0" baseline="0" dirty="0" smtClean="0">
                        <a:ln>
                          <a:noFill/>
                        </a:ln>
                        <a:solidFill>
                          <a:srgbClr val="CC0000"/>
                        </a:solidFill>
                        <a:effectLst/>
                        <a:latin typeface="Times New Roman" pitchFamily="18" charset="0"/>
                      </a:endParaRPr>
                    </a:p>
                  </a:txBody>
                  <a:tcPr horzOverflow="overflow">
                    <a:solidFill>
                      <a:srgbClr val="FFFF00"/>
                    </a:solidFill>
                  </a:tcPr>
                </a:tc>
              </a:tr>
              <a:tr h="51577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Atomic</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Molecular</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Metallic</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Ionic</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Network</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smtClean="0">
                        <a:ln>
                          <a:noFill/>
                        </a:ln>
                        <a:solidFill>
                          <a:srgbClr val="CC3300"/>
                        </a:solidFill>
                        <a:effectLst/>
                        <a:latin typeface="Times New Roman"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Atoms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Molecules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Atoms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Positive and negative ions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 </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Atoms</a:t>
                      </a:r>
                      <a:endParaRPr kumimoji="0" lang="en-US" sz="1400" b="0" i="0" u="none" strike="noStrike" cap="none" normalizeH="0" baseline="0" dirty="0" smtClean="0">
                        <a:ln>
                          <a:noFill/>
                        </a:ln>
                        <a:solidFill>
                          <a:srgbClr val="333399"/>
                        </a:solidFill>
                        <a:effectLst/>
                        <a:latin typeface="Times New Roman"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Dispersion</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Dispersion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Dipole-dipole</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H-bonds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Metallic bond</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Ion-ion attraction</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Covalent</a:t>
                      </a:r>
                      <a:endParaRPr kumimoji="0" lang="en-US" sz="1400" b="0" i="0" u="none" strike="noStrike" cap="none" normalizeH="0" baseline="0" dirty="0" smtClean="0">
                        <a:ln>
                          <a:noFill/>
                        </a:ln>
                        <a:solidFill>
                          <a:srgbClr val="333399"/>
                        </a:solidFill>
                        <a:effectLst/>
                        <a:latin typeface="Times New Roman" pitchFamily="18" charset="0"/>
                      </a:endParaRPr>
                    </a:p>
                  </a:txBody>
                  <a:tcPr horzOverflow="overflow"/>
                </a:tc>
                <a:tc>
                  <a:txBody>
                    <a:bodyPr/>
                    <a:lstStyle/>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Soft</a:t>
                      </a:r>
                    </a:p>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Very low mp</a:t>
                      </a:r>
                    </a:p>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Poor thermal and electrical   conductors</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pPr>
                      <a:endParaRPr kumimoji="0" lang="en-US" sz="1400" u="none" strike="noStrike" cap="none" normalizeH="0" baseline="0" dirty="0" smtClean="0">
                        <a:ln>
                          <a:noFill/>
                        </a:ln>
                        <a:effectLst/>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pPr>
                      <a:r>
                        <a:rPr kumimoji="0" lang="en-US" sz="1400" u="none" strike="noStrike" cap="none" normalizeH="0" baseline="0" dirty="0" smtClean="0">
                          <a:ln>
                            <a:noFill/>
                          </a:ln>
                          <a:effectLst/>
                        </a:rPr>
                        <a:t> Fairly soft</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pPr>
                      <a:r>
                        <a:rPr kumimoji="0" lang="en-US" sz="1400" u="none" strike="noStrike" cap="none" normalizeH="0" baseline="0" dirty="0" smtClean="0">
                          <a:ln>
                            <a:noFill/>
                          </a:ln>
                          <a:effectLst/>
                        </a:rPr>
                        <a:t> Low to moderate mp</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pPr>
                      <a:r>
                        <a:rPr kumimoji="0" lang="en-US" sz="1400" u="none" strike="noStrike" cap="none" normalizeH="0" baseline="0" dirty="0" smtClean="0">
                          <a:ln>
                            <a:noFill/>
                          </a:ln>
                          <a:effectLst/>
                        </a:rPr>
                        <a:t> Poor thermal and electrical conductors</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pPr>
                      <a:endParaRPr kumimoji="0" lang="en-US" sz="1400" u="none" strike="noStrike" cap="none" normalizeH="0" baseline="0" dirty="0" smtClean="0">
                        <a:ln>
                          <a:noFill/>
                        </a:ln>
                        <a:effectLst/>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q"/>
                        <a:tabLst/>
                      </a:pPr>
                      <a:r>
                        <a:rPr kumimoji="0" lang="en-US" sz="1400" u="none" strike="noStrike" cap="none" normalizeH="0" baseline="0" dirty="0" smtClean="0">
                          <a:ln>
                            <a:noFill/>
                          </a:ln>
                          <a:effectLst/>
                        </a:rPr>
                        <a:t> Soft to hard</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q"/>
                        <a:tabLst/>
                      </a:pPr>
                      <a:r>
                        <a:rPr kumimoji="0" lang="en-US" sz="1400" u="none" strike="noStrike" cap="none" normalizeH="0" baseline="0" dirty="0" smtClean="0">
                          <a:ln>
                            <a:noFill/>
                          </a:ln>
                          <a:effectLst/>
                        </a:rPr>
                        <a:t> Low to very high mp</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q"/>
                        <a:tabLst/>
                      </a:pPr>
                      <a:r>
                        <a:rPr kumimoji="0" lang="en-US" sz="1400" u="none" strike="noStrike" cap="none" normalizeH="0" baseline="0" dirty="0" smtClean="0">
                          <a:ln>
                            <a:noFill/>
                          </a:ln>
                          <a:effectLst/>
                        </a:rPr>
                        <a:t> </a:t>
                      </a:r>
                      <a:r>
                        <a:rPr kumimoji="0" lang="en-US" sz="1400" u="none" strike="noStrike" cap="none" normalizeH="0" baseline="0" dirty="0" err="1" smtClean="0">
                          <a:ln>
                            <a:noFill/>
                          </a:ln>
                          <a:effectLst/>
                        </a:rPr>
                        <a:t>Mellable</a:t>
                      </a:r>
                      <a:r>
                        <a:rPr kumimoji="0" lang="en-US" sz="1400" u="none" strike="noStrike" cap="none" normalizeH="0" baseline="0" dirty="0" smtClean="0">
                          <a:ln>
                            <a:noFill/>
                          </a:ln>
                          <a:effectLst/>
                        </a:rPr>
                        <a:t> and ductile</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q"/>
                        <a:tabLst/>
                      </a:pPr>
                      <a:r>
                        <a:rPr kumimoji="0" lang="en-US" sz="1400" u="none" strike="noStrike" cap="none" normalizeH="0" baseline="0" dirty="0" smtClean="0">
                          <a:ln>
                            <a:noFill/>
                          </a:ln>
                          <a:effectLst/>
                        </a:rPr>
                        <a:t> Excellent thermal and electrical conductors</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v"/>
                        <a:tabLst/>
                      </a:pPr>
                      <a:endParaRPr kumimoji="0" lang="en-US" sz="1400" u="none" strike="noStrike" cap="none" normalizeH="0" baseline="0" dirty="0" smtClean="0">
                        <a:ln>
                          <a:noFill/>
                        </a:ln>
                        <a:effectLst/>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v"/>
                        <a:tabLst/>
                      </a:pPr>
                      <a:r>
                        <a:rPr kumimoji="0" lang="en-US" sz="1400" u="none" strike="noStrike" cap="none" normalizeH="0" baseline="0" dirty="0" smtClean="0">
                          <a:ln>
                            <a:noFill/>
                          </a:ln>
                          <a:effectLst/>
                        </a:rPr>
                        <a:t> Hard and brittle </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v"/>
                        <a:tabLst/>
                      </a:pPr>
                      <a:r>
                        <a:rPr kumimoji="0" lang="en-US" sz="1400" u="none" strike="noStrike" cap="none" normalizeH="0" baseline="0" dirty="0" smtClean="0">
                          <a:ln>
                            <a:noFill/>
                          </a:ln>
                          <a:effectLst/>
                        </a:rPr>
                        <a:t> High mp</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v"/>
                        <a:tabLst/>
                      </a:pPr>
                      <a:r>
                        <a:rPr kumimoji="0" lang="en-US" sz="1400" u="none" strike="noStrike" cap="none" normalizeH="0" baseline="0" dirty="0" smtClean="0">
                          <a:ln>
                            <a:noFill/>
                          </a:ln>
                          <a:effectLst/>
                        </a:rPr>
                        <a:t> Good thermal and electrical conductors in molten condition</a:t>
                      </a:r>
                    </a:p>
                    <a:p>
                      <a:pPr marL="0" marR="0" lvl="0" indent="0" algn="just" defTabSz="914400" rtl="0" eaLnBrk="1" fontAlgn="base" latinLnBrk="0" hangingPunct="1">
                        <a:lnSpc>
                          <a:spcPct val="100000"/>
                        </a:lnSpc>
                        <a:spcBef>
                          <a:spcPct val="20000"/>
                        </a:spcBef>
                        <a:spcAft>
                          <a:spcPct val="0"/>
                        </a:spcAft>
                        <a:buClrTx/>
                        <a:buSzTx/>
                        <a:buFontTx/>
                        <a:buChar char="•"/>
                        <a:tabLst/>
                      </a:pPr>
                      <a:endParaRPr kumimoji="0" lang="en-US" sz="1400" u="none" strike="noStrike" cap="none" normalizeH="0" baseline="0" dirty="0" smtClean="0">
                        <a:ln>
                          <a:noFill/>
                        </a:ln>
                        <a:effectLst/>
                      </a:endParaRPr>
                    </a:p>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Very hard</a:t>
                      </a:r>
                    </a:p>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Very high mp</a:t>
                      </a:r>
                    </a:p>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Poor thermal and electrical conductors</a:t>
                      </a:r>
                      <a:endParaRPr kumimoji="0" lang="en-US" sz="1400" b="0" i="0" u="none" strike="noStrike" cap="none" normalizeH="0" baseline="0" dirty="0" smtClean="0">
                        <a:ln>
                          <a:noFill/>
                        </a:ln>
                        <a:solidFill>
                          <a:srgbClr val="333399"/>
                        </a:solidFill>
                        <a:effectLst/>
                        <a:latin typeface="Times New Roman"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Group 8A</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Ne to </a:t>
                      </a:r>
                      <a:r>
                        <a:rPr kumimoji="0" lang="en-US" sz="1400" u="none" strike="noStrike" cap="none" normalizeH="0" baseline="0" dirty="0" err="1" smtClean="0">
                          <a:ln>
                            <a:noFill/>
                          </a:ln>
                          <a:effectLst/>
                        </a:rPr>
                        <a:t>Rn</a:t>
                      </a: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O</a:t>
                      </a:r>
                      <a:r>
                        <a:rPr kumimoji="0" lang="en-US" sz="1400" u="none" strike="noStrike" cap="none" normalizeH="0" baseline="-25000" dirty="0" smtClean="0">
                          <a:ln>
                            <a:noFill/>
                          </a:ln>
                          <a:effectLst/>
                        </a:rPr>
                        <a:t>2</a:t>
                      </a:r>
                      <a:r>
                        <a:rPr kumimoji="0" lang="en-US" sz="1400" u="none" strike="noStrike" cap="none" normalizeH="0" baseline="0" dirty="0" smtClean="0">
                          <a:ln>
                            <a:noFill/>
                          </a:ln>
                          <a:effectLst/>
                        </a:rPr>
                        <a:t>, P</a:t>
                      </a:r>
                      <a:r>
                        <a:rPr kumimoji="0" lang="en-US" sz="1400" u="none" strike="noStrike" cap="none" normalizeH="0" baseline="-25000" dirty="0" smtClean="0">
                          <a:ln>
                            <a:noFill/>
                          </a:ln>
                          <a:effectLst/>
                        </a:rPr>
                        <a:t>4</a:t>
                      </a:r>
                      <a:r>
                        <a:rPr kumimoji="0" lang="en-US" sz="1400" u="none" strike="noStrike" cap="none" normalizeH="0" baseline="0" dirty="0" smtClean="0">
                          <a:ln>
                            <a:noFill/>
                          </a:ln>
                          <a:effectLst/>
                        </a:rPr>
                        <a:t>, H</a:t>
                      </a:r>
                      <a:r>
                        <a:rPr kumimoji="0" lang="en-US" sz="1400" u="none" strike="noStrike" cap="none" normalizeH="0" baseline="-25000" dirty="0" smtClean="0">
                          <a:ln>
                            <a:noFill/>
                          </a:ln>
                          <a:effectLst/>
                        </a:rPr>
                        <a:t>2</a:t>
                      </a:r>
                      <a:r>
                        <a:rPr kumimoji="0" lang="en-US" sz="1400" u="none" strike="noStrike" cap="none" normalizeH="0" baseline="0" dirty="0" smtClean="0">
                          <a:ln>
                            <a:noFill/>
                          </a:ln>
                          <a:effectLst/>
                        </a:rPr>
                        <a:t>O, Sucrose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Na, Cu, Fe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err="1" smtClean="0">
                          <a:ln>
                            <a:noFill/>
                          </a:ln>
                          <a:effectLst/>
                        </a:rPr>
                        <a:t>NaCl</a:t>
                      </a:r>
                      <a:r>
                        <a:rPr kumimoji="0" lang="en-US" sz="1400" u="none" strike="noStrike" cap="none" normalizeH="0" baseline="0" dirty="0" smtClean="0">
                          <a:ln>
                            <a:noFill/>
                          </a:ln>
                          <a:effectLst/>
                        </a:rPr>
                        <a:t>, CaF</a:t>
                      </a:r>
                      <a:r>
                        <a:rPr kumimoji="0" lang="en-US" sz="1400" u="none" strike="noStrike" cap="none" normalizeH="0" baseline="-25000" dirty="0" smtClean="0">
                          <a:ln>
                            <a:noFill/>
                          </a:ln>
                          <a:effectLst/>
                        </a:rPr>
                        <a:t>2</a:t>
                      </a:r>
                      <a:r>
                        <a:rPr kumimoji="0" lang="en-US" sz="1400" u="none" strike="noStrike" cap="none" normalizeH="0" baseline="0" dirty="0" smtClean="0">
                          <a:ln>
                            <a:noFill/>
                          </a:ln>
                          <a:effectLst/>
                        </a:rPr>
                        <a:t>, </a:t>
                      </a:r>
                      <a:r>
                        <a:rPr kumimoji="0" lang="en-US" sz="1400" u="none" strike="noStrike" cap="none" normalizeH="0" baseline="0" dirty="0" err="1" smtClean="0">
                          <a:ln>
                            <a:noFill/>
                          </a:ln>
                          <a:effectLst/>
                        </a:rPr>
                        <a:t>MgO</a:t>
                      </a: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SiO</a:t>
                      </a:r>
                      <a:r>
                        <a:rPr kumimoji="0" lang="en-US" sz="1400" u="none" strike="noStrike" cap="none" normalizeH="0" baseline="-25000" dirty="0" smtClean="0">
                          <a:ln>
                            <a:noFill/>
                          </a:ln>
                          <a:effectLst/>
                        </a:rPr>
                        <a:t>2</a:t>
                      </a:r>
                      <a:r>
                        <a:rPr kumimoji="0" lang="en-US" sz="1400" u="none" strike="noStrike" cap="none" normalizeH="0" baseline="0" dirty="0" smtClean="0">
                          <a:ln>
                            <a:noFill/>
                          </a:ln>
                          <a:effectLst/>
                        </a:rPr>
                        <a:t>(Quartz)</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C (Diamond)</a:t>
                      </a:r>
                      <a:endParaRPr kumimoji="0" lang="en-US" sz="1400" b="0" i="0" u="none" strike="noStrike" cap="none" normalizeH="0" baseline="0" dirty="0" smtClean="0">
                        <a:ln>
                          <a:noFill/>
                        </a:ln>
                        <a:solidFill>
                          <a:srgbClr val="333399"/>
                        </a:solidFill>
                        <a:effectLst/>
                        <a:latin typeface="Times New Roman" pitchFamily="18" charset="0"/>
                      </a:endParaRPr>
                    </a:p>
                  </a:txBody>
                  <a:tcPr horzOverflow="overflow"/>
                </a:tc>
              </a:tr>
            </a:tbl>
          </a:graphicData>
        </a:graphic>
      </p:graphicFrame>
    </p:spTree>
    <p:extLst>
      <p:ext uri="{BB962C8B-B14F-4D97-AF65-F5344CB8AC3E}">
        <p14:creationId xmlns:p14="http://schemas.microsoft.com/office/powerpoint/2010/main" val="14782243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3"/>
          <p:cNvSpPr txBox="1">
            <a:spLocks noGrp="1" noChangeArrowheads="1"/>
          </p:cNvSpPr>
          <p:nvPr>
            <p:ph type="title"/>
          </p:nvPr>
        </p:nvSpPr>
        <p:spPr bwMode="auto">
          <a:xfrm>
            <a:off x="0" y="228600"/>
            <a:ext cx="8229600" cy="523220"/>
          </a:xfrm>
          <a:ln>
            <a:miter lim="800000"/>
            <a:headEnd/>
            <a:tailEnd/>
          </a:ln>
        </p:spPr>
        <p:txBody>
          <a:bodyPr>
            <a:spAutoFit/>
          </a:bodyPr>
          <a:lstStyle/>
          <a:p>
            <a:pPr eaLnBrk="1" fontAlgn="auto" hangingPunct="1">
              <a:spcBef>
                <a:spcPct val="50000"/>
              </a:spcBef>
              <a:spcAft>
                <a:spcPts val="0"/>
              </a:spcAft>
              <a:defRPr/>
            </a:pPr>
            <a:r>
              <a:rPr lang="en-US" sz="2800">
                <a:solidFill>
                  <a:srgbClr val="FF6600"/>
                </a:solidFill>
              </a:rPr>
              <a:t>STRUCTURES OF CRYSTALLINE SOLID TYPES</a:t>
            </a:r>
          </a:p>
        </p:txBody>
      </p:sp>
      <p:grpSp>
        <p:nvGrpSpPr>
          <p:cNvPr id="2" name="Group 2"/>
          <p:cNvGrpSpPr>
            <a:grpSpLocks/>
          </p:cNvGrpSpPr>
          <p:nvPr/>
        </p:nvGrpSpPr>
        <p:grpSpPr bwMode="auto">
          <a:xfrm>
            <a:off x="381000" y="838200"/>
            <a:ext cx="8763000" cy="5486400"/>
            <a:chOff x="240" y="336"/>
            <a:chExt cx="5520" cy="3456"/>
          </a:xfrm>
        </p:grpSpPr>
        <p:pic>
          <p:nvPicPr>
            <p:cNvPr id="14341" name="Picture 3"/>
            <p:cNvPicPr>
              <a:picLocks noChangeAspect="1" noChangeArrowheads="1"/>
            </p:cNvPicPr>
            <p:nvPr/>
          </p:nvPicPr>
          <p:blipFill>
            <a:blip r:embed="rId3"/>
            <a:srcRect/>
            <a:stretch>
              <a:fillRect/>
            </a:stretch>
          </p:blipFill>
          <p:spPr bwMode="auto">
            <a:xfrm>
              <a:off x="432" y="336"/>
              <a:ext cx="1248" cy="1536"/>
            </a:xfrm>
            <a:prstGeom prst="rect">
              <a:avLst/>
            </a:prstGeom>
            <a:noFill/>
            <a:ln w="9525">
              <a:noFill/>
              <a:miter lim="800000"/>
              <a:headEnd/>
              <a:tailEnd/>
            </a:ln>
          </p:spPr>
        </p:pic>
        <p:pic>
          <p:nvPicPr>
            <p:cNvPr id="14342" name="Picture 4"/>
            <p:cNvPicPr>
              <a:picLocks noChangeAspect="1" noChangeArrowheads="1"/>
            </p:cNvPicPr>
            <p:nvPr/>
          </p:nvPicPr>
          <p:blipFill>
            <a:blip r:embed="rId4"/>
            <a:srcRect/>
            <a:stretch>
              <a:fillRect/>
            </a:stretch>
          </p:blipFill>
          <p:spPr bwMode="auto">
            <a:xfrm>
              <a:off x="2016" y="546"/>
              <a:ext cx="1488" cy="1278"/>
            </a:xfrm>
            <a:prstGeom prst="rect">
              <a:avLst/>
            </a:prstGeom>
            <a:noFill/>
            <a:ln w="9525">
              <a:noFill/>
              <a:miter lim="800000"/>
              <a:headEnd/>
              <a:tailEnd/>
            </a:ln>
          </p:spPr>
        </p:pic>
        <p:pic>
          <p:nvPicPr>
            <p:cNvPr id="14343" name="Picture 5"/>
            <p:cNvPicPr>
              <a:picLocks noChangeAspect="1" noChangeArrowheads="1"/>
            </p:cNvPicPr>
            <p:nvPr/>
          </p:nvPicPr>
          <p:blipFill>
            <a:blip r:embed="rId5"/>
            <a:srcRect/>
            <a:stretch>
              <a:fillRect/>
            </a:stretch>
          </p:blipFill>
          <p:spPr bwMode="auto">
            <a:xfrm>
              <a:off x="2160" y="2220"/>
              <a:ext cx="1267" cy="1284"/>
            </a:xfrm>
            <a:prstGeom prst="rect">
              <a:avLst/>
            </a:prstGeom>
            <a:noFill/>
            <a:ln w="9525">
              <a:noFill/>
              <a:miter lim="800000"/>
              <a:headEnd/>
              <a:tailEnd/>
            </a:ln>
          </p:spPr>
        </p:pic>
        <p:sp>
          <p:nvSpPr>
            <p:cNvPr id="42" name="Text Box 6"/>
            <p:cNvSpPr txBox="1">
              <a:spLocks noChangeArrowheads="1"/>
            </p:cNvSpPr>
            <p:nvPr/>
          </p:nvSpPr>
          <p:spPr bwMode="auto">
            <a:xfrm>
              <a:off x="240" y="1834"/>
              <a:ext cx="1536" cy="288"/>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b="1" kern="0">
                  <a:solidFill>
                    <a:srgbClr val="3333CC"/>
                  </a:solidFill>
                  <a:latin typeface="+mn-lt"/>
                </a:rPr>
                <a:t>Molecular Solids</a:t>
              </a:r>
            </a:p>
          </p:txBody>
        </p:sp>
        <p:sp>
          <p:nvSpPr>
            <p:cNvPr id="43" name="Text Box 7"/>
            <p:cNvSpPr txBox="1">
              <a:spLocks noChangeArrowheads="1"/>
            </p:cNvSpPr>
            <p:nvPr/>
          </p:nvSpPr>
          <p:spPr bwMode="auto">
            <a:xfrm>
              <a:off x="2112" y="1824"/>
              <a:ext cx="1728" cy="288"/>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b="1" kern="0">
                  <a:solidFill>
                    <a:srgbClr val="3333CC"/>
                  </a:solidFill>
                  <a:latin typeface="+mn-lt"/>
                </a:rPr>
                <a:t>Covalent Solids</a:t>
              </a:r>
            </a:p>
          </p:txBody>
        </p:sp>
        <p:sp>
          <p:nvSpPr>
            <p:cNvPr id="44" name="Text Box 8"/>
            <p:cNvSpPr txBox="1">
              <a:spLocks noChangeArrowheads="1"/>
            </p:cNvSpPr>
            <p:nvPr/>
          </p:nvSpPr>
          <p:spPr bwMode="auto">
            <a:xfrm>
              <a:off x="4080" y="1776"/>
              <a:ext cx="1248" cy="288"/>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b="1" kern="0">
                  <a:solidFill>
                    <a:srgbClr val="3333CC"/>
                  </a:solidFill>
                  <a:latin typeface="+mn-lt"/>
                </a:rPr>
                <a:t>Ionic solids</a:t>
              </a:r>
            </a:p>
          </p:txBody>
        </p:sp>
        <p:sp>
          <p:nvSpPr>
            <p:cNvPr id="45" name="Text Box 9"/>
            <p:cNvSpPr txBox="1">
              <a:spLocks noChangeArrowheads="1"/>
            </p:cNvSpPr>
            <p:nvPr/>
          </p:nvSpPr>
          <p:spPr bwMode="auto">
            <a:xfrm>
              <a:off x="2256" y="3504"/>
              <a:ext cx="1402" cy="288"/>
            </a:xfrm>
            <a:prstGeom prst="rect">
              <a:avLst/>
            </a:prstGeom>
            <a:noFill/>
            <a:ln w="9525">
              <a:noFill/>
              <a:miter lim="800000"/>
              <a:headEnd/>
              <a:tailEnd/>
            </a:ln>
            <a:effectLst/>
          </p:spPr>
          <p:txBody>
            <a:bodyPr>
              <a:spAutoFit/>
            </a:bodyPr>
            <a:lstStyle/>
            <a:p>
              <a:pPr fontAlgn="auto">
                <a:spcBef>
                  <a:spcPts val="0"/>
                </a:spcBef>
                <a:spcAft>
                  <a:spcPts val="0"/>
                </a:spcAft>
                <a:defRPr/>
              </a:pPr>
              <a:r>
                <a:rPr lang="en-US" sz="2400" b="1" kern="0">
                  <a:solidFill>
                    <a:srgbClr val="3333CC"/>
                  </a:solidFill>
                  <a:latin typeface="+mn-lt"/>
                </a:rPr>
                <a:t>Metallic solids</a:t>
              </a:r>
            </a:p>
          </p:txBody>
        </p:sp>
        <p:sp>
          <p:nvSpPr>
            <p:cNvPr id="46" name="Text Box 10"/>
            <p:cNvSpPr txBox="1">
              <a:spLocks noChangeArrowheads="1"/>
            </p:cNvSpPr>
            <p:nvPr/>
          </p:nvSpPr>
          <p:spPr bwMode="auto">
            <a:xfrm>
              <a:off x="5376" y="921"/>
              <a:ext cx="384" cy="231"/>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b="1" kern="0">
                  <a:solidFill>
                    <a:srgbClr val="3333CC"/>
                  </a:solidFill>
                  <a:latin typeface="+mn-lt"/>
                </a:rPr>
                <a:t>Na</a:t>
              </a:r>
              <a:r>
                <a:rPr lang="en-US" b="1" kern="0" baseline="30000">
                  <a:solidFill>
                    <a:srgbClr val="3333CC"/>
                  </a:solidFill>
                  <a:latin typeface="+mn-lt"/>
                </a:rPr>
                <a:t>+</a:t>
              </a:r>
            </a:p>
          </p:txBody>
        </p:sp>
        <p:sp>
          <p:nvSpPr>
            <p:cNvPr id="47" name="Text Box 11"/>
            <p:cNvSpPr txBox="1">
              <a:spLocks noChangeArrowheads="1"/>
            </p:cNvSpPr>
            <p:nvPr/>
          </p:nvSpPr>
          <p:spPr bwMode="auto">
            <a:xfrm>
              <a:off x="5376" y="1152"/>
              <a:ext cx="384" cy="231"/>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b="1" kern="0">
                  <a:solidFill>
                    <a:srgbClr val="3333CC"/>
                  </a:solidFill>
                  <a:latin typeface="+mn-lt"/>
                </a:rPr>
                <a:t>Cl</a:t>
              </a:r>
              <a:r>
                <a:rPr lang="en-US" b="1" kern="0" baseline="30000">
                  <a:solidFill>
                    <a:srgbClr val="3333CC"/>
                  </a:solidFill>
                  <a:latin typeface="+mn-lt"/>
                </a:rPr>
                <a:t>-</a:t>
              </a:r>
            </a:p>
          </p:txBody>
        </p:sp>
        <p:graphicFrame>
          <p:nvGraphicFramePr>
            <p:cNvPr id="14350" name="Object 5"/>
            <p:cNvGraphicFramePr>
              <a:graphicFrameLocks noChangeAspect="1"/>
            </p:cNvGraphicFramePr>
            <p:nvPr/>
          </p:nvGraphicFramePr>
          <p:xfrm>
            <a:off x="3888" y="664"/>
            <a:ext cx="1488" cy="1034"/>
          </p:xfrm>
          <a:graphic>
            <a:graphicData uri="http://schemas.openxmlformats.org/presentationml/2006/ole">
              <mc:AlternateContent xmlns:mc="http://schemas.openxmlformats.org/markup-compatibility/2006">
                <mc:Choice xmlns:v="urn:schemas-microsoft-com:vml" Requires="v">
                  <p:oleObj spid="_x0000_s16388" name="Bitmap Image" r:id="rId6" imgW="1905266" imgH="1324160" progId="PBrush">
                    <p:embed/>
                  </p:oleObj>
                </mc:Choice>
                <mc:Fallback>
                  <p:oleObj name="Bitmap Image" r:id="rId6" imgW="1905266" imgH="1324160" progId="PBrush">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8" y="664"/>
                          <a:ext cx="1488" cy="1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4340" name="Rectangle 48"/>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solidFill>
                  <a:schemeClr val="bg1"/>
                </a:solidFill>
                <a:latin typeface="Lucida Sans Unicode" pitchFamily="34" charset="0"/>
              </a:rPr>
              <a:t>203.199.213.48/834/1/</a:t>
            </a:r>
            <a:r>
              <a:rPr lang="en-US" sz="1000" b="1" i="1">
                <a:solidFill>
                  <a:schemeClr val="bg1"/>
                </a:solidFill>
                <a:latin typeface="Lucida Sans Unicode" pitchFamily="34" charset="0"/>
              </a:rPr>
              <a:t>Structuresofsolids</a:t>
            </a:r>
            <a:r>
              <a:rPr lang="en-US" sz="1000" i="1">
                <a:solidFill>
                  <a:schemeClr val="bg1"/>
                </a:solidFill>
                <a:latin typeface="Lucida Sans Unicode" pitchFamily="34" charset="0"/>
              </a:rPr>
              <a:t>.</a:t>
            </a:r>
            <a:r>
              <a:rPr lang="en-US" sz="1000" b="1" i="1">
                <a:solidFill>
                  <a:schemeClr val="bg1"/>
                </a:solidFill>
                <a:latin typeface="Lucida Sans Unicode" pitchFamily="34" charset="0"/>
              </a:rPr>
              <a:t>ppt</a:t>
            </a:r>
            <a:endParaRPr lang="en-US" sz="1000">
              <a:solidFill>
                <a:schemeClr val="bg1"/>
              </a:solidFill>
              <a:latin typeface="Lucida Sans Unicode" pitchFamily="34" charset="0"/>
            </a:endParaRPr>
          </a:p>
        </p:txBody>
      </p:sp>
    </p:spTree>
    <p:extLst>
      <p:ext uri="{BB962C8B-B14F-4D97-AF65-F5344CB8AC3E}">
        <p14:creationId xmlns:p14="http://schemas.microsoft.com/office/powerpoint/2010/main" val="147762500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Diamond"/>
          <p:cNvPicPr>
            <a:picLocks noChangeAspect="1" noChangeArrowheads="1"/>
          </p:cNvPicPr>
          <p:nvPr/>
        </p:nvPicPr>
        <p:blipFill>
          <a:blip r:embed="rId2"/>
          <a:srcRect/>
          <a:stretch>
            <a:fillRect/>
          </a:stretch>
        </p:blipFill>
        <p:spPr bwMode="auto">
          <a:xfrm>
            <a:off x="533400" y="0"/>
            <a:ext cx="3429000" cy="3051175"/>
          </a:xfrm>
          <a:prstGeom prst="rect">
            <a:avLst/>
          </a:prstGeom>
          <a:noFill/>
          <a:ln w="9525">
            <a:noFill/>
            <a:miter lim="800000"/>
            <a:headEnd/>
            <a:tailEnd/>
          </a:ln>
        </p:spPr>
      </p:pic>
      <p:sp>
        <p:nvSpPr>
          <p:cNvPr id="4" name="Text Box 3"/>
          <p:cNvSpPr txBox="1">
            <a:spLocks noChangeArrowheads="1"/>
          </p:cNvSpPr>
          <p:nvPr/>
        </p:nvSpPr>
        <p:spPr bwMode="auto">
          <a:xfrm>
            <a:off x="1584325" y="3048000"/>
            <a:ext cx="2378075" cy="457200"/>
          </a:xfrm>
          <a:prstGeom prst="rect">
            <a:avLst/>
          </a:prstGeom>
          <a:noFill/>
          <a:ln w="9525">
            <a:noFill/>
            <a:miter lim="800000"/>
            <a:headEnd/>
            <a:tailEnd/>
          </a:ln>
          <a:effectLst/>
        </p:spPr>
        <p:txBody>
          <a:bodyPr>
            <a:spAutoFit/>
          </a:bodyPr>
          <a:lstStyle/>
          <a:p>
            <a:pPr fontAlgn="auto">
              <a:spcBef>
                <a:spcPts val="0"/>
              </a:spcBef>
              <a:spcAft>
                <a:spcPts val="0"/>
              </a:spcAft>
              <a:defRPr/>
            </a:pPr>
            <a:r>
              <a:rPr lang="en-US" sz="2400">
                <a:solidFill>
                  <a:schemeClr val="accent1">
                    <a:lumMod val="75000"/>
                  </a:schemeClr>
                </a:solidFill>
                <a:latin typeface="+mn-lt"/>
              </a:rPr>
              <a:t>DIAMOND</a:t>
            </a:r>
          </a:p>
        </p:txBody>
      </p:sp>
      <p:pic>
        <p:nvPicPr>
          <p:cNvPr id="15364" name="Picture 4" descr="Quartz"/>
          <p:cNvPicPr>
            <a:picLocks noChangeAspect="1" noChangeArrowheads="1"/>
          </p:cNvPicPr>
          <p:nvPr/>
        </p:nvPicPr>
        <p:blipFill>
          <a:blip r:embed="rId3"/>
          <a:srcRect/>
          <a:stretch>
            <a:fillRect/>
          </a:stretch>
        </p:blipFill>
        <p:spPr bwMode="auto">
          <a:xfrm>
            <a:off x="4937125" y="-58738"/>
            <a:ext cx="3444875" cy="3049588"/>
          </a:xfrm>
          <a:prstGeom prst="rect">
            <a:avLst/>
          </a:prstGeom>
          <a:noFill/>
          <a:ln w="9525">
            <a:noFill/>
            <a:miter lim="800000"/>
            <a:headEnd/>
            <a:tailEnd/>
          </a:ln>
        </p:spPr>
      </p:pic>
      <p:sp>
        <p:nvSpPr>
          <p:cNvPr id="6" name="Text Box 5"/>
          <p:cNvSpPr txBox="1">
            <a:spLocks noChangeArrowheads="1"/>
          </p:cNvSpPr>
          <p:nvPr/>
        </p:nvSpPr>
        <p:spPr bwMode="auto">
          <a:xfrm>
            <a:off x="6003925" y="2971800"/>
            <a:ext cx="2073275" cy="457200"/>
          </a:xfrm>
          <a:prstGeom prst="rect">
            <a:avLst/>
          </a:prstGeom>
          <a:noFill/>
          <a:ln w="9525">
            <a:noFill/>
            <a:miter lim="800000"/>
            <a:headEnd/>
            <a:tailEnd/>
          </a:ln>
          <a:effectLst/>
        </p:spPr>
        <p:txBody>
          <a:bodyPr>
            <a:spAutoFit/>
          </a:bodyPr>
          <a:lstStyle/>
          <a:p>
            <a:pPr fontAlgn="auto">
              <a:spcBef>
                <a:spcPts val="0"/>
              </a:spcBef>
              <a:spcAft>
                <a:spcPts val="0"/>
              </a:spcAft>
              <a:defRPr/>
            </a:pPr>
            <a:r>
              <a:rPr lang="en-US" sz="2400">
                <a:solidFill>
                  <a:schemeClr val="accent1">
                    <a:lumMod val="75000"/>
                  </a:schemeClr>
                </a:solidFill>
                <a:latin typeface="+mn-lt"/>
              </a:rPr>
              <a:t>QUARTZ</a:t>
            </a:r>
          </a:p>
        </p:txBody>
      </p:sp>
      <p:pic>
        <p:nvPicPr>
          <p:cNvPr id="15366" name="Picture 6" descr="Graphite"/>
          <p:cNvPicPr>
            <a:picLocks noChangeAspect="1" noChangeArrowheads="1"/>
          </p:cNvPicPr>
          <p:nvPr/>
        </p:nvPicPr>
        <p:blipFill>
          <a:blip r:embed="rId4"/>
          <a:srcRect/>
          <a:stretch>
            <a:fillRect/>
          </a:stretch>
        </p:blipFill>
        <p:spPr bwMode="auto">
          <a:xfrm>
            <a:off x="2895600" y="3535363"/>
            <a:ext cx="3429000" cy="3017837"/>
          </a:xfrm>
          <a:prstGeom prst="rect">
            <a:avLst/>
          </a:prstGeom>
          <a:noFill/>
          <a:ln w="9525">
            <a:noFill/>
            <a:miter lim="800000"/>
            <a:headEnd/>
            <a:tailEnd/>
          </a:ln>
        </p:spPr>
      </p:pic>
      <p:sp>
        <p:nvSpPr>
          <p:cNvPr id="8" name="Text Box 7"/>
          <p:cNvSpPr txBox="1">
            <a:spLocks noChangeArrowheads="1"/>
          </p:cNvSpPr>
          <p:nvPr/>
        </p:nvSpPr>
        <p:spPr bwMode="auto">
          <a:xfrm>
            <a:off x="6400800" y="4613275"/>
            <a:ext cx="1997075" cy="457200"/>
          </a:xfrm>
          <a:prstGeom prst="rect">
            <a:avLst/>
          </a:prstGeom>
          <a:noFill/>
          <a:ln w="9525">
            <a:noFill/>
            <a:miter lim="800000"/>
            <a:headEnd/>
            <a:tailEnd/>
          </a:ln>
          <a:effectLst/>
        </p:spPr>
        <p:txBody>
          <a:bodyPr>
            <a:spAutoFit/>
          </a:bodyPr>
          <a:lstStyle/>
          <a:p>
            <a:pPr fontAlgn="auto">
              <a:spcBef>
                <a:spcPts val="0"/>
              </a:spcBef>
              <a:spcAft>
                <a:spcPts val="0"/>
              </a:spcAft>
              <a:defRPr/>
            </a:pPr>
            <a:r>
              <a:rPr lang="en-US" sz="2400">
                <a:solidFill>
                  <a:schemeClr val="accent1">
                    <a:lumMod val="75000"/>
                  </a:schemeClr>
                </a:solidFill>
                <a:latin typeface="+mn-lt"/>
              </a:rPr>
              <a:t>GRAPHITE</a:t>
            </a:r>
          </a:p>
        </p:txBody>
      </p:sp>
    </p:spTree>
    <p:extLst>
      <p:ext uri="{BB962C8B-B14F-4D97-AF65-F5344CB8AC3E}">
        <p14:creationId xmlns:p14="http://schemas.microsoft.com/office/powerpoint/2010/main" val="37521271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sz="4400" dirty="0" smtClean="0">
                <a:solidFill>
                  <a:schemeClr val="accent2"/>
                </a:solidFill>
              </a:rPr>
              <a:t>CRYSTAL STRUCTURE</a:t>
            </a:r>
            <a:br>
              <a:rPr lang="en-US" sz="4400" dirty="0" smtClean="0">
                <a:solidFill>
                  <a:schemeClr val="accent2"/>
                </a:solidFill>
              </a:rPr>
            </a:br>
            <a:endParaRPr lang="en-US" dirty="0"/>
          </a:p>
        </p:txBody>
      </p:sp>
      <p:sp>
        <p:nvSpPr>
          <p:cNvPr id="3" name="Rectangle 2"/>
          <p:cNvSpPr/>
          <p:nvPr/>
        </p:nvSpPr>
        <p:spPr>
          <a:xfrm>
            <a:off x="0" y="1066800"/>
            <a:ext cx="9144000" cy="1920875"/>
          </a:xfrm>
          <a:prstGeom prst="rect">
            <a:avLst/>
          </a:prstGeom>
        </p:spPr>
        <p:txBody>
          <a:bodyPr>
            <a:spAutoFit/>
          </a:bodyPr>
          <a:lstStyle/>
          <a:p>
            <a:pPr algn="just" fontAlgn="auto">
              <a:spcBef>
                <a:spcPts val="0"/>
              </a:spcBef>
              <a:spcAft>
                <a:spcPts val="0"/>
              </a:spcAft>
              <a:defRPr/>
            </a:pPr>
            <a:r>
              <a:rPr lang="en-US" b="1" dirty="0">
                <a:solidFill>
                  <a:schemeClr val="accent1">
                    <a:lumMod val="75000"/>
                  </a:schemeClr>
                </a:solidFill>
                <a:latin typeface="+mn-lt"/>
              </a:rPr>
              <a:t>Crystal structure</a:t>
            </a:r>
            <a:r>
              <a:rPr lang="en-US" dirty="0">
                <a:solidFill>
                  <a:schemeClr val="accent1">
                    <a:lumMod val="75000"/>
                  </a:schemeClr>
                </a:solidFill>
                <a:latin typeface="+mn-lt"/>
              </a:rPr>
              <a:t> is the </a:t>
            </a:r>
            <a:r>
              <a:rPr lang="en-US" b="1" dirty="0">
                <a:solidFill>
                  <a:schemeClr val="accent1">
                    <a:lumMod val="75000"/>
                  </a:schemeClr>
                </a:solidFill>
                <a:latin typeface="+mn-lt"/>
              </a:rPr>
              <a:t>periodic arrangement of atoms</a:t>
            </a:r>
            <a:r>
              <a:rPr lang="en-US" dirty="0">
                <a:solidFill>
                  <a:schemeClr val="accent1">
                    <a:lumMod val="75000"/>
                  </a:schemeClr>
                </a:solidFill>
                <a:latin typeface="+mn-lt"/>
              </a:rPr>
              <a:t> in the crystal. Association of each </a:t>
            </a:r>
            <a:r>
              <a:rPr lang="en-US" b="1" dirty="0">
                <a:solidFill>
                  <a:schemeClr val="accent1">
                    <a:lumMod val="75000"/>
                  </a:schemeClr>
                </a:solidFill>
                <a:latin typeface="+mn-lt"/>
              </a:rPr>
              <a:t>lattice point</a:t>
            </a:r>
            <a:r>
              <a:rPr lang="en-US" dirty="0">
                <a:solidFill>
                  <a:schemeClr val="accent1">
                    <a:lumMod val="75000"/>
                  </a:schemeClr>
                </a:solidFill>
                <a:latin typeface="+mn-lt"/>
              </a:rPr>
              <a:t> with a group of atoms(Basis or Motif).</a:t>
            </a:r>
          </a:p>
          <a:p>
            <a:pPr algn="just" fontAlgn="auto">
              <a:lnSpc>
                <a:spcPct val="30000"/>
              </a:lnSpc>
              <a:spcBef>
                <a:spcPts val="0"/>
              </a:spcBef>
              <a:spcAft>
                <a:spcPts val="0"/>
              </a:spcAft>
              <a:defRPr/>
            </a:pPr>
            <a:endParaRPr lang="en-US" dirty="0">
              <a:solidFill>
                <a:srgbClr val="FF3300"/>
              </a:solidFill>
              <a:latin typeface="+mn-lt"/>
            </a:endParaRPr>
          </a:p>
          <a:p>
            <a:pPr algn="just" fontAlgn="auto">
              <a:spcBef>
                <a:spcPts val="0"/>
              </a:spcBef>
              <a:spcAft>
                <a:spcPts val="0"/>
              </a:spcAft>
              <a:defRPr/>
            </a:pPr>
            <a:r>
              <a:rPr lang="en-US" b="1" dirty="0">
                <a:solidFill>
                  <a:schemeClr val="accent1">
                    <a:lumMod val="75000"/>
                  </a:schemeClr>
                </a:solidFill>
                <a:latin typeface="+mn-lt"/>
              </a:rPr>
              <a:t>Lattice</a:t>
            </a:r>
            <a:r>
              <a:rPr lang="en-US" dirty="0">
                <a:solidFill>
                  <a:schemeClr val="accent1">
                    <a:lumMod val="75000"/>
                  </a:schemeClr>
                </a:solidFill>
                <a:latin typeface="+mn-lt"/>
              </a:rPr>
              <a:t>: Infinite array of points in space, in which each point has identical surroundings to all others.</a:t>
            </a:r>
          </a:p>
          <a:p>
            <a:pPr algn="just" fontAlgn="auto">
              <a:lnSpc>
                <a:spcPct val="30000"/>
              </a:lnSpc>
              <a:spcBef>
                <a:spcPts val="0"/>
              </a:spcBef>
              <a:spcAft>
                <a:spcPts val="0"/>
              </a:spcAft>
              <a:defRPr/>
            </a:pPr>
            <a:endParaRPr lang="en-US" dirty="0">
              <a:solidFill>
                <a:srgbClr val="009400"/>
              </a:solidFill>
              <a:latin typeface="+mn-lt"/>
            </a:endParaRPr>
          </a:p>
          <a:p>
            <a:pPr algn="just" fontAlgn="auto">
              <a:spcBef>
                <a:spcPts val="0"/>
              </a:spcBef>
              <a:spcAft>
                <a:spcPts val="0"/>
              </a:spcAft>
              <a:defRPr/>
            </a:pPr>
            <a:r>
              <a:rPr lang="en-US" b="1" dirty="0">
                <a:solidFill>
                  <a:srgbClr val="CC9900"/>
                </a:solidFill>
                <a:latin typeface="+mn-lt"/>
              </a:rPr>
              <a:t>Space Lattice</a:t>
            </a:r>
            <a:r>
              <a:rPr lang="en-US" dirty="0">
                <a:solidFill>
                  <a:srgbClr val="CC9900"/>
                </a:solidFill>
                <a:latin typeface="+mn-lt"/>
              </a:rPr>
              <a:t>  </a:t>
            </a:r>
            <a:r>
              <a:rPr lang="en-US" dirty="0">
                <a:solidFill>
                  <a:srgbClr val="CC9900"/>
                </a:solidFill>
                <a:latin typeface="+mn-lt"/>
                <a:sym typeface="Symbol" pitchFamily="18" charset="2"/>
              </a:rPr>
              <a:t> Arrangements of atoms</a:t>
            </a:r>
          </a:p>
          <a:p>
            <a:pPr algn="just" fontAlgn="auto">
              <a:spcBef>
                <a:spcPts val="0"/>
              </a:spcBef>
              <a:spcAft>
                <a:spcPts val="0"/>
              </a:spcAft>
              <a:defRPr/>
            </a:pPr>
            <a:r>
              <a:rPr lang="en-US" dirty="0">
                <a:solidFill>
                  <a:srgbClr val="CC9900"/>
                </a:solidFill>
                <a:latin typeface="+mn-lt"/>
                <a:sym typeface="Symbol" pitchFamily="18" charset="2"/>
              </a:rPr>
              <a:t>	             </a:t>
            </a:r>
            <a:r>
              <a:rPr lang="en-US" dirty="0">
                <a:solidFill>
                  <a:srgbClr val="CC9900"/>
                </a:solidFill>
                <a:latin typeface="+mn-lt"/>
                <a:cs typeface="Times New Roman" pitchFamily="18" charset="0"/>
                <a:sym typeface="Symbol" pitchFamily="18" charset="2"/>
              </a:rPr>
              <a:t>=  Lattice of points onto which the atoms are hung</a:t>
            </a:r>
            <a:endParaRPr lang="en-US" dirty="0">
              <a:latin typeface="+mn-lt"/>
            </a:endParaRPr>
          </a:p>
        </p:txBody>
      </p:sp>
      <p:sp>
        <p:nvSpPr>
          <p:cNvPr id="3078" name="Slide Number Placeholder 3"/>
          <p:cNvSpPr>
            <a:spLocks noGrp="1"/>
          </p:cNvSpPr>
          <p:nvPr>
            <p:ph type="sldNum" sz="quarter" idx="12"/>
          </p:nvPr>
        </p:nvSpPr>
        <p:spPr bwMode="auto">
          <a:xfrm>
            <a:off x="5578475" y="6356350"/>
            <a:ext cx="2189163" cy="457200"/>
          </a:xfrm>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C2D542E4-AB24-4F9E-818B-9D9AD8FA8169}" type="slidenum">
              <a:rPr lang="en-US" smtClean="0"/>
              <a:pPr fontAlgn="base">
                <a:spcBef>
                  <a:spcPct val="0"/>
                </a:spcBef>
                <a:spcAft>
                  <a:spcPct val="0"/>
                </a:spcAft>
                <a:defRPr/>
              </a:pPr>
              <a:t>7</a:t>
            </a:fld>
            <a:endParaRPr lang="en-US" smtClean="0"/>
          </a:p>
        </p:txBody>
      </p:sp>
      <p:sp>
        <p:nvSpPr>
          <p:cNvPr id="3079" name="Text Box 3"/>
          <p:cNvSpPr txBox="1">
            <a:spLocks noChangeArrowheads="1"/>
          </p:cNvSpPr>
          <p:nvPr/>
        </p:nvSpPr>
        <p:spPr bwMode="auto">
          <a:xfrm>
            <a:off x="228600" y="5410200"/>
            <a:ext cx="9280525" cy="1200150"/>
          </a:xfrm>
          <a:prstGeom prst="rect">
            <a:avLst/>
          </a:prstGeom>
          <a:noFill/>
          <a:ln w="9525">
            <a:noFill/>
            <a:miter lim="800000"/>
            <a:headEnd/>
            <a:tailEnd/>
          </a:ln>
        </p:spPr>
        <p:txBody>
          <a:bodyPr>
            <a:spAutoFit/>
          </a:bodyPr>
          <a:lstStyle/>
          <a:p>
            <a:r>
              <a:rPr lang="en-US" sz="2400">
                <a:solidFill>
                  <a:srgbClr val="FF3300"/>
                </a:solidFill>
                <a:latin typeface="Lucida Sans Unicode" pitchFamily="34" charset="0"/>
                <a:cs typeface="Times New Roman" pitchFamily="18" charset="0"/>
                <a:sym typeface="Symbol" pitchFamily="18" charset="2"/>
              </a:rPr>
              <a:t>Elemental solids (Argon): </a:t>
            </a:r>
            <a:r>
              <a:rPr lang="en-US" sz="2400" b="1">
                <a:solidFill>
                  <a:srgbClr val="CC0099"/>
                </a:solidFill>
                <a:latin typeface="Lucida Sans Unicode" pitchFamily="34" charset="0"/>
                <a:cs typeface="Times New Roman" pitchFamily="18" charset="0"/>
                <a:sym typeface="Symbol" pitchFamily="18" charset="2"/>
              </a:rPr>
              <a:t>Basis</a:t>
            </a:r>
            <a:r>
              <a:rPr lang="en-US" sz="2400">
                <a:solidFill>
                  <a:srgbClr val="CC0099"/>
                </a:solidFill>
                <a:latin typeface="Lucida Sans Unicode" pitchFamily="34" charset="0"/>
                <a:cs typeface="Times New Roman" pitchFamily="18" charset="0"/>
                <a:sym typeface="Symbol" pitchFamily="18" charset="2"/>
              </a:rPr>
              <a:t> = </a:t>
            </a:r>
            <a:r>
              <a:rPr lang="en-US" sz="2400" b="1">
                <a:solidFill>
                  <a:srgbClr val="CC0099"/>
                </a:solidFill>
                <a:latin typeface="Lucida Sans Unicode" pitchFamily="34" charset="0"/>
                <a:cs typeface="Times New Roman" pitchFamily="18" charset="0"/>
                <a:sym typeface="Symbol" pitchFamily="18" charset="2"/>
              </a:rPr>
              <a:t>single atom.</a:t>
            </a:r>
          </a:p>
          <a:p>
            <a:r>
              <a:rPr lang="en-US" sz="2400">
                <a:solidFill>
                  <a:srgbClr val="FF3300"/>
                </a:solidFill>
                <a:latin typeface="Lucida Sans Unicode" pitchFamily="34" charset="0"/>
                <a:cs typeface="Times New Roman" pitchFamily="18" charset="0"/>
                <a:sym typeface="Symbol" pitchFamily="18" charset="2"/>
              </a:rPr>
              <a:t>Polyatomic Elements: </a:t>
            </a:r>
            <a:r>
              <a:rPr lang="en-US" sz="2400" b="1">
                <a:solidFill>
                  <a:srgbClr val="CC0099"/>
                </a:solidFill>
                <a:latin typeface="Lucida Sans Unicode" pitchFamily="34" charset="0"/>
                <a:cs typeface="Times New Roman" pitchFamily="18" charset="0"/>
                <a:sym typeface="Symbol" pitchFamily="18" charset="2"/>
              </a:rPr>
              <a:t>Basis</a:t>
            </a:r>
            <a:r>
              <a:rPr lang="en-US" sz="2400">
                <a:solidFill>
                  <a:srgbClr val="CC0099"/>
                </a:solidFill>
                <a:latin typeface="Lucida Sans Unicode" pitchFamily="34" charset="0"/>
                <a:cs typeface="Times New Roman" pitchFamily="18" charset="0"/>
                <a:sym typeface="Symbol" pitchFamily="18" charset="2"/>
              </a:rPr>
              <a:t> = </a:t>
            </a:r>
            <a:r>
              <a:rPr lang="en-US" sz="2400" b="1">
                <a:solidFill>
                  <a:srgbClr val="CC0099"/>
                </a:solidFill>
                <a:latin typeface="Lucida Sans Unicode" pitchFamily="34" charset="0"/>
                <a:cs typeface="Times New Roman" pitchFamily="18" charset="0"/>
                <a:sym typeface="Symbol" pitchFamily="18" charset="2"/>
              </a:rPr>
              <a:t>two or four atoms.</a:t>
            </a:r>
            <a:r>
              <a:rPr lang="en-US" sz="2400">
                <a:latin typeface="Lucida Sans Unicode" pitchFamily="34" charset="0"/>
                <a:cs typeface="Times New Roman" pitchFamily="18" charset="0"/>
                <a:sym typeface="Symbol" pitchFamily="18" charset="2"/>
              </a:rPr>
              <a:t>.</a:t>
            </a:r>
          </a:p>
          <a:p>
            <a:r>
              <a:rPr lang="en-US" sz="2400">
                <a:solidFill>
                  <a:srgbClr val="FF3300"/>
                </a:solidFill>
                <a:latin typeface="Lucida Sans Unicode" pitchFamily="34" charset="0"/>
              </a:rPr>
              <a:t>Complex organic compounds:</a:t>
            </a:r>
            <a:r>
              <a:rPr lang="en-US" sz="2400">
                <a:latin typeface="Lucida Sans Unicode" pitchFamily="34" charset="0"/>
              </a:rPr>
              <a:t> </a:t>
            </a:r>
            <a:r>
              <a:rPr lang="en-US" sz="2400" b="1">
                <a:solidFill>
                  <a:srgbClr val="CC0099"/>
                </a:solidFill>
                <a:latin typeface="Lucida Sans Unicode" pitchFamily="34" charset="0"/>
              </a:rPr>
              <a:t>Basis</a:t>
            </a:r>
            <a:r>
              <a:rPr lang="en-US" sz="2400">
                <a:solidFill>
                  <a:srgbClr val="CC0099"/>
                </a:solidFill>
                <a:latin typeface="Lucida Sans Unicode" pitchFamily="34" charset="0"/>
              </a:rPr>
              <a:t> = </a:t>
            </a:r>
            <a:r>
              <a:rPr lang="en-US" sz="2400" b="1">
                <a:solidFill>
                  <a:srgbClr val="CC0099"/>
                </a:solidFill>
                <a:latin typeface="Lucida Sans Unicode" pitchFamily="34" charset="0"/>
              </a:rPr>
              <a:t>thousands of atoms</a:t>
            </a:r>
            <a:r>
              <a:rPr lang="en-US" sz="2400">
                <a:solidFill>
                  <a:srgbClr val="CC0099"/>
                </a:solidFill>
                <a:latin typeface="Lucida Sans Unicode" pitchFamily="34" charset="0"/>
              </a:rPr>
              <a:t>.</a:t>
            </a:r>
          </a:p>
        </p:txBody>
      </p:sp>
      <p:sp>
        <p:nvSpPr>
          <p:cNvPr id="16390" name="Text Box 22"/>
          <p:cNvSpPr txBox="1">
            <a:spLocks noChangeArrowheads="1"/>
          </p:cNvSpPr>
          <p:nvPr/>
        </p:nvSpPr>
        <p:spPr bwMode="auto">
          <a:xfrm>
            <a:off x="2792413" y="3859213"/>
            <a:ext cx="407987" cy="457200"/>
          </a:xfrm>
          <a:prstGeom prst="rect">
            <a:avLst/>
          </a:prstGeom>
          <a:noFill/>
          <a:ln w="9525">
            <a:noFill/>
            <a:miter lim="800000"/>
            <a:headEnd/>
            <a:tailEnd/>
          </a:ln>
        </p:spPr>
        <p:txBody>
          <a:bodyPr>
            <a:spAutoFit/>
          </a:bodyPr>
          <a:lstStyle/>
          <a:p>
            <a:r>
              <a:rPr lang="en-US" sz="2400" b="1">
                <a:solidFill>
                  <a:srgbClr val="CC0099"/>
                </a:solidFill>
                <a:latin typeface="Lucida Sans Unicode" pitchFamily="34" charset="0"/>
                <a:cs typeface="Times New Roman" pitchFamily="18" charset="0"/>
              </a:rPr>
              <a:t>+</a:t>
            </a:r>
            <a:endParaRPr lang="en-US" sz="2400" b="1">
              <a:solidFill>
                <a:srgbClr val="CC0099"/>
              </a:solidFill>
              <a:latin typeface="Lucida Sans Unicode" pitchFamily="34" charset="0"/>
            </a:endParaRPr>
          </a:p>
        </p:txBody>
      </p:sp>
      <p:grpSp>
        <p:nvGrpSpPr>
          <p:cNvPr id="4" name="Group 47"/>
          <p:cNvGrpSpPr>
            <a:grpSpLocks/>
          </p:cNvGrpSpPr>
          <p:nvPr/>
        </p:nvGrpSpPr>
        <p:grpSpPr bwMode="auto">
          <a:xfrm>
            <a:off x="685800" y="3276600"/>
            <a:ext cx="7810500" cy="1909763"/>
            <a:chOff x="1046" y="2205"/>
            <a:chExt cx="4282" cy="1203"/>
          </a:xfrm>
        </p:grpSpPr>
        <p:sp>
          <p:nvSpPr>
            <p:cNvPr id="16393" name="Text Box 7"/>
            <p:cNvSpPr txBox="1">
              <a:spLocks noChangeArrowheads="1"/>
            </p:cNvSpPr>
            <p:nvPr/>
          </p:nvSpPr>
          <p:spPr bwMode="auto">
            <a:xfrm>
              <a:off x="1046" y="3120"/>
              <a:ext cx="4282" cy="288"/>
            </a:xfrm>
            <a:prstGeom prst="rect">
              <a:avLst/>
            </a:prstGeom>
            <a:noFill/>
            <a:ln w="9525">
              <a:noFill/>
              <a:miter lim="800000"/>
              <a:headEnd/>
              <a:tailEnd/>
            </a:ln>
          </p:spPr>
          <p:txBody>
            <a:bodyPr>
              <a:spAutoFit/>
            </a:bodyPr>
            <a:lstStyle/>
            <a:p>
              <a:r>
                <a:rPr lang="en-US" sz="2400">
                  <a:solidFill>
                    <a:srgbClr val="800080"/>
                  </a:solidFill>
                  <a:latin typeface="Lucida Sans Unicode" pitchFamily="34" charset="0"/>
                </a:rPr>
                <a:t>Space Lattice  </a:t>
              </a:r>
              <a:r>
                <a:rPr lang="en-US" sz="2400" b="1">
                  <a:solidFill>
                    <a:srgbClr val="800080"/>
                  </a:solidFill>
                  <a:latin typeface="Lucida Sans Unicode" pitchFamily="34" charset="0"/>
                </a:rPr>
                <a:t>+</a:t>
              </a:r>
              <a:r>
                <a:rPr lang="en-US" sz="2400">
                  <a:solidFill>
                    <a:srgbClr val="800080"/>
                  </a:solidFill>
                  <a:latin typeface="Lucida Sans Unicode" pitchFamily="34" charset="0"/>
                </a:rPr>
                <a:t>   Basis  </a:t>
              </a:r>
              <a:r>
                <a:rPr lang="en-US" sz="2400" b="1">
                  <a:solidFill>
                    <a:srgbClr val="800080"/>
                  </a:solidFill>
                  <a:latin typeface="Lucida Sans Unicode" pitchFamily="34" charset="0"/>
                </a:rPr>
                <a:t>=  </a:t>
              </a:r>
              <a:r>
                <a:rPr lang="en-US" sz="2400">
                  <a:solidFill>
                    <a:srgbClr val="800080"/>
                  </a:solidFill>
                  <a:latin typeface="Lucida Sans Unicode" pitchFamily="34" charset="0"/>
                </a:rPr>
                <a:t>Crystal Structure</a:t>
              </a:r>
            </a:p>
          </p:txBody>
        </p:sp>
        <p:graphicFrame>
          <p:nvGraphicFramePr>
            <p:cNvPr id="16394" name="Object 4"/>
            <p:cNvGraphicFramePr>
              <a:graphicFrameLocks noChangeAspect="1"/>
            </p:cNvGraphicFramePr>
            <p:nvPr/>
          </p:nvGraphicFramePr>
          <p:xfrm>
            <a:off x="3306" y="2352"/>
            <a:ext cx="534" cy="612"/>
          </p:xfrm>
          <a:graphic>
            <a:graphicData uri="http://schemas.openxmlformats.org/presentationml/2006/ole">
              <mc:AlternateContent xmlns:mc="http://schemas.openxmlformats.org/markup-compatibility/2006">
                <mc:Choice xmlns:v="urn:schemas-microsoft-com:vml" Requires="v">
                  <p:oleObj spid="_x0000_s17414" name="Bitmap Image" r:id="rId3" imgW="847843" imgH="971686" progId="PBrush">
                    <p:embed/>
                  </p:oleObj>
                </mc:Choice>
                <mc:Fallback>
                  <p:oleObj name="Bitmap Image" r:id="rId3" imgW="847843" imgH="971686" progId="PBrush">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6" y="2352"/>
                          <a:ext cx="534" cy="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5" name="Object 5"/>
            <p:cNvGraphicFramePr>
              <a:graphicFrameLocks noChangeAspect="1"/>
            </p:cNvGraphicFramePr>
            <p:nvPr/>
          </p:nvGraphicFramePr>
          <p:xfrm>
            <a:off x="2613" y="2592"/>
            <a:ext cx="192" cy="228"/>
          </p:xfrm>
          <a:graphic>
            <a:graphicData uri="http://schemas.openxmlformats.org/presentationml/2006/ole">
              <mc:AlternateContent xmlns:mc="http://schemas.openxmlformats.org/markup-compatibility/2006">
                <mc:Choice xmlns:v="urn:schemas-microsoft-com:vml" Requires="v">
                  <p:oleObj spid="_x0000_s17415" name="Bitmap Image" r:id="rId5" imgW="304923" imgH="361809" progId="PBrush">
                    <p:embed/>
                  </p:oleObj>
                </mc:Choice>
                <mc:Fallback>
                  <p:oleObj name="Bitmap Image" r:id="rId5" imgW="304923" imgH="361809"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3" y="2592"/>
                          <a:ext cx="192"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6" name="Text Box 11"/>
            <p:cNvSpPr txBox="1">
              <a:spLocks noChangeArrowheads="1"/>
            </p:cNvSpPr>
            <p:nvPr/>
          </p:nvSpPr>
          <p:spPr bwMode="auto">
            <a:xfrm>
              <a:off x="2939" y="2522"/>
              <a:ext cx="224" cy="288"/>
            </a:xfrm>
            <a:prstGeom prst="rect">
              <a:avLst/>
            </a:prstGeom>
            <a:noFill/>
            <a:ln w="9525">
              <a:noFill/>
              <a:miter lim="800000"/>
              <a:headEnd/>
              <a:tailEnd/>
            </a:ln>
          </p:spPr>
          <p:txBody>
            <a:bodyPr wrap="none">
              <a:spAutoFit/>
            </a:bodyPr>
            <a:lstStyle/>
            <a:p>
              <a:r>
                <a:rPr lang="en-US" sz="2400" b="1">
                  <a:solidFill>
                    <a:srgbClr val="CC0099"/>
                  </a:solidFill>
                  <a:latin typeface="Lucida Sans Unicode" pitchFamily="34" charset="0"/>
                  <a:cs typeface="Times New Roman" pitchFamily="18" charset="0"/>
                </a:rPr>
                <a:t>=</a:t>
              </a:r>
              <a:endParaRPr lang="en-US" sz="2400" b="1">
                <a:solidFill>
                  <a:srgbClr val="CC0099"/>
                </a:solidFill>
                <a:latin typeface="Lucida Sans Unicode" pitchFamily="34" charset="0"/>
              </a:endParaRPr>
            </a:p>
          </p:txBody>
        </p:sp>
        <p:sp>
          <p:nvSpPr>
            <p:cNvPr id="16397" name="Text Box 46"/>
            <p:cNvSpPr txBox="1">
              <a:spLocks noChangeArrowheads="1"/>
            </p:cNvSpPr>
            <p:nvPr/>
          </p:nvSpPr>
          <p:spPr bwMode="auto">
            <a:xfrm>
              <a:off x="1104" y="2205"/>
              <a:ext cx="1152" cy="892"/>
            </a:xfrm>
            <a:prstGeom prst="rect">
              <a:avLst/>
            </a:prstGeom>
            <a:noFill/>
            <a:ln w="9525">
              <a:noFill/>
              <a:miter lim="800000"/>
              <a:headEnd/>
              <a:tailEnd/>
            </a:ln>
          </p:spPr>
          <p:txBody>
            <a:bodyPr>
              <a:spAutoFit/>
            </a:bodyPr>
            <a:lstStyle/>
            <a:p>
              <a:pPr>
                <a:lnSpc>
                  <a:spcPct val="70000"/>
                </a:lnSpc>
                <a:spcBef>
                  <a:spcPct val="50000"/>
                </a:spcBef>
              </a:pPr>
              <a:r>
                <a:rPr lang="en-US" sz="2800">
                  <a:latin typeface="Lucida Sans Unicode" pitchFamily="34" charset="0"/>
                  <a:cs typeface="Times New Roman" pitchFamily="18" charset="0"/>
                </a:rPr>
                <a:t>•     •     •</a:t>
              </a:r>
            </a:p>
            <a:p>
              <a:pPr>
                <a:lnSpc>
                  <a:spcPct val="70000"/>
                </a:lnSpc>
                <a:spcBef>
                  <a:spcPct val="50000"/>
                </a:spcBef>
              </a:pPr>
              <a:r>
                <a:rPr lang="en-US" sz="2800">
                  <a:latin typeface="Lucida Sans Unicode" pitchFamily="34" charset="0"/>
                  <a:cs typeface="Times New Roman" pitchFamily="18" charset="0"/>
                </a:rPr>
                <a:t>•     •     •</a:t>
              </a:r>
            </a:p>
            <a:p>
              <a:pPr>
                <a:lnSpc>
                  <a:spcPct val="70000"/>
                </a:lnSpc>
                <a:spcBef>
                  <a:spcPct val="50000"/>
                </a:spcBef>
              </a:pPr>
              <a:r>
                <a:rPr lang="en-US" sz="2800">
                  <a:latin typeface="Lucida Sans Unicode" pitchFamily="34" charset="0"/>
                  <a:cs typeface="Times New Roman" pitchFamily="18" charset="0"/>
                </a:rPr>
                <a:t>•     •     •</a:t>
              </a:r>
              <a:endParaRPr lang="en-US" sz="2800">
                <a:latin typeface="Lucida Sans Unicode" pitchFamily="34" charset="0"/>
              </a:endParaRPr>
            </a:p>
          </p:txBody>
        </p:sp>
      </p:grpSp>
      <p:sp>
        <p:nvSpPr>
          <p:cNvPr id="16392" name="Text Box 46"/>
          <p:cNvSpPr txBox="1">
            <a:spLocks noChangeArrowheads="1"/>
          </p:cNvSpPr>
          <p:nvPr/>
        </p:nvSpPr>
        <p:spPr bwMode="auto">
          <a:xfrm>
            <a:off x="609600" y="3344863"/>
            <a:ext cx="2514600" cy="1428750"/>
          </a:xfrm>
          <a:prstGeom prst="rect">
            <a:avLst/>
          </a:prstGeom>
          <a:noFill/>
          <a:ln w="9525">
            <a:noFill/>
            <a:miter lim="800000"/>
            <a:headEnd/>
            <a:tailEnd/>
          </a:ln>
        </p:spPr>
        <p:txBody>
          <a:bodyPr>
            <a:spAutoFit/>
          </a:bodyPr>
          <a:lstStyle/>
          <a:p>
            <a:pPr>
              <a:lnSpc>
                <a:spcPct val="70000"/>
              </a:lnSpc>
              <a:spcBef>
                <a:spcPct val="50000"/>
              </a:spcBef>
            </a:pPr>
            <a:r>
              <a:rPr lang="en-US" sz="2800">
                <a:solidFill>
                  <a:schemeClr val="bg1"/>
                </a:solidFill>
                <a:latin typeface="Lucida Sans Unicode" pitchFamily="34" charset="0"/>
                <a:cs typeface="Times New Roman" pitchFamily="18" charset="0"/>
              </a:rPr>
              <a:t>•     •     •</a:t>
            </a:r>
          </a:p>
          <a:p>
            <a:pPr>
              <a:lnSpc>
                <a:spcPct val="70000"/>
              </a:lnSpc>
              <a:spcBef>
                <a:spcPct val="50000"/>
              </a:spcBef>
            </a:pPr>
            <a:r>
              <a:rPr lang="en-US" sz="2800">
                <a:solidFill>
                  <a:schemeClr val="bg1"/>
                </a:solidFill>
                <a:latin typeface="Lucida Sans Unicode" pitchFamily="34" charset="0"/>
                <a:cs typeface="Times New Roman" pitchFamily="18" charset="0"/>
              </a:rPr>
              <a:t>•     •     •</a:t>
            </a:r>
          </a:p>
          <a:p>
            <a:pPr>
              <a:lnSpc>
                <a:spcPct val="70000"/>
              </a:lnSpc>
              <a:spcBef>
                <a:spcPct val="50000"/>
              </a:spcBef>
            </a:pPr>
            <a:r>
              <a:rPr lang="en-US" sz="2800">
                <a:solidFill>
                  <a:schemeClr val="bg1"/>
                </a:solidFill>
                <a:latin typeface="Lucida Sans Unicode" pitchFamily="34" charset="0"/>
                <a:cs typeface="Times New Roman" pitchFamily="18" charset="0"/>
              </a:rPr>
              <a:t>•     •     •</a:t>
            </a:r>
            <a:endParaRPr lang="en-US" sz="2800">
              <a:solidFill>
                <a:schemeClr val="bg1"/>
              </a:solidFill>
              <a:latin typeface="Lucida Sans Unicode" pitchFamily="34" charset="0"/>
            </a:endParaRPr>
          </a:p>
        </p:txBody>
      </p:sp>
    </p:spTree>
    <p:extLst>
      <p:ext uri="{BB962C8B-B14F-4D97-AF65-F5344CB8AC3E}">
        <p14:creationId xmlns:p14="http://schemas.microsoft.com/office/powerpoint/2010/main" val="1264203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9"/>
                                        </p:tgtEl>
                                        <p:attrNameLst>
                                          <p:attrName>style.visibility</p:attrName>
                                        </p:attrNameLst>
                                      </p:cBhvr>
                                      <p:to>
                                        <p:strVal val="visible"/>
                                      </p:to>
                                    </p:set>
                                    <p:animEffect transition="in" filter="blinds(horizontal)">
                                      <p:cBhvr>
                                        <p:cTn id="17" dur="500"/>
                                        <p:tgtEl>
                                          <p:spTgt spid="3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07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14"/>
          <p:cNvPicPr>
            <a:picLocks noChangeAspect="1" noChangeArrowheads="1"/>
          </p:cNvPicPr>
          <p:nvPr/>
        </p:nvPicPr>
        <p:blipFill>
          <a:blip r:embed="rId2"/>
          <a:srcRect t="30710"/>
          <a:stretch>
            <a:fillRect/>
          </a:stretch>
        </p:blipFill>
        <p:spPr bwMode="auto">
          <a:xfrm>
            <a:off x="609600" y="1981200"/>
            <a:ext cx="7516813" cy="4556125"/>
          </a:xfrm>
          <a:prstGeom prst="rect">
            <a:avLst/>
          </a:prstGeom>
          <a:noFill/>
          <a:ln w="9525">
            <a:noFill/>
            <a:miter lim="800000"/>
            <a:headEnd/>
            <a:tailEnd/>
          </a:ln>
        </p:spPr>
      </p:pic>
      <p:sp>
        <p:nvSpPr>
          <p:cNvPr id="17411" name="Rectangle 83"/>
          <p:cNvSpPr>
            <a:spLocks noChangeArrowheads="1"/>
          </p:cNvSpPr>
          <p:nvPr/>
        </p:nvSpPr>
        <p:spPr bwMode="auto">
          <a:xfrm>
            <a:off x="6019800" y="6459538"/>
            <a:ext cx="5638800" cy="246062"/>
          </a:xfrm>
          <a:prstGeom prst="rect">
            <a:avLst/>
          </a:prstGeom>
          <a:noFill/>
          <a:ln w="9525">
            <a:noFill/>
            <a:miter lim="800000"/>
            <a:headEnd/>
            <a:tailEnd/>
          </a:ln>
        </p:spPr>
        <p:txBody>
          <a:bodyPr>
            <a:spAutoFit/>
          </a:bodyPr>
          <a:lstStyle/>
          <a:p>
            <a:r>
              <a:rPr lang="en-US" sz="1000" i="1">
                <a:solidFill>
                  <a:schemeClr val="bg1"/>
                </a:solidFill>
                <a:latin typeface="Lucida Sans Unicode" pitchFamily="34" charset="0"/>
              </a:rPr>
              <a:t>203.199.213.48/834/1/</a:t>
            </a:r>
            <a:r>
              <a:rPr lang="en-US" sz="1000" b="1" i="1">
                <a:solidFill>
                  <a:schemeClr val="bg1"/>
                </a:solidFill>
                <a:latin typeface="Lucida Sans Unicode" pitchFamily="34" charset="0"/>
              </a:rPr>
              <a:t>Structuresofsolids</a:t>
            </a:r>
            <a:r>
              <a:rPr lang="en-US" sz="1000" i="1">
                <a:solidFill>
                  <a:schemeClr val="bg1"/>
                </a:solidFill>
                <a:latin typeface="Lucida Sans Unicode" pitchFamily="34" charset="0"/>
              </a:rPr>
              <a:t>.</a:t>
            </a:r>
            <a:r>
              <a:rPr lang="en-US" sz="1000" b="1" i="1">
                <a:solidFill>
                  <a:schemeClr val="bg1"/>
                </a:solidFill>
                <a:latin typeface="Lucida Sans Unicode" pitchFamily="34" charset="0"/>
              </a:rPr>
              <a:t>ppt</a:t>
            </a:r>
            <a:endParaRPr lang="en-US" sz="1000">
              <a:solidFill>
                <a:schemeClr val="bg1"/>
              </a:solidFill>
              <a:latin typeface="Lucida Sans Unicode" pitchFamily="34" charset="0"/>
            </a:endParaRPr>
          </a:p>
        </p:txBody>
      </p:sp>
      <p:pic>
        <p:nvPicPr>
          <p:cNvPr id="4" name="Picture 14"/>
          <p:cNvPicPr>
            <a:picLocks noChangeAspect="1" noChangeArrowheads="1"/>
          </p:cNvPicPr>
          <p:nvPr/>
        </p:nvPicPr>
        <p:blipFill>
          <a:blip r:embed="rId2"/>
          <a:srcRect b="72186"/>
          <a:stretch>
            <a:fillRect/>
          </a:stretch>
        </p:blipFill>
        <p:spPr bwMode="auto">
          <a:xfrm>
            <a:off x="1066800" y="0"/>
            <a:ext cx="7516813" cy="1828800"/>
          </a:xfrm>
          <a:prstGeom prst="rect">
            <a:avLst/>
          </a:prstGeom>
          <a:noFill/>
          <a:ln w="9525">
            <a:noFill/>
            <a:miter lim="800000"/>
            <a:headEnd/>
            <a:tailEnd/>
          </a:ln>
        </p:spPr>
      </p:pic>
    </p:spTree>
    <p:extLst>
      <p:ext uri="{BB962C8B-B14F-4D97-AF65-F5344CB8AC3E}">
        <p14:creationId xmlns:p14="http://schemas.microsoft.com/office/powerpoint/2010/main" val="2497247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4818"/>
                                        </p:tgtEl>
                                        <p:attrNameLst>
                                          <p:attrName>style.visibility</p:attrName>
                                        </p:attrNameLst>
                                      </p:cBhvr>
                                      <p:to>
                                        <p:strVal val="visible"/>
                                      </p:to>
                                    </p:set>
                                    <p:animEffect transition="in" filter="blinds(horizontal)">
                                      <p:cBhvr>
                                        <p:cTn id="12" dur="500"/>
                                        <p:tgtEl>
                                          <p:spTgt spid="34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3"/>
          <p:cNvSpPr txBox="1">
            <a:spLocks noChangeArrowheads="1"/>
          </p:cNvSpPr>
          <p:nvPr/>
        </p:nvSpPr>
        <p:spPr bwMode="auto">
          <a:xfrm>
            <a:off x="838200" y="5305425"/>
            <a:ext cx="7869238" cy="1552575"/>
          </a:xfrm>
          <a:prstGeom prst="rect">
            <a:avLst/>
          </a:prstGeom>
          <a:noFill/>
          <a:ln w="9525">
            <a:noFill/>
            <a:miter lim="800000"/>
            <a:headEnd/>
            <a:tailEnd/>
          </a:ln>
        </p:spPr>
        <p:txBody>
          <a:bodyPr>
            <a:spAutoFit/>
          </a:bodyPr>
          <a:lstStyle/>
          <a:p>
            <a:r>
              <a:rPr lang="en-US">
                <a:latin typeface="Lucida Sans Unicode" pitchFamily="34" charset="0"/>
              </a:rPr>
              <a:t>A crystal’s unit cell dimensions are defined by six numbers, the lengths of the 3 axes, a, b, and c, and the three interaxial angles, </a:t>
            </a:r>
            <a:r>
              <a:rPr lang="en-US">
                <a:latin typeface="Lucida Sans Unicode" pitchFamily="34" charset="0"/>
                <a:sym typeface="Symbol" pitchFamily="18" charset="2"/>
              </a:rPr>
              <a:t>,  and .</a:t>
            </a:r>
            <a:endParaRPr lang="en-US">
              <a:latin typeface="Lucida Sans Unicode" pitchFamily="34" charset="0"/>
            </a:endParaRPr>
          </a:p>
          <a:p>
            <a:endParaRPr lang="en-US">
              <a:latin typeface="Lucida Sans Unicode" pitchFamily="34" charset="0"/>
            </a:endParaRPr>
          </a:p>
        </p:txBody>
      </p:sp>
      <p:pic>
        <p:nvPicPr>
          <p:cNvPr id="35843" name="Picture 14"/>
          <p:cNvPicPr>
            <a:picLocks noChangeAspect="1" noChangeArrowheads="1"/>
          </p:cNvPicPr>
          <p:nvPr/>
        </p:nvPicPr>
        <p:blipFill>
          <a:blip r:embed="rId2"/>
          <a:srcRect/>
          <a:stretch>
            <a:fillRect/>
          </a:stretch>
        </p:blipFill>
        <p:spPr bwMode="auto">
          <a:xfrm>
            <a:off x="1295400" y="2286000"/>
            <a:ext cx="5638800" cy="2981325"/>
          </a:xfrm>
          <a:prstGeom prst="rect">
            <a:avLst/>
          </a:prstGeom>
          <a:noFill/>
          <a:ln w="9525">
            <a:noFill/>
            <a:miter lim="800000"/>
            <a:headEnd/>
            <a:tailEnd/>
          </a:ln>
        </p:spPr>
      </p:pic>
      <p:sp>
        <p:nvSpPr>
          <p:cNvPr id="35844" name="Rectangle 8"/>
          <p:cNvSpPr>
            <a:spLocks noChangeArrowheads="1"/>
          </p:cNvSpPr>
          <p:nvPr/>
        </p:nvSpPr>
        <p:spPr bwMode="auto">
          <a:xfrm>
            <a:off x="914400" y="1219200"/>
            <a:ext cx="7086600" cy="822325"/>
          </a:xfrm>
          <a:prstGeom prst="rect">
            <a:avLst/>
          </a:prstGeom>
          <a:noFill/>
          <a:ln w="9525">
            <a:noFill/>
            <a:miter lim="800000"/>
            <a:headEnd/>
            <a:tailEnd/>
          </a:ln>
        </p:spPr>
        <p:txBody>
          <a:bodyPr anchor="ctr">
            <a:spAutoFit/>
          </a:bodyPr>
          <a:lstStyle/>
          <a:p>
            <a:r>
              <a:rPr lang="en-US">
                <a:latin typeface="Lucida Sans Unicode" pitchFamily="34" charset="0"/>
              </a:rPr>
              <a:t>Unit cell is the smallest unit of a crystal, which, if repeated, could generate the whole crystal. </a:t>
            </a:r>
          </a:p>
        </p:txBody>
      </p:sp>
      <p:sp>
        <p:nvSpPr>
          <p:cNvPr id="7177" name="Text Box 9"/>
          <p:cNvSpPr txBox="1">
            <a:spLocks noChangeArrowheads="1"/>
          </p:cNvSpPr>
          <p:nvPr/>
        </p:nvSpPr>
        <p:spPr bwMode="auto">
          <a:xfrm>
            <a:off x="381000" y="152400"/>
            <a:ext cx="8305800" cy="1077913"/>
          </a:xfrm>
          <a:prstGeom prst="rect">
            <a:avLst/>
          </a:prstGeom>
          <a:noFill/>
          <a:ln w="9525">
            <a:noFill/>
            <a:miter lim="800000"/>
            <a:headEnd/>
            <a:tailEnd/>
          </a:ln>
          <a:effectLst/>
        </p:spPr>
        <p:txBody>
          <a:bodyPr>
            <a:spAutoFit/>
          </a:bodyPr>
          <a:lstStyle/>
          <a:p>
            <a:pPr algn="ctr" fontAlgn="auto">
              <a:spcBef>
                <a:spcPts val="0"/>
              </a:spcBef>
              <a:spcAft>
                <a:spcPts val="0"/>
              </a:spcAft>
              <a:defRPr/>
            </a:pPr>
            <a:r>
              <a:rPr lang="en-US" sz="3200" dirty="0">
                <a:solidFill>
                  <a:schemeClr val="bg2">
                    <a:lumMod val="50000"/>
                  </a:schemeClr>
                </a:solidFill>
                <a:latin typeface="+mn-lt"/>
              </a:rPr>
              <a:t>Crystals are made of infinite number of unit cells</a:t>
            </a:r>
          </a:p>
        </p:txBody>
      </p:sp>
      <p:sp>
        <p:nvSpPr>
          <p:cNvPr id="18438" name="Rectangle 5"/>
          <p:cNvSpPr>
            <a:spLocks noChangeArrowheads="1"/>
          </p:cNvSpPr>
          <p:nvPr/>
        </p:nvSpPr>
        <p:spPr bwMode="auto">
          <a:xfrm>
            <a:off x="6019800" y="66119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Tree>
    <p:extLst>
      <p:ext uri="{BB962C8B-B14F-4D97-AF65-F5344CB8AC3E}">
        <p14:creationId xmlns:p14="http://schemas.microsoft.com/office/powerpoint/2010/main" val="36474600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blinds(horizontal)">
                                      <p:cBhvr>
                                        <p:cTn id="7" dur="500"/>
                                        <p:tgtEl>
                                          <p:spTgt spid="358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843"/>
                                        </p:tgtEl>
                                        <p:attrNameLst>
                                          <p:attrName>style.visibility</p:attrName>
                                        </p:attrNameLst>
                                      </p:cBhvr>
                                      <p:to>
                                        <p:strVal val="visible"/>
                                      </p:to>
                                    </p:set>
                                    <p:animEffect transition="in" filter="blinds(horizontal)">
                                      <p:cBhvr>
                                        <p:cTn id="12" dur="500"/>
                                        <p:tgtEl>
                                          <p:spTgt spid="358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2"/>
                                        </p:tgtEl>
                                        <p:attrNameLst>
                                          <p:attrName>style.visibility</p:attrName>
                                        </p:attrNameLst>
                                      </p:cBhvr>
                                      <p:to>
                                        <p:strVal val="visible"/>
                                      </p:to>
                                    </p:set>
                                    <p:animEffect transition="in" filter="blinds(horizontal)">
                                      <p:cBhvr>
                                        <p:cTn id="17" dur="500"/>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4"/>
          <p:cNvPicPr>
            <a:picLocks noChangeAspect="1" noChangeArrowheads="1"/>
          </p:cNvPicPr>
          <p:nvPr/>
        </p:nvPicPr>
        <p:blipFill>
          <a:blip r:embed="rId2"/>
          <a:srcRect/>
          <a:stretch>
            <a:fillRect/>
          </a:stretch>
        </p:blipFill>
        <p:spPr bwMode="auto">
          <a:xfrm>
            <a:off x="442913" y="4724400"/>
            <a:ext cx="7710487" cy="774700"/>
          </a:xfrm>
          <a:prstGeom prst="rect">
            <a:avLst/>
          </a:prstGeom>
          <a:noFill/>
          <a:ln w="9525">
            <a:noFill/>
            <a:miter lim="800000"/>
            <a:headEnd/>
            <a:tailEnd/>
          </a:ln>
        </p:spPr>
      </p:pic>
      <p:pic>
        <p:nvPicPr>
          <p:cNvPr id="19459" name="Picture 2"/>
          <p:cNvPicPr>
            <a:picLocks noChangeAspect="1" noChangeArrowheads="1"/>
          </p:cNvPicPr>
          <p:nvPr/>
        </p:nvPicPr>
        <p:blipFill>
          <a:blip r:embed="rId3"/>
          <a:srcRect/>
          <a:stretch>
            <a:fillRect/>
          </a:stretch>
        </p:blipFill>
        <p:spPr bwMode="auto">
          <a:xfrm>
            <a:off x="304800" y="457200"/>
            <a:ext cx="8839200" cy="1003300"/>
          </a:xfrm>
          <a:prstGeom prst="rect">
            <a:avLst/>
          </a:prstGeom>
          <a:noFill/>
          <a:ln w="9525">
            <a:noFill/>
            <a:miter lim="800000"/>
            <a:headEnd/>
            <a:tailEnd/>
          </a:ln>
        </p:spPr>
      </p:pic>
      <p:sp>
        <p:nvSpPr>
          <p:cNvPr id="3" name="Rectangle 3"/>
          <p:cNvSpPr>
            <a:spLocks noChangeArrowheads="1"/>
          </p:cNvSpPr>
          <p:nvPr/>
        </p:nvSpPr>
        <p:spPr bwMode="auto">
          <a:xfrm>
            <a:off x="1600200" y="0"/>
            <a:ext cx="6400800" cy="854075"/>
          </a:xfrm>
          <a:prstGeom prst="rect">
            <a:avLst/>
          </a:prstGeom>
          <a:noFill/>
          <a:ln w="9525">
            <a:noFill/>
            <a:miter lim="800000"/>
            <a:headEnd/>
            <a:tailEnd/>
          </a:ln>
          <a:effectLst/>
        </p:spPr>
        <p:txBody>
          <a:bodyPr>
            <a:spAutoFit/>
          </a:bodyPr>
          <a:lstStyle/>
          <a:p>
            <a:pPr algn="ctr" fontAlgn="auto">
              <a:spcBef>
                <a:spcPts val="0"/>
              </a:spcBef>
              <a:spcAft>
                <a:spcPts val="0"/>
              </a:spcAft>
              <a:defRPr/>
            </a:pPr>
            <a:r>
              <a:rPr lang="en-US" sz="2600" b="1" dirty="0">
                <a:solidFill>
                  <a:schemeClr val="bg2">
                    <a:lumMod val="50000"/>
                  </a:schemeClr>
                </a:solidFill>
                <a:latin typeface="+mn-lt"/>
              </a:rPr>
              <a:t>Unit Cell Concept</a:t>
            </a:r>
          </a:p>
          <a:p>
            <a:pPr algn="ctr" eaLnBrk="0" fontAlgn="auto" hangingPunct="0">
              <a:spcBef>
                <a:spcPts val="0"/>
              </a:spcBef>
              <a:spcAft>
                <a:spcPts val="0"/>
              </a:spcAft>
              <a:defRPr/>
            </a:pPr>
            <a:endParaRPr lang="en-US" sz="2400" dirty="0">
              <a:solidFill>
                <a:schemeClr val="bg2">
                  <a:lumMod val="50000"/>
                </a:schemeClr>
              </a:solidFill>
              <a:latin typeface="+mn-lt"/>
            </a:endParaRPr>
          </a:p>
        </p:txBody>
      </p:sp>
      <p:pic>
        <p:nvPicPr>
          <p:cNvPr id="36869" name="Picture 3"/>
          <p:cNvPicPr>
            <a:picLocks noChangeAspect="1" noChangeArrowheads="1"/>
          </p:cNvPicPr>
          <p:nvPr/>
        </p:nvPicPr>
        <p:blipFill>
          <a:blip r:embed="rId4"/>
          <a:srcRect b="24138"/>
          <a:stretch>
            <a:fillRect/>
          </a:stretch>
        </p:blipFill>
        <p:spPr bwMode="auto">
          <a:xfrm>
            <a:off x="11113" y="1524000"/>
            <a:ext cx="9132887" cy="3352800"/>
          </a:xfrm>
          <a:prstGeom prst="rect">
            <a:avLst/>
          </a:prstGeom>
          <a:noFill/>
          <a:ln w="9525">
            <a:noFill/>
            <a:miter lim="800000"/>
            <a:headEnd/>
            <a:tailEnd/>
          </a:ln>
        </p:spPr>
      </p:pic>
      <p:pic>
        <p:nvPicPr>
          <p:cNvPr id="36870" name="Picture 5"/>
          <p:cNvPicPr>
            <a:picLocks noChangeAspect="1" noChangeArrowheads="1"/>
          </p:cNvPicPr>
          <p:nvPr/>
        </p:nvPicPr>
        <p:blipFill>
          <a:blip r:embed="rId5"/>
          <a:srcRect/>
          <a:stretch>
            <a:fillRect/>
          </a:stretch>
        </p:blipFill>
        <p:spPr bwMode="auto">
          <a:xfrm>
            <a:off x="381000" y="5562600"/>
            <a:ext cx="8534400" cy="639763"/>
          </a:xfrm>
          <a:prstGeom prst="rect">
            <a:avLst/>
          </a:prstGeom>
          <a:noFill/>
          <a:ln w="9525">
            <a:noFill/>
            <a:miter lim="800000"/>
            <a:headEnd/>
            <a:tailEnd/>
          </a:ln>
        </p:spPr>
      </p:pic>
    </p:spTree>
    <p:extLst>
      <p:ext uri="{BB962C8B-B14F-4D97-AF65-F5344CB8AC3E}">
        <p14:creationId xmlns:p14="http://schemas.microsoft.com/office/powerpoint/2010/main" val="139959546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869"/>
                                        </p:tgtEl>
                                        <p:attrNameLst>
                                          <p:attrName>style.visibility</p:attrName>
                                        </p:attrNameLst>
                                      </p:cBhvr>
                                      <p:to>
                                        <p:strVal val="visible"/>
                                      </p:to>
                                    </p:set>
                                    <p:anim calcmode="lin" valueType="num">
                                      <p:cBhvr additive="base">
                                        <p:cTn id="7" dur="500" fill="hold"/>
                                        <p:tgtEl>
                                          <p:spTgt spid="36869"/>
                                        </p:tgtEl>
                                        <p:attrNameLst>
                                          <p:attrName>ppt_x</p:attrName>
                                        </p:attrNameLst>
                                      </p:cBhvr>
                                      <p:tavLst>
                                        <p:tav tm="0">
                                          <p:val>
                                            <p:strVal val="#ppt_x"/>
                                          </p:val>
                                        </p:tav>
                                        <p:tav tm="100000">
                                          <p:val>
                                            <p:strVal val="#ppt_x"/>
                                          </p:val>
                                        </p:tav>
                                      </p:tavLst>
                                    </p:anim>
                                    <p:anim calcmode="lin" valueType="num">
                                      <p:cBhvr additive="base">
                                        <p:cTn id="8" dur="500" fill="hold"/>
                                        <p:tgtEl>
                                          <p:spTgt spid="3686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6870"/>
                                        </p:tgtEl>
                                        <p:attrNameLst>
                                          <p:attrName>style.visibility</p:attrName>
                                        </p:attrNameLst>
                                      </p:cBhvr>
                                      <p:to>
                                        <p:strVal val="visible"/>
                                      </p:to>
                                    </p:set>
                                    <p:animEffect transition="in" filter="blinds(horizontal)">
                                      <p:cBhvr>
                                        <p:cTn id="13" dur="500"/>
                                        <p:tgtEl>
                                          <p:spTgt spid="36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srcRect b="5746"/>
          <a:stretch>
            <a:fillRect/>
          </a:stretch>
        </p:blipFill>
        <p:spPr bwMode="auto">
          <a:xfrm>
            <a:off x="0" y="0"/>
            <a:ext cx="9166225" cy="6248400"/>
          </a:xfrm>
          <a:prstGeom prst="rect">
            <a:avLst/>
          </a:prstGeom>
          <a:noFill/>
          <a:ln w="9525">
            <a:noFill/>
            <a:miter lim="800000"/>
            <a:headEnd/>
            <a:tailEnd/>
          </a:ln>
        </p:spPr>
      </p:pic>
      <p:sp>
        <p:nvSpPr>
          <p:cNvPr id="20483" name="Rectangle 2"/>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Tree>
    <p:extLst>
      <p:ext uri="{BB962C8B-B14F-4D97-AF65-F5344CB8AC3E}">
        <p14:creationId xmlns:p14="http://schemas.microsoft.com/office/powerpoint/2010/main" val="25318836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Rectangle 4"/>
          <p:cNvSpPr>
            <a:spLocks noChangeArrowheads="1"/>
          </p:cNvSpPr>
          <p:nvPr/>
        </p:nvSpPr>
        <p:spPr bwMode="auto">
          <a:xfrm>
            <a:off x="457200" y="0"/>
            <a:ext cx="8229600" cy="1143000"/>
          </a:xfrm>
          <a:prstGeom prst="rect">
            <a:avLst/>
          </a:prstGeom>
          <a:noFill/>
          <a:ln w="9525">
            <a:noFill/>
            <a:miter lim="800000"/>
            <a:headEnd/>
            <a:tailEnd/>
          </a:ln>
          <a:effectLst/>
        </p:spPr>
        <p:txBody>
          <a:bodyPr anchor="ctr"/>
          <a:lstStyle/>
          <a:p>
            <a:pPr algn="ctr" fontAlgn="auto">
              <a:spcBef>
                <a:spcPts val="0"/>
              </a:spcBef>
              <a:spcAft>
                <a:spcPts val="0"/>
              </a:spcAft>
              <a:defRPr/>
            </a:pPr>
            <a:r>
              <a:rPr lang="en-US" sz="3200" dirty="0">
                <a:solidFill>
                  <a:schemeClr val="bg2">
                    <a:lumMod val="50000"/>
                  </a:schemeClr>
                </a:solidFill>
                <a:latin typeface="+mn-lt"/>
              </a:rPr>
              <a:t>A crystal lattice is a 3-D stack of unit cells</a:t>
            </a:r>
          </a:p>
        </p:txBody>
      </p:sp>
      <p:graphicFrame>
        <p:nvGraphicFramePr>
          <p:cNvPr id="4098" name="Object 2"/>
          <p:cNvGraphicFramePr>
            <a:graphicFrameLocks noChangeAspect="1"/>
          </p:cNvGraphicFramePr>
          <p:nvPr/>
        </p:nvGraphicFramePr>
        <p:xfrm>
          <a:off x="1828800" y="1397000"/>
          <a:ext cx="4953000" cy="3556000"/>
        </p:xfrm>
        <a:graphic>
          <a:graphicData uri="http://schemas.openxmlformats.org/presentationml/2006/ole">
            <mc:AlternateContent xmlns:mc="http://schemas.openxmlformats.org/markup-compatibility/2006">
              <mc:Choice xmlns:v="urn:schemas-microsoft-com:vml" Requires="v">
                <p:oleObj spid="_x0000_s18436" name="Image" r:id="rId3" imgW="2892313" imgH="2121053" progId="">
                  <p:embed/>
                </p:oleObj>
              </mc:Choice>
              <mc:Fallback>
                <p:oleObj name="Image" r:id="rId3" imgW="2892313" imgH="2121053"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397000"/>
                        <a:ext cx="4953000" cy="355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1" name="Rectangle 9"/>
          <p:cNvSpPr>
            <a:spLocks noChangeArrowheads="1"/>
          </p:cNvSpPr>
          <p:nvPr/>
        </p:nvSpPr>
        <p:spPr bwMode="auto">
          <a:xfrm>
            <a:off x="0" y="4953000"/>
            <a:ext cx="9296400" cy="1311275"/>
          </a:xfrm>
          <a:prstGeom prst="rect">
            <a:avLst/>
          </a:prstGeom>
          <a:noFill/>
          <a:ln w="9525">
            <a:noFill/>
            <a:miter lim="800000"/>
            <a:headEnd/>
            <a:tailEnd/>
          </a:ln>
        </p:spPr>
        <p:txBody>
          <a:bodyPr anchor="ctr">
            <a:spAutoFit/>
          </a:bodyPr>
          <a:lstStyle/>
          <a:p>
            <a:r>
              <a:rPr lang="en-US" sz="2000">
                <a:latin typeface="Lucida Sans Unicode" pitchFamily="34" charset="0"/>
              </a:rPr>
              <a:t>Crystal lattice is an imaginative grid system in three dimensions in which every point (or node) has an environment that is identical to that of any other point or node.</a:t>
            </a:r>
            <a:br>
              <a:rPr lang="en-US" sz="2000">
                <a:latin typeface="Lucida Sans Unicode" pitchFamily="34" charset="0"/>
              </a:rPr>
            </a:br>
            <a:endParaRPr lang="en-US" sz="2000">
              <a:latin typeface="Lucida Sans Unicode" pitchFamily="34" charset="0"/>
            </a:endParaRPr>
          </a:p>
        </p:txBody>
      </p:sp>
      <p:sp>
        <p:nvSpPr>
          <p:cNvPr id="21509" name="Rectangle 4"/>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Tree>
    <p:extLst>
      <p:ext uri="{BB962C8B-B14F-4D97-AF65-F5344CB8AC3E}">
        <p14:creationId xmlns:p14="http://schemas.microsoft.com/office/powerpoint/2010/main" val="29285353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additive="base">
                                        <p:cTn id="7" dur="500" fill="hold"/>
                                        <p:tgtEl>
                                          <p:spTgt spid="4098"/>
                                        </p:tgtEl>
                                        <p:attrNameLst>
                                          <p:attrName>ppt_x</p:attrName>
                                        </p:attrNameLst>
                                      </p:cBhvr>
                                      <p:tavLst>
                                        <p:tav tm="0">
                                          <p:val>
                                            <p:strVal val="#ppt_x"/>
                                          </p:val>
                                        </p:tav>
                                        <p:tav tm="100000">
                                          <p:val>
                                            <p:strVal val="#ppt_x"/>
                                          </p:val>
                                        </p:tav>
                                      </p:tavLst>
                                    </p:anim>
                                    <p:anim calcmode="lin" valueType="num">
                                      <p:cBhvr additive="base">
                                        <p:cTn id="8"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01"/>
                                        </p:tgtEl>
                                        <p:attrNameLst>
                                          <p:attrName>style.visibility</p:attrName>
                                        </p:attrNameLst>
                                      </p:cBhvr>
                                      <p:to>
                                        <p:strVal val="visible"/>
                                      </p:to>
                                    </p:set>
                                    <p:anim calcmode="lin" valueType="num">
                                      <p:cBhvr additive="base">
                                        <p:cTn id="13" dur="500" fill="hold"/>
                                        <p:tgtEl>
                                          <p:spTgt spid="4101"/>
                                        </p:tgtEl>
                                        <p:attrNameLst>
                                          <p:attrName>ppt_x</p:attrName>
                                        </p:attrNameLst>
                                      </p:cBhvr>
                                      <p:tavLst>
                                        <p:tav tm="0">
                                          <p:val>
                                            <p:strVal val="#ppt_x"/>
                                          </p:val>
                                        </p:tav>
                                        <p:tav tm="100000">
                                          <p:val>
                                            <p:strVal val="#ppt_x"/>
                                          </p:val>
                                        </p:tav>
                                      </p:tavLst>
                                    </p:anim>
                                    <p:anim calcmode="lin" valueType="num">
                                      <p:cBhvr additive="base">
                                        <p:cTn id="14" dur="500" fill="hold"/>
                                        <p:tgtEl>
                                          <p:spTgt spid="4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0" y="0"/>
            <a:ext cx="8229600" cy="1143000"/>
          </a:xfrm>
        </p:spPr>
        <p:txBody>
          <a:bodyPr/>
          <a:lstStyle/>
          <a:p>
            <a:pPr eaLnBrk="1" fontAlgn="auto" hangingPunct="1">
              <a:spcAft>
                <a:spcPts val="0"/>
              </a:spcAft>
              <a:defRPr/>
            </a:pPr>
            <a:r>
              <a:rPr lang="en-US" dirty="0">
                <a:solidFill>
                  <a:schemeClr val="bg2">
                    <a:lumMod val="50000"/>
                  </a:schemeClr>
                </a:solidFill>
              </a:rPr>
              <a:t>Miller indices</a:t>
            </a:r>
          </a:p>
        </p:txBody>
      </p:sp>
      <p:sp>
        <p:nvSpPr>
          <p:cNvPr id="38915" name="Rectangle 4"/>
          <p:cNvSpPr>
            <a:spLocks noChangeArrowheads="1"/>
          </p:cNvSpPr>
          <p:nvPr/>
        </p:nvSpPr>
        <p:spPr bwMode="auto">
          <a:xfrm>
            <a:off x="0" y="1250950"/>
            <a:ext cx="8915400" cy="4156075"/>
          </a:xfrm>
          <a:prstGeom prst="rect">
            <a:avLst/>
          </a:prstGeom>
          <a:noFill/>
          <a:ln w="9525">
            <a:noFill/>
            <a:miter lim="800000"/>
            <a:headEnd/>
            <a:tailEnd/>
          </a:ln>
        </p:spPr>
        <p:txBody>
          <a:bodyPr anchor="ctr">
            <a:spAutoFit/>
          </a:bodyPr>
          <a:lstStyle/>
          <a:p>
            <a:pPr>
              <a:buFont typeface="Wingdings" pitchFamily="2" charset="2"/>
              <a:buChar char="Ø"/>
            </a:pPr>
            <a:r>
              <a:rPr lang="en-US" sz="2400">
                <a:latin typeface="Lucida Sans Unicode" pitchFamily="34" charset="0"/>
              </a:rPr>
              <a:t> A Miller index is a series of coprime integers that are inversely proportional to the intercepts of the crystal face or crystallographic planes with the edges of the unit cell.  </a:t>
            </a:r>
          </a:p>
          <a:p>
            <a:endParaRPr lang="en-US" sz="2400">
              <a:latin typeface="Lucida Sans Unicode" pitchFamily="34" charset="0"/>
            </a:endParaRPr>
          </a:p>
          <a:p>
            <a:pPr>
              <a:buFont typeface="Wingdings" pitchFamily="2" charset="2"/>
              <a:buChar char="Ø"/>
            </a:pPr>
            <a:r>
              <a:rPr lang="en-US" sz="2400">
                <a:latin typeface="Lucida Sans Unicode" pitchFamily="34" charset="0"/>
              </a:rPr>
              <a:t> It describes the orientation of a plane in the 3-D lattice with respect to the axes.</a:t>
            </a:r>
          </a:p>
          <a:p>
            <a:endParaRPr lang="en-US" sz="2400">
              <a:latin typeface="Lucida Sans Unicode" pitchFamily="34" charset="0"/>
            </a:endParaRPr>
          </a:p>
          <a:p>
            <a:pPr>
              <a:buFont typeface="Wingdings" pitchFamily="2" charset="2"/>
              <a:buChar char="Ø"/>
            </a:pPr>
            <a:r>
              <a:rPr lang="en-US" sz="2400">
                <a:latin typeface="Lucida Sans Unicode" pitchFamily="34" charset="0"/>
              </a:rPr>
              <a:t>The general form of the Miller index is (h, k, l) where h, k, and l are integers related to the unit cell along the a, b, c crystal axes.</a:t>
            </a:r>
            <a:br>
              <a:rPr lang="en-US" sz="2400">
                <a:latin typeface="Lucida Sans Unicode" pitchFamily="34" charset="0"/>
              </a:rPr>
            </a:br>
            <a:endParaRPr lang="en-US" sz="2400">
              <a:latin typeface="Lucida Sans Unicode" pitchFamily="34" charset="0"/>
            </a:endParaRPr>
          </a:p>
        </p:txBody>
      </p:sp>
      <p:sp>
        <p:nvSpPr>
          <p:cNvPr id="22532" name="Rectangle 3"/>
          <p:cNvSpPr>
            <a:spLocks noChangeArrowheads="1"/>
          </p:cNvSpPr>
          <p:nvPr/>
        </p:nvSpPr>
        <p:spPr bwMode="auto">
          <a:xfrm>
            <a:off x="6019800" y="65357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Tree>
    <p:extLst>
      <p:ext uri="{BB962C8B-B14F-4D97-AF65-F5344CB8AC3E}">
        <p14:creationId xmlns:p14="http://schemas.microsoft.com/office/powerpoint/2010/main" val="33106418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blinds(horizontal)">
                                      <p:cBhvr>
                                        <p:cTn id="7" dur="500"/>
                                        <p:tgtEl>
                                          <p:spTgt spid="389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915">
                                            <p:txEl>
                                              <p:pRg st="2" end="2"/>
                                            </p:txEl>
                                          </p:spTgt>
                                        </p:tgtEl>
                                        <p:attrNameLst>
                                          <p:attrName>style.visibility</p:attrName>
                                        </p:attrNameLst>
                                      </p:cBhvr>
                                      <p:to>
                                        <p:strVal val="visible"/>
                                      </p:to>
                                    </p:set>
                                    <p:animEffect transition="in" filter="blinds(horizontal)">
                                      <p:cBhvr>
                                        <p:cTn id="12" dur="500"/>
                                        <p:tgtEl>
                                          <p:spTgt spid="389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8915">
                                            <p:txEl>
                                              <p:pRg st="4" end="4"/>
                                            </p:txEl>
                                          </p:spTgt>
                                        </p:tgtEl>
                                        <p:attrNameLst>
                                          <p:attrName>style.visibility</p:attrName>
                                        </p:attrNameLst>
                                      </p:cBhvr>
                                      <p:to>
                                        <p:strVal val="visible"/>
                                      </p:to>
                                    </p:set>
                                    <p:animEffect transition="in" filter="blinds(horizontal)">
                                      <p:cBhvr>
                                        <p:cTn id="17" dur="500"/>
                                        <p:tgtEl>
                                          <p:spTgt spid="389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p:cNvSpPr txBox="1">
            <a:spLocks noChangeArrowheads="1"/>
          </p:cNvSpPr>
          <p:nvPr/>
        </p:nvSpPr>
        <p:spPr bwMode="auto">
          <a:xfrm>
            <a:off x="228600" y="0"/>
            <a:ext cx="4343400" cy="5786438"/>
          </a:xfrm>
          <a:prstGeom prst="rect">
            <a:avLst/>
          </a:prstGeom>
          <a:noFill/>
          <a:ln w="9525">
            <a:noFill/>
            <a:miter lim="800000"/>
            <a:headEnd/>
            <a:tailEnd/>
          </a:ln>
          <a:effectLst/>
        </p:spPr>
        <p:txBody>
          <a:bodyPr>
            <a:spAutoFit/>
          </a:bodyPr>
          <a:lstStyle/>
          <a:p>
            <a:pPr fontAlgn="auto">
              <a:spcBef>
                <a:spcPts val="0"/>
              </a:spcBef>
              <a:spcAft>
                <a:spcPts val="0"/>
              </a:spcAft>
              <a:defRPr/>
            </a:pPr>
            <a:r>
              <a:rPr lang="en-US" sz="3200" dirty="0">
                <a:solidFill>
                  <a:schemeClr val="bg2">
                    <a:lumMod val="50000"/>
                  </a:schemeClr>
                </a:solidFill>
                <a:latin typeface="+mj-lt"/>
              </a:rPr>
              <a:t>Miller Indices</a:t>
            </a:r>
          </a:p>
          <a:p>
            <a:pPr fontAlgn="auto">
              <a:spcBef>
                <a:spcPts val="0"/>
              </a:spcBef>
              <a:spcAft>
                <a:spcPts val="0"/>
              </a:spcAft>
              <a:defRPr/>
            </a:pPr>
            <a:endParaRPr lang="en-US" dirty="0">
              <a:latin typeface="+mj-lt"/>
            </a:endParaRPr>
          </a:p>
          <a:p>
            <a:pPr fontAlgn="auto">
              <a:spcBef>
                <a:spcPts val="0"/>
              </a:spcBef>
              <a:spcAft>
                <a:spcPts val="0"/>
              </a:spcAft>
              <a:defRPr/>
            </a:pPr>
            <a:r>
              <a:rPr lang="en-US" sz="2000" b="1" dirty="0">
                <a:latin typeface="+mj-lt"/>
              </a:rPr>
              <a:t>Rules for determining Miller Indices:</a:t>
            </a:r>
          </a:p>
          <a:p>
            <a:pPr fontAlgn="auto">
              <a:spcBef>
                <a:spcPts val="0"/>
              </a:spcBef>
              <a:spcAft>
                <a:spcPts val="0"/>
              </a:spcAft>
              <a:defRPr/>
            </a:pPr>
            <a:r>
              <a:rPr lang="en-US" sz="2000" dirty="0">
                <a:latin typeface="+mj-lt"/>
              </a:rPr>
              <a:t> </a:t>
            </a:r>
          </a:p>
          <a:p>
            <a:pPr marL="457200" indent="-457200" fontAlgn="auto">
              <a:spcBef>
                <a:spcPts val="0"/>
              </a:spcBef>
              <a:spcAft>
                <a:spcPts val="0"/>
              </a:spcAft>
              <a:buFontTx/>
              <a:buAutoNum type="arabicPeriod"/>
              <a:defRPr/>
            </a:pPr>
            <a:r>
              <a:rPr lang="en-US" sz="2000" dirty="0">
                <a:latin typeface="+mj-lt"/>
              </a:rPr>
              <a:t>Determine the intercepts of the face along the crystallographic axes, </a:t>
            </a:r>
            <a:r>
              <a:rPr lang="en-US" sz="2000" i="1" dirty="0">
                <a:latin typeface="+mj-lt"/>
              </a:rPr>
              <a:t>in terms of unit cell dimensions.</a:t>
            </a:r>
          </a:p>
          <a:p>
            <a:pPr marL="457200" indent="-457200" fontAlgn="auto">
              <a:spcBef>
                <a:spcPts val="0"/>
              </a:spcBef>
              <a:spcAft>
                <a:spcPts val="0"/>
              </a:spcAft>
              <a:defRPr/>
            </a:pPr>
            <a:endParaRPr lang="en-US" sz="2000" dirty="0">
              <a:latin typeface="+mj-lt"/>
            </a:endParaRPr>
          </a:p>
          <a:p>
            <a:pPr fontAlgn="auto">
              <a:spcBef>
                <a:spcPts val="0"/>
              </a:spcBef>
              <a:spcAft>
                <a:spcPts val="0"/>
              </a:spcAft>
              <a:defRPr/>
            </a:pPr>
            <a:r>
              <a:rPr lang="en-US" sz="2000" dirty="0">
                <a:latin typeface="+mj-lt"/>
              </a:rPr>
              <a:t>2. Take the reciprocals</a:t>
            </a:r>
          </a:p>
          <a:p>
            <a:pPr fontAlgn="auto">
              <a:spcBef>
                <a:spcPts val="0"/>
              </a:spcBef>
              <a:spcAft>
                <a:spcPts val="0"/>
              </a:spcAft>
              <a:defRPr/>
            </a:pPr>
            <a:endParaRPr lang="en-US" sz="2000" dirty="0">
              <a:latin typeface="+mj-lt"/>
            </a:endParaRPr>
          </a:p>
          <a:p>
            <a:pPr fontAlgn="auto">
              <a:spcBef>
                <a:spcPts val="0"/>
              </a:spcBef>
              <a:spcAft>
                <a:spcPts val="0"/>
              </a:spcAft>
              <a:defRPr/>
            </a:pPr>
            <a:r>
              <a:rPr lang="en-US" sz="2000" dirty="0">
                <a:latin typeface="+mj-lt"/>
              </a:rPr>
              <a:t>3. Clear fractions</a:t>
            </a:r>
          </a:p>
          <a:p>
            <a:pPr fontAlgn="auto">
              <a:spcBef>
                <a:spcPts val="0"/>
              </a:spcBef>
              <a:spcAft>
                <a:spcPts val="0"/>
              </a:spcAft>
              <a:defRPr/>
            </a:pPr>
            <a:endParaRPr lang="en-US" sz="2000" dirty="0">
              <a:latin typeface="+mj-lt"/>
            </a:endParaRPr>
          </a:p>
          <a:p>
            <a:pPr fontAlgn="auto">
              <a:spcBef>
                <a:spcPts val="0"/>
              </a:spcBef>
              <a:spcAft>
                <a:spcPts val="0"/>
              </a:spcAft>
              <a:defRPr/>
            </a:pPr>
            <a:r>
              <a:rPr lang="en-US" sz="2000" dirty="0">
                <a:latin typeface="+mj-lt"/>
              </a:rPr>
              <a:t>4. Reduce to lowest terms</a:t>
            </a:r>
          </a:p>
          <a:p>
            <a:pPr fontAlgn="auto">
              <a:spcBef>
                <a:spcPts val="0"/>
              </a:spcBef>
              <a:spcAft>
                <a:spcPts val="0"/>
              </a:spcAft>
              <a:defRPr/>
            </a:pPr>
            <a:endParaRPr lang="en-US" sz="2000" b="1" dirty="0">
              <a:latin typeface="Times New Roman" pitchFamily="18" charset="0"/>
            </a:endParaRPr>
          </a:p>
          <a:p>
            <a:pPr fontAlgn="auto">
              <a:spcBef>
                <a:spcPts val="0"/>
              </a:spcBef>
              <a:spcAft>
                <a:spcPts val="0"/>
              </a:spcAft>
              <a:defRPr/>
            </a:pPr>
            <a:r>
              <a:rPr lang="en-US" sz="2000" b="1" dirty="0">
                <a:latin typeface="Times New Roman" pitchFamily="18" charset="0"/>
              </a:rPr>
              <a:t>An example of the (111) plane (h=1, k=1, l=1) is shown on the right.</a:t>
            </a:r>
          </a:p>
        </p:txBody>
      </p:sp>
      <p:pic>
        <p:nvPicPr>
          <p:cNvPr id="39939" name="Picture 6"/>
          <p:cNvPicPr>
            <a:picLocks noChangeAspect="1" noChangeArrowheads="1"/>
          </p:cNvPicPr>
          <p:nvPr/>
        </p:nvPicPr>
        <p:blipFill>
          <a:blip r:embed="rId2"/>
          <a:srcRect/>
          <a:stretch>
            <a:fillRect/>
          </a:stretch>
        </p:blipFill>
        <p:spPr bwMode="auto">
          <a:xfrm>
            <a:off x="4648200" y="633413"/>
            <a:ext cx="4114800" cy="5386387"/>
          </a:xfrm>
          <a:prstGeom prst="rect">
            <a:avLst/>
          </a:prstGeom>
          <a:noFill/>
          <a:ln w="9525">
            <a:noFill/>
            <a:miter lim="800000"/>
            <a:headEnd/>
            <a:tailEnd/>
          </a:ln>
        </p:spPr>
      </p:pic>
    </p:spTree>
    <p:extLst>
      <p:ext uri="{BB962C8B-B14F-4D97-AF65-F5344CB8AC3E}">
        <p14:creationId xmlns:p14="http://schemas.microsoft.com/office/powerpoint/2010/main" val="6979672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blinds(horizontal)">
                                      <p:cBhvr>
                                        <p:cTn id="7" dur="500"/>
                                        <p:tgtEl>
                                          <p:spTgt spid="3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srcRect/>
          <a:stretch>
            <a:fillRect/>
          </a:stretch>
        </p:blipFill>
        <p:spPr bwMode="auto">
          <a:xfrm>
            <a:off x="4724400" y="715963"/>
            <a:ext cx="3937000" cy="5424487"/>
          </a:xfrm>
          <a:prstGeom prst="rect">
            <a:avLst/>
          </a:prstGeom>
          <a:noFill/>
          <a:ln w="9525">
            <a:noFill/>
            <a:miter lim="800000"/>
            <a:headEnd/>
            <a:tailEnd/>
          </a:ln>
        </p:spPr>
      </p:pic>
      <p:sp>
        <p:nvSpPr>
          <p:cNvPr id="58374" name="Text Box 6"/>
          <p:cNvSpPr txBox="1">
            <a:spLocks noChangeArrowheads="1"/>
          </p:cNvSpPr>
          <p:nvPr/>
        </p:nvSpPr>
        <p:spPr bwMode="auto">
          <a:xfrm>
            <a:off x="228600" y="228600"/>
            <a:ext cx="3736975" cy="584200"/>
          </a:xfrm>
          <a:prstGeom prst="rect">
            <a:avLst/>
          </a:prstGeom>
          <a:noFill/>
          <a:ln w="9525">
            <a:noFill/>
            <a:miter lim="800000"/>
            <a:headEnd/>
            <a:tailEnd/>
          </a:ln>
          <a:effectLst/>
        </p:spPr>
        <p:txBody>
          <a:bodyPr wrap="none">
            <a:spAutoFit/>
          </a:bodyPr>
          <a:lstStyle/>
          <a:p>
            <a:pPr fontAlgn="auto">
              <a:spcBef>
                <a:spcPts val="0"/>
              </a:spcBef>
              <a:spcAft>
                <a:spcPts val="0"/>
              </a:spcAft>
              <a:defRPr/>
            </a:pPr>
            <a:r>
              <a:rPr lang="en-US" sz="3200" dirty="0">
                <a:solidFill>
                  <a:schemeClr val="bg2">
                    <a:lumMod val="50000"/>
                  </a:schemeClr>
                </a:solidFill>
                <a:latin typeface="+mn-lt"/>
              </a:rPr>
              <a:t>Another example:</a:t>
            </a:r>
          </a:p>
        </p:txBody>
      </p:sp>
      <p:sp>
        <p:nvSpPr>
          <p:cNvPr id="24580" name="Rectangle 4"/>
          <p:cNvSpPr>
            <a:spLocks noChangeArrowheads="1"/>
          </p:cNvSpPr>
          <p:nvPr/>
        </p:nvSpPr>
        <p:spPr bwMode="auto">
          <a:xfrm>
            <a:off x="6019800" y="65357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2" name="Rectangle 1"/>
          <p:cNvSpPr/>
          <p:nvPr/>
        </p:nvSpPr>
        <p:spPr>
          <a:xfrm>
            <a:off x="119063" y="1524000"/>
            <a:ext cx="4572000" cy="4094163"/>
          </a:xfrm>
          <a:prstGeom prst="rect">
            <a:avLst/>
          </a:prstGeom>
        </p:spPr>
        <p:txBody>
          <a:bodyPr>
            <a:spAutoFit/>
          </a:bodyPr>
          <a:lstStyle/>
          <a:p>
            <a:pPr>
              <a:defRPr/>
            </a:pPr>
            <a:r>
              <a:rPr lang="en-US" sz="2000" dirty="0">
                <a:latin typeface="+mn-lt"/>
              </a:rPr>
              <a:t>In this case the plane intercepts the a axis at one unit length and also the c axis at one unit length. The plane however, never intersects the b axis. In other words, it can be said that the intercept to the b axis is infinity. The intercepts are then designated as 1,infinity,1. The reciprocals are then 1/2, 1/infinity, 1/1. Knowing 1/infinity = 0 then the indices become (101).</a:t>
            </a:r>
          </a:p>
          <a:p>
            <a:pPr>
              <a:defRPr/>
            </a:pPr>
            <a:endParaRPr lang="en-US" sz="2000" dirty="0">
              <a:latin typeface="+mn-lt"/>
            </a:endParaRPr>
          </a:p>
        </p:txBody>
      </p:sp>
    </p:spTree>
    <p:extLst>
      <p:ext uri="{BB962C8B-B14F-4D97-AF65-F5344CB8AC3E}">
        <p14:creationId xmlns:p14="http://schemas.microsoft.com/office/powerpoint/2010/main" val="26147888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srcRect t="15457" r="45114"/>
          <a:stretch>
            <a:fillRect/>
          </a:stretch>
        </p:blipFill>
        <p:spPr bwMode="auto">
          <a:xfrm>
            <a:off x="0" y="1439863"/>
            <a:ext cx="5029200" cy="5418137"/>
          </a:xfrm>
          <a:prstGeom prst="rect">
            <a:avLst/>
          </a:prstGeom>
          <a:noFill/>
          <a:ln w="9525">
            <a:noFill/>
            <a:miter lim="800000"/>
            <a:headEnd/>
            <a:tailEnd/>
          </a:ln>
        </p:spPr>
      </p:pic>
      <p:sp>
        <p:nvSpPr>
          <p:cNvPr id="3" name="Rectangle 2"/>
          <p:cNvSpPr/>
          <p:nvPr/>
        </p:nvSpPr>
        <p:spPr>
          <a:xfrm>
            <a:off x="2667000" y="5334000"/>
            <a:ext cx="12192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4" name="Picture 2"/>
          <p:cNvPicPr>
            <a:picLocks noChangeAspect="1" noChangeArrowheads="1"/>
          </p:cNvPicPr>
          <p:nvPr/>
        </p:nvPicPr>
        <p:blipFill>
          <a:blip r:embed="rId2"/>
          <a:srcRect l="54886" t="19148" b="42804"/>
          <a:stretch>
            <a:fillRect/>
          </a:stretch>
        </p:blipFill>
        <p:spPr bwMode="auto">
          <a:xfrm>
            <a:off x="5010150" y="1219200"/>
            <a:ext cx="4133850" cy="2438400"/>
          </a:xfrm>
          <a:prstGeom prst="rect">
            <a:avLst/>
          </a:prstGeom>
          <a:noFill/>
          <a:ln w="9525">
            <a:noFill/>
            <a:miter lim="800000"/>
            <a:headEnd/>
            <a:tailEnd/>
          </a:ln>
        </p:spPr>
      </p:pic>
      <p:pic>
        <p:nvPicPr>
          <p:cNvPr id="5" name="Picture 2"/>
          <p:cNvPicPr>
            <a:picLocks noChangeAspect="1" noChangeArrowheads="1"/>
          </p:cNvPicPr>
          <p:nvPr/>
        </p:nvPicPr>
        <p:blipFill>
          <a:blip r:embed="rId2"/>
          <a:srcRect l="54886" t="58385"/>
          <a:stretch>
            <a:fillRect/>
          </a:stretch>
        </p:blipFill>
        <p:spPr bwMode="auto">
          <a:xfrm>
            <a:off x="5010150" y="3886200"/>
            <a:ext cx="4133850" cy="2667000"/>
          </a:xfrm>
          <a:prstGeom prst="rect">
            <a:avLst/>
          </a:prstGeom>
          <a:noFill/>
          <a:ln w="9525">
            <a:noFill/>
            <a:miter lim="800000"/>
            <a:headEnd/>
            <a:tailEnd/>
          </a:ln>
        </p:spPr>
      </p:pic>
      <p:pic>
        <p:nvPicPr>
          <p:cNvPr id="25606" name="Picture 2"/>
          <p:cNvPicPr>
            <a:picLocks noChangeAspect="1" noChangeArrowheads="1"/>
          </p:cNvPicPr>
          <p:nvPr/>
        </p:nvPicPr>
        <p:blipFill>
          <a:blip r:embed="rId2"/>
          <a:srcRect b="90364"/>
          <a:stretch>
            <a:fillRect/>
          </a:stretch>
        </p:blipFill>
        <p:spPr bwMode="auto">
          <a:xfrm>
            <a:off x="-19050" y="0"/>
            <a:ext cx="9163050" cy="617538"/>
          </a:xfrm>
          <a:prstGeom prst="rect">
            <a:avLst/>
          </a:prstGeom>
          <a:noFill/>
          <a:ln w="9525">
            <a:noFill/>
            <a:miter lim="800000"/>
            <a:headEnd/>
            <a:tailEnd/>
          </a:ln>
        </p:spPr>
      </p:pic>
    </p:spTree>
    <p:extLst>
      <p:ext uri="{BB962C8B-B14F-4D97-AF65-F5344CB8AC3E}">
        <p14:creationId xmlns:p14="http://schemas.microsoft.com/office/powerpoint/2010/main" val="3680390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srcRect/>
          <a:stretch>
            <a:fillRect/>
          </a:stretch>
        </p:blipFill>
        <p:spPr bwMode="auto">
          <a:xfrm>
            <a:off x="-152400" y="0"/>
            <a:ext cx="9448800" cy="762000"/>
          </a:xfrm>
          <a:prstGeom prst="rect">
            <a:avLst/>
          </a:prstGeom>
          <a:noFill/>
          <a:ln w="9525">
            <a:noFill/>
            <a:miter lim="800000"/>
            <a:headEnd/>
            <a:tailEnd/>
          </a:ln>
        </p:spPr>
      </p:pic>
      <p:pic>
        <p:nvPicPr>
          <p:cNvPr id="26627" name="Picture 3"/>
          <p:cNvPicPr>
            <a:picLocks noChangeAspect="1" noChangeArrowheads="1"/>
          </p:cNvPicPr>
          <p:nvPr/>
        </p:nvPicPr>
        <p:blipFill>
          <a:blip r:embed="rId3"/>
          <a:srcRect/>
          <a:stretch>
            <a:fillRect/>
          </a:stretch>
        </p:blipFill>
        <p:spPr bwMode="auto">
          <a:xfrm>
            <a:off x="1143000" y="838200"/>
            <a:ext cx="7086600" cy="5702300"/>
          </a:xfrm>
          <a:prstGeom prst="rect">
            <a:avLst/>
          </a:prstGeom>
          <a:noFill/>
          <a:ln w="9525">
            <a:noFill/>
            <a:miter lim="800000"/>
            <a:headEnd/>
            <a:tailEnd/>
          </a:ln>
        </p:spPr>
      </p:pic>
      <p:sp>
        <p:nvSpPr>
          <p:cNvPr id="4" name="TextBox 3"/>
          <p:cNvSpPr txBox="1"/>
          <p:nvPr/>
        </p:nvSpPr>
        <p:spPr>
          <a:xfrm>
            <a:off x="6629400" y="3276600"/>
            <a:ext cx="2149475" cy="369888"/>
          </a:xfrm>
          <a:prstGeom prst="rect">
            <a:avLst/>
          </a:prstGeom>
          <a:noFill/>
        </p:spPr>
        <p:txBody>
          <a:bodyPr wrap="none">
            <a:spAutoFit/>
          </a:bodyPr>
          <a:lstStyle/>
          <a:p>
            <a:pPr fontAlgn="auto">
              <a:spcBef>
                <a:spcPts val="0"/>
              </a:spcBef>
              <a:spcAft>
                <a:spcPts val="0"/>
              </a:spcAft>
              <a:defRPr/>
            </a:pPr>
            <a:r>
              <a:rPr lang="en-US" dirty="0">
                <a:solidFill>
                  <a:schemeClr val="bg2">
                    <a:lumMod val="50000"/>
                  </a:schemeClr>
                </a:solidFill>
                <a:latin typeface="+mn-lt"/>
              </a:rPr>
              <a:t>Crystalline Planes</a:t>
            </a:r>
          </a:p>
        </p:txBody>
      </p:sp>
      <p:sp>
        <p:nvSpPr>
          <p:cNvPr id="5" name="TextBox 4"/>
          <p:cNvSpPr txBox="1"/>
          <p:nvPr/>
        </p:nvSpPr>
        <p:spPr>
          <a:xfrm>
            <a:off x="6629400" y="6248400"/>
            <a:ext cx="2114550" cy="369888"/>
          </a:xfrm>
          <a:prstGeom prst="rect">
            <a:avLst/>
          </a:prstGeom>
          <a:noFill/>
        </p:spPr>
        <p:txBody>
          <a:bodyPr wrap="none">
            <a:spAutoFit/>
          </a:bodyPr>
          <a:lstStyle/>
          <a:p>
            <a:pPr fontAlgn="auto">
              <a:spcBef>
                <a:spcPts val="0"/>
              </a:spcBef>
              <a:spcAft>
                <a:spcPts val="0"/>
              </a:spcAft>
              <a:defRPr/>
            </a:pPr>
            <a:r>
              <a:rPr lang="en-US" dirty="0">
                <a:solidFill>
                  <a:schemeClr val="bg2">
                    <a:lumMod val="50000"/>
                  </a:schemeClr>
                </a:solidFill>
                <a:latin typeface="+mn-lt"/>
              </a:rPr>
              <a:t>Direction Vectors</a:t>
            </a:r>
          </a:p>
        </p:txBody>
      </p:sp>
    </p:spTree>
    <p:extLst>
      <p:ext uri="{BB962C8B-B14F-4D97-AF65-F5344CB8AC3E}">
        <p14:creationId xmlns:p14="http://schemas.microsoft.com/office/powerpoint/2010/main" val="88074196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3"/>
          <p:cNvSpPr txBox="1">
            <a:spLocks noChangeArrowheads="1"/>
          </p:cNvSpPr>
          <p:nvPr/>
        </p:nvSpPr>
        <p:spPr bwMode="auto">
          <a:xfrm>
            <a:off x="0" y="0"/>
            <a:ext cx="7848600" cy="954088"/>
          </a:xfrm>
          <a:prstGeom prst="rect">
            <a:avLst/>
          </a:prstGeom>
          <a:noFill/>
          <a:ln w="9525">
            <a:noFill/>
            <a:miter lim="800000"/>
            <a:headEnd/>
            <a:tailEnd/>
          </a:ln>
        </p:spPr>
        <p:txBody>
          <a:bodyPr>
            <a:spAutoFit/>
          </a:bodyPr>
          <a:lstStyle/>
          <a:p>
            <a:pPr>
              <a:defRPr/>
            </a:pPr>
            <a:r>
              <a:rPr lang="en-US" sz="2800" b="1" dirty="0">
                <a:solidFill>
                  <a:schemeClr val="bg1">
                    <a:lumMod val="50000"/>
                  </a:schemeClr>
                </a:solidFill>
                <a:latin typeface="Lucida Sans Unicode" pitchFamily="34" charset="0"/>
              </a:rPr>
              <a:t>Where does a protein crystallographer see the Miller indices?</a:t>
            </a:r>
          </a:p>
        </p:txBody>
      </p:sp>
      <p:sp>
        <p:nvSpPr>
          <p:cNvPr id="59396" name="Text Box 4"/>
          <p:cNvSpPr txBox="1">
            <a:spLocks noChangeArrowheads="1"/>
          </p:cNvSpPr>
          <p:nvPr/>
        </p:nvSpPr>
        <p:spPr bwMode="auto">
          <a:xfrm>
            <a:off x="609600" y="1524000"/>
            <a:ext cx="4267200" cy="4473575"/>
          </a:xfrm>
          <a:prstGeom prst="rect">
            <a:avLst/>
          </a:prstGeom>
          <a:noFill/>
          <a:ln w="9525">
            <a:noFill/>
            <a:miter lim="800000"/>
            <a:headEnd/>
            <a:tailEnd/>
          </a:ln>
        </p:spPr>
        <p:txBody>
          <a:bodyPr>
            <a:spAutoFit/>
          </a:bodyPr>
          <a:lstStyle/>
          <a:p>
            <a:pPr>
              <a:buFontTx/>
              <a:buChar char="•"/>
            </a:pPr>
            <a:r>
              <a:rPr lang="en-US" b="1">
                <a:latin typeface="Lucida Sans Unicode" pitchFamily="34" charset="0"/>
              </a:rPr>
              <a:t> Common crystal faces are parallel to lattice planes</a:t>
            </a:r>
            <a:r>
              <a:rPr lang="en-US">
                <a:latin typeface="Lucida Sans Unicode" pitchFamily="34" charset="0"/>
              </a:rPr>
              <a:t> </a:t>
            </a:r>
          </a:p>
          <a:p>
            <a:pPr>
              <a:buFontTx/>
              <a:buChar char="•"/>
            </a:pPr>
            <a:endParaRPr lang="en-US">
              <a:latin typeface="Lucida Sans Unicode" pitchFamily="34" charset="0"/>
            </a:endParaRPr>
          </a:p>
          <a:p>
            <a:pPr>
              <a:buFontTx/>
              <a:buChar char="•"/>
            </a:pPr>
            <a:endParaRPr lang="en-US">
              <a:latin typeface="Lucida Sans Unicode" pitchFamily="34" charset="0"/>
            </a:endParaRPr>
          </a:p>
          <a:p>
            <a:pPr>
              <a:buFontTx/>
              <a:buChar char="•"/>
            </a:pPr>
            <a:endParaRPr lang="en-US">
              <a:latin typeface="Lucida Sans Unicode" pitchFamily="34" charset="0"/>
            </a:endParaRPr>
          </a:p>
          <a:p>
            <a:pPr>
              <a:buFontTx/>
              <a:buChar char="•"/>
            </a:pPr>
            <a:endParaRPr lang="en-US">
              <a:latin typeface="Lucida Sans Unicode" pitchFamily="34" charset="0"/>
            </a:endParaRPr>
          </a:p>
          <a:p>
            <a:pPr>
              <a:buFontTx/>
              <a:buChar char="•"/>
            </a:pPr>
            <a:endParaRPr lang="en-US">
              <a:latin typeface="Lucida Sans Unicode" pitchFamily="34" charset="0"/>
            </a:endParaRPr>
          </a:p>
          <a:p>
            <a:pPr>
              <a:buFontTx/>
              <a:buChar char="•"/>
            </a:pPr>
            <a:r>
              <a:rPr lang="en-US" sz="2000" b="1">
                <a:latin typeface="Lucida Sans Unicode" pitchFamily="34" charset="0"/>
              </a:rPr>
              <a:t> </a:t>
            </a:r>
            <a:r>
              <a:rPr lang="en-US" b="1">
                <a:latin typeface="Lucida Sans Unicode" pitchFamily="34" charset="0"/>
              </a:rPr>
              <a:t>Each diffraction spot can be regarded as a X-ray beam reflected from a lattice plane, and therefore has a unique Miller index. </a:t>
            </a:r>
          </a:p>
        </p:txBody>
      </p:sp>
      <p:graphicFrame>
        <p:nvGraphicFramePr>
          <p:cNvPr id="27652" name="Object 2"/>
          <p:cNvGraphicFramePr>
            <a:graphicFrameLocks noChangeAspect="1"/>
          </p:cNvGraphicFramePr>
          <p:nvPr/>
        </p:nvGraphicFramePr>
        <p:xfrm>
          <a:off x="5410200" y="914400"/>
          <a:ext cx="2560638" cy="2590800"/>
        </p:xfrm>
        <a:graphic>
          <a:graphicData uri="http://schemas.openxmlformats.org/presentationml/2006/ole">
            <mc:AlternateContent xmlns:mc="http://schemas.openxmlformats.org/markup-compatibility/2006">
              <mc:Choice xmlns:v="urn:schemas-microsoft-com:vml" Requires="v">
                <p:oleObj spid="_x0000_s19460" name="Image" r:id="rId3" imgW="2688114" imgH="2718821" progId="">
                  <p:embed/>
                </p:oleObj>
              </mc:Choice>
              <mc:Fallback>
                <p:oleObj name="Image" r:id="rId3" imgW="2688114" imgH="2718821"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914400"/>
                        <a:ext cx="2560638"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7653" name="Picture 7" descr="scan_ed1"/>
          <p:cNvPicPr>
            <a:picLocks noChangeAspect="1" noChangeArrowheads="1"/>
          </p:cNvPicPr>
          <p:nvPr/>
        </p:nvPicPr>
        <p:blipFill>
          <a:blip r:embed="rId5"/>
          <a:srcRect/>
          <a:stretch>
            <a:fillRect/>
          </a:stretch>
        </p:blipFill>
        <p:spPr bwMode="auto">
          <a:xfrm>
            <a:off x="5638800" y="3810000"/>
            <a:ext cx="2286000" cy="2111375"/>
          </a:xfrm>
          <a:prstGeom prst="rect">
            <a:avLst/>
          </a:prstGeom>
          <a:noFill/>
          <a:ln w="9525">
            <a:noFill/>
            <a:miter lim="800000"/>
            <a:headEnd/>
            <a:tailEnd/>
          </a:ln>
        </p:spPr>
      </p:pic>
      <p:sp>
        <p:nvSpPr>
          <p:cNvPr id="27654" name="Rectangle 5"/>
          <p:cNvSpPr>
            <a:spLocks noChangeArrowheads="1"/>
          </p:cNvSpPr>
          <p:nvPr/>
        </p:nvSpPr>
        <p:spPr bwMode="auto">
          <a:xfrm>
            <a:off x="6019800" y="64595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Tree>
    <p:extLst>
      <p:ext uri="{BB962C8B-B14F-4D97-AF65-F5344CB8AC3E}">
        <p14:creationId xmlns:p14="http://schemas.microsoft.com/office/powerpoint/2010/main" val="39521501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939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939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305800" cy="1077913"/>
          </a:xfrm>
          <a:prstGeom prst="rect">
            <a:avLst/>
          </a:prstGeom>
        </p:spPr>
        <p:txBody>
          <a:bodyPr>
            <a:spAutoFit/>
          </a:bodyPr>
          <a:lstStyle/>
          <a:p>
            <a:pPr>
              <a:defRPr/>
            </a:pPr>
            <a:r>
              <a:rPr lang="en-US" sz="3200" dirty="0">
                <a:latin typeface="+mn-lt"/>
              </a:rPr>
              <a:t>How many different lattice types exist for crystalline material?</a:t>
            </a:r>
          </a:p>
        </p:txBody>
      </p:sp>
      <p:sp>
        <p:nvSpPr>
          <p:cNvPr id="3" name="Rectangle 2"/>
          <p:cNvSpPr/>
          <p:nvPr/>
        </p:nvSpPr>
        <p:spPr>
          <a:xfrm>
            <a:off x="414338" y="1676400"/>
            <a:ext cx="6858000" cy="3046413"/>
          </a:xfrm>
          <a:prstGeom prst="rect">
            <a:avLst/>
          </a:prstGeom>
        </p:spPr>
        <p:txBody>
          <a:bodyPr>
            <a:spAutoFit/>
          </a:bodyPr>
          <a:lstStyle/>
          <a:p>
            <a:pPr>
              <a:defRPr/>
            </a:pPr>
            <a:r>
              <a:rPr lang="en-US" sz="3200" b="1" dirty="0">
                <a:latin typeface="+mn-lt"/>
              </a:rPr>
              <a:t>There are four types of lattices: </a:t>
            </a:r>
          </a:p>
          <a:p>
            <a:pPr>
              <a:defRPr/>
            </a:pPr>
            <a:endParaRPr lang="en-US" sz="3200" dirty="0">
              <a:latin typeface="+mn-lt"/>
            </a:endParaRPr>
          </a:p>
          <a:p>
            <a:pPr>
              <a:defRPr/>
            </a:pPr>
            <a:r>
              <a:rPr lang="en-US" sz="3200" dirty="0">
                <a:latin typeface="+mn-lt"/>
              </a:rPr>
              <a:t>1)	Primitive cubic</a:t>
            </a:r>
          </a:p>
          <a:p>
            <a:pPr>
              <a:defRPr/>
            </a:pPr>
            <a:r>
              <a:rPr lang="en-US" sz="3200" dirty="0">
                <a:latin typeface="+mn-lt"/>
              </a:rPr>
              <a:t>2)	Body centered cubic</a:t>
            </a:r>
          </a:p>
          <a:p>
            <a:pPr>
              <a:defRPr/>
            </a:pPr>
            <a:r>
              <a:rPr lang="en-US" sz="3200" dirty="0">
                <a:latin typeface="+mn-lt"/>
              </a:rPr>
              <a:t>3)	Face centered cubic</a:t>
            </a:r>
          </a:p>
          <a:p>
            <a:pPr>
              <a:defRPr/>
            </a:pPr>
            <a:r>
              <a:rPr lang="en-US" sz="3200" dirty="0">
                <a:latin typeface="+mn-lt"/>
              </a:rPr>
              <a:t>4)	C-centered cubic</a:t>
            </a:r>
          </a:p>
        </p:txBody>
      </p:sp>
    </p:spTree>
    <p:extLst>
      <p:ext uri="{BB962C8B-B14F-4D97-AF65-F5344CB8AC3E}">
        <p14:creationId xmlns:p14="http://schemas.microsoft.com/office/powerpoint/2010/main" val="109416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1" name="Slide Number Placeholder 3"/>
          <p:cNvSpPr>
            <a:spLocks noGrp="1"/>
          </p:cNvSpPr>
          <p:nvPr>
            <p:ph type="sldNum" sz="quarter" idx="12"/>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26309F4A-D953-4468-AE40-BF914EC638EE}" type="slidenum">
              <a:rPr lang="en-US" smtClean="0"/>
              <a:pPr fontAlgn="base">
                <a:spcBef>
                  <a:spcPct val="0"/>
                </a:spcBef>
                <a:spcAft>
                  <a:spcPct val="0"/>
                </a:spcAft>
                <a:defRPr/>
              </a:pPr>
              <a:t>20</a:t>
            </a:fld>
            <a:endParaRPr lang="en-US" smtClean="0"/>
          </a:p>
        </p:txBody>
      </p:sp>
      <p:graphicFrame>
        <p:nvGraphicFramePr>
          <p:cNvPr id="29699" name="Object 2"/>
          <p:cNvGraphicFramePr>
            <a:graphicFrameLocks noChangeAspect="1"/>
          </p:cNvGraphicFramePr>
          <p:nvPr/>
        </p:nvGraphicFramePr>
        <p:xfrm>
          <a:off x="1981200" y="1111250"/>
          <a:ext cx="1576388" cy="1403350"/>
        </p:xfrm>
        <a:graphic>
          <a:graphicData uri="http://schemas.openxmlformats.org/presentationml/2006/ole">
            <mc:AlternateContent xmlns:mc="http://schemas.openxmlformats.org/markup-compatibility/2006">
              <mc:Choice xmlns:v="urn:schemas-microsoft-com:vml" Requires="v">
                <p:oleObj spid="_x0000_s20490" name="Bitmap Image" r:id="rId3" imgW="866896" imgH="771429" progId="PBrush">
                  <p:embed/>
                </p:oleObj>
              </mc:Choice>
              <mc:Fallback>
                <p:oleObj name="Bitmap Image" r:id="rId3" imgW="866896" imgH="771429" progId="PBrush">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111250"/>
                        <a:ext cx="1576388" cy="140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0" name="Object 3"/>
          <p:cNvGraphicFramePr>
            <a:graphicFrameLocks noChangeAspect="1"/>
          </p:cNvGraphicFramePr>
          <p:nvPr/>
        </p:nvGraphicFramePr>
        <p:xfrm>
          <a:off x="4905375" y="1077913"/>
          <a:ext cx="1724025" cy="1436687"/>
        </p:xfrm>
        <a:graphic>
          <a:graphicData uri="http://schemas.openxmlformats.org/presentationml/2006/ole">
            <mc:AlternateContent xmlns:mc="http://schemas.openxmlformats.org/markup-compatibility/2006">
              <mc:Choice xmlns:v="urn:schemas-microsoft-com:vml" Requires="v">
                <p:oleObj spid="_x0000_s20491" name="Bitmap Image" r:id="rId5" imgW="857143" imgH="714286" progId="PBrush">
                  <p:embed/>
                </p:oleObj>
              </mc:Choice>
              <mc:Fallback>
                <p:oleObj name="Bitmap Image" r:id="rId5" imgW="857143" imgH="714286"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05375" y="1077913"/>
                        <a:ext cx="1724025" cy="143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1" name="Object 4"/>
          <p:cNvGraphicFramePr>
            <a:graphicFrameLocks noChangeAspect="1"/>
          </p:cNvGraphicFramePr>
          <p:nvPr/>
        </p:nvGraphicFramePr>
        <p:xfrm>
          <a:off x="1919288" y="3724275"/>
          <a:ext cx="1738312" cy="1457325"/>
        </p:xfrm>
        <a:graphic>
          <a:graphicData uri="http://schemas.openxmlformats.org/presentationml/2006/ole">
            <mc:AlternateContent xmlns:mc="http://schemas.openxmlformats.org/markup-compatibility/2006">
              <mc:Choice xmlns:v="urn:schemas-microsoft-com:vml" Requires="v">
                <p:oleObj spid="_x0000_s20492" name="Bitmap Image" r:id="rId7" imgW="885949" imgH="743054" progId="PBrush">
                  <p:embed/>
                </p:oleObj>
              </mc:Choice>
              <mc:Fallback>
                <p:oleObj name="Bitmap Image" r:id="rId7" imgW="885949" imgH="743054" progId="PBrush">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9288" y="3724275"/>
                        <a:ext cx="1738312"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2" name="Object 5"/>
          <p:cNvGraphicFramePr>
            <a:graphicFrameLocks noChangeAspect="1"/>
          </p:cNvGraphicFramePr>
          <p:nvPr/>
        </p:nvGraphicFramePr>
        <p:xfrm>
          <a:off x="4876800" y="3584575"/>
          <a:ext cx="1905000" cy="1597025"/>
        </p:xfrm>
        <a:graphic>
          <a:graphicData uri="http://schemas.openxmlformats.org/presentationml/2006/ole">
            <mc:AlternateContent xmlns:mc="http://schemas.openxmlformats.org/markup-compatibility/2006">
              <mc:Choice xmlns:v="urn:schemas-microsoft-com:vml" Requires="v">
                <p:oleObj spid="_x0000_s20493" name="Bitmap Image" r:id="rId9" imgW="1000000" imgH="838095" progId="PBrush">
                  <p:embed/>
                </p:oleObj>
              </mc:Choice>
              <mc:Fallback>
                <p:oleObj name="Bitmap Image" r:id="rId9" imgW="1000000" imgH="838095" progId="PBrush">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800" y="3584575"/>
                        <a:ext cx="1905000"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3" name="Text Box 9"/>
          <p:cNvSpPr txBox="1">
            <a:spLocks noChangeArrowheads="1"/>
          </p:cNvSpPr>
          <p:nvPr/>
        </p:nvSpPr>
        <p:spPr bwMode="auto">
          <a:xfrm>
            <a:off x="1676400" y="2667000"/>
            <a:ext cx="2362200" cy="457200"/>
          </a:xfrm>
          <a:prstGeom prst="rect">
            <a:avLst/>
          </a:prstGeom>
          <a:noFill/>
          <a:ln w="9525">
            <a:noFill/>
            <a:miter lim="800000"/>
            <a:headEnd/>
            <a:tailEnd/>
          </a:ln>
        </p:spPr>
        <p:txBody>
          <a:bodyPr>
            <a:spAutoFit/>
          </a:bodyPr>
          <a:lstStyle/>
          <a:p>
            <a:pPr>
              <a:spcBef>
                <a:spcPct val="50000"/>
              </a:spcBef>
            </a:pPr>
            <a:r>
              <a:rPr lang="en-US" sz="2400">
                <a:latin typeface="Lucida Sans Unicode" pitchFamily="34" charset="0"/>
              </a:rPr>
              <a:t>Primitive ( </a:t>
            </a:r>
            <a:r>
              <a:rPr lang="en-US" sz="2400" b="1">
                <a:solidFill>
                  <a:srgbClr val="CC0000"/>
                </a:solidFill>
                <a:latin typeface="Lucida Sans Unicode" pitchFamily="34" charset="0"/>
              </a:rPr>
              <a:t>P </a:t>
            </a:r>
            <a:r>
              <a:rPr lang="en-US" sz="2400">
                <a:latin typeface="Lucida Sans Unicode" pitchFamily="34" charset="0"/>
              </a:rPr>
              <a:t>)</a:t>
            </a:r>
          </a:p>
        </p:txBody>
      </p:sp>
      <p:sp>
        <p:nvSpPr>
          <p:cNvPr id="29704" name="Text Box 10"/>
          <p:cNvSpPr txBox="1">
            <a:spLocks noChangeArrowheads="1"/>
          </p:cNvSpPr>
          <p:nvPr/>
        </p:nvSpPr>
        <p:spPr bwMode="auto">
          <a:xfrm>
            <a:off x="4495800" y="2667000"/>
            <a:ext cx="3200400" cy="457200"/>
          </a:xfrm>
          <a:prstGeom prst="rect">
            <a:avLst/>
          </a:prstGeom>
          <a:noFill/>
          <a:ln w="9525">
            <a:noFill/>
            <a:miter lim="800000"/>
            <a:headEnd/>
            <a:tailEnd/>
          </a:ln>
        </p:spPr>
        <p:txBody>
          <a:bodyPr>
            <a:spAutoFit/>
          </a:bodyPr>
          <a:lstStyle/>
          <a:p>
            <a:pPr>
              <a:spcBef>
                <a:spcPct val="50000"/>
              </a:spcBef>
            </a:pPr>
            <a:r>
              <a:rPr lang="en-US" sz="2400">
                <a:latin typeface="Lucida Sans Unicode" pitchFamily="34" charset="0"/>
              </a:rPr>
              <a:t>Body Centered ( </a:t>
            </a:r>
            <a:r>
              <a:rPr lang="en-US" sz="2400" b="1">
                <a:solidFill>
                  <a:srgbClr val="CC0000"/>
                </a:solidFill>
                <a:latin typeface="Lucida Sans Unicode" pitchFamily="34" charset="0"/>
              </a:rPr>
              <a:t>I </a:t>
            </a:r>
            <a:r>
              <a:rPr lang="en-US" sz="2400">
                <a:latin typeface="Lucida Sans Unicode" pitchFamily="34" charset="0"/>
              </a:rPr>
              <a:t>)</a:t>
            </a:r>
          </a:p>
        </p:txBody>
      </p:sp>
      <p:sp>
        <p:nvSpPr>
          <p:cNvPr id="29705" name="Text Box 11"/>
          <p:cNvSpPr txBox="1">
            <a:spLocks noChangeArrowheads="1"/>
          </p:cNvSpPr>
          <p:nvPr/>
        </p:nvSpPr>
        <p:spPr bwMode="auto">
          <a:xfrm>
            <a:off x="1295400" y="5334000"/>
            <a:ext cx="3124200" cy="457200"/>
          </a:xfrm>
          <a:prstGeom prst="rect">
            <a:avLst/>
          </a:prstGeom>
          <a:noFill/>
          <a:ln w="9525">
            <a:noFill/>
            <a:miter lim="800000"/>
            <a:headEnd/>
            <a:tailEnd/>
          </a:ln>
        </p:spPr>
        <p:txBody>
          <a:bodyPr>
            <a:spAutoFit/>
          </a:bodyPr>
          <a:lstStyle/>
          <a:p>
            <a:pPr>
              <a:spcBef>
                <a:spcPct val="50000"/>
              </a:spcBef>
            </a:pPr>
            <a:r>
              <a:rPr lang="en-US" sz="2400">
                <a:latin typeface="Lucida Sans Unicode" pitchFamily="34" charset="0"/>
              </a:rPr>
              <a:t>Face Centered ( </a:t>
            </a:r>
            <a:r>
              <a:rPr lang="en-US" sz="2400" b="1">
                <a:solidFill>
                  <a:srgbClr val="CC0000"/>
                </a:solidFill>
                <a:latin typeface="Lucida Sans Unicode" pitchFamily="34" charset="0"/>
              </a:rPr>
              <a:t>F </a:t>
            </a:r>
            <a:r>
              <a:rPr lang="en-US" sz="2400">
                <a:latin typeface="Lucida Sans Unicode" pitchFamily="34" charset="0"/>
              </a:rPr>
              <a:t>)</a:t>
            </a:r>
          </a:p>
        </p:txBody>
      </p:sp>
      <p:sp>
        <p:nvSpPr>
          <p:cNvPr id="29706" name="Text Box 12"/>
          <p:cNvSpPr txBox="1">
            <a:spLocks noChangeArrowheads="1"/>
          </p:cNvSpPr>
          <p:nvPr/>
        </p:nvSpPr>
        <p:spPr bwMode="auto">
          <a:xfrm>
            <a:off x="4800600" y="5334000"/>
            <a:ext cx="3048000" cy="457200"/>
          </a:xfrm>
          <a:prstGeom prst="rect">
            <a:avLst/>
          </a:prstGeom>
          <a:noFill/>
          <a:ln w="9525">
            <a:noFill/>
            <a:miter lim="800000"/>
            <a:headEnd/>
            <a:tailEnd/>
          </a:ln>
        </p:spPr>
        <p:txBody>
          <a:bodyPr>
            <a:spAutoFit/>
          </a:bodyPr>
          <a:lstStyle/>
          <a:p>
            <a:r>
              <a:rPr lang="en-US" sz="2400">
                <a:latin typeface="Lucida Sans Unicode" pitchFamily="34" charset="0"/>
              </a:rPr>
              <a:t>C-Centered (</a:t>
            </a:r>
            <a:r>
              <a:rPr lang="en-US" sz="2400" b="1">
                <a:solidFill>
                  <a:srgbClr val="CC0000"/>
                </a:solidFill>
                <a:latin typeface="Lucida Sans Unicode" pitchFamily="34" charset="0"/>
              </a:rPr>
              <a:t>C </a:t>
            </a:r>
            <a:r>
              <a:rPr lang="en-US" sz="2400">
                <a:latin typeface="Lucida Sans Unicode" pitchFamily="34" charset="0"/>
              </a:rPr>
              <a:t>) </a:t>
            </a:r>
          </a:p>
        </p:txBody>
      </p:sp>
      <p:sp>
        <p:nvSpPr>
          <p:cNvPr id="29707" name="Text Box 13"/>
          <p:cNvSpPr txBox="1">
            <a:spLocks noChangeArrowheads="1"/>
          </p:cNvSpPr>
          <p:nvPr/>
        </p:nvSpPr>
        <p:spPr bwMode="auto">
          <a:xfrm>
            <a:off x="1905000" y="228600"/>
            <a:ext cx="4816475" cy="457200"/>
          </a:xfrm>
          <a:prstGeom prst="rect">
            <a:avLst/>
          </a:prstGeom>
          <a:noFill/>
          <a:ln w="9525">
            <a:noFill/>
            <a:miter lim="800000"/>
            <a:headEnd/>
            <a:tailEnd/>
          </a:ln>
        </p:spPr>
        <p:txBody>
          <a:bodyPr>
            <a:spAutoFit/>
          </a:bodyPr>
          <a:lstStyle/>
          <a:p>
            <a:pPr algn="ctr"/>
            <a:r>
              <a:rPr lang="en-US" sz="2400" b="1">
                <a:solidFill>
                  <a:schemeClr val="accent2"/>
                </a:solidFill>
                <a:latin typeface="Lucida Sans Unicode" pitchFamily="34" charset="0"/>
              </a:rPr>
              <a:t>LATTICE TYPES</a:t>
            </a:r>
          </a:p>
        </p:txBody>
      </p:sp>
      <p:sp>
        <p:nvSpPr>
          <p:cNvPr id="29708" name="Rectangle 11"/>
          <p:cNvSpPr>
            <a:spLocks noChangeArrowheads="1"/>
          </p:cNvSpPr>
          <p:nvPr/>
        </p:nvSpPr>
        <p:spPr bwMode="auto">
          <a:xfrm>
            <a:off x="6019800" y="64595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Tree>
    <p:extLst>
      <p:ext uri="{BB962C8B-B14F-4D97-AF65-F5344CB8AC3E}">
        <p14:creationId xmlns:p14="http://schemas.microsoft.com/office/powerpoint/2010/main" val="11830326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ChangeArrowheads="1"/>
          </p:cNvSpPr>
          <p:nvPr/>
        </p:nvSpPr>
        <p:spPr bwMode="auto">
          <a:xfrm>
            <a:off x="2667000" y="128588"/>
            <a:ext cx="3671888" cy="519112"/>
          </a:xfrm>
          <a:prstGeom prst="rect">
            <a:avLst/>
          </a:prstGeom>
          <a:noFill/>
          <a:ln w="9525">
            <a:noFill/>
            <a:miter lim="800000"/>
            <a:headEnd/>
            <a:tailEnd/>
          </a:ln>
        </p:spPr>
        <p:txBody>
          <a:bodyPr wrap="none">
            <a:spAutoFit/>
          </a:bodyPr>
          <a:lstStyle/>
          <a:p>
            <a:r>
              <a:rPr lang="en-US" sz="2800" b="1">
                <a:solidFill>
                  <a:srgbClr val="CC0099"/>
                </a:solidFill>
                <a:latin typeface="Lucida Sans Unicode" pitchFamily="34" charset="0"/>
              </a:rPr>
              <a:t>BRAVAIS LATTICES</a:t>
            </a:r>
          </a:p>
        </p:txBody>
      </p:sp>
      <p:graphicFrame>
        <p:nvGraphicFramePr>
          <p:cNvPr id="30723" name="Object 2"/>
          <p:cNvGraphicFramePr>
            <a:graphicFrameLocks noChangeAspect="1"/>
          </p:cNvGraphicFramePr>
          <p:nvPr/>
        </p:nvGraphicFramePr>
        <p:xfrm>
          <a:off x="0" y="1054100"/>
          <a:ext cx="8534400" cy="5803900"/>
        </p:xfrm>
        <a:graphic>
          <a:graphicData uri="http://schemas.openxmlformats.org/presentationml/2006/ole">
            <mc:AlternateContent xmlns:mc="http://schemas.openxmlformats.org/markup-compatibility/2006">
              <mc:Choice xmlns:v="urn:schemas-microsoft-com:vml" Requires="v">
                <p:oleObj spid="_x0000_s21508" name="Bitmap Image" r:id="rId3" imgW="5095238" imgH="4219048" progId="PBrush">
                  <p:embed/>
                </p:oleObj>
              </mc:Choice>
              <mc:Fallback>
                <p:oleObj name="Bitmap Image" r:id="rId3" imgW="5095238" imgH="4219048" progId="PBrush">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54100"/>
                        <a:ext cx="8534400" cy="580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4" name="Rectangle 4"/>
          <p:cNvSpPr>
            <a:spLocks noChangeArrowheads="1"/>
          </p:cNvSpPr>
          <p:nvPr/>
        </p:nvSpPr>
        <p:spPr bwMode="auto">
          <a:xfrm>
            <a:off x="6019800" y="65357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Tree>
    <p:extLst>
      <p:ext uri="{BB962C8B-B14F-4D97-AF65-F5344CB8AC3E}">
        <p14:creationId xmlns:p14="http://schemas.microsoft.com/office/powerpoint/2010/main" val="157760660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17463" y="0"/>
            <a:ext cx="8763000" cy="2000250"/>
          </a:xfrm>
          <a:prstGeom prst="rect">
            <a:avLst/>
          </a:prstGeom>
          <a:noFill/>
          <a:ln w="9525">
            <a:noFill/>
            <a:miter lim="800000"/>
            <a:headEnd/>
            <a:tailEnd/>
          </a:ln>
        </p:spPr>
        <p:txBody>
          <a:bodyPr>
            <a:spAutoFit/>
          </a:bodyPr>
          <a:lstStyle/>
          <a:p>
            <a:r>
              <a:rPr lang="en-US" sz="2800" b="1"/>
              <a:t>Close Packing of Spheres</a:t>
            </a:r>
          </a:p>
          <a:p>
            <a:r>
              <a:rPr lang="en-US" sz="2400"/>
              <a:t>The description of the ordering of atoms in a solid comes from simple concepts of how identical objects stack in an array. If atoms are round and they pack as close as possible, they should look like this: </a:t>
            </a:r>
          </a:p>
        </p:txBody>
      </p:sp>
      <p:pic>
        <p:nvPicPr>
          <p:cNvPr id="31747" name="Picture 2"/>
          <p:cNvPicPr>
            <a:picLocks noChangeAspect="1" noChangeArrowheads="1"/>
          </p:cNvPicPr>
          <p:nvPr/>
        </p:nvPicPr>
        <p:blipFill>
          <a:blip r:embed="rId2"/>
          <a:srcRect/>
          <a:stretch>
            <a:fillRect/>
          </a:stretch>
        </p:blipFill>
        <p:spPr bwMode="auto">
          <a:xfrm>
            <a:off x="3514725" y="1627188"/>
            <a:ext cx="3457575" cy="2590800"/>
          </a:xfrm>
          <a:prstGeom prst="rect">
            <a:avLst/>
          </a:prstGeom>
          <a:noFill/>
          <a:ln w="9525">
            <a:noFill/>
            <a:miter lim="800000"/>
            <a:headEnd/>
            <a:tailEnd/>
          </a:ln>
          <a:effectLst/>
        </p:spPr>
      </p:pic>
      <p:sp>
        <p:nvSpPr>
          <p:cNvPr id="31748" name="Rectangle 2"/>
          <p:cNvSpPr>
            <a:spLocks noChangeArrowheads="1"/>
          </p:cNvSpPr>
          <p:nvPr/>
        </p:nvSpPr>
        <p:spPr bwMode="auto">
          <a:xfrm>
            <a:off x="3657600" y="6400800"/>
            <a:ext cx="6629400" cy="369888"/>
          </a:xfrm>
          <a:prstGeom prst="rect">
            <a:avLst/>
          </a:prstGeom>
          <a:noFill/>
          <a:ln w="9525">
            <a:noFill/>
            <a:miter lim="800000"/>
            <a:headEnd/>
            <a:tailEnd/>
          </a:ln>
        </p:spPr>
        <p:txBody>
          <a:bodyPr>
            <a:spAutoFit/>
          </a:bodyPr>
          <a:lstStyle/>
          <a:p>
            <a:r>
              <a:rPr lang="en-US"/>
              <a:t>http://www.chem.ufl.edu/~itl/2045/lectures/lec_h.html</a:t>
            </a:r>
          </a:p>
        </p:txBody>
      </p:sp>
      <p:sp>
        <p:nvSpPr>
          <p:cNvPr id="31749" name="Rectangle 3"/>
          <p:cNvSpPr>
            <a:spLocks noChangeArrowheads="1"/>
          </p:cNvSpPr>
          <p:nvPr/>
        </p:nvSpPr>
        <p:spPr bwMode="auto">
          <a:xfrm>
            <a:off x="30163" y="4430713"/>
            <a:ext cx="9113837" cy="1939925"/>
          </a:xfrm>
          <a:prstGeom prst="rect">
            <a:avLst/>
          </a:prstGeom>
          <a:noFill/>
          <a:ln w="9525">
            <a:noFill/>
            <a:miter lim="800000"/>
            <a:headEnd/>
            <a:tailEnd/>
          </a:ln>
        </p:spPr>
        <p:txBody>
          <a:bodyPr>
            <a:spAutoFit/>
          </a:bodyPr>
          <a:lstStyle/>
          <a:p>
            <a:r>
              <a:rPr lang="en-US" sz="2400">
                <a:cs typeface="Arial" charset="0"/>
              </a:rPr>
              <a:t>The close packing of spheres in a plane leads to a repeat unit (parallelpiped) that has each edge equal in length to the diameter (twice the radius) of the spheres. The angles, edge length, and atomic positions of the repeat unit are sufficient for the visualization of the entire infinite array in the solid. </a:t>
            </a:r>
          </a:p>
        </p:txBody>
      </p:sp>
    </p:spTree>
    <p:extLst>
      <p:ext uri="{BB962C8B-B14F-4D97-AF65-F5344CB8AC3E}">
        <p14:creationId xmlns:p14="http://schemas.microsoft.com/office/powerpoint/2010/main" val="236955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163" y="34925"/>
            <a:ext cx="9144000" cy="1476375"/>
          </a:xfrm>
          <a:prstGeom prst="rect">
            <a:avLst/>
          </a:prstGeom>
        </p:spPr>
        <p:txBody>
          <a:bodyPr>
            <a:spAutoFit/>
          </a:bodyPr>
          <a:lstStyle/>
          <a:p>
            <a:pPr>
              <a:defRPr/>
            </a:pPr>
            <a:r>
              <a:rPr lang="en-US" dirty="0">
                <a:latin typeface="+mn-lt"/>
              </a:rPr>
              <a:t>In three dimensions the repeat unit is a 3D shape called the Unit Cell. The unit cell has three </a:t>
            </a:r>
            <a:r>
              <a:rPr lang="en-US" dirty="0" err="1">
                <a:latin typeface="+mn-lt"/>
              </a:rPr>
              <a:t>uniques</a:t>
            </a:r>
            <a:r>
              <a:rPr lang="en-US" dirty="0">
                <a:latin typeface="+mn-lt"/>
              </a:rPr>
              <a:t> crystallographic </a:t>
            </a:r>
            <a:r>
              <a:rPr lang="en-US" dirty="0" err="1">
                <a:latin typeface="+mn-lt"/>
              </a:rPr>
              <a:t>axies</a:t>
            </a:r>
            <a:r>
              <a:rPr lang="en-US" dirty="0">
                <a:latin typeface="+mn-lt"/>
              </a:rPr>
              <a:t> and, in general, three edge lengths. The angles of the edges of the unit cell need not be 90 or 120 degrees. (The figure below shows a possible crystal structure and its unit cell, but it is not a closest-packed structure, like the 2D structure above) </a:t>
            </a:r>
          </a:p>
        </p:txBody>
      </p:sp>
      <p:pic>
        <p:nvPicPr>
          <p:cNvPr id="32771" name="Picture 2"/>
          <p:cNvPicPr>
            <a:picLocks noChangeAspect="1" noChangeArrowheads="1"/>
          </p:cNvPicPr>
          <p:nvPr/>
        </p:nvPicPr>
        <p:blipFill>
          <a:blip r:embed="rId2"/>
          <a:srcRect/>
          <a:stretch>
            <a:fillRect/>
          </a:stretch>
        </p:blipFill>
        <p:spPr bwMode="auto">
          <a:xfrm>
            <a:off x="1676400" y="2362200"/>
            <a:ext cx="6096000" cy="3832225"/>
          </a:xfrm>
          <a:prstGeom prst="rect">
            <a:avLst/>
          </a:prstGeom>
          <a:noFill/>
          <a:ln w="9525">
            <a:noFill/>
            <a:miter lim="800000"/>
            <a:headEnd/>
            <a:tailEnd/>
          </a:ln>
          <a:effectLst/>
        </p:spPr>
      </p:pic>
    </p:spTree>
    <p:extLst>
      <p:ext uri="{BB962C8B-B14F-4D97-AF65-F5344CB8AC3E}">
        <p14:creationId xmlns:p14="http://schemas.microsoft.com/office/powerpoint/2010/main" val="35499679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175"/>
            <a:ext cx="9144000" cy="1938338"/>
          </a:xfrm>
          <a:prstGeom prst="rect">
            <a:avLst/>
          </a:prstGeom>
        </p:spPr>
        <p:txBody>
          <a:bodyPr>
            <a:spAutoFit/>
          </a:bodyPr>
          <a:lstStyle/>
          <a:p>
            <a:pPr>
              <a:defRPr/>
            </a:pPr>
            <a:r>
              <a:rPr lang="en-US" sz="2000" dirty="0">
                <a:latin typeface="+mn-lt"/>
              </a:rPr>
              <a:t>Close packed spheres of the same size in 3D is a little complicated. This packing leads to possibility of two unique structures, depending on how planes of 2D closest packed spheres are layered. If every other layer is exactly the same then we has a so called ABABA... structure. If not, then the structure is ABCABCABC...The figures below shows the difference between these two structures</a:t>
            </a:r>
          </a:p>
        </p:txBody>
      </p:sp>
      <p:pic>
        <p:nvPicPr>
          <p:cNvPr id="33795" name="Picture 2"/>
          <p:cNvPicPr>
            <a:picLocks noChangeAspect="1" noChangeArrowheads="1"/>
          </p:cNvPicPr>
          <p:nvPr/>
        </p:nvPicPr>
        <p:blipFill>
          <a:blip r:embed="rId2"/>
          <a:srcRect/>
          <a:stretch>
            <a:fillRect/>
          </a:stretch>
        </p:blipFill>
        <p:spPr bwMode="auto">
          <a:xfrm>
            <a:off x="1524000" y="1930400"/>
            <a:ext cx="5724525" cy="3819525"/>
          </a:xfrm>
          <a:prstGeom prst="rect">
            <a:avLst/>
          </a:prstGeom>
          <a:noFill/>
          <a:ln w="9525">
            <a:noFill/>
            <a:miter lim="800000"/>
            <a:headEnd/>
            <a:tailEnd/>
          </a:ln>
          <a:effectLst/>
        </p:spPr>
      </p:pic>
    </p:spTree>
    <p:extLst>
      <p:ext uri="{BB962C8B-B14F-4D97-AF65-F5344CB8AC3E}">
        <p14:creationId xmlns:p14="http://schemas.microsoft.com/office/powerpoint/2010/main" val="3692553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17463"/>
            <a:ext cx="8991600" cy="2676525"/>
          </a:xfrm>
          <a:prstGeom prst="rect">
            <a:avLst/>
          </a:prstGeom>
        </p:spPr>
        <p:txBody>
          <a:bodyPr>
            <a:spAutoFit/>
          </a:bodyPr>
          <a:lstStyle/>
          <a:p>
            <a:pPr>
              <a:defRPr/>
            </a:pPr>
            <a:r>
              <a:rPr lang="en-US" sz="2400" dirty="0">
                <a:latin typeface="+mn-lt"/>
              </a:rPr>
              <a:t>The ABABAB structure (panel (b) in the figures above) is called the Hexagonal Closest Packed (</a:t>
            </a:r>
            <a:r>
              <a:rPr lang="en-US" sz="2400" dirty="0" err="1">
                <a:latin typeface="+mn-lt"/>
              </a:rPr>
              <a:t>hcp</a:t>
            </a:r>
            <a:r>
              <a:rPr lang="en-US" sz="2400" dirty="0">
                <a:latin typeface="+mn-lt"/>
              </a:rPr>
              <a:t>) structure. In this structure, each atom has 12 nearest neighbors and the volume of the spheres fills the maximum possible space: 74.04%.</a:t>
            </a:r>
          </a:p>
          <a:p>
            <a:pPr>
              <a:defRPr/>
            </a:pPr>
            <a:endParaRPr lang="en-US" sz="2400" dirty="0">
              <a:latin typeface="+mn-lt"/>
            </a:endParaRPr>
          </a:p>
          <a:p>
            <a:pPr>
              <a:defRPr/>
            </a:pPr>
            <a:r>
              <a:rPr lang="en-US" sz="2400" dirty="0">
                <a:latin typeface="+mn-lt"/>
              </a:rPr>
              <a:t> </a:t>
            </a:r>
          </a:p>
        </p:txBody>
      </p:sp>
      <p:pic>
        <p:nvPicPr>
          <p:cNvPr id="34819" name="Picture 3"/>
          <p:cNvPicPr>
            <a:picLocks noChangeAspect="1" noChangeArrowheads="1"/>
          </p:cNvPicPr>
          <p:nvPr/>
        </p:nvPicPr>
        <p:blipFill>
          <a:blip r:embed="rId2"/>
          <a:srcRect/>
          <a:stretch>
            <a:fillRect/>
          </a:stretch>
        </p:blipFill>
        <p:spPr bwMode="auto">
          <a:xfrm>
            <a:off x="1295400" y="2362200"/>
            <a:ext cx="6938963" cy="3263900"/>
          </a:xfrm>
          <a:prstGeom prst="rect">
            <a:avLst/>
          </a:prstGeom>
          <a:noFill/>
          <a:ln w="9525">
            <a:noFill/>
            <a:miter lim="800000"/>
            <a:headEnd/>
            <a:tailEnd/>
          </a:ln>
          <a:effectLst/>
        </p:spPr>
      </p:pic>
      <p:pic>
        <p:nvPicPr>
          <p:cNvPr id="34820" name="Picture 4"/>
          <p:cNvPicPr>
            <a:picLocks noChangeAspect="1" noChangeArrowheads="1"/>
          </p:cNvPicPr>
          <p:nvPr/>
        </p:nvPicPr>
        <p:blipFill>
          <a:blip r:embed="rId3"/>
          <a:srcRect/>
          <a:stretch>
            <a:fillRect/>
          </a:stretch>
        </p:blipFill>
        <p:spPr bwMode="auto">
          <a:xfrm>
            <a:off x="4343400" y="6300788"/>
            <a:ext cx="5919788" cy="493712"/>
          </a:xfrm>
          <a:prstGeom prst="rect">
            <a:avLst/>
          </a:prstGeom>
          <a:noFill/>
          <a:ln w="9525">
            <a:noFill/>
            <a:miter lim="800000"/>
            <a:headEnd/>
            <a:tailEnd/>
          </a:ln>
          <a:effectLst/>
        </p:spPr>
      </p:pic>
    </p:spTree>
    <p:extLst>
      <p:ext uri="{BB962C8B-B14F-4D97-AF65-F5344CB8AC3E}">
        <p14:creationId xmlns:p14="http://schemas.microsoft.com/office/powerpoint/2010/main" val="262716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26988" y="26988"/>
            <a:ext cx="9067801" cy="1570037"/>
          </a:xfrm>
          <a:prstGeom prst="rect">
            <a:avLst/>
          </a:prstGeom>
          <a:noFill/>
          <a:ln w="9525">
            <a:noFill/>
            <a:miter lim="800000"/>
            <a:headEnd/>
            <a:tailEnd/>
          </a:ln>
        </p:spPr>
        <p:txBody>
          <a:bodyPr>
            <a:spAutoFit/>
          </a:bodyPr>
          <a:lstStyle/>
          <a:p>
            <a:r>
              <a:rPr lang="en-US" sz="2400"/>
              <a:t>The ABCABC structure is called Face Centered Cubic (fcc). It also has each atom with 12 nearest neighbors and the atoms fill 74.04% of the available space. The difference in the structure is in the different long ranged order and the unit cell.</a:t>
            </a:r>
          </a:p>
        </p:txBody>
      </p:sp>
      <p:pic>
        <p:nvPicPr>
          <p:cNvPr id="35843" name="Picture 2"/>
          <p:cNvPicPr>
            <a:picLocks noChangeAspect="1" noChangeArrowheads="1"/>
          </p:cNvPicPr>
          <p:nvPr/>
        </p:nvPicPr>
        <p:blipFill>
          <a:blip r:embed="rId2"/>
          <a:srcRect/>
          <a:stretch>
            <a:fillRect/>
          </a:stretch>
        </p:blipFill>
        <p:spPr bwMode="auto">
          <a:xfrm>
            <a:off x="1066800" y="2032000"/>
            <a:ext cx="7343775" cy="3454400"/>
          </a:xfrm>
          <a:prstGeom prst="rect">
            <a:avLst/>
          </a:prstGeom>
          <a:noFill/>
          <a:ln w="9525">
            <a:noFill/>
            <a:miter lim="800000"/>
            <a:headEnd/>
            <a:tailEnd/>
          </a:ln>
          <a:effectLst/>
        </p:spPr>
      </p:pic>
      <p:sp>
        <p:nvSpPr>
          <p:cNvPr id="35844" name="Rectangle 2"/>
          <p:cNvSpPr>
            <a:spLocks noChangeArrowheads="1"/>
          </p:cNvSpPr>
          <p:nvPr/>
        </p:nvSpPr>
        <p:spPr bwMode="auto">
          <a:xfrm>
            <a:off x="4038600" y="6400800"/>
            <a:ext cx="5867400" cy="369888"/>
          </a:xfrm>
          <a:prstGeom prst="rect">
            <a:avLst/>
          </a:prstGeom>
          <a:noFill/>
          <a:ln w="9525">
            <a:noFill/>
            <a:miter lim="800000"/>
            <a:headEnd/>
            <a:tailEnd/>
          </a:ln>
        </p:spPr>
        <p:txBody>
          <a:bodyPr>
            <a:spAutoFit/>
          </a:bodyPr>
          <a:lstStyle/>
          <a:p>
            <a:r>
              <a:rPr lang="en-US"/>
              <a:t>203.199.213.48/834/1/Structuresofsolids.ppt</a:t>
            </a:r>
          </a:p>
        </p:txBody>
      </p:sp>
    </p:spTree>
    <p:extLst>
      <p:ext uri="{BB962C8B-B14F-4D97-AF65-F5344CB8AC3E}">
        <p14:creationId xmlns:p14="http://schemas.microsoft.com/office/powerpoint/2010/main" val="3573902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p:cNvSpPr>
            <a:spLocks noGrp="1"/>
          </p:cNvSpPr>
          <p:nvPr>
            <p:ph type="sldNum" sz="quarter" idx="12"/>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D1D0F9EF-29C3-4229-9263-9DDBC2B3E333}" type="slidenum">
              <a:rPr lang="en-US" smtClean="0"/>
              <a:pPr fontAlgn="base">
                <a:spcBef>
                  <a:spcPct val="0"/>
                </a:spcBef>
                <a:spcAft>
                  <a:spcPct val="0"/>
                </a:spcAft>
                <a:defRPr/>
              </a:pPr>
              <a:t>27</a:t>
            </a:fld>
            <a:endParaRPr lang="en-US" smtClean="0"/>
          </a:p>
        </p:txBody>
      </p:sp>
      <p:pic>
        <p:nvPicPr>
          <p:cNvPr id="36867" name="Picture 2" descr="h12_28"/>
          <p:cNvPicPr>
            <a:picLocks noChangeAspect="1" noChangeArrowheads="1"/>
          </p:cNvPicPr>
          <p:nvPr/>
        </p:nvPicPr>
        <p:blipFill>
          <a:blip r:embed="rId2"/>
          <a:srcRect/>
          <a:stretch>
            <a:fillRect/>
          </a:stretch>
        </p:blipFill>
        <p:spPr bwMode="auto">
          <a:xfrm>
            <a:off x="228600" y="685800"/>
            <a:ext cx="8763000" cy="5616575"/>
          </a:xfrm>
          <a:prstGeom prst="rect">
            <a:avLst/>
          </a:prstGeom>
          <a:noFill/>
          <a:ln w="9525">
            <a:noFill/>
            <a:miter lim="800000"/>
            <a:headEnd/>
            <a:tailEnd/>
          </a:ln>
        </p:spPr>
      </p:pic>
      <p:sp>
        <p:nvSpPr>
          <p:cNvPr id="36868" name="Rectangle 3"/>
          <p:cNvSpPr>
            <a:spLocks noChangeArrowheads="1"/>
          </p:cNvSpPr>
          <p:nvPr/>
        </p:nvSpPr>
        <p:spPr bwMode="auto">
          <a:xfrm>
            <a:off x="6019800" y="63833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36869" name="Rectangle 1"/>
          <p:cNvSpPr>
            <a:spLocks noChangeArrowheads="1"/>
          </p:cNvSpPr>
          <p:nvPr/>
        </p:nvSpPr>
        <p:spPr bwMode="auto">
          <a:xfrm>
            <a:off x="228600" y="0"/>
            <a:ext cx="8763000" cy="830263"/>
          </a:xfrm>
          <a:prstGeom prst="rect">
            <a:avLst/>
          </a:prstGeom>
          <a:noFill/>
          <a:ln w="9525">
            <a:noFill/>
            <a:miter lim="800000"/>
            <a:headEnd/>
            <a:tailEnd/>
          </a:ln>
        </p:spPr>
        <p:txBody>
          <a:bodyPr>
            <a:spAutoFit/>
          </a:bodyPr>
          <a:lstStyle/>
          <a:p>
            <a:r>
              <a:rPr lang="en-US" sz="2400"/>
              <a:t>Let us examine the difference between Closed-cubic Packing and Hexagonal-Cubic Packing:</a:t>
            </a:r>
          </a:p>
        </p:txBody>
      </p:sp>
    </p:spTree>
    <p:extLst>
      <p:ext uri="{BB962C8B-B14F-4D97-AF65-F5344CB8AC3E}">
        <p14:creationId xmlns:p14="http://schemas.microsoft.com/office/powerpoint/2010/main" val="6786847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1" name="Slide Number Placeholder 3"/>
          <p:cNvSpPr>
            <a:spLocks noGrp="1"/>
          </p:cNvSpPr>
          <p:nvPr>
            <p:ph type="sldNum" sz="quarter" idx="12"/>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6D0C7800-1E87-4AE7-B09C-0F6E7792E9AB}" type="slidenum">
              <a:rPr lang="en-US" smtClean="0"/>
              <a:pPr fontAlgn="base">
                <a:spcBef>
                  <a:spcPct val="0"/>
                </a:spcBef>
                <a:spcAft>
                  <a:spcPct val="0"/>
                </a:spcAft>
                <a:defRPr/>
              </a:pPr>
              <a:t>28</a:t>
            </a:fld>
            <a:endParaRPr lang="en-US" smtClean="0"/>
          </a:p>
        </p:txBody>
      </p:sp>
      <p:grpSp>
        <p:nvGrpSpPr>
          <p:cNvPr id="2" name="Group 15"/>
          <p:cNvGrpSpPr>
            <a:grpSpLocks/>
          </p:cNvGrpSpPr>
          <p:nvPr/>
        </p:nvGrpSpPr>
        <p:grpSpPr bwMode="auto">
          <a:xfrm>
            <a:off x="746125" y="381000"/>
            <a:ext cx="3444875" cy="5724525"/>
            <a:chOff x="470" y="240"/>
            <a:chExt cx="2170" cy="3606"/>
          </a:xfrm>
        </p:grpSpPr>
        <p:grpSp>
          <p:nvGrpSpPr>
            <p:cNvPr id="3" name="Group 13"/>
            <p:cNvGrpSpPr>
              <a:grpSpLocks/>
            </p:cNvGrpSpPr>
            <p:nvPr/>
          </p:nvGrpSpPr>
          <p:grpSpPr bwMode="auto">
            <a:xfrm>
              <a:off x="470" y="240"/>
              <a:ext cx="2170" cy="2074"/>
              <a:chOff x="470" y="240"/>
              <a:chExt cx="2170" cy="2074"/>
            </a:xfrm>
          </p:grpSpPr>
          <p:graphicFrame>
            <p:nvGraphicFramePr>
              <p:cNvPr id="37899" name="Object 5"/>
              <p:cNvGraphicFramePr>
                <a:graphicFrameLocks noChangeAspect="1"/>
              </p:cNvGraphicFramePr>
              <p:nvPr/>
            </p:nvGraphicFramePr>
            <p:xfrm>
              <a:off x="520" y="240"/>
              <a:ext cx="1810" cy="1820"/>
            </p:xfrm>
            <a:graphic>
              <a:graphicData uri="http://schemas.openxmlformats.org/presentationml/2006/ole">
                <mc:AlternateContent xmlns:mc="http://schemas.openxmlformats.org/markup-compatibility/2006">
                  <mc:Choice xmlns:v="urn:schemas-microsoft-com:vml" Requires="v">
                    <p:oleObj spid="_x0000_s22538" name="Bitmap Image" r:id="rId3" imgW="1476190" imgH="1580952" progId="PBrush">
                      <p:embed/>
                    </p:oleObj>
                  </mc:Choice>
                  <mc:Fallback>
                    <p:oleObj name="Bitmap Image" r:id="rId3" imgW="1476190" imgH="1580952" progId="PBrush">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 y="240"/>
                            <a:ext cx="1810" cy="1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900" name="Text Box 6"/>
              <p:cNvSpPr txBox="1">
                <a:spLocks noChangeArrowheads="1"/>
              </p:cNvSpPr>
              <p:nvPr/>
            </p:nvSpPr>
            <p:spPr bwMode="auto">
              <a:xfrm>
                <a:off x="470" y="2026"/>
                <a:ext cx="2170" cy="288"/>
              </a:xfrm>
              <a:prstGeom prst="rect">
                <a:avLst/>
              </a:prstGeom>
              <a:noFill/>
              <a:ln w="9525">
                <a:noFill/>
                <a:miter lim="800000"/>
                <a:headEnd/>
                <a:tailEnd/>
              </a:ln>
            </p:spPr>
            <p:txBody>
              <a:bodyPr>
                <a:spAutoFit/>
              </a:bodyPr>
              <a:lstStyle/>
              <a:p>
                <a:r>
                  <a:rPr lang="en-US" sz="2400" b="1">
                    <a:latin typeface="Lucida Sans Unicode" pitchFamily="34" charset="0"/>
                  </a:rPr>
                  <a:t>Hexagonal close packing</a:t>
                </a:r>
              </a:p>
            </p:txBody>
          </p:sp>
        </p:grpSp>
        <p:graphicFrame>
          <p:nvGraphicFramePr>
            <p:cNvPr id="37898" name="Object 4"/>
            <p:cNvGraphicFramePr>
              <a:graphicFrameLocks noChangeAspect="1"/>
            </p:cNvGraphicFramePr>
            <p:nvPr/>
          </p:nvGraphicFramePr>
          <p:xfrm>
            <a:off x="996" y="2640"/>
            <a:ext cx="924" cy="1206"/>
          </p:xfrm>
          <a:graphic>
            <a:graphicData uri="http://schemas.openxmlformats.org/presentationml/2006/ole">
              <mc:AlternateContent xmlns:mc="http://schemas.openxmlformats.org/markup-compatibility/2006">
                <mc:Choice xmlns:v="urn:schemas-microsoft-com:vml" Requires="v">
                  <p:oleObj spid="_x0000_s22539" name="Bitmap Image" r:id="rId5" imgW="1467055" imgH="1914286" progId="PBrush">
                    <p:embed/>
                  </p:oleObj>
                </mc:Choice>
                <mc:Fallback>
                  <p:oleObj name="Bitmap Image" r:id="rId5" imgW="1467055" imgH="1914286" progId="PBrush">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 y="2640"/>
                          <a:ext cx="924" cy="1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Group 14"/>
          <p:cNvGrpSpPr>
            <a:grpSpLocks/>
          </p:cNvGrpSpPr>
          <p:nvPr/>
        </p:nvGrpSpPr>
        <p:grpSpPr bwMode="auto">
          <a:xfrm>
            <a:off x="4648200" y="387350"/>
            <a:ext cx="3200400" cy="5651500"/>
            <a:chOff x="2928" y="244"/>
            <a:chExt cx="2016" cy="3560"/>
          </a:xfrm>
        </p:grpSpPr>
        <p:graphicFrame>
          <p:nvGraphicFramePr>
            <p:cNvPr id="37894" name="Object 2"/>
            <p:cNvGraphicFramePr>
              <a:graphicFrameLocks noChangeAspect="1"/>
            </p:cNvGraphicFramePr>
            <p:nvPr/>
          </p:nvGraphicFramePr>
          <p:xfrm>
            <a:off x="2928" y="244"/>
            <a:ext cx="1955" cy="1676"/>
          </p:xfrm>
          <a:graphic>
            <a:graphicData uri="http://schemas.openxmlformats.org/presentationml/2006/ole">
              <mc:AlternateContent xmlns:mc="http://schemas.openxmlformats.org/markup-compatibility/2006">
                <mc:Choice xmlns:v="urn:schemas-microsoft-com:vml" Requires="v">
                  <p:oleObj spid="_x0000_s22540" name="Bitmap Image" r:id="rId7" imgW="1561905" imgH="1571844" progId="PBrush">
                    <p:embed/>
                  </p:oleObj>
                </mc:Choice>
                <mc:Fallback>
                  <p:oleObj name="Bitmap Image" r:id="rId7" imgW="1561905" imgH="1571844" progId="PBrush">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244"/>
                          <a:ext cx="1955" cy="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5" name="Text Box 7"/>
            <p:cNvSpPr txBox="1">
              <a:spLocks noChangeArrowheads="1"/>
            </p:cNvSpPr>
            <p:nvPr/>
          </p:nvSpPr>
          <p:spPr bwMode="auto">
            <a:xfrm>
              <a:off x="3107" y="2016"/>
              <a:ext cx="1837" cy="288"/>
            </a:xfrm>
            <a:prstGeom prst="rect">
              <a:avLst/>
            </a:prstGeom>
            <a:noFill/>
            <a:ln w="9525">
              <a:noFill/>
              <a:miter lim="800000"/>
              <a:headEnd/>
              <a:tailEnd/>
            </a:ln>
          </p:spPr>
          <p:txBody>
            <a:bodyPr>
              <a:spAutoFit/>
            </a:bodyPr>
            <a:lstStyle/>
            <a:p>
              <a:r>
                <a:rPr lang="en-US" sz="2400" b="1">
                  <a:latin typeface="Lucida Sans Unicode" pitchFamily="34" charset="0"/>
                </a:rPr>
                <a:t>Cubic close packing</a:t>
              </a:r>
            </a:p>
          </p:txBody>
        </p:sp>
        <p:graphicFrame>
          <p:nvGraphicFramePr>
            <p:cNvPr id="37896" name="Object 3"/>
            <p:cNvGraphicFramePr>
              <a:graphicFrameLocks noChangeAspect="1"/>
            </p:cNvGraphicFramePr>
            <p:nvPr/>
          </p:nvGraphicFramePr>
          <p:xfrm>
            <a:off x="3402" y="2592"/>
            <a:ext cx="966" cy="1212"/>
          </p:xfrm>
          <a:graphic>
            <a:graphicData uri="http://schemas.openxmlformats.org/presentationml/2006/ole">
              <mc:AlternateContent xmlns:mc="http://schemas.openxmlformats.org/markup-compatibility/2006">
                <mc:Choice xmlns:v="urn:schemas-microsoft-com:vml" Requires="v">
                  <p:oleObj spid="_x0000_s22541" name="Bitmap Image" r:id="rId9" imgW="1533739" imgH="1924319" progId="PBrush">
                    <p:embed/>
                  </p:oleObj>
                </mc:Choice>
                <mc:Fallback>
                  <p:oleObj name="Bitmap Image" r:id="rId9" imgW="1533739" imgH="1924319" progId="PBrush">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02" y="2592"/>
                          <a:ext cx="966" cy="1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7893" name="Rectangle 11"/>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Tree>
    <p:extLst>
      <p:ext uri="{BB962C8B-B14F-4D97-AF65-F5344CB8AC3E}">
        <p14:creationId xmlns:p14="http://schemas.microsoft.com/office/powerpoint/2010/main" val="20575856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1"/>
          <p:cNvSpPr txBox="1">
            <a:spLocks noChangeArrowheads="1"/>
          </p:cNvSpPr>
          <p:nvPr/>
        </p:nvSpPr>
        <p:spPr bwMode="auto">
          <a:xfrm>
            <a:off x="1752600" y="914400"/>
            <a:ext cx="6681788" cy="769938"/>
          </a:xfrm>
          <a:prstGeom prst="rect">
            <a:avLst/>
          </a:prstGeom>
          <a:noFill/>
          <a:ln w="9525">
            <a:noFill/>
            <a:miter lim="800000"/>
            <a:headEnd/>
            <a:tailEnd/>
          </a:ln>
        </p:spPr>
        <p:txBody>
          <a:bodyPr wrap="none">
            <a:spAutoFit/>
          </a:bodyPr>
          <a:lstStyle/>
          <a:p>
            <a:r>
              <a:rPr lang="en-US" sz="4400">
                <a:solidFill>
                  <a:schemeClr val="bg1"/>
                </a:solidFill>
              </a:rPr>
              <a:t>Let us watch this movie!!!!</a:t>
            </a:r>
          </a:p>
        </p:txBody>
      </p:sp>
      <p:sp>
        <p:nvSpPr>
          <p:cNvPr id="38915" name="TextBox 2"/>
          <p:cNvSpPr txBox="1">
            <a:spLocks noChangeArrowheads="1"/>
          </p:cNvSpPr>
          <p:nvPr/>
        </p:nvSpPr>
        <p:spPr bwMode="auto">
          <a:xfrm>
            <a:off x="1828800" y="2590800"/>
            <a:ext cx="5564188" cy="369888"/>
          </a:xfrm>
          <a:prstGeom prst="rect">
            <a:avLst/>
          </a:prstGeom>
          <a:noFill/>
          <a:ln w="9525">
            <a:noFill/>
            <a:miter lim="800000"/>
            <a:headEnd/>
            <a:tailEnd/>
          </a:ln>
        </p:spPr>
        <p:txBody>
          <a:bodyPr wrap="none">
            <a:spAutoFit/>
          </a:bodyPr>
          <a:lstStyle/>
          <a:p>
            <a:r>
              <a:rPr lang="en-US">
                <a:solidFill>
                  <a:schemeClr val="bg1"/>
                </a:solidFill>
              </a:rPr>
              <a:t>http://www.chem.ufl.edu/~itl/2045/lectures/lec_h.html</a:t>
            </a:r>
          </a:p>
        </p:txBody>
      </p:sp>
      <p:sp>
        <p:nvSpPr>
          <p:cNvPr id="2" name="Rectangle 1"/>
          <p:cNvSpPr/>
          <p:nvPr/>
        </p:nvSpPr>
        <p:spPr>
          <a:xfrm>
            <a:off x="152400" y="0"/>
            <a:ext cx="8610600" cy="2308225"/>
          </a:xfrm>
          <a:prstGeom prst="rect">
            <a:avLst/>
          </a:prstGeom>
        </p:spPr>
        <p:txBody>
          <a:bodyPr>
            <a:spAutoFit/>
          </a:bodyPr>
          <a:lstStyle/>
          <a:p>
            <a:pPr>
              <a:defRPr/>
            </a:pPr>
            <a:r>
              <a:rPr lang="en-US" sz="2400" dirty="0">
                <a:latin typeface="+mn-lt"/>
              </a:rPr>
              <a:t>The (</a:t>
            </a:r>
            <a:r>
              <a:rPr lang="en-US" sz="2400" dirty="0" err="1">
                <a:latin typeface="+mn-lt"/>
              </a:rPr>
              <a:t>fcc</a:t>
            </a:r>
            <a:r>
              <a:rPr lang="en-US" sz="2400" dirty="0">
                <a:latin typeface="+mn-lt"/>
              </a:rPr>
              <a:t>) structure is just one of the structures that is derived from a cubic unit cell (right angles, equal length edges). (If we allow the edge lengths to be different, but keep the right angles, we create the orthorhombic cells) The Cubic cells are shown below: </a:t>
            </a:r>
          </a:p>
          <a:p>
            <a:pPr>
              <a:defRPr/>
            </a:pPr>
            <a:r>
              <a:rPr lang="en-US" sz="2400" dirty="0">
                <a:latin typeface="+mn-lt"/>
              </a:rPr>
              <a:t> </a:t>
            </a:r>
          </a:p>
        </p:txBody>
      </p:sp>
      <p:pic>
        <p:nvPicPr>
          <p:cNvPr id="38917" name="Picture 4"/>
          <p:cNvPicPr>
            <a:picLocks noChangeAspect="1" noChangeArrowheads="1"/>
          </p:cNvPicPr>
          <p:nvPr/>
        </p:nvPicPr>
        <p:blipFill>
          <a:blip r:embed="rId2"/>
          <a:srcRect/>
          <a:stretch>
            <a:fillRect/>
          </a:stretch>
        </p:blipFill>
        <p:spPr bwMode="auto">
          <a:xfrm>
            <a:off x="1422400" y="1857375"/>
            <a:ext cx="6376988" cy="5000625"/>
          </a:xfrm>
          <a:prstGeom prst="rect">
            <a:avLst/>
          </a:prstGeom>
          <a:noFill/>
          <a:ln w="9525">
            <a:noFill/>
            <a:miter lim="800000"/>
            <a:headEnd/>
            <a:tailEnd/>
          </a:ln>
          <a:effectLst/>
        </p:spPr>
      </p:pic>
    </p:spTree>
    <p:extLst>
      <p:ext uri="{BB962C8B-B14F-4D97-AF65-F5344CB8AC3E}">
        <p14:creationId xmlns:p14="http://schemas.microsoft.com/office/powerpoint/2010/main" val="5487021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6988"/>
            <a:ext cx="8991600" cy="2030412"/>
          </a:xfrm>
          <a:prstGeom prst="rect">
            <a:avLst/>
          </a:prstGeom>
        </p:spPr>
        <p:txBody>
          <a:bodyPr>
            <a:spAutoFit/>
          </a:bodyPr>
          <a:lstStyle/>
          <a:p>
            <a:pPr>
              <a:defRPr/>
            </a:pPr>
            <a:r>
              <a:rPr lang="en-US" dirty="0">
                <a:latin typeface="+mn-lt"/>
              </a:rPr>
              <a:t>The number of atoms in the unit cell is not the same as the coordination number (number of nearest neighbors). In the Body Centered Cubic (bcc) structure above the number of atoms in the unit cell is 2 but the number of nearest </a:t>
            </a:r>
            <a:r>
              <a:rPr lang="en-US" dirty="0" err="1">
                <a:latin typeface="+mn-lt"/>
              </a:rPr>
              <a:t>neightbors</a:t>
            </a:r>
            <a:r>
              <a:rPr lang="en-US" dirty="0">
                <a:latin typeface="+mn-lt"/>
              </a:rPr>
              <a:t> is 8. (The number of gray atoms in the above gives the number of atoms in the unit cell) The (bcc) structure is not as tightly packed as the (</a:t>
            </a:r>
            <a:r>
              <a:rPr lang="en-US" dirty="0" err="1">
                <a:latin typeface="+mn-lt"/>
              </a:rPr>
              <a:t>hcp</a:t>
            </a:r>
            <a:r>
              <a:rPr lang="en-US" dirty="0">
                <a:latin typeface="+mn-lt"/>
              </a:rPr>
              <a:t>) or (</a:t>
            </a:r>
            <a:r>
              <a:rPr lang="en-US" dirty="0" err="1">
                <a:latin typeface="+mn-lt"/>
              </a:rPr>
              <a:t>fcc</a:t>
            </a:r>
            <a:r>
              <a:rPr lang="en-US" dirty="0">
                <a:latin typeface="+mn-lt"/>
              </a:rPr>
              <a:t>) structures, with the atoms occupying only 68.02% of the available space.</a:t>
            </a:r>
          </a:p>
        </p:txBody>
      </p:sp>
      <p:pic>
        <p:nvPicPr>
          <p:cNvPr id="39939" name="Picture 2"/>
          <p:cNvPicPr>
            <a:picLocks noChangeAspect="1" noChangeArrowheads="1"/>
          </p:cNvPicPr>
          <p:nvPr/>
        </p:nvPicPr>
        <p:blipFill>
          <a:blip r:embed="rId2"/>
          <a:srcRect/>
          <a:stretch>
            <a:fillRect/>
          </a:stretch>
        </p:blipFill>
        <p:spPr bwMode="auto">
          <a:xfrm>
            <a:off x="609600" y="2312988"/>
            <a:ext cx="7342188" cy="2682875"/>
          </a:xfrm>
          <a:prstGeom prst="rect">
            <a:avLst/>
          </a:prstGeom>
          <a:noFill/>
          <a:ln w="9525">
            <a:noFill/>
            <a:miter lim="800000"/>
            <a:headEnd/>
            <a:tailEnd/>
          </a:ln>
          <a:effectLst/>
        </p:spPr>
      </p:pic>
      <p:sp>
        <p:nvSpPr>
          <p:cNvPr id="39940" name="Rectangle 2"/>
          <p:cNvSpPr>
            <a:spLocks noChangeArrowheads="1"/>
          </p:cNvSpPr>
          <p:nvPr/>
        </p:nvSpPr>
        <p:spPr bwMode="auto">
          <a:xfrm>
            <a:off x="2971800" y="5715000"/>
            <a:ext cx="6019800" cy="369888"/>
          </a:xfrm>
          <a:prstGeom prst="rect">
            <a:avLst/>
          </a:prstGeom>
          <a:noFill/>
          <a:ln w="9525">
            <a:noFill/>
            <a:miter lim="800000"/>
            <a:headEnd/>
            <a:tailEnd/>
          </a:ln>
        </p:spPr>
        <p:txBody>
          <a:bodyPr>
            <a:spAutoFit/>
          </a:bodyPr>
          <a:lstStyle/>
          <a:p>
            <a:r>
              <a:rPr lang="en-US"/>
              <a:t>http://www.chem.ufl.edu/~itl/2045/lectures/lec_h.html</a:t>
            </a:r>
          </a:p>
        </p:txBody>
      </p:sp>
    </p:spTree>
    <p:extLst>
      <p:ext uri="{BB962C8B-B14F-4D97-AF65-F5344CB8AC3E}">
        <p14:creationId xmlns:p14="http://schemas.microsoft.com/office/powerpoint/2010/main" val="8145533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http://www.chem.ufl.edu/~itl/2045/lectures/h_figs/h12_27.jpg"/>
          <p:cNvPicPr>
            <a:picLocks noChangeAspect="1" noChangeArrowheads="1"/>
          </p:cNvPicPr>
          <p:nvPr/>
        </p:nvPicPr>
        <p:blipFill>
          <a:blip r:embed="rId2"/>
          <a:srcRect/>
          <a:stretch>
            <a:fillRect/>
          </a:stretch>
        </p:blipFill>
        <p:spPr bwMode="auto">
          <a:xfrm>
            <a:off x="0" y="-152400"/>
            <a:ext cx="9144000" cy="7010400"/>
          </a:xfrm>
          <a:prstGeom prst="rect">
            <a:avLst/>
          </a:prstGeom>
          <a:noFill/>
          <a:ln w="9525">
            <a:noFill/>
            <a:miter lim="800000"/>
            <a:headEnd/>
            <a:tailEnd/>
          </a:ln>
        </p:spPr>
      </p:pic>
    </p:spTree>
    <p:extLst>
      <p:ext uri="{BB962C8B-B14F-4D97-AF65-F5344CB8AC3E}">
        <p14:creationId xmlns:p14="http://schemas.microsoft.com/office/powerpoint/2010/main" val="243605720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p:cNvSpPr>
            <a:spLocks noGrp="1"/>
          </p:cNvSpPr>
          <p:nvPr>
            <p:ph type="sldNum" sz="quarter" idx="12"/>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43363333-DF7E-4F10-BCD9-3E2E1ADF509F}" type="slidenum">
              <a:rPr lang="en-US" smtClean="0"/>
              <a:pPr fontAlgn="base">
                <a:spcBef>
                  <a:spcPct val="0"/>
                </a:spcBef>
                <a:spcAft>
                  <a:spcPct val="0"/>
                </a:spcAft>
                <a:defRPr/>
              </a:pPr>
              <a:t>32</a:t>
            </a:fld>
            <a:endParaRPr lang="en-US" smtClean="0"/>
          </a:p>
        </p:txBody>
      </p:sp>
      <p:sp>
        <p:nvSpPr>
          <p:cNvPr id="43011" name="Rectangle 34"/>
          <p:cNvSpPr>
            <a:spLocks noChangeArrowheads="1"/>
          </p:cNvSpPr>
          <p:nvPr/>
        </p:nvSpPr>
        <p:spPr bwMode="auto">
          <a:xfrm>
            <a:off x="4013200" y="1227138"/>
            <a:ext cx="2260600" cy="979487"/>
          </a:xfrm>
          <a:prstGeom prst="rect">
            <a:avLst/>
          </a:prstGeom>
          <a:noFill/>
          <a:ln w="9525">
            <a:noFill/>
            <a:miter lim="800000"/>
            <a:headEnd/>
            <a:tailEnd/>
          </a:ln>
        </p:spPr>
        <p:txBody>
          <a:bodyPr/>
          <a:lstStyle/>
          <a:p>
            <a:pPr algn="ctr">
              <a:spcBef>
                <a:spcPct val="20000"/>
              </a:spcBef>
            </a:pPr>
            <a:r>
              <a:rPr lang="en-US" sz="2800">
                <a:solidFill>
                  <a:srgbClr val="CC0099"/>
                </a:solidFill>
                <a:latin typeface="Lucida Sans Unicode" pitchFamily="34" charset="0"/>
              </a:rPr>
              <a:t>6</a:t>
            </a:r>
          </a:p>
        </p:txBody>
      </p:sp>
      <p:sp>
        <p:nvSpPr>
          <p:cNvPr id="43012" name="Line 45"/>
          <p:cNvSpPr>
            <a:spLocks noChangeShapeType="1"/>
          </p:cNvSpPr>
          <p:nvPr/>
        </p:nvSpPr>
        <p:spPr bwMode="auto">
          <a:xfrm>
            <a:off x="1752600" y="228600"/>
            <a:ext cx="6781800" cy="0"/>
          </a:xfrm>
          <a:prstGeom prst="line">
            <a:avLst/>
          </a:prstGeom>
          <a:noFill/>
          <a:ln w="28575" cap="sq">
            <a:solidFill>
              <a:schemeClr val="tx1"/>
            </a:solidFill>
            <a:round/>
            <a:headEnd/>
            <a:tailEnd/>
          </a:ln>
        </p:spPr>
        <p:txBody>
          <a:bodyPr/>
          <a:lstStyle/>
          <a:p>
            <a:endParaRPr lang="en-US"/>
          </a:p>
        </p:txBody>
      </p:sp>
      <p:sp>
        <p:nvSpPr>
          <p:cNvPr id="43013" name="Line 46"/>
          <p:cNvSpPr>
            <a:spLocks noChangeShapeType="1"/>
          </p:cNvSpPr>
          <p:nvPr/>
        </p:nvSpPr>
        <p:spPr bwMode="auto">
          <a:xfrm>
            <a:off x="1752600" y="1227138"/>
            <a:ext cx="6781800" cy="0"/>
          </a:xfrm>
          <a:prstGeom prst="line">
            <a:avLst/>
          </a:prstGeom>
          <a:noFill/>
          <a:ln w="12700">
            <a:solidFill>
              <a:schemeClr val="tx1"/>
            </a:solidFill>
            <a:round/>
            <a:headEnd/>
            <a:tailEnd/>
          </a:ln>
        </p:spPr>
        <p:txBody>
          <a:bodyPr/>
          <a:lstStyle/>
          <a:p>
            <a:endParaRPr lang="en-US"/>
          </a:p>
        </p:txBody>
      </p:sp>
      <p:sp>
        <p:nvSpPr>
          <p:cNvPr id="43014" name="Line 47"/>
          <p:cNvSpPr>
            <a:spLocks noChangeShapeType="1"/>
          </p:cNvSpPr>
          <p:nvPr/>
        </p:nvSpPr>
        <p:spPr bwMode="auto">
          <a:xfrm>
            <a:off x="1752600" y="2206625"/>
            <a:ext cx="6781800" cy="0"/>
          </a:xfrm>
          <a:prstGeom prst="line">
            <a:avLst/>
          </a:prstGeom>
          <a:noFill/>
          <a:ln w="12700">
            <a:solidFill>
              <a:schemeClr val="tx1"/>
            </a:solidFill>
            <a:round/>
            <a:headEnd/>
            <a:tailEnd/>
          </a:ln>
        </p:spPr>
        <p:txBody>
          <a:bodyPr/>
          <a:lstStyle/>
          <a:p>
            <a:endParaRPr lang="en-US"/>
          </a:p>
        </p:txBody>
      </p:sp>
      <p:sp>
        <p:nvSpPr>
          <p:cNvPr id="43015" name="Line 48"/>
          <p:cNvSpPr>
            <a:spLocks noChangeShapeType="1"/>
          </p:cNvSpPr>
          <p:nvPr/>
        </p:nvSpPr>
        <p:spPr bwMode="auto">
          <a:xfrm>
            <a:off x="1752600" y="3630613"/>
            <a:ext cx="6781800" cy="0"/>
          </a:xfrm>
          <a:prstGeom prst="line">
            <a:avLst/>
          </a:prstGeom>
          <a:noFill/>
          <a:ln w="12700">
            <a:solidFill>
              <a:schemeClr val="tx1"/>
            </a:solidFill>
            <a:round/>
            <a:headEnd/>
            <a:tailEnd/>
          </a:ln>
        </p:spPr>
        <p:txBody>
          <a:bodyPr/>
          <a:lstStyle/>
          <a:p>
            <a:endParaRPr lang="en-US"/>
          </a:p>
        </p:txBody>
      </p:sp>
      <p:sp>
        <p:nvSpPr>
          <p:cNvPr id="43016" name="Line 49"/>
          <p:cNvSpPr>
            <a:spLocks noChangeShapeType="1"/>
          </p:cNvSpPr>
          <p:nvPr/>
        </p:nvSpPr>
        <p:spPr bwMode="auto">
          <a:xfrm>
            <a:off x="1752600" y="4611688"/>
            <a:ext cx="6781800" cy="0"/>
          </a:xfrm>
          <a:prstGeom prst="line">
            <a:avLst/>
          </a:prstGeom>
          <a:noFill/>
          <a:ln w="12700">
            <a:solidFill>
              <a:schemeClr val="tx1"/>
            </a:solidFill>
            <a:round/>
            <a:headEnd/>
            <a:tailEnd/>
          </a:ln>
        </p:spPr>
        <p:txBody>
          <a:bodyPr/>
          <a:lstStyle/>
          <a:p>
            <a:endParaRPr lang="en-US"/>
          </a:p>
        </p:txBody>
      </p:sp>
      <p:sp>
        <p:nvSpPr>
          <p:cNvPr id="43017" name="Line 50"/>
          <p:cNvSpPr>
            <a:spLocks noChangeShapeType="1"/>
          </p:cNvSpPr>
          <p:nvPr/>
        </p:nvSpPr>
        <p:spPr bwMode="auto">
          <a:xfrm>
            <a:off x="1752600" y="5562600"/>
            <a:ext cx="6781800" cy="0"/>
          </a:xfrm>
          <a:prstGeom prst="line">
            <a:avLst/>
          </a:prstGeom>
          <a:noFill/>
          <a:ln w="28575" cap="sq">
            <a:solidFill>
              <a:schemeClr val="tx1"/>
            </a:solidFill>
            <a:round/>
            <a:headEnd/>
            <a:tailEnd/>
          </a:ln>
        </p:spPr>
        <p:txBody>
          <a:bodyPr/>
          <a:lstStyle/>
          <a:p>
            <a:endParaRPr lang="en-US"/>
          </a:p>
        </p:txBody>
      </p:sp>
      <p:sp>
        <p:nvSpPr>
          <p:cNvPr id="43018" name="Line 52"/>
          <p:cNvSpPr>
            <a:spLocks noChangeShapeType="1"/>
          </p:cNvSpPr>
          <p:nvPr/>
        </p:nvSpPr>
        <p:spPr bwMode="auto">
          <a:xfrm>
            <a:off x="4013200" y="228600"/>
            <a:ext cx="0" cy="5334000"/>
          </a:xfrm>
          <a:prstGeom prst="line">
            <a:avLst/>
          </a:prstGeom>
          <a:noFill/>
          <a:ln w="12700">
            <a:solidFill>
              <a:schemeClr val="tx1"/>
            </a:solidFill>
            <a:round/>
            <a:headEnd/>
            <a:tailEnd/>
          </a:ln>
        </p:spPr>
        <p:txBody>
          <a:bodyPr/>
          <a:lstStyle/>
          <a:p>
            <a:endParaRPr lang="en-US"/>
          </a:p>
        </p:txBody>
      </p:sp>
      <p:sp>
        <p:nvSpPr>
          <p:cNvPr id="43019" name="Line 53"/>
          <p:cNvSpPr>
            <a:spLocks noChangeShapeType="1"/>
          </p:cNvSpPr>
          <p:nvPr/>
        </p:nvSpPr>
        <p:spPr bwMode="auto">
          <a:xfrm>
            <a:off x="6273800" y="228600"/>
            <a:ext cx="0" cy="5334000"/>
          </a:xfrm>
          <a:prstGeom prst="line">
            <a:avLst/>
          </a:prstGeom>
          <a:noFill/>
          <a:ln w="12700">
            <a:solidFill>
              <a:schemeClr val="tx1"/>
            </a:solidFill>
            <a:round/>
            <a:headEnd/>
            <a:tailEnd/>
          </a:ln>
        </p:spPr>
        <p:txBody>
          <a:bodyPr/>
          <a:lstStyle/>
          <a:p>
            <a:endParaRPr lang="en-US"/>
          </a:p>
        </p:txBody>
      </p:sp>
      <p:sp>
        <p:nvSpPr>
          <p:cNvPr id="43020" name="Line 54"/>
          <p:cNvSpPr>
            <a:spLocks noChangeShapeType="1"/>
          </p:cNvSpPr>
          <p:nvPr/>
        </p:nvSpPr>
        <p:spPr bwMode="auto">
          <a:xfrm>
            <a:off x="8534400" y="228600"/>
            <a:ext cx="0" cy="5334000"/>
          </a:xfrm>
          <a:prstGeom prst="line">
            <a:avLst/>
          </a:prstGeom>
          <a:noFill/>
          <a:ln w="28575" cap="sq">
            <a:solidFill>
              <a:schemeClr val="tx1"/>
            </a:solidFill>
            <a:round/>
            <a:headEnd/>
            <a:tailEnd/>
          </a:ln>
        </p:spPr>
        <p:txBody>
          <a:bodyPr/>
          <a:lstStyle/>
          <a:p>
            <a:endParaRPr lang="en-US"/>
          </a:p>
        </p:txBody>
      </p:sp>
      <p:grpSp>
        <p:nvGrpSpPr>
          <p:cNvPr id="2" name="Group 70"/>
          <p:cNvGrpSpPr>
            <a:grpSpLocks/>
          </p:cNvGrpSpPr>
          <p:nvPr/>
        </p:nvGrpSpPr>
        <p:grpSpPr bwMode="auto">
          <a:xfrm>
            <a:off x="381000" y="228600"/>
            <a:ext cx="8153400" cy="5334000"/>
            <a:chOff x="480" y="384"/>
            <a:chExt cx="5136" cy="3360"/>
          </a:xfrm>
        </p:grpSpPr>
        <p:sp>
          <p:nvSpPr>
            <p:cNvPr id="43023" name="Rectangle 44"/>
            <p:cNvSpPr>
              <a:spLocks noChangeArrowheads="1"/>
            </p:cNvSpPr>
            <p:nvPr/>
          </p:nvSpPr>
          <p:spPr bwMode="auto">
            <a:xfrm>
              <a:off x="4192" y="3145"/>
              <a:ext cx="1424" cy="599"/>
            </a:xfrm>
            <a:prstGeom prst="rect">
              <a:avLst/>
            </a:prstGeom>
            <a:noFill/>
            <a:ln w="9525">
              <a:noFill/>
              <a:miter lim="800000"/>
              <a:headEnd/>
              <a:tailEnd/>
            </a:ln>
          </p:spPr>
          <p:txBody>
            <a:bodyPr/>
            <a:lstStyle/>
            <a:p>
              <a:pPr>
                <a:spcBef>
                  <a:spcPct val="20000"/>
                </a:spcBef>
              </a:pPr>
              <a:r>
                <a:rPr lang="en-US" sz="2800" b="1" i="1">
                  <a:solidFill>
                    <a:srgbClr val="CC3300"/>
                  </a:solidFill>
                  <a:latin typeface="Lucida Sans Unicode" pitchFamily="34" charset="0"/>
                </a:rPr>
                <a:t>ABCABC…</a:t>
              </a:r>
            </a:p>
          </p:txBody>
        </p:sp>
        <p:sp>
          <p:nvSpPr>
            <p:cNvPr id="43024" name="Rectangle 43"/>
            <p:cNvSpPr>
              <a:spLocks noChangeArrowheads="1"/>
            </p:cNvSpPr>
            <p:nvPr/>
          </p:nvSpPr>
          <p:spPr bwMode="auto">
            <a:xfrm>
              <a:off x="2768" y="3145"/>
              <a:ext cx="1424" cy="599"/>
            </a:xfrm>
            <a:prstGeom prst="rect">
              <a:avLst/>
            </a:prstGeom>
            <a:noFill/>
            <a:ln w="9525">
              <a:noFill/>
              <a:miter lim="800000"/>
              <a:headEnd/>
              <a:tailEnd/>
            </a:ln>
          </p:spPr>
          <p:txBody>
            <a:bodyPr/>
            <a:lstStyle/>
            <a:p>
              <a:pPr algn="ctr">
                <a:spcBef>
                  <a:spcPct val="20000"/>
                </a:spcBef>
              </a:pPr>
              <a:r>
                <a:rPr lang="en-US" sz="2800">
                  <a:solidFill>
                    <a:srgbClr val="CC0099"/>
                  </a:solidFill>
                  <a:latin typeface="Lucida Sans Unicode" pitchFamily="34" charset="0"/>
                </a:rPr>
                <a:t>12</a:t>
              </a:r>
            </a:p>
          </p:txBody>
        </p:sp>
        <p:sp>
          <p:nvSpPr>
            <p:cNvPr id="43025" name="Rectangle 42"/>
            <p:cNvSpPr>
              <a:spLocks noChangeArrowheads="1"/>
            </p:cNvSpPr>
            <p:nvPr/>
          </p:nvSpPr>
          <p:spPr bwMode="auto">
            <a:xfrm>
              <a:off x="1344" y="3145"/>
              <a:ext cx="1424" cy="599"/>
            </a:xfrm>
            <a:prstGeom prst="rect">
              <a:avLst/>
            </a:prstGeom>
            <a:noFill/>
            <a:ln w="9525">
              <a:noFill/>
              <a:miter lim="800000"/>
              <a:headEnd/>
              <a:tailEnd/>
            </a:ln>
          </p:spPr>
          <p:txBody>
            <a:bodyPr/>
            <a:lstStyle/>
            <a:p>
              <a:pPr algn="ctr">
                <a:spcBef>
                  <a:spcPct val="20000"/>
                </a:spcBef>
              </a:pPr>
              <a:r>
                <a:rPr lang="en-US" sz="2400">
                  <a:solidFill>
                    <a:schemeClr val="accent2"/>
                  </a:solidFill>
                  <a:latin typeface="Lucida Sans Unicode" pitchFamily="34" charset="0"/>
                </a:rPr>
                <a:t>Cubic close packed</a:t>
              </a:r>
            </a:p>
          </p:txBody>
        </p:sp>
        <p:sp>
          <p:nvSpPr>
            <p:cNvPr id="43026" name="Rectangle 41"/>
            <p:cNvSpPr>
              <a:spLocks noChangeArrowheads="1"/>
            </p:cNvSpPr>
            <p:nvPr/>
          </p:nvSpPr>
          <p:spPr bwMode="auto">
            <a:xfrm>
              <a:off x="4192" y="2527"/>
              <a:ext cx="1424" cy="618"/>
            </a:xfrm>
            <a:prstGeom prst="rect">
              <a:avLst/>
            </a:prstGeom>
            <a:noFill/>
            <a:ln w="9525">
              <a:noFill/>
              <a:miter lim="800000"/>
              <a:headEnd/>
              <a:tailEnd/>
            </a:ln>
          </p:spPr>
          <p:txBody>
            <a:bodyPr/>
            <a:lstStyle/>
            <a:p>
              <a:pPr>
                <a:spcBef>
                  <a:spcPct val="20000"/>
                </a:spcBef>
              </a:pPr>
              <a:r>
                <a:rPr lang="en-US" sz="2800" b="1" i="1">
                  <a:solidFill>
                    <a:srgbClr val="CC3300"/>
                  </a:solidFill>
                  <a:latin typeface="Lucida Sans Unicode" pitchFamily="34" charset="0"/>
                </a:rPr>
                <a:t>ABABAB…</a:t>
              </a:r>
            </a:p>
          </p:txBody>
        </p:sp>
        <p:sp>
          <p:nvSpPr>
            <p:cNvPr id="43027" name="Rectangle 40"/>
            <p:cNvSpPr>
              <a:spLocks noChangeArrowheads="1"/>
            </p:cNvSpPr>
            <p:nvPr/>
          </p:nvSpPr>
          <p:spPr bwMode="auto">
            <a:xfrm>
              <a:off x="2768" y="2527"/>
              <a:ext cx="1424" cy="618"/>
            </a:xfrm>
            <a:prstGeom prst="rect">
              <a:avLst/>
            </a:prstGeom>
            <a:noFill/>
            <a:ln w="9525">
              <a:noFill/>
              <a:miter lim="800000"/>
              <a:headEnd/>
              <a:tailEnd/>
            </a:ln>
          </p:spPr>
          <p:txBody>
            <a:bodyPr/>
            <a:lstStyle/>
            <a:p>
              <a:pPr algn="ctr">
                <a:spcBef>
                  <a:spcPct val="20000"/>
                </a:spcBef>
              </a:pPr>
              <a:r>
                <a:rPr lang="en-US" sz="2800">
                  <a:solidFill>
                    <a:srgbClr val="CC0099"/>
                  </a:solidFill>
                  <a:latin typeface="Lucida Sans Unicode" pitchFamily="34" charset="0"/>
                </a:rPr>
                <a:t>12</a:t>
              </a:r>
            </a:p>
          </p:txBody>
        </p:sp>
        <p:sp>
          <p:nvSpPr>
            <p:cNvPr id="43028" name="Rectangle 39"/>
            <p:cNvSpPr>
              <a:spLocks noChangeArrowheads="1"/>
            </p:cNvSpPr>
            <p:nvPr/>
          </p:nvSpPr>
          <p:spPr bwMode="auto">
            <a:xfrm>
              <a:off x="1344" y="2527"/>
              <a:ext cx="1424" cy="618"/>
            </a:xfrm>
            <a:prstGeom prst="rect">
              <a:avLst/>
            </a:prstGeom>
            <a:noFill/>
            <a:ln w="9525">
              <a:noFill/>
              <a:miter lim="800000"/>
              <a:headEnd/>
              <a:tailEnd/>
            </a:ln>
          </p:spPr>
          <p:txBody>
            <a:bodyPr/>
            <a:lstStyle/>
            <a:p>
              <a:pPr algn="ctr">
                <a:spcBef>
                  <a:spcPct val="20000"/>
                </a:spcBef>
              </a:pPr>
              <a:r>
                <a:rPr lang="en-US" sz="2400">
                  <a:solidFill>
                    <a:schemeClr val="accent2"/>
                  </a:solidFill>
                  <a:latin typeface="Lucida Sans Unicode" pitchFamily="34" charset="0"/>
                </a:rPr>
                <a:t>Hexagonal close packed</a:t>
              </a:r>
            </a:p>
          </p:txBody>
        </p:sp>
        <p:sp>
          <p:nvSpPr>
            <p:cNvPr id="43029" name="Rectangle 38"/>
            <p:cNvSpPr>
              <a:spLocks noChangeArrowheads="1"/>
            </p:cNvSpPr>
            <p:nvPr/>
          </p:nvSpPr>
          <p:spPr bwMode="auto">
            <a:xfrm>
              <a:off x="4192" y="1630"/>
              <a:ext cx="1424" cy="897"/>
            </a:xfrm>
            <a:prstGeom prst="rect">
              <a:avLst/>
            </a:prstGeom>
            <a:noFill/>
            <a:ln w="9525">
              <a:noFill/>
              <a:miter lim="800000"/>
              <a:headEnd/>
              <a:tailEnd/>
            </a:ln>
          </p:spPr>
          <p:txBody>
            <a:bodyPr/>
            <a:lstStyle/>
            <a:p>
              <a:pPr>
                <a:spcBef>
                  <a:spcPct val="20000"/>
                </a:spcBef>
              </a:pPr>
              <a:r>
                <a:rPr lang="en-US" sz="2800" b="1" i="1">
                  <a:solidFill>
                    <a:srgbClr val="CC3300"/>
                  </a:solidFill>
                  <a:latin typeface="Lucida Sans Unicode" pitchFamily="34" charset="0"/>
                </a:rPr>
                <a:t>ABABAB…</a:t>
              </a:r>
            </a:p>
          </p:txBody>
        </p:sp>
        <p:sp>
          <p:nvSpPr>
            <p:cNvPr id="43030" name="Rectangle 37"/>
            <p:cNvSpPr>
              <a:spLocks noChangeArrowheads="1"/>
            </p:cNvSpPr>
            <p:nvPr/>
          </p:nvSpPr>
          <p:spPr bwMode="auto">
            <a:xfrm>
              <a:off x="2768" y="1630"/>
              <a:ext cx="1424" cy="897"/>
            </a:xfrm>
            <a:prstGeom prst="rect">
              <a:avLst/>
            </a:prstGeom>
            <a:noFill/>
            <a:ln w="9525">
              <a:noFill/>
              <a:miter lim="800000"/>
              <a:headEnd/>
              <a:tailEnd/>
            </a:ln>
          </p:spPr>
          <p:txBody>
            <a:bodyPr/>
            <a:lstStyle/>
            <a:p>
              <a:pPr algn="ctr">
                <a:spcBef>
                  <a:spcPct val="20000"/>
                </a:spcBef>
              </a:pPr>
              <a:r>
                <a:rPr lang="en-US" sz="2800">
                  <a:solidFill>
                    <a:srgbClr val="CC0099"/>
                  </a:solidFill>
                  <a:latin typeface="Lucida Sans Unicode" pitchFamily="34" charset="0"/>
                </a:rPr>
                <a:t>8</a:t>
              </a:r>
            </a:p>
          </p:txBody>
        </p:sp>
        <p:sp>
          <p:nvSpPr>
            <p:cNvPr id="43031" name="Rectangle 36"/>
            <p:cNvSpPr>
              <a:spLocks noChangeArrowheads="1"/>
            </p:cNvSpPr>
            <p:nvPr/>
          </p:nvSpPr>
          <p:spPr bwMode="auto">
            <a:xfrm>
              <a:off x="1344" y="1630"/>
              <a:ext cx="1424" cy="897"/>
            </a:xfrm>
            <a:prstGeom prst="rect">
              <a:avLst/>
            </a:prstGeom>
            <a:noFill/>
            <a:ln w="9525">
              <a:noFill/>
              <a:miter lim="800000"/>
              <a:headEnd/>
              <a:tailEnd/>
            </a:ln>
          </p:spPr>
          <p:txBody>
            <a:bodyPr/>
            <a:lstStyle/>
            <a:p>
              <a:pPr algn="ctr">
                <a:spcBef>
                  <a:spcPct val="20000"/>
                </a:spcBef>
              </a:pPr>
              <a:r>
                <a:rPr lang="en-US" sz="2400">
                  <a:solidFill>
                    <a:schemeClr val="accent2"/>
                  </a:solidFill>
                  <a:latin typeface="Lucida Sans Unicode" pitchFamily="34" charset="0"/>
                </a:rPr>
                <a:t>Body-centered Cubic</a:t>
              </a:r>
            </a:p>
          </p:txBody>
        </p:sp>
        <p:sp>
          <p:nvSpPr>
            <p:cNvPr id="43032" name="Rectangle 35"/>
            <p:cNvSpPr>
              <a:spLocks noChangeArrowheads="1"/>
            </p:cNvSpPr>
            <p:nvPr/>
          </p:nvSpPr>
          <p:spPr bwMode="auto">
            <a:xfrm>
              <a:off x="4192" y="1013"/>
              <a:ext cx="1424" cy="617"/>
            </a:xfrm>
            <a:prstGeom prst="rect">
              <a:avLst/>
            </a:prstGeom>
            <a:noFill/>
            <a:ln w="9525">
              <a:noFill/>
              <a:miter lim="800000"/>
              <a:headEnd/>
              <a:tailEnd/>
            </a:ln>
          </p:spPr>
          <p:txBody>
            <a:bodyPr/>
            <a:lstStyle/>
            <a:p>
              <a:pPr>
                <a:spcBef>
                  <a:spcPct val="20000"/>
                </a:spcBef>
              </a:pPr>
              <a:r>
                <a:rPr lang="en-US" sz="2800" b="1" i="1">
                  <a:solidFill>
                    <a:srgbClr val="CC3300"/>
                  </a:solidFill>
                  <a:latin typeface="Lucida Sans Unicode" pitchFamily="34" charset="0"/>
                </a:rPr>
                <a:t>AAAAA…</a:t>
              </a:r>
            </a:p>
          </p:txBody>
        </p:sp>
        <p:sp>
          <p:nvSpPr>
            <p:cNvPr id="43033" name="Rectangle 33"/>
            <p:cNvSpPr>
              <a:spLocks noChangeArrowheads="1"/>
            </p:cNvSpPr>
            <p:nvPr/>
          </p:nvSpPr>
          <p:spPr bwMode="auto">
            <a:xfrm>
              <a:off x="1344" y="1013"/>
              <a:ext cx="1424" cy="617"/>
            </a:xfrm>
            <a:prstGeom prst="rect">
              <a:avLst/>
            </a:prstGeom>
            <a:noFill/>
            <a:ln w="9525">
              <a:noFill/>
              <a:miter lim="800000"/>
              <a:headEnd/>
              <a:tailEnd/>
            </a:ln>
          </p:spPr>
          <p:txBody>
            <a:bodyPr/>
            <a:lstStyle/>
            <a:p>
              <a:pPr algn="ctr">
                <a:spcBef>
                  <a:spcPct val="20000"/>
                </a:spcBef>
              </a:pPr>
              <a:r>
                <a:rPr lang="en-US" sz="2400">
                  <a:solidFill>
                    <a:schemeClr val="accent2"/>
                  </a:solidFill>
                  <a:latin typeface="Lucida Sans Unicode" pitchFamily="34" charset="0"/>
                </a:rPr>
                <a:t>Primitive Cubic</a:t>
              </a:r>
              <a:r>
                <a:rPr lang="en-US" sz="2800">
                  <a:solidFill>
                    <a:schemeClr val="accent2"/>
                  </a:solidFill>
                  <a:latin typeface="Lucida Sans Unicode" pitchFamily="34" charset="0"/>
                </a:rPr>
                <a:t> </a:t>
              </a:r>
            </a:p>
          </p:txBody>
        </p:sp>
        <p:sp>
          <p:nvSpPr>
            <p:cNvPr id="43034" name="Rectangle 32"/>
            <p:cNvSpPr>
              <a:spLocks noChangeArrowheads="1"/>
            </p:cNvSpPr>
            <p:nvPr/>
          </p:nvSpPr>
          <p:spPr bwMode="auto">
            <a:xfrm>
              <a:off x="4192" y="384"/>
              <a:ext cx="1424" cy="629"/>
            </a:xfrm>
            <a:prstGeom prst="rect">
              <a:avLst/>
            </a:prstGeom>
            <a:noFill/>
            <a:ln w="9525">
              <a:noFill/>
              <a:miter lim="800000"/>
              <a:headEnd/>
              <a:tailEnd/>
            </a:ln>
          </p:spPr>
          <p:txBody>
            <a:bodyPr/>
            <a:lstStyle/>
            <a:p>
              <a:pPr algn="ctr">
                <a:spcBef>
                  <a:spcPct val="20000"/>
                </a:spcBef>
              </a:pPr>
              <a:r>
                <a:rPr lang="en-US" sz="2800">
                  <a:solidFill>
                    <a:srgbClr val="009400"/>
                  </a:solidFill>
                  <a:latin typeface="Lucida Sans Unicode" pitchFamily="34" charset="0"/>
                </a:rPr>
                <a:t>Stacking pattern</a:t>
              </a:r>
            </a:p>
          </p:txBody>
        </p:sp>
        <p:sp>
          <p:nvSpPr>
            <p:cNvPr id="43035" name="Rectangle 31"/>
            <p:cNvSpPr>
              <a:spLocks noChangeArrowheads="1"/>
            </p:cNvSpPr>
            <p:nvPr/>
          </p:nvSpPr>
          <p:spPr bwMode="auto">
            <a:xfrm>
              <a:off x="2768" y="384"/>
              <a:ext cx="1424" cy="629"/>
            </a:xfrm>
            <a:prstGeom prst="rect">
              <a:avLst/>
            </a:prstGeom>
            <a:noFill/>
            <a:ln w="9525">
              <a:noFill/>
              <a:miter lim="800000"/>
              <a:headEnd/>
              <a:tailEnd/>
            </a:ln>
          </p:spPr>
          <p:txBody>
            <a:bodyPr/>
            <a:lstStyle/>
            <a:p>
              <a:pPr algn="ctr">
                <a:spcBef>
                  <a:spcPct val="20000"/>
                </a:spcBef>
              </a:pPr>
              <a:r>
                <a:rPr lang="en-US" sz="2800">
                  <a:solidFill>
                    <a:srgbClr val="009400"/>
                  </a:solidFill>
                  <a:latin typeface="Lucida Sans Unicode" pitchFamily="34" charset="0"/>
                </a:rPr>
                <a:t>Coordination number</a:t>
              </a:r>
            </a:p>
          </p:txBody>
        </p:sp>
        <p:sp>
          <p:nvSpPr>
            <p:cNvPr id="43036" name="Rectangle 30"/>
            <p:cNvSpPr>
              <a:spLocks noChangeArrowheads="1"/>
            </p:cNvSpPr>
            <p:nvPr/>
          </p:nvSpPr>
          <p:spPr bwMode="auto">
            <a:xfrm>
              <a:off x="1344" y="384"/>
              <a:ext cx="1424" cy="629"/>
            </a:xfrm>
            <a:prstGeom prst="rect">
              <a:avLst/>
            </a:prstGeom>
            <a:noFill/>
            <a:ln w="9525">
              <a:noFill/>
              <a:miter lim="800000"/>
              <a:headEnd/>
              <a:tailEnd/>
            </a:ln>
          </p:spPr>
          <p:txBody>
            <a:bodyPr/>
            <a:lstStyle/>
            <a:p>
              <a:pPr algn="ctr">
                <a:spcBef>
                  <a:spcPct val="20000"/>
                </a:spcBef>
              </a:pPr>
              <a:r>
                <a:rPr lang="en-US" sz="2800">
                  <a:solidFill>
                    <a:srgbClr val="009400"/>
                  </a:solidFill>
                  <a:latin typeface="Lucida Sans Unicode" pitchFamily="34" charset="0"/>
                </a:rPr>
                <a:t>Structure</a:t>
              </a:r>
            </a:p>
          </p:txBody>
        </p:sp>
        <p:sp>
          <p:nvSpPr>
            <p:cNvPr id="43037" name="Line 51"/>
            <p:cNvSpPr>
              <a:spLocks noChangeShapeType="1"/>
            </p:cNvSpPr>
            <p:nvPr/>
          </p:nvSpPr>
          <p:spPr bwMode="auto">
            <a:xfrm>
              <a:off x="1344" y="384"/>
              <a:ext cx="0" cy="3360"/>
            </a:xfrm>
            <a:prstGeom prst="line">
              <a:avLst/>
            </a:prstGeom>
            <a:noFill/>
            <a:ln w="28575" cap="sq">
              <a:solidFill>
                <a:schemeClr val="tx1"/>
              </a:solidFill>
              <a:round/>
              <a:headEnd/>
              <a:tailEnd/>
            </a:ln>
          </p:spPr>
          <p:txBody>
            <a:bodyPr/>
            <a:lstStyle/>
            <a:p>
              <a:endParaRPr lang="en-US"/>
            </a:p>
          </p:txBody>
        </p:sp>
        <p:sp>
          <p:nvSpPr>
            <p:cNvPr id="43038" name="Text Box 66"/>
            <p:cNvSpPr txBox="1">
              <a:spLocks noChangeArrowheads="1"/>
            </p:cNvSpPr>
            <p:nvPr/>
          </p:nvSpPr>
          <p:spPr bwMode="auto">
            <a:xfrm>
              <a:off x="480" y="1430"/>
              <a:ext cx="768" cy="634"/>
            </a:xfrm>
            <a:prstGeom prst="rect">
              <a:avLst/>
            </a:prstGeom>
            <a:noFill/>
            <a:ln w="9525">
              <a:noFill/>
              <a:miter lim="800000"/>
              <a:headEnd/>
              <a:tailEnd/>
            </a:ln>
          </p:spPr>
          <p:txBody>
            <a:bodyPr>
              <a:spAutoFit/>
            </a:bodyPr>
            <a:lstStyle/>
            <a:p>
              <a:pPr>
                <a:spcBef>
                  <a:spcPct val="50000"/>
                </a:spcBef>
              </a:pPr>
              <a:r>
                <a:rPr lang="en-US" sz="2000" b="1">
                  <a:solidFill>
                    <a:srgbClr val="CC0099"/>
                  </a:solidFill>
                  <a:latin typeface="Lucida Sans Unicode" pitchFamily="34" charset="0"/>
                </a:rPr>
                <a:t>Non-close packing</a:t>
              </a:r>
            </a:p>
          </p:txBody>
        </p:sp>
        <p:sp>
          <p:nvSpPr>
            <p:cNvPr id="43039" name="Text Box 67"/>
            <p:cNvSpPr txBox="1">
              <a:spLocks noChangeArrowheads="1"/>
            </p:cNvSpPr>
            <p:nvPr/>
          </p:nvSpPr>
          <p:spPr bwMode="auto">
            <a:xfrm>
              <a:off x="480" y="2956"/>
              <a:ext cx="768" cy="442"/>
            </a:xfrm>
            <a:prstGeom prst="rect">
              <a:avLst/>
            </a:prstGeom>
            <a:noFill/>
            <a:ln w="9525">
              <a:noFill/>
              <a:miter lim="800000"/>
              <a:headEnd/>
              <a:tailEnd/>
            </a:ln>
          </p:spPr>
          <p:txBody>
            <a:bodyPr>
              <a:spAutoFit/>
            </a:bodyPr>
            <a:lstStyle/>
            <a:p>
              <a:pPr>
                <a:spcBef>
                  <a:spcPct val="50000"/>
                </a:spcBef>
              </a:pPr>
              <a:r>
                <a:rPr lang="en-US" sz="2000" b="1">
                  <a:solidFill>
                    <a:srgbClr val="CC0099"/>
                  </a:solidFill>
                  <a:latin typeface="Lucida Sans Unicode" pitchFamily="34" charset="0"/>
                </a:rPr>
                <a:t>Close packing</a:t>
              </a:r>
            </a:p>
          </p:txBody>
        </p:sp>
        <p:sp>
          <p:nvSpPr>
            <p:cNvPr id="43040" name="AutoShape 68"/>
            <p:cNvSpPr>
              <a:spLocks/>
            </p:cNvSpPr>
            <p:nvPr/>
          </p:nvSpPr>
          <p:spPr bwMode="auto">
            <a:xfrm>
              <a:off x="1104" y="2544"/>
              <a:ext cx="96" cy="1200"/>
            </a:xfrm>
            <a:prstGeom prst="leftBrace">
              <a:avLst>
                <a:gd name="adj1" fmla="val 104167"/>
                <a:gd name="adj2" fmla="val 50000"/>
              </a:avLst>
            </a:prstGeom>
            <a:noFill/>
            <a:ln w="9525">
              <a:solidFill>
                <a:srgbClr val="FF9900"/>
              </a:solidFill>
              <a:round/>
              <a:headEnd/>
              <a:tailEnd/>
            </a:ln>
          </p:spPr>
          <p:txBody>
            <a:bodyPr wrap="none" anchor="ctr"/>
            <a:lstStyle/>
            <a:p>
              <a:pPr algn="ctr"/>
              <a:endParaRPr lang="en-US">
                <a:solidFill>
                  <a:srgbClr val="FF9900"/>
                </a:solidFill>
                <a:latin typeface="Lucida Sans Unicode" pitchFamily="34" charset="0"/>
              </a:endParaRPr>
            </a:p>
          </p:txBody>
        </p:sp>
        <p:sp>
          <p:nvSpPr>
            <p:cNvPr id="43041" name="AutoShape 69"/>
            <p:cNvSpPr>
              <a:spLocks/>
            </p:cNvSpPr>
            <p:nvPr/>
          </p:nvSpPr>
          <p:spPr bwMode="auto">
            <a:xfrm>
              <a:off x="1152" y="1008"/>
              <a:ext cx="48" cy="1536"/>
            </a:xfrm>
            <a:prstGeom prst="leftBrace">
              <a:avLst>
                <a:gd name="adj1" fmla="val 266667"/>
                <a:gd name="adj2" fmla="val 50000"/>
              </a:avLst>
            </a:prstGeom>
            <a:noFill/>
            <a:ln w="9525">
              <a:solidFill>
                <a:srgbClr val="FF9900"/>
              </a:solidFill>
              <a:round/>
              <a:headEnd/>
              <a:tailEnd/>
            </a:ln>
          </p:spPr>
          <p:txBody>
            <a:bodyPr wrap="none" anchor="ctr"/>
            <a:lstStyle/>
            <a:p>
              <a:pPr algn="ctr"/>
              <a:endParaRPr lang="en-US">
                <a:solidFill>
                  <a:srgbClr val="FF9900"/>
                </a:solidFill>
                <a:latin typeface="Lucida Sans Unicode" pitchFamily="34" charset="0"/>
              </a:endParaRPr>
            </a:p>
          </p:txBody>
        </p:sp>
      </p:grpSp>
      <p:sp>
        <p:nvSpPr>
          <p:cNvPr id="43022" name="Rectangle 32"/>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Tree>
    <p:extLst>
      <p:ext uri="{BB962C8B-B14F-4D97-AF65-F5344CB8AC3E}">
        <p14:creationId xmlns:p14="http://schemas.microsoft.com/office/powerpoint/2010/main" val="204620544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p:cNvSpPr>
            <a:spLocks noGrp="1"/>
          </p:cNvSpPr>
          <p:nvPr>
            <p:ph type="sldNum" sz="quarter" idx="12"/>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E57C9DD0-4CE2-4297-8BCC-37BC616CB623}" type="slidenum">
              <a:rPr lang="en-US" smtClean="0"/>
              <a:pPr fontAlgn="base">
                <a:spcBef>
                  <a:spcPct val="0"/>
                </a:spcBef>
                <a:spcAft>
                  <a:spcPct val="0"/>
                </a:spcAft>
                <a:defRPr/>
              </a:pPr>
              <a:t>33</a:t>
            </a:fld>
            <a:endParaRPr lang="en-US" smtClean="0"/>
          </a:p>
        </p:txBody>
      </p:sp>
      <p:pic>
        <p:nvPicPr>
          <p:cNvPr id="44035" name="Picture 2" descr="PeriodT"/>
          <p:cNvPicPr>
            <a:picLocks noChangeAspect="1" noChangeArrowheads="1"/>
          </p:cNvPicPr>
          <p:nvPr/>
        </p:nvPicPr>
        <p:blipFill>
          <a:blip r:embed="rId2"/>
          <a:srcRect/>
          <a:stretch>
            <a:fillRect/>
          </a:stretch>
        </p:blipFill>
        <p:spPr bwMode="auto">
          <a:xfrm>
            <a:off x="0" y="0"/>
            <a:ext cx="9144000" cy="6858000"/>
          </a:xfrm>
          <a:prstGeom prst="rect">
            <a:avLst/>
          </a:prstGeom>
          <a:solidFill>
            <a:srgbClr val="66FF33"/>
          </a:solidFill>
          <a:ln w="9525">
            <a:noFill/>
            <a:miter lim="800000"/>
            <a:headEnd/>
            <a:tailEnd/>
          </a:ln>
        </p:spPr>
      </p:pic>
      <p:pic>
        <p:nvPicPr>
          <p:cNvPr id="44036" name="Picture 2"/>
          <p:cNvPicPr>
            <a:picLocks noChangeAspect="1" noChangeArrowheads="1"/>
          </p:cNvPicPr>
          <p:nvPr/>
        </p:nvPicPr>
        <p:blipFill>
          <a:blip r:embed="rId3"/>
          <a:srcRect/>
          <a:stretch>
            <a:fillRect/>
          </a:stretch>
        </p:blipFill>
        <p:spPr bwMode="auto">
          <a:xfrm>
            <a:off x="7162800" y="6248400"/>
            <a:ext cx="1981200" cy="200025"/>
          </a:xfrm>
          <a:prstGeom prst="rect">
            <a:avLst/>
          </a:prstGeom>
          <a:noFill/>
          <a:ln w="9525">
            <a:noFill/>
            <a:miter lim="800000"/>
            <a:headEnd/>
            <a:tailEnd/>
          </a:ln>
        </p:spPr>
      </p:pic>
    </p:spTree>
    <p:extLst>
      <p:ext uri="{BB962C8B-B14F-4D97-AF65-F5344CB8AC3E}">
        <p14:creationId xmlns:p14="http://schemas.microsoft.com/office/powerpoint/2010/main" val="26571133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28700"/>
            <a:ext cx="8305800" cy="3046413"/>
          </a:xfrm>
          <a:prstGeom prst="rect">
            <a:avLst/>
          </a:prstGeom>
        </p:spPr>
        <p:txBody>
          <a:bodyPr>
            <a:spAutoFit/>
          </a:bodyPr>
          <a:lstStyle/>
          <a:p>
            <a:pPr>
              <a:defRPr/>
            </a:pPr>
            <a:r>
              <a:rPr lang="en-US" sz="2400" dirty="0">
                <a:latin typeface="+mn-lt"/>
              </a:rPr>
              <a:t>Until now, we have 'packed' only one kind of atom, which is only relevant for the solids states of the elements. If we wish to describe more complicated solids, i.e. solids that contain more than one atom, we must 'locate' each atom in the solid. Salts are fairly easy to describe, but some molecular solids are quite complex because of all of the different kinds of unique atoms…….</a:t>
            </a:r>
          </a:p>
        </p:txBody>
      </p:sp>
    </p:spTree>
    <p:extLst>
      <p:ext uri="{BB962C8B-B14F-4D97-AF65-F5344CB8AC3E}">
        <p14:creationId xmlns:p14="http://schemas.microsoft.com/office/powerpoint/2010/main" val="41776664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153400" cy="2308225"/>
          </a:xfrm>
          <a:prstGeom prst="rect">
            <a:avLst/>
          </a:prstGeom>
        </p:spPr>
        <p:txBody>
          <a:bodyPr>
            <a:spAutoFit/>
          </a:bodyPr>
          <a:lstStyle/>
          <a:p>
            <a:pPr>
              <a:defRPr/>
            </a:pPr>
            <a:r>
              <a:rPr lang="en-US" sz="2400" dirty="0">
                <a:latin typeface="+mn-lt"/>
              </a:rPr>
              <a:t>The </a:t>
            </a:r>
            <a:r>
              <a:rPr lang="en-US" sz="2400" dirty="0" err="1">
                <a:latin typeface="+mn-lt"/>
              </a:rPr>
              <a:t>NaCl</a:t>
            </a:r>
            <a:r>
              <a:rPr lang="en-US" sz="2400" dirty="0">
                <a:latin typeface="+mn-lt"/>
              </a:rPr>
              <a:t> crystal is face centered cubic (</a:t>
            </a:r>
            <a:r>
              <a:rPr lang="en-US" sz="2400" dirty="0" err="1">
                <a:latin typeface="+mn-lt"/>
              </a:rPr>
              <a:t>fcc</a:t>
            </a:r>
            <a:r>
              <a:rPr lang="en-US" sz="2400" dirty="0">
                <a:latin typeface="+mn-lt"/>
              </a:rPr>
              <a:t>) unit cell with the counter ion filling the octahedral holes in the structure. It does not matter which ion is taken to be at the </a:t>
            </a:r>
            <a:r>
              <a:rPr lang="en-US" sz="2400" dirty="0" err="1">
                <a:latin typeface="+mn-lt"/>
              </a:rPr>
              <a:t>verticies</a:t>
            </a:r>
            <a:r>
              <a:rPr lang="en-US" sz="2400" dirty="0">
                <a:latin typeface="+mn-lt"/>
              </a:rPr>
              <a:t> of the cell and which in the holes, the same pattern is obtained, as can be seen in the figure below: </a:t>
            </a:r>
          </a:p>
        </p:txBody>
      </p:sp>
      <p:pic>
        <p:nvPicPr>
          <p:cNvPr id="46083" name="Picture 2"/>
          <p:cNvPicPr>
            <a:picLocks noChangeAspect="1" noChangeArrowheads="1"/>
          </p:cNvPicPr>
          <p:nvPr/>
        </p:nvPicPr>
        <p:blipFill>
          <a:blip r:embed="rId2"/>
          <a:srcRect/>
          <a:stretch>
            <a:fillRect/>
          </a:stretch>
        </p:blipFill>
        <p:spPr bwMode="auto">
          <a:xfrm>
            <a:off x="2482850" y="2516188"/>
            <a:ext cx="4178300" cy="1831975"/>
          </a:xfrm>
          <a:prstGeom prst="rect">
            <a:avLst/>
          </a:prstGeom>
          <a:noFill/>
          <a:ln w="9525">
            <a:noFill/>
            <a:miter lim="800000"/>
            <a:headEnd/>
            <a:tailEnd/>
          </a:ln>
          <a:effectLst/>
        </p:spPr>
      </p:pic>
      <p:pic>
        <p:nvPicPr>
          <p:cNvPr id="46084" name="Picture 3"/>
          <p:cNvPicPr>
            <a:picLocks noChangeAspect="1" noChangeArrowheads="1"/>
          </p:cNvPicPr>
          <p:nvPr/>
        </p:nvPicPr>
        <p:blipFill>
          <a:blip r:embed="rId3"/>
          <a:srcRect/>
          <a:stretch>
            <a:fillRect/>
          </a:stretch>
        </p:blipFill>
        <p:spPr bwMode="auto">
          <a:xfrm>
            <a:off x="2055813" y="4375150"/>
            <a:ext cx="5029200" cy="2447925"/>
          </a:xfrm>
          <a:prstGeom prst="rect">
            <a:avLst/>
          </a:prstGeom>
          <a:noFill/>
          <a:ln w="9525">
            <a:noFill/>
            <a:miter lim="800000"/>
            <a:headEnd/>
            <a:tailEnd/>
          </a:ln>
          <a:effectLst/>
        </p:spPr>
      </p:pic>
      <p:sp>
        <p:nvSpPr>
          <p:cNvPr id="46085" name="Rectangle 2"/>
          <p:cNvSpPr>
            <a:spLocks noChangeArrowheads="1"/>
          </p:cNvSpPr>
          <p:nvPr/>
        </p:nvSpPr>
        <p:spPr bwMode="auto">
          <a:xfrm>
            <a:off x="4381500" y="2362200"/>
            <a:ext cx="4572000" cy="307975"/>
          </a:xfrm>
          <a:prstGeom prst="rect">
            <a:avLst/>
          </a:prstGeom>
          <a:noFill/>
          <a:ln w="9525">
            <a:noFill/>
            <a:miter lim="800000"/>
            <a:headEnd/>
            <a:tailEnd/>
          </a:ln>
        </p:spPr>
        <p:txBody>
          <a:bodyPr>
            <a:spAutoFit/>
          </a:bodyPr>
          <a:lstStyle/>
          <a:p>
            <a:r>
              <a:rPr lang="en-US" sz="1400"/>
              <a:t>http://www.chem.ufl.edu/~itl/2045/lectures/lec_h.html</a:t>
            </a:r>
          </a:p>
        </p:txBody>
      </p:sp>
    </p:spTree>
    <p:extLst>
      <p:ext uri="{BB962C8B-B14F-4D97-AF65-F5344CB8AC3E}">
        <p14:creationId xmlns:p14="http://schemas.microsoft.com/office/powerpoint/2010/main" val="2370165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463" y="0"/>
            <a:ext cx="8991600" cy="3170238"/>
          </a:xfrm>
          <a:prstGeom prst="rect">
            <a:avLst/>
          </a:prstGeom>
        </p:spPr>
        <p:txBody>
          <a:bodyPr>
            <a:spAutoFit/>
          </a:bodyPr>
          <a:lstStyle/>
          <a:p>
            <a:pPr marL="342900" indent="-342900">
              <a:buFont typeface="Arial" pitchFamily="34" charset="0"/>
              <a:buChar char="•"/>
              <a:defRPr/>
            </a:pPr>
            <a:r>
              <a:rPr lang="en-US" sz="2000" dirty="0">
                <a:latin typeface="+mn-lt"/>
              </a:rPr>
              <a:t>In the face centered cubic (</a:t>
            </a:r>
            <a:r>
              <a:rPr lang="en-US" sz="2000" dirty="0" err="1">
                <a:latin typeface="+mn-lt"/>
              </a:rPr>
              <a:t>fcc</a:t>
            </a:r>
            <a:r>
              <a:rPr lang="en-US" sz="2000" dirty="0">
                <a:latin typeface="+mn-lt"/>
              </a:rPr>
              <a:t>) cell there is more than one type of 'hole'. </a:t>
            </a:r>
          </a:p>
          <a:p>
            <a:pPr marL="342900" indent="-342900">
              <a:buFont typeface="Arial" pitchFamily="34" charset="0"/>
              <a:buChar char="•"/>
              <a:defRPr/>
            </a:pPr>
            <a:endParaRPr lang="en-US" sz="2000" dirty="0">
              <a:latin typeface="+mn-lt"/>
            </a:endParaRPr>
          </a:p>
          <a:p>
            <a:pPr marL="342900" indent="-342900">
              <a:buFont typeface="Arial" pitchFamily="34" charset="0"/>
              <a:buChar char="•"/>
              <a:defRPr/>
            </a:pPr>
            <a:r>
              <a:rPr lang="en-US" sz="2000" dirty="0">
                <a:latin typeface="+mn-lt"/>
              </a:rPr>
              <a:t>If the octahedral holes are filled, the structure above results, with a </a:t>
            </a:r>
            <a:r>
              <a:rPr lang="en-US" sz="2000" dirty="0" err="1">
                <a:latin typeface="+mn-lt"/>
              </a:rPr>
              <a:t>one:one</a:t>
            </a:r>
            <a:r>
              <a:rPr lang="en-US" sz="2000" dirty="0">
                <a:latin typeface="+mn-lt"/>
              </a:rPr>
              <a:t> count for the two types of ions in the salt. </a:t>
            </a:r>
          </a:p>
          <a:p>
            <a:pPr marL="342900" indent="-342900">
              <a:buFont typeface="Arial" pitchFamily="34" charset="0"/>
              <a:buChar char="•"/>
              <a:defRPr/>
            </a:pPr>
            <a:endParaRPr lang="en-US" sz="2000" dirty="0">
              <a:latin typeface="+mn-lt"/>
            </a:endParaRPr>
          </a:p>
          <a:p>
            <a:pPr marL="342900" indent="-342900">
              <a:buFont typeface="Arial" pitchFamily="34" charset="0"/>
              <a:buChar char="•"/>
              <a:defRPr/>
            </a:pPr>
            <a:r>
              <a:rPr lang="en-US" sz="2000" dirty="0">
                <a:latin typeface="+mn-lt"/>
              </a:rPr>
              <a:t>If the </a:t>
            </a:r>
            <a:r>
              <a:rPr lang="en-US" sz="2000" dirty="0" err="1">
                <a:latin typeface="+mn-lt"/>
              </a:rPr>
              <a:t>terahedral</a:t>
            </a:r>
            <a:r>
              <a:rPr lang="en-US" sz="2000" dirty="0">
                <a:latin typeface="+mn-lt"/>
              </a:rPr>
              <a:t> holes are filled, a </a:t>
            </a:r>
            <a:r>
              <a:rPr lang="en-US" sz="2000" dirty="0" err="1">
                <a:latin typeface="+mn-lt"/>
              </a:rPr>
              <a:t>diffrerent</a:t>
            </a:r>
            <a:r>
              <a:rPr lang="en-US" sz="2000" dirty="0">
                <a:latin typeface="+mn-lt"/>
              </a:rPr>
              <a:t> structure exists, that with twice as many of one type of ion as the other. In the figure below, The left shows the structure of </a:t>
            </a:r>
            <a:r>
              <a:rPr lang="en-US" sz="2000" dirty="0" err="1">
                <a:latin typeface="+mn-lt"/>
              </a:rPr>
              <a:t>NaCl</a:t>
            </a:r>
            <a:r>
              <a:rPr lang="en-US" sz="2000" dirty="0">
                <a:latin typeface="+mn-lt"/>
              </a:rPr>
              <a:t> and the right that of CaF2.</a:t>
            </a:r>
          </a:p>
        </p:txBody>
      </p:sp>
      <p:pic>
        <p:nvPicPr>
          <p:cNvPr id="47107" name="Picture 2"/>
          <p:cNvPicPr>
            <a:picLocks noChangeAspect="1" noChangeArrowheads="1"/>
          </p:cNvPicPr>
          <p:nvPr/>
        </p:nvPicPr>
        <p:blipFill>
          <a:blip r:embed="rId2"/>
          <a:srcRect/>
          <a:stretch>
            <a:fillRect/>
          </a:stretch>
        </p:blipFill>
        <p:spPr bwMode="auto">
          <a:xfrm>
            <a:off x="2895600" y="3276600"/>
            <a:ext cx="4886325" cy="3057525"/>
          </a:xfrm>
          <a:prstGeom prst="rect">
            <a:avLst/>
          </a:prstGeom>
          <a:noFill/>
          <a:ln w="9525">
            <a:noFill/>
            <a:miter lim="800000"/>
            <a:headEnd/>
            <a:tailEnd/>
          </a:ln>
          <a:effectLst/>
        </p:spPr>
      </p:pic>
    </p:spTree>
    <p:extLst>
      <p:ext uri="{BB962C8B-B14F-4D97-AF65-F5344CB8AC3E}">
        <p14:creationId xmlns:p14="http://schemas.microsoft.com/office/powerpoint/2010/main" val="4894220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
          <p:cNvSpPr>
            <a:spLocks noChangeArrowheads="1"/>
          </p:cNvSpPr>
          <p:nvPr/>
        </p:nvSpPr>
        <p:spPr bwMode="auto">
          <a:xfrm>
            <a:off x="457200" y="228600"/>
            <a:ext cx="8153400" cy="1200150"/>
          </a:xfrm>
          <a:prstGeom prst="rect">
            <a:avLst/>
          </a:prstGeom>
          <a:noFill/>
          <a:ln w="9525">
            <a:noFill/>
            <a:miter lim="800000"/>
            <a:headEnd/>
            <a:tailEnd/>
          </a:ln>
        </p:spPr>
        <p:txBody>
          <a:bodyPr>
            <a:spAutoFit/>
          </a:bodyPr>
          <a:lstStyle/>
          <a:p>
            <a:r>
              <a:rPr lang="en-US"/>
              <a:t>Some salts want to use the tetrahedral holes because of the relative sizes of the positive and negative ions, but don't fill all of them to maintain stoichiometry; This is the case for ZnS, the first panel below. Other relative ion sizes, like CsCl, second panel below, are filled simple cubic cells (not fcc).</a:t>
            </a:r>
          </a:p>
        </p:txBody>
      </p:sp>
      <p:pic>
        <p:nvPicPr>
          <p:cNvPr id="48131" name="Picture 4" descr="http://www.chem.ufl.edu/~itl/2045/matter/FG11_044.GIF"/>
          <p:cNvPicPr>
            <a:picLocks noChangeAspect="1" noChangeArrowheads="1"/>
          </p:cNvPicPr>
          <p:nvPr/>
        </p:nvPicPr>
        <p:blipFill>
          <a:blip r:embed="rId2"/>
          <a:srcRect t="19974" b="23573"/>
          <a:stretch>
            <a:fillRect/>
          </a:stretch>
        </p:blipFill>
        <p:spPr bwMode="auto">
          <a:xfrm>
            <a:off x="727075" y="1752600"/>
            <a:ext cx="7620000" cy="2865438"/>
          </a:xfrm>
          <a:prstGeom prst="rect">
            <a:avLst/>
          </a:prstGeom>
          <a:noFill/>
          <a:ln w="9525">
            <a:noFill/>
            <a:miter lim="800000"/>
            <a:headEnd/>
            <a:tailEnd/>
          </a:ln>
        </p:spPr>
      </p:pic>
    </p:spTree>
    <p:extLst>
      <p:ext uri="{BB962C8B-B14F-4D97-AF65-F5344CB8AC3E}">
        <p14:creationId xmlns:p14="http://schemas.microsoft.com/office/powerpoint/2010/main" val="6112422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2"/>
          <a:srcRect/>
          <a:stretch>
            <a:fillRect/>
          </a:stretch>
        </p:blipFill>
        <p:spPr bwMode="auto">
          <a:xfrm>
            <a:off x="285750" y="838200"/>
            <a:ext cx="8570913" cy="5000625"/>
          </a:xfrm>
          <a:prstGeom prst="rect">
            <a:avLst/>
          </a:prstGeom>
          <a:noFill/>
          <a:ln w="9525">
            <a:noFill/>
            <a:miter lim="800000"/>
            <a:headEnd/>
            <a:tailEnd/>
          </a:ln>
          <a:effectLst/>
        </p:spPr>
      </p:pic>
    </p:spTree>
    <p:extLst>
      <p:ext uri="{BB962C8B-B14F-4D97-AF65-F5344CB8AC3E}">
        <p14:creationId xmlns:p14="http://schemas.microsoft.com/office/powerpoint/2010/main" val="4773339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srcRect/>
          <a:stretch>
            <a:fillRect/>
          </a:stretch>
        </p:blipFill>
        <p:spPr bwMode="auto">
          <a:xfrm>
            <a:off x="381000" y="990600"/>
            <a:ext cx="7467600" cy="4038600"/>
          </a:xfrm>
          <a:prstGeom prst="rect">
            <a:avLst/>
          </a:prstGeom>
          <a:noFill/>
          <a:ln w="9525">
            <a:noFill/>
            <a:miter lim="800000"/>
            <a:headEnd/>
            <a:tailEnd/>
          </a:ln>
          <a:effectLst/>
        </p:spPr>
      </p:pic>
    </p:spTree>
    <p:extLst>
      <p:ext uri="{BB962C8B-B14F-4D97-AF65-F5344CB8AC3E}">
        <p14:creationId xmlns:p14="http://schemas.microsoft.com/office/powerpoint/2010/main" val="10063512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412" y="-3412"/>
            <a:ext cx="8229600" cy="1706562"/>
          </a:xfrm>
        </p:spPr>
        <p:txBody>
          <a:bodyPr>
            <a:noAutofit/>
          </a:bodyPr>
          <a:lstStyle/>
          <a:p>
            <a:pPr marL="342900" indent="-342900">
              <a:defRPr/>
            </a:pPr>
            <a:r>
              <a:rPr lang="en-US" sz="2400" dirty="0"/>
              <a:t>Diffraction occurs when </a:t>
            </a:r>
            <a:r>
              <a:rPr lang="en-US" sz="2400" dirty="0" smtClean="0"/>
              <a:t>light is scattered by a periodic array with long-range order, </a:t>
            </a:r>
            <a:r>
              <a:rPr lang="en-US" sz="2400" dirty="0"/>
              <a:t>producing </a:t>
            </a:r>
            <a:r>
              <a:rPr lang="en-US" sz="2400" dirty="0" smtClean="0"/>
              <a:t>constructive </a:t>
            </a:r>
            <a:r>
              <a:rPr lang="en-US" sz="2400" dirty="0"/>
              <a:t>interference at specific angles</a:t>
            </a:r>
            <a:r>
              <a:rPr lang="en-US" sz="2400" dirty="0" smtClean="0"/>
              <a:t>.</a:t>
            </a:r>
          </a:p>
        </p:txBody>
      </p:sp>
      <p:sp>
        <p:nvSpPr>
          <p:cNvPr id="51203" name="Rectangle 3"/>
          <p:cNvSpPr>
            <a:spLocks noGrp="1" noChangeArrowheads="1"/>
          </p:cNvSpPr>
          <p:nvPr>
            <p:ph type="body" idx="1"/>
          </p:nvPr>
        </p:nvSpPr>
        <p:spPr>
          <a:xfrm>
            <a:off x="381000" y="1676400"/>
            <a:ext cx="8229600" cy="4144963"/>
          </a:xfrm>
        </p:spPr>
        <p:txBody>
          <a:bodyPr/>
          <a:lstStyle/>
          <a:p>
            <a:r>
              <a:rPr lang="en-US" sz="1800" smtClean="0"/>
              <a:t>The electrons in an atom coherently scatter light. </a:t>
            </a:r>
          </a:p>
          <a:p>
            <a:pPr lvl="1"/>
            <a:r>
              <a:rPr lang="en-US" sz="1800" smtClean="0"/>
              <a:t>We can regard each atom as a coherent point scatterer</a:t>
            </a:r>
          </a:p>
          <a:p>
            <a:pPr lvl="1"/>
            <a:r>
              <a:rPr lang="en-US" sz="1800" smtClean="0"/>
              <a:t>The strength with which an atom scatters light is proportional to the number of electrons around the atom. </a:t>
            </a:r>
          </a:p>
          <a:p>
            <a:r>
              <a:rPr lang="en-US" sz="1800" smtClean="0"/>
              <a:t>The atoms in a crystal are arranged in a periodic array and thus can diffract light.</a:t>
            </a:r>
          </a:p>
          <a:p>
            <a:r>
              <a:rPr lang="en-US" sz="1800" smtClean="0"/>
              <a:t>The wavelength of X rays are similar to the distance between atoms.</a:t>
            </a:r>
          </a:p>
          <a:p>
            <a:r>
              <a:rPr lang="en-US" sz="1800" b="1" smtClean="0">
                <a:solidFill>
                  <a:srgbClr val="993333"/>
                </a:solidFill>
              </a:rPr>
              <a:t>The scattering of X-rays from atoms produces a diffraction pattern, which contains information about the atomic arrangement within the crystal</a:t>
            </a:r>
            <a:endParaRPr lang="en-US" sz="1800" b="1" i="1" smtClean="0">
              <a:solidFill>
                <a:srgbClr val="993333"/>
              </a:solidFill>
            </a:endParaRPr>
          </a:p>
          <a:p>
            <a:endParaRPr lang="en-US" sz="1800" smtClean="0"/>
          </a:p>
          <a:p>
            <a:r>
              <a:rPr lang="en-US" sz="1800" smtClean="0"/>
              <a:t>Amorphous materials like glass do not have a periodic array with long-range order, so they do not produce a diffraction pattern</a:t>
            </a:r>
          </a:p>
        </p:txBody>
      </p:sp>
    </p:spTree>
    <p:extLst>
      <p:ext uri="{BB962C8B-B14F-4D97-AF65-F5344CB8AC3E}">
        <p14:creationId xmlns:p14="http://schemas.microsoft.com/office/powerpoint/2010/main" val="408048615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49"/>
            <a:ext cx="8686800" cy="1143000"/>
          </a:xfrm>
        </p:spPr>
        <p:txBody>
          <a:bodyPr>
            <a:noAutofit/>
          </a:bodyPr>
          <a:lstStyle/>
          <a:p>
            <a:pPr>
              <a:defRPr/>
            </a:pPr>
            <a:r>
              <a:rPr lang="en-US" sz="2800" dirty="0" smtClean="0"/>
              <a:t>The figure below compares the X-ray diffraction patterns from 3 different forms of SiO</a:t>
            </a:r>
            <a:r>
              <a:rPr lang="en-US" sz="2800" baseline="-25000" dirty="0" smtClean="0"/>
              <a:t>2</a:t>
            </a:r>
            <a:endParaRPr lang="en-US" sz="2800" dirty="0"/>
          </a:p>
        </p:txBody>
      </p:sp>
      <p:sp>
        <p:nvSpPr>
          <p:cNvPr id="52227" name="Content Placeholder 2"/>
          <p:cNvSpPr>
            <a:spLocks noGrp="1"/>
          </p:cNvSpPr>
          <p:nvPr>
            <p:ph idx="1"/>
          </p:nvPr>
        </p:nvSpPr>
        <p:spPr>
          <a:xfrm>
            <a:off x="457200" y="4572000"/>
            <a:ext cx="8229600" cy="1554163"/>
          </a:xfrm>
        </p:spPr>
        <p:txBody>
          <a:bodyPr>
            <a:normAutofit fontScale="85000" lnSpcReduction="10000"/>
          </a:bodyPr>
          <a:lstStyle/>
          <a:p>
            <a:r>
              <a:rPr lang="en-US" sz="1600" smtClean="0"/>
              <a:t>These three phases of SiO</a:t>
            </a:r>
            <a:r>
              <a:rPr lang="en-US" sz="1600" baseline="-25000" smtClean="0"/>
              <a:t>2</a:t>
            </a:r>
            <a:r>
              <a:rPr lang="en-US" sz="1600" smtClean="0"/>
              <a:t> are chemically identical</a:t>
            </a:r>
          </a:p>
          <a:p>
            <a:r>
              <a:rPr lang="en-US" sz="1600" smtClean="0"/>
              <a:t>Quartz and cristobalite have two different crystal structures</a:t>
            </a:r>
          </a:p>
          <a:p>
            <a:pPr lvl="1"/>
            <a:r>
              <a:rPr lang="en-US" sz="1600" smtClean="0"/>
              <a:t>The Si and O atoms are arranged differently, but both have structures with long-range atomic order</a:t>
            </a:r>
          </a:p>
          <a:p>
            <a:pPr lvl="1"/>
            <a:r>
              <a:rPr lang="en-US" sz="1600" smtClean="0"/>
              <a:t>The difference in their crystal structure is reflected in their different diffraction patterns</a:t>
            </a:r>
          </a:p>
          <a:p>
            <a:r>
              <a:rPr lang="en-US" sz="1600" smtClean="0"/>
              <a:t>The amorphous glass does not have long-range atomic order and therefore produces only broad scattering peaks</a:t>
            </a:r>
          </a:p>
        </p:txBody>
      </p:sp>
      <p:pic>
        <p:nvPicPr>
          <p:cNvPr id="52228" name="Picture 4"/>
          <p:cNvPicPr>
            <a:picLocks noChangeAspect="1" noChangeArrowheads="1"/>
          </p:cNvPicPr>
          <p:nvPr/>
        </p:nvPicPr>
        <p:blipFill>
          <a:blip r:embed="rId2"/>
          <a:srcRect b="16238"/>
          <a:stretch>
            <a:fillRect/>
          </a:stretch>
        </p:blipFill>
        <p:spPr bwMode="auto">
          <a:xfrm>
            <a:off x="838200" y="1143000"/>
            <a:ext cx="7315200" cy="3446463"/>
          </a:xfrm>
          <a:prstGeom prst="rect">
            <a:avLst/>
          </a:prstGeom>
          <a:noFill/>
          <a:ln w="9525">
            <a:noFill/>
            <a:miter lim="800000"/>
            <a:headEnd/>
            <a:tailEnd/>
          </a:ln>
          <a:effectLst/>
        </p:spPr>
      </p:pic>
    </p:spTree>
    <p:extLst>
      <p:ext uri="{BB962C8B-B14F-4D97-AF65-F5344CB8AC3E}">
        <p14:creationId xmlns:p14="http://schemas.microsoft.com/office/powerpoint/2010/main" val="239632845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pPr>
              <a:defRPr/>
            </a:pPr>
            <a:r>
              <a:rPr lang="en-US" dirty="0" smtClean="0"/>
              <a:t>The diffraction pattern is a product of the unique crystal structure of a material </a:t>
            </a:r>
          </a:p>
        </p:txBody>
      </p:sp>
      <p:sp>
        <p:nvSpPr>
          <p:cNvPr id="53251" name="Rectangle 3"/>
          <p:cNvSpPr>
            <a:spLocks noGrp="1" noChangeArrowheads="1"/>
          </p:cNvSpPr>
          <p:nvPr>
            <p:ph type="body" idx="1"/>
          </p:nvPr>
        </p:nvSpPr>
        <p:spPr>
          <a:xfrm>
            <a:off x="457200" y="4495800"/>
            <a:ext cx="8229600" cy="1828800"/>
          </a:xfrm>
        </p:spPr>
        <p:txBody>
          <a:bodyPr/>
          <a:lstStyle/>
          <a:p>
            <a:r>
              <a:rPr lang="en-US" sz="2000" smtClean="0"/>
              <a:t>The crystal structure describes the atomic arrangement of a material.</a:t>
            </a:r>
          </a:p>
          <a:p>
            <a:endParaRPr lang="en-US" sz="2000" smtClean="0"/>
          </a:p>
          <a:p>
            <a:r>
              <a:rPr lang="en-US" sz="2000" smtClean="0"/>
              <a:t>When the atoms are arranged differently, a different diffraction pattern is produced (ie quartz vs cristobalite)</a:t>
            </a:r>
          </a:p>
          <a:p>
            <a:endParaRPr lang="en-US" sz="2000" smtClean="0"/>
          </a:p>
        </p:txBody>
      </p:sp>
      <p:pic>
        <p:nvPicPr>
          <p:cNvPr id="53252" name="Picture 3"/>
          <p:cNvPicPr>
            <a:picLocks noChangeAspect="1" noChangeArrowheads="1"/>
          </p:cNvPicPr>
          <p:nvPr/>
        </p:nvPicPr>
        <p:blipFill>
          <a:blip r:embed="rId2"/>
          <a:srcRect l="29655" r="31895"/>
          <a:stretch>
            <a:fillRect/>
          </a:stretch>
        </p:blipFill>
        <p:spPr bwMode="auto">
          <a:xfrm>
            <a:off x="1831975" y="1635125"/>
            <a:ext cx="2511425" cy="2970213"/>
          </a:xfrm>
          <a:prstGeom prst="rect">
            <a:avLst/>
          </a:prstGeom>
          <a:noFill/>
          <a:ln w="9525">
            <a:noFill/>
            <a:miter lim="800000"/>
            <a:headEnd/>
            <a:tailEnd/>
          </a:ln>
          <a:effectLst/>
        </p:spPr>
      </p:pic>
      <p:pic>
        <p:nvPicPr>
          <p:cNvPr id="53253" name="Picture 4"/>
          <p:cNvPicPr>
            <a:picLocks noChangeAspect="1" noChangeArrowheads="1"/>
          </p:cNvPicPr>
          <p:nvPr/>
        </p:nvPicPr>
        <p:blipFill>
          <a:blip r:embed="rId3"/>
          <a:srcRect l="37379" t="10915" r="36378" b="17622"/>
          <a:stretch>
            <a:fillRect/>
          </a:stretch>
        </p:blipFill>
        <p:spPr bwMode="auto">
          <a:xfrm>
            <a:off x="4800600" y="1790700"/>
            <a:ext cx="2146300" cy="2660650"/>
          </a:xfrm>
          <a:prstGeom prst="rect">
            <a:avLst/>
          </a:prstGeom>
          <a:noFill/>
          <a:ln w="9525">
            <a:noFill/>
            <a:miter lim="800000"/>
            <a:headEnd/>
            <a:tailEnd/>
          </a:ln>
          <a:effectLst/>
        </p:spPr>
      </p:pic>
      <p:sp>
        <p:nvSpPr>
          <p:cNvPr id="53254" name="TextBox 1"/>
          <p:cNvSpPr txBox="1">
            <a:spLocks noChangeArrowheads="1"/>
          </p:cNvSpPr>
          <p:nvPr/>
        </p:nvSpPr>
        <p:spPr bwMode="auto">
          <a:xfrm>
            <a:off x="1676400" y="1820863"/>
            <a:ext cx="820738" cy="368300"/>
          </a:xfrm>
          <a:prstGeom prst="rect">
            <a:avLst/>
          </a:prstGeom>
          <a:noFill/>
          <a:ln w="9525">
            <a:noFill/>
            <a:miter lim="800000"/>
            <a:headEnd/>
            <a:tailEnd/>
          </a:ln>
        </p:spPr>
        <p:txBody>
          <a:bodyPr wrap="none">
            <a:spAutoFit/>
          </a:bodyPr>
          <a:lstStyle/>
          <a:p>
            <a:r>
              <a:rPr lang="en-US"/>
              <a:t>Quartz</a:t>
            </a:r>
          </a:p>
        </p:txBody>
      </p:sp>
      <p:sp>
        <p:nvSpPr>
          <p:cNvPr id="53255" name="TextBox 2"/>
          <p:cNvSpPr txBox="1">
            <a:spLocks noChangeArrowheads="1"/>
          </p:cNvSpPr>
          <p:nvPr/>
        </p:nvSpPr>
        <p:spPr bwMode="auto">
          <a:xfrm>
            <a:off x="6932613" y="1993900"/>
            <a:ext cx="1252537" cy="369888"/>
          </a:xfrm>
          <a:prstGeom prst="rect">
            <a:avLst/>
          </a:prstGeom>
          <a:noFill/>
          <a:ln w="9525">
            <a:noFill/>
            <a:miter lim="800000"/>
            <a:headEnd/>
            <a:tailEnd/>
          </a:ln>
        </p:spPr>
        <p:txBody>
          <a:bodyPr wrap="none">
            <a:spAutoFit/>
          </a:bodyPr>
          <a:lstStyle/>
          <a:p>
            <a:r>
              <a:rPr lang="en-US"/>
              <a:t>Cristobalite</a:t>
            </a:r>
          </a:p>
        </p:txBody>
      </p:sp>
    </p:spTree>
    <p:extLst>
      <p:ext uri="{BB962C8B-B14F-4D97-AF65-F5344CB8AC3E}">
        <p14:creationId xmlns:p14="http://schemas.microsoft.com/office/powerpoint/2010/main" val="14186466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smtClean="0"/>
              <a:t>Diffraction peaks are associated with planes of atoms</a:t>
            </a:r>
            <a:endParaRPr lang="en-US" dirty="0"/>
          </a:p>
        </p:txBody>
      </p:sp>
      <p:sp>
        <p:nvSpPr>
          <p:cNvPr id="3" name="Content Placeholder 2"/>
          <p:cNvSpPr>
            <a:spLocks noGrp="1"/>
          </p:cNvSpPr>
          <p:nvPr>
            <p:ph idx="1"/>
          </p:nvPr>
        </p:nvSpPr>
        <p:spPr>
          <a:xfrm>
            <a:off x="457200" y="4410075"/>
            <a:ext cx="8153400" cy="1716088"/>
          </a:xfrm>
        </p:spPr>
        <p:txBody>
          <a:bodyPr>
            <a:normAutofit fontScale="77500" lnSpcReduction="20000"/>
          </a:bodyPr>
          <a:lstStyle/>
          <a:p>
            <a:pPr>
              <a:defRPr/>
            </a:pPr>
            <a:r>
              <a:rPr lang="en-US" dirty="0" smtClean="0"/>
              <a:t>Miller indices </a:t>
            </a:r>
            <a:r>
              <a:rPr lang="en-US" dirty="0" smtClean="0">
                <a:solidFill>
                  <a:srgbClr val="FF0000"/>
                </a:solidFill>
              </a:rPr>
              <a:t>(</a:t>
            </a:r>
            <a:r>
              <a:rPr lang="en-US" dirty="0" err="1" smtClean="0">
                <a:solidFill>
                  <a:srgbClr val="FF0000"/>
                </a:solidFill>
              </a:rPr>
              <a:t>hkl</a:t>
            </a:r>
            <a:r>
              <a:rPr lang="en-US" dirty="0" smtClean="0">
                <a:solidFill>
                  <a:srgbClr val="FF0000"/>
                </a:solidFill>
              </a:rPr>
              <a:t>)</a:t>
            </a:r>
            <a:r>
              <a:rPr lang="en-US" dirty="0" smtClean="0"/>
              <a:t> are used to identify different planes of atoms</a:t>
            </a:r>
          </a:p>
          <a:p>
            <a:pPr>
              <a:defRPr/>
            </a:pPr>
            <a:r>
              <a:rPr lang="en-US" dirty="0" smtClean="0"/>
              <a:t>Observed diffraction peaks can be related to planes of atoms to assist in analyzing the atomic structure and microstructure of a sample</a:t>
            </a:r>
            <a:endParaRPr lang="en-US" dirty="0"/>
          </a:p>
        </p:txBody>
      </p:sp>
      <p:pic>
        <p:nvPicPr>
          <p:cNvPr id="54276" name="Picture 5"/>
          <p:cNvPicPr>
            <a:picLocks noChangeAspect="1" noChangeArrowheads="1"/>
          </p:cNvPicPr>
          <p:nvPr/>
        </p:nvPicPr>
        <p:blipFill>
          <a:blip r:embed="rId2"/>
          <a:srcRect l="6503" b="19325"/>
          <a:stretch>
            <a:fillRect/>
          </a:stretch>
        </p:blipFill>
        <p:spPr bwMode="auto">
          <a:xfrm>
            <a:off x="838200" y="990600"/>
            <a:ext cx="7194550" cy="3492500"/>
          </a:xfrm>
          <a:prstGeom prst="rect">
            <a:avLst/>
          </a:prstGeom>
          <a:noFill/>
          <a:ln w="9525">
            <a:noFill/>
            <a:miter lim="800000"/>
            <a:headEnd/>
            <a:tailEnd/>
          </a:ln>
          <a:effectLst/>
        </p:spPr>
      </p:pic>
    </p:spTree>
    <p:extLst>
      <p:ext uri="{BB962C8B-B14F-4D97-AF65-F5344CB8AC3E}">
        <p14:creationId xmlns:p14="http://schemas.microsoft.com/office/powerpoint/2010/main" val="10335563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04800" y="152400"/>
            <a:ext cx="8229600" cy="1143000"/>
          </a:xfrm>
        </p:spPr>
        <p:txBody>
          <a:bodyPr/>
          <a:lstStyle/>
          <a:p>
            <a:pPr>
              <a:defRPr/>
            </a:pPr>
            <a:r>
              <a:rPr lang="en-US" sz="2000" dirty="0" smtClean="0"/>
              <a:t>Parallel </a:t>
            </a:r>
            <a:r>
              <a:rPr lang="en-US" sz="2000" dirty="0" smtClean="0">
                <a:solidFill>
                  <a:srgbClr val="993333"/>
                </a:solidFill>
              </a:rPr>
              <a:t>planes of atoms</a:t>
            </a:r>
            <a:r>
              <a:rPr lang="en-US" sz="2000" dirty="0" smtClean="0"/>
              <a:t> intersecting the unit cell define directions and distances in the crystal.</a:t>
            </a:r>
          </a:p>
        </p:txBody>
      </p:sp>
      <p:sp>
        <p:nvSpPr>
          <p:cNvPr id="9219" name="Rectangle 3"/>
          <p:cNvSpPr>
            <a:spLocks noGrp="1" noChangeArrowheads="1"/>
          </p:cNvSpPr>
          <p:nvPr>
            <p:ph type="body" idx="1"/>
          </p:nvPr>
        </p:nvSpPr>
        <p:spPr>
          <a:xfrm>
            <a:off x="457200" y="4572000"/>
            <a:ext cx="8229600" cy="1828800"/>
          </a:xfrm>
        </p:spPr>
        <p:txBody>
          <a:bodyPr>
            <a:normAutofit fontScale="92500" lnSpcReduction="10000"/>
          </a:bodyPr>
          <a:lstStyle/>
          <a:p>
            <a:pPr>
              <a:defRPr/>
            </a:pPr>
            <a:r>
              <a:rPr lang="en-US" sz="2000" dirty="0" smtClean="0"/>
              <a:t>The Miller indices (</a:t>
            </a:r>
            <a:r>
              <a:rPr lang="en-US" sz="2000" dirty="0" err="1" smtClean="0"/>
              <a:t>hkl</a:t>
            </a:r>
            <a:r>
              <a:rPr lang="en-US" sz="2000" dirty="0" smtClean="0"/>
              <a:t>) define the reciprocal of the axial intercepts</a:t>
            </a:r>
          </a:p>
          <a:p>
            <a:pPr>
              <a:defRPr/>
            </a:pPr>
            <a:r>
              <a:rPr lang="en-US" sz="2000" dirty="0" smtClean="0"/>
              <a:t>The crystallographic direction, [</a:t>
            </a:r>
            <a:r>
              <a:rPr lang="en-US" sz="2000" dirty="0" err="1" smtClean="0"/>
              <a:t>hkl</a:t>
            </a:r>
            <a:r>
              <a:rPr lang="en-US" sz="2000" dirty="0" smtClean="0"/>
              <a:t>], is the vector normal to (</a:t>
            </a:r>
            <a:r>
              <a:rPr lang="en-US" sz="2000" dirty="0" err="1" smtClean="0"/>
              <a:t>hkl</a:t>
            </a:r>
            <a:r>
              <a:rPr lang="en-US" sz="2000" dirty="0" smtClean="0"/>
              <a:t>)</a:t>
            </a:r>
          </a:p>
          <a:p>
            <a:pPr>
              <a:defRPr/>
            </a:pPr>
            <a:r>
              <a:rPr lang="en-US" sz="2000" dirty="0" err="1" smtClean="0"/>
              <a:t>d</a:t>
            </a:r>
            <a:r>
              <a:rPr lang="en-US" sz="2000" baseline="-25000" dirty="0" err="1" smtClean="0"/>
              <a:t>hkl</a:t>
            </a:r>
            <a:r>
              <a:rPr lang="en-US" sz="2000" dirty="0" smtClean="0"/>
              <a:t> is the vector extending from the origin to the plane (</a:t>
            </a:r>
            <a:r>
              <a:rPr lang="en-US" sz="2000" dirty="0" err="1" smtClean="0"/>
              <a:t>hkl</a:t>
            </a:r>
            <a:r>
              <a:rPr lang="en-US" sz="2000" dirty="0" smtClean="0"/>
              <a:t>) and is normal to (</a:t>
            </a:r>
            <a:r>
              <a:rPr lang="en-US" sz="2000" dirty="0" err="1" smtClean="0"/>
              <a:t>hkl</a:t>
            </a:r>
            <a:r>
              <a:rPr lang="en-US" sz="2000" dirty="0" smtClean="0"/>
              <a:t>)</a:t>
            </a:r>
          </a:p>
          <a:p>
            <a:pPr>
              <a:defRPr/>
            </a:pPr>
            <a:r>
              <a:rPr lang="en-US" sz="2000" dirty="0" smtClean="0"/>
              <a:t>The vector </a:t>
            </a:r>
            <a:r>
              <a:rPr lang="en-US" sz="2000" dirty="0" err="1" smtClean="0"/>
              <a:t>d</a:t>
            </a:r>
            <a:r>
              <a:rPr lang="en-US" sz="2000" baseline="-25000" dirty="0" err="1" smtClean="0"/>
              <a:t>hkl</a:t>
            </a:r>
            <a:r>
              <a:rPr lang="en-US" sz="2000" dirty="0"/>
              <a:t> </a:t>
            </a:r>
            <a:r>
              <a:rPr lang="en-US" sz="2000" dirty="0" smtClean="0"/>
              <a:t>is used in Bragg’s law to determine where diffraction peaks will be observed</a:t>
            </a:r>
          </a:p>
        </p:txBody>
      </p:sp>
      <p:pic>
        <p:nvPicPr>
          <p:cNvPr id="55300" name="Picture 6"/>
          <p:cNvPicPr>
            <a:picLocks noChangeAspect="1" noChangeArrowheads="1"/>
          </p:cNvPicPr>
          <p:nvPr/>
        </p:nvPicPr>
        <p:blipFill>
          <a:blip r:embed="rId2"/>
          <a:srcRect l="10799" t="4637" r="14398" b="4637"/>
          <a:stretch>
            <a:fillRect/>
          </a:stretch>
        </p:blipFill>
        <p:spPr bwMode="auto">
          <a:xfrm>
            <a:off x="1295400" y="1447800"/>
            <a:ext cx="3248025" cy="3059113"/>
          </a:xfrm>
          <a:prstGeom prst="rect">
            <a:avLst/>
          </a:prstGeom>
          <a:noFill/>
          <a:ln w="9525" algn="ctr">
            <a:noFill/>
            <a:miter lim="800000"/>
            <a:headEnd/>
            <a:tailEnd/>
          </a:ln>
        </p:spPr>
      </p:pic>
      <p:pic>
        <p:nvPicPr>
          <p:cNvPr id="55301" name="Picture 7"/>
          <p:cNvPicPr>
            <a:picLocks noChangeAspect="1" noChangeArrowheads="1"/>
          </p:cNvPicPr>
          <p:nvPr/>
        </p:nvPicPr>
        <p:blipFill>
          <a:blip r:embed="rId3"/>
          <a:srcRect l="9599" t="4637" r="14398" b="4637"/>
          <a:stretch>
            <a:fillRect/>
          </a:stretch>
        </p:blipFill>
        <p:spPr bwMode="auto">
          <a:xfrm>
            <a:off x="4572000" y="1447800"/>
            <a:ext cx="3116263" cy="2886075"/>
          </a:xfrm>
          <a:prstGeom prst="rect">
            <a:avLst/>
          </a:prstGeom>
          <a:noFill/>
          <a:ln w="9525" algn="ctr">
            <a:noFill/>
            <a:miter lim="800000"/>
            <a:headEnd/>
            <a:tailEnd/>
          </a:ln>
        </p:spPr>
      </p:pic>
      <p:sp>
        <p:nvSpPr>
          <p:cNvPr id="55302" name="Text Box 8"/>
          <p:cNvSpPr txBox="1">
            <a:spLocks noChangeArrowheads="1"/>
          </p:cNvSpPr>
          <p:nvPr/>
        </p:nvSpPr>
        <p:spPr bwMode="auto">
          <a:xfrm>
            <a:off x="457200" y="1447800"/>
            <a:ext cx="1676400" cy="488950"/>
          </a:xfrm>
          <a:prstGeom prst="rect">
            <a:avLst/>
          </a:prstGeom>
          <a:noFill/>
          <a:ln w="9525" algn="ctr">
            <a:noFill/>
            <a:miter lim="800000"/>
            <a:headEnd/>
            <a:tailEnd/>
          </a:ln>
        </p:spPr>
        <p:txBody>
          <a:bodyPr lIns="0" tIns="0" rIns="0" bIns="0">
            <a:spAutoFit/>
          </a:bodyPr>
          <a:lstStyle/>
          <a:p>
            <a:r>
              <a:rPr lang="en-US" sz="1600"/>
              <a:t>The (200) planes of atoms in NaCl</a:t>
            </a:r>
          </a:p>
        </p:txBody>
      </p:sp>
      <p:sp>
        <p:nvSpPr>
          <p:cNvPr id="55303" name="Text Box 9"/>
          <p:cNvSpPr txBox="1">
            <a:spLocks noChangeArrowheads="1"/>
          </p:cNvSpPr>
          <p:nvPr/>
        </p:nvSpPr>
        <p:spPr bwMode="auto">
          <a:xfrm>
            <a:off x="7162800" y="1524000"/>
            <a:ext cx="1676400" cy="488950"/>
          </a:xfrm>
          <a:prstGeom prst="rect">
            <a:avLst/>
          </a:prstGeom>
          <a:noFill/>
          <a:ln w="9525" algn="ctr">
            <a:noFill/>
            <a:miter lim="800000"/>
            <a:headEnd/>
            <a:tailEnd/>
          </a:ln>
        </p:spPr>
        <p:txBody>
          <a:bodyPr lIns="0" tIns="0" rIns="0" bIns="0">
            <a:spAutoFit/>
          </a:bodyPr>
          <a:lstStyle/>
          <a:p>
            <a:r>
              <a:rPr lang="en-US" sz="1600"/>
              <a:t>The (220) planes of atoms in NaCl</a:t>
            </a:r>
          </a:p>
        </p:txBody>
      </p:sp>
      <p:sp>
        <p:nvSpPr>
          <p:cNvPr id="55304" name="Rectangle 8"/>
          <p:cNvSpPr>
            <a:spLocks noChangeArrowheads="1"/>
          </p:cNvSpPr>
          <p:nvPr/>
        </p:nvSpPr>
        <p:spPr bwMode="auto">
          <a:xfrm>
            <a:off x="2819400" y="6396038"/>
            <a:ext cx="6400800" cy="461962"/>
          </a:xfrm>
          <a:prstGeom prst="rect">
            <a:avLst/>
          </a:prstGeom>
          <a:noFill/>
          <a:ln w="9525">
            <a:noFill/>
            <a:miter lim="800000"/>
            <a:headEnd/>
            <a:tailEnd/>
          </a:ln>
        </p:spPr>
        <p:txBody>
          <a:bodyPr>
            <a:spAutoFit/>
          </a:bodyPr>
          <a:lstStyle/>
          <a:p>
            <a:r>
              <a:rPr lang="en-US" sz="800"/>
              <a:t>http://www.google.com/url?sa=t&amp;rct=j&amp;q=&amp;esrc=s&amp;frm=1&amp;source=web&amp;cd=4&amp;sqi=2&amp;ved=0CDcQFjAD&amp;url=http%3A%2F%2Fprism.mit.edu%2Fxray%2FBasics%2520of%2520XRay%2520Powder%2520Diffraction.pptx&amp;ei=ZmpaUIXQHYi10AG89IFg&amp;usg=AFQjCNFO1d1X0r4MEIBE86TvgvIFah9J5g</a:t>
            </a:r>
          </a:p>
        </p:txBody>
      </p:sp>
    </p:spTree>
    <p:extLst>
      <p:ext uri="{BB962C8B-B14F-4D97-AF65-F5344CB8AC3E}">
        <p14:creationId xmlns:p14="http://schemas.microsoft.com/office/powerpoint/2010/main" val="383735634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229600" cy="1143000"/>
          </a:xfrm>
        </p:spPr>
        <p:txBody>
          <a:bodyPr/>
          <a:lstStyle/>
          <a:p>
            <a:pPr>
              <a:defRPr/>
            </a:pPr>
            <a:r>
              <a:rPr lang="en-US" sz="2000" dirty="0" smtClean="0"/>
              <a:t>The position of the diffraction peaks are determined by the </a:t>
            </a:r>
            <a:r>
              <a:rPr lang="en-US" sz="2000" dirty="0"/>
              <a:t>distance between parallel planes of atoms. </a:t>
            </a:r>
          </a:p>
        </p:txBody>
      </p:sp>
      <p:sp>
        <p:nvSpPr>
          <p:cNvPr id="56323" name="Content Placeholder 2"/>
          <p:cNvSpPr>
            <a:spLocks noGrp="1"/>
          </p:cNvSpPr>
          <p:nvPr>
            <p:ph idx="1"/>
          </p:nvPr>
        </p:nvSpPr>
        <p:spPr>
          <a:xfrm>
            <a:off x="0" y="3810000"/>
            <a:ext cx="9144000" cy="2743200"/>
          </a:xfrm>
        </p:spPr>
        <p:txBody>
          <a:bodyPr/>
          <a:lstStyle/>
          <a:p>
            <a:pPr>
              <a:lnSpc>
                <a:spcPct val="90000"/>
              </a:lnSpc>
            </a:pPr>
            <a:r>
              <a:rPr lang="en-US" sz="1600" smtClean="0"/>
              <a:t>Bragg’s law calculates the angle where constructive interference from X-rays scattered by parallel planes of atoms will produce a diffraction peak.</a:t>
            </a:r>
          </a:p>
          <a:p>
            <a:pPr lvl="1">
              <a:lnSpc>
                <a:spcPct val="90000"/>
              </a:lnSpc>
            </a:pPr>
            <a:r>
              <a:rPr lang="en-US" sz="1600" smtClean="0"/>
              <a:t>In most diffractometers, the X-ray wavelength l is fixed.</a:t>
            </a:r>
          </a:p>
          <a:p>
            <a:pPr lvl="1">
              <a:lnSpc>
                <a:spcPct val="90000"/>
              </a:lnSpc>
            </a:pPr>
            <a:r>
              <a:rPr lang="en-US" sz="1600" smtClean="0"/>
              <a:t>Consequently, a family of planes produces a diffraction peak only at a specific angle 2</a:t>
            </a:r>
            <a:r>
              <a:rPr lang="en-US" sz="1600" smtClean="0">
                <a:sym typeface="Symbol" pitchFamily="18" charset="2"/>
              </a:rPr>
              <a:t></a:t>
            </a:r>
            <a:r>
              <a:rPr lang="en-US" sz="1600" smtClean="0"/>
              <a:t>.</a:t>
            </a:r>
          </a:p>
          <a:p>
            <a:r>
              <a:rPr lang="en-US" sz="1600" b="1" smtClean="0"/>
              <a:t>d</a:t>
            </a:r>
            <a:r>
              <a:rPr lang="en-US" sz="1600" b="1" baseline="-25000" smtClean="0"/>
              <a:t>hkl</a:t>
            </a:r>
            <a:r>
              <a:rPr lang="en-US" sz="1600" smtClean="0"/>
              <a:t> is the vector drawn from the origin of the unit cell to intersect the crystallographic plane (hkl) at a 90</a:t>
            </a:r>
            <a:r>
              <a:rPr lang="en-US" sz="1600" smtClean="0">
                <a:cs typeface="Arial" charset="0"/>
              </a:rPr>
              <a:t>° angle</a:t>
            </a:r>
            <a:r>
              <a:rPr lang="en-US" sz="1600" smtClean="0"/>
              <a:t>. </a:t>
            </a:r>
          </a:p>
          <a:p>
            <a:pPr lvl="1"/>
            <a:r>
              <a:rPr lang="en-US" sz="1600" i="1" smtClean="0"/>
              <a:t>d</a:t>
            </a:r>
            <a:r>
              <a:rPr lang="en-US" sz="1600" i="1" baseline="-25000" smtClean="0"/>
              <a:t>hkl</a:t>
            </a:r>
            <a:r>
              <a:rPr lang="en-US" sz="1600" smtClean="0"/>
              <a:t>, the vector magnitude, is the distance between parallel planes of atoms in the family (hkl)</a:t>
            </a:r>
          </a:p>
          <a:p>
            <a:pPr lvl="1"/>
            <a:r>
              <a:rPr lang="en-US" sz="1600" i="1" smtClean="0">
                <a:solidFill>
                  <a:srgbClr val="CC0000"/>
                </a:solidFill>
              </a:rPr>
              <a:t>d</a:t>
            </a:r>
            <a:r>
              <a:rPr lang="en-US" sz="1600" i="1" baseline="-25000" smtClean="0">
                <a:solidFill>
                  <a:srgbClr val="CC0000"/>
                </a:solidFill>
              </a:rPr>
              <a:t>hkl</a:t>
            </a:r>
            <a:r>
              <a:rPr lang="en-US" sz="1600" smtClean="0">
                <a:solidFill>
                  <a:srgbClr val="CC0000"/>
                </a:solidFill>
              </a:rPr>
              <a:t> is a geometric function of the size and shape of the unit cell</a:t>
            </a:r>
          </a:p>
        </p:txBody>
      </p:sp>
      <p:graphicFrame>
        <p:nvGraphicFramePr>
          <p:cNvPr id="56324" name="Object 8"/>
          <p:cNvGraphicFramePr>
            <a:graphicFrameLocks noChangeAspect="1"/>
          </p:cNvGraphicFramePr>
          <p:nvPr/>
        </p:nvGraphicFramePr>
        <p:xfrm>
          <a:off x="1600200" y="2513013"/>
          <a:ext cx="2514600" cy="646112"/>
        </p:xfrm>
        <a:graphic>
          <a:graphicData uri="http://schemas.openxmlformats.org/presentationml/2006/ole">
            <mc:AlternateContent xmlns:mc="http://schemas.openxmlformats.org/markup-compatibility/2006">
              <mc:Choice xmlns:v="urn:schemas-microsoft-com:vml" Requires="v">
                <p:oleObj spid="_x0000_s23556" name="Equation" r:id="rId3" imgW="889000" imgH="228600" progId="Equation.3">
                  <p:embed/>
                </p:oleObj>
              </mc:Choice>
              <mc:Fallback>
                <p:oleObj name="Equation" r:id="rId3" imgW="8890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513013"/>
                        <a:ext cx="2514600" cy="646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6325" name="Picture 4"/>
          <p:cNvPicPr>
            <a:picLocks noChangeAspect="1" noChangeArrowheads="1"/>
          </p:cNvPicPr>
          <p:nvPr/>
        </p:nvPicPr>
        <p:blipFill>
          <a:blip r:embed="rId5"/>
          <a:srcRect l="28752" t="18085" r="26314" b="21484"/>
          <a:stretch>
            <a:fillRect/>
          </a:stretch>
        </p:blipFill>
        <p:spPr bwMode="auto">
          <a:xfrm>
            <a:off x="5181600" y="1201738"/>
            <a:ext cx="2898775" cy="2560637"/>
          </a:xfrm>
          <a:prstGeom prst="rect">
            <a:avLst/>
          </a:prstGeom>
          <a:noFill/>
          <a:ln w="38100">
            <a:noFill/>
            <a:miter lim="800000"/>
            <a:headEnd/>
            <a:tailEnd/>
          </a:ln>
          <a:effectLst/>
        </p:spPr>
      </p:pic>
      <p:sp>
        <p:nvSpPr>
          <p:cNvPr id="56326" name="Line 10"/>
          <p:cNvSpPr>
            <a:spLocks noChangeShapeType="1"/>
          </p:cNvSpPr>
          <p:nvPr/>
        </p:nvSpPr>
        <p:spPr bwMode="auto">
          <a:xfrm flipV="1">
            <a:off x="5867400" y="2497138"/>
            <a:ext cx="1066800" cy="1066800"/>
          </a:xfrm>
          <a:prstGeom prst="line">
            <a:avLst/>
          </a:prstGeom>
          <a:noFill/>
          <a:ln w="38100">
            <a:solidFill>
              <a:schemeClr val="tx1"/>
            </a:solidFill>
            <a:round/>
            <a:headEnd/>
            <a:tailEnd type="triangle" w="med" len="lg"/>
          </a:ln>
          <a:effectLst/>
        </p:spPr>
        <p:txBody>
          <a:bodyPr/>
          <a:lstStyle/>
          <a:p>
            <a:endParaRPr lang="en-US"/>
          </a:p>
        </p:txBody>
      </p:sp>
      <p:sp>
        <p:nvSpPr>
          <p:cNvPr id="56327" name="Text Box 11"/>
          <p:cNvSpPr txBox="1">
            <a:spLocks noChangeArrowheads="1"/>
          </p:cNvSpPr>
          <p:nvPr/>
        </p:nvSpPr>
        <p:spPr bwMode="auto">
          <a:xfrm rot="-2961767">
            <a:off x="6248401" y="2954337"/>
            <a:ext cx="576262" cy="366713"/>
          </a:xfrm>
          <a:prstGeom prst="rect">
            <a:avLst/>
          </a:prstGeom>
          <a:noFill/>
          <a:ln w="38100">
            <a:noFill/>
            <a:miter lim="800000"/>
            <a:headEnd/>
            <a:tailEnd/>
          </a:ln>
          <a:effectLst/>
        </p:spPr>
        <p:txBody>
          <a:bodyPr wrap="none">
            <a:spAutoFit/>
          </a:bodyPr>
          <a:lstStyle/>
          <a:p>
            <a:r>
              <a:rPr lang="en-US"/>
              <a:t>d</a:t>
            </a:r>
            <a:r>
              <a:rPr lang="en-US" baseline="-25000"/>
              <a:t>110</a:t>
            </a:r>
            <a:endParaRPr lang="en-US"/>
          </a:p>
        </p:txBody>
      </p:sp>
      <p:sp>
        <p:nvSpPr>
          <p:cNvPr id="56328" name="TextBox 8"/>
          <p:cNvSpPr txBox="1">
            <a:spLocks noChangeArrowheads="1"/>
          </p:cNvSpPr>
          <p:nvPr/>
        </p:nvSpPr>
        <p:spPr bwMode="auto">
          <a:xfrm>
            <a:off x="1981200" y="2090738"/>
            <a:ext cx="1681163" cy="461962"/>
          </a:xfrm>
          <a:prstGeom prst="rect">
            <a:avLst/>
          </a:prstGeom>
          <a:noFill/>
          <a:ln w="9525">
            <a:noFill/>
            <a:miter lim="800000"/>
            <a:headEnd/>
            <a:tailEnd/>
          </a:ln>
        </p:spPr>
        <p:txBody>
          <a:bodyPr wrap="none">
            <a:spAutoFit/>
          </a:bodyPr>
          <a:lstStyle/>
          <a:p>
            <a:r>
              <a:rPr lang="en-US" sz="2400" b="1"/>
              <a:t>Bragg’s Law</a:t>
            </a:r>
          </a:p>
        </p:txBody>
      </p:sp>
      <p:sp>
        <p:nvSpPr>
          <p:cNvPr id="10" name="Rectangle 9"/>
          <p:cNvSpPr/>
          <p:nvPr/>
        </p:nvSpPr>
        <p:spPr>
          <a:xfrm>
            <a:off x="1371600" y="2090738"/>
            <a:ext cx="2819400" cy="10477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50486516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599990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2166</Words>
  <Application>Microsoft Office PowerPoint</Application>
  <PresentationFormat>On-screen Show (4:3)</PresentationFormat>
  <Paragraphs>313</Paragraphs>
  <Slides>46</Slides>
  <Notes>1</Notes>
  <HiddenSlides>0</HiddenSlides>
  <MMClips>0</MMClips>
  <ScaleCrop>false</ScaleCrop>
  <HeadingPairs>
    <vt:vector size="6" baseType="variant">
      <vt:variant>
        <vt:lpstr>Theme</vt:lpstr>
      </vt:variant>
      <vt:variant>
        <vt:i4>1</vt:i4>
      </vt:variant>
      <vt:variant>
        <vt:lpstr>Embedded OLE Servers</vt:lpstr>
      </vt:variant>
      <vt:variant>
        <vt:i4>3</vt:i4>
      </vt:variant>
      <vt:variant>
        <vt:lpstr>Slide Titles</vt:lpstr>
      </vt:variant>
      <vt:variant>
        <vt:i4>46</vt:i4>
      </vt:variant>
    </vt:vector>
  </HeadingPairs>
  <TitlesOfParts>
    <vt:vector size="50" baseType="lpstr">
      <vt:lpstr>Office Theme</vt:lpstr>
      <vt:lpstr>Bitmap Image</vt:lpstr>
      <vt:lpstr>Image</vt:lpstr>
      <vt:lpstr>Equation</vt:lpstr>
      <vt:lpstr>Solid State Chemistry</vt:lpstr>
      <vt:lpstr>Diamond vs Graphite</vt:lpstr>
      <vt:lpstr>Solids</vt:lpstr>
      <vt:lpstr>PowerPoint Presentation</vt:lpstr>
      <vt:lpstr>STRUCTURES OF CRYSTALLINE SOLID TYPES</vt:lpstr>
      <vt:lpstr>PowerPoint Presentation</vt:lpstr>
      <vt:lpstr>CRYSTAL STRUCTURE </vt:lpstr>
      <vt:lpstr>PowerPoint Presentation</vt:lpstr>
      <vt:lpstr>PowerPoint Presentation</vt:lpstr>
      <vt:lpstr>PowerPoint Presentation</vt:lpstr>
      <vt:lpstr>PowerPoint Presentation</vt:lpstr>
      <vt:lpstr>PowerPoint Presentation</vt:lpstr>
      <vt:lpstr>Miller indices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Diffraction occurs when light is scattered by a periodic array with long-range order, producing constructive interference at specific angles.</vt:lpstr>
      <vt:lpstr>The figure below compares the X-ray diffraction patterns from 3 different forms of SiO2</vt:lpstr>
      <vt:lpstr>The diffraction pattern is a product of the unique crystal structure of a material </vt:lpstr>
      <vt:lpstr>Diffraction peaks are associated with planes of atoms</vt:lpstr>
      <vt:lpstr>Parallel planes of atoms intersecting the unit cell define directions and distances in the crystal.</vt:lpstr>
      <vt:lpstr>The position of the diffraction peaks are determined by the distance between parallel planes of atoms.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3</cp:revision>
  <dcterms:created xsi:type="dcterms:W3CDTF">2021-12-04T17:09:27Z</dcterms:created>
  <dcterms:modified xsi:type="dcterms:W3CDTF">2025-01-21T11:24:21Z</dcterms:modified>
</cp:coreProperties>
</file>