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Override PartName="/ppt/notesSlides/notesSlide1.xml" ContentType="application/vnd.openxmlformats-officedocument.presentationml.notesSlide+xml"/>
  <Override PartName="/ppt/notesSlides/notesSlide2.xml" ContentType="application/vnd.openxmlformats-officedocument.presentationml.notesSlide+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7"/>
  </p:notesMasterIdLst>
  <p:sldIdLst>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15620"/>
    <p:restoredTop sz="94660"/>
  </p:normalViewPr>
  <p:slideViewPr>
    <p:cSldViewPr>
      <p:cViewPr varScale="1">
        <p:scale>
          <a:sx n="57" d="100"/>
          <a:sy n="57" d="100"/>
        </p:scale>
        <p:origin x="-876" y="-96"/>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820119B8-CE09-4AB9-991B-67188AF0C6B1}" type="datetimeFigureOut">
              <a:rPr lang="en-US" smtClean="0"/>
              <a:t>1/1/2009</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1E9C51BC-5685-41AE-BBF3-727211EE5ACB}" type="slidenum">
              <a:rPr lang="en-US" smtClean="0"/>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Slide Image Placeholder 1"/>
          <p:cNvSpPr>
            <a:spLocks noGrp="1" noRot="1" noChangeAspect="1" noTextEdit="1"/>
          </p:cNvSpPr>
          <p:nvPr>
            <p:ph type="sldImg"/>
          </p:nvPr>
        </p:nvSpPr>
        <p:spPr>
          <a:ln/>
        </p:spPr>
      </p:sp>
      <p:sp>
        <p:nvSpPr>
          <p:cNvPr id="70659" name="Notes Placeholder 2"/>
          <p:cNvSpPr>
            <a:spLocks noGrp="1"/>
          </p:cNvSpPr>
          <p:nvPr>
            <p:ph type="body" idx="1"/>
          </p:nvPr>
        </p:nvSpPr>
        <p:spPr>
          <a:noFill/>
          <a:ln/>
        </p:spPr>
        <p:txBody>
          <a:bodyPr/>
          <a:lstStyle/>
          <a:p>
            <a:endParaRPr lang="en-US" smtClean="0"/>
          </a:p>
        </p:txBody>
      </p:sp>
      <p:sp>
        <p:nvSpPr>
          <p:cNvPr id="70660" name="Slide Number Placeholder 3"/>
          <p:cNvSpPr>
            <a:spLocks noGrp="1"/>
          </p:cNvSpPr>
          <p:nvPr>
            <p:ph type="sldNum" sz="quarter" idx="5"/>
          </p:nvPr>
        </p:nvSpPr>
        <p:spPr>
          <a:noFill/>
        </p:spPr>
        <p:txBody>
          <a:bodyPr/>
          <a:lstStyle/>
          <a:p>
            <a:fld id="{77B70D2B-5FC9-449A-8CE1-9B331E582527}" type="slidenum">
              <a:rPr lang="en-US" smtClean="0"/>
              <a:pPr/>
              <a:t>5</a:t>
            </a:fld>
            <a:endParaRPr lang="en-US"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Slide Image Placeholder 1"/>
          <p:cNvSpPr>
            <a:spLocks noGrp="1" noRot="1" noChangeAspect="1" noTextEdit="1"/>
          </p:cNvSpPr>
          <p:nvPr>
            <p:ph type="sldImg"/>
          </p:nvPr>
        </p:nvSpPr>
        <p:spPr>
          <a:ln/>
        </p:spPr>
      </p:sp>
      <p:sp>
        <p:nvSpPr>
          <p:cNvPr id="71683" name="Notes Placeholder 2"/>
          <p:cNvSpPr>
            <a:spLocks noGrp="1"/>
          </p:cNvSpPr>
          <p:nvPr>
            <p:ph type="body" idx="1"/>
          </p:nvPr>
        </p:nvSpPr>
        <p:spPr>
          <a:noFill/>
          <a:ln/>
        </p:spPr>
        <p:txBody>
          <a:bodyPr/>
          <a:lstStyle/>
          <a:p>
            <a:endParaRPr lang="en-US" smtClean="0"/>
          </a:p>
        </p:txBody>
      </p:sp>
      <p:sp>
        <p:nvSpPr>
          <p:cNvPr id="71684" name="Slide Number Placeholder 3"/>
          <p:cNvSpPr>
            <a:spLocks noGrp="1"/>
          </p:cNvSpPr>
          <p:nvPr>
            <p:ph type="sldNum" sz="quarter" idx="5"/>
          </p:nvPr>
        </p:nvSpPr>
        <p:spPr>
          <a:noFill/>
        </p:spPr>
        <p:txBody>
          <a:bodyPr/>
          <a:lstStyle/>
          <a:p>
            <a:fld id="{8B827CA8-3AA0-420A-AAEB-866B210AAE20}" type="slidenum">
              <a:rPr lang="en-US" smtClean="0"/>
              <a:pPr/>
              <a:t>8</a:t>
            </a:fld>
            <a:endParaRPr lang="en-US" smtClean="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02F982C5-FDD7-4F07-BE35-AD75FB97FE61}" type="datetimeFigureOut">
              <a:rPr lang="en-US" smtClean="0"/>
              <a:t>1/1/2009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E74A1EE-3E7D-4EBA-9054-79B5CC2E89E2}"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02F982C5-FDD7-4F07-BE35-AD75FB97FE61}" type="datetimeFigureOut">
              <a:rPr lang="en-US" smtClean="0"/>
              <a:t>1/1/2009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E74A1EE-3E7D-4EBA-9054-79B5CC2E89E2}"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02F982C5-FDD7-4F07-BE35-AD75FB97FE61}" type="datetimeFigureOut">
              <a:rPr lang="en-US" smtClean="0"/>
              <a:t>1/1/2009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E74A1EE-3E7D-4EBA-9054-79B5CC2E89E2}"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02F982C5-FDD7-4F07-BE35-AD75FB97FE61}" type="datetimeFigureOut">
              <a:rPr lang="en-US" smtClean="0"/>
              <a:t>1/1/2009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E74A1EE-3E7D-4EBA-9054-79B5CC2E89E2}"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02F982C5-FDD7-4F07-BE35-AD75FB97FE61}" type="datetimeFigureOut">
              <a:rPr lang="en-US" smtClean="0"/>
              <a:t>1/1/2009</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E74A1EE-3E7D-4EBA-9054-79B5CC2E89E2}"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02F982C5-FDD7-4F07-BE35-AD75FB97FE61}" type="datetimeFigureOut">
              <a:rPr lang="en-US" smtClean="0"/>
              <a:t>1/1/2009</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E74A1EE-3E7D-4EBA-9054-79B5CC2E89E2}"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2F982C5-FDD7-4F07-BE35-AD75FB97FE61}" type="datetimeFigureOut">
              <a:rPr lang="en-US" smtClean="0"/>
              <a:t>1/1/2009</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E74A1EE-3E7D-4EBA-9054-79B5CC2E89E2}"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02F982C5-FDD7-4F07-BE35-AD75FB97FE61}" type="datetimeFigureOut">
              <a:rPr lang="en-US" smtClean="0"/>
              <a:t>1/1/2009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E74A1EE-3E7D-4EBA-9054-79B5CC2E89E2}"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02F982C5-FDD7-4F07-BE35-AD75FB97FE61}" type="datetimeFigureOut">
              <a:rPr lang="en-US" smtClean="0"/>
              <a:t>1/1/2009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E74A1EE-3E7D-4EBA-9054-79B5CC2E89E2}"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02F982C5-FDD7-4F07-BE35-AD75FB97FE61}" type="datetimeFigureOut">
              <a:rPr lang="en-US" smtClean="0"/>
              <a:t>1/1/2009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E74A1EE-3E7D-4EBA-9054-79B5CC2E89E2}"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02F982C5-FDD7-4F07-BE35-AD75FB97FE61}" type="datetimeFigureOut">
              <a:rPr lang="en-US" smtClean="0"/>
              <a:t>1/1/2009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E74A1EE-3E7D-4EBA-9054-79B5CC2E89E2}"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2F982C5-FDD7-4F07-BE35-AD75FB97FE61}" type="datetimeFigureOut">
              <a:rPr lang="en-US" smtClean="0"/>
              <a:t>1/1/2009</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E74A1EE-3E7D-4EBA-9054-79B5CC2E89E2}"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p:cNvSpPr>
            <a:spLocks noGrp="1" noChangeArrowheads="1"/>
          </p:cNvSpPr>
          <p:nvPr>
            <p:ph type="ctrTitle" idx="4294967295"/>
          </p:nvPr>
        </p:nvSpPr>
        <p:spPr>
          <a:xfrm>
            <a:off x="838200" y="990600"/>
            <a:ext cx="6934200" cy="2438400"/>
          </a:xfrm>
        </p:spPr>
        <p:txBody>
          <a:bodyPr/>
          <a:lstStyle/>
          <a:p>
            <a:pPr eaLnBrk="1" hangingPunct="1"/>
            <a:r>
              <a:rPr lang="en-US" b="1" smtClean="0"/>
              <a:t>   </a:t>
            </a:r>
            <a:r>
              <a:rPr lang="en-US" sz="3200" b="1" smtClean="0"/>
              <a:t>Probiotics and Prebiotics</a:t>
            </a:r>
            <a:r>
              <a:rPr lang="en-US" sz="3200" smtClean="0"/>
              <a:t/>
            </a:r>
            <a:br>
              <a:rPr lang="en-US" sz="3200" smtClean="0"/>
            </a:br>
            <a:r>
              <a:rPr lang="en-US" sz="3200" smtClean="0">
                <a:solidFill>
                  <a:srgbClr val="00B050"/>
                </a:solidFill>
              </a:rPr>
              <a:t>- are there any benefit for the human health?</a:t>
            </a:r>
          </a:p>
        </p:txBody>
      </p:sp>
      <p:sp>
        <p:nvSpPr>
          <p:cNvPr id="2051" name="Rectangle 3"/>
          <p:cNvSpPr>
            <a:spLocks noGrp="1" noChangeArrowheads="1"/>
          </p:cNvSpPr>
          <p:nvPr>
            <p:ph type="subTitle" idx="4294967295"/>
          </p:nvPr>
        </p:nvSpPr>
        <p:spPr>
          <a:xfrm>
            <a:off x="2362200" y="3810000"/>
            <a:ext cx="4416425" cy="1927225"/>
          </a:xfrm>
        </p:spPr>
        <p:txBody>
          <a:bodyPr/>
          <a:lstStyle/>
          <a:p>
            <a:pPr marL="0" indent="0" algn="ctr" eaLnBrk="1" hangingPunct="1">
              <a:buFontTx/>
              <a:buNone/>
            </a:pPr>
            <a:endParaRPr lang="en-US" smtClean="0"/>
          </a:p>
          <a:p>
            <a:pPr marL="0" indent="0" algn="ctr" eaLnBrk="1" hangingPunct="1">
              <a:buFontTx/>
              <a:buNone/>
            </a:pPr>
            <a:r>
              <a:rPr lang="en-US" sz="2400" i="1" smtClean="0"/>
              <a:t>P. Neelamanie Yapa</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p:txBody>
          <a:bodyPr/>
          <a:lstStyle/>
          <a:p>
            <a:pPr eaLnBrk="1" hangingPunct="1"/>
            <a:r>
              <a:rPr lang="en-US" smtClean="0"/>
              <a:t>History and definitions</a:t>
            </a:r>
          </a:p>
        </p:txBody>
      </p:sp>
      <p:sp>
        <p:nvSpPr>
          <p:cNvPr id="3075" name="Rectangle 3"/>
          <p:cNvSpPr>
            <a:spLocks noGrp="1" noChangeArrowheads="1"/>
          </p:cNvSpPr>
          <p:nvPr>
            <p:ph type="body" idx="1"/>
          </p:nvPr>
        </p:nvSpPr>
        <p:spPr/>
        <p:txBody>
          <a:bodyPr/>
          <a:lstStyle/>
          <a:p>
            <a:pPr eaLnBrk="1" hangingPunct="1">
              <a:lnSpc>
                <a:spcPct val="80000"/>
              </a:lnSpc>
            </a:pPr>
            <a:endParaRPr lang="en-US" sz="2000" smtClean="0"/>
          </a:p>
          <a:p>
            <a:pPr eaLnBrk="1" hangingPunct="1">
              <a:lnSpc>
                <a:spcPct val="80000"/>
              </a:lnSpc>
              <a:buFontTx/>
              <a:buNone/>
            </a:pPr>
            <a:r>
              <a:rPr lang="en-US" sz="2400" smtClean="0"/>
              <a:t>A century ago, Elie Metchnikoff (a Russian scientist, professor at the Pasteur Institute in Paris) postulated that lactic acid bacteria (LAB) offered health benefits capable of promoting longevity. </a:t>
            </a:r>
          </a:p>
          <a:p>
            <a:pPr eaLnBrk="1" hangingPunct="1">
              <a:lnSpc>
                <a:spcPct val="80000"/>
              </a:lnSpc>
              <a:buFontTx/>
              <a:buNone/>
            </a:pPr>
            <a:r>
              <a:rPr lang="en-US" sz="2400" smtClean="0"/>
              <a:t>He suggested that “intestinal autointoxication” and the resultant aging could be suppressed by modifying the gut microbiota and replacing proteolytic microbes such as </a:t>
            </a:r>
            <a:r>
              <a:rPr lang="en-US" sz="2400" i="1" smtClean="0"/>
              <a:t>Clostridium</a:t>
            </a:r>
            <a:r>
              <a:rPr lang="en-US" sz="2400" smtClean="0"/>
              <a:t>—which produce toxic substances including phenols, indoles, and ammonia from the digestion of proteins—with useful microbes. He developed a diet with milk fermented with the bacterium he called “Bulgarian bacillus.”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idx="4294967295"/>
          </p:nvPr>
        </p:nvSpPr>
        <p:spPr/>
        <p:txBody>
          <a:bodyPr/>
          <a:lstStyle/>
          <a:p>
            <a:pPr eaLnBrk="1" hangingPunct="1"/>
            <a:endParaRPr lang="en-US" smtClean="0"/>
          </a:p>
        </p:txBody>
      </p:sp>
      <p:pic>
        <p:nvPicPr>
          <p:cNvPr id="4099" name="Picture 3"/>
          <p:cNvPicPr>
            <a:picLocks noChangeAspect="1" noChangeArrowheads="1"/>
          </p:cNvPicPr>
          <p:nvPr>
            <p:ph type="body" idx="4294967295"/>
          </p:nvPr>
        </p:nvPicPr>
        <p:blipFill>
          <a:blip r:embed="rId2"/>
          <a:srcRect/>
          <a:stretch>
            <a:fillRect/>
          </a:stretch>
        </p:blipFill>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p:txBody>
          <a:bodyPr/>
          <a:lstStyle/>
          <a:p>
            <a:pPr eaLnBrk="1" hangingPunct="1"/>
            <a:endParaRPr lang="en-US" smtClean="0"/>
          </a:p>
        </p:txBody>
      </p:sp>
      <p:sp>
        <p:nvSpPr>
          <p:cNvPr id="5123" name="Rectangle 3"/>
          <p:cNvSpPr>
            <a:spLocks noGrp="1" noChangeArrowheads="1"/>
          </p:cNvSpPr>
          <p:nvPr>
            <p:ph type="body" idx="1"/>
          </p:nvPr>
        </p:nvSpPr>
        <p:spPr>
          <a:xfrm>
            <a:off x="457200" y="1143000"/>
            <a:ext cx="8229600" cy="5181600"/>
          </a:xfrm>
        </p:spPr>
        <p:txBody>
          <a:bodyPr/>
          <a:lstStyle/>
          <a:p>
            <a:pPr marL="0" indent="0">
              <a:buFontTx/>
              <a:buNone/>
            </a:pPr>
            <a:r>
              <a:rPr lang="en-US" sz="2000" smtClean="0"/>
              <a:t>Recent advances in our knowledge of the biosynthetic activities of lactic bacteria and their antagonistic action against pathogenic, toxigenic and putrefactive organisms have added a new dimension to the importance of fermented milks in human nutrition and health.</a:t>
            </a:r>
          </a:p>
          <a:p>
            <a:pPr marL="0" indent="0">
              <a:buFontTx/>
              <a:buNone/>
            </a:pPr>
            <a:endParaRPr lang="en-US" sz="2000" smtClean="0"/>
          </a:p>
          <a:p>
            <a:pPr marL="0" indent="0">
              <a:buFontTx/>
              <a:buNone/>
            </a:pPr>
            <a:r>
              <a:rPr lang="en-US" sz="2000" smtClean="0"/>
              <a:t>The emergence of antibiotic-resistant bacteria and natural</a:t>
            </a:r>
          </a:p>
          <a:p>
            <a:pPr marL="0" indent="0">
              <a:buFontTx/>
              <a:buNone/>
            </a:pPr>
            <a:r>
              <a:rPr lang="en-US" sz="2000" smtClean="0"/>
              <a:t>ways of suppressing the growth of pathogens has contributed to the concept of ‘probiotics’.</a:t>
            </a:r>
          </a:p>
          <a:p>
            <a:pPr marL="0" indent="0">
              <a:buFontTx/>
              <a:buNone/>
            </a:pPr>
            <a:endParaRPr lang="en-US" sz="2000" smtClean="0"/>
          </a:p>
          <a:p>
            <a:pPr marL="0" indent="0" eaLnBrk="1" hangingPunct="1">
              <a:buFontTx/>
              <a:buNone/>
            </a:pPr>
            <a:r>
              <a:rPr lang="en-US" sz="2000" smtClean="0"/>
              <a:t>A </a:t>
            </a:r>
            <a:r>
              <a:rPr lang="en-US" sz="2000" i="1" smtClean="0"/>
              <a:t>Bifidobacterium</a:t>
            </a:r>
            <a:r>
              <a:rPr lang="en-US" sz="2000" smtClean="0"/>
              <a:t> was first isolated by Henry Tissier (of the Pasteur Institute) from a breast-fed infant, and he named the bacterium </a:t>
            </a:r>
            <a:r>
              <a:rPr lang="en-US" sz="2000" i="1" smtClean="0"/>
              <a:t>Bacillus bifidus communis</a:t>
            </a:r>
            <a:r>
              <a:rPr lang="en-US" sz="2000" smtClean="0"/>
              <a:t>. Tissier claimed that bifidobacteria would displace the proteolytic bacteria that cause diarrhea and recommended the administration of bifidobacteria to infants suffering from this symptom</a:t>
            </a:r>
            <a:r>
              <a:rPr lang="en-US" sz="2400" smtClean="0"/>
              <a: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p:txBody>
          <a:bodyPr/>
          <a:lstStyle/>
          <a:p>
            <a:pPr eaLnBrk="1" hangingPunct="1"/>
            <a:endParaRPr lang="en-US" smtClean="0"/>
          </a:p>
        </p:txBody>
      </p:sp>
      <p:sp>
        <p:nvSpPr>
          <p:cNvPr id="6147" name="Rectangle 3"/>
          <p:cNvSpPr>
            <a:spLocks noGrp="1" noChangeArrowheads="1"/>
          </p:cNvSpPr>
          <p:nvPr>
            <p:ph type="body" idx="1"/>
          </p:nvPr>
        </p:nvSpPr>
        <p:spPr>
          <a:xfrm>
            <a:off x="457200" y="1600200"/>
            <a:ext cx="8229600" cy="5105400"/>
          </a:xfrm>
        </p:spPr>
        <p:txBody>
          <a:bodyPr/>
          <a:lstStyle/>
          <a:p>
            <a:pPr eaLnBrk="1" hangingPunct="1">
              <a:buFontTx/>
              <a:buNone/>
            </a:pPr>
            <a:r>
              <a:rPr lang="en-US" sz="2000" smtClean="0"/>
              <a:t>    The term “probiotics” was first introduced in 1965 by Lilly and Stillwell; in contrast to antibiotics, probiotics were defined as microbially derived factors that stimulate the growth of other organisms.</a:t>
            </a:r>
          </a:p>
          <a:p>
            <a:pPr eaLnBrk="1" hangingPunct="1">
              <a:buFontTx/>
              <a:buNone/>
            </a:pPr>
            <a:endParaRPr lang="en-US" sz="2000" smtClean="0"/>
          </a:p>
          <a:p>
            <a:pPr eaLnBrk="1" hangingPunct="1">
              <a:lnSpc>
                <a:spcPct val="90000"/>
              </a:lnSpc>
              <a:buFontTx/>
              <a:buNone/>
            </a:pPr>
            <a:r>
              <a:rPr lang="en-US" sz="2000" smtClean="0">
                <a:solidFill>
                  <a:srgbClr val="00B050"/>
                </a:solidFill>
              </a:rPr>
              <a:t>    </a:t>
            </a:r>
            <a:r>
              <a:rPr lang="en-US" sz="2000" b="1" smtClean="0">
                <a:solidFill>
                  <a:srgbClr val="00B050"/>
                </a:solidFill>
              </a:rPr>
              <a:t>Probiotics</a:t>
            </a:r>
            <a:r>
              <a:rPr lang="en-US" sz="2000" smtClean="0">
                <a:solidFill>
                  <a:srgbClr val="00B050"/>
                </a:solidFill>
              </a:rPr>
              <a:t> - Live microorganisms which, when administered in adequate amounts, confer a health benefit on the host.</a:t>
            </a:r>
          </a:p>
          <a:p>
            <a:pPr eaLnBrk="1" hangingPunct="1">
              <a:lnSpc>
                <a:spcPct val="90000"/>
              </a:lnSpc>
              <a:buFontTx/>
              <a:buNone/>
            </a:pPr>
            <a:r>
              <a:rPr lang="en-US" sz="2000" b="1" smtClean="0"/>
              <a:t>    </a:t>
            </a:r>
          </a:p>
          <a:p>
            <a:pPr eaLnBrk="1" hangingPunct="1">
              <a:lnSpc>
                <a:spcPct val="90000"/>
              </a:lnSpc>
              <a:buFontTx/>
              <a:buNone/>
            </a:pPr>
            <a:r>
              <a:rPr lang="en-US" sz="2000" b="1" smtClean="0">
                <a:solidFill>
                  <a:srgbClr val="0070C0"/>
                </a:solidFill>
              </a:rPr>
              <a:t>     Prebiotics</a:t>
            </a:r>
            <a:r>
              <a:rPr lang="en-US" sz="2000" smtClean="0">
                <a:solidFill>
                  <a:srgbClr val="0070C0"/>
                </a:solidFill>
              </a:rPr>
              <a:t>  -Nondigestible substances that provide a beneficial physiological effect for the host by selectively stimulating the favorable growth or activity of a limited number of indigenous bacteria</a:t>
            </a:r>
          </a:p>
          <a:p>
            <a:pPr eaLnBrk="1" hangingPunct="1">
              <a:lnSpc>
                <a:spcPct val="90000"/>
              </a:lnSpc>
              <a:buFontTx/>
              <a:buNone/>
            </a:pPr>
            <a:r>
              <a:rPr lang="en-US" sz="2000" b="1" smtClean="0"/>
              <a:t>    </a:t>
            </a:r>
          </a:p>
          <a:p>
            <a:pPr eaLnBrk="1" hangingPunct="1">
              <a:lnSpc>
                <a:spcPct val="90000"/>
              </a:lnSpc>
              <a:buFontTx/>
              <a:buNone/>
            </a:pPr>
            <a:r>
              <a:rPr lang="en-US" sz="2000" b="1" smtClean="0"/>
              <a:t>     Synbiotics</a:t>
            </a:r>
            <a:r>
              <a:rPr lang="en-US" sz="2000" smtClean="0"/>
              <a:t> - Products that contain both probiotics and prebiotics</a:t>
            </a:r>
          </a:p>
          <a:p>
            <a:pPr eaLnBrk="1" hangingPunct="1">
              <a:buFontTx/>
              <a:buNone/>
            </a:pPr>
            <a:endParaRPr lang="en-US" sz="2400" smtClean="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itle 1"/>
          <p:cNvSpPr>
            <a:spLocks noGrp="1"/>
          </p:cNvSpPr>
          <p:nvPr>
            <p:ph type="title" idx="4294967295"/>
          </p:nvPr>
        </p:nvSpPr>
        <p:spPr/>
        <p:txBody>
          <a:bodyPr/>
          <a:lstStyle/>
          <a:p>
            <a:pPr eaLnBrk="1" hangingPunct="1"/>
            <a:endParaRPr lang="en-US" smtClean="0"/>
          </a:p>
        </p:txBody>
      </p:sp>
      <p:sp>
        <p:nvSpPr>
          <p:cNvPr id="7171" name="Content Placeholder 2"/>
          <p:cNvSpPr>
            <a:spLocks noGrp="1"/>
          </p:cNvSpPr>
          <p:nvPr>
            <p:ph idx="4294967295"/>
          </p:nvPr>
        </p:nvSpPr>
        <p:spPr/>
        <p:txBody>
          <a:bodyPr/>
          <a:lstStyle/>
          <a:p>
            <a:pPr eaLnBrk="1" hangingPunct="1">
              <a:buFontTx/>
              <a:buNone/>
            </a:pPr>
            <a:r>
              <a:rPr lang="en-US" sz="2400" i="1" smtClean="0"/>
              <a:t>Lactobacillus acidophilus</a:t>
            </a:r>
            <a:r>
              <a:rPr lang="en-US" sz="2400" smtClean="0"/>
              <a:t>  The bacterium is a member of the normal flora of humans,  found in the oral cavity, the small intestine, and the vaginal epithelium, where it is thought to play a beneficial role. The organism is generally the first bacterium listed as present in probiotic concoctions.</a:t>
            </a:r>
          </a:p>
          <a:p>
            <a:pPr eaLnBrk="1" hangingPunct="1">
              <a:buFontTx/>
              <a:buNone/>
            </a:pPr>
            <a:r>
              <a:rPr lang="en-US" sz="2400" smtClean="0">
                <a:solidFill>
                  <a:srgbClr val="0070C0"/>
                </a:solidFill>
              </a:rPr>
              <a:t>Probiotics are live microbes that can be formulated into many different types of products, including foods, drugs, and dietary supplements. </a:t>
            </a:r>
          </a:p>
          <a:p>
            <a:pPr eaLnBrk="1" hangingPunct="1">
              <a:buFontTx/>
              <a:buNone/>
            </a:pPr>
            <a:r>
              <a:rPr lang="en-US" sz="2400" smtClean="0">
                <a:solidFill>
                  <a:srgbClr val="0070C0"/>
                </a:solidFill>
              </a:rPr>
              <a:t/>
            </a:r>
            <a:br>
              <a:rPr lang="en-US" sz="2400" smtClean="0">
                <a:solidFill>
                  <a:srgbClr val="0070C0"/>
                </a:solidFill>
              </a:rPr>
            </a:br>
            <a:endParaRPr lang="en-US" sz="2400" smtClean="0">
              <a:solidFill>
                <a:srgbClr val="0070C0"/>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itle 1"/>
          <p:cNvSpPr>
            <a:spLocks noGrp="1"/>
          </p:cNvSpPr>
          <p:nvPr>
            <p:ph type="title"/>
          </p:nvPr>
        </p:nvSpPr>
        <p:spPr/>
        <p:txBody>
          <a:bodyPr/>
          <a:lstStyle/>
          <a:p>
            <a:endParaRPr lang="en-US" smtClean="0"/>
          </a:p>
        </p:txBody>
      </p:sp>
      <p:sp>
        <p:nvSpPr>
          <p:cNvPr id="8195" name="Content Placeholder 2"/>
          <p:cNvSpPr>
            <a:spLocks noGrp="1"/>
          </p:cNvSpPr>
          <p:nvPr>
            <p:ph idx="1"/>
          </p:nvPr>
        </p:nvSpPr>
        <p:spPr/>
        <p:txBody>
          <a:bodyPr/>
          <a:lstStyle/>
          <a:p>
            <a:pPr marL="0" indent="0">
              <a:buFontTx/>
              <a:buNone/>
            </a:pPr>
            <a:r>
              <a:rPr lang="en-US" sz="2400" smtClean="0"/>
              <a:t>Fuller has defined probiotics as ‘a live microbial feed supplement, which has beneficial effects on the host by improving its intestinal microbial balance’. </a:t>
            </a:r>
          </a:p>
          <a:p>
            <a:pPr marL="0" indent="0">
              <a:buFontTx/>
              <a:buNone/>
            </a:pPr>
            <a:endParaRPr lang="en-US" sz="2400" smtClean="0"/>
          </a:p>
          <a:p>
            <a:pPr marL="0" indent="0">
              <a:buFontTx/>
              <a:buNone/>
            </a:pPr>
            <a:r>
              <a:rPr lang="en-US" sz="2400" smtClean="0"/>
              <a:t>Most commonly, </a:t>
            </a:r>
            <a:r>
              <a:rPr lang="en-US" sz="2400" i="1" smtClean="0"/>
              <a:t>Lactobacillus acidophilus, L. casei, Bifidobacterium bifidum, B. longum </a:t>
            </a:r>
            <a:r>
              <a:rPr lang="en-US" sz="2400" smtClean="0"/>
              <a:t>and the yeast </a:t>
            </a:r>
            <a:r>
              <a:rPr lang="en-US" sz="2400" i="1" smtClean="0"/>
              <a:t>Saccharomyces boulardii </a:t>
            </a:r>
            <a:r>
              <a:rPr lang="en-US" sz="2400" smtClean="0"/>
              <a:t>have been used as probiotics in humans. Probiotic bacteria could be applied to balance disturbed intestinal microflora and related dysfunction of the gastrointestinal tract.</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p:cNvSpPr>
            <a:spLocks noGrp="1"/>
          </p:cNvSpPr>
          <p:nvPr>
            <p:ph type="title"/>
          </p:nvPr>
        </p:nvSpPr>
        <p:spPr/>
        <p:txBody>
          <a:bodyPr/>
          <a:lstStyle/>
          <a:p>
            <a:endParaRPr lang="en-US" smtClean="0"/>
          </a:p>
        </p:txBody>
      </p:sp>
      <p:sp>
        <p:nvSpPr>
          <p:cNvPr id="9219" name="Content Placeholder 2"/>
          <p:cNvSpPr>
            <a:spLocks noGrp="1"/>
          </p:cNvSpPr>
          <p:nvPr>
            <p:ph idx="1"/>
          </p:nvPr>
        </p:nvSpPr>
        <p:spPr>
          <a:xfrm>
            <a:off x="457200" y="1143000"/>
            <a:ext cx="8229600" cy="5638800"/>
          </a:xfrm>
        </p:spPr>
        <p:txBody>
          <a:bodyPr/>
          <a:lstStyle/>
          <a:p>
            <a:pPr marL="0" indent="0">
              <a:buFontTx/>
              <a:buNone/>
            </a:pPr>
            <a:endParaRPr lang="en-US" sz="2400" smtClean="0">
              <a:solidFill>
                <a:srgbClr val="0070C0"/>
              </a:solidFill>
            </a:endParaRPr>
          </a:p>
          <a:p>
            <a:pPr marL="0" indent="0">
              <a:buFontTx/>
              <a:buNone/>
            </a:pPr>
            <a:r>
              <a:rPr lang="en-US" sz="2400" smtClean="0">
                <a:solidFill>
                  <a:srgbClr val="0070C0"/>
                </a:solidFill>
              </a:rPr>
              <a:t>Viability and activity </a:t>
            </a:r>
            <a:r>
              <a:rPr lang="en-US" sz="2400" smtClean="0"/>
              <a:t>of the bacteria are important considerations, because the bacteria must survive in the food during shelf life and during transit through the acidic conditions of the stomach, and resist degradation by hydrolytic enzymes and bile salts in the small intestine. </a:t>
            </a:r>
          </a:p>
          <a:p>
            <a:pPr marL="0" indent="0">
              <a:buFontTx/>
              <a:buNone/>
            </a:pPr>
            <a:endParaRPr lang="en-US" sz="2400" smtClean="0"/>
          </a:p>
          <a:p>
            <a:pPr marL="0" indent="0">
              <a:buFontTx/>
              <a:buNone/>
            </a:pPr>
            <a:endParaRPr lang="en-US" sz="2400" smtClean="0"/>
          </a:p>
          <a:p>
            <a:pPr marL="0" indent="0">
              <a:buFontTx/>
              <a:buNone/>
            </a:pPr>
            <a:r>
              <a:rPr lang="en-US" sz="2400" smtClean="0"/>
              <a:t>It is essential that products sold with any health claims meet the criterion of a minimum 10</a:t>
            </a:r>
            <a:r>
              <a:rPr lang="en-US" sz="2400" baseline="30000" smtClean="0"/>
              <a:t>6</a:t>
            </a:r>
            <a:r>
              <a:rPr lang="en-US" sz="2400" smtClean="0"/>
              <a:t> CFU/mL probiotic bacteria at the expiry date, because the minimum therapeutic dose per day is suggested to be 10 </a:t>
            </a:r>
            <a:r>
              <a:rPr lang="en-US" sz="2400" baseline="30000" smtClean="0"/>
              <a:t>8</a:t>
            </a:r>
            <a:r>
              <a:rPr lang="en-US" sz="2400" smtClean="0"/>
              <a:t>– 10 </a:t>
            </a:r>
            <a:r>
              <a:rPr lang="en-US" sz="2400" baseline="30000" smtClean="0"/>
              <a:t>9</a:t>
            </a:r>
            <a:r>
              <a:rPr lang="en-US" sz="2400" smtClean="0"/>
              <a:t> cells.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p:txBody>
          <a:bodyPr/>
          <a:lstStyle/>
          <a:p>
            <a:pPr eaLnBrk="1" hangingPunct="1"/>
            <a:endParaRPr lang="en-US" smtClean="0"/>
          </a:p>
        </p:txBody>
      </p:sp>
      <p:sp>
        <p:nvSpPr>
          <p:cNvPr id="10243" name="Rectangle 3"/>
          <p:cNvSpPr>
            <a:spLocks noGrp="1" noChangeArrowheads="1"/>
          </p:cNvSpPr>
          <p:nvPr>
            <p:ph type="body" idx="1"/>
          </p:nvPr>
        </p:nvSpPr>
        <p:spPr>
          <a:xfrm>
            <a:off x="457200" y="1219200"/>
            <a:ext cx="8229600" cy="4906963"/>
          </a:xfrm>
        </p:spPr>
        <p:txBody>
          <a:bodyPr/>
          <a:lstStyle/>
          <a:p>
            <a:pPr eaLnBrk="1" hangingPunct="1">
              <a:lnSpc>
                <a:spcPct val="80000"/>
              </a:lnSpc>
              <a:buFontTx/>
              <a:buNone/>
            </a:pPr>
            <a:r>
              <a:rPr lang="en-US" sz="1800" b="1" smtClean="0"/>
              <a:t>Lactic acid bacteria (LAB</a:t>
            </a:r>
            <a:r>
              <a:rPr lang="en-US" sz="1800" smtClean="0"/>
              <a:t>) </a:t>
            </a:r>
          </a:p>
          <a:p>
            <a:pPr eaLnBrk="1" hangingPunct="1">
              <a:lnSpc>
                <a:spcPct val="80000"/>
              </a:lnSpc>
              <a:buFontTx/>
              <a:buNone/>
            </a:pPr>
            <a:r>
              <a:rPr lang="en-US" sz="1800" smtClean="0"/>
              <a:t>A functional classification of nonpathogenic, nontoxigenic, Grampositive, fermentative bacteria that are associated with the production  of lactic acid from carbohydrates, making them useful for food fermentation. Species of </a:t>
            </a:r>
            <a:r>
              <a:rPr lang="en-US" sz="1800" i="1" smtClean="0"/>
              <a:t>Lactobacillus, Lactococcus</a:t>
            </a:r>
            <a:r>
              <a:rPr lang="en-US" sz="1800" smtClean="0"/>
              <a:t>, and </a:t>
            </a:r>
            <a:r>
              <a:rPr lang="en-US" sz="1800" i="1" smtClean="0"/>
              <a:t>Streptococcus thermophilus</a:t>
            </a:r>
            <a:r>
              <a:rPr lang="en-US" sz="1800" smtClean="0"/>
              <a:t> are included in this group. </a:t>
            </a:r>
          </a:p>
          <a:p>
            <a:pPr eaLnBrk="1" hangingPunct="1">
              <a:lnSpc>
                <a:spcPct val="80000"/>
              </a:lnSpc>
              <a:buFontTx/>
              <a:buNone/>
            </a:pPr>
            <a:endParaRPr lang="en-US" sz="1800" smtClean="0"/>
          </a:p>
          <a:p>
            <a:pPr eaLnBrk="1" hangingPunct="1">
              <a:lnSpc>
                <a:spcPct val="80000"/>
              </a:lnSpc>
              <a:buFontTx/>
              <a:buNone/>
            </a:pPr>
            <a:r>
              <a:rPr lang="en-US" sz="1800" smtClean="0"/>
              <a:t>Since the genus </a:t>
            </a:r>
            <a:r>
              <a:rPr lang="en-US" sz="1800" i="1" smtClean="0"/>
              <a:t>Bifidobacterium</a:t>
            </a:r>
            <a:r>
              <a:rPr lang="en-US" sz="1800" smtClean="0"/>
              <a:t> is not associated with food fermentation and is taxonomically distinct from the other LABs, it is not usually grouped as a member of the LABs. Many probiotics are also LABs, but some probiotics are not (such as certain strains of </a:t>
            </a:r>
            <a:r>
              <a:rPr lang="en-US" sz="1800" i="1" smtClean="0"/>
              <a:t>E. coli</a:t>
            </a:r>
            <a:r>
              <a:rPr lang="en-US" sz="1800" smtClean="0"/>
              <a:t>, spore-formers (</a:t>
            </a:r>
            <a:r>
              <a:rPr lang="en-US" sz="1800" i="1" smtClean="0"/>
              <a:t>Bacillus cereus</a:t>
            </a:r>
            <a:r>
              <a:rPr lang="en-US" sz="1800" smtClean="0"/>
              <a:t>), and yeasts used as probiotics). </a:t>
            </a:r>
          </a:p>
          <a:p>
            <a:pPr eaLnBrk="1" hangingPunct="1">
              <a:lnSpc>
                <a:spcPct val="80000"/>
              </a:lnSpc>
              <a:buFontTx/>
              <a:buNone/>
            </a:pPr>
            <a:endParaRPr lang="en-US" sz="1800" smtClean="0"/>
          </a:p>
          <a:p>
            <a:pPr eaLnBrk="1" hangingPunct="1">
              <a:lnSpc>
                <a:spcPct val="80000"/>
              </a:lnSpc>
              <a:buFontTx/>
              <a:buNone/>
            </a:pPr>
            <a:r>
              <a:rPr lang="en-US" sz="1800" smtClean="0"/>
              <a:t>Lactic acid bacteria, including  </a:t>
            </a:r>
            <a:r>
              <a:rPr lang="en-US" sz="1800" i="1" smtClean="0"/>
              <a:t>Lactobacillus</a:t>
            </a:r>
            <a:r>
              <a:rPr lang="en-US" sz="1800" smtClean="0"/>
              <a:t> species, which have been used for preservation of food by fermentation for thousands of years, can serve a dual function by acting as agents for food fermentation and, in addition, potentially imparting health benefits</a:t>
            </a:r>
          </a:p>
          <a:p>
            <a:pPr eaLnBrk="1" hangingPunct="1">
              <a:lnSpc>
                <a:spcPct val="80000"/>
              </a:lnSpc>
              <a:buFontTx/>
              <a:buNone/>
            </a:pPr>
            <a:endParaRPr lang="en-US" sz="1800" smtClean="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1"/>
          <p:cNvSpPr>
            <a:spLocks noGrp="1"/>
          </p:cNvSpPr>
          <p:nvPr>
            <p:ph type="title"/>
          </p:nvPr>
        </p:nvSpPr>
        <p:spPr/>
        <p:txBody>
          <a:bodyPr/>
          <a:lstStyle/>
          <a:p>
            <a:endParaRPr lang="en-US" smtClean="0"/>
          </a:p>
        </p:txBody>
      </p:sp>
      <p:sp>
        <p:nvSpPr>
          <p:cNvPr id="11267" name="Content Placeholder 2"/>
          <p:cNvSpPr>
            <a:spLocks noGrp="1"/>
          </p:cNvSpPr>
          <p:nvPr>
            <p:ph idx="1"/>
          </p:nvPr>
        </p:nvSpPr>
        <p:spPr>
          <a:xfrm>
            <a:off x="457200" y="1600200"/>
            <a:ext cx="8229600" cy="4800600"/>
          </a:xfrm>
        </p:spPr>
        <p:txBody>
          <a:bodyPr/>
          <a:lstStyle/>
          <a:p>
            <a:pPr marL="0" indent="0">
              <a:buFontTx/>
              <a:buNone/>
            </a:pPr>
            <a:r>
              <a:rPr lang="en-US" sz="2400" smtClean="0"/>
              <a:t>Strains of bifidobacteria used in some commercial products neither survive gastric transit nor product acidity during s</a:t>
            </a:r>
          </a:p>
          <a:p>
            <a:pPr marL="0" indent="0">
              <a:buFontTx/>
              <a:buNone/>
            </a:pPr>
            <a:r>
              <a:rPr lang="en-US" sz="2400" smtClean="0"/>
              <a:t>storage.</a:t>
            </a:r>
          </a:p>
          <a:p>
            <a:pPr marL="0" indent="0">
              <a:buFontTx/>
              <a:buNone/>
            </a:pPr>
            <a:endParaRPr lang="en-US" sz="2400" smtClean="0"/>
          </a:p>
          <a:p>
            <a:pPr marL="0" indent="0">
              <a:buFontTx/>
              <a:buNone/>
            </a:pPr>
            <a:r>
              <a:rPr lang="en-US" sz="2400" smtClean="0"/>
              <a:t>It is considered misleading to describe probiotic yoghurt as having health promoting properties unless the minimum level of viable cells is present at the expiry date.</a:t>
            </a:r>
          </a:p>
          <a:p>
            <a:pPr marL="0" indent="0">
              <a:buFontTx/>
              <a:buNone/>
            </a:pPr>
            <a:endParaRPr lang="en-US" sz="2400" smtClean="0"/>
          </a:p>
          <a:p>
            <a:pPr marL="0" indent="0">
              <a:buFontTx/>
              <a:buNone/>
            </a:pPr>
            <a:r>
              <a:rPr lang="en-US" sz="2400" smtClean="0"/>
              <a:t>There is increasing evidence that probiotics can benefit the human host by acting as a first line of defence against disease-causing pathogens by improving the intestinal microflora.</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itle 1"/>
          <p:cNvSpPr>
            <a:spLocks noGrp="1"/>
          </p:cNvSpPr>
          <p:nvPr>
            <p:ph type="title"/>
          </p:nvPr>
        </p:nvSpPr>
        <p:spPr/>
        <p:txBody>
          <a:bodyPr/>
          <a:lstStyle/>
          <a:p>
            <a:endParaRPr lang="en-US" smtClean="0"/>
          </a:p>
        </p:txBody>
      </p:sp>
      <p:sp>
        <p:nvSpPr>
          <p:cNvPr id="12291" name="Content Placeholder 2"/>
          <p:cNvSpPr>
            <a:spLocks noGrp="1"/>
          </p:cNvSpPr>
          <p:nvPr>
            <p:ph idx="1"/>
          </p:nvPr>
        </p:nvSpPr>
        <p:spPr>
          <a:xfrm>
            <a:off x="457200" y="1600200"/>
            <a:ext cx="8229600" cy="4800600"/>
          </a:xfrm>
        </p:spPr>
        <p:txBody>
          <a:bodyPr/>
          <a:lstStyle/>
          <a:p>
            <a:pPr marL="0" indent="0">
              <a:buFontTx/>
              <a:buNone/>
            </a:pPr>
            <a:r>
              <a:rPr lang="en-US" sz="2400" smtClean="0"/>
              <a:t>There is increasing evidence that probiotics can benefit the human host by acting as a first line of defense against</a:t>
            </a:r>
          </a:p>
          <a:p>
            <a:pPr marL="0" indent="0">
              <a:buFontTx/>
              <a:buNone/>
            </a:pPr>
            <a:r>
              <a:rPr lang="en-US" sz="2400" smtClean="0"/>
              <a:t>disease-causing pathogens by improving the intestinal microflora.</a:t>
            </a:r>
          </a:p>
          <a:p>
            <a:pPr marL="0" indent="0">
              <a:buFontTx/>
              <a:buNone/>
            </a:pPr>
            <a:endParaRPr lang="en-US" sz="2400" smtClean="0"/>
          </a:p>
          <a:p>
            <a:pPr marL="0" indent="0">
              <a:buFontTx/>
              <a:buNone/>
            </a:pPr>
            <a:r>
              <a:rPr lang="en-US" sz="2400" smtClean="0"/>
              <a:t>Common criteria used for isolating and defining probiotic bacteria and specific strains include the following: (i) genera of human origin; (ii) stability against bile, acid, enzyme and oxygen; (iii) ability to adhere to intestinal mucosa; (iv) colonization potential in the human gastrointestinal tract; (v) production of antimicrobial substances; and (vi) demonstrable efficacy and safety.</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p:txBody>
          <a:bodyPr/>
          <a:lstStyle/>
          <a:p>
            <a:endParaRPr lang="en-US" smtClean="0"/>
          </a:p>
        </p:txBody>
      </p:sp>
      <p:sp>
        <p:nvSpPr>
          <p:cNvPr id="3" name="Content Placeholder 2"/>
          <p:cNvSpPr>
            <a:spLocks noGrp="1"/>
          </p:cNvSpPr>
          <p:nvPr>
            <p:ph idx="1"/>
          </p:nvPr>
        </p:nvSpPr>
        <p:spPr/>
        <p:txBody>
          <a:bodyPr/>
          <a:lstStyle/>
          <a:p>
            <a:pPr marL="0" indent="0">
              <a:buFontTx/>
              <a:buNone/>
              <a:defRPr/>
            </a:pPr>
            <a:r>
              <a:rPr lang="en-US" sz="2400" dirty="0" smtClean="0"/>
              <a:t>The </a:t>
            </a:r>
            <a:r>
              <a:rPr lang="en-US" sz="2400" dirty="0"/>
              <a:t>fact </a:t>
            </a:r>
            <a:r>
              <a:rPr lang="en-US" sz="2400" dirty="0" smtClean="0"/>
              <a:t>that there </a:t>
            </a:r>
            <a:r>
              <a:rPr lang="en-US" sz="2400" dirty="0"/>
              <a:t>is a necessity for the strain to be viable and </a:t>
            </a:r>
            <a:r>
              <a:rPr lang="en-US" sz="2400" dirty="0" smtClean="0"/>
              <a:t>metabolically active </a:t>
            </a:r>
            <a:r>
              <a:rPr lang="en-US" sz="2400" dirty="0"/>
              <a:t>within the gastrointestinal tract and </a:t>
            </a:r>
            <a:r>
              <a:rPr lang="en-US" sz="2400" dirty="0" smtClean="0"/>
              <a:t>biologically active </a:t>
            </a:r>
            <a:r>
              <a:rPr lang="en-US" sz="2400" dirty="0"/>
              <a:t>against the identified target. In addition, it is </a:t>
            </a:r>
            <a:r>
              <a:rPr lang="en-US" sz="2400" dirty="0" smtClean="0"/>
              <a:t>important that </a:t>
            </a:r>
            <a:r>
              <a:rPr lang="en-US" sz="2400" dirty="0"/>
              <a:t>viability of the strain and stability of the desirable </a:t>
            </a:r>
            <a:r>
              <a:rPr lang="en-US" sz="2400" dirty="0" smtClean="0"/>
              <a:t>characteristics of </a:t>
            </a:r>
            <a:r>
              <a:rPr lang="en-US" sz="2400" dirty="0"/>
              <a:t>the strain can be maintained during </a:t>
            </a:r>
            <a:r>
              <a:rPr lang="en-US" sz="2400" dirty="0" smtClean="0"/>
              <a:t>commercial production </a:t>
            </a:r>
            <a:r>
              <a:rPr lang="en-US" sz="2400" dirty="0"/>
              <a:t>as well as in the final product. A combination </a:t>
            </a:r>
            <a:r>
              <a:rPr lang="en-US" sz="2400" dirty="0" smtClean="0"/>
              <a:t>of </a:t>
            </a:r>
            <a:r>
              <a:rPr lang="en-US" sz="2400" i="1" dirty="0" smtClean="0"/>
              <a:t>in </a:t>
            </a:r>
            <a:r>
              <a:rPr lang="en-US" sz="2400" i="1" dirty="0"/>
              <a:t>vitro </a:t>
            </a:r>
            <a:r>
              <a:rPr lang="en-US" sz="2400" dirty="0"/>
              <a:t>studies, including clinical trials, is required</a:t>
            </a:r>
            <a:r>
              <a:rPr lang="en-US" sz="2400" dirty="0" smtClean="0"/>
              <a:t>.</a:t>
            </a:r>
          </a:p>
          <a:p>
            <a:pPr>
              <a:defRPr/>
            </a:pPr>
            <a:endParaRPr lang="en-US" sz="2400" dirty="0" smtClean="0"/>
          </a:p>
          <a:p>
            <a:pPr>
              <a:defRPr/>
            </a:pPr>
            <a:r>
              <a:rPr lang="en-US" sz="2400" dirty="0" smtClean="0">
                <a:solidFill>
                  <a:srgbClr val="0070C0"/>
                </a:solidFill>
              </a:rPr>
              <a:t>The </a:t>
            </a:r>
            <a:r>
              <a:rPr lang="en-US" sz="2400" dirty="0">
                <a:solidFill>
                  <a:srgbClr val="0070C0"/>
                </a:solidFill>
              </a:rPr>
              <a:t>most often used genera </a:t>
            </a:r>
            <a:r>
              <a:rPr lang="en-US" sz="2400" dirty="0" smtClean="0">
                <a:solidFill>
                  <a:srgbClr val="0070C0"/>
                </a:solidFill>
              </a:rPr>
              <a:t>are </a:t>
            </a:r>
            <a:r>
              <a:rPr lang="en-US" sz="2400" i="1" dirty="0" smtClean="0">
                <a:solidFill>
                  <a:srgbClr val="0070C0"/>
                </a:solidFill>
              </a:rPr>
              <a:t>Lactobacillus </a:t>
            </a:r>
            <a:r>
              <a:rPr lang="en-US" sz="2400" dirty="0">
                <a:solidFill>
                  <a:srgbClr val="0070C0"/>
                </a:solidFill>
              </a:rPr>
              <a:t>and </a:t>
            </a:r>
            <a:r>
              <a:rPr lang="en-US" sz="2400" i="1" dirty="0" err="1">
                <a:solidFill>
                  <a:srgbClr val="0070C0"/>
                </a:solidFill>
              </a:rPr>
              <a:t>Bifidobacterium</a:t>
            </a:r>
            <a:r>
              <a:rPr lang="en-US" sz="2400" dirty="0">
                <a:solidFill>
                  <a:srgbClr val="0070C0"/>
                </a:solidFill>
              </a:rPr>
              <a:t>.</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Content Placeholder 2"/>
          <p:cNvSpPr>
            <a:spLocks noGrp="1"/>
          </p:cNvSpPr>
          <p:nvPr>
            <p:ph idx="4294967295"/>
          </p:nvPr>
        </p:nvSpPr>
        <p:spPr>
          <a:xfrm>
            <a:off x="457200" y="533400"/>
            <a:ext cx="8153400" cy="6096000"/>
          </a:xfrm>
        </p:spPr>
        <p:txBody>
          <a:bodyPr/>
          <a:lstStyle/>
          <a:p>
            <a:pPr marL="0" indent="0">
              <a:buFontTx/>
              <a:buNone/>
            </a:pPr>
            <a:r>
              <a:rPr lang="en-US" sz="2000" smtClean="0"/>
              <a:t>For the purposes of human nutrition, a probiotic could be</a:t>
            </a:r>
          </a:p>
          <a:p>
            <a:pPr marL="0" indent="0">
              <a:buFontTx/>
              <a:buNone/>
            </a:pPr>
            <a:r>
              <a:rPr lang="en-US" sz="2000" smtClean="0"/>
              <a:t>defined as a live microbial food ingredient or supplement that</a:t>
            </a:r>
          </a:p>
          <a:p>
            <a:pPr marL="0" indent="0">
              <a:buFontTx/>
              <a:buNone/>
            </a:pPr>
            <a:r>
              <a:rPr lang="en-US" sz="2000" smtClean="0"/>
              <a:t>is beneficial to health. </a:t>
            </a:r>
          </a:p>
          <a:p>
            <a:pPr marL="0" indent="0">
              <a:buFontTx/>
              <a:buNone/>
            </a:pPr>
            <a:endParaRPr lang="en-US" sz="2000" smtClean="0"/>
          </a:p>
          <a:p>
            <a:pPr marL="0" indent="0">
              <a:buFontTx/>
              <a:buNone/>
            </a:pPr>
            <a:r>
              <a:rPr lang="en-US" sz="2000" smtClean="0"/>
              <a:t>A prebiotic is a non-digestible food ingredient that beneficially affects the host by selectively stimulating the growth and/or activity of one or a limited number of bacteria in the colon. It is a substance that modifies</a:t>
            </a:r>
          </a:p>
          <a:p>
            <a:pPr marL="0" indent="0">
              <a:buFontTx/>
              <a:buNone/>
            </a:pPr>
            <a:r>
              <a:rPr lang="en-US" sz="2000" smtClean="0"/>
              <a:t>the composition of the colonic microflora in such a way that a few of the potentially health-promoting bacteria (especially, but not exclusively, lactobacilli and bifidobacteria) become predominant. </a:t>
            </a:r>
          </a:p>
          <a:p>
            <a:pPr marL="0" indent="0">
              <a:buFontTx/>
              <a:buNone/>
            </a:pPr>
            <a:endParaRPr lang="en-US" sz="2000" smtClean="0"/>
          </a:p>
          <a:p>
            <a:pPr marL="0" indent="0">
              <a:buFontTx/>
              <a:buNone/>
            </a:pPr>
            <a:r>
              <a:rPr lang="en-US" sz="2000" smtClean="0"/>
              <a:t>Prebiotics are dietary substances (mostly consisting of nonstarch polysaccharides and oligosaccharides poorly digested by human enzymes) that nurture a selected group of microorganisms living in the gut.</a:t>
            </a:r>
          </a:p>
          <a:p>
            <a:pPr marL="0" indent="0">
              <a:buFontTx/>
              <a:buNone/>
            </a:pPr>
            <a:endParaRPr lang="en-US" sz="2000" smtClean="0"/>
          </a:p>
          <a:p>
            <a:pPr marL="0" indent="0">
              <a:buFontTx/>
              <a:buNone/>
            </a:pPr>
            <a:r>
              <a:rPr lang="en-US" sz="2000" smtClean="0"/>
              <a:t>The benefit to the host is mediated through selective stimulation of the growth and/or activity of one or a limited number of colonic bacteria.</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p:txBody>
          <a:bodyPr/>
          <a:lstStyle/>
          <a:p>
            <a:pPr eaLnBrk="1" hangingPunct="1"/>
            <a:endParaRPr lang="en-US" smtClean="0"/>
          </a:p>
        </p:txBody>
      </p:sp>
      <p:sp>
        <p:nvSpPr>
          <p:cNvPr id="15363" name="Rectangle 3"/>
          <p:cNvSpPr>
            <a:spLocks noGrp="1" noChangeArrowheads="1"/>
          </p:cNvSpPr>
          <p:nvPr>
            <p:ph type="body" idx="1"/>
          </p:nvPr>
        </p:nvSpPr>
        <p:spPr>
          <a:xfrm>
            <a:off x="381000" y="1524000"/>
            <a:ext cx="8229600" cy="4525963"/>
          </a:xfrm>
        </p:spPr>
        <p:txBody>
          <a:bodyPr/>
          <a:lstStyle/>
          <a:p>
            <a:pPr eaLnBrk="1" hangingPunct="1">
              <a:lnSpc>
                <a:spcPct val="90000"/>
              </a:lnSpc>
              <a:buFontTx/>
              <a:buNone/>
            </a:pPr>
            <a:r>
              <a:rPr lang="en-US" sz="2000" smtClean="0"/>
              <a:t>Unlike probiotics, most prebiotics are used as food ingredients—in biscuits, cereals, chocolate, spreads, and dairy products, for example. Commonly known prebiotics are: </a:t>
            </a:r>
          </a:p>
          <a:p>
            <a:pPr eaLnBrk="1" hangingPunct="1">
              <a:lnSpc>
                <a:spcPct val="90000"/>
              </a:lnSpc>
              <a:buFontTx/>
              <a:buNone/>
            </a:pPr>
            <a:r>
              <a:rPr lang="en-US" sz="2000" smtClean="0"/>
              <a:t>Oligofructose </a:t>
            </a:r>
          </a:p>
          <a:p>
            <a:pPr eaLnBrk="1" hangingPunct="1">
              <a:lnSpc>
                <a:spcPct val="90000"/>
              </a:lnSpc>
              <a:buFontTx/>
              <a:buNone/>
            </a:pPr>
            <a:r>
              <a:rPr lang="en-US" sz="2000" smtClean="0"/>
              <a:t>Inulin </a:t>
            </a:r>
          </a:p>
          <a:p>
            <a:pPr eaLnBrk="1" hangingPunct="1">
              <a:lnSpc>
                <a:spcPct val="90000"/>
              </a:lnSpc>
              <a:buFontTx/>
              <a:buNone/>
            </a:pPr>
            <a:r>
              <a:rPr lang="en-US" sz="2000" smtClean="0"/>
              <a:t>Galacto-oligosaccharides </a:t>
            </a:r>
          </a:p>
          <a:p>
            <a:pPr eaLnBrk="1" hangingPunct="1">
              <a:lnSpc>
                <a:spcPct val="90000"/>
              </a:lnSpc>
              <a:buFontTx/>
              <a:buNone/>
            </a:pPr>
            <a:r>
              <a:rPr lang="en-US" sz="2000" smtClean="0"/>
              <a:t>Lactulose </a:t>
            </a:r>
          </a:p>
          <a:p>
            <a:pPr eaLnBrk="1" hangingPunct="1">
              <a:lnSpc>
                <a:spcPct val="90000"/>
              </a:lnSpc>
              <a:buFontTx/>
              <a:buNone/>
            </a:pPr>
            <a:r>
              <a:rPr lang="en-US" sz="2000" smtClean="0"/>
              <a:t>Breast milk oligosaccharides </a:t>
            </a:r>
          </a:p>
          <a:p>
            <a:pPr eaLnBrk="1" hangingPunct="1">
              <a:buFontTx/>
              <a:buNone/>
            </a:pPr>
            <a:r>
              <a:rPr lang="en-US" sz="2000" smtClean="0">
                <a:solidFill>
                  <a:srgbClr val="0070C0"/>
                </a:solidFill>
              </a:rPr>
              <a:t>Lactulose is a synthetic disaccharide used as a drug for the treatment of constipation.</a:t>
            </a:r>
          </a:p>
          <a:p>
            <a:pPr eaLnBrk="1" hangingPunct="1">
              <a:buFontTx/>
              <a:buNone/>
            </a:pPr>
            <a:r>
              <a:rPr lang="en-US" sz="2000" smtClean="0">
                <a:solidFill>
                  <a:srgbClr val="0070C0"/>
                </a:solidFill>
              </a:rPr>
              <a:t>The prebiotic oligofructose is found naturally in many foods, such as wheat, onions, bananas, honey, garlic, and leeks.  </a:t>
            </a:r>
          </a:p>
          <a:p>
            <a:pPr eaLnBrk="1" hangingPunct="1">
              <a:lnSpc>
                <a:spcPct val="90000"/>
              </a:lnSpc>
              <a:buFontTx/>
              <a:buNone/>
            </a:pPr>
            <a:endParaRPr lang="en-US" sz="2000" smtClean="0"/>
          </a:p>
          <a:p>
            <a:pPr eaLnBrk="1" hangingPunct="1">
              <a:lnSpc>
                <a:spcPct val="90000"/>
              </a:lnSpc>
              <a:buFontTx/>
              <a:buNone/>
            </a:pPr>
            <a:endParaRPr lang="en-US" smtClean="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p:txBody>
          <a:bodyPr/>
          <a:lstStyle/>
          <a:p>
            <a:pPr eaLnBrk="1" hangingPunct="1"/>
            <a:r>
              <a:rPr lang="en-US" dirty="0" smtClean="0"/>
              <a:t>w</a:t>
            </a:r>
            <a:endParaRPr lang="en-US" dirty="0" smtClean="0"/>
          </a:p>
        </p:txBody>
      </p:sp>
      <p:sp>
        <p:nvSpPr>
          <p:cNvPr id="16387" name="Rectangle 3"/>
          <p:cNvSpPr>
            <a:spLocks noGrp="1" noChangeArrowheads="1"/>
          </p:cNvSpPr>
          <p:nvPr>
            <p:ph type="body" idx="1"/>
          </p:nvPr>
        </p:nvSpPr>
        <p:spPr/>
        <p:txBody>
          <a:bodyPr/>
          <a:lstStyle/>
          <a:p>
            <a:pPr eaLnBrk="1" hangingPunct="1">
              <a:buFontTx/>
              <a:buNone/>
            </a:pPr>
            <a:r>
              <a:rPr lang="en-US" sz="2400" smtClean="0"/>
              <a:t>Fermentation of oligofructose in the colon results in a large number of physiologic effects, including: </a:t>
            </a:r>
          </a:p>
          <a:p>
            <a:pPr eaLnBrk="1" hangingPunct="1">
              <a:buFontTx/>
              <a:buNone/>
            </a:pPr>
            <a:endParaRPr lang="en-US" sz="2400" smtClean="0"/>
          </a:p>
          <a:p>
            <a:pPr eaLnBrk="1" hangingPunct="1">
              <a:buFontTx/>
              <a:buNone/>
            </a:pPr>
            <a:r>
              <a:rPr lang="en-US" sz="2400" smtClean="0"/>
              <a:t>Increasing the numbers of bifidobacteria in the colon </a:t>
            </a:r>
          </a:p>
          <a:p>
            <a:pPr eaLnBrk="1" hangingPunct="1">
              <a:buFontTx/>
              <a:buNone/>
            </a:pPr>
            <a:r>
              <a:rPr lang="en-US" sz="2400" smtClean="0"/>
              <a:t>Increasing calcium absorption </a:t>
            </a:r>
          </a:p>
          <a:p>
            <a:pPr eaLnBrk="1" hangingPunct="1">
              <a:buFontTx/>
              <a:buNone/>
            </a:pPr>
            <a:r>
              <a:rPr lang="en-US" sz="2400" smtClean="0"/>
              <a:t>Increasing fecal weight </a:t>
            </a:r>
          </a:p>
          <a:p>
            <a:pPr eaLnBrk="1" hangingPunct="1">
              <a:buFontTx/>
              <a:buNone/>
            </a:pPr>
            <a:r>
              <a:rPr lang="en-US" sz="2400" smtClean="0"/>
              <a:t>Possibly, lowering blood lipid levels </a:t>
            </a:r>
          </a:p>
          <a:p>
            <a:pPr eaLnBrk="1" hangingPunct="1"/>
            <a:endParaRPr lang="en-US" sz="2400" smtClean="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1173</Words>
  <Application>Microsoft Office PowerPoint</Application>
  <PresentationFormat>On-screen Show (4:3)</PresentationFormat>
  <Paragraphs>77</Paragraphs>
  <Slides>15</Slides>
  <Notes>2</Notes>
  <HiddenSlides>0</HiddenSlides>
  <MMClips>0</MMClips>
  <ScaleCrop>false</ScaleCrop>
  <HeadingPairs>
    <vt:vector size="4" baseType="variant">
      <vt:variant>
        <vt:lpstr>Theme</vt:lpstr>
      </vt:variant>
      <vt:variant>
        <vt:i4>1</vt:i4>
      </vt:variant>
      <vt:variant>
        <vt:lpstr>Slide Titles</vt:lpstr>
      </vt:variant>
      <vt:variant>
        <vt:i4>15</vt:i4>
      </vt:variant>
    </vt:vector>
  </HeadingPairs>
  <TitlesOfParts>
    <vt:vector size="16" baseType="lpstr">
      <vt:lpstr>Office Theme</vt:lpstr>
      <vt:lpstr>   Probiotics and Prebiotics - are there any benefit for the human health?</vt:lpstr>
      <vt:lpstr>History and definitions</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w</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Probiotics and Prebiotics - are there any benefit for the human health?</dc:title>
  <dc:creator>March</dc:creator>
  <cp:lastModifiedBy>March</cp:lastModifiedBy>
  <cp:revision>1</cp:revision>
  <dcterms:created xsi:type="dcterms:W3CDTF">2008-12-31T18:43:11Z</dcterms:created>
  <dcterms:modified xsi:type="dcterms:W3CDTF">2008-12-31T18:43:50Z</dcterms:modified>
</cp:coreProperties>
</file>