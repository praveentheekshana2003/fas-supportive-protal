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81" r:id="rId3"/>
    <p:sldId id="316" r:id="rId4"/>
    <p:sldId id="317" r:id="rId5"/>
    <p:sldId id="331" r:id="rId6"/>
    <p:sldId id="318" r:id="rId7"/>
    <p:sldId id="319" r:id="rId8"/>
    <p:sldId id="320" r:id="rId9"/>
    <p:sldId id="321" r:id="rId10"/>
    <p:sldId id="322" r:id="rId11"/>
    <p:sldId id="332" r:id="rId12"/>
    <p:sldId id="323" r:id="rId13"/>
    <p:sldId id="324" r:id="rId14"/>
    <p:sldId id="325" r:id="rId15"/>
    <p:sldId id="333" r:id="rId16"/>
    <p:sldId id="326" r:id="rId17"/>
    <p:sldId id="327" r:id="rId18"/>
    <p:sldId id="328" r:id="rId19"/>
    <p:sldId id="329" r:id="rId20"/>
    <p:sldId id="330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73913" autoAdjust="0"/>
  </p:normalViewPr>
  <p:slideViewPr>
    <p:cSldViewPr>
      <p:cViewPr>
        <p:scale>
          <a:sx n="64" d="100"/>
          <a:sy n="64" d="100"/>
        </p:scale>
        <p:origin x="-1566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9F9D6-525A-49B7-8B71-29932B27C212}" type="datetimeFigureOut">
              <a:rPr lang="en-US" smtClean="0"/>
              <a:t>11/13/2020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FCD54-E115-4ED1-9227-092E76F0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0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13/11/2020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124744"/>
            <a:ext cx="7560840" cy="2664296"/>
          </a:xfrm>
        </p:spPr>
        <p:txBody>
          <a:bodyPr/>
          <a:lstStyle/>
          <a:p>
            <a:pPr eaLnBrk="1" hangingPunct="1">
              <a:defRPr/>
            </a:pPr>
            <a:r>
              <a:rPr lang="en-US" b="1" i="1" dirty="0" smtClean="0">
                <a:solidFill>
                  <a:srgbClr val="FF0000"/>
                </a:solidFill>
                <a:effectLst/>
              </a:rPr>
              <a:t>Pollution</a:t>
            </a:r>
          </a:p>
        </p:txBody>
      </p:sp>
    </p:spTree>
    <p:extLst>
      <p:ext uri="{BB962C8B-B14F-4D97-AF65-F5344CB8AC3E}">
        <p14:creationId xmlns:p14="http://schemas.microsoft.com/office/powerpoint/2010/main" val="7308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5815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folHlink"/>
                </a:solidFill>
                <a:effectLst/>
              </a:rPr>
              <a:t>Pollution and Control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504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b="1" dirty="0" smtClean="0"/>
              <a:t>Pollution </a:t>
            </a:r>
            <a:r>
              <a:rPr lang="en-US" b="1" dirty="0" smtClean="0"/>
              <a:t> is </a:t>
            </a:r>
            <a:r>
              <a:rPr lang="en-US" sz="2800" b="1" dirty="0" smtClean="0"/>
              <a:t>an </a:t>
            </a:r>
            <a:r>
              <a:rPr lang="en-US" sz="2800" b="1" dirty="0" smtClean="0">
                <a:solidFill>
                  <a:srgbClr val="002060"/>
                </a:solidFill>
              </a:rPr>
              <a:t>undesirable and excessive addition of substances to water, air and land </a:t>
            </a:r>
            <a:r>
              <a:rPr lang="en-US" sz="2800" b="1" dirty="0" smtClean="0">
                <a:solidFill>
                  <a:srgbClr val="002060"/>
                </a:solidFill>
              </a:rPr>
              <a:t> </a:t>
            </a:r>
            <a:r>
              <a:rPr lang="en-US" sz="2800" b="1" dirty="0" smtClean="0"/>
              <a:t>that </a:t>
            </a:r>
            <a:r>
              <a:rPr lang="en-US" sz="2800" b="1" dirty="0" smtClean="0">
                <a:solidFill>
                  <a:srgbClr val="C00000"/>
                </a:solidFill>
              </a:rPr>
              <a:t>adversely alter the natural quality of the environment</a:t>
            </a:r>
            <a:r>
              <a:rPr lang="en-US" sz="2800" b="1" dirty="0" smtClean="0"/>
              <a:t>.</a:t>
            </a:r>
          </a:p>
          <a:p>
            <a:pPr marL="137160" indent="0" eaLnBrk="1" hangingPunct="1">
              <a:lnSpc>
                <a:spcPct val="80000"/>
              </a:lnSpc>
              <a:buNone/>
            </a:pP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b="1" dirty="0" smtClean="0"/>
              <a:t>The </a:t>
            </a:r>
            <a:r>
              <a:rPr lang="en-US" sz="2800" b="1" dirty="0" smtClean="0"/>
              <a:t>agent that pollute </a:t>
            </a:r>
            <a:r>
              <a:rPr lang="en-US" sz="2800" b="1" dirty="0" smtClean="0"/>
              <a:t>is called  </a:t>
            </a:r>
            <a:r>
              <a:rPr lang="en-US" sz="2800" b="1" dirty="0" smtClean="0">
                <a:solidFill>
                  <a:srgbClr val="FFC000"/>
                </a:solidFill>
              </a:rPr>
              <a:t>pollutant</a:t>
            </a:r>
            <a:r>
              <a:rPr lang="en-US" sz="2800" b="1" dirty="0" smtClean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5497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folHlink"/>
                </a:solidFill>
                <a:effectLst/>
              </a:rPr>
              <a:t>Air pollution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896584"/>
          </a:xfrm>
        </p:spPr>
        <p:txBody>
          <a:bodyPr/>
          <a:lstStyle/>
          <a:p>
            <a:pPr eaLnBrk="1" hangingPunct="1"/>
            <a:r>
              <a:rPr lang="en-US" sz="2800" b="1" dirty="0" smtClean="0">
                <a:solidFill>
                  <a:srgbClr val="FFC000"/>
                </a:solidFill>
              </a:rPr>
              <a:t>The occurrence </a:t>
            </a:r>
            <a:r>
              <a:rPr lang="en-US" sz="2800" b="1" dirty="0" smtClean="0">
                <a:solidFill>
                  <a:srgbClr val="FFC000"/>
                </a:solidFill>
              </a:rPr>
              <a:t>of many foreign materials or gases in the </a:t>
            </a:r>
            <a:r>
              <a:rPr lang="en-US" sz="2800" b="1" dirty="0" smtClean="0">
                <a:solidFill>
                  <a:srgbClr val="FFC000"/>
                </a:solidFill>
              </a:rPr>
              <a:t>atmosphere </a:t>
            </a:r>
            <a:r>
              <a:rPr lang="en-US" sz="2800" b="1" dirty="0" smtClean="0">
                <a:solidFill>
                  <a:srgbClr val="FFC000"/>
                </a:solidFill>
              </a:rPr>
              <a:t>may be harmful to man, animals and </a:t>
            </a:r>
            <a:r>
              <a:rPr lang="en-US" sz="2800" b="1" dirty="0" smtClean="0">
                <a:solidFill>
                  <a:srgbClr val="FFC000"/>
                </a:solidFill>
              </a:rPr>
              <a:t>vegetation</a:t>
            </a:r>
          </a:p>
          <a:p>
            <a:pPr marL="137160" indent="0" eaLnBrk="1" hangingPunct="1">
              <a:buNone/>
            </a:pPr>
            <a:endParaRPr lang="en-US" sz="2800" b="1" dirty="0" smtClean="0"/>
          </a:p>
          <a:p>
            <a:pPr eaLnBrk="1" hangingPunct="1"/>
            <a:r>
              <a:rPr lang="en-US" sz="2800" b="1" dirty="0" smtClean="0"/>
              <a:t>Mainly they are in </a:t>
            </a:r>
            <a:r>
              <a:rPr lang="en-US" sz="2800" b="1" dirty="0" smtClean="0">
                <a:solidFill>
                  <a:srgbClr val="C00000"/>
                </a:solidFill>
              </a:rPr>
              <a:t>2 </a:t>
            </a:r>
            <a:r>
              <a:rPr lang="en-US" sz="2800" b="1" dirty="0" smtClean="0">
                <a:solidFill>
                  <a:srgbClr val="C00000"/>
                </a:solidFill>
              </a:rPr>
              <a:t>categories</a:t>
            </a:r>
          </a:p>
          <a:p>
            <a:pPr marL="137160" indent="0" eaLnBrk="1" hangingPunct="1">
              <a:buNone/>
            </a:pPr>
            <a:endParaRPr lang="en-US" sz="2800" b="1" dirty="0" smtClean="0"/>
          </a:p>
          <a:p>
            <a:pPr marL="137160" indent="0" eaLnBrk="1" hangingPunct="1">
              <a:buNone/>
            </a:pPr>
            <a:r>
              <a:rPr lang="en-US" sz="2800" b="1" dirty="0" smtClean="0">
                <a:solidFill>
                  <a:srgbClr val="00B0F0"/>
                </a:solidFill>
              </a:rPr>
              <a:t>1. Gaseous</a:t>
            </a:r>
            <a:endParaRPr lang="en-US" sz="2800" dirty="0" smtClean="0">
              <a:solidFill>
                <a:srgbClr val="00B0F0"/>
              </a:solidFill>
            </a:endParaRPr>
          </a:p>
          <a:p>
            <a:pPr eaLnBrk="1" hangingPunct="1"/>
            <a:r>
              <a:rPr lang="en-US" sz="2800" b="1" dirty="0" smtClean="0"/>
              <a:t>Remain in </a:t>
            </a:r>
            <a:r>
              <a:rPr lang="en-US" sz="2800" b="1" dirty="0" smtClean="0">
                <a:solidFill>
                  <a:srgbClr val="00B0F0"/>
                </a:solidFill>
              </a:rPr>
              <a:t>gaseous state </a:t>
            </a:r>
            <a:r>
              <a:rPr lang="en-US" sz="2800" b="1" dirty="0" smtClean="0"/>
              <a:t>in normal temperature and pressure.</a:t>
            </a:r>
          </a:p>
        </p:txBody>
      </p:sp>
    </p:spTree>
    <p:extLst>
      <p:ext uri="{BB962C8B-B14F-4D97-AF65-F5344CB8AC3E}">
        <p14:creationId xmlns:p14="http://schemas.microsoft.com/office/powerpoint/2010/main" val="119224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260649"/>
            <a:ext cx="4608512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924944"/>
            <a:ext cx="4824536" cy="369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259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C00000"/>
                </a:solidFill>
                <a:effectLst/>
              </a:rPr>
              <a:t>Examples</a:t>
            </a:r>
            <a:endParaRPr lang="en-US" dirty="0" smtClean="0">
              <a:solidFill>
                <a:srgbClr val="C00000"/>
              </a:solidFill>
              <a:effectLst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5040560"/>
          </a:xfrm>
        </p:spPr>
        <p:txBody>
          <a:bodyPr>
            <a:normAutofit fontScale="92500"/>
          </a:bodyPr>
          <a:lstStyle/>
          <a:p>
            <a:pPr marL="137160" indent="0" eaLnBrk="1" hangingPunct="1">
              <a:buNone/>
            </a:pPr>
            <a:r>
              <a:rPr lang="en-US" sz="2800" b="1" dirty="0" smtClean="0">
                <a:solidFill>
                  <a:srgbClr val="002060"/>
                </a:solidFill>
              </a:rPr>
              <a:t>1.CO2 </a:t>
            </a:r>
          </a:p>
          <a:p>
            <a:pPr marL="137160" indent="0" eaLnBrk="1" hangingPunct="1">
              <a:buNone/>
            </a:pPr>
            <a:endParaRPr lang="en-US" sz="2800" dirty="0" smtClean="0">
              <a:solidFill>
                <a:srgbClr val="002060"/>
              </a:solidFill>
            </a:endParaRPr>
          </a:p>
          <a:p>
            <a:pPr eaLnBrk="1" hangingPunct="1"/>
            <a:r>
              <a:rPr lang="en-US" sz="2800" b="1" dirty="0" smtClean="0"/>
              <a:t>Not harmful gas by itself. </a:t>
            </a:r>
            <a:endParaRPr lang="en-US" sz="2800" b="1" dirty="0" smtClean="0"/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sz="2800" b="1" dirty="0" smtClean="0"/>
              <a:t>It is released </a:t>
            </a:r>
            <a:r>
              <a:rPr lang="en-US" sz="2800" b="1" dirty="0" smtClean="0"/>
              <a:t>to the atm. by </a:t>
            </a:r>
            <a:r>
              <a:rPr lang="en-US" sz="2800" b="1" dirty="0" smtClean="0">
                <a:solidFill>
                  <a:srgbClr val="002060"/>
                </a:solidFill>
              </a:rPr>
              <a:t>burning of fossil fuel. </a:t>
            </a:r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sz="2800" b="1" dirty="0" smtClean="0">
                <a:solidFill>
                  <a:srgbClr val="FFC000"/>
                </a:solidFill>
              </a:rPr>
              <a:t>It </a:t>
            </a:r>
            <a:r>
              <a:rPr lang="en-US" sz="2800" b="1" dirty="0" smtClean="0">
                <a:solidFill>
                  <a:srgbClr val="FFC000"/>
                </a:solidFill>
              </a:rPr>
              <a:t>forms a blanket around the </a:t>
            </a:r>
            <a:r>
              <a:rPr lang="en-US" sz="2800" b="1" dirty="0" smtClean="0">
                <a:solidFill>
                  <a:srgbClr val="FFC000"/>
                </a:solidFill>
              </a:rPr>
              <a:t>earth.</a:t>
            </a:r>
          </a:p>
          <a:p>
            <a:pPr marL="137160" indent="0" eaLnBrk="1" hangingPunct="1">
              <a:buNone/>
            </a:pPr>
            <a:endParaRPr lang="en-US" sz="2800" b="1" dirty="0" smtClean="0"/>
          </a:p>
          <a:p>
            <a:pPr eaLnBrk="1" hangingPunct="1"/>
            <a:r>
              <a:rPr lang="en-US" b="1" dirty="0" smtClean="0"/>
              <a:t>It </a:t>
            </a:r>
            <a:r>
              <a:rPr lang="en-US" sz="2800" b="1" dirty="0" smtClean="0"/>
              <a:t>stops </a:t>
            </a:r>
            <a:r>
              <a:rPr lang="en-US" sz="2800" b="1" dirty="0" smtClean="0"/>
              <a:t>the heat from escaping and causes temperature to </a:t>
            </a:r>
            <a:r>
              <a:rPr lang="en-US" sz="2800" b="1" dirty="0" smtClean="0"/>
              <a:t>rise called “</a:t>
            </a:r>
            <a:r>
              <a:rPr lang="en-US" sz="2800" b="1" dirty="0" smtClean="0">
                <a:solidFill>
                  <a:srgbClr val="C00000"/>
                </a:solidFill>
              </a:rPr>
              <a:t>green </a:t>
            </a:r>
            <a:r>
              <a:rPr lang="en-US" sz="2800" b="1" dirty="0" smtClean="0">
                <a:solidFill>
                  <a:srgbClr val="C00000"/>
                </a:solidFill>
              </a:rPr>
              <a:t>house </a:t>
            </a:r>
            <a:r>
              <a:rPr lang="en-US" sz="2800" b="1" dirty="0" smtClean="0">
                <a:solidFill>
                  <a:srgbClr val="C00000"/>
                </a:solidFill>
              </a:rPr>
              <a:t>effect</a:t>
            </a:r>
            <a:r>
              <a:rPr lang="en-US" sz="2800" b="1" dirty="0" smtClean="0"/>
              <a:t>”.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51666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002060"/>
                </a:solidFill>
              </a:rPr>
              <a:t>2. Oxides </a:t>
            </a:r>
            <a:r>
              <a:rPr lang="en-US" b="1" dirty="0" smtClean="0">
                <a:solidFill>
                  <a:srgbClr val="002060"/>
                </a:solidFill>
              </a:rPr>
              <a:t>of </a:t>
            </a:r>
            <a:r>
              <a:rPr lang="en-US" b="1" dirty="0" err="1" smtClean="0">
                <a:solidFill>
                  <a:srgbClr val="002060"/>
                </a:solidFill>
              </a:rPr>
              <a:t>sulphur</a:t>
            </a:r>
            <a:endParaRPr lang="en-US" b="1" dirty="0" smtClean="0">
              <a:solidFill>
                <a:srgbClr val="002060"/>
              </a:solidFill>
            </a:endParaRPr>
          </a:p>
          <a:p>
            <a:pPr marL="137160" indent="0" eaLnBrk="1" hangingPunct="1"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FFFF00"/>
                </a:solidFill>
              </a:rPr>
              <a:t>Both SO2 and SO3 are harmful. </a:t>
            </a:r>
            <a:endParaRPr lang="en-US" dirty="0" smtClean="0">
              <a:solidFill>
                <a:srgbClr val="FFFF00"/>
              </a:solidFill>
            </a:endParaRPr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92D050"/>
                </a:solidFill>
              </a:rPr>
              <a:t>They react with water and form </a:t>
            </a:r>
            <a:r>
              <a:rPr lang="en-US" b="1" dirty="0" err="1" smtClean="0">
                <a:solidFill>
                  <a:srgbClr val="92D050"/>
                </a:solidFill>
              </a:rPr>
              <a:t>Sulphuric</a:t>
            </a:r>
            <a:r>
              <a:rPr lang="en-US" b="1" dirty="0" smtClean="0">
                <a:solidFill>
                  <a:srgbClr val="92D050"/>
                </a:solidFill>
              </a:rPr>
              <a:t>  acid which cause acid rains when precipitate</a:t>
            </a:r>
            <a:r>
              <a:rPr lang="en-US" b="1" dirty="0" smtClean="0">
                <a:solidFill>
                  <a:srgbClr val="92D050"/>
                </a:solidFill>
              </a:rPr>
              <a:t>.</a:t>
            </a:r>
          </a:p>
          <a:p>
            <a:pPr marL="137160" indent="0" eaLnBrk="1" hangingPunct="1">
              <a:buNone/>
            </a:pPr>
            <a:endParaRPr lang="en-US" b="1" dirty="0" smtClean="0">
              <a:solidFill>
                <a:srgbClr val="92D050"/>
              </a:solidFill>
            </a:endParaRPr>
          </a:p>
          <a:p>
            <a:pPr eaLnBrk="1" hangingPunct="1"/>
            <a:r>
              <a:rPr lang="en-US" dirty="0" smtClean="0"/>
              <a:t> </a:t>
            </a:r>
            <a:r>
              <a:rPr lang="en-US" dirty="0" smtClean="0"/>
              <a:t>It is harmful </a:t>
            </a:r>
            <a:r>
              <a:rPr lang="en-US" dirty="0" smtClean="0"/>
              <a:t>to plants, fishes </a:t>
            </a:r>
            <a:r>
              <a:rPr lang="en-US" dirty="0" err="1" smtClean="0"/>
              <a:t>ect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002060"/>
                </a:solidFill>
              </a:rPr>
              <a:t>3. Oxides </a:t>
            </a:r>
            <a:r>
              <a:rPr lang="en-US" b="1" dirty="0" smtClean="0">
                <a:solidFill>
                  <a:srgbClr val="002060"/>
                </a:solidFill>
              </a:rPr>
              <a:t>of </a:t>
            </a:r>
            <a:r>
              <a:rPr lang="en-US" b="1" dirty="0" smtClean="0">
                <a:solidFill>
                  <a:srgbClr val="002060"/>
                </a:solidFill>
              </a:rPr>
              <a:t>Nitrogen</a:t>
            </a:r>
          </a:p>
          <a:p>
            <a:pPr marL="137160" indent="0" eaLnBrk="1" hangingPunct="1"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FFC000"/>
                </a:solidFill>
              </a:rPr>
              <a:t>They form dilute solution of nitric acid cause acid rains. </a:t>
            </a:r>
            <a:endParaRPr lang="en-US" dirty="0" smtClean="0">
              <a:solidFill>
                <a:srgbClr val="FFC000"/>
              </a:solidFill>
            </a:endParaRPr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7030A0"/>
                </a:solidFill>
              </a:rPr>
              <a:t>It is harmful </a:t>
            </a:r>
            <a:r>
              <a:rPr lang="en-US" dirty="0" smtClean="0">
                <a:solidFill>
                  <a:srgbClr val="7030A0"/>
                </a:solidFill>
              </a:rPr>
              <a:t>for human.</a:t>
            </a:r>
          </a:p>
        </p:txBody>
      </p:sp>
    </p:spTree>
    <p:extLst>
      <p:ext uri="{BB962C8B-B14F-4D97-AF65-F5344CB8AC3E}">
        <p14:creationId xmlns:p14="http://schemas.microsoft.com/office/powerpoint/2010/main" val="221948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002060"/>
                </a:solidFill>
              </a:rPr>
              <a:t>4. CO</a:t>
            </a:r>
          </a:p>
          <a:p>
            <a:pPr marL="137160" indent="0" eaLnBrk="1" hangingPunct="1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FFC000"/>
                </a:solidFill>
              </a:rPr>
              <a:t>Colorless, odorless, nonirritant, but highly toxic gas</a:t>
            </a:r>
            <a:r>
              <a:rPr lang="en-US" dirty="0" smtClean="0">
                <a:solidFill>
                  <a:srgbClr val="FFC000"/>
                </a:solidFill>
              </a:rPr>
              <a:t>.</a:t>
            </a:r>
          </a:p>
          <a:p>
            <a:pPr marL="137160" indent="0" eaLnBrk="1" hangingPunct="1">
              <a:buNone/>
            </a:pPr>
            <a:endParaRPr lang="en-US" dirty="0" smtClean="0">
              <a:solidFill>
                <a:srgbClr val="FFC000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C00000"/>
                </a:solidFill>
              </a:rPr>
              <a:t>Diffuse </a:t>
            </a:r>
            <a:r>
              <a:rPr lang="en-US" dirty="0" smtClean="0">
                <a:solidFill>
                  <a:srgbClr val="C00000"/>
                </a:solidFill>
              </a:rPr>
              <a:t>to the blood stream and combine with </a:t>
            </a:r>
            <a:r>
              <a:rPr lang="en-US" dirty="0" smtClean="0">
                <a:solidFill>
                  <a:srgbClr val="C00000"/>
                </a:solidFill>
              </a:rPr>
              <a:t>Hemoglobin and </a:t>
            </a:r>
            <a:r>
              <a:rPr lang="en-US" dirty="0" smtClean="0">
                <a:solidFill>
                  <a:srgbClr val="C00000"/>
                </a:solidFill>
              </a:rPr>
              <a:t>stops O2 </a:t>
            </a:r>
            <a:r>
              <a:rPr lang="en-US" dirty="0" smtClean="0">
                <a:solidFill>
                  <a:srgbClr val="C00000"/>
                </a:solidFill>
              </a:rPr>
              <a:t>transport inside the body.</a:t>
            </a:r>
            <a:endParaRPr lang="en-US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28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696200" cy="6224736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sz="2800" b="1" dirty="0" smtClean="0">
                <a:solidFill>
                  <a:srgbClr val="00B0F0"/>
                </a:solidFill>
              </a:rPr>
              <a:t>2. </a:t>
            </a:r>
            <a:r>
              <a:rPr lang="en-US" sz="2800" b="1" dirty="0" smtClean="0">
                <a:solidFill>
                  <a:srgbClr val="00B0F0"/>
                </a:solidFill>
              </a:rPr>
              <a:t>Particulate</a:t>
            </a:r>
          </a:p>
          <a:p>
            <a:pPr marL="137160" indent="0" eaLnBrk="1" hangingPunct="1">
              <a:buNone/>
            </a:pPr>
            <a:endParaRPr lang="en-US" sz="2800" dirty="0" smtClean="0">
              <a:solidFill>
                <a:srgbClr val="00B0F0"/>
              </a:solidFill>
            </a:endParaRPr>
          </a:p>
          <a:p>
            <a:pPr eaLnBrk="1" hangingPunct="1"/>
            <a:r>
              <a:rPr lang="en-US" sz="2800" b="1" dirty="0" smtClean="0"/>
              <a:t>They are the substances </a:t>
            </a:r>
            <a:r>
              <a:rPr lang="en-US" sz="2800" b="1" dirty="0" smtClean="0"/>
              <a:t>that </a:t>
            </a:r>
            <a:r>
              <a:rPr lang="en-US" sz="2800" b="1" dirty="0" smtClean="0"/>
              <a:t>occur </a:t>
            </a:r>
            <a:r>
              <a:rPr lang="en-US" sz="2800" b="1" dirty="0" smtClean="0"/>
              <a:t>in the solid or liquid </a:t>
            </a:r>
            <a:r>
              <a:rPr lang="en-US" sz="2800" b="1" dirty="0" smtClean="0"/>
              <a:t>form</a:t>
            </a:r>
          </a:p>
          <a:p>
            <a:pPr eaLnBrk="1" hangingPunct="1"/>
            <a:endParaRPr lang="en-US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800" b="1" dirty="0" smtClean="0">
                <a:solidFill>
                  <a:srgbClr val="FF0000"/>
                </a:solidFill>
              </a:rPr>
              <a:t>Example</a:t>
            </a:r>
          </a:p>
          <a:p>
            <a:pPr marL="137160" indent="0" eaLnBrk="1" hangingPunct="1">
              <a:buNone/>
            </a:pPr>
            <a:endParaRPr lang="en-US" sz="2800" b="1" dirty="0" smtClean="0"/>
          </a:p>
          <a:p>
            <a:pPr marL="137160" indent="0" eaLnBrk="1" hangingPunct="1">
              <a:buNone/>
            </a:pPr>
            <a:r>
              <a:rPr lang="en-US" sz="2800" b="1" dirty="0" smtClean="0">
                <a:solidFill>
                  <a:srgbClr val="002060"/>
                </a:solidFill>
              </a:rPr>
              <a:t>Smog</a:t>
            </a:r>
          </a:p>
          <a:p>
            <a:pPr marL="137160" indent="0" eaLnBrk="1" hangingPunct="1">
              <a:buNone/>
            </a:pPr>
            <a:endParaRPr lang="en-US" sz="2800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en-US" sz="2800" b="1" dirty="0" smtClean="0"/>
              <a:t>Incomplete combustion of petrol causes smoke. </a:t>
            </a:r>
            <a:endParaRPr lang="en-US" sz="2800" b="1" dirty="0" smtClean="0"/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sz="2800" b="1" dirty="0" smtClean="0"/>
              <a:t>It is mainly </a:t>
            </a:r>
            <a:r>
              <a:rPr lang="en-US" sz="2800" b="1" dirty="0" smtClean="0"/>
              <a:t>a suspension of carbon particles. </a:t>
            </a:r>
            <a:endParaRPr lang="en-US" sz="2800" b="1" dirty="0" smtClean="0"/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sz="2800" b="1" dirty="0" smtClean="0"/>
              <a:t>It reduces the amount of sunlight reaching the earth. </a:t>
            </a:r>
            <a:endParaRPr lang="en-US" sz="2800" b="1" dirty="0" smtClean="0"/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sz="2800" b="1" dirty="0" smtClean="0"/>
              <a:t>When it combines </a:t>
            </a:r>
            <a:r>
              <a:rPr lang="en-US" sz="2800" b="1" dirty="0" smtClean="0"/>
              <a:t>with water vapor, </a:t>
            </a:r>
            <a:r>
              <a:rPr lang="en-US" sz="2800" b="1" dirty="0" smtClean="0"/>
              <a:t>it causes “smog”. </a:t>
            </a:r>
          </a:p>
          <a:p>
            <a:pPr eaLnBrk="1" hangingPunct="1"/>
            <a:endParaRPr lang="en-US" sz="2800" b="1" dirty="0" smtClean="0"/>
          </a:p>
          <a:p>
            <a:pPr eaLnBrk="1" hangingPunct="1"/>
            <a:r>
              <a:rPr lang="en-US" sz="2800" b="1" dirty="0" smtClean="0"/>
              <a:t>It causes lung disorders in human.</a:t>
            </a:r>
          </a:p>
        </p:txBody>
      </p:sp>
    </p:spTree>
    <p:extLst>
      <p:ext uri="{BB962C8B-B14F-4D97-AF65-F5344CB8AC3E}">
        <p14:creationId xmlns:p14="http://schemas.microsoft.com/office/powerpoint/2010/main" val="268067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8208911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6427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B0F0"/>
                </a:solidFill>
              </a:rPr>
              <a:t>Control of Air </a:t>
            </a:r>
            <a:r>
              <a:rPr lang="en-US" b="1" dirty="0" smtClean="0">
                <a:solidFill>
                  <a:srgbClr val="00B0F0"/>
                </a:solidFill>
              </a:rPr>
              <a:t>pollution</a:t>
            </a:r>
          </a:p>
          <a:p>
            <a:pPr eaLnBrk="1" hangingPunct="1"/>
            <a:endParaRPr lang="en-US" b="1" dirty="0">
              <a:solidFill>
                <a:srgbClr val="00B0F0"/>
              </a:solidFill>
            </a:endParaRPr>
          </a:p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Before releasing the gasses into atmosphere from various industries,</a:t>
            </a:r>
          </a:p>
          <a:p>
            <a:pPr eaLnBrk="1" hangingPunct="1"/>
            <a:endParaRPr lang="en-US" dirty="0" smtClean="0">
              <a:solidFill>
                <a:srgbClr val="002060"/>
              </a:solidFill>
            </a:endParaRPr>
          </a:p>
          <a:p>
            <a:pPr marL="137160" indent="0" eaLnBrk="1" hangingPunct="1">
              <a:buNone/>
            </a:pPr>
            <a:r>
              <a:rPr lang="en-US" dirty="0" smtClean="0">
                <a:solidFill>
                  <a:srgbClr val="FFC000"/>
                </a:solidFill>
              </a:rPr>
              <a:t>1. Separate the pollutants from harmless gasses</a:t>
            </a:r>
            <a:r>
              <a:rPr lang="en-US" dirty="0" smtClean="0">
                <a:solidFill>
                  <a:srgbClr val="FFC000"/>
                </a:solidFill>
              </a:rPr>
              <a:t>.</a:t>
            </a:r>
          </a:p>
          <a:p>
            <a:pPr eaLnBrk="1" hangingPunct="1"/>
            <a:endParaRPr lang="en-US" dirty="0" smtClean="0">
              <a:solidFill>
                <a:srgbClr val="FFC000"/>
              </a:solidFill>
            </a:endParaRPr>
          </a:p>
          <a:p>
            <a:pPr marL="137160" indent="0" eaLnBrk="1" hangingPunct="1">
              <a:buNone/>
            </a:pPr>
            <a:r>
              <a:rPr lang="en-US" dirty="0" smtClean="0">
                <a:solidFill>
                  <a:srgbClr val="FFC000"/>
                </a:solidFill>
              </a:rPr>
              <a:t>2. Convert the pollutants in </a:t>
            </a:r>
            <a:r>
              <a:rPr lang="en-US" dirty="0" err="1" smtClean="0">
                <a:solidFill>
                  <a:srgbClr val="FFC000"/>
                </a:solidFill>
              </a:rPr>
              <a:t>unharmful</a:t>
            </a:r>
            <a:r>
              <a:rPr lang="en-US" dirty="0" smtClean="0">
                <a:solidFill>
                  <a:srgbClr val="FFC000"/>
                </a:solidFill>
              </a:rPr>
              <a:t> products.</a:t>
            </a:r>
          </a:p>
        </p:txBody>
      </p:sp>
    </p:spTree>
    <p:extLst>
      <p:ext uri="{BB962C8B-B14F-4D97-AF65-F5344CB8AC3E}">
        <p14:creationId xmlns:p14="http://schemas.microsoft.com/office/powerpoint/2010/main" val="88757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folHlink"/>
                </a:solidFill>
                <a:effectLst/>
              </a:rPr>
              <a:t>Water pollution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b="1" dirty="0" smtClean="0">
                <a:solidFill>
                  <a:srgbClr val="002060"/>
                </a:solidFill>
              </a:rPr>
              <a:t>1.Compounds of Hg, As, </a:t>
            </a:r>
            <a:r>
              <a:rPr lang="en-US" b="1" dirty="0" err="1" smtClean="0">
                <a:solidFill>
                  <a:srgbClr val="002060"/>
                </a:solidFill>
              </a:rPr>
              <a:t>Pb</a:t>
            </a:r>
            <a:endParaRPr lang="en-US" b="1" dirty="0" smtClean="0">
              <a:solidFill>
                <a:srgbClr val="002060"/>
              </a:solidFill>
            </a:endParaRPr>
          </a:p>
          <a:p>
            <a:pPr marL="609600" indent="-609600" eaLnBrk="1" hangingPunct="1">
              <a:buFontTx/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 marL="609600" indent="-609600" eaLnBrk="1" hangingPunct="1"/>
            <a:r>
              <a:rPr lang="en-US" dirty="0" smtClean="0"/>
              <a:t>These are released </a:t>
            </a:r>
            <a:r>
              <a:rPr lang="en-US" dirty="0" smtClean="0"/>
              <a:t>by the</a:t>
            </a:r>
            <a:r>
              <a:rPr lang="en-US" dirty="0" smtClean="0"/>
              <a:t> </a:t>
            </a:r>
            <a:r>
              <a:rPr lang="en-US" dirty="0" smtClean="0"/>
              <a:t>industries as iron and steel industry</a:t>
            </a:r>
            <a:r>
              <a:rPr lang="en-US" dirty="0" smtClean="0"/>
              <a:t>.</a:t>
            </a:r>
          </a:p>
          <a:p>
            <a:pPr marL="0" indent="0" eaLnBrk="1" hangingPunct="1">
              <a:buNone/>
            </a:pPr>
            <a:endParaRPr lang="en-US" dirty="0" smtClean="0"/>
          </a:p>
          <a:p>
            <a:pPr marL="609600" indent="-609600" eaLnBrk="1" hangingPunct="1"/>
            <a:r>
              <a:rPr lang="en-US" dirty="0" smtClean="0">
                <a:solidFill>
                  <a:srgbClr val="C00000"/>
                </a:solidFill>
              </a:rPr>
              <a:t>Cause skin disease, and irreversible brain damage.</a:t>
            </a:r>
          </a:p>
        </p:txBody>
      </p:sp>
    </p:spTree>
    <p:extLst>
      <p:ext uri="{BB962C8B-B14F-4D97-AF65-F5344CB8AC3E}">
        <p14:creationId xmlns:p14="http://schemas.microsoft.com/office/powerpoint/2010/main" val="165596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47264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>
                <a:solidFill>
                  <a:srgbClr val="002060"/>
                </a:solidFill>
              </a:rPr>
              <a:t>2.Inorganic Nitrates and </a:t>
            </a:r>
            <a:r>
              <a:rPr lang="en-US" b="1" dirty="0" smtClean="0">
                <a:solidFill>
                  <a:srgbClr val="002060"/>
                </a:solidFill>
              </a:rPr>
              <a:t>Phosphates</a:t>
            </a:r>
          </a:p>
          <a:p>
            <a:pPr eaLnBrk="1" hangingPunct="1">
              <a:buFontTx/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eaLnBrk="1" hangingPunct="1"/>
            <a:r>
              <a:rPr lang="en-US" dirty="0" smtClean="0"/>
              <a:t>These are released </a:t>
            </a:r>
            <a:r>
              <a:rPr lang="en-US" dirty="0" smtClean="0"/>
              <a:t>by the</a:t>
            </a:r>
            <a:r>
              <a:rPr lang="en-US" dirty="0" smtClean="0"/>
              <a:t> </a:t>
            </a:r>
            <a:r>
              <a:rPr lang="en-US" dirty="0" smtClean="0"/>
              <a:t>chemical plants and cause </a:t>
            </a: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eutrophication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It is the condition of sudden increase of nutrients in lakes. </a:t>
            </a:r>
            <a:endParaRPr lang="en-US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C000"/>
                </a:solidFill>
              </a:rPr>
              <a:t>It affect fauna and flora</a:t>
            </a:r>
            <a:r>
              <a:rPr lang="en-US" dirty="0" smtClean="0"/>
              <a:t>.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06937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29600" cy="4559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9552" y="5733256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eutrophication</a:t>
            </a:r>
          </a:p>
        </p:txBody>
      </p:sp>
    </p:spTree>
    <p:extLst>
      <p:ext uri="{BB962C8B-B14F-4D97-AF65-F5344CB8AC3E}">
        <p14:creationId xmlns:p14="http://schemas.microsoft.com/office/powerpoint/2010/main" val="307942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>
                <a:solidFill>
                  <a:srgbClr val="002060"/>
                </a:solidFill>
              </a:rPr>
              <a:t>3.Organochlorins</a:t>
            </a:r>
          </a:p>
          <a:p>
            <a:pPr eaLnBrk="1" hangingPunct="1">
              <a:buFontTx/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FFC000"/>
                </a:solidFill>
              </a:rPr>
              <a:t>These are released  by the excess </a:t>
            </a:r>
            <a:r>
              <a:rPr lang="en-US" dirty="0" smtClean="0">
                <a:solidFill>
                  <a:srgbClr val="FFC000"/>
                </a:solidFill>
              </a:rPr>
              <a:t>use of chemicals for agriculture</a:t>
            </a:r>
            <a:r>
              <a:rPr lang="en-US" dirty="0" smtClean="0"/>
              <a:t>. </a:t>
            </a:r>
            <a:endParaRPr lang="en-US" dirty="0" smtClean="0"/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They pass through food chains. </a:t>
            </a:r>
            <a:endParaRPr lang="en-US" dirty="0" smtClean="0">
              <a:solidFill>
                <a:srgbClr val="FF0000"/>
              </a:solidFill>
            </a:endParaRPr>
          </a:p>
          <a:p>
            <a:pPr eaLnBrk="1" hangingPunct="1"/>
            <a:endParaRPr lang="en-US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 smtClean="0"/>
              <a:t>And Affect </a:t>
            </a:r>
            <a:r>
              <a:rPr lang="en-US" dirty="0" smtClean="0"/>
              <a:t>nervous system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45641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688"/>
            <a:ext cx="7696200" cy="4941912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b="1" dirty="0" smtClean="0">
                <a:solidFill>
                  <a:srgbClr val="002060"/>
                </a:solidFill>
              </a:rPr>
              <a:t>4.Animal excreta </a:t>
            </a:r>
            <a:endParaRPr lang="en-US" b="1" dirty="0" smtClean="0">
              <a:solidFill>
                <a:srgbClr val="002060"/>
              </a:solidFill>
            </a:endParaRPr>
          </a:p>
          <a:p>
            <a:pPr marL="609600" indent="-609600" eaLnBrk="1" hangingPunct="1">
              <a:buFontTx/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marL="609600" indent="-609600" eaLnBrk="1" hangingPunct="1"/>
            <a:r>
              <a:rPr lang="en-US" dirty="0" smtClean="0">
                <a:solidFill>
                  <a:srgbClr val="7030A0"/>
                </a:solidFill>
              </a:rPr>
              <a:t>They are released with untreated </a:t>
            </a:r>
            <a:r>
              <a:rPr lang="en-US" dirty="0" smtClean="0">
                <a:solidFill>
                  <a:srgbClr val="7030A0"/>
                </a:solidFill>
              </a:rPr>
              <a:t>sewage. </a:t>
            </a:r>
            <a:endParaRPr lang="en-US" dirty="0" smtClean="0">
              <a:solidFill>
                <a:srgbClr val="7030A0"/>
              </a:solidFill>
            </a:endParaRPr>
          </a:p>
          <a:p>
            <a:pPr marL="0" indent="0" eaLnBrk="1" hangingPunct="1">
              <a:buNone/>
            </a:pPr>
            <a:endParaRPr lang="en-US" dirty="0" smtClean="0">
              <a:solidFill>
                <a:srgbClr val="7030A0"/>
              </a:solidFill>
            </a:endParaRPr>
          </a:p>
          <a:p>
            <a:pPr marL="609600" indent="-609600" eaLnBrk="1" hangingPunct="1"/>
            <a:r>
              <a:rPr lang="en-US" dirty="0" smtClean="0">
                <a:solidFill>
                  <a:srgbClr val="FFC000"/>
                </a:solidFill>
              </a:rPr>
              <a:t>It contains </a:t>
            </a:r>
            <a:r>
              <a:rPr lang="en-US" dirty="0" smtClean="0">
                <a:solidFill>
                  <a:srgbClr val="FFC000"/>
                </a:solidFill>
              </a:rPr>
              <a:t>pathogens and toxic wastes. </a:t>
            </a:r>
            <a:endParaRPr lang="en-US" dirty="0" smtClean="0">
              <a:solidFill>
                <a:srgbClr val="FFC000"/>
              </a:solidFill>
            </a:endParaRPr>
          </a:p>
          <a:p>
            <a:pPr marL="0" indent="0" eaLnBrk="1" hangingPunct="1">
              <a:buNone/>
            </a:pPr>
            <a:endParaRPr lang="en-US" dirty="0" smtClean="0">
              <a:solidFill>
                <a:srgbClr val="FFC000"/>
              </a:solidFill>
            </a:endParaRPr>
          </a:p>
          <a:p>
            <a:pPr marL="609600" indent="-609600" eaLnBrk="1" hangingPunct="1"/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t causes </a:t>
            </a:r>
            <a:r>
              <a:rPr lang="en-US" dirty="0" smtClean="0">
                <a:solidFill>
                  <a:srgbClr val="C00000"/>
                </a:solidFill>
              </a:rPr>
              <a:t>epidemic diseases like cholera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2694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229600" cy="60487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>
                <a:solidFill>
                  <a:srgbClr val="002060"/>
                </a:solidFill>
              </a:rPr>
              <a:t>5.Oils in sea </a:t>
            </a:r>
            <a:r>
              <a:rPr lang="en-US" b="1" dirty="0" smtClean="0">
                <a:solidFill>
                  <a:srgbClr val="002060"/>
                </a:solidFill>
              </a:rPr>
              <a:t>water</a:t>
            </a:r>
          </a:p>
          <a:p>
            <a:pPr eaLnBrk="1" hangingPunct="1">
              <a:buFontTx/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eaLnBrk="1" hangingPunct="1"/>
            <a:r>
              <a:rPr lang="en-US" dirty="0" smtClean="0"/>
              <a:t>Are released </a:t>
            </a:r>
            <a:r>
              <a:rPr lang="en-US" dirty="0" smtClean="0"/>
              <a:t>by </a:t>
            </a:r>
            <a:r>
              <a:rPr lang="en-US" dirty="0" smtClean="0"/>
              <a:t>oil </a:t>
            </a:r>
            <a:r>
              <a:rPr lang="en-US" dirty="0" smtClean="0"/>
              <a:t>tankers when being loaded or </a:t>
            </a:r>
            <a:r>
              <a:rPr lang="en-US" dirty="0" smtClean="0"/>
              <a:t>unloaded.</a:t>
            </a:r>
          </a:p>
          <a:p>
            <a:pPr eaLnBrk="1" hangingPunct="1"/>
            <a:r>
              <a:rPr lang="en-US" dirty="0" smtClean="0"/>
              <a:t>It kills </a:t>
            </a:r>
            <a:r>
              <a:rPr lang="en-US" dirty="0" smtClean="0"/>
              <a:t>sea birds. Plants and animals in oceans.</a:t>
            </a:r>
          </a:p>
          <a:p>
            <a:pPr eaLnBrk="1" hangingPunct="1"/>
            <a:endParaRPr 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852936"/>
            <a:ext cx="6363072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05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 smtClean="0">
                <a:solidFill>
                  <a:srgbClr val="002060"/>
                </a:solidFill>
              </a:rPr>
              <a:t>6. Hot water</a:t>
            </a:r>
          </a:p>
          <a:p>
            <a:pPr marL="0" indent="0" eaLnBrk="1" hangingPunct="1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marL="609600" indent="-609600" eaLnBrk="1" hangingPunct="1"/>
            <a:r>
              <a:rPr lang="en-US" dirty="0" smtClean="0">
                <a:solidFill>
                  <a:srgbClr val="FF0000"/>
                </a:solidFill>
              </a:rPr>
              <a:t>Is released </a:t>
            </a:r>
            <a:r>
              <a:rPr lang="en-US" dirty="0" smtClean="0">
                <a:solidFill>
                  <a:srgbClr val="FF0000"/>
                </a:solidFill>
              </a:rPr>
              <a:t>by </a:t>
            </a:r>
            <a:r>
              <a:rPr lang="en-US" dirty="0" smtClean="0">
                <a:solidFill>
                  <a:srgbClr val="FF0000"/>
                </a:solidFill>
              </a:rPr>
              <a:t>electric </a:t>
            </a:r>
            <a:r>
              <a:rPr lang="en-US" dirty="0" smtClean="0">
                <a:solidFill>
                  <a:srgbClr val="FF0000"/>
                </a:solidFill>
              </a:rPr>
              <a:t>power </a:t>
            </a:r>
            <a:r>
              <a:rPr lang="en-US" dirty="0" smtClean="0">
                <a:solidFill>
                  <a:srgbClr val="FF0000"/>
                </a:solidFill>
              </a:rPr>
              <a:t>plants</a:t>
            </a:r>
          </a:p>
          <a:p>
            <a:pPr marL="0" indent="0" eaLnBrk="1" hangingPunct="1">
              <a:buNone/>
            </a:pPr>
            <a:endParaRPr lang="en-US" dirty="0" smtClean="0"/>
          </a:p>
          <a:p>
            <a:pPr marL="609600" indent="-609600" eaLnBrk="1" hangingPunct="1"/>
            <a:r>
              <a:rPr lang="en-US" dirty="0"/>
              <a:t>I</a:t>
            </a:r>
            <a:r>
              <a:rPr lang="en-US" dirty="0" smtClean="0"/>
              <a:t>n lakes it causes </a:t>
            </a:r>
            <a:r>
              <a:rPr lang="en-US" dirty="0" smtClean="0"/>
              <a:t>sudden increase in temperature in the water body, affect fauna and flora.</a:t>
            </a:r>
          </a:p>
        </p:txBody>
      </p:sp>
    </p:spTree>
    <p:extLst>
      <p:ext uri="{BB962C8B-B14F-4D97-AF65-F5344CB8AC3E}">
        <p14:creationId xmlns:p14="http://schemas.microsoft.com/office/powerpoint/2010/main" val="400101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00B0F0"/>
                </a:solidFill>
              </a:rPr>
              <a:t>Control of water </a:t>
            </a:r>
            <a:r>
              <a:rPr lang="en-US" b="1" dirty="0" smtClean="0">
                <a:solidFill>
                  <a:srgbClr val="00B0F0"/>
                </a:solidFill>
              </a:rPr>
              <a:t>pollution</a:t>
            </a:r>
          </a:p>
          <a:p>
            <a:pPr marL="137160" indent="0" eaLnBrk="1" hangingPunct="1">
              <a:buNone/>
            </a:pPr>
            <a:endParaRPr lang="en-US" dirty="0" smtClean="0">
              <a:solidFill>
                <a:srgbClr val="00B0F0"/>
              </a:solidFill>
            </a:endParaRPr>
          </a:p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FFC000"/>
                </a:solidFill>
              </a:rPr>
              <a:t>1. Sewage and factory wastes 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smtClean="0">
                <a:solidFill>
                  <a:srgbClr val="FFC000"/>
                </a:solidFill>
              </a:rPr>
              <a:t>should be </a:t>
            </a:r>
            <a:r>
              <a:rPr lang="en-US" b="1" dirty="0" smtClean="0">
                <a:solidFill>
                  <a:srgbClr val="FFC000"/>
                </a:solidFill>
              </a:rPr>
              <a:t>treated </a:t>
            </a:r>
            <a:r>
              <a:rPr lang="en-US" b="1" dirty="0" smtClean="0">
                <a:solidFill>
                  <a:srgbClr val="FFC000"/>
                </a:solidFill>
              </a:rPr>
              <a:t>before flow into water ways.</a:t>
            </a:r>
          </a:p>
          <a:p>
            <a:pPr marL="137160" indent="0" eaLnBrk="1" hangingPunct="1">
              <a:buNone/>
            </a:pPr>
            <a:endParaRPr lang="en-US" dirty="0" smtClean="0"/>
          </a:p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7030A0"/>
                </a:solidFill>
              </a:rPr>
              <a:t>2</a:t>
            </a:r>
            <a:r>
              <a:rPr lang="en-US" b="1" dirty="0" smtClean="0">
                <a:solidFill>
                  <a:srgbClr val="7030A0"/>
                </a:solidFill>
              </a:rPr>
              <a:t>. Various pollutants </a:t>
            </a:r>
            <a:r>
              <a:rPr lang="en-US" b="1" dirty="0" smtClean="0">
                <a:solidFill>
                  <a:srgbClr val="7030A0"/>
                </a:solidFill>
              </a:rPr>
              <a:t>should be  </a:t>
            </a:r>
            <a:r>
              <a:rPr lang="en-US" b="1" dirty="0" smtClean="0">
                <a:solidFill>
                  <a:srgbClr val="7030A0"/>
                </a:solidFill>
              </a:rPr>
              <a:t>recycled instead of dumping in to water.</a:t>
            </a:r>
          </a:p>
        </p:txBody>
      </p:sp>
    </p:spTree>
    <p:extLst>
      <p:ext uri="{BB962C8B-B14F-4D97-AF65-F5344CB8AC3E}">
        <p14:creationId xmlns:p14="http://schemas.microsoft.com/office/powerpoint/2010/main" val="290488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18441</TotalTime>
  <Words>525</Words>
  <Application>Microsoft Office PowerPoint</Application>
  <PresentationFormat>On-screen Show (4:3)</PresentationFormat>
  <Paragraphs>113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Apex</vt:lpstr>
      <vt:lpstr>GENERAL BIOLOGY fdn 1203</vt:lpstr>
      <vt:lpstr>Pollution</vt:lpstr>
      <vt:lpstr>Pollution and Control</vt:lpstr>
      <vt:lpstr>Air pollution</vt:lpstr>
      <vt:lpstr>PowerPoint Presentation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Water pollution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Theja</cp:lastModifiedBy>
  <cp:revision>52</cp:revision>
  <dcterms:created xsi:type="dcterms:W3CDTF">2013-05-05T15:32:03Z</dcterms:created>
  <dcterms:modified xsi:type="dcterms:W3CDTF">2020-11-13T06:27:23Z</dcterms:modified>
</cp:coreProperties>
</file>