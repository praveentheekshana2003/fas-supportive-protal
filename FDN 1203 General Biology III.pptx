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9" r:id="rId3"/>
    <p:sldId id="258" r:id="rId4"/>
    <p:sldId id="281" r:id="rId5"/>
    <p:sldId id="279" r:id="rId6"/>
    <p:sldId id="284" r:id="rId7"/>
    <p:sldId id="287" r:id="rId8"/>
    <p:sldId id="285" r:id="rId9"/>
    <p:sldId id="288" r:id="rId10"/>
    <p:sldId id="260" r:id="rId11"/>
    <p:sldId id="262" r:id="rId12"/>
    <p:sldId id="276" r:id="rId13"/>
    <p:sldId id="277" r:id="rId14"/>
    <p:sldId id="290" r:id="rId15"/>
    <p:sldId id="291" r:id="rId16"/>
    <p:sldId id="280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194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3CAA29-2108-4093-88D4-33761A3D8C1E}" type="datetimeFigureOut">
              <a:rPr lang="en-US" smtClean="0"/>
              <a:t>7/11/2020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D94042-8918-47F0-BE10-1DA96E99C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1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D94042-8918-47F0-BE10-1DA96E99CB2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4489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D94042-8918-47F0-BE10-1DA96E99CB2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58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11/07/2020</a:t>
            </a:fld>
            <a:endParaRPr lang="en-GB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11/07/2020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11/07/2020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11/07/2020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11/07/2020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11/07/2020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11/07/2020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11/07/2020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11/07/2020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11/07/2020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11/07/2020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CE4BA0AA-78E7-4C51-861B-2473917043FA}" type="datetimeFigureOut">
              <a:rPr lang="en-GB" smtClean="0"/>
              <a:t>11/07/2020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476672"/>
            <a:ext cx="7772400" cy="1584176"/>
          </a:xfrm>
        </p:spPr>
        <p:txBody>
          <a:bodyPr>
            <a:no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GENERAL BIOLOGY</a:t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dirty="0" err="1" smtClean="0">
                <a:solidFill>
                  <a:srgbClr val="FF0000"/>
                </a:solidFill>
              </a:rPr>
              <a:t>fdn</a:t>
            </a:r>
            <a:r>
              <a:rPr lang="en-US" dirty="0" smtClean="0">
                <a:solidFill>
                  <a:srgbClr val="FF0000"/>
                </a:solidFill>
              </a:rPr>
              <a:t> 1203</a:t>
            </a:r>
            <a:endParaRPr lang="en-GB" dirty="0">
              <a:solidFill>
                <a:srgbClr val="FF0000"/>
              </a:solidFill>
            </a:endParaRPr>
          </a:p>
        </p:txBody>
      </p:sp>
      <p:pic>
        <p:nvPicPr>
          <p:cNvPr id="1026" name="Picture 2" descr="General Biology - Wikibooks, open books for an open worl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276872"/>
            <a:ext cx="57150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99592" y="4941168"/>
            <a:ext cx="439248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Dr. </a:t>
            </a:r>
            <a:r>
              <a:rPr lang="en-US" sz="2800" b="1" dirty="0" err="1" smtClean="0">
                <a:solidFill>
                  <a:schemeClr val="bg1"/>
                </a:solidFill>
              </a:rPr>
              <a:t>Theja</a:t>
            </a:r>
            <a:r>
              <a:rPr lang="en-US" sz="2800" b="1" dirty="0" smtClean="0">
                <a:solidFill>
                  <a:schemeClr val="bg1"/>
                </a:solidFill>
              </a:rPr>
              <a:t> </a:t>
            </a:r>
            <a:r>
              <a:rPr lang="en-US" sz="2800" b="1" dirty="0" err="1" smtClean="0">
                <a:solidFill>
                  <a:schemeClr val="bg1"/>
                </a:solidFill>
              </a:rPr>
              <a:t>Abayarathna</a:t>
            </a:r>
            <a:endParaRPr lang="en-US" sz="2800" b="1" dirty="0" smtClean="0">
              <a:solidFill>
                <a:schemeClr val="bg1"/>
              </a:solidFill>
            </a:endParaRPr>
          </a:p>
          <a:p>
            <a:r>
              <a:rPr lang="en-US" sz="2000" b="1" dirty="0" smtClean="0">
                <a:solidFill>
                  <a:schemeClr val="bg1"/>
                </a:solidFill>
              </a:rPr>
              <a:t>Department of Biology</a:t>
            </a:r>
          </a:p>
          <a:p>
            <a:r>
              <a:rPr lang="en-US" sz="2000" b="1" dirty="0" smtClean="0">
                <a:solidFill>
                  <a:schemeClr val="bg1"/>
                </a:solidFill>
              </a:rPr>
              <a:t>Faculty of Applied Sciences</a:t>
            </a:r>
          </a:p>
          <a:p>
            <a:r>
              <a:rPr lang="en-US" sz="2000" b="1" dirty="0" err="1" smtClean="0">
                <a:solidFill>
                  <a:schemeClr val="bg1"/>
                </a:solidFill>
              </a:rPr>
              <a:t>Rajarata</a:t>
            </a:r>
            <a:r>
              <a:rPr lang="en-US" sz="2000" b="1" dirty="0" smtClean="0">
                <a:solidFill>
                  <a:schemeClr val="bg1"/>
                </a:solidFill>
              </a:rPr>
              <a:t> University of Sri Lanka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135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980728"/>
            <a:ext cx="8229600" cy="1872208"/>
          </a:xfrm>
        </p:spPr>
        <p:txBody>
          <a:bodyPr>
            <a:noAutofit/>
          </a:bodyPr>
          <a:lstStyle/>
          <a:p>
            <a:pPr marL="137160" indent="0">
              <a:buNone/>
            </a:pPr>
            <a:r>
              <a:rPr lang="en-GB" sz="5400" b="1" dirty="0" smtClean="0">
                <a:solidFill>
                  <a:srgbClr val="FF0000"/>
                </a:solidFill>
              </a:rPr>
              <a:t>The Cell – As the basic unit of life</a:t>
            </a:r>
            <a:endParaRPr lang="en-GB" sz="5400" b="1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780928"/>
            <a:ext cx="4680520" cy="3505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57953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FF00"/>
                </a:solidFill>
              </a:rPr>
              <a:t>Cellular </a:t>
            </a:r>
            <a:r>
              <a:rPr lang="en-US" dirty="0" err="1" smtClean="0">
                <a:solidFill>
                  <a:srgbClr val="FFFF00"/>
                </a:solidFill>
              </a:rPr>
              <a:t>Organellas</a:t>
            </a:r>
            <a:endParaRPr lang="en-US" dirty="0"/>
          </a:p>
        </p:txBody>
      </p:sp>
      <p:sp>
        <p:nvSpPr>
          <p:cNvPr id="5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539552" y="1628800"/>
            <a:ext cx="8229600" cy="470916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300" b="1" dirty="0" smtClean="0">
                <a:solidFill>
                  <a:srgbClr val="FF0000"/>
                </a:solidFill>
              </a:rPr>
              <a:t>Chloroplast</a:t>
            </a:r>
          </a:p>
          <a:p>
            <a:pPr eaLnBrk="1" hangingPunct="1">
              <a:defRPr/>
            </a:pPr>
            <a:endParaRPr lang="en-US" sz="2800" b="1" dirty="0" smtClean="0"/>
          </a:p>
          <a:p>
            <a:pPr eaLnBrk="1" hangingPunct="1">
              <a:defRPr/>
            </a:pPr>
            <a:r>
              <a:rPr lang="en-US" sz="2800" b="1" dirty="0" smtClean="0"/>
              <a:t>It is surrounded by </a:t>
            </a:r>
            <a:r>
              <a:rPr lang="en-US" sz="2800" b="1" dirty="0" smtClean="0">
                <a:solidFill>
                  <a:srgbClr val="FFC000"/>
                </a:solidFill>
              </a:rPr>
              <a:t>2 membranes</a:t>
            </a:r>
            <a:r>
              <a:rPr lang="en-US" sz="2800" b="1" dirty="0" smtClean="0"/>
              <a:t>. </a:t>
            </a:r>
          </a:p>
          <a:p>
            <a:pPr eaLnBrk="1" hangingPunct="1">
              <a:buFont typeface="Arial" charset="0"/>
              <a:buNone/>
              <a:defRPr/>
            </a:pPr>
            <a:endParaRPr lang="en-US" sz="2800" b="1" dirty="0" smtClean="0"/>
          </a:p>
          <a:p>
            <a:pPr eaLnBrk="1" hangingPunct="1">
              <a:defRPr/>
            </a:pPr>
            <a:r>
              <a:rPr lang="en-US" sz="2800" b="1" dirty="0" smtClean="0"/>
              <a:t>These 2 membranes are separated by a </a:t>
            </a:r>
            <a:r>
              <a:rPr lang="en-US" sz="2800" b="1" dirty="0" smtClean="0">
                <a:solidFill>
                  <a:srgbClr val="FFC000"/>
                </a:solidFill>
              </a:rPr>
              <a:t>space</a:t>
            </a:r>
            <a:r>
              <a:rPr lang="en-US" sz="2800" b="1" dirty="0" smtClean="0"/>
              <a:t>. </a:t>
            </a:r>
          </a:p>
          <a:p>
            <a:pPr eaLnBrk="1" hangingPunct="1">
              <a:buFont typeface="Arial" charset="0"/>
              <a:buNone/>
              <a:defRPr/>
            </a:pPr>
            <a:endParaRPr lang="en-US" sz="2800" b="1" dirty="0" smtClean="0"/>
          </a:p>
          <a:p>
            <a:pPr eaLnBrk="1" hangingPunct="1">
              <a:defRPr/>
            </a:pPr>
            <a:r>
              <a:rPr lang="en-US" sz="2800" b="1" dirty="0" smtClean="0"/>
              <a:t>These membranes enclosed a fluid space – called </a:t>
            </a:r>
            <a:r>
              <a:rPr lang="en-US" sz="2800" b="1" dirty="0" err="1" smtClean="0">
                <a:solidFill>
                  <a:srgbClr val="00FFFF"/>
                </a:solidFill>
              </a:rPr>
              <a:t>stroma</a:t>
            </a:r>
            <a:r>
              <a:rPr lang="en-US" sz="2800" b="1" dirty="0" smtClean="0"/>
              <a:t> / matrix.</a:t>
            </a:r>
          </a:p>
          <a:p>
            <a:pPr eaLnBrk="1" hangingPunct="1">
              <a:buFont typeface="Arial" charset="0"/>
              <a:buNone/>
              <a:defRPr/>
            </a:pPr>
            <a:endParaRPr 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2166866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40064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A membrane system </a:t>
            </a:r>
            <a:r>
              <a:rPr lang="en-US" b="1" dirty="0" smtClean="0"/>
              <a:t>is suspended </a:t>
            </a:r>
            <a:r>
              <a:rPr lang="en-US" b="1" dirty="0"/>
              <a:t>in the matrix. </a:t>
            </a:r>
            <a:endParaRPr lang="en-US" b="1" dirty="0" smtClean="0"/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5" name="Rectangle 3"/>
          <p:cNvSpPr txBox="1">
            <a:spLocks noRot="1" noChangeArrowheads="1"/>
          </p:cNvSpPr>
          <p:nvPr/>
        </p:nvSpPr>
        <p:spPr>
          <a:xfrm>
            <a:off x="301625" y="2204864"/>
            <a:ext cx="8540750" cy="3894311"/>
          </a:xfrm>
          <a:prstGeom prst="rect">
            <a:avLst/>
          </a:prstGeom>
        </p:spPr>
        <p:txBody>
          <a:bodyPr vert="horz">
            <a:normAutofit/>
          </a:bodyPr>
          <a:lstStyle>
            <a:lvl1pPr marL="548640" indent="-411480" algn="l" rtl="0" eaLnBrk="1" latinLnBrk="0" hangingPunct="1">
              <a:spcBef>
                <a:spcPct val="20000"/>
              </a:spcBef>
              <a:buClr>
                <a:schemeClr val="tx1">
                  <a:shade val="95000"/>
                </a:schemeClr>
              </a:buClr>
              <a:buSzPct val="65000"/>
              <a:buFont typeface="Wingdings 2"/>
              <a:buChar char="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68680" indent="-283464" algn="l" rtl="0" eaLnBrk="1" latinLnBrk="0" hangingPunct="1">
              <a:spcBef>
                <a:spcPct val="20000"/>
              </a:spcBef>
              <a:buClr>
                <a:schemeClr val="tx1"/>
              </a:buClr>
              <a:buSzPct val="80000"/>
              <a:buFont typeface="Wingdings 2"/>
              <a:buChar char="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33856" indent="-228600" algn="l" rtl="0" eaLnBrk="1" latinLnBrk="0" hangingPunct="1">
              <a:spcBef>
                <a:spcPct val="20000"/>
              </a:spcBef>
              <a:buClr>
                <a:schemeClr val="tx1"/>
              </a:buClr>
              <a:buSzPct val="95000"/>
              <a:buFont typeface="Wingdings"/>
              <a:buChar char="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53312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SzPct val="100000"/>
              <a:buFont typeface="Wingdings 3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5336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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64792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3"/>
              <a:buChar char="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65960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67128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68296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b="1" dirty="0" smtClean="0"/>
              <a:t>It carries out many flattened, fluid filled sacs called </a:t>
            </a:r>
            <a:r>
              <a:rPr lang="en-US" b="1" dirty="0" smtClean="0">
                <a:solidFill>
                  <a:srgbClr val="00FFFF"/>
                </a:solidFill>
              </a:rPr>
              <a:t>thylakoids</a:t>
            </a:r>
            <a:r>
              <a:rPr lang="en-US" b="1" dirty="0" smtClean="0"/>
              <a:t> or lamella.</a:t>
            </a:r>
          </a:p>
          <a:p>
            <a:pPr>
              <a:buFont typeface="Arial" charset="0"/>
              <a:buNone/>
              <a:defRPr/>
            </a:pPr>
            <a:r>
              <a:rPr lang="en-US" b="1" dirty="0" smtClean="0"/>
              <a:t> </a:t>
            </a:r>
          </a:p>
          <a:p>
            <a:pPr>
              <a:defRPr/>
            </a:pPr>
            <a:r>
              <a:rPr lang="en-US" b="1" dirty="0" smtClean="0"/>
              <a:t>These thylakoids stack to form </a:t>
            </a:r>
            <a:r>
              <a:rPr lang="en-US" b="1" dirty="0" smtClean="0">
                <a:solidFill>
                  <a:srgbClr val="00FFFF"/>
                </a:solidFill>
              </a:rPr>
              <a:t>grana</a:t>
            </a:r>
            <a:r>
              <a:rPr lang="en-US" b="1" dirty="0" smtClean="0"/>
              <a:t>.</a:t>
            </a:r>
          </a:p>
          <a:p>
            <a:pPr>
              <a:buFont typeface="Arial" charset="0"/>
              <a:buNone/>
              <a:defRPr/>
            </a:pPr>
            <a:endParaRPr lang="en-US" b="1" dirty="0" smtClean="0"/>
          </a:p>
          <a:p>
            <a:pPr>
              <a:defRPr/>
            </a:pPr>
            <a:r>
              <a:rPr lang="en-US" b="1" dirty="0" smtClean="0"/>
              <a:t> Various grana are jointed by </a:t>
            </a:r>
            <a:r>
              <a:rPr lang="en-US" b="1" dirty="0" smtClean="0">
                <a:solidFill>
                  <a:srgbClr val="00FFFF"/>
                </a:solidFill>
              </a:rPr>
              <a:t>integrated lamella</a:t>
            </a:r>
            <a:r>
              <a:rPr lang="en-US" b="1" dirty="0" smtClean="0"/>
              <a:t>. </a:t>
            </a:r>
          </a:p>
          <a:p>
            <a:pPr>
              <a:buFont typeface="Arial" charset="0"/>
              <a:buNone/>
              <a:defRPr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477103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620688"/>
            <a:ext cx="7426221" cy="5688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2997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 smtClean="0">
                <a:solidFill>
                  <a:srgbClr val="FFFF00"/>
                </a:solidFill>
              </a:rPr>
              <a:t>Mitochondria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8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457200" y="1268760"/>
            <a:ext cx="8229600" cy="5040600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3200" b="1" dirty="0" smtClean="0"/>
              <a:t>This is called as </a:t>
            </a:r>
            <a:r>
              <a:rPr lang="en-US" sz="3200" b="1" dirty="0" smtClean="0">
                <a:solidFill>
                  <a:srgbClr val="C00000"/>
                </a:solidFill>
              </a:rPr>
              <a:t>power house </a:t>
            </a:r>
            <a:r>
              <a:rPr lang="en-US" sz="3200" b="1" dirty="0" smtClean="0"/>
              <a:t>of the cell.</a:t>
            </a:r>
          </a:p>
          <a:p>
            <a:pPr eaLnBrk="1" hangingPunct="1">
              <a:buFont typeface="Arial" charset="0"/>
              <a:buNone/>
              <a:defRPr/>
            </a:pPr>
            <a:endParaRPr lang="en-US" sz="3200" b="1" dirty="0" smtClean="0"/>
          </a:p>
          <a:p>
            <a:pPr eaLnBrk="1" hangingPunct="1">
              <a:defRPr/>
            </a:pPr>
            <a:r>
              <a:rPr lang="en-US" sz="3200" b="1" dirty="0" smtClean="0"/>
              <a:t> It is specialize in the </a:t>
            </a:r>
            <a:r>
              <a:rPr lang="en-US" sz="3200" b="1" dirty="0" smtClean="0">
                <a:solidFill>
                  <a:srgbClr val="FFC000"/>
                </a:solidFill>
              </a:rPr>
              <a:t>synthesize of ATP</a:t>
            </a:r>
            <a:r>
              <a:rPr lang="en-US" sz="3200" b="1" dirty="0" smtClean="0"/>
              <a:t>, the usable chemical energy.</a:t>
            </a:r>
          </a:p>
          <a:p>
            <a:pPr eaLnBrk="1" hangingPunct="1">
              <a:buFont typeface="Arial" charset="0"/>
              <a:buNone/>
              <a:defRPr/>
            </a:pPr>
            <a:endParaRPr lang="en-US" sz="3200" b="1" dirty="0" smtClean="0"/>
          </a:p>
          <a:p>
            <a:pPr eaLnBrk="1" hangingPunct="1">
              <a:defRPr/>
            </a:pPr>
            <a:r>
              <a:rPr lang="en-US" sz="3200" b="1" dirty="0" smtClean="0"/>
              <a:t>It is </a:t>
            </a:r>
            <a:r>
              <a:rPr lang="en-US" sz="3200" b="1" dirty="0" smtClean="0">
                <a:solidFill>
                  <a:srgbClr val="00B0F0"/>
                </a:solidFill>
              </a:rPr>
              <a:t>sausage shaped</a:t>
            </a:r>
            <a:r>
              <a:rPr lang="en-US" sz="3200" b="1" dirty="0" smtClean="0"/>
              <a:t>.</a:t>
            </a:r>
          </a:p>
          <a:p>
            <a:pPr eaLnBrk="1" hangingPunct="1">
              <a:buFont typeface="Arial" charset="0"/>
              <a:buNone/>
              <a:defRPr/>
            </a:pPr>
            <a:r>
              <a:rPr lang="en-US" sz="3200" b="1" dirty="0" smtClean="0"/>
              <a:t> </a:t>
            </a:r>
          </a:p>
          <a:p>
            <a:pPr eaLnBrk="1" hangingPunct="1">
              <a:defRPr/>
            </a:pPr>
            <a:r>
              <a:rPr lang="en-US" sz="3200" b="1" dirty="0" smtClean="0"/>
              <a:t>It is bound by </a:t>
            </a:r>
            <a:r>
              <a:rPr lang="en-US" sz="3200" b="1" dirty="0" smtClean="0">
                <a:solidFill>
                  <a:srgbClr val="92D050"/>
                </a:solidFill>
              </a:rPr>
              <a:t>2 membranes </a:t>
            </a:r>
            <a:r>
              <a:rPr lang="en-US" sz="3200" b="1" dirty="0" smtClean="0"/>
              <a:t>that separated by a </a:t>
            </a:r>
            <a:r>
              <a:rPr lang="en-US" sz="3200" b="1" dirty="0" smtClean="0">
                <a:solidFill>
                  <a:srgbClr val="92D050"/>
                </a:solidFill>
              </a:rPr>
              <a:t>space.</a:t>
            </a:r>
            <a:r>
              <a:rPr lang="en-US" sz="3200" b="1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0434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457200" y="476672"/>
            <a:ext cx="8229600" cy="3744416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 smtClean="0"/>
              <a:t>Inner membrane folds into numerous folds Called </a:t>
            </a:r>
            <a:r>
              <a:rPr lang="en-US" b="1" dirty="0" smtClean="0">
                <a:solidFill>
                  <a:srgbClr val="00FFFF"/>
                </a:solidFill>
              </a:rPr>
              <a:t>cristae</a:t>
            </a:r>
            <a:r>
              <a:rPr lang="en-US" b="1" dirty="0" smtClean="0"/>
              <a:t>. </a:t>
            </a:r>
          </a:p>
          <a:p>
            <a:pPr eaLnBrk="1" hangingPunct="1">
              <a:buFont typeface="Arial" charset="0"/>
              <a:buNone/>
              <a:defRPr/>
            </a:pPr>
            <a:endParaRPr lang="en-US" b="1" dirty="0" smtClean="0"/>
          </a:p>
          <a:p>
            <a:pPr eaLnBrk="1" hangingPunct="1">
              <a:defRPr/>
            </a:pPr>
            <a:r>
              <a:rPr lang="en-US" b="1" dirty="0" smtClean="0"/>
              <a:t>Inner surface of the cristae is packed with </a:t>
            </a:r>
            <a:r>
              <a:rPr lang="en-US" b="1" dirty="0" smtClean="0">
                <a:solidFill>
                  <a:srgbClr val="00FFFF"/>
                </a:solidFill>
              </a:rPr>
              <a:t>elementary particles / granules.</a:t>
            </a:r>
          </a:p>
          <a:p>
            <a:pPr eaLnBrk="1" hangingPunct="1">
              <a:buFont typeface="Arial" charset="0"/>
              <a:buNone/>
              <a:defRPr/>
            </a:pPr>
            <a:r>
              <a:rPr lang="en-US" b="1" dirty="0" smtClean="0">
                <a:solidFill>
                  <a:srgbClr val="00FFFF"/>
                </a:solidFill>
              </a:rPr>
              <a:t> </a:t>
            </a:r>
          </a:p>
          <a:p>
            <a:pPr eaLnBrk="1" hangingPunct="1">
              <a:defRPr/>
            </a:pPr>
            <a:r>
              <a:rPr lang="en-US" b="1" dirty="0" smtClean="0">
                <a:solidFill>
                  <a:srgbClr val="92D050"/>
                </a:solidFill>
              </a:rPr>
              <a:t>Matrix</a:t>
            </a:r>
            <a:r>
              <a:rPr lang="en-US" b="1" dirty="0" smtClean="0"/>
              <a:t> is lying inside the inner membrane.</a:t>
            </a:r>
          </a:p>
          <a:p>
            <a:pPr eaLnBrk="1" hangingPunct="1">
              <a:buFont typeface="Arial" charset="0"/>
              <a:buNone/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93554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412776"/>
            <a:ext cx="6617393" cy="3970436"/>
          </a:xfrm>
        </p:spPr>
      </p:pic>
    </p:spTree>
    <p:extLst>
      <p:ext uri="{BB962C8B-B14F-4D97-AF65-F5344CB8AC3E}">
        <p14:creationId xmlns:p14="http://schemas.microsoft.com/office/powerpoint/2010/main" val="987223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 smtClean="0">
                <a:solidFill>
                  <a:srgbClr val="FFFF00"/>
                </a:solidFill>
              </a:rPr>
              <a:t>Lysosome</a:t>
            </a:r>
          </a:p>
        </p:txBody>
      </p:sp>
      <p:sp>
        <p:nvSpPr>
          <p:cNvPr id="7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 smtClean="0"/>
              <a:t>They are </a:t>
            </a:r>
            <a:r>
              <a:rPr lang="en-US" b="1" dirty="0" smtClean="0">
                <a:solidFill>
                  <a:srgbClr val="92D050"/>
                </a:solidFill>
              </a:rPr>
              <a:t>membrane bound digestive vesicles</a:t>
            </a:r>
            <a:r>
              <a:rPr lang="en-US" b="1" dirty="0" smtClean="0"/>
              <a:t>.</a:t>
            </a:r>
          </a:p>
          <a:p>
            <a:pPr marL="137160" indent="0" eaLnBrk="1" hangingPunct="1">
              <a:buNone/>
              <a:defRPr/>
            </a:pPr>
            <a:r>
              <a:rPr lang="en-US" b="1" dirty="0" smtClean="0"/>
              <a:t> </a:t>
            </a:r>
          </a:p>
          <a:p>
            <a:pPr eaLnBrk="1" hangingPunct="1">
              <a:defRPr/>
            </a:pPr>
            <a:r>
              <a:rPr lang="en-US" b="1" dirty="0" smtClean="0"/>
              <a:t>Lysosomes are bound by a </a:t>
            </a:r>
            <a:r>
              <a:rPr lang="en-US" b="1" dirty="0" smtClean="0">
                <a:solidFill>
                  <a:srgbClr val="FF0000"/>
                </a:solidFill>
              </a:rPr>
              <a:t>single membrane</a:t>
            </a:r>
            <a:r>
              <a:rPr lang="en-US" b="1" dirty="0" smtClean="0"/>
              <a:t>. </a:t>
            </a:r>
          </a:p>
          <a:p>
            <a:pPr marL="137160" indent="0" eaLnBrk="1" hangingPunct="1">
              <a:buNone/>
              <a:defRPr/>
            </a:pPr>
            <a:endParaRPr lang="en-US" b="1" dirty="0" smtClean="0"/>
          </a:p>
          <a:p>
            <a:pPr eaLnBrk="1" hangingPunct="1">
              <a:defRPr/>
            </a:pPr>
            <a:r>
              <a:rPr lang="en-US" b="1" dirty="0" smtClean="0"/>
              <a:t>They Contain a mixture of </a:t>
            </a:r>
            <a:r>
              <a:rPr lang="en-US" b="1" dirty="0" smtClean="0">
                <a:solidFill>
                  <a:srgbClr val="FFC000"/>
                </a:solidFill>
              </a:rPr>
              <a:t>digestive enzymes</a:t>
            </a:r>
            <a:r>
              <a:rPr lang="en-US" b="1" dirty="0" smtClean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33050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Arrow Connector 6"/>
          <p:cNvCxnSpPr/>
          <p:nvPr/>
        </p:nvCxnSpPr>
        <p:spPr>
          <a:xfrm>
            <a:off x="4499992" y="2132856"/>
            <a:ext cx="0" cy="10801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844824"/>
            <a:ext cx="8091860" cy="39056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08467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4000" b="1" dirty="0" smtClean="0">
                <a:solidFill>
                  <a:srgbClr val="FFFF00"/>
                </a:solidFill>
              </a:rPr>
              <a:t>Ribosome</a:t>
            </a:r>
            <a:r>
              <a:rPr lang="en-US" sz="4000" dirty="0" smtClean="0">
                <a:solidFill>
                  <a:srgbClr val="FFFF00"/>
                </a:solidFill>
              </a:rPr>
              <a:t/>
            </a:r>
            <a:br>
              <a:rPr lang="en-US" sz="4000" dirty="0" smtClean="0">
                <a:solidFill>
                  <a:srgbClr val="FFFF00"/>
                </a:solidFill>
              </a:rPr>
            </a:br>
            <a:endParaRPr lang="en-US" sz="4000" dirty="0" smtClean="0">
              <a:solidFill>
                <a:srgbClr val="FFFF00"/>
              </a:solidFill>
            </a:endParaRPr>
          </a:p>
        </p:txBody>
      </p:sp>
      <p:sp>
        <p:nvSpPr>
          <p:cNvPr id="7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 smtClean="0"/>
              <a:t>They are </a:t>
            </a:r>
            <a:r>
              <a:rPr lang="en-US" b="1" dirty="0" smtClean="0">
                <a:solidFill>
                  <a:srgbClr val="FFC000"/>
                </a:solidFill>
              </a:rPr>
              <a:t>spherical bodies</a:t>
            </a:r>
            <a:r>
              <a:rPr lang="en-US" b="1" dirty="0" smtClean="0"/>
              <a:t> found in the cytoplasm of the cell.</a:t>
            </a:r>
          </a:p>
          <a:p>
            <a:pPr eaLnBrk="1" hangingPunct="1">
              <a:defRPr/>
            </a:pPr>
            <a:endParaRPr lang="en-US" b="1" dirty="0" smtClean="0"/>
          </a:p>
          <a:p>
            <a:pPr eaLnBrk="1" hangingPunct="1">
              <a:defRPr/>
            </a:pPr>
            <a:r>
              <a:rPr lang="en-US" b="1" dirty="0" smtClean="0"/>
              <a:t>It is composed of </a:t>
            </a:r>
            <a:r>
              <a:rPr lang="en-US" b="1" dirty="0" smtClean="0">
                <a:solidFill>
                  <a:srgbClr val="92D050"/>
                </a:solidFill>
              </a:rPr>
              <a:t>large and small </a:t>
            </a:r>
            <a:r>
              <a:rPr lang="en-US" b="1" dirty="0" smtClean="0"/>
              <a:t>subunit. </a:t>
            </a:r>
          </a:p>
          <a:p>
            <a:pPr marL="137160" indent="0" eaLnBrk="1" hangingPunct="1">
              <a:buNone/>
              <a:defRPr/>
            </a:pPr>
            <a:endParaRPr lang="en-US" b="1" dirty="0" smtClean="0"/>
          </a:p>
          <a:p>
            <a:pPr eaLnBrk="1" hangingPunct="1">
              <a:defRPr/>
            </a:pPr>
            <a:r>
              <a:rPr lang="en-US" b="1" dirty="0" smtClean="0"/>
              <a:t>They Serve as sites of </a:t>
            </a:r>
            <a:r>
              <a:rPr lang="en-US" b="1" dirty="0" smtClean="0">
                <a:solidFill>
                  <a:srgbClr val="00B050"/>
                </a:solidFill>
              </a:rPr>
              <a:t>protein synthesis</a:t>
            </a:r>
            <a:r>
              <a:rPr lang="en-US" b="1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10101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548680"/>
            <a:ext cx="6889465" cy="5278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12458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 smtClean="0">
                <a:solidFill>
                  <a:srgbClr val="FFFF00"/>
                </a:solidFill>
              </a:rPr>
              <a:t>Nucleus</a:t>
            </a:r>
          </a:p>
        </p:txBody>
      </p:sp>
      <p:sp>
        <p:nvSpPr>
          <p:cNvPr id="7" name="Rectangle 3"/>
          <p:cNvSpPr>
            <a:spLocks noGrp="1" noRot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b="1" dirty="0" smtClean="0"/>
              <a:t>This is the </a:t>
            </a:r>
            <a:r>
              <a:rPr lang="en-US" b="1" dirty="0" smtClean="0">
                <a:solidFill>
                  <a:srgbClr val="92D050"/>
                </a:solidFill>
              </a:rPr>
              <a:t>largest</a:t>
            </a:r>
            <a:r>
              <a:rPr lang="en-US" b="1" dirty="0" smtClean="0"/>
              <a:t> and most easily seen organelle </a:t>
            </a:r>
          </a:p>
          <a:p>
            <a:pPr marL="137160" indent="0" eaLnBrk="1" hangingPunct="1">
              <a:lnSpc>
                <a:spcPct val="90000"/>
              </a:lnSpc>
              <a:buNone/>
              <a:defRPr/>
            </a:pPr>
            <a:endParaRPr lang="en-US" b="1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en-US" b="1" dirty="0" smtClean="0"/>
              <a:t>This is the </a:t>
            </a:r>
            <a:r>
              <a:rPr lang="en-US" b="1" dirty="0" smtClean="0">
                <a:solidFill>
                  <a:srgbClr val="FF0000"/>
                </a:solidFill>
              </a:rPr>
              <a:t>core</a:t>
            </a:r>
            <a:r>
              <a:rPr lang="en-US" b="1" dirty="0" smtClean="0"/>
              <a:t> of the cell which command all metabolic activities.</a:t>
            </a:r>
          </a:p>
          <a:p>
            <a:pPr marL="137160" indent="0" eaLnBrk="1" hangingPunct="1">
              <a:lnSpc>
                <a:spcPct val="90000"/>
              </a:lnSpc>
              <a:buNone/>
              <a:defRPr/>
            </a:pPr>
            <a:endParaRPr lang="en-US" b="1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en-US" b="1" dirty="0" smtClean="0"/>
              <a:t> In animal cells, nucleus is located in the </a:t>
            </a:r>
            <a:r>
              <a:rPr lang="en-US" b="1" dirty="0" smtClean="0">
                <a:solidFill>
                  <a:schemeClr val="bg1"/>
                </a:solidFill>
              </a:rPr>
              <a:t>central region</a:t>
            </a:r>
            <a:r>
              <a:rPr lang="en-US" b="1" dirty="0" smtClean="0"/>
              <a:t>. 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b="1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en-US" b="1" dirty="0" smtClean="0"/>
              <a:t>Large amount of </a:t>
            </a:r>
            <a:r>
              <a:rPr lang="en-US" b="1" dirty="0" smtClean="0">
                <a:solidFill>
                  <a:srgbClr val="FFC000"/>
                </a:solidFill>
              </a:rPr>
              <a:t>DNA </a:t>
            </a:r>
            <a:r>
              <a:rPr lang="en-US" b="1" dirty="0" smtClean="0"/>
              <a:t>is packed in the nucleus. </a:t>
            </a:r>
          </a:p>
          <a:p>
            <a:pPr marL="137160" indent="0" eaLnBrk="1" hangingPunct="1">
              <a:lnSpc>
                <a:spcPct val="90000"/>
              </a:lnSpc>
              <a:buNone/>
              <a:defRPr/>
            </a:pPr>
            <a:endParaRPr lang="en-US" b="1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en-US" b="1" dirty="0" smtClean="0"/>
              <a:t>Roughly spherical in shape. </a:t>
            </a:r>
          </a:p>
        </p:txBody>
      </p:sp>
    </p:spTree>
    <p:extLst>
      <p:ext uri="{BB962C8B-B14F-4D97-AF65-F5344CB8AC3E}">
        <p14:creationId xmlns:p14="http://schemas.microsoft.com/office/powerpoint/2010/main" val="3384728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457200" y="404664"/>
            <a:ext cx="8229600" cy="5904696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 smtClean="0"/>
              <a:t>The nucleus is Encased by </a:t>
            </a:r>
            <a:r>
              <a:rPr lang="en-US" b="1" dirty="0" smtClean="0">
                <a:solidFill>
                  <a:srgbClr val="FFC000"/>
                </a:solidFill>
              </a:rPr>
              <a:t>2 membranes</a:t>
            </a:r>
          </a:p>
          <a:p>
            <a:pPr marL="137160" indent="0" eaLnBrk="1" hangingPunct="1">
              <a:buNone/>
              <a:defRPr/>
            </a:pPr>
            <a:r>
              <a:rPr lang="en-US" b="1" dirty="0" smtClean="0"/>
              <a:t> </a:t>
            </a:r>
          </a:p>
          <a:p>
            <a:pPr eaLnBrk="1" hangingPunct="1">
              <a:defRPr/>
            </a:pPr>
            <a:r>
              <a:rPr lang="en-US" b="1" dirty="0" smtClean="0">
                <a:solidFill>
                  <a:schemeClr val="bg1"/>
                </a:solidFill>
              </a:rPr>
              <a:t>Nucleolus</a:t>
            </a:r>
            <a:r>
              <a:rPr lang="en-US" b="1" dirty="0" smtClean="0"/>
              <a:t> is the site with in the nucleus where ribosome are made.</a:t>
            </a:r>
          </a:p>
          <a:p>
            <a:pPr marL="137160" indent="0" eaLnBrk="1" hangingPunct="1">
              <a:buNone/>
              <a:defRPr/>
            </a:pPr>
            <a:r>
              <a:rPr lang="en-US" b="1" dirty="0" smtClean="0"/>
              <a:t> </a:t>
            </a:r>
          </a:p>
          <a:p>
            <a:pPr eaLnBrk="1" hangingPunct="1">
              <a:defRPr/>
            </a:pPr>
            <a:r>
              <a:rPr lang="en-US" b="1" dirty="0" smtClean="0"/>
              <a:t>It contain large amount of </a:t>
            </a:r>
            <a:r>
              <a:rPr lang="en-US" b="1" dirty="0" smtClean="0">
                <a:solidFill>
                  <a:srgbClr val="C00000"/>
                </a:solidFill>
              </a:rPr>
              <a:t>DNA and RNA</a:t>
            </a:r>
            <a:endParaRPr lang="en-US" b="1" dirty="0"/>
          </a:p>
          <a:p>
            <a:pPr eaLnBrk="1" hangingPunct="1">
              <a:defRPr/>
            </a:pPr>
            <a:endParaRPr lang="en-US" b="1" dirty="0" smtClean="0"/>
          </a:p>
          <a:p>
            <a:pPr eaLnBrk="1" hangingPunct="1">
              <a:defRPr/>
            </a:pPr>
            <a:r>
              <a:rPr lang="en-US" b="1" dirty="0" smtClean="0"/>
              <a:t>The space between the nuclear envelops and the nucleolus is filled by the transparent, granular </a:t>
            </a:r>
            <a:r>
              <a:rPr lang="en-US" b="1" dirty="0" smtClean="0">
                <a:solidFill>
                  <a:schemeClr val="bg1"/>
                </a:solidFill>
              </a:rPr>
              <a:t>nucleoplasm</a:t>
            </a:r>
            <a:r>
              <a:rPr lang="en-US" b="1" dirty="0" smtClean="0"/>
              <a:t>.</a:t>
            </a:r>
          </a:p>
          <a:p>
            <a:pPr eaLnBrk="1" hangingPunct="1">
              <a:defRPr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1697907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196752"/>
            <a:ext cx="6062353" cy="3900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6354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544" y="1844824"/>
            <a:ext cx="8229600" cy="1828800"/>
          </a:xfrm>
        </p:spPr>
        <p:txBody>
          <a:bodyPr>
            <a:normAutofit/>
          </a:bodyPr>
          <a:lstStyle/>
          <a:p>
            <a:r>
              <a:rPr lang="en-US" sz="8800" dirty="0" smtClean="0">
                <a:solidFill>
                  <a:srgbClr val="FF0000"/>
                </a:solidFill>
                <a:latin typeface="Copperplate Gothic Bold" pitchFamily="34" charset="0"/>
              </a:rPr>
              <a:t>Thank you!</a:t>
            </a:r>
            <a:endParaRPr lang="en-US" sz="8800" dirty="0">
              <a:solidFill>
                <a:srgbClr val="FF0000"/>
              </a:solidFill>
              <a:latin typeface="Copperplate Gothic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4829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1867</TotalTime>
  <Words>332</Words>
  <Application>Microsoft Office PowerPoint</Application>
  <PresentationFormat>On-screen Show (4:3)</PresentationFormat>
  <Paragraphs>65</Paragraphs>
  <Slides>16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Apex</vt:lpstr>
      <vt:lpstr>GENERAL BIOLOGY fdn 1203</vt:lpstr>
      <vt:lpstr>PowerPoint Presentation</vt:lpstr>
      <vt:lpstr>Cellular Organellas</vt:lpstr>
      <vt:lpstr>PowerPoint Presentation</vt:lpstr>
      <vt:lpstr>PowerPoint Presentation</vt:lpstr>
      <vt:lpstr>Mitochondria </vt:lpstr>
      <vt:lpstr>PowerPoint Presentation</vt:lpstr>
      <vt:lpstr>PowerPoint Presentation</vt:lpstr>
      <vt:lpstr>Lysosome</vt:lpstr>
      <vt:lpstr>PowerPoint Presentation</vt:lpstr>
      <vt:lpstr>Ribosome </vt:lpstr>
      <vt:lpstr>PowerPoint Presentation</vt:lpstr>
      <vt:lpstr>Nucleus</vt:lpstr>
      <vt:lpstr>PowerPoint Presentation</vt:lpstr>
      <vt:lpstr>PowerPoint Presentation</vt:lpstr>
      <vt:lpstr>Thank you!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BIOLOGY FOR PHYSICAL SCIENCE STUDENTS CMP 1203/1307</dc:title>
  <dc:creator>ismail - [2010]</dc:creator>
  <cp:lastModifiedBy>MIGSEN</cp:lastModifiedBy>
  <cp:revision>56</cp:revision>
  <dcterms:created xsi:type="dcterms:W3CDTF">2013-05-05T15:32:03Z</dcterms:created>
  <dcterms:modified xsi:type="dcterms:W3CDTF">2020-07-12T02:14:40Z</dcterms:modified>
</cp:coreProperties>
</file>