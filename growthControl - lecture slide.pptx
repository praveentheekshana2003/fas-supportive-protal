
<file path=[Content_Types].xml><?xml version="1.0" encoding="utf-8"?>
<Types xmlns="http://schemas.openxmlformats.org/package/2006/content-types">
  <Override PartName="/ppt/slides/slide29.xml" ContentType="application/vnd.openxmlformats-officedocument.presentationml.slide+xml"/>
  <Override PartName="/ppt/slides/slide47.xml" ContentType="application/vnd.openxmlformats-officedocument.presentationml.slide+xml"/>
  <Override PartName="/ppt/slides/slide58.xml" ContentType="application/vnd.openxmlformats-officedocument.presentationml.slide+xml"/>
  <Override PartName="/ppt/slides/slide76.xml" ContentType="application/vnd.openxmlformats-officedocument.presentationml.slide+xml"/>
  <Override PartName="/ppt/slides/slide94.xml" ContentType="application/vnd.openxmlformats-officedocument.presentationml.slide+xml"/>
  <Override PartName="/ppt/notesSlides/notesSlide2.xml" ContentType="application/vnd.openxmlformats-officedocument.presentationml.notesSlide+xml"/>
  <Override PartName="/ppt/slides/slide4.xml" ContentType="application/vnd.openxmlformats-officedocument.presentationml.slide+xml"/>
  <Override PartName="/ppt/slides/slide18.xml" ContentType="application/vnd.openxmlformats-officedocument.presentationml.slide+xml"/>
  <Override PartName="/ppt/slides/slide36.xml" ContentType="application/vnd.openxmlformats-officedocument.presentationml.slide+xml"/>
  <Override PartName="/ppt/slides/slide54.xml" ContentType="application/vnd.openxmlformats-officedocument.presentationml.slide+xml"/>
  <Override PartName="/ppt/slides/slide65.xml" ContentType="application/vnd.openxmlformats-officedocument.presentationml.slide+xml"/>
  <Override PartName="/ppt/slides/slide83.xml" ContentType="application/vnd.openxmlformats-officedocument.presentationml.slide+xml"/>
  <Override PartName="/ppt/slideLayouts/slideLayout6.xml" ContentType="application/vnd.openxmlformats-officedocument.presentationml.slideLayout+xml"/>
  <Override PartName="/ppt/slides/slide25.xml" ContentType="application/vnd.openxmlformats-officedocument.presentationml.slide+xml"/>
  <Override PartName="/ppt/slides/slide43.xml" ContentType="application/vnd.openxmlformats-officedocument.presentationml.slide+xml"/>
  <Override PartName="/ppt/slides/slide72.xml" ContentType="application/vnd.openxmlformats-officedocument.presentationml.slide+xml"/>
  <Override PartName="/ppt/slides/slide90.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Default Extension="xml" ContentType="application/xml"/>
  <Override PartName="/ppt/slides/slide14.xml" ContentType="application/vnd.openxmlformats-officedocument.presentationml.slide+xml"/>
  <Override PartName="/ppt/slides/slide32.xml" ContentType="application/vnd.openxmlformats-officedocument.presentationml.slide+xml"/>
  <Override PartName="/ppt/slides/slide50.xml" ContentType="application/vnd.openxmlformats-officedocument.presentationml.slide+xml"/>
  <Override PartName="/ppt/slides/slide61.xml" ContentType="application/vnd.openxmlformats-officedocument.presentationml.slide+xml"/>
  <Override PartName="/ppt/notesMasters/notesMaster1.xml" ContentType="application/vnd.openxmlformats-officedocument.presentationml.notesMaster+xml"/>
  <Override PartName="/ppt/slides/slide10.xml" ContentType="application/vnd.openxmlformats-officedocument.presentationml.slide+xml"/>
  <Override PartName="/ppt/slides/slide21.xml" ContentType="application/vnd.openxmlformats-officedocument.presentationml.slide+xml"/>
  <Override PartName="/ppt/tableStyles.xml" ContentType="application/vnd.openxmlformats-officedocument.presentationml.tableStyles+xml"/>
  <Override PartName="/ppt/notesSlides/notesSlide12.xml" ContentType="application/vnd.openxmlformats-officedocument.presentationml.notesSlide+xml"/>
  <Override PartName="/ppt/slides/slide99.xml" ContentType="application/vnd.openxmlformats-officedocument.presentationml.slide+xml"/>
  <Override PartName="/ppt/notesSlides/notesSlide7.xml" ContentType="application/vnd.openxmlformats-officedocument.presentationml.notesSlide+xml"/>
  <Override PartName="/ppt/slides/slide9.xml" ContentType="application/vnd.openxmlformats-officedocument.presentationml.slide+xml"/>
  <Override PartName="/ppt/slides/slide59.xml" ContentType="application/vnd.openxmlformats-officedocument.presentationml.slide+xml"/>
  <Override PartName="/ppt/slides/slide77.xml" ContentType="application/vnd.openxmlformats-officedocument.presentationml.slide+xml"/>
  <Override PartName="/ppt/slides/slide88.xml" ContentType="application/vnd.openxmlformats-officedocument.presentationml.slide+xml"/>
  <Override PartName="/ppt/viewProps.xml" ContentType="application/vnd.openxmlformats-officedocument.presentationml.viewProps+xml"/>
  <Override PartName="/ppt/slides/slide5.xml" ContentType="application/vnd.openxmlformats-officedocument.presentationml.slide+xml"/>
  <Override PartName="/ppt/slides/slide19.xml" ContentType="application/vnd.openxmlformats-officedocument.presentationml.slide+xml"/>
  <Override PartName="/ppt/slides/slide28.xml" ContentType="application/vnd.openxmlformats-officedocument.presentationml.slide+xml"/>
  <Override PartName="/ppt/slides/slide39.xml" ContentType="application/vnd.openxmlformats-officedocument.presentationml.slide+xml"/>
  <Override PartName="/ppt/slides/slide48.xml" ContentType="application/vnd.openxmlformats-officedocument.presentationml.slide+xml"/>
  <Override PartName="/ppt/slides/slide57.xml" ContentType="application/vnd.openxmlformats-officedocument.presentationml.slide+xml"/>
  <Override PartName="/ppt/slides/slide66.xml" ContentType="application/vnd.openxmlformats-officedocument.presentationml.slide+xml"/>
  <Override PartName="/ppt/slides/slide75.xml" ContentType="application/vnd.openxmlformats-officedocument.presentationml.slide+xml"/>
  <Override PartName="/ppt/slides/slide86.xml" ContentType="application/vnd.openxmlformats-officedocument.presentationml.slide+xml"/>
  <Override PartName="/ppt/slides/slide95.xml" ContentType="application/vnd.openxmlformats-officedocument.presentationml.slide+xml"/>
  <Override PartName="/ppt/slideLayouts/slideLayout7.xml" ContentType="application/vnd.openxmlformats-officedocument.presentationml.slideLayout+xml"/>
  <Default Extension="png" ContentType="image/png"/>
  <Override PartName="/ppt/notesSlides/notesSlide1.xml" ContentType="application/vnd.openxmlformats-officedocument.presentationml.notesSlide+xml"/>
  <Override PartName="/ppt/notesSlides/notesSlide3.xml" ContentType="application/vnd.openxmlformats-officedocument.presentationml.notesSlide+xml"/>
  <Default Extension="bin" ContentType="application/vnd.openxmlformats-officedocument.oleObject"/>
  <Override PartName="/ppt/slides/slide3.xml" ContentType="application/vnd.openxmlformats-officedocument.presentationml.slide+xml"/>
  <Override PartName="/ppt/slides/slide17.xml" ContentType="application/vnd.openxmlformats-officedocument.presentationml.slide+xml"/>
  <Override PartName="/ppt/slides/slide26.xml" ContentType="application/vnd.openxmlformats-officedocument.presentationml.slide+xml"/>
  <Override PartName="/ppt/slides/slide37.xml" ContentType="application/vnd.openxmlformats-officedocument.presentationml.slide+xml"/>
  <Override PartName="/ppt/slides/slide46.xml" ContentType="application/vnd.openxmlformats-officedocument.presentationml.slide+xml"/>
  <Override PartName="/ppt/slides/slide55.xml" ContentType="application/vnd.openxmlformats-officedocument.presentationml.slide+xml"/>
  <Override PartName="/ppt/slides/slide64.xml" ContentType="application/vnd.openxmlformats-officedocument.presentationml.slide+xml"/>
  <Override PartName="/ppt/slides/slide73.xml" ContentType="application/vnd.openxmlformats-officedocument.presentationml.slide+xml"/>
  <Override PartName="/ppt/slides/slide84.xml" ContentType="application/vnd.openxmlformats-officedocument.presentationml.slide+xml"/>
  <Override PartName="/ppt/slides/slide93.xml" ContentType="application/vnd.openxmlformats-officedocument.presentationml.slide+xml"/>
  <Override PartName="/ppt/presProps.xml" ContentType="application/vnd.openxmlformats-officedocument.presentationml.presProps+xml"/>
  <Override PartName="/ppt/slideLayouts/slideLayout5.xml" ContentType="application/vnd.openxmlformats-officedocument.presentationml.slideLayout+xml"/>
  <Override PartName="/ppt/theme/theme2.xml" ContentType="application/vnd.openxmlformats-officedocument.theme+xml"/>
  <Override PartName="/ppt/slides/slide1.xml" ContentType="application/vnd.openxmlformats-officedocument.presentationml.slide+xml"/>
  <Override PartName="/ppt/slides/slide15.xml" ContentType="application/vnd.openxmlformats-officedocument.presentationml.slide+xml"/>
  <Override PartName="/ppt/slides/slide24.xml" ContentType="application/vnd.openxmlformats-officedocument.presentationml.slide+xml"/>
  <Override PartName="/ppt/slides/slide33.xml" ContentType="application/vnd.openxmlformats-officedocument.presentationml.slide+xml"/>
  <Override PartName="/ppt/slides/slide35.xml" ContentType="application/vnd.openxmlformats-officedocument.presentationml.slide+xml"/>
  <Override PartName="/ppt/slides/slide44.xml" ContentType="application/vnd.openxmlformats-officedocument.presentationml.slide+xml"/>
  <Override PartName="/ppt/slides/slide53.xml" ContentType="application/vnd.openxmlformats-officedocument.presentationml.slide+xml"/>
  <Override PartName="/ppt/slides/slide62.xml" ContentType="application/vnd.openxmlformats-officedocument.presentationml.slide+xml"/>
  <Override PartName="/ppt/slides/slide71.xml" ContentType="application/vnd.openxmlformats-officedocument.presentationml.slide+xml"/>
  <Override PartName="/ppt/slides/slide80.xml" ContentType="application/vnd.openxmlformats-officedocument.presentationml.slide+xml"/>
  <Override PartName="/ppt/slides/slide82.xml" ContentType="application/vnd.openxmlformats-officedocument.presentationml.slide+xml"/>
  <Override PartName="/ppt/slides/slide91.xml" ContentType="application/vnd.openxmlformats-officedocument.presentationml.slide+xml"/>
  <Override PartName="/ppt/slideLayouts/slideLayout3.xml" ContentType="application/vnd.openxmlformats-officedocument.presentationml.slideLayout+xml"/>
  <Default Extension="jpeg" ContentType="image/jpeg"/>
  <Override PartName="/ppt/presentation.xml" ContentType="application/vnd.openxmlformats-officedocument.presentationml.presentation.main+xml"/>
  <Override PartName="/ppt/slides/slide13.xml" ContentType="application/vnd.openxmlformats-officedocument.presentationml.slide+xml"/>
  <Override PartName="/ppt/slides/slide22.xml" ContentType="application/vnd.openxmlformats-officedocument.presentationml.slide+xml"/>
  <Override PartName="/ppt/slides/slide31.xml" ContentType="application/vnd.openxmlformats-officedocument.presentationml.slide+xml"/>
  <Override PartName="/ppt/slides/slide42.xml" ContentType="application/vnd.openxmlformats-officedocument.presentationml.slide+xml"/>
  <Override PartName="/ppt/slides/slide51.xml" ContentType="application/vnd.openxmlformats-officedocument.presentationml.slide+xml"/>
  <Override PartName="/ppt/slides/slide60.xml" ContentType="application/vnd.openxmlformats-officedocument.presentationml.slide+xml"/>
  <Override PartName="/ppt/slideLayouts/slideLayout1.xml" ContentType="application/vnd.openxmlformats-officedocument.presentationml.slideLayout+xml"/>
  <Override PartName="/docProps/app.xml" ContentType="application/vnd.openxmlformats-officedocument.extended-properties+xml"/>
  <Override PartName="/ppt/slides/slide11.xml" ContentType="application/vnd.openxmlformats-officedocument.presentationml.slide+xml"/>
  <Override PartName="/ppt/slides/slide20.xml" ContentType="application/vnd.openxmlformats-officedocument.presentationml.slide+xml"/>
  <Override PartName="/ppt/slides/slide40.xml" ContentType="application/vnd.openxmlformats-officedocument.presentationml.slide+xml"/>
  <Override PartName="/ppt/slideLayouts/slideLayout10.xml" ContentType="application/vnd.openxmlformats-officedocument.presentationml.slideLayout+xml"/>
  <Default Extension="vml" ContentType="application/vnd.openxmlformats-officedocument.vmlDrawing"/>
  <Override PartName="/ppt/notesSlides/notesSlide8.xml" ContentType="application/vnd.openxmlformats-officedocument.presentationml.notesSlide+xml"/>
  <Override PartName="/ppt/notesSlides/notesSlide11.xml" ContentType="application/vnd.openxmlformats-officedocument.presentationml.notesSlide+xml"/>
  <Override PartName="/ppt/slides/slide89.xml" ContentType="application/vnd.openxmlformats-officedocument.presentationml.slide+xml"/>
  <Override PartName="/ppt/slides/slide98.xml" ContentType="application/vnd.openxmlformats-officedocument.presentationml.slide+xml"/>
  <Override PartName="/ppt/notesSlides/notesSlide6.xml" ContentType="application/vnd.openxmlformats-officedocument.presentationml.notesSlide+xml"/>
  <Override PartName="/ppt/slides/slide8.xml" ContentType="application/vnd.openxmlformats-officedocument.presentationml.slide+xml"/>
  <Override PartName="/ppt/slides/slide49.xml" ContentType="application/vnd.openxmlformats-officedocument.presentationml.slide+xml"/>
  <Override PartName="/ppt/slides/slide69.xml" ContentType="application/vnd.openxmlformats-officedocument.presentationml.slide+xml"/>
  <Override PartName="/ppt/slides/slide78.xml" ContentType="application/vnd.openxmlformats-officedocument.presentationml.slide+xml"/>
  <Override PartName="/ppt/slides/slide87.xml" ContentType="application/vnd.openxmlformats-officedocument.presentationml.slide+xml"/>
  <Override PartName="/ppt/slides/slide96.xml" ContentType="application/vnd.openxmlformats-officedocument.presentationml.slide+xml"/>
  <Override PartName="/ppt/handoutMasters/handoutMaster1.xml" ContentType="application/vnd.openxmlformats-officedocument.presentationml.handoutMaster+xml"/>
  <Override PartName="/ppt/notesSlides/notesSlide4.xml" ContentType="application/vnd.openxmlformats-officedocument.presentationml.notesSlide+xml"/>
  <Override PartName="/docProps/core.xml" ContentType="application/vnd.openxmlformats-package.core-properties+xml"/>
  <Override PartName="/ppt/slides/slide6.xml" ContentType="application/vnd.openxmlformats-officedocument.presentationml.slide+xml"/>
  <Override PartName="/ppt/slides/slide38.xml" ContentType="application/vnd.openxmlformats-officedocument.presentationml.slide+xml"/>
  <Override PartName="/ppt/slides/slide56.xml" ContentType="application/vnd.openxmlformats-officedocument.presentationml.slide+xml"/>
  <Override PartName="/ppt/slides/slide67.xml" ContentType="application/vnd.openxmlformats-officedocument.presentationml.slide+xml"/>
  <Override PartName="/ppt/slides/slide85.xml" ContentType="application/vnd.openxmlformats-officedocument.presentationml.slide+xml"/>
  <Override PartName="/ppt/slideLayouts/slideLayout8.xml" ContentType="application/vnd.openxmlformats-officedocument.presentationml.slideLayout+xml"/>
  <Override PartName="/ppt/slideMasters/slideMaster1.xml" ContentType="application/vnd.openxmlformats-officedocument.presentationml.slideMaster+xml"/>
  <Override PartName="/ppt/slides/slide27.xml" ContentType="application/vnd.openxmlformats-officedocument.presentationml.slide+xml"/>
  <Override PartName="/ppt/slides/slide45.xml" ContentType="application/vnd.openxmlformats-officedocument.presentationml.slide+xml"/>
  <Override PartName="/ppt/slides/slide74.xml" ContentType="application/vnd.openxmlformats-officedocument.presentationml.slide+xml"/>
  <Override PartName="/ppt/slides/slide92.xml" ContentType="application/vnd.openxmlformats-officedocument.presentationml.slide+xml"/>
  <Override PartName="/ppt/slideLayouts/slideLayout4.xml" ContentType="application/vnd.openxmlformats-officedocument.presentationml.slideLayout+xml"/>
  <Override PartName="/ppt/theme/theme3.xml" ContentType="application/vnd.openxmlformats-officedocument.theme+xml"/>
  <Override PartName="/ppt/slides/slide2.xml" ContentType="application/vnd.openxmlformats-officedocument.presentationml.slide+xml"/>
  <Override PartName="/ppt/slides/slide16.xml" ContentType="application/vnd.openxmlformats-officedocument.presentationml.slide+xml"/>
  <Override PartName="/ppt/slides/slide34.xml" ContentType="application/vnd.openxmlformats-officedocument.presentationml.slide+xml"/>
  <Override PartName="/ppt/slides/slide52.xml" ContentType="application/vnd.openxmlformats-officedocument.presentationml.slide+xml"/>
  <Override PartName="/ppt/slides/slide63.xml" ContentType="application/vnd.openxmlformats-officedocument.presentationml.slide+xml"/>
  <Override PartName="/ppt/slides/slide81.xml" ContentType="application/vnd.openxmlformats-officedocument.presentationml.slide+xml"/>
  <Override PartName="/ppt/slides/slide100.xml" ContentType="application/vnd.openxmlformats-officedocument.presentationml.slide+xml"/>
  <Default Extension="rels" ContentType="application/vnd.openxmlformats-package.relationships+xml"/>
  <Override PartName="/ppt/slides/slide23.xml" ContentType="application/vnd.openxmlformats-officedocument.presentationml.slide+xml"/>
  <Override PartName="/ppt/slides/slide41.xml" ContentType="application/vnd.openxmlformats-officedocument.presentationml.slide+xml"/>
  <Override PartName="/ppt/slides/slide70.xml" ContentType="application/vnd.openxmlformats-officedocument.presentationml.slide+xml"/>
  <Override PartName="/ppt/slides/slide12.xml" ContentType="application/vnd.openxmlformats-officedocument.presentationml.slide+xml"/>
  <Override PartName="/ppt/slides/slide30.xml" ContentType="application/vnd.openxmlformats-officedocument.presentationml.slide+xml"/>
  <Override PartName="/ppt/slideLayouts/slideLayout11.xml" ContentType="application/vnd.openxmlformats-officedocument.presentationml.slideLayout+xml"/>
  <Override PartName="/ppt/notesSlides/notesSlide9.xml" ContentType="application/vnd.openxmlformats-officedocument.presentationml.notesSlide+xml"/>
  <Override PartName="/ppt/slides/slide79.xml" ContentType="application/vnd.openxmlformats-officedocument.presentationml.slide+xml"/>
  <Override PartName="/ppt/notesSlides/notesSlide10.xml" ContentType="application/vnd.openxmlformats-officedocument.presentationml.notesSlide+xml"/>
  <Override PartName="/ppt/slides/slide7.xml" ContentType="application/vnd.openxmlformats-officedocument.presentationml.slide+xml"/>
  <Override PartName="/ppt/slides/slide68.xml" ContentType="application/vnd.openxmlformats-officedocument.presentationml.slide+xml"/>
  <Override PartName="/ppt/slides/slide97.xml" ContentType="application/vnd.openxmlformats-officedocument.presentationml.slide+xml"/>
  <Override PartName="/ppt/slideLayouts/slideLayout9.xml" ContentType="application/vnd.openxmlformats-officedocument.presentationml.slideLayout+xml"/>
  <Override PartName="/ppt/notesSlides/notesSlide5.xml" ContentType="application/vnd.openxmlformats-officedocument.presentationml.notesSlide+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p:sldMasterIdLst>
    <p:sldMasterId id="2147483673" r:id="rId1"/>
  </p:sldMasterIdLst>
  <p:notesMasterIdLst>
    <p:notesMasterId r:id="rId102"/>
  </p:notesMasterIdLst>
  <p:handoutMasterIdLst>
    <p:handoutMasterId r:id="rId103"/>
  </p:handoutMasterIdLst>
  <p:sldIdLst>
    <p:sldId id="256" r:id="rId2"/>
    <p:sldId id="510" r:id="rId3"/>
    <p:sldId id="511" r:id="rId4"/>
    <p:sldId id="512" r:id="rId5"/>
    <p:sldId id="514" r:id="rId6"/>
    <p:sldId id="494" r:id="rId7"/>
    <p:sldId id="257" r:id="rId8"/>
    <p:sldId id="495" r:id="rId9"/>
    <p:sldId id="454" r:id="rId10"/>
    <p:sldId id="496" r:id="rId11"/>
    <p:sldId id="460" r:id="rId12"/>
    <p:sldId id="497" r:id="rId13"/>
    <p:sldId id="457" r:id="rId14"/>
    <p:sldId id="456" r:id="rId15"/>
    <p:sldId id="458" r:id="rId16"/>
    <p:sldId id="455" r:id="rId17"/>
    <p:sldId id="521" r:id="rId18"/>
    <p:sldId id="522" r:id="rId19"/>
    <p:sldId id="498" r:id="rId20"/>
    <p:sldId id="500" r:id="rId21"/>
    <p:sldId id="461" r:id="rId22"/>
    <p:sldId id="462" r:id="rId23"/>
    <p:sldId id="501" r:id="rId24"/>
    <p:sldId id="502" r:id="rId25"/>
    <p:sldId id="491" r:id="rId26"/>
    <p:sldId id="503" r:id="rId27"/>
    <p:sldId id="504" r:id="rId28"/>
    <p:sldId id="463" r:id="rId29"/>
    <p:sldId id="506" r:id="rId30"/>
    <p:sldId id="464" r:id="rId31"/>
    <p:sldId id="505" r:id="rId32"/>
    <p:sldId id="465" r:id="rId33"/>
    <p:sldId id="516" r:id="rId34"/>
    <p:sldId id="507" r:id="rId35"/>
    <p:sldId id="466" r:id="rId36"/>
    <p:sldId id="508" r:id="rId37"/>
    <p:sldId id="467" r:id="rId38"/>
    <p:sldId id="468" r:id="rId39"/>
    <p:sldId id="469" r:id="rId40"/>
    <p:sldId id="475" r:id="rId41"/>
    <p:sldId id="470" r:id="rId42"/>
    <p:sldId id="471" r:id="rId43"/>
    <p:sldId id="519" r:id="rId44"/>
    <p:sldId id="476" r:id="rId45"/>
    <p:sldId id="477" r:id="rId46"/>
    <p:sldId id="478" r:id="rId47"/>
    <p:sldId id="479" r:id="rId48"/>
    <p:sldId id="480" r:id="rId49"/>
    <p:sldId id="481" r:id="rId50"/>
    <p:sldId id="482" r:id="rId51"/>
    <p:sldId id="484" r:id="rId52"/>
    <p:sldId id="485" r:id="rId53"/>
    <p:sldId id="486" r:id="rId54"/>
    <p:sldId id="487" r:id="rId55"/>
    <p:sldId id="488" r:id="rId56"/>
    <p:sldId id="489" r:id="rId57"/>
    <p:sldId id="474" r:id="rId58"/>
    <p:sldId id="524" r:id="rId59"/>
    <p:sldId id="547" r:id="rId60"/>
    <p:sldId id="548" r:id="rId61"/>
    <p:sldId id="525" r:id="rId62"/>
    <p:sldId id="526" r:id="rId63"/>
    <p:sldId id="527" r:id="rId64"/>
    <p:sldId id="528" r:id="rId65"/>
    <p:sldId id="549" r:id="rId66"/>
    <p:sldId id="550" r:id="rId67"/>
    <p:sldId id="551" r:id="rId68"/>
    <p:sldId id="552" r:id="rId69"/>
    <p:sldId id="553" r:id="rId70"/>
    <p:sldId id="529" r:id="rId71"/>
    <p:sldId id="530" r:id="rId72"/>
    <p:sldId id="531" r:id="rId73"/>
    <p:sldId id="532" r:id="rId74"/>
    <p:sldId id="533" r:id="rId75"/>
    <p:sldId id="554" r:id="rId76"/>
    <p:sldId id="534" r:id="rId77"/>
    <p:sldId id="535" r:id="rId78"/>
    <p:sldId id="536" r:id="rId79"/>
    <p:sldId id="557" r:id="rId80"/>
    <p:sldId id="555" r:id="rId81"/>
    <p:sldId id="556" r:id="rId82"/>
    <p:sldId id="558" r:id="rId83"/>
    <p:sldId id="543" r:id="rId84"/>
    <p:sldId id="544" r:id="rId85"/>
    <p:sldId id="545" r:id="rId86"/>
    <p:sldId id="562" r:id="rId87"/>
    <p:sldId id="559" r:id="rId88"/>
    <p:sldId id="560" r:id="rId89"/>
    <p:sldId id="546" r:id="rId90"/>
    <p:sldId id="561" r:id="rId91"/>
    <p:sldId id="564" r:id="rId92"/>
    <p:sldId id="567" r:id="rId93"/>
    <p:sldId id="565" r:id="rId94"/>
    <p:sldId id="569" r:id="rId95"/>
    <p:sldId id="570" r:id="rId96"/>
    <p:sldId id="572" r:id="rId97"/>
    <p:sldId id="574" r:id="rId98"/>
    <p:sldId id="576" r:id="rId99"/>
    <p:sldId id="577" r:id="rId100"/>
    <p:sldId id="578" r:id="rId101"/>
  </p:sldIdLst>
  <p:sldSz cx="9144000" cy="6858000" type="screen4x3"/>
  <p:notesSz cx="6669088" cy="9753600"/>
  <p:defaultTextStyle>
    <a:defPPr>
      <a:defRPr lang="en-US"/>
    </a:defPPr>
    <a:lvl1pPr algn="l" rtl="0" eaLnBrk="0" fontAlgn="base" hangingPunct="0">
      <a:spcBef>
        <a:spcPct val="0"/>
      </a:spcBef>
      <a:spcAft>
        <a:spcPct val="0"/>
      </a:spcAft>
      <a:defRPr sz="2400" kern="1200">
        <a:solidFill>
          <a:schemeClr val="tx1"/>
        </a:solidFill>
        <a:latin typeface="Times New Roman" charset="0"/>
        <a:ea typeface="+mn-ea"/>
        <a:cs typeface="+mn-cs"/>
      </a:defRPr>
    </a:lvl1pPr>
    <a:lvl2pPr marL="457200" algn="l" rtl="0" eaLnBrk="0" fontAlgn="base" hangingPunct="0">
      <a:spcBef>
        <a:spcPct val="0"/>
      </a:spcBef>
      <a:spcAft>
        <a:spcPct val="0"/>
      </a:spcAft>
      <a:defRPr sz="2400" kern="1200">
        <a:solidFill>
          <a:schemeClr val="tx1"/>
        </a:solidFill>
        <a:latin typeface="Times New Roman" charset="0"/>
        <a:ea typeface="+mn-ea"/>
        <a:cs typeface="+mn-cs"/>
      </a:defRPr>
    </a:lvl2pPr>
    <a:lvl3pPr marL="914400" algn="l" rtl="0" eaLnBrk="0" fontAlgn="base" hangingPunct="0">
      <a:spcBef>
        <a:spcPct val="0"/>
      </a:spcBef>
      <a:spcAft>
        <a:spcPct val="0"/>
      </a:spcAft>
      <a:defRPr sz="2400" kern="1200">
        <a:solidFill>
          <a:schemeClr val="tx1"/>
        </a:solidFill>
        <a:latin typeface="Times New Roman" charset="0"/>
        <a:ea typeface="+mn-ea"/>
        <a:cs typeface="+mn-cs"/>
      </a:defRPr>
    </a:lvl3pPr>
    <a:lvl4pPr marL="1371600" algn="l" rtl="0" eaLnBrk="0" fontAlgn="base" hangingPunct="0">
      <a:spcBef>
        <a:spcPct val="0"/>
      </a:spcBef>
      <a:spcAft>
        <a:spcPct val="0"/>
      </a:spcAft>
      <a:defRPr sz="2400" kern="1200">
        <a:solidFill>
          <a:schemeClr val="tx1"/>
        </a:solidFill>
        <a:latin typeface="Times New Roman" charset="0"/>
        <a:ea typeface="+mn-ea"/>
        <a:cs typeface="+mn-cs"/>
      </a:defRPr>
    </a:lvl4pPr>
    <a:lvl5pPr marL="1828800" algn="l" rtl="0" eaLnBrk="0" fontAlgn="base" hangingPunct="0">
      <a:spcBef>
        <a:spcPct val="0"/>
      </a:spcBef>
      <a:spcAft>
        <a:spcPct val="0"/>
      </a:spcAft>
      <a:defRPr sz="2400" kern="1200">
        <a:solidFill>
          <a:schemeClr val="tx1"/>
        </a:solidFill>
        <a:latin typeface="Times New Roman" charset="0"/>
        <a:ea typeface="+mn-ea"/>
        <a:cs typeface="+mn-cs"/>
      </a:defRPr>
    </a:lvl5pPr>
    <a:lvl6pPr marL="2286000" algn="l" defTabSz="914400" rtl="0" eaLnBrk="1" latinLnBrk="0" hangingPunct="1">
      <a:defRPr sz="2400" kern="1200">
        <a:solidFill>
          <a:schemeClr val="tx1"/>
        </a:solidFill>
        <a:latin typeface="Times New Roman" charset="0"/>
        <a:ea typeface="+mn-ea"/>
        <a:cs typeface="+mn-cs"/>
      </a:defRPr>
    </a:lvl6pPr>
    <a:lvl7pPr marL="2743200" algn="l" defTabSz="914400" rtl="0" eaLnBrk="1" latinLnBrk="0" hangingPunct="1">
      <a:defRPr sz="2400" kern="1200">
        <a:solidFill>
          <a:schemeClr val="tx1"/>
        </a:solidFill>
        <a:latin typeface="Times New Roman" charset="0"/>
        <a:ea typeface="+mn-ea"/>
        <a:cs typeface="+mn-cs"/>
      </a:defRPr>
    </a:lvl7pPr>
    <a:lvl8pPr marL="3200400" algn="l" defTabSz="914400" rtl="0" eaLnBrk="1" latinLnBrk="0" hangingPunct="1">
      <a:defRPr sz="2400" kern="1200">
        <a:solidFill>
          <a:schemeClr val="tx1"/>
        </a:solidFill>
        <a:latin typeface="Times New Roman" charset="0"/>
        <a:ea typeface="+mn-ea"/>
        <a:cs typeface="+mn-cs"/>
      </a:defRPr>
    </a:lvl8pPr>
    <a:lvl9pPr marL="3657600" algn="l" defTabSz="914400" rtl="0" eaLnBrk="1" latinLnBrk="0" hangingPunct="1">
      <a:defRPr sz="2400" kern="1200">
        <a:solidFill>
          <a:schemeClr val="tx1"/>
        </a:solidFill>
        <a:latin typeface="Times New Roman" charset="0"/>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99FF"/>
  </p:clrMru>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showOutlineIcons="0">
    <p:restoredLeft sz="32787"/>
    <p:restoredTop sz="90653" autoAdjust="0"/>
  </p:normalViewPr>
  <p:slideViewPr>
    <p:cSldViewPr>
      <p:cViewPr varScale="1">
        <p:scale>
          <a:sx n="62" d="100"/>
          <a:sy n="62" d="100"/>
        </p:scale>
        <p:origin x="-1254" y="-84"/>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66" d="100"/>
        <a:sy n="66" d="100"/>
      </p:scale>
      <p:origin x="0" y="0"/>
    </p:cViewPr>
  </p:sorterViewPr>
  <p:gridSpacing cx="78028800" cy="780288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slide" Target="slides/slide88.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07" Type="http://schemas.openxmlformats.org/officeDocument/2006/relationships/tableStyles" Target="tableStyles.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slide" Target="slides/slide65.xml"/><Relationship Id="rId74" Type="http://schemas.openxmlformats.org/officeDocument/2006/relationships/slide" Target="slides/slide73.xml"/><Relationship Id="rId79" Type="http://schemas.openxmlformats.org/officeDocument/2006/relationships/slide" Target="slides/slide78.xml"/><Relationship Id="rId87" Type="http://schemas.openxmlformats.org/officeDocument/2006/relationships/slide" Target="slides/slide86.xml"/><Relationship Id="rId102" Type="http://schemas.openxmlformats.org/officeDocument/2006/relationships/notesMaster" Target="notesMasters/notesMaster1.xml"/><Relationship Id="rId5" Type="http://schemas.openxmlformats.org/officeDocument/2006/relationships/slide" Target="slides/slide4.xml"/><Relationship Id="rId61" Type="http://schemas.openxmlformats.org/officeDocument/2006/relationships/slide" Target="slides/slide60.xml"/><Relationship Id="rId82" Type="http://schemas.openxmlformats.org/officeDocument/2006/relationships/slide" Target="slides/slide81.xml"/><Relationship Id="rId90" Type="http://schemas.openxmlformats.org/officeDocument/2006/relationships/slide" Target="slides/slide89.xml"/><Relationship Id="rId95" Type="http://schemas.openxmlformats.org/officeDocument/2006/relationships/slide" Target="slides/slide94.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slide" Target="slides/slide76.xml"/><Relationship Id="rId100" Type="http://schemas.openxmlformats.org/officeDocument/2006/relationships/slide" Target="slides/slide99.xml"/><Relationship Id="rId105" Type="http://schemas.openxmlformats.org/officeDocument/2006/relationships/viewProps" Target="viewProps.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openxmlformats.org/officeDocument/2006/relationships/slide" Target="slides/slide79.xml"/><Relationship Id="rId85" Type="http://schemas.openxmlformats.org/officeDocument/2006/relationships/slide" Target="slides/slide84.xml"/><Relationship Id="rId93" Type="http://schemas.openxmlformats.org/officeDocument/2006/relationships/slide" Target="slides/slide92.xml"/><Relationship Id="rId98" Type="http://schemas.openxmlformats.org/officeDocument/2006/relationships/slide" Target="slides/slide9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103" Type="http://schemas.openxmlformats.org/officeDocument/2006/relationships/handoutMaster" Target="handoutMasters/handoutMaster1.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slide" Target="slides/slide82.xml"/><Relationship Id="rId88" Type="http://schemas.openxmlformats.org/officeDocument/2006/relationships/slide" Target="slides/slide87.xml"/><Relationship Id="rId91" Type="http://schemas.openxmlformats.org/officeDocument/2006/relationships/slide" Target="slides/slide90.xml"/><Relationship Id="rId96" Type="http://schemas.openxmlformats.org/officeDocument/2006/relationships/slide" Target="slides/slide95.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6" Type="http://schemas.openxmlformats.org/officeDocument/2006/relationships/theme" Target="theme/theme1.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slide" Target="slides/slide85.xml"/><Relationship Id="rId94" Type="http://schemas.openxmlformats.org/officeDocument/2006/relationships/slide" Target="slides/slide93.xml"/><Relationship Id="rId99" Type="http://schemas.openxmlformats.org/officeDocument/2006/relationships/slide" Target="slides/slide98.xml"/><Relationship Id="rId101" Type="http://schemas.openxmlformats.org/officeDocument/2006/relationships/slide" Target="slides/slide100.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04" Type="http://schemas.openxmlformats.org/officeDocument/2006/relationships/presProps" Target="presProps.xml"/></Relationships>
</file>

<file path=ppt/drawings/_rels/vmlDrawing1.v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image" Target="../media/image6.png"/></Relationships>
</file>

<file path=ppt/drawings/_rels/vmlDrawing2.vml.rels><?xml version="1.0" encoding="UTF-8" standalone="yes"?>
<Relationships xmlns="http://schemas.openxmlformats.org/package/2006/relationships"><Relationship Id="rId1" Type="http://schemas.openxmlformats.org/officeDocument/2006/relationships/image" Target="../media/image8.png"/></Relationships>
</file>

<file path=ppt/drawings/_rels/vmlDrawing3.vml.rels><?xml version="1.0" encoding="UTF-8" standalone="yes"?>
<Relationships xmlns="http://schemas.openxmlformats.org/package/2006/relationships"><Relationship Id="rId1" Type="http://schemas.openxmlformats.org/officeDocument/2006/relationships/image" Target="../media/image9.png"/></Relationships>
</file>

<file path=ppt/drawings/_rels/vmlDrawing4.v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image" Target="../media/image10.png"/></Relationships>
</file>

<file path=ppt/drawings/_rels/vmlDrawing5.vml.rels><?xml version="1.0" encoding="UTF-8" standalone="yes"?>
<Relationships xmlns="http://schemas.openxmlformats.org/package/2006/relationships"><Relationship Id="rId1" Type="http://schemas.openxmlformats.org/officeDocument/2006/relationships/image" Target="../media/image12.png"/></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9698" name="Rectangle 2"/>
          <p:cNvSpPr>
            <a:spLocks noGrp="1" noChangeArrowheads="1"/>
          </p:cNvSpPr>
          <p:nvPr>
            <p:ph type="hdr" sz="quarter"/>
          </p:nvPr>
        </p:nvSpPr>
        <p:spPr bwMode="auto">
          <a:xfrm>
            <a:off x="0" y="0"/>
            <a:ext cx="2889938" cy="48768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defRPr sz="1200"/>
            </a:lvl1pPr>
          </a:lstStyle>
          <a:p>
            <a:pPr>
              <a:defRPr/>
            </a:pPr>
            <a:endParaRPr lang="en-US"/>
          </a:p>
        </p:txBody>
      </p:sp>
      <p:sp>
        <p:nvSpPr>
          <p:cNvPr id="29699" name="Rectangle 3"/>
          <p:cNvSpPr>
            <a:spLocks noGrp="1" noChangeArrowheads="1"/>
          </p:cNvSpPr>
          <p:nvPr>
            <p:ph type="dt" sz="quarter" idx="1"/>
          </p:nvPr>
        </p:nvSpPr>
        <p:spPr bwMode="auto">
          <a:xfrm>
            <a:off x="3779150" y="0"/>
            <a:ext cx="2889938" cy="48768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defRPr sz="1200"/>
            </a:lvl1pPr>
          </a:lstStyle>
          <a:p>
            <a:pPr>
              <a:defRPr/>
            </a:pPr>
            <a:endParaRPr lang="en-US"/>
          </a:p>
        </p:txBody>
      </p:sp>
      <p:sp>
        <p:nvSpPr>
          <p:cNvPr id="29700" name="Rectangle 4"/>
          <p:cNvSpPr>
            <a:spLocks noGrp="1" noChangeArrowheads="1"/>
          </p:cNvSpPr>
          <p:nvPr>
            <p:ph type="ftr" sz="quarter" idx="2"/>
          </p:nvPr>
        </p:nvSpPr>
        <p:spPr bwMode="auto">
          <a:xfrm>
            <a:off x="0" y="9265920"/>
            <a:ext cx="2889938" cy="48768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defRPr sz="1200"/>
            </a:lvl1pPr>
          </a:lstStyle>
          <a:p>
            <a:pPr>
              <a:defRPr/>
            </a:pPr>
            <a:endParaRPr lang="en-US"/>
          </a:p>
        </p:txBody>
      </p:sp>
      <p:sp>
        <p:nvSpPr>
          <p:cNvPr id="29701" name="Rectangle 5"/>
          <p:cNvSpPr>
            <a:spLocks noGrp="1" noChangeArrowheads="1"/>
          </p:cNvSpPr>
          <p:nvPr>
            <p:ph type="sldNum" sz="quarter" idx="3"/>
          </p:nvPr>
        </p:nvSpPr>
        <p:spPr bwMode="auto">
          <a:xfrm>
            <a:off x="3779150" y="9265920"/>
            <a:ext cx="2889938" cy="48768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a:defRPr sz="1200"/>
            </a:lvl1pPr>
          </a:lstStyle>
          <a:p>
            <a:pPr>
              <a:defRPr/>
            </a:pPr>
            <a:fld id="{9FBF3D6F-3548-4B20-A674-39E5A1B9981A}" type="slidenum">
              <a:rPr lang="en-US"/>
              <a:pPr>
                <a:defRPr/>
              </a:pPr>
              <a:t>‹#›</a:t>
            </a:fld>
            <a:endParaRPr lang="en-US"/>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9570" name="Rectangle 2"/>
          <p:cNvSpPr>
            <a:spLocks noGrp="1" noChangeArrowheads="1"/>
          </p:cNvSpPr>
          <p:nvPr>
            <p:ph type="hdr" sz="quarter"/>
          </p:nvPr>
        </p:nvSpPr>
        <p:spPr bwMode="auto">
          <a:xfrm>
            <a:off x="0" y="0"/>
            <a:ext cx="2889938" cy="48768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defRPr sz="1200" i="1"/>
            </a:lvl1pPr>
          </a:lstStyle>
          <a:p>
            <a:pPr>
              <a:defRPr/>
            </a:pPr>
            <a:endParaRPr lang="en-US"/>
          </a:p>
        </p:txBody>
      </p:sp>
      <p:sp>
        <p:nvSpPr>
          <p:cNvPr id="109571" name="Rectangle 3"/>
          <p:cNvSpPr>
            <a:spLocks noGrp="1" noChangeArrowheads="1"/>
          </p:cNvSpPr>
          <p:nvPr>
            <p:ph type="dt" idx="1"/>
          </p:nvPr>
        </p:nvSpPr>
        <p:spPr bwMode="auto">
          <a:xfrm>
            <a:off x="3779150" y="0"/>
            <a:ext cx="2889938" cy="48768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defRPr sz="1200" i="1"/>
            </a:lvl1pPr>
          </a:lstStyle>
          <a:p>
            <a:pPr>
              <a:defRPr/>
            </a:pPr>
            <a:endParaRPr lang="en-US"/>
          </a:p>
        </p:txBody>
      </p:sp>
      <p:sp>
        <p:nvSpPr>
          <p:cNvPr id="100356" name="Rectangle 4"/>
          <p:cNvSpPr>
            <a:spLocks noGrp="1" noRot="1" noChangeAspect="1" noChangeArrowheads="1" noTextEdit="1"/>
          </p:cNvSpPr>
          <p:nvPr>
            <p:ph type="sldImg" idx="2"/>
          </p:nvPr>
        </p:nvSpPr>
        <p:spPr bwMode="auto">
          <a:xfrm>
            <a:off x="896938" y="731838"/>
            <a:ext cx="4875212" cy="3657600"/>
          </a:xfrm>
          <a:prstGeom prst="rect">
            <a:avLst/>
          </a:prstGeom>
          <a:noFill/>
          <a:ln w="9525">
            <a:solidFill>
              <a:srgbClr val="000000"/>
            </a:solidFill>
            <a:miter lim="800000"/>
            <a:headEnd/>
            <a:tailEnd/>
          </a:ln>
        </p:spPr>
      </p:sp>
      <p:sp>
        <p:nvSpPr>
          <p:cNvPr id="109573" name="Rectangle 5"/>
          <p:cNvSpPr>
            <a:spLocks noGrp="1" noChangeArrowheads="1"/>
          </p:cNvSpPr>
          <p:nvPr>
            <p:ph type="body" sz="quarter" idx="3"/>
          </p:nvPr>
        </p:nvSpPr>
        <p:spPr bwMode="auto">
          <a:xfrm>
            <a:off x="889212" y="4632960"/>
            <a:ext cx="4890665" cy="438912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lvl="0"/>
            <a:r>
              <a:rPr lang="en-US" noProof="0" smtClean="0"/>
              <a:t>Click to edit Master text styles</a:t>
            </a:r>
          </a:p>
          <a:p>
            <a:pPr lvl="1"/>
            <a:r>
              <a:rPr lang="en-US" noProof="0" smtClean="0"/>
              <a:t>Second level</a:t>
            </a:r>
          </a:p>
          <a:p>
            <a:pPr lvl="2"/>
            <a:r>
              <a:rPr lang="en-US" noProof="0" smtClean="0"/>
              <a:t>Third level</a:t>
            </a:r>
          </a:p>
          <a:p>
            <a:pPr lvl="3"/>
            <a:r>
              <a:rPr lang="en-US" noProof="0" smtClean="0"/>
              <a:t>Fourth level</a:t>
            </a:r>
          </a:p>
          <a:p>
            <a:pPr lvl="4"/>
            <a:r>
              <a:rPr lang="en-US" noProof="0" smtClean="0"/>
              <a:t>Fifth level</a:t>
            </a:r>
          </a:p>
        </p:txBody>
      </p:sp>
      <p:sp>
        <p:nvSpPr>
          <p:cNvPr id="109574" name="Rectangle 6"/>
          <p:cNvSpPr>
            <a:spLocks noGrp="1" noChangeArrowheads="1"/>
          </p:cNvSpPr>
          <p:nvPr>
            <p:ph type="ftr" sz="quarter" idx="4"/>
          </p:nvPr>
        </p:nvSpPr>
        <p:spPr bwMode="auto">
          <a:xfrm>
            <a:off x="0" y="9265920"/>
            <a:ext cx="2889938" cy="48768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defRPr sz="1200" i="1"/>
            </a:lvl1pPr>
          </a:lstStyle>
          <a:p>
            <a:pPr>
              <a:defRPr/>
            </a:pPr>
            <a:endParaRPr lang="en-US"/>
          </a:p>
        </p:txBody>
      </p:sp>
      <p:sp>
        <p:nvSpPr>
          <p:cNvPr id="109575" name="Rectangle 7"/>
          <p:cNvSpPr>
            <a:spLocks noGrp="1" noChangeArrowheads="1"/>
          </p:cNvSpPr>
          <p:nvPr>
            <p:ph type="sldNum" sz="quarter" idx="5"/>
          </p:nvPr>
        </p:nvSpPr>
        <p:spPr bwMode="auto">
          <a:xfrm>
            <a:off x="3779150" y="9265920"/>
            <a:ext cx="2889938" cy="48768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a:defRPr sz="1200" i="1"/>
            </a:lvl1pPr>
          </a:lstStyle>
          <a:p>
            <a:pPr>
              <a:defRPr/>
            </a:pPr>
            <a:fld id="{D0260C7C-F17D-4829-AFD1-BD71E0C79042}" type="slidenum">
              <a:rPr lang="en-US"/>
              <a:pPr>
                <a:defRPr/>
              </a:pPr>
              <a:t>‹#›</a:t>
            </a:fld>
            <a:endParaRPr lang="en-US"/>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kumimoji="1" sz="1200" kern="1200">
        <a:solidFill>
          <a:schemeClr val="tx1"/>
        </a:solidFill>
        <a:latin typeface="Times New Roman" charset="0"/>
        <a:ea typeface="+mn-ea"/>
        <a:cs typeface="+mn-cs"/>
      </a:defRPr>
    </a:lvl1pPr>
    <a:lvl2pPr marL="457200" algn="l" rtl="0" eaLnBrk="0" fontAlgn="base" hangingPunct="0">
      <a:spcBef>
        <a:spcPct val="30000"/>
      </a:spcBef>
      <a:spcAft>
        <a:spcPct val="0"/>
      </a:spcAft>
      <a:defRPr kumimoji="1" sz="1200" kern="1200">
        <a:solidFill>
          <a:schemeClr val="tx1"/>
        </a:solidFill>
        <a:latin typeface="Times New Roman" charset="0"/>
        <a:ea typeface="+mn-ea"/>
        <a:cs typeface="+mn-cs"/>
      </a:defRPr>
    </a:lvl2pPr>
    <a:lvl3pPr marL="914400" algn="l" rtl="0" eaLnBrk="0" fontAlgn="base" hangingPunct="0">
      <a:spcBef>
        <a:spcPct val="30000"/>
      </a:spcBef>
      <a:spcAft>
        <a:spcPct val="0"/>
      </a:spcAft>
      <a:defRPr kumimoji="1" sz="1200" kern="1200">
        <a:solidFill>
          <a:schemeClr val="tx1"/>
        </a:solidFill>
        <a:latin typeface="Times New Roman" charset="0"/>
        <a:ea typeface="+mn-ea"/>
        <a:cs typeface="+mn-cs"/>
      </a:defRPr>
    </a:lvl3pPr>
    <a:lvl4pPr marL="1371600" algn="l" rtl="0" eaLnBrk="0" fontAlgn="base" hangingPunct="0">
      <a:spcBef>
        <a:spcPct val="30000"/>
      </a:spcBef>
      <a:spcAft>
        <a:spcPct val="0"/>
      </a:spcAft>
      <a:defRPr kumimoji="1" sz="1200" kern="1200">
        <a:solidFill>
          <a:schemeClr val="tx1"/>
        </a:solidFill>
        <a:latin typeface="Times New Roman" charset="0"/>
        <a:ea typeface="+mn-ea"/>
        <a:cs typeface="+mn-cs"/>
      </a:defRPr>
    </a:lvl4pPr>
    <a:lvl5pPr marL="1828800" algn="l" rtl="0" eaLnBrk="0" fontAlgn="base" hangingPunct="0">
      <a:spcBef>
        <a:spcPct val="30000"/>
      </a:spcBef>
      <a:spcAft>
        <a:spcPct val="0"/>
      </a:spcAft>
      <a:defRPr kumimoji="1" sz="1200" kern="1200">
        <a:solidFill>
          <a:schemeClr val="tx1"/>
        </a:solidFill>
        <a:latin typeface="Times New Roman"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7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90.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94.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5.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6.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7.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98.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99.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0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378" name="Slide Image Placeholder 1"/>
          <p:cNvSpPr>
            <a:spLocks noGrp="1" noRot="1" noChangeAspect="1" noTextEdit="1"/>
          </p:cNvSpPr>
          <p:nvPr>
            <p:ph type="sldImg"/>
          </p:nvPr>
        </p:nvSpPr>
        <p:spPr>
          <a:ln/>
        </p:spPr>
      </p:sp>
      <p:sp>
        <p:nvSpPr>
          <p:cNvPr id="101379" name="Notes Placeholder 2"/>
          <p:cNvSpPr>
            <a:spLocks noGrp="1"/>
          </p:cNvSpPr>
          <p:nvPr>
            <p:ph type="body" idx="1"/>
          </p:nvPr>
        </p:nvSpPr>
        <p:spPr>
          <a:noFill/>
          <a:ln/>
        </p:spPr>
        <p:txBody>
          <a:bodyPr/>
          <a:lstStyle/>
          <a:p>
            <a:endParaRPr lang="en-US" smtClean="0"/>
          </a:p>
        </p:txBody>
      </p:sp>
      <p:sp>
        <p:nvSpPr>
          <p:cNvPr id="101380" name="Slide Number Placeholder 3"/>
          <p:cNvSpPr>
            <a:spLocks noGrp="1"/>
          </p:cNvSpPr>
          <p:nvPr>
            <p:ph type="sldNum" sz="quarter" idx="5"/>
          </p:nvPr>
        </p:nvSpPr>
        <p:spPr>
          <a:noFill/>
        </p:spPr>
        <p:txBody>
          <a:bodyPr/>
          <a:lstStyle/>
          <a:p>
            <a:fld id="{9458C972-DA38-4A9C-9A02-43583990560A}" type="slidenum">
              <a:rPr lang="en-US" smtClean="0"/>
              <a:pPr/>
              <a:t>31</a:t>
            </a:fld>
            <a:endParaRPr lang="en-US" smtClean="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02" name="Slide Image Placeholder 1"/>
          <p:cNvSpPr>
            <a:spLocks noGrp="1" noRot="1" noChangeAspect="1" noTextEdit="1"/>
          </p:cNvSpPr>
          <p:nvPr>
            <p:ph type="sldImg"/>
          </p:nvPr>
        </p:nvSpPr>
        <p:spPr>
          <a:ln/>
        </p:spPr>
      </p:sp>
      <p:sp>
        <p:nvSpPr>
          <p:cNvPr id="102403" name="Notes Placeholder 2"/>
          <p:cNvSpPr>
            <a:spLocks noGrp="1"/>
          </p:cNvSpPr>
          <p:nvPr>
            <p:ph type="body" idx="1"/>
          </p:nvPr>
        </p:nvSpPr>
        <p:spPr>
          <a:noFill/>
          <a:ln/>
        </p:spPr>
        <p:txBody>
          <a:bodyPr/>
          <a:lstStyle/>
          <a:p>
            <a:endParaRPr lang="en-US" smtClean="0"/>
          </a:p>
        </p:txBody>
      </p:sp>
      <p:sp>
        <p:nvSpPr>
          <p:cNvPr id="102404" name="Slide Number Placeholder 3"/>
          <p:cNvSpPr>
            <a:spLocks noGrp="1"/>
          </p:cNvSpPr>
          <p:nvPr>
            <p:ph type="sldNum" sz="quarter" idx="5"/>
          </p:nvPr>
        </p:nvSpPr>
        <p:spPr>
          <a:noFill/>
        </p:spPr>
        <p:txBody>
          <a:bodyPr/>
          <a:lstStyle/>
          <a:p>
            <a:fld id="{2CEFDE0D-A54A-4EE4-B233-5F6220B0CD9A}" type="slidenum">
              <a:rPr lang="en-US" smtClean="0"/>
              <a:pPr/>
              <a:t>44</a:t>
            </a:fld>
            <a:endParaRPr lang="en-US" smtClean="0"/>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3426" name="Slide Image Placeholder 1"/>
          <p:cNvSpPr>
            <a:spLocks noGrp="1" noRot="1" noChangeAspect="1" noTextEdit="1"/>
          </p:cNvSpPr>
          <p:nvPr>
            <p:ph type="sldImg"/>
          </p:nvPr>
        </p:nvSpPr>
        <p:spPr>
          <a:ln/>
        </p:spPr>
      </p:sp>
      <p:sp>
        <p:nvSpPr>
          <p:cNvPr id="103427" name="Notes Placeholder 2"/>
          <p:cNvSpPr>
            <a:spLocks noGrp="1"/>
          </p:cNvSpPr>
          <p:nvPr>
            <p:ph type="body" idx="1"/>
          </p:nvPr>
        </p:nvSpPr>
        <p:spPr>
          <a:noFill/>
          <a:ln/>
        </p:spPr>
        <p:txBody>
          <a:bodyPr/>
          <a:lstStyle/>
          <a:p>
            <a:endParaRPr lang="en-US" smtClean="0"/>
          </a:p>
        </p:txBody>
      </p:sp>
      <p:sp>
        <p:nvSpPr>
          <p:cNvPr id="103428" name="Slide Number Placeholder 3"/>
          <p:cNvSpPr>
            <a:spLocks noGrp="1"/>
          </p:cNvSpPr>
          <p:nvPr>
            <p:ph type="sldNum" sz="quarter" idx="5"/>
          </p:nvPr>
        </p:nvSpPr>
        <p:spPr>
          <a:noFill/>
        </p:spPr>
        <p:txBody>
          <a:bodyPr/>
          <a:lstStyle/>
          <a:p>
            <a:fld id="{626679C7-C1E7-410D-82C3-6B2F13C14FD1}" type="slidenum">
              <a:rPr lang="en-US" smtClean="0"/>
              <a:pPr/>
              <a:t>55</a:t>
            </a:fld>
            <a:endParaRPr lang="en-US" smtClean="0"/>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450" name="Slide Image Placeholder 1"/>
          <p:cNvSpPr>
            <a:spLocks noGrp="1" noRot="1" noChangeAspect="1" noTextEdit="1"/>
          </p:cNvSpPr>
          <p:nvPr>
            <p:ph type="sldImg"/>
          </p:nvPr>
        </p:nvSpPr>
        <p:spPr>
          <a:ln/>
        </p:spPr>
      </p:sp>
      <p:sp>
        <p:nvSpPr>
          <p:cNvPr id="104451" name="Notes Placeholder 2"/>
          <p:cNvSpPr>
            <a:spLocks noGrp="1"/>
          </p:cNvSpPr>
          <p:nvPr>
            <p:ph type="body" idx="1"/>
          </p:nvPr>
        </p:nvSpPr>
        <p:spPr>
          <a:noFill/>
          <a:ln/>
        </p:spPr>
        <p:txBody>
          <a:bodyPr/>
          <a:lstStyle/>
          <a:p>
            <a:endParaRPr lang="en-US" smtClean="0"/>
          </a:p>
        </p:txBody>
      </p:sp>
      <p:sp>
        <p:nvSpPr>
          <p:cNvPr id="104452" name="Slide Number Placeholder 3"/>
          <p:cNvSpPr>
            <a:spLocks noGrp="1"/>
          </p:cNvSpPr>
          <p:nvPr>
            <p:ph type="sldNum" sz="quarter" idx="5"/>
          </p:nvPr>
        </p:nvSpPr>
        <p:spPr>
          <a:noFill/>
        </p:spPr>
        <p:txBody>
          <a:bodyPr/>
          <a:lstStyle/>
          <a:p>
            <a:fld id="{389CF45A-0EBA-4163-B9BF-BC5A6B34C10C}" type="slidenum">
              <a:rPr lang="en-US" smtClean="0"/>
              <a:pPr/>
              <a:t>74</a:t>
            </a:fld>
            <a:endParaRPr lang="en-US" smtClean="0"/>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474" name="Slide Image Placeholder 1"/>
          <p:cNvSpPr>
            <a:spLocks noGrp="1" noRot="1" noChangeAspect="1" noTextEdit="1"/>
          </p:cNvSpPr>
          <p:nvPr>
            <p:ph type="sldImg"/>
          </p:nvPr>
        </p:nvSpPr>
        <p:spPr>
          <a:ln/>
        </p:spPr>
      </p:sp>
      <p:sp>
        <p:nvSpPr>
          <p:cNvPr id="105475" name="Notes Placeholder 2"/>
          <p:cNvSpPr>
            <a:spLocks noGrp="1"/>
          </p:cNvSpPr>
          <p:nvPr>
            <p:ph type="body" idx="1"/>
          </p:nvPr>
        </p:nvSpPr>
        <p:spPr>
          <a:noFill/>
          <a:ln/>
        </p:spPr>
        <p:txBody>
          <a:bodyPr/>
          <a:lstStyle/>
          <a:p>
            <a:endParaRPr lang="en-US" smtClean="0"/>
          </a:p>
        </p:txBody>
      </p:sp>
      <p:sp>
        <p:nvSpPr>
          <p:cNvPr id="105476" name="Slide Number Placeholder 3"/>
          <p:cNvSpPr>
            <a:spLocks noGrp="1"/>
          </p:cNvSpPr>
          <p:nvPr>
            <p:ph type="sldNum" sz="quarter" idx="5"/>
          </p:nvPr>
        </p:nvSpPr>
        <p:spPr>
          <a:noFill/>
        </p:spPr>
        <p:txBody>
          <a:bodyPr/>
          <a:lstStyle/>
          <a:p>
            <a:fld id="{2E1B8B6A-C750-4829-8701-52502F946E3C}" type="slidenum">
              <a:rPr lang="en-US" smtClean="0"/>
              <a:pPr/>
              <a:t>90</a:t>
            </a:fld>
            <a:endParaRPr lang="en-US" smtClean="0"/>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90" name="Rectangle 6"/>
          <p:cNvSpPr>
            <a:spLocks noGrp="1" noChangeArrowheads="1"/>
          </p:cNvSpPr>
          <p:nvPr>
            <p:ph type="ftr" sz="quarter" idx="4"/>
          </p:nvPr>
        </p:nvSpPr>
        <p:spPr>
          <a:noFill/>
        </p:spPr>
        <p:txBody>
          <a:bodyPr/>
          <a:lstStyle/>
          <a:p>
            <a:r>
              <a:rPr lang="en-US"/>
              <a:t>Dr. KANUPRIYA CHATURVEDI</a:t>
            </a:r>
          </a:p>
        </p:txBody>
      </p:sp>
      <p:sp>
        <p:nvSpPr>
          <p:cNvPr id="63491" name="Rectangle 7"/>
          <p:cNvSpPr>
            <a:spLocks noGrp="1" noChangeArrowheads="1"/>
          </p:cNvSpPr>
          <p:nvPr>
            <p:ph type="sldNum" sz="quarter" idx="5"/>
          </p:nvPr>
        </p:nvSpPr>
        <p:spPr>
          <a:noFill/>
        </p:spPr>
        <p:txBody>
          <a:bodyPr/>
          <a:lstStyle/>
          <a:p>
            <a:fld id="{EB7DBF2E-4DE3-477E-8A7F-423C0D507AEB}" type="slidenum">
              <a:rPr lang="en-US"/>
              <a:pPr/>
              <a:t>94</a:t>
            </a:fld>
            <a:endParaRPr lang="en-US"/>
          </a:p>
        </p:txBody>
      </p:sp>
      <p:sp>
        <p:nvSpPr>
          <p:cNvPr id="63492" name="Rectangle 2"/>
          <p:cNvSpPr>
            <a:spLocks noGrp="1" noRot="1" noChangeAspect="1" noChangeArrowheads="1" noTextEdit="1"/>
          </p:cNvSpPr>
          <p:nvPr>
            <p:ph type="sldImg"/>
          </p:nvPr>
        </p:nvSpPr>
        <p:spPr>
          <a:ln/>
        </p:spPr>
      </p:sp>
      <p:sp>
        <p:nvSpPr>
          <p:cNvPr id="63493" name="Rectangle 3"/>
          <p:cNvSpPr>
            <a:spLocks noGrp="1" noChangeArrowheads="1"/>
          </p:cNvSpPr>
          <p:nvPr>
            <p:ph type="body" idx="1"/>
          </p:nvPr>
        </p:nvSpPr>
        <p:spPr>
          <a:noFill/>
          <a:ln/>
        </p:spPr>
        <p:txBody>
          <a:bodyPr/>
          <a:lstStyle/>
          <a:p>
            <a:pPr eaLnBrk="1" hangingPunct="1"/>
            <a:endParaRPr lang="en-US" smtClean="0"/>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4" name="Rectangle 6"/>
          <p:cNvSpPr>
            <a:spLocks noGrp="1" noChangeArrowheads="1"/>
          </p:cNvSpPr>
          <p:nvPr>
            <p:ph type="ftr" sz="quarter" idx="4"/>
          </p:nvPr>
        </p:nvSpPr>
        <p:spPr>
          <a:noFill/>
        </p:spPr>
        <p:txBody>
          <a:bodyPr/>
          <a:lstStyle/>
          <a:p>
            <a:r>
              <a:rPr lang="en-US"/>
              <a:t>Dr. KANUPRIYA CHATURVEDI</a:t>
            </a:r>
          </a:p>
        </p:txBody>
      </p:sp>
      <p:sp>
        <p:nvSpPr>
          <p:cNvPr id="64515" name="Rectangle 7"/>
          <p:cNvSpPr>
            <a:spLocks noGrp="1" noChangeArrowheads="1"/>
          </p:cNvSpPr>
          <p:nvPr>
            <p:ph type="sldNum" sz="quarter" idx="5"/>
          </p:nvPr>
        </p:nvSpPr>
        <p:spPr>
          <a:noFill/>
        </p:spPr>
        <p:txBody>
          <a:bodyPr/>
          <a:lstStyle/>
          <a:p>
            <a:fld id="{E553C5BE-F8C4-449F-871A-DFD8C96C9176}" type="slidenum">
              <a:rPr lang="en-US"/>
              <a:pPr/>
              <a:t>95</a:t>
            </a:fld>
            <a:endParaRPr lang="en-US"/>
          </a:p>
        </p:txBody>
      </p:sp>
      <p:sp>
        <p:nvSpPr>
          <p:cNvPr id="64516" name="Rectangle 2"/>
          <p:cNvSpPr>
            <a:spLocks noGrp="1" noRot="1" noChangeAspect="1" noChangeArrowheads="1" noTextEdit="1"/>
          </p:cNvSpPr>
          <p:nvPr>
            <p:ph type="sldImg"/>
          </p:nvPr>
        </p:nvSpPr>
        <p:spPr>
          <a:ln/>
        </p:spPr>
      </p:sp>
      <p:sp>
        <p:nvSpPr>
          <p:cNvPr id="64517" name="Rectangle 3"/>
          <p:cNvSpPr>
            <a:spLocks noGrp="1" noChangeArrowheads="1"/>
          </p:cNvSpPr>
          <p:nvPr>
            <p:ph type="body" idx="1"/>
          </p:nvPr>
        </p:nvSpPr>
        <p:spPr>
          <a:noFill/>
          <a:ln/>
        </p:spPr>
        <p:txBody>
          <a:bodyPr/>
          <a:lstStyle/>
          <a:p>
            <a:pPr eaLnBrk="1" hangingPunct="1"/>
            <a:endParaRPr lang="en-US" smtClean="0"/>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8" name="Rectangle 6"/>
          <p:cNvSpPr>
            <a:spLocks noGrp="1" noChangeArrowheads="1"/>
          </p:cNvSpPr>
          <p:nvPr>
            <p:ph type="ftr" sz="quarter" idx="4"/>
          </p:nvPr>
        </p:nvSpPr>
        <p:spPr>
          <a:noFill/>
        </p:spPr>
        <p:txBody>
          <a:bodyPr/>
          <a:lstStyle/>
          <a:p>
            <a:r>
              <a:rPr lang="en-US"/>
              <a:t>Dr. KANUPRIYA CHATURVEDI</a:t>
            </a:r>
          </a:p>
        </p:txBody>
      </p:sp>
      <p:sp>
        <p:nvSpPr>
          <p:cNvPr id="65539" name="Rectangle 7"/>
          <p:cNvSpPr>
            <a:spLocks noGrp="1" noChangeArrowheads="1"/>
          </p:cNvSpPr>
          <p:nvPr>
            <p:ph type="sldNum" sz="quarter" idx="5"/>
          </p:nvPr>
        </p:nvSpPr>
        <p:spPr>
          <a:noFill/>
        </p:spPr>
        <p:txBody>
          <a:bodyPr/>
          <a:lstStyle/>
          <a:p>
            <a:fld id="{C0DD97BB-5FD9-403C-A79A-9CBD26D1019C}" type="slidenum">
              <a:rPr lang="en-US"/>
              <a:pPr/>
              <a:t>96</a:t>
            </a:fld>
            <a:endParaRPr lang="en-US"/>
          </a:p>
        </p:txBody>
      </p:sp>
      <p:sp>
        <p:nvSpPr>
          <p:cNvPr id="65540" name="Rectangle 2"/>
          <p:cNvSpPr>
            <a:spLocks noGrp="1" noRot="1" noChangeAspect="1" noChangeArrowheads="1" noTextEdit="1"/>
          </p:cNvSpPr>
          <p:nvPr>
            <p:ph type="sldImg"/>
          </p:nvPr>
        </p:nvSpPr>
        <p:spPr>
          <a:ln/>
        </p:spPr>
      </p:sp>
      <p:sp>
        <p:nvSpPr>
          <p:cNvPr id="65541" name="Rectangle 3"/>
          <p:cNvSpPr>
            <a:spLocks noGrp="1" noChangeArrowheads="1"/>
          </p:cNvSpPr>
          <p:nvPr>
            <p:ph type="body" idx="1"/>
          </p:nvPr>
        </p:nvSpPr>
        <p:spPr>
          <a:xfrm>
            <a:off x="666909" y="4958080"/>
            <a:ext cx="5335270" cy="4064000"/>
          </a:xfrm>
          <a:noFill/>
          <a:ln/>
        </p:spPr>
        <p:txBody>
          <a:bodyPr/>
          <a:lstStyle/>
          <a:p>
            <a:pPr eaLnBrk="1" hangingPunct="1"/>
            <a:r>
              <a:rPr lang="en-US" smtClean="0">
                <a:latin typeface="Tahoma" pitchFamily="34" charset="0"/>
              </a:rPr>
              <a:t>Increasing virulence of microbes like Influenza A virus, which exhibits frequent changes in its antigenic structure giving rise to new strains with endemic and pandemic propensities.</a:t>
            </a: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Rectangle 6"/>
          <p:cNvSpPr>
            <a:spLocks noGrp="1" noChangeArrowheads="1"/>
          </p:cNvSpPr>
          <p:nvPr>
            <p:ph type="ftr" sz="quarter" idx="4"/>
          </p:nvPr>
        </p:nvSpPr>
        <p:spPr>
          <a:noFill/>
        </p:spPr>
        <p:txBody>
          <a:bodyPr/>
          <a:lstStyle/>
          <a:p>
            <a:r>
              <a:rPr lang="en-US"/>
              <a:t>Dr. KANUPRIYA CHATURVEDI</a:t>
            </a:r>
          </a:p>
        </p:txBody>
      </p:sp>
      <p:sp>
        <p:nvSpPr>
          <p:cNvPr id="66563" name="Rectangle 7"/>
          <p:cNvSpPr>
            <a:spLocks noGrp="1" noChangeArrowheads="1"/>
          </p:cNvSpPr>
          <p:nvPr>
            <p:ph type="sldNum" sz="quarter" idx="5"/>
          </p:nvPr>
        </p:nvSpPr>
        <p:spPr>
          <a:noFill/>
        </p:spPr>
        <p:txBody>
          <a:bodyPr/>
          <a:lstStyle/>
          <a:p>
            <a:fld id="{296094B6-E007-476E-B544-36503A460728}" type="slidenum">
              <a:rPr lang="en-US"/>
              <a:pPr/>
              <a:t>97</a:t>
            </a:fld>
            <a:endParaRPr lang="en-US"/>
          </a:p>
        </p:txBody>
      </p:sp>
      <p:sp>
        <p:nvSpPr>
          <p:cNvPr id="66564" name="Rectangle 2"/>
          <p:cNvSpPr>
            <a:spLocks noGrp="1" noRot="1" noChangeAspect="1" noChangeArrowheads="1" noTextEdit="1"/>
          </p:cNvSpPr>
          <p:nvPr>
            <p:ph type="sldImg"/>
          </p:nvPr>
        </p:nvSpPr>
        <p:spPr>
          <a:ln/>
        </p:spPr>
      </p:sp>
      <p:sp>
        <p:nvSpPr>
          <p:cNvPr id="66565" name="Rectangle 3"/>
          <p:cNvSpPr>
            <a:spLocks noGrp="1" noChangeArrowheads="1"/>
          </p:cNvSpPr>
          <p:nvPr>
            <p:ph type="body" idx="1"/>
          </p:nvPr>
        </p:nvSpPr>
        <p:spPr>
          <a:noFill/>
          <a:ln/>
        </p:spPr>
        <p:txBody>
          <a:bodyPr/>
          <a:lstStyle/>
          <a:p>
            <a:pPr marL="228600" indent="-228600" eaLnBrk="1" hangingPunct="1"/>
            <a:r>
              <a:rPr lang="en-US" smtClean="0">
                <a:latin typeface="Tahoma" pitchFamily="34" charset="0"/>
              </a:rPr>
              <a:t>Host factors contributing to emergence are: </a:t>
            </a:r>
          </a:p>
          <a:p>
            <a:pPr marL="228600" indent="-228600" eaLnBrk="1" hangingPunct="1">
              <a:buFontTx/>
              <a:buAutoNum type="arabicPeriod"/>
            </a:pPr>
            <a:r>
              <a:rPr lang="en-US" smtClean="0">
                <a:latin typeface="Tahoma" pitchFamily="34" charset="0"/>
              </a:rPr>
              <a:t>Mass migration of people provoked by natural and man made disaster with concomitant rehabilitation of displaced people in temporary human settlements under unhygienic conditions.</a:t>
            </a:r>
          </a:p>
          <a:p>
            <a:pPr marL="228600" indent="-228600" eaLnBrk="1" hangingPunct="1">
              <a:buFontTx/>
              <a:buAutoNum type="arabicPeriod"/>
            </a:pPr>
            <a:r>
              <a:rPr lang="en-US" smtClean="0">
                <a:latin typeface="Tahoma" pitchFamily="34" charset="0"/>
              </a:rPr>
              <a:t>Uninhibited and reckless industrialization leading to migration of labor population from rural to urban areas in unhygienic squatter settlements</a:t>
            </a:r>
          </a:p>
          <a:p>
            <a:pPr marL="228600" indent="-228600" eaLnBrk="1" hangingPunct="1">
              <a:buFontTx/>
              <a:buAutoNum type="arabicPeriod"/>
            </a:pPr>
            <a:r>
              <a:rPr lang="en-US" smtClean="0">
                <a:latin typeface="Tahoma" pitchFamily="34" charset="0"/>
              </a:rPr>
              <a:t>International travel as a result of trade and tourism contributing to global dispersion of disease agents, disease reservoirs and vectors</a:t>
            </a:r>
          </a:p>
          <a:p>
            <a:pPr marL="228600" indent="-228600" eaLnBrk="1" hangingPunct="1">
              <a:buFontTx/>
              <a:buAutoNum type="arabicPeriod"/>
            </a:pPr>
            <a:r>
              <a:rPr lang="en-US" smtClean="0">
                <a:latin typeface="Tahoma" pitchFamily="34" charset="0"/>
              </a:rPr>
              <a:t>Changes in lifestyle that promote unhealthy and risk prone behavior patterns affecting  food habits and sexual practices.</a:t>
            </a:r>
          </a:p>
          <a:p>
            <a:pPr marL="228600" indent="-228600" eaLnBrk="1" hangingPunct="1">
              <a:buFontTx/>
              <a:buAutoNum type="arabicPeriod"/>
            </a:pPr>
            <a:r>
              <a:rPr lang="en-US" smtClean="0">
                <a:latin typeface="Tahoma" pitchFamily="34" charset="0"/>
              </a:rPr>
              <a:t>Declining immunity of as a result of HIV infection, which make him vulnerable to a host of infections.</a:t>
            </a: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86" name="Rectangle 6"/>
          <p:cNvSpPr>
            <a:spLocks noGrp="1" noChangeArrowheads="1"/>
          </p:cNvSpPr>
          <p:nvPr>
            <p:ph type="ftr" sz="quarter" idx="4"/>
          </p:nvPr>
        </p:nvSpPr>
        <p:spPr>
          <a:noFill/>
        </p:spPr>
        <p:txBody>
          <a:bodyPr/>
          <a:lstStyle/>
          <a:p>
            <a:r>
              <a:rPr lang="en-US"/>
              <a:t>Dr. KANUPRIYA CHATURVEDI</a:t>
            </a:r>
          </a:p>
        </p:txBody>
      </p:sp>
      <p:sp>
        <p:nvSpPr>
          <p:cNvPr id="67587" name="Rectangle 7"/>
          <p:cNvSpPr>
            <a:spLocks noGrp="1" noChangeArrowheads="1"/>
          </p:cNvSpPr>
          <p:nvPr>
            <p:ph type="sldNum" sz="quarter" idx="5"/>
          </p:nvPr>
        </p:nvSpPr>
        <p:spPr>
          <a:noFill/>
        </p:spPr>
        <p:txBody>
          <a:bodyPr/>
          <a:lstStyle/>
          <a:p>
            <a:fld id="{9154C567-1FAD-48E9-A87D-2EE337171C06}" type="slidenum">
              <a:rPr lang="en-US"/>
              <a:pPr/>
              <a:t>98</a:t>
            </a:fld>
            <a:endParaRPr lang="en-US"/>
          </a:p>
        </p:txBody>
      </p:sp>
      <p:sp>
        <p:nvSpPr>
          <p:cNvPr id="67588" name="Rectangle 2"/>
          <p:cNvSpPr>
            <a:spLocks noGrp="1" noRot="1" noChangeAspect="1" noChangeArrowheads="1" noTextEdit="1"/>
          </p:cNvSpPr>
          <p:nvPr>
            <p:ph type="sldImg"/>
          </p:nvPr>
        </p:nvSpPr>
        <p:spPr>
          <a:ln/>
        </p:spPr>
      </p:sp>
      <p:sp>
        <p:nvSpPr>
          <p:cNvPr id="67589" name="Rectangle 3"/>
          <p:cNvSpPr>
            <a:spLocks noGrp="1" noChangeArrowheads="1"/>
          </p:cNvSpPr>
          <p:nvPr>
            <p:ph type="body" idx="1"/>
          </p:nvPr>
        </p:nvSpPr>
        <p:spPr>
          <a:noFill/>
          <a:ln/>
        </p:spPr>
        <p:txBody>
          <a:bodyPr/>
          <a:lstStyle/>
          <a:p>
            <a:pPr eaLnBrk="1" hangingPunct="1"/>
            <a:r>
              <a:rPr lang="en-US" smtClean="0">
                <a:latin typeface="Tahoma" pitchFamily="34" charset="0"/>
              </a:rPr>
              <a:t>Environmental sanitation characterized by unsafe water supply , improper disposal of solid and liquid  waste, poor hygienic practices and congested living conditions all contribute to emergence of infection.</a:t>
            </a:r>
          </a:p>
          <a:p>
            <a:pPr eaLnBrk="1" hangingPunct="1"/>
            <a:r>
              <a:rPr lang="en-US" smtClean="0">
                <a:latin typeface="Tahoma" pitchFamily="34" charset="0"/>
              </a:rPr>
              <a:t>Climatic changes resulting from global warming inducing increased surface water evaporation , greater rainfall changes in the direction of bird migration and changes in the habitat of disease vectors are also contributory factors.</a:t>
            </a:r>
          </a:p>
          <a:p>
            <a:pPr eaLnBrk="1" hangingPunct="1"/>
            <a:endParaRPr lang="en-US" smtClean="0">
              <a:latin typeface="Tahoma" pitchFamily="34" charset="0"/>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610" name="Rectangle 6"/>
          <p:cNvSpPr>
            <a:spLocks noGrp="1" noChangeArrowheads="1"/>
          </p:cNvSpPr>
          <p:nvPr>
            <p:ph type="ftr" sz="quarter" idx="4"/>
          </p:nvPr>
        </p:nvSpPr>
        <p:spPr>
          <a:noFill/>
        </p:spPr>
        <p:txBody>
          <a:bodyPr/>
          <a:lstStyle/>
          <a:p>
            <a:r>
              <a:rPr lang="en-US"/>
              <a:t>Dr. KANUPRIYA CHATURVEDI</a:t>
            </a:r>
          </a:p>
        </p:txBody>
      </p:sp>
      <p:sp>
        <p:nvSpPr>
          <p:cNvPr id="68611" name="Rectangle 7"/>
          <p:cNvSpPr>
            <a:spLocks noGrp="1" noChangeArrowheads="1"/>
          </p:cNvSpPr>
          <p:nvPr>
            <p:ph type="sldNum" sz="quarter" idx="5"/>
          </p:nvPr>
        </p:nvSpPr>
        <p:spPr>
          <a:noFill/>
        </p:spPr>
        <p:txBody>
          <a:bodyPr/>
          <a:lstStyle/>
          <a:p>
            <a:fld id="{1F288E1B-16CC-4065-AFF2-930B375F611F}" type="slidenum">
              <a:rPr lang="en-US"/>
              <a:pPr/>
              <a:t>99</a:t>
            </a:fld>
            <a:endParaRPr lang="en-US"/>
          </a:p>
        </p:txBody>
      </p:sp>
      <p:sp>
        <p:nvSpPr>
          <p:cNvPr id="68612" name="Rectangle 2"/>
          <p:cNvSpPr>
            <a:spLocks noGrp="1" noRot="1" noChangeAspect="1" noChangeArrowheads="1" noTextEdit="1"/>
          </p:cNvSpPr>
          <p:nvPr>
            <p:ph type="sldImg"/>
          </p:nvPr>
        </p:nvSpPr>
        <p:spPr>
          <a:ln/>
        </p:spPr>
      </p:sp>
      <p:sp>
        <p:nvSpPr>
          <p:cNvPr id="68613" name="Rectangle 3"/>
          <p:cNvSpPr>
            <a:spLocks noGrp="1" noChangeArrowheads="1"/>
          </p:cNvSpPr>
          <p:nvPr>
            <p:ph type="body" idx="1"/>
          </p:nvPr>
        </p:nvSpPr>
        <p:spPr>
          <a:noFill/>
          <a:ln/>
        </p:spPr>
        <p:txBody>
          <a:bodyPr/>
          <a:lstStyle/>
          <a:p>
            <a:pPr eaLnBrk="1" hangingPunct="1"/>
            <a:endParaRPr lang="en-US" smtClean="0"/>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4" name="Rectangle 6"/>
          <p:cNvSpPr>
            <a:spLocks noGrp="1" noChangeArrowheads="1"/>
          </p:cNvSpPr>
          <p:nvPr>
            <p:ph type="ftr" sz="quarter" idx="4"/>
          </p:nvPr>
        </p:nvSpPr>
        <p:spPr>
          <a:noFill/>
        </p:spPr>
        <p:txBody>
          <a:bodyPr/>
          <a:lstStyle/>
          <a:p>
            <a:r>
              <a:rPr lang="en-US"/>
              <a:t>Dr. KANUPRIYA CHATURVEDI</a:t>
            </a:r>
          </a:p>
        </p:txBody>
      </p:sp>
      <p:sp>
        <p:nvSpPr>
          <p:cNvPr id="69635" name="Rectangle 7"/>
          <p:cNvSpPr>
            <a:spLocks noGrp="1" noChangeArrowheads="1"/>
          </p:cNvSpPr>
          <p:nvPr>
            <p:ph type="sldNum" sz="quarter" idx="5"/>
          </p:nvPr>
        </p:nvSpPr>
        <p:spPr>
          <a:noFill/>
        </p:spPr>
        <p:txBody>
          <a:bodyPr/>
          <a:lstStyle/>
          <a:p>
            <a:fld id="{5CDF4300-6634-4B03-B54C-0F5A9B0AEDA2}" type="slidenum">
              <a:rPr lang="en-US"/>
              <a:pPr/>
              <a:t>100</a:t>
            </a:fld>
            <a:endParaRPr lang="en-US"/>
          </a:p>
        </p:txBody>
      </p:sp>
      <p:sp>
        <p:nvSpPr>
          <p:cNvPr id="69636" name="Rectangle 2"/>
          <p:cNvSpPr>
            <a:spLocks noGrp="1" noRot="1" noChangeAspect="1" noChangeArrowheads="1" noTextEdit="1"/>
          </p:cNvSpPr>
          <p:nvPr>
            <p:ph type="sldImg"/>
          </p:nvPr>
        </p:nvSpPr>
        <p:spPr>
          <a:ln/>
        </p:spPr>
      </p:sp>
      <p:sp>
        <p:nvSpPr>
          <p:cNvPr id="69637" name="Rectangle 3"/>
          <p:cNvSpPr>
            <a:spLocks noGrp="1" noChangeArrowheads="1"/>
          </p:cNvSpPr>
          <p:nvPr>
            <p:ph type="body" idx="1"/>
          </p:nvPr>
        </p:nvSpPr>
        <p:spPr>
          <a:noFill/>
          <a:ln/>
        </p:spPr>
        <p:txBody>
          <a:bodyPr/>
          <a:lstStyle/>
          <a:p>
            <a:pPr eaLnBrk="1" hangingPunct="1"/>
            <a:endParaRPr lang="en-US" smtClean="0"/>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lvl1pPr>
              <a:defRPr/>
            </a:lvl1pPr>
          </a:lstStyle>
          <a:p>
            <a:pPr>
              <a:defRPr/>
            </a:pPr>
            <a:endParaRPr lang="en-US"/>
          </a:p>
        </p:txBody>
      </p:sp>
      <p:sp>
        <p:nvSpPr>
          <p:cNvPr id="5" name="Footer Placeholder 4"/>
          <p:cNvSpPr>
            <a:spLocks noGrp="1"/>
          </p:cNvSpPr>
          <p:nvPr>
            <p:ph type="ftr" sz="quarter" idx="11"/>
          </p:nvPr>
        </p:nvSpPr>
        <p:spPr/>
        <p:txBody>
          <a:bodyPr/>
          <a:lstStyle>
            <a:lvl1pPr>
              <a:defRPr/>
            </a:lvl1pPr>
          </a:lstStyle>
          <a:p>
            <a:pPr>
              <a:defRPr/>
            </a:pPr>
            <a:endParaRPr lang="en-US"/>
          </a:p>
        </p:txBody>
      </p:sp>
      <p:sp>
        <p:nvSpPr>
          <p:cNvPr id="6" name="Slide Number Placeholder 5"/>
          <p:cNvSpPr>
            <a:spLocks noGrp="1"/>
          </p:cNvSpPr>
          <p:nvPr>
            <p:ph type="sldNum" sz="quarter" idx="12"/>
          </p:nvPr>
        </p:nvSpPr>
        <p:spPr/>
        <p:txBody>
          <a:bodyPr/>
          <a:lstStyle>
            <a:lvl1pPr>
              <a:defRPr/>
            </a:lvl1pPr>
          </a:lstStyle>
          <a:p>
            <a:pPr>
              <a:defRPr/>
            </a:pPr>
            <a:fld id="{9DC9650B-5F8A-40DF-A73D-A91F9F204C1F}" type="slidenum">
              <a:rPr lang="en-US"/>
              <a:pPr>
                <a:defRPr/>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lvl1pPr>
              <a:defRPr/>
            </a:lvl1pPr>
          </a:lstStyle>
          <a:p>
            <a:pPr>
              <a:defRPr/>
            </a:pPr>
            <a:endParaRPr lang="en-US"/>
          </a:p>
        </p:txBody>
      </p:sp>
      <p:sp>
        <p:nvSpPr>
          <p:cNvPr id="5" name="Footer Placeholder 4"/>
          <p:cNvSpPr>
            <a:spLocks noGrp="1"/>
          </p:cNvSpPr>
          <p:nvPr>
            <p:ph type="ftr" sz="quarter" idx="11"/>
          </p:nvPr>
        </p:nvSpPr>
        <p:spPr/>
        <p:txBody>
          <a:bodyPr/>
          <a:lstStyle>
            <a:lvl1pPr>
              <a:defRPr/>
            </a:lvl1pPr>
          </a:lstStyle>
          <a:p>
            <a:pPr>
              <a:defRPr/>
            </a:pPr>
            <a:endParaRPr lang="en-US"/>
          </a:p>
        </p:txBody>
      </p:sp>
      <p:sp>
        <p:nvSpPr>
          <p:cNvPr id="6" name="Slide Number Placeholder 5"/>
          <p:cNvSpPr>
            <a:spLocks noGrp="1"/>
          </p:cNvSpPr>
          <p:nvPr>
            <p:ph type="sldNum" sz="quarter" idx="12"/>
          </p:nvPr>
        </p:nvSpPr>
        <p:spPr/>
        <p:txBody>
          <a:bodyPr/>
          <a:lstStyle>
            <a:lvl1pPr>
              <a:defRPr/>
            </a:lvl1pPr>
          </a:lstStyle>
          <a:p>
            <a:pPr>
              <a:defRPr/>
            </a:pPr>
            <a:fld id="{7AF7BAF4-EF23-4BBE-9591-A37ADADD76A7}" type="slidenum">
              <a:rPr lang="en-US"/>
              <a:pPr>
                <a:defRPr/>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lvl1pPr>
              <a:defRPr/>
            </a:lvl1pPr>
          </a:lstStyle>
          <a:p>
            <a:pPr>
              <a:defRPr/>
            </a:pPr>
            <a:endParaRPr lang="en-US"/>
          </a:p>
        </p:txBody>
      </p:sp>
      <p:sp>
        <p:nvSpPr>
          <p:cNvPr id="5" name="Footer Placeholder 4"/>
          <p:cNvSpPr>
            <a:spLocks noGrp="1"/>
          </p:cNvSpPr>
          <p:nvPr>
            <p:ph type="ftr" sz="quarter" idx="11"/>
          </p:nvPr>
        </p:nvSpPr>
        <p:spPr/>
        <p:txBody>
          <a:bodyPr/>
          <a:lstStyle>
            <a:lvl1pPr>
              <a:defRPr/>
            </a:lvl1pPr>
          </a:lstStyle>
          <a:p>
            <a:pPr>
              <a:defRPr/>
            </a:pPr>
            <a:endParaRPr lang="en-US"/>
          </a:p>
        </p:txBody>
      </p:sp>
      <p:sp>
        <p:nvSpPr>
          <p:cNvPr id="6" name="Slide Number Placeholder 5"/>
          <p:cNvSpPr>
            <a:spLocks noGrp="1"/>
          </p:cNvSpPr>
          <p:nvPr>
            <p:ph type="sldNum" sz="quarter" idx="12"/>
          </p:nvPr>
        </p:nvSpPr>
        <p:spPr/>
        <p:txBody>
          <a:bodyPr/>
          <a:lstStyle>
            <a:lvl1pPr>
              <a:defRPr/>
            </a:lvl1pPr>
          </a:lstStyle>
          <a:p>
            <a:pPr>
              <a:defRPr/>
            </a:pPr>
            <a:fld id="{AFCB77F1-9A88-43C7-8269-EA6C35302001}" type="slidenum">
              <a:rPr lang="en-US"/>
              <a:pPr>
                <a:defRPr/>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3"/>
          <p:cNvSpPr>
            <a:spLocks noGrp="1"/>
          </p:cNvSpPr>
          <p:nvPr>
            <p:ph type="dt" sz="half" idx="10"/>
          </p:nvPr>
        </p:nvSpPr>
        <p:spPr/>
        <p:txBody>
          <a:bodyPr/>
          <a:lstStyle>
            <a:lvl1pPr>
              <a:defRPr/>
            </a:lvl1pPr>
          </a:lstStyle>
          <a:p>
            <a:pPr>
              <a:defRPr/>
            </a:pPr>
            <a:endParaRPr lang="en-US"/>
          </a:p>
        </p:txBody>
      </p:sp>
      <p:sp>
        <p:nvSpPr>
          <p:cNvPr id="6" name="Footer Placeholder 4"/>
          <p:cNvSpPr>
            <a:spLocks noGrp="1"/>
          </p:cNvSpPr>
          <p:nvPr>
            <p:ph type="ftr" sz="quarter" idx="11"/>
          </p:nvPr>
        </p:nvSpPr>
        <p:spPr/>
        <p:txBody>
          <a:bodyPr/>
          <a:lstStyle>
            <a:lvl1pPr>
              <a:defRPr/>
            </a:lvl1pPr>
          </a:lstStyle>
          <a:p>
            <a:pPr>
              <a:defRPr/>
            </a:pPr>
            <a:endParaRPr lang="en-US"/>
          </a:p>
        </p:txBody>
      </p:sp>
      <p:sp>
        <p:nvSpPr>
          <p:cNvPr id="7" name="Slide Number Placeholder 5"/>
          <p:cNvSpPr>
            <a:spLocks noGrp="1"/>
          </p:cNvSpPr>
          <p:nvPr>
            <p:ph type="sldNum" sz="quarter" idx="12"/>
          </p:nvPr>
        </p:nvSpPr>
        <p:spPr/>
        <p:txBody>
          <a:bodyPr/>
          <a:lstStyle>
            <a:lvl1pPr>
              <a:defRPr/>
            </a:lvl1pPr>
          </a:lstStyle>
          <a:p>
            <a:pPr>
              <a:defRPr/>
            </a:pPr>
            <a:fld id="{F955105A-DF3C-4D33-8FC2-358B8AE5B097}" type="slidenum">
              <a:rPr lang="en-US"/>
              <a:pPr>
                <a:defRPr/>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3"/>
          <p:cNvSpPr>
            <a:spLocks noGrp="1"/>
          </p:cNvSpPr>
          <p:nvPr>
            <p:ph type="dt" sz="half" idx="10"/>
          </p:nvPr>
        </p:nvSpPr>
        <p:spPr/>
        <p:txBody>
          <a:bodyPr/>
          <a:lstStyle>
            <a:lvl1pPr>
              <a:defRPr/>
            </a:lvl1pPr>
          </a:lstStyle>
          <a:p>
            <a:pPr>
              <a:defRPr/>
            </a:pPr>
            <a:endParaRPr lang="en-US"/>
          </a:p>
        </p:txBody>
      </p:sp>
      <p:sp>
        <p:nvSpPr>
          <p:cNvPr id="8" name="Footer Placeholder 4"/>
          <p:cNvSpPr>
            <a:spLocks noGrp="1"/>
          </p:cNvSpPr>
          <p:nvPr>
            <p:ph type="ftr" sz="quarter" idx="11"/>
          </p:nvPr>
        </p:nvSpPr>
        <p:spPr/>
        <p:txBody>
          <a:bodyPr/>
          <a:lstStyle>
            <a:lvl1pPr>
              <a:defRPr/>
            </a:lvl1pPr>
          </a:lstStyle>
          <a:p>
            <a:pPr>
              <a:defRPr/>
            </a:pPr>
            <a:endParaRPr lang="en-US"/>
          </a:p>
        </p:txBody>
      </p:sp>
      <p:sp>
        <p:nvSpPr>
          <p:cNvPr id="9" name="Slide Number Placeholder 5"/>
          <p:cNvSpPr>
            <a:spLocks noGrp="1"/>
          </p:cNvSpPr>
          <p:nvPr>
            <p:ph type="sldNum" sz="quarter" idx="12"/>
          </p:nvPr>
        </p:nvSpPr>
        <p:spPr/>
        <p:txBody>
          <a:bodyPr/>
          <a:lstStyle>
            <a:lvl1pPr>
              <a:defRPr/>
            </a:lvl1pPr>
          </a:lstStyle>
          <a:p>
            <a:pPr>
              <a:defRPr/>
            </a:pPr>
            <a:fld id="{FB30C584-9092-4271-A7EC-4CC06F50440D}" type="slidenum">
              <a:rPr lang="en-US"/>
              <a:pPr>
                <a:defRPr/>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3"/>
          <p:cNvSpPr>
            <a:spLocks noGrp="1"/>
          </p:cNvSpPr>
          <p:nvPr>
            <p:ph type="dt" sz="half" idx="10"/>
          </p:nvPr>
        </p:nvSpPr>
        <p:spPr/>
        <p:txBody>
          <a:bodyPr/>
          <a:lstStyle>
            <a:lvl1pPr>
              <a:defRPr/>
            </a:lvl1pPr>
          </a:lstStyle>
          <a:p>
            <a:pPr>
              <a:defRPr/>
            </a:pPr>
            <a:endParaRPr lang="en-US"/>
          </a:p>
        </p:txBody>
      </p:sp>
      <p:sp>
        <p:nvSpPr>
          <p:cNvPr id="4" name="Footer Placeholder 4"/>
          <p:cNvSpPr>
            <a:spLocks noGrp="1"/>
          </p:cNvSpPr>
          <p:nvPr>
            <p:ph type="ftr" sz="quarter" idx="11"/>
          </p:nvPr>
        </p:nvSpPr>
        <p:spPr/>
        <p:txBody>
          <a:bodyPr/>
          <a:lstStyle>
            <a:lvl1pPr>
              <a:defRPr/>
            </a:lvl1pPr>
          </a:lstStyle>
          <a:p>
            <a:pPr>
              <a:defRPr/>
            </a:pPr>
            <a:endParaRPr lang="en-US"/>
          </a:p>
        </p:txBody>
      </p:sp>
      <p:sp>
        <p:nvSpPr>
          <p:cNvPr id="5" name="Slide Number Placeholder 5"/>
          <p:cNvSpPr>
            <a:spLocks noGrp="1"/>
          </p:cNvSpPr>
          <p:nvPr>
            <p:ph type="sldNum" sz="quarter" idx="12"/>
          </p:nvPr>
        </p:nvSpPr>
        <p:spPr/>
        <p:txBody>
          <a:bodyPr/>
          <a:lstStyle>
            <a:lvl1pPr>
              <a:defRPr/>
            </a:lvl1pPr>
          </a:lstStyle>
          <a:p>
            <a:pPr>
              <a:defRPr/>
            </a:pPr>
            <a:fld id="{D813CA0F-10CC-4DA0-9020-7876FC1CBCD3}" type="slidenum">
              <a:rPr lang="en-US"/>
              <a:pPr>
                <a:defRPr/>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3"/>
          <p:cNvSpPr>
            <a:spLocks noGrp="1"/>
          </p:cNvSpPr>
          <p:nvPr>
            <p:ph type="dt" sz="half" idx="10"/>
          </p:nvPr>
        </p:nvSpPr>
        <p:spPr/>
        <p:txBody>
          <a:bodyPr/>
          <a:lstStyle>
            <a:lvl1pPr>
              <a:defRPr/>
            </a:lvl1pPr>
          </a:lstStyle>
          <a:p>
            <a:pPr>
              <a:defRPr/>
            </a:pPr>
            <a:endParaRPr lang="en-US"/>
          </a:p>
        </p:txBody>
      </p:sp>
      <p:sp>
        <p:nvSpPr>
          <p:cNvPr id="3" name="Footer Placeholder 4"/>
          <p:cNvSpPr>
            <a:spLocks noGrp="1"/>
          </p:cNvSpPr>
          <p:nvPr>
            <p:ph type="ftr" sz="quarter" idx="11"/>
          </p:nvPr>
        </p:nvSpPr>
        <p:spPr/>
        <p:txBody>
          <a:bodyPr/>
          <a:lstStyle>
            <a:lvl1pPr>
              <a:defRPr/>
            </a:lvl1pPr>
          </a:lstStyle>
          <a:p>
            <a:pPr>
              <a:defRPr/>
            </a:pPr>
            <a:endParaRPr lang="en-US"/>
          </a:p>
        </p:txBody>
      </p:sp>
      <p:sp>
        <p:nvSpPr>
          <p:cNvPr id="4" name="Slide Number Placeholder 5"/>
          <p:cNvSpPr>
            <a:spLocks noGrp="1"/>
          </p:cNvSpPr>
          <p:nvPr>
            <p:ph type="sldNum" sz="quarter" idx="12"/>
          </p:nvPr>
        </p:nvSpPr>
        <p:spPr/>
        <p:txBody>
          <a:bodyPr/>
          <a:lstStyle>
            <a:lvl1pPr>
              <a:defRPr/>
            </a:lvl1pPr>
          </a:lstStyle>
          <a:p>
            <a:pPr>
              <a:defRPr/>
            </a:pPr>
            <a:fld id="{779A955C-2C3A-4A7F-8B22-01277C0E1735}" type="slidenum">
              <a:rPr lang="en-US"/>
              <a:pPr>
                <a:defRPr/>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3"/>
          <p:cNvSpPr>
            <a:spLocks noGrp="1"/>
          </p:cNvSpPr>
          <p:nvPr>
            <p:ph type="dt" sz="half" idx="10"/>
          </p:nvPr>
        </p:nvSpPr>
        <p:spPr/>
        <p:txBody>
          <a:bodyPr/>
          <a:lstStyle>
            <a:lvl1pPr>
              <a:defRPr/>
            </a:lvl1pPr>
          </a:lstStyle>
          <a:p>
            <a:pPr>
              <a:defRPr/>
            </a:pPr>
            <a:endParaRPr lang="en-US"/>
          </a:p>
        </p:txBody>
      </p:sp>
      <p:sp>
        <p:nvSpPr>
          <p:cNvPr id="6" name="Footer Placeholder 4"/>
          <p:cNvSpPr>
            <a:spLocks noGrp="1"/>
          </p:cNvSpPr>
          <p:nvPr>
            <p:ph type="ftr" sz="quarter" idx="11"/>
          </p:nvPr>
        </p:nvSpPr>
        <p:spPr/>
        <p:txBody>
          <a:bodyPr/>
          <a:lstStyle>
            <a:lvl1pPr>
              <a:defRPr/>
            </a:lvl1pPr>
          </a:lstStyle>
          <a:p>
            <a:pPr>
              <a:defRPr/>
            </a:pPr>
            <a:endParaRPr lang="en-US"/>
          </a:p>
        </p:txBody>
      </p:sp>
      <p:sp>
        <p:nvSpPr>
          <p:cNvPr id="7" name="Slide Number Placeholder 5"/>
          <p:cNvSpPr>
            <a:spLocks noGrp="1"/>
          </p:cNvSpPr>
          <p:nvPr>
            <p:ph type="sldNum" sz="quarter" idx="12"/>
          </p:nvPr>
        </p:nvSpPr>
        <p:spPr/>
        <p:txBody>
          <a:bodyPr/>
          <a:lstStyle>
            <a:lvl1pPr>
              <a:defRPr/>
            </a:lvl1pPr>
          </a:lstStyle>
          <a:p>
            <a:pPr>
              <a:defRPr/>
            </a:pPr>
            <a:fld id="{981F0183-B41A-4CB3-B056-83EDE67FA824}" type="slidenum">
              <a:rPr lang="en-US"/>
              <a:pPr>
                <a:defRPr/>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rtlCol="0">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smtClean="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3"/>
          <p:cNvSpPr>
            <a:spLocks noGrp="1"/>
          </p:cNvSpPr>
          <p:nvPr>
            <p:ph type="dt" sz="half" idx="10"/>
          </p:nvPr>
        </p:nvSpPr>
        <p:spPr/>
        <p:txBody>
          <a:bodyPr/>
          <a:lstStyle>
            <a:lvl1pPr>
              <a:defRPr/>
            </a:lvl1pPr>
          </a:lstStyle>
          <a:p>
            <a:pPr>
              <a:defRPr/>
            </a:pPr>
            <a:endParaRPr lang="en-US"/>
          </a:p>
        </p:txBody>
      </p:sp>
      <p:sp>
        <p:nvSpPr>
          <p:cNvPr id="6" name="Footer Placeholder 4"/>
          <p:cNvSpPr>
            <a:spLocks noGrp="1"/>
          </p:cNvSpPr>
          <p:nvPr>
            <p:ph type="ftr" sz="quarter" idx="11"/>
          </p:nvPr>
        </p:nvSpPr>
        <p:spPr/>
        <p:txBody>
          <a:bodyPr/>
          <a:lstStyle>
            <a:lvl1pPr>
              <a:defRPr/>
            </a:lvl1pPr>
          </a:lstStyle>
          <a:p>
            <a:pPr>
              <a:defRPr/>
            </a:pPr>
            <a:endParaRPr lang="en-US"/>
          </a:p>
        </p:txBody>
      </p:sp>
      <p:sp>
        <p:nvSpPr>
          <p:cNvPr id="7" name="Slide Number Placeholder 5"/>
          <p:cNvSpPr>
            <a:spLocks noGrp="1"/>
          </p:cNvSpPr>
          <p:nvPr>
            <p:ph type="sldNum" sz="quarter" idx="12"/>
          </p:nvPr>
        </p:nvSpPr>
        <p:spPr/>
        <p:txBody>
          <a:bodyPr/>
          <a:lstStyle>
            <a:lvl1pPr>
              <a:defRPr/>
            </a:lvl1pPr>
          </a:lstStyle>
          <a:p>
            <a:pPr>
              <a:defRPr/>
            </a:pPr>
            <a:fld id="{999BBC50-F3FD-4B75-928F-554F7502FAE9}" type="slidenum">
              <a:rPr lang="en-US"/>
              <a:pPr>
                <a:defRPr/>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lvl1pPr>
              <a:defRPr/>
            </a:lvl1pPr>
          </a:lstStyle>
          <a:p>
            <a:pPr>
              <a:defRPr/>
            </a:pPr>
            <a:endParaRPr lang="en-US"/>
          </a:p>
        </p:txBody>
      </p:sp>
      <p:sp>
        <p:nvSpPr>
          <p:cNvPr id="5" name="Footer Placeholder 4"/>
          <p:cNvSpPr>
            <a:spLocks noGrp="1"/>
          </p:cNvSpPr>
          <p:nvPr>
            <p:ph type="ftr" sz="quarter" idx="11"/>
          </p:nvPr>
        </p:nvSpPr>
        <p:spPr/>
        <p:txBody>
          <a:bodyPr/>
          <a:lstStyle>
            <a:lvl1pPr>
              <a:defRPr/>
            </a:lvl1pPr>
          </a:lstStyle>
          <a:p>
            <a:pPr>
              <a:defRPr/>
            </a:pPr>
            <a:endParaRPr lang="en-US"/>
          </a:p>
        </p:txBody>
      </p:sp>
      <p:sp>
        <p:nvSpPr>
          <p:cNvPr id="6" name="Slide Number Placeholder 5"/>
          <p:cNvSpPr>
            <a:spLocks noGrp="1"/>
          </p:cNvSpPr>
          <p:nvPr>
            <p:ph type="sldNum" sz="quarter" idx="12"/>
          </p:nvPr>
        </p:nvSpPr>
        <p:spPr/>
        <p:txBody>
          <a:bodyPr/>
          <a:lstStyle>
            <a:lvl1pPr>
              <a:defRPr/>
            </a:lvl1pPr>
          </a:lstStyle>
          <a:p>
            <a:pPr>
              <a:defRPr/>
            </a:pPr>
            <a:fld id="{D2CC7BF6-7470-48B4-8401-91E522D28473}" type="slidenum">
              <a:rPr lang="en-US"/>
              <a:pPr>
                <a:defRPr/>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lvl1pPr>
              <a:defRPr/>
            </a:lvl1pPr>
          </a:lstStyle>
          <a:p>
            <a:pPr>
              <a:defRPr/>
            </a:pPr>
            <a:endParaRPr lang="en-US"/>
          </a:p>
        </p:txBody>
      </p:sp>
      <p:sp>
        <p:nvSpPr>
          <p:cNvPr id="5" name="Footer Placeholder 4"/>
          <p:cNvSpPr>
            <a:spLocks noGrp="1"/>
          </p:cNvSpPr>
          <p:nvPr>
            <p:ph type="ftr" sz="quarter" idx="11"/>
          </p:nvPr>
        </p:nvSpPr>
        <p:spPr/>
        <p:txBody>
          <a:bodyPr/>
          <a:lstStyle>
            <a:lvl1pPr>
              <a:defRPr/>
            </a:lvl1pPr>
          </a:lstStyle>
          <a:p>
            <a:pPr>
              <a:defRPr/>
            </a:pPr>
            <a:endParaRPr lang="en-US"/>
          </a:p>
        </p:txBody>
      </p:sp>
      <p:sp>
        <p:nvSpPr>
          <p:cNvPr id="6" name="Slide Number Placeholder 5"/>
          <p:cNvSpPr>
            <a:spLocks noGrp="1"/>
          </p:cNvSpPr>
          <p:nvPr>
            <p:ph type="sldNum" sz="quarter" idx="12"/>
          </p:nvPr>
        </p:nvSpPr>
        <p:spPr/>
        <p:txBody>
          <a:bodyPr/>
          <a:lstStyle>
            <a:lvl1pPr>
              <a:defRPr/>
            </a:lvl1pPr>
          </a:lstStyle>
          <a:p>
            <a:pPr>
              <a:defRPr/>
            </a:pPr>
            <a:fld id="{75A70D95-755D-44DC-86A2-1FB15CC5A441}" type="slidenum">
              <a:rPr lang="en-US"/>
              <a:pPr>
                <a:defRPr/>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6146" name="Title Placeholder 1"/>
          <p:cNvSpPr>
            <a:spLocks noGrp="1"/>
          </p:cNvSpPr>
          <p:nvPr>
            <p:ph type="title"/>
          </p:nvPr>
        </p:nvSpPr>
        <p:spPr bwMode="auto">
          <a:xfrm>
            <a:off x="457200" y="274638"/>
            <a:ext cx="8229600" cy="1143000"/>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lvl="0"/>
            <a:r>
              <a:rPr lang="en-US" smtClean="0"/>
              <a:t>Click to edit Master title style</a:t>
            </a:r>
          </a:p>
        </p:txBody>
      </p:sp>
      <p:sp>
        <p:nvSpPr>
          <p:cNvPr id="6147" name="Text Placeholder 2"/>
          <p:cNvSpPr>
            <a:spLocks noGrp="1"/>
          </p:cNvSpPr>
          <p:nvPr>
            <p:ph type="body" idx="1"/>
          </p:nvPr>
        </p:nvSpPr>
        <p:spPr bwMode="auto">
          <a:xfrm>
            <a:off x="457200" y="1600200"/>
            <a:ext cx="8229600" cy="4525963"/>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pPr>
              <a:defRPr/>
            </a:pPr>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pPr>
              <a:defRPr/>
            </a:pPr>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pPr>
              <a:defRPr/>
            </a:pPr>
            <a:fld id="{E254A0EB-5DE2-4EF7-9007-2D09F0CC0829}" type="slidenum">
              <a:rPr lang="en-US"/>
              <a:pPr>
                <a:defRPr/>
              </a:pPr>
              <a:t>‹#›</a:t>
            </a:fld>
            <a:endParaRPr lang="en-US"/>
          </a:p>
        </p:txBody>
      </p:sp>
    </p:spTree>
  </p:cSld>
  <p:clrMap bg1="lt1" tx1="dk1" bg2="lt2" tx2="dk2" accent1="accent1" accent2="accent2" accent3="accent3" accent4="accent4" accent5="accent5" accent6="accent6" hlink="hlink" folHlink="folHlink"/>
  <p:sldLayoutIdLst>
    <p:sldLayoutId id="2147483674" r:id="rId1"/>
    <p:sldLayoutId id="2147483675" r:id="rId2"/>
    <p:sldLayoutId id="2147483676" r:id="rId3"/>
    <p:sldLayoutId id="2147483677" r:id="rId4"/>
    <p:sldLayoutId id="2147483678" r:id="rId5"/>
    <p:sldLayoutId id="2147483679" r:id="rId6"/>
    <p:sldLayoutId id="2147483680" r:id="rId7"/>
    <p:sldLayoutId id="2147483681" r:id="rId8"/>
    <p:sldLayoutId id="2147483682" r:id="rId9"/>
    <p:sldLayoutId id="2147483683" r:id="rId10"/>
    <p:sldLayoutId id="2147483684" r:id="rId11"/>
  </p:sldLayoutIdLst>
  <p:txStyles>
    <p:titleStyle>
      <a:lvl1pPr algn="ctr" rtl="0" eaLnBrk="0" fontAlgn="base" hangingPunct="0">
        <a:spcBef>
          <a:spcPct val="0"/>
        </a:spcBef>
        <a:spcAft>
          <a:spcPct val="0"/>
        </a:spcAft>
        <a:defRPr sz="4400" kern="1200">
          <a:solidFill>
            <a:schemeClr val="tx1"/>
          </a:solidFill>
          <a:latin typeface="+mj-lt"/>
          <a:ea typeface="+mj-ea"/>
          <a:cs typeface="+mj-cs"/>
        </a:defRPr>
      </a:lvl1pPr>
      <a:lvl2pPr algn="ctr" rtl="0" eaLnBrk="0" fontAlgn="base" hangingPunct="0">
        <a:spcBef>
          <a:spcPct val="0"/>
        </a:spcBef>
        <a:spcAft>
          <a:spcPct val="0"/>
        </a:spcAft>
        <a:defRPr sz="4400">
          <a:solidFill>
            <a:schemeClr val="tx1"/>
          </a:solidFill>
          <a:latin typeface="Calibri" pitchFamily="34" charset="0"/>
        </a:defRPr>
      </a:lvl2pPr>
      <a:lvl3pPr algn="ctr" rtl="0" eaLnBrk="0" fontAlgn="base" hangingPunct="0">
        <a:spcBef>
          <a:spcPct val="0"/>
        </a:spcBef>
        <a:spcAft>
          <a:spcPct val="0"/>
        </a:spcAft>
        <a:defRPr sz="4400">
          <a:solidFill>
            <a:schemeClr val="tx1"/>
          </a:solidFill>
          <a:latin typeface="Calibri" pitchFamily="34" charset="0"/>
        </a:defRPr>
      </a:lvl3pPr>
      <a:lvl4pPr algn="ctr" rtl="0" eaLnBrk="0" fontAlgn="base" hangingPunct="0">
        <a:spcBef>
          <a:spcPct val="0"/>
        </a:spcBef>
        <a:spcAft>
          <a:spcPct val="0"/>
        </a:spcAft>
        <a:defRPr sz="4400">
          <a:solidFill>
            <a:schemeClr val="tx1"/>
          </a:solidFill>
          <a:latin typeface="Calibri" pitchFamily="34" charset="0"/>
        </a:defRPr>
      </a:lvl4pPr>
      <a:lvl5pPr algn="ctr" rtl="0" eaLnBrk="0" fontAlgn="base" hangingPunct="0">
        <a:spcBef>
          <a:spcPct val="0"/>
        </a:spcBef>
        <a:spcAft>
          <a:spcPct val="0"/>
        </a:spcAft>
        <a:defRPr sz="4400">
          <a:solidFill>
            <a:schemeClr val="tx1"/>
          </a:solidFill>
          <a:latin typeface="Calibri" pitchFamily="34" charset="0"/>
        </a:defRPr>
      </a:lvl5pPr>
      <a:lvl6pPr marL="457200" algn="ctr" rtl="0" fontAlgn="base">
        <a:spcBef>
          <a:spcPct val="0"/>
        </a:spcBef>
        <a:spcAft>
          <a:spcPct val="0"/>
        </a:spcAft>
        <a:defRPr sz="4400">
          <a:solidFill>
            <a:schemeClr val="tx1"/>
          </a:solidFill>
          <a:latin typeface="Calibri" pitchFamily="34" charset="0"/>
        </a:defRPr>
      </a:lvl6pPr>
      <a:lvl7pPr marL="914400" algn="ctr" rtl="0" fontAlgn="base">
        <a:spcBef>
          <a:spcPct val="0"/>
        </a:spcBef>
        <a:spcAft>
          <a:spcPct val="0"/>
        </a:spcAft>
        <a:defRPr sz="4400">
          <a:solidFill>
            <a:schemeClr val="tx1"/>
          </a:solidFill>
          <a:latin typeface="Calibri" pitchFamily="34" charset="0"/>
        </a:defRPr>
      </a:lvl7pPr>
      <a:lvl8pPr marL="1371600" algn="ctr" rtl="0" fontAlgn="base">
        <a:spcBef>
          <a:spcPct val="0"/>
        </a:spcBef>
        <a:spcAft>
          <a:spcPct val="0"/>
        </a:spcAft>
        <a:defRPr sz="4400">
          <a:solidFill>
            <a:schemeClr val="tx1"/>
          </a:solidFill>
          <a:latin typeface="Calibri" pitchFamily="34" charset="0"/>
        </a:defRPr>
      </a:lvl8pPr>
      <a:lvl9pPr marL="1828800" algn="ctr" rtl="0" fontAlgn="base">
        <a:spcBef>
          <a:spcPct val="0"/>
        </a:spcBef>
        <a:spcAft>
          <a:spcPct val="0"/>
        </a:spcAft>
        <a:defRPr sz="4400">
          <a:solidFill>
            <a:schemeClr val="tx1"/>
          </a:solidFill>
          <a:latin typeface="Calibri" pitchFamily="34" charset="0"/>
        </a:defRPr>
      </a:lvl9pPr>
    </p:titleStyle>
    <p:bodyStyle>
      <a:lvl1pPr marL="342900" indent="-342900" algn="l" rtl="0" eaLnBrk="0" fontAlgn="base" hangingPunct="0">
        <a:spcBef>
          <a:spcPct val="20000"/>
        </a:spcBef>
        <a:spcAft>
          <a:spcPct val="0"/>
        </a:spcAft>
        <a:buFont typeface="Arial" charset="0"/>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6.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6.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6.xml"/></Relationships>
</file>

<file path=ppt/slides/_rels/slide58.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slideLayout" Target="../slideLayouts/slideLayout2.xml"/><Relationship Id="rId1" Type="http://schemas.openxmlformats.org/officeDocument/2006/relationships/vmlDrawing" Target="../drawings/vmlDrawing1.vml"/><Relationship Id="rId4" Type="http://schemas.openxmlformats.org/officeDocument/2006/relationships/oleObject" Target="../embeddings/oleObject2.bin"/></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3" Type="http://schemas.openxmlformats.org/officeDocument/2006/relationships/oleObject" Target="../embeddings/oleObject3.bin"/><Relationship Id="rId2" Type="http://schemas.openxmlformats.org/officeDocument/2006/relationships/slideLayout" Target="../slideLayouts/slideLayout7.xml"/><Relationship Id="rId1" Type="http://schemas.openxmlformats.org/officeDocument/2006/relationships/vmlDrawing" Target="../drawings/vmlDrawing2.v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3" Type="http://schemas.openxmlformats.org/officeDocument/2006/relationships/oleObject" Target="../embeddings/oleObject4.bin"/><Relationship Id="rId2" Type="http://schemas.openxmlformats.org/officeDocument/2006/relationships/slideLayout" Target="../slideLayouts/slideLayout2.xml"/><Relationship Id="rId1" Type="http://schemas.openxmlformats.org/officeDocument/2006/relationships/vmlDrawing" Target="../drawings/vmlDrawing3.v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3" Type="http://schemas.openxmlformats.org/officeDocument/2006/relationships/oleObject" Target="../embeddings/oleObject5.bin"/><Relationship Id="rId2" Type="http://schemas.openxmlformats.org/officeDocument/2006/relationships/slideLayout" Target="../slideLayouts/slideLayout2.xml"/><Relationship Id="rId1" Type="http://schemas.openxmlformats.org/officeDocument/2006/relationships/vmlDrawing" Target="../drawings/vmlDrawing4.vml"/><Relationship Id="rId4" Type="http://schemas.openxmlformats.org/officeDocument/2006/relationships/oleObject" Target="../embeddings/oleObject6.bin"/></Relationships>
</file>

<file path=ppt/slides/_rels/slide71.xml.rels><?xml version="1.0" encoding="UTF-8" standalone="yes"?>
<Relationships xmlns="http://schemas.openxmlformats.org/package/2006/relationships"><Relationship Id="rId3" Type="http://schemas.openxmlformats.org/officeDocument/2006/relationships/oleObject" Target="../embeddings/oleObject7.bin"/><Relationship Id="rId2" Type="http://schemas.openxmlformats.org/officeDocument/2006/relationships/slideLayout" Target="../slideLayouts/slideLayout2.xml"/><Relationship Id="rId1" Type="http://schemas.openxmlformats.org/officeDocument/2006/relationships/vmlDrawing" Target="../drawings/vmlDrawing5.v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0.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4.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95.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96.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7.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98.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99.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00.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4" name="Rectangle 2"/>
          <p:cNvSpPr>
            <a:spLocks noGrp="1" noChangeArrowheads="1"/>
          </p:cNvSpPr>
          <p:nvPr>
            <p:ph type="ctrTitle" idx="4294967295"/>
          </p:nvPr>
        </p:nvSpPr>
        <p:spPr>
          <a:xfrm>
            <a:off x="0" y="685800"/>
            <a:ext cx="9144000" cy="5105400"/>
          </a:xfrm>
        </p:spPr>
        <p:txBody>
          <a:bodyPr rtlCol="0">
            <a:normAutofit fontScale="90000"/>
          </a:bodyPr>
          <a:lstStyle/>
          <a:p>
            <a:pPr eaLnBrk="1" fontAlgn="auto" hangingPunct="1">
              <a:spcAft>
                <a:spcPts val="0"/>
              </a:spcAft>
              <a:defRPr/>
            </a:pPr>
            <a:r>
              <a:rPr lang="en-US" b="1" dirty="0" smtClean="0"/>
              <a:t/>
            </a:r>
            <a:br>
              <a:rPr lang="en-US" b="1" dirty="0" smtClean="0"/>
            </a:br>
            <a:r>
              <a:rPr lang="en-US" b="1" dirty="0" smtClean="0"/>
              <a:t/>
            </a:r>
            <a:br>
              <a:rPr lang="en-US" b="1" dirty="0" smtClean="0"/>
            </a:br>
            <a:r>
              <a:rPr lang="en-US" b="1" dirty="0" smtClean="0"/>
              <a:t/>
            </a:r>
            <a:br>
              <a:rPr lang="en-US" b="1" dirty="0" smtClean="0"/>
            </a:br>
            <a:r>
              <a:rPr lang="en-US" b="1" dirty="0" smtClean="0"/>
              <a:t>Control of Microbial Growth</a:t>
            </a:r>
            <a:br>
              <a:rPr lang="en-US" b="1" dirty="0" smtClean="0"/>
            </a:br>
            <a:r>
              <a:rPr lang="en-US" sz="3600" dirty="0" smtClean="0"/>
              <a:t>by</a:t>
            </a:r>
            <a:r>
              <a:rPr lang="en-US" sz="3600" b="1" dirty="0" smtClean="0"/>
              <a:t/>
            </a:r>
            <a:br>
              <a:rPr lang="en-US" sz="3600" b="1" dirty="0" smtClean="0"/>
            </a:br>
            <a:r>
              <a:rPr lang="en-US" sz="3600" dirty="0" smtClean="0"/>
              <a:t>P. </a:t>
            </a:r>
            <a:r>
              <a:rPr lang="en-US" sz="3600" dirty="0" err="1" smtClean="0"/>
              <a:t>Neelamanie</a:t>
            </a:r>
            <a:r>
              <a:rPr lang="en-US" sz="3600" dirty="0" smtClean="0"/>
              <a:t> </a:t>
            </a:r>
            <a:r>
              <a:rPr lang="en-US" sz="3600" dirty="0" err="1" smtClean="0"/>
              <a:t>Yapa</a:t>
            </a:r>
            <a:r>
              <a:rPr lang="en-US" sz="3600" dirty="0" smtClean="0"/>
              <a:t> </a:t>
            </a:r>
            <a:br>
              <a:rPr lang="en-US" sz="3600" dirty="0" smtClean="0"/>
            </a:br>
            <a:r>
              <a:rPr lang="en-US" sz="3600" dirty="0" err="1" smtClean="0"/>
              <a:t>Rajarata</a:t>
            </a:r>
            <a:r>
              <a:rPr lang="en-US" sz="3600" dirty="0" smtClean="0"/>
              <a:t> University of Sri Lanka</a:t>
            </a:r>
            <a:br>
              <a:rPr lang="en-US" sz="3600" dirty="0" smtClean="0"/>
            </a:br>
            <a:r>
              <a:rPr lang="en-US" sz="3600" b="1" dirty="0" smtClean="0"/>
              <a:t/>
            </a:r>
            <a:br>
              <a:rPr lang="en-US" sz="3600" b="1" dirty="0" smtClean="0"/>
            </a:br>
            <a:r>
              <a:rPr lang="en-US" b="1" dirty="0" smtClean="0"/>
              <a:t/>
            </a:r>
            <a:br>
              <a:rPr lang="en-US" b="1" dirty="0" smtClean="0"/>
            </a:br>
            <a:endParaRPr lang="en-US" sz="3200" b="1" dirty="0" smtClean="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1266" name="Rectangle 2"/>
          <p:cNvSpPr>
            <a:spLocks noGrp="1" noChangeArrowheads="1"/>
          </p:cNvSpPr>
          <p:nvPr>
            <p:ph type="title"/>
          </p:nvPr>
        </p:nvSpPr>
        <p:spPr/>
        <p:txBody>
          <a:bodyPr/>
          <a:lstStyle/>
          <a:p>
            <a:r>
              <a:rPr lang="en-US" smtClean="0"/>
              <a:t>Methods to Control Microbial Growth</a:t>
            </a:r>
          </a:p>
        </p:txBody>
      </p:sp>
      <p:sp>
        <p:nvSpPr>
          <p:cNvPr id="17411" name="Rectangle 3"/>
          <p:cNvSpPr>
            <a:spLocks noGrp="1" noChangeArrowheads="1"/>
          </p:cNvSpPr>
          <p:nvPr>
            <p:ph type="body" idx="1"/>
          </p:nvPr>
        </p:nvSpPr>
        <p:spPr/>
        <p:txBody>
          <a:bodyPr/>
          <a:lstStyle/>
          <a:p>
            <a:r>
              <a:rPr lang="en-US" smtClean="0"/>
              <a:t>1. Physical</a:t>
            </a:r>
          </a:p>
          <a:p>
            <a:endParaRPr lang="en-US" smtClean="0"/>
          </a:p>
          <a:p>
            <a:r>
              <a:rPr lang="en-US" smtClean="0"/>
              <a:t>2. Chemical</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6" fill="hold" grpId="0" nodeType="clickEffect">
                                  <p:stCondLst>
                                    <p:cond delay="0"/>
                                  </p:stCondLst>
                                  <p:childTnLst>
                                    <p:set>
                                      <p:cBhvr>
                                        <p:cTn id="6" dur="1" fill="hold">
                                          <p:stCondLst>
                                            <p:cond delay="0"/>
                                          </p:stCondLst>
                                        </p:cTn>
                                        <p:tgtEl>
                                          <p:spTgt spid="17411">
                                            <p:txEl>
                                              <p:pRg st="0" end="0"/>
                                            </p:txEl>
                                          </p:spTgt>
                                        </p:tgtEl>
                                        <p:attrNameLst>
                                          <p:attrName>style.visibility</p:attrName>
                                        </p:attrNameLst>
                                      </p:cBhvr>
                                      <p:to>
                                        <p:strVal val="visible"/>
                                      </p:to>
                                    </p:set>
                                    <p:anim calcmode="lin" valueType="num">
                                      <p:cBhvr additive="base">
                                        <p:cTn id="7" dur="500" fill="hold"/>
                                        <p:tgtEl>
                                          <p:spTgt spid="17411">
                                            <p:txEl>
                                              <p:pRg st="0" end="0"/>
                                            </p:txEl>
                                          </p:spTgt>
                                        </p:tgtEl>
                                        <p:attrNameLst>
                                          <p:attrName>ppt_x</p:attrName>
                                        </p:attrNameLst>
                                      </p:cBhvr>
                                      <p:tavLst>
                                        <p:tav tm="0">
                                          <p:val>
                                            <p:strVal val="1+#ppt_w/2"/>
                                          </p:val>
                                        </p:tav>
                                        <p:tav tm="100000">
                                          <p:val>
                                            <p:strVal val="#ppt_x"/>
                                          </p:val>
                                        </p:tav>
                                      </p:tavLst>
                                    </p:anim>
                                    <p:anim calcmode="lin" valueType="num">
                                      <p:cBhvr additive="base">
                                        <p:cTn id="8" dur="500" fill="hold"/>
                                        <p:tgtEl>
                                          <p:spTgt spid="17411">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6" fill="hold" grpId="0" nodeType="clickEffect">
                                  <p:stCondLst>
                                    <p:cond delay="0"/>
                                  </p:stCondLst>
                                  <p:childTnLst>
                                    <p:set>
                                      <p:cBhvr>
                                        <p:cTn id="12" dur="1" fill="hold">
                                          <p:stCondLst>
                                            <p:cond delay="0"/>
                                          </p:stCondLst>
                                        </p:cTn>
                                        <p:tgtEl>
                                          <p:spTgt spid="17411">
                                            <p:txEl>
                                              <p:pRg st="2" end="2"/>
                                            </p:txEl>
                                          </p:spTgt>
                                        </p:tgtEl>
                                        <p:attrNameLst>
                                          <p:attrName>style.visibility</p:attrName>
                                        </p:attrNameLst>
                                      </p:cBhvr>
                                      <p:to>
                                        <p:strVal val="visible"/>
                                      </p:to>
                                    </p:set>
                                    <p:anim calcmode="lin" valueType="num">
                                      <p:cBhvr additive="base">
                                        <p:cTn id="13" dur="500" fill="hold"/>
                                        <p:tgtEl>
                                          <p:spTgt spid="17411">
                                            <p:txEl>
                                              <p:pRg st="2" end="2"/>
                                            </p:txEl>
                                          </p:spTgt>
                                        </p:tgtEl>
                                        <p:attrNameLst>
                                          <p:attrName>ppt_x</p:attrName>
                                        </p:attrNameLst>
                                      </p:cBhvr>
                                      <p:tavLst>
                                        <p:tav tm="0">
                                          <p:val>
                                            <p:strVal val="1+#ppt_w/2"/>
                                          </p:val>
                                        </p:tav>
                                        <p:tav tm="100000">
                                          <p:val>
                                            <p:strVal val="#ppt_x"/>
                                          </p:val>
                                        </p:tav>
                                      </p:tavLst>
                                    </p:anim>
                                    <p:anim calcmode="lin" valueType="num">
                                      <p:cBhvr additive="base">
                                        <p:cTn id="14" dur="500" fill="hold"/>
                                        <p:tgtEl>
                                          <p:spTgt spid="17411">
                                            <p:txEl>
                                              <p:pRg st="2" end="2"/>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411" grpId="0" build="p" autoUpdateAnimBg="0"/>
    </p:bldLst>
  </p:timing>
</p:sld>
</file>

<file path=ppt/slides/slide3.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2290" name="Rectangle 2"/>
          <p:cNvSpPr>
            <a:spLocks noGrp="1" noChangeArrowheads="1"/>
          </p:cNvSpPr>
          <p:nvPr>
            <p:ph type="title"/>
          </p:nvPr>
        </p:nvSpPr>
        <p:spPr/>
        <p:txBody>
          <a:bodyPr/>
          <a:lstStyle/>
          <a:p>
            <a:r>
              <a:rPr lang="en-US" smtClean="0"/>
              <a:t>Terms used:</a:t>
            </a:r>
          </a:p>
        </p:txBody>
      </p:sp>
      <p:sp>
        <p:nvSpPr>
          <p:cNvPr id="18435" name="Rectangle 3"/>
          <p:cNvSpPr>
            <a:spLocks noGrp="1" noChangeArrowheads="1"/>
          </p:cNvSpPr>
          <p:nvPr>
            <p:ph type="body" idx="1"/>
          </p:nvPr>
        </p:nvSpPr>
        <p:spPr>
          <a:xfrm>
            <a:off x="0" y="1524000"/>
            <a:ext cx="9024938" cy="4572000"/>
          </a:xfrm>
        </p:spPr>
        <p:txBody>
          <a:bodyPr/>
          <a:lstStyle/>
          <a:p>
            <a:pPr>
              <a:buFont typeface="Arial" charset="0"/>
              <a:buNone/>
            </a:pPr>
            <a:r>
              <a:rPr lang="en-US" sz="4000" smtClean="0"/>
              <a:t>Sterilization vs. Disinfection</a:t>
            </a:r>
          </a:p>
          <a:p>
            <a:pPr>
              <a:buFont typeface="Arial" charset="0"/>
              <a:buNone/>
            </a:pPr>
            <a:r>
              <a:rPr lang="en-US" sz="4000" smtClean="0"/>
              <a:t>Sterilization</a:t>
            </a:r>
          </a:p>
          <a:p>
            <a:pPr lvl="1">
              <a:buFont typeface="Arial" charset="0"/>
              <a:buNone/>
            </a:pPr>
            <a:r>
              <a:rPr lang="en-US" sz="3600" smtClean="0"/>
              <a:t>destroying all forms of life</a:t>
            </a:r>
          </a:p>
          <a:p>
            <a:pPr>
              <a:buFont typeface="Arial" charset="0"/>
              <a:buNone/>
            </a:pPr>
            <a:r>
              <a:rPr lang="en-US" sz="4000" smtClean="0"/>
              <a:t>Disinfection</a:t>
            </a:r>
          </a:p>
          <a:p>
            <a:pPr lvl="1">
              <a:buFont typeface="Arial" charset="0"/>
              <a:buNone/>
            </a:pPr>
            <a:r>
              <a:rPr lang="en-US" sz="3600" smtClean="0"/>
              <a:t>destroying pathogens or unwanted organisms</a:t>
            </a:r>
          </a:p>
          <a:p>
            <a:endParaRPr lang="en-US" smtClean="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18435">
                                            <p:txEl>
                                              <p:pRg st="0" end="0"/>
                                            </p:txEl>
                                          </p:spTgt>
                                        </p:tgtEl>
                                        <p:attrNameLst>
                                          <p:attrName>style.visibility</p:attrName>
                                        </p:attrNameLst>
                                      </p:cBhvr>
                                      <p:to>
                                        <p:strVal val="visible"/>
                                      </p:to>
                                    </p:set>
                                    <p:animEffect transition="in" filter="blinds(horizontal)">
                                      <p:cBhvr>
                                        <p:cTn id="7" dur="500"/>
                                        <p:tgtEl>
                                          <p:spTgt spid="18435">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18435">
                                            <p:txEl>
                                              <p:pRg st="1" end="1"/>
                                            </p:txEl>
                                          </p:spTgt>
                                        </p:tgtEl>
                                        <p:attrNameLst>
                                          <p:attrName>style.visibility</p:attrName>
                                        </p:attrNameLst>
                                      </p:cBhvr>
                                      <p:to>
                                        <p:strVal val="visible"/>
                                      </p:to>
                                    </p:set>
                                    <p:animEffect transition="in" filter="blinds(horizontal)">
                                      <p:cBhvr>
                                        <p:cTn id="12" dur="500"/>
                                        <p:tgtEl>
                                          <p:spTgt spid="18435">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18435">
                                            <p:txEl>
                                              <p:pRg st="2" end="2"/>
                                            </p:txEl>
                                          </p:spTgt>
                                        </p:tgtEl>
                                        <p:attrNameLst>
                                          <p:attrName>style.visibility</p:attrName>
                                        </p:attrNameLst>
                                      </p:cBhvr>
                                      <p:to>
                                        <p:strVal val="visible"/>
                                      </p:to>
                                    </p:set>
                                    <p:animEffect transition="in" filter="blinds(horizontal)">
                                      <p:cBhvr>
                                        <p:cTn id="17" dur="500"/>
                                        <p:tgtEl>
                                          <p:spTgt spid="18435">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grpId="0" nodeType="clickEffect">
                                  <p:stCondLst>
                                    <p:cond delay="0"/>
                                  </p:stCondLst>
                                  <p:childTnLst>
                                    <p:set>
                                      <p:cBhvr>
                                        <p:cTn id="21" dur="1" fill="hold">
                                          <p:stCondLst>
                                            <p:cond delay="0"/>
                                          </p:stCondLst>
                                        </p:cTn>
                                        <p:tgtEl>
                                          <p:spTgt spid="18435">
                                            <p:txEl>
                                              <p:pRg st="3" end="3"/>
                                            </p:txEl>
                                          </p:spTgt>
                                        </p:tgtEl>
                                        <p:attrNameLst>
                                          <p:attrName>style.visibility</p:attrName>
                                        </p:attrNameLst>
                                      </p:cBhvr>
                                      <p:to>
                                        <p:strVal val="visible"/>
                                      </p:to>
                                    </p:set>
                                    <p:animEffect transition="in" filter="blinds(horizontal)">
                                      <p:cBhvr>
                                        <p:cTn id="22" dur="500"/>
                                        <p:tgtEl>
                                          <p:spTgt spid="18435">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3" presetClass="entr" presetSubtype="10" fill="hold" grpId="0" nodeType="clickEffect">
                                  <p:stCondLst>
                                    <p:cond delay="0"/>
                                  </p:stCondLst>
                                  <p:childTnLst>
                                    <p:set>
                                      <p:cBhvr>
                                        <p:cTn id="26" dur="1" fill="hold">
                                          <p:stCondLst>
                                            <p:cond delay="0"/>
                                          </p:stCondLst>
                                        </p:cTn>
                                        <p:tgtEl>
                                          <p:spTgt spid="18435">
                                            <p:txEl>
                                              <p:pRg st="4" end="4"/>
                                            </p:txEl>
                                          </p:spTgt>
                                        </p:tgtEl>
                                        <p:attrNameLst>
                                          <p:attrName>style.visibility</p:attrName>
                                        </p:attrNameLst>
                                      </p:cBhvr>
                                      <p:to>
                                        <p:strVal val="visible"/>
                                      </p:to>
                                    </p:set>
                                    <p:animEffect transition="in" filter="blinds(horizontal)">
                                      <p:cBhvr>
                                        <p:cTn id="27" dur="500"/>
                                        <p:tgtEl>
                                          <p:spTgt spid="18435">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435" grpId="0" build="p" bldLvl="2" autoUpdateAnimBg="0"/>
    </p:bldLst>
  </p:timing>
</p:sld>
</file>

<file path=ppt/slides/slide4.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3314" name="Rectangle 2"/>
          <p:cNvSpPr>
            <a:spLocks noGrp="1" noChangeArrowheads="1"/>
          </p:cNvSpPr>
          <p:nvPr>
            <p:ph type="title"/>
          </p:nvPr>
        </p:nvSpPr>
        <p:spPr/>
        <p:txBody>
          <a:bodyPr/>
          <a:lstStyle/>
          <a:p>
            <a:endParaRPr lang="en-US" smtClean="0"/>
          </a:p>
        </p:txBody>
      </p:sp>
      <p:sp>
        <p:nvSpPr>
          <p:cNvPr id="19459" name="Rectangle 3"/>
          <p:cNvSpPr>
            <a:spLocks noGrp="1" noChangeArrowheads="1"/>
          </p:cNvSpPr>
          <p:nvPr>
            <p:ph type="body" idx="1"/>
          </p:nvPr>
        </p:nvSpPr>
        <p:spPr/>
        <p:txBody>
          <a:bodyPr/>
          <a:lstStyle/>
          <a:p>
            <a:pPr>
              <a:buFont typeface="Arial" charset="0"/>
              <a:buNone/>
            </a:pPr>
            <a:r>
              <a:rPr lang="en-US" sz="3600" smtClean="0"/>
              <a:t>Disinfectant vs. Antiseptic</a:t>
            </a:r>
          </a:p>
          <a:p>
            <a:pPr>
              <a:buFont typeface="Arial" charset="0"/>
              <a:buNone/>
            </a:pPr>
            <a:r>
              <a:rPr lang="en-US" sz="3600" smtClean="0"/>
              <a:t>Disinfectant</a:t>
            </a:r>
          </a:p>
          <a:p>
            <a:pPr lvl="1">
              <a:buFont typeface="Arial" charset="0"/>
              <a:buNone/>
            </a:pPr>
            <a:r>
              <a:rPr lang="en-US" sz="3200" smtClean="0"/>
              <a:t>antimicrobial agent used on inanimate objects</a:t>
            </a:r>
          </a:p>
          <a:p>
            <a:pPr>
              <a:buFont typeface="Arial" charset="0"/>
              <a:buNone/>
            </a:pPr>
            <a:r>
              <a:rPr lang="en-US" sz="3600" smtClean="0"/>
              <a:t>Antiseptic</a:t>
            </a:r>
          </a:p>
          <a:p>
            <a:pPr lvl="1">
              <a:buFont typeface="Arial" charset="0"/>
              <a:buNone/>
            </a:pPr>
            <a:r>
              <a:rPr lang="en-US" sz="3200" smtClean="0"/>
              <a:t>antimicrobial agent used on living tissue</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19459">
                                            <p:txEl>
                                              <p:pRg st="0" end="0"/>
                                            </p:txEl>
                                          </p:spTgt>
                                        </p:tgtEl>
                                        <p:attrNameLst>
                                          <p:attrName>style.visibility</p:attrName>
                                        </p:attrNameLst>
                                      </p:cBhvr>
                                      <p:to>
                                        <p:strVal val="visible"/>
                                      </p:to>
                                    </p:set>
                                    <p:animEffect transition="in" filter="blinds(horizontal)">
                                      <p:cBhvr>
                                        <p:cTn id="7" dur="500"/>
                                        <p:tgtEl>
                                          <p:spTgt spid="19459">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19459">
                                            <p:txEl>
                                              <p:pRg st="1" end="1"/>
                                            </p:txEl>
                                          </p:spTgt>
                                        </p:tgtEl>
                                        <p:attrNameLst>
                                          <p:attrName>style.visibility</p:attrName>
                                        </p:attrNameLst>
                                      </p:cBhvr>
                                      <p:to>
                                        <p:strVal val="visible"/>
                                      </p:to>
                                    </p:set>
                                    <p:animEffect transition="in" filter="blinds(horizontal)">
                                      <p:cBhvr>
                                        <p:cTn id="12" dur="500"/>
                                        <p:tgtEl>
                                          <p:spTgt spid="19459">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19459">
                                            <p:txEl>
                                              <p:pRg st="2" end="2"/>
                                            </p:txEl>
                                          </p:spTgt>
                                        </p:tgtEl>
                                        <p:attrNameLst>
                                          <p:attrName>style.visibility</p:attrName>
                                        </p:attrNameLst>
                                      </p:cBhvr>
                                      <p:to>
                                        <p:strVal val="visible"/>
                                      </p:to>
                                    </p:set>
                                    <p:animEffect transition="in" filter="blinds(horizontal)">
                                      <p:cBhvr>
                                        <p:cTn id="17" dur="500"/>
                                        <p:tgtEl>
                                          <p:spTgt spid="19459">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grpId="0" nodeType="clickEffect">
                                  <p:stCondLst>
                                    <p:cond delay="0"/>
                                  </p:stCondLst>
                                  <p:childTnLst>
                                    <p:set>
                                      <p:cBhvr>
                                        <p:cTn id="21" dur="1" fill="hold">
                                          <p:stCondLst>
                                            <p:cond delay="0"/>
                                          </p:stCondLst>
                                        </p:cTn>
                                        <p:tgtEl>
                                          <p:spTgt spid="19459">
                                            <p:txEl>
                                              <p:pRg st="3" end="3"/>
                                            </p:txEl>
                                          </p:spTgt>
                                        </p:tgtEl>
                                        <p:attrNameLst>
                                          <p:attrName>style.visibility</p:attrName>
                                        </p:attrNameLst>
                                      </p:cBhvr>
                                      <p:to>
                                        <p:strVal val="visible"/>
                                      </p:to>
                                    </p:set>
                                    <p:animEffect transition="in" filter="blinds(horizontal)">
                                      <p:cBhvr>
                                        <p:cTn id="22" dur="500"/>
                                        <p:tgtEl>
                                          <p:spTgt spid="19459">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3" presetClass="entr" presetSubtype="10" fill="hold" grpId="0" nodeType="clickEffect">
                                  <p:stCondLst>
                                    <p:cond delay="0"/>
                                  </p:stCondLst>
                                  <p:childTnLst>
                                    <p:set>
                                      <p:cBhvr>
                                        <p:cTn id="26" dur="1" fill="hold">
                                          <p:stCondLst>
                                            <p:cond delay="0"/>
                                          </p:stCondLst>
                                        </p:cTn>
                                        <p:tgtEl>
                                          <p:spTgt spid="19459">
                                            <p:txEl>
                                              <p:pRg st="4" end="4"/>
                                            </p:txEl>
                                          </p:spTgt>
                                        </p:tgtEl>
                                        <p:attrNameLst>
                                          <p:attrName>style.visibility</p:attrName>
                                        </p:attrNameLst>
                                      </p:cBhvr>
                                      <p:to>
                                        <p:strVal val="visible"/>
                                      </p:to>
                                    </p:set>
                                    <p:animEffect transition="in" filter="blinds(horizontal)">
                                      <p:cBhvr>
                                        <p:cTn id="27" dur="500"/>
                                        <p:tgtEl>
                                          <p:spTgt spid="19459">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459" grpId="0" build="p" bldLvl="2" autoUpdateAnimBg="0"/>
    </p:bldLst>
  </p:timing>
</p:sld>
</file>

<file path=ppt/slides/slide5.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4338" name="Rectangle 2"/>
          <p:cNvSpPr>
            <a:spLocks noGrp="1" noChangeArrowheads="1"/>
          </p:cNvSpPr>
          <p:nvPr>
            <p:ph type="title"/>
          </p:nvPr>
        </p:nvSpPr>
        <p:spPr/>
        <p:txBody>
          <a:bodyPr/>
          <a:lstStyle/>
          <a:p>
            <a:r>
              <a:rPr lang="en-US" smtClean="0"/>
              <a:t>Factors that effect Antimicrobial Activity</a:t>
            </a:r>
          </a:p>
        </p:txBody>
      </p:sp>
      <p:sp>
        <p:nvSpPr>
          <p:cNvPr id="21507" name="Rectangle 3"/>
          <p:cNvSpPr>
            <a:spLocks noGrp="1" noChangeArrowheads="1"/>
          </p:cNvSpPr>
          <p:nvPr>
            <p:ph type="body" idx="1"/>
          </p:nvPr>
        </p:nvSpPr>
        <p:spPr/>
        <p:txBody>
          <a:bodyPr/>
          <a:lstStyle/>
          <a:p>
            <a:pPr>
              <a:buFont typeface="Arial" charset="0"/>
              <a:buNone/>
            </a:pPr>
            <a:r>
              <a:rPr lang="en-US" smtClean="0"/>
              <a:t>1. Temp</a:t>
            </a:r>
          </a:p>
          <a:p>
            <a:pPr>
              <a:buFont typeface="Arial" charset="0"/>
              <a:buNone/>
            </a:pPr>
            <a:r>
              <a:rPr lang="en-US" smtClean="0"/>
              <a:t>2. Time</a:t>
            </a:r>
          </a:p>
          <a:p>
            <a:pPr>
              <a:buFont typeface="Arial" charset="0"/>
              <a:buNone/>
            </a:pPr>
            <a:r>
              <a:rPr lang="en-US" smtClean="0"/>
              <a:t>3. Concentration of Antimicrobial agent</a:t>
            </a:r>
          </a:p>
          <a:p>
            <a:pPr>
              <a:buFont typeface="Arial" charset="0"/>
              <a:buNone/>
            </a:pPr>
            <a:r>
              <a:rPr lang="en-US" smtClean="0"/>
              <a:t>4. Type of Microbe</a:t>
            </a:r>
          </a:p>
          <a:p>
            <a:pPr>
              <a:buFont typeface="Arial" charset="0"/>
              <a:buNone/>
            </a:pPr>
            <a:r>
              <a:rPr lang="en-US" smtClean="0"/>
              <a:t>5. Activity of Microbe</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 presetClass="entr" presetSubtype="10" fill="hold" grpId="0" nodeType="clickEffect">
                                  <p:stCondLst>
                                    <p:cond delay="0"/>
                                  </p:stCondLst>
                                  <p:childTnLst>
                                    <p:set>
                                      <p:cBhvr>
                                        <p:cTn id="6" dur="1" fill="hold">
                                          <p:stCondLst>
                                            <p:cond delay="0"/>
                                          </p:stCondLst>
                                        </p:cTn>
                                        <p:tgtEl>
                                          <p:spTgt spid="21507">
                                            <p:txEl>
                                              <p:pRg st="0" end="0"/>
                                            </p:txEl>
                                          </p:spTgt>
                                        </p:tgtEl>
                                        <p:attrNameLst>
                                          <p:attrName>style.visibility</p:attrName>
                                        </p:attrNameLst>
                                      </p:cBhvr>
                                      <p:to>
                                        <p:strVal val="visible"/>
                                      </p:to>
                                    </p:set>
                                    <p:animEffect transition="in" filter="checkerboard(across)">
                                      <p:cBhvr>
                                        <p:cTn id="7" dur="500"/>
                                        <p:tgtEl>
                                          <p:spTgt spid="21507">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5" presetClass="entr" presetSubtype="10" fill="hold" grpId="0" nodeType="clickEffect">
                                  <p:stCondLst>
                                    <p:cond delay="0"/>
                                  </p:stCondLst>
                                  <p:childTnLst>
                                    <p:set>
                                      <p:cBhvr>
                                        <p:cTn id="11" dur="1" fill="hold">
                                          <p:stCondLst>
                                            <p:cond delay="0"/>
                                          </p:stCondLst>
                                        </p:cTn>
                                        <p:tgtEl>
                                          <p:spTgt spid="21507">
                                            <p:txEl>
                                              <p:pRg st="1" end="1"/>
                                            </p:txEl>
                                          </p:spTgt>
                                        </p:tgtEl>
                                        <p:attrNameLst>
                                          <p:attrName>style.visibility</p:attrName>
                                        </p:attrNameLst>
                                      </p:cBhvr>
                                      <p:to>
                                        <p:strVal val="visible"/>
                                      </p:to>
                                    </p:set>
                                    <p:animEffect transition="in" filter="checkerboard(across)">
                                      <p:cBhvr>
                                        <p:cTn id="12" dur="500"/>
                                        <p:tgtEl>
                                          <p:spTgt spid="21507">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5" presetClass="entr" presetSubtype="10" fill="hold" grpId="0" nodeType="clickEffect">
                                  <p:stCondLst>
                                    <p:cond delay="0"/>
                                  </p:stCondLst>
                                  <p:childTnLst>
                                    <p:set>
                                      <p:cBhvr>
                                        <p:cTn id="16" dur="1" fill="hold">
                                          <p:stCondLst>
                                            <p:cond delay="0"/>
                                          </p:stCondLst>
                                        </p:cTn>
                                        <p:tgtEl>
                                          <p:spTgt spid="21507">
                                            <p:txEl>
                                              <p:pRg st="2" end="2"/>
                                            </p:txEl>
                                          </p:spTgt>
                                        </p:tgtEl>
                                        <p:attrNameLst>
                                          <p:attrName>style.visibility</p:attrName>
                                        </p:attrNameLst>
                                      </p:cBhvr>
                                      <p:to>
                                        <p:strVal val="visible"/>
                                      </p:to>
                                    </p:set>
                                    <p:animEffect transition="in" filter="checkerboard(across)">
                                      <p:cBhvr>
                                        <p:cTn id="17" dur="500"/>
                                        <p:tgtEl>
                                          <p:spTgt spid="21507">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5" presetClass="entr" presetSubtype="10" fill="hold" grpId="0" nodeType="clickEffect">
                                  <p:stCondLst>
                                    <p:cond delay="0"/>
                                  </p:stCondLst>
                                  <p:childTnLst>
                                    <p:set>
                                      <p:cBhvr>
                                        <p:cTn id="21" dur="1" fill="hold">
                                          <p:stCondLst>
                                            <p:cond delay="0"/>
                                          </p:stCondLst>
                                        </p:cTn>
                                        <p:tgtEl>
                                          <p:spTgt spid="21507">
                                            <p:txEl>
                                              <p:pRg st="3" end="3"/>
                                            </p:txEl>
                                          </p:spTgt>
                                        </p:tgtEl>
                                        <p:attrNameLst>
                                          <p:attrName>style.visibility</p:attrName>
                                        </p:attrNameLst>
                                      </p:cBhvr>
                                      <p:to>
                                        <p:strVal val="visible"/>
                                      </p:to>
                                    </p:set>
                                    <p:animEffect transition="in" filter="checkerboard(across)">
                                      <p:cBhvr>
                                        <p:cTn id="22" dur="500"/>
                                        <p:tgtEl>
                                          <p:spTgt spid="21507">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5" presetClass="entr" presetSubtype="10" fill="hold" grpId="0" nodeType="clickEffect">
                                  <p:stCondLst>
                                    <p:cond delay="0"/>
                                  </p:stCondLst>
                                  <p:childTnLst>
                                    <p:set>
                                      <p:cBhvr>
                                        <p:cTn id="26" dur="1" fill="hold">
                                          <p:stCondLst>
                                            <p:cond delay="0"/>
                                          </p:stCondLst>
                                        </p:cTn>
                                        <p:tgtEl>
                                          <p:spTgt spid="21507">
                                            <p:txEl>
                                              <p:pRg st="4" end="4"/>
                                            </p:txEl>
                                          </p:spTgt>
                                        </p:tgtEl>
                                        <p:attrNameLst>
                                          <p:attrName>style.visibility</p:attrName>
                                        </p:attrNameLst>
                                      </p:cBhvr>
                                      <p:to>
                                        <p:strVal val="visible"/>
                                      </p:to>
                                    </p:set>
                                    <p:animEffect transition="in" filter="checkerboard(across)">
                                      <p:cBhvr>
                                        <p:cTn id="27" dur="500"/>
                                        <p:tgtEl>
                                          <p:spTgt spid="21507">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507" grpId="0" build="p" autoUpdateAnimBg="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Title 1"/>
          <p:cNvSpPr>
            <a:spLocks noGrp="1"/>
          </p:cNvSpPr>
          <p:nvPr>
            <p:ph type="title"/>
          </p:nvPr>
        </p:nvSpPr>
        <p:spPr/>
        <p:txBody>
          <a:bodyPr/>
          <a:lstStyle/>
          <a:p>
            <a:endParaRPr lang="en-US" smtClean="0"/>
          </a:p>
        </p:txBody>
      </p:sp>
      <p:sp>
        <p:nvSpPr>
          <p:cNvPr id="15363" name="Content Placeholder 2"/>
          <p:cNvSpPr>
            <a:spLocks noGrp="1"/>
          </p:cNvSpPr>
          <p:nvPr>
            <p:ph idx="1"/>
          </p:nvPr>
        </p:nvSpPr>
        <p:spPr/>
        <p:txBody>
          <a:bodyPr/>
          <a:lstStyle/>
          <a:p>
            <a:pPr>
              <a:buFont typeface="Arial" charset="0"/>
              <a:buNone/>
            </a:pPr>
            <a:r>
              <a:rPr lang="en-US" smtClean="0"/>
              <a:t>The control of microbial growth is necessary in many practical situations, and significant advances in agriculture, medicine, and food science have been made through study of this area of microbiology.</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3075" name="Rectangle 3"/>
          <p:cNvSpPr>
            <a:spLocks noGrp="1" noChangeArrowheads="1"/>
          </p:cNvSpPr>
          <p:nvPr>
            <p:ph idx="1"/>
          </p:nvPr>
        </p:nvSpPr>
        <p:spPr>
          <a:xfrm>
            <a:off x="838200" y="304800"/>
            <a:ext cx="7924800" cy="5715000"/>
          </a:xfrm>
        </p:spPr>
        <p:txBody>
          <a:bodyPr rtlCol="0">
            <a:normAutofit lnSpcReduction="10000"/>
          </a:bodyPr>
          <a:lstStyle/>
          <a:p>
            <a:pPr eaLnBrk="1" fontAlgn="auto" hangingPunct="1">
              <a:lnSpc>
                <a:spcPct val="90000"/>
              </a:lnSpc>
              <a:spcAft>
                <a:spcPts val="0"/>
              </a:spcAft>
              <a:buFont typeface="Monotype Sorts" pitchFamily="2" charset="2"/>
              <a:buNone/>
              <a:defRPr/>
            </a:pPr>
            <a:r>
              <a:rPr lang="en-US" sz="3600" b="1" smtClean="0">
                <a:solidFill>
                  <a:schemeClr val="tx2"/>
                </a:solidFill>
              </a:rPr>
              <a:t>Control of Microbial Growth:</a:t>
            </a:r>
          </a:p>
          <a:p>
            <a:pPr eaLnBrk="1" fontAlgn="auto" hangingPunct="1">
              <a:lnSpc>
                <a:spcPct val="90000"/>
              </a:lnSpc>
              <a:spcAft>
                <a:spcPts val="0"/>
              </a:spcAft>
              <a:buFont typeface="Monotype Sorts" pitchFamily="2" charset="2"/>
              <a:buNone/>
              <a:defRPr/>
            </a:pPr>
            <a:r>
              <a:rPr lang="en-US" sz="3600" b="1" smtClean="0">
                <a:solidFill>
                  <a:schemeClr val="tx2"/>
                </a:solidFill>
              </a:rPr>
              <a:t>D	efinitions</a:t>
            </a:r>
          </a:p>
          <a:p>
            <a:pPr eaLnBrk="1" fontAlgn="auto" hangingPunct="1">
              <a:lnSpc>
                <a:spcPct val="90000"/>
              </a:lnSpc>
              <a:spcAft>
                <a:spcPts val="0"/>
              </a:spcAft>
              <a:buFont typeface="Monotype Sorts" pitchFamily="2" charset="2"/>
              <a:buNone/>
              <a:defRPr/>
            </a:pPr>
            <a:r>
              <a:rPr lang="en-US" sz="2800" b="1" smtClean="0"/>
              <a:t>	Sterilization: </a:t>
            </a:r>
            <a:r>
              <a:rPr lang="en-US" sz="2800" smtClean="0"/>
              <a:t>Killing or removing </a:t>
            </a:r>
            <a:r>
              <a:rPr lang="en-US" sz="2800" b="1" i="1" smtClean="0"/>
              <a:t>all forms of microbial life</a:t>
            </a:r>
            <a:r>
              <a:rPr lang="en-US" sz="2800" smtClean="0"/>
              <a:t> (including </a:t>
            </a:r>
            <a:r>
              <a:rPr lang="en-US" sz="2800" b="1" u="sng" smtClean="0"/>
              <a:t>endospores</a:t>
            </a:r>
            <a:r>
              <a:rPr lang="en-US" sz="2800" smtClean="0"/>
              <a:t>) in a material or an object.  </a:t>
            </a:r>
          </a:p>
          <a:p>
            <a:pPr eaLnBrk="1" fontAlgn="auto" hangingPunct="1">
              <a:lnSpc>
                <a:spcPct val="90000"/>
              </a:lnSpc>
              <a:spcAft>
                <a:spcPts val="0"/>
              </a:spcAft>
              <a:buFont typeface="Monotype Sorts" pitchFamily="2" charset="2"/>
              <a:buNone/>
              <a:defRPr/>
            </a:pPr>
            <a:r>
              <a:rPr lang="en-US" sz="2800" smtClean="0"/>
              <a:t>	Heating is the most commonly used method of sterilization.</a:t>
            </a:r>
          </a:p>
          <a:p>
            <a:pPr eaLnBrk="1" fontAlgn="auto" hangingPunct="1">
              <a:lnSpc>
                <a:spcPct val="90000"/>
              </a:lnSpc>
              <a:spcAft>
                <a:spcPts val="0"/>
              </a:spcAft>
              <a:buFont typeface="Monotype Sorts" pitchFamily="2" charset="2"/>
              <a:buNone/>
              <a:defRPr/>
            </a:pPr>
            <a:r>
              <a:rPr lang="en-US" sz="2800" b="1" smtClean="0"/>
              <a:t>	Commercial Sterilization</a:t>
            </a:r>
            <a:r>
              <a:rPr lang="en-US" sz="2800" smtClean="0"/>
              <a:t>:  Heat treatment that kills endospores of </a:t>
            </a:r>
            <a:r>
              <a:rPr lang="en-US" sz="2800" b="1" i="1" smtClean="0"/>
              <a:t>Clostridium botulinum</a:t>
            </a:r>
            <a:r>
              <a:rPr lang="en-US" sz="2800" smtClean="0"/>
              <a:t> the causative agent of botulism, in canned food.  </a:t>
            </a:r>
          </a:p>
          <a:p>
            <a:pPr eaLnBrk="1" fontAlgn="auto" hangingPunct="1">
              <a:lnSpc>
                <a:spcPct val="90000"/>
              </a:lnSpc>
              <a:spcAft>
                <a:spcPts val="0"/>
              </a:spcAft>
              <a:buFont typeface="Monotype Sorts" pitchFamily="2" charset="2"/>
              <a:buNone/>
              <a:defRPr/>
            </a:pPr>
            <a:r>
              <a:rPr lang="en-US" sz="2800" smtClean="0"/>
              <a:t>	Does not kill endospores of thermophiles, which are not pathogens and may grow at temperatures above 45</a:t>
            </a:r>
            <a:r>
              <a:rPr lang="en-US" sz="2800" baseline="30000" smtClean="0"/>
              <a:t>o</a:t>
            </a:r>
            <a:r>
              <a:rPr lang="en-US" sz="2800" smtClean="0"/>
              <a:t>C.</a:t>
            </a:r>
            <a:endParaRPr lang="en-US" smtClean="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3075">
                                            <p:txEl>
                                              <p:pRg st="0" end="0"/>
                                            </p:txEl>
                                          </p:spTgt>
                                        </p:tgtEl>
                                        <p:attrNameLst>
                                          <p:attrName>style.visibility</p:attrName>
                                        </p:attrNameLst>
                                      </p:cBhvr>
                                      <p:to>
                                        <p:strVal val="visible"/>
                                      </p:to>
                                    </p:set>
                                    <p:anim calcmode="lin" valueType="num">
                                      <p:cBhvr additive="base">
                                        <p:cTn id="7" dur="500" fill="hold"/>
                                        <p:tgtEl>
                                          <p:spTgt spid="3075">
                                            <p:txEl>
                                              <p:pRg st="0" end="0"/>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3075">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3075">
                                            <p:txEl>
                                              <p:pRg st="1" end="1"/>
                                            </p:txEl>
                                          </p:spTgt>
                                        </p:tgtEl>
                                        <p:attrNameLst>
                                          <p:attrName>style.visibility</p:attrName>
                                        </p:attrNameLst>
                                      </p:cBhvr>
                                      <p:to>
                                        <p:strVal val="visible"/>
                                      </p:to>
                                    </p:set>
                                    <p:anim calcmode="lin" valueType="num">
                                      <p:cBhvr additive="base">
                                        <p:cTn id="13" dur="500" fill="hold"/>
                                        <p:tgtEl>
                                          <p:spTgt spid="3075">
                                            <p:txEl>
                                              <p:pRg st="1" end="1"/>
                                            </p:txEl>
                                          </p:spTgt>
                                        </p:tgtEl>
                                        <p:attrNameLst>
                                          <p:attrName>ppt_x</p:attrName>
                                        </p:attrNameLst>
                                      </p:cBhvr>
                                      <p:tavLst>
                                        <p:tav tm="0">
                                          <p:val>
                                            <p:strVal val="0-#ppt_w/2"/>
                                          </p:val>
                                        </p:tav>
                                        <p:tav tm="100000">
                                          <p:val>
                                            <p:strVal val="#ppt_x"/>
                                          </p:val>
                                        </p:tav>
                                      </p:tavLst>
                                    </p:anim>
                                    <p:anim calcmode="lin" valueType="num">
                                      <p:cBhvr additive="base">
                                        <p:cTn id="14" dur="500" fill="hold"/>
                                        <p:tgtEl>
                                          <p:spTgt spid="3075">
                                            <p:txEl>
                                              <p:pRg st="1" end="1"/>
                                            </p:txEl>
                                          </p:spTgt>
                                        </p:tgtEl>
                                        <p:attrNameLst>
                                          <p:attrName>ppt_y</p:attrName>
                                        </p:attrNameLst>
                                      </p:cBhvr>
                                      <p:tavLst>
                                        <p:tav tm="0">
                                          <p:val>
                                            <p:strVal val="#ppt_y"/>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8" fill="hold" grpId="0" nodeType="clickEffect">
                                  <p:stCondLst>
                                    <p:cond delay="0"/>
                                  </p:stCondLst>
                                  <p:childTnLst>
                                    <p:set>
                                      <p:cBhvr>
                                        <p:cTn id="18" dur="1" fill="hold">
                                          <p:stCondLst>
                                            <p:cond delay="0"/>
                                          </p:stCondLst>
                                        </p:cTn>
                                        <p:tgtEl>
                                          <p:spTgt spid="3075">
                                            <p:txEl>
                                              <p:pRg st="2" end="2"/>
                                            </p:txEl>
                                          </p:spTgt>
                                        </p:tgtEl>
                                        <p:attrNameLst>
                                          <p:attrName>style.visibility</p:attrName>
                                        </p:attrNameLst>
                                      </p:cBhvr>
                                      <p:to>
                                        <p:strVal val="visible"/>
                                      </p:to>
                                    </p:set>
                                    <p:anim calcmode="lin" valueType="num">
                                      <p:cBhvr additive="base">
                                        <p:cTn id="19" dur="500" fill="hold"/>
                                        <p:tgtEl>
                                          <p:spTgt spid="3075">
                                            <p:txEl>
                                              <p:pRg st="2" end="2"/>
                                            </p:txEl>
                                          </p:spTgt>
                                        </p:tgtEl>
                                        <p:attrNameLst>
                                          <p:attrName>ppt_x</p:attrName>
                                        </p:attrNameLst>
                                      </p:cBhvr>
                                      <p:tavLst>
                                        <p:tav tm="0">
                                          <p:val>
                                            <p:strVal val="0-#ppt_w/2"/>
                                          </p:val>
                                        </p:tav>
                                        <p:tav tm="100000">
                                          <p:val>
                                            <p:strVal val="#ppt_x"/>
                                          </p:val>
                                        </p:tav>
                                      </p:tavLst>
                                    </p:anim>
                                    <p:anim calcmode="lin" valueType="num">
                                      <p:cBhvr additive="base">
                                        <p:cTn id="20" dur="500" fill="hold"/>
                                        <p:tgtEl>
                                          <p:spTgt spid="3075">
                                            <p:txEl>
                                              <p:pRg st="2" end="2"/>
                                            </p:txEl>
                                          </p:spTgt>
                                        </p:tgtEl>
                                        <p:attrNameLst>
                                          <p:attrName>ppt_y</p:attrName>
                                        </p:attrNameLst>
                                      </p:cBhvr>
                                      <p:tavLst>
                                        <p:tav tm="0">
                                          <p:val>
                                            <p:strVal val="#ppt_y"/>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8" fill="hold" grpId="0" nodeType="clickEffect">
                                  <p:stCondLst>
                                    <p:cond delay="0"/>
                                  </p:stCondLst>
                                  <p:childTnLst>
                                    <p:set>
                                      <p:cBhvr>
                                        <p:cTn id="24" dur="1" fill="hold">
                                          <p:stCondLst>
                                            <p:cond delay="0"/>
                                          </p:stCondLst>
                                        </p:cTn>
                                        <p:tgtEl>
                                          <p:spTgt spid="3075">
                                            <p:txEl>
                                              <p:pRg st="3" end="3"/>
                                            </p:txEl>
                                          </p:spTgt>
                                        </p:tgtEl>
                                        <p:attrNameLst>
                                          <p:attrName>style.visibility</p:attrName>
                                        </p:attrNameLst>
                                      </p:cBhvr>
                                      <p:to>
                                        <p:strVal val="visible"/>
                                      </p:to>
                                    </p:set>
                                    <p:anim calcmode="lin" valueType="num">
                                      <p:cBhvr additive="base">
                                        <p:cTn id="25" dur="500" fill="hold"/>
                                        <p:tgtEl>
                                          <p:spTgt spid="3075">
                                            <p:txEl>
                                              <p:pRg st="3" end="3"/>
                                            </p:txEl>
                                          </p:spTgt>
                                        </p:tgtEl>
                                        <p:attrNameLst>
                                          <p:attrName>ppt_x</p:attrName>
                                        </p:attrNameLst>
                                      </p:cBhvr>
                                      <p:tavLst>
                                        <p:tav tm="0">
                                          <p:val>
                                            <p:strVal val="0-#ppt_w/2"/>
                                          </p:val>
                                        </p:tav>
                                        <p:tav tm="100000">
                                          <p:val>
                                            <p:strVal val="#ppt_x"/>
                                          </p:val>
                                        </p:tav>
                                      </p:tavLst>
                                    </p:anim>
                                    <p:anim calcmode="lin" valueType="num">
                                      <p:cBhvr additive="base">
                                        <p:cTn id="26" dur="500" fill="hold"/>
                                        <p:tgtEl>
                                          <p:spTgt spid="3075">
                                            <p:txEl>
                                              <p:pRg st="3" end="3"/>
                                            </p:txEl>
                                          </p:spTgt>
                                        </p:tgtEl>
                                        <p:attrNameLst>
                                          <p:attrName>ppt_y</p:attrName>
                                        </p:attrNameLst>
                                      </p:cBhvr>
                                      <p:tavLst>
                                        <p:tav tm="0">
                                          <p:val>
                                            <p:strVal val="#ppt_y"/>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8" fill="hold" grpId="0" nodeType="clickEffect">
                                  <p:stCondLst>
                                    <p:cond delay="0"/>
                                  </p:stCondLst>
                                  <p:childTnLst>
                                    <p:set>
                                      <p:cBhvr>
                                        <p:cTn id="30" dur="1" fill="hold">
                                          <p:stCondLst>
                                            <p:cond delay="0"/>
                                          </p:stCondLst>
                                        </p:cTn>
                                        <p:tgtEl>
                                          <p:spTgt spid="3075">
                                            <p:txEl>
                                              <p:pRg st="4" end="4"/>
                                            </p:txEl>
                                          </p:spTgt>
                                        </p:tgtEl>
                                        <p:attrNameLst>
                                          <p:attrName>style.visibility</p:attrName>
                                        </p:attrNameLst>
                                      </p:cBhvr>
                                      <p:to>
                                        <p:strVal val="visible"/>
                                      </p:to>
                                    </p:set>
                                    <p:anim calcmode="lin" valueType="num">
                                      <p:cBhvr additive="base">
                                        <p:cTn id="31" dur="500" fill="hold"/>
                                        <p:tgtEl>
                                          <p:spTgt spid="3075">
                                            <p:txEl>
                                              <p:pRg st="4" end="4"/>
                                            </p:txEl>
                                          </p:spTgt>
                                        </p:tgtEl>
                                        <p:attrNameLst>
                                          <p:attrName>ppt_x</p:attrName>
                                        </p:attrNameLst>
                                      </p:cBhvr>
                                      <p:tavLst>
                                        <p:tav tm="0">
                                          <p:val>
                                            <p:strVal val="0-#ppt_w/2"/>
                                          </p:val>
                                        </p:tav>
                                        <p:tav tm="100000">
                                          <p:val>
                                            <p:strVal val="#ppt_x"/>
                                          </p:val>
                                        </p:tav>
                                      </p:tavLst>
                                    </p:anim>
                                    <p:anim calcmode="lin" valueType="num">
                                      <p:cBhvr additive="base">
                                        <p:cTn id="32" dur="500" fill="hold"/>
                                        <p:tgtEl>
                                          <p:spTgt spid="3075">
                                            <p:txEl>
                                              <p:pRg st="4" end="4"/>
                                            </p:txEl>
                                          </p:spTgt>
                                        </p:tgtEl>
                                        <p:attrNameLst>
                                          <p:attrName>ppt_y</p:attrName>
                                        </p:attrNameLst>
                                      </p:cBhvr>
                                      <p:tavLst>
                                        <p:tav tm="0">
                                          <p:val>
                                            <p:strVal val="#ppt_y"/>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8" fill="hold" grpId="0" nodeType="clickEffect">
                                  <p:stCondLst>
                                    <p:cond delay="0"/>
                                  </p:stCondLst>
                                  <p:childTnLst>
                                    <p:set>
                                      <p:cBhvr>
                                        <p:cTn id="36" dur="1" fill="hold">
                                          <p:stCondLst>
                                            <p:cond delay="0"/>
                                          </p:stCondLst>
                                        </p:cTn>
                                        <p:tgtEl>
                                          <p:spTgt spid="3075">
                                            <p:txEl>
                                              <p:pRg st="5" end="5"/>
                                            </p:txEl>
                                          </p:spTgt>
                                        </p:tgtEl>
                                        <p:attrNameLst>
                                          <p:attrName>style.visibility</p:attrName>
                                        </p:attrNameLst>
                                      </p:cBhvr>
                                      <p:to>
                                        <p:strVal val="visible"/>
                                      </p:to>
                                    </p:set>
                                    <p:anim calcmode="lin" valueType="num">
                                      <p:cBhvr additive="base">
                                        <p:cTn id="37" dur="500" fill="hold"/>
                                        <p:tgtEl>
                                          <p:spTgt spid="3075">
                                            <p:txEl>
                                              <p:pRg st="5" end="5"/>
                                            </p:txEl>
                                          </p:spTgt>
                                        </p:tgtEl>
                                        <p:attrNameLst>
                                          <p:attrName>ppt_x</p:attrName>
                                        </p:attrNameLst>
                                      </p:cBhvr>
                                      <p:tavLst>
                                        <p:tav tm="0">
                                          <p:val>
                                            <p:strVal val="0-#ppt_w/2"/>
                                          </p:val>
                                        </p:tav>
                                        <p:tav tm="100000">
                                          <p:val>
                                            <p:strVal val="#ppt_x"/>
                                          </p:val>
                                        </p:tav>
                                      </p:tavLst>
                                    </p:anim>
                                    <p:anim calcmode="lin" valueType="num">
                                      <p:cBhvr additive="base">
                                        <p:cTn id="38" dur="500" fill="hold"/>
                                        <p:tgtEl>
                                          <p:spTgt spid="3075">
                                            <p:txEl>
                                              <p:pRg st="5" end="5"/>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075" grpId="0" build="p" bldLvl="3" autoUpdateAnimBg="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Title 1"/>
          <p:cNvSpPr>
            <a:spLocks noGrp="1"/>
          </p:cNvSpPr>
          <p:nvPr>
            <p:ph type="title"/>
          </p:nvPr>
        </p:nvSpPr>
        <p:spPr/>
        <p:txBody>
          <a:bodyPr/>
          <a:lstStyle/>
          <a:p>
            <a:endParaRPr lang="en-US" smtClean="0"/>
          </a:p>
        </p:txBody>
      </p:sp>
      <p:sp>
        <p:nvSpPr>
          <p:cNvPr id="17411" name="Content Placeholder 2"/>
          <p:cNvSpPr>
            <a:spLocks noGrp="1"/>
          </p:cNvSpPr>
          <p:nvPr>
            <p:ph idx="1"/>
          </p:nvPr>
        </p:nvSpPr>
        <p:spPr/>
        <p:txBody>
          <a:bodyPr/>
          <a:lstStyle/>
          <a:p>
            <a:r>
              <a:rPr lang="en-US" smtClean="0"/>
              <a:t>In microbiology, </a:t>
            </a:r>
            <a:r>
              <a:rPr lang="en-US" b="1" smtClean="0"/>
              <a:t>sterilization</a:t>
            </a:r>
            <a:r>
              <a:rPr lang="en-US" smtClean="0"/>
              <a:t> refers to the complete destruction or elimination of all viable organisms in or on a substance being sterilized. There are no degrees of sterilization: an object or substance is either sterile or not. </a:t>
            </a:r>
          </a:p>
          <a:p>
            <a:r>
              <a:rPr lang="en-US" smtClean="0"/>
              <a:t>Sterilization procedures involve the use of heat, radiation or chemicals, or physical removal of cells.</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28354" name="Rectangle 2"/>
          <p:cNvSpPr>
            <a:spLocks noGrp="1" noChangeArrowheads="1"/>
          </p:cNvSpPr>
          <p:nvPr>
            <p:ph idx="1"/>
          </p:nvPr>
        </p:nvSpPr>
        <p:spPr>
          <a:xfrm>
            <a:off x="838200" y="152400"/>
            <a:ext cx="7924800" cy="5715000"/>
          </a:xfrm>
        </p:spPr>
        <p:txBody>
          <a:bodyPr/>
          <a:lstStyle/>
          <a:p>
            <a:pPr eaLnBrk="1" hangingPunct="1">
              <a:lnSpc>
                <a:spcPct val="90000"/>
              </a:lnSpc>
              <a:buFont typeface="Monotype Sorts" pitchFamily="2" charset="2"/>
              <a:buNone/>
            </a:pPr>
            <a:r>
              <a:rPr lang="en-US" sz="3600" b="1" smtClean="0">
                <a:solidFill>
                  <a:schemeClr val="tx2"/>
                </a:solidFill>
              </a:rPr>
              <a:t>Control of Microbial Growth:</a:t>
            </a:r>
          </a:p>
          <a:p>
            <a:pPr eaLnBrk="1" hangingPunct="1">
              <a:lnSpc>
                <a:spcPct val="90000"/>
              </a:lnSpc>
              <a:buFont typeface="Monotype Sorts" pitchFamily="2" charset="2"/>
              <a:buNone/>
            </a:pPr>
            <a:r>
              <a:rPr lang="en-US" sz="3600" b="1" smtClean="0">
                <a:solidFill>
                  <a:schemeClr val="tx2"/>
                </a:solidFill>
              </a:rPr>
              <a:t>D	efinitions</a:t>
            </a:r>
          </a:p>
          <a:p>
            <a:pPr eaLnBrk="1" hangingPunct="1">
              <a:lnSpc>
                <a:spcPct val="90000"/>
              </a:lnSpc>
              <a:buFont typeface="Monotype Sorts" pitchFamily="2" charset="2"/>
              <a:buNone/>
            </a:pPr>
            <a:r>
              <a:rPr lang="en-US" sz="2800" b="1" smtClean="0"/>
              <a:t>	</a:t>
            </a:r>
            <a:r>
              <a:rPr lang="en-US" sz="3600" b="1" smtClean="0"/>
              <a:t>Disinfection: </a:t>
            </a:r>
            <a:r>
              <a:rPr lang="en-US" sz="3600" smtClean="0"/>
              <a:t>Reducing the number of pathogenic microorganisms	to the point where they no longer cause diseases.  Usually involves the removal of </a:t>
            </a:r>
            <a:r>
              <a:rPr lang="en-US" sz="3600" b="1" smtClean="0"/>
              <a:t>vegetative</a:t>
            </a:r>
            <a:r>
              <a:rPr lang="en-US" sz="3600" smtClean="0"/>
              <a:t> or </a:t>
            </a:r>
            <a:r>
              <a:rPr lang="en-US" sz="3600" b="1" smtClean="0"/>
              <a:t>non-endospore forming</a:t>
            </a:r>
            <a:r>
              <a:rPr lang="en-US" sz="3600" smtClean="0"/>
              <a:t> pathogens.</a:t>
            </a:r>
          </a:p>
          <a:p>
            <a:pPr eaLnBrk="1" hangingPunct="1">
              <a:lnSpc>
                <a:spcPct val="90000"/>
              </a:lnSpc>
              <a:buFont typeface="Arial" charset="0"/>
              <a:buNone/>
            </a:pPr>
            <a:r>
              <a:rPr lang="en-US" sz="3600" smtClean="0"/>
              <a:t>	</a:t>
            </a:r>
            <a:endParaRPr lang="en-US" smtClean="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228354">
                                            <p:txEl>
                                              <p:pRg st="0" end="0"/>
                                            </p:txEl>
                                          </p:spTgt>
                                        </p:tgtEl>
                                        <p:attrNameLst>
                                          <p:attrName>style.visibility</p:attrName>
                                        </p:attrNameLst>
                                      </p:cBhvr>
                                      <p:to>
                                        <p:strVal val="visible"/>
                                      </p:to>
                                    </p:set>
                                    <p:anim calcmode="lin" valueType="num">
                                      <p:cBhvr additive="base">
                                        <p:cTn id="7" dur="500" fill="hold"/>
                                        <p:tgtEl>
                                          <p:spTgt spid="228354">
                                            <p:txEl>
                                              <p:pRg st="0" end="0"/>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228354">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228354">
                                            <p:txEl>
                                              <p:pRg st="1" end="1"/>
                                            </p:txEl>
                                          </p:spTgt>
                                        </p:tgtEl>
                                        <p:attrNameLst>
                                          <p:attrName>style.visibility</p:attrName>
                                        </p:attrNameLst>
                                      </p:cBhvr>
                                      <p:to>
                                        <p:strVal val="visible"/>
                                      </p:to>
                                    </p:set>
                                    <p:anim calcmode="lin" valueType="num">
                                      <p:cBhvr additive="base">
                                        <p:cTn id="13" dur="500" fill="hold"/>
                                        <p:tgtEl>
                                          <p:spTgt spid="228354">
                                            <p:txEl>
                                              <p:pRg st="1" end="1"/>
                                            </p:txEl>
                                          </p:spTgt>
                                        </p:tgtEl>
                                        <p:attrNameLst>
                                          <p:attrName>ppt_x</p:attrName>
                                        </p:attrNameLst>
                                      </p:cBhvr>
                                      <p:tavLst>
                                        <p:tav tm="0">
                                          <p:val>
                                            <p:strVal val="0-#ppt_w/2"/>
                                          </p:val>
                                        </p:tav>
                                        <p:tav tm="100000">
                                          <p:val>
                                            <p:strVal val="#ppt_x"/>
                                          </p:val>
                                        </p:tav>
                                      </p:tavLst>
                                    </p:anim>
                                    <p:anim calcmode="lin" valueType="num">
                                      <p:cBhvr additive="base">
                                        <p:cTn id="14" dur="500" fill="hold"/>
                                        <p:tgtEl>
                                          <p:spTgt spid="228354">
                                            <p:txEl>
                                              <p:pRg st="1" end="1"/>
                                            </p:txEl>
                                          </p:spTgt>
                                        </p:tgtEl>
                                        <p:attrNameLst>
                                          <p:attrName>ppt_y</p:attrName>
                                        </p:attrNameLst>
                                      </p:cBhvr>
                                      <p:tavLst>
                                        <p:tav tm="0">
                                          <p:val>
                                            <p:strVal val="#ppt_y"/>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8" fill="hold" grpId="0" nodeType="clickEffect">
                                  <p:stCondLst>
                                    <p:cond delay="0"/>
                                  </p:stCondLst>
                                  <p:childTnLst>
                                    <p:set>
                                      <p:cBhvr>
                                        <p:cTn id="18" dur="1" fill="hold">
                                          <p:stCondLst>
                                            <p:cond delay="0"/>
                                          </p:stCondLst>
                                        </p:cTn>
                                        <p:tgtEl>
                                          <p:spTgt spid="228354">
                                            <p:txEl>
                                              <p:pRg st="2" end="2"/>
                                            </p:txEl>
                                          </p:spTgt>
                                        </p:tgtEl>
                                        <p:attrNameLst>
                                          <p:attrName>style.visibility</p:attrName>
                                        </p:attrNameLst>
                                      </p:cBhvr>
                                      <p:to>
                                        <p:strVal val="visible"/>
                                      </p:to>
                                    </p:set>
                                    <p:anim calcmode="lin" valueType="num">
                                      <p:cBhvr additive="base">
                                        <p:cTn id="19" dur="500" fill="hold"/>
                                        <p:tgtEl>
                                          <p:spTgt spid="228354">
                                            <p:txEl>
                                              <p:pRg st="2" end="2"/>
                                            </p:txEl>
                                          </p:spTgt>
                                        </p:tgtEl>
                                        <p:attrNameLst>
                                          <p:attrName>ppt_x</p:attrName>
                                        </p:attrNameLst>
                                      </p:cBhvr>
                                      <p:tavLst>
                                        <p:tav tm="0">
                                          <p:val>
                                            <p:strVal val="0-#ppt_w/2"/>
                                          </p:val>
                                        </p:tav>
                                        <p:tav tm="100000">
                                          <p:val>
                                            <p:strVal val="#ppt_x"/>
                                          </p:val>
                                        </p:tav>
                                      </p:tavLst>
                                    </p:anim>
                                    <p:anim calcmode="lin" valueType="num">
                                      <p:cBhvr additive="base">
                                        <p:cTn id="20" dur="500" fill="hold"/>
                                        <p:tgtEl>
                                          <p:spTgt spid="228354">
                                            <p:txEl>
                                              <p:pRg st="2" end="2"/>
                                            </p:txEl>
                                          </p:spTgt>
                                        </p:tgtEl>
                                        <p:attrNameLst>
                                          <p:attrName>ppt_y</p:attrName>
                                        </p:attrNameLst>
                                      </p:cBhvr>
                                      <p:tavLst>
                                        <p:tav tm="0">
                                          <p:val>
                                            <p:strVal val="#ppt_y"/>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8" fill="hold" grpId="0" nodeType="clickEffect">
                                  <p:stCondLst>
                                    <p:cond delay="0"/>
                                  </p:stCondLst>
                                  <p:childTnLst>
                                    <p:set>
                                      <p:cBhvr>
                                        <p:cTn id="24" dur="1" fill="hold">
                                          <p:stCondLst>
                                            <p:cond delay="0"/>
                                          </p:stCondLst>
                                        </p:cTn>
                                        <p:tgtEl>
                                          <p:spTgt spid="228354">
                                            <p:txEl>
                                              <p:pRg st="3" end="3"/>
                                            </p:txEl>
                                          </p:spTgt>
                                        </p:tgtEl>
                                        <p:attrNameLst>
                                          <p:attrName>style.visibility</p:attrName>
                                        </p:attrNameLst>
                                      </p:cBhvr>
                                      <p:to>
                                        <p:strVal val="visible"/>
                                      </p:to>
                                    </p:set>
                                    <p:anim calcmode="lin" valueType="num">
                                      <p:cBhvr additive="base">
                                        <p:cTn id="25" dur="500" fill="hold"/>
                                        <p:tgtEl>
                                          <p:spTgt spid="228354">
                                            <p:txEl>
                                              <p:pRg st="3" end="3"/>
                                            </p:txEl>
                                          </p:spTgt>
                                        </p:tgtEl>
                                        <p:attrNameLst>
                                          <p:attrName>ppt_x</p:attrName>
                                        </p:attrNameLst>
                                      </p:cBhvr>
                                      <p:tavLst>
                                        <p:tav tm="0">
                                          <p:val>
                                            <p:strVal val="0-#ppt_w/2"/>
                                          </p:val>
                                        </p:tav>
                                        <p:tav tm="100000">
                                          <p:val>
                                            <p:strVal val="#ppt_x"/>
                                          </p:val>
                                        </p:tav>
                                      </p:tavLst>
                                    </p:anim>
                                    <p:anim calcmode="lin" valueType="num">
                                      <p:cBhvr additive="base">
                                        <p:cTn id="26" dur="500" fill="hold"/>
                                        <p:tgtEl>
                                          <p:spTgt spid="228354">
                                            <p:txEl>
                                              <p:pRg st="3" end="3"/>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8354" grpId="0" build="p" bldLvl="3" autoUpdateAnimBg="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Title 1"/>
          <p:cNvSpPr>
            <a:spLocks noGrp="1"/>
          </p:cNvSpPr>
          <p:nvPr>
            <p:ph type="title"/>
          </p:nvPr>
        </p:nvSpPr>
        <p:spPr/>
        <p:txBody>
          <a:bodyPr/>
          <a:lstStyle/>
          <a:p>
            <a:endParaRPr lang="en-US" smtClean="0"/>
          </a:p>
        </p:txBody>
      </p:sp>
      <p:sp>
        <p:nvSpPr>
          <p:cNvPr id="19459" name="Content Placeholder 2"/>
          <p:cNvSpPr>
            <a:spLocks noGrp="1"/>
          </p:cNvSpPr>
          <p:nvPr>
            <p:ph idx="1"/>
          </p:nvPr>
        </p:nvSpPr>
        <p:spPr/>
        <p:txBody>
          <a:bodyPr/>
          <a:lstStyle/>
          <a:p>
            <a:pPr eaLnBrk="1" hangingPunct="1">
              <a:lnSpc>
                <a:spcPct val="90000"/>
              </a:lnSpc>
              <a:buFont typeface="Arial" charset="0"/>
              <a:buNone/>
            </a:pPr>
            <a:r>
              <a:rPr lang="en-US" smtClean="0"/>
              <a:t>May use physical or chemical methods.</a:t>
            </a:r>
          </a:p>
          <a:p>
            <a:pPr lvl="1" eaLnBrk="1" hangingPunct="1">
              <a:lnSpc>
                <a:spcPct val="90000"/>
              </a:lnSpc>
              <a:buSzPct val="75000"/>
              <a:buFont typeface="Arial" charset="0"/>
              <a:buNone/>
            </a:pPr>
            <a:r>
              <a:rPr lang="en-US" b="1" smtClean="0"/>
              <a:t>Disinfectant</a:t>
            </a:r>
            <a:r>
              <a:rPr lang="en-US" smtClean="0"/>
              <a:t>:  Applied to inanimate objects.</a:t>
            </a:r>
          </a:p>
          <a:p>
            <a:pPr lvl="1" eaLnBrk="1" hangingPunct="1">
              <a:lnSpc>
                <a:spcPct val="90000"/>
              </a:lnSpc>
              <a:buSzPct val="75000"/>
              <a:buFont typeface="Arial" charset="0"/>
              <a:buNone/>
            </a:pPr>
            <a:r>
              <a:rPr lang="en-US" b="1" smtClean="0"/>
              <a:t>Antiseptic</a:t>
            </a:r>
            <a:r>
              <a:rPr lang="en-US" smtClean="0"/>
              <a:t>:  Applied to living tissue (</a:t>
            </a:r>
            <a:r>
              <a:rPr lang="en-US" b="1" i="1" smtClean="0"/>
              <a:t>antisepsis</a:t>
            </a:r>
            <a:r>
              <a:rPr lang="en-US" smtClean="0"/>
              <a:t>).</a:t>
            </a:r>
          </a:p>
          <a:p>
            <a:pPr lvl="1" eaLnBrk="1" hangingPunct="1">
              <a:lnSpc>
                <a:spcPct val="90000"/>
              </a:lnSpc>
              <a:buSzPct val="75000"/>
              <a:buFont typeface="Arial" charset="0"/>
              <a:buNone/>
            </a:pPr>
            <a:r>
              <a:rPr lang="en-US" b="1" smtClean="0"/>
              <a:t>Degerming</a:t>
            </a:r>
            <a:r>
              <a:rPr lang="en-US" smtClean="0"/>
              <a:t>: Mechanical removal of most microbes in a limited area. Example:  Alcohol swab on skin.</a:t>
            </a:r>
          </a:p>
          <a:p>
            <a:pPr lvl="1" eaLnBrk="1" hangingPunct="1">
              <a:lnSpc>
                <a:spcPct val="90000"/>
              </a:lnSpc>
              <a:buSzPct val="75000"/>
              <a:buFont typeface="Arial" charset="0"/>
              <a:buNone/>
            </a:pPr>
            <a:r>
              <a:rPr lang="en-US" b="1" smtClean="0"/>
              <a:t>Sanitization</a:t>
            </a:r>
            <a:r>
              <a:rPr lang="en-US" smtClean="0"/>
              <a:t>: Use of chemical agent on food-handling equipment to meet public health standards and minimize chances of disease transmission. E.g: Hot soap &amp; water.</a:t>
            </a:r>
          </a:p>
          <a:p>
            <a:endParaRPr lang="en-US" sz="3600" smtClean="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34498" name="Rectangle 2"/>
          <p:cNvSpPr>
            <a:spLocks noGrp="1" noChangeArrowheads="1"/>
          </p:cNvSpPr>
          <p:nvPr>
            <p:ph idx="1"/>
          </p:nvPr>
        </p:nvSpPr>
        <p:spPr>
          <a:xfrm>
            <a:off x="838200" y="152400"/>
            <a:ext cx="7924800" cy="5715000"/>
          </a:xfrm>
        </p:spPr>
        <p:txBody>
          <a:bodyPr/>
          <a:lstStyle/>
          <a:p>
            <a:pPr eaLnBrk="1" hangingPunct="1">
              <a:buFont typeface="Monotype Sorts" pitchFamily="2" charset="2"/>
              <a:buNone/>
            </a:pPr>
            <a:r>
              <a:rPr lang="en-US" sz="3600" b="1" smtClean="0">
                <a:solidFill>
                  <a:schemeClr val="tx2"/>
                </a:solidFill>
              </a:rPr>
              <a:t>Control of Microbial Growth:</a:t>
            </a:r>
          </a:p>
          <a:p>
            <a:pPr eaLnBrk="1" hangingPunct="1">
              <a:buFont typeface="Monotype Sorts" pitchFamily="2" charset="2"/>
              <a:buNone/>
            </a:pPr>
            <a:r>
              <a:rPr lang="en-US" sz="3600" b="1" smtClean="0">
                <a:solidFill>
                  <a:schemeClr val="tx2"/>
                </a:solidFill>
              </a:rPr>
              <a:t>D	efinitions</a:t>
            </a:r>
          </a:p>
          <a:p>
            <a:pPr eaLnBrk="1" hangingPunct="1">
              <a:buFont typeface="Monotype Sorts" pitchFamily="2" charset="2"/>
              <a:buNone/>
            </a:pPr>
            <a:r>
              <a:rPr lang="en-US" sz="2800" b="1" smtClean="0"/>
              <a:t>	Sepsis: </a:t>
            </a:r>
            <a:r>
              <a:rPr lang="en-US" sz="2800" smtClean="0"/>
              <a:t>Comes from Greek for decay or putrid.  Indicates bacterial contamination.</a:t>
            </a:r>
          </a:p>
          <a:p>
            <a:pPr eaLnBrk="1" hangingPunct="1">
              <a:buFont typeface="Monotype Sorts" pitchFamily="2" charset="2"/>
              <a:buNone/>
            </a:pPr>
            <a:r>
              <a:rPr lang="en-US" sz="2800" smtClean="0"/>
              <a:t>	</a:t>
            </a:r>
            <a:r>
              <a:rPr lang="en-US" sz="2800" b="1" smtClean="0"/>
              <a:t>Asepsis</a:t>
            </a:r>
            <a:r>
              <a:rPr lang="en-US" sz="2800" smtClean="0"/>
              <a:t>:  Absence of significant contamination.</a:t>
            </a:r>
          </a:p>
          <a:p>
            <a:pPr eaLnBrk="1" hangingPunct="1">
              <a:buFont typeface="Monotype Sorts" pitchFamily="2" charset="2"/>
              <a:buNone/>
            </a:pPr>
            <a:r>
              <a:rPr lang="en-US" sz="2800" smtClean="0"/>
              <a:t>	</a:t>
            </a:r>
            <a:r>
              <a:rPr lang="en-US" sz="2800" b="1" smtClean="0"/>
              <a:t>Aseptic techniques</a:t>
            </a:r>
            <a:r>
              <a:rPr lang="en-US" sz="2800" smtClean="0"/>
              <a:t> are used to prevent contamination of surgical instruments, medical personnel, and the patient during surgery.  </a:t>
            </a:r>
          </a:p>
          <a:p>
            <a:pPr eaLnBrk="1" hangingPunct="1">
              <a:buFont typeface="Monotype Sorts" pitchFamily="2" charset="2"/>
              <a:buNone/>
            </a:pPr>
            <a:r>
              <a:rPr lang="en-US" sz="2800" smtClean="0"/>
              <a:t>	Aseptic techniques are also used to prevent bacterial contamination in food industry.</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234498">
                                            <p:txEl>
                                              <p:pRg st="0" end="0"/>
                                            </p:txEl>
                                          </p:spTgt>
                                        </p:tgtEl>
                                        <p:attrNameLst>
                                          <p:attrName>style.visibility</p:attrName>
                                        </p:attrNameLst>
                                      </p:cBhvr>
                                      <p:to>
                                        <p:strVal val="visible"/>
                                      </p:to>
                                    </p:set>
                                    <p:anim calcmode="lin" valueType="num">
                                      <p:cBhvr additive="base">
                                        <p:cTn id="7" dur="500" fill="hold"/>
                                        <p:tgtEl>
                                          <p:spTgt spid="234498">
                                            <p:txEl>
                                              <p:pRg st="0" end="0"/>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234498">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234498">
                                            <p:txEl>
                                              <p:pRg st="1" end="1"/>
                                            </p:txEl>
                                          </p:spTgt>
                                        </p:tgtEl>
                                        <p:attrNameLst>
                                          <p:attrName>style.visibility</p:attrName>
                                        </p:attrNameLst>
                                      </p:cBhvr>
                                      <p:to>
                                        <p:strVal val="visible"/>
                                      </p:to>
                                    </p:set>
                                    <p:anim calcmode="lin" valueType="num">
                                      <p:cBhvr additive="base">
                                        <p:cTn id="13" dur="500" fill="hold"/>
                                        <p:tgtEl>
                                          <p:spTgt spid="234498">
                                            <p:txEl>
                                              <p:pRg st="1" end="1"/>
                                            </p:txEl>
                                          </p:spTgt>
                                        </p:tgtEl>
                                        <p:attrNameLst>
                                          <p:attrName>ppt_x</p:attrName>
                                        </p:attrNameLst>
                                      </p:cBhvr>
                                      <p:tavLst>
                                        <p:tav tm="0">
                                          <p:val>
                                            <p:strVal val="0-#ppt_w/2"/>
                                          </p:val>
                                        </p:tav>
                                        <p:tav tm="100000">
                                          <p:val>
                                            <p:strVal val="#ppt_x"/>
                                          </p:val>
                                        </p:tav>
                                      </p:tavLst>
                                    </p:anim>
                                    <p:anim calcmode="lin" valueType="num">
                                      <p:cBhvr additive="base">
                                        <p:cTn id="14" dur="500" fill="hold"/>
                                        <p:tgtEl>
                                          <p:spTgt spid="234498">
                                            <p:txEl>
                                              <p:pRg st="1" end="1"/>
                                            </p:txEl>
                                          </p:spTgt>
                                        </p:tgtEl>
                                        <p:attrNameLst>
                                          <p:attrName>ppt_y</p:attrName>
                                        </p:attrNameLst>
                                      </p:cBhvr>
                                      <p:tavLst>
                                        <p:tav tm="0">
                                          <p:val>
                                            <p:strVal val="#ppt_y"/>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8" fill="hold" grpId="0" nodeType="clickEffect">
                                  <p:stCondLst>
                                    <p:cond delay="0"/>
                                  </p:stCondLst>
                                  <p:childTnLst>
                                    <p:set>
                                      <p:cBhvr>
                                        <p:cTn id="18" dur="1" fill="hold">
                                          <p:stCondLst>
                                            <p:cond delay="0"/>
                                          </p:stCondLst>
                                        </p:cTn>
                                        <p:tgtEl>
                                          <p:spTgt spid="234498">
                                            <p:txEl>
                                              <p:pRg st="2" end="2"/>
                                            </p:txEl>
                                          </p:spTgt>
                                        </p:tgtEl>
                                        <p:attrNameLst>
                                          <p:attrName>style.visibility</p:attrName>
                                        </p:attrNameLst>
                                      </p:cBhvr>
                                      <p:to>
                                        <p:strVal val="visible"/>
                                      </p:to>
                                    </p:set>
                                    <p:anim calcmode="lin" valueType="num">
                                      <p:cBhvr additive="base">
                                        <p:cTn id="19" dur="500" fill="hold"/>
                                        <p:tgtEl>
                                          <p:spTgt spid="234498">
                                            <p:txEl>
                                              <p:pRg st="2" end="2"/>
                                            </p:txEl>
                                          </p:spTgt>
                                        </p:tgtEl>
                                        <p:attrNameLst>
                                          <p:attrName>ppt_x</p:attrName>
                                        </p:attrNameLst>
                                      </p:cBhvr>
                                      <p:tavLst>
                                        <p:tav tm="0">
                                          <p:val>
                                            <p:strVal val="0-#ppt_w/2"/>
                                          </p:val>
                                        </p:tav>
                                        <p:tav tm="100000">
                                          <p:val>
                                            <p:strVal val="#ppt_x"/>
                                          </p:val>
                                        </p:tav>
                                      </p:tavLst>
                                    </p:anim>
                                    <p:anim calcmode="lin" valueType="num">
                                      <p:cBhvr additive="base">
                                        <p:cTn id="20" dur="500" fill="hold"/>
                                        <p:tgtEl>
                                          <p:spTgt spid="234498">
                                            <p:txEl>
                                              <p:pRg st="2" end="2"/>
                                            </p:txEl>
                                          </p:spTgt>
                                        </p:tgtEl>
                                        <p:attrNameLst>
                                          <p:attrName>ppt_y</p:attrName>
                                        </p:attrNameLst>
                                      </p:cBhvr>
                                      <p:tavLst>
                                        <p:tav tm="0">
                                          <p:val>
                                            <p:strVal val="#ppt_y"/>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8" fill="hold" grpId="0" nodeType="clickEffect">
                                  <p:stCondLst>
                                    <p:cond delay="0"/>
                                  </p:stCondLst>
                                  <p:childTnLst>
                                    <p:set>
                                      <p:cBhvr>
                                        <p:cTn id="24" dur="1" fill="hold">
                                          <p:stCondLst>
                                            <p:cond delay="0"/>
                                          </p:stCondLst>
                                        </p:cTn>
                                        <p:tgtEl>
                                          <p:spTgt spid="234498">
                                            <p:txEl>
                                              <p:pRg st="3" end="3"/>
                                            </p:txEl>
                                          </p:spTgt>
                                        </p:tgtEl>
                                        <p:attrNameLst>
                                          <p:attrName>style.visibility</p:attrName>
                                        </p:attrNameLst>
                                      </p:cBhvr>
                                      <p:to>
                                        <p:strVal val="visible"/>
                                      </p:to>
                                    </p:set>
                                    <p:anim calcmode="lin" valueType="num">
                                      <p:cBhvr additive="base">
                                        <p:cTn id="25" dur="500" fill="hold"/>
                                        <p:tgtEl>
                                          <p:spTgt spid="234498">
                                            <p:txEl>
                                              <p:pRg st="3" end="3"/>
                                            </p:txEl>
                                          </p:spTgt>
                                        </p:tgtEl>
                                        <p:attrNameLst>
                                          <p:attrName>ppt_x</p:attrName>
                                        </p:attrNameLst>
                                      </p:cBhvr>
                                      <p:tavLst>
                                        <p:tav tm="0">
                                          <p:val>
                                            <p:strVal val="0-#ppt_w/2"/>
                                          </p:val>
                                        </p:tav>
                                        <p:tav tm="100000">
                                          <p:val>
                                            <p:strVal val="#ppt_x"/>
                                          </p:val>
                                        </p:tav>
                                      </p:tavLst>
                                    </p:anim>
                                    <p:anim calcmode="lin" valueType="num">
                                      <p:cBhvr additive="base">
                                        <p:cTn id="26" dur="500" fill="hold"/>
                                        <p:tgtEl>
                                          <p:spTgt spid="234498">
                                            <p:txEl>
                                              <p:pRg st="3" end="3"/>
                                            </p:txEl>
                                          </p:spTgt>
                                        </p:tgtEl>
                                        <p:attrNameLst>
                                          <p:attrName>ppt_y</p:attrName>
                                        </p:attrNameLst>
                                      </p:cBhvr>
                                      <p:tavLst>
                                        <p:tav tm="0">
                                          <p:val>
                                            <p:strVal val="#ppt_y"/>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8" fill="hold" grpId="0" nodeType="clickEffect">
                                  <p:stCondLst>
                                    <p:cond delay="0"/>
                                  </p:stCondLst>
                                  <p:childTnLst>
                                    <p:set>
                                      <p:cBhvr>
                                        <p:cTn id="30" dur="1" fill="hold">
                                          <p:stCondLst>
                                            <p:cond delay="0"/>
                                          </p:stCondLst>
                                        </p:cTn>
                                        <p:tgtEl>
                                          <p:spTgt spid="234498">
                                            <p:txEl>
                                              <p:pRg st="4" end="4"/>
                                            </p:txEl>
                                          </p:spTgt>
                                        </p:tgtEl>
                                        <p:attrNameLst>
                                          <p:attrName>style.visibility</p:attrName>
                                        </p:attrNameLst>
                                      </p:cBhvr>
                                      <p:to>
                                        <p:strVal val="visible"/>
                                      </p:to>
                                    </p:set>
                                    <p:anim calcmode="lin" valueType="num">
                                      <p:cBhvr additive="base">
                                        <p:cTn id="31" dur="500" fill="hold"/>
                                        <p:tgtEl>
                                          <p:spTgt spid="234498">
                                            <p:txEl>
                                              <p:pRg st="4" end="4"/>
                                            </p:txEl>
                                          </p:spTgt>
                                        </p:tgtEl>
                                        <p:attrNameLst>
                                          <p:attrName>ppt_x</p:attrName>
                                        </p:attrNameLst>
                                      </p:cBhvr>
                                      <p:tavLst>
                                        <p:tav tm="0">
                                          <p:val>
                                            <p:strVal val="0-#ppt_w/2"/>
                                          </p:val>
                                        </p:tav>
                                        <p:tav tm="100000">
                                          <p:val>
                                            <p:strVal val="#ppt_x"/>
                                          </p:val>
                                        </p:tav>
                                      </p:tavLst>
                                    </p:anim>
                                    <p:anim calcmode="lin" valueType="num">
                                      <p:cBhvr additive="base">
                                        <p:cTn id="32" dur="500" fill="hold"/>
                                        <p:tgtEl>
                                          <p:spTgt spid="234498">
                                            <p:txEl>
                                              <p:pRg st="4" end="4"/>
                                            </p:txEl>
                                          </p:spTgt>
                                        </p:tgtEl>
                                        <p:attrNameLst>
                                          <p:attrName>ppt_y</p:attrName>
                                        </p:attrNameLst>
                                      </p:cBhvr>
                                      <p:tavLst>
                                        <p:tav tm="0">
                                          <p:val>
                                            <p:strVal val="#ppt_y"/>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8" fill="hold" grpId="0" nodeType="clickEffect">
                                  <p:stCondLst>
                                    <p:cond delay="0"/>
                                  </p:stCondLst>
                                  <p:childTnLst>
                                    <p:set>
                                      <p:cBhvr>
                                        <p:cTn id="36" dur="1" fill="hold">
                                          <p:stCondLst>
                                            <p:cond delay="0"/>
                                          </p:stCondLst>
                                        </p:cTn>
                                        <p:tgtEl>
                                          <p:spTgt spid="234498">
                                            <p:txEl>
                                              <p:pRg st="5" end="5"/>
                                            </p:txEl>
                                          </p:spTgt>
                                        </p:tgtEl>
                                        <p:attrNameLst>
                                          <p:attrName>style.visibility</p:attrName>
                                        </p:attrNameLst>
                                      </p:cBhvr>
                                      <p:to>
                                        <p:strVal val="visible"/>
                                      </p:to>
                                    </p:set>
                                    <p:anim calcmode="lin" valueType="num">
                                      <p:cBhvr additive="base">
                                        <p:cTn id="37" dur="500" fill="hold"/>
                                        <p:tgtEl>
                                          <p:spTgt spid="234498">
                                            <p:txEl>
                                              <p:pRg st="5" end="5"/>
                                            </p:txEl>
                                          </p:spTgt>
                                        </p:tgtEl>
                                        <p:attrNameLst>
                                          <p:attrName>ppt_x</p:attrName>
                                        </p:attrNameLst>
                                      </p:cBhvr>
                                      <p:tavLst>
                                        <p:tav tm="0">
                                          <p:val>
                                            <p:strVal val="0-#ppt_w/2"/>
                                          </p:val>
                                        </p:tav>
                                        <p:tav tm="100000">
                                          <p:val>
                                            <p:strVal val="#ppt_x"/>
                                          </p:val>
                                        </p:tav>
                                      </p:tavLst>
                                    </p:anim>
                                    <p:anim calcmode="lin" valueType="num">
                                      <p:cBhvr additive="base">
                                        <p:cTn id="38" dur="500" fill="hold"/>
                                        <p:tgtEl>
                                          <p:spTgt spid="234498">
                                            <p:txEl>
                                              <p:pRg st="5" end="5"/>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4498" grpId="0" build="p" bldLvl="3" autoUpdateAnimBg="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Title 1"/>
          <p:cNvSpPr>
            <a:spLocks noGrp="1"/>
          </p:cNvSpPr>
          <p:nvPr>
            <p:ph type="title"/>
          </p:nvPr>
        </p:nvSpPr>
        <p:spPr/>
        <p:txBody>
          <a:bodyPr/>
          <a:lstStyle/>
          <a:p>
            <a:endParaRPr lang="en-US" smtClean="0"/>
          </a:p>
        </p:txBody>
      </p:sp>
      <p:sp>
        <p:nvSpPr>
          <p:cNvPr id="21507" name="Content Placeholder 2"/>
          <p:cNvSpPr>
            <a:spLocks noGrp="1"/>
          </p:cNvSpPr>
          <p:nvPr>
            <p:ph idx="1"/>
          </p:nvPr>
        </p:nvSpPr>
        <p:spPr/>
        <p:txBody>
          <a:bodyPr/>
          <a:lstStyle/>
          <a:p>
            <a:pPr>
              <a:buFont typeface="Arial" charset="0"/>
              <a:buNone/>
            </a:pPr>
            <a:r>
              <a:rPr lang="en-US" smtClean="0"/>
              <a:t>Agents which kill cells are called </a:t>
            </a:r>
            <a:r>
              <a:rPr lang="en-US" b="1" smtClean="0"/>
              <a:t>cidal</a:t>
            </a:r>
            <a:r>
              <a:rPr lang="en-US" smtClean="0"/>
              <a:t> agents; agents which inhibit the growth of cells (without killing them) are referred to as </a:t>
            </a:r>
            <a:r>
              <a:rPr lang="en-US" b="1" smtClean="0"/>
              <a:t>static</a:t>
            </a:r>
            <a:r>
              <a:rPr lang="en-US" smtClean="0"/>
              <a:t> agents. Thus, the term </a:t>
            </a:r>
            <a:r>
              <a:rPr lang="en-US" b="1" smtClean="0"/>
              <a:t>bactericidal</a:t>
            </a:r>
            <a:r>
              <a:rPr lang="en-US" smtClean="0"/>
              <a:t> refers to killing bacteria, and </a:t>
            </a:r>
            <a:r>
              <a:rPr lang="en-US" b="1" smtClean="0"/>
              <a:t>bacteriostatic</a:t>
            </a:r>
            <a:r>
              <a:rPr lang="en-US" smtClean="0"/>
              <a:t> refers to inhibiting the growth of bacterial cells. A </a:t>
            </a:r>
            <a:r>
              <a:rPr lang="en-US" b="1" smtClean="0"/>
              <a:t>bactericide</a:t>
            </a:r>
            <a:r>
              <a:rPr lang="en-US" smtClean="0"/>
              <a:t> kills bacteria, a </a:t>
            </a:r>
            <a:r>
              <a:rPr lang="en-US" b="1" smtClean="0"/>
              <a:t>fungicide</a:t>
            </a:r>
            <a:r>
              <a:rPr lang="en-US" smtClean="0"/>
              <a:t> kills fungi, and so on.</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31426" name="Rectangle 2"/>
          <p:cNvSpPr>
            <a:spLocks noGrp="1" noChangeArrowheads="1"/>
          </p:cNvSpPr>
          <p:nvPr>
            <p:ph idx="1"/>
          </p:nvPr>
        </p:nvSpPr>
        <p:spPr>
          <a:xfrm>
            <a:off x="838200" y="152400"/>
            <a:ext cx="7924800" cy="5715000"/>
          </a:xfrm>
        </p:spPr>
        <p:txBody>
          <a:bodyPr/>
          <a:lstStyle/>
          <a:p>
            <a:pPr eaLnBrk="1" hangingPunct="1">
              <a:lnSpc>
                <a:spcPct val="90000"/>
              </a:lnSpc>
              <a:buFont typeface="Monotype Sorts" pitchFamily="2" charset="2"/>
              <a:buNone/>
            </a:pPr>
            <a:r>
              <a:rPr lang="en-US" sz="3600" b="1" smtClean="0">
                <a:solidFill>
                  <a:schemeClr val="tx2"/>
                </a:solidFill>
              </a:rPr>
              <a:t>Control of Microbial Growth:</a:t>
            </a:r>
          </a:p>
          <a:p>
            <a:pPr eaLnBrk="1" hangingPunct="1">
              <a:lnSpc>
                <a:spcPct val="90000"/>
              </a:lnSpc>
              <a:buFont typeface="Monotype Sorts" pitchFamily="2" charset="2"/>
              <a:buNone/>
            </a:pPr>
            <a:r>
              <a:rPr lang="en-US" sz="3600" b="1" smtClean="0">
                <a:solidFill>
                  <a:schemeClr val="tx2"/>
                </a:solidFill>
              </a:rPr>
              <a:t>D	efinitions</a:t>
            </a:r>
          </a:p>
          <a:p>
            <a:pPr eaLnBrk="1" hangingPunct="1">
              <a:lnSpc>
                <a:spcPct val="90000"/>
              </a:lnSpc>
              <a:buFont typeface="Monotype Sorts" pitchFamily="2" charset="2"/>
              <a:buNone/>
            </a:pPr>
            <a:r>
              <a:rPr lang="en-US" sz="2800" b="1" smtClean="0"/>
              <a:t>	Bacteriostatic Agent: </a:t>
            </a:r>
            <a:r>
              <a:rPr lang="en-US" sz="2800" smtClean="0"/>
              <a:t>An agent that </a:t>
            </a:r>
            <a:r>
              <a:rPr lang="en-US" sz="2800" b="1" i="1" smtClean="0"/>
              <a:t>inhibits</a:t>
            </a:r>
            <a:r>
              <a:rPr lang="en-US" sz="2800" smtClean="0"/>
              <a:t> the growth of bacteria, but does not necessarily kill them.  Suffix stasis: To stop or steady.</a:t>
            </a:r>
          </a:p>
          <a:p>
            <a:pPr eaLnBrk="1" hangingPunct="1">
              <a:lnSpc>
                <a:spcPct val="90000"/>
              </a:lnSpc>
              <a:buFont typeface="Monotype Sorts" pitchFamily="2" charset="2"/>
              <a:buNone/>
            </a:pPr>
            <a:r>
              <a:rPr lang="en-US" sz="2800" smtClean="0"/>
              <a:t>	</a:t>
            </a:r>
            <a:r>
              <a:rPr lang="en-US" sz="2800" b="1" smtClean="0"/>
              <a:t>Germicide</a:t>
            </a:r>
            <a:r>
              <a:rPr lang="en-US" sz="2800" smtClean="0"/>
              <a:t>:  An agent that kills certain microorganisms.</a:t>
            </a:r>
          </a:p>
          <a:p>
            <a:pPr lvl="1" eaLnBrk="1" hangingPunct="1">
              <a:lnSpc>
                <a:spcPct val="90000"/>
              </a:lnSpc>
              <a:buSzPct val="75000"/>
              <a:buFont typeface="Arial" charset="0"/>
              <a:buNone/>
            </a:pPr>
            <a:r>
              <a:rPr lang="en-US" sz="2400" b="1" smtClean="0"/>
              <a:t>Bactericide</a:t>
            </a:r>
            <a:r>
              <a:rPr lang="en-US" sz="2400" smtClean="0"/>
              <a:t>:  An agent that kills bacteria.  Most do not kill endospores.</a:t>
            </a:r>
          </a:p>
          <a:p>
            <a:pPr lvl="1" eaLnBrk="1" hangingPunct="1">
              <a:lnSpc>
                <a:spcPct val="90000"/>
              </a:lnSpc>
              <a:buSzPct val="75000"/>
              <a:buFont typeface="Arial" charset="0"/>
              <a:buNone/>
            </a:pPr>
            <a:r>
              <a:rPr lang="en-US" sz="2400" b="1" smtClean="0"/>
              <a:t>Viricide</a:t>
            </a:r>
            <a:r>
              <a:rPr lang="en-US" sz="2400" smtClean="0"/>
              <a:t>:  An agent that inactivates viruses.</a:t>
            </a:r>
          </a:p>
          <a:p>
            <a:pPr lvl="1" eaLnBrk="1" hangingPunct="1">
              <a:lnSpc>
                <a:spcPct val="90000"/>
              </a:lnSpc>
              <a:buSzPct val="75000"/>
              <a:buFont typeface="Arial" charset="0"/>
              <a:buNone/>
            </a:pPr>
            <a:r>
              <a:rPr lang="en-US" sz="2400" b="1" smtClean="0"/>
              <a:t>Fungicide:</a:t>
            </a:r>
            <a:r>
              <a:rPr lang="en-US" sz="2400" smtClean="0"/>
              <a:t> An agent that kills fungi.</a:t>
            </a:r>
          </a:p>
          <a:p>
            <a:pPr lvl="1" eaLnBrk="1" hangingPunct="1">
              <a:lnSpc>
                <a:spcPct val="90000"/>
              </a:lnSpc>
              <a:buSzPct val="75000"/>
              <a:buFont typeface="Arial" charset="0"/>
              <a:buNone/>
            </a:pPr>
            <a:r>
              <a:rPr lang="en-US" sz="2400" b="1" smtClean="0"/>
              <a:t>Sporicide</a:t>
            </a:r>
            <a:r>
              <a:rPr lang="en-US" sz="2400" smtClean="0"/>
              <a:t>: An agent that kills bacterial endospores of fungal spores.</a:t>
            </a:r>
          </a:p>
          <a:p>
            <a:pPr lvl="1" eaLnBrk="1" hangingPunct="1">
              <a:lnSpc>
                <a:spcPct val="90000"/>
              </a:lnSpc>
              <a:buSzPct val="75000"/>
              <a:buFont typeface="Monotype Sorts" pitchFamily="2" charset="2"/>
              <a:buChar char="u"/>
            </a:pPr>
            <a:endParaRPr lang="en-US" sz="2400" smtClean="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231426">
                                            <p:txEl>
                                              <p:pRg st="0" end="0"/>
                                            </p:txEl>
                                          </p:spTgt>
                                        </p:tgtEl>
                                        <p:attrNameLst>
                                          <p:attrName>style.visibility</p:attrName>
                                        </p:attrNameLst>
                                      </p:cBhvr>
                                      <p:to>
                                        <p:strVal val="visible"/>
                                      </p:to>
                                    </p:set>
                                    <p:anim calcmode="lin" valueType="num">
                                      <p:cBhvr additive="base">
                                        <p:cTn id="7" dur="500" fill="hold"/>
                                        <p:tgtEl>
                                          <p:spTgt spid="231426">
                                            <p:txEl>
                                              <p:pRg st="0" end="0"/>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231426">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231426">
                                            <p:txEl>
                                              <p:pRg st="1" end="1"/>
                                            </p:txEl>
                                          </p:spTgt>
                                        </p:tgtEl>
                                        <p:attrNameLst>
                                          <p:attrName>style.visibility</p:attrName>
                                        </p:attrNameLst>
                                      </p:cBhvr>
                                      <p:to>
                                        <p:strVal val="visible"/>
                                      </p:to>
                                    </p:set>
                                    <p:anim calcmode="lin" valueType="num">
                                      <p:cBhvr additive="base">
                                        <p:cTn id="13" dur="500" fill="hold"/>
                                        <p:tgtEl>
                                          <p:spTgt spid="231426">
                                            <p:txEl>
                                              <p:pRg st="1" end="1"/>
                                            </p:txEl>
                                          </p:spTgt>
                                        </p:tgtEl>
                                        <p:attrNameLst>
                                          <p:attrName>ppt_x</p:attrName>
                                        </p:attrNameLst>
                                      </p:cBhvr>
                                      <p:tavLst>
                                        <p:tav tm="0">
                                          <p:val>
                                            <p:strVal val="0-#ppt_w/2"/>
                                          </p:val>
                                        </p:tav>
                                        <p:tav tm="100000">
                                          <p:val>
                                            <p:strVal val="#ppt_x"/>
                                          </p:val>
                                        </p:tav>
                                      </p:tavLst>
                                    </p:anim>
                                    <p:anim calcmode="lin" valueType="num">
                                      <p:cBhvr additive="base">
                                        <p:cTn id="14" dur="500" fill="hold"/>
                                        <p:tgtEl>
                                          <p:spTgt spid="231426">
                                            <p:txEl>
                                              <p:pRg st="1" end="1"/>
                                            </p:txEl>
                                          </p:spTgt>
                                        </p:tgtEl>
                                        <p:attrNameLst>
                                          <p:attrName>ppt_y</p:attrName>
                                        </p:attrNameLst>
                                      </p:cBhvr>
                                      <p:tavLst>
                                        <p:tav tm="0">
                                          <p:val>
                                            <p:strVal val="#ppt_y"/>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8" fill="hold" grpId="0" nodeType="clickEffect">
                                  <p:stCondLst>
                                    <p:cond delay="0"/>
                                  </p:stCondLst>
                                  <p:childTnLst>
                                    <p:set>
                                      <p:cBhvr>
                                        <p:cTn id="18" dur="1" fill="hold">
                                          <p:stCondLst>
                                            <p:cond delay="0"/>
                                          </p:stCondLst>
                                        </p:cTn>
                                        <p:tgtEl>
                                          <p:spTgt spid="231426">
                                            <p:txEl>
                                              <p:pRg st="2" end="2"/>
                                            </p:txEl>
                                          </p:spTgt>
                                        </p:tgtEl>
                                        <p:attrNameLst>
                                          <p:attrName>style.visibility</p:attrName>
                                        </p:attrNameLst>
                                      </p:cBhvr>
                                      <p:to>
                                        <p:strVal val="visible"/>
                                      </p:to>
                                    </p:set>
                                    <p:anim calcmode="lin" valueType="num">
                                      <p:cBhvr additive="base">
                                        <p:cTn id="19" dur="500" fill="hold"/>
                                        <p:tgtEl>
                                          <p:spTgt spid="231426">
                                            <p:txEl>
                                              <p:pRg st="2" end="2"/>
                                            </p:txEl>
                                          </p:spTgt>
                                        </p:tgtEl>
                                        <p:attrNameLst>
                                          <p:attrName>ppt_x</p:attrName>
                                        </p:attrNameLst>
                                      </p:cBhvr>
                                      <p:tavLst>
                                        <p:tav tm="0">
                                          <p:val>
                                            <p:strVal val="0-#ppt_w/2"/>
                                          </p:val>
                                        </p:tav>
                                        <p:tav tm="100000">
                                          <p:val>
                                            <p:strVal val="#ppt_x"/>
                                          </p:val>
                                        </p:tav>
                                      </p:tavLst>
                                    </p:anim>
                                    <p:anim calcmode="lin" valueType="num">
                                      <p:cBhvr additive="base">
                                        <p:cTn id="20" dur="500" fill="hold"/>
                                        <p:tgtEl>
                                          <p:spTgt spid="231426">
                                            <p:txEl>
                                              <p:pRg st="2" end="2"/>
                                            </p:txEl>
                                          </p:spTgt>
                                        </p:tgtEl>
                                        <p:attrNameLst>
                                          <p:attrName>ppt_y</p:attrName>
                                        </p:attrNameLst>
                                      </p:cBhvr>
                                      <p:tavLst>
                                        <p:tav tm="0">
                                          <p:val>
                                            <p:strVal val="#ppt_y"/>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8" fill="hold" grpId="0" nodeType="clickEffect">
                                  <p:stCondLst>
                                    <p:cond delay="0"/>
                                  </p:stCondLst>
                                  <p:childTnLst>
                                    <p:set>
                                      <p:cBhvr>
                                        <p:cTn id="24" dur="1" fill="hold">
                                          <p:stCondLst>
                                            <p:cond delay="0"/>
                                          </p:stCondLst>
                                        </p:cTn>
                                        <p:tgtEl>
                                          <p:spTgt spid="231426">
                                            <p:txEl>
                                              <p:pRg st="3" end="3"/>
                                            </p:txEl>
                                          </p:spTgt>
                                        </p:tgtEl>
                                        <p:attrNameLst>
                                          <p:attrName>style.visibility</p:attrName>
                                        </p:attrNameLst>
                                      </p:cBhvr>
                                      <p:to>
                                        <p:strVal val="visible"/>
                                      </p:to>
                                    </p:set>
                                    <p:anim calcmode="lin" valueType="num">
                                      <p:cBhvr additive="base">
                                        <p:cTn id="25" dur="500" fill="hold"/>
                                        <p:tgtEl>
                                          <p:spTgt spid="231426">
                                            <p:txEl>
                                              <p:pRg st="3" end="3"/>
                                            </p:txEl>
                                          </p:spTgt>
                                        </p:tgtEl>
                                        <p:attrNameLst>
                                          <p:attrName>ppt_x</p:attrName>
                                        </p:attrNameLst>
                                      </p:cBhvr>
                                      <p:tavLst>
                                        <p:tav tm="0">
                                          <p:val>
                                            <p:strVal val="0-#ppt_w/2"/>
                                          </p:val>
                                        </p:tav>
                                        <p:tav tm="100000">
                                          <p:val>
                                            <p:strVal val="#ppt_x"/>
                                          </p:val>
                                        </p:tav>
                                      </p:tavLst>
                                    </p:anim>
                                    <p:anim calcmode="lin" valueType="num">
                                      <p:cBhvr additive="base">
                                        <p:cTn id="26" dur="500" fill="hold"/>
                                        <p:tgtEl>
                                          <p:spTgt spid="231426">
                                            <p:txEl>
                                              <p:pRg st="3" end="3"/>
                                            </p:txEl>
                                          </p:spTgt>
                                        </p:tgtEl>
                                        <p:attrNameLst>
                                          <p:attrName>ppt_y</p:attrName>
                                        </p:attrNameLst>
                                      </p:cBhvr>
                                      <p:tavLst>
                                        <p:tav tm="0">
                                          <p:val>
                                            <p:strVal val="#ppt_y"/>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8" fill="hold" grpId="0" nodeType="clickEffect">
                                  <p:stCondLst>
                                    <p:cond delay="0"/>
                                  </p:stCondLst>
                                  <p:childTnLst>
                                    <p:set>
                                      <p:cBhvr>
                                        <p:cTn id="30" dur="1" fill="hold">
                                          <p:stCondLst>
                                            <p:cond delay="0"/>
                                          </p:stCondLst>
                                        </p:cTn>
                                        <p:tgtEl>
                                          <p:spTgt spid="231426">
                                            <p:txEl>
                                              <p:pRg st="4" end="4"/>
                                            </p:txEl>
                                          </p:spTgt>
                                        </p:tgtEl>
                                        <p:attrNameLst>
                                          <p:attrName>style.visibility</p:attrName>
                                        </p:attrNameLst>
                                      </p:cBhvr>
                                      <p:to>
                                        <p:strVal val="visible"/>
                                      </p:to>
                                    </p:set>
                                    <p:anim calcmode="lin" valueType="num">
                                      <p:cBhvr additive="base">
                                        <p:cTn id="31" dur="500" fill="hold"/>
                                        <p:tgtEl>
                                          <p:spTgt spid="231426">
                                            <p:txEl>
                                              <p:pRg st="4" end="4"/>
                                            </p:txEl>
                                          </p:spTgt>
                                        </p:tgtEl>
                                        <p:attrNameLst>
                                          <p:attrName>ppt_x</p:attrName>
                                        </p:attrNameLst>
                                      </p:cBhvr>
                                      <p:tavLst>
                                        <p:tav tm="0">
                                          <p:val>
                                            <p:strVal val="0-#ppt_w/2"/>
                                          </p:val>
                                        </p:tav>
                                        <p:tav tm="100000">
                                          <p:val>
                                            <p:strVal val="#ppt_x"/>
                                          </p:val>
                                        </p:tav>
                                      </p:tavLst>
                                    </p:anim>
                                    <p:anim calcmode="lin" valueType="num">
                                      <p:cBhvr additive="base">
                                        <p:cTn id="32" dur="500" fill="hold"/>
                                        <p:tgtEl>
                                          <p:spTgt spid="231426">
                                            <p:txEl>
                                              <p:pRg st="4" end="4"/>
                                            </p:txEl>
                                          </p:spTgt>
                                        </p:tgtEl>
                                        <p:attrNameLst>
                                          <p:attrName>ppt_y</p:attrName>
                                        </p:attrNameLst>
                                      </p:cBhvr>
                                      <p:tavLst>
                                        <p:tav tm="0">
                                          <p:val>
                                            <p:strVal val="#ppt_y"/>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8" fill="hold" grpId="0" nodeType="clickEffect">
                                  <p:stCondLst>
                                    <p:cond delay="0"/>
                                  </p:stCondLst>
                                  <p:childTnLst>
                                    <p:set>
                                      <p:cBhvr>
                                        <p:cTn id="36" dur="1" fill="hold">
                                          <p:stCondLst>
                                            <p:cond delay="0"/>
                                          </p:stCondLst>
                                        </p:cTn>
                                        <p:tgtEl>
                                          <p:spTgt spid="231426">
                                            <p:txEl>
                                              <p:pRg st="5" end="5"/>
                                            </p:txEl>
                                          </p:spTgt>
                                        </p:tgtEl>
                                        <p:attrNameLst>
                                          <p:attrName>style.visibility</p:attrName>
                                        </p:attrNameLst>
                                      </p:cBhvr>
                                      <p:to>
                                        <p:strVal val="visible"/>
                                      </p:to>
                                    </p:set>
                                    <p:anim calcmode="lin" valueType="num">
                                      <p:cBhvr additive="base">
                                        <p:cTn id="37" dur="500" fill="hold"/>
                                        <p:tgtEl>
                                          <p:spTgt spid="231426">
                                            <p:txEl>
                                              <p:pRg st="5" end="5"/>
                                            </p:txEl>
                                          </p:spTgt>
                                        </p:tgtEl>
                                        <p:attrNameLst>
                                          <p:attrName>ppt_x</p:attrName>
                                        </p:attrNameLst>
                                      </p:cBhvr>
                                      <p:tavLst>
                                        <p:tav tm="0">
                                          <p:val>
                                            <p:strVal val="0-#ppt_w/2"/>
                                          </p:val>
                                        </p:tav>
                                        <p:tav tm="100000">
                                          <p:val>
                                            <p:strVal val="#ppt_x"/>
                                          </p:val>
                                        </p:tav>
                                      </p:tavLst>
                                    </p:anim>
                                    <p:anim calcmode="lin" valueType="num">
                                      <p:cBhvr additive="base">
                                        <p:cTn id="38" dur="500" fill="hold"/>
                                        <p:tgtEl>
                                          <p:spTgt spid="231426">
                                            <p:txEl>
                                              <p:pRg st="5" end="5"/>
                                            </p:txEl>
                                          </p:spTgt>
                                        </p:tgtEl>
                                        <p:attrNameLst>
                                          <p:attrName>ppt_y</p:attrName>
                                        </p:attrNameLst>
                                      </p:cBhvr>
                                      <p:tavLst>
                                        <p:tav tm="0">
                                          <p:val>
                                            <p:strVal val="#ppt_y"/>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2" presetClass="entr" presetSubtype="8" fill="hold" grpId="0" nodeType="clickEffect">
                                  <p:stCondLst>
                                    <p:cond delay="0"/>
                                  </p:stCondLst>
                                  <p:childTnLst>
                                    <p:set>
                                      <p:cBhvr>
                                        <p:cTn id="42" dur="1" fill="hold">
                                          <p:stCondLst>
                                            <p:cond delay="0"/>
                                          </p:stCondLst>
                                        </p:cTn>
                                        <p:tgtEl>
                                          <p:spTgt spid="231426">
                                            <p:txEl>
                                              <p:pRg st="6" end="6"/>
                                            </p:txEl>
                                          </p:spTgt>
                                        </p:tgtEl>
                                        <p:attrNameLst>
                                          <p:attrName>style.visibility</p:attrName>
                                        </p:attrNameLst>
                                      </p:cBhvr>
                                      <p:to>
                                        <p:strVal val="visible"/>
                                      </p:to>
                                    </p:set>
                                    <p:anim calcmode="lin" valueType="num">
                                      <p:cBhvr additive="base">
                                        <p:cTn id="43" dur="500" fill="hold"/>
                                        <p:tgtEl>
                                          <p:spTgt spid="231426">
                                            <p:txEl>
                                              <p:pRg st="6" end="6"/>
                                            </p:txEl>
                                          </p:spTgt>
                                        </p:tgtEl>
                                        <p:attrNameLst>
                                          <p:attrName>ppt_x</p:attrName>
                                        </p:attrNameLst>
                                      </p:cBhvr>
                                      <p:tavLst>
                                        <p:tav tm="0">
                                          <p:val>
                                            <p:strVal val="0-#ppt_w/2"/>
                                          </p:val>
                                        </p:tav>
                                        <p:tav tm="100000">
                                          <p:val>
                                            <p:strVal val="#ppt_x"/>
                                          </p:val>
                                        </p:tav>
                                      </p:tavLst>
                                    </p:anim>
                                    <p:anim calcmode="lin" valueType="num">
                                      <p:cBhvr additive="base">
                                        <p:cTn id="44" dur="500" fill="hold"/>
                                        <p:tgtEl>
                                          <p:spTgt spid="231426">
                                            <p:txEl>
                                              <p:pRg st="6" end="6"/>
                                            </p:txEl>
                                          </p:spTgt>
                                        </p:tgtEl>
                                        <p:attrNameLst>
                                          <p:attrName>ppt_y</p:attrName>
                                        </p:attrNameLst>
                                      </p:cBhvr>
                                      <p:tavLst>
                                        <p:tav tm="0">
                                          <p:val>
                                            <p:strVal val="#ppt_y"/>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2" presetClass="entr" presetSubtype="8" fill="hold" grpId="0" nodeType="clickEffect">
                                  <p:stCondLst>
                                    <p:cond delay="0"/>
                                  </p:stCondLst>
                                  <p:childTnLst>
                                    <p:set>
                                      <p:cBhvr>
                                        <p:cTn id="48" dur="1" fill="hold">
                                          <p:stCondLst>
                                            <p:cond delay="0"/>
                                          </p:stCondLst>
                                        </p:cTn>
                                        <p:tgtEl>
                                          <p:spTgt spid="231426">
                                            <p:txEl>
                                              <p:pRg st="7" end="7"/>
                                            </p:txEl>
                                          </p:spTgt>
                                        </p:tgtEl>
                                        <p:attrNameLst>
                                          <p:attrName>style.visibility</p:attrName>
                                        </p:attrNameLst>
                                      </p:cBhvr>
                                      <p:to>
                                        <p:strVal val="visible"/>
                                      </p:to>
                                    </p:set>
                                    <p:anim calcmode="lin" valueType="num">
                                      <p:cBhvr additive="base">
                                        <p:cTn id="49" dur="500" fill="hold"/>
                                        <p:tgtEl>
                                          <p:spTgt spid="231426">
                                            <p:txEl>
                                              <p:pRg st="7" end="7"/>
                                            </p:txEl>
                                          </p:spTgt>
                                        </p:tgtEl>
                                        <p:attrNameLst>
                                          <p:attrName>ppt_x</p:attrName>
                                        </p:attrNameLst>
                                      </p:cBhvr>
                                      <p:tavLst>
                                        <p:tav tm="0">
                                          <p:val>
                                            <p:strVal val="0-#ppt_w/2"/>
                                          </p:val>
                                        </p:tav>
                                        <p:tav tm="100000">
                                          <p:val>
                                            <p:strVal val="#ppt_x"/>
                                          </p:val>
                                        </p:tav>
                                      </p:tavLst>
                                    </p:anim>
                                    <p:anim calcmode="lin" valueType="num">
                                      <p:cBhvr additive="base">
                                        <p:cTn id="50" dur="500" fill="hold"/>
                                        <p:tgtEl>
                                          <p:spTgt spid="231426">
                                            <p:txEl>
                                              <p:pRg st="7" end="7"/>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1426" grpId="0" build="p" bldLvl="3" autoUpdateAnimBg="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Rectangle 2"/>
          <p:cNvSpPr>
            <a:spLocks noGrp="1" noChangeArrowheads="1"/>
          </p:cNvSpPr>
          <p:nvPr>
            <p:ph idx="1"/>
          </p:nvPr>
        </p:nvSpPr>
        <p:spPr>
          <a:xfrm>
            <a:off x="838200" y="152400"/>
            <a:ext cx="7924800" cy="5715000"/>
          </a:xfrm>
        </p:spPr>
        <p:txBody>
          <a:bodyPr/>
          <a:lstStyle/>
          <a:p>
            <a:pPr eaLnBrk="1" hangingPunct="1">
              <a:buFont typeface="Monotype Sorts" pitchFamily="2" charset="2"/>
              <a:buNone/>
            </a:pPr>
            <a:r>
              <a:rPr lang="en-US" sz="3600" b="1" smtClean="0">
                <a:solidFill>
                  <a:schemeClr val="tx2"/>
                </a:solidFill>
              </a:rPr>
              <a:t>Control of Microbial Growth:</a:t>
            </a:r>
          </a:p>
          <a:p>
            <a:pPr eaLnBrk="1" hangingPunct="1">
              <a:buFont typeface="Monotype Sorts" pitchFamily="2" charset="2"/>
              <a:buNone/>
            </a:pPr>
            <a:r>
              <a:rPr lang="en-US" sz="3600" b="1" smtClean="0">
                <a:solidFill>
                  <a:schemeClr val="tx2"/>
                </a:solidFill>
              </a:rPr>
              <a:t>Rate of Microbial Death</a:t>
            </a:r>
          </a:p>
          <a:p>
            <a:pPr eaLnBrk="1" hangingPunct="1">
              <a:buFont typeface="Monotype Sorts" pitchFamily="2" charset="2"/>
              <a:buNone/>
            </a:pPr>
            <a:r>
              <a:rPr lang="en-US" sz="2800" b="1" smtClean="0"/>
              <a:t>	</a:t>
            </a:r>
            <a:r>
              <a:rPr lang="en-US" sz="2800" smtClean="0"/>
              <a:t>When bacterial populations are heated or treated antimicrobial chemicals, they usually die at a constant rate.</a:t>
            </a:r>
          </a:p>
        </p:txBody>
      </p:sp>
      <p:pic>
        <p:nvPicPr>
          <p:cNvPr id="23555" name="Picture 3" descr="E:\MEDIA\1043\7_1.BMP"/>
          <p:cNvPicPr>
            <a:picLocks noChangeAspect="1" noChangeArrowheads="1"/>
          </p:cNvPicPr>
          <p:nvPr/>
        </p:nvPicPr>
        <p:blipFill>
          <a:blip r:embed="rId2"/>
          <a:srcRect/>
          <a:stretch>
            <a:fillRect/>
          </a:stretch>
        </p:blipFill>
        <p:spPr bwMode="auto">
          <a:xfrm>
            <a:off x="711200" y="2755900"/>
            <a:ext cx="8128000" cy="4102100"/>
          </a:xfrm>
          <a:prstGeom prst="rect">
            <a:avLst/>
          </a:prstGeom>
          <a:noFill/>
          <a:ln w="9525">
            <a:noFill/>
            <a:miter lim="800000"/>
            <a:headEnd/>
            <a:tailEnd/>
          </a:ln>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32450" name="Rectangle 2"/>
          <p:cNvSpPr>
            <a:spLocks noGrp="1" noChangeArrowheads="1"/>
          </p:cNvSpPr>
          <p:nvPr>
            <p:ph idx="1"/>
          </p:nvPr>
        </p:nvSpPr>
        <p:spPr>
          <a:xfrm>
            <a:off x="838200" y="152400"/>
            <a:ext cx="7924800" cy="5715000"/>
          </a:xfrm>
        </p:spPr>
        <p:txBody>
          <a:bodyPr rtlCol="0">
            <a:normAutofit fontScale="92500" lnSpcReduction="10000"/>
          </a:bodyPr>
          <a:lstStyle/>
          <a:p>
            <a:pPr eaLnBrk="1" fontAlgn="auto" hangingPunct="1">
              <a:spcAft>
                <a:spcPts val="0"/>
              </a:spcAft>
              <a:buFont typeface="Monotype Sorts" pitchFamily="2" charset="2"/>
              <a:buNone/>
              <a:defRPr/>
            </a:pPr>
            <a:r>
              <a:rPr lang="en-US" sz="3600" b="1" smtClean="0">
                <a:solidFill>
                  <a:schemeClr val="tx2"/>
                </a:solidFill>
              </a:rPr>
              <a:t>Control of Microbial Growth:</a:t>
            </a:r>
          </a:p>
          <a:p>
            <a:pPr eaLnBrk="1" fontAlgn="auto" hangingPunct="1">
              <a:spcAft>
                <a:spcPts val="0"/>
              </a:spcAft>
              <a:buFont typeface="Monotype Sorts" pitchFamily="2" charset="2"/>
              <a:buNone/>
              <a:defRPr/>
            </a:pPr>
            <a:r>
              <a:rPr lang="en-US" sz="3600" b="1" smtClean="0">
                <a:solidFill>
                  <a:schemeClr val="tx2"/>
                </a:solidFill>
              </a:rPr>
              <a:t>Rate of Microbial Death</a:t>
            </a:r>
          </a:p>
          <a:p>
            <a:pPr eaLnBrk="1" fontAlgn="auto" hangingPunct="1">
              <a:spcAft>
                <a:spcPts val="0"/>
              </a:spcAft>
              <a:buFont typeface="Monotype Sorts" pitchFamily="2" charset="2"/>
              <a:buNone/>
              <a:defRPr/>
            </a:pPr>
            <a:r>
              <a:rPr lang="en-US" sz="2800" b="1" smtClean="0"/>
              <a:t>	</a:t>
            </a:r>
            <a:r>
              <a:rPr lang="en-US" sz="2800" smtClean="0"/>
              <a:t>Several factors influence the effectiveness of antimicrobial treatment</a:t>
            </a:r>
            <a:r>
              <a:rPr lang="en-US" sz="2400" smtClean="0"/>
              <a:t>.</a:t>
            </a:r>
          </a:p>
          <a:p>
            <a:pPr eaLnBrk="1" fontAlgn="auto" hangingPunct="1">
              <a:spcAft>
                <a:spcPts val="0"/>
              </a:spcAft>
              <a:buFont typeface="Monotype Sorts" pitchFamily="2" charset="2"/>
              <a:buNone/>
              <a:defRPr/>
            </a:pPr>
            <a:r>
              <a:rPr lang="en-US" sz="2800" smtClean="0"/>
              <a:t>	</a:t>
            </a:r>
            <a:r>
              <a:rPr lang="en-US" sz="2400" b="1" smtClean="0"/>
              <a:t>1. Number of Microbes</a:t>
            </a:r>
            <a:r>
              <a:rPr lang="en-US" sz="2400" smtClean="0"/>
              <a:t>:  The more microbes present, the more time it takes to eliminate population.</a:t>
            </a:r>
          </a:p>
          <a:p>
            <a:pPr eaLnBrk="1" fontAlgn="auto" hangingPunct="1">
              <a:spcAft>
                <a:spcPts val="0"/>
              </a:spcAft>
              <a:buFont typeface="Monotype Sorts" pitchFamily="2" charset="2"/>
              <a:buNone/>
              <a:defRPr/>
            </a:pPr>
            <a:r>
              <a:rPr lang="en-US" sz="2400" smtClean="0"/>
              <a:t>	</a:t>
            </a:r>
            <a:r>
              <a:rPr lang="en-US" sz="2400" b="1" smtClean="0"/>
              <a:t>2. Type of Microbes</a:t>
            </a:r>
            <a:r>
              <a:rPr lang="en-US" sz="2400" smtClean="0"/>
              <a:t>: Endospores are very difficult to destroy.  Vegetative pathogens vary widely in susceptibility to different methods of microbial control.</a:t>
            </a:r>
          </a:p>
          <a:p>
            <a:pPr eaLnBrk="1" fontAlgn="auto" hangingPunct="1">
              <a:spcAft>
                <a:spcPts val="0"/>
              </a:spcAft>
              <a:buFont typeface="Monotype Sorts" pitchFamily="2" charset="2"/>
              <a:buNone/>
              <a:defRPr/>
            </a:pPr>
            <a:r>
              <a:rPr lang="en-US" sz="2400" b="1" smtClean="0"/>
              <a:t>	3. Environmental influences:</a:t>
            </a:r>
            <a:r>
              <a:rPr lang="en-US" sz="2400" smtClean="0"/>
              <a:t> Presence of organic material (blood, feces, saliva) tends to inhibit antimicrobials, pH etc.</a:t>
            </a:r>
          </a:p>
          <a:p>
            <a:pPr eaLnBrk="1" fontAlgn="auto" hangingPunct="1">
              <a:spcAft>
                <a:spcPts val="0"/>
              </a:spcAft>
              <a:buFont typeface="Monotype Sorts" pitchFamily="2" charset="2"/>
              <a:buNone/>
              <a:defRPr/>
            </a:pPr>
            <a:r>
              <a:rPr lang="en-US" sz="2400" b="1" smtClean="0"/>
              <a:t>	4. Time of Exposure:</a:t>
            </a:r>
            <a:r>
              <a:rPr lang="en-US" sz="2400" smtClean="0"/>
              <a:t> Chemical antimicrobials and radiation treatments are more effective at longer times. In heat treatments, longer exposure compensates for lower temperatures.</a:t>
            </a:r>
            <a:endParaRPr lang="en-US" sz="2800" smtClean="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232450">
                                            <p:txEl>
                                              <p:pRg st="0" end="0"/>
                                            </p:txEl>
                                          </p:spTgt>
                                        </p:tgtEl>
                                        <p:attrNameLst>
                                          <p:attrName>style.visibility</p:attrName>
                                        </p:attrNameLst>
                                      </p:cBhvr>
                                      <p:to>
                                        <p:strVal val="visible"/>
                                      </p:to>
                                    </p:set>
                                    <p:anim calcmode="lin" valueType="num">
                                      <p:cBhvr additive="base">
                                        <p:cTn id="7" dur="500" fill="hold"/>
                                        <p:tgtEl>
                                          <p:spTgt spid="232450">
                                            <p:txEl>
                                              <p:pRg st="0" end="0"/>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232450">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232450">
                                            <p:txEl>
                                              <p:pRg st="1" end="1"/>
                                            </p:txEl>
                                          </p:spTgt>
                                        </p:tgtEl>
                                        <p:attrNameLst>
                                          <p:attrName>style.visibility</p:attrName>
                                        </p:attrNameLst>
                                      </p:cBhvr>
                                      <p:to>
                                        <p:strVal val="visible"/>
                                      </p:to>
                                    </p:set>
                                    <p:anim calcmode="lin" valueType="num">
                                      <p:cBhvr additive="base">
                                        <p:cTn id="13" dur="500" fill="hold"/>
                                        <p:tgtEl>
                                          <p:spTgt spid="232450">
                                            <p:txEl>
                                              <p:pRg st="1" end="1"/>
                                            </p:txEl>
                                          </p:spTgt>
                                        </p:tgtEl>
                                        <p:attrNameLst>
                                          <p:attrName>ppt_x</p:attrName>
                                        </p:attrNameLst>
                                      </p:cBhvr>
                                      <p:tavLst>
                                        <p:tav tm="0">
                                          <p:val>
                                            <p:strVal val="0-#ppt_w/2"/>
                                          </p:val>
                                        </p:tav>
                                        <p:tav tm="100000">
                                          <p:val>
                                            <p:strVal val="#ppt_x"/>
                                          </p:val>
                                        </p:tav>
                                      </p:tavLst>
                                    </p:anim>
                                    <p:anim calcmode="lin" valueType="num">
                                      <p:cBhvr additive="base">
                                        <p:cTn id="14" dur="500" fill="hold"/>
                                        <p:tgtEl>
                                          <p:spTgt spid="232450">
                                            <p:txEl>
                                              <p:pRg st="1" end="1"/>
                                            </p:txEl>
                                          </p:spTgt>
                                        </p:tgtEl>
                                        <p:attrNameLst>
                                          <p:attrName>ppt_y</p:attrName>
                                        </p:attrNameLst>
                                      </p:cBhvr>
                                      <p:tavLst>
                                        <p:tav tm="0">
                                          <p:val>
                                            <p:strVal val="#ppt_y"/>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8" fill="hold" grpId="0" nodeType="clickEffect">
                                  <p:stCondLst>
                                    <p:cond delay="0"/>
                                  </p:stCondLst>
                                  <p:childTnLst>
                                    <p:set>
                                      <p:cBhvr>
                                        <p:cTn id="18" dur="1" fill="hold">
                                          <p:stCondLst>
                                            <p:cond delay="0"/>
                                          </p:stCondLst>
                                        </p:cTn>
                                        <p:tgtEl>
                                          <p:spTgt spid="232450">
                                            <p:txEl>
                                              <p:pRg st="2" end="2"/>
                                            </p:txEl>
                                          </p:spTgt>
                                        </p:tgtEl>
                                        <p:attrNameLst>
                                          <p:attrName>style.visibility</p:attrName>
                                        </p:attrNameLst>
                                      </p:cBhvr>
                                      <p:to>
                                        <p:strVal val="visible"/>
                                      </p:to>
                                    </p:set>
                                    <p:anim calcmode="lin" valueType="num">
                                      <p:cBhvr additive="base">
                                        <p:cTn id="19" dur="500" fill="hold"/>
                                        <p:tgtEl>
                                          <p:spTgt spid="232450">
                                            <p:txEl>
                                              <p:pRg st="2" end="2"/>
                                            </p:txEl>
                                          </p:spTgt>
                                        </p:tgtEl>
                                        <p:attrNameLst>
                                          <p:attrName>ppt_x</p:attrName>
                                        </p:attrNameLst>
                                      </p:cBhvr>
                                      <p:tavLst>
                                        <p:tav tm="0">
                                          <p:val>
                                            <p:strVal val="0-#ppt_w/2"/>
                                          </p:val>
                                        </p:tav>
                                        <p:tav tm="100000">
                                          <p:val>
                                            <p:strVal val="#ppt_x"/>
                                          </p:val>
                                        </p:tav>
                                      </p:tavLst>
                                    </p:anim>
                                    <p:anim calcmode="lin" valueType="num">
                                      <p:cBhvr additive="base">
                                        <p:cTn id="20" dur="500" fill="hold"/>
                                        <p:tgtEl>
                                          <p:spTgt spid="232450">
                                            <p:txEl>
                                              <p:pRg st="2" end="2"/>
                                            </p:txEl>
                                          </p:spTgt>
                                        </p:tgtEl>
                                        <p:attrNameLst>
                                          <p:attrName>ppt_y</p:attrName>
                                        </p:attrNameLst>
                                      </p:cBhvr>
                                      <p:tavLst>
                                        <p:tav tm="0">
                                          <p:val>
                                            <p:strVal val="#ppt_y"/>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8" fill="hold" grpId="0" nodeType="clickEffect">
                                  <p:stCondLst>
                                    <p:cond delay="0"/>
                                  </p:stCondLst>
                                  <p:childTnLst>
                                    <p:set>
                                      <p:cBhvr>
                                        <p:cTn id="24" dur="1" fill="hold">
                                          <p:stCondLst>
                                            <p:cond delay="0"/>
                                          </p:stCondLst>
                                        </p:cTn>
                                        <p:tgtEl>
                                          <p:spTgt spid="232450">
                                            <p:txEl>
                                              <p:pRg st="3" end="3"/>
                                            </p:txEl>
                                          </p:spTgt>
                                        </p:tgtEl>
                                        <p:attrNameLst>
                                          <p:attrName>style.visibility</p:attrName>
                                        </p:attrNameLst>
                                      </p:cBhvr>
                                      <p:to>
                                        <p:strVal val="visible"/>
                                      </p:to>
                                    </p:set>
                                    <p:anim calcmode="lin" valueType="num">
                                      <p:cBhvr additive="base">
                                        <p:cTn id="25" dur="500" fill="hold"/>
                                        <p:tgtEl>
                                          <p:spTgt spid="232450">
                                            <p:txEl>
                                              <p:pRg st="3" end="3"/>
                                            </p:txEl>
                                          </p:spTgt>
                                        </p:tgtEl>
                                        <p:attrNameLst>
                                          <p:attrName>ppt_x</p:attrName>
                                        </p:attrNameLst>
                                      </p:cBhvr>
                                      <p:tavLst>
                                        <p:tav tm="0">
                                          <p:val>
                                            <p:strVal val="0-#ppt_w/2"/>
                                          </p:val>
                                        </p:tav>
                                        <p:tav tm="100000">
                                          <p:val>
                                            <p:strVal val="#ppt_x"/>
                                          </p:val>
                                        </p:tav>
                                      </p:tavLst>
                                    </p:anim>
                                    <p:anim calcmode="lin" valueType="num">
                                      <p:cBhvr additive="base">
                                        <p:cTn id="26" dur="500" fill="hold"/>
                                        <p:tgtEl>
                                          <p:spTgt spid="232450">
                                            <p:txEl>
                                              <p:pRg st="3" end="3"/>
                                            </p:txEl>
                                          </p:spTgt>
                                        </p:tgtEl>
                                        <p:attrNameLst>
                                          <p:attrName>ppt_y</p:attrName>
                                        </p:attrNameLst>
                                      </p:cBhvr>
                                      <p:tavLst>
                                        <p:tav tm="0">
                                          <p:val>
                                            <p:strVal val="#ppt_y"/>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8" fill="hold" grpId="0" nodeType="clickEffect">
                                  <p:stCondLst>
                                    <p:cond delay="0"/>
                                  </p:stCondLst>
                                  <p:childTnLst>
                                    <p:set>
                                      <p:cBhvr>
                                        <p:cTn id="30" dur="1" fill="hold">
                                          <p:stCondLst>
                                            <p:cond delay="0"/>
                                          </p:stCondLst>
                                        </p:cTn>
                                        <p:tgtEl>
                                          <p:spTgt spid="232450">
                                            <p:txEl>
                                              <p:pRg st="4" end="4"/>
                                            </p:txEl>
                                          </p:spTgt>
                                        </p:tgtEl>
                                        <p:attrNameLst>
                                          <p:attrName>style.visibility</p:attrName>
                                        </p:attrNameLst>
                                      </p:cBhvr>
                                      <p:to>
                                        <p:strVal val="visible"/>
                                      </p:to>
                                    </p:set>
                                    <p:anim calcmode="lin" valueType="num">
                                      <p:cBhvr additive="base">
                                        <p:cTn id="31" dur="500" fill="hold"/>
                                        <p:tgtEl>
                                          <p:spTgt spid="232450">
                                            <p:txEl>
                                              <p:pRg st="4" end="4"/>
                                            </p:txEl>
                                          </p:spTgt>
                                        </p:tgtEl>
                                        <p:attrNameLst>
                                          <p:attrName>ppt_x</p:attrName>
                                        </p:attrNameLst>
                                      </p:cBhvr>
                                      <p:tavLst>
                                        <p:tav tm="0">
                                          <p:val>
                                            <p:strVal val="0-#ppt_w/2"/>
                                          </p:val>
                                        </p:tav>
                                        <p:tav tm="100000">
                                          <p:val>
                                            <p:strVal val="#ppt_x"/>
                                          </p:val>
                                        </p:tav>
                                      </p:tavLst>
                                    </p:anim>
                                    <p:anim calcmode="lin" valueType="num">
                                      <p:cBhvr additive="base">
                                        <p:cTn id="32" dur="500" fill="hold"/>
                                        <p:tgtEl>
                                          <p:spTgt spid="232450">
                                            <p:txEl>
                                              <p:pRg st="4" end="4"/>
                                            </p:txEl>
                                          </p:spTgt>
                                        </p:tgtEl>
                                        <p:attrNameLst>
                                          <p:attrName>ppt_y</p:attrName>
                                        </p:attrNameLst>
                                      </p:cBhvr>
                                      <p:tavLst>
                                        <p:tav tm="0">
                                          <p:val>
                                            <p:strVal val="#ppt_y"/>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8" fill="hold" grpId="0" nodeType="clickEffect">
                                  <p:stCondLst>
                                    <p:cond delay="0"/>
                                  </p:stCondLst>
                                  <p:childTnLst>
                                    <p:set>
                                      <p:cBhvr>
                                        <p:cTn id="36" dur="1" fill="hold">
                                          <p:stCondLst>
                                            <p:cond delay="0"/>
                                          </p:stCondLst>
                                        </p:cTn>
                                        <p:tgtEl>
                                          <p:spTgt spid="232450">
                                            <p:txEl>
                                              <p:pRg st="5" end="5"/>
                                            </p:txEl>
                                          </p:spTgt>
                                        </p:tgtEl>
                                        <p:attrNameLst>
                                          <p:attrName>style.visibility</p:attrName>
                                        </p:attrNameLst>
                                      </p:cBhvr>
                                      <p:to>
                                        <p:strVal val="visible"/>
                                      </p:to>
                                    </p:set>
                                    <p:anim calcmode="lin" valueType="num">
                                      <p:cBhvr additive="base">
                                        <p:cTn id="37" dur="500" fill="hold"/>
                                        <p:tgtEl>
                                          <p:spTgt spid="232450">
                                            <p:txEl>
                                              <p:pRg st="5" end="5"/>
                                            </p:txEl>
                                          </p:spTgt>
                                        </p:tgtEl>
                                        <p:attrNameLst>
                                          <p:attrName>ppt_x</p:attrName>
                                        </p:attrNameLst>
                                      </p:cBhvr>
                                      <p:tavLst>
                                        <p:tav tm="0">
                                          <p:val>
                                            <p:strVal val="0-#ppt_w/2"/>
                                          </p:val>
                                        </p:tav>
                                        <p:tav tm="100000">
                                          <p:val>
                                            <p:strVal val="#ppt_x"/>
                                          </p:val>
                                        </p:tav>
                                      </p:tavLst>
                                    </p:anim>
                                    <p:anim calcmode="lin" valueType="num">
                                      <p:cBhvr additive="base">
                                        <p:cTn id="38" dur="500" fill="hold"/>
                                        <p:tgtEl>
                                          <p:spTgt spid="232450">
                                            <p:txEl>
                                              <p:pRg st="5" end="5"/>
                                            </p:txEl>
                                          </p:spTgt>
                                        </p:tgtEl>
                                        <p:attrNameLst>
                                          <p:attrName>ppt_y</p:attrName>
                                        </p:attrNameLst>
                                      </p:cBhvr>
                                      <p:tavLst>
                                        <p:tav tm="0">
                                          <p:val>
                                            <p:strVal val="#ppt_y"/>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2" presetClass="entr" presetSubtype="8" fill="hold" grpId="0" nodeType="clickEffect">
                                  <p:stCondLst>
                                    <p:cond delay="0"/>
                                  </p:stCondLst>
                                  <p:childTnLst>
                                    <p:set>
                                      <p:cBhvr>
                                        <p:cTn id="42" dur="1" fill="hold">
                                          <p:stCondLst>
                                            <p:cond delay="0"/>
                                          </p:stCondLst>
                                        </p:cTn>
                                        <p:tgtEl>
                                          <p:spTgt spid="232450">
                                            <p:txEl>
                                              <p:pRg st="6" end="6"/>
                                            </p:txEl>
                                          </p:spTgt>
                                        </p:tgtEl>
                                        <p:attrNameLst>
                                          <p:attrName>style.visibility</p:attrName>
                                        </p:attrNameLst>
                                      </p:cBhvr>
                                      <p:to>
                                        <p:strVal val="visible"/>
                                      </p:to>
                                    </p:set>
                                    <p:anim calcmode="lin" valueType="num">
                                      <p:cBhvr additive="base">
                                        <p:cTn id="43" dur="500" fill="hold"/>
                                        <p:tgtEl>
                                          <p:spTgt spid="232450">
                                            <p:txEl>
                                              <p:pRg st="6" end="6"/>
                                            </p:txEl>
                                          </p:spTgt>
                                        </p:tgtEl>
                                        <p:attrNameLst>
                                          <p:attrName>ppt_x</p:attrName>
                                        </p:attrNameLst>
                                      </p:cBhvr>
                                      <p:tavLst>
                                        <p:tav tm="0">
                                          <p:val>
                                            <p:strVal val="0-#ppt_w/2"/>
                                          </p:val>
                                        </p:tav>
                                        <p:tav tm="100000">
                                          <p:val>
                                            <p:strVal val="#ppt_x"/>
                                          </p:val>
                                        </p:tav>
                                      </p:tavLst>
                                    </p:anim>
                                    <p:anim calcmode="lin" valueType="num">
                                      <p:cBhvr additive="base">
                                        <p:cTn id="44" dur="500" fill="hold"/>
                                        <p:tgtEl>
                                          <p:spTgt spid="232450">
                                            <p:txEl>
                                              <p:pRg st="6" end="6"/>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2450" grpId="0" build="p" bldLvl="3" autoUpdateAnimBg="0"/>
    </p:bldLst>
  </p:timing>
</p:sld>
</file>

<file path=ppt/slides/slide16.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29378" name="Rectangle 2"/>
          <p:cNvSpPr>
            <a:spLocks noGrp="1" noChangeArrowheads="1"/>
          </p:cNvSpPr>
          <p:nvPr>
            <p:ph idx="1"/>
          </p:nvPr>
        </p:nvSpPr>
        <p:spPr>
          <a:xfrm>
            <a:off x="838200" y="381000"/>
            <a:ext cx="7924800" cy="5715000"/>
          </a:xfrm>
        </p:spPr>
        <p:txBody>
          <a:bodyPr/>
          <a:lstStyle/>
          <a:p>
            <a:pPr eaLnBrk="1" hangingPunct="1">
              <a:lnSpc>
                <a:spcPct val="90000"/>
              </a:lnSpc>
              <a:buFont typeface="Monotype Sorts" pitchFamily="2" charset="2"/>
              <a:buNone/>
            </a:pPr>
            <a:r>
              <a:rPr lang="en-US" sz="3600" b="1" smtClean="0">
                <a:solidFill>
                  <a:schemeClr val="tx2"/>
                </a:solidFill>
              </a:rPr>
              <a:t>Physical Methods of Microbial Control:</a:t>
            </a:r>
          </a:p>
          <a:p>
            <a:pPr eaLnBrk="1" hangingPunct="1">
              <a:lnSpc>
                <a:spcPct val="90000"/>
              </a:lnSpc>
              <a:buFont typeface="Monotype Sorts" pitchFamily="2" charset="2"/>
              <a:buNone/>
            </a:pPr>
            <a:r>
              <a:rPr lang="en-US" sz="2800" b="1" smtClean="0"/>
              <a:t>	Heat: </a:t>
            </a:r>
            <a:r>
              <a:rPr lang="en-US" sz="2800" smtClean="0"/>
              <a:t>Kills microorganisms</a:t>
            </a:r>
            <a:r>
              <a:rPr lang="en-US" sz="2800" b="1" smtClean="0"/>
              <a:t> by denaturing their enzymes and other proteins. </a:t>
            </a:r>
            <a:r>
              <a:rPr lang="en-US" sz="2800" smtClean="0"/>
              <a:t>Heat resistance varies widely among microbes.</a:t>
            </a:r>
          </a:p>
          <a:p>
            <a:pPr eaLnBrk="1" hangingPunct="1">
              <a:lnSpc>
                <a:spcPct val="90000"/>
              </a:lnSpc>
              <a:buFont typeface="Monotype Sorts" pitchFamily="2" charset="2"/>
              <a:buNone/>
            </a:pPr>
            <a:r>
              <a:rPr lang="en-US" sz="2800" smtClean="0"/>
              <a:t>    </a:t>
            </a:r>
          </a:p>
          <a:p>
            <a:pPr eaLnBrk="1" hangingPunct="1">
              <a:lnSpc>
                <a:spcPct val="90000"/>
              </a:lnSpc>
              <a:buFont typeface="Monotype Sorts" pitchFamily="2" charset="2"/>
              <a:buNone/>
            </a:pPr>
            <a:r>
              <a:rPr lang="en-US" sz="2800" smtClean="0"/>
              <a:t>Most important and widely used. For sterilization consider the type of heat, and most importantly, the </a:t>
            </a:r>
            <a:r>
              <a:rPr lang="en-US" sz="2800" b="1" smtClean="0"/>
              <a:t>time of application</a:t>
            </a:r>
            <a:r>
              <a:rPr lang="en-US" sz="2800" smtClean="0"/>
              <a:t> and </a:t>
            </a:r>
            <a:r>
              <a:rPr lang="en-US" sz="2800" b="1" smtClean="0"/>
              <a:t>temperature</a:t>
            </a:r>
            <a:r>
              <a:rPr lang="en-US" sz="2800" smtClean="0"/>
              <a:t> to ensure destruction of all microorganisms. Endospores of bacteria are considered the most thermoduric of all cells so their destruction guarantees sterility.</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229378">
                                            <p:txEl>
                                              <p:pRg st="0" end="0"/>
                                            </p:txEl>
                                          </p:spTgt>
                                        </p:tgtEl>
                                        <p:attrNameLst>
                                          <p:attrName>style.visibility</p:attrName>
                                        </p:attrNameLst>
                                      </p:cBhvr>
                                      <p:to>
                                        <p:strVal val="visible"/>
                                      </p:to>
                                    </p:set>
                                    <p:anim calcmode="lin" valueType="num">
                                      <p:cBhvr additive="base">
                                        <p:cTn id="7" dur="500" fill="hold"/>
                                        <p:tgtEl>
                                          <p:spTgt spid="229378">
                                            <p:txEl>
                                              <p:pRg st="0" end="0"/>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229378">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229378">
                                            <p:txEl>
                                              <p:pRg st="1" end="1"/>
                                            </p:txEl>
                                          </p:spTgt>
                                        </p:tgtEl>
                                        <p:attrNameLst>
                                          <p:attrName>style.visibility</p:attrName>
                                        </p:attrNameLst>
                                      </p:cBhvr>
                                      <p:to>
                                        <p:strVal val="visible"/>
                                      </p:to>
                                    </p:set>
                                    <p:anim calcmode="lin" valueType="num">
                                      <p:cBhvr additive="base">
                                        <p:cTn id="13" dur="500" fill="hold"/>
                                        <p:tgtEl>
                                          <p:spTgt spid="229378">
                                            <p:txEl>
                                              <p:pRg st="1" end="1"/>
                                            </p:txEl>
                                          </p:spTgt>
                                        </p:tgtEl>
                                        <p:attrNameLst>
                                          <p:attrName>ppt_x</p:attrName>
                                        </p:attrNameLst>
                                      </p:cBhvr>
                                      <p:tavLst>
                                        <p:tav tm="0">
                                          <p:val>
                                            <p:strVal val="0-#ppt_w/2"/>
                                          </p:val>
                                        </p:tav>
                                        <p:tav tm="100000">
                                          <p:val>
                                            <p:strVal val="#ppt_x"/>
                                          </p:val>
                                        </p:tav>
                                      </p:tavLst>
                                    </p:anim>
                                    <p:anim calcmode="lin" valueType="num">
                                      <p:cBhvr additive="base">
                                        <p:cTn id="14" dur="500" fill="hold"/>
                                        <p:tgtEl>
                                          <p:spTgt spid="229378">
                                            <p:txEl>
                                              <p:pRg st="1" end="1"/>
                                            </p:txEl>
                                          </p:spTgt>
                                        </p:tgtEl>
                                        <p:attrNameLst>
                                          <p:attrName>ppt_y</p:attrName>
                                        </p:attrNameLst>
                                      </p:cBhvr>
                                      <p:tavLst>
                                        <p:tav tm="0">
                                          <p:val>
                                            <p:strVal val="#ppt_y"/>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8" fill="hold" grpId="0" nodeType="clickEffect">
                                  <p:stCondLst>
                                    <p:cond delay="0"/>
                                  </p:stCondLst>
                                  <p:childTnLst>
                                    <p:set>
                                      <p:cBhvr>
                                        <p:cTn id="18" dur="1" fill="hold">
                                          <p:stCondLst>
                                            <p:cond delay="0"/>
                                          </p:stCondLst>
                                        </p:cTn>
                                        <p:tgtEl>
                                          <p:spTgt spid="229378">
                                            <p:txEl>
                                              <p:pRg st="2" end="2"/>
                                            </p:txEl>
                                          </p:spTgt>
                                        </p:tgtEl>
                                        <p:attrNameLst>
                                          <p:attrName>style.visibility</p:attrName>
                                        </p:attrNameLst>
                                      </p:cBhvr>
                                      <p:to>
                                        <p:strVal val="visible"/>
                                      </p:to>
                                    </p:set>
                                    <p:anim calcmode="lin" valueType="num">
                                      <p:cBhvr additive="base">
                                        <p:cTn id="19" dur="500" fill="hold"/>
                                        <p:tgtEl>
                                          <p:spTgt spid="229378">
                                            <p:txEl>
                                              <p:pRg st="2" end="2"/>
                                            </p:txEl>
                                          </p:spTgt>
                                        </p:tgtEl>
                                        <p:attrNameLst>
                                          <p:attrName>ppt_x</p:attrName>
                                        </p:attrNameLst>
                                      </p:cBhvr>
                                      <p:tavLst>
                                        <p:tav tm="0">
                                          <p:val>
                                            <p:strVal val="0-#ppt_w/2"/>
                                          </p:val>
                                        </p:tav>
                                        <p:tav tm="100000">
                                          <p:val>
                                            <p:strVal val="#ppt_x"/>
                                          </p:val>
                                        </p:tav>
                                      </p:tavLst>
                                    </p:anim>
                                    <p:anim calcmode="lin" valueType="num">
                                      <p:cBhvr additive="base">
                                        <p:cTn id="20" dur="500" fill="hold"/>
                                        <p:tgtEl>
                                          <p:spTgt spid="229378">
                                            <p:txEl>
                                              <p:pRg st="2" end="2"/>
                                            </p:txEl>
                                          </p:spTgt>
                                        </p:tgtEl>
                                        <p:attrNameLst>
                                          <p:attrName>ppt_y</p:attrName>
                                        </p:attrNameLst>
                                      </p:cBhvr>
                                      <p:tavLst>
                                        <p:tav tm="0">
                                          <p:val>
                                            <p:strVal val="#ppt_y"/>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8" fill="hold" grpId="0" nodeType="clickEffect">
                                  <p:stCondLst>
                                    <p:cond delay="0"/>
                                  </p:stCondLst>
                                  <p:childTnLst>
                                    <p:set>
                                      <p:cBhvr>
                                        <p:cTn id="24" dur="1" fill="hold">
                                          <p:stCondLst>
                                            <p:cond delay="0"/>
                                          </p:stCondLst>
                                        </p:cTn>
                                        <p:tgtEl>
                                          <p:spTgt spid="229378">
                                            <p:txEl>
                                              <p:pRg st="3" end="3"/>
                                            </p:txEl>
                                          </p:spTgt>
                                        </p:tgtEl>
                                        <p:attrNameLst>
                                          <p:attrName>style.visibility</p:attrName>
                                        </p:attrNameLst>
                                      </p:cBhvr>
                                      <p:to>
                                        <p:strVal val="visible"/>
                                      </p:to>
                                    </p:set>
                                    <p:anim calcmode="lin" valueType="num">
                                      <p:cBhvr additive="base">
                                        <p:cTn id="25" dur="500" fill="hold"/>
                                        <p:tgtEl>
                                          <p:spTgt spid="229378">
                                            <p:txEl>
                                              <p:pRg st="3" end="3"/>
                                            </p:txEl>
                                          </p:spTgt>
                                        </p:tgtEl>
                                        <p:attrNameLst>
                                          <p:attrName>ppt_x</p:attrName>
                                        </p:attrNameLst>
                                      </p:cBhvr>
                                      <p:tavLst>
                                        <p:tav tm="0">
                                          <p:val>
                                            <p:strVal val="0-#ppt_w/2"/>
                                          </p:val>
                                        </p:tav>
                                        <p:tav tm="100000">
                                          <p:val>
                                            <p:strVal val="#ppt_x"/>
                                          </p:val>
                                        </p:tav>
                                      </p:tavLst>
                                    </p:anim>
                                    <p:anim calcmode="lin" valueType="num">
                                      <p:cBhvr additive="base">
                                        <p:cTn id="26" dur="500" fill="hold"/>
                                        <p:tgtEl>
                                          <p:spTgt spid="229378">
                                            <p:txEl>
                                              <p:pRg st="3" end="3"/>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9378" grpId="0" build="p" bldLvl="3" autoUpdateAnimBg="0"/>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Line 2"/>
          <p:cNvSpPr>
            <a:spLocks noChangeShapeType="1"/>
          </p:cNvSpPr>
          <p:nvPr/>
        </p:nvSpPr>
        <p:spPr bwMode="auto">
          <a:xfrm>
            <a:off x="2362200" y="2286000"/>
            <a:ext cx="0" cy="3200400"/>
          </a:xfrm>
          <a:prstGeom prst="line">
            <a:avLst/>
          </a:prstGeom>
          <a:noFill/>
          <a:ln w="28575">
            <a:solidFill>
              <a:schemeClr val="tx1"/>
            </a:solidFill>
            <a:round/>
            <a:headEnd type="none" w="sm" len="sm"/>
            <a:tailEnd type="none" w="sm" len="sm"/>
          </a:ln>
        </p:spPr>
        <p:txBody>
          <a:bodyPr wrap="none" anchor="ctr"/>
          <a:lstStyle/>
          <a:p>
            <a:endParaRPr lang="en-US"/>
          </a:p>
        </p:txBody>
      </p:sp>
      <p:sp>
        <p:nvSpPr>
          <p:cNvPr id="26627" name="Line 3"/>
          <p:cNvSpPr>
            <a:spLocks noChangeShapeType="1"/>
          </p:cNvSpPr>
          <p:nvPr/>
        </p:nvSpPr>
        <p:spPr bwMode="auto">
          <a:xfrm>
            <a:off x="2362200" y="5486400"/>
            <a:ext cx="4648200" cy="0"/>
          </a:xfrm>
          <a:prstGeom prst="line">
            <a:avLst/>
          </a:prstGeom>
          <a:noFill/>
          <a:ln w="28575">
            <a:solidFill>
              <a:schemeClr val="tx1"/>
            </a:solidFill>
            <a:round/>
            <a:headEnd type="none" w="sm" len="sm"/>
            <a:tailEnd type="none" w="sm" len="sm"/>
          </a:ln>
        </p:spPr>
        <p:txBody>
          <a:bodyPr wrap="none" anchor="ctr"/>
          <a:lstStyle/>
          <a:p>
            <a:endParaRPr lang="en-US"/>
          </a:p>
        </p:txBody>
      </p:sp>
      <p:sp>
        <p:nvSpPr>
          <p:cNvPr id="26628" name="Text Box 4"/>
          <p:cNvSpPr txBox="1">
            <a:spLocks noChangeArrowheads="1"/>
          </p:cNvSpPr>
          <p:nvPr/>
        </p:nvSpPr>
        <p:spPr bwMode="auto">
          <a:xfrm>
            <a:off x="1431925" y="4003675"/>
            <a:ext cx="506413" cy="457200"/>
          </a:xfrm>
          <a:prstGeom prst="rect">
            <a:avLst/>
          </a:prstGeom>
          <a:noFill/>
          <a:ln w="12700">
            <a:noFill/>
            <a:miter lim="800000"/>
            <a:headEnd type="none" w="sm" len="sm"/>
            <a:tailEnd type="none" w="sm" len="sm"/>
          </a:ln>
        </p:spPr>
        <p:txBody>
          <a:bodyPr wrap="none">
            <a:spAutoFit/>
          </a:bodyPr>
          <a:lstStyle/>
          <a:p>
            <a:r>
              <a:rPr lang="en-US" b="1"/>
              <a:t>N</a:t>
            </a:r>
            <a:r>
              <a:rPr lang="en-US" b="1" u="sng" baseline="30000"/>
              <a:t>o</a:t>
            </a:r>
            <a:endParaRPr lang="en-US" b="1"/>
          </a:p>
        </p:txBody>
      </p:sp>
      <p:sp>
        <p:nvSpPr>
          <p:cNvPr id="26629" name="Text Box 5"/>
          <p:cNvSpPr txBox="1">
            <a:spLocks noChangeArrowheads="1"/>
          </p:cNvSpPr>
          <p:nvPr/>
        </p:nvSpPr>
        <p:spPr bwMode="auto">
          <a:xfrm>
            <a:off x="3717925" y="5527675"/>
            <a:ext cx="758825" cy="457200"/>
          </a:xfrm>
          <a:prstGeom prst="rect">
            <a:avLst/>
          </a:prstGeom>
          <a:noFill/>
          <a:ln w="12700">
            <a:noFill/>
            <a:miter lim="800000"/>
            <a:headEnd type="none" w="sm" len="sm"/>
            <a:tailEnd type="none" w="sm" len="sm"/>
          </a:ln>
        </p:spPr>
        <p:txBody>
          <a:bodyPr wrap="none">
            <a:spAutoFit/>
          </a:bodyPr>
          <a:lstStyle/>
          <a:p>
            <a:r>
              <a:rPr lang="en-US" b="1"/>
              <a:t>time</a:t>
            </a:r>
          </a:p>
        </p:txBody>
      </p:sp>
      <p:sp>
        <p:nvSpPr>
          <p:cNvPr id="26630" name="Arc 6"/>
          <p:cNvSpPr>
            <a:spLocks/>
          </p:cNvSpPr>
          <p:nvPr/>
        </p:nvSpPr>
        <p:spPr bwMode="auto">
          <a:xfrm rot="10800000">
            <a:off x="2667000" y="2438400"/>
            <a:ext cx="4114800" cy="2819400"/>
          </a:xfrm>
          <a:custGeom>
            <a:avLst/>
            <a:gdLst>
              <a:gd name="T0" fmla="*/ 0 w 21600"/>
              <a:gd name="T1" fmla="*/ 0 h 21600"/>
              <a:gd name="T2" fmla="*/ 2147483647 w 21600"/>
              <a:gd name="T3" fmla="*/ 2147483647 h 21600"/>
              <a:gd name="T4" fmla="*/ 0 w 21600"/>
              <a:gd name="T5" fmla="*/ 2147483647 h 21600"/>
              <a:gd name="T6" fmla="*/ 0 60000 65536"/>
              <a:gd name="T7" fmla="*/ 0 60000 65536"/>
              <a:gd name="T8" fmla="*/ 0 60000 65536"/>
              <a:gd name="T9" fmla="*/ 0 w 21600"/>
              <a:gd name="T10" fmla="*/ 0 h 21600"/>
              <a:gd name="T11" fmla="*/ 21600 w 21600"/>
              <a:gd name="T12" fmla="*/ 21600 h 21600"/>
            </a:gdLst>
            <a:ahLst/>
            <a:cxnLst>
              <a:cxn ang="T6">
                <a:pos x="T0" y="T1"/>
              </a:cxn>
              <a:cxn ang="T7">
                <a:pos x="T2" y="T3"/>
              </a:cxn>
              <a:cxn ang="T8">
                <a:pos x="T4" y="T5"/>
              </a:cxn>
            </a:cxnLst>
            <a:rect l="T9" t="T10" r="T11" b="T12"/>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noFill/>
          <a:ln w="28575">
            <a:solidFill>
              <a:schemeClr val="tx1"/>
            </a:solidFill>
            <a:round/>
            <a:headEnd type="none" w="sm" len="sm"/>
            <a:tailEnd type="none" w="sm" len="sm"/>
          </a:ln>
        </p:spPr>
        <p:txBody>
          <a:bodyPr wrap="none" anchor="ctr"/>
          <a:lstStyle/>
          <a:p>
            <a:endParaRPr lang="en-US"/>
          </a:p>
        </p:txBody>
      </p:sp>
      <p:sp>
        <p:nvSpPr>
          <p:cNvPr id="26631" name="Text Box 7"/>
          <p:cNvSpPr txBox="1">
            <a:spLocks noChangeArrowheads="1"/>
          </p:cNvSpPr>
          <p:nvPr/>
        </p:nvSpPr>
        <p:spPr bwMode="auto">
          <a:xfrm>
            <a:off x="2270125" y="676275"/>
            <a:ext cx="2563813" cy="519113"/>
          </a:xfrm>
          <a:prstGeom prst="rect">
            <a:avLst/>
          </a:prstGeom>
          <a:noFill/>
          <a:ln w="12700">
            <a:noFill/>
            <a:miter lim="800000"/>
            <a:headEnd type="none" w="sm" len="sm"/>
            <a:tailEnd type="none" w="sm" len="sm"/>
          </a:ln>
        </p:spPr>
        <p:txBody>
          <a:bodyPr wrap="none">
            <a:spAutoFit/>
          </a:bodyPr>
          <a:lstStyle/>
          <a:p>
            <a:r>
              <a:rPr lang="en-US" sz="2800" b="1"/>
              <a:t>Survivor Curve</a:t>
            </a:r>
          </a:p>
        </p:txBody>
      </p:sp>
    </p:spTree>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Text Box 4"/>
          <p:cNvSpPr txBox="1">
            <a:spLocks noChangeArrowheads="1"/>
          </p:cNvSpPr>
          <p:nvPr/>
        </p:nvSpPr>
        <p:spPr bwMode="auto">
          <a:xfrm>
            <a:off x="1905000" y="2286000"/>
            <a:ext cx="7072313" cy="3503613"/>
          </a:xfrm>
          <a:prstGeom prst="rect">
            <a:avLst/>
          </a:prstGeom>
          <a:noFill/>
          <a:ln w="12700">
            <a:noFill/>
            <a:miter lim="800000"/>
            <a:headEnd type="none" w="sm" len="sm"/>
            <a:tailEnd type="none" w="sm" len="sm"/>
          </a:ln>
        </p:spPr>
        <p:txBody>
          <a:bodyPr wrap="none">
            <a:spAutoFit/>
          </a:bodyPr>
          <a:lstStyle/>
          <a:p>
            <a:r>
              <a:rPr lang="en-US" sz="3200">
                <a:latin typeface="Symbol" pitchFamily="18" charset="2"/>
              </a:rPr>
              <a:t>d</a:t>
            </a:r>
            <a:r>
              <a:rPr lang="en-US" sz="3200"/>
              <a:t>N/</a:t>
            </a:r>
            <a:r>
              <a:rPr lang="en-US" sz="3200">
                <a:latin typeface="Symbol" pitchFamily="18" charset="2"/>
              </a:rPr>
              <a:t>d</a:t>
            </a:r>
            <a:r>
              <a:rPr lang="en-US" sz="3200"/>
              <a:t>t = -kN</a:t>
            </a:r>
          </a:p>
          <a:p>
            <a:endParaRPr lang="en-US" sz="3200"/>
          </a:p>
          <a:p>
            <a:r>
              <a:rPr lang="en-US" sz="3200"/>
              <a:t>where: N = number of viable   </a:t>
            </a:r>
          </a:p>
          <a:p>
            <a:r>
              <a:rPr lang="en-US" sz="3200"/>
              <a:t>                    organisms at time t</a:t>
            </a:r>
          </a:p>
          <a:p>
            <a:endParaRPr lang="en-US" sz="3200"/>
          </a:p>
          <a:p>
            <a:r>
              <a:rPr lang="en-US" sz="3200"/>
              <a:t>             k = thermal inactivation </a:t>
            </a:r>
          </a:p>
          <a:p>
            <a:r>
              <a:rPr lang="en-US" sz="3200"/>
              <a:t>                   constant, or specific death rate</a:t>
            </a:r>
            <a:endParaRPr lang="en-US" sz="3200">
              <a:latin typeface="Symbol" pitchFamily="18" charset="2"/>
            </a:endParaRPr>
          </a:p>
        </p:txBody>
      </p:sp>
    </p:spTree>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Title 1"/>
          <p:cNvSpPr>
            <a:spLocks noGrp="1"/>
          </p:cNvSpPr>
          <p:nvPr>
            <p:ph type="title"/>
          </p:nvPr>
        </p:nvSpPr>
        <p:spPr/>
        <p:txBody>
          <a:bodyPr/>
          <a:lstStyle/>
          <a:p>
            <a:endParaRPr lang="en-US" smtClean="0"/>
          </a:p>
        </p:txBody>
      </p:sp>
      <p:sp>
        <p:nvSpPr>
          <p:cNvPr id="28675" name="Content Placeholder 2"/>
          <p:cNvSpPr>
            <a:spLocks noGrp="1"/>
          </p:cNvSpPr>
          <p:nvPr>
            <p:ph idx="1"/>
          </p:nvPr>
        </p:nvSpPr>
        <p:spPr/>
        <p:txBody>
          <a:bodyPr/>
          <a:lstStyle/>
          <a:p>
            <a:pPr lvl="1" eaLnBrk="1" hangingPunct="1">
              <a:lnSpc>
                <a:spcPct val="110000"/>
              </a:lnSpc>
              <a:buFont typeface="Arial" charset="0"/>
              <a:buNone/>
            </a:pPr>
            <a:r>
              <a:rPr lang="en-US" b="1" smtClean="0"/>
              <a:t>Thermal Death Point (TDP)</a:t>
            </a:r>
            <a:r>
              <a:rPr lang="en-US" smtClean="0"/>
              <a:t>:  Lowest temperature at which all of the microbes in a liquid suspension will be killed in ten minutes.</a:t>
            </a:r>
          </a:p>
          <a:p>
            <a:pPr lvl="1" eaLnBrk="1" hangingPunct="1">
              <a:lnSpc>
                <a:spcPct val="110000"/>
              </a:lnSpc>
              <a:buFont typeface="Arial" charset="0"/>
              <a:buNone/>
            </a:pPr>
            <a:r>
              <a:rPr lang="en-US" b="1" smtClean="0"/>
              <a:t>Thermal Death Time (TDT):</a:t>
            </a:r>
            <a:r>
              <a:rPr lang="en-US" smtClean="0"/>
              <a:t> Minimal length of time in which all bacteria will be killed at a given temperature.</a:t>
            </a:r>
          </a:p>
          <a:p>
            <a:pPr lvl="1" eaLnBrk="1" hangingPunct="1">
              <a:lnSpc>
                <a:spcPct val="110000"/>
              </a:lnSpc>
              <a:buFont typeface="Arial" charset="0"/>
              <a:buNone/>
            </a:pPr>
            <a:r>
              <a:rPr lang="en-US" smtClean="0"/>
              <a:t> </a:t>
            </a:r>
            <a:r>
              <a:rPr lang="en-US" b="1" smtClean="0"/>
              <a:t>Decimal Reduction Time (DRT):</a:t>
            </a:r>
            <a:r>
              <a:rPr lang="en-US" smtClean="0"/>
              <a:t> Time in minutes at which 90% of bacteria at a given temperature will be killed. Used in canning industry</a:t>
            </a:r>
            <a:endParaRPr lang="en-US" sz="3200" smtClean="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Title 1"/>
          <p:cNvSpPr>
            <a:spLocks noGrp="1"/>
          </p:cNvSpPr>
          <p:nvPr>
            <p:ph type="title"/>
          </p:nvPr>
        </p:nvSpPr>
        <p:spPr/>
        <p:txBody>
          <a:bodyPr/>
          <a:lstStyle/>
          <a:p>
            <a:endParaRPr lang="en-US" smtClean="0"/>
          </a:p>
        </p:txBody>
      </p:sp>
      <p:sp>
        <p:nvSpPr>
          <p:cNvPr id="29699" name="Content Placeholder 2"/>
          <p:cNvSpPr>
            <a:spLocks noGrp="1"/>
          </p:cNvSpPr>
          <p:nvPr>
            <p:ph idx="1"/>
          </p:nvPr>
        </p:nvSpPr>
        <p:spPr/>
        <p:txBody>
          <a:bodyPr/>
          <a:lstStyle/>
          <a:p>
            <a:r>
              <a:rPr lang="en-US" b="1" smtClean="0"/>
              <a:t>Boiling</a:t>
            </a:r>
            <a:r>
              <a:rPr lang="en-US" smtClean="0"/>
              <a:t>: 100</a:t>
            </a:r>
            <a:r>
              <a:rPr lang="en-US" baseline="30000" smtClean="0"/>
              <a:t>o</a:t>
            </a:r>
            <a:r>
              <a:rPr lang="en-US" smtClean="0"/>
              <a:t> for 30 minutes. Kills everything except some endospores. To kill endospores, and therefore </a:t>
            </a:r>
            <a:r>
              <a:rPr lang="en-US" b="1" smtClean="0"/>
              <a:t>sterilize</a:t>
            </a:r>
            <a:r>
              <a:rPr lang="en-US" smtClean="0"/>
              <a:t> a solution, very long (&gt;6 hours) boiling, or </a:t>
            </a:r>
            <a:r>
              <a:rPr lang="en-US" b="1" smtClean="0"/>
              <a:t>intermittent boiling</a:t>
            </a:r>
            <a:r>
              <a:rPr lang="en-US" smtClean="0"/>
              <a:t> is required</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35522" name="Rectangle 2"/>
          <p:cNvSpPr>
            <a:spLocks noGrp="1" noChangeArrowheads="1"/>
          </p:cNvSpPr>
          <p:nvPr>
            <p:ph idx="1"/>
          </p:nvPr>
        </p:nvSpPr>
        <p:spPr>
          <a:xfrm>
            <a:off x="838200" y="381000"/>
            <a:ext cx="7924800" cy="5715000"/>
          </a:xfrm>
        </p:spPr>
        <p:txBody>
          <a:bodyPr/>
          <a:lstStyle/>
          <a:p>
            <a:pPr eaLnBrk="1" hangingPunct="1">
              <a:lnSpc>
                <a:spcPct val="90000"/>
              </a:lnSpc>
              <a:buFont typeface="Monotype Sorts" pitchFamily="2" charset="2"/>
              <a:buNone/>
            </a:pPr>
            <a:r>
              <a:rPr lang="en-US" sz="3600" b="1" smtClean="0">
                <a:solidFill>
                  <a:schemeClr val="tx2"/>
                </a:solidFill>
              </a:rPr>
              <a:t>Physical Methods of Microbial Control:</a:t>
            </a:r>
          </a:p>
          <a:p>
            <a:pPr eaLnBrk="1" hangingPunct="1">
              <a:lnSpc>
                <a:spcPct val="90000"/>
              </a:lnSpc>
              <a:buFont typeface="Monotype Sorts" pitchFamily="2" charset="2"/>
              <a:buNone/>
            </a:pPr>
            <a:r>
              <a:rPr lang="en-US" sz="2800" b="1" smtClean="0"/>
              <a:t>	Moist Heat: </a:t>
            </a:r>
            <a:r>
              <a:rPr lang="en-US" sz="2800" smtClean="0"/>
              <a:t>Kills microorganisms by</a:t>
            </a:r>
            <a:r>
              <a:rPr lang="en-US" sz="2800" b="1" smtClean="0"/>
              <a:t> coagulating </a:t>
            </a:r>
            <a:r>
              <a:rPr lang="en-US" sz="2800" smtClean="0"/>
              <a:t>their proteins. </a:t>
            </a:r>
          </a:p>
          <a:p>
            <a:pPr eaLnBrk="1" hangingPunct="1">
              <a:lnSpc>
                <a:spcPct val="90000"/>
              </a:lnSpc>
              <a:buFont typeface="Monotype Sorts" pitchFamily="2" charset="2"/>
              <a:buNone/>
            </a:pPr>
            <a:r>
              <a:rPr lang="en-US" sz="2800" smtClean="0"/>
              <a:t>	In general, moist heat is much more effective than dry heat.</a:t>
            </a:r>
            <a:r>
              <a:rPr lang="en-US" sz="2800" b="1" smtClean="0"/>
              <a:t> </a:t>
            </a:r>
            <a:endParaRPr lang="en-US" sz="2800" smtClean="0"/>
          </a:p>
          <a:p>
            <a:pPr eaLnBrk="1" hangingPunct="1">
              <a:lnSpc>
                <a:spcPct val="110000"/>
              </a:lnSpc>
              <a:buFont typeface="Arial" charset="0"/>
              <a:buNone/>
            </a:pPr>
            <a:r>
              <a:rPr lang="en-US" sz="2400" b="1" smtClean="0"/>
              <a:t>Boiling:</a:t>
            </a:r>
            <a:r>
              <a:rPr lang="en-US" sz="2400" smtClean="0"/>
              <a:t> Heat to 100</a:t>
            </a:r>
            <a:r>
              <a:rPr lang="en-US" sz="2400" baseline="30000" smtClean="0"/>
              <a:t>o</a:t>
            </a:r>
            <a:r>
              <a:rPr lang="en-US" sz="2400" smtClean="0"/>
              <a:t>C or more at sea level. Kills vegetative forms of bacterial pathogens, almost all viruses, and fungi and their spores within 10 minutes or less.  Endospores and some viruses are not destroyed this quickly.  However brief boiling will kill most pathogens.</a:t>
            </a:r>
          </a:p>
          <a:p>
            <a:pPr lvl="1" eaLnBrk="1" hangingPunct="1">
              <a:lnSpc>
                <a:spcPct val="110000"/>
              </a:lnSpc>
              <a:buFont typeface="Arial" charset="0"/>
              <a:buNone/>
            </a:pPr>
            <a:r>
              <a:rPr lang="en-US" sz="2000" smtClean="0"/>
              <a:t> </a:t>
            </a:r>
            <a:r>
              <a:rPr lang="en-US" sz="2400" b="1" smtClean="0"/>
              <a:t>Hepatitis virus</a:t>
            </a:r>
            <a:r>
              <a:rPr lang="en-US" sz="2400" smtClean="0"/>
              <a:t>: Can survive up to 30 minutes of boiling.</a:t>
            </a:r>
          </a:p>
          <a:p>
            <a:pPr lvl="1" eaLnBrk="1" hangingPunct="1">
              <a:lnSpc>
                <a:spcPct val="110000"/>
              </a:lnSpc>
              <a:buFont typeface="Arial" charset="0"/>
              <a:buNone/>
            </a:pPr>
            <a:r>
              <a:rPr lang="en-US" sz="2000" smtClean="0"/>
              <a:t> </a:t>
            </a:r>
            <a:r>
              <a:rPr lang="en-US" sz="2400" b="1" smtClean="0"/>
              <a:t>Endospores</a:t>
            </a:r>
            <a:r>
              <a:rPr lang="en-US" sz="2400" smtClean="0"/>
              <a:t>: Can survive up to 20 hours or more of boiling.</a:t>
            </a:r>
            <a:endParaRPr lang="en-US" smtClean="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235522">
                                            <p:txEl>
                                              <p:pRg st="0" end="0"/>
                                            </p:txEl>
                                          </p:spTgt>
                                        </p:tgtEl>
                                        <p:attrNameLst>
                                          <p:attrName>style.visibility</p:attrName>
                                        </p:attrNameLst>
                                      </p:cBhvr>
                                      <p:to>
                                        <p:strVal val="visible"/>
                                      </p:to>
                                    </p:set>
                                    <p:anim calcmode="lin" valueType="num">
                                      <p:cBhvr additive="base">
                                        <p:cTn id="7" dur="500" fill="hold"/>
                                        <p:tgtEl>
                                          <p:spTgt spid="235522">
                                            <p:txEl>
                                              <p:pRg st="0" end="0"/>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235522">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235522">
                                            <p:txEl>
                                              <p:pRg st="1" end="1"/>
                                            </p:txEl>
                                          </p:spTgt>
                                        </p:tgtEl>
                                        <p:attrNameLst>
                                          <p:attrName>style.visibility</p:attrName>
                                        </p:attrNameLst>
                                      </p:cBhvr>
                                      <p:to>
                                        <p:strVal val="visible"/>
                                      </p:to>
                                    </p:set>
                                    <p:anim calcmode="lin" valueType="num">
                                      <p:cBhvr additive="base">
                                        <p:cTn id="13" dur="500" fill="hold"/>
                                        <p:tgtEl>
                                          <p:spTgt spid="235522">
                                            <p:txEl>
                                              <p:pRg st="1" end="1"/>
                                            </p:txEl>
                                          </p:spTgt>
                                        </p:tgtEl>
                                        <p:attrNameLst>
                                          <p:attrName>ppt_x</p:attrName>
                                        </p:attrNameLst>
                                      </p:cBhvr>
                                      <p:tavLst>
                                        <p:tav tm="0">
                                          <p:val>
                                            <p:strVal val="0-#ppt_w/2"/>
                                          </p:val>
                                        </p:tav>
                                        <p:tav tm="100000">
                                          <p:val>
                                            <p:strVal val="#ppt_x"/>
                                          </p:val>
                                        </p:tav>
                                      </p:tavLst>
                                    </p:anim>
                                    <p:anim calcmode="lin" valueType="num">
                                      <p:cBhvr additive="base">
                                        <p:cTn id="14" dur="500" fill="hold"/>
                                        <p:tgtEl>
                                          <p:spTgt spid="235522">
                                            <p:txEl>
                                              <p:pRg st="1" end="1"/>
                                            </p:txEl>
                                          </p:spTgt>
                                        </p:tgtEl>
                                        <p:attrNameLst>
                                          <p:attrName>ppt_y</p:attrName>
                                        </p:attrNameLst>
                                      </p:cBhvr>
                                      <p:tavLst>
                                        <p:tav tm="0">
                                          <p:val>
                                            <p:strVal val="#ppt_y"/>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8" fill="hold" grpId="0" nodeType="clickEffect">
                                  <p:stCondLst>
                                    <p:cond delay="0"/>
                                  </p:stCondLst>
                                  <p:childTnLst>
                                    <p:set>
                                      <p:cBhvr>
                                        <p:cTn id="18" dur="1" fill="hold">
                                          <p:stCondLst>
                                            <p:cond delay="0"/>
                                          </p:stCondLst>
                                        </p:cTn>
                                        <p:tgtEl>
                                          <p:spTgt spid="235522">
                                            <p:txEl>
                                              <p:pRg st="2" end="2"/>
                                            </p:txEl>
                                          </p:spTgt>
                                        </p:tgtEl>
                                        <p:attrNameLst>
                                          <p:attrName>style.visibility</p:attrName>
                                        </p:attrNameLst>
                                      </p:cBhvr>
                                      <p:to>
                                        <p:strVal val="visible"/>
                                      </p:to>
                                    </p:set>
                                    <p:anim calcmode="lin" valueType="num">
                                      <p:cBhvr additive="base">
                                        <p:cTn id="19" dur="500" fill="hold"/>
                                        <p:tgtEl>
                                          <p:spTgt spid="235522">
                                            <p:txEl>
                                              <p:pRg st="2" end="2"/>
                                            </p:txEl>
                                          </p:spTgt>
                                        </p:tgtEl>
                                        <p:attrNameLst>
                                          <p:attrName>ppt_x</p:attrName>
                                        </p:attrNameLst>
                                      </p:cBhvr>
                                      <p:tavLst>
                                        <p:tav tm="0">
                                          <p:val>
                                            <p:strVal val="0-#ppt_w/2"/>
                                          </p:val>
                                        </p:tav>
                                        <p:tav tm="100000">
                                          <p:val>
                                            <p:strVal val="#ppt_x"/>
                                          </p:val>
                                        </p:tav>
                                      </p:tavLst>
                                    </p:anim>
                                    <p:anim calcmode="lin" valueType="num">
                                      <p:cBhvr additive="base">
                                        <p:cTn id="20" dur="500" fill="hold"/>
                                        <p:tgtEl>
                                          <p:spTgt spid="235522">
                                            <p:txEl>
                                              <p:pRg st="2" end="2"/>
                                            </p:txEl>
                                          </p:spTgt>
                                        </p:tgtEl>
                                        <p:attrNameLst>
                                          <p:attrName>ppt_y</p:attrName>
                                        </p:attrNameLst>
                                      </p:cBhvr>
                                      <p:tavLst>
                                        <p:tav tm="0">
                                          <p:val>
                                            <p:strVal val="#ppt_y"/>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8" fill="hold" grpId="0" nodeType="clickEffect">
                                  <p:stCondLst>
                                    <p:cond delay="0"/>
                                  </p:stCondLst>
                                  <p:childTnLst>
                                    <p:set>
                                      <p:cBhvr>
                                        <p:cTn id="24" dur="1" fill="hold">
                                          <p:stCondLst>
                                            <p:cond delay="0"/>
                                          </p:stCondLst>
                                        </p:cTn>
                                        <p:tgtEl>
                                          <p:spTgt spid="235522">
                                            <p:txEl>
                                              <p:pRg st="3" end="3"/>
                                            </p:txEl>
                                          </p:spTgt>
                                        </p:tgtEl>
                                        <p:attrNameLst>
                                          <p:attrName>style.visibility</p:attrName>
                                        </p:attrNameLst>
                                      </p:cBhvr>
                                      <p:to>
                                        <p:strVal val="visible"/>
                                      </p:to>
                                    </p:set>
                                    <p:anim calcmode="lin" valueType="num">
                                      <p:cBhvr additive="base">
                                        <p:cTn id="25" dur="500" fill="hold"/>
                                        <p:tgtEl>
                                          <p:spTgt spid="235522">
                                            <p:txEl>
                                              <p:pRg st="3" end="3"/>
                                            </p:txEl>
                                          </p:spTgt>
                                        </p:tgtEl>
                                        <p:attrNameLst>
                                          <p:attrName>ppt_x</p:attrName>
                                        </p:attrNameLst>
                                      </p:cBhvr>
                                      <p:tavLst>
                                        <p:tav tm="0">
                                          <p:val>
                                            <p:strVal val="0-#ppt_w/2"/>
                                          </p:val>
                                        </p:tav>
                                        <p:tav tm="100000">
                                          <p:val>
                                            <p:strVal val="#ppt_x"/>
                                          </p:val>
                                        </p:tav>
                                      </p:tavLst>
                                    </p:anim>
                                    <p:anim calcmode="lin" valueType="num">
                                      <p:cBhvr additive="base">
                                        <p:cTn id="26" dur="500" fill="hold"/>
                                        <p:tgtEl>
                                          <p:spTgt spid="235522">
                                            <p:txEl>
                                              <p:pRg st="3" end="3"/>
                                            </p:txEl>
                                          </p:spTgt>
                                        </p:tgtEl>
                                        <p:attrNameLst>
                                          <p:attrName>ppt_y</p:attrName>
                                        </p:attrNameLst>
                                      </p:cBhvr>
                                      <p:tavLst>
                                        <p:tav tm="0">
                                          <p:val>
                                            <p:strVal val="#ppt_y"/>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8" fill="hold" grpId="0" nodeType="clickEffect">
                                  <p:stCondLst>
                                    <p:cond delay="0"/>
                                  </p:stCondLst>
                                  <p:childTnLst>
                                    <p:set>
                                      <p:cBhvr>
                                        <p:cTn id="30" dur="1" fill="hold">
                                          <p:stCondLst>
                                            <p:cond delay="0"/>
                                          </p:stCondLst>
                                        </p:cTn>
                                        <p:tgtEl>
                                          <p:spTgt spid="235522">
                                            <p:txEl>
                                              <p:pRg st="4" end="4"/>
                                            </p:txEl>
                                          </p:spTgt>
                                        </p:tgtEl>
                                        <p:attrNameLst>
                                          <p:attrName>style.visibility</p:attrName>
                                        </p:attrNameLst>
                                      </p:cBhvr>
                                      <p:to>
                                        <p:strVal val="visible"/>
                                      </p:to>
                                    </p:set>
                                    <p:anim calcmode="lin" valueType="num">
                                      <p:cBhvr additive="base">
                                        <p:cTn id="31" dur="500" fill="hold"/>
                                        <p:tgtEl>
                                          <p:spTgt spid="235522">
                                            <p:txEl>
                                              <p:pRg st="4" end="4"/>
                                            </p:txEl>
                                          </p:spTgt>
                                        </p:tgtEl>
                                        <p:attrNameLst>
                                          <p:attrName>ppt_x</p:attrName>
                                        </p:attrNameLst>
                                      </p:cBhvr>
                                      <p:tavLst>
                                        <p:tav tm="0">
                                          <p:val>
                                            <p:strVal val="0-#ppt_w/2"/>
                                          </p:val>
                                        </p:tav>
                                        <p:tav tm="100000">
                                          <p:val>
                                            <p:strVal val="#ppt_x"/>
                                          </p:val>
                                        </p:tav>
                                      </p:tavLst>
                                    </p:anim>
                                    <p:anim calcmode="lin" valueType="num">
                                      <p:cBhvr additive="base">
                                        <p:cTn id="32" dur="500" fill="hold"/>
                                        <p:tgtEl>
                                          <p:spTgt spid="235522">
                                            <p:txEl>
                                              <p:pRg st="4" end="4"/>
                                            </p:txEl>
                                          </p:spTgt>
                                        </p:tgtEl>
                                        <p:attrNameLst>
                                          <p:attrName>ppt_y</p:attrName>
                                        </p:attrNameLst>
                                      </p:cBhvr>
                                      <p:tavLst>
                                        <p:tav tm="0">
                                          <p:val>
                                            <p:strVal val="#ppt_y"/>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8" fill="hold" grpId="0" nodeType="clickEffect">
                                  <p:stCondLst>
                                    <p:cond delay="0"/>
                                  </p:stCondLst>
                                  <p:childTnLst>
                                    <p:set>
                                      <p:cBhvr>
                                        <p:cTn id="36" dur="1" fill="hold">
                                          <p:stCondLst>
                                            <p:cond delay="0"/>
                                          </p:stCondLst>
                                        </p:cTn>
                                        <p:tgtEl>
                                          <p:spTgt spid="235522">
                                            <p:txEl>
                                              <p:pRg st="5" end="5"/>
                                            </p:txEl>
                                          </p:spTgt>
                                        </p:tgtEl>
                                        <p:attrNameLst>
                                          <p:attrName>style.visibility</p:attrName>
                                        </p:attrNameLst>
                                      </p:cBhvr>
                                      <p:to>
                                        <p:strVal val="visible"/>
                                      </p:to>
                                    </p:set>
                                    <p:anim calcmode="lin" valueType="num">
                                      <p:cBhvr additive="base">
                                        <p:cTn id="37" dur="500" fill="hold"/>
                                        <p:tgtEl>
                                          <p:spTgt spid="235522">
                                            <p:txEl>
                                              <p:pRg st="5" end="5"/>
                                            </p:txEl>
                                          </p:spTgt>
                                        </p:tgtEl>
                                        <p:attrNameLst>
                                          <p:attrName>ppt_x</p:attrName>
                                        </p:attrNameLst>
                                      </p:cBhvr>
                                      <p:tavLst>
                                        <p:tav tm="0">
                                          <p:val>
                                            <p:strVal val="0-#ppt_w/2"/>
                                          </p:val>
                                        </p:tav>
                                        <p:tav tm="100000">
                                          <p:val>
                                            <p:strVal val="#ppt_x"/>
                                          </p:val>
                                        </p:tav>
                                      </p:tavLst>
                                    </p:anim>
                                    <p:anim calcmode="lin" valueType="num">
                                      <p:cBhvr additive="base">
                                        <p:cTn id="38" dur="500" fill="hold"/>
                                        <p:tgtEl>
                                          <p:spTgt spid="235522">
                                            <p:txEl>
                                              <p:pRg st="5" end="5"/>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5522" grpId="0" build="p" bldLvl="3" autoUpdateAnimBg="0"/>
    </p:bldLst>
  </p:timing>
</p:sld>
</file>

<file path=ppt/slides/slide22.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36546" name="Rectangle 2"/>
          <p:cNvSpPr>
            <a:spLocks noGrp="1" noChangeArrowheads="1"/>
          </p:cNvSpPr>
          <p:nvPr>
            <p:ph idx="1"/>
          </p:nvPr>
        </p:nvSpPr>
        <p:spPr>
          <a:xfrm>
            <a:off x="685800" y="304800"/>
            <a:ext cx="8229600" cy="5715000"/>
          </a:xfrm>
        </p:spPr>
        <p:txBody>
          <a:bodyPr/>
          <a:lstStyle/>
          <a:p>
            <a:pPr eaLnBrk="1" hangingPunct="1">
              <a:lnSpc>
                <a:spcPct val="90000"/>
              </a:lnSpc>
              <a:buFont typeface="Monotype Sorts" pitchFamily="2" charset="2"/>
              <a:buNone/>
            </a:pPr>
            <a:r>
              <a:rPr lang="en-US" sz="3600" b="1" smtClean="0">
                <a:solidFill>
                  <a:schemeClr val="tx2"/>
                </a:solidFill>
              </a:rPr>
              <a:t>Physical Methods of Microbial </a:t>
            </a:r>
          </a:p>
          <a:p>
            <a:pPr eaLnBrk="1" hangingPunct="1">
              <a:lnSpc>
                <a:spcPct val="90000"/>
              </a:lnSpc>
              <a:buFont typeface="Monotype Sorts" pitchFamily="2" charset="2"/>
              <a:buNone/>
            </a:pPr>
            <a:r>
              <a:rPr lang="en-US" sz="3600" b="1" smtClean="0">
                <a:solidFill>
                  <a:schemeClr val="tx2"/>
                </a:solidFill>
              </a:rPr>
              <a:t>Control:</a:t>
            </a:r>
          </a:p>
          <a:p>
            <a:pPr eaLnBrk="1" hangingPunct="1">
              <a:lnSpc>
                <a:spcPct val="90000"/>
              </a:lnSpc>
              <a:buFont typeface="Monotype Sorts" pitchFamily="2" charset="2"/>
              <a:buNone/>
            </a:pPr>
            <a:r>
              <a:rPr lang="en-US" sz="2800" b="1" smtClean="0"/>
              <a:t>	</a:t>
            </a:r>
            <a:r>
              <a:rPr lang="en-US" sz="3600" b="1" smtClean="0"/>
              <a:t>Moist Heat (Continued): </a:t>
            </a:r>
          </a:p>
          <a:p>
            <a:pPr eaLnBrk="1" hangingPunct="1">
              <a:lnSpc>
                <a:spcPct val="90000"/>
              </a:lnSpc>
              <a:buFont typeface="Monotype Sorts" pitchFamily="2" charset="2"/>
              <a:buNone/>
            </a:pPr>
            <a:r>
              <a:rPr lang="en-US" sz="3600" smtClean="0"/>
              <a:t>	Reliable sterilization with moist heat requires temperatures above that of boiling water.</a:t>
            </a:r>
          </a:p>
          <a:p>
            <a:pPr eaLnBrk="1" hangingPunct="1">
              <a:lnSpc>
                <a:spcPct val="110000"/>
              </a:lnSpc>
              <a:buFont typeface="Arial" charset="0"/>
              <a:buNone/>
            </a:pPr>
            <a:r>
              <a:rPr lang="en-US" b="1" smtClean="0"/>
              <a:t>Autoclave:</a:t>
            </a:r>
            <a:r>
              <a:rPr lang="en-US" smtClean="0"/>
              <a:t> Chamber which is filled with hot steam under pressure.  Preferred method of sterilization, unless material is damaged by heat, moisture, or high pressure</a:t>
            </a:r>
            <a:r>
              <a:rPr lang="en-US" sz="2400" smtClean="0"/>
              <a:t>.</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236546">
                                            <p:txEl>
                                              <p:pRg st="0" end="0"/>
                                            </p:txEl>
                                          </p:spTgt>
                                        </p:tgtEl>
                                        <p:attrNameLst>
                                          <p:attrName>style.visibility</p:attrName>
                                        </p:attrNameLst>
                                      </p:cBhvr>
                                      <p:to>
                                        <p:strVal val="visible"/>
                                      </p:to>
                                    </p:set>
                                    <p:anim calcmode="lin" valueType="num">
                                      <p:cBhvr additive="base">
                                        <p:cTn id="7" dur="500" fill="hold"/>
                                        <p:tgtEl>
                                          <p:spTgt spid="236546">
                                            <p:txEl>
                                              <p:pRg st="0" end="0"/>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236546">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236546">
                                            <p:txEl>
                                              <p:pRg st="1" end="1"/>
                                            </p:txEl>
                                          </p:spTgt>
                                        </p:tgtEl>
                                        <p:attrNameLst>
                                          <p:attrName>style.visibility</p:attrName>
                                        </p:attrNameLst>
                                      </p:cBhvr>
                                      <p:to>
                                        <p:strVal val="visible"/>
                                      </p:to>
                                    </p:set>
                                    <p:anim calcmode="lin" valueType="num">
                                      <p:cBhvr additive="base">
                                        <p:cTn id="13" dur="500" fill="hold"/>
                                        <p:tgtEl>
                                          <p:spTgt spid="236546">
                                            <p:txEl>
                                              <p:pRg st="1" end="1"/>
                                            </p:txEl>
                                          </p:spTgt>
                                        </p:tgtEl>
                                        <p:attrNameLst>
                                          <p:attrName>ppt_x</p:attrName>
                                        </p:attrNameLst>
                                      </p:cBhvr>
                                      <p:tavLst>
                                        <p:tav tm="0">
                                          <p:val>
                                            <p:strVal val="0-#ppt_w/2"/>
                                          </p:val>
                                        </p:tav>
                                        <p:tav tm="100000">
                                          <p:val>
                                            <p:strVal val="#ppt_x"/>
                                          </p:val>
                                        </p:tav>
                                      </p:tavLst>
                                    </p:anim>
                                    <p:anim calcmode="lin" valueType="num">
                                      <p:cBhvr additive="base">
                                        <p:cTn id="14" dur="500" fill="hold"/>
                                        <p:tgtEl>
                                          <p:spTgt spid="236546">
                                            <p:txEl>
                                              <p:pRg st="1" end="1"/>
                                            </p:txEl>
                                          </p:spTgt>
                                        </p:tgtEl>
                                        <p:attrNameLst>
                                          <p:attrName>ppt_y</p:attrName>
                                        </p:attrNameLst>
                                      </p:cBhvr>
                                      <p:tavLst>
                                        <p:tav tm="0">
                                          <p:val>
                                            <p:strVal val="#ppt_y"/>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8" fill="hold" grpId="0" nodeType="clickEffect">
                                  <p:stCondLst>
                                    <p:cond delay="0"/>
                                  </p:stCondLst>
                                  <p:childTnLst>
                                    <p:set>
                                      <p:cBhvr>
                                        <p:cTn id="18" dur="1" fill="hold">
                                          <p:stCondLst>
                                            <p:cond delay="0"/>
                                          </p:stCondLst>
                                        </p:cTn>
                                        <p:tgtEl>
                                          <p:spTgt spid="236546">
                                            <p:txEl>
                                              <p:pRg st="2" end="2"/>
                                            </p:txEl>
                                          </p:spTgt>
                                        </p:tgtEl>
                                        <p:attrNameLst>
                                          <p:attrName>style.visibility</p:attrName>
                                        </p:attrNameLst>
                                      </p:cBhvr>
                                      <p:to>
                                        <p:strVal val="visible"/>
                                      </p:to>
                                    </p:set>
                                    <p:anim calcmode="lin" valueType="num">
                                      <p:cBhvr additive="base">
                                        <p:cTn id="19" dur="500" fill="hold"/>
                                        <p:tgtEl>
                                          <p:spTgt spid="236546">
                                            <p:txEl>
                                              <p:pRg st="2" end="2"/>
                                            </p:txEl>
                                          </p:spTgt>
                                        </p:tgtEl>
                                        <p:attrNameLst>
                                          <p:attrName>ppt_x</p:attrName>
                                        </p:attrNameLst>
                                      </p:cBhvr>
                                      <p:tavLst>
                                        <p:tav tm="0">
                                          <p:val>
                                            <p:strVal val="0-#ppt_w/2"/>
                                          </p:val>
                                        </p:tav>
                                        <p:tav tm="100000">
                                          <p:val>
                                            <p:strVal val="#ppt_x"/>
                                          </p:val>
                                        </p:tav>
                                      </p:tavLst>
                                    </p:anim>
                                    <p:anim calcmode="lin" valueType="num">
                                      <p:cBhvr additive="base">
                                        <p:cTn id="20" dur="500" fill="hold"/>
                                        <p:tgtEl>
                                          <p:spTgt spid="236546">
                                            <p:txEl>
                                              <p:pRg st="2" end="2"/>
                                            </p:txEl>
                                          </p:spTgt>
                                        </p:tgtEl>
                                        <p:attrNameLst>
                                          <p:attrName>ppt_y</p:attrName>
                                        </p:attrNameLst>
                                      </p:cBhvr>
                                      <p:tavLst>
                                        <p:tav tm="0">
                                          <p:val>
                                            <p:strVal val="#ppt_y"/>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8" fill="hold" grpId="0" nodeType="clickEffect">
                                  <p:stCondLst>
                                    <p:cond delay="0"/>
                                  </p:stCondLst>
                                  <p:childTnLst>
                                    <p:set>
                                      <p:cBhvr>
                                        <p:cTn id="24" dur="1" fill="hold">
                                          <p:stCondLst>
                                            <p:cond delay="0"/>
                                          </p:stCondLst>
                                        </p:cTn>
                                        <p:tgtEl>
                                          <p:spTgt spid="236546">
                                            <p:txEl>
                                              <p:pRg st="3" end="3"/>
                                            </p:txEl>
                                          </p:spTgt>
                                        </p:tgtEl>
                                        <p:attrNameLst>
                                          <p:attrName>style.visibility</p:attrName>
                                        </p:attrNameLst>
                                      </p:cBhvr>
                                      <p:to>
                                        <p:strVal val="visible"/>
                                      </p:to>
                                    </p:set>
                                    <p:anim calcmode="lin" valueType="num">
                                      <p:cBhvr additive="base">
                                        <p:cTn id="25" dur="500" fill="hold"/>
                                        <p:tgtEl>
                                          <p:spTgt spid="236546">
                                            <p:txEl>
                                              <p:pRg st="3" end="3"/>
                                            </p:txEl>
                                          </p:spTgt>
                                        </p:tgtEl>
                                        <p:attrNameLst>
                                          <p:attrName>ppt_x</p:attrName>
                                        </p:attrNameLst>
                                      </p:cBhvr>
                                      <p:tavLst>
                                        <p:tav tm="0">
                                          <p:val>
                                            <p:strVal val="0-#ppt_w/2"/>
                                          </p:val>
                                        </p:tav>
                                        <p:tav tm="100000">
                                          <p:val>
                                            <p:strVal val="#ppt_x"/>
                                          </p:val>
                                        </p:tav>
                                      </p:tavLst>
                                    </p:anim>
                                    <p:anim calcmode="lin" valueType="num">
                                      <p:cBhvr additive="base">
                                        <p:cTn id="26" dur="500" fill="hold"/>
                                        <p:tgtEl>
                                          <p:spTgt spid="236546">
                                            <p:txEl>
                                              <p:pRg st="3" end="3"/>
                                            </p:txEl>
                                          </p:spTgt>
                                        </p:tgtEl>
                                        <p:attrNameLst>
                                          <p:attrName>ppt_y</p:attrName>
                                        </p:attrNameLst>
                                      </p:cBhvr>
                                      <p:tavLst>
                                        <p:tav tm="0">
                                          <p:val>
                                            <p:strVal val="#ppt_y"/>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8" fill="hold" grpId="0" nodeType="clickEffect">
                                  <p:stCondLst>
                                    <p:cond delay="0"/>
                                  </p:stCondLst>
                                  <p:childTnLst>
                                    <p:set>
                                      <p:cBhvr>
                                        <p:cTn id="30" dur="1" fill="hold">
                                          <p:stCondLst>
                                            <p:cond delay="0"/>
                                          </p:stCondLst>
                                        </p:cTn>
                                        <p:tgtEl>
                                          <p:spTgt spid="236546">
                                            <p:txEl>
                                              <p:pRg st="4" end="4"/>
                                            </p:txEl>
                                          </p:spTgt>
                                        </p:tgtEl>
                                        <p:attrNameLst>
                                          <p:attrName>style.visibility</p:attrName>
                                        </p:attrNameLst>
                                      </p:cBhvr>
                                      <p:to>
                                        <p:strVal val="visible"/>
                                      </p:to>
                                    </p:set>
                                    <p:anim calcmode="lin" valueType="num">
                                      <p:cBhvr additive="base">
                                        <p:cTn id="31" dur="500" fill="hold"/>
                                        <p:tgtEl>
                                          <p:spTgt spid="236546">
                                            <p:txEl>
                                              <p:pRg st="4" end="4"/>
                                            </p:txEl>
                                          </p:spTgt>
                                        </p:tgtEl>
                                        <p:attrNameLst>
                                          <p:attrName>ppt_x</p:attrName>
                                        </p:attrNameLst>
                                      </p:cBhvr>
                                      <p:tavLst>
                                        <p:tav tm="0">
                                          <p:val>
                                            <p:strVal val="0-#ppt_w/2"/>
                                          </p:val>
                                        </p:tav>
                                        <p:tav tm="100000">
                                          <p:val>
                                            <p:strVal val="#ppt_x"/>
                                          </p:val>
                                        </p:tav>
                                      </p:tavLst>
                                    </p:anim>
                                    <p:anim calcmode="lin" valueType="num">
                                      <p:cBhvr additive="base">
                                        <p:cTn id="32" dur="500" fill="hold"/>
                                        <p:tgtEl>
                                          <p:spTgt spid="236546">
                                            <p:txEl>
                                              <p:pRg st="4" end="4"/>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6546" grpId="0" build="p" bldLvl="3" autoUpdateAnimBg="0"/>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Content Placeholder 2"/>
          <p:cNvSpPr>
            <a:spLocks noGrp="1"/>
          </p:cNvSpPr>
          <p:nvPr>
            <p:ph idx="4294967295"/>
          </p:nvPr>
        </p:nvSpPr>
        <p:spPr>
          <a:xfrm>
            <a:off x="0" y="381000"/>
            <a:ext cx="9144000" cy="5745163"/>
          </a:xfrm>
        </p:spPr>
        <p:txBody>
          <a:bodyPr/>
          <a:lstStyle/>
          <a:p>
            <a:pPr lvl="1" eaLnBrk="1" hangingPunct="1">
              <a:lnSpc>
                <a:spcPct val="110000"/>
              </a:lnSpc>
              <a:buFont typeface="Arial" charset="0"/>
              <a:buNone/>
            </a:pPr>
            <a:r>
              <a:rPr lang="en-US" sz="3200" smtClean="0"/>
              <a:t>Most effective when organisms contact steam directly or are contained in a small volume of liquid. </a:t>
            </a:r>
          </a:p>
          <a:p>
            <a:pPr lvl="2" eaLnBrk="1" hangingPunct="1">
              <a:lnSpc>
                <a:spcPct val="110000"/>
              </a:lnSpc>
              <a:buFont typeface="Arial" charset="0"/>
              <a:buNone/>
            </a:pPr>
            <a:r>
              <a:rPr lang="en-US" sz="2800" b="1" smtClean="0"/>
              <a:t>All organisms and endospores are killed within 15 minutes</a:t>
            </a:r>
            <a:r>
              <a:rPr lang="en-US" sz="2800" smtClean="0"/>
              <a:t>.</a:t>
            </a:r>
          </a:p>
          <a:p>
            <a:pPr lvl="1" eaLnBrk="1" hangingPunct="1">
              <a:lnSpc>
                <a:spcPct val="110000"/>
              </a:lnSpc>
              <a:buFont typeface="Arial" charset="0"/>
              <a:buNone/>
            </a:pPr>
            <a:r>
              <a:rPr lang="en-US" sz="3200" smtClean="0"/>
              <a:t> Require more time to reach center of solid or large volumes of liquid.</a:t>
            </a:r>
          </a:p>
          <a:p>
            <a:pPr lvl="1" eaLnBrk="1" hangingPunct="1">
              <a:lnSpc>
                <a:spcPct val="110000"/>
              </a:lnSpc>
              <a:buFont typeface="Arial" charset="0"/>
              <a:buNone/>
            </a:pPr>
            <a:r>
              <a:rPr lang="en-US" sz="3200" smtClean="0"/>
              <a:t> Temperature of steam reaches </a:t>
            </a:r>
            <a:r>
              <a:rPr lang="en-US" sz="3200" b="1" smtClean="0"/>
              <a:t>121</a:t>
            </a:r>
            <a:r>
              <a:rPr lang="en-US" sz="3200" b="1" baseline="30000" smtClean="0"/>
              <a:t>o</a:t>
            </a:r>
            <a:r>
              <a:rPr lang="en-US" sz="3200" b="1" smtClean="0"/>
              <a:t>C at 15 psi pressure</a:t>
            </a:r>
            <a:endParaRPr lang="en-US" sz="3200" smtClean="0"/>
          </a:p>
          <a:p>
            <a:endParaRPr lang="en-US" smtClean="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Title 2"/>
          <p:cNvSpPr>
            <a:spLocks noGrp="1"/>
          </p:cNvSpPr>
          <p:nvPr>
            <p:ph type="title"/>
          </p:nvPr>
        </p:nvSpPr>
        <p:spPr/>
        <p:txBody>
          <a:bodyPr/>
          <a:lstStyle/>
          <a:p>
            <a:endParaRPr lang="en-US" smtClean="0"/>
          </a:p>
        </p:txBody>
      </p:sp>
      <p:sp>
        <p:nvSpPr>
          <p:cNvPr id="33795" name="Content Placeholder 3"/>
          <p:cNvSpPr>
            <a:spLocks noGrp="1"/>
          </p:cNvSpPr>
          <p:nvPr>
            <p:ph idx="1"/>
          </p:nvPr>
        </p:nvSpPr>
        <p:spPr/>
        <p:txBody>
          <a:bodyPr/>
          <a:lstStyle/>
          <a:p>
            <a:pPr>
              <a:buFont typeface="Arial" charset="0"/>
              <a:buNone/>
            </a:pPr>
            <a:r>
              <a:rPr lang="en-US" smtClean="0"/>
              <a:t>All autoclaves operate on a time/temperature relationship. These two variables are extremely important. Higher temperatures ensure more rapid killing. </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Rectangle 2"/>
          <p:cNvSpPr>
            <a:spLocks noGrp="1" noChangeArrowheads="1"/>
          </p:cNvSpPr>
          <p:nvPr>
            <p:ph type="title"/>
          </p:nvPr>
        </p:nvSpPr>
        <p:spPr/>
        <p:txBody>
          <a:bodyPr rtlCol="0">
            <a:normAutofit fontScale="90000"/>
          </a:bodyPr>
          <a:lstStyle/>
          <a:p>
            <a:pPr eaLnBrk="1" fontAlgn="auto" hangingPunct="1">
              <a:spcAft>
                <a:spcPts val="0"/>
              </a:spcAft>
              <a:defRPr/>
            </a:pPr>
            <a:r>
              <a:rPr lang="en-US" sz="3600" b="1" smtClean="0"/>
              <a:t>Autoclave: Closed Chamber with High Temperature and Pressure</a:t>
            </a:r>
          </a:p>
        </p:txBody>
      </p:sp>
      <p:pic>
        <p:nvPicPr>
          <p:cNvPr id="34819" name="Picture 3" descr="E:\MEDIA\1043\7_2.BMP"/>
          <p:cNvPicPr>
            <a:picLocks noChangeAspect="1" noChangeArrowheads="1"/>
          </p:cNvPicPr>
          <p:nvPr/>
        </p:nvPicPr>
        <p:blipFill>
          <a:blip r:embed="rId2"/>
          <a:srcRect/>
          <a:stretch>
            <a:fillRect/>
          </a:stretch>
        </p:blipFill>
        <p:spPr bwMode="auto">
          <a:xfrm>
            <a:off x="1905000" y="1612900"/>
            <a:ext cx="5334000" cy="5245100"/>
          </a:xfrm>
          <a:prstGeom prst="rect">
            <a:avLst/>
          </a:prstGeom>
          <a:noFill/>
          <a:ln w="9525">
            <a:noFill/>
            <a:miter lim="800000"/>
            <a:headEnd/>
            <a:tailEnd/>
          </a:ln>
        </p:spPr>
      </p:pic>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Title 2"/>
          <p:cNvSpPr>
            <a:spLocks noGrp="1"/>
          </p:cNvSpPr>
          <p:nvPr>
            <p:ph type="title"/>
          </p:nvPr>
        </p:nvSpPr>
        <p:spPr/>
        <p:txBody>
          <a:bodyPr/>
          <a:lstStyle/>
          <a:p>
            <a:endParaRPr lang="en-US" smtClean="0"/>
          </a:p>
        </p:txBody>
      </p:sp>
      <p:sp>
        <p:nvSpPr>
          <p:cNvPr id="35843" name="Content Placeholder 3"/>
          <p:cNvSpPr>
            <a:spLocks noGrp="1"/>
          </p:cNvSpPr>
          <p:nvPr>
            <p:ph idx="1"/>
          </p:nvPr>
        </p:nvSpPr>
        <p:spPr/>
        <p:txBody>
          <a:bodyPr/>
          <a:lstStyle/>
          <a:p>
            <a:r>
              <a:rPr lang="en-US" smtClean="0"/>
              <a:t>The usual standard temperature/pressure employed is 121ºC/15 psi for 15 minutes. Longer times are needed for larger loads, large volumes of liquid, and more dense materials. </a:t>
            </a: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Title 1"/>
          <p:cNvSpPr>
            <a:spLocks noGrp="1"/>
          </p:cNvSpPr>
          <p:nvPr>
            <p:ph type="title"/>
          </p:nvPr>
        </p:nvSpPr>
        <p:spPr/>
        <p:txBody>
          <a:bodyPr/>
          <a:lstStyle/>
          <a:p>
            <a:endParaRPr lang="en-US" smtClean="0"/>
          </a:p>
        </p:txBody>
      </p:sp>
      <p:sp>
        <p:nvSpPr>
          <p:cNvPr id="36867" name="Content Placeholder 2"/>
          <p:cNvSpPr>
            <a:spLocks noGrp="1"/>
          </p:cNvSpPr>
          <p:nvPr>
            <p:ph idx="1"/>
          </p:nvPr>
        </p:nvSpPr>
        <p:spPr/>
        <p:txBody>
          <a:bodyPr/>
          <a:lstStyle/>
          <a:p>
            <a:pPr>
              <a:buFont typeface="Arial" charset="0"/>
              <a:buNone/>
            </a:pPr>
            <a:r>
              <a:rPr lang="en-US" sz="2800" smtClean="0"/>
              <a:t>Autoclaving is ideal for sterilizing biohazardous waste, surgical dressings, glassware, many types of microbiologic media, liquids, and many other things. </a:t>
            </a:r>
          </a:p>
          <a:p>
            <a:pPr>
              <a:buFont typeface="Arial" charset="0"/>
              <a:buNone/>
            </a:pPr>
            <a:endParaRPr lang="en-US" sz="2800" smtClean="0"/>
          </a:p>
          <a:p>
            <a:pPr>
              <a:buFont typeface="Arial" charset="0"/>
              <a:buNone/>
            </a:pPr>
            <a:r>
              <a:rPr lang="en-US" sz="2800" smtClean="0"/>
              <a:t>However, certain items, such as plastics and certain medical instruments (e.g. fiber-optic endoscopes), cannot withstand autoclaving and should be sterilized with chemical or gas sterilants. When proper conditions and time are employed, no living organisms will survive a trip through an autoclave.</a:t>
            </a: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37570" name="Rectangle 2"/>
          <p:cNvSpPr>
            <a:spLocks noGrp="1" noChangeArrowheads="1"/>
          </p:cNvSpPr>
          <p:nvPr>
            <p:ph idx="1"/>
          </p:nvPr>
        </p:nvSpPr>
        <p:spPr>
          <a:xfrm>
            <a:off x="685800" y="304800"/>
            <a:ext cx="8229600" cy="5715000"/>
          </a:xfrm>
        </p:spPr>
        <p:txBody>
          <a:bodyPr rtlCol="0">
            <a:normAutofit lnSpcReduction="10000"/>
          </a:bodyPr>
          <a:lstStyle/>
          <a:p>
            <a:pPr eaLnBrk="1" fontAlgn="auto" hangingPunct="1">
              <a:lnSpc>
                <a:spcPct val="90000"/>
              </a:lnSpc>
              <a:spcAft>
                <a:spcPts val="0"/>
              </a:spcAft>
              <a:buFont typeface="Monotype Sorts" pitchFamily="2" charset="2"/>
              <a:buNone/>
              <a:defRPr/>
            </a:pPr>
            <a:r>
              <a:rPr lang="en-US" sz="3600" b="1" dirty="0" smtClean="0">
                <a:solidFill>
                  <a:schemeClr val="tx2"/>
                </a:solidFill>
              </a:rPr>
              <a:t>Physical Methods of Microbial </a:t>
            </a:r>
          </a:p>
          <a:p>
            <a:pPr eaLnBrk="1" fontAlgn="auto" hangingPunct="1">
              <a:lnSpc>
                <a:spcPct val="90000"/>
              </a:lnSpc>
              <a:spcAft>
                <a:spcPts val="0"/>
              </a:spcAft>
              <a:buFont typeface="Monotype Sorts" pitchFamily="2" charset="2"/>
              <a:buNone/>
              <a:defRPr/>
            </a:pPr>
            <a:r>
              <a:rPr lang="en-US" sz="3600" b="1" dirty="0" smtClean="0">
                <a:solidFill>
                  <a:schemeClr val="tx2"/>
                </a:solidFill>
              </a:rPr>
              <a:t>Control:</a:t>
            </a:r>
          </a:p>
          <a:p>
            <a:pPr eaLnBrk="1" fontAlgn="auto" hangingPunct="1">
              <a:lnSpc>
                <a:spcPct val="90000"/>
              </a:lnSpc>
              <a:spcAft>
                <a:spcPts val="0"/>
              </a:spcAft>
              <a:buFont typeface="Monotype Sorts" pitchFamily="2" charset="2"/>
              <a:buNone/>
              <a:defRPr/>
            </a:pPr>
            <a:r>
              <a:rPr lang="en-US" sz="2800" b="1" dirty="0" smtClean="0"/>
              <a:t>	</a:t>
            </a:r>
            <a:r>
              <a:rPr lang="en-US" sz="4000" b="1" dirty="0" smtClean="0"/>
              <a:t>Moist Heat (Continued): </a:t>
            </a:r>
            <a:endParaRPr lang="en-US" sz="4000" dirty="0" smtClean="0"/>
          </a:p>
          <a:p>
            <a:pPr eaLnBrk="1" fontAlgn="auto" hangingPunct="1">
              <a:lnSpc>
                <a:spcPct val="110000"/>
              </a:lnSpc>
              <a:spcAft>
                <a:spcPts val="0"/>
              </a:spcAft>
              <a:buFont typeface="Arial" charset="0"/>
              <a:buNone/>
              <a:defRPr/>
            </a:pPr>
            <a:r>
              <a:rPr lang="en-US" sz="4000" b="1" dirty="0" smtClean="0"/>
              <a:t>Pasteurization:</a:t>
            </a:r>
            <a:r>
              <a:rPr lang="en-US" sz="4000" dirty="0" smtClean="0"/>
              <a:t> Developed by Louis Pasteur to prevent the spoilage of beverages.  Used to reduce microbes responsible for spoilage of beer, milk, wine, juices, etc.</a:t>
            </a:r>
          </a:p>
          <a:p>
            <a:pPr eaLnBrk="1" fontAlgn="auto" hangingPunct="1">
              <a:lnSpc>
                <a:spcPct val="110000"/>
              </a:lnSpc>
              <a:spcAft>
                <a:spcPts val="0"/>
              </a:spcAft>
              <a:buFont typeface="Arial" charset="0"/>
              <a:buNone/>
              <a:defRPr/>
            </a:pPr>
            <a:r>
              <a:rPr lang="en-US" sz="3600" b="1" dirty="0" smtClean="0"/>
              <a:t> </a:t>
            </a:r>
            <a:endParaRPr lang="en-US" dirty="0" smtClean="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237570">
                                            <p:txEl>
                                              <p:pRg st="0" end="0"/>
                                            </p:txEl>
                                          </p:spTgt>
                                        </p:tgtEl>
                                        <p:attrNameLst>
                                          <p:attrName>style.visibility</p:attrName>
                                        </p:attrNameLst>
                                      </p:cBhvr>
                                      <p:to>
                                        <p:strVal val="visible"/>
                                      </p:to>
                                    </p:set>
                                    <p:anim calcmode="lin" valueType="num">
                                      <p:cBhvr additive="base">
                                        <p:cTn id="7" dur="500" fill="hold"/>
                                        <p:tgtEl>
                                          <p:spTgt spid="237570">
                                            <p:txEl>
                                              <p:pRg st="0" end="0"/>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237570">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237570">
                                            <p:txEl>
                                              <p:pRg st="1" end="1"/>
                                            </p:txEl>
                                          </p:spTgt>
                                        </p:tgtEl>
                                        <p:attrNameLst>
                                          <p:attrName>style.visibility</p:attrName>
                                        </p:attrNameLst>
                                      </p:cBhvr>
                                      <p:to>
                                        <p:strVal val="visible"/>
                                      </p:to>
                                    </p:set>
                                    <p:anim calcmode="lin" valueType="num">
                                      <p:cBhvr additive="base">
                                        <p:cTn id="13" dur="500" fill="hold"/>
                                        <p:tgtEl>
                                          <p:spTgt spid="237570">
                                            <p:txEl>
                                              <p:pRg st="1" end="1"/>
                                            </p:txEl>
                                          </p:spTgt>
                                        </p:tgtEl>
                                        <p:attrNameLst>
                                          <p:attrName>ppt_x</p:attrName>
                                        </p:attrNameLst>
                                      </p:cBhvr>
                                      <p:tavLst>
                                        <p:tav tm="0">
                                          <p:val>
                                            <p:strVal val="0-#ppt_w/2"/>
                                          </p:val>
                                        </p:tav>
                                        <p:tav tm="100000">
                                          <p:val>
                                            <p:strVal val="#ppt_x"/>
                                          </p:val>
                                        </p:tav>
                                      </p:tavLst>
                                    </p:anim>
                                    <p:anim calcmode="lin" valueType="num">
                                      <p:cBhvr additive="base">
                                        <p:cTn id="14" dur="500" fill="hold"/>
                                        <p:tgtEl>
                                          <p:spTgt spid="237570">
                                            <p:txEl>
                                              <p:pRg st="1" end="1"/>
                                            </p:txEl>
                                          </p:spTgt>
                                        </p:tgtEl>
                                        <p:attrNameLst>
                                          <p:attrName>ppt_y</p:attrName>
                                        </p:attrNameLst>
                                      </p:cBhvr>
                                      <p:tavLst>
                                        <p:tav tm="0">
                                          <p:val>
                                            <p:strVal val="#ppt_y"/>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8" fill="hold" grpId="0" nodeType="clickEffect">
                                  <p:stCondLst>
                                    <p:cond delay="0"/>
                                  </p:stCondLst>
                                  <p:childTnLst>
                                    <p:set>
                                      <p:cBhvr>
                                        <p:cTn id="18" dur="1" fill="hold">
                                          <p:stCondLst>
                                            <p:cond delay="0"/>
                                          </p:stCondLst>
                                        </p:cTn>
                                        <p:tgtEl>
                                          <p:spTgt spid="237570">
                                            <p:txEl>
                                              <p:pRg st="2" end="2"/>
                                            </p:txEl>
                                          </p:spTgt>
                                        </p:tgtEl>
                                        <p:attrNameLst>
                                          <p:attrName>style.visibility</p:attrName>
                                        </p:attrNameLst>
                                      </p:cBhvr>
                                      <p:to>
                                        <p:strVal val="visible"/>
                                      </p:to>
                                    </p:set>
                                    <p:anim calcmode="lin" valueType="num">
                                      <p:cBhvr additive="base">
                                        <p:cTn id="19" dur="500" fill="hold"/>
                                        <p:tgtEl>
                                          <p:spTgt spid="237570">
                                            <p:txEl>
                                              <p:pRg st="2" end="2"/>
                                            </p:txEl>
                                          </p:spTgt>
                                        </p:tgtEl>
                                        <p:attrNameLst>
                                          <p:attrName>ppt_x</p:attrName>
                                        </p:attrNameLst>
                                      </p:cBhvr>
                                      <p:tavLst>
                                        <p:tav tm="0">
                                          <p:val>
                                            <p:strVal val="0-#ppt_w/2"/>
                                          </p:val>
                                        </p:tav>
                                        <p:tav tm="100000">
                                          <p:val>
                                            <p:strVal val="#ppt_x"/>
                                          </p:val>
                                        </p:tav>
                                      </p:tavLst>
                                    </p:anim>
                                    <p:anim calcmode="lin" valueType="num">
                                      <p:cBhvr additive="base">
                                        <p:cTn id="20" dur="500" fill="hold"/>
                                        <p:tgtEl>
                                          <p:spTgt spid="237570">
                                            <p:txEl>
                                              <p:pRg st="2" end="2"/>
                                            </p:txEl>
                                          </p:spTgt>
                                        </p:tgtEl>
                                        <p:attrNameLst>
                                          <p:attrName>ppt_y</p:attrName>
                                        </p:attrNameLst>
                                      </p:cBhvr>
                                      <p:tavLst>
                                        <p:tav tm="0">
                                          <p:val>
                                            <p:strVal val="#ppt_y"/>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8" fill="hold" grpId="0" nodeType="clickEffect">
                                  <p:stCondLst>
                                    <p:cond delay="0"/>
                                  </p:stCondLst>
                                  <p:childTnLst>
                                    <p:set>
                                      <p:cBhvr>
                                        <p:cTn id="24" dur="1" fill="hold">
                                          <p:stCondLst>
                                            <p:cond delay="0"/>
                                          </p:stCondLst>
                                        </p:cTn>
                                        <p:tgtEl>
                                          <p:spTgt spid="237570">
                                            <p:txEl>
                                              <p:pRg st="3" end="3"/>
                                            </p:txEl>
                                          </p:spTgt>
                                        </p:tgtEl>
                                        <p:attrNameLst>
                                          <p:attrName>style.visibility</p:attrName>
                                        </p:attrNameLst>
                                      </p:cBhvr>
                                      <p:to>
                                        <p:strVal val="visible"/>
                                      </p:to>
                                    </p:set>
                                    <p:anim calcmode="lin" valueType="num">
                                      <p:cBhvr additive="base">
                                        <p:cTn id="25" dur="500" fill="hold"/>
                                        <p:tgtEl>
                                          <p:spTgt spid="237570">
                                            <p:txEl>
                                              <p:pRg st="3" end="3"/>
                                            </p:txEl>
                                          </p:spTgt>
                                        </p:tgtEl>
                                        <p:attrNameLst>
                                          <p:attrName>ppt_x</p:attrName>
                                        </p:attrNameLst>
                                      </p:cBhvr>
                                      <p:tavLst>
                                        <p:tav tm="0">
                                          <p:val>
                                            <p:strVal val="0-#ppt_w/2"/>
                                          </p:val>
                                        </p:tav>
                                        <p:tav tm="100000">
                                          <p:val>
                                            <p:strVal val="#ppt_x"/>
                                          </p:val>
                                        </p:tav>
                                      </p:tavLst>
                                    </p:anim>
                                    <p:anim calcmode="lin" valueType="num">
                                      <p:cBhvr additive="base">
                                        <p:cTn id="26" dur="500" fill="hold"/>
                                        <p:tgtEl>
                                          <p:spTgt spid="237570">
                                            <p:txEl>
                                              <p:pRg st="3" end="3"/>
                                            </p:txEl>
                                          </p:spTgt>
                                        </p:tgtEl>
                                        <p:attrNameLst>
                                          <p:attrName>ppt_y</p:attrName>
                                        </p:attrNameLst>
                                      </p:cBhvr>
                                      <p:tavLst>
                                        <p:tav tm="0">
                                          <p:val>
                                            <p:strVal val="#ppt_y"/>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8" fill="hold" grpId="0" nodeType="clickEffect">
                                  <p:stCondLst>
                                    <p:cond delay="0"/>
                                  </p:stCondLst>
                                  <p:childTnLst>
                                    <p:set>
                                      <p:cBhvr>
                                        <p:cTn id="30" dur="1" fill="hold">
                                          <p:stCondLst>
                                            <p:cond delay="0"/>
                                          </p:stCondLst>
                                        </p:cTn>
                                        <p:tgtEl>
                                          <p:spTgt spid="237570">
                                            <p:txEl>
                                              <p:pRg st="4" end="4"/>
                                            </p:txEl>
                                          </p:spTgt>
                                        </p:tgtEl>
                                        <p:attrNameLst>
                                          <p:attrName>style.visibility</p:attrName>
                                        </p:attrNameLst>
                                      </p:cBhvr>
                                      <p:to>
                                        <p:strVal val="visible"/>
                                      </p:to>
                                    </p:set>
                                    <p:anim calcmode="lin" valueType="num">
                                      <p:cBhvr additive="base">
                                        <p:cTn id="31" dur="500" fill="hold"/>
                                        <p:tgtEl>
                                          <p:spTgt spid="237570">
                                            <p:txEl>
                                              <p:pRg st="4" end="4"/>
                                            </p:txEl>
                                          </p:spTgt>
                                        </p:tgtEl>
                                        <p:attrNameLst>
                                          <p:attrName>ppt_x</p:attrName>
                                        </p:attrNameLst>
                                      </p:cBhvr>
                                      <p:tavLst>
                                        <p:tav tm="0">
                                          <p:val>
                                            <p:strVal val="0-#ppt_w/2"/>
                                          </p:val>
                                        </p:tav>
                                        <p:tav tm="100000">
                                          <p:val>
                                            <p:strVal val="#ppt_x"/>
                                          </p:val>
                                        </p:tav>
                                      </p:tavLst>
                                    </p:anim>
                                    <p:anim calcmode="lin" valueType="num">
                                      <p:cBhvr additive="base">
                                        <p:cTn id="32" dur="500" fill="hold"/>
                                        <p:tgtEl>
                                          <p:spTgt spid="237570">
                                            <p:txEl>
                                              <p:pRg st="4" end="4"/>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7570" grpId="0" build="p" bldLvl="3" autoUpdateAnimBg="0"/>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Title 1"/>
          <p:cNvSpPr>
            <a:spLocks noGrp="1"/>
          </p:cNvSpPr>
          <p:nvPr>
            <p:ph type="title"/>
          </p:nvPr>
        </p:nvSpPr>
        <p:spPr/>
        <p:txBody>
          <a:bodyPr/>
          <a:lstStyle/>
          <a:p>
            <a:r>
              <a:rPr lang="en-US" b="1" smtClean="0"/>
              <a:t>Pasteurization:</a:t>
            </a:r>
            <a:endParaRPr lang="en-US" smtClean="0"/>
          </a:p>
        </p:txBody>
      </p:sp>
      <p:sp>
        <p:nvSpPr>
          <p:cNvPr id="38915" name="Content Placeholder 2"/>
          <p:cNvSpPr>
            <a:spLocks noGrp="1"/>
          </p:cNvSpPr>
          <p:nvPr>
            <p:ph idx="1"/>
          </p:nvPr>
        </p:nvSpPr>
        <p:spPr>
          <a:xfrm>
            <a:off x="381000" y="1295400"/>
            <a:ext cx="8305800" cy="5181600"/>
          </a:xfrm>
        </p:spPr>
        <p:txBody>
          <a:bodyPr/>
          <a:lstStyle/>
          <a:p>
            <a:pPr eaLnBrk="1" hangingPunct="1">
              <a:lnSpc>
                <a:spcPct val="110000"/>
              </a:lnSpc>
              <a:buFont typeface="Arial" charset="0"/>
              <a:buNone/>
            </a:pPr>
            <a:r>
              <a:rPr lang="en-US" b="1" smtClean="0"/>
              <a:t>Classic Method of Pasteurization</a:t>
            </a:r>
            <a:r>
              <a:rPr lang="en-US" smtClean="0"/>
              <a:t>: Milk was exposed to 65</a:t>
            </a:r>
            <a:r>
              <a:rPr lang="en-US" baseline="30000" smtClean="0"/>
              <a:t>o</a:t>
            </a:r>
            <a:r>
              <a:rPr lang="en-US" smtClean="0"/>
              <a:t>C for 30 minutes.</a:t>
            </a:r>
          </a:p>
          <a:p>
            <a:pPr lvl="1" eaLnBrk="1" hangingPunct="1">
              <a:lnSpc>
                <a:spcPct val="110000"/>
              </a:lnSpc>
              <a:buFont typeface="Arial" charset="0"/>
              <a:buNone/>
            </a:pPr>
            <a:r>
              <a:rPr lang="en-US" smtClean="0"/>
              <a:t> </a:t>
            </a:r>
            <a:r>
              <a:rPr lang="en-US" b="1" smtClean="0"/>
              <a:t>High Temperature Short Time Pasteurization (HTST):</a:t>
            </a:r>
            <a:r>
              <a:rPr lang="en-US" smtClean="0"/>
              <a:t> Used today.  Milk is exposed to 72</a:t>
            </a:r>
            <a:r>
              <a:rPr lang="en-US" baseline="30000" smtClean="0"/>
              <a:t>o</a:t>
            </a:r>
            <a:r>
              <a:rPr lang="en-US" smtClean="0"/>
              <a:t>C for 15 seconds.</a:t>
            </a:r>
          </a:p>
          <a:p>
            <a:pPr lvl="1" eaLnBrk="1" hangingPunct="1">
              <a:lnSpc>
                <a:spcPct val="110000"/>
              </a:lnSpc>
              <a:buFont typeface="Arial" charset="0"/>
              <a:buNone/>
            </a:pPr>
            <a:r>
              <a:rPr lang="en-US" smtClean="0"/>
              <a:t> </a:t>
            </a:r>
            <a:r>
              <a:rPr lang="en-US" b="1" smtClean="0"/>
              <a:t>Ultra High Temperature Pasteurization (UHT):</a:t>
            </a:r>
            <a:r>
              <a:rPr lang="en-US" smtClean="0"/>
              <a:t> Milk is treated at 140</a:t>
            </a:r>
            <a:r>
              <a:rPr lang="en-US" baseline="30000" smtClean="0"/>
              <a:t>o</a:t>
            </a:r>
            <a:r>
              <a:rPr lang="en-US" smtClean="0"/>
              <a:t>C for 3 seconds and then cooled very quickly in a vacuum chamber. </a:t>
            </a:r>
          </a:p>
          <a:p>
            <a:pPr lvl="1" eaLnBrk="1" hangingPunct="1">
              <a:lnSpc>
                <a:spcPct val="110000"/>
              </a:lnSpc>
              <a:buFont typeface="Arial" charset="0"/>
              <a:buNone/>
            </a:pPr>
            <a:r>
              <a:rPr lang="en-US" smtClean="0"/>
              <a:t>	</a:t>
            </a:r>
            <a:r>
              <a:rPr lang="en-US" b="1" smtClean="0"/>
              <a:t>Advantage</a:t>
            </a:r>
            <a:r>
              <a:rPr lang="en-US" smtClean="0"/>
              <a:t>:  Milk can be stored at room temperature for several months.</a:t>
            </a:r>
          </a:p>
          <a:p>
            <a:endParaRPr lang="en-US" smtClean="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38594" name="Rectangle 2"/>
          <p:cNvSpPr>
            <a:spLocks noGrp="1" noChangeArrowheads="1"/>
          </p:cNvSpPr>
          <p:nvPr>
            <p:ph idx="1"/>
          </p:nvPr>
        </p:nvSpPr>
        <p:spPr>
          <a:xfrm>
            <a:off x="685800" y="304800"/>
            <a:ext cx="8229600" cy="5715000"/>
          </a:xfrm>
        </p:spPr>
        <p:txBody>
          <a:bodyPr/>
          <a:lstStyle/>
          <a:p>
            <a:pPr eaLnBrk="1" hangingPunct="1">
              <a:buFont typeface="Monotype Sorts" pitchFamily="2" charset="2"/>
              <a:buNone/>
            </a:pPr>
            <a:r>
              <a:rPr lang="en-US" sz="3600" b="1" smtClean="0">
                <a:solidFill>
                  <a:schemeClr val="tx2"/>
                </a:solidFill>
              </a:rPr>
              <a:t>Physical Methods of Microbial </a:t>
            </a:r>
          </a:p>
          <a:p>
            <a:pPr eaLnBrk="1" hangingPunct="1">
              <a:buFont typeface="Monotype Sorts" pitchFamily="2" charset="2"/>
              <a:buNone/>
            </a:pPr>
            <a:r>
              <a:rPr lang="en-US" sz="3600" b="1" smtClean="0">
                <a:solidFill>
                  <a:schemeClr val="tx2"/>
                </a:solidFill>
              </a:rPr>
              <a:t>Control:</a:t>
            </a:r>
          </a:p>
          <a:p>
            <a:pPr eaLnBrk="1" hangingPunct="1">
              <a:buFont typeface="Monotype Sorts" pitchFamily="2" charset="2"/>
              <a:buNone/>
            </a:pPr>
            <a:r>
              <a:rPr lang="en-US" sz="2800" b="1" smtClean="0"/>
              <a:t>	Dry Heat: </a:t>
            </a:r>
            <a:r>
              <a:rPr lang="en-US" sz="2800" smtClean="0"/>
              <a:t>Kills by </a:t>
            </a:r>
            <a:r>
              <a:rPr lang="en-US" sz="2800" b="1" u="sng" smtClean="0"/>
              <a:t>oxidation</a:t>
            </a:r>
            <a:r>
              <a:rPr lang="en-US" sz="2800" b="1" smtClean="0"/>
              <a:t> </a:t>
            </a:r>
            <a:r>
              <a:rPr lang="en-US" sz="2800" smtClean="0"/>
              <a:t>effects.</a:t>
            </a:r>
          </a:p>
          <a:p>
            <a:pPr eaLnBrk="1" hangingPunct="1">
              <a:lnSpc>
                <a:spcPct val="110000"/>
              </a:lnSpc>
              <a:buFont typeface="Arial" charset="0"/>
              <a:buNone/>
            </a:pPr>
            <a:r>
              <a:rPr lang="en-US" sz="2400" b="1" smtClean="0"/>
              <a:t>Direct Flaming:</a:t>
            </a:r>
            <a:r>
              <a:rPr lang="en-US" sz="2400" smtClean="0"/>
              <a:t> Used to sterilize inoculating loops and needles.  Heat metal until it has a red glow.</a:t>
            </a:r>
          </a:p>
          <a:p>
            <a:pPr eaLnBrk="1" hangingPunct="1">
              <a:lnSpc>
                <a:spcPct val="110000"/>
              </a:lnSpc>
              <a:buFont typeface="Arial" charset="0"/>
              <a:buNone/>
            </a:pPr>
            <a:r>
              <a:rPr lang="en-US" sz="2400" smtClean="0"/>
              <a:t> </a:t>
            </a:r>
            <a:r>
              <a:rPr lang="en-US" sz="2400" b="1" smtClean="0"/>
              <a:t>Incineration</a:t>
            </a:r>
            <a:r>
              <a:rPr lang="en-US" sz="2400" smtClean="0"/>
              <a:t>: Effective way to sterilize disposable items (paper cups, dressings) and biological waste. Burns organisms and physically destroys them. Used for needles, inoculating wires, glassware, etc. and objects not destroyed in the incineration process.</a:t>
            </a:r>
          </a:p>
          <a:p>
            <a:pPr eaLnBrk="1" hangingPunct="1">
              <a:lnSpc>
                <a:spcPct val="110000"/>
              </a:lnSpc>
              <a:buFont typeface="Arial" charset="0"/>
              <a:buNone/>
            </a:pPr>
            <a:endParaRPr lang="en-US" sz="2400" smtClean="0"/>
          </a:p>
          <a:p>
            <a:pPr eaLnBrk="1" hangingPunct="1">
              <a:lnSpc>
                <a:spcPct val="110000"/>
              </a:lnSpc>
              <a:buFont typeface="Arial" charset="0"/>
              <a:buNone/>
            </a:pPr>
            <a:r>
              <a:rPr lang="en-US" sz="2400" smtClean="0"/>
              <a:t> </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238594">
                                            <p:txEl>
                                              <p:pRg st="0" end="0"/>
                                            </p:txEl>
                                          </p:spTgt>
                                        </p:tgtEl>
                                        <p:attrNameLst>
                                          <p:attrName>style.visibility</p:attrName>
                                        </p:attrNameLst>
                                      </p:cBhvr>
                                      <p:to>
                                        <p:strVal val="visible"/>
                                      </p:to>
                                    </p:set>
                                    <p:anim calcmode="lin" valueType="num">
                                      <p:cBhvr additive="base">
                                        <p:cTn id="7" dur="500" fill="hold"/>
                                        <p:tgtEl>
                                          <p:spTgt spid="238594">
                                            <p:txEl>
                                              <p:pRg st="0" end="0"/>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238594">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238594">
                                            <p:txEl>
                                              <p:pRg st="1" end="1"/>
                                            </p:txEl>
                                          </p:spTgt>
                                        </p:tgtEl>
                                        <p:attrNameLst>
                                          <p:attrName>style.visibility</p:attrName>
                                        </p:attrNameLst>
                                      </p:cBhvr>
                                      <p:to>
                                        <p:strVal val="visible"/>
                                      </p:to>
                                    </p:set>
                                    <p:anim calcmode="lin" valueType="num">
                                      <p:cBhvr additive="base">
                                        <p:cTn id="13" dur="500" fill="hold"/>
                                        <p:tgtEl>
                                          <p:spTgt spid="238594">
                                            <p:txEl>
                                              <p:pRg st="1" end="1"/>
                                            </p:txEl>
                                          </p:spTgt>
                                        </p:tgtEl>
                                        <p:attrNameLst>
                                          <p:attrName>ppt_x</p:attrName>
                                        </p:attrNameLst>
                                      </p:cBhvr>
                                      <p:tavLst>
                                        <p:tav tm="0">
                                          <p:val>
                                            <p:strVal val="0-#ppt_w/2"/>
                                          </p:val>
                                        </p:tav>
                                        <p:tav tm="100000">
                                          <p:val>
                                            <p:strVal val="#ppt_x"/>
                                          </p:val>
                                        </p:tav>
                                      </p:tavLst>
                                    </p:anim>
                                    <p:anim calcmode="lin" valueType="num">
                                      <p:cBhvr additive="base">
                                        <p:cTn id="14" dur="500" fill="hold"/>
                                        <p:tgtEl>
                                          <p:spTgt spid="238594">
                                            <p:txEl>
                                              <p:pRg st="1" end="1"/>
                                            </p:txEl>
                                          </p:spTgt>
                                        </p:tgtEl>
                                        <p:attrNameLst>
                                          <p:attrName>ppt_y</p:attrName>
                                        </p:attrNameLst>
                                      </p:cBhvr>
                                      <p:tavLst>
                                        <p:tav tm="0">
                                          <p:val>
                                            <p:strVal val="#ppt_y"/>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8" fill="hold" grpId="0" nodeType="clickEffect">
                                  <p:stCondLst>
                                    <p:cond delay="0"/>
                                  </p:stCondLst>
                                  <p:childTnLst>
                                    <p:set>
                                      <p:cBhvr>
                                        <p:cTn id="18" dur="1" fill="hold">
                                          <p:stCondLst>
                                            <p:cond delay="0"/>
                                          </p:stCondLst>
                                        </p:cTn>
                                        <p:tgtEl>
                                          <p:spTgt spid="238594">
                                            <p:txEl>
                                              <p:pRg st="2" end="2"/>
                                            </p:txEl>
                                          </p:spTgt>
                                        </p:tgtEl>
                                        <p:attrNameLst>
                                          <p:attrName>style.visibility</p:attrName>
                                        </p:attrNameLst>
                                      </p:cBhvr>
                                      <p:to>
                                        <p:strVal val="visible"/>
                                      </p:to>
                                    </p:set>
                                    <p:anim calcmode="lin" valueType="num">
                                      <p:cBhvr additive="base">
                                        <p:cTn id="19" dur="500" fill="hold"/>
                                        <p:tgtEl>
                                          <p:spTgt spid="238594">
                                            <p:txEl>
                                              <p:pRg st="2" end="2"/>
                                            </p:txEl>
                                          </p:spTgt>
                                        </p:tgtEl>
                                        <p:attrNameLst>
                                          <p:attrName>ppt_x</p:attrName>
                                        </p:attrNameLst>
                                      </p:cBhvr>
                                      <p:tavLst>
                                        <p:tav tm="0">
                                          <p:val>
                                            <p:strVal val="0-#ppt_w/2"/>
                                          </p:val>
                                        </p:tav>
                                        <p:tav tm="100000">
                                          <p:val>
                                            <p:strVal val="#ppt_x"/>
                                          </p:val>
                                        </p:tav>
                                      </p:tavLst>
                                    </p:anim>
                                    <p:anim calcmode="lin" valueType="num">
                                      <p:cBhvr additive="base">
                                        <p:cTn id="20" dur="500" fill="hold"/>
                                        <p:tgtEl>
                                          <p:spTgt spid="238594">
                                            <p:txEl>
                                              <p:pRg st="2" end="2"/>
                                            </p:txEl>
                                          </p:spTgt>
                                        </p:tgtEl>
                                        <p:attrNameLst>
                                          <p:attrName>ppt_y</p:attrName>
                                        </p:attrNameLst>
                                      </p:cBhvr>
                                      <p:tavLst>
                                        <p:tav tm="0">
                                          <p:val>
                                            <p:strVal val="#ppt_y"/>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8" fill="hold" grpId="0" nodeType="clickEffect">
                                  <p:stCondLst>
                                    <p:cond delay="0"/>
                                  </p:stCondLst>
                                  <p:childTnLst>
                                    <p:set>
                                      <p:cBhvr>
                                        <p:cTn id="24" dur="1" fill="hold">
                                          <p:stCondLst>
                                            <p:cond delay="0"/>
                                          </p:stCondLst>
                                        </p:cTn>
                                        <p:tgtEl>
                                          <p:spTgt spid="238594">
                                            <p:txEl>
                                              <p:pRg st="3" end="3"/>
                                            </p:txEl>
                                          </p:spTgt>
                                        </p:tgtEl>
                                        <p:attrNameLst>
                                          <p:attrName>style.visibility</p:attrName>
                                        </p:attrNameLst>
                                      </p:cBhvr>
                                      <p:to>
                                        <p:strVal val="visible"/>
                                      </p:to>
                                    </p:set>
                                    <p:anim calcmode="lin" valueType="num">
                                      <p:cBhvr additive="base">
                                        <p:cTn id="25" dur="500" fill="hold"/>
                                        <p:tgtEl>
                                          <p:spTgt spid="238594">
                                            <p:txEl>
                                              <p:pRg st="3" end="3"/>
                                            </p:txEl>
                                          </p:spTgt>
                                        </p:tgtEl>
                                        <p:attrNameLst>
                                          <p:attrName>ppt_x</p:attrName>
                                        </p:attrNameLst>
                                      </p:cBhvr>
                                      <p:tavLst>
                                        <p:tav tm="0">
                                          <p:val>
                                            <p:strVal val="0-#ppt_w/2"/>
                                          </p:val>
                                        </p:tav>
                                        <p:tav tm="100000">
                                          <p:val>
                                            <p:strVal val="#ppt_x"/>
                                          </p:val>
                                        </p:tav>
                                      </p:tavLst>
                                    </p:anim>
                                    <p:anim calcmode="lin" valueType="num">
                                      <p:cBhvr additive="base">
                                        <p:cTn id="26" dur="500" fill="hold"/>
                                        <p:tgtEl>
                                          <p:spTgt spid="238594">
                                            <p:txEl>
                                              <p:pRg st="3" end="3"/>
                                            </p:txEl>
                                          </p:spTgt>
                                        </p:tgtEl>
                                        <p:attrNameLst>
                                          <p:attrName>ppt_y</p:attrName>
                                        </p:attrNameLst>
                                      </p:cBhvr>
                                      <p:tavLst>
                                        <p:tav tm="0">
                                          <p:val>
                                            <p:strVal val="#ppt_y"/>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8" fill="hold" grpId="0" nodeType="clickEffect">
                                  <p:stCondLst>
                                    <p:cond delay="0"/>
                                  </p:stCondLst>
                                  <p:childTnLst>
                                    <p:set>
                                      <p:cBhvr>
                                        <p:cTn id="30" dur="1" fill="hold">
                                          <p:stCondLst>
                                            <p:cond delay="0"/>
                                          </p:stCondLst>
                                        </p:cTn>
                                        <p:tgtEl>
                                          <p:spTgt spid="238594">
                                            <p:txEl>
                                              <p:pRg st="4" end="4"/>
                                            </p:txEl>
                                          </p:spTgt>
                                        </p:tgtEl>
                                        <p:attrNameLst>
                                          <p:attrName>style.visibility</p:attrName>
                                        </p:attrNameLst>
                                      </p:cBhvr>
                                      <p:to>
                                        <p:strVal val="visible"/>
                                      </p:to>
                                    </p:set>
                                    <p:anim calcmode="lin" valueType="num">
                                      <p:cBhvr additive="base">
                                        <p:cTn id="31" dur="500" fill="hold"/>
                                        <p:tgtEl>
                                          <p:spTgt spid="238594">
                                            <p:txEl>
                                              <p:pRg st="4" end="4"/>
                                            </p:txEl>
                                          </p:spTgt>
                                        </p:tgtEl>
                                        <p:attrNameLst>
                                          <p:attrName>ppt_x</p:attrName>
                                        </p:attrNameLst>
                                      </p:cBhvr>
                                      <p:tavLst>
                                        <p:tav tm="0">
                                          <p:val>
                                            <p:strVal val="0-#ppt_w/2"/>
                                          </p:val>
                                        </p:tav>
                                        <p:tav tm="100000">
                                          <p:val>
                                            <p:strVal val="#ppt_x"/>
                                          </p:val>
                                        </p:tav>
                                      </p:tavLst>
                                    </p:anim>
                                    <p:anim calcmode="lin" valueType="num">
                                      <p:cBhvr additive="base">
                                        <p:cTn id="32" dur="500" fill="hold"/>
                                        <p:tgtEl>
                                          <p:spTgt spid="238594">
                                            <p:txEl>
                                              <p:pRg st="4" end="4"/>
                                            </p:txEl>
                                          </p:spTgt>
                                        </p:tgtEl>
                                        <p:attrNameLst>
                                          <p:attrName>ppt_y</p:attrName>
                                        </p:attrNameLst>
                                      </p:cBhvr>
                                      <p:tavLst>
                                        <p:tav tm="0">
                                          <p:val>
                                            <p:strVal val="#ppt_y"/>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8" fill="hold" grpId="0" nodeType="clickEffect">
                                  <p:stCondLst>
                                    <p:cond delay="0"/>
                                  </p:stCondLst>
                                  <p:childTnLst>
                                    <p:set>
                                      <p:cBhvr>
                                        <p:cTn id="36" dur="1" fill="hold">
                                          <p:stCondLst>
                                            <p:cond delay="0"/>
                                          </p:stCondLst>
                                        </p:cTn>
                                        <p:tgtEl>
                                          <p:spTgt spid="238594">
                                            <p:txEl>
                                              <p:pRg st="6" end="6"/>
                                            </p:txEl>
                                          </p:spTgt>
                                        </p:tgtEl>
                                        <p:attrNameLst>
                                          <p:attrName>style.visibility</p:attrName>
                                        </p:attrNameLst>
                                      </p:cBhvr>
                                      <p:to>
                                        <p:strVal val="visible"/>
                                      </p:to>
                                    </p:set>
                                    <p:anim calcmode="lin" valueType="num">
                                      <p:cBhvr additive="base">
                                        <p:cTn id="37" dur="500" fill="hold"/>
                                        <p:tgtEl>
                                          <p:spTgt spid="238594">
                                            <p:txEl>
                                              <p:pRg st="6" end="6"/>
                                            </p:txEl>
                                          </p:spTgt>
                                        </p:tgtEl>
                                        <p:attrNameLst>
                                          <p:attrName>ppt_x</p:attrName>
                                        </p:attrNameLst>
                                      </p:cBhvr>
                                      <p:tavLst>
                                        <p:tav tm="0">
                                          <p:val>
                                            <p:strVal val="0-#ppt_w/2"/>
                                          </p:val>
                                        </p:tav>
                                        <p:tav tm="100000">
                                          <p:val>
                                            <p:strVal val="#ppt_x"/>
                                          </p:val>
                                        </p:tav>
                                      </p:tavLst>
                                    </p:anim>
                                    <p:anim calcmode="lin" valueType="num">
                                      <p:cBhvr additive="base">
                                        <p:cTn id="38" dur="500" fill="hold"/>
                                        <p:tgtEl>
                                          <p:spTgt spid="238594">
                                            <p:txEl>
                                              <p:pRg st="6" end="6"/>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8594" grpId="0" build="p" bldLvl="3" autoUpdateAnimBg="0"/>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Content Placeholder 2"/>
          <p:cNvSpPr>
            <a:spLocks noGrp="1"/>
          </p:cNvSpPr>
          <p:nvPr>
            <p:ph idx="4294967295"/>
          </p:nvPr>
        </p:nvSpPr>
        <p:spPr>
          <a:xfrm>
            <a:off x="0" y="0"/>
            <a:ext cx="9144000" cy="6858000"/>
          </a:xfrm>
        </p:spPr>
        <p:txBody>
          <a:bodyPr/>
          <a:lstStyle/>
          <a:p>
            <a:pPr>
              <a:buFont typeface="Arial" charset="0"/>
              <a:buNone/>
            </a:pPr>
            <a:r>
              <a:rPr lang="en-US" b="1" smtClean="0"/>
              <a:t>Hot Air Sterilization:</a:t>
            </a:r>
          </a:p>
          <a:p>
            <a:pPr lvl="1"/>
            <a:r>
              <a:rPr lang="en-US" sz="3200" b="1" smtClean="0"/>
              <a:t>Dry heat (hot air oven)</a:t>
            </a:r>
            <a:r>
              <a:rPr lang="en-US" sz="3200" smtClean="0"/>
              <a:t>: basically the cooking oven. The rules of relating time and temperature apply, but dry heat is not as effective as moist heat (i.e., higher temperatures are needed for longer periods of time). For example 170</a:t>
            </a:r>
            <a:r>
              <a:rPr lang="en-US" sz="3200" baseline="30000" smtClean="0"/>
              <a:t>o</a:t>
            </a:r>
            <a:r>
              <a:rPr lang="en-US" sz="3200" smtClean="0"/>
              <a:t>/2hours is necessary for sterilization.</a:t>
            </a:r>
          </a:p>
          <a:p>
            <a:pPr lvl="1"/>
            <a:r>
              <a:rPr lang="en-US" sz="3200" smtClean="0"/>
              <a:t> The dry heat oven is used for glassware, metal, and objects that won't melt. Used on substances that would be damaged by moist heat sterilization gauzes, dressings or powders</a:t>
            </a:r>
          </a:p>
          <a:p>
            <a:pPr>
              <a:buFont typeface="Arial" charset="0"/>
              <a:buNone/>
            </a:pPr>
            <a:endParaRPr lang="en-US" sz="3600" smtClean="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39618" name="Rectangle 2"/>
          <p:cNvSpPr>
            <a:spLocks noGrp="1" noChangeArrowheads="1"/>
          </p:cNvSpPr>
          <p:nvPr>
            <p:ph idx="1"/>
          </p:nvPr>
        </p:nvSpPr>
        <p:spPr>
          <a:xfrm>
            <a:off x="685800" y="304800"/>
            <a:ext cx="8229600" cy="5715000"/>
          </a:xfrm>
        </p:spPr>
        <p:txBody>
          <a:bodyPr/>
          <a:lstStyle/>
          <a:p>
            <a:pPr eaLnBrk="1" hangingPunct="1">
              <a:lnSpc>
                <a:spcPct val="90000"/>
              </a:lnSpc>
              <a:buFont typeface="Monotype Sorts" pitchFamily="2" charset="2"/>
              <a:buNone/>
            </a:pPr>
            <a:r>
              <a:rPr lang="en-US" sz="3600" b="1" smtClean="0">
                <a:solidFill>
                  <a:schemeClr val="tx2"/>
                </a:solidFill>
              </a:rPr>
              <a:t>Physical Methods of Microbial </a:t>
            </a:r>
          </a:p>
          <a:p>
            <a:pPr eaLnBrk="1" hangingPunct="1">
              <a:lnSpc>
                <a:spcPct val="90000"/>
              </a:lnSpc>
              <a:buFont typeface="Monotype Sorts" pitchFamily="2" charset="2"/>
              <a:buNone/>
            </a:pPr>
            <a:r>
              <a:rPr lang="en-US" sz="3600" b="1" smtClean="0">
                <a:solidFill>
                  <a:schemeClr val="tx2"/>
                </a:solidFill>
              </a:rPr>
              <a:t>Control:</a:t>
            </a:r>
          </a:p>
          <a:p>
            <a:pPr eaLnBrk="1" hangingPunct="1">
              <a:lnSpc>
                <a:spcPct val="90000"/>
              </a:lnSpc>
              <a:buFont typeface="Monotype Sorts" pitchFamily="2" charset="2"/>
              <a:buNone/>
            </a:pPr>
            <a:r>
              <a:rPr lang="en-US" sz="2800" b="1" smtClean="0"/>
              <a:t>	</a:t>
            </a:r>
            <a:r>
              <a:rPr lang="en-US" sz="3600" b="1" smtClean="0"/>
              <a:t>Filtration: </a:t>
            </a:r>
            <a:r>
              <a:rPr lang="en-US" sz="3600" smtClean="0"/>
              <a:t>Removal of microbes by passage of a liquid or gas through a screen like material with small pores.  Used to sterilize heat sensitive materials like vaccines, enzymes, antibiotics, and some culture media.</a:t>
            </a:r>
            <a:endParaRPr lang="en-US" smtClean="0"/>
          </a:p>
          <a:p>
            <a:pPr eaLnBrk="1" hangingPunct="1">
              <a:lnSpc>
                <a:spcPct val="110000"/>
              </a:lnSpc>
              <a:buFont typeface="Arial" charset="0"/>
              <a:buNone/>
            </a:pPr>
            <a:r>
              <a:rPr lang="en-US" smtClean="0"/>
              <a:t> </a:t>
            </a:r>
            <a:endParaRPr lang="en-US" sz="2800" smtClean="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239618">
                                            <p:txEl>
                                              <p:pRg st="0" end="0"/>
                                            </p:txEl>
                                          </p:spTgt>
                                        </p:tgtEl>
                                        <p:attrNameLst>
                                          <p:attrName>style.visibility</p:attrName>
                                        </p:attrNameLst>
                                      </p:cBhvr>
                                      <p:to>
                                        <p:strVal val="visible"/>
                                      </p:to>
                                    </p:set>
                                    <p:anim calcmode="lin" valueType="num">
                                      <p:cBhvr additive="base">
                                        <p:cTn id="7" dur="500" fill="hold"/>
                                        <p:tgtEl>
                                          <p:spTgt spid="239618">
                                            <p:txEl>
                                              <p:pRg st="0" end="0"/>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239618">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239618">
                                            <p:txEl>
                                              <p:pRg st="1" end="1"/>
                                            </p:txEl>
                                          </p:spTgt>
                                        </p:tgtEl>
                                        <p:attrNameLst>
                                          <p:attrName>style.visibility</p:attrName>
                                        </p:attrNameLst>
                                      </p:cBhvr>
                                      <p:to>
                                        <p:strVal val="visible"/>
                                      </p:to>
                                    </p:set>
                                    <p:anim calcmode="lin" valueType="num">
                                      <p:cBhvr additive="base">
                                        <p:cTn id="13" dur="500" fill="hold"/>
                                        <p:tgtEl>
                                          <p:spTgt spid="239618">
                                            <p:txEl>
                                              <p:pRg st="1" end="1"/>
                                            </p:txEl>
                                          </p:spTgt>
                                        </p:tgtEl>
                                        <p:attrNameLst>
                                          <p:attrName>ppt_x</p:attrName>
                                        </p:attrNameLst>
                                      </p:cBhvr>
                                      <p:tavLst>
                                        <p:tav tm="0">
                                          <p:val>
                                            <p:strVal val="0-#ppt_w/2"/>
                                          </p:val>
                                        </p:tav>
                                        <p:tav tm="100000">
                                          <p:val>
                                            <p:strVal val="#ppt_x"/>
                                          </p:val>
                                        </p:tav>
                                      </p:tavLst>
                                    </p:anim>
                                    <p:anim calcmode="lin" valueType="num">
                                      <p:cBhvr additive="base">
                                        <p:cTn id="14" dur="500" fill="hold"/>
                                        <p:tgtEl>
                                          <p:spTgt spid="239618">
                                            <p:txEl>
                                              <p:pRg st="1" end="1"/>
                                            </p:txEl>
                                          </p:spTgt>
                                        </p:tgtEl>
                                        <p:attrNameLst>
                                          <p:attrName>ppt_y</p:attrName>
                                        </p:attrNameLst>
                                      </p:cBhvr>
                                      <p:tavLst>
                                        <p:tav tm="0">
                                          <p:val>
                                            <p:strVal val="#ppt_y"/>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8" fill="hold" grpId="0" nodeType="clickEffect">
                                  <p:stCondLst>
                                    <p:cond delay="0"/>
                                  </p:stCondLst>
                                  <p:childTnLst>
                                    <p:set>
                                      <p:cBhvr>
                                        <p:cTn id="18" dur="1" fill="hold">
                                          <p:stCondLst>
                                            <p:cond delay="0"/>
                                          </p:stCondLst>
                                        </p:cTn>
                                        <p:tgtEl>
                                          <p:spTgt spid="239618">
                                            <p:txEl>
                                              <p:pRg st="2" end="2"/>
                                            </p:txEl>
                                          </p:spTgt>
                                        </p:tgtEl>
                                        <p:attrNameLst>
                                          <p:attrName>style.visibility</p:attrName>
                                        </p:attrNameLst>
                                      </p:cBhvr>
                                      <p:to>
                                        <p:strVal val="visible"/>
                                      </p:to>
                                    </p:set>
                                    <p:anim calcmode="lin" valueType="num">
                                      <p:cBhvr additive="base">
                                        <p:cTn id="19" dur="500" fill="hold"/>
                                        <p:tgtEl>
                                          <p:spTgt spid="239618">
                                            <p:txEl>
                                              <p:pRg st="2" end="2"/>
                                            </p:txEl>
                                          </p:spTgt>
                                        </p:tgtEl>
                                        <p:attrNameLst>
                                          <p:attrName>ppt_x</p:attrName>
                                        </p:attrNameLst>
                                      </p:cBhvr>
                                      <p:tavLst>
                                        <p:tav tm="0">
                                          <p:val>
                                            <p:strVal val="0-#ppt_w/2"/>
                                          </p:val>
                                        </p:tav>
                                        <p:tav tm="100000">
                                          <p:val>
                                            <p:strVal val="#ppt_x"/>
                                          </p:val>
                                        </p:tav>
                                      </p:tavLst>
                                    </p:anim>
                                    <p:anim calcmode="lin" valueType="num">
                                      <p:cBhvr additive="base">
                                        <p:cTn id="20" dur="500" fill="hold"/>
                                        <p:tgtEl>
                                          <p:spTgt spid="239618">
                                            <p:txEl>
                                              <p:pRg st="2" end="2"/>
                                            </p:txEl>
                                          </p:spTgt>
                                        </p:tgtEl>
                                        <p:attrNameLst>
                                          <p:attrName>ppt_y</p:attrName>
                                        </p:attrNameLst>
                                      </p:cBhvr>
                                      <p:tavLst>
                                        <p:tav tm="0">
                                          <p:val>
                                            <p:strVal val="#ppt_y"/>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8" fill="hold" grpId="0" nodeType="clickEffect">
                                  <p:stCondLst>
                                    <p:cond delay="0"/>
                                  </p:stCondLst>
                                  <p:childTnLst>
                                    <p:set>
                                      <p:cBhvr>
                                        <p:cTn id="24" dur="1" fill="hold">
                                          <p:stCondLst>
                                            <p:cond delay="0"/>
                                          </p:stCondLst>
                                        </p:cTn>
                                        <p:tgtEl>
                                          <p:spTgt spid="239618">
                                            <p:txEl>
                                              <p:pRg st="3" end="3"/>
                                            </p:txEl>
                                          </p:spTgt>
                                        </p:tgtEl>
                                        <p:attrNameLst>
                                          <p:attrName>style.visibility</p:attrName>
                                        </p:attrNameLst>
                                      </p:cBhvr>
                                      <p:to>
                                        <p:strVal val="visible"/>
                                      </p:to>
                                    </p:set>
                                    <p:anim calcmode="lin" valueType="num">
                                      <p:cBhvr additive="base">
                                        <p:cTn id="25" dur="500" fill="hold"/>
                                        <p:tgtEl>
                                          <p:spTgt spid="239618">
                                            <p:txEl>
                                              <p:pRg st="3" end="3"/>
                                            </p:txEl>
                                          </p:spTgt>
                                        </p:tgtEl>
                                        <p:attrNameLst>
                                          <p:attrName>ppt_x</p:attrName>
                                        </p:attrNameLst>
                                      </p:cBhvr>
                                      <p:tavLst>
                                        <p:tav tm="0">
                                          <p:val>
                                            <p:strVal val="0-#ppt_w/2"/>
                                          </p:val>
                                        </p:tav>
                                        <p:tav tm="100000">
                                          <p:val>
                                            <p:strVal val="#ppt_x"/>
                                          </p:val>
                                        </p:tav>
                                      </p:tavLst>
                                    </p:anim>
                                    <p:anim calcmode="lin" valueType="num">
                                      <p:cBhvr additive="base">
                                        <p:cTn id="26" dur="500" fill="hold"/>
                                        <p:tgtEl>
                                          <p:spTgt spid="239618">
                                            <p:txEl>
                                              <p:pRg st="3" end="3"/>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9618" grpId="0" build="p" bldLvl="3" autoUpdateAnimBg="0"/>
    </p:bldLst>
  </p:timing>
</p:sld>
</file>

<file path=ppt/slides/slide33.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43010" name="Rectangle 2"/>
          <p:cNvSpPr>
            <a:spLocks noGrp="1" noChangeArrowheads="1"/>
          </p:cNvSpPr>
          <p:nvPr>
            <p:ph type="title"/>
          </p:nvPr>
        </p:nvSpPr>
        <p:spPr>
          <a:xfrm>
            <a:off x="0" y="0"/>
            <a:ext cx="9144000" cy="838200"/>
          </a:xfrm>
        </p:spPr>
        <p:txBody>
          <a:bodyPr/>
          <a:lstStyle/>
          <a:p>
            <a:r>
              <a:rPr lang="en-US" smtClean="0"/>
              <a:t>Filtration</a:t>
            </a:r>
          </a:p>
        </p:txBody>
      </p:sp>
      <p:sp>
        <p:nvSpPr>
          <p:cNvPr id="28675" name="Rectangle 3"/>
          <p:cNvSpPr>
            <a:spLocks noGrp="1" noChangeArrowheads="1"/>
          </p:cNvSpPr>
          <p:nvPr>
            <p:ph type="body" idx="1"/>
          </p:nvPr>
        </p:nvSpPr>
        <p:spPr>
          <a:xfrm>
            <a:off x="0" y="762000"/>
            <a:ext cx="9144000" cy="6096000"/>
          </a:xfrm>
        </p:spPr>
        <p:txBody>
          <a:bodyPr/>
          <a:lstStyle/>
          <a:p>
            <a:r>
              <a:rPr lang="en-US" smtClean="0"/>
              <a:t>Removes microorganisms from solutions that might be damaged by heat</a:t>
            </a:r>
          </a:p>
          <a:p>
            <a:pPr lvl="1"/>
            <a:endParaRPr lang="en-US" smtClean="0"/>
          </a:p>
          <a:p>
            <a:pPr lvl="1"/>
            <a:endParaRPr lang="en-US" smtClean="0"/>
          </a:p>
          <a:p>
            <a:pPr lvl="1"/>
            <a:r>
              <a:rPr lang="en-US" smtClean="0"/>
              <a:t>culture media</a:t>
            </a:r>
          </a:p>
          <a:p>
            <a:pPr lvl="1"/>
            <a:r>
              <a:rPr lang="en-US" smtClean="0"/>
              <a:t>enzymes</a:t>
            </a:r>
          </a:p>
          <a:p>
            <a:pPr lvl="1"/>
            <a:r>
              <a:rPr lang="en-US" smtClean="0"/>
              <a:t>vaccines</a:t>
            </a:r>
          </a:p>
          <a:p>
            <a:pPr lvl="1"/>
            <a:r>
              <a:rPr lang="en-US" smtClean="0"/>
              <a:t>antibiotics</a:t>
            </a:r>
          </a:p>
        </p:txBody>
      </p:sp>
      <p:pic>
        <p:nvPicPr>
          <p:cNvPr id="43012" name="Picture 4" descr="U:\PowerPoint\Scanner\Micro\Filtration.tif"/>
          <p:cNvPicPr>
            <a:picLocks noChangeAspect="1" noChangeArrowheads="1"/>
          </p:cNvPicPr>
          <p:nvPr/>
        </p:nvPicPr>
        <p:blipFill>
          <a:blip r:embed="rId2"/>
          <a:srcRect/>
          <a:stretch>
            <a:fillRect/>
          </a:stretch>
        </p:blipFill>
        <p:spPr bwMode="auto">
          <a:xfrm>
            <a:off x="4572000" y="1981200"/>
            <a:ext cx="4306888" cy="4343400"/>
          </a:xfrm>
          <a:prstGeom prst="rect">
            <a:avLst/>
          </a:prstGeom>
          <a:noFill/>
          <a:ln w="9525">
            <a:noFill/>
            <a:miter lim="800000"/>
            <a:headEnd/>
            <a:tailEnd/>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16" fill="hold" grpId="0" nodeType="clickEffect">
                                  <p:stCondLst>
                                    <p:cond delay="0"/>
                                  </p:stCondLst>
                                  <p:childTnLst>
                                    <p:set>
                                      <p:cBhvr>
                                        <p:cTn id="6" dur="1" fill="hold">
                                          <p:stCondLst>
                                            <p:cond delay="0"/>
                                          </p:stCondLst>
                                        </p:cTn>
                                        <p:tgtEl>
                                          <p:spTgt spid="28675">
                                            <p:txEl>
                                              <p:pRg st="0" end="0"/>
                                            </p:txEl>
                                          </p:spTgt>
                                        </p:tgtEl>
                                        <p:attrNameLst>
                                          <p:attrName>style.visibility</p:attrName>
                                        </p:attrNameLst>
                                      </p:cBhvr>
                                      <p:to>
                                        <p:strVal val="visible"/>
                                      </p:to>
                                    </p:set>
                                    <p:animEffect transition="in" filter="box(in)">
                                      <p:cBhvr>
                                        <p:cTn id="7" dur="500"/>
                                        <p:tgtEl>
                                          <p:spTgt spid="28675">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4" presetClass="entr" presetSubtype="16" fill="hold" grpId="0" nodeType="clickEffect">
                                  <p:stCondLst>
                                    <p:cond delay="0"/>
                                  </p:stCondLst>
                                  <p:childTnLst>
                                    <p:set>
                                      <p:cBhvr>
                                        <p:cTn id="11" dur="1" fill="hold">
                                          <p:stCondLst>
                                            <p:cond delay="0"/>
                                          </p:stCondLst>
                                        </p:cTn>
                                        <p:tgtEl>
                                          <p:spTgt spid="28675">
                                            <p:txEl>
                                              <p:pRg st="3" end="3"/>
                                            </p:txEl>
                                          </p:spTgt>
                                        </p:tgtEl>
                                        <p:attrNameLst>
                                          <p:attrName>style.visibility</p:attrName>
                                        </p:attrNameLst>
                                      </p:cBhvr>
                                      <p:to>
                                        <p:strVal val="visible"/>
                                      </p:to>
                                    </p:set>
                                    <p:animEffect transition="in" filter="box(in)">
                                      <p:cBhvr>
                                        <p:cTn id="12" dur="500"/>
                                        <p:tgtEl>
                                          <p:spTgt spid="28675">
                                            <p:txEl>
                                              <p:pRg st="3" end="3"/>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4" presetClass="entr" presetSubtype="16" fill="hold" grpId="0" nodeType="clickEffect">
                                  <p:stCondLst>
                                    <p:cond delay="0"/>
                                  </p:stCondLst>
                                  <p:childTnLst>
                                    <p:set>
                                      <p:cBhvr>
                                        <p:cTn id="16" dur="1" fill="hold">
                                          <p:stCondLst>
                                            <p:cond delay="0"/>
                                          </p:stCondLst>
                                        </p:cTn>
                                        <p:tgtEl>
                                          <p:spTgt spid="28675">
                                            <p:txEl>
                                              <p:pRg st="4" end="4"/>
                                            </p:txEl>
                                          </p:spTgt>
                                        </p:tgtEl>
                                        <p:attrNameLst>
                                          <p:attrName>style.visibility</p:attrName>
                                        </p:attrNameLst>
                                      </p:cBhvr>
                                      <p:to>
                                        <p:strVal val="visible"/>
                                      </p:to>
                                    </p:set>
                                    <p:animEffect transition="in" filter="box(in)">
                                      <p:cBhvr>
                                        <p:cTn id="17" dur="500"/>
                                        <p:tgtEl>
                                          <p:spTgt spid="28675">
                                            <p:txEl>
                                              <p:pRg st="4" end="4"/>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4" presetClass="entr" presetSubtype="16" fill="hold" grpId="0" nodeType="clickEffect">
                                  <p:stCondLst>
                                    <p:cond delay="0"/>
                                  </p:stCondLst>
                                  <p:childTnLst>
                                    <p:set>
                                      <p:cBhvr>
                                        <p:cTn id="21" dur="1" fill="hold">
                                          <p:stCondLst>
                                            <p:cond delay="0"/>
                                          </p:stCondLst>
                                        </p:cTn>
                                        <p:tgtEl>
                                          <p:spTgt spid="28675">
                                            <p:txEl>
                                              <p:pRg st="5" end="5"/>
                                            </p:txEl>
                                          </p:spTgt>
                                        </p:tgtEl>
                                        <p:attrNameLst>
                                          <p:attrName>style.visibility</p:attrName>
                                        </p:attrNameLst>
                                      </p:cBhvr>
                                      <p:to>
                                        <p:strVal val="visible"/>
                                      </p:to>
                                    </p:set>
                                    <p:animEffect transition="in" filter="box(in)">
                                      <p:cBhvr>
                                        <p:cTn id="22" dur="500"/>
                                        <p:tgtEl>
                                          <p:spTgt spid="28675">
                                            <p:txEl>
                                              <p:pRg st="5" end="5"/>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4" presetClass="entr" presetSubtype="16" fill="hold" grpId="0" nodeType="clickEffect">
                                  <p:stCondLst>
                                    <p:cond delay="0"/>
                                  </p:stCondLst>
                                  <p:childTnLst>
                                    <p:set>
                                      <p:cBhvr>
                                        <p:cTn id="26" dur="1" fill="hold">
                                          <p:stCondLst>
                                            <p:cond delay="0"/>
                                          </p:stCondLst>
                                        </p:cTn>
                                        <p:tgtEl>
                                          <p:spTgt spid="28675">
                                            <p:txEl>
                                              <p:pRg st="6" end="6"/>
                                            </p:txEl>
                                          </p:spTgt>
                                        </p:tgtEl>
                                        <p:attrNameLst>
                                          <p:attrName>style.visibility</p:attrName>
                                        </p:attrNameLst>
                                      </p:cBhvr>
                                      <p:to>
                                        <p:strVal val="visible"/>
                                      </p:to>
                                    </p:set>
                                    <p:animEffect transition="in" filter="box(in)">
                                      <p:cBhvr>
                                        <p:cTn id="27" dur="500"/>
                                        <p:tgtEl>
                                          <p:spTgt spid="28675">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8675" grpId="0" build="p" bldLvl="2" autoUpdateAnimBg="0"/>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Title 1"/>
          <p:cNvSpPr>
            <a:spLocks noGrp="1"/>
          </p:cNvSpPr>
          <p:nvPr>
            <p:ph type="title"/>
          </p:nvPr>
        </p:nvSpPr>
        <p:spPr/>
        <p:txBody>
          <a:bodyPr/>
          <a:lstStyle/>
          <a:p>
            <a:endParaRPr lang="en-US" smtClean="0"/>
          </a:p>
        </p:txBody>
      </p:sp>
      <p:sp>
        <p:nvSpPr>
          <p:cNvPr id="44035" name="Content Placeholder 2"/>
          <p:cNvSpPr>
            <a:spLocks noGrp="1"/>
          </p:cNvSpPr>
          <p:nvPr>
            <p:ph idx="1"/>
          </p:nvPr>
        </p:nvSpPr>
        <p:spPr/>
        <p:txBody>
          <a:bodyPr/>
          <a:lstStyle/>
          <a:p>
            <a:pPr eaLnBrk="1" hangingPunct="1">
              <a:lnSpc>
                <a:spcPct val="110000"/>
              </a:lnSpc>
              <a:buFont typeface="Arial" charset="0"/>
              <a:buNone/>
            </a:pPr>
            <a:r>
              <a:rPr lang="en-US" sz="2800" b="1" smtClean="0"/>
              <a:t>High Efficiency Particulate Air Filters (HEPA):</a:t>
            </a:r>
            <a:r>
              <a:rPr lang="en-US" sz="2800" smtClean="0"/>
              <a:t> Used in operating rooms and burn units to remove bacteria from air.</a:t>
            </a:r>
          </a:p>
          <a:p>
            <a:pPr eaLnBrk="1" hangingPunct="1">
              <a:lnSpc>
                <a:spcPct val="110000"/>
              </a:lnSpc>
              <a:buFont typeface="Arial" charset="0"/>
              <a:buNone/>
            </a:pPr>
            <a:r>
              <a:rPr lang="en-US" sz="2800" smtClean="0"/>
              <a:t> </a:t>
            </a:r>
            <a:r>
              <a:rPr lang="en-US" sz="2800" b="1" smtClean="0"/>
              <a:t>Membrane Filters</a:t>
            </a:r>
            <a:r>
              <a:rPr lang="en-US" sz="2800" smtClean="0"/>
              <a:t>: Uniform pore size.  Used in industry and research.  Different sizes:</a:t>
            </a:r>
          </a:p>
          <a:p>
            <a:pPr lvl="1" eaLnBrk="1" hangingPunct="1">
              <a:lnSpc>
                <a:spcPct val="110000"/>
              </a:lnSpc>
              <a:buFont typeface="Arial" charset="0"/>
              <a:buNone/>
            </a:pPr>
            <a:r>
              <a:rPr lang="en-US" sz="2400" smtClean="0"/>
              <a:t> </a:t>
            </a:r>
            <a:r>
              <a:rPr lang="en-US" b="1" smtClean="0"/>
              <a:t>0.22 and 0.45µm Pores</a:t>
            </a:r>
            <a:r>
              <a:rPr lang="en-US" smtClean="0"/>
              <a:t>: Used to filter most bacteria.  Don’t retain spirochetes, mycoplasmas and viruses.</a:t>
            </a:r>
          </a:p>
          <a:p>
            <a:pPr lvl="1" eaLnBrk="1" hangingPunct="1">
              <a:lnSpc>
                <a:spcPct val="110000"/>
              </a:lnSpc>
              <a:buFont typeface="Arial" charset="0"/>
              <a:buNone/>
            </a:pPr>
            <a:r>
              <a:rPr lang="en-US" b="1" smtClean="0"/>
              <a:t> 0.01 µm Pores</a:t>
            </a:r>
            <a:r>
              <a:rPr lang="en-US" smtClean="0"/>
              <a:t>: Retain all viruses and some large proteins.</a:t>
            </a:r>
          </a:p>
          <a:p>
            <a:endParaRPr lang="en-US" smtClean="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40642" name="Rectangle 2"/>
          <p:cNvSpPr>
            <a:spLocks noGrp="1" noChangeArrowheads="1"/>
          </p:cNvSpPr>
          <p:nvPr>
            <p:ph idx="1"/>
          </p:nvPr>
        </p:nvSpPr>
        <p:spPr>
          <a:xfrm>
            <a:off x="685800" y="152400"/>
            <a:ext cx="8229600" cy="5715000"/>
          </a:xfrm>
        </p:spPr>
        <p:txBody>
          <a:bodyPr/>
          <a:lstStyle/>
          <a:p>
            <a:pPr eaLnBrk="1" hangingPunct="1">
              <a:lnSpc>
                <a:spcPct val="90000"/>
              </a:lnSpc>
              <a:buFont typeface="Monotype Sorts" pitchFamily="2" charset="2"/>
              <a:buNone/>
            </a:pPr>
            <a:r>
              <a:rPr lang="en-US" sz="3600" b="1" smtClean="0">
                <a:solidFill>
                  <a:schemeClr val="tx2"/>
                </a:solidFill>
              </a:rPr>
              <a:t>Physical Methods of Microbial </a:t>
            </a:r>
          </a:p>
          <a:p>
            <a:pPr eaLnBrk="1" hangingPunct="1">
              <a:lnSpc>
                <a:spcPct val="90000"/>
              </a:lnSpc>
              <a:buFont typeface="Monotype Sorts" pitchFamily="2" charset="2"/>
              <a:buNone/>
            </a:pPr>
            <a:r>
              <a:rPr lang="en-US" sz="3600" b="1" smtClean="0">
                <a:solidFill>
                  <a:schemeClr val="tx2"/>
                </a:solidFill>
              </a:rPr>
              <a:t>Control:</a:t>
            </a:r>
          </a:p>
          <a:p>
            <a:pPr eaLnBrk="1" hangingPunct="1">
              <a:lnSpc>
                <a:spcPct val="90000"/>
              </a:lnSpc>
              <a:buFont typeface="Monotype Sorts" pitchFamily="2" charset="2"/>
              <a:buNone/>
            </a:pPr>
            <a:r>
              <a:rPr lang="en-US" sz="2800" b="1" smtClean="0"/>
              <a:t>	Low Temperature: </a:t>
            </a:r>
            <a:r>
              <a:rPr lang="en-US" sz="2800" smtClean="0"/>
              <a:t>Effect depends on microbe and treatment applied.</a:t>
            </a:r>
            <a:endParaRPr lang="en-US" sz="2400" smtClean="0"/>
          </a:p>
          <a:p>
            <a:pPr eaLnBrk="1" hangingPunct="1">
              <a:lnSpc>
                <a:spcPct val="110000"/>
              </a:lnSpc>
              <a:buFont typeface="Arial" charset="0"/>
              <a:buNone/>
            </a:pPr>
            <a:r>
              <a:rPr lang="en-US" sz="2400" smtClean="0"/>
              <a:t> </a:t>
            </a:r>
            <a:r>
              <a:rPr lang="en-US" sz="2800" b="1" smtClean="0"/>
              <a:t>Refrigeration:</a:t>
            </a:r>
            <a:r>
              <a:rPr lang="en-US" sz="2800" smtClean="0"/>
              <a:t> Temperatures from 0 to 7</a:t>
            </a:r>
            <a:r>
              <a:rPr lang="en-US" sz="2800" baseline="30000" smtClean="0"/>
              <a:t>o</a:t>
            </a:r>
            <a:r>
              <a:rPr lang="en-US" sz="2800" smtClean="0"/>
              <a:t>C.  </a:t>
            </a:r>
            <a:r>
              <a:rPr lang="en-US" sz="2800" b="1" smtClean="0"/>
              <a:t>Bacteriostatic</a:t>
            </a:r>
            <a:r>
              <a:rPr lang="en-US" sz="2800" smtClean="0"/>
              <a:t> </a:t>
            </a:r>
            <a:r>
              <a:rPr lang="en-US" sz="2800" b="1" smtClean="0"/>
              <a:t>effect</a:t>
            </a:r>
            <a:r>
              <a:rPr lang="en-US" sz="2800" smtClean="0"/>
              <a:t>.  R</a:t>
            </a:r>
            <a:r>
              <a:rPr lang="en-US" smtClean="0"/>
              <a:t>educes metabolic rate of most microbes so they cannot reproduce or produce toxins.</a:t>
            </a:r>
            <a:endParaRPr lang="en-US" sz="2800" smtClean="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240642">
                                            <p:txEl>
                                              <p:pRg st="0" end="0"/>
                                            </p:txEl>
                                          </p:spTgt>
                                        </p:tgtEl>
                                        <p:attrNameLst>
                                          <p:attrName>style.visibility</p:attrName>
                                        </p:attrNameLst>
                                      </p:cBhvr>
                                      <p:to>
                                        <p:strVal val="visible"/>
                                      </p:to>
                                    </p:set>
                                    <p:anim calcmode="lin" valueType="num">
                                      <p:cBhvr additive="base">
                                        <p:cTn id="7" dur="500" fill="hold"/>
                                        <p:tgtEl>
                                          <p:spTgt spid="240642">
                                            <p:txEl>
                                              <p:pRg st="0" end="0"/>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240642">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240642">
                                            <p:txEl>
                                              <p:pRg st="1" end="1"/>
                                            </p:txEl>
                                          </p:spTgt>
                                        </p:tgtEl>
                                        <p:attrNameLst>
                                          <p:attrName>style.visibility</p:attrName>
                                        </p:attrNameLst>
                                      </p:cBhvr>
                                      <p:to>
                                        <p:strVal val="visible"/>
                                      </p:to>
                                    </p:set>
                                    <p:anim calcmode="lin" valueType="num">
                                      <p:cBhvr additive="base">
                                        <p:cTn id="13" dur="500" fill="hold"/>
                                        <p:tgtEl>
                                          <p:spTgt spid="240642">
                                            <p:txEl>
                                              <p:pRg st="1" end="1"/>
                                            </p:txEl>
                                          </p:spTgt>
                                        </p:tgtEl>
                                        <p:attrNameLst>
                                          <p:attrName>ppt_x</p:attrName>
                                        </p:attrNameLst>
                                      </p:cBhvr>
                                      <p:tavLst>
                                        <p:tav tm="0">
                                          <p:val>
                                            <p:strVal val="0-#ppt_w/2"/>
                                          </p:val>
                                        </p:tav>
                                        <p:tav tm="100000">
                                          <p:val>
                                            <p:strVal val="#ppt_x"/>
                                          </p:val>
                                        </p:tav>
                                      </p:tavLst>
                                    </p:anim>
                                    <p:anim calcmode="lin" valueType="num">
                                      <p:cBhvr additive="base">
                                        <p:cTn id="14" dur="500" fill="hold"/>
                                        <p:tgtEl>
                                          <p:spTgt spid="240642">
                                            <p:txEl>
                                              <p:pRg st="1" end="1"/>
                                            </p:txEl>
                                          </p:spTgt>
                                        </p:tgtEl>
                                        <p:attrNameLst>
                                          <p:attrName>ppt_y</p:attrName>
                                        </p:attrNameLst>
                                      </p:cBhvr>
                                      <p:tavLst>
                                        <p:tav tm="0">
                                          <p:val>
                                            <p:strVal val="#ppt_y"/>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8" fill="hold" grpId="0" nodeType="clickEffect">
                                  <p:stCondLst>
                                    <p:cond delay="0"/>
                                  </p:stCondLst>
                                  <p:childTnLst>
                                    <p:set>
                                      <p:cBhvr>
                                        <p:cTn id="18" dur="1" fill="hold">
                                          <p:stCondLst>
                                            <p:cond delay="0"/>
                                          </p:stCondLst>
                                        </p:cTn>
                                        <p:tgtEl>
                                          <p:spTgt spid="240642">
                                            <p:txEl>
                                              <p:pRg st="2" end="2"/>
                                            </p:txEl>
                                          </p:spTgt>
                                        </p:tgtEl>
                                        <p:attrNameLst>
                                          <p:attrName>style.visibility</p:attrName>
                                        </p:attrNameLst>
                                      </p:cBhvr>
                                      <p:to>
                                        <p:strVal val="visible"/>
                                      </p:to>
                                    </p:set>
                                    <p:anim calcmode="lin" valueType="num">
                                      <p:cBhvr additive="base">
                                        <p:cTn id="19" dur="500" fill="hold"/>
                                        <p:tgtEl>
                                          <p:spTgt spid="240642">
                                            <p:txEl>
                                              <p:pRg st="2" end="2"/>
                                            </p:txEl>
                                          </p:spTgt>
                                        </p:tgtEl>
                                        <p:attrNameLst>
                                          <p:attrName>ppt_x</p:attrName>
                                        </p:attrNameLst>
                                      </p:cBhvr>
                                      <p:tavLst>
                                        <p:tav tm="0">
                                          <p:val>
                                            <p:strVal val="0-#ppt_w/2"/>
                                          </p:val>
                                        </p:tav>
                                        <p:tav tm="100000">
                                          <p:val>
                                            <p:strVal val="#ppt_x"/>
                                          </p:val>
                                        </p:tav>
                                      </p:tavLst>
                                    </p:anim>
                                    <p:anim calcmode="lin" valueType="num">
                                      <p:cBhvr additive="base">
                                        <p:cTn id="20" dur="500" fill="hold"/>
                                        <p:tgtEl>
                                          <p:spTgt spid="240642">
                                            <p:txEl>
                                              <p:pRg st="2" end="2"/>
                                            </p:txEl>
                                          </p:spTgt>
                                        </p:tgtEl>
                                        <p:attrNameLst>
                                          <p:attrName>ppt_y</p:attrName>
                                        </p:attrNameLst>
                                      </p:cBhvr>
                                      <p:tavLst>
                                        <p:tav tm="0">
                                          <p:val>
                                            <p:strVal val="#ppt_y"/>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8" fill="hold" grpId="0" nodeType="clickEffect">
                                  <p:stCondLst>
                                    <p:cond delay="0"/>
                                  </p:stCondLst>
                                  <p:childTnLst>
                                    <p:set>
                                      <p:cBhvr>
                                        <p:cTn id="24" dur="1" fill="hold">
                                          <p:stCondLst>
                                            <p:cond delay="0"/>
                                          </p:stCondLst>
                                        </p:cTn>
                                        <p:tgtEl>
                                          <p:spTgt spid="240642">
                                            <p:txEl>
                                              <p:pRg st="3" end="3"/>
                                            </p:txEl>
                                          </p:spTgt>
                                        </p:tgtEl>
                                        <p:attrNameLst>
                                          <p:attrName>style.visibility</p:attrName>
                                        </p:attrNameLst>
                                      </p:cBhvr>
                                      <p:to>
                                        <p:strVal val="visible"/>
                                      </p:to>
                                    </p:set>
                                    <p:anim calcmode="lin" valueType="num">
                                      <p:cBhvr additive="base">
                                        <p:cTn id="25" dur="500" fill="hold"/>
                                        <p:tgtEl>
                                          <p:spTgt spid="240642">
                                            <p:txEl>
                                              <p:pRg st="3" end="3"/>
                                            </p:txEl>
                                          </p:spTgt>
                                        </p:tgtEl>
                                        <p:attrNameLst>
                                          <p:attrName>ppt_x</p:attrName>
                                        </p:attrNameLst>
                                      </p:cBhvr>
                                      <p:tavLst>
                                        <p:tav tm="0">
                                          <p:val>
                                            <p:strVal val="0-#ppt_w/2"/>
                                          </p:val>
                                        </p:tav>
                                        <p:tav tm="100000">
                                          <p:val>
                                            <p:strVal val="#ppt_x"/>
                                          </p:val>
                                        </p:tav>
                                      </p:tavLst>
                                    </p:anim>
                                    <p:anim calcmode="lin" valueType="num">
                                      <p:cBhvr additive="base">
                                        <p:cTn id="26" dur="500" fill="hold"/>
                                        <p:tgtEl>
                                          <p:spTgt spid="240642">
                                            <p:txEl>
                                              <p:pRg st="3" end="3"/>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0642" grpId="0" build="p" bldLvl="3" autoUpdateAnimBg="0"/>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Title 1"/>
          <p:cNvSpPr>
            <a:spLocks noGrp="1"/>
          </p:cNvSpPr>
          <p:nvPr>
            <p:ph type="title"/>
          </p:nvPr>
        </p:nvSpPr>
        <p:spPr/>
        <p:txBody>
          <a:bodyPr/>
          <a:lstStyle/>
          <a:p>
            <a:endParaRPr lang="en-US" smtClean="0"/>
          </a:p>
        </p:txBody>
      </p:sp>
      <p:sp>
        <p:nvSpPr>
          <p:cNvPr id="46083" name="Content Placeholder 2"/>
          <p:cNvSpPr>
            <a:spLocks noGrp="1"/>
          </p:cNvSpPr>
          <p:nvPr>
            <p:ph idx="1"/>
          </p:nvPr>
        </p:nvSpPr>
        <p:spPr/>
        <p:txBody>
          <a:bodyPr/>
          <a:lstStyle/>
          <a:p>
            <a:pPr eaLnBrk="1" hangingPunct="1">
              <a:lnSpc>
                <a:spcPct val="110000"/>
              </a:lnSpc>
              <a:buFont typeface="Arial" charset="0"/>
              <a:buNone/>
            </a:pPr>
            <a:r>
              <a:rPr lang="en-US" sz="3600" b="1" smtClean="0"/>
              <a:t>Freezing</a:t>
            </a:r>
            <a:r>
              <a:rPr lang="en-US" sz="3600" smtClean="0"/>
              <a:t>: Temperatures below 0</a:t>
            </a:r>
            <a:r>
              <a:rPr lang="en-US" baseline="30000" smtClean="0"/>
              <a:t>o</a:t>
            </a:r>
            <a:r>
              <a:rPr lang="en-US" smtClean="0"/>
              <a:t>C.  </a:t>
            </a:r>
          </a:p>
          <a:p>
            <a:pPr lvl="1" eaLnBrk="1" hangingPunct="1">
              <a:lnSpc>
                <a:spcPct val="90000"/>
              </a:lnSpc>
              <a:buFont typeface="Arial" charset="0"/>
              <a:buNone/>
            </a:pPr>
            <a:r>
              <a:rPr lang="en-US" sz="3200" b="1" smtClean="0"/>
              <a:t>Flash Freezing</a:t>
            </a:r>
            <a:r>
              <a:rPr lang="en-US" sz="3200" smtClean="0"/>
              <a:t>: Does not kill most microbes.</a:t>
            </a:r>
          </a:p>
          <a:p>
            <a:pPr lvl="1" eaLnBrk="1" hangingPunct="1">
              <a:lnSpc>
                <a:spcPct val="90000"/>
              </a:lnSpc>
              <a:buFont typeface="Arial" charset="0"/>
              <a:buNone/>
            </a:pPr>
            <a:r>
              <a:rPr lang="en-US" sz="3200" b="1" smtClean="0"/>
              <a:t>Slow Freezing</a:t>
            </a:r>
            <a:r>
              <a:rPr lang="en-US" sz="3200" smtClean="0"/>
              <a:t>: More harmful because ice crystals disrupt cell structure. </a:t>
            </a:r>
          </a:p>
          <a:p>
            <a:pPr lvl="1" eaLnBrk="1" hangingPunct="1">
              <a:lnSpc>
                <a:spcPct val="90000"/>
              </a:lnSpc>
              <a:buFont typeface="Arial" charset="0"/>
              <a:buNone/>
            </a:pPr>
            <a:r>
              <a:rPr lang="en-US" sz="3200" smtClean="0"/>
              <a:t> Over a third of vegetative bacteria may survive 1 year.</a:t>
            </a:r>
          </a:p>
          <a:p>
            <a:pPr lvl="1" eaLnBrk="1" hangingPunct="1">
              <a:lnSpc>
                <a:spcPct val="90000"/>
              </a:lnSpc>
              <a:buFont typeface="Arial" charset="0"/>
              <a:buNone/>
            </a:pPr>
            <a:r>
              <a:rPr lang="en-US" sz="3200" smtClean="0"/>
              <a:t> Most parasites are killed by a few days of freezing.</a:t>
            </a:r>
            <a:endParaRPr lang="en-US" smtClean="0"/>
          </a:p>
          <a:p>
            <a:endParaRPr lang="en-US" smtClean="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41666" name="Rectangle 2"/>
          <p:cNvSpPr>
            <a:spLocks noGrp="1" noChangeArrowheads="1"/>
          </p:cNvSpPr>
          <p:nvPr>
            <p:ph idx="1"/>
          </p:nvPr>
        </p:nvSpPr>
        <p:spPr>
          <a:xfrm>
            <a:off x="685800" y="152400"/>
            <a:ext cx="8229600" cy="5715000"/>
          </a:xfrm>
        </p:spPr>
        <p:txBody>
          <a:bodyPr/>
          <a:lstStyle/>
          <a:p>
            <a:pPr eaLnBrk="1" hangingPunct="1">
              <a:buFont typeface="Monotype Sorts" pitchFamily="2" charset="2"/>
              <a:buNone/>
            </a:pPr>
            <a:r>
              <a:rPr lang="en-US" sz="3600" b="1" smtClean="0">
                <a:solidFill>
                  <a:schemeClr val="tx2"/>
                </a:solidFill>
              </a:rPr>
              <a:t>Physical Methods of Microbial </a:t>
            </a:r>
          </a:p>
          <a:p>
            <a:pPr eaLnBrk="1" hangingPunct="1">
              <a:buFont typeface="Monotype Sorts" pitchFamily="2" charset="2"/>
              <a:buNone/>
            </a:pPr>
            <a:r>
              <a:rPr lang="en-US" sz="3600" b="1" smtClean="0">
                <a:solidFill>
                  <a:schemeClr val="tx2"/>
                </a:solidFill>
              </a:rPr>
              <a:t>Control:</a:t>
            </a:r>
          </a:p>
          <a:p>
            <a:pPr eaLnBrk="1" hangingPunct="1">
              <a:buFont typeface="Monotype Sorts" pitchFamily="2" charset="2"/>
              <a:buNone/>
            </a:pPr>
            <a:r>
              <a:rPr lang="en-US" sz="2800" b="1" smtClean="0"/>
              <a:t>	Dessication: </a:t>
            </a:r>
            <a:r>
              <a:rPr lang="en-US" sz="2800" smtClean="0"/>
              <a:t>In the absence of water, microbes cannot grow or reproduce, but some may remain viable for years.  After water becomes available, they start growing again.</a:t>
            </a:r>
          </a:p>
          <a:p>
            <a:pPr eaLnBrk="1" hangingPunct="1">
              <a:buFont typeface="Monotype Sorts" pitchFamily="2" charset="2"/>
              <a:buNone/>
            </a:pPr>
            <a:r>
              <a:rPr lang="en-US" sz="2800" smtClean="0"/>
              <a:t>	Susceptibility to dessication varies widely:</a:t>
            </a:r>
            <a:endParaRPr lang="en-US" sz="2400" smtClean="0"/>
          </a:p>
          <a:p>
            <a:pPr eaLnBrk="1" hangingPunct="1">
              <a:lnSpc>
                <a:spcPct val="110000"/>
              </a:lnSpc>
              <a:buFont typeface="Arial" charset="0"/>
              <a:buNone/>
            </a:pPr>
            <a:r>
              <a:rPr lang="en-US" sz="2400" b="1" i="1" smtClean="0"/>
              <a:t>Neisseria gonnorrhea</a:t>
            </a:r>
            <a:r>
              <a:rPr lang="en-US" sz="2400" smtClean="0"/>
              <a:t>: Only survives about one hour.</a:t>
            </a:r>
          </a:p>
          <a:p>
            <a:pPr eaLnBrk="1" hangingPunct="1">
              <a:lnSpc>
                <a:spcPct val="110000"/>
              </a:lnSpc>
              <a:buFont typeface="Arial" charset="0"/>
              <a:buNone/>
            </a:pPr>
            <a:r>
              <a:rPr lang="en-US" sz="2400" b="1" i="1" smtClean="0"/>
              <a:t>Mycobacterium tuberculosis</a:t>
            </a:r>
            <a:r>
              <a:rPr lang="en-US" sz="2400" smtClean="0"/>
              <a:t>: May survive several months.</a:t>
            </a:r>
          </a:p>
          <a:p>
            <a:pPr eaLnBrk="1" hangingPunct="1">
              <a:lnSpc>
                <a:spcPct val="110000"/>
              </a:lnSpc>
              <a:buFont typeface="Arial" charset="0"/>
              <a:buNone/>
            </a:pPr>
            <a:r>
              <a:rPr lang="en-US" sz="2400" smtClean="0"/>
              <a:t>Viruses are fairly resistant to dessication.</a:t>
            </a:r>
          </a:p>
          <a:p>
            <a:pPr eaLnBrk="1" hangingPunct="1">
              <a:lnSpc>
                <a:spcPct val="110000"/>
              </a:lnSpc>
              <a:buFont typeface="Arial" charset="0"/>
              <a:buNone/>
            </a:pPr>
            <a:r>
              <a:rPr lang="en-US" sz="2400" b="1" i="1" smtClean="0"/>
              <a:t>Clostridium spp</a:t>
            </a:r>
            <a:r>
              <a:rPr lang="en-US" sz="2400" smtClean="0"/>
              <a:t>. and </a:t>
            </a:r>
            <a:r>
              <a:rPr lang="en-US" sz="2400" b="1" i="1" smtClean="0"/>
              <a:t>Bacillus spp</a:t>
            </a:r>
            <a:r>
              <a:rPr lang="en-US" sz="2400" smtClean="0"/>
              <a:t>.: May survive decades.</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241666">
                                            <p:txEl>
                                              <p:pRg st="0" end="0"/>
                                            </p:txEl>
                                          </p:spTgt>
                                        </p:tgtEl>
                                        <p:attrNameLst>
                                          <p:attrName>style.visibility</p:attrName>
                                        </p:attrNameLst>
                                      </p:cBhvr>
                                      <p:to>
                                        <p:strVal val="visible"/>
                                      </p:to>
                                    </p:set>
                                    <p:anim calcmode="lin" valueType="num">
                                      <p:cBhvr additive="base">
                                        <p:cTn id="7" dur="500" fill="hold"/>
                                        <p:tgtEl>
                                          <p:spTgt spid="241666">
                                            <p:txEl>
                                              <p:pRg st="0" end="0"/>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241666">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241666">
                                            <p:txEl>
                                              <p:pRg st="1" end="1"/>
                                            </p:txEl>
                                          </p:spTgt>
                                        </p:tgtEl>
                                        <p:attrNameLst>
                                          <p:attrName>style.visibility</p:attrName>
                                        </p:attrNameLst>
                                      </p:cBhvr>
                                      <p:to>
                                        <p:strVal val="visible"/>
                                      </p:to>
                                    </p:set>
                                    <p:anim calcmode="lin" valueType="num">
                                      <p:cBhvr additive="base">
                                        <p:cTn id="13" dur="500" fill="hold"/>
                                        <p:tgtEl>
                                          <p:spTgt spid="241666">
                                            <p:txEl>
                                              <p:pRg st="1" end="1"/>
                                            </p:txEl>
                                          </p:spTgt>
                                        </p:tgtEl>
                                        <p:attrNameLst>
                                          <p:attrName>ppt_x</p:attrName>
                                        </p:attrNameLst>
                                      </p:cBhvr>
                                      <p:tavLst>
                                        <p:tav tm="0">
                                          <p:val>
                                            <p:strVal val="0-#ppt_w/2"/>
                                          </p:val>
                                        </p:tav>
                                        <p:tav tm="100000">
                                          <p:val>
                                            <p:strVal val="#ppt_x"/>
                                          </p:val>
                                        </p:tav>
                                      </p:tavLst>
                                    </p:anim>
                                    <p:anim calcmode="lin" valueType="num">
                                      <p:cBhvr additive="base">
                                        <p:cTn id="14" dur="500" fill="hold"/>
                                        <p:tgtEl>
                                          <p:spTgt spid="241666">
                                            <p:txEl>
                                              <p:pRg st="1" end="1"/>
                                            </p:txEl>
                                          </p:spTgt>
                                        </p:tgtEl>
                                        <p:attrNameLst>
                                          <p:attrName>ppt_y</p:attrName>
                                        </p:attrNameLst>
                                      </p:cBhvr>
                                      <p:tavLst>
                                        <p:tav tm="0">
                                          <p:val>
                                            <p:strVal val="#ppt_y"/>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8" fill="hold" grpId="0" nodeType="clickEffect">
                                  <p:stCondLst>
                                    <p:cond delay="0"/>
                                  </p:stCondLst>
                                  <p:childTnLst>
                                    <p:set>
                                      <p:cBhvr>
                                        <p:cTn id="18" dur="1" fill="hold">
                                          <p:stCondLst>
                                            <p:cond delay="0"/>
                                          </p:stCondLst>
                                        </p:cTn>
                                        <p:tgtEl>
                                          <p:spTgt spid="241666">
                                            <p:txEl>
                                              <p:pRg st="2" end="2"/>
                                            </p:txEl>
                                          </p:spTgt>
                                        </p:tgtEl>
                                        <p:attrNameLst>
                                          <p:attrName>style.visibility</p:attrName>
                                        </p:attrNameLst>
                                      </p:cBhvr>
                                      <p:to>
                                        <p:strVal val="visible"/>
                                      </p:to>
                                    </p:set>
                                    <p:anim calcmode="lin" valueType="num">
                                      <p:cBhvr additive="base">
                                        <p:cTn id="19" dur="500" fill="hold"/>
                                        <p:tgtEl>
                                          <p:spTgt spid="241666">
                                            <p:txEl>
                                              <p:pRg st="2" end="2"/>
                                            </p:txEl>
                                          </p:spTgt>
                                        </p:tgtEl>
                                        <p:attrNameLst>
                                          <p:attrName>ppt_x</p:attrName>
                                        </p:attrNameLst>
                                      </p:cBhvr>
                                      <p:tavLst>
                                        <p:tav tm="0">
                                          <p:val>
                                            <p:strVal val="0-#ppt_w/2"/>
                                          </p:val>
                                        </p:tav>
                                        <p:tav tm="100000">
                                          <p:val>
                                            <p:strVal val="#ppt_x"/>
                                          </p:val>
                                        </p:tav>
                                      </p:tavLst>
                                    </p:anim>
                                    <p:anim calcmode="lin" valueType="num">
                                      <p:cBhvr additive="base">
                                        <p:cTn id="20" dur="500" fill="hold"/>
                                        <p:tgtEl>
                                          <p:spTgt spid="241666">
                                            <p:txEl>
                                              <p:pRg st="2" end="2"/>
                                            </p:txEl>
                                          </p:spTgt>
                                        </p:tgtEl>
                                        <p:attrNameLst>
                                          <p:attrName>ppt_y</p:attrName>
                                        </p:attrNameLst>
                                      </p:cBhvr>
                                      <p:tavLst>
                                        <p:tav tm="0">
                                          <p:val>
                                            <p:strVal val="#ppt_y"/>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8" fill="hold" grpId="0" nodeType="clickEffect">
                                  <p:stCondLst>
                                    <p:cond delay="0"/>
                                  </p:stCondLst>
                                  <p:childTnLst>
                                    <p:set>
                                      <p:cBhvr>
                                        <p:cTn id="24" dur="1" fill="hold">
                                          <p:stCondLst>
                                            <p:cond delay="0"/>
                                          </p:stCondLst>
                                        </p:cTn>
                                        <p:tgtEl>
                                          <p:spTgt spid="241666">
                                            <p:txEl>
                                              <p:pRg st="3" end="3"/>
                                            </p:txEl>
                                          </p:spTgt>
                                        </p:tgtEl>
                                        <p:attrNameLst>
                                          <p:attrName>style.visibility</p:attrName>
                                        </p:attrNameLst>
                                      </p:cBhvr>
                                      <p:to>
                                        <p:strVal val="visible"/>
                                      </p:to>
                                    </p:set>
                                    <p:anim calcmode="lin" valueType="num">
                                      <p:cBhvr additive="base">
                                        <p:cTn id="25" dur="500" fill="hold"/>
                                        <p:tgtEl>
                                          <p:spTgt spid="241666">
                                            <p:txEl>
                                              <p:pRg st="3" end="3"/>
                                            </p:txEl>
                                          </p:spTgt>
                                        </p:tgtEl>
                                        <p:attrNameLst>
                                          <p:attrName>ppt_x</p:attrName>
                                        </p:attrNameLst>
                                      </p:cBhvr>
                                      <p:tavLst>
                                        <p:tav tm="0">
                                          <p:val>
                                            <p:strVal val="0-#ppt_w/2"/>
                                          </p:val>
                                        </p:tav>
                                        <p:tav tm="100000">
                                          <p:val>
                                            <p:strVal val="#ppt_x"/>
                                          </p:val>
                                        </p:tav>
                                      </p:tavLst>
                                    </p:anim>
                                    <p:anim calcmode="lin" valueType="num">
                                      <p:cBhvr additive="base">
                                        <p:cTn id="26" dur="500" fill="hold"/>
                                        <p:tgtEl>
                                          <p:spTgt spid="241666">
                                            <p:txEl>
                                              <p:pRg st="3" end="3"/>
                                            </p:txEl>
                                          </p:spTgt>
                                        </p:tgtEl>
                                        <p:attrNameLst>
                                          <p:attrName>ppt_y</p:attrName>
                                        </p:attrNameLst>
                                      </p:cBhvr>
                                      <p:tavLst>
                                        <p:tav tm="0">
                                          <p:val>
                                            <p:strVal val="#ppt_y"/>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8" fill="hold" grpId="0" nodeType="clickEffect">
                                  <p:stCondLst>
                                    <p:cond delay="0"/>
                                  </p:stCondLst>
                                  <p:childTnLst>
                                    <p:set>
                                      <p:cBhvr>
                                        <p:cTn id="30" dur="1" fill="hold">
                                          <p:stCondLst>
                                            <p:cond delay="0"/>
                                          </p:stCondLst>
                                        </p:cTn>
                                        <p:tgtEl>
                                          <p:spTgt spid="241666">
                                            <p:txEl>
                                              <p:pRg st="4" end="4"/>
                                            </p:txEl>
                                          </p:spTgt>
                                        </p:tgtEl>
                                        <p:attrNameLst>
                                          <p:attrName>style.visibility</p:attrName>
                                        </p:attrNameLst>
                                      </p:cBhvr>
                                      <p:to>
                                        <p:strVal val="visible"/>
                                      </p:to>
                                    </p:set>
                                    <p:anim calcmode="lin" valueType="num">
                                      <p:cBhvr additive="base">
                                        <p:cTn id="31" dur="500" fill="hold"/>
                                        <p:tgtEl>
                                          <p:spTgt spid="241666">
                                            <p:txEl>
                                              <p:pRg st="4" end="4"/>
                                            </p:txEl>
                                          </p:spTgt>
                                        </p:tgtEl>
                                        <p:attrNameLst>
                                          <p:attrName>ppt_x</p:attrName>
                                        </p:attrNameLst>
                                      </p:cBhvr>
                                      <p:tavLst>
                                        <p:tav tm="0">
                                          <p:val>
                                            <p:strVal val="0-#ppt_w/2"/>
                                          </p:val>
                                        </p:tav>
                                        <p:tav tm="100000">
                                          <p:val>
                                            <p:strVal val="#ppt_x"/>
                                          </p:val>
                                        </p:tav>
                                      </p:tavLst>
                                    </p:anim>
                                    <p:anim calcmode="lin" valueType="num">
                                      <p:cBhvr additive="base">
                                        <p:cTn id="32" dur="500" fill="hold"/>
                                        <p:tgtEl>
                                          <p:spTgt spid="241666">
                                            <p:txEl>
                                              <p:pRg st="4" end="4"/>
                                            </p:txEl>
                                          </p:spTgt>
                                        </p:tgtEl>
                                        <p:attrNameLst>
                                          <p:attrName>ppt_y</p:attrName>
                                        </p:attrNameLst>
                                      </p:cBhvr>
                                      <p:tavLst>
                                        <p:tav tm="0">
                                          <p:val>
                                            <p:strVal val="#ppt_y"/>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8" fill="hold" grpId="0" nodeType="clickEffect">
                                  <p:stCondLst>
                                    <p:cond delay="0"/>
                                  </p:stCondLst>
                                  <p:childTnLst>
                                    <p:set>
                                      <p:cBhvr>
                                        <p:cTn id="36" dur="1" fill="hold">
                                          <p:stCondLst>
                                            <p:cond delay="0"/>
                                          </p:stCondLst>
                                        </p:cTn>
                                        <p:tgtEl>
                                          <p:spTgt spid="241666">
                                            <p:txEl>
                                              <p:pRg st="5" end="5"/>
                                            </p:txEl>
                                          </p:spTgt>
                                        </p:tgtEl>
                                        <p:attrNameLst>
                                          <p:attrName>style.visibility</p:attrName>
                                        </p:attrNameLst>
                                      </p:cBhvr>
                                      <p:to>
                                        <p:strVal val="visible"/>
                                      </p:to>
                                    </p:set>
                                    <p:anim calcmode="lin" valueType="num">
                                      <p:cBhvr additive="base">
                                        <p:cTn id="37" dur="500" fill="hold"/>
                                        <p:tgtEl>
                                          <p:spTgt spid="241666">
                                            <p:txEl>
                                              <p:pRg st="5" end="5"/>
                                            </p:txEl>
                                          </p:spTgt>
                                        </p:tgtEl>
                                        <p:attrNameLst>
                                          <p:attrName>ppt_x</p:attrName>
                                        </p:attrNameLst>
                                      </p:cBhvr>
                                      <p:tavLst>
                                        <p:tav tm="0">
                                          <p:val>
                                            <p:strVal val="0-#ppt_w/2"/>
                                          </p:val>
                                        </p:tav>
                                        <p:tav tm="100000">
                                          <p:val>
                                            <p:strVal val="#ppt_x"/>
                                          </p:val>
                                        </p:tav>
                                      </p:tavLst>
                                    </p:anim>
                                    <p:anim calcmode="lin" valueType="num">
                                      <p:cBhvr additive="base">
                                        <p:cTn id="38" dur="500" fill="hold"/>
                                        <p:tgtEl>
                                          <p:spTgt spid="241666">
                                            <p:txEl>
                                              <p:pRg st="5" end="5"/>
                                            </p:txEl>
                                          </p:spTgt>
                                        </p:tgtEl>
                                        <p:attrNameLst>
                                          <p:attrName>ppt_y</p:attrName>
                                        </p:attrNameLst>
                                      </p:cBhvr>
                                      <p:tavLst>
                                        <p:tav tm="0">
                                          <p:val>
                                            <p:strVal val="#ppt_y"/>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2" presetClass="entr" presetSubtype="8" fill="hold" grpId="0" nodeType="clickEffect">
                                  <p:stCondLst>
                                    <p:cond delay="0"/>
                                  </p:stCondLst>
                                  <p:childTnLst>
                                    <p:set>
                                      <p:cBhvr>
                                        <p:cTn id="42" dur="1" fill="hold">
                                          <p:stCondLst>
                                            <p:cond delay="0"/>
                                          </p:stCondLst>
                                        </p:cTn>
                                        <p:tgtEl>
                                          <p:spTgt spid="241666">
                                            <p:txEl>
                                              <p:pRg st="6" end="6"/>
                                            </p:txEl>
                                          </p:spTgt>
                                        </p:tgtEl>
                                        <p:attrNameLst>
                                          <p:attrName>style.visibility</p:attrName>
                                        </p:attrNameLst>
                                      </p:cBhvr>
                                      <p:to>
                                        <p:strVal val="visible"/>
                                      </p:to>
                                    </p:set>
                                    <p:anim calcmode="lin" valueType="num">
                                      <p:cBhvr additive="base">
                                        <p:cTn id="43" dur="500" fill="hold"/>
                                        <p:tgtEl>
                                          <p:spTgt spid="241666">
                                            <p:txEl>
                                              <p:pRg st="6" end="6"/>
                                            </p:txEl>
                                          </p:spTgt>
                                        </p:tgtEl>
                                        <p:attrNameLst>
                                          <p:attrName>ppt_x</p:attrName>
                                        </p:attrNameLst>
                                      </p:cBhvr>
                                      <p:tavLst>
                                        <p:tav tm="0">
                                          <p:val>
                                            <p:strVal val="0-#ppt_w/2"/>
                                          </p:val>
                                        </p:tav>
                                        <p:tav tm="100000">
                                          <p:val>
                                            <p:strVal val="#ppt_x"/>
                                          </p:val>
                                        </p:tav>
                                      </p:tavLst>
                                    </p:anim>
                                    <p:anim calcmode="lin" valueType="num">
                                      <p:cBhvr additive="base">
                                        <p:cTn id="44" dur="500" fill="hold"/>
                                        <p:tgtEl>
                                          <p:spTgt spid="241666">
                                            <p:txEl>
                                              <p:pRg st="6" end="6"/>
                                            </p:txEl>
                                          </p:spTgt>
                                        </p:tgtEl>
                                        <p:attrNameLst>
                                          <p:attrName>ppt_y</p:attrName>
                                        </p:attrNameLst>
                                      </p:cBhvr>
                                      <p:tavLst>
                                        <p:tav tm="0">
                                          <p:val>
                                            <p:strVal val="#ppt_y"/>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2" presetClass="entr" presetSubtype="8" fill="hold" grpId="0" nodeType="clickEffect">
                                  <p:stCondLst>
                                    <p:cond delay="0"/>
                                  </p:stCondLst>
                                  <p:childTnLst>
                                    <p:set>
                                      <p:cBhvr>
                                        <p:cTn id="48" dur="1" fill="hold">
                                          <p:stCondLst>
                                            <p:cond delay="0"/>
                                          </p:stCondLst>
                                        </p:cTn>
                                        <p:tgtEl>
                                          <p:spTgt spid="241666">
                                            <p:txEl>
                                              <p:pRg st="7" end="7"/>
                                            </p:txEl>
                                          </p:spTgt>
                                        </p:tgtEl>
                                        <p:attrNameLst>
                                          <p:attrName>style.visibility</p:attrName>
                                        </p:attrNameLst>
                                      </p:cBhvr>
                                      <p:to>
                                        <p:strVal val="visible"/>
                                      </p:to>
                                    </p:set>
                                    <p:anim calcmode="lin" valueType="num">
                                      <p:cBhvr additive="base">
                                        <p:cTn id="49" dur="500" fill="hold"/>
                                        <p:tgtEl>
                                          <p:spTgt spid="241666">
                                            <p:txEl>
                                              <p:pRg st="7" end="7"/>
                                            </p:txEl>
                                          </p:spTgt>
                                        </p:tgtEl>
                                        <p:attrNameLst>
                                          <p:attrName>ppt_x</p:attrName>
                                        </p:attrNameLst>
                                      </p:cBhvr>
                                      <p:tavLst>
                                        <p:tav tm="0">
                                          <p:val>
                                            <p:strVal val="0-#ppt_w/2"/>
                                          </p:val>
                                        </p:tav>
                                        <p:tav tm="100000">
                                          <p:val>
                                            <p:strVal val="#ppt_x"/>
                                          </p:val>
                                        </p:tav>
                                      </p:tavLst>
                                    </p:anim>
                                    <p:anim calcmode="lin" valueType="num">
                                      <p:cBhvr additive="base">
                                        <p:cTn id="50" dur="500" fill="hold"/>
                                        <p:tgtEl>
                                          <p:spTgt spid="241666">
                                            <p:txEl>
                                              <p:pRg st="7" end="7"/>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1666" grpId="0" build="p" bldLvl="3" autoUpdateAnimBg="0"/>
    </p:bldLst>
  </p:timing>
</p:sld>
</file>

<file path=ppt/slides/slide38.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42690" name="Rectangle 2"/>
          <p:cNvSpPr>
            <a:spLocks noGrp="1" noChangeArrowheads="1"/>
          </p:cNvSpPr>
          <p:nvPr>
            <p:ph idx="1"/>
          </p:nvPr>
        </p:nvSpPr>
        <p:spPr>
          <a:xfrm>
            <a:off x="685800" y="152400"/>
            <a:ext cx="8229600" cy="5715000"/>
          </a:xfrm>
        </p:spPr>
        <p:txBody>
          <a:bodyPr/>
          <a:lstStyle/>
          <a:p>
            <a:pPr eaLnBrk="1" hangingPunct="1">
              <a:lnSpc>
                <a:spcPct val="90000"/>
              </a:lnSpc>
              <a:buFont typeface="Monotype Sorts" pitchFamily="2" charset="2"/>
              <a:buNone/>
            </a:pPr>
            <a:r>
              <a:rPr lang="en-US" sz="3600" b="1" smtClean="0">
                <a:solidFill>
                  <a:schemeClr val="tx2"/>
                </a:solidFill>
              </a:rPr>
              <a:t>Physical Methods of Microbial </a:t>
            </a:r>
          </a:p>
          <a:p>
            <a:pPr eaLnBrk="1" hangingPunct="1">
              <a:lnSpc>
                <a:spcPct val="90000"/>
              </a:lnSpc>
              <a:buFont typeface="Monotype Sorts" pitchFamily="2" charset="2"/>
              <a:buNone/>
            </a:pPr>
            <a:r>
              <a:rPr lang="en-US" sz="3600" b="1" smtClean="0">
                <a:solidFill>
                  <a:schemeClr val="tx2"/>
                </a:solidFill>
              </a:rPr>
              <a:t>Control:</a:t>
            </a:r>
          </a:p>
          <a:p>
            <a:pPr eaLnBrk="1" hangingPunct="1">
              <a:lnSpc>
                <a:spcPct val="90000"/>
              </a:lnSpc>
              <a:buFont typeface="Arial" charset="0"/>
              <a:buNone/>
            </a:pPr>
            <a:r>
              <a:rPr lang="en-US" sz="2800" b="1" smtClean="0"/>
              <a:t>	Osmotic Pressure: </a:t>
            </a:r>
            <a:r>
              <a:rPr lang="en-US" sz="2800" smtClean="0"/>
              <a:t>The use of high concentrations of salts and sugars in foods is used to increase the osmotic pressure and create a </a:t>
            </a:r>
            <a:r>
              <a:rPr lang="en-US" sz="2800" b="1" smtClean="0"/>
              <a:t>hypertonic</a:t>
            </a:r>
            <a:r>
              <a:rPr lang="en-US" sz="2800" smtClean="0"/>
              <a:t> environment.</a:t>
            </a:r>
          </a:p>
          <a:p>
            <a:pPr eaLnBrk="1" hangingPunct="1">
              <a:lnSpc>
                <a:spcPct val="90000"/>
              </a:lnSpc>
              <a:buFont typeface="Arial" charset="0"/>
              <a:buNone/>
            </a:pPr>
            <a:r>
              <a:rPr lang="en-US" sz="2800" smtClean="0"/>
              <a:t>	</a:t>
            </a:r>
            <a:r>
              <a:rPr lang="en-US" sz="2800" b="1" smtClean="0"/>
              <a:t>Plasmolysis</a:t>
            </a:r>
            <a:r>
              <a:rPr lang="en-US" sz="2800" smtClean="0"/>
              <a:t>: As water leaves the cell, plasma membrane shrinks away from cell wall.  Cell may not die, but usually stops growing.</a:t>
            </a:r>
            <a:endParaRPr lang="en-US" sz="2400" smtClean="0"/>
          </a:p>
          <a:p>
            <a:pPr eaLnBrk="1" hangingPunct="1">
              <a:lnSpc>
                <a:spcPct val="110000"/>
              </a:lnSpc>
              <a:buFont typeface="Arial" charset="0"/>
              <a:buNone/>
            </a:pPr>
            <a:r>
              <a:rPr lang="en-US" sz="2400" b="1" smtClean="0"/>
              <a:t>Yeasts and molds:</a:t>
            </a:r>
            <a:r>
              <a:rPr lang="en-US" sz="2400" smtClean="0"/>
              <a:t> More resistant to high osmotic pressures.</a:t>
            </a:r>
          </a:p>
          <a:p>
            <a:pPr eaLnBrk="1" hangingPunct="1">
              <a:lnSpc>
                <a:spcPct val="110000"/>
              </a:lnSpc>
              <a:buFont typeface="Arial" charset="0"/>
              <a:buNone/>
            </a:pPr>
            <a:r>
              <a:rPr lang="en-US" sz="2400" smtClean="0"/>
              <a:t> </a:t>
            </a:r>
            <a:r>
              <a:rPr lang="en-US" sz="2400" b="1" i="1" smtClean="0"/>
              <a:t>Staphylococci spp.</a:t>
            </a:r>
            <a:r>
              <a:rPr lang="en-US" sz="2400" smtClean="0"/>
              <a:t> that live on skin are fairly resistant to high osmotic pressure.</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242690">
                                            <p:txEl>
                                              <p:pRg st="0" end="0"/>
                                            </p:txEl>
                                          </p:spTgt>
                                        </p:tgtEl>
                                        <p:attrNameLst>
                                          <p:attrName>style.visibility</p:attrName>
                                        </p:attrNameLst>
                                      </p:cBhvr>
                                      <p:to>
                                        <p:strVal val="visible"/>
                                      </p:to>
                                    </p:set>
                                    <p:anim calcmode="lin" valueType="num">
                                      <p:cBhvr additive="base">
                                        <p:cTn id="7" dur="500" fill="hold"/>
                                        <p:tgtEl>
                                          <p:spTgt spid="242690">
                                            <p:txEl>
                                              <p:pRg st="0" end="0"/>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242690">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242690">
                                            <p:txEl>
                                              <p:pRg st="1" end="1"/>
                                            </p:txEl>
                                          </p:spTgt>
                                        </p:tgtEl>
                                        <p:attrNameLst>
                                          <p:attrName>style.visibility</p:attrName>
                                        </p:attrNameLst>
                                      </p:cBhvr>
                                      <p:to>
                                        <p:strVal val="visible"/>
                                      </p:to>
                                    </p:set>
                                    <p:anim calcmode="lin" valueType="num">
                                      <p:cBhvr additive="base">
                                        <p:cTn id="13" dur="500" fill="hold"/>
                                        <p:tgtEl>
                                          <p:spTgt spid="242690">
                                            <p:txEl>
                                              <p:pRg st="1" end="1"/>
                                            </p:txEl>
                                          </p:spTgt>
                                        </p:tgtEl>
                                        <p:attrNameLst>
                                          <p:attrName>ppt_x</p:attrName>
                                        </p:attrNameLst>
                                      </p:cBhvr>
                                      <p:tavLst>
                                        <p:tav tm="0">
                                          <p:val>
                                            <p:strVal val="0-#ppt_w/2"/>
                                          </p:val>
                                        </p:tav>
                                        <p:tav tm="100000">
                                          <p:val>
                                            <p:strVal val="#ppt_x"/>
                                          </p:val>
                                        </p:tav>
                                      </p:tavLst>
                                    </p:anim>
                                    <p:anim calcmode="lin" valueType="num">
                                      <p:cBhvr additive="base">
                                        <p:cTn id="14" dur="500" fill="hold"/>
                                        <p:tgtEl>
                                          <p:spTgt spid="242690">
                                            <p:txEl>
                                              <p:pRg st="1" end="1"/>
                                            </p:txEl>
                                          </p:spTgt>
                                        </p:tgtEl>
                                        <p:attrNameLst>
                                          <p:attrName>ppt_y</p:attrName>
                                        </p:attrNameLst>
                                      </p:cBhvr>
                                      <p:tavLst>
                                        <p:tav tm="0">
                                          <p:val>
                                            <p:strVal val="#ppt_y"/>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8" fill="hold" grpId="0" nodeType="clickEffect">
                                  <p:stCondLst>
                                    <p:cond delay="0"/>
                                  </p:stCondLst>
                                  <p:childTnLst>
                                    <p:set>
                                      <p:cBhvr>
                                        <p:cTn id="18" dur="1" fill="hold">
                                          <p:stCondLst>
                                            <p:cond delay="0"/>
                                          </p:stCondLst>
                                        </p:cTn>
                                        <p:tgtEl>
                                          <p:spTgt spid="242690">
                                            <p:txEl>
                                              <p:pRg st="2" end="2"/>
                                            </p:txEl>
                                          </p:spTgt>
                                        </p:tgtEl>
                                        <p:attrNameLst>
                                          <p:attrName>style.visibility</p:attrName>
                                        </p:attrNameLst>
                                      </p:cBhvr>
                                      <p:to>
                                        <p:strVal val="visible"/>
                                      </p:to>
                                    </p:set>
                                    <p:anim calcmode="lin" valueType="num">
                                      <p:cBhvr additive="base">
                                        <p:cTn id="19" dur="500" fill="hold"/>
                                        <p:tgtEl>
                                          <p:spTgt spid="242690">
                                            <p:txEl>
                                              <p:pRg st="2" end="2"/>
                                            </p:txEl>
                                          </p:spTgt>
                                        </p:tgtEl>
                                        <p:attrNameLst>
                                          <p:attrName>ppt_x</p:attrName>
                                        </p:attrNameLst>
                                      </p:cBhvr>
                                      <p:tavLst>
                                        <p:tav tm="0">
                                          <p:val>
                                            <p:strVal val="0-#ppt_w/2"/>
                                          </p:val>
                                        </p:tav>
                                        <p:tav tm="100000">
                                          <p:val>
                                            <p:strVal val="#ppt_x"/>
                                          </p:val>
                                        </p:tav>
                                      </p:tavLst>
                                    </p:anim>
                                    <p:anim calcmode="lin" valueType="num">
                                      <p:cBhvr additive="base">
                                        <p:cTn id="20" dur="500" fill="hold"/>
                                        <p:tgtEl>
                                          <p:spTgt spid="242690">
                                            <p:txEl>
                                              <p:pRg st="2" end="2"/>
                                            </p:txEl>
                                          </p:spTgt>
                                        </p:tgtEl>
                                        <p:attrNameLst>
                                          <p:attrName>ppt_y</p:attrName>
                                        </p:attrNameLst>
                                      </p:cBhvr>
                                      <p:tavLst>
                                        <p:tav tm="0">
                                          <p:val>
                                            <p:strVal val="#ppt_y"/>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8" fill="hold" grpId="0" nodeType="clickEffect">
                                  <p:stCondLst>
                                    <p:cond delay="0"/>
                                  </p:stCondLst>
                                  <p:childTnLst>
                                    <p:set>
                                      <p:cBhvr>
                                        <p:cTn id="24" dur="1" fill="hold">
                                          <p:stCondLst>
                                            <p:cond delay="0"/>
                                          </p:stCondLst>
                                        </p:cTn>
                                        <p:tgtEl>
                                          <p:spTgt spid="242690">
                                            <p:txEl>
                                              <p:pRg st="3" end="3"/>
                                            </p:txEl>
                                          </p:spTgt>
                                        </p:tgtEl>
                                        <p:attrNameLst>
                                          <p:attrName>style.visibility</p:attrName>
                                        </p:attrNameLst>
                                      </p:cBhvr>
                                      <p:to>
                                        <p:strVal val="visible"/>
                                      </p:to>
                                    </p:set>
                                    <p:anim calcmode="lin" valueType="num">
                                      <p:cBhvr additive="base">
                                        <p:cTn id="25" dur="500" fill="hold"/>
                                        <p:tgtEl>
                                          <p:spTgt spid="242690">
                                            <p:txEl>
                                              <p:pRg st="3" end="3"/>
                                            </p:txEl>
                                          </p:spTgt>
                                        </p:tgtEl>
                                        <p:attrNameLst>
                                          <p:attrName>ppt_x</p:attrName>
                                        </p:attrNameLst>
                                      </p:cBhvr>
                                      <p:tavLst>
                                        <p:tav tm="0">
                                          <p:val>
                                            <p:strVal val="0-#ppt_w/2"/>
                                          </p:val>
                                        </p:tav>
                                        <p:tav tm="100000">
                                          <p:val>
                                            <p:strVal val="#ppt_x"/>
                                          </p:val>
                                        </p:tav>
                                      </p:tavLst>
                                    </p:anim>
                                    <p:anim calcmode="lin" valueType="num">
                                      <p:cBhvr additive="base">
                                        <p:cTn id="26" dur="500" fill="hold"/>
                                        <p:tgtEl>
                                          <p:spTgt spid="242690">
                                            <p:txEl>
                                              <p:pRg st="3" end="3"/>
                                            </p:txEl>
                                          </p:spTgt>
                                        </p:tgtEl>
                                        <p:attrNameLst>
                                          <p:attrName>ppt_y</p:attrName>
                                        </p:attrNameLst>
                                      </p:cBhvr>
                                      <p:tavLst>
                                        <p:tav tm="0">
                                          <p:val>
                                            <p:strVal val="#ppt_y"/>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8" fill="hold" grpId="0" nodeType="clickEffect">
                                  <p:stCondLst>
                                    <p:cond delay="0"/>
                                  </p:stCondLst>
                                  <p:childTnLst>
                                    <p:set>
                                      <p:cBhvr>
                                        <p:cTn id="30" dur="1" fill="hold">
                                          <p:stCondLst>
                                            <p:cond delay="0"/>
                                          </p:stCondLst>
                                        </p:cTn>
                                        <p:tgtEl>
                                          <p:spTgt spid="242690">
                                            <p:txEl>
                                              <p:pRg st="4" end="4"/>
                                            </p:txEl>
                                          </p:spTgt>
                                        </p:tgtEl>
                                        <p:attrNameLst>
                                          <p:attrName>style.visibility</p:attrName>
                                        </p:attrNameLst>
                                      </p:cBhvr>
                                      <p:to>
                                        <p:strVal val="visible"/>
                                      </p:to>
                                    </p:set>
                                    <p:anim calcmode="lin" valueType="num">
                                      <p:cBhvr additive="base">
                                        <p:cTn id="31" dur="500" fill="hold"/>
                                        <p:tgtEl>
                                          <p:spTgt spid="242690">
                                            <p:txEl>
                                              <p:pRg st="4" end="4"/>
                                            </p:txEl>
                                          </p:spTgt>
                                        </p:tgtEl>
                                        <p:attrNameLst>
                                          <p:attrName>ppt_x</p:attrName>
                                        </p:attrNameLst>
                                      </p:cBhvr>
                                      <p:tavLst>
                                        <p:tav tm="0">
                                          <p:val>
                                            <p:strVal val="0-#ppt_w/2"/>
                                          </p:val>
                                        </p:tav>
                                        <p:tav tm="100000">
                                          <p:val>
                                            <p:strVal val="#ppt_x"/>
                                          </p:val>
                                        </p:tav>
                                      </p:tavLst>
                                    </p:anim>
                                    <p:anim calcmode="lin" valueType="num">
                                      <p:cBhvr additive="base">
                                        <p:cTn id="32" dur="500" fill="hold"/>
                                        <p:tgtEl>
                                          <p:spTgt spid="242690">
                                            <p:txEl>
                                              <p:pRg st="4" end="4"/>
                                            </p:txEl>
                                          </p:spTgt>
                                        </p:tgtEl>
                                        <p:attrNameLst>
                                          <p:attrName>ppt_y</p:attrName>
                                        </p:attrNameLst>
                                      </p:cBhvr>
                                      <p:tavLst>
                                        <p:tav tm="0">
                                          <p:val>
                                            <p:strVal val="#ppt_y"/>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8" fill="hold" grpId="0" nodeType="clickEffect">
                                  <p:stCondLst>
                                    <p:cond delay="0"/>
                                  </p:stCondLst>
                                  <p:childTnLst>
                                    <p:set>
                                      <p:cBhvr>
                                        <p:cTn id="36" dur="1" fill="hold">
                                          <p:stCondLst>
                                            <p:cond delay="0"/>
                                          </p:stCondLst>
                                        </p:cTn>
                                        <p:tgtEl>
                                          <p:spTgt spid="242690">
                                            <p:txEl>
                                              <p:pRg st="5" end="5"/>
                                            </p:txEl>
                                          </p:spTgt>
                                        </p:tgtEl>
                                        <p:attrNameLst>
                                          <p:attrName>style.visibility</p:attrName>
                                        </p:attrNameLst>
                                      </p:cBhvr>
                                      <p:to>
                                        <p:strVal val="visible"/>
                                      </p:to>
                                    </p:set>
                                    <p:anim calcmode="lin" valueType="num">
                                      <p:cBhvr additive="base">
                                        <p:cTn id="37" dur="500" fill="hold"/>
                                        <p:tgtEl>
                                          <p:spTgt spid="242690">
                                            <p:txEl>
                                              <p:pRg st="5" end="5"/>
                                            </p:txEl>
                                          </p:spTgt>
                                        </p:tgtEl>
                                        <p:attrNameLst>
                                          <p:attrName>ppt_x</p:attrName>
                                        </p:attrNameLst>
                                      </p:cBhvr>
                                      <p:tavLst>
                                        <p:tav tm="0">
                                          <p:val>
                                            <p:strVal val="0-#ppt_w/2"/>
                                          </p:val>
                                        </p:tav>
                                        <p:tav tm="100000">
                                          <p:val>
                                            <p:strVal val="#ppt_x"/>
                                          </p:val>
                                        </p:tav>
                                      </p:tavLst>
                                    </p:anim>
                                    <p:anim calcmode="lin" valueType="num">
                                      <p:cBhvr additive="base">
                                        <p:cTn id="38" dur="500" fill="hold"/>
                                        <p:tgtEl>
                                          <p:spTgt spid="242690">
                                            <p:txEl>
                                              <p:pRg st="5" end="5"/>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2690" grpId="0" build="p" bldLvl="3" autoUpdateAnimBg="0"/>
    </p:bldLst>
  </p:timing>
</p:sld>
</file>

<file path=ppt/slides/slide39.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43714" name="Rectangle 2"/>
          <p:cNvSpPr>
            <a:spLocks noGrp="1" noChangeArrowheads="1"/>
          </p:cNvSpPr>
          <p:nvPr>
            <p:ph idx="1"/>
          </p:nvPr>
        </p:nvSpPr>
        <p:spPr>
          <a:xfrm>
            <a:off x="685800" y="152400"/>
            <a:ext cx="8229600" cy="5715000"/>
          </a:xfrm>
        </p:spPr>
        <p:txBody>
          <a:bodyPr rtlCol="0">
            <a:normAutofit fontScale="70000" lnSpcReduction="20000"/>
          </a:bodyPr>
          <a:lstStyle/>
          <a:p>
            <a:pPr eaLnBrk="1" fontAlgn="auto" hangingPunct="1">
              <a:lnSpc>
                <a:spcPct val="90000"/>
              </a:lnSpc>
              <a:spcAft>
                <a:spcPts val="0"/>
              </a:spcAft>
              <a:buFont typeface="Monotype Sorts" pitchFamily="2" charset="2"/>
              <a:buNone/>
              <a:defRPr/>
            </a:pPr>
            <a:r>
              <a:rPr lang="en-US" sz="5100" b="1" dirty="0" smtClean="0">
                <a:solidFill>
                  <a:schemeClr val="tx2"/>
                </a:solidFill>
              </a:rPr>
              <a:t>Physical Methods of Microbial  Control:</a:t>
            </a:r>
          </a:p>
          <a:p>
            <a:pPr eaLnBrk="1" fontAlgn="auto" hangingPunct="1">
              <a:lnSpc>
                <a:spcPct val="90000"/>
              </a:lnSpc>
              <a:spcAft>
                <a:spcPts val="0"/>
              </a:spcAft>
              <a:buFont typeface="Monotype Sorts" pitchFamily="2" charset="2"/>
              <a:buNone/>
              <a:defRPr/>
            </a:pPr>
            <a:r>
              <a:rPr lang="en-US" sz="2800" b="1" dirty="0" smtClean="0"/>
              <a:t>	</a:t>
            </a:r>
          </a:p>
          <a:p>
            <a:pPr eaLnBrk="1" fontAlgn="auto" hangingPunct="1">
              <a:lnSpc>
                <a:spcPct val="90000"/>
              </a:lnSpc>
              <a:spcAft>
                <a:spcPts val="0"/>
              </a:spcAft>
              <a:buFont typeface="Monotype Sorts" pitchFamily="2" charset="2"/>
              <a:buNone/>
              <a:defRPr/>
            </a:pPr>
            <a:r>
              <a:rPr lang="en-US" sz="4100" b="1" dirty="0" smtClean="0"/>
              <a:t>Radiation: </a:t>
            </a:r>
            <a:r>
              <a:rPr lang="en-US" sz="4100" dirty="0" smtClean="0"/>
              <a:t>Three types of radiation kill microbes:</a:t>
            </a:r>
          </a:p>
          <a:p>
            <a:pPr eaLnBrk="1" fontAlgn="auto" hangingPunct="1">
              <a:lnSpc>
                <a:spcPct val="90000"/>
              </a:lnSpc>
              <a:spcAft>
                <a:spcPts val="0"/>
              </a:spcAft>
              <a:buFont typeface="Monotype Sorts" pitchFamily="2" charset="2"/>
              <a:buNone/>
              <a:defRPr/>
            </a:pPr>
            <a:r>
              <a:rPr lang="en-US" sz="4100" dirty="0" smtClean="0"/>
              <a:t>	</a:t>
            </a:r>
            <a:r>
              <a:rPr lang="en-US" sz="4100" b="1" dirty="0" smtClean="0"/>
              <a:t>1. Ionizing Radiation: </a:t>
            </a:r>
            <a:r>
              <a:rPr lang="en-US" sz="4100" dirty="0" smtClean="0"/>
              <a:t>Gamma rays, X rays, electron beams, or higher energy rays.  Have short wavelengths (less than 1 nanometer).  </a:t>
            </a:r>
          </a:p>
          <a:p>
            <a:pPr eaLnBrk="1" fontAlgn="auto" hangingPunct="1">
              <a:lnSpc>
                <a:spcPct val="90000"/>
              </a:lnSpc>
              <a:spcAft>
                <a:spcPts val="0"/>
              </a:spcAft>
              <a:buFont typeface="Monotype Sorts" pitchFamily="2" charset="2"/>
              <a:buNone/>
              <a:defRPr/>
            </a:pPr>
            <a:r>
              <a:rPr lang="en-US" sz="4100" dirty="0" smtClean="0"/>
              <a:t>	Dislodge electrons from atoms and form ions.  </a:t>
            </a:r>
          </a:p>
          <a:p>
            <a:pPr eaLnBrk="1" fontAlgn="auto" hangingPunct="1">
              <a:lnSpc>
                <a:spcPct val="90000"/>
              </a:lnSpc>
              <a:spcAft>
                <a:spcPts val="0"/>
              </a:spcAft>
              <a:buFont typeface="Monotype Sorts" pitchFamily="2" charset="2"/>
              <a:buNone/>
              <a:defRPr/>
            </a:pPr>
            <a:r>
              <a:rPr lang="en-US" sz="4100" dirty="0" smtClean="0"/>
              <a:t>	Cause mutations in DNA</a:t>
            </a:r>
          </a:p>
          <a:p>
            <a:pPr eaLnBrk="1" fontAlgn="auto" hangingPunct="1">
              <a:lnSpc>
                <a:spcPct val="90000"/>
              </a:lnSpc>
              <a:spcAft>
                <a:spcPts val="0"/>
              </a:spcAft>
              <a:buFont typeface="Monotype Sorts" pitchFamily="2" charset="2"/>
              <a:buNone/>
              <a:defRPr/>
            </a:pPr>
            <a:r>
              <a:rPr lang="en-US" sz="4100" dirty="0" smtClean="0"/>
              <a:t>	Used to sterilize pharmaceuticals and disposable medical supplies. Food industry is interested in using ionizing radiation.</a:t>
            </a:r>
          </a:p>
          <a:p>
            <a:pPr eaLnBrk="1" fontAlgn="auto" hangingPunct="1">
              <a:lnSpc>
                <a:spcPct val="90000"/>
              </a:lnSpc>
              <a:spcAft>
                <a:spcPts val="0"/>
              </a:spcAft>
              <a:buFont typeface="Monotype Sorts" pitchFamily="2" charset="2"/>
              <a:buNone/>
              <a:defRPr/>
            </a:pPr>
            <a:r>
              <a:rPr lang="en-US" sz="4100" dirty="0" smtClean="0"/>
              <a:t>	</a:t>
            </a:r>
            <a:r>
              <a:rPr lang="en-US" sz="4100" b="1" dirty="0" smtClean="0"/>
              <a:t>Disadvantages</a:t>
            </a:r>
            <a:r>
              <a:rPr lang="en-US" sz="4100" dirty="0" smtClean="0"/>
              <a:t>: Penetrates human tissues. May cause genetic mutations in humans.</a:t>
            </a:r>
          </a:p>
          <a:p>
            <a:pPr eaLnBrk="1" fontAlgn="auto" hangingPunct="1">
              <a:lnSpc>
                <a:spcPct val="90000"/>
              </a:lnSpc>
              <a:spcAft>
                <a:spcPts val="0"/>
              </a:spcAft>
              <a:buFont typeface="Monotype Sorts" pitchFamily="2" charset="2"/>
              <a:buNone/>
              <a:defRPr/>
            </a:pPr>
            <a:r>
              <a:rPr lang="en-US" sz="4100" dirty="0" smtClean="0"/>
              <a:t>	 </a:t>
            </a:r>
          </a:p>
          <a:p>
            <a:pPr eaLnBrk="1" fontAlgn="auto" hangingPunct="1">
              <a:lnSpc>
                <a:spcPct val="90000"/>
              </a:lnSpc>
              <a:spcAft>
                <a:spcPts val="0"/>
              </a:spcAft>
              <a:buFont typeface="Monotype Sorts" pitchFamily="2" charset="2"/>
              <a:buNone/>
              <a:defRPr/>
            </a:pPr>
            <a:r>
              <a:rPr lang="en-US" sz="2800" b="1" dirty="0" smtClean="0"/>
              <a:t>	</a:t>
            </a:r>
            <a:endParaRPr lang="en-US" sz="2400" dirty="0" smtClean="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243714">
                                            <p:txEl>
                                              <p:pRg st="0" end="0"/>
                                            </p:txEl>
                                          </p:spTgt>
                                        </p:tgtEl>
                                        <p:attrNameLst>
                                          <p:attrName>style.visibility</p:attrName>
                                        </p:attrNameLst>
                                      </p:cBhvr>
                                      <p:to>
                                        <p:strVal val="visible"/>
                                      </p:to>
                                    </p:set>
                                    <p:anim calcmode="lin" valueType="num">
                                      <p:cBhvr additive="base">
                                        <p:cTn id="7" dur="500" fill="hold"/>
                                        <p:tgtEl>
                                          <p:spTgt spid="243714">
                                            <p:txEl>
                                              <p:pRg st="0" end="0"/>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243714">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243714">
                                            <p:txEl>
                                              <p:pRg st="1" end="1"/>
                                            </p:txEl>
                                          </p:spTgt>
                                        </p:tgtEl>
                                        <p:attrNameLst>
                                          <p:attrName>style.visibility</p:attrName>
                                        </p:attrNameLst>
                                      </p:cBhvr>
                                      <p:to>
                                        <p:strVal val="visible"/>
                                      </p:to>
                                    </p:set>
                                    <p:anim calcmode="lin" valueType="num">
                                      <p:cBhvr additive="base">
                                        <p:cTn id="13" dur="500" fill="hold"/>
                                        <p:tgtEl>
                                          <p:spTgt spid="243714">
                                            <p:txEl>
                                              <p:pRg st="1" end="1"/>
                                            </p:txEl>
                                          </p:spTgt>
                                        </p:tgtEl>
                                        <p:attrNameLst>
                                          <p:attrName>ppt_x</p:attrName>
                                        </p:attrNameLst>
                                      </p:cBhvr>
                                      <p:tavLst>
                                        <p:tav tm="0">
                                          <p:val>
                                            <p:strVal val="0-#ppt_w/2"/>
                                          </p:val>
                                        </p:tav>
                                        <p:tav tm="100000">
                                          <p:val>
                                            <p:strVal val="#ppt_x"/>
                                          </p:val>
                                        </p:tav>
                                      </p:tavLst>
                                    </p:anim>
                                    <p:anim calcmode="lin" valueType="num">
                                      <p:cBhvr additive="base">
                                        <p:cTn id="14" dur="500" fill="hold"/>
                                        <p:tgtEl>
                                          <p:spTgt spid="243714">
                                            <p:txEl>
                                              <p:pRg st="1" end="1"/>
                                            </p:txEl>
                                          </p:spTgt>
                                        </p:tgtEl>
                                        <p:attrNameLst>
                                          <p:attrName>ppt_y</p:attrName>
                                        </p:attrNameLst>
                                      </p:cBhvr>
                                      <p:tavLst>
                                        <p:tav tm="0">
                                          <p:val>
                                            <p:strVal val="#ppt_y"/>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8" fill="hold" grpId="0" nodeType="clickEffect">
                                  <p:stCondLst>
                                    <p:cond delay="0"/>
                                  </p:stCondLst>
                                  <p:childTnLst>
                                    <p:set>
                                      <p:cBhvr>
                                        <p:cTn id="18" dur="1" fill="hold">
                                          <p:stCondLst>
                                            <p:cond delay="0"/>
                                          </p:stCondLst>
                                        </p:cTn>
                                        <p:tgtEl>
                                          <p:spTgt spid="243714">
                                            <p:txEl>
                                              <p:pRg st="2" end="2"/>
                                            </p:txEl>
                                          </p:spTgt>
                                        </p:tgtEl>
                                        <p:attrNameLst>
                                          <p:attrName>style.visibility</p:attrName>
                                        </p:attrNameLst>
                                      </p:cBhvr>
                                      <p:to>
                                        <p:strVal val="visible"/>
                                      </p:to>
                                    </p:set>
                                    <p:anim calcmode="lin" valueType="num">
                                      <p:cBhvr additive="base">
                                        <p:cTn id="19" dur="500" fill="hold"/>
                                        <p:tgtEl>
                                          <p:spTgt spid="243714">
                                            <p:txEl>
                                              <p:pRg st="2" end="2"/>
                                            </p:txEl>
                                          </p:spTgt>
                                        </p:tgtEl>
                                        <p:attrNameLst>
                                          <p:attrName>ppt_x</p:attrName>
                                        </p:attrNameLst>
                                      </p:cBhvr>
                                      <p:tavLst>
                                        <p:tav tm="0">
                                          <p:val>
                                            <p:strVal val="0-#ppt_w/2"/>
                                          </p:val>
                                        </p:tav>
                                        <p:tav tm="100000">
                                          <p:val>
                                            <p:strVal val="#ppt_x"/>
                                          </p:val>
                                        </p:tav>
                                      </p:tavLst>
                                    </p:anim>
                                    <p:anim calcmode="lin" valueType="num">
                                      <p:cBhvr additive="base">
                                        <p:cTn id="20" dur="500" fill="hold"/>
                                        <p:tgtEl>
                                          <p:spTgt spid="243714">
                                            <p:txEl>
                                              <p:pRg st="2" end="2"/>
                                            </p:txEl>
                                          </p:spTgt>
                                        </p:tgtEl>
                                        <p:attrNameLst>
                                          <p:attrName>ppt_y</p:attrName>
                                        </p:attrNameLst>
                                      </p:cBhvr>
                                      <p:tavLst>
                                        <p:tav tm="0">
                                          <p:val>
                                            <p:strVal val="#ppt_y"/>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8" fill="hold" grpId="0" nodeType="clickEffect">
                                  <p:stCondLst>
                                    <p:cond delay="0"/>
                                  </p:stCondLst>
                                  <p:childTnLst>
                                    <p:set>
                                      <p:cBhvr>
                                        <p:cTn id="24" dur="1" fill="hold">
                                          <p:stCondLst>
                                            <p:cond delay="0"/>
                                          </p:stCondLst>
                                        </p:cTn>
                                        <p:tgtEl>
                                          <p:spTgt spid="243714">
                                            <p:txEl>
                                              <p:pRg st="3" end="3"/>
                                            </p:txEl>
                                          </p:spTgt>
                                        </p:tgtEl>
                                        <p:attrNameLst>
                                          <p:attrName>style.visibility</p:attrName>
                                        </p:attrNameLst>
                                      </p:cBhvr>
                                      <p:to>
                                        <p:strVal val="visible"/>
                                      </p:to>
                                    </p:set>
                                    <p:anim calcmode="lin" valueType="num">
                                      <p:cBhvr additive="base">
                                        <p:cTn id="25" dur="500" fill="hold"/>
                                        <p:tgtEl>
                                          <p:spTgt spid="243714">
                                            <p:txEl>
                                              <p:pRg st="3" end="3"/>
                                            </p:txEl>
                                          </p:spTgt>
                                        </p:tgtEl>
                                        <p:attrNameLst>
                                          <p:attrName>ppt_x</p:attrName>
                                        </p:attrNameLst>
                                      </p:cBhvr>
                                      <p:tavLst>
                                        <p:tav tm="0">
                                          <p:val>
                                            <p:strVal val="0-#ppt_w/2"/>
                                          </p:val>
                                        </p:tav>
                                        <p:tav tm="100000">
                                          <p:val>
                                            <p:strVal val="#ppt_x"/>
                                          </p:val>
                                        </p:tav>
                                      </p:tavLst>
                                    </p:anim>
                                    <p:anim calcmode="lin" valueType="num">
                                      <p:cBhvr additive="base">
                                        <p:cTn id="26" dur="500" fill="hold"/>
                                        <p:tgtEl>
                                          <p:spTgt spid="243714">
                                            <p:txEl>
                                              <p:pRg st="3" end="3"/>
                                            </p:txEl>
                                          </p:spTgt>
                                        </p:tgtEl>
                                        <p:attrNameLst>
                                          <p:attrName>ppt_y</p:attrName>
                                        </p:attrNameLst>
                                      </p:cBhvr>
                                      <p:tavLst>
                                        <p:tav tm="0">
                                          <p:val>
                                            <p:strVal val="#ppt_y"/>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8" fill="hold" grpId="0" nodeType="clickEffect">
                                  <p:stCondLst>
                                    <p:cond delay="0"/>
                                  </p:stCondLst>
                                  <p:childTnLst>
                                    <p:set>
                                      <p:cBhvr>
                                        <p:cTn id="30" dur="1" fill="hold">
                                          <p:stCondLst>
                                            <p:cond delay="0"/>
                                          </p:stCondLst>
                                        </p:cTn>
                                        <p:tgtEl>
                                          <p:spTgt spid="243714">
                                            <p:txEl>
                                              <p:pRg st="4" end="4"/>
                                            </p:txEl>
                                          </p:spTgt>
                                        </p:tgtEl>
                                        <p:attrNameLst>
                                          <p:attrName>style.visibility</p:attrName>
                                        </p:attrNameLst>
                                      </p:cBhvr>
                                      <p:to>
                                        <p:strVal val="visible"/>
                                      </p:to>
                                    </p:set>
                                    <p:anim calcmode="lin" valueType="num">
                                      <p:cBhvr additive="base">
                                        <p:cTn id="31" dur="500" fill="hold"/>
                                        <p:tgtEl>
                                          <p:spTgt spid="243714">
                                            <p:txEl>
                                              <p:pRg st="4" end="4"/>
                                            </p:txEl>
                                          </p:spTgt>
                                        </p:tgtEl>
                                        <p:attrNameLst>
                                          <p:attrName>ppt_x</p:attrName>
                                        </p:attrNameLst>
                                      </p:cBhvr>
                                      <p:tavLst>
                                        <p:tav tm="0">
                                          <p:val>
                                            <p:strVal val="0-#ppt_w/2"/>
                                          </p:val>
                                        </p:tav>
                                        <p:tav tm="100000">
                                          <p:val>
                                            <p:strVal val="#ppt_x"/>
                                          </p:val>
                                        </p:tav>
                                      </p:tavLst>
                                    </p:anim>
                                    <p:anim calcmode="lin" valueType="num">
                                      <p:cBhvr additive="base">
                                        <p:cTn id="32" dur="500" fill="hold"/>
                                        <p:tgtEl>
                                          <p:spTgt spid="243714">
                                            <p:txEl>
                                              <p:pRg st="4" end="4"/>
                                            </p:txEl>
                                          </p:spTgt>
                                        </p:tgtEl>
                                        <p:attrNameLst>
                                          <p:attrName>ppt_y</p:attrName>
                                        </p:attrNameLst>
                                      </p:cBhvr>
                                      <p:tavLst>
                                        <p:tav tm="0">
                                          <p:val>
                                            <p:strVal val="#ppt_y"/>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8" fill="hold" grpId="0" nodeType="clickEffect">
                                  <p:stCondLst>
                                    <p:cond delay="0"/>
                                  </p:stCondLst>
                                  <p:childTnLst>
                                    <p:set>
                                      <p:cBhvr>
                                        <p:cTn id="36" dur="1" fill="hold">
                                          <p:stCondLst>
                                            <p:cond delay="0"/>
                                          </p:stCondLst>
                                        </p:cTn>
                                        <p:tgtEl>
                                          <p:spTgt spid="243714">
                                            <p:txEl>
                                              <p:pRg st="5" end="5"/>
                                            </p:txEl>
                                          </p:spTgt>
                                        </p:tgtEl>
                                        <p:attrNameLst>
                                          <p:attrName>style.visibility</p:attrName>
                                        </p:attrNameLst>
                                      </p:cBhvr>
                                      <p:to>
                                        <p:strVal val="visible"/>
                                      </p:to>
                                    </p:set>
                                    <p:anim calcmode="lin" valueType="num">
                                      <p:cBhvr additive="base">
                                        <p:cTn id="37" dur="500" fill="hold"/>
                                        <p:tgtEl>
                                          <p:spTgt spid="243714">
                                            <p:txEl>
                                              <p:pRg st="5" end="5"/>
                                            </p:txEl>
                                          </p:spTgt>
                                        </p:tgtEl>
                                        <p:attrNameLst>
                                          <p:attrName>ppt_x</p:attrName>
                                        </p:attrNameLst>
                                      </p:cBhvr>
                                      <p:tavLst>
                                        <p:tav tm="0">
                                          <p:val>
                                            <p:strVal val="0-#ppt_w/2"/>
                                          </p:val>
                                        </p:tav>
                                        <p:tav tm="100000">
                                          <p:val>
                                            <p:strVal val="#ppt_x"/>
                                          </p:val>
                                        </p:tav>
                                      </p:tavLst>
                                    </p:anim>
                                    <p:anim calcmode="lin" valueType="num">
                                      <p:cBhvr additive="base">
                                        <p:cTn id="38" dur="500" fill="hold"/>
                                        <p:tgtEl>
                                          <p:spTgt spid="243714">
                                            <p:txEl>
                                              <p:pRg st="5" end="5"/>
                                            </p:txEl>
                                          </p:spTgt>
                                        </p:tgtEl>
                                        <p:attrNameLst>
                                          <p:attrName>ppt_y</p:attrName>
                                        </p:attrNameLst>
                                      </p:cBhvr>
                                      <p:tavLst>
                                        <p:tav tm="0">
                                          <p:val>
                                            <p:strVal val="#ppt_y"/>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2" presetClass="entr" presetSubtype="8" fill="hold" grpId="0" nodeType="clickEffect">
                                  <p:stCondLst>
                                    <p:cond delay="0"/>
                                  </p:stCondLst>
                                  <p:childTnLst>
                                    <p:set>
                                      <p:cBhvr>
                                        <p:cTn id="42" dur="1" fill="hold">
                                          <p:stCondLst>
                                            <p:cond delay="0"/>
                                          </p:stCondLst>
                                        </p:cTn>
                                        <p:tgtEl>
                                          <p:spTgt spid="243714">
                                            <p:txEl>
                                              <p:pRg st="6" end="6"/>
                                            </p:txEl>
                                          </p:spTgt>
                                        </p:tgtEl>
                                        <p:attrNameLst>
                                          <p:attrName>style.visibility</p:attrName>
                                        </p:attrNameLst>
                                      </p:cBhvr>
                                      <p:to>
                                        <p:strVal val="visible"/>
                                      </p:to>
                                    </p:set>
                                    <p:anim calcmode="lin" valueType="num">
                                      <p:cBhvr additive="base">
                                        <p:cTn id="43" dur="500" fill="hold"/>
                                        <p:tgtEl>
                                          <p:spTgt spid="243714">
                                            <p:txEl>
                                              <p:pRg st="6" end="6"/>
                                            </p:txEl>
                                          </p:spTgt>
                                        </p:tgtEl>
                                        <p:attrNameLst>
                                          <p:attrName>ppt_x</p:attrName>
                                        </p:attrNameLst>
                                      </p:cBhvr>
                                      <p:tavLst>
                                        <p:tav tm="0">
                                          <p:val>
                                            <p:strVal val="0-#ppt_w/2"/>
                                          </p:val>
                                        </p:tav>
                                        <p:tav tm="100000">
                                          <p:val>
                                            <p:strVal val="#ppt_x"/>
                                          </p:val>
                                        </p:tav>
                                      </p:tavLst>
                                    </p:anim>
                                    <p:anim calcmode="lin" valueType="num">
                                      <p:cBhvr additive="base">
                                        <p:cTn id="44" dur="500" fill="hold"/>
                                        <p:tgtEl>
                                          <p:spTgt spid="243714">
                                            <p:txEl>
                                              <p:pRg st="6" end="6"/>
                                            </p:txEl>
                                          </p:spTgt>
                                        </p:tgtEl>
                                        <p:attrNameLst>
                                          <p:attrName>ppt_y</p:attrName>
                                        </p:attrNameLst>
                                      </p:cBhvr>
                                      <p:tavLst>
                                        <p:tav tm="0">
                                          <p:val>
                                            <p:strVal val="#ppt_y"/>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2" presetClass="entr" presetSubtype="8" fill="hold" grpId="0" nodeType="clickEffect">
                                  <p:stCondLst>
                                    <p:cond delay="0"/>
                                  </p:stCondLst>
                                  <p:childTnLst>
                                    <p:set>
                                      <p:cBhvr>
                                        <p:cTn id="48" dur="1" fill="hold">
                                          <p:stCondLst>
                                            <p:cond delay="0"/>
                                          </p:stCondLst>
                                        </p:cTn>
                                        <p:tgtEl>
                                          <p:spTgt spid="243714">
                                            <p:txEl>
                                              <p:pRg st="7" end="7"/>
                                            </p:txEl>
                                          </p:spTgt>
                                        </p:tgtEl>
                                        <p:attrNameLst>
                                          <p:attrName>style.visibility</p:attrName>
                                        </p:attrNameLst>
                                      </p:cBhvr>
                                      <p:to>
                                        <p:strVal val="visible"/>
                                      </p:to>
                                    </p:set>
                                    <p:anim calcmode="lin" valueType="num">
                                      <p:cBhvr additive="base">
                                        <p:cTn id="49" dur="500" fill="hold"/>
                                        <p:tgtEl>
                                          <p:spTgt spid="243714">
                                            <p:txEl>
                                              <p:pRg st="7" end="7"/>
                                            </p:txEl>
                                          </p:spTgt>
                                        </p:tgtEl>
                                        <p:attrNameLst>
                                          <p:attrName>ppt_x</p:attrName>
                                        </p:attrNameLst>
                                      </p:cBhvr>
                                      <p:tavLst>
                                        <p:tav tm="0">
                                          <p:val>
                                            <p:strVal val="0-#ppt_w/2"/>
                                          </p:val>
                                        </p:tav>
                                        <p:tav tm="100000">
                                          <p:val>
                                            <p:strVal val="#ppt_x"/>
                                          </p:val>
                                        </p:tav>
                                      </p:tavLst>
                                    </p:anim>
                                    <p:anim calcmode="lin" valueType="num">
                                      <p:cBhvr additive="base">
                                        <p:cTn id="50" dur="500" fill="hold"/>
                                        <p:tgtEl>
                                          <p:spTgt spid="243714">
                                            <p:txEl>
                                              <p:pRg st="7" end="7"/>
                                            </p:txEl>
                                          </p:spTgt>
                                        </p:tgtEl>
                                        <p:attrNameLst>
                                          <p:attrName>ppt_y</p:attrName>
                                        </p:attrNameLst>
                                      </p:cBhvr>
                                      <p:tavLst>
                                        <p:tav tm="0">
                                          <p:val>
                                            <p:strVal val="#ppt_y"/>
                                          </p:val>
                                        </p:tav>
                                        <p:tav tm="100000">
                                          <p:val>
                                            <p:strVal val="#ppt_y"/>
                                          </p:val>
                                        </p:tav>
                                      </p:tavLst>
                                    </p:anim>
                                  </p:childTnLst>
                                </p:cTn>
                              </p:par>
                            </p:childTnLst>
                          </p:cTn>
                        </p:par>
                      </p:childTnLst>
                    </p:cTn>
                  </p:par>
                  <p:par>
                    <p:cTn id="51" fill="hold">
                      <p:stCondLst>
                        <p:cond delay="indefinite"/>
                      </p:stCondLst>
                      <p:childTnLst>
                        <p:par>
                          <p:cTn id="52" fill="hold">
                            <p:stCondLst>
                              <p:cond delay="0"/>
                            </p:stCondLst>
                            <p:childTnLst>
                              <p:par>
                                <p:cTn id="53" presetID="2" presetClass="entr" presetSubtype="8" fill="hold" grpId="0" nodeType="clickEffect">
                                  <p:stCondLst>
                                    <p:cond delay="0"/>
                                  </p:stCondLst>
                                  <p:childTnLst>
                                    <p:set>
                                      <p:cBhvr>
                                        <p:cTn id="54" dur="1" fill="hold">
                                          <p:stCondLst>
                                            <p:cond delay="0"/>
                                          </p:stCondLst>
                                        </p:cTn>
                                        <p:tgtEl>
                                          <p:spTgt spid="243714">
                                            <p:txEl>
                                              <p:pRg st="8" end="8"/>
                                            </p:txEl>
                                          </p:spTgt>
                                        </p:tgtEl>
                                        <p:attrNameLst>
                                          <p:attrName>style.visibility</p:attrName>
                                        </p:attrNameLst>
                                      </p:cBhvr>
                                      <p:to>
                                        <p:strVal val="visible"/>
                                      </p:to>
                                    </p:set>
                                    <p:anim calcmode="lin" valueType="num">
                                      <p:cBhvr additive="base">
                                        <p:cTn id="55" dur="500" fill="hold"/>
                                        <p:tgtEl>
                                          <p:spTgt spid="243714">
                                            <p:txEl>
                                              <p:pRg st="8" end="8"/>
                                            </p:txEl>
                                          </p:spTgt>
                                        </p:tgtEl>
                                        <p:attrNameLst>
                                          <p:attrName>ppt_x</p:attrName>
                                        </p:attrNameLst>
                                      </p:cBhvr>
                                      <p:tavLst>
                                        <p:tav tm="0">
                                          <p:val>
                                            <p:strVal val="0-#ppt_w/2"/>
                                          </p:val>
                                        </p:tav>
                                        <p:tav tm="100000">
                                          <p:val>
                                            <p:strVal val="#ppt_x"/>
                                          </p:val>
                                        </p:tav>
                                      </p:tavLst>
                                    </p:anim>
                                    <p:anim calcmode="lin" valueType="num">
                                      <p:cBhvr additive="base">
                                        <p:cTn id="56" dur="500" fill="hold"/>
                                        <p:tgtEl>
                                          <p:spTgt spid="243714">
                                            <p:txEl>
                                              <p:pRg st="8" end="8"/>
                                            </p:txEl>
                                          </p:spTgt>
                                        </p:tgtEl>
                                        <p:attrNameLst>
                                          <p:attrName>ppt_y</p:attrName>
                                        </p:attrNameLst>
                                      </p:cBhvr>
                                      <p:tavLst>
                                        <p:tav tm="0">
                                          <p:val>
                                            <p:strVal val="#ppt_y"/>
                                          </p:val>
                                        </p:tav>
                                        <p:tav tm="100000">
                                          <p:val>
                                            <p:strVal val="#ppt_y"/>
                                          </p:val>
                                        </p:tav>
                                      </p:tavLst>
                                    </p:anim>
                                  </p:childTnLst>
                                </p:cTn>
                              </p:par>
                            </p:childTnLst>
                          </p:cTn>
                        </p:par>
                      </p:childTnLst>
                    </p:cTn>
                  </p:par>
                  <p:par>
                    <p:cTn id="57" fill="hold">
                      <p:stCondLst>
                        <p:cond delay="indefinite"/>
                      </p:stCondLst>
                      <p:childTnLst>
                        <p:par>
                          <p:cTn id="58" fill="hold">
                            <p:stCondLst>
                              <p:cond delay="0"/>
                            </p:stCondLst>
                            <p:childTnLst>
                              <p:par>
                                <p:cTn id="59" presetID="2" presetClass="entr" presetSubtype="8" fill="hold" grpId="0" nodeType="clickEffect">
                                  <p:stCondLst>
                                    <p:cond delay="0"/>
                                  </p:stCondLst>
                                  <p:childTnLst>
                                    <p:set>
                                      <p:cBhvr>
                                        <p:cTn id="60" dur="1" fill="hold">
                                          <p:stCondLst>
                                            <p:cond delay="0"/>
                                          </p:stCondLst>
                                        </p:cTn>
                                        <p:tgtEl>
                                          <p:spTgt spid="243714">
                                            <p:txEl>
                                              <p:pRg st="9" end="9"/>
                                            </p:txEl>
                                          </p:spTgt>
                                        </p:tgtEl>
                                        <p:attrNameLst>
                                          <p:attrName>style.visibility</p:attrName>
                                        </p:attrNameLst>
                                      </p:cBhvr>
                                      <p:to>
                                        <p:strVal val="visible"/>
                                      </p:to>
                                    </p:set>
                                    <p:anim calcmode="lin" valueType="num">
                                      <p:cBhvr additive="base">
                                        <p:cTn id="61" dur="500" fill="hold"/>
                                        <p:tgtEl>
                                          <p:spTgt spid="243714">
                                            <p:txEl>
                                              <p:pRg st="9" end="9"/>
                                            </p:txEl>
                                          </p:spTgt>
                                        </p:tgtEl>
                                        <p:attrNameLst>
                                          <p:attrName>ppt_x</p:attrName>
                                        </p:attrNameLst>
                                      </p:cBhvr>
                                      <p:tavLst>
                                        <p:tav tm="0">
                                          <p:val>
                                            <p:strVal val="0-#ppt_w/2"/>
                                          </p:val>
                                        </p:tav>
                                        <p:tav tm="100000">
                                          <p:val>
                                            <p:strVal val="#ppt_x"/>
                                          </p:val>
                                        </p:tav>
                                      </p:tavLst>
                                    </p:anim>
                                    <p:anim calcmode="lin" valueType="num">
                                      <p:cBhvr additive="base">
                                        <p:cTn id="62" dur="500" fill="hold"/>
                                        <p:tgtEl>
                                          <p:spTgt spid="243714">
                                            <p:txEl>
                                              <p:pRg st="9" end="9"/>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3714" grpId="0" build="p" bldLvl="3" autoUpdateAnimBg="0"/>
    </p:bld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8" name="Rectangle 2"/>
          <p:cNvSpPr>
            <a:spLocks noGrp="1" noChangeArrowheads="1"/>
          </p:cNvSpPr>
          <p:nvPr>
            <p:ph type="title"/>
          </p:nvPr>
        </p:nvSpPr>
        <p:spPr/>
        <p:txBody>
          <a:bodyPr/>
          <a:lstStyle/>
          <a:p>
            <a:pPr eaLnBrk="1" hangingPunct="1"/>
            <a:r>
              <a:rPr lang="en-US" smtClean="0"/>
              <a:t>Forms of Radiation</a:t>
            </a:r>
          </a:p>
        </p:txBody>
      </p:sp>
      <p:pic>
        <p:nvPicPr>
          <p:cNvPr id="50179" name="Picture 3" descr="E:\MEDIA\CH07\0706AB.JPG"/>
          <p:cNvPicPr>
            <a:picLocks noChangeAspect="1" noChangeArrowheads="1"/>
          </p:cNvPicPr>
          <p:nvPr/>
        </p:nvPicPr>
        <p:blipFill>
          <a:blip r:embed="rId2"/>
          <a:srcRect b="60233"/>
          <a:stretch>
            <a:fillRect/>
          </a:stretch>
        </p:blipFill>
        <p:spPr bwMode="auto">
          <a:xfrm>
            <a:off x="844550" y="1912938"/>
            <a:ext cx="7613650" cy="3573462"/>
          </a:xfrm>
          <a:prstGeom prst="rect">
            <a:avLst/>
          </a:prstGeom>
          <a:noFill/>
          <a:ln w="9525">
            <a:noFill/>
            <a:miter lim="800000"/>
            <a:headEnd/>
            <a:tailEnd/>
          </a:ln>
        </p:spPr>
      </p:pic>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44738" name="Rectangle 2"/>
          <p:cNvSpPr>
            <a:spLocks noGrp="1" noChangeArrowheads="1"/>
          </p:cNvSpPr>
          <p:nvPr>
            <p:ph idx="1"/>
          </p:nvPr>
        </p:nvSpPr>
        <p:spPr>
          <a:xfrm>
            <a:off x="685800" y="152400"/>
            <a:ext cx="8229600" cy="5715000"/>
          </a:xfrm>
        </p:spPr>
        <p:txBody>
          <a:bodyPr/>
          <a:lstStyle/>
          <a:p>
            <a:pPr eaLnBrk="1" hangingPunct="1">
              <a:lnSpc>
                <a:spcPct val="90000"/>
              </a:lnSpc>
              <a:buFont typeface="Monotype Sorts" pitchFamily="2" charset="2"/>
              <a:buNone/>
            </a:pPr>
            <a:r>
              <a:rPr lang="en-US" sz="3600" b="1" smtClean="0">
                <a:solidFill>
                  <a:schemeClr val="tx2"/>
                </a:solidFill>
              </a:rPr>
              <a:t>Physical Methods of Microbial </a:t>
            </a:r>
          </a:p>
          <a:p>
            <a:pPr eaLnBrk="1" hangingPunct="1">
              <a:lnSpc>
                <a:spcPct val="90000"/>
              </a:lnSpc>
              <a:buFont typeface="Monotype Sorts" pitchFamily="2" charset="2"/>
              <a:buNone/>
            </a:pPr>
            <a:r>
              <a:rPr lang="en-US" sz="3600" b="1" smtClean="0">
                <a:solidFill>
                  <a:schemeClr val="tx2"/>
                </a:solidFill>
              </a:rPr>
              <a:t>Control:</a:t>
            </a:r>
          </a:p>
          <a:p>
            <a:pPr eaLnBrk="1" hangingPunct="1">
              <a:lnSpc>
                <a:spcPct val="90000"/>
              </a:lnSpc>
              <a:buFont typeface="Monotype Sorts" pitchFamily="2" charset="2"/>
              <a:buNone/>
            </a:pPr>
            <a:r>
              <a:rPr lang="en-US" sz="2800" b="1" smtClean="0"/>
              <a:t>	Radiation: </a:t>
            </a:r>
            <a:r>
              <a:rPr lang="en-US" sz="2800" smtClean="0"/>
              <a:t>Three types of radiation kill microbes:</a:t>
            </a:r>
          </a:p>
          <a:p>
            <a:pPr eaLnBrk="1" hangingPunct="1">
              <a:lnSpc>
                <a:spcPct val="90000"/>
              </a:lnSpc>
              <a:buFont typeface="Monotype Sorts" pitchFamily="2" charset="2"/>
              <a:buNone/>
            </a:pPr>
            <a:r>
              <a:rPr lang="en-US" sz="2800" smtClean="0"/>
              <a:t>	</a:t>
            </a:r>
          </a:p>
          <a:p>
            <a:pPr eaLnBrk="1" hangingPunct="1">
              <a:lnSpc>
                <a:spcPct val="90000"/>
              </a:lnSpc>
              <a:buFont typeface="Monotype Sorts" pitchFamily="2" charset="2"/>
              <a:buNone/>
            </a:pPr>
            <a:r>
              <a:rPr lang="en-US" sz="2800" b="1" smtClean="0"/>
              <a:t>2. Ultraviolet light (Nonionizing Radiation):</a:t>
            </a:r>
            <a:r>
              <a:rPr lang="en-US" sz="2800" smtClean="0"/>
              <a:t>  Wavelength is longer than 1 nanometer. Damages DNA by producing thymine dimers, which cause mutations.</a:t>
            </a:r>
          </a:p>
          <a:p>
            <a:pPr eaLnBrk="1" hangingPunct="1">
              <a:lnSpc>
                <a:spcPct val="90000"/>
              </a:lnSpc>
              <a:buFont typeface="Monotype Sorts" pitchFamily="2" charset="2"/>
              <a:buNone/>
            </a:pPr>
            <a:r>
              <a:rPr lang="en-US" sz="2800" smtClean="0"/>
              <a:t>	 Used to disinfect operating rooms, nurseries, cafeterias. </a:t>
            </a:r>
          </a:p>
          <a:p>
            <a:pPr eaLnBrk="1" hangingPunct="1">
              <a:lnSpc>
                <a:spcPct val="90000"/>
              </a:lnSpc>
              <a:buFont typeface="Monotype Sorts" pitchFamily="2" charset="2"/>
              <a:buNone/>
            </a:pPr>
            <a:r>
              <a:rPr lang="en-US" sz="2800" smtClean="0"/>
              <a:t>	</a:t>
            </a:r>
            <a:r>
              <a:rPr lang="en-US" sz="2800" b="1" smtClean="0"/>
              <a:t>Disadvantages</a:t>
            </a:r>
            <a:r>
              <a:rPr lang="en-US" sz="2800" smtClean="0"/>
              <a:t>: Damages skin, eyes.  Doesn’t penetrate paper, glass, and cloth. </a:t>
            </a:r>
            <a:endParaRPr lang="en-US" sz="2400" smtClean="0"/>
          </a:p>
          <a:p>
            <a:pPr eaLnBrk="1" hangingPunct="1">
              <a:lnSpc>
                <a:spcPct val="110000"/>
              </a:lnSpc>
              <a:buFont typeface="Monotype Sorts" pitchFamily="2" charset="2"/>
              <a:buChar char="u"/>
            </a:pPr>
            <a:endParaRPr lang="en-US" sz="2400" smtClean="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244738">
                                            <p:txEl>
                                              <p:pRg st="0" end="0"/>
                                            </p:txEl>
                                          </p:spTgt>
                                        </p:tgtEl>
                                        <p:attrNameLst>
                                          <p:attrName>style.visibility</p:attrName>
                                        </p:attrNameLst>
                                      </p:cBhvr>
                                      <p:to>
                                        <p:strVal val="visible"/>
                                      </p:to>
                                    </p:set>
                                    <p:anim calcmode="lin" valueType="num">
                                      <p:cBhvr additive="base">
                                        <p:cTn id="7" dur="500" fill="hold"/>
                                        <p:tgtEl>
                                          <p:spTgt spid="244738">
                                            <p:txEl>
                                              <p:pRg st="0" end="0"/>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244738">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244738">
                                            <p:txEl>
                                              <p:pRg st="1" end="1"/>
                                            </p:txEl>
                                          </p:spTgt>
                                        </p:tgtEl>
                                        <p:attrNameLst>
                                          <p:attrName>style.visibility</p:attrName>
                                        </p:attrNameLst>
                                      </p:cBhvr>
                                      <p:to>
                                        <p:strVal val="visible"/>
                                      </p:to>
                                    </p:set>
                                    <p:anim calcmode="lin" valueType="num">
                                      <p:cBhvr additive="base">
                                        <p:cTn id="13" dur="500" fill="hold"/>
                                        <p:tgtEl>
                                          <p:spTgt spid="244738">
                                            <p:txEl>
                                              <p:pRg st="1" end="1"/>
                                            </p:txEl>
                                          </p:spTgt>
                                        </p:tgtEl>
                                        <p:attrNameLst>
                                          <p:attrName>ppt_x</p:attrName>
                                        </p:attrNameLst>
                                      </p:cBhvr>
                                      <p:tavLst>
                                        <p:tav tm="0">
                                          <p:val>
                                            <p:strVal val="0-#ppt_w/2"/>
                                          </p:val>
                                        </p:tav>
                                        <p:tav tm="100000">
                                          <p:val>
                                            <p:strVal val="#ppt_x"/>
                                          </p:val>
                                        </p:tav>
                                      </p:tavLst>
                                    </p:anim>
                                    <p:anim calcmode="lin" valueType="num">
                                      <p:cBhvr additive="base">
                                        <p:cTn id="14" dur="500" fill="hold"/>
                                        <p:tgtEl>
                                          <p:spTgt spid="244738">
                                            <p:txEl>
                                              <p:pRg st="1" end="1"/>
                                            </p:txEl>
                                          </p:spTgt>
                                        </p:tgtEl>
                                        <p:attrNameLst>
                                          <p:attrName>ppt_y</p:attrName>
                                        </p:attrNameLst>
                                      </p:cBhvr>
                                      <p:tavLst>
                                        <p:tav tm="0">
                                          <p:val>
                                            <p:strVal val="#ppt_y"/>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8" fill="hold" grpId="0" nodeType="clickEffect">
                                  <p:stCondLst>
                                    <p:cond delay="0"/>
                                  </p:stCondLst>
                                  <p:childTnLst>
                                    <p:set>
                                      <p:cBhvr>
                                        <p:cTn id="18" dur="1" fill="hold">
                                          <p:stCondLst>
                                            <p:cond delay="0"/>
                                          </p:stCondLst>
                                        </p:cTn>
                                        <p:tgtEl>
                                          <p:spTgt spid="244738">
                                            <p:txEl>
                                              <p:pRg st="2" end="2"/>
                                            </p:txEl>
                                          </p:spTgt>
                                        </p:tgtEl>
                                        <p:attrNameLst>
                                          <p:attrName>style.visibility</p:attrName>
                                        </p:attrNameLst>
                                      </p:cBhvr>
                                      <p:to>
                                        <p:strVal val="visible"/>
                                      </p:to>
                                    </p:set>
                                    <p:anim calcmode="lin" valueType="num">
                                      <p:cBhvr additive="base">
                                        <p:cTn id="19" dur="500" fill="hold"/>
                                        <p:tgtEl>
                                          <p:spTgt spid="244738">
                                            <p:txEl>
                                              <p:pRg st="2" end="2"/>
                                            </p:txEl>
                                          </p:spTgt>
                                        </p:tgtEl>
                                        <p:attrNameLst>
                                          <p:attrName>ppt_x</p:attrName>
                                        </p:attrNameLst>
                                      </p:cBhvr>
                                      <p:tavLst>
                                        <p:tav tm="0">
                                          <p:val>
                                            <p:strVal val="0-#ppt_w/2"/>
                                          </p:val>
                                        </p:tav>
                                        <p:tav tm="100000">
                                          <p:val>
                                            <p:strVal val="#ppt_x"/>
                                          </p:val>
                                        </p:tav>
                                      </p:tavLst>
                                    </p:anim>
                                    <p:anim calcmode="lin" valueType="num">
                                      <p:cBhvr additive="base">
                                        <p:cTn id="20" dur="500" fill="hold"/>
                                        <p:tgtEl>
                                          <p:spTgt spid="244738">
                                            <p:txEl>
                                              <p:pRg st="2" end="2"/>
                                            </p:txEl>
                                          </p:spTgt>
                                        </p:tgtEl>
                                        <p:attrNameLst>
                                          <p:attrName>ppt_y</p:attrName>
                                        </p:attrNameLst>
                                      </p:cBhvr>
                                      <p:tavLst>
                                        <p:tav tm="0">
                                          <p:val>
                                            <p:strVal val="#ppt_y"/>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8" fill="hold" grpId="0" nodeType="clickEffect">
                                  <p:stCondLst>
                                    <p:cond delay="0"/>
                                  </p:stCondLst>
                                  <p:childTnLst>
                                    <p:set>
                                      <p:cBhvr>
                                        <p:cTn id="24" dur="1" fill="hold">
                                          <p:stCondLst>
                                            <p:cond delay="0"/>
                                          </p:stCondLst>
                                        </p:cTn>
                                        <p:tgtEl>
                                          <p:spTgt spid="244738">
                                            <p:txEl>
                                              <p:pRg st="3" end="3"/>
                                            </p:txEl>
                                          </p:spTgt>
                                        </p:tgtEl>
                                        <p:attrNameLst>
                                          <p:attrName>style.visibility</p:attrName>
                                        </p:attrNameLst>
                                      </p:cBhvr>
                                      <p:to>
                                        <p:strVal val="visible"/>
                                      </p:to>
                                    </p:set>
                                    <p:anim calcmode="lin" valueType="num">
                                      <p:cBhvr additive="base">
                                        <p:cTn id="25" dur="500" fill="hold"/>
                                        <p:tgtEl>
                                          <p:spTgt spid="244738">
                                            <p:txEl>
                                              <p:pRg st="3" end="3"/>
                                            </p:txEl>
                                          </p:spTgt>
                                        </p:tgtEl>
                                        <p:attrNameLst>
                                          <p:attrName>ppt_x</p:attrName>
                                        </p:attrNameLst>
                                      </p:cBhvr>
                                      <p:tavLst>
                                        <p:tav tm="0">
                                          <p:val>
                                            <p:strVal val="0-#ppt_w/2"/>
                                          </p:val>
                                        </p:tav>
                                        <p:tav tm="100000">
                                          <p:val>
                                            <p:strVal val="#ppt_x"/>
                                          </p:val>
                                        </p:tav>
                                      </p:tavLst>
                                    </p:anim>
                                    <p:anim calcmode="lin" valueType="num">
                                      <p:cBhvr additive="base">
                                        <p:cTn id="26" dur="500" fill="hold"/>
                                        <p:tgtEl>
                                          <p:spTgt spid="244738">
                                            <p:txEl>
                                              <p:pRg st="3" end="3"/>
                                            </p:txEl>
                                          </p:spTgt>
                                        </p:tgtEl>
                                        <p:attrNameLst>
                                          <p:attrName>ppt_y</p:attrName>
                                        </p:attrNameLst>
                                      </p:cBhvr>
                                      <p:tavLst>
                                        <p:tav tm="0">
                                          <p:val>
                                            <p:strVal val="#ppt_y"/>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8" fill="hold" grpId="0" nodeType="clickEffect">
                                  <p:stCondLst>
                                    <p:cond delay="0"/>
                                  </p:stCondLst>
                                  <p:childTnLst>
                                    <p:set>
                                      <p:cBhvr>
                                        <p:cTn id="30" dur="1" fill="hold">
                                          <p:stCondLst>
                                            <p:cond delay="0"/>
                                          </p:stCondLst>
                                        </p:cTn>
                                        <p:tgtEl>
                                          <p:spTgt spid="244738">
                                            <p:txEl>
                                              <p:pRg st="4" end="4"/>
                                            </p:txEl>
                                          </p:spTgt>
                                        </p:tgtEl>
                                        <p:attrNameLst>
                                          <p:attrName>style.visibility</p:attrName>
                                        </p:attrNameLst>
                                      </p:cBhvr>
                                      <p:to>
                                        <p:strVal val="visible"/>
                                      </p:to>
                                    </p:set>
                                    <p:anim calcmode="lin" valueType="num">
                                      <p:cBhvr additive="base">
                                        <p:cTn id="31" dur="500" fill="hold"/>
                                        <p:tgtEl>
                                          <p:spTgt spid="244738">
                                            <p:txEl>
                                              <p:pRg st="4" end="4"/>
                                            </p:txEl>
                                          </p:spTgt>
                                        </p:tgtEl>
                                        <p:attrNameLst>
                                          <p:attrName>ppt_x</p:attrName>
                                        </p:attrNameLst>
                                      </p:cBhvr>
                                      <p:tavLst>
                                        <p:tav tm="0">
                                          <p:val>
                                            <p:strVal val="0-#ppt_w/2"/>
                                          </p:val>
                                        </p:tav>
                                        <p:tav tm="100000">
                                          <p:val>
                                            <p:strVal val="#ppt_x"/>
                                          </p:val>
                                        </p:tav>
                                      </p:tavLst>
                                    </p:anim>
                                    <p:anim calcmode="lin" valueType="num">
                                      <p:cBhvr additive="base">
                                        <p:cTn id="32" dur="500" fill="hold"/>
                                        <p:tgtEl>
                                          <p:spTgt spid="244738">
                                            <p:txEl>
                                              <p:pRg st="4" end="4"/>
                                            </p:txEl>
                                          </p:spTgt>
                                        </p:tgtEl>
                                        <p:attrNameLst>
                                          <p:attrName>ppt_y</p:attrName>
                                        </p:attrNameLst>
                                      </p:cBhvr>
                                      <p:tavLst>
                                        <p:tav tm="0">
                                          <p:val>
                                            <p:strVal val="#ppt_y"/>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8" fill="hold" grpId="0" nodeType="clickEffect">
                                  <p:stCondLst>
                                    <p:cond delay="0"/>
                                  </p:stCondLst>
                                  <p:childTnLst>
                                    <p:set>
                                      <p:cBhvr>
                                        <p:cTn id="36" dur="1" fill="hold">
                                          <p:stCondLst>
                                            <p:cond delay="0"/>
                                          </p:stCondLst>
                                        </p:cTn>
                                        <p:tgtEl>
                                          <p:spTgt spid="244738">
                                            <p:txEl>
                                              <p:pRg st="5" end="5"/>
                                            </p:txEl>
                                          </p:spTgt>
                                        </p:tgtEl>
                                        <p:attrNameLst>
                                          <p:attrName>style.visibility</p:attrName>
                                        </p:attrNameLst>
                                      </p:cBhvr>
                                      <p:to>
                                        <p:strVal val="visible"/>
                                      </p:to>
                                    </p:set>
                                    <p:anim calcmode="lin" valueType="num">
                                      <p:cBhvr additive="base">
                                        <p:cTn id="37" dur="500" fill="hold"/>
                                        <p:tgtEl>
                                          <p:spTgt spid="244738">
                                            <p:txEl>
                                              <p:pRg st="5" end="5"/>
                                            </p:txEl>
                                          </p:spTgt>
                                        </p:tgtEl>
                                        <p:attrNameLst>
                                          <p:attrName>ppt_x</p:attrName>
                                        </p:attrNameLst>
                                      </p:cBhvr>
                                      <p:tavLst>
                                        <p:tav tm="0">
                                          <p:val>
                                            <p:strVal val="0-#ppt_w/2"/>
                                          </p:val>
                                        </p:tav>
                                        <p:tav tm="100000">
                                          <p:val>
                                            <p:strVal val="#ppt_x"/>
                                          </p:val>
                                        </p:tav>
                                      </p:tavLst>
                                    </p:anim>
                                    <p:anim calcmode="lin" valueType="num">
                                      <p:cBhvr additive="base">
                                        <p:cTn id="38" dur="500" fill="hold"/>
                                        <p:tgtEl>
                                          <p:spTgt spid="244738">
                                            <p:txEl>
                                              <p:pRg st="5" end="5"/>
                                            </p:txEl>
                                          </p:spTgt>
                                        </p:tgtEl>
                                        <p:attrNameLst>
                                          <p:attrName>ppt_y</p:attrName>
                                        </p:attrNameLst>
                                      </p:cBhvr>
                                      <p:tavLst>
                                        <p:tav tm="0">
                                          <p:val>
                                            <p:strVal val="#ppt_y"/>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2" presetClass="entr" presetSubtype="8" fill="hold" grpId="0" nodeType="clickEffect">
                                  <p:stCondLst>
                                    <p:cond delay="0"/>
                                  </p:stCondLst>
                                  <p:childTnLst>
                                    <p:set>
                                      <p:cBhvr>
                                        <p:cTn id="42" dur="1" fill="hold">
                                          <p:stCondLst>
                                            <p:cond delay="0"/>
                                          </p:stCondLst>
                                        </p:cTn>
                                        <p:tgtEl>
                                          <p:spTgt spid="244738">
                                            <p:txEl>
                                              <p:pRg st="6" end="6"/>
                                            </p:txEl>
                                          </p:spTgt>
                                        </p:tgtEl>
                                        <p:attrNameLst>
                                          <p:attrName>style.visibility</p:attrName>
                                        </p:attrNameLst>
                                      </p:cBhvr>
                                      <p:to>
                                        <p:strVal val="visible"/>
                                      </p:to>
                                    </p:set>
                                    <p:anim calcmode="lin" valueType="num">
                                      <p:cBhvr additive="base">
                                        <p:cTn id="43" dur="500" fill="hold"/>
                                        <p:tgtEl>
                                          <p:spTgt spid="244738">
                                            <p:txEl>
                                              <p:pRg st="6" end="6"/>
                                            </p:txEl>
                                          </p:spTgt>
                                        </p:tgtEl>
                                        <p:attrNameLst>
                                          <p:attrName>ppt_x</p:attrName>
                                        </p:attrNameLst>
                                      </p:cBhvr>
                                      <p:tavLst>
                                        <p:tav tm="0">
                                          <p:val>
                                            <p:strVal val="0-#ppt_w/2"/>
                                          </p:val>
                                        </p:tav>
                                        <p:tav tm="100000">
                                          <p:val>
                                            <p:strVal val="#ppt_x"/>
                                          </p:val>
                                        </p:tav>
                                      </p:tavLst>
                                    </p:anim>
                                    <p:anim calcmode="lin" valueType="num">
                                      <p:cBhvr additive="base">
                                        <p:cTn id="44" dur="500" fill="hold"/>
                                        <p:tgtEl>
                                          <p:spTgt spid="244738">
                                            <p:txEl>
                                              <p:pRg st="6" end="6"/>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4738" grpId="0" build="p" bldLvl="3" autoUpdateAnimBg="0"/>
    </p:bldLst>
  </p:timing>
</p:sld>
</file>

<file path=ppt/slides/slide42.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45762" name="Rectangle 2"/>
          <p:cNvSpPr>
            <a:spLocks noGrp="1" noChangeArrowheads="1"/>
          </p:cNvSpPr>
          <p:nvPr>
            <p:ph idx="1"/>
          </p:nvPr>
        </p:nvSpPr>
        <p:spPr>
          <a:xfrm>
            <a:off x="685800" y="152400"/>
            <a:ext cx="8229600" cy="5715000"/>
          </a:xfrm>
        </p:spPr>
        <p:txBody>
          <a:bodyPr/>
          <a:lstStyle/>
          <a:p>
            <a:pPr eaLnBrk="1" hangingPunct="1">
              <a:lnSpc>
                <a:spcPct val="90000"/>
              </a:lnSpc>
              <a:buFont typeface="Monotype Sorts" pitchFamily="2" charset="2"/>
              <a:buNone/>
            </a:pPr>
            <a:r>
              <a:rPr lang="en-US" sz="3600" b="1" smtClean="0">
                <a:solidFill>
                  <a:schemeClr val="tx2"/>
                </a:solidFill>
              </a:rPr>
              <a:t>Physical Methods of Microbial </a:t>
            </a:r>
          </a:p>
          <a:p>
            <a:pPr eaLnBrk="1" hangingPunct="1">
              <a:lnSpc>
                <a:spcPct val="90000"/>
              </a:lnSpc>
              <a:buFont typeface="Monotype Sorts" pitchFamily="2" charset="2"/>
              <a:buNone/>
            </a:pPr>
            <a:r>
              <a:rPr lang="en-US" sz="3600" b="1" smtClean="0">
                <a:solidFill>
                  <a:schemeClr val="tx2"/>
                </a:solidFill>
              </a:rPr>
              <a:t>Control:</a:t>
            </a:r>
          </a:p>
          <a:p>
            <a:pPr eaLnBrk="1" hangingPunct="1">
              <a:lnSpc>
                <a:spcPct val="90000"/>
              </a:lnSpc>
              <a:buFont typeface="Monotype Sorts" pitchFamily="2" charset="2"/>
              <a:buNone/>
            </a:pPr>
            <a:r>
              <a:rPr lang="en-US" sz="2800" b="1" smtClean="0"/>
              <a:t>	Radiation: </a:t>
            </a:r>
            <a:r>
              <a:rPr lang="en-US" sz="2800" smtClean="0"/>
              <a:t>Three types of radiation kill microbes:</a:t>
            </a:r>
          </a:p>
          <a:p>
            <a:pPr eaLnBrk="1" hangingPunct="1">
              <a:lnSpc>
                <a:spcPct val="90000"/>
              </a:lnSpc>
              <a:buFont typeface="Monotype Sorts" pitchFamily="2" charset="2"/>
              <a:buNone/>
            </a:pPr>
            <a:endParaRPr lang="en-US" sz="2800" b="1" smtClean="0"/>
          </a:p>
          <a:p>
            <a:pPr eaLnBrk="1" hangingPunct="1">
              <a:lnSpc>
                <a:spcPct val="90000"/>
              </a:lnSpc>
              <a:buFont typeface="Monotype Sorts" pitchFamily="2" charset="2"/>
              <a:buNone/>
            </a:pPr>
            <a:r>
              <a:rPr lang="en-US" sz="2800" b="1" smtClean="0"/>
              <a:t>3.</a:t>
            </a:r>
            <a:r>
              <a:rPr lang="en-US" sz="2800" smtClean="0"/>
              <a:t> </a:t>
            </a:r>
            <a:r>
              <a:rPr lang="en-US" sz="2800" b="1" smtClean="0"/>
              <a:t>Microwave Radiation:</a:t>
            </a:r>
            <a:r>
              <a:rPr lang="en-US" sz="2800" smtClean="0"/>
              <a:t>  Wavelength ranges from  1 millimeter to 1 meter. </a:t>
            </a:r>
          </a:p>
          <a:p>
            <a:pPr eaLnBrk="1" hangingPunct="1">
              <a:lnSpc>
                <a:spcPct val="90000"/>
              </a:lnSpc>
              <a:buFont typeface="Monotype Sorts" pitchFamily="2" charset="2"/>
              <a:buNone/>
            </a:pPr>
            <a:r>
              <a:rPr lang="en-US" sz="2800" smtClean="0"/>
              <a:t>	Heat is absorbed by water molecules. </a:t>
            </a:r>
          </a:p>
          <a:p>
            <a:pPr eaLnBrk="1" hangingPunct="1">
              <a:lnSpc>
                <a:spcPct val="90000"/>
              </a:lnSpc>
              <a:buFont typeface="Monotype Sorts" pitchFamily="2" charset="2"/>
              <a:buNone/>
            </a:pPr>
            <a:r>
              <a:rPr lang="en-US" sz="2800" smtClean="0"/>
              <a:t>	May kill vegetative cells in moist foods. </a:t>
            </a:r>
          </a:p>
          <a:p>
            <a:pPr eaLnBrk="1" hangingPunct="1">
              <a:lnSpc>
                <a:spcPct val="90000"/>
              </a:lnSpc>
              <a:buFont typeface="Monotype Sorts" pitchFamily="2" charset="2"/>
              <a:buNone/>
            </a:pPr>
            <a:r>
              <a:rPr lang="en-US" sz="2800" smtClean="0"/>
              <a:t>	Bacterial endospores, which do not contain water, are not damaged by microwave radiation. </a:t>
            </a:r>
          </a:p>
          <a:p>
            <a:pPr eaLnBrk="1" hangingPunct="1">
              <a:lnSpc>
                <a:spcPct val="90000"/>
              </a:lnSpc>
              <a:buFont typeface="Monotype Sorts" pitchFamily="2" charset="2"/>
              <a:buNone/>
            </a:pPr>
            <a:r>
              <a:rPr lang="en-US" sz="2800" smtClean="0"/>
              <a:t>	Solid foods are unevenly penetrated by microwaves.</a:t>
            </a:r>
          </a:p>
          <a:p>
            <a:pPr eaLnBrk="1" hangingPunct="1">
              <a:lnSpc>
                <a:spcPct val="90000"/>
              </a:lnSpc>
              <a:buFont typeface="Monotype Sorts" pitchFamily="2" charset="2"/>
              <a:buNone/>
            </a:pPr>
            <a:r>
              <a:rPr lang="en-US" sz="2800" smtClean="0"/>
              <a:t>	</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245762">
                                            <p:txEl>
                                              <p:pRg st="0" end="0"/>
                                            </p:txEl>
                                          </p:spTgt>
                                        </p:tgtEl>
                                        <p:attrNameLst>
                                          <p:attrName>style.visibility</p:attrName>
                                        </p:attrNameLst>
                                      </p:cBhvr>
                                      <p:to>
                                        <p:strVal val="visible"/>
                                      </p:to>
                                    </p:set>
                                    <p:anim calcmode="lin" valueType="num">
                                      <p:cBhvr additive="base">
                                        <p:cTn id="7" dur="500" fill="hold"/>
                                        <p:tgtEl>
                                          <p:spTgt spid="245762">
                                            <p:txEl>
                                              <p:pRg st="0" end="0"/>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245762">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245762">
                                            <p:txEl>
                                              <p:pRg st="1" end="1"/>
                                            </p:txEl>
                                          </p:spTgt>
                                        </p:tgtEl>
                                        <p:attrNameLst>
                                          <p:attrName>style.visibility</p:attrName>
                                        </p:attrNameLst>
                                      </p:cBhvr>
                                      <p:to>
                                        <p:strVal val="visible"/>
                                      </p:to>
                                    </p:set>
                                    <p:anim calcmode="lin" valueType="num">
                                      <p:cBhvr additive="base">
                                        <p:cTn id="13" dur="500" fill="hold"/>
                                        <p:tgtEl>
                                          <p:spTgt spid="245762">
                                            <p:txEl>
                                              <p:pRg st="1" end="1"/>
                                            </p:txEl>
                                          </p:spTgt>
                                        </p:tgtEl>
                                        <p:attrNameLst>
                                          <p:attrName>ppt_x</p:attrName>
                                        </p:attrNameLst>
                                      </p:cBhvr>
                                      <p:tavLst>
                                        <p:tav tm="0">
                                          <p:val>
                                            <p:strVal val="0-#ppt_w/2"/>
                                          </p:val>
                                        </p:tav>
                                        <p:tav tm="100000">
                                          <p:val>
                                            <p:strVal val="#ppt_x"/>
                                          </p:val>
                                        </p:tav>
                                      </p:tavLst>
                                    </p:anim>
                                    <p:anim calcmode="lin" valueType="num">
                                      <p:cBhvr additive="base">
                                        <p:cTn id="14" dur="500" fill="hold"/>
                                        <p:tgtEl>
                                          <p:spTgt spid="245762">
                                            <p:txEl>
                                              <p:pRg st="1" end="1"/>
                                            </p:txEl>
                                          </p:spTgt>
                                        </p:tgtEl>
                                        <p:attrNameLst>
                                          <p:attrName>ppt_y</p:attrName>
                                        </p:attrNameLst>
                                      </p:cBhvr>
                                      <p:tavLst>
                                        <p:tav tm="0">
                                          <p:val>
                                            <p:strVal val="#ppt_y"/>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8" fill="hold" grpId="0" nodeType="clickEffect">
                                  <p:stCondLst>
                                    <p:cond delay="0"/>
                                  </p:stCondLst>
                                  <p:childTnLst>
                                    <p:set>
                                      <p:cBhvr>
                                        <p:cTn id="18" dur="1" fill="hold">
                                          <p:stCondLst>
                                            <p:cond delay="0"/>
                                          </p:stCondLst>
                                        </p:cTn>
                                        <p:tgtEl>
                                          <p:spTgt spid="245762">
                                            <p:txEl>
                                              <p:pRg st="2" end="2"/>
                                            </p:txEl>
                                          </p:spTgt>
                                        </p:tgtEl>
                                        <p:attrNameLst>
                                          <p:attrName>style.visibility</p:attrName>
                                        </p:attrNameLst>
                                      </p:cBhvr>
                                      <p:to>
                                        <p:strVal val="visible"/>
                                      </p:to>
                                    </p:set>
                                    <p:anim calcmode="lin" valueType="num">
                                      <p:cBhvr additive="base">
                                        <p:cTn id="19" dur="500" fill="hold"/>
                                        <p:tgtEl>
                                          <p:spTgt spid="245762">
                                            <p:txEl>
                                              <p:pRg st="2" end="2"/>
                                            </p:txEl>
                                          </p:spTgt>
                                        </p:tgtEl>
                                        <p:attrNameLst>
                                          <p:attrName>ppt_x</p:attrName>
                                        </p:attrNameLst>
                                      </p:cBhvr>
                                      <p:tavLst>
                                        <p:tav tm="0">
                                          <p:val>
                                            <p:strVal val="0-#ppt_w/2"/>
                                          </p:val>
                                        </p:tav>
                                        <p:tav tm="100000">
                                          <p:val>
                                            <p:strVal val="#ppt_x"/>
                                          </p:val>
                                        </p:tav>
                                      </p:tavLst>
                                    </p:anim>
                                    <p:anim calcmode="lin" valueType="num">
                                      <p:cBhvr additive="base">
                                        <p:cTn id="20" dur="500" fill="hold"/>
                                        <p:tgtEl>
                                          <p:spTgt spid="245762">
                                            <p:txEl>
                                              <p:pRg st="2" end="2"/>
                                            </p:txEl>
                                          </p:spTgt>
                                        </p:tgtEl>
                                        <p:attrNameLst>
                                          <p:attrName>ppt_y</p:attrName>
                                        </p:attrNameLst>
                                      </p:cBhvr>
                                      <p:tavLst>
                                        <p:tav tm="0">
                                          <p:val>
                                            <p:strVal val="#ppt_y"/>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8" fill="hold" grpId="0" nodeType="clickEffect">
                                  <p:stCondLst>
                                    <p:cond delay="0"/>
                                  </p:stCondLst>
                                  <p:childTnLst>
                                    <p:set>
                                      <p:cBhvr>
                                        <p:cTn id="24" dur="1" fill="hold">
                                          <p:stCondLst>
                                            <p:cond delay="0"/>
                                          </p:stCondLst>
                                        </p:cTn>
                                        <p:tgtEl>
                                          <p:spTgt spid="245762">
                                            <p:txEl>
                                              <p:pRg st="4" end="4"/>
                                            </p:txEl>
                                          </p:spTgt>
                                        </p:tgtEl>
                                        <p:attrNameLst>
                                          <p:attrName>style.visibility</p:attrName>
                                        </p:attrNameLst>
                                      </p:cBhvr>
                                      <p:to>
                                        <p:strVal val="visible"/>
                                      </p:to>
                                    </p:set>
                                    <p:anim calcmode="lin" valueType="num">
                                      <p:cBhvr additive="base">
                                        <p:cTn id="25" dur="500" fill="hold"/>
                                        <p:tgtEl>
                                          <p:spTgt spid="245762">
                                            <p:txEl>
                                              <p:pRg st="4" end="4"/>
                                            </p:txEl>
                                          </p:spTgt>
                                        </p:tgtEl>
                                        <p:attrNameLst>
                                          <p:attrName>ppt_x</p:attrName>
                                        </p:attrNameLst>
                                      </p:cBhvr>
                                      <p:tavLst>
                                        <p:tav tm="0">
                                          <p:val>
                                            <p:strVal val="0-#ppt_w/2"/>
                                          </p:val>
                                        </p:tav>
                                        <p:tav tm="100000">
                                          <p:val>
                                            <p:strVal val="#ppt_x"/>
                                          </p:val>
                                        </p:tav>
                                      </p:tavLst>
                                    </p:anim>
                                    <p:anim calcmode="lin" valueType="num">
                                      <p:cBhvr additive="base">
                                        <p:cTn id="26" dur="500" fill="hold"/>
                                        <p:tgtEl>
                                          <p:spTgt spid="245762">
                                            <p:txEl>
                                              <p:pRg st="4" end="4"/>
                                            </p:txEl>
                                          </p:spTgt>
                                        </p:tgtEl>
                                        <p:attrNameLst>
                                          <p:attrName>ppt_y</p:attrName>
                                        </p:attrNameLst>
                                      </p:cBhvr>
                                      <p:tavLst>
                                        <p:tav tm="0">
                                          <p:val>
                                            <p:strVal val="#ppt_y"/>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8" fill="hold" grpId="0" nodeType="clickEffect">
                                  <p:stCondLst>
                                    <p:cond delay="0"/>
                                  </p:stCondLst>
                                  <p:childTnLst>
                                    <p:set>
                                      <p:cBhvr>
                                        <p:cTn id="30" dur="1" fill="hold">
                                          <p:stCondLst>
                                            <p:cond delay="0"/>
                                          </p:stCondLst>
                                        </p:cTn>
                                        <p:tgtEl>
                                          <p:spTgt spid="245762">
                                            <p:txEl>
                                              <p:pRg st="5" end="5"/>
                                            </p:txEl>
                                          </p:spTgt>
                                        </p:tgtEl>
                                        <p:attrNameLst>
                                          <p:attrName>style.visibility</p:attrName>
                                        </p:attrNameLst>
                                      </p:cBhvr>
                                      <p:to>
                                        <p:strVal val="visible"/>
                                      </p:to>
                                    </p:set>
                                    <p:anim calcmode="lin" valueType="num">
                                      <p:cBhvr additive="base">
                                        <p:cTn id="31" dur="500" fill="hold"/>
                                        <p:tgtEl>
                                          <p:spTgt spid="245762">
                                            <p:txEl>
                                              <p:pRg st="5" end="5"/>
                                            </p:txEl>
                                          </p:spTgt>
                                        </p:tgtEl>
                                        <p:attrNameLst>
                                          <p:attrName>ppt_x</p:attrName>
                                        </p:attrNameLst>
                                      </p:cBhvr>
                                      <p:tavLst>
                                        <p:tav tm="0">
                                          <p:val>
                                            <p:strVal val="0-#ppt_w/2"/>
                                          </p:val>
                                        </p:tav>
                                        <p:tav tm="100000">
                                          <p:val>
                                            <p:strVal val="#ppt_x"/>
                                          </p:val>
                                        </p:tav>
                                      </p:tavLst>
                                    </p:anim>
                                    <p:anim calcmode="lin" valueType="num">
                                      <p:cBhvr additive="base">
                                        <p:cTn id="32" dur="500" fill="hold"/>
                                        <p:tgtEl>
                                          <p:spTgt spid="245762">
                                            <p:txEl>
                                              <p:pRg st="5" end="5"/>
                                            </p:txEl>
                                          </p:spTgt>
                                        </p:tgtEl>
                                        <p:attrNameLst>
                                          <p:attrName>ppt_y</p:attrName>
                                        </p:attrNameLst>
                                      </p:cBhvr>
                                      <p:tavLst>
                                        <p:tav tm="0">
                                          <p:val>
                                            <p:strVal val="#ppt_y"/>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8" fill="hold" grpId="0" nodeType="clickEffect">
                                  <p:stCondLst>
                                    <p:cond delay="0"/>
                                  </p:stCondLst>
                                  <p:childTnLst>
                                    <p:set>
                                      <p:cBhvr>
                                        <p:cTn id="36" dur="1" fill="hold">
                                          <p:stCondLst>
                                            <p:cond delay="0"/>
                                          </p:stCondLst>
                                        </p:cTn>
                                        <p:tgtEl>
                                          <p:spTgt spid="245762">
                                            <p:txEl>
                                              <p:pRg st="6" end="6"/>
                                            </p:txEl>
                                          </p:spTgt>
                                        </p:tgtEl>
                                        <p:attrNameLst>
                                          <p:attrName>style.visibility</p:attrName>
                                        </p:attrNameLst>
                                      </p:cBhvr>
                                      <p:to>
                                        <p:strVal val="visible"/>
                                      </p:to>
                                    </p:set>
                                    <p:anim calcmode="lin" valueType="num">
                                      <p:cBhvr additive="base">
                                        <p:cTn id="37" dur="500" fill="hold"/>
                                        <p:tgtEl>
                                          <p:spTgt spid="245762">
                                            <p:txEl>
                                              <p:pRg st="6" end="6"/>
                                            </p:txEl>
                                          </p:spTgt>
                                        </p:tgtEl>
                                        <p:attrNameLst>
                                          <p:attrName>ppt_x</p:attrName>
                                        </p:attrNameLst>
                                      </p:cBhvr>
                                      <p:tavLst>
                                        <p:tav tm="0">
                                          <p:val>
                                            <p:strVal val="0-#ppt_w/2"/>
                                          </p:val>
                                        </p:tav>
                                        <p:tav tm="100000">
                                          <p:val>
                                            <p:strVal val="#ppt_x"/>
                                          </p:val>
                                        </p:tav>
                                      </p:tavLst>
                                    </p:anim>
                                    <p:anim calcmode="lin" valueType="num">
                                      <p:cBhvr additive="base">
                                        <p:cTn id="38" dur="500" fill="hold"/>
                                        <p:tgtEl>
                                          <p:spTgt spid="245762">
                                            <p:txEl>
                                              <p:pRg st="6" end="6"/>
                                            </p:txEl>
                                          </p:spTgt>
                                        </p:tgtEl>
                                        <p:attrNameLst>
                                          <p:attrName>ppt_y</p:attrName>
                                        </p:attrNameLst>
                                      </p:cBhvr>
                                      <p:tavLst>
                                        <p:tav tm="0">
                                          <p:val>
                                            <p:strVal val="#ppt_y"/>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2" presetClass="entr" presetSubtype="8" fill="hold" grpId="0" nodeType="clickEffect">
                                  <p:stCondLst>
                                    <p:cond delay="0"/>
                                  </p:stCondLst>
                                  <p:childTnLst>
                                    <p:set>
                                      <p:cBhvr>
                                        <p:cTn id="42" dur="1" fill="hold">
                                          <p:stCondLst>
                                            <p:cond delay="0"/>
                                          </p:stCondLst>
                                        </p:cTn>
                                        <p:tgtEl>
                                          <p:spTgt spid="245762">
                                            <p:txEl>
                                              <p:pRg st="7" end="7"/>
                                            </p:txEl>
                                          </p:spTgt>
                                        </p:tgtEl>
                                        <p:attrNameLst>
                                          <p:attrName>style.visibility</p:attrName>
                                        </p:attrNameLst>
                                      </p:cBhvr>
                                      <p:to>
                                        <p:strVal val="visible"/>
                                      </p:to>
                                    </p:set>
                                    <p:anim calcmode="lin" valueType="num">
                                      <p:cBhvr additive="base">
                                        <p:cTn id="43" dur="500" fill="hold"/>
                                        <p:tgtEl>
                                          <p:spTgt spid="245762">
                                            <p:txEl>
                                              <p:pRg st="7" end="7"/>
                                            </p:txEl>
                                          </p:spTgt>
                                        </p:tgtEl>
                                        <p:attrNameLst>
                                          <p:attrName>ppt_x</p:attrName>
                                        </p:attrNameLst>
                                      </p:cBhvr>
                                      <p:tavLst>
                                        <p:tav tm="0">
                                          <p:val>
                                            <p:strVal val="0-#ppt_w/2"/>
                                          </p:val>
                                        </p:tav>
                                        <p:tav tm="100000">
                                          <p:val>
                                            <p:strVal val="#ppt_x"/>
                                          </p:val>
                                        </p:tav>
                                      </p:tavLst>
                                    </p:anim>
                                    <p:anim calcmode="lin" valueType="num">
                                      <p:cBhvr additive="base">
                                        <p:cTn id="44" dur="500" fill="hold"/>
                                        <p:tgtEl>
                                          <p:spTgt spid="245762">
                                            <p:txEl>
                                              <p:pRg st="7" end="7"/>
                                            </p:txEl>
                                          </p:spTgt>
                                        </p:tgtEl>
                                        <p:attrNameLst>
                                          <p:attrName>ppt_y</p:attrName>
                                        </p:attrNameLst>
                                      </p:cBhvr>
                                      <p:tavLst>
                                        <p:tav tm="0">
                                          <p:val>
                                            <p:strVal val="#ppt_y"/>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2" presetClass="entr" presetSubtype="8" fill="hold" grpId="0" nodeType="clickEffect">
                                  <p:stCondLst>
                                    <p:cond delay="0"/>
                                  </p:stCondLst>
                                  <p:childTnLst>
                                    <p:set>
                                      <p:cBhvr>
                                        <p:cTn id="48" dur="1" fill="hold">
                                          <p:stCondLst>
                                            <p:cond delay="0"/>
                                          </p:stCondLst>
                                        </p:cTn>
                                        <p:tgtEl>
                                          <p:spTgt spid="245762">
                                            <p:txEl>
                                              <p:pRg st="8" end="8"/>
                                            </p:txEl>
                                          </p:spTgt>
                                        </p:tgtEl>
                                        <p:attrNameLst>
                                          <p:attrName>style.visibility</p:attrName>
                                        </p:attrNameLst>
                                      </p:cBhvr>
                                      <p:to>
                                        <p:strVal val="visible"/>
                                      </p:to>
                                    </p:set>
                                    <p:anim calcmode="lin" valueType="num">
                                      <p:cBhvr additive="base">
                                        <p:cTn id="49" dur="500" fill="hold"/>
                                        <p:tgtEl>
                                          <p:spTgt spid="245762">
                                            <p:txEl>
                                              <p:pRg st="8" end="8"/>
                                            </p:txEl>
                                          </p:spTgt>
                                        </p:tgtEl>
                                        <p:attrNameLst>
                                          <p:attrName>ppt_x</p:attrName>
                                        </p:attrNameLst>
                                      </p:cBhvr>
                                      <p:tavLst>
                                        <p:tav tm="0">
                                          <p:val>
                                            <p:strVal val="0-#ppt_w/2"/>
                                          </p:val>
                                        </p:tav>
                                        <p:tav tm="100000">
                                          <p:val>
                                            <p:strVal val="#ppt_x"/>
                                          </p:val>
                                        </p:tav>
                                      </p:tavLst>
                                    </p:anim>
                                    <p:anim calcmode="lin" valueType="num">
                                      <p:cBhvr additive="base">
                                        <p:cTn id="50" dur="500" fill="hold"/>
                                        <p:tgtEl>
                                          <p:spTgt spid="245762">
                                            <p:txEl>
                                              <p:pRg st="8" end="8"/>
                                            </p:txEl>
                                          </p:spTgt>
                                        </p:tgtEl>
                                        <p:attrNameLst>
                                          <p:attrName>ppt_y</p:attrName>
                                        </p:attrNameLst>
                                      </p:cBhvr>
                                      <p:tavLst>
                                        <p:tav tm="0">
                                          <p:val>
                                            <p:strVal val="#ppt_y"/>
                                          </p:val>
                                        </p:tav>
                                        <p:tav tm="100000">
                                          <p:val>
                                            <p:strVal val="#ppt_y"/>
                                          </p:val>
                                        </p:tav>
                                      </p:tavLst>
                                    </p:anim>
                                  </p:childTnLst>
                                </p:cTn>
                              </p:par>
                            </p:childTnLst>
                          </p:cTn>
                        </p:par>
                      </p:childTnLst>
                    </p:cTn>
                  </p:par>
                  <p:par>
                    <p:cTn id="51" fill="hold">
                      <p:stCondLst>
                        <p:cond delay="indefinite"/>
                      </p:stCondLst>
                      <p:childTnLst>
                        <p:par>
                          <p:cTn id="52" fill="hold">
                            <p:stCondLst>
                              <p:cond delay="0"/>
                            </p:stCondLst>
                            <p:childTnLst>
                              <p:par>
                                <p:cTn id="53" presetID="2" presetClass="entr" presetSubtype="8" fill="hold" grpId="0" nodeType="clickEffect">
                                  <p:stCondLst>
                                    <p:cond delay="0"/>
                                  </p:stCondLst>
                                  <p:childTnLst>
                                    <p:set>
                                      <p:cBhvr>
                                        <p:cTn id="54" dur="1" fill="hold">
                                          <p:stCondLst>
                                            <p:cond delay="0"/>
                                          </p:stCondLst>
                                        </p:cTn>
                                        <p:tgtEl>
                                          <p:spTgt spid="245762">
                                            <p:txEl>
                                              <p:pRg st="9" end="9"/>
                                            </p:txEl>
                                          </p:spTgt>
                                        </p:tgtEl>
                                        <p:attrNameLst>
                                          <p:attrName>style.visibility</p:attrName>
                                        </p:attrNameLst>
                                      </p:cBhvr>
                                      <p:to>
                                        <p:strVal val="visible"/>
                                      </p:to>
                                    </p:set>
                                    <p:anim calcmode="lin" valueType="num">
                                      <p:cBhvr additive="base">
                                        <p:cTn id="55" dur="500" fill="hold"/>
                                        <p:tgtEl>
                                          <p:spTgt spid="245762">
                                            <p:txEl>
                                              <p:pRg st="9" end="9"/>
                                            </p:txEl>
                                          </p:spTgt>
                                        </p:tgtEl>
                                        <p:attrNameLst>
                                          <p:attrName>ppt_x</p:attrName>
                                        </p:attrNameLst>
                                      </p:cBhvr>
                                      <p:tavLst>
                                        <p:tav tm="0">
                                          <p:val>
                                            <p:strVal val="0-#ppt_w/2"/>
                                          </p:val>
                                        </p:tav>
                                        <p:tav tm="100000">
                                          <p:val>
                                            <p:strVal val="#ppt_x"/>
                                          </p:val>
                                        </p:tav>
                                      </p:tavLst>
                                    </p:anim>
                                    <p:anim calcmode="lin" valueType="num">
                                      <p:cBhvr additive="base">
                                        <p:cTn id="56" dur="500" fill="hold"/>
                                        <p:tgtEl>
                                          <p:spTgt spid="245762">
                                            <p:txEl>
                                              <p:pRg st="9" end="9"/>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5762" grpId="0" build="p" bldLvl="3" autoUpdateAnimBg="0"/>
    </p:bldLst>
  </p:timing>
</p:sld>
</file>

<file path=ppt/slides/slide43.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53250" name="Rectangle 2"/>
          <p:cNvSpPr>
            <a:spLocks noGrp="1" noChangeArrowheads="1"/>
          </p:cNvSpPr>
          <p:nvPr>
            <p:ph type="title"/>
          </p:nvPr>
        </p:nvSpPr>
        <p:spPr>
          <a:xfrm>
            <a:off x="0" y="0"/>
            <a:ext cx="9144000" cy="685800"/>
          </a:xfrm>
        </p:spPr>
        <p:txBody>
          <a:bodyPr/>
          <a:lstStyle/>
          <a:p>
            <a:endParaRPr lang="en-US" smtClean="0"/>
          </a:p>
        </p:txBody>
      </p:sp>
      <p:sp>
        <p:nvSpPr>
          <p:cNvPr id="34819" name="Rectangle 3"/>
          <p:cNvSpPr>
            <a:spLocks noGrp="1" noChangeArrowheads="1"/>
          </p:cNvSpPr>
          <p:nvPr>
            <p:ph type="body" idx="1"/>
          </p:nvPr>
        </p:nvSpPr>
        <p:spPr>
          <a:xfrm>
            <a:off x="0" y="533400"/>
            <a:ext cx="9144000" cy="6324600"/>
          </a:xfrm>
        </p:spPr>
        <p:txBody>
          <a:bodyPr/>
          <a:lstStyle/>
          <a:p>
            <a:pPr>
              <a:buFont typeface="Arial" charset="0"/>
              <a:buNone/>
            </a:pPr>
            <a:r>
              <a:rPr lang="en-US" sz="2800" smtClean="0"/>
              <a:t>1. Heat</a:t>
            </a:r>
          </a:p>
          <a:p>
            <a:pPr lvl="1">
              <a:buFont typeface="Arial" charset="0"/>
              <a:buNone/>
            </a:pPr>
            <a:r>
              <a:rPr lang="en-US" sz="2400" smtClean="0"/>
              <a:t>Moist Heat</a:t>
            </a:r>
          </a:p>
          <a:p>
            <a:pPr lvl="2">
              <a:buFont typeface="Arial" charset="0"/>
              <a:buNone/>
            </a:pPr>
            <a:r>
              <a:rPr lang="en-US" sz="2000" smtClean="0"/>
              <a:t>Boiling Water</a:t>
            </a:r>
          </a:p>
          <a:p>
            <a:pPr lvl="2">
              <a:buFont typeface="Arial" charset="0"/>
              <a:buNone/>
            </a:pPr>
            <a:r>
              <a:rPr lang="en-US" sz="2000" smtClean="0"/>
              <a:t>Steam Heat  (Autoclave)</a:t>
            </a:r>
          </a:p>
          <a:p>
            <a:pPr lvl="1">
              <a:buFont typeface="Arial" charset="0"/>
              <a:buNone/>
            </a:pPr>
            <a:r>
              <a:rPr lang="en-US" sz="2400" smtClean="0"/>
              <a:t>Dry Heat</a:t>
            </a:r>
          </a:p>
          <a:p>
            <a:pPr lvl="2">
              <a:buFont typeface="Arial" charset="0"/>
              <a:buNone/>
            </a:pPr>
            <a:r>
              <a:rPr lang="en-US" sz="2000" smtClean="0"/>
              <a:t>Direct Flaming</a:t>
            </a:r>
          </a:p>
          <a:p>
            <a:pPr lvl="2">
              <a:buFont typeface="Arial" charset="0"/>
              <a:buNone/>
            </a:pPr>
            <a:r>
              <a:rPr lang="en-US" sz="2000" smtClean="0"/>
              <a:t>Incineration</a:t>
            </a:r>
          </a:p>
          <a:p>
            <a:pPr lvl="2">
              <a:buFont typeface="Arial" charset="0"/>
              <a:buNone/>
            </a:pPr>
            <a:r>
              <a:rPr lang="en-US" sz="2000" smtClean="0"/>
              <a:t>Hot Air Sterilization  (Oven)</a:t>
            </a:r>
          </a:p>
          <a:p>
            <a:pPr>
              <a:buFont typeface="Arial" charset="0"/>
              <a:buNone/>
            </a:pPr>
            <a:r>
              <a:rPr lang="en-US" sz="2800" smtClean="0"/>
              <a:t>2. Filtration</a:t>
            </a:r>
          </a:p>
          <a:p>
            <a:pPr>
              <a:buFont typeface="Arial" charset="0"/>
              <a:buNone/>
            </a:pPr>
            <a:r>
              <a:rPr lang="en-US" sz="2800" smtClean="0"/>
              <a:t>3. Radiation</a:t>
            </a:r>
          </a:p>
          <a:p>
            <a:pPr lvl="1">
              <a:buFont typeface="Arial" charset="0"/>
              <a:buNone/>
            </a:pPr>
            <a:r>
              <a:rPr lang="en-US" sz="2400" smtClean="0"/>
              <a:t>Ionizing Radiation</a:t>
            </a:r>
          </a:p>
          <a:p>
            <a:pPr lvl="1">
              <a:buFont typeface="Arial" charset="0"/>
              <a:buNone/>
            </a:pPr>
            <a:r>
              <a:rPr lang="en-US" sz="2400" smtClean="0"/>
              <a:t>Non-Ionizing Radiation</a:t>
            </a:r>
          </a:p>
          <a:p>
            <a:pPr>
              <a:buFont typeface="Arial" charset="0"/>
              <a:buNone/>
            </a:pPr>
            <a:r>
              <a:rPr lang="en-US" sz="2800" smtClean="0"/>
              <a:t>4. Pasteurization  (Heat)</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6" fill="hold" grpId="0" nodeType="clickEffect">
                                  <p:stCondLst>
                                    <p:cond delay="0"/>
                                  </p:stCondLst>
                                  <p:childTnLst>
                                    <p:set>
                                      <p:cBhvr>
                                        <p:cTn id="6" dur="1" fill="hold">
                                          <p:stCondLst>
                                            <p:cond delay="0"/>
                                          </p:stCondLst>
                                        </p:cTn>
                                        <p:tgtEl>
                                          <p:spTgt spid="34819">
                                            <p:txEl>
                                              <p:pRg st="0" end="0"/>
                                            </p:txEl>
                                          </p:spTgt>
                                        </p:tgtEl>
                                        <p:attrNameLst>
                                          <p:attrName>style.visibility</p:attrName>
                                        </p:attrNameLst>
                                      </p:cBhvr>
                                      <p:to>
                                        <p:strVal val="visible"/>
                                      </p:to>
                                    </p:set>
                                    <p:animEffect transition="in" filter="barn(inHorizontal)">
                                      <p:cBhvr>
                                        <p:cTn id="7" dur="500"/>
                                        <p:tgtEl>
                                          <p:spTgt spid="34819">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6" presetClass="entr" presetSubtype="26" fill="hold" grpId="0" nodeType="clickEffect">
                                  <p:stCondLst>
                                    <p:cond delay="0"/>
                                  </p:stCondLst>
                                  <p:childTnLst>
                                    <p:set>
                                      <p:cBhvr>
                                        <p:cTn id="11" dur="1" fill="hold">
                                          <p:stCondLst>
                                            <p:cond delay="0"/>
                                          </p:stCondLst>
                                        </p:cTn>
                                        <p:tgtEl>
                                          <p:spTgt spid="34819">
                                            <p:txEl>
                                              <p:pRg st="1" end="1"/>
                                            </p:txEl>
                                          </p:spTgt>
                                        </p:tgtEl>
                                        <p:attrNameLst>
                                          <p:attrName>style.visibility</p:attrName>
                                        </p:attrNameLst>
                                      </p:cBhvr>
                                      <p:to>
                                        <p:strVal val="visible"/>
                                      </p:to>
                                    </p:set>
                                    <p:animEffect transition="in" filter="barn(inHorizontal)">
                                      <p:cBhvr>
                                        <p:cTn id="12" dur="500"/>
                                        <p:tgtEl>
                                          <p:spTgt spid="34819">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6" presetClass="entr" presetSubtype="26" fill="hold" grpId="0" nodeType="clickEffect">
                                  <p:stCondLst>
                                    <p:cond delay="0"/>
                                  </p:stCondLst>
                                  <p:childTnLst>
                                    <p:set>
                                      <p:cBhvr>
                                        <p:cTn id="16" dur="1" fill="hold">
                                          <p:stCondLst>
                                            <p:cond delay="0"/>
                                          </p:stCondLst>
                                        </p:cTn>
                                        <p:tgtEl>
                                          <p:spTgt spid="34819">
                                            <p:txEl>
                                              <p:pRg st="2" end="2"/>
                                            </p:txEl>
                                          </p:spTgt>
                                        </p:tgtEl>
                                        <p:attrNameLst>
                                          <p:attrName>style.visibility</p:attrName>
                                        </p:attrNameLst>
                                      </p:cBhvr>
                                      <p:to>
                                        <p:strVal val="visible"/>
                                      </p:to>
                                    </p:set>
                                    <p:animEffect transition="in" filter="barn(inHorizontal)">
                                      <p:cBhvr>
                                        <p:cTn id="17" dur="500"/>
                                        <p:tgtEl>
                                          <p:spTgt spid="34819">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6" presetClass="entr" presetSubtype="26" fill="hold" grpId="0" nodeType="clickEffect">
                                  <p:stCondLst>
                                    <p:cond delay="0"/>
                                  </p:stCondLst>
                                  <p:childTnLst>
                                    <p:set>
                                      <p:cBhvr>
                                        <p:cTn id="21" dur="1" fill="hold">
                                          <p:stCondLst>
                                            <p:cond delay="0"/>
                                          </p:stCondLst>
                                        </p:cTn>
                                        <p:tgtEl>
                                          <p:spTgt spid="34819">
                                            <p:txEl>
                                              <p:pRg st="3" end="3"/>
                                            </p:txEl>
                                          </p:spTgt>
                                        </p:tgtEl>
                                        <p:attrNameLst>
                                          <p:attrName>style.visibility</p:attrName>
                                        </p:attrNameLst>
                                      </p:cBhvr>
                                      <p:to>
                                        <p:strVal val="visible"/>
                                      </p:to>
                                    </p:set>
                                    <p:animEffect transition="in" filter="barn(inHorizontal)">
                                      <p:cBhvr>
                                        <p:cTn id="22" dur="500"/>
                                        <p:tgtEl>
                                          <p:spTgt spid="34819">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6" presetClass="entr" presetSubtype="26" fill="hold" grpId="0" nodeType="clickEffect">
                                  <p:stCondLst>
                                    <p:cond delay="0"/>
                                  </p:stCondLst>
                                  <p:childTnLst>
                                    <p:set>
                                      <p:cBhvr>
                                        <p:cTn id="26" dur="1" fill="hold">
                                          <p:stCondLst>
                                            <p:cond delay="0"/>
                                          </p:stCondLst>
                                        </p:cTn>
                                        <p:tgtEl>
                                          <p:spTgt spid="34819">
                                            <p:txEl>
                                              <p:pRg st="4" end="4"/>
                                            </p:txEl>
                                          </p:spTgt>
                                        </p:tgtEl>
                                        <p:attrNameLst>
                                          <p:attrName>style.visibility</p:attrName>
                                        </p:attrNameLst>
                                      </p:cBhvr>
                                      <p:to>
                                        <p:strVal val="visible"/>
                                      </p:to>
                                    </p:set>
                                    <p:animEffect transition="in" filter="barn(inHorizontal)">
                                      <p:cBhvr>
                                        <p:cTn id="27" dur="500"/>
                                        <p:tgtEl>
                                          <p:spTgt spid="34819">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6" presetClass="entr" presetSubtype="26" fill="hold" grpId="0" nodeType="clickEffect">
                                  <p:stCondLst>
                                    <p:cond delay="0"/>
                                  </p:stCondLst>
                                  <p:childTnLst>
                                    <p:set>
                                      <p:cBhvr>
                                        <p:cTn id="31" dur="1" fill="hold">
                                          <p:stCondLst>
                                            <p:cond delay="0"/>
                                          </p:stCondLst>
                                        </p:cTn>
                                        <p:tgtEl>
                                          <p:spTgt spid="34819">
                                            <p:txEl>
                                              <p:pRg st="5" end="5"/>
                                            </p:txEl>
                                          </p:spTgt>
                                        </p:tgtEl>
                                        <p:attrNameLst>
                                          <p:attrName>style.visibility</p:attrName>
                                        </p:attrNameLst>
                                      </p:cBhvr>
                                      <p:to>
                                        <p:strVal val="visible"/>
                                      </p:to>
                                    </p:set>
                                    <p:animEffect transition="in" filter="barn(inHorizontal)">
                                      <p:cBhvr>
                                        <p:cTn id="32" dur="500"/>
                                        <p:tgtEl>
                                          <p:spTgt spid="34819">
                                            <p:txEl>
                                              <p:pRg st="5" end="5"/>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6" presetClass="entr" presetSubtype="26" fill="hold" grpId="0" nodeType="clickEffect">
                                  <p:stCondLst>
                                    <p:cond delay="0"/>
                                  </p:stCondLst>
                                  <p:childTnLst>
                                    <p:set>
                                      <p:cBhvr>
                                        <p:cTn id="36" dur="1" fill="hold">
                                          <p:stCondLst>
                                            <p:cond delay="0"/>
                                          </p:stCondLst>
                                        </p:cTn>
                                        <p:tgtEl>
                                          <p:spTgt spid="34819">
                                            <p:txEl>
                                              <p:pRg st="6" end="6"/>
                                            </p:txEl>
                                          </p:spTgt>
                                        </p:tgtEl>
                                        <p:attrNameLst>
                                          <p:attrName>style.visibility</p:attrName>
                                        </p:attrNameLst>
                                      </p:cBhvr>
                                      <p:to>
                                        <p:strVal val="visible"/>
                                      </p:to>
                                    </p:set>
                                    <p:animEffect transition="in" filter="barn(inHorizontal)">
                                      <p:cBhvr>
                                        <p:cTn id="37" dur="500"/>
                                        <p:tgtEl>
                                          <p:spTgt spid="34819">
                                            <p:txEl>
                                              <p:pRg st="6" end="6"/>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16" presetClass="entr" presetSubtype="26" fill="hold" grpId="0" nodeType="clickEffect">
                                  <p:stCondLst>
                                    <p:cond delay="0"/>
                                  </p:stCondLst>
                                  <p:childTnLst>
                                    <p:set>
                                      <p:cBhvr>
                                        <p:cTn id="41" dur="1" fill="hold">
                                          <p:stCondLst>
                                            <p:cond delay="0"/>
                                          </p:stCondLst>
                                        </p:cTn>
                                        <p:tgtEl>
                                          <p:spTgt spid="34819">
                                            <p:txEl>
                                              <p:pRg st="7" end="7"/>
                                            </p:txEl>
                                          </p:spTgt>
                                        </p:tgtEl>
                                        <p:attrNameLst>
                                          <p:attrName>style.visibility</p:attrName>
                                        </p:attrNameLst>
                                      </p:cBhvr>
                                      <p:to>
                                        <p:strVal val="visible"/>
                                      </p:to>
                                    </p:set>
                                    <p:animEffect transition="in" filter="barn(inHorizontal)">
                                      <p:cBhvr>
                                        <p:cTn id="42" dur="500"/>
                                        <p:tgtEl>
                                          <p:spTgt spid="34819">
                                            <p:txEl>
                                              <p:pRg st="7" end="7"/>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16" presetClass="entr" presetSubtype="26" fill="hold" grpId="0" nodeType="clickEffect">
                                  <p:stCondLst>
                                    <p:cond delay="0"/>
                                  </p:stCondLst>
                                  <p:childTnLst>
                                    <p:set>
                                      <p:cBhvr>
                                        <p:cTn id="46" dur="1" fill="hold">
                                          <p:stCondLst>
                                            <p:cond delay="0"/>
                                          </p:stCondLst>
                                        </p:cTn>
                                        <p:tgtEl>
                                          <p:spTgt spid="34819">
                                            <p:txEl>
                                              <p:pRg st="8" end="8"/>
                                            </p:txEl>
                                          </p:spTgt>
                                        </p:tgtEl>
                                        <p:attrNameLst>
                                          <p:attrName>style.visibility</p:attrName>
                                        </p:attrNameLst>
                                      </p:cBhvr>
                                      <p:to>
                                        <p:strVal val="visible"/>
                                      </p:to>
                                    </p:set>
                                    <p:animEffect transition="in" filter="barn(inHorizontal)">
                                      <p:cBhvr>
                                        <p:cTn id="47" dur="500"/>
                                        <p:tgtEl>
                                          <p:spTgt spid="34819">
                                            <p:txEl>
                                              <p:pRg st="8" end="8"/>
                                            </p:txEl>
                                          </p:spTgt>
                                        </p:tgtEl>
                                      </p:cBhvr>
                                    </p:animEffect>
                                  </p:childTnLst>
                                </p:cTn>
                              </p:par>
                            </p:childTnLst>
                          </p:cTn>
                        </p:par>
                      </p:childTnLst>
                    </p:cTn>
                  </p:par>
                  <p:par>
                    <p:cTn id="48" fill="hold">
                      <p:stCondLst>
                        <p:cond delay="indefinite"/>
                      </p:stCondLst>
                      <p:childTnLst>
                        <p:par>
                          <p:cTn id="49" fill="hold">
                            <p:stCondLst>
                              <p:cond delay="0"/>
                            </p:stCondLst>
                            <p:childTnLst>
                              <p:par>
                                <p:cTn id="50" presetID="16" presetClass="entr" presetSubtype="26" fill="hold" grpId="0" nodeType="clickEffect">
                                  <p:stCondLst>
                                    <p:cond delay="0"/>
                                  </p:stCondLst>
                                  <p:childTnLst>
                                    <p:set>
                                      <p:cBhvr>
                                        <p:cTn id="51" dur="1" fill="hold">
                                          <p:stCondLst>
                                            <p:cond delay="0"/>
                                          </p:stCondLst>
                                        </p:cTn>
                                        <p:tgtEl>
                                          <p:spTgt spid="34819">
                                            <p:txEl>
                                              <p:pRg st="9" end="9"/>
                                            </p:txEl>
                                          </p:spTgt>
                                        </p:tgtEl>
                                        <p:attrNameLst>
                                          <p:attrName>style.visibility</p:attrName>
                                        </p:attrNameLst>
                                      </p:cBhvr>
                                      <p:to>
                                        <p:strVal val="visible"/>
                                      </p:to>
                                    </p:set>
                                    <p:animEffect transition="in" filter="barn(inHorizontal)">
                                      <p:cBhvr>
                                        <p:cTn id="52" dur="500"/>
                                        <p:tgtEl>
                                          <p:spTgt spid="34819">
                                            <p:txEl>
                                              <p:pRg st="9" end="9"/>
                                            </p:txEl>
                                          </p:spTgt>
                                        </p:tgtEl>
                                      </p:cBhvr>
                                    </p:animEffect>
                                  </p:childTnLst>
                                </p:cTn>
                              </p:par>
                            </p:childTnLst>
                          </p:cTn>
                        </p:par>
                      </p:childTnLst>
                    </p:cTn>
                  </p:par>
                  <p:par>
                    <p:cTn id="53" fill="hold">
                      <p:stCondLst>
                        <p:cond delay="indefinite"/>
                      </p:stCondLst>
                      <p:childTnLst>
                        <p:par>
                          <p:cTn id="54" fill="hold">
                            <p:stCondLst>
                              <p:cond delay="0"/>
                            </p:stCondLst>
                            <p:childTnLst>
                              <p:par>
                                <p:cTn id="55" presetID="16" presetClass="entr" presetSubtype="26" fill="hold" grpId="0" nodeType="clickEffect">
                                  <p:stCondLst>
                                    <p:cond delay="0"/>
                                  </p:stCondLst>
                                  <p:childTnLst>
                                    <p:set>
                                      <p:cBhvr>
                                        <p:cTn id="56" dur="1" fill="hold">
                                          <p:stCondLst>
                                            <p:cond delay="0"/>
                                          </p:stCondLst>
                                        </p:cTn>
                                        <p:tgtEl>
                                          <p:spTgt spid="34819">
                                            <p:txEl>
                                              <p:pRg st="10" end="10"/>
                                            </p:txEl>
                                          </p:spTgt>
                                        </p:tgtEl>
                                        <p:attrNameLst>
                                          <p:attrName>style.visibility</p:attrName>
                                        </p:attrNameLst>
                                      </p:cBhvr>
                                      <p:to>
                                        <p:strVal val="visible"/>
                                      </p:to>
                                    </p:set>
                                    <p:animEffect transition="in" filter="barn(inHorizontal)">
                                      <p:cBhvr>
                                        <p:cTn id="57" dur="500"/>
                                        <p:tgtEl>
                                          <p:spTgt spid="34819">
                                            <p:txEl>
                                              <p:pRg st="10" end="10"/>
                                            </p:txEl>
                                          </p:spTgt>
                                        </p:tgtEl>
                                      </p:cBhvr>
                                    </p:animEffect>
                                  </p:childTnLst>
                                </p:cTn>
                              </p:par>
                            </p:childTnLst>
                          </p:cTn>
                        </p:par>
                      </p:childTnLst>
                    </p:cTn>
                  </p:par>
                  <p:par>
                    <p:cTn id="58" fill="hold">
                      <p:stCondLst>
                        <p:cond delay="indefinite"/>
                      </p:stCondLst>
                      <p:childTnLst>
                        <p:par>
                          <p:cTn id="59" fill="hold">
                            <p:stCondLst>
                              <p:cond delay="0"/>
                            </p:stCondLst>
                            <p:childTnLst>
                              <p:par>
                                <p:cTn id="60" presetID="16" presetClass="entr" presetSubtype="26" fill="hold" grpId="0" nodeType="clickEffect">
                                  <p:stCondLst>
                                    <p:cond delay="0"/>
                                  </p:stCondLst>
                                  <p:childTnLst>
                                    <p:set>
                                      <p:cBhvr>
                                        <p:cTn id="61" dur="1" fill="hold">
                                          <p:stCondLst>
                                            <p:cond delay="0"/>
                                          </p:stCondLst>
                                        </p:cTn>
                                        <p:tgtEl>
                                          <p:spTgt spid="34819">
                                            <p:txEl>
                                              <p:pRg st="11" end="11"/>
                                            </p:txEl>
                                          </p:spTgt>
                                        </p:tgtEl>
                                        <p:attrNameLst>
                                          <p:attrName>style.visibility</p:attrName>
                                        </p:attrNameLst>
                                      </p:cBhvr>
                                      <p:to>
                                        <p:strVal val="visible"/>
                                      </p:to>
                                    </p:set>
                                    <p:animEffect transition="in" filter="barn(inHorizontal)">
                                      <p:cBhvr>
                                        <p:cTn id="62" dur="500"/>
                                        <p:tgtEl>
                                          <p:spTgt spid="34819">
                                            <p:txEl>
                                              <p:pRg st="11" end="11"/>
                                            </p:txEl>
                                          </p:spTgt>
                                        </p:tgtEl>
                                      </p:cBhvr>
                                    </p:animEffect>
                                  </p:childTnLst>
                                </p:cTn>
                              </p:par>
                            </p:childTnLst>
                          </p:cTn>
                        </p:par>
                      </p:childTnLst>
                    </p:cTn>
                  </p:par>
                  <p:par>
                    <p:cTn id="63" fill="hold">
                      <p:stCondLst>
                        <p:cond delay="indefinite"/>
                      </p:stCondLst>
                      <p:childTnLst>
                        <p:par>
                          <p:cTn id="64" fill="hold">
                            <p:stCondLst>
                              <p:cond delay="0"/>
                            </p:stCondLst>
                            <p:childTnLst>
                              <p:par>
                                <p:cTn id="65" presetID="16" presetClass="entr" presetSubtype="26" fill="hold" grpId="0" nodeType="clickEffect">
                                  <p:stCondLst>
                                    <p:cond delay="0"/>
                                  </p:stCondLst>
                                  <p:childTnLst>
                                    <p:set>
                                      <p:cBhvr>
                                        <p:cTn id="66" dur="1" fill="hold">
                                          <p:stCondLst>
                                            <p:cond delay="0"/>
                                          </p:stCondLst>
                                        </p:cTn>
                                        <p:tgtEl>
                                          <p:spTgt spid="34819">
                                            <p:txEl>
                                              <p:pRg st="12" end="12"/>
                                            </p:txEl>
                                          </p:spTgt>
                                        </p:tgtEl>
                                        <p:attrNameLst>
                                          <p:attrName>style.visibility</p:attrName>
                                        </p:attrNameLst>
                                      </p:cBhvr>
                                      <p:to>
                                        <p:strVal val="visible"/>
                                      </p:to>
                                    </p:set>
                                    <p:animEffect transition="in" filter="barn(inHorizontal)">
                                      <p:cBhvr>
                                        <p:cTn id="67" dur="500"/>
                                        <p:tgtEl>
                                          <p:spTgt spid="34819">
                                            <p:txEl>
                                              <p:pRg st="12" end="1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4819" grpId="0" build="p" bldLvl="3" autoUpdateAnimBg="0"/>
    </p:bldLst>
  </p:timing>
</p:sld>
</file>

<file path=ppt/slides/slide44.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52930" name="Rectangle 2"/>
          <p:cNvSpPr>
            <a:spLocks noGrp="1" noChangeArrowheads="1"/>
          </p:cNvSpPr>
          <p:nvPr>
            <p:ph idx="4294967295"/>
          </p:nvPr>
        </p:nvSpPr>
        <p:spPr>
          <a:xfrm>
            <a:off x="0" y="0"/>
            <a:ext cx="9144000" cy="6858000"/>
          </a:xfrm>
        </p:spPr>
        <p:txBody>
          <a:bodyPr rtlCol="0">
            <a:normAutofit fontScale="92500"/>
          </a:bodyPr>
          <a:lstStyle/>
          <a:p>
            <a:pPr eaLnBrk="1" fontAlgn="auto" hangingPunct="1">
              <a:lnSpc>
                <a:spcPct val="90000"/>
              </a:lnSpc>
              <a:spcAft>
                <a:spcPts val="0"/>
              </a:spcAft>
              <a:buFont typeface="Monotype Sorts" pitchFamily="2" charset="2"/>
              <a:buNone/>
              <a:defRPr/>
            </a:pPr>
            <a:r>
              <a:rPr lang="en-US" sz="3600" b="1" dirty="0" smtClean="0">
                <a:solidFill>
                  <a:schemeClr val="tx2"/>
                </a:solidFill>
              </a:rPr>
              <a:t>Chemical Methods of Microbial Control</a:t>
            </a:r>
          </a:p>
          <a:p>
            <a:pPr eaLnBrk="1" fontAlgn="auto" hangingPunct="1">
              <a:lnSpc>
                <a:spcPct val="90000"/>
              </a:lnSpc>
              <a:spcAft>
                <a:spcPts val="0"/>
              </a:spcAft>
              <a:buFont typeface="Monotype Sorts" pitchFamily="2" charset="2"/>
              <a:buNone/>
              <a:defRPr/>
            </a:pPr>
            <a:r>
              <a:rPr lang="en-US" sz="3600" b="1" dirty="0" smtClean="0">
                <a:solidFill>
                  <a:schemeClr val="tx2"/>
                </a:solidFill>
              </a:rPr>
              <a:t>Types of Disinfectants</a:t>
            </a:r>
          </a:p>
          <a:p>
            <a:pPr eaLnBrk="1" fontAlgn="auto" hangingPunct="1">
              <a:lnSpc>
                <a:spcPct val="90000"/>
              </a:lnSpc>
              <a:spcAft>
                <a:spcPts val="0"/>
              </a:spcAft>
              <a:buFont typeface="Arial" charset="0"/>
              <a:buNone/>
              <a:defRPr/>
            </a:pPr>
            <a:r>
              <a:rPr lang="en-US" sz="2800" b="1" dirty="0" smtClean="0"/>
              <a:t>	1. Phenols and </a:t>
            </a:r>
            <a:r>
              <a:rPr lang="en-US" sz="2800" b="1" dirty="0" err="1" smtClean="0"/>
              <a:t>Phenolics</a:t>
            </a:r>
            <a:r>
              <a:rPr lang="en-US" sz="2800" b="1" dirty="0" smtClean="0"/>
              <a:t>:</a:t>
            </a:r>
            <a:endParaRPr lang="en-US" sz="2800" dirty="0" smtClean="0"/>
          </a:p>
          <a:p>
            <a:pPr eaLnBrk="1" fontAlgn="auto" hangingPunct="1">
              <a:lnSpc>
                <a:spcPct val="90000"/>
              </a:lnSpc>
              <a:spcAft>
                <a:spcPts val="0"/>
              </a:spcAft>
              <a:buSzPct val="75000"/>
              <a:buFont typeface="Arial" charset="0"/>
              <a:buNone/>
              <a:defRPr/>
            </a:pPr>
            <a:r>
              <a:rPr lang="en-US" sz="2400" dirty="0" smtClean="0"/>
              <a:t> </a:t>
            </a:r>
            <a:r>
              <a:rPr lang="en-US" sz="2400" b="1" dirty="0" smtClean="0"/>
              <a:t>Phenol</a:t>
            </a:r>
            <a:r>
              <a:rPr lang="en-US" sz="2400" dirty="0" smtClean="0"/>
              <a:t> </a:t>
            </a:r>
            <a:r>
              <a:rPr lang="en-US" sz="3000" dirty="0" smtClean="0"/>
              <a:t>(carbolic acid) was first used by Lister as a disinfectant.</a:t>
            </a:r>
          </a:p>
          <a:p>
            <a:pPr lvl="1" eaLnBrk="1" fontAlgn="auto" hangingPunct="1">
              <a:lnSpc>
                <a:spcPct val="90000"/>
              </a:lnSpc>
              <a:spcAft>
                <a:spcPts val="0"/>
              </a:spcAft>
              <a:buSzPct val="75000"/>
              <a:buFont typeface="Arial" charset="0"/>
              <a:buNone/>
              <a:defRPr/>
            </a:pPr>
            <a:r>
              <a:rPr lang="en-US" sz="2600" dirty="0" smtClean="0"/>
              <a:t>Rarely used today because it is a skin irritant and has strong odor.</a:t>
            </a:r>
          </a:p>
          <a:p>
            <a:pPr lvl="1" eaLnBrk="1" fontAlgn="auto" hangingPunct="1">
              <a:lnSpc>
                <a:spcPct val="90000"/>
              </a:lnSpc>
              <a:spcAft>
                <a:spcPts val="0"/>
              </a:spcAft>
              <a:buSzPct val="75000"/>
              <a:buFont typeface="Arial" charset="0"/>
              <a:buNone/>
              <a:defRPr/>
            </a:pPr>
            <a:r>
              <a:rPr lang="en-US" sz="2600" dirty="0" smtClean="0"/>
              <a:t>Used in some throat sprays and lozenges. </a:t>
            </a:r>
          </a:p>
          <a:p>
            <a:pPr lvl="1" eaLnBrk="1" fontAlgn="auto" hangingPunct="1">
              <a:lnSpc>
                <a:spcPct val="90000"/>
              </a:lnSpc>
              <a:spcAft>
                <a:spcPts val="0"/>
              </a:spcAft>
              <a:buSzPct val="75000"/>
              <a:buFont typeface="Arial" charset="0"/>
              <a:buNone/>
              <a:defRPr/>
            </a:pPr>
            <a:r>
              <a:rPr lang="en-US" sz="2600" dirty="0" smtClean="0"/>
              <a:t>Acts as local anesthetic.</a:t>
            </a:r>
          </a:p>
          <a:p>
            <a:pPr eaLnBrk="1" fontAlgn="auto" hangingPunct="1">
              <a:lnSpc>
                <a:spcPct val="90000"/>
              </a:lnSpc>
              <a:spcAft>
                <a:spcPts val="0"/>
              </a:spcAft>
              <a:buSzPct val="75000"/>
              <a:buFont typeface="Arial" charset="0"/>
              <a:buNone/>
              <a:defRPr/>
            </a:pPr>
            <a:r>
              <a:rPr lang="en-US" sz="2400" dirty="0" smtClean="0"/>
              <a:t> </a:t>
            </a:r>
            <a:r>
              <a:rPr lang="en-US" sz="2400" b="1" dirty="0" err="1" smtClean="0"/>
              <a:t>Phenolics</a:t>
            </a:r>
            <a:r>
              <a:rPr lang="en-US" sz="2400" dirty="0" smtClean="0"/>
              <a:t> are chemical derivatives of phenol</a:t>
            </a:r>
          </a:p>
          <a:p>
            <a:pPr lvl="1" eaLnBrk="1" fontAlgn="auto" hangingPunct="1">
              <a:lnSpc>
                <a:spcPct val="90000"/>
              </a:lnSpc>
              <a:spcAft>
                <a:spcPts val="0"/>
              </a:spcAft>
              <a:buSzPct val="75000"/>
              <a:buFont typeface="Arial" charset="0"/>
              <a:buNone/>
              <a:defRPr/>
            </a:pPr>
            <a:r>
              <a:rPr lang="en-US" sz="2600" b="1" dirty="0" smtClean="0"/>
              <a:t>Cresols</a:t>
            </a:r>
            <a:r>
              <a:rPr lang="en-US" sz="2600" dirty="0" smtClean="0"/>
              <a:t>: Derived from coal tar (</a:t>
            </a:r>
            <a:r>
              <a:rPr lang="en-US" sz="2600" b="1" dirty="0" smtClean="0"/>
              <a:t>Lysol</a:t>
            </a:r>
            <a:r>
              <a:rPr lang="en-US" sz="2600" dirty="0" smtClean="0"/>
              <a:t>).</a:t>
            </a:r>
          </a:p>
          <a:p>
            <a:pPr lvl="1" eaLnBrk="1" fontAlgn="auto" hangingPunct="1">
              <a:lnSpc>
                <a:spcPct val="90000"/>
              </a:lnSpc>
              <a:spcAft>
                <a:spcPts val="0"/>
              </a:spcAft>
              <a:buSzPct val="75000"/>
              <a:buFont typeface="Arial" charset="0"/>
              <a:buNone/>
              <a:defRPr/>
            </a:pPr>
            <a:r>
              <a:rPr lang="en-US" sz="2600" b="1" dirty="0" err="1" smtClean="0"/>
              <a:t>Biphenols</a:t>
            </a:r>
            <a:r>
              <a:rPr lang="en-US" sz="2600" dirty="0" smtClean="0"/>
              <a:t> (</a:t>
            </a:r>
            <a:r>
              <a:rPr lang="en-US" sz="2600" b="1" dirty="0" err="1" smtClean="0"/>
              <a:t>pHisoHex</a:t>
            </a:r>
            <a:r>
              <a:rPr lang="en-US" sz="2600" dirty="0" smtClean="0"/>
              <a:t>): Effective against gram-positive staphylococci and streptococci.  Used in nurseries.  Excessive use in infants may cause neurological damage.</a:t>
            </a:r>
          </a:p>
          <a:p>
            <a:pPr eaLnBrk="1" fontAlgn="auto" hangingPunct="1">
              <a:lnSpc>
                <a:spcPct val="90000"/>
              </a:lnSpc>
              <a:spcAft>
                <a:spcPts val="0"/>
              </a:spcAft>
              <a:buSzPct val="75000"/>
              <a:buFont typeface="Arial" charset="0"/>
              <a:buNone/>
              <a:defRPr/>
            </a:pPr>
            <a:r>
              <a:rPr lang="en-US" sz="2400" dirty="0" smtClean="0"/>
              <a:t>            Destroy plasma membranes and denature proteins.</a:t>
            </a:r>
          </a:p>
          <a:p>
            <a:pPr eaLnBrk="1" fontAlgn="auto" hangingPunct="1">
              <a:lnSpc>
                <a:spcPct val="90000"/>
              </a:lnSpc>
              <a:spcAft>
                <a:spcPts val="0"/>
              </a:spcAft>
              <a:buSzPct val="75000"/>
              <a:buFont typeface="Arial" charset="0"/>
              <a:buNone/>
              <a:defRPr/>
            </a:pPr>
            <a:endParaRPr lang="en-US" sz="2400" dirty="0" smtClean="0"/>
          </a:p>
          <a:p>
            <a:pPr eaLnBrk="1" fontAlgn="auto" hangingPunct="1">
              <a:lnSpc>
                <a:spcPct val="90000"/>
              </a:lnSpc>
              <a:spcAft>
                <a:spcPts val="0"/>
              </a:spcAft>
              <a:buSzPct val="75000"/>
              <a:buFont typeface="Arial" charset="0"/>
              <a:buNone/>
              <a:defRPr/>
            </a:pPr>
            <a:r>
              <a:rPr lang="en-US" sz="2400" dirty="0" smtClean="0"/>
              <a:t> </a:t>
            </a:r>
            <a:r>
              <a:rPr lang="en-US" sz="2400" b="1" dirty="0" smtClean="0"/>
              <a:t>Advantages</a:t>
            </a:r>
            <a:r>
              <a:rPr lang="en-US" sz="2400" dirty="0" smtClean="0"/>
              <a:t>: Stable, persist for long times after applied, and remain active in the presence of organic compounds.</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252930">
                                            <p:txEl>
                                              <p:pRg st="0" end="0"/>
                                            </p:txEl>
                                          </p:spTgt>
                                        </p:tgtEl>
                                        <p:attrNameLst>
                                          <p:attrName>style.visibility</p:attrName>
                                        </p:attrNameLst>
                                      </p:cBhvr>
                                      <p:to>
                                        <p:strVal val="visible"/>
                                      </p:to>
                                    </p:set>
                                    <p:anim calcmode="lin" valueType="num">
                                      <p:cBhvr additive="base">
                                        <p:cTn id="7" dur="500" fill="hold"/>
                                        <p:tgtEl>
                                          <p:spTgt spid="252930">
                                            <p:txEl>
                                              <p:pRg st="0" end="0"/>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252930">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252930">
                                            <p:txEl>
                                              <p:pRg st="1" end="1"/>
                                            </p:txEl>
                                          </p:spTgt>
                                        </p:tgtEl>
                                        <p:attrNameLst>
                                          <p:attrName>style.visibility</p:attrName>
                                        </p:attrNameLst>
                                      </p:cBhvr>
                                      <p:to>
                                        <p:strVal val="visible"/>
                                      </p:to>
                                    </p:set>
                                    <p:anim calcmode="lin" valueType="num">
                                      <p:cBhvr additive="base">
                                        <p:cTn id="13" dur="500" fill="hold"/>
                                        <p:tgtEl>
                                          <p:spTgt spid="252930">
                                            <p:txEl>
                                              <p:pRg st="1" end="1"/>
                                            </p:txEl>
                                          </p:spTgt>
                                        </p:tgtEl>
                                        <p:attrNameLst>
                                          <p:attrName>ppt_x</p:attrName>
                                        </p:attrNameLst>
                                      </p:cBhvr>
                                      <p:tavLst>
                                        <p:tav tm="0">
                                          <p:val>
                                            <p:strVal val="0-#ppt_w/2"/>
                                          </p:val>
                                        </p:tav>
                                        <p:tav tm="100000">
                                          <p:val>
                                            <p:strVal val="#ppt_x"/>
                                          </p:val>
                                        </p:tav>
                                      </p:tavLst>
                                    </p:anim>
                                    <p:anim calcmode="lin" valueType="num">
                                      <p:cBhvr additive="base">
                                        <p:cTn id="14" dur="500" fill="hold"/>
                                        <p:tgtEl>
                                          <p:spTgt spid="252930">
                                            <p:txEl>
                                              <p:pRg st="1" end="1"/>
                                            </p:txEl>
                                          </p:spTgt>
                                        </p:tgtEl>
                                        <p:attrNameLst>
                                          <p:attrName>ppt_y</p:attrName>
                                        </p:attrNameLst>
                                      </p:cBhvr>
                                      <p:tavLst>
                                        <p:tav tm="0">
                                          <p:val>
                                            <p:strVal val="#ppt_y"/>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8" fill="hold" grpId="0" nodeType="clickEffect">
                                  <p:stCondLst>
                                    <p:cond delay="0"/>
                                  </p:stCondLst>
                                  <p:childTnLst>
                                    <p:set>
                                      <p:cBhvr>
                                        <p:cTn id="18" dur="1" fill="hold">
                                          <p:stCondLst>
                                            <p:cond delay="0"/>
                                          </p:stCondLst>
                                        </p:cTn>
                                        <p:tgtEl>
                                          <p:spTgt spid="252930">
                                            <p:txEl>
                                              <p:pRg st="2" end="2"/>
                                            </p:txEl>
                                          </p:spTgt>
                                        </p:tgtEl>
                                        <p:attrNameLst>
                                          <p:attrName>style.visibility</p:attrName>
                                        </p:attrNameLst>
                                      </p:cBhvr>
                                      <p:to>
                                        <p:strVal val="visible"/>
                                      </p:to>
                                    </p:set>
                                    <p:anim calcmode="lin" valueType="num">
                                      <p:cBhvr additive="base">
                                        <p:cTn id="19" dur="500" fill="hold"/>
                                        <p:tgtEl>
                                          <p:spTgt spid="252930">
                                            <p:txEl>
                                              <p:pRg st="2" end="2"/>
                                            </p:txEl>
                                          </p:spTgt>
                                        </p:tgtEl>
                                        <p:attrNameLst>
                                          <p:attrName>ppt_x</p:attrName>
                                        </p:attrNameLst>
                                      </p:cBhvr>
                                      <p:tavLst>
                                        <p:tav tm="0">
                                          <p:val>
                                            <p:strVal val="0-#ppt_w/2"/>
                                          </p:val>
                                        </p:tav>
                                        <p:tav tm="100000">
                                          <p:val>
                                            <p:strVal val="#ppt_x"/>
                                          </p:val>
                                        </p:tav>
                                      </p:tavLst>
                                    </p:anim>
                                    <p:anim calcmode="lin" valueType="num">
                                      <p:cBhvr additive="base">
                                        <p:cTn id="20" dur="500" fill="hold"/>
                                        <p:tgtEl>
                                          <p:spTgt spid="252930">
                                            <p:txEl>
                                              <p:pRg st="2" end="2"/>
                                            </p:txEl>
                                          </p:spTgt>
                                        </p:tgtEl>
                                        <p:attrNameLst>
                                          <p:attrName>ppt_y</p:attrName>
                                        </p:attrNameLst>
                                      </p:cBhvr>
                                      <p:tavLst>
                                        <p:tav tm="0">
                                          <p:val>
                                            <p:strVal val="#ppt_y"/>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8" fill="hold" grpId="0" nodeType="clickEffect">
                                  <p:stCondLst>
                                    <p:cond delay="0"/>
                                  </p:stCondLst>
                                  <p:childTnLst>
                                    <p:set>
                                      <p:cBhvr>
                                        <p:cTn id="24" dur="1" fill="hold">
                                          <p:stCondLst>
                                            <p:cond delay="0"/>
                                          </p:stCondLst>
                                        </p:cTn>
                                        <p:tgtEl>
                                          <p:spTgt spid="252930">
                                            <p:txEl>
                                              <p:pRg st="3" end="3"/>
                                            </p:txEl>
                                          </p:spTgt>
                                        </p:tgtEl>
                                        <p:attrNameLst>
                                          <p:attrName>style.visibility</p:attrName>
                                        </p:attrNameLst>
                                      </p:cBhvr>
                                      <p:to>
                                        <p:strVal val="visible"/>
                                      </p:to>
                                    </p:set>
                                    <p:anim calcmode="lin" valueType="num">
                                      <p:cBhvr additive="base">
                                        <p:cTn id="25" dur="500" fill="hold"/>
                                        <p:tgtEl>
                                          <p:spTgt spid="252930">
                                            <p:txEl>
                                              <p:pRg st="3" end="3"/>
                                            </p:txEl>
                                          </p:spTgt>
                                        </p:tgtEl>
                                        <p:attrNameLst>
                                          <p:attrName>ppt_x</p:attrName>
                                        </p:attrNameLst>
                                      </p:cBhvr>
                                      <p:tavLst>
                                        <p:tav tm="0">
                                          <p:val>
                                            <p:strVal val="0-#ppt_w/2"/>
                                          </p:val>
                                        </p:tav>
                                        <p:tav tm="100000">
                                          <p:val>
                                            <p:strVal val="#ppt_x"/>
                                          </p:val>
                                        </p:tav>
                                      </p:tavLst>
                                    </p:anim>
                                    <p:anim calcmode="lin" valueType="num">
                                      <p:cBhvr additive="base">
                                        <p:cTn id="26" dur="500" fill="hold"/>
                                        <p:tgtEl>
                                          <p:spTgt spid="252930">
                                            <p:txEl>
                                              <p:pRg st="3" end="3"/>
                                            </p:txEl>
                                          </p:spTgt>
                                        </p:tgtEl>
                                        <p:attrNameLst>
                                          <p:attrName>ppt_y</p:attrName>
                                        </p:attrNameLst>
                                      </p:cBhvr>
                                      <p:tavLst>
                                        <p:tav tm="0">
                                          <p:val>
                                            <p:strVal val="#ppt_y"/>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8" fill="hold" grpId="0" nodeType="clickEffect">
                                  <p:stCondLst>
                                    <p:cond delay="0"/>
                                  </p:stCondLst>
                                  <p:childTnLst>
                                    <p:set>
                                      <p:cBhvr>
                                        <p:cTn id="30" dur="1" fill="hold">
                                          <p:stCondLst>
                                            <p:cond delay="0"/>
                                          </p:stCondLst>
                                        </p:cTn>
                                        <p:tgtEl>
                                          <p:spTgt spid="252930">
                                            <p:txEl>
                                              <p:pRg st="4" end="4"/>
                                            </p:txEl>
                                          </p:spTgt>
                                        </p:tgtEl>
                                        <p:attrNameLst>
                                          <p:attrName>style.visibility</p:attrName>
                                        </p:attrNameLst>
                                      </p:cBhvr>
                                      <p:to>
                                        <p:strVal val="visible"/>
                                      </p:to>
                                    </p:set>
                                    <p:anim calcmode="lin" valueType="num">
                                      <p:cBhvr additive="base">
                                        <p:cTn id="31" dur="500" fill="hold"/>
                                        <p:tgtEl>
                                          <p:spTgt spid="252930">
                                            <p:txEl>
                                              <p:pRg st="4" end="4"/>
                                            </p:txEl>
                                          </p:spTgt>
                                        </p:tgtEl>
                                        <p:attrNameLst>
                                          <p:attrName>ppt_x</p:attrName>
                                        </p:attrNameLst>
                                      </p:cBhvr>
                                      <p:tavLst>
                                        <p:tav tm="0">
                                          <p:val>
                                            <p:strVal val="0-#ppt_w/2"/>
                                          </p:val>
                                        </p:tav>
                                        <p:tav tm="100000">
                                          <p:val>
                                            <p:strVal val="#ppt_x"/>
                                          </p:val>
                                        </p:tav>
                                      </p:tavLst>
                                    </p:anim>
                                    <p:anim calcmode="lin" valueType="num">
                                      <p:cBhvr additive="base">
                                        <p:cTn id="32" dur="500" fill="hold"/>
                                        <p:tgtEl>
                                          <p:spTgt spid="252930">
                                            <p:txEl>
                                              <p:pRg st="4" end="4"/>
                                            </p:txEl>
                                          </p:spTgt>
                                        </p:tgtEl>
                                        <p:attrNameLst>
                                          <p:attrName>ppt_y</p:attrName>
                                        </p:attrNameLst>
                                      </p:cBhvr>
                                      <p:tavLst>
                                        <p:tav tm="0">
                                          <p:val>
                                            <p:strVal val="#ppt_y"/>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8" fill="hold" grpId="0" nodeType="clickEffect">
                                  <p:stCondLst>
                                    <p:cond delay="0"/>
                                  </p:stCondLst>
                                  <p:childTnLst>
                                    <p:set>
                                      <p:cBhvr>
                                        <p:cTn id="36" dur="1" fill="hold">
                                          <p:stCondLst>
                                            <p:cond delay="0"/>
                                          </p:stCondLst>
                                        </p:cTn>
                                        <p:tgtEl>
                                          <p:spTgt spid="252930">
                                            <p:txEl>
                                              <p:pRg st="5" end="5"/>
                                            </p:txEl>
                                          </p:spTgt>
                                        </p:tgtEl>
                                        <p:attrNameLst>
                                          <p:attrName>style.visibility</p:attrName>
                                        </p:attrNameLst>
                                      </p:cBhvr>
                                      <p:to>
                                        <p:strVal val="visible"/>
                                      </p:to>
                                    </p:set>
                                    <p:anim calcmode="lin" valueType="num">
                                      <p:cBhvr additive="base">
                                        <p:cTn id="37" dur="500" fill="hold"/>
                                        <p:tgtEl>
                                          <p:spTgt spid="252930">
                                            <p:txEl>
                                              <p:pRg st="5" end="5"/>
                                            </p:txEl>
                                          </p:spTgt>
                                        </p:tgtEl>
                                        <p:attrNameLst>
                                          <p:attrName>ppt_x</p:attrName>
                                        </p:attrNameLst>
                                      </p:cBhvr>
                                      <p:tavLst>
                                        <p:tav tm="0">
                                          <p:val>
                                            <p:strVal val="0-#ppt_w/2"/>
                                          </p:val>
                                        </p:tav>
                                        <p:tav tm="100000">
                                          <p:val>
                                            <p:strVal val="#ppt_x"/>
                                          </p:val>
                                        </p:tav>
                                      </p:tavLst>
                                    </p:anim>
                                    <p:anim calcmode="lin" valueType="num">
                                      <p:cBhvr additive="base">
                                        <p:cTn id="38" dur="500" fill="hold"/>
                                        <p:tgtEl>
                                          <p:spTgt spid="252930">
                                            <p:txEl>
                                              <p:pRg st="5" end="5"/>
                                            </p:txEl>
                                          </p:spTgt>
                                        </p:tgtEl>
                                        <p:attrNameLst>
                                          <p:attrName>ppt_y</p:attrName>
                                        </p:attrNameLst>
                                      </p:cBhvr>
                                      <p:tavLst>
                                        <p:tav tm="0">
                                          <p:val>
                                            <p:strVal val="#ppt_y"/>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2" presetClass="entr" presetSubtype="8" fill="hold" grpId="0" nodeType="clickEffect">
                                  <p:stCondLst>
                                    <p:cond delay="0"/>
                                  </p:stCondLst>
                                  <p:childTnLst>
                                    <p:set>
                                      <p:cBhvr>
                                        <p:cTn id="42" dur="1" fill="hold">
                                          <p:stCondLst>
                                            <p:cond delay="0"/>
                                          </p:stCondLst>
                                        </p:cTn>
                                        <p:tgtEl>
                                          <p:spTgt spid="252930">
                                            <p:txEl>
                                              <p:pRg st="6" end="6"/>
                                            </p:txEl>
                                          </p:spTgt>
                                        </p:tgtEl>
                                        <p:attrNameLst>
                                          <p:attrName>style.visibility</p:attrName>
                                        </p:attrNameLst>
                                      </p:cBhvr>
                                      <p:to>
                                        <p:strVal val="visible"/>
                                      </p:to>
                                    </p:set>
                                    <p:anim calcmode="lin" valueType="num">
                                      <p:cBhvr additive="base">
                                        <p:cTn id="43" dur="500" fill="hold"/>
                                        <p:tgtEl>
                                          <p:spTgt spid="252930">
                                            <p:txEl>
                                              <p:pRg st="6" end="6"/>
                                            </p:txEl>
                                          </p:spTgt>
                                        </p:tgtEl>
                                        <p:attrNameLst>
                                          <p:attrName>ppt_x</p:attrName>
                                        </p:attrNameLst>
                                      </p:cBhvr>
                                      <p:tavLst>
                                        <p:tav tm="0">
                                          <p:val>
                                            <p:strVal val="0-#ppt_w/2"/>
                                          </p:val>
                                        </p:tav>
                                        <p:tav tm="100000">
                                          <p:val>
                                            <p:strVal val="#ppt_x"/>
                                          </p:val>
                                        </p:tav>
                                      </p:tavLst>
                                    </p:anim>
                                    <p:anim calcmode="lin" valueType="num">
                                      <p:cBhvr additive="base">
                                        <p:cTn id="44" dur="500" fill="hold"/>
                                        <p:tgtEl>
                                          <p:spTgt spid="252930">
                                            <p:txEl>
                                              <p:pRg st="6" end="6"/>
                                            </p:txEl>
                                          </p:spTgt>
                                        </p:tgtEl>
                                        <p:attrNameLst>
                                          <p:attrName>ppt_y</p:attrName>
                                        </p:attrNameLst>
                                      </p:cBhvr>
                                      <p:tavLst>
                                        <p:tav tm="0">
                                          <p:val>
                                            <p:strVal val="#ppt_y"/>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2" presetClass="entr" presetSubtype="8" fill="hold" grpId="0" nodeType="clickEffect">
                                  <p:stCondLst>
                                    <p:cond delay="0"/>
                                  </p:stCondLst>
                                  <p:childTnLst>
                                    <p:set>
                                      <p:cBhvr>
                                        <p:cTn id="48" dur="1" fill="hold">
                                          <p:stCondLst>
                                            <p:cond delay="0"/>
                                          </p:stCondLst>
                                        </p:cTn>
                                        <p:tgtEl>
                                          <p:spTgt spid="252930">
                                            <p:txEl>
                                              <p:pRg st="7" end="7"/>
                                            </p:txEl>
                                          </p:spTgt>
                                        </p:tgtEl>
                                        <p:attrNameLst>
                                          <p:attrName>style.visibility</p:attrName>
                                        </p:attrNameLst>
                                      </p:cBhvr>
                                      <p:to>
                                        <p:strVal val="visible"/>
                                      </p:to>
                                    </p:set>
                                    <p:anim calcmode="lin" valueType="num">
                                      <p:cBhvr additive="base">
                                        <p:cTn id="49" dur="500" fill="hold"/>
                                        <p:tgtEl>
                                          <p:spTgt spid="252930">
                                            <p:txEl>
                                              <p:pRg st="7" end="7"/>
                                            </p:txEl>
                                          </p:spTgt>
                                        </p:tgtEl>
                                        <p:attrNameLst>
                                          <p:attrName>ppt_x</p:attrName>
                                        </p:attrNameLst>
                                      </p:cBhvr>
                                      <p:tavLst>
                                        <p:tav tm="0">
                                          <p:val>
                                            <p:strVal val="0-#ppt_w/2"/>
                                          </p:val>
                                        </p:tav>
                                        <p:tav tm="100000">
                                          <p:val>
                                            <p:strVal val="#ppt_x"/>
                                          </p:val>
                                        </p:tav>
                                      </p:tavLst>
                                    </p:anim>
                                    <p:anim calcmode="lin" valueType="num">
                                      <p:cBhvr additive="base">
                                        <p:cTn id="50" dur="500" fill="hold"/>
                                        <p:tgtEl>
                                          <p:spTgt spid="252930">
                                            <p:txEl>
                                              <p:pRg st="7" end="7"/>
                                            </p:txEl>
                                          </p:spTgt>
                                        </p:tgtEl>
                                        <p:attrNameLst>
                                          <p:attrName>ppt_y</p:attrName>
                                        </p:attrNameLst>
                                      </p:cBhvr>
                                      <p:tavLst>
                                        <p:tav tm="0">
                                          <p:val>
                                            <p:strVal val="#ppt_y"/>
                                          </p:val>
                                        </p:tav>
                                        <p:tav tm="100000">
                                          <p:val>
                                            <p:strVal val="#ppt_y"/>
                                          </p:val>
                                        </p:tav>
                                      </p:tavLst>
                                    </p:anim>
                                  </p:childTnLst>
                                </p:cTn>
                              </p:par>
                            </p:childTnLst>
                          </p:cTn>
                        </p:par>
                      </p:childTnLst>
                    </p:cTn>
                  </p:par>
                  <p:par>
                    <p:cTn id="51" fill="hold">
                      <p:stCondLst>
                        <p:cond delay="indefinite"/>
                      </p:stCondLst>
                      <p:childTnLst>
                        <p:par>
                          <p:cTn id="52" fill="hold">
                            <p:stCondLst>
                              <p:cond delay="0"/>
                            </p:stCondLst>
                            <p:childTnLst>
                              <p:par>
                                <p:cTn id="53" presetID="2" presetClass="entr" presetSubtype="8" fill="hold" grpId="0" nodeType="clickEffect">
                                  <p:stCondLst>
                                    <p:cond delay="0"/>
                                  </p:stCondLst>
                                  <p:childTnLst>
                                    <p:set>
                                      <p:cBhvr>
                                        <p:cTn id="54" dur="1" fill="hold">
                                          <p:stCondLst>
                                            <p:cond delay="0"/>
                                          </p:stCondLst>
                                        </p:cTn>
                                        <p:tgtEl>
                                          <p:spTgt spid="252930">
                                            <p:txEl>
                                              <p:pRg st="8" end="8"/>
                                            </p:txEl>
                                          </p:spTgt>
                                        </p:tgtEl>
                                        <p:attrNameLst>
                                          <p:attrName>style.visibility</p:attrName>
                                        </p:attrNameLst>
                                      </p:cBhvr>
                                      <p:to>
                                        <p:strVal val="visible"/>
                                      </p:to>
                                    </p:set>
                                    <p:anim calcmode="lin" valueType="num">
                                      <p:cBhvr additive="base">
                                        <p:cTn id="55" dur="500" fill="hold"/>
                                        <p:tgtEl>
                                          <p:spTgt spid="252930">
                                            <p:txEl>
                                              <p:pRg st="8" end="8"/>
                                            </p:txEl>
                                          </p:spTgt>
                                        </p:tgtEl>
                                        <p:attrNameLst>
                                          <p:attrName>ppt_x</p:attrName>
                                        </p:attrNameLst>
                                      </p:cBhvr>
                                      <p:tavLst>
                                        <p:tav tm="0">
                                          <p:val>
                                            <p:strVal val="0-#ppt_w/2"/>
                                          </p:val>
                                        </p:tav>
                                        <p:tav tm="100000">
                                          <p:val>
                                            <p:strVal val="#ppt_x"/>
                                          </p:val>
                                        </p:tav>
                                      </p:tavLst>
                                    </p:anim>
                                    <p:anim calcmode="lin" valueType="num">
                                      <p:cBhvr additive="base">
                                        <p:cTn id="56" dur="500" fill="hold"/>
                                        <p:tgtEl>
                                          <p:spTgt spid="252930">
                                            <p:txEl>
                                              <p:pRg st="8" end="8"/>
                                            </p:txEl>
                                          </p:spTgt>
                                        </p:tgtEl>
                                        <p:attrNameLst>
                                          <p:attrName>ppt_y</p:attrName>
                                        </p:attrNameLst>
                                      </p:cBhvr>
                                      <p:tavLst>
                                        <p:tav tm="0">
                                          <p:val>
                                            <p:strVal val="#ppt_y"/>
                                          </p:val>
                                        </p:tav>
                                        <p:tav tm="100000">
                                          <p:val>
                                            <p:strVal val="#ppt_y"/>
                                          </p:val>
                                        </p:tav>
                                      </p:tavLst>
                                    </p:anim>
                                  </p:childTnLst>
                                </p:cTn>
                              </p:par>
                            </p:childTnLst>
                          </p:cTn>
                        </p:par>
                      </p:childTnLst>
                    </p:cTn>
                  </p:par>
                  <p:par>
                    <p:cTn id="57" fill="hold">
                      <p:stCondLst>
                        <p:cond delay="indefinite"/>
                      </p:stCondLst>
                      <p:childTnLst>
                        <p:par>
                          <p:cTn id="58" fill="hold">
                            <p:stCondLst>
                              <p:cond delay="0"/>
                            </p:stCondLst>
                            <p:childTnLst>
                              <p:par>
                                <p:cTn id="59" presetID="2" presetClass="entr" presetSubtype="8" fill="hold" grpId="0" nodeType="clickEffect">
                                  <p:stCondLst>
                                    <p:cond delay="0"/>
                                  </p:stCondLst>
                                  <p:childTnLst>
                                    <p:set>
                                      <p:cBhvr>
                                        <p:cTn id="60" dur="1" fill="hold">
                                          <p:stCondLst>
                                            <p:cond delay="0"/>
                                          </p:stCondLst>
                                        </p:cTn>
                                        <p:tgtEl>
                                          <p:spTgt spid="252930">
                                            <p:txEl>
                                              <p:pRg st="9" end="9"/>
                                            </p:txEl>
                                          </p:spTgt>
                                        </p:tgtEl>
                                        <p:attrNameLst>
                                          <p:attrName>style.visibility</p:attrName>
                                        </p:attrNameLst>
                                      </p:cBhvr>
                                      <p:to>
                                        <p:strVal val="visible"/>
                                      </p:to>
                                    </p:set>
                                    <p:anim calcmode="lin" valueType="num">
                                      <p:cBhvr additive="base">
                                        <p:cTn id="61" dur="500" fill="hold"/>
                                        <p:tgtEl>
                                          <p:spTgt spid="252930">
                                            <p:txEl>
                                              <p:pRg st="9" end="9"/>
                                            </p:txEl>
                                          </p:spTgt>
                                        </p:tgtEl>
                                        <p:attrNameLst>
                                          <p:attrName>ppt_x</p:attrName>
                                        </p:attrNameLst>
                                      </p:cBhvr>
                                      <p:tavLst>
                                        <p:tav tm="0">
                                          <p:val>
                                            <p:strVal val="0-#ppt_w/2"/>
                                          </p:val>
                                        </p:tav>
                                        <p:tav tm="100000">
                                          <p:val>
                                            <p:strVal val="#ppt_x"/>
                                          </p:val>
                                        </p:tav>
                                      </p:tavLst>
                                    </p:anim>
                                    <p:anim calcmode="lin" valueType="num">
                                      <p:cBhvr additive="base">
                                        <p:cTn id="62" dur="500" fill="hold"/>
                                        <p:tgtEl>
                                          <p:spTgt spid="252930">
                                            <p:txEl>
                                              <p:pRg st="9" end="9"/>
                                            </p:txEl>
                                          </p:spTgt>
                                        </p:tgtEl>
                                        <p:attrNameLst>
                                          <p:attrName>ppt_y</p:attrName>
                                        </p:attrNameLst>
                                      </p:cBhvr>
                                      <p:tavLst>
                                        <p:tav tm="0">
                                          <p:val>
                                            <p:strVal val="#ppt_y"/>
                                          </p:val>
                                        </p:tav>
                                        <p:tav tm="100000">
                                          <p:val>
                                            <p:strVal val="#ppt_y"/>
                                          </p:val>
                                        </p:tav>
                                      </p:tavLst>
                                    </p:anim>
                                  </p:childTnLst>
                                </p:cTn>
                              </p:par>
                            </p:childTnLst>
                          </p:cTn>
                        </p:par>
                      </p:childTnLst>
                    </p:cTn>
                  </p:par>
                  <p:par>
                    <p:cTn id="63" fill="hold">
                      <p:stCondLst>
                        <p:cond delay="indefinite"/>
                      </p:stCondLst>
                      <p:childTnLst>
                        <p:par>
                          <p:cTn id="64" fill="hold">
                            <p:stCondLst>
                              <p:cond delay="0"/>
                            </p:stCondLst>
                            <p:childTnLst>
                              <p:par>
                                <p:cTn id="65" presetID="2" presetClass="entr" presetSubtype="8" fill="hold" grpId="0" nodeType="clickEffect">
                                  <p:stCondLst>
                                    <p:cond delay="0"/>
                                  </p:stCondLst>
                                  <p:childTnLst>
                                    <p:set>
                                      <p:cBhvr>
                                        <p:cTn id="66" dur="1" fill="hold">
                                          <p:stCondLst>
                                            <p:cond delay="0"/>
                                          </p:stCondLst>
                                        </p:cTn>
                                        <p:tgtEl>
                                          <p:spTgt spid="252930">
                                            <p:txEl>
                                              <p:pRg st="10" end="10"/>
                                            </p:txEl>
                                          </p:spTgt>
                                        </p:tgtEl>
                                        <p:attrNameLst>
                                          <p:attrName>style.visibility</p:attrName>
                                        </p:attrNameLst>
                                      </p:cBhvr>
                                      <p:to>
                                        <p:strVal val="visible"/>
                                      </p:to>
                                    </p:set>
                                    <p:anim calcmode="lin" valueType="num">
                                      <p:cBhvr additive="base">
                                        <p:cTn id="67" dur="500" fill="hold"/>
                                        <p:tgtEl>
                                          <p:spTgt spid="252930">
                                            <p:txEl>
                                              <p:pRg st="10" end="10"/>
                                            </p:txEl>
                                          </p:spTgt>
                                        </p:tgtEl>
                                        <p:attrNameLst>
                                          <p:attrName>ppt_x</p:attrName>
                                        </p:attrNameLst>
                                      </p:cBhvr>
                                      <p:tavLst>
                                        <p:tav tm="0">
                                          <p:val>
                                            <p:strVal val="0-#ppt_w/2"/>
                                          </p:val>
                                        </p:tav>
                                        <p:tav tm="100000">
                                          <p:val>
                                            <p:strVal val="#ppt_x"/>
                                          </p:val>
                                        </p:tav>
                                      </p:tavLst>
                                    </p:anim>
                                    <p:anim calcmode="lin" valueType="num">
                                      <p:cBhvr additive="base">
                                        <p:cTn id="68" dur="500" fill="hold"/>
                                        <p:tgtEl>
                                          <p:spTgt spid="252930">
                                            <p:txEl>
                                              <p:pRg st="10" end="10"/>
                                            </p:txEl>
                                          </p:spTgt>
                                        </p:tgtEl>
                                        <p:attrNameLst>
                                          <p:attrName>ppt_y</p:attrName>
                                        </p:attrNameLst>
                                      </p:cBhvr>
                                      <p:tavLst>
                                        <p:tav tm="0">
                                          <p:val>
                                            <p:strVal val="#ppt_y"/>
                                          </p:val>
                                        </p:tav>
                                        <p:tav tm="100000">
                                          <p:val>
                                            <p:strVal val="#ppt_y"/>
                                          </p:val>
                                        </p:tav>
                                      </p:tavLst>
                                    </p:anim>
                                  </p:childTnLst>
                                </p:cTn>
                              </p:par>
                            </p:childTnLst>
                          </p:cTn>
                        </p:par>
                      </p:childTnLst>
                    </p:cTn>
                  </p:par>
                  <p:par>
                    <p:cTn id="69" fill="hold">
                      <p:stCondLst>
                        <p:cond delay="indefinite"/>
                      </p:stCondLst>
                      <p:childTnLst>
                        <p:par>
                          <p:cTn id="70" fill="hold">
                            <p:stCondLst>
                              <p:cond delay="0"/>
                            </p:stCondLst>
                            <p:childTnLst>
                              <p:par>
                                <p:cTn id="71" presetID="2" presetClass="entr" presetSubtype="8" fill="hold" grpId="0" nodeType="clickEffect">
                                  <p:stCondLst>
                                    <p:cond delay="0"/>
                                  </p:stCondLst>
                                  <p:childTnLst>
                                    <p:set>
                                      <p:cBhvr>
                                        <p:cTn id="72" dur="1" fill="hold">
                                          <p:stCondLst>
                                            <p:cond delay="0"/>
                                          </p:stCondLst>
                                        </p:cTn>
                                        <p:tgtEl>
                                          <p:spTgt spid="252930">
                                            <p:txEl>
                                              <p:pRg st="12" end="12"/>
                                            </p:txEl>
                                          </p:spTgt>
                                        </p:tgtEl>
                                        <p:attrNameLst>
                                          <p:attrName>style.visibility</p:attrName>
                                        </p:attrNameLst>
                                      </p:cBhvr>
                                      <p:to>
                                        <p:strVal val="visible"/>
                                      </p:to>
                                    </p:set>
                                    <p:anim calcmode="lin" valueType="num">
                                      <p:cBhvr additive="base">
                                        <p:cTn id="73" dur="500" fill="hold"/>
                                        <p:tgtEl>
                                          <p:spTgt spid="252930">
                                            <p:txEl>
                                              <p:pRg st="12" end="12"/>
                                            </p:txEl>
                                          </p:spTgt>
                                        </p:tgtEl>
                                        <p:attrNameLst>
                                          <p:attrName>ppt_x</p:attrName>
                                        </p:attrNameLst>
                                      </p:cBhvr>
                                      <p:tavLst>
                                        <p:tav tm="0">
                                          <p:val>
                                            <p:strVal val="0-#ppt_w/2"/>
                                          </p:val>
                                        </p:tav>
                                        <p:tav tm="100000">
                                          <p:val>
                                            <p:strVal val="#ppt_x"/>
                                          </p:val>
                                        </p:tav>
                                      </p:tavLst>
                                    </p:anim>
                                    <p:anim calcmode="lin" valueType="num">
                                      <p:cBhvr additive="base">
                                        <p:cTn id="74" dur="500" fill="hold"/>
                                        <p:tgtEl>
                                          <p:spTgt spid="252930">
                                            <p:txEl>
                                              <p:pRg st="12" end="12"/>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2930" grpId="0" build="p" bldLvl="3" autoUpdateAnimBg="0"/>
    </p:bldLst>
  </p:timing>
</p:sld>
</file>

<file path=ppt/slides/slide45.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53954" name="Rectangle 2"/>
          <p:cNvSpPr>
            <a:spLocks noGrp="1" noChangeArrowheads="1"/>
          </p:cNvSpPr>
          <p:nvPr>
            <p:ph idx="1"/>
          </p:nvPr>
        </p:nvSpPr>
        <p:spPr>
          <a:xfrm>
            <a:off x="762000" y="304800"/>
            <a:ext cx="8229600" cy="5715000"/>
          </a:xfrm>
        </p:spPr>
        <p:txBody>
          <a:bodyPr/>
          <a:lstStyle/>
          <a:p>
            <a:pPr eaLnBrk="1" hangingPunct="1">
              <a:lnSpc>
                <a:spcPct val="90000"/>
              </a:lnSpc>
              <a:buFont typeface="Monotype Sorts" pitchFamily="2" charset="2"/>
              <a:buNone/>
            </a:pPr>
            <a:r>
              <a:rPr lang="en-US" sz="3600" b="1" smtClean="0">
                <a:solidFill>
                  <a:schemeClr val="tx2"/>
                </a:solidFill>
              </a:rPr>
              <a:t>Chemical Methods of Microbial Control</a:t>
            </a:r>
          </a:p>
          <a:p>
            <a:pPr eaLnBrk="1" hangingPunct="1">
              <a:lnSpc>
                <a:spcPct val="90000"/>
              </a:lnSpc>
              <a:buFont typeface="Monotype Sorts" pitchFamily="2" charset="2"/>
              <a:buNone/>
            </a:pPr>
            <a:r>
              <a:rPr lang="en-US" sz="3600" b="1" smtClean="0">
                <a:solidFill>
                  <a:schemeClr val="tx2"/>
                </a:solidFill>
              </a:rPr>
              <a:t>Types of Disinfectants</a:t>
            </a:r>
          </a:p>
          <a:p>
            <a:pPr eaLnBrk="1" hangingPunct="1">
              <a:lnSpc>
                <a:spcPct val="90000"/>
              </a:lnSpc>
              <a:buFont typeface="Monotype Sorts" pitchFamily="2" charset="2"/>
              <a:buNone/>
            </a:pPr>
            <a:r>
              <a:rPr lang="en-US" sz="2800" b="1" smtClean="0"/>
              <a:t>2. Halogens: </a:t>
            </a:r>
            <a:r>
              <a:rPr lang="en-US" sz="2800" smtClean="0"/>
              <a:t>Effective alone or in compounds.</a:t>
            </a:r>
          </a:p>
          <a:p>
            <a:pPr eaLnBrk="1" hangingPunct="1">
              <a:lnSpc>
                <a:spcPct val="90000"/>
              </a:lnSpc>
              <a:buSzPct val="75000"/>
              <a:buFont typeface="Monotype Sorts" pitchFamily="2" charset="2"/>
              <a:buNone/>
            </a:pPr>
            <a:r>
              <a:rPr lang="en-US" sz="2400" b="1" smtClean="0"/>
              <a:t>A.</a:t>
            </a:r>
            <a:r>
              <a:rPr lang="en-US" sz="2400" smtClean="0"/>
              <a:t>  </a:t>
            </a:r>
            <a:r>
              <a:rPr lang="en-US" sz="2400" b="1" smtClean="0"/>
              <a:t>Iodine:</a:t>
            </a:r>
            <a:endParaRPr lang="en-US" sz="2400" smtClean="0"/>
          </a:p>
          <a:p>
            <a:pPr eaLnBrk="1" hangingPunct="1">
              <a:lnSpc>
                <a:spcPct val="90000"/>
              </a:lnSpc>
              <a:buSzPct val="75000"/>
              <a:buFont typeface="Monotype Sorts" pitchFamily="2" charset="2"/>
              <a:buChar char="u"/>
            </a:pPr>
            <a:r>
              <a:rPr lang="en-US" sz="2400" b="1" smtClean="0"/>
              <a:t>Tincture of iodine</a:t>
            </a:r>
            <a:r>
              <a:rPr lang="en-US" sz="2400" smtClean="0"/>
              <a:t> (alcohol solution) was one of first antiseptics used.</a:t>
            </a:r>
          </a:p>
          <a:p>
            <a:pPr eaLnBrk="1" hangingPunct="1">
              <a:lnSpc>
                <a:spcPct val="90000"/>
              </a:lnSpc>
              <a:buSzPct val="75000"/>
              <a:buFont typeface="Monotype Sorts" pitchFamily="2" charset="2"/>
              <a:buChar char="u"/>
            </a:pPr>
            <a:r>
              <a:rPr lang="en-US" sz="2400" smtClean="0"/>
              <a:t> Combines with amino acid tyrosine in proteins and denatures proteins.</a:t>
            </a:r>
          </a:p>
          <a:p>
            <a:pPr eaLnBrk="1" hangingPunct="1">
              <a:lnSpc>
                <a:spcPct val="90000"/>
              </a:lnSpc>
              <a:buSzPct val="75000"/>
              <a:buFont typeface="Monotype Sorts" pitchFamily="2" charset="2"/>
              <a:buChar char="u"/>
            </a:pPr>
            <a:r>
              <a:rPr lang="en-US" sz="2400" smtClean="0"/>
              <a:t> Stains skin and clothes, somewhat irritating.</a:t>
            </a:r>
          </a:p>
          <a:p>
            <a:pPr eaLnBrk="1" hangingPunct="1">
              <a:lnSpc>
                <a:spcPct val="90000"/>
              </a:lnSpc>
              <a:buSzPct val="75000"/>
              <a:buFont typeface="Monotype Sorts" pitchFamily="2" charset="2"/>
              <a:buChar char="u"/>
            </a:pPr>
            <a:r>
              <a:rPr lang="en-US" sz="2400" b="1" smtClean="0"/>
              <a:t>Iodophors</a:t>
            </a:r>
            <a:r>
              <a:rPr lang="en-US" sz="2400" smtClean="0"/>
              <a:t>: Compounds with iodine that are </a:t>
            </a:r>
            <a:r>
              <a:rPr lang="en-US" sz="2400" b="1" smtClean="0"/>
              <a:t>slow releasing</a:t>
            </a:r>
            <a:r>
              <a:rPr lang="en-US" sz="2400" smtClean="0"/>
              <a:t>, take several minutes to act.  Used as skin antiseptic in surgery.  Not effective against bacterial endospores.</a:t>
            </a:r>
          </a:p>
          <a:p>
            <a:pPr lvl="1" eaLnBrk="1" hangingPunct="1">
              <a:lnSpc>
                <a:spcPct val="90000"/>
              </a:lnSpc>
              <a:buSzPct val="75000"/>
              <a:buFont typeface="Monotype Sorts" pitchFamily="2" charset="2"/>
              <a:buChar char="u"/>
            </a:pPr>
            <a:r>
              <a:rPr lang="en-US" sz="2000" smtClean="0"/>
              <a:t> </a:t>
            </a:r>
            <a:r>
              <a:rPr lang="en-US" sz="2000" b="1" smtClean="0"/>
              <a:t>Betadine</a:t>
            </a:r>
            <a:endParaRPr lang="en-US" sz="2000" smtClean="0"/>
          </a:p>
          <a:p>
            <a:pPr lvl="1" eaLnBrk="1" hangingPunct="1">
              <a:lnSpc>
                <a:spcPct val="90000"/>
              </a:lnSpc>
              <a:buSzPct val="75000"/>
              <a:buFont typeface="Monotype Sorts" pitchFamily="2" charset="2"/>
              <a:buChar char="u"/>
            </a:pPr>
            <a:r>
              <a:rPr lang="en-US" sz="2000" smtClean="0"/>
              <a:t> </a:t>
            </a:r>
            <a:r>
              <a:rPr lang="en-US" sz="2000" b="1" smtClean="0"/>
              <a:t>Isodine</a:t>
            </a:r>
            <a:endParaRPr lang="en-US" sz="2000" smtClean="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253954">
                                            <p:txEl>
                                              <p:pRg st="0" end="0"/>
                                            </p:txEl>
                                          </p:spTgt>
                                        </p:tgtEl>
                                        <p:attrNameLst>
                                          <p:attrName>style.visibility</p:attrName>
                                        </p:attrNameLst>
                                      </p:cBhvr>
                                      <p:to>
                                        <p:strVal val="visible"/>
                                      </p:to>
                                    </p:set>
                                    <p:anim calcmode="lin" valueType="num">
                                      <p:cBhvr additive="base">
                                        <p:cTn id="7" dur="500" fill="hold"/>
                                        <p:tgtEl>
                                          <p:spTgt spid="253954">
                                            <p:txEl>
                                              <p:pRg st="0" end="0"/>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253954">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253954">
                                            <p:txEl>
                                              <p:pRg st="1" end="1"/>
                                            </p:txEl>
                                          </p:spTgt>
                                        </p:tgtEl>
                                        <p:attrNameLst>
                                          <p:attrName>style.visibility</p:attrName>
                                        </p:attrNameLst>
                                      </p:cBhvr>
                                      <p:to>
                                        <p:strVal val="visible"/>
                                      </p:to>
                                    </p:set>
                                    <p:anim calcmode="lin" valueType="num">
                                      <p:cBhvr additive="base">
                                        <p:cTn id="13" dur="500" fill="hold"/>
                                        <p:tgtEl>
                                          <p:spTgt spid="253954">
                                            <p:txEl>
                                              <p:pRg st="1" end="1"/>
                                            </p:txEl>
                                          </p:spTgt>
                                        </p:tgtEl>
                                        <p:attrNameLst>
                                          <p:attrName>ppt_x</p:attrName>
                                        </p:attrNameLst>
                                      </p:cBhvr>
                                      <p:tavLst>
                                        <p:tav tm="0">
                                          <p:val>
                                            <p:strVal val="0-#ppt_w/2"/>
                                          </p:val>
                                        </p:tav>
                                        <p:tav tm="100000">
                                          <p:val>
                                            <p:strVal val="#ppt_x"/>
                                          </p:val>
                                        </p:tav>
                                      </p:tavLst>
                                    </p:anim>
                                    <p:anim calcmode="lin" valueType="num">
                                      <p:cBhvr additive="base">
                                        <p:cTn id="14" dur="500" fill="hold"/>
                                        <p:tgtEl>
                                          <p:spTgt spid="253954">
                                            <p:txEl>
                                              <p:pRg st="1" end="1"/>
                                            </p:txEl>
                                          </p:spTgt>
                                        </p:tgtEl>
                                        <p:attrNameLst>
                                          <p:attrName>ppt_y</p:attrName>
                                        </p:attrNameLst>
                                      </p:cBhvr>
                                      <p:tavLst>
                                        <p:tav tm="0">
                                          <p:val>
                                            <p:strVal val="#ppt_y"/>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8" fill="hold" grpId="0" nodeType="clickEffect">
                                  <p:stCondLst>
                                    <p:cond delay="0"/>
                                  </p:stCondLst>
                                  <p:childTnLst>
                                    <p:set>
                                      <p:cBhvr>
                                        <p:cTn id="18" dur="1" fill="hold">
                                          <p:stCondLst>
                                            <p:cond delay="0"/>
                                          </p:stCondLst>
                                        </p:cTn>
                                        <p:tgtEl>
                                          <p:spTgt spid="253954">
                                            <p:txEl>
                                              <p:pRg st="2" end="2"/>
                                            </p:txEl>
                                          </p:spTgt>
                                        </p:tgtEl>
                                        <p:attrNameLst>
                                          <p:attrName>style.visibility</p:attrName>
                                        </p:attrNameLst>
                                      </p:cBhvr>
                                      <p:to>
                                        <p:strVal val="visible"/>
                                      </p:to>
                                    </p:set>
                                    <p:anim calcmode="lin" valueType="num">
                                      <p:cBhvr additive="base">
                                        <p:cTn id="19" dur="500" fill="hold"/>
                                        <p:tgtEl>
                                          <p:spTgt spid="253954">
                                            <p:txEl>
                                              <p:pRg st="2" end="2"/>
                                            </p:txEl>
                                          </p:spTgt>
                                        </p:tgtEl>
                                        <p:attrNameLst>
                                          <p:attrName>ppt_x</p:attrName>
                                        </p:attrNameLst>
                                      </p:cBhvr>
                                      <p:tavLst>
                                        <p:tav tm="0">
                                          <p:val>
                                            <p:strVal val="0-#ppt_w/2"/>
                                          </p:val>
                                        </p:tav>
                                        <p:tav tm="100000">
                                          <p:val>
                                            <p:strVal val="#ppt_x"/>
                                          </p:val>
                                        </p:tav>
                                      </p:tavLst>
                                    </p:anim>
                                    <p:anim calcmode="lin" valueType="num">
                                      <p:cBhvr additive="base">
                                        <p:cTn id="20" dur="500" fill="hold"/>
                                        <p:tgtEl>
                                          <p:spTgt spid="253954">
                                            <p:txEl>
                                              <p:pRg st="2" end="2"/>
                                            </p:txEl>
                                          </p:spTgt>
                                        </p:tgtEl>
                                        <p:attrNameLst>
                                          <p:attrName>ppt_y</p:attrName>
                                        </p:attrNameLst>
                                      </p:cBhvr>
                                      <p:tavLst>
                                        <p:tav tm="0">
                                          <p:val>
                                            <p:strVal val="#ppt_y"/>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8" fill="hold" grpId="0" nodeType="clickEffect">
                                  <p:stCondLst>
                                    <p:cond delay="0"/>
                                  </p:stCondLst>
                                  <p:childTnLst>
                                    <p:set>
                                      <p:cBhvr>
                                        <p:cTn id="24" dur="1" fill="hold">
                                          <p:stCondLst>
                                            <p:cond delay="0"/>
                                          </p:stCondLst>
                                        </p:cTn>
                                        <p:tgtEl>
                                          <p:spTgt spid="253954">
                                            <p:txEl>
                                              <p:pRg st="3" end="3"/>
                                            </p:txEl>
                                          </p:spTgt>
                                        </p:tgtEl>
                                        <p:attrNameLst>
                                          <p:attrName>style.visibility</p:attrName>
                                        </p:attrNameLst>
                                      </p:cBhvr>
                                      <p:to>
                                        <p:strVal val="visible"/>
                                      </p:to>
                                    </p:set>
                                    <p:anim calcmode="lin" valueType="num">
                                      <p:cBhvr additive="base">
                                        <p:cTn id="25" dur="500" fill="hold"/>
                                        <p:tgtEl>
                                          <p:spTgt spid="253954">
                                            <p:txEl>
                                              <p:pRg st="3" end="3"/>
                                            </p:txEl>
                                          </p:spTgt>
                                        </p:tgtEl>
                                        <p:attrNameLst>
                                          <p:attrName>ppt_x</p:attrName>
                                        </p:attrNameLst>
                                      </p:cBhvr>
                                      <p:tavLst>
                                        <p:tav tm="0">
                                          <p:val>
                                            <p:strVal val="0-#ppt_w/2"/>
                                          </p:val>
                                        </p:tav>
                                        <p:tav tm="100000">
                                          <p:val>
                                            <p:strVal val="#ppt_x"/>
                                          </p:val>
                                        </p:tav>
                                      </p:tavLst>
                                    </p:anim>
                                    <p:anim calcmode="lin" valueType="num">
                                      <p:cBhvr additive="base">
                                        <p:cTn id="26" dur="500" fill="hold"/>
                                        <p:tgtEl>
                                          <p:spTgt spid="253954">
                                            <p:txEl>
                                              <p:pRg st="3" end="3"/>
                                            </p:txEl>
                                          </p:spTgt>
                                        </p:tgtEl>
                                        <p:attrNameLst>
                                          <p:attrName>ppt_y</p:attrName>
                                        </p:attrNameLst>
                                      </p:cBhvr>
                                      <p:tavLst>
                                        <p:tav tm="0">
                                          <p:val>
                                            <p:strVal val="#ppt_y"/>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8" fill="hold" grpId="0" nodeType="clickEffect">
                                  <p:stCondLst>
                                    <p:cond delay="0"/>
                                  </p:stCondLst>
                                  <p:childTnLst>
                                    <p:set>
                                      <p:cBhvr>
                                        <p:cTn id="30" dur="1" fill="hold">
                                          <p:stCondLst>
                                            <p:cond delay="0"/>
                                          </p:stCondLst>
                                        </p:cTn>
                                        <p:tgtEl>
                                          <p:spTgt spid="253954">
                                            <p:txEl>
                                              <p:pRg st="4" end="4"/>
                                            </p:txEl>
                                          </p:spTgt>
                                        </p:tgtEl>
                                        <p:attrNameLst>
                                          <p:attrName>style.visibility</p:attrName>
                                        </p:attrNameLst>
                                      </p:cBhvr>
                                      <p:to>
                                        <p:strVal val="visible"/>
                                      </p:to>
                                    </p:set>
                                    <p:anim calcmode="lin" valueType="num">
                                      <p:cBhvr additive="base">
                                        <p:cTn id="31" dur="500" fill="hold"/>
                                        <p:tgtEl>
                                          <p:spTgt spid="253954">
                                            <p:txEl>
                                              <p:pRg st="4" end="4"/>
                                            </p:txEl>
                                          </p:spTgt>
                                        </p:tgtEl>
                                        <p:attrNameLst>
                                          <p:attrName>ppt_x</p:attrName>
                                        </p:attrNameLst>
                                      </p:cBhvr>
                                      <p:tavLst>
                                        <p:tav tm="0">
                                          <p:val>
                                            <p:strVal val="0-#ppt_w/2"/>
                                          </p:val>
                                        </p:tav>
                                        <p:tav tm="100000">
                                          <p:val>
                                            <p:strVal val="#ppt_x"/>
                                          </p:val>
                                        </p:tav>
                                      </p:tavLst>
                                    </p:anim>
                                    <p:anim calcmode="lin" valueType="num">
                                      <p:cBhvr additive="base">
                                        <p:cTn id="32" dur="500" fill="hold"/>
                                        <p:tgtEl>
                                          <p:spTgt spid="253954">
                                            <p:txEl>
                                              <p:pRg st="4" end="4"/>
                                            </p:txEl>
                                          </p:spTgt>
                                        </p:tgtEl>
                                        <p:attrNameLst>
                                          <p:attrName>ppt_y</p:attrName>
                                        </p:attrNameLst>
                                      </p:cBhvr>
                                      <p:tavLst>
                                        <p:tav tm="0">
                                          <p:val>
                                            <p:strVal val="#ppt_y"/>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8" fill="hold" grpId="0" nodeType="clickEffect">
                                  <p:stCondLst>
                                    <p:cond delay="0"/>
                                  </p:stCondLst>
                                  <p:childTnLst>
                                    <p:set>
                                      <p:cBhvr>
                                        <p:cTn id="36" dur="1" fill="hold">
                                          <p:stCondLst>
                                            <p:cond delay="0"/>
                                          </p:stCondLst>
                                        </p:cTn>
                                        <p:tgtEl>
                                          <p:spTgt spid="253954">
                                            <p:txEl>
                                              <p:pRg st="5" end="5"/>
                                            </p:txEl>
                                          </p:spTgt>
                                        </p:tgtEl>
                                        <p:attrNameLst>
                                          <p:attrName>style.visibility</p:attrName>
                                        </p:attrNameLst>
                                      </p:cBhvr>
                                      <p:to>
                                        <p:strVal val="visible"/>
                                      </p:to>
                                    </p:set>
                                    <p:anim calcmode="lin" valueType="num">
                                      <p:cBhvr additive="base">
                                        <p:cTn id="37" dur="500" fill="hold"/>
                                        <p:tgtEl>
                                          <p:spTgt spid="253954">
                                            <p:txEl>
                                              <p:pRg st="5" end="5"/>
                                            </p:txEl>
                                          </p:spTgt>
                                        </p:tgtEl>
                                        <p:attrNameLst>
                                          <p:attrName>ppt_x</p:attrName>
                                        </p:attrNameLst>
                                      </p:cBhvr>
                                      <p:tavLst>
                                        <p:tav tm="0">
                                          <p:val>
                                            <p:strVal val="0-#ppt_w/2"/>
                                          </p:val>
                                        </p:tav>
                                        <p:tav tm="100000">
                                          <p:val>
                                            <p:strVal val="#ppt_x"/>
                                          </p:val>
                                        </p:tav>
                                      </p:tavLst>
                                    </p:anim>
                                    <p:anim calcmode="lin" valueType="num">
                                      <p:cBhvr additive="base">
                                        <p:cTn id="38" dur="500" fill="hold"/>
                                        <p:tgtEl>
                                          <p:spTgt spid="253954">
                                            <p:txEl>
                                              <p:pRg st="5" end="5"/>
                                            </p:txEl>
                                          </p:spTgt>
                                        </p:tgtEl>
                                        <p:attrNameLst>
                                          <p:attrName>ppt_y</p:attrName>
                                        </p:attrNameLst>
                                      </p:cBhvr>
                                      <p:tavLst>
                                        <p:tav tm="0">
                                          <p:val>
                                            <p:strVal val="#ppt_y"/>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2" presetClass="entr" presetSubtype="8" fill="hold" grpId="0" nodeType="clickEffect">
                                  <p:stCondLst>
                                    <p:cond delay="0"/>
                                  </p:stCondLst>
                                  <p:childTnLst>
                                    <p:set>
                                      <p:cBhvr>
                                        <p:cTn id="42" dur="1" fill="hold">
                                          <p:stCondLst>
                                            <p:cond delay="0"/>
                                          </p:stCondLst>
                                        </p:cTn>
                                        <p:tgtEl>
                                          <p:spTgt spid="253954">
                                            <p:txEl>
                                              <p:pRg st="6" end="6"/>
                                            </p:txEl>
                                          </p:spTgt>
                                        </p:tgtEl>
                                        <p:attrNameLst>
                                          <p:attrName>style.visibility</p:attrName>
                                        </p:attrNameLst>
                                      </p:cBhvr>
                                      <p:to>
                                        <p:strVal val="visible"/>
                                      </p:to>
                                    </p:set>
                                    <p:anim calcmode="lin" valueType="num">
                                      <p:cBhvr additive="base">
                                        <p:cTn id="43" dur="500" fill="hold"/>
                                        <p:tgtEl>
                                          <p:spTgt spid="253954">
                                            <p:txEl>
                                              <p:pRg st="6" end="6"/>
                                            </p:txEl>
                                          </p:spTgt>
                                        </p:tgtEl>
                                        <p:attrNameLst>
                                          <p:attrName>ppt_x</p:attrName>
                                        </p:attrNameLst>
                                      </p:cBhvr>
                                      <p:tavLst>
                                        <p:tav tm="0">
                                          <p:val>
                                            <p:strVal val="0-#ppt_w/2"/>
                                          </p:val>
                                        </p:tav>
                                        <p:tav tm="100000">
                                          <p:val>
                                            <p:strVal val="#ppt_x"/>
                                          </p:val>
                                        </p:tav>
                                      </p:tavLst>
                                    </p:anim>
                                    <p:anim calcmode="lin" valueType="num">
                                      <p:cBhvr additive="base">
                                        <p:cTn id="44" dur="500" fill="hold"/>
                                        <p:tgtEl>
                                          <p:spTgt spid="253954">
                                            <p:txEl>
                                              <p:pRg st="6" end="6"/>
                                            </p:txEl>
                                          </p:spTgt>
                                        </p:tgtEl>
                                        <p:attrNameLst>
                                          <p:attrName>ppt_y</p:attrName>
                                        </p:attrNameLst>
                                      </p:cBhvr>
                                      <p:tavLst>
                                        <p:tav tm="0">
                                          <p:val>
                                            <p:strVal val="#ppt_y"/>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2" presetClass="entr" presetSubtype="8" fill="hold" grpId="0" nodeType="clickEffect">
                                  <p:stCondLst>
                                    <p:cond delay="0"/>
                                  </p:stCondLst>
                                  <p:childTnLst>
                                    <p:set>
                                      <p:cBhvr>
                                        <p:cTn id="48" dur="1" fill="hold">
                                          <p:stCondLst>
                                            <p:cond delay="0"/>
                                          </p:stCondLst>
                                        </p:cTn>
                                        <p:tgtEl>
                                          <p:spTgt spid="253954">
                                            <p:txEl>
                                              <p:pRg st="7" end="7"/>
                                            </p:txEl>
                                          </p:spTgt>
                                        </p:tgtEl>
                                        <p:attrNameLst>
                                          <p:attrName>style.visibility</p:attrName>
                                        </p:attrNameLst>
                                      </p:cBhvr>
                                      <p:to>
                                        <p:strVal val="visible"/>
                                      </p:to>
                                    </p:set>
                                    <p:anim calcmode="lin" valueType="num">
                                      <p:cBhvr additive="base">
                                        <p:cTn id="49" dur="500" fill="hold"/>
                                        <p:tgtEl>
                                          <p:spTgt spid="253954">
                                            <p:txEl>
                                              <p:pRg st="7" end="7"/>
                                            </p:txEl>
                                          </p:spTgt>
                                        </p:tgtEl>
                                        <p:attrNameLst>
                                          <p:attrName>ppt_x</p:attrName>
                                        </p:attrNameLst>
                                      </p:cBhvr>
                                      <p:tavLst>
                                        <p:tav tm="0">
                                          <p:val>
                                            <p:strVal val="0-#ppt_w/2"/>
                                          </p:val>
                                        </p:tav>
                                        <p:tav tm="100000">
                                          <p:val>
                                            <p:strVal val="#ppt_x"/>
                                          </p:val>
                                        </p:tav>
                                      </p:tavLst>
                                    </p:anim>
                                    <p:anim calcmode="lin" valueType="num">
                                      <p:cBhvr additive="base">
                                        <p:cTn id="50" dur="500" fill="hold"/>
                                        <p:tgtEl>
                                          <p:spTgt spid="253954">
                                            <p:txEl>
                                              <p:pRg st="7" end="7"/>
                                            </p:txEl>
                                          </p:spTgt>
                                        </p:tgtEl>
                                        <p:attrNameLst>
                                          <p:attrName>ppt_y</p:attrName>
                                        </p:attrNameLst>
                                      </p:cBhvr>
                                      <p:tavLst>
                                        <p:tav tm="0">
                                          <p:val>
                                            <p:strVal val="#ppt_y"/>
                                          </p:val>
                                        </p:tav>
                                        <p:tav tm="100000">
                                          <p:val>
                                            <p:strVal val="#ppt_y"/>
                                          </p:val>
                                        </p:tav>
                                      </p:tavLst>
                                    </p:anim>
                                  </p:childTnLst>
                                </p:cTn>
                              </p:par>
                            </p:childTnLst>
                          </p:cTn>
                        </p:par>
                      </p:childTnLst>
                    </p:cTn>
                  </p:par>
                  <p:par>
                    <p:cTn id="51" fill="hold">
                      <p:stCondLst>
                        <p:cond delay="indefinite"/>
                      </p:stCondLst>
                      <p:childTnLst>
                        <p:par>
                          <p:cTn id="52" fill="hold">
                            <p:stCondLst>
                              <p:cond delay="0"/>
                            </p:stCondLst>
                            <p:childTnLst>
                              <p:par>
                                <p:cTn id="53" presetID="2" presetClass="entr" presetSubtype="8" fill="hold" grpId="0" nodeType="clickEffect">
                                  <p:stCondLst>
                                    <p:cond delay="0"/>
                                  </p:stCondLst>
                                  <p:childTnLst>
                                    <p:set>
                                      <p:cBhvr>
                                        <p:cTn id="54" dur="1" fill="hold">
                                          <p:stCondLst>
                                            <p:cond delay="0"/>
                                          </p:stCondLst>
                                        </p:cTn>
                                        <p:tgtEl>
                                          <p:spTgt spid="253954">
                                            <p:txEl>
                                              <p:pRg st="8" end="8"/>
                                            </p:txEl>
                                          </p:spTgt>
                                        </p:tgtEl>
                                        <p:attrNameLst>
                                          <p:attrName>style.visibility</p:attrName>
                                        </p:attrNameLst>
                                      </p:cBhvr>
                                      <p:to>
                                        <p:strVal val="visible"/>
                                      </p:to>
                                    </p:set>
                                    <p:anim calcmode="lin" valueType="num">
                                      <p:cBhvr additive="base">
                                        <p:cTn id="55" dur="500" fill="hold"/>
                                        <p:tgtEl>
                                          <p:spTgt spid="253954">
                                            <p:txEl>
                                              <p:pRg st="8" end="8"/>
                                            </p:txEl>
                                          </p:spTgt>
                                        </p:tgtEl>
                                        <p:attrNameLst>
                                          <p:attrName>ppt_x</p:attrName>
                                        </p:attrNameLst>
                                      </p:cBhvr>
                                      <p:tavLst>
                                        <p:tav tm="0">
                                          <p:val>
                                            <p:strVal val="0-#ppt_w/2"/>
                                          </p:val>
                                        </p:tav>
                                        <p:tav tm="100000">
                                          <p:val>
                                            <p:strVal val="#ppt_x"/>
                                          </p:val>
                                        </p:tav>
                                      </p:tavLst>
                                    </p:anim>
                                    <p:anim calcmode="lin" valueType="num">
                                      <p:cBhvr additive="base">
                                        <p:cTn id="56" dur="500" fill="hold"/>
                                        <p:tgtEl>
                                          <p:spTgt spid="253954">
                                            <p:txEl>
                                              <p:pRg st="8" end="8"/>
                                            </p:txEl>
                                          </p:spTgt>
                                        </p:tgtEl>
                                        <p:attrNameLst>
                                          <p:attrName>ppt_y</p:attrName>
                                        </p:attrNameLst>
                                      </p:cBhvr>
                                      <p:tavLst>
                                        <p:tav tm="0">
                                          <p:val>
                                            <p:strVal val="#ppt_y"/>
                                          </p:val>
                                        </p:tav>
                                        <p:tav tm="100000">
                                          <p:val>
                                            <p:strVal val="#ppt_y"/>
                                          </p:val>
                                        </p:tav>
                                      </p:tavLst>
                                    </p:anim>
                                  </p:childTnLst>
                                </p:cTn>
                              </p:par>
                            </p:childTnLst>
                          </p:cTn>
                        </p:par>
                      </p:childTnLst>
                    </p:cTn>
                  </p:par>
                  <p:par>
                    <p:cTn id="57" fill="hold">
                      <p:stCondLst>
                        <p:cond delay="indefinite"/>
                      </p:stCondLst>
                      <p:childTnLst>
                        <p:par>
                          <p:cTn id="58" fill="hold">
                            <p:stCondLst>
                              <p:cond delay="0"/>
                            </p:stCondLst>
                            <p:childTnLst>
                              <p:par>
                                <p:cTn id="59" presetID="2" presetClass="entr" presetSubtype="8" fill="hold" grpId="0" nodeType="clickEffect">
                                  <p:stCondLst>
                                    <p:cond delay="0"/>
                                  </p:stCondLst>
                                  <p:childTnLst>
                                    <p:set>
                                      <p:cBhvr>
                                        <p:cTn id="60" dur="1" fill="hold">
                                          <p:stCondLst>
                                            <p:cond delay="0"/>
                                          </p:stCondLst>
                                        </p:cTn>
                                        <p:tgtEl>
                                          <p:spTgt spid="253954">
                                            <p:txEl>
                                              <p:pRg st="9" end="9"/>
                                            </p:txEl>
                                          </p:spTgt>
                                        </p:tgtEl>
                                        <p:attrNameLst>
                                          <p:attrName>style.visibility</p:attrName>
                                        </p:attrNameLst>
                                      </p:cBhvr>
                                      <p:to>
                                        <p:strVal val="visible"/>
                                      </p:to>
                                    </p:set>
                                    <p:anim calcmode="lin" valueType="num">
                                      <p:cBhvr additive="base">
                                        <p:cTn id="61" dur="500" fill="hold"/>
                                        <p:tgtEl>
                                          <p:spTgt spid="253954">
                                            <p:txEl>
                                              <p:pRg st="9" end="9"/>
                                            </p:txEl>
                                          </p:spTgt>
                                        </p:tgtEl>
                                        <p:attrNameLst>
                                          <p:attrName>ppt_x</p:attrName>
                                        </p:attrNameLst>
                                      </p:cBhvr>
                                      <p:tavLst>
                                        <p:tav tm="0">
                                          <p:val>
                                            <p:strVal val="0-#ppt_w/2"/>
                                          </p:val>
                                        </p:tav>
                                        <p:tav tm="100000">
                                          <p:val>
                                            <p:strVal val="#ppt_x"/>
                                          </p:val>
                                        </p:tav>
                                      </p:tavLst>
                                    </p:anim>
                                    <p:anim calcmode="lin" valueType="num">
                                      <p:cBhvr additive="base">
                                        <p:cTn id="62" dur="500" fill="hold"/>
                                        <p:tgtEl>
                                          <p:spTgt spid="253954">
                                            <p:txEl>
                                              <p:pRg st="9" end="9"/>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3954" grpId="0" build="p" bldLvl="3" autoUpdateAnimBg="0"/>
    </p:bldLst>
  </p:timing>
</p:sld>
</file>

<file path=ppt/slides/slide46.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54978" name="Rectangle 2"/>
          <p:cNvSpPr>
            <a:spLocks noGrp="1" noChangeArrowheads="1"/>
          </p:cNvSpPr>
          <p:nvPr>
            <p:ph idx="1"/>
          </p:nvPr>
        </p:nvSpPr>
        <p:spPr>
          <a:xfrm>
            <a:off x="762000" y="304800"/>
            <a:ext cx="8229600" cy="5715000"/>
          </a:xfrm>
        </p:spPr>
        <p:txBody>
          <a:bodyPr/>
          <a:lstStyle/>
          <a:p>
            <a:pPr eaLnBrk="1" hangingPunct="1">
              <a:lnSpc>
                <a:spcPct val="90000"/>
              </a:lnSpc>
              <a:buFont typeface="Monotype Sorts" pitchFamily="2" charset="2"/>
              <a:buNone/>
            </a:pPr>
            <a:r>
              <a:rPr lang="en-US" sz="3600" b="1" smtClean="0">
                <a:solidFill>
                  <a:schemeClr val="tx2"/>
                </a:solidFill>
              </a:rPr>
              <a:t>Chemical Methods of Microbial Control</a:t>
            </a:r>
          </a:p>
          <a:p>
            <a:pPr eaLnBrk="1" hangingPunct="1">
              <a:lnSpc>
                <a:spcPct val="90000"/>
              </a:lnSpc>
              <a:buFont typeface="Monotype Sorts" pitchFamily="2" charset="2"/>
              <a:buNone/>
            </a:pPr>
            <a:r>
              <a:rPr lang="en-US" sz="3600" b="1" smtClean="0">
                <a:solidFill>
                  <a:schemeClr val="tx2"/>
                </a:solidFill>
              </a:rPr>
              <a:t>Types of Disinfectants</a:t>
            </a:r>
          </a:p>
          <a:p>
            <a:pPr eaLnBrk="1" hangingPunct="1">
              <a:lnSpc>
                <a:spcPct val="90000"/>
              </a:lnSpc>
              <a:buFont typeface="Monotype Sorts" pitchFamily="2" charset="2"/>
              <a:buNone/>
            </a:pPr>
            <a:r>
              <a:rPr lang="en-US" sz="2800" b="1" smtClean="0"/>
              <a:t>2. Halogens: </a:t>
            </a:r>
            <a:r>
              <a:rPr lang="en-US" sz="2800" smtClean="0"/>
              <a:t>Effective alone or in compounds.</a:t>
            </a:r>
          </a:p>
          <a:p>
            <a:pPr eaLnBrk="1" hangingPunct="1">
              <a:lnSpc>
                <a:spcPct val="90000"/>
              </a:lnSpc>
              <a:buSzPct val="75000"/>
              <a:buFont typeface="Monotype Sorts" pitchFamily="2" charset="2"/>
              <a:buNone/>
            </a:pPr>
            <a:r>
              <a:rPr lang="en-US" sz="2400" b="1" smtClean="0"/>
              <a:t>B. Chlorine:</a:t>
            </a:r>
            <a:endParaRPr lang="en-US" sz="2400" smtClean="0"/>
          </a:p>
          <a:p>
            <a:pPr eaLnBrk="1" hangingPunct="1">
              <a:lnSpc>
                <a:spcPct val="90000"/>
              </a:lnSpc>
              <a:buSzPct val="75000"/>
              <a:buFont typeface="Arial" charset="0"/>
              <a:buNone/>
            </a:pPr>
            <a:r>
              <a:rPr lang="en-US" sz="2400" smtClean="0"/>
              <a:t> When mixed in water forms </a:t>
            </a:r>
            <a:r>
              <a:rPr lang="en-US" sz="2400" b="1" u="sng" smtClean="0"/>
              <a:t>hypochlorous</a:t>
            </a:r>
            <a:r>
              <a:rPr lang="en-US" sz="2400" smtClean="0"/>
              <a:t> </a:t>
            </a:r>
            <a:r>
              <a:rPr lang="en-US" sz="2400" b="1" u="sng" smtClean="0"/>
              <a:t>acid</a:t>
            </a:r>
            <a:r>
              <a:rPr lang="en-US" sz="2400" smtClean="0"/>
              <a:t>:</a:t>
            </a:r>
          </a:p>
          <a:p>
            <a:pPr eaLnBrk="1" hangingPunct="1">
              <a:lnSpc>
                <a:spcPct val="110000"/>
              </a:lnSpc>
              <a:buSzPct val="75000"/>
              <a:buFont typeface="Arial" charset="0"/>
              <a:buNone/>
            </a:pPr>
            <a:r>
              <a:rPr lang="en-US" sz="2400" b="1" smtClean="0"/>
              <a:t>	Cl</a:t>
            </a:r>
            <a:r>
              <a:rPr lang="en-US" sz="2400" b="1" baseline="-25000" smtClean="0"/>
              <a:t>2</a:t>
            </a:r>
            <a:r>
              <a:rPr lang="en-US" sz="2400" b="1" smtClean="0"/>
              <a:t>   +   H</a:t>
            </a:r>
            <a:r>
              <a:rPr lang="en-US" sz="2400" b="1" baseline="-25000" smtClean="0"/>
              <a:t>2</a:t>
            </a:r>
            <a:r>
              <a:rPr lang="en-US" sz="2400" b="1" smtClean="0"/>
              <a:t>O ------&gt;	H+    +   Cl-	+   HOCl</a:t>
            </a:r>
          </a:p>
          <a:p>
            <a:pPr eaLnBrk="1" hangingPunct="1">
              <a:lnSpc>
                <a:spcPct val="90000"/>
              </a:lnSpc>
              <a:buSzPct val="75000"/>
              <a:buFont typeface="Arial" charset="0"/>
              <a:buNone/>
            </a:pPr>
            <a:r>
              <a:rPr lang="en-US" sz="2400" smtClean="0"/>
              <a:t> 							</a:t>
            </a:r>
            <a:r>
              <a:rPr lang="en-US" sz="2000" smtClean="0">
                <a:solidFill>
                  <a:srgbClr val="FF0000"/>
                </a:solidFill>
              </a:rPr>
              <a:t>Hypochlorous acid</a:t>
            </a:r>
            <a:endParaRPr lang="en-US" sz="1800" smtClean="0">
              <a:solidFill>
                <a:srgbClr val="FF0000"/>
              </a:solidFill>
            </a:endParaRPr>
          </a:p>
          <a:p>
            <a:pPr eaLnBrk="1" hangingPunct="1">
              <a:lnSpc>
                <a:spcPct val="90000"/>
              </a:lnSpc>
              <a:buSzPct val="75000"/>
              <a:buFont typeface="Arial" charset="0"/>
              <a:buNone/>
            </a:pPr>
            <a:r>
              <a:rPr lang="en-US" sz="2400" smtClean="0"/>
              <a:t> Used to disinfect drinking water, pools, and sewage.</a:t>
            </a:r>
          </a:p>
          <a:p>
            <a:pPr eaLnBrk="1" hangingPunct="1">
              <a:lnSpc>
                <a:spcPct val="90000"/>
              </a:lnSpc>
              <a:buSzPct val="75000"/>
              <a:buFont typeface="Arial" charset="0"/>
              <a:buNone/>
            </a:pPr>
            <a:r>
              <a:rPr lang="en-US" sz="2400" smtClean="0"/>
              <a:t> Chlorine is easily inactivated by organic materials.</a:t>
            </a:r>
          </a:p>
          <a:p>
            <a:pPr eaLnBrk="1" hangingPunct="1">
              <a:lnSpc>
                <a:spcPct val="90000"/>
              </a:lnSpc>
              <a:buSzPct val="75000"/>
              <a:buFont typeface="Arial" charset="0"/>
              <a:buNone/>
            </a:pPr>
            <a:r>
              <a:rPr lang="en-US" sz="2400" smtClean="0"/>
              <a:t> </a:t>
            </a:r>
            <a:r>
              <a:rPr lang="en-US" sz="2400" b="1" smtClean="0"/>
              <a:t>Sodium hypochlorite (NaOCl):</a:t>
            </a:r>
            <a:r>
              <a:rPr lang="en-US" sz="2400" smtClean="0"/>
              <a:t> Is active ingredient of bleach.</a:t>
            </a:r>
          </a:p>
          <a:p>
            <a:pPr eaLnBrk="1" hangingPunct="1">
              <a:lnSpc>
                <a:spcPct val="90000"/>
              </a:lnSpc>
              <a:buSzPct val="75000"/>
              <a:buFont typeface="Arial" charset="0"/>
              <a:buNone/>
            </a:pPr>
            <a:r>
              <a:rPr lang="en-US" sz="2400" smtClean="0"/>
              <a:t> </a:t>
            </a:r>
            <a:r>
              <a:rPr lang="en-US" sz="2400" b="1" smtClean="0"/>
              <a:t>Chloramines</a:t>
            </a:r>
            <a:r>
              <a:rPr lang="en-US" sz="2400" smtClean="0"/>
              <a:t>: Consist of chlorine and ammonia.  Less effective as germicides.</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254978">
                                            <p:txEl>
                                              <p:pRg st="0" end="0"/>
                                            </p:txEl>
                                          </p:spTgt>
                                        </p:tgtEl>
                                        <p:attrNameLst>
                                          <p:attrName>style.visibility</p:attrName>
                                        </p:attrNameLst>
                                      </p:cBhvr>
                                      <p:to>
                                        <p:strVal val="visible"/>
                                      </p:to>
                                    </p:set>
                                    <p:anim calcmode="lin" valueType="num">
                                      <p:cBhvr additive="base">
                                        <p:cTn id="7" dur="500" fill="hold"/>
                                        <p:tgtEl>
                                          <p:spTgt spid="254978">
                                            <p:txEl>
                                              <p:pRg st="0" end="0"/>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254978">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254978">
                                            <p:txEl>
                                              <p:pRg st="1" end="1"/>
                                            </p:txEl>
                                          </p:spTgt>
                                        </p:tgtEl>
                                        <p:attrNameLst>
                                          <p:attrName>style.visibility</p:attrName>
                                        </p:attrNameLst>
                                      </p:cBhvr>
                                      <p:to>
                                        <p:strVal val="visible"/>
                                      </p:to>
                                    </p:set>
                                    <p:anim calcmode="lin" valueType="num">
                                      <p:cBhvr additive="base">
                                        <p:cTn id="13" dur="500" fill="hold"/>
                                        <p:tgtEl>
                                          <p:spTgt spid="254978">
                                            <p:txEl>
                                              <p:pRg st="1" end="1"/>
                                            </p:txEl>
                                          </p:spTgt>
                                        </p:tgtEl>
                                        <p:attrNameLst>
                                          <p:attrName>ppt_x</p:attrName>
                                        </p:attrNameLst>
                                      </p:cBhvr>
                                      <p:tavLst>
                                        <p:tav tm="0">
                                          <p:val>
                                            <p:strVal val="0-#ppt_w/2"/>
                                          </p:val>
                                        </p:tav>
                                        <p:tav tm="100000">
                                          <p:val>
                                            <p:strVal val="#ppt_x"/>
                                          </p:val>
                                        </p:tav>
                                      </p:tavLst>
                                    </p:anim>
                                    <p:anim calcmode="lin" valueType="num">
                                      <p:cBhvr additive="base">
                                        <p:cTn id="14" dur="500" fill="hold"/>
                                        <p:tgtEl>
                                          <p:spTgt spid="254978">
                                            <p:txEl>
                                              <p:pRg st="1" end="1"/>
                                            </p:txEl>
                                          </p:spTgt>
                                        </p:tgtEl>
                                        <p:attrNameLst>
                                          <p:attrName>ppt_y</p:attrName>
                                        </p:attrNameLst>
                                      </p:cBhvr>
                                      <p:tavLst>
                                        <p:tav tm="0">
                                          <p:val>
                                            <p:strVal val="#ppt_y"/>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8" fill="hold" grpId="0" nodeType="clickEffect">
                                  <p:stCondLst>
                                    <p:cond delay="0"/>
                                  </p:stCondLst>
                                  <p:childTnLst>
                                    <p:set>
                                      <p:cBhvr>
                                        <p:cTn id="18" dur="1" fill="hold">
                                          <p:stCondLst>
                                            <p:cond delay="0"/>
                                          </p:stCondLst>
                                        </p:cTn>
                                        <p:tgtEl>
                                          <p:spTgt spid="254978">
                                            <p:txEl>
                                              <p:pRg st="2" end="2"/>
                                            </p:txEl>
                                          </p:spTgt>
                                        </p:tgtEl>
                                        <p:attrNameLst>
                                          <p:attrName>style.visibility</p:attrName>
                                        </p:attrNameLst>
                                      </p:cBhvr>
                                      <p:to>
                                        <p:strVal val="visible"/>
                                      </p:to>
                                    </p:set>
                                    <p:anim calcmode="lin" valueType="num">
                                      <p:cBhvr additive="base">
                                        <p:cTn id="19" dur="500" fill="hold"/>
                                        <p:tgtEl>
                                          <p:spTgt spid="254978">
                                            <p:txEl>
                                              <p:pRg st="2" end="2"/>
                                            </p:txEl>
                                          </p:spTgt>
                                        </p:tgtEl>
                                        <p:attrNameLst>
                                          <p:attrName>ppt_x</p:attrName>
                                        </p:attrNameLst>
                                      </p:cBhvr>
                                      <p:tavLst>
                                        <p:tav tm="0">
                                          <p:val>
                                            <p:strVal val="0-#ppt_w/2"/>
                                          </p:val>
                                        </p:tav>
                                        <p:tav tm="100000">
                                          <p:val>
                                            <p:strVal val="#ppt_x"/>
                                          </p:val>
                                        </p:tav>
                                      </p:tavLst>
                                    </p:anim>
                                    <p:anim calcmode="lin" valueType="num">
                                      <p:cBhvr additive="base">
                                        <p:cTn id="20" dur="500" fill="hold"/>
                                        <p:tgtEl>
                                          <p:spTgt spid="254978">
                                            <p:txEl>
                                              <p:pRg st="2" end="2"/>
                                            </p:txEl>
                                          </p:spTgt>
                                        </p:tgtEl>
                                        <p:attrNameLst>
                                          <p:attrName>ppt_y</p:attrName>
                                        </p:attrNameLst>
                                      </p:cBhvr>
                                      <p:tavLst>
                                        <p:tav tm="0">
                                          <p:val>
                                            <p:strVal val="#ppt_y"/>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8" fill="hold" grpId="0" nodeType="clickEffect">
                                  <p:stCondLst>
                                    <p:cond delay="0"/>
                                  </p:stCondLst>
                                  <p:childTnLst>
                                    <p:set>
                                      <p:cBhvr>
                                        <p:cTn id="24" dur="1" fill="hold">
                                          <p:stCondLst>
                                            <p:cond delay="0"/>
                                          </p:stCondLst>
                                        </p:cTn>
                                        <p:tgtEl>
                                          <p:spTgt spid="254978">
                                            <p:txEl>
                                              <p:pRg st="3" end="3"/>
                                            </p:txEl>
                                          </p:spTgt>
                                        </p:tgtEl>
                                        <p:attrNameLst>
                                          <p:attrName>style.visibility</p:attrName>
                                        </p:attrNameLst>
                                      </p:cBhvr>
                                      <p:to>
                                        <p:strVal val="visible"/>
                                      </p:to>
                                    </p:set>
                                    <p:anim calcmode="lin" valueType="num">
                                      <p:cBhvr additive="base">
                                        <p:cTn id="25" dur="500" fill="hold"/>
                                        <p:tgtEl>
                                          <p:spTgt spid="254978">
                                            <p:txEl>
                                              <p:pRg st="3" end="3"/>
                                            </p:txEl>
                                          </p:spTgt>
                                        </p:tgtEl>
                                        <p:attrNameLst>
                                          <p:attrName>ppt_x</p:attrName>
                                        </p:attrNameLst>
                                      </p:cBhvr>
                                      <p:tavLst>
                                        <p:tav tm="0">
                                          <p:val>
                                            <p:strVal val="0-#ppt_w/2"/>
                                          </p:val>
                                        </p:tav>
                                        <p:tav tm="100000">
                                          <p:val>
                                            <p:strVal val="#ppt_x"/>
                                          </p:val>
                                        </p:tav>
                                      </p:tavLst>
                                    </p:anim>
                                    <p:anim calcmode="lin" valueType="num">
                                      <p:cBhvr additive="base">
                                        <p:cTn id="26" dur="500" fill="hold"/>
                                        <p:tgtEl>
                                          <p:spTgt spid="254978">
                                            <p:txEl>
                                              <p:pRg st="3" end="3"/>
                                            </p:txEl>
                                          </p:spTgt>
                                        </p:tgtEl>
                                        <p:attrNameLst>
                                          <p:attrName>ppt_y</p:attrName>
                                        </p:attrNameLst>
                                      </p:cBhvr>
                                      <p:tavLst>
                                        <p:tav tm="0">
                                          <p:val>
                                            <p:strVal val="#ppt_y"/>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8" fill="hold" grpId="0" nodeType="clickEffect">
                                  <p:stCondLst>
                                    <p:cond delay="0"/>
                                  </p:stCondLst>
                                  <p:childTnLst>
                                    <p:set>
                                      <p:cBhvr>
                                        <p:cTn id="30" dur="1" fill="hold">
                                          <p:stCondLst>
                                            <p:cond delay="0"/>
                                          </p:stCondLst>
                                        </p:cTn>
                                        <p:tgtEl>
                                          <p:spTgt spid="254978">
                                            <p:txEl>
                                              <p:pRg st="4" end="4"/>
                                            </p:txEl>
                                          </p:spTgt>
                                        </p:tgtEl>
                                        <p:attrNameLst>
                                          <p:attrName>style.visibility</p:attrName>
                                        </p:attrNameLst>
                                      </p:cBhvr>
                                      <p:to>
                                        <p:strVal val="visible"/>
                                      </p:to>
                                    </p:set>
                                    <p:anim calcmode="lin" valueType="num">
                                      <p:cBhvr additive="base">
                                        <p:cTn id="31" dur="500" fill="hold"/>
                                        <p:tgtEl>
                                          <p:spTgt spid="254978">
                                            <p:txEl>
                                              <p:pRg st="4" end="4"/>
                                            </p:txEl>
                                          </p:spTgt>
                                        </p:tgtEl>
                                        <p:attrNameLst>
                                          <p:attrName>ppt_x</p:attrName>
                                        </p:attrNameLst>
                                      </p:cBhvr>
                                      <p:tavLst>
                                        <p:tav tm="0">
                                          <p:val>
                                            <p:strVal val="0-#ppt_w/2"/>
                                          </p:val>
                                        </p:tav>
                                        <p:tav tm="100000">
                                          <p:val>
                                            <p:strVal val="#ppt_x"/>
                                          </p:val>
                                        </p:tav>
                                      </p:tavLst>
                                    </p:anim>
                                    <p:anim calcmode="lin" valueType="num">
                                      <p:cBhvr additive="base">
                                        <p:cTn id="32" dur="500" fill="hold"/>
                                        <p:tgtEl>
                                          <p:spTgt spid="254978">
                                            <p:txEl>
                                              <p:pRg st="4" end="4"/>
                                            </p:txEl>
                                          </p:spTgt>
                                        </p:tgtEl>
                                        <p:attrNameLst>
                                          <p:attrName>ppt_y</p:attrName>
                                        </p:attrNameLst>
                                      </p:cBhvr>
                                      <p:tavLst>
                                        <p:tav tm="0">
                                          <p:val>
                                            <p:strVal val="#ppt_y"/>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8" fill="hold" grpId="0" nodeType="clickEffect">
                                  <p:stCondLst>
                                    <p:cond delay="0"/>
                                  </p:stCondLst>
                                  <p:childTnLst>
                                    <p:set>
                                      <p:cBhvr>
                                        <p:cTn id="36" dur="1" fill="hold">
                                          <p:stCondLst>
                                            <p:cond delay="0"/>
                                          </p:stCondLst>
                                        </p:cTn>
                                        <p:tgtEl>
                                          <p:spTgt spid="254978">
                                            <p:txEl>
                                              <p:pRg st="5" end="5"/>
                                            </p:txEl>
                                          </p:spTgt>
                                        </p:tgtEl>
                                        <p:attrNameLst>
                                          <p:attrName>style.visibility</p:attrName>
                                        </p:attrNameLst>
                                      </p:cBhvr>
                                      <p:to>
                                        <p:strVal val="visible"/>
                                      </p:to>
                                    </p:set>
                                    <p:anim calcmode="lin" valueType="num">
                                      <p:cBhvr additive="base">
                                        <p:cTn id="37" dur="500" fill="hold"/>
                                        <p:tgtEl>
                                          <p:spTgt spid="254978">
                                            <p:txEl>
                                              <p:pRg st="5" end="5"/>
                                            </p:txEl>
                                          </p:spTgt>
                                        </p:tgtEl>
                                        <p:attrNameLst>
                                          <p:attrName>ppt_x</p:attrName>
                                        </p:attrNameLst>
                                      </p:cBhvr>
                                      <p:tavLst>
                                        <p:tav tm="0">
                                          <p:val>
                                            <p:strVal val="0-#ppt_w/2"/>
                                          </p:val>
                                        </p:tav>
                                        <p:tav tm="100000">
                                          <p:val>
                                            <p:strVal val="#ppt_x"/>
                                          </p:val>
                                        </p:tav>
                                      </p:tavLst>
                                    </p:anim>
                                    <p:anim calcmode="lin" valueType="num">
                                      <p:cBhvr additive="base">
                                        <p:cTn id="38" dur="500" fill="hold"/>
                                        <p:tgtEl>
                                          <p:spTgt spid="254978">
                                            <p:txEl>
                                              <p:pRg st="5" end="5"/>
                                            </p:txEl>
                                          </p:spTgt>
                                        </p:tgtEl>
                                        <p:attrNameLst>
                                          <p:attrName>ppt_y</p:attrName>
                                        </p:attrNameLst>
                                      </p:cBhvr>
                                      <p:tavLst>
                                        <p:tav tm="0">
                                          <p:val>
                                            <p:strVal val="#ppt_y"/>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2" presetClass="entr" presetSubtype="8" fill="hold" grpId="0" nodeType="clickEffect">
                                  <p:stCondLst>
                                    <p:cond delay="0"/>
                                  </p:stCondLst>
                                  <p:childTnLst>
                                    <p:set>
                                      <p:cBhvr>
                                        <p:cTn id="42" dur="1" fill="hold">
                                          <p:stCondLst>
                                            <p:cond delay="0"/>
                                          </p:stCondLst>
                                        </p:cTn>
                                        <p:tgtEl>
                                          <p:spTgt spid="254978">
                                            <p:txEl>
                                              <p:pRg st="6" end="6"/>
                                            </p:txEl>
                                          </p:spTgt>
                                        </p:tgtEl>
                                        <p:attrNameLst>
                                          <p:attrName>style.visibility</p:attrName>
                                        </p:attrNameLst>
                                      </p:cBhvr>
                                      <p:to>
                                        <p:strVal val="visible"/>
                                      </p:to>
                                    </p:set>
                                    <p:anim calcmode="lin" valueType="num">
                                      <p:cBhvr additive="base">
                                        <p:cTn id="43" dur="500" fill="hold"/>
                                        <p:tgtEl>
                                          <p:spTgt spid="254978">
                                            <p:txEl>
                                              <p:pRg st="6" end="6"/>
                                            </p:txEl>
                                          </p:spTgt>
                                        </p:tgtEl>
                                        <p:attrNameLst>
                                          <p:attrName>ppt_x</p:attrName>
                                        </p:attrNameLst>
                                      </p:cBhvr>
                                      <p:tavLst>
                                        <p:tav tm="0">
                                          <p:val>
                                            <p:strVal val="0-#ppt_w/2"/>
                                          </p:val>
                                        </p:tav>
                                        <p:tav tm="100000">
                                          <p:val>
                                            <p:strVal val="#ppt_x"/>
                                          </p:val>
                                        </p:tav>
                                      </p:tavLst>
                                    </p:anim>
                                    <p:anim calcmode="lin" valueType="num">
                                      <p:cBhvr additive="base">
                                        <p:cTn id="44" dur="500" fill="hold"/>
                                        <p:tgtEl>
                                          <p:spTgt spid="254978">
                                            <p:txEl>
                                              <p:pRg st="6" end="6"/>
                                            </p:txEl>
                                          </p:spTgt>
                                        </p:tgtEl>
                                        <p:attrNameLst>
                                          <p:attrName>ppt_y</p:attrName>
                                        </p:attrNameLst>
                                      </p:cBhvr>
                                      <p:tavLst>
                                        <p:tav tm="0">
                                          <p:val>
                                            <p:strVal val="#ppt_y"/>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2" presetClass="entr" presetSubtype="8" fill="hold" grpId="0" nodeType="clickEffect">
                                  <p:stCondLst>
                                    <p:cond delay="0"/>
                                  </p:stCondLst>
                                  <p:childTnLst>
                                    <p:set>
                                      <p:cBhvr>
                                        <p:cTn id="48" dur="1" fill="hold">
                                          <p:stCondLst>
                                            <p:cond delay="0"/>
                                          </p:stCondLst>
                                        </p:cTn>
                                        <p:tgtEl>
                                          <p:spTgt spid="254978">
                                            <p:txEl>
                                              <p:pRg st="7" end="7"/>
                                            </p:txEl>
                                          </p:spTgt>
                                        </p:tgtEl>
                                        <p:attrNameLst>
                                          <p:attrName>style.visibility</p:attrName>
                                        </p:attrNameLst>
                                      </p:cBhvr>
                                      <p:to>
                                        <p:strVal val="visible"/>
                                      </p:to>
                                    </p:set>
                                    <p:anim calcmode="lin" valueType="num">
                                      <p:cBhvr additive="base">
                                        <p:cTn id="49" dur="500" fill="hold"/>
                                        <p:tgtEl>
                                          <p:spTgt spid="254978">
                                            <p:txEl>
                                              <p:pRg st="7" end="7"/>
                                            </p:txEl>
                                          </p:spTgt>
                                        </p:tgtEl>
                                        <p:attrNameLst>
                                          <p:attrName>ppt_x</p:attrName>
                                        </p:attrNameLst>
                                      </p:cBhvr>
                                      <p:tavLst>
                                        <p:tav tm="0">
                                          <p:val>
                                            <p:strVal val="0-#ppt_w/2"/>
                                          </p:val>
                                        </p:tav>
                                        <p:tav tm="100000">
                                          <p:val>
                                            <p:strVal val="#ppt_x"/>
                                          </p:val>
                                        </p:tav>
                                      </p:tavLst>
                                    </p:anim>
                                    <p:anim calcmode="lin" valueType="num">
                                      <p:cBhvr additive="base">
                                        <p:cTn id="50" dur="500" fill="hold"/>
                                        <p:tgtEl>
                                          <p:spTgt spid="254978">
                                            <p:txEl>
                                              <p:pRg st="7" end="7"/>
                                            </p:txEl>
                                          </p:spTgt>
                                        </p:tgtEl>
                                        <p:attrNameLst>
                                          <p:attrName>ppt_y</p:attrName>
                                        </p:attrNameLst>
                                      </p:cBhvr>
                                      <p:tavLst>
                                        <p:tav tm="0">
                                          <p:val>
                                            <p:strVal val="#ppt_y"/>
                                          </p:val>
                                        </p:tav>
                                        <p:tav tm="100000">
                                          <p:val>
                                            <p:strVal val="#ppt_y"/>
                                          </p:val>
                                        </p:tav>
                                      </p:tavLst>
                                    </p:anim>
                                  </p:childTnLst>
                                </p:cTn>
                              </p:par>
                            </p:childTnLst>
                          </p:cTn>
                        </p:par>
                      </p:childTnLst>
                    </p:cTn>
                  </p:par>
                  <p:par>
                    <p:cTn id="51" fill="hold">
                      <p:stCondLst>
                        <p:cond delay="indefinite"/>
                      </p:stCondLst>
                      <p:childTnLst>
                        <p:par>
                          <p:cTn id="52" fill="hold">
                            <p:stCondLst>
                              <p:cond delay="0"/>
                            </p:stCondLst>
                            <p:childTnLst>
                              <p:par>
                                <p:cTn id="53" presetID="2" presetClass="entr" presetSubtype="8" fill="hold" grpId="0" nodeType="clickEffect">
                                  <p:stCondLst>
                                    <p:cond delay="0"/>
                                  </p:stCondLst>
                                  <p:childTnLst>
                                    <p:set>
                                      <p:cBhvr>
                                        <p:cTn id="54" dur="1" fill="hold">
                                          <p:stCondLst>
                                            <p:cond delay="0"/>
                                          </p:stCondLst>
                                        </p:cTn>
                                        <p:tgtEl>
                                          <p:spTgt spid="254978">
                                            <p:txEl>
                                              <p:pRg st="8" end="8"/>
                                            </p:txEl>
                                          </p:spTgt>
                                        </p:tgtEl>
                                        <p:attrNameLst>
                                          <p:attrName>style.visibility</p:attrName>
                                        </p:attrNameLst>
                                      </p:cBhvr>
                                      <p:to>
                                        <p:strVal val="visible"/>
                                      </p:to>
                                    </p:set>
                                    <p:anim calcmode="lin" valueType="num">
                                      <p:cBhvr additive="base">
                                        <p:cTn id="55" dur="500" fill="hold"/>
                                        <p:tgtEl>
                                          <p:spTgt spid="254978">
                                            <p:txEl>
                                              <p:pRg st="8" end="8"/>
                                            </p:txEl>
                                          </p:spTgt>
                                        </p:tgtEl>
                                        <p:attrNameLst>
                                          <p:attrName>ppt_x</p:attrName>
                                        </p:attrNameLst>
                                      </p:cBhvr>
                                      <p:tavLst>
                                        <p:tav tm="0">
                                          <p:val>
                                            <p:strVal val="0-#ppt_w/2"/>
                                          </p:val>
                                        </p:tav>
                                        <p:tav tm="100000">
                                          <p:val>
                                            <p:strVal val="#ppt_x"/>
                                          </p:val>
                                        </p:tav>
                                      </p:tavLst>
                                    </p:anim>
                                    <p:anim calcmode="lin" valueType="num">
                                      <p:cBhvr additive="base">
                                        <p:cTn id="56" dur="500" fill="hold"/>
                                        <p:tgtEl>
                                          <p:spTgt spid="254978">
                                            <p:txEl>
                                              <p:pRg st="8" end="8"/>
                                            </p:txEl>
                                          </p:spTgt>
                                        </p:tgtEl>
                                        <p:attrNameLst>
                                          <p:attrName>ppt_y</p:attrName>
                                        </p:attrNameLst>
                                      </p:cBhvr>
                                      <p:tavLst>
                                        <p:tav tm="0">
                                          <p:val>
                                            <p:strVal val="#ppt_y"/>
                                          </p:val>
                                        </p:tav>
                                        <p:tav tm="100000">
                                          <p:val>
                                            <p:strVal val="#ppt_y"/>
                                          </p:val>
                                        </p:tav>
                                      </p:tavLst>
                                    </p:anim>
                                  </p:childTnLst>
                                </p:cTn>
                              </p:par>
                            </p:childTnLst>
                          </p:cTn>
                        </p:par>
                      </p:childTnLst>
                    </p:cTn>
                  </p:par>
                  <p:par>
                    <p:cTn id="57" fill="hold">
                      <p:stCondLst>
                        <p:cond delay="indefinite"/>
                      </p:stCondLst>
                      <p:childTnLst>
                        <p:par>
                          <p:cTn id="58" fill="hold">
                            <p:stCondLst>
                              <p:cond delay="0"/>
                            </p:stCondLst>
                            <p:childTnLst>
                              <p:par>
                                <p:cTn id="59" presetID="2" presetClass="entr" presetSubtype="8" fill="hold" grpId="0" nodeType="clickEffect">
                                  <p:stCondLst>
                                    <p:cond delay="0"/>
                                  </p:stCondLst>
                                  <p:childTnLst>
                                    <p:set>
                                      <p:cBhvr>
                                        <p:cTn id="60" dur="1" fill="hold">
                                          <p:stCondLst>
                                            <p:cond delay="0"/>
                                          </p:stCondLst>
                                        </p:cTn>
                                        <p:tgtEl>
                                          <p:spTgt spid="254978">
                                            <p:txEl>
                                              <p:pRg st="9" end="9"/>
                                            </p:txEl>
                                          </p:spTgt>
                                        </p:tgtEl>
                                        <p:attrNameLst>
                                          <p:attrName>style.visibility</p:attrName>
                                        </p:attrNameLst>
                                      </p:cBhvr>
                                      <p:to>
                                        <p:strVal val="visible"/>
                                      </p:to>
                                    </p:set>
                                    <p:anim calcmode="lin" valueType="num">
                                      <p:cBhvr additive="base">
                                        <p:cTn id="61" dur="500" fill="hold"/>
                                        <p:tgtEl>
                                          <p:spTgt spid="254978">
                                            <p:txEl>
                                              <p:pRg st="9" end="9"/>
                                            </p:txEl>
                                          </p:spTgt>
                                        </p:tgtEl>
                                        <p:attrNameLst>
                                          <p:attrName>ppt_x</p:attrName>
                                        </p:attrNameLst>
                                      </p:cBhvr>
                                      <p:tavLst>
                                        <p:tav tm="0">
                                          <p:val>
                                            <p:strVal val="0-#ppt_w/2"/>
                                          </p:val>
                                        </p:tav>
                                        <p:tav tm="100000">
                                          <p:val>
                                            <p:strVal val="#ppt_x"/>
                                          </p:val>
                                        </p:tav>
                                      </p:tavLst>
                                    </p:anim>
                                    <p:anim calcmode="lin" valueType="num">
                                      <p:cBhvr additive="base">
                                        <p:cTn id="62" dur="500" fill="hold"/>
                                        <p:tgtEl>
                                          <p:spTgt spid="254978">
                                            <p:txEl>
                                              <p:pRg st="9" end="9"/>
                                            </p:txEl>
                                          </p:spTgt>
                                        </p:tgtEl>
                                        <p:attrNameLst>
                                          <p:attrName>ppt_y</p:attrName>
                                        </p:attrNameLst>
                                      </p:cBhvr>
                                      <p:tavLst>
                                        <p:tav tm="0">
                                          <p:val>
                                            <p:strVal val="#ppt_y"/>
                                          </p:val>
                                        </p:tav>
                                        <p:tav tm="100000">
                                          <p:val>
                                            <p:strVal val="#ppt_y"/>
                                          </p:val>
                                        </p:tav>
                                      </p:tavLst>
                                    </p:anim>
                                  </p:childTnLst>
                                </p:cTn>
                              </p:par>
                            </p:childTnLst>
                          </p:cTn>
                        </p:par>
                      </p:childTnLst>
                    </p:cTn>
                  </p:par>
                  <p:par>
                    <p:cTn id="63" fill="hold">
                      <p:stCondLst>
                        <p:cond delay="indefinite"/>
                      </p:stCondLst>
                      <p:childTnLst>
                        <p:par>
                          <p:cTn id="64" fill="hold">
                            <p:stCondLst>
                              <p:cond delay="0"/>
                            </p:stCondLst>
                            <p:childTnLst>
                              <p:par>
                                <p:cTn id="65" presetID="2" presetClass="entr" presetSubtype="8" fill="hold" grpId="0" nodeType="clickEffect">
                                  <p:stCondLst>
                                    <p:cond delay="0"/>
                                  </p:stCondLst>
                                  <p:childTnLst>
                                    <p:set>
                                      <p:cBhvr>
                                        <p:cTn id="66" dur="1" fill="hold">
                                          <p:stCondLst>
                                            <p:cond delay="0"/>
                                          </p:stCondLst>
                                        </p:cTn>
                                        <p:tgtEl>
                                          <p:spTgt spid="254978">
                                            <p:txEl>
                                              <p:pRg st="10" end="10"/>
                                            </p:txEl>
                                          </p:spTgt>
                                        </p:tgtEl>
                                        <p:attrNameLst>
                                          <p:attrName>style.visibility</p:attrName>
                                        </p:attrNameLst>
                                      </p:cBhvr>
                                      <p:to>
                                        <p:strVal val="visible"/>
                                      </p:to>
                                    </p:set>
                                    <p:anim calcmode="lin" valueType="num">
                                      <p:cBhvr additive="base">
                                        <p:cTn id="67" dur="500" fill="hold"/>
                                        <p:tgtEl>
                                          <p:spTgt spid="254978">
                                            <p:txEl>
                                              <p:pRg st="10" end="10"/>
                                            </p:txEl>
                                          </p:spTgt>
                                        </p:tgtEl>
                                        <p:attrNameLst>
                                          <p:attrName>ppt_x</p:attrName>
                                        </p:attrNameLst>
                                      </p:cBhvr>
                                      <p:tavLst>
                                        <p:tav tm="0">
                                          <p:val>
                                            <p:strVal val="0-#ppt_w/2"/>
                                          </p:val>
                                        </p:tav>
                                        <p:tav tm="100000">
                                          <p:val>
                                            <p:strVal val="#ppt_x"/>
                                          </p:val>
                                        </p:tav>
                                      </p:tavLst>
                                    </p:anim>
                                    <p:anim calcmode="lin" valueType="num">
                                      <p:cBhvr additive="base">
                                        <p:cTn id="68" dur="500" fill="hold"/>
                                        <p:tgtEl>
                                          <p:spTgt spid="254978">
                                            <p:txEl>
                                              <p:pRg st="10" end="10"/>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4978" grpId="0" build="p" bldLvl="3" autoUpdateAnimBg="0"/>
    </p:bldLst>
  </p:timing>
</p:sld>
</file>

<file path=ppt/slides/slide47.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56002" name="Rectangle 2"/>
          <p:cNvSpPr>
            <a:spLocks noGrp="1" noChangeArrowheads="1"/>
          </p:cNvSpPr>
          <p:nvPr>
            <p:ph idx="1"/>
          </p:nvPr>
        </p:nvSpPr>
        <p:spPr>
          <a:xfrm>
            <a:off x="838200" y="304800"/>
            <a:ext cx="8077200" cy="5715000"/>
          </a:xfrm>
        </p:spPr>
        <p:txBody>
          <a:bodyPr/>
          <a:lstStyle/>
          <a:p>
            <a:pPr eaLnBrk="1" hangingPunct="1">
              <a:lnSpc>
                <a:spcPct val="90000"/>
              </a:lnSpc>
              <a:buFont typeface="Monotype Sorts" pitchFamily="2" charset="2"/>
              <a:buNone/>
            </a:pPr>
            <a:r>
              <a:rPr lang="en-US" sz="3600" b="1" smtClean="0">
                <a:solidFill>
                  <a:schemeClr val="tx2"/>
                </a:solidFill>
              </a:rPr>
              <a:t>Chemical Methods of Control</a:t>
            </a:r>
          </a:p>
          <a:p>
            <a:pPr eaLnBrk="1" hangingPunct="1">
              <a:lnSpc>
                <a:spcPct val="90000"/>
              </a:lnSpc>
              <a:buFont typeface="Monotype Sorts" pitchFamily="2" charset="2"/>
              <a:buNone/>
            </a:pPr>
            <a:r>
              <a:rPr lang="en-US" sz="3600" b="1" smtClean="0">
                <a:solidFill>
                  <a:schemeClr val="tx2"/>
                </a:solidFill>
              </a:rPr>
              <a:t>Types of Disinfectants</a:t>
            </a:r>
          </a:p>
          <a:p>
            <a:pPr eaLnBrk="1" hangingPunct="1">
              <a:lnSpc>
                <a:spcPct val="90000"/>
              </a:lnSpc>
              <a:buFont typeface="Monotype Sorts" pitchFamily="2" charset="2"/>
              <a:buNone/>
            </a:pPr>
            <a:r>
              <a:rPr lang="en-US" sz="2800" b="1" smtClean="0"/>
              <a:t>3. Alcohols: </a:t>
            </a:r>
            <a:endParaRPr lang="en-US" sz="2400" smtClean="0"/>
          </a:p>
          <a:p>
            <a:pPr eaLnBrk="1" hangingPunct="1">
              <a:lnSpc>
                <a:spcPct val="90000"/>
              </a:lnSpc>
              <a:buSzPct val="75000"/>
              <a:buFont typeface="Arial" charset="0"/>
              <a:buNone/>
            </a:pPr>
            <a:r>
              <a:rPr lang="en-US" sz="2400" smtClean="0"/>
              <a:t> Kill bacteria, fungi, but not endospores or naked viruses.</a:t>
            </a:r>
          </a:p>
          <a:p>
            <a:pPr eaLnBrk="1" hangingPunct="1">
              <a:lnSpc>
                <a:spcPct val="90000"/>
              </a:lnSpc>
              <a:buSzPct val="75000"/>
              <a:buFont typeface="Arial" charset="0"/>
              <a:buNone/>
            </a:pPr>
            <a:r>
              <a:rPr lang="en-US" sz="2400" smtClean="0"/>
              <a:t> Act by denaturing proteins and disrupting cell membranes.</a:t>
            </a:r>
          </a:p>
          <a:p>
            <a:pPr eaLnBrk="1" hangingPunct="1">
              <a:lnSpc>
                <a:spcPct val="90000"/>
              </a:lnSpc>
              <a:buSzPct val="75000"/>
              <a:buFont typeface="Arial" charset="0"/>
              <a:buNone/>
            </a:pPr>
            <a:r>
              <a:rPr lang="en-US" sz="2400" smtClean="0"/>
              <a:t> Evaporate, leaving no residue.</a:t>
            </a:r>
          </a:p>
          <a:p>
            <a:pPr eaLnBrk="1" hangingPunct="1">
              <a:lnSpc>
                <a:spcPct val="90000"/>
              </a:lnSpc>
              <a:buSzPct val="75000"/>
              <a:buFont typeface="Arial" charset="0"/>
              <a:buNone/>
            </a:pPr>
            <a:r>
              <a:rPr lang="en-US" sz="2400" smtClean="0"/>
              <a:t> Used to mechanically wipe microbes off skin before injections or blood drawing.</a:t>
            </a:r>
          </a:p>
          <a:p>
            <a:pPr eaLnBrk="1" hangingPunct="1">
              <a:lnSpc>
                <a:spcPct val="90000"/>
              </a:lnSpc>
              <a:buSzPct val="75000"/>
              <a:buFont typeface="Arial" charset="0"/>
              <a:buNone/>
            </a:pPr>
            <a:r>
              <a:rPr lang="en-US" sz="2400" smtClean="0"/>
              <a:t> Not good for open wounds, because cause proteins to coagulate.</a:t>
            </a:r>
          </a:p>
          <a:p>
            <a:pPr lvl="1" eaLnBrk="1" hangingPunct="1">
              <a:lnSpc>
                <a:spcPct val="110000"/>
              </a:lnSpc>
              <a:buSzPct val="75000"/>
              <a:buFont typeface="Arial" charset="0"/>
              <a:buNone/>
            </a:pPr>
            <a:r>
              <a:rPr lang="en-US" sz="2400" smtClean="0"/>
              <a:t> </a:t>
            </a:r>
            <a:r>
              <a:rPr lang="en-US" sz="2400" b="1" smtClean="0"/>
              <a:t>Ethanol</a:t>
            </a:r>
            <a:r>
              <a:rPr lang="en-US" sz="2400" smtClean="0"/>
              <a:t>:  Drinking alcohol.  Optimum concentration is 70%.</a:t>
            </a:r>
          </a:p>
          <a:p>
            <a:pPr lvl="1" eaLnBrk="1" hangingPunct="1">
              <a:lnSpc>
                <a:spcPct val="110000"/>
              </a:lnSpc>
              <a:buSzPct val="75000"/>
              <a:buFont typeface="Arial" charset="0"/>
              <a:buNone/>
            </a:pPr>
            <a:r>
              <a:rPr lang="en-US" sz="2400" smtClean="0"/>
              <a:t> </a:t>
            </a:r>
            <a:r>
              <a:rPr lang="en-US" sz="2400" b="1" smtClean="0"/>
              <a:t>Isopropanol</a:t>
            </a:r>
            <a:r>
              <a:rPr lang="en-US" sz="2400" smtClean="0"/>
              <a:t>:  Rubbing alcohol.  Better disinfectant than ethanol.  Also cheaper and less volatile.</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256002">
                                            <p:txEl>
                                              <p:pRg st="0" end="0"/>
                                            </p:txEl>
                                          </p:spTgt>
                                        </p:tgtEl>
                                        <p:attrNameLst>
                                          <p:attrName>style.visibility</p:attrName>
                                        </p:attrNameLst>
                                      </p:cBhvr>
                                      <p:to>
                                        <p:strVal val="visible"/>
                                      </p:to>
                                    </p:set>
                                    <p:anim calcmode="lin" valueType="num">
                                      <p:cBhvr additive="base">
                                        <p:cTn id="7" dur="500" fill="hold"/>
                                        <p:tgtEl>
                                          <p:spTgt spid="256002">
                                            <p:txEl>
                                              <p:pRg st="0" end="0"/>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256002">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256002">
                                            <p:txEl>
                                              <p:pRg st="1" end="1"/>
                                            </p:txEl>
                                          </p:spTgt>
                                        </p:tgtEl>
                                        <p:attrNameLst>
                                          <p:attrName>style.visibility</p:attrName>
                                        </p:attrNameLst>
                                      </p:cBhvr>
                                      <p:to>
                                        <p:strVal val="visible"/>
                                      </p:to>
                                    </p:set>
                                    <p:anim calcmode="lin" valueType="num">
                                      <p:cBhvr additive="base">
                                        <p:cTn id="13" dur="500" fill="hold"/>
                                        <p:tgtEl>
                                          <p:spTgt spid="256002">
                                            <p:txEl>
                                              <p:pRg st="1" end="1"/>
                                            </p:txEl>
                                          </p:spTgt>
                                        </p:tgtEl>
                                        <p:attrNameLst>
                                          <p:attrName>ppt_x</p:attrName>
                                        </p:attrNameLst>
                                      </p:cBhvr>
                                      <p:tavLst>
                                        <p:tav tm="0">
                                          <p:val>
                                            <p:strVal val="0-#ppt_w/2"/>
                                          </p:val>
                                        </p:tav>
                                        <p:tav tm="100000">
                                          <p:val>
                                            <p:strVal val="#ppt_x"/>
                                          </p:val>
                                        </p:tav>
                                      </p:tavLst>
                                    </p:anim>
                                    <p:anim calcmode="lin" valueType="num">
                                      <p:cBhvr additive="base">
                                        <p:cTn id="14" dur="500" fill="hold"/>
                                        <p:tgtEl>
                                          <p:spTgt spid="256002">
                                            <p:txEl>
                                              <p:pRg st="1" end="1"/>
                                            </p:txEl>
                                          </p:spTgt>
                                        </p:tgtEl>
                                        <p:attrNameLst>
                                          <p:attrName>ppt_y</p:attrName>
                                        </p:attrNameLst>
                                      </p:cBhvr>
                                      <p:tavLst>
                                        <p:tav tm="0">
                                          <p:val>
                                            <p:strVal val="#ppt_y"/>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8" fill="hold" grpId="0" nodeType="clickEffect">
                                  <p:stCondLst>
                                    <p:cond delay="0"/>
                                  </p:stCondLst>
                                  <p:childTnLst>
                                    <p:set>
                                      <p:cBhvr>
                                        <p:cTn id="18" dur="1" fill="hold">
                                          <p:stCondLst>
                                            <p:cond delay="0"/>
                                          </p:stCondLst>
                                        </p:cTn>
                                        <p:tgtEl>
                                          <p:spTgt spid="256002">
                                            <p:txEl>
                                              <p:pRg st="2" end="2"/>
                                            </p:txEl>
                                          </p:spTgt>
                                        </p:tgtEl>
                                        <p:attrNameLst>
                                          <p:attrName>style.visibility</p:attrName>
                                        </p:attrNameLst>
                                      </p:cBhvr>
                                      <p:to>
                                        <p:strVal val="visible"/>
                                      </p:to>
                                    </p:set>
                                    <p:anim calcmode="lin" valueType="num">
                                      <p:cBhvr additive="base">
                                        <p:cTn id="19" dur="500" fill="hold"/>
                                        <p:tgtEl>
                                          <p:spTgt spid="256002">
                                            <p:txEl>
                                              <p:pRg st="2" end="2"/>
                                            </p:txEl>
                                          </p:spTgt>
                                        </p:tgtEl>
                                        <p:attrNameLst>
                                          <p:attrName>ppt_x</p:attrName>
                                        </p:attrNameLst>
                                      </p:cBhvr>
                                      <p:tavLst>
                                        <p:tav tm="0">
                                          <p:val>
                                            <p:strVal val="0-#ppt_w/2"/>
                                          </p:val>
                                        </p:tav>
                                        <p:tav tm="100000">
                                          <p:val>
                                            <p:strVal val="#ppt_x"/>
                                          </p:val>
                                        </p:tav>
                                      </p:tavLst>
                                    </p:anim>
                                    <p:anim calcmode="lin" valueType="num">
                                      <p:cBhvr additive="base">
                                        <p:cTn id="20" dur="500" fill="hold"/>
                                        <p:tgtEl>
                                          <p:spTgt spid="256002">
                                            <p:txEl>
                                              <p:pRg st="2" end="2"/>
                                            </p:txEl>
                                          </p:spTgt>
                                        </p:tgtEl>
                                        <p:attrNameLst>
                                          <p:attrName>ppt_y</p:attrName>
                                        </p:attrNameLst>
                                      </p:cBhvr>
                                      <p:tavLst>
                                        <p:tav tm="0">
                                          <p:val>
                                            <p:strVal val="#ppt_y"/>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8" fill="hold" grpId="0" nodeType="clickEffect">
                                  <p:stCondLst>
                                    <p:cond delay="0"/>
                                  </p:stCondLst>
                                  <p:childTnLst>
                                    <p:set>
                                      <p:cBhvr>
                                        <p:cTn id="24" dur="1" fill="hold">
                                          <p:stCondLst>
                                            <p:cond delay="0"/>
                                          </p:stCondLst>
                                        </p:cTn>
                                        <p:tgtEl>
                                          <p:spTgt spid="256002">
                                            <p:txEl>
                                              <p:pRg st="3" end="3"/>
                                            </p:txEl>
                                          </p:spTgt>
                                        </p:tgtEl>
                                        <p:attrNameLst>
                                          <p:attrName>style.visibility</p:attrName>
                                        </p:attrNameLst>
                                      </p:cBhvr>
                                      <p:to>
                                        <p:strVal val="visible"/>
                                      </p:to>
                                    </p:set>
                                    <p:anim calcmode="lin" valueType="num">
                                      <p:cBhvr additive="base">
                                        <p:cTn id="25" dur="500" fill="hold"/>
                                        <p:tgtEl>
                                          <p:spTgt spid="256002">
                                            <p:txEl>
                                              <p:pRg st="3" end="3"/>
                                            </p:txEl>
                                          </p:spTgt>
                                        </p:tgtEl>
                                        <p:attrNameLst>
                                          <p:attrName>ppt_x</p:attrName>
                                        </p:attrNameLst>
                                      </p:cBhvr>
                                      <p:tavLst>
                                        <p:tav tm="0">
                                          <p:val>
                                            <p:strVal val="0-#ppt_w/2"/>
                                          </p:val>
                                        </p:tav>
                                        <p:tav tm="100000">
                                          <p:val>
                                            <p:strVal val="#ppt_x"/>
                                          </p:val>
                                        </p:tav>
                                      </p:tavLst>
                                    </p:anim>
                                    <p:anim calcmode="lin" valueType="num">
                                      <p:cBhvr additive="base">
                                        <p:cTn id="26" dur="500" fill="hold"/>
                                        <p:tgtEl>
                                          <p:spTgt spid="256002">
                                            <p:txEl>
                                              <p:pRg st="3" end="3"/>
                                            </p:txEl>
                                          </p:spTgt>
                                        </p:tgtEl>
                                        <p:attrNameLst>
                                          <p:attrName>ppt_y</p:attrName>
                                        </p:attrNameLst>
                                      </p:cBhvr>
                                      <p:tavLst>
                                        <p:tav tm="0">
                                          <p:val>
                                            <p:strVal val="#ppt_y"/>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8" fill="hold" grpId="0" nodeType="clickEffect">
                                  <p:stCondLst>
                                    <p:cond delay="0"/>
                                  </p:stCondLst>
                                  <p:childTnLst>
                                    <p:set>
                                      <p:cBhvr>
                                        <p:cTn id="30" dur="1" fill="hold">
                                          <p:stCondLst>
                                            <p:cond delay="0"/>
                                          </p:stCondLst>
                                        </p:cTn>
                                        <p:tgtEl>
                                          <p:spTgt spid="256002">
                                            <p:txEl>
                                              <p:pRg st="4" end="4"/>
                                            </p:txEl>
                                          </p:spTgt>
                                        </p:tgtEl>
                                        <p:attrNameLst>
                                          <p:attrName>style.visibility</p:attrName>
                                        </p:attrNameLst>
                                      </p:cBhvr>
                                      <p:to>
                                        <p:strVal val="visible"/>
                                      </p:to>
                                    </p:set>
                                    <p:anim calcmode="lin" valueType="num">
                                      <p:cBhvr additive="base">
                                        <p:cTn id="31" dur="500" fill="hold"/>
                                        <p:tgtEl>
                                          <p:spTgt spid="256002">
                                            <p:txEl>
                                              <p:pRg st="4" end="4"/>
                                            </p:txEl>
                                          </p:spTgt>
                                        </p:tgtEl>
                                        <p:attrNameLst>
                                          <p:attrName>ppt_x</p:attrName>
                                        </p:attrNameLst>
                                      </p:cBhvr>
                                      <p:tavLst>
                                        <p:tav tm="0">
                                          <p:val>
                                            <p:strVal val="0-#ppt_w/2"/>
                                          </p:val>
                                        </p:tav>
                                        <p:tav tm="100000">
                                          <p:val>
                                            <p:strVal val="#ppt_x"/>
                                          </p:val>
                                        </p:tav>
                                      </p:tavLst>
                                    </p:anim>
                                    <p:anim calcmode="lin" valueType="num">
                                      <p:cBhvr additive="base">
                                        <p:cTn id="32" dur="500" fill="hold"/>
                                        <p:tgtEl>
                                          <p:spTgt spid="256002">
                                            <p:txEl>
                                              <p:pRg st="4" end="4"/>
                                            </p:txEl>
                                          </p:spTgt>
                                        </p:tgtEl>
                                        <p:attrNameLst>
                                          <p:attrName>ppt_y</p:attrName>
                                        </p:attrNameLst>
                                      </p:cBhvr>
                                      <p:tavLst>
                                        <p:tav tm="0">
                                          <p:val>
                                            <p:strVal val="#ppt_y"/>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8" fill="hold" grpId="0" nodeType="clickEffect">
                                  <p:stCondLst>
                                    <p:cond delay="0"/>
                                  </p:stCondLst>
                                  <p:childTnLst>
                                    <p:set>
                                      <p:cBhvr>
                                        <p:cTn id="36" dur="1" fill="hold">
                                          <p:stCondLst>
                                            <p:cond delay="0"/>
                                          </p:stCondLst>
                                        </p:cTn>
                                        <p:tgtEl>
                                          <p:spTgt spid="256002">
                                            <p:txEl>
                                              <p:pRg st="5" end="5"/>
                                            </p:txEl>
                                          </p:spTgt>
                                        </p:tgtEl>
                                        <p:attrNameLst>
                                          <p:attrName>style.visibility</p:attrName>
                                        </p:attrNameLst>
                                      </p:cBhvr>
                                      <p:to>
                                        <p:strVal val="visible"/>
                                      </p:to>
                                    </p:set>
                                    <p:anim calcmode="lin" valueType="num">
                                      <p:cBhvr additive="base">
                                        <p:cTn id="37" dur="500" fill="hold"/>
                                        <p:tgtEl>
                                          <p:spTgt spid="256002">
                                            <p:txEl>
                                              <p:pRg st="5" end="5"/>
                                            </p:txEl>
                                          </p:spTgt>
                                        </p:tgtEl>
                                        <p:attrNameLst>
                                          <p:attrName>ppt_x</p:attrName>
                                        </p:attrNameLst>
                                      </p:cBhvr>
                                      <p:tavLst>
                                        <p:tav tm="0">
                                          <p:val>
                                            <p:strVal val="0-#ppt_w/2"/>
                                          </p:val>
                                        </p:tav>
                                        <p:tav tm="100000">
                                          <p:val>
                                            <p:strVal val="#ppt_x"/>
                                          </p:val>
                                        </p:tav>
                                      </p:tavLst>
                                    </p:anim>
                                    <p:anim calcmode="lin" valueType="num">
                                      <p:cBhvr additive="base">
                                        <p:cTn id="38" dur="500" fill="hold"/>
                                        <p:tgtEl>
                                          <p:spTgt spid="256002">
                                            <p:txEl>
                                              <p:pRg st="5" end="5"/>
                                            </p:txEl>
                                          </p:spTgt>
                                        </p:tgtEl>
                                        <p:attrNameLst>
                                          <p:attrName>ppt_y</p:attrName>
                                        </p:attrNameLst>
                                      </p:cBhvr>
                                      <p:tavLst>
                                        <p:tav tm="0">
                                          <p:val>
                                            <p:strVal val="#ppt_y"/>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2" presetClass="entr" presetSubtype="8" fill="hold" grpId="0" nodeType="clickEffect">
                                  <p:stCondLst>
                                    <p:cond delay="0"/>
                                  </p:stCondLst>
                                  <p:childTnLst>
                                    <p:set>
                                      <p:cBhvr>
                                        <p:cTn id="42" dur="1" fill="hold">
                                          <p:stCondLst>
                                            <p:cond delay="0"/>
                                          </p:stCondLst>
                                        </p:cTn>
                                        <p:tgtEl>
                                          <p:spTgt spid="256002">
                                            <p:txEl>
                                              <p:pRg st="6" end="6"/>
                                            </p:txEl>
                                          </p:spTgt>
                                        </p:tgtEl>
                                        <p:attrNameLst>
                                          <p:attrName>style.visibility</p:attrName>
                                        </p:attrNameLst>
                                      </p:cBhvr>
                                      <p:to>
                                        <p:strVal val="visible"/>
                                      </p:to>
                                    </p:set>
                                    <p:anim calcmode="lin" valueType="num">
                                      <p:cBhvr additive="base">
                                        <p:cTn id="43" dur="500" fill="hold"/>
                                        <p:tgtEl>
                                          <p:spTgt spid="256002">
                                            <p:txEl>
                                              <p:pRg st="6" end="6"/>
                                            </p:txEl>
                                          </p:spTgt>
                                        </p:tgtEl>
                                        <p:attrNameLst>
                                          <p:attrName>ppt_x</p:attrName>
                                        </p:attrNameLst>
                                      </p:cBhvr>
                                      <p:tavLst>
                                        <p:tav tm="0">
                                          <p:val>
                                            <p:strVal val="0-#ppt_w/2"/>
                                          </p:val>
                                        </p:tav>
                                        <p:tav tm="100000">
                                          <p:val>
                                            <p:strVal val="#ppt_x"/>
                                          </p:val>
                                        </p:tav>
                                      </p:tavLst>
                                    </p:anim>
                                    <p:anim calcmode="lin" valueType="num">
                                      <p:cBhvr additive="base">
                                        <p:cTn id="44" dur="500" fill="hold"/>
                                        <p:tgtEl>
                                          <p:spTgt spid="256002">
                                            <p:txEl>
                                              <p:pRg st="6" end="6"/>
                                            </p:txEl>
                                          </p:spTgt>
                                        </p:tgtEl>
                                        <p:attrNameLst>
                                          <p:attrName>ppt_y</p:attrName>
                                        </p:attrNameLst>
                                      </p:cBhvr>
                                      <p:tavLst>
                                        <p:tav tm="0">
                                          <p:val>
                                            <p:strVal val="#ppt_y"/>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2" presetClass="entr" presetSubtype="8" fill="hold" grpId="0" nodeType="clickEffect">
                                  <p:stCondLst>
                                    <p:cond delay="0"/>
                                  </p:stCondLst>
                                  <p:childTnLst>
                                    <p:set>
                                      <p:cBhvr>
                                        <p:cTn id="48" dur="1" fill="hold">
                                          <p:stCondLst>
                                            <p:cond delay="0"/>
                                          </p:stCondLst>
                                        </p:cTn>
                                        <p:tgtEl>
                                          <p:spTgt spid="256002">
                                            <p:txEl>
                                              <p:pRg st="7" end="7"/>
                                            </p:txEl>
                                          </p:spTgt>
                                        </p:tgtEl>
                                        <p:attrNameLst>
                                          <p:attrName>style.visibility</p:attrName>
                                        </p:attrNameLst>
                                      </p:cBhvr>
                                      <p:to>
                                        <p:strVal val="visible"/>
                                      </p:to>
                                    </p:set>
                                    <p:anim calcmode="lin" valueType="num">
                                      <p:cBhvr additive="base">
                                        <p:cTn id="49" dur="500" fill="hold"/>
                                        <p:tgtEl>
                                          <p:spTgt spid="256002">
                                            <p:txEl>
                                              <p:pRg st="7" end="7"/>
                                            </p:txEl>
                                          </p:spTgt>
                                        </p:tgtEl>
                                        <p:attrNameLst>
                                          <p:attrName>ppt_x</p:attrName>
                                        </p:attrNameLst>
                                      </p:cBhvr>
                                      <p:tavLst>
                                        <p:tav tm="0">
                                          <p:val>
                                            <p:strVal val="0-#ppt_w/2"/>
                                          </p:val>
                                        </p:tav>
                                        <p:tav tm="100000">
                                          <p:val>
                                            <p:strVal val="#ppt_x"/>
                                          </p:val>
                                        </p:tav>
                                      </p:tavLst>
                                    </p:anim>
                                    <p:anim calcmode="lin" valueType="num">
                                      <p:cBhvr additive="base">
                                        <p:cTn id="50" dur="500" fill="hold"/>
                                        <p:tgtEl>
                                          <p:spTgt spid="256002">
                                            <p:txEl>
                                              <p:pRg st="7" end="7"/>
                                            </p:txEl>
                                          </p:spTgt>
                                        </p:tgtEl>
                                        <p:attrNameLst>
                                          <p:attrName>ppt_y</p:attrName>
                                        </p:attrNameLst>
                                      </p:cBhvr>
                                      <p:tavLst>
                                        <p:tav tm="0">
                                          <p:val>
                                            <p:strVal val="#ppt_y"/>
                                          </p:val>
                                        </p:tav>
                                        <p:tav tm="100000">
                                          <p:val>
                                            <p:strVal val="#ppt_y"/>
                                          </p:val>
                                        </p:tav>
                                      </p:tavLst>
                                    </p:anim>
                                  </p:childTnLst>
                                </p:cTn>
                              </p:par>
                            </p:childTnLst>
                          </p:cTn>
                        </p:par>
                      </p:childTnLst>
                    </p:cTn>
                  </p:par>
                  <p:par>
                    <p:cTn id="51" fill="hold">
                      <p:stCondLst>
                        <p:cond delay="indefinite"/>
                      </p:stCondLst>
                      <p:childTnLst>
                        <p:par>
                          <p:cTn id="52" fill="hold">
                            <p:stCondLst>
                              <p:cond delay="0"/>
                            </p:stCondLst>
                            <p:childTnLst>
                              <p:par>
                                <p:cTn id="53" presetID="2" presetClass="entr" presetSubtype="8" fill="hold" grpId="0" nodeType="clickEffect">
                                  <p:stCondLst>
                                    <p:cond delay="0"/>
                                  </p:stCondLst>
                                  <p:childTnLst>
                                    <p:set>
                                      <p:cBhvr>
                                        <p:cTn id="54" dur="1" fill="hold">
                                          <p:stCondLst>
                                            <p:cond delay="0"/>
                                          </p:stCondLst>
                                        </p:cTn>
                                        <p:tgtEl>
                                          <p:spTgt spid="256002">
                                            <p:txEl>
                                              <p:pRg st="8" end="8"/>
                                            </p:txEl>
                                          </p:spTgt>
                                        </p:tgtEl>
                                        <p:attrNameLst>
                                          <p:attrName>style.visibility</p:attrName>
                                        </p:attrNameLst>
                                      </p:cBhvr>
                                      <p:to>
                                        <p:strVal val="visible"/>
                                      </p:to>
                                    </p:set>
                                    <p:anim calcmode="lin" valueType="num">
                                      <p:cBhvr additive="base">
                                        <p:cTn id="55" dur="500" fill="hold"/>
                                        <p:tgtEl>
                                          <p:spTgt spid="256002">
                                            <p:txEl>
                                              <p:pRg st="8" end="8"/>
                                            </p:txEl>
                                          </p:spTgt>
                                        </p:tgtEl>
                                        <p:attrNameLst>
                                          <p:attrName>ppt_x</p:attrName>
                                        </p:attrNameLst>
                                      </p:cBhvr>
                                      <p:tavLst>
                                        <p:tav tm="0">
                                          <p:val>
                                            <p:strVal val="0-#ppt_w/2"/>
                                          </p:val>
                                        </p:tav>
                                        <p:tav tm="100000">
                                          <p:val>
                                            <p:strVal val="#ppt_x"/>
                                          </p:val>
                                        </p:tav>
                                      </p:tavLst>
                                    </p:anim>
                                    <p:anim calcmode="lin" valueType="num">
                                      <p:cBhvr additive="base">
                                        <p:cTn id="56" dur="500" fill="hold"/>
                                        <p:tgtEl>
                                          <p:spTgt spid="256002">
                                            <p:txEl>
                                              <p:pRg st="8" end="8"/>
                                            </p:txEl>
                                          </p:spTgt>
                                        </p:tgtEl>
                                        <p:attrNameLst>
                                          <p:attrName>ppt_y</p:attrName>
                                        </p:attrNameLst>
                                      </p:cBhvr>
                                      <p:tavLst>
                                        <p:tav tm="0">
                                          <p:val>
                                            <p:strVal val="#ppt_y"/>
                                          </p:val>
                                        </p:tav>
                                        <p:tav tm="100000">
                                          <p:val>
                                            <p:strVal val="#ppt_y"/>
                                          </p:val>
                                        </p:tav>
                                      </p:tavLst>
                                    </p:anim>
                                  </p:childTnLst>
                                </p:cTn>
                              </p:par>
                            </p:childTnLst>
                          </p:cTn>
                        </p:par>
                      </p:childTnLst>
                    </p:cTn>
                  </p:par>
                  <p:par>
                    <p:cTn id="57" fill="hold">
                      <p:stCondLst>
                        <p:cond delay="indefinite"/>
                      </p:stCondLst>
                      <p:childTnLst>
                        <p:par>
                          <p:cTn id="58" fill="hold">
                            <p:stCondLst>
                              <p:cond delay="0"/>
                            </p:stCondLst>
                            <p:childTnLst>
                              <p:par>
                                <p:cTn id="59" presetID="2" presetClass="entr" presetSubtype="8" fill="hold" grpId="0" nodeType="clickEffect">
                                  <p:stCondLst>
                                    <p:cond delay="0"/>
                                  </p:stCondLst>
                                  <p:childTnLst>
                                    <p:set>
                                      <p:cBhvr>
                                        <p:cTn id="60" dur="1" fill="hold">
                                          <p:stCondLst>
                                            <p:cond delay="0"/>
                                          </p:stCondLst>
                                        </p:cTn>
                                        <p:tgtEl>
                                          <p:spTgt spid="256002">
                                            <p:txEl>
                                              <p:pRg st="9" end="9"/>
                                            </p:txEl>
                                          </p:spTgt>
                                        </p:tgtEl>
                                        <p:attrNameLst>
                                          <p:attrName>style.visibility</p:attrName>
                                        </p:attrNameLst>
                                      </p:cBhvr>
                                      <p:to>
                                        <p:strVal val="visible"/>
                                      </p:to>
                                    </p:set>
                                    <p:anim calcmode="lin" valueType="num">
                                      <p:cBhvr additive="base">
                                        <p:cTn id="61" dur="500" fill="hold"/>
                                        <p:tgtEl>
                                          <p:spTgt spid="256002">
                                            <p:txEl>
                                              <p:pRg st="9" end="9"/>
                                            </p:txEl>
                                          </p:spTgt>
                                        </p:tgtEl>
                                        <p:attrNameLst>
                                          <p:attrName>ppt_x</p:attrName>
                                        </p:attrNameLst>
                                      </p:cBhvr>
                                      <p:tavLst>
                                        <p:tav tm="0">
                                          <p:val>
                                            <p:strVal val="0-#ppt_w/2"/>
                                          </p:val>
                                        </p:tav>
                                        <p:tav tm="100000">
                                          <p:val>
                                            <p:strVal val="#ppt_x"/>
                                          </p:val>
                                        </p:tav>
                                      </p:tavLst>
                                    </p:anim>
                                    <p:anim calcmode="lin" valueType="num">
                                      <p:cBhvr additive="base">
                                        <p:cTn id="62" dur="500" fill="hold"/>
                                        <p:tgtEl>
                                          <p:spTgt spid="256002">
                                            <p:txEl>
                                              <p:pRg st="9" end="9"/>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6002" grpId="0" build="p" bldLvl="3" autoUpdateAnimBg="0"/>
    </p:bldLst>
  </p:timing>
</p:sld>
</file>

<file path=ppt/slides/slide48.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57026" name="Rectangle 2"/>
          <p:cNvSpPr>
            <a:spLocks noGrp="1" noChangeArrowheads="1"/>
          </p:cNvSpPr>
          <p:nvPr>
            <p:ph idx="1"/>
          </p:nvPr>
        </p:nvSpPr>
        <p:spPr>
          <a:xfrm>
            <a:off x="838200" y="304800"/>
            <a:ext cx="8077200" cy="5715000"/>
          </a:xfrm>
        </p:spPr>
        <p:txBody>
          <a:bodyPr/>
          <a:lstStyle/>
          <a:p>
            <a:pPr eaLnBrk="1" hangingPunct="1">
              <a:lnSpc>
                <a:spcPct val="90000"/>
              </a:lnSpc>
              <a:buFont typeface="Monotype Sorts" pitchFamily="2" charset="2"/>
              <a:buNone/>
            </a:pPr>
            <a:r>
              <a:rPr lang="en-US" sz="3600" b="1" smtClean="0">
                <a:solidFill>
                  <a:schemeClr val="tx2"/>
                </a:solidFill>
              </a:rPr>
              <a:t>Chemical Methods of Control</a:t>
            </a:r>
          </a:p>
          <a:p>
            <a:pPr eaLnBrk="1" hangingPunct="1">
              <a:lnSpc>
                <a:spcPct val="90000"/>
              </a:lnSpc>
              <a:buFont typeface="Monotype Sorts" pitchFamily="2" charset="2"/>
              <a:buNone/>
            </a:pPr>
            <a:r>
              <a:rPr lang="en-US" sz="3600" b="1" smtClean="0">
                <a:solidFill>
                  <a:schemeClr val="tx2"/>
                </a:solidFill>
              </a:rPr>
              <a:t>Types of Disinfectants</a:t>
            </a:r>
          </a:p>
          <a:p>
            <a:pPr eaLnBrk="1" hangingPunct="1">
              <a:lnSpc>
                <a:spcPct val="90000"/>
              </a:lnSpc>
              <a:buFont typeface="Monotype Sorts" pitchFamily="2" charset="2"/>
              <a:buNone/>
            </a:pPr>
            <a:r>
              <a:rPr lang="en-US" sz="2800" b="1" smtClean="0"/>
              <a:t>4. Heavy Metals: </a:t>
            </a:r>
            <a:endParaRPr lang="en-US" sz="2400" smtClean="0"/>
          </a:p>
          <a:p>
            <a:pPr eaLnBrk="1" hangingPunct="1">
              <a:lnSpc>
                <a:spcPct val="90000"/>
              </a:lnSpc>
              <a:buSzPct val="75000"/>
              <a:buFont typeface="Arial" charset="0"/>
              <a:buNone/>
            </a:pPr>
            <a:r>
              <a:rPr lang="en-US" sz="2400" smtClean="0"/>
              <a:t> Include copper, selenium, mercury, silver, and zinc.</a:t>
            </a:r>
          </a:p>
          <a:p>
            <a:pPr eaLnBrk="1" hangingPunct="1">
              <a:lnSpc>
                <a:spcPct val="90000"/>
              </a:lnSpc>
              <a:buSzPct val="75000"/>
              <a:buFont typeface="Arial" charset="0"/>
              <a:buNone/>
            </a:pPr>
            <a:r>
              <a:rPr lang="en-US" sz="2400" smtClean="0"/>
              <a:t> </a:t>
            </a:r>
            <a:r>
              <a:rPr lang="en-US" sz="2400" b="1" smtClean="0"/>
              <a:t>Oligodynamic action</a:t>
            </a:r>
            <a:r>
              <a:rPr lang="en-US" sz="2400" smtClean="0"/>
              <a:t>:  Very tiny amounts are effective.</a:t>
            </a:r>
          </a:p>
          <a:p>
            <a:pPr eaLnBrk="1" hangingPunct="1">
              <a:lnSpc>
                <a:spcPct val="90000"/>
              </a:lnSpc>
              <a:buSzPct val="75000"/>
              <a:buFont typeface="Arial" charset="0"/>
              <a:buNone/>
            </a:pPr>
            <a:r>
              <a:rPr lang="en-US" sz="2400" b="1" smtClean="0"/>
              <a:t>A. Silver:</a:t>
            </a:r>
          </a:p>
          <a:p>
            <a:pPr eaLnBrk="1" hangingPunct="1">
              <a:lnSpc>
                <a:spcPct val="90000"/>
              </a:lnSpc>
              <a:buSzPct val="75000"/>
              <a:buFont typeface="Arial" charset="0"/>
              <a:buNone/>
            </a:pPr>
            <a:r>
              <a:rPr lang="en-US" sz="2400" smtClean="0"/>
              <a:t> 1% silver nitrate used to protect infants against gonorrheal eye infections until recently.</a:t>
            </a:r>
          </a:p>
          <a:p>
            <a:pPr eaLnBrk="1" hangingPunct="1">
              <a:lnSpc>
                <a:spcPct val="90000"/>
              </a:lnSpc>
              <a:buSzPct val="75000"/>
              <a:buFont typeface="Arial" charset="0"/>
              <a:buNone/>
            </a:pPr>
            <a:r>
              <a:rPr lang="en-US" sz="2400" b="1" smtClean="0"/>
              <a:t>B. Mercury</a:t>
            </a:r>
          </a:p>
          <a:p>
            <a:pPr eaLnBrk="1" hangingPunct="1">
              <a:lnSpc>
                <a:spcPct val="90000"/>
              </a:lnSpc>
              <a:buSzPct val="75000"/>
              <a:buFont typeface="Arial" charset="0"/>
              <a:buNone/>
            </a:pPr>
            <a:r>
              <a:rPr lang="en-US" sz="2400" smtClean="0"/>
              <a:t> Organic mercury compounds like merthiolate and mercurochrome are used to disinfect skin wounds.</a:t>
            </a:r>
          </a:p>
          <a:p>
            <a:pPr eaLnBrk="1" hangingPunct="1">
              <a:lnSpc>
                <a:spcPct val="90000"/>
              </a:lnSpc>
              <a:buSzPct val="75000"/>
              <a:buFont typeface="Arial" charset="0"/>
              <a:buNone/>
            </a:pPr>
            <a:r>
              <a:rPr lang="en-US" sz="2400" b="1" smtClean="0"/>
              <a:t>C. Copper</a:t>
            </a:r>
          </a:p>
          <a:p>
            <a:pPr eaLnBrk="1" hangingPunct="1">
              <a:lnSpc>
                <a:spcPct val="90000"/>
              </a:lnSpc>
              <a:buSzPct val="75000"/>
              <a:buFont typeface="Arial" charset="0"/>
              <a:buNone/>
            </a:pPr>
            <a:r>
              <a:rPr lang="en-US" sz="2400" smtClean="0"/>
              <a:t> Copper sulfate is used to kill algae in pools and fish tanks.</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257026">
                                            <p:txEl>
                                              <p:pRg st="0" end="0"/>
                                            </p:txEl>
                                          </p:spTgt>
                                        </p:tgtEl>
                                        <p:attrNameLst>
                                          <p:attrName>style.visibility</p:attrName>
                                        </p:attrNameLst>
                                      </p:cBhvr>
                                      <p:to>
                                        <p:strVal val="visible"/>
                                      </p:to>
                                    </p:set>
                                    <p:anim calcmode="lin" valueType="num">
                                      <p:cBhvr additive="base">
                                        <p:cTn id="7" dur="500" fill="hold"/>
                                        <p:tgtEl>
                                          <p:spTgt spid="257026">
                                            <p:txEl>
                                              <p:pRg st="0" end="0"/>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257026">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257026">
                                            <p:txEl>
                                              <p:pRg st="1" end="1"/>
                                            </p:txEl>
                                          </p:spTgt>
                                        </p:tgtEl>
                                        <p:attrNameLst>
                                          <p:attrName>style.visibility</p:attrName>
                                        </p:attrNameLst>
                                      </p:cBhvr>
                                      <p:to>
                                        <p:strVal val="visible"/>
                                      </p:to>
                                    </p:set>
                                    <p:anim calcmode="lin" valueType="num">
                                      <p:cBhvr additive="base">
                                        <p:cTn id="13" dur="500" fill="hold"/>
                                        <p:tgtEl>
                                          <p:spTgt spid="257026">
                                            <p:txEl>
                                              <p:pRg st="1" end="1"/>
                                            </p:txEl>
                                          </p:spTgt>
                                        </p:tgtEl>
                                        <p:attrNameLst>
                                          <p:attrName>ppt_x</p:attrName>
                                        </p:attrNameLst>
                                      </p:cBhvr>
                                      <p:tavLst>
                                        <p:tav tm="0">
                                          <p:val>
                                            <p:strVal val="0-#ppt_w/2"/>
                                          </p:val>
                                        </p:tav>
                                        <p:tav tm="100000">
                                          <p:val>
                                            <p:strVal val="#ppt_x"/>
                                          </p:val>
                                        </p:tav>
                                      </p:tavLst>
                                    </p:anim>
                                    <p:anim calcmode="lin" valueType="num">
                                      <p:cBhvr additive="base">
                                        <p:cTn id="14" dur="500" fill="hold"/>
                                        <p:tgtEl>
                                          <p:spTgt spid="257026">
                                            <p:txEl>
                                              <p:pRg st="1" end="1"/>
                                            </p:txEl>
                                          </p:spTgt>
                                        </p:tgtEl>
                                        <p:attrNameLst>
                                          <p:attrName>ppt_y</p:attrName>
                                        </p:attrNameLst>
                                      </p:cBhvr>
                                      <p:tavLst>
                                        <p:tav tm="0">
                                          <p:val>
                                            <p:strVal val="#ppt_y"/>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8" fill="hold" grpId="0" nodeType="clickEffect">
                                  <p:stCondLst>
                                    <p:cond delay="0"/>
                                  </p:stCondLst>
                                  <p:childTnLst>
                                    <p:set>
                                      <p:cBhvr>
                                        <p:cTn id="18" dur="1" fill="hold">
                                          <p:stCondLst>
                                            <p:cond delay="0"/>
                                          </p:stCondLst>
                                        </p:cTn>
                                        <p:tgtEl>
                                          <p:spTgt spid="257026">
                                            <p:txEl>
                                              <p:pRg st="2" end="2"/>
                                            </p:txEl>
                                          </p:spTgt>
                                        </p:tgtEl>
                                        <p:attrNameLst>
                                          <p:attrName>style.visibility</p:attrName>
                                        </p:attrNameLst>
                                      </p:cBhvr>
                                      <p:to>
                                        <p:strVal val="visible"/>
                                      </p:to>
                                    </p:set>
                                    <p:anim calcmode="lin" valueType="num">
                                      <p:cBhvr additive="base">
                                        <p:cTn id="19" dur="500" fill="hold"/>
                                        <p:tgtEl>
                                          <p:spTgt spid="257026">
                                            <p:txEl>
                                              <p:pRg st="2" end="2"/>
                                            </p:txEl>
                                          </p:spTgt>
                                        </p:tgtEl>
                                        <p:attrNameLst>
                                          <p:attrName>ppt_x</p:attrName>
                                        </p:attrNameLst>
                                      </p:cBhvr>
                                      <p:tavLst>
                                        <p:tav tm="0">
                                          <p:val>
                                            <p:strVal val="0-#ppt_w/2"/>
                                          </p:val>
                                        </p:tav>
                                        <p:tav tm="100000">
                                          <p:val>
                                            <p:strVal val="#ppt_x"/>
                                          </p:val>
                                        </p:tav>
                                      </p:tavLst>
                                    </p:anim>
                                    <p:anim calcmode="lin" valueType="num">
                                      <p:cBhvr additive="base">
                                        <p:cTn id="20" dur="500" fill="hold"/>
                                        <p:tgtEl>
                                          <p:spTgt spid="257026">
                                            <p:txEl>
                                              <p:pRg st="2" end="2"/>
                                            </p:txEl>
                                          </p:spTgt>
                                        </p:tgtEl>
                                        <p:attrNameLst>
                                          <p:attrName>ppt_y</p:attrName>
                                        </p:attrNameLst>
                                      </p:cBhvr>
                                      <p:tavLst>
                                        <p:tav tm="0">
                                          <p:val>
                                            <p:strVal val="#ppt_y"/>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8" fill="hold" grpId="0" nodeType="clickEffect">
                                  <p:stCondLst>
                                    <p:cond delay="0"/>
                                  </p:stCondLst>
                                  <p:childTnLst>
                                    <p:set>
                                      <p:cBhvr>
                                        <p:cTn id="24" dur="1" fill="hold">
                                          <p:stCondLst>
                                            <p:cond delay="0"/>
                                          </p:stCondLst>
                                        </p:cTn>
                                        <p:tgtEl>
                                          <p:spTgt spid="257026">
                                            <p:txEl>
                                              <p:pRg st="3" end="3"/>
                                            </p:txEl>
                                          </p:spTgt>
                                        </p:tgtEl>
                                        <p:attrNameLst>
                                          <p:attrName>style.visibility</p:attrName>
                                        </p:attrNameLst>
                                      </p:cBhvr>
                                      <p:to>
                                        <p:strVal val="visible"/>
                                      </p:to>
                                    </p:set>
                                    <p:anim calcmode="lin" valueType="num">
                                      <p:cBhvr additive="base">
                                        <p:cTn id="25" dur="500" fill="hold"/>
                                        <p:tgtEl>
                                          <p:spTgt spid="257026">
                                            <p:txEl>
                                              <p:pRg st="3" end="3"/>
                                            </p:txEl>
                                          </p:spTgt>
                                        </p:tgtEl>
                                        <p:attrNameLst>
                                          <p:attrName>ppt_x</p:attrName>
                                        </p:attrNameLst>
                                      </p:cBhvr>
                                      <p:tavLst>
                                        <p:tav tm="0">
                                          <p:val>
                                            <p:strVal val="0-#ppt_w/2"/>
                                          </p:val>
                                        </p:tav>
                                        <p:tav tm="100000">
                                          <p:val>
                                            <p:strVal val="#ppt_x"/>
                                          </p:val>
                                        </p:tav>
                                      </p:tavLst>
                                    </p:anim>
                                    <p:anim calcmode="lin" valueType="num">
                                      <p:cBhvr additive="base">
                                        <p:cTn id="26" dur="500" fill="hold"/>
                                        <p:tgtEl>
                                          <p:spTgt spid="257026">
                                            <p:txEl>
                                              <p:pRg st="3" end="3"/>
                                            </p:txEl>
                                          </p:spTgt>
                                        </p:tgtEl>
                                        <p:attrNameLst>
                                          <p:attrName>ppt_y</p:attrName>
                                        </p:attrNameLst>
                                      </p:cBhvr>
                                      <p:tavLst>
                                        <p:tav tm="0">
                                          <p:val>
                                            <p:strVal val="#ppt_y"/>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8" fill="hold" grpId="0" nodeType="clickEffect">
                                  <p:stCondLst>
                                    <p:cond delay="0"/>
                                  </p:stCondLst>
                                  <p:childTnLst>
                                    <p:set>
                                      <p:cBhvr>
                                        <p:cTn id="30" dur="1" fill="hold">
                                          <p:stCondLst>
                                            <p:cond delay="0"/>
                                          </p:stCondLst>
                                        </p:cTn>
                                        <p:tgtEl>
                                          <p:spTgt spid="257026">
                                            <p:txEl>
                                              <p:pRg st="4" end="4"/>
                                            </p:txEl>
                                          </p:spTgt>
                                        </p:tgtEl>
                                        <p:attrNameLst>
                                          <p:attrName>style.visibility</p:attrName>
                                        </p:attrNameLst>
                                      </p:cBhvr>
                                      <p:to>
                                        <p:strVal val="visible"/>
                                      </p:to>
                                    </p:set>
                                    <p:anim calcmode="lin" valueType="num">
                                      <p:cBhvr additive="base">
                                        <p:cTn id="31" dur="500" fill="hold"/>
                                        <p:tgtEl>
                                          <p:spTgt spid="257026">
                                            <p:txEl>
                                              <p:pRg st="4" end="4"/>
                                            </p:txEl>
                                          </p:spTgt>
                                        </p:tgtEl>
                                        <p:attrNameLst>
                                          <p:attrName>ppt_x</p:attrName>
                                        </p:attrNameLst>
                                      </p:cBhvr>
                                      <p:tavLst>
                                        <p:tav tm="0">
                                          <p:val>
                                            <p:strVal val="0-#ppt_w/2"/>
                                          </p:val>
                                        </p:tav>
                                        <p:tav tm="100000">
                                          <p:val>
                                            <p:strVal val="#ppt_x"/>
                                          </p:val>
                                        </p:tav>
                                      </p:tavLst>
                                    </p:anim>
                                    <p:anim calcmode="lin" valueType="num">
                                      <p:cBhvr additive="base">
                                        <p:cTn id="32" dur="500" fill="hold"/>
                                        <p:tgtEl>
                                          <p:spTgt spid="257026">
                                            <p:txEl>
                                              <p:pRg st="4" end="4"/>
                                            </p:txEl>
                                          </p:spTgt>
                                        </p:tgtEl>
                                        <p:attrNameLst>
                                          <p:attrName>ppt_y</p:attrName>
                                        </p:attrNameLst>
                                      </p:cBhvr>
                                      <p:tavLst>
                                        <p:tav tm="0">
                                          <p:val>
                                            <p:strVal val="#ppt_y"/>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8" fill="hold" grpId="0" nodeType="clickEffect">
                                  <p:stCondLst>
                                    <p:cond delay="0"/>
                                  </p:stCondLst>
                                  <p:childTnLst>
                                    <p:set>
                                      <p:cBhvr>
                                        <p:cTn id="36" dur="1" fill="hold">
                                          <p:stCondLst>
                                            <p:cond delay="0"/>
                                          </p:stCondLst>
                                        </p:cTn>
                                        <p:tgtEl>
                                          <p:spTgt spid="257026">
                                            <p:txEl>
                                              <p:pRg st="5" end="5"/>
                                            </p:txEl>
                                          </p:spTgt>
                                        </p:tgtEl>
                                        <p:attrNameLst>
                                          <p:attrName>style.visibility</p:attrName>
                                        </p:attrNameLst>
                                      </p:cBhvr>
                                      <p:to>
                                        <p:strVal val="visible"/>
                                      </p:to>
                                    </p:set>
                                    <p:anim calcmode="lin" valueType="num">
                                      <p:cBhvr additive="base">
                                        <p:cTn id="37" dur="500" fill="hold"/>
                                        <p:tgtEl>
                                          <p:spTgt spid="257026">
                                            <p:txEl>
                                              <p:pRg st="5" end="5"/>
                                            </p:txEl>
                                          </p:spTgt>
                                        </p:tgtEl>
                                        <p:attrNameLst>
                                          <p:attrName>ppt_x</p:attrName>
                                        </p:attrNameLst>
                                      </p:cBhvr>
                                      <p:tavLst>
                                        <p:tav tm="0">
                                          <p:val>
                                            <p:strVal val="0-#ppt_w/2"/>
                                          </p:val>
                                        </p:tav>
                                        <p:tav tm="100000">
                                          <p:val>
                                            <p:strVal val="#ppt_x"/>
                                          </p:val>
                                        </p:tav>
                                      </p:tavLst>
                                    </p:anim>
                                    <p:anim calcmode="lin" valueType="num">
                                      <p:cBhvr additive="base">
                                        <p:cTn id="38" dur="500" fill="hold"/>
                                        <p:tgtEl>
                                          <p:spTgt spid="257026">
                                            <p:txEl>
                                              <p:pRg st="5" end="5"/>
                                            </p:txEl>
                                          </p:spTgt>
                                        </p:tgtEl>
                                        <p:attrNameLst>
                                          <p:attrName>ppt_y</p:attrName>
                                        </p:attrNameLst>
                                      </p:cBhvr>
                                      <p:tavLst>
                                        <p:tav tm="0">
                                          <p:val>
                                            <p:strVal val="#ppt_y"/>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2" presetClass="entr" presetSubtype="8" fill="hold" grpId="0" nodeType="clickEffect">
                                  <p:stCondLst>
                                    <p:cond delay="0"/>
                                  </p:stCondLst>
                                  <p:childTnLst>
                                    <p:set>
                                      <p:cBhvr>
                                        <p:cTn id="42" dur="1" fill="hold">
                                          <p:stCondLst>
                                            <p:cond delay="0"/>
                                          </p:stCondLst>
                                        </p:cTn>
                                        <p:tgtEl>
                                          <p:spTgt spid="257026">
                                            <p:txEl>
                                              <p:pRg st="6" end="6"/>
                                            </p:txEl>
                                          </p:spTgt>
                                        </p:tgtEl>
                                        <p:attrNameLst>
                                          <p:attrName>style.visibility</p:attrName>
                                        </p:attrNameLst>
                                      </p:cBhvr>
                                      <p:to>
                                        <p:strVal val="visible"/>
                                      </p:to>
                                    </p:set>
                                    <p:anim calcmode="lin" valueType="num">
                                      <p:cBhvr additive="base">
                                        <p:cTn id="43" dur="500" fill="hold"/>
                                        <p:tgtEl>
                                          <p:spTgt spid="257026">
                                            <p:txEl>
                                              <p:pRg st="6" end="6"/>
                                            </p:txEl>
                                          </p:spTgt>
                                        </p:tgtEl>
                                        <p:attrNameLst>
                                          <p:attrName>ppt_x</p:attrName>
                                        </p:attrNameLst>
                                      </p:cBhvr>
                                      <p:tavLst>
                                        <p:tav tm="0">
                                          <p:val>
                                            <p:strVal val="0-#ppt_w/2"/>
                                          </p:val>
                                        </p:tav>
                                        <p:tav tm="100000">
                                          <p:val>
                                            <p:strVal val="#ppt_x"/>
                                          </p:val>
                                        </p:tav>
                                      </p:tavLst>
                                    </p:anim>
                                    <p:anim calcmode="lin" valueType="num">
                                      <p:cBhvr additive="base">
                                        <p:cTn id="44" dur="500" fill="hold"/>
                                        <p:tgtEl>
                                          <p:spTgt spid="257026">
                                            <p:txEl>
                                              <p:pRg st="6" end="6"/>
                                            </p:txEl>
                                          </p:spTgt>
                                        </p:tgtEl>
                                        <p:attrNameLst>
                                          <p:attrName>ppt_y</p:attrName>
                                        </p:attrNameLst>
                                      </p:cBhvr>
                                      <p:tavLst>
                                        <p:tav tm="0">
                                          <p:val>
                                            <p:strVal val="#ppt_y"/>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2" presetClass="entr" presetSubtype="8" fill="hold" grpId="0" nodeType="clickEffect">
                                  <p:stCondLst>
                                    <p:cond delay="0"/>
                                  </p:stCondLst>
                                  <p:childTnLst>
                                    <p:set>
                                      <p:cBhvr>
                                        <p:cTn id="48" dur="1" fill="hold">
                                          <p:stCondLst>
                                            <p:cond delay="0"/>
                                          </p:stCondLst>
                                        </p:cTn>
                                        <p:tgtEl>
                                          <p:spTgt spid="257026">
                                            <p:txEl>
                                              <p:pRg st="7" end="7"/>
                                            </p:txEl>
                                          </p:spTgt>
                                        </p:tgtEl>
                                        <p:attrNameLst>
                                          <p:attrName>style.visibility</p:attrName>
                                        </p:attrNameLst>
                                      </p:cBhvr>
                                      <p:to>
                                        <p:strVal val="visible"/>
                                      </p:to>
                                    </p:set>
                                    <p:anim calcmode="lin" valueType="num">
                                      <p:cBhvr additive="base">
                                        <p:cTn id="49" dur="500" fill="hold"/>
                                        <p:tgtEl>
                                          <p:spTgt spid="257026">
                                            <p:txEl>
                                              <p:pRg st="7" end="7"/>
                                            </p:txEl>
                                          </p:spTgt>
                                        </p:tgtEl>
                                        <p:attrNameLst>
                                          <p:attrName>ppt_x</p:attrName>
                                        </p:attrNameLst>
                                      </p:cBhvr>
                                      <p:tavLst>
                                        <p:tav tm="0">
                                          <p:val>
                                            <p:strVal val="0-#ppt_w/2"/>
                                          </p:val>
                                        </p:tav>
                                        <p:tav tm="100000">
                                          <p:val>
                                            <p:strVal val="#ppt_x"/>
                                          </p:val>
                                        </p:tav>
                                      </p:tavLst>
                                    </p:anim>
                                    <p:anim calcmode="lin" valueType="num">
                                      <p:cBhvr additive="base">
                                        <p:cTn id="50" dur="500" fill="hold"/>
                                        <p:tgtEl>
                                          <p:spTgt spid="257026">
                                            <p:txEl>
                                              <p:pRg st="7" end="7"/>
                                            </p:txEl>
                                          </p:spTgt>
                                        </p:tgtEl>
                                        <p:attrNameLst>
                                          <p:attrName>ppt_y</p:attrName>
                                        </p:attrNameLst>
                                      </p:cBhvr>
                                      <p:tavLst>
                                        <p:tav tm="0">
                                          <p:val>
                                            <p:strVal val="#ppt_y"/>
                                          </p:val>
                                        </p:tav>
                                        <p:tav tm="100000">
                                          <p:val>
                                            <p:strVal val="#ppt_y"/>
                                          </p:val>
                                        </p:tav>
                                      </p:tavLst>
                                    </p:anim>
                                  </p:childTnLst>
                                </p:cTn>
                              </p:par>
                            </p:childTnLst>
                          </p:cTn>
                        </p:par>
                      </p:childTnLst>
                    </p:cTn>
                  </p:par>
                  <p:par>
                    <p:cTn id="51" fill="hold">
                      <p:stCondLst>
                        <p:cond delay="indefinite"/>
                      </p:stCondLst>
                      <p:childTnLst>
                        <p:par>
                          <p:cTn id="52" fill="hold">
                            <p:stCondLst>
                              <p:cond delay="0"/>
                            </p:stCondLst>
                            <p:childTnLst>
                              <p:par>
                                <p:cTn id="53" presetID="2" presetClass="entr" presetSubtype="8" fill="hold" grpId="0" nodeType="clickEffect">
                                  <p:stCondLst>
                                    <p:cond delay="0"/>
                                  </p:stCondLst>
                                  <p:childTnLst>
                                    <p:set>
                                      <p:cBhvr>
                                        <p:cTn id="54" dur="1" fill="hold">
                                          <p:stCondLst>
                                            <p:cond delay="0"/>
                                          </p:stCondLst>
                                        </p:cTn>
                                        <p:tgtEl>
                                          <p:spTgt spid="257026">
                                            <p:txEl>
                                              <p:pRg st="8" end="8"/>
                                            </p:txEl>
                                          </p:spTgt>
                                        </p:tgtEl>
                                        <p:attrNameLst>
                                          <p:attrName>style.visibility</p:attrName>
                                        </p:attrNameLst>
                                      </p:cBhvr>
                                      <p:to>
                                        <p:strVal val="visible"/>
                                      </p:to>
                                    </p:set>
                                    <p:anim calcmode="lin" valueType="num">
                                      <p:cBhvr additive="base">
                                        <p:cTn id="55" dur="500" fill="hold"/>
                                        <p:tgtEl>
                                          <p:spTgt spid="257026">
                                            <p:txEl>
                                              <p:pRg st="8" end="8"/>
                                            </p:txEl>
                                          </p:spTgt>
                                        </p:tgtEl>
                                        <p:attrNameLst>
                                          <p:attrName>ppt_x</p:attrName>
                                        </p:attrNameLst>
                                      </p:cBhvr>
                                      <p:tavLst>
                                        <p:tav tm="0">
                                          <p:val>
                                            <p:strVal val="0-#ppt_w/2"/>
                                          </p:val>
                                        </p:tav>
                                        <p:tav tm="100000">
                                          <p:val>
                                            <p:strVal val="#ppt_x"/>
                                          </p:val>
                                        </p:tav>
                                      </p:tavLst>
                                    </p:anim>
                                    <p:anim calcmode="lin" valueType="num">
                                      <p:cBhvr additive="base">
                                        <p:cTn id="56" dur="500" fill="hold"/>
                                        <p:tgtEl>
                                          <p:spTgt spid="257026">
                                            <p:txEl>
                                              <p:pRg st="8" end="8"/>
                                            </p:txEl>
                                          </p:spTgt>
                                        </p:tgtEl>
                                        <p:attrNameLst>
                                          <p:attrName>ppt_y</p:attrName>
                                        </p:attrNameLst>
                                      </p:cBhvr>
                                      <p:tavLst>
                                        <p:tav tm="0">
                                          <p:val>
                                            <p:strVal val="#ppt_y"/>
                                          </p:val>
                                        </p:tav>
                                        <p:tav tm="100000">
                                          <p:val>
                                            <p:strVal val="#ppt_y"/>
                                          </p:val>
                                        </p:tav>
                                      </p:tavLst>
                                    </p:anim>
                                  </p:childTnLst>
                                </p:cTn>
                              </p:par>
                            </p:childTnLst>
                          </p:cTn>
                        </p:par>
                      </p:childTnLst>
                    </p:cTn>
                  </p:par>
                  <p:par>
                    <p:cTn id="57" fill="hold">
                      <p:stCondLst>
                        <p:cond delay="indefinite"/>
                      </p:stCondLst>
                      <p:childTnLst>
                        <p:par>
                          <p:cTn id="58" fill="hold">
                            <p:stCondLst>
                              <p:cond delay="0"/>
                            </p:stCondLst>
                            <p:childTnLst>
                              <p:par>
                                <p:cTn id="59" presetID="2" presetClass="entr" presetSubtype="8" fill="hold" grpId="0" nodeType="clickEffect">
                                  <p:stCondLst>
                                    <p:cond delay="0"/>
                                  </p:stCondLst>
                                  <p:childTnLst>
                                    <p:set>
                                      <p:cBhvr>
                                        <p:cTn id="60" dur="1" fill="hold">
                                          <p:stCondLst>
                                            <p:cond delay="0"/>
                                          </p:stCondLst>
                                        </p:cTn>
                                        <p:tgtEl>
                                          <p:spTgt spid="257026">
                                            <p:txEl>
                                              <p:pRg st="9" end="9"/>
                                            </p:txEl>
                                          </p:spTgt>
                                        </p:tgtEl>
                                        <p:attrNameLst>
                                          <p:attrName>style.visibility</p:attrName>
                                        </p:attrNameLst>
                                      </p:cBhvr>
                                      <p:to>
                                        <p:strVal val="visible"/>
                                      </p:to>
                                    </p:set>
                                    <p:anim calcmode="lin" valueType="num">
                                      <p:cBhvr additive="base">
                                        <p:cTn id="61" dur="500" fill="hold"/>
                                        <p:tgtEl>
                                          <p:spTgt spid="257026">
                                            <p:txEl>
                                              <p:pRg st="9" end="9"/>
                                            </p:txEl>
                                          </p:spTgt>
                                        </p:tgtEl>
                                        <p:attrNameLst>
                                          <p:attrName>ppt_x</p:attrName>
                                        </p:attrNameLst>
                                      </p:cBhvr>
                                      <p:tavLst>
                                        <p:tav tm="0">
                                          <p:val>
                                            <p:strVal val="0-#ppt_w/2"/>
                                          </p:val>
                                        </p:tav>
                                        <p:tav tm="100000">
                                          <p:val>
                                            <p:strVal val="#ppt_x"/>
                                          </p:val>
                                        </p:tav>
                                      </p:tavLst>
                                    </p:anim>
                                    <p:anim calcmode="lin" valueType="num">
                                      <p:cBhvr additive="base">
                                        <p:cTn id="62" dur="500" fill="hold"/>
                                        <p:tgtEl>
                                          <p:spTgt spid="257026">
                                            <p:txEl>
                                              <p:pRg st="9" end="9"/>
                                            </p:txEl>
                                          </p:spTgt>
                                        </p:tgtEl>
                                        <p:attrNameLst>
                                          <p:attrName>ppt_y</p:attrName>
                                        </p:attrNameLst>
                                      </p:cBhvr>
                                      <p:tavLst>
                                        <p:tav tm="0">
                                          <p:val>
                                            <p:strVal val="#ppt_y"/>
                                          </p:val>
                                        </p:tav>
                                        <p:tav tm="100000">
                                          <p:val>
                                            <p:strVal val="#ppt_y"/>
                                          </p:val>
                                        </p:tav>
                                      </p:tavLst>
                                    </p:anim>
                                  </p:childTnLst>
                                </p:cTn>
                              </p:par>
                            </p:childTnLst>
                          </p:cTn>
                        </p:par>
                      </p:childTnLst>
                    </p:cTn>
                  </p:par>
                  <p:par>
                    <p:cTn id="63" fill="hold">
                      <p:stCondLst>
                        <p:cond delay="indefinite"/>
                      </p:stCondLst>
                      <p:childTnLst>
                        <p:par>
                          <p:cTn id="64" fill="hold">
                            <p:stCondLst>
                              <p:cond delay="0"/>
                            </p:stCondLst>
                            <p:childTnLst>
                              <p:par>
                                <p:cTn id="65" presetID="2" presetClass="entr" presetSubtype="8" fill="hold" grpId="0" nodeType="clickEffect">
                                  <p:stCondLst>
                                    <p:cond delay="0"/>
                                  </p:stCondLst>
                                  <p:childTnLst>
                                    <p:set>
                                      <p:cBhvr>
                                        <p:cTn id="66" dur="1" fill="hold">
                                          <p:stCondLst>
                                            <p:cond delay="0"/>
                                          </p:stCondLst>
                                        </p:cTn>
                                        <p:tgtEl>
                                          <p:spTgt spid="257026">
                                            <p:txEl>
                                              <p:pRg st="10" end="10"/>
                                            </p:txEl>
                                          </p:spTgt>
                                        </p:tgtEl>
                                        <p:attrNameLst>
                                          <p:attrName>style.visibility</p:attrName>
                                        </p:attrNameLst>
                                      </p:cBhvr>
                                      <p:to>
                                        <p:strVal val="visible"/>
                                      </p:to>
                                    </p:set>
                                    <p:anim calcmode="lin" valueType="num">
                                      <p:cBhvr additive="base">
                                        <p:cTn id="67" dur="500" fill="hold"/>
                                        <p:tgtEl>
                                          <p:spTgt spid="257026">
                                            <p:txEl>
                                              <p:pRg st="10" end="10"/>
                                            </p:txEl>
                                          </p:spTgt>
                                        </p:tgtEl>
                                        <p:attrNameLst>
                                          <p:attrName>ppt_x</p:attrName>
                                        </p:attrNameLst>
                                      </p:cBhvr>
                                      <p:tavLst>
                                        <p:tav tm="0">
                                          <p:val>
                                            <p:strVal val="0-#ppt_w/2"/>
                                          </p:val>
                                        </p:tav>
                                        <p:tav tm="100000">
                                          <p:val>
                                            <p:strVal val="#ppt_x"/>
                                          </p:val>
                                        </p:tav>
                                      </p:tavLst>
                                    </p:anim>
                                    <p:anim calcmode="lin" valueType="num">
                                      <p:cBhvr additive="base">
                                        <p:cTn id="68" dur="500" fill="hold"/>
                                        <p:tgtEl>
                                          <p:spTgt spid="257026">
                                            <p:txEl>
                                              <p:pRg st="10" end="10"/>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7026" grpId="0" build="p" bldLvl="3" autoUpdateAnimBg="0"/>
    </p:bldLst>
  </p:timing>
</p:sld>
</file>

<file path=ppt/slides/slide49.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58050" name="Rectangle 2"/>
          <p:cNvSpPr>
            <a:spLocks noGrp="1" noChangeArrowheads="1"/>
          </p:cNvSpPr>
          <p:nvPr>
            <p:ph idx="1"/>
          </p:nvPr>
        </p:nvSpPr>
        <p:spPr>
          <a:xfrm>
            <a:off x="838200" y="304800"/>
            <a:ext cx="8077200" cy="5715000"/>
          </a:xfrm>
        </p:spPr>
        <p:txBody>
          <a:bodyPr/>
          <a:lstStyle/>
          <a:p>
            <a:pPr eaLnBrk="1" hangingPunct="1">
              <a:buFont typeface="Monotype Sorts" pitchFamily="2" charset="2"/>
              <a:buNone/>
            </a:pPr>
            <a:r>
              <a:rPr lang="en-US" sz="3600" b="1" smtClean="0">
                <a:solidFill>
                  <a:schemeClr val="tx2"/>
                </a:solidFill>
              </a:rPr>
              <a:t>Chemical Methods of Control</a:t>
            </a:r>
          </a:p>
          <a:p>
            <a:pPr eaLnBrk="1" hangingPunct="1">
              <a:buFont typeface="Monotype Sorts" pitchFamily="2" charset="2"/>
              <a:buNone/>
            </a:pPr>
            <a:r>
              <a:rPr lang="en-US" sz="3600" b="1" smtClean="0">
                <a:solidFill>
                  <a:schemeClr val="tx2"/>
                </a:solidFill>
              </a:rPr>
              <a:t>Types of Disinfectants</a:t>
            </a:r>
          </a:p>
          <a:p>
            <a:pPr eaLnBrk="1" hangingPunct="1">
              <a:lnSpc>
                <a:spcPct val="90000"/>
              </a:lnSpc>
              <a:buFont typeface="Monotype Sorts" pitchFamily="2" charset="2"/>
              <a:buNone/>
            </a:pPr>
            <a:r>
              <a:rPr lang="en-US" sz="2800" b="1" smtClean="0"/>
              <a:t>4. Heavy Metals: </a:t>
            </a:r>
            <a:endParaRPr lang="en-US" sz="2400" smtClean="0"/>
          </a:p>
          <a:p>
            <a:pPr eaLnBrk="1" hangingPunct="1">
              <a:buSzPct val="75000"/>
              <a:buFont typeface="Monotype Sorts" pitchFamily="2" charset="2"/>
              <a:buNone/>
            </a:pPr>
            <a:r>
              <a:rPr lang="en-US" sz="2400" b="1" smtClean="0"/>
              <a:t>D. Selenium</a:t>
            </a:r>
          </a:p>
          <a:p>
            <a:pPr eaLnBrk="1" hangingPunct="1">
              <a:buSzPct val="75000"/>
              <a:buFont typeface="Monotype Sorts" pitchFamily="2" charset="2"/>
              <a:buChar char="u"/>
            </a:pPr>
            <a:r>
              <a:rPr lang="en-US" sz="2400" smtClean="0"/>
              <a:t> Kills fungi and their spores.  Used for fungal infections.</a:t>
            </a:r>
          </a:p>
          <a:p>
            <a:pPr eaLnBrk="1" hangingPunct="1">
              <a:buSzPct val="75000"/>
              <a:buFont typeface="Monotype Sorts" pitchFamily="2" charset="2"/>
              <a:buChar char="u"/>
            </a:pPr>
            <a:r>
              <a:rPr lang="en-US" sz="2400" smtClean="0"/>
              <a:t> Also used in dandruff shampoos.</a:t>
            </a:r>
          </a:p>
          <a:p>
            <a:pPr eaLnBrk="1" hangingPunct="1">
              <a:buSzPct val="75000"/>
              <a:buFont typeface="Monotype Sorts" pitchFamily="2" charset="2"/>
              <a:buNone/>
            </a:pPr>
            <a:r>
              <a:rPr lang="en-US" sz="2400" b="1" smtClean="0"/>
              <a:t>E. Zinc</a:t>
            </a:r>
          </a:p>
          <a:p>
            <a:pPr eaLnBrk="1" hangingPunct="1">
              <a:buSzPct val="75000"/>
              <a:buFont typeface="Monotype Sorts" pitchFamily="2" charset="2"/>
              <a:buChar char="u"/>
            </a:pPr>
            <a:r>
              <a:rPr lang="en-US" sz="2400" smtClean="0"/>
              <a:t> Zinc chloride is used in mouthwashes.</a:t>
            </a:r>
          </a:p>
          <a:p>
            <a:pPr eaLnBrk="1" hangingPunct="1">
              <a:buSzPct val="75000"/>
              <a:buFont typeface="Monotype Sorts" pitchFamily="2" charset="2"/>
              <a:buChar char="u"/>
            </a:pPr>
            <a:r>
              <a:rPr lang="en-US" sz="2400" smtClean="0"/>
              <a:t> Zinc oxide is used as antifungal agent in paints.</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258050">
                                            <p:txEl>
                                              <p:pRg st="0" end="0"/>
                                            </p:txEl>
                                          </p:spTgt>
                                        </p:tgtEl>
                                        <p:attrNameLst>
                                          <p:attrName>style.visibility</p:attrName>
                                        </p:attrNameLst>
                                      </p:cBhvr>
                                      <p:to>
                                        <p:strVal val="visible"/>
                                      </p:to>
                                    </p:set>
                                    <p:anim calcmode="lin" valueType="num">
                                      <p:cBhvr additive="base">
                                        <p:cTn id="7" dur="500" fill="hold"/>
                                        <p:tgtEl>
                                          <p:spTgt spid="258050">
                                            <p:txEl>
                                              <p:pRg st="0" end="0"/>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258050">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258050">
                                            <p:txEl>
                                              <p:pRg st="1" end="1"/>
                                            </p:txEl>
                                          </p:spTgt>
                                        </p:tgtEl>
                                        <p:attrNameLst>
                                          <p:attrName>style.visibility</p:attrName>
                                        </p:attrNameLst>
                                      </p:cBhvr>
                                      <p:to>
                                        <p:strVal val="visible"/>
                                      </p:to>
                                    </p:set>
                                    <p:anim calcmode="lin" valueType="num">
                                      <p:cBhvr additive="base">
                                        <p:cTn id="13" dur="500" fill="hold"/>
                                        <p:tgtEl>
                                          <p:spTgt spid="258050">
                                            <p:txEl>
                                              <p:pRg st="1" end="1"/>
                                            </p:txEl>
                                          </p:spTgt>
                                        </p:tgtEl>
                                        <p:attrNameLst>
                                          <p:attrName>ppt_x</p:attrName>
                                        </p:attrNameLst>
                                      </p:cBhvr>
                                      <p:tavLst>
                                        <p:tav tm="0">
                                          <p:val>
                                            <p:strVal val="0-#ppt_w/2"/>
                                          </p:val>
                                        </p:tav>
                                        <p:tav tm="100000">
                                          <p:val>
                                            <p:strVal val="#ppt_x"/>
                                          </p:val>
                                        </p:tav>
                                      </p:tavLst>
                                    </p:anim>
                                    <p:anim calcmode="lin" valueType="num">
                                      <p:cBhvr additive="base">
                                        <p:cTn id="14" dur="500" fill="hold"/>
                                        <p:tgtEl>
                                          <p:spTgt spid="258050">
                                            <p:txEl>
                                              <p:pRg st="1" end="1"/>
                                            </p:txEl>
                                          </p:spTgt>
                                        </p:tgtEl>
                                        <p:attrNameLst>
                                          <p:attrName>ppt_y</p:attrName>
                                        </p:attrNameLst>
                                      </p:cBhvr>
                                      <p:tavLst>
                                        <p:tav tm="0">
                                          <p:val>
                                            <p:strVal val="#ppt_y"/>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8" fill="hold" grpId="0" nodeType="clickEffect">
                                  <p:stCondLst>
                                    <p:cond delay="0"/>
                                  </p:stCondLst>
                                  <p:childTnLst>
                                    <p:set>
                                      <p:cBhvr>
                                        <p:cTn id="18" dur="1" fill="hold">
                                          <p:stCondLst>
                                            <p:cond delay="0"/>
                                          </p:stCondLst>
                                        </p:cTn>
                                        <p:tgtEl>
                                          <p:spTgt spid="258050">
                                            <p:txEl>
                                              <p:pRg st="2" end="2"/>
                                            </p:txEl>
                                          </p:spTgt>
                                        </p:tgtEl>
                                        <p:attrNameLst>
                                          <p:attrName>style.visibility</p:attrName>
                                        </p:attrNameLst>
                                      </p:cBhvr>
                                      <p:to>
                                        <p:strVal val="visible"/>
                                      </p:to>
                                    </p:set>
                                    <p:anim calcmode="lin" valueType="num">
                                      <p:cBhvr additive="base">
                                        <p:cTn id="19" dur="500" fill="hold"/>
                                        <p:tgtEl>
                                          <p:spTgt spid="258050">
                                            <p:txEl>
                                              <p:pRg st="2" end="2"/>
                                            </p:txEl>
                                          </p:spTgt>
                                        </p:tgtEl>
                                        <p:attrNameLst>
                                          <p:attrName>ppt_x</p:attrName>
                                        </p:attrNameLst>
                                      </p:cBhvr>
                                      <p:tavLst>
                                        <p:tav tm="0">
                                          <p:val>
                                            <p:strVal val="0-#ppt_w/2"/>
                                          </p:val>
                                        </p:tav>
                                        <p:tav tm="100000">
                                          <p:val>
                                            <p:strVal val="#ppt_x"/>
                                          </p:val>
                                        </p:tav>
                                      </p:tavLst>
                                    </p:anim>
                                    <p:anim calcmode="lin" valueType="num">
                                      <p:cBhvr additive="base">
                                        <p:cTn id="20" dur="500" fill="hold"/>
                                        <p:tgtEl>
                                          <p:spTgt spid="258050">
                                            <p:txEl>
                                              <p:pRg st="2" end="2"/>
                                            </p:txEl>
                                          </p:spTgt>
                                        </p:tgtEl>
                                        <p:attrNameLst>
                                          <p:attrName>ppt_y</p:attrName>
                                        </p:attrNameLst>
                                      </p:cBhvr>
                                      <p:tavLst>
                                        <p:tav tm="0">
                                          <p:val>
                                            <p:strVal val="#ppt_y"/>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8" fill="hold" grpId="0" nodeType="clickEffect">
                                  <p:stCondLst>
                                    <p:cond delay="0"/>
                                  </p:stCondLst>
                                  <p:childTnLst>
                                    <p:set>
                                      <p:cBhvr>
                                        <p:cTn id="24" dur="1" fill="hold">
                                          <p:stCondLst>
                                            <p:cond delay="0"/>
                                          </p:stCondLst>
                                        </p:cTn>
                                        <p:tgtEl>
                                          <p:spTgt spid="258050">
                                            <p:txEl>
                                              <p:pRg st="3" end="3"/>
                                            </p:txEl>
                                          </p:spTgt>
                                        </p:tgtEl>
                                        <p:attrNameLst>
                                          <p:attrName>style.visibility</p:attrName>
                                        </p:attrNameLst>
                                      </p:cBhvr>
                                      <p:to>
                                        <p:strVal val="visible"/>
                                      </p:to>
                                    </p:set>
                                    <p:anim calcmode="lin" valueType="num">
                                      <p:cBhvr additive="base">
                                        <p:cTn id="25" dur="500" fill="hold"/>
                                        <p:tgtEl>
                                          <p:spTgt spid="258050">
                                            <p:txEl>
                                              <p:pRg st="3" end="3"/>
                                            </p:txEl>
                                          </p:spTgt>
                                        </p:tgtEl>
                                        <p:attrNameLst>
                                          <p:attrName>ppt_x</p:attrName>
                                        </p:attrNameLst>
                                      </p:cBhvr>
                                      <p:tavLst>
                                        <p:tav tm="0">
                                          <p:val>
                                            <p:strVal val="0-#ppt_w/2"/>
                                          </p:val>
                                        </p:tav>
                                        <p:tav tm="100000">
                                          <p:val>
                                            <p:strVal val="#ppt_x"/>
                                          </p:val>
                                        </p:tav>
                                      </p:tavLst>
                                    </p:anim>
                                    <p:anim calcmode="lin" valueType="num">
                                      <p:cBhvr additive="base">
                                        <p:cTn id="26" dur="500" fill="hold"/>
                                        <p:tgtEl>
                                          <p:spTgt spid="258050">
                                            <p:txEl>
                                              <p:pRg st="3" end="3"/>
                                            </p:txEl>
                                          </p:spTgt>
                                        </p:tgtEl>
                                        <p:attrNameLst>
                                          <p:attrName>ppt_y</p:attrName>
                                        </p:attrNameLst>
                                      </p:cBhvr>
                                      <p:tavLst>
                                        <p:tav tm="0">
                                          <p:val>
                                            <p:strVal val="#ppt_y"/>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8" fill="hold" grpId="0" nodeType="clickEffect">
                                  <p:stCondLst>
                                    <p:cond delay="0"/>
                                  </p:stCondLst>
                                  <p:childTnLst>
                                    <p:set>
                                      <p:cBhvr>
                                        <p:cTn id="30" dur="1" fill="hold">
                                          <p:stCondLst>
                                            <p:cond delay="0"/>
                                          </p:stCondLst>
                                        </p:cTn>
                                        <p:tgtEl>
                                          <p:spTgt spid="258050">
                                            <p:txEl>
                                              <p:pRg st="4" end="4"/>
                                            </p:txEl>
                                          </p:spTgt>
                                        </p:tgtEl>
                                        <p:attrNameLst>
                                          <p:attrName>style.visibility</p:attrName>
                                        </p:attrNameLst>
                                      </p:cBhvr>
                                      <p:to>
                                        <p:strVal val="visible"/>
                                      </p:to>
                                    </p:set>
                                    <p:anim calcmode="lin" valueType="num">
                                      <p:cBhvr additive="base">
                                        <p:cTn id="31" dur="500" fill="hold"/>
                                        <p:tgtEl>
                                          <p:spTgt spid="258050">
                                            <p:txEl>
                                              <p:pRg st="4" end="4"/>
                                            </p:txEl>
                                          </p:spTgt>
                                        </p:tgtEl>
                                        <p:attrNameLst>
                                          <p:attrName>ppt_x</p:attrName>
                                        </p:attrNameLst>
                                      </p:cBhvr>
                                      <p:tavLst>
                                        <p:tav tm="0">
                                          <p:val>
                                            <p:strVal val="0-#ppt_w/2"/>
                                          </p:val>
                                        </p:tav>
                                        <p:tav tm="100000">
                                          <p:val>
                                            <p:strVal val="#ppt_x"/>
                                          </p:val>
                                        </p:tav>
                                      </p:tavLst>
                                    </p:anim>
                                    <p:anim calcmode="lin" valueType="num">
                                      <p:cBhvr additive="base">
                                        <p:cTn id="32" dur="500" fill="hold"/>
                                        <p:tgtEl>
                                          <p:spTgt spid="258050">
                                            <p:txEl>
                                              <p:pRg st="4" end="4"/>
                                            </p:txEl>
                                          </p:spTgt>
                                        </p:tgtEl>
                                        <p:attrNameLst>
                                          <p:attrName>ppt_y</p:attrName>
                                        </p:attrNameLst>
                                      </p:cBhvr>
                                      <p:tavLst>
                                        <p:tav tm="0">
                                          <p:val>
                                            <p:strVal val="#ppt_y"/>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8" fill="hold" grpId="0" nodeType="clickEffect">
                                  <p:stCondLst>
                                    <p:cond delay="0"/>
                                  </p:stCondLst>
                                  <p:childTnLst>
                                    <p:set>
                                      <p:cBhvr>
                                        <p:cTn id="36" dur="1" fill="hold">
                                          <p:stCondLst>
                                            <p:cond delay="0"/>
                                          </p:stCondLst>
                                        </p:cTn>
                                        <p:tgtEl>
                                          <p:spTgt spid="258050">
                                            <p:txEl>
                                              <p:pRg st="5" end="5"/>
                                            </p:txEl>
                                          </p:spTgt>
                                        </p:tgtEl>
                                        <p:attrNameLst>
                                          <p:attrName>style.visibility</p:attrName>
                                        </p:attrNameLst>
                                      </p:cBhvr>
                                      <p:to>
                                        <p:strVal val="visible"/>
                                      </p:to>
                                    </p:set>
                                    <p:anim calcmode="lin" valueType="num">
                                      <p:cBhvr additive="base">
                                        <p:cTn id="37" dur="500" fill="hold"/>
                                        <p:tgtEl>
                                          <p:spTgt spid="258050">
                                            <p:txEl>
                                              <p:pRg st="5" end="5"/>
                                            </p:txEl>
                                          </p:spTgt>
                                        </p:tgtEl>
                                        <p:attrNameLst>
                                          <p:attrName>ppt_x</p:attrName>
                                        </p:attrNameLst>
                                      </p:cBhvr>
                                      <p:tavLst>
                                        <p:tav tm="0">
                                          <p:val>
                                            <p:strVal val="0-#ppt_w/2"/>
                                          </p:val>
                                        </p:tav>
                                        <p:tav tm="100000">
                                          <p:val>
                                            <p:strVal val="#ppt_x"/>
                                          </p:val>
                                        </p:tav>
                                      </p:tavLst>
                                    </p:anim>
                                    <p:anim calcmode="lin" valueType="num">
                                      <p:cBhvr additive="base">
                                        <p:cTn id="38" dur="500" fill="hold"/>
                                        <p:tgtEl>
                                          <p:spTgt spid="258050">
                                            <p:txEl>
                                              <p:pRg st="5" end="5"/>
                                            </p:txEl>
                                          </p:spTgt>
                                        </p:tgtEl>
                                        <p:attrNameLst>
                                          <p:attrName>ppt_y</p:attrName>
                                        </p:attrNameLst>
                                      </p:cBhvr>
                                      <p:tavLst>
                                        <p:tav tm="0">
                                          <p:val>
                                            <p:strVal val="#ppt_y"/>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2" presetClass="entr" presetSubtype="8" fill="hold" grpId="0" nodeType="clickEffect">
                                  <p:stCondLst>
                                    <p:cond delay="0"/>
                                  </p:stCondLst>
                                  <p:childTnLst>
                                    <p:set>
                                      <p:cBhvr>
                                        <p:cTn id="42" dur="1" fill="hold">
                                          <p:stCondLst>
                                            <p:cond delay="0"/>
                                          </p:stCondLst>
                                        </p:cTn>
                                        <p:tgtEl>
                                          <p:spTgt spid="258050">
                                            <p:txEl>
                                              <p:pRg st="6" end="6"/>
                                            </p:txEl>
                                          </p:spTgt>
                                        </p:tgtEl>
                                        <p:attrNameLst>
                                          <p:attrName>style.visibility</p:attrName>
                                        </p:attrNameLst>
                                      </p:cBhvr>
                                      <p:to>
                                        <p:strVal val="visible"/>
                                      </p:to>
                                    </p:set>
                                    <p:anim calcmode="lin" valueType="num">
                                      <p:cBhvr additive="base">
                                        <p:cTn id="43" dur="500" fill="hold"/>
                                        <p:tgtEl>
                                          <p:spTgt spid="258050">
                                            <p:txEl>
                                              <p:pRg st="6" end="6"/>
                                            </p:txEl>
                                          </p:spTgt>
                                        </p:tgtEl>
                                        <p:attrNameLst>
                                          <p:attrName>ppt_x</p:attrName>
                                        </p:attrNameLst>
                                      </p:cBhvr>
                                      <p:tavLst>
                                        <p:tav tm="0">
                                          <p:val>
                                            <p:strVal val="0-#ppt_w/2"/>
                                          </p:val>
                                        </p:tav>
                                        <p:tav tm="100000">
                                          <p:val>
                                            <p:strVal val="#ppt_x"/>
                                          </p:val>
                                        </p:tav>
                                      </p:tavLst>
                                    </p:anim>
                                    <p:anim calcmode="lin" valueType="num">
                                      <p:cBhvr additive="base">
                                        <p:cTn id="44" dur="500" fill="hold"/>
                                        <p:tgtEl>
                                          <p:spTgt spid="258050">
                                            <p:txEl>
                                              <p:pRg st="6" end="6"/>
                                            </p:txEl>
                                          </p:spTgt>
                                        </p:tgtEl>
                                        <p:attrNameLst>
                                          <p:attrName>ppt_y</p:attrName>
                                        </p:attrNameLst>
                                      </p:cBhvr>
                                      <p:tavLst>
                                        <p:tav tm="0">
                                          <p:val>
                                            <p:strVal val="#ppt_y"/>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2" presetClass="entr" presetSubtype="8" fill="hold" grpId="0" nodeType="clickEffect">
                                  <p:stCondLst>
                                    <p:cond delay="0"/>
                                  </p:stCondLst>
                                  <p:childTnLst>
                                    <p:set>
                                      <p:cBhvr>
                                        <p:cTn id="48" dur="1" fill="hold">
                                          <p:stCondLst>
                                            <p:cond delay="0"/>
                                          </p:stCondLst>
                                        </p:cTn>
                                        <p:tgtEl>
                                          <p:spTgt spid="258050">
                                            <p:txEl>
                                              <p:pRg st="7" end="7"/>
                                            </p:txEl>
                                          </p:spTgt>
                                        </p:tgtEl>
                                        <p:attrNameLst>
                                          <p:attrName>style.visibility</p:attrName>
                                        </p:attrNameLst>
                                      </p:cBhvr>
                                      <p:to>
                                        <p:strVal val="visible"/>
                                      </p:to>
                                    </p:set>
                                    <p:anim calcmode="lin" valueType="num">
                                      <p:cBhvr additive="base">
                                        <p:cTn id="49" dur="500" fill="hold"/>
                                        <p:tgtEl>
                                          <p:spTgt spid="258050">
                                            <p:txEl>
                                              <p:pRg st="7" end="7"/>
                                            </p:txEl>
                                          </p:spTgt>
                                        </p:tgtEl>
                                        <p:attrNameLst>
                                          <p:attrName>ppt_x</p:attrName>
                                        </p:attrNameLst>
                                      </p:cBhvr>
                                      <p:tavLst>
                                        <p:tav tm="0">
                                          <p:val>
                                            <p:strVal val="0-#ppt_w/2"/>
                                          </p:val>
                                        </p:tav>
                                        <p:tav tm="100000">
                                          <p:val>
                                            <p:strVal val="#ppt_x"/>
                                          </p:val>
                                        </p:tav>
                                      </p:tavLst>
                                    </p:anim>
                                    <p:anim calcmode="lin" valueType="num">
                                      <p:cBhvr additive="base">
                                        <p:cTn id="50" dur="500" fill="hold"/>
                                        <p:tgtEl>
                                          <p:spTgt spid="258050">
                                            <p:txEl>
                                              <p:pRg st="7" end="7"/>
                                            </p:txEl>
                                          </p:spTgt>
                                        </p:tgtEl>
                                        <p:attrNameLst>
                                          <p:attrName>ppt_y</p:attrName>
                                        </p:attrNameLst>
                                      </p:cBhvr>
                                      <p:tavLst>
                                        <p:tav tm="0">
                                          <p:val>
                                            <p:strVal val="#ppt_y"/>
                                          </p:val>
                                        </p:tav>
                                        <p:tav tm="100000">
                                          <p:val>
                                            <p:strVal val="#ppt_y"/>
                                          </p:val>
                                        </p:tav>
                                      </p:tavLst>
                                    </p:anim>
                                  </p:childTnLst>
                                </p:cTn>
                              </p:par>
                            </p:childTnLst>
                          </p:cTn>
                        </p:par>
                      </p:childTnLst>
                    </p:cTn>
                  </p:par>
                  <p:par>
                    <p:cTn id="51" fill="hold">
                      <p:stCondLst>
                        <p:cond delay="indefinite"/>
                      </p:stCondLst>
                      <p:childTnLst>
                        <p:par>
                          <p:cTn id="52" fill="hold">
                            <p:stCondLst>
                              <p:cond delay="0"/>
                            </p:stCondLst>
                            <p:childTnLst>
                              <p:par>
                                <p:cTn id="53" presetID="2" presetClass="entr" presetSubtype="8" fill="hold" grpId="0" nodeType="clickEffect">
                                  <p:stCondLst>
                                    <p:cond delay="0"/>
                                  </p:stCondLst>
                                  <p:childTnLst>
                                    <p:set>
                                      <p:cBhvr>
                                        <p:cTn id="54" dur="1" fill="hold">
                                          <p:stCondLst>
                                            <p:cond delay="0"/>
                                          </p:stCondLst>
                                        </p:cTn>
                                        <p:tgtEl>
                                          <p:spTgt spid="258050">
                                            <p:txEl>
                                              <p:pRg st="8" end="8"/>
                                            </p:txEl>
                                          </p:spTgt>
                                        </p:tgtEl>
                                        <p:attrNameLst>
                                          <p:attrName>style.visibility</p:attrName>
                                        </p:attrNameLst>
                                      </p:cBhvr>
                                      <p:to>
                                        <p:strVal val="visible"/>
                                      </p:to>
                                    </p:set>
                                    <p:anim calcmode="lin" valueType="num">
                                      <p:cBhvr additive="base">
                                        <p:cTn id="55" dur="500" fill="hold"/>
                                        <p:tgtEl>
                                          <p:spTgt spid="258050">
                                            <p:txEl>
                                              <p:pRg st="8" end="8"/>
                                            </p:txEl>
                                          </p:spTgt>
                                        </p:tgtEl>
                                        <p:attrNameLst>
                                          <p:attrName>ppt_x</p:attrName>
                                        </p:attrNameLst>
                                      </p:cBhvr>
                                      <p:tavLst>
                                        <p:tav tm="0">
                                          <p:val>
                                            <p:strVal val="0-#ppt_w/2"/>
                                          </p:val>
                                        </p:tav>
                                        <p:tav tm="100000">
                                          <p:val>
                                            <p:strVal val="#ppt_x"/>
                                          </p:val>
                                        </p:tav>
                                      </p:tavLst>
                                    </p:anim>
                                    <p:anim calcmode="lin" valueType="num">
                                      <p:cBhvr additive="base">
                                        <p:cTn id="56" dur="500" fill="hold"/>
                                        <p:tgtEl>
                                          <p:spTgt spid="258050">
                                            <p:txEl>
                                              <p:pRg st="8" end="8"/>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8050" grpId="0" build="p" bldLvl="3" autoUpdateAnimBg="0"/>
    </p:bldLst>
  </p:timing>
</p:sld>
</file>

<file path=ppt/slides/slide50.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59074" name="Rectangle 2"/>
          <p:cNvSpPr>
            <a:spLocks noGrp="1" noChangeArrowheads="1"/>
          </p:cNvSpPr>
          <p:nvPr>
            <p:ph idx="1"/>
          </p:nvPr>
        </p:nvSpPr>
        <p:spPr>
          <a:xfrm>
            <a:off x="838200" y="304800"/>
            <a:ext cx="8077200" cy="5715000"/>
          </a:xfrm>
        </p:spPr>
        <p:txBody>
          <a:bodyPr rtlCol="0">
            <a:normAutofit lnSpcReduction="10000"/>
          </a:bodyPr>
          <a:lstStyle/>
          <a:p>
            <a:pPr eaLnBrk="1" fontAlgn="auto" hangingPunct="1">
              <a:lnSpc>
                <a:spcPct val="90000"/>
              </a:lnSpc>
              <a:spcAft>
                <a:spcPts val="0"/>
              </a:spcAft>
              <a:buFont typeface="Monotype Sorts" pitchFamily="2" charset="2"/>
              <a:buNone/>
              <a:defRPr/>
            </a:pPr>
            <a:r>
              <a:rPr lang="en-US" sz="3600" b="1" dirty="0" smtClean="0">
                <a:solidFill>
                  <a:schemeClr val="tx2"/>
                </a:solidFill>
              </a:rPr>
              <a:t>Chemical Methods of Control</a:t>
            </a:r>
          </a:p>
          <a:p>
            <a:pPr eaLnBrk="1" fontAlgn="auto" hangingPunct="1">
              <a:lnSpc>
                <a:spcPct val="90000"/>
              </a:lnSpc>
              <a:spcAft>
                <a:spcPts val="0"/>
              </a:spcAft>
              <a:buFont typeface="Monotype Sorts" pitchFamily="2" charset="2"/>
              <a:buNone/>
              <a:defRPr/>
            </a:pPr>
            <a:r>
              <a:rPr lang="en-US" sz="3600" b="1" dirty="0" smtClean="0">
                <a:solidFill>
                  <a:schemeClr val="tx2"/>
                </a:solidFill>
              </a:rPr>
              <a:t>Types of Disinfectants</a:t>
            </a:r>
          </a:p>
          <a:p>
            <a:pPr eaLnBrk="1" fontAlgn="auto" hangingPunct="1">
              <a:lnSpc>
                <a:spcPct val="90000"/>
              </a:lnSpc>
              <a:spcAft>
                <a:spcPts val="0"/>
              </a:spcAft>
              <a:buFont typeface="Arial" charset="0"/>
              <a:buNone/>
              <a:defRPr/>
            </a:pPr>
            <a:r>
              <a:rPr lang="en-US" sz="2800" b="1" dirty="0" smtClean="0"/>
              <a:t>5. Quaternary Ammonium Compounds (</a:t>
            </a:r>
            <a:r>
              <a:rPr lang="en-US" sz="2800" b="1" dirty="0" err="1" smtClean="0"/>
              <a:t>Quats</a:t>
            </a:r>
            <a:r>
              <a:rPr lang="en-US" sz="2800" b="1" dirty="0" smtClean="0"/>
              <a:t>): </a:t>
            </a:r>
            <a:endParaRPr lang="en-US" sz="2400" dirty="0" smtClean="0"/>
          </a:p>
          <a:p>
            <a:pPr eaLnBrk="1" fontAlgn="auto" hangingPunct="1">
              <a:lnSpc>
                <a:spcPct val="90000"/>
              </a:lnSpc>
              <a:spcAft>
                <a:spcPts val="0"/>
              </a:spcAft>
              <a:buSzPct val="75000"/>
              <a:buFont typeface="Arial" charset="0"/>
              <a:buNone/>
              <a:defRPr/>
            </a:pPr>
            <a:r>
              <a:rPr lang="en-US" sz="2400" dirty="0" smtClean="0"/>
              <a:t> Widely used surface active agents.</a:t>
            </a:r>
          </a:p>
          <a:p>
            <a:pPr eaLnBrk="1" fontAlgn="auto" hangingPunct="1">
              <a:lnSpc>
                <a:spcPct val="90000"/>
              </a:lnSpc>
              <a:spcAft>
                <a:spcPts val="0"/>
              </a:spcAft>
              <a:buSzPct val="75000"/>
              <a:buFont typeface="Arial" charset="0"/>
              <a:buNone/>
              <a:defRPr/>
            </a:pPr>
            <a:r>
              <a:rPr lang="en-US" sz="2400" dirty="0" smtClean="0"/>
              <a:t> Cationic (positively charge) detergents.</a:t>
            </a:r>
          </a:p>
          <a:p>
            <a:pPr eaLnBrk="1" fontAlgn="auto" hangingPunct="1">
              <a:lnSpc>
                <a:spcPct val="90000"/>
              </a:lnSpc>
              <a:spcAft>
                <a:spcPts val="0"/>
              </a:spcAft>
              <a:buSzPct val="75000"/>
              <a:buFont typeface="Arial" charset="0"/>
              <a:buNone/>
              <a:defRPr/>
            </a:pPr>
            <a:r>
              <a:rPr lang="en-US" sz="2400" dirty="0" smtClean="0"/>
              <a:t> Effective against gram positive bacteria, less effective against gram-negative bacteria.</a:t>
            </a:r>
          </a:p>
          <a:p>
            <a:pPr eaLnBrk="1" fontAlgn="auto" hangingPunct="1">
              <a:lnSpc>
                <a:spcPct val="90000"/>
              </a:lnSpc>
              <a:spcAft>
                <a:spcPts val="0"/>
              </a:spcAft>
              <a:buSzPct val="75000"/>
              <a:buFont typeface="Arial" charset="0"/>
              <a:buNone/>
              <a:defRPr/>
            </a:pPr>
            <a:r>
              <a:rPr lang="en-US" sz="2400" dirty="0" smtClean="0"/>
              <a:t> Also destroy fungi, amoebas, and enveloped viruses.</a:t>
            </a:r>
          </a:p>
          <a:p>
            <a:pPr eaLnBrk="1" fontAlgn="auto" hangingPunct="1">
              <a:lnSpc>
                <a:spcPct val="90000"/>
              </a:lnSpc>
              <a:spcAft>
                <a:spcPts val="0"/>
              </a:spcAft>
              <a:buSzPct val="75000"/>
              <a:buFont typeface="Arial" charset="0"/>
              <a:buNone/>
              <a:defRPr/>
            </a:pPr>
            <a:r>
              <a:rPr lang="en-US" sz="2400" dirty="0" smtClean="0"/>
              <a:t> </a:t>
            </a:r>
            <a:r>
              <a:rPr lang="en-US" sz="2400" b="1" dirty="0" err="1" smtClean="0"/>
              <a:t>Zephiran</a:t>
            </a:r>
            <a:r>
              <a:rPr lang="en-US" sz="2400" dirty="0" smtClean="0"/>
              <a:t>, </a:t>
            </a:r>
            <a:r>
              <a:rPr lang="en-US" sz="2400" dirty="0" err="1" smtClean="0"/>
              <a:t>Cepacol</a:t>
            </a:r>
            <a:r>
              <a:rPr lang="en-US" sz="2400" dirty="0" smtClean="0"/>
              <a:t>, also found in our lab spray bottles.</a:t>
            </a:r>
          </a:p>
          <a:p>
            <a:pPr eaLnBrk="1" fontAlgn="auto" hangingPunct="1">
              <a:lnSpc>
                <a:spcPct val="90000"/>
              </a:lnSpc>
              <a:spcAft>
                <a:spcPts val="0"/>
              </a:spcAft>
              <a:buSzPct val="75000"/>
              <a:buFont typeface="Arial" charset="0"/>
              <a:buNone/>
              <a:defRPr/>
            </a:pPr>
            <a:r>
              <a:rPr lang="en-US" sz="2400" dirty="0" smtClean="0"/>
              <a:t> </a:t>
            </a:r>
            <a:r>
              <a:rPr lang="en-US" sz="2400" b="1" i="1" dirty="0" smtClean="0"/>
              <a:t>Pseudomonas</a:t>
            </a:r>
            <a:r>
              <a:rPr lang="en-US" sz="2400" dirty="0" smtClean="0"/>
              <a:t> strains that are resistant and can grow in presence of </a:t>
            </a:r>
            <a:r>
              <a:rPr lang="en-US" sz="2400" dirty="0" err="1" smtClean="0"/>
              <a:t>Quats</a:t>
            </a:r>
            <a:r>
              <a:rPr lang="en-US" sz="2400" dirty="0" smtClean="0"/>
              <a:t> are a big concern in hospitals.</a:t>
            </a:r>
          </a:p>
          <a:p>
            <a:pPr eaLnBrk="1" fontAlgn="auto" hangingPunct="1">
              <a:lnSpc>
                <a:spcPct val="90000"/>
              </a:lnSpc>
              <a:spcAft>
                <a:spcPts val="0"/>
              </a:spcAft>
              <a:buSzPct val="75000"/>
              <a:buFont typeface="Arial" charset="0"/>
              <a:buNone/>
              <a:defRPr/>
            </a:pPr>
            <a:r>
              <a:rPr lang="en-US" sz="2400" dirty="0" smtClean="0"/>
              <a:t> </a:t>
            </a:r>
            <a:r>
              <a:rPr lang="en-US" sz="2400" b="1" dirty="0" smtClean="0"/>
              <a:t>Advantages</a:t>
            </a:r>
            <a:r>
              <a:rPr lang="en-US" sz="2400" dirty="0" smtClean="0"/>
              <a:t>: Strong antimicrobial action, colorless, odorless, tasteless, stable, and nontoxic.</a:t>
            </a:r>
          </a:p>
          <a:p>
            <a:pPr eaLnBrk="1" fontAlgn="auto" hangingPunct="1">
              <a:lnSpc>
                <a:spcPct val="90000"/>
              </a:lnSpc>
              <a:spcAft>
                <a:spcPts val="0"/>
              </a:spcAft>
              <a:buSzPct val="75000"/>
              <a:buFont typeface="Arial" charset="0"/>
              <a:buNone/>
              <a:defRPr/>
            </a:pPr>
            <a:r>
              <a:rPr lang="en-US" sz="2400" dirty="0" smtClean="0"/>
              <a:t> </a:t>
            </a:r>
            <a:r>
              <a:rPr lang="en-US" sz="2400" b="1" dirty="0" err="1" smtClean="0"/>
              <a:t>Diasadvantages</a:t>
            </a:r>
            <a:r>
              <a:rPr lang="en-US" sz="2400" dirty="0" smtClean="0"/>
              <a:t>: Form foam.  Organic matter interferes with effectiveness.  Neutralized by soaps and anionic detergents.</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259074">
                                            <p:txEl>
                                              <p:pRg st="0" end="0"/>
                                            </p:txEl>
                                          </p:spTgt>
                                        </p:tgtEl>
                                        <p:attrNameLst>
                                          <p:attrName>style.visibility</p:attrName>
                                        </p:attrNameLst>
                                      </p:cBhvr>
                                      <p:to>
                                        <p:strVal val="visible"/>
                                      </p:to>
                                    </p:set>
                                    <p:anim calcmode="lin" valueType="num">
                                      <p:cBhvr additive="base">
                                        <p:cTn id="7" dur="500" fill="hold"/>
                                        <p:tgtEl>
                                          <p:spTgt spid="259074">
                                            <p:txEl>
                                              <p:pRg st="0" end="0"/>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259074">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259074">
                                            <p:txEl>
                                              <p:pRg st="1" end="1"/>
                                            </p:txEl>
                                          </p:spTgt>
                                        </p:tgtEl>
                                        <p:attrNameLst>
                                          <p:attrName>style.visibility</p:attrName>
                                        </p:attrNameLst>
                                      </p:cBhvr>
                                      <p:to>
                                        <p:strVal val="visible"/>
                                      </p:to>
                                    </p:set>
                                    <p:anim calcmode="lin" valueType="num">
                                      <p:cBhvr additive="base">
                                        <p:cTn id="13" dur="500" fill="hold"/>
                                        <p:tgtEl>
                                          <p:spTgt spid="259074">
                                            <p:txEl>
                                              <p:pRg st="1" end="1"/>
                                            </p:txEl>
                                          </p:spTgt>
                                        </p:tgtEl>
                                        <p:attrNameLst>
                                          <p:attrName>ppt_x</p:attrName>
                                        </p:attrNameLst>
                                      </p:cBhvr>
                                      <p:tavLst>
                                        <p:tav tm="0">
                                          <p:val>
                                            <p:strVal val="0-#ppt_w/2"/>
                                          </p:val>
                                        </p:tav>
                                        <p:tav tm="100000">
                                          <p:val>
                                            <p:strVal val="#ppt_x"/>
                                          </p:val>
                                        </p:tav>
                                      </p:tavLst>
                                    </p:anim>
                                    <p:anim calcmode="lin" valueType="num">
                                      <p:cBhvr additive="base">
                                        <p:cTn id="14" dur="500" fill="hold"/>
                                        <p:tgtEl>
                                          <p:spTgt spid="259074">
                                            <p:txEl>
                                              <p:pRg st="1" end="1"/>
                                            </p:txEl>
                                          </p:spTgt>
                                        </p:tgtEl>
                                        <p:attrNameLst>
                                          <p:attrName>ppt_y</p:attrName>
                                        </p:attrNameLst>
                                      </p:cBhvr>
                                      <p:tavLst>
                                        <p:tav tm="0">
                                          <p:val>
                                            <p:strVal val="#ppt_y"/>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8" fill="hold" grpId="0" nodeType="clickEffect">
                                  <p:stCondLst>
                                    <p:cond delay="0"/>
                                  </p:stCondLst>
                                  <p:childTnLst>
                                    <p:set>
                                      <p:cBhvr>
                                        <p:cTn id="18" dur="1" fill="hold">
                                          <p:stCondLst>
                                            <p:cond delay="0"/>
                                          </p:stCondLst>
                                        </p:cTn>
                                        <p:tgtEl>
                                          <p:spTgt spid="259074">
                                            <p:txEl>
                                              <p:pRg st="2" end="2"/>
                                            </p:txEl>
                                          </p:spTgt>
                                        </p:tgtEl>
                                        <p:attrNameLst>
                                          <p:attrName>style.visibility</p:attrName>
                                        </p:attrNameLst>
                                      </p:cBhvr>
                                      <p:to>
                                        <p:strVal val="visible"/>
                                      </p:to>
                                    </p:set>
                                    <p:anim calcmode="lin" valueType="num">
                                      <p:cBhvr additive="base">
                                        <p:cTn id="19" dur="500" fill="hold"/>
                                        <p:tgtEl>
                                          <p:spTgt spid="259074">
                                            <p:txEl>
                                              <p:pRg st="2" end="2"/>
                                            </p:txEl>
                                          </p:spTgt>
                                        </p:tgtEl>
                                        <p:attrNameLst>
                                          <p:attrName>ppt_x</p:attrName>
                                        </p:attrNameLst>
                                      </p:cBhvr>
                                      <p:tavLst>
                                        <p:tav tm="0">
                                          <p:val>
                                            <p:strVal val="0-#ppt_w/2"/>
                                          </p:val>
                                        </p:tav>
                                        <p:tav tm="100000">
                                          <p:val>
                                            <p:strVal val="#ppt_x"/>
                                          </p:val>
                                        </p:tav>
                                      </p:tavLst>
                                    </p:anim>
                                    <p:anim calcmode="lin" valueType="num">
                                      <p:cBhvr additive="base">
                                        <p:cTn id="20" dur="500" fill="hold"/>
                                        <p:tgtEl>
                                          <p:spTgt spid="259074">
                                            <p:txEl>
                                              <p:pRg st="2" end="2"/>
                                            </p:txEl>
                                          </p:spTgt>
                                        </p:tgtEl>
                                        <p:attrNameLst>
                                          <p:attrName>ppt_y</p:attrName>
                                        </p:attrNameLst>
                                      </p:cBhvr>
                                      <p:tavLst>
                                        <p:tav tm="0">
                                          <p:val>
                                            <p:strVal val="#ppt_y"/>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8" fill="hold" grpId="0" nodeType="clickEffect">
                                  <p:stCondLst>
                                    <p:cond delay="0"/>
                                  </p:stCondLst>
                                  <p:childTnLst>
                                    <p:set>
                                      <p:cBhvr>
                                        <p:cTn id="24" dur="1" fill="hold">
                                          <p:stCondLst>
                                            <p:cond delay="0"/>
                                          </p:stCondLst>
                                        </p:cTn>
                                        <p:tgtEl>
                                          <p:spTgt spid="259074">
                                            <p:txEl>
                                              <p:pRg st="3" end="3"/>
                                            </p:txEl>
                                          </p:spTgt>
                                        </p:tgtEl>
                                        <p:attrNameLst>
                                          <p:attrName>style.visibility</p:attrName>
                                        </p:attrNameLst>
                                      </p:cBhvr>
                                      <p:to>
                                        <p:strVal val="visible"/>
                                      </p:to>
                                    </p:set>
                                    <p:anim calcmode="lin" valueType="num">
                                      <p:cBhvr additive="base">
                                        <p:cTn id="25" dur="500" fill="hold"/>
                                        <p:tgtEl>
                                          <p:spTgt spid="259074">
                                            <p:txEl>
                                              <p:pRg st="3" end="3"/>
                                            </p:txEl>
                                          </p:spTgt>
                                        </p:tgtEl>
                                        <p:attrNameLst>
                                          <p:attrName>ppt_x</p:attrName>
                                        </p:attrNameLst>
                                      </p:cBhvr>
                                      <p:tavLst>
                                        <p:tav tm="0">
                                          <p:val>
                                            <p:strVal val="0-#ppt_w/2"/>
                                          </p:val>
                                        </p:tav>
                                        <p:tav tm="100000">
                                          <p:val>
                                            <p:strVal val="#ppt_x"/>
                                          </p:val>
                                        </p:tav>
                                      </p:tavLst>
                                    </p:anim>
                                    <p:anim calcmode="lin" valueType="num">
                                      <p:cBhvr additive="base">
                                        <p:cTn id="26" dur="500" fill="hold"/>
                                        <p:tgtEl>
                                          <p:spTgt spid="259074">
                                            <p:txEl>
                                              <p:pRg st="3" end="3"/>
                                            </p:txEl>
                                          </p:spTgt>
                                        </p:tgtEl>
                                        <p:attrNameLst>
                                          <p:attrName>ppt_y</p:attrName>
                                        </p:attrNameLst>
                                      </p:cBhvr>
                                      <p:tavLst>
                                        <p:tav tm="0">
                                          <p:val>
                                            <p:strVal val="#ppt_y"/>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8" fill="hold" grpId="0" nodeType="clickEffect">
                                  <p:stCondLst>
                                    <p:cond delay="0"/>
                                  </p:stCondLst>
                                  <p:childTnLst>
                                    <p:set>
                                      <p:cBhvr>
                                        <p:cTn id="30" dur="1" fill="hold">
                                          <p:stCondLst>
                                            <p:cond delay="0"/>
                                          </p:stCondLst>
                                        </p:cTn>
                                        <p:tgtEl>
                                          <p:spTgt spid="259074">
                                            <p:txEl>
                                              <p:pRg st="4" end="4"/>
                                            </p:txEl>
                                          </p:spTgt>
                                        </p:tgtEl>
                                        <p:attrNameLst>
                                          <p:attrName>style.visibility</p:attrName>
                                        </p:attrNameLst>
                                      </p:cBhvr>
                                      <p:to>
                                        <p:strVal val="visible"/>
                                      </p:to>
                                    </p:set>
                                    <p:anim calcmode="lin" valueType="num">
                                      <p:cBhvr additive="base">
                                        <p:cTn id="31" dur="500" fill="hold"/>
                                        <p:tgtEl>
                                          <p:spTgt spid="259074">
                                            <p:txEl>
                                              <p:pRg st="4" end="4"/>
                                            </p:txEl>
                                          </p:spTgt>
                                        </p:tgtEl>
                                        <p:attrNameLst>
                                          <p:attrName>ppt_x</p:attrName>
                                        </p:attrNameLst>
                                      </p:cBhvr>
                                      <p:tavLst>
                                        <p:tav tm="0">
                                          <p:val>
                                            <p:strVal val="0-#ppt_w/2"/>
                                          </p:val>
                                        </p:tav>
                                        <p:tav tm="100000">
                                          <p:val>
                                            <p:strVal val="#ppt_x"/>
                                          </p:val>
                                        </p:tav>
                                      </p:tavLst>
                                    </p:anim>
                                    <p:anim calcmode="lin" valueType="num">
                                      <p:cBhvr additive="base">
                                        <p:cTn id="32" dur="500" fill="hold"/>
                                        <p:tgtEl>
                                          <p:spTgt spid="259074">
                                            <p:txEl>
                                              <p:pRg st="4" end="4"/>
                                            </p:txEl>
                                          </p:spTgt>
                                        </p:tgtEl>
                                        <p:attrNameLst>
                                          <p:attrName>ppt_y</p:attrName>
                                        </p:attrNameLst>
                                      </p:cBhvr>
                                      <p:tavLst>
                                        <p:tav tm="0">
                                          <p:val>
                                            <p:strVal val="#ppt_y"/>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8" fill="hold" grpId="0" nodeType="clickEffect">
                                  <p:stCondLst>
                                    <p:cond delay="0"/>
                                  </p:stCondLst>
                                  <p:childTnLst>
                                    <p:set>
                                      <p:cBhvr>
                                        <p:cTn id="36" dur="1" fill="hold">
                                          <p:stCondLst>
                                            <p:cond delay="0"/>
                                          </p:stCondLst>
                                        </p:cTn>
                                        <p:tgtEl>
                                          <p:spTgt spid="259074">
                                            <p:txEl>
                                              <p:pRg st="5" end="5"/>
                                            </p:txEl>
                                          </p:spTgt>
                                        </p:tgtEl>
                                        <p:attrNameLst>
                                          <p:attrName>style.visibility</p:attrName>
                                        </p:attrNameLst>
                                      </p:cBhvr>
                                      <p:to>
                                        <p:strVal val="visible"/>
                                      </p:to>
                                    </p:set>
                                    <p:anim calcmode="lin" valueType="num">
                                      <p:cBhvr additive="base">
                                        <p:cTn id="37" dur="500" fill="hold"/>
                                        <p:tgtEl>
                                          <p:spTgt spid="259074">
                                            <p:txEl>
                                              <p:pRg st="5" end="5"/>
                                            </p:txEl>
                                          </p:spTgt>
                                        </p:tgtEl>
                                        <p:attrNameLst>
                                          <p:attrName>ppt_x</p:attrName>
                                        </p:attrNameLst>
                                      </p:cBhvr>
                                      <p:tavLst>
                                        <p:tav tm="0">
                                          <p:val>
                                            <p:strVal val="0-#ppt_w/2"/>
                                          </p:val>
                                        </p:tav>
                                        <p:tav tm="100000">
                                          <p:val>
                                            <p:strVal val="#ppt_x"/>
                                          </p:val>
                                        </p:tav>
                                      </p:tavLst>
                                    </p:anim>
                                    <p:anim calcmode="lin" valueType="num">
                                      <p:cBhvr additive="base">
                                        <p:cTn id="38" dur="500" fill="hold"/>
                                        <p:tgtEl>
                                          <p:spTgt spid="259074">
                                            <p:txEl>
                                              <p:pRg st="5" end="5"/>
                                            </p:txEl>
                                          </p:spTgt>
                                        </p:tgtEl>
                                        <p:attrNameLst>
                                          <p:attrName>ppt_y</p:attrName>
                                        </p:attrNameLst>
                                      </p:cBhvr>
                                      <p:tavLst>
                                        <p:tav tm="0">
                                          <p:val>
                                            <p:strVal val="#ppt_y"/>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2" presetClass="entr" presetSubtype="8" fill="hold" grpId="0" nodeType="clickEffect">
                                  <p:stCondLst>
                                    <p:cond delay="0"/>
                                  </p:stCondLst>
                                  <p:childTnLst>
                                    <p:set>
                                      <p:cBhvr>
                                        <p:cTn id="42" dur="1" fill="hold">
                                          <p:stCondLst>
                                            <p:cond delay="0"/>
                                          </p:stCondLst>
                                        </p:cTn>
                                        <p:tgtEl>
                                          <p:spTgt spid="259074">
                                            <p:txEl>
                                              <p:pRg st="6" end="6"/>
                                            </p:txEl>
                                          </p:spTgt>
                                        </p:tgtEl>
                                        <p:attrNameLst>
                                          <p:attrName>style.visibility</p:attrName>
                                        </p:attrNameLst>
                                      </p:cBhvr>
                                      <p:to>
                                        <p:strVal val="visible"/>
                                      </p:to>
                                    </p:set>
                                    <p:anim calcmode="lin" valueType="num">
                                      <p:cBhvr additive="base">
                                        <p:cTn id="43" dur="500" fill="hold"/>
                                        <p:tgtEl>
                                          <p:spTgt spid="259074">
                                            <p:txEl>
                                              <p:pRg st="6" end="6"/>
                                            </p:txEl>
                                          </p:spTgt>
                                        </p:tgtEl>
                                        <p:attrNameLst>
                                          <p:attrName>ppt_x</p:attrName>
                                        </p:attrNameLst>
                                      </p:cBhvr>
                                      <p:tavLst>
                                        <p:tav tm="0">
                                          <p:val>
                                            <p:strVal val="0-#ppt_w/2"/>
                                          </p:val>
                                        </p:tav>
                                        <p:tav tm="100000">
                                          <p:val>
                                            <p:strVal val="#ppt_x"/>
                                          </p:val>
                                        </p:tav>
                                      </p:tavLst>
                                    </p:anim>
                                    <p:anim calcmode="lin" valueType="num">
                                      <p:cBhvr additive="base">
                                        <p:cTn id="44" dur="500" fill="hold"/>
                                        <p:tgtEl>
                                          <p:spTgt spid="259074">
                                            <p:txEl>
                                              <p:pRg st="6" end="6"/>
                                            </p:txEl>
                                          </p:spTgt>
                                        </p:tgtEl>
                                        <p:attrNameLst>
                                          <p:attrName>ppt_y</p:attrName>
                                        </p:attrNameLst>
                                      </p:cBhvr>
                                      <p:tavLst>
                                        <p:tav tm="0">
                                          <p:val>
                                            <p:strVal val="#ppt_y"/>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2" presetClass="entr" presetSubtype="8" fill="hold" grpId="0" nodeType="clickEffect">
                                  <p:stCondLst>
                                    <p:cond delay="0"/>
                                  </p:stCondLst>
                                  <p:childTnLst>
                                    <p:set>
                                      <p:cBhvr>
                                        <p:cTn id="48" dur="1" fill="hold">
                                          <p:stCondLst>
                                            <p:cond delay="0"/>
                                          </p:stCondLst>
                                        </p:cTn>
                                        <p:tgtEl>
                                          <p:spTgt spid="259074">
                                            <p:txEl>
                                              <p:pRg st="7" end="7"/>
                                            </p:txEl>
                                          </p:spTgt>
                                        </p:tgtEl>
                                        <p:attrNameLst>
                                          <p:attrName>style.visibility</p:attrName>
                                        </p:attrNameLst>
                                      </p:cBhvr>
                                      <p:to>
                                        <p:strVal val="visible"/>
                                      </p:to>
                                    </p:set>
                                    <p:anim calcmode="lin" valueType="num">
                                      <p:cBhvr additive="base">
                                        <p:cTn id="49" dur="500" fill="hold"/>
                                        <p:tgtEl>
                                          <p:spTgt spid="259074">
                                            <p:txEl>
                                              <p:pRg st="7" end="7"/>
                                            </p:txEl>
                                          </p:spTgt>
                                        </p:tgtEl>
                                        <p:attrNameLst>
                                          <p:attrName>ppt_x</p:attrName>
                                        </p:attrNameLst>
                                      </p:cBhvr>
                                      <p:tavLst>
                                        <p:tav tm="0">
                                          <p:val>
                                            <p:strVal val="0-#ppt_w/2"/>
                                          </p:val>
                                        </p:tav>
                                        <p:tav tm="100000">
                                          <p:val>
                                            <p:strVal val="#ppt_x"/>
                                          </p:val>
                                        </p:tav>
                                      </p:tavLst>
                                    </p:anim>
                                    <p:anim calcmode="lin" valueType="num">
                                      <p:cBhvr additive="base">
                                        <p:cTn id="50" dur="500" fill="hold"/>
                                        <p:tgtEl>
                                          <p:spTgt spid="259074">
                                            <p:txEl>
                                              <p:pRg st="7" end="7"/>
                                            </p:txEl>
                                          </p:spTgt>
                                        </p:tgtEl>
                                        <p:attrNameLst>
                                          <p:attrName>ppt_y</p:attrName>
                                        </p:attrNameLst>
                                      </p:cBhvr>
                                      <p:tavLst>
                                        <p:tav tm="0">
                                          <p:val>
                                            <p:strVal val="#ppt_y"/>
                                          </p:val>
                                        </p:tav>
                                        <p:tav tm="100000">
                                          <p:val>
                                            <p:strVal val="#ppt_y"/>
                                          </p:val>
                                        </p:tav>
                                      </p:tavLst>
                                    </p:anim>
                                  </p:childTnLst>
                                </p:cTn>
                              </p:par>
                            </p:childTnLst>
                          </p:cTn>
                        </p:par>
                      </p:childTnLst>
                    </p:cTn>
                  </p:par>
                  <p:par>
                    <p:cTn id="51" fill="hold">
                      <p:stCondLst>
                        <p:cond delay="indefinite"/>
                      </p:stCondLst>
                      <p:childTnLst>
                        <p:par>
                          <p:cTn id="52" fill="hold">
                            <p:stCondLst>
                              <p:cond delay="0"/>
                            </p:stCondLst>
                            <p:childTnLst>
                              <p:par>
                                <p:cTn id="53" presetID="2" presetClass="entr" presetSubtype="8" fill="hold" grpId="0" nodeType="clickEffect">
                                  <p:stCondLst>
                                    <p:cond delay="0"/>
                                  </p:stCondLst>
                                  <p:childTnLst>
                                    <p:set>
                                      <p:cBhvr>
                                        <p:cTn id="54" dur="1" fill="hold">
                                          <p:stCondLst>
                                            <p:cond delay="0"/>
                                          </p:stCondLst>
                                        </p:cTn>
                                        <p:tgtEl>
                                          <p:spTgt spid="259074">
                                            <p:txEl>
                                              <p:pRg st="8" end="8"/>
                                            </p:txEl>
                                          </p:spTgt>
                                        </p:tgtEl>
                                        <p:attrNameLst>
                                          <p:attrName>style.visibility</p:attrName>
                                        </p:attrNameLst>
                                      </p:cBhvr>
                                      <p:to>
                                        <p:strVal val="visible"/>
                                      </p:to>
                                    </p:set>
                                    <p:anim calcmode="lin" valueType="num">
                                      <p:cBhvr additive="base">
                                        <p:cTn id="55" dur="500" fill="hold"/>
                                        <p:tgtEl>
                                          <p:spTgt spid="259074">
                                            <p:txEl>
                                              <p:pRg st="8" end="8"/>
                                            </p:txEl>
                                          </p:spTgt>
                                        </p:tgtEl>
                                        <p:attrNameLst>
                                          <p:attrName>ppt_x</p:attrName>
                                        </p:attrNameLst>
                                      </p:cBhvr>
                                      <p:tavLst>
                                        <p:tav tm="0">
                                          <p:val>
                                            <p:strVal val="0-#ppt_w/2"/>
                                          </p:val>
                                        </p:tav>
                                        <p:tav tm="100000">
                                          <p:val>
                                            <p:strVal val="#ppt_x"/>
                                          </p:val>
                                        </p:tav>
                                      </p:tavLst>
                                    </p:anim>
                                    <p:anim calcmode="lin" valueType="num">
                                      <p:cBhvr additive="base">
                                        <p:cTn id="56" dur="500" fill="hold"/>
                                        <p:tgtEl>
                                          <p:spTgt spid="259074">
                                            <p:txEl>
                                              <p:pRg st="8" end="8"/>
                                            </p:txEl>
                                          </p:spTgt>
                                        </p:tgtEl>
                                        <p:attrNameLst>
                                          <p:attrName>ppt_y</p:attrName>
                                        </p:attrNameLst>
                                      </p:cBhvr>
                                      <p:tavLst>
                                        <p:tav tm="0">
                                          <p:val>
                                            <p:strVal val="#ppt_y"/>
                                          </p:val>
                                        </p:tav>
                                        <p:tav tm="100000">
                                          <p:val>
                                            <p:strVal val="#ppt_y"/>
                                          </p:val>
                                        </p:tav>
                                      </p:tavLst>
                                    </p:anim>
                                  </p:childTnLst>
                                </p:cTn>
                              </p:par>
                            </p:childTnLst>
                          </p:cTn>
                        </p:par>
                      </p:childTnLst>
                    </p:cTn>
                  </p:par>
                  <p:par>
                    <p:cTn id="57" fill="hold">
                      <p:stCondLst>
                        <p:cond delay="indefinite"/>
                      </p:stCondLst>
                      <p:childTnLst>
                        <p:par>
                          <p:cTn id="58" fill="hold">
                            <p:stCondLst>
                              <p:cond delay="0"/>
                            </p:stCondLst>
                            <p:childTnLst>
                              <p:par>
                                <p:cTn id="59" presetID="2" presetClass="entr" presetSubtype="8" fill="hold" grpId="0" nodeType="clickEffect">
                                  <p:stCondLst>
                                    <p:cond delay="0"/>
                                  </p:stCondLst>
                                  <p:childTnLst>
                                    <p:set>
                                      <p:cBhvr>
                                        <p:cTn id="60" dur="1" fill="hold">
                                          <p:stCondLst>
                                            <p:cond delay="0"/>
                                          </p:stCondLst>
                                        </p:cTn>
                                        <p:tgtEl>
                                          <p:spTgt spid="259074">
                                            <p:txEl>
                                              <p:pRg st="9" end="9"/>
                                            </p:txEl>
                                          </p:spTgt>
                                        </p:tgtEl>
                                        <p:attrNameLst>
                                          <p:attrName>style.visibility</p:attrName>
                                        </p:attrNameLst>
                                      </p:cBhvr>
                                      <p:to>
                                        <p:strVal val="visible"/>
                                      </p:to>
                                    </p:set>
                                    <p:anim calcmode="lin" valueType="num">
                                      <p:cBhvr additive="base">
                                        <p:cTn id="61" dur="500" fill="hold"/>
                                        <p:tgtEl>
                                          <p:spTgt spid="259074">
                                            <p:txEl>
                                              <p:pRg st="9" end="9"/>
                                            </p:txEl>
                                          </p:spTgt>
                                        </p:tgtEl>
                                        <p:attrNameLst>
                                          <p:attrName>ppt_x</p:attrName>
                                        </p:attrNameLst>
                                      </p:cBhvr>
                                      <p:tavLst>
                                        <p:tav tm="0">
                                          <p:val>
                                            <p:strVal val="0-#ppt_w/2"/>
                                          </p:val>
                                        </p:tav>
                                        <p:tav tm="100000">
                                          <p:val>
                                            <p:strVal val="#ppt_x"/>
                                          </p:val>
                                        </p:tav>
                                      </p:tavLst>
                                    </p:anim>
                                    <p:anim calcmode="lin" valueType="num">
                                      <p:cBhvr additive="base">
                                        <p:cTn id="62" dur="500" fill="hold"/>
                                        <p:tgtEl>
                                          <p:spTgt spid="259074">
                                            <p:txEl>
                                              <p:pRg st="9" end="9"/>
                                            </p:txEl>
                                          </p:spTgt>
                                        </p:tgtEl>
                                        <p:attrNameLst>
                                          <p:attrName>ppt_y</p:attrName>
                                        </p:attrNameLst>
                                      </p:cBhvr>
                                      <p:tavLst>
                                        <p:tav tm="0">
                                          <p:val>
                                            <p:strVal val="#ppt_y"/>
                                          </p:val>
                                        </p:tav>
                                        <p:tav tm="100000">
                                          <p:val>
                                            <p:strVal val="#ppt_y"/>
                                          </p:val>
                                        </p:tav>
                                      </p:tavLst>
                                    </p:anim>
                                  </p:childTnLst>
                                </p:cTn>
                              </p:par>
                            </p:childTnLst>
                          </p:cTn>
                        </p:par>
                      </p:childTnLst>
                    </p:cTn>
                  </p:par>
                  <p:par>
                    <p:cTn id="63" fill="hold">
                      <p:stCondLst>
                        <p:cond delay="indefinite"/>
                      </p:stCondLst>
                      <p:childTnLst>
                        <p:par>
                          <p:cTn id="64" fill="hold">
                            <p:stCondLst>
                              <p:cond delay="0"/>
                            </p:stCondLst>
                            <p:childTnLst>
                              <p:par>
                                <p:cTn id="65" presetID="2" presetClass="entr" presetSubtype="8" fill="hold" grpId="0" nodeType="clickEffect">
                                  <p:stCondLst>
                                    <p:cond delay="0"/>
                                  </p:stCondLst>
                                  <p:childTnLst>
                                    <p:set>
                                      <p:cBhvr>
                                        <p:cTn id="66" dur="1" fill="hold">
                                          <p:stCondLst>
                                            <p:cond delay="0"/>
                                          </p:stCondLst>
                                        </p:cTn>
                                        <p:tgtEl>
                                          <p:spTgt spid="259074">
                                            <p:txEl>
                                              <p:pRg st="10" end="10"/>
                                            </p:txEl>
                                          </p:spTgt>
                                        </p:tgtEl>
                                        <p:attrNameLst>
                                          <p:attrName>style.visibility</p:attrName>
                                        </p:attrNameLst>
                                      </p:cBhvr>
                                      <p:to>
                                        <p:strVal val="visible"/>
                                      </p:to>
                                    </p:set>
                                    <p:anim calcmode="lin" valueType="num">
                                      <p:cBhvr additive="base">
                                        <p:cTn id="67" dur="500" fill="hold"/>
                                        <p:tgtEl>
                                          <p:spTgt spid="259074">
                                            <p:txEl>
                                              <p:pRg st="10" end="10"/>
                                            </p:txEl>
                                          </p:spTgt>
                                        </p:tgtEl>
                                        <p:attrNameLst>
                                          <p:attrName>ppt_x</p:attrName>
                                        </p:attrNameLst>
                                      </p:cBhvr>
                                      <p:tavLst>
                                        <p:tav tm="0">
                                          <p:val>
                                            <p:strVal val="0-#ppt_w/2"/>
                                          </p:val>
                                        </p:tav>
                                        <p:tav tm="100000">
                                          <p:val>
                                            <p:strVal val="#ppt_x"/>
                                          </p:val>
                                        </p:tav>
                                      </p:tavLst>
                                    </p:anim>
                                    <p:anim calcmode="lin" valueType="num">
                                      <p:cBhvr additive="base">
                                        <p:cTn id="68" dur="500" fill="hold"/>
                                        <p:tgtEl>
                                          <p:spTgt spid="259074">
                                            <p:txEl>
                                              <p:pRg st="10" end="10"/>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9074" grpId="0" build="p" bldLvl="3" autoUpdateAnimBg="0"/>
    </p:bldLst>
  </p:timing>
</p:sld>
</file>

<file path=ppt/slides/slide51.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62146" name="Rectangle 2"/>
          <p:cNvSpPr>
            <a:spLocks noGrp="1" noChangeArrowheads="1"/>
          </p:cNvSpPr>
          <p:nvPr>
            <p:ph idx="1"/>
          </p:nvPr>
        </p:nvSpPr>
        <p:spPr>
          <a:xfrm>
            <a:off x="838200" y="304800"/>
            <a:ext cx="8077200" cy="5715000"/>
          </a:xfrm>
        </p:spPr>
        <p:txBody>
          <a:bodyPr/>
          <a:lstStyle/>
          <a:p>
            <a:pPr eaLnBrk="1" hangingPunct="1">
              <a:lnSpc>
                <a:spcPct val="90000"/>
              </a:lnSpc>
              <a:buFont typeface="Monotype Sorts" pitchFamily="2" charset="2"/>
              <a:buNone/>
            </a:pPr>
            <a:r>
              <a:rPr lang="en-US" sz="3600" b="1" smtClean="0">
                <a:solidFill>
                  <a:schemeClr val="tx2"/>
                </a:solidFill>
              </a:rPr>
              <a:t>Chemical Methods of Control</a:t>
            </a:r>
          </a:p>
          <a:p>
            <a:pPr eaLnBrk="1" hangingPunct="1">
              <a:lnSpc>
                <a:spcPct val="90000"/>
              </a:lnSpc>
              <a:buFont typeface="Monotype Sorts" pitchFamily="2" charset="2"/>
              <a:buNone/>
            </a:pPr>
            <a:r>
              <a:rPr lang="en-US" sz="3600" b="1" smtClean="0">
                <a:solidFill>
                  <a:schemeClr val="tx2"/>
                </a:solidFill>
              </a:rPr>
              <a:t>Types of Disinfectants</a:t>
            </a:r>
          </a:p>
          <a:p>
            <a:pPr eaLnBrk="1" hangingPunct="1">
              <a:lnSpc>
                <a:spcPct val="90000"/>
              </a:lnSpc>
              <a:buFont typeface="Monotype Sorts" pitchFamily="2" charset="2"/>
              <a:buNone/>
            </a:pPr>
            <a:r>
              <a:rPr lang="en-US" sz="2800" b="1" smtClean="0"/>
              <a:t>6. Aldehydes: </a:t>
            </a:r>
            <a:endParaRPr lang="en-US" sz="2400" smtClean="0"/>
          </a:p>
          <a:p>
            <a:pPr eaLnBrk="1" hangingPunct="1">
              <a:lnSpc>
                <a:spcPct val="90000"/>
              </a:lnSpc>
              <a:buSzPct val="75000"/>
              <a:buFont typeface="Monotype Sorts" pitchFamily="2" charset="2"/>
              <a:buChar char="u"/>
            </a:pPr>
            <a:r>
              <a:rPr lang="en-US" sz="2400" smtClean="0"/>
              <a:t> Include some of the most effective antimicrobials.</a:t>
            </a:r>
          </a:p>
          <a:p>
            <a:pPr eaLnBrk="1" hangingPunct="1">
              <a:lnSpc>
                <a:spcPct val="90000"/>
              </a:lnSpc>
              <a:buSzPct val="75000"/>
              <a:buFont typeface="Monotype Sorts" pitchFamily="2" charset="2"/>
              <a:buChar char="u"/>
            </a:pPr>
            <a:r>
              <a:rPr lang="en-US" sz="2400" smtClean="0"/>
              <a:t> Inactivate proteins by forming covalent crosslinks with several functional groups.</a:t>
            </a:r>
          </a:p>
          <a:p>
            <a:pPr eaLnBrk="1" hangingPunct="1">
              <a:lnSpc>
                <a:spcPct val="90000"/>
              </a:lnSpc>
              <a:buSzPct val="75000"/>
              <a:buFont typeface="Monotype Sorts" pitchFamily="2" charset="2"/>
              <a:buNone/>
            </a:pPr>
            <a:r>
              <a:rPr lang="en-US" sz="2400" b="1" smtClean="0"/>
              <a:t>A. Formaldehyde gas:</a:t>
            </a:r>
          </a:p>
          <a:p>
            <a:pPr eaLnBrk="1" hangingPunct="1">
              <a:lnSpc>
                <a:spcPct val="90000"/>
              </a:lnSpc>
              <a:buSzPct val="75000"/>
              <a:buFont typeface="Monotype Sorts" pitchFamily="2" charset="2"/>
              <a:buChar char="u"/>
            </a:pPr>
            <a:r>
              <a:rPr lang="en-US" sz="2400" smtClean="0"/>
              <a:t> Excellent disinfectant.</a:t>
            </a:r>
          </a:p>
          <a:p>
            <a:pPr eaLnBrk="1" hangingPunct="1">
              <a:lnSpc>
                <a:spcPct val="90000"/>
              </a:lnSpc>
              <a:buSzPct val="75000"/>
              <a:buFont typeface="Monotype Sorts" pitchFamily="2" charset="2"/>
              <a:buChar char="u"/>
            </a:pPr>
            <a:r>
              <a:rPr lang="en-US" sz="2400" smtClean="0"/>
              <a:t> Commonly used as </a:t>
            </a:r>
            <a:r>
              <a:rPr lang="en-US" sz="2400" b="1" u="sng" smtClean="0"/>
              <a:t>formalin</a:t>
            </a:r>
            <a:r>
              <a:rPr lang="en-US" sz="2400" smtClean="0"/>
              <a:t>, a 37% aqueous solution.</a:t>
            </a:r>
          </a:p>
          <a:p>
            <a:pPr eaLnBrk="1" hangingPunct="1">
              <a:lnSpc>
                <a:spcPct val="90000"/>
              </a:lnSpc>
              <a:buSzPct val="75000"/>
              <a:buFont typeface="Monotype Sorts" pitchFamily="2" charset="2"/>
              <a:buChar char="u"/>
            </a:pPr>
            <a:r>
              <a:rPr lang="en-US" sz="2400" smtClean="0"/>
              <a:t> Formalin was used extensively to preserve biological specimens and inactivate viruses and bacteria in vaccines.</a:t>
            </a:r>
          </a:p>
          <a:p>
            <a:pPr eaLnBrk="1" hangingPunct="1">
              <a:lnSpc>
                <a:spcPct val="90000"/>
              </a:lnSpc>
              <a:buSzPct val="75000"/>
              <a:buFont typeface="Monotype Sorts" pitchFamily="2" charset="2"/>
              <a:buChar char="u"/>
            </a:pPr>
            <a:r>
              <a:rPr lang="en-US" sz="2400" smtClean="0"/>
              <a:t> Irritates mucous membranes, strong odor.</a:t>
            </a:r>
          </a:p>
          <a:p>
            <a:pPr eaLnBrk="1" hangingPunct="1">
              <a:lnSpc>
                <a:spcPct val="90000"/>
              </a:lnSpc>
              <a:buSzPct val="75000"/>
              <a:buFont typeface="Monotype Sorts" pitchFamily="2" charset="2"/>
              <a:buChar char="u"/>
            </a:pPr>
            <a:r>
              <a:rPr lang="en-US" sz="2400" smtClean="0"/>
              <a:t> Also used in mortuaries for embalming.</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262146">
                                            <p:txEl>
                                              <p:pRg st="0" end="0"/>
                                            </p:txEl>
                                          </p:spTgt>
                                        </p:tgtEl>
                                        <p:attrNameLst>
                                          <p:attrName>style.visibility</p:attrName>
                                        </p:attrNameLst>
                                      </p:cBhvr>
                                      <p:to>
                                        <p:strVal val="visible"/>
                                      </p:to>
                                    </p:set>
                                    <p:anim calcmode="lin" valueType="num">
                                      <p:cBhvr additive="base">
                                        <p:cTn id="7" dur="500" fill="hold"/>
                                        <p:tgtEl>
                                          <p:spTgt spid="262146">
                                            <p:txEl>
                                              <p:pRg st="0" end="0"/>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262146">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262146">
                                            <p:txEl>
                                              <p:pRg st="1" end="1"/>
                                            </p:txEl>
                                          </p:spTgt>
                                        </p:tgtEl>
                                        <p:attrNameLst>
                                          <p:attrName>style.visibility</p:attrName>
                                        </p:attrNameLst>
                                      </p:cBhvr>
                                      <p:to>
                                        <p:strVal val="visible"/>
                                      </p:to>
                                    </p:set>
                                    <p:anim calcmode="lin" valueType="num">
                                      <p:cBhvr additive="base">
                                        <p:cTn id="13" dur="500" fill="hold"/>
                                        <p:tgtEl>
                                          <p:spTgt spid="262146">
                                            <p:txEl>
                                              <p:pRg st="1" end="1"/>
                                            </p:txEl>
                                          </p:spTgt>
                                        </p:tgtEl>
                                        <p:attrNameLst>
                                          <p:attrName>ppt_x</p:attrName>
                                        </p:attrNameLst>
                                      </p:cBhvr>
                                      <p:tavLst>
                                        <p:tav tm="0">
                                          <p:val>
                                            <p:strVal val="0-#ppt_w/2"/>
                                          </p:val>
                                        </p:tav>
                                        <p:tav tm="100000">
                                          <p:val>
                                            <p:strVal val="#ppt_x"/>
                                          </p:val>
                                        </p:tav>
                                      </p:tavLst>
                                    </p:anim>
                                    <p:anim calcmode="lin" valueType="num">
                                      <p:cBhvr additive="base">
                                        <p:cTn id="14" dur="500" fill="hold"/>
                                        <p:tgtEl>
                                          <p:spTgt spid="262146">
                                            <p:txEl>
                                              <p:pRg st="1" end="1"/>
                                            </p:txEl>
                                          </p:spTgt>
                                        </p:tgtEl>
                                        <p:attrNameLst>
                                          <p:attrName>ppt_y</p:attrName>
                                        </p:attrNameLst>
                                      </p:cBhvr>
                                      <p:tavLst>
                                        <p:tav tm="0">
                                          <p:val>
                                            <p:strVal val="#ppt_y"/>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8" fill="hold" grpId="0" nodeType="clickEffect">
                                  <p:stCondLst>
                                    <p:cond delay="0"/>
                                  </p:stCondLst>
                                  <p:childTnLst>
                                    <p:set>
                                      <p:cBhvr>
                                        <p:cTn id="18" dur="1" fill="hold">
                                          <p:stCondLst>
                                            <p:cond delay="0"/>
                                          </p:stCondLst>
                                        </p:cTn>
                                        <p:tgtEl>
                                          <p:spTgt spid="262146">
                                            <p:txEl>
                                              <p:pRg st="2" end="2"/>
                                            </p:txEl>
                                          </p:spTgt>
                                        </p:tgtEl>
                                        <p:attrNameLst>
                                          <p:attrName>style.visibility</p:attrName>
                                        </p:attrNameLst>
                                      </p:cBhvr>
                                      <p:to>
                                        <p:strVal val="visible"/>
                                      </p:to>
                                    </p:set>
                                    <p:anim calcmode="lin" valueType="num">
                                      <p:cBhvr additive="base">
                                        <p:cTn id="19" dur="500" fill="hold"/>
                                        <p:tgtEl>
                                          <p:spTgt spid="262146">
                                            <p:txEl>
                                              <p:pRg st="2" end="2"/>
                                            </p:txEl>
                                          </p:spTgt>
                                        </p:tgtEl>
                                        <p:attrNameLst>
                                          <p:attrName>ppt_x</p:attrName>
                                        </p:attrNameLst>
                                      </p:cBhvr>
                                      <p:tavLst>
                                        <p:tav tm="0">
                                          <p:val>
                                            <p:strVal val="0-#ppt_w/2"/>
                                          </p:val>
                                        </p:tav>
                                        <p:tav tm="100000">
                                          <p:val>
                                            <p:strVal val="#ppt_x"/>
                                          </p:val>
                                        </p:tav>
                                      </p:tavLst>
                                    </p:anim>
                                    <p:anim calcmode="lin" valueType="num">
                                      <p:cBhvr additive="base">
                                        <p:cTn id="20" dur="500" fill="hold"/>
                                        <p:tgtEl>
                                          <p:spTgt spid="262146">
                                            <p:txEl>
                                              <p:pRg st="2" end="2"/>
                                            </p:txEl>
                                          </p:spTgt>
                                        </p:tgtEl>
                                        <p:attrNameLst>
                                          <p:attrName>ppt_y</p:attrName>
                                        </p:attrNameLst>
                                      </p:cBhvr>
                                      <p:tavLst>
                                        <p:tav tm="0">
                                          <p:val>
                                            <p:strVal val="#ppt_y"/>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8" fill="hold" grpId="0" nodeType="clickEffect">
                                  <p:stCondLst>
                                    <p:cond delay="0"/>
                                  </p:stCondLst>
                                  <p:childTnLst>
                                    <p:set>
                                      <p:cBhvr>
                                        <p:cTn id="24" dur="1" fill="hold">
                                          <p:stCondLst>
                                            <p:cond delay="0"/>
                                          </p:stCondLst>
                                        </p:cTn>
                                        <p:tgtEl>
                                          <p:spTgt spid="262146">
                                            <p:txEl>
                                              <p:pRg st="3" end="3"/>
                                            </p:txEl>
                                          </p:spTgt>
                                        </p:tgtEl>
                                        <p:attrNameLst>
                                          <p:attrName>style.visibility</p:attrName>
                                        </p:attrNameLst>
                                      </p:cBhvr>
                                      <p:to>
                                        <p:strVal val="visible"/>
                                      </p:to>
                                    </p:set>
                                    <p:anim calcmode="lin" valueType="num">
                                      <p:cBhvr additive="base">
                                        <p:cTn id="25" dur="500" fill="hold"/>
                                        <p:tgtEl>
                                          <p:spTgt spid="262146">
                                            <p:txEl>
                                              <p:pRg st="3" end="3"/>
                                            </p:txEl>
                                          </p:spTgt>
                                        </p:tgtEl>
                                        <p:attrNameLst>
                                          <p:attrName>ppt_x</p:attrName>
                                        </p:attrNameLst>
                                      </p:cBhvr>
                                      <p:tavLst>
                                        <p:tav tm="0">
                                          <p:val>
                                            <p:strVal val="0-#ppt_w/2"/>
                                          </p:val>
                                        </p:tav>
                                        <p:tav tm="100000">
                                          <p:val>
                                            <p:strVal val="#ppt_x"/>
                                          </p:val>
                                        </p:tav>
                                      </p:tavLst>
                                    </p:anim>
                                    <p:anim calcmode="lin" valueType="num">
                                      <p:cBhvr additive="base">
                                        <p:cTn id="26" dur="500" fill="hold"/>
                                        <p:tgtEl>
                                          <p:spTgt spid="262146">
                                            <p:txEl>
                                              <p:pRg st="3" end="3"/>
                                            </p:txEl>
                                          </p:spTgt>
                                        </p:tgtEl>
                                        <p:attrNameLst>
                                          <p:attrName>ppt_y</p:attrName>
                                        </p:attrNameLst>
                                      </p:cBhvr>
                                      <p:tavLst>
                                        <p:tav tm="0">
                                          <p:val>
                                            <p:strVal val="#ppt_y"/>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8" fill="hold" grpId="0" nodeType="clickEffect">
                                  <p:stCondLst>
                                    <p:cond delay="0"/>
                                  </p:stCondLst>
                                  <p:childTnLst>
                                    <p:set>
                                      <p:cBhvr>
                                        <p:cTn id="30" dur="1" fill="hold">
                                          <p:stCondLst>
                                            <p:cond delay="0"/>
                                          </p:stCondLst>
                                        </p:cTn>
                                        <p:tgtEl>
                                          <p:spTgt spid="262146">
                                            <p:txEl>
                                              <p:pRg st="4" end="4"/>
                                            </p:txEl>
                                          </p:spTgt>
                                        </p:tgtEl>
                                        <p:attrNameLst>
                                          <p:attrName>style.visibility</p:attrName>
                                        </p:attrNameLst>
                                      </p:cBhvr>
                                      <p:to>
                                        <p:strVal val="visible"/>
                                      </p:to>
                                    </p:set>
                                    <p:anim calcmode="lin" valueType="num">
                                      <p:cBhvr additive="base">
                                        <p:cTn id="31" dur="500" fill="hold"/>
                                        <p:tgtEl>
                                          <p:spTgt spid="262146">
                                            <p:txEl>
                                              <p:pRg st="4" end="4"/>
                                            </p:txEl>
                                          </p:spTgt>
                                        </p:tgtEl>
                                        <p:attrNameLst>
                                          <p:attrName>ppt_x</p:attrName>
                                        </p:attrNameLst>
                                      </p:cBhvr>
                                      <p:tavLst>
                                        <p:tav tm="0">
                                          <p:val>
                                            <p:strVal val="0-#ppt_w/2"/>
                                          </p:val>
                                        </p:tav>
                                        <p:tav tm="100000">
                                          <p:val>
                                            <p:strVal val="#ppt_x"/>
                                          </p:val>
                                        </p:tav>
                                      </p:tavLst>
                                    </p:anim>
                                    <p:anim calcmode="lin" valueType="num">
                                      <p:cBhvr additive="base">
                                        <p:cTn id="32" dur="500" fill="hold"/>
                                        <p:tgtEl>
                                          <p:spTgt spid="262146">
                                            <p:txEl>
                                              <p:pRg st="4" end="4"/>
                                            </p:txEl>
                                          </p:spTgt>
                                        </p:tgtEl>
                                        <p:attrNameLst>
                                          <p:attrName>ppt_y</p:attrName>
                                        </p:attrNameLst>
                                      </p:cBhvr>
                                      <p:tavLst>
                                        <p:tav tm="0">
                                          <p:val>
                                            <p:strVal val="#ppt_y"/>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8" fill="hold" grpId="0" nodeType="clickEffect">
                                  <p:stCondLst>
                                    <p:cond delay="0"/>
                                  </p:stCondLst>
                                  <p:childTnLst>
                                    <p:set>
                                      <p:cBhvr>
                                        <p:cTn id="36" dur="1" fill="hold">
                                          <p:stCondLst>
                                            <p:cond delay="0"/>
                                          </p:stCondLst>
                                        </p:cTn>
                                        <p:tgtEl>
                                          <p:spTgt spid="262146">
                                            <p:txEl>
                                              <p:pRg st="5" end="5"/>
                                            </p:txEl>
                                          </p:spTgt>
                                        </p:tgtEl>
                                        <p:attrNameLst>
                                          <p:attrName>style.visibility</p:attrName>
                                        </p:attrNameLst>
                                      </p:cBhvr>
                                      <p:to>
                                        <p:strVal val="visible"/>
                                      </p:to>
                                    </p:set>
                                    <p:anim calcmode="lin" valueType="num">
                                      <p:cBhvr additive="base">
                                        <p:cTn id="37" dur="500" fill="hold"/>
                                        <p:tgtEl>
                                          <p:spTgt spid="262146">
                                            <p:txEl>
                                              <p:pRg st="5" end="5"/>
                                            </p:txEl>
                                          </p:spTgt>
                                        </p:tgtEl>
                                        <p:attrNameLst>
                                          <p:attrName>ppt_x</p:attrName>
                                        </p:attrNameLst>
                                      </p:cBhvr>
                                      <p:tavLst>
                                        <p:tav tm="0">
                                          <p:val>
                                            <p:strVal val="0-#ppt_w/2"/>
                                          </p:val>
                                        </p:tav>
                                        <p:tav tm="100000">
                                          <p:val>
                                            <p:strVal val="#ppt_x"/>
                                          </p:val>
                                        </p:tav>
                                      </p:tavLst>
                                    </p:anim>
                                    <p:anim calcmode="lin" valueType="num">
                                      <p:cBhvr additive="base">
                                        <p:cTn id="38" dur="500" fill="hold"/>
                                        <p:tgtEl>
                                          <p:spTgt spid="262146">
                                            <p:txEl>
                                              <p:pRg st="5" end="5"/>
                                            </p:txEl>
                                          </p:spTgt>
                                        </p:tgtEl>
                                        <p:attrNameLst>
                                          <p:attrName>ppt_y</p:attrName>
                                        </p:attrNameLst>
                                      </p:cBhvr>
                                      <p:tavLst>
                                        <p:tav tm="0">
                                          <p:val>
                                            <p:strVal val="#ppt_y"/>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2" presetClass="entr" presetSubtype="8" fill="hold" grpId="0" nodeType="clickEffect">
                                  <p:stCondLst>
                                    <p:cond delay="0"/>
                                  </p:stCondLst>
                                  <p:childTnLst>
                                    <p:set>
                                      <p:cBhvr>
                                        <p:cTn id="42" dur="1" fill="hold">
                                          <p:stCondLst>
                                            <p:cond delay="0"/>
                                          </p:stCondLst>
                                        </p:cTn>
                                        <p:tgtEl>
                                          <p:spTgt spid="262146">
                                            <p:txEl>
                                              <p:pRg st="6" end="6"/>
                                            </p:txEl>
                                          </p:spTgt>
                                        </p:tgtEl>
                                        <p:attrNameLst>
                                          <p:attrName>style.visibility</p:attrName>
                                        </p:attrNameLst>
                                      </p:cBhvr>
                                      <p:to>
                                        <p:strVal val="visible"/>
                                      </p:to>
                                    </p:set>
                                    <p:anim calcmode="lin" valueType="num">
                                      <p:cBhvr additive="base">
                                        <p:cTn id="43" dur="500" fill="hold"/>
                                        <p:tgtEl>
                                          <p:spTgt spid="262146">
                                            <p:txEl>
                                              <p:pRg st="6" end="6"/>
                                            </p:txEl>
                                          </p:spTgt>
                                        </p:tgtEl>
                                        <p:attrNameLst>
                                          <p:attrName>ppt_x</p:attrName>
                                        </p:attrNameLst>
                                      </p:cBhvr>
                                      <p:tavLst>
                                        <p:tav tm="0">
                                          <p:val>
                                            <p:strVal val="0-#ppt_w/2"/>
                                          </p:val>
                                        </p:tav>
                                        <p:tav tm="100000">
                                          <p:val>
                                            <p:strVal val="#ppt_x"/>
                                          </p:val>
                                        </p:tav>
                                      </p:tavLst>
                                    </p:anim>
                                    <p:anim calcmode="lin" valueType="num">
                                      <p:cBhvr additive="base">
                                        <p:cTn id="44" dur="500" fill="hold"/>
                                        <p:tgtEl>
                                          <p:spTgt spid="262146">
                                            <p:txEl>
                                              <p:pRg st="6" end="6"/>
                                            </p:txEl>
                                          </p:spTgt>
                                        </p:tgtEl>
                                        <p:attrNameLst>
                                          <p:attrName>ppt_y</p:attrName>
                                        </p:attrNameLst>
                                      </p:cBhvr>
                                      <p:tavLst>
                                        <p:tav tm="0">
                                          <p:val>
                                            <p:strVal val="#ppt_y"/>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2" presetClass="entr" presetSubtype="8" fill="hold" grpId="0" nodeType="clickEffect">
                                  <p:stCondLst>
                                    <p:cond delay="0"/>
                                  </p:stCondLst>
                                  <p:childTnLst>
                                    <p:set>
                                      <p:cBhvr>
                                        <p:cTn id="48" dur="1" fill="hold">
                                          <p:stCondLst>
                                            <p:cond delay="0"/>
                                          </p:stCondLst>
                                        </p:cTn>
                                        <p:tgtEl>
                                          <p:spTgt spid="262146">
                                            <p:txEl>
                                              <p:pRg st="7" end="7"/>
                                            </p:txEl>
                                          </p:spTgt>
                                        </p:tgtEl>
                                        <p:attrNameLst>
                                          <p:attrName>style.visibility</p:attrName>
                                        </p:attrNameLst>
                                      </p:cBhvr>
                                      <p:to>
                                        <p:strVal val="visible"/>
                                      </p:to>
                                    </p:set>
                                    <p:anim calcmode="lin" valueType="num">
                                      <p:cBhvr additive="base">
                                        <p:cTn id="49" dur="500" fill="hold"/>
                                        <p:tgtEl>
                                          <p:spTgt spid="262146">
                                            <p:txEl>
                                              <p:pRg st="7" end="7"/>
                                            </p:txEl>
                                          </p:spTgt>
                                        </p:tgtEl>
                                        <p:attrNameLst>
                                          <p:attrName>ppt_x</p:attrName>
                                        </p:attrNameLst>
                                      </p:cBhvr>
                                      <p:tavLst>
                                        <p:tav tm="0">
                                          <p:val>
                                            <p:strVal val="0-#ppt_w/2"/>
                                          </p:val>
                                        </p:tav>
                                        <p:tav tm="100000">
                                          <p:val>
                                            <p:strVal val="#ppt_x"/>
                                          </p:val>
                                        </p:tav>
                                      </p:tavLst>
                                    </p:anim>
                                    <p:anim calcmode="lin" valueType="num">
                                      <p:cBhvr additive="base">
                                        <p:cTn id="50" dur="500" fill="hold"/>
                                        <p:tgtEl>
                                          <p:spTgt spid="262146">
                                            <p:txEl>
                                              <p:pRg st="7" end="7"/>
                                            </p:txEl>
                                          </p:spTgt>
                                        </p:tgtEl>
                                        <p:attrNameLst>
                                          <p:attrName>ppt_y</p:attrName>
                                        </p:attrNameLst>
                                      </p:cBhvr>
                                      <p:tavLst>
                                        <p:tav tm="0">
                                          <p:val>
                                            <p:strVal val="#ppt_y"/>
                                          </p:val>
                                        </p:tav>
                                        <p:tav tm="100000">
                                          <p:val>
                                            <p:strVal val="#ppt_y"/>
                                          </p:val>
                                        </p:tav>
                                      </p:tavLst>
                                    </p:anim>
                                  </p:childTnLst>
                                </p:cTn>
                              </p:par>
                            </p:childTnLst>
                          </p:cTn>
                        </p:par>
                      </p:childTnLst>
                    </p:cTn>
                  </p:par>
                  <p:par>
                    <p:cTn id="51" fill="hold">
                      <p:stCondLst>
                        <p:cond delay="indefinite"/>
                      </p:stCondLst>
                      <p:childTnLst>
                        <p:par>
                          <p:cTn id="52" fill="hold">
                            <p:stCondLst>
                              <p:cond delay="0"/>
                            </p:stCondLst>
                            <p:childTnLst>
                              <p:par>
                                <p:cTn id="53" presetID="2" presetClass="entr" presetSubtype="8" fill="hold" grpId="0" nodeType="clickEffect">
                                  <p:stCondLst>
                                    <p:cond delay="0"/>
                                  </p:stCondLst>
                                  <p:childTnLst>
                                    <p:set>
                                      <p:cBhvr>
                                        <p:cTn id="54" dur="1" fill="hold">
                                          <p:stCondLst>
                                            <p:cond delay="0"/>
                                          </p:stCondLst>
                                        </p:cTn>
                                        <p:tgtEl>
                                          <p:spTgt spid="262146">
                                            <p:txEl>
                                              <p:pRg st="8" end="8"/>
                                            </p:txEl>
                                          </p:spTgt>
                                        </p:tgtEl>
                                        <p:attrNameLst>
                                          <p:attrName>style.visibility</p:attrName>
                                        </p:attrNameLst>
                                      </p:cBhvr>
                                      <p:to>
                                        <p:strVal val="visible"/>
                                      </p:to>
                                    </p:set>
                                    <p:anim calcmode="lin" valueType="num">
                                      <p:cBhvr additive="base">
                                        <p:cTn id="55" dur="500" fill="hold"/>
                                        <p:tgtEl>
                                          <p:spTgt spid="262146">
                                            <p:txEl>
                                              <p:pRg st="8" end="8"/>
                                            </p:txEl>
                                          </p:spTgt>
                                        </p:tgtEl>
                                        <p:attrNameLst>
                                          <p:attrName>ppt_x</p:attrName>
                                        </p:attrNameLst>
                                      </p:cBhvr>
                                      <p:tavLst>
                                        <p:tav tm="0">
                                          <p:val>
                                            <p:strVal val="0-#ppt_w/2"/>
                                          </p:val>
                                        </p:tav>
                                        <p:tav tm="100000">
                                          <p:val>
                                            <p:strVal val="#ppt_x"/>
                                          </p:val>
                                        </p:tav>
                                      </p:tavLst>
                                    </p:anim>
                                    <p:anim calcmode="lin" valueType="num">
                                      <p:cBhvr additive="base">
                                        <p:cTn id="56" dur="500" fill="hold"/>
                                        <p:tgtEl>
                                          <p:spTgt spid="262146">
                                            <p:txEl>
                                              <p:pRg st="8" end="8"/>
                                            </p:txEl>
                                          </p:spTgt>
                                        </p:tgtEl>
                                        <p:attrNameLst>
                                          <p:attrName>ppt_y</p:attrName>
                                        </p:attrNameLst>
                                      </p:cBhvr>
                                      <p:tavLst>
                                        <p:tav tm="0">
                                          <p:val>
                                            <p:strVal val="#ppt_y"/>
                                          </p:val>
                                        </p:tav>
                                        <p:tav tm="100000">
                                          <p:val>
                                            <p:strVal val="#ppt_y"/>
                                          </p:val>
                                        </p:tav>
                                      </p:tavLst>
                                    </p:anim>
                                  </p:childTnLst>
                                </p:cTn>
                              </p:par>
                            </p:childTnLst>
                          </p:cTn>
                        </p:par>
                      </p:childTnLst>
                    </p:cTn>
                  </p:par>
                  <p:par>
                    <p:cTn id="57" fill="hold">
                      <p:stCondLst>
                        <p:cond delay="indefinite"/>
                      </p:stCondLst>
                      <p:childTnLst>
                        <p:par>
                          <p:cTn id="58" fill="hold">
                            <p:stCondLst>
                              <p:cond delay="0"/>
                            </p:stCondLst>
                            <p:childTnLst>
                              <p:par>
                                <p:cTn id="59" presetID="2" presetClass="entr" presetSubtype="8" fill="hold" grpId="0" nodeType="clickEffect">
                                  <p:stCondLst>
                                    <p:cond delay="0"/>
                                  </p:stCondLst>
                                  <p:childTnLst>
                                    <p:set>
                                      <p:cBhvr>
                                        <p:cTn id="60" dur="1" fill="hold">
                                          <p:stCondLst>
                                            <p:cond delay="0"/>
                                          </p:stCondLst>
                                        </p:cTn>
                                        <p:tgtEl>
                                          <p:spTgt spid="262146">
                                            <p:txEl>
                                              <p:pRg st="9" end="9"/>
                                            </p:txEl>
                                          </p:spTgt>
                                        </p:tgtEl>
                                        <p:attrNameLst>
                                          <p:attrName>style.visibility</p:attrName>
                                        </p:attrNameLst>
                                      </p:cBhvr>
                                      <p:to>
                                        <p:strVal val="visible"/>
                                      </p:to>
                                    </p:set>
                                    <p:anim calcmode="lin" valueType="num">
                                      <p:cBhvr additive="base">
                                        <p:cTn id="61" dur="500" fill="hold"/>
                                        <p:tgtEl>
                                          <p:spTgt spid="262146">
                                            <p:txEl>
                                              <p:pRg st="9" end="9"/>
                                            </p:txEl>
                                          </p:spTgt>
                                        </p:tgtEl>
                                        <p:attrNameLst>
                                          <p:attrName>ppt_x</p:attrName>
                                        </p:attrNameLst>
                                      </p:cBhvr>
                                      <p:tavLst>
                                        <p:tav tm="0">
                                          <p:val>
                                            <p:strVal val="0-#ppt_w/2"/>
                                          </p:val>
                                        </p:tav>
                                        <p:tav tm="100000">
                                          <p:val>
                                            <p:strVal val="#ppt_x"/>
                                          </p:val>
                                        </p:tav>
                                      </p:tavLst>
                                    </p:anim>
                                    <p:anim calcmode="lin" valueType="num">
                                      <p:cBhvr additive="base">
                                        <p:cTn id="62" dur="500" fill="hold"/>
                                        <p:tgtEl>
                                          <p:spTgt spid="262146">
                                            <p:txEl>
                                              <p:pRg st="9" end="9"/>
                                            </p:txEl>
                                          </p:spTgt>
                                        </p:tgtEl>
                                        <p:attrNameLst>
                                          <p:attrName>ppt_y</p:attrName>
                                        </p:attrNameLst>
                                      </p:cBhvr>
                                      <p:tavLst>
                                        <p:tav tm="0">
                                          <p:val>
                                            <p:strVal val="#ppt_y"/>
                                          </p:val>
                                        </p:tav>
                                        <p:tav tm="100000">
                                          <p:val>
                                            <p:strVal val="#ppt_y"/>
                                          </p:val>
                                        </p:tav>
                                      </p:tavLst>
                                    </p:anim>
                                  </p:childTnLst>
                                </p:cTn>
                              </p:par>
                            </p:childTnLst>
                          </p:cTn>
                        </p:par>
                      </p:childTnLst>
                    </p:cTn>
                  </p:par>
                  <p:par>
                    <p:cTn id="63" fill="hold">
                      <p:stCondLst>
                        <p:cond delay="indefinite"/>
                      </p:stCondLst>
                      <p:childTnLst>
                        <p:par>
                          <p:cTn id="64" fill="hold">
                            <p:stCondLst>
                              <p:cond delay="0"/>
                            </p:stCondLst>
                            <p:childTnLst>
                              <p:par>
                                <p:cTn id="65" presetID="2" presetClass="entr" presetSubtype="8" fill="hold" grpId="0" nodeType="clickEffect">
                                  <p:stCondLst>
                                    <p:cond delay="0"/>
                                  </p:stCondLst>
                                  <p:childTnLst>
                                    <p:set>
                                      <p:cBhvr>
                                        <p:cTn id="66" dur="1" fill="hold">
                                          <p:stCondLst>
                                            <p:cond delay="0"/>
                                          </p:stCondLst>
                                        </p:cTn>
                                        <p:tgtEl>
                                          <p:spTgt spid="262146">
                                            <p:txEl>
                                              <p:pRg st="10" end="10"/>
                                            </p:txEl>
                                          </p:spTgt>
                                        </p:tgtEl>
                                        <p:attrNameLst>
                                          <p:attrName>style.visibility</p:attrName>
                                        </p:attrNameLst>
                                      </p:cBhvr>
                                      <p:to>
                                        <p:strVal val="visible"/>
                                      </p:to>
                                    </p:set>
                                    <p:anim calcmode="lin" valueType="num">
                                      <p:cBhvr additive="base">
                                        <p:cTn id="67" dur="500" fill="hold"/>
                                        <p:tgtEl>
                                          <p:spTgt spid="262146">
                                            <p:txEl>
                                              <p:pRg st="10" end="10"/>
                                            </p:txEl>
                                          </p:spTgt>
                                        </p:tgtEl>
                                        <p:attrNameLst>
                                          <p:attrName>ppt_x</p:attrName>
                                        </p:attrNameLst>
                                      </p:cBhvr>
                                      <p:tavLst>
                                        <p:tav tm="0">
                                          <p:val>
                                            <p:strVal val="0-#ppt_w/2"/>
                                          </p:val>
                                        </p:tav>
                                        <p:tav tm="100000">
                                          <p:val>
                                            <p:strVal val="#ppt_x"/>
                                          </p:val>
                                        </p:tav>
                                      </p:tavLst>
                                    </p:anim>
                                    <p:anim calcmode="lin" valueType="num">
                                      <p:cBhvr additive="base">
                                        <p:cTn id="68" dur="500" fill="hold"/>
                                        <p:tgtEl>
                                          <p:spTgt spid="262146">
                                            <p:txEl>
                                              <p:pRg st="10" end="10"/>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62146" grpId="0" build="p" bldLvl="3" autoUpdateAnimBg="0"/>
    </p:bldLst>
  </p:timing>
</p:sld>
</file>

<file path=ppt/slides/slide52.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63170" name="Rectangle 2"/>
          <p:cNvSpPr>
            <a:spLocks noGrp="1" noChangeArrowheads="1"/>
          </p:cNvSpPr>
          <p:nvPr>
            <p:ph idx="1"/>
          </p:nvPr>
        </p:nvSpPr>
        <p:spPr>
          <a:xfrm>
            <a:off x="838200" y="304800"/>
            <a:ext cx="8077200" cy="5715000"/>
          </a:xfrm>
        </p:spPr>
        <p:txBody>
          <a:bodyPr/>
          <a:lstStyle/>
          <a:p>
            <a:pPr eaLnBrk="1" hangingPunct="1">
              <a:buFont typeface="Monotype Sorts" pitchFamily="2" charset="2"/>
              <a:buNone/>
            </a:pPr>
            <a:r>
              <a:rPr lang="en-US" sz="3600" b="1" smtClean="0">
                <a:solidFill>
                  <a:schemeClr val="tx2"/>
                </a:solidFill>
              </a:rPr>
              <a:t>Chemical Methods of Control</a:t>
            </a:r>
          </a:p>
          <a:p>
            <a:pPr eaLnBrk="1" hangingPunct="1">
              <a:buFont typeface="Monotype Sorts" pitchFamily="2" charset="2"/>
              <a:buNone/>
            </a:pPr>
            <a:r>
              <a:rPr lang="en-US" sz="3600" b="1" smtClean="0">
                <a:solidFill>
                  <a:schemeClr val="tx2"/>
                </a:solidFill>
              </a:rPr>
              <a:t>Types of Disinfectants</a:t>
            </a:r>
          </a:p>
          <a:p>
            <a:pPr eaLnBrk="1" hangingPunct="1">
              <a:lnSpc>
                <a:spcPct val="90000"/>
              </a:lnSpc>
              <a:buFont typeface="Monotype Sorts" pitchFamily="2" charset="2"/>
              <a:buNone/>
            </a:pPr>
            <a:r>
              <a:rPr lang="en-US" sz="2800" b="1" smtClean="0"/>
              <a:t>6. </a:t>
            </a:r>
            <a:r>
              <a:rPr lang="en-US" b="1" smtClean="0"/>
              <a:t>Aldehydes: </a:t>
            </a:r>
            <a:endParaRPr lang="en-US" sz="2800" smtClean="0"/>
          </a:p>
          <a:p>
            <a:pPr eaLnBrk="1" hangingPunct="1">
              <a:buSzPct val="75000"/>
              <a:buFont typeface="Arial" charset="0"/>
              <a:buNone/>
            </a:pPr>
            <a:r>
              <a:rPr lang="en-US" sz="2800" b="1" smtClean="0"/>
              <a:t>B. Glutaraldehyde:</a:t>
            </a:r>
          </a:p>
          <a:p>
            <a:pPr eaLnBrk="1" hangingPunct="1">
              <a:buSzPct val="75000"/>
              <a:buFont typeface="Arial" charset="0"/>
              <a:buNone/>
            </a:pPr>
            <a:r>
              <a:rPr lang="en-US" sz="2400" smtClean="0"/>
              <a:t> </a:t>
            </a:r>
            <a:r>
              <a:rPr lang="en-US" sz="2800" smtClean="0"/>
              <a:t>Less irritating and more effective than formaldehyde.</a:t>
            </a:r>
          </a:p>
          <a:p>
            <a:pPr eaLnBrk="1" hangingPunct="1">
              <a:buSzPct val="75000"/>
              <a:buFont typeface="Arial" charset="0"/>
              <a:buNone/>
            </a:pPr>
            <a:r>
              <a:rPr lang="en-US" sz="2800" smtClean="0"/>
              <a:t> One of the few chemical disinfectants that is a </a:t>
            </a:r>
            <a:r>
              <a:rPr lang="en-US" sz="2800" b="1" u="sng" smtClean="0"/>
              <a:t>sterilizing</a:t>
            </a:r>
            <a:r>
              <a:rPr lang="en-US" sz="2800" smtClean="0"/>
              <a:t> </a:t>
            </a:r>
            <a:r>
              <a:rPr lang="en-US" sz="2800" b="1" u="sng" smtClean="0"/>
              <a:t>agent</a:t>
            </a:r>
            <a:r>
              <a:rPr lang="en-US" sz="2800" smtClean="0"/>
              <a:t>.</a:t>
            </a:r>
          </a:p>
          <a:p>
            <a:pPr eaLnBrk="1" hangingPunct="1">
              <a:buSzPct val="75000"/>
              <a:buFont typeface="Arial" charset="0"/>
              <a:buNone/>
            </a:pPr>
            <a:r>
              <a:rPr lang="en-US" sz="2800" smtClean="0"/>
              <a:t> A 2% solution of glutaraldehyde (Cidex) is:</a:t>
            </a:r>
          </a:p>
          <a:p>
            <a:pPr lvl="1" eaLnBrk="1" hangingPunct="1">
              <a:buFont typeface="Arial" charset="0"/>
              <a:buNone/>
            </a:pPr>
            <a:r>
              <a:rPr lang="en-US" sz="2400" smtClean="0"/>
              <a:t> Bactericidal, tuberculocidal, and viricidal in 10 minutes.</a:t>
            </a:r>
          </a:p>
          <a:p>
            <a:pPr lvl="1" eaLnBrk="1" hangingPunct="1">
              <a:buFont typeface="Arial" charset="0"/>
              <a:buNone/>
            </a:pPr>
            <a:r>
              <a:rPr lang="en-US" sz="2400" smtClean="0"/>
              <a:t> Sporicidal in 3 to 10 hours.</a:t>
            </a:r>
          </a:p>
          <a:p>
            <a:pPr eaLnBrk="1" hangingPunct="1">
              <a:buSzPct val="75000"/>
              <a:buFont typeface="Arial" charset="0"/>
              <a:buNone/>
            </a:pPr>
            <a:r>
              <a:rPr lang="en-US" sz="2800" smtClean="0"/>
              <a:t> Commonly used to disinfect hospital instruments.</a:t>
            </a:r>
          </a:p>
          <a:p>
            <a:pPr eaLnBrk="1" hangingPunct="1">
              <a:buSzPct val="75000"/>
              <a:buFont typeface="Arial" charset="0"/>
              <a:buNone/>
            </a:pPr>
            <a:r>
              <a:rPr lang="en-US" sz="2800" smtClean="0"/>
              <a:t> Also used in mortuaries for embalming.</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263170">
                                            <p:txEl>
                                              <p:pRg st="0" end="0"/>
                                            </p:txEl>
                                          </p:spTgt>
                                        </p:tgtEl>
                                        <p:attrNameLst>
                                          <p:attrName>style.visibility</p:attrName>
                                        </p:attrNameLst>
                                      </p:cBhvr>
                                      <p:to>
                                        <p:strVal val="visible"/>
                                      </p:to>
                                    </p:set>
                                    <p:anim calcmode="lin" valueType="num">
                                      <p:cBhvr additive="base">
                                        <p:cTn id="7" dur="500" fill="hold"/>
                                        <p:tgtEl>
                                          <p:spTgt spid="263170">
                                            <p:txEl>
                                              <p:pRg st="0" end="0"/>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263170">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263170">
                                            <p:txEl>
                                              <p:pRg st="1" end="1"/>
                                            </p:txEl>
                                          </p:spTgt>
                                        </p:tgtEl>
                                        <p:attrNameLst>
                                          <p:attrName>style.visibility</p:attrName>
                                        </p:attrNameLst>
                                      </p:cBhvr>
                                      <p:to>
                                        <p:strVal val="visible"/>
                                      </p:to>
                                    </p:set>
                                    <p:anim calcmode="lin" valueType="num">
                                      <p:cBhvr additive="base">
                                        <p:cTn id="13" dur="500" fill="hold"/>
                                        <p:tgtEl>
                                          <p:spTgt spid="263170">
                                            <p:txEl>
                                              <p:pRg st="1" end="1"/>
                                            </p:txEl>
                                          </p:spTgt>
                                        </p:tgtEl>
                                        <p:attrNameLst>
                                          <p:attrName>ppt_x</p:attrName>
                                        </p:attrNameLst>
                                      </p:cBhvr>
                                      <p:tavLst>
                                        <p:tav tm="0">
                                          <p:val>
                                            <p:strVal val="0-#ppt_w/2"/>
                                          </p:val>
                                        </p:tav>
                                        <p:tav tm="100000">
                                          <p:val>
                                            <p:strVal val="#ppt_x"/>
                                          </p:val>
                                        </p:tav>
                                      </p:tavLst>
                                    </p:anim>
                                    <p:anim calcmode="lin" valueType="num">
                                      <p:cBhvr additive="base">
                                        <p:cTn id="14" dur="500" fill="hold"/>
                                        <p:tgtEl>
                                          <p:spTgt spid="263170">
                                            <p:txEl>
                                              <p:pRg st="1" end="1"/>
                                            </p:txEl>
                                          </p:spTgt>
                                        </p:tgtEl>
                                        <p:attrNameLst>
                                          <p:attrName>ppt_y</p:attrName>
                                        </p:attrNameLst>
                                      </p:cBhvr>
                                      <p:tavLst>
                                        <p:tav tm="0">
                                          <p:val>
                                            <p:strVal val="#ppt_y"/>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8" fill="hold" grpId="0" nodeType="clickEffect">
                                  <p:stCondLst>
                                    <p:cond delay="0"/>
                                  </p:stCondLst>
                                  <p:childTnLst>
                                    <p:set>
                                      <p:cBhvr>
                                        <p:cTn id="18" dur="1" fill="hold">
                                          <p:stCondLst>
                                            <p:cond delay="0"/>
                                          </p:stCondLst>
                                        </p:cTn>
                                        <p:tgtEl>
                                          <p:spTgt spid="263170">
                                            <p:txEl>
                                              <p:pRg st="2" end="2"/>
                                            </p:txEl>
                                          </p:spTgt>
                                        </p:tgtEl>
                                        <p:attrNameLst>
                                          <p:attrName>style.visibility</p:attrName>
                                        </p:attrNameLst>
                                      </p:cBhvr>
                                      <p:to>
                                        <p:strVal val="visible"/>
                                      </p:to>
                                    </p:set>
                                    <p:anim calcmode="lin" valueType="num">
                                      <p:cBhvr additive="base">
                                        <p:cTn id="19" dur="500" fill="hold"/>
                                        <p:tgtEl>
                                          <p:spTgt spid="263170">
                                            <p:txEl>
                                              <p:pRg st="2" end="2"/>
                                            </p:txEl>
                                          </p:spTgt>
                                        </p:tgtEl>
                                        <p:attrNameLst>
                                          <p:attrName>ppt_x</p:attrName>
                                        </p:attrNameLst>
                                      </p:cBhvr>
                                      <p:tavLst>
                                        <p:tav tm="0">
                                          <p:val>
                                            <p:strVal val="0-#ppt_w/2"/>
                                          </p:val>
                                        </p:tav>
                                        <p:tav tm="100000">
                                          <p:val>
                                            <p:strVal val="#ppt_x"/>
                                          </p:val>
                                        </p:tav>
                                      </p:tavLst>
                                    </p:anim>
                                    <p:anim calcmode="lin" valueType="num">
                                      <p:cBhvr additive="base">
                                        <p:cTn id="20" dur="500" fill="hold"/>
                                        <p:tgtEl>
                                          <p:spTgt spid="263170">
                                            <p:txEl>
                                              <p:pRg st="2" end="2"/>
                                            </p:txEl>
                                          </p:spTgt>
                                        </p:tgtEl>
                                        <p:attrNameLst>
                                          <p:attrName>ppt_y</p:attrName>
                                        </p:attrNameLst>
                                      </p:cBhvr>
                                      <p:tavLst>
                                        <p:tav tm="0">
                                          <p:val>
                                            <p:strVal val="#ppt_y"/>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8" fill="hold" grpId="0" nodeType="clickEffect">
                                  <p:stCondLst>
                                    <p:cond delay="0"/>
                                  </p:stCondLst>
                                  <p:childTnLst>
                                    <p:set>
                                      <p:cBhvr>
                                        <p:cTn id="24" dur="1" fill="hold">
                                          <p:stCondLst>
                                            <p:cond delay="0"/>
                                          </p:stCondLst>
                                        </p:cTn>
                                        <p:tgtEl>
                                          <p:spTgt spid="263170">
                                            <p:txEl>
                                              <p:pRg st="3" end="3"/>
                                            </p:txEl>
                                          </p:spTgt>
                                        </p:tgtEl>
                                        <p:attrNameLst>
                                          <p:attrName>style.visibility</p:attrName>
                                        </p:attrNameLst>
                                      </p:cBhvr>
                                      <p:to>
                                        <p:strVal val="visible"/>
                                      </p:to>
                                    </p:set>
                                    <p:anim calcmode="lin" valueType="num">
                                      <p:cBhvr additive="base">
                                        <p:cTn id="25" dur="500" fill="hold"/>
                                        <p:tgtEl>
                                          <p:spTgt spid="263170">
                                            <p:txEl>
                                              <p:pRg st="3" end="3"/>
                                            </p:txEl>
                                          </p:spTgt>
                                        </p:tgtEl>
                                        <p:attrNameLst>
                                          <p:attrName>ppt_x</p:attrName>
                                        </p:attrNameLst>
                                      </p:cBhvr>
                                      <p:tavLst>
                                        <p:tav tm="0">
                                          <p:val>
                                            <p:strVal val="0-#ppt_w/2"/>
                                          </p:val>
                                        </p:tav>
                                        <p:tav tm="100000">
                                          <p:val>
                                            <p:strVal val="#ppt_x"/>
                                          </p:val>
                                        </p:tav>
                                      </p:tavLst>
                                    </p:anim>
                                    <p:anim calcmode="lin" valueType="num">
                                      <p:cBhvr additive="base">
                                        <p:cTn id="26" dur="500" fill="hold"/>
                                        <p:tgtEl>
                                          <p:spTgt spid="263170">
                                            <p:txEl>
                                              <p:pRg st="3" end="3"/>
                                            </p:txEl>
                                          </p:spTgt>
                                        </p:tgtEl>
                                        <p:attrNameLst>
                                          <p:attrName>ppt_y</p:attrName>
                                        </p:attrNameLst>
                                      </p:cBhvr>
                                      <p:tavLst>
                                        <p:tav tm="0">
                                          <p:val>
                                            <p:strVal val="#ppt_y"/>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8" fill="hold" grpId="0" nodeType="clickEffect">
                                  <p:stCondLst>
                                    <p:cond delay="0"/>
                                  </p:stCondLst>
                                  <p:childTnLst>
                                    <p:set>
                                      <p:cBhvr>
                                        <p:cTn id="30" dur="1" fill="hold">
                                          <p:stCondLst>
                                            <p:cond delay="0"/>
                                          </p:stCondLst>
                                        </p:cTn>
                                        <p:tgtEl>
                                          <p:spTgt spid="263170">
                                            <p:txEl>
                                              <p:pRg st="4" end="4"/>
                                            </p:txEl>
                                          </p:spTgt>
                                        </p:tgtEl>
                                        <p:attrNameLst>
                                          <p:attrName>style.visibility</p:attrName>
                                        </p:attrNameLst>
                                      </p:cBhvr>
                                      <p:to>
                                        <p:strVal val="visible"/>
                                      </p:to>
                                    </p:set>
                                    <p:anim calcmode="lin" valueType="num">
                                      <p:cBhvr additive="base">
                                        <p:cTn id="31" dur="500" fill="hold"/>
                                        <p:tgtEl>
                                          <p:spTgt spid="263170">
                                            <p:txEl>
                                              <p:pRg st="4" end="4"/>
                                            </p:txEl>
                                          </p:spTgt>
                                        </p:tgtEl>
                                        <p:attrNameLst>
                                          <p:attrName>ppt_x</p:attrName>
                                        </p:attrNameLst>
                                      </p:cBhvr>
                                      <p:tavLst>
                                        <p:tav tm="0">
                                          <p:val>
                                            <p:strVal val="0-#ppt_w/2"/>
                                          </p:val>
                                        </p:tav>
                                        <p:tav tm="100000">
                                          <p:val>
                                            <p:strVal val="#ppt_x"/>
                                          </p:val>
                                        </p:tav>
                                      </p:tavLst>
                                    </p:anim>
                                    <p:anim calcmode="lin" valueType="num">
                                      <p:cBhvr additive="base">
                                        <p:cTn id="32" dur="500" fill="hold"/>
                                        <p:tgtEl>
                                          <p:spTgt spid="263170">
                                            <p:txEl>
                                              <p:pRg st="4" end="4"/>
                                            </p:txEl>
                                          </p:spTgt>
                                        </p:tgtEl>
                                        <p:attrNameLst>
                                          <p:attrName>ppt_y</p:attrName>
                                        </p:attrNameLst>
                                      </p:cBhvr>
                                      <p:tavLst>
                                        <p:tav tm="0">
                                          <p:val>
                                            <p:strVal val="#ppt_y"/>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8" fill="hold" grpId="0" nodeType="clickEffect">
                                  <p:stCondLst>
                                    <p:cond delay="0"/>
                                  </p:stCondLst>
                                  <p:childTnLst>
                                    <p:set>
                                      <p:cBhvr>
                                        <p:cTn id="36" dur="1" fill="hold">
                                          <p:stCondLst>
                                            <p:cond delay="0"/>
                                          </p:stCondLst>
                                        </p:cTn>
                                        <p:tgtEl>
                                          <p:spTgt spid="263170">
                                            <p:txEl>
                                              <p:pRg st="5" end="5"/>
                                            </p:txEl>
                                          </p:spTgt>
                                        </p:tgtEl>
                                        <p:attrNameLst>
                                          <p:attrName>style.visibility</p:attrName>
                                        </p:attrNameLst>
                                      </p:cBhvr>
                                      <p:to>
                                        <p:strVal val="visible"/>
                                      </p:to>
                                    </p:set>
                                    <p:anim calcmode="lin" valueType="num">
                                      <p:cBhvr additive="base">
                                        <p:cTn id="37" dur="500" fill="hold"/>
                                        <p:tgtEl>
                                          <p:spTgt spid="263170">
                                            <p:txEl>
                                              <p:pRg st="5" end="5"/>
                                            </p:txEl>
                                          </p:spTgt>
                                        </p:tgtEl>
                                        <p:attrNameLst>
                                          <p:attrName>ppt_x</p:attrName>
                                        </p:attrNameLst>
                                      </p:cBhvr>
                                      <p:tavLst>
                                        <p:tav tm="0">
                                          <p:val>
                                            <p:strVal val="0-#ppt_w/2"/>
                                          </p:val>
                                        </p:tav>
                                        <p:tav tm="100000">
                                          <p:val>
                                            <p:strVal val="#ppt_x"/>
                                          </p:val>
                                        </p:tav>
                                      </p:tavLst>
                                    </p:anim>
                                    <p:anim calcmode="lin" valueType="num">
                                      <p:cBhvr additive="base">
                                        <p:cTn id="38" dur="500" fill="hold"/>
                                        <p:tgtEl>
                                          <p:spTgt spid="263170">
                                            <p:txEl>
                                              <p:pRg st="5" end="5"/>
                                            </p:txEl>
                                          </p:spTgt>
                                        </p:tgtEl>
                                        <p:attrNameLst>
                                          <p:attrName>ppt_y</p:attrName>
                                        </p:attrNameLst>
                                      </p:cBhvr>
                                      <p:tavLst>
                                        <p:tav tm="0">
                                          <p:val>
                                            <p:strVal val="#ppt_y"/>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2" presetClass="entr" presetSubtype="8" fill="hold" grpId="0" nodeType="clickEffect">
                                  <p:stCondLst>
                                    <p:cond delay="0"/>
                                  </p:stCondLst>
                                  <p:childTnLst>
                                    <p:set>
                                      <p:cBhvr>
                                        <p:cTn id="42" dur="1" fill="hold">
                                          <p:stCondLst>
                                            <p:cond delay="0"/>
                                          </p:stCondLst>
                                        </p:cTn>
                                        <p:tgtEl>
                                          <p:spTgt spid="263170">
                                            <p:txEl>
                                              <p:pRg st="6" end="6"/>
                                            </p:txEl>
                                          </p:spTgt>
                                        </p:tgtEl>
                                        <p:attrNameLst>
                                          <p:attrName>style.visibility</p:attrName>
                                        </p:attrNameLst>
                                      </p:cBhvr>
                                      <p:to>
                                        <p:strVal val="visible"/>
                                      </p:to>
                                    </p:set>
                                    <p:anim calcmode="lin" valueType="num">
                                      <p:cBhvr additive="base">
                                        <p:cTn id="43" dur="500" fill="hold"/>
                                        <p:tgtEl>
                                          <p:spTgt spid="263170">
                                            <p:txEl>
                                              <p:pRg st="6" end="6"/>
                                            </p:txEl>
                                          </p:spTgt>
                                        </p:tgtEl>
                                        <p:attrNameLst>
                                          <p:attrName>ppt_x</p:attrName>
                                        </p:attrNameLst>
                                      </p:cBhvr>
                                      <p:tavLst>
                                        <p:tav tm="0">
                                          <p:val>
                                            <p:strVal val="0-#ppt_w/2"/>
                                          </p:val>
                                        </p:tav>
                                        <p:tav tm="100000">
                                          <p:val>
                                            <p:strVal val="#ppt_x"/>
                                          </p:val>
                                        </p:tav>
                                      </p:tavLst>
                                    </p:anim>
                                    <p:anim calcmode="lin" valueType="num">
                                      <p:cBhvr additive="base">
                                        <p:cTn id="44" dur="500" fill="hold"/>
                                        <p:tgtEl>
                                          <p:spTgt spid="263170">
                                            <p:txEl>
                                              <p:pRg st="6" end="6"/>
                                            </p:txEl>
                                          </p:spTgt>
                                        </p:tgtEl>
                                        <p:attrNameLst>
                                          <p:attrName>ppt_y</p:attrName>
                                        </p:attrNameLst>
                                      </p:cBhvr>
                                      <p:tavLst>
                                        <p:tav tm="0">
                                          <p:val>
                                            <p:strVal val="#ppt_y"/>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2" presetClass="entr" presetSubtype="8" fill="hold" grpId="0" nodeType="clickEffect">
                                  <p:stCondLst>
                                    <p:cond delay="0"/>
                                  </p:stCondLst>
                                  <p:childTnLst>
                                    <p:set>
                                      <p:cBhvr>
                                        <p:cTn id="48" dur="1" fill="hold">
                                          <p:stCondLst>
                                            <p:cond delay="0"/>
                                          </p:stCondLst>
                                        </p:cTn>
                                        <p:tgtEl>
                                          <p:spTgt spid="263170">
                                            <p:txEl>
                                              <p:pRg st="7" end="7"/>
                                            </p:txEl>
                                          </p:spTgt>
                                        </p:tgtEl>
                                        <p:attrNameLst>
                                          <p:attrName>style.visibility</p:attrName>
                                        </p:attrNameLst>
                                      </p:cBhvr>
                                      <p:to>
                                        <p:strVal val="visible"/>
                                      </p:to>
                                    </p:set>
                                    <p:anim calcmode="lin" valueType="num">
                                      <p:cBhvr additive="base">
                                        <p:cTn id="49" dur="500" fill="hold"/>
                                        <p:tgtEl>
                                          <p:spTgt spid="263170">
                                            <p:txEl>
                                              <p:pRg st="7" end="7"/>
                                            </p:txEl>
                                          </p:spTgt>
                                        </p:tgtEl>
                                        <p:attrNameLst>
                                          <p:attrName>ppt_x</p:attrName>
                                        </p:attrNameLst>
                                      </p:cBhvr>
                                      <p:tavLst>
                                        <p:tav tm="0">
                                          <p:val>
                                            <p:strVal val="0-#ppt_w/2"/>
                                          </p:val>
                                        </p:tav>
                                        <p:tav tm="100000">
                                          <p:val>
                                            <p:strVal val="#ppt_x"/>
                                          </p:val>
                                        </p:tav>
                                      </p:tavLst>
                                    </p:anim>
                                    <p:anim calcmode="lin" valueType="num">
                                      <p:cBhvr additive="base">
                                        <p:cTn id="50" dur="500" fill="hold"/>
                                        <p:tgtEl>
                                          <p:spTgt spid="263170">
                                            <p:txEl>
                                              <p:pRg st="7" end="7"/>
                                            </p:txEl>
                                          </p:spTgt>
                                        </p:tgtEl>
                                        <p:attrNameLst>
                                          <p:attrName>ppt_y</p:attrName>
                                        </p:attrNameLst>
                                      </p:cBhvr>
                                      <p:tavLst>
                                        <p:tav tm="0">
                                          <p:val>
                                            <p:strVal val="#ppt_y"/>
                                          </p:val>
                                        </p:tav>
                                        <p:tav tm="100000">
                                          <p:val>
                                            <p:strVal val="#ppt_y"/>
                                          </p:val>
                                        </p:tav>
                                      </p:tavLst>
                                    </p:anim>
                                  </p:childTnLst>
                                </p:cTn>
                              </p:par>
                            </p:childTnLst>
                          </p:cTn>
                        </p:par>
                      </p:childTnLst>
                    </p:cTn>
                  </p:par>
                  <p:par>
                    <p:cTn id="51" fill="hold">
                      <p:stCondLst>
                        <p:cond delay="indefinite"/>
                      </p:stCondLst>
                      <p:childTnLst>
                        <p:par>
                          <p:cTn id="52" fill="hold">
                            <p:stCondLst>
                              <p:cond delay="0"/>
                            </p:stCondLst>
                            <p:childTnLst>
                              <p:par>
                                <p:cTn id="53" presetID="2" presetClass="entr" presetSubtype="8" fill="hold" grpId="0" nodeType="clickEffect">
                                  <p:stCondLst>
                                    <p:cond delay="0"/>
                                  </p:stCondLst>
                                  <p:childTnLst>
                                    <p:set>
                                      <p:cBhvr>
                                        <p:cTn id="54" dur="1" fill="hold">
                                          <p:stCondLst>
                                            <p:cond delay="0"/>
                                          </p:stCondLst>
                                        </p:cTn>
                                        <p:tgtEl>
                                          <p:spTgt spid="263170">
                                            <p:txEl>
                                              <p:pRg st="8" end="8"/>
                                            </p:txEl>
                                          </p:spTgt>
                                        </p:tgtEl>
                                        <p:attrNameLst>
                                          <p:attrName>style.visibility</p:attrName>
                                        </p:attrNameLst>
                                      </p:cBhvr>
                                      <p:to>
                                        <p:strVal val="visible"/>
                                      </p:to>
                                    </p:set>
                                    <p:anim calcmode="lin" valueType="num">
                                      <p:cBhvr additive="base">
                                        <p:cTn id="55" dur="500" fill="hold"/>
                                        <p:tgtEl>
                                          <p:spTgt spid="263170">
                                            <p:txEl>
                                              <p:pRg st="8" end="8"/>
                                            </p:txEl>
                                          </p:spTgt>
                                        </p:tgtEl>
                                        <p:attrNameLst>
                                          <p:attrName>ppt_x</p:attrName>
                                        </p:attrNameLst>
                                      </p:cBhvr>
                                      <p:tavLst>
                                        <p:tav tm="0">
                                          <p:val>
                                            <p:strVal val="0-#ppt_w/2"/>
                                          </p:val>
                                        </p:tav>
                                        <p:tav tm="100000">
                                          <p:val>
                                            <p:strVal val="#ppt_x"/>
                                          </p:val>
                                        </p:tav>
                                      </p:tavLst>
                                    </p:anim>
                                    <p:anim calcmode="lin" valueType="num">
                                      <p:cBhvr additive="base">
                                        <p:cTn id="56" dur="500" fill="hold"/>
                                        <p:tgtEl>
                                          <p:spTgt spid="263170">
                                            <p:txEl>
                                              <p:pRg st="8" end="8"/>
                                            </p:txEl>
                                          </p:spTgt>
                                        </p:tgtEl>
                                        <p:attrNameLst>
                                          <p:attrName>ppt_y</p:attrName>
                                        </p:attrNameLst>
                                      </p:cBhvr>
                                      <p:tavLst>
                                        <p:tav tm="0">
                                          <p:val>
                                            <p:strVal val="#ppt_y"/>
                                          </p:val>
                                        </p:tav>
                                        <p:tav tm="100000">
                                          <p:val>
                                            <p:strVal val="#ppt_y"/>
                                          </p:val>
                                        </p:tav>
                                      </p:tavLst>
                                    </p:anim>
                                  </p:childTnLst>
                                </p:cTn>
                              </p:par>
                            </p:childTnLst>
                          </p:cTn>
                        </p:par>
                      </p:childTnLst>
                    </p:cTn>
                  </p:par>
                  <p:par>
                    <p:cTn id="57" fill="hold">
                      <p:stCondLst>
                        <p:cond delay="indefinite"/>
                      </p:stCondLst>
                      <p:childTnLst>
                        <p:par>
                          <p:cTn id="58" fill="hold">
                            <p:stCondLst>
                              <p:cond delay="0"/>
                            </p:stCondLst>
                            <p:childTnLst>
                              <p:par>
                                <p:cTn id="59" presetID="2" presetClass="entr" presetSubtype="8" fill="hold" grpId="0" nodeType="clickEffect">
                                  <p:stCondLst>
                                    <p:cond delay="0"/>
                                  </p:stCondLst>
                                  <p:childTnLst>
                                    <p:set>
                                      <p:cBhvr>
                                        <p:cTn id="60" dur="1" fill="hold">
                                          <p:stCondLst>
                                            <p:cond delay="0"/>
                                          </p:stCondLst>
                                        </p:cTn>
                                        <p:tgtEl>
                                          <p:spTgt spid="263170">
                                            <p:txEl>
                                              <p:pRg st="9" end="9"/>
                                            </p:txEl>
                                          </p:spTgt>
                                        </p:tgtEl>
                                        <p:attrNameLst>
                                          <p:attrName>style.visibility</p:attrName>
                                        </p:attrNameLst>
                                      </p:cBhvr>
                                      <p:to>
                                        <p:strVal val="visible"/>
                                      </p:to>
                                    </p:set>
                                    <p:anim calcmode="lin" valueType="num">
                                      <p:cBhvr additive="base">
                                        <p:cTn id="61" dur="500" fill="hold"/>
                                        <p:tgtEl>
                                          <p:spTgt spid="263170">
                                            <p:txEl>
                                              <p:pRg st="9" end="9"/>
                                            </p:txEl>
                                          </p:spTgt>
                                        </p:tgtEl>
                                        <p:attrNameLst>
                                          <p:attrName>ppt_x</p:attrName>
                                        </p:attrNameLst>
                                      </p:cBhvr>
                                      <p:tavLst>
                                        <p:tav tm="0">
                                          <p:val>
                                            <p:strVal val="0-#ppt_w/2"/>
                                          </p:val>
                                        </p:tav>
                                        <p:tav tm="100000">
                                          <p:val>
                                            <p:strVal val="#ppt_x"/>
                                          </p:val>
                                        </p:tav>
                                      </p:tavLst>
                                    </p:anim>
                                    <p:anim calcmode="lin" valueType="num">
                                      <p:cBhvr additive="base">
                                        <p:cTn id="62" dur="500" fill="hold"/>
                                        <p:tgtEl>
                                          <p:spTgt spid="263170">
                                            <p:txEl>
                                              <p:pRg st="9" end="9"/>
                                            </p:txEl>
                                          </p:spTgt>
                                        </p:tgtEl>
                                        <p:attrNameLst>
                                          <p:attrName>ppt_y</p:attrName>
                                        </p:attrNameLst>
                                      </p:cBhvr>
                                      <p:tavLst>
                                        <p:tav tm="0">
                                          <p:val>
                                            <p:strVal val="#ppt_y"/>
                                          </p:val>
                                        </p:tav>
                                        <p:tav tm="100000">
                                          <p:val>
                                            <p:strVal val="#ppt_y"/>
                                          </p:val>
                                        </p:tav>
                                      </p:tavLst>
                                    </p:anim>
                                  </p:childTnLst>
                                </p:cTn>
                              </p:par>
                            </p:childTnLst>
                          </p:cTn>
                        </p:par>
                      </p:childTnLst>
                    </p:cTn>
                  </p:par>
                  <p:par>
                    <p:cTn id="63" fill="hold">
                      <p:stCondLst>
                        <p:cond delay="indefinite"/>
                      </p:stCondLst>
                      <p:childTnLst>
                        <p:par>
                          <p:cTn id="64" fill="hold">
                            <p:stCondLst>
                              <p:cond delay="0"/>
                            </p:stCondLst>
                            <p:childTnLst>
                              <p:par>
                                <p:cTn id="65" presetID="2" presetClass="entr" presetSubtype="8" fill="hold" grpId="0" nodeType="clickEffect">
                                  <p:stCondLst>
                                    <p:cond delay="0"/>
                                  </p:stCondLst>
                                  <p:childTnLst>
                                    <p:set>
                                      <p:cBhvr>
                                        <p:cTn id="66" dur="1" fill="hold">
                                          <p:stCondLst>
                                            <p:cond delay="0"/>
                                          </p:stCondLst>
                                        </p:cTn>
                                        <p:tgtEl>
                                          <p:spTgt spid="263170">
                                            <p:txEl>
                                              <p:pRg st="10" end="10"/>
                                            </p:txEl>
                                          </p:spTgt>
                                        </p:tgtEl>
                                        <p:attrNameLst>
                                          <p:attrName>style.visibility</p:attrName>
                                        </p:attrNameLst>
                                      </p:cBhvr>
                                      <p:to>
                                        <p:strVal val="visible"/>
                                      </p:to>
                                    </p:set>
                                    <p:anim calcmode="lin" valueType="num">
                                      <p:cBhvr additive="base">
                                        <p:cTn id="67" dur="500" fill="hold"/>
                                        <p:tgtEl>
                                          <p:spTgt spid="263170">
                                            <p:txEl>
                                              <p:pRg st="10" end="10"/>
                                            </p:txEl>
                                          </p:spTgt>
                                        </p:tgtEl>
                                        <p:attrNameLst>
                                          <p:attrName>ppt_x</p:attrName>
                                        </p:attrNameLst>
                                      </p:cBhvr>
                                      <p:tavLst>
                                        <p:tav tm="0">
                                          <p:val>
                                            <p:strVal val="0-#ppt_w/2"/>
                                          </p:val>
                                        </p:tav>
                                        <p:tav tm="100000">
                                          <p:val>
                                            <p:strVal val="#ppt_x"/>
                                          </p:val>
                                        </p:tav>
                                      </p:tavLst>
                                    </p:anim>
                                    <p:anim calcmode="lin" valueType="num">
                                      <p:cBhvr additive="base">
                                        <p:cTn id="68" dur="500" fill="hold"/>
                                        <p:tgtEl>
                                          <p:spTgt spid="263170">
                                            <p:txEl>
                                              <p:pRg st="10" end="10"/>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63170" grpId="0" build="p" bldLvl="3" autoUpdateAnimBg="0"/>
    </p:bldLst>
  </p:timing>
</p:sld>
</file>

<file path=ppt/slides/slide53.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64194" name="Rectangle 2"/>
          <p:cNvSpPr>
            <a:spLocks noGrp="1" noChangeArrowheads="1"/>
          </p:cNvSpPr>
          <p:nvPr>
            <p:ph idx="1"/>
          </p:nvPr>
        </p:nvSpPr>
        <p:spPr>
          <a:xfrm>
            <a:off x="838200" y="304800"/>
            <a:ext cx="8077200" cy="5715000"/>
          </a:xfrm>
        </p:spPr>
        <p:txBody>
          <a:bodyPr rtlCol="0">
            <a:normAutofit lnSpcReduction="10000"/>
          </a:bodyPr>
          <a:lstStyle/>
          <a:p>
            <a:pPr eaLnBrk="1" fontAlgn="auto" hangingPunct="1">
              <a:spcAft>
                <a:spcPts val="0"/>
              </a:spcAft>
              <a:buFont typeface="Monotype Sorts" pitchFamily="2" charset="2"/>
              <a:buNone/>
              <a:defRPr/>
            </a:pPr>
            <a:r>
              <a:rPr lang="en-US" sz="3600" b="1" smtClean="0">
                <a:solidFill>
                  <a:schemeClr val="tx2"/>
                </a:solidFill>
              </a:rPr>
              <a:t>Chemical Methods of Control</a:t>
            </a:r>
          </a:p>
          <a:p>
            <a:pPr eaLnBrk="1" fontAlgn="auto" hangingPunct="1">
              <a:spcAft>
                <a:spcPts val="0"/>
              </a:spcAft>
              <a:buFont typeface="Monotype Sorts" pitchFamily="2" charset="2"/>
              <a:buNone/>
              <a:defRPr/>
            </a:pPr>
            <a:r>
              <a:rPr lang="en-US" sz="3600" b="1" smtClean="0">
                <a:solidFill>
                  <a:schemeClr val="tx2"/>
                </a:solidFill>
              </a:rPr>
              <a:t>Types of Disinfectants</a:t>
            </a:r>
          </a:p>
          <a:p>
            <a:pPr eaLnBrk="1" fontAlgn="auto" hangingPunct="1">
              <a:lnSpc>
                <a:spcPct val="90000"/>
              </a:lnSpc>
              <a:spcAft>
                <a:spcPts val="0"/>
              </a:spcAft>
              <a:buFont typeface="Monotype Sorts" pitchFamily="2" charset="2"/>
              <a:buNone/>
              <a:defRPr/>
            </a:pPr>
            <a:r>
              <a:rPr lang="en-US" sz="2800" b="1" smtClean="0"/>
              <a:t>7. Gaseous Sterilizers: </a:t>
            </a:r>
            <a:endParaRPr lang="en-US" sz="2400" b="1" smtClean="0"/>
          </a:p>
          <a:p>
            <a:pPr eaLnBrk="1" fontAlgn="auto" hangingPunct="1">
              <a:spcAft>
                <a:spcPts val="0"/>
              </a:spcAft>
              <a:buSzPct val="75000"/>
              <a:buFont typeface="Monotype Sorts" pitchFamily="2" charset="2"/>
              <a:buChar char="u"/>
              <a:defRPr/>
            </a:pPr>
            <a:r>
              <a:rPr lang="en-US" sz="2400" smtClean="0"/>
              <a:t> Chemicals that sterilize in a chamber similar to an autoclave.</a:t>
            </a:r>
          </a:p>
          <a:p>
            <a:pPr eaLnBrk="1" fontAlgn="auto" hangingPunct="1">
              <a:spcAft>
                <a:spcPts val="0"/>
              </a:spcAft>
              <a:buSzPct val="75000"/>
              <a:buFont typeface="Monotype Sorts" pitchFamily="2" charset="2"/>
              <a:buChar char="u"/>
              <a:defRPr/>
            </a:pPr>
            <a:r>
              <a:rPr lang="en-US" sz="2400" smtClean="0"/>
              <a:t>Denature proteins, by replacing functional groups with alkyl groups.</a:t>
            </a:r>
          </a:p>
          <a:p>
            <a:pPr eaLnBrk="1" fontAlgn="auto" hangingPunct="1">
              <a:spcAft>
                <a:spcPts val="0"/>
              </a:spcAft>
              <a:buSzPct val="75000"/>
              <a:buFont typeface="Monotype Sorts" pitchFamily="2" charset="2"/>
              <a:buNone/>
              <a:defRPr/>
            </a:pPr>
            <a:r>
              <a:rPr lang="en-US" sz="2400" b="1" smtClean="0"/>
              <a:t>A. Ethylene Oxide:</a:t>
            </a:r>
          </a:p>
          <a:p>
            <a:pPr eaLnBrk="1" fontAlgn="auto" hangingPunct="1">
              <a:spcAft>
                <a:spcPts val="0"/>
              </a:spcAft>
              <a:buSzPct val="75000"/>
              <a:buFont typeface="Monotype Sorts" pitchFamily="2" charset="2"/>
              <a:buChar char="u"/>
              <a:defRPr/>
            </a:pPr>
            <a:r>
              <a:rPr lang="en-US" sz="2400" smtClean="0"/>
              <a:t>Kills all microbes and endospores, but requires exposure of 4 to 18 hours.</a:t>
            </a:r>
          </a:p>
          <a:p>
            <a:pPr eaLnBrk="1" fontAlgn="auto" hangingPunct="1">
              <a:spcAft>
                <a:spcPts val="0"/>
              </a:spcAft>
              <a:buSzPct val="75000"/>
              <a:buFont typeface="Monotype Sorts" pitchFamily="2" charset="2"/>
              <a:buChar char="u"/>
              <a:defRPr/>
            </a:pPr>
            <a:r>
              <a:rPr lang="en-US" sz="2400" smtClean="0"/>
              <a:t> Toxic and explosive in pure form.</a:t>
            </a:r>
          </a:p>
          <a:p>
            <a:pPr eaLnBrk="1" fontAlgn="auto" hangingPunct="1">
              <a:spcAft>
                <a:spcPts val="0"/>
              </a:spcAft>
              <a:buSzPct val="75000"/>
              <a:buFont typeface="Monotype Sorts" pitchFamily="2" charset="2"/>
              <a:buChar char="u"/>
              <a:defRPr/>
            </a:pPr>
            <a:r>
              <a:rPr lang="en-US" sz="2400" smtClean="0"/>
              <a:t> Highly penetrating.</a:t>
            </a:r>
          </a:p>
          <a:p>
            <a:pPr eaLnBrk="1" fontAlgn="auto" hangingPunct="1">
              <a:spcAft>
                <a:spcPts val="0"/>
              </a:spcAft>
              <a:buSzPct val="75000"/>
              <a:buFont typeface="Monotype Sorts" pitchFamily="2" charset="2"/>
              <a:buChar char="u"/>
              <a:defRPr/>
            </a:pPr>
            <a:r>
              <a:rPr lang="en-US" sz="2400" smtClean="0"/>
              <a:t> Most hospitals have ethylene oxide chambers to sterilize mattresses and large equipment.</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264194">
                                            <p:txEl>
                                              <p:pRg st="0" end="0"/>
                                            </p:txEl>
                                          </p:spTgt>
                                        </p:tgtEl>
                                        <p:attrNameLst>
                                          <p:attrName>style.visibility</p:attrName>
                                        </p:attrNameLst>
                                      </p:cBhvr>
                                      <p:to>
                                        <p:strVal val="visible"/>
                                      </p:to>
                                    </p:set>
                                    <p:anim calcmode="lin" valueType="num">
                                      <p:cBhvr additive="base">
                                        <p:cTn id="7" dur="500" fill="hold"/>
                                        <p:tgtEl>
                                          <p:spTgt spid="264194">
                                            <p:txEl>
                                              <p:pRg st="0" end="0"/>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264194">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264194">
                                            <p:txEl>
                                              <p:pRg st="1" end="1"/>
                                            </p:txEl>
                                          </p:spTgt>
                                        </p:tgtEl>
                                        <p:attrNameLst>
                                          <p:attrName>style.visibility</p:attrName>
                                        </p:attrNameLst>
                                      </p:cBhvr>
                                      <p:to>
                                        <p:strVal val="visible"/>
                                      </p:to>
                                    </p:set>
                                    <p:anim calcmode="lin" valueType="num">
                                      <p:cBhvr additive="base">
                                        <p:cTn id="13" dur="500" fill="hold"/>
                                        <p:tgtEl>
                                          <p:spTgt spid="264194">
                                            <p:txEl>
                                              <p:pRg st="1" end="1"/>
                                            </p:txEl>
                                          </p:spTgt>
                                        </p:tgtEl>
                                        <p:attrNameLst>
                                          <p:attrName>ppt_x</p:attrName>
                                        </p:attrNameLst>
                                      </p:cBhvr>
                                      <p:tavLst>
                                        <p:tav tm="0">
                                          <p:val>
                                            <p:strVal val="0-#ppt_w/2"/>
                                          </p:val>
                                        </p:tav>
                                        <p:tav tm="100000">
                                          <p:val>
                                            <p:strVal val="#ppt_x"/>
                                          </p:val>
                                        </p:tav>
                                      </p:tavLst>
                                    </p:anim>
                                    <p:anim calcmode="lin" valueType="num">
                                      <p:cBhvr additive="base">
                                        <p:cTn id="14" dur="500" fill="hold"/>
                                        <p:tgtEl>
                                          <p:spTgt spid="264194">
                                            <p:txEl>
                                              <p:pRg st="1" end="1"/>
                                            </p:txEl>
                                          </p:spTgt>
                                        </p:tgtEl>
                                        <p:attrNameLst>
                                          <p:attrName>ppt_y</p:attrName>
                                        </p:attrNameLst>
                                      </p:cBhvr>
                                      <p:tavLst>
                                        <p:tav tm="0">
                                          <p:val>
                                            <p:strVal val="#ppt_y"/>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8" fill="hold" grpId="0" nodeType="clickEffect">
                                  <p:stCondLst>
                                    <p:cond delay="0"/>
                                  </p:stCondLst>
                                  <p:childTnLst>
                                    <p:set>
                                      <p:cBhvr>
                                        <p:cTn id="18" dur="1" fill="hold">
                                          <p:stCondLst>
                                            <p:cond delay="0"/>
                                          </p:stCondLst>
                                        </p:cTn>
                                        <p:tgtEl>
                                          <p:spTgt spid="264194">
                                            <p:txEl>
                                              <p:pRg st="2" end="2"/>
                                            </p:txEl>
                                          </p:spTgt>
                                        </p:tgtEl>
                                        <p:attrNameLst>
                                          <p:attrName>style.visibility</p:attrName>
                                        </p:attrNameLst>
                                      </p:cBhvr>
                                      <p:to>
                                        <p:strVal val="visible"/>
                                      </p:to>
                                    </p:set>
                                    <p:anim calcmode="lin" valueType="num">
                                      <p:cBhvr additive="base">
                                        <p:cTn id="19" dur="500" fill="hold"/>
                                        <p:tgtEl>
                                          <p:spTgt spid="264194">
                                            <p:txEl>
                                              <p:pRg st="2" end="2"/>
                                            </p:txEl>
                                          </p:spTgt>
                                        </p:tgtEl>
                                        <p:attrNameLst>
                                          <p:attrName>ppt_x</p:attrName>
                                        </p:attrNameLst>
                                      </p:cBhvr>
                                      <p:tavLst>
                                        <p:tav tm="0">
                                          <p:val>
                                            <p:strVal val="0-#ppt_w/2"/>
                                          </p:val>
                                        </p:tav>
                                        <p:tav tm="100000">
                                          <p:val>
                                            <p:strVal val="#ppt_x"/>
                                          </p:val>
                                        </p:tav>
                                      </p:tavLst>
                                    </p:anim>
                                    <p:anim calcmode="lin" valueType="num">
                                      <p:cBhvr additive="base">
                                        <p:cTn id="20" dur="500" fill="hold"/>
                                        <p:tgtEl>
                                          <p:spTgt spid="264194">
                                            <p:txEl>
                                              <p:pRg st="2" end="2"/>
                                            </p:txEl>
                                          </p:spTgt>
                                        </p:tgtEl>
                                        <p:attrNameLst>
                                          <p:attrName>ppt_y</p:attrName>
                                        </p:attrNameLst>
                                      </p:cBhvr>
                                      <p:tavLst>
                                        <p:tav tm="0">
                                          <p:val>
                                            <p:strVal val="#ppt_y"/>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8" fill="hold" grpId="0" nodeType="clickEffect">
                                  <p:stCondLst>
                                    <p:cond delay="0"/>
                                  </p:stCondLst>
                                  <p:childTnLst>
                                    <p:set>
                                      <p:cBhvr>
                                        <p:cTn id="24" dur="1" fill="hold">
                                          <p:stCondLst>
                                            <p:cond delay="0"/>
                                          </p:stCondLst>
                                        </p:cTn>
                                        <p:tgtEl>
                                          <p:spTgt spid="264194">
                                            <p:txEl>
                                              <p:pRg st="3" end="3"/>
                                            </p:txEl>
                                          </p:spTgt>
                                        </p:tgtEl>
                                        <p:attrNameLst>
                                          <p:attrName>style.visibility</p:attrName>
                                        </p:attrNameLst>
                                      </p:cBhvr>
                                      <p:to>
                                        <p:strVal val="visible"/>
                                      </p:to>
                                    </p:set>
                                    <p:anim calcmode="lin" valueType="num">
                                      <p:cBhvr additive="base">
                                        <p:cTn id="25" dur="500" fill="hold"/>
                                        <p:tgtEl>
                                          <p:spTgt spid="264194">
                                            <p:txEl>
                                              <p:pRg st="3" end="3"/>
                                            </p:txEl>
                                          </p:spTgt>
                                        </p:tgtEl>
                                        <p:attrNameLst>
                                          <p:attrName>ppt_x</p:attrName>
                                        </p:attrNameLst>
                                      </p:cBhvr>
                                      <p:tavLst>
                                        <p:tav tm="0">
                                          <p:val>
                                            <p:strVal val="0-#ppt_w/2"/>
                                          </p:val>
                                        </p:tav>
                                        <p:tav tm="100000">
                                          <p:val>
                                            <p:strVal val="#ppt_x"/>
                                          </p:val>
                                        </p:tav>
                                      </p:tavLst>
                                    </p:anim>
                                    <p:anim calcmode="lin" valueType="num">
                                      <p:cBhvr additive="base">
                                        <p:cTn id="26" dur="500" fill="hold"/>
                                        <p:tgtEl>
                                          <p:spTgt spid="264194">
                                            <p:txEl>
                                              <p:pRg st="3" end="3"/>
                                            </p:txEl>
                                          </p:spTgt>
                                        </p:tgtEl>
                                        <p:attrNameLst>
                                          <p:attrName>ppt_y</p:attrName>
                                        </p:attrNameLst>
                                      </p:cBhvr>
                                      <p:tavLst>
                                        <p:tav tm="0">
                                          <p:val>
                                            <p:strVal val="#ppt_y"/>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8" fill="hold" grpId="0" nodeType="clickEffect">
                                  <p:stCondLst>
                                    <p:cond delay="0"/>
                                  </p:stCondLst>
                                  <p:childTnLst>
                                    <p:set>
                                      <p:cBhvr>
                                        <p:cTn id="30" dur="1" fill="hold">
                                          <p:stCondLst>
                                            <p:cond delay="0"/>
                                          </p:stCondLst>
                                        </p:cTn>
                                        <p:tgtEl>
                                          <p:spTgt spid="264194">
                                            <p:txEl>
                                              <p:pRg st="4" end="4"/>
                                            </p:txEl>
                                          </p:spTgt>
                                        </p:tgtEl>
                                        <p:attrNameLst>
                                          <p:attrName>style.visibility</p:attrName>
                                        </p:attrNameLst>
                                      </p:cBhvr>
                                      <p:to>
                                        <p:strVal val="visible"/>
                                      </p:to>
                                    </p:set>
                                    <p:anim calcmode="lin" valueType="num">
                                      <p:cBhvr additive="base">
                                        <p:cTn id="31" dur="500" fill="hold"/>
                                        <p:tgtEl>
                                          <p:spTgt spid="264194">
                                            <p:txEl>
                                              <p:pRg st="4" end="4"/>
                                            </p:txEl>
                                          </p:spTgt>
                                        </p:tgtEl>
                                        <p:attrNameLst>
                                          <p:attrName>ppt_x</p:attrName>
                                        </p:attrNameLst>
                                      </p:cBhvr>
                                      <p:tavLst>
                                        <p:tav tm="0">
                                          <p:val>
                                            <p:strVal val="0-#ppt_w/2"/>
                                          </p:val>
                                        </p:tav>
                                        <p:tav tm="100000">
                                          <p:val>
                                            <p:strVal val="#ppt_x"/>
                                          </p:val>
                                        </p:tav>
                                      </p:tavLst>
                                    </p:anim>
                                    <p:anim calcmode="lin" valueType="num">
                                      <p:cBhvr additive="base">
                                        <p:cTn id="32" dur="500" fill="hold"/>
                                        <p:tgtEl>
                                          <p:spTgt spid="264194">
                                            <p:txEl>
                                              <p:pRg st="4" end="4"/>
                                            </p:txEl>
                                          </p:spTgt>
                                        </p:tgtEl>
                                        <p:attrNameLst>
                                          <p:attrName>ppt_y</p:attrName>
                                        </p:attrNameLst>
                                      </p:cBhvr>
                                      <p:tavLst>
                                        <p:tav tm="0">
                                          <p:val>
                                            <p:strVal val="#ppt_y"/>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8" fill="hold" grpId="0" nodeType="clickEffect">
                                  <p:stCondLst>
                                    <p:cond delay="0"/>
                                  </p:stCondLst>
                                  <p:childTnLst>
                                    <p:set>
                                      <p:cBhvr>
                                        <p:cTn id="36" dur="1" fill="hold">
                                          <p:stCondLst>
                                            <p:cond delay="0"/>
                                          </p:stCondLst>
                                        </p:cTn>
                                        <p:tgtEl>
                                          <p:spTgt spid="264194">
                                            <p:txEl>
                                              <p:pRg st="5" end="5"/>
                                            </p:txEl>
                                          </p:spTgt>
                                        </p:tgtEl>
                                        <p:attrNameLst>
                                          <p:attrName>style.visibility</p:attrName>
                                        </p:attrNameLst>
                                      </p:cBhvr>
                                      <p:to>
                                        <p:strVal val="visible"/>
                                      </p:to>
                                    </p:set>
                                    <p:anim calcmode="lin" valueType="num">
                                      <p:cBhvr additive="base">
                                        <p:cTn id="37" dur="500" fill="hold"/>
                                        <p:tgtEl>
                                          <p:spTgt spid="264194">
                                            <p:txEl>
                                              <p:pRg st="5" end="5"/>
                                            </p:txEl>
                                          </p:spTgt>
                                        </p:tgtEl>
                                        <p:attrNameLst>
                                          <p:attrName>ppt_x</p:attrName>
                                        </p:attrNameLst>
                                      </p:cBhvr>
                                      <p:tavLst>
                                        <p:tav tm="0">
                                          <p:val>
                                            <p:strVal val="0-#ppt_w/2"/>
                                          </p:val>
                                        </p:tav>
                                        <p:tav tm="100000">
                                          <p:val>
                                            <p:strVal val="#ppt_x"/>
                                          </p:val>
                                        </p:tav>
                                      </p:tavLst>
                                    </p:anim>
                                    <p:anim calcmode="lin" valueType="num">
                                      <p:cBhvr additive="base">
                                        <p:cTn id="38" dur="500" fill="hold"/>
                                        <p:tgtEl>
                                          <p:spTgt spid="264194">
                                            <p:txEl>
                                              <p:pRg st="5" end="5"/>
                                            </p:txEl>
                                          </p:spTgt>
                                        </p:tgtEl>
                                        <p:attrNameLst>
                                          <p:attrName>ppt_y</p:attrName>
                                        </p:attrNameLst>
                                      </p:cBhvr>
                                      <p:tavLst>
                                        <p:tav tm="0">
                                          <p:val>
                                            <p:strVal val="#ppt_y"/>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2" presetClass="entr" presetSubtype="8" fill="hold" grpId="0" nodeType="clickEffect">
                                  <p:stCondLst>
                                    <p:cond delay="0"/>
                                  </p:stCondLst>
                                  <p:childTnLst>
                                    <p:set>
                                      <p:cBhvr>
                                        <p:cTn id="42" dur="1" fill="hold">
                                          <p:stCondLst>
                                            <p:cond delay="0"/>
                                          </p:stCondLst>
                                        </p:cTn>
                                        <p:tgtEl>
                                          <p:spTgt spid="264194">
                                            <p:txEl>
                                              <p:pRg st="6" end="6"/>
                                            </p:txEl>
                                          </p:spTgt>
                                        </p:tgtEl>
                                        <p:attrNameLst>
                                          <p:attrName>style.visibility</p:attrName>
                                        </p:attrNameLst>
                                      </p:cBhvr>
                                      <p:to>
                                        <p:strVal val="visible"/>
                                      </p:to>
                                    </p:set>
                                    <p:anim calcmode="lin" valueType="num">
                                      <p:cBhvr additive="base">
                                        <p:cTn id="43" dur="500" fill="hold"/>
                                        <p:tgtEl>
                                          <p:spTgt spid="264194">
                                            <p:txEl>
                                              <p:pRg st="6" end="6"/>
                                            </p:txEl>
                                          </p:spTgt>
                                        </p:tgtEl>
                                        <p:attrNameLst>
                                          <p:attrName>ppt_x</p:attrName>
                                        </p:attrNameLst>
                                      </p:cBhvr>
                                      <p:tavLst>
                                        <p:tav tm="0">
                                          <p:val>
                                            <p:strVal val="0-#ppt_w/2"/>
                                          </p:val>
                                        </p:tav>
                                        <p:tav tm="100000">
                                          <p:val>
                                            <p:strVal val="#ppt_x"/>
                                          </p:val>
                                        </p:tav>
                                      </p:tavLst>
                                    </p:anim>
                                    <p:anim calcmode="lin" valueType="num">
                                      <p:cBhvr additive="base">
                                        <p:cTn id="44" dur="500" fill="hold"/>
                                        <p:tgtEl>
                                          <p:spTgt spid="264194">
                                            <p:txEl>
                                              <p:pRg st="6" end="6"/>
                                            </p:txEl>
                                          </p:spTgt>
                                        </p:tgtEl>
                                        <p:attrNameLst>
                                          <p:attrName>ppt_y</p:attrName>
                                        </p:attrNameLst>
                                      </p:cBhvr>
                                      <p:tavLst>
                                        <p:tav tm="0">
                                          <p:val>
                                            <p:strVal val="#ppt_y"/>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2" presetClass="entr" presetSubtype="8" fill="hold" grpId="0" nodeType="clickEffect">
                                  <p:stCondLst>
                                    <p:cond delay="0"/>
                                  </p:stCondLst>
                                  <p:childTnLst>
                                    <p:set>
                                      <p:cBhvr>
                                        <p:cTn id="48" dur="1" fill="hold">
                                          <p:stCondLst>
                                            <p:cond delay="0"/>
                                          </p:stCondLst>
                                        </p:cTn>
                                        <p:tgtEl>
                                          <p:spTgt spid="264194">
                                            <p:txEl>
                                              <p:pRg st="7" end="7"/>
                                            </p:txEl>
                                          </p:spTgt>
                                        </p:tgtEl>
                                        <p:attrNameLst>
                                          <p:attrName>style.visibility</p:attrName>
                                        </p:attrNameLst>
                                      </p:cBhvr>
                                      <p:to>
                                        <p:strVal val="visible"/>
                                      </p:to>
                                    </p:set>
                                    <p:anim calcmode="lin" valueType="num">
                                      <p:cBhvr additive="base">
                                        <p:cTn id="49" dur="500" fill="hold"/>
                                        <p:tgtEl>
                                          <p:spTgt spid="264194">
                                            <p:txEl>
                                              <p:pRg st="7" end="7"/>
                                            </p:txEl>
                                          </p:spTgt>
                                        </p:tgtEl>
                                        <p:attrNameLst>
                                          <p:attrName>ppt_x</p:attrName>
                                        </p:attrNameLst>
                                      </p:cBhvr>
                                      <p:tavLst>
                                        <p:tav tm="0">
                                          <p:val>
                                            <p:strVal val="0-#ppt_w/2"/>
                                          </p:val>
                                        </p:tav>
                                        <p:tav tm="100000">
                                          <p:val>
                                            <p:strVal val="#ppt_x"/>
                                          </p:val>
                                        </p:tav>
                                      </p:tavLst>
                                    </p:anim>
                                    <p:anim calcmode="lin" valueType="num">
                                      <p:cBhvr additive="base">
                                        <p:cTn id="50" dur="500" fill="hold"/>
                                        <p:tgtEl>
                                          <p:spTgt spid="264194">
                                            <p:txEl>
                                              <p:pRg st="7" end="7"/>
                                            </p:txEl>
                                          </p:spTgt>
                                        </p:tgtEl>
                                        <p:attrNameLst>
                                          <p:attrName>ppt_y</p:attrName>
                                        </p:attrNameLst>
                                      </p:cBhvr>
                                      <p:tavLst>
                                        <p:tav tm="0">
                                          <p:val>
                                            <p:strVal val="#ppt_y"/>
                                          </p:val>
                                        </p:tav>
                                        <p:tav tm="100000">
                                          <p:val>
                                            <p:strVal val="#ppt_y"/>
                                          </p:val>
                                        </p:tav>
                                      </p:tavLst>
                                    </p:anim>
                                  </p:childTnLst>
                                </p:cTn>
                              </p:par>
                            </p:childTnLst>
                          </p:cTn>
                        </p:par>
                      </p:childTnLst>
                    </p:cTn>
                  </p:par>
                  <p:par>
                    <p:cTn id="51" fill="hold">
                      <p:stCondLst>
                        <p:cond delay="indefinite"/>
                      </p:stCondLst>
                      <p:childTnLst>
                        <p:par>
                          <p:cTn id="52" fill="hold">
                            <p:stCondLst>
                              <p:cond delay="0"/>
                            </p:stCondLst>
                            <p:childTnLst>
                              <p:par>
                                <p:cTn id="53" presetID="2" presetClass="entr" presetSubtype="8" fill="hold" grpId="0" nodeType="clickEffect">
                                  <p:stCondLst>
                                    <p:cond delay="0"/>
                                  </p:stCondLst>
                                  <p:childTnLst>
                                    <p:set>
                                      <p:cBhvr>
                                        <p:cTn id="54" dur="1" fill="hold">
                                          <p:stCondLst>
                                            <p:cond delay="0"/>
                                          </p:stCondLst>
                                        </p:cTn>
                                        <p:tgtEl>
                                          <p:spTgt spid="264194">
                                            <p:txEl>
                                              <p:pRg st="8" end="8"/>
                                            </p:txEl>
                                          </p:spTgt>
                                        </p:tgtEl>
                                        <p:attrNameLst>
                                          <p:attrName>style.visibility</p:attrName>
                                        </p:attrNameLst>
                                      </p:cBhvr>
                                      <p:to>
                                        <p:strVal val="visible"/>
                                      </p:to>
                                    </p:set>
                                    <p:anim calcmode="lin" valueType="num">
                                      <p:cBhvr additive="base">
                                        <p:cTn id="55" dur="500" fill="hold"/>
                                        <p:tgtEl>
                                          <p:spTgt spid="264194">
                                            <p:txEl>
                                              <p:pRg st="8" end="8"/>
                                            </p:txEl>
                                          </p:spTgt>
                                        </p:tgtEl>
                                        <p:attrNameLst>
                                          <p:attrName>ppt_x</p:attrName>
                                        </p:attrNameLst>
                                      </p:cBhvr>
                                      <p:tavLst>
                                        <p:tav tm="0">
                                          <p:val>
                                            <p:strVal val="0-#ppt_w/2"/>
                                          </p:val>
                                        </p:tav>
                                        <p:tav tm="100000">
                                          <p:val>
                                            <p:strVal val="#ppt_x"/>
                                          </p:val>
                                        </p:tav>
                                      </p:tavLst>
                                    </p:anim>
                                    <p:anim calcmode="lin" valueType="num">
                                      <p:cBhvr additive="base">
                                        <p:cTn id="56" dur="500" fill="hold"/>
                                        <p:tgtEl>
                                          <p:spTgt spid="264194">
                                            <p:txEl>
                                              <p:pRg st="8" end="8"/>
                                            </p:txEl>
                                          </p:spTgt>
                                        </p:tgtEl>
                                        <p:attrNameLst>
                                          <p:attrName>ppt_y</p:attrName>
                                        </p:attrNameLst>
                                      </p:cBhvr>
                                      <p:tavLst>
                                        <p:tav tm="0">
                                          <p:val>
                                            <p:strVal val="#ppt_y"/>
                                          </p:val>
                                        </p:tav>
                                        <p:tav tm="100000">
                                          <p:val>
                                            <p:strVal val="#ppt_y"/>
                                          </p:val>
                                        </p:tav>
                                      </p:tavLst>
                                    </p:anim>
                                  </p:childTnLst>
                                </p:cTn>
                              </p:par>
                            </p:childTnLst>
                          </p:cTn>
                        </p:par>
                      </p:childTnLst>
                    </p:cTn>
                  </p:par>
                  <p:par>
                    <p:cTn id="57" fill="hold">
                      <p:stCondLst>
                        <p:cond delay="indefinite"/>
                      </p:stCondLst>
                      <p:childTnLst>
                        <p:par>
                          <p:cTn id="58" fill="hold">
                            <p:stCondLst>
                              <p:cond delay="0"/>
                            </p:stCondLst>
                            <p:childTnLst>
                              <p:par>
                                <p:cTn id="59" presetID="2" presetClass="entr" presetSubtype="8" fill="hold" grpId="0" nodeType="clickEffect">
                                  <p:stCondLst>
                                    <p:cond delay="0"/>
                                  </p:stCondLst>
                                  <p:childTnLst>
                                    <p:set>
                                      <p:cBhvr>
                                        <p:cTn id="60" dur="1" fill="hold">
                                          <p:stCondLst>
                                            <p:cond delay="0"/>
                                          </p:stCondLst>
                                        </p:cTn>
                                        <p:tgtEl>
                                          <p:spTgt spid="264194">
                                            <p:txEl>
                                              <p:pRg st="9" end="9"/>
                                            </p:txEl>
                                          </p:spTgt>
                                        </p:tgtEl>
                                        <p:attrNameLst>
                                          <p:attrName>style.visibility</p:attrName>
                                        </p:attrNameLst>
                                      </p:cBhvr>
                                      <p:to>
                                        <p:strVal val="visible"/>
                                      </p:to>
                                    </p:set>
                                    <p:anim calcmode="lin" valueType="num">
                                      <p:cBhvr additive="base">
                                        <p:cTn id="61" dur="500" fill="hold"/>
                                        <p:tgtEl>
                                          <p:spTgt spid="264194">
                                            <p:txEl>
                                              <p:pRg st="9" end="9"/>
                                            </p:txEl>
                                          </p:spTgt>
                                        </p:tgtEl>
                                        <p:attrNameLst>
                                          <p:attrName>ppt_x</p:attrName>
                                        </p:attrNameLst>
                                      </p:cBhvr>
                                      <p:tavLst>
                                        <p:tav tm="0">
                                          <p:val>
                                            <p:strVal val="0-#ppt_w/2"/>
                                          </p:val>
                                        </p:tav>
                                        <p:tav tm="100000">
                                          <p:val>
                                            <p:strVal val="#ppt_x"/>
                                          </p:val>
                                        </p:tav>
                                      </p:tavLst>
                                    </p:anim>
                                    <p:anim calcmode="lin" valueType="num">
                                      <p:cBhvr additive="base">
                                        <p:cTn id="62" dur="500" fill="hold"/>
                                        <p:tgtEl>
                                          <p:spTgt spid="264194">
                                            <p:txEl>
                                              <p:pRg st="9" end="9"/>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64194" grpId="0" build="p" bldLvl="3" autoUpdateAnimBg="0"/>
    </p:bldLst>
  </p:timing>
</p:sld>
</file>

<file path=ppt/slides/slide54.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65218" name="Rectangle 2"/>
          <p:cNvSpPr>
            <a:spLocks noGrp="1" noChangeArrowheads="1"/>
          </p:cNvSpPr>
          <p:nvPr>
            <p:ph idx="1"/>
          </p:nvPr>
        </p:nvSpPr>
        <p:spPr>
          <a:xfrm>
            <a:off x="0" y="304800"/>
            <a:ext cx="9144000" cy="6553200"/>
          </a:xfrm>
        </p:spPr>
        <p:txBody>
          <a:bodyPr/>
          <a:lstStyle/>
          <a:p>
            <a:pPr eaLnBrk="1" hangingPunct="1">
              <a:buFont typeface="Monotype Sorts" pitchFamily="2" charset="2"/>
              <a:buNone/>
            </a:pPr>
            <a:r>
              <a:rPr lang="en-US" sz="3600" b="1" smtClean="0">
                <a:solidFill>
                  <a:schemeClr val="tx2"/>
                </a:solidFill>
              </a:rPr>
              <a:t>Chemical Methods of Control</a:t>
            </a:r>
          </a:p>
          <a:p>
            <a:pPr eaLnBrk="1" hangingPunct="1">
              <a:buFont typeface="Monotype Sorts" pitchFamily="2" charset="2"/>
              <a:buNone/>
            </a:pPr>
            <a:r>
              <a:rPr lang="en-US" sz="3600" b="1" smtClean="0">
                <a:solidFill>
                  <a:schemeClr val="tx2"/>
                </a:solidFill>
              </a:rPr>
              <a:t>Types of Disinfectants</a:t>
            </a:r>
          </a:p>
          <a:p>
            <a:pPr eaLnBrk="1" hangingPunct="1">
              <a:lnSpc>
                <a:spcPct val="90000"/>
              </a:lnSpc>
              <a:buFont typeface="Arial" charset="0"/>
              <a:buNone/>
            </a:pPr>
            <a:r>
              <a:rPr lang="en-US" sz="2800" b="1" smtClean="0"/>
              <a:t>8</a:t>
            </a:r>
            <a:r>
              <a:rPr lang="en-US" b="1" smtClean="0"/>
              <a:t>. Peroxygens (Oxidizing Agents): </a:t>
            </a:r>
            <a:endParaRPr lang="en-US" sz="2800" b="1" smtClean="0"/>
          </a:p>
          <a:p>
            <a:pPr eaLnBrk="1" hangingPunct="1">
              <a:buSzPct val="75000"/>
              <a:buFont typeface="Arial" charset="0"/>
              <a:buNone/>
            </a:pPr>
            <a:r>
              <a:rPr lang="en-US" sz="2800" smtClean="0"/>
              <a:t> Oxidize cellular components of treated microbes.</a:t>
            </a:r>
          </a:p>
          <a:p>
            <a:pPr eaLnBrk="1" hangingPunct="1">
              <a:buSzPct val="75000"/>
              <a:buFont typeface="Arial" charset="0"/>
              <a:buNone/>
            </a:pPr>
            <a:r>
              <a:rPr lang="en-US" sz="2800" smtClean="0"/>
              <a:t> Disrupt membranes and proteins.</a:t>
            </a:r>
          </a:p>
          <a:p>
            <a:pPr eaLnBrk="1" hangingPunct="1">
              <a:buSzPct val="75000"/>
              <a:buFont typeface="Arial" charset="0"/>
              <a:buNone/>
            </a:pPr>
            <a:r>
              <a:rPr lang="en-US" sz="2800" b="1" smtClean="0"/>
              <a:t>A. Ozone:</a:t>
            </a:r>
          </a:p>
          <a:p>
            <a:pPr eaLnBrk="1" hangingPunct="1">
              <a:buSzPct val="75000"/>
              <a:buFont typeface="Arial" charset="0"/>
              <a:buNone/>
            </a:pPr>
            <a:r>
              <a:rPr lang="en-US" sz="2800" smtClean="0"/>
              <a:t> Used along with chlorine to disinfect water.</a:t>
            </a:r>
          </a:p>
          <a:p>
            <a:pPr eaLnBrk="1" hangingPunct="1">
              <a:buSzPct val="75000"/>
              <a:buFont typeface="Arial" charset="0"/>
              <a:buNone/>
            </a:pPr>
            <a:r>
              <a:rPr lang="en-US" sz="2800" smtClean="0"/>
              <a:t> Helps neutralize unpleasant tastes and odors.</a:t>
            </a:r>
          </a:p>
          <a:p>
            <a:pPr eaLnBrk="1" hangingPunct="1">
              <a:buSzPct val="75000"/>
              <a:buFont typeface="Arial" charset="0"/>
              <a:buNone/>
            </a:pPr>
            <a:r>
              <a:rPr lang="en-US" sz="2800" smtClean="0"/>
              <a:t> More effective killing agent than chlorine, but less stable and more expensive.</a:t>
            </a:r>
          </a:p>
          <a:p>
            <a:pPr eaLnBrk="1" hangingPunct="1">
              <a:buSzPct val="75000"/>
              <a:buFont typeface="Arial" charset="0"/>
              <a:buNone/>
            </a:pPr>
            <a:r>
              <a:rPr lang="en-US" sz="2800" smtClean="0"/>
              <a:t> Highly reactive form of oxygen.</a:t>
            </a:r>
          </a:p>
          <a:p>
            <a:pPr eaLnBrk="1" hangingPunct="1">
              <a:buSzPct val="75000"/>
              <a:buFont typeface="Arial" charset="0"/>
              <a:buNone/>
            </a:pPr>
            <a:r>
              <a:rPr lang="en-US" sz="2800" smtClean="0"/>
              <a:t> Made by exposing oxygen to electricity or UV light.</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265218">
                                            <p:txEl>
                                              <p:pRg st="0" end="0"/>
                                            </p:txEl>
                                          </p:spTgt>
                                        </p:tgtEl>
                                        <p:attrNameLst>
                                          <p:attrName>style.visibility</p:attrName>
                                        </p:attrNameLst>
                                      </p:cBhvr>
                                      <p:to>
                                        <p:strVal val="visible"/>
                                      </p:to>
                                    </p:set>
                                    <p:anim calcmode="lin" valueType="num">
                                      <p:cBhvr additive="base">
                                        <p:cTn id="7" dur="500" fill="hold"/>
                                        <p:tgtEl>
                                          <p:spTgt spid="265218">
                                            <p:txEl>
                                              <p:pRg st="0" end="0"/>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265218">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265218">
                                            <p:txEl>
                                              <p:pRg st="1" end="1"/>
                                            </p:txEl>
                                          </p:spTgt>
                                        </p:tgtEl>
                                        <p:attrNameLst>
                                          <p:attrName>style.visibility</p:attrName>
                                        </p:attrNameLst>
                                      </p:cBhvr>
                                      <p:to>
                                        <p:strVal val="visible"/>
                                      </p:to>
                                    </p:set>
                                    <p:anim calcmode="lin" valueType="num">
                                      <p:cBhvr additive="base">
                                        <p:cTn id="13" dur="500" fill="hold"/>
                                        <p:tgtEl>
                                          <p:spTgt spid="265218">
                                            <p:txEl>
                                              <p:pRg st="1" end="1"/>
                                            </p:txEl>
                                          </p:spTgt>
                                        </p:tgtEl>
                                        <p:attrNameLst>
                                          <p:attrName>ppt_x</p:attrName>
                                        </p:attrNameLst>
                                      </p:cBhvr>
                                      <p:tavLst>
                                        <p:tav tm="0">
                                          <p:val>
                                            <p:strVal val="0-#ppt_w/2"/>
                                          </p:val>
                                        </p:tav>
                                        <p:tav tm="100000">
                                          <p:val>
                                            <p:strVal val="#ppt_x"/>
                                          </p:val>
                                        </p:tav>
                                      </p:tavLst>
                                    </p:anim>
                                    <p:anim calcmode="lin" valueType="num">
                                      <p:cBhvr additive="base">
                                        <p:cTn id="14" dur="500" fill="hold"/>
                                        <p:tgtEl>
                                          <p:spTgt spid="265218">
                                            <p:txEl>
                                              <p:pRg st="1" end="1"/>
                                            </p:txEl>
                                          </p:spTgt>
                                        </p:tgtEl>
                                        <p:attrNameLst>
                                          <p:attrName>ppt_y</p:attrName>
                                        </p:attrNameLst>
                                      </p:cBhvr>
                                      <p:tavLst>
                                        <p:tav tm="0">
                                          <p:val>
                                            <p:strVal val="#ppt_y"/>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8" fill="hold" grpId="0" nodeType="clickEffect">
                                  <p:stCondLst>
                                    <p:cond delay="0"/>
                                  </p:stCondLst>
                                  <p:childTnLst>
                                    <p:set>
                                      <p:cBhvr>
                                        <p:cTn id="18" dur="1" fill="hold">
                                          <p:stCondLst>
                                            <p:cond delay="0"/>
                                          </p:stCondLst>
                                        </p:cTn>
                                        <p:tgtEl>
                                          <p:spTgt spid="265218">
                                            <p:txEl>
                                              <p:pRg st="2" end="2"/>
                                            </p:txEl>
                                          </p:spTgt>
                                        </p:tgtEl>
                                        <p:attrNameLst>
                                          <p:attrName>style.visibility</p:attrName>
                                        </p:attrNameLst>
                                      </p:cBhvr>
                                      <p:to>
                                        <p:strVal val="visible"/>
                                      </p:to>
                                    </p:set>
                                    <p:anim calcmode="lin" valueType="num">
                                      <p:cBhvr additive="base">
                                        <p:cTn id="19" dur="500" fill="hold"/>
                                        <p:tgtEl>
                                          <p:spTgt spid="265218">
                                            <p:txEl>
                                              <p:pRg st="2" end="2"/>
                                            </p:txEl>
                                          </p:spTgt>
                                        </p:tgtEl>
                                        <p:attrNameLst>
                                          <p:attrName>ppt_x</p:attrName>
                                        </p:attrNameLst>
                                      </p:cBhvr>
                                      <p:tavLst>
                                        <p:tav tm="0">
                                          <p:val>
                                            <p:strVal val="0-#ppt_w/2"/>
                                          </p:val>
                                        </p:tav>
                                        <p:tav tm="100000">
                                          <p:val>
                                            <p:strVal val="#ppt_x"/>
                                          </p:val>
                                        </p:tav>
                                      </p:tavLst>
                                    </p:anim>
                                    <p:anim calcmode="lin" valueType="num">
                                      <p:cBhvr additive="base">
                                        <p:cTn id="20" dur="500" fill="hold"/>
                                        <p:tgtEl>
                                          <p:spTgt spid="265218">
                                            <p:txEl>
                                              <p:pRg st="2" end="2"/>
                                            </p:txEl>
                                          </p:spTgt>
                                        </p:tgtEl>
                                        <p:attrNameLst>
                                          <p:attrName>ppt_y</p:attrName>
                                        </p:attrNameLst>
                                      </p:cBhvr>
                                      <p:tavLst>
                                        <p:tav tm="0">
                                          <p:val>
                                            <p:strVal val="#ppt_y"/>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8" fill="hold" grpId="0" nodeType="clickEffect">
                                  <p:stCondLst>
                                    <p:cond delay="0"/>
                                  </p:stCondLst>
                                  <p:childTnLst>
                                    <p:set>
                                      <p:cBhvr>
                                        <p:cTn id="24" dur="1" fill="hold">
                                          <p:stCondLst>
                                            <p:cond delay="0"/>
                                          </p:stCondLst>
                                        </p:cTn>
                                        <p:tgtEl>
                                          <p:spTgt spid="265218">
                                            <p:txEl>
                                              <p:pRg st="3" end="3"/>
                                            </p:txEl>
                                          </p:spTgt>
                                        </p:tgtEl>
                                        <p:attrNameLst>
                                          <p:attrName>style.visibility</p:attrName>
                                        </p:attrNameLst>
                                      </p:cBhvr>
                                      <p:to>
                                        <p:strVal val="visible"/>
                                      </p:to>
                                    </p:set>
                                    <p:anim calcmode="lin" valueType="num">
                                      <p:cBhvr additive="base">
                                        <p:cTn id="25" dur="500" fill="hold"/>
                                        <p:tgtEl>
                                          <p:spTgt spid="265218">
                                            <p:txEl>
                                              <p:pRg st="3" end="3"/>
                                            </p:txEl>
                                          </p:spTgt>
                                        </p:tgtEl>
                                        <p:attrNameLst>
                                          <p:attrName>ppt_x</p:attrName>
                                        </p:attrNameLst>
                                      </p:cBhvr>
                                      <p:tavLst>
                                        <p:tav tm="0">
                                          <p:val>
                                            <p:strVal val="0-#ppt_w/2"/>
                                          </p:val>
                                        </p:tav>
                                        <p:tav tm="100000">
                                          <p:val>
                                            <p:strVal val="#ppt_x"/>
                                          </p:val>
                                        </p:tav>
                                      </p:tavLst>
                                    </p:anim>
                                    <p:anim calcmode="lin" valueType="num">
                                      <p:cBhvr additive="base">
                                        <p:cTn id="26" dur="500" fill="hold"/>
                                        <p:tgtEl>
                                          <p:spTgt spid="265218">
                                            <p:txEl>
                                              <p:pRg st="3" end="3"/>
                                            </p:txEl>
                                          </p:spTgt>
                                        </p:tgtEl>
                                        <p:attrNameLst>
                                          <p:attrName>ppt_y</p:attrName>
                                        </p:attrNameLst>
                                      </p:cBhvr>
                                      <p:tavLst>
                                        <p:tav tm="0">
                                          <p:val>
                                            <p:strVal val="#ppt_y"/>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8" fill="hold" grpId="0" nodeType="clickEffect">
                                  <p:stCondLst>
                                    <p:cond delay="0"/>
                                  </p:stCondLst>
                                  <p:childTnLst>
                                    <p:set>
                                      <p:cBhvr>
                                        <p:cTn id="30" dur="1" fill="hold">
                                          <p:stCondLst>
                                            <p:cond delay="0"/>
                                          </p:stCondLst>
                                        </p:cTn>
                                        <p:tgtEl>
                                          <p:spTgt spid="265218">
                                            <p:txEl>
                                              <p:pRg st="4" end="4"/>
                                            </p:txEl>
                                          </p:spTgt>
                                        </p:tgtEl>
                                        <p:attrNameLst>
                                          <p:attrName>style.visibility</p:attrName>
                                        </p:attrNameLst>
                                      </p:cBhvr>
                                      <p:to>
                                        <p:strVal val="visible"/>
                                      </p:to>
                                    </p:set>
                                    <p:anim calcmode="lin" valueType="num">
                                      <p:cBhvr additive="base">
                                        <p:cTn id="31" dur="500" fill="hold"/>
                                        <p:tgtEl>
                                          <p:spTgt spid="265218">
                                            <p:txEl>
                                              <p:pRg st="4" end="4"/>
                                            </p:txEl>
                                          </p:spTgt>
                                        </p:tgtEl>
                                        <p:attrNameLst>
                                          <p:attrName>ppt_x</p:attrName>
                                        </p:attrNameLst>
                                      </p:cBhvr>
                                      <p:tavLst>
                                        <p:tav tm="0">
                                          <p:val>
                                            <p:strVal val="0-#ppt_w/2"/>
                                          </p:val>
                                        </p:tav>
                                        <p:tav tm="100000">
                                          <p:val>
                                            <p:strVal val="#ppt_x"/>
                                          </p:val>
                                        </p:tav>
                                      </p:tavLst>
                                    </p:anim>
                                    <p:anim calcmode="lin" valueType="num">
                                      <p:cBhvr additive="base">
                                        <p:cTn id="32" dur="500" fill="hold"/>
                                        <p:tgtEl>
                                          <p:spTgt spid="265218">
                                            <p:txEl>
                                              <p:pRg st="4" end="4"/>
                                            </p:txEl>
                                          </p:spTgt>
                                        </p:tgtEl>
                                        <p:attrNameLst>
                                          <p:attrName>ppt_y</p:attrName>
                                        </p:attrNameLst>
                                      </p:cBhvr>
                                      <p:tavLst>
                                        <p:tav tm="0">
                                          <p:val>
                                            <p:strVal val="#ppt_y"/>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8" fill="hold" grpId="0" nodeType="clickEffect">
                                  <p:stCondLst>
                                    <p:cond delay="0"/>
                                  </p:stCondLst>
                                  <p:childTnLst>
                                    <p:set>
                                      <p:cBhvr>
                                        <p:cTn id="36" dur="1" fill="hold">
                                          <p:stCondLst>
                                            <p:cond delay="0"/>
                                          </p:stCondLst>
                                        </p:cTn>
                                        <p:tgtEl>
                                          <p:spTgt spid="265218">
                                            <p:txEl>
                                              <p:pRg st="5" end="5"/>
                                            </p:txEl>
                                          </p:spTgt>
                                        </p:tgtEl>
                                        <p:attrNameLst>
                                          <p:attrName>style.visibility</p:attrName>
                                        </p:attrNameLst>
                                      </p:cBhvr>
                                      <p:to>
                                        <p:strVal val="visible"/>
                                      </p:to>
                                    </p:set>
                                    <p:anim calcmode="lin" valueType="num">
                                      <p:cBhvr additive="base">
                                        <p:cTn id="37" dur="500" fill="hold"/>
                                        <p:tgtEl>
                                          <p:spTgt spid="265218">
                                            <p:txEl>
                                              <p:pRg st="5" end="5"/>
                                            </p:txEl>
                                          </p:spTgt>
                                        </p:tgtEl>
                                        <p:attrNameLst>
                                          <p:attrName>ppt_x</p:attrName>
                                        </p:attrNameLst>
                                      </p:cBhvr>
                                      <p:tavLst>
                                        <p:tav tm="0">
                                          <p:val>
                                            <p:strVal val="0-#ppt_w/2"/>
                                          </p:val>
                                        </p:tav>
                                        <p:tav tm="100000">
                                          <p:val>
                                            <p:strVal val="#ppt_x"/>
                                          </p:val>
                                        </p:tav>
                                      </p:tavLst>
                                    </p:anim>
                                    <p:anim calcmode="lin" valueType="num">
                                      <p:cBhvr additive="base">
                                        <p:cTn id="38" dur="500" fill="hold"/>
                                        <p:tgtEl>
                                          <p:spTgt spid="265218">
                                            <p:txEl>
                                              <p:pRg st="5" end="5"/>
                                            </p:txEl>
                                          </p:spTgt>
                                        </p:tgtEl>
                                        <p:attrNameLst>
                                          <p:attrName>ppt_y</p:attrName>
                                        </p:attrNameLst>
                                      </p:cBhvr>
                                      <p:tavLst>
                                        <p:tav tm="0">
                                          <p:val>
                                            <p:strVal val="#ppt_y"/>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2" presetClass="entr" presetSubtype="8" fill="hold" grpId="0" nodeType="clickEffect">
                                  <p:stCondLst>
                                    <p:cond delay="0"/>
                                  </p:stCondLst>
                                  <p:childTnLst>
                                    <p:set>
                                      <p:cBhvr>
                                        <p:cTn id="42" dur="1" fill="hold">
                                          <p:stCondLst>
                                            <p:cond delay="0"/>
                                          </p:stCondLst>
                                        </p:cTn>
                                        <p:tgtEl>
                                          <p:spTgt spid="265218">
                                            <p:txEl>
                                              <p:pRg st="6" end="6"/>
                                            </p:txEl>
                                          </p:spTgt>
                                        </p:tgtEl>
                                        <p:attrNameLst>
                                          <p:attrName>style.visibility</p:attrName>
                                        </p:attrNameLst>
                                      </p:cBhvr>
                                      <p:to>
                                        <p:strVal val="visible"/>
                                      </p:to>
                                    </p:set>
                                    <p:anim calcmode="lin" valueType="num">
                                      <p:cBhvr additive="base">
                                        <p:cTn id="43" dur="500" fill="hold"/>
                                        <p:tgtEl>
                                          <p:spTgt spid="265218">
                                            <p:txEl>
                                              <p:pRg st="6" end="6"/>
                                            </p:txEl>
                                          </p:spTgt>
                                        </p:tgtEl>
                                        <p:attrNameLst>
                                          <p:attrName>ppt_x</p:attrName>
                                        </p:attrNameLst>
                                      </p:cBhvr>
                                      <p:tavLst>
                                        <p:tav tm="0">
                                          <p:val>
                                            <p:strVal val="0-#ppt_w/2"/>
                                          </p:val>
                                        </p:tav>
                                        <p:tav tm="100000">
                                          <p:val>
                                            <p:strVal val="#ppt_x"/>
                                          </p:val>
                                        </p:tav>
                                      </p:tavLst>
                                    </p:anim>
                                    <p:anim calcmode="lin" valueType="num">
                                      <p:cBhvr additive="base">
                                        <p:cTn id="44" dur="500" fill="hold"/>
                                        <p:tgtEl>
                                          <p:spTgt spid="265218">
                                            <p:txEl>
                                              <p:pRg st="6" end="6"/>
                                            </p:txEl>
                                          </p:spTgt>
                                        </p:tgtEl>
                                        <p:attrNameLst>
                                          <p:attrName>ppt_y</p:attrName>
                                        </p:attrNameLst>
                                      </p:cBhvr>
                                      <p:tavLst>
                                        <p:tav tm="0">
                                          <p:val>
                                            <p:strVal val="#ppt_y"/>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2" presetClass="entr" presetSubtype="8" fill="hold" grpId="0" nodeType="clickEffect">
                                  <p:stCondLst>
                                    <p:cond delay="0"/>
                                  </p:stCondLst>
                                  <p:childTnLst>
                                    <p:set>
                                      <p:cBhvr>
                                        <p:cTn id="48" dur="1" fill="hold">
                                          <p:stCondLst>
                                            <p:cond delay="0"/>
                                          </p:stCondLst>
                                        </p:cTn>
                                        <p:tgtEl>
                                          <p:spTgt spid="265218">
                                            <p:txEl>
                                              <p:pRg st="7" end="7"/>
                                            </p:txEl>
                                          </p:spTgt>
                                        </p:tgtEl>
                                        <p:attrNameLst>
                                          <p:attrName>style.visibility</p:attrName>
                                        </p:attrNameLst>
                                      </p:cBhvr>
                                      <p:to>
                                        <p:strVal val="visible"/>
                                      </p:to>
                                    </p:set>
                                    <p:anim calcmode="lin" valueType="num">
                                      <p:cBhvr additive="base">
                                        <p:cTn id="49" dur="500" fill="hold"/>
                                        <p:tgtEl>
                                          <p:spTgt spid="265218">
                                            <p:txEl>
                                              <p:pRg st="7" end="7"/>
                                            </p:txEl>
                                          </p:spTgt>
                                        </p:tgtEl>
                                        <p:attrNameLst>
                                          <p:attrName>ppt_x</p:attrName>
                                        </p:attrNameLst>
                                      </p:cBhvr>
                                      <p:tavLst>
                                        <p:tav tm="0">
                                          <p:val>
                                            <p:strVal val="0-#ppt_w/2"/>
                                          </p:val>
                                        </p:tav>
                                        <p:tav tm="100000">
                                          <p:val>
                                            <p:strVal val="#ppt_x"/>
                                          </p:val>
                                        </p:tav>
                                      </p:tavLst>
                                    </p:anim>
                                    <p:anim calcmode="lin" valueType="num">
                                      <p:cBhvr additive="base">
                                        <p:cTn id="50" dur="500" fill="hold"/>
                                        <p:tgtEl>
                                          <p:spTgt spid="265218">
                                            <p:txEl>
                                              <p:pRg st="7" end="7"/>
                                            </p:txEl>
                                          </p:spTgt>
                                        </p:tgtEl>
                                        <p:attrNameLst>
                                          <p:attrName>ppt_y</p:attrName>
                                        </p:attrNameLst>
                                      </p:cBhvr>
                                      <p:tavLst>
                                        <p:tav tm="0">
                                          <p:val>
                                            <p:strVal val="#ppt_y"/>
                                          </p:val>
                                        </p:tav>
                                        <p:tav tm="100000">
                                          <p:val>
                                            <p:strVal val="#ppt_y"/>
                                          </p:val>
                                        </p:tav>
                                      </p:tavLst>
                                    </p:anim>
                                  </p:childTnLst>
                                </p:cTn>
                              </p:par>
                            </p:childTnLst>
                          </p:cTn>
                        </p:par>
                      </p:childTnLst>
                    </p:cTn>
                  </p:par>
                  <p:par>
                    <p:cTn id="51" fill="hold">
                      <p:stCondLst>
                        <p:cond delay="indefinite"/>
                      </p:stCondLst>
                      <p:childTnLst>
                        <p:par>
                          <p:cTn id="52" fill="hold">
                            <p:stCondLst>
                              <p:cond delay="0"/>
                            </p:stCondLst>
                            <p:childTnLst>
                              <p:par>
                                <p:cTn id="53" presetID="2" presetClass="entr" presetSubtype="8" fill="hold" grpId="0" nodeType="clickEffect">
                                  <p:stCondLst>
                                    <p:cond delay="0"/>
                                  </p:stCondLst>
                                  <p:childTnLst>
                                    <p:set>
                                      <p:cBhvr>
                                        <p:cTn id="54" dur="1" fill="hold">
                                          <p:stCondLst>
                                            <p:cond delay="0"/>
                                          </p:stCondLst>
                                        </p:cTn>
                                        <p:tgtEl>
                                          <p:spTgt spid="265218">
                                            <p:txEl>
                                              <p:pRg st="8" end="8"/>
                                            </p:txEl>
                                          </p:spTgt>
                                        </p:tgtEl>
                                        <p:attrNameLst>
                                          <p:attrName>style.visibility</p:attrName>
                                        </p:attrNameLst>
                                      </p:cBhvr>
                                      <p:to>
                                        <p:strVal val="visible"/>
                                      </p:to>
                                    </p:set>
                                    <p:anim calcmode="lin" valueType="num">
                                      <p:cBhvr additive="base">
                                        <p:cTn id="55" dur="500" fill="hold"/>
                                        <p:tgtEl>
                                          <p:spTgt spid="265218">
                                            <p:txEl>
                                              <p:pRg st="8" end="8"/>
                                            </p:txEl>
                                          </p:spTgt>
                                        </p:tgtEl>
                                        <p:attrNameLst>
                                          <p:attrName>ppt_x</p:attrName>
                                        </p:attrNameLst>
                                      </p:cBhvr>
                                      <p:tavLst>
                                        <p:tav tm="0">
                                          <p:val>
                                            <p:strVal val="0-#ppt_w/2"/>
                                          </p:val>
                                        </p:tav>
                                        <p:tav tm="100000">
                                          <p:val>
                                            <p:strVal val="#ppt_x"/>
                                          </p:val>
                                        </p:tav>
                                      </p:tavLst>
                                    </p:anim>
                                    <p:anim calcmode="lin" valueType="num">
                                      <p:cBhvr additive="base">
                                        <p:cTn id="56" dur="500" fill="hold"/>
                                        <p:tgtEl>
                                          <p:spTgt spid="265218">
                                            <p:txEl>
                                              <p:pRg st="8" end="8"/>
                                            </p:txEl>
                                          </p:spTgt>
                                        </p:tgtEl>
                                        <p:attrNameLst>
                                          <p:attrName>ppt_y</p:attrName>
                                        </p:attrNameLst>
                                      </p:cBhvr>
                                      <p:tavLst>
                                        <p:tav tm="0">
                                          <p:val>
                                            <p:strVal val="#ppt_y"/>
                                          </p:val>
                                        </p:tav>
                                        <p:tav tm="100000">
                                          <p:val>
                                            <p:strVal val="#ppt_y"/>
                                          </p:val>
                                        </p:tav>
                                      </p:tavLst>
                                    </p:anim>
                                  </p:childTnLst>
                                </p:cTn>
                              </p:par>
                            </p:childTnLst>
                          </p:cTn>
                        </p:par>
                      </p:childTnLst>
                    </p:cTn>
                  </p:par>
                  <p:par>
                    <p:cTn id="57" fill="hold">
                      <p:stCondLst>
                        <p:cond delay="indefinite"/>
                      </p:stCondLst>
                      <p:childTnLst>
                        <p:par>
                          <p:cTn id="58" fill="hold">
                            <p:stCondLst>
                              <p:cond delay="0"/>
                            </p:stCondLst>
                            <p:childTnLst>
                              <p:par>
                                <p:cTn id="59" presetID="2" presetClass="entr" presetSubtype="8" fill="hold" grpId="0" nodeType="clickEffect">
                                  <p:stCondLst>
                                    <p:cond delay="0"/>
                                  </p:stCondLst>
                                  <p:childTnLst>
                                    <p:set>
                                      <p:cBhvr>
                                        <p:cTn id="60" dur="1" fill="hold">
                                          <p:stCondLst>
                                            <p:cond delay="0"/>
                                          </p:stCondLst>
                                        </p:cTn>
                                        <p:tgtEl>
                                          <p:spTgt spid="265218">
                                            <p:txEl>
                                              <p:pRg st="9" end="9"/>
                                            </p:txEl>
                                          </p:spTgt>
                                        </p:tgtEl>
                                        <p:attrNameLst>
                                          <p:attrName>style.visibility</p:attrName>
                                        </p:attrNameLst>
                                      </p:cBhvr>
                                      <p:to>
                                        <p:strVal val="visible"/>
                                      </p:to>
                                    </p:set>
                                    <p:anim calcmode="lin" valueType="num">
                                      <p:cBhvr additive="base">
                                        <p:cTn id="61" dur="500" fill="hold"/>
                                        <p:tgtEl>
                                          <p:spTgt spid="265218">
                                            <p:txEl>
                                              <p:pRg st="9" end="9"/>
                                            </p:txEl>
                                          </p:spTgt>
                                        </p:tgtEl>
                                        <p:attrNameLst>
                                          <p:attrName>ppt_x</p:attrName>
                                        </p:attrNameLst>
                                      </p:cBhvr>
                                      <p:tavLst>
                                        <p:tav tm="0">
                                          <p:val>
                                            <p:strVal val="0-#ppt_w/2"/>
                                          </p:val>
                                        </p:tav>
                                        <p:tav tm="100000">
                                          <p:val>
                                            <p:strVal val="#ppt_x"/>
                                          </p:val>
                                        </p:tav>
                                      </p:tavLst>
                                    </p:anim>
                                    <p:anim calcmode="lin" valueType="num">
                                      <p:cBhvr additive="base">
                                        <p:cTn id="62" dur="500" fill="hold"/>
                                        <p:tgtEl>
                                          <p:spTgt spid="265218">
                                            <p:txEl>
                                              <p:pRg st="9" end="9"/>
                                            </p:txEl>
                                          </p:spTgt>
                                        </p:tgtEl>
                                        <p:attrNameLst>
                                          <p:attrName>ppt_y</p:attrName>
                                        </p:attrNameLst>
                                      </p:cBhvr>
                                      <p:tavLst>
                                        <p:tav tm="0">
                                          <p:val>
                                            <p:strVal val="#ppt_y"/>
                                          </p:val>
                                        </p:tav>
                                        <p:tav tm="100000">
                                          <p:val>
                                            <p:strVal val="#ppt_y"/>
                                          </p:val>
                                        </p:tav>
                                      </p:tavLst>
                                    </p:anim>
                                  </p:childTnLst>
                                </p:cTn>
                              </p:par>
                            </p:childTnLst>
                          </p:cTn>
                        </p:par>
                      </p:childTnLst>
                    </p:cTn>
                  </p:par>
                  <p:par>
                    <p:cTn id="63" fill="hold">
                      <p:stCondLst>
                        <p:cond delay="indefinite"/>
                      </p:stCondLst>
                      <p:childTnLst>
                        <p:par>
                          <p:cTn id="64" fill="hold">
                            <p:stCondLst>
                              <p:cond delay="0"/>
                            </p:stCondLst>
                            <p:childTnLst>
                              <p:par>
                                <p:cTn id="65" presetID="2" presetClass="entr" presetSubtype="8" fill="hold" grpId="0" nodeType="clickEffect">
                                  <p:stCondLst>
                                    <p:cond delay="0"/>
                                  </p:stCondLst>
                                  <p:childTnLst>
                                    <p:set>
                                      <p:cBhvr>
                                        <p:cTn id="66" dur="1" fill="hold">
                                          <p:stCondLst>
                                            <p:cond delay="0"/>
                                          </p:stCondLst>
                                        </p:cTn>
                                        <p:tgtEl>
                                          <p:spTgt spid="265218">
                                            <p:txEl>
                                              <p:pRg st="10" end="10"/>
                                            </p:txEl>
                                          </p:spTgt>
                                        </p:tgtEl>
                                        <p:attrNameLst>
                                          <p:attrName>style.visibility</p:attrName>
                                        </p:attrNameLst>
                                      </p:cBhvr>
                                      <p:to>
                                        <p:strVal val="visible"/>
                                      </p:to>
                                    </p:set>
                                    <p:anim calcmode="lin" valueType="num">
                                      <p:cBhvr additive="base">
                                        <p:cTn id="67" dur="500" fill="hold"/>
                                        <p:tgtEl>
                                          <p:spTgt spid="265218">
                                            <p:txEl>
                                              <p:pRg st="10" end="10"/>
                                            </p:txEl>
                                          </p:spTgt>
                                        </p:tgtEl>
                                        <p:attrNameLst>
                                          <p:attrName>ppt_x</p:attrName>
                                        </p:attrNameLst>
                                      </p:cBhvr>
                                      <p:tavLst>
                                        <p:tav tm="0">
                                          <p:val>
                                            <p:strVal val="0-#ppt_w/2"/>
                                          </p:val>
                                        </p:tav>
                                        <p:tav tm="100000">
                                          <p:val>
                                            <p:strVal val="#ppt_x"/>
                                          </p:val>
                                        </p:tav>
                                      </p:tavLst>
                                    </p:anim>
                                    <p:anim calcmode="lin" valueType="num">
                                      <p:cBhvr additive="base">
                                        <p:cTn id="68" dur="500" fill="hold"/>
                                        <p:tgtEl>
                                          <p:spTgt spid="265218">
                                            <p:txEl>
                                              <p:pRg st="10" end="10"/>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65218" grpId="0" build="p" bldLvl="3" autoUpdateAnimBg="0"/>
    </p:bldLst>
  </p:timing>
</p:sld>
</file>

<file path=ppt/slides/slide55.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66242" name="Rectangle 2"/>
          <p:cNvSpPr>
            <a:spLocks noGrp="1" noChangeArrowheads="1"/>
          </p:cNvSpPr>
          <p:nvPr>
            <p:ph idx="1"/>
          </p:nvPr>
        </p:nvSpPr>
        <p:spPr>
          <a:xfrm>
            <a:off x="0" y="304800"/>
            <a:ext cx="9144000" cy="6553200"/>
          </a:xfrm>
        </p:spPr>
        <p:txBody>
          <a:bodyPr/>
          <a:lstStyle/>
          <a:p>
            <a:pPr eaLnBrk="1" hangingPunct="1">
              <a:buFont typeface="Monotype Sorts" pitchFamily="2" charset="2"/>
              <a:buNone/>
            </a:pPr>
            <a:r>
              <a:rPr lang="en-US" sz="3600" b="1" smtClean="0">
                <a:solidFill>
                  <a:schemeClr val="tx2"/>
                </a:solidFill>
              </a:rPr>
              <a:t>Chemical Methods of Control</a:t>
            </a:r>
          </a:p>
          <a:p>
            <a:pPr eaLnBrk="1" hangingPunct="1">
              <a:buFont typeface="Monotype Sorts" pitchFamily="2" charset="2"/>
              <a:buNone/>
            </a:pPr>
            <a:r>
              <a:rPr lang="en-US" sz="3600" b="1" smtClean="0">
                <a:solidFill>
                  <a:schemeClr val="tx2"/>
                </a:solidFill>
              </a:rPr>
              <a:t>Types of Disinfectants</a:t>
            </a:r>
          </a:p>
          <a:p>
            <a:pPr eaLnBrk="1" hangingPunct="1">
              <a:lnSpc>
                <a:spcPct val="90000"/>
              </a:lnSpc>
              <a:buFont typeface="Arial" charset="0"/>
              <a:buNone/>
            </a:pPr>
            <a:r>
              <a:rPr lang="en-US" sz="2800" b="1" smtClean="0"/>
              <a:t>8. </a:t>
            </a:r>
            <a:r>
              <a:rPr lang="en-US" b="1" smtClean="0"/>
              <a:t>Peroxygens (Oxidizing Agents): </a:t>
            </a:r>
            <a:endParaRPr lang="en-US" sz="2800" b="1" smtClean="0"/>
          </a:p>
          <a:p>
            <a:pPr eaLnBrk="1" hangingPunct="1">
              <a:buSzPct val="75000"/>
              <a:buFont typeface="Arial" charset="0"/>
              <a:buNone/>
            </a:pPr>
            <a:r>
              <a:rPr lang="en-US" sz="2800" b="1" smtClean="0"/>
              <a:t>B. Hydrogen Peroxide:</a:t>
            </a:r>
          </a:p>
          <a:p>
            <a:pPr eaLnBrk="1" hangingPunct="1">
              <a:buSzPct val="75000"/>
              <a:buFont typeface="Arial" charset="0"/>
              <a:buNone/>
            </a:pPr>
            <a:r>
              <a:rPr lang="en-US" sz="2800" smtClean="0"/>
              <a:t> Used as an antiseptic.</a:t>
            </a:r>
          </a:p>
          <a:p>
            <a:pPr eaLnBrk="1" hangingPunct="1">
              <a:buSzPct val="75000"/>
              <a:buFont typeface="Arial" charset="0"/>
              <a:buNone/>
            </a:pPr>
            <a:r>
              <a:rPr lang="en-US" sz="2800" smtClean="0"/>
              <a:t> Not good for open wounds because quickly broken down by catalase present in human cells.</a:t>
            </a:r>
          </a:p>
          <a:p>
            <a:pPr eaLnBrk="1" hangingPunct="1">
              <a:buSzPct val="75000"/>
              <a:buFont typeface="Arial" charset="0"/>
              <a:buNone/>
            </a:pPr>
            <a:r>
              <a:rPr lang="en-US" sz="2800" smtClean="0"/>
              <a:t> Effective in disinfection of inanimate objects.</a:t>
            </a:r>
          </a:p>
          <a:p>
            <a:pPr eaLnBrk="1" hangingPunct="1">
              <a:buSzPct val="75000"/>
              <a:buFont typeface="Arial" charset="0"/>
              <a:buNone/>
            </a:pPr>
            <a:r>
              <a:rPr lang="en-US" sz="2800" smtClean="0"/>
              <a:t> Sporicidal at higher temperatures.</a:t>
            </a:r>
          </a:p>
          <a:p>
            <a:pPr eaLnBrk="1" hangingPunct="1">
              <a:buSzPct val="75000"/>
              <a:buFont typeface="Arial" charset="0"/>
              <a:buNone/>
            </a:pPr>
            <a:r>
              <a:rPr lang="en-US" sz="2800" smtClean="0"/>
              <a:t> Used by food industry and to disinfect contact lenses.</a:t>
            </a:r>
          </a:p>
          <a:p>
            <a:pPr eaLnBrk="1" hangingPunct="1">
              <a:buSzPct val="75000"/>
              <a:buFont typeface="Arial" charset="0"/>
              <a:buNone/>
            </a:pPr>
            <a:r>
              <a:rPr lang="en-US" sz="2800" b="1" smtClean="0"/>
              <a:t>C. Benzoyl Peroxide:</a:t>
            </a:r>
          </a:p>
          <a:p>
            <a:pPr eaLnBrk="1" hangingPunct="1">
              <a:buSzPct val="75000"/>
              <a:buFont typeface="Arial" charset="0"/>
              <a:buNone/>
            </a:pPr>
            <a:endParaRPr lang="en-US" sz="2400" smtClean="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266242">
                                            <p:txEl>
                                              <p:pRg st="0" end="0"/>
                                            </p:txEl>
                                          </p:spTgt>
                                        </p:tgtEl>
                                        <p:attrNameLst>
                                          <p:attrName>style.visibility</p:attrName>
                                        </p:attrNameLst>
                                      </p:cBhvr>
                                      <p:to>
                                        <p:strVal val="visible"/>
                                      </p:to>
                                    </p:set>
                                    <p:anim calcmode="lin" valueType="num">
                                      <p:cBhvr additive="base">
                                        <p:cTn id="7" dur="500" fill="hold"/>
                                        <p:tgtEl>
                                          <p:spTgt spid="266242">
                                            <p:txEl>
                                              <p:pRg st="0" end="0"/>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266242">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266242">
                                            <p:txEl>
                                              <p:pRg st="1" end="1"/>
                                            </p:txEl>
                                          </p:spTgt>
                                        </p:tgtEl>
                                        <p:attrNameLst>
                                          <p:attrName>style.visibility</p:attrName>
                                        </p:attrNameLst>
                                      </p:cBhvr>
                                      <p:to>
                                        <p:strVal val="visible"/>
                                      </p:to>
                                    </p:set>
                                    <p:anim calcmode="lin" valueType="num">
                                      <p:cBhvr additive="base">
                                        <p:cTn id="13" dur="500" fill="hold"/>
                                        <p:tgtEl>
                                          <p:spTgt spid="266242">
                                            <p:txEl>
                                              <p:pRg st="1" end="1"/>
                                            </p:txEl>
                                          </p:spTgt>
                                        </p:tgtEl>
                                        <p:attrNameLst>
                                          <p:attrName>ppt_x</p:attrName>
                                        </p:attrNameLst>
                                      </p:cBhvr>
                                      <p:tavLst>
                                        <p:tav tm="0">
                                          <p:val>
                                            <p:strVal val="0-#ppt_w/2"/>
                                          </p:val>
                                        </p:tav>
                                        <p:tav tm="100000">
                                          <p:val>
                                            <p:strVal val="#ppt_x"/>
                                          </p:val>
                                        </p:tav>
                                      </p:tavLst>
                                    </p:anim>
                                    <p:anim calcmode="lin" valueType="num">
                                      <p:cBhvr additive="base">
                                        <p:cTn id="14" dur="500" fill="hold"/>
                                        <p:tgtEl>
                                          <p:spTgt spid="266242">
                                            <p:txEl>
                                              <p:pRg st="1" end="1"/>
                                            </p:txEl>
                                          </p:spTgt>
                                        </p:tgtEl>
                                        <p:attrNameLst>
                                          <p:attrName>ppt_y</p:attrName>
                                        </p:attrNameLst>
                                      </p:cBhvr>
                                      <p:tavLst>
                                        <p:tav tm="0">
                                          <p:val>
                                            <p:strVal val="#ppt_y"/>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8" fill="hold" grpId="0" nodeType="clickEffect">
                                  <p:stCondLst>
                                    <p:cond delay="0"/>
                                  </p:stCondLst>
                                  <p:childTnLst>
                                    <p:set>
                                      <p:cBhvr>
                                        <p:cTn id="18" dur="1" fill="hold">
                                          <p:stCondLst>
                                            <p:cond delay="0"/>
                                          </p:stCondLst>
                                        </p:cTn>
                                        <p:tgtEl>
                                          <p:spTgt spid="266242">
                                            <p:txEl>
                                              <p:pRg st="2" end="2"/>
                                            </p:txEl>
                                          </p:spTgt>
                                        </p:tgtEl>
                                        <p:attrNameLst>
                                          <p:attrName>style.visibility</p:attrName>
                                        </p:attrNameLst>
                                      </p:cBhvr>
                                      <p:to>
                                        <p:strVal val="visible"/>
                                      </p:to>
                                    </p:set>
                                    <p:anim calcmode="lin" valueType="num">
                                      <p:cBhvr additive="base">
                                        <p:cTn id="19" dur="500" fill="hold"/>
                                        <p:tgtEl>
                                          <p:spTgt spid="266242">
                                            <p:txEl>
                                              <p:pRg st="2" end="2"/>
                                            </p:txEl>
                                          </p:spTgt>
                                        </p:tgtEl>
                                        <p:attrNameLst>
                                          <p:attrName>ppt_x</p:attrName>
                                        </p:attrNameLst>
                                      </p:cBhvr>
                                      <p:tavLst>
                                        <p:tav tm="0">
                                          <p:val>
                                            <p:strVal val="0-#ppt_w/2"/>
                                          </p:val>
                                        </p:tav>
                                        <p:tav tm="100000">
                                          <p:val>
                                            <p:strVal val="#ppt_x"/>
                                          </p:val>
                                        </p:tav>
                                      </p:tavLst>
                                    </p:anim>
                                    <p:anim calcmode="lin" valueType="num">
                                      <p:cBhvr additive="base">
                                        <p:cTn id="20" dur="500" fill="hold"/>
                                        <p:tgtEl>
                                          <p:spTgt spid="266242">
                                            <p:txEl>
                                              <p:pRg st="2" end="2"/>
                                            </p:txEl>
                                          </p:spTgt>
                                        </p:tgtEl>
                                        <p:attrNameLst>
                                          <p:attrName>ppt_y</p:attrName>
                                        </p:attrNameLst>
                                      </p:cBhvr>
                                      <p:tavLst>
                                        <p:tav tm="0">
                                          <p:val>
                                            <p:strVal val="#ppt_y"/>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8" fill="hold" grpId="0" nodeType="clickEffect">
                                  <p:stCondLst>
                                    <p:cond delay="0"/>
                                  </p:stCondLst>
                                  <p:childTnLst>
                                    <p:set>
                                      <p:cBhvr>
                                        <p:cTn id="24" dur="1" fill="hold">
                                          <p:stCondLst>
                                            <p:cond delay="0"/>
                                          </p:stCondLst>
                                        </p:cTn>
                                        <p:tgtEl>
                                          <p:spTgt spid="266242">
                                            <p:txEl>
                                              <p:pRg st="3" end="3"/>
                                            </p:txEl>
                                          </p:spTgt>
                                        </p:tgtEl>
                                        <p:attrNameLst>
                                          <p:attrName>style.visibility</p:attrName>
                                        </p:attrNameLst>
                                      </p:cBhvr>
                                      <p:to>
                                        <p:strVal val="visible"/>
                                      </p:to>
                                    </p:set>
                                    <p:anim calcmode="lin" valueType="num">
                                      <p:cBhvr additive="base">
                                        <p:cTn id="25" dur="500" fill="hold"/>
                                        <p:tgtEl>
                                          <p:spTgt spid="266242">
                                            <p:txEl>
                                              <p:pRg st="3" end="3"/>
                                            </p:txEl>
                                          </p:spTgt>
                                        </p:tgtEl>
                                        <p:attrNameLst>
                                          <p:attrName>ppt_x</p:attrName>
                                        </p:attrNameLst>
                                      </p:cBhvr>
                                      <p:tavLst>
                                        <p:tav tm="0">
                                          <p:val>
                                            <p:strVal val="0-#ppt_w/2"/>
                                          </p:val>
                                        </p:tav>
                                        <p:tav tm="100000">
                                          <p:val>
                                            <p:strVal val="#ppt_x"/>
                                          </p:val>
                                        </p:tav>
                                      </p:tavLst>
                                    </p:anim>
                                    <p:anim calcmode="lin" valueType="num">
                                      <p:cBhvr additive="base">
                                        <p:cTn id="26" dur="500" fill="hold"/>
                                        <p:tgtEl>
                                          <p:spTgt spid="266242">
                                            <p:txEl>
                                              <p:pRg st="3" end="3"/>
                                            </p:txEl>
                                          </p:spTgt>
                                        </p:tgtEl>
                                        <p:attrNameLst>
                                          <p:attrName>ppt_y</p:attrName>
                                        </p:attrNameLst>
                                      </p:cBhvr>
                                      <p:tavLst>
                                        <p:tav tm="0">
                                          <p:val>
                                            <p:strVal val="#ppt_y"/>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8" fill="hold" grpId="0" nodeType="clickEffect">
                                  <p:stCondLst>
                                    <p:cond delay="0"/>
                                  </p:stCondLst>
                                  <p:childTnLst>
                                    <p:set>
                                      <p:cBhvr>
                                        <p:cTn id="30" dur="1" fill="hold">
                                          <p:stCondLst>
                                            <p:cond delay="0"/>
                                          </p:stCondLst>
                                        </p:cTn>
                                        <p:tgtEl>
                                          <p:spTgt spid="266242">
                                            <p:txEl>
                                              <p:pRg st="4" end="4"/>
                                            </p:txEl>
                                          </p:spTgt>
                                        </p:tgtEl>
                                        <p:attrNameLst>
                                          <p:attrName>style.visibility</p:attrName>
                                        </p:attrNameLst>
                                      </p:cBhvr>
                                      <p:to>
                                        <p:strVal val="visible"/>
                                      </p:to>
                                    </p:set>
                                    <p:anim calcmode="lin" valueType="num">
                                      <p:cBhvr additive="base">
                                        <p:cTn id="31" dur="500" fill="hold"/>
                                        <p:tgtEl>
                                          <p:spTgt spid="266242">
                                            <p:txEl>
                                              <p:pRg st="4" end="4"/>
                                            </p:txEl>
                                          </p:spTgt>
                                        </p:tgtEl>
                                        <p:attrNameLst>
                                          <p:attrName>ppt_x</p:attrName>
                                        </p:attrNameLst>
                                      </p:cBhvr>
                                      <p:tavLst>
                                        <p:tav tm="0">
                                          <p:val>
                                            <p:strVal val="0-#ppt_w/2"/>
                                          </p:val>
                                        </p:tav>
                                        <p:tav tm="100000">
                                          <p:val>
                                            <p:strVal val="#ppt_x"/>
                                          </p:val>
                                        </p:tav>
                                      </p:tavLst>
                                    </p:anim>
                                    <p:anim calcmode="lin" valueType="num">
                                      <p:cBhvr additive="base">
                                        <p:cTn id="32" dur="500" fill="hold"/>
                                        <p:tgtEl>
                                          <p:spTgt spid="266242">
                                            <p:txEl>
                                              <p:pRg st="4" end="4"/>
                                            </p:txEl>
                                          </p:spTgt>
                                        </p:tgtEl>
                                        <p:attrNameLst>
                                          <p:attrName>ppt_y</p:attrName>
                                        </p:attrNameLst>
                                      </p:cBhvr>
                                      <p:tavLst>
                                        <p:tav tm="0">
                                          <p:val>
                                            <p:strVal val="#ppt_y"/>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8" fill="hold" grpId="0" nodeType="clickEffect">
                                  <p:stCondLst>
                                    <p:cond delay="0"/>
                                  </p:stCondLst>
                                  <p:childTnLst>
                                    <p:set>
                                      <p:cBhvr>
                                        <p:cTn id="36" dur="1" fill="hold">
                                          <p:stCondLst>
                                            <p:cond delay="0"/>
                                          </p:stCondLst>
                                        </p:cTn>
                                        <p:tgtEl>
                                          <p:spTgt spid="266242">
                                            <p:txEl>
                                              <p:pRg st="5" end="5"/>
                                            </p:txEl>
                                          </p:spTgt>
                                        </p:tgtEl>
                                        <p:attrNameLst>
                                          <p:attrName>style.visibility</p:attrName>
                                        </p:attrNameLst>
                                      </p:cBhvr>
                                      <p:to>
                                        <p:strVal val="visible"/>
                                      </p:to>
                                    </p:set>
                                    <p:anim calcmode="lin" valueType="num">
                                      <p:cBhvr additive="base">
                                        <p:cTn id="37" dur="500" fill="hold"/>
                                        <p:tgtEl>
                                          <p:spTgt spid="266242">
                                            <p:txEl>
                                              <p:pRg st="5" end="5"/>
                                            </p:txEl>
                                          </p:spTgt>
                                        </p:tgtEl>
                                        <p:attrNameLst>
                                          <p:attrName>ppt_x</p:attrName>
                                        </p:attrNameLst>
                                      </p:cBhvr>
                                      <p:tavLst>
                                        <p:tav tm="0">
                                          <p:val>
                                            <p:strVal val="0-#ppt_w/2"/>
                                          </p:val>
                                        </p:tav>
                                        <p:tav tm="100000">
                                          <p:val>
                                            <p:strVal val="#ppt_x"/>
                                          </p:val>
                                        </p:tav>
                                      </p:tavLst>
                                    </p:anim>
                                    <p:anim calcmode="lin" valueType="num">
                                      <p:cBhvr additive="base">
                                        <p:cTn id="38" dur="500" fill="hold"/>
                                        <p:tgtEl>
                                          <p:spTgt spid="266242">
                                            <p:txEl>
                                              <p:pRg st="5" end="5"/>
                                            </p:txEl>
                                          </p:spTgt>
                                        </p:tgtEl>
                                        <p:attrNameLst>
                                          <p:attrName>ppt_y</p:attrName>
                                        </p:attrNameLst>
                                      </p:cBhvr>
                                      <p:tavLst>
                                        <p:tav tm="0">
                                          <p:val>
                                            <p:strVal val="#ppt_y"/>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2" presetClass="entr" presetSubtype="8" fill="hold" grpId="0" nodeType="clickEffect">
                                  <p:stCondLst>
                                    <p:cond delay="0"/>
                                  </p:stCondLst>
                                  <p:childTnLst>
                                    <p:set>
                                      <p:cBhvr>
                                        <p:cTn id="42" dur="1" fill="hold">
                                          <p:stCondLst>
                                            <p:cond delay="0"/>
                                          </p:stCondLst>
                                        </p:cTn>
                                        <p:tgtEl>
                                          <p:spTgt spid="266242">
                                            <p:txEl>
                                              <p:pRg st="6" end="6"/>
                                            </p:txEl>
                                          </p:spTgt>
                                        </p:tgtEl>
                                        <p:attrNameLst>
                                          <p:attrName>style.visibility</p:attrName>
                                        </p:attrNameLst>
                                      </p:cBhvr>
                                      <p:to>
                                        <p:strVal val="visible"/>
                                      </p:to>
                                    </p:set>
                                    <p:anim calcmode="lin" valueType="num">
                                      <p:cBhvr additive="base">
                                        <p:cTn id="43" dur="500" fill="hold"/>
                                        <p:tgtEl>
                                          <p:spTgt spid="266242">
                                            <p:txEl>
                                              <p:pRg st="6" end="6"/>
                                            </p:txEl>
                                          </p:spTgt>
                                        </p:tgtEl>
                                        <p:attrNameLst>
                                          <p:attrName>ppt_x</p:attrName>
                                        </p:attrNameLst>
                                      </p:cBhvr>
                                      <p:tavLst>
                                        <p:tav tm="0">
                                          <p:val>
                                            <p:strVal val="0-#ppt_w/2"/>
                                          </p:val>
                                        </p:tav>
                                        <p:tav tm="100000">
                                          <p:val>
                                            <p:strVal val="#ppt_x"/>
                                          </p:val>
                                        </p:tav>
                                      </p:tavLst>
                                    </p:anim>
                                    <p:anim calcmode="lin" valueType="num">
                                      <p:cBhvr additive="base">
                                        <p:cTn id="44" dur="500" fill="hold"/>
                                        <p:tgtEl>
                                          <p:spTgt spid="266242">
                                            <p:txEl>
                                              <p:pRg st="6" end="6"/>
                                            </p:txEl>
                                          </p:spTgt>
                                        </p:tgtEl>
                                        <p:attrNameLst>
                                          <p:attrName>ppt_y</p:attrName>
                                        </p:attrNameLst>
                                      </p:cBhvr>
                                      <p:tavLst>
                                        <p:tav tm="0">
                                          <p:val>
                                            <p:strVal val="#ppt_y"/>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2" presetClass="entr" presetSubtype="8" fill="hold" grpId="0" nodeType="clickEffect">
                                  <p:stCondLst>
                                    <p:cond delay="0"/>
                                  </p:stCondLst>
                                  <p:childTnLst>
                                    <p:set>
                                      <p:cBhvr>
                                        <p:cTn id="48" dur="1" fill="hold">
                                          <p:stCondLst>
                                            <p:cond delay="0"/>
                                          </p:stCondLst>
                                        </p:cTn>
                                        <p:tgtEl>
                                          <p:spTgt spid="266242">
                                            <p:txEl>
                                              <p:pRg st="7" end="7"/>
                                            </p:txEl>
                                          </p:spTgt>
                                        </p:tgtEl>
                                        <p:attrNameLst>
                                          <p:attrName>style.visibility</p:attrName>
                                        </p:attrNameLst>
                                      </p:cBhvr>
                                      <p:to>
                                        <p:strVal val="visible"/>
                                      </p:to>
                                    </p:set>
                                    <p:anim calcmode="lin" valueType="num">
                                      <p:cBhvr additive="base">
                                        <p:cTn id="49" dur="500" fill="hold"/>
                                        <p:tgtEl>
                                          <p:spTgt spid="266242">
                                            <p:txEl>
                                              <p:pRg st="7" end="7"/>
                                            </p:txEl>
                                          </p:spTgt>
                                        </p:tgtEl>
                                        <p:attrNameLst>
                                          <p:attrName>ppt_x</p:attrName>
                                        </p:attrNameLst>
                                      </p:cBhvr>
                                      <p:tavLst>
                                        <p:tav tm="0">
                                          <p:val>
                                            <p:strVal val="0-#ppt_w/2"/>
                                          </p:val>
                                        </p:tav>
                                        <p:tav tm="100000">
                                          <p:val>
                                            <p:strVal val="#ppt_x"/>
                                          </p:val>
                                        </p:tav>
                                      </p:tavLst>
                                    </p:anim>
                                    <p:anim calcmode="lin" valueType="num">
                                      <p:cBhvr additive="base">
                                        <p:cTn id="50" dur="500" fill="hold"/>
                                        <p:tgtEl>
                                          <p:spTgt spid="266242">
                                            <p:txEl>
                                              <p:pRg st="7" end="7"/>
                                            </p:txEl>
                                          </p:spTgt>
                                        </p:tgtEl>
                                        <p:attrNameLst>
                                          <p:attrName>ppt_y</p:attrName>
                                        </p:attrNameLst>
                                      </p:cBhvr>
                                      <p:tavLst>
                                        <p:tav tm="0">
                                          <p:val>
                                            <p:strVal val="#ppt_y"/>
                                          </p:val>
                                        </p:tav>
                                        <p:tav tm="100000">
                                          <p:val>
                                            <p:strVal val="#ppt_y"/>
                                          </p:val>
                                        </p:tav>
                                      </p:tavLst>
                                    </p:anim>
                                  </p:childTnLst>
                                </p:cTn>
                              </p:par>
                            </p:childTnLst>
                          </p:cTn>
                        </p:par>
                      </p:childTnLst>
                    </p:cTn>
                  </p:par>
                  <p:par>
                    <p:cTn id="51" fill="hold">
                      <p:stCondLst>
                        <p:cond delay="indefinite"/>
                      </p:stCondLst>
                      <p:childTnLst>
                        <p:par>
                          <p:cTn id="52" fill="hold">
                            <p:stCondLst>
                              <p:cond delay="0"/>
                            </p:stCondLst>
                            <p:childTnLst>
                              <p:par>
                                <p:cTn id="53" presetID="2" presetClass="entr" presetSubtype="8" fill="hold" grpId="0" nodeType="clickEffect">
                                  <p:stCondLst>
                                    <p:cond delay="0"/>
                                  </p:stCondLst>
                                  <p:childTnLst>
                                    <p:set>
                                      <p:cBhvr>
                                        <p:cTn id="54" dur="1" fill="hold">
                                          <p:stCondLst>
                                            <p:cond delay="0"/>
                                          </p:stCondLst>
                                        </p:cTn>
                                        <p:tgtEl>
                                          <p:spTgt spid="266242">
                                            <p:txEl>
                                              <p:pRg st="8" end="8"/>
                                            </p:txEl>
                                          </p:spTgt>
                                        </p:tgtEl>
                                        <p:attrNameLst>
                                          <p:attrName>style.visibility</p:attrName>
                                        </p:attrNameLst>
                                      </p:cBhvr>
                                      <p:to>
                                        <p:strVal val="visible"/>
                                      </p:to>
                                    </p:set>
                                    <p:anim calcmode="lin" valueType="num">
                                      <p:cBhvr additive="base">
                                        <p:cTn id="55" dur="500" fill="hold"/>
                                        <p:tgtEl>
                                          <p:spTgt spid="266242">
                                            <p:txEl>
                                              <p:pRg st="8" end="8"/>
                                            </p:txEl>
                                          </p:spTgt>
                                        </p:tgtEl>
                                        <p:attrNameLst>
                                          <p:attrName>ppt_x</p:attrName>
                                        </p:attrNameLst>
                                      </p:cBhvr>
                                      <p:tavLst>
                                        <p:tav tm="0">
                                          <p:val>
                                            <p:strVal val="0-#ppt_w/2"/>
                                          </p:val>
                                        </p:tav>
                                        <p:tav tm="100000">
                                          <p:val>
                                            <p:strVal val="#ppt_x"/>
                                          </p:val>
                                        </p:tav>
                                      </p:tavLst>
                                    </p:anim>
                                    <p:anim calcmode="lin" valueType="num">
                                      <p:cBhvr additive="base">
                                        <p:cTn id="56" dur="500" fill="hold"/>
                                        <p:tgtEl>
                                          <p:spTgt spid="266242">
                                            <p:txEl>
                                              <p:pRg st="8" end="8"/>
                                            </p:txEl>
                                          </p:spTgt>
                                        </p:tgtEl>
                                        <p:attrNameLst>
                                          <p:attrName>ppt_y</p:attrName>
                                        </p:attrNameLst>
                                      </p:cBhvr>
                                      <p:tavLst>
                                        <p:tav tm="0">
                                          <p:val>
                                            <p:strVal val="#ppt_y"/>
                                          </p:val>
                                        </p:tav>
                                        <p:tav tm="100000">
                                          <p:val>
                                            <p:strVal val="#ppt_y"/>
                                          </p:val>
                                        </p:tav>
                                      </p:tavLst>
                                    </p:anim>
                                  </p:childTnLst>
                                </p:cTn>
                              </p:par>
                            </p:childTnLst>
                          </p:cTn>
                        </p:par>
                      </p:childTnLst>
                    </p:cTn>
                  </p:par>
                  <p:par>
                    <p:cTn id="57" fill="hold">
                      <p:stCondLst>
                        <p:cond delay="indefinite"/>
                      </p:stCondLst>
                      <p:childTnLst>
                        <p:par>
                          <p:cTn id="58" fill="hold">
                            <p:stCondLst>
                              <p:cond delay="0"/>
                            </p:stCondLst>
                            <p:childTnLst>
                              <p:par>
                                <p:cTn id="59" presetID="2" presetClass="entr" presetSubtype="8" fill="hold" grpId="0" nodeType="clickEffect">
                                  <p:stCondLst>
                                    <p:cond delay="0"/>
                                  </p:stCondLst>
                                  <p:childTnLst>
                                    <p:set>
                                      <p:cBhvr>
                                        <p:cTn id="60" dur="1" fill="hold">
                                          <p:stCondLst>
                                            <p:cond delay="0"/>
                                          </p:stCondLst>
                                        </p:cTn>
                                        <p:tgtEl>
                                          <p:spTgt spid="266242">
                                            <p:txEl>
                                              <p:pRg st="9" end="9"/>
                                            </p:txEl>
                                          </p:spTgt>
                                        </p:tgtEl>
                                        <p:attrNameLst>
                                          <p:attrName>style.visibility</p:attrName>
                                        </p:attrNameLst>
                                      </p:cBhvr>
                                      <p:to>
                                        <p:strVal val="visible"/>
                                      </p:to>
                                    </p:set>
                                    <p:anim calcmode="lin" valueType="num">
                                      <p:cBhvr additive="base">
                                        <p:cTn id="61" dur="500" fill="hold"/>
                                        <p:tgtEl>
                                          <p:spTgt spid="266242">
                                            <p:txEl>
                                              <p:pRg st="9" end="9"/>
                                            </p:txEl>
                                          </p:spTgt>
                                        </p:tgtEl>
                                        <p:attrNameLst>
                                          <p:attrName>ppt_x</p:attrName>
                                        </p:attrNameLst>
                                      </p:cBhvr>
                                      <p:tavLst>
                                        <p:tav tm="0">
                                          <p:val>
                                            <p:strVal val="0-#ppt_w/2"/>
                                          </p:val>
                                        </p:tav>
                                        <p:tav tm="100000">
                                          <p:val>
                                            <p:strVal val="#ppt_x"/>
                                          </p:val>
                                        </p:tav>
                                      </p:tavLst>
                                    </p:anim>
                                    <p:anim calcmode="lin" valueType="num">
                                      <p:cBhvr additive="base">
                                        <p:cTn id="62" dur="500" fill="hold"/>
                                        <p:tgtEl>
                                          <p:spTgt spid="266242">
                                            <p:txEl>
                                              <p:pRg st="9" end="9"/>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66242" grpId="0" build="p" bldLvl="3" autoUpdateAnimBg="0"/>
    </p:bldLst>
  </p:timing>
</p:sld>
</file>

<file path=ppt/slides/slide56.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67266" name="Rectangle 2"/>
          <p:cNvSpPr>
            <a:spLocks noGrp="1" noChangeArrowheads="1"/>
          </p:cNvSpPr>
          <p:nvPr>
            <p:ph idx="1"/>
          </p:nvPr>
        </p:nvSpPr>
        <p:spPr>
          <a:xfrm>
            <a:off x="0" y="0"/>
            <a:ext cx="9144000" cy="6553200"/>
          </a:xfrm>
        </p:spPr>
        <p:txBody>
          <a:bodyPr/>
          <a:lstStyle/>
          <a:p>
            <a:pPr eaLnBrk="1" hangingPunct="1">
              <a:buFont typeface="Monotype Sorts" pitchFamily="2" charset="2"/>
              <a:buNone/>
            </a:pPr>
            <a:r>
              <a:rPr lang="en-US" sz="3600" b="1" smtClean="0">
                <a:solidFill>
                  <a:schemeClr val="tx2"/>
                </a:solidFill>
              </a:rPr>
              <a:t>Chemical Methods of Control</a:t>
            </a:r>
          </a:p>
          <a:p>
            <a:pPr eaLnBrk="1" hangingPunct="1">
              <a:buFont typeface="Monotype Sorts" pitchFamily="2" charset="2"/>
              <a:buNone/>
            </a:pPr>
            <a:r>
              <a:rPr lang="en-US" sz="3600" b="1" smtClean="0">
                <a:solidFill>
                  <a:schemeClr val="tx2"/>
                </a:solidFill>
              </a:rPr>
              <a:t>Types of Disinfectants</a:t>
            </a:r>
          </a:p>
          <a:p>
            <a:pPr eaLnBrk="1" hangingPunct="1">
              <a:lnSpc>
                <a:spcPct val="90000"/>
              </a:lnSpc>
              <a:buFont typeface="Monotype Sorts" pitchFamily="2" charset="2"/>
              <a:buNone/>
            </a:pPr>
            <a:r>
              <a:rPr lang="en-US" sz="2800" b="1" smtClean="0"/>
              <a:t>8. Peroxygens (Oxidizing Agents): </a:t>
            </a:r>
            <a:endParaRPr lang="en-US" sz="2400" b="1" smtClean="0"/>
          </a:p>
          <a:p>
            <a:pPr eaLnBrk="1" hangingPunct="1">
              <a:buSzPct val="75000"/>
              <a:buFont typeface="Arial" charset="0"/>
              <a:buNone/>
            </a:pPr>
            <a:r>
              <a:rPr lang="en-US" sz="2400" b="1" smtClean="0"/>
              <a:t>D. </a:t>
            </a:r>
            <a:r>
              <a:rPr lang="en-US" sz="2800" b="1" smtClean="0"/>
              <a:t>Peracetic Acid:</a:t>
            </a:r>
          </a:p>
          <a:p>
            <a:pPr eaLnBrk="1" hangingPunct="1">
              <a:buSzPct val="75000"/>
              <a:buFont typeface="Arial" charset="0"/>
              <a:buNone/>
            </a:pPr>
            <a:r>
              <a:rPr lang="en-US" sz="2800" smtClean="0"/>
              <a:t> One of the most effective liquid sporicides available.</a:t>
            </a:r>
          </a:p>
          <a:p>
            <a:pPr eaLnBrk="1" hangingPunct="1">
              <a:buSzPct val="75000"/>
              <a:buFont typeface="Arial" charset="0"/>
              <a:buNone/>
            </a:pPr>
            <a:r>
              <a:rPr lang="en-US" sz="2800" smtClean="0"/>
              <a:t> </a:t>
            </a:r>
            <a:r>
              <a:rPr lang="en-US" sz="2800" b="1" smtClean="0"/>
              <a:t>Sterilant</a:t>
            </a:r>
            <a:r>
              <a:rPr lang="en-US" sz="2800" smtClean="0"/>
              <a:t> :</a:t>
            </a:r>
          </a:p>
          <a:p>
            <a:pPr lvl="1" eaLnBrk="1" hangingPunct="1">
              <a:buFont typeface="Arial" charset="0"/>
              <a:buNone/>
            </a:pPr>
            <a:r>
              <a:rPr lang="en-US" sz="2400" smtClean="0"/>
              <a:t> Kills bacteria and fungi in less than 5 minutes.</a:t>
            </a:r>
          </a:p>
          <a:p>
            <a:pPr lvl="1" eaLnBrk="1" hangingPunct="1">
              <a:buFont typeface="Arial" charset="0"/>
              <a:buNone/>
            </a:pPr>
            <a:r>
              <a:rPr lang="en-US" sz="2400" smtClean="0"/>
              <a:t> Kills endospores and viruses within 30 minutes.</a:t>
            </a:r>
          </a:p>
          <a:p>
            <a:pPr eaLnBrk="1" hangingPunct="1">
              <a:buSzPct val="75000"/>
              <a:buFont typeface="Arial" charset="0"/>
              <a:buNone/>
            </a:pPr>
            <a:r>
              <a:rPr lang="en-US" sz="2800" smtClean="0"/>
              <a:t> Used widely in disinfection of food and medical instruments because it does not leave toxic residues</a:t>
            </a:r>
            <a:r>
              <a:rPr lang="en-US" sz="2400" smtClean="0"/>
              <a:t>.</a:t>
            </a:r>
          </a:p>
          <a:p>
            <a:pPr lvl="1" eaLnBrk="1" hangingPunct="1">
              <a:buFont typeface="Monotype Sorts" pitchFamily="2" charset="2"/>
              <a:buChar char="u"/>
            </a:pPr>
            <a:endParaRPr lang="en-US" sz="2000" smtClean="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267266">
                                            <p:txEl>
                                              <p:pRg st="0" end="0"/>
                                            </p:txEl>
                                          </p:spTgt>
                                        </p:tgtEl>
                                        <p:attrNameLst>
                                          <p:attrName>style.visibility</p:attrName>
                                        </p:attrNameLst>
                                      </p:cBhvr>
                                      <p:to>
                                        <p:strVal val="visible"/>
                                      </p:to>
                                    </p:set>
                                    <p:anim calcmode="lin" valueType="num">
                                      <p:cBhvr additive="base">
                                        <p:cTn id="7" dur="500" fill="hold"/>
                                        <p:tgtEl>
                                          <p:spTgt spid="267266">
                                            <p:txEl>
                                              <p:pRg st="0" end="0"/>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267266">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267266">
                                            <p:txEl>
                                              <p:pRg st="1" end="1"/>
                                            </p:txEl>
                                          </p:spTgt>
                                        </p:tgtEl>
                                        <p:attrNameLst>
                                          <p:attrName>style.visibility</p:attrName>
                                        </p:attrNameLst>
                                      </p:cBhvr>
                                      <p:to>
                                        <p:strVal val="visible"/>
                                      </p:to>
                                    </p:set>
                                    <p:anim calcmode="lin" valueType="num">
                                      <p:cBhvr additive="base">
                                        <p:cTn id="13" dur="500" fill="hold"/>
                                        <p:tgtEl>
                                          <p:spTgt spid="267266">
                                            <p:txEl>
                                              <p:pRg st="1" end="1"/>
                                            </p:txEl>
                                          </p:spTgt>
                                        </p:tgtEl>
                                        <p:attrNameLst>
                                          <p:attrName>ppt_x</p:attrName>
                                        </p:attrNameLst>
                                      </p:cBhvr>
                                      <p:tavLst>
                                        <p:tav tm="0">
                                          <p:val>
                                            <p:strVal val="0-#ppt_w/2"/>
                                          </p:val>
                                        </p:tav>
                                        <p:tav tm="100000">
                                          <p:val>
                                            <p:strVal val="#ppt_x"/>
                                          </p:val>
                                        </p:tav>
                                      </p:tavLst>
                                    </p:anim>
                                    <p:anim calcmode="lin" valueType="num">
                                      <p:cBhvr additive="base">
                                        <p:cTn id="14" dur="500" fill="hold"/>
                                        <p:tgtEl>
                                          <p:spTgt spid="267266">
                                            <p:txEl>
                                              <p:pRg st="1" end="1"/>
                                            </p:txEl>
                                          </p:spTgt>
                                        </p:tgtEl>
                                        <p:attrNameLst>
                                          <p:attrName>ppt_y</p:attrName>
                                        </p:attrNameLst>
                                      </p:cBhvr>
                                      <p:tavLst>
                                        <p:tav tm="0">
                                          <p:val>
                                            <p:strVal val="#ppt_y"/>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8" fill="hold" grpId="0" nodeType="clickEffect">
                                  <p:stCondLst>
                                    <p:cond delay="0"/>
                                  </p:stCondLst>
                                  <p:childTnLst>
                                    <p:set>
                                      <p:cBhvr>
                                        <p:cTn id="18" dur="1" fill="hold">
                                          <p:stCondLst>
                                            <p:cond delay="0"/>
                                          </p:stCondLst>
                                        </p:cTn>
                                        <p:tgtEl>
                                          <p:spTgt spid="267266">
                                            <p:txEl>
                                              <p:pRg st="2" end="2"/>
                                            </p:txEl>
                                          </p:spTgt>
                                        </p:tgtEl>
                                        <p:attrNameLst>
                                          <p:attrName>style.visibility</p:attrName>
                                        </p:attrNameLst>
                                      </p:cBhvr>
                                      <p:to>
                                        <p:strVal val="visible"/>
                                      </p:to>
                                    </p:set>
                                    <p:anim calcmode="lin" valueType="num">
                                      <p:cBhvr additive="base">
                                        <p:cTn id="19" dur="500" fill="hold"/>
                                        <p:tgtEl>
                                          <p:spTgt spid="267266">
                                            <p:txEl>
                                              <p:pRg st="2" end="2"/>
                                            </p:txEl>
                                          </p:spTgt>
                                        </p:tgtEl>
                                        <p:attrNameLst>
                                          <p:attrName>ppt_x</p:attrName>
                                        </p:attrNameLst>
                                      </p:cBhvr>
                                      <p:tavLst>
                                        <p:tav tm="0">
                                          <p:val>
                                            <p:strVal val="0-#ppt_w/2"/>
                                          </p:val>
                                        </p:tav>
                                        <p:tav tm="100000">
                                          <p:val>
                                            <p:strVal val="#ppt_x"/>
                                          </p:val>
                                        </p:tav>
                                      </p:tavLst>
                                    </p:anim>
                                    <p:anim calcmode="lin" valueType="num">
                                      <p:cBhvr additive="base">
                                        <p:cTn id="20" dur="500" fill="hold"/>
                                        <p:tgtEl>
                                          <p:spTgt spid="267266">
                                            <p:txEl>
                                              <p:pRg st="2" end="2"/>
                                            </p:txEl>
                                          </p:spTgt>
                                        </p:tgtEl>
                                        <p:attrNameLst>
                                          <p:attrName>ppt_y</p:attrName>
                                        </p:attrNameLst>
                                      </p:cBhvr>
                                      <p:tavLst>
                                        <p:tav tm="0">
                                          <p:val>
                                            <p:strVal val="#ppt_y"/>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8" fill="hold" grpId="0" nodeType="clickEffect">
                                  <p:stCondLst>
                                    <p:cond delay="0"/>
                                  </p:stCondLst>
                                  <p:childTnLst>
                                    <p:set>
                                      <p:cBhvr>
                                        <p:cTn id="24" dur="1" fill="hold">
                                          <p:stCondLst>
                                            <p:cond delay="0"/>
                                          </p:stCondLst>
                                        </p:cTn>
                                        <p:tgtEl>
                                          <p:spTgt spid="267266">
                                            <p:txEl>
                                              <p:pRg st="3" end="3"/>
                                            </p:txEl>
                                          </p:spTgt>
                                        </p:tgtEl>
                                        <p:attrNameLst>
                                          <p:attrName>style.visibility</p:attrName>
                                        </p:attrNameLst>
                                      </p:cBhvr>
                                      <p:to>
                                        <p:strVal val="visible"/>
                                      </p:to>
                                    </p:set>
                                    <p:anim calcmode="lin" valueType="num">
                                      <p:cBhvr additive="base">
                                        <p:cTn id="25" dur="500" fill="hold"/>
                                        <p:tgtEl>
                                          <p:spTgt spid="267266">
                                            <p:txEl>
                                              <p:pRg st="3" end="3"/>
                                            </p:txEl>
                                          </p:spTgt>
                                        </p:tgtEl>
                                        <p:attrNameLst>
                                          <p:attrName>ppt_x</p:attrName>
                                        </p:attrNameLst>
                                      </p:cBhvr>
                                      <p:tavLst>
                                        <p:tav tm="0">
                                          <p:val>
                                            <p:strVal val="0-#ppt_w/2"/>
                                          </p:val>
                                        </p:tav>
                                        <p:tav tm="100000">
                                          <p:val>
                                            <p:strVal val="#ppt_x"/>
                                          </p:val>
                                        </p:tav>
                                      </p:tavLst>
                                    </p:anim>
                                    <p:anim calcmode="lin" valueType="num">
                                      <p:cBhvr additive="base">
                                        <p:cTn id="26" dur="500" fill="hold"/>
                                        <p:tgtEl>
                                          <p:spTgt spid="267266">
                                            <p:txEl>
                                              <p:pRg st="3" end="3"/>
                                            </p:txEl>
                                          </p:spTgt>
                                        </p:tgtEl>
                                        <p:attrNameLst>
                                          <p:attrName>ppt_y</p:attrName>
                                        </p:attrNameLst>
                                      </p:cBhvr>
                                      <p:tavLst>
                                        <p:tav tm="0">
                                          <p:val>
                                            <p:strVal val="#ppt_y"/>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8" fill="hold" grpId="0" nodeType="clickEffect">
                                  <p:stCondLst>
                                    <p:cond delay="0"/>
                                  </p:stCondLst>
                                  <p:childTnLst>
                                    <p:set>
                                      <p:cBhvr>
                                        <p:cTn id="30" dur="1" fill="hold">
                                          <p:stCondLst>
                                            <p:cond delay="0"/>
                                          </p:stCondLst>
                                        </p:cTn>
                                        <p:tgtEl>
                                          <p:spTgt spid="267266">
                                            <p:txEl>
                                              <p:pRg st="4" end="4"/>
                                            </p:txEl>
                                          </p:spTgt>
                                        </p:tgtEl>
                                        <p:attrNameLst>
                                          <p:attrName>style.visibility</p:attrName>
                                        </p:attrNameLst>
                                      </p:cBhvr>
                                      <p:to>
                                        <p:strVal val="visible"/>
                                      </p:to>
                                    </p:set>
                                    <p:anim calcmode="lin" valueType="num">
                                      <p:cBhvr additive="base">
                                        <p:cTn id="31" dur="500" fill="hold"/>
                                        <p:tgtEl>
                                          <p:spTgt spid="267266">
                                            <p:txEl>
                                              <p:pRg st="4" end="4"/>
                                            </p:txEl>
                                          </p:spTgt>
                                        </p:tgtEl>
                                        <p:attrNameLst>
                                          <p:attrName>ppt_x</p:attrName>
                                        </p:attrNameLst>
                                      </p:cBhvr>
                                      <p:tavLst>
                                        <p:tav tm="0">
                                          <p:val>
                                            <p:strVal val="0-#ppt_w/2"/>
                                          </p:val>
                                        </p:tav>
                                        <p:tav tm="100000">
                                          <p:val>
                                            <p:strVal val="#ppt_x"/>
                                          </p:val>
                                        </p:tav>
                                      </p:tavLst>
                                    </p:anim>
                                    <p:anim calcmode="lin" valueType="num">
                                      <p:cBhvr additive="base">
                                        <p:cTn id="32" dur="500" fill="hold"/>
                                        <p:tgtEl>
                                          <p:spTgt spid="267266">
                                            <p:txEl>
                                              <p:pRg st="4" end="4"/>
                                            </p:txEl>
                                          </p:spTgt>
                                        </p:tgtEl>
                                        <p:attrNameLst>
                                          <p:attrName>ppt_y</p:attrName>
                                        </p:attrNameLst>
                                      </p:cBhvr>
                                      <p:tavLst>
                                        <p:tav tm="0">
                                          <p:val>
                                            <p:strVal val="#ppt_y"/>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8" fill="hold" grpId="0" nodeType="clickEffect">
                                  <p:stCondLst>
                                    <p:cond delay="0"/>
                                  </p:stCondLst>
                                  <p:childTnLst>
                                    <p:set>
                                      <p:cBhvr>
                                        <p:cTn id="36" dur="1" fill="hold">
                                          <p:stCondLst>
                                            <p:cond delay="0"/>
                                          </p:stCondLst>
                                        </p:cTn>
                                        <p:tgtEl>
                                          <p:spTgt spid="267266">
                                            <p:txEl>
                                              <p:pRg st="5" end="5"/>
                                            </p:txEl>
                                          </p:spTgt>
                                        </p:tgtEl>
                                        <p:attrNameLst>
                                          <p:attrName>style.visibility</p:attrName>
                                        </p:attrNameLst>
                                      </p:cBhvr>
                                      <p:to>
                                        <p:strVal val="visible"/>
                                      </p:to>
                                    </p:set>
                                    <p:anim calcmode="lin" valueType="num">
                                      <p:cBhvr additive="base">
                                        <p:cTn id="37" dur="500" fill="hold"/>
                                        <p:tgtEl>
                                          <p:spTgt spid="267266">
                                            <p:txEl>
                                              <p:pRg st="5" end="5"/>
                                            </p:txEl>
                                          </p:spTgt>
                                        </p:tgtEl>
                                        <p:attrNameLst>
                                          <p:attrName>ppt_x</p:attrName>
                                        </p:attrNameLst>
                                      </p:cBhvr>
                                      <p:tavLst>
                                        <p:tav tm="0">
                                          <p:val>
                                            <p:strVal val="0-#ppt_w/2"/>
                                          </p:val>
                                        </p:tav>
                                        <p:tav tm="100000">
                                          <p:val>
                                            <p:strVal val="#ppt_x"/>
                                          </p:val>
                                        </p:tav>
                                      </p:tavLst>
                                    </p:anim>
                                    <p:anim calcmode="lin" valueType="num">
                                      <p:cBhvr additive="base">
                                        <p:cTn id="38" dur="500" fill="hold"/>
                                        <p:tgtEl>
                                          <p:spTgt spid="267266">
                                            <p:txEl>
                                              <p:pRg st="5" end="5"/>
                                            </p:txEl>
                                          </p:spTgt>
                                        </p:tgtEl>
                                        <p:attrNameLst>
                                          <p:attrName>ppt_y</p:attrName>
                                        </p:attrNameLst>
                                      </p:cBhvr>
                                      <p:tavLst>
                                        <p:tav tm="0">
                                          <p:val>
                                            <p:strVal val="#ppt_y"/>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2" presetClass="entr" presetSubtype="8" fill="hold" grpId="0" nodeType="clickEffect">
                                  <p:stCondLst>
                                    <p:cond delay="0"/>
                                  </p:stCondLst>
                                  <p:childTnLst>
                                    <p:set>
                                      <p:cBhvr>
                                        <p:cTn id="42" dur="1" fill="hold">
                                          <p:stCondLst>
                                            <p:cond delay="0"/>
                                          </p:stCondLst>
                                        </p:cTn>
                                        <p:tgtEl>
                                          <p:spTgt spid="267266">
                                            <p:txEl>
                                              <p:pRg st="6" end="6"/>
                                            </p:txEl>
                                          </p:spTgt>
                                        </p:tgtEl>
                                        <p:attrNameLst>
                                          <p:attrName>style.visibility</p:attrName>
                                        </p:attrNameLst>
                                      </p:cBhvr>
                                      <p:to>
                                        <p:strVal val="visible"/>
                                      </p:to>
                                    </p:set>
                                    <p:anim calcmode="lin" valueType="num">
                                      <p:cBhvr additive="base">
                                        <p:cTn id="43" dur="500" fill="hold"/>
                                        <p:tgtEl>
                                          <p:spTgt spid="267266">
                                            <p:txEl>
                                              <p:pRg st="6" end="6"/>
                                            </p:txEl>
                                          </p:spTgt>
                                        </p:tgtEl>
                                        <p:attrNameLst>
                                          <p:attrName>ppt_x</p:attrName>
                                        </p:attrNameLst>
                                      </p:cBhvr>
                                      <p:tavLst>
                                        <p:tav tm="0">
                                          <p:val>
                                            <p:strVal val="0-#ppt_w/2"/>
                                          </p:val>
                                        </p:tav>
                                        <p:tav tm="100000">
                                          <p:val>
                                            <p:strVal val="#ppt_x"/>
                                          </p:val>
                                        </p:tav>
                                      </p:tavLst>
                                    </p:anim>
                                    <p:anim calcmode="lin" valueType="num">
                                      <p:cBhvr additive="base">
                                        <p:cTn id="44" dur="500" fill="hold"/>
                                        <p:tgtEl>
                                          <p:spTgt spid="267266">
                                            <p:txEl>
                                              <p:pRg st="6" end="6"/>
                                            </p:txEl>
                                          </p:spTgt>
                                        </p:tgtEl>
                                        <p:attrNameLst>
                                          <p:attrName>ppt_y</p:attrName>
                                        </p:attrNameLst>
                                      </p:cBhvr>
                                      <p:tavLst>
                                        <p:tav tm="0">
                                          <p:val>
                                            <p:strVal val="#ppt_y"/>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2" presetClass="entr" presetSubtype="8" fill="hold" grpId="0" nodeType="clickEffect">
                                  <p:stCondLst>
                                    <p:cond delay="0"/>
                                  </p:stCondLst>
                                  <p:childTnLst>
                                    <p:set>
                                      <p:cBhvr>
                                        <p:cTn id="48" dur="1" fill="hold">
                                          <p:stCondLst>
                                            <p:cond delay="0"/>
                                          </p:stCondLst>
                                        </p:cTn>
                                        <p:tgtEl>
                                          <p:spTgt spid="267266">
                                            <p:txEl>
                                              <p:pRg st="7" end="7"/>
                                            </p:txEl>
                                          </p:spTgt>
                                        </p:tgtEl>
                                        <p:attrNameLst>
                                          <p:attrName>style.visibility</p:attrName>
                                        </p:attrNameLst>
                                      </p:cBhvr>
                                      <p:to>
                                        <p:strVal val="visible"/>
                                      </p:to>
                                    </p:set>
                                    <p:anim calcmode="lin" valueType="num">
                                      <p:cBhvr additive="base">
                                        <p:cTn id="49" dur="500" fill="hold"/>
                                        <p:tgtEl>
                                          <p:spTgt spid="267266">
                                            <p:txEl>
                                              <p:pRg st="7" end="7"/>
                                            </p:txEl>
                                          </p:spTgt>
                                        </p:tgtEl>
                                        <p:attrNameLst>
                                          <p:attrName>ppt_x</p:attrName>
                                        </p:attrNameLst>
                                      </p:cBhvr>
                                      <p:tavLst>
                                        <p:tav tm="0">
                                          <p:val>
                                            <p:strVal val="0-#ppt_w/2"/>
                                          </p:val>
                                        </p:tav>
                                        <p:tav tm="100000">
                                          <p:val>
                                            <p:strVal val="#ppt_x"/>
                                          </p:val>
                                        </p:tav>
                                      </p:tavLst>
                                    </p:anim>
                                    <p:anim calcmode="lin" valueType="num">
                                      <p:cBhvr additive="base">
                                        <p:cTn id="50" dur="500" fill="hold"/>
                                        <p:tgtEl>
                                          <p:spTgt spid="267266">
                                            <p:txEl>
                                              <p:pRg st="7" end="7"/>
                                            </p:txEl>
                                          </p:spTgt>
                                        </p:tgtEl>
                                        <p:attrNameLst>
                                          <p:attrName>ppt_y</p:attrName>
                                        </p:attrNameLst>
                                      </p:cBhvr>
                                      <p:tavLst>
                                        <p:tav tm="0">
                                          <p:val>
                                            <p:strVal val="#ppt_y"/>
                                          </p:val>
                                        </p:tav>
                                        <p:tav tm="100000">
                                          <p:val>
                                            <p:strVal val="#ppt_y"/>
                                          </p:val>
                                        </p:tav>
                                      </p:tavLst>
                                    </p:anim>
                                  </p:childTnLst>
                                </p:cTn>
                              </p:par>
                            </p:childTnLst>
                          </p:cTn>
                        </p:par>
                      </p:childTnLst>
                    </p:cTn>
                  </p:par>
                  <p:par>
                    <p:cTn id="51" fill="hold">
                      <p:stCondLst>
                        <p:cond delay="indefinite"/>
                      </p:stCondLst>
                      <p:childTnLst>
                        <p:par>
                          <p:cTn id="52" fill="hold">
                            <p:stCondLst>
                              <p:cond delay="0"/>
                            </p:stCondLst>
                            <p:childTnLst>
                              <p:par>
                                <p:cTn id="53" presetID="2" presetClass="entr" presetSubtype="8" fill="hold" grpId="0" nodeType="clickEffect">
                                  <p:stCondLst>
                                    <p:cond delay="0"/>
                                  </p:stCondLst>
                                  <p:childTnLst>
                                    <p:set>
                                      <p:cBhvr>
                                        <p:cTn id="54" dur="1" fill="hold">
                                          <p:stCondLst>
                                            <p:cond delay="0"/>
                                          </p:stCondLst>
                                        </p:cTn>
                                        <p:tgtEl>
                                          <p:spTgt spid="267266">
                                            <p:txEl>
                                              <p:pRg st="8" end="8"/>
                                            </p:txEl>
                                          </p:spTgt>
                                        </p:tgtEl>
                                        <p:attrNameLst>
                                          <p:attrName>style.visibility</p:attrName>
                                        </p:attrNameLst>
                                      </p:cBhvr>
                                      <p:to>
                                        <p:strVal val="visible"/>
                                      </p:to>
                                    </p:set>
                                    <p:anim calcmode="lin" valueType="num">
                                      <p:cBhvr additive="base">
                                        <p:cTn id="55" dur="500" fill="hold"/>
                                        <p:tgtEl>
                                          <p:spTgt spid="267266">
                                            <p:txEl>
                                              <p:pRg st="8" end="8"/>
                                            </p:txEl>
                                          </p:spTgt>
                                        </p:tgtEl>
                                        <p:attrNameLst>
                                          <p:attrName>ppt_x</p:attrName>
                                        </p:attrNameLst>
                                      </p:cBhvr>
                                      <p:tavLst>
                                        <p:tav tm="0">
                                          <p:val>
                                            <p:strVal val="0-#ppt_w/2"/>
                                          </p:val>
                                        </p:tav>
                                        <p:tav tm="100000">
                                          <p:val>
                                            <p:strVal val="#ppt_x"/>
                                          </p:val>
                                        </p:tav>
                                      </p:tavLst>
                                    </p:anim>
                                    <p:anim calcmode="lin" valueType="num">
                                      <p:cBhvr additive="base">
                                        <p:cTn id="56" dur="500" fill="hold"/>
                                        <p:tgtEl>
                                          <p:spTgt spid="267266">
                                            <p:txEl>
                                              <p:pRg st="8" end="8"/>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67266" grpId="0" build="p" bldLvl="3" autoUpdateAnimBg="0"/>
    </p:bld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Rectangle 2"/>
          <p:cNvSpPr>
            <a:spLocks noGrp="1" noChangeArrowheads="1"/>
          </p:cNvSpPr>
          <p:nvPr>
            <p:ph type="title"/>
          </p:nvPr>
        </p:nvSpPr>
        <p:spPr/>
        <p:txBody>
          <a:bodyPr rtlCol="0">
            <a:normAutofit fontScale="90000"/>
          </a:bodyPr>
          <a:lstStyle/>
          <a:p>
            <a:pPr eaLnBrk="1" fontAlgn="auto" hangingPunct="1">
              <a:spcAft>
                <a:spcPts val="0"/>
              </a:spcAft>
              <a:defRPr/>
            </a:pPr>
            <a:r>
              <a:rPr lang="en-US" sz="3600" b="1" smtClean="0"/>
              <a:t>Efficiency of Different Chemical Antimicrobial Agents</a:t>
            </a:r>
          </a:p>
        </p:txBody>
      </p:sp>
      <p:pic>
        <p:nvPicPr>
          <p:cNvPr id="67587" name="Picture 3" descr="E:\MEDIA\1043\7_10.BMP"/>
          <p:cNvPicPr>
            <a:picLocks noChangeAspect="1" noChangeArrowheads="1"/>
          </p:cNvPicPr>
          <p:nvPr/>
        </p:nvPicPr>
        <p:blipFill>
          <a:blip r:embed="rId2"/>
          <a:srcRect/>
          <a:stretch>
            <a:fillRect/>
          </a:stretch>
        </p:blipFill>
        <p:spPr bwMode="auto">
          <a:xfrm>
            <a:off x="1714500" y="1536700"/>
            <a:ext cx="5715000" cy="5245100"/>
          </a:xfrm>
          <a:prstGeom prst="rect">
            <a:avLst/>
          </a:prstGeom>
          <a:noFill/>
          <a:ln w="9525">
            <a:noFill/>
            <a:miter lim="800000"/>
            <a:headEnd/>
            <a:tailEnd/>
          </a:ln>
        </p:spPr>
      </p:pic>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8" name="Rectangle 2"/>
          <p:cNvSpPr>
            <a:spLocks noGrp="1" noChangeArrowheads="1"/>
          </p:cNvSpPr>
          <p:nvPr>
            <p:ph type="title"/>
          </p:nvPr>
        </p:nvSpPr>
        <p:spPr/>
        <p:txBody>
          <a:bodyPr/>
          <a:lstStyle/>
          <a:p>
            <a:pPr eaLnBrk="1" hangingPunct="1"/>
            <a:r>
              <a:rPr lang="en-US" smtClean="0"/>
              <a:t>Antibiotics</a:t>
            </a:r>
          </a:p>
        </p:txBody>
      </p:sp>
      <p:sp>
        <p:nvSpPr>
          <p:cNvPr id="1029" name="Rectangle 3"/>
          <p:cNvSpPr>
            <a:spLocks noGrp="1" noChangeArrowheads="1"/>
          </p:cNvSpPr>
          <p:nvPr>
            <p:ph type="body" idx="1"/>
          </p:nvPr>
        </p:nvSpPr>
        <p:spPr/>
        <p:txBody>
          <a:bodyPr/>
          <a:lstStyle/>
          <a:p>
            <a:pPr eaLnBrk="1" hangingPunct="1"/>
            <a:endParaRPr lang="en-US" smtClean="0"/>
          </a:p>
        </p:txBody>
      </p:sp>
      <p:graphicFrame>
        <p:nvGraphicFramePr>
          <p:cNvPr id="1026" name="Object 4"/>
          <p:cNvGraphicFramePr>
            <a:graphicFrameLocks noChangeAspect="1"/>
          </p:cNvGraphicFramePr>
          <p:nvPr/>
        </p:nvGraphicFramePr>
        <p:xfrm>
          <a:off x="457200" y="2057400"/>
          <a:ext cx="3638550" cy="3810000"/>
        </p:xfrm>
        <a:graphic>
          <a:graphicData uri="http://schemas.openxmlformats.org/presentationml/2006/ole">
            <p:oleObj spid="_x0000_s1026" name="Bitmap Image" r:id="rId3" imgW="3333333" imgH="3809524" progId="PBrush">
              <p:embed/>
            </p:oleObj>
          </a:graphicData>
        </a:graphic>
      </p:graphicFrame>
      <p:graphicFrame>
        <p:nvGraphicFramePr>
          <p:cNvPr id="1027" name="Object 5"/>
          <p:cNvGraphicFramePr>
            <a:graphicFrameLocks noChangeAspect="1"/>
          </p:cNvGraphicFramePr>
          <p:nvPr/>
        </p:nvGraphicFramePr>
        <p:xfrm>
          <a:off x="4876800" y="1371600"/>
          <a:ext cx="3733800" cy="4838700"/>
        </p:xfrm>
        <a:graphic>
          <a:graphicData uri="http://schemas.openxmlformats.org/presentationml/2006/ole">
            <p:oleObj spid="_x0000_s1027" name="Bitmap Image" r:id="rId4" imgW="3238952" imgH="4839375" progId="PBrush">
              <p:embed/>
            </p:oleObj>
          </a:graphicData>
        </a:graphic>
      </p:graphicFrame>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4" name="Title 1"/>
          <p:cNvSpPr>
            <a:spLocks noGrp="1"/>
          </p:cNvSpPr>
          <p:nvPr>
            <p:ph type="title"/>
          </p:nvPr>
        </p:nvSpPr>
        <p:spPr/>
        <p:txBody>
          <a:bodyPr/>
          <a:lstStyle/>
          <a:p>
            <a:endParaRPr lang="en-US" smtClean="0"/>
          </a:p>
        </p:txBody>
      </p:sp>
      <p:sp>
        <p:nvSpPr>
          <p:cNvPr id="69635" name="Content Placeholder 2"/>
          <p:cNvSpPr>
            <a:spLocks noGrp="1"/>
          </p:cNvSpPr>
          <p:nvPr>
            <p:ph idx="1"/>
          </p:nvPr>
        </p:nvSpPr>
        <p:spPr/>
        <p:txBody>
          <a:bodyPr/>
          <a:lstStyle/>
          <a:p>
            <a:pPr>
              <a:buFont typeface="Arial" charset="0"/>
              <a:buNone/>
            </a:pPr>
            <a:r>
              <a:rPr lang="en-US" b="1" smtClean="0"/>
              <a:t>Chemotherapeutic agents (synthetic antibiotics)</a:t>
            </a:r>
            <a:r>
              <a:rPr lang="en-US" smtClean="0"/>
              <a:t>: antimicrobial agents of synthetic origin useful in the treatment of microbial or viral disease. </a:t>
            </a:r>
          </a:p>
          <a:p>
            <a:pPr>
              <a:buFont typeface="Arial" charset="0"/>
              <a:buNone/>
            </a:pPr>
            <a:r>
              <a:rPr lang="en-US" smtClean="0"/>
              <a:t>Examples are sulfonilamides, isoniazid, ethambutol, nalidixic acid and chloramphenicol. </a:t>
            </a:r>
          </a:p>
          <a:p>
            <a:pPr>
              <a:buFont typeface="Arial" charset="0"/>
              <a:buNone/>
            </a:pPr>
            <a:r>
              <a:rPr lang="en-US" smtClean="0"/>
              <a:t>Microbiologist's chemotherapeutic agent  noted as a "synthetic antibiotic".</a:t>
            </a:r>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58" name="Title 1"/>
          <p:cNvSpPr>
            <a:spLocks noGrp="1"/>
          </p:cNvSpPr>
          <p:nvPr>
            <p:ph type="title"/>
          </p:nvPr>
        </p:nvSpPr>
        <p:spPr/>
        <p:txBody>
          <a:bodyPr/>
          <a:lstStyle/>
          <a:p>
            <a:endParaRPr lang="en-US" smtClean="0"/>
          </a:p>
        </p:txBody>
      </p:sp>
      <p:sp>
        <p:nvSpPr>
          <p:cNvPr id="70659" name="Content Placeholder 2"/>
          <p:cNvSpPr>
            <a:spLocks noGrp="1"/>
          </p:cNvSpPr>
          <p:nvPr>
            <p:ph idx="1"/>
          </p:nvPr>
        </p:nvSpPr>
        <p:spPr/>
        <p:txBody>
          <a:bodyPr/>
          <a:lstStyle/>
          <a:p>
            <a:pPr>
              <a:buFont typeface="Arial" charset="0"/>
              <a:buNone/>
            </a:pPr>
            <a:r>
              <a:rPr lang="en-US" b="1" smtClean="0"/>
              <a:t>Antibiotics</a:t>
            </a:r>
            <a:r>
              <a:rPr lang="en-US" smtClean="0"/>
              <a:t>: antimicrobial agents produced by microorganisms that kill or inhibit other microorganisms. This is the microbiologist's definition. </a:t>
            </a:r>
          </a:p>
          <a:p>
            <a:pPr>
              <a:buFont typeface="Arial" charset="0"/>
              <a:buNone/>
            </a:pPr>
            <a:r>
              <a:rPr lang="en-US" smtClean="0"/>
              <a:t>Since most clinically-useful antibiotics are produced by microorganisms and are used to kill or inhibit infectious Bacteria, we will follow the above  classic definition</a:t>
            </a:r>
          </a:p>
          <a:p>
            <a:pPr>
              <a:buFont typeface="Arial" charset="0"/>
              <a:buNone/>
            </a:pPr>
            <a:r>
              <a:rPr lang="en-US" smtClean="0"/>
              <a:t>May be used for both?</a:t>
            </a:r>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050" name="Object 4"/>
          <p:cNvGraphicFramePr>
            <a:graphicFrameLocks noChangeAspect="1"/>
          </p:cNvGraphicFramePr>
          <p:nvPr/>
        </p:nvGraphicFramePr>
        <p:xfrm>
          <a:off x="0" y="0"/>
          <a:ext cx="9144000" cy="6858000"/>
        </p:xfrm>
        <a:graphic>
          <a:graphicData uri="http://schemas.openxmlformats.org/presentationml/2006/ole">
            <p:oleObj spid="_x0000_s2050" name="Bitmap Image" r:id="rId3" imgW="4285714" imgH="3209524" progId="PBrush">
              <p:embed/>
            </p:oleObj>
          </a:graphicData>
        </a:graphic>
      </p:graphicFrame>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2" name="Rectangle 2"/>
          <p:cNvSpPr>
            <a:spLocks noGrp="1" noChangeArrowheads="1"/>
          </p:cNvSpPr>
          <p:nvPr>
            <p:ph type="title"/>
          </p:nvPr>
        </p:nvSpPr>
        <p:spPr/>
        <p:txBody>
          <a:bodyPr/>
          <a:lstStyle/>
          <a:p>
            <a:pPr eaLnBrk="1" hangingPunct="1"/>
            <a:endParaRPr lang="en-US" smtClean="0"/>
          </a:p>
        </p:txBody>
      </p:sp>
      <p:sp>
        <p:nvSpPr>
          <p:cNvPr id="71683" name="Rectangle 3"/>
          <p:cNvSpPr>
            <a:spLocks noGrp="1" noChangeArrowheads="1"/>
          </p:cNvSpPr>
          <p:nvPr>
            <p:ph type="body" idx="1"/>
          </p:nvPr>
        </p:nvSpPr>
        <p:spPr/>
        <p:txBody>
          <a:bodyPr/>
          <a:lstStyle/>
          <a:p>
            <a:pPr eaLnBrk="1" hangingPunct="1">
              <a:buFont typeface="Arial" charset="0"/>
              <a:buNone/>
            </a:pPr>
            <a:r>
              <a:rPr lang="en-US" sz="2800" smtClean="0"/>
              <a:t>Louis Pasteur had observed some microbes produced substances which inhibits the growth of other microbes named as antibiosis.</a:t>
            </a:r>
          </a:p>
          <a:p>
            <a:pPr eaLnBrk="1" hangingPunct="1">
              <a:buFont typeface="Arial" charset="0"/>
              <a:buNone/>
            </a:pPr>
            <a:r>
              <a:rPr lang="en-US" sz="2800" smtClean="0"/>
              <a:t>In 1929 Alexander Fleming discovered a </a:t>
            </a:r>
            <a:r>
              <a:rPr lang="en-US" sz="2800" i="1" smtClean="0"/>
              <a:t>Penicillium,</a:t>
            </a:r>
            <a:r>
              <a:rPr lang="en-US" sz="2800" smtClean="0"/>
              <a:t> producing substance called penicillin which killed </a:t>
            </a:r>
            <a:r>
              <a:rPr lang="en-US" sz="2800" i="1" smtClean="0"/>
              <a:t>Staphylococcus  aureus.</a:t>
            </a:r>
          </a:p>
          <a:p>
            <a:pPr eaLnBrk="1" hangingPunct="1">
              <a:buFont typeface="Arial" charset="0"/>
              <a:buNone/>
            </a:pPr>
            <a:r>
              <a:rPr lang="en-US" sz="2800" smtClean="0"/>
              <a:t>In 1940 Florey and Chain isolated active substance from </a:t>
            </a:r>
            <a:r>
              <a:rPr lang="en-US" sz="2800" i="1" smtClean="0"/>
              <a:t>Penicillium notatum.  </a:t>
            </a:r>
          </a:p>
          <a:p>
            <a:pPr eaLnBrk="1" hangingPunct="1">
              <a:buFont typeface="Arial" charset="0"/>
              <a:buNone/>
            </a:pPr>
            <a:r>
              <a:rPr lang="en-US" sz="2800" i="1" smtClean="0"/>
              <a:t>They produced life saving drug (antibiotic) which saved many lives during world war II.</a:t>
            </a:r>
          </a:p>
          <a:p>
            <a:pPr eaLnBrk="1" hangingPunct="1">
              <a:buFont typeface="Arial" charset="0"/>
              <a:buNone/>
            </a:pPr>
            <a:endParaRPr lang="en-US" sz="2800" i="1" smtClean="0"/>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6" name="Title 1"/>
          <p:cNvSpPr>
            <a:spLocks noGrp="1"/>
          </p:cNvSpPr>
          <p:nvPr>
            <p:ph type="title"/>
          </p:nvPr>
        </p:nvSpPr>
        <p:spPr/>
        <p:txBody>
          <a:bodyPr/>
          <a:lstStyle/>
          <a:p>
            <a:pPr eaLnBrk="1" hangingPunct="1"/>
            <a:endParaRPr lang="en-US" smtClean="0"/>
          </a:p>
        </p:txBody>
      </p:sp>
      <p:sp>
        <p:nvSpPr>
          <p:cNvPr id="72707" name="Content Placeholder 2"/>
          <p:cNvSpPr>
            <a:spLocks noGrp="1"/>
          </p:cNvSpPr>
          <p:nvPr>
            <p:ph idx="1"/>
          </p:nvPr>
        </p:nvSpPr>
        <p:spPr/>
        <p:txBody>
          <a:bodyPr/>
          <a:lstStyle/>
          <a:p>
            <a:pPr eaLnBrk="1" hangingPunct="1"/>
            <a:r>
              <a:rPr lang="en-US" smtClean="0"/>
              <a:t>Two species of Penicillium now widely used for penicillin production are</a:t>
            </a:r>
          </a:p>
          <a:p>
            <a:pPr eaLnBrk="1" hangingPunct="1"/>
            <a:r>
              <a:rPr lang="en-US" i="1" smtClean="0"/>
              <a:t>Penicillium chrysogenum </a:t>
            </a:r>
          </a:p>
          <a:p>
            <a:pPr eaLnBrk="1" hangingPunct="1"/>
            <a:r>
              <a:rPr lang="en-US" i="1" smtClean="0"/>
              <a:t>Penicillium griseofulvum   </a:t>
            </a:r>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5" name="Rectangle 2"/>
          <p:cNvSpPr>
            <a:spLocks noGrp="1" noChangeArrowheads="1"/>
          </p:cNvSpPr>
          <p:nvPr>
            <p:ph type="title"/>
          </p:nvPr>
        </p:nvSpPr>
        <p:spPr/>
        <p:txBody>
          <a:bodyPr/>
          <a:lstStyle/>
          <a:p>
            <a:pPr eaLnBrk="1" hangingPunct="1"/>
            <a:r>
              <a:rPr lang="en-US" smtClean="0"/>
              <a:t>Conidiophore of </a:t>
            </a:r>
            <a:r>
              <a:rPr lang="en-US" i="1" smtClean="0"/>
              <a:t>Penicillium</a:t>
            </a:r>
          </a:p>
        </p:txBody>
      </p:sp>
      <p:sp>
        <p:nvSpPr>
          <p:cNvPr id="3076" name="Rectangle 3"/>
          <p:cNvSpPr>
            <a:spLocks noGrp="1" noChangeArrowheads="1"/>
          </p:cNvSpPr>
          <p:nvPr>
            <p:ph type="body" idx="1"/>
          </p:nvPr>
        </p:nvSpPr>
        <p:spPr/>
        <p:txBody>
          <a:bodyPr/>
          <a:lstStyle/>
          <a:p>
            <a:pPr eaLnBrk="1" hangingPunct="1"/>
            <a:endParaRPr lang="en-US" smtClean="0"/>
          </a:p>
        </p:txBody>
      </p:sp>
      <p:graphicFrame>
        <p:nvGraphicFramePr>
          <p:cNvPr id="3074" name="Object 4"/>
          <p:cNvGraphicFramePr>
            <a:graphicFrameLocks noChangeAspect="1"/>
          </p:cNvGraphicFramePr>
          <p:nvPr/>
        </p:nvGraphicFramePr>
        <p:xfrm>
          <a:off x="1828800" y="2057400"/>
          <a:ext cx="4876800" cy="4210050"/>
        </p:xfrm>
        <a:graphic>
          <a:graphicData uri="http://schemas.openxmlformats.org/presentationml/2006/ole">
            <p:oleObj spid="_x0000_s3074" name="Bitmap Image" r:id="rId3" imgW="3333333" imgH="4057143" progId="PBrush">
              <p:embed/>
            </p:oleObj>
          </a:graphicData>
        </a:graphic>
      </p:graphicFrame>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30" name="Title 1"/>
          <p:cNvSpPr>
            <a:spLocks noGrp="1"/>
          </p:cNvSpPr>
          <p:nvPr>
            <p:ph type="title"/>
          </p:nvPr>
        </p:nvSpPr>
        <p:spPr/>
        <p:txBody>
          <a:bodyPr/>
          <a:lstStyle/>
          <a:p>
            <a:endParaRPr lang="en-US" smtClean="0"/>
          </a:p>
        </p:txBody>
      </p:sp>
      <p:sp>
        <p:nvSpPr>
          <p:cNvPr id="73731" name="Content Placeholder 2"/>
          <p:cNvSpPr>
            <a:spLocks noGrp="1"/>
          </p:cNvSpPr>
          <p:nvPr>
            <p:ph idx="1"/>
          </p:nvPr>
        </p:nvSpPr>
        <p:spPr/>
        <p:txBody>
          <a:bodyPr/>
          <a:lstStyle/>
          <a:p>
            <a:r>
              <a:rPr lang="en-US" smtClean="0"/>
              <a:t>Antibiotics are low molecular-weight (non-protein) molecules produced as secondary metabolites, mainly by microorganisms that live in the soil</a:t>
            </a:r>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754" name="Title 1"/>
          <p:cNvSpPr>
            <a:spLocks noGrp="1"/>
          </p:cNvSpPr>
          <p:nvPr>
            <p:ph type="title"/>
          </p:nvPr>
        </p:nvSpPr>
        <p:spPr/>
        <p:txBody>
          <a:bodyPr/>
          <a:lstStyle/>
          <a:p>
            <a:endParaRPr lang="en-US" smtClean="0"/>
          </a:p>
        </p:txBody>
      </p:sp>
      <p:sp>
        <p:nvSpPr>
          <p:cNvPr id="74755" name="Content Placeholder 2"/>
          <p:cNvSpPr>
            <a:spLocks noGrp="1"/>
          </p:cNvSpPr>
          <p:nvPr>
            <p:ph idx="1"/>
          </p:nvPr>
        </p:nvSpPr>
        <p:spPr/>
        <p:txBody>
          <a:bodyPr/>
          <a:lstStyle/>
          <a:p>
            <a:pPr>
              <a:buFont typeface="Arial" charset="0"/>
              <a:buNone/>
            </a:pPr>
            <a:r>
              <a:rPr lang="en-US" smtClean="0"/>
              <a:t>Among the molds, the notable antibiotic producers are</a:t>
            </a:r>
            <a:r>
              <a:rPr lang="en-US" i="1" smtClean="0"/>
              <a:t> Penicillium</a:t>
            </a:r>
            <a:r>
              <a:rPr lang="en-US" smtClean="0"/>
              <a:t> and </a:t>
            </a:r>
            <a:r>
              <a:rPr lang="en-US" i="1" smtClean="0"/>
              <a:t>Cephalosporium</a:t>
            </a:r>
            <a:r>
              <a:rPr lang="en-US" smtClean="0"/>
              <a:t>, which are the main source of the beta-lactam antibiotics (penicillin and its relatives)</a:t>
            </a:r>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778" name="Title 1"/>
          <p:cNvSpPr>
            <a:spLocks noGrp="1"/>
          </p:cNvSpPr>
          <p:nvPr>
            <p:ph type="title"/>
          </p:nvPr>
        </p:nvSpPr>
        <p:spPr/>
        <p:txBody>
          <a:bodyPr/>
          <a:lstStyle/>
          <a:p>
            <a:endParaRPr lang="en-US" smtClean="0"/>
          </a:p>
        </p:txBody>
      </p:sp>
      <p:sp>
        <p:nvSpPr>
          <p:cNvPr id="75779" name="Content Placeholder 2"/>
          <p:cNvSpPr>
            <a:spLocks noGrp="1"/>
          </p:cNvSpPr>
          <p:nvPr>
            <p:ph idx="1"/>
          </p:nvPr>
        </p:nvSpPr>
        <p:spPr/>
        <p:txBody>
          <a:bodyPr/>
          <a:lstStyle/>
          <a:p>
            <a:pPr>
              <a:buFont typeface="Arial" charset="0"/>
              <a:buNone/>
            </a:pPr>
            <a:r>
              <a:rPr lang="en-US" smtClean="0"/>
              <a:t>In the Bacteria, the Actinomycetes, notably </a:t>
            </a:r>
            <a:r>
              <a:rPr lang="en-US" i="1" smtClean="0"/>
              <a:t>Streptomyces</a:t>
            </a:r>
            <a:r>
              <a:rPr lang="en-US" smtClean="0"/>
              <a:t> species, produce a variety of types of antibiotics including the aminoglycosides (e.g. streptomycin), macrolides (e.g. erythromycin), and the tetracyclines. </a:t>
            </a:r>
          </a:p>
          <a:p>
            <a:pPr>
              <a:buFont typeface="Arial" charset="0"/>
              <a:buNone/>
            </a:pPr>
            <a:r>
              <a:rPr lang="en-US" smtClean="0"/>
              <a:t>Endospore-forming </a:t>
            </a:r>
            <a:r>
              <a:rPr lang="en-US" i="1" smtClean="0"/>
              <a:t>Bacillus</a:t>
            </a:r>
            <a:r>
              <a:rPr lang="en-US" smtClean="0"/>
              <a:t> species produce polypeptide antibiotics such as polymyxin and bacitracin</a:t>
            </a:r>
          </a:p>
        </p:txBody>
      </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802" name="Title 1"/>
          <p:cNvSpPr>
            <a:spLocks noGrp="1"/>
          </p:cNvSpPr>
          <p:nvPr>
            <p:ph type="title"/>
          </p:nvPr>
        </p:nvSpPr>
        <p:spPr/>
        <p:txBody>
          <a:bodyPr/>
          <a:lstStyle/>
          <a:p>
            <a:endParaRPr lang="en-US" smtClean="0"/>
          </a:p>
        </p:txBody>
      </p:sp>
      <p:sp>
        <p:nvSpPr>
          <p:cNvPr id="76803" name="Content Placeholder 2"/>
          <p:cNvSpPr>
            <a:spLocks noGrp="1"/>
          </p:cNvSpPr>
          <p:nvPr>
            <p:ph idx="1"/>
          </p:nvPr>
        </p:nvSpPr>
        <p:spPr/>
        <p:txBody>
          <a:bodyPr/>
          <a:lstStyle/>
          <a:p>
            <a:pPr>
              <a:buFont typeface="Arial" charset="0"/>
              <a:buNone/>
            </a:pPr>
            <a:r>
              <a:rPr lang="en-US" b="1" smtClean="0"/>
              <a:t>Semi synthetic antibiotics</a:t>
            </a:r>
            <a:r>
              <a:rPr lang="en-US" smtClean="0"/>
              <a:t> are molecules produced my a microbe that are subsequently modified by an organic chemist to enhance their antimicrobial properties or to render them unique for a pharmaceutical patent.</a:t>
            </a:r>
          </a:p>
        </p:txBody>
      </p:sp>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826" name="Title 1"/>
          <p:cNvSpPr>
            <a:spLocks noGrp="1"/>
          </p:cNvSpPr>
          <p:nvPr>
            <p:ph type="title"/>
          </p:nvPr>
        </p:nvSpPr>
        <p:spPr/>
        <p:txBody>
          <a:bodyPr/>
          <a:lstStyle/>
          <a:p>
            <a:endParaRPr lang="en-US" smtClean="0"/>
          </a:p>
        </p:txBody>
      </p:sp>
      <p:sp>
        <p:nvSpPr>
          <p:cNvPr id="77827" name="Content Placeholder 2"/>
          <p:cNvSpPr>
            <a:spLocks noGrp="1"/>
          </p:cNvSpPr>
          <p:nvPr>
            <p:ph idx="1"/>
          </p:nvPr>
        </p:nvSpPr>
        <p:spPr/>
        <p:txBody>
          <a:bodyPr/>
          <a:lstStyle/>
          <a:p>
            <a:r>
              <a:rPr lang="en-US" smtClean="0"/>
              <a:t>The most important property of a clinically-useful antimicrobial agent, especially from the patient's point of view, is its </a:t>
            </a:r>
            <a:r>
              <a:rPr lang="en-US" b="1" smtClean="0"/>
              <a:t>selective toxicity</a:t>
            </a:r>
            <a:r>
              <a:rPr lang="en-US" smtClean="0"/>
              <a:t>, i.e., the agent acts in some way that inhibits or kills bacterial pathogens but has little or no toxic effect on the animal taking the drug This implies that the biochemical processes in the bacteria are in some way different from those in the animal cells.</a:t>
            </a:r>
          </a:p>
        </p:txBody>
      </p:sp>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00" name="Rectangle 2"/>
          <p:cNvSpPr>
            <a:spLocks noGrp="1" noChangeArrowheads="1"/>
          </p:cNvSpPr>
          <p:nvPr>
            <p:ph type="title"/>
          </p:nvPr>
        </p:nvSpPr>
        <p:spPr>
          <a:xfrm>
            <a:off x="914400" y="304800"/>
            <a:ext cx="8229600" cy="1143000"/>
          </a:xfrm>
        </p:spPr>
        <p:txBody>
          <a:bodyPr/>
          <a:lstStyle/>
          <a:p>
            <a:pPr eaLnBrk="1" hangingPunct="1"/>
            <a:endParaRPr lang="en-US" smtClean="0"/>
          </a:p>
        </p:txBody>
      </p:sp>
      <p:sp>
        <p:nvSpPr>
          <p:cNvPr id="4101" name="Rectangle 3"/>
          <p:cNvSpPr>
            <a:spLocks noGrp="1" noChangeArrowheads="1"/>
          </p:cNvSpPr>
          <p:nvPr>
            <p:ph type="body" idx="1"/>
          </p:nvPr>
        </p:nvSpPr>
        <p:spPr/>
        <p:txBody>
          <a:bodyPr/>
          <a:lstStyle/>
          <a:p>
            <a:pPr eaLnBrk="1" hangingPunct="1"/>
            <a:endParaRPr lang="en-US" smtClean="0"/>
          </a:p>
        </p:txBody>
      </p:sp>
      <p:graphicFrame>
        <p:nvGraphicFramePr>
          <p:cNvPr id="4098" name="Object 4"/>
          <p:cNvGraphicFramePr>
            <a:graphicFrameLocks noChangeAspect="1"/>
          </p:cNvGraphicFramePr>
          <p:nvPr/>
        </p:nvGraphicFramePr>
        <p:xfrm>
          <a:off x="609600" y="1828800"/>
          <a:ext cx="2362200" cy="2286000"/>
        </p:xfrm>
        <a:graphic>
          <a:graphicData uri="http://schemas.openxmlformats.org/presentationml/2006/ole">
            <p:oleObj spid="_x0000_s4098" name="Bitmap Image" r:id="rId3" imgW="1905266" imgH="1800476" progId="PBrush">
              <p:embed/>
            </p:oleObj>
          </a:graphicData>
        </a:graphic>
      </p:graphicFrame>
      <p:graphicFrame>
        <p:nvGraphicFramePr>
          <p:cNvPr id="4099" name="Object 5"/>
          <p:cNvGraphicFramePr>
            <a:graphicFrameLocks noChangeAspect="1"/>
          </p:cNvGraphicFramePr>
          <p:nvPr/>
        </p:nvGraphicFramePr>
        <p:xfrm>
          <a:off x="3505200" y="1752600"/>
          <a:ext cx="5410200" cy="4514850"/>
        </p:xfrm>
        <a:graphic>
          <a:graphicData uri="http://schemas.openxmlformats.org/presentationml/2006/ole">
            <p:oleObj spid="_x0000_s4099" name="Bitmap Image" r:id="rId4" imgW="5180952" imgH="4514286" progId="PBrush">
              <p:embed/>
            </p:oleObj>
          </a:graphicData>
        </a:graphic>
      </p:graphicFrame>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3" name="Rectangle 2"/>
          <p:cNvSpPr>
            <a:spLocks noGrp="1" noChangeArrowheads="1"/>
          </p:cNvSpPr>
          <p:nvPr>
            <p:ph type="title"/>
          </p:nvPr>
        </p:nvSpPr>
        <p:spPr>
          <a:xfrm>
            <a:off x="838200" y="214313"/>
            <a:ext cx="8105775" cy="1462087"/>
          </a:xfrm>
        </p:spPr>
        <p:txBody>
          <a:bodyPr/>
          <a:lstStyle/>
          <a:p>
            <a:pPr eaLnBrk="1" hangingPunct="1"/>
            <a:r>
              <a:rPr lang="en-US" smtClean="0"/>
              <a:t>Antimicrobial susceptibility testing</a:t>
            </a:r>
          </a:p>
        </p:txBody>
      </p:sp>
      <p:sp>
        <p:nvSpPr>
          <p:cNvPr id="5124" name="Rectangle 3"/>
          <p:cNvSpPr>
            <a:spLocks noGrp="1" noChangeArrowheads="1"/>
          </p:cNvSpPr>
          <p:nvPr>
            <p:ph type="body" idx="1"/>
          </p:nvPr>
        </p:nvSpPr>
        <p:spPr/>
        <p:txBody>
          <a:bodyPr/>
          <a:lstStyle/>
          <a:p>
            <a:pPr eaLnBrk="1" hangingPunct="1"/>
            <a:endParaRPr lang="en-US" smtClean="0"/>
          </a:p>
        </p:txBody>
      </p:sp>
      <p:graphicFrame>
        <p:nvGraphicFramePr>
          <p:cNvPr id="5122" name="Object 4"/>
          <p:cNvGraphicFramePr>
            <a:graphicFrameLocks noChangeAspect="1"/>
          </p:cNvGraphicFramePr>
          <p:nvPr/>
        </p:nvGraphicFramePr>
        <p:xfrm>
          <a:off x="1524000" y="1752600"/>
          <a:ext cx="5105400" cy="4724400"/>
        </p:xfrm>
        <a:graphic>
          <a:graphicData uri="http://schemas.openxmlformats.org/presentationml/2006/ole">
            <p:oleObj spid="_x0000_s5122" name="Bitmap Image" r:id="rId3" imgW="6485714" imgH="9011908" progId="PBrush">
              <p:embed/>
            </p:oleObj>
          </a:graphicData>
        </a:graphic>
      </p:graphicFrame>
    </p:spTree>
  </p:cSld>
  <p:clrMapOvr>
    <a:masterClrMapping/>
  </p:clrMapOvr>
  <p:timing>
    <p:tnLst>
      <p:par>
        <p:cTn id="1" dur="indefinite" restart="never" nodeType="tmRoot"/>
      </p:par>
    </p:tnLst>
  </p:timing>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850" name="Title 1"/>
          <p:cNvSpPr>
            <a:spLocks noGrp="1"/>
          </p:cNvSpPr>
          <p:nvPr>
            <p:ph type="title"/>
          </p:nvPr>
        </p:nvSpPr>
        <p:spPr/>
        <p:txBody>
          <a:bodyPr/>
          <a:lstStyle/>
          <a:p>
            <a:pPr eaLnBrk="1" hangingPunct="1"/>
            <a:endParaRPr lang="en-US" smtClean="0"/>
          </a:p>
        </p:txBody>
      </p:sp>
      <p:sp>
        <p:nvSpPr>
          <p:cNvPr id="78851" name="Content Placeholder 2"/>
          <p:cNvSpPr>
            <a:spLocks noGrp="1"/>
          </p:cNvSpPr>
          <p:nvPr>
            <p:ph idx="1"/>
          </p:nvPr>
        </p:nvSpPr>
        <p:spPr/>
        <p:txBody>
          <a:bodyPr/>
          <a:lstStyle/>
          <a:p>
            <a:pPr eaLnBrk="1" hangingPunct="1">
              <a:buFont typeface="Arial" charset="0"/>
              <a:buNone/>
            </a:pPr>
            <a:r>
              <a:rPr lang="en-US" sz="2400" smtClean="0"/>
              <a:t>The KIRBY- BAUER agar diffusion  method is an early method of testing antimicrobial susceptibility of an organism</a:t>
            </a:r>
          </a:p>
          <a:p>
            <a:pPr eaLnBrk="1" hangingPunct="1">
              <a:buFont typeface="Arial" charset="0"/>
              <a:buNone/>
            </a:pPr>
            <a:r>
              <a:rPr lang="en-US" sz="2400" smtClean="0"/>
              <a:t>Muller-Hinton agar, some times supplemented with 5% sheep blood, is swabbed across with a standardized suspension of a bacterial culture</a:t>
            </a:r>
          </a:p>
          <a:p>
            <a:pPr eaLnBrk="1" hangingPunct="1">
              <a:buFont typeface="Arial" charset="0"/>
              <a:buNone/>
            </a:pPr>
            <a:r>
              <a:rPr lang="en-US" sz="2400" smtClean="0"/>
              <a:t> Antibiotic containing paper discs are placed on the lawn of bacterial using a dispenser or a forceps.</a:t>
            </a:r>
          </a:p>
          <a:p>
            <a:pPr eaLnBrk="1" hangingPunct="1">
              <a:buFont typeface="Arial" charset="0"/>
              <a:buNone/>
            </a:pPr>
            <a:r>
              <a:rPr lang="en-US" sz="2400" smtClean="0"/>
              <a:t>After overnight incubation at 37C, the diameter of each zone of inhibition is measured with calipers and results are recorded in millimeters            </a:t>
            </a:r>
          </a:p>
        </p:txBody>
      </p:sp>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874" name="Content Placeholder 2"/>
          <p:cNvSpPr>
            <a:spLocks noGrp="1"/>
          </p:cNvSpPr>
          <p:nvPr>
            <p:ph idx="4294967295"/>
          </p:nvPr>
        </p:nvSpPr>
        <p:spPr>
          <a:xfrm>
            <a:off x="0" y="0"/>
            <a:ext cx="9144000" cy="6858000"/>
          </a:xfrm>
        </p:spPr>
        <p:txBody>
          <a:bodyPr/>
          <a:lstStyle/>
          <a:p>
            <a:pPr>
              <a:buFont typeface="Arial" charset="0"/>
              <a:buNone/>
            </a:pPr>
            <a:r>
              <a:rPr lang="en-US" smtClean="0"/>
              <a:t>A zone size interpretive chart (Standard chart) is used to convert the zone diameter into following categories.</a:t>
            </a:r>
          </a:p>
          <a:p>
            <a:pPr>
              <a:buFont typeface="Arial" charset="0"/>
              <a:buNone/>
            </a:pPr>
            <a:r>
              <a:rPr lang="en-US" b="1" smtClean="0"/>
              <a:t>Susceptible (S)</a:t>
            </a:r>
            <a:r>
              <a:rPr lang="en-US" smtClean="0"/>
              <a:t> – implies the organisms should respond favourably to therapeutic doses of the drug   </a:t>
            </a:r>
          </a:p>
          <a:p>
            <a:pPr>
              <a:buFont typeface="Arial" charset="0"/>
              <a:buNone/>
            </a:pPr>
            <a:r>
              <a:rPr lang="en-US" b="1" smtClean="0"/>
              <a:t>Intermediate (I) </a:t>
            </a:r>
            <a:r>
              <a:rPr lang="en-US" smtClean="0"/>
              <a:t>– indicate some susceptibility to therapeutic doses and may be valuable if the patient is allergic to the drugs producing susceptibility  </a:t>
            </a:r>
          </a:p>
          <a:p>
            <a:pPr>
              <a:buFont typeface="Arial" charset="0"/>
              <a:buNone/>
            </a:pPr>
            <a:r>
              <a:rPr lang="en-US" smtClean="0"/>
              <a:t>Or</a:t>
            </a:r>
          </a:p>
          <a:p>
            <a:pPr>
              <a:buFont typeface="Arial" charset="0"/>
              <a:buNone/>
            </a:pPr>
            <a:r>
              <a:rPr lang="en-US" b="1" smtClean="0"/>
              <a:t>Resistant (R)</a:t>
            </a:r>
            <a:r>
              <a:rPr lang="en-US" smtClean="0"/>
              <a:t> – implies that the usual therapeutic concentrations of antimicrobials would be ineffective</a:t>
            </a:r>
          </a:p>
        </p:txBody>
      </p:sp>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898" name="Content Placeholder 2"/>
          <p:cNvSpPr>
            <a:spLocks noGrp="1"/>
          </p:cNvSpPr>
          <p:nvPr>
            <p:ph idx="1"/>
          </p:nvPr>
        </p:nvSpPr>
        <p:spPr>
          <a:xfrm>
            <a:off x="0" y="0"/>
            <a:ext cx="9144000" cy="6858000"/>
          </a:xfrm>
        </p:spPr>
        <p:txBody>
          <a:bodyPr/>
          <a:lstStyle/>
          <a:p>
            <a:pPr eaLnBrk="1" hangingPunct="1">
              <a:buFont typeface="Arial" charset="0"/>
              <a:buNone/>
            </a:pPr>
            <a:r>
              <a:rPr lang="en-US" sz="2800" smtClean="0"/>
              <a:t>Antibiotics exert either microbicidal  (kill) or microbiostatic (inhibit growth) depend on the infectious agents.</a:t>
            </a:r>
          </a:p>
          <a:p>
            <a:pPr eaLnBrk="1" hangingPunct="1">
              <a:buFont typeface="Arial" charset="0"/>
              <a:buNone/>
            </a:pPr>
            <a:endParaRPr lang="en-US" sz="2800" smtClean="0"/>
          </a:p>
          <a:p>
            <a:pPr eaLnBrk="1" hangingPunct="1">
              <a:buFont typeface="Arial" charset="0"/>
              <a:buNone/>
            </a:pPr>
            <a:r>
              <a:rPr lang="en-US" sz="2800" smtClean="0"/>
              <a:t>The products with a range of activity limited to one group of organisms are called </a:t>
            </a:r>
            <a:r>
              <a:rPr lang="en-US" sz="2800" i="1" smtClean="0"/>
              <a:t>narrow-spectrum </a:t>
            </a:r>
            <a:r>
              <a:rPr lang="en-US" sz="2800" smtClean="0"/>
              <a:t>drugs. Gram positives or Gram negatives </a:t>
            </a:r>
          </a:p>
          <a:p>
            <a:pPr eaLnBrk="1" hangingPunct="1">
              <a:buFont typeface="Arial" charset="0"/>
              <a:buNone/>
            </a:pPr>
            <a:r>
              <a:rPr lang="en-US" sz="2800" i="1" smtClean="0"/>
              <a:t>Broad -spectrum </a:t>
            </a:r>
            <a:r>
              <a:rPr lang="en-US" sz="2800" smtClean="0"/>
              <a:t>antibiotics are effective against an expanded range of microorganisms – These drugs are more often prescribed when the exact nature of infectious agent is unknown.</a:t>
            </a:r>
          </a:p>
          <a:p>
            <a:pPr eaLnBrk="1" hangingPunct="1">
              <a:buFont typeface="Arial" charset="0"/>
              <a:buNone/>
            </a:pPr>
            <a:r>
              <a:rPr lang="en-US" sz="2800" smtClean="0"/>
              <a:t>If effective against a single organism or disease, they are referred to as </a:t>
            </a:r>
            <a:r>
              <a:rPr lang="en-US" sz="2800" i="1" smtClean="0"/>
              <a:t>limited spectrum</a:t>
            </a:r>
            <a:r>
              <a:rPr lang="en-US" sz="2800" smtClean="0"/>
              <a:t>. </a:t>
            </a:r>
            <a:br>
              <a:rPr lang="en-US" sz="2800" smtClean="0"/>
            </a:br>
            <a:endParaRPr lang="en-US" sz="2800" smtClean="0"/>
          </a:p>
          <a:p>
            <a:pPr eaLnBrk="1" hangingPunct="1">
              <a:buFont typeface="Arial" charset="0"/>
              <a:buNone/>
            </a:pPr>
            <a:r>
              <a:rPr lang="en-US" sz="2800" i="1" smtClean="0"/>
              <a:t>. </a:t>
            </a:r>
            <a:endParaRPr lang="en-US" sz="2800" smtClean="0"/>
          </a:p>
        </p:txBody>
      </p:sp>
    </p:spTree>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22" name="Content Placeholder 5"/>
          <p:cNvSpPr>
            <a:spLocks noGrp="1"/>
          </p:cNvSpPr>
          <p:nvPr>
            <p:ph idx="4294967295"/>
          </p:nvPr>
        </p:nvSpPr>
        <p:spPr>
          <a:xfrm>
            <a:off x="0" y="0"/>
            <a:ext cx="9144000" cy="6858000"/>
          </a:xfrm>
        </p:spPr>
        <p:txBody>
          <a:bodyPr/>
          <a:lstStyle/>
          <a:p>
            <a:pPr eaLnBrk="1" hangingPunct="1">
              <a:buFont typeface="Arial" charset="0"/>
              <a:buNone/>
            </a:pPr>
            <a:r>
              <a:rPr lang="en-US" sz="3600" smtClean="0"/>
              <a:t>Despite advantages of broad- spectrum one main problem is  disturb of normal ecological relationships among micro-organisms in the body.</a:t>
            </a:r>
          </a:p>
          <a:p>
            <a:pPr eaLnBrk="1" hangingPunct="1">
              <a:buFont typeface="Arial" charset="0"/>
              <a:buNone/>
            </a:pPr>
            <a:r>
              <a:rPr lang="en-US" sz="3600" smtClean="0"/>
              <a:t>If hardy organisms survive without competition of others and cause secondary or opportunistic infections  </a:t>
            </a:r>
          </a:p>
          <a:p>
            <a:pPr eaLnBrk="1" hangingPunct="1">
              <a:buFont typeface="Arial" charset="0"/>
              <a:buNone/>
            </a:pPr>
            <a:r>
              <a:rPr lang="en-US" sz="3600" smtClean="0"/>
              <a:t>Common etiologic agents in such secondary infections are resistant strains of </a:t>
            </a:r>
            <a:r>
              <a:rPr lang="en-US" sz="3600" i="1" smtClean="0"/>
              <a:t> Pseudomonas , Escherichia, Staphylococcus  etc</a:t>
            </a:r>
            <a:endParaRPr lang="en-US" sz="3600" smtClean="0"/>
          </a:p>
        </p:txBody>
      </p:sp>
    </p:spTree>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946" name="Title 1"/>
          <p:cNvSpPr>
            <a:spLocks noGrp="1"/>
          </p:cNvSpPr>
          <p:nvPr>
            <p:ph type="title"/>
          </p:nvPr>
        </p:nvSpPr>
        <p:spPr/>
        <p:txBody>
          <a:bodyPr/>
          <a:lstStyle/>
          <a:p>
            <a:pPr eaLnBrk="1" hangingPunct="1"/>
            <a:endParaRPr lang="en-US" smtClean="0"/>
          </a:p>
        </p:txBody>
      </p:sp>
      <p:sp>
        <p:nvSpPr>
          <p:cNvPr id="82947" name="Content Placeholder 2"/>
          <p:cNvSpPr>
            <a:spLocks noGrp="1"/>
          </p:cNvSpPr>
          <p:nvPr>
            <p:ph idx="1"/>
          </p:nvPr>
        </p:nvSpPr>
        <p:spPr/>
        <p:txBody>
          <a:bodyPr/>
          <a:lstStyle/>
          <a:p>
            <a:pPr eaLnBrk="1" hangingPunct="1">
              <a:buFont typeface="Wingdings" pitchFamily="2" charset="2"/>
              <a:buNone/>
            </a:pPr>
            <a:r>
              <a:rPr lang="en-US" sz="2400" smtClean="0"/>
              <a:t>	</a:t>
            </a:r>
            <a:r>
              <a:rPr lang="en-US" sz="2800" smtClean="0"/>
              <a:t>Main antimicrobial producing organisms are</a:t>
            </a:r>
          </a:p>
          <a:p>
            <a:pPr eaLnBrk="1" hangingPunct="1">
              <a:buFont typeface="Arial" charset="0"/>
              <a:buNone/>
            </a:pPr>
            <a:r>
              <a:rPr lang="en-US" sz="2800" b="1" smtClean="0"/>
              <a:t>Fungi</a:t>
            </a:r>
          </a:p>
          <a:p>
            <a:pPr eaLnBrk="1" hangingPunct="1">
              <a:buFont typeface="Arial" charset="0"/>
              <a:buNone/>
            </a:pPr>
            <a:r>
              <a:rPr lang="en-US" sz="2800" i="1" smtClean="0"/>
              <a:t>	Penicillium and Cephalosporium acremonium</a:t>
            </a:r>
          </a:p>
          <a:p>
            <a:pPr eaLnBrk="1" hangingPunct="1">
              <a:buFont typeface="Arial" charset="0"/>
              <a:buNone/>
            </a:pPr>
            <a:r>
              <a:rPr lang="en-US" sz="2800" b="1" smtClean="0"/>
              <a:t>Bacteria</a:t>
            </a:r>
          </a:p>
          <a:p>
            <a:pPr eaLnBrk="1" hangingPunct="1">
              <a:buFont typeface="Arial" charset="0"/>
              <a:buNone/>
            </a:pPr>
            <a:r>
              <a:rPr lang="en-US" sz="2800" smtClean="0"/>
              <a:t>	1.Order Actinomycetales- </a:t>
            </a:r>
            <a:r>
              <a:rPr lang="en-US" sz="2800" i="1" smtClean="0"/>
              <a:t>Streptomyces</a:t>
            </a:r>
          </a:p>
          <a:p>
            <a:pPr eaLnBrk="1" hangingPunct="1">
              <a:buFont typeface="Arial" charset="0"/>
              <a:buNone/>
            </a:pPr>
            <a:r>
              <a:rPr lang="en-US" sz="2800" i="1" smtClean="0"/>
              <a:t>	2. Bacillus sp.</a:t>
            </a:r>
          </a:p>
          <a:p>
            <a:pPr eaLnBrk="1" hangingPunct="1"/>
            <a:endParaRPr lang="en-US" sz="2800" i="1" smtClean="0"/>
          </a:p>
          <a:p>
            <a:pPr eaLnBrk="1" hangingPunct="1"/>
            <a:endParaRPr lang="en-US" sz="3600" b="1" smtClean="0"/>
          </a:p>
        </p:txBody>
      </p:sp>
    </p:spTree>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970" name="Content Placeholder 2"/>
          <p:cNvSpPr>
            <a:spLocks noGrp="1"/>
          </p:cNvSpPr>
          <p:nvPr>
            <p:ph idx="4294967295"/>
          </p:nvPr>
        </p:nvSpPr>
        <p:spPr>
          <a:xfrm>
            <a:off x="762000" y="0"/>
            <a:ext cx="8382000" cy="6553200"/>
          </a:xfrm>
        </p:spPr>
        <p:txBody>
          <a:bodyPr/>
          <a:lstStyle/>
          <a:p>
            <a:pPr eaLnBrk="1" hangingPunct="1">
              <a:buFont typeface="Wingdings" pitchFamily="2" charset="2"/>
              <a:buNone/>
            </a:pPr>
            <a:r>
              <a:rPr lang="en-US" b="1" smtClean="0"/>
              <a:t>Properties of useful antibiotic</a:t>
            </a:r>
          </a:p>
          <a:p>
            <a:pPr eaLnBrk="1" hangingPunct="1">
              <a:buFont typeface="Wingdings" pitchFamily="2" charset="2"/>
              <a:buNone/>
            </a:pPr>
            <a:r>
              <a:rPr lang="en-US" sz="2400" smtClean="0"/>
              <a:t>	</a:t>
            </a:r>
          </a:p>
          <a:p>
            <a:pPr eaLnBrk="1" hangingPunct="1">
              <a:buFont typeface="Wingdings" pitchFamily="2" charset="2"/>
              <a:buNone/>
            </a:pPr>
            <a:r>
              <a:rPr lang="en-US" sz="2800" smtClean="0"/>
              <a:t>    1.Antibiotic should be a broad spectrum? (depends)</a:t>
            </a:r>
          </a:p>
          <a:p>
            <a:pPr eaLnBrk="1" hangingPunct="1">
              <a:buFont typeface="Wingdings" pitchFamily="2" charset="2"/>
              <a:buNone/>
            </a:pPr>
            <a:endParaRPr lang="en-US" sz="2800" smtClean="0"/>
          </a:p>
          <a:p>
            <a:pPr eaLnBrk="1" hangingPunct="1">
              <a:buFont typeface="Wingdings" pitchFamily="2" charset="2"/>
              <a:buNone/>
            </a:pPr>
            <a:r>
              <a:rPr lang="en-US" sz="2800" smtClean="0"/>
              <a:t>	2.Should inhibit the development of resistant forms of pathogenic microbes</a:t>
            </a:r>
          </a:p>
          <a:p>
            <a:pPr eaLnBrk="1" hangingPunct="1">
              <a:buFont typeface="Wingdings" pitchFamily="2" charset="2"/>
              <a:buNone/>
            </a:pPr>
            <a:endParaRPr lang="en-US" sz="2800" smtClean="0"/>
          </a:p>
          <a:p>
            <a:pPr eaLnBrk="1" hangingPunct="1">
              <a:buFont typeface="Wingdings" pitchFamily="2" charset="2"/>
              <a:buNone/>
            </a:pPr>
            <a:r>
              <a:rPr lang="en-US" sz="2800" smtClean="0"/>
              <a:t>	3.Should not result in undesirable side effect to host</a:t>
            </a:r>
          </a:p>
          <a:p>
            <a:pPr eaLnBrk="1" hangingPunct="1">
              <a:buFont typeface="Wingdings" pitchFamily="2" charset="2"/>
              <a:buNone/>
            </a:pPr>
            <a:endParaRPr lang="en-US" sz="2800" smtClean="0"/>
          </a:p>
          <a:p>
            <a:pPr eaLnBrk="1" hangingPunct="1">
              <a:buFont typeface="Wingdings" pitchFamily="2" charset="2"/>
              <a:buNone/>
            </a:pPr>
            <a:r>
              <a:rPr lang="en-US" sz="2800" smtClean="0"/>
              <a:t>	4.Should not disturb the normal microbial flora of the host</a:t>
            </a:r>
          </a:p>
          <a:p>
            <a:pPr eaLnBrk="1" hangingPunct="1"/>
            <a:endParaRPr lang="en-US" sz="2800" smtClean="0"/>
          </a:p>
        </p:txBody>
      </p:sp>
    </p:spTree>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994" name="Title 1"/>
          <p:cNvSpPr>
            <a:spLocks noGrp="1"/>
          </p:cNvSpPr>
          <p:nvPr>
            <p:ph type="title"/>
          </p:nvPr>
        </p:nvSpPr>
        <p:spPr/>
        <p:txBody>
          <a:bodyPr/>
          <a:lstStyle/>
          <a:p>
            <a:r>
              <a:rPr lang="en-US" sz="3200" b="1" smtClean="0"/>
              <a:t>Kinds of Antimicrobial Agents and their Primary Modes of Action</a:t>
            </a:r>
            <a:r>
              <a:rPr lang="en-US" sz="3200" smtClean="0"/>
              <a:t> </a:t>
            </a:r>
            <a:br>
              <a:rPr lang="en-US" sz="3200" smtClean="0"/>
            </a:br>
            <a:endParaRPr lang="en-US" sz="3200" smtClean="0"/>
          </a:p>
        </p:txBody>
      </p:sp>
      <p:sp>
        <p:nvSpPr>
          <p:cNvPr id="84995" name="Content Placeholder 2"/>
          <p:cNvSpPr>
            <a:spLocks noGrp="1"/>
          </p:cNvSpPr>
          <p:nvPr>
            <p:ph idx="1"/>
          </p:nvPr>
        </p:nvSpPr>
        <p:spPr>
          <a:xfrm>
            <a:off x="381000" y="1447800"/>
            <a:ext cx="8574088" cy="5105400"/>
          </a:xfrm>
        </p:spPr>
        <p:txBody>
          <a:bodyPr/>
          <a:lstStyle/>
          <a:p>
            <a:pPr>
              <a:buFont typeface="Arial" charset="0"/>
              <a:buNone/>
            </a:pPr>
            <a:r>
              <a:rPr lang="en-US" sz="2800" smtClean="0"/>
              <a:t>Antibiotics may be assigned to one of at least 5 main groups according to the target site of their interfering activity</a:t>
            </a:r>
          </a:p>
          <a:p>
            <a:r>
              <a:rPr lang="en-US" sz="2800" b="1" smtClean="0"/>
              <a:t>1. Cell wall synthesis inhibitors</a:t>
            </a:r>
            <a:r>
              <a:rPr lang="en-US" sz="2800" smtClean="0"/>
              <a:t> Cell wall synthesis inhibitors generally inhibit some step in the synthesis of bacterial peptidoglycan. Generally they exert their selective toxicity against eubacteria because human cells lack cell walls. </a:t>
            </a:r>
          </a:p>
          <a:p>
            <a:pPr>
              <a:buFont typeface="Arial" charset="0"/>
              <a:buNone/>
            </a:pPr>
            <a:endParaRPr lang="en-US" sz="2800" smtClean="0"/>
          </a:p>
          <a:p>
            <a:pPr>
              <a:buFont typeface="Wingdings" pitchFamily="2" charset="2"/>
              <a:buNone/>
            </a:pPr>
            <a:r>
              <a:rPr lang="en-US" sz="2800" smtClean="0"/>
              <a:t>	</a:t>
            </a:r>
          </a:p>
        </p:txBody>
      </p:sp>
    </p:spTree>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018" name="Title 1"/>
          <p:cNvSpPr>
            <a:spLocks noGrp="1"/>
          </p:cNvSpPr>
          <p:nvPr>
            <p:ph type="title"/>
          </p:nvPr>
        </p:nvSpPr>
        <p:spPr/>
        <p:txBody>
          <a:bodyPr/>
          <a:lstStyle/>
          <a:p>
            <a:endParaRPr lang="en-US" smtClean="0"/>
          </a:p>
        </p:txBody>
      </p:sp>
      <p:sp>
        <p:nvSpPr>
          <p:cNvPr id="86019" name="Content Placeholder 2"/>
          <p:cNvSpPr>
            <a:spLocks noGrp="1"/>
          </p:cNvSpPr>
          <p:nvPr>
            <p:ph idx="1"/>
          </p:nvPr>
        </p:nvSpPr>
        <p:spPr/>
        <p:txBody>
          <a:bodyPr/>
          <a:lstStyle/>
          <a:p>
            <a:pPr>
              <a:buFont typeface="Wingdings" pitchFamily="2" charset="2"/>
              <a:buNone/>
            </a:pPr>
            <a:r>
              <a:rPr lang="en-US" smtClean="0"/>
              <a:t>1. Action on cell wall and cell membrane proteins   eg.  Penicillin and cephalosporins, preventing the action of enzyme called transpeptidases which are essential to produce peptidoglycan </a:t>
            </a:r>
          </a:p>
          <a:p>
            <a:pPr>
              <a:buFont typeface="Wingdings" pitchFamily="2" charset="2"/>
              <a:buNone/>
            </a:pPr>
            <a:endParaRPr lang="en-US" smtClean="0"/>
          </a:p>
          <a:p>
            <a:pPr>
              <a:buFont typeface="Arial" charset="0"/>
              <a:buNone/>
            </a:pPr>
            <a:r>
              <a:rPr lang="en-US" smtClean="0"/>
              <a:t> These consists of ß lactam ring in their chemical structure</a:t>
            </a:r>
          </a:p>
          <a:p>
            <a:endParaRPr lang="en-US" smtClean="0"/>
          </a:p>
        </p:txBody>
      </p:sp>
    </p:spTree>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042" name="Title 1"/>
          <p:cNvSpPr>
            <a:spLocks noGrp="1"/>
          </p:cNvSpPr>
          <p:nvPr>
            <p:ph type="title"/>
          </p:nvPr>
        </p:nvSpPr>
        <p:spPr/>
        <p:txBody>
          <a:bodyPr/>
          <a:lstStyle/>
          <a:p>
            <a:endParaRPr lang="en-US" smtClean="0"/>
          </a:p>
        </p:txBody>
      </p:sp>
      <p:sp>
        <p:nvSpPr>
          <p:cNvPr id="87043" name="Content Placeholder 2"/>
          <p:cNvSpPr>
            <a:spLocks noGrp="1"/>
          </p:cNvSpPr>
          <p:nvPr>
            <p:ph idx="1"/>
          </p:nvPr>
        </p:nvSpPr>
        <p:spPr/>
        <p:txBody>
          <a:bodyPr/>
          <a:lstStyle/>
          <a:p>
            <a:r>
              <a:rPr lang="en-US" b="1" smtClean="0"/>
              <a:t>Beta lactam antibiotics</a:t>
            </a:r>
            <a:r>
              <a:rPr lang="en-US" smtClean="0"/>
              <a:t> Chemically, these antibiotics contain a 4-membered beta lactam ring. They are the products of two groups of fungi, </a:t>
            </a:r>
            <a:r>
              <a:rPr lang="en-US" i="1" smtClean="0"/>
              <a:t>Penicillium</a:t>
            </a:r>
            <a:r>
              <a:rPr lang="en-US" smtClean="0"/>
              <a:t> and </a:t>
            </a:r>
            <a:r>
              <a:rPr lang="en-US" i="1" smtClean="0"/>
              <a:t>Cephalosporium</a:t>
            </a:r>
            <a:r>
              <a:rPr lang="en-US" smtClean="0"/>
              <a:t> molds, and are correspondingly represented by the penicillins and cephalosporins. </a:t>
            </a:r>
          </a:p>
        </p:txBody>
      </p:sp>
    </p:spTree>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8066" name="Title 1"/>
          <p:cNvSpPr>
            <a:spLocks noGrp="1"/>
          </p:cNvSpPr>
          <p:nvPr>
            <p:ph type="title"/>
          </p:nvPr>
        </p:nvSpPr>
        <p:spPr/>
        <p:txBody>
          <a:bodyPr/>
          <a:lstStyle/>
          <a:p>
            <a:endParaRPr lang="en-US" smtClean="0"/>
          </a:p>
        </p:txBody>
      </p:sp>
      <p:sp>
        <p:nvSpPr>
          <p:cNvPr id="88067" name="Content Placeholder 2"/>
          <p:cNvSpPr>
            <a:spLocks noGrp="1"/>
          </p:cNvSpPr>
          <p:nvPr>
            <p:ph idx="1"/>
          </p:nvPr>
        </p:nvSpPr>
        <p:spPr/>
        <p:txBody>
          <a:bodyPr/>
          <a:lstStyle/>
          <a:p>
            <a:pPr>
              <a:buFont typeface="Arial" charset="0"/>
              <a:buNone/>
            </a:pPr>
            <a:r>
              <a:rPr lang="en-US" smtClean="0"/>
              <a:t>The beta lactam antibiotics inhibit the last step in peptidoglycan synthesis, the final cross-linking between between peptide side chains, mediated by bacterial carboxypeptidase and transpeptidase enzymes. Beta lactam antibiotics are normally bactericidal and require that cells be actively growing in order to exert their toxicity</a:t>
            </a:r>
          </a:p>
          <a:p>
            <a:pPr>
              <a:buFont typeface="Arial" charset="0"/>
              <a:buNone/>
            </a:pPr>
            <a:endParaRPr lang="en-US" smtClean="0"/>
          </a:p>
        </p:txBody>
      </p:sp>
    </p:spTree>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090" name="Title 1"/>
          <p:cNvSpPr>
            <a:spLocks noGrp="1"/>
          </p:cNvSpPr>
          <p:nvPr>
            <p:ph type="title"/>
          </p:nvPr>
        </p:nvSpPr>
        <p:spPr/>
        <p:txBody>
          <a:bodyPr/>
          <a:lstStyle/>
          <a:p>
            <a:endParaRPr lang="en-US" smtClean="0"/>
          </a:p>
        </p:txBody>
      </p:sp>
      <p:sp>
        <p:nvSpPr>
          <p:cNvPr id="89091" name="Content Placeholder 2"/>
          <p:cNvSpPr>
            <a:spLocks noGrp="1"/>
          </p:cNvSpPr>
          <p:nvPr>
            <p:ph idx="1"/>
          </p:nvPr>
        </p:nvSpPr>
        <p:spPr/>
        <p:txBody>
          <a:bodyPr/>
          <a:lstStyle/>
          <a:p>
            <a:r>
              <a:rPr lang="en-US" b="1" smtClean="0"/>
              <a:t>Natural penicillins</a:t>
            </a:r>
            <a:r>
              <a:rPr lang="en-US" smtClean="0"/>
              <a:t>, such as </a:t>
            </a:r>
            <a:r>
              <a:rPr lang="en-US" b="1" smtClean="0"/>
              <a:t>Penicillin G</a:t>
            </a:r>
            <a:r>
              <a:rPr lang="en-US" smtClean="0"/>
              <a:t> or </a:t>
            </a:r>
            <a:r>
              <a:rPr lang="en-US" b="1" smtClean="0"/>
              <a:t>Penicillin V</a:t>
            </a:r>
            <a:r>
              <a:rPr lang="en-US" smtClean="0"/>
              <a:t>, are produced by fermentation of </a:t>
            </a:r>
            <a:r>
              <a:rPr lang="en-US" i="1" smtClean="0"/>
              <a:t>Penicillium chrysogenum</a:t>
            </a:r>
            <a:r>
              <a:rPr lang="en-US" smtClean="0"/>
              <a:t>. They are effective against streptococcus, gonococcus and staphylococcus, except where resistance has developed. They are considered narrow spectrum since they are not effective against Gram-negative rods.</a:t>
            </a:r>
          </a:p>
        </p:txBody>
      </p:sp>
    </p:spTree>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114" name="Title 1"/>
          <p:cNvSpPr>
            <a:spLocks noGrp="1"/>
          </p:cNvSpPr>
          <p:nvPr>
            <p:ph type="title"/>
          </p:nvPr>
        </p:nvSpPr>
        <p:spPr/>
        <p:txBody>
          <a:bodyPr/>
          <a:lstStyle/>
          <a:p>
            <a:endParaRPr lang="en-US" smtClean="0"/>
          </a:p>
        </p:txBody>
      </p:sp>
      <p:sp>
        <p:nvSpPr>
          <p:cNvPr id="90115" name="Content Placeholder 2"/>
          <p:cNvSpPr>
            <a:spLocks noGrp="1"/>
          </p:cNvSpPr>
          <p:nvPr>
            <p:ph idx="1"/>
          </p:nvPr>
        </p:nvSpPr>
        <p:spPr/>
        <p:txBody>
          <a:bodyPr/>
          <a:lstStyle/>
          <a:p>
            <a:pPr>
              <a:buFont typeface="Arial" charset="0"/>
              <a:buNone/>
            </a:pPr>
            <a:r>
              <a:rPr lang="en-US" sz="2800" smtClean="0"/>
              <a:t>Different categories of penicillin</a:t>
            </a:r>
          </a:p>
          <a:p>
            <a:pPr>
              <a:buFont typeface="Arial" charset="0"/>
              <a:buNone/>
            </a:pPr>
            <a:r>
              <a:rPr lang="en-US" sz="2800" smtClean="0"/>
              <a:t>Biosynthetic penicillin ( natural penicillin) </a:t>
            </a:r>
          </a:p>
          <a:p>
            <a:pPr>
              <a:buFont typeface="Arial" charset="0"/>
              <a:buNone/>
            </a:pPr>
            <a:r>
              <a:rPr lang="en-US" sz="2800" smtClean="0"/>
              <a:t>Harvested from the mold itself through fermentation </a:t>
            </a:r>
          </a:p>
          <a:p>
            <a:pPr>
              <a:buFont typeface="Arial" charset="0"/>
              <a:buNone/>
            </a:pPr>
            <a:r>
              <a:rPr lang="en-US" sz="2800" smtClean="0"/>
              <a:t>Semi-synthetic penicillin- in which structure of aminopenicillianic acid has been changed with addition of chemical substances </a:t>
            </a:r>
          </a:p>
          <a:p>
            <a:pPr>
              <a:buFont typeface="Arial" charset="0"/>
              <a:buNone/>
            </a:pPr>
            <a:r>
              <a:rPr lang="en-US" sz="2800" smtClean="0"/>
              <a:t>Different kind of penicillin for different tasks   </a:t>
            </a:r>
          </a:p>
        </p:txBody>
      </p:sp>
    </p:spTree>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1138" name="Title 1"/>
          <p:cNvSpPr>
            <a:spLocks noGrp="1"/>
          </p:cNvSpPr>
          <p:nvPr>
            <p:ph type="title"/>
          </p:nvPr>
        </p:nvSpPr>
        <p:spPr/>
        <p:txBody>
          <a:bodyPr/>
          <a:lstStyle/>
          <a:p>
            <a:endParaRPr lang="en-US" smtClean="0"/>
          </a:p>
        </p:txBody>
      </p:sp>
      <p:sp>
        <p:nvSpPr>
          <p:cNvPr id="91139" name="Content Placeholder 2"/>
          <p:cNvSpPr>
            <a:spLocks noGrp="1"/>
          </p:cNvSpPr>
          <p:nvPr>
            <p:ph idx="1"/>
          </p:nvPr>
        </p:nvSpPr>
        <p:spPr/>
        <p:txBody>
          <a:bodyPr/>
          <a:lstStyle/>
          <a:p>
            <a:pPr>
              <a:buFont typeface="Arial" charset="0"/>
              <a:buNone/>
            </a:pPr>
            <a:r>
              <a:rPr lang="en-US" sz="2800" smtClean="0"/>
              <a:t>Natural penicillin use today is benzyl penicillin or penicillin G </a:t>
            </a:r>
          </a:p>
          <a:p>
            <a:pPr>
              <a:buFont typeface="Arial" charset="0"/>
              <a:buNone/>
            </a:pPr>
            <a:r>
              <a:rPr lang="en-US" sz="2800" smtClean="0"/>
              <a:t>Its main draw back is that it tends to breakdown in acid very easily.</a:t>
            </a:r>
          </a:p>
          <a:p>
            <a:pPr>
              <a:buFont typeface="Arial" charset="0"/>
              <a:buNone/>
            </a:pPr>
            <a:r>
              <a:rPr lang="en-US" sz="2800" smtClean="0"/>
              <a:t>So because of that it must be injected by intramuscular injection </a:t>
            </a:r>
          </a:p>
          <a:p>
            <a:pPr>
              <a:buFont typeface="Arial" charset="0"/>
              <a:buNone/>
            </a:pPr>
            <a:r>
              <a:rPr lang="en-US" sz="2800" smtClean="0"/>
              <a:t>Activity is somewhat reduced but not as much if it had have gone through stomach </a:t>
            </a:r>
          </a:p>
          <a:p>
            <a:pPr>
              <a:buFont typeface="Arial" charset="0"/>
              <a:buNone/>
            </a:pPr>
            <a:r>
              <a:rPr lang="en-US" sz="2800" smtClean="0"/>
              <a:t>Most types of penicillin must be injected in the same way but certain semi synthetics can be taken orally. </a:t>
            </a:r>
          </a:p>
        </p:txBody>
      </p:sp>
    </p:spTree>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62" name="Title 1"/>
          <p:cNvSpPr>
            <a:spLocks noGrp="1"/>
          </p:cNvSpPr>
          <p:nvPr>
            <p:ph type="title"/>
          </p:nvPr>
        </p:nvSpPr>
        <p:spPr/>
        <p:txBody>
          <a:bodyPr/>
          <a:lstStyle/>
          <a:p>
            <a:endParaRPr lang="en-US" smtClean="0"/>
          </a:p>
        </p:txBody>
      </p:sp>
      <p:sp>
        <p:nvSpPr>
          <p:cNvPr id="92163" name="Content Placeholder 2"/>
          <p:cNvSpPr>
            <a:spLocks noGrp="1"/>
          </p:cNvSpPr>
          <p:nvPr>
            <p:ph idx="1"/>
          </p:nvPr>
        </p:nvSpPr>
        <p:spPr>
          <a:xfrm>
            <a:off x="533400" y="1295400"/>
            <a:ext cx="8421688" cy="4876800"/>
          </a:xfrm>
        </p:spPr>
        <p:txBody>
          <a:bodyPr/>
          <a:lstStyle/>
          <a:p>
            <a:pPr>
              <a:buFont typeface="Arial" charset="0"/>
              <a:buNone/>
            </a:pPr>
            <a:r>
              <a:rPr lang="en-US" smtClean="0"/>
              <a:t> </a:t>
            </a:r>
            <a:r>
              <a:rPr lang="en-US" sz="3600" smtClean="0"/>
              <a:t>Natural penicillin is narrow spectrum antibiotic. But the derivative of penicillin such as amoxycillin, ampicillin are having broder spectrum than penicillin. </a:t>
            </a:r>
          </a:p>
          <a:p>
            <a:pPr>
              <a:buFont typeface="Arial" charset="0"/>
              <a:buNone/>
            </a:pPr>
            <a:r>
              <a:rPr lang="en-US" sz="3600" smtClean="0"/>
              <a:t>Antipseudomonal penicillin – piperacillin</a:t>
            </a:r>
          </a:p>
        </p:txBody>
      </p:sp>
    </p:spTree>
  </p:cSld>
  <p:clrMapOvr>
    <a:masterClrMapping/>
  </p:clrMapOvr>
  <p:timing>
    <p:tnLst>
      <p:par>
        <p:cTn id="1" dur="indefinite" restart="never" nodeType="tmRoot"/>
      </p:par>
    </p:tnLst>
  </p:timing>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3186" name="Title 1"/>
          <p:cNvSpPr>
            <a:spLocks noGrp="1"/>
          </p:cNvSpPr>
          <p:nvPr>
            <p:ph type="title"/>
          </p:nvPr>
        </p:nvSpPr>
        <p:spPr/>
        <p:txBody>
          <a:bodyPr/>
          <a:lstStyle/>
          <a:p>
            <a:endParaRPr lang="en-US" smtClean="0"/>
          </a:p>
        </p:txBody>
      </p:sp>
      <p:sp>
        <p:nvSpPr>
          <p:cNvPr id="93187" name="Content Placeholder 2"/>
          <p:cNvSpPr>
            <a:spLocks noGrp="1"/>
          </p:cNvSpPr>
          <p:nvPr>
            <p:ph idx="1"/>
          </p:nvPr>
        </p:nvSpPr>
        <p:spPr/>
        <p:txBody>
          <a:bodyPr/>
          <a:lstStyle/>
          <a:p>
            <a:pPr>
              <a:buFont typeface="Arial" charset="0"/>
              <a:buNone/>
            </a:pPr>
            <a:r>
              <a:rPr lang="en-US" smtClean="0"/>
              <a:t>Although nontoxic, penicillins occasionally cause death when administered to persons who are allergic to them. </a:t>
            </a:r>
          </a:p>
          <a:p>
            <a:pPr>
              <a:buFont typeface="Arial" charset="0"/>
              <a:buNone/>
            </a:pPr>
            <a:r>
              <a:rPr lang="en-US" smtClean="0"/>
              <a:t> In allergic individuals the beta lactam molecule attaches to a serum protein which initiates an IgE-mediated inflammatory response.</a:t>
            </a:r>
          </a:p>
          <a:p>
            <a:pPr>
              <a:buFont typeface="Arial" charset="0"/>
              <a:buNone/>
            </a:pPr>
            <a:r>
              <a:rPr lang="en-US" smtClean="0"/>
              <a:t>Adverse effect- hypersensitivity and allergies</a:t>
            </a:r>
          </a:p>
        </p:txBody>
      </p:sp>
    </p:spTree>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4210" name="Title 1"/>
          <p:cNvSpPr>
            <a:spLocks noGrp="1"/>
          </p:cNvSpPr>
          <p:nvPr>
            <p:ph type="title"/>
          </p:nvPr>
        </p:nvSpPr>
        <p:spPr/>
        <p:txBody>
          <a:bodyPr/>
          <a:lstStyle/>
          <a:p>
            <a:r>
              <a:rPr lang="en-US" b="1" smtClean="0"/>
              <a:t>Semisynthetic penicillins</a:t>
            </a:r>
            <a:r>
              <a:rPr lang="en-US" smtClean="0"/>
              <a:t> </a:t>
            </a:r>
            <a:br>
              <a:rPr lang="en-US" smtClean="0"/>
            </a:br>
            <a:endParaRPr lang="en-US" smtClean="0"/>
          </a:p>
        </p:txBody>
      </p:sp>
      <p:sp>
        <p:nvSpPr>
          <p:cNvPr id="94211" name="Content Placeholder 2"/>
          <p:cNvSpPr>
            <a:spLocks noGrp="1"/>
          </p:cNvSpPr>
          <p:nvPr>
            <p:ph idx="1"/>
          </p:nvPr>
        </p:nvSpPr>
        <p:spPr>
          <a:xfrm>
            <a:off x="457200" y="1143000"/>
            <a:ext cx="8229600" cy="4983163"/>
          </a:xfrm>
        </p:spPr>
        <p:txBody>
          <a:bodyPr/>
          <a:lstStyle/>
          <a:p>
            <a:pPr>
              <a:buFont typeface="Arial" charset="0"/>
              <a:buNone/>
            </a:pPr>
            <a:r>
              <a:rPr lang="en-US" smtClean="0"/>
              <a:t>A mold produces the main part of the molecule (6-aminopenicillanic acid) which can be modified chemically by the addition of side chains. Many of these compounds have been developed to have distinct benefits or advantages over penicillin G, such as increased spectrum of activity (e.g.  effectiveness against Gram-negative rods), resistance to penicillinase or  effectiveness when administered orally. </a:t>
            </a:r>
            <a:endParaRPr lang="en-US" sz="4000" smtClean="0"/>
          </a:p>
        </p:txBody>
      </p:sp>
    </p:spTree>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5234" name="Title 1"/>
          <p:cNvSpPr>
            <a:spLocks noGrp="1"/>
          </p:cNvSpPr>
          <p:nvPr>
            <p:ph type="title"/>
          </p:nvPr>
        </p:nvSpPr>
        <p:spPr/>
        <p:txBody>
          <a:bodyPr/>
          <a:lstStyle/>
          <a:p>
            <a:r>
              <a:rPr lang="en-US" b="1" smtClean="0"/>
              <a:t>Semisynthetic penicillins</a:t>
            </a:r>
            <a:r>
              <a:rPr lang="en-US" smtClean="0"/>
              <a:t>  contd. </a:t>
            </a:r>
            <a:br>
              <a:rPr lang="en-US" smtClean="0"/>
            </a:br>
            <a:endParaRPr lang="en-US" smtClean="0"/>
          </a:p>
        </p:txBody>
      </p:sp>
      <p:sp>
        <p:nvSpPr>
          <p:cNvPr id="95235" name="Content Placeholder 2"/>
          <p:cNvSpPr>
            <a:spLocks noGrp="1"/>
          </p:cNvSpPr>
          <p:nvPr>
            <p:ph idx="1"/>
          </p:nvPr>
        </p:nvSpPr>
        <p:spPr/>
        <p:txBody>
          <a:bodyPr/>
          <a:lstStyle/>
          <a:p>
            <a:pPr>
              <a:buFont typeface="Arial" charset="0"/>
              <a:buNone/>
            </a:pPr>
            <a:r>
              <a:rPr lang="en-US" b="1" smtClean="0"/>
              <a:t>Amoxycillin</a:t>
            </a:r>
            <a:r>
              <a:rPr lang="en-US" smtClean="0"/>
              <a:t> and </a:t>
            </a:r>
            <a:r>
              <a:rPr lang="en-US" b="1" smtClean="0"/>
              <a:t>Ampicillin</a:t>
            </a:r>
            <a:r>
              <a:rPr lang="en-US" smtClean="0"/>
              <a:t> have broadened spectra against Gram-negatives and are effective orally; </a:t>
            </a:r>
            <a:r>
              <a:rPr lang="en-US" b="1" smtClean="0"/>
              <a:t>Methicillin</a:t>
            </a:r>
            <a:r>
              <a:rPr lang="en-US" smtClean="0"/>
              <a:t> is penicillinase resistant.</a:t>
            </a:r>
          </a:p>
        </p:txBody>
      </p:sp>
    </p:spTree>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6258" name="Title 1"/>
          <p:cNvSpPr>
            <a:spLocks noGrp="1"/>
          </p:cNvSpPr>
          <p:nvPr>
            <p:ph type="title"/>
          </p:nvPr>
        </p:nvSpPr>
        <p:spPr/>
        <p:txBody>
          <a:bodyPr/>
          <a:lstStyle/>
          <a:p>
            <a:endParaRPr lang="en-US" smtClean="0"/>
          </a:p>
        </p:txBody>
      </p:sp>
      <p:sp>
        <p:nvSpPr>
          <p:cNvPr id="96259" name="Content Placeholder 2"/>
          <p:cNvSpPr>
            <a:spLocks noGrp="1"/>
          </p:cNvSpPr>
          <p:nvPr>
            <p:ph idx="1"/>
          </p:nvPr>
        </p:nvSpPr>
        <p:spPr/>
        <p:txBody>
          <a:bodyPr/>
          <a:lstStyle/>
          <a:p>
            <a:pPr>
              <a:buFont typeface="Arial" charset="0"/>
              <a:buNone/>
            </a:pPr>
            <a:r>
              <a:rPr lang="en-US" sz="3600" smtClean="0"/>
              <a:t>Certain strains of bacteria has developed an immunity against penicillin </a:t>
            </a:r>
          </a:p>
          <a:p>
            <a:pPr>
              <a:buFont typeface="Arial" charset="0"/>
              <a:buNone/>
            </a:pPr>
            <a:r>
              <a:rPr lang="en-US" sz="3600" smtClean="0"/>
              <a:t>By either creating a special enzyme called penicillinases that cause destruption in the structure of penicillin or change the cell wall receptors that are susceptible to penicillin      </a:t>
            </a:r>
          </a:p>
        </p:txBody>
      </p:sp>
    </p:spTree>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7282" name="Title 1"/>
          <p:cNvSpPr>
            <a:spLocks noGrp="1"/>
          </p:cNvSpPr>
          <p:nvPr>
            <p:ph type="title"/>
          </p:nvPr>
        </p:nvSpPr>
        <p:spPr/>
        <p:txBody>
          <a:bodyPr/>
          <a:lstStyle/>
          <a:p>
            <a:endParaRPr lang="en-US" smtClean="0"/>
          </a:p>
        </p:txBody>
      </p:sp>
      <p:sp>
        <p:nvSpPr>
          <p:cNvPr id="97283" name="Content Placeholder 2"/>
          <p:cNvSpPr>
            <a:spLocks noGrp="1"/>
          </p:cNvSpPr>
          <p:nvPr>
            <p:ph idx="1"/>
          </p:nvPr>
        </p:nvSpPr>
        <p:spPr/>
        <p:txBody>
          <a:bodyPr/>
          <a:lstStyle/>
          <a:p>
            <a:r>
              <a:rPr lang="en-US" b="1" smtClean="0"/>
              <a:t>Cephalolsporins</a:t>
            </a:r>
            <a:r>
              <a:rPr lang="en-US" smtClean="0"/>
              <a:t> also beta lactam antibiotics with a similar mode of action to penicillins that are produced by species of </a:t>
            </a:r>
            <a:r>
              <a:rPr lang="en-US" i="1" smtClean="0"/>
              <a:t>Cephalosporium</a:t>
            </a:r>
            <a:r>
              <a:rPr lang="en-US" smtClean="0"/>
              <a:t>. The have a low toxicity and a somewhat broader spectrum than natural penicillins. They are often used as penicillin substitutes, against Gram-negative bacteria</a:t>
            </a:r>
          </a:p>
        </p:txBody>
      </p:sp>
    </p:spTree>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8306" name="Title 3"/>
          <p:cNvSpPr>
            <a:spLocks noGrp="1"/>
          </p:cNvSpPr>
          <p:nvPr>
            <p:ph type="title"/>
          </p:nvPr>
        </p:nvSpPr>
        <p:spPr>
          <a:xfrm>
            <a:off x="533400" y="0"/>
            <a:ext cx="8153400" cy="1417638"/>
          </a:xfrm>
        </p:spPr>
        <p:txBody>
          <a:bodyPr/>
          <a:lstStyle/>
          <a:p>
            <a:r>
              <a:rPr lang="en-US" sz="3600" b="1" smtClean="0"/>
              <a:t>Kinds of Antimicrobial Agents and their Primary Modes of Action contd.</a:t>
            </a:r>
            <a:r>
              <a:rPr lang="en-US" sz="3600" smtClean="0"/>
              <a:t/>
            </a:r>
            <a:br>
              <a:rPr lang="en-US" sz="3600" smtClean="0"/>
            </a:br>
            <a:endParaRPr lang="en-US" sz="3600" smtClean="0"/>
          </a:p>
        </p:txBody>
      </p:sp>
      <p:sp>
        <p:nvSpPr>
          <p:cNvPr id="98307" name="Content Placeholder 2"/>
          <p:cNvSpPr>
            <a:spLocks noGrp="1"/>
          </p:cNvSpPr>
          <p:nvPr>
            <p:ph idx="1"/>
          </p:nvPr>
        </p:nvSpPr>
        <p:spPr>
          <a:xfrm>
            <a:off x="0" y="-304800"/>
            <a:ext cx="9144000" cy="7620000"/>
          </a:xfrm>
        </p:spPr>
        <p:txBody>
          <a:bodyPr/>
          <a:lstStyle/>
          <a:p>
            <a:pPr>
              <a:buFont typeface="Wingdings" pitchFamily="2" charset="2"/>
              <a:buNone/>
            </a:pPr>
            <a:endParaRPr lang="en-US" sz="2000" smtClean="0"/>
          </a:p>
          <a:p>
            <a:pPr>
              <a:buFont typeface="Wingdings" pitchFamily="2" charset="2"/>
              <a:buNone/>
            </a:pPr>
            <a:endParaRPr lang="en-US" sz="2000" smtClean="0"/>
          </a:p>
          <a:p>
            <a:pPr>
              <a:buFont typeface="Wingdings" pitchFamily="2" charset="2"/>
              <a:buNone/>
            </a:pPr>
            <a:endParaRPr lang="en-US" smtClean="0"/>
          </a:p>
          <a:p>
            <a:pPr>
              <a:buFont typeface="Wingdings" pitchFamily="2" charset="2"/>
              <a:buNone/>
            </a:pPr>
            <a:r>
              <a:rPr lang="en-US" smtClean="0"/>
              <a:t> 2.</a:t>
            </a:r>
            <a:r>
              <a:rPr lang="en-US" sz="2800" smtClean="0"/>
              <a:t>Antimicrobials affecting lipids of plasma membrane eg. polymixinB, colistin, polymixin E -</a:t>
            </a:r>
            <a:r>
              <a:rPr lang="en-US" sz="2800" b="1" smtClean="0"/>
              <a:t>Produced by </a:t>
            </a:r>
            <a:r>
              <a:rPr lang="en-US" sz="2800" b="1" i="1" smtClean="0"/>
              <a:t>Bacillus polymyxa</a:t>
            </a:r>
          </a:p>
          <a:p>
            <a:pPr>
              <a:buFont typeface="Wingdings" pitchFamily="2" charset="2"/>
              <a:buNone/>
            </a:pPr>
            <a:r>
              <a:rPr lang="en-US" sz="2800" smtClean="0"/>
              <a:t>3.Antimicrobials affecting protein synthesis eg. Chloramphenicol, Tetracycline – produced by </a:t>
            </a:r>
            <a:r>
              <a:rPr lang="en-US" sz="2800" b="1" smtClean="0"/>
              <a:t>Streptomyces sp.</a:t>
            </a:r>
          </a:p>
          <a:p>
            <a:pPr>
              <a:buFont typeface="Wingdings" pitchFamily="2" charset="2"/>
              <a:buNone/>
            </a:pPr>
            <a:r>
              <a:rPr lang="en-US" sz="2800" smtClean="0"/>
              <a:t>4. Antimicrobials affecting synthesis of nucleic acids eg. rifampin, rifabutin </a:t>
            </a:r>
          </a:p>
          <a:p>
            <a:pPr>
              <a:buFont typeface="Wingdings" pitchFamily="2" charset="2"/>
              <a:buNone/>
            </a:pPr>
            <a:r>
              <a:rPr lang="en-US" sz="2800" smtClean="0"/>
              <a:t>5.Antimicrobials affecting synthesis of essential metabolites such as folic acid etc   </a:t>
            </a:r>
          </a:p>
          <a:p>
            <a:pPr>
              <a:buFont typeface="Wingdings" pitchFamily="2" charset="2"/>
              <a:buNone/>
            </a:pPr>
            <a:endParaRPr lang="en-US" sz="2800" b="1" smtClean="0"/>
          </a:p>
          <a:p>
            <a:pPr>
              <a:buFont typeface="Wingdings" pitchFamily="2" charset="2"/>
              <a:buNone/>
            </a:pPr>
            <a:endParaRPr lang="en-US" sz="2000" b="1" smtClean="0"/>
          </a:p>
        </p:txBody>
      </p:sp>
    </p:spTree>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Title 1"/>
          <p:cNvSpPr>
            <a:spLocks noGrp="1"/>
          </p:cNvSpPr>
          <p:nvPr>
            <p:ph type="title" idx="4294967295"/>
          </p:nvPr>
        </p:nvSpPr>
        <p:spPr/>
        <p:txBody>
          <a:bodyPr/>
          <a:lstStyle/>
          <a:p>
            <a:pPr eaLnBrk="1" hangingPunct="1"/>
            <a:r>
              <a:rPr lang="en-US" sz="3600" dirty="0" smtClean="0"/>
              <a:t>Biological Control</a:t>
            </a:r>
            <a:endParaRPr lang="en-US" sz="3600" dirty="0" smtClean="0">
              <a:solidFill>
                <a:srgbClr val="0070C0"/>
              </a:solidFill>
            </a:endParaRPr>
          </a:p>
        </p:txBody>
      </p:sp>
      <p:sp>
        <p:nvSpPr>
          <p:cNvPr id="22531" name="Content Placeholder 2"/>
          <p:cNvSpPr>
            <a:spLocks noGrp="1"/>
          </p:cNvSpPr>
          <p:nvPr>
            <p:ph idx="4294967295"/>
          </p:nvPr>
        </p:nvSpPr>
        <p:spPr/>
        <p:txBody>
          <a:bodyPr/>
          <a:lstStyle/>
          <a:p>
            <a:pPr eaLnBrk="1" hangingPunct="1">
              <a:buFontTx/>
              <a:buNone/>
            </a:pPr>
            <a:r>
              <a:rPr lang="en-US" sz="2400" dirty="0" smtClean="0"/>
              <a:t>   Several metabolic compounds produced by lactic acid bacteria (including organic acids, fatty acids, hydrogen peroxide, and </a:t>
            </a:r>
            <a:r>
              <a:rPr lang="en-US" sz="2400" dirty="0" err="1" smtClean="0"/>
              <a:t>diacetyl</a:t>
            </a:r>
            <a:r>
              <a:rPr lang="en-US" sz="2400" dirty="0" smtClean="0"/>
              <a:t>) have antimicrobial effects. However, </a:t>
            </a:r>
            <a:r>
              <a:rPr lang="en-US" sz="2400" dirty="0" err="1" smtClean="0"/>
              <a:t>bacteriocins</a:t>
            </a:r>
            <a:r>
              <a:rPr lang="en-US" sz="2400" dirty="0" smtClean="0"/>
              <a:t> or </a:t>
            </a:r>
            <a:r>
              <a:rPr lang="en-US" sz="2400" dirty="0" err="1" smtClean="0"/>
              <a:t>proteinaceous</a:t>
            </a:r>
            <a:r>
              <a:rPr lang="en-US" sz="2400" dirty="0" smtClean="0"/>
              <a:t> substances with specific inhibitory activity against closely related species are perhaps the most extensively studied. </a:t>
            </a:r>
          </a:p>
          <a:p>
            <a:pPr eaLnBrk="1" hangingPunct="1">
              <a:buFontTx/>
              <a:buNone/>
            </a:pPr>
            <a:endParaRPr lang="en-US" sz="2400" dirty="0" smtClean="0"/>
          </a:p>
          <a:p>
            <a:pPr eaLnBrk="1" hangingPunct="1">
              <a:buFontTx/>
              <a:buNone/>
            </a:pPr>
            <a:r>
              <a:rPr lang="en-US" sz="2400" dirty="0" smtClean="0"/>
              <a:t>   Of these, </a:t>
            </a:r>
            <a:r>
              <a:rPr lang="en-US" sz="2400" dirty="0" err="1" smtClean="0"/>
              <a:t>nisin</a:t>
            </a:r>
            <a:r>
              <a:rPr lang="en-US" sz="2400" dirty="0" smtClean="0"/>
              <a:t>, which is produced by some </a:t>
            </a:r>
            <a:r>
              <a:rPr lang="en-US" sz="2400" i="1" dirty="0" smtClean="0"/>
              <a:t>Lactobacillus </a:t>
            </a:r>
            <a:r>
              <a:rPr lang="en-US" sz="2400" i="1" dirty="0" err="1" smtClean="0"/>
              <a:t>lactis</a:t>
            </a:r>
            <a:r>
              <a:rPr lang="en-US" sz="2400" i="1" dirty="0" smtClean="0"/>
              <a:t> subsp. </a:t>
            </a:r>
            <a:r>
              <a:rPr lang="en-US" sz="2400" i="1" dirty="0" err="1" smtClean="0"/>
              <a:t>lactis</a:t>
            </a:r>
            <a:r>
              <a:rPr lang="en-US" sz="2400" i="1" dirty="0" smtClean="0"/>
              <a:t> </a:t>
            </a:r>
            <a:r>
              <a:rPr lang="en-US" sz="2400" dirty="0" smtClean="0"/>
              <a:t>strains is at present the only purified </a:t>
            </a:r>
            <a:r>
              <a:rPr lang="en-US" sz="2400" dirty="0" err="1" smtClean="0"/>
              <a:t>bacteriocin</a:t>
            </a:r>
            <a:r>
              <a:rPr lang="en-US" sz="2400" dirty="0" smtClean="0"/>
              <a:t> approved for use in products intended for human consumption,</a:t>
            </a:r>
          </a:p>
          <a:p>
            <a:pPr eaLnBrk="1" hangingPunct="1"/>
            <a:endParaRPr lang="en-US" dirty="0" smtClean="0"/>
          </a:p>
        </p:txBody>
      </p:sp>
    </p:spTree>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9330" name="Title 1"/>
          <p:cNvSpPr>
            <a:spLocks noGrp="1"/>
          </p:cNvSpPr>
          <p:nvPr>
            <p:ph type="title"/>
          </p:nvPr>
        </p:nvSpPr>
        <p:spPr/>
        <p:txBody>
          <a:bodyPr/>
          <a:lstStyle/>
          <a:p>
            <a:r>
              <a:rPr lang="en-US" b="1" smtClean="0">
                <a:latin typeface="Arial" charset="0"/>
              </a:rPr>
              <a:t>Microbial Adaptation and Change</a:t>
            </a:r>
            <a:endParaRPr lang="en-US" smtClean="0"/>
          </a:p>
        </p:txBody>
      </p:sp>
      <p:sp>
        <p:nvSpPr>
          <p:cNvPr id="99331" name="Content Placeholder 2"/>
          <p:cNvSpPr>
            <a:spLocks noGrp="1"/>
          </p:cNvSpPr>
          <p:nvPr>
            <p:ph idx="1"/>
          </p:nvPr>
        </p:nvSpPr>
        <p:spPr/>
        <p:txBody>
          <a:bodyPr/>
          <a:lstStyle/>
          <a:p>
            <a:pPr>
              <a:buFont typeface="Arial" charset="0"/>
              <a:buNone/>
            </a:pPr>
            <a:r>
              <a:rPr lang="en-US" smtClean="0"/>
              <a:t>Increased antibiotic resistance with increased use of antibiotics in humans and food animals multidrug-resistant</a:t>
            </a:r>
          </a:p>
        </p:txBody>
      </p:sp>
    </p:spTree>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Footer Placeholder 4"/>
          <p:cNvSpPr>
            <a:spLocks noGrp="1"/>
          </p:cNvSpPr>
          <p:nvPr>
            <p:ph type="ftr" sz="quarter" idx="11"/>
          </p:nvPr>
        </p:nvSpPr>
        <p:spPr/>
        <p:txBody>
          <a:bodyPr/>
          <a:lstStyle/>
          <a:p>
            <a:pPr>
              <a:defRPr/>
            </a:pPr>
            <a:r>
              <a:rPr lang="en-US"/>
              <a:t>Dr. KANUPRIYA CHATURVEDI</a:t>
            </a:r>
          </a:p>
        </p:txBody>
      </p:sp>
      <p:sp>
        <p:nvSpPr>
          <p:cNvPr id="13315" name="Rectangle 2"/>
          <p:cNvSpPr>
            <a:spLocks noGrp="1" noChangeArrowheads="1"/>
          </p:cNvSpPr>
          <p:nvPr>
            <p:ph type="title"/>
          </p:nvPr>
        </p:nvSpPr>
        <p:spPr/>
        <p:txBody>
          <a:bodyPr/>
          <a:lstStyle/>
          <a:p>
            <a:pPr eaLnBrk="1" hangingPunct="1"/>
            <a:r>
              <a:rPr lang="en-US" smtClean="0"/>
              <a:t>Definition</a:t>
            </a:r>
          </a:p>
        </p:txBody>
      </p:sp>
      <p:sp>
        <p:nvSpPr>
          <p:cNvPr id="13316" name="Rectangle 3"/>
          <p:cNvSpPr>
            <a:spLocks noGrp="1" noChangeArrowheads="1"/>
          </p:cNvSpPr>
          <p:nvPr>
            <p:ph type="body" idx="1"/>
          </p:nvPr>
        </p:nvSpPr>
        <p:spPr/>
        <p:txBody>
          <a:bodyPr/>
          <a:lstStyle/>
          <a:p>
            <a:pPr eaLnBrk="1" hangingPunct="1">
              <a:buFont typeface="Wingdings" pitchFamily="2" charset="2"/>
              <a:buNone/>
            </a:pPr>
            <a:endParaRPr lang="en-US" smtClean="0"/>
          </a:p>
          <a:p>
            <a:pPr eaLnBrk="1" hangingPunct="1"/>
            <a:r>
              <a:rPr lang="en-US" smtClean="0"/>
              <a:t>Emerging infectious disease</a:t>
            </a:r>
          </a:p>
          <a:p>
            <a:pPr eaLnBrk="1" hangingPunct="1">
              <a:buFont typeface="Wingdings" pitchFamily="2" charset="2"/>
              <a:buNone/>
            </a:pPr>
            <a:r>
              <a:rPr lang="en-US" sz="2800" smtClean="0"/>
              <a:t>	</a:t>
            </a:r>
          </a:p>
          <a:p>
            <a:pPr eaLnBrk="1" hangingPunct="1">
              <a:buFont typeface="Wingdings" pitchFamily="2" charset="2"/>
              <a:buNone/>
            </a:pPr>
            <a:r>
              <a:rPr lang="en-US" sz="2800" smtClean="0"/>
              <a:t>	Newly identified &amp; previously unknown infectious agents that cause public health problems either locally or internationally</a:t>
            </a:r>
          </a:p>
          <a:p>
            <a:pPr eaLnBrk="1" hangingPunct="1">
              <a:buFont typeface="Wingdings" pitchFamily="2" charset="2"/>
              <a:buNone/>
            </a:pPr>
            <a:endParaRPr lang="en-US" sz="2800" smtClean="0"/>
          </a:p>
        </p:txBody>
      </p:sp>
    </p:spTree>
  </p:cSld>
  <p:clrMapOvr>
    <a:masterClrMapping/>
  </p:clrMapOvr>
  <p:timing>
    <p:tnLst>
      <p:par>
        <p:cTn id="1" dur="indefinite" restart="never" nodeType="tmRoot"/>
      </p:par>
    </p:tnLst>
  </p:timing>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9" name="Rectangle 2"/>
          <p:cNvSpPr>
            <a:spLocks noGrp="1" noChangeArrowheads="1"/>
          </p:cNvSpPr>
          <p:nvPr>
            <p:ph type="title"/>
          </p:nvPr>
        </p:nvSpPr>
        <p:spPr/>
        <p:txBody>
          <a:bodyPr/>
          <a:lstStyle/>
          <a:p>
            <a:pPr eaLnBrk="1" hangingPunct="1"/>
            <a:r>
              <a:rPr lang="en-US" smtClean="0"/>
              <a:t>Definition</a:t>
            </a:r>
          </a:p>
        </p:txBody>
      </p:sp>
      <p:sp>
        <p:nvSpPr>
          <p:cNvPr id="14340" name="Rectangle 3"/>
          <p:cNvSpPr>
            <a:spLocks noGrp="1" noChangeArrowheads="1"/>
          </p:cNvSpPr>
          <p:nvPr>
            <p:ph type="body" idx="1"/>
          </p:nvPr>
        </p:nvSpPr>
        <p:spPr>
          <a:xfrm>
            <a:off x="533400" y="1828800"/>
            <a:ext cx="8421688" cy="4114800"/>
          </a:xfrm>
        </p:spPr>
        <p:txBody>
          <a:bodyPr/>
          <a:lstStyle/>
          <a:p>
            <a:pPr eaLnBrk="1" hangingPunct="1">
              <a:buFont typeface="Wingdings" pitchFamily="2" charset="2"/>
              <a:buNone/>
            </a:pPr>
            <a:endParaRPr lang="en-US" smtClean="0"/>
          </a:p>
          <a:p>
            <a:pPr eaLnBrk="1" hangingPunct="1"/>
            <a:r>
              <a:rPr lang="en-US" smtClean="0"/>
              <a:t>Re-emerging infectious disease</a:t>
            </a:r>
          </a:p>
          <a:p>
            <a:pPr eaLnBrk="1" hangingPunct="1">
              <a:buFont typeface="Wingdings" pitchFamily="2" charset="2"/>
              <a:buNone/>
            </a:pPr>
            <a:r>
              <a:rPr lang="en-US" sz="2800" smtClean="0"/>
              <a:t>	</a:t>
            </a:r>
          </a:p>
          <a:p>
            <a:pPr eaLnBrk="1" hangingPunct="1">
              <a:buFont typeface="Wingdings" pitchFamily="2" charset="2"/>
              <a:buNone/>
            </a:pPr>
            <a:r>
              <a:rPr lang="en-US" sz="2800" smtClean="0"/>
              <a:t>	Infectious agents that have been known for some time, had fallen to such low levels that they were no longer considered public health problems &amp; are now showing upward trends in incidence or prevalence worldwide</a:t>
            </a:r>
          </a:p>
          <a:p>
            <a:pPr eaLnBrk="1" hangingPunct="1"/>
            <a:endParaRPr lang="en-US" smtClean="0"/>
          </a:p>
        </p:txBody>
      </p:sp>
    </p:spTree>
  </p:cSld>
  <p:clrMapOvr>
    <a:masterClrMapping/>
  </p:clrMapOvr>
  <p:timing>
    <p:tnLst>
      <p:par>
        <p:cTn id="1" dur="indefinite" restart="never" nodeType="tmRoot"/>
      </p:par>
    </p:tnLst>
  </p:timing>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3" name="Rectangle 2"/>
          <p:cNvSpPr>
            <a:spLocks noGrp="1" noChangeArrowheads="1"/>
          </p:cNvSpPr>
          <p:nvPr>
            <p:ph type="title"/>
          </p:nvPr>
        </p:nvSpPr>
        <p:spPr/>
        <p:txBody>
          <a:bodyPr/>
          <a:lstStyle/>
          <a:p>
            <a:pPr eaLnBrk="1" hangingPunct="1"/>
            <a:r>
              <a:rPr lang="en-US" smtClean="0"/>
              <a:t>Factors Contributing To Emergence</a:t>
            </a:r>
          </a:p>
        </p:txBody>
      </p:sp>
      <p:sp>
        <p:nvSpPr>
          <p:cNvPr id="15364" name="Rectangle 3"/>
          <p:cNvSpPr>
            <a:spLocks noGrp="1" noChangeArrowheads="1"/>
          </p:cNvSpPr>
          <p:nvPr>
            <p:ph type="body" idx="1"/>
          </p:nvPr>
        </p:nvSpPr>
        <p:spPr>
          <a:xfrm>
            <a:off x="1182688" y="2017713"/>
            <a:ext cx="7427912" cy="4114800"/>
          </a:xfrm>
        </p:spPr>
        <p:txBody>
          <a:bodyPr/>
          <a:lstStyle/>
          <a:p>
            <a:pPr eaLnBrk="1" hangingPunct="1">
              <a:buFont typeface="Wingdings" pitchFamily="2" charset="2"/>
              <a:buNone/>
            </a:pPr>
            <a:r>
              <a:rPr lang="en-US" smtClean="0"/>
              <a:t>AGENT</a:t>
            </a:r>
          </a:p>
          <a:p>
            <a:pPr eaLnBrk="1" hangingPunct="1">
              <a:buFont typeface="Wingdings" pitchFamily="2" charset="2"/>
              <a:buNone/>
            </a:pPr>
            <a:endParaRPr lang="en-US" smtClean="0"/>
          </a:p>
          <a:p>
            <a:pPr eaLnBrk="1" hangingPunct="1"/>
            <a:r>
              <a:rPr lang="en-US" sz="2800" smtClean="0"/>
              <a:t>Evolution of pathogenic infectious agents </a:t>
            </a:r>
          </a:p>
          <a:p>
            <a:pPr eaLnBrk="1" hangingPunct="1">
              <a:buFont typeface="Wingdings" pitchFamily="2" charset="2"/>
              <a:buNone/>
            </a:pPr>
            <a:r>
              <a:rPr lang="en-US" sz="2800" smtClean="0"/>
              <a:t>	(microbial adaptation &amp; change)</a:t>
            </a:r>
          </a:p>
          <a:p>
            <a:pPr eaLnBrk="1" hangingPunct="1"/>
            <a:r>
              <a:rPr lang="en-US" sz="2800" smtClean="0"/>
              <a:t>Development of resistance to drugs </a:t>
            </a:r>
          </a:p>
          <a:p>
            <a:pPr eaLnBrk="1" hangingPunct="1"/>
            <a:r>
              <a:rPr lang="en-US" sz="2800" smtClean="0"/>
              <a:t>Resistance of vectors to pesticides</a:t>
            </a:r>
          </a:p>
          <a:p>
            <a:pPr eaLnBrk="1" hangingPunct="1">
              <a:buFont typeface="Wingdings" pitchFamily="2" charset="2"/>
              <a:buNone/>
            </a:pPr>
            <a:r>
              <a:rPr lang="en-US" sz="2800" smtClean="0"/>
              <a:t> </a:t>
            </a:r>
          </a:p>
        </p:txBody>
      </p:sp>
    </p:spTree>
  </p:cSld>
  <p:clrMapOvr>
    <a:masterClrMapping/>
  </p:clrMapOvr>
  <p:timing>
    <p:tnLst>
      <p:par>
        <p:cTn id="1" dur="indefinite" restart="never" nodeType="tmRoot"/>
      </p:par>
    </p:tnLst>
  </p:timing>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7" name="Rectangle 2"/>
          <p:cNvSpPr>
            <a:spLocks noGrp="1" noChangeArrowheads="1"/>
          </p:cNvSpPr>
          <p:nvPr>
            <p:ph type="title"/>
          </p:nvPr>
        </p:nvSpPr>
        <p:spPr/>
        <p:txBody>
          <a:bodyPr/>
          <a:lstStyle/>
          <a:p>
            <a:pPr eaLnBrk="1" hangingPunct="1"/>
            <a:r>
              <a:rPr lang="en-US" smtClean="0"/>
              <a:t>Factors Contributing To Emergence</a:t>
            </a:r>
          </a:p>
        </p:txBody>
      </p:sp>
      <p:sp>
        <p:nvSpPr>
          <p:cNvPr id="16388" name="Rectangle 3"/>
          <p:cNvSpPr>
            <a:spLocks noGrp="1" noChangeArrowheads="1"/>
          </p:cNvSpPr>
          <p:nvPr>
            <p:ph type="body" idx="1"/>
          </p:nvPr>
        </p:nvSpPr>
        <p:spPr>
          <a:xfrm>
            <a:off x="685800" y="1905000"/>
            <a:ext cx="8229600" cy="4572000"/>
          </a:xfrm>
        </p:spPr>
        <p:txBody>
          <a:bodyPr/>
          <a:lstStyle/>
          <a:p>
            <a:pPr eaLnBrk="1" hangingPunct="1">
              <a:buFont typeface="Wingdings" pitchFamily="2" charset="2"/>
              <a:buNone/>
            </a:pPr>
            <a:r>
              <a:rPr lang="en-US" smtClean="0"/>
              <a:t>HOST</a:t>
            </a:r>
          </a:p>
          <a:p>
            <a:pPr eaLnBrk="1" hangingPunct="1"/>
            <a:r>
              <a:rPr lang="en-US" sz="2800" smtClean="0"/>
              <a:t>Human demographic change (inhabiting new areas)</a:t>
            </a:r>
          </a:p>
          <a:p>
            <a:pPr eaLnBrk="1" hangingPunct="1"/>
            <a:r>
              <a:rPr lang="en-US" sz="2800" smtClean="0"/>
              <a:t>Human behaviour (sexual &amp; drug use)</a:t>
            </a:r>
          </a:p>
          <a:p>
            <a:pPr eaLnBrk="1" hangingPunct="1"/>
            <a:r>
              <a:rPr lang="en-US" sz="2800" smtClean="0"/>
              <a:t>Human susceptibility to infection (Immunosuppression)</a:t>
            </a:r>
          </a:p>
          <a:p>
            <a:pPr eaLnBrk="1" hangingPunct="1"/>
            <a:r>
              <a:rPr lang="en-US" sz="2800" smtClean="0"/>
              <a:t>Poverty &amp; social inequality</a:t>
            </a:r>
          </a:p>
          <a:p>
            <a:pPr eaLnBrk="1" hangingPunct="1"/>
            <a:endParaRPr lang="en-US" sz="2800" smtClean="0"/>
          </a:p>
        </p:txBody>
      </p:sp>
    </p:spTree>
  </p:cSld>
  <p:clrMapOvr>
    <a:masterClrMapping/>
  </p:clrMapOvr>
  <p:timing>
    <p:tnLst>
      <p:par>
        <p:cTn id="1" dur="indefinite" restart="never" nodeType="tmRoot"/>
      </p:par>
    </p:tnLst>
  </p:timing>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1" name="Rectangle 2"/>
          <p:cNvSpPr>
            <a:spLocks noGrp="1" noChangeArrowheads="1"/>
          </p:cNvSpPr>
          <p:nvPr>
            <p:ph type="title"/>
          </p:nvPr>
        </p:nvSpPr>
        <p:spPr/>
        <p:txBody>
          <a:bodyPr/>
          <a:lstStyle/>
          <a:p>
            <a:pPr eaLnBrk="1" hangingPunct="1"/>
            <a:r>
              <a:rPr lang="en-US" smtClean="0"/>
              <a:t>Factors Contributing To Emergence</a:t>
            </a:r>
          </a:p>
        </p:txBody>
      </p:sp>
      <p:sp>
        <p:nvSpPr>
          <p:cNvPr id="17412" name="Rectangle 3"/>
          <p:cNvSpPr>
            <a:spLocks noGrp="1" noChangeArrowheads="1"/>
          </p:cNvSpPr>
          <p:nvPr>
            <p:ph type="body" idx="1"/>
          </p:nvPr>
        </p:nvSpPr>
        <p:spPr>
          <a:xfrm>
            <a:off x="457200" y="1981200"/>
            <a:ext cx="8534400" cy="4191000"/>
          </a:xfrm>
        </p:spPr>
        <p:txBody>
          <a:bodyPr/>
          <a:lstStyle/>
          <a:p>
            <a:pPr eaLnBrk="1" hangingPunct="1">
              <a:buFont typeface="Wingdings" pitchFamily="2" charset="2"/>
              <a:buNone/>
            </a:pPr>
            <a:r>
              <a:rPr lang="en-US" sz="2800" smtClean="0"/>
              <a:t>ENVIRONMENT</a:t>
            </a:r>
          </a:p>
          <a:p>
            <a:pPr eaLnBrk="1" hangingPunct="1">
              <a:buFont typeface="Wingdings" pitchFamily="2" charset="2"/>
              <a:buNone/>
            </a:pPr>
            <a:endParaRPr lang="en-US" sz="2800" smtClean="0"/>
          </a:p>
          <a:p>
            <a:pPr eaLnBrk="1" hangingPunct="1"/>
            <a:r>
              <a:rPr lang="en-US" smtClean="0"/>
              <a:t>Climate &amp; changing ecosystems</a:t>
            </a:r>
          </a:p>
          <a:p>
            <a:pPr eaLnBrk="1" hangingPunct="1"/>
            <a:r>
              <a:rPr lang="en-US" smtClean="0"/>
              <a:t>Economic development &amp; Land use (urbanization, deforestation)</a:t>
            </a:r>
          </a:p>
          <a:p>
            <a:pPr eaLnBrk="1" hangingPunct="1"/>
            <a:r>
              <a:rPr lang="en-US" smtClean="0"/>
              <a:t>Technology &amp; industry (food processing &amp; handling)</a:t>
            </a:r>
          </a:p>
        </p:txBody>
      </p:sp>
    </p:spTree>
  </p:cSld>
  <p:clrMapOvr>
    <a:masterClrMapping/>
  </p:clrMapOvr>
  <p:timing>
    <p:tnLst>
      <p:par>
        <p:cTn id="1" dur="indefinite" restart="never" nodeType="tmRoot"/>
      </p:par>
    </p:tnLst>
  </p:timing>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5" name="Rectangle 2"/>
          <p:cNvSpPr>
            <a:spLocks noGrp="1" noChangeArrowheads="1"/>
          </p:cNvSpPr>
          <p:nvPr>
            <p:ph type="title"/>
          </p:nvPr>
        </p:nvSpPr>
        <p:spPr/>
        <p:txBody>
          <a:bodyPr/>
          <a:lstStyle/>
          <a:p>
            <a:pPr eaLnBrk="1" hangingPunct="1"/>
            <a:r>
              <a:rPr lang="en-US" smtClean="0"/>
              <a:t>CONTD.</a:t>
            </a:r>
          </a:p>
        </p:txBody>
      </p:sp>
      <p:sp>
        <p:nvSpPr>
          <p:cNvPr id="18436" name="Rectangle 3"/>
          <p:cNvSpPr>
            <a:spLocks noGrp="1" noChangeArrowheads="1"/>
          </p:cNvSpPr>
          <p:nvPr>
            <p:ph type="body" idx="1"/>
          </p:nvPr>
        </p:nvSpPr>
        <p:spPr/>
        <p:txBody>
          <a:bodyPr/>
          <a:lstStyle/>
          <a:p>
            <a:pPr eaLnBrk="1" hangingPunct="1"/>
            <a:r>
              <a:rPr lang="en-US" smtClean="0"/>
              <a:t>International travel &amp; commerce </a:t>
            </a:r>
          </a:p>
          <a:p>
            <a:pPr eaLnBrk="1" hangingPunct="1"/>
            <a:r>
              <a:rPr lang="en-US" smtClean="0"/>
              <a:t>Breakdown of public health measure (war, unrest, overcrowding)</a:t>
            </a:r>
          </a:p>
          <a:p>
            <a:pPr eaLnBrk="1" hangingPunct="1"/>
            <a:r>
              <a:rPr lang="en-US" smtClean="0"/>
              <a:t>Deterioration in surveillance systems (lack of political will)</a:t>
            </a:r>
          </a:p>
          <a:p>
            <a:pPr eaLnBrk="1" hangingPunct="1"/>
            <a:endParaRPr lang="en-US" smtClean="0"/>
          </a:p>
        </p:txBody>
      </p:sp>
    </p:spTree>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9" name="Rectangle 2"/>
          <p:cNvSpPr>
            <a:spLocks noGrp="1" noChangeArrowheads="1"/>
          </p:cNvSpPr>
          <p:nvPr>
            <p:ph type="title"/>
          </p:nvPr>
        </p:nvSpPr>
        <p:spPr/>
        <p:txBody>
          <a:bodyPr/>
          <a:lstStyle/>
          <a:p>
            <a:pPr eaLnBrk="1" hangingPunct="1"/>
            <a:r>
              <a:rPr lang="en-US" sz="3600" smtClean="0"/>
              <a:t>Transmission of Infectious Agent from </a:t>
            </a:r>
            <a:br>
              <a:rPr lang="en-US" sz="3600" smtClean="0"/>
            </a:br>
            <a:r>
              <a:rPr lang="en-US" sz="3600" smtClean="0"/>
              <a:t>Animals to Humans</a:t>
            </a:r>
          </a:p>
        </p:txBody>
      </p:sp>
      <p:sp>
        <p:nvSpPr>
          <p:cNvPr id="19460" name="Rectangle 3"/>
          <p:cNvSpPr>
            <a:spLocks noGrp="1" noChangeArrowheads="1"/>
          </p:cNvSpPr>
          <p:nvPr>
            <p:ph type="body" idx="1"/>
          </p:nvPr>
        </p:nvSpPr>
        <p:spPr>
          <a:xfrm>
            <a:off x="533400" y="2017713"/>
            <a:ext cx="8421688" cy="4114800"/>
          </a:xfrm>
        </p:spPr>
        <p:txBody>
          <a:bodyPr/>
          <a:lstStyle/>
          <a:p>
            <a:pPr eaLnBrk="1" hangingPunct="1">
              <a:lnSpc>
                <a:spcPct val="90000"/>
              </a:lnSpc>
            </a:pPr>
            <a:r>
              <a:rPr lang="en-US" sz="2800" smtClean="0"/>
              <a:t>&gt;2/3</a:t>
            </a:r>
            <a:r>
              <a:rPr lang="en-US" sz="2800" baseline="30000" smtClean="0"/>
              <a:t>rd</a:t>
            </a:r>
            <a:r>
              <a:rPr lang="en-US" sz="2800" smtClean="0"/>
              <a:t> emerging infections originate from animals- wild &amp; domestic</a:t>
            </a:r>
          </a:p>
          <a:p>
            <a:pPr eaLnBrk="1" hangingPunct="1">
              <a:lnSpc>
                <a:spcPct val="90000"/>
              </a:lnSpc>
            </a:pPr>
            <a:r>
              <a:rPr lang="en-US" sz="2800" smtClean="0"/>
              <a:t>Emerging Influenza infections in Humans associated with Geese, Chickens &amp; Pigs</a:t>
            </a:r>
          </a:p>
          <a:p>
            <a:pPr eaLnBrk="1" hangingPunct="1">
              <a:lnSpc>
                <a:spcPct val="90000"/>
              </a:lnSpc>
            </a:pPr>
            <a:r>
              <a:rPr lang="en-US" sz="2800" smtClean="0"/>
              <a:t>Animal displacement in search of food after deforestation/ climate change (Lassa fever)</a:t>
            </a:r>
          </a:p>
          <a:p>
            <a:pPr eaLnBrk="1" hangingPunct="1">
              <a:lnSpc>
                <a:spcPct val="90000"/>
              </a:lnSpc>
            </a:pPr>
            <a:r>
              <a:rPr lang="en-US" sz="2800" smtClean="0"/>
              <a:t>Humans themselves penetrate/ modify unpopulated regions- come closer to animal reservoirs/ vectors (Yellow fever, Malaria)</a:t>
            </a:r>
          </a:p>
        </p:txBody>
      </p:sp>
    </p:spTree>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3078</TotalTime>
  <Words>3910</Words>
  <Application>Microsoft PowerPoint</Application>
  <PresentationFormat>On-screen Show (4:3)</PresentationFormat>
  <Paragraphs>512</Paragraphs>
  <Slides>100</Slides>
  <Notes>12</Notes>
  <HiddenSlides>0</HiddenSlides>
  <MMClips>0</MMClips>
  <ScaleCrop>false</ScaleCrop>
  <HeadingPairs>
    <vt:vector size="6" baseType="variant">
      <vt:variant>
        <vt:lpstr>Theme</vt:lpstr>
      </vt:variant>
      <vt:variant>
        <vt:i4>1</vt:i4>
      </vt:variant>
      <vt:variant>
        <vt:lpstr>Embedded OLE Servers</vt:lpstr>
      </vt:variant>
      <vt:variant>
        <vt:i4>1</vt:i4>
      </vt:variant>
      <vt:variant>
        <vt:lpstr>Slide Titles</vt:lpstr>
      </vt:variant>
      <vt:variant>
        <vt:i4>100</vt:i4>
      </vt:variant>
    </vt:vector>
  </HeadingPairs>
  <TitlesOfParts>
    <vt:vector size="102" baseType="lpstr">
      <vt:lpstr>Office Theme</vt:lpstr>
      <vt:lpstr>Bitmap Image</vt:lpstr>
      <vt:lpstr>   Control of Microbial Growth by P. Neelamanie Yapa  Rajarata University of Sri Lanka   </vt:lpstr>
      <vt:lpstr>Methods to Control Microbial Growth</vt:lpstr>
      <vt:lpstr>Terms used:</vt:lpstr>
      <vt:lpstr>Slide 4</vt:lpstr>
      <vt:lpstr>Factors that effect Antimicrobial Activity</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Autoclave: Closed Chamber with High Temperature and Pressure</vt:lpstr>
      <vt:lpstr>Slide 26</vt:lpstr>
      <vt:lpstr>Slide 27</vt:lpstr>
      <vt:lpstr>Slide 28</vt:lpstr>
      <vt:lpstr>Pasteurization:</vt:lpstr>
      <vt:lpstr>Slide 30</vt:lpstr>
      <vt:lpstr>Slide 31</vt:lpstr>
      <vt:lpstr>Slide 32</vt:lpstr>
      <vt:lpstr>Filtration</vt:lpstr>
      <vt:lpstr>Slide 34</vt:lpstr>
      <vt:lpstr>Slide 35</vt:lpstr>
      <vt:lpstr>Slide 36</vt:lpstr>
      <vt:lpstr>Slide 37</vt:lpstr>
      <vt:lpstr>Slide 38</vt:lpstr>
      <vt:lpstr>Slide 39</vt:lpstr>
      <vt:lpstr>Forms of Radiation</vt:lpstr>
      <vt:lpstr>Slide 41</vt:lpstr>
      <vt:lpstr>Slide 42</vt:lpstr>
      <vt:lpstr>Slide 43</vt:lpstr>
      <vt:lpstr>Slide 44</vt:lpstr>
      <vt:lpstr>Slide 45</vt:lpstr>
      <vt:lpstr>Slide 46</vt:lpstr>
      <vt:lpstr>Slide 47</vt:lpstr>
      <vt:lpstr>Slide 48</vt:lpstr>
      <vt:lpstr>Slide 49</vt:lpstr>
      <vt:lpstr>Slide 50</vt:lpstr>
      <vt:lpstr>Slide 51</vt:lpstr>
      <vt:lpstr>Slide 52</vt:lpstr>
      <vt:lpstr>Slide 53</vt:lpstr>
      <vt:lpstr>Slide 54</vt:lpstr>
      <vt:lpstr>Slide 55</vt:lpstr>
      <vt:lpstr>Slide 56</vt:lpstr>
      <vt:lpstr>Efficiency of Different Chemical Antimicrobial Agents</vt:lpstr>
      <vt:lpstr>Antibiotics</vt:lpstr>
      <vt:lpstr>Slide 59</vt:lpstr>
      <vt:lpstr>Slide 60</vt:lpstr>
      <vt:lpstr>Slide 61</vt:lpstr>
      <vt:lpstr>Slide 62</vt:lpstr>
      <vt:lpstr>Slide 63</vt:lpstr>
      <vt:lpstr>Conidiophore of Penicillium</vt:lpstr>
      <vt:lpstr>Slide 65</vt:lpstr>
      <vt:lpstr>Slide 66</vt:lpstr>
      <vt:lpstr>Slide 67</vt:lpstr>
      <vt:lpstr>Slide 68</vt:lpstr>
      <vt:lpstr>Slide 69</vt:lpstr>
      <vt:lpstr>Slide 70</vt:lpstr>
      <vt:lpstr>Antimicrobial susceptibility testing</vt:lpstr>
      <vt:lpstr>Slide 72</vt:lpstr>
      <vt:lpstr>Slide 73</vt:lpstr>
      <vt:lpstr>Slide 74</vt:lpstr>
      <vt:lpstr>Slide 75</vt:lpstr>
      <vt:lpstr>Slide 76</vt:lpstr>
      <vt:lpstr>Slide 77</vt:lpstr>
      <vt:lpstr>Kinds of Antimicrobial Agents and their Primary Modes of Action  </vt:lpstr>
      <vt:lpstr>Slide 79</vt:lpstr>
      <vt:lpstr>Slide 80</vt:lpstr>
      <vt:lpstr>Slide 81</vt:lpstr>
      <vt:lpstr>Slide 82</vt:lpstr>
      <vt:lpstr>Slide 83</vt:lpstr>
      <vt:lpstr>Slide 84</vt:lpstr>
      <vt:lpstr>Slide 85</vt:lpstr>
      <vt:lpstr>Slide 86</vt:lpstr>
      <vt:lpstr>Semisynthetic penicillins  </vt:lpstr>
      <vt:lpstr>Semisynthetic penicillins  contd.  </vt:lpstr>
      <vt:lpstr>Slide 89</vt:lpstr>
      <vt:lpstr>Slide 90</vt:lpstr>
      <vt:lpstr>Kinds of Antimicrobial Agents and their Primary Modes of Action contd. </vt:lpstr>
      <vt:lpstr>Biological Control</vt:lpstr>
      <vt:lpstr>Microbial Adaptation and Change</vt:lpstr>
      <vt:lpstr>Definition</vt:lpstr>
      <vt:lpstr>Definition</vt:lpstr>
      <vt:lpstr>Factors Contributing To Emergence</vt:lpstr>
      <vt:lpstr>Factors Contributing To Emergence</vt:lpstr>
      <vt:lpstr>Factors Contributing To Emergence</vt:lpstr>
      <vt:lpstr>CONTD.</vt:lpstr>
      <vt:lpstr>Transmission of Infectious Agent from  Animals to Humans</vt:lpstr>
    </vt:vector>
  </TitlesOfParts>
  <Company>UCLA</Company>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  -       Chapter 1:  The Microbial World and You</dc:title>
  <dc:creator>Oto Martinez-Maza</dc:creator>
  <cp:keywords/>
  <cp:lastModifiedBy>HP</cp:lastModifiedBy>
  <cp:revision>438</cp:revision>
  <cp:lastPrinted>1999-10-23T19:05:07Z</cp:lastPrinted>
  <dcterms:created xsi:type="dcterms:W3CDTF">1999-08-20T22:47:08Z</dcterms:created>
  <dcterms:modified xsi:type="dcterms:W3CDTF">2016-04-01T06:40:58Z</dcterms:modified>
</cp:coreProperties>
</file>