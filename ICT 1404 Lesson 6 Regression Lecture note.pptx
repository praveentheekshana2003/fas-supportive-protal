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334" r:id="rId2"/>
    <p:sldId id="258" r:id="rId3"/>
    <p:sldId id="320" r:id="rId4"/>
    <p:sldId id="321" r:id="rId5"/>
    <p:sldId id="328" r:id="rId6"/>
    <p:sldId id="329" r:id="rId7"/>
    <p:sldId id="323" r:id="rId8"/>
    <p:sldId id="326" r:id="rId9"/>
    <p:sldId id="327" r:id="rId10"/>
    <p:sldId id="330" r:id="rId11"/>
    <p:sldId id="331" r:id="rId12"/>
    <p:sldId id="332" r:id="rId13"/>
    <p:sldId id="322" r:id="rId14"/>
    <p:sldId id="324" r:id="rId15"/>
    <p:sldId id="325" r:id="rId16"/>
    <p:sldId id="33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K" initials="JK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3" autoAdjust="0"/>
    <p:restoredTop sz="94660"/>
  </p:normalViewPr>
  <p:slideViewPr>
    <p:cSldViewPr>
      <p:cViewPr varScale="1">
        <p:scale>
          <a:sx n="67" d="100"/>
          <a:sy n="67" d="100"/>
        </p:scale>
        <p:origin x="139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3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5.wmf"/><Relationship Id="rId7" Type="http://schemas.openxmlformats.org/officeDocument/2006/relationships/image" Target="../media/image20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9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image" Target="../media/image22.wmf"/><Relationship Id="rId1" Type="http://schemas.openxmlformats.org/officeDocument/2006/relationships/image" Target="../media/image13.wmf"/><Relationship Id="rId6" Type="http://schemas.openxmlformats.org/officeDocument/2006/relationships/image" Target="../media/image24.wmf"/><Relationship Id="rId11" Type="http://schemas.openxmlformats.org/officeDocument/2006/relationships/image" Target="../media/image15.wmf"/><Relationship Id="rId5" Type="http://schemas.openxmlformats.org/officeDocument/2006/relationships/image" Target="../media/image17.wmf"/><Relationship Id="rId10" Type="http://schemas.openxmlformats.org/officeDocument/2006/relationships/image" Target="../media/image28.wmf"/><Relationship Id="rId4" Type="http://schemas.openxmlformats.org/officeDocument/2006/relationships/image" Target="../media/image16.wmf"/><Relationship Id="rId9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7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8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D8AC8-E0FA-44A1-BE64-CDB29D00F739}" type="datetimeFigureOut">
              <a:rPr lang="en-US" smtClean="0"/>
              <a:t>10/28/2023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C424D-0563-41AA-92E5-5ACFB3127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9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2A9E47-505B-4629-8699-2D7232B85F63}" type="datetime1">
              <a:rPr lang="en-US" smtClean="0"/>
              <a:t>10/28/2023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A99044A-C2D1-4F15-B781-7C61EE491DAF}" type="datetime1">
              <a:rPr lang="en-US" smtClean="0"/>
              <a:t>10/28/2023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E68F481-38CA-4DFA-9B26-8C795D3D40AD}" type="datetime1">
              <a:rPr lang="en-US" smtClean="0"/>
              <a:t>10/28/2023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3FB48-76A7-4286-87AC-FFB7663237F3}" type="datetime1">
              <a:rPr lang="en-US" smtClean="0"/>
              <a:t>10/28/2023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42A34-A49B-491F-9585-0BE35AD33C1A}" type="datetime1">
              <a:rPr lang="en-US" smtClean="0"/>
              <a:t>10/28/2023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AF45162-EA3C-476D-A432-23390CF09B58}" type="datetime1">
              <a:rPr lang="en-US" smtClean="0"/>
              <a:t>10/28/2023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5B59-A480-4660-8617-6D397398CEC5}" type="datetime1">
              <a:rPr lang="en-US" smtClean="0"/>
              <a:t>10/28/2023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BE3FA06-7A33-454A-8B70-B050251E08EA}" type="datetime1">
              <a:rPr lang="en-US" smtClean="0"/>
              <a:t>10/28/2023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4B0EAA8-3314-4735-9B92-56FCAFDED905}" type="datetime1">
              <a:rPr lang="en-US" smtClean="0"/>
              <a:t>10/28/2023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5D353-2C36-4E48-9F64-E4BBB69324EB}" type="datetime1">
              <a:rPr lang="en-US" smtClean="0"/>
              <a:t>10/28/2023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8FC96-86B3-44F6-8B9A-675C10F51F12}" type="datetime1">
              <a:rPr lang="en-US" smtClean="0"/>
              <a:t>10/28/2023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3DC717C-BCBC-4210-AC7F-BB7C2D95064A}" type="datetime1">
              <a:rPr lang="en-US" smtClean="0"/>
              <a:t>10/28/2023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5A7BB5D-E654-44AF-ABC0-9A640D11D1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4.wmf"/><Relationship Id="rId22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21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28.bin"/><Relationship Id="rId21" Type="http://schemas.openxmlformats.org/officeDocument/2006/relationships/oleObject" Target="../embeddings/oleObject37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32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23" Type="http://schemas.openxmlformats.org/officeDocument/2006/relationships/oleObject" Target="../embeddings/oleObject38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31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2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49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4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3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7893" y="1791563"/>
            <a:ext cx="57345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/>
              <a:t>Simple Linear Regression</a:t>
            </a:r>
            <a:endParaRPr lang="en-US" sz="2000" b="1" dirty="0">
              <a:latin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0551" y="925056"/>
            <a:ext cx="79906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Arial" charset="0"/>
              </a:rPr>
              <a:t>ICT 1404 –Mathematics for Computing</a:t>
            </a:r>
            <a:endParaRPr lang="en-US" sz="3600" b="1" dirty="0">
              <a:latin typeface="Times New Roman" pitchFamily="18" charset="0"/>
              <a:cs typeface="Arial" charset="0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066800" y="4657823"/>
            <a:ext cx="8451448" cy="186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800" b="1" dirty="0" err="1"/>
              <a:t>P.D.Wimalasiri</a:t>
            </a:r>
            <a:endParaRPr lang="en-US" sz="1800" b="1" dirty="0"/>
          </a:p>
          <a:p>
            <a:pPr>
              <a:spcBef>
                <a:spcPct val="50000"/>
              </a:spcBef>
            </a:pPr>
            <a:r>
              <a:rPr lang="en-US" sz="1800" b="1" dirty="0" smtClean="0">
                <a:solidFill>
                  <a:srgbClr val="FF0000"/>
                </a:solidFill>
              </a:rPr>
              <a:t>[</a:t>
            </a:r>
            <a:r>
              <a:rPr lang="en-US" sz="1800" b="1" dirty="0">
                <a:solidFill>
                  <a:srgbClr val="FF0000"/>
                </a:solidFill>
              </a:rPr>
              <a:t>(B.Sc. Maths, M.Sc. In Computer Sc., Sp. Trained in CICC Japan, Dip in Engineering OUSL </a:t>
            </a:r>
            <a:r>
              <a:rPr lang="en-US" sz="1800" b="1" dirty="0" smtClean="0">
                <a:solidFill>
                  <a:srgbClr val="FF0000"/>
                </a:solidFill>
              </a:rPr>
              <a:t>)] </a:t>
            </a:r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800" b="1" dirty="0" smtClean="0">
                <a:solidFill>
                  <a:srgbClr val="FF0000"/>
                </a:solidFill>
              </a:rPr>
              <a:t>Academic and Social experiences in Singapore, Malaysia, Thailand, India, Japan</a:t>
            </a:r>
            <a:endParaRPr lang="en-US" sz="1800" b="1" dirty="0">
              <a:solidFill>
                <a:srgbClr val="FF0000"/>
              </a:solidFill>
            </a:endParaRPr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800" b="1" dirty="0" smtClean="0"/>
              <a:t>Lecturer in Computer Science/Mathematics</a:t>
            </a:r>
            <a:endParaRPr lang="en-US" sz="1800" b="1" dirty="0"/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800" b="1" dirty="0"/>
              <a:t>Rajarata University of Sri Lanka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364929"/>
            <a:ext cx="744537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520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905000"/>
            <a:ext cx="7162800" cy="1520190"/>
          </a:xfrm>
        </p:spPr>
        <p:txBody>
          <a:bodyPr>
            <a:noAutofit/>
          </a:bodyPr>
          <a:lstStyle/>
          <a:p>
            <a:r>
              <a:rPr lang="en-US" sz="4000" dirty="0" smtClean="0"/>
              <a:t>Simple Linear Regression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2</a:t>
            </a:fld>
            <a:endParaRPr lang="en-US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209800" y="4800600"/>
            <a:ext cx="6248400" cy="1356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400" dirty="0">
                <a:latin typeface="Times New Roman" pitchFamily="18" charset="0"/>
              </a:rPr>
              <a:t>P.D.Wimalasiri</a:t>
            </a:r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400" dirty="0">
                <a:latin typeface="Times New Roman" pitchFamily="18" charset="0"/>
              </a:rPr>
              <a:t>[B.Sc. in </a:t>
            </a:r>
            <a:r>
              <a:rPr lang="en-US" sz="1400" dirty="0" err="1">
                <a:latin typeface="Times New Roman" pitchFamily="18" charset="0"/>
              </a:rPr>
              <a:t>Maths</a:t>
            </a:r>
            <a:r>
              <a:rPr lang="en-US" sz="1400" dirty="0">
                <a:latin typeface="Times New Roman" pitchFamily="18" charset="0"/>
              </a:rPr>
              <a:t> (Ruhuna), M.Sc.in Computer Science (Col.)]</a:t>
            </a:r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400" dirty="0" smtClean="0">
                <a:latin typeface="Times New Roman" pitchFamily="18" charset="0"/>
              </a:rPr>
              <a:t>Lecturer in Computer Science,</a:t>
            </a:r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400" dirty="0" smtClean="0">
                <a:latin typeface="Times New Roman" pitchFamily="18" charset="0"/>
              </a:rPr>
              <a:t>Faculty of Management Studies,</a:t>
            </a:r>
            <a:endParaRPr lang="en-US" sz="1400" dirty="0">
              <a:latin typeface="Times New Roman" pitchFamily="18" charset="0"/>
            </a:endParaRPr>
          </a:p>
          <a:p>
            <a:pPr>
              <a:lnSpc>
                <a:spcPts val="1300"/>
              </a:lnSpc>
              <a:spcBef>
                <a:spcPct val="50000"/>
              </a:spcBef>
            </a:pPr>
            <a:r>
              <a:rPr lang="en-US" sz="1400" dirty="0">
                <a:latin typeface="Times New Roman" pitchFamily="18" charset="0"/>
              </a:rPr>
              <a:t>Rajarata University of Sri Lanka</a:t>
            </a:r>
          </a:p>
        </p:txBody>
      </p:sp>
    </p:spTree>
    <p:extLst>
      <p:ext uri="{BB962C8B-B14F-4D97-AF65-F5344CB8AC3E}">
        <p14:creationId xmlns:p14="http://schemas.microsoft.com/office/powerpoint/2010/main" val="223439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35239" y="914400"/>
            <a:ext cx="6781800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cs typeface="Iskoola Pota" pitchFamily="34" charset="0"/>
              </a:rPr>
              <a:t>If two variables are associated each other linearly we apply techniques in simple linear regression.</a:t>
            </a:r>
            <a:endParaRPr lang="en-US" sz="2400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835239" y="2438400"/>
            <a:ext cx="6781800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cs typeface="Iskoola Pota" pitchFamily="34" charset="0"/>
              </a:rPr>
              <a:t>If more than two variables with one dependent variable that is said to be </a:t>
            </a:r>
            <a:r>
              <a:rPr lang="en-US" sz="2400" dirty="0">
                <a:cs typeface="Iskoola Pota" pitchFamily="34" charset="0"/>
              </a:rPr>
              <a:t>multi-linear regression </a:t>
            </a:r>
            <a:r>
              <a:rPr lang="en-US" sz="2400" dirty="0" smtClean="0">
                <a:cs typeface="Iskoola Pota" pitchFamily="34" charset="0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92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7396" y="0"/>
            <a:ext cx="3960004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u="sng" dirty="0" smtClean="0">
                <a:solidFill>
                  <a:srgbClr val="FFFF00"/>
                </a:solidFill>
              </a:rPr>
              <a:t>Simple linear regression</a:t>
            </a:r>
            <a:endParaRPr lang="en-US" sz="2400" u="sng" dirty="0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707774" y="1695740"/>
            <a:ext cx="6553200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Here a and b are called coefficients of regression</a:t>
            </a: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1693822" y="2576105"/>
            <a:ext cx="30949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 Least Square Method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372647"/>
              </p:ext>
            </p:extLst>
          </p:nvPr>
        </p:nvGraphicFramePr>
        <p:xfrm>
          <a:off x="1693822" y="3886200"/>
          <a:ext cx="3657600" cy="1181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0" name="Equation" r:id="rId3" imgW="1257300" imgH="431800" progId="Equation.3">
                  <p:embed/>
                </p:oleObj>
              </mc:Choice>
              <mc:Fallback>
                <p:oleObj name="Equation" r:id="rId3" imgW="12573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22" y="3886200"/>
                        <a:ext cx="3657600" cy="1181686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814918"/>
              </p:ext>
            </p:extLst>
          </p:nvPr>
        </p:nvGraphicFramePr>
        <p:xfrm>
          <a:off x="6147767" y="3962400"/>
          <a:ext cx="2133599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5" imgW="672808" imgH="241195" progId="Equation.3">
                  <p:embed/>
                </p:oleObj>
              </mc:Choice>
              <mc:Fallback>
                <p:oleObj name="Equation" r:id="rId5" imgW="672808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7767" y="3962400"/>
                        <a:ext cx="2133599" cy="74212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1716360" y="3062368"/>
            <a:ext cx="15536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Method</a:t>
            </a:r>
            <a:r>
              <a:rPr lang="si-LK" sz="2400" dirty="0" smtClean="0"/>
              <a:t> </a:t>
            </a:r>
            <a:r>
              <a:rPr lang="en-US" sz="2400" dirty="0" smtClean="0"/>
              <a:t> I</a:t>
            </a:r>
            <a:endParaRPr lang="en-US" sz="2400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91077" y="461665"/>
            <a:ext cx="7256172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Equation of </a:t>
            </a:r>
            <a:r>
              <a:rPr lang="en-US" sz="2400" dirty="0" err="1" smtClean="0"/>
              <a:t>regession</a:t>
            </a:r>
            <a:r>
              <a:rPr lang="en-US" sz="2400" dirty="0" smtClean="0"/>
              <a:t>:   </a:t>
            </a:r>
            <a:r>
              <a:rPr lang="en-US" sz="2400" dirty="0">
                <a:solidFill>
                  <a:srgbClr val="FFFF00"/>
                </a:solidFill>
              </a:rPr>
              <a:t>Y=</a:t>
            </a:r>
            <a:r>
              <a:rPr lang="en-US" sz="2400" dirty="0" err="1">
                <a:solidFill>
                  <a:srgbClr val="FFFF00"/>
                </a:solidFill>
              </a:rPr>
              <a:t>a+bX</a:t>
            </a:r>
            <a:endParaRPr lang="en-US" sz="2400" dirty="0">
              <a:solidFill>
                <a:srgbClr val="FFFF00"/>
              </a:solidFill>
            </a:endParaRPr>
          </a:p>
          <a:p>
            <a:pPr algn="just"/>
            <a:r>
              <a:rPr lang="en-US" sz="2400" dirty="0" smtClean="0"/>
              <a:t>Since y is depend on x  this is also known as </a:t>
            </a:r>
            <a:r>
              <a:rPr lang="en-US" sz="2400" b="1" dirty="0" smtClean="0"/>
              <a:t>regression of y on x.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3464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3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797426" y="23611"/>
            <a:ext cx="4158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smtClean="0"/>
              <a:t>……..least square method</a:t>
            </a:r>
            <a:endParaRPr lang="en-US" sz="2400" b="1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388796"/>
              </p:ext>
            </p:extLst>
          </p:nvPr>
        </p:nvGraphicFramePr>
        <p:xfrm>
          <a:off x="2832100" y="1928813"/>
          <a:ext cx="2106613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Equation" r:id="rId3" imgW="723600" imgH="469800" progId="Equation.3">
                  <p:embed/>
                </p:oleObj>
              </mc:Choice>
              <mc:Fallback>
                <p:oleObj name="Equation" r:id="rId3" imgW="723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1928813"/>
                        <a:ext cx="2106613" cy="1285875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569868"/>
              </p:ext>
            </p:extLst>
          </p:nvPr>
        </p:nvGraphicFramePr>
        <p:xfrm>
          <a:off x="5983421" y="2209800"/>
          <a:ext cx="2133599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Equation" r:id="rId5" imgW="672808" imgH="241195" progId="Equation.3">
                  <p:embed/>
                </p:oleObj>
              </mc:Choice>
              <mc:Fallback>
                <p:oleObj name="Equation" r:id="rId5" imgW="67280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421" y="2209800"/>
                        <a:ext cx="2133599" cy="74212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1905000" y="923605"/>
            <a:ext cx="447911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method II</a:t>
            </a:r>
          </a:p>
          <a:p>
            <a:r>
              <a:rPr lang="en-US" sz="2400" dirty="0" smtClean="0"/>
              <a:t>(using deviations about mean)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105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735428" y="23611"/>
            <a:ext cx="42402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……..</a:t>
            </a:r>
            <a:r>
              <a:rPr lang="en-US" sz="2400" b="1" i="1" dirty="0"/>
              <a:t> least square method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546371"/>
              </p:ext>
            </p:extLst>
          </p:nvPr>
        </p:nvGraphicFramePr>
        <p:xfrm>
          <a:off x="4267200" y="3352800"/>
          <a:ext cx="2133599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8" name="Equation" r:id="rId3" imgW="672808" imgH="241195" progId="Equation.3">
                  <p:embed/>
                </p:oleObj>
              </mc:Choice>
              <mc:Fallback>
                <p:oleObj name="Equation" r:id="rId3" imgW="672808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352800"/>
                        <a:ext cx="2133599" cy="742122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1872803" y="609600"/>
            <a:ext cx="59121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/>
              <a:t>method III</a:t>
            </a:r>
          </a:p>
          <a:p>
            <a:r>
              <a:rPr lang="en-US" sz="2400" dirty="0" smtClean="0"/>
              <a:t>(using deviations about any other value)</a:t>
            </a:r>
            <a:endParaRPr lang="en-US" sz="240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625090"/>
              </p:ext>
            </p:extLst>
          </p:nvPr>
        </p:nvGraphicFramePr>
        <p:xfrm>
          <a:off x="2895600" y="1676400"/>
          <a:ext cx="4471987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" name="Equation" r:id="rId5" imgW="1536480" imgH="469800" progId="Equation.3">
                  <p:embed/>
                </p:oleObj>
              </mc:Choice>
              <mc:Fallback>
                <p:oleObj name="Equation" r:id="rId5" imgW="153648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76400"/>
                        <a:ext cx="4471987" cy="128587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336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05376" y="228600"/>
            <a:ext cx="4771623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u="sng" dirty="0" smtClean="0"/>
              <a:t>Coefficient of Determination, R</a:t>
            </a:r>
            <a:endParaRPr lang="en-US" sz="2400" u="sng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76400" y="914400"/>
            <a:ext cx="72390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This measures goodness of fitting a equation</a:t>
            </a:r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955852"/>
              </p:ext>
            </p:extLst>
          </p:nvPr>
        </p:nvGraphicFramePr>
        <p:xfrm>
          <a:off x="2590800" y="1981200"/>
          <a:ext cx="3943350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3" imgW="1346200" imgH="482600" progId="Equation.3">
                  <p:embed/>
                </p:oleObj>
              </mc:Choice>
              <mc:Fallback>
                <p:oleObj name="Equation" r:id="rId3" imgW="1346200" imgH="482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981200"/>
                        <a:ext cx="3943350" cy="131445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359858"/>
              </p:ext>
            </p:extLst>
          </p:nvPr>
        </p:nvGraphicFramePr>
        <p:xfrm>
          <a:off x="7162800" y="3119242"/>
          <a:ext cx="1573213" cy="467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5" imgW="634680" imgH="203040" progId="Equation.3">
                  <p:embed/>
                </p:oleObj>
              </mc:Choice>
              <mc:Fallback>
                <p:oleObj name="Equation" r:id="rId5" imgW="6346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3119242"/>
                        <a:ext cx="1573213" cy="467478"/>
                      </a:xfrm>
                      <a:prstGeom prst="rect">
                        <a:avLst/>
                      </a:prstGeom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461413"/>
              </p:ext>
            </p:extLst>
          </p:nvPr>
        </p:nvGraphicFramePr>
        <p:xfrm>
          <a:off x="2590800" y="3578920"/>
          <a:ext cx="3943350" cy="117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Equation" r:id="rId7" imgW="1587240" imgH="507960" progId="Equation.3">
                  <p:embed/>
                </p:oleObj>
              </mc:Choice>
              <mc:Fallback>
                <p:oleObj name="Equation" r:id="rId7" imgW="15872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78920"/>
                        <a:ext cx="3943350" cy="11727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169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05000" y="196334"/>
            <a:ext cx="129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70363"/>
              </p:ext>
            </p:extLst>
          </p:nvPr>
        </p:nvGraphicFramePr>
        <p:xfrm>
          <a:off x="1676398" y="1219200"/>
          <a:ext cx="689324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2"/>
                <a:gridCol w="639615"/>
                <a:gridCol w="737471"/>
                <a:gridCol w="737471"/>
                <a:gridCol w="737471"/>
                <a:gridCol w="737471"/>
                <a:gridCol w="737471"/>
                <a:gridCol w="737471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advertising cost </a:t>
                      </a:r>
                      <a:r>
                        <a:rPr lang="en-US" b="0" dirty="0" smtClean="0"/>
                        <a:t> (Rs</a:t>
                      </a:r>
                      <a:r>
                        <a:rPr lang="si-LK" b="0" dirty="0" smtClean="0"/>
                        <a:t>.</a:t>
                      </a:r>
                      <a:r>
                        <a:rPr lang="en-US" b="0" dirty="0" smtClean="0"/>
                        <a:t> ‘</a:t>
                      </a:r>
                      <a:r>
                        <a:rPr lang="en-US" sz="1600" b="0" dirty="0" smtClean="0"/>
                        <a:t>000</a:t>
                      </a:r>
                      <a:r>
                        <a:rPr lang="en-US" b="0" dirty="0" smtClean="0"/>
                        <a:t> 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Sales amount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(Rs</a:t>
                      </a:r>
                      <a:r>
                        <a:rPr kumimoji="0" lang="si-LK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‘</a:t>
                      </a:r>
                      <a:r>
                        <a:rPr kumimoji="0" lang="en-US" sz="1600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000 </a:t>
                      </a:r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</a:t>
                      </a:r>
                      <a:endParaRPr kumimoji="0" lang="en-US" b="0" kern="1200" dirty="0">
                        <a:solidFill>
                          <a:schemeClr val="l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60</a:t>
                      </a:r>
                      <a:endParaRPr kumimoji="0" lang="en-US" b="0" kern="1200" dirty="0">
                        <a:solidFill>
                          <a:schemeClr val="l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60</a:t>
                      </a:r>
                      <a:endParaRPr kumimoji="0" lang="en-US" b="0" kern="1200" dirty="0">
                        <a:solidFill>
                          <a:schemeClr val="l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80</a:t>
                      </a:r>
                      <a:endParaRPr kumimoji="0" lang="en-US" b="0" kern="1200" dirty="0">
                        <a:solidFill>
                          <a:schemeClr val="l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70</a:t>
                      </a:r>
                      <a:endParaRPr kumimoji="0" lang="en-US" b="0" kern="1200" dirty="0">
                        <a:solidFill>
                          <a:schemeClr val="l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90</a:t>
                      </a:r>
                      <a:endParaRPr kumimoji="0" lang="en-US" b="0" kern="1200" dirty="0">
                        <a:solidFill>
                          <a:schemeClr val="l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n-US" b="0" kern="120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80</a:t>
                      </a:r>
                      <a:endParaRPr kumimoji="0" lang="en-US" b="0" kern="1200" dirty="0">
                        <a:solidFill>
                          <a:schemeClr val="lt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84987" y="2713166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i. Find the equation of regression of sale amount on advertising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4987" y="3359497"/>
            <a:ext cx="693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ii. What would be the sales amount if advertising cost is Rs. 15000 ?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684987" y="4011194"/>
            <a:ext cx="693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iii. Find the coefficient of determination (R squared) and interpret it.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898561" y="582838"/>
            <a:ext cx="693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Information of advertising cost and sales amount of a firm is given as follows.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48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76400" y="0"/>
            <a:ext cx="1039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76400" y="378056"/>
            <a:ext cx="1220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Method  I</a:t>
            </a: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195708"/>
              </p:ext>
            </p:extLst>
          </p:nvPr>
        </p:nvGraphicFramePr>
        <p:xfrm>
          <a:off x="3720921" y="3441879"/>
          <a:ext cx="2438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3" name="Equation" r:id="rId3" imgW="1257300" imgH="431800" progId="Equation.3">
                  <p:embed/>
                </p:oleObj>
              </mc:Choice>
              <mc:Fallback>
                <p:oleObj name="Equation" r:id="rId3" imgW="12573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0921" y="3441879"/>
                        <a:ext cx="2438400" cy="78740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877673"/>
              </p:ext>
            </p:extLst>
          </p:nvPr>
        </p:nvGraphicFramePr>
        <p:xfrm>
          <a:off x="3733800" y="0"/>
          <a:ext cx="5072380" cy="341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133858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XY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640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630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900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121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490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4090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482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218875"/>
              </p:ext>
            </p:extLst>
          </p:nvPr>
        </p:nvGraphicFramePr>
        <p:xfrm>
          <a:off x="3657600" y="4267200"/>
          <a:ext cx="31257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4" name="Equation" r:id="rId5" imgW="1612800" imgH="431640" progId="Equation.3">
                  <p:embed/>
                </p:oleObj>
              </mc:Choice>
              <mc:Fallback>
                <p:oleObj name="Equation" r:id="rId5" imgW="1612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267200"/>
                        <a:ext cx="3125788" cy="78740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9497196"/>
              </p:ext>
            </p:extLst>
          </p:nvPr>
        </p:nvGraphicFramePr>
        <p:xfrm>
          <a:off x="6820437" y="4311650"/>
          <a:ext cx="211613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5" name="Equation" r:id="rId7" imgW="1091880" imgH="393480" progId="Equation.3">
                  <p:embed/>
                </p:oleObj>
              </mc:Choice>
              <mc:Fallback>
                <p:oleObj name="Equation" r:id="rId7" imgW="1091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0437" y="4311650"/>
                        <a:ext cx="2116137" cy="71755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379214"/>
              </p:ext>
            </p:extLst>
          </p:nvPr>
        </p:nvGraphicFramePr>
        <p:xfrm>
          <a:off x="3657600" y="5105400"/>
          <a:ext cx="93503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6" name="Equation" r:id="rId9" imgW="482400" imgH="393480" progId="Equation.3">
                  <p:embed/>
                </p:oleObj>
              </mc:Choice>
              <mc:Fallback>
                <p:oleObj name="Equation" r:id="rId9" imgW="482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105400"/>
                        <a:ext cx="935038" cy="71755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65499"/>
              </p:ext>
            </p:extLst>
          </p:nvPr>
        </p:nvGraphicFramePr>
        <p:xfrm>
          <a:off x="3657600" y="5867400"/>
          <a:ext cx="9112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7" name="Equation" r:id="rId11" imgW="469800" imgH="241200" progId="Equation.3">
                  <p:embed/>
                </p:oleObj>
              </mc:Choice>
              <mc:Fallback>
                <p:oleObj name="Equation" r:id="rId11" imgW="4698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867400"/>
                        <a:ext cx="911225" cy="43973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834144"/>
              </p:ext>
            </p:extLst>
          </p:nvPr>
        </p:nvGraphicFramePr>
        <p:xfrm>
          <a:off x="6446838" y="3605213"/>
          <a:ext cx="66516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8" name="Equation" r:id="rId13" imgW="342720" imgH="215640" progId="Equation.3">
                  <p:embed/>
                </p:oleObj>
              </mc:Choice>
              <mc:Fallback>
                <p:oleObj name="Equation" r:id="rId13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838" y="3605213"/>
                        <a:ext cx="665162" cy="39211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867764"/>
              </p:ext>
            </p:extLst>
          </p:nvPr>
        </p:nvGraphicFramePr>
        <p:xfrm>
          <a:off x="7239000" y="3581400"/>
          <a:ext cx="8366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9" name="Equation" r:id="rId15" imgW="431640" imgH="241200" progId="Equation.3">
                  <p:embed/>
                </p:oleObj>
              </mc:Choice>
              <mc:Fallback>
                <p:oleObj name="Equation" r:id="rId15" imgW="4316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581400"/>
                        <a:ext cx="836613" cy="43815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69214"/>
              </p:ext>
            </p:extLst>
          </p:nvPr>
        </p:nvGraphicFramePr>
        <p:xfrm>
          <a:off x="5029200" y="5181600"/>
          <a:ext cx="14954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0" name="Equation" r:id="rId17" imgW="660240" imgH="241200" progId="Equation.3">
                  <p:embed/>
                </p:oleObj>
              </mc:Choice>
              <mc:Fallback>
                <p:oleObj name="Equation" r:id="rId17" imgW="66024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181600"/>
                        <a:ext cx="1495425" cy="53022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317423"/>
              </p:ext>
            </p:extLst>
          </p:nvPr>
        </p:nvGraphicFramePr>
        <p:xfrm>
          <a:off x="6629400" y="5257800"/>
          <a:ext cx="2184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1" name="Equation" r:id="rId19" imgW="965160" imgH="177480" progId="Equation.3">
                  <p:embed/>
                </p:oleObj>
              </mc:Choice>
              <mc:Fallback>
                <p:oleObj name="Equation" r:id="rId19" imgW="9651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257800"/>
                        <a:ext cx="2184400" cy="392112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696232"/>
              </p:ext>
            </p:extLst>
          </p:nvPr>
        </p:nvGraphicFramePr>
        <p:xfrm>
          <a:off x="4756150" y="5943600"/>
          <a:ext cx="20415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" name="Equation" r:id="rId21" imgW="901440" imgH="241200" progId="Equation.3">
                  <p:embed/>
                </p:oleObj>
              </mc:Choice>
              <mc:Fallback>
                <p:oleObj name="Equation" r:id="rId21" imgW="9014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5943600"/>
                        <a:ext cx="2041525" cy="53022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928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76400" y="0"/>
            <a:ext cx="898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solutio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477701" y="395502"/>
            <a:ext cx="129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Method II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313885"/>
              </p:ext>
            </p:extLst>
          </p:nvPr>
        </p:nvGraphicFramePr>
        <p:xfrm>
          <a:off x="2929552" y="532808"/>
          <a:ext cx="3607126" cy="341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630"/>
                <a:gridCol w="582930"/>
                <a:gridCol w="430530"/>
                <a:gridCol w="544830"/>
                <a:gridCol w="790103"/>
                <a:gridCol w="79010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-20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490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767334"/>
              </p:ext>
            </p:extLst>
          </p:nvPr>
        </p:nvGraphicFramePr>
        <p:xfrm>
          <a:off x="5943600" y="4267200"/>
          <a:ext cx="9112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9" name="Equation" r:id="rId3" imgW="469800" imgH="241200" progId="Equation.3">
                  <p:embed/>
                </p:oleObj>
              </mc:Choice>
              <mc:Fallback>
                <p:oleObj name="Equation" r:id="rId3" imgW="4698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267200"/>
                        <a:ext cx="911225" cy="43973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648577"/>
              </p:ext>
            </p:extLst>
          </p:nvPr>
        </p:nvGraphicFramePr>
        <p:xfrm>
          <a:off x="7086600" y="568778"/>
          <a:ext cx="66516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0" name="Equation" r:id="rId5" imgW="342720" imgH="215640" progId="Equation.3">
                  <p:embed/>
                </p:oleObj>
              </mc:Choice>
              <mc:Fallback>
                <p:oleObj name="Equation" r:id="rId5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68778"/>
                        <a:ext cx="665162" cy="39211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027556"/>
              </p:ext>
            </p:extLst>
          </p:nvPr>
        </p:nvGraphicFramePr>
        <p:xfrm>
          <a:off x="7086600" y="1219200"/>
          <a:ext cx="8366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1" name="Equation" r:id="rId7" imgW="431640" imgH="241200" progId="Equation.3">
                  <p:embed/>
                </p:oleObj>
              </mc:Choice>
              <mc:Fallback>
                <p:oleObj name="Equation" r:id="rId7" imgW="4316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219200"/>
                        <a:ext cx="836613" cy="43815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324131"/>
              </p:ext>
            </p:extLst>
          </p:nvPr>
        </p:nvGraphicFramePr>
        <p:xfrm>
          <a:off x="3041897" y="5029200"/>
          <a:ext cx="14954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2" name="Equation" r:id="rId9" imgW="660240" imgH="241200" progId="Equation.3">
                  <p:embed/>
                </p:oleObj>
              </mc:Choice>
              <mc:Fallback>
                <p:oleObj name="Equation" r:id="rId9" imgW="6602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897" y="5029200"/>
                        <a:ext cx="1495425" cy="53022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706266"/>
              </p:ext>
            </p:extLst>
          </p:nvPr>
        </p:nvGraphicFramePr>
        <p:xfrm>
          <a:off x="4724400" y="5105400"/>
          <a:ext cx="2184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3" name="Equation" r:id="rId11" imgW="965160" imgH="177480" progId="Equation.3">
                  <p:embed/>
                </p:oleObj>
              </mc:Choice>
              <mc:Fallback>
                <p:oleObj name="Equation" r:id="rId11" imgW="9651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105400"/>
                        <a:ext cx="2184400" cy="392112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414164"/>
              </p:ext>
            </p:extLst>
          </p:nvPr>
        </p:nvGraphicFramePr>
        <p:xfrm>
          <a:off x="3041897" y="5715000"/>
          <a:ext cx="20415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4" name="Equation" r:id="rId13" imgW="901440" imgH="241200" progId="Equation.3">
                  <p:embed/>
                </p:oleObj>
              </mc:Choice>
              <mc:Fallback>
                <p:oleObj name="Equation" r:id="rId13" imgW="9014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897" y="5715000"/>
                        <a:ext cx="2041525" cy="53022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531631" y="26170"/>
            <a:ext cx="34067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(using deviations about mean)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792496"/>
              </p:ext>
            </p:extLst>
          </p:nvPr>
        </p:nvGraphicFramePr>
        <p:xfrm>
          <a:off x="3025798" y="4038600"/>
          <a:ext cx="1427362" cy="871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5" name="Equation" r:id="rId15" imgW="723600" imgH="469800" progId="Equation.3">
                  <p:embed/>
                </p:oleObj>
              </mc:Choice>
              <mc:Fallback>
                <p:oleObj name="Equation" r:id="rId15" imgW="72360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798" y="4038600"/>
                        <a:ext cx="1427362" cy="871261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121561"/>
              </p:ext>
            </p:extLst>
          </p:nvPr>
        </p:nvGraphicFramePr>
        <p:xfrm>
          <a:off x="4784725" y="4108450"/>
          <a:ext cx="100171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6" name="Equation" r:id="rId17" imgW="507960" imgH="393480" progId="Equation.3">
                  <p:embed/>
                </p:oleObj>
              </mc:Choice>
              <mc:Fallback>
                <p:oleObj name="Equation" r:id="rId17" imgW="5079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4108450"/>
                        <a:ext cx="1001713" cy="73025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387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5639" y="26170"/>
            <a:ext cx="1039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407104" y="395502"/>
            <a:ext cx="152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Method </a:t>
            </a:r>
            <a:r>
              <a:rPr lang="si-LK" dirty="0" smtClean="0"/>
              <a:t> </a:t>
            </a:r>
            <a:r>
              <a:rPr lang="en-US" dirty="0" smtClean="0"/>
              <a:t> III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20248"/>
              </p:ext>
            </p:extLst>
          </p:nvPr>
        </p:nvGraphicFramePr>
        <p:xfrm>
          <a:off x="2929552" y="532808"/>
          <a:ext cx="3607126" cy="341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630"/>
                <a:gridCol w="582930"/>
                <a:gridCol w="430530"/>
                <a:gridCol w="544830"/>
                <a:gridCol w="790103"/>
                <a:gridCol w="79010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-30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-20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-20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-30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490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-70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863136"/>
              </p:ext>
            </p:extLst>
          </p:nvPr>
        </p:nvGraphicFramePr>
        <p:xfrm>
          <a:off x="3523045" y="5029200"/>
          <a:ext cx="9112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2" name="Equation" r:id="rId3" imgW="469800" imgH="241200" progId="Equation.3">
                  <p:embed/>
                </p:oleObj>
              </mc:Choice>
              <mc:Fallback>
                <p:oleObj name="Equation" r:id="rId3" imgW="4698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3045" y="5029200"/>
                        <a:ext cx="911225" cy="43973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373699"/>
              </p:ext>
            </p:extLst>
          </p:nvPr>
        </p:nvGraphicFramePr>
        <p:xfrm>
          <a:off x="6848475" y="827088"/>
          <a:ext cx="838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3" name="Equation" r:id="rId5" imgW="431640" imgH="228600" progId="Equation.3">
                  <p:embed/>
                </p:oleObj>
              </mc:Choice>
              <mc:Fallback>
                <p:oleObj name="Equation" r:id="rId5" imgW="4316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8475" y="827088"/>
                        <a:ext cx="838200" cy="41592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75441"/>
              </p:ext>
            </p:extLst>
          </p:nvPr>
        </p:nvGraphicFramePr>
        <p:xfrm>
          <a:off x="6867525" y="2917825"/>
          <a:ext cx="6651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4" name="Equation" r:id="rId7" imgW="342720" imgH="215640" progId="Equation.3">
                  <p:embed/>
                </p:oleObj>
              </mc:Choice>
              <mc:Fallback>
                <p:oleObj name="Equation" r:id="rId7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7525" y="2917825"/>
                        <a:ext cx="665163" cy="39211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937996"/>
              </p:ext>
            </p:extLst>
          </p:nvPr>
        </p:nvGraphicFramePr>
        <p:xfrm>
          <a:off x="4724400" y="5029200"/>
          <a:ext cx="14954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5" name="Equation" r:id="rId9" imgW="660240" imgH="241200" progId="Equation.3">
                  <p:embed/>
                </p:oleObj>
              </mc:Choice>
              <mc:Fallback>
                <p:oleObj name="Equation" r:id="rId9" imgW="6602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029200"/>
                        <a:ext cx="1495425" cy="53022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183940"/>
              </p:ext>
            </p:extLst>
          </p:nvPr>
        </p:nvGraphicFramePr>
        <p:xfrm>
          <a:off x="6248400" y="5105400"/>
          <a:ext cx="21844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6" name="Equation" r:id="rId11" imgW="965160" imgH="177480" progId="Equation.3">
                  <p:embed/>
                </p:oleObj>
              </mc:Choice>
              <mc:Fallback>
                <p:oleObj name="Equation" r:id="rId11" imgW="96516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105400"/>
                        <a:ext cx="2184400" cy="392112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662271"/>
              </p:ext>
            </p:extLst>
          </p:nvPr>
        </p:nvGraphicFramePr>
        <p:xfrm>
          <a:off x="3041897" y="5715000"/>
          <a:ext cx="20415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7" name="Equation" r:id="rId13" imgW="901440" imgH="241200" progId="Equation.3">
                  <p:embed/>
                </p:oleObj>
              </mc:Choice>
              <mc:Fallback>
                <p:oleObj name="Equation" r:id="rId13" imgW="9014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897" y="5715000"/>
                        <a:ext cx="2041525" cy="53022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3531631" y="26170"/>
            <a:ext cx="4668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(deviations about mean other than mean )</a:t>
            </a:r>
            <a:endParaRPr lang="en-US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23659"/>
              </p:ext>
            </p:extLst>
          </p:nvPr>
        </p:nvGraphicFramePr>
        <p:xfrm>
          <a:off x="1905000" y="4114800"/>
          <a:ext cx="2760106" cy="794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8" name="Equation" r:id="rId15" imgW="1536480" imgH="469800" progId="Equation.3">
                  <p:embed/>
                </p:oleObj>
              </mc:Choice>
              <mc:Fallback>
                <p:oleObj name="Equation" r:id="rId15" imgW="1536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114800"/>
                        <a:ext cx="2760106" cy="794182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/>
          <p:cNvSpPr/>
          <p:nvPr/>
        </p:nvSpPr>
        <p:spPr>
          <a:xfrm>
            <a:off x="2931104" y="1295400"/>
            <a:ext cx="46454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3425330" y="1981200"/>
            <a:ext cx="46454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031563"/>
              </p:ext>
            </p:extLst>
          </p:nvPr>
        </p:nvGraphicFramePr>
        <p:xfrm>
          <a:off x="6783388" y="1457325"/>
          <a:ext cx="9874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" name="Equation" r:id="rId17" imgW="507960" imgH="241200" progId="Equation.3">
                  <p:embed/>
                </p:oleObj>
              </mc:Choice>
              <mc:Fallback>
                <p:oleObj name="Equation" r:id="rId17" imgW="5079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3388" y="1457325"/>
                        <a:ext cx="987425" cy="43973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159818"/>
              </p:ext>
            </p:extLst>
          </p:nvPr>
        </p:nvGraphicFramePr>
        <p:xfrm>
          <a:off x="4686837" y="4140558"/>
          <a:ext cx="407482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" name="Equation" r:id="rId19" imgW="2108160" imgH="419040" progId="Equation.3">
                  <p:embed/>
                </p:oleObj>
              </mc:Choice>
              <mc:Fallback>
                <p:oleObj name="Equation" r:id="rId19" imgW="21081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837" y="4140558"/>
                        <a:ext cx="4074820" cy="76200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586717"/>
              </p:ext>
            </p:extLst>
          </p:nvPr>
        </p:nvGraphicFramePr>
        <p:xfrm>
          <a:off x="2044681" y="4953000"/>
          <a:ext cx="1350963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1" name="Equation" r:id="rId21" imgW="698400" imgH="393480" progId="Equation.3">
                  <p:embed/>
                </p:oleObj>
              </mc:Choice>
              <mc:Fallback>
                <p:oleObj name="Equation" r:id="rId21" imgW="698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681" y="4953000"/>
                        <a:ext cx="1350963" cy="715963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736027"/>
              </p:ext>
            </p:extLst>
          </p:nvPr>
        </p:nvGraphicFramePr>
        <p:xfrm>
          <a:off x="6781800" y="3505200"/>
          <a:ext cx="8366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2" name="Equation" r:id="rId23" imgW="431640" imgH="241200" progId="Equation.3">
                  <p:embed/>
                </p:oleObj>
              </mc:Choice>
              <mc:Fallback>
                <p:oleObj name="Equation" r:id="rId23" imgW="4316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505200"/>
                        <a:ext cx="836613" cy="43815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916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0"/>
      <p:bldP spid="2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867399"/>
              </p:ext>
            </p:extLst>
          </p:nvPr>
        </p:nvGraphicFramePr>
        <p:xfrm>
          <a:off x="5943600" y="2895600"/>
          <a:ext cx="2743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8" name="Equation" r:id="rId3" imgW="1346200" imgH="482600" progId="Equation.3">
                  <p:embed/>
                </p:oleObj>
              </mc:Choice>
              <mc:Fallback>
                <p:oleObj name="Equation" r:id="rId3" imgW="1346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895600"/>
                        <a:ext cx="2743200" cy="91440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907270"/>
              </p:ext>
            </p:extLst>
          </p:nvPr>
        </p:nvGraphicFramePr>
        <p:xfrm>
          <a:off x="1304351" y="3962400"/>
          <a:ext cx="3266171" cy="867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9" name="Equation" r:id="rId5" imgW="1688760" imgH="482400" progId="Equation.3">
                  <p:embed/>
                </p:oleObj>
              </mc:Choice>
              <mc:Fallback>
                <p:oleObj name="Equation" r:id="rId5" imgW="16887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351" y="3962400"/>
                        <a:ext cx="3266171" cy="86776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479882"/>
              </p:ext>
            </p:extLst>
          </p:nvPr>
        </p:nvGraphicFramePr>
        <p:xfrm>
          <a:off x="4800600" y="5257800"/>
          <a:ext cx="11652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0" name="Equation" r:id="rId7" imgW="571320" imgH="241200" progId="Equation.3">
                  <p:embed/>
                </p:oleObj>
              </mc:Choice>
              <mc:Fallback>
                <p:oleObj name="Equation" r:id="rId7" imgW="5713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257800"/>
                        <a:ext cx="1165225" cy="457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433239"/>
              </p:ext>
            </p:extLst>
          </p:nvPr>
        </p:nvGraphicFramePr>
        <p:xfrm>
          <a:off x="1981200" y="457200"/>
          <a:ext cx="3810000" cy="341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/>
                <a:gridCol w="582930"/>
                <a:gridCol w="1524000"/>
                <a:gridCol w="101727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en-US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2500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3600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3600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6400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4900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8100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521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121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6400</a:t>
                      </a:r>
                      <a:endParaRPr kumimoji="0" lang="en-US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490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482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35500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383967" y="11943"/>
            <a:ext cx="3106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coefficient of determination</a:t>
            </a:r>
            <a:endParaRPr lang="en-US" u="sng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662614"/>
              </p:ext>
            </p:extLst>
          </p:nvPr>
        </p:nvGraphicFramePr>
        <p:xfrm>
          <a:off x="4648200" y="3962400"/>
          <a:ext cx="4249985" cy="884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1" name="Equation" r:id="rId9" imgW="1930320" imgH="431640" progId="Equation.3">
                  <p:embed/>
                </p:oleObj>
              </mc:Choice>
              <mc:Fallback>
                <p:oleObj name="Equation" r:id="rId9" imgW="19303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962400"/>
                        <a:ext cx="4249985" cy="884628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31319"/>
              </p:ext>
            </p:extLst>
          </p:nvPr>
        </p:nvGraphicFramePr>
        <p:xfrm>
          <a:off x="2438400" y="5029200"/>
          <a:ext cx="22764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2" name="Equation" r:id="rId11" imgW="1117440" imgH="393480" progId="Equation.3">
                  <p:embed/>
                </p:oleObj>
              </mc:Choice>
              <mc:Fallback>
                <p:oleObj name="Equation" r:id="rId11" imgW="11174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029200"/>
                        <a:ext cx="2276475" cy="746125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745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52600" y="838200"/>
            <a:ext cx="716280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The amount of fertilizer used and yield earned by a cultivation is given as follows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27303"/>
              </p:ext>
            </p:extLst>
          </p:nvPr>
        </p:nvGraphicFramePr>
        <p:xfrm>
          <a:off x="1829494" y="1582576"/>
          <a:ext cx="7009011" cy="6309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2373"/>
                <a:gridCol w="730192"/>
                <a:gridCol w="730192"/>
                <a:gridCol w="730192"/>
                <a:gridCol w="730192"/>
                <a:gridCol w="730192"/>
                <a:gridCol w="885678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Amount</a:t>
                      </a:r>
                      <a:r>
                        <a:rPr lang="en-US" sz="1600" b="1" kern="1200" baseline="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of fertilizer</a:t>
                      </a:r>
                      <a:r>
                        <a:rPr lang="en-US" sz="1050" b="1" dirty="0" smtClean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en-US" sz="1400" b="1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kg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</a:tr>
              <a:tr h="13874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Amount</a:t>
                      </a:r>
                      <a:r>
                        <a:rPr lang="en-US" sz="1600" b="1" kern="1200" baseline="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of yield </a:t>
                      </a:r>
                      <a:r>
                        <a:rPr kumimoji="0" lang="en-US" sz="16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(kg</a:t>
                      </a:r>
                      <a:r>
                        <a:rPr kumimoji="0" lang="en-US" sz="16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2250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2350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2480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2520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2690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752600" y="2438400"/>
            <a:ext cx="7010400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sz="2000" dirty="0" smtClean="0"/>
              <a:t>Find </a:t>
            </a:r>
            <a:r>
              <a:rPr lang="en-US" sz="2000" dirty="0"/>
              <a:t>the equation of regression </a:t>
            </a:r>
            <a:r>
              <a:rPr lang="en-US" sz="2000" dirty="0" smtClean="0"/>
              <a:t>line of amount of yield  on amount of fertilizer. How much of yield would you expect if you used 150 kg of fertilizer?</a:t>
            </a:r>
            <a:endParaRPr lang="en-US" sz="2000" b="1" dirty="0">
              <a:latin typeface="FMAbhaya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37575" y="3766253"/>
            <a:ext cx="7025425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ii </a:t>
            </a:r>
            <a:r>
              <a:rPr lang="en-US" sz="2000" dirty="0"/>
              <a:t>Find the coefficient of determination (R squared) and interpret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52600" y="337066"/>
            <a:ext cx="1431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Example 2</a:t>
            </a:r>
            <a:endParaRPr lang="en-US" sz="2000" b="1" dirty="0">
              <a:latin typeface="FMAbhay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78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BB5D-E654-44AF-ABC0-9A640D11D1B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558163"/>
              </p:ext>
            </p:extLst>
          </p:nvPr>
        </p:nvGraphicFramePr>
        <p:xfrm>
          <a:off x="1981200" y="457200"/>
          <a:ext cx="6858000" cy="1501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2217"/>
                <a:gridCol w="844550"/>
                <a:gridCol w="844550"/>
                <a:gridCol w="844550"/>
                <a:gridCol w="844550"/>
                <a:gridCol w="844550"/>
                <a:gridCol w="844550"/>
                <a:gridCol w="1398483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x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795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1387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kumimoji="0" lang="en-US" sz="20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</a:t>
                      </a:r>
                      <a:endParaRPr kumimoji="0" 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2250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2350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2480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2520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2690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14,790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1387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kumimoji="0" lang="en-US" sz="20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1" kern="1200" baseline="30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kumimoji="0" 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14400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15625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16900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18225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6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19600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21025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105,775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1387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kumimoji="0" lang="en-US" sz="2000" b="1" kern="120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xy</a:t>
                      </a:r>
                      <a:endParaRPr kumimoji="0" 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270000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293750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322400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337500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352800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390050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1,966,500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346026"/>
              </p:ext>
            </p:extLst>
          </p:nvPr>
        </p:nvGraphicFramePr>
        <p:xfrm>
          <a:off x="1828800" y="2133600"/>
          <a:ext cx="2819400" cy="910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3" name="Equation" r:id="rId3" imgW="1257120" imgH="431640" progId="Equation.3">
                  <p:embed/>
                </p:oleObj>
              </mc:Choice>
              <mc:Fallback>
                <p:oleObj name="Equation" r:id="rId3" imgW="125712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2819400" cy="910431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784117"/>
              </p:ext>
            </p:extLst>
          </p:nvPr>
        </p:nvGraphicFramePr>
        <p:xfrm>
          <a:off x="4800600" y="2133600"/>
          <a:ext cx="4191000" cy="81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4" name="Equation" r:id="rId5" imgW="2031840" imgH="419040" progId="Equation.3">
                  <p:embed/>
                </p:oleObj>
              </mc:Choice>
              <mc:Fallback>
                <p:oleObj name="Equation" r:id="rId5" imgW="20318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133600"/>
                        <a:ext cx="4191000" cy="811586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938722"/>
              </p:ext>
            </p:extLst>
          </p:nvPr>
        </p:nvGraphicFramePr>
        <p:xfrm>
          <a:off x="1828800" y="3200400"/>
          <a:ext cx="10747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5" name="Equation" r:id="rId7" imgW="520560" imgH="241200" progId="Equation.3">
                  <p:embed/>
                </p:oleObj>
              </mc:Choice>
              <mc:Fallback>
                <p:oleObj name="Equation" r:id="rId7" imgW="5205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00400"/>
                        <a:ext cx="1074737" cy="468313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358620"/>
              </p:ext>
            </p:extLst>
          </p:nvPr>
        </p:nvGraphicFramePr>
        <p:xfrm>
          <a:off x="2057400" y="3810000"/>
          <a:ext cx="1600200" cy="556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6" name="Equation" r:id="rId9" imgW="672808" imgH="241195" progId="Equation.3">
                  <p:embed/>
                </p:oleObj>
              </mc:Choice>
              <mc:Fallback>
                <p:oleObj name="Equation" r:id="rId9" imgW="672808" imgH="24119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810000"/>
                        <a:ext cx="1600200" cy="556023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127129"/>
              </p:ext>
            </p:extLst>
          </p:nvPr>
        </p:nvGraphicFramePr>
        <p:xfrm>
          <a:off x="2286000" y="4419600"/>
          <a:ext cx="3001962" cy="758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" name="Equation" r:id="rId11" imgW="1511280" imgH="393480" progId="Equation.3">
                  <p:embed/>
                </p:oleObj>
              </mc:Choice>
              <mc:Fallback>
                <p:oleObj name="Equation" r:id="rId11" imgW="1511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419600"/>
                        <a:ext cx="3001962" cy="758404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569960"/>
              </p:ext>
            </p:extLst>
          </p:nvPr>
        </p:nvGraphicFramePr>
        <p:xfrm>
          <a:off x="5410200" y="4572000"/>
          <a:ext cx="10080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" name="Equation" r:id="rId13" imgW="507960" imgH="241200" progId="Equation.3">
                  <p:embed/>
                </p:oleObj>
              </mc:Choice>
              <mc:Fallback>
                <p:oleObj name="Equation" r:id="rId13" imgW="5079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572000"/>
                        <a:ext cx="1008063" cy="465138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038644"/>
              </p:ext>
            </p:extLst>
          </p:nvPr>
        </p:nvGraphicFramePr>
        <p:xfrm>
          <a:off x="1804988" y="5367338"/>
          <a:ext cx="271621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9" name="Equation" r:id="rId15" imgW="1143000" imgH="279360" progId="Equation.3">
                  <p:embed/>
                </p:oleObj>
              </mc:Choice>
              <mc:Fallback>
                <p:oleObj name="Equation" r:id="rId15" imgW="11430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5367338"/>
                        <a:ext cx="2716212" cy="642937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1676400" y="0"/>
            <a:ext cx="1039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09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676400" y="0"/>
            <a:ext cx="1269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…solution</a:t>
            </a: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665212"/>
              </p:ext>
            </p:extLst>
          </p:nvPr>
        </p:nvGraphicFramePr>
        <p:xfrm>
          <a:off x="3200400" y="533400"/>
          <a:ext cx="2743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" name="Equation" r:id="rId3" imgW="1346200" imgH="482600" progId="Equation.3">
                  <p:embed/>
                </p:oleObj>
              </mc:Choice>
              <mc:Fallback>
                <p:oleObj name="Equation" r:id="rId3" imgW="1346200" imgH="482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33400"/>
                        <a:ext cx="2743200" cy="91440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279908"/>
              </p:ext>
            </p:extLst>
          </p:nvPr>
        </p:nvGraphicFramePr>
        <p:xfrm>
          <a:off x="2255838" y="1676400"/>
          <a:ext cx="46323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name="Equation" r:id="rId5" imgW="2273040" imgH="482400" progId="Equation.3">
                  <p:embed/>
                </p:oleObj>
              </mc:Choice>
              <mc:Fallback>
                <p:oleObj name="Equation" r:id="rId5" imgW="22730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1676400"/>
                        <a:ext cx="4632325" cy="914400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955687"/>
              </p:ext>
            </p:extLst>
          </p:nvPr>
        </p:nvGraphicFramePr>
        <p:xfrm>
          <a:off x="2220913" y="2732088"/>
          <a:ext cx="1449387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2" name="Equation" r:id="rId7" imgW="711000" imgH="253800" progId="Equation.3">
                  <p:embed/>
                </p:oleObj>
              </mc:Choice>
              <mc:Fallback>
                <p:oleObj name="Equation" r:id="rId7" imgW="711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0913" y="2732088"/>
                        <a:ext cx="1449387" cy="481012"/>
                      </a:xfrm>
                      <a:prstGeom prst="rect">
                        <a:avLst/>
                      </a:prstGeom>
                      <a:solidFill>
                        <a:srgbClr val="C6D9F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2133600" y="3581400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 interpret that the</a:t>
            </a:r>
          </a:p>
          <a:p>
            <a:r>
              <a:rPr lang="en-US" dirty="0" smtClean="0"/>
              <a:t>96.4% of the observations explained by regression.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65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886200" y="1905000"/>
            <a:ext cx="3429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Vladimir Script" panose="03050402040407070305" pitchFamily="66" charset="0"/>
              </a:rPr>
              <a:t>Thank you !</a:t>
            </a:r>
            <a:endParaRPr lang="en-US" sz="5400" dirty="0">
              <a:latin typeface="Vladimir Script" panose="03050402040407070305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8200" y="3124200"/>
            <a:ext cx="144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/>
              <a:t>END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0472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4647</TotalTime>
  <Words>657</Words>
  <Application>Microsoft Office PowerPoint</Application>
  <PresentationFormat>On-screen Show (4:3)</PresentationFormat>
  <Paragraphs>306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Century Schoolbook</vt:lpstr>
      <vt:lpstr>FMAbhaya</vt:lpstr>
      <vt:lpstr>Iskoola Pota</vt:lpstr>
      <vt:lpstr>Times New Roman</vt:lpstr>
      <vt:lpstr>Vladimir Script</vt:lpstr>
      <vt:lpstr>Wingdings</vt:lpstr>
      <vt:lpstr>Wingdings 2</vt:lpstr>
      <vt:lpstr>Oriel</vt:lpstr>
      <vt:lpstr>Equation</vt:lpstr>
      <vt:lpstr>PowerPoint Presentation</vt:lpstr>
      <vt:lpstr>Simple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</dc:title>
  <dc:creator>Jen</dc:creator>
  <cp:lastModifiedBy>dtc</cp:lastModifiedBy>
  <cp:revision>145</cp:revision>
  <dcterms:created xsi:type="dcterms:W3CDTF">2011-01-12T20:10:28Z</dcterms:created>
  <dcterms:modified xsi:type="dcterms:W3CDTF">2023-10-27T20:07:02Z</dcterms:modified>
</cp:coreProperties>
</file>