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5" r:id="rId1"/>
  </p:sldMasterIdLst>
  <p:notesMasterIdLst>
    <p:notesMasterId r:id="rId44"/>
  </p:notesMasterIdLst>
  <p:handoutMasterIdLst>
    <p:handoutMasterId r:id="rId45"/>
  </p:handoutMasterIdLst>
  <p:sldIdLst>
    <p:sldId id="319" r:id="rId2"/>
    <p:sldId id="323" r:id="rId3"/>
    <p:sldId id="324" r:id="rId4"/>
    <p:sldId id="325" r:id="rId5"/>
    <p:sldId id="326" r:id="rId6"/>
    <p:sldId id="327" r:id="rId7"/>
    <p:sldId id="331" r:id="rId8"/>
    <p:sldId id="332" r:id="rId9"/>
    <p:sldId id="333" r:id="rId10"/>
    <p:sldId id="334" r:id="rId11"/>
    <p:sldId id="336" r:id="rId12"/>
    <p:sldId id="362" r:id="rId13"/>
    <p:sldId id="338" r:id="rId14"/>
    <p:sldId id="339" r:id="rId15"/>
    <p:sldId id="258" r:id="rId16"/>
    <p:sldId id="259" r:id="rId17"/>
    <p:sldId id="310" r:id="rId18"/>
    <p:sldId id="311" r:id="rId19"/>
    <p:sldId id="313" r:id="rId20"/>
    <p:sldId id="304" r:id="rId21"/>
    <p:sldId id="315" r:id="rId22"/>
    <p:sldId id="316" r:id="rId23"/>
    <p:sldId id="317" r:id="rId24"/>
    <p:sldId id="305" r:id="rId25"/>
    <p:sldId id="363" r:id="rId26"/>
    <p:sldId id="364" r:id="rId27"/>
    <p:sldId id="260" r:id="rId28"/>
    <p:sldId id="261" r:id="rId29"/>
    <p:sldId id="262" r:id="rId30"/>
    <p:sldId id="340" r:id="rId31"/>
    <p:sldId id="341" r:id="rId32"/>
    <p:sldId id="342" r:id="rId33"/>
    <p:sldId id="343" r:id="rId34"/>
    <p:sldId id="366" r:id="rId35"/>
    <p:sldId id="344" r:id="rId36"/>
    <p:sldId id="345" r:id="rId37"/>
    <p:sldId id="368" r:id="rId38"/>
    <p:sldId id="347" r:id="rId39"/>
    <p:sldId id="348" r:id="rId40"/>
    <p:sldId id="350" r:id="rId41"/>
    <p:sldId id="263" r:id="rId42"/>
    <p:sldId id="373" r:id="rId43"/>
  </p:sldIdLst>
  <p:sldSz cx="9144000" cy="6858000" type="screen4x3"/>
  <p:notesSz cx="6858000" cy="9199563"/>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97">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909"/>
    </p:cViewPr>
  </p:sorterViewPr>
  <p:notesViewPr>
    <p:cSldViewPr>
      <p:cViewPr varScale="1">
        <p:scale>
          <a:sx n="29" d="100"/>
          <a:sy n="29" d="100"/>
        </p:scale>
        <p:origin x="-1253" y="-62"/>
      </p:cViewPr>
      <p:guideLst>
        <p:guide orient="horz" pos="2897"/>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87043" name="Rectangle 3"/>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a:lvl1pPr>
          </a:lstStyle>
          <a:p>
            <a:endParaRPr lang="en-US"/>
          </a:p>
        </p:txBody>
      </p:sp>
      <p:sp>
        <p:nvSpPr>
          <p:cNvPr id="87044" name="Rectangle 4"/>
          <p:cNvSpPr>
            <a:spLocks noGrp="1" noChangeArrowheads="1"/>
          </p:cNvSpPr>
          <p:nvPr>
            <p:ph type="ftr" sz="quarter" idx="2"/>
          </p:nvPr>
        </p:nvSpPr>
        <p:spPr bwMode="auto">
          <a:xfrm>
            <a:off x="0" y="87630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87045" name="Rectangle 5"/>
          <p:cNvSpPr>
            <a:spLocks noGrp="1" noChangeArrowheads="1"/>
          </p:cNvSpPr>
          <p:nvPr>
            <p:ph type="sldNum" sz="quarter" idx="3"/>
          </p:nvPr>
        </p:nvSpPr>
        <p:spPr bwMode="auto">
          <a:xfrm>
            <a:off x="3886200" y="87630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8C907665-1CD0-43FF-B1AC-15A03FF75256}" type="slidenum">
              <a:rPr lang="en-US"/>
              <a:pPr/>
              <a:t>‹#›</a:t>
            </a:fld>
            <a:endParaRPr lang="en-US"/>
          </a:p>
        </p:txBody>
      </p:sp>
    </p:spTree>
    <p:extLst>
      <p:ext uri="{BB962C8B-B14F-4D97-AF65-F5344CB8AC3E}">
        <p14:creationId xmlns:p14="http://schemas.microsoft.com/office/powerpoint/2010/main" val="19117444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60375"/>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50179" name="Rectangle 3"/>
          <p:cNvSpPr>
            <a:spLocks noGrp="1" noChangeArrowheads="1"/>
          </p:cNvSpPr>
          <p:nvPr>
            <p:ph type="dt" idx="1"/>
          </p:nvPr>
        </p:nvSpPr>
        <p:spPr bwMode="auto">
          <a:xfrm>
            <a:off x="3886200" y="0"/>
            <a:ext cx="2971800" cy="460375"/>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a:lvl1pPr>
          </a:lstStyle>
          <a:p>
            <a:endParaRPr lang="en-US"/>
          </a:p>
        </p:txBody>
      </p:sp>
      <p:sp>
        <p:nvSpPr>
          <p:cNvPr id="50180" name="Rectangle 4"/>
          <p:cNvSpPr>
            <a:spLocks noGrp="1" noRot="1" noChangeAspect="1" noChangeArrowheads="1" noTextEdit="1"/>
          </p:cNvSpPr>
          <p:nvPr>
            <p:ph type="sldImg" idx="2"/>
          </p:nvPr>
        </p:nvSpPr>
        <p:spPr bwMode="auto">
          <a:xfrm>
            <a:off x="1130300" y="690563"/>
            <a:ext cx="4598988" cy="3449637"/>
          </a:xfrm>
          <a:prstGeom prst="rect">
            <a:avLst/>
          </a:prstGeom>
          <a:noFill/>
          <a:ln w="9525">
            <a:solidFill>
              <a:srgbClr val="000000"/>
            </a:solidFill>
            <a:miter lim="800000"/>
            <a:headEnd/>
            <a:tailEnd/>
          </a:ln>
          <a:effectLst/>
        </p:spPr>
      </p:sp>
      <p:sp>
        <p:nvSpPr>
          <p:cNvPr id="50181" name="Rectangle 5"/>
          <p:cNvSpPr>
            <a:spLocks noGrp="1" noChangeArrowheads="1"/>
          </p:cNvSpPr>
          <p:nvPr>
            <p:ph type="body" sz="quarter" idx="3"/>
          </p:nvPr>
        </p:nvSpPr>
        <p:spPr bwMode="auto">
          <a:xfrm>
            <a:off x="914400" y="4370388"/>
            <a:ext cx="5029200" cy="4138612"/>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0182" name="Rectangle 6"/>
          <p:cNvSpPr>
            <a:spLocks noGrp="1" noChangeArrowheads="1"/>
          </p:cNvSpPr>
          <p:nvPr>
            <p:ph type="ftr" sz="quarter" idx="4"/>
          </p:nvPr>
        </p:nvSpPr>
        <p:spPr bwMode="auto">
          <a:xfrm>
            <a:off x="0" y="8739188"/>
            <a:ext cx="2971800" cy="460375"/>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50183" name="Rectangle 7"/>
          <p:cNvSpPr>
            <a:spLocks noGrp="1" noChangeArrowheads="1"/>
          </p:cNvSpPr>
          <p:nvPr>
            <p:ph type="sldNum" sz="quarter" idx="5"/>
          </p:nvPr>
        </p:nvSpPr>
        <p:spPr bwMode="auto">
          <a:xfrm>
            <a:off x="3886200" y="8739188"/>
            <a:ext cx="2971800" cy="460375"/>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4C6FA95C-7271-4044-80BF-FC5D11D33877}" type="slidenum">
              <a:rPr lang="en-US"/>
              <a:pPr/>
              <a:t>‹#›</a:t>
            </a:fld>
            <a:endParaRPr lang="en-US"/>
          </a:p>
        </p:txBody>
      </p:sp>
    </p:spTree>
    <p:extLst>
      <p:ext uri="{BB962C8B-B14F-4D97-AF65-F5344CB8AC3E}">
        <p14:creationId xmlns:p14="http://schemas.microsoft.com/office/powerpoint/2010/main" val="18768247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253D83-BDD3-4378-A00F-2830AB32F985}" type="slidenum">
              <a:rPr lang="en-US"/>
              <a:pPr/>
              <a:t>29</a:t>
            </a:fld>
            <a:endParaRPr 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54125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F8030-0F5D-439B-B5A4-81F53C3EF9AA}"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B33F2B-94B4-4378-A96C-B69D22D98907}"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1A6424-3BBF-40CF-9E58-3F4B24B5F19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02767-5315-4381-ABB0-EA5722A604A1}"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9429B2-A10F-4551-85F4-11E8474BBAE9}"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712C6C-196D-46F7-8E73-F3A41447554A}"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3FF07C-680D-43FB-A610-123B68943544}"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2E79EC-31A7-4578-9FD7-5319E22FE9E9}"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F933A8CF-A742-4FCF-BDC6-837BAEB3D38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E95C0A-D5D5-4E3D-80DB-BEBA19F7AD31}" type="slidenum">
              <a:rPr lang="en-US" smtClean="0"/>
              <a:pPr/>
              <a:t>‹#›</a:t>
            </a:fld>
            <a:endParaRPr lang="en-US"/>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869C7B06-453E-44F4-9D46-36AFA3BC10A0}" type="slidenum">
              <a:rPr lang="en-US" smtClean="0"/>
              <a:pPr/>
              <a:t>‹#›</a:t>
            </a:fld>
            <a:endParaRPr lang="en-US"/>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582E775D-D0B7-42E4-AE22-C612EDA8279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ransition/>
  <p:timing>
    <p:tnLst>
      <p:par>
        <p:cTn id="1" dur="indefinite" restart="never" nodeType="tmRoot"/>
      </p:par>
    </p:tnLst>
  </p:timing>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4"/>
          <p:cNvSpPr>
            <a:spLocks noGrp="1" noChangeArrowheads="1"/>
          </p:cNvSpPr>
          <p:nvPr>
            <p:ph type="ctrTitle" idx="4294967295"/>
          </p:nvPr>
        </p:nvSpPr>
        <p:spPr>
          <a:xfrm>
            <a:off x="1066800" y="3355975"/>
            <a:ext cx="8077200" cy="1673225"/>
          </a:xfrm>
        </p:spPr>
        <p:txBody>
          <a:bodyPr/>
          <a:lstStyle/>
          <a:p>
            <a:r>
              <a:rPr lang="en-US" dirty="0" smtClean="0"/>
              <a:t>Microbes in Water</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flicka"/>
          <p:cNvPicPr>
            <a:picLocks noChangeAspect="1" noChangeArrowheads="1"/>
          </p:cNvPicPr>
          <p:nvPr/>
        </p:nvPicPr>
        <p:blipFill>
          <a:blip r:embed="rId2"/>
          <a:srcRect r="13669"/>
          <a:stretch>
            <a:fillRect/>
          </a:stretch>
        </p:blipFill>
        <p:spPr bwMode="auto">
          <a:xfrm>
            <a:off x="0" y="0"/>
            <a:ext cx="9144000" cy="6877050"/>
          </a:xfrm>
          <a:prstGeom prst="rect">
            <a:avLst/>
          </a:prstGeom>
          <a:noFill/>
        </p:spPr>
      </p:pic>
      <p:pic>
        <p:nvPicPr>
          <p:cNvPr id="113667" name="Picture 3" descr="unepgefhik_white"/>
          <p:cNvPicPr>
            <a:picLocks noChangeAspect="1" noChangeArrowheads="1"/>
          </p:cNvPicPr>
          <p:nvPr/>
        </p:nvPicPr>
        <p:blipFill>
          <a:blip r:embed="rId3"/>
          <a:srcRect/>
          <a:stretch>
            <a:fillRect/>
          </a:stretch>
        </p:blipFill>
        <p:spPr bwMode="auto">
          <a:xfrm>
            <a:off x="8093075" y="63500"/>
            <a:ext cx="914400" cy="238125"/>
          </a:xfrm>
          <a:prstGeom prst="rect">
            <a:avLst/>
          </a:prstGeom>
          <a:noFill/>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noChangeArrowheads="1"/>
          </p:cNvSpPr>
          <p:nvPr>
            <p:ph idx="4294967295"/>
          </p:nvPr>
        </p:nvSpPr>
        <p:spPr>
          <a:xfrm>
            <a:off x="0" y="1774825"/>
            <a:ext cx="8229600" cy="4625975"/>
          </a:xfrm>
        </p:spPr>
        <p:txBody>
          <a:bodyPr/>
          <a:lstStyle/>
          <a:p>
            <a:pPr>
              <a:buFontTx/>
              <a:buNone/>
            </a:pPr>
            <a:r>
              <a:rPr lang="en-US"/>
              <a:t>Drinking water: Water that is safe to consume and free of pathogenic organisms and chemical substances that are harmful to human health.</a:t>
            </a:r>
          </a:p>
          <a:p>
            <a:pPr>
              <a:buFontTx/>
              <a:buNone/>
            </a:pPr>
            <a:r>
              <a:rPr lang="en-US"/>
              <a:t> </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idx="4294967295"/>
          </p:nvPr>
        </p:nvSpPr>
        <p:spPr>
          <a:xfrm>
            <a:off x="0" y="1774825"/>
            <a:ext cx="8229600" cy="4625975"/>
          </a:xfrm>
        </p:spPr>
        <p:txBody>
          <a:bodyPr/>
          <a:lstStyle/>
          <a:p>
            <a:pPr>
              <a:lnSpc>
                <a:spcPct val="90000"/>
              </a:lnSpc>
              <a:buFontTx/>
              <a:buNone/>
            </a:pPr>
            <a:r>
              <a:rPr lang="en-US" sz="2800" b="1"/>
              <a:t>Obtained from</a:t>
            </a:r>
          </a:p>
          <a:p>
            <a:pPr>
              <a:lnSpc>
                <a:spcPct val="90000"/>
              </a:lnSpc>
              <a:buFontTx/>
              <a:buNone/>
            </a:pPr>
            <a:r>
              <a:rPr lang="en-US" sz="2800"/>
              <a:t>Rain water</a:t>
            </a:r>
          </a:p>
          <a:p>
            <a:pPr>
              <a:lnSpc>
                <a:spcPct val="90000"/>
              </a:lnSpc>
              <a:buFontTx/>
              <a:buNone/>
            </a:pPr>
            <a:r>
              <a:rPr lang="en-US" sz="2800"/>
              <a:t>Surface water (rivers and streams)</a:t>
            </a:r>
          </a:p>
          <a:p>
            <a:pPr>
              <a:lnSpc>
                <a:spcPct val="90000"/>
              </a:lnSpc>
              <a:buFontTx/>
              <a:buNone/>
            </a:pPr>
            <a:r>
              <a:rPr lang="en-US" sz="2800"/>
              <a:t>Stored water</a:t>
            </a:r>
          </a:p>
          <a:p>
            <a:pPr>
              <a:lnSpc>
                <a:spcPct val="90000"/>
              </a:lnSpc>
              <a:buFontTx/>
              <a:buNone/>
            </a:pPr>
            <a:r>
              <a:rPr lang="en-US" sz="2800"/>
              <a:t>Ground water( wells and springs- filters through successive layers of sand).</a:t>
            </a:r>
          </a:p>
          <a:p>
            <a:pPr>
              <a:lnSpc>
                <a:spcPct val="90000"/>
              </a:lnSpc>
              <a:buFontTx/>
              <a:buNone/>
            </a:pPr>
            <a:r>
              <a:rPr lang="en-US" sz="2800"/>
              <a:t>Sea water</a:t>
            </a:r>
          </a:p>
          <a:p>
            <a:pPr>
              <a:lnSpc>
                <a:spcPct val="90000"/>
              </a:lnSpc>
              <a:buFontTx/>
              <a:buNone/>
            </a:pPr>
            <a:endParaRPr lang="en-US" sz="2800"/>
          </a:p>
          <a:p>
            <a:pPr>
              <a:lnSpc>
                <a:spcPct val="90000"/>
              </a:lnSpc>
              <a:buFontTx/>
              <a:buNone/>
            </a:pPr>
            <a:r>
              <a:rPr lang="en-US" sz="2800"/>
              <a:t> </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idx="4294967295"/>
          </p:nvPr>
        </p:nvSpPr>
        <p:spPr>
          <a:xfrm>
            <a:off x="0" y="155575"/>
            <a:ext cx="8229600" cy="1252538"/>
          </a:xfrm>
        </p:spPr>
        <p:txBody>
          <a:bodyPr>
            <a:normAutofit/>
          </a:bodyPr>
          <a:lstStyle/>
          <a:p>
            <a:r>
              <a:rPr lang="en-US" sz="4000"/>
              <a:t>Quality standards of drinking water</a:t>
            </a:r>
          </a:p>
        </p:txBody>
      </p:sp>
      <p:sp>
        <p:nvSpPr>
          <p:cNvPr id="116739" name="Rectangle 3"/>
          <p:cNvSpPr>
            <a:spLocks noGrp="1" noChangeArrowheads="1"/>
          </p:cNvSpPr>
          <p:nvPr>
            <p:ph idx="4294967295"/>
          </p:nvPr>
        </p:nvSpPr>
        <p:spPr>
          <a:xfrm>
            <a:off x="0" y="1774825"/>
            <a:ext cx="8229600" cy="4625975"/>
          </a:xfrm>
        </p:spPr>
        <p:txBody>
          <a:bodyPr/>
          <a:lstStyle/>
          <a:p>
            <a:pPr>
              <a:lnSpc>
                <a:spcPct val="90000"/>
              </a:lnSpc>
              <a:buFontTx/>
              <a:buNone/>
            </a:pPr>
            <a:r>
              <a:rPr lang="en-US"/>
              <a:t>Physical: colour, clarity, taste,odour, amount of suspended solids</a:t>
            </a:r>
          </a:p>
          <a:p>
            <a:pPr>
              <a:lnSpc>
                <a:spcPct val="90000"/>
              </a:lnSpc>
              <a:buFontTx/>
              <a:buNone/>
            </a:pPr>
            <a:r>
              <a:rPr lang="en-US"/>
              <a:t>Chemical: pH, amount of dissolved solids, hardness, amount of nitrogenous matter</a:t>
            </a:r>
          </a:p>
          <a:p>
            <a:pPr>
              <a:lnSpc>
                <a:spcPct val="90000"/>
              </a:lnSpc>
              <a:buFontTx/>
              <a:buNone/>
            </a:pPr>
            <a:r>
              <a:rPr lang="en-US"/>
              <a:t>Biological: Bacteriological content, amount of dissolved oxygen (BOD)</a:t>
            </a:r>
          </a:p>
          <a:p>
            <a:pPr>
              <a:lnSpc>
                <a:spcPct val="90000"/>
              </a:lnSpc>
              <a:buFontTx/>
              <a:buNone/>
            </a:pPr>
            <a:r>
              <a:rPr lang="en-US"/>
              <a:t>Properties required for drinking water</a:t>
            </a:r>
          </a:p>
          <a:p>
            <a:pPr>
              <a:lnSpc>
                <a:spcPct val="90000"/>
              </a:lnSpc>
              <a:buFontTx/>
              <a:buNone/>
            </a:pPr>
            <a:r>
              <a:rPr lang="en-US"/>
              <a:t>Tasteless, colourless, cool, clear and free of pathogens.  </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p:cNvSpPr>
            <a:spLocks noGrp="1" noChangeArrowheads="1"/>
          </p:cNvSpPr>
          <p:nvPr>
            <p:ph idx="4294967295"/>
          </p:nvPr>
        </p:nvSpPr>
        <p:spPr>
          <a:xfrm>
            <a:off x="0" y="1774825"/>
            <a:ext cx="8229600" cy="4625975"/>
          </a:xfrm>
        </p:spPr>
        <p:txBody>
          <a:bodyPr/>
          <a:lstStyle/>
          <a:p>
            <a:pPr>
              <a:buFontTx/>
              <a:buNone/>
            </a:pPr>
            <a:r>
              <a:rPr lang="en-US"/>
              <a:t>Drinking water guidelines which are followed:</a:t>
            </a:r>
          </a:p>
          <a:p>
            <a:pPr>
              <a:buFontTx/>
              <a:buNone/>
            </a:pPr>
            <a:r>
              <a:rPr lang="en-US"/>
              <a:t>US public health service</a:t>
            </a:r>
          </a:p>
          <a:p>
            <a:pPr>
              <a:buFontTx/>
              <a:buNone/>
            </a:pPr>
            <a:r>
              <a:rPr lang="en-US"/>
              <a:t>World health organization (WHO)</a:t>
            </a:r>
          </a:p>
          <a:p>
            <a:pPr>
              <a:buFontTx/>
              <a:buNone/>
            </a:pPr>
            <a:r>
              <a:rPr lang="en-US"/>
              <a:t>Environmental protection agency (EPA).</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idx="4294967295"/>
          </p:nvPr>
        </p:nvSpPr>
        <p:spPr>
          <a:xfrm>
            <a:off x="0" y="155575"/>
            <a:ext cx="8229600" cy="1252538"/>
          </a:xfrm>
        </p:spPr>
        <p:txBody>
          <a:bodyPr/>
          <a:lstStyle/>
          <a:p>
            <a:r>
              <a:rPr lang="en-US"/>
              <a:t>Water pollution</a:t>
            </a:r>
          </a:p>
        </p:txBody>
      </p:sp>
      <p:sp>
        <p:nvSpPr>
          <p:cNvPr id="123907" name="Rectangle 3"/>
          <p:cNvSpPr>
            <a:spLocks noGrp="1" noChangeArrowheads="1"/>
          </p:cNvSpPr>
          <p:nvPr>
            <p:ph idx="4294967295"/>
          </p:nvPr>
        </p:nvSpPr>
        <p:spPr>
          <a:xfrm>
            <a:off x="0" y="1774825"/>
            <a:ext cx="8229600" cy="4625975"/>
          </a:xfrm>
        </p:spPr>
        <p:txBody>
          <a:bodyPr/>
          <a:lstStyle/>
          <a:p>
            <a:r>
              <a:rPr lang="en-US"/>
              <a:t>Any physical or chemical change in water that adversely affects the health of the human and other organisms.  </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1485900" y="406400"/>
            <a:ext cx="6134100" cy="519113"/>
          </a:xfrm>
          <a:prstGeom prst="rect">
            <a:avLst/>
          </a:prstGeom>
          <a:noFill/>
          <a:ln w="9525">
            <a:noFill/>
            <a:miter lim="800000"/>
            <a:headEnd/>
            <a:tailEnd/>
          </a:ln>
          <a:effectLst/>
        </p:spPr>
        <p:txBody>
          <a:bodyPr wrap="none">
            <a:spAutoFit/>
          </a:bodyPr>
          <a:lstStyle/>
          <a:p>
            <a:r>
              <a:rPr lang="en-US" sz="2800" b="1">
                <a:latin typeface="Arial" charset="0"/>
              </a:rPr>
              <a:t>Water Pollution and Eutrophication</a:t>
            </a:r>
          </a:p>
        </p:txBody>
      </p:sp>
      <p:sp>
        <p:nvSpPr>
          <p:cNvPr id="124931" name="Text Box 3"/>
          <p:cNvSpPr txBox="1">
            <a:spLocks noChangeArrowheads="1"/>
          </p:cNvSpPr>
          <p:nvPr/>
        </p:nvSpPr>
        <p:spPr bwMode="auto">
          <a:xfrm>
            <a:off x="2895600" y="1447800"/>
            <a:ext cx="3078163" cy="3378200"/>
          </a:xfrm>
          <a:prstGeom prst="rect">
            <a:avLst/>
          </a:prstGeom>
          <a:noFill/>
          <a:ln w="9525">
            <a:noFill/>
            <a:miter lim="800000"/>
            <a:headEnd/>
            <a:tailEnd/>
          </a:ln>
          <a:effectLst/>
        </p:spPr>
        <p:txBody>
          <a:bodyPr wrap="none">
            <a:spAutoFit/>
          </a:bodyPr>
          <a:lstStyle/>
          <a:p>
            <a:r>
              <a:rPr lang="en-US" b="1">
                <a:latin typeface="Arial" charset="0"/>
              </a:rPr>
              <a:t>Pathogens</a:t>
            </a:r>
          </a:p>
          <a:p>
            <a:endParaRPr lang="en-US" b="1">
              <a:latin typeface="Arial" charset="0"/>
            </a:endParaRPr>
          </a:p>
          <a:p>
            <a:r>
              <a:rPr lang="en-US" b="1">
                <a:latin typeface="Arial" charset="0"/>
              </a:rPr>
              <a:t>Organic wastes</a:t>
            </a:r>
          </a:p>
          <a:p>
            <a:endParaRPr lang="en-US" b="1">
              <a:latin typeface="Arial" charset="0"/>
            </a:endParaRPr>
          </a:p>
          <a:p>
            <a:r>
              <a:rPr lang="en-US" b="1">
                <a:latin typeface="Arial" charset="0"/>
              </a:rPr>
              <a:t>Sediment</a:t>
            </a:r>
          </a:p>
          <a:p>
            <a:endParaRPr lang="en-US" b="1">
              <a:latin typeface="Arial" charset="0"/>
            </a:endParaRPr>
          </a:p>
          <a:p>
            <a:r>
              <a:rPr lang="en-US" b="1">
                <a:latin typeface="Arial" charset="0"/>
              </a:rPr>
              <a:t>Chemical pollutants</a:t>
            </a:r>
          </a:p>
          <a:p>
            <a:endParaRPr lang="en-US" b="1">
              <a:latin typeface="Arial" charset="0"/>
            </a:endParaRPr>
          </a:p>
          <a:p>
            <a:r>
              <a:rPr lang="en-US" b="1">
                <a:latin typeface="Arial" charset="0"/>
              </a:rPr>
              <a:t>Nutrients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idx="4294967295"/>
          </p:nvPr>
        </p:nvSpPr>
        <p:spPr>
          <a:xfrm>
            <a:off x="0" y="155575"/>
            <a:ext cx="8229600" cy="1252538"/>
          </a:xfrm>
        </p:spPr>
        <p:txBody>
          <a:bodyPr>
            <a:normAutofit fontScale="90000"/>
          </a:bodyPr>
          <a:lstStyle/>
          <a:p>
            <a:r>
              <a:rPr lang="en-US" sz="4000"/>
              <a:t>Eutrophication: an enrichment problem</a:t>
            </a:r>
          </a:p>
        </p:txBody>
      </p:sp>
      <p:sp>
        <p:nvSpPr>
          <p:cNvPr id="125955" name="Rectangle 3"/>
          <p:cNvSpPr>
            <a:spLocks noGrp="1" noChangeArrowheads="1"/>
          </p:cNvSpPr>
          <p:nvPr>
            <p:ph idx="4294967295"/>
          </p:nvPr>
        </p:nvSpPr>
        <p:spPr>
          <a:xfrm>
            <a:off x="0" y="1774825"/>
            <a:ext cx="8229600" cy="4625975"/>
          </a:xfrm>
        </p:spPr>
        <p:txBody>
          <a:bodyPr/>
          <a:lstStyle/>
          <a:p>
            <a:r>
              <a:rPr lang="en-US"/>
              <a:t>Lake, estuaries and slow flowing streams that have minimal levels of nutrients are unenriched  called as an oligotrophic lake.</a:t>
            </a:r>
          </a:p>
          <a:p>
            <a:endParaRPr lang="en-US"/>
          </a:p>
          <a:p>
            <a:r>
              <a:rPr lang="en-US"/>
              <a:t>It has clear water and small populations of aquatic organisms.   </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idx="4294967295"/>
          </p:nvPr>
        </p:nvSpPr>
        <p:spPr>
          <a:xfrm>
            <a:off x="0" y="1774825"/>
            <a:ext cx="8229600" cy="4625975"/>
          </a:xfrm>
        </p:spPr>
        <p:txBody>
          <a:bodyPr/>
          <a:lstStyle/>
          <a:p>
            <a:pPr>
              <a:lnSpc>
                <a:spcPct val="90000"/>
              </a:lnSpc>
              <a:buFontTx/>
              <a:buNone/>
            </a:pPr>
            <a:r>
              <a:rPr lang="en-US" sz="2800"/>
              <a:t>Eutrophication is the enrichment of a lake, estuary or slow flowing stream by inorganic plant and algal nutrients.</a:t>
            </a:r>
          </a:p>
          <a:p>
            <a:pPr>
              <a:lnSpc>
                <a:spcPct val="90000"/>
              </a:lnSpc>
              <a:buFontTx/>
              <a:buNone/>
            </a:pPr>
            <a:endParaRPr lang="en-US" sz="2800"/>
          </a:p>
          <a:p>
            <a:pPr>
              <a:lnSpc>
                <a:spcPct val="90000"/>
              </a:lnSpc>
              <a:buFontTx/>
              <a:buNone/>
            </a:pPr>
            <a:r>
              <a:rPr lang="en-US" sz="2800"/>
              <a:t>The enrichment of water results in an increased photosynthetic productivity.</a:t>
            </a:r>
          </a:p>
          <a:p>
            <a:pPr>
              <a:lnSpc>
                <a:spcPct val="90000"/>
              </a:lnSpc>
              <a:buFontTx/>
              <a:buNone/>
            </a:pPr>
            <a:r>
              <a:rPr lang="en-US" sz="2800"/>
              <a:t>The water in a eutrophic lake is cloudy and usually has vast numbers of algae and cyanobacteria.    </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2274888" y="1857375"/>
            <a:ext cx="9144000" cy="0"/>
          </a:xfrm>
          <a:prstGeom prst="rect">
            <a:avLst/>
          </a:prstGeom>
          <a:noFill/>
          <a:ln w="9525">
            <a:noFill/>
            <a:miter lim="800000"/>
            <a:headEnd/>
            <a:tailEnd/>
          </a:ln>
          <a:effectLst/>
        </p:spPr>
        <p:txBody>
          <a:bodyPr>
            <a:spAutoFit/>
          </a:bodyPr>
          <a:lstStyle/>
          <a:p>
            <a:endParaRPr lang="en-US" i="1"/>
          </a:p>
        </p:txBody>
      </p:sp>
      <p:pic>
        <p:nvPicPr>
          <p:cNvPr id="130051" name="Picture 3" descr="photo2"/>
          <p:cNvPicPr>
            <a:picLocks noChangeAspect="1" noChangeArrowheads="1"/>
          </p:cNvPicPr>
          <p:nvPr/>
        </p:nvPicPr>
        <p:blipFill>
          <a:blip r:embed="rId2"/>
          <a:srcRect/>
          <a:stretch>
            <a:fillRect/>
          </a:stretch>
        </p:blipFill>
        <p:spPr bwMode="auto">
          <a:xfrm>
            <a:off x="0" y="301625"/>
            <a:ext cx="9144000" cy="6254750"/>
          </a:xfrm>
          <a:prstGeom prst="rect">
            <a:avLst/>
          </a:prstGeom>
          <a:noFill/>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Rectangle 3"/>
          <p:cNvSpPr>
            <a:spLocks noGrp="1" noChangeArrowheads="1"/>
          </p:cNvSpPr>
          <p:nvPr>
            <p:ph idx="4294967295"/>
          </p:nvPr>
        </p:nvSpPr>
        <p:spPr>
          <a:xfrm>
            <a:off x="0" y="1774825"/>
            <a:ext cx="8229600" cy="4625975"/>
          </a:xfrm>
        </p:spPr>
        <p:txBody>
          <a:bodyPr>
            <a:normAutofit/>
          </a:bodyPr>
          <a:lstStyle/>
          <a:p>
            <a:pPr>
              <a:buFontTx/>
              <a:buNone/>
            </a:pPr>
            <a:r>
              <a:rPr lang="en-US" sz="2800">
                <a:latin typeface="Times New Roman" pitchFamily="18" charset="0"/>
              </a:rPr>
              <a:t>Pollution </a:t>
            </a:r>
            <a:r>
              <a:rPr lang="en-US" sz="2800">
                <a:latin typeface="Times New Roman" pitchFamily="18" charset="0"/>
                <a:sym typeface="Wingdings" pitchFamily="2" charset="2"/>
              </a:rPr>
              <a:t></a:t>
            </a:r>
            <a:r>
              <a:rPr lang="en-US" sz="2800">
                <a:latin typeface="Times New Roman" pitchFamily="18" charset="0"/>
              </a:rPr>
              <a:t>       effects man, flora and fauna</a:t>
            </a:r>
          </a:p>
          <a:p>
            <a:pPr>
              <a:buFontTx/>
              <a:buNone/>
            </a:pPr>
            <a:r>
              <a:rPr lang="en-US" sz="2800">
                <a:latin typeface="Times New Roman" pitchFamily="18" charset="0"/>
              </a:rPr>
              <a:t>Addition of chemicals to water</a:t>
            </a:r>
          </a:p>
          <a:p>
            <a:pPr>
              <a:buFontTx/>
              <a:buNone/>
            </a:pPr>
            <a:r>
              <a:rPr lang="en-US" sz="2800">
                <a:latin typeface="Times New Roman" pitchFamily="18" charset="0"/>
              </a:rPr>
              <a:t>Pesticide residues</a:t>
            </a:r>
          </a:p>
          <a:p>
            <a:pPr>
              <a:buFontTx/>
              <a:buNone/>
            </a:pPr>
            <a:r>
              <a:rPr lang="en-US" sz="2800">
                <a:latin typeface="Times New Roman" pitchFamily="18" charset="0"/>
              </a:rPr>
              <a:t>Other toxic chemicals</a:t>
            </a:r>
          </a:p>
          <a:p>
            <a:pPr>
              <a:buFontTx/>
              <a:buNone/>
            </a:pPr>
            <a:r>
              <a:rPr lang="en-US" sz="2800">
                <a:latin typeface="Times New Roman" pitchFamily="18" charset="0"/>
              </a:rPr>
              <a:t>Algal toxins</a:t>
            </a:r>
          </a:p>
          <a:p>
            <a:pPr>
              <a:buFontTx/>
              <a:buNone/>
            </a:pPr>
            <a:r>
              <a:rPr lang="en-US" sz="2800">
                <a:latin typeface="Times New Roman" pitchFamily="18" charset="0"/>
              </a:rPr>
              <a:t>Fecal contamination (microbial)</a:t>
            </a:r>
            <a:r>
              <a:rPr lang="en-US" sz="2800">
                <a:latin typeface="Times New Roman" pitchFamily="18" charset="0"/>
                <a:sym typeface="Wingdings" pitchFamily="2" charset="2"/>
              </a:rPr>
              <a:t> Water borne diseases</a:t>
            </a:r>
          </a:p>
          <a:p>
            <a:pPr>
              <a:buFontTx/>
              <a:buNone/>
            </a:pPr>
            <a:r>
              <a:rPr lang="en-US" sz="2800">
                <a:latin typeface="Times New Roman" pitchFamily="18" charset="0"/>
                <a:sym typeface="Wingdings" pitchFamily="2" charset="2"/>
              </a:rPr>
              <a:t> contaminated drinking water has become a major threat. </a:t>
            </a:r>
            <a:endParaRPr lang="en-US" sz="2800">
              <a:latin typeface="Times New Roman" pitchFamily="18" charset="0"/>
            </a:endParaRPr>
          </a:p>
        </p:txBody>
      </p:sp>
      <p:sp>
        <p:nvSpPr>
          <p:cNvPr id="181253" name="Line 5"/>
          <p:cNvSpPr>
            <a:spLocks noChangeShapeType="1"/>
          </p:cNvSpPr>
          <p:nvPr/>
        </p:nvSpPr>
        <p:spPr bwMode="auto">
          <a:xfrm>
            <a:off x="3581400" y="1981200"/>
            <a:ext cx="0" cy="0"/>
          </a:xfrm>
          <a:prstGeom prst="line">
            <a:avLst/>
          </a:prstGeom>
          <a:noFill/>
          <a:ln w="12700">
            <a:solidFill>
              <a:schemeClr val="tx1"/>
            </a:solidFill>
            <a:round/>
            <a:headEnd type="none" w="sm" len="sm"/>
            <a:tailEnd type="triangle" w="sm" len="sm"/>
          </a:ln>
          <a:effectLst/>
        </p:spPr>
        <p:txBody>
          <a:bodyPr/>
          <a:lstStyle/>
          <a:p>
            <a:endParaRPr lang="en-US"/>
          </a:p>
        </p:txBody>
      </p:sp>
      <p:sp>
        <p:nvSpPr>
          <p:cNvPr id="181256" name="Line 8"/>
          <p:cNvSpPr>
            <a:spLocks noChangeShapeType="1"/>
          </p:cNvSpPr>
          <p:nvPr/>
        </p:nvSpPr>
        <p:spPr bwMode="auto">
          <a:xfrm>
            <a:off x="2590800" y="1905000"/>
            <a:ext cx="0" cy="0"/>
          </a:xfrm>
          <a:prstGeom prst="line">
            <a:avLst/>
          </a:prstGeom>
          <a:noFill/>
          <a:ln w="12700">
            <a:solidFill>
              <a:schemeClr val="tx1"/>
            </a:solidFill>
            <a:round/>
            <a:headEnd type="none" w="sm" len="sm"/>
            <a:tailEnd type="triangle" w="sm" len="sm"/>
          </a:ln>
          <a:effectLst/>
        </p:spPr>
        <p:txBody>
          <a:bodyPr/>
          <a:lstStyle/>
          <a:p>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bilde?Site=TO&amp;Date=20030821&amp;Category=NEWS06&amp;ArtNo=108210011&amp;Ref=V2&amp;MaxW=500&amp;title=1"/>
          <p:cNvPicPr>
            <a:picLocks noChangeAspect="1" noChangeArrowheads="1"/>
          </p:cNvPicPr>
          <p:nvPr/>
        </p:nvPicPr>
        <p:blipFill>
          <a:blip r:embed="rId2"/>
          <a:srcRect/>
          <a:stretch>
            <a:fillRect/>
          </a:stretch>
        </p:blipFill>
        <p:spPr bwMode="auto">
          <a:xfrm>
            <a:off x="1752600" y="1295400"/>
            <a:ext cx="4640263" cy="5410200"/>
          </a:xfrm>
          <a:prstGeom prst="rect">
            <a:avLst/>
          </a:prstGeom>
          <a:noFill/>
        </p:spPr>
      </p:pic>
      <p:sp>
        <p:nvSpPr>
          <p:cNvPr id="132099" name="Rectangle 3"/>
          <p:cNvSpPr>
            <a:spLocks noChangeArrowheads="1"/>
          </p:cNvSpPr>
          <p:nvPr/>
        </p:nvSpPr>
        <p:spPr bwMode="auto">
          <a:xfrm>
            <a:off x="1371600" y="0"/>
            <a:ext cx="5580063" cy="701675"/>
          </a:xfrm>
          <a:prstGeom prst="rect">
            <a:avLst/>
          </a:prstGeom>
          <a:noFill/>
          <a:ln w="9525">
            <a:noFill/>
            <a:miter lim="800000"/>
            <a:headEnd/>
            <a:tailEnd/>
          </a:ln>
          <a:effectLst/>
        </p:spPr>
        <p:txBody>
          <a:bodyPr wrap="none">
            <a:spAutoFit/>
          </a:bodyPr>
          <a:lstStyle/>
          <a:p>
            <a:pPr algn="ctr"/>
            <a:r>
              <a:rPr lang="en-US" sz="4000">
                <a:effectLst>
                  <a:outerShdw blurRad="38100" dist="38100" dir="2700000" algn="tl">
                    <a:srgbClr val="C0C0C0"/>
                  </a:outerShdw>
                </a:effectLst>
                <a:latin typeface="Arial" charset="0"/>
              </a:rPr>
              <a:t>Blue-green algae bloom</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2347913" y="4862513"/>
            <a:ext cx="160337" cy="819150"/>
          </a:xfrm>
          <a:prstGeom prst="rect">
            <a:avLst/>
          </a:prstGeom>
          <a:noFill/>
          <a:ln w="12700">
            <a:noFill/>
            <a:miter lim="800000"/>
            <a:headEnd/>
            <a:tailEnd/>
          </a:ln>
          <a:effectLst/>
        </p:spPr>
        <p:txBody>
          <a:bodyPr wrap="none" lIns="90488" tIns="44450" rIns="90488" bIns="44450">
            <a:spAutoFit/>
          </a:bodyPr>
          <a:lstStyle/>
          <a:p>
            <a:pPr eaLnBrk="0" hangingPunct="0"/>
            <a:endParaRPr lang="en-US">
              <a:latin typeface="Arial" charset="0"/>
            </a:endParaRPr>
          </a:p>
          <a:p>
            <a:pPr hangingPunct="0"/>
            <a:endParaRPr lang="en-US">
              <a:latin typeface="Arial" charset="0"/>
            </a:endParaRPr>
          </a:p>
        </p:txBody>
      </p:sp>
      <p:pic>
        <p:nvPicPr>
          <p:cNvPr id="133123" name="Picture 3" descr="microcystis2"/>
          <p:cNvPicPr>
            <a:picLocks noChangeAspect="1" noChangeArrowheads="1"/>
          </p:cNvPicPr>
          <p:nvPr/>
        </p:nvPicPr>
        <p:blipFill>
          <a:blip r:embed="rId2"/>
          <a:srcRect/>
          <a:stretch>
            <a:fillRect/>
          </a:stretch>
        </p:blipFill>
        <p:spPr bwMode="auto">
          <a:xfrm>
            <a:off x="4724400" y="2590800"/>
            <a:ext cx="3602038" cy="3657600"/>
          </a:xfrm>
          <a:prstGeom prst="rect">
            <a:avLst/>
          </a:prstGeom>
          <a:noFill/>
        </p:spPr>
      </p:pic>
      <p:pic>
        <p:nvPicPr>
          <p:cNvPr id="133124" name="Picture 4"/>
          <p:cNvPicPr>
            <a:picLocks noChangeAspect="1" noChangeArrowheads="1"/>
          </p:cNvPicPr>
          <p:nvPr/>
        </p:nvPicPr>
        <p:blipFill>
          <a:blip r:embed="rId3"/>
          <a:srcRect/>
          <a:stretch>
            <a:fillRect/>
          </a:stretch>
        </p:blipFill>
        <p:spPr bwMode="auto">
          <a:xfrm>
            <a:off x="838200" y="2362200"/>
            <a:ext cx="3279775" cy="3886200"/>
          </a:xfrm>
          <a:prstGeom prst="rect">
            <a:avLst/>
          </a:prstGeom>
          <a:noFill/>
          <a:ln w="9525">
            <a:noFill/>
            <a:miter lim="800000"/>
            <a:headEnd/>
            <a:tailEnd/>
          </a:ln>
          <a:effectLst/>
        </p:spPr>
      </p:pic>
      <p:sp>
        <p:nvSpPr>
          <p:cNvPr id="133125" name="Rectangle 5"/>
          <p:cNvSpPr>
            <a:spLocks noChangeArrowheads="1"/>
          </p:cNvSpPr>
          <p:nvPr/>
        </p:nvSpPr>
        <p:spPr bwMode="auto">
          <a:xfrm>
            <a:off x="2998788" y="762000"/>
            <a:ext cx="3305175" cy="1066800"/>
          </a:xfrm>
          <a:prstGeom prst="rect">
            <a:avLst/>
          </a:prstGeom>
          <a:noFill/>
          <a:ln w="9525">
            <a:noFill/>
            <a:miter lim="800000"/>
            <a:headEnd/>
            <a:tailEnd/>
          </a:ln>
          <a:effectLst/>
        </p:spPr>
        <p:txBody>
          <a:bodyPr wrap="none">
            <a:spAutoFit/>
          </a:bodyPr>
          <a:lstStyle/>
          <a:p>
            <a:pPr algn="ctr"/>
            <a:r>
              <a:rPr lang="en-US" sz="4000">
                <a:effectLst>
                  <a:outerShdw blurRad="38100" dist="38100" dir="2700000" algn="tl">
                    <a:srgbClr val="C0C0C0"/>
                  </a:outerShdw>
                </a:effectLst>
                <a:latin typeface="Arial" charset="0"/>
              </a:rPr>
              <a:t>Microcystis</a:t>
            </a:r>
          </a:p>
          <a:p>
            <a:pPr algn="ctr"/>
            <a:r>
              <a:rPr lang="en-US">
                <a:effectLst>
                  <a:outerShdw blurRad="38100" dist="38100" dir="2700000" algn="tl">
                    <a:srgbClr val="C0C0C0"/>
                  </a:outerShdw>
                </a:effectLst>
                <a:latin typeface="Arial" charset="0"/>
              </a:rPr>
              <a:t>A toxic blue-green alga</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155575"/>
            <a:ext cx="8229600" cy="1252538"/>
          </a:xfrm>
        </p:spPr>
        <p:txBody>
          <a:bodyPr>
            <a:normAutofit fontScale="90000"/>
          </a:bodyPr>
          <a:lstStyle/>
          <a:p>
            <a:r>
              <a:rPr lang="en-US"/>
              <a:t>Implications of Microbial Contamination of Water</a:t>
            </a:r>
          </a:p>
        </p:txBody>
      </p:sp>
      <p:sp>
        <p:nvSpPr>
          <p:cNvPr id="6147" name="Rectangle 3"/>
          <p:cNvSpPr>
            <a:spLocks noGrp="1" noChangeArrowheads="1"/>
          </p:cNvSpPr>
          <p:nvPr>
            <p:ph idx="4294967295"/>
          </p:nvPr>
        </p:nvSpPr>
        <p:spPr>
          <a:xfrm>
            <a:off x="0" y="1774825"/>
            <a:ext cx="8229600" cy="4625975"/>
          </a:xfrm>
        </p:spPr>
        <p:txBody>
          <a:bodyPr/>
          <a:lstStyle/>
          <a:p>
            <a:endParaRPr lang="en-US"/>
          </a:p>
          <a:p>
            <a:r>
              <a:rPr lang="en-US"/>
              <a:t>potential for transmission of disease causing microorganisms (pathogens) via water contact - oral fecal route</a:t>
            </a:r>
          </a:p>
          <a:p>
            <a:endParaRPr lang="en-US"/>
          </a:p>
          <a:p>
            <a:r>
              <a:rPr lang="en-US"/>
              <a:t>contact includes ingestion, primary contact, and secondary contact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 calcmode="lin" valueType="num">
                                      <p:cBhvr additive="base">
                                        <p:cTn id="7"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147">
                                            <p:txEl>
                                              <p:pRg st="1" end="1"/>
                                            </p:txEl>
                                          </p:spTgt>
                                        </p:tgtEl>
                                        <p:attrNameLst>
                                          <p:attrName>ppt_c</p:attrName>
                                        </p:attrNameLst>
                                      </p:cBhvr>
                                      <p:to>
                                        <a:schemeClr val="hlink"/>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anim calcmode="lin" valueType="num">
                                      <p:cBhvr additive="base">
                                        <p:cTn id="13"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147">
                                            <p:txEl>
                                              <p:pRg st="3" end="3"/>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2" name="Rectangle 4"/>
          <p:cNvSpPr>
            <a:spLocks noGrp="1" noChangeArrowheads="1"/>
          </p:cNvSpPr>
          <p:nvPr>
            <p:ph type="title" idx="4294967295"/>
          </p:nvPr>
        </p:nvSpPr>
        <p:spPr>
          <a:xfrm>
            <a:off x="0" y="155575"/>
            <a:ext cx="8229600" cy="1252538"/>
          </a:xfrm>
        </p:spPr>
        <p:txBody>
          <a:bodyPr>
            <a:normAutofit fontScale="90000"/>
          </a:bodyPr>
          <a:lstStyle/>
          <a:p>
            <a:r>
              <a:rPr lang="en-US"/>
              <a:t>Water Borne Diseases/Pathogens</a:t>
            </a:r>
          </a:p>
        </p:txBody>
      </p:sp>
      <p:sp>
        <p:nvSpPr>
          <p:cNvPr id="7173" name="Rectangle 5"/>
          <p:cNvSpPr>
            <a:spLocks noGrp="1" noChangeArrowheads="1"/>
          </p:cNvSpPr>
          <p:nvPr>
            <p:ph idx="4294967295"/>
          </p:nvPr>
        </p:nvSpPr>
        <p:spPr>
          <a:xfrm>
            <a:off x="0" y="1774825"/>
            <a:ext cx="8229600" cy="4625975"/>
          </a:xfrm>
          <a:noFill/>
          <a:ln/>
        </p:spPr>
        <p:txBody>
          <a:bodyPr lIns="92075" tIns="46038" rIns="92075" bIns="46038"/>
          <a:lstStyle/>
          <a:p>
            <a:r>
              <a:rPr lang="en-US"/>
              <a:t>Bacteria</a:t>
            </a:r>
          </a:p>
          <a:p>
            <a:pPr lvl="1"/>
            <a:r>
              <a:rPr lang="en-US" i="1"/>
              <a:t>Vibrio cholera - </a:t>
            </a:r>
            <a:r>
              <a:rPr lang="en-US"/>
              <a:t>cholera</a:t>
            </a:r>
          </a:p>
          <a:p>
            <a:pPr lvl="1"/>
            <a:r>
              <a:rPr lang="en-US" i="1"/>
              <a:t>Yersinia enterocolitica - </a:t>
            </a:r>
            <a:r>
              <a:rPr lang="en-US"/>
              <a:t>gastroenteritis</a:t>
            </a:r>
          </a:p>
          <a:p>
            <a:pPr lvl="1"/>
            <a:r>
              <a:rPr lang="en-US" i="1"/>
              <a:t>Escherichia coli - </a:t>
            </a:r>
            <a:r>
              <a:rPr lang="en-US"/>
              <a:t>gastroenteritis</a:t>
            </a:r>
            <a:endParaRPr lang="en-US" i="1"/>
          </a:p>
          <a:p>
            <a:pPr lvl="1"/>
            <a:r>
              <a:rPr lang="en-US" i="1"/>
              <a:t>Shigella sp.- </a:t>
            </a:r>
            <a:r>
              <a:rPr lang="en-US"/>
              <a:t>gastroenteritis</a:t>
            </a:r>
            <a:endParaRPr lang="en-US" i="1"/>
          </a:p>
          <a:p>
            <a:pPr lvl="1"/>
            <a:r>
              <a:rPr lang="en-US" i="1"/>
              <a:t>Listeria monocytogenes - </a:t>
            </a:r>
            <a:r>
              <a:rPr lang="en-US"/>
              <a:t>flu-like symptoms</a:t>
            </a:r>
            <a:endParaRPr lang="en-US" i="1"/>
          </a:p>
          <a:p>
            <a:pPr lvl="1"/>
            <a:r>
              <a:rPr lang="en-US" i="1"/>
              <a:t>Salmonella sp. - </a:t>
            </a:r>
            <a:r>
              <a:rPr lang="en-US"/>
              <a:t>gastroenteritis, typhoid </a:t>
            </a:r>
            <a:endParaRPr lang="en-US" i="1"/>
          </a:p>
          <a:p>
            <a:pPr lvl="1"/>
            <a:r>
              <a:rPr lang="en-US" i="1"/>
              <a:t>Campylobacter jejuni - </a:t>
            </a:r>
            <a:r>
              <a:rPr lang="en-US"/>
              <a:t>gastroenteritis (animals sources)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anim calcmode="lin" valueType="num">
                                      <p:cBhvr additive="base">
                                        <p:cTn id="7" dur="500" fill="hold"/>
                                        <p:tgtEl>
                                          <p:spTgt spid="71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3">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0" end="0"/>
                                            </p:txEl>
                                          </p:spTgt>
                                        </p:tgtEl>
                                        <p:attrNameLst>
                                          <p:attrName>ppt_c</p:attrName>
                                        </p:attrNameLst>
                                      </p:cBhvr>
                                      <p:to>
                                        <a:schemeClr val="hlink"/>
                                      </p:to>
                                    </p:animClr>
                                  </p:subTnLst>
                                </p:cTn>
                              </p:par>
                              <p:par>
                                <p:cTn id="9" presetID="2" presetClass="entr" presetSubtype="4" fill="hold" grpId="0" nodeType="withEffect">
                                  <p:stCondLst>
                                    <p:cond delay="0"/>
                                  </p:stCondLst>
                                  <p:childTnLst>
                                    <p:set>
                                      <p:cBhvr>
                                        <p:cTn id="10" dur="1" fill="hold">
                                          <p:stCondLst>
                                            <p:cond delay="0"/>
                                          </p:stCondLst>
                                        </p:cTn>
                                        <p:tgtEl>
                                          <p:spTgt spid="7173">
                                            <p:txEl>
                                              <p:pRg st="1" end="1"/>
                                            </p:txEl>
                                          </p:spTgt>
                                        </p:tgtEl>
                                        <p:attrNameLst>
                                          <p:attrName>style.visibility</p:attrName>
                                        </p:attrNameLst>
                                      </p:cBhvr>
                                      <p:to>
                                        <p:strVal val="visible"/>
                                      </p:to>
                                    </p:set>
                                    <p:anim calcmode="lin" valueType="num">
                                      <p:cBhvr additive="base">
                                        <p:cTn id="11" dur="500" fill="hold"/>
                                        <p:tgtEl>
                                          <p:spTgt spid="717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3">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1" end="1"/>
                                            </p:txEl>
                                          </p:spTgt>
                                        </p:tgtEl>
                                        <p:attrNameLst>
                                          <p:attrName>ppt_c</p:attrName>
                                        </p:attrNameLst>
                                      </p:cBhvr>
                                      <p:to>
                                        <a:schemeClr val="hlink"/>
                                      </p:to>
                                    </p:animClr>
                                  </p:subTnLst>
                                </p:cTn>
                              </p:par>
                              <p:par>
                                <p:cTn id="13" presetID="2" presetClass="entr" presetSubtype="4" fill="hold" grpId="0" nodeType="withEffect">
                                  <p:stCondLst>
                                    <p:cond delay="0"/>
                                  </p:stCondLst>
                                  <p:childTnLst>
                                    <p:set>
                                      <p:cBhvr>
                                        <p:cTn id="14" dur="1" fill="hold">
                                          <p:stCondLst>
                                            <p:cond delay="0"/>
                                          </p:stCondLst>
                                        </p:cTn>
                                        <p:tgtEl>
                                          <p:spTgt spid="7173">
                                            <p:txEl>
                                              <p:pRg st="2" end="2"/>
                                            </p:txEl>
                                          </p:spTgt>
                                        </p:tgtEl>
                                        <p:attrNameLst>
                                          <p:attrName>style.visibility</p:attrName>
                                        </p:attrNameLst>
                                      </p:cBhvr>
                                      <p:to>
                                        <p:strVal val="visible"/>
                                      </p:to>
                                    </p:set>
                                    <p:anim calcmode="lin" valueType="num">
                                      <p:cBhvr additive="base">
                                        <p:cTn id="15" dur="500" fill="hold"/>
                                        <p:tgtEl>
                                          <p:spTgt spid="717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3">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2" end="2"/>
                                            </p:txEl>
                                          </p:spTgt>
                                        </p:tgtEl>
                                        <p:attrNameLst>
                                          <p:attrName>ppt_c</p:attrName>
                                        </p:attrNameLst>
                                      </p:cBhvr>
                                      <p:to>
                                        <a:schemeClr val="hlink"/>
                                      </p:to>
                                    </p:animClr>
                                  </p:subTnLst>
                                </p:cTn>
                              </p:par>
                              <p:par>
                                <p:cTn id="17" presetID="2" presetClass="entr" presetSubtype="4" fill="hold" grpId="0" nodeType="withEffect">
                                  <p:stCondLst>
                                    <p:cond delay="0"/>
                                  </p:stCondLst>
                                  <p:childTnLst>
                                    <p:set>
                                      <p:cBhvr>
                                        <p:cTn id="18" dur="1" fill="hold">
                                          <p:stCondLst>
                                            <p:cond delay="0"/>
                                          </p:stCondLst>
                                        </p:cTn>
                                        <p:tgtEl>
                                          <p:spTgt spid="7173">
                                            <p:txEl>
                                              <p:pRg st="3" end="3"/>
                                            </p:txEl>
                                          </p:spTgt>
                                        </p:tgtEl>
                                        <p:attrNameLst>
                                          <p:attrName>style.visibility</p:attrName>
                                        </p:attrNameLst>
                                      </p:cBhvr>
                                      <p:to>
                                        <p:strVal val="visible"/>
                                      </p:to>
                                    </p:set>
                                    <p:anim calcmode="lin" valueType="num">
                                      <p:cBhvr additive="base">
                                        <p:cTn id="19" dur="500" fill="hold"/>
                                        <p:tgtEl>
                                          <p:spTgt spid="717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3">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3" end="3"/>
                                            </p:txEl>
                                          </p:spTgt>
                                        </p:tgtEl>
                                        <p:attrNameLst>
                                          <p:attrName>ppt_c</p:attrName>
                                        </p:attrNameLst>
                                      </p:cBhvr>
                                      <p:to>
                                        <a:schemeClr val="hlink"/>
                                      </p:to>
                                    </p:animClr>
                                  </p:subTnLst>
                                </p:cTn>
                              </p:par>
                              <p:par>
                                <p:cTn id="21" presetID="2" presetClass="entr" presetSubtype="4" fill="hold" grpId="0" nodeType="withEffect">
                                  <p:stCondLst>
                                    <p:cond delay="0"/>
                                  </p:stCondLst>
                                  <p:childTnLst>
                                    <p:set>
                                      <p:cBhvr>
                                        <p:cTn id="22" dur="1" fill="hold">
                                          <p:stCondLst>
                                            <p:cond delay="0"/>
                                          </p:stCondLst>
                                        </p:cTn>
                                        <p:tgtEl>
                                          <p:spTgt spid="7173">
                                            <p:txEl>
                                              <p:pRg st="4" end="4"/>
                                            </p:txEl>
                                          </p:spTgt>
                                        </p:tgtEl>
                                        <p:attrNameLst>
                                          <p:attrName>style.visibility</p:attrName>
                                        </p:attrNameLst>
                                      </p:cBhvr>
                                      <p:to>
                                        <p:strVal val="visible"/>
                                      </p:to>
                                    </p:set>
                                    <p:anim calcmode="lin" valueType="num">
                                      <p:cBhvr additive="base">
                                        <p:cTn id="23" dur="500" fill="hold"/>
                                        <p:tgtEl>
                                          <p:spTgt spid="717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3">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4" end="4"/>
                                            </p:txEl>
                                          </p:spTgt>
                                        </p:tgtEl>
                                        <p:attrNameLst>
                                          <p:attrName>ppt_c</p:attrName>
                                        </p:attrNameLst>
                                      </p:cBhvr>
                                      <p:to>
                                        <a:schemeClr val="hlink"/>
                                      </p:to>
                                    </p:animClr>
                                  </p:subTnLst>
                                </p:cTn>
                              </p:par>
                              <p:par>
                                <p:cTn id="25" presetID="2" presetClass="entr" presetSubtype="4" fill="hold" grpId="0" nodeType="withEffect">
                                  <p:stCondLst>
                                    <p:cond delay="0"/>
                                  </p:stCondLst>
                                  <p:childTnLst>
                                    <p:set>
                                      <p:cBhvr>
                                        <p:cTn id="26" dur="1" fill="hold">
                                          <p:stCondLst>
                                            <p:cond delay="0"/>
                                          </p:stCondLst>
                                        </p:cTn>
                                        <p:tgtEl>
                                          <p:spTgt spid="7173">
                                            <p:txEl>
                                              <p:pRg st="5" end="5"/>
                                            </p:txEl>
                                          </p:spTgt>
                                        </p:tgtEl>
                                        <p:attrNameLst>
                                          <p:attrName>style.visibility</p:attrName>
                                        </p:attrNameLst>
                                      </p:cBhvr>
                                      <p:to>
                                        <p:strVal val="visible"/>
                                      </p:to>
                                    </p:set>
                                    <p:anim calcmode="lin" valueType="num">
                                      <p:cBhvr additive="base">
                                        <p:cTn id="27" dur="500" fill="hold"/>
                                        <p:tgtEl>
                                          <p:spTgt spid="717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3">
                                            <p:txEl>
                                              <p:pRg st="5" end="5"/>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5" end="5"/>
                                            </p:txEl>
                                          </p:spTgt>
                                        </p:tgtEl>
                                        <p:attrNameLst>
                                          <p:attrName>ppt_c</p:attrName>
                                        </p:attrNameLst>
                                      </p:cBhvr>
                                      <p:to>
                                        <a:schemeClr val="hlink"/>
                                      </p:to>
                                    </p:animClr>
                                  </p:subTnLst>
                                </p:cTn>
                              </p:par>
                              <p:par>
                                <p:cTn id="29" presetID="2" presetClass="entr" presetSubtype="4" fill="hold" grpId="0" nodeType="withEffect">
                                  <p:stCondLst>
                                    <p:cond delay="0"/>
                                  </p:stCondLst>
                                  <p:childTnLst>
                                    <p:set>
                                      <p:cBhvr>
                                        <p:cTn id="30" dur="1" fill="hold">
                                          <p:stCondLst>
                                            <p:cond delay="0"/>
                                          </p:stCondLst>
                                        </p:cTn>
                                        <p:tgtEl>
                                          <p:spTgt spid="7173">
                                            <p:txEl>
                                              <p:pRg st="6" end="6"/>
                                            </p:txEl>
                                          </p:spTgt>
                                        </p:tgtEl>
                                        <p:attrNameLst>
                                          <p:attrName>style.visibility</p:attrName>
                                        </p:attrNameLst>
                                      </p:cBhvr>
                                      <p:to>
                                        <p:strVal val="visible"/>
                                      </p:to>
                                    </p:set>
                                    <p:anim calcmode="lin" valueType="num">
                                      <p:cBhvr additive="base">
                                        <p:cTn id="31" dur="500" fill="hold"/>
                                        <p:tgtEl>
                                          <p:spTgt spid="717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3">
                                            <p:txEl>
                                              <p:pRg st="6" end="6"/>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6" end="6"/>
                                            </p:txEl>
                                          </p:spTgt>
                                        </p:tgtEl>
                                        <p:attrNameLst>
                                          <p:attrName>ppt_c</p:attrName>
                                        </p:attrNameLst>
                                      </p:cBhvr>
                                      <p:to>
                                        <a:schemeClr val="hlink"/>
                                      </p:to>
                                    </p:animClr>
                                  </p:subTnLst>
                                </p:cTn>
                              </p:par>
                              <p:par>
                                <p:cTn id="33" presetID="2" presetClass="entr" presetSubtype="4" fill="hold" grpId="0" nodeType="withEffect">
                                  <p:stCondLst>
                                    <p:cond delay="0"/>
                                  </p:stCondLst>
                                  <p:childTnLst>
                                    <p:set>
                                      <p:cBhvr>
                                        <p:cTn id="34" dur="1" fill="hold">
                                          <p:stCondLst>
                                            <p:cond delay="0"/>
                                          </p:stCondLst>
                                        </p:cTn>
                                        <p:tgtEl>
                                          <p:spTgt spid="7173">
                                            <p:txEl>
                                              <p:pRg st="7" end="7"/>
                                            </p:txEl>
                                          </p:spTgt>
                                        </p:tgtEl>
                                        <p:attrNameLst>
                                          <p:attrName>style.visibility</p:attrName>
                                        </p:attrNameLst>
                                      </p:cBhvr>
                                      <p:to>
                                        <p:strVal val="visible"/>
                                      </p:to>
                                    </p:set>
                                    <p:anim calcmode="lin" valueType="num">
                                      <p:cBhvr additive="base">
                                        <p:cTn id="35" dur="500" fill="hold"/>
                                        <p:tgtEl>
                                          <p:spTgt spid="717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173">
                                            <p:txEl>
                                              <p:pRg st="7" end="7"/>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173">
                                            <p:txEl>
                                              <p:pRg st="7" end="7"/>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1371600" y="228600"/>
            <a:ext cx="7772400" cy="1143000"/>
          </a:xfrm>
        </p:spPr>
        <p:txBody>
          <a:bodyPr/>
          <a:lstStyle/>
          <a:p>
            <a:r>
              <a:rPr lang="en-US" i="1"/>
              <a:t>Vibrio cholerae</a:t>
            </a:r>
          </a:p>
        </p:txBody>
      </p:sp>
      <p:pic>
        <p:nvPicPr>
          <p:cNvPr id="75780" name="Picture 4" descr="pic5"/>
          <p:cNvPicPr>
            <a:picLocks noChangeAspect="1" noChangeArrowheads="1"/>
          </p:cNvPicPr>
          <p:nvPr/>
        </p:nvPicPr>
        <p:blipFill>
          <a:blip r:embed="rId2"/>
          <a:srcRect/>
          <a:stretch>
            <a:fillRect/>
          </a:stretch>
        </p:blipFill>
        <p:spPr bwMode="auto">
          <a:xfrm>
            <a:off x="2286000" y="1493838"/>
            <a:ext cx="4724400" cy="4602162"/>
          </a:xfrm>
          <a:prstGeom prst="rect">
            <a:avLst/>
          </a:prstGeom>
          <a:noFill/>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idx="4294967295"/>
          </p:nvPr>
        </p:nvSpPr>
        <p:spPr>
          <a:xfrm>
            <a:off x="1371600" y="228600"/>
            <a:ext cx="7772400" cy="1143000"/>
          </a:xfrm>
        </p:spPr>
        <p:txBody>
          <a:bodyPr/>
          <a:lstStyle/>
          <a:p>
            <a:r>
              <a:rPr lang="en-US" i="1"/>
              <a:t>Yersinia enterocolitica</a:t>
            </a:r>
          </a:p>
        </p:txBody>
      </p:sp>
      <p:pic>
        <p:nvPicPr>
          <p:cNvPr id="76804" name="Picture 1028" descr="pic6"/>
          <p:cNvPicPr>
            <a:picLocks noChangeAspect="1" noChangeArrowheads="1"/>
          </p:cNvPicPr>
          <p:nvPr/>
        </p:nvPicPr>
        <p:blipFill>
          <a:blip r:embed="rId2"/>
          <a:srcRect/>
          <a:stretch>
            <a:fillRect/>
          </a:stretch>
        </p:blipFill>
        <p:spPr bwMode="auto">
          <a:xfrm>
            <a:off x="2611438" y="1752600"/>
            <a:ext cx="4017962" cy="4572000"/>
          </a:xfrm>
          <a:prstGeom prst="rect">
            <a:avLst/>
          </a:prstGeom>
          <a:noFill/>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1371600" y="228600"/>
            <a:ext cx="7772400" cy="1143000"/>
          </a:xfrm>
        </p:spPr>
        <p:txBody>
          <a:bodyPr/>
          <a:lstStyle/>
          <a:p>
            <a:r>
              <a:rPr lang="en-US" i="1" dirty="0" smtClean="0"/>
              <a:t>Clostridium </a:t>
            </a:r>
            <a:r>
              <a:rPr lang="en-US" i="1" dirty="0" err="1"/>
              <a:t>perfringens</a:t>
            </a:r>
            <a:endParaRPr lang="en-US" i="1" dirty="0"/>
          </a:p>
        </p:txBody>
      </p:sp>
      <p:pic>
        <p:nvPicPr>
          <p:cNvPr id="78851" name="Picture 3" descr="pic8"/>
          <p:cNvPicPr>
            <a:picLocks noChangeAspect="1" noChangeArrowheads="1"/>
          </p:cNvPicPr>
          <p:nvPr/>
        </p:nvPicPr>
        <p:blipFill>
          <a:blip r:embed="rId2"/>
          <a:srcRect/>
          <a:stretch>
            <a:fillRect/>
          </a:stretch>
        </p:blipFill>
        <p:spPr bwMode="auto">
          <a:xfrm>
            <a:off x="2438400" y="1546225"/>
            <a:ext cx="4581525" cy="4702175"/>
          </a:xfrm>
          <a:prstGeom prst="rect">
            <a:avLst/>
          </a:prstGeom>
          <a:noFill/>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6" name="Rectangle 1028"/>
          <p:cNvSpPr>
            <a:spLocks noGrp="1" noChangeArrowheads="1"/>
          </p:cNvSpPr>
          <p:nvPr>
            <p:ph type="title" idx="4294967295"/>
          </p:nvPr>
        </p:nvSpPr>
        <p:spPr>
          <a:xfrm>
            <a:off x="0" y="155575"/>
            <a:ext cx="8229600" cy="1252538"/>
          </a:xfrm>
          <a:noFill/>
          <a:ln/>
        </p:spPr>
        <p:txBody>
          <a:bodyPr lIns="92075" tIns="46038" rIns="92075" bIns="46038">
            <a:normAutofit fontScale="90000"/>
          </a:bodyPr>
          <a:lstStyle/>
          <a:p>
            <a:r>
              <a:rPr lang="en-US"/>
              <a:t>Water Borne Diseases/Pathogens</a:t>
            </a:r>
          </a:p>
        </p:txBody>
      </p:sp>
      <p:sp>
        <p:nvSpPr>
          <p:cNvPr id="69637" name="Rectangle 1029"/>
          <p:cNvSpPr>
            <a:spLocks noGrp="1" noChangeArrowheads="1"/>
          </p:cNvSpPr>
          <p:nvPr>
            <p:ph idx="4294967295"/>
          </p:nvPr>
        </p:nvSpPr>
        <p:spPr>
          <a:xfrm>
            <a:off x="0" y="1774825"/>
            <a:ext cx="8229600" cy="4625975"/>
          </a:xfrm>
          <a:noFill/>
          <a:ln/>
        </p:spPr>
        <p:txBody>
          <a:bodyPr lIns="92075" tIns="46038" rIns="92075" bIns="46038"/>
          <a:lstStyle/>
          <a:p>
            <a:r>
              <a:rPr lang="en-US"/>
              <a:t>Viruses</a:t>
            </a:r>
          </a:p>
          <a:p>
            <a:pPr lvl="1"/>
            <a:r>
              <a:rPr lang="en-US"/>
              <a:t>Polio Virus - paralytic poliomyelitis</a:t>
            </a:r>
          </a:p>
          <a:p>
            <a:pPr lvl="1"/>
            <a:r>
              <a:rPr lang="en-US"/>
              <a:t>Rotaviruses - gastroenteritis</a:t>
            </a:r>
          </a:p>
          <a:p>
            <a:pPr lvl="1"/>
            <a:r>
              <a:rPr lang="en-US"/>
              <a:t>Norwalk Viruses - gastroenteritis</a:t>
            </a:r>
          </a:p>
          <a:p>
            <a:pPr lvl="1"/>
            <a:r>
              <a:rPr lang="en-US"/>
              <a:t>Hepatitis Type A and E - liver inflammation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637">
                                            <p:txEl>
                                              <p:pRg st="0" end="0"/>
                                            </p:txEl>
                                          </p:spTgt>
                                        </p:tgtEl>
                                        <p:attrNameLst>
                                          <p:attrName>style.visibility</p:attrName>
                                        </p:attrNameLst>
                                      </p:cBhvr>
                                      <p:to>
                                        <p:strVal val="visible"/>
                                      </p:to>
                                    </p:set>
                                    <p:anim calcmode="lin" valueType="num">
                                      <p:cBhvr additive="base">
                                        <p:cTn id="7" dur="500" fill="hold"/>
                                        <p:tgtEl>
                                          <p:spTgt spid="6963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7">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9637">
                                            <p:txEl>
                                              <p:pRg st="0" end="0"/>
                                            </p:txEl>
                                          </p:spTgt>
                                        </p:tgtEl>
                                        <p:attrNameLst>
                                          <p:attrName>ppt_c</p:attrName>
                                        </p:attrNameLst>
                                      </p:cBhvr>
                                      <p:to>
                                        <a:schemeClr val="hlink"/>
                                      </p:to>
                                    </p:animClr>
                                  </p:subTnLst>
                                </p:cTn>
                              </p:par>
                              <p:par>
                                <p:cTn id="9" presetID="2" presetClass="entr" presetSubtype="4" fill="hold" grpId="0" nodeType="withEffect">
                                  <p:stCondLst>
                                    <p:cond delay="0"/>
                                  </p:stCondLst>
                                  <p:childTnLst>
                                    <p:set>
                                      <p:cBhvr>
                                        <p:cTn id="10" dur="1" fill="hold">
                                          <p:stCondLst>
                                            <p:cond delay="0"/>
                                          </p:stCondLst>
                                        </p:cTn>
                                        <p:tgtEl>
                                          <p:spTgt spid="69637">
                                            <p:txEl>
                                              <p:pRg st="1" end="1"/>
                                            </p:txEl>
                                          </p:spTgt>
                                        </p:tgtEl>
                                        <p:attrNameLst>
                                          <p:attrName>style.visibility</p:attrName>
                                        </p:attrNameLst>
                                      </p:cBhvr>
                                      <p:to>
                                        <p:strVal val="visible"/>
                                      </p:to>
                                    </p:set>
                                    <p:anim calcmode="lin" valueType="num">
                                      <p:cBhvr additive="base">
                                        <p:cTn id="11" dur="500" fill="hold"/>
                                        <p:tgtEl>
                                          <p:spTgt spid="6963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9637">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9637">
                                            <p:txEl>
                                              <p:pRg st="1" end="1"/>
                                            </p:txEl>
                                          </p:spTgt>
                                        </p:tgtEl>
                                        <p:attrNameLst>
                                          <p:attrName>ppt_c</p:attrName>
                                        </p:attrNameLst>
                                      </p:cBhvr>
                                      <p:to>
                                        <a:schemeClr val="hlink"/>
                                      </p:to>
                                    </p:animClr>
                                  </p:subTnLst>
                                </p:cTn>
                              </p:par>
                              <p:par>
                                <p:cTn id="13" presetID="2" presetClass="entr" presetSubtype="4" fill="hold" grpId="0" nodeType="withEffect">
                                  <p:stCondLst>
                                    <p:cond delay="0"/>
                                  </p:stCondLst>
                                  <p:childTnLst>
                                    <p:set>
                                      <p:cBhvr>
                                        <p:cTn id="14" dur="1" fill="hold">
                                          <p:stCondLst>
                                            <p:cond delay="0"/>
                                          </p:stCondLst>
                                        </p:cTn>
                                        <p:tgtEl>
                                          <p:spTgt spid="69637">
                                            <p:txEl>
                                              <p:pRg st="2" end="2"/>
                                            </p:txEl>
                                          </p:spTgt>
                                        </p:tgtEl>
                                        <p:attrNameLst>
                                          <p:attrName>style.visibility</p:attrName>
                                        </p:attrNameLst>
                                      </p:cBhvr>
                                      <p:to>
                                        <p:strVal val="visible"/>
                                      </p:to>
                                    </p:set>
                                    <p:anim calcmode="lin" valueType="num">
                                      <p:cBhvr additive="base">
                                        <p:cTn id="15" dur="500" fill="hold"/>
                                        <p:tgtEl>
                                          <p:spTgt spid="6963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9637">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9637">
                                            <p:txEl>
                                              <p:pRg st="2" end="2"/>
                                            </p:txEl>
                                          </p:spTgt>
                                        </p:tgtEl>
                                        <p:attrNameLst>
                                          <p:attrName>ppt_c</p:attrName>
                                        </p:attrNameLst>
                                      </p:cBhvr>
                                      <p:to>
                                        <a:schemeClr val="hlink"/>
                                      </p:to>
                                    </p:animClr>
                                  </p:subTnLst>
                                </p:cTn>
                              </p:par>
                              <p:par>
                                <p:cTn id="17" presetID="2" presetClass="entr" presetSubtype="4" fill="hold" grpId="0" nodeType="withEffect">
                                  <p:stCondLst>
                                    <p:cond delay="0"/>
                                  </p:stCondLst>
                                  <p:childTnLst>
                                    <p:set>
                                      <p:cBhvr>
                                        <p:cTn id="18" dur="1" fill="hold">
                                          <p:stCondLst>
                                            <p:cond delay="0"/>
                                          </p:stCondLst>
                                        </p:cTn>
                                        <p:tgtEl>
                                          <p:spTgt spid="69637">
                                            <p:txEl>
                                              <p:pRg st="3" end="3"/>
                                            </p:txEl>
                                          </p:spTgt>
                                        </p:tgtEl>
                                        <p:attrNameLst>
                                          <p:attrName>style.visibility</p:attrName>
                                        </p:attrNameLst>
                                      </p:cBhvr>
                                      <p:to>
                                        <p:strVal val="visible"/>
                                      </p:to>
                                    </p:set>
                                    <p:anim calcmode="lin" valueType="num">
                                      <p:cBhvr additive="base">
                                        <p:cTn id="19" dur="500" fill="hold"/>
                                        <p:tgtEl>
                                          <p:spTgt spid="6963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7">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9637">
                                            <p:txEl>
                                              <p:pRg st="3" end="3"/>
                                            </p:txEl>
                                          </p:spTgt>
                                        </p:tgtEl>
                                        <p:attrNameLst>
                                          <p:attrName>ppt_c</p:attrName>
                                        </p:attrNameLst>
                                      </p:cBhvr>
                                      <p:to>
                                        <a:schemeClr val="hlink"/>
                                      </p:to>
                                    </p:animClr>
                                  </p:subTnLst>
                                </p:cTn>
                              </p:par>
                              <p:par>
                                <p:cTn id="21" presetID="2" presetClass="entr" presetSubtype="4" fill="hold" grpId="0" nodeType="withEffect">
                                  <p:stCondLst>
                                    <p:cond delay="0"/>
                                  </p:stCondLst>
                                  <p:childTnLst>
                                    <p:set>
                                      <p:cBhvr>
                                        <p:cTn id="22" dur="1" fill="hold">
                                          <p:stCondLst>
                                            <p:cond delay="0"/>
                                          </p:stCondLst>
                                        </p:cTn>
                                        <p:tgtEl>
                                          <p:spTgt spid="69637">
                                            <p:txEl>
                                              <p:pRg st="4" end="4"/>
                                            </p:txEl>
                                          </p:spTgt>
                                        </p:tgtEl>
                                        <p:attrNameLst>
                                          <p:attrName>style.visibility</p:attrName>
                                        </p:attrNameLst>
                                      </p:cBhvr>
                                      <p:to>
                                        <p:strVal val="visible"/>
                                      </p:to>
                                    </p:set>
                                    <p:anim calcmode="lin" valueType="num">
                                      <p:cBhvr additive="base">
                                        <p:cTn id="23" dur="500" fill="hold"/>
                                        <p:tgtEl>
                                          <p:spTgt spid="6963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9637">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9637">
                                            <p:txEl>
                                              <p:pRg st="4" end="4"/>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371600" y="228600"/>
            <a:ext cx="7772400" cy="1143000"/>
          </a:xfrm>
        </p:spPr>
        <p:txBody>
          <a:bodyPr/>
          <a:lstStyle/>
          <a:p>
            <a:r>
              <a:rPr lang="en-US" dirty="0" smtClean="0"/>
              <a:t>                     Polio </a:t>
            </a:r>
            <a:r>
              <a:rPr lang="en-US" dirty="0"/>
              <a:t>Virus</a:t>
            </a:r>
          </a:p>
        </p:txBody>
      </p:sp>
      <p:pic>
        <p:nvPicPr>
          <p:cNvPr id="80899" name="Picture 3" descr="pic10a"/>
          <p:cNvPicPr>
            <a:picLocks noChangeAspect="1" noChangeArrowheads="1"/>
          </p:cNvPicPr>
          <p:nvPr/>
        </p:nvPicPr>
        <p:blipFill>
          <a:blip r:embed="rId2"/>
          <a:srcRect/>
          <a:stretch>
            <a:fillRect/>
          </a:stretch>
        </p:blipFill>
        <p:spPr bwMode="auto">
          <a:xfrm>
            <a:off x="2438400" y="1822450"/>
            <a:ext cx="4816475" cy="4502150"/>
          </a:xfrm>
          <a:prstGeom prst="rect">
            <a:avLst/>
          </a:prstGeom>
          <a:noFill/>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1371600" y="228600"/>
            <a:ext cx="7772400" cy="1143000"/>
          </a:xfrm>
        </p:spPr>
        <p:txBody>
          <a:bodyPr/>
          <a:lstStyle/>
          <a:p>
            <a:r>
              <a:rPr lang="en-US"/>
              <a:t>Rotavirus</a:t>
            </a:r>
          </a:p>
        </p:txBody>
      </p:sp>
      <p:pic>
        <p:nvPicPr>
          <p:cNvPr id="81923" name="Picture 3" descr="pic11a"/>
          <p:cNvPicPr>
            <a:picLocks noChangeAspect="1" noChangeArrowheads="1"/>
          </p:cNvPicPr>
          <p:nvPr/>
        </p:nvPicPr>
        <p:blipFill>
          <a:blip r:embed="rId2"/>
          <a:srcRect/>
          <a:stretch>
            <a:fillRect/>
          </a:stretch>
        </p:blipFill>
        <p:spPr bwMode="auto">
          <a:xfrm>
            <a:off x="2136775" y="1676400"/>
            <a:ext cx="5330825" cy="4973638"/>
          </a:xfrm>
          <a:prstGeom prst="rect">
            <a:avLst/>
          </a:prstGeom>
          <a:noFill/>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a:xfrm>
            <a:off x="1371600" y="228600"/>
            <a:ext cx="7772400" cy="1143000"/>
          </a:xfrm>
        </p:spPr>
        <p:txBody>
          <a:bodyPr/>
          <a:lstStyle/>
          <a:p>
            <a:r>
              <a:rPr lang="en-US"/>
              <a:t>Norwalk Agent</a:t>
            </a:r>
          </a:p>
        </p:txBody>
      </p:sp>
      <p:pic>
        <p:nvPicPr>
          <p:cNvPr id="82947" name="Picture 3" descr="pic12a"/>
          <p:cNvPicPr>
            <a:picLocks noChangeAspect="1" noChangeArrowheads="1"/>
          </p:cNvPicPr>
          <p:nvPr/>
        </p:nvPicPr>
        <p:blipFill>
          <a:blip r:embed="rId2"/>
          <a:srcRect/>
          <a:stretch>
            <a:fillRect/>
          </a:stretch>
        </p:blipFill>
        <p:spPr bwMode="auto">
          <a:xfrm>
            <a:off x="1676400" y="1589088"/>
            <a:ext cx="6096000" cy="4735512"/>
          </a:xfrm>
          <a:prstGeom prst="rect">
            <a:avLst/>
          </a:prstGeom>
          <a:noFill/>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60" name="Rectangle 4"/>
          <p:cNvSpPr>
            <a:spLocks noGrp="1" noChangeArrowheads="1"/>
          </p:cNvSpPr>
          <p:nvPr>
            <p:ph type="title" idx="4294967295"/>
          </p:nvPr>
        </p:nvSpPr>
        <p:spPr>
          <a:xfrm>
            <a:off x="0" y="155575"/>
            <a:ext cx="8229600" cy="1252538"/>
          </a:xfrm>
          <a:noFill/>
          <a:ln/>
        </p:spPr>
        <p:txBody>
          <a:bodyPr lIns="92075" tIns="46038" rIns="92075" bIns="46038">
            <a:normAutofit fontScale="90000"/>
          </a:bodyPr>
          <a:lstStyle/>
          <a:p>
            <a:r>
              <a:rPr lang="en-US"/>
              <a:t>Water Borne Diseases/Pathogens</a:t>
            </a:r>
          </a:p>
        </p:txBody>
      </p:sp>
      <p:sp>
        <p:nvSpPr>
          <p:cNvPr id="70661" name="Rectangle 5"/>
          <p:cNvSpPr>
            <a:spLocks noGrp="1" noChangeArrowheads="1"/>
          </p:cNvSpPr>
          <p:nvPr>
            <p:ph idx="4294967295"/>
          </p:nvPr>
        </p:nvSpPr>
        <p:spPr>
          <a:xfrm>
            <a:off x="0" y="1774825"/>
            <a:ext cx="8229600" cy="4625975"/>
          </a:xfrm>
          <a:noFill/>
          <a:ln/>
        </p:spPr>
        <p:txBody>
          <a:bodyPr lIns="92075" tIns="46038" rIns="92075" bIns="46038"/>
          <a:lstStyle/>
          <a:p>
            <a:r>
              <a:rPr lang="en-US"/>
              <a:t>Protozoa</a:t>
            </a:r>
          </a:p>
          <a:p>
            <a:pPr lvl="1"/>
            <a:r>
              <a:rPr lang="en-US" i="1"/>
              <a:t>Entamoeba histolytica</a:t>
            </a:r>
            <a:r>
              <a:rPr lang="en-US"/>
              <a:t> - amoebic dysentery</a:t>
            </a:r>
          </a:p>
          <a:p>
            <a:pPr lvl="1"/>
            <a:r>
              <a:rPr lang="en-US" i="1"/>
              <a:t>Giardia lamblia</a:t>
            </a:r>
            <a:r>
              <a:rPr lang="en-US"/>
              <a:t> - intestinal disease</a:t>
            </a:r>
          </a:p>
          <a:p>
            <a:pPr lvl="1"/>
            <a:r>
              <a:rPr lang="en-US" i="1"/>
              <a:t>Cryptosporidium sp.</a:t>
            </a:r>
            <a:r>
              <a:rPr lang="en-US"/>
              <a:t> - intestinal disease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61">
                                            <p:txEl>
                                              <p:pRg st="0" end="0"/>
                                            </p:txEl>
                                          </p:spTgt>
                                        </p:tgtEl>
                                        <p:attrNameLst>
                                          <p:attrName>style.visibility</p:attrName>
                                        </p:attrNameLst>
                                      </p:cBhvr>
                                      <p:to>
                                        <p:strVal val="visible"/>
                                      </p:to>
                                    </p:set>
                                    <p:anim calcmode="lin" valueType="num">
                                      <p:cBhvr additive="base">
                                        <p:cTn id="7" dur="500" fill="hold"/>
                                        <p:tgtEl>
                                          <p:spTgt spid="706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61">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0661">
                                            <p:txEl>
                                              <p:pRg st="0" end="0"/>
                                            </p:txEl>
                                          </p:spTgt>
                                        </p:tgtEl>
                                        <p:attrNameLst>
                                          <p:attrName>ppt_c</p:attrName>
                                        </p:attrNameLst>
                                      </p:cBhvr>
                                      <p:to>
                                        <a:schemeClr val="hlink"/>
                                      </p:to>
                                    </p:animClr>
                                  </p:subTnLst>
                                </p:cTn>
                              </p:par>
                              <p:par>
                                <p:cTn id="9" presetID="2" presetClass="entr" presetSubtype="4" fill="hold" grpId="0" nodeType="withEffect">
                                  <p:stCondLst>
                                    <p:cond delay="0"/>
                                  </p:stCondLst>
                                  <p:childTnLst>
                                    <p:set>
                                      <p:cBhvr>
                                        <p:cTn id="10" dur="1" fill="hold">
                                          <p:stCondLst>
                                            <p:cond delay="0"/>
                                          </p:stCondLst>
                                        </p:cTn>
                                        <p:tgtEl>
                                          <p:spTgt spid="70661">
                                            <p:txEl>
                                              <p:pRg st="1" end="1"/>
                                            </p:txEl>
                                          </p:spTgt>
                                        </p:tgtEl>
                                        <p:attrNameLst>
                                          <p:attrName>style.visibility</p:attrName>
                                        </p:attrNameLst>
                                      </p:cBhvr>
                                      <p:to>
                                        <p:strVal val="visible"/>
                                      </p:to>
                                    </p:set>
                                    <p:anim calcmode="lin" valueType="num">
                                      <p:cBhvr additive="base">
                                        <p:cTn id="11" dur="500" fill="hold"/>
                                        <p:tgtEl>
                                          <p:spTgt spid="7066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0661">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0661">
                                            <p:txEl>
                                              <p:pRg st="1" end="1"/>
                                            </p:txEl>
                                          </p:spTgt>
                                        </p:tgtEl>
                                        <p:attrNameLst>
                                          <p:attrName>ppt_c</p:attrName>
                                        </p:attrNameLst>
                                      </p:cBhvr>
                                      <p:to>
                                        <a:schemeClr val="hlink"/>
                                      </p:to>
                                    </p:animClr>
                                  </p:subTnLst>
                                </p:cTn>
                              </p:par>
                              <p:par>
                                <p:cTn id="13" presetID="2" presetClass="entr" presetSubtype="4" fill="hold" grpId="0" nodeType="withEffect">
                                  <p:stCondLst>
                                    <p:cond delay="0"/>
                                  </p:stCondLst>
                                  <p:childTnLst>
                                    <p:set>
                                      <p:cBhvr>
                                        <p:cTn id="14" dur="1" fill="hold">
                                          <p:stCondLst>
                                            <p:cond delay="0"/>
                                          </p:stCondLst>
                                        </p:cTn>
                                        <p:tgtEl>
                                          <p:spTgt spid="70661">
                                            <p:txEl>
                                              <p:pRg st="2" end="2"/>
                                            </p:txEl>
                                          </p:spTgt>
                                        </p:tgtEl>
                                        <p:attrNameLst>
                                          <p:attrName>style.visibility</p:attrName>
                                        </p:attrNameLst>
                                      </p:cBhvr>
                                      <p:to>
                                        <p:strVal val="visible"/>
                                      </p:to>
                                    </p:set>
                                    <p:anim calcmode="lin" valueType="num">
                                      <p:cBhvr additive="base">
                                        <p:cTn id="15" dur="500" fill="hold"/>
                                        <p:tgtEl>
                                          <p:spTgt spid="7066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0661">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0661">
                                            <p:txEl>
                                              <p:pRg st="2" end="2"/>
                                            </p:txEl>
                                          </p:spTgt>
                                        </p:tgtEl>
                                        <p:attrNameLst>
                                          <p:attrName>ppt_c</p:attrName>
                                        </p:attrNameLst>
                                      </p:cBhvr>
                                      <p:to>
                                        <a:schemeClr val="hlink"/>
                                      </p:to>
                                    </p:animClr>
                                  </p:subTnLst>
                                </p:cTn>
                              </p:par>
                              <p:par>
                                <p:cTn id="17" presetID="2" presetClass="entr" presetSubtype="4" fill="hold" grpId="0" nodeType="withEffect">
                                  <p:stCondLst>
                                    <p:cond delay="0"/>
                                  </p:stCondLst>
                                  <p:childTnLst>
                                    <p:set>
                                      <p:cBhvr>
                                        <p:cTn id="18" dur="1" fill="hold">
                                          <p:stCondLst>
                                            <p:cond delay="0"/>
                                          </p:stCondLst>
                                        </p:cTn>
                                        <p:tgtEl>
                                          <p:spTgt spid="70661">
                                            <p:txEl>
                                              <p:pRg st="3" end="3"/>
                                            </p:txEl>
                                          </p:spTgt>
                                        </p:tgtEl>
                                        <p:attrNameLst>
                                          <p:attrName>style.visibility</p:attrName>
                                        </p:attrNameLst>
                                      </p:cBhvr>
                                      <p:to>
                                        <p:strVal val="visible"/>
                                      </p:to>
                                    </p:set>
                                    <p:anim calcmode="lin" valueType="num">
                                      <p:cBhvr additive="base">
                                        <p:cTn id="19" dur="500" fill="hold"/>
                                        <p:tgtEl>
                                          <p:spTgt spid="7066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61">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0661">
                                            <p:txEl>
                                              <p:pRg st="3" end="3"/>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a:spLocks noGrp="1" noChangeArrowheads="1"/>
          </p:cNvSpPr>
          <p:nvPr>
            <p:ph idx="4294967295"/>
          </p:nvPr>
        </p:nvSpPr>
        <p:spPr>
          <a:xfrm>
            <a:off x="0" y="1774825"/>
            <a:ext cx="8229600" cy="4625975"/>
          </a:xfrm>
        </p:spPr>
        <p:txBody>
          <a:bodyPr>
            <a:normAutofit/>
          </a:bodyPr>
          <a:lstStyle/>
          <a:p>
            <a:pPr>
              <a:lnSpc>
                <a:spcPct val="80000"/>
              </a:lnSpc>
              <a:buFontTx/>
              <a:buNone/>
            </a:pPr>
            <a:r>
              <a:rPr lang="en-US" sz="2400"/>
              <a:t>Water we drink has to be purified</a:t>
            </a:r>
          </a:p>
          <a:p>
            <a:pPr>
              <a:lnSpc>
                <a:spcPct val="80000"/>
              </a:lnSpc>
              <a:buFontTx/>
              <a:buNone/>
            </a:pPr>
            <a:r>
              <a:rPr lang="en-US" sz="2400"/>
              <a:t>                       </a:t>
            </a:r>
          </a:p>
          <a:p>
            <a:pPr>
              <a:lnSpc>
                <a:spcPct val="80000"/>
              </a:lnSpc>
              <a:buFontTx/>
              <a:buNone/>
            </a:pPr>
            <a:r>
              <a:rPr lang="en-US" sz="2400"/>
              <a:t>                                       purification of water</a:t>
            </a:r>
          </a:p>
          <a:p>
            <a:pPr>
              <a:lnSpc>
                <a:spcPct val="80000"/>
              </a:lnSpc>
              <a:buFontTx/>
              <a:buNone/>
            </a:pPr>
            <a:r>
              <a:rPr lang="en-US" sz="2400"/>
              <a:t>Tap water</a:t>
            </a:r>
          </a:p>
          <a:p>
            <a:pPr>
              <a:lnSpc>
                <a:spcPct val="80000"/>
              </a:lnSpc>
              <a:buFontTx/>
              <a:buNone/>
            </a:pPr>
            <a:endParaRPr lang="en-US" sz="2400"/>
          </a:p>
          <a:p>
            <a:pPr>
              <a:lnSpc>
                <a:spcPct val="80000"/>
              </a:lnSpc>
              <a:buFontTx/>
              <a:buNone/>
            </a:pPr>
            <a:r>
              <a:rPr lang="en-US" sz="2400"/>
              <a:t>                                                          boiling</a:t>
            </a:r>
          </a:p>
          <a:p>
            <a:pPr>
              <a:lnSpc>
                <a:spcPct val="80000"/>
              </a:lnSpc>
              <a:buFontTx/>
              <a:buNone/>
            </a:pPr>
            <a:endParaRPr lang="en-US" sz="2400"/>
          </a:p>
          <a:p>
            <a:pPr>
              <a:lnSpc>
                <a:spcPct val="80000"/>
              </a:lnSpc>
              <a:buFontTx/>
              <a:buNone/>
            </a:pPr>
            <a:r>
              <a:rPr lang="en-US" sz="2400"/>
              <a:t>Eliminate most pathogens</a:t>
            </a:r>
          </a:p>
          <a:p>
            <a:pPr>
              <a:lnSpc>
                <a:spcPct val="80000"/>
              </a:lnSpc>
              <a:buFontTx/>
              <a:buNone/>
            </a:pPr>
            <a:endParaRPr lang="en-US" sz="2400"/>
          </a:p>
          <a:p>
            <a:pPr>
              <a:lnSpc>
                <a:spcPct val="80000"/>
              </a:lnSpc>
              <a:buFontTx/>
              <a:buNone/>
            </a:pPr>
            <a:endParaRPr lang="en-US" sz="2400"/>
          </a:p>
          <a:p>
            <a:pPr>
              <a:lnSpc>
                <a:spcPct val="80000"/>
              </a:lnSpc>
              <a:buFontTx/>
              <a:buNone/>
            </a:pPr>
            <a:endParaRPr lang="en-US" sz="2400"/>
          </a:p>
          <a:p>
            <a:pPr>
              <a:lnSpc>
                <a:spcPct val="80000"/>
              </a:lnSpc>
              <a:buFontTx/>
              <a:buNone/>
            </a:pPr>
            <a:endParaRPr lang="en-US" sz="1600"/>
          </a:p>
          <a:p>
            <a:pPr>
              <a:lnSpc>
                <a:spcPct val="80000"/>
              </a:lnSpc>
              <a:buFontTx/>
              <a:buNone/>
            </a:pPr>
            <a:r>
              <a:rPr lang="en-US" sz="1400"/>
              <a:t>                           </a:t>
            </a:r>
          </a:p>
        </p:txBody>
      </p:sp>
      <p:sp>
        <p:nvSpPr>
          <p:cNvPr id="182278" name="Line 6"/>
          <p:cNvSpPr>
            <a:spLocks noChangeShapeType="1"/>
          </p:cNvSpPr>
          <p:nvPr/>
        </p:nvSpPr>
        <p:spPr bwMode="auto">
          <a:xfrm>
            <a:off x="2971800" y="2209800"/>
            <a:ext cx="0" cy="304800"/>
          </a:xfrm>
          <a:prstGeom prst="line">
            <a:avLst/>
          </a:prstGeom>
          <a:noFill/>
          <a:ln w="12700">
            <a:solidFill>
              <a:schemeClr val="tx1"/>
            </a:solidFill>
            <a:round/>
            <a:headEnd type="none" w="sm" len="sm"/>
            <a:tailEnd type="triangle" w="sm" len="sm"/>
          </a:ln>
          <a:effectLst/>
        </p:spPr>
        <p:txBody>
          <a:bodyPr/>
          <a:lstStyle/>
          <a:p>
            <a:endParaRPr lang="en-US"/>
          </a:p>
        </p:txBody>
      </p:sp>
      <p:sp>
        <p:nvSpPr>
          <p:cNvPr id="182280" name="Line 8"/>
          <p:cNvSpPr>
            <a:spLocks noChangeShapeType="1"/>
          </p:cNvSpPr>
          <p:nvPr/>
        </p:nvSpPr>
        <p:spPr bwMode="auto">
          <a:xfrm flipV="1">
            <a:off x="1828800" y="3352800"/>
            <a:ext cx="0" cy="76200"/>
          </a:xfrm>
          <a:prstGeom prst="line">
            <a:avLst/>
          </a:prstGeom>
          <a:noFill/>
          <a:ln w="12700">
            <a:solidFill>
              <a:schemeClr val="tx1"/>
            </a:solidFill>
            <a:round/>
            <a:headEnd type="none" w="sm" len="sm"/>
            <a:tailEnd type="triangle" w="sm" len="sm"/>
          </a:ln>
          <a:effectLst/>
        </p:spPr>
        <p:txBody>
          <a:bodyPr/>
          <a:lstStyle/>
          <a:p>
            <a:endParaRPr lang="en-US"/>
          </a:p>
        </p:txBody>
      </p:sp>
      <p:sp>
        <p:nvSpPr>
          <p:cNvPr id="182281" name="Line 9"/>
          <p:cNvSpPr>
            <a:spLocks noChangeShapeType="1"/>
          </p:cNvSpPr>
          <p:nvPr/>
        </p:nvSpPr>
        <p:spPr bwMode="auto">
          <a:xfrm>
            <a:off x="1828800" y="3048000"/>
            <a:ext cx="0" cy="457200"/>
          </a:xfrm>
          <a:prstGeom prst="line">
            <a:avLst/>
          </a:prstGeom>
          <a:noFill/>
          <a:ln w="12700">
            <a:solidFill>
              <a:schemeClr val="tx1"/>
            </a:solidFill>
            <a:round/>
            <a:headEnd type="none" w="sm" len="sm"/>
            <a:tailEnd type="triangle" w="sm" len="sm"/>
          </a:ln>
          <a:effectLst/>
        </p:spPr>
        <p:txBody>
          <a:bodyPr/>
          <a:lstStyle/>
          <a:p>
            <a:endParaRPr lang="en-US"/>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idx="4294967295"/>
          </p:nvPr>
        </p:nvSpPr>
        <p:spPr>
          <a:xfrm>
            <a:off x="0" y="155575"/>
            <a:ext cx="8229600" cy="1252538"/>
          </a:xfrm>
        </p:spPr>
        <p:txBody>
          <a:bodyPr/>
          <a:lstStyle/>
          <a:p>
            <a:r>
              <a:rPr lang="en-US"/>
              <a:t>How we detect contamination? </a:t>
            </a:r>
          </a:p>
        </p:txBody>
      </p:sp>
      <p:sp>
        <p:nvSpPr>
          <p:cNvPr id="183299" name="Rectangle 3"/>
          <p:cNvSpPr>
            <a:spLocks noGrp="1" noChangeArrowheads="1"/>
          </p:cNvSpPr>
          <p:nvPr>
            <p:ph idx="4294967295"/>
          </p:nvPr>
        </p:nvSpPr>
        <p:spPr>
          <a:xfrm>
            <a:off x="0" y="1774825"/>
            <a:ext cx="8229600" cy="4625975"/>
          </a:xfrm>
        </p:spPr>
        <p:txBody>
          <a:bodyPr>
            <a:normAutofit/>
          </a:bodyPr>
          <a:lstStyle/>
          <a:p>
            <a:pPr>
              <a:buFontTx/>
              <a:buNone/>
            </a:pPr>
            <a:r>
              <a:rPr lang="en-US">
                <a:latin typeface="Times New Roman" pitchFamily="18" charset="0"/>
              </a:rPr>
              <a:t>Heterotrophic plate count (HPC)</a:t>
            </a:r>
          </a:p>
          <a:p>
            <a:pPr>
              <a:buFontTx/>
              <a:buNone/>
            </a:pPr>
            <a:r>
              <a:rPr lang="en-US">
                <a:latin typeface="Times New Roman" pitchFamily="18" charset="0"/>
              </a:rPr>
              <a:t>Indicator of overall sanitation in water</a:t>
            </a:r>
          </a:p>
          <a:p>
            <a:pPr>
              <a:buFontTx/>
              <a:buNone/>
            </a:pPr>
            <a:r>
              <a:rPr lang="en-US" u="sng">
                <a:latin typeface="Times New Roman" pitchFamily="18" charset="0"/>
              </a:rPr>
              <a:t>HPC limits</a:t>
            </a:r>
          </a:p>
          <a:p>
            <a:pPr>
              <a:buFontTx/>
              <a:buNone/>
            </a:pPr>
            <a:r>
              <a:rPr lang="en-US">
                <a:latin typeface="Times New Roman" pitchFamily="18" charset="0"/>
              </a:rPr>
              <a:t>100-500cfu/ml in tap water</a:t>
            </a:r>
          </a:p>
          <a:p>
            <a:pPr>
              <a:buFontTx/>
              <a:buNone/>
            </a:pPr>
            <a:r>
              <a:rPr lang="en-US">
                <a:latin typeface="Times New Roman" pitchFamily="18" charset="0"/>
              </a:rPr>
              <a:t>50cfu/ml in bottled water (WHO, 2001).</a:t>
            </a:r>
          </a:p>
          <a:p>
            <a:pPr>
              <a:buFontTx/>
              <a:buNone/>
            </a:pPr>
            <a:r>
              <a:rPr lang="en-US">
                <a:latin typeface="Times New Roman" pitchFamily="18" charset="0"/>
              </a:rPr>
              <a:t>HPC bacteria present in water samples can be determined by the pour plat method on nutrient agar, and incubated at 37C for 48 hours. </a:t>
            </a:r>
          </a:p>
          <a:p>
            <a:pPr>
              <a:buFontTx/>
              <a:buNone/>
            </a:pPr>
            <a:endParaRPr lang="en-US">
              <a:latin typeface="Times New Roman" pitchFamily="18"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155575"/>
            <a:ext cx="8229600" cy="1252538"/>
          </a:xfrm>
        </p:spPr>
        <p:txBody>
          <a:bodyPr>
            <a:normAutofit fontScale="90000"/>
          </a:bodyPr>
          <a:lstStyle/>
          <a:p>
            <a:r>
              <a:rPr lang="en-US"/>
              <a:t>Difficulties With Routine Testing </a:t>
            </a:r>
            <a:br>
              <a:rPr lang="en-US"/>
            </a:br>
            <a:r>
              <a:rPr lang="en-US"/>
              <a:t>of Pathogens in Water</a:t>
            </a:r>
          </a:p>
        </p:txBody>
      </p:sp>
      <p:sp>
        <p:nvSpPr>
          <p:cNvPr id="8195" name="Rectangle 3"/>
          <p:cNvSpPr>
            <a:spLocks noGrp="1" noChangeArrowheads="1"/>
          </p:cNvSpPr>
          <p:nvPr>
            <p:ph idx="4294967295"/>
          </p:nvPr>
        </p:nvSpPr>
        <p:spPr>
          <a:xfrm>
            <a:off x="0" y="1774825"/>
            <a:ext cx="8229600" cy="4625975"/>
          </a:xfrm>
        </p:spPr>
        <p:txBody>
          <a:bodyPr/>
          <a:lstStyle/>
          <a:p>
            <a:r>
              <a:rPr lang="en-US"/>
              <a:t>present in low numbers</a:t>
            </a:r>
          </a:p>
          <a:p>
            <a:endParaRPr lang="en-US"/>
          </a:p>
          <a:p>
            <a:r>
              <a:rPr lang="en-US"/>
              <a:t>limited survival time</a:t>
            </a:r>
          </a:p>
          <a:p>
            <a:endParaRPr lang="en-US"/>
          </a:p>
          <a:p>
            <a:r>
              <a:rPr lang="en-US"/>
              <a:t>numerous pathogens to analyze</a:t>
            </a:r>
          </a:p>
          <a:p>
            <a:endParaRPr lang="en-US"/>
          </a:p>
          <a:p>
            <a:r>
              <a:rPr lang="en-US"/>
              <a:t>time and cost prohibitive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195">
                                            <p:txEl>
                                              <p:pRg st="0" end="0"/>
                                            </p:txEl>
                                          </p:spTgt>
                                        </p:tgtEl>
                                        <p:attrNameLst>
                                          <p:attrName>ppt_c</p:attrName>
                                        </p:attrNameLst>
                                      </p:cBhvr>
                                      <p:to>
                                        <a:schemeClr val="hlink"/>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195">
                                            <p:txEl>
                                              <p:pRg st="2" end="2"/>
                                            </p:txEl>
                                          </p:spTgt>
                                        </p:tgtEl>
                                        <p:attrNameLst>
                                          <p:attrName>ppt_c</p:attrName>
                                        </p:attrNameLst>
                                      </p:cBhvr>
                                      <p:to>
                                        <a:schemeClr val="hlink"/>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5">
                                            <p:txEl>
                                              <p:pRg st="4" end="4"/>
                                            </p:txEl>
                                          </p:spTgt>
                                        </p:tgtEl>
                                        <p:attrNameLst>
                                          <p:attrName>style.visibility</p:attrName>
                                        </p:attrNameLst>
                                      </p:cBhvr>
                                      <p:to>
                                        <p:strVal val="visible"/>
                                      </p:to>
                                    </p:set>
                                    <p:anim calcmode="lin" valueType="num">
                                      <p:cBhvr additive="base">
                                        <p:cTn id="19"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195">
                                            <p:txEl>
                                              <p:pRg st="4" end="4"/>
                                            </p:txEl>
                                          </p:spTgt>
                                        </p:tgtEl>
                                        <p:attrNameLst>
                                          <p:attrName>ppt_c</p:attrName>
                                        </p:attrNameLst>
                                      </p:cBhvr>
                                      <p:to>
                                        <a:schemeClr val="hlink"/>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195">
                                            <p:txEl>
                                              <p:pRg st="6" end="6"/>
                                            </p:txEl>
                                          </p:spTgt>
                                        </p:tgtEl>
                                        <p:attrNameLst>
                                          <p:attrName>style.visibility</p:attrName>
                                        </p:attrNameLst>
                                      </p:cBhvr>
                                      <p:to>
                                        <p:strVal val="visible"/>
                                      </p:to>
                                    </p:set>
                                    <p:anim calcmode="lin" valueType="num">
                                      <p:cBhvr additive="base">
                                        <p:cTn id="25" dur="500" fill="hold"/>
                                        <p:tgtEl>
                                          <p:spTgt spid="819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6" end="6"/>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195">
                                            <p:txEl>
                                              <p:pRg st="6" end="6"/>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155575"/>
            <a:ext cx="8229600" cy="1252538"/>
          </a:xfrm>
        </p:spPr>
        <p:txBody>
          <a:bodyPr>
            <a:normAutofit fontScale="90000"/>
          </a:bodyPr>
          <a:lstStyle/>
          <a:p>
            <a:r>
              <a:rPr lang="en-US"/>
              <a:t/>
            </a:r>
            <a:br>
              <a:rPr lang="en-US"/>
            </a:br>
            <a:r>
              <a:rPr lang="en-US"/>
              <a:t>Testing of Indicator Organisms </a:t>
            </a:r>
            <a:br>
              <a:rPr lang="en-US"/>
            </a:br>
            <a:endParaRPr lang="en-US"/>
          </a:p>
        </p:txBody>
      </p:sp>
      <p:sp>
        <p:nvSpPr>
          <p:cNvPr id="9219" name="Rectangle 3"/>
          <p:cNvSpPr>
            <a:spLocks noGrp="1" noChangeArrowheads="1"/>
          </p:cNvSpPr>
          <p:nvPr>
            <p:ph idx="4294967295"/>
          </p:nvPr>
        </p:nvSpPr>
        <p:spPr>
          <a:xfrm>
            <a:off x="0" y="1774825"/>
            <a:ext cx="8229600" cy="4625975"/>
          </a:xfrm>
        </p:spPr>
        <p:txBody>
          <a:bodyPr/>
          <a:lstStyle/>
          <a:p>
            <a:endParaRPr lang="en-US"/>
          </a:p>
          <a:p>
            <a:r>
              <a:rPr lang="en-US"/>
              <a:t>need an indicator of potential pathogen contamination of water which is easy, reliable, inexpensive, quick, etc.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 calcmode="lin" valueType="num">
                                      <p:cBhvr additive="base">
                                        <p:cTn id="7"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219">
                                            <p:txEl>
                                              <p:pRg st="1" end="1"/>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155575"/>
            <a:ext cx="8229600" cy="1252538"/>
          </a:xfrm>
        </p:spPr>
        <p:txBody>
          <a:bodyPr>
            <a:normAutofit fontScale="90000"/>
          </a:bodyPr>
          <a:lstStyle/>
          <a:p>
            <a:r>
              <a:rPr lang="en-US"/>
              <a:t>Requirements of Indicator Organisms</a:t>
            </a:r>
          </a:p>
        </p:txBody>
      </p:sp>
      <p:sp>
        <p:nvSpPr>
          <p:cNvPr id="10243" name="Rectangle 3"/>
          <p:cNvSpPr>
            <a:spLocks noGrp="1" noChangeArrowheads="1"/>
          </p:cNvSpPr>
          <p:nvPr>
            <p:ph idx="4294967295"/>
          </p:nvPr>
        </p:nvSpPr>
        <p:spPr>
          <a:xfrm>
            <a:off x="0" y="1774825"/>
            <a:ext cx="8229600" cy="4625975"/>
          </a:xfrm>
        </p:spPr>
        <p:txBody>
          <a:bodyPr>
            <a:normAutofit/>
          </a:bodyPr>
          <a:lstStyle/>
          <a:p>
            <a:pPr>
              <a:lnSpc>
                <a:spcPct val="90000"/>
              </a:lnSpc>
              <a:buFontTx/>
              <a:buNone/>
            </a:pPr>
            <a:r>
              <a:rPr lang="en-US" sz="2800"/>
              <a:t>present when pathogens present in water </a:t>
            </a:r>
          </a:p>
          <a:p>
            <a:pPr>
              <a:lnSpc>
                <a:spcPct val="90000"/>
              </a:lnSpc>
              <a:buFontTx/>
              <a:buNone/>
            </a:pPr>
            <a:r>
              <a:rPr lang="en-US" sz="2800"/>
              <a:t>absent in uncontaminated water</a:t>
            </a:r>
          </a:p>
          <a:p>
            <a:pPr>
              <a:lnSpc>
                <a:spcPct val="90000"/>
              </a:lnSpc>
              <a:buFontTx/>
              <a:buNone/>
            </a:pPr>
            <a:r>
              <a:rPr lang="en-US" sz="2800"/>
              <a:t>present in higher numbers than pathogens in contaminated water</a:t>
            </a:r>
          </a:p>
          <a:p>
            <a:pPr>
              <a:lnSpc>
                <a:spcPct val="90000"/>
              </a:lnSpc>
              <a:buFontTx/>
              <a:buNone/>
            </a:pPr>
            <a:r>
              <a:rPr lang="en-US" sz="2800"/>
              <a:t>quantity of the organism should correlate with the amount of pollution. </a:t>
            </a:r>
          </a:p>
          <a:p>
            <a:pPr>
              <a:lnSpc>
                <a:spcPct val="90000"/>
              </a:lnSpc>
              <a:buFontTx/>
              <a:buNone/>
            </a:pPr>
            <a:r>
              <a:rPr lang="en-US" sz="2800"/>
              <a:t>survives better  and longer than to that of the pathogen.</a:t>
            </a:r>
          </a:p>
          <a:p>
            <a:pPr>
              <a:lnSpc>
                <a:spcPct val="90000"/>
              </a:lnSpc>
              <a:buFontTx/>
              <a:buNone/>
            </a:pPr>
            <a:r>
              <a:rPr lang="en-US" sz="2800"/>
              <a:t>generally harmless to humans and other animals</a:t>
            </a:r>
          </a:p>
          <a:p>
            <a:pPr>
              <a:lnSpc>
                <a:spcPct val="90000"/>
              </a:lnSpc>
              <a:buFontTx/>
              <a:buNone/>
            </a:pPr>
            <a:r>
              <a:rPr lang="en-US" sz="2800"/>
              <a:t>easy to analyze</a:t>
            </a:r>
          </a:p>
          <a:p>
            <a:pPr>
              <a:lnSpc>
                <a:spcPct val="90000"/>
              </a:lnSpc>
            </a:pPr>
            <a:endParaRPr 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0" end="0"/>
                                            </p:txEl>
                                          </p:spTgt>
                                        </p:tgtEl>
                                        <p:attrNameLst>
                                          <p:attrName>ppt_c</p:attrName>
                                        </p:attrNameLst>
                                      </p:cBhvr>
                                      <p:to>
                                        <a:schemeClr val="hlink"/>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1" end="1"/>
                                            </p:txEl>
                                          </p:spTgt>
                                        </p:tgtEl>
                                        <p:attrNameLst>
                                          <p:attrName>ppt_c</p:attrName>
                                        </p:attrNameLst>
                                      </p:cBhvr>
                                      <p:to>
                                        <a:schemeClr val="hlink"/>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2" end="2"/>
                                            </p:txEl>
                                          </p:spTgt>
                                        </p:tgtEl>
                                        <p:attrNameLst>
                                          <p:attrName>ppt_c</p:attrName>
                                        </p:attrNameLst>
                                      </p:cBhvr>
                                      <p:to>
                                        <a:schemeClr val="hlink"/>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3" end="3"/>
                                            </p:txEl>
                                          </p:spTgt>
                                        </p:tgtEl>
                                        <p:attrNameLst>
                                          <p:attrName>ppt_c</p:attrName>
                                        </p:attrNameLst>
                                      </p:cBhvr>
                                      <p:to>
                                        <a:schemeClr val="hlink"/>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4" end="4"/>
                                            </p:txEl>
                                          </p:spTgt>
                                        </p:tgtEl>
                                        <p:attrNameLst>
                                          <p:attrName>ppt_c</p:attrName>
                                        </p:attrNameLst>
                                      </p:cBhvr>
                                      <p:to>
                                        <a:schemeClr val="hlink"/>
                                      </p:to>
                                    </p:animClr>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5" end="5"/>
                                            </p:txEl>
                                          </p:spTgt>
                                        </p:tgtEl>
                                        <p:attrNameLst>
                                          <p:attrName>ppt_c</p:attrName>
                                        </p:attrNameLst>
                                      </p:cBhvr>
                                      <p:to>
                                        <a:schemeClr val="hlink"/>
                                      </p:to>
                                    </p:animClr>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0243">
                                            <p:txEl>
                                              <p:pRg st="6" end="6"/>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idx="4294967295"/>
          </p:nvPr>
        </p:nvSpPr>
        <p:spPr>
          <a:xfrm>
            <a:off x="0" y="155575"/>
            <a:ext cx="8229600" cy="1252538"/>
          </a:xfrm>
        </p:spPr>
        <p:txBody>
          <a:bodyPr>
            <a:normAutofit fontScale="90000"/>
          </a:bodyPr>
          <a:lstStyle/>
          <a:p>
            <a:r>
              <a:rPr lang="en-US" sz="4000" b="1"/>
              <a:t/>
            </a:r>
            <a:br>
              <a:rPr lang="en-US" sz="4000" b="1"/>
            </a:br>
            <a:r>
              <a:rPr lang="en-US" sz="4000" b="1"/>
              <a:t/>
            </a:r>
            <a:br>
              <a:rPr lang="en-US" sz="4000" b="1"/>
            </a:br>
            <a:r>
              <a:rPr lang="en-US" sz="4000" b="1"/>
              <a:t>Coliform Bacteria</a:t>
            </a:r>
            <a:br>
              <a:rPr lang="en-US" sz="4000" b="1"/>
            </a:br>
            <a:r>
              <a:rPr lang="en-US" sz="4000" b="1"/>
              <a:t>and Drinking Water</a:t>
            </a:r>
            <a:r>
              <a:rPr lang="en-US" sz="4000"/>
              <a:t/>
            </a:r>
            <a:br>
              <a:rPr lang="en-US" sz="4000"/>
            </a:br>
            <a:r>
              <a:rPr lang="en-US" sz="4000"/>
              <a:t/>
            </a:r>
            <a:br>
              <a:rPr lang="en-US" sz="4000"/>
            </a:br>
            <a:endParaRPr lang="en-US" sz="4000"/>
          </a:p>
        </p:txBody>
      </p:sp>
      <p:sp>
        <p:nvSpPr>
          <p:cNvPr id="134147" name="Rectangle 3"/>
          <p:cNvSpPr>
            <a:spLocks noGrp="1" noChangeArrowheads="1"/>
          </p:cNvSpPr>
          <p:nvPr>
            <p:ph idx="4294967295"/>
          </p:nvPr>
        </p:nvSpPr>
        <p:spPr>
          <a:xfrm>
            <a:off x="0" y="1774825"/>
            <a:ext cx="8229600" cy="4625975"/>
          </a:xfrm>
        </p:spPr>
        <p:txBody>
          <a:bodyPr>
            <a:normAutofit/>
          </a:bodyPr>
          <a:lstStyle/>
          <a:p>
            <a:pPr>
              <a:buFontTx/>
              <a:buNone/>
            </a:pPr>
            <a:r>
              <a:rPr lang="en-US" sz="2800">
                <a:latin typeface="Times New Roman" pitchFamily="18" charset="0"/>
              </a:rPr>
              <a:t>Public water systems are required to deliver safe and reliable drinking water to their customers 24 hours</a:t>
            </a:r>
          </a:p>
          <a:p>
            <a:pPr>
              <a:buFontTx/>
              <a:buNone/>
            </a:pPr>
            <a:r>
              <a:rPr lang="en-US" sz="2800">
                <a:latin typeface="Times New Roman" pitchFamily="18" charset="0"/>
              </a:rPr>
              <a:t>    a day, 365 days a year. If the water supply becomes contaminated, consumers can become seriously ill.</a:t>
            </a:r>
          </a:p>
          <a:p>
            <a:pPr>
              <a:buFontTx/>
              <a:buNone/>
            </a:pPr>
            <a:r>
              <a:rPr lang="en-US" sz="2800">
                <a:latin typeface="Times New Roman" pitchFamily="18" charset="0"/>
              </a:rPr>
              <a:t>Fortunately, many steps are being taken to ensure that the public is provided with safe drinking water.</a:t>
            </a:r>
          </a:p>
          <a:p>
            <a:pPr>
              <a:buFontTx/>
              <a:buNone/>
            </a:pPr>
            <a:r>
              <a:rPr lang="en-US" sz="2800">
                <a:latin typeface="Times New Roman" pitchFamily="18" charset="0"/>
              </a:rPr>
              <a:t>One of the most important steps is to have the water tested for coliform bacteria. Public water systems</a:t>
            </a:r>
          </a:p>
          <a:p>
            <a:pPr>
              <a:buFontTx/>
              <a:buNone/>
            </a:pPr>
            <a:r>
              <a:rPr lang="en-US" sz="2800">
                <a:latin typeface="Times New Roman" pitchFamily="18" charset="0"/>
              </a:rPr>
              <a:t>    must test for coliform bacteria regularly.</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0" y="155575"/>
            <a:ext cx="8229600" cy="1252538"/>
          </a:xfrm>
        </p:spPr>
        <p:txBody>
          <a:bodyPr>
            <a:normAutofit fontScale="90000"/>
          </a:bodyPr>
          <a:lstStyle/>
          <a:p>
            <a:r>
              <a:rPr lang="en-US" sz="4000" b="1"/>
              <a:t>What are coliform bacteria?</a:t>
            </a:r>
            <a:br>
              <a:rPr lang="en-US" sz="4000" b="1"/>
            </a:br>
            <a:endParaRPr lang="en-US" sz="4000" b="1"/>
          </a:p>
        </p:txBody>
      </p:sp>
      <p:sp>
        <p:nvSpPr>
          <p:cNvPr id="135171" name="Rectangle 3"/>
          <p:cNvSpPr>
            <a:spLocks noGrp="1" noChangeArrowheads="1"/>
          </p:cNvSpPr>
          <p:nvPr>
            <p:ph idx="4294967295"/>
          </p:nvPr>
        </p:nvSpPr>
        <p:spPr>
          <a:xfrm>
            <a:off x="0" y="1774825"/>
            <a:ext cx="8229600" cy="4625975"/>
          </a:xfrm>
        </p:spPr>
        <p:txBody>
          <a:bodyPr>
            <a:normAutofit/>
          </a:bodyPr>
          <a:lstStyle/>
          <a:p>
            <a:pPr>
              <a:buFontTx/>
              <a:buNone/>
            </a:pPr>
            <a:r>
              <a:rPr lang="en-US" sz="2800"/>
              <a:t>Coliform bacteria are organisms that are present in the environment and in the feces of all warm-blooded animals and humans. </a:t>
            </a:r>
          </a:p>
          <a:p>
            <a:pPr>
              <a:buFontTx/>
              <a:buNone/>
            </a:pPr>
            <a:r>
              <a:rPr lang="en-US" sz="2800"/>
              <a:t>Coliform bacteria will not likely cause illness. However, the presence of coliform bacteria in drinking water indicates that disease-causing organisms (pathogens) may be present in the water system. Most pathogens that can contaminate water supplies come from the feces of humans or animals. </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3"/>
          <p:cNvSpPr>
            <a:spLocks noGrp="1" noChangeArrowheads="1"/>
          </p:cNvSpPr>
          <p:nvPr>
            <p:ph idx="4294967295"/>
          </p:nvPr>
        </p:nvSpPr>
        <p:spPr>
          <a:xfrm>
            <a:off x="0" y="1774825"/>
            <a:ext cx="8229600" cy="4625975"/>
          </a:xfrm>
        </p:spPr>
        <p:txBody>
          <a:bodyPr>
            <a:normAutofit/>
          </a:bodyPr>
          <a:lstStyle/>
          <a:p>
            <a:pPr>
              <a:buFontTx/>
              <a:buNone/>
            </a:pPr>
            <a:r>
              <a:rPr lang="en-US" sz="2800"/>
              <a:t>Testing drinking water for all possible pathogens is complex, time-consuming, and expensive.</a:t>
            </a:r>
          </a:p>
          <a:p>
            <a:pPr>
              <a:buFontTx/>
              <a:buNone/>
            </a:pPr>
            <a:r>
              <a:rPr lang="en-US" sz="2800"/>
              <a:t>It is relatively easy and inexpensive to test for coliform bacteria. If coliform bacteria are found in a water sample, steps are taken to find the source of contamination and restore safe drinking water. </a:t>
            </a:r>
          </a:p>
          <a:p>
            <a:pPr>
              <a:buFontTx/>
              <a:buNone/>
            </a:pPr>
            <a:r>
              <a:rPr lang="en-US" sz="2800"/>
              <a:t>There are three different groups of coliform bacteria; each has a different level of risk.</a:t>
            </a:r>
          </a:p>
          <a:p>
            <a:pPr>
              <a:buFontTx/>
              <a:buNone/>
            </a:pPr>
            <a:endParaRPr lang="en-US" sz="2800"/>
          </a:p>
          <a:p>
            <a:endParaRPr lang="en-US" sz="280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0" y="155575"/>
            <a:ext cx="8229600" cy="1252538"/>
          </a:xfrm>
        </p:spPr>
        <p:txBody>
          <a:bodyPr>
            <a:normAutofit fontScale="90000"/>
          </a:bodyPr>
          <a:lstStyle/>
          <a:p>
            <a:r>
              <a:rPr lang="en-US" sz="4000" b="1"/>
              <a:t>Total coliform, fecal coliform, and </a:t>
            </a:r>
            <a:r>
              <a:rPr lang="en-US" sz="4000" b="1" i="1"/>
              <a:t>Escherichia coli</a:t>
            </a:r>
            <a:r>
              <a:rPr lang="en-US" sz="4000" b="1"/>
              <a:t/>
            </a:r>
            <a:br>
              <a:rPr lang="en-US" sz="4000" b="1"/>
            </a:br>
            <a:endParaRPr lang="en-US" sz="4000" b="1"/>
          </a:p>
        </p:txBody>
      </p:sp>
      <p:sp>
        <p:nvSpPr>
          <p:cNvPr id="137219" name="Rectangle 3"/>
          <p:cNvSpPr>
            <a:spLocks noGrp="1" noChangeArrowheads="1"/>
          </p:cNvSpPr>
          <p:nvPr>
            <p:ph idx="4294967295"/>
          </p:nvPr>
        </p:nvSpPr>
        <p:spPr>
          <a:xfrm>
            <a:off x="0" y="1774825"/>
            <a:ext cx="8229600" cy="4625975"/>
          </a:xfrm>
        </p:spPr>
        <p:txBody>
          <a:bodyPr/>
          <a:lstStyle/>
          <a:p>
            <a:pPr>
              <a:buFontTx/>
              <a:buNone/>
            </a:pPr>
            <a:r>
              <a:rPr lang="en-US"/>
              <a:t>Total coliform, fecal coliform, and </a:t>
            </a:r>
            <a:r>
              <a:rPr lang="en-US" i="1"/>
              <a:t>E. coli </a:t>
            </a:r>
            <a:r>
              <a:rPr lang="en-US"/>
              <a:t>are all indicators of drinking water quality. The total coliform group is a large collection of different kinds of bacteria. The fecal coliform group is a sub-group of total coliform and has fewer kinds of bacteria. </a:t>
            </a:r>
            <a:r>
              <a:rPr lang="en-US" i="1"/>
              <a:t>E. coli </a:t>
            </a:r>
            <a:r>
              <a:rPr lang="en-US"/>
              <a:t>is a sub-group of fecal coliform. </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371" name="Object 3"/>
          <p:cNvGraphicFramePr>
            <a:graphicFrameLocks noGrp="1" noChangeAspect="1"/>
          </p:cNvGraphicFramePr>
          <p:nvPr>
            <p:ph idx="4294967295"/>
            <p:extLst>
              <p:ext uri="{D42A27DB-BD31-4B8C-83A1-F6EECF244321}">
                <p14:modId xmlns:p14="http://schemas.microsoft.com/office/powerpoint/2010/main" val="2801755704"/>
              </p:ext>
            </p:extLst>
          </p:nvPr>
        </p:nvGraphicFramePr>
        <p:xfrm>
          <a:off x="2209800" y="2362200"/>
          <a:ext cx="2601686" cy="2276475"/>
        </p:xfrm>
        <a:graphic>
          <a:graphicData uri="http://schemas.openxmlformats.org/presentationml/2006/ole">
            <mc:AlternateContent xmlns:mc="http://schemas.openxmlformats.org/markup-compatibility/2006">
              <mc:Choice xmlns:v="urn:schemas-microsoft-com:vml" Requires="v">
                <p:oleObj spid="_x0000_s186374" name="Bitmap Image" r:id="rId3" imgW="1066667" imgH="933580" progId="PBrush">
                  <p:embed/>
                </p:oleObj>
              </mc:Choice>
              <mc:Fallback>
                <p:oleObj name="Bitmap Image" r:id="rId3" imgW="1066667" imgH="933580" progId="PBrush">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362200"/>
                        <a:ext cx="2601686" cy="2276475"/>
                      </a:xfrm>
                      <a:prstGeom prst="rect">
                        <a:avLst/>
                      </a:prstGeom>
                      <a:noFill/>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3"/>
          <p:cNvSpPr>
            <a:spLocks noGrp="1" noChangeArrowheads="1"/>
          </p:cNvSpPr>
          <p:nvPr>
            <p:ph idx="4294967295"/>
          </p:nvPr>
        </p:nvSpPr>
        <p:spPr>
          <a:xfrm>
            <a:off x="0" y="1774825"/>
            <a:ext cx="8229600" cy="4625975"/>
          </a:xfrm>
        </p:spPr>
        <p:txBody>
          <a:bodyPr/>
          <a:lstStyle/>
          <a:p>
            <a:pPr>
              <a:buFontTx/>
              <a:buNone/>
            </a:pPr>
            <a:r>
              <a:rPr lang="en-US"/>
              <a:t>When a water sample is sent to a lab, it is tested for total coliform. If total coliform is present, the sample will also be tested for </a:t>
            </a:r>
            <a:r>
              <a:rPr lang="en-US" i="1"/>
              <a:t>either </a:t>
            </a:r>
            <a:r>
              <a:rPr lang="en-US"/>
              <a:t>fecal coliform or </a:t>
            </a:r>
            <a:r>
              <a:rPr lang="en-US" i="1"/>
              <a:t>E. coli</a:t>
            </a:r>
            <a:r>
              <a:rPr lang="en-US"/>
              <a:t>, depending on the lab testing method.</a:t>
            </a:r>
          </a:p>
          <a:p>
            <a:pPr>
              <a:buFontTx/>
              <a:buNone/>
            </a:pPr>
            <a:endParaRPr lang="en-US"/>
          </a:p>
          <a:p>
            <a:endParaRPr lang="en-US"/>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a:xfrm>
            <a:off x="0" y="155575"/>
            <a:ext cx="8229600" cy="1252538"/>
          </a:xfrm>
        </p:spPr>
        <p:txBody>
          <a:bodyPr/>
          <a:lstStyle/>
          <a:p>
            <a:r>
              <a:rPr lang="en-US" b="1"/>
              <a:t>Total coliform bacteria</a:t>
            </a:r>
          </a:p>
        </p:txBody>
      </p:sp>
      <p:sp>
        <p:nvSpPr>
          <p:cNvPr id="139267" name="Rectangle 3"/>
          <p:cNvSpPr>
            <a:spLocks noGrp="1" noChangeArrowheads="1"/>
          </p:cNvSpPr>
          <p:nvPr>
            <p:ph idx="4294967295"/>
          </p:nvPr>
        </p:nvSpPr>
        <p:spPr>
          <a:xfrm>
            <a:off x="0" y="1774825"/>
            <a:ext cx="8229600" cy="4625975"/>
          </a:xfrm>
        </p:spPr>
        <p:txBody>
          <a:bodyPr>
            <a:normAutofit/>
          </a:bodyPr>
          <a:lstStyle/>
          <a:p>
            <a:pPr>
              <a:buFontTx/>
              <a:buNone/>
            </a:pPr>
            <a:r>
              <a:rPr lang="en-US" sz="2800"/>
              <a:t>Are commonly found in the environment (e.g., soil or vegetation) and are generally harmless. If only total coliform bacteria are detected in drinking water, the source is probably environmental. Fecal contamination is not likely.</a:t>
            </a:r>
          </a:p>
          <a:p>
            <a:pPr>
              <a:buFontTx/>
              <a:buNone/>
            </a:pPr>
            <a:r>
              <a:rPr lang="en-US" sz="2800"/>
              <a:t>However, if environmental contamination can enter the system, there may be a way for pathogens to enter the system. Therefore, it is important to determine the source and to resolve the problem.</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idx="4294967295"/>
          </p:nvPr>
        </p:nvSpPr>
        <p:spPr>
          <a:xfrm>
            <a:off x="0" y="155575"/>
            <a:ext cx="8229600" cy="1252538"/>
          </a:xfrm>
        </p:spPr>
        <p:txBody>
          <a:bodyPr/>
          <a:lstStyle/>
          <a:p>
            <a:r>
              <a:rPr lang="en-US" smtClean="0"/>
              <a:t>Fecal coliform bacteria</a:t>
            </a:r>
            <a:endParaRPr lang="en-US"/>
          </a:p>
        </p:txBody>
      </p:sp>
      <p:sp>
        <p:nvSpPr>
          <p:cNvPr id="188419" name="Rectangle 3"/>
          <p:cNvSpPr>
            <a:spLocks noGrp="1" noChangeArrowheads="1"/>
          </p:cNvSpPr>
          <p:nvPr>
            <p:ph idx="4294967295"/>
          </p:nvPr>
        </p:nvSpPr>
        <p:spPr>
          <a:xfrm>
            <a:off x="0" y="1774825"/>
            <a:ext cx="8229600" cy="4625975"/>
          </a:xfrm>
        </p:spPr>
        <p:txBody>
          <a:bodyPr/>
          <a:lstStyle/>
          <a:p>
            <a:r>
              <a:rPr lang="en-US" smtClean="0"/>
              <a:t>A sub-group of the total coliform group. They appear in great quantities in the intestines and feces of people and animals. The presence of fecal coliform in a drinking water sample often indicates recent fecal contamination – meaning that there is a greater risk that pathogens are present than if only total coliform bacteria is detected.</a:t>
            </a:r>
          </a:p>
          <a:p>
            <a:endParaRPr lang="en-US" smtClean="0"/>
          </a:p>
          <a:p>
            <a:endParaRPr 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p:cNvSpPr>
            <a:spLocks noGrp="1" noChangeArrowheads="1"/>
          </p:cNvSpPr>
          <p:nvPr>
            <p:ph idx="4294967295"/>
          </p:nvPr>
        </p:nvSpPr>
        <p:spPr>
          <a:xfrm>
            <a:off x="0" y="1774825"/>
            <a:ext cx="8229600" cy="4625975"/>
          </a:xfrm>
        </p:spPr>
        <p:txBody>
          <a:bodyPr/>
          <a:lstStyle/>
          <a:p>
            <a:pPr>
              <a:buFontTx/>
              <a:buNone/>
            </a:pPr>
            <a:r>
              <a:rPr lang="en-US" b="1" i="1"/>
              <a:t>E. coli </a:t>
            </a:r>
            <a:r>
              <a:rPr lang="en-US"/>
              <a:t>is a sub-group of the fecal coliform group. Most </a:t>
            </a:r>
            <a:r>
              <a:rPr lang="en-US" i="1"/>
              <a:t>E. coli </a:t>
            </a:r>
            <a:r>
              <a:rPr lang="en-US"/>
              <a:t>are harmless and are found in great quantities in the intestines of people and warm-blooded animals. Some strains, however, may cause illness. </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ChangeArrowheads="1"/>
          </p:cNvSpPr>
          <p:nvPr>
            <p:ph idx="4294967295"/>
          </p:nvPr>
        </p:nvSpPr>
        <p:spPr>
          <a:xfrm>
            <a:off x="0" y="1774825"/>
            <a:ext cx="8229600" cy="4625975"/>
          </a:xfrm>
        </p:spPr>
        <p:txBody>
          <a:bodyPr/>
          <a:lstStyle/>
          <a:p>
            <a:pPr>
              <a:buFontTx/>
              <a:buNone/>
            </a:pPr>
            <a:r>
              <a:rPr lang="en-US" dirty="0">
                <a:latin typeface="Times New Roman" pitchFamily="18" charset="0"/>
              </a:rPr>
              <a:t>The presence of </a:t>
            </a:r>
            <a:r>
              <a:rPr lang="en-US" i="1" dirty="0">
                <a:latin typeface="Times New Roman" pitchFamily="18" charset="0"/>
              </a:rPr>
              <a:t>E. coli </a:t>
            </a:r>
            <a:r>
              <a:rPr lang="en-US" dirty="0">
                <a:latin typeface="Times New Roman" pitchFamily="18" charset="0"/>
              </a:rPr>
              <a:t>in a drinking water sample almost always indicates recent fecal contamination – meaning that there is a greater risk that pathogens are present.</a:t>
            </a:r>
          </a:p>
          <a:p>
            <a:pPr>
              <a:buFontTx/>
              <a:buNone/>
            </a:pPr>
            <a:r>
              <a:rPr lang="en-US" sz="2400" i="1" dirty="0" smtClean="0"/>
              <a:t>WHO bacteriological quality of drinking water (WHO, 1996) </a:t>
            </a:r>
            <a:endParaRPr lang="en-US" sz="2400" dirty="0">
              <a:latin typeface="Times New Roman" pitchFamily="18" charset="0"/>
            </a:endParaRPr>
          </a:p>
          <a:p>
            <a:r>
              <a:rPr lang="en-US" sz="2400" i="1" dirty="0" err="1" smtClean="0"/>
              <a:t>E.coli</a:t>
            </a:r>
            <a:r>
              <a:rPr lang="en-US" sz="2400" i="1" dirty="0" smtClean="0"/>
              <a:t> </a:t>
            </a:r>
            <a:r>
              <a:rPr lang="en-US" sz="2400" dirty="0" smtClean="0"/>
              <a:t>or </a:t>
            </a:r>
            <a:r>
              <a:rPr lang="en-US" sz="2400" dirty="0" err="1" smtClean="0"/>
              <a:t>thermotolerant</a:t>
            </a:r>
            <a:r>
              <a:rPr lang="en-US" sz="2400" dirty="0" smtClean="0"/>
              <a:t> </a:t>
            </a:r>
            <a:r>
              <a:rPr lang="en-US" sz="2400" dirty="0" err="1" smtClean="0"/>
              <a:t>coliform</a:t>
            </a:r>
            <a:r>
              <a:rPr lang="en-US" sz="2400" dirty="0" smtClean="0"/>
              <a:t> bacteria -Must not be detectable in any 100ml sample</a:t>
            </a:r>
          </a:p>
          <a:p>
            <a:r>
              <a:rPr lang="en-US" sz="2400" dirty="0" smtClean="0"/>
              <a:t>Total </a:t>
            </a:r>
            <a:r>
              <a:rPr lang="en-US" sz="2400" dirty="0" err="1" smtClean="0"/>
              <a:t>coliform</a:t>
            </a:r>
            <a:r>
              <a:rPr lang="en-US" sz="2400" dirty="0" smtClean="0"/>
              <a:t> bacteria -Must not be detectable in any 100ml sample</a:t>
            </a:r>
          </a:p>
          <a:p>
            <a:endParaRPr lang="en-US" dirty="0">
              <a:latin typeface="Times New Roman" pitchFamily="18" charset="0"/>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idx="4294967295"/>
          </p:nvPr>
        </p:nvSpPr>
        <p:spPr>
          <a:xfrm>
            <a:off x="0" y="155575"/>
            <a:ext cx="8229600" cy="1252538"/>
          </a:xfrm>
        </p:spPr>
        <p:txBody>
          <a:bodyPr/>
          <a:lstStyle/>
          <a:p>
            <a:r>
              <a:rPr lang="en-US" b="1"/>
              <a:t>A Note about </a:t>
            </a:r>
            <a:r>
              <a:rPr lang="en-US" b="1" i="1"/>
              <a:t>E. coli:</a:t>
            </a:r>
          </a:p>
        </p:txBody>
      </p:sp>
      <p:sp>
        <p:nvSpPr>
          <p:cNvPr id="144387" name="Rectangle 3"/>
          <p:cNvSpPr>
            <a:spLocks noGrp="1" noChangeArrowheads="1"/>
          </p:cNvSpPr>
          <p:nvPr>
            <p:ph idx="4294967295"/>
          </p:nvPr>
        </p:nvSpPr>
        <p:spPr>
          <a:xfrm>
            <a:off x="0" y="1774825"/>
            <a:ext cx="8229600" cy="4625975"/>
          </a:xfrm>
        </p:spPr>
        <p:txBody>
          <a:bodyPr>
            <a:normAutofit/>
          </a:bodyPr>
          <a:lstStyle/>
          <a:p>
            <a:pPr>
              <a:buFontTx/>
              <a:buNone/>
            </a:pPr>
            <a:r>
              <a:rPr lang="en-US" sz="2800">
                <a:latin typeface="Times New Roman" pitchFamily="18" charset="0"/>
              </a:rPr>
              <a:t>Most outbreaks have been related to food contamination, caused by a specific strain of  </a:t>
            </a:r>
            <a:r>
              <a:rPr lang="en-US" sz="2800" i="1">
                <a:latin typeface="Times New Roman" pitchFamily="18" charset="0"/>
              </a:rPr>
              <a:t> E. coli </a:t>
            </a:r>
            <a:r>
              <a:rPr lang="en-US" sz="2800">
                <a:latin typeface="Times New Roman" pitchFamily="18" charset="0"/>
              </a:rPr>
              <a:t>known as </a:t>
            </a:r>
            <a:r>
              <a:rPr lang="en-US" sz="2800" b="1" i="1">
                <a:latin typeface="Times New Roman" pitchFamily="18" charset="0"/>
              </a:rPr>
              <a:t>E. coli O157:H7</a:t>
            </a:r>
            <a:r>
              <a:rPr lang="en-US" sz="2800">
                <a:latin typeface="Times New Roman" pitchFamily="18" charset="0"/>
              </a:rPr>
              <a:t>. When a drinking water sample is reported as “</a:t>
            </a:r>
            <a:r>
              <a:rPr lang="en-US" sz="2800" i="1">
                <a:latin typeface="Times New Roman" pitchFamily="18" charset="0"/>
              </a:rPr>
              <a:t>E. coli </a:t>
            </a:r>
            <a:r>
              <a:rPr lang="en-US" sz="2800">
                <a:latin typeface="Times New Roman" pitchFamily="18" charset="0"/>
              </a:rPr>
              <a:t>present” it does not mean that this specific strain is present and in fact, it is probably not present. However, it does indicate recent fecal contamination.  </a:t>
            </a:r>
          </a:p>
          <a:p>
            <a:pPr>
              <a:buFontTx/>
              <a:buNone/>
            </a:pPr>
            <a:r>
              <a:rPr lang="en-US" sz="2800" b="1">
                <a:latin typeface="Times New Roman" pitchFamily="18" charset="0"/>
              </a:rPr>
              <a:t>Boiling, or treating contaminated drinking water with a disinfectant, destroys all forms of </a:t>
            </a:r>
            <a:r>
              <a:rPr lang="en-US" sz="2800" b="1" i="1">
                <a:latin typeface="Times New Roman" pitchFamily="18" charset="0"/>
              </a:rPr>
              <a:t>E. coli</a:t>
            </a:r>
            <a:r>
              <a:rPr lang="en-US" sz="2800" b="1">
                <a:latin typeface="Times New Roman" pitchFamily="18" charset="0"/>
              </a:rPr>
              <a:t>, including </a:t>
            </a:r>
            <a:r>
              <a:rPr lang="en-US" sz="2800" b="1" i="1">
                <a:latin typeface="Times New Roman" pitchFamily="18" charset="0"/>
              </a:rPr>
              <a:t>O157:H7.</a:t>
            </a:r>
            <a:endParaRPr lang="en-US" sz="2800" b="1">
              <a:latin typeface="Times New Roman" pitchFamily="18" charset="0"/>
            </a:endParaRPr>
          </a:p>
          <a:p>
            <a:pPr>
              <a:buFontTx/>
              <a:buNone/>
            </a:pPr>
            <a:endParaRPr lang="en-US" sz="2800" b="1">
              <a:latin typeface="Times New Roman" pitchFamily="18" charset="0"/>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0" y="155575"/>
            <a:ext cx="8229600" cy="1252538"/>
          </a:xfrm>
        </p:spPr>
        <p:txBody>
          <a:bodyPr>
            <a:normAutofit fontScale="90000"/>
          </a:bodyPr>
          <a:lstStyle/>
          <a:p>
            <a:r>
              <a:rPr lang="en-US"/>
              <a:t>Coliform Bacteria - Indicators of Fecal Contamination</a:t>
            </a:r>
          </a:p>
        </p:txBody>
      </p:sp>
      <p:sp>
        <p:nvSpPr>
          <p:cNvPr id="11267" name="Rectangle 3"/>
          <p:cNvSpPr>
            <a:spLocks noGrp="1" noChangeArrowheads="1"/>
          </p:cNvSpPr>
          <p:nvPr>
            <p:ph idx="4294967295"/>
          </p:nvPr>
        </p:nvSpPr>
        <p:spPr>
          <a:xfrm>
            <a:off x="0" y="1774825"/>
            <a:ext cx="8229600" cy="4625975"/>
          </a:xfrm>
        </p:spPr>
        <p:txBody>
          <a:bodyPr/>
          <a:lstStyle/>
          <a:p>
            <a:pPr>
              <a:lnSpc>
                <a:spcPct val="90000"/>
              </a:lnSpc>
              <a:buFontTx/>
              <a:buNone/>
            </a:pPr>
            <a:r>
              <a:rPr lang="en-US"/>
              <a:t>bacteria in the family Enterobacteriaceae</a:t>
            </a:r>
            <a:endParaRPr lang="en-US" i="1"/>
          </a:p>
          <a:p>
            <a:pPr>
              <a:lnSpc>
                <a:spcPct val="90000"/>
              </a:lnSpc>
              <a:buFontTx/>
              <a:buNone/>
            </a:pPr>
            <a:r>
              <a:rPr lang="en-US"/>
              <a:t>generally include the genera </a:t>
            </a:r>
            <a:r>
              <a:rPr lang="en-US" i="1"/>
              <a:t>Enterobacter</a:t>
            </a:r>
            <a:r>
              <a:rPr lang="en-US"/>
              <a:t>, </a:t>
            </a:r>
            <a:r>
              <a:rPr lang="en-US" i="1"/>
              <a:t>Klebsiella</a:t>
            </a:r>
            <a:r>
              <a:rPr lang="en-US"/>
              <a:t>, </a:t>
            </a:r>
            <a:r>
              <a:rPr lang="en-US" i="1"/>
              <a:t>Citrobacter</a:t>
            </a:r>
            <a:r>
              <a:rPr lang="en-US"/>
              <a:t>, and </a:t>
            </a:r>
            <a:r>
              <a:rPr lang="en-US" i="1"/>
              <a:t>Escherichia  and Aeromonas sp.</a:t>
            </a:r>
          </a:p>
          <a:p>
            <a:pPr>
              <a:lnSpc>
                <a:spcPct val="90000"/>
              </a:lnSpc>
              <a:buFontTx/>
              <a:buNone/>
            </a:pPr>
            <a:r>
              <a:rPr lang="en-US"/>
              <a:t>present in the intestinal tract of numerous organisms</a:t>
            </a:r>
          </a:p>
          <a:p>
            <a:pPr>
              <a:lnSpc>
                <a:spcPct val="90000"/>
              </a:lnSpc>
              <a:buFontTx/>
              <a:buNone/>
            </a:pPr>
            <a:r>
              <a:rPr lang="en-US"/>
              <a:t>gram negative, non-spore forming rods</a:t>
            </a:r>
          </a:p>
          <a:p>
            <a:pPr>
              <a:lnSpc>
                <a:spcPct val="90000"/>
              </a:lnSpc>
              <a:buFontTx/>
              <a:buNone/>
            </a:pPr>
            <a:r>
              <a:rPr lang="en-US"/>
              <a:t>ferment lactose with acid and gas production in 48 hours at 35 °C</a:t>
            </a:r>
          </a:p>
          <a:p>
            <a:pPr>
              <a:lnSpc>
                <a:spcPct val="90000"/>
              </a:lnSpc>
              <a:buFontTx/>
              <a:buNone/>
            </a:pP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267">
                                            <p:txEl>
                                              <p:pRg st="0" end="0"/>
                                            </p:txEl>
                                          </p:spTgt>
                                        </p:tgtEl>
                                        <p:attrNameLst>
                                          <p:attrName>ppt_c</p:attrName>
                                        </p:attrNameLst>
                                      </p:cBhvr>
                                      <p:to>
                                        <a:schemeClr val="hlink"/>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267">
                                            <p:txEl>
                                              <p:pRg st="1" end="1"/>
                                            </p:txEl>
                                          </p:spTgt>
                                        </p:tgtEl>
                                        <p:attrNameLst>
                                          <p:attrName>ppt_c</p:attrName>
                                        </p:attrNameLst>
                                      </p:cBhvr>
                                      <p:to>
                                        <a:schemeClr val="hlink"/>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267">
                                            <p:txEl>
                                              <p:pRg st="2" end="2"/>
                                            </p:txEl>
                                          </p:spTgt>
                                        </p:tgtEl>
                                        <p:attrNameLst>
                                          <p:attrName>ppt_c</p:attrName>
                                        </p:attrNameLst>
                                      </p:cBhvr>
                                      <p:to>
                                        <a:schemeClr val="hlink"/>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267">
                                            <p:txEl>
                                              <p:pRg st="3" end="3"/>
                                            </p:txEl>
                                          </p:spTgt>
                                        </p:tgtEl>
                                        <p:attrNameLst>
                                          <p:attrName>ppt_c</p:attrName>
                                        </p:attrNameLst>
                                      </p:cBhvr>
                                      <p:to>
                                        <a:schemeClr val="hlink"/>
                                      </p:to>
                                    </p:animClr>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1267">
                                            <p:txEl>
                                              <p:pRg st="4" end="4"/>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idx="4294967295"/>
          </p:nvPr>
        </p:nvSpPr>
        <p:spPr>
          <a:xfrm>
            <a:off x="0" y="155575"/>
            <a:ext cx="8229600" cy="1252538"/>
          </a:xfrm>
        </p:spPr>
        <p:txBody>
          <a:bodyPr>
            <a:normAutofit/>
          </a:bodyPr>
          <a:lstStyle/>
          <a:p>
            <a:r>
              <a:rPr lang="en-US" sz="4000"/>
              <a:t>Family -ENTEROBACTERIACEAE</a:t>
            </a:r>
          </a:p>
        </p:txBody>
      </p:sp>
      <p:sp>
        <p:nvSpPr>
          <p:cNvPr id="193539" name="Rectangle 3"/>
          <p:cNvSpPr>
            <a:spLocks noGrp="1" noChangeArrowheads="1"/>
          </p:cNvSpPr>
          <p:nvPr>
            <p:ph idx="4294967295"/>
          </p:nvPr>
        </p:nvSpPr>
        <p:spPr>
          <a:xfrm>
            <a:off x="0" y="1774825"/>
            <a:ext cx="8229600" cy="4625975"/>
          </a:xfrm>
        </p:spPr>
        <p:txBody>
          <a:bodyPr/>
          <a:lstStyle/>
          <a:p>
            <a:pPr marL="609600" indent="-609600">
              <a:buFontTx/>
              <a:buNone/>
            </a:pPr>
            <a:r>
              <a:rPr lang="en-US" b="1"/>
              <a:t>Coliforms</a:t>
            </a:r>
          </a:p>
          <a:p>
            <a:pPr marL="609600" indent="-609600">
              <a:buFontTx/>
              <a:buAutoNum type="arabicPeriod"/>
            </a:pPr>
            <a:r>
              <a:rPr lang="en-US"/>
              <a:t>Total coliforms-  </a:t>
            </a:r>
            <a:r>
              <a:rPr lang="en-US" i="1"/>
              <a:t>Escherichia</a:t>
            </a:r>
            <a:r>
              <a:rPr lang="en-US"/>
              <a:t> sp. </a:t>
            </a:r>
            <a:r>
              <a:rPr lang="en-US" i="1"/>
              <a:t>Enterobacter sp.</a:t>
            </a:r>
            <a:r>
              <a:rPr lang="en-US"/>
              <a:t>, </a:t>
            </a:r>
            <a:r>
              <a:rPr lang="en-US" i="1"/>
              <a:t>Citrobacter sp., Klebsilla sp., Serratia sp., Yersinia sp.</a:t>
            </a:r>
          </a:p>
          <a:p>
            <a:pPr marL="609600" indent="-609600">
              <a:buFontTx/>
              <a:buAutoNum type="arabicPeriod"/>
            </a:pPr>
            <a:r>
              <a:rPr lang="en-US"/>
              <a:t>Fecal coliforms</a:t>
            </a:r>
            <a:r>
              <a:rPr lang="en-US" i="1"/>
              <a:t> – Escherichia coli, </a:t>
            </a:r>
          </a:p>
          <a:p>
            <a:pPr marL="609600" indent="-609600">
              <a:buFontTx/>
              <a:buAutoNum type="arabicPeriod"/>
            </a:pPr>
            <a:r>
              <a:rPr lang="en-US"/>
              <a:t>Non Coliforms</a:t>
            </a:r>
            <a:r>
              <a:rPr lang="en-US" i="1"/>
              <a:t> – Salmonella sp. Shigella sp. Proteus sp. Erwinia sp. Hafnia sp. </a:t>
            </a: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1458</TotalTime>
  <Words>1379</Words>
  <Application>Microsoft Office PowerPoint</Application>
  <PresentationFormat>On-screen Show (4:3)</PresentationFormat>
  <Paragraphs>161</Paragraphs>
  <Slides>42</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Arial</vt:lpstr>
      <vt:lpstr>Corbel</vt:lpstr>
      <vt:lpstr>Times New Roman</vt:lpstr>
      <vt:lpstr>Wingdings</vt:lpstr>
      <vt:lpstr>Wingdings 2</vt:lpstr>
      <vt:lpstr>Wingdings 3</vt:lpstr>
      <vt:lpstr>Module</vt:lpstr>
      <vt:lpstr>Bitmap Image</vt:lpstr>
      <vt:lpstr>Microbes in Water</vt:lpstr>
      <vt:lpstr>PowerPoint Presentation</vt:lpstr>
      <vt:lpstr>PowerPoint Presentation</vt:lpstr>
      <vt:lpstr>PowerPoint Presentation</vt:lpstr>
      <vt:lpstr>Quality standards of drinking water</vt:lpstr>
      <vt:lpstr>PowerPoint Presentation</vt:lpstr>
      <vt:lpstr>Water pollution</vt:lpstr>
      <vt:lpstr>PowerPoint Presentation</vt:lpstr>
      <vt:lpstr>Eutrophication: an enrichment problem</vt:lpstr>
      <vt:lpstr>PowerPoint Presentation</vt:lpstr>
      <vt:lpstr>PowerPoint Presentation</vt:lpstr>
      <vt:lpstr>PowerPoint Presentation</vt:lpstr>
      <vt:lpstr>PowerPoint Presentation</vt:lpstr>
      <vt:lpstr>PowerPoint Presentation</vt:lpstr>
      <vt:lpstr>Implications of Microbial Contamination of Water</vt:lpstr>
      <vt:lpstr>Water Borne Diseases/Pathogens</vt:lpstr>
      <vt:lpstr>Vibrio cholerae</vt:lpstr>
      <vt:lpstr>Yersinia enterocolitica</vt:lpstr>
      <vt:lpstr>Clostridium perfringens</vt:lpstr>
      <vt:lpstr>Water Borne Diseases/Pathogens</vt:lpstr>
      <vt:lpstr>                     Polio Virus</vt:lpstr>
      <vt:lpstr>Rotavirus</vt:lpstr>
      <vt:lpstr>Norwalk Agent</vt:lpstr>
      <vt:lpstr>Water Borne Diseases/Pathogens</vt:lpstr>
      <vt:lpstr>PowerPoint Presentation</vt:lpstr>
      <vt:lpstr>How we detect contamination? </vt:lpstr>
      <vt:lpstr>Difficulties With Routine Testing  of Pathogens in Water</vt:lpstr>
      <vt:lpstr> Testing of Indicator Organisms  </vt:lpstr>
      <vt:lpstr>Requirements of Indicator Organisms</vt:lpstr>
      <vt:lpstr>  Coliform Bacteria and Drinking Water  </vt:lpstr>
      <vt:lpstr>What are coliform bacteria? </vt:lpstr>
      <vt:lpstr>PowerPoint Presentation</vt:lpstr>
      <vt:lpstr>Total coliform, fecal coliform, and Escherichia coli </vt:lpstr>
      <vt:lpstr>PowerPoint Presentation</vt:lpstr>
      <vt:lpstr>PowerPoint Presentation</vt:lpstr>
      <vt:lpstr>Total coliform bacteria</vt:lpstr>
      <vt:lpstr>Fecal coliform bacteria</vt:lpstr>
      <vt:lpstr>PowerPoint Presentation</vt:lpstr>
      <vt:lpstr>PowerPoint Presentation</vt:lpstr>
      <vt:lpstr>A Note about E. coli:</vt:lpstr>
      <vt:lpstr>Coliform Bacteria - Indicators of Fecal Contamination</vt:lpstr>
      <vt:lpstr>Family -ENTEROBACTERIACEAE</vt:lpstr>
    </vt:vector>
  </TitlesOfParts>
  <Company>EPA Region VIII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Microorganisms  (The Coliform Group Bacteria)</dc:title>
  <dc:creator>us epa</dc:creator>
  <cp:lastModifiedBy>zumaira</cp:lastModifiedBy>
  <cp:revision>51</cp:revision>
  <cp:lastPrinted>2016-11-04T18:09:38Z</cp:lastPrinted>
  <dcterms:created xsi:type="dcterms:W3CDTF">1999-03-11T15:53:14Z</dcterms:created>
  <dcterms:modified xsi:type="dcterms:W3CDTF">2016-11-04T18:10:22Z</dcterms:modified>
</cp:coreProperties>
</file>