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04" r:id="rId149"/>
    <p:sldId id="405" r:id="rId150"/>
    <p:sldId id="406" r:id="rId151"/>
    <p:sldId id="407" r:id="rId152"/>
    <p:sldId id="408" r:id="rId153"/>
    <p:sldId id="409" r:id="rId154"/>
    <p:sldId id="410" r:id="rId155"/>
    <p:sldId id="411" r:id="rId156"/>
    <p:sldId id="412" r:id="rId157"/>
    <p:sldId id="413" r:id="rId158"/>
    <p:sldId id="414" r:id="rId159"/>
    <p:sldId id="415" r:id="rId160"/>
    <p:sldId id="416" r:id="rId161"/>
    <p:sldId id="417" r:id="rId162"/>
    <p:sldId id="418" r:id="rId163"/>
    <p:sldId id="419" r:id="rId164"/>
    <p:sldId id="420" r:id="rId165"/>
    <p:sldId id="421" r:id="rId166"/>
    <p:sldId id="422" r:id="rId167"/>
    <p:sldId id="423" r:id="rId168"/>
    <p:sldId id="424" r:id="rId169"/>
    <p:sldId id="425" r:id="rId170"/>
    <p:sldId id="426" r:id="rId171"/>
    <p:sldId id="427" r:id="rId172"/>
    <p:sldId id="428" r:id="rId173"/>
    <p:sldId id="429" r:id="rId174"/>
    <p:sldId id="430" r:id="rId175"/>
    <p:sldId id="431" r:id="rId176"/>
    <p:sldId id="432" r:id="rId177"/>
    <p:sldId id="433" r:id="rId178"/>
    <p:sldId id="434" r:id="rId179"/>
    <p:sldId id="435" r:id="rId180"/>
    <p:sldId id="436" r:id="rId181"/>
    <p:sldId id="437" r:id="rId182"/>
    <p:sldId id="438" r:id="rId183"/>
    <p:sldId id="439" r:id="rId184"/>
    <p:sldId id="440" r:id="rId185"/>
    <p:sldId id="441" r:id="rId186"/>
    <p:sldId id="442" r:id="rId187"/>
    <p:sldId id="443" r:id="rId188"/>
    <p:sldId id="444" r:id="rId189"/>
    <p:sldId id="445" r:id="rId190"/>
    <p:sldId id="446" r:id="rId191"/>
    <p:sldId id="447" r:id="rId192"/>
    <p:sldId id="448" r:id="rId193"/>
    <p:sldId id="449" r:id="rId194"/>
    <p:sldId id="450" r:id="rId195"/>
    <p:sldId id="451" r:id="rId196"/>
    <p:sldId id="256" r:id="rId1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notesMaster" Target="notesMasters/notesMaster1.xml"/><Relationship Id="rId202" Type="http://schemas.openxmlformats.org/officeDocument/2006/relationships/tableStyles" Target="tableStyle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00.wmf"/><Relationship Id="rId1" Type="http://schemas.openxmlformats.org/officeDocument/2006/relationships/image" Target="../media/image9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4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C1EBD5-FBA6-4722-B65D-AE55EA2D1D7A}" type="datetimeFigureOut">
              <a:rPr lang="en-US" smtClean="0"/>
              <a:t>1/3/2022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34EF8F-F10F-4CFA-BAB0-4070EFCCAAE8}" type="slidenum">
              <a:rPr lang="en-US" smtClean="0"/>
              <a:t>‹#›</a:t>
            </a:fld>
            <a:endParaRPr lang="en-US"/>
          </a:p>
        </p:txBody>
      </p:sp>
    </p:spTree>
    <p:extLst>
      <p:ext uri="{BB962C8B-B14F-4D97-AF65-F5344CB8AC3E}">
        <p14:creationId xmlns:p14="http://schemas.microsoft.com/office/powerpoint/2010/main" val="1498760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50938" y="692150"/>
            <a:ext cx="4556125" cy="3416300"/>
          </a:xfrm>
          <a:ln/>
        </p:spPr>
      </p:sp>
      <p:sp>
        <p:nvSpPr>
          <p:cNvPr id="78851" name="Rectangle 3"/>
          <p:cNvSpPr>
            <a:spLocks noGrp="1" noChangeArrowheads="1"/>
          </p:cNvSpPr>
          <p:nvPr>
            <p:ph type="body" idx="1"/>
          </p:nvPr>
        </p:nvSpPr>
        <p:spPr>
          <a:noFill/>
          <a:ln w="9525"/>
        </p:spPr>
        <p:txBody>
          <a:bodyPr/>
          <a:lstStyle/>
          <a:p>
            <a:endParaRPr lang="uk-UA">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966B53-E37B-4855-9C21-ADAB72900697}" type="slidenum">
              <a:rPr lang="en-US"/>
              <a:pPr/>
              <a:t>14</a:t>
            </a:fld>
            <a:endParaRPr lang="en-US"/>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004A6C-D80F-4C86-A931-59F6AFF624A6}" type="slidenum">
              <a:rPr lang="en-US"/>
              <a:pPr/>
              <a:t>15</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0CD54C-8235-46E7-9856-450FD9DBFE57}" type="slidenum">
              <a:rPr lang="en-US"/>
              <a:pPr/>
              <a:t>16</a:t>
            </a:fld>
            <a:endParaRPr 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C45E1D-A881-457E-97CF-2E892875B5F8}" type="slidenum">
              <a:rPr lang="en-US"/>
              <a:pPr/>
              <a:t>17</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DE0A74-B2FF-48C5-88A7-A1059C47A7D0}" type="slidenum">
              <a:rPr lang="en-US"/>
              <a:pPr/>
              <a:t>18</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F46ADAB-D8BF-4D78-9779-BF6D5DC02127}" type="slidenum">
              <a:rPr lang="en-US" smtClean="0"/>
              <a:pPr/>
              <a:t>22</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F3F1DE-38EC-472F-90D9-1ED275599087}" type="slidenum">
              <a:rPr lang="en-US"/>
              <a:pPr/>
              <a:t>25</a:t>
            </a:fld>
            <a:endParaRPr lang="en-US"/>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a:t>a) </a:t>
            </a:r>
            <a:r>
              <a:rPr lang="en-US" sz="1600">
                <a:solidFill>
                  <a:srgbClr val="009900"/>
                </a:solidFill>
              </a:rPr>
              <a:t>hexaaquacobalt(III) bromide</a:t>
            </a:r>
            <a:r>
              <a:rPr lang="en-US"/>
              <a:t> </a:t>
            </a:r>
          </a:p>
          <a:p>
            <a:r>
              <a:rPr lang="en-US"/>
              <a:t>b) </a:t>
            </a:r>
            <a:r>
              <a:rPr lang="en-US" sz="1600">
                <a:solidFill>
                  <a:srgbClr val="009900"/>
                </a:solidFill>
              </a:rPr>
              <a:t>sodiumtetrachloro-platinate(II)</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D9C76B-DEA7-492B-B879-40BFBF7EABC3}" type="slidenum">
              <a:rPr lang="en-US"/>
              <a:pPr/>
              <a:t>26</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884C6C-8C62-4E5C-9793-5A7C04C35A88}" type="slidenum">
              <a:rPr lang="en-US"/>
              <a:pPr/>
              <a:t>27</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EE565F-E5C0-45C0-AC7B-F910480851F3}" type="slidenum">
              <a:rPr lang="en-US"/>
              <a:pPr/>
              <a:t>28</a:t>
            </a:fld>
            <a:endParaRPr lang="en-US"/>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814CA9-44CE-4C83-8D5C-989FCFF8928E}" type="slidenum">
              <a:rPr lang="en-US"/>
              <a:pPr/>
              <a:t>29</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DA5DBC-44E1-4718-BC09-1AF2E7DFA389}" type="slidenum">
              <a:rPr lang="en-US"/>
              <a:pPr/>
              <a:t>30</a:t>
            </a:fld>
            <a:endParaRPr lang="en-US"/>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0C927C-B26A-45B8-921F-127E3513908A}" type="slidenum">
              <a:rPr lang="en-US"/>
              <a:pPr/>
              <a:t>31</a:t>
            </a:fld>
            <a:endParaRPr lang="en-US"/>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9F7C40-98C3-426B-8116-FDEF8FDB5C29}" type="slidenum">
              <a:rPr lang="en-US"/>
              <a:pPr/>
              <a:t>32</a:t>
            </a:fld>
            <a:endParaRPr lang="en-US"/>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61444F-9873-4D77-89DB-83C8F5386A9F}" type="slidenum">
              <a:rPr lang="en-US"/>
              <a:pPr/>
              <a:t>33</a:t>
            </a:fld>
            <a:endParaRPr lang="en-US"/>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5B9255-9AAC-411B-BE2E-AA64BEED73DC}" type="slidenum">
              <a:rPr lang="en-US"/>
              <a:pPr/>
              <a:t>34</a:t>
            </a:fld>
            <a:endParaRPr lang="en-US"/>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37BD58-AE66-4062-865C-1F88DA91426D}" type="slidenum">
              <a:rPr lang="en-US"/>
              <a:pPr/>
              <a:t>35</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1AD554-4755-47A2-908A-6D5E14411289}" type="slidenum">
              <a:rPr lang="en-US"/>
              <a:pPr/>
              <a:t>36</a:t>
            </a:fld>
            <a:endParaRPr lang="en-US"/>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2BF0CF-FFA5-4991-AB5B-B67F2D26185D}" type="slidenum">
              <a:rPr lang="en-US"/>
              <a:pPr/>
              <a:t>37</a:t>
            </a:fld>
            <a:endParaRPr lang="en-US"/>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pPr marL="228600" indent="-228600"/>
            <a:r>
              <a:rPr lang="en-US"/>
              <a:t>See Figure 21.17.  </a:t>
            </a:r>
            <a:r>
              <a:rPr lang="en-US" sz="1400"/>
              <a:t>[Co(en)</a:t>
            </a:r>
            <a:r>
              <a:rPr lang="en-US" sz="1400" baseline="-25000"/>
              <a:t>2</a:t>
            </a:r>
            <a:r>
              <a:rPr lang="en-US" sz="1400"/>
              <a:t>Cl</a:t>
            </a:r>
            <a:r>
              <a:rPr lang="en-US" sz="1400" baseline="-25000"/>
              <a:t>2</a:t>
            </a:r>
            <a:r>
              <a:rPr lang="en-US" sz="1400"/>
              <a:t>]Cl exhibits geometrical isomerism (</a:t>
            </a:r>
            <a:r>
              <a:rPr lang="en-US" sz="1400" i="1"/>
              <a:t>trans</a:t>
            </a:r>
            <a:r>
              <a:rPr lang="en-US" sz="1400"/>
              <a:t> and </a:t>
            </a:r>
            <a:r>
              <a:rPr lang="en-US" sz="1400" i="1"/>
              <a:t>cis</a:t>
            </a:r>
            <a:r>
              <a:rPr lang="en-US" sz="1400"/>
              <a:t> forms).  The </a:t>
            </a:r>
            <a:r>
              <a:rPr lang="en-US" sz="1400" i="1"/>
              <a:t>trans</a:t>
            </a:r>
            <a:r>
              <a:rPr lang="en-US" sz="1400"/>
              <a:t> form does not exhibit optical isomerism but the </a:t>
            </a:r>
            <a:r>
              <a:rPr lang="en-US" sz="1400" i="1"/>
              <a:t>cis</a:t>
            </a:r>
            <a:r>
              <a:rPr lang="en-US" sz="1400"/>
              <a:t> form does exhibit optical isomerism.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C1C925-7F52-4B2F-A7B1-941CA7D9A0F4}" type="slidenum">
              <a:rPr lang="en-US"/>
              <a:pPr/>
              <a:t>38</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2D6645-A918-4590-BF0C-C5DC930418FE}" type="slidenum">
              <a:rPr lang="en-US"/>
              <a:pPr/>
              <a:t>39</a:t>
            </a:fld>
            <a:endParaRPr lang="en-US"/>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4AC0AE-809A-4A67-A2F3-20C476AC4D57}" type="slidenum">
              <a:rPr lang="en-US"/>
              <a:pPr/>
              <a:t>40</a:t>
            </a:fld>
            <a:endParaRPr lang="en-US"/>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1428CD-0CB0-4E6C-912C-8B7C588120CA}" type="slidenum">
              <a:rPr lang="en-US"/>
              <a:pPr/>
              <a:t>41</a:t>
            </a:fld>
            <a:endParaRPr lang="en-US"/>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DB7EC8-1562-43CC-83CD-7DCA53BFC326}" type="slidenum">
              <a:rPr lang="en-US"/>
              <a:pPr/>
              <a:t>42</a:t>
            </a:fld>
            <a:endParaRPr 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8B315A-E854-44A4-9385-D9D6F9514434}" type="slidenum">
              <a:rPr lang="en-US"/>
              <a:pPr/>
              <a:t>43</a:t>
            </a:fld>
            <a:endParaRPr lang="en-US"/>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FE78C6-E999-485D-B585-9F059476AD60}" type="slidenum">
              <a:rPr lang="en-US"/>
              <a:pPr/>
              <a:t>44</a:t>
            </a:fld>
            <a:endParaRPr lang="en-US"/>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C8407C-E7E5-499D-8244-FA2F9F8182F0}" type="slidenum">
              <a:rPr lang="en-US"/>
              <a:pPr/>
              <a:t>45</a:t>
            </a:fld>
            <a:endParaRPr lang="en-US"/>
          </a:p>
        </p:txBody>
      </p:sp>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461FDF-D106-4B55-A941-D9FA408B595F}" type="slidenum">
              <a:rPr lang="en-US"/>
              <a:pPr/>
              <a:t>46</a:t>
            </a:fld>
            <a:endParaRPr lang="en-US"/>
          </a:p>
        </p:txBody>
      </p:sp>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379491-591E-482C-8A13-7278265FDB87}" type="slidenum">
              <a:rPr lang="en-US"/>
              <a:pPr/>
              <a:t>47</a:t>
            </a:fld>
            <a:endParaRPr lang="en-US"/>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A0D64B-CFEA-4733-8C64-8C676F980BD6}" type="slidenum">
              <a:rPr lang="en-US"/>
              <a:pPr/>
              <a:t>48</a:t>
            </a:fld>
            <a:endParaRPr lang="en-US"/>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A94A1C-239E-4197-ABB2-C35B450D6846}" type="slidenum">
              <a:rPr lang="en-US"/>
              <a:pPr/>
              <a:t>49</a:t>
            </a:fld>
            <a:endParaRPr lang="en-US"/>
          </a:p>
        </p:txBody>
      </p:sp>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11A9C0-F4DA-4891-B328-74EFA4B50A56}" type="slidenum">
              <a:rPr lang="en-US"/>
              <a:pPr/>
              <a:t>50</a:t>
            </a:fld>
            <a:endParaRPr lang="en-US"/>
          </a:p>
        </p:txBody>
      </p:sp>
      <p:sp>
        <p:nvSpPr>
          <p:cNvPr id="119810" name="Rectangle 2"/>
          <p:cNvSpPr>
            <a:spLocks noGrp="1" noRot="1" noChangeAspect="1" noChangeArrowheads="1" noTextEdit="1"/>
          </p:cNvSpPr>
          <p:nvPr>
            <p:ph type="sldImg"/>
          </p:nvPr>
        </p:nvSpPr>
        <p:spPr>
          <a:ln/>
        </p:spPr>
      </p:sp>
      <p:sp>
        <p:nvSpPr>
          <p:cNvPr id="1198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114B8F-9CDB-489A-95FE-E6A77D2469A5}" type="slidenum">
              <a:rPr lang="en-US"/>
              <a:pPr/>
              <a:t>51</a:t>
            </a:fld>
            <a:endParaRPr lang="en-US"/>
          </a:p>
        </p:txBody>
      </p:sp>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25403E-59AC-4D7F-A12C-2A9FF000EFFF}" type="slidenum">
              <a:rPr lang="en-US"/>
              <a:pPr/>
              <a:t>52</a:t>
            </a:fld>
            <a:endParaRPr lang="en-US"/>
          </a:p>
        </p:txBody>
      </p:sp>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47DCC5-70DC-4FB5-97FE-AECECA5A3301}" type="slidenum">
              <a:rPr lang="en-US"/>
              <a:pPr/>
              <a:t>53</a:t>
            </a:fld>
            <a:endParaRPr lang="en-US"/>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3F686E-DE21-492D-8132-D5AB01429A90}" type="slidenum">
              <a:rPr lang="en-US"/>
              <a:pPr/>
              <a:t>54</a:t>
            </a:fld>
            <a:endParaRPr lang="en-US"/>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p:txBody>
          <a:bodyPr/>
          <a:lstStyle/>
          <a:p>
            <a:pPr marL="228600" indent="-228600"/>
            <a:r>
              <a:rPr lang="en-US" dirty="0"/>
              <a:t>There are 4 colorless octahedral compounds. These are either d</a:t>
            </a:r>
            <a:r>
              <a:rPr lang="en-US" baseline="30000" dirty="0"/>
              <a:t>10</a:t>
            </a:r>
            <a:r>
              <a:rPr lang="en-US" dirty="0"/>
              <a:t> ions (Zn</a:t>
            </a:r>
            <a:r>
              <a:rPr lang="en-US" baseline="30000" dirty="0"/>
              <a:t>2+</a:t>
            </a:r>
            <a:r>
              <a:rPr lang="en-US" dirty="0"/>
              <a:t>, Cu</a:t>
            </a:r>
            <a:r>
              <a:rPr lang="en-US" baseline="30000" dirty="0"/>
              <a:t>+</a:t>
            </a:r>
            <a:r>
              <a:rPr lang="en-US" dirty="0"/>
              <a:t>, Ag</a:t>
            </a:r>
            <a:r>
              <a:rPr lang="en-US" baseline="30000" dirty="0"/>
              <a:t>+</a:t>
            </a:r>
            <a:r>
              <a:rPr lang="en-US" dirty="0"/>
              <a:t>), or the d</a:t>
            </a:r>
            <a:r>
              <a:rPr lang="en-US" baseline="30000" dirty="0"/>
              <a:t>0</a:t>
            </a:r>
            <a:r>
              <a:rPr lang="en-US" dirty="0"/>
              <a:t> ion (Ti</a:t>
            </a:r>
            <a:r>
              <a:rPr lang="en-US" baseline="30000" dirty="0"/>
              <a:t>4+</a:t>
            </a:r>
            <a:r>
              <a:rPr lang="en-US" dirty="0"/>
              <a:t>). If electrons cannot move from one energy level to the next in the energy level diagram, there is no color absorbed.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4A6B5A-FEB6-40B1-B289-ECB991B4815D}" type="slidenum">
              <a:rPr lang="en-US"/>
              <a:pPr/>
              <a:t>55</a:t>
            </a:fld>
            <a:endParaRPr lang="en-US"/>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A085E9-79AB-4353-8645-FF8D2087E1FB}" type="slidenum">
              <a:rPr lang="en-US"/>
              <a:pPr/>
              <a:t>56</a:t>
            </a:fld>
            <a:endParaRPr lang="en-US"/>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73B02D-A90C-44CD-855E-7DEAB02DCE33}" type="slidenum">
              <a:rPr lang="en-US"/>
              <a:pPr/>
              <a:t>57</a:t>
            </a:fld>
            <a:endParaRPr lang="en-US"/>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16F82D-7221-48EE-82D0-EAC67EDA197B}" type="slidenum">
              <a:rPr lang="en-US"/>
              <a:pPr/>
              <a:t>58</a:t>
            </a:fld>
            <a:endParaRPr lang="en-US"/>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pPr marL="228600" indent="-228600"/>
            <a:r>
              <a:rPr lang="en-US"/>
              <a:t>In all cases these answers explain the crystal field model. The molecular orbital model is a more powerful model and explains things differently. However, it is more complicated. This is another good time to discuss the role of models in science.</a:t>
            </a:r>
          </a:p>
          <a:p>
            <a:pPr marL="228600" indent="-228600"/>
            <a:r>
              <a:rPr lang="en-US"/>
              <a:t>a)  Lobes pointing between ligands are lower in energy because we assume ligands are negative point charges. Thus, orbitals (with electron probability) pointing at negative point charges will be relatively high in energy.</a:t>
            </a:r>
          </a:p>
          <a:p>
            <a:pPr marL="228600" indent="-228600"/>
            <a:r>
              <a:rPr lang="en-US"/>
              <a:t>b)  The electrons are from the metal.</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670E4C-CC1C-4648-B55D-95A19C3B2E43}" type="slidenum">
              <a:rPr lang="en-US"/>
              <a:pPr/>
              <a:t>59</a:t>
            </a:fld>
            <a:endParaRPr lang="en-US"/>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p:txBody>
          <a:bodyPr/>
          <a:lstStyle/>
          <a:p>
            <a:pPr marL="228600" indent="-228600"/>
            <a:r>
              <a:rPr lang="en-US"/>
              <a:t>c)  Since some orbitals are higher in energy than others (see "a"), electrons may actually be lower in energy by pairing up than by jumping up in energy to be in a separate orbital.</a:t>
            </a:r>
          </a:p>
          <a:p>
            <a:pPr marL="228600" indent="-228600"/>
            <a:r>
              <a:rPr lang="en-US"/>
              <a:t>d)  In an octahedral geometry there are some orbitals pointing directly at ligands. Thus, there is a greater energy difference between these (larger splitting).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DE1275-6A9C-48A2-96AD-D1879BE1C30E}" type="slidenum">
              <a:rPr lang="en-US"/>
              <a:pPr/>
              <a:t>60</a:t>
            </a:fld>
            <a:endParaRPr lang="en-US"/>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pPr marL="228600" indent="-228600"/>
            <a:r>
              <a:rPr lang="en-US"/>
              <a:t>a)  A </a:t>
            </a:r>
            <a:r>
              <a:rPr lang="en-US" i="1"/>
              <a:t>d </a:t>
            </a:r>
            <a:r>
              <a:rPr lang="en-US" baseline="30000"/>
              <a:t>8</a:t>
            </a:r>
            <a:r>
              <a:rPr lang="en-US"/>
              <a:t> ion will look the same as strong field or weak field in an octahedral complex. In each case there are two unpaired electrons.</a:t>
            </a:r>
          </a:p>
          <a:p>
            <a:pPr marL="228600" indent="-228600"/>
            <a:r>
              <a:rPr lang="en-US"/>
              <a:t>b)  This is a </a:t>
            </a:r>
            <a:r>
              <a:rPr lang="en-US" i="1"/>
              <a:t>d </a:t>
            </a:r>
            <a:r>
              <a:rPr lang="en-US" baseline="30000"/>
              <a:t>5</a:t>
            </a:r>
            <a:r>
              <a:rPr lang="en-US"/>
              <a:t> ion. In the weak field case, all five electrons are unpaired. In the strong field case, there is one unpaired electron.</a:t>
            </a:r>
          </a:p>
          <a:p>
            <a:pPr marL="228600" indent="-228600"/>
            <a:r>
              <a:rPr lang="en-US"/>
              <a:t>c) This is a </a:t>
            </a:r>
            <a:r>
              <a:rPr lang="en-US" i="1"/>
              <a:t>d </a:t>
            </a:r>
            <a:r>
              <a:rPr lang="en-US" baseline="30000"/>
              <a:t>6</a:t>
            </a:r>
            <a:r>
              <a:rPr lang="en-US"/>
              <a:t> ion. In the weak field case, there are four unpaired electrons. In the strong field case, there are no unpaired electrons.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D8DDAD-F98E-4543-A953-93681A162C01}" type="slidenum">
              <a:rPr lang="en-US"/>
              <a:pPr/>
              <a:t>61</a:t>
            </a:fld>
            <a:endParaRPr lang="en-US"/>
          </a:p>
        </p:txBody>
      </p:sp>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p:txBody>
          <a:bodyPr/>
          <a:lstStyle/>
          <a:p>
            <a:pPr marL="228600" indent="-228600"/>
            <a:r>
              <a:rPr lang="en-US"/>
              <a:t>Metal ions would need to be </a:t>
            </a:r>
            <a:r>
              <a:rPr lang="en-US" i="1"/>
              <a:t>d</a:t>
            </a:r>
            <a:r>
              <a:rPr lang="en-US" baseline="30000"/>
              <a:t>4</a:t>
            </a:r>
            <a:r>
              <a:rPr lang="en-US"/>
              <a:t> or </a:t>
            </a:r>
            <a:r>
              <a:rPr lang="en-US" i="1"/>
              <a:t>d</a:t>
            </a:r>
            <a:r>
              <a:rPr lang="en-US" baseline="30000"/>
              <a:t>7</a:t>
            </a:r>
            <a:r>
              <a:rPr lang="en-US"/>
              <a:t> ions. Examples include Mn</a:t>
            </a:r>
            <a:r>
              <a:rPr lang="en-US" baseline="30000"/>
              <a:t>3+</a:t>
            </a:r>
            <a:r>
              <a:rPr lang="en-US"/>
              <a:t>, Co</a:t>
            </a:r>
            <a:r>
              <a:rPr lang="en-US" baseline="30000"/>
              <a:t>2+</a:t>
            </a:r>
            <a:r>
              <a:rPr lang="en-US"/>
              <a:t>, and Cr</a:t>
            </a:r>
            <a:r>
              <a:rPr lang="en-US" baseline="30000"/>
              <a:t>2+</a:t>
            </a:r>
            <a:r>
              <a:rPr lang="en-US"/>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7394FE-6F56-43A7-B1A9-79A4A3F48C3A}" type="slidenum">
              <a:rPr lang="en-US"/>
              <a:pPr/>
              <a:t>62</a:t>
            </a:fld>
            <a:endParaRPr lang="en-US"/>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pPr marL="228600" indent="-228600"/>
            <a:r>
              <a:rPr lang="en-US"/>
              <a:t>[Mn(CN)</a:t>
            </a:r>
            <a:r>
              <a:rPr lang="en-US" baseline="-25000"/>
              <a:t>6</a:t>
            </a:r>
            <a:r>
              <a:rPr lang="en-US"/>
              <a:t>]</a:t>
            </a:r>
            <a:r>
              <a:rPr lang="en-US" baseline="30000"/>
              <a:t>4-</a:t>
            </a:r>
            <a:r>
              <a:rPr lang="en-US"/>
              <a:t> is more likely to be high spin because the charge on the Mn ion is 2+ while the [Mn(CN)</a:t>
            </a:r>
            <a:r>
              <a:rPr lang="en-US" baseline="-12000"/>
              <a:t>6</a:t>
            </a:r>
            <a:r>
              <a:rPr lang="en-US"/>
              <a:t>]</a:t>
            </a:r>
            <a:r>
              <a:rPr lang="en-US" baseline="34000"/>
              <a:t>3-</a:t>
            </a:r>
            <a:r>
              <a:rPr lang="en-US"/>
              <a:t> the charge on the Mn ion is 3+. With a larger charge, there is bigger splitting between energy levels, meaning strong field, or low spin.</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6ACAF8-A492-4EB6-9DC9-26C5C21662DD}" type="slidenum">
              <a:rPr lang="en-US"/>
              <a:pPr/>
              <a:t>63</a:t>
            </a:fld>
            <a:endParaRPr lang="en-US"/>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9E4996-18FF-45C8-B292-831885A707ED}" type="slidenum">
              <a:rPr lang="en-US"/>
              <a:pPr/>
              <a:t>64</a:t>
            </a:fld>
            <a:endParaRPr lang="en-US"/>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C15DB7-294B-4837-94A3-B6DA368678F7}" type="slidenum">
              <a:rPr lang="en-US"/>
              <a:pPr/>
              <a:t>65</a:t>
            </a:fld>
            <a:endParaRPr lang="en-US"/>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AE9F4F-40D4-4CD7-A8EE-10E9029BF416}" type="slidenum">
              <a:rPr lang="en-US"/>
              <a:pPr/>
              <a:t>66</a:t>
            </a:fld>
            <a:endParaRPr lang="en-US"/>
          </a:p>
        </p:txBody>
      </p:sp>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43CD19-A389-40CE-AA87-8FFEA6D8308C}" type="slidenum">
              <a:rPr lang="en-US"/>
              <a:pPr/>
              <a:t>67</a:t>
            </a:fld>
            <a:endParaRPr lang="en-US"/>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E179E6-E02D-4E12-8FF8-D6156747AC17}" type="slidenum">
              <a:rPr lang="en-US"/>
              <a:pPr/>
              <a:t>68</a:t>
            </a:fld>
            <a:endParaRPr lang="en-US"/>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59938C-3CF6-4902-A85A-C4E123DA2180}" type="slidenum">
              <a:rPr lang="en-US"/>
              <a:pPr/>
              <a:t>69</a:t>
            </a:fld>
            <a:endParaRPr lang="en-US"/>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19CE07-5B74-4E9A-9ED3-B4E291CEFC22}" type="slidenum">
              <a:rPr lang="en-US"/>
              <a:pPr/>
              <a:t>70</a:t>
            </a:fld>
            <a:endParaRPr lang="en-US"/>
          </a:p>
        </p:txBody>
      </p:sp>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164BAB-A2B2-475F-AF66-5321B6DC6DDD}" type="slidenum">
              <a:rPr lang="en-US"/>
              <a:pPr/>
              <a:t>71</a:t>
            </a:fld>
            <a:endParaRPr lang="en-US"/>
          </a:p>
        </p:txBody>
      </p:sp>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15B53E-0954-4E78-81DB-C7AD9BAD3365}" type="slidenum">
              <a:rPr lang="en-US"/>
              <a:pPr/>
              <a:t>72</a:t>
            </a:fld>
            <a:endParaRPr lang="en-US"/>
          </a:p>
        </p:txBody>
      </p:sp>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5121E0-8423-4713-A07D-F67060BE4B34}" type="slidenum">
              <a:rPr lang="en-US"/>
              <a:pPr/>
              <a:t>73</a:t>
            </a:fld>
            <a:endParaRPr lang="en-US"/>
          </a:p>
        </p:txBody>
      </p:sp>
      <p:sp>
        <p:nvSpPr>
          <p:cNvPr id="166914"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7DC668-C8A3-4D7A-89DF-E3588B4C3929}" type="slidenum">
              <a:rPr lang="en-US"/>
              <a:pPr/>
              <a:t>74</a:t>
            </a:fld>
            <a:endParaRPr lang="en-US"/>
          </a:p>
        </p:txBody>
      </p:sp>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208FA-879D-4AB8-8B7D-10583D5DD2D3}" type="slidenum">
              <a:rPr lang="en-US"/>
              <a:pPr/>
              <a:t>75</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2A586B-5E90-46AF-B57C-F957ECF11582}" type="slidenum">
              <a:rPr lang="en-US"/>
              <a:pPr/>
              <a:t>76</a:t>
            </a:fld>
            <a:endParaRPr lang="en-US"/>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373594-FE28-42BE-8E44-4718F4C5B946}" type="slidenum">
              <a:rPr lang="en-US"/>
              <a:pPr/>
              <a:t>77</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37736B-CD5D-4924-AA51-284D2A9F260B}" type="slidenum">
              <a:rPr lang="en-US"/>
              <a:pPr/>
              <a:t>78</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311F58-4B88-4986-AF29-522B80FF3362}" type="slidenum">
              <a:rPr lang="en-US"/>
              <a:pPr/>
              <a:t>79</a:t>
            </a:fld>
            <a:endParaRPr lang="en-US"/>
          </a:p>
        </p:txBody>
      </p:sp>
      <p:sp>
        <p:nvSpPr>
          <p:cNvPr id="1024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24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24-22</a:t>
            </a:r>
          </a:p>
          <a:p>
            <a:endParaRPr lang="en-US"/>
          </a:p>
          <a:p>
            <a:r>
              <a:rPr lang="en-US"/>
              <a:t>Title: </a:t>
            </a:r>
          </a:p>
          <a:p>
            <a:r>
              <a:rPr lang="en-US"/>
              <a:t>Effect of ligands on color.</a:t>
            </a:r>
          </a:p>
          <a:p>
            <a:endParaRPr lang="en-US"/>
          </a:p>
          <a:p>
            <a:r>
              <a:rPr lang="en-US"/>
              <a:t>Caption: </a:t>
            </a:r>
          </a:p>
          <a:p>
            <a:r>
              <a:rPr lang="en-US"/>
              <a:t>An aqueous solution of CuSO</a:t>
            </a:r>
            <a:r>
              <a:rPr lang="en-US" baseline="-25000"/>
              <a:t>4</a:t>
            </a:r>
            <a:r>
              <a:rPr lang="en-US"/>
              <a:t> is pale blue because of [Cu(H</a:t>
            </a:r>
            <a:r>
              <a:rPr lang="en-US" baseline="-25000"/>
              <a:t>2</a:t>
            </a:r>
            <a:r>
              <a:rPr lang="en-US"/>
              <a:t>O)</a:t>
            </a:r>
            <a:r>
              <a:rPr lang="en-US" baseline="-25000"/>
              <a:t>4</a:t>
            </a:r>
            <a:r>
              <a:rPr lang="en-US"/>
              <a:t>]</a:t>
            </a:r>
            <a:r>
              <a:rPr lang="en-US" baseline="30000"/>
              <a:t>2+</a:t>
            </a:r>
            <a:r>
              <a:rPr lang="en-US"/>
              <a:t> (left).  When NH</a:t>
            </a:r>
            <a:r>
              <a:rPr lang="en-US" baseline="-25000"/>
              <a:t>3</a:t>
            </a:r>
            <a:r>
              <a:rPr lang="en-US"/>
              <a:t>(</a:t>
            </a:r>
            <a:r>
              <a:rPr lang="en-US" i="1"/>
              <a:t>aq</a:t>
            </a:r>
            <a:r>
              <a:rPr lang="en-US"/>
              <a:t>) is added (middle and right), the deep blue [Cu(NH</a:t>
            </a:r>
            <a:r>
              <a:rPr lang="en-US" baseline="-25000"/>
              <a:t>3</a:t>
            </a:r>
            <a:r>
              <a:rPr lang="en-US"/>
              <a:t>)</a:t>
            </a:r>
            <a:r>
              <a:rPr lang="en-US" baseline="-25000"/>
              <a:t>4</a:t>
            </a:r>
            <a:r>
              <a:rPr lang="en-US"/>
              <a:t>]</a:t>
            </a:r>
            <a:r>
              <a:rPr lang="en-US" baseline="30000"/>
              <a:t>2+</a:t>
            </a:r>
            <a:r>
              <a:rPr lang="en-US"/>
              <a:t> ion forms.</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34AEB2-E6AA-4310-B23C-BDAE4A15FD95}" type="slidenum">
              <a:rPr lang="en-US"/>
              <a:pPr/>
              <a:t>80</a:t>
            </a:fld>
            <a:endParaRPr lang="en-US"/>
          </a:p>
        </p:txBody>
      </p:sp>
      <p:sp>
        <p:nvSpPr>
          <p:cNvPr id="1044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44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24-23</a:t>
            </a:r>
          </a:p>
          <a:p>
            <a:endParaRPr lang="en-US"/>
          </a:p>
          <a:p>
            <a:r>
              <a:rPr lang="en-US"/>
              <a:t>Title: </a:t>
            </a:r>
          </a:p>
          <a:p>
            <a:r>
              <a:rPr lang="en-US"/>
              <a:t>Visible spectrum. </a:t>
            </a:r>
          </a:p>
          <a:p>
            <a:endParaRPr lang="en-US"/>
          </a:p>
          <a:p>
            <a:r>
              <a:rPr lang="en-US"/>
              <a:t>Caption: </a:t>
            </a:r>
          </a:p>
          <a:p>
            <a:r>
              <a:rPr lang="en-US"/>
              <a:t>The relationship between color and wavelength for visible light. </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E3F633-8C9E-4D92-85AC-EE28A56F6D41}" type="slidenum">
              <a:rPr lang="en-US"/>
              <a:pPr/>
              <a:t>82</a:t>
            </a:fld>
            <a:endParaRPr lang="en-US"/>
          </a:p>
        </p:txBody>
      </p:sp>
      <p:sp>
        <p:nvSpPr>
          <p:cNvPr id="10649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649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24-24</a:t>
            </a:r>
          </a:p>
          <a:p>
            <a:endParaRPr lang="en-US"/>
          </a:p>
          <a:p>
            <a:r>
              <a:rPr lang="en-US"/>
              <a:t>Title: </a:t>
            </a:r>
          </a:p>
          <a:p>
            <a:r>
              <a:rPr lang="en-US"/>
              <a:t>Artist's color wheel.</a:t>
            </a:r>
          </a:p>
          <a:p>
            <a:endParaRPr lang="en-US"/>
          </a:p>
          <a:p>
            <a:r>
              <a:rPr lang="en-US"/>
              <a:t>Caption: </a:t>
            </a:r>
          </a:p>
          <a:p>
            <a:r>
              <a:rPr lang="en-US"/>
              <a:t>Colors with approximate wavelength ranges are shown as wedges. The colors that are complementary to each other lie opposite each other. </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CC9B7D-EB85-4515-8E4C-30621D6646E2}" type="slidenum">
              <a:rPr lang="en-US"/>
              <a:pPr/>
              <a:t>83</a:t>
            </a:fld>
            <a:endParaRPr lang="en-US"/>
          </a:p>
        </p:txBody>
      </p:sp>
      <p:sp>
        <p:nvSpPr>
          <p:cNvPr id="11059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05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24-26</a:t>
            </a:r>
          </a:p>
          <a:p>
            <a:endParaRPr lang="en-US"/>
          </a:p>
          <a:p>
            <a:r>
              <a:rPr lang="en-US"/>
              <a:t>Title: </a:t>
            </a:r>
          </a:p>
          <a:p>
            <a:r>
              <a:rPr lang="en-US"/>
              <a:t>The color of [Ti(H</a:t>
            </a:r>
            <a:r>
              <a:rPr lang="en-US" baseline="-25000"/>
              <a:t>2</a:t>
            </a:r>
            <a:r>
              <a:rPr lang="en-US"/>
              <a:t>O)</a:t>
            </a:r>
            <a:r>
              <a:rPr lang="en-US" baseline="-25000"/>
              <a:t>6</a:t>
            </a:r>
            <a:r>
              <a:rPr lang="en-US"/>
              <a:t>]</a:t>
            </a:r>
            <a:r>
              <a:rPr lang="en-US" baseline="30000"/>
              <a:t>3+</a:t>
            </a:r>
            <a:r>
              <a:rPr lang="en-US"/>
              <a:t>. </a:t>
            </a:r>
          </a:p>
          <a:p>
            <a:endParaRPr lang="en-US"/>
          </a:p>
          <a:p>
            <a:r>
              <a:rPr lang="en-US"/>
              <a:t>Caption: </a:t>
            </a:r>
          </a:p>
          <a:p>
            <a:r>
              <a:rPr lang="en-US"/>
              <a:t>(a) A solution containing the [Ti(H</a:t>
            </a:r>
            <a:r>
              <a:rPr lang="en-US" baseline="-25000"/>
              <a:t>2</a:t>
            </a:r>
            <a:r>
              <a:rPr lang="en-US"/>
              <a:t>O)</a:t>
            </a:r>
            <a:r>
              <a:rPr lang="en-US" baseline="-25000"/>
              <a:t>6</a:t>
            </a:r>
            <a:r>
              <a:rPr lang="en-US"/>
              <a:t>]</a:t>
            </a:r>
            <a:r>
              <a:rPr lang="en-US" baseline="30000"/>
              <a:t>3+</a:t>
            </a:r>
            <a:r>
              <a:rPr lang="en-US"/>
              <a:t> ion.  (b) The visible absorption spectrum of the [Ti(H</a:t>
            </a:r>
            <a:r>
              <a:rPr lang="en-US" baseline="-25000"/>
              <a:t>2</a:t>
            </a:r>
            <a:r>
              <a:rPr lang="en-US"/>
              <a:t>O)</a:t>
            </a:r>
            <a:r>
              <a:rPr lang="en-US" baseline="-25000"/>
              <a:t>6</a:t>
            </a:r>
            <a:r>
              <a:rPr lang="en-US"/>
              <a:t>]</a:t>
            </a:r>
            <a:r>
              <a:rPr lang="en-US" baseline="30000"/>
              <a:t>3+</a:t>
            </a:r>
            <a:r>
              <a:rPr lang="en-US"/>
              <a:t> ion.</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DD9E97-E8D6-419A-A37A-4AACA46DDA8D}" type="slidenum">
              <a:rPr lang="en-US"/>
              <a:pPr/>
              <a:t>84</a:t>
            </a:fld>
            <a:endParaRPr lang="en-US"/>
          </a:p>
        </p:txBody>
      </p:sp>
      <p:sp>
        <p:nvSpPr>
          <p:cNvPr id="10854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85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24-25</a:t>
            </a:r>
          </a:p>
          <a:p>
            <a:endParaRPr lang="en-US"/>
          </a:p>
          <a:p>
            <a:r>
              <a:rPr lang="en-US"/>
              <a:t>Title: </a:t>
            </a:r>
          </a:p>
          <a:p>
            <a:r>
              <a:rPr lang="en-US"/>
              <a:t>Experimental determination of the absorption spectrum of a solution.</a:t>
            </a:r>
          </a:p>
          <a:p>
            <a:endParaRPr lang="en-US"/>
          </a:p>
          <a:p>
            <a:r>
              <a:rPr lang="en-US"/>
              <a:t>Caption: </a:t>
            </a:r>
          </a:p>
          <a:p>
            <a:r>
              <a:rPr lang="en-US"/>
              <a:t>The prism is rotated so that different wavelengths of light pass through the sample.  The detector measures the amount of light reaching it, and this information can be displayed as the absorption at each wavelength.  The absorbance is a measure of the light absorbed.</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7FB2D2-4628-4358-A6C2-42B1B75569F5}" type="slidenum">
              <a:rPr lang="en-US"/>
              <a:pPr/>
              <a:t>85</a:t>
            </a:fld>
            <a:endParaRPr lang="en-US"/>
          </a:p>
        </p:txBody>
      </p:sp>
      <p:sp>
        <p:nvSpPr>
          <p:cNvPr id="1587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24-22</a:t>
            </a:r>
          </a:p>
          <a:p>
            <a:endParaRPr lang="en-US"/>
          </a:p>
          <a:p>
            <a:r>
              <a:rPr lang="en-US"/>
              <a:t>Title: </a:t>
            </a:r>
          </a:p>
          <a:p>
            <a:r>
              <a:rPr lang="en-US"/>
              <a:t>Effect of ligands on color.</a:t>
            </a:r>
          </a:p>
          <a:p>
            <a:endParaRPr lang="en-US"/>
          </a:p>
          <a:p>
            <a:r>
              <a:rPr lang="en-US"/>
              <a:t>Caption: </a:t>
            </a:r>
          </a:p>
          <a:p>
            <a:r>
              <a:rPr lang="en-US"/>
              <a:t>An aqueous solution of CuSO</a:t>
            </a:r>
            <a:r>
              <a:rPr lang="en-US" baseline="-25000"/>
              <a:t>4</a:t>
            </a:r>
            <a:r>
              <a:rPr lang="en-US"/>
              <a:t> is pale blue because of [Cu(H</a:t>
            </a:r>
            <a:r>
              <a:rPr lang="en-US" baseline="-25000"/>
              <a:t>2</a:t>
            </a:r>
            <a:r>
              <a:rPr lang="en-US"/>
              <a:t>O)</a:t>
            </a:r>
            <a:r>
              <a:rPr lang="en-US" baseline="-25000"/>
              <a:t>4</a:t>
            </a:r>
            <a:r>
              <a:rPr lang="en-US"/>
              <a:t>]</a:t>
            </a:r>
            <a:r>
              <a:rPr lang="en-US" baseline="30000"/>
              <a:t>2+</a:t>
            </a:r>
            <a:r>
              <a:rPr lang="en-US"/>
              <a:t> (left).  When NH</a:t>
            </a:r>
            <a:r>
              <a:rPr lang="en-US" baseline="-25000"/>
              <a:t>3</a:t>
            </a:r>
            <a:r>
              <a:rPr lang="en-US"/>
              <a:t>(</a:t>
            </a:r>
            <a:r>
              <a:rPr lang="en-US" i="1"/>
              <a:t>aq</a:t>
            </a:r>
            <a:r>
              <a:rPr lang="en-US"/>
              <a:t>) is added (middle and right), the deep blue [Cu(NH</a:t>
            </a:r>
            <a:r>
              <a:rPr lang="en-US" baseline="-25000"/>
              <a:t>3</a:t>
            </a:r>
            <a:r>
              <a:rPr lang="en-US"/>
              <a:t>)</a:t>
            </a:r>
            <a:r>
              <a:rPr lang="en-US" baseline="-25000"/>
              <a:t>4</a:t>
            </a:r>
            <a:r>
              <a:rPr lang="en-US"/>
              <a:t>]</a:t>
            </a:r>
            <a:r>
              <a:rPr lang="en-US" baseline="30000"/>
              <a:t>2+</a:t>
            </a:r>
            <a:r>
              <a:rPr lang="en-US"/>
              <a:t> ion forms.</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09F9EA-9D32-49B2-A05F-8E33C71C59FB}" type="slidenum">
              <a:rPr lang="en-US"/>
              <a:pPr/>
              <a:t>86</a:t>
            </a:fld>
            <a:endParaRPr lang="en-US"/>
          </a:p>
        </p:txBody>
      </p:sp>
      <p:sp>
        <p:nvSpPr>
          <p:cNvPr id="11264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6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24-27</a:t>
            </a:r>
          </a:p>
          <a:p>
            <a:endParaRPr lang="en-US"/>
          </a:p>
          <a:p>
            <a:r>
              <a:rPr lang="en-US"/>
              <a:t>Title: </a:t>
            </a:r>
          </a:p>
          <a:p>
            <a:r>
              <a:rPr lang="en-US"/>
              <a:t>Metal-ligand bond formation.</a:t>
            </a:r>
          </a:p>
          <a:p>
            <a:endParaRPr lang="en-US"/>
          </a:p>
          <a:p>
            <a:r>
              <a:rPr lang="en-US"/>
              <a:t>Caption: </a:t>
            </a:r>
          </a:p>
          <a:p>
            <a:r>
              <a:rPr lang="en-US"/>
              <a:t>The ligand, which acts as a Lewis base, donates charge to the metal via a metal hybrid orbital.  The bond that results is strongly polar, with some covalent character.  It is often sufficient to assume that the metal-ligand interaction is entirely electrostatic in character, as is done in the crystal-field model.</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1B932E-A2EE-4A6E-8D53-8A0EBEEFFD52}" type="slidenum">
              <a:rPr lang="en-US"/>
              <a:pPr/>
              <a:t>87</a:t>
            </a:fld>
            <a:endParaRPr lang="en-US"/>
          </a:p>
        </p:txBody>
      </p:sp>
      <p:sp>
        <p:nvSpPr>
          <p:cNvPr id="11469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46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24-28</a:t>
            </a:r>
          </a:p>
          <a:p>
            <a:endParaRPr lang="en-US"/>
          </a:p>
          <a:p>
            <a:r>
              <a:rPr lang="en-US"/>
              <a:t>Title: </a:t>
            </a:r>
          </a:p>
          <a:p>
            <a:r>
              <a:rPr lang="en-US"/>
              <a:t>Energies of </a:t>
            </a:r>
            <a:r>
              <a:rPr lang="en-US" i="1"/>
              <a:t>d</a:t>
            </a:r>
            <a:r>
              <a:rPr lang="en-US"/>
              <a:t> orbitals in an octahedral crystal field.</a:t>
            </a:r>
          </a:p>
          <a:p>
            <a:endParaRPr lang="en-US"/>
          </a:p>
          <a:p>
            <a:r>
              <a:rPr lang="en-US"/>
              <a:t>Caption: </a:t>
            </a:r>
          </a:p>
          <a:p>
            <a:r>
              <a:rPr lang="en-US"/>
              <a:t>On the left the energies of the </a:t>
            </a:r>
            <a:r>
              <a:rPr lang="en-US" i="1"/>
              <a:t>d</a:t>
            </a:r>
            <a:r>
              <a:rPr lang="en-US"/>
              <a:t> orbitals of a free ion are shown.  When negative charges are brought up to the ion, the average energy of the </a:t>
            </a:r>
            <a:r>
              <a:rPr lang="en-US" i="1"/>
              <a:t>d</a:t>
            </a:r>
            <a:r>
              <a:rPr lang="en-US"/>
              <a:t> orbitals increases (center).  On the right the splitting of the </a:t>
            </a:r>
            <a:r>
              <a:rPr lang="en-US" i="1"/>
              <a:t>d</a:t>
            </a:r>
            <a:r>
              <a:rPr lang="en-US"/>
              <a:t> orbitals due to the octahedral field is shown.  Because the repulsion felt by the </a:t>
            </a:r>
            <a:r>
              <a:rPr lang="en-US" i="1"/>
              <a:t>d</a:t>
            </a:r>
            <a:r>
              <a:rPr lang="en-US" i="1" baseline="-25000"/>
              <a:t>z</a:t>
            </a:r>
            <a:r>
              <a:rPr lang="en-US" baseline="-15000"/>
              <a:t>2</a:t>
            </a:r>
            <a:r>
              <a:rPr lang="en-US"/>
              <a:t> and </a:t>
            </a:r>
            <a:r>
              <a:rPr lang="en-US" i="1"/>
              <a:t>d</a:t>
            </a:r>
            <a:r>
              <a:rPr lang="en-US" i="1" baseline="-25000"/>
              <a:t>x</a:t>
            </a:r>
            <a:r>
              <a:rPr lang="en-US" baseline="-15000"/>
              <a:t>2</a:t>
            </a:r>
            <a:r>
              <a:rPr lang="en-US" baseline="-25000"/>
              <a:t>–</a:t>
            </a:r>
            <a:r>
              <a:rPr lang="en-US" i="1" baseline="-25000"/>
              <a:t>y</a:t>
            </a:r>
            <a:r>
              <a:rPr lang="en-US" baseline="-15000"/>
              <a:t>2</a:t>
            </a:r>
            <a:r>
              <a:rPr lang="en-US"/>
              <a:t> orbitals is greater than that felt by the </a:t>
            </a:r>
            <a:r>
              <a:rPr lang="en-US" i="1"/>
              <a:t>d</a:t>
            </a:r>
            <a:r>
              <a:rPr lang="en-US" i="1" baseline="-25000"/>
              <a:t>xy</a:t>
            </a:r>
            <a:r>
              <a:rPr lang="en-US"/>
              <a:t>, </a:t>
            </a:r>
            <a:r>
              <a:rPr lang="en-US" i="1"/>
              <a:t>d</a:t>
            </a:r>
            <a:r>
              <a:rPr lang="en-US" i="1" baseline="-25000"/>
              <a:t>xz</a:t>
            </a:r>
            <a:r>
              <a:rPr lang="en-US"/>
              <a:t>, and </a:t>
            </a:r>
            <a:r>
              <a:rPr lang="en-US" i="1"/>
              <a:t>d</a:t>
            </a:r>
            <a:r>
              <a:rPr lang="en-US" i="1" baseline="-25000"/>
              <a:t>yz</a:t>
            </a:r>
            <a:r>
              <a:rPr lang="en-US"/>
              <a:t> orbitals, the five </a:t>
            </a:r>
            <a:r>
              <a:rPr lang="en-US" i="1"/>
              <a:t>d</a:t>
            </a:r>
            <a:r>
              <a:rPr lang="en-US"/>
              <a:t> orbitals split into a lower-energy set of three (the </a:t>
            </a:r>
            <a:r>
              <a:rPr lang="en-US" i="1"/>
              <a:t>t</a:t>
            </a:r>
            <a:r>
              <a:rPr lang="en-US" baseline="-25000"/>
              <a:t>2</a:t>
            </a:r>
            <a:r>
              <a:rPr lang="en-US"/>
              <a:t> set) and a higher-energy set of two (the </a:t>
            </a:r>
            <a:r>
              <a:rPr lang="en-US" i="1"/>
              <a:t>e</a:t>
            </a:r>
            <a:r>
              <a:rPr lang="en-US"/>
              <a:t> set).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824A4B-E539-4CAE-8577-C88EA6846695}" type="slidenum">
              <a:rPr lang="en-US"/>
              <a:pPr/>
              <a:t>88</a:t>
            </a:fld>
            <a:endParaRPr lang="en-US"/>
          </a:p>
        </p:txBody>
      </p:sp>
      <p:sp>
        <p:nvSpPr>
          <p:cNvPr id="11673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673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24-29abc</a:t>
            </a:r>
          </a:p>
          <a:p>
            <a:endParaRPr lang="en-US"/>
          </a:p>
          <a:p>
            <a:r>
              <a:rPr lang="en-US"/>
              <a:t>Title: </a:t>
            </a:r>
          </a:p>
          <a:p>
            <a:r>
              <a:rPr lang="en-US"/>
              <a:t>The five </a:t>
            </a:r>
            <a:r>
              <a:rPr lang="en-US" i="1"/>
              <a:t>d</a:t>
            </a:r>
            <a:r>
              <a:rPr lang="en-US"/>
              <a:t> orbitals in an octahedral crystal field.</a:t>
            </a:r>
          </a:p>
          <a:p>
            <a:endParaRPr lang="en-US"/>
          </a:p>
          <a:p>
            <a:r>
              <a:rPr lang="en-US"/>
              <a:t>Caption: </a:t>
            </a:r>
          </a:p>
          <a:p>
            <a:r>
              <a:rPr lang="en-US"/>
              <a:t>(a) An octahedral array of negative charges approaching a metal ion.  (b) The orientations of the </a:t>
            </a:r>
            <a:r>
              <a:rPr lang="en-US" i="1"/>
              <a:t>d</a:t>
            </a:r>
            <a:r>
              <a:rPr lang="en-US"/>
              <a:t> orbitals relative to the negative charges.  Notice that the lobes of the </a:t>
            </a:r>
            <a:r>
              <a:rPr lang="en-US" i="1"/>
              <a:t>d</a:t>
            </a:r>
            <a:r>
              <a:rPr lang="en-US" i="1" baseline="-25000"/>
              <a:t>z</a:t>
            </a:r>
            <a:r>
              <a:rPr lang="en-US" baseline="-15000"/>
              <a:t>2</a:t>
            </a:r>
            <a:r>
              <a:rPr lang="en-US"/>
              <a:t> and </a:t>
            </a:r>
            <a:r>
              <a:rPr lang="en-US" i="1"/>
              <a:t>d</a:t>
            </a:r>
            <a:r>
              <a:rPr lang="en-US" i="1" baseline="-25000"/>
              <a:t>x</a:t>
            </a:r>
            <a:r>
              <a:rPr lang="en-US" baseline="-15000"/>
              <a:t>2</a:t>
            </a:r>
            <a:r>
              <a:rPr lang="en-US" baseline="-25000"/>
              <a:t>–</a:t>
            </a:r>
            <a:r>
              <a:rPr lang="en-US" i="1" baseline="-25000"/>
              <a:t>y</a:t>
            </a:r>
            <a:r>
              <a:rPr lang="en-US" baseline="-15000"/>
              <a:t>2</a:t>
            </a:r>
            <a:r>
              <a:rPr lang="en-US"/>
              <a:t> orbitals (b and c) point toward the charges, whereas the lobes of the </a:t>
            </a:r>
            <a:r>
              <a:rPr lang="en-US" i="1"/>
              <a:t>d</a:t>
            </a:r>
            <a:r>
              <a:rPr lang="en-US" i="1" baseline="-25000"/>
              <a:t>xy</a:t>
            </a:r>
            <a:r>
              <a:rPr lang="en-US"/>
              <a:t>, </a:t>
            </a:r>
            <a:r>
              <a:rPr lang="en-US" i="1"/>
              <a:t>d</a:t>
            </a:r>
            <a:r>
              <a:rPr lang="en-US" i="1" baseline="-25000"/>
              <a:t>yz</a:t>
            </a:r>
            <a:r>
              <a:rPr lang="en-US"/>
              <a:t>, and </a:t>
            </a:r>
            <a:r>
              <a:rPr lang="en-US" i="1"/>
              <a:t>d</a:t>
            </a:r>
            <a:r>
              <a:rPr lang="en-US" i="1" baseline="-25000"/>
              <a:t>xz</a:t>
            </a:r>
            <a:r>
              <a:rPr lang="en-US"/>
              <a:t> orbitals (d–f) point between the charges.</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026CF5-9E64-4A2A-AE30-B5F71486D09B}" type="slidenum">
              <a:rPr lang="en-US"/>
              <a:pPr/>
              <a:t>89</a:t>
            </a:fld>
            <a:endParaRPr lang="en-US"/>
          </a:p>
        </p:txBody>
      </p:sp>
      <p:sp>
        <p:nvSpPr>
          <p:cNvPr id="11878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878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24-29def</a:t>
            </a:r>
          </a:p>
          <a:p>
            <a:endParaRPr lang="en-US"/>
          </a:p>
          <a:p>
            <a:r>
              <a:rPr lang="en-US"/>
              <a:t>Title: </a:t>
            </a:r>
          </a:p>
          <a:p>
            <a:r>
              <a:rPr lang="en-US"/>
              <a:t>The five </a:t>
            </a:r>
            <a:r>
              <a:rPr lang="en-US" i="1"/>
              <a:t>d</a:t>
            </a:r>
            <a:r>
              <a:rPr lang="en-US"/>
              <a:t> orbitals in an octahedral crystal field.</a:t>
            </a:r>
          </a:p>
          <a:p>
            <a:endParaRPr lang="en-US"/>
          </a:p>
          <a:p>
            <a:r>
              <a:rPr lang="en-US"/>
              <a:t>Caption: </a:t>
            </a:r>
          </a:p>
          <a:p>
            <a:r>
              <a:rPr lang="en-US"/>
              <a:t>(a) An octahedral array of negative charges approaching a metal ion.  (b) The orientations of the </a:t>
            </a:r>
            <a:r>
              <a:rPr lang="en-US" i="1"/>
              <a:t>d</a:t>
            </a:r>
            <a:r>
              <a:rPr lang="en-US"/>
              <a:t> orbitals relative to the negative charges.  Notice that the lobes of the </a:t>
            </a:r>
            <a:r>
              <a:rPr lang="en-US" i="1"/>
              <a:t>d</a:t>
            </a:r>
            <a:r>
              <a:rPr lang="en-US" i="1" baseline="-25000"/>
              <a:t>z</a:t>
            </a:r>
            <a:r>
              <a:rPr lang="en-US" baseline="-15000"/>
              <a:t>2</a:t>
            </a:r>
            <a:r>
              <a:rPr lang="en-US"/>
              <a:t> and </a:t>
            </a:r>
            <a:r>
              <a:rPr lang="en-US" i="1"/>
              <a:t>d</a:t>
            </a:r>
            <a:r>
              <a:rPr lang="en-US" i="1" baseline="-25000"/>
              <a:t>x</a:t>
            </a:r>
            <a:r>
              <a:rPr lang="en-US" baseline="-15000"/>
              <a:t>2</a:t>
            </a:r>
            <a:r>
              <a:rPr lang="en-US" baseline="-25000"/>
              <a:t>–</a:t>
            </a:r>
            <a:r>
              <a:rPr lang="en-US" i="1" baseline="-25000"/>
              <a:t>y</a:t>
            </a:r>
            <a:r>
              <a:rPr lang="en-US" baseline="-15000"/>
              <a:t>2</a:t>
            </a:r>
            <a:r>
              <a:rPr lang="en-US"/>
              <a:t> orbitals (b and c) point toward the charges, whereas the lobes of the </a:t>
            </a:r>
            <a:r>
              <a:rPr lang="en-US" i="1"/>
              <a:t>d</a:t>
            </a:r>
            <a:r>
              <a:rPr lang="en-US" i="1" baseline="-25000"/>
              <a:t>xy</a:t>
            </a:r>
            <a:r>
              <a:rPr lang="en-US"/>
              <a:t>, </a:t>
            </a:r>
            <a:r>
              <a:rPr lang="en-US" i="1"/>
              <a:t>d</a:t>
            </a:r>
            <a:r>
              <a:rPr lang="en-US" i="1" baseline="-25000"/>
              <a:t>yz</a:t>
            </a:r>
            <a:r>
              <a:rPr lang="en-US"/>
              <a:t>, and </a:t>
            </a:r>
            <a:r>
              <a:rPr lang="en-US" i="1"/>
              <a:t>d</a:t>
            </a:r>
            <a:r>
              <a:rPr lang="en-US" i="1" baseline="-25000"/>
              <a:t>xz</a:t>
            </a:r>
            <a:r>
              <a:rPr lang="en-US"/>
              <a:t> orbitals (d–f) point between the charges.</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82B41B-31A1-40C1-9414-76FB25211F77}" type="slidenum">
              <a:rPr lang="en-US"/>
              <a:pPr/>
              <a:t>91</a:t>
            </a:fld>
            <a:endParaRPr lang="en-US"/>
          </a:p>
        </p:txBody>
      </p:sp>
      <p:sp>
        <p:nvSpPr>
          <p:cNvPr id="12083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083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24-30</a:t>
            </a:r>
          </a:p>
          <a:p>
            <a:endParaRPr lang="en-US"/>
          </a:p>
          <a:p>
            <a:r>
              <a:rPr lang="en-US"/>
              <a:t>Title: </a:t>
            </a:r>
          </a:p>
          <a:p>
            <a:r>
              <a:rPr lang="en-US"/>
              <a:t>Electronic transition accompanying absorption of light.</a:t>
            </a:r>
          </a:p>
          <a:p>
            <a:endParaRPr lang="en-US"/>
          </a:p>
          <a:p>
            <a:r>
              <a:rPr lang="en-US"/>
              <a:t>Caption: </a:t>
            </a:r>
          </a:p>
          <a:p>
            <a:r>
              <a:rPr lang="en-US"/>
              <a:t>The 3</a:t>
            </a:r>
            <a:r>
              <a:rPr lang="en-US" i="1"/>
              <a:t>d</a:t>
            </a:r>
            <a:r>
              <a:rPr lang="en-US"/>
              <a:t> electron of [Ti(H</a:t>
            </a:r>
            <a:r>
              <a:rPr lang="en-US" baseline="-25000"/>
              <a:t>2</a:t>
            </a:r>
            <a:r>
              <a:rPr lang="en-US"/>
              <a:t>O)</a:t>
            </a:r>
            <a:r>
              <a:rPr lang="en-US" baseline="-25000"/>
              <a:t>6</a:t>
            </a:r>
            <a:r>
              <a:rPr lang="en-US"/>
              <a:t>]</a:t>
            </a:r>
            <a:r>
              <a:rPr lang="en-US" baseline="30000"/>
              <a:t>3+</a:t>
            </a:r>
            <a:r>
              <a:rPr lang="en-US"/>
              <a:t> is excited from the lower-energy </a:t>
            </a:r>
            <a:r>
              <a:rPr lang="en-US" i="1"/>
              <a:t>d</a:t>
            </a:r>
            <a:r>
              <a:rPr lang="en-US"/>
              <a:t> orbitals to the higher-energy ones when irradiated with light of 495-nm wavelength.</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541359-E303-4A26-9007-A98CC80FFCD0}" type="slidenum">
              <a:rPr lang="en-US"/>
              <a:pPr/>
              <a:t>92</a:t>
            </a:fld>
            <a:endParaRPr lang="en-US"/>
          </a:p>
        </p:txBody>
      </p:sp>
      <p:sp>
        <p:nvSpPr>
          <p:cNvPr id="12288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288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24-31</a:t>
            </a:r>
          </a:p>
          <a:p>
            <a:endParaRPr lang="en-US"/>
          </a:p>
          <a:p>
            <a:r>
              <a:rPr lang="en-US"/>
              <a:t>Title: </a:t>
            </a:r>
          </a:p>
          <a:p>
            <a:r>
              <a:rPr lang="en-US"/>
              <a:t>Effect of ligand on crystal-field splitting.</a:t>
            </a:r>
          </a:p>
          <a:p>
            <a:endParaRPr lang="en-US"/>
          </a:p>
          <a:p>
            <a:r>
              <a:rPr lang="en-US"/>
              <a:t>Caption: </a:t>
            </a:r>
          </a:p>
          <a:p>
            <a:r>
              <a:rPr lang="en-US"/>
              <a:t>This series of octahedral chromium(III) complexes illustrates how </a:t>
            </a:r>
            <a:r>
              <a:rPr lang="en-US">
                <a:latin typeface="Symbol" pitchFamily="18" charset="2"/>
                <a:sym typeface="Symbol" pitchFamily="18" charset="2"/>
              </a:rPr>
              <a:t></a:t>
            </a:r>
            <a:r>
              <a:rPr lang="en-US"/>
              <a:t>, the energy gap between the </a:t>
            </a:r>
            <a:r>
              <a:rPr lang="en-US" i="1"/>
              <a:t>t</a:t>
            </a:r>
            <a:r>
              <a:rPr lang="en-US" baseline="-25000"/>
              <a:t>2</a:t>
            </a:r>
            <a:r>
              <a:rPr lang="en-US"/>
              <a:t> and </a:t>
            </a:r>
            <a:r>
              <a:rPr lang="en-US" i="1"/>
              <a:t>e</a:t>
            </a:r>
            <a:r>
              <a:rPr lang="en-US"/>
              <a:t> orbitals, increases as the field strength of the ligand increases.</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0F185B-5E9F-40F2-A733-1EC24463743C}" type="slidenum">
              <a:rPr lang="en-US"/>
              <a:pPr/>
              <a:t>94</a:t>
            </a:fld>
            <a:endParaRPr lang="en-US"/>
          </a:p>
        </p:txBody>
      </p:sp>
      <p:sp>
        <p:nvSpPr>
          <p:cNvPr id="12493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493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eleFigure: 24-32</a:t>
            </a:r>
          </a:p>
          <a:p>
            <a:endParaRPr lang="en-US"/>
          </a:p>
          <a:p>
            <a:r>
              <a:rPr lang="en-US"/>
              <a:t>Title: </a:t>
            </a:r>
          </a:p>
          <a:p>
            <a:r>
              <a:rPr lang="en-US"/>
              <a:t>Electron configurations in octahedral complexes.</a:t>
            </a:r>
          </a:p>
          <a:p>
            <a:endParaRPr lang="en-US"/>
          </a:p>
          <a:p>
            <a:r>
              <a:rPr lang="en-US"/>
              <a:t>Caption: </a:t>
            </a:r>
          </a:p>
          <a:p>
            <a:r>
              <a:rPr lang="en-US"/>
              <a:t>Orbital occupancies are shown for complexes with one, two, and three </a:t>
            </a:r>
            <a:r>
              <a:rPr lang="en-US" i="1"/>
              <a:t>d</a:t>
            </a:r>
            <a:r>
              <a:rPr lang="en-US"/>
              <a:t> electrons in an octahedral crystal field.</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6FA31F-11CB-49D2-B063-4A9C82F6BEC1}" type="slidenum">
              <a:rPr lang="en-US"/>
              <a:pPr/>
              <a:t>95</a:t>
            </a:fld>
            <a:endParaRPr lang="en-US"/>
          </a:p>
        </p:txBody>
      </p:sp>
      <p:sp>
        <p:nvSpPr>
          <p:cNvPr id="12697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697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24-33</a:t>
            </a:r>
          </a:p>
          <a:p>
            <a:endParaRPr lang="en-US"/>
          </a:p>
          <a:p>
            <a:r>
              <a:rPr lang="en-US"/>
              <a:t>Title: </a:t>
            </a:r>
          </a:p>
          <a:p>
            <a:r>
              <a:rPr lang="en-US"/>
              <a:t>High-spin and low-spin complexes.</a:t>
            </a:r>
          </a:p>
          <a:p>
            <a:endParaRPr lang="en-US"/>
          </a:p>
          <a:p>
            <a:r>
              <a:rPr lang="en-US"/>
              <a:t>Caption: </a:t>
            </a:r>
          </a:p>
          <a:p>
            <a:r>
              <a:rPr lang="en-US"/>
              <a:t>Population of </a:t>
            </a:r>
            <a:r>
              <a:rPr lang="en-US" i="1"/>
              <a:t>d</a:t>
            </a:r>
            <a:r>
              <a:rPr lang="en-US"/>
              <a:t> orbitals in the high-spin [CoF</a:t>
            </a:r>
            <a:r>
              <a:rPr lang="en-US" baseline="-25000"/>
              <a:t>6</a:t>
            </a:r>
            <a:r>
              <a:rPr lang="en-US"/>
              <a:t>]</a:t>
            </a:r>
            <a:r>
              <a:rPr lang="en-US" baseline="30000"/>
              <a:t>3–</a:t>
            </a:r>
            <a:r>
              <a:rPr lang="en-US"/>
              <a:t> ion (small </a:t>
            </a:r>
            <a:r>
              <a:rPr lang="en-US">
                <a:latin typeface="Symbol" pitchFamily="18" charset="2"/>
                <a:sym typeface="Symbol" pitchFamily="18" charset="2"/>
              </a:rPr>
              <a:t></a:t>
            </a:r>
            <a:r>
              <a:rPr lang="en-US"/>
              <a:t>)and low-spin [Co(CN)</a:t>
            </a:r>
            <a:r>
              <a:rPr lang="en-US" baseline="-25000"/>
              <a:t>6</a:t>
            </a:r>
            <a:r>
              <a:rPr lang="en-US"/>
              <a:t>]</a:t>
            </a:r>
            <a:r>
              <a:rPr lang="en-US" baseline="30000"/>
              <a:t>3–</a:t>
            </a:r>
            <a:r>
              <a:rPr lang="en-US"/>
              <a:t> ion (large </a:t>
            </a:r>
            <a:r>
              <a:rPr lang="en-US">
                <a:latin typeface="Symbol" pitchFamily="18" charset="2"/>
                <a:sym typeface="Symbol" pitchFamily="18" charset="2"/>
              </a:rPr>
              <a:t></a:t>
            </a:r>
            <a:r>
              <a:rPr lang="en-US"/>
              <a:t>).  Both complexes contain cobalt(III), which has six 3</a:t>
            </a:r>
            <a:r>
              <a:rPr lang="en-US" i="1"/>
              <a:t>d</a:t>
            </a:r>
            <a:r>
              <a:rPr lang="en-US"/>
              <a:t> electrons, 3</a:t>
            </a:r>
            <a:r>
              <a:rPr lang="en-US" i="1"/>
              <a:t>d</a:t>
            </a:r>
            <a:r>
              <a:rPr lang="en-US" baseline="30000"/>
              <a:t>6</a:t>
            </a:r>
            <a:r>
              <a:rPr lang="en-US"/>
              <a: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54B6FC-41B1-435B-A70D-8BD5F38BD119}" type="slidenum">
              <a:rPr lang="en-US"/>
              <a:pPr/>
              <a:t>96</a:t>
            </a:fld>
            <a:endParaRPr lang="en-US"/>
          </a:p>
        </p:txBody>
      </p:sp>
      <p:sp>
        <p:nvSpPr>
          <p:cNvPr id="12902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902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24-33-01UN</a:t>
            </a:r>
          </a:p>
          <a:p>
            <a:endParaRPr lang="en-US"/>
          </a:p>
          <a:p>
            <a:r>
              <a:rPr lang="en-US"/>
              <a:t>Title: </a:t>
            </a:r>
          </a:p>
          <a:p>
            <a:r>
              <a:rPr lang="en-US"/>
              <a:t>Sample Exercise 24.9 </a:t>
            </a:r>
          </a:p>
          <a:p>
            <a:endParaRPr lang="en-US"/>
          </a:p>
          <a:p>
            <a:r>
              <a:rPr lang="en-US"/>
              <a:t>Caption: </a:t>
            </a:r>
          </a:p>
          <a:p>
            <a:r>
              <a:rPr lang="en-US"/>
              <a:t>Orbital diagrams.</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215218-6AD3-44D8-BA06-A01A15908022}" type="slidenum">
              <a:rPr lang="en-US"/>
              <a:pPr/>
              <a:t>97</a:t>
            </a:fld>
            <a:endParaRPr lang="en-US"/>
          </a:p>
        </p:txBody>
      </p:sp>
      <p:sp>
        <p:nvSpPr>
          <p:cNvPr id="13107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107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24-34</a:t>
            </a:r>
          </a:p>
          <a:p>
            <a:endParaRPr lang="en-US"/>
          </a:p>
          <a:p>
            <a:r>
              <a:rPr lang="en-US"/>
              <a:t>Title: </a:t>
            </a:r>
          </a:p>
          <a:p>
            <a:r>
              <a:rPr lang="en-US"/>
              <a:t>Tetrahedral crystal field.</a:t>
            </a:r>
          </a:p>
          <a:p>
            <a:endParaRPr lang="en-US"/>
          </a:p>
          <a:p>
            <a:r>
              <a:rPr lang="en-US"/>
              <a:t>Caption: </a:t>
            </a:r>
          </a:p>
          <a:p>
            <a:r>
              <a:rPr lang="en-US"/>
              <a:t>Energies of the </a:t>
            </a:r>
            <a:r>
              <a:rPr lang="en-US" i="1"/>
              <a:t>d</a:t>
            </a:r>
            <a:r>
              <a:rPr lang="en-US"/>
              <a:t> orbitals in a tetrahedral crystal field</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F26512-775B-4FC0-9497-94935D18CCEA}" type="slidenum">
              <a:rPr lang="en-US"/>
              <a:pPr/>
              <a:t>98</a:t>
            </a:fld>
            <a:endParaRPr lang="en-US"/>
          </a:p>
        </p:txBody>
      </p:sp>
      <p:sp>
        <p:nvSpPr>
          <p:cNvPr id="1331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31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24-35</a:t>
            </a:r>
          </a:p>
          <a:p>
            <a:endParaRPr lang="en-US"/>
          </a:p>
          <a:p>
            <a:r>
              <a:rPr lang="en-US"/>
              <a:t>Title: </a:t>
            </a:r>
          </a:p>
          <a:p>
            <a:r>
              <a:rPr lang="en-US"/>
              <a:t>Energies of the </a:t>
            </a:r>
            <a:r>
              <a:rPr lang="en-US" i="1"/>
              <a:t>d</a:t>
            </a:r>
            <a:r>
              <a:rPr lang="en-US"/>
              <a:t> orbitals in a square-planar crystal field.</a:t>
            </a:r>
          </a:p>
          <a:p>
            <a:endParaRPr lang="en-US"/>
          </a:p>
          <a:p>
            <a:r>
              <a:rPr lang="en-US"/>
              <a:t>Caption: </a:t>
            </a:r>
          </a:p>
          <a:p>
            <a:r>
              <a:rPr lang="en-US"/>
              <a:t>The boxes on the left show the energies of the </a:t>
            </a:r>
            <a:r>
              <a:rPr lang="en-US" i="1"/>
              <a:t>d</a:t>
            </a:r>
            <a:r>
              <a:rPr lang="en-US"/>
              <a:t> orbitals in an octahedral crystal field.  As the two negative charges along the </a:t>
            </a:r>
            <a:r>
              <a:rPr lang="en-US" i="1"/>
              <a:t>z</a:t>
            </a:r>
            <a:r>
              <a:rPr lang="en-US"/>
              <a:t>-axis are removed, the energies of the </a:t>
            </a:r>
            <a:r>
              <a:rPr lang="en-US" i="1"/>
              <a:t>d</a:t>
            </a:r>
            <a:r>
              <a:rPr lang="en-US"/>
              <a:t> orbitals change, as indicated by the lines between the boxes.  When the charges are completely removed, the square-planar geometry results, giving the splitting of </a:t>
            </a:r>
            <a:r>
              <a:rPr lang="en-US" i="1"/>
              <a:t>d</a:t>
            </a:r>
            <a:r>
              <a:rPr lang="en-US"/>
              <a:t>-orbital energies represented by the boxes on the right.</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BE8FD2-1B00-446B-9067-ED119129AA29}" type="slidenum">
              <a:rPr lang="en-US"/>
              <a:pPr/>
              <a:t>100</a:t>
            </a:fld>
            <a:endParaRPr lang="en-US"/>
          </a:p>
        </p:txBody>
      </p:sp>
      <p:sp>
        <p:nvSpPr>
          <p:cNvPr id="13517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5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24-35-01UNEx10</a:t>
            </a:r>
          </a:p>
          <a:p>
            <a:endParaRPr lang="en-US"/>
          </a:p>
          <a:p>
            <a:r>
              <a:rPr lang="en-US"/>
              <a:t>Title: </a:t>
            </a:r>
          </a:p>
          <a:p>
            <a:r>
              <a:rPr lang="en-US"/>
              <a:t>Sample Exercise 24.10 </a:t>
            </a:r>
          </a:p>
          <a:p>
            <a:endParaRPr lang="en-US"/>
          </a:p>
          <a:p>
            <a:r>
              <a:rPr lang="en-US"/>
              <a:t>Caption: </a:t>
            </a:r>
          </a:p>
          <a:p>
            <a:r>
              <a:rPr lang="en-US"/>
              <a:t>Orbital diagrams of tetrahedral and square planar</a:t>
            </a:r>
            <a:r>
              <a:rPr lang="en-US">
                <a:cs typeface="Arial" charset="0"/>
              </a:rPr>
              <a:t>–</a:t>
            </a:r>
            <a:r>
              <a:rPr lang="en-US"/>
              <a:t>complexes.</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ECFDED-DA53-4980-BA28-A6903A719FF3}" type="slidenum">
              <a:rPr lang="en-US"/>
              <a:pPr/>
              <a:t>101</a:t>
            </a:fld>
            <a:endParaRPr lang="en-US"/>
          </a:p>
        </p:txBody>
      </p:sp>
      <p:sp>
        <p:nvSpPr>
          <p:cNvPr id="13721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721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24-36</a:t>
            </a:r>
          </a:p>
          <a:p>
            <a:endParaRPr lang="en-US"/>
          </a:p>
          <a:p>
            <a:r>
              <a:rPr lang="en-US"/>
              <a:t>Title: </a:t>
            </a:r>
          </a:p>
          <a:p>
            <a:r>
              <a:rPr lang="en-US"/>
              <a:t>Effect of charge-transfer transitions. </a:t>
            </a:r>
          </a:p>
          <a:p>
            <a:endParaRPr lang="en-US"/>
          </a:p>
          <a:p>
            <a:r>
              <a:rPr lang="en-US"/>
              <a:t>Caption: </a:t>
            </a:r>
          </a:p>
          <a:p>
            <a:r>
              <a:rPr lang="en-US"/>
              <a:t>The compounds KMnO</a:t>
            </a:r>
            <a:r>
              <a:rPr lang="en-US" baseline="-25000"/>
              <a:t>4</a:t>
            </a:r>
            <a:r>
              <a:rPr lang="en-US"/>
              <a:t>, K</a:t>
            </a:r>
            <a:r>
              <a:rPr lang="en-US" baseline="-25000"/>
              <a:t>2</a:t>
            </a:r>
            <a:r>
              <a:rPr lang="en-US"/>
              <a:t>CrO</a:t>
            </a:r>
            <a:r>
              <a:rPr lang="en-US" baseline="-25000"/>
              <a:t>4</a:t>
            </a:r>
            <a:r>
              <a:rPr lang="en-US"/>
              <a:t>, and KClO</a:t>
            </a:r>
            <a:r>
              <a:rPr lang="en-US" baseline="-25000"/>
              <a:t>4</a:t>
            </a:r>
            <a:r>
              <a:rPr lang="en-US"/>
              <a:t> are shown from left to right.  The KMnO</a:t>
            </a:r>
            <a:r>
              <a:rPr lang="en-US" baseline="-25000"/>
              <a:t>4</a:t>
            </a:r>
            <a:r>
              <a:rPr lang="en-US"/>
              <a:t> and K</a:t>
            </a:r>
            <a:r>
              <a:rPr lang="en-US" baseline="-25000"/>
              <a:t>2</a:t>
            </a:r>
            <a:r>
              <a:rPr lang="en-US"/>
              <a:t>CrO</a:t>
            </a:r>
            <a:r>
              <a:rPr lang="en-US" baseline="-25000"/>
              <a:t>4</a:t>
            </a:r>
            <a:r>
              <a:rPr lang="en-US"/>
              <a:t> are intensely colored because of ligand-to-metal charge transfer (LMCT) transitions in the MnO</a:t>
            </a:r>
            <a:r>
              <a:rPr lang="en-US" baseline="-25000"/>
              <a:t>4</a:t>
            </a:r>
            <a:r>
              <a:rPr lang="en-US" baseline="30000"/>
              <a:t>–</a:t>
            </a:r>
            <a:r>
              <a:rPr lang="en-US"/>
              <a:t> and CrO</a:t>
            </a:r>
            <a:r>
              <a:rPr lang="en-US" baseline="-25000"/>
              <a:t>4</a:t>
            </a:r>
            <a:r>
              <a:rPr lang="en-US" baseline="30000"/>
              <a:t>2–</a:t>
            </a:r>
            <a:r>
              <a:rPr lang="en-US"/>
              <a:t> anions.  There are no valence </a:t>
            </a:r>
            <a:r>
              <a:rPr lang="en-US" i="1"/>
              <a:t>d</a:t>
            </a:r>
            <a:r>
              <a:rPr lang="en-US"/>
              <a:t> orbitals on Cl, so the charge-transfer transition for ClO</a:t>
            </a:r>
            <a:r>
              <a:rPr lang="en-US" baseline="-25000"/>
              <a:t>4</a:t>
            </a:r>
            <a:r>
              <a:rPr lang="en-US" baseline="30000"/>
              <a:t>–</a:t>
            </a:r>
            <a:r>
              <a:rPr lang="en-US"/>
              <a:t> requires ultraviolet light and KClO</a:t>
            </a:r>
            <a:r>
              <a:rPr lang="en-US" baseline="-25000"/>
              <a:t>4</a:t>
            </a:r>
            <a:r>
              <a:rPr lang="en-US"/>
              <a:t> is white.</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BD04F3-E9BE-44D7-9596-760C47CD682B}" type="slidenum">
              <a:rPr lang="en-US"/>
              <a:pPr/>
              <a:t>102</a:t>
            </a:fld>
            <a:endParaRPr lang="en-US"/>
          </a:p>
        </p:txBody>
      </p:sp>
      <p:sp>
        <p:nvSpPr>
          <p:cNvPr id="13926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92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24-37</a:t>
            </a:r>
          </a:p>
          <a:p>
            <a:endParaRPr lang="en-US"/>
          </a:p>
          <a:p>
            <a:r>
              <a:rPr lang="en-US"/>
              <a:t>Title: </a:t>
            </a:r>
          </a:p>
          <a:p>
            <a:r>
              <a:rPr lang="en-US"/>
              <a:t>Ligand-to-metal charge transfer (LMCT) transition in MnO</a:t>
            </a:r>
            <a:r>
              <a:rPr lang="en-US" baseline="-25000"/>
              <a:t>4</a:t>
            </a:r>
            <a:r>
              <a:rPr lang="en-US" baseline="30000"/>
              <a:t>–</a:t>
            </a:r>
            <a:r>
              <a:rPr lang="en-US"/>
              <a:t>.</a:t>
            </a:r>
          </a:p>
          <a:p>
            <a:endParaRPr lang="en-US"/>
          </a:p>
          <a:p>
            <a:r>
              <a:rPr lang="en-US"/>
              <a:t>Caption: </a:t>
            </a:r>
          </a:p>
          <a:p>
            <a:r>
              <a:rPr lang="en-US"/>
              <a:t>As shown by the blue arrow, an electron is excited from a nonbonding pair on O into one of the empty </a:t>
            </a:r>
            <a:r>
              <a:rPr lang="en-US" i="1"/>
              <a:t>d</a:t>
            </a:r>
            <a:r>
              <a:rPr lang="en-US"/>
              <a:t> orbitals on Mn.</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DAE6DE-FA84-4792-A3B9-134A9931F08B}" type="slidenum">
              <a:rPr lang="en-US"/>
              <a:pPr/>
              <a:t>150</a:t>
            </a:fld>
            <a:endParaRPr lang="en-US"/>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41F928-DEF7-4DD7-9BDF-40CAFBE1ED5C}" type="slidenum">
              <a:rPr lang="en-US"/>
              <a:pPr/>
              <a:t>151</a:t>
            </a:fld>
            <a:endParaRPr lang="en-US"/>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C59C26-19E8-4018-ABAB-2B82D7FC7D67}" type="slidenum">
              <a:rPr lang="en-US"/>
              <a:pPr/>
              <a:t>152</a:t>
            </a:fld>
            <a:endParaRPr lang="en-US"/>
          </a:p>
        </p:txBody>
      </p:sp>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DAD00C-C060-4305-83AD-1B90D6A9FFD5}" type="slidenum">
              <a:rPr lang="en-US"/>
              <a:pPr/>
              <a:t>153</a:t>
            </a:fld>
            <a:endParaRPr lang="en-US"/>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C94942-A588-4FA7-AE2D-AC5D7C610FEA}" type="slidenum">
              <a:rPr lang="en-US"/>
              <a:pPr/>
              <a:t>154</a:t>
            </a:fld>
            <a:endParaRPr lang="en-US"/>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10D5A4-8B65-40D5-8661-EE17C47FCA07}" type="slidenum">
              <a:rPr lang="en-US"/>
              <a:pPr/>
              <a:t>155</a:t>
            </a:fld>
            <a:endParaRPr lang="en-US"/>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222C83-81E0-4CF1-9369-D5339DB1A960}" type="slidenum">
              <a:rPr lang="en-US"/>
              <a:pPr/>
              <a:t>156</a:t>
            </a:fld>
            <a:endParaRPr lang="en-US"/>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FC8124-BD3F-47C9-B0A1-ABC61D676E32}" type="slidenum">
              <a:rPr lang="en-US"/>
              <a:pPr/>
              <a:t>157</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5822C2-0826-47A4-B915-849DAA6A8D18}" type="slidenum">
              <a:rPr lang="en-US"/>
              <a:pPr/>
              <a:t>158</a:t>
            </a:fld>
            <a:endParaRPr lang="en-US"/>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7E210A-AE64-468B-A50D-BD5E73D3A59C}" type="slidenum">
              <a:rPr lang="en-US"/>
              <a:pPr/>
              <a:t>159</a:t>
            </a:fld>
            <a:endParaRPr 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1F6730-B577-4E00-A38A-A1473BDD4482}" type="slidenum">
              <a:rPr lang="en-US"/>
              <a:pPr/>
              <a:t>160</a:t>
            </a:fld>
            <a:endParaRPr lang="en-US"/>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4AECD1-45B6-4D3D-AD62-27EE1B956F02}" type="slidenum">
              <a:rPr lang="en-US"/>
              <a:pPr/>
              <a:t>161</a:t>
            </a:fld>
            <a:endParaRPr lang="en-US"/>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2D1EF4-1494-4A47-BD1F-CA3F7446CB78}" type="slidenum">
              <a:rPr lang="en-US"/>
              <a:pPr/>
              <a:t>162</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63429F-957C-40DC-B6DA-78113504F1C3}" type="slidenum">
              <a:rPr lang="en-US"/>
              <a:pPr/>
              <a:t>163</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D43573-AB88-42C7-A70B-FD9E3BE6DBE0}" type="slidenum">
              <a:rPr lang="en-US"/>
              <a:pPr/>
              <a:t>164</a:t>
            </a:fld>
            <a:endParaRPr lang="en-US"/>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A1D2E6-C3D3-4296-98EE-31E800D6DE5F}" type="slidenum">
              <a:rPr lang="en-US"/>
              <a:pPr/>
              <a:t>165</a:t>
            </a:fld>
            <a:endParaRPr lang="en-US"/>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1243DC-E46B-4D32-B9DD-46C4D54F4FC8}" type="slidenum">
              <a:rPr lang="en-US"/>
              <a:pPr/>
              <a:t>166</a:t>
            </a:fld>
            <a:endParaRPr lang="en-US"/>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49AC53-84EB-44E0-A62F-84AE306E0CD6}" type="slidenum">
              <a:rPr lang="en-US"/>
              <a:pPr/>
              <a:t>167</a:t>
            </a:fld>
            <a:endParaRPr lang="en-US"/>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DAA31E-648E-47AD-9646-1AD6BC23437B}" type="slidenum">
              <a:rPr lang="en-US"/>
              <a:pPr/>
              <a:t>168</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CDC904-A6C7-448E-B8DD-0D046684284B}" type="slidenum">
              <a:rPr lang="en-US"/>
              <a:pPr/>
              <a:t>169</a:t>
            </a:fld>
            <a:endParaRPr lang="en-US"/>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FE2ABC-BB11-4091-9D55-3B79B3293361}" type="slidenum">
              <a:rPr lang="en-US"/>
              <a:pPr/>
              <a:t>170</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A65A80-901D-4CB9-A832-4C84E0248CC7}" type="slidenum">
              <a:rPr lang="en-US"/>
              <a:pPr/>
              <a:t>171</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986F44-FE27-4FDF-A8FA-A8DC13E9CEEB}" type="slidenum">
              <a:rPr lang="en-US"/>
              <a:pPr/>
              <a:t>172</a:t>
            </a:fld>
            <a:endParaRPr lang="en-US"/>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3E0102-3FB0-4358-A084-25FD867E3DB8}" type="slidenum">
              <a:rPr lang="en-US"/>
              <a:pPr/>
              <a:t>173</a:t>
            </a:fld>
            <a:endParaRPr lang="en-US"/>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B21254-2CF0-48ED-8AAE-E5F85AF15571}" type="slidenum">
              <a:rPr lang="en-US"/>
              <a:pPr/>
              <a:t>174</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2A917D-EC81-4E79-9E27-69BA1A2D7D24}" type="slidenum">
              <a:rPr lang="en-US"/>
              <a:pPr/>
              <a:t>175</a:t>
            </a:fld>
            <a:endParaRPr lang="en-US"/>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126315-1633-4A6C-9439-4AC308707FA9}" type="slidenum">
              <a:rPr lang="en-US"/>
              <a:pPr/>
              <a:t>176</a:t>
            </a:fld>
            <a:endParaRPr lang="en-US"/>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A01533-36D9-4180-A1F2-C55036D1FA06}" type="slidenum">
              <a:rPr lang="en-US"/>
              <a:pPr/>
              <a:t>177</a:t>
            </a:fld>
            <a:endParaRPr lang="en-US"/>
          </a:p>
        </p:txBody>
      </p:sp>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2E5A4A-FD98-4341-907E-2BE32D7AA0C6}" type="slidenum">
              <a:rPr lang="en-US"/>
              <a:pPr/>
              <a:t>178</a:t>
            </a:fld>
            <a:endParaRPr lang="en-US"/>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1A6F95-A7F2-4CC9-B2E4-7553E77FA6CF}" type="slidenum">
              <a:rPr lang="en-US"/>
              <a:pPr/>
              <a:t>179</a:t>
            </a:fld>
            <a:endParaRPr lang="en-US"/>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7FEA5D-5CD5-439C-8C6D-E85662C275A5}" type="slidenum">
              <a:rPr lang="en-US"/>
              <a:pPr/>
              <a:t>180</a:t>
            </a:fld>
            <a:endParaRPr lang="en-US"/>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1E9B8D-D2DD-47C9-BFEA-2F57CBA0F2B1}" type="slidenum">
              <a:rPr lang="en-US"/>
              <a:pPr/>
              <a:t>181</a:t>
            </a:fld>
            <a:endParaRPr lang="en-US"/>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94DE5C-96A3-4BAF-9E3F-E36C2B7D0F6D}" type="slidenum">
              <a:rPr lang="en-US"/>
              <a:pPr/>
              <a:t>182</a:t>
            </a:fld>
            <a:endParaRPr lang="en-US"/>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01C71E-0A81-414D-B050-AAC3165D4DEC}" type="slidenum">
              <a:rPr lang="en-US"/>
              <a:pPr/>
              <a:t>183</a:t>
            </a:fld>
            <a:endParaRPr lang="en-US"/>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ADD54D-D285-446A-85BB-A1A17F882C58}" type="slidenum">
              <a:rPr lang="en-US"/>
              <a:pPr/>
              <a:t>184</a:t>
            </a:fld>
            <a:endParaRPr lang="en-US"/>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1D5ED9-B52E-41C0-9B14-0688E6DC9D0E}" type="slidenum">
              <a:rPr lang="en-US"/>
              <a:pPr/>
              <a:t>185</a:t>
            </a:fld>
            <a:endParaRPr lang="en-US"/>
          </a:p>
        </p:txBody>
      </p:sp>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A43A67-077B-46D5-86C2-43311932561B}" type="slidenum">
              <a:rPr lang="en-US"/>
              <a:pPr/>
              <a:t>186</a:t>
            </a:fld>
            <a:endParaRPr lang="en-US"/>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F65075-349A-4EE8-8141-7F28CAC840C3}" type="slidenum">
              <a:rPr lang="en-US"/>
              <a:pPr/>
              <a:t>187</a:t>
            </a:fld>
            <a:endParaRPr lang="en-US"/>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12124E-8F50-4608-8115-A7929FD8E40B}" type="slidenum">
              <a:rPr lang="en-US"/>
              <a:pPr/>
              <a:t>188</a:t>
            </a:fld>
            <a:endParaRPr lang="en-US"/>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F9EB70-66E8-4735-A99C-60DC472B1294}" type="slidenum">
              <a:rPr lang="en-US"/>
              <a:pPr/>
              <a:t>189</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593771-F53F-4C5E-B678-AC12A2E72833}" type="slidenum">
              <a:rPr lang="en-US"/>
              <a:pPr/>
              <a:t>190</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16C85-761C-4A6C-9348-DAD6A62BDA73}" type="slidenum">
              <a:rPr lang="en-US"/>
              <a:pPr/>
              <a:t>191</a:t>
            </a:fld>
            <a:endParaRPr lang="en-US"/>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D0BE26-50C4-48C0-9A11-8FACB016FA02}" type="slidenum">
              <a:rPr lang="en-US"/>
              <a:pPr/>
              <a:t>192</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9B09DF-1466-48C3-8F4E-842F3D0C13DD}" type="slidenum">
              <a:rPr lang="en-US"/>
              <a:pPr/>
              <a:t>193</a:t>
            </a:fld>
            <a:endParaRPr lang="en-US"/>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CF87D7-3655-4BDC-900E-0E014E53FA43}" type="slidenum">
              <a:rPr lang="en-US"/>
              <a:pPr/>
              <a:t>194</a:t>
            </a:fld>
            <a:endParaRPr lang="en-US"/>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9A8A95-F4D2-410C-B15D-ECCC593F8EF3}" type="slidenum">
              <a:rPr lang="en-US"/>
              <a:pPr/>
              <a:t>195</a:t>
            </a:fld>
            <a:endParaRPr lang="en-US"/>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2909D3C-F7D0-4783-A224-14512AB94653}"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20222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909D3C-F7D0-4783-A224-14512AB94653}"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3670908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909D3C-F7D0-4783-A224-14512AB94653}"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475282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2909D3C-F7D0-4783-A224-14512AB94653}"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2202618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2909D3C-F7D0-4783-A224-14512AB94653}" type="datetimeFigureOut">
              <a:rPr lang="en-US" smtClean="0"/>
              <a:t>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1389246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2909D3C-F7D0-4783-A224-14512AB94653}" type="datetimeFigureOut">
              <a:rPr lang="en-US" smtClean="0"/>
              <a:t>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2053445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909D3C-F7D0-4783-A224-14512AB94653}" type="datetimeFigureOut">
              <a:rPr lang="en-US" smtClean="0"/>
              <a:t>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2147996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909D3C-F7D0-4783-A224-14512AB94653}"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1600070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909D3C-F7D0-4783-A224-14512AB94653}"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1478498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909D3C-F7D0-4783-A224-14512AB94653}"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420179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909D3C-F7D0-4783-A224-14512AB94653}"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6AAE5-44FA-4B0F-B5DB-080FDFC747BB}" type="slidenum">
              <a:rPr lang="en-US" smtClean="0"/>
              <a:t>‹#›</a:t>
            </a:fld>
            <a:endParaRPr lang="en-US"/>
          </a:p>
        </p:txBody>
      </p:sp>
    </p:spTree>
    <p:extLst>
      <p:ext uri="{BB962C8B-B14F-4D97-AF65-F5344CB8AC3E}">
        <p14:creationId xmlns:p14="http://schemas.microsoft.com/office/powerpoint/2010/main" val="2011300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EBDA8329-F06C-43CA-B347-54EB187F2871}" type="slidenum">
              <a:rPr lang="en-US"/>
              <a:pPr/>
              <a:t>‹#›</a:t>
            </a:fld>
            <a:endParaRPr lang="en-US"/>
          </a:p>
        </p:txBody>
      </p:sp>
    </p:spTree>
    <p:extLst>
      <p:ext uri="{BB962C8B-B14F-4D97-AF65-F5344CB8AC3E}">
        <p14:creationId xmlns:p14="http://schemas.microsoft.com/office/powerpoint/2010/main" val="2920033690"/>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3594A374-96FC-4EE6-82F2-3818F3DDA7AC}" type="slidenum">
              <a:rPr lang="en-US"/>
              <a:pPr/>
              <a:t>‹#›</a:t>
            </a:fld>
            <a:endParaRPr lang="en-US"/>
          </a:p>
        </p:txBody>
      </p:sp>
    </p:spTree>
    <p:extLst>
      <p:ext uri="{BB962C8B-B14F-4D97-AF65-F5344CB8AC3E}">
        <p14:creationId xmlns:p14="http://schemas.microsoft.com/office/powerpoint/2010/main" val="1228034677"/>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909D3C-F7D0-4783-A224-14512AB94653}" type="datetimeFigureOut">
              <a:rPr lang="en-US" smtClean="0"/>
              <a:t>1/3/2022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C6AAE5-44FA-4B0F-B5DB-080FDFC747BB}" type="slidenum">
              <a:rPr lang="en-US" smtClean="0"/>
              <a:t>‹#›</a:t>
            </a:fld>
            <a:endParaRPr lang="en-US"/>
          </a:p>
        </p:txBody>
      </p:sp>
    </p:spTree>
    <p:extLst>
      <p:ext uri="{BB962C8B-B14F-4D97-AF65-F5344CB8AC3E}">
        <p14:creationId xmlns:p14="http://schemas.microsoft.com/office/powerpoint/2010/main" val="2621022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26.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25.wmf"/><Relationship Id="rId4" Type="http://schemas.openxmlformats.org/officeDocument/2006/relationships/oleObject" Target="../embeddings/oleObject5.bin"/></Relationships>
</file>

<file path=ppt/slides/_rels/slide4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26.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25.wmf"/><Relationship Id="rId4" Type="http://schemas.openxmlformats.org/officeDocument/2006/relationships/oleObject" Target="../embeddings/oleObject7.bin"/></Relationships>
</file>

<file path=ppt/slides/_rels/slide4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notesSlide" Target="../notesSlides/notesSlide56.xml"/><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40.wmf"/><Relationship Id="rId5" Type="http://schemas.openxmlformats.org/officeDocument/2006/relationships/oleObject" Target="../embeddings/oleObject9.bin"/><Relationship Id="rId4" Type="http://schemas.openxmlformats.org/officeDocument/2006/relationships/image" Target="../media/image42.jpeg"/></Relationships>
</file>

<file path=ppt/slides/_rels/slide7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7.xml"/><Relationship Id="rId4" Type="http://schemas.openxmlformats.org/officeDocument/2006/relationships/image" Target="../media/image66.jpeg"/></Relationships>
</file>

<file path=ppt/slides/_rels/slide10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png"/><Relationship Id="rId1" Type="http://schemas.openxmlformats.org/officeDocument/2006/relationships/slideLayout" Target="../slideLayouts/slideLayout7.xml"/><Relationship Id="rId4" Type="http://schemas.openxmlformats.org/officeDocument/2006/relationships/image" Target="../media/image76.jpeg"/></Relationships>
</file>

<file path=ppt/slides/_rels/slide11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00.wmf"/><Relationship Id="rId5" Type="http://schemas.openxmlformats.org/officeDocument/2006/relationships/oleObject" Target="../embeddings/oleObject12.bin"/><Relationship Id="rId4" Type="http://schemas.openxmlformats.org/officeDocument/2006/relationships/image" Target="../media/image99.wmf"/></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01.wmf"/></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01.wmf"/></Relationships>
</file>

<file path=ppt/slides/_rels/slide14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101.wmf"/></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105.wmf"/><Relationship Id="rId7" Type="http://schemas.openxmlformats.org/officeDocument/2006/relationships/image" Target="../media/image109.wmf"/><Relationship Id="rId2" Type="http://schemas.openxmlformats.org/officeDocument/2006/relationships/notesSlide" Target="../notesSlides/notesSlide83.xml"/><Relationship Id="rId1" Type="http://schemas.openxmlformats.org/officeDocument/2006/relationships/slideLayout" Target="../slideLayouts/slideLayout7.xml"/><Relationship Id="rId6" Type="http://schemas.openxmlformats.org/officeDocument/2006/relationships/image" Target="../media/image108.wmf"/><Relationship Id="rId5" Type="http://schemas.openxmlformats.org/officeDocument/2006/relationships/image" Target="../media/image107.wmf"/><Relationship Id="rId4" Type="http://schemas.openxmlformats.org/officeDocument/2006/relationships/image" Target="../media/image106.wmf"/></Relationships>
</file>

<file path=ppt/slides/_rels/slide152.x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113.png"/><Relationship Id="rId4" Type="http://schemas.openxmlformats.org/officeDocument/2006/relationships/oleObject" Target="../embeddings/oleObject16.bin"/></Relationships>
</file>

<file path=ppt/slides/_rels/slide156.x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120.wmf"/><Relationship Id="rId4" Type="http://schemas.openxmlformats.org/officeDocument/2006/relationships/oleObject" Target="../embeddings/oleObject17.bin"/></Relationships>
</file>

<file path=ppt/slides/_rels/slide167.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01.xml"/><Relationship Id="rId1" Type="http://schemas.openxmlformats.org/officeDocument/2006/relationships/slideLayout" Target="../slideLayouts/slideLayout1.xml"/><Relationship Id="rId5" Type="http://schemas.openxmlformats.org/officeDocument/2006/relationships/image" Target="../media/image124.jpeg"/><Relationship Id="rId4" Type="http://schemas.openxmlformats.org/officeDocument/2006/relationships/image" Target="../media/image123.jpeg"/></Relationships>
</file>

<file path=ppt/slides/_rels/slide170.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02.xml"/><Relationship Id="rId1" Type="http://schemas.openxmlformats.org/officeDocument/2006/relationships/slideLayout" Target="../slideLayouts/slideLayout7.xml"/><Relationship Id="rId4" Type="http://schemas.openxmlformats.org/officeDocument/2006/relationships/image" Target="../media/image123.jpeg"/></Relationships>
</file>

<file path=ppt/slides/_rels/slide171.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08.xml"/><Relationship Id="rId1" Type="http://schemas.openxmlformats.org/officeDocument/2006/relationships/slideLayout" Target="../slideLayouts/slideLayout7.xml"/><Relationship Id="rId4" Type="http://schemas.openxmlformats.org/officeDocument/2006/relationships/image" Target="../media/image131.jpeg"/></Relationships>
</file>

<file path=ppt/slides/_rels/slide177.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6.xml"/><Relationship Id="rId1" Type="http://schemas.openxmlformats.org/officeDocument/2006/relationships/vmlDrawing" Target="../drawings/vmlDrawing12.vml"/><Relationship Id="rId5" Type="http://schemas.openxmlformats.org/officeDocument/2006/relationships/image" Target="../media/image138.emf"/><Relationship Id="rId4" Type="http://schemas.openxmlformats.org/officeDocument/2006/relationships/oleObject" Target="../embeddings/oleObject18.bin"/></Relationships>
</file>

<file path=ppt/slides/_rels/slide187.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20.xml"/><Relationship Id="rId1" Type="http://schemas.openxmlformats.org/officeDocument/2006/relationships/slideLayout" Target="../slideLayouts/slideLayout7.xml"/><Relationship Id="rId6" Type="http://schemas.openxmlformats.org/officeDocument/2006/relationships/image" Target="../media/image143.jpeg"/><Relationship Id="rId5" Type="http://schemas.openxmlformats.org/officeDocument/2006/relationships/image" Target="../media/image142.jpeg"/><Relationship Id="rId4" Type="http://schemas.openxmlformats.org/officeDocument/2006/relationships/image" Target="../media/image141.jpeg"/></Relationships>
</file>

<file path=ppt/slides/_rels/slide189.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21.xml"/><Relationship Id="rId1" Type="http://schemas.openxmlformats.org/officeDocument/2006/relationships/slideLayout" Target="../slideLayouts/slideLayout7.xml"/><Relationship Id="rId4" Type="http://schemas.openxmlformats.org/officeDocument/2006/relationships/image" Target="../media/image145.wmf"/></Relationships>
</file>

<file path=ppt/slides/_rels/slide190.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22.xml"/><Relationship Id="rId1" Type="http://schemas.openxmlformats.org/officeDocument/2006/relationships/slideLayout" Target="../slideLayouts/slideLayout7.xml"/><Relationship Id="rId4" Type="http://schemas.openxmlformats.org/officeDocument/2006/relationships/image" Target="../media/image146.jpeg"/></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24.xml"/><Relationship Id="rId1" Type="http://schemas.openxmlformats.org/officeDocument/2006/relationships/slideLayout" Target="../slideLayouts/slideLayout7.xml"/><Relationship Id="rId4" Type="http://schemas.openxmlformats.org/officeDocument/2006/relationships/image" Target="../media/image148.jpeg"/></Relationships>
</file>

<file path=ppt/slides/_rels/slide193.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6.xml"/><Relationship Id="rId1" Type="http://schemas.openxmlformats.org/officeDocument/2006/relationships/vmlDrawing" Target="../drawings/vmlDrawing13.vml"/><Relationship Id="rId5" Type="http://schemas.openxmlformats.org/officeDocument/2006/relationships/image" Target="../media/image149.emf"/><Relationship Id="rId4" Type="http://schemas.openxmlformats.org/officeDocument/2006/relationships/oleObject" Target="../embeddings/oleObject19.bin"/></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pPr eaLnBrk="1" hangingPunct="1"/>
            <a:r>
              <a:rPr lang="en-US"/>
              <a:t>Coordination Chemistry</a:t>
            </a:r>
          </a:p>
        </p:txBody>
      </p:sp>
      <p:sp>
        <p:nvSpPr>
          <p:cNvPr id="17411" name="Rectangle 5"/>
          <p:cNvSpPr>
            <a:spLocks noGrp="1" noChangeArrowheads="1"/>
          </p:cNvSpPr>
          <p:nvPr>
            <p:ph type="body" idx="1"/>
          </p:nvPr>
        </p:nvSpPr>
        <p:spPr/>
        <p:txBody>
          <a:bodyPr>
            <a:normAutofit fontScale="92500" lnSpcReduction="10000"/>
          </a:bodyPr>
          <a:lstStyle/>
          <a:p>
            <a:pPr eaLnBrk="1" hangingPunct="1"/>
            <a:r>
              <a:rPr lang="en-US" b="1"/>
              <a:t>Ligands</a:t>
            </a:r>
          </a:p>
          <a:p>
            <a:pPr lvl="1" eaLnBrk="1" hangingPunct="1"/>
            <a:r>
              <a:rPr lang="en-US" sz="3200"/>
              <a:t>classified according to the number of donor atoms</a:t>
            </a:r>
          </a:p>
          <a:p>
            <a:pPr lvl="1" eaLnBrk="1" hangingPunct="1"/>
            <a:r>
              <a:rPr lang="en-US" sz="3200"/>
              <a:t>Examples</a:t>
            </a:r>
          </a:p>
          <a:p>
            <a:pPr lvl="2" eaLnBrk="1" hangingPunct="1"/>
            <a:r>
              <a:rPr lang="en-US" sz="3200"/>
              <a:t>monodentate = 1</a:t>
            </a:r>
          </a:p>
          <a:p>
            <a:pPr lvl="2" eaLnBrk="1" hangingPunct="1"/>
            <a:r>
              <a:rPr lang="en-US" sz="3200"/>
              <a:t>bidentate = 2</a:t>
            </a:r>
          </a:p>
          <a:p>
            <a:pPr lvl="2" eaLnBrk="1" hangingPunct="1"/>
            <a:r>
              <a:rPr lang="en-US" sz="3200"/>
              <a:t>tetradentate = 4</a:t>
            </a:r>
          </a:p>
          <a:p>
            <a:pPr lvl="2" eaLnBrk="1" hangingPunct="1"/>
            <a:r>
              <a:rPr lang="en-US" sz="3200"/>
              <a:t>hexadentate = 6</a:t>
            </a:r>
          </a:p>
          <a:p>
            <a:pPr lvl="2" eaLnBrk="1" hangingPunct="1"/>
            <a:r>
              <a:rPr lang="en-US" sz="3200"/>
              <a:t>polydentate = 2 or more donor atoms</a:t>
            </a:r>
          </a:p>
        </p:txBody>
      </p:sp>
      <p:sp>
        <p:nvSpPr>
          <p:cNvPr id="17412" name="Text Box 4"/>
          <p:cNvSpPr txBox="1">
            <a:spLocks noChangeArrowheads="1"/>
          </p:cNvSpPr>
          <p:nvPr/>
        </p:nvSpPr>
        <p:spPr bwMode="auto">
          <a:xfrm>
            <a:off x="5715000" y="4267200"/>
            <a:ext cx="2667000" cy="1138238"/>
          </a:xfrm>
          <a:prstGeom prst="rect">
            <a:avLst/>
          </a:prstGeom>
          <a:noFill/>
          <a:ln w="12700">
            <a:noFill/>
            <a:miter lim="800000"/>
            <a:headEnd/>
            <a:tailEnd/>
          </a:ln>
        </p:spPr>
        <p:txBody>
          <a:bodyPr>
            <a:spAutoFit/>
          </a:bodyPr>
          <a:lstStyle/>
          <a:p>
            <a:pPr eaLnBrk="0" hangingPunct="0">
              <a:spcBef>
                <a:spcPct val="50000"/>
              </a:spcBef>
            </a:pPr>
            <a:r>
              <a:rPr lang="en-US" sz="3400" b="1">
                <a:solidFill>
                  <a:srgbClr val="FF0000"/>
                </a:solidFill>
              </a:rPr>
              <a:t>chelating agents</a:t>
            </a:r>
          </a:p>
        </p:txBody>
      </p:sp>
      <p:sp>
        <p:nvSpPr>
          <p:cNvPr id="17413" name="Freeform 8"/>
          <p:cNvSpPr>
            <a:spLocks/>
          </p:cNvSpPr>
          <p:nvPr/>
        </p:nvSpPr>
        <p:spPr bwMode="auto">
          <a:xfrm>
            <a:off x="4038600" y="4495800"/>
            <a:ext cx="2667000" cy="1447800"/>
          </a:xfrm>
          <a:custGeom>
            <a:avLst/>
            <a:gdLst>
              <a:gd name="T0" fmla="*/ 0 w 1525"/>
              <a:gd name="T1" fmla="*/ 48450 h 1016"/>
              <a:gd name="T2" fmla="*/ 216858 w 1525"/>
              <a:gd name="T3" fmla="*/ 0 h 1016"/>
              <a:gd name="T4" fmla="*/ 652322 w 1525"/>
              <a:gd name="T5" fmla="*/ 15675 h 1016"/>
              <a:gd name="T6" fmla="*/ 750258 w 1525"/>
              <a:gd name="T7" fmla="*/ 96900 h 1016"/>
              <a:gd name="T8" fmla="*/ 869180 w 1525"/>
              <a:gd name="T9" fmla="*/ 192375 h 1016"/>
              <a:gd name="T10" fmla="*/ 1243434 w 1525"/>
              <a:gd name="T11" fmla="*/ 401850 h 1016"/>
              <a:gd name="T12" fmla="*/ 1559976 w 1525"/>
              <a:gd name="T13" fmla="*/ 386175 h 1016"/>
              <a:gd name="T14" fmla="*/ 1678898 w 1525"/>
              <a:gd name="T15" fmla="*/ 353400 h 1016"/>
              <a:gd name="T16" fmla="*/ 1638675 w 1525"/>
              <a:gd name="T17" fmla="*/ 498750 h 1016"/>
              <a:gd name="T18" fmla="*/ 1540739 w 1525"/>
              <a:gd name="T19" fmla="*/ 611325 h 1016"/>
              <a:gd name="T20" fmla="*/ 1540739 w 1525"/>
              <a:gd name="T21" fmla="*/ 805125 h 1016"/>
              <a:gd name="T22" fmla="*/ 1600200 w 1525"/>
              <a:gd name="T23" fmla="*/ 836475 h 1016"/>
              <a:gd name="T24" fmla="*/ 1678898 w 1525"/>
              <a:gd name="T25" fmla="*/ 884925 h 1016"/>
              <a:gd name="T26" fmla="*/ 1757597 w 1525"/>
              <a:gd name="T27" fmla="*/ 900600 h 1016"/>
              <a:gd name="T28" fmla="*/ 2093377 w 1525"/>
              <a:gd name="T29" fmla="*/ 981825 h 1016"/>
              <a:gd name="T30" fmla="*/ 2152838 w 1525"/>
              <a:gd name="T31" fmla="*/ 997500 h 1016"/>
              <a:gd name="T32" fmla="*/ 2271759 w 1525"/>
              <a:gd name="T33" fmla="*/ 1013175 h 1016"/>
              <a:gd name="T34" fmla="*/ 2429156 w 1525"/>
              <a:gd name="T35" fmla="*/ 1045950 h 1016"/>
              <a:gd name="T36" fmla="*/ 2586553 w 1525"/>
              <a:gd name="T37" fmla="*/ 1142850 h 1016"/>
              <a:gd name="T38" fmla="*/ 2667000 w 1525"/>
              <a:gd name="T39" fmla="*/ 1239750 h 1016"/>
              <a:gd name="T40" fmla="*/ 2646014 w 1525"/>
              <a:gd name="T41" fmla="*/ 1399350 h 1016"/>
              <a:gd name="T42" fmla="*/ 2626776 w 1525"/>
              <a:gd name="T43" fmla="*/ 1447800 h 10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25"/>
              <a:gd name="T67" fmla="*/ 0 h 1016"/>
              <a:gd name="T68" fmla="*/ 1525 w 1525"/>
              <a:gd name="T69" fmla="*/ 1016 h 10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25" h="1016">
                <a:moveTo>
                  <a:pt x="0" y="34"/>
                </a:moveTo>
                <a:cubicBezTo>
                  <a:pt x="86" y="5"/>
                  <a:pt x="45" y="16"/>
                  <a:pt x="124" y="0"/>
                </a:cubicBezTo>
                <a:cubicBezTo>
                  <a:pt x="207" y="4"/>
                  <a:pt x="291" y="1"/>
                  <a:pt x="373" y="11"/>
                </a:cubicBezTo>
                <a:cubicBezTo>
                  <a:pt x="403" y="15"/>
                  <a:pt x="413" y="51"/>
                  <a:pt x="429" y="68"/>
                </a:cubicBezTo>
                <a:cubicBezTo>
                  <a:pt x="450" y="92"/>
                  <a:pt x="497" y="135"/>
                  <a:pt x="497" y="135"/>
                </a:cubicBezTo>
                <a:cubicBezTo>
                  <a:pt x="529" y="235"/>
                  <a:pt x="619" y="264"/>
                  <a:pt x="711" y="282"/>
                </a:cubicBezTo>
                <a:cubicBezTo>
                  <a:pt x="771" y="278"/>
                  <a:pt x="832" y="279"/>
                  <a:pt x="892" y="271"/>
                </a:cubicBezTo>
                <a:cubicBezTo>
                  <a:pt x="916" y="268"/>
                  <a:pt x="960" y="248"/>
                  <a:pt x="960" y="248"/>
                </a:cubicBezTo>
                <a:cubicBezTo>
                  <a:pt x="958" y="259"/>
                  <a:pt x="945" y="335"/>
                  <a:pt x="937" y="350"/>
                </a:cubicBezTo>
                <a:cubicBezTo>
                  <a:pt x="922" y="379"/>
                  <a:pt x="899" y="402"/>
                  <a:pt x="881" y="429"/>
                </a:cubicBezTo>
                <a:cubicBezTo>
                  <a:pt x="867" y="482"/>
                  <a:pt x="855" y="502"/>
                  <a:pt x="881" y="565"/>
                </a:cubicBezTo>
                <a:cubicBezTo>
                  <a:pt x="886" y="578"/>
                  <a:pt x="904" y="579"/>
                  <a:pt x="915" y="587"/>
                </a:cubicBezTo>
                <a:cubicBezTo>
                  <a:pt x="930" y="598"/>
                  <a:pt x="943" y="613"/>
                  <a:pt x="960" y="621"/>
                </a:cubicBezTo>
                <a:cubicBezTo>
                  <a:pt x="974" y="628"/>
                  <a:pt x="990" y="627"/>
                  <a:pt x="1005" y="632"/>
                </a:cubicBezTo>
                <a:cubicBezTo>
                  <a:pt x="1070" y="654"/>
                  <a:pt x="1131" y="673"/>
                  <a:pt x="1197" y="689"/>
                </a:cubicBezTo>
                <a:cubicBezTo>
                  <a:pt x="1209" y="692"/>
                  <a:pt x="1219" y="697"/>
                  <a:pt x="1231" y="700"/>
                </a:cubicBezTo>
                <a:cubicBezTo>
                  <a:pt x="1253" y="705"/>
                  <a:pt x="1277" y="706"/>
                  <a:pt x="1299" y="711"/>
                </a:cubicBezTo>
                <a:cubicBezTo>
                  <a:pt x="1329" y="718"/>
                  <a:pt x="1389" y="734"/>
                  <a:pt x="1389" y="734"/>
                </a:cubicBezTo>
                <a:cubicBezTo>
                  <a:pt x="1419" y="757"/>
                  <a:pt x="1449" y="779"/>
                  <a:pt x="1479" y="802"/>
                </a:cubicBezTo>
                <a:cubicBezTo>
                  <a:pt x="1501" y="818"/>
                  <a:pt x="1525" y="870"/>
                  <a:pt x="1525" y="870"/>
                </a:cubicBezTo>
                <a:cubicBezTo>
                  <a:pt x="1521" y="907"/>
                  <a:pt x="1519" y="945"/>
                  <a:pt x="1513" y="982"/>
                </a:cubicBezTo>
                <a:cubicBezTo>
                  <a:pt x="1511" y="994"/>
                  <a:pt x="1502" y="1016"/>
                  <a:pt x="1502" y="1016"/>
                </a:cubicBezTo>
              </a:path>
            </a:pathLst>
          </a:custGeom>
          <a:noFill/>
          <a:ln w="28575" cap="flat" cmpd="sng">
            <a:solidFill>
              <a:srgbClr val="FC0128"/>
            </a:solidFill>
            <a:prstDash val="solid"/>
            <a:round/>
            <a:headEnd type="arrow" w="med" len="med"/>
            <a:tailEnd type="arrow" w="med" len="med"/>
          </a:ln>
        </p:spPr>
        <p:txBody>
          <a:bodyPr/>
          <a:lstStyle/>
          <a:p>
            <a:endParaRPr lang="en-US"/>
          </a:p>
        </p:txBody>
      </p:sp>
    </p:spTree>
    <p:extLst>
      <p:ext uri="{BB962C8B-B14F-4D97-AF65-F5344CB8AC3E}">
        <p14:creationId xmlns:p14="http://schemas.microsoft.com/office/powerpoint/2010/main" val="145195072"/>
      </p:ext>
    </p:extLst>
  </p:cSld>
  <p:clrMapOvr>
    <a:masterClrMapping/>
  </p:clrMapOvr>
  <p:transition>
    <p:zoom dir="in"/>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p:cNvSpPr>
            <a:spLocks noGrp="1" noChangeArrowheads="1"/>
          </p:cNvSpPr>
          <p:nvPr>
            <p:ph type="title"/>
          </p:nvPr>
        </p:nvSpPr>
        <p:spPr/>
        <p:txBody>
          <a:bodyPr/>
          <a:lstStyle/>
          <a:p>
            <a:pPr eaLnBrk="1" hangingPunct="1"/>
            <a:r>
              <a:rPr lang="en-US" b="1">
                <a:solidFill>
                  <a:srgbClr val="C00000"/>
                </a:solidFill>
              </a:rPr>
              <a:t>Ligands</a:t>
            </a:r>
          </a:p>
        </p:txBody>
      </p:sp>
      <p:sp>
        <p:nvSpPr>
          <p:cNvPr id="18435" name="Rectangle 7"/>
          <p:cNvSpPr>
            <a:spLocks noGrp="1" noChangeArrowheads="1"/>
          </p:cNvSpPr>
          <p:nvPr>
            <p:ph type="body" idx="1"/>
          </p:nvPr>
        </p:nvSpPr>
        <p:spPr/>
        <p:txBody>
          <a:bodyPr/>
          <a:lstStyle/>
          <a:p>
            <a:pPr eaLnBrk="1" hangingPunct="1"/>
            <a:r>
              <a:rPr lang="en-US" sz="3500" b="1"/>
              <a:t>Monodentate</a:t>
            </a:r>
          </a:p>
          <a:p>
            <a:pPr lvl="1" eaLnBrk="1" hangingPunct="1"/>
            <a:r>
              <a:rPr lang="en-US" sz="3500"/>
              <a:t>	Examples:  </a:t>
            </a:r>
          </a:p>
          <a:p>
            <a:pPr lvl="2" eaLnBrk="1" hangingPunct="1"/>
            <a:r>
              <a:rPr lang="en-US" sz="3500"/>
              <a:t>H</a:t>
            </a:r>
            <a:r>
              <a:rPr lang="en-US" sz="3500" baseline="-25000"/>
              <a:t>2</a:t>
            </a:r>
            <a:r>
              <a:rPr lang="en-US" sz="3500"/>
              <a:t>O, CN</a:t>
            </a:r>
            <a:r>
              <a:rPr lang="en-US" sz="3500" baseline="30000"/>
              <a:t>-</a:t>
            </a:r>
            <a:r>
              <a:rPr lang="en-US" sz="3500"/>
              <a:t>, NH</a:t>
            </a:r>
            <a:r>
              <a:rPr lang="en-US" sz="3500" baseline="-25000"/>
              <a:t>3</a:t>
            </a:r>
            <a:r>
              <a:rPr lang="en-US" sz="3500"/>
              <a:t>, NO</a:t>
            </a:r>
            <a:r>
              <a:rPr lang="en-US" sz="3500" baseline="-25000"/>
              <a:t>2</a:t>
            </a:r>
            <a:r>
              <a:rPr lang="en-US" sz="3500" baseline="30000"/>
              <a:t>-</a:t>
            </a:r>
            <a:r>
              <a:rPr lang="en-US" sz="3500"/>
              <a:t>, SCN</a:t>
            </a:r>
            <a:r>
              <a:rPr lang="en-US" sz="3500" baseline="30000"/>
              <a:t>-</a:t>
            </a:r>
            <a:r>
              <a:rPr lang="en-US" sz="3500"/>
              <a:t>, OH</a:t>
            </a:r>
            <a:r>
              <a:rPr lang="en-US" sz="3500" baseline="30000"/>
              <a:t>-</a:t>
            </a:r>
            <a:r>
              <a:rPr lang="en-US" sz="3500"/>
              <a:t>, X</a:t>
            </a:r>
            <a:r>
              <a:rPr lang="en-US" sz="3500" baseline="30000"/>
              <a:t>-</a:t>
            </a:r>
            <a:r>
              <a:rPr lang="en-US" sz="3500"/>
              <a:t> (halides), CO, O</a:t>
            </a:r>
            <a:r>
              <a:rPr lang="en-US" sz="3500" baseline="30000"/>
              <a:t>2-</a:t>
            </a:r>
            <a:endParaRPr lang="en-US" sz="3500"/>
          </a:p>
          <a:p>
            <a:pPr lvl="1" eaLnBrk="1" hangingPunct="1"/>
            <a:r>
              <a:rPr lang="en-US" sz="3500"/>
              <a:t>Example Complexes</a:t>
            </a:r>
          </a:p>
          <a:p>
            <a:pPr lvl="2" eaLnBrk="1" hangingPunct="1"/>
            <a:r>
              <a:rPr lang="en-US" sz="3500"/>
              <a:t>[Co(NH</a:t>
            </a:r>
            <a:r>
              <a:rPr lang="en-US" sz="3500" baseline="-25000"/>
              <a:t>3</a:t>
            </a:r>
            <a:r>
              <a:rPr lang="en-US" sz="3500"/>
              <a:t>)</a:t>
            </a:r>
            <a:r>
              <a:rPr lang="en-US" sz="3500" baseline="-25000"/>
              <a:t>6</a:t>
            </a:r>
            <a:r>
              <a:rPr lang="en-US" sz="3500"/>
              <a:t>]</a:t>
            </a:r>
            <a:r>
              <a:rPr lang="en-US" sz="3500" baseline="30000"/>
              <a:t>3+</a:t>
            </a:r>
            <a:endParaRPr lang="en-US" sz="3500"/>
          </a:p>
          <a:p>
            <a:pPr lvl="2" eaLnBrk="1" hangingPunct="1"/>
            <a:r>
              <a:rPr lang="en-US" sz="3500"/>
              <a:t>[Fe(SCN)</a:t>
            </a:r>
            <a:r>
              <a:rPr lang="en-US" sz="3500" baseline="-25000"/>
              <a:t>6</a:t>
            </a:r>
            <a:r>
              <a:rPr lang="en-US" sz="3500"/>
              <a:t>]</a:t>
            </a:r>
            <a:r>
              <a:rPr lang="en-US" sz="3500" baseline="30000"/>
              <a:t>3-</a:t>
            </a:r>
            <a:r>
              <a:rPr lang="en-US" sz="3500"/>
              <a:t> </a:t>
            </a:r>
          </a:p>
        </p:txBody>
      </p:sp>
    </p:spTree>
    <p:extLst>
      <p:ext uri="{BB962C8B-B14F-4D97-AF65-F5344CB8AC3E}">
        <p14:creationId xmlns:p14="http://schemas.microsoft.com/office/powerpoint/2010/main" val="3825931485"/>
      </p:ext>
    </p:extLst>
  </p:cSld>
  <p:clrMapOvr>
    <a:masterClrMapping/>
  </p:clrMapOvr>
  <p:transition>
    <p:zoom dir="in"/>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a:xfrm>
            <a:off x="685800" y="304800"/>
            <a:ext cx="7772400" cy="508000"/>
          </a:xfrm>
        </p:spPr>
        <p:txBody>
          <a:bodyPr>
            <a:normAutofit fontScale="90000"/>
          </a:bodyPr>
          <a:lstStyle/>
          <a:p>
            <a:pPr eaLnBrk="1" hangingPunct="1"/>
            <a:r>
              <a:rPr lang="en-US" b="1">
                <a:solidFill>
                  <a:srgbClr val="C00000"/>
                </a:solidFill>
              </a:rPr>
              <a:t>Ligands</a:t>
            </a:r>
          </a:p>
        </p:txBody>
      </p:sp>
      <p:sp>
        <p:nvSpPr>
          <p:cNvPr id="19459" name="Rectangle 5"/>
          <p:cNvSpPr>
            <a:spLocks noGrp="1" noChangeArrowheads="1"/>
          </p:cNvSpPr>
          <p:nvPr>
            <p:ph type="body" idx="1"/>
          </p:nvPr>
        </p:nvSpPr>
        <p:spPr>
          <a:xfrm>
            <a:off x="533400" y="1066800"/>
            <a:ext cx="8153400" cy="5562600"/>
          </a:xfrm>
        </p:spPr>
        <p:txBody>
          <a:bodyPr/>
          <a:lstStyle/>
          <a:p>
            <a:pPr eaLnBrk="1" hangingPunct="1"/>
            <a:r>
              <a:rPr lang="en-US" b="1"/>
              <a:t>Bidentate</a:t>
            </a:r>
          </a:p>
          <a:p>
            <a:pPr lvl="1" eaLnBrk="1" hangingPunct="1"/>
            <a:r>
              <a:rPr lang="en-US" sz="3200"/>
              <a:t>Examples</a:t>
            </a:r>
          </a:p>
          <a:p>
            <a:pPr lvl="2" eaLnBrk="1" hangingPunct="1"/>
            <a:r>
              <a:rPr lang="en-US" sz="3200"/>
              <a:t>oxalate ion = C</a:t>
            </a:r>
            <a:r>
              <a:rPr lang="en-US" sz="3200" baseline="-25000"/>
              <a:t>2</a:t>
            </a:r>
            <a:r>
              <a:rPr lang="en-US" sz="3200"/>
              <a:t>O</a:t>
            </a:r>
            <a:r>
              <a:rPr lang="en-US" sz="3200" baseline="-25000"/>
              <a:t>4</a:t>
            </a:r>
            <a:r>
              <a:rPr lang="en-US" sz="3200" baseline="30000"/>
              <a:t>2-</a:t>
            </a:r>
            <a:r>
              <a:rPr lang="en-US" sz="3200"/>
              <a:t> </a:t>
            </a:r>
          </a:p>
          <a:p>
            <a:pPr lvl="2" eaLnBrk="1" hangingPunct="1"/>
            <a:r>
              <a:rPr lang="en-US" sz="3200"/>
              <a:t>ethylenediamine (en) = NH</a:t>
            </a:r>
            <a:r>
              <a:rPr lang="en-US" sz="3200" baseline="-25000"/>
              <a:t>2</a:t>
            </a:r>
            <a:r>
              <a:rPr lang="en-US" sz="3200"/>
              <a:t>CH</a:t>
            </a:r>
            <a:r>
              <a:rPr lang="en-US" sz="3200" baseline="-25000"/>
              <a:t>2</a:t>
            </a:r>
            <a:r>
              <a:rPr lang="en-US" sz="3200"/>
              <a:t>CH</a:t>
            </a:r>
            <a:r>
              <a:rPr lang="en-US" sz="3200" baseline="-25000"/>
              <a:t>2</a:t>
            </a:r>
            <a:r>
              <a:rPr lang="en-US" sz="3200"/>
              <a:t>NH</a:t>
            </a:r>
            <a:r>
              <a:rPr lang="en-US" sz="3200" baseline="-25000"/>
              <a:t>2</a:t>
            </a:r>
          </a:p>
          <a:p>
            <a:pPr lvl="2" eaLnBrk="1" hangingPunct="1"/>
            <a:r>
              <a:rPr lang="en-US" sz="3200"/>
              <a:t>ortho-phenanthroline (o-phen)</a:t>
            </a:r>
          </a:p>
          <a:p>
            <a:pPr lvl="1" eaLnBrk="1" hangingPunct="1"/>
            <a:r>
              <a:rPr lang="en-US" sz="3200"/>
              <a:t>Example Complexes</a:t>
            </a:r>
          </a:p>
          <a:p>
            <a:pPr lvl="2" eaLnBrk="1" hangingPunct="1"/>
            <a:r>
              <a:rPr lang="en-US" sz="3200"/>
              <a:t>[Co(en)</a:t>
            </a:r>
            <a:r>
              <a:rPr lang="en-US" sz="3200" baseline="-25000"/>
              <a:t>3</a:t>
            </a:r>
            <a:r>
              <a:rPr lang="en-US" sz="3200"/>
              <a:t>]</a:t>
            </a:r>
            <a:r>
              <a:rPr lang="en-US" sz="3200" baseline="30000"/>
              <a:t>3+</a:t>
            </a:r>
            <a:endParaRPr lang="en-US" sz="3200"/>
          </a:p>
          <a:p>
            <a:pPr lvl="2" eaLnBrk="1" hangingPunct="1"/>
            <a:r>
              <a:rPr lang="en-US" sz="3200"/>
              <a:t>[Cr(C</a:t>
            </a:r>
            <a:r>
              <a:rPr lang="en-US" sz="3200" baseline="-25000"/>
              <a:t>2</a:t>
            </a:r>
            <a:r>
              <a:rPr lang="en-US" sz="3200"/>
              <a:t>O</a:t>
            </a:r>
            <a:r>
              <a:rPr lang="en-US" sz="3200" baseline="-25000"/>
              <a:t>4</a:t>
            </a:r>
            <a:r>
              <a:rPr lang="en-US" sz="3200"/>
              <a:t>)</a:t>
            </a:r>
            <a:r>
              <a:rPr lang="en-US" sz="3200" baseline="-25000"/>
              <a:t>3</a:t>
            </a:r>
            <a:r>
              <a:rPr lang="en-US" sz="3200"/>
              <a:t>]</a:t>
            </a:r>
            <a:r>
              <a:rPr lang="en-US" sz="3200" baseline="30000"/>
              <a:t>3-</a:t>
            </a:r>
            <a:endParaRPr lang="en-US" sz="3200"/>
          </a:p>
          <a:p>
            <a:pPr lvl="2" eaLnBrk="1" hangingPunct="1"/>
            <a:r>
              <a:rPr lang="en-US" sz="3200"/>
              <a:t>[Fe(NH</a:t>
            </a:r>
            <a:r>
              <a:rPr lang="en-US" sz="3200" baseline="-25000"/>
              <a:t>3</a:t>
            </a:r>
            <a:r>
              <a:rPr lang="en-US" sz="3200"/>
              <a:t>)</a:t>
            </a:r>
            <a:r>
              <a:rPr lang="en-US" sz="3200" baseline="-25000"/>
              <a:t>4</a:t>
            </a:r>
            <a:r>
              <a:rPr lang="en-US" sz="3200"/>
              <a:t>(o-phen)]</a:t>
            </a:r>
            <a:r>
              <a:rPr lang="en-US" sz="3200" baseline="30000"/>
              <a:t>3+</a:t>
            </a:r>
            <a:endParaRPr lang="en-US" sz="3200"/>
          </a:p>
        </p:txBody>
      </p:sp>
    </p:spTree>
    <p:extLst>
      <p:ext uri="{BB962C8B-B14F-4D97-AF65-F5344CB8AC3E}">
        <p14:creationId xmlns:p14="http://schemas.microsoft.com/office/powerpoint/2010/main" val="1393512932"/>
      </p:ext>
    </p:extLst>
  </p:cSld>
  <p:clrMapOvr>
    <a:masterClrMapping/>
  </p:clrMapOvr>
  <p:transition>
    <p:zoom dir="in"/>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050"/>
          <p:cNvSpPr>
            <a:spLocks noGrp="1" noChangeArrowheads="1"/>
          </p:cNvSpPr>
          <p:nvPr>
            <p:ph type="title"/>
          </p:nvPr>
        </p:nvSpPr>
        <p:spPr>
          <a:xfrm>
            <a:off x="685800" y="304800"/>
            <a:ext cx="7772400" cy="558800"/>
          </a:xfrm>
        </p:spPr>
        <p:txBody>
          <a:bodyPr>
            <a:normAutofit fontScale="90000"/>
          </a:bodyPr>
          <a:lstStyle/>
          <a:p>
            <a:pPr eaLnBrk="1" hangingPunct="1"/>
            <a:r>
              <a:rPr lang="en-US"/>
              <a:t>Ligands</a:t>
            </a:r>
          </a:p>
        </p:txBody>
      </p:sp>
      <p:sp>
        <p:nvSpPr>
          <p:cNvPr id="1030" name="Rectangle 2051"/>
          <p:cNvSpPr>
            <a:spLocks noChangeArrowheads="1"/>
          </p:cNvSpPr>
          <p:nvPr/>
        </p:nvSpPr>
        <p:spPr bwMode="auto">
          <a:xfrm>
            <a:off x="609600" y="990600"/>
            <a:ext cx="2360613" cy="454025"/>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b="1"/>
              <a:t>oxalate ion</a:t>
            </a:r>
          </a:p>
        </p:txBody>
      </p:sp>
      <p:sp>
        <p:nvSpPr>
          <p:cNvPr id="1031" name="Rectangle 2052"/>
          <p:cNvSpPr>
            <a:spLocks noChangeArrowheads="1"/>
          </p:cNvSpPr>
          <p:nvPr/>
        </p:nvSpPr>
        <p:spPr bwMode="auto">
          <a:xfrm>
            <a:off x="4648200" y="1066800"/>
            <a:ext cx="3275013" cy="454025"/>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b="1"/>
              <a:t>ethylenediamine</a:t>
            </a:r>
          </a:p>
        </p:txBody>
      </p:sp>
      <p:graphicFrame>
        <p:nvGraphicFramePr>
          <p:cNvPr id="1026" name="Object 2048"/>
          <p:cNvGraphicFramePr>
            <a:graphicFrameLocks noChangeAspect="1"/>
          </p:cNvGraphicFramePr>
          <p:nvPr/>
        </p:nvGraphicFramePr>
        <p:xfrm>
          <a:off x="381000" y="1371600"/>
          <a:ext cx="3505200" cy="1825625"/>
        </p:xfrm>
        <a:graphic>
          <a:graphicData uri="http://schemas.openxmlformats.org/presentationml/2006/ole">
            <mc:AlternateContent xmlns:mc="http://schemas.openxmlformats.org/markup-compatibility/2006">
              <mc:Choice xmlns:v="urn:schemas-microsoft-com:vml" Requires="v">
                <p:oleObj spid="_x0000_s1029" name="Chemistry 4-D Draw" r:id="rId3" imgW="1552680" imgH="809640" progId="">
                  <p:embed/>
                </p:oleObj>
              </mc:Choice>
              <mc:Fallback>
                <p:oleObj name="Chemistry 4-D Draw" r:id="rId3" imgW="1552680" imgH="8096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371600"/>
                        <a:ext cx="3505200"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2049"/>
          <p:cNvGraphicFramePr>
            <a:graphicFrameLocks noChangeAspect="1"/>
          </p:cNvGraphicFramePr>
          <p:nvPr/>
        </p:nvGraphicFramePr>
        <p:xfrm>
          <a:off x="4267200" y="1524000"/>
          <a:ext cx="4191000" cy="1462088"/>
        </p:xfrm>
        <a:graphic>
          <a:graphicData uri="http://schemas.openxmlformats.org/presentationml/2006/ole">
            <mc:AlternateContent xmlns:mc="http://schemas.openxmlformats.org/markup-compatibility/2006">
              <mc:Choice xmlns:v="urn:schemas-microsoft-com:vml" Requires="v">
                <p:oleObj spid="_x0000_s1030" name="Chemistry 4-D Draw" r:id="rId5" imgW="1609560" imgH="561960" progId="">
                  <p:embed/>
                </p:oleObj>
              </mc:Choice>
              <mc:Fallback>
                <p:oleObj name="Chemistry 4-D Draw" r:id="rId5" imgW="1609560" imgH="5619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1524000"/>
                        <a:ext cx="4191000" cy="146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2050"/>
          <p:cNvGraphicFramePr>
            <a:graphicFrameLocks noChangeAspect="1"/>
          </p:cNvGraphicFramePr>
          <p:nvPr/>
        </p:nvGraphicFramePr>
        <p:xfrm>
          <a:off x="2971800" y="3657600"/>
          <a:ext cx="3581400" cy="2560638"/>
        </p:xfrm>
        <a:graphic>
          <a:graphicData uri="http://schemas.openxmlformats.org/presentationml/2006/ole">
            <mc:AlternateContent xmlns:mc="http://schemas.openxmlformats.org/markup-compatibility/2006">
              <mc:Choice xmlns:v="urn:schemas-microsoft-com:vml" Requires="v">
                <p:oleObj spid="_x0000_s1031" name="Chemistry 4-D Draw" r:id="rId7" imgW="2104920" imgH="1504800" progId="">
                  <p:embed/>
                </p:oleObj>
              </mc:Choice>
              <mc:Fallback>
                <p:oleObj name="Chemistry 4-D Draw" r:id="rId7" imgW="2104920" imgH="15048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3657600"/>
                        <a:ext cx="3581400" cy="256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2" name="Rectangle 2056"/>
          <p:cNvSpPr>
            <a:spLocks noChangeArrowheads="1"/>
          </p:cNvSpPr>
          <p:nvPr/>
        </p:nvSpPr>
        <p:spPr bwMode="auto">
          <a:xfrm>
            <a:off x="3124200" y="3429000"/>
            <a:ext cx="3200400" cy="45402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b="1"/>
              <a:t>ortho-phenanthroline</a:t>
            </a:r>
          </a:p>
        </p:txBody>
      </p:sp>
      <p:sp>
        <p:nvSpPr>
          <p:cNvPr id="1033" name="Text Box 2057"/>
          <p:cNvSpPr txBox="1">
            <a:spLocks noChangeArrowheads="1"/>
          </p:cNvSpPr>
          <p:nvPr/>
        </p:nvSpPr>
        <p:spPr bwMode="auto">
          <a:xfrm>
            <a:off x="0" y="4724400"/>
            <a:ext cx="3429000" cy="519113"/>
          </a:xfrm>
          <a:prstGeom prst="rect">
            <a:avLst/>
          </a:prstGeom>
          <a:noFill/>
          <a:ln w="12700">
            <a:noFill/>
            <a:miter lim="800000"/>
            <a:headEnd/>
            <a:tailEnd/>
          </a:ln>
        </p:spPr>
        <p:txBody>
          <a:bodyPr>
            <a:spAutoFit/>
          </a:bodyPr>
          <a:lstStyle/>
          <a:p>
            <a:pPr algn="ctr" eaLnBrk="0" hangingPunct="0">
              <a:spcBef>
                <a:spcPct val="50000"/>
              </a:spcBef>
            </a:pPr>
            <a:r>
              <a:rPr lang="en-US" sz="2800">
                <a:solidFill>
                  <a:srgbClr val="FC0128"/>
                </a:solidFill>
              </a:rPr>
              <a:t>Donor Atoms</a:t>
            </a:r>
          </a:p>
        </p:txBody>
      </p:sp>
      <p:sp>
        <p:nvSpPr>
          <p:cNvPr id="1034" name="Text Box 2058"/>
          <p:cNvSpPr txBox="1">
            <a:spLocks noChangeArrowheads="1"/>
          </p:cNvSpPr>
          <p:nvPr/>
        </p:nvSpPr>
        <p:spPr bwMode="auto">
          <a:xfrm>
            <a:off x="533400" y="28956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1035" name="Text Box 2059"/>
          <p:cNvSpPr txBox="1">
            <a:spLocks noChangeArrowheads="1"/>
          </p:cNvSpPr>
          <p:nvPr/>
        </p:nvSpPr>
        <p:spPr bwMode="auto">
          <a:xfrm>
            <a:off x="2438400" y="28956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1036" name="Text Box 2060"/>
          <p:cNvSpPr txBox="1">
            <a:spLocks noChangeArrowheads="1"/>
          </p:cNvSpPr>
          <p:nvPr/>
        </p:nvSpPr>
        <p:spPr bwMode="auto">
          <a:xfrm>
            <a:off x="4953000" y="25146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1037" name="Text Box 2061"/>
          <p:cNvSpPr txBox="1">
            <a:spLocks noChangeArrowheads="1"/>
          </p:cNvSpPr>
          <p:nvPr/>
        </p:nvSpPr>
        <p:spPr bwMode="auto">
          <a:xfrm>
            <a:off x="7162800" y="25908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1038" name="Text Box 2062"/>
          <p:cNvSpPr txBox="1">
            <a:spLocks noChangeArrowheads="1"/>
          </p:cNvSpPr>
          <p:nvPr/>
        </p:nvSpPr>
        <p:spPr bwMode="auto">
          <a:xfrm>
            <a:off x="4648200" y="37338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1039" name="Text Box 2063"/>
          <p:cNvSpPr txBox="1">
            <a:spLocks noChangeArrowheads="1"/>
          </p:cNvSpPr>
          <p:nvPr/>
        </p:nvSpPr>
        <p:spPr bwMode="auto">
          <a:xfrm>
            <a:off x="3733800" y="42672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Tree>
    <p:extLst>
      <p:ext uri="{BB962C8B-B14F-4D97-AF65-F5344CB8AC3E}">
        <p14:creationId xmlns:p14="http://schemas.microsoft.com/office/powerpoint/2010/main" val="929401278"/>
      </p:ext>
    </p:extLst>
  </p:cSld>
  <p:clrMapOvr>
    <a:masterClrMapping/>
  </p:clrMapOvr>
  <p:transition>
    <p:zoom dir="in"/>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Ligands</a:t>
            </a:r>
          </a:p>
        </p:txBody>
      </p:sp>
      <p:pic>
        <p:nvPicPr>
          <p:cNvPr id="20483" name="Picture 3"/>
          <p:cNvPicPr>
            <a:picLocks noChangeArrowheads="1"/>
          </p:cNvPicPr>
          <p:nvPr/>
        </p:nvPicPr>
        <p:blipFill>
          <a:blip r:embed="rId2"/>
          <a:srcRect/>
          <a:stretch>
            <a:fillRect/>
          </a:stretch>
        </p:blipFill>
        <p:spPr bwMode="auto">
          <a:xfrm>
            <a:off x="352425" y="2162175"/>
            <a:ext cx="3381375" cy="4006850"/>
          </a:xfrm>
          <a:prstGeom prst="rect">
            <a:avLst/>
          </a:prstGeom>
          <a:noFill/>
          <a:ln w="12700">
            <a:noFill/>
            <a:miter lim="800000"/>
            <a:headEnd/>
            <a:tailEnd/>
          </a:ln>
        </p:spPr>
      </p:pic>
      <p:pic>
        <p:nvPicPr>
          <p:cNvPr id="20484" name="Picture 4"/>
          <p:cNvPicPr>
            <a:picLocks noChangeArrowheads="1"/>
          </p:cNvPicPr>
          <p:nvPr/>
        </p:nvPicPr>
        <p:blipFill>
          <a:blip r:embed="rId3"/>
          <a:srcRect/>
          <a:stretch>
            <a:fillRect/>
          </a:stretch>
        </p:blipFill>
        <p:spPr bwMode="auto">
          <a:xfrm>
            <a:off x="4114800" y="2133600"/>
            <a:ext cx="4598988" cy="4038600"/>
          </a:xfrm>
          <a:prstGeom prst="rect">
            <a:avLst/>
          </a:prstGeom>
          <a:noFill/>
          <a:ln w="12700">
            <a:noFill/>
            <a:miter lim="800000"/>
            <a:headEnd/>
            <a:tailEnd/>
          </a:ln>
        </p:spPr>
      </p:pic>
      <p:sp>
        <p:nvSpPr>
          <p:cNvPr id="20485" name="Rectangle 5"/>
          <p:cNvSpPr>
            <a:spLocks noChangeArrowheads="1"/>
          </p:cNvSpPr>
          <p:nvPr/>
        </p:nvSpPr>
        <p:spPr bwMode="auto">
          <a:xfrm>
            <a:off x="838200" y="1371600"/>
            <a:ext cx="2360613"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oxalate ion</a:t>
            </a:r>
          </a:p>
        </p:txBody>
      </p:sp>
      <p:sp>
        <p:nvSpPr>
          <p:cNvPr id="20486" name="Rectangle 6"/>
          <p:cNvSpPr>
            <a:spLocks noChangeArrowheads="1"/>
          </p:cNvSpPr>
          <p:nvPr/>
        </p:nvSpPr>
        <p:spPr bwMode="auto">
          <a:xfrm>
            <a:off x="4573588" y="1373188"/>
            <a:ext cx="43402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ethylenediamine</a:t>
            </a:r>
          </a:p>
        </p:txBody>
      </p:sp>
      <p:sp>
        <p:nvSpPr>
          <p:cNvPr id="20487" name="Rectangle 7"/>
          <p:cNvSpPr>
            <a:spLocks noChangeArrowheads="1"/>
          </p:cNvSpPr>
          <p:nvPr/>
        </p:nvSpPr>
        <p:spPr bwMode="auto">
          <a:xfrm>
            <a:off x="2590800" y="5257800"/>
            <a:ext cx="606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FF2B2B"/>
                </a:solidFill>
              </a:rPr>
              <a:t>O</a:t>
            </a:r>
          </a:p>
        </p:txBody>
      </p:sp>
      <p:sp>
        <p:nvSpPr>
          <p:cNvPr id="20488" name="Line 8"/>
          <p:cNvSpPr>
            <a:spLocks noChangeShapeType="1"/>
          </p:cNvSpPr>
          <p:nvPr/>
        </p:nvSpPr>
        <p:spPr bwMode="auto">
          <a:xfrm>
            <a:off x="2895600" y="4648200"/>
            <a:ext cx="0" cy="685800"/>
          </a:xfrm>
          <a:prstGeom prst="line">
            <a:avLst/>
          </a:prstGeom>
          <a:noFill/>
          <a:ln w="76200">
            <a:solidFill>
              <a:schemeClr val="accent1"/>
            </a:solidFill>
            <a:round/>
            <a:headEnd type="triangle" w="med" len="med"/>
            <a:tailEnd/>
          </a:ln>
        </p:spPr>
        <p:txBody>
          <a:bodyPr wrap="none" anchor="ctr"/>
          <a:lstStyle/>
          <a:p>
            <a:endParaRPr lang="en-US"/>
          </a:p>
        </p:txBody>
      </p:sp>
      <p:sp>
        <p:nvSpPr>
          <p:cNvPr id="20489" name="Rectangle 9"/>
          <p:cNvSpPr>
            <a:spLocks noChangeArrowheads="1"/>
          </p:cNvSpPr>
          <p:nvPr/>
        </p:nvSpPr>
        <p:spPr bwMode="auto">
          <a:xfrm>
            <a:off x="3276600" y="3429000"/>
            <a:ext cx="6826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C</a:t>
            </a:r>
          </a:p>
        </p:txBody>
      </p:sp>
      <p:sp>
        <p:nvSpPr>
          <p:cNvPr id="20490" name="Line 10"/>
          <p:cNvSpPr>
            <a:spLocks noChangeShapeType="1"/>
          </p:cNvSpPr>
          <p:nvPr/>
        </p:nvSpPr>
        <p:spPr bwMode="auto">
          <a:xfrm>
            <a:off x="2667000" y="3733800"/>
            <a:ext cx="558800" cy="25400"/>
          </a:xfrm>
          <a:prstGeom prst="line">
            <a:avLst/>
          </a:prstGeom>
          <a:noFill/>
          <a:ln w="50800">
            <a:solidFill>
              <a:schemeClr val="accent1"/>
            </a:solidFill>
            <a:round/>
            <a:headEnd type="triangle" w="med" len="med"/>
            <a:tailEnd/>
          </a:ln>
        </p:spPr>
        <p:txBody>
          <a:bodyPr wrap="none" anchor="ctr"/>
          <a:lstStyle/>
          <a:p>
            <a:endParaRPr lang="en-US"/>
          </a:p>
        </p:txBody>
      </p:sp>
      <p:sp>
        <p:nvSpPr>
          <p:cNvPr id="20491" name="Rectangle 11"/>
          <p:cNvSpPr>
            <a:spLocks noChangeArrowheads="1"/>
          </p:cNvSpPr>
          <p:nvPr/>
        </p:nvSpPr>
        <p:spPr bwMode="auto">
          <a:xfrm>
            <a:off x="1296988" y="5640388"/>
            <a:ext cx="8350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13C5B4"/>
                </a:solidFill>
              </a:rPr>
              <a:t>M</a:t>
            </a:r>
          </a:p>
        </p:txBody>
      </p:sp>
      <p:sp>
        <p:nvSpPr>
          <p:cNvPr id="20492" name="Rectangle 12"/>
          <p:cNvSpPr>
            <a:spLocks noChangeArrowheads="1"/>
          </p:cNvSpPr>
          <p:nvPr/>
        </p:nvSpPr>
        <p:spPr bwMode="auto">
          <a:xfrm>
            <a:off x="4648200" y="5257800"/>
            <a:ext cx="8350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13C5B4"/>
                </a:solidFill>
              </a:rPr>
              <a:t>M</a:t>
            </a:r>
          </a:p>
        </p:txBody>
      </p:sp>
      <p:sp>
        <p:nvSpPr>
          <p:cNvPr id="20493" name="Rectangle 13"/>
          <p:cNvSpPr>
            <a:spLocks noChangeArrowheads="1"/>
          </p:cNvSpPr>
          <p:nvPr/>
        </p:nvSpPr>
        <p:spPr bwMode="auto">
          <a:xfrm>
            <a:off x="6096000" y="5410200"/>
            <a:ext cx="987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chemeClr val="accent2"/>
                </a:solidFill>
              </a:rPr>
              <a:t>N</a:t>
            </a:r>
          </a:p>
        </p:txBody>
      </p:sp>
      <p:sp>
        <p:nvSpPr>
          <p:cNvPr id="20494" name="Line 14"/>
          <p:cNvSpPr>
            <a:spLocks noChangeShapeType="1"/>
          </p:cNvSpPr>
          <p:nvPr/>
        </p:nvSpPr>
        <p:spPr bwMode="auto">
          <a:xfrm flipV="1">
            <a:off x="6553200" y="5105400"/>
            <a:ext cx="406400" cy="508000"/>
          </a:xfrm>
          <a:prstGeom prst="line">
            <a:avLst/>
          </a:prstGeom>
          <a:noFill/>
          <a:ln w="50800">
            <a:solidFill>
              <a:schemeClr val="accent1"/>
            </a:solidFill>
            <a:round/>
            <a:headEnd/>
            <a:tailEnd type="triangle" w="med" len="med"/>
          </a:ln>
        </p:spPr>
        <p:txBody>
          <a:bodyPr wrap="none" anchor="ctr"/>
          <a:lstStyle/>
          <a:p>
            <a:endParaRPr lang="en-US"/>
          </a:p>
        </p:txBody>
      </p:sp>
      <p:sp>
        <p:nvSpPr>
          <p:cNvPr id="20495" name="Rectangle 15"/>
          <p:cNvSpPr>
            <a:spLocks noChangeArrowheads="1"/>
          </p:cNvSpPr>
          <p:nvPr/>
        </p:nvSpPr>
        <p:spPr bwMode="auto">
          <a:xfrm>
            <a:off x="8002588" y="2363788"/>
            <a:ext cx="7588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C</a:t>
            </a:r>
          </a:p>
        </p:txBody>
      </p:sp>
      <p:sp>
        <p:nvSpPr>
          <p:cNvPr id="20496" name="Line 16"/>
          <p:cNvSpPr>
            <a:spLocks noChangeShapeType="1"/>
          </p:cNvSpPr>
          <p:nvPr/>
        </p:nvSpPr>
        <p:spPr bwMode="auto">
          <a:xfrm flipH="1">
            <a:off x="6629400" y="2768600"/>
            <a:ext cx="1397000" cy="508000"/>
          </a:xfrm>
          <a:prstGeom prst="line">
            <a:avLst/>
          </a:prstGeom>
          <a:noFill/>
          <a:ln w="50800">
            <a:solidFill>
              <a:schemeClr val="accent1"/>
            </a:solidFill>
            <a:round/>
            <a:headEnd/>
            <a:tailEnd type="triangle" w="med" len="med"/>
          </a:ln>
        </p:spPr>
        <p:txBody>
          <a:bodyPr wrap="none" anchor="ctr"/>
          <a:lstStyle/>
          <a:p>
            <a:endParaRPr lang="en-US"/>
          </a:p>
        </p:txBody>
      </p:sp>
      <p:sp>
        <p:nvSpPr>
          <p:cNvPr id="20497" name="Rectangle 17"/>
          <p:cNvSpPr>
            <a:spLocks noChangeArrowheads="1"/>
          </p:cNvSpPr>
          <p:nvPr/>
        </p:nvSpPr>
        <p:spPr bwMode="auto">
          <a:xfrm>
            <a:off x="4343400" y="2286000"/>
            <a:ext cx="14446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chemeClr val="bg2"/>
                </a:solidFill>
              </a:rPr>
              <a:t>H</a:t>
            </a:r>
          </a:p>
        </p:txBody>
      </p:sp>
      <p:sp>
        <p:nvSpPr>
          <p:cNvPr id="20498" name="Line 18"/>
          <p:cNvSpPr>
            <a:spLocks noChangeShapeType="1"/>
          </p:cNvSpPr>
          <p:nvPr/>
        </p:nvSpPr>
        <p:spPr bwMode="auto">
          <a:xfrm>
            <a:off x="4724400" y="2895600"/>
            <a:ext cx="177800" cy="406400"/>
          </a:xfrm>
          <a:prstGeom prst="line">
            <a:avLst/>
          </a:prstGeom>
          <a:noFill/>
          <a:ln w="50800">
            <a:solidFill>
              <a:schemeClr val="accent1"/>
            </a:solidFill>
            <a:round/>
            <a:headEnd/>
            <a:tailEnd type="triangle" w="med" len="med"/>
          </a:ln>
        </p:spPr>
        <p:txBody>
          <a:bodyPr wrap="none" anchor="ctr"/>
          <a:lstStyle/>
          <a:p>
            <a:endParaRPr lang="en-US"/>
          </a:p>
        </p:txBody>
      </p:sp>
    </p:spTree>
    <p:extLst>
      <p:ext uri="{BB962C8B-B14F-4D97-AF65-F5344CB8AC3E}">
        <p14:creationId xmlns:p14="http://schemas.microsoft.com/office/powerpoint/2010/main" val="880099168"/>
      </p:ext>
    </p:extLst>
  </p:cSld>
  <p:clrMapOvr>
    <a:masterClrMapping/>
  </p:clrMapOvr>
  <p:transition>
    <p:zoom dir="in"/>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050"/>
          <p:cNvSpPr>
            <a:spLocks noGrp="1" noChangeArrowheads="1"/>
          </p:cNvSpPr>
          <p:nvPr>
            <p:ph type="title"/>
          </p:nvPr>
        </p:nvSpPr>
        <p:spPr/>
        <p:txBody>
          <a:bodyPr/>
          <a:lstStyle/>
          <a:p>
            <a:pPr eaLnBrk="1" hangingPunct="1"/>
            <a:r>
              <a:rPr lang="en-US"/>
              <a:t>Ligands</a:t>
            </a:r>
          </a:p>
        </p:txBody>
      </p:sp>
      <p:pic>
        <p:nvPicPr>
          <p:cNvPr id="21507" name="Picture 2067"/>
          <p:cNvPicPr>
            <a:picLocks noChangeAspect="1" noChangeArrowheads="1"/>
          </p:cNvPicPr>
          <p:nvPr/>
        </p:nvPicPr>
        <p:blipFill>
          <a:blip r:embed="rId2"/>
          <a:srcRect l="17017" r="15994"/>
          <a:stretch>
            <a:fillRect/>
          </a:stretch>
        </p:blipFill>
        <p:spPr bwMode="auto">
          <a:xfrm>
            <a:off x="1981200" y="990600"/>
            <a:ext cx="5638800" cy="5613400"/>
          </a:xfrm>
          <a:prstGeom prst="rect">
            <a:avLst/>
          </a:prstGeom>
          <a:noFill/>
          <a:ln w="9525">
            <a:noFill/>
            <a:miter lim="800000"/>
            <a:headEnd/>
            <a:tailEnd/>
          </a:ln>
        </p:spPr>
      </p:pic>
    </p:spTree>
    <p:extLst>
      <p:ext uri="{BB962C8B-B14F-4D97-AF65-F5344CB8AC3E}">
        <p14:creationId xmlns:p14="http://schemas.microsoft.com/office/powerpoint/2010/main" val="4104627716"/>
      </p:ext>
    </p:extLst>
  </p:cSld>
  <p:clrMapOvr>
    <a:masterClrMapping/>
  </p:clrMapOvr>
  <p:transition>
    <p:zoom dir="in"/>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p:txBody>
          <a:bodyPr/>
          <a:lstStyle/>
          <a:p>
            <a:pPr eaLnBrk="1" hangingPunct="1"/>
            <a:r>
              <a:rPr lang="en-US"/>
              <a:t>Ligands</a:t>
            </a:r>
          </a:p>
        </p:txBody>
      </p:sp>
      <p:sp>
        <p:nvSpPr>
          <p:cNvPr id="22531" name="Rectangle 5"/>
          <p:cNvSpPr>
            <a:spLocks noGrp="1" noChangeArrowheads="1"/>
          </p:cNvSpPr>
          <p:nvPr>
            <p:ph type="body" idx="1"/>
          </p:nvPr>
        </p:nvSpPr>
        <p:spPr/>
        <p:txBody>
          <a:bodyPr/>
          <a:lstStyle/>
          <a:p>
            <a:pPr eaLnBrk="1" hangingPunct="1"/>
            <a:r>
              <a:rPr lang="en-US" sz="3400" b="1"/>
              <a:t>Hexadentate</a:t>
            </a:r>
          </a:p>
          <a:p>
            <a:pPr lvl="1" eaLnBrk="1" hangingPunct="1"/>
            <a:r>
              <a:rPr lang="en-US" sz="3400"/>
              <a:t> ethylenediaminetetraacetate (EDTA) = (O</a:t>
            </a:r>
            <a:r>
              <a:rPr lang="en-US" sz="3400" baseline="-25000"/>
              <a:t>2</a:t>
            </a:r>
            <a:r>
              <a:rPr lang="en-US" sz="3400"/>
              <a:t>CCH</a:t>
            </a:r>
            <a:r>
              <a:rPr lang="en-US" sz="3400" baseline="-25000"/>
              <a:t>2</a:t>
            </a:r>
            <a:r>
              <a:rPr lang="en-US" sz="3400"/>
              <a:t>)</a:t>
            </a:r>
            <a:r>
              <a:rPr lang="en-US" sz="3400" baseline="-25000"/>
              <a:t>2</a:t>
            </a:r>
            <a:r>
              <a:rPr lang="en-US" sz="3400"/>
              <a:t>N(CH</a:t>
            </a:r>
            <a:r>
              <a:rPr lang="en-US" sz="3400" baseline="-25000"/>
              <a:t>2</a:t>
            </a:r>
            <a:r>
              <a:rPr lang="en-US" sz="3400"/>
              <a:t>)</a:t>
            </a:r>
            <a:r>
              <a:rPr lang="en-US" sz="3400" baseline="-25000"/>
              <a:t>2</a:t>
            </a:r>
            <a:r>
              <a:rPr lang="en-US" sz="3400"/>
              <a:t>N(CH</a:t>
            </a:r>
            <a:r>
              <a:rPr lang="en-US" sz="3400" baseline="-25000"/>
              <a:t>2</a:t>
            </a:r>
            <a:r>
              <a:rPr lang="en-US" sz="3400"/>
              <a:t>CO</a:t>
            </a:r>
            <a:r>
              <a:rPr lang="en-US" sz="3400" baseline="-25000"/>
              <a:t>2</a:t>
            </a:r>
            <a:r>
              <a:rPr lang="en-US" sz="3400"/>
              <a:t>)</a:t>
            </a:r>
            <a:r>
              <a:rPr lang="en-US" sz="3400" baseline="-25000"/>
              <a:t>2</a:t>
            </a:r>
            <a:r>
              <a:rPr lang="en-US" sz="3400" baseline="30000"/>
              <a:t>4-</a:t>
            </a:r>
          </a:p>
          <a:p>
            <a:pPr lvl="1" eaLnBrk="1" hangingPunct="1"/>
            <a:r>
              <a:rPr lang="en-US" sz="3400"/>
              <a:t>Example Complexes</a:t>
            </a:r>
          </a:p>
          <a:p>
            <a:pPr lvl="2" eaLnBrk="1" hangingPunct="1"/>
            <a:r>
              <a:rPr lang="en-US" sz="3400"/>
              <a:t>[Fe(EDTA)]</a:t>
            </a:r>
            <a:r>
              <a:rPr lang="en-US" sz="3400" baseline="30000"/>
              <a:t>-1</a:t>
            </a:r>
            <a:r>
              <a:rPr lang="en-US" sz="3400"/>
              <a:t>  </a:t>
            </a:r>
          </a:p>
          <a:p>
            <a:pPr lvl="2" eaLnBrk="1" hangingPunct="1"/>
            <a:r>
              <a:rPr lang="en-US" sz="3400"/>
              <a:t>[Co(EDTA)]</a:t>
            </a:r>
            <a:r>
              <a:rPr lang="en-US" sz="3400" baseline="30000"/>
              <a:t>-1</a:t>
            </a:r>
            <a:r>
              <a:rPr lang="en-US" sz="3400"/>
              <a:t>                   </a:t>
            </a:r>
          </a:p>
        </p:txBody>
      </p:sp>
    </p:spTree>
    <p:extLst>
      <p:ext uri="{BB962C8B-B14F-4D97-AF65-F5344CB8AC3E}">
        <p14:creationId xmlns:p14="http://schemas.microsoft.com/office/powerpoint/2010/main" val="828339372"/>
      </p:ext>
    </p:extLst>
  </p:cSld>
  <p:clrMapOvr>
    <a:masterClrMapping/>
  </p:clrMapOvr>
  <p:transition>
    <p:zoom dir="in"/>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nvGraphicFramePr>
        <p:xfrm>
          <a:off x="609600" y="1676400"/>
          <a:ext cx="8077200" cy="3598863"/>
        </p:xfrm>
        <a:graphic>
          <a:graphicData uri="http://schemas.openxmlformats.org/presentationml/2006/ole">
            <mc:AlternateContent xmlns:mc="http://schemas.openxmlformats.org/markup-compatibility/2006">
              <mc:Choice xmlns:v="urn:schemas-microsoft-com:vml" Requires="v">
                <p:oleObj spid="_x0000_s2051" name="Chemistry 4-D Draw" r:id="rId3" imgW="3314880" imgH="1476360" progId="">
                  <p:embed/>
                </p:oleObj>
              </mc:Choice>
              <mc:Fallback>
                <p:oleObj name="Chemistry 4-D Draw" r:id="rId3" imgW="3314880" imgH="147636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676400"/>
                        <a:ext cx="8077200" cy="359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1" name="Rectangle 3"/>
          <p:cNvSpPr>
            <a:spLocks noChangeArrowheads="1"/>
          </p:cNvSpPr>
          <p:nvPr/>
        </p:nvSpPr>
        <p:spPr bwMode="auto">
          <a:xfrm>
            <a:off x="3657600" y="1752600"/>
            <a:ext cx="1905000"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000000"/>
                </a:solidFill>
              </a:rPr>
              <a:t>EDTA</a:t>
            </a:r>
          </a:p>
        </p:txBody>
      </p:sp>
      <p:sp>
        <p:nvSpPr>
          <p:cNvPr id="2052" name="Rectangle 4"/>
          <p:cNvSpPr>
            <a:spLocks noGrp="1" noChangeArrowheads="1"/>
          </p:cNvSpPr>
          <p:nvPr>
            <p:ph type="title"/>
          </p:nvPr>
        </p:nvSpPr>
        <p:spPr/>
        <p:txBody>
          <a:bodyPr/>
          <a:lstStyle/>
          <a:p>
            <a:pPr eaLnBrk="1" hangingPunct="1"/>
            <a:r>
              <a:rPr lang="en-US"/>
              <a:t>Ligands</a:t>
            </a:r>
          </a:p>
        </p:txBody>
      </p:sp>
      <p:sp>
        <p:nvSpPr>
          <p:cNvPr id="2053" name="Text Box 5"/>
          <p:cNvSpPr txBox="1">
            <a:spLocks noChangeArrowheads="1"/>
          </p:cNvSpPr>
          <p:nvPr/>
        </p:nvSpPr>
        <p:spPr bwMode="auto">
          <a:xfrm>
            <a:off x="2438400" y="5638800"/>
            <a:ext cx="4724400" cy="519113"/>
          </a:xfrm>
          <a:prstGeom prst="rect">
            <a:avLst/>
          </a:prstGeom>
          <a:noFill/>
          <a:ln w="12700">
            <a:noFill/>
            <a:miter lim="800000"/>
            <a:headEnd/>
            <a:tailEnd/>
          </a:ln>
        </p:spPr>
        <p:txBody>
          <a:bodyPr>
            <a:spAutoFit/>
          </a:bodyPr>
          <a:lstStyle/>
          <a:p>
            <a:pPr algn="ctr" eaLnBrk="0" hangingPunct="0">
              <a:spcBef>
                <a:spcPct val="50000"/>
              </a:spcBef>
            </a:pPr>
            <a:r>
              <a:rPr lang="en-US" sz="2800">
                <a:solidFill>
                  <a:srgbClr val="FC0128"/>
                </a:solidFill>
              </a:rPr>
              <a:t>Donor Atoms</a:t>
            </a:r>
          </a:p>
        </p:txBody>
      </p:sp>
      <p:sp>
        <p:nvSpPr>
          <p:cNvPr id="2054" name="Text Box 6"/>
          <p:cNvSpPr txBox="1">
            <a:spLocks noChangeArrowheads="1"/>
          </p:cNvSpPr>
          <p:nvPr/>
        </p:nvSpPr>
        <p:spPr bwMode="auto">
          <a:xfrm>
            <a:off x="533400" y="38100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055" name="Text Box 7"/>
          <p:cNvSpPr txBox="1">
            <a:spLocks noChangeArrowheads="1"/>
          </p:cNvSpPr>
          <p:nvPr/>
        </p:nvSpPr>
        <p:spPr bwMode="auto">
          <a:xfrm>
            <a:off x="533400" y="25908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056" name="Text Box 8"/>
          <p:cNvSpPr txBox="1">
            <a:spLocks noChangeArrowheads="1"/>
          </p:cNvSpPr>
          <p:nvPr/>
        </p:nvSpPr>
        <p:spPr bwMode="auto">
          <a:xfrm>
            <a:off x="8077200" y="25908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057" name="Text Box 9"/>
          <p:cNvSpPr txBox="1">
            <a:spLocks noChangeArrowheads="1"/>
          </p:cNvSpPr>
          <p:nvPr/>
        </p:nvSpPr>
        <p:spPr bwMode="auto">
          <a:xfrm>
            <a:off x="8077200" y="38100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058" name="Text Box 10"/>
          <p:cNvSpPr txBox="1">
            <a:spLocks noChangeArrowheads="1"/>
          </p:cNvSpPr>
          <p:nvPr/>
        </p:nvSpPr>
        <p:spPr bwMode="auto">
          <a:xfrm>
            <a:off x="5562600" y="29718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059" name="Text Box 11"/>
          <p:cNvSpPr txBox="1">
            <a:spLocks noChangeArrowheads="1"/>
          </p:cNvSpPr>
          <p:nvPr/>
        </p:nvSpPr>
        <p:spPr bwMode="auto">
          <a:xfrm>
            <a:off x="3048000" y="29718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Tree>
    <p:extLst>
      <p:ext uri="{BB962C8B-B14F-4D97-AF65-F5344CB8AC3E}">
        <p14:creationId xmlns:p14="http://schemas.microsoft.com/office/powerpoint/2010/main" val="3361205221"/>
      </p:ext>
    </p:extLst>
  </p:cSld>
  <p:clrMapOvr>
    <a:masterClrMapping/>
  </p:clrMapOvr>
  <p:transition>
    <p:zoom dir="in"/>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026"/>
          <p:cNvPicPr>
            <a:picLocks noChangeArrowheads="1"/>
          </p:cNvPicPr>
          <p:nvPr/>
        </p:nvPicPr>
        <p:blipFill>
          <a:blip r:embed="rId2"/>
          <a:srcRect/>
          <a:stretch>
            <a:fillRect/>
          </a:stretch>
        </p:blipFill>
        <p:spPr bwMode="auto">
          <a:xfrm>
            <a:off x="1981200" y="1066800"/>
            <a:ext cx="5562600" cy="5715000"/>
          </a:xfrm>
          <a:prstGeom prst="rect">
            <a:avLst/>
          </a:prstGeom>
          <a:noFill/>
          <a:ln w="12700">
            <a:noFill/>
            <a:miter lim="800000"/>
            <a:headEnd/>
            <a:tailEnd/>
          </a:ln>
        </p:spPr>
      </p:pic>
      <p:sp>
        <p:nvSpPr>
          <p:cNvPr id="23555" name="Rectangle 1027"/>
          <p:cNvSpPr>
            <a:spLocks noChangeArrowheads="1"/>
          </p:cNvSpPr>
          <p:nvPr/>
        </p:nvSpPr>
        <p:spPr bwMode="auto">
          <a:xfrm>
            <a:off x="3886200" y="1066800"/>
            <a:ext cx="1905000"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000000"/>
                </a:solidFill>
              </a:rPr>
              <a:t>EDTA</a:t>
            </a:r>
          </a:p>
        </p:txBody>
      </p:sp>
      <p:sp>
        <p:nvSpPr>
          <p:cNvPr id="23556" name="Rectangle 1028"/>
          <p:cNvSpPr>
            <a:spLocks noGrp="1" noChangeArrowheads="1"/>
          </p:cNvSpPr>
          <p:nvPr>
            <p:ph type="title"/>
          </p:nvPr>
        </p:nvSpPr>
        <p:spPr/>
        <p:txBody>
          <a:bodyPr/>
          <a:lstStyle/>
          <a:p>
            <a:pPr eaLnBrk="1" hangingPunct="1"/>
            <a:r>
              <a:rPr lang="en-US"/>
              <a:t>Ligands</a:t>
            </a:r>
          </a:p>
        </p:txBody>
      </p:sp>
      <p:sp>
        <p:nvSpPr>
          <p:cNvPr id="23557" name="Rectangle 1029"/>
          <p:cNvSpPr>
            <a:spLocks noChangeArrowheads="1"/>
          </p:cNvSpPr>
          <p:nvPr/>
        </p:nvSpPr>
        <p:spPr bwMode="auto">
          <a:xfrm>
            <a:off x="1905000" y="2590800"/>
            <a:ext cx="6826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C</a:t>
            </a:r>
          </a:p>
        </p:txBody>
      </p:sp>
      <p:sp>
        <p:nvSpPr>
          <p:cNvPr id="23558" name="Line 1030"/>
          <p:cNvSpPr>
            <a:spLocks noChangeShapeType="1"/>
          </p:cNvSpPr>
          <p:nvPr/>
        </p:nvSpPr>
        <p:spPr bwMode="auto">
          <a:xfrm>
            <a:off x="2286000" y="3124200"/>
            <a:ext cx="558800" cy="787400"/>
          </a:xfrm>
          <a:prstGeom prst="line">
            <a:avLst/>
          </a:prstGeom>
          <a:noFill/>
          <a:ln w="50800">
            <a:solidFill>
              <a:schemeClr val="accent1"/>
            </a:solidFill>
            <a:round/>
            <a:headEnd/>
            <a:tailEnd type="triangle" w="med" len="med"/>
          </a:ln>
        </p:spPr>
        <p:txBody>
          <a:bodyPr wrap="none" anchor="ctr"/>
          <a:lstStyle/>
          <a:p>
            <a:endParaRPr lang="en-US"/>
          </a:p>
        </p:txBody>
      </p:sp>
      <p:sp>
        <p:nvSpPr>
          <p:cNvPr id="23559" name="Rectangle 1031"/>
          <p:cNvSpPr>
            <a:spLocks noChangeArrowheads="1"/>
          </p:cNvSpPr>
          <p:nvPr/>
        </p:nvSpPr>
        <p:spPr bwMode="auto">
          <a:xfrm>
            <a:off x="6705600" y="1143000"/>
            <a:ext cx="9112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FF2B2B"/>
                </a:solidFill>
              </a:rPr>
              <a:t>O</a:t>
            </a:r>
          </a:p>
        </p:txBody>
      </p:sp>
      <p:sp>
        <p:nvSpPr>
          <p:cNvPr id="23560" name="Line 1032"/>
          <p:cNvSpPr>
            <a:spLocks noChangeShapeType="1"/>
          </p:cNvSpPr>
          <p:nvPr/>
        </p:nvSpPr>
        <p:spPr bwMode="auto">
          <a:xfrm flipH="1">
            <a:off x="5867400" y="1447800"/>
            <a:ext cx="812800" cy="177800"/>
          </a:xfrm>
          <a:prstGeom prst="line">
            <a:avLst/>
          </a:prstGeom>
          <a:noFill/>
          <a:ln w="50800">
            <a:solidFill>
              <a:schemeClr val="accent1"/>
            </a:solidFill>
            <a:round/>
            <a:headEnd/>
            <a:tailEnd type="triangle" w="med" len="med"/>
          </a:ln>
        </p:spPr>
        <p:txBody>
          <a:bodyPr wrap="none" anchor="ctr"/>
          <a:lstStyle/>
          <a:p>
            <a:endParaRPr lang="en-US"/>
          </a:p>
        </p:txBody>
      </p:sp>
      <p:sp>
        <p:nvSpPr>
          <p:cNvPr id="23561" name="Rectangle 1033"/>
          <p:cNvSpPr>
            <a:spLocks noChangeArrowheads="1"/>
          </p:cNvSpPr>
          <p:nvPr/>
        </p:nvSpPr>
        <p:spPr bwMode="auto">
          <a:xfrm>
            <a:off x="6858000" y="3429000"/>
            <a:ext cx="987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chemeClr val="accent2"/>
                </a:solidFill>
              </a:rPr>
              <a:t>N</a:t>
            </a:r>
          </a:p>
        </p:txBody>
      </p:sp>
      <p:sp>
        <p:nvSpPr>
          <p:cNvPr id="23562" name="Line 1034"/>
          <p:cNvSpPr>
            <a:spLocks noChangeShapeType="1"/>
          </p:cNvSpPr>
          <p:nvPr/>
        </p:nvSpPr>
        <p:spPr bwMode="auto">
          <a:xfrm>
            <a:off x="6019800" y="3810000"/>
            <a:ext cx="787400" cy="0"/>
          </a:xfrm>
          <a:prstGeom prst="line">
            <a:avLst/>
          </a:prstGeom>
          <a:noFill/>
          <a:ln w="50800">
            <a:solidFill>
              <a:schemeClr val="accent1"/>
            </a:solidFill>
            <a:round/>
            <a:headEnd type="triangle" w="med" len="med"/>
            <a:tailEnd/>
          </a:ln>
        </p:spPr>
        <p:txBody>
          <a:bodyPr wrap="none" anchor="ctr"/>
          <a:lstStyle/>
          <a:p>
            <a:endParaRPr lang="en-US"/>
          </a:p>
        </p:txBody>
      </p:sp>
      <p:sp>
        <p:nvSpPr>
          <p:cNvPr id="23563" name="Rectangle 1035"/>
          <p:cNvSpPr>
            <a:spLocks noChangeArrowheads="1"/>
          </p:cNvSpPr>
          <p:nvPr/>
        </p:nvSpPr>
        <p:spPr bwMode="auto">
          <a:xfrm>
            <a:off x="2362200" y="1752600"/>
            <a:ext cx="8350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chemeClr val="bg2"/>
                </a:solidFill>
              </a:rPr>
              <a:t>H</a:t>
            </a:r>
          </a:p>
        </p:txBody>
      </p:sp>
      <p:sp>
        <p:nvSpPr>
          <p:cNvPr id="23564" name="Line 1036"/>
          <p:cNvSpPr>
            <a:spLocks noChangeShapeType="1"/>
          </p:cNvSpPr>
          <p:nvPr/>
        </p:nvSpPr>
        <p:spPr bwMode="auto">
          <a:xfrm>
            <a:off x="2971800" y="2133600"/>
            <a:ext cx="762000" cy="381000"/>
          </a:xfrm>
          <a:prstGeom prst="line">
            <a:avLst/>
          </a:prstGeom>
          <a:noFill/>
          <a:ln w="76200">
            <a:solidFill>
              <a:schemeClr val="accent1"/>
            </a:solidFill>
            <a:round/>
            <a:headEnd/>
            <a:tailEnd type="triangle" w="med" len="med"/>
          </a:ln>
        </p:spPr>
        <p:txBody>
          <a:bodyPr wrap="none" anchor="ctr"/>
          <a:lstStyle/>
          <a:p>
            <a:endParaRPr lang="en-US"/>
          </a:p>
        </p:txBody>
      </p:sp>
      <p:sp>
        <p:nvSpPr>
          <p:cNvPr id="23565" name="Rectangle 1037"/>
          <p:cNvSpPr>
            <a:spLocks noChangeArrowheads="1"/>
          </p:cNvSpPr>
          <p:nvPr/>
        </p:nvSpPr>
        <p:spPr bwMode="auto">
          <a:xfrm>
            <a:off x="4648200" y="3733800"/>
            <a:ext cx="7588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085049"/>
                </a:solidFill>
              </a:rPr>
              <a:t>M</a:t>
            </a:r>
          </a:p>
        </p:txBody>
      </p:sp>
    </p:spTree>
    <p:extLst>
      <p:ext uri="{BB962C8B-B14F-4D97-AF65-F5344CB8AC3E}">
        <p14:creationId xmlns:p14="http://schemas.microsoft.com/office/powerpoint/2010/main" val="607386468"/>
      </p:ext>
    </p:extLst>
  </p:cSld>
  <p:clrMapOvr>
    <a:masterClrMapping/>
  </p:clrMapOvr>
  <p:transition>
    <p:zoom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051"/>
          <p:cNvSpPr>
            <a:spLocks noChangeArrowheads="1"/>
          </p:cNvSpPr>
          <p:nvPr/>
        </p:nvSpPr>
        <p:spPr bwMode="auto">
          <a:xfrm>
            <a:off x="3886200" y="1066800"/>
            <a:ext cx="1905000"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000000"/>
                </a:solidFill>
              </a:rPr>
              <a:t>EDTA</a:t>
            </a:r>
          </a:p>
        </p:txBody>
      </p:sp>
      <p:sp>
        <p:nvSpPr>
          <p:cNvPr id="24579" name="Rectangle 2052"/>
          <p:cNvSpPr>
            <a:spLocks noGrp="1" noChangeArrowheads="1"/>
          </p:cNvSpPr>
          <p:nvPr>
            <p:ph type="title"/>
          </p:nvPr>
        </p:nvSpPr>
        <p:spPr/>
        <p:txBody>
          <a:bodyPr/>
          <a:lstStyle/>
          <a:p>
            <a:pPr eaLnBrk="1" hangingPunct="1"/>
            <a:r>
              <a:rPr lang="en-US"/>
              <a:t>Ligands</a:t>
            </a:r>
          </a:p>
        </p:txBody>
      </p:sp>
      <p:pic>
        <p:nvPicPr>
          <p:cNvPr id="24580" name="Picture 2062"/>
          <p:cNvPicPr>
            <a:picLocks noChangeAspect="1" noChangeArrowheads="1"/>
          </p:cNvPicPr>
          <p:nvPr/>
        </p:nvPicPr>
        <p:blipFill>
          <a:blip r:embed="rId2"/>
          <a:srcRect l="11018" r="23994"/>
          <a:stretch>
            <a:fillRect/>
          </a:stretch>
        </p:blipFill>
        <p:spPr bwMode="auto">
          <a:xfrm>
            <a:off x="1981200" y="914400"/>
            <a:ext cx="5422900" cy="5562600"/>
          </a:xfrm>
          <a:prstGeom prst="rect">
            <a:avLst/>
          </a:prstGeom>
          <a:noFill/>
          <a:ln w="9525">
            <a:noFill/>
            <a:miter lim="800000"/>
            <a:headEnd/>
            <a:tailEnd/>
          </a:ln>
        </p:spPr>
      </p:pic>
    </p:spTree>
    <p:extLst>
      <p:ext uri="{BB962C8B-B14F-4D97-AF65-F5344CB8AC3E}">
        <p14:creationId xmlns:p14="http://schemas.microsoft.com/office/powerpoint/2010/main" val="3198557043"/>
      </p:ext>
    </p:extLst>
  </p:cSld>
  <p:clrMapOvr>
    <a:masterClrMapping/>
  </p:clrMapOvr>
  <p:transition>
    <p:zoom dir="in"/>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11188" y="153988"/>
            <a:ext cx="8150225" cy="698500"/>
          </a:xfrm>
          <a:prstGeom prst="rect">
            <a:avLst/>
          </a:prstGeom>
          <a:noFill/>
          <a:ln w="12700">
            <a:noFill/>
            <a:miter lim="800000"/>
            <a:headEnd/>
            <a:tailEnd/>
          </a:ln>
        </p:spPr>
        <p:txBody>
          <a:bodyPr lIns="90488" tIns="44450" rIns="90488" bIns="44450">
            <a:spAutoFit/>
          </a:bodyPr>
          <a:lstStyle/>
          <a:p>
            <a:pPr eaLnBrk="0" hangingPunct="0">
              <a:spcBef>
                <a:spcPct val="20000"/>
              </a:spcBef>
            </a:pPr>
            <a:r>
              <a:rPr lang="en-US" sz="4000"/>
              <a:t>Common Geometries of Complexes</a:t>
            </a:r>
          </a:p>
        </p:txBody>
      </p:sp>
      <p:pic>
        <p:nvPicPr>
          <p:cNvPr id="25603" name="Picture 1027"/>
          <p:cNvPicPr>
            <a:picLocks noChangeArrowheads="1"/>
          </p:cNvPicPr>
          <p:nvPr/>
        </p:nvPicPr>
        <p:blipFill>
          <a:blip r:embed="rId2"/>
          <a:srcRect/>
          <a:stretch>
            <a:fillRect/>
          </a:stretch>
        </p:blipFill>
        <p:spPr bwMode="auto">
          <a:xfrm>
            <a:off x="4654550" y="2495550"/>
            <a:ext cx="4327525" cy="1314450"/>
          </a:xfrm>
          <a:prstGeom prst="rect">
            <a:avLst/>
          </a:prstGeom>
          <a:noFill/>
          <a:ln w="12700">
            <a:noFill/>
            <a:miter lim="800000"/>
            <a:headEnd/>
            <a:tailEnd/>
          </a:ln>
        </p:spPr>
      </p:pic>
      <p:sp>
        <p:nvSpPr>
          <p:cNvPr id="25604" name="Rectangle 1028"/>
          <p:cNvSpPr>
            <a:spLocks noChangeArrowheads="1"/>
          </p:cNvSpPr>
          <p:nvPr/>
        </p:nvSpPr>
        <p:spPr bwMode="auto">
          <a:xfrm>
            <a:off x="6097588" y="4192588"/>
            <a:ext cx="18256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Linear</a:t>
            </a:r>
          </a:p>
        </p:txBody>
      </p:sp>
      <p:sp>
        <p:nvSpPr>
          <p:cNvPr id="25605" name="Rectangle 1029"/>
          <p:cNvSpPr>
            <a:spLocks noChangeArrowheads="1"/>
          </p:cNvSpPr>
          <p:nvPr/>
        </p:nvSpPr>
        <p:spPr bwMode="auto">
          <a:xfrm>
            <a:off x="77788" y="1449388"/>
            <a:ext cx="8988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u="sng"/>
              <a:t>Coordination Number		</a:t>
            </a:r>
            <a:r>
              <a:rPr lang="en-US" sz="3600"/>
              <a:t>   </a:t>
            </a:r>
            <a:r>
              <a:rPr lang="en-US" sz="3600" u="sng"/>
              <a:t>Geometry</a:t>
            </a:r>
          </a:p>
        </p:txBody>
      </p:sp>
      <p:sp>
        <p:nvSpPr>
          <p:cNvPr id="25606" name="Rectangle 1030"/>
          <p:cNvSpPr>
            <a:spLocks noChangeArrowheads="1"/>
          </p:cNvSpPr>
          <p:nvPr/>
        </p:nvSpPr>
        <p:spPr bwMode="auto">
          <a:xfrm>
            <a:off x="1220788" y="2439988"/>
            <a:ext cx="2206625" cy="698500"/>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4000"/>
              <a:t>2</a:t>
            </a:r>
          </a:p>
        </p:txBody>
      </p:sp>
      <p:sp>
        <p:nvSpPr>
          <p:cNvPr id="25607" name="Text Box 1031"/>
          <p:cNvSpPr txBox="1">
            <a:spLocks noChangeArrowheads="1"/>
          </p:cNvSpPr>
          <p:nvPr/>
        </p:nvSpPr>
        <p:spPr bwMode="auto">
          <a:xfrm>
            <a:off x="685800" y="5029200"/>
            <a:ext cx="5105400" cy="584200"/>
          </a:xfrm>
          <a:prstGeom prst="rect">
            <a:avLst/>
          </a:prstGeom>
          <a:noFill/>
          <a:ln w="12700">
            <a:noFill/>
            <a:miter lim="800000"/>
            <a:headEnd/>
            <a:tailEnd/>
          </a:ln>
        </p:spPr>
        <p:txBody>
          <a:bodyPr>
            <a:spAutoFit/>
          </a:bodyPr>
          <a:lstStyle/>
          <a:p>
            <a:pPr eaLnBrk="0" hangingPunct="0">
              <a:spcBef>
                <a:spcPct val="50000"/>
              </a:spcBef>
            </a:pPr>
            <a:r>
              <a:rPr lang="en-US" sz="3200"/>
              <a:t>Example:  [Ag(NH</a:t>
            </a:r>
            <a:r>
              <a:rPr lang="en-US" sz="3200" baseline="-25000"/>
              <a:t>3</a:t>
            </a:r>
            <a:r>
              <a:rPr lang="en-US" sz="3200"/>
              <a:t>)</a:t>
            </a:r>
            <a:r>
              <a:rPr lang="en-US" sz="3200" baseline="-25000"/>
              <a:t>2</a:t>
            </a:r>
            <a:r>
              <a:rPr lang="en-US" sz="3200"/>
              <a:t>]</a:t>
            </a:r>
            <a:r>
              <a:rPr lang="en-US" sz="3200" baseline="30000"/>
              <a:t>+</a:t>
            </a:r>
            <a:endParaRPr lang="en-US" sz="3200"/>
          </a:p>
        </p:txBody>
      </p:sp>
    </p:spTree>
    <p:extLst>
      <p:ext uri="{BB962C8B-B14F-4D97-AF65-F5344CB8AC3E}">
        <p14:creationId xmlns:p14="http://schemas.microsoft.com/office/powerpoint/2010/main" val="503862089"/>
      </p:ext>
    </p:extLst>
  </p:cSld>
  <p:clrMapOvr>
    <a:masterClrMapping/>
  </p:clrMapOvr>
  <p:transition>
    <p:zoom dir="in"/>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611188" y="153988"/>
            <a:ext cx="8150225" cy="698500"/>
          </a:xfrm>
          <a:prstGeom prst="rect">
            <a:avLst/>
          </a:prstGeom>
          <a:noFill/>
          <a:ln w="12700">
            <a:noFill/>
            <a:miter lim="800000"/>
            <a:headEnd/>
            <a:tailEnd/>
          </a:ln>
        </p:spPr>
        <p:txBody>
          <a:bodyPr lIns="90488" tIns="44450" rIns="90488" bIns="44450">
            <a:spAutoFit/>
          </a:bodyPr>
          <a:lstStyle/>
          <a:p>
            <a:pPr eaLnBrk="0" hangingPunct="0">
              <a:spcBef>
                <a:spcPct val="20000"/>
              </a:spcBef>
            </a:pPr>
            <a:r>
              <a:rPr lang="en-US" sz="4000"/>
              <a:t>Common Geometries of Complexes</a:t>
            </a:r>
          </a:p>
        </p:txBody>
      </p:sp>
      <p:sp>
        <p:nvSpPr>
          <p:cNvPr id="26627" name="Rectangle 3"/>
          <p:cNvSpPr>
            <a:spLocks noChangeArrowheads="1"/>
          </p:cNvSpPr>
          <p:nvPr/>
        </p:nvSpPr>
        <p:spPr bwMode="auto">
          <a:xfrm>
            <a:off x="77788" y="915988"/>
            <a:ext cx="8988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u="sng"/>
              <a:t>Coordination Number		</a:t>
            </a:r>
            <a:r>
              <a:rPr lang="en-US" sz="3600"/>
              <a:t>   </a:t>
            </a:r>
            <a:r>
              <a:rPr lang="en-US" sz="3600" u="sng"/>
              <a:t>Geometry</a:t>
            </a:r>
          </a:p>
        </p:txBody>
      </p:sp>
      <p:sp>
        <p:nvSpPr>
          <p:cNvPr id="26628" name="Rectangle 4"/>
          <p:cNvSpPr>
            <a:spLocks noChangeArrowheads="1"/>
          </p:cNvSpPr>
          <p:nvPr/>
        </p:nvSpPr>
        <p:spPr bwMode="auto">
          <a:xfrm>
            <a:off x="1601788" y="1601788"/>
            <a:ext cx="2206625" cy="698500"/>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4000"/>
              <a:t>4</a:t>
            </a:r>
          </a:p>
        </p:txBody>
      </p:sp>
      <p:pic>
        <p:nvPicPr>
          <p:cNvPr id="26629" name="Picture 5"/>
          <p:cNvPicPr>
            <a:picLocks noChangeArrowheads="1"/>
          </p:cNvPicPr>
          <p:nvPr/>
        </p:nvPicPr>
        <p:blipFill>
          <a:blip r:embed="rId2"/>
          <a:srcRect/>
          <a:stretch>
            <a:fillRect/>
          </a:stretch>
        </p:blipFill>
        <p:spPr bwMode="auto">
          <a:xfrm>
            <a:off x="5715000" y="4173538"/>
            <a:ext cx="2590800" cy="2608262"/>
          </a:xfrm>
          <a:prstGeom prst="rect">
            <a:avLst/>
          </a:prstGeom>
          <a:noFill/>
          <a:ln w="12700">
            <a:noFill/>
            <a:miter lim="800000"/>
            <a:headEnd/>
            <a:tailEnd/>
          </a:ln>
        </p:spPr>
      </p:pic>
      <p:pic>
        <p:nvPicPr>
          <p:cNvPr id="26630" name="Picture 6"/>
          <p:cNvPicPr>
            <a:picLocks noChangeArrowheads="1"/>
          </p:cNvPicPr>
          <p:nvPr/>
        </p:nvPicPr>
        <p:blipFill>
          <a:blip r:embed="rId3"/>
          <a:srcRect/>
          <a:stretch>
            <a:fillRect/>
          </a:stretch>
        </p:blipFill>
        <p:spPr bwMode="auto">
          <a:xfrm>
            <a:off x="5715000" y="1536700"/>
            <a:ext cx="2590800" cy="2492375"/>
          </a:xfrm>
          <a:prstGeom prst="rect">
            <a:avLst/>
          </a:prstGeom>
          <a:noFill/>
          <a:ln w="12700">
            <a:noFill/>
            <a:miter lim="800000"/>
            <a:headEnd/>
            <a:tailEnd/>
          </a:ln>
        </p:spPr>
      </p:pic>
      <p:sp>
        <p:nvSpPr>
          <p:cNvPr id="26631" name="Rectangle 7"/>
          <p:cNvSpPr>
            <a:spLocks noChangeArrowheads="1"/>
          </p:cNvSpPr>
          <p:nvPr/>
        </p:nvSpPr>
        <p:spPr bwMode="auto">
          <a:xfrm>
            <a:off x="3581400" y="2057400"/>
            <a:ext cx="29686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tetrahedral</a:t>
            </a:r>
          </a:p>
        </p:txBody>
      </p:sp>
      <p:sp>
        <p:nvSpPr>
          <p:cNvPr id="26632" name="Rectangle 8"/>
          <p:cNvSpPr>
            <a:spLocks noChangeArrowheads="1"/>
          </p:cNvSpPr>
          <p:nvPr/>
        </p:nvSpPr>
        <p:spPr bwMode="auto">
          <a:xfrm>
            <a:off x="3048000" y="4572000"/>
            <a:ext cx="2741613"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square planar</a:t>
            </a:r>
          </a:p>
        </p:txBody>
      </p:sp>
      <p:sp>
        <p:nvSpPr>
          <p:cNvPr id="26633" name="Text Box 9"/>
          <p:cNvSpPr txBox="1">
            <a:spLocks noChangeArrowheads="1"/>
          </p:cNvSpPr>
          <p:nvPr/>
        </p:nvSpPr>
        <p:spPr bwMode="auto">
          <a:xfrm>
            <a:off x="457200" y="5334000"/>
            <a:ext cx="3962400" cy="584200"/>
          </a:xfrm>
          <a:prstGeom prst="rect">
            <a:avLst/>
          </a:prstGeom>
          <a:noFill/>
          <a:ln w="12700">
            <a:noFill/>
            <a:miter lim="800000"/>
            <a:headEnd/>
            <a:tailEnd/>
          </a:ln>
        </p:spPr>
        <p:txBody>
          <a:bodyPr>
            <a:spAutoFit/>
          </a:bodyPr>
          <a:lstStyle/>
          <a:p>
            <a:pPr eaLnBrk="0" hangingPunct="0">
              <a:spcBef>
                <a:spcPct val="50000"/>
              </a:spcBef>
            </a:pPr>
            <a:r>
              <a:rPr lang="en-US" sz="3200"/>
              <a:t>Example:  [Ni(CN)</a:t>
            </a:r>
            <a:r>
              <a:rPr lang="en-US" sz="3200" baseline="-25000"/>
              <a:t>4</a:t>
            </a:r>
            <a:r>
              <a:rPr lang="en-US" sz="3200"/>
              <a:t>]</a:t>
            </a:r>
            <a:r>
              <a:rPr lang="en-US" sz="3200" baseline="30000"/>
              <a:t>2-</a:t>
            </a:r>
            <a:endParaRPr lang="en-US" sz="3200"/>
          </a:p>
        </p:txBody>
      </p:sp>
      <p:sp>
        <p:nvSpPr>
          <p:cNvPr id="26634" name="Text Box 10"/>
          <p:cNvSpPr txBox="1">
            <a:spLocks noChangeArrowheads="1"/>
          </p:cNvSpPr>
          <p:nvPr/>
        </p:nvSpPr>
        <p:spPr bwMode="auto">
          <a:xfrm>
            <a:off x="381000" y="3200400"/>
            <a:ext cx="5105400" cy="1077913"/>
          </a:xfrm>
          <a:prstGeom prst="rect">
            <a:avLst/>
          </a:prstGeom>
          <a:noFill/>
          <a:ln w="12700">
            <a:noFill/>
            <a:miter lim="800000"/>
            <a:headEnd/>
            <a:tailEnd/>
          </a:ln>
        </p:spPr>
        <p:txBody>
          <a:bodyPr>
            <a:spAutoFit/>
          </a:bodyPr>
          <a:lstStyle/>
          <a:p>
            <a:pPr eaLnBrk="0" hangingPunct="0">
              <a:spcBef>
                <a:spcPct val="50000"/>
              </a:spcBef>
            </a:pPr>
            <a:r>
              <a:rPr lang="en-US" sz="3200"/>
              <a:t>Examples:  [Zn(NH</a:t>
            </a:r>
            <a:r>
              <a:rPr lang="en-US" sz="3200" baseline="-25000"/>
              <a:t>3</a:t>
            </a:r>
            <a:r>
              <a:rPr lang="en-US" sz="3200"/>
              <a:t>)</a:t>
            </a:r>
            <a:r>
              <a:rPr lang="en-US" sz="3200" baseline="-25000"/>
              <a:t>4</a:t>
            </a:r>
            <a:r>
              <a:rPr lang="en-US" sz="3200"/>
              <a:t>]</a:t>
            </a:r>
            <a:r>
              <a:rPr lang="en-US" sz="3200" baseline="30000"/>
              <a:t>2+</a:t>
            </a:r>
            <a:r>
              <a:rPr lang="en-US" sz="3200"/>
              <a:t>, [FeCl</a:t>
            </a:r>
            <a:r>
              <a:rPr lang="en-US" sz="3200" baseline="-25000"/>
              <a:t>4</a:t>
            </a:r>
            <a:r>
              <a:rPr lang="en-US" sz="3200"/>
              <a:t>]</a:t>
            </a:r>
            <a:r>
              <a:rPr lang="en-US" sz="3200" baseline="30000"/>
              <a:t>-</a:t>
            </a:r>
            <a:endParaRPr lang="en-US" sz="3200"/>
          </a:p>
        </p:txBody>
      </p:sp>
    </p:spTree>
    <p:extLst>
      <p:ext uri="{BB962C8B-B14F-4D97-AF65-F5344CB8AC3E}">
        <p14:creationId xmlns:p14="http://schemas.microsoft.com/office/powerpoint/2010/main" val="3695087005"/>
      </p:ext>
    </p:extLst>
  </p:cSld>
  <p:clrMapOvr>
    <a:masterClrMapping/>
  </p:clrMapOvr>
  <p:transition>
    <p:zoom dir="in"/>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611188" y="153988"/>
            <a:ext cx="8150225" cy="698500"/>
          </a:xfrm>
          <a:prstGeom prst="rect">
            <a:avLst/>
          </a:prstGeom>
          <a:noFill/>
          <a:ln w="12700">
            <a:noFill/>
            <a:miter lim="800000"/>
            <a:headEnd/>
            <a:tailEnd/>
          </a:ln>
        </p:spPr>
        <p:txBody>
          <a:bodyPr lIns="90488" tIns="44450" rIns="90488" bIns="44450">
            <a:spAutoFit/>
          </a:bodyPr>
          <a:lstStyle/>
          <a:p>
            <a:pPr eaLnBrk="0" hangingPunct="0">
              <a:spcBef>
                <a:spcPct val="20000"/>
              </a:spcBef>
            </a:pPr>
            <a:r>
              <a:rPr lang="en-US" sz="4000"/>
              <a:t>Common Geometries of Complexes</a:t>
            </a:r>
          </a:p>
        </p:txBody>
      </p:sp>
      <p:sp>
        <p:nvSpPr>
          <p:cNvPr id="27651" name="Rectangle 3"/>
          <p:cNvSpPr>
            <a:spLocks noChangeArrowheads="1"/>
          </p:cNvSpPr>
          <p:nvPr/>
        </p:nvSpPr>
        <p:spPr bwMode="auto">
          <a:xfrm>
            <a:off x="77788" y="915988"/>
            <a:ext cx="8988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u="sng"/>
              <a:t>Coordination Number		</a:t>
            </a:r>
            <a:r>
              <a:rPr lang="en-US" sz="3600"/>
              <a:t>   </a:t>
            </a:r>
            <a:r>
              <a:rPr lang="en-US" sz="3600" u="sng"/>
              <a:t>Geometry</a:t>
            </a:r>
          </a:p>
        </p:txBody>
      </p:sp>
      <p:sp>
        <p:nvSpPr>
          <p:cNvPr id="27652" name="Rectangle 4"/>
          <p:cNvSpPr>
            <a:spLocks noChangeArrowheads="1"/>
          </p:cNvSpPr>
          <p:nvPr/>
        </p:nvSpPr>
        <p:spPr bwMode="auto">
          <a:xfrm>
            <a:off x="1601788" y="1601788"/>
            <a:ext cx="2206625" cy="698500"/>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4000"/>
              <a:t>6</a:t>
            </a:r>
          </a:p>
        </p:txBody>
      </p:sp>
      <p:pic>
        <p:nvPicPr>
          <p:cNvPr id="27653" name="Picture 5"/>
          <p:cNvPicPr>
            <a:picLocks noChangeArrowheads="1"/>
          </p:cNvPicPr>
          <p:nvPr/>
        </p:nvPicPr>
        <p:blipFill>
          <a:blip r:embed="rId2"/>
          <a:srcRect/>
          <a:stretch>
            <a:fillRect/>
          </a:stretch>
        </p:blipFill>
        <p:spPr bwMode="auto">
          <a:xfrm>
            <a:off x="5438775" y="1619250"/>
            <a:ext cx="2981325" cy="3609975"/>
          </a:xfrm>
          <a:prstGeom prst="rect">
            <a:avLst/>
          </a:prstGeom>
          <a:noFill/>
          <a:ln w="12700">
            <a:noFill/>
            <a:miter lim="800000"/>
            <a:headEnd/>
            <a:tailEnd/>
          </a:ln>
        </p:spPr>
      </p:pic>
      <p:sp>
        <p:nvSpPr>
          <p:cNvPr id="27654" name="Rectangle 6"/>
          <p:cNvSpPr>
            <a:spLocks noChangeArrowheads="1"/>
          </p:cNvSpPr>
          <p:nvPr/>
        </p:nvSpPr>
        <p:spPr bwMode="auto">
          <a:xfrm>
            <a:off x="6021388" y="5335588"/>
            <a:ext cx="24352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octahedral</a:t>
            </a:r>
          </a:p>
        </p:txBody>
      </p:sp>
      <p:sp>
        <p:nvSpPr>
          <p:cNvPr id="27655" name="Text Box 7"/>
          <p:cNvSpPr txBox="1">
            <a:spLocks noChangeArrowheads="1"/>
          </p:cNvSpPr>
          <p:nvPr/>
        </p:nvSpPr>
        <p:spPr bwMode="auto">
          <a:xfrm>
            <a:off x="533400" y="3200400"/>
            <a:ext cx="5105400" cy="1077913"/>
          </a:xfrm>
          <a:prstGeom prst="rect">
            <a:avLst/>
          </a:prstGeom>
          <a:noFill/>
          <a:ln w="12700">
            <a:noFill/>
            <a:miter lim="800000"/>
            <a:headEnd/>
            <a:tailEnd/>
          </a:ln>
        </p:spPr>
        <p:txBody>
          <a:bodyPr>
            <a:spAutoFit/>
          </a:bodyPr>
          <a:lstStyle/>
          <a:p>
            <a:pPr eaLnBrk="0" hangingPunct="0">
              <a:spcBef>
                <a:spcPct val="50000"/>
              </a:spcBef>
            </a:pPr>
            <a:r>
              <a:rPr lang="en-US" sz="3200"/>
              <a:t>Examples:  [Co(CN)</a:t>
            </a:r>
            <a:r>
              <a:rPr lang="en-US" sz="3200" baseline="-25000"/>
              <a:t>6</a:t>
            </a:r>
            <a:r>
              <a:rPr lang="en-US" sz="3200"/>
              <a:t>]</a:t>
            </a:r>
            <a:r>
              <a:rPr lang="en-US" sz="3200" baseline="30000"/>
              <a:t>3-</a:t>
            </a:r>
            <a:r>
              <a:rPr lang="en-US" sz="3200"/>
              <a:t>, [Fe(en)</a:t>
            </a:r>
            <a:r>
              <a:rPr lang="en-US" sz="3200" baseline="-25000"/>
              <a:t>3</a:t>
            </a:r>
            <a:r>
              <a:rPr lang="en-US" sz="3200"/>
              <a:t>]</a:t>
            </a:r>
            <a:r>
              <a:rPr lang="en-US" sz="3200" baseline="30000"/>
              <a:t>3+</a:t>
            </a:r>
            <a:endParaRPr lang="en-US" sz="3200"/>
          </a:p>
        </p:txBody>
      </p:sp>
    </p:spTree>
    <p:extLst>
      <p:ext uri="{BB962C8B-B14F-4D97-AF65-F5344CB8AC3E}">
        <p14:creationId xmlns:p14="http://schemas.microsoft.com/office/powerpoint/2010/main" val="2216319116"/>
      </p:ext>
    </p:extLst>
  </p:cSld>
  <p:clrMapOvr>
    <a:masterClrMapping/>
  </p:clrMapOvr>
  <p:transition>
    <p:zoom dir="in"/>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1143000"/>
            <a:ext cx="3429000" cy="2133600"/>
          </a:xfrm>
        </p:spPr>
        <p:txBody>
          <a:bodyPr/>
          <a:lstStyle/>
          <a:p>
            <a:pPr>
              <a:spcBef>
                <a:spcPct val="20000"/>
              </a:spcBef>
            </a:pPr>
            <a:r>
              <a:rPr lang="en-US" altLang="en-US" sz="3200">
                <a:latin typeface="Times New Roman" pitchFamily="18" charset="0"/>
                <a:cs typeface="Times New Roman" pitchFamily="18" charset="0"/>
              </a:rPr>
              <a:t>The Coordination of EDTA with a 2+ Metal Ion</a:t>
            </a:r>
            <a:endParaRPr lang="en-US" sz="3200">
              <a:latin typeface="Times New Roman" pitchFamily="18" charset="0"/>
              <a:cs typeface="Times New Roman" pitchFamily="18" charset="0"/>
            </a:endParaRPr>
          </a:p>
        </p:txBody>
      </p:sp>
      <p:sp>
        <p:nvSpPr>
          <p:cNvPr id="5734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57348" name="Picture 4" descr="ch21_25"/>
          <p:cNvPicPr>
            <a:picLocks noChangeAspect="1" noChangeArrowheads="1"/>
          </p:cNvPicPr>
          <p:nvPr/>
        </p:nvPicPr>
        <p:blipFill>
          <a:blip r:embed="rId3"/>
          <a:srcRect/>
          <a:stretch>
            <a:fillRect/>
          </a:stretch>
        </p:blipFill>
        <p:spPr bwMode="auto">
          <a:xfrm>
            <a:off x="4114800" y="685800"/>
            <a:ext cx="4098925" cy="4953000"/>
          </a:xfrm>
          <a:prstGeom prst="rect">
            <a:avLst/>
          </a:prstGeom>
          <a:noFill/>
          <a:ln w="12699">
            <a:solidFill>
              <a:srgbClr val="000000"/>
            </a:solidFill>
            <a:miter lim="800000"/>
            <a:headEnd/>
            <a:tailEnd/>
          </a:ln>
        </p:spPr>
      </p:pic>
      <p:sp>
        <p:nvSpPr>
          <p:cNvPr id="57349" name="Rectangle 5"/>
          <p:cNvSpPr>
            <a:spLocks noGrp="1" noChangeArrowheads="1"/>
          </p:cNvSpPr>
          <p:nvPr>
            <p:ph type="body" idx="1"/>
          </p:nvPr>
        </p:nvSpPr>
        <p:spPr>
          <a:xfrm>
            <a:off x="4114800" y="5791200"/>
            <a:ext cx="4191000" cy="609600"/>
          </a:xfrm>
        </p:spPr>
        <p:txBody>
          <a:bodyPr/>
          <a:lstStyle/>
          <a:p>
            <a:pPr>
              <a:buFontTx/>
              <a:buNone/>
            </a:pPr>
            <a:r>
              <a:rPr lang="en-US" sz="2800">
                <a:latin typeface="Times New Roman" pitchFamily="18" charset="0"/>
                <a:cs typeface="Times New Roman" pitchFamily="18" charset="0"/>
              </a:rPr>
              <a:t>ethylenediaminetetraacetate</a:t>
            </a:r>
          </a:p>
        </p:txBody>
      </p:sp>
    </p:spTree>
    <p:extLst>
      <p:ext uri="{BB962C8B-B14F-4D97-AF65-F5344CB8AC3E}">
        <p14:creationId xmlns:p14="http://schemas.microsoft.com/office/powerpoint/2010/main" val="416795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9">
                                            <p:txEl>
                                              <p:pRg st="0" end="0"/>
                                            </p:txEl>
                                          </p:spTgt>
                                        </p:tgtEl>
                                        <p:attrNameLst>
                                          <p:attrName>style.visibility</p:attrName>
                                        </p:attrNameLst>
                                      </p:cBhvr>
                                      <p:to>
                                        <p:strVal val="visible"/>
                                      </p:to>
                                    </p:set>
                                    <p:animEffect transition="in" filter="wipe(left)">
                                      <p:cBhvr>
                                        <p:cTn id="7" dur="500"/>
                                        <p:tgtEl>
                                          <p:spTgt spid="573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28600" y="274638"/>
            <a:ext cx="8458200" cy="944562"/>
          </a:xfrm>
        </p:spPr>
        <p:txBody>
          <a:bodyPr/>
          <a:lstStyle/>
          <a:p>
            <a:pPr>
              <a:spcBef>
                <a:spcPct val="20000"/>
              </a:spcBef>
            </a:pPr>
            <a:r>
              <a:rPr lang="en-US" sz="3600">
                <a:latin typeface="Times New Roman" pitchFamily="18" charset="0"/>
                <a:cs typeface="Times New Roman" pitchFamily="18" charset="0"/>
              </a:rPr>
              <a:t>Rules for Naming Coordination Compounds</a:t>
            </a:r>
          </a:p>
        </p:txBody>
      </p:sp>
      <p:sp>
        <p:nvSpPr>
          <p:cNvPr id="59395" name="Rectangle 3"/>
          <p:cNvSpPr>
            <a:spLocks noGrp="1" noChangeArrowheads="1"/>
          </p:cNvSpPr>
          <p:nvPr>
            <p:ph type="body" idx="1"/>
          </p:nvPr>
        </p:nvSpPr>
        <p:spPr>
          <a:xfrm>
            <a:off x="381000" y="2667000"/>
            <a:ext cx="8229600" cy="3352800"/>
          </a:xfrm>
        </p:spPr>
        <p:txBody>
          <a:bodyPr/>
          <a:lstStyle/>
          <a:p>
            <a:pPr marL="457200" indent="-457200">
              <a:buFontTx/>
              <a:buAutoNum type="arabicPeriod"/>
            </a:pPr>
            <a:r>
              <a:rPr lang="en-US">
                <a:solidFill>
                  <a:srgbClr val="669900"/>
                </a:solidFill>
                <a:latin typeface="Times New Roman" pitchFamily="18" charset="0"/>
                <a:cs typeface="Times New Roman" pitchFamily="18" charset="0"/>
              </a:rPr>
              <a:t>Cation is named before the anion.</a:t>
            </a:r>
          </a:p>
          <a:p>
            <a:pPr marL="457200" indent="-457200" algn="ctr">
              <a:buFontTx/>
              <a:buNone/>
            </a:pPr>
            <a:r>
              <a:rPr lang="en-US">
                <a:solidFill>
                  <a:srgbClr val="3333FF"/>
                </a:solidFill>
                <a:latin typeface="Times New Roman" pitchFamily="18" charset="0"/>
                <a:cs typeface="Times New Roman" pitchFamily="18" charset="0"/>
              </a:rPr>
              <a:t>“chloride” goes last (the counterion)</a:t>
            </a:r>
          </a:p>
          <a:p>
            <a:pPr marL="457200" indent="-457200">
              <a:buFontTx/>
              <a:buAutoNum type="arabicPeriod" startAt="2"/>
            </a:pPr>
            <a:r>
              <a:rPr lang="en-US">
                <a:solidFill>
                  <a:srgbClr val="669900"/>
                </a:solidFill>
                <a:latin typeface="Times New Roman" pitchFamily="18" charset="0"/>
                <a:cs typeface="Times New Roman" pitchFamily="18" charset="0"/>
              </a:rPr>
              <a:t>Ligands are named before the metal ion.</a:t>
            </a:r>
          </a:p>
          <a:p>
            <a:pPr marL="457200" indent="-457200" algn="ctr">
              <a:buFontTx/>
              <a:buNone/>
            </a:pPr>
            <a:r>
              <a:rPr lang="en-US">
                <a:solidFill>
                  <a:srgbClr val="3333FF"/>
                </a:solidFill>
                <a:latin typeface="Times New Roman" pitchFamily="18" charset="0"/>
                <a:cs typeface="Times New Roman" pitchFamily="18" charset="0"/>
              </a:rPr>
              <a:t>	ammonia (ammine) and chlorine </a:t>
            </a:r>
          </a:p>
          <a:p>
            <a:pPr marL="457200" indent="-457200" algn="ctr">
              <a:buFontTx/>
              <a:buNone/>
            </a:pPr>
            <a:r>
              <a:rPr lang="en-US">
                <a:solidFill>
                  <a:srgbClr val="3333FF"/>
                </a:solidFill>
                <a:latin typeface="Times New Roman" pitchFamily="18" charset="0"/>
                <a:cs typeface="Times New Roman" pitchFamily="18" charset="0"/>
              </a:rPr>
              <a:t>(chloro) named before cobalt</a:t>
            </a:r>
          </a:p>
        </p:txBody>
      </p:sp>
      <p:sp>
        <p:nvSpPr>
          <p:cNvPr id="59396"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59397" name="Rectangle 5"/>
          <p:cNvSpPr>
            <a:spLocks noChangeArrowheads="1"/>
          </p:cNvSpPr>
          <p:nvPr/>
        </p:nvSpPr>
        <p:spPr bwMode="auto">
          <a:xfrm>
            <a:off x="2057400" y="1447800"/>
            <a:ext cx="3502025" cy="638175"/>
          </a:xfrm>
          <a:prstGeom prst="rect">
            <a:avLst/>
          </a:prstGeom>
          <a:noFill/>
          <a:ln w="12700">
            <a:noFill/>
            <a:miter lim="800000"/>
            <a:headEnd/>
            <a:tailEnd/>
          </a:ln>
          <a:effectLst/>
        </p:spPr>
        <p:txBody>
          <a:bodyPr lIns="90488" tIns="44450" rIns="90488" bIns="44450">
            <a:spAutoFit/>
          </a:bodyPr>
          <a:lstStyle/>
          <a:p>
            <a:pPr eaLnBrk="0" hangingPunct="0">
              <a:spcBef>
                <a:spcPct val="70000"/>
              </a:spcBef>
            </a:pPr>
            <a:r>
              <a:rPr lang="en-US" sz="3600">
                <a:solidFill>
                  <a:srgbClr val="3333FF"/>
                </a:solidFill>
                <a:latin typeface="Times New Roman" pitchFamily="18" charset="0"/>
                <a:cs typeface="Times New Roman" pitchFamily="18" charset="0"/>
              </a:rPr>
              <a:t>[Co(NH</a:t>
            </a:r>
            <a:r>
              <a:rPr lang="en-US" sz="3600" baseline="-25000">
                <a:solidFill>
                  <a:srgbClr val="3333FF"/>
                </a:solidFill>
                <a:latin typeface="Times New Roman" pitchFamily="18" charset="0"/>
                <a:cs typeface="Times New Roman" pitchFamily="18" charset="0"/>
              </a:rPr>
              <a:t>3</a:t>
            </a:r>
            <a:r>
              <a:rPr lang="en-US" sz="3600">
                <a:solidFill>
                  <a:srgbClr val="3333FF"/>
                </a:solidFill>
                <a:latin typeface="Times New Roman" pitchFamily="18" charset="0"/>
                <a:cs typeface="Times New Roman" pitchFamily="18" charset="0"/>
              </a:rPr>
              <a:t>)</a:t>
            </a:r>
            <a:r>
              <a:rPr lang="en-US" sz="3600" baseline="-25000">
                <a:solidFill>
                  <a:srgbClr val="3333FF"/>
                </a:solidFill>
                <a:latin typeface="Times New Roman" pitchFamily="18" charset="0"/>
                <a:cs typeface="Times New Roman" pitchFamily="18" charset="0"/>
              </a:rPr>
              <a:t>5</a:t>
            </a:r>
            <a:r>
              <a:rPr lang="en-US" sz="3600">
                <a:solidFill>
                  <a:srgbClr val="3333FF"/>
                </a:solidFill>
                <a:latin typeface="Times New Roman" pitchFamily="18" charset="0"/>
                <a:cs typeface="Times New Roman" pitchFamily="18" charset="0"/>
              </a:rPr>
              <a:t>Cl]Cl</a:t>
            </a:r>
            <a:r>
              <a:rPr lang="en-US" sz="3600" baseline="-25000">
                <a:solidFill>
                  <a:srgbClr val="3333FF"/>
                </a:solidFill>
                <a:latin typeface="Times New Roman" pitchFamily="18" charset="0"/>
                <a:cs typeface="Times New Roman" pitchFamily="18" charset="0"/>
              </a:rPr>
              <a:t>2</a:t>
            </a:r>
          </a:p>
        </p:txBody>
      </p:sp>
    </p:spTree>
    <p:extLst>
      <p:ext uri="{BB962C8B-B14F-4D97-AF65-F5344CB8AC3E}">
        <p14:creationId xmlns:p14="http://schemas.microsoft.com/office/powerpoint/2010/main" val="3859069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7"/>
                                        </p:tgtEl>
                                        <p:attrNameLst>
                                          <p:attrName>style.visibility</p:attrName>
                                        </p:attrNameLst>
                                      </p:cBhvr>
                                      <p:to>
                                        <p:strVal val="visible"/>
                                      </p:to>
                                    </p:set>
                                    <p:animEffect transition="in" filter="wipe(left)">
                                      <p:cBhvr>
                                        <p:cTn id="7" dur="500"/>
                                        <p:tgtEl>
                                          <p:spTgt spid="593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395">
                                            <p:txEl>
                                              <p:pRg st="0" end="0"/>
                                            </p:txEl>
                                          </p:spTgt>
                                        </p:tgtEl>
                                        <p:attrNameLst>
                                          <p:attrName>style.visibility</p:attrName>
                                        </p:attrNameLst>
                                      </p:cBhvr>
                                      <p:to>
                                        <p:strVal val="visible"/>
                                      </p:to>
                                    </p:set>
                                    <p:animEffect transition="in" filter="wipe(left)">
                                      <p:cBhvr>
                                        <p:cTn id="12" dur="500"/>
                                        <p:tgtEl>
                                          <p:spTgt spid="593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395">
                                            <p:txEl>
                                              <p:pRg st="1" end="1"/>
                                            </p:txEl>
                                          </p:spTgt>
                                        </p:tgtEl>
                                        <p:attrNameLst>
                                          <p:attrName>style.visibility</p:attrName>
                                        </p:attrNameLst>
                                      </p:cBhvr>
                                      <p:to>
                                        <p:strVal val="visible"/>
                                      </p:to>
                                    </p:set>
                                    <p:animEffect transition="in" filter="wipe(left)">
                                      <p:cBhvr>
                                        <p:cTn id="17" dur="500"/>
                                        <p:tgtEl>
                                          <p:spTgt spid="5939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9395">
                                            <p:txEl>
                                              <p:pRg st="2" end="2"/>
                                            </p:txEl>
                                          </p:spTgt>
                                        </p:tgtEl>
                                        <p:attrNameLst>
                                          <p:attrName>style.visibility</p:attrName>
                                        </p:attrNameLst>
                                      </p:cBhvr>
                                      <p:to>
                                        <p:strVal val="visible"/>
                                      </p:to>
                                    </p:set>
                                    <p:animEffect transition="in" filter="wipe(left)">
                                      <p:cBhvr>
                                        <p:cTn id="22" dur="500"/>
                                        <p:tgtEl>
                                          <p:spTgt spid="5939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395">
                                            <p:txEl>
                                              <p:pRg st="3" end="3"/>
                                            </p:txEl>
                                          </p:spTgt>
                                        </p:tgtEl>
                                        <p:attrNameLst>
                                          <p:attrName>style.visibility</p:attrName>
                                        </p:attrNameLst>
                                      </p:cBhvr>
                                      <p:to>
                                        <p:strVal val="visible"/>
                                      </p:to>
                                    </p:set>
                                    <p:animEffect transition="in" filter="wipe(left)">
                                      <p:cBhvr>
                                        <p:cTn id="27" dur="500"/>
                                        <p:tgtEl>
                                          <p:spTgt spid="59395">
                                            <p:txEl>
                                              <p:pRg st="3" end="3"/>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9395">
                                            <p:txEl>
                                              <p:pRg st="4" end="4"/>
                                            </p:txEl>
                                          </p:spTgt>
                                        </p:tgtEl>
                                        <p:attrNameLst>
                                          <p:attrName>style.visibility</p:attrName>
                                        </p:attrNameLst>
                                      </p:cBhvr>
                                      <p:to>
                                        <p:strVal val="visible"/>
                                      </p:to>
                                    </p:set>
                                    <p:animEffect transition="in" filter="wipe(left)">
                                      <p:cBhvr>
                                        <p:cTn id="30" dur="500"/>
                                        <p:tgtEl>
                                          <p:spTgt spid="593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utoUpdateAnimBg="0"/>
      <p:bldP spid="59397"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28600" y="381000"/>
            <a:ext cx="8458200" cy="762000"/>
          </a:xfrm>
        </p:spPr>
        <p:txBody>
          <a:bodyPr/>
          <a:lstStyle/>
          <a:p>
            <a:pPr>
              <a:spcBef>
                <a:spcPct val="20000"/>
              </a:spcBef>
            </a:pPr>
            <a:r>
              <a:rPr lang="en-US" sz="3600">
                <a:latin typeface="Times New Roman" pitchFamily="18" charset="0"/>
                <a:cs typeface="Times New Roman" pitchFamily="18" charset="0"/>
              </a:rPr>
              <a:t>Rules for Naming Coordination Compounds</a:t>
            </a:r>
          </a:p>
        </p:txBody>
      </p:sp>
      <p:sp>
        <p:nvSpPr>
          <p:cNvPr id="61443" name="Rectangle 3"/>
          <p:cNvSpPr>
            <a:spLocks noGrp="1" noChangeArrowheads="1"/>
          </p:cNvSpPr>
          <p:nvPr>
            <p:ph type="body" idx="1"/>
          </p:nvPr>
        </p:nvSpPr>
        <p:spPr>
          <a:xfrm>
            <a:off x="457200" y="2743200"/>
            <a:ext cx="8229600" cy="3581400"/>
          </a:xfrm>
        </p:spPr>
        <p:txBody>
          <a:bodyPr/>
          <a:lstStyle/>
          <a:p>
            <a:pPr marL="457200" indent="-457200">
              <a:buFontTx/>
              <a:buAutoNum type="arabicPeriod" startAt="3"/>
            </a:pPr>
            <a:r>
              <a:rPr lang="en-US">
                <a:solidFill>
                  <a:srgbClr val="669900"/>
                </a:solidFill>
                <a:latin typeface="Times New Roman" pitchFamily="18" charset="0"/>
                <a:cs typeface="Times New Roman" pitchFamily="18" charset="0"/>
              </a:rPr>
              <a:t>For negatively charged ligands, an “o” is added to the root name of an anion (such as fluoro, bromo, chloro, etc.).</a:t>
            </a:r>
            <a:r>
              <a:rPr lang="en-US">
                <a:latin typeface="Times New Roman" pitchFamily="18" charset="0"/>
                <a:cs typeface="Times New Roman" pitchFamily="18" charset="0"/>
              </a:rPr>
              <a:t> </a:t>
            </a:r>
          </a:p>
          <a:p>
            <a:pPr marL="457200" indent="-457200">
              <a:buFontTx/>
              <a:buAutoNum type="arabicPeriod" startAt="4"/>
            </a:pPr>
            <a:r>
              <a:rPr lang="en-US">
                <a:solidFill>
                  <a:srgbClr val="669900"/>
                </a:solidFill>
                <a:latin typeface="Times New Roman" pitchFamily="18" charset="0"/>
                <a:cs typeface="Times New Roman" pitchFamily="18" charset="0"/>
              </a:rPr>
              <a:t>The prefixes mono-, di-, tri-, etc., are used to denote the number of simple ligands.</a:t>
            </a:r>
          </a:p>
          <a:p>
            <a:pPr marL="457200" indent="-457200" algn="ctr">
              <a:buFontTx/>
              <a:buNone/>
            </a:pPr>
            <a:r>
              <a:rPr lang="en-US">
                <a:solidFill>
                  <a:srgbClr val="3333FF"/>
                </a:solidFill>
                <a:latin typeface="Times New Roman" pitchFamily="18" charset="0"/>
                <a:cs typeface="Times New Roman" pitchFamily="18" charset="0"/>
              </a:rPr>
              <a:t>penta ammine</a:t>
            </a:r>
          </a:p>
        </p:txBody>
      </p:sp>
      <p:sp>
        <p:nvSpPr>
          <p:cNvPr id="6144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61445" name="Rectangle 5"/>
          <p:cNvSpPr>
            <a:spLocks noChangeArrowheads="1"/>
          </p:cNvSpPr>
          <p:nvPr/>
        </p:nvSpPr>
        <p:spPr bwMode="auto">
          <a:xfrm>
            <a:off x="2133600" y="1600200"/>
            <a:ext cx="3502025" cy="638175"/>
          </a:xfrm>
          <a:prstGeom prst="rect">
            <a:avLst/>
          </a:prstGeom>
          <a:noFill/>
          <a:ln w="12700">
            <a:noFill/>
            <a:miter lim="800000"/>
            <a:headEnd/>
            <a:tailEnd/>
          </a:ln>
          <a:effectLst/>
        </p:spPr>
        <p:txBody>
          <a:bodyPr lIns="90488" tIns="44450" rIns="90488" bIns="44450">
            <a:spAutoFit/>
          </a:bodyPr>
          <a:lstStyle/>
          <a:p>
            <a:pPr eaLnBrk="0" hangingPunct="0">
              <a:spcBef>
                <a:spcPct val="70000"/>
              </a:spcBef>
            </a:pPr>
            <a:r>
              <a:rPr lang="en-US" sz="3600">
                <a:solidFill>
                  <a:srgbClr val="3333FF"/>
                </a:solidFill>
                <a:latin typeface="Times New Roman" pitchFamily="18" charset="0"/>
                <a:cs typeface="Times New Roman" pitchFamily="18" charset="0"/>
              </a:rPr>
              <a:t>[Co(NH</a:t>
            </a:r>
            <a:r>
              <a:rPr lang="en-US" sz="3600" baseline="-25000">
                <a:solidFill>
                  <a:srgbClr val="3333FF"/>
                </a:solidFill>
                <a:latin typeface="Times New Roman" pitchFamily="18" charset="0"/>
                <a:cs typeface="Times New Roman" pitchFamily="18" charset="0"/>
              </a:rPr>
              <a:t>3</a:t>
            </a:r>
            <a:r>
              <a:rPr lang="en-US" sz="3600">
                <a:solidFill>
                  <a:srgbClr val="3333FF"/>
                </a:solidFill>
                <a:latin typeface="Times New Roman" pitchFamily="18" charset="0"/>
                <a:cs typeface="Times New Roman" pitchFamily="18" charset="0"/>
              </a:rPr>
              <a:t>)</a:t>
            </a:r>
            <a:r>
              <a:rPr lang="en-US" sz="3600" baseline="-25000">
                <a:solidFill>
                  <a:srgbClr val="3333FF"/>
                </a:solidFill>
                <a:latin typeface="Times New Roman" pitchFamily="18" charset="0"/>
                <a:cs typeface="Times New Roman" pitchFamily="18" charset="0"/>
              </a:rPr>
              <a:t>5</a:t>
            </a:r>
            <a:r>
              <a:rPr lang="en-US" sz="3600">
                <a:solidFill>
                  <a:srgbClr val="3333FF"/>
                </a:solidFill>
                <a:latin typeface="Times New Roman" pitchFamily="18" charset="0"/>
                <a:cs typeface="Times New Roman" pitchFamily="18" charset="0"/>
              </a:rPr>
              <a:t>Cl]Cl</a:t>
            </a:r>
            <a:r>
              <a:rPr lang="en-US" sz="3600" baseline="-25000">
                <a:solidFill>
                  <a:srgbClr val="3333FF"/>
                </a:solidFill>
                <a:latin typeface="Times New Roman" pitchFamily="18" charset="0"/>
                <a:cs typeface="Times New Roman" pitchFamily="18" charset="0"/>
              </a:rPr>
              <a:t>2</a:t>
            </a:r>
          </a:p>
        </p:txBody>
      </p:sp>
    </p:spTree>
    <p:extLst>
      <p:ext uri="{BB962C8B-B14F-4D97-AF65-F5344CB8AC3E}">
        <p14:creationId xmlns:p14="http://schemas.microsoft.com/office/powerpoint/2010/main" val="385892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wipe(left)">
                                      <p:cBhvr>
                                        <p:cTn id="7" dur="500"/>
                                        <p:tgtEl>
                                          <p:spTgt spid="614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3">
                                            <p:txEl>
                                              <p:pRg st="1" end="1"/>
                                            </p:txEl>
                                          </p:spTgt>
                                        </p:tgtEl>
                                        <p:attrNameLst>
                                          <p:attrName>style.visibility</p:attrName>
                                        </p:attrNameLst>
                                      </p:cBhvr>
                                      <p:to>
                                        <p:strVal val="visible"/>
                                      </p:to>
                                    </p:set>
                                    <p:animEffect transition="in" filter="wipe(left)">
                                      <p:cBhvr>
                                        <p:cTn id="12" dur="500"/>
                                        <p:tgtEl>
                                          <p:spTgt spid="614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43">
                                            <p:txEl>
                                              <p:pRg st="2" end="2"/>
                                            </p:txEl>
                                          </p:spTgt>
                                        </p:tgtEl>
                                        <p:attrNameLst>
                                          <p:attrName>style.visibility</p:attrName>
                                        </p:attrNameLst>
                                      </p:cBhvr>
                                      <p:to>
                                        <p:strVal val="visible"/>
                                      </p:to>
                                    </p:set>
                                    <p:animEffect transition="in" filter="wipe(left)">
                                      <p:cBhvr>
                                        <p:cTn id="17" dur="500"/>
                                        <p:tgtEl>
                                          <p:spTgt spid="614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28600" y="381000"/>
            <a:ext cx="8458200" cy="838200"/>
          </a:xfrm>
        </p:spPr>
        <p:txBody>
          <a:bodyPr/>
          <a:lstStyle/>
          <a:p>
            <a:pPr>
              <a:spcBef>
                <a:spcPct val="20000"/>
              </a:spcBef>
            </a:pPr>
            <a:r>
              <a:rPr lang="en-US" sz="3600">
                <a:latin typeface="Times New Roman" pitchFamily="18" charset="0"/>
                <a:cs typeface="Times New Roman" pitchFamily="18" charset="0"/>
              </a:rPr>
              <a:t>Rules for Naming Coordination Compounds</a:t>
            </a:r>
          </a:p>
        </p:txBody>
      </p:sp>
      <p:sp>
        <p:nvSpPr>
          <p:cNvPr id="63491" name="Rectangle 3"/>
          <p:cNvSpPr>
            <a:spLocks noGrp="1" noChangeArrowheads="1"/>
          </p:cNvSpPr>
          <p:nvPr>
            <p:ph type="body" idx="1"/>
          </p:nvPr>
        </p:nvSpPr>
        <p:spPr>
          <a:xfrm>
            <a:off x="457200" y="2590800"/>
            <a:ext cx="8229600" cy="3505200"/>
          </a:xfrm>
        </p:spPr>
        <p:txBody>
          <a:bodyPr/>
          <a:lstStyle/>
          <a:p>
            <a:pPr marL="457200" indent="-457200">
              <a:buFontTx/>
              <a:buAutoNum type="arabicPeriod" startAt="5"/>
            </a:pPr>
            <a:r>
              <a:rPr lang="en-US">
                <a:solidFill>
                  <a:srgbClr val="669900"/>
                </a:solidFill>
                <a:latin typeface="Times New Roman" pitchFamily="18" charset="0"/>
                <a:cs typeface="Times New Roman" pitchFamily="18" charset="0"/>
              </a:rPr>
              <a:t>The oxidation state of the central metal ion is designated by a Roman numeral:</a:t>
            </a:r>
          </a:p>
          <a:p>
            <a:pPr marL="457200" indent="-457200" algn="ctr">
              <a:buFontTx/>
              <a:buNone/>
            </a:pPr>
            <a:r>
              <a:rPr lang="en-US">
                <a:solidFill>
                  <a:srgbClr val="3333FF"/>
                </a:solidFill>
                <a:latin typeface="Times New Roman" pitchFamily="18" charset="0"/>
                <a:cs typeface="Times New Roman" pitchFamily="18" charset="0"/>
              </a:rPr>
              <a:t>cobalt (III)</a:t>
            </a:r>
          </a:p>
          <a:p>
            <a:pPr marL="457200" indent="-457200">
              <a:buFontTx/>
              <a:buAutoNum type="arabicPeriod" startAt="6"/>
            </a:pPr>
            <a:r>
              <a:rPr lang="en-US">
                <a:solidFill>
                  <a:srgbClr val="669900"/>
                </a:solidFill>
                <a:latin typeface="Times New Roman" pitchFamily="18" charset="0"/>
                <a:cs typeface="Times New Roman" pitchFamily="18" charset="0"/>
              </a:rPr>
              <a:t>When more than one type of ligand is present, they are named alphabetically:</a:t>
            </a:r>
          </a:p>
          <a:p>
            <a:pPr marL="457200" indent="-457200" algn="ctr">
              <a:buFontTx/>
              <a:buNone/>
            </a:pPr>
            <a:r>
              <a:rPr lang="en-US">
                <a:solidFill>
                  <a:srgbClr val="3333FF"/>
                </a:solidFill>
                <a:latin typeface="Times New Roman" pitchFamily="18" charset="0"/>
                <a:cs typeface="Times New Roman" pitchFamily="18" charset="0"/>
              </a:rPr>
              <a:t>pentaamminechloro</a:t>
            </a:r>
          </a:p>
        </p:txBody>
      </p:sp>
      <p:sp>
        <p:nvSpPr>
          <p:cNvPr id="63492"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63493" name="Rectangle 5"/>
          <p:cNvSpPr>
            <a:spLocks noChangeArrowheads="1"/>
          </p:cNvSpPr>
          <p:nvPr/>
        </p:nvSpPr>
        <p:spPr bwMode="auto">
          <a:xfrm>
            <a:off x="2057400" y="1447800"/>
            <a:ext cx="3502025" cy="638175"/>
          </a:xfrm>
          <a:prstGeom prst="rect">
            <a:avLst/>
          </a:prstGeom>
          <a:noFill/>
          <a:ln w="12700">
            <a:noFill/>
            <a:miter lim="800000"/>
            <a:headEnd/>
            <a:tailEnd/>
          </a:ln>
          <a:effectLst/>
        </p:spPr>
        <p:txBody>
          <a:bodyPr lIns="90488" tIns="44450" rIns="90488" bIns="44450">
            <a:spAutoFit/>
          </a:bodyPr>
          <a:lstStyle/>
          <a:p>
            <a:pPr eaLnBrk="0" hangingPunct="0">
              <a:spcBef>
                <a:spcPct val="70000"/>
              </a:spcBef>
            </a:pPr>
            <a:r>
              <a:rPr lang="en-US" sz="3600">
                <a:solidFill>
                  <a:srgbClr val="3333FF"/>
                </a:solidFill>
                <a:latin typeface="Times New Roman" pitchFamily="18" charset="0"/>
                <a:cs typeface="Times New Roman" pitchFamily="18" charset="0"/>
              </a:rPr>
              <a:t>[Co(NH</a:t>
            </a:r>
            <a:r>
              <a:rPr lang="en-US" sz="3600" baseline="-25000">
                <a:solidFill>
                  <a:srgbClr val="3333FF"/>
                </a:solidFill>
                <a:latin typeface="Times New Roman" pitchFamily="18" charset="0"/>
                <a:cs typeface="Times New Roman" pitchFamily="18" charset="0"/>
              </a:rPr>
              <a:t>3</a:t>
            </a:r>
            <a:r>
              <a:rPr lang="en-US" sz="3600">
                <a:solidFill>
                  <a:srgbClr val="3333FF"/>
                </a:solidFill>
                <a:latin typeface="Times New Roman" pitchFamily="18" charset="0"/>
                <a:cs typeface="Times New Roman" pitchFamily="18" charset="0"/>
              </a:rPr>
              <a:t>)</a:t>
            </a:r>
            <a:r>
              <a:rPr lang="en-US" sz="3600" baseline="-25000">
                <a:solidFill>
                  <a:srgbClr val="3333FF"/>
                </a:solidFill>
                <a:latin typeface="Times New Roman" pitchFamily="18" charset="0"/>
                <a:cs typeface="Times New Roman" pitchFamily="18" charset="0"/>
              </a:rPr>
              <a:t>5</a:t>
            </a:r>
            <a:r>
              <a:rPr lang="en-US" sz="3600">
                <a:solidFill>
                  <a:srgbClr val="3333FF"/>
                </a:solidFill>
                <a:latin typeface="Times New Roman" pitchFamily="18" charset="0"/>
                <a:cs typeface="Times New Roman" pitchFamily="18" charset="0"/>
              </a:rPr>
              <a:t>Cl]Cl</a:t>
            </a:r>
            <a:r>
              <a:rPr lang="en-US" sz="3600" baseline="-25000">
                <a:solidFill>
                  <a:srgbClr val="3333FF"/>
                </a:solidFill>
                <a:latin typeface="Times New Roman" pitchFamily="18" charset="0"/>
                <a:cs typeface="Times New Roman" pitchFamily="18" charset="0"/>
              </a:rPr>
              <a:t>2</a:t>
            </a:r>
          </a:p>
        </p:txBody>
      </p:sp>
    </p:spTree>
    <p:extLst>
      <p:ext uri="{BB962C8B-B14F-4D97-AF65-F5344CB8AC3E}">
        <p14:creationId xmlns:p14="http://schemas.microsoft.com/office/powerpoint/2010/main" val="380027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wipe(left)">
                                      <p:cBhvr>
                                        <p:cTn id="7" dur="500"/>
                                        <p:tgtEl>
                                          <p:spTgt spid="634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1">
                                            <p:txEl>
                                              <p:pRg st="1" end="1"/>
                                            </p:txEl>
                                          </p:spTgt>
                                        </p:tgtEl>
                                        <p:attrNameLst>
                                          <p:attrName>style.visibility</p:attrName>
                                        </p:attrNameLst>
                                      </p:cBhvr>
                                      <p:to>
                                        <p:strVal val="visible"/>
                                      </p:to>
                                    </p:set>
                                    <p:animEffect transition="in" filter="wipe(left)">
                                      <p:cBhvr>
                                        <p:cTn id="12" dur="500"/>
                                        <p:tgtEl>
                                          <p:spTgt spid="634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91">
                                            <p:txEl>
                                              <p:pRg st="2" end="2"/>
                                            </p:txEl>
                                          </p:spTgt>
                                        </p:tgtEl>
                                        <p:attrNameLst>
                                          <p:attrName>style.visibility</p:attrName>
                                        </p:attrNameLst>
                                      </p:cBhvr>
                                      <p:to>
                                        <p:strVal val="visible"/>
                                      </p:to>
                                    </p:set>
                                    <p:animEffect transition="in" filter="wipe(left)">
                                      <p:cBhvr>
                                        <p:cTn id="17" dur="500"/>
                                        <p:tgtEl>
                                          <p:spTgt spid="634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491">
                                            <p:txEl>
                                              <p:pRg st="3" end="3"/>
                                            </p:txEl>
                                          </p:spTgt>
                                        </p:tgtEl>
                                        <p:attrNameLst>
                                          <p:attrName>style.visibility</p:attrName>
                                        </p:attrNameLst>
                                      </p:cBhvr>
                                      <p:to>
                                        <p:strVal val="visible"/>
                                      </p:to>
                                    </p:set>
                                    <p:animEffect transition="in" filter="wipe(left)">
                                      <p:cBhvr>
                                        <p:cTn id="22" dur="500"/>
                                        <p:tgtEl>
                                          <p:spTgt spid="634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228600" y="381000"/>
            <a:ext cx="8458200" cy="838200"/>
          </a:xfrm>
        </p:spPr>
        <p:txBody>
          <a:bodyPr/>
          <a:lstStyle/>
          <a:p>
            <a:pPr>
              <a:spcBef>
                <a:spcPct val="20000"/>
              </a:spcBef>
            </a:pPr>
            <a:r>
              <a:rPr lang="en-US" sz="3600">
                <a:latin typeface="Times New Roman" pitchFamily="18" charset="0"/>
                <a:cs typeface="Times New Roman" pitchFamily="18" charset="0"/>
              </a:rPr>
              <a:t>Rules for Naming Coordination Compounds</a:t>
            </a:r>
          </a:p>
        </p:txBody>
      </p:sp>
      <p:sp>
        <p:nvSpPr>
          <p:cNvPr id="65539" name="Rectangle 3"/>
          <p:cNvSpPr>
            <a:spLocks noGrp="1" noChangeArrowheads="1"/>
          </p:cNvSpPr>
          <p:nvPr>
            <p:ph type="body" idx="1"/>
          </p:nvPr>
        </p:nvSpPr>
        <p:spPr>
          <a:xfrm>
            <a:off x="457200" y="2819400"/>
            <a:ext cx="8229600" cy="3200400"/>
          </a:xfrm>
        </p:spPr>
        <p:txBody>
          <a:bodyPr/>
          <a:lstStyle/>
          <a:p>
            <a:pPr marL="457200" indent="-457200">
              <a:buFontTx/>
              <a:buAutoNum type="arabicPeriod" startAt="7"/>
            </a:pPr>
            <a:r>
              <a:rPr lang="en-US">
                <a:solidFill>
                  <a:srgbClr val="669900"/>
                </a:solidFill>
                <a:latin typeface="Times New Roman" pitchFamily="18" charset="0"/>
                <a:cs typeface="Times New Roman" pitchFamily="18" charset="0"/>
              </a:rPr>
              <a:t>If the complex ion has a negative charge, the suffix “ate” is added to the name of the metal.</a:t>
            </a:r>
          </a:p>
          <a:p>
            <a:pPr marL="457200" indent="-457200">
              <a:buFontTx/>
              <a:buNone/>
            </a:pPr>
            <a:r>
              <a:rPr lang="en-US">
                <a:latin typeface="Times New Roman" pitchFamily="18" charset="0"/>
                <a:cs typeface="Times New Roman" pitchFamily="18" charset="0"/>
              </a:rPr>
              <a:t>	</a:t>
            </a:r>
          </a:p>
          <a:p>
            <a:pPr marL="457200" indent="-457200">
              <a:buFontTx/>
              <a:buNone/>
            </a:pPr>
            <a:r>
              <a:rPr lang="en-US">
                <a:latin typeface="Times New Roman" pitchFamily="18" charset="0"/>
                <a:cs typeface="Times New Roman" pitchFamily="18" charset="0"/>
              </a:rPr>
              <a:t>	The correct name is:</a:t>
            </a:r>
          </a:p>
          <a:p>
            <a:pPr marL="457200" indent="-457200" algn="ctr">
              <a:buFontTx/>
              <a:buNone/>
            </a:pPr>
            <a:r>
              <a:rPr lang="en-US">
                <a:solidFill>
                  <a:srgbClr val="3333FF"/>
                </a:solidFill>
                <a:latin typeface="Times New Roman" pitchFamily="18" charset="0"/>
                <a:cs typeface="Times New Roman" pitchFamily="18" charset="0"/>
              </a:rPr>
              <a:t>pentaamminechlorocobalt(III) chloride</a:t>
            </a:r>
          </a:p>
        </p:txBody>
      </p:sp>
      <p:sp>
        <p:nvSpPr>
          <p:cNvPr id="6554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65541" name="Rectangle 5"/>
          <p:cNvSpPr>
            <a:spLocks noChangeArrowheads="1"/>
          </p:cNvSpPr>
          <p:nvPr/>
        </p:nvSpPr>
        <p:spPr bwMode="auto">
          <a:xfrm>
            <a:off x="2209800" y="1676400"/>
            <a:ext cx="3502025" cy="638175"/>
          </a:xfrm>
          <a:prstGeom prst="rect">
            <a:avLst/>
          </a:prstGeom>
          <a:noFill/>
          <a:ln w="12700">
            <a:noFill/>
            <a:miter lim="800000"/>
            <a:headEnd/>
            <a:tailEnd/>
          </a:ln>
          <a:effectLst/>
        </p:spPr>
        <p:txBody>
          <a:bodyPr lIns="90488" tIns="44450" rIns="90488" bIns="44450">
            <a:spAutoFit/>
          </a:bodyPr>
          <a:lstStyle/>
          <a:p>
            <a:pPr eaLnBrk="0" hangingPunct="0">
              <a:spcBef>
                <a:spcPct val="70000"/>
              </a:spcBef>
            </a:pPr>
            <a:r>
              <a:rPr lang="en-US" sz="3600">
                <a:solidFill>
                  <a:srgbClr val="3333FF"/>
                </a:solidFill>
                <a:latin typeface="Times New Roman" pitchFamily="18" charset="0"/>
                <a:cs typeface="Times New Roman" pitchFamily="18" charset="0"/>
              </a:rPr>
              <a:t>[Co(NH</a:t>
            </a:r>
            <a:r>
              <a:rPr lang="en-US" sz="3600" baseline="-25000">
                <a:solidFill>
                  <a:srgbClr val="3333FF"/>
                </a:solidFill>
                <a:latin typeface="Times New Roman" pitchFamily="18" charset="0"/>
                <a:cs typeface="Times New Roman" pitchFamily="18" charset="0"/>
              </a:rPr>
              <a:t>3</a:t>
            </a:r>
            <a:r>
              <a:rPr lang="en-US" sz="3600">
                <a:solidFill>
                  <a:srgbClr val="3333FF"/>
                </a:solidFill>
                <a:latin typeface="Times New Roman" pitchFamily="18" charset="0"/>
                <a:cs typeface="Times New Roman" pitchFamily="18" charset="0"/>
              </a:rPr>
              <a:t>)</a:t>
            </a:r>
            <a:r>
              <a:rPr lang="en-US" sz="3600" baseline="-25000">
                <a:solidFill>
                  <a:srgbClr val="3333FF"/>
                </a:solidFill>
                <a:latin typeface="Times New Roman" pitchFamily="18" charset="0"/>
                <a:cs typeface="Times New Roman" pitchFamily="18" charset="0"/>
              </a:rPr>
              <a:t>5</a:t>
            </a:r>
            <a:r>
              <a:rPr lang="en-US" sz="3600">
                <a:solidFill>
                  <a:srgbClr val="3333FF"/>
                </a:solidFill>
                <a:latin typeface="Times New Roman" pitchFamily="18" charset="0"/>
                <a:cs typeface="Times New Roman" pitchFamily="18" charset="0"/>
              </a:rPr>
              <a:t>Cl]Cl</a:t>
            </a:r>
            <a:r>
              <a:rPr lang="en-US" sz="3600" baseline="-25000">
                <a:solidFill>
                  <a:srgbClr val="3333FF"/>
                </a:solidFill>
                <a:latin typeface="Times New Roman" pitchFamily="18" charset="0"/>
                <a:cs typeface="Times New Roman" pitchFamily="18" charset="0"/>
              </a:rPr>
              <a:t>2</a:t>
            </a:r>
          </a:p>
        </p:txBody>
      </p:sp>
    </p:spTree>
    <p:extLst>
      <p:ext uri="{BB962C8B-B14F-4D97-AF65-F5344CB8AC3E}">
        <p14:creationId xmlns:p14="http://schemas.microsoft.com/office/powerpoint/2010/main" val="306068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wipe(left)">
                                      <p:cBhvr>
                                        <p:cTn id="7" dur="500"/>
                                        <p:tgtEl>
                                          <p:spTgt spid="65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39">
                                            <p:txEl>
                                              <p:pRg st="2" end="2"/>
                                            </p:txEl>
                                          </p:spTgt>
                                        </p:tgtEl>
                                        <p:attrNameLst>
                                          <p:attrName>style.visibility</p:attrName>
                                        </p:attrNameLst>
                                      </p:cBhvr>
                                      <p:to>
                                        <p:strVal val="visible"/>
                                      </p:to>
                                    </p:set>
                                    <p:animEffect transition="in" filter="wipe(left)">
                                      <p:cBhvr>
                                        <p:cTn id="12" dur="500"/>
                                        <p:tgtEl>
                                          <p:spTgt spid="655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539">
                                            <p:txEl>
                                              <p:pRg st="3" end="3"/>
                                            </p:txEl>
                                          </p:spTgt>
                                        </p:tgtEl>
                                        <p:attrNameLst>
                                          <p:attrName>style.visibility</p:attrName>
                                        </p:attrNameLst>
                                      </p:cBhvr>
                                      <p:to>
                                        <p:strVal val="visible"/>
                                      </p:to>
                                    </p:set>
                                    <p:animEffect transition="in" filter="wipe(left)">
                                      <p:cBhvr>
                                        <p:cTn id="17" dur="500"/>
                                        <p:tgtEl>
                                          <p:spTgt spid="655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Naming coordination compounds (new)</a:t>
            </a:r>
            <a:br>
              <a:rPr lang="en-US" b="1" dirty="0"/>
            </a:br>
            <a:endParaRPr lang="en-US" dirty="0"/>
          </a:p>
        </p:txBody>
      </p:sp>
      <p:sp>
        <p:nvSpPr>
          <p:cNvPr id="3" name="Content Placeholder 2"/>
          <p:cNvSpPr>
            <a:spLocks noGrp="1"/>
          </p:cNvSpPr>
          <p:nvPr>
            <p:ph idx="1"/>
          </p:nvPr>
        </p:nvSpPr>
        <p:spPr/>
        <p:txBody>
          <a:bodyPr>
            <a:normAutofit/>
          </a:bodyPr>
          <a:lstStyle/>
          <a:p>
            <a:r>
              <a:rPr lang="en-US" dirty="0"/>
              <a:t>The following rules are used when naming coordination compounds:</a:t>
            </a:r>
          </a:p>
          <a:p>
            <a:r>
              <a:rPr lang="en-US" dirty="0"/>
              <a:t>(</a:t>
            </a:r>
            <a:r>
              <a:rPr lang="en-US" dirty="0" err="1"/>
              <a:t>i</a:t>
            </a:r>
            <a:r>
              <a:rPr lang="en-US" dirty="0"/>
              <a:t>) </a:t>
            </a:r>
            <a:r>
              <a:rPr lang="en-US" dirty="0" err="1"/>
              <a:t>ligand</a:t>
            </a:r>
            <a:r>
              <a:rPr lang="en-US" dirty="0"/>
              <a:t> names are listed before the name of the central atom,</a:t>
            </a:r>
          </a:p>
          <a:p>
            <a:r>
              <a:rPr lang="en-US" dirty="0"/>
              <a:t>(ii) no spaces are left between parts of the name that refer to the same coordination entity,</a:t>
            </a:r>
          </a:p>
        </p:txBody>
      </p:sp>
    </p:spTree>
    <p:extLst>
      <p:ext uri="{BB962C8B-B14F-4D97-AF65-F5344CB8AC3E}">
        <p14:creationId xmlns:p14="http://schemas.microsoft.com/office/powerpoint/2010/main" val="84596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(iii) </a:t>
            </a:r>
            <a:r>
              <a:rPr lang="en-US" dirty="0" err="1"/>
              <a:t>ligand</a:t>
            </a:r>
            <a:r>
              <a:rPr lang="en-US" dirty="0"/>
              <a:t> names are listed in alphabetical order </a:t>
            </a:r>
          </a:p>
          <a:p>
            <a:r>
              <a:rPr lang="en-US" dirty="0"/>
              <a:t>Note: (numerical prefixes indicating the  number of </a:t>
            </a:r>
            <a:r>
              <a:rPr lang="en-US" dirty="0" err="1"/>
              <a:t>ligands</a:t>
            </a:r>
            <a:r>
              <a:rPr lang="en-US" dirty="0"/>
              <a:t> are not considered in determining that order),</a:t>
            </a:r>
          </a:p>
          <a:p>
            <a:r>
              <a:rPr lang="en-US" dirty="0"/>
              <a:t>(iv) the use of abbreviations in </a:t>
            </a:r>
            <a:r>
              <a:rPr lang="en-US" i="1" dirty="0"/>
              <a:t>names is discouraged.</a:t>
            </a:r>
          </a:p>
          <a:p>
            <a:endParaRPr lang="en-US" i="1" dirty="0"/>
          </a:p>
        </p:txBody>
      </p:sp>
    </p:spTree>
    <p:extLst>
      <p:ext uri="{BB962C8B-B14F-4D97-AF65-F5344CB8AC3E}">
        <p14:creationId xmlns:p14="http://schemas.microsoft.com/office/powerpoint/2010/main" val="2025471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55000" lnSpcReduction="20000"/>
          </a:bodyPr>
          <a:lstStyle/>
          <a:p>
            <a:r>
              <a:rPr lang="en-US" sz="4400" i="1" dirty="0"/>
              <a:t>Example:</a:t>
            </a:r>
          </a:p>
          <a:p>
            <a:pPr>
              <a:buNone/>
            </a:pPr>
            <a:r>
              <a:rPr lang="en-US" sz="4400" dirty="0"/>
              <a:t>	1. [</a:t>
            </a:r>
            <a:r>
              <a:rPr lang="en-US" sz="4400" dirty="0" err="1"/>
              <a:t>CoCl</a:t>
            </a:r>
            <a:r>
              <a:rPr lang="en-US" sz="4400" dirty="0"/>
              <a:t>(NH</a:t>
            </a:r>
            <a:r>
              <a:rPr lang="en-US" sz="4400" baseline="-25000" dirty="0"/>
              <a:t>3</a:t>
            </a:r>
            <a:r>
              <a:rPr lang="en-US" sz="4400" dirty="0"/>
              <a:t>)</a:t>
            </a:r>
            <a:r>
              <a:rPr lang="en-US" sz="4400" baseline="-25000" dirty="0"/>
              <a:t>5</a:t>
            </a:r>
            <a:r>
              <a:rPr lang="en-US" sz="4400" dirty="0"/>
              <a:t>]Cl</a:t>
            </a:r>
            <a:r>
              <a:rPr lang="en-US" sz="4400" baseline="-25000" dirty="0"/>
              <a:t>2</a:t>
            </a:r>
          </a:p>
          <a:p>
            <a:r>
              <a:rPr lang="en-US" sz="4400" dirty="0" err="1"/>
              <a:t>penta</a:t>
            </a:r>
            <a:r>
              <a:rPr lang="en-US" sz="4400" i="1" dirty="0" err="1"/>
              <a:t>amminechloridocobalt</a:t>
            </a:r>
            <a:r>
              <a:rPr lang="en-US" sz="4400" i="1" dirty="0"/>
              <a:t>(</a:t>
            </a:r>
            <a:r>
              <a:rPr lang="en-US" sz="4400" i="1" dirty="0" err="1"/>
              <a:t>ll</a:t>
            </a:r>
            <a:r>
              <a:rPr lang="en-US" sz="4400" i="1" dirty="0"/>
              <a:t>) chloride</a:t>
            </a:r>
          </a:p>
          <a:p>
            <a:r>
              <a:rPr lang="en-US" sz="4400" dirty="0" err="1"/>
              <a:t>penta</a:t>
            </a:r>
            <a:r>
              <a:rPr lang="en-US" sz="4400" i="1" dirty="0" err="1"/>
              <a:t>amminechloridocobalt</a:t>
            </a:r>
            <a:r>
              <a:rPr lang="en-US" sz="4400" i="1" dirty="0"/>
              <a:t>(2+) chloride</a:t>
            </a:r>
          </a:p>
          <a:p>
            <a:r>
              <a:rPr lang="en-US" sz="4400" dirty="0"/>
              <a:t>2. [AuXe</a:t>
            </a:r>
            <a:r>
              <a:rPr lang="en-US" sz="4400" baseline="-25000" dirty="0"/>
              <a:t>4</a:t>
            </a:r>
            <a:r>
              <a:rPr lang="en-US" sz="4400" dirty="0"/>
              <a:t>]</a:t>
            </a:r>
            <a:r>
              <a:rPr lang="en-US" sz="4400" baseline="30000" dirty="0"/>
              <a:t>2+</a:t>
            </a:r>
          </a:p>
          <a:p>
            <a:r>
              <a:rPr lang="en-US" sz="4400" dirty="0" err="1"/>
              <a:t>tetraxenonidogold</a:t>
            </a:r>
            <a:r>
              <a:rPr lang="en-US" sz="4400" dirty="0"/>
              <a:t>(</a:t>
            </a:r>
            <a:r>
              <a:rPr lang="en-US" sz="4400" dirty="0" err="1"/>
              <a:t>ll</a:t>
            </a:r>
            <a:r>
              <a:rPr lang="en-US" sz="4400" dirty="0"/>
              <a:t>)</a:t>
            </a:r>
          </a:p>
          <a:p>
            <a:endParaRPr lang="en-US" sz="4400" dirty="0"/>
          </a:p>
          <a:p>
            <a:r>
              <a:rPr lang="en-US" sz="4400" dirty="0"/>
              <a:t>(</a:t>
            </a:r>
            <a:r>
              <a:rPr lang="en-US" sz="4400" dirty="0" err="1"/>
              <a:t>i</a:t>
            </a:r>
            <a:r>
              <a:rPr lang="en-US" sz="4400" dirty="0"/>
              <a:t>) Prefixes </a:t>
            </a:r>
            <a:r>
              <a:rPr lang="en-US" sz="4400" dirty="0" err="1"/>
              <a:t>di</a:t>
            </a:r>
            <a:r>
              <a:rPr lang="en-US" sz="4400" dirty="0"/>
              <a:t>, tri, </a:t>
            </a:r>
            <a:r>
              <a:rPr lang="en-US" sz="4400" i="1" dirty="0"/>
              <a:t>etc. are generally used for simple </a:t>
            </a:r>
            <a:r>
              <a:rPr lang="en-US" sz="4400" i="1" dirty="0" err="1"/>
              <a:t>ligands</a:t>
            </a:r>
            <a:r>
              <a:rPr lang="en-US" sz="4400" i="1" dirty="0"/>
              <a:t>. Enclosing marks are not </a:t>
            </a:r>
            <a:r>
              <a:rPr lang="en-US" sz="4400" dirty="0"/>
              <a:t>required.</a:t>
            </a:r>
          </a:p>
          <a:p>
            <a:r>
              <a:rPr lang="en-US" sz="4400" dirty="0"/>
              <a:t>(ii) Prefixes </a:t>
            </a:r>
            <a:r>
              <a:rPr lang="en-US" sz="4400" dirty="0" err="1"/>
              <a:t>bis</a:t>
            </a:r>
            <a:r>
              <a:rPr lang="en-US" sz="4400" dirty="0"/>
              <a:t>, </a:t>
            </a:r>
            <a:r>
              <a:rPr lang="en-US" sz="4400" dirty="0" err="1"/>
              <a:t>tris</a:t>
            </a:r>
            <a:r>
              <a:rPr lang="en-US" sz="4400" dirty="0"/>
              <a:t>, </a:t>
            </a:r>
            <a:r>
              <a:rPr lang="en-US" sz="4400" dirty="0" err="1"/>
              <a:t>tetrakis</a:t>
            </a:r>
            <a:r>
              <a:rPr lang="en-US" sz="4400" dirty="0"/>
              <a:t>, </a:t>
            </a:r>
            <a:r>
              <a:rPr lang="en-US" sz="4400" i="1" dirty="0"/>
              <a:t>etc. are used with complex expressions and when required </a:t>
            </a:r>
            <a:r>
              <a:rPr lang="en-US" sz="4400" dirty="0"/>
              <a:t>to avoid ambiguity. </a:t>
            </a:r>
          </a:p>
          <a:p>
            <a:r>
              <a:rPr lang="en-US" sz="4400" dirty="0"/>
              <a:t>For example, one would use </a:t>
            </a:r>
            <a:r>
              <a:rPr lang="en-US" sz="4400" dirty="0" err="1"/>
              <a:t>diammine</a:t>
            </a:r>
            <a:r>
              <a:rPr lang="en-US" sz="4400" dirty="0"/>
              <a:t>, for (NH</a:t>
            </a:r>
            <a:r>
              <a:rPr lang="en-US" sz="4400" baseline="-25000" dirty="0"/>
              <a:t>3</a:t>
            </a:r>
            <a:r>
              <a:rPr lang="en-US" sz="4400" dirty="0"/>
              <a:t>)</a:t>
            </a:r>
            <a:r>
              <a:rPr lang="en-US" sz="4400" baseline="-25000" dirty="0"/>
              <a:t>2</a:t>
            </a:r>
            <a:r>
              <a:rPr lang="en-US" sz="4400" dirty="0"/>
              <a:t>, but </a:t>
            </a:r>
            <a:r>
              <a:rPr lang="en-US" sz="4400" dirty="0" err="1"/>
              <a:t>bis</a:t>
            </a:r>
            <a:r>
              <a:rPr lang="en-US" sz="4400" dirty="0"/>
              <a:t>(methylamine), for (NH</a:t>
            </a:r>
            <a:r>
              <a:rPr lang="en-US" sz="4400" baseline="-25000" dirty="0"/>
              <a:t>2</a:t>
            </a:r>
            <a:r>
              <a:rPr lang="en-US" sz="4400" dirty="0"/>
              <a:t>Me)</a:t>
            </a:r>
            <a:r>
              <a:rPr lang="en-US" sz="4400" baseline="-25000" dirty="0"/>
              <a:t>2</a:t>
            </a:r>
            <a:r>
              <a:rPr lang="en-US" sz="4400" dirty="0"/>
              <a:t>, to make a distinction from </a:t>
            </a:r>
            <a:r>
              <a:rPr lang="en-US" sz="4400" dirty="0" err="1"/>
              <a:t>dimethylamine</a:t>
            </a:r>
            <a:r>
              <a:rPr lang="en-US" sz="4400" i="1" dirty="0"/>
              <a:t>. </a:t>
            </a:r>
          </a:p>
          <a:p>
            <a:endParaRPr lang="en-US" dirty="0"/>
          </a:p>
          <a:p>
            <a:endParaRPr lang="en-US" dirty="0"/>
          </a:p>
        </p:txBody>
      </p:sp>
    </p:spTree>
    <p:extLst>
      <p:ext uri="{BB962C8B-B14F-4D97-AF65-F5344CB8AC3E}">
        <p14:creationId xmlns:p14="http://schemas.microsoft.com/office/powerpoint/2010/main" val="407297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ox(in)">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ox(in)">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ox(in)">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Systematic and alternative names for some common </a:t>
            </a:r>
            <a:r>
              <a:rPr lang="en-US" dirty="0" err="1"/>
              <a:t>ligands</a:t>
            </a:r>
            <a:r>
              <a:rPr lang="en-US" dirty="0"/>
              <a:t>:</a:t>
            </a:r>
          </a:p>
          <a:p>
            <a:r>
              <a:rPr lang="en-US" dirty="0"/>
              <a:t>(</a:t>
            </a:r>
            <a:r>
              <a:rPr lang="en-US" dirty="0" err="1"/>
              <a:t>i</a:t>
            </a:r>
            <a:r>
              <a:rPr lang="en-US" dirty="0"/>
              <a:t>) Names of anionic </a:t>
            </a:r>
            <a:r>
              <a:rPr lang="en-US" dirty="0" err="1"/>
              <a:t>ligands</a:t>
            </a:r>
            <a:r>
              <a:rPr lang="en-US" dirty="0"/>
              <a:t>, whether inorganic or organic, are modified to end in 'o‘</a:t>
            </a:r>
          </a:p>
          <a:p>
            <a:r>
              <a:rPr lang="en-US" dirty="0"/>
              <a:t>In general, if the anion name ends in '</a:t>
            </a:r>
            <a:r>
              <a:rPr lang="en-US" dirty="0" err="1"/>
              <a:t>ide</a:t>
            </a:r>
            <a:r>
              <a:rPr lang="en-US" dirty="0"/>
              <a:t>', '</a:t>
            </a:r>
            <a:r>
              <a:rPr lang="en-US" dirty="0" err="1"/>
              <a:t>ite</a:t>
            </a:r>
            <a:r>
              <a:rPr lang="en-US" dirty="0"/>
              <a:t>' or 'ate', the final 'e' is replaced by 'o', giving '</a:t>
            </a:r>
            <a:r>
              <a:rPr lang="en-US" dirty="0" err="1"/>
              <a:t>ido</a:t>
            </a:r>
            <a:r>
              <a:rPr lang="en-US" dirty="0"/>
              <a:t>', '</a:t>
            </a:r>
            <a:r>
              <a:rPr lang="en-US" dirty="0" err="1"/>
              <a:t>ito</a:t>
            </a:r>
            <a:r>
              <a:rPr lang="en-US" dirty="0"/>
              <a:t>', and '</a:t>
            </a:r>
            <a:r>
              <a:rPr lang="en-US" dirty="0" err="1"/>
              <a:t>ato</a:t>
            </a:r>
            <a:r>
              <a:rPr lang="en-US" dirty="0"/>
              <a:t>', respectively. </a:t>
            </a:r>
          </a:p>
          <a:p>
            <a:r>
              <a:rPr lang="en-US" dirty="0"/>
              <a:t>In particular, </a:t>
            </a:r>
            <a:r>
              <a:rPr lang="en-US" dirty="0" err="1"/>
              <a:t>alcoholates</a:t>
            </a:r>
            <a:r>
              <a:rPr lang="en-US" dirty="0"/>
              <a:t>, </a:t>
            </a:r>
            <a:r>
              <a:rPr lang="en-US" dirty="0" err="1"/>
              <a:t>thiolates</a:t>
            </a:r>
            <a:r>
              <a:rPr lang="en-US" dirty="0"/>
              <a:t>, </a:t>
            </a:r>
            <a:r>
              <a:rPr lang="en-US" dirty="0" err="1"/>
              <a:t>phenolates</a:t>
            </a:r>
            <a:r>
              <a:rPr lang="en-US" dirty="0"/>
              <a:t>, </a:t>
            </a:r>
            <a:r>
              <a:rPr lang="en-US" dirty="0" err="1"/>
              <a:t>carboxylates</a:t>
            </a:r>
            <a:r>
              <a:rPr lang="en-US" dirty="0"/>
              <a:t>, partially </a:t>
            </a:r>
            <a:r>
              <a:rPr lang="en-US" dirty="0" err="1"/>
              <a:t>dehydronated</a:t>
            </a:r>
            <a:r>
              <a:rPr lang="en-US" dirty="0"/>
              <a:t> amines, </a:t>
            </a:r>
            <a:r>
              <a:rPr lang="en-US" dirty="0" err="1"/>
              <a:t>phosphanes</a:t>
            </a:r>
            <a:r>
              <a:rPr lang="en-US" dirty="0"/>
              <a:t>, </a:t>
            </a:r>
            <a:r>
              <a:rPr lang="en-US" i="1" dirty="0"/>
              <a:t>etc.</a:t>
            </a:r>
          </a:p>
          <a:p>
            <a:r>
              <a:rPr lang="en-US" dirty="0"/>
              <a:t>In its complexes, hydrogen is always treated as anionic</a:t>
            </a:r>
            <a:r>
              <a:rPr lang="en-US" b="1" dirty="0"/>
              <a:t>. '</a:t>
            </a:r>
            <a:r>
              <a:rPr lang="en-US" b="1" dirty="0" err="1"/>
              <a:t>Hydrido</a:t>
            </a:r>
            <a:r>
              <a:rPr lang="en-US" b="1" dirty="0"/>
              <a:t>' is used for </a:t>
            </a:r>
            <a:r>
              <a:rPr lang="en-US" dirty="0"/>
              <a:t>hydrogen coordinating to all elements including boron.</a:t>
            </a:r>
          </a:p>
        </p:txBody>
      </p:sp>
    </p:spTree>
    <p:extLst>
      <p:ext uri="{BB962C8B-B14F-4D97-AF65-F5344CB8AC3E}">
        <p14:creationId xmlns:p14="http://schemas.microsoft.com/office/powerpoint/2010/main" val="3176883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i="1" dirty="0"/>
          </a:p>
        </p:txBody>
      </p:sp>
      <p:sp>
        <p:nvSpPr>
          <p:cNvPr id="3" name="Content Placeholder 2"/>
          <p:cNvSpPr>
            <a:spLocks noGrp="1"/>
          </p:cNvSpPr>
          <p:nvPr>
            <p:ph idx="1"/>
          </p:nvPr>
        </p:nvSpPr>
        <p:spPr/>
        <p:txBody>
          <a:bodyPr>
            <a:normAutofit fontScale="85000" lnSpcReduction="20000"/>
          </a:bodyPr>
          <a:lstStyle/>
          <a:p>
            <a:r>
              <a:rPr lang="en-US" dirty="0"/>
              <a:t>(ii) Names of neutral and cationic </a:t>
            </a:r>
            <a:r>
              <a:rPr lang="en-US" dirty="0" err="1"/>
              <a:t>ligand</a:t>
            </a:r>
            <a:r>
              <a:rPr lang="en-US" dirty="0"/>
              <a:t> names, including organic </a:t>
            </a:r>
            <a:r>
              <a:rPr lang="en-US" dirty="0" err="1"/>
              <a:t>ligands</a:t>
            </a:r>
            <a:r>
              <a:rPr lang="en-US" dirty="0"/>
              <a:t>, are used without modification (even if they carry the endings '</a:t>
            </a:r>
            <a:r>
              <a:rPr lang="en-US" dirty="0" err="1"/>
              <a:t>ide</a:t>
            </a:r>
            <a:r>
              <a:rPr lang="en-US" dirty="0"/>
              <a:t>', '</a:t>
            </a:r>
            <a:r>
              <a:rPr lang="en-US" dirty="0" err="1"/>
              <a:t>ite</a:t>
            </a:r>
            <a:r>
              <a:rPr lang="en-US" dirty="0"/>
              <a:t>' or 'ate').</a:t>
            </a:r>
          </a:p>
          <a:p>
            <a:r>
              <a:rPr lang="en-US" dirty="0"/>
              <a:t>(iii) Enclosing marks are required for neutral and cationic </a:t>
            </a:r>
            <a:r>
              <a:rPr lang="en-US" dirty="0" err="1"/>
              <a:t>ligand</a:t>
            </a:r>
            <a:r>
              <a:rPr lang="en-US" dirty="0"/>
              <a:t> names, for inorganic  anionic </a:t>
            </a:r>
            <a:r>
              <a:rPr lang="en-US" dirty="0" err="1"/>
              <a:t>ligands</a:t>
            </a:r>
            <a:r>
              <a:rPr lang="en-US" dirty="0"/>
              <a:t> containing numerical prefixes (such as </a:t>
            </a:r>
            <a:r>
              <a:rPr lang="en-US" dirty="0" err="1"/>
              <a:t>triphosphato</a:t>
            </a:r>
            <a:r>
              <a:rPr lang="en-US" dirty="0"/>
              <a:t>), for any compositional name (such as carbon disulfide), for any substituted organic </a:t>
            </a:r>
            <a:r>
              <a:rPr lang="en-US" dirty="0" err="1"/>
              <a:t>ligand</a:t>
            </a:r>
            <a:r>
              <a:rPr lang="en-US" dirty="0"/>
              <a:t>.</a:t>
            </a:r>
          </a:p>
          <a:p>
            <a:r>
              <a:rPr lang="en-US" dirty="0"/>
              <a:t>However, common </a:t>
            </a:r>
            <a:r>
              <a:rPr lang="en-US" dirty="0" err="1"/>
              <a:t>ligands</a:t>
            </a:r>
            <a:r>
              <a:rPr lang="en-US" dirty="0"/>
              <a:t> such as aqua, ammine, carbonyl, </a:t>
            </a:r>
            <a:r>
              <a:rPr lang="en-US" dirty="0" err="1"/>
              <a:t>nitrosyl</a:t>
            </a:r>
            <a:r>
              <a:rPr lang="en-US" dirty="0"/>
              <a:t>, methyl, ethyl, etc., do not require enclosing marks, unless there is ambiguity.</a:t>
            </a:r>
          </a:p>
        </p:txBody>
      </p:sp>
    </p:spTree>
    <p:extLst>
      <p:ext uri="{BB962C8B-B14F-4D97-AF65-F5344CB8AC3E}">
        <p14:creationId xmlns:p14="http://schemas.microsoft.com/office/powerpoint/2010/main" val="312859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55000" lnSpcReduction="20000"/>
          </a:bodyPr>
          <a:lstStyle/>
          <a:p>
            <a:r>
              <a:rPr lang="en-US" i="1" dirty="0"/>
              <a:t>Examples:</a:t>
            </a:r>
          </a:p>
          <a:p>
            <a:r>
              <a:rPr lang="en-US" i="1" dirty="0"/>
              <a:t>                       Formula                                               </a:t>
            </a:r>
            <a:r>
              <a:rPr lang="en-US" i="1" dirty="0" err="1"/>
              <a:t>Ligand</a:t>
            </a:r>
            <a:r>
              <a:rPr lang="en-US" i="1" dirty="0"/>
              <a:t> name</a:t>
            </a:r>
          </a:p>
          <a:p>
            <a:r>
              <a:rPr lang="en-US" dirty="0"/>
              <a:t>1.                     </a:t>
            </a:r>
            <a:r>
              <a:rPr lang="en-US" dirty="0" err="1"/>
              <a:t>Cl</a:t>
            </a:r>
            <a:r>
              <a:rPr lang="en-US" baseline="30000" dirty="0"/>
              <a:t>_                                                                                         </a:t>
            </a:r>
            <a:r>
              <a:rPr lang="en-US" dirty="0" err="1"/>
              <a:t>chlorido</a:t>
            </a:r>
            <a:endParaRPr lang="en-US" dirty="0"/>
          </a:p>
          <a:p>
            <a:r>
              <a:rPr lang="en-US" dirty="0"/>
              <a:t>2.                     CN</a:t>
            </a:r>
            <a:r>
              <a:rPr lang="en-US" baseline="30000" dirty="0"/>
              <a:t>_                                                                                       </a:t>
            </a:r>
            <a:r>
              <a:rPr lang="en-US" dirty="0" err="1"/>
              <a:t>cyanido</a:t>
            </a:r>
            <a:endParaRPr lang="en-US" dirty="0"/>
          </a:p>
          <a:p>
            <a:r>
              <a:rPr lang="en-US" dirty="0"/>
              <a:t>3.                      H</a:t>
            </a:r>
            <a:r>
              <a:rPr lang="en-US" baseline="30000" dirty="0"/>
              <a:t>_                                                                                         </a:t>
            </a:r>
            <a:r>
              <a:rPr lang="en-US" dirty="0" err="1"/>
              <a:t>hydrido</a:t>
            </a:r>
            <a:endParaRPr lang="en-US" dirty="0"/>
          </a:p>
          <a:p>
            <a:r>
              <a:rPr lang="en-US" dirty="0"/>
              <a:t>4.                      D</a:t>
            </a:r>
            <a:r>
              <a:rPr lang="en-US" baseline="30000" dirty="0"/>
              <a:t>_  </a:t>
            </a:r>
            <a:r>
              <a:rPr lang="en-US" dirty="0"/>
              <a:t>or  H</a:t>
            </a:r>
            <a:r>
              <a:rPr lang="en-US" baseline="30000" dirty="0"/>
              <a:t>_                                                                       </a:t>
            </a:r>
            <a:r>
              <a:rPr lang="en-US" dirty="0" err="1"/>
              <a:t>deuterido</a:t>
            </a:r>
            <a:r>
              <a:rPr lang="en-US" dirty="0"/>
              <a:t> or [2H]</a:t>
            </a:r>
            <a:r>
              <a:rPr lang="en-US" dirty="0" err="1"/>
              <a:t>hydrido</a:t>
            </a:r>
            <a:endParaRPr lang="en-US" dirty="0"/>
          </a:p>
          <a:p>
            <a:r>
              <a:rPr lang="en-US" dirty="0"/>
              <a:t>5.                       PhCH</a:t>
            </a:r>
            <a:r>
              <a:rPr lang="en-US" baseline="-25000" dirty="0"/>
              <a:t>2</a:t>
            </a:r>
            <a:r>
              <a:rPr lang="en-US" dirty="0"/>
              <a:t>CH</a:t>
            </a:r>
            <a:r>
              <a:rPr lang="en-US" baseline="-25000" dirty="0"/>
              <a:t>2</a:t>
            </a:r>
            <a:r>
              <a:rPr lang="en-US" dirty="0"/>
              <a:t>Se</a:t>
            </a:r>
            <a:r>
              <a:rPr lang="en-US" baseline="30000" dirty="0"/>
              <a:t>_                                                          </a:t>
            </a:r>
            <a:r>
              <a:rPr lang="en-US" dirty="0" err="1"/>
              <a:t>phenylethaneselanolato</a:t>
            </a:r>
            <a:endParaRPr lang="en-US" dirty="0"/>
          </a:p>
          <a:p>
            <a:r>
              <a:rPr lang="en-US" dirty="0"/>
              <a:t>6.                      </a:t>
            </a:r>
            <a:r>
              <a:rPr lang="en-US" dirty="0" err="1"/>
              <a:t>MeCOO</a:t>
            </a:r>
            <a:r>
              <a:rPr lang="en-US" baseline="30000" dirty="0"/>
              <a:t>_                                                                       </a:t>
            </a:r>
            <a:r>
              <a:rPr lang="en-US" dirty="0" err="1"/>
              <a:t>acetato</a:t>
            </a:r>
            <a:r>
              <a:rPr lang="en-US" dirty="0"/>
              <a:t> or </a:t>
            </a:r>
            <a:r>
              <a:rPr lang="en-US" dirty="0" err="1"/>
              <a:t>ethanoato</a:t>
            </a:r>
            <a:endParaRPr lang="en-US" dirty="0"/>
          </a:p>
          <a:p>
            <a:r>
              <a:rPr lang="en-US" dirty="0"/>
              <a:t>7.                     Me</a:t>
            </a:r>
            <a:r>
              <a:rPr lang="en-US" baseline="-25000" dirty="0"/>
              <a:t>2</a:t>
            </a:r>
            <a:r>
              <a:rPr lang="en-US" dirty="0"/>
              <a:t>N                                                      </a:t>
            </a:r>
            <a:r>
              <a:rPr lang="en-US" dirty="0" err="1"/>
              <a:t>dimethylazanido</a:t>
            </a:r>
            <a:r>
              <a:rPr lang="en-US" dirty="0"/>
              <a:t> or 						        </a:t>
            </a:r>
            <a:r>
              <a:rPr lang="en-US" dirty="0" err="1"/>
              <a:t>dimethylamido</a:t>
            </a:r>
            <a:endParaRPr lang="en-US" dirty="0"/>
          </a:p>
          <a:p>
            <a:r>
              <a:rPr lang="en-US" dirty="0"/>
              <a:t>8. 	            MeCONH</a:t>
            </a:r>
            <a:r>
              <a:rPr lang="en-US" baseline="-25000" dirty="0"/>
              <a:t>2</a:t>
            </a:r>
            <a:r>
              <a:rPr lang="en-US" dirty="0"/>
              <a:t>                                                 </a:t>
            </a:r>
            <a:r>
              <a:rPr lang="en-US" dirty="0" err="1"/>
              <a:t>acetamide</a:t>
            </a:r>
            <a:r>
              <a:rPr lang="en-US" dirty="0"/>
              <a:t> (not </a:t>
            </a:r>
            <a:r>
              <a:rPr lang="en-US" dirty="0" err="1"/>
              <a:t>acetamido</a:t>
            </a:r>
            <a:r>
              <a:rPr lang="en-US" dirty="0"/>
              <a:t>)</a:t>
            </a:r>
          </a:p>
          <a:p>
            <a:r>
              <a:rPr lang="en-US" dirty="0"/>
              <a:t>9.                      </a:t>
            </a:r>
            <a:r>
              <a:rPr lang="en-US" dirty="0" err="1"/>
              <a:t>MeCONH</a:t>
            </a:r>
            <a:r>
              <a:rPr lang="en-US" baseline="30000" dirty="0"/>
              <a:t>_                                                                       </a:t>
            </a:r>
            <a:r>
              <a:rPr lang="en-US" dirty="0" err="1"/>
              <a:t>acetylazanido</a:t>
            </a:r>
            <a:r>
              <a:rPr lang="en-US" dirty="0"/>
              <a:t> or </a:t>
            </a:r>
            <a:r>
              <a:rPr lang="en-US" dirty="0" err="1"/>
              <a:t>acetylamido</a:t>
            </a:r>
            <a:r>
              <a:rPr lang="en-US" dirty="0"/>
              <a:t> 					         (not  </a:t>
            </a:r>
            <a:r>
              <a:rPr lang="en-US" dirty="0" err="1"/>
              <a:t>acetamido</a:t>
            </a:r>
            <a:r>
              <a:rPr lang="en-US" dirty="0"/>
              <a:t>)</a:t>
            </a:r>
          </a:p>
          <a:p>
            <a:r>
              <a:rPr lang="en-US" dirty="0"/>
              <a:t>10.                    MeNH</a:t>
            </a:r>
            <a:r>
              <a:rPr lang="en-US" baseline="-25000" dirty="0"/>
              <a:t>2</a:t>
            </a:r>
            <a:r>
              <a:rPr lang="en-US" dirty="0"/>
              <a:t>                                                     </a:t>
            </a:r>
            <a:r>
              <a:rPr lang="en-US" dirty="0" err="1"/>
              <a:t>methanamine</a:t>
            </a:r>
            <a:endParaRPr lang="en-US" dirty="0"/>
          </a:p>
          <a:p>
            <a:r>
              <a:rPr lang="en-US" dirty="0"/>
              <a:t>11.                    </a:t>
            </a:r>
            <a:r>
              <a:rPr lang="en-US" dirty="0" err="1"/>
              <a:t>MeNH</a:t>
            </a:r>
            <a:r>
              <a:rPr lang="en-US" dirty="0"/>
              <a:t>                                                       </a:t>
            </a:r>
            <a:r>
              <a:rPr lang="en-US" dirty="0" err="1"/>
              <a:t>methylazanido</a:t>
            </a:r>
            <a:r>
              <a:rPr lang="en-US" dirty="0"/>
              <a:t> or 						          </a:t>
            </a:r>
            <a:r>
              <a:rPr lang="en-US" dirty="0" err="1"/>
              <a:t>methanaminido</a:t>
            </a:r>
            <a:endParaRPr lang="en-US" dirty="0"/>
          </a:p>
          <a:p>
            <a:r>
              <a:rPr lang="en-US" dirty="0"/>
              <a:t>12.                    MePH</a:t>
            </a:r>
            <a:r>
              <a:rPr lang="en-US" baseline="-25000" dirty="0"/>
              <a:t>2</a:t>
            </a:r>
            <a:r>
              <a:rPr lang="en-US" dirty="0"/>
              <a:t>                                                     </a:t>
            </a:r>
            <a:r>
              <a:rPr lang="en-US" dirty="0" err="1"/>
              <a:t>methylphosphane</a:t>
            </a:r>
            <a:endParaRPr lang="en-US" dirty="0"/>
          </a:p>
          <a:p>
            <a:r>
              <a:rPr lang="en-US" dirty="0"/>
              <a:t>13.                     </a:t>
            </a:r>
            <a:r>
              <a:rPr lang="en-US" dirty="0" err="1"/>
              <a:t>MePH</a:t>
            </a:r>
            <a:r>
              <a:rPr lang="en-US" baseline="30000" dirty="0"/>
              <a:t>_                                                                             </a:t>
            </a:r>
            <a:r>
              <a:rPr lang="en-US" dirty="0" err="1"/>
              <a:t>methylphosphanido</a:t>
            </a:r>
            <a:endParaRPr lang="en-US" dirty="0"/>
          </a:p>
          <a:p>
            <a:r>
              <a:rPr lang="en-US" dirty="0"/>
              <a:t>14.                     </a:t>
            </a:r>
            <a:r>
              <a:rPr lang="en-US" dirty="0" err="1"/>
              <a:t>MeOS</a:t>
            </a:r>
            <a:r>
              <a:rPr lang="en-US" dirty="0"/>
              <a:t>(O)OH                                           methyl hydrogen sulfite</a:t>
            </a:r>
          </a:p>
          <a:p>
            <a:r>
              <a:rPr lang="en-US" dirty="0"/>
              <a:t>15.                     </a:t>
            </a:r>
            <a:r>
              <a:rPr lang="en-US" dirty="0" err="1"/>
              <a:t>MeOS</a:t>
            </a:r>
            <a:r>
              <a:rPr lang="en-US" dirty="0"/>
              <a:t>(O)O</a:t>
            </a:r>
            <a:r>
              <a:rPr lang="en-US" baseline="30000" dirty="0"/>
              <a:t>_                                                             </a:t>
            </a:r>
            <a:r>
              <a:rPr lang="en-US" dirty="0"/>
              <a:t>methyl </a:t>
            </a:r>
            <a:r>
              <a:rPr lang="en-US" dirty="0" err="1"/>
              <a:t>sulfito</a:t>
            </a:r>
            <a:r>
              <a:rPr lang="en-US" dirty="0"/>
              <a:t>, or   			                                                            </a:t>
            </a:r>
            <a:r>
              <a:rPr lang="en-US" dirty="0" err="1"/>
              <a:t>methoxidodioxidosulfato</a:t>
            </a:r>
            <a:r>
              <a:rPr lang="en-US" dirty="0"/>
              <a:t>(1-)</a:t>
            </a:r>
          </a:p>
        </p:txBody>
      </p:sp>
    </p:spTree>
    <p:extLst>
      <p:ext uri="{BB962C8B-B14F-4D97-AF65-F5344CB8AC3E}">
        <p14:creationId xmlns:p14="http://schemas.microsoft.com/office/powerpoint/2010/main" val="3624897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ox(i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ox(i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ox(i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ox(in)">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ox(in)">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ox(in)">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ox(in)">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box(in)">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box(in)">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box(in)">
                                      <p:cBhvr>
                                        <p:cTn id="82" dur="5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box(in)">
                                      <p:cBhvr>
                                        <p:cTn id="87"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524000" y="457200"/>
            <a:ext cx="5715000" cy="990600"/>
          </a:xfrm>
        </p:spPr>
        <p:txBody>
          <a:bodyPr/>
          <a:lstStyle/>
          <a:p>
            <a:pPr>
              <a:spcBef>
                <a:spcPct val="20000"/>
              </a:spcBef>
            </a:pPr>
            <a:r>
              <a:rPr lang="en-US">
                <a:latin typeface="Times New Roman" pitchFamily="18" charset="0"/>
                <a:cs typeface="Times New Roman" pitchFamily="18" charset="0"/>
              </a:rPr>
              <a:t>Exercise</a:t>
            </a:r>
          </a:p>
        </p:txBody>
      </p:sp>
      <p:sp>
        <p:nvSpPr>
          <p:cNvPr id="67587" name="Rectangle 3"/>
          <p:cNvSpPr>
            <a:spLocks noGrp="1" noChangeArrowheads="1"/>
          </p:cNvSpPr>
          <p:nvPr>
            <p:ph type="body" sz="half" idx="1"/>
          </p:nvPr>
        </p:nvSpPr>
        <p:spPr>
          <a:xfrm>
            <a:off x="533400" y="1524000"/>
            <a:ext cx="7848600" cy="2438400"/>
          </a:xfrm>
        </p:spPr>
        <p:txBody>
          <a:bodyPr/>
          <a:lstStyle/>
          <a:p>
            <a:pPr marL="463550" indent="-463550">
              <a:buFontTx/>
              <a:buNone/>
            </a:pPr>
            <a:r>
              <a:rPr lang="en-US"/>
              <a:t>	</a:t>
            </a:r>
            <a:r>
              <a:rPr lang="en-US" sz="3200">
                <a:latin typeface="Times New Roman" pitchFamily="18" charset="0"/>
                <a:cs typeface="Times New Roman" pitchFamily="18" charset="0"/>
              </a:rPr>
              <a:t>Name the following coordination compounds.</a:t>
            </a:r>
          </a:p>
          <a:p>
            <a:pPr marL="900113" lvl="1" indent="-434975">
              <a:buFontTx/>
              <a:buNone/>
            </a:pPr>
            <a:endParaRPr lang="en-US" sz="2000">
              <a:latin typeface="Times New Roman" pitchFamily="18" charset="0"/>
              <a:cs typeface="Times New Roman" pitchFamily="18" charset="0"/>
            </a:endParaRPr>
          </a:p>
          <a:p>
            <a:pPr marL="900113" lvl="1" indent="-434975">
              <a:buFontTx/>
              <a:buNone/>
            </a:pPr>
            <a:r>
              <a:rPr lang="en-US" sz="3200">
                <a:latin typeface="Times New Roman" pitchFamily="18" charset="0"/>
                <a:cs typeface="Times New Roman" pitchFamily="18" charset="0"/>
              </a:rPr>
              <a:t>(a) [Co(H</a:t>
            </a:r>
            <a:r>
              <a:rPr lang="en-US" sz="3200" baseline="-12000">
                <a:latin typeface="Times New Roman" pitchFamily="18" charset="0"/>
                <a:cs typeface="Times New Roman" pitchFamily="18" charset="0"/>
              </a:rPr>
              <a:t>2</a:t>
            </a:r>
            <a:r>
              <a:rPr lang="en-US" sz="3200">
                <a:latin typeface="Times New Roman" pitchFamily="18" charset="0"/>
                <a:cs typeface="Times New Roman" pitchFamily="18" charset="0"/>
              </a:rPr>
              <a:t>O)</a:t>
            </a:r>
            <a:r>
              <a:rPr lang="en-US" sz="3200" baseline="-12000">
                <a:latin typeface="Times New Roman" pitchFamily="18" charset="0"/>
                <a:cs typeface="Times New Roman" pitchFamily="18" charset="0"/>
              </a:rPr>
              <a:t>6</a:t>
            </a:r>
            <a:r>
              <a:rPr lang="en-US" sz="3200">
                <a:latin typeface="Times New Roman" pitchFamily="18" charset="0"/>
                <a:cs typeface="Times New Roman" pitchFamily="18" charset="0"/>
              </a:rPr>
              <a:t>]Br</a:t>
            </a:r>
            <a:r>
              <a:rPr lang="en-US" sz="3200" baseline="-12000">
                <a:latin typeface="Times New Roman" pitchFamily="18" charset="0"/>
                <a:cs typeface="Times New Roman" pitchFamily="18" charset="0"/>
              </a:rPr>
              <a:t>3	</a:t>
            </a:r>
            <a:r>
              <a:rPr lang="en-US" sz="3200">
                <a:latin typeface="Times New Roman" pitchFamily="18" charset="0"/>
                <a:cs typeface="Times New Roman" pitchFamily="18" charset="0"/>
              </a:rPr>
              <a:t> 	(b) Na</a:t>
            </a:r>
            <a:r>
              <a:rPr lang="en-US" sz="3200" baseline="-12000">
                <a:latin typeface="Times New Roman" pitchFamily="18" charset="0"/>
                <a:cs typeface="Times New Roman" pitchFamily="18" charset="0"/>
              </a:rPr>
              <a:t>2</a:t>
            </a:r>
            <a:r>
              <a:rPr lang="en-US" sz="3200">
                <a:latin typeface="Times New Roman" pitchFamily="18" charset="0"/>
                <a:cs typeface="Times New Roman" pitchFamily="18" charset="0"/>
              </a:rPr>
              <a:t>[PtCl</a:t>
            </a:r>
            <a:r>
              <a:rPr lang="en-US" sz="3200" baseline="-12000">
                <a:latin typeface="Times New Roman" pitchFamily="18" charset="0"/>
                <a:cs typeface="Times New Roman" pitchFamily="18" charset="0"/>
              </a:rPr>
              <a:t>4</a:t>
            </a:r>
            <a:r>
              <a:rPr lang="en-US" sz="3200">
                <a:latin typeface="Times New Roman" pitchFamily="18" charset="0"/>
                <a:cs typeface="Times New Roman" pitchFamily="18" charset="0"/>
              </a:rPr>
              <a:t>]</a:t>
            </a:r>
          </a:p>
        </p:txBody>
      </p:sp>
      <p:sp>
        <p:nvSpPr>
          <p:cNvPr id="67588" name="Rectangle 4"/>
          <p:cNvSpPr>
            <a:spLocks noGrp="1" noChangeArrowheads="1"/>
          </p:cNvSpPr>
          <p:nvPr>
            <p:ph type="body" sz="half" idx="2"/>
          </p:nvPr>
        </p:nvSpPr>
        <p:spPr>
          <a:xfrm>
            <a:off x="838200" y="4724400"/>
            <a:ext cx="7924800" cy="1503363"/>
          </a:xfrm>
        </p:spPr>
        <p:txBody>
          <a:bodyPr/>
          <a:lstStyle/>
          <a:p>
            <a:pPr>
              <a:buFontTx/>
              <a:buNone/>
            </a:pPr>
            <a:r>
              <a:rPr lang="en-US" sz="3200">
                <a:solidFill>
                  <a:srgbClr val="009900"/>
                </a:solidFill>
                <a:latin typeface="Times New Roman" pitchFamily="18" charset="0"/>
                <a:cs typeface="Times New Roman" pitchFamily="18" charset="0"/>
              </a:rPr>
              <a:t>(a) Hexaaquacobalt(III) bromide</a:t>
            </a:r>
          </a:p>
          <a:p>
            <a:pPr>
              <a:buFontTx/>
              <a:buNone/>
            </a:pPr>
            <a:r>
              <a:rPr lang="en-US" sz="3200">
                <a:solidFill>
                  <a:srgbClr val="009900"/>
                </a:solidFill>
                <a:latin typeface="Times New Roman" pitchFamily="18" charset="0"/>
                <a:cs typeface="Times New Roman" pitchFamily="18" charset="0"/>
              </a:rPr>
              <a:t>(b) Sodium tetrachloroplatinate(II)</a:t>
            </a:r>
          </a:p>
        </p:txBody>
      </p:sp>
    </p:spTree>
    <p:extLst>
      <p:ext uri="{BB962C8B-B14F-4D97-AF65-F5344CB8AC3E}">
        <p14:creationId xmlns:p14="http://schemas.microsoft.com/office/powerpoint/2010/main" val="2919508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wipe(left)">
                                      <p:cBhvr>
                                        <p:cTn id="7" dur="500"/>
                                        <p:tgtEl>
                                          <p:spTgt spid="675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587">
                                            <p:txEl>
                                              <p:pRg st="0" end="0"/>
                                            </p:txEl>
                                          </p:spTgt>
                                        </p:tgtEl>
                                        <p:attrNameLst>
                                          <p:attrName>style.visibility</p:attrName>
                                        </p:attrNameLst>
                                      </p:cBhvr>
                                      <p:to>
                                        <p:strVal val="visible"/>
                                      </p:to>
                                    </p:set>
                                    <p:animEffect transition="in" filter="wipe(left)">
                                      <p:cBhvr>
                                        <p:cTn id="12" dur="500"/>
                                        <p:tgtEl>
                                          <p:spTgt spid="6758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7587">
                                            <p:txEl>
                                              <p:pRg st="2" end="2"/>
                                            </p:txEl>
                                          </p:spTgt>
                                        </p:tgtEl>
                                        <p:attrNameLst>
                                          <p:attrName>style.visibility</p:attrName>
                                        </p:attrNameLst>
                                      </p:cBhvr>
                                      <p:to>
                                        <p:strVal val="visible"/>
                                      </p:to>
                                    </p:set>
                                    <p:animEffect transition="in" filter="wipe(left)">
                                      <p:cBhvr>
                                        <p:cTn id="17" dur="500"/>
                                        <p:tgtEl>
                                          <p:spTgt spid="675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7588">
                                            <p:txEl>
                                              <p:pRg st="0" end="0"/>
                                            </p:txEl>
                                          </p:spTgt>
                                        </p:tgtEl>
                                        <p:attrNameLst>
                                          <p:attrName>style.visibility</p:attrName>
                                        </p:attrNameLst>
                                      </p:cBhvr>
                                      <p:to>
                                        <p:strVal val="visible"/>
                                      </p:to>
                                    </p:set>
                                    <p:animEffect transition="in" filter="wipe(left)">
                                      <p:cBhvr>
                                        <p:cTn id="22" dur="2000"/>
                                        <p:tgtEl>
                                          <p:spTgt spid="6758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7588">
                                            <p:txEl>
                                              <p:pRg st="1" end="1"/>
                                            </p:txEl>
                                          </p:spTgt>
                                        </p:tgtEl>
                                        <p:attrNameLst>
                                          <p:attrName>style.visibility</p:attrName>
                                        </p:attrNameLst>
                                      </p:cBhvr>
                                      <p:to>
                                        <p:strVal val="visible"/>
                                      </p:to>
                                    </p:set>
                                    <p:animEffect transition="in" filter="wipe(left)">
                                      <p:cBhvr>
                                        <p:cTn id="27" dur="2000"/>
                                        <p:tgtEl>
                                          <p:spTgt spid="675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animBg="1" autoUpdateAnimBg="0"/>
      <p:bldP spid="67587" grpId="0" build="p" autoUpdateAnimBg="0"/>
      <p:bldP spid="67588"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spcBef>
                <a:spcPct val="20000"/>
              </a:spcBef>
            </a:pPr>
            <a:r>
              <a:rPr lang="en-US" altLang="en-US" sz="4000">
                <a:latin typeface="Times New Roman" pitchFamily="18" charset="0"/>
                <a:cs typeface="Times New Roman" pitchFamily="18" charset="0"/>
              </a:rPr>
              <a:t>Some Classes of Isomers</a:t>
            </a:r>
            <a:endParaRPr lang="en-US" sz="4000">
              <a:latin typeface="Times New Roman" pitchFamily="18" charset="0"/>
              <a:cs typeface="Times New Roman" pitchFamily="18" charset="0"/>
            </a:endParaRPr>
          </a:p>
        </p:txBody>
      </p:sp>
      <p:sp>
        <p:nvSpPr>
          <p:cNvPr id="6963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69636" name="Picture 4" descr="ch21_27"/>
          <p:cNvPicPr>
            <a:picLocks noChangeAspect="1" noChangeArrowheads="1"/>
          </p:cNvPicPr>
          <p:nvPr/>
        </p:nvPicPr>
        <p:blipFill>
          <a:blip r:embed="rId3"/>
          <a:srcRect/>
          <a:stretch>
            <a:fillRect/>
          </a:stretch>
        </p:blipFill>
        <p:spPr bwMode="auto">
          <a:xfrm>
            <a:off x="990600" y="1676400"/>
            <a:ext cx="7239000" cy="4378325"/>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1926345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Structural Isomerism</a:t>
            </a:r>
          </a:p>
        </p:txBody>
      </p:sp>
      <p:sp>
        <p:nvSpPr>
          <p:cNvPr id="71683" name="Rectangle 3"/>
          <p:cNvSpPr>
            <a:spLocks noGrp="1" noChangeArrowheads="1"/>
          </p:cNvSpPr>
          <p:nvPr>
            <p:ph type="body" idx="1"/>
          </p:nvPr>
        </p:nvSpPr>
        <p:spPr>
          <a:xfrm>
            <a:off x="457200" y="1752600"/>
            <a:ext cx="8229600" cy="4343400"/>
          </a:xfrm>
        </p:spPr>
        <p:txBody>
          <a:bodyPr/>
          <a:lstStyle/>
          <a:p>
            <a:pPr marL="457200" indent="-457200"/>
            <a:r>
              <a:rPr lang="en-US" sz="3600">
                <a:latin typeface="Times New Roman" pitchFamily="18" charset="0"/>
                <a:cs typeface="Times New Roman" pitchFamily="18" charset="0"/>
              </a:rPr>
              <a:t>Coordination Isomerism:</a:t>
            </a:r>
          </a:p>
          <a:p>
            <a:pPr marL="914400" lvl="1" indent="-457200">
              <a:buFont typeface="Wingdings" pitchFamily="2" charset="2"/>
              <a:buChar char="§"/>
            </a:pPr>
            <a:r>
              <a:rPr lang="en-US" sz="3200">
                <a:latin typeface="Times New Roman" pitchFamily="18" charset="0"/>
                <a:cs typeface="Times New Roman" pitchFamily="18" charset="0"/>
              </a:rPr>
              <a:t>Composition of the complex ion varies.</a:t>
            </a:r>
          </a:p>
          <a:p>
            <a:pPr marL="914400" lvl="1" indent="-457200">
              <a:buFont typeface="Wingdings" pitchFamily="2" charset="2"/>
              <a:buChar char="§"/>
            </a:pPr>
            <a:r>
              <a:rPr lang="en-US" sz="3200">
                <a:latin typeface="Times New Roman" pitchFamily="18" charset="0"/>
                <a:cs typeface="Times New Roman" pitchFamily="18" charset="0"/>
              </a:rPr>
              <a:t>[Cr(NH</a:t>
            </a:r>
            <a:r>
              <a:rPr lang="en-US" sz="3200" baseline="-25000">
                <a:latin typeface="Times New Roman" pitchFamily="18" charset="0"/>
                <a:cs typeface="Times New Roman" pitchFamily="18" charset="0"/>
              </a:rPr>
              <a:t>3</a:t>
            </a:r>
            <a:r>
              <a:rPr lang="en-US" sz="3200">
                <a:latin typeface="Times New Roman" pitchFamily="18" charset="0"/>
                <a:cs typeface="Times New Roman" pitchFamily="18" charset="0"/>
              </a:rPr>
              <a:t>)</a:t>
            </a:r>
            <a:r>
              <a:rPr lang="en-US" sz="3200" baseline="-25000">
                <a:latin typeface="Times New Roman" pitchFamily="18" charset="0"/>
                <a:cs typeface="Times New Roman" pitchFamily="18" charset="0"/>
              </a:rPr>
              <a:t>5</a:t>
            </a:r>
            <a:r>
              <a:rPr lang="en-US" sz="3200">
                <a:latin typeface="Times New Roman" pitchFamily="18" charset="0"/>
                <a:cs typeface="Times New Roman" pitchFamily="18" charset="0"/>
              </a:rPr>
              <a:t>SO</a:t>
            </a:r>
            <a:r>
              <a:rPr lang="en-US" sz="3200" baseline="-25000">
                <a:latin typeface="Times New Roman" pitchFamily="18" charset="0"/>
                <a:cs typeface="Times New Roman" pitchFamily="18" charset="0"/>
              </a:rPr>
              <a:t>4</a:t>
            </a:r>
            <a:r>
              <a:rPr lang="en-US" sz="3200">
                <a:latin typeface="Times New Roman" pitchFamily="18" charset="0"/>
                <a:cs typeface="Times New Roman" pitchFamily="18" charset="0"/>
              </a:rPr>
              <a:t>]Br and [Cr(NH</a:t>
            </a:r>
            <a:r>
              <a:rPr lang="en-US" sz="3200" baseline="-25000">
                <a:latin typeface="Times New Roman" pitchFamily="18" charset="0"/>
                <a:cs typeface="Times New Roman" pitchFamily="18" charset="0"/>
              </a:rPr>
              <a:t>3</a:t>
            </a:r>
            <a:r>
              <a:rPr lang="en-US" sz="3200">
                <a:latin typeface="Times New Roman" pitchFamily="18" charset="0"/>
                <a:cs typeface="Times New Roman" pitchFamily="18" charset="0"/>
              </a:rPr>
              <a:t>)</a:t>
            </a:r>
            <a:r>
              <a:rPr lang="en-US" sz="3200" baseline="-25000">
                <a:latin typeface="Times New Roman" pitchFamily="18" charset="0"/>
                <a:cs typeface="Times New Roman" pitchFamily="18" charset="0"/>
              </a:rPr>
              <a:t>5</a:t>
            </a:r>
            <a:r>
              <a:rPr lang="en-US" sz="3200">
                <a:latin typeface="Times New Roman" pitchFamily="18" charset="0"/>
                <a:cs typeface="Times New Roman" pitchFamily="18" charset="0"/>
              </a:rPr>
              <a:t>Br]SO</a:t>
            </a:r>
            <a:r>
              <a:rPr lang="en-US" sz="3200" baseline="-25000">
                <a:latin typeface="Times New Roman" pitchFamily="18" charset="0"/>
                <a:cs typeface="Times New Roman" pitchFamily="18" charset="0"/>
              </a:rPr>
              <a:t>4</a:t>
            </a:r>
            <a:r>
              <a:rPr lang="en-US" sz="3200">
                <a:latin typeface="Times New Roman" pitchFamily="18" charset="0"/>
                <a:cs typeface="Times New Roman" pitchFamily="18" charset="0"/>
              </a:rPr>
              <a:t> </a:t>
            </a:r>
          </a:p>
          <a:p>
            <a:pPr marL="457200" indent="-457200"/>
            <a:r>
              <a:rPr lang="en-US" sz="3600">
                <a:latin typeface="Times New Roman" pitchFamily="18" charset="0"/>
                <a:cs typeface="Times New Roman" pitchFamily="18" charset="0"/>
              </a:rPr>
              <a:t>Linkage Isomerism:</a:t>
            </a:r>
          </a:p>
          <a:p>
            <a:pPr marL="914400" lvl="1" indent="-457200">
              <a:buFont typeface="Wingdings" pitchFamily="2" charset="2"/>
              <a:buChar char="§"/>
            </a:pPr>
            <a:r>
              <a:rPr lang="en-US" sz="3200">
                <a:latin typeface="Times New Roman" pitchFamily="18" charset="0"/>
                <a:cs typeface="Times New Roman" pitchFamily="18" charset="0"/>
              </a:rPr>
              <a:t>Composition of the complex ion is the same, but the point of attachment of at least one of the ligands differs.</a:t>
            </a:r>
          </a:p>
        </p:txBody>
      </p:sp>
      <p:sp>
        <p:nvSpPr>
          <p:cNvPr id="7168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3350597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wipe(left)">
                                      <p:cBhvr>
                                        <p:cTn id="7" dur="500"/>
                                        <p:tgtEl>
                                          <p:spTgt spid="716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683">
                                            <p:txEl>
                                              <p:pRg st="1" end="1"/>
                                            </p:txEl>
                                          </p:spTgt>
                                        </p:tgtEl>
                                        <p:attrNameLst>
                                          <p:attrName>style.visibility</p:attrName>
                                        </p:attrNameLst>
                                      </p:cBhvr>
                                      <p:to>
                                        <p:strVal val="visible"/>
                                      </p:to>
                                    </p:set>
                                    <p:animEffect transition="in" filter="wipe(left)">
                                      <p:cBhvr>
                                        <p:cTn id="12" dur="500"/>
                                        <p:tgtEl>
                                          <p:spTgt spid="716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683">
                                            <p:txEl>
                                              <p:pRg st="2" end="2"/>
                                            </p:txEl>
                                          </p:spTgt>
                                        </p:tgtEl>
                                        <p:attrNameLst>
                                          <p:attrName>style.visibility</p:attrName>
                                        </p:attrNameLst>
                                      </p:cBhvr>
                                      <p:to>
                                        <p:strVal val="visible"/>
                                      </p:to>
                                    </p:set>
                                    <p:animEffect transition="in" filter="wipe(left)">
                                      <p:cBhvr>
                                        <p:cTn id="17" dur="500"/>
                                        <p:tgtEl>
                                          <p:spTgt spid="716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683">
                                            <p:txEl>
                                              <p:pRg st="3" end="3"/>
                                            </p:txEl>
                                          </p:spTgt>
                                        </p:tgtEl>
                                        <p:attrNameLst>
                                          <p:attrName>style.visibility</p:attrName>
                                        </p:attrNameLst>
                                      </p:cBhvr>
                                      <p:to>
                                        <p:strVal val="visible"/>
                                      </p:to>
                                    </p:set>
                                    <p:animEffect transition="in" filter="wipe(left)">
                                      <p:cBhvr>
                                        <p:cTn id="22" dur="500"/>
                                        <p:tgtEl>
                                          <p:spTgt spid="716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1683">
                                            <p:txEl>
                                              <p:pRg st="4" end="4"/>
                                            </p:txEl>
                                          </p:spTgt>
                                        </p:tgtEl>
                                        <p:attrNameLst>
                                          <p:attrName>style.visibility</p:attrName>
                                        </p:attrNameLst>
                                      </p:cBhvr>
                                      <p:to>
                                        <p:strVal val="visible"/>
                                      </p:to>
                                    </p:set>
                                    <p:animEffect transition="in" filter="wipe(left)">
                                      <p:cBhvr>
                                        <p:cTn id="27" dur="500"/>
                                        <p:tgtEl>
                                          <p:spTgt spid="716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533400"/>
            <a:ext cx="8077200" cy="685800"/>
          </a:xfrm>
        </p:spPr>
        <p:txBody>
          <a:bodyPr/>
          <a:lstStyle/>
          <a:p>
            <a:pPr>
              <a:spcBef>
                <a:spcPct val="20000"/>
              </a:spcBef>
            </a:pPr>
            <a:r>
              <a:rPr lang="en-US" sz="3600">
                <a:latin typeface="Times New Roman" pitchFamily="18" charset="0"/>
                <a:cs typeface="Times New Roman" pitchFamily="18" charset="0"/>
              </a:rPr>
              <a:t>Linkage Isomerism of NO</a:t>
            </a:r>
            <a:r>
              <a:rPr lang="en-US" sz="3600" baseline="-25000">
                <a:latin typeface="Times New Roman" pitchFamily="18" charset="0"/>
                <a:cs typeface="Times New Roman" pitchFamily="18" charset="0"/>
              </a:rPr>
              <a:t>2</a:t>
            </a:r>
            <a:r>
              <a:rPr lang="en-US" sz="3600" baseline="30000">
                <a:latin typeface="Times New Roman" pitchFamily="18" charset="0"/>
                <a:cs typeface="Times New Roman" pitchFamily="18" charset="0"/>
              </a:rPr>
              <a:t>–</a:t>
            </a:r>
          </a:p>
        </p:txBody>
      </p:sp>
      <p:sp>
        <p:nvSpPr>
          <p:cNvPr id="7373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73732" name="Picture 4" descr="ch21_28"/>
          <p:cNvPicPr>
            <a:picLocks noChangeAspect="1" noChangeArrowheads="1"/>
          </p:cNvPicPr>
          <p:nvPr/>
        </p:nvPicPr>
        <p:blipFill>
          <a:blip r:embed="rId3"/>
          <a:srcRect/>
          <a:stretch>
            <a:fillRect/>
          </a:stretch>
        </p:blipFill>
        <p:spPr bwMode="auto">
          <a:xfrm>
            <a:off x="2743200" y="1524000"/>
            <a:ext cx="3529013" cy="487680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2666483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a:spcBef>
                <a:spcPct val="20000"/>
              </a:spcBef>
            </a:pPr>
            <a:r>
              <a:rPr lang="en-US">
                <a:latin typeface="Times New Roman" pitchFamily="18" charset="0"/>
                <a:cs typeface="Times New Roman" pitchFamily="18" charset="0"/>
              </a:rPr>
              <a:t>Stereoisomerism</a:t>
            </a:r>
          </a:p>
        </p:txBody>
      </p:sp>
      <p:sp>
        <p:nvSpPr>
          <p:cNvPr id="75779" name="Rectangle 3"/>
          <p:cNvSpPr>
            <a:spLocks noGrp="1" noChangeArrowheads="1"/>
          </p:cNvSpPr>
          <p:nvPr>
            <p:ph type="body" idx="1"/>
          </p:nvPr>
        </p:nvSpPr>
        <p:spPr>
          <a:xfrm>
            <a:off x="457200" y="1752600"/>
            <a:ext cx="8229600" cy="4114800"/>
          </a:xfrm>
        </p:spPr>
        <p:txBody>
          <a:bodyPr/>
          <a:lstStyle/>
          <a:p>
            <a:pPr marL="457200" indent="-457200"/>
            <a:r>
              <a:rPr lang="en-US" sz="3600">
                <a:latin typeface="Times New Roman" pitchFamily="18" charset="0"/>
                <a:cs typeface="Times New Roman" pitchFamily="18" charset="0"/>
              </a:rPr>
              <a:t>Geometrical Isomerism (</a:t>
            </a:r>
            <a:r>
              <a:rPr lang="en-US" sz="3600" i="1">
                <a:latin typeface="Times New Roman" pitchFamily="18" charset="0"/>
                <a:cs typeface="Times New Roman" pitchFamily="18" charset="0"/>
              </a:rPr>
              <a:t>cis-trans</a:t>
            </a:r>
            <a:r>
              <a:rPr lang="en-US" sz="3600">
                <a:latin typeface="Times New Roman" pitchFamily="18" charset="0"/>
                <a:cs typeface="Times New Roman" pitchFamily="18" charset="0"/>
              </a:rPr>
              <a:t>):</a:t>
            </a:r>
          </a:p>
          <a:p>
            <a:pPr marL="915988" lvl="1" indent="-458788">
              <a:buFont typeface="Wingdings" pitchFamily="2" charset="2"/>
              <a:buChar char="§"/>
            </a:pPr>
            <a:r>
              <a:rPr lang="en-US" sz="3200">
                <a:latin typeface="Times New Roman" pitchFamily="18" charset="0"/>
                <a:cs typeface="Times New Roman" pitchFamily="18" charset="0"/>
              </a:rPr>
              <a:t>Atoms or groups of atoms can assume different positions around a rigid ring or bond.</a:t>
            </a:r>
          </a:p>
          <a:p>
            <a:pPr marL="915988" lvl="1" indent="-458788">
              <a:buFont typeface="Wingdings" pitchFamily="2" charset="2"/>
              <a:buChar char="§"/>
            </a:pPr>
            <a:r>
              <a:rPr lang="en-US" sz="3200" i="1">
                <a:latin typeface="Times New Roman" pitchFamily="18" charset="0"/>
                <a:cs typeface="Times New Roman" pitchFamily="18" charset="0"/>
              </a:rPr>
              <a:t>Cis</a:t>
            </a:r>
            <a:r>
              <a:rPr lang="en-US" sz="3200">
                <a:latin typeface="Times New Roman" pitchFamily="18" charset="0"/>
                <a:cs typeface="Times New Roman" pitchFamily="18" charset="0"/>
              </a:rPr>
              <a:t> – same side (next to each other)</a:t>
            </a:r>
          </a:p>
          <a:p>
            <a:pPr marL="915988" lvl="1" indent="-458788">
              <a:buFont typeface="Wingdings" pitchFamily="2" charset="2"/>
              <a:buChar char="§"/>
            </a:pPr>
            <a:r>
              <a:rPr lang="en-US" sz="3200" i="1">
                <a:latin typeface="Times New Roman" pitchFamily="18" charset="0"/>
                <a:cs typeface="Times New Roman" pitchFamily="18" charset="0"/>
              </a:rPr>
              <a:t>Trans</a:t>
            </a:r>
            <a:r>
              <a:rPr lang="en-US" sz="3200">
                <a:latin typeface="Times New Roman" pitchFamily="18" charset="0"/>
                <a:cs typeface="Times New Roman" pitchFamily="18" charset="0"/>
              </a:rPr>
              <a:t> – opposite sides (across from each other)</a:t>
            </a:r>
          </a:p>
        </p:txBody>
      </p:sp>
      <p:sp>
        <p:nvSpPr>
          <p:cNvPr id="7578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615063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wipe(left)">
                                      <p:cBhvr>
                                        <p:cTn id="12" dur="500"/>
                                        <p:tgtEl>
                                          <p:spTgt spid="757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Effect transition="in" filter="wipe(left)">
                                      <p:cBhvr>
                                        <p:cTn id="17" dur="500"/>
                                        <p:tgtEl>
                                          <p:spTgt spid="757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779">
                                            <p:txEl>
                                              <p:pRg st="3" end="3"/>
                                            </p:txEl>
                                          </p:spTgt>
                                        </p:tgtEl>
                                        <p:attrNameLst>
                                          <p:attrName>style.visibility</p:attrName>
                                        </p:attrNameLst>
                                      </p:cBhvr>
                                      <p:to>
                                        <p:strVal val="visible"/>
                                      </p:to>
                                    </p:set>
                                    <p:animEffect transition="in" filter="wipe(left)">
                                      <p:cBhvr>
                                        <p:cTn id="22" dur="500"/>
                                        <p:tgtEl>
                                          <p:spTgt spid="757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533400" y="304800"/>
            <a:ext cx="7848600" cy="1524000"/>
          </a:xfrm>
        </p:spPr>
        <p:txBody>
          <a:bodyPr>
            <a:normAutofit fontScale="90000"/>
          </a:bodyPr>
          <a:lstStyle/>
          <a:p>
            <a:pPr>
              <a:spcBef>
                <a:spcPct val="20000"/>
              </a:spcBef>
            </a:pPr>
            <a:r>
              <a:rPr lang="en-US" sz="3200">
                <a:latin typeface="Times New Roman" pitchFamily="18" charset="0"/>
                <a:cs typeface="Times New Roman" pitchFamily="18" charset="0"/>
              </a:rPr>
              <a:t>Geometrical (</a:t>
            </a:r>
            <a:r>
              <a:rPr lang="en-US" sz="3200" i="1">
                <a:latin typeface="Times New Roman" pitchFamily="18" charset="0"/>
                <a:cs typeface="Times New Roman" pitchFamily="18" charset="0"/>
              </a:rPr>
              <a:t>cis-trans</a:t>
            </a:r>
            <a:r>
              <a:rPr lang="en-US" sz="3200">
                <a:latin typeface="Times New Roman" pitchFamily="18" charset="0"/>
                <a:cs typeface="Times New Roman" pitchFamily="18" charset="0"/>
              </a:rPr>
              <a:t>) Isomerism for a Square Planar Compound</a:t>
            </a:r>
            <a:br>
              <a:rPr lang="en-US" sz="3200">
                <a:latin typeface="Times New Roman" pitchFamily="18" charset="0"/>
                <a:cs typeface="Times New Roman" pitchFamily="18" charset="0"/>
              </a:rPr>
            </a:br>
            <a:r>
              <a:rPr lang="en-US" sz="3200">
                <a:latin typeface="Times New Roman" pitchFamily="18" charset="0"/>
                <a:cs typeface="Times New Roman" pitchFamily="18" charset="0"/>
              </a:rPr>
              <a:t>  (a) </a:t>
            </a:r>
            <a:r>
              <a:rPr lang="en-US" sz="3200" i="1">
                <a:latin typeface="Times New Roman" pitchFamily="18" charset="0"/>
                <a:cs typeface="Times New Roman" pitchFamily="18" charset="0"/>
              </a:rPr>
              <a:t>cis</a:t>
            </a:r>
            <a:r>
              <a:rPr lang="en-US" sz="3200">
                <a:latin typeface="Times New Roman" pitchFamily="18" charset="0"/>
                <a:cs typeface="Times New Roman" pitchFamily="18" charset="0"/>
              </a:rPr>
              <a:t> isomer		(b) </a:t>
            </a:r>
            <a:r>
              <a:rPr lang="en-US" sz="3200" i="1">
                <a:latin typeface="Times New Roman" pitchFamily="18" charset="0"/>
                <a:cs typeface="Times New Roman" pitchFamily="18" charset="0"/>
              </a:rPr>
              <a:t>trans</a:t>
            </a:r>
            <a:r>
              <a:rPr lang="en-US" sz="3200">
                <a:latin typeface="Times New Roman" pitchFamily="18" charset="0"/>
                <a:cs typeface="Times New Roman" pitchFamily="18" charset="0"/>
              </a:rPr>
              <a:t> isomer</a:t>
            </a:r>
          </a:p>
        </p:txBody>
      </p:sp>
      <p:sp>
        <p:nvSpPr>
          <p:cNvPr id="7782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77828" name="Picture 4" descr="ch21_29"/>
          <p:cNvPicPr>
            <a:picLocks noChangeAspect="1" noChangeArrowheads="1"/>
          </p:cNvPicPr>
          <p:nvPr/>
        </p:nvPicPr>
        <p:blipFill>
          <a:blip r:embed="rId3"/>
          <a:srcRect/>
          <a:stretch>
            <a:fillRect/>
          </a:stretch>
        </p:blipFill>
        <p:spPr bwMode="auto">
          <a:xfrm>
            <a:off x="2743200" y="2133600"/>
            <a:ext cx="3784600" cy="441960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1735016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fontScale="90000"/>
          </a:bodyPr>
          <a:lstStyle/>
          <a:p>
            <a:pPr>
              <a:spcBef>
                <a:spcPct val="20000"/>
              </a:spcBef>
            </a:pPr>
            <a:r>
              <a:rPr lang="en-US" sz="3600">
                <a:latin typeface="Times New Roman" pitchFamily="18" charset="0"/>
                <a:cs typeface="Times New Roman" pitchFamily="18" charset="0"/>
              </a:rPr>
              <a:t>Geometrical (</a:t>
            </a:r>
            <a:r>
              <a:rPr lang="en-US" sz="3600" i="1">
                <a:latin typeface="Times New Roman" pitchFamily="18" charset="0"/>
                <a:cs typeface="Times New Roman" pitchFamily="18" charset="0"/>
              </a:rPr>
              <a:t>cis-trans</a:t>
            </a:r>
            <a:r>
              <a:rPr lang="en-US" sz="3600">
                <a:latin typeface="Times New Roman" pitchFamily="18" charset="0"/>
                <a:cs typeface="Times New Roman" pitchFamily="18" charset="0"/>
              </a:rPr>
              <a:t>) Isomerism for an Octahedral Complex Ion</a:t>
            </a:r>
          </a:p>
        </p:txBody>
      </p:sp>
      <p:sp>
        <p:nvSpPr>
          <p:cNvPr id="7987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79876" name="Picture 4" descr="ch21_30"/>
          <p:cNvPicPr>
            <a:picLocks noChangeAspect="1" noChangeArrowheads="1"/>
          </p:cNvPicPr>
          <p:nvPr/>
        </p:nvPicPr>
        <p:blipFill>
          <a:blip r:embed="rId3"/>
          <a:srcRect/>
          <a:stretch>
            <a:fillRect/>
          </a:stretch>
        </p:blipFill>
        <p:spPr bwMode="auto">
          <a:xfrm>
            <a:off x="1651000" y="1752600"/>
            <a:ext cx="5842000" cy="4135438"/>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27644260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spcBef>
                <a:spcPct val="20000"/>
              </a:spcBef>
            </a:pPr>
            <a:r>
              <a:rPr lang="en-US">
                <a:latin typeface="Times New Roman" pitchFamily="18" charset="0"/>
                <a:cs typeface="Times New Roman" pitchFamily="18" charset="0"/>
              </a:rPr>
              <a:t>Stereoisomerism</a:t>
            </a:r>
          </a:p>
        </p:txBody>
      </p:sp>
      <p:sp>
        <p:nvSpPr>
          <p:cNvPr id="81923" name="Rectangle 3"/>
          <p:cNvSpPr>
            <a:spLocks noGrp="1" noChangeArrowheads="1"/>
          </p:cNvSpPr>
          <p:nvPr>
            <p:ph type="body" idx="1"/>
          </p:nvPr>
        </p:nvSpPr>
        <p:spPr>
          <a:xfrm>
            <a:off x="457200" y="1752600"/>
            <a:ext cx="8229600" cy="1981200"/>
          </a:xfrm>
        </p:spPr>
        <p:txBody>
          <a:bodyPr/>
          <a:lstStyle/>
          <a:p>
            <a:pPr marL="457200" indent="-457200"/>
            <a:r>
              <a:rPr lang="en-US" sz="3600">
                <a:latin typeface="Times New Roman" pitchFamily="18" charset="0"/>
                <a:cs typeface="Times New Roman" pitchFamily="18" charset="0"/>
              </a:rPr>
              <a:t>Optical Isomerism:</a:t>
            </a:r>
          </a:p>
          <a:p>
            <a:pPr marL="901700" lvl="1" indent="-444500">
              <a:buFont typeface="Wingdings" pitchFamily="2" charset="2"/>
              <a:buChar char="§"/>
            </a:pPr>
            <a:r>
              <a:rPr lang="en-US" sz="3200">
                <a:latin typeface="Times New Roman" pitchFamily="18" charset="0"/>
                <a:cs typeface="Times New Roman" pitchFamily="18" charset="0"/>
              </a:rPr>
              <a:t>Isomers have opposite effects on plane-polarized light.</a:t>
            </a:r>
          </a:p>
        </p:txBody>
      </p:sp>
      <p:sp>
        <p:nvSpPr>
          <p:cNvPr id="8192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36637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wipe(left)">
                                      <p:cBhvr>
                                        <p:cTn id="7" dur="500"/>
                                        <p:tgtEl>
                                          <p:spTgt spid="81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23">
                                            <p:txEl>
                                              <p:pRg st="1" end="1"/>
                                            </p:txEl>
                                          </p:spTgt>
                                        </p:tgtEl>
                                        <p:attrNameLst>
                                          <p:attrName>style.visibility</p:attrName>
                                        </p:attrNameLst>
                                      </p:cBhvr>
                                      <p:to>
                                        <p:strVal val="visible"/>
                                      </p:to>
                                    </p:set>
                                    <p:animEffect transition="in" filter="wipe(left)">
                                      <p:cBhvr>
                                        <p:cTn id="12" dur="500"/>
                                        <p:tgtEl>
                                          <p:spTgt spid="819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457200" y="457200"/>
            <a:ext cx="8229600" cy="1143000"/>
          </a:xfrm>
        </p:spPr>
        <p:txBody>
          <a:bodyPr>
            <a:normAutofit fontScale="90000"/>
          </a:bodyPr>
          <a:lstStyle/>
          <a:p>
            <a:pPr>
              <a:spcBef>
                <a:spcPct val="20000"/>
              </a:spcBef>
            </a:pPr>
            <a:r>
              <a:rPr lang="en-US" altLang="en-US" sz="3600">
                <a:latin typeface="Times New Roman" pitchFamily="18" charset="0"/>
                <a:cs typeface="Times New Roman" pitchFamily="18" charset="0"/>
              </a:rPr>
              <a:t>Unpolarized Light Consists of Waves Vibrating in Many Different Planes</a:t>
            </a:r>
            <a:endParaRPr lang="en-US" sz="3600">
              <a:latin typeface="Times New Roman" pitchFamily="18" charset="0"/>
              <a:cs typeface="Times New Roman" pitchFamily="18" charset="0"/>
            </a:endParaRPr>
          </a:p>
        </p:txBody>
      </p:sp>
      <p:sp>
        <p:nvSpPr>
          <p:cNvPr id="8397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83972" name="Picture 4" descr="ch21_31"/>
          <p:cNvPicPr>
            <a:picLocks noChangeAspect="1" noChangeArrowheads="1"/>
          </p:cNvPicPr>
          <p:nvPr/>
        </p:nvPicPr>
        <p:blipFill>
          <a:blip r:embed="rId3"/>
          <a:srcRect/>
          <a:stretch>
            <a:fillRect/>
          </a:stretch>
        </p:blipFill>
        <p:spPr bwMode="auto">
          <a:xfrm>
            <a:off x="952500" y="2209800"/>
            <a:ext cx="7239000" cy="346075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1828070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457200" y="381000"/>
            <a:ext cx="8229600" cy="1295400"/>
          </a:xfrm>
        </p:spPr>
        <p:txBody>
          <a:bodyPr/>
          <a:lstStyle/>
          <a:p>
            <a:pPr>
              <a:spcBef>
                <a:spcPct val="20000"/>
              </a:spcBef>
            </a:pPr>
            <a:r>
              <a:rPr lang="en-US" altLang="en-US" sz="3600">
                <a:latin typeface="Times New Roman" pitchFamily="18" charset="0"/>
                <a:cs typeface="Times New Roman" pitchFamily="18" charset="0"/>
              </a:rPr>
              <a:t>The Rotation of the Plane of Polarized Light by an Optically Active Substance</a:t>
            </a:r>
            <a:endParaRPr lang="en-US" sz="3600">
              <a:latin typeface="Times New Roman" pitchFamily="18" charset="0"/>
              <a:cs typeface="Times New Roman" pitchFamily="18" charset="0"/>
            </a:endParaRPr>
          </a:p>
        </p:txBody>
      </p:sp>
      <p:sp>
        <p:nvSpPr>
          <p:cNvPr id="86019"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86020" name="Picture 4" descr="ch21_32"/>
          <p:cNvPicPr>
            <a:picLocks noChangeAspect="1" noChangeArrowheads="1"/>
          </p:cNvPicPr>
          <p:nvPr/>
        </p:nvPicPr>
        <p:blipFill>
          <a:blip r:embed="rId3"/>
          <a:srcRect/>
          <a:stretch>
            <a:fillRect/>
          </a:stretch>
        </p:blipFill>
        <p:spPr bwMode="auto">
          <a:xfrm>
            <a:off x="457200" y="2189163"/>
            <a:ext cx="8229600" cy="353060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3207465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457200" y="274638"/>
            <a:ext cx="7620000" cy="1143000"/>
          </a:xfrm>
        </p:spPr>
        <p:txBody>
          <a:bodyPr/>
          <a:lstStyle/>
          <a:p>
            <a:pPr>
              <a:spcBef>
                <a:spcPct val="20000"/>
              </a:spcBef>
            </a:pPr>
            <a:r>
              <a:rPr lang="en-US">
                <a:latin typeface="Times New Roman" pitchFamily="18" charset="0"/>
                <a:cs typeface="Times New Roman" pitchFamily="18" charset="0"/>
              </a:rPr>
              <a:t>Optical Activity</a:t>
            </a:r>
          </a:p>
        </p:txBody>
      </p:sp>
      <p:sp>
        <p:nvSpPr>
          <p:cNvPr id="88067" name="Rectangle 3"/>
          <p:cNvSpPr>
            <a:spLocks noGrp="1" noChangeArrowheads="1"/>
          </p:cNvSpPr>
          <p:nvPr>
            <p:ph type="body" idx="1"/>
          </p:nvPr>
        </p:nvSpPr>
        <p:spPr>
          <a:xfrm>
            <a:off x="457200" y="1752600"/>
            <a:ext cx="8229600" cy="3276600"/>
          </a:xfrm>
        </p:spPr>
        <p:txBody>
          <a:bodyPr/>
          <a:lstStyle/>
          <a:p>
            <a:pPr marL="457200" indent="-457200"/>
            <a:r>
              <a:rPr lang="en-US" sz="3600">
                <a:latin typeface="Times New Roman" pitchFamily="18" charset="0"/>
                <a:cs typeface="Times New Roman" pitchFamily="18" charset="0"/>
              </a:rPr>
              <a:t>Exhibited by molecules that have nonsuperimposable mirror images (chiral molecules).</a:t>
            </a:r>
          </a:p>
          <a:p>
            <a:pPr marL="457200" indent="-457200"/>
            <a:r>
              <a:rPr lang="en-US" sz="3600">
                <a:latin typeface="Times New Roman" pitchFamily="18" charset="0"/>
                <a:cs typeface="Times New Roman" pitchFamily="18" charset="0"/>
              </a:rPr>
              <a:t>Enantiomers – isomers of nonsuperimposable mirror images.</a:t>
            </a:r>
          </a:p>
        </p:txBody>
      </p:sp>
      <p:sp>
        <p:nvSpPr>
          <p:cNvPr id="88068"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2228165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animEffect transition="in" filter="wipe(left)">
                                      <p:cBhvr>
                                        <p:cTn id="7" dur="500"/>
                                        <p:tgtEl>
                                          <p:spTgt spid="880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067">
                                            <p:txEl>
                                              <p:pRg st="1" end="1"/>
                                            </p:txEl>
                                          </p:spTgt>
                                        </p:tgtEl>
                                        <p:attrNameLst>
                                          <p:attrName>style.visibility</p:attrName>
                                        </p:attrNameLst>
                                      </p:cBhvr>
                                      <p:to>
                                        <p:strVal val="visible"/>
                                      </p:to>
                                    </p:set>
                                    <p:animEffect transition="in" filter="wipe(left)">
                                      <p:cBhvr>
                                        <p:cTn id="12" dur="500"/>
                                        <p:tgtEl>
                                          <p:spTgt spid="880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457200" y="381000"/>
            <a:ext cx="8229600" cy="1143000"/>
          </a:xfrm>
        </p:spPr>
        <p:txBody>
          <a:bodyPr>
            <a:normAutofit fontScale="90000"/>
          </a:bodyPr>
          <a:lstStyle/>
          <a:p>
            <a:pPr>
              <a:spcBef>
                <a:spcPct val="20000"/>
              </a:spcBef>
            </a:pPr>
            <a:r>
              <a:rPr lang="en-US" altLang="en-US" sz="4000">
                <a:latin typeface="Times New Roman" pitchFamily="18" charset="0"/>
                <a:cs typeface="Times New Roman" pitchFamily="18" charset="0"/>
              </a:rPr>
              <a:t>A Human Hand Exhibits a Nonsuperimposable Mirror Image</a:t>
            </a:r>
            <a:endParaRPr lang="en-US" sz="4000">
              <a:latin typeface="Times New Roman" pitchFamily="18" charset="0"/>
              <a:cs typeface="Times New Roman" pitchFamily="18" charset="0"/>
            </a:endParaRPr>
          </a:p>
        </p:txBody>
      </p:sp>
      <p:sp>
        <p:nvSpPr>
          <p:cNvPr id="9011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90116" name="Picture 4" descr="figure_21_15"/>
          <p:cNvPicPr>
            <a:picLocks noChangeAspect="1" noChangeArrowheads="1"/>
          </p:cNvPicPr>
          <p:nvPr/>
        </p:nvPicPr>
        <p:blipFill>
          <a:blip r:embed="rId3"/>
          <a:srcRect/>
          <a:stretch>
            <a:fillRect/>
          </a:stretch>
        </p:blipFill>
        <p:spPr bwMode="auto">
          <a:xfrm>
            <a:off x="1830388" y="1981200"/>
            <a:ext cx="5484812" cy="3792538"/>
          </a:xfrm>
          <a:prstGeom prst="rect">
            <a:avLst/>
          </a:prstGeom>
          <a:noFill/>
          <a:ln w="12700">
            <a:solidFill>
              <a:srgbClr val="000000"/>
            </a:solidFill>
            <a:miter lim="800000"/>
            <a:headEnd/>
            <a:tailEnd/>
          </a:ln>
        </p:spPr>
      </p:pic>
    </p:spTree>
    <p:extLst>
      <p:ext uri="{BB962C8B-B14F-4D97-AF65-F5344CB8AC3E}">
        <p14:creationId xmlns:p14="http://schemas.microsoft.com/office/powerpoint/2010/main" val="33744607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3" name="Rectangle 3"/>
          <p:cNvSpPr>
            <a:spLocks noGrp="1" noChangeArrowheads="1"/>
          </p:cNvSpPr>
          <p:nvPr>
            <p:ph type="body" idx="1"/>
          </p:nvPr>
        </p:nvSpPr>
        <p:spPr>
          <a:xfrm>
            <a:off x="381000" y="1676400"/>
            <a:ext cx="8077200" cy="4800600"/>
          </a:xfrm>
        </p:spPr>
        <p:txBody>
          <a:bodyPr/>
          <a:lstStyle/>
          <a:p>
            <a:pPr marL="914400" indent="0">
              <a:buFontTx/>
              <a:buNone/>
              <a:tabLst>
                <a:tab pos="914400" algn="l"/>
                <a:tab pos="1308100" algn="l"/>
              </a:tabLst>
            </a:pPr>
            <a:r>
              <a:rPr lang="en-US" sz="3600" dirty="0">
                <a:latin typeface="Times New Roman" pitchFamily="18" charset="0"/>
                <a:cs typeface="Times New Roman" pitchFamily="18" charset="0"/>
              </a:rPr>
              <a:t>Does [Co(en)</a:t>
            </a:r>
            <a:r>
              <a:rPr lang="en-US" sz="3600" baseline="-25000" dirty="0">
                <a:latin typeface="Times New Roman" pitchFamily="18" charset="0"/>
                <a:cs typeface="Times New Roman" pitchFamily="18" charset="0"/>
              </a:rPr>
              <a:t>2</a:t>
            </a:r>
            <a:r>
              <a:rPr lang="en-US" sz="3600" dirty="0">
                <a:latin typeface="Times New Roman" pitchFamily="18" charset="0"/>
                <a:cs typeface="Times New Roman" pitchFamily="18" charset="0"/>
              </a:rPr>
              <a:t>Cl</a:t>
            </a:r>
            <a:r>
              <a:rPr lang="en-US" sz="3600" baseline="-25000" dirty="0">
                <a:latin typeface="Times New Roman" pitchFamily="18" charset="0"/>
                <a:cs typeface="Times New Roman" pitchFamily="18" charset="0"/>
              </a:rPr>
              <a:t>2</a:t>
            </a:r>
            <a:r>
              <a:rPr lang="en-US" sz="3600" dirty="0">
                <a:latin typeface="Times New Roman" pitchFamily="18" charset="0"/>
                <a:cs typeface="Times New Roman" pitchFamily="18" charset="0"/>
              </a:rPr>
              <a:t>]</a:t>
            </a:r>
            <a:r>
              <a:rPr lang="en-US" sz="3600" dirty="0" err="1">
                <a:latin typeface="Times New Roman" pitchFamily="18" charset="0"/>
                <a:cs typeface="Times New Roman" pitchFamily="18" charset="0"/>
              </a:rPr>
              <a:t>Cl</a:t>
            </a:r>
            <a:r>
              <a:rPr lang="en-US" sz="3600" dirty="0">
                <a:latin typeface="Times New Roman" pitchFamily="18" charset="0"/>
                <a:cs typeface="Times New Roman" pitchFamily="18" charset="0"/>
              </a:rPr>
              <a:t> exhibit geometrical isomerism?  </a:t>
            </a:r>
          </a:p>
          <a:p>
            <a:pPr marL="914400" indent="0">
              <a:buFontTx/>
              <a:buNone/>
              <a:tabLst>
                <a:tab pos="914400" algn="l"/>
                <a:tab pos="1308100" algn="l"/>
              </a:tabLst>
            </a:pPr>
            <a:r>
              <a:rPr lang="en-US" sz="3600" dirty="0">
                <a:latin typeface="Times New Roman" pitchFamily="18" charset="0"/>
                <a:cs typeface="Times New Roman" pitchFamily="18" charset="0"/>
              </a:rPr>
              <a:t>					</a:t>
            </a:r>
            <a:r>
              <a:rPr lang="en-US" dirty="0">
                <a:solidFill>
                  <a:srgbClr val="009900"/>
                </a:solidFill>
                <a:latin typeface="Times New Roman" pitchFamily="18" charset="0"/>
                <a:cs typeface="Times New Roman" pitchFamily="18" charset="0"/>
              </a:rPr>
              <a:t>Yes</a:t>
            </a:r>
            <a:endParaRPr lang="en-US" sz="3600" dirty="0">
              <a:latin typeface="Times New Roman" pitchFamily="18" charset="0"/>
              <a:cs typeface="Times New Roman" pitchFamily="18" charset="0"/>
            </a:endParaRPr>
          </a:p>
          <a:p>
            <a:pPr marL="914400" indent="0">
              <a:buFontTx/>
              <a:buNone/>
              <a:tabLst>
                <a:tab pos="914400" algn="l"/>
                <a:tab pos="1308100" algn="l"/>
              </a:tabLst>
            </a:pPr>
            <a:r>
              <a:rPr lang="en-US" sz="3600" dirty="0">
                <a:latin typeface="Times New Roman" pitchFamily="18" charset="0"/>
                <a:cs typeface="Times New Roman" pitchFamily="18" charset="0"/>
              </a:rPr>
              <a:t>Does it exhibit optical isomerism?</a:t>
            </a:r>
          </a:p>
          <a:p>
            <a:pPr marL="914400" indent="0">
              <a:buFontTx/>
              <a:buNone/>
              <a:tabLst>
                <a:tab pos="914400" algn="l"/>
                <a:tab pos="1308100" algn="l"/>
              </a:tabLst>
            </a:pPr>
            <a:r>
              <a:rPr lang="en-US" sz="3600" i="1" dirty="0">
                <a:solidFill>
                  <a:srgbClr val="009900"/>
                </a:solidFill>
                <a:latin typeface="Times New Roman" pitchFamily="18" charset="0"/>
                <a:cs typeface="Times New Roman" pitchFamily="18" charset="0"/>
              </a:rPr>
              <a:t>					</a:t>
            </a:r>
            <a:r>
              <a:rPr lang="en-US" i="1" dirty="0">
                <a:solidFill>
                  <a:srgbClr val="009900"/>
                </a:solidFill>
                <a:latin typeface="Times New Roman" pitchFamily="18" charset="0"/>
                <a:cs typeface="Times New Roman" pitchFamily="18" charset="0"/>
              </a:rPr>
              <a:t>Trans</a:t>
            </a:r>
            <a:r>
              <a:rPr lang="en-US" dirty="0">
                <a:solidFill>
                  <a:srgbClr val="009900"/>
                </a:solidFill>
                <a:latin typeface="Times New Roman" pitchFamily="18" charset="0"/>
                <a:cs typeface="Times New Roman" pitchFamily="18" charset="0"/>
              </a:rPr>
              <a:t> form – No</a:t>
            </a:r>
          </a:p>
          <a:p>
            <a:pPr marL="914400" indent="0">
              <a:buFontTx/>
              <a:buNone/>
              <a:tabLst>
                <a:tab pos="914400" algn="l"/>
                <a:tab pos="1308100" algn="l"/>
              </a:tabLst>
            </a:pPr>
            <a:r>
              <a:rPr lang="en-US" sz="3600" i="1" dirty="0">
                <a:solidFill>
                  <a:srgbClr val="009900"/>
                </a:solidFill>
                <a:latin typeface="Times New Roman" pitchFamily="18" charset="0"/>
                <a:cs typeface="Times New Roman" pitchFamily="18" charset="0"/>
              </a:rPr>
              <a:t>					</a:t>
            </a:r>
            <a:r>
              <a:rPr lang="en-US" i="1" dirty="0" err="1">
                <a:solidFill>
                  <a:srgbClr val="009900"/>
                </a:solidFill>
                <a:latin typeface="Times New Roman" pitchFamily="18" charset="0"/>
                <a:cs typeface="Times New Roman" pitchFamily="18" charset="0"/>
              </a:rPr>
              <a:t>Cis</a:t>
            </a:r>
            <a:r>
              <a:rPr lang="en-US" dirty="0">
                <a:solidFill>
                  <a:srgbClr val="009900"/>
                </a:solidFill>
                <a:latin typeface="Times New Roman" pitchFamily="18" charset="0"/>
                <a:cs typeface="Times New Roman" pitchFamily="18" charset="0"/>
              </a:rPr>
              <a:t> form – Yes</a:t>
            </a:r>
          </a:p>
        </p:txBody>
      </p:sp>
      <p:sp>
        <p:nvSpPr>
          <p:cNvPr id="5" name="Title 4"/>
          <p:cNvSpPr>
            <a:spLocks noGrp="1"/>
          </p:cNvSpPr>
          <p:nvPr>
            <p:ph type="title"/>
          </p:nvPr>
        </p:nvSpPr>
        <p:spPr/>
        <p:txBody>
          <a:bodyPr/>
          <a:lstStyle/>
          <a:p>
            <a:endParaRPr lang="en-US"/>
          </a:p>
        </p:txBody>
      </p:sp>
    </p:spTree>
    <p:extLst>
      <p:ext uri="{BB962C8B-B14F-4D97-AF65-F5344CB8AC3E}">
        <p14:creationId xmlns:p14="http://schemas.microsoft.com/office/powerpoint/2010/main" val="337155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Effect transition="in" filter="wipe(left)">
                                      <p:cBhvr>
                                        <p:cTn id="7" dur="500"/>
                                        <p:tgtEl>
                                          <p:spTgt spid="921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63">
                                            <p:txEl>
                                              <p:pRg st="1" end="1"/>
                                            </p:txEl>
                                          </p:spTgt>
                                        </p:tgtEl>
                                        <p:attrNameLst>
                                          <p:attrName>style.visibility</p:attrName>
                                        </p:attrNameLst>
                                      </p:cBhvr>
                                      <p:to>
                                        <p:strVal val="visible"/>
                                      </p:to>
                                    </p:set>
                                    <p:animEffect transition="in" filter="wipe(left)">
                                      <p:cBhvr>
                                        <p:cTn id="12" dur="500"/>
                                        <p:tgtEl>
                                          <p:spTgt spid="921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63">
                                            <p:txEl>
                                              <p:pRg st="2" end="2"/>
                                            </p:txEl>
                                          </p:spTgt>
                                        </p:tgtEl>
                                        <p:attrNameLst>
                                          <p:attrName>style.visibility</p:attrName>
                                        </p:attrNameLst>
                                      </p:cBhvr>
                                      <p:to>
                                        <p:strVal val="visible"/>
                                      </p:to>
                                    </p:set>
                                    <p:animEffect transition="in" filter="wipe(left)">
                                      <p:cBhvr>
                                        <p:cTn id="17" dur="500"/>
                                        <p:tgtEl>
                                          <p:spTgt spid="921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163">
                                            <p:txEl>
                                              <p:pRg st="3" end="3"/>
                                            </p:txEl>
                                          </p:spTgt>
                                        </p:tgtEl>
                                        <p:attrNameLst>
                                          <p:attrName>style.visibility</p:attrName>
                                        </p:attrNameLst>
                                      </p:cBhvr>
                                      <p:to>
                                        <p:strVal val="visible"/>
                                      </p:to>
                                    </p:set>
                                    <p:animEffect transition="in" filter="wipe(left)">
                                      <p:cBhvr>
                                        <p:cTn id="22" dur="500"/>
                                        <p:tgtEl>
                                          <p:spTgt spid="921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163">
                                            <p:txEl>
                                              <p:pRg st="4" end="4"/>
                                            </p:txEl>
                                          </p:spTgt>
                                        </p:tgtEl>
                                        <p:attrNameLst>
                                          <p:attrName>style.visibility</p:attrName>
                                        </p:attrNameLst>
                                      </p:cBhvr>
                                      <p:to>
                                        <p:strVal val="visible"/>
                                      </p:to>
                                    </p:set>
                                    <p:animEffect transition="in" filter="wipe(left)">
                                      <p:cBhvr>
                                        <p:cTn id="27" dur="500"/>
                                        <p:tgtEl>
                                          <p:spTgt spid="92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Bonding in Complex Ions</a:t>
            </a:r>
          </a:p>
        </p:txBody>
      </p:sp>
      <p:sp>
        <p:nvSpPr>
          <p:cNvPr id="94211" name="Rectangle 3"/>
          <p:cNvSpPr>
            <a:spLocks noGrp="1" noChangeArrowheads="1"/>
          </p:cNvSpPr>
          <p:nvPr>
            <p:ph type="body" idx="1"/>
          </p:nvPr>
        </p:nvSpPr>
        <p:spPr>
          <a:xfrm>
            <a:off x="457200" y="1524000"/>
            <a:ext cx="8229600" cy="4876800"/>
          </a:xfrm>
        </p:spPr>
        <p:txBody>
          <a:bodyPr/>
          <a:lstStyle/>
          <a:p>
            <a:pPr marL="457200" indent="-457200">
              <a:buFontTx/>
              <a:buAutoNum type="arabicPeriod"/>
            </a:pPr>
            <a:r>
              <a:rPr lang="en-US">
                <a:latin typeface="Times New Roman" pitchFamily="18" charset="0"/>
                <a:cs typeface="Times New Roman" pitchFamily="18" charset="0"/>
              </a:rPr>
              <a:t>The VSEPR model for predicting structure generally does not work for complex ions.</a:t>
            </a:r>
          </a:p>
          <a:p>
            <a:pPr marL="901700" lvl="1" indent="-444500">
              <a:buFont typeface="Wingdings" pitchFamily="2" charset="2"/>
              <a:buChar char="§"/>
            </a:pPr>
            <a:r>
              <a:rPr lang="en-US" sz="3000">
                <a:latin typeface="Times New Roman" pitchFamily="18" charset="0"/>
                <a:cs typeface="Times New Roman" pitchFamily="18" charset="0"/>
              </a:rPr>
              <a:t>However, assume a complex ion with a coordination number of 6 will have an octahedral arrangement of ligands.</a:t>
            </a:r>
          </a:p>
          <a:p>
            <a:pPr marL="901700" lvl="1" indent="-444500">
              <a:buFont typeface="Wingdings" pitchFamily="2" charset="2"/>
              <a:buChar char="§"/>
            </a:pPr>
            <a:r>
              <a:rPr lang="en-US" sz="3000">
                <a:latin typeface="Times New Roman" pitchFamily="18" charset="0"/>
                <a:cs typeface="Times New Roman" pitchFamily="18" charset="0"/>
              </a:rPr>
              <a:t>And, assume complexes with two ligands will be linear.</a:t>
            </a:r>
          </a:p>
          <a:p>
            <a:pPr marL="901700" lvl="1" indent="-444500">
              <a:buFont typeface="Wingdings" pitchFamily="2" charset="2"/>
              <a:buChar char="§"/>
            </a:pPr>
            <a:r>
              <a:rPr lang="en-US" sz="3000">
                <a:latin typeface="Times New Roman" pitchFamily="18" charset="0"/>
                <a:cs typeface="Times New Roman" pitchFamily="18" charset="0"/>
              </a:rPr>
              <a:t>But, complexes with a coordination number of 4 can be either tetrahedral or square planar.</a:t>
            </a:r>
          </a:p>
        </p:txBody>
      </p:sp>
      <p:sp>
        <p:nvSpPr>
          <p:cNvPr id="94212"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394282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wipe(left)">
                                      <p:cBhvr>
                                        <p:cTn id="7" dur="500"/>
                                        <p:tgtEl>
                                          <p:spTgt spid="94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11">
                                            <p:txEl>
                                              <p:pRg st="1" end="1"/>
                                            </p:txEl>
                                          </p:spTgt>
                                        </p:tgtEl>
                                        <p:attrNameLst>
                                          <p:attrName>style.visibility</p:attrName>
                                        </p:attrNameLst>
                                      </p:cBhvr>
                                      <p:to>
                                        <p:strVal val="visible"/>
                                      </p:to>
                                    </p:set>
                                    <p:animEffect transition="in" filter="wipe(left)">
                                      <p:cBhvr>
                                        <p:cTn id="12" dur="500"/>
                                        <p:tgtEl>
                                          <p:spTgt spid="942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211">
                                            <p:txEl>
                                              <p:pRg st="2" end="2"/>
                                            </p:txEl>
                                          </p:spTgt>
                                        </p:tgtEl>
                                        <p:attrNameLst>
                                          <p:attrName>style.visibility</p:attrName>
                                        </p:attrNameLst>
                                      </p:cBhvr>
                                      <p:to>
                                        <p:strVal val="visible"/>
                                      </p:to>
                                    </p:set>
                                    <p:animEffect transition="in" filter="wipe(left)">
                                      <p:cBhvr>
                                        <p:cTn id="17" dur="500"/>
                                        <p:tgtEl>
                                          <p:spTgt spid="942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211">
                                            <p:txEl>
                                              <p:pRg st="3" end="3"/>
                                            </p:txEl>
                                          </p:spTgt>
                                        </p:tgtEl>
                                        <p:attrNameLst>
                                          <p:attrName>style.visibility</p:attrName>
                                        </p:attrNameLst>
                                      </p:cBhvr>
                                      <p:to>
                                        <p:strVal val="visible"/>
                                      </p:to>
                                    </p:set>
                                    <p:animEffect transition="in" filter="wipe(left)">
                                      <p:cBhvr>
                                        <p:cTn id="22" dur="500"/>
                                        <p:tgtEl>
                                          <p:spTgt spid="942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Bonding in Complex Ions</a:t>
            </a:r>
          </a:p>
        </p:txBody>
      </p:sp>
      <p:sp>
        <p:nvSpPr>
          <p:cNvPr id="96259" name="Rectangle 3"/>
          <p:cNvSpPr>
            <a:spLocks noGrp="1" noChangeArrowheads="1"/>
          </p:cNvSpPr>
          <p:nvPr>
            <p:ph type="body" idx="1"/>
          </p:nvPr>
        </p:nvSpPr>
        <p:spPr>
          <a:xfrm>
            <a:off x="457200" y="1752600"/>
            <a:ext cx="8229600" cy="2819400"/>
          </a:xfrm>
        </p:spPr>
        <p:txBody>
          <a:bodyPr/>
          <a:lstStyle/>
          <a:p>
            <a:pPr marL="457200" indent="-457200">
              <a:buFontTx/>
              <a:buNone/>
            </a:pPr>
            <a:r>
              <a:rPr lang="en-US">
                <a:latin typeface="Times New Roman" pitchFamily="18" charset="0"/>
                <a:cs typeface="Times New Roman" pitchFamily="18" charset="0"/>
              </a:rPr>
              <a:t>2.	The interaction between a metal ion and a ligand can be viewed as a Lewis acid–base reaction with the ligand donating a lone pair of electrons to an </a:t>
            </a:r>
            <a:r>
              <a:rPr lang="en-US" i="1">
                <a:latin typeface="Times New Roman" pitchFamily="18" charset="0"/>
                <a:cs typeface="Times New Roman" pitchFamily="18" charset="0"/>
              </a:rPr>
              <a:t>empty</a:t>
            </a:r>
            <a:r>
              <a:rPr lang="en-US">
                <a:latin typeface="Times New Roman" pitchFamily="18" charset="0"/>
                <a:cs typeface="Times New Roman" pitchFamily="18" charset="0"/>
              </a:rPr>
              <a:t> orbital of the metal ion to form a coordinate covalent bond.</a:t>
            </a:r>
          </a:p>
        </p:txBody>
      </p:sp>
      <p:sp>
        <p:nvSpPr>
          <p:cNvPr id="9626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742660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wipe(left)">
                                      <p:cBhvr>
                                        <p:cTn id="7" dur="500"/>
                                        <p:tgtEl>
                                          <p:spTgt spid="962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228600" y="457200"/>
            <a:ext cx="8610600" cy="1600200"/>
          </a:xfrm>
        </p:spPr>
        <p:txBody>
          <a:bodyPr/>
          <a:lstStyle/>
          <a:p>
            <a:pPr>
              <a:spcBef>
                <a:spcPct val="20000"/>
              </a:spcBef>
            </a:pPr>
            <a:r>
              <a:rPr lang="en-US" altLang="en-US" sz="3200">
                <a:latin typeface="Times New Roman" pitchFamily="18" charset="0"/>
                <a:cs typeface="Times New Roman" pitchFamily="18" charset="0"/>
              </a:rPr>
              <a:t>The Interaction Between a Metal Ion and a Ligand Can Be Viewed as a Lewis Acid-Base Reaction</a:t>
            </a:r>
            <a:endParaRPr lang="en-US" sz="3200">
              <a:latin typeface="Times New Roman" pitchFamily="18" charset="0"/>
              <a:cs typeface="Times New Roman" pitchFamily="18" charset="0"/>
            </a:endParaRPr>
          </a:p>
        </p:txBody>
      </p:sp>
      <p:sp>
        <p:nvSpPr>
          <p:cNvPr id="9830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98308" name="Picture 4" descr="ch21_36"/>
          <p:cNvPicPr>
            <a:picLocks noChangeAspect="1" noChangeArrowheads="1"/>
          </p:cNvPicPr>
          <p:nvPr/>
        </p:nvPicPr>
        <p:blipFill>
          <a:blip r:embed="rId3"/>
          <a:srcRect/>
          <a:stretch>
            <a:fillRect/>
          </a:stretch>
        </p:blipFill>
        <p:spPr bwMode="auto">
          <a:xfrm>
            <a:off x="457200" y="2590800"/>
            <a:ext cx="8229600" cy="2435225"/>
          </a:xfrm>
          <a:prstGeom prst="rect">
            <a:avLst/>
          </a:prstGeom>
          <a:noFill/>
          <a:ln w="12700">
            <a:solidFill>
              <a:schemeClr val="tx1"/>
            </a:solidFill>
            <a:miter lim="800000"/>
            <a:headEnd/>
            <a:tailEnd/>
          </a:ln>
        </p:spPr>
      </p:pic>
    </p:spTree>
    <p:extLst>
      <p:ext uri="{BB962C8B-B14F-4D97-AF65-F5344CB8AC3E}">
        <p14:creationId xmlns:p14="http://schemas.microsoft.com/office/powerpoint/2010/main" val="22467017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normAutofit fontScale="90000"/>
          </a:bodyPr>
          <a:lstStyle/>
          <a:p>
            <a:pPr>
              <a:spcBef>
                <a:spcPct val="20000"/>
              </a:spcBef>
            </a:pPr>
            <a:r>
              <a:rPr lang="en-US" altLang="en-US" sz="3600">
                <a:latin typeface="Times New Roman" pitchFamily="18" charset="0"/>
                <a:cs typeface="Times New Roman" pitchFamily="18" charset="0"/>
              </a:rPr>
              <a:t>Hybrid Orbitals on Co</a:t>
            </a:r>
            <a:r>
              <a:rPr lang="en-US" altLang="en-US" sz="3600" baseline="30000">
                <a:latin typeface="Times New Roman" pitchFamily="18" charset="0"/>
                <a:cs typeface="Times New Roman" pitchFamily="18" charset="0"/>
              </a:rPr>
              <a:t>3+</a:t>
            </a:r>
            <a:r>
              <a:rPr lang="en-US" altLang="en-US" sz="3600">
                <a:latin typeface="Times New Roman" pitchFamily="18" charset="0"/>
                <a:cs typeface="Times New Roman" pitchFamily="18" charset="0"/>
              </a:rPr>
              <a:t> Can Accept an Electron Pair from Each NH</a:t>
            </a:r>
            <a:r>
              <a:rPr lang="en-US" altLang="en-US" sz="3600" baseline="-25000">
                <a:latin typeface="Times New Roman" pitchFamily="18" charset="0"/>
                <a:cs typeface="Times New Roman" pitchFamily="18" charset="0"/>
              </a:rPr>
              <a:t>3</a:t>
            </a:r>
            <a:r>
              <a:rPr lang="en-US" altLang="en-US" sz="3600">
                <a:latin typeface="Times New Roman" pitchFamily="18" charset="0"/>
                <a:cs typeface="Times New Roman" pitchFamily="18" charset="0"/>
              </a:rPr>
              <a:t> Ligand</a:t>
            </a:r>
            <a:endParaRPr lang="en-US" sz="3600">
              <a:latin typeface="Times New Roman" pitchFamily="18" charset="0"/>
              <a:cs typeface="Times New Roman" pitchFamily="18" charset="0"/>
            </a:endParaRPr>
          </a:p>
        </p:txBody>
      </p:sp>
      <p:sp>
        <p:nvSpPr>
          <p:cNvPr id="10035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00356" name="Picture 4" descr="ch21_37"/>
          <p:cNvPicPr>
            <a:picLocks noChangeAspect="1" noChangeArrowheads="1"/>
          </p:cNvPicPr>
          <p:nvPr/>
        </p:nvPicPr>
        <p:blipFill>
          <a:blip r:embed="rId3"/>
          <a:srcRect/>
          <a:stretch>
            <a:fillRect/>
          </a:stretch>
        </p:blipFill>
        <p:spPr bwMode="auto">
          <a:xfrm>
            <a:off x="2667000" y="1981200"/>
            <a:ext cx="3790950" cy="411480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9856366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457200" y="274638"/>
            <a:ext cx="8229600" cy="1401762"/>
          </a:xfrm>
        </p:spPr>
        <p:txBody>
          <a:bodyPr/>
          <a:lstStyle/>
          <a:p>
            <a:pPr>
              <a:spcBef>
                <a:spcPct val="20000"/>
              </a:spcBef>
            </a:pPr>
            <a:r>
              <a:rPr lang="en-US" altLang="en-US" sz="3200">
                <a:latin typeface="Times New Roman" pitchFamily="18" charset="0"/>
                <a:cs typeface="Times New Roman" pitchFamily="18" charset="0"/>
              </a:rPr>
              <a:t>The Hybrid Orbitals Required for Tetrahedral, Square Planar, and Linear Complex Ions</a:t>
            </a:r>
            <a:endParaRPr lang="en-US" sz="3200">
              <a:latin typeface="Times New Roman" pitchFamily="18" charset="0"/>
              <a:cs typeface="Times New Roman" pitchFamily="18" charset="0"/>
            </a:endParaRPr>
          </a:p>
        </p:txBody>
      </p:sp>
      <p:sp>
        <p:nvSpPr>
          <p:cNvPr id="102403"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02404" name="Picture 4" descr="ch21_38"/>
          <p:cNvPicPr>
            <a:picLocks noChangeAspect="1" noChangeArrowheads="1"/>
          </p:cNvPicPr>
          <p:nvPr/>
        </p:nvPicPr>
        <p:blipFill>
          <a:blip r:embed="rId3"/>
          <a:srcRect/>
          <a:stretch>
            <a:fillRect/>
          </a:stretch>
        </p:blipFill>
        <p:spPr bwMode="auto">
          <a:xfrm>
            <a:off x="533400" y="2133600"/>
            <a:ext cx="8077200" cy="318135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11924156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body" idx="1"/>
          </p:nvPr>
        </p:nvSpPr>
        <p:spPr>
          <a:xfrm>
            <a:off x="457200" y="1371600"/>
            <a:ext cx="8229600" cy="5029200"/>
          </a:xfrm>
        </p:spPr>
        <p:txBody>
          <a:bodyPr/>
          <a:lstStyle/>
          <a:p>
            <a:pPr marL="457200" indent="-457200"/>
            <a:r>
              <a:rPr lang="en-US">
                <a:latin typeface="Times New Roman" pitchFamily="18" charset="0"/>
                <a:cs typeface="Times New Roman" pitchFamily="18" charset="0"/>
              </a:rPr>
              <a:t>Focuses on the effect of ligands on the energies of the </a:t>
            </a:r>
            <a:r>
              <a:rPr lang="en-US" i="1">
                <a:latin typeface="Times New Roman" pitchFamily="18" charset="0"/>
                <a:cs typeface="Times New Roman" pitchFamily="18" charset="0"/>
              </a:rPr>
              <a:t>d </a:t>
            </a:r>
            <a:r>
              <a:rPr lang="en-US">
                <a:latin typeface="Times New Roman" pitchFamily="18" charset="0"/>
                <a:cs typeface="Times New Roman" pitchFamily="18" charset="0"/>
              </a:rPr>
              <a:t>orbitals of metals.</a:t>
            </a:r>
          </a:p>
          <a:p>
            <a:pPr marL="901700" lvl="1" indent="-444500">
              <a:buFontTx/>
              <a:buNone/>
            </a:pPr>
            <a:r>
              <a:rPr lang="en-US" sz="3200" u="sng">
                <a:latin typeface="Times New Roman" pitchFamily="18" charset="0"/>
                <a:cs typeface="Times New Roman" pitchFamily="18" charset="0"/>
              </a:rPr>
              <a:t>Assumptions</a:t>
            </a:r>
          </a:p>
          <a:p>
            <a:pPr marL="901700" lvl="1" indent="-444500">
              <a:buFontTx/>
              <a:buAutoNum type="arabicPeriod"/>
            </a:pPr>
            <a:r>
              <a:rPr lang="en-US" sz="3200">
                <a:latin typeface="Times New Roman" pitchFamily="18" charset="0"/>
                <a:cs typeface="Times New Roman" pitchFamily="18" charset="0"/>
              </a:rPr>
              <a:t>Ligands are negative point charges.</a:t>
            </a:r>
          </a:p>
          <a:p>
            <a:pPr marL="901700" lvl="1" indent="-444500">
              <a:buFontTx/>
              <a:buAutoNum type="arabicPeriod"/>
            </a:pPr>
            <a:r>
              <a:rPr lang="en-US" sz="3200">
                <a:latin typeface="Times New Roman" pitchFamily="18" charset="0"/>
                <a:cs typeface="Times New Roman" pitchFamily="18" charset="0"/>
              </a:rPr>
              <a:t>Metal–ligand bonding is entirely ionic:</a:t>
            </a:r>
          </a:p>
          <a:p>
            <a:pPr marL="1379538" lvl="2" indent="-476250"/>
            <a:r>
              <a:rPr lang="en-US" sz="2800">
                <a:latin typeface="Times New Roman" pitchFamily="18" charset="0"/>
                <a:cs typeface="Times New Roman" pitchFamily="18" charset="0"/>
              </a:rPr>
              <a:t>strong-field (low–spin):  </a:t>
            </a:r>
          </a:p>
          <a:p>
            <a:pPr marL="1379538" lvl="2" indent="-476250">
              <a:buFontTx/>
              <a:buNone/>
            </a:pPr>
            <a:r>
              <a:rPr lang="en-US" sz="2800">
                <a:latin typeface="Times New Roman" pitchFamily="18" charset="0"/>
                <a:cs typeface="Times New Roman" pitchFamily="18" charset="0"/>
              </a:rPr>
              <a:t>	large splitting of </a:t>
            </a:r>
            <a:r>
              <a:rPr lang="en-US" sz="2800" i="1">
                <a:latin typeface="Times New Roman" pitchFamily="18" charset="0"/>
                <a:cs typeface="Times New Roman" pitchFamily="18" charset="0"/>
              </a:rPr>
              <a:t>d</a:t>
            </a:r>
            <a:r>
              <a:rPr lang="en-US" sz="2800">
                <a:latin typeface="Times New Roman" pitchFamily="18" charset="0"/>
                <a:cs typeface="Times New Roman" pitchFamily="18" charset="0"/>
              </a:rPr>
              <a:t> orbitals</a:t>
            </a:r>
          </a:p>
          <a:p>
            <a:pPr marL="1379538" lvl="2" indent="-476250"/>
            <a:r>
              <a:rPr lang="en-US" sz="2800">
                <a:latin typeface="Times New Roman" pitchFamily="18" charset="0"/>
                <a:cs typeface="Times New Roman" pitchFamily="18" charset="0"/>
              </a:rPr>
              <a:t>weak-field (high–spin):  </a:t>
            </a:r>
          </a:p>
          <a:p>
            <a:pPr marL="1379538" lvl="2" indent="-476250">
              <a:buFontTx/>
              <a:buNone/>
            </a:pPr>
            <a:r>
              <a:rPr lang="en-US" sz="2800">
                <a:latin typeface="Times New Roman" pitchFamily="18" charset="0"/>
                <a:cs typeface="Times New Roman" pitchFamily="18" charset="0"/>
              </a:rPr>
              <a:t>	small splitting of </a:t>
            </a:r>
            <a:r>
              <a:rPr lang="en-US" sz="2800" i="1">
                <a:latin typeface="Times New Roman" pitchFamily="18" charset="0"/>
                <a:cs typeface="Times New Roman" pitchFamily="18" charset="0"/>
              </a:rPr>
              <a:t>d</a:t>
            </a:r>
            <a:r>
              <a:rPr lang="en-US" sz="2800">
                <a:latin typeface="Times New Roman" pitchFamily="18" charset="0"/>
                <a:cs typeface="Times New Roman" pitchFamily="18" charset="0"/>
              </a:rPr>
              <a:t> orbitals</a:t>
            </a:r>
          </a:p>
        </p:txBody>
      </p:sp>
      <p:sp>
        <p:nvSpPr>
          <p:cNvPr id="10445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104452" name="Rectangle 4"/>
          <p:cNvSpPr>
            <a:spLocks noGrp="1" noChangeArrowheads="1"/>
          </p:cNvSpPr>
          <p:nvPr>
            <p:ph type="title"/>
          </p:nvPr>
        </p:nvSpPr>
        <p:spPr>
          <a:xfrm>
            <a:off x="457200" y="274638"/>
            <a:ext cx="8229600" cy="944562"/>
          </a:xfrm>
        </p:spPr>
        <p:txBody>
          <a:bodyPr/>
          <a:lstStyle/>
          <a:p>
            <a:r>
              <a:rPr lang="en-US" sz="4000">
                <a:latin typeface="Times New Roman" pitchFamily="18" charset="0"/>
                <a:cs typeface="Times New Roman" pitchFamily="18" charset="0"/>
              </a:rPr>
              <a:t>Crystal Field Model</a:t>
            </a:r>
          </a:p>
        </p:txBody>
      </p:sp>
    </p:spTree>
    <p:extLst>
      <p:ext uri="{BB962C8B-B14F-4D97-AF65-F5344CB8AC3E}">
        <p14:creationId xmlns:p14="http://schemas.microsoft.com/office/powerpoint/2010/main" val="365708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4450">
                                            <p:txEl>
                                              <p:pRg st="0" end="0"/>
                                            </p:txEl>
                                          </p:spTgt>
                                        </p:tgtEl>
                                        <p:attrNameLst>
                                          <p:attrName>style.visibility</p:attrName>
                                        </p:attrNameLst>
                                      </p:cBhvr>
                                      <p:to>
                                        <p:strVal val="visible"/>
                                      </p:to>
                                    </p:set>
                                    <p:animEffect transition="in" filter="wipe(left)">
                                      <p:cBhvr>
                                        <p:cTn id="7" dur="500"/>
                                        <p:tgtEl>
                                          <p:spTgt spid="1044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450">
                                            <p:txEl>
                                              <p:pRg st="1" end="1"/>
                                            </p:txEl>
                                          </p:spTgt>
                                        </p:tgtEl>
                                        <p:attrNameLst>
                                          <p:attrName>style.visibility</p:attrName>
                                        </p:attrNameLst>
                                      </p:cBhvr>
                                      <p:to>
                                        <p:strVal val="visible"/>
                                      </p:to>
                                    </p:set>
                                    <p:animEffect transition="in" filter="wipe(left)">
                                      <p:cBhvr>
                                        <p:cTn id="12" dur="500"/>
                                        <p:tgtEl>
                                          <p:spTgt spid="1044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4450">
                                            <p:txEl>
                                              <p:pRg st="2" end="2"/>
                                            </p:txEl>
                                          </p:spTgt>
                                        </p:tgtEl>
                                        <p:attrNameLst>
                                          <p:attrName>style.visibility</p:attrName>
                                        </p:attrNameLst>
                                      </p:cBhvr>
                                      <p:to>
                                        <p:strVal val="visible"/>
                                      </p:to>
                                    </p:set>
                                    <p:animEffect transition="in" filter="wipe(left)">
                                      <p:cBhvr>
                                        <p:cTn id="17" dur="500"/>
                                        <p:tgtEl>
                                          <p:spTgt spid="1044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4450">
                                            <p:txEl>
                                              <p:pRg st="3" end="3"/>
                                            </p:txEl>
                                          </p:spTgt>
                                        </p:tgtEl>
                                        <p:attrNameLst>
                                          <p:attrName>style.visibility</p:attrName>
                                        </p:attrNameLst>
                                      </p:cBhvr>
                                      <p:to>
                                        <p:strVal val="visible"/>
                                      </p:to>
                                    </p:set>
                                    <p:animEffect transition="in" filter="wipe(left)">
                                      <p:cBhvr>
                                        <p:cTn id="22" dur="500"/>
                                        <p:tgtEl>
                                          <p:spTgt spid="1044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4450">
                                            <p:txEl>
                                              <p:pRg st="4" end="4"/>
                                            </p:txEl>
                                          </p:spTgt>
                                        </p:tgtEl>
                                        <p:attrNameLst>
                                          <p:attrName>style.visibility</p:attrName>
                                        </p:attrNameLst>
                                      </p:cBhvr>
                                      <p:to>
                                        <p:strVal val="visible"/>
                                      </p:to>
                                    </p:set>
                                    <p:animEffect transition="in" filter="wipe(left)">
                                      <p:cBhvr>
                                        <p:cTn id="27" dur="500"/>
                                        <p:tgtEl>
                                          <p:spTgt spid="10445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4450">
                                            <p:txEl>
                                              <p:pRg st="5" end="5"/>
                                            </p:txEl>
                                          </p:spTgt>
                                        </p:tgtEl>
                                        <p:attrNameLst>
                                          <p:attrName>style.visibility</p:attrName>
                                        </p:attrNameLst>
                                      </p:cBhvr>
                                      <p:to>
                                        <p:strVal val="visible"/>
                                      </p:to>
                                    </p:set>
                                    <p:animEffect transition="in" filter="wipe(left)">
                                      <p:cBhvr>
                                        <p:cTn id="32" dur="500"/>
                                        <p:tgtEl>
                                          <p:spTgt spid="10445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4450">
                                            <p:txEl>
                                              <p:pRg st="6" end="6"/>
                                            </p:txEl>
                                          </p:spTgt>
                                        </p:tgtEl>
                                        <p:attrNameLst>
                                          <p:attrName>style.visibility</p:attrName>
                                        </p:attrNameLst>
                                      </p:cBhvr>
                                      <p:to>
                                        <p:strVal val="visible"/>
                                      </p:to>
                                    </p:set>
                                    <p:animEffect transition="in" filter="wipe(left)">
                                      <p:cBhvr>
                                        <p:cTn id="37" dur="500"/>
                                        <p:tgtEl>
                                          <p:spTgt spid="10445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4450">
                                            <p:txEl>
                                              <p:pRg st="7" end="7"/>
                                            </p:txEl>
                                          </p:spTgt>
                                        </p:tgtEl>
                                        <p:attrNameLst>
                                          <p:attrName>style.visibility</p:attrName>
                                        </p:attrNameLst>
                                      </p:cBhvr>
                                      <p:to>
                                        <p:strVal val="visible"/>
                                      </p:to>
                                    </p:set>
                                    <p:animEffect transition="in" filter="wipe(left)">
                                      <p:cBhvr>
                                        <p:cTn id="42" dur="500"/>
                                        <p:tgtEl>
                                          <p:spTgt spid="10445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457200" y="381000"/>
            <a:ext cx="7543800" cy="1036638"/>
          </a:xfrm>
        </p:spPr>
        <p:txBody>
          <a:bodyPr/>
          <a:lstStyle/>
          <a:p>
            <a:pPr>
              <a:spcBef>
                <a:spcPct val="20000"/>
              </a:spcBef>
            </a:pPr>
            <a:r>
              <a:rPr lang="en-US" sz="4000">
                <a:latin typeface="Times New Roman" pitchFamily="18" charset="0"/>
                <a:cs typeface="Times New Roman" pitchFamily="18" charset="0"/>
              </a:rPr>
              <a:t>Octahedral Complexes</a:t>
            </a:r>
          </a:p>
        </p:txBody>
      </p:sp>
      <p:sp>
        <p:nvSpPr>
          <p:cNvPr id="106499" name="Rectangle 3"/>
          <p:cNvSpPr>
            <a:spLocks noGrp="1" noChangeArrowheads="1"/>
          </p:cNvSpPr>
          <p:nvPr>
            <p:ph type="body" idx="1"/>
          </p:nvPr>
        </p:nvSpPr>
        <p:spPr>
          <a:xfrm>
            <a:off x="457200" y="1752600"/>
            <a:ext cx="8229600" cy="2819400"/>
          </a:xfrm>
        </p:spPr>
        <p:txBody>
          <a:bodyPr/>
          <a:lstStyle/>
          <a:p>
            <a:pPr marL="457200" indent="-457200"/>
            <a:r>
              <a:rPr lang="en-US" sz="3600"/>
              <a:t>                 </a:t>
            </a:r>
            <a:r>
              <a:rPr lang="en-US" sz="3600">
                <a:latin typeface="Times New Roman" pitchFamily="18" charset="0"/>
                <a:cs typeface="Times New Roman" pitchFamily="18" charset="0"/>
              </a:rPr>
              <a:t>point their lobes </a:t>
            </a:r>
            <a:r>
              <a:rPr lang="en-US" sz="3600" i="1">
                <a:latin typeface="Times New Roman" pitchFamily="18" charset="0"/>
                <a:cs typeface="Times New Roman" pitchFamily="18" charset="0"/>
              </a:rPr>
              <a:t>directly</a:t>
            </a:r>
            <a:r>
              <a:rPr lang="en-US" sz="3600">
                <a:latin typeface="Times New Roman" pitchFamily="18" charset="0"/>
                <a:cs typeface="Times New Roman" pitchFamily="18" charset="0"/>
              </a:rPr>
              <a:t> at the point-charge ligands.</a:t>
            </a:r>
          </a:p>
          <a:p>
            <a:pPr marL="457200" indent="-457200"/>
            <a:r>
              <a:rPr lang="en-US" sz="3600">
                <a:latin typeface="Times New Roman" pitchFamily="18" charset="0"/>
                <a:cs typeface="Times New Roman" pitchFamily="18" charset="0"/>
              </a:rPr>
              <a:t>                      point their lobes </a:t>
            </a:r>
            <a:r>
              <a:rPr lang="en-US" sz="3600" i="1">
                <a:latin typeface="Times New Roman" pitchFamily="18" charset="0"/>
                <a:cs typeface="Times New Roman" pitchFamily="18" charset="0"/>
              </a:rPr>
              <a:t>between</a:t>
            </a:r>
            <a:r>
              <a:rPr lang="en-US" sz="3600">
                <a:latin typeface="Times New Roman" pitchFamily="18" charset="0"/>
                <a:cs typeface="Times New Roman" pitchFamily="18" charset="0"/>
              </a:rPr>
              <a:t> the point charges.</a:t>
            </a:r>
          </a:p>
        </p:txBody>
      </p:sp>
      <p:sp>
        <p:nvSpPr>
          <p:cNvPr id="106500" name="Rectangle 4"/>
          <p:cNvSpPr>
            <a:spLocks noChangeArrowheads="1"/>
          </p:cNvSpPr>
          <p:nvPr/>
        </p:nvSpPr>
        <p:spPr bwMode="auto">
          <a:xfrm>
            <a:off x="0" y="3276600"/>
            <a:ext cx="9144000" cy="0"/>
          </a:xfrm>
          <a:prstGeom prst="rect">
            <a:avLst/>
          </a:prstGeom>
          <a:noFill/>
          <a:ln w="9525">
            <a:noFill/>
            <a:miter lim="800000"/>
            <a:headEnd/>
            <a:tailEnd/>
          </a:ln>
          <a:effectLst/>
        </p:spPr>
        <p:txBody>
          <a:bodyPr wrap="none" anchor="ctr">
            <a:spAutoFit/>
          </a:bodyPr>
          <a:lstStyle/>
          <a:p>
            <a:endParaRPr lang="en-US"/>
          </a:p>
        </p:txBody>
      </p:sp>
      <p:sp>
        <p:nvSpPr>
          <p:cNvPr id="106501" name="Rectangle 5"/>
          <p:cNvSpPr>
            <a:spLocks noChangeArrowheads="1"/>
          </p:cNvSpPr>
          <p:nvPr/>
        </p:nvSpPr>
        <p:spPr bwMode="auto">
          <a:xfrm>
            <a:off x="0" y="3181350"/>
            <a:ext cx="9144000" cy="0"/>
          </a:xfrm>
          <a:prstGeom prst="rect">
            <a:avLst/>
          </a:prstGeom>
          <a:noFill/>
          <a:ln w="9525">
            <a:noFill/>
            <a:miter lim="800000"/>
            <a:headEnd/>
            <a:tailEnd/>
          </a:ln>
          <a:effectLst/>
        </p:spPr>
        <p:txBody>
          <a:bodyPr wrap="none" anchor="ctr">
            <a:spAutoFit/>
          </a:bodyPr>
          <a:lstStyle/>
          <a:p>
            <a:endParaRPr lang="en-US"/>
          </a:p>
        </p:txBody>
      </p:sp>
      <p:graphicFrame>
        <p:nvGraphicFramePr>
          <p:cNvPr id="106502" name="Object 6"/>
          <p:cNvGraphicFramePr>
            <a:graphicFrameLocks noChangeAspect="1"/>
          </p:cNvGraphicFramePr>
          <p:nvPr/>
        </p:nvGraphicFramePr>
        <p:xfrm>
          <a:off x="990600" y="1905000"/>
          <a:ext cx="2009775" cy="495300"/>
        </p:xfrm>
        <a:graphic>
          <a:graphicData uri="http://schemas.openxmlformats.org/presentationml/2006/ole">
            <mc:AlternateContent xmlns:mc="http://schemas.openxmlformats.org/markup-compatibility/2006">
              <mc:Choice xmlns:v="urn:schemas-microsoft-com:vml" Requires="v">
                <p:oleObj spid="_x0000_s3076" name="Equation" r:id="rId4" imgW="2005729" imgH="495085" progId="">
                  <p:embed/>
                </p:oleObj>
              </mc:Choice>
              <mc:Fallback>
                <p:oleObj name="Equation" r:id="rId4" imgW="2005729" imgH="495085"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905000"/>
                        <a:ext cx="20097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6503" name="Rectangle 7"/>
          <p:cNvSpPr>
            <a:spLocks noChangeArrowheads="1"/>
          </p:cNvSpPr>
          <p:nvPr/>
        </p:nvSpPr>
        <p:spPr bwMode="auto">
          <a:xfrm>
            <a:off x="0" y="3195638"/>
            <a:ext cx="9144000" cy="0"/>
          </a:xfrm>
          <a:prstGeom prst="rect">
            <a:avLst/>
          </a:prstGeom>
          <a:noFill/>
          <a:ln w="9525">
            <a:noFill/>
            <a:miter lim="800000"/>
            <a:headEnd/>
            <a:tailEnd/>
          </a:ln>
          <a:effectLst/>
        </p:spPr>
        <p:txBody>
          <a:bodyPr wrap="none" anchor="ctr">
            <a:spAutoFit/>
          </a:bodyPr>
          <a:lstStyle/>
          <a:p>
            <a:endParaRPr lang="en-US"/>
          </a:p>
        </p:txBody>
      </p:sp>
      <p:graphicFrame>
        <p:nvGraphicFramePr>
          <p:cNvPr id="106504" name="Object 8"/>
          <p:cNvGraphicFramePr>
            <a:graphicFrameLocks noChangeAspect="1"/>
          </p:cNvGraphicFramePr>
          <p:nvPr/>
        </p:nvGraphicFramePr>
        <p:xfrm>
          <a:off x="1066800" y="3048000"/>
          <a:ext cx="2286000" cy="466725"/>
        </p:xfrm>
        <a:graphic>
          <a:graphicData uri="http://schemas.openxmlformats.org/presentationml/2006/ole">
            <mc:AlternateContent xmlns:mc="http://schemas.openxmlformats.org/markup-compatibility/2006">
              <mc:Choice xmlns:v="urn:schemas-microsoft-com:vml" Requires="v">
                <p:oleObj spid="_x0000_s3077" name="Equation" r:id="rId6" imgW="2286000" imgH="469900" progId="">
                  <p:embed/>
                </p:oleObj>
              </mc:Choice>
              <mc:Fallback>
                <p:oleObj name="Equation" r:id="rId6" imgW="2286000" imgH="4699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3048000"/>
                        <a:ext cx="22860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016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wipe(left)">
                                      <p:cBhvr>
                                        <p:cTn id="7" dur="500"/>
                                        <p:tgtEl>
                                          <p:spTgt spid="106499">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06502"/>
                                        </p:tgtEl>
                                        <p:attrNameLst>
                                          <p:attrName>style.visibility</p:attrName>
                                        </p:attrNameLst>
                                      </p:cBhvr>
                                      <p:to>
                                        <p:strVal val="visible"/>
                                      </p:to>
                                    </p:set>
                                    <p:animEffect transition="in" filter="wipe(left)">
                                      <p:cBhvr>
                                        <p:cTn id="10" dur="500"/>
                                        <p:tgtEl>
                                          <p:spTgt spid="10650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6499">
                                            <p:txEl>
                                              <p:pRg st="1" end="1"/>
                                            </p:txEl>
                                          </p:spTgt>
                                        </p:tgtEl>
                                        <p:attrNameLst>
                                          <p:attrName>style.visibility</p:attrName>
                                        </p:attrNameLst>
                                      </p:cBhvr>
                                      <p:to>
                                        <p:strVal val="visible"/>
                                      </p:to>
                                    </p:set>
                                    <p:animEffect transition="in" filter="wipe(left)">
                                      <p:cBhvr>
                                        <p:cTn id="15" dur="500"/>
                                        <p:tgtEl>
                                          <p:spTgt spid="106499">
                                            <p:txEl>
                                              <p:pRg st="1" end="1"/>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106504"/>
                                        </p:tgtEl>
                                        <p:attrNameLst>
                                          <p:attrName>style.visibility</p:attrName>
                                        </p:attrNameLst>
                                      </p:cBhvr>
                                      <p:to>
                                        <p:strVal val="visible"/>
                                      </p:to>
                                    </p:set>
                                    <p:animEffect transition="in" filter="wipe(left)">
                                      <p:cBhvr>
                                        <p:cTn id="18" dur="500"/>
                                        <p:tgtEl>
                                          <p:spTgt spid="106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457200" y="381000"/>
            <a:ext cx="8229600" cy="1295400"/>
          </a:xfrm>
        </p:spPr>
        <p:txBody>
          <a:bodyPr/>
          <a:lstStyle/>
          <a:p>
            <a:pPr>
              <a:spcBef>
                <a:spcPct val="20000"/>
              </a:spcBef>
            </a:pPr>
            <a:r>
              <a:rPr lang="en-US" altLang="en-US" sz="3200">
                <a:latin typeface="Times New Roman" pitchFamily="18" charset="0"/>
                <a:cs typeface="Times New Roman" pitchFamily="18" charset="0"/>
              </a:rPr>
              <a:t>An Octahedral Arrangement of Point-Charge Ligands and the Orientation of the 3</a:t>
            </a:r>
            <a:r>
              <a:rPr lang="en-US" altLang="en-US" sz="3200" i="1">
                <a:latin typeface="Times New Roman" pitchFamily="18" charset="0"/>
                <a:cs typeface="Times New Roman" pitchFamily="18" charset="0"/>
              </a:rPr>
              <a:t>d</a:t>
            </a:r>
            <a:r>
              <a:rPr lang="en-US" altLang="en-US" sz="3200">
                <a:latin typeface="Times New Roman" pitchFamily="18" charset="0"/>
                <a:cs typeface="Times New Roman" pitchFamily="18" charset="0"/>
              </a:rPr>
              <a:t> Orbitals</a:t>
            </a:r>
            <a:endParaRPr lang="en-US" sz="3200">
              <a:latin typeface="Times New Roman" pitchFamily="18" charset="0"/>
              <a:cs typeface="Times New Roman" pitchFamily="18" charset="0"/>
            </a:endParaRPr>
          </a:p>
        </p:txBody>
      </p:sp>
      <p:sp>
        <p:nvSpPr>
          <p:cNvPr id="10854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08548" name="Picture 4" descr="ch21_41"/>
          <p:cNvPicPr>
            <a:picLocks noChangeAspect="1" noChangeArrowheads="1"/>
          </p:cNvPicPr>
          <p:nvPr/>
        </p:nvPicPr>
        <p:blipFill>
          <a:blip r:embed="rId3"/>
          <a:srcRect/>
          <a:stretch>
            <a:fillRect/>
          </a:stretch>
        </p:blipFill>
        <p:spPr bwMode="auto">
          <a:xfrm>
            <a:off x="1600200" y="1981200"/>
            <a:ext cx="5715000" cy="427355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25394975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457200" y="381000"/>
            <a:ext cx="8229600" cy="838200"/>
          </a:xfrm>
        </p:spPr>
        <p:txBody>
          <a:bodyPr/>
          <a:lstStyle/>
          <a:p>
            <a:pPr>
              <a:spcBef>
                <a:spcPct val="20000"/>
              </a:spcBef>
            </a:pPr>
            <a:r>
              <a:rPr lang="en-US" sz="3600">
                <a:latin typeface="Times New Roman" pitchFamily="18" charset="0"/>
                <a:cs typeface="Times New Roman" pitchFamily="18" charset="0"/>
              </a:rPr>
              <a:t>Which Type of Orbital is Lower in Energy?</a:t>
            </a:r>
          </a:p>
        </p:txBody>
      </p:sp>
      <p:sp>
        <p:nvSpPr>
          <p:cNvPr id="110595" name="Rectangle 3"/>
          <p:cNvSpPr>
            <a:spLocks noGrp="1" noChangeArrowheads="1"/>
          </p:cNvSpPr>
          <p:nvPr>
            <p:ph type="body" idx="1"/>
          </p:nvPr>
        </p:nvSpPr>
        <p:spPr>
          <a:xfrm>
            <a:off x="457200" y="1524000"/>
            <a:ext cx="8229600" cy="4724400"/>
          </a:xfrm>
        </p:spPr>
        <p:txBody>
          <a:bodyPr/>
          <a:lstStyle/>
          <a:p>
            <a:pPr marL="457200" indent="-457200"/>
            <a:r>
              <a:rPr lang="en-US">
                <a:latin typeface="Times New Roman" pitchFamily="18" charset="0"/>
                <a:cs typeface="Times New Roman" pitchFamily="18" charset="0"/>
              </a:rPr>
              <a:t>Because the negative point-charge ligands repel negatively charged electrons, the electrons will first fill the </a:t>
            </a:r>
            <a:r>
              <a:rPr lang="en-US" i="1">
                <a:latin typeface="Times New Roman" pitchFamily="18" charset="0"/>
                <a:cs typeface="Times New Roman" pitchFamily="18" charset="0"/>
              </a:rPr>
              <a:t>d</a:t>
            </a:r>
            <a:r>
              <a:rPr lang="en-US">
                <a:latin typeface="Times New Roman" pitchFamily="18" charset="0"/>
                <a:cs typeface="Times New Roman" pitchFamily="18" charset="0"/>
              </a:rPr>
              <a:t> orbitals farthest from the ligands to minimize repulsions.</a:t>
            </a:r>
          </a:p>
          <a:p>
            <a:pPr marL="457200" indent="-457200"/>
            <a:r>
              <a:rPr lang="en-US">
                <a:latin typeface="Times New Roman" pitchFamily="18" charset="0"/>
                <a:cs typeface="Times New Roman" pitchFamily="18" charset="0"/>
              </a:rPr>
              <a:t>The 			 orbitals are at a </a:t>
            </a:r>
            <a:r>
              <a:rPr lang="en-US" i="1">
                <a:latin typeface="Times New Roman" pitchFamily="18" charset="0"/>
                <a:cs typeface="Times New Roman" pitchFamily="18" charset="0"/>
              </a:rPr>
              <a:t>lower</a:t>
            </a:r>
            <a:r>
              <a:rPr lang="en-US">
                <a:latin typeface="Times New Roman" pitchFamily="18" charset="0"/>
                <a:cs typeface="Times New Roman" pitchFamily="18" charset="0"/>
              </a:rPr>
              <a:t> energy in the octahedral complex than are the 			orbitals.</a:t>
            </a:r>
          </a:p>
        </p:txBody>
      </p:sp>
      <p:sp>
        <p:nvSpPr>
          <p:cNvPr id="110596"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110597" name="Rectangle 5"/>
          <p:cNvSpPr>
            <a:spLocks noChangeArrowheads="1"/>
          </p:cNvSpPr>
          <p:nvPr/>
        </p:nvSpPr>
        <p:spPr bwMode="auto">
          <a:xfrm>
            <a:off x="0" y="3181350"/>
            <a:ext cx="9144000" cy="0"/>
          </a:xfrm>
          <a:prstGeom prst="rect">
            <a:avLst/>
          </a:prstGeom>
          <a:noFill/>
          <a:ln w="9525">
            <a:noFill/>
            <a:miter lim="800000"/>
            <a:headEnd/>
            <a:tailEnd/>
          </a:ln>
          <a:effectLst/>
        </p:spPr>
        <p:txBody>
          <a:bodyPr wrap="none" anchor="ctr">
            <a:spAutoFit/>
          </a:bodyPr>
          <a:lstStyle/>
          <a:p>
            <a:endParaRPr lang="en-US"/>
          </a:p>
        </p:txBody>
      </p:sp>
      <p:sp>
        <p:nvSpPr>
          <p:cNvPr id="110598" name="Rectangle 6"/>
          <p:cNvSpPr>
            <a:spLocks noChangeArrowheads="1"/>
          </p:cNvSpPr>
          <p:nvPr/>
        </p:nvSpPr>
        <p:spPr bwMode="auto">
          <a:xfrm>
            <a:off x="0" y="3195638"/>
            <a:ext cx="9144000" cy="0"/>
          </a:xfrm>
          <a:prstGeom prst="rect">
            <a:avLst/>
          </a:prstGeom>
          <a:noFill/>
          <a:ln w="9525">
            <a:noFill/>
            <a:miter lim="800000"/>
            <a:headEnd/>
            <a:tailEnd/>
          </a:ln>
          <a:effectLst/>
        </p:spPr>
        <p:txBody>
          <a:bodyPr wrap="none" anchor="ctr">
            <a:spAutoFit/>
          </a:bodyPr>
          <a:lstStyle/>
          <a:p>
            <a:endParaRPr lang="en-US"/>
          </a:p>
        </p:txBody>
      </p:sp>
      <p:graphicFrame>
        <p:nvGraphicFramePr>
          <p:cNvPr id="110599" name="Object 7"/>
          <p:cNvGraphicFramePr>
            <a:graphicFrameLocks noChangeAspect="1"/>
          </p:cNvGraphicFramePr>
          <p:nvPr/>
        </p:nvGraphicFramePr>
        <p:xfrm>
          <a:off x="1066800" y="4724400"/>
          <a:ext cx="2009775" cy="495300"/>
        </p:xfrm>
        <a:graphic>
          <a:graphicData uri="http://schemas.openxmlformats.org/presentationml/2006/ole">
            <mc:AlternateContent xmlns:mc="http://schemas.openxmlformats.org/markup-compatibility/2006">
              <mc:Choice xmlns:v="urn:schemas-microsoft-com:vml" Requires="v">
                <p:oleObj spid="_x0000_s4100" name="Equation" r:id="rId4" imgW="2005729" imgH="495085" progId="">
                  <p:embed/>
                </p:oleObj>
              </mc:Choice>
              <mc:Fallback>
                <p:oleObj name="Equation" r:id="rId4" imgW="2005729" imgH="495085"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724400"/>
                        <a:ext cx="20097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600" name="Object 8"/>
          <p:cNvGraphicFramePr>
            <a:graphicFrameLocks noChangeAspect="1"/>
          </p:cNvGraphicFramePr>
          <p:nvPr/>
        </p:nvGraphicFramePr>
        <p:xfrm>
          <a:off x="1905000" y="3733800"/>
          <a:ext cx="2286000" cy="466725"/>
        </p:xfrm>
        <a:graphic>
          <a:graphicData uri="http://schemas.openxmlformats.org/presentationml/2006/ole">
            <mc:AlternateContent xmlns:mc="http://schemas.openxmlformats.org/markup-compatibility/2006">
              <mc:Choice xmlns:v="urn:schemas-microsoft-com:vml" Requires="v">
                <p:oleObj spid="_x0000_s4101" name="Equation" r:id="rId6" imgW="2286000" imgH="469900" progId="">
                  <p:embed/>
                </p:oleObj>
              </mc:Choice>
              <mc:Fallback>
                <p:oleObj name="Equation" r:id="rId6" imgW="2286000" imgH="4699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3733800"/>
                        <a:ext cx="22860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16958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animEffect transition="in" filter="wipe(left)">
                                      <p:cBhvr>
                                        <p:cTn id="7" dur="500"/>
                                        <p:tgtEl>
                                          <p:spTgt spid="110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595">
                                            <p:txEl>
                                              <p:pRg st="1" end="1"/>
                                            </p:txEl>
                                          </p:spTgt>
                                        </p:tgtEl>
                                        <p:attrNameLst>
                                          <p:attrName>style.visibility</p:attrName>
                                        </p:attrNameLst>
                                      </p:cBhvr>
                                      <p:to>
                                        <p:strVal val="visible"/>
                                      </p:to>
                                    </p:set>
                                    <p:animEffect transition="in" filter="wipe(left)">
                                      <p:cBhvr>
                                        <p:cTn id="12" dur="500"/>
                                        <p:tgtEl>
                                          <p:spTgt spid="110595">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110599"/>
                                        </p:tgtEl>
                                        <p:attrNameLst>
                                          <p:attrName>style.visibility</p:attrName>
                                        </p:attrNameLst>
                                      </p:cBhvr>
                                      <p:to>
                                        <p:strVal val="visible"/>
                                      </p:to>
                                    </p:set>
                                    <p:animEffect transition="in" filter="wipe(left)">
                                      <p:cBhvr>
                                        <p:cTn id="15" dur="500"/>
                                        <p:tgtEl>
                                          <p:spTgt spid="110599"/>
                                        </p:tgtEl>
                                      </p:cBhvr>
                                    </p:animEffect>
                                  </p:childTnLst>
                                </p:cTn>
                              </p:par>
                              <p:par>
                                <p:cTn id="16" presetID="22" presetClass="entr" presetSubtype="8" fill="hold" nodeType="withEffect">
                                  <p:stCondLst>
                                    <p:cond delay="0"/>
                                  </p:stCondLst>
                                  <p:childTnLst>
                                    <p:set>
                                      <p:cBhvr>
                                        <p:cTn id="17" dur="1" fill="hold">
                                          <p:stCondLst>
                                            <p:cond delay="0"/>
                                          </p:stCondLst>
                                        </p:cTn>
                                        <p:tgtEl>
                                          <p:spTgt spid="110600"/>
                                        </p:tgtEl>
                                        <p:attrNameLst>
                                          <p:attrName>style.visibility</p:attrName>
                                        </p:attrNameLst>
                                      </p:cBhvr>
                                      <p:to>
                                        <p:strVal val="visible"/>
                                      </p:to>
                                    </p:set>
                                    <p:animEffect transition="in" filter="wipe(left)">
                                      <p:cBhvr>
                                        <p:cTn id="18" dur="500"/>
                                        <p:tgtEl>
                                          <p:spTgt spid="110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457200" y="457200"/>
            <a:ext cx="8229600" cy="1371600"/>
          </a:xfrm>
        </p:spPr>
        <p:txBody>
          <a:bodyPr/>
          <a:lstStyle/>
          <a:p>
            <a:pPr>
              <a:spcBef>
                <a:spcPct val="20000"/>
              </a:spcBef>
            </a:pPr>
            <a:r>
              <a:rPr lang="en-US" altLang="en-US" sz="3600">
                <a:latin typeface="Times New Roman" pitchFamily="18" charset="0"/>
                <a:cs typeface="Times New Roman" pitchFamily="18" charset="0"/>
              </a:rPr>
              <a:t>The Energies of the 3</a:t>
            </a:r>
            <a:r>
              <a:rPr lang="en-US" altLang="en-US" sz="3600" i="1">
                <a:latin typeface="Times New Roman" pitchFamily="18" charset="0"/>
                <a:cs typeface="Times New Roman" pitchFamily="18" charset="0"/>
              </a:rPr>
              <a:t>d</a:t>
            </a:r>
            <a:r>
              <a:rPr lang="en-US" altLang="en-US" sz="3600">
                <a:latin typeface="Times New Roman" pitchFamily="18" charset="0"/>
                <a:cs typeface="Times New Roman" pitchFamily="18" charset="0"/>
              </a:rPr>
              <a:t> Orbitals for a Metal Ion in an Octahedral Complex</a:t>
            </a:r>
            <a:endParaRPr lang="en-US" sz="3600">
              <a:latin typeface="Times New Roman" pitchFamily="18" charset="0"/>
              <a:cs typeface="Times New Roman" pitchFamily="18" charset="0"/>
            </a:endParaRPr>
          </a:p>
        </p:txBody>
      </p:sp>
      <p:sp>
        <p:nvSpPr>
          <p:cNvPr id="112643"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12644" name="Picture 4" descr="ch21_42"/>
          <p:cNvPicPr>
            <a:picLocks noChangeAspect="1" noChangeArrowheads="1"/>
          </p:cNvPicPr>
          <p:nvPr/>
        </p:nvPicPr>
        <p:blipFill>
          <a:blip r:embed="rId3"/>
          <a:srcRect/>
          <a:stretch>
            <a:fillRect/>
          </a:stretch>
        </p:blipFill>
        <p:spPr bwMode="auto">
          <a:xfrm>
            <a:off x="1905000" y="2133600"/>
            <a:ext cx="4648200" cy="3995738"/>
          </a:xfrm>
          <a:prstGeom prst="rect">
            <a:avLst/>
          </a:prstGeom>
          <a:noFill/>
          <a:ln w="12700">
            <a:solidFill>
              <a:schemeClr val="tx1"/>
            </a:solidFill>
            <a:miter lim="800000"/>
            <a:headEnd/>
            <a:tailEnd/>
          </a:ln>
        </p:spPr>
      </p:pic>
    </p:spTree>
    <p:extLst>
      <p:ext uri="{BB962C8B-B14F-4D97-AF65-F5344CB8AC3E}">
        <p14:creationId xmlns:p14="http://schemas.microsoft.com/office/powerpoint/2010/main" val="1186167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304800" y="304800"/>
            <a:ext cx="8458200" cy="1143000"/>
          </a:xfrm>
        </p:spPr>
        <p:txBody>
          <a:bodyPr/>
          <a:lstStyle/>
          <a:p>
            <a:pPr>
              <a:spcBef>
                <a:spcPct val="20000"/>
              </a:spcBef>
            </a:pPr>
            <a:r>
              <a:rPr lang="en-US" altLang="en-US" sz="3200">
                <a:latin typeface="Times New Roman" pitchFamily="18" charset="0"/>
                <a:cs typeface="Times New Roman" pitchFamily="18" charset="0"/>
              </a:rPr>
              <a:t>Possible Electron Arrangements in the Split 3</a:t>
            </a:r>
            <a:r>
              <a:rPr lang="en-US" altLang="en-US" sz="3200" i="1">
                <a:latin typeface="Times New Roman" pitchFamily="18" charset="0"/>
                <a:cs typeface="Times New Roman" pitchFamily="18" charset="0"/>
              </a:rPr>
              <a:t>d</a:t>
            </a:r>
            <a:r>
              <a:rPr lang="en-US" altLang="en-US" sz="3200">
                <a:latin typeface="Times New Roman" pitchFamily="18" charset="0"/>
                <a:cs typeface="Times New Roman" pitchFamily="18" charset="0"/>
              </a:rPr>
              <a:t> Orbitals in an Octahedral Complex of Co</a:t>
            </a:r>
            <a:r>
              <a:rPr lang="en-US" altLang="en-US" sz="3200" baseline="30000">
                <a:latin typeface="Times New Roman" pitchFamily="18" charset="0"/>
                <a:cs typeface="Times New Roman" pitchFamily="18" charset="0"/>
              </a:rPr>
              <a:t>3+</a:t>
            </a:r>
            <a:endParaRPr lang="en-US" sz="3200" baseline="30000">
              <a:latin typeface="Times New Roman" pitchFamily="18" charset="0"/>
              <a:cs typeface="Times New Roman" pitchFamily="18" charset="0"/>
            </a:endParaRPr>
          </a:p>
        </p:txBody>
      </p:sp>
      <p:sp>
        <p:nvSpPr>
          <p:cNvPr id="11469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14692" name="Picture 4" descr="ch21_43"/>
          <p:cNvPicPr>
            <a:picLocks noChangeAspect="1" noChangeArrowheads="1"/>
          </p:cNvPicPr>
          <p:nvPr/>
        </p:nvPicPr>
        <p:blipFill>
          <a:blip r:embed="rId3"/>
          <a:srcRect/>
          <a:stretch>
            <a:fillRect/>
          </a:stretch>
        </p:blipFill>
        <p:spPr bwMode="auto">
          <a:xfrm>
            <a:off x="2590800" y="1600200"/>
            <a:ext cx="3852863" cy="4953000"/>
          </a:xfrm>
          <a:prstGeom prst="rect">
            <a:avLst/>
          </a:prstGeom>
          <a:noFill/>
          <a:ln w="12700">
            <a:solidFill>
              <a:schemeClr val="tx1"/>
            </a:solidFill>
            <a:miter lim="800000"/>
            <a:headEnd/>
            <a:tailEnd/>
          </a:ln>
        </p:spPr>
      </p:pic>
    </p:spTree>
    <p:extLst>
      <p:ext uri="{BB962C8B-B14F-4D97-AF65-F5344CB8AC3E}">
        <p14:creationId xmlns:p14="http://schemas.microsoft.com/office/powerpoint/2010/main" val="3907174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457200" y="274638"/>
            <a:ext cx="7010400" cy="1143000"/>
          </a:xfrm>
        </p:spPr>
        <p:txBody>
          <a:bodyPr/>
          <a:lstStyle/>
          <a:p>
            <a:pPr>
              <a:spcBef>
                <a:spcPct val="20000"/>
              </a:spcBef>
            </a:pPr>
            <a:r>
              <a:rPr lang="en-US" sz="4000">
                <a:latin typeface="Times New Roman" pitchFamily="18" charset="0"/>
                <a:cs typeface="Times New Roman" pitchFamily="18" charset="0"/>
              </a:rPr>
              <a:t>Magnetic Properties</a:t>
            </a:r>
          </a:p>
        </p:txBody>
      </p:sp>
      <p:sp>
        <p:nvSpPr>
          <p:cNvPr id="116739" name="Rectangle 3"/>
          <p:cNvSpPr>
            <a:spLocks noGrp="1" noChangeArrowheads="1"/>
          </p:cNvSpPr>
          <p:nvPr>
            <p:ph type="body" idx="1"/>
          </p:nvPr>
        </p:nvSpPr>
        <p:spPr>
          <a:xfrm>
            <a:off x="685800" y="1752600"/>
            <a:ext cx="8001000" cy="4419600"/>
          </a:xfrm>
        </p:spPr>
        <p:txBody>
          <a:bodyPr/>
          <a:lstStyle/>
          <a:p>
            <a:pPr marL="457200" indent="-457200"/>
            <a:r>
              <a:rPr lang="en-US" sz="3600">
                <a:latin typeface="Times New Roman" pitchFamily="18" charset="0"/>
                <a:cs typeface="Times New Roman" pitchFamily="18" charset="0"/>
              </a:rPr>
              <a:t>Strong–field (low–spin):</a:t>
            </a:r>
          </a:p>
          <a:p>
            <a:pPr marL="914400" lvl="1" indent="-457200">
              <a:buFont typeface="Wingdings" pitchFamily="2" charset="2"/>
              <a:buChar char="§"/>
            </a:pPr>
            <a:r>
              <a:rPr lang="en-US" sz="3200">
                <a:latin typeface="Times New Roman" pitchFamily="18" charset="0"/>
                <a:cs typeface="Times New Roman" pitchFamily="18" charset="0"/>
              </a:rPr>
              <a:t>Yields the minimum number of unpaired electrons.</a:t>
            </a:r>
          </a:p>
          <a:p>
            <a:pPr marL="457200" indent="-457200"/>
            <a:r>
              <a:rPr lang="en-US" sz="3600">
                <a:latin typeface="Times New Roman" pitchFamily="18" charset="0"/>
                <a:cs typeface="Times New Roman" pitchFamily="18" charset="0"/>
              </a:rPr>
              <a:t>Weak–field (high–spin):</a:t>
            </a:r>
          </a:p>
          <a:p>
            <a:pPr marL="914400" lvl="1" indent="-457200">
              <a:buFont typeface="Wingdings" pitchFamily="2" charset="2"/>
              <a:buChar char="§"/>
            </a:pPr>
            <a:r>
              <a:rPr lang="en-US" sz="3200">
                <a:latin typeface="Times New Roman" pitchFamily="18" charset="0"/>
                <a:cs typeface="Times New Roman" pitchFamily="18" charset="0"/>
              </a:rPr>
              <a:t>Gives the maximum number of unpaired electrons.</a:t>
            </a:r>
          </a:p>
          <a:p>
            <a:pPr marL="457200" indent="-457200"/>
            <a:r>
              <a:rPr lang="en-US" sz="3600">
                <a:latin typeface="Times New Roman" pitchFamily="18" charset="0"/>
                <a:cs typeface="Times New Roman" pitchFamily="18" charset="0"/>
              </a:rPr>
              <a:t>Hund’s rule still applies.</a:t>
            </a:r>
          </a:p>
        </p:txBody>
      </p:sp>
      <p:sp>
        <p:nvSpPr>
          <p:cNvPr id="11674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211755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wipe(left)">
                                      <p:cBhvr>
                                        <p:cTn id="7" dur="500"/>
                                        <p:tgtEl>
                                          <p:spTgt spid="1167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6739">
                                            <p:txEl>
                                              <p:pRg st="1" end="1"/>
                                            </p:txEl>
                                          </p:spTgt>
                                        </p:tgtEl>
                                        <p:attrNameLst>
                                          <p:attrName>style.visibility</p:attrName>
                                        </p:attrNameLst>
                                      </p:cBhvr>
                                      <p:to>
                                        <p:strVal val="visible"/>
                                      </p:to>
                                    </p:set>
                                    <p:animEffect transition="in" filter="wipe(left)">
                                      <p:cBhvr>
                                        <p:cTn id="12" dur="500"/>
                                        <p:tgtEl>
                                          <p:spTgt spid="1167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6739">
                                            <p:txEl>
                                              <p:pRg st="2" end="2"/>
                                            </p:txEl>
                                          </p:spTgt>
                                        </p:tgtEl>
                                        <p:attrNameLst>
                                          <p:attrName>style.visibility</p:attrName>
                                        </p:attrNameLst>
                                      </p:cBhvr>
                                      <p:to>
                                        <p:strVal val="visible"/>
                                      </p:to>
                                    </p:set>
                                    <p:animEffect transition="in" filter="wipe(left)">
                                      <p:cBhvr>
                                        <p:cTn id="17" dur="500"/>
                                        <p:tgtEl>
                                          <p:spTgt spid="1167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6739">
                                            <p:txEl>
                                              <p:pRg st="3" end="3"/>
                                            </p:txEl>
                                          </p:spTgt>
                                        </p:tgtEl>
                                        <p:attrNameLst>
                                          <p:attrName>style.visibility</p:attrName>
                                        </p:attrNameLst>
                                      </p:cBhvr>
                                      <p:to>
                                        <p:strVal val="visible"/>
                                      </p:to>
                                    </p:set>
                                    <p:animEffect transition="in" filter="wipe(left)">
                                      <p:cBhvr>
                                        <p:cTn id="22" dur="500"/>
                                        <p:tgtEl>
                                          <p:spTgt spid="1167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6739">
                                            <p:txEl>
                                              <p:pRg st="4" end="4"/>
                                            </p:txEl>
                                          </p:spTgt>
                                        </p:tgtEl>
                                        <p:attrNameLst>
                                          <p:attrName>style.visibility</p:attrName>
                                        </p:attrNameLst>
                                      </p:cBhvr>
                                      <p:to>
                                        <p:strVal val="visible"/>
                                      </p:to>
                                    </p:set>
                                    <p:animEffect transition="in" filter="wipe(left)">
                                      <p:cBhvr>
                                        <p:cTn id="27" dur="500"/>
                                        <p:tgtEl>
                                          <p:spTgt spid="1167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457200" y="274638"/>
            <a:ext cx="7239000" cy="1143000"/>
          </a:xfrm>
        </p:spPr>
        <p:txBody>
          <a:bodyPr/>
          <a:lstStyle/>
          <a:p>
            <a:pPr>
              <a:spcBef>
                <a:spcPct val="20000"/>
              </a:spcBef>
            </a:pPr>
            <a:r>
              <a:rPr lang="en-US" sz="4000">
                <a:latin typeface="Times New Roman" pitchFamily="18" charset="0"/>
                <a:cs typeface="Times New Roman" pitchFamily="18" charset="0"/>
              </a:rPr>
              <a:t>Spectrochemical Series</a:t>
            </a:r>
          </a:p>
        </p:txBody>
      </p:sp>
      <p:sp>
        <p:nvSpPr>
          <p:cNvPr id="118787" name="Rectangle 3"/>
          <p:cNvSpPr>
            <a:spLocks noGrp="1" noChangeArrowheads="1"/>
          </p:cNvSpPr>
          <p:nvPr>
            <p:ph type="body" idx="1"/>
          </p:nvPr>
        </p:nvSpPr>
        <p:spPr>
          <a:xfrm>
            <a:off x="228600" y="1752600"/>
            <a:ext cx="8686800" cy="3733800"/>
          </a:xfrm>
        </p:spPr>
        <p:txBody>
          <a:bodyPr/>
          <a:lstStyle/>
          <a:p>
            <a:pPr marL="457200" indent="-457200"/>
            <a:r>
              <a:rPr lang="en-US">
                <a:latin typeface="Times New Roman" pitchFamily="18" charset="0"/>
                <a:cs typeface="Times New Roman" pitchFamily="18" charset="0"/>
              </a:rPr>
              <a:t>Strong–field ligands to weak–field ligands.</a:t>
            </a:r>
          </a:p>
          <a:p>
            <a:pPr marL="457200" indent="-457200">
              <a:buFontTx/>
              <a:buNone/>
            </a:pPr>
            <a:r>
              <a:rPr lang="en-US" sz="2000"/>
              <a:t>	</a:t>
            </a:r>
          </a:p>
          <a:p>
            <a:pPr marL="457200" indent="-457200">
              <a:buFontTx/>
              <a:buNone/>
            </a:pPr>
            <a:r>
              <a:rPr lang="en-US" sz="2800">
                <a:solidFill>
                  <a:srgbClr val="FF0000"/>
                </a:solidFill>
                <a:latin typeface="Times New Roman" pitchFamily="18" charset="0"/>
                <a:cs typeface="Times New Roman" pitchFamily="18" charset="0"/>
              </a:rPr>
              <a:t>(large split)</a:t>
            </a:r>
            <a:r>
              <a:rPr lang="en-US" sz="2800">
                <a:latin typeface="Times New Roman" pitchFamily="18" charset="0"/>
                <a:cs typeface="Times New Roman" pitchFamily="18" charset="0"/>
              </a:rPr>
              <a:t>				  		   </a:t>
            </a:r>
            <a:r>
              <a:rPr lang="en-US" sz="2800">
                <a:solidFill>
                  <a:srgbClr val="FF0000"/>
                </a:solidFill>
                <a:latin typeface="Times New Roman" pitchFamily="18" charset="0"/>
                <a:cs typeface="Times New Roman" pitchFamily="18" charset="0"/>
              </a:rPr>
              <a:t>(small split)</a:t>
            </a:r>
          </a:p>
          <a:p>
            <a:pPr marL="457200" indent="-457200">
              <a:buFontTx/>
              <a:buNone/>
            </a:pPr>
            <a:r>
              <a:rPr lang="en-US" sz="2800">
                <a:solidFill>
                  <a:srgbClr val="0000FF"/>
                </a:solidFill>
                <a:latin typeface="Times New Roman" pitchFamily="18" charset="0"/>
                <a:cs typeface="Times New Roman" pitchFamily="18" charset="0"/>
              </a:rPr>
              <a:t>CN</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NO</a:t>
            </a:r>
            <a:r>
              <a:rPr lang="en-US" sz="2800" baseline="-25000">
                <a:solidFill>
                  <a:srgbClr val="0000FF"/>
                </a:solidFill>
                <a:latin typeface="Times New Roman" pitchFamily="18" charset="0"/>
                <a:cs typeface="Times New Roman" pitchFamily="18" charset="0"/>
              </a:rPr>
              <a:t>2</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en &gt; NH</a:t>
            </a:r>
            <a:r>
              <a:rPr lang="en-US" sz="2800" baseline="-25000">
                <a:solidFill>
                  <a:srgbClr val="0000FF"/>
                </a:solidFill>
                <a:latin typeface="Times New Roman" pitchFamily="18" charset="0"/>
                <a:cs typeface="Times New Roman" pitchFamily="18" charset="0"/>
              </a:rPr>
              <a:t>3</a:t>
            </a:r>
            <a:r>
              <a:rPr lang="en-US" sz="2800">
                <a:solidFill>
                  <a:srgbClr val="0000FF"/>
                </a:solidFill>
                <a:latin typeface="Times New Roman" pitchFamily="18" charset="0"/>
                <a:cs typeface="Times New Roman" pitchFamily="18" charset="0"/>
              </a:rPr>
              <a:t> &gt; H</a:t>
            </a:r>
            <a:r>
              <a:rPr lang="en-US" sz="2800" baseline="-25000">
                <a:solidFill>
                  <a:srgbClr val="0000FF"/>
                </a:solidFill>
                <a:latin typeface="Times New Roman" pitchFamily="18" charset="0"/>
                <a:cs typeface="Times New Roman" pitchFamily="18" charset="0"/>
              </a:rPr>
              <a:t>2</a:t>
            </a:r>
            <a:r>
              <a:rPr lang="en-US" sz="2800">
                <a:solidFill>
                  <a:srgbClr val="0000FF"/>
                </a:solidFill>
                <a:latin typeface="Times New Roman" pitchFamily="18" charset="0"/>
                <a:cs typeface="Times New Roman" pitchFamily="18" charset="0"/>
              </a:rPr>
              <a:t>O &gt; OH</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F</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Cl</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Br</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I</a:t>
            </a:r>
            <a:r>
              <a:rPr lang="en-US" sz="2800" baseline="30000">
                <a:solidFill>
                  <a:srgbClr val="0000FF"/>
                </a:solidFill>
                <a:latin typeface="Times New Roman" pitchFamily="18" charset="0"/>
                <a:cs typeface="Times New Roman" pitchFamily="18" charset="0"/>
              </a:rPr>
              <a:t>–</a:t>
            </a:r>
          </a:p>
          <a:p>
            <a:pPr marL="457200" indent="-457200">
              <a:buFontTx/>
              <a:buNone/>
            </a:pPr>
            <a:endParaRPr lang="en-US" sz="2800" baseline="30000">
              <a:solidFill>
                <a:srgbClr val="0000FF"/>
              </a:solidFill>
              <a:latin typeface="Times New Roman" pitchFamily="18" charset="0"/>
              <a:cs typeface="Times New Roman" pitchFamily="18" charset="0"/>
            </a:endParaRPr>
          </a:p>
          <a:p>
            <a:pPr marL="457200" indent="-457200"/>
            <a:r>
              <a:rPr lang="en-US">
                <a:latin typeface="Times New Roman" pitchFamily="18" charset="0"/>
                <a:cs typeface="Times New Roman" pitchFamily="18" charset="0"/>
              </a:rPr>
              <a:t>Magnitude of split for a given ligand increases as the charge on the metal ion increases.</a:t>
            </a:r>
          </a:p>
        </p:txBody>
      </p:sp>
      <p:sp>
        <p:nvSpPr>
          <p:cNvPr id="118788"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36329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wipe(left)">
                                      <p:cBhvr>
                                        <p:cTn id="7" dur="500"/>
                                        <p:tgtEl>
                                          <p:spTgt spid="11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8787">
                                            <p:txEl>
                                              <p:pRg st="2" end="2"/>
                                            </p:txEl>
                                          </p:spTgt>
                                        </p:tgtEl>
                                        <p:attrNameLst>
                                          <p:attrName>style.visibility</p:attrName>
                                        </p:attrNameLst>
                                      </p:cBhvr>
                                      <p:to>
                                        <p:strVal val="visible"/>
                                      </p:to>
                                    </p:set>
                                    <p:animEffect transition="in" filter="wipe(left)">
                                      <p:cBhvr>
                                        <p:cTn id="12" dur="500"/>
                                        <p:tgtEl>
                                          <p:spTgt spid="118787">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18787">
                                            <p:txEl>
                                              <p:pRg st="3" end="3"/>
                                            </p:txEl>
                                          </p:spTgt>
                                        </p:tgtEl>
                                        <p:attrNameLst>
                                          <p:attrName>style.visibility</p:attrName>
                                        </p:attrNameLst>
                                      </p:cBhvr>
                                      <p:to>
                                        <p:strVal val="visible"/>
                                      </p:to>
                                    </p:set>
                                    <p:animEffect transition="in" filter="wipe(left)">
                                      <p:cBhvr>
                                        <p:cTn id="15" dur="500"/>
                                        <p:tgtEl>
                                          <p:spTgt spid="118787">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8787">
                                            <p:txEl>
                                              <p:pRg st="5" end="5"/>
                                            </p:txEl>
                                          </p:spTgt>
                                        </p:tgtEl>
                                        <p:attrNameLst>
                                          <p:attrName>style.visibility</p:attrName>
                                        </p:attrNameLst>
                                      </p:cBhvr>
                                      <p:to>
                                        <p:strVal val="visible"/>
                                      </p:to>
                                    </p:set>
                                    <p:animEffect transition="in" filter="wipe(left)">
                                      <p:cBhvr>
                                        <p:cTn id="20" dur="500"/>
                                        <p:tgtEl>
                                          <p:spTgt spid="1187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685800" y="274638"/>
            <a:ext cx="7239000" cy="1143000"/>
          </a:xfrm>
        </p:spPr>
        <p:txBody>
          <a:bodyPr/>
          <a:lstStyle/>
          <a:p>
            <a:pPr>
              <a:spcBef>
                <a:spcPct val="20000"/>
              </a:spcBef>
            </a:pPr>
            <a:r>
              <a:rPr lang="en-US" sz="4000" dirty="0">
                <a:latin typeface="Times New Roman" pitchFamily="18" charset="0"/>
                <a:cs typeface="Times New Roman" pitchFamily="18" charset="0"/>
              </a:rPr>
              <a:t>Complex Ion </a:t>
            </a:r>
            <a:r>
              <a:rPr lang="en-US" sz="4000" dirty="0" err="1">
                <a:latin typeface="Times New Roman" pitchFamily="18" charset="0"/>
                <a:cs typeface="Times New Roman" pitchFamily="18" charset="0"/>
              </a:rPr>
              <a:t>Colours</a:t>
            </a:r>
            <a:endParaRPr lang="en-US" sz="4000" dirty="0">
              <a:latin typeface="Times New Roman" pitchFamily="18" charset="0"/>
              <a:cs typeface="Times New Roman" pitchFamily="18" charset="0"/>
            </a:endParaRPr>
          </a:p>
        </p:txBody>
      </p:sp>
      <p:sp>
        <p:nvSpPr>
          <p:cNvPr id="120835" name="Rectangle 3"/>
          <p:cNvSpPr>
            <a:spLocks noGrp="1" noChangeArrowheads="1"/>
          </p:cNvSpPr>
          <p:nvPr>
            <p:ph type="body" idx="1"/>
          </p:nvPr>
        </p:nvSpPr>
        <p:spPr>
          <a:xfrm>
            <a:off x="457200" y="1752600"/>
            <a:ext cx="8229600" cy="4267200"/>
          </a:xfrm>
        </p:spPr>
        <p:txBody>
          <a:bodyPr/>
          <a:lstStyle/>
          <a:p>
            <a:pPr marL="457200" indent="-457200"/>
            <a:r>
              <a:rPr lang="en-US" sz="3600" dirty="0">
                <a:latin typeface="Times New Roman" pitchFamily="18" charset="0"/>
                <a:cs typeface="Times New Roman" pitchFamily="18" charset="0"/>
              </a:rPr>
              <a:t>When a substance absorbs certain wavelengths of light in the visible region, the </a:t>
            </a:r>
            <a:r>
              <a:rPr lang="en-US" sz="3600" dirty="0" err="1">
                <a:latin typeface="Times New Roman" pitchFamily="18" charset="0"/>
                <a:cs typeface="Times New Roman" pitchFamily="18" charset="0"/>
              </a:rPr>
              <a:t>colour</a:t>
            </a:r>
            <a:r>
              <a:rPr lang="en-US" sz="3600" dirty="0">
                <a:latin typeface="Times New Roman" pitchFamily="18" charset="0"/>
                <a:cs typeface="Times New Roman" pitchFamily="18" charset="0"/>
              </a:rPr>
              <a:t> of the substance is determined by the wavelengths of visible light that remain.</a:t>
            </a:r>
          </a:p>
          <a:p>
            <a:pPr marL="914400" lvl="1" indent="-457200">
              <a:buFont typeface="Wingdings" pitchFamily="2" charset="2"/>
              <a:buChar char="§"/>
            </a:pPr>
            <a:r>
              <a:rPr lang="en-US" sz="3200" dirty="0">
                <a:latin typeface="Times New Roman" pitchFamily="18" charset="0"/>
                <a:cs typeface="Times New Roman" pitchFamily="18" charset="0"/>
              </a:rPr>
              <a:t>Substance exhibits the </a:t>
            </a:r>
            <a:r>
              <a:rPr lang="en-US" sz="3200" dirty="0" err="1">
                <a:latin typeface="Times New Roman" pitchFamily="18" charset="0"/>
                <a:cs typeface="Times New Roman" pitchFamily="18" charset="0"/>
              </a:rPr>
              <a:t>colour</a:t>
            </a:r>
            <a:r>
              <a:rPr lang="en-US" sz="3200" dirty="0">
                <a:latin typeface="Times New Roman" pitchFamily="18" charset="0"/>
                <a:cs typeface="Times New Roman" pitchFamily="18" charset="0"/>
              </a:rPr>
              <a:t> complementary to those absorbed.</a:t>
            </a:r>
          </a:p>
        </p:txBody>
      </p:sp>
      <p:sp>
        <p:nvSpPr>
          <p:cNvPr id="120836"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234145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wipe(left)">
                                      <p:cBhvr>
                                        <p:cTn id="7" dur="500"/>
                                        <p:tgtEl>
                                          <p:spTgt spid="120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35">
                                            <p:txEl>
                                              <p:pRg st="1" end="1"/>
                                            </p:txEl>
                                          </p:spTgt>
                                        </p:tgtEl>
                                        <p:attrNameLst>
                                          <p:attrName>style.visibility</p:attrName>
                                        </p:attrNameLst>
                                      </p:cBhvr>
                                      <p:to>
                                        <p:strVal val="visible"/>
                                      </p:to>
                                    </p:set>
                                    <p:animEffect transition="in" filter="wipe(left)">
                                      <p:cBhvr>
                                        <p:cTn id="12" dur="500"/>
                                        <p:tgtEl>
                                          <p:spTgt spid="1208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685800" y="274638"/>
            <a:ext cx="7467600" cy="1143000"/>
          </a:xfrm>
        </p:spPr>
        <p:txBody>
          <a:bodyPr/>
          <a:lstStyle/>
          <a:p>
            <a:pPr>
              <a:spcBef>
                <a:spcPct val="20000"/>
              </a:spcBef>
            </a:pPr>
            <a:r>
              <a:rPr lang="en-US" sz="4000" dirty="0">
                <a:latin typeface="Times New Roman" pitchFamily="18" charset="0"/>
                <a:cs typeface="Times New Roman" pitchFamily="18" charset="0"/>
              </a:rPr>
              <a:t>Complex Ion </a:t>
            </a:r>
            <a:r>
              <a:rPr lang="en-US" sz="4000" dirty="0" err="1">
                <a:latin typeface="Times New Roman" pitchFamily="18" charset="0"/>
                <a:cs typeface="Times New Roman" pitchFamily="18" charset="0"/>
              </a:rPr>
              <a:t>Colours</a:t>
            </a:r>
            <a:endParaRPr lang="en-US" sz="4000" dirty="0">
              <a:latin typeface="Times New Roman" pitchFamily="18" charset="0"/>
              <a:cs typeface="Times New Roman" pitchFamily="18" charset="0"/>
            </a:endParaRPr>
          </a:p>
        </p:txBody>
      </p:sp>
      <p:sp>
        <p:nvSpPr>
          <p:cNvPr id="122883" name="Rectangle 3"/>
          <p:cNvSpPr>
            <a:spLocks noGrp="1" noChangeArrowheads="1"/>
          </p:cNvSpPr>
          <p:nvPr>
            <p:ph type="body" idx="1"/>
          </p:nvPr>
        </p:nvSpPr>
        <p:spPr>
          <a:xfrm>
            <a:off x="457200" y="1828800"/>
            <a:ext cx="8229600" cy="4038600"/>
          </a:xfrm>
        </p:spPr>
        <p:txBody>
          <a:bodyPr/>
          <a:lstStyle/>
          <a:p>
            <a:pPr marL="457200" indent="-457200"/>
            <a:r>
              <a:rPr lang="en-US" dirty="0">
                <a:latin typeface="Times New Roman" pitchFamily="18" charset="0"/>
                <a:cs typeface="Times New Roman" pitchFamily="18" charset="0"/>
              </a:rPr>
              <a:t>The </a:t>
            </a:r>
            <a:r>
              <a:rPr lang="en-US" dirty="0" err="1">
                <a:latin typeface="Times New Roman" pitchFamily="18" charset="0"/>
                <a:cs typeface="Times New Roman" pitchFamily="18" charset="0"/>
              </a:rPr>
              <a:t>ligands</a:t>
            </a:r>
            <a:r>
              <a:rPr lang="en-US" dirty="0">
                <a:latin typeface="Times New Roman" pitchFamily="18" charset="0"/>
                <a:cs typeface="Times New Roman" pitchFamily="18" charset="0"/>
              </a:rPr>
              <a:t> coordinated to a given metal ion determine the size of the </a:t>
            </a:r>
            <a:r>
              <a:rPr lang="en-US" i="1" dirty="0">
                <a:latin typeface="Times New Roman" pitchFamily="18" charset="0"/>
                <a:cs typeface="Times New Roman" pitchFamily="18" charset="0"/>
              </a:rPr>
              <a:t>d</a:t>
            </a:r>
            <a:r>
              <a:rPr lang="en-US" dirty="0">
                <a:latin typeface="Times New Roman" pitchFamily="18" charset="0"/>
                <a:cs typeface="Times New Roman" pitchFamily="18" charset="0"/>
              </a:rPr>
              <a:t>–orbital splitting, thus the </a:t>
            </a:r>
            <a:r>
              <a:rPr lang="en-US" dirty="0" err="1">
                <a:latin typeface="Times New Roman" pitchFamily="18" charset="0"/>
                <a:cs typeface="Times New Roman" pitchFamily="18" charset="0"/>
              </a:rPr>
              <a:t>colour</a:t>
            </a:r>
            <a:r>
              <a:rPr lang="en-US" dirty="0">
                <a:latin typeface="Times New Roman" pitchFamily="18" charset="0"/>
                <a:cs typeface="Times New Roman" pitchFamily="18" charset="0"/>
              </a:rPr>
              <a:t> changes as the </a:t>
            </a:r>
            <a:r>
              <a:rPr lang="en-US" dirty="0" err="1">
                <a:latin typeface="Times New Roman" pitchFamily="18" charset="0"/>
                <a:cs typeface="Times New Roman" pitchFamily="18" charset="0"/>
              </a:rPr>
              <a:t>ligands</a:t>
            </a:r>
            <a:r>
              <a:rPr lang="en-US" dirty="0">
                <a:latin typeface="Times New Roman" pitchFamily="18" charset="0"/>
                <a:cs typeface="Times New Roman" pitchFamily="18" charset="0"/>
              </a:rPr>
              <a:t> are changed.</a:t>
            </a:r>
          </a:p>
          <a:p>
            <a:pPr marL="457200" indent="-457200"/>
            <a:r>
              <a:rPr lang="en-US" dirty="0">
                <a:latin typeface="Times New Roman" pitchFamily="18" charset="0"/>
                <a:cs typeface="Times New Roman" pitchFamily="18" charset="0"/>
              </a:rPr>
              <a:t>A change in splitting means a change in the wavelength of light needed to transfer electrons between the </a:t>
            </a:r>
            <a:r>
              <a:rPr lang="en-US" i="1" dirty="0">
                <a:latin typeface="Times New Roman" pitchFamily="18" charset="0"/>
                <a:cs typeface="Times New Roman" pitchFamily="18" charset="0"/>
              </a:rPr>
              <a:t>t</a:t>
            </a:r>
            <a:r>
              <a:rPr lang="en-US" baseline="-12000" dirty="0">
                <a:latin typeface="Times New Roman" pitchFamily="18" charset="0"/>
                <a:cs typeface="Times New Roman" pitchFamily="18" charset="0"/>
              </a:rPr>
              <a:t>2</a:t>
            </a:r>
            <a:r>
              <a:rPr lang="en-US" i="1" baseline="-12000" dirty="0">
                <a:latin typeface="Times New Roman" pitchFamily="18" charset="0"/>
                <a:cs typeface="Times New Roman" pitchFamily="18" charset="0"/>
              </a:rPr>
              <a:t>g</a:t>
            </a:r>
            <a:r>
              <a:rPr lang="en-US" dirty="0">
                <a:latin typeface="Times New Roman" pitchFamily="18" charset="0"/>
                <a:cs typeface="Times New Roman" pitchFamily="18" charset="0"/>
              </a:rPr>
              <a:t> and </a:t>
            </a:r>
            <a:r>
              <a:rPr lang="en-US" i="1" dirty="0" err="1">
                <a:latin typeface="Times New Roman" pitchFamily="18" charset="0"/>
                <a:cs typeface="Times New Roman" pitchFamily="18" charset="0"/>
              </a:rPr>
              <a:t>e</a:t>
            </a:r>
            <a:r>
              <a:rPr lang="en-US" i="1" baseline="-12000" dirty="0" err="1">
                <a:latin typeface="Times New Roman" pitchFamily="18" charset="0"/>
                <a:cs typeface="Times New Roman" pitchFamily="18" charset="0"/>
              </a:rPr>
              <a:t>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orbitals</a:t>
            </a:r>
            <a:r>
              <a:rPr lang="en-US" dirty="0">
                <a:latin typeface="Times New Roman" pitchFamily="18" charset="0"/>
                <a:cs typeface="Times New Roman" pitchFamily="18" charset="0"/>
              </a:rPr>
              <a:t>.</a:t>
            </a:r>
          </a:p>
        </p:txBody>
      </p:sp>
      <p:sp>
        <p:nvSpPr>
          <p:cNvPr id="12288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3313209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animEffect transition="in" filter="wipe(left)">
                                      <p:cBhvr>
                                        <p:cTn id="7" dur="500"/>
                                        <p:tgtEl>
                                          <p:spTgt spid="1228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883">
                                            <p:txEl>
                                              <p:pRg st="1" end="1"/>
                                            </p:txEl>
                                          </p:spTgt>
                                        </p:tgtEl>
                                        <p:attrNameLst>
                                          <p:attrName>style.visibility</p:attrName>
                                        </p:attrNameLst>
                                      </p:cBhvr>
                                      <p:to>
                                        <p:strVal val="visible"/>
                                      </p:to>
                                    </p:set>
                                    <p:animEffect transition="in" filter="wipe(left)">
                                      <p:cBhvr>
                                        <p:cTn id="12" dur="500"/>
                                        <p:tgtEl>
                                          <p:spTgt spid="1228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457200" y="381000"/>
            <a:ext cx="8229600" cy="1371600"/>
          </a:xfrm>
        </p:spPr>
        <p:txBody>
          <a:bodyPr/>
          <a:lstStyle/>
          <a:p>
            <a:pPr>
              <a:spcBef>
                <a:spcPct val="20000"/>
              </a:spcBef>
            </a:pPr>
            <a:r>
              <a:rPr lang="en-US" altLang="en-US" sz="3600">
                <a:latin typeface="Times New Roman" pitchFamily="18" charset="0"/>
                <a:cs typeface="Times New Roman" pitchFamily="18" charset="0"/>
              </a:rPr>
              <a:t>Absorbtion of Visible Light by the Complex Ion Ti(H</a:t>
            </a:r>
            <a:r>
              <a:rPr lang="en-US" altLang="en-US" sz="3600" baseline="-25000">
                <a:latin typeface="Times New Roman" pitchFamily="18" charset="0"/>
                <a:cs typeface="Times New Roman" pitchFamily="18" charset="0"/>
              </a:rPr>
              <a:t>2</a:t>
            </a:r>
            <a:r>
              <a:rPr lang="en-US" altLang="en-US" sz="3600">
                <a:latin typeface="Times New Roman" pitchFamily="18" charset="0"/>
                <a:cs typeface="Times New Roman" pitchFamily="18" charset="0"/>
              </a:rPr>
              <a:t>O)</a:t>
            </a:r>
            <a:r>
              <a:rPr lang="en-US" altLang="en-US" sz="3600" baseline="-25000">
                <a:latin typeface="Times New Roman" pitchFamily="18" charset="0"/>
                <a:cs typeface="Times New Roman" pitchFamily="18" charset="0"/>
              </a:rPr>
              <a:t>6</a:t>
            </a:r>
            <a:r>
              <a:rPr lang="en-US" altLang="en-US" sz="3600" baseline="30000">
                <a:latin typeface="Times New Roman" pitchFamily="18" charset="0"/>
                <a:cs typeface="Times New Roman" pitchFamily="18" charset="0"/>
              </a:rPr>
              <a:t>3+</a:t>
            </a:r>
            <a:endParaRPr lang="en-US" sz="3600" baseline="30000">
              <a:latin typeface="Times New Roman" pitchFamily="18" charset="0"/>
              <a:cs typeface="Times New Roman" pitchFamily="18" charset="0"/>
            </a:endParaRPr>
          </a:p>
        </p:txBody>
      </p:sp>
      <p:sp>
        <p:nvSpPr>
          <p:cNvPr id="12493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24932" name="Picture 4" descr="ch21_44"/>
          <p:cNvPicPr>
            <a:picLocks noChangeAspect="1" noChangeArrowheads="1"/>
          </p:cNvPicPr>
          <p:nvPr/>
        </p:nvPicPr>
        <p:blipFill>
          <a:blip r:embed="rId3"/>
          <a:srcRect/>
          <a:stretch>
            <a:fillRect/>
          </a:stretch>
        </p:blipFill>
        <p:spPr bwMode="auto">
          <a:xfrm>
            <a:off x="457200" y="2133600"/>
            <a:ext cx="8229600" cy="3638550"/>
          </a:xfrm>
          <a:prstGeom prst="rect">
            <a:avLst/>
          </a:prstGeom>
          <a:noFill/>
          <a:ln w="12700">
            <a:solidFill>
              <a:schemeClr val="tx1"/>
            </a:solidFill>
            <a:miter lim="800000"/>
            <a:headEnd/>
            <a:tailEnd/>
          </a:ln>
        </p:spPr>
      </p:pic>
    </p:spTree>
    <p:extLst>
      <p:ext uri="{BB962C8B-B14F-4D97-AF65-F5344CB8AC3E}">
        <p14:creationId xmlns:p14="http://schemas.microsoft.com/office/powerpoint/2010/main" val="27081927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9" name="Rectangle 3"/>
          <p:cNvSpPr>
            <a:spLocks noGrp="1" noChangeArrowheads="1"/>
          </p:cNvSpPr>
          <p:nvPr>
            <p:ph type="body" idx="1"/>
          </p:nvPr>
        </p:nvSpPr>
        <p:spPr>
          <a:xfrm>
            <a:off x="609600" y="2133600"/>
            <a:ext cx="7696200" cy="3886200"/>
          </a:xfrm>
        </p:spPr>
        <p:txBody>
          <a:bodyPr/>
          <a:lstStyle/>
          <a:p>
            <a:pPr marL="914400" indent="-14288">
              <a:buFontTx/>
              <a:buNone/>
            </a:pPr>
            <a:r>
              <a:rPr lang="en-US" dirty="0">
                <a:latin typeface="Times New Roman" pitchFamily="18" charset="0"/>
                <a:cs typeface="Times New Roman" pitchFamily="18" charset="0"/>
              </a:rPr>
              <a:t>Which of the following are expected to form </a:t>
            </a:r>
            <a:r>
              <a:rPr lang="en-US" dirty="0" err="1">
                <a:latin typeface="Times New Roman" pitchFamily="18" charset="0"/>
                <a:cs typeface="Times New Roman" pitchFamily="18" charset="0"/>
              </a:rPr>
              <a:t>colourless</a:t>
            </a:r>
            <a:r>
              <a:rPr lang="en-US" dirty="0">
                <a:latin typeface="Times New Roman" pitchFamily="18" charset="0"/>
                <a:cs typeface="Times New Roman" pitchFamily="18" charset="0"/>
              </a:rPr>
              <a:t> octahedral compounds? </a:t>
            </a:r>
          </a:p>
          <a:p>
            <a:pPr marL="914400" indent="-14288">
              <a:buFontTx/>
              <a:buNone/>
            </a:pPr>
            <a:r>
              <a:rPr lang="en-US" sz="3600" dirty="0">
                <a:solidFill>
                  <a:srgbClr val="3333FF"/>
                </a:solidFill>
                <a:latin typeface="Times New Roman" pitchFamily="18" charset="0"/>
                <a:cs typeface="Times New Roman" pitchFamily="18" charset="0"/>
              </a:rPr>
              <a:t>Ti</a:t>
            </a:r>
            <a:r>
              <a:rPr lang="en-US" sz="3600" baseline="30000" dirty="0">
                <a:solidFill>
                  <a:srgbClr val="3333FF"/>
                </a:solidFill>
                <a:latin typeface="Times New Roman" pitchFamily="18" charset="0"/>
                <a:cs typeface="Times New Roman" pitchFamily="18" charset="0"/>
              </a:rPr>
              <a:t>4+		</a:t>
            </a:r>
            <a:r>
              <a:rPr lang="en-US" sz="3600" dirty="0">
                <a:solidFill>
                  <a:srgbClr val="3333FF"/>
                </a:solidFill>
                <a:latin typeface="Times New Roman" pitchFamily="18" charset="0"/>
                <a:cs typeface="Times New Roman" pitchFamily="18" charset="0"/>
              </a:rPr>
              <a:t>Cr</a:t>
            </a:r>
            <a:r>
              <a:rPr lang="en-US" sz="3600" baseline="30000" dirty="0">
                <a:solidFill>
                  <a:srgbClr val="3333FF"/>
                </a:solidFill>
                <a:latin typeface="Times New Roman" pitchFamily="18" charset="0"/>
                <a:cs typeface="Times New Roman" pitchFamily="18" charset="0"/>
              </a:rPr>
              <a:t>3+</a:t>
            </a:r>
            <a:r>
              <a:rPr lang="en-US" sz="3600" dirty="0">
                <a:solidFill>
                  <a:srgbClr val="3333FF"/>
                </a:solidFill>
                <a:latin typeface="Times New Roman" pitchFamily="18" charset="0"/>
                <a:cs typeface="Times New Roman" pitchFamily="18" charset="0"/>
              </a:rPr>
              <a:t>		Mn</a:t>
            </a:r>
            <a:r>
              <a:rPr lang="en-US" sz="3600" baseline="30000" dirty="0">
                <a:solidFill>
                  <a:srgbClr val="3333FF"/>
                </a:solidFill>
                <a:latin typeface="Times New Roman" pitchFamily="18" charset="0"/>
                <a:cs typeface="Times New Roman" pitchFamily="18" charset="0"/>
              </a:rPr>
              <a:t>2+</a:t>
            </a:r>
          </a:p>
          <a:p>
            <a:pPr marL="914400" indent="-14288">
              <a:buFontTx/>
              <a:buNone/>
            </a:pPr>
            <a:r>
              <a:rPr lang="en-US" sz="3600" dirty="0">
                <a:solidFill>
                  <a:srgbClr val="3333FF"/>
                </a:solidFill>
                <a:latin typeface="Times New Roman" pitchFamily="18" charset="0"/>
                <a:cs typeface="Times New Roman" pitchFamily="18" charset="0"/>
              </a:rPr>
              <a:t>Fe</a:t>
            </a:r>
            <a:r>
              <a:rPr lang="en-US" sz="3600" baseline="30000" dirty="0">
                <a:solidFill>
                  <a:srgbClr val="3333FF"/>
                </a:solidFill>
                <a:latin typeface="Times New Roman" pitchFamily="18" charset="0"/>
                <a:cs typeface="Times New Roman" pitchFamily="18" charset="0"/>
              </a:rPr>
              <a:t>2+		</a:t>
            </a:r>
            <a:r>
              <a:rPr lang="en-US" sz="3600" dirty="0">
                <a:solidFill>
                  <a:srgbClr val="3333FF"/>
                </a:solidFill>
                <a:latin typeface="Times New Roman" pitchFamily="18" charset="0"/>
                <a:cs typeface="Times New Roman" pitchFamily="18" charset="0"/>
              </a:rPr>
              <a:t>Fe</a:t>
            </a:r>
            <a:r>
              <a:rPr lang="en-US" sz="3600" baseline="30000" dirty="0">
                <a:solidFill>
                  <a:srgbClr val="3333FF"/>
                </a:solidFill>
                <a:latin typeface="Times New Roman" pitchFamily="18" charset="0"/>
                <a:cs typeface="Times New Roman" pitchFamily="18" charset="0"/>
              </a:rPr>
              <a:t>3+		</a:t>
            </a:r>
            <a:r>
              <a:rPr lang="en-US" sz="3600" dirty="0">
                <a:solidFill>
                  <a:srgbClr val="3333FF"/>
                </a:solidFill>
                <a:latin typeface="Times New Roman" pitchFamily="18" charset="0"/>
                <a:cs typeface="Times New Roman" pitchFamily="18" charset="0"/>
              </a:rPr>
              <a:t>Co</a:t>
            </a:r>
            <a:r>
              <a:rPr lang="en-US" sz="3600" baseline="34000" dirty="0">
                <a:solidFill>
                  <a:srgbClr val="3333FF"/>
                </a:solidFill>
                <a:latin typeface="Times New Roman" pitchFamily="18" charset="0"/>
                <a:cs typeface="Times New Roman" pitchFamily="18" charset="0"/>
              </a:rPr>
              <a:t>2+</a:t>
            </a:r>
            <a:r>
              <a:rPr lang="en-US" sz="3600" dirty="0">
                <a:solidFill>
                  <a:srgbClr val="3333FF"/>
                </a:solidFill>
                <a:latin typeface="Times New Roman" pitchFamily="18" charset="0"/>
                <a:cs typeface="Times New Roman" pitchFamily="18" charset="0"/>
              </a:rPr>
              <a:t>		</a:t>
            </a:r>
          </a:p>
          <a:p>
            <a:pPr marL="914400" indent="-14288">
              <a:buFontTx/>
              <a:buNone/>
            </a:pPr>
            <a:r>
              <a:rPr lang="en-US" sz="3600" dirty="0">
                <a:solidFill>
                  <a:srgbClr val="3333FF"/>
                </a:solidFill>
                <a:latin typeface="Times New Roman" pitchFamily="18" charset="0"/>
                <a:cs typeface="Times New Roman" pitchFamily="18" charset="0"/>
              </a:rPr>
              <a:t>	Co</a:t>
            </a:r>
            <a:r>
              <a:rPr lang="en-US" sz="3600" baseline="34000" dirty="0">
                <a:solidFill>
                  <a:srgbClr val="3333FF"/>
                </a:solidFill>
                <a:latin typeface="Times New Roman" pitchFamily="18" charset="0"/>
                <a:cs typeface="Times New Roman" pitchFamily="18" charset="0"/>
              </a:rPr>
              <a:t>3+</a:t>
            </a:r>
            <a:r>
              <a:rPr lang="en-US" sz="3600" dirty="0">
                <a:solidFill>
                  <a:srgbClr val="3333FF"/>
                </a:solidFill>
                <a:latin typeface="Times New Roman" pitchFamily="18" charset="0"/>
                <a:cs typeface="Times New Roman" pitchFamily="18" charset="0"/>
              </a:rPr>
              <a:t>		Ni</a:t>
            </a:r>
            <a:r>
              <a:rPr lang="en-US" sz="3600" baseline="30000" dirty="0">
                <a:solidFill>
                  <a:srgbClr val="3333FF"/>
                </a:solidFill>
                <a:latin typeface="Times New Roman" pitchFamily="18" charset="0"/>
                <a:cs typeface="Times New Roman" pitchFamily="18" charset="0"/>
              </a:rPr>
              <a:t>2+		</a:t>
            </a:r>
            <a:r>
              <a:rPr lang="en-US" sz="3600" dirty="0">
                <a:solidFill>
                  <a:srgbClr val="3333FF"/>
                </a:solidFill>
                <a:latin typeface="Times New Roman" pitchFamily="18" charset="0"/>
                <a:cs typeface="Times New Roman" pitchFamily="18" charset="0"/>
              </a:rPr>
              <a:t>Cu</a:t>
            </a:r>
            <a:r>
              <a:rPr lang="en-US" sz="3600" baseline="30000" dirty="0">
                <a:solidFill>
                  <a:srgbClr val="3333FF"/>
                </a:solidFill>
                <a:latin typeface="Times New Roman" pitchFamily="18" charset="0"/>
                <a:cs typeface="Times New Roman" pitchFamily="18" charset="0"/>
              </a:rPr>
              <a:t>+	</a:t>
            </a:r>
          </a:p>
          <a:p>
            <a:pPr marL="914400" indent="-14288">
              <a:buFontTx/>
              <a:buNone/>
            </a:pPr>
            <a:r>
              <a:rPr lang="en-US" sz="3600" dirty="0">
                <a:solidFill>
                  <a:srgbClr val="3333FF"/>
                </a:solidFill>
                <a:latin typeface="Times New Roman" pitchFamily="18" charset="0"/>
                <a:cs typeface="Times New Roman" pitchFamily="18" charset="0"/>
              </a:rPr>
              <a:t>Cu</a:t>
            </a:r>
            <a:r>
              <a:rPr lang="en-US" sz="3600" baseline="30000" dirty="0">
                <a:solidFill>
                  <a:srgbClr val="3333FF"/>
                </a:solidFill>
                <a:latin typeface="Times New Roman" pitchFamily="18" charset="0"/>
                <a:cs typeface="Times New Roman" pitchFamily="18" charset="0"/>
              </a:rPr>
              <a:t>2+		</a:t>
            </a:r>
            <a:r>
              <a:rPr lang="en-US" sz="3600" dirty="0">
                <a:solidFill>
                  <a:srgbClr val="3333FF"/>
                </a:solidFill>
                <a:latin typeface="Times New Roman" pitchFamily="18" charset="0"/>
                <a:cs typeface="Times New Roman" pitchFamily="18" charset="0"/>
              </a:rPr>
              <a:t>Zn</a:t>
            </a:r>
            <a:r>
              <a:rPr lang="en-US" sz="3600" baseline="30000" dirty="0">
                <a:solidFill>
                  <a:srgbClr val="3333FF"/>
                </a:solidFill>
                <a:latin typeface="Times New Roman" pitchFamily="18" charset="0"/>
                <a:cs typeface="Times New Roman" pitchFamily="18" charset="0"/>
              </a:rPr>
              <a:t>2+		 </a:t>
            </a:r>
            <a:r>
              <a:rPr lang="en-US" sz="3600" dirty="0">
                <a:solidFill>
                  <a:srgbClr val="3333FF"/>
                </a:solidFill>
                <a:latin typeface="Times New Roman" pitchFamily="18" charset="0"/>
                <a:cs typeface="Times New Roman" pitchFamily="18" charset="0"/>
              </a:rPr>
              <a:t>Ag</a:t>
            </a:r>
            <a:r>
              <a:rPr lang="en-US" sz="3600" baseline="30000" dirty="0">
                <a:solidFill>
                  <a:srgbClr val="3333FF"/>
                </a:solidFill>
                <a:latin typeface="Times New Roman" pitchFamily="18" charset="0"/>
                <a:cs typeface="Times New Roman" pitchFamily="18" charset="0"/>
              </a:rPr>
              <a:t>+			</a:t>
            </a:r>
          </a:p>
        </p:txBody>
      </p:sp>
      <p:sp>
        <p:nvSpPr>
          <p:cNvPr id="5" name="Title 4"/>
          <p:cNvSpPr>
            <a:spLocks noGrp="1"/>
          </p:cNvSpPr>
          <p:nvPr>
            <p:ph type="title"/>
          </p:nvPr>
        </p:nvSpPr>
        <p:spPr/>
        <p:txBody>
          <a:bodyPr/>
          <a:lstStyle/>
          <a:p>
            <a:endParaRPr lang="en-US"/>
          </a:p>
        </p:txBody>
      </p:sp>
    </p:spTree>
    <p:extLst>
      <p:ext uri="{BB962C8B-B14F-4D97-AF65-F5344CB8AC3E}">
        <p14:creationId xmlns:p14="http://schemas.microsoft.com/office/powerpoint/2010/main" val="2348709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Effect transition="in" filter="wipe(left)">
                                      <p:cBhvr>
                                        <p:cTn id="7" dur="500"/>
                                        <p:tgtEl>
                                          <p:spTgt spid="1269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6979">
                                            <p:txEl>
                                              <p:pRg st="1" end="1"/>
                                            </p:txEl>
                                          </p:spTgt>
                                        </p:tgtEl>
                                        <p:attrNameLst>
                                          <p:attrName>style.visibility</p:attrName>
                                        </p:attrNameLst>
                                      </p:cBhvr>
                                      <p:to>
                                        <p:strVal val="visible"/>
                                      </p:to>
                                    </p:set>
                                    <p:animEffect transition="in" filter="wipe(left)">
                                      <p:cBhvr>
                                        <p:cTn id="12" dur="500"/>
                                        <p:tgtEl>
                                          <p:spTgt spid="1269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6979">
                                            <p:txEl>
                                              <p:pRg st="2" end="2"/>
                                            </p:txEl>
                                          </p:spTgt>
                                        </p:tgtEl>
                                        <p:attrNameLst>
                                          <p:attrName>style.visibility</p:attrName>
                                        </p:attrNameLst>
                                      </p:cBhvr>
                                      <p:to>
                                        <p:strVal val="visible"/>
                                      </p:to>
                                    </p:set>
                                    <p:animEffect transition="in" filter="wipe(left)">
                                      <p:cBhvr>
                                        <p:cTn id="17" dur="500"/>
                                        <p:tgtEl>
                                          <p:spTgt spid="1269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6979">
                                            <p:txEl>
                                              <p:pRg st="3" end="3"/>
                                            </p:txEl>
                                          </p:spTgt>
                                        </p:tgtEl>
                                        <p:attrNameLst>
                                          <p:attrName>style.visibility</p:attrName>
                                        </p:attrNameLst>
                                      </p:cBhvr>
                                      <p:to>
                                        <p:strVal val="visible"/>
                                      </p:to>
                                    </p:set>
                                    <p:animEffect transition="in" filter="wipe(left)">
                                      <p:cBhvr>
                                        <p:cTn id="22" dur="500"/>
                                        <p:tgtEl>
                                          <p:spTgt spid="1269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6979">
                                            <p:txEl>
                                              <p:pRg st="4" end="4"/>
                                            </p:txEl>
                                          </p:spTgt>
                                        </p:tgtEl>
                                        <p:attrNameLst>
                                          <p:attrName>style.visibility</p:attrName>
                                        </p:attrNameLst>
                                      </p:cBhvr>
                                      <p:to>
                                        <p:strVal val="visible"/>
                                      </p:to>
                                    </p:set>
                                    <p:animEffect transition="in" filter="wipe(left)">
                                      <p:cBhvr>
                                        <p:cTn id="27" dur="500"/>
                                        <p:tgtEl>
                                          <p:spTgt spid="1269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Tetrahedral Arrangement</a:t>
            </a:r>
          </a:p>
        </p:txBody>
      </p:sp>
      <p:sp>
        <p:nvSpPr>
          <p:cNvPr id="129027" name="Rectangle 3"/>
          <p:cNvSpPr>
            <a:spLocks noGrp="1" noChangeArrowheads="1"/>
          </p:cNvSpPr>
          <p:nvPr>
            <p:ph type="body" idx="1"/>
          </p:nvPr>
        </p:nvSpPr>
        <p:spPr>
          <a:xfrm>
            <a:off x="457200" y="1752600"/>
            <a:ext cx="8229600" cy="3886200"/>
          </a:xfrm>
        </p:spPr>
        <p:txBody>
          <a:bodyPr/>
          <a:lstStyle/>
          <a:p>
            <a:pPr marL="457200" indent="-457200"/>
            <a:r>
              <a:rPr lang="en-US">
                <a:latin typeface="Times New Roman" pitchFamily="18" charset="0"/>
                <a:cs typeface="Times New Roman" pitchFamily="18" charset="0"/>
              </a:rPr>
              <a:t>None of the 3</a:t>
            </a:r>
            <a:r>
              <a:rPr lang="en-US" i="1">
                <a:latin typeface="Times New Roman" pitchFamily="18" charset="0"/>
                <a:cs typeface="Times New Roman" pitchFamily="18" charset="0"/>
              </a:rPr>
              <a:t>d</a:t>
            </a:r>
            <a:r>
              <a:rPr lang="en-US">
                <a:latin typeface="Times New Roman" pitchFamily="18" charset="0"/>
                <a:cs typeface="Times New Roman" pitchFamily="18" charset="0"/>
              </a:rPr>
              <a:t> orbitals “point at the ligands”.</a:t>
            </a:r>
          </a:p>
          <a:p>
            <a:pPr marL="914400" lvl="1" indent="-457200">
              <a:buFont typeface="Wingdings" pitchFamily="2" charset="2"/>
              <a:buChar char="§"/>
            </a:pPr>
            <a:r>
              <a:rPr lang="en-US">
                <a:latin typeface="Times New Roman" pitchFamily="18" charset="0"/>
                <a:cs typeface="Times New Roman" pitchFamily="18" charset="0"/>
              </a:rPr>
              <a:t>Difference in energy between the split </a:t>
            </a:r>
            <a:r>
              <a:rPr lang="en-US" i="1">
                <a:latin typeface="Times New Roman" pitchFamily="18" charset="0"/>
                <a:cs typeface="Times New Roman" pitchFamily="18" charset="0"/>
              </a:rPr>
              <a:t>d</a:t>
            </a:r>
            <a:r>
              <a:rPr lang="en-US">
                <a:latin typeface="Times New Roman" pitchFamily="18" charset="0"/>
                <a:cs typeface="Times New Roman" pitchFamily="18" charset="0"/>
              </a:rPr>
              <a:t> orbitals is significantly less.</a:t>
            </a:r>
          </a:p>
          <a:p>
            <a:pPr marL="914400" lvl="1" indent="-457200">
              <a:buFont typeface="Wingdings" pitchFamily="2" charset="2"/>
              <a:buNone/>
            </a:pPr>
            <a:endParaRPr lang="en-US">
              <a:latin typeface="Times New Roman" pitchFamily="18" charset="0"/>
              <a:cs typeface="Times New Roman" pitchFamily="18" charset="0"/>
            </a:endParaRPr>
          </a:p>
          <a:p>
            <a:pPr marL="457200" indent="-457200"/>
            <a:r>
              <a:rPr lang="en-US" i="1">
                <a:latin typeface="Times New Roman" pitchFamily="18" charset="0"/>
                <a:cs typeface="Times New Roman" pitchFamily="18" charset="0"/>
              </a:rPr>
              <a:t>d</a:t>
            </a:r>
            <a:r>
              <a:rPr lang="en-US">
                <a:latin typeface="Times New Roman" pitchFamily="18" charset="0"/>
                <a:cs typeface="Times New Roman" pitchFamily="18" charset="0"/>
              </a:rPr>
              <a:t>–orbital splitting will be opposite to that for the octahedral arrangement.</a:t>
            </a:r>
          </a:p>
          <a:p>
            <a:pPr marL="914400" lvl="1" indent="-457200">
              <a:buFont typeface="Wingdings" pitchFamily="2" charset="2"/>
              <a:buChar char="§"/>
            </a:pPr>
            <a:r>
              <a:rPr lang="en-US">
                <a:latin typeface="Times New Roman" pitchFamily="18" charset="0"/>
                <a:cs typeface="Times New Roman" pitchFamily="18" charset="0"/>
              </a:rPr>
              <a:t>Weak–field case (high–spin) always applies.</a:t>
            </a:r>
          </a:p>
        </p:txBody>
      </p:sp>
      <p:sp>
        <p:nvSpPr>
          <p:cNvPr id="129028"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380872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animEffect transition="in" filter="wipe(left)">
                                      <p:cBhvr>
                                        <p:cTn id="7" dur="500"/>
                                        <p:tgtEl>
                                          <p:spTgt spid="129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9027">
                                            <p:txEl>
                                              <p:pRg st="1" end="1"/>
                                            </p:txEl>
                                          </p:spTgt>
                                        </p:tgtEl>
                                        <p:attrNameLst>
                                          <p:attrName>style.visibility</p:attrName>
                                        </p:attrNameLst>
                                      </p:cBhvr>
                                      <p:to>
                                        <p:strVal val="visible"/>
                                      </p:to>
                                    </p:set>
                                    <p:animEffect transition="in" filter="wipe(left)">
                                      <p:cBhvr>
                                        <p:cTn id="12" dur="500"/>
                                        <p:tgtEl>
                                          <p:spTgt spid="129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9027">
                                            <p:txEl>
                                              <p:pRg st="3" end="3"/>
                                            </p:txEl>
                                          </p:spTgt>
                                        </p:tgtEl>
                                        <p:attrNameLst>
                                          <p:attrName>style.visibility</p:attrName>
                                        </p:attrNameLst>
                                      </p:cBhvr>
                                      <p:to>
                                        <p:strVal val="visible"/>
                                      </p:to>
                                    </p:set>
                                    <p:animEffect transition="in" filter="wipe(left)">
                                      <p:cBhvr>
                                        <p:cTn id="17" dur="500"/>
                                        <p:tgtEl>
                                          <p:spTgt spid="12902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9027">
                                            <p:txEl>
                                              <p:pRg st="4" end="4"/>
                                            </p:txEl>
                                          </p:spTgt>
                                        </p:tgtEl>
                                        <p:attrNameLst>
                                          <p:attrName>style.visibility</p:attrName>
                                        </p:attrNameLst>
                                      </p:cBhvr>
                                      <p:to>
                                        <p:strVal val="visible"/>
                                      </p:to>
                                    </p:set>
                                    <p:animEffect transition="in" filter="wipe(left)">
                                      <p:cBhvr>
                                        <p:cTn id="22" dur="500"/>
                                        <p:tgtEl>
                                          <p:spTgt spid="129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57200" y="274638"/>
            <a:ext cx="8229600" cy="1325562"/>
          </a:xfrm>
        </p:spPr>
        <p:txBody>
          <a:bodyPr/>
          <a:lstStyle/>
          <a:p>
            <a:pPr>
              <a:spcBef>
                <a:spcPct val="20000"/>
              </a:spcBef>
            </a:pPr>
            <a:r>
              <a:rPr lang="en-US" altLang="en-US" sz="3600">
                <a:latin typeface="Times New Roman" pitchFamily="18" charset="0"/>
                <a:cs typeface="Times New Roman" pitchFamily="18" charset="0"/>
              </a:rPr>
              <a:t>The </a:t>
            </a:r>
            <a:r>
              <a:rPr lang="en-US" altLang="en-US" sz="3600" i="1">
                <a:latin typeface="Times New Roman" pitchFamily="18" charset="0"/>
                <a:cs typeface="Times New Roman" pitchFamily="18" charset="0"/>
              </a:rPr>
              <a:t>d</a:t>
            </a:r>
            <a:r>
              <a:rPr lang="en-US" altLang="en-US" sz="3600">
                <a:latin typeface="Times New Roman" pitchFamily="18" charset="0"/>
                <a:cs typeface="Times New Roman" pitchFamily="18" charset="0"/>
              </a:rPr>
              <a:t> Orbitals in a Tetrahedral Arrangement of Point Charges</a:t>
            </a:r>
            <a:endParaRPr lang="en-US" sz="3600">
              <a:latin typeface="Times New Roman" pitchFamily="18" charset="0"/>
              <a:cs typeface="Times New Roman" pitchFamily="18" charset="0"/>
            </a:endParaRPr>
          </a:p>
        </p:txBody>
      </p:sp>
      <p:sp>
        <p:nvSpPr>
          <p:cNvPr id="13107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31076" name="Picture 4" descr="ch21_45"/>
          <p:cNvPicPr>
            <a:picLocks noChangeAspect="1" noChangeArrowheads="1"/>
          </p:cNvPicPr>
          <p:nvPr/>
        </p:nvPicPr>
        <p:blipFill>
          <a:blip r:embed="rId3"/>
          <a:srcRect/>
          <a:stretch>
            <a:fillRect/>
          </a:stretch>
        </p:blipFill>
        <p:spPr bwMode="auto">
          <a:xfrm>
            <a:off x="762000" y="1905000"/>
            <a:ext cx="7467600" cy="3651250"/>
          </a:xfrm>
          <a:prstGeom prst="rect">
            <a:avLst/>
          </a:prstGeom>
          <a:noFill/>
          <a:ln w="12700">
            <a:solidFill>
              <a:schemeClr val="tx1"/>
            </a:solidFill>
            <a:miter lim="800000"/>
            <a:headEnd/>
            <a:tailEnd/>
          </a:ln>
        </p:spPr>
      </p:pic>
    </p:spTree>
    <p:extLst>
      <p:ext uri="{BB962C8B-B14F-4D97-AF65-F5344CB8AC3E}">
        <p14:creationId xmlns:p14="http://schemas.microsoft.com/office/powerpoint/2010/main" val="36259379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457200" y="381000"/>
            <a:ext cx="8229600" cy="1219200"/>
          </a:xfrm>
        </p:spPr>
        <p:txBody>
          <a:bodyPr/>
          <a:lstStyle/>
          <a:p>
            <a:pPr>
              <a:spcBef>
                <a:spcPct val="20000"/>
              </a:spcBef>
            </a:pPr>
            <a:r>
              <a:rPr lang="en-US" altLang="en-US" sz="3600">
                <a:latin typeface="Times New Roman" pitchFamily="18" charset="0"/>
                <a:cs typeface="Times New Roman" pitchFamily="18" charset="0"/>
              </a:rPr>
              <a:t>The Crystal Field Diagrams for Octahedral and Tetrahedral Complexes</a:t>
            </a:r>
            <a:endParaRPr lang="en-US" sz="3600">
              <a:latin typeface="Times New Roman" pitchFamily="18" charset="0"/>
              <a:cs typeface="Times New Roman" pitchFamily="18" charset="0"/>
            </a:endParaRPr>
          </a:p>
        </p:txBody>
      </p:sp>
      <p:sp>
        <p:nvSpPr>
          <p:cNvPr id="133123"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33124" name="Picture 4" descr="ch21_46"/>
          <p:cNvPicPr>
            <a:picLocks noChangeAspect="1" noChangeArrowheads="1"/>
          </p:cNvPicPr>
          <p:nvPr/>
        </p:nvPicPr>
        <p:blipFill>
          <a:blip r:embed="rId3"/>
          <a:srcRect/>
          <a:stretch>
            <a:fillRect/>
          </a:stretch>
        </p:blipFill>
        <p:spPr bwMode="auto">
          <a:xfrm>
            <a:off x="609600" y="1981200"/>
            <a:ext cx="7848600" cy="3978275"/>
          </a:xfrm>
          <a:prstGeom prst="rect">
            <a:avLst/>
          </a:prstGeom>
          <a:noFill/>
          <a:ln w="12700">
            <a:solidFill>
              <a:schemeClr val="tx1"/>
            </a:solidFill>
            <a:miter lim="800000"/>
            <a:headEnd/>
            <a:tailEnd/>
          </a:ln>
        </p:spPr>
      </p:pic>
    </p:spTree>
    <p:extLst>
      <p:ext uri="{BB962C8B-B14F-4D97-AF65-F5344CB8AC3E}">
        <p14:creationId xmlns:p14="http://schemas.microsoft.com/office/powerpoint/2010/main" val="152286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1" name="Rectangle 3"/>
          <p:cNvSpPr>
            <a:spLocks noGrp="1" noChangeArrowheads="1"/>
          </p:cNvSpPr>
          <p:nvPr>
            <p:ph type="body" idx="1"/>
          </p:nvPr>
        </p:nvSpPr>
        <p:spPr>
          <a:xfrm>
            <a:off x="381000" y="1676400"/>
            <a:ext cx="8077200" cy="4648200"/>
          </a:xfrm>
        </p:spPr>
        <p:txBody>
          <a:bodyPr/>
          <a:lstStyle/>
          <a:p>
            <a:pPr marL="1379538" indent="-465138">
              <a:buFontTx/>
              <a:buNone/>
            </a:pPr>
            <a:r>
              <a:rPr lang="en-US" sz="3600">
                <a:latin typeface="Times New Roman" pitchFamily="18" charset="0"/>
                <a:cs typeface="Times New Roman" pitchFamily="18" charset="0"/>
              </a:rPr>
              <a:t>Consider the Crystal Field Model (CFM). </a:t>
            </a:r>
          </a:p>
          <a:p>
            <a:pPr marL="1379538" indent="-465138">
              <a:buFontTx/>
              <a:buNone/>
            </a:pPr>
            <a:endParaRPr lang="en-US" sz="3600">
              <a:latin typeface="Times New Roman" pitchFamily="18" charset="0"/>
              <a:cs typeface="Times New Roman" pitchFamily="18" charset="0"/>
            </a:endParaRPr>
          </a:p>
          <a:p>
            <a:pPr marL="1379538" indent="-465138">
              <a:buFontTx/>
              <a:buAutoNum type="alphaLcParenR"/>
            </a:pPr>
            <a:r>
              <a:rPr lang="en-US">
                <a:latin typeface="Times New Roman" pitchFamily="18" charset="0"/>
                <a:cs typeface="Times New Roman" pitchFamily="18" charset="0"/>
              </a:rPr>
              <a:t>Which is </a:t>
            </a:r>
            <a:r>
              <a:rPr lang="en-US">
                <a:solidFill>
                  <a:srgbClr val="3333FF"/>
                </a:solidFill>
                <a:latin typeface="Times New Roman" pitchFamily="18" charset="0"/>
                <a:cs typeface="Times New Roman" pitchFamily="18" charset="0"/>
              </a:rPr>
              <a:t>lower</a:t>
            </a:r>
            <a:r>
              <a:rPr lang="en-US">
                <a:latin typeface="Times New Roman" pitchFamily="18" charset="0"/>
                <a:cs typeface="Times New Roman" pitchFamily="18" charset="0"/>
              </a:rPr>
              <a:t> in energy, </a:t>
            </a:r>
            <a:r>
              <a:rPr lang="en-US" i="1">
                <a:latin typeface="Times New Roman" pitchFamily="18" charset="0"/>
                <a:cs typeface="Times New Roman" pitchFamily="18" charset="0"/>
              </a:rPr>
              <a:t>d</a:t>
            </a:r>
            <a:r>
              <a:rPr lang="en-US">
                <a:latin typeface="Times New Roman" pitchFamily="18" charset="0"/>
                <a:cs typeface="Times New Roman" pitchFamily="18" charset="0"/>
              </a:rPr>
              <a:t>–orbital lobes pointing toward ligands or between? Why?</a:t>
            </a:r>
          </a:p>
          <a:p>
            <a:pPr marL="1379538" indent="-465138">
              <a:buFontTx/>
              <a:buAutoNum type="alphaLcParenR"/>
            </a:pPr>
            <a:r>
              <a:rPr lang="en-US">
                <a:latin typeface="Times New Roman" pitchFamily="18" charset="0"/>
                <a:cs typeface="Times New Roman" pitchFamily="18" charset="0"/>
              </a:rPr>
              <a:t>The electrons in the </a:t>
            </a:r>
            <a:r>
              <a:rPr lang="en-US" i="1">
                <a:latin typeface="Times New Roman" pitchFamily="18" charset="0"/>
                <a:cs typeface="Times New Roman" pitchFamily="18" charset="0"/>
              </a:rPr>
              <a:t>d</a:t>
            </a:r>
            <a:r>
              <a:rPr lang="en-US">
                <a:latin typeface="Times New Roman" pitchFamily="18" charset="0"/>
                <a:cs typeface="Times New Roman" pitchFamily="18" charset="0"/>
              </a:rPr>
              <a:t>–orbitals – are they from the </a:t>
            </a:r>
            <a:r>
              <a:rPr lang="en-US">
                <a:solidFill>
                  <a:srgbClr val="3333FF"/>
                </a:solidFill>
                <a:latin typeface="Times New Roman" pitchFamily="18" charset="0"/>
                <a:cs typeface="Times New Roman" pitchFamily="18" charset="0"/>
              </a:rPr>
              <a:t>metal</a:t>
            </a:r>
            <a:r>
              <a:rPr lang="en-US">
                <a:latin typeface="Times New Roman" pitchFamily="18" charset="0"/>
                <a:cs typeface="Times New Roman" pitchFamily="18" charset="0"/>
              </a:rPr>
              <a:t> or the </a:t>
            </a:r>
            <a:r>
              <a:rPr lang="en-US">
                <a:solidFill>
                  <a:srgbClr val="3333FF"/>
                </a:solidFill>
                <a:latin typeface="Times New Roman" pitchFamily="18" charset="0"/>
                <a:cs typeface="Times New Roman" pitchFamily="18" charset="0"/>
              </a:rPr>
              <a:t>ligands</a:t>
            </a:r>
            <a:r>
              <a:rPr lang="en-US">
                <a:latin typeface="Times New Roman" pitchFamily="18" charset="0"/>
                <a:cs typeface="Times New Roman" pitchFamily="18" charset="0"/>
              </a:rPr>
              <a:t>?</a:t>
            </a:r>
          </a:p>
        </p:txBody>
      </p:sp>
    </p:spTree>
    <p:extLst>
      <p:ext uri="{BB962C8B-B14F-4D97-AF65-F5344CB8AC3E}">
        <p14:creationId xmlns:p14="http://schemas.microsoft.com/office/powerpoint/2010/main" val="132451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wipe(left)">
                                      <p:cBhvr>
                                        <p:cTn id="7" dur="500"/>
                                        <p:tgtEl>
                                          <p:spTgt spid="135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5171">
                                            <p:txEl>
                                              <p:pRg st="2" end="2"/>
                                            </p:txEl>
                                          </p:spTgt>
                                        </p:tgtEl>
                                        <p:attrNameLst>
                                          <p:attrName>style.visibility</p:attrName>
                                        </p:attrNameLst>
                                      </p:cBhvr>
                                      <p:to>
                                        <p:strVal val="visible"/>
                                      </p:to>
                                    </p:set>
                                    <p:animEffect transition="in" filter="wipe(left)">
                                      <p:cBhvr>
                                        <p:cTn id="12" dur="500"/>
                                        <p:tgtEl>
                                          <p:spTgt spid="135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5171">
                                            <p:txEl>
                                              <p:pRg st="3" end="3"/>
                                            </p:txEl>
                                          </p:spTgt>
                                        </p:tgtEl>
                                        <p:attrNameLst>
                                          <p:attrName>style.visibility</p:attrName>
                                        </p:attrNameLst>
                                      </p:cBhvr>
                                      <p:to>
                                        <p:strVal val="visible"/>
                                      </p:to>
                                    </p:set>
                                    <p:animEffect transition="in" filter="wipe(left)">
                                      <p:cBhvr>
                                        <p:cTn id="17" dur="500"/>
                                        <p:tgtEl>
                                          <p:spTgt spid="135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9" name="Rectangle 3"/>
          <p:cNvSpPr>
            <a:spLocks noGrp="1" noChangeArrowheads="1"/>
          </p:cNvSpPr>
          <p:nvPr>
            <p:ph type="body" idx="1"/>
          </p:nvPr>
        </p:nvSpPr>
        <p:spPr>
          <a:xfrm>
            <a:off x="381000" y="1676400"/>
            <a:ext cx="8077200" cy="4800600"/>
          </a:xfrm>
        </p:spPr>
        <p:txBody>
          <a:bodyPr/>
          <a:lstStyle/>
          <a:p>
            <a:pPr marL="1371600" indent="-471488">
              <a:buFontTx/>
              <a:buNone/>
            </a:pPr>
            <a:r>
              <a:rPr lang="en-US" sz="3600">
                <a:latin typeface="Times New Roman" pitchFamily="18" charset="0"/>
                <a:cs typeface="Times New Roman" pitchFamily="18" charset="0"/>
              </a:rPr>
              <a:t>Consider the Crystal Field Model (CFM). </a:t>
            </a:r>
          </a:p>
          <a:p>
            <a:pPr marL="1371600" indent="-471488">
              <a:buFontTx/>
              <a:buNone/>
            </a:pPr>
            <a:endParaRPr lang="en-US" sz="2000">
              <a:latin typeface="Times New Roman" pitchFamily="18" charset="0"/>
              <a:cs typeface="Times New Roman" pitchFamily="18" charset="0"/>
            </a:endParaRPr>
          </a:p>
          <a:p>
            <a:pPr marL="1371600" indent="-471488">
              <a:buFontTx/>
              <a:buAutoNum type="alphaLcParenR" startAt="3"/>
            </a:pPr>
            <a:r>
              <a:rPr lang="en-US">
                <a:latin typeface="Times New Roman" pitchFamily="18" charset="0"/>
                <a:cs typeface="Times New Roman" pitchFamily="18" charset="0"/>
              </a:rPr>
              <a:t>Why would electrons choose to </a:t>
            </a:r>
            <a:r>
              <a:rPr lang="en-US">
                <a:solidFill>
                  <a:srgbClr val="3333FF"/>
                </a:solidFill>
                <a:latin typeface="Times New Roman" pitchFamily="18" charset="0"/>
                <a:cs typeface="Times New Roman" pitchFamily="18" charset="0"/>
              </a:rPr>
              <a:t>pair up</a:t>
            </a:r>
            <a:r>
              <a:rPr lang="en-US">
                <a:latin typeface="Times New Roman" pitchFamily="18" charset="0"/>
                <a:cs typeface="Times New Roman" pitchFamily="18" charset="0"/>
              </a:rPr>
              <a:t> in </a:t>
            </a:r>
            <a:r>
              <a:rPr lang="en-US" i="1">
                <a:latin typeface="Times New Roman" pitchFamily="18" charset="0"/>
                <a:cs typeface="Times New Roman" pitchFamily="18" charset="0"/>
              </a:rPr>
              <a:t>d</a:t>
            </a:r>
            <a:r>
              <a:rPr lang="en-US">
                <a:latin typeface="Times New Roman" pitchFamily="18" charset="0"/>
                <a:cs typeface="Times New Roman" pitchFamily="18" charset="0"/>
              </a:rPr>
              <a:t>–orbitals instead of being in separate orbitals?</a:t>
            </a:r>
          </a:p>
          <a:p>
            <a:pPr marL="1371600" indent="-471488">
              <a:buFontTx/>
              <a:buAutoNum type="alphaLcParenR" startAt="4"/>
            </a:pPr>
            <a:r>
              <a:rPr lang="en-US">
                <a:latin typeface="Times New Roman" pitchFamily="18" charset="0"/>
                <a:cs typeface="Times New Roman" pitchFamily="18" charset="0"/>
              </a:rPr>
              <a:t>Why is the predicted splitting in tetrahedral complexes </a:t>
            </a:r>
            <a:r>
              <a:rPr lang="en-US">
                <a:solidFill>
                  <a:srgbClr val="3333FF"/>
                </a:solidFill>
                <a:latin typeface="Times New Roman" pitchFamily="18" charset="0"/>
                <a:cs typeface="Times New Roman" pitchFamily="18" charset="0"/>
              </a:rPr>
              <a:t>smaller</a:t>
            </a:r>
            <a:r>
              <a:rPr lang="en-US">
                <a:latin typeface="Times New Roman" pitchFamily="18" charset="0"/>
                <a:cs typeface="Times New Roman" pitchFamily="18" charset="0"/>
              </a:rPr>
              <a:t> than in octahedral complexes?</a:t>
            </a:r>
          </a:p>
        </p:txBody>
      </p:sp>
      <p:sp>
        <p:nvSpPr>
          <p:cNvPr id="5" name="Title 4"/>
          <p:cNvSpPr>
            <a:spLocks noGrp="1"/>
          </p:cNvSpPr>
          <p:nvPr>
            <p:ph type="title"/>
          </p:nvPr>
        </p:nvSpPr>
        <p:spPr/>
        <p:txBody>
          <a:bodyPr/>
          <a:lstStyle/>
          <a:p>
            <a:endParaRPr lang="en-US" dirty="0"/>
          </a:p>
        </p:txBody>
      </p:sp>
    </p:spTree>
    <p:extLst>
      <p:ext uri="{BB962C8B-B14F-4D97-AF65-F5344CB8AC3E}">
        <p14:creationId xmlns:p14="http://schemas.microsoft.com/office/powerpoint/2010/main" val="279229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19">
                                            <p:txEl>
                                              <p:pRg st="2" end="2"/>
                                            </p:txEl>
                                          </p:spTgt>
                                        </p:tgtEl>
                                        <p:attrNameLst>
                                          <p:attrName>style.visibility</p:attrName>
                                        </p:attrNameLst>
                                      </p:cBhvr>
                                      <p:to>
                                        <p:strVal val="visible"/>
                                      </p:to>
                                    </p:set>
                                    <p:animEffect transition="in" filter="wipe(left)">
                                      <p:cBhvr>
                                        <p:cTn id="7" dur="500"/>
                                        <p:tgtEl>
                                          <p:spTgt spid="13721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19">
                                            <p:txEl>
                                              <p:pRg st="3" end="3"/>
                                            </p:txEl>
                                          </p:spTgt>
                                        </p:tgtEl>
                                        <p:attrNameLst>
                                          <p:attrName>style.visibility</p:attrName>
                                        </p:attrNameLst>
                                      </p:cBhvr>
                                      <p:to>
                                        <p:strVal val="visible"/>
                                      </p:to>
                                    </p:set>
                                    <p:animEffect transition="in" filter="wipe(left)">
                                      <p:cBhvr>
                                        <p:cTn id="12" dur="500"/>
                                        <p:tgtEl>
                                          <p:spTgt spid="137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7" name="Rectangle 3"/>
          <p:cNvSpPr>
            <a:spLocks noGrp="1" noChangeArrowheads="1"/>
          </p:cNvSpPr>
          <p:nvPr>
            <p:ph type="body" idx="1"/>
          </p:nvPr>
        </p:nvSpPr>
        <p:spPr>
          <a:xfrm>
            <a:off x="457200" y="1752600"/>
            <a:ext cx="8077200" cy="4191000"/>
          </a:xfrm>
        </p:spPr>
        <p:txBody>
          <a:bodyPr/>
          <a:lstStyle/>
          <a:p>
            <a:pPr marL="914400" indent="0">
              <a:buFontTx/>
              <a:buNone/>
            </a:pPr>
            <a:r>
              <a:rPr lang="en-US" dirty="0">
                <a:latin typeface="Times New Roman" pitchFamily="18" charset="0"/>
                <a:cs typeface="Times New Roman" pitchFamily="18" charset="0"/>
              </a:rPr>
              <a:t>Using the Crystal Field Model, sketch possible electron arrangements for the following.  Label one sketch as </a:t>
            </a:r>
            <a:r>
              <a:rPr lang="en-US" dirty="0">
                <a:solidFill>
                  <a:srgbClr val="3333FF"/>
                </a:solidFill>
                <a:latin typeface="Times New Roman" pitchFamily="18" charset="0"/>
                <a:cs typeface="Times New Roman" pitchFamily="18" charset="0"/>
              </a:rPr>
              <a:t>strong field </a:t>
            </a:r>
            <a:r>
              <a:rPr lang="en-US" dirty="0">
                <a:latin typeface="Times New Roman" pitchFamily="18" charset="0"/>
                <a:cs typeface="Times New Roman" pitchFamily="18" charset="0"/>
              </a:rPr>
              <a:t> and one sketch as </a:t>
            </a:r>
            <a:r>
              <a:rPr lang="en-US" dirty="0">
                <a:solidFill>
                  <a:srgbClr val="3333FF"/>
                </a:solidFill>
                <a:latin typeface="Times New Roman" pitchFamily="18" charset="0"/>
                <a:cs typeface="Times New Roman" pitchFamily="18" charset="0"/>
              </a:rPr>
              <a:t>weak</a:t>
            </a:r>
            <a:r>
              <a:rPr lang="en-US" dirty="0">
                <a:latin typeface="Times New Roman" pitchFamily="18" charset="0"/>
                <a:cs typeface="Times New Roman" pitchFamily="18" charset="0"/>
              </a:rPr>
              <a:t> </a:t>
            </a:r>
            <a:r>
              <a:rPr lang="en-US" dirty="0">
                <a:solidFill>
                  <a:srgbClr val="3333FF"/>
                </a:solidFill>
                <a:latin typeface="Times New Roman" pitchFamily="18" charset="0"/>
                <a:cs typeface="Times New Roman" pitchFamily="18" charset="0"/>
              </a:rPr>
              <a:t>field</a:t>
            </a:r>
            <a:r>
              <a:rPr lang="en-US" dirty="0">
                <a:latin typeface="Times New Roman" pitchFamily="18" charset="0"/>
                <a:cs typeface="Times New Roman" pitchFamily="18" charset="0"/>
              </a:rPr>
              <a:t>. </a:t>
            </a:r>
          </a:p>
          <a:p>
            <a:pPr marL="1827213" lvl="1" indent="-447675">
              <a:buFontTx/>
              <a:buAutoNum type="alphaLcParenR"/>
            </a:pPr>
            <a:r>
              <a:rPr lang="en-US" sz="3200" dirty="0">
                <a:latin typeface="Times New Roman" pitchFamily="18" charset="0"/>
                <a:cs typeface="Times New Roman" pitchFamily="18" charset="0"/>
              </a:rPr>
              <a:t>Ni(NH</a:t>
            </a:r>
            <a:r>
              <a:rPr lang="en-US" sz="3200" baseline="-12000" dirty="0">
                <a:latin typeface="Times New Roman" pitchFamily="18" charset="0"/>
                <a:cs typeface="Times New Roman" pitchFamily="18" charset="0"/>
              </a:rPr>
              <a:t>3</a:t>
            </a:r>
            <a:r>
              <a:rPr lang="en-US" sz="3200" dirty="0">
                <a:latin typeface="Times New Roman" pitchFamily="18" charset="0"/>
                <a:cs typeface="Times New Roman" pitchFamily="18" charset="0"/>
              </a:rPr>
              <a:t>)</a:t>
            </a:r>
            <a:r>
              <a:rPr lang="en-US" sz="3200" baseline="-12000" dirty="0">
                <a:latin typeface="Times New Roman" pitchFamily="18" charset="0"/>
                <a:cs typeface="Times New Roman" pitchFamily="18" charset="0"/>
              </a:rPr>
              <a:t>6</a:t>
            </a:r>
            <a:r>
              <a:rPr lang="en-US" sz="3200" baseline="34000" dirty="0">
                <a:latin typeface="Times New Roman" pitchFamily="18" charset="0"/>
                <a:cs typeface="Times New Roman" pitchFamily="18" charset="0"/>
              </a:rPr>
              <a:t>2+</a:t>
            </a:r>
            <a:r>
              <a:rPr lang="en-US" sz="3200" dirty="0">
                <a:latin typeface="Times New Roman" pitchFamily="18" charset="0"/>
                <a:cs typeface="Times New Roman" pitchFamily="18" charset="0"/>
              </a:rPr>
              <a:t> </a:t>
            </a:r>
          </a:p>
          <a:p>
            <a:pPr marL="1827213" lvl="1" indent="-447675">
              <a:buFontTx/>
              <a:buAutoNum type="alphaLcParenR"/>
            </a:pPr>
            <a:r>
              <a:rPr lang="en-US" sz="3200" dirty="0">
                <a:latin typeface="Times New Roman" pitchFamily="18" charset="0"/>
                <a:cs typeface="Times New Roman" pitchFamily="18" charset="0"/>
              </a:rPr>
              <a:t>Fe(CN)</a:t>
            </a:r>
            <a:r>
              <a:rPr lang="en-US" sz="3200" baseline="-12000" dirty="0">
                <a:latin typeface="Times New Roman" pitchFamily="18" charset="0"/>
                <a:cs typeface="Times New Roman" pitchFamily="18" charset="0"/>
              </a:rPr>
              <a:t>6</a:t>
            </a:r>
            <a:r>
              <a:rPr lang="en-US" sz="3200" baseline="30000" dirty="0">
                <a:latin typeface="Times New Roman" pitchFamily="18" charset="0"/>
                <a:cs typeface="Times New Roman" pitchFamily="18" charset="0"/>
              </a:rPr>
              <a:t>3–</a:t>
            </a:r>
            <a:r>
              <a:rPr lang="en-US" sz="3200" dirty="0">
                <a:latin typeface="Times New Roman" pitchFamily="18" charset="0"/>
                <a:cs typeface="Times New Roman" pitchFamily="18" charset="0"/>
              </a:rPr>
              <a:t>  </a:t>
            </a:r>
          </a:p>
          <a:p>
            <a:pPr marL="1827213" lvl="1" indent="-447675">
              <a:buFontTx/>
              <a:buAutoNum type="alphaLcParenR"/>
            </a:pPr>
            <a:r>
              <a:rPr lang="en-US" sz="3200" dirty="0">
                <a:latin typeface="Times New Roman" pitchFamily="18" charset="0"/>
                <a:cs typeface="Times New Roman" pitchFamily="18" charset="0"/>
              </a:rPr>
              <a:t>Co(NH</a:t>
            </a:r>
            <a:r>
              <a:rPr lang="en-US" sz="3200" baseline="-12000" dirty="0">
                <a:latin typeface="Times New Roman" pitchFamily="18" charset="0"/>
                <a:cs typeface="Times New Roman" pitchFamily="18" charset="0"/>
              </a:rPr>
              <a:t>3</a:t>
            </a:r>
            <a:r>
              <a:rPr lang="en-US" sz="3200" dirty="0">
                <a:latin typeface="Times New Roman" pitchFamily="18" charset="0"/>
                <a:cs typeface="Times New Roman" pitchFamily="18" charset="0"/>
              </a:rPr>
              <a:t>)</a:t>
            </a:r>
            <a:r>
              <a:rPr lang="en-US" sz="3200" baseline="-12000" dirty="0">
                <a:latin typeface="Times New Roman" pitchFamily="18" charset="0"/>
                <a:cs typeface="Times New Roman" pitchFamily="18" charset="0"/>
              </a:rPr>
              <a:t>6</a:t>
            </a:r>
            <a:r>
              <a:rPr lang="en-US" sz="3200" baseline="30000" dirty="0">
                <a:latin typeface="Times New Roman" pitchFamily="18" charset="0"/>
                <a:cs typeface="Times New Roman" pitchFamily="18" charset="0"/>
              </a:rPr>
              <a:t>3+</a:t>
            </a:r>
            <a:r>
              <a:rPr lang="en-US" sz="3200" dirty="0">
                <a:latin typeface="Times New Roman" pitchFamily="18" charset="0"/>
                <a:cs typeface="Times New Roman" pitchFamily="18" charset="0"/>
              </a:rPr>
              <a:t>  </a:t>
            </a:r>
          </a:p>
        </p:txBody>
      </p:sp>
    </p:spTree>
    <p:extLst>
      <p:ext uri="{BB962C8B-B14F-4D97-AF65-F5344CB8AC3E}">
        <p14:creationId xmlns:p14="http://schemas.microsoft.com/office/powerpoint/2010/main" val="396672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wipe(left)">
                                      <p:cBhvr>
                                        <p:cTn id="7" dur="500"/>
                                        <p:tgtEl>
                                          <p:spTgt spid="139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267">
                                            <p:txEl>
                                              <p:pRg st="1" end="1"/>
                                            </p:txEl>
                                          </p:spTgt>
                                        </p:tgtEl>
                                        <p:attrNameLst>
                                          <p:attrName>style.visibility</p:attrName>
                                        </p:attrNameLst>
                                      </p:cBhvr>
                                      <p:to>
                                        <p:strVal val="visible"/>
                                      </p:to>
                                    </p:set>
                                    <p:animEffect transition="in" filter="wipe(left)">
                                      <p:cBhvr>
                                        <p:cTn id="12" dur="500"/>
                                        <p:tgtEl>
                                          <p:spTgt spid="139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9267">
                                            <p:txEl>
                                              <p:pRg st="2" end="2"/>
                                            </p:txEl>
                                          </p:spTgt>
                                        </p:tgtEl>
                                        <p:attrNameLst>
                                          <p:attrName>style.visibility</p:attrName>
                                        </p:attrNameLst>
                                      </p:cBhvr>
                                      <p:to>
                                        <p:strVal val="visible"/>
                                      </p:to>
                                    </p:set>
                                    <p:animEffect transition="in" filter="wipe(left)">
                                      <p:cBhvr>
                                        <p:cTn id="17" dur="500"/>
                                        <p:tgtEl>
                                          <p:spTgt spid="139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9267">
                                            <p:txEl>
                                              <p:pRg st="3" end="3"/>
                                            </p:txEl>
                                          </p:spTgt>
                                        </p:tgtEl>
                                        <p:attrNameLst>
                                          <p:attrName>style.visibility</p:attrName>
                                        </p:attrNameLst>
                                      </p:cBhvr>
                                      <p:to>
                                        <p:strVal val="visible"/>
                                      </p:to>
                                    </p:set>
                                    <p:animEffect transition="in" filter="wipe(left)">
                                      <p:cBhvr>
                                        <p:cTn id="22" dur="500"/>
                                        <p:tgtEl>
                                          <p:spTgt spid="1392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5" name="Rectangle 3"/>
          <p:cNvSpPr>
            <a:spLocks noGrp="1" noChangeArrowheads="1"/>
          </p:cNvSpPr>
          <p:nvPr>
            <p:ph type="body" idx="1"/>
          </p:nvPr>
        </p:nvSpPr>
        <p:spPr>
          <a:xfrm>
            <a:off x="609600" y="914400"/>
            <a:ext cx="8001000" cy="5486400"/>
          </a:xfrm>
        </p:spPr>
        <p:txBody>
          <a:bodyPr/>
          <a:lstStyle/>
          <a:p>
            <a:pPr marL="914400" indent="0">
              <a:buFontTx/>
              <a:buNone/>
            </a:pPr>
            <a:r>
              <a:rPr lang="en-US" dirty="0">
                <a:latin typeface="Times New Roman" pitchFamily="18" charset="0"/>
                <a:cs typeface="Times New Roman" pitchFamily="18" charset="0"/>
              </a:rPr>
              <a:t>A metal ion in a high–spin octahedral complex has 2 more unpaired electrons than the same ion does in a low–spin octahedral complex.</a:t>
            </a:r>
            <a:r>
              <a:rPr lang="en-US" sz="3600" dirty="0">
                <a:latin typeface="Times New Roman" pitchFamily="18" charset="0"/>
                <a:cs typeface="Times New Roman" pitchFamily="18" charset="0"/>
              </a:rPr>
              <a:t>  </a:t>
            </a:r>
          </a:p>
          <a:p>
            <a:pPr marL="914400" indent="0">
              <a:buFontTx/>
              <a:buNone/>
            </a:pPr>
            <a:endParaRPr lang="en-US" sz="2400" dirty="0">
              <a:latin typeface="Times New Roman" pitchFamily="18" charset="0"/>
              <a:cs typeface="Times New Roman" pitchFamily="18" charset="0"/>
            </a:endParaRPr>
          </a:p>
          <a:p>
            <a:pPr marL="914400" indent="0">
              <a:buFontTx/>
              <a:buNone/>
            </a:pPr>
            <a:r>
              <a:rPr lang="en-US" dirty="0">
                <a:latin typeface="Times New Roman" pitchFamily="18" charset="0"/>
                <a:cs typeface="Times New Roman" pitchFamily="18" charset="0"/>
              </a:rPr>
              <a:t>What are some </a:t>
            </a:r>
            <a:r>
              <a:rPr lang="en-US" dirty="0">
                <a:solidFill>
                  <a:srgbClr val="3333FF"/>
                </a:solidFill>
                <a:latin typeface="Times New Roman" pitchFamily="18" charset="0"/>
                <a:cs typeface="Times New Roman" pitchFamily="18" charset="0"/>
              </a:rPr>
              <a:t>possible metal ions</a:t>
            </a:r>
            <a:r>
              <a:rPr lang="en-US" dirty="0">
                <a:latin typeface="Times New Roman" pitchFamily="18" charset="0"/>
                <a:cs typeface="Times New Roman" pitchFamily="18" charset="0"/>
              </a:rPr>
              <a:t> for which this would be true? </a:t>
            </a:r>
          </a:p>
          <a:p>
            <a:pPr marL="914400" indent="0">
              <a:buFontTx/>
              <a:buNone/>
            </a:pPr>
            <a:r>
              <a:rPr lang="en-US" sz="3000" dirty="0">
                <a:solidFill>
                  <a:srgbClr val="009900"/>
                </a:solidFill>
                <a:latin typeface="Times New Roman" pitchFamily="18" charset="0"/>
                <a:cs typeface="Times New Roman" pitchFamily="18" charset="0"/>
              </a:rPr>
              <a:t> Metal ions would need to be </a:t>
            </a:r>
            <a:r>
              <a:rPr lang="en-US" sz="3000" i="1" dirty="0">
                <a:solidFill>
                  <a:srgbClr val="009900"/>
                </a:solidFill>
                <a:latin typeface="Times New Roman" pitchFamily="18" charset="0"/>
                <a:cs typeface="Times New Roman" pitchFamily="18" charset="0"/>
              </a:rPr>
              <a:t>d</a:t>
            </a:r>
            <a:r>
              <a:rPr lang="en-US" sz="3000" baseline="30000" dirty="0">
                <a:solidFill>
                  <a:srgbClr val="009900"/>
                </a:solidFill>
                <a:latin typeface="Times New Roman" pitchFamily="18" charset="0"/>
                <a:cs typeface="Times New Roman" pitchFamily="18" charset="0"/>
              </a:rPr>
              <a:t>4</a:t>
            </a:r>
            <a:r>
              <a:rPr lang="en-US" sz="3000" dirty="0">
                <a:solidFill>
                  <a:srgbClr val="009900"/>
                </a:solidFill>
                <a:latin typeface="Times New Roman" pitchFamily="18" charset="0"/>
                <a:cs typeface="Times New Roman" pitchFamily="18" charset="0"/>
              </a:rPr>
              <a:t> or </a:t>
            </a:r>
            <a:r>
              <a:rPr lang="en-US" sz="3000" i="1" dirty="0">
                <a:solidFill>
                  <a:srgbClr val="009900"/>
                </a:solidFill>
                <a:latin typeface="Times New Roman" pitchFamily="18" charset="0"/>
                <a:cs typeface="Times New Roman" pitchFamily="18" charset="0"/>
              </a:rPr>
              <a:t>d</a:t>
            </a:r>
            <a:r>
              <a:rPr lang="en-US" sz="3000" baseline="30000" dirty="0">
                <a:solidFill>
                  <a:srgbClr val="009900"/>
                </a:solidFill>
                <a:latin typeface="Times New Roman" pitchFamily="18" charset="0"/>
                <a:cs typeface="Times New Roman" pitchFamily="18" charset="0"/>
              </a:rPr>
              <a:t>7</a:t>
            </a:r>
            <a:r>
              <a:rPr lang="en-US" sz="3000" dirty="0">
                <a:solidFill>
                  <a:srgbClr val="009900"/>
                </a:solidFill>
                <a:latin typeface="Times New Roman" pitchFamily="18" charset="0"/>
                <a:cs typeface="Times New Roman" pitchFamily="18" charset="0"/>
              </a:rPr>
              <a:t> ions.    Examples include Mn</a:t>
            </a:r>
            <a:r>
              <a:rPr lang="en-US" sz="3000" baseline="30000" dirty="0">
                <a:solidFill>
                  <a:srgbClr val="009900"/>
                </a:solidFill>
                <a:latin typeface="Times New Roman" pitchFamily="18" charset="0"/>
                <a:cs typeface="Times New Roman" pitchFamily="18" charset="0"/>
              </a:rPr>
              <a:t>3+</a:t>
            </a:r>
            <a:r>
              <a:rPr lang="en-US" sz="3000" dirty="0">
                <a:solidFill>
                  <a:srgbClr val="009900"/>
                </a:solidFill>
                <a:latin typeface="Times New Roman" pitchFamily="18" charset="0"/>
                <a:cs typeface="Times New Roman" pitchFamily="18" charset="0"/>
              </a:rPr>
              <a:t>, Co</a:t>
            </a:r>
            <a:r>
              <a:rPr lang="en-US" sz="3000" baseline="30000" dirty="0">
                <a:solidFill>
                  <a:srgbClr val="009900"/>
                </a:solidFill>
                <a:latin typeface="Times New Roman" pitchFamily="18" charset="0"/>
                <a:cs typeface="Times New Roman" pitchFamily="18" charset="0"/>
              </a:rPr>
              <a:t>2+</a:t>
            </a:r>
            <a:r>
              <a:rPr lang="en-US" sz="3000" dirty="0">
                <a:solidFill>
                  <a:srgbClr val="009900"/>
                </a:solidFill>
                <a:latin typeface="Times New Roman" pitchFamily="18" charset="0"/>
                <a:cs typeface="Times New Roman" pitchFamily="18" charset="0"/>
              </a:rPr>
              <a:t>, and Cr</a:t>
            </a:r>
            <a:r>
              <a:rPr lang="en-US" sz="3000" baseline="30000" dirty="0">
                <a:solidFill>
                  <a:srgbClr val="009900"/>
                </a:solidFill>
                <a:latin typeface="Times New Roman" pitchFamily="18" charset="0"/>
                <a:cs typeface="Times New Roman" pitchFamily="18" charset="0"/>
              </a:rPr>
              <a:t>2+</a:t>
            </a:r>
            <a:r>
              <a:rPr lang="en-US" sz="3000" dirty="0">
                <a:solidFill>
                  <a:srgbClr val="009900"/>
                </a:solidFill>
                <a:latin typeface="Times New Roman" pitchFamily="18" charset="0"/>
                <a:cs typeface="Times New Roman" pitchFamily="18" charset="0"/>
              </a:rPr>
              <a:t>.</a:t>
            </a:r>
          </a:p>
        </p:txBody>
      </p:sp>
    </p:spTree>
    <p:extLst>
      <p:ext uri="{BB962C8B-B14F-4D97-AF65-F5344CB8AC3E}">
        <p14:creationId xmlns:p14="http://schemas.microsoft.com/office/powerpoint/2010/main" val="2373508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wipe(left)">
                                      <p:cBhvr>
                                        <p:cTn id="7" dur="500"/>
                                        <p:tgtEl>
                                          <p:spTgt spid="141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15">
                                            <p:txEl>
                                              <p:pRg st="2" end="2"/>
                                            </p:txEl>
                                          </p:spTgt>
                                        </p:tgtEl>
                                        <p:attrNameLst>
                                          <p:attrName>style.visibility</p:attrName>
                                        </p:attrNameLst>
                                      </p:cBhvr>
                                      <p:to>
                                        <p:strVal val="visible"/>
                                      </p:to>
                                    </p:set>
                                    <p:animEffect transition="in" filter="wipe(left)">
                                      <p:cBhvr>
                                        <p:cTn id="12" dur="500"/>
                                        <p:tgtEl>
                                          <p:spTgt spid="1413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1315">
                                            <p:txEl>
                                              <p:pRg st="3" end="3"/>
                                            </p:txEl>
                                          </p:spTgt>
                                        </p:tgtEl>
                                        <p:attrNameLst>
                                          <p:attrName>style.visibility</p:attrName>
                                        </p:attrNameLst>
                                      </p:cBhvr>
                                      <p:to>
                                        <p:strVal val="visible"/>
                                      </p:to>
                                    </p:set>
                                    <p:animEffect transition="in" filter="wipe(left)">
                                      <p:cBhvr>
                                        <p:cTn id="17" dur="2000"/>
                                        <p:tgtEl>
                                          <p:spTgt spid="141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3" name="Rectangle 3"/>
          <p:cNvSpPr>
            <a:spLocks noGrp="1" noChangeArrowheads="1"/>
          </p:cNvSpPr>
          <p:nvPr>
            <p:ph type="body" idx="1"/>
          </p:nvPr>
        </p:nvSpPr>
        <p:spPr>
          <a:xfrm>
            <a:off x="609600" y="2133600"/>
            <a:ext cx="7696200" cy="1905000"/>
          </a:xfrm>
        </p:spPr>
        <p:txBody>
          <a:bodyPr/>
          <a:lstStyle/>
          <a:p>
            <a:pPr marL="914400" indent="0">
              <a:buFontTx/>
              <a:buNone/>
            </a:pPr>
            <a:r>
              <a:rPr lang="en-US" sz="3600">
                <a:latin typeface="Times New Roman" pitchFamily="18" charset="0"/>
                <a:cs typeface="Times New Roman" pitchFamily="18" charset="0"/>
              </a:rPr>
              <a:t>Between [Mn(CN)</a:t>
            </a:r>
            <a:r>
              <a:rPr lang="en-US" sz="3600" baseline="-25000">
                <a:latin typeface="Times New Roman" pitchFamily="18" charset="0"/>
                <a:cs typeface="Times New Roman" pitchFamily="18" charset="0"/>
              </a:rPr>
              <a:t>6</a:t>
            </a:r>
            <a:r>
              <a:rPr lang="en-US" sz="3600">
                <a:latin typeface="Times New Roman" pitchFamily="18" charset="0"/>
                <a:cs typeface="Times New Roman" pitchFamily="18" charset="0"/>
              </a:rPr>
              <a:t>]</a:t>
            </a:r>
            <a:r>
              <a:rPr lang="en-US" sz="3600" baseline="30000">
                <a:latin typeface="Times New Roman" pitchFamily="18" charset="0"/>
                <a:cs typeface="Times New Roman" pitchFamily="18" charset="0"/>
              </a:rPr>
              <a:t>3–</a:t>
            </a:r>
            <a:r>
              <a:rPr lang="en-US" sz="3600">
                <a:latin typeface="Times New Roman" pitchFamily="18" charset="0"/>
                <a:cs typeface="Times New Roman" pitchFamily="18" charset="0"/>
              </a:rPr>
              <a:t> and [Mn(CN)</a:t>
            </a:r>
            <a:r>
              <a:rPr lang="en-US" sz="3600" baseline="-25000">
                <a:latin typeface="Times New Roman" pitchFamily="18" charset="0"/>
                <a:cs typeface="Times New Roman" pitchFamily="18" charset="0"/>
              </a:rPr>
              <a:t>6</a:t>
            </a:r>
            <a:r>
              <a:rPr lang="en-US" sz="3600">
                <a:latin typeface="Times New Roman" pitchFamily="18" charset="0"/>
                <a:cs typeface="Times New Roman" pitchFamily="18" charset="0"/>
              </a:rPr>
              <a:t>]</a:t>
            </a:r>
            <a:r>
              <a:rPr lang="en-US" sz="3600" baseline="30000">
                <a:latin typeface="Times New Roman" pitchFamily="18" charset="0"/>
                <a:cs typeface="Times New Roman" pitchFamily="18" charset="0"/>
              </a:rPr>
              <a:t>4–</a:t>
            </a:r>
            <a:r>
              <a:rPr lang="en-US" sz="3600">
                <a:latin typeface="Times New Roman" pitchFamily="18" charset="0"/>
                <a:cs typeface="Times New Roman" pitchFamily="18" charset="0"/>
              </a:rPr>
              <a:t> which is more likely to be </a:t>
            </a:r>
            <a:r>
              <a:rPr lang="en-US" sz="3600">
                <a:solidFill>
                  <a:srgbClr val="3333FF"/>
                </a:solidFill>
                <a:latin typeface="Times New Roman" pitchFamily="18" charset="0"/>
                <a:cs typeface="Times New Roman" pitchFamily="18" charset="0"/>
              </a:rPr>
              <a:t>high spin</a:t>
            </a:r>
            <a:r>
              <a:rPr lang="en-US" sz="3600">
                <a:latin typeface="Times New Roman" pitchFamily="18" charset="0"/>
                <a:cs typeface="Times New Roman" pitchFamily="18" charset="0"/>
              </a:rPr>
              <a:t>?  Why? </a:t>
            </a:r>
            <a:endParaRPr lang="en-US" sz="3600">
              <a:solidFill>
                <a:srgbClr val="009900"/>
              </a:solidFill>
              <a:latin typeface="Times New Roman" pitchFamily="18" charset="0"/>
              <a:cs typeface="Times New Roman" pitchFamily="18" charset="0"/>
            </a:endParaRPr>
          </a:p>
        </p:txBody>
      </p:sp>
    </p:spTree>
    <p:extLst>
      <p:ext uri="{BB962C8B-B14F-4D97-AF65-F5344CB8AC3E}">
        <p14:creationId xmlns:p14="http://schemas.microsoft.com/office/powerpoint/2010/main" val="3499522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Effect transition="in" filter="wipe(left)">
                                      <p:cBhvr>
                                        <p:cTn id="7" dur="500"/>
                                        <p:tgtEl>
                                          <p:spTgt spid="1433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228600" y="457200"/>
            <a:ext cx="8686800" cy="1066800"/>
          </a:xfrm>
        </p:spPr>
        <p:txBody>
          <a:bodyPr/>
          <a:lstStyle/>
          <a:p>
            <a:pPr>
              <a:spcBef>
                <a:spcPct val="20000"/>
              </a:spcBef>
            </a:pPr>
            <a:r>
              <a:rPr lang="en-US" altLang="en-US" sz="3200">
                <a:latin typeface="Times New Roman" pitchFamily="18" charset="0"/>
                <a:cs typeface="Times New Roman" pitchFamily="18" charset="0"/>
              </a:rPr>
              <a:t>The </a:t>
            </a:r>
            <a:r>
              <a:rPr lang="en-US" altLang="en-US" sz="3200" i="1">
                <a:latin typeface="Times New Roman" pitchFamily="18" charset="0"/>
                <a:cs typeface="Times New Roman" pitchFamily="18" charset="0"/>
              </a:rPr>
              <a:t>d </a:t>
            </a:r>
            <a:r>
              <a:rPr lang="en-US" altLang="en-US" sz="3200">
                <a:latin typeface="Times New Roman" pitchFamily="18" charset="0"/>
                <a:cs typeface="Times New Roman" pitchFamily="18" charset="0"/>
              </a:rPr>
              <a:t>Energy Diagrams for Square Planar Complexes</a:t>
            </a:r>
            <a:endParaRPr lang="en-US" sz="3200">
              <a:latin typeface="Times New Roman" pitchFamily="18" charset="0"/>
              <a:cs typeface="Times New Roman" pitchFamily="18" charset="0"/>
            </a:endParaRPr>
          </a:p>
        </p:txBody>
      </p:sp>
      <p:sp>
        <p:nvSpPr>
          <p:cNvPr id="14541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45412" name="Picture 4"/>
          <p:cNvPicPr>
            <a:picLocks noChangeAspect="1" noChangeArrowheads="1"/>
          </p:cNvPicPr>
          <p:nvPr/>
        </p:nvPicPr>
        <p:blipFill>
          <a:blip r:embed="rId3"/>
          <a:srcRect/>
          <a:stretch>
            <a:fillRect/>
          </a:stretch>
        </p:blipFill>
        <p:spPr bwMode="auto">
          <a:xfrm>
            <a:off x="2971800" y="1752600"/>
            <a:ext cx="3411538" cy="4419600"/>
          </a:xfrm>
          <a:prstGeom prst="rect">
            <a:avLst/>
          </a:prstGeom>
          <a:noFill/>
          <a:ln w="12700">
            <a:solidFill>
              <a:schemeClr val="tx1"/>
            </a:solidFill>
            <a:miter lim="800000"/>
            <a:headEnd/>
            <a:tailEnd/>
          </a:ln>
          <a:effectLst/>
        </p:spPr>
      </p:pic>
    </p:spTree>
    <p:extLst>
      <p:ext uri="{BB962C8B-B14F-4D97-AF65-F5344CB8AC3E}">
        <p14:creationId xmlns:p14="http://schemas.microsoft.com/office/powerpoint/2010/main" val="10801684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228600" y="304800"/>
            <a:ext cx="8534400" cy="1371600"/>
          </a:xfrm>
        </p:spPr>
        <p:txBody>
          <a:bodyPr/>
          <a:lstStyle/>
          <a:p>
            <a:pPr>
              <a:spcBef>
                <a:spcPct val="20000"/>
              </a:spcBef>
            </a:pPr>
            <a:r>
              <a:rPr lang="en-US" altLang="en-US" sz="3200">
                <a:latin typeface="Times New Roman" pitchFamily="18" charset="0"/>
                <a:cs typeface="Times New Roman" pitchFamily="18" charset="0"/>
              </a:rPr>
              <a:t>The </a:t>
            </a:r>
            <a:r>
              <a:rPr lang="en-US" altLang="en-US" sz="3200" i="1">
                <a:latin typeface="Times New Roman" pitchFamily="18" charset="0"/>
                <a:cs typeface="Times New Roman" pitchFamily="18" charset="0"/>
              </a:rPr>
              <a:t>d </a:t>
            </a:r>
            <a:r>
              <a:rPr lang="en-US" altLang="en-US" sz="3200">
                <a:latin typeface="Times New Roman" pitchFamily="18" charset="0"/>
                <a:cs typeface="Times New Roman" pitchFamily="18" charset="0"/>
              </a:rPr>
              <a:t>Energy Diagrams for Linear Complexes Where the Ligands Lie Along the </a:t>
            </a:r>
            <a:r>
              <a:rPr lang="en-US" altLang="en-US" sz="3200" i="1">
                <a:latin typeface="Times New Roman" pitchFamily="18" charset="0"/>
                <a:cs typeface="Times New Roman" pitchFamily="18" charset="0"/>
              </a:rPr>
              <a:t>z</a:t>
            </a:r>
            <a:r>
              <a:rPr lang="en-US" altLang="en-US" sz="3200">
                <a:latin typeface="Times New Roman" pitchFamily="18" charset="0"/>
                <a:cs typeface="Times New Roman" pitchFamily="18" charset="0"/>
              </a:rPr>
              <a:t> Axis</a:t>
            </a:r>
            <a:endParaRPr lang="en-US" sz="3200">
              <a:latin typeface="Times New Roman" pitchFamily="18" charset="0"/>
              <a:cs typeface="Times New Roman" pitchFamily="18" charset="0"/>
            </a:endParaRPr>
          </a:p>
        </p:txBody>
      </p:sp>
      <p:sp>
        <p:nvSpPr>
          <p:cNvPr id="147459"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47460" name="Picture 4"/>
          <p:cNvPicPr>
            <a:picLocks noChangeAspect="1" noChangeArrowheads="1"/>
          </p:cNvPicPr>
          <p:nvPr/>
        </p:nvPicPr>
        <p:blipFill>
          <a:blip r:embed="rId3"/>
          <a:srcRect/>
          <a:stretch>
            <a:fillRect/>
          </a:stretch>
        </p:blipFill>
        <p:spPr bwMode="auto">
          <a:xfrm>
            <a:off x="2667000" y="1905000"/>
            <a:ext cx="3668713" cy="4267200"/>
          </a:xfrm>
          <a:prstGeom prst="rect">
            <a:avLst/>
          </a:prstGeom>
          <a:noFill/>
          <a:ln w="12700">
            <a:solidFill>
              <a:schemeClr val="tx1"/>
            </a:solidFill>
            <a:miter lim="800000"/>
            <a:headEnd/>
            <a:tailEnd/>
          </a:ln>
          <a:effectLst/>
        </p:spPr>
      </p:pic>
    </p:spTree>
    <p:extLst>
      <p:ext uri="{BB962C8B-B14F-4D97-AF65-F5344CB8AC3E}">
        <p14:creationId xmlns:p14="http://schemas.microsoft.com/office/powerpoint/2010/main" val="6555663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6" name="Rectangle 2"/>
          <p:cNvSpPr>
            <a:spLocks noGrp="1" noChangeArrowheads="1"/>
          </p:cNvSpPr>
          <p:nvPr>
            <p:ph type="body" idx="1"/>
          </p:nvPr>
        </p:nvSpPr>
        <p:spPr>
          <a:xfrm>
            <a:off x="457200" y="2209800"/>
            <a:ext cx="8229600" cy="2757488"/>
          </a:xfrm>
        </p:spPr>
        <p:txBody>
          <a:bodyPr/>
          <a:lstStyle/>
          <a:p>
            <a:pPr marL="457200" indent="-457200"/>
            <a:r>
              <a:rPr lang="en-US" sz="3600">
                <a:latin typeface="Times New Roman" pitchFamily="18" charset="0"/>
                <a:cs typeface="Times New Roman" pitchFamily="18" charset="0"/>
              </a:rPr>
              <a:t>Metal ion complexes are used in humans for the transport and storage of oxygen, as electron-transfer agents, as catalysts, and as drugs.</a:t>
            </a:r>
          </a:p>
        </p:txBody>
      </p:sp>
      <p:sp>
        <p:nvSpPr>
          <p:cNvPr id="14950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149508" name="Rectangle 4"/>
          <p:cNvSpPr>
            <a:spLocks noGrp="1" noChangeArrowheads="1"/>
          </p:cNvSpPr>
          <p:nvPr>
            <p:ph type="title"/>
          </p:nvPr>
        </p:nvSpPr>
        <p:spPr>
          <a:xfrm>
            <a:off x="457200" y="381000"/>
            <a:ext cx="8229600" cy="1371600"/>
          </a:xfrm>
        </p:spPr>
        <p:txBody>
          <a:bodyPr/>
          <a:lstStyle/>
          <a:p>
            <a:r>
              <a:rPr lang="en-US" sz="4000">
                <a:latin typeface="Times New Roman" pitchFamily="18" charset="0"/>
                <a:cs typeface="Times New Roman" pitchFamily="18" charset="0"/>
              </a:rPr>
              <a:t>Transition Metal Complexes in Biological Molecules</a:t>
            </a:r>
          </a:p>
        </p:txBody>
      </p:sp>
    </p:spTree>
    <p:extLst>
      <p:ext uri="{BB962C8B-B14F-4D97-AF65-F5344CB8AC3E}">
        <p14:creationId xmlns:p14="http://schemas.microsoft.com/office/powerpoint/2010/main" val="307219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506">
                                            <p:txEl>
                                              <p:pRg st="0" end="0"/>
                                            </p:txEl>
                                          </p:spTgt>
                                        </p:tgtEl>
                                        <p:attrNameLst>
                                          <p:attrName>style.visibility</p:attrName>
                                        </p:attrNameLst>
                                      </p:cBhvr>
                                      <p:to>
                                        <p:strVal val="visible"/>
                                      </p:to>
                                    </p:set>
                                    <p:animEffect transition="in" filter="wipe(left)">
                                      <p:cBhvr>
                                        <p:cTn id="7" dur="500"/>
                                        <p:tgtEl>
                                          <p:spTgt spid="14950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457200" y="381000"/>
            <a:ext cx="8229600" cy="1295400"/>
          </a:xfrm>
        </p:spPr>
        <p:txBody>
          <a:bodyPr>
            <a:normAutofit fontScale="90000"/>
          </a:bodyPr>
          <a:lstStyle/>
          <a:p>
            <a:pPr>
              <a:spcBef>
                <a:spcPct val="20000"/>
              </a:spcBef>
            </a:pPr>
            <a:r>
              <a:rPr lang="en-US" sz="4000">
                <a:latin typeface="Times New Roman" pitchFamily="18" charset="0"/>
                <a:cs typeface="Times New Roman" pitchFamily="18" charset="0"/>
              </a:rPr>
              <a:t>First-Row Transition Metals and Their Biological Significance</a:t>
            </a:r>
          </a:p>
        </p:txBody>
      </p:sp>
      <p:sp>
        <p:nvSpPr>
          <p:cNvPr id="15155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51556" name="Picture 4" descr="table_21_18"/>
          <p:cNvPicPr>
            <a:picLocks noChangeAspect="1" noChangeArrowheads="1"/>
          </p:cNvPicPr>
          <p:nvPr/>
        </p:nvPicPr>
        <p:blipFill>
          <a:blip r:embed="rId3"/>
          <a:srcRect/>
          <a:stretch>
            <a:fillRect/>
          </a:stretch>
        </p:blipFill>
        <p:spPr bwMode="auto">
          <a:xfrm>
            <a:off x="685800" y="2057400"/>
            <a:ext cx="7543800" cy="4389438"/>
          </a:xfrm>
          <a:prstGeom prst="rect">
            <a:avLst/>
          </a:prstGeom>
          <a:noFill/>
          <a:ln w="12700">
            <a:solidFill>
              <a:srgbClr val="000000"/>
            </a:solidFill>
            <a:miter lim="800000"/>
            <a:headEnd/>
            <a:tailEnd/>
          </a:ln>
        </p:spPr>
      </p:pic>
    </p:spTree>
    <p:extLst>
      <p:ext uri="{BB962C8B-B14F-4D97-AF65-F5344CB8AC3E}">
        <p14:creationId xmlns:p14="http://schemas.microsoft.com/office/powerpoint/2010/main" val="16408078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Biological Importance of Iron</a:t>
            </a:r>
          </a:p>
        </p:txBody>
      </p:sp>
      <p:sp>
        <p:nvSpPr>
          <p:cNvPr id="153603" name="Rectangle 3"/>
          <p:cNvSpPr>
            <a:spLocks noGrp="1" noChangeArrowheads="1"/>
          </p:cNvSpPr>
          <p:nvPr>
            <p:ph type="body" idx="1"/>
          </p:nvPr>
        </p:nvSpPr>
        <p:spPr>
          <a:xfrm>
            <a:off x="457200" y="1752600"/>
            <a:ext cx="8229600" cy="3581400"/>
          </a:xfrm>
        </p:spPr>
        <p:txBody>
          <a:bodyPr/>
          <a:lstStyle/>
          <a:p>
            <a:pPr marL="457200" indent="-457200"/>
            <a:r>
              <a:rPr lang="en-US">
                <a:latin typeface="Times New Roman" pitchFamily="18" charset="0"/>
                <a:cs typeface="Times New Roman" pitchFamily="18" charset="0"/>
              </a:rPr>
              <a:t>Plays a central role in almost all living cells.</a:t>
            </a:r>
          </a:p>
          <a:p>
            <a:pPr marL="457200" indent="-457200"/>
            <a:r>
              <a:rPr lang="en-US">
                <a:latin typeface="Times New Roman" pitchFamily="18" charset="0"/>
                <a:cs typeface="Times New Roman" pitchFamily="18" charset="0"/>
              </a:rPr>
              <a:t>Component of hemoglobin and myoglobin.</a:t>
            </a:r>
          </a:p>
          <a:p>
            <a:pPr marL="457200" indent="-457200"/>
            <a:r>
              <a:rPr lang="en-US">
                <a:latin typeface="Times New Roman" pitchFamily="18" charset="0"/>
                <a:cs typeface="Times New Roman" pitchFamily="18" charset="0"/>
              </a:rPr>
              <a:t>Involved in the electron-transport chain.</a:t>
            </a:r>
          </a:p>
        </p:txBody>
      </p:sp>
      <p:sp>
        <p:nvSpPr>
          <p:cNvPr id="15360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4202409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animEffect transition="in" filter="wipe(left)">
                                      <p:cBhvr>
                                        <p:cTn id="7" dur="500"/>
                                        <p:tgtEl>
                                          <p:spTgt spid="153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03">
                                            <p:txEl>
                                              <p:pRg st="1" end="1"/>
                                            </p:txEl>
                                          </p:spTgt>
                                        </p:tgtEl>
                                        <p:attrNameLst>
                                          <p:attrName>style.visibility</p:attrName>
                                        </p:attrNameLst>
                                      </p:cBhvr>
                                      <p:to>
                                        <p:strVal val="visible"/>
                                      </p:to>
                                    </p:set>
                                    <p:animEffect transition="in" filter="wipe(left)">
                                      <p:cBhvr>
                                        <p:cTn id="12" dur="500"/>
                                        <p:tgtEl>
                                          <p:spTgt spid="153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03">
                                            <p:txEl>
                                              <p:pRg st="2" end="2"/>
                                            </p:txEl>
                                          </p:spTgt>
                                        </p:tgtEl>
                                        <p:attrNameLst>
                                          <p:attrName>style.visibility</p:attrName>
                                        </p:attrNameLst>
                                      </p:cBhvr>
                                      <p:to>
                                        <p:strVal val="visible"/>
                                      </p:to>
                                    </p:set>
                                    <p:animEffect transition="in" filter="wipe(left)">
                                      <p:cBhvr>
                                        <p:cTn id="17" dur="500"/>
                                        <p:tgtEl>
                                          <p:spTgt spid="1536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685800" y="457200"/>
            <a:ext cx="7467600" cy="762000"/>
          </a:xfrm>
        </p:spPr>
        <p:txBody>
          <a:bodyPr/>
          <a:lstStyle/>
          <a:p>
            <a:pPr>
              <a:spcBef>
                <a:spcPct val="20000"/>
              </a:spcBef>
            </a:pPr>
            <a:r>
              <a:rPr lang="en-US" sz="3600">
                <a:latin typeface="Times New Roman" pitchFamily="18" charset="0"/>
                <a:cs typeface="Times New Roman" pitchFamily="18" charset="0"/>
              </a:rPr>
              <a:t>The Heme Complex</a:t>
            </a:r>
          </a:p>
        </p:txBody>
      </p:sp>
      <p:sp>
        <p:nvSpPr>
          <p:cNvPr id="15565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55652" name="Picture 4" descr="ch21_58"/>
          <p:cNvPicPr>
            <a:picLocks noChangeAspect="1" noChangeArrowheads="1"/>
          </p:cNvPicPr>
          <p:nvPr/>
        </p:nvPicPr>
        <p:blipFill>
          <a:blip r:embed="rId3"/>
          <a:srcRect/>
          <a:stretch>
            <a:fillRect/>
          </a:stretch>
        </p:blipFill>
        <p:spPr bwMode="auto">
          <a:xfrm>
            <a:off x="2438400" y="1371600"/>
            <a:ext cx="4397375" cy="504825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33503949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457200" y="274638"/>
            <a:ext cx="7848600" cy="868362"/>
          </a:xfrm>
        </p:spPr>
        <p:txBody>
          <a:bodyPr/>
          <a:lstStyle/>
          <a:p>
            <a:pPr>
              <a:spcBef>
                <a:spcPct val="20000"/>
              </a:spcBef>
            </a:pPr>
            <a:r>
              <a:rPr lang="en-US">
                <a:latin typeface="Times New Roman" pitchFamily="18" charset="0"/>
                <a:cs typeface="Times New Roman" pitchFamily="18" charset="0"/>
              </a:rPr>
              <a:t>Myoglobin</a:t>
            </a:r>
          </a:p>
        </p:txBody>
      </p:sp>
      <p:sp>
        <p:nvSpPr>
          <p:cNvPr id="157699" name="Rectangle 3"/>
          <p:cNvSpPr>
            <a:spLocks noGrp="1" noChangeArrowheads="1"/>
          </p:cNvSpPr>
          <p:nvPr>
            <p:ph type="body" idx="1"/>
          </p:nvPr>
        </p:nvSpPr>
        <p:spPr>
          <a:xfrm>
            <a:off x="304800" y="1371600"/>
            <a:ext cx="3200400" cy="5105400"/>
          </a:xfrm>
        </p:spPr>
        <p:txBody>
          <a:bodyPr/>
          <a:lstStyle/>
          <a:p>
            <a:pPr marL="457200" indent="-457200"/>
            <a:r>
              <a:rPr lang="en-US" sz="2400">
                <a:latin typeface="Times New Roman" pitchFamily="18" charset="0"/>
                <a:cs typeface="Times New Roman" pitchFamily="18" charset="0"/>
              </a:rPr>
              <a:t>The Fe</a:t>
            </a:r>
            <a:r>
              <a:rPr lang="en-US" sz="2400" baseline="30000">
                <a:latin typeface="Times New Roman" pitchFamily="18" charset="0"/>
                <a:cs typeface="Times New Roman" pitchFamily="18" charset="0"/>
              </a:rPr>
              <a:t>2+</a:t>
            </a:r>
            <a:r>
              <a:rPr lang="en-US" sz="2400">
                <a:latin typeface="Times New Roman" pitchFamily="18" charset="0"/>
                <a:cs typeface="Times New Roman" pitchFamily="18" charset="0"/>
              </a:rPr>
              <a:t> ion is coordinated to four nitrogen atoms in the porphyrin of the heme (the disk in the figure) and on nitrogen from the protein chain.</a:t>
            </a:r>
          </a:p>
          <a:p>
            <a:pPr marL="457200" indent="-457200"/>
            <a:r>
              <a:rPr lang="en-US" sz="2400">
                <a:latin typeface="Times New Roman" pitchFamily="18" charset="0"/>
                <a:cs typeface="Times New Roman" pitchFamily="18" charset="0"/>
              </a:rPr>
              <a:t>This leaves a 6</a:t>
            </a:r>
            <a:r>
              <a:rPr lang="en-US" sz="2400" baseline="30000">
                <a:latin typeface="Times New Roman" pitchFamily="18" charset="0"/>
                <a:cs typeface="Times New Roman" pitchFamily="18" charset="0"/>
              </a:rPr>
              <a:t>th</a:t>
            </a:r>
            <a:r>
              <a:rPr lang="en-US" sz="2400">
                <a:latin typeface="Times New Roman" pitchFamily="18" charset="0"/>
                <a:cs typeface="Times New Roman" pitchFamily="18" charset="0"/>
              </a:rPr>
              <a:t> coordination position (the W) available for an oxygen molecule.</a:t>
            </a:r>
          </a:p>
        </p:txBody>
      </p:sp>
      <p:sp>
        <p:nvSpPr>
          <p:cNvPr id="15770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57701" name="Picture 5" descr="ch21_59"/>
          <p:cNvPicPr>
            <a:picLocks noChangeAspect="1" noChangeArrowheads="1"/>
          </p:cNvPicPr>
          <p:nvPr/>
        </p:nvPicPr>
        <p:blipFill>
          <a:blip r:embed="rId3"/>
          <a:srcRect/>
          <a:stretch>
            <a:fillRect/>
          </a:stretch>
        </p:blipFill>
        <p:spPr bwMode="auto">
          <a:xfrm>
            <a:off x="3810000" y="1371600"/>
            <a:ext cx="4548188" cy="472440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3003587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Effect transition="in" filter="wipe(left)">
                                      <p:cBhvr>
                                        <p:cTn id="7" dur="500"/>
                                        <p:tgtEl>
                                          <p:spTgt spid="157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7699">
                                            <p:txEl>
                                              <p:pRg st="1" end="1"/>
                                            </p:txEl>
                                          </p:spTgt>
                                        </p:tgtEl>
                                        <p:attrNameLst>
                                          <p:attrName>style.visibility</p:attrName>
                                        </p:attrNameLst>
                                      </p:cBhvr>
                                      <p:to>
                                        <p:strVal val="visible"/>
                                      </p:to>
                                    </p:set>
                                    <p:animEffect transition="in" filter="wipe(left)">
                                      <p:cBhvr>
                                        <p:cTn id="12" dur="500"/>
                                        <p:tgtEl>
                                          <p:spTgt spid="1576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pPr>
              <a:spcBef>
                <a:spcPct val="20000"/>
              </a:spcBef>
            </a:pPr>
            <a:r>
              <a:rPr lang="en-US">
                <a:latin typeface="Times New Roman" pitchFamily="18" charset="0"/>
                <a:cs typeface="Times New Roman" pitchFamily="18" charset="0"/>
              </a:rPr>
              <a:t>Hemoglobin</a:t>
            </a:r>
          </a:p>
        </p:txBody>
      </p:sp>
      <p:sp>
        <p:nvSpPr>
          <p:cNvPr id="159747" name="Rectangle 3"/>
          <p:cNvSpPr>
            <a:spLocks noGrp="1" noChangeArrowheads="1"/>
          </p:cNvSpPr>
          <p:nvPr>
            <p:ph type="body" idx="1"/>
          </p:nvPr>
        </p:nvSpPr>
        <p:spPr>
          <a:xfrm>
            <a:off x="228600" y="1524000"/>
            <a:ext cx="3200400" cy="4953000"/>
          </a:xfrm>
        </p:spPr>
        <p:txBody>
          <a:bodyPr/>
          <a:lstStyle/>
          <a:p>
            <a:pPr marL="457200" indent="-457200"/>
            <a:r>
              <a:rPr lang="en-US" sz="2800">
                <a:latin typeface="Times New Roman" pitchFamily="18" charset="0"/>
                <a:cs typeface="Times New Roman" pitchFamily="18" charset="0"/>
              </a:rPr>
              <a:t>Each hemoglobin has two </a:t>
            </a:r>
            <a:r>
              <a:rPr lang="el-GR" sz="2800">
                <a:latin typeface="Times New Roman" pitchFamily="18" charset="0"/>
                <a:cs typeface="Times New Roman" pitchFamily="18" charset="0"/>
              </a:rPr>
              <a:t>α</a:t>
            </a:r>
            <a:r>
              <a:rPr lang="en-US" sz="2800">
                <a:latin typeface="Times New Roman" pitchFamily="18" charset="0"/>
                <a:cs typeface="Times New Roman" pitchFamily="18" charset="0"/>
              </a:rPr>
              <a:t> chains and two </a:t>
            </a:r>
            <a:r>
              <a:rPr lang="el-GR" sz="2800">
                <a:latin typeface="Times New Roman" pitchFamily="18" charset="0"/>
                <a:cs typeface="Times New Roman" pitchFamily="18" charset="0"/>
              </a:rPr>
              <a:t>β</a:t>
            </a:r>
            <a:r>
              <a:rPr lang="en-US" sz="2800">
                <a:latin typeface="Times New Roman" pitchFamily="18" charset="0"/>
                <a:cs typeface="Times New Roman" pitchFamily="18" charset="0"/>
              </a:rPr>
              <a:t> chains, each with a heme complex near the center.</a:t>
            </a:r>
          </a:p>
          <a:p>
            <a:pPr marL="457200" indent="-457200"/>
            <a:r>
              <a:rPr lang="en-US" sz="2800">
                <a:latin typeface="Times New Roman" pitchFamily="18" charset="0"/>
                <a:cs typeface="Times New Roman" pitchFamily="18" charset="0"/>
              </a:rPr>
              <a:t>Each hemoglobin molecule can complex with four O</a:t>
            </a:r>
            <a:r>
              <a:rPr lang="en-US" sz="2800" baseline="-25000">
                <a:latin typeface="Times New Roman" pitchFamily="18" charset="0"/>
                <a:cs typeface="Times New Roman" pitchFamily="18" charset="0"/>
              </a:rPr>
              <a:t>2</a:t>
            </a:r>
            <a:r>
              <a:rPr lang="en-US" sz="2800">
                <a:latin typeface="Times New Roman" pitchFamily="18" charset="0"/>
                <a:cs typeface="Times New Roman" pitchFamily="18" charset="0"/>
              </a:rPr>
              <a:t> molecules.</a:t>
            </a:r>
          </a:p>
        </p:txBody>
      </p:sp>
      <p:sp>
        <p:nvSpPr>
          <p:cNvPr id="159748"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59749" name="Picture 5" descr="ch21_60"/>
          <p:cNvPicPr>
            <a:picLocks noChangeAspect="1" noChangeArrowheads="1"/>
          </p:cNvPicPr>
          <p:nvPr/>
        </p:nvPicPr>
        <p:blipFill>
          <a:blip r:embed="rId3"/>
          <a:srcRect/>
          <a:stretch>
            <a:fillRect/>
          </a:stretch>
        </p:blipFill>
        <p:spPr bwMode="auto">
          <a:xfrm>
            <a:off x="3733800" y="1676400"/>
            <a:ext cx="5105400" cy="4398963"/>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291348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Effect transition="in" filter="wipe(left)">
                                      <p:cBhvr>
                                        <p:cTn id="7" dur="500"/>
                                        <p:tgtEl>
                                          <p:spTgt spid="159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9747">
                                            <p:txEl>
                                              <p:pRg st="1" end="1"/>
                                            </p:txEl>
                                          </p:spTgt>
                                        </p:tgtEl>
                                        <p:attrNameLst>
                                          <p:attrName>style.visibility</p:attrName>
                                        </p:attrNameLst>
                                      </p:cBhvr>
                                      <p:to>
                                        <p:strVal val="visible"/>
                                      </p:to>
                                    </p:set>
                                    <p:animEffect transition="in" filter="wipe(left)">
                                      <p:cBhvr>
                                        <p:cTn id="12" dur="500"/>
                                        <p:tgtEl>
                                          <p:spTgt spid="1597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457200" y="274638"/>
            <a:ext cx="7467600" cy="1096962"/>
          </a:xfrm>
        </p:spPr>
        <p:txBody>
          <a:bodyPr/>
          <a:lstStyle/>
          <a:p>
            <a:pPr>
              <a:spcBef>
                <a:spcPct val="20000"/>
              </a:spcBef>
            </a:pPr>
            <a:r>
              <a:rPr lang="en-US">
                <a:latin typeface="Times New Roman" pitchFamily="18" charset="0"/>
                <a:cs typeface="Times New Roman" pitchFamily="18" charset="0"/>
              </a:rPr>
              <a:t>Metallurgy</a:t>
            </a:r>
          </a:p>
        </p:txBody>
      </p:sp>
      <p:sp>
        <p:nvSpPr>
          <p:cNvPr id="161795" name="Rectangle 3"/>
          <p:cNvSpPr>
            <a:spLocks noGrp="1" noChangeArrowheads="1"/>
          </p:cNvSpPr>
          <p:nvPr>
            <p:ph type="body" idx="1"/>
          </p:nvPr>
        </p:nvSpPr>
        <p:spPr>
          <a:xfrm>
            <a:off x="457200" y="1752600"/>
            <a:ext cx="8229600" cy="4724400"/>
          </a:xfrm>
        </p:spPr>
        <p:txBody>
          <a:bodyPr/>
          <a:lstStyle/>
          <a:p>
            <a:pPr marL="457200" indent="-457200"/>
            <a:r>
              <a:rPr lang="en-US" sz="3600">
                <a:latin typeface="Times New Roman" pitchFamily="18" charset="0"/>
                <a:cs typeface="Times New Roman" pitchFamily="18" charset="0"/>
              </a:rPr>
              <a:t>Process of separating a metal from its ore and preparing it for use.</a:t>
            </a:r>
          </a:p>
          <a:p>
            <a:pPr marL="457200" indent="-457200"/>
            <a:r>
              <a:rPr lang="en-US" sz="3600">
                <a:latin typeface="Times New Roman" pitchFamily="18" charset="0"/>
                <a:cs typeface="Times New Roman" pitchFamily="18" charset="0"/>
              </a:rPr>
              <a:t>Steps:</a:t>
            </a:r>
          </a:p>
          <a:p>
            <a:pPr marL="901700" lvl="1" indent="-444500">
              <a:buFont typeface="Wingdings" pitchFamily="2" charset="2"/>
              <a:buChar char="§"/>
            </a:pPr>
            <a:r>
              <a:rPr lang="en-US" sz="3000">
                <a:latin typeface="Times New Roman" pitchFamily="18" charset="0"/>
                <a:cs typeface="Times New Roman" pitchFamily="18" charset="0"/>
              </a:rPr>
              <a:t>Mining</a:t>
            </a:r>
          </a:p>
          <a:p>
            <a:pPr marL="901700" lvl="1" indent="-444500">
              <a:buFont typeface="Wingdings" pitchFamily="2" charset="2"/>
              <a:buChar char="§"/>
            </a:pPr>
            <a:r>
              <a:rPr lang="en-US" sz="3000">
                <a:latin typeface="Times New Roman" pitchFamily="18" charset="0"/>
                <a:cs typeface="Times New Roman" pitchFamily="18" charset="0"/>
              </a:rPr>
              <a:t>Pretreatment of the ore</a:t>
            </a:r>
          </a:p>
          <a:p>
            <a:pPr marL="901700" lvl="1" indent="-444500">
              <a:buFont typeface="Wingdings" pitchFamily="2" charset="2"/>
              <a:buChar char="§"/>
            </a:pPr>
            <a:r>
              <a:rPr lang="en-US" sz="3000">
                <a:latin typeface="Times New Roman" pitchFamily="18" charset="0"/>
                <a:cs typeface="Times New Roman" pitchFamily="18" charset="0"/>
              </a:rPr>
              <a:t>Reduction to the free metal</a:t>
            </a:r>
          </a:p>
          <a:p>
            <a:pPr marL="901700" lvl="1" indent="-444500">
              <a:buFont typeface="Wingdings" pitchFamily="2" charset="2"/>
              <a:buChar char="§"/>
            </a:pPr>
            <a:r>
              <a:rPr lang="en-US" sz="3000">
                <a:latin typeface="Times New Roman" pitchFamily="18" charset="0"/>
                <a:cs typeface="Times New Roman" pitchFamily="18" charset="0"/>
              </a:rPr>
              <a:t>Purification of the metal (refining)</a:t>
            </a:r>
          </a:p>
          <a:p>
            <a:pPr marL="901700" lvl="1" indent="-444500">
              <a:buFont typeface="Wingdings" pitchFamily="2" charset="2"/>
              <a:buChar char="§"/>
            </a:pPr>
            <a:r>
              <a:rPr lang="en-US" sz="3000">
                <a:latin typeface="Times New Roman" pitchFamily="18" charset="0"/>
                <a:cs typeface="Times New Roman" pitchFamily="18" charset="0"/>
              </a:rPr>
              <a:t>Alloying</a:t>
            </a:r>
          </a:p>
        </p:txBody>
      </p:sp>
      <p:sp>
        <p:nvSpPr>
          <p:cNvPr id="161796"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Tree>
    <p:extLst>
      <p:ext uri="{BB962C8B-B14F-4D97-AF65-F5344CB8AC3E}">
        <p14:creationId xmlns:p14="http://schemas.microsoft.com/office/powerpoint/2010/main" val="412469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5">
                                            <p:txEl>
                                              <p:pRg st="0" end="0"/>
                                            </p:txEl>
                                          </p:spTgt>
                                        </p:tgtEl>
                                        <p:attrNameLst>
                                          <p:attrName>style.visibility</p:attrName>
                                        </p:attrNameLst>
                                      </p:cBhvr>
                                      <p:to>
                                        <p:strVal val="visible"/>
                                      </p:to>
                                    </p:set>
                                    <p:animEffect transition="in" filter="wipe(left)">
                                      <p:cBhvr>
                                        <p:cTn id="7" dur="500"/>
                                        <p:tgtEl>
                                          <p:spTgt spid="161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1795">
                                            <p:txEl>
                                              <p:pRg st="1" end="1"/>
                                            </p:txEl>
                                          </p:spTgt>
                                        </p:tgtEl>
                                        <p:attrNameLst>
                                          <p:attrName>style.visibility</p:attrName>
                                        </p:attrNameLst>
                                      </p:cBhvr>
                                      <p:to>
                                        <p:strVal val="visible"/>
                                      </p:to>
                                    </p:set>
                                    <p:animEffect transition="in" filter="wipe(left)">
                                      <p:cBhvr>
                                        <p:cTn id="12" dur="500"/>
                                        <p:tgtEl>
                                          <p:spTgt spid="161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1795">
                                            <p:txEl>
                                              <p:pRg st="2" end="2"/>
                                            </p:txEl>
                                          </p:spTgt>
                                        </p:tgtEl>
                                        <p:attrNameLst>
                                          <p:attrName>style.visibility</p:attrName>
                                        </p:attrNameLst>
                                      </p:cBhvr>
                                      <p:to>
                                        <p:strVal val="visible"/>
                                      </p:to>
                                    </p:set>
                                    <p:animEffect transition="in" filter="wipe(left)">
                                      <p:cBhvr>
                                        <p:cTn id="17" dur="500"/>
                                        <p:tgtEl>
                                          <p:spTgt spid="1617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795">
                                            <p:txEl>
                                              <p:pRg st="3" end="3"/>
                                            </p:txEl>
                                          </p:spTgt>
                                        </p:tgtEl>
                                        <p:attrNameLst>
                                          <p:attrName>style.visibility</p:attrName>
                                        </p:attrNameLst>
                                      </p:cBhvr>
                                      <p:to>
                                        <p:strVal val="visible"/>
                                      </p:to>
                                    </p:set>
                                    <p:animEffect transition="in" filter="wipe(left)">
                                      <p:cBhvr>
                                        <p:cTn id="22" dur="500"/>
                                        <p:tgtEl>
                                          <p:spTgt spid="1617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1795">
                                            <p:txEl>
                                              <p:pRg st="4" end="4"/>
                                            </p:txEl>
                                          </p:spTgt>
                                        </p:tgtEl>
                                        <p:attrNameLst>
                                          <p:attrName>style.visibility</p:attrName>
                                        </p:attrNameLst>
                                      </p:cBhvr>
                                      <p:to>
                                        <p:strVal val="visible"/>
                                      </p:to>
                                    </p:set>
                                    <p:animEffect transition="in" filter="wipe(left)">
                                      <p:cBhvr>
                                        <p:cTn id="27" dur="500"/>
                                        <p:tgtEl>
                                          <p:spTgt spid="1617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1795">
                                            <p:txEl>
                                              <p:pRg st="5" end="5"/>
                                            </p:txEl>
                                          </p:spTgt>
                                        </p:tgtEl>
                                        <p:attrNameLst>
                                          <p:attrName>style.visibility</p:attrName>
                                        </p:attrNameLst>
                                      </p:cBhvr>
                                      <p:to>
                                        <p:strVal val="visible"/>
                                      </p:to>
                                    </p:set>
                                    <p:animEffect transition="in" filter="wipe(left)">
                                      <p:cBhvr>
                                        <p:cTn id="32" dur="500"/>
                                        <p:tgtEl>
                                          <p:spTgt spid="1617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1795">
                                            <p:txEl>
                                              <p:pRg st="6" end="6"/>
                                            </p:txEl>
                                          </p:spTgt>
                                        </p:tgtEl>
                                        <p:attrNameLst>
                                          <p:attrName>style.visibility</p:attrName>
                                        </p:attrNameLst>
                                      </p:cBhvr>
                                      <p:to>
                                        <p:strVal val="visible"/>
                                      </p:to>
                                    </p:set>
                                    <p:animEffect transition="in" filter="wipe(left)">
                                      <p:cBhvr>
                                        <p:cTn id="37" dur="500"/>
                                        <p:tgtEl>
                                          <p:spTgt spid="1617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228600" y="304800"/>
            <a:ext cx="8534400" cy="762000"/>
          </a:xfrm>
        </p:spPr>
        <p:txBody>
          <a:bodyPr/>
          <a:lstStyle/>
          <a:p>
            <a:pPr>
              <a:spcBef>
                <a:spcPct val="20000"/>
              </a:spcBef>
            </a:pPr>
            <a:r>
              <a:rPr lang="en-US" sz="3200">
                <a:latin typeface="Times New Roman" pitchFamily="18" charset="0"/>
                <a:cs typeface="Times New Roman" pitchFamily="18" charset="0"/>
              </a:rPr>
              <a:t>The Blast Furnace Used In the Production of Iron</a:t>
            </a:r>
          </a:p>
        </p:txBody>
      </p:sp>
      <p:sp>
        <p:nvSpPr>
          <p:cNvPr id="163843"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63844" name="Picture 4" descr="ch21_62"/>
          <p:cNvPicPr>
            <a:picLocks noChangeAspect="1" noChangeArrowheads="1"/>
          </p:cNvPicPr>
          <p:nvPr/>
        </p:nvPicPr>
        <p:blipFill>
          <a:blip r:embed="rId3"/>
          <a:srcRect/>
          <a:stretch>
            <a:fillRect/>
          </a:stretch>
        </p:blipFill>
        <p:spPr bwMode="auto">
          <a:xfrm>
            <a:off x="2286000" y="1371600"/>
            <a:ext cx="4614863" cy="510540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10313141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normAutofit fontScale="90000"/>
          </a:bodyPr>
          <a:lstStyle/>
          <a:p>
            <a:pPr>
              <a:spcBef>
                <a:spcPct val="20000"/>
              </a:spcBef>
            </a:pPr>
            <a:r>
              <a:rPr lang="en-US" sz="3600">
                <a:latin typeface="Times New Roman" pitchFamily="18" charset="0"/>
                <a:cs typeface="Times New Roman" pitchFamily="18" charset="0"/>
              </a:rPr>
              <a:t>A Schematic of the Open Hearth Process for Steelmaking</a:t>
            </a:r>
          </a:p>
        </p:txBody>
      </p:sp>
      <p:sp>
        <p:nvSpPr>
          <p:cNvPr id="16589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65892" name="Picture 4" descr="ch21_63"/>
          <p:cNvPicPr>
            <a:picLocks noChangeAspect="1" noChangeArrowheads="1"/>
          </p:cNvPicPr>
          <p:nvPr/>
        </p:nvPicPr>
        <p:blipFill>
          <a:blip r:embed="rId4"/>
          <a:srcRect/>
          <a:stretch>
            <a:fillRect/>
          </a:stretch>
        </p:blipFill>
        <p:spPr bwMode="auto">
          <a:xfrm>
            <a:off x="1371600" y="3124200"/>
            <a:ext cx="6248400" cy="3155950"/>
          </a:xfrm>
          <a:prstGeom prst="rect">
            <a:avLst/>
          </a:prstGeom>
          <a:noFill/>
          <a:ln w="12699">
            <a:solidFill>
              <a:srgbClr val="000000"/>
            </a:solidFill>
            <a:miter lim="800000"/>
            <a:headEnd/>
            <a:tailEnd/>
          </a:ln>
        </p:spPr>
      </p:pic>
      <p:graphicFrame>
        <p:nvGraphicFramePr>
          <p:cNvPr id="165893" name="Object 5"/>
          <p:cNvGraphicFramePr>
            <a:graphicFrameLocks noChangeAspect="1"/>
          </p:cNvGraphicFramePr>
          <p:nvPr/>
        </p:nvGraphicFramePr>
        <p:xfrm>
          <a:off x="2133600" y="1676400"/>
          <a:ext cx="3914775" cy="485775"/>
        </p:xfrm>
        <a:graphic>
          <a:graphicData uri="http://schemas.openxmlformats.org/presentationml/2006/ole">
            <mc:AlternateContent xmlns:mc="http://schemas.openxmlformats.org/markup-compatibility/2006">
              <mc:Choice xmlns:v="urn:schemas-microsoft-com:vml" Requires="v">
                <p:oleObj spid="_x0000_s5124" name="Equation" r:id="rId5" imgW="3911600" imgH="482600" progId="">
                  <p:embed/>
                </p:oleObj>
              </mc:Choice>
              <mc:Fallback>
                <p:oleObj name="Equation" r:id="rId5" imgW="3911600" imgH="4826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1676400"/>
                        <a:ext cx="391477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5894" name="Rectangle 6"/>
          <p:cNvSpPr>
            <a:spLocks noChangeArrowheads="1"/>
          </p:cNvSpPr>
          <p:nvPr/>
        </p:nvSpPr>
        <p:spPr bwMode="auto">
          <a:xfrm>
            <a:off x="0" y="3186113"/>
            <a:ext cx="9144000" cy="0"/>
          </a:xfrm>
          <a:prstGeom prst="rect">
            <a:avLst/>
          </a:prstGeom>
          <a:noFill/>
          <a:ln w="9525">
            <a:noFill/>
            <a:miter lim="800000"/>
            <a:headEnd/>
            <a:tailEnd/>
          </a:ln>
          <a:effectLst/>
        </p:spPr>
        <p:txBody>
          <a:bodyPr wrap="none" anchor="ctr">
            <a:spAutoFit/>
          </a:bodyPr>
          <a:lstStyle/>
          <a:p>
            <a:endParaRPr lang="en-US"/>
          </a:p>
        </p:txBody>
      </p:sp>
      <p:graphicFrame>
        <p:nvGraphicFramePr>
          <p:cNvPr id="165895" name="Object 7"/>
          <p:cNvGraphicFramePr>
            <a:graphicFrameLocks noChangeAspect="1"/>
          </p:cNvGraphicFramePr>
          <p:nvPr/>
        </p:nvGraphicFramePr>
        <p:xfrm>
          <a:off x="2209800" y="2209800"/>
          <a:ext cx="3303588" cy="485775"/>
        </p:xfrm>
        <a:graphic>
          <a:graphicData uri="http://schemas.openxmlformats.org/presentationml/2006/ole">
            <mc:AlternateContent xmlns:mc="http://schemas.openxmlformats.org/markup-compatibility/2006">
              <mc:Choice xmlns:v="urn:schemas-microsoft-com:vml" Requires="v">
                <p:oleObj spid="_x0000_s5125" name="Equation" r:id="rId7" imgW="3301920" imgH="482400" progId="">
                  <p:embed/>
                </p:oleObj>
              </mc:Choice>
              <mc:Fallback>
                <p:oleObj name="Equation" r:id="rId7" imgW="3301920" imgH="4824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2209800"/>
                        <a:ext cx="3303588"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6372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5893"/>
                                        </p:tgtEl>
                                        <p:attrNameLst>
                                          <p:attrName>style.visibility</p:attrName>
                                        </p:attrNameLst>
                                      </p:cBhvr>
                                      <p:to>
                                        <p:strVal val="visible"/>
                                      </p:to>
                                    </p:set>
                                    <p:animEffect transition="in" filter="wipe(left)">
                                      <p:cBhvr>
                                        <p:cTn id="7" dur="500"/>
                                        <p:tgtEl>
                                          <p:spTgt spid="1658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5895"/>
                                        </p:tgtEl>
                                        <p:attrNameLst>
                                          <p:attrName>style.visibility</p:attrName>
                                        </p:attrNameLst>
                                      </p:cBhvr>
                                      <p:to>
                                        <p:strVal val="visible"/>
                                      </p:to>
                                    </p:set>
                                    <p:animEffect transition="in" filter="wipe(left)">
                                      <p:cBhvr>
                                        <p:cTn id="12" dur="500"/>
                                        <p:tgtEl>
                                          <p:spTgt spid="165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xfrm>
            <a:off x="457200" y="274638"/>
            <a:ext cx="8229600" cy="868362"/>
          </a:xfrm>
        </p:spPr>
        <p:txBody>
          <a:bodyPr/>
          <a:lstStyle/>
          <a:p>
            <a:pPr>
              <a:spcBef>
                <a:spcPct val="20000"/>
              </a:spcBef>
            </a:pPr>
            <a:r>
              <a:rPr lang="en-US" sz="3600">
                <a:latin typeface="Times New Roman" pitchFamily="18" charset="0"/>
                <a:cs typeface="Times New Roman" pitchFamily="18" charset="0"/>
              </a:rPr>
              <a:t>The Basic Oxygen Process for Steelmaking</a:t>
            </a:r>
          </a:p>
        </p:txBody>
      </p:sp>
      <p:sp>
        <p:nvSpPr>
          <p:cNvPr id="167939" name="Rectangle 3"/>
          <p:cNvSpPr>
            <a:spLocks noGrp="1" noChangeArrowheads="1"/>
          </p:cNvSpPr>
          <p:nvPr>
            <p:ph type="body" idx="1"/>
          </p:nvPr>
        </p:nvSpPr>
        <p:spPr>
          <a:xfrm>
            <a:off x="381000" y="1600200"/>
            <a:ext cx="4114800" cy="4191000"/>
          </a:xfrm>
        </p:spPr>
        <p:txBody>
          <a:bodyPr/>
          <a:lstStyle/>
          <a:p>
            <a:pPr marL="457200" indent="-457200"/>
            <a:r>
              <a:rPr lang="en-US" sz="2800">
                <a:latin typeface="Times New Roman" pitchFamily="18" charset="0"/>
                <a:cs typeface="Times New Roman" pitchFamily="18" charset="0"/>
              </a:rPr>
              <a:t>Much faster.</a:t>
            </a:r>
          </a:p>
          <a:p>
            <a:pPr marL="457200" indent="-457200"/>
            <a:r>
              <a:rPr lang="en-US" sz="2800">
                <a:latin typeface="Times New Roman" pitchFamily="18" charset="0"/>
                <a:cs typeface="Times New Roman" pitchFamily="18" charset="0"/>
              </a:rPr>
              <a:t>Exothermic oxidation reactions proceed so rapidly that they produce enough heat to raise the temperature nearly to the boiling point of iron without an external heat source.</a:t>
            </a:r>
          </a:p>
        </p:txBody>
      </p:sp>
      <p:sp>
        <p:nvSpPr>
          <p:cNvPr id="16794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67941" name="Picture 5" descr="ch21_64"/>
          <p:cNvPicPr>
            <a:picLocks noChangeAspect="1" noChangeArrowheads="1"/>
          </p:cNvPicPr>
          <p:nvPr/>
        </p:nvPicPr>
        <p:blipFill>
          <a:blip r:embed="rId3"/>
          <a:srcRect/>
          <a:stretch>
            <a:fillRect/>
          </a:stretch>
        </p:blipFill>
        <p:spPr bwMode="auto">
          <a:xfrm>
            <a:off x="4953000" y="1600200"/>
            <a:ext cx="3240088" cy="4419600"/>
          </a:xfrm>
          <a:prstGeom prst="rect">
            <a:avLst/>
          </a:prstGeom>
          <a:noFill/>
          <a:ln w="12699">
            <a:solidFill>
              <a:srgbClr val="000000"/>
            </a:solidFill>
            <a:miter lim="800000"/>
            <a:headEnd/>
            <a:tailEnd/>
          </a:ln>
        </p:spPr>
      </p:pic>
    </p:spTree>
    <p:extLst>
      <p:ext uri="{BB962C8B-B14F-4D97-AF65-F5344CB8AC3E}">
        <p14:creationId xmlns:p14="http://schemas.microsoft.com/office/powerpoint/2010/main" val="48430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Effect transition="in" filter="wipe(left)">
                                      <p:cBhvr>
                                        <p:cTn id="7" dur="500"/>
                                        <p:tgtEl>
                                          <p:spTgt spid="167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39">
                                            <p:txEl>
                                              <p:pRg st="1" end="1"/>
                                            </p:txEl>
                                          </p:spTgt>
                                        </p:tgtEl>
                                        <p:attrNameLst>
                                          <p:attrName>style.visibility</p:attrName>
                                        </p:attrNameLst>
                                      </p:cBhvr>
                                      <p:to>
                                        <p:strVal val="visible"/>
                                      </p:to>
                                    </p:set>
                                    <p:animEffect transition="in" filter="wipe(left)">
                                      <p:cBhvr>
                                        <p:cTn id="12" dur="500"/>
                                        <p:tgtEl>
                                          <p:spTgt spid="1679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228600"/>
            <a:ext cx="9144000" cy="1143000"/>
          </a:xfrm>
        </p:spPr>
        <p:txBody>
          <a:bodyPr/>
          <a:lstStyle/>
          <a:p>
            <a:r>
              <a:rPr lang="en-US"/>
              <a:t>Polydentate Ligands</a:t>
            </a:r>
          </a:p>
        </p:txBody>
      </p:sp>
      <p:sp>
        <p:nvSpPr>
          <p:cNvPr id="33795" name="Rectangle 3"/>
          <p:cNvSpPr>
            <a:spLocks noGrp="1" noChangeArrowheads="1"/>
          </p:cNvSpPr>
          <p:nvPr>
            <p:ph type="body" sz="half" idx="1"/>
          </p:nvPr>
        </p:nvSpPr>
        <p:spPr>
          <a:xfrm>
            <a:off x="304800" y="5905500"/>
            <a:ext cx="8839200" cy="4114800"/>
          </a:xfrm>
        </p:spPr>
        <p:txBody>
          <a:bodyPr/>
          <a:lstStyle/>
          <a:p>
            <a:pPr marL="395288" lvl="1" indent="-280988">
              <a:buFontTx/>
              <a:buNone/>
              <a:tabLst>
                <a:tab pos="341313" algn="l"/>
              </a:tabLst>
            </a:pPr>
            <a:r>
              <a:rPr lang="en-US"/>
              <a:t>	Chelating agents generally form more stable complexes than do monodentate ligands.</a:t>
            </a:r>
          </a:p>
        </p:txBody>
      </p:sp>
      <p:pic>
        <p:nvPicPr>
          <p:cNvPr id="33797" name="Picture 5" descr="24_T02"/>
          <p:cNvPicPr>
            <a:picLocks noGrp="1" noChangeAspect="1" noChangeArrowheads="1"/>
          </p:cNvPicPr>
          <p:nvPr>
            <p:ph sz="half" idx="2"/>
          </p:nvPr>
        </p:nvPicPr>
        <p:blipFill>
          <a:blip r:embed="rId3"/>
          <a:srcRect t="5389" b="4398"/>
          <a:stretch>
            <a:fillRect/>
          </a:stretch>
        </p:blipFill>
        <p:spPr>
          <a:xfrm>
            <a:off x="304800" y="685800"/>
            <a:ext cx="7866063" cy="5278438"/>
          </a:xfrm>
        </p:spPr>
      </p:pic>
    </p:spTree>
    <p:extLst>
      <p:ext uri="{BB962C8B-B14F-4D97-AF65-F5344CB8AC3E}">
        <p14:creationId xmlns:p14="http://schemas.microsoft.com/office/powerpoint/2010/main" val="3581680573"/>
      </p:ext>
    </p:extLst>
  </p:cSld>
  <p:clrMapOvr>
    <a:masterClrMapping/>
  </p:clrMapOvr>
  <p:transition spd="slow">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0" y="-152400"/>
            <a:ext cx="9144000" cy="1143000"/>
          </a:xfrm>
        </p:spPr>
        <p:txBody>
          <a:bodyPr/>
          <a:lstStyle/>
          <a:p>
            <a:r>
              <a:rPr lang="en-US"/>
              <a:t>Chelating Agents</a:t>
            </a:r>
          </a:p>
        </p:txBody>
      </p:sp>
      <p:sp>
        <p:nvSpPr>
          <p:cNvPr id="34820" name="Rectangle 4"/>
          <p:cNvSpPr>
            <a:spLocks noGrp="1" noChangeArrowheads="1"/>
          </p:cNvSpPr>
          <p:nvPr>
            <p:ph type="body" sz="half" idx="2"/>
          </p:nvPr>
        </p:nvSpPr>
        <p:spPr>
          <a:xfrm>
            <a:off x="0" y="4343400"/>
            <a:ext cx="8610600" cy="2514600"/>
          </a:xfrm>
        </p:spPr>
        <p:txBody>
          <a:bodyPr/>
          <a:lstStyle/>
          <a:p>
            <a:r>
              <a:rPr lang="en-US" sz="2800"/>
              <a:t>Bind to metal ions removing them from solution.</a:t>
            </a:r>
          </a:p>
          <a:p>
            <a:r>
              <a:rPr lang="en-US" sz="2800"/>
              <a:t>Phosphates are used to tie up Ca</a:t>
            </a:r>
            <a:r>
              <a:rPr lang="en-US" sz="2800" baseline="30000"/>
              <a:t>2+</a:t>
            </a:r>
            <a:r>
              <a:rPr lang="en-US" sz="2800"/>
              <a:t> and Mg</a:t>
            </a:r>
            <a:r>
              <a:rPr lang="en-US" sz="2800" baseline="30000"/>
              <a:t>2+</a:t>
            </a:r>
            <a:r>
              <a:rPr lang="en-US" sz="2800"/>
              <a:t> in hard water to prevent them from interfering with detergents. </a:t>
            </a:r>
          </a:p>
        </p:txBody>
      </p:sp>
      <p:pic>
        <p:nvPicPr>
          <p:cNvPr id="34821" name="Picture 5" descr="24_06-01UN"/>
          <p:cNvPicPr>
            <a:picLocks noGrp="1" noChangeAspect="1" noChangeArrowheads="1"/>
          </p:cNvPicPr>
          <p:nvPr>
            <p:ph sz="half" idx="1"/>
          </p:nvPr>
        </p:nvPicPr>
        <p:blipFill>
          <a:blip r:embed="rId3" cstate="print"/>
          <a:srcRect b="8887"/>
          <a:stretch>
            <a:fillRect/>
          </a:stretch>
        </p:blipFill>
        <p:spPr>
          <a:xfrm>
            <a:off x="152400" y="1295400"/>
            <a:ext cx="6400800" cy="2270125"/>
          </a:xfrm>
        </p:spPr>
      </p:pic>
      <p:sp>
        <p:nvSpPr>
          <p:cNvPr id="34822" name="Text Box 6"/>
          <p:cNvSpPr txBox="1">
            <a:spLocks noChangeArrowheads="1"/>
          </p:cNvSpPr>
          <p:nvPr/>
        </p:nvSpPr>
        <p:spPr bwMode="auto">
          <a:xfrm>
            <a:off x="6454775" y="1143000"/>
            <a:ext cx="679450" cy="457200"/>
          </a:xfrm>
          <a:prstGeom prst="rect">
            <a:avLst/>
          </a:prstGeom>
          <a:noFill/>
          <a:ln w="9525">
            <a:noFill/>
            <a:miter lim="800000"/>
            <a:headEnd/>
            <a:tailEnd/>
          </a:ln>
          <a:effectLst/>
        </p:spPr>
        <p:txBody>
          <a:bodyPr>
            <a:spAutoFit/>
          </a:bodyPr>
          <a:lstStyle/>
          <a:p>
            <a:pPr>
              <a:spcBef>
                <a:spcPct val="50000"/>
              </a:spcBef>
            </a:pPr>
            <a:r>
              <a:rPr lang="en-US"/>
              <a:t>5-</a:t>
            </a:r>
          </a:p>
        </p:txBody>
      </p:sp>
      <p:sp>
        <p:nvSpPr>
          <p:cNvPr id="34823" name="Text Box 7"/>
          <p:cNvSpPr txBox="1">
            <a:spLocks noChangeArrowheads="1"/>
          </p:cNvSpPr>
          <p:nvPr/>
        </p:nvSpPr>
        <p:spPr bwMode="auto">
          <a:xfrm>
            <a:off x="6219825" y="2020888"/>
            <a:ext cx="285750" cy="457200"/>
          </a:xfrm>
          <a:prstGeom prst="rect">
            <a:avLst/>
          </a:prstGeom>
          <a:noFill/>
          <a:ln w="9525">
            <a:noFill/>
            <a:miter lim="800000"/>
            <a:headEnd/>
            <a:tailEnd/>
          </a:ln>
          <a:effectLst/>
        </p:spPr>
        <p:txBody>
          <a:bodyPr wrap="none">
            <a:spAutoFit/>
          </a:bodyPr>
          <a:lstStyle/>
          <a:p>
            <a:r>
              <a:rPr lang="en-US"/>
              <a:t>-</a:t>
            </a:r>
          </a:p>
        </p:txBody>
      </p:sp>
      <p:sp>
        <p:nvSpPr>
          <p:cNvPr id="34824" name="Text Box 8"/>
          <p:cNvSpPr txBox="1">
            <a:spLocks noChangeArrowheads="1"/>
          </p:cNvSpPr>
          <p:nvPr/>
        </p:nvSpPr>
        <p:spPr bwMode="auto">
          <a:xfrm>
            <a:off x="5470525" y="3379788"/>
            <a:ext cx="285750" cy="457200"/>
          </a:xfrm>
          <a:prstGeom prst="rect">
            <a:avLst/>
          </a:prstGeom>
          <a:noFill/>
          <a:ln w="9525">
            <a:noFill/>
            <a:miter lim="800000"/>
            <a:headEnd/>
            <a:tailEnd/>
          </a:ln>
          <a:effectLst/>
        </p:spPr>
        <p:txBody>
          <a:bodyPr wrap="none">
            <a:spAutoFit/>
          </a:bodyPr>
          <a:lstStyle/>
          <a:p>
            <a:r>
              <a:rPr lang="en-US"/>
              <a:t>-</a:t>
            </a:r>
          </a:p>
        </p:txBody>
      </p:sp>
      <p:sp>
        <p:nvSpPr>
          <p:cNvPr id="34825" name="Text Box 9"/>
          <p:cNvSpPr txBox="1">
            <a:spLocks noChangeArrowheads="1"/>
          </p:cNvSpPr>
          <p:nvPr/>
        </p:nvSpPr>
        <p:spPr bwMode="auto">
          <a:xfrm>
            <a:off x="3844925" y="3367088"/>
            <a:ext cx="285750" cy="457200"/>
          </a:xfrm>
          <a:prstGeom prst="rect">
            <a:avLst/>
          </a:prstGeom>
          <a:noFill/>
          <a:ln w="9525">
            <a:noFill/>
            <a:miter lim="800000"/>
            <a:headEnd/>
            <a:tailEnd/>
          </a:ln>
          <a:effectLst/>
        </p:spPr>
        <p:txBody>
          <a:bodyPr wrap="none">
            <a:spAutoFit/>
          </a:bodyPr>
          <a:lstStyle/>
          <a:p>
            <a:r>
              <a:rPr lang="en-US"/>
              <a:t>-</a:t>
            </a:r>
          </a:p>
        </p:txBody>
      </p:sp>
      <p:sp>
        <p:nvSpPr>
          <p:cNvPr id="34826" name="Text Box 10"/>
          <p:cNvSpPr txBox="1">
            <a:spLocks noChangeArrowheads="1"/>
          </p:cNvSpPr>
          <p:nvPr/>
        </p:nvSpPr>
        <p:spPr bwMode="auto">
          <a:xfrm>
            <a:off x="2219325" y="3405188"/>
            <a:ext cx="285750" cy="457200"/>
          </a:xfrm>
          <a:prstGeom prst="rect">
            <a:avLst/>
          </a:prstGeom>
          <a:noFill/>
          <a:ln w="9525">
            <a:noFill/>
            <a:miter lim="800000"/>
            <a:headEnd/>
            <a:tailEnd/>
          </a:ln>
          <a:effectLst/>
        </p:spPr>
        <p:txBody>
          <a:bodyPr wrap="none">
            <a:spAutoFit/>
          </a:bodyPr>
          <a:lstStyle/>
          <a:p>
            <a:r>
              <a:rPr lang="en-US"/>
              <a:t>-</a:t>
            </a:r>
          </a:p>
        </p:txBody>
      </p:sp>
      <p:sp>
        <p:nvSpPr>
          <p:cNvPr id="34827" name="Text Box 11"/>
          <p:cNvSpPr txBox="1">
            <a:spLocks noChangeArrowheads="1"/>
          </p:cNvSpPr>
          <p:nvPr/>
        </p:nvSpPr>
        <p:spPr bwMode="auto">
          <a:xfrm>
            <a:off x="1012825" y="1906588"/>
            <a:ext cx="285750" cy="457200"/>
          </a:xfrm>
          <a:prstGeom prst="rect">
            <a:avLst/>
          </a:prstGeom>
          <a:noFill/>
          <a:ln w="9525">
            <a:noFill/>
            <a:miter lim="800000"/>
            <a:headEnd/>
            <a:tailEnd/>
          </a:ln>
          <a:effectLst/>
        </p:spPr>
        <p:txBody>
          <a:bodyPr wrap="none">
            <a:spAutoFit/>
          </a:bodyPr>
          <a:lstStyle/>
          <a:p>
            <a:r>
              <a:rPr lang="en-US"/>
              <a:t>-</a:t>
            </a:r>
          </a:p>
        </p:txBody>
      </p:sp>
      <p:sp>
        <p:nvSpPr>
          <p:cNvPr id="34828" name="Text Box 12"/>
          <p:cNvSpPr txBox="1">
            <a:spLocks noChangeArrowheads="1"/>
          </p:cNvSpPr>
          <p:nvPr/>
        </p:nvSpPr>
        <p:spPr bwMode="auto">
          <a:xfrm>
            <a:off x="6007100" y="19177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29" name="Text Box 13"/>
          <p:cNvSpPr txBox="1">
            <a:spLocks noChangeArrowheads="1"/>
          </p:cNvSpPr>
          <p:nvPr/>
        </p:nvSpPr>
        <p:spPr bwMode="auto">
          <a:xfrm>
            <a:off x="6007100" y="23622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0" name="Text Box 14"/>
          <p:cNvSpPr txBox="1">
            <a:spLocks noChangeArrowheads="1"/>
          </p:cNvSpPr>
          <p:nvPr/>
        </p:nvSpPr>
        <p:spPr bwMode="auto">
          <a:xfrm>
            <a:off x="1193800" y="19177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1" name="Text Box 15"/>
          <p:cNvSpPr txBox="1">
            <a:spLocks noChangeArrowheads="1"/>
          </p:cNvSpPr>
          <p:nvPr/>
        </p:nvSpPr>
        <p:spPr bwMode="auto">
          <a:xfrm>
            <a:off x="1193800" y="23622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2" name="Text Box 16"/>
          <p:cNvSpPr txBox="1">
            <a:spLocks noChangeArrowheads="1"/>
          </p:cNvSpPr>
          <p:nvPr/>
        </p:nvSpPr>
        <p:spPr bwMode="auto">
          <a:xfrm>
            <a:off x="6235700" y="22050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3" name="Text Box 17"/>
          <p:cNvSpPr txBox="1">
            <a:spLocks noChangeArrowheads="1"/>
          </p:cNvSpPr>
          <p:nvPr/>
        </p:nvSpPr>
        <p:spPr bwMode="auto">
          <a:xfrm>
            <a:off x="1028700" y="21796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4" name="Text Box 18"/>
          <p:cNvSpPr txBox="1">
            <a:spLocks noChangeArrowheads="1"/>
          </p:cNvSpPr>
          <p:nvPr/>
        </p:nvSpPr>
        <p:spPr bwMode="auto">
          <a:xfrm>
            <a:off x="18161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5" name="Text Box 19"/>
          <p:cNvSpPr txBox="1">
            <a:spLocks noChangeArrowheads="1"/>
          </p:cNvSpPr>
          <p:nvPr/>
        </p:nvSpPr>
        <p:spPr bwMode="auto">
          <a:xfrm>
            <a:off x="22606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6" name="Text Box 20"/>
          <p:cNvSpPr txBox="1">
            <a:spLocks noChangeArrowheads="1"/>
          </p:cNvSpPr>
          <p:nvPr/>
        </p:nvSpPr>
        <p:spPr bwMode="auto">
          <a:xfrm>
            <a:off x="34163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7" name="Text Box 21"/>
          <p:cNvSpPr txBox="1">
            <a:spLocks noChangeArrowheads="1"/>
          </p:cNvSpPr>
          <p:nvPr/>
        </p:nvSpPr>
        <p:spPr bwMode="auto">
          <a:xfrm>
            <a:off x="38481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8" name="Text Box 22"/>
          <p:cNvSpPr txBox="1">
            <a:spLocks noChangeArrowheads="1"/>
          </p:cNvSpPr>
          <p:nvPr/>
        </p:nvSpPr>
        <p:spPr bwMode="auto">
          <a:xfrm>
            <a:off x="50038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9" name="Text Box 23"/>
          <p:cNvSpPr txBox="1">
            <a:spLocks noChangeArrowheads="1"/>
          </p:cNvSpPr>
          <p:nvPr/>
        </p:nvSpPr>
        <p:spPr bwMode="auto">
          <a:xfrm>
            <a:off x="54610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40" name="Text Box 24"/>
          <p:cNvSpPr txBox="1">
            <a:spLocks noChangeArrowheads="1"/>
          </p:cNvSpPr>
          <p:nvPr/>
        </p:nvSpPr>
        <p:spPr bwMode="auto">
          <a:xfrm>
            <a:off x="5181600" y="32258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41" name="Text Box 25"/>
          <p:cNvSpPr txBox="1">
            <a:spLocks noChangeArrowheads="1"/>
          </p:cNvSpPr>
          <p:nvPr/>
        </p:nvSpPr>
        <p:spPr bwMode="auto">
          <a:xfrm>
            <a:off x="3581400" y="32258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42" name="Text Box 26"/>
          <p:cNvSpPr txBox="1">
            <a:spLocks noChangeArrowheads="1"/>
          </p:cNvSpPr>
          <p:nvPr/>
        </p:nvSpPr>
        <p:spPr bwMode="auto">
          <a:xfrm>
            <a:off x="1968500" y="32004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Tree>
    <p:extLst>
      <p:ext uri="{BB962C8B-B14F-4D97-AF65-F5344CB8AC3E}">
        <p14:creationId xmlns:p14="http://schemas.microsoft.com/office/powerpoint/2010/main" val="81237702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20">
                                            <p:txEl>
                                              <p:pRg st="1" end="1"/>
                                            </p:txEl>
                                          </p:spTgt>
                                        </p:tgtEl>
                                        <p:attrNameLst>
                                          <p:attrName>style.visibility</p:attrName>
                                        </p:attrNameLst>
                                      </p:cBhvr>
                                      <p:to>
                                        <p:strVal val="visible"/>
                                      </p:to>
                                    </p:set>
                                    <p:animEffect transition="in" filter="fade">
                                      <p:cBhvr>
                                        <p:cTn id="7" dur="2000"/>
                                        <p:tgtEl>
                                          <p:spTgt spid="348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t>Chelating Agents</a:t>
            </a:r>
          </a:p>
        </p:txBody>
      </p:sp>
      <p:sp>
        <p:nvSpPr>
          <p:cNvPr id="35843" name="Rectangle 3"/>
          <p:cNvSpPr>
            <a:spLocks noGrp="1" noChangeArrowheads="1"/>
          </p:cNvSpPr>
          <p:nvPr>
            <p:ph type="body" sz="half" idx="1"/>
          </p:nvPr>
        </p:nvSpPr>
        <p:spPr>
          <a:xfrm>
            <a:off x="228600" y="1981200"/>
            <a:ext cx="4267200" cy="4114800"/>
          </a:xfrm>
        </p:spPr>
        <p:txBody>
          <a:bodyPr/>
          <a:lstStyle/>
          <a:p>
            <a:r>
              <a:rPr lang="en-US" sz="2800"/>
              <a:t>Porphyrins are complexes containing a form of the porphine molecule shown at right.</a:t>
            </a:r>
          </a:p>
          <a:p>
            <a:r>
              <a:rPr lang="en-US" sz="2800"/>
              <a:t>Important biomolecules like heme and chlorophyll are porphyrins.</a:t>
            </a:r>
          </a:p>
        </p:txBody>
      </p:sp>
      <p:pic>
        <p:nvPicPr>
          <p:cNvPr id="35845" name="Picture 5" descr="24_08"/>
          <p:cNvPicPr>
            <a:picLocks noGrp="1" noChangeAspect="1" noChangeArrowheads="1"/>
          </p:cNvPicPr>
          <p:nvPr>
            <p:ph sz="half" idx="2"/>
          </p:nvPr>
        </p:nvPicPr>
        <p:blipFill>
          <a:blip r:embed="rId3" cstate="print"/>
          <a:srcRect b="4086"/>
          <a:stretch>
            <a:fillRect/>
          </a:stretch>
        </p:blipFill>
        <p:spPr>
          <a:xfrm>
            <a:off x="4953000" y="2212975"/>
            <a:ext cx="3810000" cy="3502025"/>
          </a:xfrm>
        </p:spPr>
      </p:pic>
    </p:spTree>
    <p:extLst>
      <p:ext uri="{BB962C8B-B14F-4D97-AF65-F5344CB8AC3E}">
        <p14:creationId xmlns:p14="http://schemas.microsoft.com/office/powerpoint/2010/main" val="423376600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animEffect transition="in" filter="fade">
                                      <p:cBhvr>
                                        <p:cTn id="7" dur="2000"/>
                                        <p:tgtEl>
                                          <p:spTgt spid="358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Chelating Agents</a:t>
            </a:r>
          </a:p>
        </p:txBody>
      </p:sp>
      <p:sp>
        <p:nvSpPr>
          <p:cNvPr id="36868" name="Rectangle 4"/>
          <p:cNvSpPr>
            <a:spLocks noGrp="1" noChangeArrowheads="1"/>
          </p:cNvSpPr>
          <p:nvPr>
            <p:ph type="body" sz="half" idx="2"/>
          </p:nvPr>
        </p:nvSpPr>
        <p:spPr/>
        <p:txBody>
          <a:bodyPr/>
          <a:lstStyle/>
          <a:p>
            <a:pPr>
              <a:buFontTx/>
              <a:buNone/>
            </a:pPr>
            <a:r>
              <a:rPr lang="en-US" sz="2800"/>
              <a:t>	Porphines (like chlorophyll </a:t>
            </a:r>
            <a:r>
              <a:rPr lang="en-US" sz="2800" i="1"/>
              <a:t>a</a:t>
            </a:r>
            <a:r>
              <a:rPr lang="en-US" sz="2800"/>
              <a:t>) are tetradentate ligands.</a:t>
            </a:r>
          </a:p>
        </p:txBody>
      </p:sp>
      <p:pic>
        <p:nvPicPr>
          <p:cNvPr id="36869" name="Picture 5" descr="24_12"/>
          <p:cNvPicPr>
            <a:picLocks noGrp="1" noChangeAspect="1" noChangeArrowheads="1"/>
          </p:cNvPicPr>
          <p:nvPr>
            <p:ph sz="half" idx="1"/>
          </p:nvPr>
        </p:nvPicPr>
        <p:blipFill>
          <a:blip r:embed="rId3" cstate="print"/>
          <a:srcRect b="3703"/>
          <a:stretch>
            <a:fillRect/>
          </a:stretch>
        </p:blipFill>
        <p:spPr>
          <a:xfrm>
            <a:off x="409575" y="1600200"/>
            <a:ext cx="3849688" cy="4572000"/>
          </a:xfrm>
        </p:spPr>
      </p:pic>
    </p:spTree>
    <p:extLst>
      <p:ext uri="{BB962C8B-B14F-4D97-AF65-F5344CB8AC3E}">
        <p14:creationId xmlns:p14="http://schemas.microsoft.com/office/powerpoint/2010/main" val="2177099326"/>
      </p:ext>
    </p:extLst>
  </p:cSld>
  <p:clrMapOvr>
    <a:masterClrMapping/>
  </p:clrMapOvr>
  <p:transition spd="slow">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descr="24_22"/>
          <p:cNvPicPr>
            <a:picLocks noChangeAspect="1" noChangeArrowheads="1"/>
          </p:cNvPicPr>
          <p:nvPr/>
        </p:nvPicPr>
        <p:blipFill>
          <a:blip r:embed="rId3" cstate="print"/>
          <a:srcRect/>
          <a:stretch>
            <a:fillRect/>
          </a:stretch>
        </p:blipFill>
        <p:spPr bwMode="auto">
          <a:xfrm>
            <a:off x="1233488" y="1760538"/>
            <a:ext cx="6564312" cy="4075112"/>
          </a:xfrm>
          <a:prstGeom prst="rect">
            <a:avLst/>
          </a:prstGeom>
          <a:noFill/>
          <a:ln w="9525">
            <a:noFill/>
            <a:miter lim="800000"/>
            <a:headEnd/>
            <a:tailEnd/>
          </a:ln>
        </p:spPr>
      </p:pic>
      <p:sp>
        <p:nvSpPr>
          <p:cNvPr id="101379" name="Text Box 3"/>
          <p:cNvSpPr txBox="1">
            <a:spLocks noChangeArrowheads="1"/>
          </p:cNvSpPr>
          <p:nvPr/>
        </p:nvSpPr>
        <p:spPr bwMode="auto">
          <a:xfrm>
            <a:off x="1927225" y="257175"/>
            <a:ext cx="5378450" cy="579438"/>
          </a:xfrm>
          <a:prstGeom prst="rect">
            <a:avLst/>
          </a:prstGeom>
          <a:noFill/>
          <a:ln w="9525">
            <a:noFill/>
            <a:miter lim="800000"/>
            <a:headEnd/>
            <a:tailEnd/>
          </a:ln>
          <a:effectLst/>
        </p:spPr>
        <p:txBody>
          <a:bodyPr wrap="none">
            <a:spAutoFit/>
          </a:bodyPr>
          <a:lstStyle/>
          <a:p>
            <a:r>
              <a:rPr lang="en-US" sz="3200" b="1">
                <a:solidFill>
                  <a:schemeClr val="hlink"/>
                </a:solidFill>
              </a:rPr>
              <a:t>Metal complexes and color</a:t>
            </a:r>
          </a:p>
        </p:txBody>
      </p:sp>
      <p:sp>
        <p:nvSpPr>
          <p:cNvPr id="101380" name="Text Box 4"/>
          <p:cNvSpPr txBox="1">
            <a:spLocks noChangeArrowheads="1"/>
          </p:cNvSpPr>
          <p:nvPr/>
        </p:nvSpPr>
        <p:spPr bwMode="auto">
          <a:xfrm>
            <a:off x="1165225" y="1220788"/>
            <a:ext cx="6959600" cy="457200"/>
          </a:xfrm>
          <a:prstGeom prst="rect">
            <a:avLst/>
          </a:prstGeom>
          <a:noFill/>
          <a:ln w="9525">
            <a:noFill/>
            <a:miter lim="800000"/>
            <a:headEnd/>
            <a:tailEnd/>
          </a:ln>
          <a:effectLst/>
        </p:spPr>
        <p:txBody>
          <a:bodyPr wrap="none">
            <a:spAutoFit/>
          </a:bodyPr>
          <a:lstStyle/>
          <a:p>
            <a:r>
              <a:rPr lang="en-US" b="1">
                <a:solidFill>
                  <a:srgbClr val="C82E32"/>
                </a:solidFill>
              </a:rPr>
              <a:t>The ligands of a metal complex effect its color </a:t>
            </a:r>
          </a:p>
        </p:txBody>
      </p:sp>
      <p:sp>
        <p:nvSpPr>
          <p:cNvPr id="101381" name="Text Box 5"/>
          <p:cNvSpPr txBox="1">
            <a:spLocks noChangeArrowheads="1"/>
          </p:cNvSpPr>
          <p:nvPr/>
        </p:nvSpPr>
        <p:spPr bwMode="auto">
          <a:xfrm>
            <a:off x="657225" y="6034088"/>
            <a:ext cx="7837488" cy="457200"/>
          </a:xfrm>
          <a:prstGeom prst="rect">
            <a:avLst/>
          </a:prstGeom>
          <a:solidFill>
            <a:schemeClr val="bg1"/>
          </a:solidFill>
          <a:ln w="9525">
            <a:noFill/>
            <a:miter lim="800000"/>
            <a:headEnd/>
            <a:tailEnd/>
          </a:ln>
          <a:effectLst/>
        </p:spPr>
        <p:txBody>
          <a:bodyPr wrap="none">
            <a:spAutoFit/>
          </a:bodyPr>
          <a:lstStyle/>
          <a:p>
            <a:r>
              <a:rPr lang="en-US" b="1">
                <a:solidFill>
                  <a:srgbClr val="8000FF"/>
                </a:solidFill>
              </a:rPr>
              <a:t>Addition of NH</a:t>
            </a:r>
            <a:r>
              <a:rPr lang="en-US" b="1" baseline="-25000">
                <a:solidFill>
                  <a:srgbClr val="8000FF"/>
                </a:solidFill>
              </a:rPr>
              <a:t>3</a:t>
            </a:r>
            <a:r>
              <a:rPr lang="en-US" b="1">
                <a:solidFill>
                  <a:srgbClr val="8000FF"/>
                </a:solidFill>
              </a:rPr>
              <a:t> ligand to Cu(H</a:t>
            </a:r>
            <a:r>
              <a:rPr lang="en-US" b="1" baseline="-25000">
                <a:solidFill>
                  <a:srgbClr val="8000FF"/>
                </a:solidFill>
              </a:rPr>
              <a:t>2</a:t>
            </a:r>
            <a:r>
              <a:rPr lang="en-US" b="1">
                <a:solidFill>
                  <a:srgbClr val="8000FF"/>
                </a:solidFill>
              </a:rPr>
              <a:t>O)</a:t>
            </a:r>
            <a:r>
              <a:rPr lang="en-US" b="1" baseline="-25000">
                <a:solidFill>
                  <a:srgbClr val="8000FF"/>
                </a:solidFill>
              </a:rPr>
              <a:t>4</a:t>
            </a:r>
            <a:r>
              <a:rPr lang="en-US" b="1">
                <a:solidFill>
                  <a:srgbClr val="8000FF"/>
                </a:solidFill>
              </a:rPr>
              <a:t> changes its color </a:t>
            </a:r>
          </a:p>
        </p:txBody>
      </p:sp>
    </p:spTree>
    <p:extLst>
      <p:ext uri="{BB962C8B-B14F-4D97-AF65-F5344CB8AC3E}">
        <p14:creationId xmlns:p14="http://schemas.microsoft.com/office/powerpoint/2010/main" val="28408586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descr="24_23"/>
          <p:cNvPicPr>
            <a:picLocks noChangeAspect="1" noChangeArrowheads="1"/>
          </p:cNvPicPr>
          <p:nvPr/>
        </p:nvPicPr>
        <p:blipFill>
          <a:blip r:embed="rId3"/>
          <a:srcRect/>
          <a:stretch>
            <a:fillRect/>
          </a:stretch>
        </p:blipFill>
        <p:spPr bwMode="auto">
          <a:xfrm>
            <a:off x="0" y="1943100"/>
            <a:ext cx="9142413" cy="1755775"/>
          </a:xfrm>
          <a:prstGeom prst="rect">
            <a:avLst/>
          </a:prstGeom>
          <a:noFill/>
          <a:ln w="9525">
            <a:noFill/>
            <a:miter lim="800000"/>
            <a:headEnd/>
            <a:tailEnd/>
          </a:ln>
        </p:spPr>
      </p:pic>
      <p:sp>
        <p:nvSpPr>
          <p:cNvPr id="103427" name="Text Box 3"/>
          <p:cNvSpPr txBox="1">
            <a:spLocks noChangeArrowheads="1"/>
          </p:cNvSpPr>
          <p:nvPr/>
        </p:nvSpPr>
        <p:spPr bwMode="auto">
          <a:xfrm>
            <a:off x="1482725" y="346075"/>
            <a:ext cx="6303963" cy="579438"/>
          </a:xfrm>
          <a:prstGeom prst="rect">
            <a:avLst/>
          </a:prstGeom>
          <a:noFill/>
          <a:ln w="9525">
            <a:noFill/>
            <a:miter lim="800000"/>
            <a:headEnd/>
            <a:tailEnd/>
          </a:ln>
          <a:effectLst/>
        </p:spPr>
        <p:txBody>
          <a:bodyPr wrap="none">
            <a:spAutoFit/>
          </a:bodyPr>
          <a:lstStyle/>
          <a:p>
            <a:r>
              <a:rPr lang="en-US" sz="3200" b="1">
                <a:solidFill>
                  <a:srgbClr val="FF8000"/>
                </a:solidFill>
              </a:rPr>
              <a:t>Why does anything have color?</a:t>
            </a:r>
          </a:p>
        </p:txBody>
      </p:sp>
      <p:sp>
        <p:nvSpPr>
          <p:cNvPr id="103428" name="Text Box 4"/>
          <p:cNvSpPr txBox="1">
            <a:spLocks noChangeArrowheads="1"/>
          </p:cNvSpPr>
          <p:nvPr/>
        </p:nvSpPr>
        <p:spPr bwMode="auto">
          <a:xfrm>
            <a:off x="558800" y="3771900"/>
            <a:ext cx="7753350" cy="3013075"/>
          </a:xfrm>
          <a:prstGeom prst="rect">
            <a:avLst/>
          </a:prstGeom>
          <a:noFill/>
          <a:ln w="9525">
            <a:noFill/>
            <a:miter lim="800000"/>
            <a:headEnd/>
            <a:tailEnd/>
          </a:ln>
          <a:effectLst/>
        </p:spPr>
        <p:txBody>
          <a:bodyPr>
            <a:spAutoFit/>
          </a:bodyPr>
          <a:lstStyle/>
          <a:p>
            <a:pPr>
              <a:spcBef>
                <a:spcPct val="50000"/>
              </a:spcBef>
            </a:pPr>
            <a:r>
              <a:rPr lang="en-US"/>
              <a:t>Light of different frequencies give different colors</a:t>
            </a:r>
          </a:p>
          <a:p>
            <a:pPr>
              <a:spcBef>
                <a:spcPct val="50000"/>
              </a:spcBef>
            </a:pPr>
            <a:r>
              <a:rPr lang="en-US"/>
              <a:t>We learned that elements can </a:t>
            </a:r>
            <a:r>
              <a:rPr lang="en-US" i="1">
                <a:solidFill>
                  <a:srgbClr val="0000FF"/>
                </a:solidFill>
              </a:rPr>
              <a:t>emit </a:t>
            </a:r>
            <a:r>
              <a:rPr lang="en-US"/>
              <a:t>light of different frequency or color.</a:t>
            </a:r>
          </a:p>
          <a:p>
            <a:pPr>
              <a:spcBef>
                <a:spcPct val="50000"/>
              </a:spcBef>
            </a:pPr>
            <a:r>
              <a:rPr lang="en-US"/>
              <a:t>But these coordination complexes are not emitting light</a:t>
            </a:r>
          </a:p>
          <a:p>
            <a:pPr>
              <a:spcBef>
                <a:spcPct val="50000"/>
              </a:spcBef>
            </a:pPr>
            <a:r>
              <a:rPr lang="en-US"/>
              <a:t>They </a:t>
            </a:r>
            <a:r>
              <a:rPr lang="en-US">
                <a:solidFill>
                  <a:srgbClr val="0000FF"/>
                </a:solidFill>
              </a:rPr>
              <a:t>absorb light.</a:t>
            </a:r>
          </a:p>
          <a:p>
            <a:pPr>
              <a:spcBef>
                <a:spcPct val="50000"/>
              </a:spcBef>
            </a:pPr>
            <a:r>
              <a:rPr lang="en-US">
                <a:solidFill>
                  <a:srgbClr val="0000FF"/>
                </a:solidFill>
              </a:rPr>
              <a:t>How does that give color?</a:t>
            </a:r>
          </a:p>
        </p:txBody>
      </p:sp>
    </p:spTree>
    <p:extLst>
      <p:ext uri="{BB962C8B-B14F-4D97-AF65-F5344CB8AC3E}">
        <p14:creationId xmlns:p14="http://schemas.microsoft.com/office/powerpoint/2010/main" val="18384382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2"/>
          <p:cNvSpPr txBox="1">
            <a:spLocks noChangeArrowheads="1"/>
          </p:cNvSpPr>
          <p:nvPr/>
        </p:nvSpPr>
        <p:spPr bwMode="auto">
          <a:xfrm>
            <a:off x="657225" y="331788"/>
            <a:ext cx="7775575" cy="457200"/>
          </a:xfrm>
          <a:prstGeom prst="rect">
            <a:avLst/>
          </a:prstGeom>
          <a:noFill/>
          <a:ln w="9525">
            <a:noFill/>
            <a:miter lim="800000"/>
            <a:headEnd/>
            <a:tailEnd/>
          </a:ln>
          <a:effectLst/>
        </p:spPr>
        <p:txBody>
          <a:bodyPr wrap="none">
            <a:spAutoFit/>
          </a:bodyPr>
          <a:lstStyle/>
          <a:p>
            <a:r>
              <a:rPr lang="en-US"/>
              <a:t>Light can bounce off an object or get absorbed by object</a:t>
            </a:r>
          </a:p>
        </p:txBody>
      </p:sp>
      <p:sp>
        <p:nvSpPr>
          <p:cNvPr id="156675" name="Text Box 3"/>
          <p:cNvSpPr txBox="1">
            <a:spLocks noChangeArrowheads="1"/>
          </p:cNvSpPr>
          <p:nvPr/>
        </p:nvSpPr>
        <p:spPr bwMode="auto">
          <a:xfrm>
            <a:off x="669925" y="2020888"/>
            <a:ext cx="7794625" cy="1373187"/>
          </a:xfrm>
          <a:prstGeom prst="rect">
            <a:avLst/>
          </a:prstGeom>
          <a:solidFill>
            <a:schemeClr val="hlink"/>
          </a:solidFill>
          <a:ln w="9525">
            <a:noFill/>
            <a:miter lim="800000"/>
            <a:headEnd/>
            <a:tailEnd/>
          </a:ln>
          <a:effectLst/>
        </p:spPr>
        <p:txBody>
          <a:bodyPr wrap="none">
            <a:spAutoFit/>
          </a:bodyPr>
          <a:lstStyle/>
          <a:p>
            <a:r>
              <a:rPr lang="en-US" sz="2800">
                <a:solidFill>
                  <a:srgbClr val="C82E32"/>
                </a:solidFill>
              </a:rPr>
              <a:t>No light absorbed, all reflected get</a:t>
            </a:r>
            <a:r>
              <a:rPr lang="en-US" sz="2800"/>
              <a:t> </a:t>
            </a:r>
            <a:r>
              <a:rPr lang="en-US" sz="2800">
                <a:solidFill>
                  <a:schemeClr val="bg1"/>
                </a:solidFill>
              </a:rPr>
              <a:t>white </a:t>
            </a:r>
            <a:r>
              <a:rPr lang="en-US" sz="2800">
                <a:solidFill>
                  <a:srgbClr val="C82E32"/>
                </a:solidFill>
              </a:rPr>
              <a:t>color</a:t>
            </a:r>
          </a:p>
          <a:p>
            <a:r>
              <a:rPr lang="en-US" sz="2800">
                <a:solidFill>
                  <a:srgbClr val="C82E32"/>
                </a:solidFill>
              </a:rPr>
              <a:t>All light absorbed, none reflected get </a:t>
            </a:r>
            <a:r>
              <a:rPr lang="en-US" sz="2800"/>
              <a:t>Black</a:t>
            </a:r>
            <a:r>
              <a:rPr lang="en-US" sz="2800">
                <a:solidFill>
                  <a:srgbClr val="C82E32"/>
                </a:solidFill>
              </a:rPr>
              <a:t> color</a:t>
            </a:r>
          </a:p>
          <a:p>
            <a:r>
              <a:rPr lang="en-US" sz="2800">
                <a:solidFill>
                  <a:srgbClr val="C82E32"/>
                </a:solidFill>
              </a:rPr>
              <a:t>What if only one color is absorbed?</a:t>
            </a:r>
          </a:p>
        </p:txBody>
      </p:sp>
    </p:spTree>
    <p:extLst>
      <p:ext uri="{BB962C8B-B14F-4D97-AF65-F5344CB8AC3E}">
        <p14:creationId xmlns:p14="http://schemas.microsoft.com/office/powerpoint/2010/main" val="1646089317"/>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2" descr="24_24"/>
          <p:cNvPicPr>
            <a:picLocks noChangeAspect="1" noChangeArrowheads="1"/>
          </p:cNvPicPr>
          <p:nvPr/>
        </p:nvPicPr>
        <p:blipFill>
          <a:blip r:embed="rId3" cstate="print"/>
          <a:srcRect/>
          <a:stretch>
            <a:fillRect/>
          </a:stretch>
        </p:blipFill>
        <p:spPr bwMode="auto">
          <a:xfrm>
            <a:off x="3354388" y="2852738"/>
            <a:ext cx="5513387" cy="3709987"/>
          </a:xfrm>
          <a:prstGeom prst="rect">
            <a:avLst/>
          </a:prstGeom>
          <a:noFill/>
          <a:ln w="9525">
            <a:noFill/>
            <a:miter lim="800000"/>
            <a:headEnd/>
            <a:tailEnd/>
          </a:ln>
        </p:spPr>
      </p:pic>
      <p:sp>
        <p:nvSpPr>
          <p:cNvPr id="105475" name="Text Box 3"/>
          <p:cNvSpPr txBox="1">
            <a:spLocks noChangeArrowheads="1"/>
          </p:cNvSpPr>
          <p:nvPr/>
        </p:nvSpPr>
        <p:spPr bwMode="auto">
          <a:xfrm>
            <a:off x="2019300" y="419100"/>
            <a:ext cx="5873750" cy="579438"/>
          </a:xfrm>
          <a:prstGeom prst="rect">
            <a:avLst/>
          </a:prstGeom>
          <a:noFill/>
          <a:ln w="9525">
            <a:noFill/>
            <a:miter lim="800000"/>
            <a:headEnd/>
            <a:tailEnd/>
          </a:ln>
          <a:effectLst/>
        </p:spPr>
        <p:txBody>
          <a:bodyPr>
            <a:spAutoFit/>
          </a:bodyPr>
          <a:lstStyle/>
          <a:p>
            <a:pPr>
              <a:spcBef>
                <a:spcPct val="50000"/>
              </a:spcBef>
            </a:pPr>
            <a:r>
              <a:rPr lang="en-US" sz="3200" b="1">
                <a:solidFill>
                  <a:srgbClr val="00197D"/>
                </a:solidFill>
              </a:rPr>
              <a:t>Complimentary color wheel</a:t>
            </a:r>
          </a:p>
        </p:txBody>
      </p:sp>
      <p:sp>
        <p:nvSpPr>
          <p:cNvPr id="105476" name="Text Box 4"/>
          <p:cNvSpPr txBox="1">
            <a:spLocks noChangeArrowheads="1"/>
          </p:cNvSpPr>
          <p:nvPr/>
        </p:nvSpPr>
        <p:spPr bwMode="auto">
          <a:xfrm>
            <a:off x="517525" y="1538288"/>
            <a:ext cx="7418388" cy="457200"/>
          </a:xfrm>
          <a:prstGeom prst="rect">
            <a:avLst/>
          </a:prstGeom>
          <a:noFill/>
          <a:ln w="9525">
            <a:noFill/>
            <a:miter lim="800000"/>
            <a:headEnd/>
            <a:tailEnd/>
          </a:ln>
          <a:effectLst/>
        </p:spPr>
        <p:txBody>
          <a:bodyPr wrap="none">
            <a:spAutoFit/>
          </a:bodyPr>
          <a:lstStyle/>
          <a:p>
            <a:r>
              <a:rPr lang="en-US"/>
              <a:t>If one color absorbed, the color opposite is perceived.</a:t>
            </a:r>
          </a:p>
        </p:txBody>
      </p:sp>
      <p:sp>
        <p:nvSpPr>
          <p:cNvPr id="105477" name="Text Box 5"/>
          <p:cNvSpPr txBox="1">
            <a:spLocks noChangeArrowheads="1"/>
          </p:cNvSpPr>
          <p:nvPr/>
        </p:nvSpPr>
        <p:spPr bwMode="auto">
          <a:xfrm>
            <a:off x="474663" y="3043238"/>
            <a:ext cx="2838450" cy="2100262"/>
          </a:xfrm>
          <a:prstGeom prst="rect">
            <a:avLst/>
          </a:prstGeom>
          <a:noFill/>
          <a:ln w="9525">
            <a:noFill/>
            <a:miter lim="800000"/>
            <a:headEnd/>
            <a:tailEnd/>
          </a:ln>
          <a:effectLst/>
        </p:spPr>
        <p:txBody>
          <a:bodyPr>
            <a:spAutoFit/>
          </a:bodyPr>
          <a:lstStyle/>
          <a:p>
            <a:pPr>
              <a:spcBef>
                <a:spcPct val="50000"/>
              </a:spcBef>
            </a:pPr>
            <a:r>
              <a:rPr lang="en-US"/>
              <a:t>Absorb </a:t>
            </a:r>
            <a:r>
              <a:rPr lang="en-US" b="1">
                <a:solidFill>
                  <a:srgbClr val="FF8000"/>
                </a:solidFill>
              </a:rPr>
              <a:t>Orange</a:t>
            </a:r>
            <a:endParaRPr lang="en-US">
              <a:solidFill>
                <a:srgbClr val="FF8000"/>
              </a:solidFill>
            </a:endParaRPr>
          </a:p>
          <a:p>
            <a:pPr>
              <a:spcBef>
                <a:spcPct val="50000"/>
              </a:spcBef>
            </a:pPr>
            <a:r>
              <a:rPr lang="en-US"/>
              <a:t>See </a:t>
            </a:r>
            <a:r>
              <a:rPr lang="en-US" b="1">
                <a:solidFill>
                  <a:srgbClr val="0000FF"/>
                </a:solidFill>
              </a:rPr>
              <a:t>Blue</a:t>
            </a:r>
            <a:endParaRPr lang="en-US">
              <a:solidFill>
                <a:srgbClr val="0000FF"/>
              </a:solidFill>
            </a:endParaRPr>
          </a:p>
          <a:p>
            <a:pPr>
              <a:spcBef>
                <a:spcPct val="50000"/>
              </a:spcBef>
            </a:pPr>
            <a:r>
              <a:rPr lang="en-US"/>
              <a:t>Absorb </a:t>
            </a:r>
            <a:r>
              <a:rPr lang="en-US" b="1">
                <a:solidFill>
                  <a:srgbClr val="C82E32"/>
                </a:solidFill>
              </a:rPr>
              <a:t>Red</a:t>
            </a:r>
            <a:endParaRPr lang="en-US"/>
          </a:p>
          <a:p>
            <a:pPr>
              <a:spcBef>
                <a:spcPct val="50000"/>
              </a:spcBef>
            </a:pPr>
            <a:r>
              <a:rPr lang="en-US"/>
              <a:t>See </a:t>
            </a:r>
            <a:r>
              <a:rPr lang="en-US" b="1">
                <a:solidFill>
                  <a:srgbClr val="008000"/>
                </a:solidFill>
              </a:rPr>
              <a:t>Green</a:t>
            </a:r>
            <a:endParaRPr lang="en-US">
              <a:solidFill>
                <a:srgbClr val="0000FF"/>
              </a:solidFill>
            </a:endParaRPr>
          </a:p>
        </p:txBody>
      </p:sp>
    </p:spTree>
    <p:extLst>
      <p:ext uri="{BB962C8B-B14F-4D97-AF65-F5344CB8AC3E}">
        <p14:creationId xmlns:p14="http://schemas.microsoft.com/office/powerpoint/2010/main" val="41633130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descr="24_26"/>
          <p:cNvPicPr>
            <a:picLocks noChangeAspect="1" noChangeArrowheads="1"/>
          </p:cNvPicPr>
          <p:nvPr/>
        </p:nvPicPr>
        <p:blipFill>
          <a:blip r:embed="rId3"/>
          <a:srcRect/>
          <a:stretch>
            <a:fillRect/>
          </a:stretch>
        </p:blipFill>
        <p:spPr bwMode="auto">
          <a:xfrm>
            <a:off x="5562600" y="0"/>
            <a:ext cx="3429000" cy="6858000"/>
          </a:xfrm>
          <a:prstGeom prst="rect">
            <a:avLst/>
          </a:prstGeom>
          <a:noFill/>
          <a:ln w="9525">
            <a:noFill/>
            <a:miter lim="800000"/>
            <a:headEnd/>
            <a:tailEnd/>
          </a:ln>
        </p:spPr>
      </p:pic>
      <p:sp>
        <p:nvSpPr>
          <p:cNvPr id="109571" name="Text Box 3"/>
          <p:cNvSpPr txBox="1">
            <a:spLocks noChangeArrowheads="1"/>
          </p:cNvSpPr>
          <p:nvPr/>
        </p:nvSpPr>
        <p:spPr bwMode="auto">
          <a:xfrm>
            <a:off x="542925" y="2224088"/>
            <a:ext cx="5129213" cy="1552575"/>
          </a:xfrm>
          <a:prstGeom prst="rect">
            <a:avLst/>
          </a:prstGeom>
          <a:noFill/>
          <a:ln w="9525">
            <a:noFill/>
            <a:miter lim="800000"/>
            <a:headEnd/>
            <a:tailEnd/>
          </a:ln>
          <a:effectLst/>
        </p:spPr>
        <p:txBody>
          <a:bodyPr>
            <a:spAutoFit/>
          </a:bodyPr>
          <a:lstStyle/>
          <a:p>
            <a:r>
              <a:rPr lang="en-US"/>
              <a:t>[Ti(H</a:t>
            </a:r>
            <a:r>
              <a:rPr lang="en-US" baseline="-25000"/>
              <a:t>2</a:t>
            </a:r>
            <a:r>
              <a:rPr lang="en-US"/>
              <a:t>O)</a:t>
            </a:r>
            <a:r>
              <a:rPr lang="en-US" baseline="-25000"/>
              <a:t>6</a:t>
            </a:r>
            <a:r>
              <a:rPr lang="en-US"/>
              <a:t>]</a:t>
            </a:r>
            <a:r>
              <a:rPr lang="en-US" baseline="30000"/>
              <a:t>3+</a:t>
            </a:r>
          </a:p>
          <a:p>
            <a:r>
              <a:rPr lang="en-US"/>
              <a:t>Absorbs in green yellow.</a:t>
            </a:r>
          </a:p>
          <a:p>
            <a:r>
              <a:rPr lang="en-US"/>
              <a:t>Looks purple.</a:t>
            </a:r>
          </a:p>
          <a:p>
            <a:endParaRPr lang="en-US"/>
          </a:p>
        </p:txBody>
      </p:sp>
    </p:spTree>
    <p:extLst>
      <p:ext uri="{BB962C8B-B14F-4D97-AF65-F5344CB8AC3E}">
        <p14:creationId xmlns:p14="http://schemas.microsoft.com/office/powerpoint/2010/main" val="10830287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descr="24_25"/>
          <p:cNvPicPr>
            <a:picLocks noChangeAspect="1" noChangeArrowheads="1"/>
          </p:cNvPicPr>
          <p:nvPr/>
        </p:nvPicPr>
        <p:blipFill>
          <a:blip r:embed="rId3"/>
          <a:srcRect/>
          <a:stretch>
            <a:fillRect/>
          </a:stretch>
        </p:blipFill>
        <p:spPr bwMode="auto">
          <a:xfrm>
            <a:off x="1588" y="2127250"/>
            <a:ext cx="9142412" cy="2605088"/>
          </a:xfrm>
          <a:prstGeom prst="rect">
            <a:avLst/>
          </a:prstGeom>
          <a:noFill/>
          <a:ln w="9525">
            <a:noFill/>
            <a:miter lim="800000"/>
            <a:headEnd/>
            <a:tailEnd/>
          </a:ln>
        </p:spPr>
      </p:pic>
      <p:sp>
        <p:nvSpPr>
          <p:cNvPr id="107523" name="Text Box 3"/>
          <p:cNvSpPr txBox="1">
            <a:spLocks noChangeArrowheads="1"/>
          </p:cNvSpPr>
          <p:nvPr/>
        </p:nvSpPr>
        <p:spPr bwMode="auto">
          <a:xfrm>
            <a:off x="339725" y="560388"/>
            <a:ext cx="8377238" cy="946150"/>
          </a:xfrm>
          <a:prstGeom prst="rect">
            <a:avLst/>
          </a:prstGeom>
          <a:noFill/>
          <a:ln w="9525">
            <a:noFill/>
            <a:miter lim="800000"/>
            <a:headEnd/>
            <a:tailEnd/>
          </a:ln>
          <a:effectLst/>
        </p:spPr>
        <p:txBody>
          <a:bodyPr>
            <a:spAutoFit/>
          </a:bodyPr>
          <a:lstStyle/>
          <a:p>
            <a:pPr algn="ctr"/>
            <a:r>
              <a:rPr lang="en-US" sz="2800" b="1">
                <a:solidFill>
                  <a:schemeClr val="hlink"/>
                </a:solidFill>
              </a:rPr>
              <a:t>A precise measurement of the absorption spectrum of Compounds is critical</a:t>
            </a:r>
          </a:p>
        </p:txBody>
      </p:sp>
    </p:spTree>
    <p:extLst>
      <p:ext uri="{BB962C8B-B14F-4D97-AF65-F5344CB8AC3E}">
        <p14:creationId xmlns:p14="http://schemas.microsoft.com/office/powerpoint/2010/main" val="29091831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2" descr="24_22"/>
          <p:cNvPicPr>
            <a:picLocks noChangeAspect="1" noChangeArrowheads="1"/>
          </p:cNvPicPr>
          <p:nvPr/>
        </p:nvPicPr>
        <p:blipFill>
          <a:blip r:embed="rId3" cstate="print"/>
          <a:srcRect/>
          <a:stretch>
            <a:fillRect/>
          </a:stretch>
        </p:blipFill>
        <p:spPr bwMode="auto">
          <a:xfrm>
            <a:off x="1233488" y="2052638"/>
            <a:ext cx="6564312" cy="4075112"/>
          </a:xfrm>
          <a:prstGeom prst="rect">
            <a:avLst/>
          </a:prstGeom>
          <a:noFill/>
          <a:ln w="9525">
            <a:noFill/>
            <a:miter lim="800000"/>
            <a:headEnd/>
            <a:tailEnd/>
          </a:ln>
        </p:spPr>
      </p:pic>
      <p:sp>
        <p:nvSpPr>
          <p:cNvPr id="157699" name="Text Box 3"/>
          <p:cNvSpPr txBox="1">
            <a:spLocks noChangeArrowheads="1"/>
          </p:cNvSpPr>
          <p:nvPr/>
        </p:nvSpPr>
        <p:spPr bwMode="auto">
          <a:xfrm>
            <a:off x="1927225" y="257175"/>
            <a:ext cx="5378450" cy="579438"/>
          </a:xfrm>
          <a:prstGeom prst="rect">
            <a:avLst/>
          </a:prstGeom>
          <a:noFill/>
          <a:ln w="9525">
            <a:noFill/>
            <a:miter lim="800000"/>
            <a:headEnd/>
            <a:tailEnd/>
          </a:ln>
          <a:effectLst/>
        </p:spPr>
        <p:txBody>
          <a:bodyPr wrap="none">
            <a:spAutoFit/>
          </a:bodyPr>
          <a:lstStyle/>
          <a:p>
            <a:r>
              <a:rPr lang="en-US" sz="3200" b="1">
                <a:solidFill>
                  <a:schemeClr val="hlink"/>
                </a:solidFill>
              </a:rPr>
              <a:t>Metal complexes and color</a:t>
            </a:r>
          </a:p>
        </p:txBody>
      </p:sp>
      <p:sp>
        <p:nvSpPr>
          <p:cNvPr id="157700" name="Text Box 4"/>
          <p:cNvSpPr txBox="1">
            <a:spLocks noChangeArrowheads="1"/>
          </p:cNvSpPr>
          <p:nvPr/>
        </p:nvSpPr>
        <p:spPr bwMode="auto">
          <a:xfrm>
            <a:off x="1190625" y="852488"/>
            <a:ext cx="7178675" cy="1187450"/>
          </a:xfrm>
          <a:prstGeom prst="rect">
            <a:avLst/>
          </a:prstGeom>
          <a:noFill/>
          <a:ln w="9525">
            <a:noFill/>
            <a:miter lim="800000"/>
            <a:headEnd/>
            <a:tailEnd/>
          </a:ln>
          <a:effectLst/>
        </p:spPr>
        <p:txBody>
          <a:bodyPr wrap="none">
            <a:spAutoFit/>
          </a:bodyPr>
          <a:lstStyle/>
          <a:p>
            <a:r>
              <a:rPr lang="en-US" b="1">
                <a:solidFill>
                  <a:srgbClr val="C82E32"/>
                </a:solidFill>
              </a:rPr>
              <a:t>But why do different ligands on same metal give</a:t>
            </a:r>
          </a:p>
          <a:p>
            <a:r>
              <a:rPr lang="en-US" b="1">
                <a:solidFill>
                  <a:srgbClr val="C82E32"/>
                </a:solidFill>
              </a:rPr>
              <a:t>Different colors?</a:t>
            </a:r>
          </a:p>
          <a:p>
            <a:r>
              <a:rPr lang="en-US" b="1">
                <a:solidFill>
                  <a:srgbClr val="C82E32"/>
                </a:solidFill>
              </a:rPr>
              <a:t>Why do different ligands change absorption? </a:t>
            </a:r>
          </a:p>
        </p:txBody>
      </p:sp>
      <p:sp>
        <p:nvSpPr>
          <p:cNvPr id="157701" name="Text Box 5"/>
          <p:cNvSpPr txBox="1">
            <a:spLocks noChangeArrowheads="1"/>
          </p:cNvSpPr>
          <p:nvPr/>
        </p:nvSpPr>
        <p:spPr bwMode="auto">
          <a:xfrm>
            <a:off x="657225" y="6034088"/>
            <a:ext cx="7837488" cy="457200"/>
          </a:xfrm>
          <a:prstGeom prst="rect">
            <a:avLst/>
          </a:prstGeom>
          <a:solidFill>
            <a:schemeClr val="bg1"/>
          </a:solidFill>
          <a:ln w="9525">
            <a:noFill/>
            <a:miter lim="800000"/>
            <a:headEnd/>
            <a:tailEnd/>
          </a:ln>
          <a:effectLst/>
        </p:spPr>
        <p:txBody>
          <a:bodyPr wrap="none">
            <a:spAutoFit/>
          </a:bodyPr>
          <a:lstStyle/>
          <a:p>
            <a:r>
              <a:rPr lang="en-US" b="1">
                <a:solidFill>
                  <a:srgbClr val="8000FF"/>
                </a:solidFill>
              </a:rPr>
              <a:t>Addition of NH</a:t>
            </a:r>
            <a:r>
              <a:rPr lang="en-US" b="1" baseline="-25000">
                <a:solidFill>
                  <a:srgbClr val="8000FF"/>
                </a:solidFill>
              </a:rPr>
              <a:t>3</a:t>
            </a:r>
            <a:r>
              <a:rPr lang="en-US" b="1">
                <a:solidFill>
                  <a:srgbClr val="8000FF"/>
                </a:solidFill>
              </a:rPr>
              <a:t> ligand to Cu(H</a:t>
            </a:r>
            <a:r>
              <a:rPr lang="en-US" b="1" baseline="-25000">
                <a:solidFill>
                  <a:srgbClr val="8000FF"/>
                </a:solidFill>
              </a:rPr>
              <a:t>2</a:t>
            </a:r>
            <a:r>
              <a:rPr lang="en-US" b="1">
                <a:solidFill>
                  <a:srgbClr val="8000FF"/>
                </a:solidFill>
              </a:rPr>
              <a:t>O)</a:t>
            </a:r>
            <a:r>
              <a:rPr lang="en-US" b="1" baseline="-25000">
                <a:solidFill>
                  <a:srgbClr val="8000FF"/>
                </a:solidFill>
              </a:rPr>
              <a:t>4</a:t>
            </a:r>
            <a:r>
              <a:rPr lang="en-US" b="1">
                <a:solidFill>
                  <a:srgbClr val="8000FF"/>
                </a:solidFill>
              </a:rPr>
              <a:t> changes its color </a:t>
            </a:r>
          </a:p>
        </p:txBody>
      </p:sp>
    </p:spTree>
    <p:extLst>
      <p:ext uri="{BB962C8B-B14F-4D97-AF65-F5344CB8AC3E}">
        <p14:creationId xmlns:p14="http://schemas.microsoft.com/office/powerpoint/2010/main" val="17787381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24_27"/>
          <p:cNvPicPr>
            <a:picLocks noChangeAspect="1" noChangeArrowheads="1"/>
          </p:cNvPicPr>
          <p:nvPr/>
        </p:nvPicPr>
        <p:blipFill>
          <a:blip r:embed="rId3"/>
          <a:srcRect/>
          <a:stretch>
            <a:fillRect/>
          </a:stretch>
        </p:blipFill>
        <p:spPr bwMode="auto">
          <a:xfrm>
            <a:off x="0" y="3032125"/>
            <a:ext cx="9142413" cy="2674938"/>
          </a:xfrm>
          <a:prstGeom prst="rect">
            <a:avLst/>
          </a:prstGeom>
          <a:noFill/>
          <a:ln w="9525">
            <a:noFill/>
            <a:miter lim="800000"/>
            <a:headEnd/>
            <a:tailEnd/>
          </a:ln>
        </p:spPr>
      </p:pic>
      <p:sp>
        <p:nvSpPr>
          <p:cNvPr id="111619" name="Text Box 3"/>
          <p:cNvSpPr txBox="1">
            <a:spLocks noChangeArrowheads="1"/>
          </p:cNvSpPr>
          <p:nvPr/>
        </p:nvSpPr>
        <p:spPr bwMode="auto">
          <a:xfrm>
            <a:off x="207963" y="554038"/>
            <a:ext cx="8682037" cy="2284412"/>
          </a:xfrm>
          <a:prstGeom prst="rect">
            <a:avLst/>
          </a:prstGeom>
          <a:noFill/>
          <a:ln w="9525">
            <a:noFill/>
            <a:miter lim="800000"/>
            <a:headEnd/>
            <a:tailEnd/>
          </a:ln>
          <a:effectLst/>
        </p:spPr>
        <p:txBody>
          <a:bodyPr>
            <a:spAutoFit/>
          </a:bodyPr>
          <a:lstStyle/>
          <a:p>
            <a:pPr>
              <a:spcBef>
                <a:spcPct val="50000"/>
              </a:spcBef>
            </a:pPr>
            <a:r>
              <a:rPr lang="en-US"/>
              <a:t>Model of ligand/metal bonding.</a:t>
            </a:r>
          </a:p>
          <a:p>
            <a:pPr>
              <a:spcBef>
                <a:spcPct val="50000"/>
              </a:spcBef>
            </a:pPr>
            <a:r>
              <a:rPr lang="en-US"/>
              <a:t>Electron pair comes from ligand</a:t>
            </a:r>
          </a:p>
          <a:p>
            <a:pPr>
              <a:spcBef>
                <a:spcPct val="50000"/>
              </a:spcBef>
            </a:pPr>
            <a:r>
              <a:rPr lang="en-US"/>
              <a:t>Bond very polarized.</a:t>
            </a:r>
          </a:p>
          <a:p>
            <a:pPr>
              <a:spcBef>
                <a:spcPct val="50000"/>
              </a:spcBef>
            </a:pPr>
            <a:r>
              <a:rPr lang="en-US" sz="3200" b="1">
                <a:solidFill>
                  <a:srgbClr val="C82E32"/>
                </a:solidFill>
              </a:rPr>
              <a:t>Assumption:  interaction pure electrostatic.</a:t>
            </a:r>
          </a:p>
        </p:txBody>
      </p:sp>
    </p:spTree>
    <p:extLst>
      <p:ext uri="{BB962C8B-B14F-4D97-AF65-F5344CB8AC3E}">
        <p14:creationId xmlns:p14="http://schemas.microsoft.com/office/powerpoint/2010/main" val="20609900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24_28"/>
          <p:cNvPicPr>
            <a:picLocks noChangeAspect="1" noChangeArrowheads="1"/>
          </p:cNvPicPr>
          <p:nvPr/>
        </p:nvPicPr>
        <p:blipFill>
          <a:blip r:embed="rId3"/>
          <a:srcRect/>
          <a:stretch>
            <a:fillRect/>
          </a:stretch>
        </p:blipFill>
        <p:spPr bwMode="auto">
          <a:xfrm>
            <a:off x="0" y="2425700"/>
            <a:ext cx="9142413" cy="4167188"/>
          </a:xfrm>
          <a:prstGeom prst="rect">
            <a:avLst/>
          </a:prstGeom>
          <a:noFill/>
          <a:ln w="9525">
            <a:noFill/>
            <a:miter lim="800000"/>
            <a:headEnd/>
            <a:tailEnd/>
          </a:ln>
        </p:spPr>
      </p:pic>
      <p:sp>
        <p:nvSpPr>
          <p:cNvPr id="113667" name="Text Box 3"/>
          <p:cNvSpPr txBox="1">
            <a:spLocks noChangeArrowheads="1"/>
          </p:cNvSpPr>
          <p:nvPr/>
        </p:nvSpPr>
        <p:spPr bwMode="auto">
          <a:xfrm>
            <a:off x="530225" y="217488"/>
            <a:ext cx="8266113" cy="822325"/>
          </a:xfrm>
          <a:prstGeom prst="rect">
            <a:avLst/>
          </a:prstGeom>
          <a:noFill/>
          <a:ln w="9525">
            <a:noFill/>
            <a:miter lim="800000"/>
            <a:headEnd/>
            <a:tailEnd/>
          </a:ln>
          <a:effectLst/>
        </p:spPr>
        <p:txBody>
          <a:bodyPr wrap="none">
            <a:spAutoFit/>
          </a:bodyPr>
          <a:lstStyle/>
          <a:p>
            <a:r>
              <a:rPr lang="en-US"/>
              <a:t>Now, think of point charges being attracted to metal nucleus</a:t>
            </a:r>
          </a:p>
          <a:p>
            <a:r>
              <a:rPr lang="en-US"/>
              <a:t>Positive charge.  What about electrons in d orbitals?</a:t>
            </a:r>
          </a:p>
        </p:txBody>
      </p:sp>
      <p:sp>
        <p:nvSpPr>
          <p:cNvPr id="113668" name="Text Box 4"/>
          <p:cNvSpPr txBox="1">
            <a:spLocks noChangeArrowheads="1"/>
          </p:cNvSpPr>
          <p:nvPr/>
        </p:nvSpPr>
        <p:spPr bwMode="auto">
          <a:xfrm>
            <a:off x="2689225" y="1423988"/>
            <a:ext cx="3797300" cy="1187450"/>
          </a:xfrm>
          <a:prstGeom prst="rect">
            <a:avLst/>
          </a:prstGeom>
          <a:noFill/>
          <a:ln w="9525">
            <a:noFill/>
            <a:miter lim="800000"/>
            <a:headEnd/>
            <a:tailEnd/>
          </a:ln>
          <a:effectLst/>
        </p:spPr>
        <p:txBody>
          <a:bodyPr>
            <a:spAutoFit/>
          </a:bodyPr>
          <a:lstStyle/>
          <a:p>
            <a:r>
              <a:rPr lang="en-US"/>
              <a:t>Ligand negative charge</a:t>
            </a:r>
          </a:p>
          <a:p>
            <a:r>
              <a:rPr lang="en-US"/>
              <a:t>Is repelled by d electrons, d orbital energy goes up</a:t>
            </a:r>
          </a:p>
        </p:txBody>
      </p:sp>
    </p:spTree>
    <p:extLst>
      <p:ext uri="{BB962C8B-B14F-4D97-AF65-F5344CB8AC3E}">
        <p14:creationId xmlns:p14="http://schemas.microsoft.com/office/powerpoint/2010/main" val="40689296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descr="24_29abc"/>
          <p:cNvPicPr>
            <a:picLocks noChangeAspect="1" noChangeArrowheads="1"/>
          </p:cNvPicPr>
          <p:nvPr/>
        </p:nvPicPr>
        <p:blipFill>
          <a:blip r:embed="rId3"/>
          <a:srcRect/>
          <a:stretch>
            <a:fillRect/>
          </a:stretch>
        </p:blipFill>
        <p:spPr bwMode="auto">
          <a:xfrm>
            <a:off x="223838" y="2641600"/>
            <a:ext cx="8732837" cy="3951288"/>
          </a:xfrm>
          <a:prstGeom prst="rect">
            <a:avLst/>
          </a:prstGeom>
          <a:noFill/>
          <a:ln w="9525">
            <a:noFill/>
            <a:miter lim="800000"/>
            <a:headEnd/>
            <a:tailEnd/>
          </a:ln>
        </p:spPr>
      </p:pic>
      <p:sp>
        <p:nvSpPr>
          <p:cNvPr id="115715" name="Text Box 3"/>
          <p:cNvSpPr txBox="1">
            <a:spLocks noChangeArrowheads="1"/>
          </p:cNvSpPr>
          <p:nvPr/>
        </p:nvSpPr>
        <p:spPr bwMode="auto">
          <a:xfrm>
            <a:off x="339725" y="228600"/>
            <a:ext cx="8010525" cy="1187450"/>
          </a:xfrm>
          <a:prstGeom prst="rect">
            <a:avLst/>
          </a:prstGeom>
          <a:noFill/>
          <a:ln w="9525">
            <a:noFill/>
            <a:miter lim="800000"/>
            <a:headEnd/>
            <a:tailEnd/>
          </a:ln>
          <a:effectLst/>
        </p:spPr>
        <p:txBody>
          <a:bodyPr wrap="none">
            <a:spAutoFit/>
          </a:bodyPr>
          <a:lstStyle/>
          <a:p>
            <a:r>
              <a:rPr lang="en-US"/>
              <a:t>Ligands will interact with some d orbitals more than others</a:t>
            </a:r>
          </a:p>
          <a:p>
            <a:endParaRPr lang="en-US"/>
          </a:p>
          <a:p>
            <a:r>
              <a:rPr lang="en-US"/>
              <a:t>Depends on relative orientation of orbital and ligand </a:t>
            </a:r>
          </a:p>
        </p:txBody>
      </p:sp>
      <p:sp>
        <p:nvSpPr>
          <p:cNvPr id="115716" name="Text Box 4"/>
          <p:cNvSpPr txBox="1">
            <a:spLocks noChangeArrowheads="1"/>
          </p:cNvSpPr>
          <p:nvPr/>
        </p:nvSpPr>
        <p:spPr bwMode="auto">
          <a:xfrm>
            <a:off x="4391025" y="1627188"/>
            <a:ext cx="3827463" cy="457200"/>
          </a:xfrm>
          <a:prstGeom prst="rect">
            <a:avLst/>
          </a:prstGeom>
          <a:noFill/>
          <a:ln w="9525">
            <a:noFill/>
            <a:miter lim="800000"/>
            <a:headEnd/>
            <a:tailEnd/>
          </a:ln>
          <a:effectLst/>
        </p:spPr>
        <p:txBody>
          <a:bodyPr wrap="none">
            <a:spAutoFit/>
          </a:bodyPr>
          <a:lstStyle/>
          <a:p>
            <a:r>
              <a:rPr lang="en-US"/>
              <a:t>Ligands point right at lobes</a:t>
            </a:r>
          </a:p>
        </p:txBody>
      </p:sp>
      <p:sp>
        <p:nvSpPr>
          <p:cNvPr id="115717" name="Line 5"/>
          <p:cNvSpPr>
            <a:spLocks noChangeShapeType="1"/>
          </p:cNvSpPr>
          <p:nvPr/>
        </p:nvSpPr>
        <p:spPr bwMode="auto">
          <a:xfrm flipH="1">
            <a:off x="5118100" y="2311400"/>
            <a:ext cx="457200" cy="520700"/>
          </a:xfrm>
          <a:prstGeom prst="line">
            <a:avLst/>
          </a:prstGeom>
          <a:noFill/>
          <a:ln w="9525">
            <a:solidFill>
              <a:schemeClr val="tx1"/>
            </a:solidFill>
            <a:round/>
            <a:headEnd/>
            <a:tailEnd type="triangle" w="med" len="med"/>
          </a:ln>
          <a:effectLst/>
        </p:spPr>
        <p:txBody>
          <a:bodyPr wrap="none" anchor="ctr"/>
          <a:lstStyle/>
          <a:p>
            <a:endParaRPr lang="en-US"/>
          </a:p>
        </p:txBody>
      </p:sp>
      <p:sp>
        <p:nvSpPr>
          <p:cNvPr id="115718" name="Line 6"/>
          <p:cNvSpPr>
            <a:spLocks noChangeShapeType="1"/>
          </p:cNvSpPr>
          <p:nvPr/>
        </p:nvSpPr>
        <p:spPr bwMode="auto">
          <a:xfrm>
            <a:off x="6667500" y="2260600"/>
            <a:ext cx="635000" cy="533400"/>
          </a:xfrm>
          <a:prstGeom prst="line">
            <a:avLst/>
          </a:prstGeom>
          <a:noFill/>
          <a:ln w="9525">
            <a:solidFill>
              <a:schemeClr val="tx1"/>
            </a:solidFill>
            <a:round/>
            <a:headEnd/>
            <a:tailEnd type="triangle" w="med" len="med"/>
          </a:ln>
          <a:effectLst/>
        </p:spPr>
        <p:txBody>
          <a:bodyPr wrap="none" anchor="ctr"/>
          <a:lstStyle/>
          <a:p>
            <a:endParaRPr lang="en-US"/>
          </a:p>
        </p:txBody>
      </p:sp>
    </p:spTree>
    <p:extLst>
      <p:ext uri="{BB962C8B-B14F-4D97-AF65-F5344CB8AC3E}">
        <p14:creationId xmlns:p14="http://schemas.microsoft.com/office/powerpoint/2010/main" val="13038808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descr="24_29def"/>
          <p:cNvPicPr>
            <a:picLocks noChangeAspect="1" noChangeArrowheads="1"/>
          </p:cNvPicPr>
          <p:nvPr/>
        </p:nvPicPr>
        <p:blipFill>
          <a:blip r:embed="rId3"/>
          <a:srcRect/>
          <a:stretch>
            <a:fillRect/>
          </a:stretch>
        </p:blipFill>
        <p:spPr bwMode="auto">
          <a:xfrm>
            <a:off x="46038" y="1895475"/>
            <a:ext cx="9097962" cy="4110038"/>
          </a:xfrm>
          <a:prstGeom prst="rect">
            <a:avLst/>
          </a:prstGeom>
          <a:noFill/>
          <a:ln w="9525">
            <a:noFill/>
            <a:miter lim="800000"/>
            <a:headEnd/>
            <a:tailEnd/>
          </a:ln>
        </p:spPr>
      </p:pic>
      <p:sp>
        <p:nvSpPr>
          <p:cNvPr id="117763" name="Text Box 3"/>
          <p:cNvSpPr txBox="1">
            <a:spLocks noChangeArrowheads="1"/>
          </p:cNvSpPr>
          <p:nvPr/>
        </p:nvSpPr>
        <p:spPr bwMode="auto">
          <a:xfrm>
            <a:off x="381000" y="266700"/>
            <a:ext cx="8375650" cy="1004888"/>
          </a:xfrm>
          <a:prstGeom prst="rect">
            <a:avLst/>
          </a:prstGeom>
          <a:noFill/>
          <a:ln w="9525">
            <a:noFill/>
            <a:miter lim="800000"/>
            <a:headEnd/>
            <a:tailEnd/>
          </a:ln>
          <a:effectLst/>
        </p:spPr>
        <p:txBody>
          <a:bodyPr>
            <a:spAutoFit/>
          </a:bodyPr>
          <a:lstStyle/>
          <a:p>
            <a:pPr>
              <a:spcBef>
                <a:spcPct val="50000"/>
              </a:spcBef>
            </a:pPr>
            <a:r>
              <a:rPr lang="en-US"/>
              <a:t>In these orbitals, the ligands are between the lobes</a:t>
            </a:r>
          </a:p>
          <a:p>
            <a:pPr>
              <a:spcBef>
                <a:spcPct val="50000"/>
              </a:spcBef>
            </a:pPr>
            <a:r>
              <a:rPr lang="en-US"/>
              <a:t>Interact less strongly</a:t>
            </a:r>
          </a:p>
        </p:txBody>
      </p:sp>
    </p:spTree>
    <p:extLst>
      <p:ext uri="{BB962C8B-B14F-4D97-AF65-F5344CB8AC3E}">
        <p14:creationId xmlns:p14="http://schemas.microsoft.com/office/powerpoint/2010/main" val="26512972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descr="24_28"/>
          <p:cNvPicPr>
            <a:picLocks noChangeAspect="1" noChangeArrowheads="1"/>
          </p:cNvPicPr>
          <p:nvPr/>
        </p:nvPicPr>
        <p:blipFill>
          <a:blip r:embed="rId2"/>
          <a:srcRect/>
          <a:stretch>
            <a:fillRect/>
          </a:stretch>
        </p:blipFill>
        <p:spPr bwMode="auto">
          <a:xfrm>
            <a:off x="0" y="2690813"/>
            <a:ext cx="9142413" cy="4167187"/>
          </a:xfrm>
          <a:prstGeom prst="rect">
            <a:avLst/>
          </a:prstGeom>
          <a:noFill/>
          <a:ln w="9525">
            <a:noFill/>
            <a:miter lim="800000"/>
            <a:headEnd/>
            <a:tailEnd/>
          </a:ln>
        </p:spPr>
      </p:pic>
      <p:sp>
        <p:nvSpPr>
          <p:cNvPr id="159747" name="Text Box 3"/>
          <p:cNvSpPr txBox="1">
            <a:spLocks noChangeArrowheads="1"/>
          </p:cNvSpPr>
          <p:nvPr/>
        </p:nvSpPr>
        <p:spPr bwMode="auto">
          <a:xfrm>
            <a:off x="4784725" y="801688"/>
            <a:ext cx="4178300" cy="822325"/>
          </a:xfrm>
          <a:prstGeom prst="rect">
            <a:avLst/>
          </a:prstGeom>
          <a:noFill/>
          <a:ln w="9525">
            <a:noFill/>
            <a:miter lim="800000"/>
            <a:headEnd/>
            <a:tailEnd/>
          </a:ln>
          <a:effectLst/>
        </p:spPr>
        <p:txBody>
          <a:bodyPr>
            <a:spAutoFit/>
          </a:bodyPr>
          <a:lstStyle/>
          <a:p>
            <a:r>
              <a:rPr lang="en-US"/>
              <a:t>Splitting due to ligand/orbirtal orientation.</a:t>
            </a:r>
          </a:p>
        </p:txBody>
      </p:sp>
      <p:sp>
        <p:nvSpPr>
          <p:cNvPr id="159748" name="Line 4"/>
          <p:cNvSpPr>
            <a:spLocks noChangeShapeType="1"/>
          </p:cNvSpPr>
          <p:nvPr/>
        </p:nvSpPr>
        <p:spPr bwMode="auto">
          <a:xfrm>
            <a:off x="5867400" y="1676400"/>
            <a:ext cx="304800" cy="1143000"/>
          </a:xfrm>
          <a:prstGeom prst="line">
            <a:avLst/>
          </a:prstGeom>
          <a:noFill/>
          <a:ln w="9525">
            <a:solidFill>
              <a:schemeClr val="tx1"/>
            </a:solidFill>
            <a:round/>
            <a:headEnd/>
            <a:tailEnd type="triangle" w="med" len="med"/>
          </a:ln>
          <a:effectLst/>
        </p:spPr>
        <p:txBody>
          <a:bodyPr wrap="none" anchor="ctr"/>
          <a:lstStyle/>
          <a:p>
            <a:endParaRPr lang="en-US"/>
          </a:p>
        </p:txBody>
      </p:sp>
    </p:spTree>
    <p:extLst>
      <p:ext uri="{BB962C8B-B14F-4D97-AF65-F5344CB8AC3E}">
        <p14:creationId xmlns:p14="http://schemas.microsoft.com/office/powerpoint/2010/main" val="3398704276"/>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4" name="Picture 6" descr="24_30"/>
          <p:cNvPicPr>
            <a:picLocks noChangeAspect="1" noChangeArrowheads="1"/>
          </p:cNvPicPr>
          <p:nvPr/>
        </p:nvPicPr>
        <p:blipFill>
          <a:blip r:embed="rId3"/>
          <a:srcRect/>
          <a:stretch>
            <a:fillRect/>
          </a:stretch>
        </p:blipFill>
        <p:spPr bwMode="auto">
          <a:xfrm>
            <a:off x="0" y="1176338"/>
            <a:ext cx="9142413" cy="4532312"/>
          </a:xfrm>
          <a:prstGeom prst="rect">
            <a:avLst/>
          </a:prstGeom>
          <a:noFill/>
          <a:ln w="9525">
            <a:noFill/>
            <a:miter lim="800000"/>
            <a:headEnd/>
            <a:tailEnd/>
          </a:ln>
        </p:spPr>
      </p:pic>
      <p:sp>
        <p:nvSpPr>
          <p:cNvPr id="119815" name="AutoShape 7"/>
          <p:cNvSpPr>
            <a:spLocks noChangeArrowheads="1"/>
          </p:cNvSpPr>
          <p:nvPr/>
        </p:nvSpPr>
        <p:spPr bwMode="auto">
          <a:xfrm>
            <a:off x="2703513" y="3060700"/>
            <a:ext cx="460375" cy="368300"/>
          </a:xfrm>
          <a:prstGeom prst="triangle">
            <a:avLst>
              <a:gd name="adj" fmla="val 50000"/>
            </a:avLst>
          </a:prstGeom>
          <a:noFill/>
          <a:ln w="19050">
            <a:solidFill>
              <a:schemeClr val="tx1"/>
            </a:solidFill>
            <a:miter lim="800000"/>
            <a:headEnd/>
            <a:tailEnd/>
          </a:ln>
          <a:effectLst/>
        </p:spPr>
        <p:txBody>
          <a:bodyPr wrap="none" anchor="ctr"/>
          <a:lstStyle/>
          <a:p>
            <a:endParaRPr lang="en-US"/>
          </a:p>
        </p:txBody>
      </p:sp>
      <p:pic>
        <p:nvPicPr>
          <p:cNvPr id="119810" name="Picture 2" descr="24_30"/>
          <p:cNvPicPr>
            <a:picLocks noChangeAspect="1" noChangeArrowheads="1"/>
          </p:cNvPicPr>
          <p:nvPr/>
        </p:nvPicPr>
        <p:blipFill>
          <a:blip r:embed="rId3"/>
          <a:srcRect/>
          <a:stretch>
            <a:fillRect/>
          </a:stretch>
        </p:blipFill>
        <p:spPr bwMode="auto">
          <a:xfrm>
            <a:off x="0" y="1176338"/>
            <a:ext cx="9142413" cy="4532312"/>
          </a:xfrm>
          <a:prstGeom prst="rect">
            <a:avLst/>
          </a:prstGeom>
          <a:noFill/>
          <a:ln w="9525">
            <a:noFill/>
            <a:miter lim="800000"/>
            <a:headEnd/>
            <a:tailEnd/>
          </a:ln>
        </p:spPr>
      </p:pic>
      <p:sp>
        <p:nvSpPr>
          <p:cNvPr id="119811" name="Line 3"/>
          <p:cNvSpPr>
            <a:spLocks noChangeShapeType="1"/>
          </p:cNvSpPr>
          <p:nvPr/>
        </p:nvSpPr>
        <p:spPr bwMode="auto">
          <a:xfrm>
            <a:off x="2501900" y="2527300"/>
            <a:ext cx="0" cy="1651000"/>
          </a:xfrm>
          <a:prstGeom prst="line">
            <a:avLst/>
          </a:prstGeom>
          <a:noFill/>
          <a:ln w="57150">
            <a:solidFill>
              <a:schemeClr val="tx1"/>
            </a:solidFill>
            <a:round/>
            <a:headEnd type="triangle" w="med" len="med"/>
            <a:tailEnd type="triangle" w="med" len="med"/>
          </a:ln>
          <a:effectLst/>
        </p:spPr>
        <p:txBody>
          <a:bodyPr wrap="none" anchor="ctr"/>
          <a:lstStyle/>
          <a:p>
            <a:endParaRPr lang="en-US"/>
          </a:p>
        </p:txBody>
      </p:sp>
      <p:sp>
        <p:nvSpPr>
          <p:cNvPr id="119812" name="Text Box 4"/>
          <p:cNvSpPr txBox="1">
            <a:spLocks noChangeArrowheads="1"/>
          </p:cNvSpPr>
          <p:nvPr/>
        </p:nvSpPr>
        <p:spPr bwMode="auto">
          <a:xfrm>
            <a:off x="1554163" y="3462338"/>
            <a:ext cx="184150" cy="457200"/>
          </a:xfrm>
          <a:prstGeom prst="rect">
            <a:avLst/>
          </a:prstGeom>
          <a:noFill/>
          <a:ln w="9525">
            <a:noFill/>
            <a:miter lim="800000"/>
            <a:headEnd/>
            <a:tailEnd/>
          </a:ln>
          <a:effectLst/>
        </p:spPr>
        <p:txBody>
          <a:bodyPr>
            <a:spAutoFit/>
          </a:bodyPr>
          <a:lstStyle/>
          <a:p>
            <a:pPr>
              <a:spcBef>
                <a:spcPct val="50000"/>
              </a:spcBef>
            </a:pPr>
            <a:endParaRPr lang="en-US"/>
          </a:p>
        </p:txBody>
      </p:sp>
      <p:sp>
        <p:nvSpPr>
          <p:cNvPr id="119813" name="AutoShape 5"/>
          <p:cNvSpPr>
            <a:spLocks noChangeArrowheads="1"/>
          </p:cNvSpPr>
          <p:nvPr/>
        </p:nvSpPr>
        <p:spPr bwMode="auto">
          <a:xfrm>
            <a:off x="2705100" y="3060700"/>
            <a:ext cx="460375" cy="368300"/>
          </a:xfrm>
          <a:prstGeom prst="triangle">
            <a:avLst>
              <a:gd name="adj" fmla="val 50000"/>
            </a:avLst>
          </a:prstGeom>
          <a:noFill/>
          <a:ln w="19050">
            <a:solidFill>
              <a:schemeClr val="tx1"/>
            </a:solidFill>
            <a:miter lim="800000"/>
            <a:headEnd/>
            <a:tailEnd/>
          </a:ln>
          <a:effectLst/>
        </p:spPr>
        <p:txBody>
          <a:bodyPr wrap="none" anchor="ctr"/>
          <a:lstStyle/>
          <a:p>
            <a:endParaRPr lang="en-US"/>
          </a:p>
        </p:txBody>
      </p:sp>
      <p:pic>
        <p:nvPicPr>
          <p:cNvPr id="119816" name="Picture 8" descr="24_30"/>
          <p:cNvPicPr>
            <a:picLocks noChangeAspect="1" noChangeArrowheads="1"/>
          </p:cNvPicPr>
          <p:nvPr/>
        </p:nvPicPr>
        <p:blipFill>
          <a:blip r:embed="rId3"/>
          <a:srcRect/>
          <a:stretch>
            <a:fillRect/>
          </a:stretch>
        </p:blipFill>
        <p:spPr bwMode="auto">
          <a:xfrm>
            <a:off x="1588" y="1176338"/>
            <a:ext cx="9142412" cy="4532312"/>
          </a:xfrm>
          <a:prstGeom prst="rect">
            <a:avLst/>
          </a:prstGeom>
          <a:noFill/>
          <a:ln w="9525">
            <a:noFill/>
            <a:miter lim="800000"/>
            <a:headEnd/>
            <a:tailEnd/>
          </a:ln>
        </p:spPr>
      </p:pic>
      <p:sp>
        <p:nvSpPr>
          <p:cNvPr id="119817" name="Line 9"/>
          <p:cNvSpPr>
            <a:spLocks noChangeShapeType="1"/>
          </p:cNvSpPr>
          <p:nvPr/>
        </p:nvSpPr>
        <p:spPr bwMode="auto">
          <a:xfrm>
            <a:off x="2503488" y="2501900"/>
            <a:ext cx="0" cy="1651000"/>
          </a:xfrm>
          <a:prstGeom prst="line">
            <a:avLst/>
          </a:prstGeom>
          <a:noFill/>
          <a:ln w="57150">
            <a:solidFill>
              <a:schemeClr val="tx1"/>
            </a:solidFill>
            <a:round/>
            <a:headEnd type="triangle" w="med" len="med"/>
            <a:tailEnd type="triangle" w="med" len="med"/>
          </a:ln>
          <a:effectLst/>
        </p:spPr>
        <p:txBody>
          <a:bodyPr wrap="none" anchor="ctr"/>
          <a:lstStyle/>
          <a:p>
            <a:endParaRPr lang="en-US"/>
          </a:p>
        </p:txBody>
      </p:sp>
      <p:sp>
        <p:nvSpPr>
          <p:cNvPr id="119818" name="AutoShape 10"/>
          <p:cNvSpPr>
            <a:spLocks noChangeArrowheads="1"/>
          </p:cNvSpPr>
          <p:nvPr/>
        </p:nvSpPr>
        <p:spPr bwMode="auto">
          <a:xfrm>
            <a:off x="2706688" y="3035300"/>
            <a:ext cx="460375" cy="368300"/>
          </a:xfrm>
          <a:prstGeom prst="triangle">
            <a:avLst>
              <a:gd name="adj" fmla="val 50000"/>
            </a:avLst>
          </a:prstGeom>
          <a:noFill/>
          <a:ln w="19050">
            <a:solidFill>
              <a:schemeClr val="tx1"/>
            </a:solidFill>
            <a:miter lim="800000"/>
            <a:headEnd/>
            <a:tailEnd/>
          </a:ln>
          <a:effectLst/>
        </p:spPr>
        <p:txBody>
          <a:bodyPr wrap="none" anchor="ctr"/>
          <a:lstStyle/>
          <a:p>
            <a:endParaRPr lang="en-US"/>
          </a:p>
        </p:txBody>
      </p:sp>
      <p:sp>
        <p:nvSpPr>
          <p:cNvPr id="119819" name="Line 11"/>
          <p:cNvSpPr>
            <a:spLocks noChangeShapeType="1"/>
          </p:cNvSpPr>
          <p:nvPr/>
        </p:nvSpPr>
        <p:spPr bwMode="auto">
          <a:xfrm>
            <a:off x="7240588" y="2501900"/>
            <a:ext cx="0" cy="1651000"/>
          </a:xfrm>
          <a:prstGeom prst="line">
            <a:avLst/>
          </a:prstGeom>
          <a:noFill/>
          <a:ln w="57150">
            <a:solidFill>
              <a:schemeClr val="tx1"/>
            </a:solidFill>
            <a:round/>
            <a:headEnd type="triangle" w="med" len="med"/>
            <a:tailEnd type="triangle" w="med" len="med"/>
          </a:ln>
          <a:effectLst/>
        </p:spPr>
        <p:txBody>
          <a:bodyPr wrap="none" anchor="ctr"/>
          <a:lstStyle/>
          <a:p>
            <a:endParaRPr lang="en-US"/>
          </a:p>
        </p:txBody>
      </p:sp>
      <p:sp>
        <p:nvSpPr>
          <p:cNvPr id="119820" name="AutoShape 12"/>
          <p:cNvSpPr>
            <a:spLocks noChangeArrowheads="1"/>
          </p:cNvSpPr>
          <p:nvPr/>
        </p:nvSpPr>
        <p:spPr bwMode="auto">
          <a:xfrm>
            <a:off x="7367588" y="3035300"/>
            <a:ext cx="460375" cy="368300"/>
          </a:xfrm>
          <a:prstGeom prst="triangle">
            <a:avLst>
              <a:gd name="adj" fmla="val 50000"/>
            </a:avLst>
          </a:prstGeom>
          <a:noFill/>
          <a:ln w="19050">
            <a:solidFill>
              <a:schemeClr val="tx1"/>
            </a:solidFill>
            <a:miter lim="800000"/>
            <a:headEnd/>
            <a:tailEnd/>
          </a:ln>
          <a:effectLst/>
        </p:spPr>
        <p:txBody>
          <a:bodyPr wrap="none" anchor="ctr"/>
          <a:lstStyle/>
          <a:p>
            <a:endParaRPr lang="en-US"/>
          </a:p>
        </p:txBody>
      </p:sp>
      <p:sp>
        <p:nvSpPr>
          <p:cNvPr id="119821" name="AutoShape 13"/>
          <p:cNvSpPr>
            <a:spLocks noChangeArrowheads="1"/>
          </p:cNvSpPr>
          <p:nvPr/>
        </p:nvSpPr>
        <p:spPr bwMode="auto">
          <a:xfrm>
            <a:off x="2160588" y="5969000"/>
            <a:ext cx="460375" cy="368300"/>
          </a:xfrm>
          <a:prstGeom prst="triangle">
            <a:avLst>
              <a:gd name="adj" fmla="val 50000"/>
            </a:avLst>
          </a:prstGeom>
          <a:noFill/>
          <a:ln w="19050">
            <a:solidFill>
              <a:schemeClr val="tx1"/>
            </a:solidFill>
            <a:miter lim="800000"/>
            <a:headEnd/>
            <a:tailEnd/>
          </a:ln>
          <a:effectLst/>
        </p:spPr>
        <p:txBody>
          <a:bodyPr wrap="none" anchor="ctr"/>
          <a:lstStyle/>
          <a:p>
            <a:endParaRPr lang="en-US"/>
          </a:p>
        </p:txBody>
      </p:sp>
      <p:sp>
        <p:nvSpPr>
          <p:cNvPr id="119822" name="Text Box 14"/>
          <p:cNvSpPr txBox="1">
            <a:spLocks noChangeArrowheads="1"/>
          </p:cNvSpPr>
          <p:nvPr/>
        </p:nvSpPr>
        <p:spPr bwMode="auto">
          <a:xfrm>
            <a:off x="2582863" y="5938838"/>
            <a:ext cx="2762250" cy="457200"/>
          </a:xfrm>
          <a:prstGeom prst="rect">
            <a:avLst/>
          </a:prstGeom>
          <a:noFill/>
          <a:ln w="9525">
            <a:noFill/>
            <a:miter lim="800000"/>
            <a:headEnd/>
            <a:tailEnd/>
          </a:ln>
          <a:effectLst/>
        </p:spPr>
        <p:txBody>
          <a:bodyPr>
            <a:spAutoFit/>
          </a:bodyPr>
          <a:lstStyle/>
          <a:p>
            <a:pPr>
              <a:spcBef>
                <a:spcPct val="50000"/>
              </a:spcBef>
            </a:pPr>
            <a:r>
              <a:rPr lang="en-US"/>
              <a:t>= 495 nm</a:t>
            </a:r>
          </a:p>
        </p:txBody>
      </p:sp>
    </p:spTree>
    <p:extLst>
      <p:ext uri="{BB962C8B-B14F-4D97-AF65-F5344CB8AC3E}">
        <p14:creationId xmlns:p14="http://schemas.microsoft.com/office/powerpoint/2010/main" val="4845616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2" descr="24_31"/>
          <p:cNvPicPr>
            <a:picLocks noChangeAspect="1" noChangeArrowheads="1"/>
          </p:cNvPicPr>
          <p:nvPr/>
        </p:nvPicPr>
        <p:blipFill>
          <a:blip r:embed="rId3"/>
          <a:srcRect/>
          <a:stretch>
            <a:fillRect/>
          </a:stretch>
        </p:blipFill>
        <p:spPr bwMode="auto">
          <a:xfrm>
            <a:off x="1588" y="1052513"/>
            <a:ext cx="9142412" cy="4754562"/>
          </a:xfrm>
          <a:prstGeom prst="rect">
            <a:avLst/>
          </a:prstGeom>
          <a:noFill/>
          <a:ln w="9525">
            <a:noFill/>
            <a:miter lim="800000"/>
            <a:headEnd/>
            <a:tailEnd/>
          </a:ln>
        </p:spPr>
      </p:pic>
      <p:sp>
        <p:nvSpPr>
          <p:cNvPr id="121859" name="Text Box 3"/>
          <p:cNvSpPr txBox="1">
            <a:spLocks noChangeArrowheads="1"/>
          </p:cNvSpPr>
          <p:nvPr/>
        </p:nvSpPr>
        <p:spPr bwMode="auto">
          <a:xfrm>
            <a:off x="720725" y="192088"/>
            <a:ext cx="7824788" cy="822325"/>
          </a:xfrm>
          <a:prstGeom prst="rect">
            <a:avLst/>
          </a:prstGeom>
          <a:noFill/>
          <a:ln w="9525">
            <a:noFill/>
            <a:miter lim="800000"/>
            <a:headEnd/>
            <a:tailEnd/>
          </a:ln>
          <a:effectLst/>
        </p:spPr>
        <p:txBody>
          <a:bodyPr wrap="none">
            <a:spAutoFit/>
          </a:bodyPr>
          <a:lstStyle/>
          <a:p>
            <a:r>
              <a:rPr lang="en-US"/>
              <a:t>Different ligands interact more or less, change E spacing</a:t>
            </a:r>
          </a:p>
          <a:p>
            <a:r>
              <a:rPr lang="en-US"/>
              <a:t>Of D orbitals.</a:t>
            </a:r>
          </a:p>
        </p:txBody>
      </p:sp>
    </p:spTree>
    <p:extLst>
      <p:ext uri="{BB962C8B-B14F-4D97-AF65-F5344CB8AC3E}">
        <p14:creationId xmlns:p14="http://schemas.microsoft.com/office/powerpoint/2010/main" val="11007789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754063" y="736600"/>
            <a:ext cx="7994650" cy="457200"/>
          </a:xfrm>
          <a:prstGeom prst="rect">
            <a:avLst/>
          </a:prstGeom>
          <a:noFill/>
          <a:ln w="9525">
            <a:noFill/>
            <a:miter lim="800000"/>
            <a:headEnd/>
            <a:tailEnd/>
          </a:ln>
          <a:effectLst/>
        </p:spPr>
        <p:txBody>
          <a:bodyPr>
            <a:spAutoFit/>
          </a:bodyPr>
          <a:lstStyle/>
          <a:p>
            <a:pPr>
              <a:spcBef>
                <a:spcPct val="50000"/>
              </a:spcBef>
            </a:pPr>
            <a:r>
              <a:rPr lang="en-US"/>
              <a:t>Spectrochemical series (strength of ligand interaction)</a:t>
            </a:r>
          </a:p>
        </p:txBody>
      </p:sp>
      <p:sp>
        <p:nvSpPr>
          <p:cNvPr id="160771" name="Text Box 3"/>
          <p:cNvSpPr txBox="1">
            <a:spLocks noChangeArrowheads="1"/>
          </p:cNvSpPr>
          <p:nvPr/>
        </p:nvSpPr>
        <p:spPr bwMode="auto">
          <a:xfrm>
            <a:off x="784225" y="1971675"/>
            <a:ext cx="7397750" cy="579438"/>
          </a:xfrm>
          <a:prstGeom prst="rect">
            <a:avLst/>
          </a:prstGeom>
          <a:noFill/>
          <a:ln w="9525">
            <a:noFill/>
            <a:miter lim="800000"/>
            <a:headEnd/>
            <a:tailEnd/>
          </a:ln>
          <a:effectLst/>
        </p:spPr>
        <p:txBody>
          <a:bodyPr wrap="none">
            <a:spAutoFit/>
          </a:bodyPr>
          <a:lstStyle/>
          <a:p>
            <a:r>
              <a:rPr lang="en-US" sz="3200" b="1">
                <a:solidFill>
                  <a:srgbClr val="008000"/>
                </a:solidFill>
              </a:rPr>
              <a:t>Cl</a:t>
            </a:r>
            <a:r>
              <a:rPr lang="en-US" sz="3200" b="1" baseline="30000">
                <a:solidFill>
                  <a:srgbClr val="008000"/>
                </a:solidFill>
              </a:rPr>
              <a:t>-</a:t>
            </a:r>
            <a:r>
              <a:rPr lang="en-US" sz="3200" b="1">
                <a:solidFill>
                  <a:srgbClr val="008000"/>
                </a:solidFill>
              </a:rPr>
              <a:t> &lt; F</a:t>
            </a:r>
            <a:r>
              <a:rPr lang="en-US" sz="3200" b="1" baseline="30000">
                <a:solidFill>
                  <a:srgbClr val="008000"/>
                </a:solidFill>
              </a:rPr>
              <a:t>-</a:t>
            </a:r>
            <a:r>
              <a:rPr lang="en-US" sz="3200" b="1">
                <a:solidFill>
                  <a:srgbClr val="008000"/>
                </a:solidFill>
              </a:rPr>
              <a:t> &lt; H</a:t>
            </a:r>
            <a:r>
              <a:rPr lang="en-US" sz="3200" b="1" baseline="-25000">
                <a:solidFill>
                  <a:srgbClr val="008000"/>
                </a:solidFill>
              </a:rPr>
              <a:t>2</a:t>
            </a:r>
            <a:r>
              <a:rPr lang="en-US" sz="3200" b="1">
                <a:solidFill>
                  <a:srgbClr val="008000"/>
                </a:solidFill>
              </a:rPr>
              <a:t>O &lt; NH</a:t>
            </a:r>
            <a:r>
              <a:rPr lang="en-US" sz="3200" b="1" baseline="-25000">
                <a:solidFill>
                  <a:srgbClr val="008000"/>
                </a:solidFill>
              </a:rPr>
              <a:t>3</a:t>
            </a:r>
            <a:r>
              <a:rPr lang="en-US" sz="3200" b="1">
                <a:solidFill>
                  <a:srgbClr val="008000"/>
                </a:solidFill>
              </a:rPr>
              <a:t> &lt; en &lt; NO</a:t>
            </a:r>
            <a:r>
              <a:rPr lang="en-US" sz="3200" b="1" baseline="-25000">
                <a:solidFill>
                  <a:srgbClr val="008000"/>
                </a:solidFill>
              </a:rPr>
              <a:t>2</a:t>
            </a:r>
            <a:r>
              <a:rPr lang="en-US" sz="3200" b="1" baseline="30000">
                <a:solidFill>
                  <a:srgbClr val="008000"/>
                </a:solidFill>
              </a:rPr>
              <a:t>-</a:t>
            </a:r>
            <a:r>
              <a:rPr lang="en-US" sz="3200" b="1">
                <a:solidFill>
                  <a:srgbClr val="008000"/>
                </a:solidFill>
              </a:rPr>
              <a:t> &lt; CN</a:t>
            </a:r>
            <a:r>
              <a:rPr lang="en-US" sz="3200" b="1" baseline="30000">
                <a:solidFill>
                  <a:srgbClr val="008000"/>
                </a:solidFill>
              </a:rPr>
              <a:t>-</a:t>
            </a:r>
            <a:r>
              <a:rPr lang="en-US" sz="3200" b="1">
                <a:solidFill>
                  <a:srgbClr val="008000"/>
                </a:solidFill>
              </a:rPr>
              <a:t> </a:t>
            </a:r>
          </a:p>
        </p:txBody>
      </p:sp>
      <p:sp>
        <p:nvSpPr>
          <p:cNvPr id="160772" name="Line 4"/>
          <p:cNvSpPr>
            <a:spLocks noChangeShapeType="1"/>
          </p:cNvSpPr>
          <p:nvPr/>
        </p:nvSpPr>
        <p:spPr bwMode="auto">
          <a:xfrm flipV="1">
            <a:off x="1003300" y="1816100"/>
            <a:ext cx="6870700" cy="25400"/>
          </a:xfrm>
          <a:prstGeom prst="line">
            <a:avLst/>
          </a:prstGeom>
          <a:noFill/>
          <a:ln w="38100">
            <a:solidFill>
              <a:schemeClr val="tx1"/>
            </a:solidFill>
            <a:round/>
            <a:headEnd/>
            <a:tailEnd type="triangle" w="med" len="med"/>
          </a:ln>
          <a:effectLst/>
        </p:spPr>
        <p:txBody>
          <a:bodyPr wrap="none" anchor="ctr"/>
          <a:lstStyle/>
          <a:p>
            <a:endParaRPr lang="en-US"/>
          </a:p>
        </p:txBody>
      </p:sp>
      <p:sp>
        <p:nvSpPr>
          <p:cNvPr id="160773" name="Text Box 5"/>
          <p:cNvSpPr txBox="1">
            <a:spLocks noChangeArrowheads="1"/>
          </p:cNvSpPr>
          <p:nvPr/>
        </p:nvSpPr>
        <p:spPr bwMode="auto">
          <a:xfrm>
            <a:off x="3082925" y="1343025"/>
            <a:ext cx="1862138" cy="457200"/>
          </a:xfrm>
          <a:prstGeom prst="rect">
            <a:avLst/>
          </a:prstGeom>
          <a:noFill/>
          <a:ln w="9525">
            <a:noFill/>
            <a:miter lim="800000"/>
            <a:headEnd/>
            <a:tailEnd/>
          </a:ln>
          <a:effectLst/>
        </p:spPr>
        <p:txBody>
          <a:bodyPr wrap="none">
            <a:spAutoFit/>
          </a:bodyPr>
          <a:lstStyle/>
          <a:p>
            <a:r>
              <a:rPr lang="en-US"/>
              <a:t>Increasing </a:t>
            </a:r>
            <a:r>
              <a:rPr lang="en-US">
                <a:latin typeface="Symbol" pitchFamily="18" charset="2"/>
              </a:rPr>
              <a:t></a:t>
            </a:r>
            <a:endParaRPr lang="en-US"/>
          </a:p>
        </p:txBody>
      </p:sp>
      <p:pic>
        <p:nvPicPr>
          <p:cNvPr id="160774" name="Picture 6" descr="24_31"/>
          <p:cNvPicPr>
            <a:picLocks noChangeAspect="1" noChangeArrowheads="1"/>
          </p:cNvPicPr>
          <p:nvPr/>
        </p:nvPicPr>
        <p:blipFill>
          <a:blip r:embed="rId2"/>
          <a:srcRect/>
          <a:stretch>
            <a:fillRect/>
          </a:stretch>
        </p:blipFill>
        <p:spPr bwMode="auto">
          <a:xfrm>
            <a:off x="687388" y="2868613"/>
            <a:ext cx="7224712" cy="3757612"/>
          </a:xfrm>
          <a:prstGeom prst="rect">
            <a:avLst/>
          </a:prstGeom>
          <a:noFill/>
          <a:ln w="9525">
            <a:noFill/>
            <a:miter lim="800000"/>
            <a:headEnd/>
            <a:tailEnd/>
          </a:ln>
        </p:spPr>
      </p:pic>
      <p:sp>
        <p:nvSpPr>
          <p:cNvPr id="160775" name="Line 7"/>
          <p:cNvSpPr>
            <a:spLocks noChangeShapeType="1"/>
          </p:cNvSpPr>
          <p:nvPr/>
        </p:nvSpPr>
        <p:spPr bwMode="auto">
          <a:xfrm flipV="1">
            <a:off x="1003300" y="4508500"/>
            <a:ext cx="6870700" cy="25400"/>
          </a:xfrm>
          <a:prstGeom prst="line">
            <a:avLst/>
          </a:prstGeom>
          <a:noFill/>
          <a:ln w="38100">
            <a:solidFill>
              <a:schemeClr val="tx1"/>
            </a:solidFill>
            <a:round/>
            <a:headEnd/>
            <a:tailEnd type="triangle" w="med" len="med"/>
          </a:ln>
          <a:effectLst/>
        </p:spPr>
        <p:txBody>
          <a:bodyPr wrap="none" anchor="ctr"/>
          <a:lstStyle/>
          <a:p>
            <a:endParaRPr lang="en-US"/>
          </a:p>
        </p:txBody>
      </p:sp>
      <p:sp>
        <p:nvSpPr>
          <p:cNvPr id="160776" name="Text Box 8"/>
          <p:cNvSpPr txBox="1">
            <a:spLocks noChangeArrowheads="1"/>
          </p:cNvSpPr>
          <p:nvPr/>
        </p:nvSpPr>
        <p:spPr bwMode="auto">
          <a:xfrm>
            <a:off x="3082925" y="4035425"/>
            <a:ext cx="1862138" cy="457200"/>
          </a:xfrm>
          <a:prstGeom prst="rect">
            <a:avLst/>
          </a:prstGeom>
          <a:noFill/>
          <a:ln w="9525">
            <a:noFill/>
            <a:miter lim="800000"/>
            <a:headEnd/>
            <a:tailEnd/>
          </a:ln>
          <a:effectLst/>
        </p:spPr>
        <p:txBody>
          <a:bodyPr wrap="none">
            <a:spAutoFit/>
          </a:bodyPr>
          <a:lstStyle/>
          <a:p>
            <a:r>
              <a:rPr lang="en-US"/>
              <a:t>Increasing </a:t>
            </a:r>
            <a:r>
              <a:rPr lang="en-US">
                <a:latin typeface="Symbol" pitchFamily="18" charset="2"/>
              </a:rPr>
              <a:t></a:t>
            </a:r>
            <a:endParaRPr lang="en-US"/>
          </a:p>
        </p:txBody>
      </p:sp>
    </p:spTree>
    <p:extLst>
      <p:ext uri="{BB962C8B-B14F-4D97-AF65-F5344CB8AC3E}">
        <p14:creationId xmlns:p14="http://schemas.microsoft.com/office/powerpoint/2010/main" val="807654817"/>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descr="24_32"/>
          <p:cNvPicPr>
            <a:picLocks noChangeAspect="1" noChangeArrowheads="1"/>
          </p:cNvPicPr>
          <p:nvPr/>
        </p:nvPicPr>
        <p:blipFill>
          <a:blip r:embed="rId3"/>
          <a:srcRect/>
          <a:stretch>
            <a:fillRect/>
          </a:stretch>
        </p:blipFill>
        <p:spPr bwMode="auto">
          <a:xfrm>
            <a:off x="1588" y="2570163"/>
            <a:ext cx="9142412" cy="1720850"/>
          </a:xfrm>
          <a:prstGeom prst="rect">
            <a:avLst/>
          </a:prstGeom>
          <a:noFill/>
          <a:ln w="9525">
            <a:noFill/>
            <a:miter lim="800000"/>
            <a:headEnd/>
            <a:tailEnd/>
          </a:ln>
        </p:spPr>
      </p:pic>
      <p:sp>
        <p:nvSpPr>
          <p:cNvPr id="123907" name="Text Box 3"/>
          <p:cNvSpPr txBox="1">
            <a:spLocks noChangeArrowheads="1"/>
          </p:cNvSpPr>
          <p:nvPr/>
        </p:nvSpPr>
        <p:spPr bwMode="auto">
          <a:xfrm>
            <a:off x="581025" y="611188"/>
            <a:ext cx="7502525" cy="457200"/>
          </a:xfrm>
          <a:prstGeom prst="rect">
            <a:avLst/>
          </a:prstGeom>
          <a:noFill/>
          <a:ln w="9525">
            <a:noFill/>
            <a:miter lim="800000"/>
            <a:headEnd/>
            <a:tailEnd/>
          </a:ln>
          <a:effectLst/>
        </p:spPr>
        <p:txBody>
          <a:bodyPr wrap="none">
            <a:spAutoFit/>
          </a:bodyPr>
          <a:lstStyle/>
          <a:p>
            <a:r>
              <a:rPr lang="en-US"/>
              <a:t>Electron configurations of some octahedral complexes</a:t>
            </a:r>
          </a:p>
        </p:txBody>
      </p:sp>
    </p:spTree>
    <p:extLst>
      <p:ext uri="{BB962C8B-B14F-4D97-AF65-F5344CB8AC3E}">
        <p14:creationId xmlns:p14="http://schemas.microsoft.com/office/powerpoint/2010/main" val="19344243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descr="24_33"/>
          <p:cNvPicPr>
            <a:picLocks noChangeAspect="1" noChangeArrowheads="1"/>
          </p:cNvPicPr>
          <p:nvPr/>
        </p:nvPicPr>
        <p:blipFill>
          <a:blip r:embed="rId3"/>
          <a:srcRect/>
          <a:stretch>
            <a:fillRect/>
          </a:stretch>
        </p:blipFill>
        <p:spPr bwMode="auto">
          <a:xfrm>
            <a:off x="936625" y="965200"/>
            <a:ext cx="6751638" cy="5892800"/>
          </a:xfrm>
          <a:prstGeom prst="rect">
            <a:avLst/>
          </a:prstGeom>
          <a:noFill/>
          <a:ln w="9525">
            <a:noFill/>
            <a:miter lim="800000"/>
            <a:headEnd/>
            <a:tailEnd/>
          </a:ln>
        </p:spPr>
      </p:pic>
      <p:sp>
        <p:nvSpPr>
          <p:cNvPr id="125955" name="Text Box 3"/>
          <p:cNvSpPr txBox="1">
            <a:spLocks noChangeArrowheads="1"/>
          </p:cNvSpPr>
          <p:nvPr/>
        </p:nvSpPr>
        <p:spPr bwMode="auto">
          <a:xfrm>
            <a:off x="885825" y="128588"/>
            <a:ext cx="7486650" cy="822325"/>
          </a:xfrm>
          <a:prstGeom prst="rect">
            <a:avLst/>
          </a:prstGeom>
          <a:noFill/>
          <a:ln w="9525">
            <a:noFill/>
            <a:miter lim="800000"/>
            <a:headEnd/>
            <a:tailEnd/>
          </a:ln>
          <a:effectLst/>
        </p:spPr>
        <p:txBody>
          <a:bodyPr wrap="none">
            <a:spAutoFit/>
          </a:bodyPr>
          <a:lstStyle/>
          <a:p>
            <a:r>
              <a:rPr lang="en-US"/>
              <a:t>As Energy difference increases, electron configuration</a:t>
            </a:r>
          </a:p>
          <a:p>
            <a:r>
              <a:rPr lang="en-US"/>
              <a:t>changes</a:t>
            </a:r>
          </a:p>
        </p:txBody>
      </p:sp>
      <p:sp>
        <p:nvSpPr>
          <p:cNvPr id="125956" name="Text Box 4"/>
          <p:cNvSpPr txBox="1">
            <a:spLocks noChangeArrowheads="1"/>
          </p:cNvSpPr>
          <p:nvPr/>
        </p:nvSpPr>
        <p:spPr bwMode="auto">
          <a:xfrm>
            <a:off x="2044700" y="1144588"/>
            <a:ext cx="1878013" cy="457200"/>
          </a:xfrm>
          <a:prstGeom prst="rect">
            <a:avLst/>
          </a:prstGeom>
          <a:noFill/>
          <a:ln w="9525">
            <a:noFill/>
            <a:miter lim="800000"/>
            <a:headEnd/>
            <a:tailEnd/>
          </a:ln>
          <a:effectLst/>
        </p:spPr>
        <p:txBody>
          <a:bodyPr wrap="none">
            <a:spAutoFit/>
          </a:bodyPr>
          <a:lstStyle/>
          <a:p>
            <a:r>
              <a:rPr lang="en-US" b="1">
                <a:solidFill>
                  <a:srgbClr val="8000FF"/>
                </a:solidFill>
              </a:rPr>
              <a:t>“High spin”</a:t>
            </a:r>
          </a:p>
        </p:txBody>
      </p:sp>
      <p:sp>
        <p:nvSpPr>
          <p:cNvPr id="125957" name="Text Box 5"/>
          <p:cNvSpPr txBox="1">
            <a:spLocks noChangeArrowheads="1"/>
          </p:cNvSpPr>
          <p:nvPr/>
        </p:nvSpPr>
        <p:spPr bwMode="auto">
          <a:xfrm>
            <a:off x="5130800" y="776288"/>
            <a:ext cx="1809750" cy="457200"/>
          </a:xfrm>
          <a:prstGeom prst="rect">
            <a:avLst/>
          </a:prstGeom>
          <a:noFill/>
          <a:ln w="9525">
            <a:noFill/>
            <a:miter lim="800000"/>
            <a:headEnd/>
            <a:tailEnd/>
          </a:ln>
          <a:effectLst/>
        </p:spPr>
        <p:txBody>
          <a:bodyPr wrap="none">
            <a:spAutoFit/>
          </a:bodyPr>
          <a:lstStyle/>
          <a:p>
            <a:r>
              <a:rPr lang="en-US" b="1">
                <a:solidFill>
                  <a:srgbClr val="C82E32"/>
                </a:solidFill>
              </a:rPr>
              <a:t>“Low spin”</a:t>
            </a:r>
          </a:p>
        </p:txBody>
      </p:sp>
      <p:sp>
        <p:nvSpPr>
          <p:cNvPr id="125958" name="Text Box 6"/>
          <p:cNvSpPr txBox="1">
            <a:spLocks noChangeArrowheads="1"/>
          </p:cNvSpPr>
          <p:nvPr/>
        </p:nvSpPr>
        <p:spPr bwMode="auto">
          <a:xfrm>
            <a:off x="1600200" y="5765800"/>
            <a:ext cx="3435350" cy="457200"/>
          </a:xfrm>
          <a:prstGeom prst="rect">
            <a:avLst/>
          </a:prstGeom>
          <a:noFill/>
          <a:ln w="9525">
            <a:noFill/>
            <a:miter lim="800000"/>
            <a:headEnd/>
            <a:tailEnd/>
          </a:ln>
          <a:effectLst/>
        </p:spPr>
        <p:txBody>
          <a:bodyPr>
            <a:spAutoFit/>
          </a:bodyPr>
          <a:lstStyle/>
          <a:p>
            <a:pPr>
              <a:spcBef>
                <a:spcPct val="50000"/>
              </a:spcBef>
            </a:pPr>
            <a:r>
              <a:rPr lang="en-US" b="1">
                <a:solidFill>
                  <a:srgbClr val="C82E32"/>
                </a:solidFill>
              </a:rPr>
              <a:t>Co(III) is d</a:t>
            </a:r>
            <a:r>
              <a:rPr lang="en-US" b="1" baseline="30000">
                <a:solidFill>
                  <a:srgbClr val="C82E32"/>
                </a:solidFill>
              </a:rPr>
              <a:t>6</a:t>
            </a:r>
            <a:endParaRPr lang="en-US" b="1">
              <a:solidFill>
                <a:srgbClr val="C82E32"/>
              </a:solidFill>
            </a:endParaRPr>
          </a:p>
        </p:txBody>
      </p:sp>
    </p:spTree>
    <p:extLst>
      <p:ext uri="{BB962C8B-B14F-4D97-AF65-F5344CB8AC3E}">
        <p14:creationId xmlns:p14="http://schemas.microsoft.com/office/powerpoint/2010/main" val="23758393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descr="24_33-01UN"/>
          <p:cNvPicPr>
            <a:picLocks noChangeAspect="1" noChangeArrowheads="1"/>
          </p:cNvPicPr>
          <p:nvPr/>
        </p:nvPicPr>
        <p:blipFill>
          <a:blip r:embed="rId3"/>
          <a:srcRect/>
          <a:stretch>
            <a:fillRect/>
          </a:stretch>
        </p:blipFill>
        <p:spPr bwMode="auto">
          <a:xfrm>
            <a:off x="1588" y="2103438"/>
            <a:ext cx="9142412" cy="2652712"/>
          </a:xfrm>
          <a:prstGeom prst="rect">
            <a:avLst/>
          </a:prstGeom>
          <a:noFill/>
          <a:ln w="9525">
            <a:noFill/>
            <a:miter lim="800000"/>
            <a:headEnd/>
            <a:tailEnd/>
          </a:ln>
        </p:spPr>
      </p:pic>
    </p:spTree>
    <p:extLst>
      <p:ext uri="{BB962C8B-B14F-4D97-AF65-F5344CB8AC3E}">
        <p14:creationId xmlns:p14="http://schemas.microsoft.com/office/powerpoint/2010/main" val="187943290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descr="24_34"/>
          <p:cNvPicPr>
            <a:picLocks noChangeAspect="1" noChangeArrowheads="1"/>
          </p:cNvPicPr>
          <p:nvPr/>
        </p:nvPicPr>
        <p:blipFill>
          <a:blip r:embed="rId3"/>
          <a:srcRect/>
          <a:stretch>
            <a:fillRect/>
          </a:stretch>
        </p:blipFill>
        <p:spPr bwMode="auto">
          <a:xfrm>
            <a:off x="992188" y="3240088"/>
            <a:ext cx="7199312" cy="3259137"/>
          </a:xfrm>
          <a:prstGeom prst="rect">
            <a:avLst/>
          </a:prstGeom>
          <a:noFill/>
          <a:ln w="9525">
            <a:noFill/>
            <a:miter lim="800000"/>
            <a:headEnd/>
            <a:tailEnd/>
          </a:ln>
        </p:spPr>
      </p:pic>
      <p:sp>
        <p:nvSpPr>
          <p:cNvPr id="130052" name="Text Box 4"/>
          <p:cNvSpPr txBox="1">
            <a:spLocks noChangeArrowheads="1"/>
          </p:cNvSpPr>
          <p:nvPr/>
        </p:nvSpPr>
        <p:spPr bwMode="auto">
          <a:xfrm>
            <a:off x="1063625" y="1169988"/>
            <a:ext cx="7164388" cy="1552575"/>
          </a:xfrm>
          <a:prstGeom prst="rect">
            <a:avLst/>
          </a:prstGeom>
          <a:noFill/>
          <a:ln w="9525">
            <a:noFill/>
            <a:miter lim="800000"/>
            <a:headEnd/>
            <a:tailEnd/>
          </a:ln>
          <a:effectLst/>
        </p:spPr>
        <p:txBody>
          <a:bodyPr wrap="none">
            <a:spAutoFit/>
          </a:bodyPr>
          <a:lstStyle/>
          <a:p>
            <a:r>
              <a:rPr lang="en-US"/>
              <a:t>In tetrahedral complexes, orbitals are inverted.</a:t>
            </a:r>
          </a:p>
          <a:p>
            <a:r>
              <a:rPr lang="en-US"/>
              <a:t>Again because of orientation of orbitals and ligands</a:t>
            </a:r>
          </a:p>
          <a:p>
            <a:endParaRPr lang="en-US"/>
          </a:p>
          <a:p>
            <a:r>
              <a:rPr lang="en-US" b="1">
                <a:solidFill>
                  <a:srgbClr val="C82E32"/>
                </a:solidFill>
                <a:latin typeface="Symbol" pitchFamily="18" charset="2"/>
              </a:rPr>
              <a:t></a:t>
            </a:r>
            <a:r>
              <a:rPr lang="en-US" b="1">
                <a:solidFill>
                  <a:srgbClr val="C82E32"/>
                </a:solidFill>
              </a:rPr>
              <a:t> is always small, always low spin (less ligands)</a:t>
            </a:r>
            <a:endParaRPr lang="en-US"/>
          </a:p>
        </p:txBody>
      </p:sp>
      <p:sp>
        <p:nvSpPr>
          <p:cNvPr id="130053" name="Text Box 5"/>
          <p:cNvSpPr txBox="1">
            <a:spLocks noChangeArrowheads="1"/>
          </p:cNvSpPr>
          <p:nvPr/>
        </p:nvSpPr>
        <p:spPr bwMode="auto">
          <a:xfrm>
            <a:off x="2054225" y="257175"/>
            <a:ext cx="4678363" cy="579438"/>
          </a:xfrm>
          <a:prstGeom prst="rect">
            <a:avLst/>
          </a:prstGeom>
          <a:noFill/>
          <a:ln w="9525">
            <a:noFill/>
            <a:miter lim="800000"/>
            <a:headEnd/>
            <a:tailEnd/>
          </a:ln>
          <a:effectLst/>
        </p:spPr>
        <p:txBody>
          <a:bodyPr wrap="none">
            <a:spAutoFit/>
          </a:bodyPr>
          <a:lstStyle/>
          <a:p>
            <a:r>
              <a:rPr lang="en-US" sz="3200" b="1">
                <a:solidFill>
                  <a:srgbClr val="0000FF"/>
                </a:solidFill>
              </a:rPr>
              <a:t>Tetrahedral Complexes</a:t>
            </a:r>
          </a:p>
        </p:txBody>
      </p:sp>
    </p:spTree>
    <p:extLst>
      <p:ext uri="{BB962C8B-B14F-4D97-AF65-F5344CB8AC3E}">
        <p14:creationId xmlns:p14="http://schemas.microsoft.com/office/powerpoint/2010/main" val="34504793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24_35"/>
          <p:cNvPicPr>
            <a:picLocks noChangeAspect="1" noChangeArrowheads="1"/>
          </p:cNvPicPr>
          <p:nvPr/>
        </p:nvPicPr>
        <p:blipFill>
          <a:blip r:embed="rId3"/>
          <a:srcRect/>
          <a:stretch>
            <a:fillRect/>
          </a:stretch>
        </p:blipFill>
        <p:spPr bwMode="auto">
          <a:xfrm>
            <a:off x="2014538" y="920750"/>
            <a:ext cx="4670425" cy="5937250"/>
          </a:xfrm>
          <a:prstGeom prst="rect">
            <a:avLst/>
          </a:prstGeom>
          <a:noFill/>
          <a:ln w="9525">
            <a:noFill/>
            <a:miter lim="800000"/>
            <a:headEnd/>
            <a:tailEnd/>
          </a:ln>
        </p:spPr>
      </p:pic>
      <p:sp>
        <p:nvSpPr>
          <p:cNvPr id="132099" name="Text Box 3"/>
          <p:cNvSpPr txBox="1">
            <a:spLocks noChangeArrowheads="1"/>
          </p:cNvSpPr>
          <p:nvPr/>
        </p:nvSpPr>
        <p:spPr bwMode="auto">
          <a:xfrm>
            <a:off x="190500" y="165100"/>
            <a:ext cx="8383588" cy="579438"/>
          </a:xfrm>
          <a:prstGeom prst="rect">
            <a:avLst/>
          </a:prstGeom>
          <a:noFill/>
          <a:ln w="9525">
            <a:noFill/>
            <a:miter lim="800000"/>
            <a:headEnd/>
            <a:tailEnd/>
          </a:ln>
          <a:effectLst/>
        </p:spPr>
        <p:txBody>
          <a:bodyPr wrap="none">
            <a:spAutoFit/>
          </a:bodyPr>
          <a:lstStyle/>
          <a:p>
            <a:r>
              <a:rPr lang="en-US" sz="3200" b="1">
                <a:solidFill>
                  <a:srgbClr val="0000FF"/>
                </a:solidFill>
              </a:rPr>
              <a:t>Square planar complexes are different still</a:t>
            </a:r>
          </a:p>
        </p:txBody>
      </p:sp>
    </p:spTree>
    <p:extLst>
      <p:ext uri="{BB962C8B-B14F-4D97-AF65-F5344CB8AC3E}">
        <p14:creationId xmlns:p14="http://schemas.microsoft.com/office/powerpoint/2010/main" val="14039774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descr="24_29def"/>
          <p:cNvPicPr>
            <a:picLocks noChangeAspect="1" noChangeArrowheads="1"/>
          </p:cNvPicPr>
          <p:nvPr/>
        </p:nvPicPr>
        <p:blipFill>
          <a:blip r:embed="rId2" cstate="print"/>
          <a:srcRect/>
          <a:stretch>
            <a:fillRect/>
          </a:stretch>
        </p:blipFill>
        <p:spPr bwMode="auto">
          <a:xfrm>
            <a:off x="2725738" y="3687763"/>
            <a:ext cx="6418262" cy="2898775"/>
          </a:xfrm>
          <a:prstGeom prst="rect">
            <a:avLst/>
          </a:prstGeom>
          <a:noFill/>
          <a:ln w="9525">
            <a:noFill/>
            <a:miter lim="800000"/>
            <a:headEnd/>
            <a:tailEnd/>
          </a:ln>
        </p:spPr>
      </p:pic>
      <p:pic>
        <p:nvPicPr>
          <p:cNvPr id="161796" name="Picture 4" descr="24_29abc"/>
          <p:cNvPicPr>
            <a:picLocks noChangeAspect="1" noChangeArrowheads="1"/>
          </p:cNvPicPr>
          <p:nvPr/>
        </p:nvPicPr>
        <p:blipFill>
          <a:blip r:embed="rId3" cstate="print"/>
          <a:srcRect/>
          <a:stretch>
            <a:fillRect/>
          </a:stretch>
        </p:blipFill>
        <p:spPr bwMode="auto">
          <a:xfrm>
            <a:off x="3268663" y="1003300"/>
            <a:ext cx="5875337" cy="2659063"/>
          </a:xfrm>
          <a:prstGeom prst="rect">
            <a:avLst/>
          </a:prstGeom>
          <a:noFill/>
          <a:ln w="9525">
            <a:noFill/>
            <a:miter lim="800000"/>
            <a:headEnd/>
            <a:tailEnd/>
          </a:ln>
        </p:spPr>
      </p:pic>
      <p:pic>
        <p:nvPicPr>
          <p:cNvPr id="161797" name="Picture 5" descr="24_35"/>
          <p:cNvPicPr>
            <a:picLocks noChangeAspect="1" noChangeArrowheads="1"/>
          </p:cNvPicPr>
          <p:nvPr/>
        </p:nvPicPr>
        <p:blipFill>
          <a:blip r:embed="rId4" cstate="print"/>
          <a:srcRect/>
          <a:stretch>
            <a:fillRect/>
          </a:stretch>
        </p:blipFill>
        <p:spPr bwMode="auto">
          <a:xfrm>
            <a:off x="0" y="552450"/>
            <a:ext cx="2811463" cy="3575050"/>
          </a:xfrm>
          <a:prstGeom prst="rect">
            <a:avLst/>
          </a:prstGeom>
          <a:noFill/>
          <a:ln w="9525">
            <a:noFill/>
            <a:miter lim="800000"/>
            <a:headEnd/>
            <a:tailEnd/>
          </a:ln>
        </p:spPr>
      </p:pic>
      <p:sp>
        <p:nvSpPr>
          <p:cNvPr id="161798" name="Rectangle 6"/>
          <p:cNvSpPr>
            <a:spLocks noChangeArrowheads="1"/>
          </p:cNvSpPr>
          <p:nvPr/>
        </p:nvSpPr>
        <p:spPr bwMode="auto">
          <a:xfrm>
            <a:off x="6057900" y="12827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799" name="Rectangle 7"/>
          <p:cNvSpPr>
            <a:spLocks noChangeArrowheads="1"/>
          </p:cNvSpPr>
          <p:nvPr/>
        </p:nvSpPr>
        <p:spPr bwMode="auto">
          <a:xfrm>
            <a:off x="6057900" y="27432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0" name="Rectangle 8"/>
          <p:cNvSpPr>
            <a:spLocks noChangeArrowheads="1"/>
          </p:cNvSpPr>
          <p:nvPr/>
        </p:nvSpPr>
        <p:spPr bwMode="auto">
          <a:xfrm>
            <a:off x="8166100" y="12827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1" name="Rectangle 9"/>
          <p:cNvSpPr>
            <a:spLocks noChangeArrowheads="1"/>
          </p:cNvSpPr>
          <p:nvPr/>
        </p:nvSpPr>
        <p:spPr bwMode="auto">
          <a:xfrm>
            <a:off x="8166100" y="27432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2" name="Rectangle 10"/>
          <p:cNvSpPr>
            <a:spLocks noChangeArrowheads="1"/>
          </p:cNvSpPr>
          <p:nvPr/>
        </p:nvSpPr>
        <p:spPr bwMode="auto">
          <a:xfrm>
            <a:off x="8089900" y="40259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3" name="Rectangle 11"/>
          <p:cNvSpPr>
            <a:spLocks noChangeArrowheads="1"/>
          </p:cNvSpPr>
          <p:nvPr/>
        </p:nvSpPr>
        <p:spPr bwMode="auto">
          <a:xfrm>
            <a:off x="8089900" y="55245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4" name="Rectangle 12"/>
          <p:cNvSpPr>
            <a:spLocks noChangeArrowheads="1"/>
          </p:cNvSpPr>
          <p:nvPr/>
        </p:nvSpPr>
        <p:spPr bwMode="auto">
          <a:xfrm>
            <a:off x="5803900" y="40259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5" name="Rectangle 13"/>
          <p:cNvSpPr>
            <a:spLocks noChangeArrowheads="1"/>
          </p:cNvSpPr>
          <p:nvPr/>
        </p:nvSpPr>
        <p:spPr bwMode="auto">
          <a:xfrm>
            <a:off x="5803900" y="5537200"/>
            <a:ext cx="203200" cy="165100"/>
          </a:xfrm>
          <a:prstGeom prst="rect">
            <a:avLst/>
          </a:prstGeom>
          <a:solidFill>
            <a:schemeClr val="accent1"/>
          </a:solidFill>
          <a:ln w="9525">
            <a:noFill/>
            <a:miter lim="800000"/>
            <a:headEnd/>
            <a:tailEnd/>
          </a:ln>
          <a:effectLst/>
        </p:spPr>
        <p:txBody>
          <a:bodyPr wrap="none" anchor="ctr"/>
          <a:lstStyle/>
          <a:p>
            <a:endParaRPr lang="en-US"/>
          </a:p>
        </p:txBody>
      </p:sp>
    </p:spTree>
    <p:extLst>
      <p:ext uri="{BB962C8B-B14F-4D97-AF65-F5344CB8AC3E}">
        <p14:creationId xmlns:p14="http://schemas.microsoft.com/office/powerpoint/2010/main" val="3020739912"/>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descr="24_35-01UNEx10"/>
          <p:cNvPicPr>
            <a:picLocks noChangeAspect="1" noChangeArrowheads="1"/>
          </p:cNvPicPr>
          <p:nvPr/>
        </p:nvPicPr>
        <p:blipFill>
          <a:blip r:embed="rId3"/>
          <a:srcRect/>
          <a:stretch>
            <a:fillRect/>
          </a:stretch>
        </p:blipFill>
        <p:spPr bwMode="auto">
          <a:xfrm>
            <a:off x="0" y="215900"/>
            <a:ext cx="9142413" cy="6642100"/>
          </a:xfrm>
          <a:prstGeom prst="rect">
            <a:avLst/>
          </a:prstGeom>
          <a:noFill/>
          <a:ln w="9525">
            <a:noFill/>
            <a:miter lim="800000"/>
            <a:headEnd/>
            <a:tailEnd/>
          </a:ln>
        </p:spPr>
      </p:pic>
    </p:spTree>
    <p:extLst>
      <p:ext uri="{BB962C8B-B14F-4D97-AF65-F5344CB8AC3E}">
        <p14:creationId xmlns:p14="http://schemas.microsoft.com/office/powerpoint/2010/main" val="365533577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descr="24_36"/>
          <p:cNvPicPr>
            <a:picLocks noChangeAspect="1" noChangeArrowheads="1"/>
          </p:cNvPicPr>
          <p:nvPr/>
        </p:nvPicPr>
        <p:blipFill>
          <a:blip r:embed="rId3"/>
          <a:srcRect/>
          <a:stretch>
            <a:fillRect/>
          </a:stretch>
        </p:blipFill>
        <p:spPr bwMode="auto">
          <a:xfrm>
            <a:off x="1588" y="2301875"/>
            <a:ext cx="9142412" cy="2257425"/>
          </a:xfrm>
          <a:prstGeom prst="rect">
            <a:avLst/>
          </a:prstGeom>
          <a:noFill/>
          <a:ln w="9525">
            <a:noFill/>
            <a:miter lim="800000"/>
            <a:headEnd/>
            <a:tailEnd/>
          </a:ln>
        </p:spPr>
      </p:pic>
      <p:sp>
        <p:nvSpPr>
          <p:cNvPr id="136195" name="Text Box 3"/>
          <p:cNvSpPr txBox="1">
            <a:spLocks noChangeArrowheads="1"/>
          </p:cNvSpPr>
          <p:nvPr/>
        </p:nvSpPr>
        <p:spPr bwMode="auto">
          <a:xfrm>
            <a:off x="474663" y="1671638"/>
            <a:ext cx="2368550" cy="457200"/>
          </a:xfrm>
          <a:prstGeom prst="rect">
            <a:avLst/>
          </a:prstGeom>
          <a:noFill/>
          <a:ln w="9525">
            <a:noFill/>
            <a:miter lim="800000"/>
            <a:headEnd/>
            <a:tailEnd/>
          </a:ln>
          <a:effectLst/>
        </p:spPr>
        <p:txBody>
          <a:bodyPr>
            <a:spAutoFit/>
          </a:bodyPr>
          <a:lstStyle/>
          <a:p>
            <a:pPr>
              <a:spcBef>
                <a:spcPct val="50000"/>
              </a:spcBef>
            </a:pPr>
            <a:r>
              <a:rPr lang="en-US"/>
              <a:t>KMnO</a:t>
            </a:r>
            <a:r>
              <a:rPr lang="en-US" baseline="-25000"/>
              <a:t>4</a:t>
            </a:r>
            <a:endParaRPr lang="en-US"/>
          </a:p>
        </p:txBody>
      </p:sp>
      <p:sp>
        <p:nvSpPr>
          <p:cNvPr id="136196" name="Text Box 4"/>
          <p:cNvSpPr txBox="1">
            <a:spLocks noChangeArrowheads="1"/>
          </p:cNvSpPr>
          <p:nvPr/>
        </p:nvSpPr>
        <p:spPr bwMode="auto">
          <a:xfrm>
            <a:off x="3167063" y="1671638"/>
            <a:ext cx="2368550" cy="457200"/>
          </a:xfrm>
          <a:prstGeom prst="rect">
            <a:avLst/>
          </a:prstGeom>
          <a:noFill/>
          <a:ln w="9525">
            <a:noFill/>
            <a:miter lim="800000"/>
            <a:headEnd/>
            <a:tailEnd/>
          </a:ln>
          <a:effectLst/>
        </p:spPr>
        <p:txBody>
          <a:bodyPr>
            <a:spAutoFit/>
          </a:bodyPr>
          <a:lstStyle/>
          <a:p>
            <a:pPr>
              <a:spcBef>
                <a:spcPct val="50000"/>
              </a:spcBef>
            </a:pPr>
            <a:r>
              <a:rPr lang="en-US"/>
              <a:t>KCrO</a:t>
            </a:r>
            <a:r>
              <a:rPr lang="en-US" baseline="-25000"/>
              <a:t>4</a:t>
            </a:r>
            <a:endParaRPr lang="en-US"/>
          </a:p>
        </p:txBody>
      </p:sp>
      <p:sp>
        <p:nvSpPr>
          <p:cNvPr id="136197" name="Text Box 5"/>
          <p:cNvSpPr txBox="1">
            <a:spLocks noChangeArrowheads="1"/>
          </p:cNvSpPr>
          <p:nvPr/>
        </p:nvSpPr>
        <p:spPr bwMode="auto">
          <a:xfrm>
            <a:off x="6938963" y="1658938"/>
            <a:ext cx="2368550" cy="457200"/>
          </a:xfrm>
          <a:prstGeom prst="rect">
            <a:avLst/>
          </a:prstGeom>
          <a:noFill/>
          <a:ln w="9525">
            <a:noFill/>
            <a:miter lim="800000"/>
            <a:headEnd/>
            <a:tailEnd/>
          </a:ln>
          <a:effectLst/>
        </p:spPr>
        <p:txBody>
          <a:bodyPr>
            <a:spAutoFit/>
          </a:bodyPr>
          <a:lstStyle/>
          <a:p>
            <a:pPr>
              <a:spcBef>
                <a:spcPct val="50000"/>
              </a:spcBef>
            </a:pPr>
            <a:r>
              <a:rPr lang="en-US"/>
              <a:t>KClO</a:t>
            </a:r>
            <a:r>
              <a:rPr lang="en-US" baseline="-25000"/>
              <a:t>4</a:t>
            </a:r>
            <a:endParaRPr lang="en-US"/>
          </a:p>
        </p:txBody>
      </p:sp>
      <p:sp>
        <p:nvSpPr>
          <p:cNvPr id="136198" name="Text Box 6"/>
          <p:cNvSpPr txBox="1">
            <a:spLocks noChangeArrowheads="1"/>
          </p:cNvSpPr>
          <p:nvPr/>
        </p:nvSpPr>
        <p:spPr bwMode="auto">
          <a:xfrm>
            <a:off x="619125" y="420688"/>
            <a:ext cx="6367463" cy="822325"/>
          </a:xfrm>
          <a:prstGeom prst="rect">
            <a:avLst/>
          </a:prstGeom>
          <a:noFill/>
          <a:ln w="9525">
            <a:noFill/>
            <a:miter lim="800000"/>
            <a:headEnd/>
            <a:tailEnd/>
          </a:ln>
          <a:effectLst/>
        </p:spPr>
        <p:txBody>
          <a:bodyPr wrap="none">
            <a:spAutoFit/>
          </a:bodyPr>
          <a:lstStyle/>
          <a:p>
            <a:r>
              <a:rPr lang="en-US"/>
              <a:t>Intense color can come from “charge transfer”</a:t>
            </a:r>
          </a:p>
          <a:p>
            <a:r>
              <a:rPr lang="en-US"/>
              <a:t>Ligand electrons jump to metal orbitals</a:t>
            </a:r>
          </a:p>
        </p:txBody>
      </p:sp>
      <p:sp>
        <p:nvSpPr>
          <p:cNvPr id="136199" name="Text Box 7"/>
          <p:cNvSpPr txBox="1">
            <a:spLocks noChangeArrowheads="1"/>
          </p:cNvSpPr>
          <p:nvPr/>
        </p:nvSpPr>
        <p:spPr bwMode="auto">
          <a:xfrm>
            <a:off x="6435725" y="4573588"/>
            <a:ext cx="2555875" cy="1187450"/>
          </a:xfrm>
          <a:prstGeom prst="rect">
            <a:avLst/>
          </a:prstGeom>
          <a:noFill/>
          <a:ln w="9525">
            <a:noFill/>
            <a:miter lim="800000"/>
            <a:headEnd/>
            <a:tailEnd/>
          </a:ln>
          <a:effectLst/>
        </p:spPr>
        <p:txBody>
          <a:bodyPr wrap="none">
            <a:spAutoFit/>
          </a:bodyPr>
          <a:lstStyle/>
          <a:p>
            <a:r>
              <a:rPr lang="en-US"/>
              <a:t>No d orbitals in</a:t>
            </a:r>
          </a:p>
          <a:p>
            <a:r>
              <a:rPr lang="en-US"/>
              <a:t>Cl, orbitals higher</a:t>
            </a:r>
          </a:p>
          <a:p>
            <a:r>
              <a:rPr lang="en-US"/>
              <a:t>In energy</a:t>
            </a:r>
          </a:p>
        </p:txBody>
      </p:sp>
    </p:spTree>
    <p:extLst>
      <p:ext uri="{BB962C8B-B14F-4D97-AF65-F5344CB8AC3E}">
        <p14:creationId xmlns:p14="http://schemas.microsoft.com/office/powerpoint/2010/main" val="103937419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2" descr="24_37"/>
          <p:cNvPicPr>
            <a:picLocks noChangeAspect="1" noChangeArrowheads="1"/>
          </p:cNvPicPr>
          <p:nvPr/>
        </p:nvPicPr>
        <p:blipFill>
          <a:blip r:embed="rId3"/>
          <a:srcRect/>
          <a:stretch>
            <a:fillRect/>
          </a:stretch>
        </p:blipFill>
        <p:spPr bwMode="auto">
          <a:xfrm>
            <a:off x="1471613" y="1588"/>
            <a:ext cx="6200775" cy="6858000"/>
          </a:xfrm>
          <a:prstGeom prst="rect">
            <a:avLst/>
          </a:prstGeom>
          <a:noFill/>
          <a:ln w="9525">
            <a:noFill/>
            <a:miter lim="800000"/>
            <a:headEnd/>
            <a:tailEnd/>
          </a:ln>
        </p:spPr>
      </p:pic>
    </p:spTree>
    <p:extLst>
      <p:ext uri="{BB962C8B-B14F-4D97-AF65-F5344CB8AC3E}">
        <p14:creationId xmlns:p14="http://schemas.microsoft.com/office/powerpoint/2010/main" val="365803734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1089025" y="280988"/>
            <a:ext cx="6808788" cy="2282825"/>
          </a:xfrm>
          <a:prstGeom prst="rect">
            <a:avLst/>
          </a:prstGeom>
          <a:noFill/>
          <a:ln w="9525">
            <a:noFill/>
            <a:miter lim="800000"/>
            <a:headEnd/>
            <a:tailEnd/>
          </a:ln>
          <a:effectLst/>
        </p:spPr>
        <p:txBody>
          <a:bodyPr>
            <a:spAutoFit/>
          </a:bodyPr>
          <a:lstStyle/>
          <a:p>
            <a:r>
              <a:rPr lang="en-US"/>
              <a:t>Exam 4, MO theory and coordination compounds</a:t>
            </a:r>
          </a:p>
          <a:p>
            <a:r>
              <a:rPr lang="en-US"/>
              <a:t>Chapter 9, end and Chapter 24.</a:t>
            </a:r>
          </a:p>
          <a:p>
            <a:endParaRPr lang="en-US"/>
          </a:p>
          <a:p>
            <a:r>
              <a:rPr lang="en-US"/>
              <a:t>MO theory:  Rules:</a:t>
            </a:r>
          </a:p>
          <a:p>
            <a:endParaRPr lang="en-US"/>
          </a:p>
          <a:p>
            <a:endParaRPr lang="en-US"/>
          </a:p>
        </p:txBody>
      </p:sp>
      <p:sp>
        <p:nvSpPr>
          <p:cNvPr id="171012" name="Rectangle 4"/>
          <p:cNvSpPr>
            <a:spLocks noChangeArrowheads="1"/>
          </p:cNvSpPr>
          <p:nvPr/>
        </p:nvSpPr>
        <p:spPr bwMode="auto">
          <a:xfrm>
            <a:off x="571500" y="2171700"/>
            <a:ext cx="8026400" cy="4965700"/>
          </a:xfrm>
          <a:prstGeom prst="rect">
            <a:avLst/>
          </a:prstGeom>
          <a:noFill/>
          <a:ln w="9525">
            <a:noFill/>
            <a:miter lim="800000"/>
            <a:headEnd/>
            <a:tailEnd/>
          </a:ln>
          <a:effectLst/>
        </p:spPr>
        <p:txBody>
          <a:bodyPr/>
          <a:lstStyle/>
          <a:p>
            <a:pPr marL="342900" indent="-342900" eaLnBrk="1" hangingPunct="1">
              <a:spcBef>
                <a:spcPct val="20000"/>
              </a:spcBef>
              <a:buFontTx/>
              <a:buChar char="•"/>
            </a:pPr>
            <a:r>
              <a:rPr lang="en-US" sz="2000">
                <a:solidFill>
                  <a:srgbClr val="C82E32"/>
                </a:solidFill>
              </a:rPr>
              <a:t>1.  The number of MO’s equals the # of Atomic orbitals</a:t>
            </a:r>
          </a:p>
          <a:p>
            <a:pPr marL="342900" indent="-342900" eaLnBrk="1" hangingPunct="1">
              <a:spcBef>
                <a:spcPct val="20000"/>
              </a:spcBef>
              <a:buFontTx/>
              <a:buChar char="•"/>
            </a:pPr>
            <a:r>
              <a:rPr lang="en-US" sz="2000">
                <a:solidFill>
                  <a:srgbClr val="C82E32"/>
                </a:solidFill>
              </a:rPr>
              <a:t>2.  The overlap of two atomic orbitals gives two molecular orbitals, 1 bonding, one antibonding</a:t>
            </a:r>
          </a:p>
          <a:p>
            <a:pPr marL="342900" indent="-342900" eaLnBrk="1" hangingPunct="1">
              <a:spcBef>
                <a:spcPct val="20000"/>
              </a:spcBef>
              <a:buFontTx/>
              <a:buChar char="•"/>
            </a:pPr>
            <a:r>
              <a:rPr lang="en-US" sz="2000">
                <a:solidFill>
                  <a:srgbClr val="C82E32"/>
                </a:solidFill>
              </a:rPr>
              <a:t>3.  Atomic orbitals combine with other atomic orbitals of </a:t>
            </a:r>
            <a:r>
              <a:rPr lang="en-US" sz="2000" i="1">
                <a:solidFill>
                  <a:srgbClr val="C82E32"/>
                </a:solidFill>
              </a:rPr>
              <a:t>similar energy.</a:t>
            </a:r>
            <a:endParaRPr lang="en-US" sz="2000">
              <a:solidFill>
                <a:srgbClr val="C82E32"/>
              </a:solidFill>
            </a:endParaRPr>
          </a:p>
          <a:p>
            <a:pPr marL="342900" indent="-342900" eaLnBrk="1" hangingPunct="1">
              <a:spcBef>
                <a:spcPct val="20000"/>
              </a:spcBef>
              <a:buFontTx/>
              <a:buChar char="•"/>
            </a:pPr>
            <a:r>
              <a:rPr lang="en-US" sz="2000">
                <a:solidFill>
                  <a:srgbClr val="C82E32"/>
                </a:solidFill>
              </a:rPr>
              <a:t>4.  Degree of overlap matters.  More overlap means bonding orbital goes </a:t>
            </a:r>
            <a:r>
              <a:rPr lang="en-US" sz="2000" i="1">
                <a:solidFill>
                  <a:srgbClr val="C82E32"/>
                </a:solidFill>
              </a:rPr>
              <a:t>lower </a:t>
            </a:r>
            <a:r>
              <a:rPr lang="en-US" sz="2000">
                <a:solidFill>
                  <a:srgbClr val="C82E32"/>
                </a:solidFill>
              </a:rPr>
              <a:t>in E, antibonding orbital goes </a:t>
            </a:r>
            <a:r>
              <a:rPr lang="en-US" sz="2000" i="1">
                <a:solidFill>
                  <a:srgbClr val="C82E32"/>
                </a:solidFill>
              </a:rPr>
              <a:t>higher</a:t>
            </a:r>
            <a:r>
              <a:rPr lang="en-US" sz="2000">
                <a:solidFill>
                  <a:srgbClr val="C82E32"/>
                </a:solidFill>
              </a:rPr>
              <a:t> in E.</a:t>
            </a:r>
          </a:p>
          <a:p>
            <a:pPr marL="342900" indent="-342900" eaLnBrk="1" hangingPunct="1">
              <a:spcBef>
                <a:spcPct val="20000"/>
              </a:spcBef>
              <a:buFontTx/>
              <a:buChar char="•"/>
            </a:pPr>
            <a:r>
              <a:rPr lang="en-US" sz="2000">
                <a:solidFill>
                  <a:srgbClr val="C82E32"/>
                </a:solidFill>
              </a:rPr>
              <a:t>5.  Each MO gets two electrons</a:t>
            </a:r>
          </a:p>
          <a:p>
            <a:pPr marL="342900" indent="-342900" eaLnBrk="1" hangingPunct="1">
              <a:spcBef>
                <a:spcPct val="20000"/>
              </a:spcBef>
              <a:buFontTx/>
              <a:buChar char="•"/>
            </a:pPr>
            <a:r>
              <a:rPr lang="en-US" sz="2000">
                <a:solidFill>
                  <a:srgbClr val="C82E32"/>
                </a:solidFill>
              </a:rPr>
              <a:t>6.  Orbitals of the </a:t>
            </a:r>
            <a:r>
              <a:rPr lang="en-US" sz="2000" i="1">
                <a:solidFill>
                  <a:srgbClr val="C82E32"/>
                </a:solidFill>
              </a:rPr>
              <a:t>same energy</a:t>
            </a:r>
            <a:r>
              <a:rPr lang="en-US" sz="2000">
                <a:solidFill>
                  <a:srgbClr val="C82E32"/>
                </a:solidFill>
              </a:rPr>
              <a:t> get filled 1 electron at a time until they are filled.  </a:t>
            </a:r>
          </a:p>
        </p:txBody>
      </p:sp>
    </p:spTree>
    <p:extLst>
      <p:ext uri="{BB962C8B-B14F-4D97-AF65-F5344CB8AC3E}">
        <p14:creationId xmlns:p14="http://schemas.microsoft.com/office/powerpoint/2010/main" val="3354401868"/>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4" name="Picture 2" descr="09_38"/>
          <p:cNvPicPr>
            <a:picLocks noChangeAspect="1" noChangeArrowheads="1"/>
          </p:cNvPicPr>
          <p:nvPr/>
        </p:nvPicPr>
        <p:blipFill>
          <a:blip r:embed="rId2" cstate="print"/>
          <a:srcRect b="3720"/>
          <a:stretch>
            <a:fillRect/>
          </a:stretch>
        </p:blipFill>
        <p:spPr bwMode="auto">
          <a:xfrm>
            <a:off x="228600" y="1600200"/>
            <a:ext cx="4076700" cy="4576763"/>
          </a:xfrm>
          <a:prstGeom prst="rect">
            <a:avLst/>
          </a:prstGeom>
          <a:noFill/>
          <a:ln w="9525">
            <a:noFill/>
            <a:miter lim="800000"/>
            <a:headEnd/>
            <a:tailEnd/>
          </a:ln>
          <a:effectLst/>
        </p:spPr>
      </p:pic>
      <p:sp>
        <p:nvSpPr>
          <p:cNvPr id="172035" name="Text Box 3"/>
          <p:cNvSpPr txBox="1">
            <a:spLocks noChangeArrowheads="1"/>
          </p:cNvSpPr>
          <p:nvPr/>
        </p:nvSpPr>
        <p:spPr bwMode="auto">
          <a:xfrm>
            <a:off x="3225800" y="431800"/>
            <a:ext cx="5187950" cy="822325"/>
          </a:xfrm>
          <a:prstGeom prst="rect">
            <a:avLst/>
          </a:prstGeom>
          <a:noFill/>
          <a:ln w="9525">
            <a:noFill/>
            <a:miter lim="800000"/>
            <a:headEnd/>
            <a:tailEnd/>
          </a:ln>
          <a:effectLst/>
        </p:spPr>
        <p:txBody>
          <a:bodyPr>
            <a:spAutoFit/>
          </a:bodyPr>
          <a:lstStyle/>
          <a:p>
            <a:pPr>
              <a:spcBef>
                <a:spcPct val="50000"/>
              </a:spcBef>
            </a:pPr>
            <a:r>
              <a:rPr lang="en-US"/>
              <a:t>Difference between pi and sigma orbitals</a:t>
            </a:r>
          </a:p>
        </p:txBody>
      </p:sp>
      <p:sp>
        <p:nvSpPr>
          <p:cNvPr id="172036" name="Text Box 4"/>
          <p:cNvSpPr txBox="1">
            <a:spLocks noChangeArrowheads="1"/>
          </p:cNvSpPr>
          <p:nvPr/>
        </p:nvSpPr>
        <p:spPr bwMode="auto">
          <a:xfrm>
            <a:off x="5089525" y="1766888"/>
            <a:ext cx="1150938" cy="457200"/>
          </a:xfrm>
          <a:prstGeom prst="rect">
            <a:avLst/>
          </a:prstGeom>
          <a:noFill/>
          <a:ln w="9525">
            <a:noFill/>
            <a:miter lim="800000"/>
            <a:headEnd/>
            <a:tailEnd/>
          </a:ln>
          <a:effectLst/>
        </p:spPr>
        <p:txBody>
          <a:bodyPr wrap="none">
            <a:spAutoFit/>
          </a:bodyPr>
          <a:lstStyle/>
          <a:p>
            <a:r>
              <a:rPr lang="en-US"/>
              <a:t>End on</a:t>
            </a:r>
          </a:p>
        </p:txBody>
      </p:sp>
      <p:sp>
        <p:nvSpPr>
          <p:cNvPr id="172037" name="Text Box 5"/>
          <p:cNvSpPr txBox="1">
            <a:spLocks noChangeArrowheads="1"/>
          </p:cNvSpPr>
          <p:nvPr/>
        </p:nvSpPr>
        <p:spPr bwMode="auto">
          <a:xfrm>
            <a:off x="4873625" y="3392488"/>
            <a:ext cx="1862138" cy="457200"/>
          </a:xfrm>
          <a:prstGeom prst="rect">
            <a:avLst/>
          </a:prstGeom>
          <a:noFill/>
          <a:ln w="9525">
            <a:noFill/>
            <a:miter lim="800000"/>
            <a:headEnd/>
            <a:tailEnd/>
          </a:ln>
          <a:effectLst/>
        </p:spPr>
        <p:txBody>
          <a:bodyPr wrap="none">
            <a:spAutoFit/>
          </a:bodyPr>
          <a:lstStyle/>
          <a:p>
            <a:r>
              <a:rPr lang="en-US"/>
              <a:t>Side to side.</a:t>
            </a:r>
          </a:p>
        </p:txBody>
      </p:sp>
    </p:spTree>
    <p:extLst>
      <p:ext uri="{BB962C8B-B14F-4D97-AF65-F5344CB8AC3E}">
        <p14:creationId xmlns:p14="http://schemas.microsoft.com/office/powerpoint/2010/main" val="2786839535"/>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8" name="Picture 2" descr="09_42"/>
          <p:cNvPicPr>
            <a:picLocks noChangeAspect="1" noChangeArrowheads="1"/>
          </p:cNvPicPr>
          <p:nvPr/>
        </p:nvPicPr>
        <p:blipFill>
          <a:blip r:embed="rId2" cstate="print"/>
          <a:srcRect b="3481"/>
          <a:stretch>
            <a:fillRect/>
          </a:stretch>
        </p:blipFill>
        <p:spPr bwMode="auto">
          <a:xfrm>
            <a:off x="1570038" y="2070100"/>
            <a:ext cx="5224462" cy="4552950"/>
          </a:xfrm>
          <a:prstGeom prst="rect">
            <a:avLst/>
          </a:prstGeom>
          <a:noFill/>
          <a:ln w="9525">
            <a:noFill/>
            <a:miter lim="800000"/>
            <a:headEnd/>
            <a:tailEnd/>
          </a:ln>
          <a:effectLst/>
        </p:spPr>
      </p:pic>
      <p:sp>
        <p:nvSpPr>
          <p:cNvPr id="173059" name="Text Box 3"/>
          <p:cNvSpPr txBox="1">
            <a:spLocks noChangeArrowheads="1"/>
          </p:cNvSpPr>
          <p:nvPr/>
        </p:nvSpPr>
        <p:spPr bwMode="auto">
          <a:xfrm>
            <a:off x="1490663" y="871538"/>
            <a:ext cx="6965950" cy="822325"/>
          </a:xfrm>
          <a:prstGeom prst="rect">
            <a:avLst/>
          </a:prstGeom>
          <a:noFill/>
          <a:ln w="9525">
            <a:noFill/>
            <a:miter lim="800000"/>
            <a:headEnd/>
            <a:tailEnd/>
          </a:ln>
          <a:effectLst/>
        </p:spPr>
        <p:txBody>
          <a:bodyPr>
            <a:spAutoFit/>
          </a:bodyPr>
          <a:lstStyle/>
          <a:p>
            <a:pPr>
              <a:spcBef>
                <a:spcPct val="50000"/>
              </a:spcBef>
            </a:pPr>
            <a:r>
              <a:rPr lang="en-US"/>
              <a:t>A  typical MO diagram, like the one below. For 2p and 2s atomic orbital mixing.</a:t>
            </a:r>
          </a:p>
        </p:txBody>
      </p:sp>
    </p:spTree>
    <p:extLst>
      <p:ext uri="{BB962C8B-B14F-4D97-AF65-F5344CB8AC3E}">
        <p14:creationId xmlns:p14="http://schemas.microsoft.com/office/powerpoint/2010/main" val="2159686858"/>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3" name="Picture 3" descr="09_47"/>
          <p:cNvPicPr>
            <a:picLocks noChangeAspect="1" noChangeArrowheads="1"/>
          </p:cNvPicPr>
          <p:nvPr/>
        </p:nvPicPr>
        <p:blipFill>
          <a:blip r:embed="rId2"/>
          <a:srcRect/>
          <a:stretch>
            <a:fillRect/>
          </a:stretch>
        </p:blipFill>
        <p:spPr bwMode="auto">
          <a:xfrm>
            <a:off x="0" y="1616075"/>
            <a:ext cx="9142413" cy="4692650"/>
          </a:xfrm>
          <a:prstGeom prst="rect">
            <a:avLst/>
          </a:prstGeom>
          <a:noFill/>
          <a:ln w="9525">
            <a:noFill/>
            <a:miter lim="800000"/>
            <a:headEnd/>
            <a:tailEnd/>
          </a:ln>
        </p:spPr>
      </p:pic>
      <p:sp>
        <p:nvSpPr>
          <p:cNvPr id="174084" name="Text Box 4"/>
          <p:cNvSpPr txBox="1">
            <a:spLocks noChangeArrowheads="1"/>
          </p:cNvSpPr>
          <p:nvPr/>
        </p:nvSpPr>
        <p:spPr bwMode="auto">
          <a:xfrm>
            <a:off x="1635125" y="255588"/>
            <a:ext cx="6746875" cy="579437"/>
          </a:xfrm>
          <a:prstGeom prst="rect">
            <a:avLst/>
          </a:prstGeom>
          <a:noFill/>
          <a:ln w="9525">
            <a:noFill/>
            <a:miter lim="800000"/>
            <a:headEnd/>
            <a:tailEnd/>
          </a:ln>
          <a:effectLst/>
        </p:spPr>
        <p:txBody>
          <a:bodyPr wrap="none">
            <a:spAutoFit/>
          </a:bodyPr>
          <a:lstStyle/>
          <a:p>
            <a:r>
              <a:rPr lang="en-US" sz="3200" b="1">
                <a:solidFill>
                  <a:srgbClr val="FF8000"/>
                </a:solidFill>
              </a:rPr>
              <a:t>Oxygen O</a:t>
            </a:r>
            <a:r>
              <a:rPr lang="en-US" sz="3200" b="1" baseline="-25000">
                <a:solidFill>
                  <a:srgbClr val="FF8000"/>
                </a:solidFill>
              </a:rPr>
              <a:t>2</a:t>
            </a:r>
            <a:r>
              <a:rPr lang="en-US" sz="3200" b="1">
                <a:solidFill>
                  <a:srgbClr val="FF8000"/>
                </a:solidFill>
              </a:rPr>
              <a:t> is Paramagnetic, why?</a:t>
            </a:r>
          </a:p>
        </p:txBody>
      </p:sp>
    </p:spTree>
    <p:extLst>
      <p:ext uri="{BB962C8B-B14F-4D97-AF65-F5344CB8AC3E}">
        <p14:creationId xmlns:p14="http://schemas.microsoft.com/office/powerpoint/2010/main" val="462421968"/>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descr="09_45"/>
          <p:cNvPicPr>
            <a:picLocks noChangeAspect="1" noChangeArrowheads="1"/>
          </p:cNvPicPr>
          <p:nvPr/>
        </p:nvPicPr>
        <p:blipFill>
          <a:blip r:embed="rId2"/>
          <a:srcRect b="6123"/>
          <a:stretch>
            <a:fillRect/>
          </a:stretch>
        </p:blipFill>
        <p:spPr bwMode="auto">
          <a:xfrm>
            <a:off x="0" y="1584325"/>
            <a:ext cx="8528050" cy="4117975"/>
          </a:xfrm>
          <a:prstGeom prst="rect">
            <a:avLst/>
          </a:prstGeom>
          <a:noFill/>
          <a:ln w="9525">
            <a:noFill/>
            <a:miter lim="800000"/>
            <a:headEnd/>
            <a:tailEnd/>
          </a:ln>
          <a:effectLst/>
        </p:spPr>
      </p:pic>
      <p:sp>
        <p:nvSpPr>
          <p:cNvPr id="175107" name="Text Box 3"/>
          <p:cNvSpPr txBox="1">
            <a:spLocks noChangeArrowheads="1"/>
          </p:cNvSpPr>
          <p:nvPr/>
        </p:nvSpPr>
        <p:spPr bwMode="auto">
          <a:xfrm>
            <a:off x="2278063" y="736600"/>
            <a:ext cx="5873750" cy="457200"/>
          </a:xfrm>
          <a:prstGeom prst="rect">
            <a:avLst/>
          </a:prstGeom>
          <a:noFill/>
          <a:ln w="9525">
            <a:noFill/>
            <a:miter lim="800000"/>
            <a:headEnd/>
            <a:tailEnd/>
          </a:ln>
          <a:effectLst/>
        </p:spPr>
        <p:txBody>
          <a:bodyPr>
            <a:spAutoFit/>
          </a:bodyPr>
          <a:lstStyle/>
          <a:p>
            <a:pPr>
              <a:spcBef>
                <a:spcPct val="50000"/>
              </a:spcBef>
            </a:pPr>
            <a:r>
              <a:rPr lang="en-US"/>
              <a:t>Show me why.</a:t>
            </a:r>
          </a:p>
        </p:txBody>
      </p:sp>
    </p:spTree>
    <p:extLst>
      <p:ext uri="{BB962C8B-B14F-4D97-AF65-F5344CB8AC3E}">
        <p14:creationId xmlns:p14="http://schemas.microsoft.com/office/powerpoint/2010/main" val="166764064"/>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ext Box 2"/>
          <p:cNvSpPr txBox="1">
            <a:spLocks noChangeArrowheads="1"/>
          </p:cNvSpPr>
          <p:nvPr/>
        </p:nvSpPr>
        <p:spPr bwMode="auto">
          <a:xfrm>
            <a:off x="2651125" y="320675"/>
            <a:ext cx="3933825" cy="579438"/>
          </a:xfrm>
          <a:prstGeom prst="rect">
            <a:avLst/>
          </a:prstGeom>
          <a:noFill/>
          <a:ln w="9525">
            <a:noFill/>
            <a:miter lim="800000"/>
            <a:headEnd/>
            <a:tailEnd/>
          </a:ln>
          <a:effectLst/>
        </p:spPr>
        <p:txBody>
          <a:bodyPr wrap="none">
            <a:spAutoFit/>
          </a:bodyPr>
          <a:lstStyle/>
          <a:p>
            <a:r>
              <a:rPr lang="en-US" sz="3200" b="1"/>
              <a:t>Exam 4 Chapter 24.</a:t>
            </a:r>
          </a:p>
        </p:txBody>
      </p:sp>
      <p:sp>
        <p:nvSpPr>
          <p:cNvPr id="154627" name="Text Box 3"/>
          <p:cNvSpPr txBox="1">
            <a:spLocks noChangeArrowheads="1"/>
          </p:cNvSpPr>
          <p:nvPr/>
        </p:nvSpPr>
        <p:spPr bwMode="auto">
          <a:xfrm>
            <a:off x="1419225" y="1157288"/>
            <a:ext cx="6249988" cy="4473575"/>
          </a:xfrm>
          <a:prstGeom prst="rect">
            <a:avLst/>
          </a:prstGeom>
          <a:noFill/>
          <a:ln w="9525">
            <a:noFill/>
            <a:miter lim="800000"/>
            <a:headEnd/>
            <a:tailEnd/>
          </a:ln>
          <a:effectLst/>
        </p:spPr>
        <p:txBody>
          <a:bodyPr wrap="none">
            <a:spAutoFit/>
          </a:bodyPr>
          <a:lstStyle/>
          <a:p>
            <a:pPr marL="457200" indent="-457200"/>
            <a:r>
              <a:rPr lang="en-US"/>
              <a:t>Concentrate on the homeworks and the quiz!</a:t>
            </a:r>
          </a:p>
          <a:p>
            <a:pPr marL="457200" indent="-457200"/>
            <a:r>
              <a:rPr lang="en-US"/>
              <a:t>Terms:</a:t>
            </a:r>
          </a:p>
          <a:p>
            <a:pPr marL="914400" lvl="1" indent="-457200">
              <a:buFont typeface="Arial" charset="0"/>
              <a:buAutoNum type="arabicPeriod"/>
            </a:pPr>
            <a:r>
              <a:rPr lang="en-US"/>
              <a:t>Coordination sphere</a:t>
            </a:r>
          </a:p>
          <a:p>
            <a:pPr marL="914400" lvl="1" indent="-457200">
              <a:buFont typeface="Arial" charset="0"/>
              <a:buAutoNum type="arabicPeriod"/>
            </a:pPr>
            <a:r>
              <a:rPr lang="en-US"/>
              <a:t>Ligand</a:t>
            </a:r>
          </a:p>
          <a:p>
            <a:pPr marL="914400" lvl="1" indent="-457200">
              <a:buFont typeface="Arial" charset="0"/>
              <a:buAutoNum type="arabicPeriod"/>
            </a:pPr>
            <a:r>
              <a:rPr lang="en-US"/>
              <a:t>Coordination compound</a:t>
            </a:r>
          </a:p>
          <a:p>
            <a:pPr marL="914400" lvl="1" indent="-457200">
              <a:buFont typeface="Arial" charset="0"/>
              <a:buAutoNum type="arabicPeriod"/>
            </a:pPr>
            <a:r>
              <a:rPr lang="en-US"/>
              <a:t>Metal complex</a:t>
            </a:r>
          </a:p>
          <a:p>
            <a:pPr marL="914400" lvl="1" indent="-457200">
              <a:buFont typeface="Arial" charset="0"/>
              <a:buAutoNum type="arabicPeriod"/>
            </a:pPr>
            <a:r>
              <a:rPr lang="en-US"/>
              <a:t>Complex ion</a:t>
            </a:r>
          </a:p>
          <a:p>
            <a:pPr marL="914400" lvl="1" indent="-457200">
              <a:buFont typeface="Arial" charset="0"/>
              <a:buAutoNum type="arabicPeriod"/>
            </a:pPr>
            <a:r>
              <a:rPr lang="en-US"/>
              <a:t>Coordination</a:t>
            </a:r>
          </a:p>
          <a:p>
            <a:pPr marL="914400" lvl="1" indent="-457200">
              <a:buFont typeface="Arial" charset="0"/>
              <a:buAutoNum type="arabicPeriod"/>
            </a:pPr>
            <a:r>
              <a:rPr lang="en-US"/>
              <a:t>Coordination number</a:t>
            </a:r>
          </a:p>
          <a:p>
            <a:pPr marL="457200" indent="-457200">
              <a:buFont typeface="Arial" charset="0"/>
              <a:buNone/>
            </a:pPr>
            <a:r>
              <a:rPr lang="en-US"/>
              <a:t>Same ligands different properties?</a:t>
            </a:r>
          </a:p>
          <a:p>
            <a:pPr marL="457200" indent="-457200">
              <a:buFont typeface="Arial" charset="0"/>
              <a:buNone/>
            </a:pPr>
            <a:r>
              <a:rPr lang="en-US"/>
              <a:t>Figuring oxidation number on metal</a:t>
            </a:r>
          </a:p>
          <a:p>
            <a:pPr marL="457200" indent="-457200">
              <a:buFont typeface="Arial" charset="0"/>
              <a:buAutoNum type="arabicPeriod"/>
            </a:pPr>
            <a:endParaRPr lang="en-US"/>
          </a:p>
        </p:txBody>
      </p:sp>
    </p:spTree>
    <p:extLst>
      <p:ext uri="{BB962C8B-B14F-4D97-AF65-F5344CB8AC3E}">
        <p14:creationId xmlns:p14="http://schemas.microsoft.com/office/powerpoint/2010/main" val="2422377989"/>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627063" y="698500"/>
            <a:ext cx="7880350" cy="4108450"/>
          </a:xfrm>
          <a:prstGeom prst="rect">
            <a:avLst/>
          </a:prstGeom>
          <a:noFill/>
          <a:ln w="9525">
            <a:noFill/>
            <a:miter lim="800000"/>
            <a:headEnd/>
            <a:tailEnd/>
          </a:ln>
          <a:effectLst/>
        </p:spPr>
        <p:txBody>
          <a:bodyPr>
            <a:spAutoFit/>
          </a:bodyPr>
          <a:lstStyle/>
          <a:p>
            <a:pPr>
              <a:spcBef>
                <a:spcPct val="50000"/>
              </a:spcBef>
            </a:pPr>
            <a:r>
              <a:rPr lang="en-US"/>
              <a:t>Polydentate ligands (what are they)?</a:t>
            </a:r>
          </a:p>
          <a:p>
            <a:pPr>
              <a:spcBef>
                <a:spcPct val="50000"/>
              </a:spcBef>
            </a:pPr>
            <a:endParaRPr lang="en-US"/>
          </a:p>
          <a:p>
            <a:pPr>
              <a:spcBef>
                <a:spcPct val="50000"/>
              </a:spcBef>
            </a:pPr>
            <a:r>
              <a:rPr lang="en-US"/>
              <a:t>Isomers.</a:t>
            </a:r>
          </a:p>
          <a:p>
            <a:pPr>
              <a:spcBef>
                <a:spcPct val="50000"/>
              </a:spcBef>
            </a:pPr>
            <a:r>
              <a:rPr lang="en-US"/>
              <a:t>	structural isomers (formula same, bonds differ)</a:t>
            </a:r>
          </a:p>
          <a:p>
            <a:pPr>
              <a:spcBef>
                <a:spcPct val="50000"/>
              </a:spcBef>
            </a:pPr>
            <a:r>
              <a:rPr lang="en-US"/>
              <a:t>	geometric isomers (formula AND bonds same, 		structure differs)</a:t>
            </a:r>
          </a:p>
          <a:p>
            <a:pPr>
              <a:spcBef>
                <a:spcPct val="50000"/>
              </a:spcBef>
            </a:pPr>
            <a:r>
              <a:rPr lang="en-US"/>
              <a:t>		Stereoisomers:</a:t>
            </a:r>
          </a:p>
          <a:p>
            <a:pPr>
              <a:spcBef>
                <a:spcPct val="50000"/>
              </a:spcBef>
            </a:pPr>
            <a:r>
              <a:rPr lang="en-US"/>
              <a:t>			Chirality, handedness, </a:t>
            </a:r>
          </a:p>
        </p:txBody>
      </p:sp>
    </p:spTree>
    <p:extLst>
      <p:ext uri="{BB962C8B-B14F-4D97-AF65-F5344CB8AC3E}">
        <p14:creationId xmlns:p14="http://schemas.microsoft.com/office/powerpoint/2010/main" val="2405510877"/>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3" name="Picture 3" descr="24_18"/>
          <p:cNvPicPr>
            <a:picLocks noChangeAspect="1" noChangeArrowheads="1"/>
          </p:cNvPicPr>
          <p:nvPr/>
        </p:nvPicPr>
        <p:blipFill>
          <a:blip r:embed="rId2"/>
          <a:srcRect t="34096" b="4211"/>
          <a:stretch>
            <a:fillRect/>
          </a:stretch>
        </p:blipFill>
        <p:spPr bwMode="auto">
          <a:xfrm>
            <a:off x="0" y="3119438"/>
            <a:ext cx="5078413" cy="3286125"/>
          </a:xfrm>
          <a:prstGeom prst="rect">
            <a:avLst/>
          </a:prstGeom>
          <a:noFill/>
          <a:ln w="9525">
            <a:noFill/>
            <a:miter lim="800000"/>
            <a:headEnd/>
            <a:tailEnd/>
          </a:ln>
        </p:spPr>
      </p:pic>
      <p:pic>
        <p:nvPicPr>
          <p:cNvPr id="163842" name="Picture 2" descr="24_17"/>
          <p:cNvPicPr>
            <a:picLocks noChangeAspect="1" noChangeArrowheads="1"/>
          </p:cNvPicPr>
          <p:nvPr/>
        </p:nvPicPr>
        <p:blipFill>
          <a:blip r:embed="rId3" cstate="print"/>
          <a:srcRect b="5388"/>
          <a:stretch>
            <a:fillRect/>
          </a:stretch>
        </p:blipFill>
        <p:spPr bwMode="auto">
          <a:xfrm>
            <a:off x="1138238" y="203200"/>
            <a:ext cx="6546850" cy="3248025"/>
          </a:xfrm>
          <a:prstGeom prst="rect">
            <a:avLst/>
          </a:prstGeom>
          <a:noFill/>
          <a:ln w="9525">
            <a:noFill/>
            <a:miter lim="800000"/>
            <a:headEnd/>
            <a:tailEnd/>
          </a:ln>
        </p:spPr>
      </p:pic>
      <p:pic>
        <p:nvPicPr>
          <p:cNvPr id="163844" name="Picture 4" descr="24_19"/>
          <p:cNvPicPr>
            <a:picLocks noChangeAspect="1" noChangeArrowheads="1"/>
          </p:cNvPicPr>
          <p:nvPr/>
        </p:nvPicPr>
        <p:blipFill>
          <a:blip r:embed="rId4" cstate="print"/>
          <a:srcRect b="14694"/>
          <a:stretch>
            <a:fillRect/>
          </a:stretch>
        </p:blipFill>
        <p:spPr bwMode="auto">
          <a:xfrm>
            <a:off x="5197475" y="3860800"/>
            <a:ext cx="3946525" cy="1717675"/>
          </a:xfrm>
          <a:prstGeom prst="rect">
            <a:avLst/>
          </a:prstGeom>
          <a:noFill/>
          <a:ln w="9525">
            <a:noFill/>
            <a:miter lim="800000"/>
            <a:headEnd/>
            <a:tailEnd/>
          </a:ln>
        </p:spPr>
      </p:pic>
    </p:spTree>
    <p:extLst>
      <p:ext uri="{BB962C8B-B14F-4D97-AF65-F5344CB8AC3E}">
        <p14:creationId xmlns:p14="http://schemas.microsoft.com/office/powerpoint/2010/main" val="651367108"/>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6" name="Picture 2" descr="24_20"/>
          <p:cNvPicPr>
            <a:picLocks noChangeAspect="1" noChangeArrowheads="1"/>
          </p:cNvPicPr>
          <p:nvPr/>
        </p:nvPicPr>
        <p:blipFill>
          <a:blip r:embed="rId2"/>
          <a:srcRect b="11597"/>
          <a:stretch>
            <a:fillRect/>
          </a:stretch>
        </p:blipFill>
        <p:spPr bwMode="auto">
          <a:xfrm>
            <a:off x="908050" y="1120775"/>
            <a:ext cx="7058025" cy="2905125"/>
          </a:xfrm>
          <a:prstGeom prst="rect">
            <a:avLst/>
          </a:prstGeom>
          <a:noFill/>
          <a:ln w="9525">
            <a:noFill/>
            <a:miter lim="800000"/>
            <a:headEnd/>
            <a:tailEnd/>
          </a:ln>
        </p:spPr>
      </p:pic>
      <p:sp>
        <p:nvSpPr>
          <p:cNvPr id="164867" name="Text Box 3"/>
          <p:cNvSpPr txBox="1">
            <a:spLocks noChangeArrowheads="1"/>
          </p:cNvSpPr>
          <p:nvPr/>
        </p:nvSpPr>
        <p:spPr bwMode="auto">
          <a:xfrm>
            <a:off x="3705225" y="319088"/>
            <a:ext cx="2149475" cy="457200"/>
          </a:xfrm>
          <a:prstGeom prst="rect">
            <a:avLst/>
          </a:prstGeom>
          <a:noFill/>
          <a:ln w="9525">
            <a:noFill/>
            <a:miter lim="800000"/>
            <a:headEnd/>
            <a:tailEnd/>
          </a:ln>
          <a:effectLst/>
        </p:spPr>
        <p:txBody>
          <a:bodyPr wrap="none">
            <a:spAutoFit/>
          </a:bodyPr>
          <a:lstStyle/>
          <a:p>
            <a:r>
              <a:rPr lang="en-US"/>
              <a:t>Stereoisomers</a:t>
            </a:r>
          </a:p>
        </p:txBody>
      </p:sp>
      <p:pic>
        <p:nvPicPr>
          <p:cNvPr id="164868" name="Picture 4" descr="24_20-02UNEx6"/>
          <p:cNvPicPr>
            <a:picLocks noChangeAspect="1" noChangeArrowheads="1"/>
          </p:cNvPicPr>
          <p:nvPr/>
        </p:nvPicPr>
        <p:blipFill>
          <a:blip r:embed="rId3" cstate="print"/>
          <a:srcRect/>
          <a:stretch>
            <a:fillRect/>
          </a:stretch>
        </p:blipFill>
        <p:spPr bwMode="auto">
          <a:xfrm>
            <a:off x="1931988" y="4346575"/>
            <a:ext cx="5738812" cy="2511425"/>
          </a:xfrm>
          <a:prstGeom prst="rect">
            <a:avLst/>
          </a:prstGeom>
          <a:noFill/>
          <a:ln w="9525">
            <a:noFill/>
            <a:miter lim="800000"/>
            <a:headEnd/>
            <a:tailEnd/>
          </a:ln>
        </p:spPr>
      </p:pic>
    </p:spTree>
    <p:extLst>
      <p:ext uri="{BB962C8B-B14F-4D97-AF65-F5344CB8AC3E}">
        <p14:creationId xmlns:p14="http://schemas.microsoft.com/office/powerpoint/2010/main" val="1583292944"/>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2"/>
          <p:cNvSpPr txBox="1">
            <a:spLocks noChangeArrowheads="1"/>
          </p:cNvSpPr>
          <p:nvPr/>
        </p:nvSpPr>
        <p:spPr bwMode="auto">
          <a:xfrm>
            <a:off x="1270000" y="503238"/>
            <a:ext cx="7016750" cy="457200"/>
          </a:xfrm>
          <a:prstGeom prst="rect">
            <a:avLst/>
          </a:prstGeom>
          <a:noFill/>
          <a:ln w="9525">
            <a:noFill/>
            <a:miter lim="800000"/>
            <a:headEnd/>
            <a:tailEnd/>
          </a:ln>
          <a:effectLst/>
        </p:spPr>
        <p:txBody>
          <a:bodyPr>
            <a:spAutoFit/>
          </a:bodyPr>
          <a:lstStyle/>
          <a:p>
            <a:pPr>
              <a:spcBef>
                <a:spcPct val="50000"/>
              </a:spcBef>
            </a:pPr>
            <a:r>
              <a:rPr lang="en-US"/>
              <a:t>Explaining the properties of metal complexes</a:t>
            </a:r>
          </a:p>
        </p:txBody>
      </p:sp>
      <p:sp>
        <p:nvSpPr>
          <p:cNvPr id="165891" name="Text Box 3"/>
          <p:cNvSpPr txBox="1">
            <a:spLocks noChangeArrowheads="1"/>
          </p:cNvSpPr>
          <p:nvPr/>
        </p:nvSpPr>
        <p:spPr bwMode="auto">
          <a:xfrm>
            <a:off x="606425" y="1335088"/>
            <a:ext cx="4165600" cy="1187450"/>
          </a:xfrm>
          <a:prstGeom prst="rect">
            <a:avLst/>
          </a:prstGeom>
          <a:noFill/>
          <a:ln w="9525">
            <a:noFill/>
            <a:miter lim="800000"/>
            <a:headEnd/>
            <a:tailEnd/>
          </a:ln>
          <a:effectLst/>
        </p:spPr>
        <p:txBody>
          <a:bodyPr wrap="none">
            <a:spAutoFit/>
          </a:bodyPr>
          <a:lstStyle/>
          <a:p>
            <a:r>
              <a:rPr lang="en-US"/>
              <a:t>Magnetism and color</a:t>
            </a:r>
          </a:p>
          <a:p>
            <a:endParaRPr lang="en-US"/>
          </a:p>
          <a:p>
            <a:r>
              <a:rPr lang="en-US"/>
              <a:t>How does seeing color work?</a:t>
            </a:r>
          </a:p>
        </p:txBody>
      </p:sp>
      <p:pic>
        <p:nvPicPr>
          <p:cNvPr id="165892" name="Picture 4" descr="24_24"/>
          <p:cNvPicPr>
            <a:picLocks noChangeAspect="1" noChangeArrowheads="1"/>
          </p:cNvPicPr>
          <p:nvPr/>
        </p:nvPicPr>
        <p:blipFill>
          <a:blip r:embed="rId2" cstate="print"/>
          <a:srcRect/>
          <a:stretch>
            <a:fillRect/>
          </a:stretch>
        </p:blipFill>
        <p:spPr bwMode="auto">
          <a:xfrm>
            <a:off x="3341688" y="2979738"/>
            <a:ext cx="5513387" cy="3709987"/>
          </a:xfrm>
          <a:prstGeom prst="rect">
            <a:avLst/>
          </a:prstGeom>
          <a:noFill/>
          <a:ln w="9525">
            <a:noFill/>
            <a:miter lim="800000"/>
            <a:headEnd/>
            <a:tailEnd/>
          </a:ln>
        </p:spPr>
      </p:pic>
      <p:sp>
        <p:nvSpPr>
          <p:cNvPr id="165893" name="Text Box 5"/>
          <p:cNvSpPr txBox="1">
            <a:spLocks noChangeArrowheads="1"/>
          </p:cNvSpPr>
          <p:nvPr/>
        </p:nvSpPr>
        <p:spPr bwMode="auto">
          <a:xfrm>
            <a:off x="461963" y="3170238"/>
            <a:ext cx="2838450" cy="2100262"/>
          </a:xfrm>
          <a:prstGeom prst="rect">
            <a:avLst/>
          </a:prstGeom>
          <a:noFill/>
          <a:ln w="9525">
            <a:noFill/>
            <a:miter lim="800000"/>
            <a:headEnd/>
            <a:tailEnd/>
          </a:ln>
          <a:effectLst/>
        </p:spPr>
        <p:txBody>
          <a:bodyPr>
            <a:spAutoFit/>
          </a:bodyPr>
          <a:lstStyle/>
          <a:p>
            <a:pPr>
              <a:spcBef>
                <a:spcPct val="50000"/>
              </a:spcBef>
            </a:pPr>
            <a:r>
              <a:rPr lang="en-US"/>
              <a:t>Absorb </a:t>
            </a:r>
            <a:r>
              <a:rPr lang="en-US" b="1">
                <a:solidFill>
                  <a:srgbClr val="FF8000"/>
                </a:solidFill>
              </a:rPr>
              <a:t>Orange</a:t>
            </a:r>
            <a:endParaRPr lang="en-US">
              <a:solidFill>
                <a:srgbClr val="FF8000"/>
              </a:solidFill>
            </a:endParaRPr>
          </a:p>
          <a:p>
            <a:pPr>
              <a:spcBef>
                <a:spcPct val="50000"/>
              </a:spcBef>
            </a:pPr>
            <a:r>
              <a:rPr lang="en-US"/>
              <a:t>See </a:t>
            </a:r>
            <a:r>
              <a:rPr lang="en-US" b="1">
                <a:solidFill>
                  <a:srgbClr val="0000FF"/>
                </a:solidFill>
              </a:rPr>
              <a:t>Blue</a:t>
            </a:r>
            <a:endParaRPr lang="en-US">
              <a:solidFill>
                <a:srgbClr val="0000FF"/>
              </a:solidFill>
            </a:endParaRPr>
          </a:p>
          <a:p>
            <a:pPr>
              <a:spcBef>
                <a:spcPct val="50000"/>
              </a:spcBef>
            </a:pPr>
            <a:r>
              <a:rPr lang="en-US"/>
              <a:t>Absorb </a:t>
            </a:r>
            <a:r>
              <a:rPr lang="en-US" b="1">
                <a:solidFill>
                  <a:srgbClr val="C82E32"/>
                </a:solidFill>
              </a:rPr>
              <a:t>Red</a:t>
            </a:r>
            <a:endParaRPr lang="en-US"/>
          </a:p>
          <a:p>
            <a:pPr>
              <a:spcBef>
                <a:spcPct val="50000"/>
              </a:spcBef>
            </a:pPr>
            <a:r>
              <a:rPr lang="en-US"/>
              <a:t>See </a:t>
            </a:r>
            <a:r>
              <a:rPr lang="en-US" b="1">
                <a:solidFill>
                  <a:srgbClr val="008000"/>
                </a:solidFill>
              </a:rPr>
              <a:t>Green</a:t>
            </a:r>
            <a:endParaRPr lang="en-US">
              <a:solidFill>
                <a:srgbClr val="0000FF"/>
              </a:solidFill>
            </a:endParaRPr>
          </a:p>
        </p:txBody>
      </p:sp>
    </p:spTree>
    <p:extLst>
      <p:ext uri="{BB962C8B-B14F-4D97-AF65-F5344CB8AC3E}">
        <p14:creationId xmlns:p14="http://schemas.microsoft.com/office/powerpoint/2010/main" val="2970972231"/>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descr="24_22"/>
          <p:cNvPicPr>
            <a:picLocks noChangeAspect="1" noChangeArrowheads="1"/>
          </p:cNvPicPr>
          <p:nvPr/>
        </p:nvPicPr>
        <p:blipFill>
          <a:blip r:embed="rId2" cstate="print"/>
          <a:srcRect/>
          <a:stretch>
            <a:fillRect/>
          </a:stretch>
        </p:blipFill>
        <p:spPr bwMode="auto">
          <a:xfrm>
            <a:off x="1068388" y="1379538"/>
            <a:ext cx="6564312" cy="4075112"/>
          </a:xfrm>
          <a:prstGeom prst="rect">
            <a:avLst/>
          </a:prstGeom>
          <a:noFill/>
          <a:ln w="9525">
            <a:noFill/>
            <a:miter lim="800000"/>
            <a:headEnd/>
            <a:tailEnd/>
          </a:ln>
        </p:spPr>
      </p:pic>
      <p:sp>
        <p:nvSpPr>
          <p:cNvPr id="166915" name="Text Box 3"/>
          <p:cNvSpPr txBox="1">
            <a:spLocks noChangeArrowheads="1"/>
          </p:cNvSpPr>
          <p:nvPr/>
        </p:nvSpPr>
        <p:spPr bwMode="auto">
          <a:xfrm>
            <a:off x="492125" y="5360988"/>
            <a:ext cx="7837488" cy="457200"/>
          </a:xfrm>
          <a:prstGeom prst="rect">
            <a:avLst/>
          </a:prstGeom>
          <a:solidFill>
            <a:schemeClr val="bg1"/>
          </a:solidFill>
          <a:ln w="9525">
            <a:noFill/>
            <a:miter lim="800000"/>
            <a:headEnd/>
            <a:tailEnd/>
          </a:ln>
          <a:effectLst/>
        </p:spPr>
        <p:txBody>
          <a:bodyPr wrap="none">
            <a:spAutoFit/>
          </a:bodyPr>
          <a:lstStyle/>
          <a:p>
            <a:r>
              <a:rPr lang="en-US" b="1">
                <a:solidFill>
                  <a:srgbClr val="8000FF"/>
                </a:solidFill>
              </a:rPr>
              <a:t>Addition of NH</a:t>
            </a:r>
            <a:r>
              <a:rPr lang="en-US" b="1" baseline="-25000">
                <a:solidFill>
                  <a:srgbClr val="8000FF"/>
                </a:solidFill>
              </a:rPr>
              <a:t>3</a:t>
            </a:r>
            <a:r>
              <a:rPr lang="en-US" b="1">
                <a:solidFill>
                  <a:srgbClr val="8000FF"/>
                </a:solidFill>
              </a:rPr>
              <a:t> ligand to Cu(H</a:t>
            </a:r>
            <a:r>
              <a:rPr lang="en-US" b="1" baseline="-25000">
                <a:solidFill>
                  <a:srgbClr val="8000FF"/>
                </a:solidFill>
              </a:rPr>
              <a:t>2</a:t>
            </a:r>
            <a:r>
              <a:rPr lang="en-US" b="1">
                <a:solidFill>
                  <a:srgbClr val="8000FF"/>
                </a:solidFill>
              </a:rPr>
              <a:t>O)</a:t>
            </a:r>
            <a:r>
              <a:rPr lang="en-US" b="1" baseline="-25000">
                <a:solidFill>
                  <a:srgbClr val="8000FF"/>
                </a:solidFill>
              </a:rPr>
              <a:t>4</a:t>
            </a:r>
            <a:r>
              <a:rPr lang="en-US" b="1">
                <a:solidFill>
                  <a:srgbClr val="8000FF"/>
                </a:solidFill>
              </a:rPr>
              <a:t> changes its color </a:t>
            </a:r>
          </a:p>
        </p:txBody>
      </p:sp>
      <p:sp>
        <p:nvSpPr>
          <p:cNvPr id="166916" name="Text Box 4"/>
          <p:cNvSpPr txBox="1">
            <a:spLocks noChangeArrowheads="1"/>
          </p:cNvSpPr>
          <p:nvPr/>
        </p:nvSpPr>
        <p:spPr bwMode="auto">
          <a:xfrm>
            <a:off x="974725" y="242888"/>
            <a:ext cx="7197725" cy="457200"/>
          </a:xfrm>
          <a:prstGeom prst="rect">
            <a:avLst/>
          </a:prstGeom>
          <a:noFill/>
          <a:ln w="9525">
            <a:noFill/>
            <a:miter lim="800000"/>
            <a:headEnd/>
            <a:tailEnd/>
          </a:ln>
          <a:effectLst/>
        </p:spPr>
        <p:txBody>
          <a:bodyPr wrap="none">
            <a:spAutoFit/>
          </a:bodyPr>
          <a:lstStyle/>
          <a:p>
            <a:r>
              <a:rPr lang="en-US"/>
              <a:t>Different ligands on same metal give different colors</a:t>
            </a:r>
          </a:p>
        </p:txBody>
      </p:sp>
    </p:spTree>
    <p:extLst>
      <p:ext uri="{BB962C8B-B14F-4D97-AF65-F5344CB8AC3E}">
        <p14:creationId xmlns:p14="http://schemas.microsoft.com/office/powerpoint/2010/main" val="847987609"/>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descr="24_29def"/>
          <p:cNvPicPr>
            <a:picLocks noChangeAspect="1" noChangeArrowheads="1"/>
          </p:cNvPicPr>
          <p:nvPr/>
        </p:nvPicPr>
        <p:blipFill>
          <a:blip r:embed="rId2" cstate="print"/>
          <a:srcRect/>
          <a:stretch>
            <a:fillRect/>
          </a:stretch>
        </p:blipFill>
        <p:spPr bwMode="auto">
          <a:xfrm>
            <a:off x="3830638" y="4244975"/>
            <a:ext cx="5135562" cy="2319338"/>
          </a:xfrm>
          <a:prstGeom prst="rect">
            <a:avLst/>
          </a:prstGeom>
          <a:noFill/>
          <a:ln w="9525">
            <a:noFill/>
            <a:miter lim="800000"/>
            <a:headEnd/>
            <a:tailEnd/>
          </a:ln>
        </p:spPr>
      </p:pic>
      <p:pic>
        <p:nvPicPr>
          <p:cNvPr id="167939" name="Picture 3" descr="24_29abc"/>
          <p:cNvPicPr>
            <a:picLocks noChangeAspect="1" noChangeArrowheads="1"/>
          </p:cNvPicPr>
          <p:nvPr/>
        </p:nvPicPr>
        <p:blipFill>
          <a:blip r:embed="rId3" cstate="print"/>
          <a:srcRect l="35007"/>
          <a:stretch>
            <a:fillRect/>
          </a:stretch>
        </p:blipFill>
        <p:spPr bwMode="auto">
          <a:xfrm>
            <a:off x="4922838" y="1663700"/>
            <a:ext cx="3513137" cy="2446338"/>
          </a:xfrm>
          <a:prstGeom prst="rect">
            <a:avLst/>
          </a:prstGeom>
          <a:noFill/>
          <a:ln w="9525">
            <a:noFill/>
            <a:miter lim="800000"/>
            <a:headEnd/>
            <a:tailEnd/>
          </a:ln>
        </p:spPr>
      </p:pic>
      <p:sp>
        <p:nvSpPr>
          <p:cNvPr id="167940" name="Line 4"/>
          <p:cNvSpPr>
            <a:spLocks noChangeShapeType="1"/>
          </p:cNvSpPr>
          <p:nvPr/>
        </p:nvSpPr>
        <p:spPr bwMode="auto">
          <a:xfrm>
            <a:off x="355600" y="5257800"/>
            <a:ext cx="647700" cy="0"/>
          </a:xfrm>
          <a:prstGeom prst="line">
            <a:avLst/>
          </a:prstGeom>
          <a:noFill/>
          <a:ln w="28575">
            <a:solidFill>
              <a:schemeClr val="tx1"/>
            </a:solidFill>
            <a:round/>
            <a:headEnd/>
            <a:tailEnd/>
          </a:ln>
          <a:effectLst/>
        </p:spPr>
        <p:txBody>
          <a:bodyPr wrap="none" anchor="ctr"/>
          <a:lstStyle/>
          <a:p>
            <a:endParaRPr lang="en-US"/>
          </a:p>
        </p:txBody>
      </p:sp>
      <p:sp>
        <p:nvSpPr>
          <p:cNvPr id="167941" name="Line 5"/>
          <p:cNvSpPr>
            <a:spLocks noChangeShapeType="1"/>
          </p:cNvSpPr>
          <p:nvPr/>
        </p:nvSpPr>
        <p:spPr bwMode="auto">
          <a:xfrm>
            <a:off x="1168400" y="5257800"/>
            <a:ext cx="647700" cy="0"/>
          </a:xfrm>
          <a:prstGeom prst="line">
            <a:avLst/>
          </a:prstGeom>
          <a:noFill/>
          <a:ln w="28575">
            <a:solidFill>
              <a:schemeClr val="tx1"/>
            </a:solidFill>
            <a:round/>
            <a:headEnd/>
            <a:tailEnd/>
          </a:ln>
          <a:effectLst/>
        </p:spPr>
        <p:txBody>
          <a:bodyPr wrap="none" anchor="ctr"/>
          <a:lstStyle/>
          <a:p>
            <a:endParaRPr lang="en-US"/>
          </a:p>
        </p:txBody>
      </p:sp>
      <p:sp>
        <p:nvSpPr>
          <p:cNvPr id="167942" name="Line 6"/>
          <p:cNvSpPr>
            <a:spLocks noChangeShapeType="1"/>
          </p:cNvSpPr>
          <p:nvPr/>
        </p:nvSpPr>
        <p:spPr bwMode="auto">
          <a:xfrm>
            <a:off x="1955800" y="5257800"/>
            <a:ext cx="647700" cy="0"/>
          </a:xfrm>
          <a:prstGeom prst="line">
            <a:avLst/>
          </a:prstGeom>
          <a:noFill/>
          <a:ln w="28575">
            <a:solidFill>
              <a:schemeClr val="tx1"/>
            </a:solidFill>
            <a:round/>
            <a:headEnd/>
            <a:tailEnd/>
          </a:ln>
          <a:effectLst/>
        </p:spPr>
        <p:txBody>
          <a:bodyPr wrap="none" anchor="ctr"/>
          <a:lstStyle/>
          <a:p>
            <a:endParaRPr lang="en-US"/>
          </a:p>
        </p:txBody>
      </p:sp>
      <p:sp>
        <p:nvSpPr>
          <p:cNvPr id="167943" name="Line 7"/>
          <p:cNvSpPr>
            <a:spLocks noChangeShapeType="1"/>
          </p:cNvSpPr>
          <p:nvPr/>
        </p:nvSpPr>
        <p:spPr bwMode="auto">
          <a:xfrm>
            <a:off x="825500" y="2743200"/>
            <a:ext cx="647700" cy="0"/>
          </a:xfrm>
          <a:prstGeom prst="line">
            <a:avLst/>
          </a:prstGeom>
          <a:noFill/>
          <a:ln w="28575">
            <a:solidFill>
              <a:schemeClr val="tx1"/>
            </a:solidFill>
            <a:round/>
            <a:headEnd/>
            <a:tailEnd/>
          </a:ln>
          <a:effectLst/>
        </p:spPr>
        <p:txBody>
          <a:bodyPr wrap="none" anchor="ctr"/>
          <a:lstStyle/>
          <a:p>
            <a:endParaRPr lang="en-US"/>
          </a:p>
        </p:txBody>
      </p:sp>
      <p:sp>
        <p:nvSpPr>
          <p:cNvPr id="167944" name="Line 8"/>
          <p:cNvSpPr>
            <a:spLocks noChangeShapeType="1"/>
          </p:cNvSpPr>
          <p:nvPr/>
        </p:nvSpPr>
        <p:spPr bwMode="auto">
          <a:xfrm>
            <a:off x="1612900" y="2743200"/>
            <a:ext cx="647700" cy="0"/>
          </a:xfrm>
          <a:prstGeom prst="line">
            <a:avLst/>
          </a:prstGeom>
          <a:noFill/>
          <a:ln w="28575">
            <a:solidFill>
              <a:schemeClr val="tx1"/>
            </a:solidFill>
            <a:round/>
            <a:headEnd/>
            <a:tailEnd/>
          </a:ln>
          <a:effectLst/>
        </p:spPr>
        <p:txBody>
          <a:bodyPr wrap="none" anchor="ctr"/>
          <a:lstStyle/>
          <a:p>
            <a:endParaRPr lang="en-US"/>
          </a:p>
        </p:txBody>
      </p:sp>
      <p:sp>
        <p:nvSpPr>
          <p:cNvPr id="167945" name="Text Box 9"/>
          <p:cNvSpPr txBox="1">
            <a:spLocks noChangeArrowheads="1"/>
          </p:cNvSpPr>
          <p:nvPr/>
        </p:nvSpPr>
        <p:spPr bwMode="auto">
          <a:xfrm>
            <a:off x="415925" y="5322888"/>
            <a:ext cx="2233613" cy="822325"/>
          </a:xfrm>
          <a:prstGeom prst="rect">
            <a:avLst/>
          </a:prstGeom>
          <a:noFill/>
          <a:ln w="9525">
            <a:noFill/>
            <a:miter lim="800000"/>
            <a:headEnd/>
            <a:tailEnd/>
          </a:ln>
          <a:effectLst/>
        </p:spPr>
        <p:txBody>
          <a:bodyPr wrap="none">
            <a:spAutoFit/>
          </a:bodyPr>
          <a:lstStyle/>
          <a:p>
            <a:r>
              <a:rPr lang="en-US"/>
              <a:t>d</a:t>
            </a:r>
            <a:r>
              <a:rPr lang="en-US" baseline="-25000"/>
              <a:t>xy</a:t>
            </a:r>
            <a:r>
              <a:rPr lang="en-US"/>
              <a:t>       d</a:t>
            </a:r>
            <a:r>
              <a:rPr lang="en-US" baseline="-25000"/>
              <a:t>yz</a:t>
            </a:r>
            <a:r>
              <a:rPr lang="en-US"/>
              <a:t>    d</a:t>
            </a:r>
            <a:r>
              <a:rPr lang="en-US" baseline="-25000"/>
              <a:t>xz</a:t>
            </a:r>
          </a:p>
          <a:p>
            <a:endParaRPr lang="en-US"/>
          </a:p>
        </p:txBody>
      </p:sp>
      <p:sp>
        <p:nvSpPr>
          <p:cNvPr id="167946" name="Text Box 10"/>
          <p:cNvSpPr txBox="1">
            <a:spLocks noChangeArrowheads="1"/>
          </p:cNvSpPr>
          <p:nvPr/>
        </p:nvSpPr>
        <p:spPr bwMode="auto">
          <a:xfrm>
            <a:off x="817563" y="2857500"/>
            <a:ext cx="2660650" cy="457200"/>
          </a:xfrm>
          <a:prstGeom prst="rect">
            <a:avLst/>
          </a:prstGeom>
          <a:noFill/>
          <a:ln w="9525">
            <a:noFill/>
            <a:miter lim="800000"/>
            <a:headEnd/>
            <a:tailEnd/>
          </a:ln>
          <a:effectLst/>
        </p:spPr>
        <p:txBody>
          <a:bodyPr>
            <a:spAutoFit/>
          </a:bodyPr>
          <a:lstStyle/>
          <a:p>
            <a:pPr>
              <a:spcBef>
                <a:spcPct val="50000"/>
              </a:spcBef>
            </a:pPr>
            <a:r>
              <a:rPr lang="en-US"/>
              <a:t>d</a:t>
            </a:r>
            <a:r>
              <a:rPr lang="en-US" baseline="-25000"/>
              <a:t>z</a:t>
            </a:r>
            <a:r>
              <a:rPr lang="en-US" baseline="30000"/>
              <a:t>2</a:t>
            </a:r>
            <a:r>
              <a:rPr lang="en-US"/>
              <a:t>    d</a:t>
            </a:r>
            <a:r>
              <a:rPr lang="en-US" baseline="-25000"/>
              <a:t>x</a:t>
            </a:r>
            <a:r>
              <a:rPr lang="en-US" baseline="30000"/>
              <a:t>2</a:t>
            </a:r>
            <a:r>
              <a:rPr lang="en-US" baseline="-25000"/>
              <a:t>-y</a:t>
            </a:r>
            <a:r>
              <a:rPr lang="en-US" baseline="30000"/>
              <a:t>2</a:t>
            </a:r>
            <a:endParaRPr lang="en-US"/>
          </a:p>
        </p:txBody>
      </p:sp>
      <p:sp>
        <p:nvSpPr>
          <p:cNvPr id="167947" name="Text Box 11"/>
          <p:cNvSpPr txBox="1">
            <a:spLocks noChangeArrowheads="1"/>
          </p:cNvSpPr>
          <p:nvPr/>
        </p:nvSpPr>
        <p:spPr bwMode="auto">
          <a:xfrm>
            <a:off x="766763" y="392113"/>
            <a:ext cx="7943850" cy="457200"/>
          </a:xfrm>
          <a:prstGeom prst="rect">
            <a:avLst/>
          </a:prstGeom>
          <a:noFill/>
          <a:ln w="9525">
            <a:noFill/>
            <a:miter lim="800000"/>
            <a:headEnd/>
            <a:tailEnd/>
          </a:ln>
          <a:effectLst/>
        </p:spPr>
        <p:txBody>
          <a:bodyPr>
            <a:spAutoFit/>
          </a:bodyPr>
          <a:lstStyle/>
          <a:p>
            <a:pPr>
              <a:spcBef>
                <a:spcPct val="50000"/>
              </a:spcBef>
            </a:pPr>
            <a:r>
              <a:rPr lang="en-US"/>
              <a:t>Splitting of d orbitals in an oxtahedral ligand field</a:t>
            </a:r>
          </a:p>
        </p:txBody>
      </p:sp>
    </p:spTree>
    <p:extLst>
      <p:ext uri="{BB962C8B-B14F-4D97-AF65-F5344CB8AC3E}">
        <p14:creationId xmlns:p14="http://schemas.microsoft.com/office/powerpoint/2010/main" val="3919227156"/>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2"/>
          <p:cNvSpPr txBox="1">
            <a:spLocks noChangeArrowheads="1"/>
          </p:cNvSpPr>
          <p:nvPr/>
        </p:nvSpPr>
        <p:spPr bwMode="auto">
          <a:xfrm>
            <a:off x="728663" y="0"/>
            <a:ext cx="7994650" cy="457200"/>
          </a:xfrm>
          <a:prstGeom prst="rect">
            <a:avLst/>
          </a:prstGeom>
          <a:noFill/>
          <a:ln w="9525">
            <a:noFill/>
            <a:miter lim="800000"/>
            <a:headEnd/>
            <a:tailEnd/>
          </a:ln>
          <a:effectLst/>
        </p:spPr>
        <p:txBody>
          <a:bodyPr>
            <a:spAutoFit/>
          </a:bodyPr>
          <a:lstStyle/>
          <a:p>
            <a:pPr>
              <a:spcBef>
                <a:spcPct val="50000"/>
              </a:spcBef>
            </a:pPr>
            <a:r>
              <a:rPr lang="en-US"/>
              <a:t>Spectrochemical series (strength of ligand interaction)</a:t>
            </a:r>
          </a:p>
        </p:txBody>
      </p:sp>
      <p:sp>
        <p:nvSpPr>
          <p:cNvPr id="168963" name="Text Box 3"/>
          <p:cNvSpPr txBox="1">
            <a:spLocks noChangeArrowheads="1"/>
          </p:cNvSpPr>
          <p:nvPr/>
        </p:nvSpPr>
        <p:spPr bwMode="auto">
          <a:xfrm>
            <a:off x="758825" y="1235075"/>
            <a:ext cx="7397750" cy="579438"/>
          </a:xfrm>
          <a:prstGeom prst="rect">
            <a:avLst/>
          </a:prstGeom>
          <a:noFill/>
          <a:ln w="9525">
            <a:noFill/>
            <a:miter lim="800000"/>
            <a:headEnd/>
            <a:tailEnd/>
          </a:ln>
          <a:effectLst/>
        </p:spPr>
        <p:txBody>
          <a:bodyPr wrap="none">
            <a:spAutoFit/>
          </a:bodyPr>
          <a:lstStyle/>
          <a:p>
            <a:r>
              <a:rPr lang="en-US" sz="3200" b="1">
                <a:solidFill>
                  <a:srgbClr val="008000"/>
                </a:solidFill>
              </a:rPr>
              <a:t>Cl</a:t>
            </a:r>
            <a:r>
              <a:rPr lang="en-US" sz="3200" b="1" baseline="30000">
                <a:solidFill>
                  <a:srgbClr val="008000"/>
                </a:solidFill>
              </a:rPr>
              <a:t>-</a:t>
            </a:r>
            <a:r>
              <a:rPr lang="en-US" sz="3200" b="1">
                <a:solidFill>
                  <a:srgbClr val="008000"/>
                </a:solidFill>
              </a:rPr>
              <a:t> &lt; F</a:t>
            </a:r>
            <a:r>
              <a:rPr lang="en-US" sz="3200" b="1" baseline="30000">
                <a:solidFill>
                  <a:srgbClr val="008000"/>
                </a:solidFill>
              </a:rPr>
              <a:t>-</a:t>
            </a:r>
            <a:r>
              <a:rPr lang="en-US" sz="3200" b="1">
                <a:solidFill>
                  <a:srgbClr val="008000"/>
                </a:solidFill>
              </a:rPr>
              <a:t> &lt; H</a:t>
            </a:r>
            <a:r>
              <a:rPr lang="en-US" sz="3200" b="1" baseline="-25000">
                <a:solidFill>
                  <a:srgbClr val="008000"/>
                </a:solidFill>
              </a:rPr>
              <a:t>2</a:t>
            </a:r>
            <a:r>
              <a:rPr lang="en-US" sz="3200" b="1">
                <a:solidFill>
                  <a:srgbClr val="008000"/>
                </a:solidFill>
              </a:rPr>
              <a:t>O &lt; NH</a:t>
            </a:r>
            <a:r>
              <a:rPr lang="en-US" sz="3200" b="1" baseline="-25000">
                <a:solidFill>
                  <a:srgbClr val="008000"/>
                </a:solidFill>
              </a:rPr>
              <a:t>3</a:t>
            </a:r>
            <a:r>
              <a:rPr lang="en-US" sz="3200" b="1">
                <a:solidFill>
                  <a:srgbClr val="008000"/>
                </a:solidFill>
              </a:rPr>
              <a:t> &lt; en &lt; NO</a:t>
            </a:r>
            <a:r>
              <a:rPr lang="en-US" sz="3200" b="1" baseline="-25000">
                <a:solidFill>
                  <a:srgbClr val="008000"/>
                </a:solidFill>
              </a:rPr>
              <a:t>2</a:t>
            </a:r>
            <a:r>
              <a:rPr lang="en-US" sz="3200" b="1" baseline="30000">
                <a:solidFill>
                  <a:srgbClr val="008000"/>
                </a:solidFill>
              </a:rPr>
              <a:t>-</a:t>
            </a:r>
            <a:r>
              <a:rPr lang="en-US" sz="3200" b="1">
                <a:solidFill>
                  <a:srgbClr val="008000"/>
                </a:solidFill>
              </a:rPr>
              <a:t> &lt; CN</a:t>
            </a:r>
            <a:r>
              <a:rPr lang="en-US" sz="3200" b="1" baseline="30000">
                <a:solidFill>
                  <a:srgbClr val="008000"/>
                </a:solidFill>
              </a:rPr>
              <a:t>-</a:t>
            </a:r>
            <a:r>
              <a:rPr lang="en-US" sz="3200" b="1">
                <a:solidFill>
                  <a:srgbClr val="008000"/>
                </a:solidFill>
              </a:rPr>
              <a:t> </a:t>
            </a:r>
          </a:p>
        </p:txBody>
      </p:sp>
      <p:sp>
        <p:nvSpPr>
          <p:cNvPr id="168964" name="Line 4"/>
          <p:cNvSpPr>
            <a:spLocks noChangeShapeType="1"/>
          </p:cNvSpPr>
          <p:nvPr/>
        </p:nvSpPr>
        <p:spPr bwMode="auto">
          <a:xfrm flipV="1">
            <a:off x="977900" y="1079500"/>
            <a:ext cx="6870700" cy="25400"/>
          </a:xfrm>
          <a:prstGeom prst="line">
            <a:avLst/>
          </a:prstGeom>
          <a:noFill/>
          <a:ln w="38100">
            <a:solidFill>
              <a:schemeClr val="tx1"/>
            </a:solidFill>
            <a:round/>
            <a:headEnd/>
            <a:tailEnd type="triangle" w="med" len="med"/>
          </a:ln>
          <a:effectLst/>
        </p:spPr>
        <p:txBody>
          <a:bodyPr wrap="none" anchor="ctr"/>
          <a:lstStyle/>
          <a:p>
            <a:endParaRPr lang="en-US"/>
          </a:p>
        </p:txBody>
      </p:sp>
      <p:sp>
        <p:nvSpPr>
          <p:cNvPr id="168965" name="Text Box 5"/>
          <p:cNvSpPr txBox="1">
            <a:spLocks noChangeArrowheads="1"/>
          </p:cNvSpPr>
          <p:nvPr/>
        </p:nvSpPr>
        <p:spPr bwMode="auto">
          <a:xfrm>
            <a:off x="3057525" y="606425"/>
            <a:ext cx="1862138" cy="457200"/>
          </a:xfrm>
          <a:prstGeom prst="rect">
            <a:avLst/>
          </a:prstGeom>
          <a:noFill/>
          <a:ln w="9525">
            <a:noFill/>
            <a:miter lim="800000"/>
            <a:headEnd/>
            <a:tailEnd/>
          </a:ln>
          <a:effectLst/>
        </p:spPr>
        <p:txBody>
          <a:bodyPr wrap="none">
            <a:spAutoFit/>
          </a:bodyPr>
          <a:lstStyle/>
          <a:p>
            <a:r>
              <a:rPr lang="en-US"/>
              <a:t>Increasing </a:t>
            </a:r>
            <a:r>
              <a:rPr lang="en-US">
                <a:latin typeface="Symbol" pitchFamily="18" charset="2"/>
              </a:rPr>
              <a:t></a:t>
            </a:r>
            <a:endParaRPr lang="en-US"/>
          </a:p>
        </p:txBody>
      </p:sp>
      <p:pic>
        <p:nvPicPr>
          <p:cNvPr id="168966" name="Picture 6" descr="24_31"/>
          <p:cNvPicPr>
            <a:picLocks noChangeAspect="1" noChangeArrowheads="1"/>
          </p:cNvPicPr>
          <p:nvPr/>
        </p:nvPicPr>
        <p:blipFill>
          <a:blip r:embed="rId2"/>
          <a:srcRect/>
          <a:stretch>
            <a:fillRect/>
          </a:stretch>
        </p:blipFill>
        <p:spPr bwMode="auto">
          <a:xfrm>
            <a:off x="661988" y="2132013"/>
            <a:ext cx="7224712" cy="3757612"/>
          </a:xfrm>
          <a:prstGeom prst="rect">
            <a:avLst/>
          </a:prstGeom>
          <a:noFill/>
          <a:ln w="9525">
            <a:noFill/>
            <a:miter lim="800000"/>
            <a:headEnd/>
            <a:tailEnd/>
          </a:ln>
        </p:spPr>
      </p:pic>
      <p:sp>
        <p:nvSpPr>
          <p:cNvPr id="168967" name="Line 7"/>
          <p:cNvSpPr>
            <a:spLocks noChangeShapeType="1"/>
          </p:cNvSpPr>
          <p:nvPr/>
        </p:nvSpPr>
        <p:spPr bwMode="auto">
          <a:xfrm flipV="1">
            <a:off x="977900" y="3771900"/>
            <a:ext cx="6870700" cy="25400"/>
          </a:xfrm>
          <a:prstGeom prst="line">
            <a:avLst/>
          </a:prstGeom>
          <a:noFill/>
          <a:ln w="38100">
            <a:solidFill>
              <a:schemeClr val="tx1"/>
            </a:solidFill>
            <a:round/>
            <a:headEnd/>
            <a:tailEnd type="triangle" w="med" len="med"/>
          </a:ln>
          <a:effectLst/>
        </p:spPr>
        <p:txBody>
          <a:bodyPr wrap="none" anchor="ctr"/>
          <a:lstStyle/>
          <a:p>
            <a:endParaRPr lang="en-US"/>
          </a:p>
        </p:txBody>
      </p:sp>
      <p:sp>
        <p:nvSpPr>
          <p:cNvPr id="168968" name="Text Box 8"/>
          <p:cNvSpPr txBox="1">
            <a:spLocks noChangeArrowheads="1"/>
          </p:cNvSpPr>
          <p:nvPr/>
        </p:nvSpPr>
        <p:spPr bwMode="auto">
          <a:xfrm>
            <a:off x="3057525" y="3298825"/>
            <a:ext cx="1862138" cy="457200"/>
          </a:xfrm>
          <a:prstGeom prst="rect">
            <a:avLst/>
          </a:prstGeom>
          <a:noFill/>
          <a:ln w="9525">
            <a:noFill/>
            <a:miter lim="800000"/>
            <a:headEnd/>
            <a:tailEnd/>
          </a:ln>
          <a:effectLst/>
        </p:spPr>
        <p:txBody>
          <a:bodyPr wrap="none">
            <a:spAutoFit/>
          </a:bodyPr>
          <a:lstStyle/>
          <a:p>
            <a:r>
              <a:rPr lang="en-US"/>
              <a:t>Increasing </a:t>
            </a:r>
            <a:r>
              <a:rPr lang="en-US">
                <a:latin typeface="Symbol" pitchFamily="18" charset="2"/>
              </a:rPr>
              <a:t></a:t>
            </a:r>
            <a:endParaRPr lang="en-US"/>
          </a:p>
        </p:txBody>
      </p:sp>
      <p:sp>
        <p:nvSpPr>
          <p:cNvPr id="168969" name="Text Box 9"/>
          <p:cNvSpPr txBox="1">
            <a:spLocks noChangeArrowheads="1"/>
          </p:cNvSpPr>
          <p:nvPr/>
        </p:nvSpPr>
        <p:spPr bwMode="auto">
          <a:xfrm>
            <a:off x="830263" y="6116638"/>
            <a:ext cx="184150" cy="457200"/>
          </a:xfrm>
          <a:prstGeom prst="rect">
            <a:avLst/>
          </a:prstGeom>
          <a:noFill/>
          <a:ln w="9525">
            <a:noFill/>
            <a:miter lim="800000"/>
            <a:headEnd/>
            <a:tailEnd/>
          </a:ln>
          <a:effectLst/>
        </p:spPr>
        <p:txBody>
          <a:bodyPr>
            <a:spAutoFit/>
          </a:bodyPr>
          <a:lstStyle/>
          <a:p>
            <a:pPr>
              <a:spcBef>
                <a:spcPct val="50000"/>
              </a:spcBef>
            </a:pPr>
            <a:endParaRPr lang="en-US"/>
          </a:p>
        </p:txBody>
      </p:sp>
      <p:sp>
        <p:nvSpPr>
          <p:cNvPr id="168970" name="Text Box 10"/>
          <p:cNvSpPr txBox="1">
            <a:spLocks noChangeArrowheads="1"/>
          </p:cNvSpPr>
          <p:nvPr/>
        </p:nvSpPr>
        <p:spPr bwMode="auto">
          <a:xfrm>
            <a:off x="1130300" y="6116638"/>
            <a:ext cx="7181850" cy="457200"/>
          </a:xfrm>
          <a:prstGeom prst="rect">
            <a:avLst/>
          </a:prstGeom>
          <a:noFill/>
          <a:ln w="9525">
            <a:noFill/>
            <a:miter lim="800000"/>
            <a:headEnd/>
            <a:tailEnd/>
          </a:ln>
          <a:effectLst/>
        </p:spPr>
        <p:txBody>
          <a:bodyPr>
            <a:spAutoFit/>
          </a:bodyPr>
          <a:lstStyle/>
          <a:p>
            <a:pPr>
              <a:spcBef>
                <a:spcPct val="50000"/>
              </a:spcBef>
            </a:pPr>
            <a:r>
              <a:rPr lang="en-US"/>
              <a:t>Know low spin versus high spin</a:t>
            </a:r>
          </a:p>
        </p:txBody>
      </p:sp>
    </p:spTree>
    <p:extLst>
      <p:ext uri="{BB962C8B-B14F-4D97-AF65-F5344CB8AC3E}">
        <p14:creationId xmlns:p14="http://schemas.microsoft.com/office/powerpoint/2010/main" val="702756180"/>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descr="24_35-01UNEx10"/>
          <p:cNvPicPr>
            <a:picLocks noChangeAspect="1" noChangeArrowheads="1"/>
          </p:cNvPicPr>
          <p:nvPr/>
        </p:nvPicPr>
        <p:blipFill>
          <a:blip r:embed="rId2"/>
          <a:srcRect/>
          <a:stretch>
            <a:fillRect/>
          </a:stretch>
        </p:blipFill>
        <p:spPr bwMode="auto">
          <a:xfrm>
            <a:off x="0" y="215900"/>
            <a:ext cx="9142413" cy="6642100"/>
          </a:xfrm>
          <a:prstGeom prst="rect">
            <a:avLst/>
          </a:prstGeom>
          <a:noFill/>
          <a:ln w="9525">
            <a:noFill/>
            <a:miter lim="800000"/>
            <a:headEnd/>
            <a:tailEnd/>
          </a:ln>
        </p:spPr>
      </p:pic>
      <p:sp>
        <p:nvSpPr>
          <p:cNvPr id="169987" name="Text Box 3"/>
          <p:cNvSpPr txBox="1">
            <a:spLocks noChangeArrowheads="1"/>
          </p:cNvSpPr>
          <p:nvPr/>
        </p:nvSpPr>
        <p:spPr bwMode="auto">
          <a:xfrm>
            <a:off x="708025" y="128588"/>
            <a:ext cx="5562600" cy="1552575"/>
          </a:xfrm>
          <a:prstGeom prst="rect">
            <a:avLst/>
          </a:prstGeom>
          <a:noFill/>
          <a:ln w="9525">
            <a:noFill/>
            <a:miter lim="800000"/>
            <a:headEnd/>
            <a:tailEnd/>
          </a:ln>
          <a:effectLst/>
        </p:spPr>
        <p:txBody>
          <a:bodyPr>
            <a:spAutoFit/>
          </a:bodyPr>
          <a:lstStyle/>
          <a:p>
            <a:r>
              <a:rPr lang="en-US"/>
              <a:t>There is also splitting from tetrahedral</a:t>
            </a:r>
          </a:p>
          <a:p>
            <a:r>
              <a:rPr lang="en-US"/>
              <a:t>And square planar.  Know they are different, don’t remember exactly what they are like.</a:t>
            </a:r>
          </a:p>
        </p:txBody>
      </p:sp>
    </p:spTree>
    <p:extLst>
      <p:ext uri="{BB962C8B-B14F-4D97-AF65-F5344CB8AC3E}">
        <p14:creationId xmlns:p14="http://schemas.microsoft.com/office/powerpoint/2010/main" val="4011893236"/>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descr="0753"/>
          <p:cNvPicPr>
            <a:picLocks noChangeAspect="1" noChangeArrowheads="1"/>
          </p:cNvPicPr>
          <p:nvPr/>
        </p:nvPicPr>
        <p:blipFill>
          <a:blip r:embed="rId2"/>
          <a:srcRect/>
          <a:stretch>
            <a:fillRect/>
          </a:stretch>
        </p:blipFill>
        <p:spPr bwMode="auto">
          <a:xfrm>
            <a:off x="384175" y="198438"/>
            <a:ext cx="8607425" cy="6430962"/>
          </a:xfrm>
          <a:prstGeom prst="rect">
            <a:avLst/>
          </a:prstGeom>
          <a:noFill/>
        </p:spPr>
      </p:pic>
    </p:spTree>
    <p:extLst>
      <p:ext uri="{BB962C8B-B14F-4D97-AF65-F5344CB8AC3E}">
        <p14:creationId xmlns:p14="http://schemas.microsoft.com/office/powerpoint/2010/main" val="11302105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descr="0754"/>
          <p:cNvPicPr>
            <a:picLocks noChangeAspect="1" noChangeArrowheads="1"/>
          </p:cNvPicPr>
          <p:nvPr/>
        </p:nvPicPr>
        <p:blipFill>
          <a:blip r:embed="rId2"/>
          <a:srcRect/>
          <a:stretch>
            <a:fillRect/>
          </a:stretch>
        </p:blipFill>
        <p:spPr bwMode="auto">
          <a:xfrm>
            <a:off x="155575" y="255588"/>
            <a:ext cx="8836025" cy="6602412"/>
          </a:xfrm>
          <a:prstGeom prst="rect">
            <a:avLst/>
          </a:prstGeom>
          <a:noFill/>
        </p:spPr>
      </p:pic>
    </p:spTree>
    <p:extLst>
      <p:ext uri="{BB962C8B-B14F-4D97-AF65-F5344CB8AC3E}">
        <p14:creationId xmlns:p14="http://schemas.microsoft.com/office/powerpoint/2010/main" val="174144491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descr="0755"/>
          <p:cNvPicPr>
            <a:picLocks noChangeAspect="1" noChangeArrowheads="1"/>
          </p:cNvPicPr>
          <p:nvPr/>
        </p:nvPicPr>
        <p:blipFill>
          <a:blip r:embed="rId2"/>
          <a:srcRect/>
          <a:stretch>
            <a:fillRect/>
          </a:stretch>
        </p:blipFill>
        <p:spPr bwMode="auto">
          <a:xfrm>
            <a:off x="152400" y="46038"/>
            <a:ext cx="8912225" cy="6659562"/>
          </a:xfrm>
          <a:prstGeom prst="rect">
            <a:avLst/>
          </a:prstGeom>
          <a:noFill/>
        </p:spPr>
      </p:pic>
    </p:spTree>
    <p:extLst>
      <p:ext uri="{BB962C8B-B14F-4D97-AF65-F5344CB8AC3E}">
        <p14:creationId xmlns:p14="http://schemas.microsoft.com/office/powerpoint/2010/main" val="3052864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Crystal Field Theory</a:t>
            </a:r>
          </a:p>
        </p:txBody>
      </p:sp>
      <p:sp>
        <p:nvSpPr>
          <p:cNvPr id="15363" name="Rectangle 3"/>
          <p:cNvSpPr>
            <a:spLocks noGrp="1" noChangeArrowheads="1"/>
          </p:cNvSpPr>
          <p:nvPr>
            <p:ph type="body" idx="1"/>
          </p:nvPr>
        </p:nvSpPr>
        <p:spPr/>
        <p:txBody>
          <a:bodyPr>
            <a:normAutofit fontScale="92500" lnSpcReduction="10000"/>
          </a:bodyPr>
          <a:lstStyle/>
          <a:p>
            <a:r>
              <a:rPr lang="en-US"/>
              <a:t>Focus:	 </a:t>
            </a:r>
            <a:r>
              <a:rPr lang="en-US">
                <a:solidFill>
                  <a:srgbClr val="FAFD00"/>
                </a:solidFill>
              </a:rPr>
              <a:t>energies of the </a:t>
            </a:r>
            <a:r>
              <a:rPr lang="en-US" i="1">
                <a:solidFill>
                  <a:srgbClr val="FAFD00"/>
                </a:solidFill>
              </a:rPr>
              <a:t>d</a:t>
            </a:r>
            <a:r>
              <a:rPr lang="en-US">
                <a:solidFill>
                  <a:srgbClr val="FAFD00"/>
                </a:solidFill>
              </a:rPr>
              <a:t> orbitals</a:t>
            </a:r>
            <a:endParaRPr lang="en-US"/>
          </a:p>
          <a:p>
            <a:pPr>
              <a:spcBef>
                <a:spcPct val="100000"/>
              </a:spcBef>
            </a:pPr>
            <a:r>
              <a:rPr lang="en-US" u="sng"/>
              <a:t>Assumptions</a:t>
            </a:r>
            <a:endParaRPr lang="en-US"/>
          </a:p>
          <a:p>
            <a:pPr>
              <a:spcBef>
                <a:spcPct val="40000"/>
              </a:spcBef>
            </a:pPr>
            <a:r>
              <a:rPr lang="en-US">
                <a:solidFill>
                  <a:srgbClr val="99FF99"/>
                </a:solidFill>
              </a:rPr>
              <a:t>1.	Ligands:</a:t>
            </a:r>
            <a:r>
              <a:rPr lang="en-US"/>
              <a:t>				negative point charges</a:t>
            </a:r>
          </a:p>
          <a:p>
            <a:r>
              <a:rPr lang="en-US">
                <a:solidFill>
                  <a:srgbClr val="99FF99"/>
                </a:solidFill>
              </a:rPr>
              <a:t>2.	Metal-ligand bonding:</a:t>
            </a:r>
            <a:r>
              <a:rPr lang="en-US"/>
              <a:t>	entirely ionic</a:t>
            </a:r>
          </a:p>
          <a:p>
            <a:pPr>
              <a:spcBef>
                <a:spcPct val="100000"/>
              </a:spcBef>
            </a:pPr>
            <a:r>
              <a:rPr lang="en-US">
                <a:solidFill>
                  <a:srgbClr val="FFFF66"/>
                </a:solidFill>
              </a:rPr>
              <a:t>strong-field</a:t>
            </a:r>
            <a:r>
              <a:rPr lang="en-US"/>
              <a:t> (low-spin):  large splitting of </a:t>
            </a:r>
            <a:r>
              <a:rPr lang="en-US" i="1"/>
              <a:t>d</a:t>
            </a:r>
            <a:r>
              <a:rPr lang="en-US"/>
              <a:t> orbitals</a:t>
            </a:r>
          </a:p>
          <a:p>
            <a:r>
              <a:rPr lang="en-US">
                <a:solidFill>
                  <a:srgbClr val="FFFF66"/>
                </a:solidFill>
              </a:rPr>
              <a:t>weak-field</a:t>
            </a:r>
            <a:r>
              <a:rPr lang="en-US"/>
              <a:t> (high-spin):  small splitting of </a:t>
            </a:r>
            <a:r>
              <a:rPr lang="en-US" i="1"/>
              <a:t>d</a:t>
            </a:r>
            <a:r>
              <a:rPr lang="en-US"/>
              <a:t> orbitals</a:t>
            </a:r>
          </a:p>
        </p:txBody>
      </p:sp>
    </p:spTree>
    <p:extLst>
      <p:ext uri="{BB962C8B-B14F-4D97-AF65-F5344CB8AC3E}">
        <p14:creationId xmlns:p14="http://schemas.microsoft.com/office/powerpoint/2010/main" val="161148761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descr="0758"/>
          <p:cNvPicPr>
            <a:picLocks noChangeAspect="1" noChangeArrowheads="1"/>
          </p:cNvPicPr>
          <p:nvPr/>
        </p:nvPicPr>
        <p:blipFill>
          <a:blip r:embed="rId2"/>
          <a:srcRect/>
          <a:stretch>
            <a:fillRect/>
          </a:stretch>
        </p:blipFill>
        <p:spPr bwMode="auto">
          <a:xfrm>
            <a:off x="231775" y="198438"/>
            <a:ext cx="8607425" cy="6430962"/>
          </a:xfrm>
          <a:prstGeom prst="rect">
            <a:avLst/>
          </a:prstGeom>
          <a:noFill/>
        </p:spPr>
      </p:pic>
    </p:spTree>
    <p:extLst>
      <p:ext uri="{BB962C8B-B14F-4D97-AF65-F5344CB8AC3E}">
        <p14:creationId xmlns:p14="http://schemas.microsoft.com/office/powerpoint/2010/main" val="251578404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0759"/>
          <p:cNvPicPr>
            <a:picLocks noChangeAspect="1" noChangeArrowheads="1"/>
          </p:cNvPicPr>
          <p:nvPr/>
        </p:nvPicPr>
        <p:blipFill>
          <a:blip r:embed="rId2"/>
          <a:srcRect/>
          <a:stretch>
            <a:fillRect/>
          </a:stretch>
        </p:blipFill>
        <p:spPr bwMode="auto">
          <a:xfrm>
            <a:off x="307975" y="160338"/>
            <a:ext cx="8455025" cy="6316662"/>
          </a:xfrm>
          <a:prstGeom prst="rect">
            <a:avLst/>
          </a:prstGeom>
          <a:noFill/>
        </p:spPr>
      </p:pic>
    </p:spTree>
    <p:extLst>
      <p:ext uri="{BB962C8B-B14F-4D97-AF65-F5344CB8AC3E}">
        <p14:creationId xmlns:p14="http://schemas.microsoft.com/office/powerpoint/2010/main" val="4547202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p:cNvPicPr>
            <a:picLocks noChangeAspect="1" noChangeArrowheads="1"/>
          </p:cNvPicPr>
          <p:nvPr/>
        </p:nvPicPr>
        <p:blipFill>
          <a:blip r:embed="rId2"/>
          <a:srcRect/>
          <a:stretch>
            <a:fillRect/>
          </a:stretch>
        </p:blipFill>
        <p:spPr bwMode="auto">
          <a:xfrm>
            <a:off x="304800" y="228600"/>
            <a:ext cx="8534400" cy="6400800"/>
          </a:xfrm>
          <a:prstGeom prst="rect">
            <a:avLst/>
          </a:prstGeom>
          <a:noFill/>
        </p:spPr>
      </p:pic>
      <p:sp>
        <p:nvSpPr>
          <p:cNvPr id="133123" name="Text Box 3"/>
          <p:cNvSpPr txBox="1">
            <a:spLocks noChangeArrowheads="1"/>
          </p:cNvSpPr>
          <p:nvPr/>
        </p:nvSpPr>
        <p:spPr bwMode="auto">
          <a:xfrm>
            <a:off x="4343400" y="3581400"/>
            <a:ext cx="4495800" cy="579438"/>
          </a:xfrm>
          <a:prstGeom prst="rect">
            <a:avLst/>
          </a:prstGeom>
          <a:noFill/>
          <a:ln w="9525">
            <a:noFill/>
            <a:miter lim="800000"/>
            <a:headEnd/>
            <a:tailEnd/>
          </a:ln>
          <a:effectLst/>
        </p:spPr>
        <p:txBody>
          <a:bodyPr>
            <a:spAutoFit/>
          </a:bodyPr>
          <a:lstStyle/>
          <a:p>
            <a:pPr>
              <a:spcBef>
                <a:spcPct val="50000"/>
              </a:spcBef>
            </a:pPr>
            <a:r>
              <a:rPr lang="en-US" sz="3200" b="1">
                <a:solidFill>
                  <a:srgbClr val="FF0000"/>
                </a:solidFill>
                <a:latin typeface="Symbol" pitchFamily="18" charset="2"/>
              </a:rPr>
              <a:t>D</a:t>
            </a:r>
            <a:r>
              <a:rPr lang="en-US" sz="3200" b="1">
                <a:solidFill>
                  <a:srgbClr val="FF0000"/>
                </a:solidFill>
              </a:rPr>
              <a:t> = crystal field splitting</a:t>
            </a:r>
          </a:p>
        </p:txBody>
      </p:sp>
    </p:spTree>
    <p:extLst>
      <p:ext uri="{BB962C8B-B14F-4D97-AF65-F5344CB8AC3E}">
        <p14:creationId xmlns:p14="http://schemas.microsoft.com/office/powerpoint/2010/main" val="53448605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descr="0760"/>
          <p:cNvPicPr>
            <a:picLocks noChangeAspect="1" noChangeArrowheads="1"/>
          </p:cNvPicPr>
          <p:nvPr/>
        </p:nvPicPr>
        <p:blipFill>
          <a:blip r:embed="rId2"/>
          <a:srcRect/>
          <a:stretch>
            <a:fillRect/>
          </a:stretch>
        </p:blipFill>
        <p:spPr bwMode="auto">
          <a:xfrm>
            <a:off x="612775" y="76200"/>
            <a:ext cx="8074025" cy="6032500"/>
          </a:xfrm>
          <a:prstGeom prst="rect">
            <a:avLst/>
          </a:prstGeom>
          <a:noFill/>
        </p:spPr>
      </p:pic>
      <p:sp>
        <p:nvSpPr>
          <p:cNvPr id="134147" name="Text Box 3"/>
          <p:cNvSpPr txBox="1">
            <a:spLocks noChangeArrowheads="1"/>
          </p:cNvSpPr>
          <p:nvPr/>
        </p:nvSpPr>
        <p:spPr bwMode="auto">
          <a:xfrm>
            <a:off x="1600200" y="6049963"/>
            <a:ext cx="2743200" cy="579437"/>
          </a:xfrm>
          <a:prstGeom prst="rect">
            <a:avLst/>
          </a:prstGeom>
          <a:noFill/>
          <a:ln w="9525">
            <a:noFill/>
            <a:miter lim="800000"/>
            <a:headEnd/>
            <a:tailEnd/>
          </a:ln>
          <a:effectLst/>
        </p:spPr>
        <p:txBody>
          <a:bodyPr>
            <a:spAutoFit/>
          </a:bodyPr>
          <a:lstStyle/>
          <a:p>
            <a:pPr algn="ctr">
              <a:spcBef>
                <a:spcPct val="50000"/>
              </a:spcBef>
            </a:pPr>
            <a:r>
              <a:rPr lang="en-US" sz="3200" b="1">
                <a:solidFill>
                  <a:srgbClr val="99FF99"/>
                </a:solidFill>
              </a:rPr>
              <a:t>High spin</a:t>
            </a:r>
          </a:p>
        </p:txBody>
      </p:sp>
      <p:sp>
        <p:nvSpPr>
          <p:cNvPr id="134148" name="Text Box 4"/>
          <p:cNvSpPr txBox="1">
            <a:spLocks noChangeArrowheads="1"/>
          </p:cNvSpPr>
          <p:nvPr/>
        </p:nvSpPr>
        <p:spPr bwMode="auto">
          <a:xfrm>
            <a:off x="5410200" y="6049963"/>
            <a:ext cx="2743200" cy="579437"/>
          </a:xfrm>
          <a:prstGeom prst="rect">
            <a:avLst/>
          </a:prstGeom>
          <a:noFill/>
          <a:ln w="9525">
            <a:noFill/>
            <a:miter lim="800000"/>
            <a:headEnd/>
            <a:tailEnd/>
          </a:ln>
          <a:effectLst/>
        </p:spPr>
        <p:txBody>
          <a:bodyPr>
            <a:spAutoFit/>
          </a:bodyPr>
          <a:lstStyle/>
          <a:p>
            <a:pPr algn="ctr">
              <a:spcBef>
                <a:spcPct val="50000"/>
              </a:spcBef>
            </a:pPr>
            <a:r>
              <a:rPr lang="en-US" sz="3200" b="1">
                <a:solidFill>
                  <a:srgbClr val="99FF99"/>
                </a:solidFill>
              </a:rPr>
              <a:t>Low spin</a:t>
            </a:r>
          </a:p>
        </p:txBody>
      </p:sp>
    </p:spTree>
    <p:extLst>
      <p:ext uri="{BB962C8B-B14F-4D97-AF65-F5344CB8AC3E}">
        <p14:creationId xmlns:p14="http://schemas.microsoft.com/office/powerpoint/2010/main" val="227935131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0" name="Picture 2" descr="0756"/>
          <p:cNvPicPr>
            <a:picLocks noChangeAspect="1" noChangeArrowheads="1"/>
          </p:cNvPicPr>
          <p:nvPr/>
        </p:nvPicPr>
        <p:blipFill>
          <a:blip r:embed="rId2"/>
          <a:srcRect/>
          <a:stretch>
            <a:fillRect/>
          </a:stretch>
        </p:blipFill>
        <p:spPr bwMode="auto">
          <a:xfrm>
            <a:off x="307975" y="122238"/>
            <a:ext cx="8607425" cy="6430962"/>
          </a:xfrm>
          <a:prstGeom prst="rect">
            <a:avLst/>
          </a:prstGeom>
          <a:noFill/>
        </p:spPr>
      </p:pic>
    </p:spTree>
    <p:extLst>
      <p:ext uri="{BB962C8B-B14F-4D97-AF65-F5344CB8AC3E}">
        <p14:creationId xmlns:p14="http://schemas.microsoft.com/office/powerpoint/2010/main" val="233919959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descr="0757"/>
          <p:cNvPicPr>
            <a:picLocks noChangeAspect="1" noChangeArrowheads="1"/>
          </p:cNvPicPr>
          <p:nvPr/>
        </p:nvPicPr>
        <p:blipFill>
          <a:blip r:embed="rId2"/>
          <a:srcRect/>
          <a:stretch>
            <a:fillRect/>
          </a:stretch>
        </p:blipFill>
        <p:spPr bwMode="auto">
          <a:xfrm>
            <a:off x="384175" y="122238"/>
            <a:ext cx="8607425" cy="6430962"/>
          </a:xfrm>
          <a:prstGeom prst="rect">
            <a:avLst/>
          </a:prstGeom>
          <a:noFill/>
        </p:spPr>
      </p:pic>
    </p:spTree>
    <p:extLst>
      <p:ext uri="{BB962C8B-B14F-4D97-AF65-F5344CB8AC3E}">
        <p14:creationId xmlns:p14="http://schemas.microsoft.com/office/powerpoint/2010/main" val="27933346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2" descr="0761"/>
          <p:cNvPicPr>
            <a:picLocks noChangeAspect="1" noChangeArrowheads="1"/>
          </p:cNvPicPr>
          <p:nvPr/>
        </p:nvPicPr>
        <p:blipFill>
          <a:blip r:embed="rId2"/>
          <a:srcRect/>
          <a:stretch>
            <a:fillRect/>
          </a:stretch>
        </p:blipFill>
        <p:spPr bwMode="auto">
          <a:xfrm>
            <a:off x="231775" y="84138"/>
            <a:ext cx="8759825" cy="6545262"/>
          </a:xfrm>
          <a:prstGeom prst="rect">
            <a:avLst/>
          </a:prstGeom>
          <a:noFill/>
        </p:spPr>
      </p:pic>
    </p:spTree>
    <p:extLst>
      <p:ext uri="{BB962C8B-B14F-4D97-AF65-F5344CB8AC3E}">
        <p14:creationId xmlns:p14="http://schemas.microsoft.com/office/powerpoint/2010/main" val="236006335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2" descr="0762"/>
          <p:cNvPicPr>
            <a:picLocks noChangeAspect="1" noChangeArrowheads="1"/>
          </p:cNvPicPr>
          <p:nvPr/>
        </p:nvPicPr>
        <p:blipFill>
          <a:blip r:embed="rId2"/>
          <a:srcRect/>
          <a:stretch>
            <a:fillRect/>
          </a:stretch>
        </p:blipFill>
        <p:spPr bwMode="auto">
          <a:xfrm>
            <a:off x="231775" y="141288"/>
            <a:ext cx="8683625" cy="6488112"/>
          </a:xfrm>
          <a:prstGeom prst="rect">
            <a:avLst/>
          </a:prstGeom>
          <a:noFill/>
        </p:spPr>
      </p:pic>
      <p:sp>
        <p:nvSpPr>
          <p:cNvPr id="138243" name="Text Box 3"/>
          <p:cNvSpPr txBox="1">
            <a:spLocks noChangeArrowheads="1"/>
          </p:cNvSpPr>
          <p:nvPr/>
        </p:nvSpPr>
        <p:spPr bwMode="auto">
          <a:xfrm>
            <a:off x="3505200" y="685800"/>
            <a:ext cx="2057400" cy="519113"/>
          </a:xfrm>
          <a:prstGeom prst="rect">
            <a:avLst/>
          </a:prstGeom>
          <a:solidFill>
            <a:schemeClr val="tx1"/>
          </a:solidFill>
          <a:ln w="9525">
            <a:noFill/>
            <a:miter lim="800000"/>
            <a:headEnd/>
            <a:tailEnd/>
          </a:ln>
          <a:effectLst/>
        </p:spPr>
        <p:txBody>
          <a:bodyPr>
            <a:spAutoFit/>
          </a:bodyPr>
          <a:lstStyle/>
          <a:p>
            <a:pPr algn="ctr">
              <a:spcBef>
                <a:spcPct val="50000"/>
              </a:spcBef>
            </a:pPr>
            <a:r>
              <a:rPr lang="en-US" sz="2800" b="1">
                <a:solidFill>
                  <a:schemeClr val="bg2"/>
                </a:solidFill>
              </a:rPr>
              <a:t>[V(H</a:t>
            </a:r>
            <a:r>
              <a:rPr lang="en-US" sz="2800" b="1" baseline="-25000">
                <a:solidFill>
                  <a:schemeClr val="bg2"/>
                </a:solidFill>
              </a:rPr>
              <a:t>2</a:t>
            </a:r>
            <a:r>
              <a:rPr lang="en-US" sz="2800" b="1">
                <a:solidFill>
                  <a:schemeClr val="bg2"/>
                </a:solidFill>
              </a:rPr>
              <a:t>O)</a:t>
            </a:r>
            <a:r>
              <a:rPr lang="en-US" sz="2800" b="1" baseline="-25000">
                <a:solidFill>
                  <a:schemeClr val="bg2"/>
                </a:solidFill>
              </a:rPr>
              <a:t>6</a:t>
            </a:r>
            <a:r>
              <a:rPr lang="en-US" sz="2800" b="1">
                <a:solidFill>
                  <a:schemeClr val="bg2"/>
                </a:solidFill>
              </a:rPr>
              <a:t>]</a:t>
            </a:r>
            <a:r>
              <a:rPr lang="en-US" sz="2800" b="1" baseline="30000">
                <a:solidFill>
                  <a:schemeClr val="bg2"/>
                </a:solidFill>
              </a:rPr>
              <a:t>2+</a:t>
            </a:r>
            <a:endParaRPr lang="en-US" sz="2800" b="1">
              <a:solidFill>
                <a:schemeClr val="bg2"/>
              </a:solidFill>
            </a:endParaRPr>
          </a:p>
        </p:txBody>
      </p:sp>
      <p:sp>
        <p:nvSpPr>
          <p:cNvPr id="138244" name="Text Box 4"/>
          <p:cNvSpPr txBox="1">
            <a:spLocks noChangeArrowheads="1"/>
          </p:cNvSpPr>
          <p:nvPr/>
        </p:nvSpPr>
        <p:spPr bwMode="auto">
          <a:xfrm>
            <a:off x="6400800" y="685800"/>
            <a:ext cx="2057400" cy="519113"/>
          </a:xfrm>
          <a:prstGeom prst="rect">
            <a:avLst/>
          </a:prstGeom>
          <a:solidFill>
            <a:schemeClr val="tx1"/>
          </a:solidFill>
          <a:ln w="9525">
            <a:noFill/>
            <a:miter lim="800000"/>
            <a:headEnd/>
            <a:tailEnd/>
          </a:ln>
          <a:effectLst/>
        </p:spPr>
        <p:txBody>
          <a:bodyPr>
            <a:spAutoFit/>
          </a:bodyPr>
          <a:lstStyle/>
          <a:p>
            <a:pPr algn="ctr">
              <a:spcBef>
                <a:spcPct val="50000"/>
              </a:spcBef>
            </a:pPr>
            <a:r>
              <a:rPr lang="en-US" sz="2800" b="1">
                <a:solidFill>
                  <a:schemeClr val="bg2"/>
                </a:solidFill>
              </a:rPr>
              <a:t>[V(H</a:t>
            </a:r>
            <a:r>
              <a:rPr lang="en-US" sz="2800" b="1" baseline="-25000">
                <a:solidFill>
                  <a:schemeClr val="bg2"/>
                </a:solidFill>
              </a:rPr>
              <a:t>2</a:t>
            </a:r>
            <a:r>
              <a:rPr lang="en-US" sz="2800" b="1">
                <a:solidFill>
                  <a:schemeClr val="bg2"/>
                </a:solidFill>
              </a:rPr>
              <a:t>O)</a:t>
            </a:r>
            <a:r>
              <a:rPr lang="en-US" sz="2800" b="1" baseline="-25000">
                <a:solidFill>
                  <a:schemeClr val="bg2"/>
                </a:solidFill>
              </a:rPr>
              <a:t>6</a:t>
            </a:r>
            <a:r>
              <a:rPr lang="en-US" sz="2800" b="1">
                <a:solidFill>
                  <a:schemeClr val="bg2"/>
                </a:solidFill>
              </a:rPr>
              <a:t>]</a:t>
            </a:r>
            <a:r>
              <a:rPr lang="en-US" sz="2800" b="1" baseline="30000">
                <a:solidFill>
                  <a:schemeClr val="bg2"/>
                </a:solidFill>
              </a:rPr>
              <a:t>3+</a:t>
            </a:r>
            <a:endParaRPr lang="en-US" sz="2800" b="1">
              <a:solidFill>
                <a:schemeClr val="bg2"/>
              </a:solidFill>
            </a:endParaRPr>
          </a:p>
        </p:txBody>
      </p:sp>
      <p:sp>
        <p:nvSpPr>
          <p:cNvPr id="138245" name="Text Box 5"/>
          <p:cNvSpPr txBox="1">
            <a:spLocks noChangeArrowheads="1"/>
          </p:cNvSpPr>
          <p:nvPr/>
        </p:nvSpPr>
        <p:spPr bwMode="auto">
          <a:xfrm>
            <a:off x="3352800" y="3962400"/>
            <a:ext cx="2209800" cy="519113"/>
          </a:xfrm>
          <a:prstGeom prst="rect">
            <a:avLst/>
          </a:prstGeom>
          <a:solidFill>
            <a:schemeClr val="tx1"/>
          </a:solidFill>
          <a:ln w="9525">
            <a:noFill/>
            <a:miter lim="800000"/>
            <a:headEnd/>
            <a:tailEnd/>
          </a:ln>
          <a:effectLst/>
        </p:spPr>
        <p:txBody>
          <a:bodyPr>
            <a:spAutoFit/>
          </a:bodyPr>
          <a:lstStyle/>
          <a:p>
            <a:pPr algn="ctr">
              <a:spcBef>
                <a:spcPct val="50000"/>
              </a:spcBef>
            </a:pPr>
            <a:r>
              <a:rPr lang="en-US" sz="2800" b="1">
                <a:solidFill>
                  <a:schemeClr val="bg2"/>
                </a:solidFill>
              </a:rPr>
              <a:t>[Cr(NH</a:t>
            </a:r>
            <a:r>
              <a:rPr lang="en-US" sz="2800" b="1" baseline="-25000">
                <a:solidFill>
                  <a:schemeClr val="bg2"/>
                </a:solidFill>
              </a:rPr>
              <a:t>3</a:t>
            </a:r>
            <a:r>
              <a:rPr lang="en-US" sz="2800" b="1">
                <a:solidFill>
                  <a:schemeClr val="bg2"/>
                </a:solidFill>
              </a:rPr>
              <a:t>)</a:t>
            </a:r>
            <a:r>
              <a:rPr lang="en-US" sz="2800" b="1" baseline="-25000">
                <a:solidFill>
                  <a:schemeClr val="bg2"/>
                </a:solidFill>
              </a:rPr>
              <a:t>6</a:t>
            </a:r>
            <a:r>
              <a:rPr lang="en-US" sz="2800" b="1">
                <a:solidFill>
                  <a:schemeClr val="bg2"/>
                </a:solidFill>
              </a:rPr>
              <a:t>]</a:t>
            </a:r>
            <a:r>
              <a:rPr lang="en-US" sz="2800" b="1" baseline="30000">
                <a:solidFill>
                  <a:schemeClr val="bg2"/>
                </a:solidFill>
              </a:rPr>
              <a:t>3+</a:t>
            </a:r>
            <a:endParaRPr lang="en-US" sz="2800" b="1">
              <a:solidFill>
                <a:schemeClr val="bg2"/>
              </a:solidFill>
            </a:endParaRPr>
          </a:p>
        </p:txBody>
      </p:sp>
      <p:sp>
        <p:nvSpPr>
          <p:cNvPr id="138246" name="Text Box 6"/>
          <p:cNvSpPr txBox="1">
            <a:spLocks noChangeArrowheads="1"/>
          </p:cNvSpPr>
          <p:nvPr/>
        </p:nvSpPr>
        <p:spPr bwMode="auto">
          <a:xfrm>
            <a:off x="6096000" y="3962400"/>
            <a:ext cx="2590800" cy="519113"/>
          </a:xfrm>
          <a:prstGeom prst="rect">
            <a:avLst/>
          </a:prstGeom>
          <a:solidFill>
            <a:schemeClr val="tx1"/>
          </a:solidFill>
          <a:ln w="9525">
            <a:noFill/>
            <a:miter lim="800000"/>
            <a:headEnd/>
            <a:tailEnd/>
          </a:ln>
          <a:effectLst/>
        </p:spPr>
        <p:txBody>
          <a:bodyPr>
            <a:spAutoFit/>
          </a:bodyPr>
          <a:lstStyle/>
          <a:p>
            <a:pPr algn="ctr">
              <a:spcBef>
                <a:spcPct val="50000"/>
              </a:spcBef>
            </a:pPr>
            <a:r>
              <a:rPr lang="en-US" sz="2800" b="1">
                <a:solidFill>
                  <a:schemeClr val="bg2"/>
                </a:solidFill>
              </a:rPr>
              <a:t>[Cr(NH</a:t>
            </a:r>
            <a:r>
              <a:rPr lang="en-US" sz="2800" b="1" baseline="-25000">
                <a:solidFill>
                  <a:schemeClr val="bg2"/>
                </a:solidFill>
              </a:rPr>
              <a:t>3</a:t>
            </a:r>
            <a:r>
              <a:rPr lang="en-US" sz="2800" b="1">
                <a:solidFill>
                  <a:schemeClr val="bg2"/>
                </a:solidFill>
              </a:rPr>
              <a:t>)</a:t>
            </a:r>
            <a:r>
              <a:rPr lang="en-US" sz="2800" b="1" baseline="-25000">
                <a:solidFill>
                  <a:schemeClr val="bg2"/>
                </a:solidFill>
              </a:rPr>
              <a:t>5</a:t>
            </a:r>
            <a:r>
              <a:rPr lang="en-US" sz="2800" b="1">
                <a:solidFill>
                  <a:schemeClr val="bg2"/>
                </a:solidFill>
              </a:rPr>
              <a:t>Cl]</a:t>
            </a:r>
            <a:r>
              <a:rPr lang="en-US" sz="2800" b="1" baseline="30000">
                <a:solidFill>
                  <a:schemeClr val="bg2"/>
                </a:solidFill>
              </a:rPr>
              <a:t>2+s</a:t>
            </a:r>
          </a:p>
        </p:txBody>
      </p:sp>
    </p:spTree>
    <p:extLst>
      <p:ext uri="{BB962C8B-B14F-4D97-AF65-F5344CB8AC3E}">
        <p14:creationId xmlns:p14="http://schemas.microsoft.com/office/powerpoint/2010/main" val="230030095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descr="0763"/>
          <p:cNvPicPr>
            <a:picLocks noChangeAspect="1" noChangeArrowheads="1"/>
          </p:cNvPicPr>
          <p:nvPr/>
        </p:nvPicPr>
        <p:blipFill>
          <a:blip r:embed="rId2"/>
          <a:srcRect/>
          <a:stretch>
            <a:fillRect/>
          </a:stretch>
        </p:blipFill>
        <p:spPr bwMode="auto">
          <a:xfrm>
            <a:off x="155575" y="103188"/>
            <a:ext cx="8836025" cy="6602412"/>
          </a:xfrm>
          <a:prstGeom prst="rect">
            <a:avLst/>
          </a:prstGeom>
          <a:noFill/>
        </p:spPr>
      </p:pic>
    </p:spTree>
    <p:extLst>
      <p:ext uri="{BB962C8B-B14F-4D97-AF65-F5344CB8AC3E}">
        <p14:creationId xmlns:p14="http://schemas.microsoft.com/office/powerpoint/2010/main" val="291576447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0" name="Picture 2" descr="0764"/>
          <p:cNvPicPr>
            <a:picLocks noChangeAspect="1" noChangeArrowheads="1"/>
          </p:cNvPicPr>
          <p:nvPr/>
        </p:nvPicPr>
        <p:blipFill>
          <a:blip r:embed="rId2"/>
          <a:srcRect/>
          <a:stretch>
            <a:fillRect/>
          </a:stretch>
        </p:blipFill>
        <p:spPr bwMode="auto">
          <a:xfrm>
            <a:off x="228600" y="368300"/>
            <a:ext cx="8531225" cy="6373813"/>
          </a:xfrm>
          <a:prstGeom prst="rect">
            <a:avLst/>
          </a:prstGeom>
          <a:noFill/>
        </p:spPr>
      </p:pic>
    </p:spTree>
    <p:extLst>
      <p:ext uri="{BB962C8B-B14F-4D97-AF65-F5344CB8AC3E}">
        <p14:creationId xmlns:p14="http://schemas.microsoft.com/office/powerpoint/2010/main" val="402148934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descr="0765"/>
          <p:cNvPicPr>
            <a:picLocks noChangeAspect="1" noChangeArrowheads="1"/>
          </p:cNvPicPr>
          <p:nvPr/>
        </p:nvPicPr>
        <p:blipFill>
          <a:blip r:embed="rId2"/>
          <a:srcRect/>
          <a:stretch>
            <a:fillRect/>
          </a:stretch>
        </p:blipFill>
        <p:spPr bwMode="auto">
          <a:xfrm>
            <a:off x="231775" y="103188"/>
            <a:ext cx="8836025" cy="6602412"/>
          </a:xfrm>
          <a:prstGeom prst="rect">
            <a:avLst/>
          </a:prstGeom>
          <a:noFill/>
        </p:spPr>
      </p:pic>
    </p:spTree>
    <p:extLst>
      <p:ext uri="{BB962C8B-B14F-4D97-AF65-F5344CB8AC3E}">
        <p14:creationId xmlns:p14="http://schemas.microsoft.com/office/powerpoint/2010/main" val="136558540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2"/>
          <p:cNvPicPr>
            <a:picLocks noChangeAspect="1" noChangeArrowheads="1"/>
          </p:cNvPicPr>
          <p:nvPr/>
        </p:nvPicPr>
        <p:blipFill>
          <a:blip r:embed="rId2"/>
          <a:srcRect l="2499" t="12222" r="1666" b="14444"/>
          <a:stretch>
            <a:fillRect/>
          </a:stretch>
        </p:blipFill>
        <p:spPr bwMode="auto">
          <a:xfrm>
            <a:off x="228600" y="990600"/>
            <a:ext cx="8763000" cy="5029200"/>
          </a:xfrm>
          <a:prstGeom prst="rect">
            <a:avLst/>
          </a:prstGeom>
          <a:noFill/>
        </p:spPr>
      </p:pic>
      <p:sp>
        <p:nvSpPr>
          <p:cNvPr id="142339" name="Rectangle 3"/>
          <p:cNvSpPr>
            <a:spLocks noGrp="1" noChangeArrowheads="1"/>
          </p:cNvSpPr>
          <p:nvPr>
            <p:ph type="title"/>
          </p:nvPr>
        </p:nvSpPr>
        <p:spPr/>
        <p:txBody>
          <a:bodyPr/>
          <a:lstStyle/>
          <a:p>
            <a:r>
              <a:rPr lang="en-US"/>
              <a:t>Tetrahedral Complexes</a:t>
            </a:r>
          </a:p>
        </p:txBody>
      </p:sp>
    </p:spTree>
    <p:extLst>
      <p:ext uri="{BB962C8B-B14F-4D97-AF65-F5344CB8AC3E}">
        <p14:creationId xmlns:p14="http://schemas.microsoft.com/office/powerpoint/2010/main" val="14646426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descr="0766"/>
          <p:cNvPicPr>
            <a:picLocks noChangeAspect="1" noChangeArrowheads="1"/>
          </p:cNvPicPr>
          <p:nvPr/>
        </p:nvPicPr>
        <p:blipFill>
          <a:blip r:embed="rId2"/>
          <a:srcRect b="9814"/>
          <a:stretch>
            <a:fillRect/>
          </a:stretch>
        </p:blipFill>
        <p:spPr bwMode="auto">
          <a:xfrm>
            <a:off x="76200" y="195263"/>
            <a:ext cx="8988425" cy="6053137"/>
          </a:xfrm>
          <a:prstGeom prst="rect">
            <a:avLst/>
          </a:prstGeom>
          <a:noFill/>
        </p:spPr>
      </p:pic>
    </p:spTree>
    <p:extLst>
      <p:ext uri="{BB962C8B-B14F-4D97-AF65-F5344CB8AC3E}">
        <p14:creationId xmlns:p14="http://schemas.microsoft.com/office/powerpoint/2010/main" val="272248627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p:cNvPicPr>
            <a:picLocks noChangeAspect="1" noChangeArrowheads="1"/>
          </p:cNvPicPr>
          <p:nvPr/>
        </p:nvPicPr>
        <p:blipFill>
          <a:blip r:embed="rId2"/>
          <a:srcRect t="14444" r="4167" b="14444"/>
          <a:stretch>
            <a:fillRect/>
          </a:stretch>
        </p:blipFill>
        <p:spPr bwMode="auto">
          <a:xfrm>
            <a:off x="228600" y="1143000"/>
            <a:ext cx="8763000" cy="4876800"/>
          </a:xfrm>
          <a:prstGeom prst="rect">
            <a:avLst/>
          </a:prstGeom>
          <a:noFill/>
        </p:spPr>
      </p:pic>
      <p:sp>
        <p:nvSpPr>
          <p:cNvPr id="144387" name="Rectangle 3"/>
          <p:cNvSpPr>
            <a:spLocks noChangeArrowheads="1"/>
          </p:cNvSpPr>
          <p:nvPr/>
        </p:nvSpPr>
        <p:spPr bwMode="auto">
          <a:xfrm>
            <a:off x="457200" y="152400"/>
            <a:ext cx="8153400" cy="685800"/>
          </a:xfrm>
          <a:prstGeom prst="rect">
            <a:avLst/>
          </a:prstGeom>
          <a:noFill/>
          <a:ln w="9525">
            <a:noFill/>
            <a:miter lim="800000"/>
            <a:headEnd/>
            <a:tailEnd/>
          </a:ln>
          <a:effectLst/>
        </p:spPr>
        <p:txBody>
          <a:bodyPr lIns="92075" tIns="46038" rIns="92075" bIns="46038" anchor="ctr"/>
          <a:lstStyle/>
          <a:p>
            <a:pPr algn="ctr"/>
            <a:r>
              <a:rPr lang="en-US" sz="3600">
                <a:solidFill>
                  <a:schemeClr val="tx2"/>
                </a:solidFill>
              </a:rPr>
              <a:t>Square Planar &amp; Linear Complexes</a:t>
            </a:r>
          </a:p>
        </p:txBody>
      </p:sp>
      <p:sp>
        <p:nvSpPr>
          <p:cNvPr id="144388" name="Text Box 4"/>
          <p:cNvSpPr txBox="1">
            <a:spLocks noChangeArrowheads="1"/>
          </p:cNvSpPr>
          <p:nvPr/>
        </p:nvSpPr>
        <p:spPr bwMode="auto">
          <a:xfrm>
            <a:off x="228600" y="5943600"/>
            <a:ext cx="4572000" cy="519113"/>
          </a:xfrm>
          <a:prstGeom prst="rect">
            <a:avLst/>
          </a:prstGeom>
          <a:solidFill>
            <a:schemeClr val="tx1"/>
          </a:solidFill>
          <a:ln w="9525">
            <a:noFill/>
            <a:miter lim="800000"/>
            <a:headEnd/>
            <a:tailEnd/>
          </a:ln>
          <a:effectLst/>
        </p:spPr>
        <p:txBody>
          <a:bodyPr>
            <a:spAutoFit/>
          </a:bodyPr>
          <a:lstStyle/>
          <a:p>
            <a:pPr>
              <a:spcBef>
                <a:spcPct val="50000"/>
              </a:spcBef>
            </a:pPr>
            <a:r>
              <a:rPr lang="en-US" sz="2800">
                <a:solidFill>
                  <a:schemeClr val="bg2"/>
                </a:solidFill>
              </a:rPr>
              <a:t>Approach along x-and y-axes</a:t>
            </a:r>
          </a:p>
        </p:txBody>
      </p:sp>
      <p:sp>
        <p:nvSpPr>
          <p:cNvPr id="144390" name="Text Box 6"/>
          <p:cNvSpPr txBox="1">
            <a:spLocks noChangeArrowheads="1"/>
          </p:cNvSpPr>
          <p:nvPr/>
        </p:nvSpPr>
        <p:spPr bwMode="auto">
          <a:xfrm>
            <a:off x="4800600" y="5943600"/>
            <a:ext cx="4191000" cy="519113"/>
          </a:xfrm>
          <a:prstGeom prst="rect">
            <a:avLst/>
          </a:prstGeom>
          <a:solidFill>
            <a:schemeClr val="tx1"/>
          </a:solidFill>
          <a:ln w="9525">
            <a:noFill/>
            <a:miter lim="800000"/>
            <a:headEnd/>
            <a:tailEnd/>
          </a:ln>
          <a:effectLst/>
        </p:spPr>
        <p:txBody>
          <a:bodyPr>
            <a:spAutoFit/>
          </a:bodyPr>
          <a:lstStyle/>
          <a:p>
            <a:pPr algn="r">
              <a:spcBef>
                <a:spcPct val="50000"/>
              </a:spcBef>
            </a:pPr>
            <a:r>
              <a:rPr lang="en-US" sz="2800">
                <a:solidFill>
                  <a:schemeClr val="bg2"/>
                </a:solidFill>
              </a:rPr>
              <a:t>Approach along z-axis</a:t>
            </a:r>
          </a:p>
        </p:txBody>
      </p:sp>
    </p:spTree>
    <p:extLst>
      <p:ext uri="{BB962C8B-B14F-4D97-AF65-F5344CB8AC3E}">
        <p14:creationId xmlns:p14="http://schemas.microsoft.com/office/powerpoint/2010/main" val="221307668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ChangeArrowheads="1"/>
          </p:cNvSpPr>
          <p:nvPr/>
        </p:nvSpPr>
        <p:spPr bwMode="auto">
          <a:xfrm>
            <a:off x="1588" y="5562600"/>
            <a:ext cx="9064625" cy="69850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sz="4000"/>
              <a:t>trans-[Co(en)</a:t>
            </a:r>
            <a:r>
              <a:rPr lang="en-US" sz="4000" baseline="-25000"/>
              <a:t>2</a:t>
            </a:r>
            <a:r>
              <a:rPr lang="en-US" sz="4000"/>
              <a:t>Cl</a:t>
            </a:r>
            <a:r>
              <a:rPr lang="en-US" sz="4000" baseline="-25000"/>
              <a:t>2</a:t>
            </a:r>
            <a:r>
              <a:rPr lang="en-US" sz="4000"/>
              <a:t>]</a:t>
            </a:r>
            <a:r>
              <a:rPr lang="en-US" sz="4000" baseline="30000"/>
              <a:t>+</a:t>
            </a:r>
          </a:p>
        </p:txBody>
      </p:sp>
      <p:sp>
        <p:nvSpPr>
          <p:cNvPr id="57347" name="Text Box 5"/>
          <p:cNvSpPr txBox="1">
            <a:spLocks noChangeArrowheads="1"/>
          </p:cNvSpPr>
          <p:nvPr/>
        </p:nvSpPr>
        <p:spPr bwMode="auto">
          <a:xfrm>
            <a:off x="228600" y="228600"/>
            <a:ext cx="1905000" cy="519113"/>
          </a:xfrm>
          <a:prstGeom prst="rect">
            <a:avLst/>
          </a:prstGeom>
          <a:noFill/>
          <a:ln w="12700">
            <a:noFill/>
            <a:miter lim="800000"/>
            <a:headEnd/>
            <a:tailEnd/>
          </a:ln>
        </p:spPr>
        <p:txBody>
          <a:bodyPr>
            <a:spAutoFit/>
          </a:bodyPr>
          <a:lstStyle/>
          <a:p>
            <a:pPr eaLnBrk="0" hangingPunct="0">
              <a:spcBef>
                <a:spcPct val="50000"/>
              </a:spcBef>
            </a:pPr>
            <a:r>
              <a:rPr lang="en-US" sz="2800"/>
              <a:t>Example 2</a:t>
            </a:r>
          </a:p>
        </p:txBody>
      </p:sp>
      <p:sp>
        <p:nvSpPr>
          <p:cNvPr id="57348" name="Rectangle 9"/>
          <p:cNvSpPr>
            <a:spLocks noChangeArrowheads="1"/>
          </p:cNvSpPr>
          <p:nvPr/>
        </p:nvSpPr>
        <p:spPr bwMode="auto">
          <a:xfrm>
            <a:off x="762000" y="685800"/>
            <a:ext cx="7848600" cy="638175"/>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sz="3600"/>
              <a:t>Superimposable-not enantiomers</a:t>
            </a:r>
          </a:p>
        </p:txBody>
      </p:sp>
      <p:pic>
        <p:nvPicPr>
          <p:cNvPr id="57349" name="Picture 11"/>
          <p:cNvPicPr>
            <a:picLocks noChangeAspect="1" noChangeArrowheads="1"/>
          </p:cNvPicPr>
          <p:nvPr/>
        </p:nvPicPr>
        <p:blipFill>
          <a:blip r:embed="rId2"/>
          <a:srcRect/>
          <a:stretch>
            <a:fillRect/>
          </a:stretch>
        </p:blipFill>
        <p:spPr bwMode="auto">
          <a:xfrm>
            <a:off x="76200" y="1322388"/>
            <a:ext cx="4419600" cy="3890962"/>
          </a:xfrm>
          <a:prstGeom prst="rect">
            <a:avLst/>
          </a:prstGeom>
          <a:solidFill>
            <a:schemeClr val="bg1"/>
          </a:solidFill>
          <a:ln w="12700">
            <a:noFill/>
            <a:miter lim="800000"/>
            <a:headEnd/>
            <a:tailEnd/>
          </a:ln>
        </p:spPr>
      </p:pic>
      <p:pic>
        <p:nvPicPr>
          <p:cNvPr id="57350" name="Picture 12"/>
          <p:cNvPicPr>
            <a:picLocks noChangeAspect="1" noChangeArrowheads="1"/>
          </p:cNvPicPr>
          <p:nvPr/>
        </p:nvPicPr>
        <p:blipFill>
          <a:blip r:embed="rId2"/>
          <a:srcRect/>
          <a:stretch>
            <a:fillRect/>
          </a:stretch>
        </p:blipFill>
        <p:spPr bwMode="auto">
          <a:xfrm>
            <a:off x="4419600" y="1447800"/>
            <a:ext cx="4343400" cy="3824288"/>
          </a:xfrm>
          <a:prstGeom prst="rect">
            <a:avLst/>
          </a:prstGeom>
          <a:solidFill>
            <a:schemeClr val="bg1"/>
          </a:solidFill>
          <a:ln w="12700">
            <a:noFill/>
            <a:miter lim="800000"/>
            <a:headEnd/>
            <a:tailEnd/>
          </a:ln>
        </p:spPr>
      </p:pic>
    </p:spTree>
    <p:extLst>
      <p:ext uri="{BB962C8B-B14F-4D97-AF65-F5344CB8AC3E}">
        <p14:creationId xmlns:p14="http://schemas.microsoft.com/office/powerpoint/2010/main" val="825231208"/>
      </p:ext>
    </p:extLst>
  </p:cSld>
  <p:clrMapOvr>
    <a:masterClrMapping/>
  </p:clrMapOvr>
  <p:transition>
    <p:zoom dir="in"/>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title"/>
          </p:nvPr>
        </p:nvSpPr>
        <p:spPr/>
        <p:txBody>
          <a:bodyPr/>
          <a:lstStyle/>
          <a:p>
            <a:pPr eaLnBrk="1" hangingPunct="1"/>
            <a:r>
              <a:rPr lang="en-US"/>
              <a:t>Properties of Optical Isomers</a:t>
            </a:r>
          </a:p>
        </p:txBody>
      </p:sp>
      <p:sp>
        <p:nvSpPr>
          <p:cNvPr id="58371" name="Rectangle 5"/>
          <p:cNvSpPr>
            <a:spLocks noGrp="1" noChangeArrowheads="1"/>
          </p:cNvSpPr>
          <p:nvPr>
            <p:ph type="body" idx="1"/>
          </p:nvPr>
        </p:nvSpPr>
        <p:spPr/>
        <p:txBody>
          <a:bodyPr>
            <a:normAutofit lnSpcReduction="10000"/>
          </a:bodyPr>
          <a:lstStyle/>
          <a:p>
            <a:pPr eaLnBrk="1" hangingPunct="1"/>
            <a:r>
              <a:rPr lang="en-US" sz="3600"/>
              <a:t>Enantiomers </a:t>
            </a:r>
          </a:p>
          <a:p>
            <a:pPr lvl="1" eaLnBrk="1" hangingPunct="1"/>
            <a:r>
              <a:rPr lang="en-US" sz="3600"/>
              <a:t>possess many identical properties</a:t>
            </a:r>
          </a:p>
          <a:p>
            <a:pPr lvl="2" eaLnBrk="1" hangingPunct="1"/>
            <a:r>
              <a:rPr lang="en-US" sz="3600"/>
              <a:t>solubility, melting point, boiling point, color, chemical reactivity (with nonchiral reagents)</a:t>
            </a:r>
          </a:p>
          <a:p>
            <a:pPr lvl="1" eaLnBrk="1" hangingPunct="1"/>
            <a:r>
              <a:rPr lang="en-US" sz="3600"/>
              <a:t>different in:</a:t>
            </a:r>
          </a:p>
          <a:p>
            <a:pPr lvl="2" eaLnBrk="1" hangingPunct="1"/>
            <a:r>
              <a:rPr lang="en-US" sz="3600"/>
              <a:t>interactions with plane polarized light	</a:t>
            </a:r>
          </a:p>
        </p:txBody>
      </p:sp>
    </p:spTree>
    <p:extLst>
      <p:ext uri="{BB962C8B-B14F-4D97-AF65-F5344CB8AC3E}">
        <p14:creationId xmlns:p14="http://schemas.microsoft.com/office/powerpoint/2010/main" val="4246103765"/>
      </p:ext>
    </p:extLst>
  </p:cSld>
  <p:clrMapOvr>
    <a:masterClrMapping/>
  </p:clrMapOvr>
  <p:transition>
    <p:zoom dir="in"/>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a:noFill/>
        </p:spPr>
        <p:txBody>
          <a:bodyPr lIns="90488" tIns="44450" rIns="90488" bIns="44450"/>
          <a:lstStyle/>
          <a:p>
            <a:pPr eaLnBrk="1" hangingPunct="1"/>
            <a:r>
              <a:rPr lang="en-US"/>
              <a:t>Optical Isomers</a:t>
            </a:r>
          </a:p>
        </p:txBody>
      </p:sp>
      <p:sp>
        <p:nvSpPr>
          <p:cNvPr id="5125" name="Freeform 3"/>
          <p:cNvSpPr>
            <a:spLocks/>
          </p:cNvSpPr>
          <p:nvPr/>
        </p:nvSpPr>
        <p:spPr bwMode="auto">
          <a:xfrm>
            <a:off x="6543675" y="4019550"/>
            <a:ext cx="2373313" cy="1163638"/>
          </a:xfrm>
          <a:custGeom>
            <a:avLst/>
            <a:gdLst>
              <a:gd name="T0" fmla="*/ 0 w 1495"/>
              <a:gd name="T1" fmla="*/ 231775 h 733"/>
              <a:gd name="T2" fmla="*/ 65088 w 1495"/>
              <a:gd name="T3" fmla="*/ 144463 h 733"/>
              <a:gd name="T4" fmla="*/ 160338 w 1495"/>
              <a:gd name="T5" fmla="*/ 73025 h 733"/>
              <a:gd name="T6" fmla="*/ 255588 w 1495"/>
              <a:gd name="T7" fmla="*/ 14288 h 733"/>
              <a:gd name="T8" fmla="*/ 368300 w 1495"/>
              <a:gd name="T9" fmla="*/ 0 h 733"/>
              <a:gd name="T10" fmla="*/ 481013 w 1495"/>
              <a:gd name="T11" fmla="*/ 14288 h 733"/>
              <a:gd name="T12" fmla="*/ 512763 w 1495"/>
              <a:gd name="T13" fmla="*/ 101600 h 733"/>
              <a:gd name="T14" fmla="*/ 528638 w 1495"/>
              <a:gd name="T15" fmla="*/ 203200 h 733"/>
              <a:gd name="T16" fmla="*/ 544513 w 1495"/>
              <a:gd name="T17" fmla="*/ 304800 h 733"/>
              <a:gd name="T18" fmla="*/ 576263 w 1495"/>
              <a:gd name="T19" fmla="*/ 406400 h 733"/>
              <a:gd name="T20" fmla="*/ 576263 w 1495"/>
              <a:gd name="T21" fmla="*/ 508000 h 733"/>
              <a:gd name="T22" fmla="*/ 609600 w 1495"/>
              <a:gd name="T23" fmla="*/ 623888 h 733"/>
              <a:gd name="T24" fmla="*/ 641350 w 1495"/>
              <a:gd name="T25" fmla="*/ 727075 h 733"/>
              <a:gd name="T26" fmla="*/ 704850 w 1495"/>
              <a:gd name="T27" fmla="*/ 814388 h 733"/>
              <a:gd name="T28" fmla="*/ 769938 w 1495"/>
              <a:gd name="T29" fmla="*/ 900113 h 733"/>
              <a:gd name="T30" fmla="*/ 865188 w 1495"/>
              <a:gd name="T31" fmla="*/ 987425 h 733"/>
              <a:gd name="T32" fmla="*/ 946150 w 1495"/>
              <a:gd name="T33" fmla="*/ 1046163 h 733"/>
              <a:gd name="T34" fmla="*/ 1057275 w 1495"/>
              <a:gd name="T35" fmla="*/ 1060450 h 733"/>
              <a:gd name="T36" fmla="*/ 1154113 w 1495"/>
              <a:gd name="T37" fmla="*/ 987425 h 733"/>
              <a:gd name="T38" fmla="*/ 1233488 w 1495"/>
              <a:gd name="T39" fmla="*/ 871538 h 733"/>
              <a:gd name="T40" fmla="*/ 1282700 w 1495"/>
              <a:gd name="T41" fmla="*/ 784225 h 733"/>
              <a:gd name="T42" fmla="*/ 1330325 w 1495"/>
              <a:gd name="T43" fmla="*/ 682625 h 733"/>
              <a:gd name="T44" fmla="*/ 1362075 w 1495"/>
              <a:gd name="T45" fmla="*/ 581025 h 733"/>
              <a:gd name="T46" fmla="*/ 1409700 w 1495"/>
              <a:gd name="T47" fmla="*/ 479425 h 733"/>
              <a:gd name="T48" fmla="*/ 1458913 w 1495"/>
              <a:gd name="T49" fmla="*/ 377825 h 733"/>
              <a:gd name="T50" fmla="*/ 1522413 w 1495"/>
              <a:gd name="T51" fmla="*/ 290513 h 733"/>
              <a:gd name="T52" fmla="*/ 1617663 w 1495"/>
              <a:gd name="T53" fmla="*/ 219075 h 733"/>
              <a:gd name="T54" fmla="*/ 1714501 w 1495"/>
              <a:gd name="T55" fmla="*/ 174625 h 733"/>
              <a:gd name="T56" fmla="*/ 1811338 w 1495"/>
              <a:gd name="T57" fmla="*/ 247650 h 733"/>
              <a:gd name="T58" fmla="*/ 1858963 w 1495"/>
              <a:gd name="T59" fmla="*/ 334963 h 733"/>
              <a:gd name="T60" fmla="*/ 1922463 w 1495"/>
              <a:gd name="T61" fmla="*/ 450850 h 733"/>
              <a:gd name="T62" fmla="*/ 1971676 w 1495"/>
              <a:gd name="T63" fmla="*/ 538163 h 733"/>
              <a:gd name="T64" fmla="*/ 2003426 w 1495"/>
              <a:gd name="T65" fmla="*/ 654050 h 733"/>
              <a:gd name="T66" fmla="*/ 2066926 w 1495"/>
              <a:gd name="T67" fmla="*/ 769938 h 733"/>
              <a:gd name="T68" fmla="*/ 2098676 w 1495"/>
              <a:gd name="T69" fmla="*/ 857250 h 733"/>
              <a:gd name="T70" fmla="*/ 2147888 w 1495"/>
              <a:gd name="T71" fmla="*/ 973138 h 733"/>
              <a:gd name="T72" fmla="*/ 2227263 w 1495"/>
              <a:gd name="T73" fmla="*/ 1074738 h 733"/>
              <a:gd name="T74" fmla="*/ 2324101 w 1495"/>
              <a:gd name="T75" fmla="*/ 1147763 h 73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495"/>
              <a:gd name="T115" fmla="*/ 0 h 733"/>
              <a:gd name="T116" fmla="*/ 1495 w 1495"/>
              <a:gd name="T117" fmla="*/ 733 h 73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495" h="733">
                <a:moveTo>
                  <a:pt x="4" y="178"/>
                </a:moveTo>
                <a:lnTo>
                  <a:pt x="0" y="146"/>
                </a:lnTo>
                <a:lnTo>
                  <a:pt x="10" y="119"/>
                </a:lnTo>
                <a:lnTo>
                  <a:pt x="41" y="91"/>
                </a:lnTo>
                <a:lnTo>
                  <a:pt x="71" y="73"/>
                </a:lnTo>
                <a:lnTo>
                  <a:pt x="101" y="46"/>
                </a:lnTo>
                <a:lnTo>
                  <a:pt x="131" y="28"/>
                </a:lnTo>
                <a:lnTo>
                  <a:pt x="161" y="9"/>
                </a:lnTo>
                <a:lnTo>
                  <a:pt x="192" y="0"/>
                </a:lnTo>
                <a:lnTo>
                  <a:pt x="232" y="0"/>
                </a:lnTo>
                <a:lnTo>
                  <a:pt x="272" y="0"/>
                </a:lnTo>
                <a:lnTo>
                  <a:pt x="303" y="9"/>
                </a:lnTo>
                <a:lnTo>
                  <a:pt x="313" y="37"/>
                </a:lnTo>
                <a:lnTo>
                  <a:pt x="323" y="64"/>
                </a:lnTo>
                <a:lnTo>
                  <a:pt x="333" y="101"/>
                </a:lnTo>
                <a:lnTo>
                  <a:pt x="333" y="128"/>
                </a:lnTo>
                <a:lnTo>
                  <a:pt x="333" y="156"/>
                </a:lnTo>
                <a:lnTo>
                  <a:pt x="343" y="192"/>
                </a:lnTo>
                <a:lnTo>
                  <a:pt x="353" y="229"/>
                </a:lnTo>
                <a:lnTo>
                  <a:pt x="363" y="256"/>
                </a:lnTo>
                <a:lnTo>
                  <a:pt x="363" y="284"/>
                </a:lnTo>
                <a:lnTo>
                  <a:pt x="363" y="320"/>
                </a:lnTo>
                <a:lnTo>
                  <a:pt x="374" y="357"/>
                </a:lnTo>
                <a:lnTo>
                  <a:pt x="384" y="393"/>
                </a:lnTo>
                <a:lnTo>
                  <a:pt x="394" y="430"/>
                </a:lnTo>
                <a:lnTo>
                  <a:pt x="404" y="458"/>
                </a:lnTo>
                <a:lnTo>
                  <a:pt x="414" y="485"/>
                </a:lnTo>
                <a:lnTo>
                  <a:pt x="444" y="513"/>
                </a:lnTo>
                <a:lnTo>
                  <a:pt x="455" y="540"/>
                </a:lnTo>
                <a:lnTo>
                  <a:pt x="485" y="567"/>
                </a:lnTo>
                <a:lnTo>
                  <a:pt x="515" y="594"/>
                </a:lnTo>
                <a:lnTo>
                  <a:pt x="545" y="622"/>
                </a:lnTo>
                <a:lnTo>
                  <a:pt x="566" y="649"/>
                </a:lnTo>
                <a:lnTo>
                  <a:pt x="596" y="659"/>
                </a:lnTo>
                <a:lnTo>
                  <a:pt x="636" y="668"/>
                </a:lnTo>
                <a:lnTo>
                  <a:pt x="666" y="668"/>
                </a:lnTo>
                <a:lnTo>
                  <a:pt x="697" y="649"/>
                </a:lnTo>
                <a:lnTo>
                  <a:pt x="727" y="622"/>
                </a:lnTo>
                <a:lnTo>
                  <a:pt x="747" y="586"/>
                </a:lnTo>
                <a:lnTo>
                  <a:pt x="777" y="549"/>
                </a:lnTo>
                <a:lnTo>
                  <a:pt x="797" y="521"/>
                </a:lnTo>
                <a:lnTo>
                  <a:pt x="808" y="494"/>
                </a:lnTo>
                <a:lnTo>
                  <a:pt x="828" y="458"/>
                </a:lnTo>
                <a:lnTo>
                  <a:pt x="838" y="430"/>
                </a:lnTo>
                <a:lnTo>
                  <a:pt x="848" y="403"/>
                </a:lnTo>
                <a:lnTo>
                  <a:pt x="858" y="366"/>
                </a:lnTo>
                <a:lnTo>
                  <a:pt x="878" y="329"/>
                </a:lnTo>
                <a:lnTo>
                  <a:pt x="888" y="302"/>
                </a:lnTo>
                <a:lnTo>
                  <a:pt x="899" y="274"/>
                </a:lnTo>
                <a:lnTo>
                  <a:pt x="919" y="238"/>
                </a:lnTo>
                <a:lnTo>
                  <a:pt x="939" y="211"/>
                </a:lnTo>
                <a:lnTo>
                  <a:pt x="959" y="183"/>
                </a:lnTo>
                <a:lnTo>
                  <a:pt x="989" y="156"/>
                </a:lnTo>
                <a:lnTo>
                  <a:pt x="1019" y="138"/>
                </a:lnTo>
                <a:lnTo>
                  <a:pt x="1050" y="119"/>
                </a:lnTo>
                <a:lnTo>
                  <a:pt x="1080" y="110"/>
                </a:lnTo>
                <a:lnTo>
                  <a:pt x="1110" y="138"/>
                </a:lnTo>
                <a:lnTo>
                  <a:pt x="1141" y="156"/>
                </a:lnTo>
                <a:lnTo>
                  <a:pt x="1151" y="183"/>
                </a:lnTo>
                <a:lnTo>
                  <a:pt x="1171" y="211"/>
                </a:lnTo>
                <a:lnTo>
                  <a:pt x="1191" y="238"/>
                </a:lnTo>
                <a:lnTo>
                  <a:pt x="1211" y="284"/>
                </a:lnTo>
                <a:lnTo>
                  <a:pt x="1222" y="311"/>
                </a:lnTo>
                <a:lnTo>
                  <a:pt x="1242" y="339"/>
                </a:lnTo>
                <a:lnTo>
                  <a:pt x="1252" y="375"/>
                </a:lnTo>
                <a:lnTo>
                  <a:pt x="1262" y="412"/>
                </a:lnTo>
                <a:lnTo>
                  <a:pt x="1282" y="448"/>
                </a:lnTo>
                <a:lnTo>
                  <a:pt x="1302" y="485"/>
                </a:lnTo>
                <a:lnTo>
                  <a:pt x="1313" y="513"/>
                </a:lnTo>
                <a:lnTo>
                  <a:pt x="1322" y="540"/>
                </a:lnTo>
                <a:lnTo>
                  <a:pt x="1333" y="576"/>
                </a:lnTo>
                <a:lnTo>
                  <a:pt x="1353" y="613"/>
                </a:lnTo>
                <a:lnTo>
                  <a:pt x="1373" y="649"/>
                </a:lnTo>
                <a:lnTo>
                  <a:pt x="1403" y="677"/>
                </a:lnTo>
                <a:lnTo>
                  <a:pt x="1424" y="704"/>
                </a:lnTo>
                <a:lnTo>
                  <a:pt x="1464" y="723"/>
                </a:lnTo>
                <a:lnTo>
                  <a:pt x="1494" y="732"/>
                </a:lnTo>
              </a:path>
            </a:pathLst>
          </a:custGeom>
          <a:solidFill>
            <a:srgbClr val="00CCFF"/>
          </a:solidFill>
          <a:ln w="12700" cap="rnd" cmpd="sng">
            <a:solidFill>
              <a:schemeClr val="tx1"/>
            </a:solidFill>
            <a:prstDash val="solid"/>
            <a:round/>
            <a:headEnd type="none" w="med" len="med"/>
            <a:tailEnd type="none" w="med" len="med"/>
          </a:ln>
        </p:spPr>
        <p:txBody>
          <a:bodyPr/>
          <a:lstStyle/>
          <a:p>
            <a:endParaRPr lang="en-US"/>
          </a:p>
        </p:txBody>
      </p:sp>
      <p:sp>
        <p:nvSpPr>
          <p:cNvPr id="5126" name="Line 4"/>
          <p:cNvSpPr>
            <a:spLocks noChangeShapeType="1"/>
          </p:cNvSpPr>
          <p:nvPr/>
        </p:nvSpPr>
        <p:spPr bwMode="auto">
          <a:xfrm>
            <a:off x="6883400" y="3886200"/>
            <a:ext cx="1320800" cy="1701800"/>
          </a:xfrm>
          <a:prstGeom prst="line">
            <a:avLst/>
          </a:prstGeom>
          <a:noFill/>
          <a:ln w="50800">
            <a:solidFill>
              <a:srgbClr val="888800"/>
            </a:solidFill>
            <a:round/>
            <a:headEnd type="triangle" w="med" len="med"/>
            <a:tailEnd type="triangle" w="med" len="med"/>
          </a:ln>
        </p:spPr>
        <p:txBody>
          <a:bodyPr wrap="none" anchor="ctr"/>
          <a:lstStyle/>
          <a:p>
            <a:endParaRPr lang="en-US"/>
          </a:p>
        </p:txBody>
      </p:sp>
      <p:sp>
        <p:nvSpPr>
          <p:cNvPr id="5127" name="Line 5"/>
          <p:cNvSpPr>
            <a:spLocks noChangeShapeType="1"/>
          </p:cNvSpPr>
          <p:nvPr/>
        </p:nvSpPr>
        <p:spPr bwMode="auto">
          <a:xfrm>
            <a:off x="7467600" y="3429000"/>
            <a:ext cx="0" cy="2159000"/>
          </a:xfrm>
          <a:prstGeom prst="line">
            <a:avLst/>
          </a:prstGeom>
          <a:noFill/>
          <a:ln w="50800">
            <a:solidFill>
              <a:srgbClr val="888800"/>
            </a:solidFill>
            <a:prstDash val="dash"/>
            <a:round/>
            <a:headEnd/>
            <a:tailEnd/>
          </a:ln>
        </p:spPr>
        <p:txBody>
          <a:bodyPr wrap="none" anchor="ctr"/>
          <a:lstStyle/>
          <a:p>
            <a:endParaRPr lang="en-US"/>
          </a:p>
        </p:txBody>
      </p:sp>
      <p:sp>
        <p:nvSpPr>
          <p:cNvPr id="5128" name="Rectangle 6"/>
          <p:cNvSpPr>
            <a:spLocks noChangeArrowheads="1"/>
          </p:cNvSpPr>
          <p:nvPr/>
        </p:nvSpPr>
        <p:spPr bwMode="auto">
          <a:xfrm>
            <a:off x="5486400" y="2362200"/>
            <a:ext cx="3273425" cy="81915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a:t>optically active sample in solution</a:t>
            </a:r>
          </a:p>
        </p:txBody>
      </p:sp>
      <p:sp>
        <p:nvSpPr>
          <p:cNvPr id="5129" name="Rectangle 7"/>
          <p:cNvSpPr>
            <a:spLocks noChangeArrowheads="1"/>
          </p:cNvSpPr>
          <p:nvPr/>
        </p:nvSpPr>
        <p:spPr bwMode="auto">
          <a:xfrm>
            <a:off x="5943600" y="5638800"/>
            <a:ext cx="2511425" cy="81915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b="1"/>
              <a:t>rotated polarized light</a:t>
            </a:r>
          </a:p>
        </p:txBody>
      </p:sp>
      <p:graphicFrame>
        <p:nvGraphicFramePr>
          <p:cNvPr id="5122" name="Object 0">
            <a:hlinkClick r:id="" action="ppaction://ole?verb=0"/>
          </p:cNvPr>
          <p:cNvGraphicFramePr>
            <a:graphicFrameLocks/>
          </p:cNvGraphicFramePr>
          <p:nvPr/>
        </p:nvGraphicFramePr>
        <p:xfrm>
          <a:off x="431800" y="1300163"/>
          <a:ext cx="920750" cy="1825625"/>
        </p:xfrm>
        <a:graphic>
          <a:graphicData uri="http://schemas.openxmlformats.org/presentationml/2006/ole">
            <mc:AlternateContent xmlns:mc="http://schemas.openxmlformats.org/markup-compatibility/2006">
              <mc:Choice xmlns:v="urn:schemas-microsoft-com:vml" Requires="v">
                <p:oleObj spid="_x0000_s6148" name="Microsoft ClipArt Gallery" r:id="rId3" imgW="2476440" imgH="4458960" progId="">
                  <p:embed/>
                </p:oleObj>
              </mc:Choice>
              <mc:Fallback>
                <p:oleObj name="Microsoft ClipArt Gallery" r:id="rId3" imgW="2476440" imgH="4458960" progId="">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800" y="1300163"/>
                        <a:ext cx="920750"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0" name="AutoShape 9"/>
          <p:cNvSpPr>
            <a:spLocks noChangeArrowheads="1"/>
          </p:cNvSpPr>
          <p:nvPr/>
        </p:nvSpPr>
        <p:spPr bwMode="auto">
          <a:xfrm rot="-660000">
            <a:off x="2697163" y="2471738"/>
            <a:ext cx="1239837" cy="1363662"/>
          </a:xfrm>
          <a:prstGeom prst="parallelogram">
            <a:avLst>
              <a:gd name="adj" fmla="val 24995"/>
            </a:avLst>
          </a:prstGeom>
          <a:solidFill>
            <a:schemeClr val="folHlink"/>
          </a:solidFill>
          <a:ln w="12700">
            <a:solidFill>
              <a:schemeClr val="tx1"/>
            </a:solidFill>
            <a:miter lim="800000"/>
            <a:headEnd/>
            <a:tailEnd/>
          </a:ln>
        </p:spPr>
        <p:txBody>
          <a:bodyPr wrap="none" anchor="ctr"/>
          <a:lstStyle/>
          <a:p>
            <a:endParaRPr lang="uk-UA"/>
          </a:p>
        </p:txBody>
      </p:sp>
      <p:sp>
        <p:nvSpPr>
          <p:cNvPr id="5131" name="Line 10"/>
          <p:cNvSpPr>
            <a:spLocks noChangeShapeType="1"/>
          </p:cNvSpPr>
          <p:nvPr/>
        </p:nvSpPr>
        <p:spPr bwMode="auto">
          <a:xfrm>
            <a:off x="1368425" y="2384425"/>
            <a:ext cx="1498600" cy="604838"/>
          </a:xfrm>
          <a:prstGeom prst="line">
            <a:avLst/>
          </a:prstGeom>
          <a:noFill/>
          <a:ln w="76200">
            <a:solidFill>
              <a:srgbClr val="888800"/>
            </a:solidFill>
            <a:round/>
            <a:headEnd/>
            <a:tailEnd type="triangle" w="med" len="med"/>
          </a:ln>
        </p:spPr>
        <p:txBody>
          <a:bodyPr wrap="none" anchor="ctr"/>
          <a:lstStyle/>
          <a:p>
            <a:endParaRPr lang="en-US"/>
          </a:p>
        </p:txBody>
      </p:sp>
      <p:sp>
        <p:nvSpPr>
          <p:cNvPr id="5132" name="Line 11"/>
          <p:cNvSpPr>
            <a:spLocks noChangeShapeType="1"/>
          </p:cNvSpPr>
          <p:nvPr/>
        </p:nvSpPr>
        <p:spPr bwMode="auto">
          <a:xfrm>
            <a:off x="1652588" y="2686050"/>
            <a:ext cx="782637" cy="0"/>
          </a:xfrm>
          <a:prstGeom prst="line">
            <a:avLst/>
          </a:prstGeom>
          <a:noFill/>
          <a:ln w="25400">
            <a:solidFill>
              <a:srgbClr val="888800"/>
            </a:solidFill>
            <a:round/>
            <a:headEnd type="triangle" w="med" len="med"/>
            <a:tailEnd type="triangle" w="med" len="med"/>
          </a:ln>
        </p:spPr>
        <p:txBody>
          <a:bodyPr wrap="none" anchor="ctr"/>
          <a:lstStyle/>
          <a:p>
            <a:endParaRPr lang="en-US"/>
          </a:p>
        </p:txBody>
      </p:sp>
      <p:sp>
        <p:nvSpPr>
          <p:cNvPr id="5133" name="Line 12"/>
          <p:cNvSpPr>
            <a:spLocks noChangeShapeType="1"/>
          </p:cNvSpPr>
          <p:nvPr/>
        </p:nvSpPr>
        <p:spPr bwMode="auto">
          <a:xfrm>
            <a:off x="2043113" y="2301875"/>
            <a:ext cx="0" cy="860425"/>
          </a:xfrm>
          <a:prstGeom prst="line">
            <a:avLst/>
          </a:prstGeom>
          <a:noFill/>
          <a:ln w="25400">
            <a:solidFill>
              <a:srgbClr val="888800"/>
            </a:solidFill>
            <a:round/>
            <a:headEnd type="triangle" w="med" len="med"/>
            <a:tailEnd type="triangle" w="med" len="med"/>
          </a:ln>
        </p:spPr>
        <p:txBody>
          <a:bodyPr wrap="none" anchor="ctr"/>
          <a:lstStyle/>
          <a:p>
            <a:endParaRPr lang="en-US"/>
          </a:p>
        </p:txBody>
      </p:sp>
      <p:sp>
        <p:nvSpPr>
          <p:cNvPr id="5134" name="Line 13"/>
          <p:cNvSpPr>
            <a:spLocks noChangeShapeType="1"/>
          </p:cNvSpPr>
          <p:nvPr/>
        </p:nvSpPr>
        <p:spPr bwMode="auto">
          <a:xfrm>
            <a:off x="1806575" y="2349500"/>
            <a:ext cx="474663" cy="674688"/>
          </a:xfrm>
          <a:prstGeom prst="line">
            <a:avLst/>
          </a:prstGeom>
          <a:noFill/>
          <a:ln w="25400">
            <a:solidFill>
              <a:srgbClr val="888800"/>
            </a:solidFill>
            <a:round/>
            <a:headEnd type="triangle" w="med" len="med"/>
            <a:tailEnd type="triangle" w="med" len="med"/>
          </a:ln>
        </p:spPr>
        <p:txBody>
          <a:bodyPr wrap="none" anchor="ctr"/>
          <a:lstStyle/>
          <a:p>
            <a:endParaRPr lang="en-US"/>
          </a:p>
        </p:txBody>
      </p:sp>
      <p:sp>
        <p:nvSpPr>
          <p:cNvPr id="5135" name="Line 14"/>
          <p:cNvSpPr>
            <a:spLocks noChangeShapeType="1"/>
          </p:cNvSpPr>
          <p:nvPr/>
        </p:nvSpPr>
        <p:spPr bwMode="auto">
          <a:xfrm flipH="1">
            <a:off x="1743075" y="2395538"/>
            <a:ext cx="601663" cy="581025"/>
          </a:xfrm>
          <a:prstGeom prst="line">
            <a:avLst/>
          </a:prstGeom>
          <a:noFill/>
          <a:ln w="25400">
            <a:solidFill>
              <a:srgbClr val="888800"/>
            </a:solidFill>
            <a:round/>
            <a:headEnd type="triangle" w="med" len="med"/>
            <a:tailEnd type="triangle" w="med" len="med"/>
          </a:ln>
        </p:spPr>
        <p:txBody>
          <a:bodyPr wrap="none" anchor="ctr"/>
          <a:lstStyle/>
          <a:p>
            <a:endParaRPr lang="en-US"/>
          </a:p>
        </p:txBody>
      </p:sp>
      <p:sp>
        <p:nvSpPr>
          <p:cNvPr id="5136" name="Rectangle 15"/>
          <p:cNvSpPr>
            <a:spLocks noChangeArrowheads="1"/>
          </p:cNvSpPr>
          <p:nvPr/>
        </p:nvSpPr>
        <p:spPr bwMode="auto">
          <a:xfrm>
            <a:off x="2362200" y="1905000"/>
            <a:ext cx="1981200" cy="39370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sz="2000"/>
              <a:t>polarizing filter</a:t>
            </a:r>
          </a:p>
        </p:txBody>
      </p:sp>
      <p:sp>
        <p:nvSpPr>
          <p:cNvPr id="5137" name="Rectangle 16"/>
          <p:cNvSpPr>
            <a:spLocks noChangeArrowheads="1"/>
          </p:cNvSpPr>
          <p:nvPr/>
        </p:nvSpPr>
        <p:spPr bwMode="auto">
          <a:xfrm>
            <a:off x="3962400" y="2057400"/>
            <a:ext cx="1497013" cy="100330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sz="2000"/>
              <a:t>plane polarized light</a:t>
            </a:r>
          </a:p>
        </p:txBody>
      </p:sp>
      <p:sp>
        <p:nvSpPr>
          <p:cNvPr id="5138" name="Line 17"/>
          <p:cNvSpPr>
            <a:spLocks noChangeShapeType="1"/>
          </p:cNvSpPr>
          <p:nvPr/>
        </p:nvSpPr>
        <p:spPr bwMode="auto">
          <a:xfrm>
            <a:off x="3357563" y="3170238"/>
            <a:ext cx="2274887" cy="1044575"/>
          </a:xfrm>
          <a:prstGeom prst="line">
            <a:avLst/>
          </a:prstGeom>
          <a:noFill/>
          <a:ln w="25400">
            <a:solidFill>
              <a:schemeClr val="tx1"/>
            </a:solidFill>
            <a:round/>
            <a:headEnd/>
            <a:tailEnd type="triangle" w="med" len="med"/>
          </a:ln>
        </p:spPr>
        <p:txBody>
          <a:bodyPr wrap="none" anchor="ctr"/>
          <a:lstStyle/>
          <a:p>
            <a:endParaRPr lang="en-US"/>
          </a:p>
        </p:txBody>
      </p:sp>
      <p:sp>
        <p:nvSpPr>
          <p:cNvPr id="5139" name="Freeform 18"/>
          <p:cNvSpPr>
            <a:spLocks/>
          </p:cNvSpPr>
          <p:nvPr/>
        </p:nvSpPr>
        <p:spPr bwMode="auto">
          <a:xfrm>
            <a:off x="3335338" y="2855913"/>
            <a:ext cx="2106612" cy="1258887"/>
          </a:xfrm>
          <a:custGeom>
            <a:avLst/>
            <a:gdLst>
              <a:gd name="T0" fmla="*/ 0 w 2023"/>
              <a:gd name="T1" fmla="*/ 251549 h 1101"/>
              <a:gd name="T2" fmla="*/ 57273 w 2023"/>
              <a:gd name="T3" fmla="*/ 156646 h 1101"/>
              <a:gd name="T4" fmla="*/ 141621 w 2023"/>
              <a:gd name="T5" fmla="*/ 78895 h 1101"/>
              <a:gd name="T6" fmla="*/ 227010 w 2023"/>
              <a:gd name="T7" fmla="*/ 16008 h 1101"/>
              <a:gd name="T8" fmla="*/ 328019 w 2023"/>
              <a:gd name="T9" fmla="*/ 0 h 1101"/>
              <a:gd name="T10" fmla="*/ 426946 w 2023"/>
              <a:gd name="T11" fmla="*/ 16008 h 1101"/>
              <a:gd name="T12" fmla="*/ 455062 w 2023"/>
              <a:gd name="T13" fmla="*/ 110910 h 1101"/>
              <a:gd name="T14" fmla="*/ 469640 w 2023"/>
              <a:gd name="T15" fmla="*/ 220677 h 1101"/>
              <a:gd name="T16" fmla="*/ 484219 w 2023"/>
              <a:gd name="T17" fmla="*/ 329300 h 1101"/>
              <a:gd name="T18" fmla="*/ 512335 w 2023"/>
              <a:gd name="T19" fmla="*/ 440210 h 1101"/>
              <a:gd name="T20" fmla="*/ 512335 w 2023"/>
              <a:gd name="T21" fmla="*/ 549977 h 1101"/>
              <a:gd name="T22" fmla="*/ 540451 w 2023"/>
              <a:gd name="T23" fmla="*/ 675751 h 1101"/>
              <a:gd name="T24" fmla="*/ 569608 w 2023"/>
              <a:gd name="T25" fmla="*/ 786661 h 1101"/>
              <a:gd name="T26" fmla="*/ 625840 w 2023"/>
              <a:gd name="T27" fmla="*/ 880420 h 1101"/>
              <a:gd name="T28" fmla="*/ 683113 w 2023"/>
              <a:gd name="T29" fmla="*/ 974179 h 1101"/>
              <a:gd name="T30" fmla="*/ 767461 w 2023"/>
              <a:gd name="T31" fmla="*/ 1069082 h 1101"/>
              <a:gd name="T32" fmla="*/ 840354 w 2023"/>
              <a:gd name="T33" fmla="*/ 1131969 h 1101"/>
              <a:gd name="T34" fmla="*/ 939280 w 2023"/>
              <a:gd name="T35" fmla="*/ 1146833 h 1101"/>
              <a:gd name="T36" fmla="*/ 1024669 w 2023"/>
              <a:gd name="T37" fmla="*/ 1069082 h 1101"/>
              <a:gd name="T38" fmla="*/ 1095480 w 2023"/>
              <a:gd name="T39" fmla="*/ 943308 h 1101"/>
              <a:gd name="T40" fmla="*/ 1138175 w 2023"/>
              <a:gd name="T41" fmla="*/ 848405 h 1101"/>
              <a:gd name="T42" fmla="*/ 1180869 w 2023"/>
              <a:gd name="T43" fmla="*/ 738638 h 1101"/>
              <a:gd name="T44" fmla="*/ 1208985 w 2023"/>
              <a:gd name="T45" fmla="*/ 628872 h 1101"/>
              <a:gd name="T46" fmla="*/ 1251680 w 2023"/>
              <a:gd name="T47" fmla="*/ 519105 h 1101"/>
              <a:gd name="T48" fmla="*/ 1294374 w 2023"/>
              <a:gd name="T49" fmla="*/ 409338 h 1101"/>
              <a:gd name="T50" fmla="*/ 1351647 w 2023"/>
              <a:gd name="T51" fmla="*/ 314436 h 1101"/>
              <a:gd name="T52" fmla="*/ 1437037 w 2023"/>
              <a:gd name="T53" fmla="*/ 236684 h 1101"/>
              <a:gd name="T54" fmla="*/ 1522426 w 2023"/>
              <a:gd name="T55" fmla="*/ 188662 h 1101"/>
              <a:gd name="T56" fmla="*/ 1607815 w 2023"/>
              <a:gd name="T57" fmla="*/ 267556 h 1101"/>
              <a:gd name="T58" fmla="*/ 1650509 w 2023"/>
              <a:gd name="T59" fmla="*/ 362459 h 1101"/>
              <a:gd name="T60" fmla="*/ 1706741 w 2023"/>
              <a:gd name="T61" fmla="*/ 487090 h 1101"/>
              <a:gd name="T62" fmla="*/ 1749436 w 2023"/>
              <a:gd name="T63" fmla="*/ 581992 h 1101"/>
              <a:gd name="T64" fmla="*/ 1777552 w 2023"/>
              <a:gd name="T65" fmla="*/ 707767 h 1101"/>
              <a:gd name="T66" fmla="*/ 1834825 w 2023"/>
              <a:gd name="T67" fmla="*/ 833541 h 1101"/>
              <a:gd name="T68" fmla="*/ 1863982 w 2023"/>
              <a:gd name="T69" fmla="*/ 928443 h 1101"/>
              <a:gd name="T70" fmla="*/ 1906677 w 2023"/>
              <a:gd name="T71" fmla="*/ 1054218 h 1101"/>
              <a:gd name="T72" fmla="*/ 1977487 w 2023"/>
              <a:gd name="T73" fmla="*/ 1162841 h 1101"/>
              <a:gd name="T74" fmla="*/ 2062876 w 2023"/>
              <a:gd name="T75" fmla="*/ 1241736 h 110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23"/>
              <a:gd name="T115" fmla="*/ 0 h 1101"/>
              <a:gd name="T116" fmla="*/ 2023 w 2023"/>
              <a:gd name="T117" fmla="*/ 1101 h 110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23" h="1101">
                <a:moveTo>
                  <a:pt x="6" y="267"/>
                </a:moveTo>
                <a:lnTo>
                  <a:pt x="0" y="220"/>
                </a:lnTo>
                <a:lnTo>
                  <a:pt x="14" y="178"/>
                </a:lnTo>
                <a:lnTo>
                  <a:pt x="55" y="137"/>
                </a:lnTo>
                <a:lnTo>
                  <a:pt x="96" y="110"/>
                </a:lnTo>
                <a:lnTo>
                  <a:pt x="136" y="69"/>
                </a:lnTo>
                <a:lnTo>
                  <a:pt x="177" y="41"/>
                </a:lnTo>
                <a:lnTo>
                  <a:pt x="218" y="14"/>
                </a:lnTo>
                <a:lnTo>
                  <a:pt x="260" y="0"/>
                </a:lnTo>
                <a:lnTo>
                  <a:pt x="315" y="0"/>
                </a:lnTo>
                <a:lnTo>
                  <a:pt x="369" y="0"/>
                </a:lnTo>
                <a:lnTo>
                  <a:pt x="410" y="14"/>
                </a:lnTo>
                <a:lnTo>
                  <a:pt x="424" y="55"/>
                </a:lnTo>
                <a:lnTo>
                  <a:pt x="437" y="97"/>
                </a:lnTo>
                <a:lnTo>
                  <a:pt x="451" y="151"/>
                </a:lnTo>
                <a:lnTo>
                  <a:pt x="451" y="193"/>
                </a:lnTo>
                <a:lnTo>
                  <a:pt x="451" y="234"/>
                </a:lnTo>
                <a:lnTo>
                  <a:pt x="465" y="288"/>
                </a:lnTo>
                <a:lnTo>
                  <a:pt x="478" y="344"/>
                </a:lnTo>
                <a:lnTo>
                  <a:pt x="492" y="385"/>
                </a:lnTo>
                <a:lnTo>
                  <a:pt x="492" y="426"/>
                </a:lnTo>
                <a:lnTo>
                  <a:pt x="492" y="481"/>
                </a:lnTo>
                <a:lnTo>
                  <a:pt x="506" y="536"/>
                </a:lnTo>
                <a:lnTo>
                  <a:pt x="519" y="591"/>
                </a:lnTo>
                <a:lnTo>
                  <a:pt x="533" y="646"/>
                </a:lnTo>
                <a:lnTo>
                  <a:pt x="547" y="688"/>
                </a:lnTo>
                <a:lnTo>
                  <a:pt x="560" y="729"/>
                </a:lnTo>
                <a:lnTo>
                  <a:pt x="601" y="770"/>
                </a:lnTo>
                <a:lnTo>
                  <a:pt x="615" y="812"/>
                </a:lnTo>
                <a:lnTo>
                  <a:pt x="656" y="852"/>
                </a:lnTo>
                <a:lnTo>
                  <a:pt x="696" y="893"/>
                </a:lnTo>
                <a:lnTo>
                  <a:pt x="737" y="935"/>
                </a:lnTo>
                <a:lnTo>
                  <a:pt x="765" y="976"/>
                </a:lnTo>
                <a:lnTo>
                  <a:pt x="807" y="990"/>
                </a:lnTo>
                <a:lnTo>
                  <a:pt x="861" y="1003"/>
                </a:lnTo>
                <a:lnTo>
                  <a:pt x="902" y="1003"/>
                </a:lnTo>
                <a:lnTo>
                  <a:pt x="943" y="976"/>
                </a:lnTo>
                <a:lnTo>
                  <a:pt x="984" y="935"/>
                </a:lnTo>
                <a:lnTo>
                  <a:pt x="1011" y="880"/>
                </a:lnTo>
                <a:lnTo>
                  <a:pt x="1052" y="825"/>
                </a:lnTo>
                <a:lnTo>
                  <a:pt x="1079" y="783"/>
                </a:lnTo>
                <a:lnTo>
                  <a:pt x="1093" y="742"/>
                </a:lnTo>
                <a:lnTo>
                  <a:pt x="1120" y="688"/>
                </a:lnTo>
                <a:lnTo>
                  <a:pt x="1134" y="646"/>
                </a:lnTo>
                <a:lnTo>
                  <a:pt x="1147" y="605"/>
                </a:lnTo>
                <a:lnTo>
                  <a:pt x="1161" y="550"/>
                </a:lnTo>
                <a:lnTo>
                  <a:pt x="1188" y="495"/>
                </a:lnTo>
                <a:lnTo>
                  <a:pt x="1202" y="454"/>
                </a:lnTo>
                <a:lnTo>
                  <a:pt x="1216" y="412"/>
                </a:lnTo>
                <a:lnTo>
                  <a:pt x="1243" y="358"/>
                </a:lnTo>
                <a:lnTo>
                  <a:pt x="1271" y="317"/>
                </a:lnTo>
                <a:lnTo>
                  <a:pt x="1298" y="275"/>
                </a:lnTo>
                <a:lnTo>
                  <a:pt x="1339" y="234"/>
                </a:lnTo>
                <a:lnTo>
                  <a:pt x="1380" y="207"/>
                </a:lnTo>
                <a:lnTo>
                  <a:pt x="1421" y="178"/>
                </a:lnTo>
                <a:lnTo>
                  <a:pt x="1462" y="165"/>
                </a:lnTo>
                <a:lnTo>
                  <a:pt x="1503" y="207"/>
                </a:lnTo>
                <a:lnTo>
                  <a:pt x="1544" y="234"/>
                </a:lnTo>
                <a:lnTo>
                  <a:pt x="1557" y="275"/>
                </a:lnTo>
                <a:lnTo>
                  <a:pt x="1585" y="317"/>
                </a:lnTo>
                <a:lnTo>
                  <a:pt x="1612" y="358"/>
                </a:lnTo>
                <a:lnTo>
                  <a:pt x="1639" y="426"/>
                </a:lnTo>
                <a:lnTo>
                  <a:pt x="1653" y="468"/>
                </a:lnTo>
                <a:lnTo>
                  <a:pt x="1680" y="509"/>
                </a:lnTo>
                <a:lnTo>
                  <a:pt x="1694" y="564"/>
                </a:lnTo>
                <a:lnTo>
                  <a:pt x="1707" y="619"/>
                </a:lnTo>
                <a:lnTo>
                  <a:pt x="1735" y="674"/>
                </a:lnTo>
                <a:lnTo>
                  <a:pt x="1762" y="729"/>
                </a:lnTo>
                <a:lnTo>
                  <a:pt x="1776" y="770"/>
                </a:lnTo>
                <a:lnTo>
                  <a:pt x="1790" y="812"/>
                </a:lnTo>
                <a:lnTo>
                  <a:pt x="1804" y="866"/>
                </a:lnTo>
                <a:lnTo>
                  <a:pt x="1831" y="922"/>
                </a:lnTo>
                <a:lnTo>
                  <a:pt x="1858" y="976"/>
                </a:lnTo>
                <a:lnTo>
                  <a:pt x="1899" y="1017"/>
                </a:lnTo>
                <a:lnTo>
                  <a:pt x="1927" y="1059"/>
                </a:lnTo>
                <a:lnTo>
                  <a:pt x="1981" y="1086"/>
                </a:lnTo>
                <a:lnTo>
                  <a:pt x="2022" y="1100"/>
                </a:lnTo>
              </a:path>
            </a:pathLst>
          </a:custGeom>
          <a:solidFill>
            <a:srgbClr val="00CCFF"/>
          </a:solidFill>
          <a:ln w="12700" cap="rnd" cmpd="sng">
            <a:solidFill>
              <a:schemeClr val="tx1"/>
            </a:solidFill>
            <a:prstDash val="solid"/>
            <a:round/>
            <a:headEnd type="none" w="med" len="med"/>
            <a:tailEnd type="none" w="med" len="med"/>
          </a:ln>
        </p:spPr>
        <p:txBody>
          <a:bodyPr/>
          <a:lstStyle/>
          <a:p>
            <a:endParaRPr lang="en-US"/>
          </a:p>
        </p:txBody>
      </p:sp>
      <p:sp>
        <p:nvSpPr>
          <p:cNvPr id="5140" name="Line 19"/>
          <p:cNvSpPr>
            <a:spLocks noChangeShapeType="1"/>
          </p:cNvSpPr>
          <p:nvPr/>
        </p:nvSpPr>
        <p:spPr bwMode="auto">
          <a:xfrm>
            <a:off x="4241800" y="3033713"/>
            <a:ext cx="0" cy="1117600"/>
          </a:xfrm>
          <a:prstGeom prst="line">
            <a:avLst/>
          </a:prstGeom>
          <a:noFill/>
          <a:ln w="50800">
            <a:solidFill>
              <a:srgbClr val="888800"/>
            </a:solidFill>
            <a:round/>
            <a:headEnd type="triangle" w="med" len="med"/>
            <a:tailEnd type="triangle" w="med" len="med"/>
          </a:ln>
        </p:spPr>
        <p:txBody>
          <a:bodyPr wrap="none" anchor="ctr"/>
          <a:lstStyle/>
          <a:p>
            <a:endParaRPr lang="en-US"/>
          </a:p>
        </p:txBody>
      </p:sp>
      <p:graphicFrame>
        <p:nvGraphicFramePr>
          <p:cNvPr id="5123" name="Object 1">
            <a:hlinkClick r:id="" action="ppaction://ole?verb=0"/>
          </p:cNvPr>
          <p:cNvGraphicFramePr>
            <a:graphicFrameLocks/>
          </p:cNvGraphicFramePr>
          <p:nvPr/>
        </p:nvGraphicFramePr>
        <p:xfrm>
          <a:off x="5257800" y="3124200"/>
          <a:ext cx="1447800" cy="1604963"/>
        </p:xfrm>
        <a:graphic>
          <a:graphicData uri="http://schemas.openxmlformats.org/presentationml/2006/ole">
            <mc:AlternateContent xmlns:mc="http://schemas.openxmlformats.org/markup-compatibility/2006">
              <mc:Choice xmlns:v="urn:schemas-microsoft-com:vml" Requires="v">
                <p:oleObj spid="_x0000_s6149" name="Microsoft ClipArt Gallery" r:id="rId5" imgW="4081320" imgH="4562280" progId="">
                  <p:embed/>
                </p:oleObj>
              </mc:Choice>
              <mc:Fallback>
                <p:oleObj name="Microsoft ClipArt Gallery" r:id="rId5" imgW="4081320" imgH="4562280" progId="">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3124200"/>
                        <a:ext cx="1447800"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41" name="Rectangle 21"/>
          <p:cNvSpPr>
            <a:spLocks noChangeArrowheads="1"/>
          </p:cNvSpPr>
          <p:nvPr/>
        </p:nvSpPr>
        <p:spPr bwMode="auto">
          <a:xfrm>
            <a:off x="228600" y="3962400"/>
            <a:ext cx="4267200" cy="26447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a:solidFill>
                  <a:srgbClr val="FF0000"/>
                </a:solidFill>
              </a:rPr>
              <a:t>Dextrorotatory (d) = right rotation </a:t>
            </a:r>
          </a:p>
          <a:p>
            <a:pPr eaLnBrk="0" hangingPunct="0">
              <a:spcBef>
                <a:spcPct val="50000"/>
              </a:spcBef>
            </a:pPr>
            <a:r>
              <a:rPr lang="en-US">
                <a:solidFill>
                  <a:srgbClr val="FF0000"/>
                </a:solidFill>
              </a:rPr>
              <a:t>Levorotatory (l)  = left rotation</a:t>
            </a:r>
          </a:p>
          <a:p>
            <a:pPr eaLnBrk="0" hangingPunct="0">
              <a:spcBef>
                <a:spcPct val="50000"/>
              </a:spcBef>
            </a:pPr>
            <a:r>
              <a:rPr lang="en-US">
                <a:solidFill>
                  <a:srgbClr val="FF0000"/>
                </a:solidFill>
              </a:rPr>
              <a:t>Racemic mixture = equal amounts of two enantiomers; no net rotation</a:t>
            </a:r>
          </a:p>
        </p:txBody>
      </p:sp>
    </p:spTree>
    <p:extLst>
      <p:ext uri="{BB962C8B-B14F-4D97-AF65-F5344CB8AC3E}">
        <p14:creationId xmlns:p14="http://schemas.microsoft.com/office/powerpoint/2010/main" val="2197215497"/>
      </p:ext>
    </p:extLst>
  </p:cSld>
  <p:clrMapOvr>
    <a:masterClrMapping/>
  </p:clrMapOvr>
  <p:transition>
    <p:zoom dir="in"/>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685800" y="304800"/>
            <a:ext cx="7772400" cy="558800"/>
          </a:xfrm>
        </p:spPr>
        <p:txBody>
          <a:bodyPr>
            <a:normAutofit fontScale="90000"/>
          </a:bodyPr>
          <a:lstStyle/>
          <a:p>
            <a:pPr eaLnBrk="1" hangingPunct="1"/>
            <a:r>
              <a:rPr lang="en-US"/>
              <a:t>Properties of Optical Isomers</a:t>
            </a:r>
          </a:p>
        </p:txBody>
      </p:sp>
      <p:sp>
        <p:nvSpPr>
          <p:cNvPr id="59395" name="Rectangle 3"/>
          <p:cNvSpPr>
            <a:spLocks noGrp="1" noChangeArrowheads="1"/>
          </p:cNvSpPr>
          <p:nvPr>
            <p:ph type="body" idx="1"/>
          </p:nvPr>
        </p:nvSpPr>
        <p:spPr>
          <a:xfrm>
            <a:off x="304800" y="990600"/>
            <a:ext cx="8610600" cy="5638800"/>
          </a:xfrm>
        </p:spPr>
        <p:txBody>
          <a:bodyPr>
            <a:normAutofit lnSpcReduction="10000"/>
          </a:bodyPr>
          <a:lstStyle/>
          <a:p>
            <a:pPr eaLnBrk="1" hangingPunct="1"/>
            <a:r>
              <a:rPr lang="en-US"/>
              <a:t>Enantiomers </a:t>
            </a:r>
          </a:p>
          <a:p>
            <a:pPr lvl="1" eaLnBrk="1" hangingPunct="1"/>
            <a:r>
              <a:rPr lang="en-US" sz="3000"/>
              <a:t>possess many identical properties</a:t>
            </a:r>
          </a:p>
          <a:p>
            <a:pPr lvl="2" eaLnBrk="1" hangingPunct="1"/>
            <a:r>
              <a:rPr lang="en-US" sz="3000"/>
              <a:t>solubility, melting point, boiling point, color, chemical reactivity (with nonchiral reagents)</a:t>
            </a:r>
          </a:p>
          <a:p>
            <a:pPr lvl="1" eaLnBrk="1" hangingPunct="1"/>
            <a:r>
              <a:rPr lang="en-US" sz="3000"/>
              <a:t>different in:</a:t>
            </a:r>
          </a:p>
          <a:p>
            <a:pPr lvl="2" eaLnBrk="1" hangingPunct="1"/>
            <a:r>
              <a:rPr lang="en-US" sz="3000"/>
              <a:t>interactions with plane polarized light	</a:t>
            </a:r>
          </a:p>
          <a:p>
            <a:pPr lvl="2" eaLnBrk="1" hangingPunct="1"/>
            <a:r>
              <a:rPr lang="en-US" sz="3000"/>
              <a:t>reactivity with “chiral” reagents</a:t>
            </a:r>
          </a:p>
          <a:p>
            <a:pPr lvl="2" eaLnBrk="1" hangingPunct="1">
              <a:buFont typeface="Wingdings 2" pitchFamily="18" charset="2"/>
              <a:buNone/>
            </a:pPr>
            <a:r>
              <a:rPr lang="en-US" sz="3000"/>
              <a:t>	Example</a:t>
            </a:r>
          </a:p>
          <a:p>
            <a:pPr lvl="2" eaLnBrk="1" hangingPunct="1">
              <a:buFont typeface="Wingdings 2" pitchFamily="18" charset="2"/>
              <a:buNone/>
            </a:pPr>
            <a:r>
              <a:rPr lang="en-US" sz="3000">
                <a:solidFill>
                  <a:srgbClr val="FF0000"/>
                </a:solidFill>
              </a:rPr>
              <a:t>d-C</a:t>
            </a:r>
            <a:r>
              <a:rPr lang="en-US" sz="3000" baseline="-25000">
                <a:solidFill>
                  <a:srgbClr val="FF0000"/>
                </a:solidFill>
              </a:rPr>
              <a:t>4</a:t>
            </a:r>
            <a:r>
              <a:rPr lang="en-US" sz="3000">
                <a:solidFill>
                  <a:srgbClr val="FF0000"/>
                </a:solidFill>
              </a:rPr>
              <a:t>H</a:t>
            </a:r>
            <a:r>
              <a:rPr lang="en-US" sz="3000" baseline="-25000">
                <a:solidFill>
                  <a:srgbClr val="FF0000"/>
                </a:solidFill>
              </a:rPr>
              <a:t>4</a:t>
            </a:r>
            <a:r>
              <a:rPr lang="en-US" sz="3000">
                <a:solidFill>
                  <a:srgbClr val="FF0000"/>
                </a:solidFill>
              </a:rPr>
              <a:t>O</a:t>
            </a:r>
            <a:r>
              <a:rPr lang="en-US" sz="3000" baseline="-25000">
                <a:solidFill>
                  <a:srgbClr val="FF0000"/>
                </a:solidFill>
              </a:rPr>
              <a:t>6</a:t>
            </a:r>
            <a:r>
              <a:rPr lang="en-US" sz="3000" baseline="30000">
                <a:solidFill>
                  <a:srgbClr val="FF0000"/>
                </a:solidFill>
              </a:rPr>
              <a:t>2-</a:t>
            </a:r>
            <a:r>
              <a:rPr lang="en-US" sz="3000">
                <a:solidFill>
                  <a:srgbClr val="FF0000"/>
                </a:solidFill>
              </a:rPr>
              <a:t>(aq) + d,l-[Co(en)</a:t>
            </a:r>
            <a:r>
              <a:rPr lang="en-US" sz="3000" baseline="-25000">
                <a:solidFill>
                  <a:srgbClr val="FF0000"/>
                </a:solidFill>
              </a:rPr>
              <a:t>3</a:t>
            </a:r>
            <a:r>
              <a:rPr lang="en-US" sz="3000">
                <a:solidFill>
                  <a:srgbClr val="FF0000"/>
                </a:solidFill>
              </a:rPr>
              <a:t>]Cl</a:t>
            </a:r>
            <a:r>
              <a:rPr lang="en-US" sz="3000" baseline="-25000">
                <a:solidFill>
                  <a:srgbClr val="FF0000"/>
                </a:solidFill>
              </a:rPr>
              <a:t>3</a:t>
            </a:r>
            <a:r>
              <a:rPr lang="en-US" sz="3000">
                <a:solidFill>
                  <a:srgbClr val="FF0000"/>
                </a:solidFill>
              </a:rPr>
              <a:t>(aq) </a:t>
            </a:r>
            <a:r>
              <a:rPr lang="en-US" sz="3000">
                <a:solidFill>
                  <a:srgbClr val="FF0000"/>
                </a:solidFill>
                <a:sym typeface="Symbol" pitchFamily="18" charset="2"/>
              </a:rPr>
              <a:t></a:t>
            </a:r>
            <a:r>
              <a:rPr lang="en-US" sz="3000">
                <a:solidFill>
                  <a:srgbClr val="FF0000"/>
                </a:solidFill>
              </a:rPr>
              <a:t> </a:t>
            </a:r>
          </a:p>
          <a:p>
            <a:pPr lvl="2" eaLnBrk="1" hangingPunct="1">
              <a:buFont typeface="Wingdings 2" pitchFamily="18" charset="2"/>
              <a:buNone/>
            </a:pPr>
            <a:r>
              <a:rPr lang="en-US" sz="3000">
                <a:solidFill>
                  <a:srgbClr val="FF0000"/>
                </a:solidFill>
              </a:rPr>
              <a:t>d-[Co(en)</a:t>
            </a:r>
            <a:r>
              <a:rPr lang="en-US" sz="3000" baseline="-25000">
                <a:solidFill>
                  <a:srgbClr val="FF0000"/>
                </a:solidFill>
              </a:rPr>
              <a:t>3</a:t>
            </a:r>
            <a:r>
              <a:rPr lang="en-US" sz="3000">
                <a:solidFill>
                  <a:srgbClr val="FF0000"/>
                </a:solidFill>
              </a:rPr>
              <a:t>](d-C</a:t>
            </a:r>
            <a:r>
              <a:rPr lang="en-US" sz="3000" baseline="-25000">
                <a:solidFill>
                  <a:srgbClr val="FF0000"/>
                </a:solidFill>
              </a:rPr>
              <a:t>4</a:t>
            </a:r>
            <a:r>
              <a:rPr lang="en-US" sz="3000">
                <a:solidFill>
                  <a:srgbClr val="FF0000"/>
                </a:solidFill>
              </a:rPr>
              <a:t>H</a:t>
            </a:r>
            <a:r>
              <a:rPr lang="en-US" sz="3000" baseline="-25000">
                <a:solidFill>
                  <a:srgbClr val="FF0000"/>
                </a:solidFill>
              </a:rPr>
              <a:t>4</a:t>
            </a:r>
            <a:r>
              <a:rPr lang="en-US" sz="3000">
                <a:solidFill>
                  <a:srgbClr val="FF0000"/>
                </a:solidFill>
              </a:rPr>
              <a:t>O</a:t>
            </a:r>
            <a:r>
              <a:rPr lang="en-US" sz="3000" baseline="-25000">
                <a:solidFill>
                  <a:srgbClr val="FF0000"/>
                </a:solidFill>
              </a:rPr>
              <a:t>6</a:t>
            </a:r>
            <a:r>
              <a:rPr lang="en-US" sz="3000" baseline="30000">
                <a:solidFill>
                  <a:srgbClr val="FF0000"/>
                </a:solidFill>
              </a:rPr>
              <a:t>2-</a:t>
            </a:r>
            <a:r>
              <a:rPr lang="en-US" sz="3000">
                <a:solidFill>
                  <a:srgbClr val="FF0000"/>
                </a:solidFill>
              </a:rPr>
              <a:t> )Cl(s) + l-[Co(en)</a:t>
            </a:r>
            <a:r>
              <a:rPr lang="en-US" sz="3000" baseline="-25000">
                <a:solidFill>
                  <a:srgbClr val="FF0000"/>
                </a:solidFill>
              </a:rPr>
              <a:t>3</a:t>
            </a:r>
            <a:r>
              <a:rPr lang="en-US" sz="3000">
                <a:solidFill>
                  <a:srgbClr val="FF0000"/>
                </a:solidFill>
              </a:rPr>
              <a:t>]Cl</a:t>
            </a:r>
            <a:r>
              <a:rPr lang="en-US" sz="3000" baseline="-25000">
                <a:solidFill>
                  <a:srgbClr val="FF0000"/>
                </a:solidFill>
              </a:rPr>
              <a:t>3</a:t>
            </a:r>
            <a:r>
              <a:rPr lang="en-US" sz="3000">
                <a:solidFill>
                  <a:srgbClr val="FF0000"/>
                </a:solidFill>
              </a:rPr>
              <a:t>(aq) +2Cl</a:t>
            </a:r>
            <a:r>
              <a:rPr lang="en-US" sz="3000" baseline="30000">
                <a:solidFill>
                  <a:srgbClr val="FF0000"/>
                </a:solidFill>
              </a:rPr>
              <a:t>-</a:t>
            </a:r>
            <a:r>
              <a:rPr lang="en-US" sz="3000">
                <a:solidFill>
                  <a:srgbClr val="FF0000"/>
                </a:solidFill>
              </a:rPr>
              <a:t>(aq)</a:t>
            </a:r>
            <a:endParaRPr lang="en-US" sz="3000" baseline="-25000">
              <a:solidFill>
                <a:srgbClr val="FF0000"/>
              </a:solidFill>
            </a:endParaRPr>
          </a:p>
        </p:txBody>
      </p:sp>
    </p:spTree>
    <p:extLst>
      <p:ext uri="{BB962C8B-B14F-4D97-AF65-F5344CB8AC3E}">
        <p14:creationId xmlns:p14="http://schemas.microsoft.com/office/powerpoint/2010/main" val="3297148939"/>
      </p:ext>
    </p:extLst>
  </p:cSld>
  <p:clrMapOvr>
    <a:masterClrMapping/>
  </p:clrMapOvr>
  <p:transition>
    <p:zoom dir="in"/>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76200" y="152400"/>
            <a:ext cx="8839200" cy="1219200"/>
          </a:xfrm>
        </p:spPr>
        <p:txBody>
          <a:bodyPr/>
          <a:lstStyle/>
          <a:p>
            <a:pPr eaLnBrk="1" hangingPunct="1"/>
            <a:r>
              <a:rPr lang="en-US" sz="3200"/>
              <a:t>Properties of Transition Metal Complexes</a:t>
            </a:r>
          </a:p>
        </p:txBody>
      </p:sp>
      <p:sp>
        <p:nvSpPr>
          <p:cNvPr id="60419" name="Rectangle 3"/>
          <p:cNvSpPr>
            <a:spLocks noGrp="1" noChangeArrowheads="1"/>
          </p:cNvSpPr>
          <p:nvPr>
            <p:ph type="body" idx="1"/>
          </p:nvPr>
        </p:nvSpPr>
        <p:spPr>
          <a:xfrm>
            <a:off x="152400" y="1524000"/>
            <a:ext cx="8915400" cy="5181600"/>
          </a:xfrm>
        </p:spPr>
        <p:txBody>
          <a:bodyPr/>
          <a:lstStyle/>
          <a:p>
            <a:pPr eaLnBrk="1" hangingPunct="1"/>
            <a:r>
              <a:rPr lang="en-US" dirty="0"/>
              <a:t>Properties of transition metal complexes:</a:t>
            </a:r>
          </a:p>
          <a:p>
            <a:pPr lvl="1" eaLnBrk="1" hangingPunct="1"/>
            <a:r>
              <a:rPr lang="en-US" dirty="0"/>
              <a:t>usually have </a:t>
            </a:r>
            <a:r>
              <a:rPr lang="en-US" dirty="0" err="1"/>
              <a:t>colour</a:t>
            </a:r>
            <a:endParaRPr lang="en-US" dirty="0"/>
          </a:p>
          <a:p>
            <a:pPr lvl="2" eaLnBrk="1" hangingPunct="1"/>
            <a:r>
              <a:rPr lang="en-US" dirty="0"/>
              <a:t>dependent upon </a:t>
            </a:r>
            <a:r>
              <a:rPr lang="en-US" dirty="0" err="1"/>
              <a:t>ligand</a:t>
            </a:r>
            <a:r>
              <a:rPr lang="en-US" dirty="0"/>
              <a:t>(s) and metal ion</a:t>
            </a:r>
          </a:p>
          <a:p>
            <a:pPr lvl="1" eaLnBrk="1" hangingPunct="1"/>
            <a:r>
              <a:rPr lang="en-US" dirty="0"/>
              <a:t>many are paramagnetic </a:t>
            </a:r>
          </a:p>
          <a:p>
            <a:pPr lvl="2" eaLnBrk="1" hangingPunct="1"/>
            <a:r>
              <a:rPr lang="en-US" dirty="0"/>
              <a:t>due to unpaired d electrons</a:t>
            </a:r>
          </a:p>
          <a:p>
            <a:pPr lvl="2" eaLnBrk="1" hangingPunct="1"/>
            <a:r>
              <a:rPr lang="en-US" dirty="0"/>
              <a:t>degree of </a:t>
            </a:r>
            <a:r>
              <a:rPr lang="en-US" dirty="0" err="1"/>
              <a:t>paramagnetism</a:t>
            </a:r>
            <a:r>
              <a:rPr lang="en-US" dirty="0"/>
              <a:t> dependent on </a:t>
            </a:r>
            <a:r>
              <a:rPr lang="en-US" dirty="0" err="1"/>
              <a:t>ligand</a:t>
            </a:r>
            <a:r>
              <a:rPr lang="en-US" dirty="0"/>
              <a:t>(s)</a:t>
            </a:r>
          </a:p>
          <a:p>
            <a:pPr lvl="3" eaLnBrk="1" hangingPunct="1"/>
            <a:r>
              <a:rPr lang="en-US" dirty="0"/>
              <a:t>[Fe(CN)</a:t>
            </a:r>
            <a:r>
              <a:rPr lang="en-US" baseline="-25000" dirty="0"/>
              <a:t>6</a:t>
            </a:r>
            <a:r>
              <a:rPr lang="en-US" dirty="0"/>
              <a:t>]</a:t>
            </a:r>
            <a:r>
              <a:rPr lang="en-US" baseline="30000" dirty="0"/>
              <a:t>3-</a:t>
            </a:r>
            <a:r>
              <a:rPr lang="en-US" dirty="0"/>
              <a:t> has 1 unpaired d electron</a:t>
            </a:r>
          </a:p>
          <a:p>
            <a:pPr lvl="3" eaLnBrk="1" hangingPunct="1"/>
            <a:r>
              <a:rPr lang="en-US" dirty="0"/>
              <a:t>[FeF</a:t>
            </a:r>
            <a:r>
              <a:rPr lang="en-US" baseline="-25000" dirty="0"/>
              <a:t>6</a:t>
            </a:r>
            <a:r>
              <a:rPr lang="en-US" dirty="0"/>
              <a:t>]</a:t>
            </a:r>
            <a:r>
              <a:rPr lang="en-US" baseline="30000" dirty="0"/>
              <a:t>3-</a:t>
            </a:r>
            <a:r>
              <a:rPr lang="en-US" dirty="0"/>
              <a:t> has 5 unpaired d electrons</a:t>
            </a:r>
          </a:p>
        </p:txBody>
      </p:sp>
    </p:spTree>
    <p:extLst>
      <p:ext uri="{BB962C8B-B14F-4D97-AF65-F5344CB8AC3E}">
        <p14:creationId xmlns:p14="http://schemas.microsoft.com/office/powerpoint/2010/main" val="1436802551"/>
      </p:ext>
    </p:extLst>
  </p:cSld>
  <p:clrMapOvr>
    <a:masterClrMapping/>
  </p:clrMapOvr>
  <p:transition>
    <p:zoom dir="in"/>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type="body" idx="1"/>
          </p:nvPr>
        </p:nvSpPr>
        <p:spPr>
          <a:xfrm>
            <a:off x="685800" y="1143000"/>
            <a:ext cx="7772400" cy="4953000"/>
          </a:xfrm>
          <a:noFill/>
        </p:spPr>
        <p:txBody>
          <a:bodyPr lIns="90488" tIns="44450" rIns="90488" bIns="44450">
            <a:normAutofit lnSpcReduction="10000"/>
          </a:bodyPr>
          <a:lstStyle/>
          <a:p>
            <a:pPr eaLnBrk="1" hangingPunct="1"/>
            <a:r>
              <a:rPr lang="en-US"/>
              <a:t>Crystal Field Theory</a:t>
            </a:r>
          </a:p>
          <a:p>
            <a:pPr lvl="1" eaLnBrk="1" hangingPunct="1"/>
            <a:r>
              <a:rPr lang="en-US" sz="3200"/>
              <a:t>Model for bonding in transition metal complexes</a:t>
            </a:r>
          </a:p>
          <a:p>
            <a:pPr lvl="2" eaLnBrk="1" hangingPunct="1"/>
            <a:r>
              <a:rPr lang="en-US" sz="3200"/>
              <a:t>Accounts for observed properties of transition metal complexes</a:t>
            </a:r>
          </a:p>
          <a:p>
            <a:pPr lvl="1" eaLnBrk="1" hangingPunct="1"/>
            <a:r>
              <a:rPr lang="en-US" sz="3200"/>
              <a:t>Focuses on d-orbitals </a:t>
            </a:r>
          </a:p>
          <a:p>
            <a:pPr lvl="1" eaLnBrk="1" hangingPunct="1"/>
            <a:r>
              <a:rPr lang="en-US" sz="3200"/>
              <a:t>Ligands = point negative charges</a:t>
            </a:r>
          </a:p>
          <a:p>
            <a:pPr lvl="1" eaLnBrk="1" hangingPunct="1"/>
            <a:r>
              <a:rPr lang="en-US" sz="3200"/>
              <a:t>Assumes ionic bonding</a:t>
            </a:r>
          </a:p>
          <a:p>
            <a:pPr lvl="2" eaLnBrk="1" hangingPunct="1"/>
            <a:r>
              <a:rPr lang="en-US" sz="3200"/>
              <a:t>electrostatic interactions</a:t>
            </a:r>
          </a:p>
        </p:txBody>
      </p:sp>
      <p:sp>
        <p:nvSpPr>
          <p:cNvPr id="61443" name="Rectangle 5"/>
          <p:cNvSpPr>
            <a:spLocks noGrp="1" noChangeArrowheads="1"/>
          </p:cNvSpPr>
          <p:nvPr>
            <p:ph type="title"/>
          </p:nvPr>
        </p:nvSpPr>
        <p:spPr>
          <a:xfrm>
            <a:off x="685800" y="355600"/>
            <a:ext cx="7772400" cy="558800"/>
          </a:xfrm>
          <a:noFill/>
        </p:spPr>
        <p:txBody>
          <a:bodyPr lIns="90488" tIns="44450" rIns="90488" bIns="44450">
            <a:normAutofit fontScale="90000"/>
          </a:bodyPr>
          <a:lstStyle/>
          <a:p>
            <a:pPr eaLnBrk="1" hangingPunct="1"/>
            <a:r>
              <a:rPr lang="en-US" b="1">
                <a:solidFill>
                  <a:srgbClr val="C00000"/>
                </a:solidFill>
              </a:rPr>
              <a:t>Crystal Field Theory</a:t>
            </a:r>
          </a:p>
        </p:txBody>
      </p:sp>
    </p:spTree>
    <p:extLst>
      <p:ext uri="{BB962C8B-B14F-4D97-AF65-F5344CB8AC3E}">
        <p14:creationId xmlns:p14="http://schemas.microsoft.com/office/powerpoint/2010/main" val="3352911682"/>
      </p:ext>
    </p:extLst>
  </p:cSld>
  <p:clrMapOvr>
    <a:masterClrMapping/>
  </p:clrMapOvr>
  <p:transition>
    <p:zoom dir="in"/>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2">
            <a:hlinkClick r:id="" action="ppaction://ole?verb=0"/>
          </p:cNvPr>
          <p:cNvGraphicFramePr>
            <a:graphicFrameLocks/>
          </p:cNvGraphicFramePr>
          <p:nvPr/>
        </p:nvGraphicFramePr>
        <p:xfrm>
          <a:off x="0" y="179388"/>
          <a:ext cx="9134475" cy="6280150"/>
        </p:xfrm>
        <a:graphic>
          <a:graphicData uri="http://schemas.openxmlformats.org/presentationml/2006/ole">
            <mc:AlternateContent xmlns:mc="http://schemas.openxmlformats.org/markup-compatibility/2006">
              <mc:Choice xmlns:v="urn:schemas-microsoft-com:vml" Requires="v">
                <p:oleObj spid="_x0000_s7171" name="Chemistry 4-D Draw" r:id="rId3" imgW="5303520" imgH="3647880" progId="">
                  <p:embed/>
                </p:oleObj>
              </mc:Choice>
              <mc:Fallback>
                <p:oleObj name="Chemistry 4-D Draw" r:id="rId3" imgW="5303520" imgH="3647880" progId="">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79388"/>
                        <a:ext cx="9134475" cy="628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8" name="Text Box 3"/>
          <p:cNvSpPr txBox="1">
            <a:spLocks noChangeArrowheads="1"/>
          </p:cNvSpPr>
          <p:nvPr/>
        </p:nvSpPr>
        <p:spPr bwMode="auto">
          <a:xfrm>
            <a:off x="3505200" y="304800"/>
            <a:ext cx="1752600" cy="579438"/>
          </a:xfrm>
          <a:prstGeom prst="rect">
            <a:avLst/>
          </a:prstGeom>
          <a:noFill/>
          <a:ln w="12700">
            <a:noFill/>
            <a:miter lim="800000"/>
            <a:headEnd/>
            <a:tailEnd/>
          </a:ln>
        </p:spPr>
        <p:txBody>
          <a:bodyPr>
            <a:spAutoFit/>
          </a:bodyPr>
          <a:lstStyle/>
          <a:p>
            <a:pPr eaLnBrk="0" hangingPunct="0">
              <a:spcBef>
                <a:spcPct val="50000"/>
              </a:spcBef>
            </a:pPr>
            <a:r>
              <a:rPr lang="en-US" sz="3200">
                <a:solidFill>
                  <a:srgbClr val="FC0128"/>
                </a:solidFill>
              </a:rPr>
              <a:t>d orbitals</a:t>
            </a:r>
            <a:r>
              <a:rPr lang="en-US" sz="2800">
                <a:solidFill>
                  <a:srgbClr val="FC0128"/>
                </a:solidFill>
              </a:rPr>
              <a:t> </a:t>
            </a:r>
          </a:p>
        </p:txBody>
      </p:sp>
    </p:spTree>
    <p:extLst>
      <p:ext uri="{BB962C8B-B14F-4D97-AF65-F5344CB8AC3E}">
        <p14:creationId xmlns:p14="http://schemas.microsoft.com/office/powerpoint/2010/main" val="1380596891"/>
      </p:ext>
    </p:extLst>
  </p:cSld>
  <p:clrMapOvr>
    <a:masterClrMapping/>
  </p:clrMapOvr>
  <p:transition>
    <p:zoom dir="in"/>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685800" y="355600"/>
            <a:ext cx="7772400" cy="558800"/>
          </a:xfrm>
          <a:noFill/>
        </p:spPr>
        <p:txBody>
          <a:bodyPr lIns="90488" tIns="44450" rIns="90488" bIns="44450">
            <a:normAutofit fontScale="90000"/>
          </a:bodyPr>
          <a:lstStyle/>
          <a:p>
            <a:pPr eaLnBrk="1" hangingPunct="1"/>
            <a:r>
              <a:rPr lang="en-US" b="1">
                <a:solidFill>
                  <a:srgbClr val="C00000"/>
                </a:solidFill>
              </a:rPr>
              <a:t>Crystal Field Theory</a:t>
            </a:r>
            <a:endParaRPr lang="en-US" b="1"/>
          </a:p>
        </p:txBody>
      </p:sp>
      <p:sp>
        <p:nvSpPr>
          <p:cNvPr id="62467" name="Rectangle 3"/>
          <p:cNvSpPr>
            <a:spLocks noGrp="1" noChangeArrowheads="1"/>
          </p:cNvSpPr>
          <p:nvPr>
            <p:ph type="body" idx="1"/>
          </p:nvPr>
        </p:nvSpPr>
        <p:spPr>
          <a:xfrm>
            <a:off x="0" y="1371600"/>
            <a:ext cx="8763000" cy="5105400"/>
          </a:xfrm>
          <a:noFill/>
        </p:spPr>
        <p:txBody>
          <a:bodyPr lIns="90488" tIns="44450" rIns="90488" bIns="44450"/>
          <a:lstStyle/>
          <a:p>
            <a:pPr eaLnBrk="1" hangingPunct="1"/>
            <a:r>
              <a:rPr lang="en-US"/>
              <a:t>Electrostatic Interactions</a:t>
            </a:r>
          </a:p>
          <a:p>
            <a:pPr lvl="1" eaLnBrk="1" hangingPunct="1"/>
            <a:r>
              <a:rPr lang="en-US" sz="3200"/>
              <a:t>(+) metal ion attracted to (-) ligands (anion or dipole)</a:t>
            </a:r>
          </a:p>
          <a:p>
            <a:pPr lvl="2" eaLnBrk="1" hangingPunct="1"/>
            <a:r>
              <a:rPr lang="en-US" sz="3200"/>
              <a:t>provides stability</a:t>
            </a:r>
          </a:p>
          <a:p>
            <a:pPr lvl="1" eaLnBrk="1" hangingPunct="1"/>
            <a:r>
              <a:rPr lang="en-US" sz="3200"/>
              <a:t>lone pair e</a:t>
            </a:r>
            <a:r>
              <a:rPr lang="en-US" sz="3200" baseline="30000"/>
              <a:t>-</a:t>
            </a:r>
            <a:r>
              <a:rPr lang="en-US" sz="3200"/>
              <a:t>’s on ligands repulsed by e</a:t>
            </a:r>
            <a:r>
              <a:rPr lang="en-US" sz="3200" baseline="30000"/>
              <a:t>-</a:t>
            </a:r>
            <a:r>
              <a:rPr lang="en-US" sz="3200"/>
              <a:t>’s in metal d orbitals</a:t>
            </a:r>
          </a:p>
          <a:p>
            <a:pPr lvl="2" eaLnBrk="1" hangingPunct="1"/>
            <a:r>
              <a:rPr lang="en-US" sz="3200"/>
              <a:t>interaction called crystal field</a:t>
            </a:r>
          </a:p>
          <a:p>
            <a:pPr lvl="2" eaLnBrk="1" hangingPunct="1"/>
            <a:r>
              <a:rPr lang="en-US" sz="3200"/>
              <a:t>influences d orbital energies</a:t>
            </a:r>
          </a:p>
          <a:p>
            <a:pPr lvl="3" eaLnBrk="1" hangingPunct="1"/>
            <a:r>
              <a:rPr lang="en-US" sz="3200"/>
              <a:t>not all d orbitals influenced the same way</a:t>
            </a:r>
          </a:p>
        </p:txBody>
      </p:sp>
    </p:spTree>
    <p:extLst>
      <p:ext uri="{BB962C8B-B14F-4D97-AF65-F5344CB8AC3E}">
        <p14:creationId xmlns:p14="http://schemas.microsoft.com/office/powerpoint/2010/main" val="2187007793"/>
      </p:ext>
    </p:extLst>
  </p:cSld>
  <p:clrMapOvr>
    <a:masterClrMapping/>
  </p:clrMapOvr>
  <p:transition>
    <p:zoom dir="in"/>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7"/>
          <p:cNvPicPr>
            <a:picLocks noChangeAspect="1" noChangeArrowheads="1"/>
          </p:cNvPicPr>
          <p:nvPr/>
        </p:nvPicPr>
        <p:blipFill>
          <a:blip r:embed="rId2"/>
          <a:srcRect/>
          <a:stretch>
            <a:fillRect/>
          </a:stretch>
        </p:blipFill>
        <p:spPr bwMode="auto">
          <a:xfrm>
            <a:off x="4724400" y="762000"/>
            <a:ext cx="4083050" cy="4667250"/>
          </a:xfrm>
          <a:prstGeom prst="rect">
            <a:avLst/>
          </a:prstGeom>
          <a:noFill/>
          <a:ln w="12700">
            <a:noFill/>
            <a:miter lim="800000"/>
            <a:headEnd/>
            <a:tailEnd/>
          </a:ln>
        </p:spPr>
      </p:pic>
      <p:sp>
        <p:nvSpPr>
          <p:cNvPr id="63491" name="Rectangle 3"/>
          <p:cNvSpPr>
            <a:spLocks noChangeArrowheads="1"/>
          </p:cNvSpPr>
          <p:nvPr/>
        </p:nvSpPr>
        <p:spPr bwMode="auto">
          <a:xfrm>
            <a:off x="3276600" y="5915025"/>
            <a:ext cx="5562600" cy="515938"/>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sz="2800" b="1">
                <a:solidFill>
                  <a:schemeClr val="accent2"/>
                </a:solidFill>
              </a:rPr>
              <a:t>ligands approach along x, y, z axes</a:t>
            </a:r>
          </a:p>
        </p:txBody>
      </p:sp>
      <p:sp>
        <p:nvSpPr>
          <p:cNvPr id="63492" name="Rectangle 4"/>
          <p:cNvSpPr>
            <a:spLocks noChangeArrowheads="1"/>
          </p:cNvSpPr>
          <p:nvPr/>
        </p:nvSpPr>
        <p:spPr bwMode="auto">
          <a:xfrm>
            <a:off x="762000" y="2133600"/>
            <a:ext cx="4191000" cy="81915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b="1">
                <a:solidFill>
                  <a:srgbClr val="FF0000"/>
                </a:solidFill>
              </a:rPr>
              <a:t>(-) Ligands  attracted to (+) metal ion; provides stability</a:t>
            </a:r>
          </a:p>
        </p:txBody>
      </p:sp>
      <p:sp>
        <p:nvSpPr>
          <p:cNvPr id="63493" name="Text Box 5"/>
          <p:cNvSpPr txBox="1">
            <a:spLocks noChangeArrowheads="1"/>
          </p:cNvSpPr>
          <p:nvPr/>
        </p:nvSpPr>
        <p:spPr bwMode="auto">
          <a:xfrm>
            <a:off x="381000" y="1295400"/>
            <a:ext cx="5257800" cy="579438"/>
          </a:xfrm>
          <a:prstGeom prst="rect">
            <a:avLst/>
          </a:prstGeom>
          <a:noFill/>
          <a:ln w="12700">
            <a:noFill/>
            <a:miter lim="800000"/>
            <a:headEnd/>
            <a:tailEnd/>
          </a:ln>
        </p:spPr>
        <p:txBody>
          <a:bodyPr>
            <a:spAutoFit/>
          </a:bodyPr>
          <a:lstStyle/>
          <a:p>
            <a:pPr algn="ctr" eaLnBrk="0" hangingPunct="0">
              <a:spcBef>
                <a:spcPct val="50000"/>
              </a:spcBef>
            </a:pPr>
            <a:r>
              <a:rPr lang="en-US" sz="3200" b="1"/>
              <a:t>Octahedral Crystal Field</a:t>
            </a:r>
          </a:p>
        </p:txBody>
      </p:sp>
      <p:sp>
        <p:nvSpPr>
          <p:cNvPr id="63494" name="Rectangle 6"/>
          <p:cNvSpPr>
            <a:spLocks noChangeArrowheads="1"/>
          </p:cNvSpPr>
          <p:nvPr/>
        </p:nvSpPr>
        <p:spPr bwMode="auto">
          <a:xfrm>
            <a:off x="2514600" y="4419600"/>
            <a:ext cx="4189413" cy="1184275"/>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b="1">
                <a:solidFill>
                  <a:srgbClr val="FF0000"/>
                </a:solidFill>
              </a:rPr>
              <a:t>d orbital e</a:t>
            </a:r>
            <a:r>
              <a:rPr lang="en-US" b="1" baseline="30000">
                <a:solidFill>
                  <a:srgbClr val="FF0000"/>
                </a:solidFill>
              </a:rPr>
              <a:t>-</a:t>
            </a:r>
            <a:r>
              <a:rPr lang="en-US" b="1">
                <a:solidFill>
                  <a:srgbClr val="FF0000"/>
                </a:solidFill>
              </a:rPr>
              <a:t>’s repulsed by (–) ligands; increases d orbital potential energy </a:t>
            </a:r>
          </a:p>
        </p:txBody>
      </p:sp>
      <p:sp>
        <p:nvSpPr>
          <p:cNvPr id="63495" name="Line 8"/>
          <p:cNvSpPr>
            <a:spLocks noChangeShapeType="1"/>
          </p:cNvSpPr>
          <p:nvPr/>
        </p:nvSpPr>
        <p:spPr bwMode="auto">
          <a:xfrm>
            <a:off x="6934200" y="1676400"/>
            <a:ext cx="0" cy="533400"/>
          </a:xfrm>
          <a:prstGeom prst="line">
            <a:avLst/>
          </a:prstGeom>
          <a:noFill/>
          <a:ln w="12700">
            <a:solidFill>
              <a:srgbClr val="FF0000"/>
            </a:solidFill>
            <a:round/>
            <a:headEnd/>
            <a:tailEnd type="triangle" w="med" len="med"/>
          </a:ln>
        </p:spPr>
        <p:txBody>
          <a:bodyPr/>
          <a:lstStyle/>
          <a:p>
            <a:endParaRPr lang="en-US"/>
          </a:p>
        </p:txBody>
      </p:sp>
      <p:sp>
        <p:nvSpPr>
          <p:cNvPr id="63496" name="Line 9"/>
          <p:cNvSpPr>
            <a:spLocks noChangeShapeType="1"/>
          </p:cNvSpPr>
          <p:nvPr/>
        </p:nvSpPr>
        <p:spPr bwMode="auto">
          <a:xfrm>
            <a:off x="6629400" y="4038600"/>
            <a:ext cx="0" cy="533400"/>
          </a:xfrm>
          <a:prstGeom prst="line">
            <a:avLst/>
          </a:prstGeom>
          <a:noFill/>
          <a:ln w="12700">
            <a:solidFill>
              <a:srgbClr val="FF0000"/>
            </a:solidFill>
            <a:round/>
            <a:headEnd type="arrow" w="med" len="med"/>
            <a:tailEnd/>
          </a:ln>
        </p:spPr>
        <p:txBody>
          <a:bodyPr/>
          <a:lstStyle/>
          <a:p>
            <a:endParaRPr lang="en-US"/>
          </a:p>
        </p:txBody>
      </p:sp>
      <p:sp>
        <p:nvSpPr>
          <p:cNvPr id="63497" name="Line 10"/>
          <p:cNvSpPr>
            <a:spLocks noChangeShapeType="1"/>
          </p:cNvSpPr>
          <p:nvPr/>
        </p:nvSpPr>
        <p:spPr bwMode="auto">
          <a:xfrm rot="16200000" flipV="1">
            <a:off x="7467600" y="3352800"/>
            <a:ext cx="228600" cy="533400"/>
          </a:xfrm>
          <a:prstGeom prst="line">
            <a:avLst/>
          </a:prstGeom>
          <a:noFill/>
          <a:ln w="12700">
            <a:solidFill>
              <a:srgbClr val="FF0000"/>
            </a:solidFill>
            <a:round/>
            <a:headEnd/>
            <a:tailEnd type="triangle" w="med" len="med"/>
          </a:ln>
        </p:spPr>
        <p:txBody>
          <a:bodyPr/>
          <a:lstStyle/>
          <a:p>
            <a:endParaRPr lang="en-US"/>
          </a:p>
        </p:txBody>
      </p:sp>
      <p:sp>
        <p:nvSpPr>
          <p:cNvPr id="63498" name="Line 11"/>
          <p:cNvSpPr>
            <a:spLocks noChangeShapeType="1"/>
          </p:cNvSpPr>
          <p:nvPr/>
        </p:nvSpPr>
        <p:spPr bwMode="auto">
          <a:xfrm rot="5400000" flipH="1" flipV="1">
            <a:off x="7543800" y="2514600"/>
            <a:ext cx="228600" cy="533400"/>
          </a:xfrm>
          <a:prstGeom prst="line">
            <a:avLst/>
          </a:prstGeom>
          <a:noFill/>
          <a:ln w="12700">
            <a:solidFill>
              <a:srgbClr val="FF0000"/>
            </a:solidFill>
            <a:round/>
            <a:headEnd type="arrow" w="med" len="med"/>
            <a:tailEnd/>
          </a:ln>
        </p:spPr>
        <p:txBody>
          <a:bodyPr/>
          <a:lstStyle/>
          <a:p>
            <a:endParaRPr lang="en-US"/>
          </a:p>
        </p:txBody>
      </p:sp>
      <p:sp>
        <p:nvSpPr>
          <p:cNvPr id="63499" name="Line 12"/>
          <p:cNvSpPr>
            <a:spLocks noChangeShapeType="1"/>
          </p:cNvSpPr>
          <p:nvPr/>
        </p:nvSpPr>
        <p:spPr bwMode="auto">
          <a:xfrm rot="5400000" flipH="1" flipV="1">
            <a:off x="5753100" y="3086100"/>
            <a:ext cx="304800" cy="533400"/>
          </a:xfrm>
          <a:prstGeom prst="line">
            <a:avLst/>
          </a:prstGeom>
          <a:noFill/>
          <a:ln w="12700">
            <a:solidFill>
              <a:srgbClr val="FF0000"/>
            </a:solidFill>
            <a:round/>
            <a:headEnd/>
            <a:tailEnd type="triangle" w="med" len="med"/>
          </a:ln>
        </p:spPr>
        <p:txBody>
          <a:bodyPr/>
          <a:lstStyle/>
          <a:p>
            <a:endParaRPr lang="en-US"/>
          </a:p>
        </p:txBody>
      </p:sp>
      <p:sp>
        <p:nvSpPr>
          <p:cNvPr id="63500" name="Line 13"/>
          <p:cNvSpPr>
            <a:spLocks noChangeShapeType="1"/>
          </p:cNvSpPr>
          <p:nvPr/>
        </p:nvSpPr>
        <p:spPr bwMode="auto">
          <a:xfrm rot="16200000" flipV="1">
            <a:off x="5791200" y="2286000"/>
            <a:ext cx="228600" cy="533400"/>
          </a:xfrm>
          <a:prstGeom prst="line">
            <a:avLst/>
          </a:prstGeom>
          <a:noFill/>
          <a:ln w="12700">
            <a:solidFill>
              <a:srgbClr val="FF0000"/>
            </a:solidFill>
            <a:round/>
            <a:headEnd type="arrow" w="med" len="med"/>
            <a:tailEnd/>
          </a:ln>
        </p:spPr>
        <p:txBody>
          <a:bodyPr/>
          <a:lstStyle/>
          <a:p>
            <a:endParaRPr lang="en-US"/>
          </a:p>
        </p:txBody>
      </p:sp>
      <p:sp>
        <p:nvSpPr>
          <p:cNvPr id="63501" name="Text Box 14"/>
          <p:cNvSpPr txBox="1">
            <a:spLocks noChangeArrowheads="1"/>
          </p:cNvSpPr>
          <p:nvPr/>
        </p:nvSpPr>
        <p:spPr bwMode="auto">
          <a:xfrm>
            <a:off x="6553200" y="2743200"/>
            <a:ext cx="533400" cy="641350"/>
          </a:xfrm>
          <a:prstGeom prst="rect">
            <a:avLst/>
          </a:prstGeom>
          <a:noFill/>
          <a:ln w="12700">
            <a:noFill/>
            <a:miter lim="800000"/>
            <a:headEnd/>
            <a:tailEnd/>
          </a:ln>
        </p:spPr>
        <p:txBody>
          <a:bodyPr>
            <a:spAutoFit/>
          </a:bodyPr>
          <a:lstStyle/>
          <a:p>
            <a:pPr>
              <a:spcBef>
                <a:spcPct val="50000"/>
              </a:spcBef>
            </a:pPr>
            <a:r>
              <a:rPr lang="en-US" sz="3600">
                <a:solidFill>
                  <a:srgbClr val="FF6600"/>
                </a:solidFill>
              </a:rPr>
              <a:t>+</a:t>
            </a:r>
          </a:p>
        </p:txBody>
      </p:sp>
      <p:sp>
        <p:nvSpPr>
          <p:cNvPr id="63502" name="Text Box 15"/>
          <p:cNvSpPr txBox="1">
            <a:spLocks noChangeArrowheads="1"/>
          </p:cNvSpPr>
          <p:nvPr/>
        </p:nvSpPr>
        <p:spPr bwMode="auto">
          <a:xfrm>
            <a:off x="6553200" y="914400"/>
            <a:ext cx="457200" cy="762000"/>
          </a:xfrm>
          <a:prstGeom prst="rect">
            <a:avLst/>
          </a:prstGeom>
          <a:noFill/>
          <a:ln w="12700">
            <a:noFill/>
            <a:miter lim="800000"/>
            <a:headEnd/>
            <a:tailEnd/>
          </a:ln>
        </p:spPr>
        <p:txBody>
          <a:bodyPr>
            <a:spAutoFit/>
          </a:bodyPr>
          <a:lstStyle/>
          <a:p>
            <a:pPr>
              <a:spcBef>
                <a:spcPct val="50000"/>
              </a:spcBef>
            </a:pPr>
            <a:r>
              <a:rPr lang="en-US" sz="4400">
                <a:solidFill>
                  <a:srgbClr val="D60093"/>
                </a:solidFill>
              </a:rPr>
              <a:t>-</a:t>
            </a:r>
          </a:p>
        </p:txBody>
      </p:sp>
      <p:sp>
        <p:nvSpPr>
          <p:cNvPr id="63503" name="Text Box 16"/>
          <p:cNvSpPr txBox="1">
            <a:spLocks noChangeArrowheads="1"/>
          </p:cNvSpPr>
          <p:nvPr/>
        </p:nvSpPr>
        <p:spPr bwMode="auto">
          <a:xfrm>
            <a:off x="5105400" y="2057400"/>
            <a:ext cx="457200" cy="762000"/>
          </a:xfrm>
          <a:prstGeom prst="rect">
            <a:avLst/>
          </a:prstGeom>
          <a:noFill/>
          <a:ln w="12700">
            <a:noFill/>
            <a:miter lim="800000"/>
            <a:headEnd/>
            <a:tailEnd/>
          </a:ln>
        </p:spPr>
        <p:txBody>
          <a:bodyPr>
            <a:spAutoFit/>
          </a:bodyPr>
          <a:lstStyle/>
          <a:p>
            <a:pPr>
              <a:spcBef>
                <a:spcPct val="50000"/>
              </a:spcBef>
            </a:pPr>
            <a:r>
              <a:rPr lang="en-US" sz="4400">
                <a:solidFill>
                  <a:srgbClr val="D60093"/>
                </a:solidFill>
              </a:rPr>
              <a:t>-</a:t>
            </a:r>
          </a:p>
        </p:txBody>
      </p:sp>
      <p:sp>
        <p:nvSpPr>
          <p:cNvPr id="63504" name="Text Box 17"/>
          <p:cNvSpPr txBox="1">
            <a:spLocks noChangeArrowheads="1"/>
          </p:cNvSpPr>
          <p:nvPr/>
        </p:nvSpPr>
        <p:spPr bwMode="auto">
          <a:xfrm>
            <a:off x="7924800" y="1981200"/>
            <a:ext cx="457200" cy="762000"/>
          </a:xfrm>
          <a:prstGeom prst="rect">
            <a:avLst/>
          </a:prstGeom>
          <a:noFill/>
          <a:ln w="12700">
            <a:noFill/>
            <a:miter lim="800000"/>
            <a:headEnd/>
            <a:tailEnd/>
          </a:ln>
        </p:spPr>
        <p:txBody>
          <a:bodyPr>
            <a:spAutoFit/>
          </a:bodyPr>
          <a:lstStyle/>
          <a:p>
            <a:pPr>
              <a:spcBef>
                <a:spcPct val="50000"/>
              </a:spcBef>
            </a:pPr>
            <a:r>
              <a:rPr lang="en-US" sz="4400">
                <a:solidFill>
                  <a:srgbClr val="D60093"/>
                </a:solidFill>
              </a:rPr>
              <a:t>-</a:t>
            </a:r>
          </a:p>
        </p:txBody>
      </p:sp>
      <p:sp>
        <p:nvSpPr>
          <p:cNvPr id="63505" name="Text Box 18"/>
          <p:cNvSpPr txBox="1">
            <a:spLocks noChangeArrowheads="1"/>
          </p:cNvSpPr>
          <p:nvPr/>
        </p:nvSpPr>
        <p:spPr bwMode="auto">
          <a:xfrm>
            <a:off x="8001000" y="3276600"/>
            <a:ext cx="457200" cy="762000"/>
          </a:xfrm>
          <a:prstGeom prst="rect">
            <a:avLst/>
          </a:prstGeom>
          <a:noFill/>
          <a:ln w="12700">
            <a:noFill/>
            <a:miter lim="800000"/>
            <a:headEnd/>
            <a:tailEnd/>
          </a:ln>
        </p:spPr>
        <p:txBody>
          <a:bodyPr>
            <a:spAutoFit/>
          </a:bodyPr>
          <a:lstStyle/>
          <a:p>
            <a:pPr>
              <a:spcBef>
                <a:spcPct val="50000"/>
              </a:spcBef>
            </a:pPr>
            <a:r>
              <a:rPr lang="en-US" sz="4400">
                <a:solidFill>
                  <a:srgbClr val="D60093"/>
                </a:solidFill>
              </a:rPr>
              <a:t>-</a:t>
            </a:r>
          </a:p>
        </p:txBody>
      </p:sp>
      <p:sp>
        <p:nvSpPr>
          <p:cNvPr id="63506" name="Text Box 19"/>
          <p:cNvSpPr txBox="1">
            <a:spLocks noChangeArrowheads="1"/>
          </p:cNvSpPr>
          <p:nvPr/>
        </p:nvSpPr>
        <p:spPr bwMode="auto">
          <a:xfrm>
            <a:off x="6629400" y="4419600"/>
            <a:ext cx="457200" cy="762000"/>
          </a:xfrm>
          <a:prstGeom prst="rect">
            <a:avLst/>
          </a:prstGeom>
          <a:noFill/>
          <a:ln w="12700">
            <a:noFill/>
            <a:miter lim="800000"/>
            <a:headEnd/>
            <a:tailEnd/>
          </a:ln>
        </p:spPr>
        <p:txBody>
          <a:bodyPr>
            <a:spAutoFit/>
          </a:bodyPr>
          <a:lstStyle/>
          <a:p>
            <a:pPr>
              <a:spcBef>
                <a:spcPct val="50000"/>
              </a:spcBef>
            </a:pPr>
            <a:r>
              <a:rPr lang="en-US" sz="4400">
                <a:solidFill>
                  <a:srgbClr val="D60093"/>
                </a:solidFill>
              </a:rPr>
              <a:t>-</a:t>
            </a:r>
          </a:p>
        </p:txBody>
      </p:sp>
      <p:sp>
        <p:nvSpPr>
          <p:cNvPr id="63507" name="Text Box 20"/>
          <p:cNvSpPr txBox="1">
            <a:spLocks noChangeArrowheads="1"/>
          </p:cNvSpPr>
          <p:nvPr/>
        </p:nvSpPr>
        <p:spPr bwMode="auto">
          <a:xfrm>
            <a:off x="5257800" y="3352800"/>
            <a:ext cx="457200" cy="762000"/>
          </a:xfrm>
          <a:prstGeom prst="rect">
            <a:avLst/>
          </a:prstGeom>
          <a:noFill/>
          <a:ln w="12700">
            <a:noFill/>
            <a:miter lim="800000"/>
            <a:headEnd/>
            <a:tailEnd/>
          </a:ln>
        </p:spPr>
        <p:txBody>
          <a:bodyPr>
            <a:spAutoFit/>
          </a:bodyPr>
          <a:lstStyle/>
          <a:p>
            <a:pPr>
              <a:spcBef>
                <a:spcPct val="50000"/>
              </a:spcBef>
            </a:pPr>
            <a:r>
              <a:rPr lang="en-US" sz="4400">
                <a:solidFill>
                  <a:srgbClr val="D60093"/>
                </a:solidFill>
              </a:rPr>
              <a:t>-</a:t>
            </a:r>
          </a:p>
        </p:txBody>
      </p:sp>
      <p:sp>
        <p:nvSpPr>
          <p:cNvPr id="63508" name="Rectangle 21"/>
          <p:cNvSpPr>
            <a:spLocks noChangeArrowheads="1"/>
          </p:cNvSpPr>
          <p:nvPr/>
        </p:nvSpPr>
        <p:spPr bwMode="auto">
          <a:xfrm>
            <a:off x="685800" y="355600"/>
            <a:ext cx="7772400" cy="558800"/>
          </a:xfrm>
          <a:prstGeom prst="rect">
            <a:avLst/>
          </a:prstGeom>
          <a:noFill/>
          <a:ln w="12700">
            <a:noFill/>
            <a:miter lim="800000"/>
            <a:headEnd/>
            <a:tailEnd/>
          </a:ln>
        </p:spPr>
        <p:txBody>
          <a:bodyPr lIns="90488" tIns="44450" rIns="90488" bIns="44450" anchor="ctr"/>
          <a:lstStyle/>
          <a:p>
            <a:pPr algn="ctr"/>
            <a:r>
              <a:rPr lang="en-US" sz="3600" b="1">
                <a:solidFill>
                  <a:srgbClr val="C00000"/>
                </a:solidFill>
              </a:rPr>
              <a:t>Crystal Field Theory</a:t>
            </a:r>
            <a:endParaRPr lang="en-US" sz="3600" b="1">
              <a:solidFill>
                <a:srgbClr val="CC6600"/>
              </a:solidFill>
            </a:endParaRPr>
          </a:p>
        </p:txBody>
      </p:sp>
    </p:spTree>
    <p:extLst>
      <p:ext uri="{BB962C8B-B14F-4D97-AF65-F5344CB8AC3E}">
        <p14:creationId xmlns:p14="http://schemas.microsoft.com/office/powerpoint/2010/main" val="3514744150"/>
      </p:ext>
    </p:extLst>
  </p:cSld>
  <p:clrMapOvr>
    <a:masterClrMapping/>
  </p:clrMapOvr>
  <p:transition>
    <p:zoom dir="in"/>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ChangeAspect="1" noChangeArrowheads="1"/>
          </p:cNvPicPr>
          <p:nvPr/>
        </p:nvPicPr>
        <p:blipFill>
          <a:blip r:embed="rId2"/>
          <a:srcRect/>
          <a:stretch>
            <a:fillRect/>
          </a:stretch>
        </p:blipFill>
        <p:spPr bwMode="auto">
          <a:xfrm>
            <a:off x="304800" y="330200"/>
            <a:ext cx="8458200" cy="5638800"/>
          </a:xfrm>
          <a:prstGeom prst="rect">
            <a:avLst/>
          </a:prstGeom>
          <a:noFill/>
          <a:ln w="9525">
            <a:noFill/>
            <a:miter lim="800000"/>
            <a:headEnd/>
            <a:tailEnd/>
          </a:ln>
        </p:spPr>
      </p:pic>
    </p:spTree>
    <p:extLst>
      <p:ext uri="{BB962C8B-B14F-4D97-AF65-F5344CB8AC3E}">
        <p14:creationId xmlns:p14="http://schemas.microsoft.com/office/powerpoint/2010/main" val="3837235003"/>
      </p:ext>
    </p:extLst>
  </p:cSld>
  <p:clrMapOvr>
    <a:masterClrMapping/>
  </p:clrMapOvr>
  <p:transition>
    <p:zoom dir="in"/>
  </p:transition>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170" name="Object 2">
            <a:hlinkClick r:id="" action="ppaction://ole?verb=0"/>
          </p:cNvPr>
          <p:cNvGraphicFramePr>
            <a:graphicFrameLocks/>
          </p:cNvGraphicFramePr>
          <p:nvPr/>
        </p:nvGraphicFramePr>
        <p:xfrm>
          <a:off x="806450" y="1322388"/>
          <a:ext cx="8251825" cy="3289300"/>
        </p:xfrm>
        <a:graphic>
          <a:graphicData uri="http://schemas.openxmlformats.org/presentationml/2006/ole">
            <mc:AlternateContent xmlns:mc="http://schemas.openxmlformats.org/markup-compatibility/2006">
              <mc:Choice xmlns:v="urn:schemas-microsoft-com:vml" Requires="v">
                <p:oleObj spid="_x0000_s8195" name="Chemistry 4-D Draw" r:id="rId3" imgW="5303520" imgH="3647880" progId="">
                  <p:embed/>
                </p:oleObj>
              </mc:Choice>
              <mc:Fallback>
                <p:oleObj name="Chemistry 4-D Draw" r:id="rId3" imgW="5303520" imgH="3647880" progId="">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l="9656" b="47627"/>
                      <a:stretch>
                        <a:fillRect/>
                      </a:stretch>
                    </p:blipFill>
                    <p:spPr bwMode="auto">
                      <a:xfrm>
                        <a:off x="806450" y="1322388"/>
                        <a:ext cx="8251825" cy="32893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2" name="Rectangle 3"/>
          <p:cNvSpPr>
            <a:spLocks noChangeArrowheads="1"/>
          </p:cNvSpPr>
          <p:nvPr/>
        </p:nvSpPr>
        <p:spPr bwMode="auto">
          <a:xfrm>
            <a:off x="1149350" y="3816350"/>
            <a:ext cx="520700" cy="1130300"/>
          </a:xfrm>
          <a:prstGeom prst="rect">
            <a:avLst/>
          </a:prstGeom>
          <a:solidFill>
            <a:schemeClr val="bg1"/>
          </a:solidFill>
          <a:ln w="12700">
            <a:noFill/>
            <a:miter lim="800000"/>
            <a:headEnd/>
            <a:tailEnd/>
          </a:ln>
        </p:spPr>
        <p:txBody>
          <a:bodyPr wrap="none" anchor="ctr"/>
          <a:lstStyle/>
          <a:p>
            <a:endParaRPr lang="uk-UA"/>
          </a:p>
        </p:txBody>
      </p:sp>
      <p:sp>
        <p:nvSpPr>
          <p:cNvPr id="7173" name="Rectangle 4"/>
          <p:cNvSpPr>
            <a:spLocks noChangeArrowheads="1"/>
          </p:cNvSpPr>
          <p:nvPr/>
        </p:nvSpPr>
        <p:spPr bwMode="auto">
          <a:xfrm>
            <a:off x="4121150" y="4044950"/>
            <a:ext cx="596900" cy="901700"/>
          </a:xfrm>
          <a:prstGeom prst="rect">
            <a:avLst/>
          </a:prstGeom>
          <a:solidFill>
            <a:schemeClr val="bg1"/>
          </a:solidFill>
          <a:ln w="12700">
            <a:noFill/>
            <a:miter lim="800000"/>
            <a:headEnd/>
            <a:tailEnd/>
          </a:ln>
        </p:spPr>
        <p:txBody>
          <a:bodyPr wrap="none" anchor="ctr"/>
          <a:lstStyle/>
          <a:p>
            <a:pPr algn="ctr" eaLnBrk="0" hangingPunct="0"/>
            <a:endParaRPr lang="uk-UA">
              <a:solidFill>
                <a:schemeClr val="bg2"/>
              </a:solidFill>
            </a:endParaRPr>
          </a:p>
        </p:txBody>
      </p:sp>
      <p:sp>
        <p:nvSpPr>
          <p:cNvPr id="7174" name="Rectangle 5"/>
          <p:cNvSpPr>
            <a:spLocks noChangeArrowheads="1"/>
          </p:cNvSpPr>
          <p:nvPr/>
        </p:nvSpPr>
        <p:spPr bwMode="auto">
          <a:xfrm>
            <a:off x="6788150" y="3740150"/>
            <a:ext cx="1282700" cy="1511300"/>
          </a:xfrm>
          <a:prstGeom prst="rect">
            <a:avLst/>
          </a:prstGeom>
          <a:solidFill>
            <a:schemeClr val="bg1"/>
          </a:solidFill>
          <a:ln w="12700">
            <a:noFill/>
            <a:miter lim="800000"/>
            <a:headEnd/>
            <a:tailEnd/>
          </a:ln>
        </p:spPr>
        <p:txBody>
          <a:bodyPr wrap="none" anchor="ctr"/>
          <a:lstStyle/>
          <a:p>
            <a:endParaRPr lang="uk-UA"/>
          </a:p>
        </p:txBody>
      </p:sp>
      <p:sp>
        <p:nvSpPr>
          <p:cNvPr id="7175" name="Oval 6"/>
          <p:cNvSpPr>
            <a:spLocks noChangeArrowheads="1"/>
          </p:cNvSpPr>
          <p:nvPr/>
        </p:nvSpPr>
        <p:spPr bwMode="auto">
          <a:xfrm>
            <a:off x="3587750" y="24447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7176" name="Oval 7"/>
          <p:cNvSpPr>
            <a:spLocks noChangeArrowheads="1"/>
          </p:cNvSpPr>
          <p:nvPr/>
        </p:nvSpPr>
        <p:spPr bwMode="auto">
          <a:xfrm>
            <a:off x="2597150" y="34353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7177" name="Oval 8"/>
          <p:cNvSpPr>
            <a:spLocks noChangeArrowheads="1"/>
          </p:cNvSpPr>
          <p:nvPr/>
        </p:nvSpPr>
        <p:spPr bwMode="auto">
          <a:xfrm>
            <a:off x="1454150" y="24447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7178" name="Oval 9"/>
          <p:cNvSpPr>
            <a:spLocks noChangeArrowheads="1"/>
          </p:cNvSpPr>
          <p:nvPr/>
        </p:nvSpPr>
        <p:spPr bwMode="auto">
          <a:xfrm>
            <a:off x="2597150" y="13779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7179" name="Oval 10"/>
          <p:cNvSpPr>
            <a:spLocks noChangeArrowheads="1"/>
          </p:cNvSpPr>
          <p:nvPr/>
        </p:nvSpPr>
        <p:spPr bwMode="auto">
          <a:xfrm>
            <a:off x="6711950" y="24447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7180" name="Oval 11"/>
          <p:cNvSpPr>
            <a:spLocks noChangeArrowheads="1"/>
          </p:cNvSpPr>
          <p:nvPr/>
        </p:nvSpPr>
        <p:spPr bwMode="auto">
          <a:xfrm>
            <a:off x="4349750" y="24447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7181" name="Oval 12"/>
          <p:cNvSpPr>
            <a:spLocks noChangeArrowheads="1"/>
          </p:cNvSpPr>
          <p:nvPr/>
        </p:nvSpPr>
        <p:spPr bwMode="auto">
          <a:xfrm>
            <a:off x="5416550" y="35115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7182" name="Oval 13"/>
          <p:cNvSpPr>
            <a:spLocks noChangeArrowheads="1"/>
          </p:cNvSpPr>
          <p:nvPr/>
        </p:nvSpPr>
        <p:spPr bwMode="auto">
          <a:xfrm>
            <a:off x="5410200" y="137160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7183" name="Rectangle 14"/>
          <p:cNvSpPr>
            <a:spLocks noChangeArrowheads="1"/>
          </p:cNvSpPr>
          <p:nvPr/>
        </p:nvSpPr>
        <p:spPr bwMode="auto">
          <a:xfrm>
            <a:off x="231775" y="5410200"/>
            <a:ext cx="8607425" cy="515938"/>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sz="2800">
                <a:solidFill>
                  <a:srgbClr val="FF0000"/>
                </a:solidFill>
              </a:rPr>
              <a:t>greater electrostatic repulsion = higher potential energy</a:t>
            </a:r>
          </a:p>
        </p:txBody>
      </p:sp>
      <p:sp>
        <p:nvSpPr>
          <p:cNvPr id="7184" name="Text Box 17"/>
          <p:cNvSpPr txBox="1">
            <a:spLocks noChangeArrowheads="1"/>
          </p:cNvSpPr>
          <p:nvPr/>
        </p:nvSpPr>
        <p:spPr bwMode="auto">
          <a:xfrm>
            <a:off x="2514600" y="4572000"/>
            <a:ext cx="3886200" cy="519113"/>
          </a:xfrm>
          <a:prstGeom prst="rect">
            <a:avLst/>
          </a:prstGeom>
          <a:noFill/>
          <a:ln w="12700">
            <a:noFill/>
            <a:miter lim="800000"/>
            <a:headEnd/>
            <a:tailEnd/>
          </a:ln>
        </p:spPr>
        <p:txBody>
          <a:bodyPr>
            <a:spAutoFit/>
          </a:bodyPr>
          <a:lstStyle/>
          <a:p>
            <a:pPr algn="ctr" eaLnBrk="0" hangingPunct="0">
              <a:spcBef>
                <a:spcPct val="50000"/>
              </a:spcBef>
            </a:pPr>
            <a:r>
              <a:rPr lang="en-US">
                <a:solidFill>
                  <a:srgbClr val="FC0128"/>
                </a:solidFill>
              </a:rPr>
              <a:t>Lobes directed at ligands</a:t>
            </a:r>
            <a:r>
              <a:rPr lang="en-US" sz="2800">
                <a:solidFill>
                  <a:srgbClr val="FC0128"/>
                </a:solidFill>
              </a:rPr>
              <a:t> </a:t>
            </a:r>
          </a:p>
        </p:txBody>
      </p:sp>
      <p:sp>
        <p:nvSpPr>
          <p:cNvPr id="7185" name="Rectangle 19"/>
          <p:cNvSpPr>
            <a:spLocks noChangeArrowheads="1"/>
          </p:cNvSpPr>
          <p:nvPr/>
        </p:nvSpPr>
        <p:spPr bwMode="auto">
          <a:xfrm>
            <a:off x="685800" y="355600"/>
            <a:ext cx="7772400" cy="558800"/>
          </a:xfrm>
          <a:prstGeom prst="rect">
            <a:avLst/>
          </a:prstGeom>
          <a:noFill/>
          <a:ln w="12700">
            <a:noFill/>
            <a:miter lim="800000"/>
            <a:headEnd/>
            <a:tailEnd/>
          </a:ln>
        </p:spPr>
        <p:txBody>
          <a:bodyPr lIns="90488" tIns="44450" rIns="90488" bIns="44450" anchor="ctr"/>
          <a:lstStyle/>
          <a:p>
            <a:pPr algn="ctr"/>
            <a:r>
              <a:rPr lang="en-US" sz="3600" b="1">
                <a:solidFill>
                  <a:srgbClr val="C00000"/>
                </a:solidFill>
              </a:rPr>
              <a:t>Crystal Field Theory</a:t>
            </a:r>
            <a:endParaRPr lang="en-US" sz="3600">
              <a:solidFill>
                <a:srgbClr val="CC6600"/>
              </a:solidFill>
            </a:endParaRPr>
          </a:p>
        </p:txBody>
      </p:sp>
    </p:spTree>
    <p:extLst>
      <p:ext uri="{BB962C8B-B14F-4D97-AF65-F5344CB8AC3E}">
        <p14:creationId xmlns:p14="http://schemas.microsoft.com/office/powerpoint/2010/main" val="4073142267"/>
      </p:ext>
    </p:extLst>
  </p:cSld>
  <p:clrMapOvr>
    <a:masterClrMapping/>
  </p:clrMapOvr>
  <p:transition>
    <p:zoom dir="in"/>
  </p:transition>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194" name="Object 2">
            <a:hlinkClick r:id="" action="ppaction://ole?verb=0"/>
          </p:cNvPr>
          <p:cNvGraphicFramePr>
            <a:graphicFrameLocks/>
          </p:cNvGraphicFramePr>
          <p:nvPr/>
        </p:nvGraphicFramePr>
        <p:xfrm>
          <a:off x="12700" y="2027238"/>
          <a:ext cx="9045575" cy="2984500"/>
        </p:xfrm>
        <a:graphic>
          <a:graphicData uri="http://schemas.openxmlformats.org/presentationml/2006/ole">
            <mc:AlternateContent xmlns:mc="http://schemas.openxmlformats.org/markup-compatibility/2006">
              <mc:Choice xmlns:v="urn:schemas-microsoft-com:vml" Requires="v">
                <p:oleObj spid="_x0000_s9219" name="Chemistry 4-D Draw" r:id="rId3" imgW="5303520" imgH="3647880" progId="">
                  <p:embed/>
                </p:oleObj>
              </mc:Choice>
              <mc:Fallback>
                <p:oleObj name="Chemistry 4-D Draw" r:id="rId3" imgW="5303520" imgH="3647880" progId="">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l="972" t="52477"/>
                      <a:stretch>
                        <a:fillRect/>
                      </a:stretch>
                    </p:blipFill>
                    <p:spPr bwMode="auto">
                      <a:xfrm>
                        <a:off x="12700" y="2027238"/>
                        <a:ext cx="9045575" cy="298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6" name="Oval 3"/>
          <p:cNvSpPr>
            <a:spLocks noChangeArrowheads="1"/>
          </p:cNvSpPr>
          <p:nvPr/>
        </p:nvSpPr>
        <p:spPr bwMode="auto">
          <a:xfrm>
            <a:off x="7016750" y="38163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197" name="Oval 4"/>
          <p:cNvSpPr>
            <a:spLocks noChangeArrowheads="1"/>
          </p:cNvSpPr>
          <p:nvPr/>
        </p:nvSpPr>
        <p:spPr bwMode="auto">
          <a:xfrm>
            <a:off x="0" y="281940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198" name="Oval 5"/>
          <p:cNvSpPr>
            <a:spLocks noChangeArrowheads="1"/>
          </p:cNvSpPr>
          <p:nvPr/>
        </p:nvSpPr>
        <p:spPr bwMode="auto">
          <a:xfrm>
            <a:off x="1149350" y="38163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199" name="Oval 6"/>
          <p:cNvSpPr>
            <a:spLocks noChangeArrowheads="1"/>
          </p:cNvSpPr>
          <p:nvPr/>
        </p:nvSpPr>
        <p:spPr bwMode="auto">
          <a:xfrm>
            <a:off x="2063750" y="28257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200" name="Oval 7"/>
          <p:cNvSpPr>
            <a:spLocks noChangeArrowheads="1"/>
          </p:cNvSpPr>
          <p:nvPr/>
        </p:nvSpPr>
        <p:spPr bwMode="auto">
          <a:xfrm>
            <a:off x="1073150" y="16065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201" name="Oval 8"/>
          <p:cNvSpPr>
            <a:spLocks noChangeArrowheads="1"/>
          </p:cNvSpPr>
          <p:nvPr/>
        </p:nvSpPr>
        <p:spPr bwMode="auto">
          <a:xfrm>
            <a:off x="2901950" y="28257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202" name="Oval 9"/>
          <p:cNvSpPr>
            <a:spLocks noChangeArrowheads="1"/>
          </p:cNvSpPr>
          <p:nvPr/>
        </p:nvSpPr>
        <p:spPr bwMode="auto">
          <a:xfrm>
            <a:off x="4044950" y="38925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203" name="Oval 10"/>
          <p:cNvSpPr>
            <a:spLocks noChangeArrowheads="1"/>
          </p:cNvSpPr>
          <p:nvPr/>
        </p:nvSpPr>
        <p:spPr bwMode="auto">
          <a:xfrm>
            <a:off x="5187950" y="28257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204" name="Oval 11"/>
          <p:cNvSpPr>
            <a:spLocks noChangeArrowheads="1"/>
          </p:cNvSpPr>
          <p:nvPr/>
        </p:nvSpPr>
        <p:spPr bwMode="auto">
          <a:xfrm>
            <a:off x="4044950" y="16065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205" name="Oval 12"/>
          <p:cNvSpPr>
            <a:spLocks noChangeArrowheads="1"/>
          </p:cNvSpPr>
          <p:nvPr/>
        </p:nvSpPr>
        <p:spPr bwMode="auto">
          <a:xfrm>
            <a:off x="8159750" y="27495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206" name="Oval 13"/>
          <p:cNvSpPr>
            <a:spLocks noChangeArrowheads="1"/>
          </p:cNvSpPr>
          <p:nvPr/>
        </p:nvSpPr>
        <p:spPr bwMode="auto">
          <a:xfrm>
            <a:off x="5949950" y="26733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207" name="Oval 14"/>
          <p:cNvSpPr>
            <a:spLocks noChangeArrowheads="1"/>
          </p:cNvSpPr>
          <p:nvPr/>
        </p:nvSpPr>
        <p:spPr bwMode="auto">
          <a:xfrm>
            <a:off x="7016750" y="1758950"/>
            <a:ext cx="673100" cy="673100"/>
          </a:xfrm>
          <a:prstGeom prst="ellipse">
            <a:avLst/>
          </a:prstGeom>
          <a:solidFill>
            <a:srgbClr val="7FFF00"/>
          </a:solidFill>
          <a:ln w="12700">
            <a:solidFill>
              <a:schemeClr val="tx1"/>
            </a:solidFill>
            <a:round/>
            <a:headEnd/>
            <a:tailEnd/>
          </a:ln>
        </p:spPr>
        <p:txBody>
          <a:bodyPr wrap="none" anchor="ctr"/>
          <a:lstStyle/>
          <a:p>
            <a:endParaRPr lang="uk-UA"/>
          </a:p>
        </p:txBody>
      </p:sp>
      <p:sp>
        <p:nvSpPr>
          <p:cNvPr id="8208" name="Rectangle 15"/>
          <p:cNvSpPr>
            <a:spLocks noChangeArrowheads="1"/>
          </p:cNvSpPr>
          <p:nvPr/>
        </p:nvSpPr>
        <p:spPr bwMode="auto">
          <a:xfrm>
            <a:off x="609600" y="5791200"/>
            <a:ext cx="7921625" cy="515938"/>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sz="2800">
                <a:solidFill>
                  <a:srgbClr val="FF0000"/>
                </a:solidFill>
              </a:rPr>
              <a:t>less electrostatic repulsion = lower potential energy</a:t>
            </a:r>
          </a:p>
        </p:txBody>
      </p:sp>
      <p:sp>
        <p:nvSpPr>
          <p:cNvPr id="8209" name="Text Box 17"/>
          <p:cNvSpPr txBox="1">
            <a:spLocks noChangeArrowheads="1"/>
          </p:cNvSpPr>
          <p:nvPr/>
        </p:nvSpPr>
        <p:spPr bwMode="auto">
          <a:xfrm>
            <a:off x="1981200" y="4876800"/>
            <a:ext cx="4800600" cy="519113"/>
          </a:xfrm>
          <a:prstGeom prst="rect">
            <a:avLst/>
          </a:prstGeom>
          <a:noFill/>
          <a:ln w="12700">
            <a:noFill/>
            <a:miter lim="800000"/>
            <a:headEnd/>
            <a:tailEnd/>
          </a:ln>
        </p:spPr>
        <p:txBody>
          <a:bodyPr>
            <a:spAutoFit/>
          </a:bodyPr>
          <a:lstStyle/>
          <a:p>
            <a:pPr algn="ctr" eaLnBrk="0" hangingPunct="0">
              <a:spcBef>
                <a:spcPct val="50000"/>
              </a:spcBef>
            </a:pPr>
            <a:r>
              <a:rPr lang="en-US">
                <a:solidFill>
                  <a:srgbClr val="FC0128"/>
                </a:solidFill>
              </a:rPr>
              <a:t>Lobes directed between ligands</a:t>
            </a:r>
            <a:r>
              <a:rPr lang="en-US" sz="2800">
                <a:solidFill>
                  <a:srgbClr val="FC0128"/>
                </a:solidFill>
              </a:rPr>
              <a:t> </a:t>
            </a:r>
          </a:p>
        </p:txBody>
      </p:sp>
      <p:sp>
        <p:nvSpPr>
          <p:cNvPr id="8210" name="Rectangle 18"/>
          <p:cNvSpPr>
            <a:spLocks noChangeArrowheads="1"/>
          </p:cNvSpPr>
          <p:nvPr/>
        </p:nvSpPr>
        <p:spPr bwMode="auto">
          <a:xfrm>
            <a:off x="685800" y="355600"/>
            <a:ext cx="7772400" cy="558800"/>
          </a:xfrm>
          <a:prstGeom prst="rect">
            <a:avLst/>
          </a:prstGeom>
          <a:noFill/>
          <a:ln w="12700">
            <a:noFill/>
            <a:miter lim="800000"/>
            <a:headEnd/>
            <a:tailEnd/>
          </a:ln>
        </p:spPr>
        <p:txBody>
          <a:bodyPr lIns="90488" tIns="44450" rIns="90488" bIns="44450" anchor="ctr"/>
          <a:lstStyle/>
          <a:p>
            <a:pPr algn="ctr"/>
            <a:r>
              <a:rPr lang="en-US" sz="3600" b="1">
                <a:solidFill>
                  <a:srgbClr val="C00000"/>
                </a:solidFill>
              </a:rPr>
              <a:t>Crystal Field Theory</a:t>
            </a:r>
            <a:endParaRPr lang="en-US" sz="3600">
              <a:solidFill>
                <a:srgbClr val="CC6600"/>
              </a:solidFill>
            </a:endParaRPr>
          </a:p>
        </p:txBody>
      </p:sp>
    </p:spTree>
    <p:extLst>
      <p:ext uri="{BB962C8B-B14F-4D97-AF65-F5344CB8AC3E}">
        <p14:creationId xmlns:p14="http://schemas.microsoft.com/office/powerpoint/2010/main" val="659673840"/>
      </p:ext>
    </p:extLst>
  </p:cSld>
  <p:clrMapOvr>
    <a:masterClrMapping/>
  </p:clrMapOvr>
  <p:transition>
    <p:zoom dir="in"/>
  </p:transition>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6478588" y="1373188"/>
            <a:ext cx="1673225" cy="75882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4400"/>
              <a:t>_    _ </a:t>
            </a:r>
          </a:p>
        </p:txBody>
      </p:sp>
      <p:sp>
        <p:nvSpPr>
          <p:cNvPr id="65539" name="Rectangle 3"/>
          <p:cNvSpPr>
            <a:spLocks noChangeArrowheads="1"/>
          </p:cNvSpPr>
          <p:nvPr/>
        </p:nvSpPr>
        <p:spPr bwMode="auto">
          <a:xfrm>
            <a:off x="6249988" y="2973388"/>
            <a:ext cx="2359025" cy="75882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4400"/>
              <a:t>_    _    _ </a:t>
            </a:r>
          </a:p>
        </p:txBody>
      </p:sp>
      <p:sp>
        <p:nvSpPr>
          <p:cNvPr id="65540" name="Rectangle 4"/>
          <p:cNvSpPr>
            <a:spLocks noChangeArrowheads="1"/>
          </p:cNvSpPr>
          <p:nvPr/>
        </p:nvSpPr>
        <p:spPr bwMode="auto">
          <a:xfrm>
            <a:off x="6249988" y="1144588"/>
            <a:ext cx="7588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d</a:t>
            </a:r>
            <a:r>
              <a:rPr lang="en-US" sz="3600" baseline="-25000"/>
              <a:t>z</a:t>
            </a:r>
            <a:r>
              <a:rPr lang="en-US"/>
              <a:t>2</a:t>
            </a:r>
          </a:p>
        </p:txBody>
      </p:sp>
      <p:sp>
        <p:nvSpPr>
          <p:cNvPr id="65541" name="Rectangle 5"/>
          <p:cNvSpPr>
            <a:spLocks noChangeArrowheads="1"/>
          </p:cNvSpPr>
          <p:nvPr/>
        </p:nvSpPr>
        <p:spPr bwMode="auto">
          <a:xfrm>
            <a:off x="7773988" y="3887788"/>
            <a:ext cx="7588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d</a:t>
            </a:r>
            <a:r>
              <a:rPr lang="en-US" sz="3600" baseline="-25000"/>
              <a:t>yz</a:t>
            </a:r>
          </a:p>
        </p:txBody>
      </p:sp>
      <p:sp>
        <p:nvSpPr>
          <p:cNvPr id="65542" name="Rectangle 6"/>
          <p:cNvSpPr>
            <a:spLocks noChangeArrowheads="1"/>
          </p:cNvSpPr>
          <p:nvPr/>
        </p:nvSpPr>
        <p:spPr bwMode="auto">
          <a:xfrm>
            <a:off x="7011988" y="3887788"/>
            <a:ext cx="7588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d</a:t>
            </a:r>
            <a:r>
              <a:rPr lang="en-US" sz="3600" baseline="-25000"/>
              <a:t>xz</a:t>
            </a:r>
          </a:p>
        </p:txBody>
      </p:sp>
      <p:sp>
        <p:nvSpPr>
          <p:cNvPr id="65543" name="Rectangle 7"/>
          <p:cNvSpPr>
            <a:spLocks noChangeArrowheads="1"/>
          </p:cNvSpPr>
          <p:nvPr/>
        </p:nvSpPr>
        <p:spPr bwMode="auto">
          <a:xfrm>
            <a:off x="6097588" y="3811588"/>
            <a:ext cx="7588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d</a:t>
            </a:r>
            <a:r>
              <a:rPr lang="en-US" sz="3600" baseline="-25000"/>
              <a:t>xy</a:t>
            </a:r>
          </a:p>
        </p:txBody>
      </p:sp>
      <p:sp>
        <p:nvSpPr>
          <p:cNvPr id="65544" name="Rectangle 8"/>
          <p:cNvSpPr>
            <a:spLocks noChangeArrowheads="1"/>
          </p:cNvSpPr>
          <p:nvPr/>
        </p:nvSpPr>
        <p:spPr bwMode="auto">
          <a:xfrm>
            <a:off x="7011988" y="1144588"/>
            <a:ext cx="15208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d</a:t>
            </a:r>
            <a:r>
              <a:rPr lang="en-US" sz="3600" baseline="-25000"/>
              <a:t>x</a:t>
            </a:r>
            <a:r>
              <a:rPr lang="en-US"/>
              <a:t>2</a:t>
            </a:r>
            <a:r>
              <a:rPr lang="en-US" sz="3600" baseline="-25000"/>
              <a:t>- y</a:t>
            </a:r>
            <a:r>
              <a:rPr lang="en-US"/>
              <a:t>2</a:t>
            </a:r>
          </a:p>
        </p:txBody>
      </p:sp>
      <p:sp>
        <p:nvSpPr>
          <p:cNvPr id="65545" name="Line 9"/>
          <p:cNvSpPr>
            <a:spLocks noChangeShapeType="1"/>
          </p:cNvSpPr>
          <p:nvPr/>
        </p:nvSpPr>
        <p:spPr bwMode="auto">
          <a:xfrm flipV="1">
            <a:off x="2997200" y="2032000"/>
            <a:ext cx="3302000" cy="3327400"/>
          </a:xfrm>
          <a:prstGeom prst="line">
            <a:avLst/>
          </a:prstGeom>
          <a:noFill/>
          <a:ln w="50800">
            <a:solidFill>
              <a:srgbClr val="F35B1B"/>
            </a:solidFill>
            <a:prstDash val="lgDash"/>
            <a:round/>
            <a:headEnd/>
            <a:tailEnd/>
          </a:ln>
        </p:spPr>
        <p:txBody>
          <a:bodyPr wrap="none" anchor="ctr"/>
          <a:lstStyle/>
          <a:p>
            <a:endParaRPr lang="en-US"/>
          </a:p>
        </p:txBody>
      </p:sp>
      <p:sp>
        <p:nvSpPr>
          <p:cNvPr id="65546" name="Rectangle 10"/>
          <p:cNvSpPr>
            <a:spLocks noChangeArrowheads="1"/>
          </p:cNvSpPr>
          <p:nvPr/>
        </p:nvSpPr>
        <p:spPr bwMode="auto">
          <a:xfrm>
            <a:off x="8078788" y="2363788"/>
            <a:ext cx="530225" cy="698500"/>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4000">
                <a:latin typeface="Symbol" pitchFamily="18" charset="2"/>
              </a:rPr>
              <a:t></a:t>
            </a:r>
          </a:p>
        </p:txBody>
      </p:sp>
      <p:sp>
        <p:nvSpPr>
          <p:cNvPr id="65547" name="Rectangle 12"/>
          <p:cNvSpPr>
            <a:spLocks noChangeArrowheads="1"/>
          </p:cNvSpPr>
          <p:nvPr/>
        </p:nvSpPr>
        <p:spPr bwMode="auto">
          <a:xfrm>
            <a:off x="838200" y="4876800"/>
            <a:ext cx="2359025" cy="75882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4400"/>
              <a:t>_ _ _ _ _</a:t>
            </a:r>
          </a:p>
        </p:txBody>
      </p:sp>
      <p:sp>
        <p:nvSpPr>
          <p:cNvPr id="65548" name="Rectangle 13"/>
          <p:cNvSpPr>
            <a:spLocks noChangeArrowheads="1"/>
          </p:cNvSpPr>
          <p:nvPr/>
        </p:nvSpPr>
        <p:spPr bwMode="auto">
          <a:xfrm>
            <a:off x="914400" y="4572000"/>
            <a:ext cx="1825625" cy="81915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a:solidFill>
                  <a:schemeClr val="accent2"/>
                </a:solidFill>
              </a:rPr>
              <a:t>isolated metal ion</a:t>
            </a:r>
          </a:p>
        </p:txBody>
      </p:sp>
      <p:sp>
        <p:nvSpPr>
          <p:cNvPr id="65549" name="Rectangle 14"/>
          <p:cNvSpPr>
            <a:spLocks noChangeArrowheads="1"/>
          </p:cNvSpPr>
          <p:nvPr/>
        </p:nvSpPr>
        <p:spPr bwMode="auto">
          <a:xfrm>
            <a:off x="990600" y="5791200"/>
            <a:ext cx="2130425" cy="576263"/>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200"/>
              <a:t>d-orbitals</a:t>
            </a:r>
          </a:p>
        </p:txBody>
      </p:sp>
      <p:sp>
        <p:nvSpPr>
          <p:cNvPr id="65550" name="Rectangle 15"/>
          <p:cNvSpPr>
            <a:spLocks noChangeArrowheads="1"/>
          </p:cNvSpPr>
          <p:nvPr/>
        </p:nvSpPr>
        <p:spPr bwMode="auto">
          <a:xfrm>
            <a:off x="5489575" y="381000"/>
            <a:ext cx="3654425" cy="81915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a:solidFill>
                  <a:schemeClr val="accent2"/>
                </a:solidFill>
              </a:rPr>
              <a:t>metal ion in octahedral complex</a:t>
            </a:r>
          </a:p>
        </p:txBody>
      </p:sp>
      <p:sp>
        <p:nvSpPr>
          <p:cNvPr id="65551" name="Line 16"/>
          <p:cNvSpPr>
            <a:spLocks noChangeShapeType="1"/>
          </p:cNvSpPr>
          <p:nvPr/>
        </p:nvSpPr>
        <p:spPr bwMode="auto">
          <a:xfrm flipV="1">
            <a:off x="762000" y="2108200"/>
            <a:ext cx="0" cy="3784600"/>
          </a:xfrm>
          <a:prstGeom prst="line">
            <a:avLst/>
          </a:prstGeom>
          <a:noFill/>
          <a:ln w="50800">
            <a:solidFill>
              <a:srgbClr val="F35B1B"/>
            </a:solidFill>
            <a:round/>
            <a:headEnd/>
            <a:tailEnd type="triangle" w="med" len="med"/>
          </a:ln>
        </p:spPr>
        <p:txBody>
          <a:bodyPr wrap="none" anchor="ctr"/>
          <a:lstStyle/>
          <a:p>
            <a:endParaRPr lang="en-US"/>
          </a:p>
        </p:txBody>
      </p:sp>
      <p:sp>
        <p:nvSpPr>
          <p:cNvPr id="65552" name="Rectangle 17"/>
          <p:cNvSpPr>
            <a:spLocks noChangeArrowheads="1"/>
          </p:cNvSpPr>
          <p:nvPr/>
        </p:nvSpPr>
        <p:spPr bwMode="auto">
          <a:xfrm>
            <a:off x="153988" y="3659188"/>
            <a:ext cx="1368425" cy="576262"/>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200"/>
              <a:t>E</a:t>
            </a:r>
          </a:p>
        </p:txBody>
      </p:sp>
      <p:sp>
        <p:nvSpPr>
          <p:cNvPr id="65553" name="Rectangle 18"/>
          <p:cNvSpPr>
            <a:spLocks noChangeArrowheads="1"/>
          </p:cNvSpPr>
          <p:nvPr/>
        </p:nvSpPr>
        <p:spPr bwMode="auto">
          <a:xfrm>
            <a:off x="0" y="533400"/>
            <a:ext cx="5483225" cy="161290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sz="4000">
                <a:solidFill>
                  <a:srgbClr val="FF6600"/>
                </a:solidFill>
              </a:rPr>
              <a:t>octahedral crystal field</a:t>
            </a:r>
          </a:p>
          <a:p>
            <a:pPr algn="ctr" eaLnBrk="0" hangingPunct="0">
              <a:spcBef>
                <a:spcPct val="50000"/>
              </a:spcBef>
            </a:pPr>
            <a:r>
              <a:rPr lang="en-US" sz="4000"/>
              <a:t>d orbital energy levels</a:t>
            </a:r>
          </a:p>
        </p:txBody>
      </p:sp>
      <p:sp>
        <p:nvSpPr>
          <p:cNvPr id="65554" name="Line 19"/>
          <p:cNvSpPr>
            <a:spLocks noChangeShapeType="1"/>
          </p:cNvSpPr>
          <p:nvPr/>
        </p:nvSpPr>
        <p:spPr bwMode="auto">
          <a:xfrm flipV="1">
            <a:off x="2997200" y="3632200"/>
            <a:ext cx="3149600" cy="1803400"/>
          </a:xfrm>
          <a:prstGeom prst="line">
            <a:avLst/>
          </a:prstGeom>
          <a:noFill/>
          <a:ln w="50800">
            <a:solidFill>
              <a:srgbClr val="F35B1B"/>
            </a:solidFill>
            <a:prstDash val="lgDash"/>
            <a:round/>
            <a:headEnd/>
            <a:tailEnd/>
          </a:ln>
        </p:spPr>
        <p:txBody>
          <a:bodyPr wrap="none" anchor="ctr"/>
          <a:lstStyle/>
          <a:p>
            <a:endParaRPr lang="en-US"/>
          </a:p>
        </p:txBody>
      </p:sp>
      <p:sp>
        <p:nvSpPr>
          <p:cNvPr id="65555" name="Rectangle 20"/>
          <p:cNvSpPr>
            <a:spLocks noChangeArrowheads="1"/>
          </p:cNvSpPr>
          <p:nvPr/>
        </p:nvSpPr>
        <p:spPr bwMode="auto">
          <a:xfrm>
            <a:off x="4344988" y="4954588"/>
            <a:ext cx="4721225" cy="81915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a:t>Metal ion and the nature of the ligand determines </a:t>
            </a:r>
            <a:r>
              <a:rPr lang="en-US">
                <a:latin typeface="Symbol" pitchFamily="18" charset="2"/>
              </a:rPr>
              <a:t></a:t>
            </a:r>
            <a:r>
              <a:rPr lang="en-US"/>
              <a:t> </a:t>
            </a:r>
          </a:p>
        </p:txBody>
      </p:sp>
    </p:spTree>
    <p:extLst>
      <p:ext uri="{BB962C8B-B14F-4D97-AF65-F5344CB8AC3E}">
        <p14:creationId xmlns:p14="http://schemas.microsoft.com/office/powerpoint/2010/main" val="1759572056"/>
      </p:ext>
    </p:extLst>
  </p:cSld>
  <p:clrMapOvr>
    <a:masterClrMapping/>
  </p:clrMapOvr>
  <p:transition>
    <p:zoom dir="in"/>
  </p:transition>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4754" name="Picture 1026"/>
          <p:cNvPicPr>
            <a:picLocks noChangeAspect="1" noChangeArrowheads="1"/>
          </p:cNvPicPr>
          <p:nvPr/>
        </p:nvPicPr>
        <p:blipFill>
          <a:blip r:embed="rId2"/>
          <a:srcRect t="9528"/>
          <a:stretch>
            <a:fillRect/>
          </a:stretch>
        </p:blipFill>
        <p:spPr bwMode="auto">
          <a:xfrm>
            <a:off x="228600" y="609600"/>
            <a:ext cx="8686800" cy="5451475"/>
          </a:xfrm>
          <a:prstGeom prst="rect">
            <a:avLst/>
          </a:prstGeom>
          <a:noFill/>
          <a:ln w="9525">
            <a:noFill/>
            <a:miter lim="800000"/>
            <a:headEnd/>
            <a:tailEnd/>
          </a:ln>
        </p:spPr>
      </p:pic>
    </p:spTree>
    <p:extLst>
      <p:ext uri="{BB962C8B-B14F-4D97-AF65-F5344CB8AC3E}">
        <p14:creationId xmlns:p14="http://schemas.microsoft.com/office/powerpoint/2010/main" val="750828834"/>
      </p:ext>
    </p:extLst>
  </p:cSld>
  <p:clrMapOvr>
    <a:masterClrMapping/>
  </p:clrMapOvr>
  <p:transition>
    <p:zoom dir="in"/>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304800" y="1295400"/>
            <a:ext cx="7543800" cy="685800"/>
          </a:xfrm>
          <a:noFill/>
        </p:spPr>
        <p:txBody>
          <a:bodyPr lIns="90488" tIns="44450" rIns="90488" bIns="44450"/>
          <a:lstStyle/>
          <a:p>
            <a:pPr algn="l" eaLnBrk="1" hangingPunct="1"/>
            <a:r>
              <a:rPr lang="en-US" sz="3200">
                <a:solidFill>
                  <a:schemeClr val="accent2"/>
                </a:solidFill>
              </a:rPr>
              <a:t>Spectrochemical Series</a:t>
            </a:r>
          </a:p>
        </p:txBody>
      </p:sp>
      <p:sp>
        <p:nvSpPr>
          <p:cNvPr id="75779" name="Rectangle 3"/>
          <p:cNvSpPr>
            <a:spLocks noGrp="1" noChangeArrowheads="1"/>
          </p:cNvSpPr>
          <p:nvPr>
            <p:ph type="body" idx="1"/>
          </p:nvPr>
        </p:nvSpPr>
        <p:spPr>
          <a:xfrm>
            <a:off x="152400" y="3429000"/>
            <a:ext cx="8915400" cy="3276600"/>
          </a:xfrm>
          <a:noFill/>
        </p:spPr>
        <p:txBody>
          <a:bodyPr lIns="90488" tIns="44450" rIns="90488" bIns="44450"/>
          <a:lstStyle/>
          <a:p>
            <a:pPr eaLnBrk="1" hangingPunct="1">
              <a:buFont typeface="Wingdings 2" pitchFamily="18" charset="2"/>
              <a:buNone/>
            </a:pPr>
            <a:r>
              <a:rPr lang="en-US" sz="2600"/>
              <a:t>    I</a:t>
            </a:r>
            <a:r>
              <a:rPr lang="en-US" sz="2600" baseline="30000"/>
              <a:t>-</a:t>
            </a:r>
            <a:r>
              <a:rPr lang="en-US" sz="2600"/>
              <a:t> &lt; Br</a:t>
            </a:r>
            <a:r>
              <a:rPr lang="en-US" sz="2600" baseline="30000"/>
              <a:t>-</a:t>
            </a:r>
            <a:r>
              <a:rPr lang="en-US" sz="2600"/>
              <a:t> &lt; Cl</a:t>
            </a:r>
            <a:r>
              <a:rPr lang="en-US" sz="2600" baseline="30000"/>
              <a:t>-</a:t>
            </a:r>
            <a:r>
              <a:rPr lang="en-US" sz="2600"/>
              <a:t> &lt; OH</a:t>
            </a:r>
            <a:r>
              <a:rPr lang="en-US" sz="2600" baseline="30000"/>
              <a:t>-</a:t>
            </a:r>
            <a:r>
              <a:rPr lang="en-US" sz="2600"/>
              <a:t> &lt; F</a:t>
            </a:r>
            <a:r>
              <a:rPr lang="en-US" sz="2600" baseline="30000"/>
              <a:t>-</a:t>
            </a:r>
            <a:r>
              <a:rPr lang="en-US" sz="2600"/>
              <a:t> &lt; H</a:t>
            </a:r>
            <a:r>
              <a:rPr lang="en-US" sz="2600" baseline="-25000"/>
              <a:t>2</a:t>
            </a:r>
            <a:r>
              <a:rPr lang="en-US" sz="2600"/>
              <a:t>O &lt; NH</a:t>
            </a:r>
            <a:r>
              <a:rPr lang="en-US" sz="2600" baseline="-25000"/>
              <a:t>3</a:t>
            </a:r>
            <a:r>
              <a:rPr lang="en-US" sz="2600"/>
              <a:t> &lt; en &lt; CN</a:t>
            </a:r>
            <a:r>
              <a:rPr lang="en-US" sz="2600" baseline="30000"/>
              <a:t>-</a:t>
            </a:r>
          </a:p>
        </p:txBody>
      </p:sp>
      <p:sp>
        <p:nvSpPr>
          <p:cNvPr id="75780" name="Rectangle 4"/>
          <p:cNvSpPr>
            <a:spLocks noChangeArrowheads="1"/>
          </p:cNvSpPr>
          <p:nvPr/>
        </p:nvSpPr>
        <p:spPr bwMode="auto">
          <a:xfrm>
            <a:off x="1143000" y="4876800"/>
            <a:ext cx="35020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weak field</a:t>
            </a:r>
          </a:p>
        </p:txBody>
      </p:sp>
      <p:sp>
        <p:nvSpPr>
          <p:cNvPr id="75781" name="Rectangle 5"/>
          <p:cNvSpPr>
            <a:spLocks noChangeArrowheads="1"/>
          </p:cNvSpPr>
          <p:nvPr/>
        </p:nvSpPr>
        <p:spPr bwMode="auto">
          <a:xfrm>
            <a:off x="5867400" y="4648200"/>
            <a:ext cx="2511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strong field</a:t>
            </a:r>
          </a:p>
        </p:txBody>
      </p:sp>
      <p:sp>
        <p:nvSpPr>
          <p:cNvPr id="75782" name="Line 6"/>
          <p:cNvSpPr>
            <a:spLocks noChangeShapeType="1"/>
          </p:cNvSpPr>
          <p:nvPr/>
        </p:nvSpPr>
        <p:spPr bwMode="auto">
          <a:xfrm>
            <a:off x="762000" y="3962400"/>
            <a:ext cx="990600" cy="914400"/>
          </a:xfrm>
          <a:prstGeom prst="line">
            <a:avLst/>
          </a:prstGeom>
          <a:noFill/>
          <a:ln w="76200">
            <a:solidFill>
              <a:schemeClr val="tx1"/>
            </a:solidFill>
            <a:round/>
            <a:headEnd type="triangle" w="med" len="med"/>
            <a:tailEnd/>
          </a:ln>
        </p:spPr>
        <p:txBody>
          <a:bodyPr wrap="none" anchor="ctr"/>
          <a:lstStyle/>
          <a:p>
            <a:endParaRPr lang="en-US"/>
          </a:p>
        </p:txBody>
      </p:sp>
      <p:sp>
        <p:nvSpPr>
          <p:cNvPr id="75783" name="Line 7"/>
          <p:cNvSpPr>
            <a:spLocks noChangeShapeType="1"/>
          </p:cNvSpPr>
          <p:nvPr/>
        </p:nvSpPr>
        <p:spPr bwMode="auto">
          <a:xfrm flipH="1">
            <a:off x="3124200" y="3962400"/>
            <a:ext cx="1219200" cy="1066800"/>
          </a:xfrm>
          <a:prstGeom prst="line">
            <a:avLst/>
          </a:prstGeom>
          <a:noFill/>
          <a:ln w="76200">
            <a:solidFill>
              <a:schemeClr val="tx1"/>
            </a:solidFill>
            <a:round/>
            <a:headEnd type="triangle" w="med" len="med"/>
            <a:tailEnd/>
          </a:ln>
        </p:spPr>
        <p:txBody>
          <a:bodyPr wrap="none" anchor="ctr"/>
          <a:lstStyle/>
          <a:p>
            <a:endParaRPr lang="en-US"/>
          </a:p>
        </p:txBody>
      </p:sp>
      <p:sp>
        <p:nvSpPr>
          <p:cNvPr id="75784" name="Line 8"/>
          <p:cNvSpPr>
            <a:spLocks noChangeShapeType="1"/>
          </p:cNvSpPr>
          <p:nvPr/>
        </p:nvSpPr>
        <p:spPr bwMode="auto">
          <a:xfrm>
            <a:off x="5867400" y="4038600"/>
            <a:ext cx="533400" cy="533400"/>
          </a:xfrm>
          <a:prstGeom prst="line">
            <a:avLst/>
          </a:prstGeom>
          <a:noFill/>
          <a:ln w="76200">
            <a:solidFill>
              <a:schemeClr val="tx1"/>
            </a:solidFill>
            <a:round/>
            <a:headEnd type="triangle" w="med" len="med"/>
            <a:tailEnd/>
          </a:ln>
        </p:spPr>
        <p:txBody>
          <a:bodyPr wrap="none" anchor="ctr"/>
          <a:lstStyle/>
          <a:p>
            <a:endParaRPr lang="en-US"/>
          </a:p>
        </p:txBody>
      </p:sp>
      <p:sp>
        <p:nvSpPr>
          <p:cNvPr id="75785" name="Line 9"/>
          <p:cNvSpPr>
            <a:spLocks noChangeShapeType="1"/>
          </p:cNvSpPr>
          <p:nvPr/>
        </p:nvSpPr>
        <p:spPr bwMode="auto">
          <a:xfrm flipH="1">
            <a:off x="7239000" y="4038600"/>
            <a:ext cx="190500" cy="571500"/>
          </a:xfrm>
          <a:prstGeom prst="line">
            <a:avLst/>
          </a:prstGeom>
          <a:noFill/>
          <a:ln w="76200">
            <a:solidFill>
              <a:schemeClr val="tx1"/>
            </a:solidFill>
            <a:round/>
            <a:headEnd type="triangle" w="med" len="med"/>
            <a:tailEnd/>
          </a:ln>
        </p:spPr>
        <p:txBody>
          <a:bodyPr wrap="none" anchor="ctr"/>
          <a:lstStyle/>
          <a:p>
            <a:endParaRPr lang="en-US"/>
          </a:p>
        </p:txBody>
      </p:sp>
      <p:sp>
        <p:nvSpPr>
          <p:cNvPr id="75786" name="Text Box 12"/>
          <p:cNvSpPr txBox="1">
            <a:spLocks noChangeArrowheads="1"/>
          </p:cNvSpPr>
          <p:nvPr/>
        </p:nvSpPr>
        <p:spPr bwMode="auto">
          <a:xfrm>
            <a:off x="304800" y="2133600"/>
            <a:ext cx="1981200" cy="396875"/>
          </a:xfrm>
          <a:prstGeom prst="rect">
            <a:avLst/>
          </a:prstGeom>
          <a:noFill/>
          <a:ln w="12700">
            <a:noFill/>
            <a:miter lim="800000"/>
            <a:headEnd/>
            <a:tailEnd/>
          </a:ln>
        </p:spPr>
        <p:txBody>
          <a:bodyPr>
            <a:spAutoFit/>
          </a:bodyPr>
          <a:lstStyle/>
          <a:p>
            <a:pPr eaLnBrk="0" hangingPunct="0">
              <a:spcBef>
                <a:spcPct val="50000"/>
              </a:spcBef>
            </a:pPr>
            <a:r>
              <a:rPr lang="en-US" sz="2000"/>
              <a:t>Smallest </a:t>
            </a:r>
            <a:r>
              <a:rPr lang="en-US" sz="2000">
                <a:sym typeface="Symbol" pitchFamily="18" charset="2"/>
              </a:rPr>
              <a:t></a:t>
            </a:r>
            <a:endParaRPr lang="en-US" sz="2000"/>
          </a:p>
        </p:txBody>
      </p:sp>
      <p:sp>
        <p:nvSpPr>
          <p:cNvPr id="75787" name="Text Box 13"/>
          <p:cNvSpPr txBox="1">
            <a:spLocks noChangeArrowheads="1"/>
          </p:cNvSpPr>
          <p:nvPr/>
        </p:nvSpPr>
        <p:spPr bwMode="auto">
          <a:xfrm>
            <a:off x="6705600" y="2133600"/>
            <a:ext cx="1219200" cy="396875"/>
          </a:xfrm>
          <a:prstGeom prst="rect">
            <a:avLst/>
          </a:prstGeom>
          <a:noFill/>
          <a:ln w="12700">
            <a:noFill/>
            <a:miter lim="800000"/>
            <a:headEnd/>
            <a:tailEnd/>
          </a:ln>
        </p:spPr>
        <p:txBody>
          <a:bodyPr>
            <a:spAutoFit/>
          </a:bodyPr>
          <a:lstStyle/>
          <a:p>
            <a:pPr eaLnBrk="0" hangingPunct="0">
              <a:spcBef>
                <a:spcPct val="50000"/>
              </a:spcBef>
            </a:pPr>
            <a:r>
              <a:rPr lang="en-US" sz="2000"/>
              <a:t>Largest </a:t>
            </a:r>
            <a:r>
              <a:rPr lang="en-US" sz="2000">
                <a:sym typeface="Symbol" pitchFamily="18" charset="2"/>
              </a:rPr>
              <a:t></a:t>
            </a:r>
            <a:endParaRPr lang="en-US" sz="2000"/>
          </a:p>
        </p:txBody>
      </p:sp>
      <p:sp>
        <p:nvSpPr>
          <p:cNvPr id="75788" name="Line 14"/>
          <p:cNvSpPr>
            <a:spLocks noChangeShapeType="1"/>
          </p:cNvSpPr>
          <p:nvPr/>
        </p:nvSpPr>
        <p:spPr bwMode="auto">
          <a:xfrm>
            <a:off x="381000" y="2209800"/>
            <a:ext cx="7467600" cy="0"/>
          </a:xfrm>
          <a:prstGeom prst="line">
            <a:avLst/>
          </a:prstGeom>
          <a:noFill/>
          <a:ln w="28575">
            <a:solidFill>
              <a:srgbClr val="FC0128"/>
            </a:solidFill>
            <a:round/>
            <a:headEnd/>
            <a:tailEnd type="triangle" w="med" len="med"/>
          </a:ln>
        </p:spPr>
        <p:txBody>
          <a:bodyPr/>
          <a:lstStyle/>
          <a:p>
            <a:endParaRPr lang="en-US"/>
          </a:p>
        </p:txBody>
      </p:sp>
      <p:sp>
        <p:nvSpPr>
          <p:cNvPr id="75789" name="Text Box 15"/>
          <p:cNvSpPr txBox="1">
            <a:spLocks noChangeArrowheads="1"/>
          </p:cNvSpPr>
          <p:nvPr/>
        </p:nvSpPr>
        <p:spPr bwMode="auto">
          <a:xfrm>
            <a:off x="3200400" y="2209800"/>
            <a:ext cx="1981200" cy="519113"/>
          </a:xfrm>
          <a:prstGeom prst="rect">
            <a:avLst/>
          </a:prstGeom>
          <a:noFill/>
          <a:ln w="12700">
            <a:noFill/>
            <a:miter lim="800000"/>
            <a:headEnd/>
            <a:tailEnd/>
          </a:ln>
        </p:spPr>
        <p:txBody>
          <a:bodyPr>
            <a:spAutoFit/>
          </a:bodyPr>
          <a:lstStyle/>
          <a:p>
            <a:pPr eaLnBrk="0" hangingPunct="0">
              <a:spcBef>
                <a:spcPct val="50000"/>
              </a:spcBef>
            </a:pPr>
            <a:r>
              <a:rPr lang="en-US" sz="2800">
                <a:sym typeface="Symbol" pitchFamily="18" charset="2"/>
              </a:rPr>
              <a:t> increases</a:t>
            </a:r>
            <a:endParaRPr lang="en-US" sz="2800"/>
          </a:p>
        </p:txBody>
      </p:sp>
      <p:sp>
        <p:nvSpPr>
          <p:cNvPr id="75790" name="Rectangle 16"/>
          <p:cNvSpPr>
            <a:spLocks noChangeArrowheads="1"/>
          </p:cNvSpPr>
          <p:nvPr/>
        </p:nvSpPr>
        <p:spPr bwMode="auto">
          <a:xfrm>
            <a:off x="76200" y="152400"/>
            <a:ext cx="8839200" cy="1066800"/>
          </a:xfrm>
          <a:prstGeom prst="rect">
            <a:avLst/>
          </a:prstGeom>
          <a:noFill/>
          <a:ln w="12700">
            <a:noFill/>
            <a:miter lim="800000"/>
            <a:headEnd/>
            <a:tailEnd/>
          </a:ln>
        </p:spPr>
        <p:txBody>
          <a:bodyPr lIns="90488" tIns="44450" rIns="90488" bIns="44450" anchor="ctr"/>
          <a:lstStyle/>
          <a:p>
            <a:pPr algn="ctr"/>
            <a:r>
              <a:rPr lang="en-US" sz="3200" dirty="0" err="1">
                <a:solidFill>
                  <a:srgbClr val="CC6600"/>
                </a:solidFill>
              </a:rPr>
              <a:t>Colours</a:t>
            </a:r>
            <a:r>
              <a:rPr lang="en-US" sz="3200" dirty="0">
                <a:solidFill>
                  <a:srgbClr val="CC6600"/>
                </a:solidFill>
              </a:rPr>
              <a:t> of Transition Metal Complexes</a:t>
            </a:r>
          </a:p>
        </p:txBody>
      </p:sp>
    </p:spTree>
    <p:extLst>
      <p:ext uri="{BB962C8B-B14F-4D97-AF65-F5344CB8AC3E}">
        <p14:creationId xmlns:p14="http://schemas.microsoft.com/office/powerpoint/2010/main" val="3319999596"/>
      </p:ext>
    </p:extLst>
  </p:cSld>
  <p:clrMapOvr>
    <a:masterClrMapping/>
  </p:clrMapOvr>
  <p:transition>
    <p:zoom dir="in"/>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762125" y="2743200"/>
            <a:ext cx="5705475" cy="946150"/>
          </a:xfrm>
          <a:prstGeom prst="rect">
            <a:avLst/>
          </a:prstGeom>
          <a:noFill/>
          <a:ln w="9525">
            <a:noFill/>
            <a:miter lim="800000"/>
            <a:headEnd/>
            <a:tailEnd/>
          </a:ln>
          <a:effectLst/>
        </p:spPr>
        <p:txBody>
          <a:bodyPr wrap="none">
            <a:spAutoFit/>
          </a:bodyPr>
          <a:lstStyle/>
          <a:p>
            <a:pPr algn="ctr"/>
            <a:r>
              <a:rPr lang="en-US" sz="2800" i="1">
                <a:solidFill>
                  <a:schemeClr val="accent2"/>
                </a:solidFill>
              </a:rPr>
              <a:t>Coordination Chemistry</a:t>
            </a:r>
          </a:p>
          <a:p>
            <a:pPr algn="ctr"/>
            <a:r>
              <a:rPr lang="en-US" sz="2800" i="1">
                <a:solidFill>
                  <a:schemeClr val="accent2"/>
                </a:solidFill>
              </a:rPr>
              <a:t>Bonding in transition-metal complexes</a:t>
            </a:r>
          </a:p>
        </p:txBody>
      </p:sp>
    </p:spTree>
    <p:extLst>
      <p:ext uri="{BB962C8B-B14F-4D97-AF65-F5344CB8AC3E}">
        <p14:creationId xmlns:p14="http://schemas.microsoft.com/office/powerpoint/2010/main" val="21137785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srcRect/>
          <a:stretch>
            <a:fillRect/>
          </a:stretch>
        </p:blipFill>
        <p:spPr bwMode="auto">
          <a:xfrm>
            <a:off x="2387600" y="3733800"/>
            <a:ext cx="1651000" cy="16510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3886200" y="1473200"/>
            <a:ext cx="1651000" cy="1651000"/>
          </a:xfrm>
          <a:prstGeom prst="rect">
            <a:avLst/>
          </a:prstGeom>
          <a:noFill/>
          <a:ln w="9525">
            <a:noFill/>
            <a:miter lim="800000"/>
            <a:headEnd/>
            <a:tailEnd/>
          </a:ln>
          <a:effectLst/>
        </p:spPr>
      </p:pic>
      <p:pic>
        <p:nvPicPr>
          <p:cNvPr id="2054" name="Picture 6"/>
          <p:cNvPicPr>
            <a:picLocks noChangeAspect="1" noChangeArrowheads="1"/>
          </p:cNvPicPr>
          <p:nvPr/>
        </p:nvPicPr>
        <p:blipFill>
          <a:blip r:embed="rId5"/>
          <a:srcRect/>
          <a:stretch>
            <a:fillRect/>
          </a:stretch>
        </p:blipFill>
        <p:spPr bwMode="auto">
          <a:xfrm>
            <a:off x="5207000" y="3657600"/>
            <a:ext cx="1651000" cy="1651000"/>
          </a:xfrm>
          <a:prstGeom prst="rect">
            <a:avLst/>
          </a:prstGeom>
          <a:noFill/>
          <a:ln w="9525">
            <a:noFill/>
            <a:miter lim="800000"/>
            <a:headEnd/>
            <a:tailEnd/>
          </a:ln>
          <a:effectLst/>
        </p:spPr>
      </p:pic>
      <p:pic>
        <p:nvPicPr>
          <p:cNvPr id="2055" name="Picture 7"/>
          <p:cNvPicPr>
            <a:picLocks noChangeAspect="1" noChangeArrowheads="1"/>
          </p:cNvPicPr>
          <p:nvPr/>
        </p:nvPicPr>
        <p:blipFill>
          <a:blip r:embed="rId6"/>
          <a:srcRect/>
          <a:stretch>
            <a:fillRect/>
          </a:stretch>
        </p:blipFill>
        <p:spPr bwMode="auto">
          <a:xfrm>
            <a:off x="6273800" y="1473200"/>
            <a:ext cx="1651000" cy="1651000"/>
          </a:xfrm>
          <a:prstGeom prst="rect">
            <a:avLst/>
          </a:prstGeom>
          <a:noFill/>
          <a:ln w="9525">
            <a:noFill/>
            <a:miter lim="800000"/>
            <a:headEnd/>
            <a:tailEnd/>
          </a:ln>
          <a:effectLst/>
        </p:spPr>
      </p:pic>
      <p:pic>
        <p:nvPicPr>
          <p:cNvPr id="2056" name="Picture 8"/>
          <p:cNvPicPr>
            <a:picLocks noChangeAspect="1" noChangeArrowheads="1"/>
          </p:cNvPicPr>
          <p:nvPr/>
        </p:nvPicPr>
        <p:blipFill>
          <a:blip r:embed="rId7"/>
          <a:srcRect/>
          <a:stretch>
            <a:fillRect/>
          </a:stretch>
        </p:blipFill>
        <p:spPr bwMode="auto">
          <a:xfrm>
            <a:off x="1066800" y="1473200"/>
            <a:ext cx="1651000" cy="1651000"/>
          </a:xfrm>
          <a:prstGeom prst="rect">
            <a:avLst/>
          </a:prstGeom>
          <a:noFill/>
          <a:ln w="9525">
            <a:noFill/>
            <a:miter lim="800000"/>
            <a:headEnd/>
            <a:tailEnd/>
          </a:ln>
          <a:effectLst/>
        </p:spPr>
      </p:pic>
      <p:sp>
        <p:nvSpPr>
          <p:cNvPr id="2057" name="Text Box 9"/>
          <p:cNvSpPr txBox="1">
            <a:spLocks noChangeArrowheads="1"/>
          </p:cNvSpPr>
          <p:nvPr/>
        </p:nvSpPr>
        <p:spPr bwMode="auto">
          <a:xfrm>
            <a:off x="3048000" y="381000"/>
            <a:ext cx="3468688" cy="457200"/>
          </a:xfrm>
          <a:prstGeom prst="rect">
            <a:avLst/>
          </a:prstGeom>
          <a:noFill/>
          <a:ln w="9525">
            <a:noFill/>
            <a:miter lim="800000"/>
            <a:headEnd/>
            <a:tailEnd/>
          </a:ln>
          <a:effectLst/>
        </p:spPr>
        <p:txBody>
          <a:bodyPr wrap="none">
            <a:spAutoFit/>
          </a:bodyPr>
          <a:lstStyle/>
          <a:p>
            <a:r>
              <a:rPr lang="en-US" i="1">
                <a:solidFill>
                  <a:schemeClr val="accent2"/>
                </a:solidFill>
              </a:rPr>
              <a:t>The chemistry of d orbitals</a:t>
            </a:r>
          </a:p>
        </p:txBody>
      </p:sp>
    </p:spTree>
    <p:extLst>
      <p:ext uri="{BB962C8B-B14F-4D97-AF65-F5344CB8AC3E}">
        <p14:creationId xmlns:p14="http://schemas.microsoft.com/office/powerpoint/2010/main" val="3204836168"/>
      </p:ext>
    </p:extLst>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2057400" y="609600"/>
            <a:ext cx="5440363" cy="457200"/>
          </a:xfrm>
          <a:prstGeom prst="rect">
            <a:avLst/>
          </a:prstGeom>
          <a:noFill/>
          <a:ln w="9525">
            <a:noFill/>
            <a:miter lim="800000"/>
            <a:headEnd/>
            <a:tailEnd/>
          </a:ln>
          <a:effectLst/>
        </p:spPr>
        <p:txBody>
          <a:bodyPr wrap="none">
            <a:spAutoFit/>
          </a:bodyPr>
          <a:lstStyle/>
          <a:p>
            <a:r>
              <a:rPr lang="en-US" i="1">
                <a:solidFill>
                  <a:schemeClr val="accent2"/>
                </a:solidFill>
              </a:rPr>
              <a:t>Crystal field theory: an electrostatic model</a:t>
            </a:r>
          </a:p>
        </p:txBody>
      </p:sp>
      <p:sp>
        <p:nvSpPr>
          <p:cNvPr id="18436" name="Rectangle 4"/>
          <p:cNvSpPr>
            <a:spLocks noChangeArrowheads="1"/>
          </p:cNvSpPr>
          <p:nvPr/>
        </p:nvSpPr>
        <p:spPr bwMode="auto">
          <a:xfrm>
            <a:off x="3429000" y="1981200"/>
            <a:ext cx="2667000" cy="2590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pic>
        <p:nvPicPr>
          <p:cNvPr id="18437" name="Picture 5"/>
          <p:cNvPicPr>
            <a:picLocks noChangeAspect="1" noChangeArrowheads="1"/>
          </p:cNvPicPr>
          <p:nvPr/>
        </p:nvPicPr>
        <p:blipFill>
          <a:blip r:embed="rId3"/>
          <a:srcRect/>
          <a:stretch>
            <a:fillRect/>
          </a:stretch>
        </p:blipFill>
        <p:spPr bwMode="auto">
          <a:xfrm>
            <a:off x="3733800" y="2263775"/>
            <a:ext cx="2079625" cy="2079625"/>
          </a:xfrm>
          <a:prstGeom prst="rect">
            <a:avLst/>
          </a:prstGeom>
          <a:noFill/>
          <a:ln w="9525">
            <a:noFill/>
            <a:miter lim="800000"/>
            <a:headEnd/>
            <a:tailEnd/>
          </a:ln>
          <a:effectLst/>
        </p:spPr>
      </p:pic>
      <p:sp>
        <p:nvSpPr>
          <p:cNvPr id="18438" name="Text Box 6"/>
          <p:cNvSpPr txBox="1">
            <a:spLocks noChangeArrowheads="1"/>
          </p:cNvSpPr>
          <p:nvPr/>
        </p:nvSpPr>
        <p:spPr bwMode="auto">
          <a:xfrm>
            <a:off x="381000" y="5029200"/>
            <a:ext cx="8491538" cy="396875"/>
          </a:xfrm>
          <a:prstGeom prst="rect">
            <a:avLst/>
          </a:prstGeom>
          <a:noFill/>
          <a:ln w="9525">
            <a:noFill/>
            <a:miter lim="800000"/>
            <a:headEnd/>
            <a:tailEnd/>
          </a:ln>
          <a:effectLst/>
        </p:spPr>
        <p:txBody>
          <a:bodyPr wrap="none">
            <a:spAutoFit/>
          </a:bodyPr>
          <a:lstStyle/>
          <a:p>
            <a:r>
              <a:rPr lang="en-US" sz="2000"/>
              <a:t>The metal ion will be positive and therefore attract the negatively charged ligands</a:t>
            </a:r>
          </a:p>
        </p:txBody>
      </p:sp>
      <p:sp>
        <p:nvSpPr>
          <p:cNvPr id="18439" name="Text Box 7"/>
          <p:cNvSpPr txBox="1">
            <a:spLocks noChangeArrowheads="1"/>
          </p:cNvSpPr>
          <p:nvPr/>
        </p:nvSpPr>
        <p:spPr bwMode="auto">
          <a:xfrm>
            <a:off x="493713" y="5699125"/>
            <a:ext cx="8040687" cy="701675"/>
          </a:xfrm>
          <a:prstGeom prst="rect">
            <a:avLst/>
          </a:prstGeom>
          <a:noFill/>
          <a:ln w="9525">
            <a:noFill/>
            <a:miter lim="800000"/>
            <a:headEnd/>
            <a:tailEnd/>
          </a:ln>
          <a:effectLst/>
        </p:spPr>
        <p:txBody>
          <a:bodyPr wrap="none">
            <a:spAutoFit/>
          </a:bodyPr>
          <a:lstStyle/>
          <a:p>
            <a:pPr algn="ctr"/>
            <a:r>
              <a:rPr lang="en-US" sz="2000">
                <a:solidFill>
                  <a:srgbClr val="F30B08"/>
                </a:solidFill>
              </a:rPr>
              <a:t>But there are electrons in the metal orbitals, which will experience repulsions</a:t>
            </a:r>
          </a:p>
          <a:p>
            <a:pPr algn="ctr"/>
            <a:r>
              <a:rPr lang="en-US" sz="2000">
                <a:solidFill>
                  <a:srgbClr val="F30B08"/>
                </a:solidFill>
              </a:rPr>
              <a:t>with the negatively charged ligands</a:t>
            </a:r>
          </a:p>
        </p:txBody>
      </p:sp>
    </p:spTree>
    <p:extLst>
      <p:ext uri="{BB962C8B-B14F-4D97-AF65-F5344CB8AC3E}">
        <p14:creationId xmlns:p14="http://schemas.microsoft.com/office/powerpoint/2010/main" val="271776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autoUpdateAnimBg="0"/>
      <p:bldP spid="18439" grpId="0"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a:srcRect/>
          <a:stretch>
            <a:fillRect/>
          </a:stretch>
        </p:blipFill>
        <p:spPr bwMode="auto">
          <a:xfrm>
            <a:off x="304800" y="933450"/>
            <a:ext cx="6411913" cy="5619750"/>
          </a:xfrm>
          <a:prstGeom prst="rect">
            <a:avLst/>
          </a:prstGeom>
          <a:noFill/>
          <a:ln w="9525">
            <a:noFill/>
            <a:miter lim="800000"/>
            <a:headEnd/>
            <a:tailEnd/>
          </a:ln>
          <a:effectLst/>
        </p:spPr>
      </p:pic>
      <p:sp>
        <p:nvSpPr>
          <p:cNvPr id="11267" name="Text Box 3"/>
          <p:cNvSpPr txBox="1">
            <a:spLocks noChangeArrowheads="1"/>
          </p:cNvSpPr>
          <p:nvPr/>
        </p:nvSpPr>
        <p:spPr bwMode="auto">
          <a:xfrm>
            <a:off x="2971800" y="228600"/>
            <a:ext cx="3722688" cy="457200"/>
          </a:xfrm>
          <a:prstGeom prst="rect">
            <a:avLst/>
          </a:prstGeom>
          <a:noFill/>
          <a:ln w="9525">
            <a:noFill/>
            <a:miter lim="800000"/>
            <a:headEnd/>
            <a:tailEnd/>
          </a:ln>
          <a:effectLst/>
        </p:spPr>
        <p:txBody>
          <a:bodyPr wrap="none">
            <a:spAutoFit/>
          </a:bodyPr>
          <a:lstStyle/>
          <a:p>
            <a:r>
              <a:rPr lang="en-US" i="1">
                <a:solidFill>
                  <a:schemeClr val="accent2"/>
                </a:solidFill>
              </a:rPr>
              <a:t>Ligand/d orbital interactions</a:t>
            </a:r>
          </a:p>
        </p:txBody>
      </p:sp>
      <p:grpSp>
        <p:nvGrpSpPr>
          <p:cNvPr id="2" name="Group 6"/>
          <p:cNvGrpSpPr>
            <a:grpSpLocks/>
          </p:cNvGrpSpPr>
          <p:nvPr/>
        </p:nvGrpSpPr>
        <p:grpSpPr bwMode="auto">
          <a:xfrm>
            <a:off x="3287713" y="1524000"/>
            <a:ext cx="0" cy="1219200"/>
            <a:chOff x="2880" y="960"/>
            <a:chExt cx="0" cy="768"/>
          </a:xfrm>
        </p:grpSpPr>
        <p:sp>
          <p:nvSpPr>
            <p:cNvPr id="11268" name="Line 4"/>
            <p:cNvSpPr>
              <a:spLocks noChangeShapeType="1"/>
            </p:cNvSpPr>
            <p:nvPr/>
          </p:nvSpPr>
          <p:spPr bwMode="auto">
            <a:xfrm>
              <a:off x="2880" y="960"/>
              <a:ext cx="0" cy="336"/>
            </a:xfrm>
            <a:prstGeom prst="line">
              <a:avLst/>
            </a:prstGeom>
            <a:noFill/>
            <a:ln w="9525">
              <a:solidFill>
                <a:srgbClr val="F30B08"/>
              </a:solidFill>
              <a:round/>
              <a:headEnd type="triangle" w="med" len="med"/>
              <a:tailEnd type="triangle" w="med" len="med"/>
            </a:ln>
            <a:effectLst/>
          </p:spPr>
          <p:txBody>
            <a:bodyPr wrap="none" anchor="ctr"/>
            <a:lstStyle/>
            <a:p>
              <a:endParaRPr lang="en-US"/>
            </a:p>
          </p:txBody>
        </p:sp>
        <p:sp>
          <p:nvSpPr>
            <p:cNvPr id="11269" name="Line 5"/>
            <p:cNvSpPr>
              <a:spLocks noChangeShapeType="1"/>
            </p:cNvSpPr>
            <p:nvPr/>
          </p:nvSpPr>
          <p:spPr bwMode="auto">
            <a:xfrm>
              <a:off x="2880" y="1392"/>
              <a:ext cx="0" cy="336"/>
            </a:xfrm>
            <a:prstGeom prst="line">
              <a:avLst/>
            </a:prstGeom>
            <a:noFill/>
            <a:ln w="9525">
              <a:solidFill>
                <a:srgbClr val="F30B08"/>
              </a:solidFill>
              <a:round/>
              <a:headEnd type="triangle" w="med" len="med"/>
              <a:tailEnd type="triangle" w="med" len="med"/>
            </a:ln>
            <a:effectLst/>
          </p:spPr>
          <p:txBody>
            <a:bodyPr wrap="none" anchor="ctr"/>
            <a:lstStyle/>
            <a:p>
              <a:endParaRPr lang="en-US"/>
            </a:p>
          </p:txBody>
        </p:sp>
      </p:grpSp>
      <p:grpSp>
        <p:nvGrpSpPr>
          <p:cNvPr id="3" name="Group 12"/>
          <p:cNvGrpSpPr>
            <a:grpSpLocks/>
          </p:cNvGrpSpPr>
          <p:nvPr/>
        </p:nvGrpSpPr>
        <p:grpSpPr bwMode="auto">
          <a:xfrm>
            <a:off x="5116513" y="1905000"/>
            <a:ext cx="914400" cy="457200"/>
            <a:chOff x="4032" y="1200"/>
            <a:chExt cx="576" cy="288"/>
          </a:xfrm>
        </p:grpSpPr>
        <p:sp>
          <p:nvSpPr>
            <p:cNvPr id="11271" name="Line 7"/>
            <p:cNvSpPr>
              <a:spLocks noChangeShapeType="1"/>
            </p:cNvSpPr>
            <p:nvPr/>
          </p:nvSpPr>
          <p:spPr bwMode="auto">
            <a:xfrm flipV="1">
              <a:off x="4032" y="1344"/>
              <a:ext cx="240" cy="96"/>
            </a:xfrm>
            <a:prstGeom prst="line">
              <a:avLst/>
            </a:prstGeom>
            <a:noFill/>
            <a:ln w="9525">
              <a:solidFill>
                <a:srgbClr val="F30B08"/>
              </a:solidFill>
              <a:round/>
              <a:headEnd type="triangle" w="med" len="med"/>
              <a:tailEnd type="triangle" w="med" len="med"/>
            </a:ln>
            <a:effectLst/>
          </p:spPr>
          <p:txBody>
            <a:bodyPr wrap="none" anchor="ctr"/>
            <a:lstStyle/>
            <a:p>
              <a:endParaRPr lang="en-US"/>
            </a:p>
          </p:txBody>
        </p:sp>
        <p:sp>
          <p:nvSpPr>
            <p:cNvPr id="11273" name="Line 9"/>
            <p:cNvSpPr>
              <a:spLocks noChangeShapeType="1"/>
            </p:cNvSpPr>
            <p:nvPr/>
          </p:nvSpPr>
          <p:spPr bwMode="auto">
            <a:xfrm flipH="1">
              <a:off x="4320" y="1200"/>
              <a:ext cx="288" cy="144"/>
            </a:xfrm>
            <a:prstGeom prst="line">
              <a:avLst/>
            </a:prstGeom>
            <a:noFill/>
            <a:ln w="9525">
              <a:solidFill>
                <a:srgbClr val="F30B08"/>
              </a:solidFill>
              <a:round/>
              <a:headEnd type="triangle" w="med" len="med"/>
              <a:tailEnd type="triangle" w="med" len="med"/>
            </a:ln>
            <a:effectLst/>
          </p:spPr>
          <p:txBody>
            <a:bodyPr wrap="none" anchor="ctr"/>
            <a:lstStyle/>
            <a:p>
              <a:endParaRPr lang="en-US"/>
            </a:p>
          </p:txBody>
        </p:sp>
        <p:sp>
          <p:nvSpPr>
            <p:cNvPr id="11274" name="Line 10"/>
            <p:cNvSpPr>
              <a:spLocks noChangeShapeType="1"/>
            </p:cNvSpPr>
            <p:nvPr/>
          </p:nvSpPr>
          <p:spPr bwMode="auto">
            <a:xfrm>
              <a:off x="4032" y="1200"/>
              <a:ext cx="288" cy="144"/>
            </a:xfrm>
            <a:prstGeom prst="line">
              <a:avLst/>
            </a:prstGeom>
            <a:noFill/>
            <a:ln w="9525">
              <a:solidFill>
                <a:srgbClr val="F30B08"/>
              </a:solidFill>
              <a:round/>
              <a:headEnd type="triangle" w="med" len="med"/>
              <a:tailEnd type="triangle" w="med" len="med"/>
            </a:ln>
            <a:effectLst/>
          </p:spPr>
          <p:txBody>
            <a:bodyPr wrap="none" anchor="ctr"/>
            <a:lstStyle/>
            <a:p>
              <a:endParaRPr lang="en-US"/>
            </a:p>
          </p:txBody>
        </p:sp>
        <p:sp>
          <p:nvSpPr>
            <p:cNvPr id="11275" name="Line 11"/>
            <p:cNvSpPr>
              <a:spLocks noChangeShapeType="1"/>
            </p:cNvSpPr>
            <p:nvPr/>
          </p:nvSpPr>
          <p:spPr bwMode="auto">
            <a:xfrm>
              <a:off x="4320" y="1344"/>
              <a:ext cx="288" cy="144"/>
            </a:xfrm>
            <a:prstGeom prst="line">
              <a:avLst/>
            </a:prstGeom>
            <a:noFill/>
            <a:ln w="9525">
              <a:solidFill>
                <a:srgbClr val="F30B08"/>
              </a:solidFill>
              <a:round/>
              <a:headEnd type="triangle" w="med" len="med"/>
              <a:tailEnd type="triangle" w="med" len="med"/>
            </a:ln>
            <a:effectLst/>
          </p:spPr>
          <p:txBody>
            <a:bodyPr wrap="none" anchor="ctr"/>
            <a:lstStyle/>
            <a:p>
              <a:endParaRPr lang="en-US"/>
            </a:p>
          </p:txBody>
        </p:sp>
      </p:grpSp>
      <p:grpSp>
        <p:nvGrpSpPr>
          <p:cNvPr id="4" name="Group 31"/>
          <p:cNvGrpSpPr>
            <a:grpSpLocks/>
          </p:cNvGrpSpPr>
          <p:nvPr/>
        </p:nvGrpSpPr>
        <p:grpSpPr bwMode="auto">
          <a:xfrm>
            <a:off x="533400" y="4724400"/>
            <a:ext cx="1066800" cy="685800"/>
            <a:chOff x="336" y="2976"/>
            <a:chExt cx="672" cy="432"/>
          </a:xfrm>
        </p:grpSpPr>
        <p:sp>
          <p:nvSpPr>
            <p:cNvPr id="11277" name="Line 13"/>
            <p:cNvSpPr>
              <a:spLocks noChangeShapeType="1"/>
            </p:cNvSpPr>
            <p:nvPr/>
          </p:nvSpPr>
          <p:spPr bwMode="auto">
            <a:xfrm flipH="1">
              <a:off x="336" y="3168"/>
              <a:ext cx="288"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11278" name="Line 14"/>
            <p:cNvSpPr>
              <a:spLocks noChangeShapeType="1"/>
            </p:cNvSpPr>
            <p:nvPr/>
          </p:nvSpPr>
          <p:spPr bwMode="auto">
            <a:xfrm flipH="1">
              <a:off x="720" y="3168"/>
              <a:ext cx="288"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11280" name="Line 16"/>
            <p:cNvSpPr>
              <a:spLocks noChangeShapeType="1"/>
            </p:cNvSpPr>
            <p:nvPr/>
          </p:nvSpPr>
          <p:spPr bwMode="auto">
            <a:xfrm>
              <a:off x="672" y="2976"/>
              <a:ext cx="0" cy="192"/>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11281" name="Line 17"/>
            <p:cNvSpPr>
              <a:spLocks noChangeShapeType="1"/>
            </p:cNvSpPr>
            <p:nvPr/>
          </p:nvSpPr>
          <p:spPr bwMode="auto">
            <a:xfrm>
              <a:off x="672" y="3216"/>
              <a:ext cx="0" cy="192"/>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grpSp>
      <p:sp>
        <p:nvSpPr>
          <p:cNvPr id="11282" name="Rectangle 18"/>
          <p:cNvSpPr>
            <a:spLocks noChangeArrowheads="1"/>
          </p:cNvSpPr>
          <p:nvPr/>
        </p:nvSpPr>
        <p:spPr bwMode="auto">
          <a:xfrm>
            <a:off x="2373313" y="914400"/>
            <a:ext cx="4267200" cy="2514600"/>
          </a:xfrm>
          <a:prstGeom prst="rect">
            <a:avLst/>
          </a:prstGeom>
          <a:noFill/>
          <a:ln w="12700">
            <a:solidFill>
              <a:srgbClr val="F30B08"/>
            </a:solidFill>
            <a:miter lim="800000"/>
            <a:headEnd/>
            <a:tailEnd/>
          </a:ln>
          <a:effectLst/>
        </p:spPr>
        <p:txBody>
          <a:bodyPr wrap="none" anchor="ctr"/>
          <a:lstStyle/>
          <a:p>
            <a:endParaRPr lang="en-US"/>
          </a:p>
        </p:txBody>
      </p:sp>
      <p:grpSp>
        <p:nvGrpSpPr>
          <p:cNvPr id="5" name="Group 32"/>
          <p:cNvGrpSpPr>
            <a:grpSpLocks/>
          </p:cNvGrpSpPr>
          <p:nvPr/>
        </p:nvGrpSpPr>
        <p:grpSpPr bwMode="auto">
          <a:xfrm>
            <a:off x="2982913" y="4572000"/>
            <a:ext cx="685800" cy="914400"/>
            <a:chOff x="1879" y="2880"/>
            <a:chExt cx="432" cy="576"/>
          </a:xfrm>
        </p:grpSpPr>
        <p:sp>
          <p:nvSpPr>
            <p:cNvPr id="11283" name="Line 19"/>
            <p:cNvSpPr>
              <a:spLocks noChangeShapeType="1"/>
            </p:cNvSpPr>
            <p:nvPr/>
          </p:nvSpPr>
          <p:spPr bwMode="auto">
            <a:xfrm>
              <a:off x="1879" y="3024"/>
              <a:ext cx="192" cy="144"/>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11284" name="Line 20"/>
            <p:cNvSpPr>
              <a:spLocks noChangeShapeType="1"/>
            </p:cNvSpPr>
            <p:nvPr/>
          </p:nvSpPr>
          <p:spPr bwMode="auto">
            <a:xfrm>
              <a:off x="2119" y="3216"/>
              <a:ext cx="192" cy="144"/>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11285" name="Line 21"/>
            <p:cNvSpPr>
              <a:spLocks noChangeShapeType="1"/>
            </p:cNvSpPr>
            <p:nvPr/>
          </p:nvSpPr>
          <p:spPr bwMode="auto">
            <a:xfrm flipH="1">
              <a:off x="2119" y="2880"/>
              <a:ext cx="144" cy="24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11286" name="Line 22"/>
            <p:cNvSpPr>
              <a:spLocks noChangeShapeType="1"/>
            </p:cNvSpPr>
            <p:nvPr/>
          </p:nvSpPr>
          <p:spPr bwMode="auto">
            <a:xfrm flipH="1">
              <a:off x="1927" y="3216"/>
              <a:ext cx="144" cy="24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grpSp>
      <p:grpSp>
        <p:nvGrpSpPr>
          <p:cNvPr id="6" name="Group 33"/>
          <p:cNvGrpSpPr>
            <a:grpSpLocks/>
          </p:cNvGrpSpPr>
          <p:nvPr/>
        </p:nvGrpSpPr>
        <p:grpSpPr bwMode="auto">
          <a:xfrm>
            <a:off x="5257800" y="4572000"/>
            <a:ext cx="696913" cy="914400"/>
            <a:chOff x="3312" y="2880"/>
            <a:chExt cx="439" cy="576"/>
          </a:xfrm>
        </p:grpSpPr>
        <p:sp>
          <p:nvSpPr>
            <p:cNvPr id="11287" name="Line 23"/>
            <p:cNvSpPr>
              <a:spLocks noChangeShapeType="1"/>
            </p:cNvSpPr>
            <p:nvPr/>
          </p:nvSpPr>
          <p:spPr bwMode="auto">
            <a:xfrm>
              <a:off x="3312" y="2880"/>
              <a:ext cx="144" cy="24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11288" name="Line 24"/>
            <p:cNvSpPr>
              <a:spLocks noChangeShapeType="1"/>
            </p:cNvSpPr>
            <p:nvPr/>
          </p:nvSpPr>
          <p:spPr bwMode="auto">
            <a:xfrm>
              <a:off x="3511" y="3216"/>
              <a:ext cx="144" cy="24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11290" name="Line 26"/>
            <p:cNvSpPr>
              <a:spLocks noChangeShapeType="1"/>
            </p:cNvSpPr>
            <p:nvPr/>
          </p:nvSpPr>
          <p:spPr bwMode="auto">
            <a:xfrm flipV="1">
              <a:off x="3559" y="2976"/>
              <a:ext cx="192" cy="144"/>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11291" name="Line 27"/>
            <p:cNvSpPr>
              <a:spLocks noChangeShapeType="1"/>
            </p:cNvSpPr>
            <p:nvPr/>
          </p:nvSpPr>
          <p:spPr bwMode="auto">
            <a:xfrm flipV="1">
              <a:off x="3319" y="3168"/>
              <a:ext cx="192" cy="144"/>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grpSp>
      <p:sp>
        <p:nvSpPr>
          <p:cNvPr id="11292" name="Rectangle 28"/>
          <p:cNvSpPr>
            <a:spLocks noChangeArrowheads="1"/>
          </p:cNvSpPr>
          <p:nvPr/>
        </p:nvSpPr>
        <p:spPr bwMode="auto">
          <a:xfrm>
            <a:off x="315913" y="3886200"/>
            <a:ext cx="6324600" cy="2743200"/>
          </a:xfrm>
          <a:prstGeom prst="rect">
            <a:avLst/>
          </a:prstGeom>
          <a:noFill/>
          <a:ln w="12700">
            <a:solidFill>
              <a:schemeClr val="tx1"/>
            </a:solidFill>
            <a:miter lim="800000"/>
            <a:headEnd/>
            <a:tailEnd/>
          </a:ln>
          <a:effectLst/>
        </p:spPr>
        <p:txBody>
          <a:bodyPr wrap="none" anchor="ctr"/>
          <a:lstStyle/>
          <a:p>
            <a:endParaRPr lang="en-US"/>
          </a:p>
        </p:txBody>
      </p:sp>
      <p:sp>
        <p:nvSpPr>
          <p:cNvPr id="11293" name="Text Box 29"/>
          <p:cNvSpPr txBox="1">
            <a:spLocks noChangeArrowheads="1"/>
          </p:cNvSpPr>
          <p:nvPr/>
        </p:nvSpPr>
        <p:spPr bwMode="auto">
          <a:xfrm>
            <a:off x="6729413" y="1789113"/>
            <a:ext cx="2189162" cy="581025"/>
          </a:xfrm>
          <a:prstGeom prst="rect">
            <a:avLst/>
          </a:prstGeom>
          <a:noFill/>
          <a:ln w="9525">
            <a:noFill/>
            <a:miter lim="800000"/>
            <a:headEnd/>
            <a:tailEnd/>
          </a:ln>
          <a:effectLst/>
        </p:spPr>
        <p:txBody>
          <a:bodyPr wrap="none">
            <a:spAutoFit/>
          </a:bodyPr>
          <a:lstStyle/>
          <a:p>
            <a:pPr algn="ctr"/>
            <a:r>
              <a:rPr lang="en-US" sz="1600" i="1">
                <a:solidFill>
                  <a:srgbClr val="F30B08"/>
                </a:solidFill>
              </a:rPr>
              <a:t>Orbitals point </a:t>
            </a:r>
            <a:r>
              <a:rPr lang="en-US" sz="1600" i="1" u="sng">
                <a:solidFill>
                  <a:srgbClr val="F30B08"/>
                </a:solidFill>
              </a:rPr>
              <a:t>at</a:t>
            </a:r>
            <a:r>
              <a:rPr lang="en-US" sz="1600" i="1">
                <a:solidFill>
                  <a:srgbClr val="F30B08"/>
                </a:solidFill>
              </a:rPr>
              <a:t> ligands</a:t>
            </a:r>
          </a:p>
          <a:p>
            <a:pPr algn="ctr"/>
            <a:r>
              <a:rPr lang="en-US" sz="1600" i="1">
                <a:solidFill>
                  <a:srgbClr val="F30B08"/>
                </a:solidFill>
              </a:rPr>
              <a:t>(maximum repulsion)</a:t>
            </a:r>
          </a:p>
        </p:txBody>
      </p:sp>
      <p:sp>
        <p:nvSpPr>
          <p:cNvPr id="11294" name="Text Box 30"/>
          <p:cNvSpPr txBox="1">
            <a:spLocks noChangeArrowheads="1"/>
          </p:cNvSpPr>
          <p:nvPr/>
        </p:nvSpPr>
        <p:spPr bwMode="auto">
          <a:xfrm>
            <a:off x="6680200" y="4584700"/>
            <a:ext cx="2463800" cy="825500"/>
          </a:xfrm>
          <a:prstGeom prst="rect">
            <a:avLst/>
          </a:prstGeom>
          <a:noFill/>
          <a:ln w="9525">
            <a:noFill/>
            <a:miter lim="800000"/>
            <a:headEnd/>
            <a:tailEnd/>
          </a:ln>
          <a:effectLst/>
        </p:spPr>
        <p:txBody>
          <a:bodyPr wrap="none">
            <a:spAutoFit/>
          </a:bodyPr>
          <a:lstStyle/>
          <a:p>
            <a:pPr algn="ctr"/>
            <a:r>
              <a:rPr lang="en-US" sz="1600" i="1"/>
              <a:t>Orbitals point</a:t>
            </a:r>
          </a:p>
          <a:p>
            <a:pPr algn="ctr"/>
            <a:r>
              <a:rPr lang="en-US" sz="1600" i="1" u="sng"/>
              <a:t>between</a:t>
            </a:r>
            <a:r>
              <a:rPr lang="en-US" sz="1600" i="1"/>
              <a:t> ligands</a:t>
            </a:r>
          </a:p>
          <a:p>
            <a:pPr algn="ctr"/>
            <a:r>
              <a:rPr lang="en-US" sz="1600" i="1"/>
              <a:t>(less pronounced repulsion)</a:t>
            </a:r>
          </a:p>
        </p:txBody>
      </p:sp>
    </p:spTree>
    <p:extLst>
      <p:ext uri="{BB962C8B-B14F-4D97-AF65-F5344CB8AC3E}">
        <p14:creationId xmlns:p14="http://schemas.microsoft.com/office/powerpoint/2010/main" val="340417455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a:srcRect/>
          <a:stretch>
            <a:fillRect/>
          </a:stretch>
        </p:blipFill>
        <p:spPr bwMode="auto">
          <a:xfrm>
            <a:off x="152400" y="1285875"/>
            <a:ext cx="8458200" cy="4124325"/>
          </a:xfrm>
          <a:prstGeom prst="rect">
            <a:avLst/>
          </a:prstGeom>
          <a:noFill/>
          <a:ln w="9525">
            <a:noFill/>
            <a:miter lim="800000"/>
            <a:headEnd/>
            <a:tailEnd/>
          </a:ln>
          <a:effectLst/>
        </p:spPr>
      </p:pic>
      <p:sp>
        <p:nvSpPr>
          <p:cNvPr id="12291" name="Text Box 3"/>
          <p:cNvSpPr txBox="1">
            <a:spLocks noChangeArrowheads="1"/>
          </p:cNvSpPr>
          <p:nvPr/>
        </p:nvSpPr>
        <p:spPr bwMode="auto">
          <a:xfrm>
            <a:off x="2482850" y="381000"/>
            <a:ext cx="4298950" cy="457200"/>
          </a:xfrm>
          <a:prstGeom prst="rect">
            <a:avLst/>
          </a:prstGeom>
          <a:noFill/>
          <a:ln w="9525">
            <a:noFill/>
            <a:miter lim="800000"/>
            <a:headEnd/>
            <a:tailEnd/>
          </a:ln>
          <a:effectLst/>
        </p:spPr>
        <p:txBody>
          <a:bodyPr wrap="none">
            <a:spAutoFit/>
          </a:bodyPr>
          <a:lstStyle/>
          <a:p>
            <a:r>
              <a:rPr lang="en-US" i="1">
                <a:solidFill>
                  <a:schemeClr val="accent2"/>
                </a:solidFill>
              </a:rPr>
              <a:t>The two effects of the crystal field</a:t>
            </a:r>
          </a:p>
        </p:txBody>
      </p:sp>
    </p:spTree>
    <p:extLst>
      <p:ext uri="{BB962C8B-B14F-4D97-AF65-F5344CB8AC3E}">
        <p14:creationId xmlns:p14="http://schemas.microsoft.com/office/powerpoint/2010/main" val="282649867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4"/>
          <p:cNvSpPr>
            <a:spLocks noChangeShapeType="1"/>
          </p:cNvSpPr>
          <p:nvPr/>
        </p:nvSpPr>
        <p:spPr bwMode="auto">
          <a:xfrm>
            <a:off x="7954963" y="1697038"/>
            <a:ext cx="0" cy="2362200"/>
          </a:xfrm>
          <a:prstGeom prst="line">
            <a:avLst/>
          </a:prstGeom>
          <a:noFill/>
          <a:ln w="38100">
            <a:solidFill>
              <a:schemeClr val="tx1"/>
            </a:solidFill>
            <a:round/>
            <a:headEnd type="triangle" w="med" len="med"/>
            <a:tailEnd type="triangle" w="med" len="med"/>
          </a:ln>
          <a:effectLst/>
        </p:spPr>
        <p:txBody>
          <a:bodyPr wrap="none" anchor="ctr"/>
          <a:lstStyle/>
          <a:p>
            <a:endParaRPr lang="en-US"/>
          </a:p>
        </p:txBody>
      </p:sp>
      <p:sp>
        <p:nvSpPr>
          <p:cNvPr id="3077" name="Text Box 5"/>
          <p:cNvSpPr txBox="1">
            <a:spLocks noChangeArrowheads="1"/>
          </p:cNvSpPr>
          <p:nvPr/>
        </p:nvSpPr>
        <p:spPr bwMode="auto">
          <a:xfrm>
            <a:off x="8031163" y="2916238"/>
            <a:ext cx="579437" cy="519112"/>
          </a:xfrm>
          <a:prstGeom prst="rect">
            <a:avLst/>
          </a:prstGeom>
          <a:noFill/>
          <a:ln w="9525">
            <a:noFill/>
            <a:miter lim="800000"/>
            <a:headEnd/>
            <a:tailEnd/>
          </a:ln>
          <a:effectLst/>
        </p:spPr>
        <p:txBody>
          <a:bodyPr wrap="none">
            <a:spAutoFit/>
          </a:bodyPr>
          <a:lstStyle/>
          <a:p>
            <a:r>
              <a:rPr lang="en-US" sz="2800">
                <a:latin typeface="Symbol" pitchFamily="18" charset="2"/>
              </a:rPr>
              <a:t>D</a:t>
            </a:r>
            <a:r>
              <a:rPr lang="en-US" sz="2800"/>
              <a:t>o</a:t>
            </a:r>
          </a:p>
        </p:txBody>
      </p:sp>
      <p:sp>
        <p:nvSpPr>
          <p:cNvPr id="3078" name="Line 6"/>
          <p:cNvSpPr>
            <a:spLocks noChangeShapeType="1"/>
          </p:cNvSpPr>
          <p:nvPr/>
        </p:nvSpPr>
        <p:spPr bwMode="auto">
          <a:xfrm>
            <a:off x="5592763" y="1773238"/>
            <a:ext cx="0" cy="1295400"/>
          </a:xfrm>
          <a:prstGeom prst="line">
            <a:avLst/>
          </a:prstGeom>
          <a:noFill/>
          <a:ln w="38100">
            <a:solidFill>
              <a:srgbClr val="F30B08"/>
            </a:solidFill>
            <a:round/>
            <a:headEnd type="triangle" w="med" len="med"/>
            <a:tailEnd type="triangle" w="med" len="med"/>
          </a:ln>
          <a:effectLst/>
        </p:spPr>
        <p:txBody>
          <a:bodyPr wrap="none" anchor="ctr"/>
          <a:lstStyle/>
          <a:p>
            <a:endParaRPr lang="en-US"/>
          </a:p>
        </p:txBody>
      </p:sp>
      <p:sp>
        <p:nvSpPr>
          <p:cNvPr id="3080" name="Line 8"/>
          <p:cNvSpPr>
            <a:spLocks noChangeShapeType="1"/>
          </p:cNvSpPr>
          <p:nvPr/>
        </p:nvSpPr>
        <p:spPr bwMode="auto">
          <a:xfrm>
            <a:off x="5592763" y="3144838"/>
            <a:ext cx="0" cy="914400"/>
          </a:xfrm>
          <a:prstGeom prst="line">
            <a:avLst/>
          </a:prstGeom>
          <a:noFill/>
          <a:ln w="38100">
            <a:solidFill>
              <a:schemeClr val="accent2"/>
            </a:solidFill>
            <a:round/>
            <a:headEnd type="triangle" w="med" len="med"/>
            <a:tailEnd type="triangle" w="med" len="med"/>
          </a:ln>
          <a:effectLst/>
        </p:spPr>
        <p:txBody>
          <a:bodyPr wrap="none" anchor="ctr"/>
          <a:lstStyle/>
          <a:p>
            <a:endParaRPr lang="en-US"/>
          </a:p>
        </p:txBody>
      </p:sp>
      <p:sp>
        <p:nvSpPr>
          <p:cNvPr id="3081" name="Text Box 9"/>
          <p:cNvSpPr txBox="1">
            <a:spLocks noChangeArrowheads="1"/>
          </p:cNvSpPr>
          <p:nvPr/>
        </p:nvSpPr>
        <p:spPr bwMode="auto">
          <a:xfrm>
            <a:off x="5668963" y="2306638"/>
            <a:ext cx="987425" cy="457200"/>
          </a:xfrm>
          <a:prstGeom prst="rect">
            <a:avLst/>
          </a:prstGeom>
          <a:noFill/>
          <a:ln w="9525">
            <a:noFill/>
            <a:miter lim="800000"/>
            <a:headEnd/>
            <a:tailEnd/>
          </a:ln>
          <a:effectLst/>
        </p:spPr>
        <p:txBody>
          <a:bodyPr wrap="none">
            <a:spAutoFit/>
          </a:bodyPr>
          <a:lstStyle/>
          <a:p>
            <a:r>
              <a:rPr lang="en-US">
                <a:solidFill>
                  <a:srgbClr val="F30B08"/>
                </a:solidFill>
              </a:rPr>
              <a:t>3/5 </a:t>
            </a:r>
            <a:r>
              <a:rPr lang="en-US">
                <a:solidFill>
                  <a:srgbClr val="F30B08"/>
                </a:solidFill>
                <a:latin typeface="Symbol" pitchFamily="18" charset="2"/>
              </a:rPr>
              <a:t>D</a:t>
            </a:r>
            <a:r>
              <a:rPr lang="en-US">
                <a:solidFill>
                  <a:srgbClr val="F30B08"/>
                </a:solidFill>
              </a:rPr>
              <a:t>o</a:t>
            </a:r>
          </a:p>
        </p:txBody>
      </p:sp>
      <p:sp>
        <p:nvSpPr>
          <p:cNvPr id="3082" name="Text Box 10"/>
          <p:cNvSpPr txBox="1">
            <a:spLocks noChangeArrowheads="1"/>
          </p:cNvSpPr>
          <p:nvPr/>
        </p:nvSpPr>
        <p:spPr bwMode="auto">
          <a:xfrm>
            <a:off x="5668963" y="3373438"/>
            <a:ext cx="987425" cy="457200"/>
          </a:xfrm>
          <a:prstGeom prst="rect">
            <a:avLst/>
          </a:prstGeom>
          <a:noFill/>
          <a:ln w="9525">
            <a:noFill/>
            <a:miter lim="800000"/>
            <a:headEnd/>
            <a:tailEnd/>
          </a:ln>
          <a:effectLst/>
        </p:spPr>
        <p:txBody>
          <a:bodyPr wrap="none">
            <a:spAutoFit/>
          </a:bodyPr>
          <a:lstStyle/>
          <a:p>
            <a:r>
              <a:rPr lang="en-US">
                <a:solidFill>
                  <a:schemeClr val="accent2"/>
                </a:solidFill>
              </a:rPr>
              <a:t>2/5 </a:t>
            </a:r>
            <a:r>
              <a:rPr lang="en-US">
                <a:solidFill>
                  <a:schemeClr val="accent2"/>
                </a:solidFill>
                <a:latin typeface="Symbol" pitchFamily="18" charset="2"/>
              </a:rPr>
              <a:t>D</a:t>
            </a:r>
            <a:r>
              <a:rPr lang="en-US">
                <a:solidFill>
                  <a:schemeClr val="accent2"/>
                </a:solidFill>
              </a:rPr>
              <a:t>o</a:t>
            </a:r>
          </a:p>
        </p:txBody>
      </p:sp>
      <p:sp>
        <p:nvSpPr>
          <p:cNvPr id="3084" name="Text Box 12"/>
          <p:cNvSpPr txBox="1">
            <a:spLocks noChangeArrowheads="1"/>
          </p:cNvSpPr>
          <p:nvPr/>
        </p:nvSpPr>
        <p:spPr bwMode="auto">
          <a:xfrm>
            <a:off x="2320925" y="4724400"/>
            <a:ext cx="4454525" cy="519113"/>
          </a:xfrm>
          <a:prstGeom prst="rect">
            <a:avLst/>
          </a:prstGeom>
          <a:noFill/>
          <a:ln w="9525">
            <a:noFill/>
            <a:miter lim="800000"/>
            <a:headEnd/>
            <a:tailEnd/>
          </a:ln>
          <a:effectLst/>
        </p:spPr>
        <p:txBody>
          <a:bodyPr wrap="none">
            <a:spAutoFit/>
          </a:bodyPr>
          <a:lstStyle/>
          <a:p>
            <a:r>
              <a:rPr lang="en-US" sz="2800">
                <a:latin typeface="Symbol" pitchFamily="18" charset="2"/>
              </a:rPr>
              <a:t>D</a:t>
            </a:r>
            <a:r>
              <a:rPr lang="en-US" sz="2800"/>
              <a:t>o is the crystal field splitting</a:t>
            </a:r>
            <a:endParaRPr lang="en-US"/>
          </a:p>
        </p:txBody>
      </p:sp>
      <p:sp>
        <p:nvSpPr>
          <p:cNvPr id="3086" name="Text Box 14"/>
          <p:cNvSpPr txBox="1">
            <a:spLocks noChangeArrowheads="1"/>
          </p:cNvSpPr>
          <p:nvPr/>
        </p:nvSpPr>
        <p:spPr bwMode="auto">
          <a:xfrm>
            <a:off x="7070725" y="3824288"/>
            <a:ext cx="523875" cy="519112"/>
          </a:xfrm>
          <a:prstGeom prst="rect">
            <a:avLst/>
          </a:prstGeom>
          <a:noFill/>
          <a:ln w="9525">
            <a:noFill/>
            <a:miter lim="800000"/>
            <a:headEnd/>
            <a:tailEnd/>
          </a:ln>
          <a:effectLst/>
        </p:spPr>
        <p:txBody>
          <a:bodyPr>
            <a:spAutoFit/>
          </a:bodyPr>
          <a:lstStyle/>
          <a:p>
            <a:r>
              <a:rPr lang="en-US" sz="2800" i="1">
                <a:solidFill>
                  <a:schemeClr val="accent2"/>
                </a:solidFill>
              </a:rPr>
              <a:t>t</a:t>
            </a:r>
            <a:r>
              <a:rPr lang="en-US" sz="2800" i="1" baseline="-25000">
                <a:solidFill>
                  <a:schemeClr val="accent2"/>
                </a:solidFill>
              </a:rPr>
              <a:t>2g</a:t>
            </a:r>
            <a:endParaRPr lang="en-US">
              <a:solidFill>
                <a:schemeClr val="accent2"/>
              </a:solidFill>
            </a:endParaRPr>
          </a:p>
        </p:txBody>
      </p:sp>
      <p:sp>
        <p:nvSpPr>
          <p:cNvPr id="3087" name="Text Box 15"/>
          <p:cNvSpPr txBox="1">
            <a:spLocks noChangeArrowheads="1"/>
          </p:cNvSpPr>
          <p:nvPr/>
        </p:nvSpPr>
        <p:spPr bwMode="auto">
          <a:xfrm>
            <a:off x="6934200" y="1447800"/>
            <a:ext cx="523875" cy="519113"/>
          </a:xfrm>
          <a:prstGeom prst="rect">
            <a:avLst/>
          </a:prstGeom>
          <a:noFill/>
          <a:ln w="9525">
            <a:noFill/>
            <a:miter lim="800000"/>
            <a:headEnd/>
            <a:tailEnd/>
          </a:ln>
          <a:effectLst/>
        </p:spPr>
        <p:txBody>
          <a:bodyPr>
            <a:spAutoFit/>
          </a:bodyPr>
          <a:lstStyle/>
          <a:p>
            <a:r>
              <a:rPr lang="en-US" sz="2800" i="1">
                <a:solidFill>
                  <a:srgbClr val="F30B08"/>
                </a:solidFill>
              </a:rPr>
              <a:t>e</a:t>
            </a:r>
            <a:r>
              <a:rPr lang="en-US" sz="2800" i="1" baseline="-25000">
                <a:solidFill>
                  <a:srgbClr val="F30B08"/>
                </a:solidFill>
              </a:rPr>
              <a:t>g</a:t>
            </a:r>
            <a:endParaRPr lang="en-US">
              <a:solidFill>
                <a:schemeClr val="accent2"/>
              </a:solidFill>
            </a:endParaRPr>
          </a:p>
        </p:txBody>
      </p:sp>
      <p:sp>
        <p:nvSpPr>
          <p:cNvPr id="3088" name="Text Box 16"/>
          <p:cNvSpPr txBox="1">
            <a:spLocks noChangeArrowheads="1"/>
          </p:cNvSpPr>
          <p:nvPr/>
        </p:nvSpPr>
        <p:spPr bwMode="auto">
          <a:xfrm>
            <a:off x="2819400" y="5548313"/>
            <a:ext cx="3711575" cy="1014412"/>
          </a:xfrm>
          <a:prstGeom prst="rect">
            <a:avLst/>
          </a:prstGeom>
          <a:noFill/>
          <a:ln w="9525">
            <a:solidFill>
              <a:schemeClr val="accent2"/>
            </a:solidFill>
            <a:miter lim="800000"/>
            <a:headEnd/>
            <a:tailEnd/>
          </a:ln>
          <a:effectLst/>
        </p:spPr>
        <p:txBody>
          <a:bodyPr>
            <a:spAutoFit/>
          </a:bodyPr>
          <a:lstStyle/>
          <a:p>
            <a:pPr>
              <a:spcBef>
                <a:spcPct val="50000"/>
              </a:spcBef>
            </a:pPr>
            <a:r>
              <a:rPr lang="en-US">
                <a:solidFill>
                  <a:schemeClr val="accent2"/>
                </a:solidFill>
              </a:rPr>
              <a:t>E(</a:t>
            </a:r>
            <a:r>
              <a:rPr lang="en-US" i="1">
                <a:solidFill>
                  <a:schemeClr val="accent2"/>
                </a:solidFill>
              </a:rPr>
              <a:t>t</a:t>
            </a:r>
            <a:r>
              <a:rPr lang="en-US" i="1" baseline="-25000">
                <a:solidFill>
                  <a:schemeClr val="accent2"/>
                </a:solidFill>
              </a:rPr>
              <a:t>2g</a:t>
            </a:r>
            <a:r>
              <a:rPr lang="en-US">
                <a:solidFill>
                  <a:schemeClr val="accent2"/>
                </a:solidFill>
              </a:rPr>
              <a:t>) = -0.4</a:t>
            </a:r>
            <a:r>
              <a:rPr lang="en-US">
                <a:solidFill>
                  <a:schemeClr val="accent2"/>
                </a:solidFill>
                <a:latin typeface="Symbol" pitchFamily="18" charset="2"/>
              </a:rPr>
              <a:t>D</a:t>
            </a:r>
            <a:r>
              <a:rPr lang="en-US">
                <a:solidFill>
                  <a:schemeClr val="accent2"/>
                </a:solidFill>
              </a:rPr>
              <a:t>o x 3 = -1.2</a:t>
            </a:r>
            <a:r>
              <a:rPr lang="en-US">
                <a:solidFill>
                  <a:schemeClr val="accent2"/>
                </a:solidFill>
                <a:latin typeface="Symbol" pitchFamily="18" charset="2"/>
              </a:rPr>
              <a:t>D</a:t>
            </a:r>
            <a:r>
              <a:rPr lang="en-US">
                <a:solidFill>
                  <a:schemeClr val="accent2"/>
                </a:solidFill>
              </a:rPr>
              <a:t>o</a:t>
            </a:r>
          </a:p>
          <a:p>
            <a:pPr>
              <a:spcBef>
                <a:spcPct val="50000"/>
              </a:spcBef>
            </a:pPr>
            <a:r>
              <a:rPr lang="en-US">
                <a:solidFill>
                  <a:schemeClr val="accent2"/>
                </a:solidFill>
              </a:rPr>
              <a:t>E(</a:t>
            </a:r>
            <a:r>
              <a:rPr lang="en-US" i="1">
                <a:solidFill>
                  <a:schemeClr val="accent2"/>
                </a:solidFill>
              </a:rPr>
              <a:t>e</a:t>
            </a:r>
            <a:r>
              <a:rPr lang="en-US" i="1" baseline="-25000">
                <a:solidFill>
                  <a:schemeClr val="accent2"/>
                </a:solidFill>
              </a:rPr>
              <a:t>g</a:t>
            </a:r>
            <a:r>
              <a:rPr lang="en-US">
                <a:solidFill>
                  <a:schemeClr val="accent2"/>
                </a:solidFill>
              </a:rPr>
              <a:t>) = +0.6</a:t>
            </a:r>
            <a:r>
              <a:rPr lang="en-US">
                <a:solidFill>
                  <a:schemeClr val="accent2"/>
                </a:solidFill>
                <a:latin typeface="Symbol" pitchFamily="18" charset="2"/>
              </a:rPr>
              <a:t>D</a:t>
            </a:r>
            <a:r>
              <a:rPr lang="en-US">
                <a:solidFill>
                  <a:schemeClr val="accent2"/>
                </a:solidFill>
              </a:rPr>
              <a:t>o x 2 = +1.2</a:t>
            </a:r>
            <a:r>
              <a:rPr lang="en-US">
                <a:solidFill>
                  <a:schemeClr val="accent2"/>
                </a:solidFill>
                <a:latin typeface="Symbol" pitchFamily="18" charset="2"/>
              </a:rPr>
              <a:t>D</a:t>
            </a:r>
            <a:r>
              <a:rPr lang="en-US">
                <a:solidFill>
                  <a:schemeClr val="accent2"/>
                </a:solidFill>
              </a:rPr>
              <a:t>o</a:t>
            </a:r>
          </a:p>
        </p:txBody>
      </p:sp>
      <p:sp>
        <p:nvSpPr>
          <p:cNvPr id="3089" name="Text Box 17"/>
          <p:cNvSpPr txBox="1">
            <a:spLocks noChangeArrowheads="1"/>
          </p:cNvSpPr>
          <p:nvPr/>
        </p:nvSpPr>
        <p:spPr bwMode="auto">
          <a:xfrm>
            <a:off x="1295400" y="457200"/>
            <a:ext cx="6629400" cy="519113"/>
          </a:xfrm>
          <a:prstGeom prst="rect">
            <a:avLst/>
          </a:prstGeom>
          <a:noFill/>
          <a:ln w="9525">
            <a:noFill/>
            <a:miter lim="800000"/>
            <a:headEnd/>
            <a:tailEnd/>
          </a:ln>
          <a:effectLst/>
        </p:spPr>
        <p:txBody>
          <a:bodyPr>
            <a:spAutoFit/>
          </a:bodyPr>
          <a:lstStyle/>
          <a:p>
            <a:pPr>
              <a:spcBef>
                <a:spcPct val="50000"/>
              </a:spcBef>
            </a:pPr>
            <a:r>
              <a:rPr lang="en-US" sz="2800" i="1">
                <a:solidFill>
                  <a:schemeClr val="accent2"/>
                </a:solidFill>
              </a:rPr>
              <a:t>Splitting of d orbitals in an octahedral field</a:t>
            </a:r>
          </a:p>
        </p:txBody>
      </p:sp>
      <p:graphicFrame>
        <p:nvGraphicFramePr>
          <p:cNvPr id="3090" name="Object 18"/>
          <p:cNvGraphicFramePr>
            <a:graphicFrameLocks noChangeAspect="1"/>
          </p:cNvGraphicFramePr>
          <p:nvPr/>
        </p:nvGraphicFramePr>
        <p:xfrm>
          <a:off x="685800" y="1676400"/>
          <a:ext cx="4724400" cy="2622550"/>
        </p:xfrm>
        <a:graphic>
          <a:graphicData uri="http://schemas.openxmlformats.org/presentationml/2006/ole">
            <mc:AlternateContent xmlns:mc="http://schemas.openxmlformats.org/markup-compatibility/2006">
              <mc:Choice xmlns:v="urn:schemas-microsoft-com:vml" Requires="v">
                <p:oleObj spid="_x0000_s10243" name="Image" r:id="rId4" imgW="8101587" imgH="3428571" progId="Photoshop.Image.9">
                  <p:embed/>
                </p:oleObj>
              </mc:Choice>
              <mc:Fallback>
                <p:oleObj name="Image" r:id="rId4" imgW="8101587" imgH="3428571" progId="Photoshop.Image.9">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1676400"/>
                        <a:ext cx="4724400" cy="262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6530183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srcRect/>
          <a:stretch>
            <a:fillRect/>
          </a:stretch>
        </p:blipFill>
        <p:spPr bwMode="auto">
          <a:xfrm>
            <a:off x="1447800" y="1600200"/>
            <a:ext cx="6378575" cy="2703513"/>
          </a:xfrm>
          <a:prstGeom prst="rect">
            <a:avLst/>
          </a:prstGeom>
          <a:noFill/>
          <a:ln w="9525">
            <a:noFill/>
            <a:miter lim="800000"/>
            <a:headEnd/>
            <a:tailEnd/>
          </a:ln>
          <a:effectLst/>
        </p:spPr>
      </p:pic>
      <p:sp>
        <p:nvSpPr>
          <p:cNvPr id="4099" name="Text Box 3"/>
          <p:cNvSpPr txBox="1">
            <a:spLocks noChangeArrowheads="1"/>
          </p:cNvSpPr>
          <p:nvPr/>
        </p:nvSpPr>
        <p:spPr bwMode="auto">
          <a:xfrm>
            <a:off x="2713038" y="396875"/>
            <a:ext cx="3836987" cy="822325"/>
          </a:xfrm>
          <a:prstGeom prst="rect">
            <a:avLst/>
          </a:prstGeom>
          <a:noFill/>
          <a:ln w="9525">
            <a:noFill/>
            <a:miter lim="800000"/>
            <a:headEnd/>
            <a:tailEnd/>
          </a:ln>
          <a:effectLst/>
        </p:spPr>
        <p:txBody>
          <a:bodyPr wrap="none">
            <a:spAutoFit/>
          </a:bodyPr>
          <a:lstStyle/>
          <a:p>
            <a:pPr algn="ctr"/>
            <a:r>
              <a:rPr lang="en-US" i="1">
                <a:solidFill>
                  <a:schemeClr val="accent2"/>
                </a:solidFill>
              </a:rPr>
              <a:t>The magnitude of the splitting</a:t>
            </a:r>
          </a:p>
          <a:p>
            <a:pPr algn="ctr"/>
            <a:r>
              <a:rPr lang="en-US" i="1">
                <a:solidFill>
                  <a:schemeClr val="accent2"/>
                </a:solidFill>
              </a:rPr>
              <a:t>(ligand effect)</a:t>
            </a:r>
          </a:p>
        </p:txBody>
      </p:sp>
      <p:sp>
        <p:nvSpPr>
          <p:cNvPr id="4100" name="Text Box 4"/>
          <p:cNvSpPr txBox="1">
            <a:spLocks noChangeArrowheads="1"/>
          </p:cNvSpPr>
          <p:nvPr/>
        </p:nvSpPr>
        <p:spPr bwMode="auto">
          <a:xfrm>
            <a:off x="2514600" y="2667000"/>
            <a:ext cx="1044575" cy="831850"/>
          </a:xfrm>
          <a:prstGeom prst="rect">
            <a:avLst/>
          </a:prstGeom>
          <a:noFill/>
          <a:ln w="9525">
            <a:solidFill>
              <a:schemeClr val="tx1"/>
            </a:solidFill>
            <a:miter lim="800000"/>
            <a:headEnd/>
            <a:tailEnd/>
          </a:ln>
          <a:effectLst/>
        </p:spPr>
        <p:txBody>
          <a:bodyPr>
            <a:spAutoFit/>
          </a:bodyPr>
          <a:lstStyle/>
          <a:p>
            <a:pPr algn="ctr"/>
            <a:r>
              <a:rPr lang="en-US"/>
              <a:t>Strong</a:t>
            </a:r>
          </a:p>
          <a:p>
            <a:pPr algn="ctr"/>
            <a:r>
              <a:rPr lang="en-US"/>
              <a:t>field</a:t>
            </a:r>
          </a:p>
        </p:txBody>
      </p:sp>
      <p:sp>
        <p:nvSpPr>
          <p:cNvPr id="4101" name="Text Box 5"/>
          <p:cNvSpPr txBox="1">
            <a:spLocks noChangeArrowheads="1"/>
          </p:cNvSpPr>
          <p:nvPr/>
        </p:nvSpPr>
        <p:spPr bwMode="auto">
          <a:xfrm>
            <a:off x="6956425" y="2514600"/>
            <a:ext cx="1044575" cy="831850"/>
          </a:xfrm>
          <a:prstGeom prst="rect">
            <a:avLst/>
          </a:prstGeom>
          <a:noFill/>
          <a:ln w="9525">
            <a:solidFill>
              <a:schemeClr val="tx1"/>
            </a:solidFill>
            <a:miter lim="800000"/>
            <a:headEnd/>
            <a:tailEnd/>
          </a:ln>
          <a:effectLst/>
        </p:spPr>
        <p:txBody>
          <a:bodyPr>
            <a:spAutoFit/>
          </a:bodyPr>
          <a:lstStyle/>
          <a:p>
            <a:pPr algn="ctr"/>
            <a:r>
              <a:rPr lang="en-US"/>
              <a:t>Weak</a:t>
            </a:r>
          </a:p>
          <a:p>
            <a:pPr algn="ctr"/>
            <a:r>
              <a:rPr lang="en-US"/>
              <a:t>field</a:t>
            </a:r>
          </a:p>
        </p:txBody>
      </p:sp>
      <p:sp>
        <p:nvSpPr>
          <p:cNvPr id="4102" name="Text Box 6"/>
          <p:cNvSpPr txBox="1">
            <a:spLocks noChangeArrowheads="1"/>
          </p:cNvSpPr>
          <p:nvPr/>
        </p:nvSpPr>
        <p:spPr bwMode="auto">
          <a:xfrm>
            <a:off x="457200" y="5124450"/>
            <a:ext cx="8359775" cy="819150"/>
          </a:xfrm>
          <a:prstGeom prst="rect">
            <a:avLst/>
          </a:prstGeom>
          <a:noFill/>
          <a:ln w="9525">
            <a:solidFill>
              <a:schemeClr val="tx1"/>
            </a:solidFill>
            <a:miter lim="800000"/>
            <a:headEnd/>
            <a:tailEnd/>
          </a:ln>
          <a:effectLst/>
        </p:spPr>
        <p:txBody>
          <a:bodyPr>
            <a:spAutoFit/>
          </a:bodyPr>
          <a:lstStyle/>
          <a:p>
            <a:pPr algn="ctr">
              <a:spcBef>
                <a:spcPct val="50000"/>
              </a:spcBef>
            </a:pPr>
            <a:r>
              <a:rPr lang="en-US" sz="2000"/>
              <a:t>The spectrochemical series</a:t>
            </a:r>
          </a:p>
          <a:p>
            <a:pPr algn="ctr">
              <a:spcBef>
                <a:spcPct val="50000"/>
              </a:spcBef>
            </a:pPr>
            <a:r>
              <a:rPr lang="en-US" sz="1800"/>
              <a:t>CO, CN</a:t>
            </a:r>
            <a:r>
              <a:rPr lang="en-US" sz="1800" baseline="30000"/>
              <a:t>-</a:t>
            </a:r>
            <a:r>
              <a:rPr lang="en-US" sz="1800"/>
              <a:t> &gt; phen &gt; NO</a:t>
            </a:r>
            <a:r>
              <a:rPr lang="en-US" sz="1800" baseline="-25000"/>
              <a:t>2</a:t>
            </a:r>
            <a:r>
              <a:rPr lang="en-US" sz="1800" baseline="30000"/>
              <a:t>-</a:t>
            </a:r>
            <a:r>
              <a:rPr lang="en-US" sz="1800"/>
              <a:t> &gt; en &gt; NH</a:t>
            </a:r>
            <a:r>
              <a:rPr lang="en-US" sz="1800" baseline="-25000"/>
              <a:t>3</a:t>
            </a:r>
            <a:r>
              <a:rPr lang="en-US" sz="1800"/>
              <a:t> &gt; NCS</a:t>
            </a:r>
            <a:r>
              <a:rPr lang="en-US" sz="1800" baseline="30000"/>
              <a:t>-</a:t>
            </a:r>
            <a:r>
              <a:rPr lang="en-US" sz="1800"/>
              <a:t> &gt; H</a:t>
            </a:r>
            <a:r>
              <a:rPr lang="en-US" sz="1800" baseline="-25000"/>
              <a:t>2</a:t>
            </a:r>
            <a:r>
              <a:rPr lang="en-US" sz="1800"/>
              <a:t>O &gt; F</a:t>
            </a:r>
            <a:r>
              <a:rPr lang="en-US" sz="1800" baseline="30000"/>
              <a:t>-</a:t>
            </a:r>
            <a:r>
              <a:rPr lang="en-US" sz="1800"/>
              <a:t> &gt; RCO</a:t>
            </a:r>
            <a:r>
              <a:rPr lang="en-US" sz="1800" baseline="-25000"/>
              <a:t>2</a:t>
            </a:r>
            <a:r>
              <a:rPr lang="en-US" sz="1800" baseline="30000"/>
              <a:t>-</a:t>
            </a:r>
            <a:r>
              <a:rPr lang="en-US" sz="1800"/>
              <a:t> &gt; OH</a:t>
            </a:r>
            <a:r>
              <a:rPr lang="en-US" sz="1800" baseline="-25000"/>
              <a:t>-</a:t>
            </a:r>
            <a:r>
              <a:rPr lang="en-US" sz="1800"/>
              <a:t> &gt; Cl</a:t>
            </a:r>
            <a:r>
              <a:rPr lang="en-US" sz="1800" baseline="30000"/>
              <a:t>-</a:t>
            </a:r>
            <a:r>
              <a:rPr lang="en-US" sz="1800"/>
              <a:t> &gt; Br</a:t>
            </a:r>
            <a:r>
              <a:rPr lang="en-US" sz="1800" baseline="30000"/>
              <a:t>-</a:t>
            </a:r>
            <a:r>
              <a:rPr lang="en-US" sz="1800"/>
              <a:t> &gt; I</a:t>
            </a:r>
            <a:r>
              <a:rPr lang="en-US" sz="1800" baseline="30000"/>
              <a:t>-</a:t>
            </a:r>
            <a:endParaRPr lang="en-US" sz="1800"/>
          </a:p>
        </p:txBody>
      </p:sp>
    </p:spTree>
    <p:extLst>
      <p:ext uri="{BB962C8B-B14F-4D97-AF65-F5344CB8AC3E}">
        <p14:creationId xmlns:p14="http://schemas.microsoft.com/office/powerpoint/2010/main" val="283679850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3"/>
          <a:srcRect/>
          <a:stretch>
            <a:fillRect/>
          </a:stretch>
        </p:blipFill>
        <p:spPr bwMode="auto">
          <a:xfrm>
            <a:off x="1447800" y="1600200"/>
            <a:ext cx="6378575" cy="2703513"/>
          </a:xfrm>
          <a:prstGeom prst="rect">
            <a:avLst/>
          </a:prstGeom>
          <a:noFill/>
          <a:ln w="9525">
            <a:noFill/>
            <a:miter lim="800000"/>
            <a:headEnd/>
            <a:tailEnd/>
          </a:ln>
          <a:effectLst/>
        </p:spPr>
      </p:pic>
      <p:sp>
        <p:nvSpPr>
          <p:cNvPr id="19459" name="Text Box 3"/>
          <p:cNvSpPr txBox="1">
            <a:spLocks noChangeArrowheads="1"/>
          </p:cNvSpPr>
          <p:nvPr/>
        </p:nvSpPr>
        <p:spPr bwMode="auto">
          <a:xfrm>
            <a:off x="2711450" y="396875"/>
            <a:ext cx="3841750" cy="822325"/>
          </a:xfrm>
          <a:prstGeom prst="rect">
            <a:avLst/>
          </a:prstGeom>
          <a:noFill/>
          <a:ln w="9525">
            <a:noFill/>
            <a:miter lim="800000"/>
            <a:headEnd/>
            <a:tailEnd/>
          </a:ln>
          <a:effectLst/>
        </p:spPr>
        <p:txBody>
          <a:bodyPr wrap="none">
            <a:spAutoFit/>
          </a:bodyPr>
          <a:lstStyle/>
          <a:p>
            <a:pPr algn="ctr"/>
            <a:r>
              <a:rPr lang="en-US" i="1">
                <a:solidFill>
                  <a:schemeClr val="accent2"/>
                </a:solidFill>
              </a:rPr>
              <a:t>The magnitude of the splitting</a:t>
            </a:r>
          </a:p>
          <a:p>
            <a:pPr algn="ctr"/>
            <a:r>
              <a:rPr lang="en-US" i="1">
                <a:solidFill>
                  <a:schemeClr val="accent2"/>
                </a:solidFill>
              </a:rPr>
              <a:t>(metal ion effect)</a:t>
            </a:r>
          </a:p>
        </p:txBody>
      </p:sp>
      <p:sp>
        <p:nvSpPr>
          <p:cNvPr id="19460" name="Text Box 4"/>
          <p:cNvSpPr txBox="1">
            <a:spLocks noChangeArrowheads="1"/>
          </p:cNvSpPr>
          <p:nvPr/>
        </p:nvSpPr>
        <p:spPr bwMode="auto">
          <a:xfrm>
            <a:off x="2514600" y="2667000"/>
            <a:ext cx="1044575" cy="831850"/>
          </a:xfrm>
          <a:prstGeom prst="rect">
            <a:avLst/>
          </a:prstGeom>
          <a:noFill/>
          <a:ln w="9525">
            <a:solidFill>
              <a:schemeClr val="tx1"/>
            </a:solidFill>
            <a:miter lim="800000"/>
            <a:headEnd/>
            <a:tailEnd/>
          </a:ln>
          <a:effectLst/>
        </p:spPr>
        <p:txBody>
          <a:bodyPr>
            <a:spAutoFit/>
          </a:bodyPr>
          <a:lstStyle/>
          <a:p>
            <a:pPr algn="ctr"/>
            <a:r>
              <a:rPr lang="en-US"/>
              <a:t>Strong</a:t>
            </a:r>
          </a:p>
          <a:p>
            <a:pPr algn="ctr"/>
            <a:r>
              <a:rPr lang="en-US"/>
              <a:t>field</a:t>
            </a:r>
          </a:p>
        </p:txBody>
      </p:sp>
      <p:sp>
        <p:nvSpPr>
          <p:cNvPr id="19461" name="Text Box 5"/>
          <p:cNvSpPr txBox="1">
            <a:spLocks noChangeArrowheads="1"/>
          </p:cNvSpPr>
          <p:nvPr/>
        </p:nvSpPr>
        <p:spPr bwMode="auto">
          <a:xfrm>
            <a:off x="6956425" y="2514600"/>
            <a:ext cx="1044575" cy="831850"/>
          </a:xfrm>
          <a:prstGeom prst="rect">
            <a:avLst/>
          </a:prstGeom>
          <a:noFill/>
          <a:ln w="9525">
            <a:solidFill>
              <a:schemeClr val="tx1"/>
            </a:solidFill>
            <a:miter lim="800000"/>
            <a:headEnd/>
            <a:tailEnd/>
          </a:ln>
          <a:effectLst/>
        </p:spPr>
        <p:txBody>
          <a:bodyPr>
            <a:spAutoFit/>
          </a:bodyPr>
          <a:lstStyle/>
          <a:p>
            <a:pPr algn="ctr"/>
            <a:r>
              <a:rPr lang="en-US"/>
              <a:t>Weak</a:t>
            </a:r>
          </a:p>
          <a:p>
            <a:pPr algn="ctr"/>
            <a:r>
              <a:rPr lang="en-US"/>
              <a:t>field</a:t>
            </a:r>
          </a:p>
        </p:txBody>
      </p:sp>
      <p:sp>
        <p:nvSpPr>
          <p:cNvPr id="19462" name="Text Box 6"/>
          <p:cNvSpPr txBox="1">
            <a:spLocks noChangeArrowheads="1"/>
          </p:cNvSpPr>
          <p:nvPr/>
        </p:nvSpPr>
        <p:spPr bwMode="auto">
          <a:xfrm>
            <a:off x="457200" y="5124450"/>
            <a:ext cx="8359775" cy="863600"/>
          </a:xfrm>
          <a:prstGeom prst="rect">
            <a:avLst/>
          </a:prstGeom>
          <a:noFill/>
          <a:ln w="9525">
            <a:solidFill>
              <a:schemeClr val="tx1"/>
            </a:solidFill>
            <a:miter lim="800000"/>
            <a:headEnd/>
            <a:tailEnd/>
          </a:ln>
          <a:effectLst/>
        </p:spPr>
        <p:txBody>
          <a:bodyPr>
            <a:spAutoFit/>
          </a:bodyPr>
          <a:lstStyle/>
          <a:p>
            <a:pPr algn="ctr">
              <a:spcBef>
                <a:spcPct val="50000"/>
              </a:spcBef>
              <a:buFont typeface="Symbol" pitchFamily="18" charset="2"/>
              <a:buChar char="D"/>
            </a:pPr>
            <a:r>
              <a:rPr lang="en-US" sz="2000"/>
              <a:t> increases with increasing formal charge on the metal ion</a:t>
            </a:r>
          </a:p>
          <a:p>
            <a:pPr algn="ctr">
              <a:spcBef>
                <a:spcPct val="50000"/>
              </a:spcBef>
              <a:buFont typeface="Symbol" pitchFamily="18" charset="2"/>
              <a:buChar char="D"/>
            </a:pPr>
            <a:r>
              <a:rPr lang="en-US" sz="2000"/>
              <a:t> increases on going down the periodic table</a:t>
            </a:r>
          </a:p>
        </p:txBody>
      </p:sp>
    </p:spTree>
    <p:extLst>
      <p:ext uri="{BB962C8B-B14F-4D97-AF65-F5344CB8AC3E}">
        <p14:creationId xmlns:p14="http://schemas.microsoft.com/office/powerpoint/2010/main" val="17511888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srcRect/>
          <a:stretch>
            <a:fillRect/>
          </a:stretch>
        </p:blipFill>
        <p:spPr bwMode="auto">
          <a:xfrm>
            <a:off x="381000" y="152400"/>
            <a:ext cx="4789488" cy="6629400"/>
          </a:xfrm>
          <a:prstGeom prst="rect">
            <a:avLst/>
          </a:prstGeom>
          <a:noFill/>
          <a:ln w="9525">
            <a:noFill/>
            <a:miter lim="800000"/>
            <a:headEnd/>
            <a:tailEnd/>
          </a:ln>
          <a:effectLst/>
        </p:spPr>
      </p:pic>
      <p:grpSp>
        <p:nvGrpSpPr>
          <p:cNvPr id="2" name="Group 5"/>
          <p:cNvGrpSpPr>
            <a:grpSpLocks/>
          </p:cNvGrpSpPr>
          <p:nvPr/>
        </p:nvGrpSpPr>
        <p:grpSpPr bwMode="auto">
          <a:xfrm>
            <a:off x="5715000" y="2895600"/>
            <a:ext cx="2438400" cy="609600"/>
            <a:chOff x="3600" y="2064"/>
            <a:chExt cx="1536" cy="384"/>
          </a:xfrm>
        </p:grpSpPr>
        <p:sp>
          <p:nvSpPr>
            <p:cNvPr id="13315" name="Rectangle 3"/>
            <p:cNvSpPr>
              <a:spLocks noChangeArrowheads="1"/>
            </p:cNvSpPr>
            <p:nvPr/>
          </p:nvSpPr>
          <p:spPr bwMode="auto">
            <a:xfrm>
              <a:off x="3600" y="2064"/>
              <a:ext cx="1536" cy="384"/>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3316" name="Rectangle 4"/>
            <p:cNvSpPr>
              <a:spLocks noChangeArrowheads="1"/>
            </p:cNvSpPr>
            <p:nvPr/>
          </p:nvSpPr>
          <p:spPr bwMode="auto">
            <a:xfrm>
              <a:off x="3727" y="2160"/>
              <a:ext cx="1286" cy="231"/>
            </a:xfrm>
            <a:prstGeom prst="rect">
              <a:avLst/>
            </a:prstGeom>
            <a:noFill/>
            <a:ln w="9525">
              <a:noFill/>
              <a:miter lim="800000"/>
              <a:headEnd/>
              <a:tailEnd/>
            </a:ln>
            <a:effectLst/>
          </p:spPr>
          <p:txBody>
            <a:bodyPr wrap="none" anchor="ctr">
              <a:spAutoFit/>
            </a:bodyPr>
            <a:lstStyle/>
            <a:p>
              <a:pPr eaLnBrk="1" hangingPunct="1"/>
              <a:r>
                <a:rPr lang="es-ES" sz="1800">
                  <a:latin typeface="Symbol" pitchFamily="18" charset="2"/>
                  <a:cs typeface="Arial" charset="0"/>
                </a:rPr>
                <a:t>D</a:t>
              </a:r>
              <a:r>
                <a:rPr lang="es-ES" sz="1800" baseline="-25000">
                  <a:latin typeface="Arial" charset="0"/>
                  <a:cs typeface="Arial" charset="0"/>
                </a:rPr>
                <a:t>o</a:t>
              </a:r>
              <a:r>
                <a:rPr lang="es-ES" sz="1800">
                  <a:latin typeface="Arial" charset="0"/>
                  <a:cs typeface="Arial" charset="0"/>
                </a:rPr>
                <a:t> ≈ M ∑ n</a:t>
              </a:r>
              <a:r>
                <a:rPr lang="es-ES" sz="1800" baseline="-25000">
                  <a:latin typeface="Arial" charset="0"/>
                  <a:cs typeface="Arial" charset="0"/>
                </a:rPr>
                <a:t>l</a:t>
              </a:r>
              <a:r>
                <a:rPr lang="es-ES" sz="1800">
                  <a:latin typeface="Arial" charset="0"/>
                  <a:cs typeface="Arial" charset="0"/>
                </a:rPr>
                <a:t>L</a:t>
              </a:r>
              <a:r>
                <a:rPr lang="es-ES" sz="1800" baseline="-25000">
                  <a:latin typeface="Arial" charset="0"/>
                  <a:cs typeface="Arial" charset="0"/>
                </a:rPr>
                <a:t>l</a:t>
              </a:r>
              <a:r>
                <a:rPr lang="es-ES" sz="1800">
                  <a:latin typeface="Arial" charset="0"/>
                  <a:cs typeface="Arial" charset="0"/>
                </a:rPr>
                <a:t> x 10</a:t>
              </a:r>
              <a:r>
                <a:rPr lang="es-ES" sz="1800" baseline="30000">
                  <a:latin typeface="Arial" charset="0"/>
                  <a:cs typeface="Arial" charset="0"/>
                </a:rPr>
                <a:t>3</a:t>
              </a:r>
            </a:p>
          </p:txBody>
        </p:sp>
      </p:grpSp>
      <p:sp>
        <p:nvSpPr>
          <p:cNvPr id="13319" name="Text Box 7"/>
          <p:cNvSpPr txBox="1">
            <a:spLocks noChangeArrowheads="1"/>
          </p:cNvSpPr>
          <p:nvPr/>
        </p:nvSpPr>
        <p:spPr bwMode="auto">
          <a:xfrm>
            <a:off x="5791200" y="3657600"/>
            <a:ext cx="2274888" cy="581025"/>
          </a:xfrm>
          <a:prstGeom prst="rect">
            <a:avLst/>
          </a:prstGeom>
          <a:noFill/>
          <a:ln w="9525">
            <a:noFill/>
            <a:miter lim="800000"/>
            <a:headEnd/>
            <a:tailEnd/>
          </a:ln>
          <a:effectLst/>
        </p:spPr>
        <p:txBody>
          <a:bodyPr wrap="none">
            <a:spAutoFit/>
          </a:bodyPr>
          <a:lstStyle/>
          <a:p>
            <a:pPr algn="ctr"/>
            <a:r>
              <a:rPr lang="en-US" sz="1600"/>
              <a:t>Predicts value of </a:t>
            </a:r>
            <a:r>
              <a:rPr lang="en-US" sz="1600">
                <a:latin typeface="Symbol" pitchFamily="18" charset="2"/>
              </a:rPr>
              <a:t>D</a:t>
            </a:r>
            <a:r>
              <a:rPr lang="en-US" sz="1600"/>
              <a:t> (cm</a:t>
            </a:r>
            <a:r>
              <a:rPr lang="en-US" sz="1600" baseline="30000"/>
              <a:t>-1</a:t>
            </a:r>
            <a:r>
              <a:rPr lang="en-US" sz="1600"/>
              <a:t>)</a:t>
            </a:r>
          </a:p>
          <a:p>
            <a:pPr algn="ctr"/>
            <a:r>
              <a:rPr lang="en-US" sz="1600"/>
              <a:t>n</a:t>
            </a:r>
            <a:r>
              <a:rPr lang="en-US" sz="1600" baseline="-25000"/>
              <a:t>l</a:t>
            </a:r>
            <a:r>
              <a:rPr lang="en-US" sz="1600"/>
              <a:t> is # of ligands L</a:t>
            </a:r>
            <a:r>
              <a:rPr lang="en-US" sz="1600" baseline="-25000"/>
              <a:t>l</a:t>
            </a:r>
            <a:endParaRPr lang="en-US" sz="1600"/>
          </a:p>
        </p:txBody>
      </p:sp>
      <p:sp>
        <p:nvSpPr>
          <p:cNvPr id="13320" name="Text Box 8"/>
          <p:cNvSpPr txBox="1">
            <a:spLocks noChangeArrowheads="1"/>
          </p:cNvSpPr>
          <p:nvPr/>
        </p:nvSpPr>
        <p:spPr bwMode="auto">
          <a:xfrm>
            <a:off x="5410200" y="533400"/>
            <a:ext cx="3276600" cy="1187450"/>
          </a:xfrm>
          <a:prstGeom prst="rect">
            <a:avLst/>
          </a:prstGeom>
          <a:noFill/>
          <a:ln w="9525">
            <a:noFill/>
            <a:miter lim="800000"/>
            <a:headEnd/>
            <a:tailEnd/>
          </a:ln>
          <a:effectLst/>
        </p:spPr>
        <p:txBody>
          <a:bodyPr>
            <a:spAutoFit/>
          </a:bodyPr>
          <a:lstStyle/>
          <a:p>
            <a:pPr>
              <a:spcBef>
                <a:spcPct val="50000"/>
              </a:spcBef>
            </a:pPr>
            <a:r>
              <a:rPr lang="en-US"/>
              <a:t>The splitting constant must depend on both the ligand and the metal.</a:t>
            </a:r>
          </a:p>
        </p:txBody>
      </p:sp>
    </p:spTree>
    <p:extLst>
      <p:ext uri="{BB962C8B-B14F-4D97-AF65-F5344CB8AC3E}">
        <p14:creationId xmlns:p14="http://schemas.microsoft.com/office/powerpoint/2010/main" val="248072176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3"/>
          <p:cNvGrpSpPr>
            <a:grpSpLocks/>
          </p:cNvGrpSpPr>
          <p:nvPr/>
        </p:nvGrpSpPr>
        <p:grpSpPr bwMode="auto">
          <a:xfrm>
            <a:off x="517525" y="1066800"/>
            <a:ext cx="3597275" cy="2286000"/>
            <a:chOff x="326" y="816"/>
            <a:chExt cx="2266" cy="1440"/>
          </a:xfrm>
        </p:grpSpPr>
        <p:grpSp>
          <p:nvGrpSpPr>
            <p:cNvPr id="3" name="Group 21"/>
            <p:cNvGrpSpPr>
              <a:grpSpLocks/>
            </p:cNvGrpSpPr>
            <p:nvPr/>
          </p:nvGrpSpPr>
          <p:grpSpPr bwMode="auto">
            <a:xfrm>
              <a:off x="624" y="816"/>
              <a:ext cx="1968" cy="1440"/>
              <a:chOff x="336" y="816"/>
              <a:chExt cx="1968" cy="1440"/>
            </a:xfrm>
          </p:grpSpPr>
          <p:pic>
            <p:nvPicPr>
              <p:cNvPr id="5123" name="Picture 3"/>
              <p:cNvPicPr>
                <a:picLocks noChangeAspect="1" noChangeArrowheads="1"/>
              </p:cNvPicPr>
              <p:nvPr/>
            </p:nvPicPr>
            <p:blipFill>
              <a:blip r:embed="rId3"/>
              <a:srcRect/>
              <a:stretch>
                <a:fillRect/>
              </a:stretch>
            </p:blipFill>
            <p:spPr bwMode="auto">
              <a:xfrm>
                <a:off x="480" y="1008"/>
                <a:ext cx="1760" cy="1056"/>
              </a:xfrm>
              <a:prstGeom prst="rect">
                <a:avLst/>
              </a:prstGeom>
              <a:noFill/>
              <a:ln w="9525">
                <a:noFill/>
                <a:miter lim="800000"/>
                <a:headEnd/>
                <a:tailEnd/>
              </a:ln>
              <a:effectLst/>
            </p:spPr>
          </p:pic>
          <p:sp>
            <p:nvSpPr>
              <p:cNvPr id="5124" name="Line 4"/>
              <p:cNvSpPr>
                <a:spLocks noChangeShapeType="1"/>
              </p:cNvSpPr>
              <p:nvPr/>
            </p:nvSpPr>
            <p:spPr bwMode="auto">
              <a:xfrm flipV="1">
                <a:off x="624" y="1872"/>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25" name="Line 5"/>
              <p:cNvSpPr>
                <a:spLocks noChangeShapeType="1"/>
              </p:cNvSpPr>
              <p:nvPr/>
            </p:nvSpPr>
            <p:spPr bwMode="auto">
              <a:xfrm flipV="1">
                <a:off x="1584" y="1584"/>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33" name="Rectangle 13"/>
              <p:cNvSpPr>
                <a:spLocks noChangeArrowheads="1"/>
              </p:cNvSpPr>
              <p:nvPr/>
            </p:nvSpPr>
            <p:spPr bwMode="auto">
              <a:xfrm>
                <a:off x="336" y="816"/>
                <a:ext cx="1968" cy="1440"/>
              </a:xfrm>
              <a:prstGeom prst="rect">
                <a:avLst/>
              </a:prstGeom>
              <a:noFill/>
              <a:ln w="9525">
                <a:solidFill>
                  <a:schemeClr val="tx1"/>
                </a:solidFill>
                <a:miter lim="800000"/>
                <a:headEnd/>
                <a:tailEnd/>
              </a:ln>
              <a:effectLst/>
            </p:spPr>
            <p:txBody>
              <a:bodyPr wrap="none" anchor="ctr"/>
              <a:lstStyle/>
              <a:p>
                <a:endParaRPr lang="en-US"/>
              </a:p>
            </p:txBody>
          </p:sp>
        </p:grpSp>
        <p:sp>
          <p:nvSpPr>
            <p:cNvPr id="5156" name="Text Box 36"/>
            <p:cNvSpPr txBox="1">
              <a:spLocks noChangeArrowheads="1"/>
            </p:cNvSpPr>
            <p:nvPr/>
          </p:nvSpPr>
          <p:spPr bwMode="auto">
            <a:xfrm>
              <a:off x="326" y="854"/>
              <a:ext cx="276" cy="288"/>
            </a:xfrm>
            <a:prstGeom prst="rect">
              <a:avLst/>
            </a:prstGeom>
            <a:noFill/>
            <a:ln w="9525">
              <a:noFill/>
              <a:miter lim="800000"/>
              <a:headEnd/>
              <a:tailEnd/>
            </a:ln>
            <a:effectLst/>
          </p:spPr>
          <p:txBody>
            <a:bodyPr wrap="none">
              <a:spAutoFit/>
            </a:bodyPr>
            <a:lstStyle/>
            <a:p>
              <a:r>
                <a:rPr lang="en-US" i="1"/>
                <a:t>d</a:t>
              </a:r>
              <a:r>
                <a:rPr lang="en-US" i="1" baseline="30000"/>
                <a:t>1</a:t>
              </a:r>
              <a:endParaRPr lang="en-US" i="1"/>
            </a:p>
          </p:txBody>
        </p:sp>
      </p:grpSp>
      <p:grpSp>
        <p:nvGrpSpPr>
          <p:cNvPr id="4" name="Group 44"/>
          <p:cNvGrpSpPr>
            <a:grpSpLocks/>
          </p:cNvGrpSpPr>
          <p:nvPr/>
        </p:nvGrpSpPr>
        <p:grpSpPr bwMode="auto">
          <a:xfrm>
            <a:off x="4800600" y="1066800"/>
            <a:ext cx="3714750" cy="2286000"/>
            <a:chOff x="3024" y="816"/>
            <a:chExt cx="2340" cy="1440"/>
          </a:xfrm>
        </p:grpSpPr>
        <p:pic>
          <p:nvPicPr>
            <p:cNvPr id="5127" name="Picture 7"/>
            <p:cNvPicPr>
              <a:picLocks noChangeAspect="1" noChangeArrowheads="1"/>
            </p:cNvPicPr>
            <p:nvPr/>
          </p:nvPicPr>
          <p:blipFill>
            <a:blip r:embed="rId3"/>
            <a:srcRect/>
            <a:stretch>
              <a:fillRect/>
            </a:stretch>
          </p:blipFill>
          <p:spPr bwMode="auto">
            <a:xfrm>
              <a:off x="3136" y="960"/>
              <a:ext cx="1760" cy="1056"/>
            </a:xfrm>
            <a:prstGeom prst="rect">
              <a:avLst/>
            </a:prstGeom>
            <a:noFill/>
            <a:ln w="9525">
              <a:noFill/>
              <a:miter lim="800000"/>
              <a:headEnd/>
              <a:tailEnd/>
            </a:ln>
            <a:effectLst/>
          </p:spPr>
        </p:pic>
        <p:sp>
          <p:nvSpPr>
            <p:cNvPr id="5128" name="Line 8"/>
            <p:cNvSpPr>
              <a:spLocks noChangeShapeType="1"/>
            </p:cNvSpPr>
            <p:nvPr/>
          </p:nvSpPr>
          <p:spPr bwMode="auto">
            <a:xfrm flipV="1">
              <a:off x="3264" y="1824"/>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29" name="Line 9"/>
            <p:cNvSpPr>
              <a:spLocks noChangeShapeType="1"/>
            </p:cNvSpPr>
            <p:nvPr/>
          </p:nvSpPr>
          <p:spPr bwMode="auto">
            <a:xfrm flipV="1">
              <a:off x="4240" y="1536"/>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31" name="Line 11"/>
            <p:cNvSpPr>
              <a:spLocks noChangeShapeType="1"/>
            </p:cNvSpPr>
            <p:nvPr/>
          </p:nvSpPr>
          <p:spPr bwMode="auto">
            <a:xfrm flipV="1">
              <a:off x="3552" y="1824"/>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32" name="Line 12"/>
            <p:cNvSpPr>
              <a:spLocks noChangeShapeType="1"/>
            </p:cNvSpPr>
            <p:nvPr/>
          </p:nvSpPr>
          <p:spPr bwMode="auto">
            <a:xfrm flipV="1">
              <a:off x="4512" y="1536"/>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34" name="Rectangle 14"/>
            <p:cNvSpPr>
              <a:spLocks noChangeArrowheads="1"/>
            </p:cNvSpPr>
            <p:nvPr/>
          </p:nvSpPr>
          <p:spPr bwMode="auto">
            <a:xfrm>
              <a:off x="3024" y="816"/>
              <a:ext cx="1968" cy="1440"/>
            </a:xfrm>
            <a:prstGeom prst="rect">
              <a:avLst/>
            </a:prstGeom>
            <a:noFill/>
            <a:ln w="9525">
              <a:solidFill>
                <a:schemeClr val="tx1"/>
              </a:solidFill>
              <a:miter lim="800000"/>
              <a:headEnd/>
              <a:tailEnd/>
            </a:ln>
            <a:effectLst/>
          </p:spPr>
          <p:txBody>
            <a:bodyPr wrap="none" anchor="ctr"/>
            <a:lstStyle/>
            <a:p>
              <a:endParaRPr lang="en-US"/>
            </a:p>
          </p:txBody>
        </p:sp>
        <p:sp>
          <p:nvSpPr>
            <p:cNvPr id="5157" name="Text Box 37"/>
            <p:cNvSpPr txBox="1">
              <a:spLocks noChangeArrowheads="1"/>
            </p:cNvSpPr>
            <p:nvPr/>
          </p:nvSpPr>
          <p:spPr bwMode="auto">
            <a:xfrm>
              <a:off x="5088" y="864"/>
              <a:ext cx="276" cy="288"/>
            </a:xfrm>
            <a:prstGeom prst="rect">
              <a:avLst/>
            </a:prstGeom>
            <a:noFill/>
            <a:ln w="9525">
              <a:noFill/>
              <a:miter lim="800000"/>
              <a:headEnd/>
              <a:tailEnd/>
            </a:ln>
            <a:effectLst/>
          </p:spPr>
          <p:txBody>
            <a:bodyPr wrap="none">
              <a:spAutoFit/>
            </a:bodyPr>
            <a:lstStyle/>
            <a:p>
              <a:r>
                <a:rPr lang="en-US" i="1"/>
                <a:t>d</a:t>
              </a:r>
              <a:r>
                <a:rPr lang="en-US" i="1" baseline="30000"/>
                <a:t>2</a:t>
              </a:r>
              <a:endParaRPr lang="en-US" i="1"/>
            </a:p>
          </p:txBody>
        </p:sp>
      </p:grpSp>
      <p:grpSp>
        <p:nvGrpSpPr>
          <p:cNvPr id="5" name="Group 45"/>
          <p:cNvGrpSpPr>
            <a:grpSpLocks/>
          </p:cNvGrpSpPr>
          <p:nvPr/>
        </p:nvGrpSpPr>
        <p:grpSpPr bwMode="auto">
          <a:xfrm>
            <a:off x="457200" y="4038600"/>
            <a:ext cx="3657600" cy="2286000"/>
            <a:chOff x="288" y="2544"/>
            <a:chExt cx="2304" cy="1440"/>
          </a:xfrm>
        </p:grpSpPr>
        <p:pic>
          <p:nvPicPr>
            <p:cNvPr id="5135" name="Picture 15"/>
            <p:cNvPicPr>
              <a:picLocks noChangeAspect="1" noChangeArrowheads="1"/>
            </p:cNvPicPr>
            <p:nvPr/>
          </p:nvPicPr>
          <p:blipFill>
            <a:blip r:embed="rId3"/>
            <a:srcRect/>
            <a:stretch>
              <a:fillRect/>
            </a:stretch>
          </p:blipFill>
          <p:spPr bwMode="auto">
            <a:xfrm>
              <a:off x="736" y="2688"/>
              <a:ext cx="1760" cy="1056"/>
            </a:xfrm>
            <a:prstGeom prst="rect">
              <a:avLst/>
            </a:prstGeom>
            <a:noFill/>
            <a:ln w="9525">
              <a:noFill/>
              <a:miter lim="800000"/>
              <a:headEnd/>
              <a:tailEnd/>
            </a:ln>
            <a:effectLst/>
          </p:spPr>
        </p:pic>
        <p:sp>
          <p:nvSpPr>
            <p:cNvPr id="5136" name="Line 16"/>
            <p:cNvSpPr>
              <a:spLocks noChangeShapeType="1"/>
            </p:cNvSpPr>
            <p:nvPr/>
          </p:nvSpPr>
          <p:spPr bwMode="auto">
            <a:xfrm flipV="1">
              <a:off x="864" y="3552"/>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37" name="Line 17"/>
            <p:cNvSpPr>
              <a:spLocks noChangeShapeType="1"/>
            </p:cNvSpPr>
            <p:nvPr/>
          </p:nvSpPr>
          <p:spPr bwMode="auto">
            <a:xfrm flipV="1">
              <a:off x="1840" y="3264"/>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38" name="Line 18"/>
            <p:cNvSpPr>
              <a:spLocks noChangeShapeType="1"/>
            </p:cNvSpPr>
            <p:nvPr/>
          </p:nvSpPr>
          <p:spPr bwMode="auto">
            <a:xfrm flipV="1">
              <a:off x="1152" y="3552"/>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39" name="Line 19"/>
            <p:cNvSpPr>
              <a:spLocks noChangeShapeType="1"/>
            </p:cNvSpPr>
            <p:nvPr/>
          </p:nvSpPr>
          <p:spPr bwMode="auto">
            <a:xfrm flipV="1">
              <a:off x="2112" y="3264"/>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40" name="Rectangle 20"/>
            <p:cNvSpPr>
              <a:spLocks noChangeArrowheads="1"/>
            </p:cNvSpPr>
            <p:nvPr/>
          </p:nvSpPr>
          <p:spPr bwMode="auto">
            <a:xfrm>
              <a:off x="624" y="2544"/>
              <a:ext cx="1968" cy="1440"/>
            </a:xfrm>
            <a:prstGeom prst="rect">
              <a:avLst/>
            </a:prstGeom>
            <a:noFill/>
            <a:ln w="9525">
              <a:solidFill>
                <a:schemeClr val="tx1"/>
              </a:solidFill>
              <a:miter lim="800000"/>
              <a:headEnd/>
              <a:tailEnd/>
            </a:ln>
            <a:effectLst/>
          </p:spPr>
          <p:txBody>
            <a:bodyPr wrap="none" anchor="ctr"/>
            <a:lstStyle/>
            <a:p>
              <a:endParaRPr lang="en-US"/>
            </a:p>
          </p:txBody>
        </p:sp>
        <p:sp>
          <p:nvSpPr>
            <p:cNvPr id="5148" name="Line 28"/>
            <p:cNvSpPr>
              <a:spLocks noChangeShapeType="1"/>
            </p:cNvSpPr>
            <p:nvPr/>
          </p:nvSpPr>
          <p:spPr bwMode="auto">
            <a:xfrm flipV="1">
              <a:off x="1344" y="3552"/>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49" name="Line 29"/>
            <p:cNvSpPr>
              <a:spLocks noChangeShapeType="1"/>
            </p:cNvSpPr>
            <p:nvPr/>
          </p:nvSpPr>
          <p:spPr bwMode="auto">
            <a:xfrm flipV="1">
              <a:off x="2352" y="3264"/>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58" name="Text Box 38"/>
            <p:cNvSpPr txBox="1">
              <a:spLocks noChangeArrowheads="1"/>
            </p:cNvSpPr>
            <p:nvPr/>
          </p:nvSpPr>
          <p:spPr bwMode="auto">
            <a:xfrm>
              <a:off x="288" y="2640"/>
              <a:ext cx="276" cy="288"/>
            </a:xfrm>
            <a:prstGeom prst="rect">
              <a:avLst/>
            </a:prstGeom>
            <a:noFill/>
            <a:ln w="9525">
              <a:noFill/>
              <a:miter lim="800000"/>
              <a:headEnd/>
              <a:tailEnd/>
            </a:ln>
            <a:effectLst/>
          </p:spPr>
          <p:txBody>
            <a:bodyPr wrap="none">
              <a:spAutoFit/>
            </a:bodyPr>
            <a:lstStyle/>
            <a:p>
              <a:r>
                <a:rPr lang="en-US" i="1"/>
                <a:t>d</a:t>
              </a:r>
              <a:r>
                <a:rPr lang="en-US" i="1" baseline="30000"/>
                <a:t>3</a:t>
              </a:r>
              <a:endParaRPr lang="en-US" i="1"/>
            </a:p>
          </p:txBody>
        </p:sp>
      </p:grpSp>
      <p:grpSp>
        <p:nvGrpSpPr>
          <p:cNvPr id="6" name="Group 47"/>
          <p:cNvGrpSpPr>
            <a:grpSpLocks/>
          </p:cNvGrpSpPr>
          <p:nvPr/>
        </p:nvGrpSpPr>
        <p:grpSpPr bwMode="auto">
          <a:xfrm>
            <a:off x="4775200" y="4024313"/>
            <a:ext cx="3733800" cy="2286000"/>
            <a:chOff x="3008" y="2535"/>
            <a:chExt cx="2352" cy="1440"/>
          </a:xfrm>
        </p:grpSpPr>
        <p:pic>
          <p:nvPicPr>
            <p:cNvPr id="5142" name="Picture 22"/>
            <p:cNvPicPr>
              <a:picLocks noChangeAspect="1" noChangeArrowheads="1"/>
            </p:cNvPicPr>
            <p:nvPr/>
          </p:nvPicPr>
          <p:blipFill>
            <a:blip r:embed="rId3"/>
            <a:srcRect/>
            <a:stretch>
              <a:fillRect/>
            </a:stretch>
          </p:blipFill>
          <p:spPr bwMode="auto">
            <a:xfrm>
              <a:off x="3120" y="2679"/>
              <a:ext cx="1760" cy="1056"/>
            </a:xfrm>
            <a:prstGeom prst="rect">
              <a:avLst/>
            </a:prstGeom>
            <a:noFill/>
            <a:ln w="9525">
              <a:noFill/>
              <a:miter lim="800000"/>
              <a:headEnd/>
              <a:tailEnd/>
            </a:ln>
            <a:effectLst/>
          </p:spPr>
        </p:pic>
        <p:sp>
          <p:nvSpPr>
            <p:cNvPr id="5143" name="Line 23"/>
            <p:cNvSpPr>
              <a:spLocks noChangeShapeType="1"/>
            </p:cNvSpPr>
            <p:nvPr/>
          </p:nvSpPr>
          <p:spPr bwMode="auto">
            <a:xfrm flipV="1">
              <a:off x="3312" y="3552"/>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44" name="Line 24"/>
            <p:cNvSpPr>
              <a:spLocks noChangeShapeType="1"/>
            </p:cNvSpPr>
            <p:nvPr/>
          </p:nvSpPr>
          <p:spPr bwMode="auto">
            <a:xfrm flipV="1">
              <a:off x="4224" y="3255"/>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45" name="Line 25"/>
            <p:cNvSpPr>
              <a:spLocks noChangeShapeType="1"/>
            </p:cNvSpPr>
            <p:nvPr/>
          </p:nvSpPr>
          <p:spPr bwMode="auto">
            <a:xfrm flipV="1">
              <a:off x="3536" y="3552"/>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46" name="Line 26"/>
            <p:cNvSpPr>
              <a:spLocks noChangeShapeType="1"/>
            </p:cNvSpPr>
            <p:nvPr/>
          </p:nvSpPr>
          <p:spPr bwMode="auto">
            <a:xfrm flipV="1">
              <a:off x="4496" y="3264"/>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47" name="Rectangle 27"/>
            <p:cNvSpPr>
              <a:spLocks noChangeArrowheads="1"/>
            </p:cNvSpPr>
            <p:nvPr/>
          </p:nvSpPr>
          <p:spPr bwMode="auto">
            <a:xfrm>
              <a:off x="3008" y="2535"/>
              <a:ext cx="1968" cy="1440"/>
            </a:xfrm>
            <a:prstGeom prst="rect">
              <a:avLst/>
            </a:prstGeom>
            <a:noFill/>
            <a:ln w="38100">
              <a:solidFill>
                <a:schemeClr val="hlink"/>
              </a:solidFill>
              <a:miter lim="800000"/>
              <a:headEnd/>
              <a:tailEnd/>
            </a:ln>
            <a:effectLst/>
          </p:spPr>
          <p:txBody>
            <a:bodyPr wrap="none" anchor="ctr"/>
            <a:lstStyle/>
            <a:p>
              <a:endParaRPr lang="en-US"/>
            </a:p>
          </p:txBody>
        </p:sp>
        <p:sp>
          <p:nvSpPr>
            <p:cNvPr id="5150" name="Line 30"/>
            <p:cNvSpPr>
              <a:spLocks noChangeShapeType="1"/>
            </p:cNvSpPr>
            <p:nvPr/>
          </p:nvSpPr>
          <p:spPr bwMode="auto">
            <a:xfrm flipV="1">
              <a:off x="3776" y="3552"/>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51" name="Line 31"/>
            <p:cNvSpPr>
              <a:spLocks noChangeShapeType="1"/>
            </p:cNvSpPr>
            <p:nvPr/>
          </p:nvSpPr>
          <p:spPr bwMode="auto">
            <a:xfrm flipV="1">
              <a:off x="4736" y="3264"/>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54" name="Line 34"/>
            <p:cNvSpPr>
              <a:spLocks noChangeShapeType="1"/>
            </p:cNvSpPr>
            <p:nvPr/>
          </p:nvSpPr>
          <p:spPr bwMode="auto">
            <a:xfrm flipV="1">
              <a:off x="4304" y="2871"/>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55" name="Line 35"/>
            <p:cNvSpPr>
              <a:spLocks noChangeShapeType="1"/>
            </p:cNvSpPr>
            <p:nvPr/>
          </p:nvSpPr>
          <p:spPr bwMode="auto">
            <a:xfrm>
              <a:off x="3216" y="3552"/>
              <a:ext cx="0"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5159" name="Text Box 39"/>
            <p:cNvSpPr txBox="1">
              <a:spLocks noChangeArrowheads="1"/>
            </p:cNvSpPr>
            <p:nvPr/>
          </p:nvSpPr>
          <p:spPr bwMode="auto">
            <a:xfrm>
              <a:off x="5084" y="2631"/>
              <a:ext cx="276" cy="288"/>
            </a:xfrm>
            <a:prstGeom prst="rect">
              <a:avLst/>
            </a:prstGeom>
            <a:noFill/>
            <a:ln w="9525">
              <a:noFill/>
              <a:miter lim="800000"/>
              <a:headEnd/>
              <a:tailEnd/>
            </a:ln>
            <a:effectLst/>
          </p:spPr>
          <p:txBody>
            <a:bodyPr wrap="none">
              <a:spAutoFit/>
            </a:bodyPr>
            <a:lstStyle/>
            <a:p>
              <a:r>
                <a:rPr lang="en-US" i="1"/>
                <a:t>d</a:t>
              </a:r>
              <a:r>
                <a:rPr lang="en-US" i="1" baseline="30000"/>
                <a:t>4</a:t>
              </a:r>
              <a:endParaRPr lang="en-US" i="1"/>
            </a:p>
          </p:txBody>
        </p:sp>
      </p:grpSp>
      <p:sp>
        <p:nvSpPr>
          <p:cNvPr id="5160" name="Text Box 40"/>
          <p:cNvSpPr txBox="1">
            <a:spLocks noChangeArrowheads="1"/>
          </p:cNvSpPr>
          <p:nvPr/>
        </p:nvSpPr>
        <p:spPr bwMode="auto">
          <a:xfrm>
            <a:off x="2209800" y="152400"/>
            <a:ext cx="4503738" cy="519113"/>
          </a:xfrm>
          <a:prstGeom prst="rect">
            <a:avLst/>
          </a:prstGeom>
          <a:noFill/>
          <a:ln w="9525">
            <a:noFill/>
            <a:miter lim="800000"/>
            <a:headEnd/>
            <a:tailEnd/>
          </a:ln>
          <a:effectLst/>
        </p:spPr>
        <p:txBody>
          <a:bodyPr wrap="none">
            <a:spAutoFit/>
          </a:bodyPr>
          <a:lstStyle/>
          <a:p>
            <a:r>
              <a:rPr lang="en-US" sz="2800" i="1">
                <a:solidFill>
                  <a:schemeClr val="accent2"/>
                </a:solidFill>
              </a:rPr>
              <a:t>Placing electrons in d orbitals</a:t>
            </a:r>
          </a:p>
        </p:txBody>
      </p:sp>
      <p:sp>
        <p:nvSpPr>
          <p:cNvPr id="5168" name="Text Box 48"/>
          <p:cNvSpPr txBox="1">
            <a:spLocks noChangeArrowheads="1"/>
          </p:cNvSpPr>
          <p:nvPr/>
        </p:nvSpPr>
        <p:spPr bwMode="auto">
          <a:xfrm>
            <a:off x="914400" y="609600"/>
            <a:ext cx="3505200" cy="457200"/>
          </a:xfrm>
          <a:prstGeom prst="rect">
            <a:avLst/>
          </a:prstGeom>
          <a:noFill/>
          <a:ln w="9525">
            <a:noFill/>
            <a:miter lim="800000"/>
            <a:headEnd/>
            <a:tailEnd/>
          </a:ln>
          <a:effectLst/>
        </p:spPr>
        <p:txBody>
          <a:bodyPr>
            <a:spAutoFit/>
          </a:bodyPr>
          <a:lstStyle/>
          <a:p>
            <a:pPr>
              <a:spcBef>
                <a:spcPct val="50000"/>
              </a:spcBef>
            </a:pPr>
            <a:r>
              <a:rPr lang="en-US"/>
              <a:t>Strong field      Weak field</a:t>
            </a:r>
          </a:p>
        </p:txBody>
      </p:sp>
      <p:sp>
        <p:nvSpPr>
          <p:cNvPr id="5169" name="Text Box 49"/>
          <p:cNvSpPr txBox="1">
            <a:spLocks noChangeArrowheads="1"/>
          </p:cNvSpPr>
          <p:nvPr/>
        </p:nvSpPr>
        <p:spPr bwMode="auto">
          <a:xfrm>
            <a:off x="4648200" y="685800"/>
            <a:ext cx="3505200" cy="457200"/>
          </a:xfrm>
          <a:prstGeom prst="rect">
            <a:avLst/>
          </a:prstGeom>
          <a:noFill/>
          <a:ln w="9525">
            <a:noFill/>
            <a:miter lim="800000"/>
            <a:headEnd/>
            <a:tailEnd/>
          </a:ln>
          <a:effectLst/>
        </p:spPr>
        <p:txBody>
          <a:bodyPr>
            <a:spAutoFit/>
          </a:bodyPr>
          <a:lstStyle/>
          <a:p>
            <a:pPr>
              <a:spcBef>
                <a:spcPct val="50000"/>
              </a:spcBef>
            </a:pPr>
            <a:r>
              <a:rPr lang="en-US"/>
              <a:t>Strong field      Weak field</a:t>
            </a:r>
          </a:p>
        </p:txBody>
      </p:sp>
    </p:spTree>
    <p:extLst>
      <p:ext uri="{BB962C8B-B14F-4D97-AF65-F5344CB8AC3E}">
        <p14:creationId xmlns:p14="http://schemas.microsoft.com/office/powerpoint/2010/main" val="133793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9" name="Picture 5"/>
          <p:cNvPicPr>
            <a:picLocks noChangeAspect="1" noChangeArrowheads="1"/>
          </p:cNvPicPr>
          <p:nvPr/>
        </p:nvPicPr>
        <p:blipFill>
          <a:blip r:embed="rId3"/>
          <a:srcRect/>
          <a:stretch>
            <a:fillRect/>
          </a:stretch>
        </p:blipFill>
        <p:spPr bwMode="auto">
          <a:xfrm>
            <a:off x="2616200" y="1882775"/>
            <a:ext cx="3990975" cy="2625725"/>
          </a:xfrm>
          <a:prstGeom prst="rect">
            <a:avLst/>
          </a:prstGeom>
          <a:noFill/>
          <a:ln w="9525">
            <a:noFill/>
            <a:miter lim="800000"/>
            <a:headEnd/>
            <a:tailEnd/>
          </a:ln>
          <a:effectLst/>
        </p:spPr>
      </p:pic>
      <p:sp>
        <p:nvSpPr>
          <p:cNvPr id="6150" name="Line 6"/>
          <p:cNvSpPr>
            <a:spLocks noChangeShapeType="1"/>
          </p:cNvSpPr>
          <p:nvPr/>
        </p:nvSpPr>
        <p:spPr bwMode="auto">
          <a:xfrm flipV="1">
            <a:off x="3014663" y="4030663"/>
            <a:ext cx="0" cy="715962"/>
          </a:xfrm>
          <a:prstGeom prst="line">
            <a:avLst/>
          </a:prstGeom>
          <a:noFill/>
          <a:ln w="9525">
            <a:solidFill>
              <a:schemeClr val="tx1"/>
            </a:solidFill>
            <a:round/>
            <a:headEnd/>
            <a:tailEnd type="triangle" w="med" len="med"/>
          </a:ln>
          <a:effectLst/>
        </p:spPr>
        <p:txBody>
          <a:bodyPr wrap="none" anchor="ctr"/>
          <a:lstStyle/>
          <a:p>
            <a:endParaRPr lang="en-US"/>
          </a:p>
        </p:txBody>
      </p:sp>
      <p:sp>
        <p:nvSpPr>
          <p:cNvPr id="6151" name="Line 7"/>
          <p:cNvSpPr>
            <a:spLocks noChangeShapeType="1"/>
          </p:cNvSpPr>
          <p:nvPr/>
        </p:nvSpPr>
        <p:spPr bwMode="auto">
          <a:xfrm flipV="1">
            <a:off x="5119688" y="3314700"/>
            <a:ext cx="0" cy="715963"/>
          </a:xfrm>
          <a:prstGeom prst="line">
            <a:avLst/>
          </a:prstGeom>
          <a:noFill/>
          <a:ln w="9525">
            <a:solidFill>
              <a:schemeClr val="tx1"/>
            </a:solidFill>
            <a:round/>
            <a:headEnd/>
            <a:tailEnd type="triangle" w="med" len="med"/>
          </a:ln>
          <a:effectLst/>
        </p:spPr>
        <p:txBody>
          <a:bodyPr wrap="none" anchor="ctr"/>
          <a:lstStyle/>
          <a:p>
            <a:endParaRPr lang="en-US"/>
          </a:p>
        </p:txBody>
      </p:sp>
      <p:sp>
        <p:nvSpPr>
          <p:cNvPr id="6152" name="Line 8"/>
          <p:cNvSpPr>
            <a:spLocks noChangeShapeType="1"/>
          </p:cNvSpPr>
          <p:nvPr/>
        </p:nvSpPr>
        <p:spPr bwMode="auto">
          <a:xfrm flipV="1">
            <a:off x="3559175" y="4030663"/>
            <a:ext cx="0" cy="715962"/>
          </a:xfrm>
          <a:prstGeom prst="line">
            <a:avLst/>
          </a:prstGeom>
          <a:noFill/>
          <a:ln w="9525">
            <a:solidFill>
              <a:schemeClr val="tx1"/>
            </a:solidFill>
            <a:round/>
            <a:headEnd/>
            <a:tailEnd type="triangle" w="med" len="med"/>
          </a:ln>
          <a:effectLst/>
        </p:spPr>
        <p:txBody>
          <a:bodyPr wrap="none" anchor="ctr"/>
          <a:lstStyle/>
          <a:p>
            <a:endParaRPr lang="en-US"/>
          </a:p>
        </p:txBody>
      </p:sp>
      <p:sp>
        <p:nvSpPr>
          <p:cNvPr id="6153" name="Line 9"/>
          <p:cNvSpPr>
            <a:spLocks noChangeShapeType="1"/>
          </p:cNvSpPr>
          <p:nvPr/>
        </p:nvSpPr>
        <p:spPr bwMode="auto">
          <a:xfrm flipV="1">
            <a:off x="5735638" y="3314700"/>
            <a:ext cx="0" cy="715963"/>
          </a:xfrm>
          <a:prstGeom prst="line">
            <a:avLst/>
          </a:prstGeom>
          <a:noFill/>
          <a:ln w="9525">
            <a:solidFill>
              <a:schemeClr val="tx1"/>
            </a:solidFill>
            <a:round/>
            <a:headEnd/>
            <a:tailEnd type="triangle" w="med" len="med"/>
          </a:ln>
          <a:effectLst/>
        </p:spPr>
        <p:txBody>
          <a:bodyPr wrap="none" anchor="ctr"/>
          <a:lstStyle/>
          <a:p>
            <a:endParaRPr lang="en-US"/>
          </a:p>
        </p:txBody>
      </p:sp>
      <p:sp>
        <p:nvSpPr>
          <p:cNvPr id="6154" name="Rectangle 10"/>
          <p:cNvSpPr>
            <a:spLocks noChangeArrowheads="1"/>
          </p:cNvSpPr>
          <p:nvPr/>
        </p:nvSpPr>
        <p:spPr bwMode="auto">
          <a:xfrm>
            <a:off x="2362200" y="1524000"/>
            <a:ext cx="4462463" cy="3581400"/>
          </a:xfrm>
          <a:prstGeom prst="rect">
            <a:avLst/>
          </a:prstGeom>
          <a:noFill/>
          <a:ln w="38100">
            <a:solidFill>
              <a:schemeClr val="hlink"/>
            </a:solidFill>
            <a:miter lim="800000"/>
            <a:headEnd/>
            <a:tailEnd/>
          </a:ln>
          <a:effectLst/>
        </p:spPr>
        <p:txBody>
          <a:bodyPr wrap="none" anchor="ctr"/>
          <a:lstStyle/>
          <a:p>
            <a:endParaRPr lang="en-US"/>
          </a:p>
        </p:txBody>
      </p:sp>
      <p:sp>
        <p:nvSpPr>
          <p:cNvPr id="6155" name="Line 11"/>
          <p:cNvSpPr>
            <a:spLocks noChangeShapeType="1"/>
          </p:cNvSpPr>
          <p:nvPr/>
        </p:nvSpPr>
        <p:spPr bwMode="auto">
          <a:xfrm flipV="1">
            <a:off x="4103688" y="4030663"/>
            <a:ext cx="0" cy="715962"/>
          </a:xfrm>
          <a:prstGeom prst="line">
            <a:avLst/>
          </a:prstGeom>
          <a:noFill/>
          <a:ln w="9525">
            <a:solidFill>
              <a:schemeClr val="tx1"/>
            </a:solidFill>
            <a:round/>
            <a:headEnd/>
            <a:tailEnd type="triangle" w="med" len="med"/>
          </a:ln>
          <a:effectLst/>
        </p:spPr>
        <p:txBody>
          <a:bodyPr wrap="none" anchor="ctr"/>
          <a:lstStyle/>
          <a:p>
            <a:endParaRPr lang="en-US"/>
          </a:p>
        </p:txBody>
      </p:sp>
      <p:sp>
        <p:nvSpPr>
          <p:cNvPr id="6156" name="Line 12"/>
          <p:cNvSpPr>
            <a:spLocks noChangeShapeType="1"/>
          </p:cNvSpPr>
          <p:nvPr/>
        </p:nvSpPr>
        <p:spPr bwMode="auto">
          <a:xfrm flipV="1">
            <a:off x="6280150" y="3314700"/>
            <a:ext cx="0" cy="715963"/>
          </a:xfrm>
          <a:prstGeom prst="line">
            <a:avLst/>
          </a:prstGeom>
          <a:noFill/>
          <a:ln w="9525">
            <a:solidFill>
              <a:schemeClr val="tx1"/>
            </a:solidFill>
            <a:round/>
            <a:headEnd/>
            <a:tailEnd type="triangle" w="med" len="med"/>
          </a:ln>
          <a:effectLst/>
        </p:spPr>
        <p:txBody>
          <a:bodyPr wrap="none" anchor="ctr"/>
          <a:lstStyle/>
          <a:p>
            <a:endParaRPr lang="en-US"/>
          </a:p>
        </p:txBody>
      </p:sp>
      <p:sp>
        <p:nvSpPr>
          <p:cNvPr id="6157" name="Line 13"/>
          <p:cNvSpPr>
            <a:spLocks noChangeShapeType="1"/>
          </p:cNvSpPr>
          <p:nvPr/>
        </p:nvSpPr>
        <p:spPr bwMode="auto">
          <a:xfrm flipV="1">
            <a:off x="5300663" y="2359025"/>
            <a:ext cx="0" cy="717550"/>
          </a:xfrm>
          <a:prstGeom prst="line">
            <a:avLst/>
          </a:prstGeom>
          <a:noFill/>
          <a:ln w="9525">
            <a:solidFill>
              <a:schemeClr val="tx1"/>
            </a:solidFill>
            <a:round/>
            <a:headEnd/>
            <a:tailEnd type="triangle" w="med" len="med"/>
          </a:ln>
          <a:effectLst/>
        </p:spPr>
        <p:txBody>
          <a:bodyPr wrap="none" anchor="ctr"/>
          <a:lstStyle/>
          <a:p>
            <a:endParaRPr lang="en-US"/>
          </a:p>
        </p:txBody>
      </p:sp>
      <p:sp>
        <p:nvSpPr>
          <p:cNvPr id="6158" name="Line 14"/>
          <p:cNvSpPr>
            <a:spLocks noChangeShapeType="1"/>
          </p:cNvSpPr>
          <p:nvPr/>
        </p:nvSpPr>
        <p:spPr bwMode="auto">
          <a:xfrm>
            <a:off x="2797175" y="4030663"/>
            <a:ext cx="0" cy="715962"/>
          </a:xfrm>
          <a:prstGeom prst="line">
            <a:avLst/>
          </a:prstGeom>
          <a:noFill/>
          <a:ln w="9525">
            <a:solidFill>
              <a:schemeClr val="tx1"/>
            </a:solidFill>
            <a:round/>
            <a:headEnd/>
            <a:tailEnd type="triangle" w="med" len="med"/>
          </a:ln>
          <a:effectLst/>
        </p:spPr>
        <p:txBody>
          <a:bodyPr wrap="none" anchor="ctr"/>
          <a:lstStyle/>
          <a:p>
            <a:endParaRPr lang="en-US"/>
          </a:p>
        </p:txBody>
      </p:sp>
      <p:sp>
        <p:nvSpPr>
          <p:cNvPr id="6159" name="Text Box 15"/>
          <p:cNvSpPr txBox="1">
            <a:spLocks noChangeArrowheads="1"/>
          </p:cNvSpPr>
          <p:nvPr/>
        </p:nvSpPr>
        <p:spPr bwMode="auto">
          <a:xfrm>
            <a:off x="7069138" y="1762125"/>
            <a:ext cx="438150" cy="457200"/>
          </a:xfrm>
          <a:prstGeom prst="rect">
            <a:avLst/>
          </a:prstGeom>
          <a:noFill/>
          <a:ln w="9525">
            <a:noFill/>
            <a:miter lim="800000"/>
            <a:headEnd/>
            <a:tailEnd/>
          </a:ln>
          <a:effectLst/>
        </p:spPr>
        <p:txBody>
          <a:bodyPr wrap="none">
            <a:spAutoFit/>
          </a:bodyPr>
          <a:lstStyle/>
          <a:p>
            <a:r>
              <a:rPr lang="en-US" i="1"/>
              <a:t>d</a:t>
            </a:r>
            <a:r>
              <a:rPr lang="en-US" i="1" baseline="30000"/>
              <a:t>4</a:t>
            </a:r>
            <a:endParaRPr lang="en-US" i="1"/>
          </a:p>
        </p:txBody>
      </p:sp>
      <p:sp>
        <p:nvSpPr>
          <p:cNvPr id="6160" name="Text Box 16"/>
          <p:cNvSpPr txBox="1">
            <a:spLocks noChangeArrowheads="1"/>
          </p:cNvSpPr>
          <p:nvPr/>
        </p:nvSpPr>
        <p:spPr bwMode="auto">
          <a:xfrm>
            <a:off x="304800" y="2819400"/>
            <a:ext cx="1887538" cy="1196975"/>
          </a:xfrm>
          <a:prstGeom prst="rect">
            <a:avLst/>
          </a:prstGeom>
          <a:noFill/>
          <a:ln w="9525">
            <a:solidFill>
              <a:schemeClr val="tx1"/>
            </a:solidFill>
            <a:miter lim="800000"/>
            <a:headEnd/>
            <a:tailEnd/>
          </a:ln>
          <a:effectLst/>
        </p:spPr>
        <p:txBody>
          <a:bodyPr wrap="none">
            <a:spAutoFit/>
          </a:bodyPr>
          <a:lstStyle/>
          <a:p>
            <a:pPr algn="ctr"/>
            <a:r>
              <a:rPr lang="en-US"/>
              <a:t>Strong field =</a:t>
            </a:r>
          </a:p>
          <a:p>
            <a:pPr algn="ctr"/>
            <a:r>
              <a:rPr lang="en-US"/>
              <a:t>Low spin</a:t>
            </a:r>
          </a:p>
          <a:p>
            <a:pPr algn="ctr"/>
            <a:r>
              <a:rPr lang="en-US"/>
              <a:t>(2 unpaired)</a:t>
            </a:r>
          </a:p>
        </p:txBody>
      </p:sp>
      <p:sp>
        <p:nvSpPr>
          <p:cNvPr id="6163" name="Text Box 19"/>
          <p:cNvSpPr txBox="1">
            <a:spLocks noChangeArrowheads="1"/>
          </p:cNvSpPr>
          <p:nvPr/>
        </p:nvSpPr>
        <p:spPr bwMode="auto">
          <a:xfrm>
            <a:off x="7086600" y="2841625"/>
            <a:ext cx="1784350" cy="1196975"/>
          </a:xfrm>
          <a:prstGeom prst="rect">
            <a:avLst/>
          </a:prstGeom>
          <a:noFill/>
          <a:ln w="9525">
            <a:solidFill>
              <a:schemeClr val="tx1"/>
            </a:solidFill>
            <a:miter lim="800000"/>
            <a:headEnd/>
            <a:tailEnd/>
          </a:ln>
          <a:effectLst/>
        </p:spPr>
        <p:txBody>
          <a:bodyPr wrap="none">
            <a:spAutoFit/>
          </a:bodyPr>
          <a:lstStyle/>
          <a:p>
            <a:pPr algn="ctr"/>
            <a:r>
              <a:rPr lang="en-US"/>
              <a:t>Weak field =</a:t>
            </a:r>
          </a:p>
          <a:p>
            <a:pPr algn="ctr"/>
            <a:r>
              <a:rPr lang="en-US"/>
              <a:t>High spin</a:t>
            </a:r>
          </a:p>
          <a:p>
            <a:pPr algn="ctr"/>
            <a:r>
              <a:rPr lang="en-US"/>
              <a:t>(4 unpaired)</a:t>
            </a:r>
          </a:p>
        </p:txBody>
      </p:sp>
      <p:sp>
        <p:nvSpPr>
          <p:cNvPr id="6164" name="Text Box 20"/>
          <p:cNvSpPr txBox="1">
            <a:spLocks noChangeArrowheads="1"/>
          </p:cNvSpPr>
          <p:nvPr/>
        </p:nvSpPr>
        <p:spPr bwMode="auto">
          <a:xfrm>
            <a:off x="2819400" y="5257800"/>
            <a:ext cx="1295400" cy="457200"/>
          </a:xfrm>
          <a:prstGeom prst="rect">
            <a:avLst/>
          </a:prstGeom>
          <a:noFill/>
          <a:ln w="9525">
            <a:noFill/>
            <a:miter lim="800000"/>
            <a:headEnd/>
            <a:tailEnd/>
          </a:ln>
          <a:effectLst/>
        </p:spPr>
        <p:txBody>
          <a:bodyPr>
            <a:spAutoFit/>
          </a:bodyPr>
          <a:lstStyle/>
          <a:p>
            <a:pPr>
              <a:spcBef>
                <a:spcPct val="50000"/>
              </a:spcBef>
            </a:pPr>
            <a:r>
              <a:rPr lang="en-US">
                <a:latin typeface="Symbol" pitchFamily="18" charset="2"/>
              </a:rPr>
              <a:t>P</a:t>
            </a:r>
            <a:r>
              <a:rPr lang="en-US">
                <a:latin typeface="Times New Roman" pitchFamily="18" charset="0"/>
              </a:rPr>
              <a:t> &lt; </a:t>
            </a:r>
            <a:r>
              <a:rPr lang="en-US">
                <a:latin typeface="Symbol" pitchFamily="18" charset="2"/>
              </a:rPr>
              <a:t>D</a:t>
            </a:r>
            <a:r>
              <a:rPr lang="en-US" baseline="-25000">
                <a:latin typeface="Times New Roman" pitchFamily="18" charset="0"/>
              </a:rPr>
              <a:t>o</a:t>
            </a:r>
            <a:r>
              <a:rPr lang="en-US"/>
              <a:t> </a:t>
            </a:r>
          </a:p>
        </p:txBody>
      </p:sp>
      <p:sp>
        <p:nvSpPr>
          <p:cNvPr id="6165" name="Text Box 21"/>
          <p:cNvSpPr txBox="1">
            <a:spLocks noChangeArrowheads="1"/>
          </p:cNvSpPr>
          <p:nvPr/>
        </p:nvSpPr>
        <p:spPr bwMode="auto">
          <a:xfrm>
            <a:off x="5181600" y="5257800"/>
            <a:ext cx="1295400" cy="457200"/>
          </a:xfrm>
          <a:prstGeom prst="rect">
            <a:avLst/>
          </a:prstGeom>
          <a:noFill/>
          <a:ln w="9525">
            <a:noFill/>
            <a:miter lim="800000"/>
            <a:headEnd/>
            <a:tailEnd/>
          </a:ln>
          <a:effectLst/>
        </p:spPr>
        <p:txBody>
          <a:bodyPr>
            <a:spAutoFit/>
          </a:bodyPr>
          <a:lstStyle/>
          <a:p>
            <a:pPr>
              <a:spcBef>
                <a:spcPct val="50000"/>
              </a:spcBef>
            </a:pPr>
            <a:r>
              <a:rPr lang="en-US">
                <a:latin typeface="Symbol" pitchFamily="18" charset="2"/>
              </a:rPr>
              <a:t>P</a:t>
            </a:r>
            <a:r>
              <a:rPr lang="en-US">
                <a:latin typeface="Times New Roman" pitchFamily="18" charset="0"/>
              </a:rPr>
              <a:t> &gt; </a:t>
            </a:r>
            <a:r>
              <a:rPr lang="en-US">
                <a:latin typeface="Symbol" pitchFamily="18" charset="2"/>
              </a:rPr>
              <a:t>D</a:t>
            </a:r>
            <a:r>
              <a:rPr lang="en-US" baseline="-25000">
                <a:latin typeface="Times New Roman" pitchFamily="18" charset="0"/>
              </a:rPr>
              <a:t>o</a:t>
            </a:r>
            <a:r>
              <a:rPr lang="en-US"/>
              <a:t> </a:t>
            </a:r>
          </a:p>
        </p:txBody>
      </p:sp>
      <p:sp>
        <p:nvSpPr>
          <p:cNvPr id="6167" name="Text Box 23"/>
          <p:cNvSpPr txBox="1">
            <a:spLocks noChangeArrowheads="1"/>
          </p:cNvSpPr>
          <p:nvPr/>
        </p:nvSpPr>
        <p:spPr bwMode="auto">
          <a:xfrm>
            <a:off x="304800" y="228600"/>
            <a:ext cx="8534400" cy="1187450"/>
          </a:xfrm>
          <a:prstGeom prst="rect">
            <a:avLst/>
          </a:prstGeom>
          <a:noFill/>
          <a:ln w="9525">
            <a:noFill/>
            <a:miter lim="800000"/>
            <a:headEnd/>
            <a:tailEnd/>
          </a:ln>
          <a:effectLst/>
        </p:spPr>
        <p:txBody>
          <a:bodyPr>
            <a:spAutoFit/>
          </a:bodyPr>
          <a:lstStyle/>
          <a:p>
            <a:pPr>
              <a:spcBef>
                <a:spcPct val="50000"/>
              </a:spcBef>
            </a:pPr>
            <a:r>
              <a:rPr lang="en-US"/>
              <a:t>When the 4</a:t>
            </a:r>
            <a:r>
              <a:rPr lang="en-US" baseline="30000"/>
              <a:t>th</a:t>
            </a:r>
            <a:r>
              <a:rPr lang="en-US"/>
              <a:t> electron is assigned it will either go into the higher energy e</a:t>
            </a:r>
            <a:r>
              <a:rPr lang="en-US" baseline="-25000"/>
              <a:t>g</a:t>
            </a:r>
            <a:r>
              <a:rPr lang="en-US"/>
              <a:t> orbital at an energy cost of </a:t>
            </a:r>
            <a:r>
              <a:rPr lang="en-US">
                <a:latin typeface="Symbol" pitchFamily="18" charset="2"/>
              </a:rPr>
              <a:t>D</a:t>
            </a:r>
            <a:r>
              <a:rPr lang="en-US" baseline="-25000"/>
              <a:t>0 </a:t>
            </a:r>
            <a:r>
              <a:rPr lang="en-US"/>
              <a:t> or be paired at an energy cost of </a:t>
            </a:r>
            <a:r>
              <a:rPr lang="en-US">
                <a:latin typeface="Symbol" pitchFamily="18" charset="2"/>
              </a:rPr>
              <a:t>P</a:t>
            </a:r>
            <a:r>
              <a:rPr lang="en-US"/>
              <a:t>, the pairing energy.</a:t>
            </a:r>
          </a:p>
        </p:txBody>
      </p:sp>
      <p:sp>
        <p:nvSpPr>
          <p:cNvPr id="6168" name="Text Box 24"/>
          <p:cNvSpPr txBox="1">
            <a:spLocks noChangeArrowheads="1"/>
          </p:cNvSpPr>
          <p:nvPr/>
        </p:nvSpPr>
        <p:spPr bwMode="auto">
          <a:xfrm>
            <a:off x="304800" y="5715000"/>
            <a:ext cx="8763000" cy="822325"/>
          </a:xfrm>
          <a:prstGeom prst="rect">
            <a:avLst/>
          </a:prstGeom>
          <a:noFill/>
          <a:ln w="9525">
            <a:noFill/>
            <a:miter lim="800000"/>
            <a:headEnd/>
            <a:tailEnd/>
          </a:ln>
          <a:effectLst/>
        </p:spPr>
        <p:txBody>
          <a:bodyPr>
            <a:spAutoFit/>
          </a:bodyPr>
          <a:lstStyle/>
          <a:p>
            <a:pPr>
              <a:spcBef>
                <a:spcPct val="50000"/>
              </a:spcBef>
            </a:pPr>
            <a:r>
              <a:rPr lang="en-US"/>
              <a:t>Notes: the pairing energy, P, is made up of two parts. 1) Coulombic repulsion energy caused by having two electrons in same orbital</a:t>
            </a:r>
          </a:p>
        </p:txBody>
      </p:sp>
    </p:spTree>
    <p:extLst>
      <p:ext uri="{BB962C8B-B14F-4D97-AF65-F5344CB8AC3E}">
        <p14:creationId xmlns:p14="http://schemas.microsoft.com/office/powerpoint/2010/main" val="428836153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Pairing Energy, </a:t>
            </a:r>
            <a:r>
              <a:rPr lang="en-US">
                <a:latin typeface="Symbol" pitchFamily="18" charset="2"/>
              </a:rPr>
              <a:t>P</a:t>
            </a:r>
          </a:p>
        </p:txBody>
      </p:sp>
      <p:sp>
        <p:nvSpPr>
          <p:cNvPr id="94212" name="Text Box 4"/>
          <p:cNvSpPr txBox="1">
            <a:spLocks noChangeArrowheads="1"/>
          </p:cNvSpPr>
          <p:nvPr/>
        </p:nvSpPr>
        <p:spPr bwMode="auto">
          <a:xfrm>
            <a:off x="152400" y="1752600"/>
            <a:ext cx="8763000" cy="4108450"/>
          </a:xfrm>
          <a:prstGeom prst="rect">
            <a:avLst/>
          </a:prstGeom>
          <a:noFill/>
          <a:ln w="9525">
            <a:noFill/>
            <a:miter lim="800000"/>
            <a:headEnd/>
            <a:tailEnd/>
          </a:ln>
          <a:effectLst/>
        </p:spPr>
        <p:txBody>
          <a:bodyPr>
            <a:spAutoFit/>
          </a:bodyPr>
          <a:lstStyle/>
          <a:p>
            <a:pPr marL="457200" indent="-457200">
              <a:spcBef>
                <a:spcPct val="50000"/>
              </a:spcBef>
            </a:pPr>
            <a:r>
              <a:rPr lang="en-US"/>
              <a:t>The pairing energy, </a:t>
            </a:r>
            <a:r>
              <a:rPr lang="en-US">
                <a:latin typeface="Symbol" pitchFamily="18" charset="2"/>
              </a:rPr>
              <a:t>P</a:t>
            </a:r>
            <a:r>
              <a:rPr lang="en-US"/>
              <a:t>, is made up of two parts. </a:t>
            </a:r>
          </a:p>
          <a:p>
            <a:pPr marL="457200" indent="-457200">
              <a:spcBef>
                <a:spcPct val="50000"/>
              </a:spcBef>
              <a:buFontTx/>
              <a:buAutoNum type="arabicParenR"/>
            </a:pPr>
            <a:r>
              <a:rPr lang="en-US"/>
              <a:t>Coulombic repulsion energy caused by having two electrons in same orbital.  Destabilizing energy contribution of </a:t>
            </a:r>
            <a:r>
              <a:rPr lang="en-US">
                <a:latin typeface="Symbol" pitchFamily="18" charset="2"/>
              </a:rPr>
              <a:t>P</a:t>
            </a:r>
            <a:r>
              <a:rPr lang="en-US" baseline="-25000"/>
              <a:t>c</a:t>
            </a:r>
            <a:r>
              <a:rPr lang="en-US"/>
              <a:t> for each doubly occupied orbital.</a:t>
            </a:r>
          </a:p>
          <a:p>
            <a:pPr marL="457200" indent="-457200">
              <a:spcBef>
                <a:spcPct val="50000"/>
              </a:spcBef>
              <a:buFontTx/>
              <a:buAutoNum type="arabicParenR"/>
            </a:pPr>
            <a:r>
              <a:rPr lang="en-US"/>
              <a:t>Exchange stabilizing energy for each pair of electrons having the same spin and same energy.  Stabilizing contribution of </a:t>
            </a:r>
            <a:r>
              <a:rPr lang="en-US">
                <a:latin typeface="Symbol" pitchFamily="18" charset="2"/>
              </a:rPr>
              <a:t>P</a:t>
            </a:r>
            <a:r>
              <a:rPr lang="en-US" baseline="-25000"/>
              <a:t>e</a:t>
            </a:r>
            <a:r>
              <a:rPr lang="en-US"/>
              <a:t> for each pair having same spin and same energy</a:t>
            </a:r>
          </a:p>
          <a:p>
            <a:pPr marL="457200" indent="-457200">
              <a:spcBef>
                <a:spcPct val="50000"/>
              </a:spcBef>
            </a:pPr>
            <a:r>
              <a:rPr lang="en-US"/>
              <a:t>    </a:t>
            </a:r>
          </a:p>
          <a:p>
            <a:pPr marL="457200" indent="-457200" algn="ctr">
              <a:spcBef>
                <a:spcPct val="50000"/>
              </a:spcBef>
            </a:pPr>
            <a:r>
              <a:rPr lang="en-US">
                <a:latin typeface="Symbol" pitchFamily="18" charset="2"/>
              </a:rPr>
              <a:t>P</a:t>
            </a:r>
            <a:r>
              <a:rPr lang="en-US"/>
              <a:t> = sum of all </a:t>
            </a:r>
            <a:r>
              <a:rPr lang="en-US">
                <a:latin typeface="Symbol" pitchFamily="18" charset="2"/>
              </a:rPr>
              <a:t>P</a:t>
            </a:r>
            <a:r>
              <a:rPr lang="en-US" baseline="-25000"/>
              <a:t>c</a:t>
            </a:r>
            <a:r>
              <a:rPr lang="en-US"/>
              <a:t> and </a:t>
            </a:r>
            <a:r>
              <a:rPr lang="en-US">
                <a:latin typeface="Symbol" pitchFamily="18" charset="2"/>
              </a:rPr>
              <a:t>P</a:t>
            </a:r>
            <a:r>
              <a:rPr lang="en-US" baseline="-25000"/>
              <a:t>e</a:t>
            </a:r>
            <a:r>
              <a:rPr lang="en-US"/>
              <a:t> interactions</a:t>
            </a:r>
          </a:p>
        </p:txBody>
      </p:sp>
    </p:spTree>
    <p:extLst>
      <p:ext uri="{BB962C8B-B14F-4D97-AF65-F5344CB8AC3E}">
        <p14:creationId xmlns:p14="http://schemas.microsoft.com/office/powerpoint/2010/main" val="404358531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9" name="Text Box 151"/>
          <p:cNvSpPr txBox="1">
            <a:spLocks noChangeArrowheads="1"/>
          </p:cNvSpPr>
          <p:nvPr/>
        </p:nvSpPr>
        <p:spPr bwMode="auto">
          <a:xfrm>
            <a:off x="2586038" y="274638"/>
            <a:ext cx="3890962" cy="457200"/>
          </a:xfrm>
          <a:prstGeom prst="rect">
            <a:avLst/>
          </a:prstGeom>
          <a:noFill/>
          <a:ln w="9525">
            <a:noFill/>
            <a:miter lim="800000"/>
            <a:headEnd/>
            <a:tailEnd/>
          </a:ln>
          <a:effectLst/>
        </p:spPr>
        <p:txBody>
          <a:bodyPr wrap="none">
            <a:spAutoFit/>
          </a:bodyPr>
          <a:lstStyle/>
          <a:p>
            <a:r>
              <a:rPr lang="en-US" i="1">
                <a:solidFill>
                  <a:schemeClr val="accent2"/>
                </a:solidFill>
              </a:rPr>
              <a:t>Placing electrons in d orbitals</a:t>
            </a:r>
          </a:p>
        </p:txBody>
      </p:sp>
      <p:grpSp>
        <p:nvGrpSpPr>
          <p:cNvPr id="2" name="Group 153"/>
          <p:cNvGrpSpPr>
            <a:grpSpLocks/>
          </p:cNvGrpSpPr>
          <p:nvPr/>
        </p:nvGrpSpPr>
        <p:grpSpPr bwMode="auto">
          <a:xfrm>
            <a:off x="304800" y="1066800"/>
            <a:ext cx="2667000" cy="2362200"/>
            <a:chOff x="192" y="672"/>
            <a:chExt cx="1680" cy="1488"/>
          </a:xfrm>
        </p:grpSpPr>
        <p:grpSp>
          <p:nvGrpSpPr>
            <p:cNvPr id="3" name="Group 145"/>
            <p:cNvGrpSpPr>
              <a:grpSpLocks/>
            </p:cNvGrpSpPr>
            <p:nvPr/>
          </p:nvGrpSpPr>
          <p:grpSpPr bwMode="auto">
            <a:xfrm>
              <a:off x="192" y="672"/>
              <a:ext cx="1680" cy="1488"/>
              <a:chOff x="192" y="672"/>
              <a:chExt cx="1680" cy="1488"/>
            </a:xfrm>
          </p:grpSpPr>
          <p:sp>
            <p:nvSpPr>
              <p:cNvPr id="7175" name="Line 7"/>
              <p:cNvSpPr>
                <a:spLocks noChangeShapeType="1"/>
              </p:cNvSpPr>
              <p:nvPr/>
            </p:nvSpPr>
            <p:spPr bwMode="auto">
              <a:xfrm>
                <a:off x="384"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76" name="Line 8"/>
              <p:cNvSpPr>
                <a:spLocks noChangeShapeType="1"/>
              </p:cNvSpPr>
              <p:nvPr/>
            </p:nvSpPr>
            <p:spPr bwMode="auto">
              <a:xfrm>
                <a:off x="624"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77" name="Line 9"/>
              <p:cNvSpPr>
                <a:spLocks noChangeShapeType="1"/>
              </p:cNvSpPr>
              <p:nvPr/>
            </p:nvSpPr>
            <p:spPr bwMode="auto">
              <a:xfrm flipV="1">
                <a:off x="336"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78" name="Line 10"/>
              <p:cNvSpPr>
                <a:spLocks noChangeShapeType="1"/>
              </p:cNvSpPr>
              <p:nvPr/>
            </p:nvSpPr>
            <p:spPr bwMode="auto">
              <a:xfrm flipV="1">
                <a:off x="576"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79" name="Line 11"/>
              <p:cNvSpPr>
                <a:spLocks noChangeShapeType="1"/>
              </p:cNvSpPr>
              <p:nvPr/>
            </p:nvSpPr>
            <p:spPr bwMode="auto">
              <a:xfrm flipV="1">
                <a:off x="816"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0" name="Line 12"/>
              <p:cNvSpPr>
                <a:spLocks noChangeShapeType="1"/>
              </p:cNvSpPr>
              <p:nvPr/>
            </p:nvSpPr>
            <p:spPr bwMode="auto">
              <a:xfrm flipV="1">
                <a:off x="1200"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1" name="Line 13"/>
              <p:cNvSpPr>
                <a:spLocks noChangeShapeType="1"/>
              </p:cNvSpPr>
              <p:nvPr/>
            </p:nvSpPr>
            <p:spPr bwMode="auto">
              <a:xfrm flipV="1">
                <a:off x="1440"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2" name="Line 14"/>
              <p:cNvSpPr>
                <a:spLocks noChangeShapeType="1"/>
              </p:cNvSpPr>
              <p:nvPr/>
            </p:nvSpPr>
            <p:spPr bwMode="auto">
              <a:xfrm flipV="1">
                <a:off x="1680"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3" name="Line 15"/>
              <p:cNvSpPr>
                <a:spLocks noChangeShapeType="1"/>
              </p:cNvSpPr>
              <p:nvPr/>
            </p:nvSpPr>
            <p:spPr bwMode="auto">
              <a:xfrm flipV="1">
                <a:off x="1248"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4" name="Line 16"/>
              <p:cNvSpPr>
                <a:spLocks noChangeShapeType="1"/>
              </p:cNvSpPr>
              <p:nvPr/>
            </p:nvSpPr>
            <p:spPr bwMode="auto">
              <a:xfrm flipV="1">
                <a:off x="1584"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70" name="Text Box 102"/>
              <p:cNvSpPr txBox="1">
                <a:spLocks noChangeArrowheads="1"/>
              </p:cNvSpPr>
              <p:nvPr/>
            </p:nvSpPr>
            <p:spPr bwMode="auto">
              <a:xfrm>
                <a:off x="384" y="1910"/>
                <a:ext cx="467" cy="250"/>
              </a:xfrm>
              <a:prstGeom prst="rect">
                <a:avLst/>
              </a:prstGeom>
              <a:noFill/>
              <a:ln w="9525">
                <a:noFill/>
                <a:miter lim="800000"/>
                <a:headEnd/>
                <a:tailEnd/>
              </a:ln>
              <a:effectLst/>
            </p:spPr>
            <p:txBody>
              <a:bodyPr wrap="none">
                <a:spAutoFit/>
              </a:bodyPr>
              <a:lstStyle/>
              <a:p>
                <a:r>
                  <a:rPr lang="en-US" sz="2000"/>
                  <a:t>1 u.e.</a:t>
                </a:r>
              </a:p>
            </p:txBody>
          </p:sp>
          <p:grpSp>
            <p:nvGrpSpPr>
              <p:cNvPr id="4" name="Group 106"/>
              <p:cNvGrpSpPr>
                <a:grpSpLocks/>
              </p:cNvGrpSpPr>
              <p:nvPr/>
            </p:nvGrpSpPr>
            <p:grpSpPr bwMode="auto">
              <a:xfrm>
                <a:off x="192" y="720"/>
                <a:ext cx="1680" cy="1200"/>
                <a:chOff x="240" y="720"/>
                <a:chExt cx="1680" cy="1200"/>
              </a:xfrm>
            </p:grpSpPr>
            <p:pic>
              <p:nvPicPr>
                <p:cNvPr id="7275" name="Picture 107"/>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76" name="Rectangle 108"/>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80" name="Rectangle 112"/>
              <p:cNvSpPr>
                <a:spLocks noChangeArrowheads="1"/>
              </p:cNvSpPr>
              <p:nvPr/>
            </p:nvSpPr>
            <p:spPr bwMode="auto">
              <a:xfrm>
                <a:off x="192" y="672"/>
                <a:ext cx="1680" cy="1488"/>
              </a:xfrm>
              <a:prstGeom prst="rect">
                <a:avLst/>
              </a:prstGeom>
              <a:noFill/>
              <a:ln w="38100">
                <a:solidFill>
                  <a:schemeClr val="hlink"/>
                </a:solidFill>
                <a:miter lim="800000"/>
                <a:headEnd/>
                <a:tailEnd/>
              </a:ln>
              <a:effectLst/>
            </p:spPr>
            <p:txBody>
              <a:bodyPr wrap="none" anchor="ctr"/>
              <a:lstStyle/>
              <a:p>
                <a:endParaRPr lang="en-US"/>
              </a:p>
            </p:txBody>
          </p:sp>
          <p:sp>
            <p:nvSpPr>
              <p:cNvPr id="7292" name="Text Box 124"/>
              <p:cNvSpPr txBox="1">
                <a:spLocks noChangeArrowheads="1"/>
              </p:cNvSpPr>
              <p:nvPr/>
            </p:nvSpPr>
            <p:spPr bwMode="auto">
              <a:xfrm>
                <a:off x="1213" y="1910"/>
                <a:ext cx="467" cy="250"/>
              </a:xfrm>
              <a:prstGeom prst="rect">
                <a:avLst/>
              </a:prstGeom>
              <a:noFill/>
              <a:ln w="9525">
                <a:noFill/>
                <a:miter lim="800000"/>
                <a:headEnd/>
                <a:tailEnd/>
              </a:ln>
              <a:effectLst/>
            </p:spPr>
            <p:txBody>
              <a:bodyPr wrap="none">
                <a:spAutoFit/>
              </a:bodyPr>
              <a:lstStyle/>
              <a:p>
                <a:r>
                  <a:rPr lang="en-US" sz="2000"/>
                  <a:t>5 u.e.</a:t>
                </a:r>
              </a:p>
            </p:txBody>
          </p:sp>
        </p:grpSp>
        <p:sp>
          <p:nvSpPr>
            <p:cNvPr id="7320" name="Text Box 152"/>
            <p:cNvSpPr txBox="1">
              <a:spLocks noChangeArrowheads="1"/>
            </p:cNvSpPr>
            <p:nvPr/>
          </p:nvSpPr>
          <p:spPr bwMode="auto">
            <a:xfrm>
              <a:off x="1584" y="672"/>
              <a:ext cx="276" cy="288"/>
            </a:xfrm>
            <a:prstGeom prst="rect">
              <a:avLst/>
            </a:prstGeom>
            <a:noFill/>
            <a:ln w="9525">
              <a:noFill/>
              <a:miter lim="800000"/>
              <a:headEnd/>
              <a:tailEnd/>
            </a:ln>
            <a:effectLst/>
          </p:spPr>
          <p:txBody>
            <a:bodyPr wrap="none">
              <a:spAutoFit/>
            </a:bodyPr>
            <a:lstStyle/>
            <a:p>
              <a:r>
                <a:rPr lang="en-US" i="1"/>
                <a:t>d</a:t>
              </a:r>
              <a:r>
                <a:rPr lang="en-US" i="1" baseline="30000"/>
                <a:t>5</a:t>
              </a:r>
              <a:endParaRPr lang="en-US" i="1"/>
            </a:p>
          </p:txBody>
        </p:sp>
      </p:grpSp>
      <p:grpSp>
        <p:nvGrpSpPr>
          <p:cNvPr id="5" name="Group 155"/>
          <p:cNvGrpSpPr>
            <a:grpSpLocks/>
          </p:cNvGrpSpPr>
          <p:nvPr/>
        </p:nvGrpSpPr>
        <p:grpSpPr bwMode="auto">
          <a:xfrm>
            <a:off x="3276600" y="1066800"/>
            <a:ext cx="2667000" cy="2378075"/>
            <a:chOff x="2064" y="672"/>
            <a:chExt cx="1680" cy="1498"/>
          </a:xfrm>
        </p:grpSpPr>
        <p:grpSp>
          <p:nvGrpSpPr>
            <p:cNvPr id="6" name="Group 146"/>
            <p:cNvGrpSpPr>
              <a:grpSpLocks/>
            </p:cNvGrpSpPr>
            <p:nvPr/>
          </p:nvGrpSpPr>
          <p:grpSpPr bwMode="auto">
            <a:xfrm>
              <a:off x="2064" y="672"/>
              <a:ext cx="1680" cy="1498"/>
              <a:chOff x="2064" y="672"/>
              <a:chExt cx="1680" cy="1498"/>
            </a:xfrm>
          </p:grpSpPr>
          <p:sp>
            <p:nvSpPr>
              <p:cNvPr id="7188" name="Line 20"/>
              <p:cNvSpPr>
                <a:spLocks noChangeShapeType="1"/>
              </p:cNvSpPr>
              <p:nvPr/>
            </p:nvSpPr>
            <p:spPr bwMode="auto">
              <a:xfrm>
                <a:off x="2256"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9" name="Line 21"/>
              <p:cNvSpPr>
                <a:spLocks noChangeShapeType="1"/>
              </p:cNvSpPr>
              <p:nvPr/>
            </p:nvSpPr>
            <p:spPr bwMode="auto">
              <a:xfrm>
                <a:off x="2496"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0" name="Line 22"/>
              <p:cNvSpPr>
                <a:spLocks noChangeShapeType="1"/>
              </p:cNvSpPr>
              <p:nvPr/>
            </p:nvSpPr>
            <p:spPr bwMode="auto">
              <a:xfrm flipV="1">
                <a:off x="2208"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1" name="Line 23"/>
              <p:cNvSpPr>
                <a:spLocks noChangeShapeType="1"/>
              </p:cNvSpPr>
              <p:nvPr/>
            </p:nvSpPr>
            <p:spPr bwMode="auto">
              <a:xfrm flipV="1">
                <a:off x="2448"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2" name="Line 24"/>
              <p:cNvSpPr>
                <a:spLocks noChangeShapeType="1"/>
              </p:cNvSpPr>
              <p:nvPr/>
            </p:nvSpPr>
            <p:spPr bwMode="auto">
              <a:xfrm flipV="1">
                <a:off x="2688"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3" name="Line 25"/>
              <p:cNvSpPr>
                <a:spLocks noChangeShapeType="1"/>
              </p:cNvSpPr>
              <p:nvPr/>
            </p:nvSpPr>
            <p:spPr bwMode="auto">
              <a:xfrm flipV="1">
                <a:off x="3072"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4" name="Line 26"/>
              <p:cNvSpPr>
                <a:spLocks noChangeShapeType="1"/>
              </p:cNvSpPr>
              <p:nvPr/>
            </p:nvSpPr>
            <p:spPr bwMode="auto">
              <a:xfrm flipV="1">
                <a:off x="3312"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5" name="Line 27"/>
              <p:cNvSpPr>
                <a:spLocks noChangeShapeType="1"/>
              </p:cNvSpPr>
              <p:nvPr/>
            </p:nvSpPr>
            <p:spPr bwMode="auto">
              <a:xfrm flipV="1">
                <a:off x="3552"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6" name="Line 28"/>
              <p:cNvSpPr>
                <a:spLocks noChangeShapeType="1"/>
              </p:cNvSpPr>
              <p:nvPr/>
            </p:nvSpPr>
            <p:spPr bwMode="auto">
              <a:xfrm flipV="1">
                <a:off x="3120"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7" name="Line 29"/>
              <p:cNvSpPr>
                <a:spLocks noChangeShapeType="1"/>
              </p:cNvSpPr>
              <p:nvPr/>
            </p:nvSpPr>
            <p:spPr bwMode="auto">
              <a:xfrm flipV="1">
                <a:off x="3456"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1" name="Line 43"/>
              <p:cNvSpPr>
                <a:spLocks noChangeShapeType="1"/>
              </p:cNvSpPr>
              <p:nvPr/>
            </p:nvSpPr>
            <p:spPr bwMode="auto">
              <a:xfrm>
                <a:off x="2640"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2" name="Line 44"/>
              <p:cNvSpPr>
                <a:spLocks noChangeShapeType="1"/>
              </p:cNvSpPr>
              <p:nvPr/>
            </p:nvSpPr>
            <p:spPr bwMode="auto">
              <a:xfrm>
                <a:off x="3024" y="1344"/>
                <a:ext cx="0" cy="240"/>
              </a:xfrm>
              <a:prstGeom prst="line">
                <a:avLst/>
              </a:prstGeom>
              <a:noFill/>
              <a:ln w="9525">
                <a:solidFill>
                  <a:schemeClr val="tx1"/>
                </a:solidFill>
                <a:round/>
                <a:headEnd/>
                <a:tailEnd type="triangle" w="med" len="med"/>
              </a:ln>
              <a:effectLst/>
            </p:spPr>
            <p:txBody>
              <a:bodyPr wrap="none" anchor="ctr"/>
              <a:lstStyle/>
              <a:p>
                <a:endParaRPr lang="en-US"/>
              </a:p>
            </p:txBody>
          </p:sp>
          <p:grpSp>
            <p:nvGrpSpPr>
              <p:cNvPr id="7" name="Group 109"/>
              <p:cNvGrpSpPr>
                <a:grpSpLocks/>
              </p:cNvGrpSpPr>
              <p:nvPr/>
            </p:nvGrpSpPr>
            <p:grpSpPr bwMode="auto">
              <a:xfrm>
                <a:off x="2064" y="720"/>
                <a:ext cx="1680" cy="1200"/>
                <a:chOff x="240" y="720"/>
                <a:chExt cx="1680" cy="1200"/>
              </a:xfrm>
            </p:grpSpPr>
            <p:pic>
              <p:nvPicPr>
                <p:cNvPr id="7278" name="Picture 110"/>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79" name="Rectangle 111"/>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81" name="Rectangle 113"/>
              <p:cNvSpPr>
                <a:spLocks noChangeArrowheads="1"/>
              </p:cNvSpPr>
              <p:nvPr/>
            </p:nvSpPr>
            <p:spPr bwMode="auto">
              <a:xfrm>
                <a:off x="2064" y="672"/>
                <a:ext cx="1680" cy="1488"/>
              </a:xfrm>
              <a:prstGeom prst="rect">
                <a:avLst/>
              </a:prstGeom>
              <a:noFill/>
              <a:ln w="38100">
                <a:solidFill>
                  <a:schemeClr val="hlink"/>
                </a:solidFill>
                <a:miter lim="800000"/>
                <a:headEnd/>
                <a:tailEnd/>
              </a:ln>
              <a:effectLst/>
            </p:spPr>
            <p:txBody>
              <a:bodyPr wrap="none" anchor="ctr"/>
              <a:lstStyle/>
              <a:p>
                <a:endParaRPr lang="en-US"/>
              </a:p>
            </p:txBody>
          </p:sp>
          <p:sp>
            <p:nvSpPr>
              <p:cNvPr id="7293" name="Text Box 125"/>
              <p:cNvSpPr txBox="1">
                <a:spLocks noChangeArrowheads="1"/>
              </p:cNvSpPr>
              <p:nvPr/>
            </p:nvSpPr>
            <p:spPr bwMode="auto">
              <a:xfrm>
                <a:off x="2221" y="1920"/>
                <a:ext cx="467" cy="250"/>
              </a:xfrm>
              <a:prstGeom prst="rect">
                <a:avLst/>
              </a:prstGeom>
              <a:noFill/>
              <a:ln w="9525">
                <a:noFill/>
                <a:miter lim="800000"/>
                <a:headEnd/>
                <a:tailEnd/>
              </a:ln>
              <a:effectLst/>
            </p:spPr>
            <p:txBody>
              <a:bodyPr wrap="none">
                <a:spAutoFit/>
              </a:bodyPr>
              <a:lstStyle/>
              <a:p>
                <a:r>
                  <a:rPr lang="en-US" sz="2000"/>
                  <a:t>0 u.e.</a:t>
                </a:r>
              </a:p>
            </p:txBody>
          </p:sp>
          <p:sp>
            <p:nvSpPr>
              <p:cNvPr id="7294" name="Text Box 126"/>
              <p:cNvSpPr txBox="1">
                <a:spLocks noChangeArrowheads="1"/>
              </p:cNvSpPr>
              <p:nvPr/>
            </p:nvSpPr>
            <p:spPr bwMode="auto">
              <a:xfrm>
                <a:off x="3072" y="1920"/>
                <a:ext cx="467" cy="250"/>
              </a:xfrm>
              <a:prstGeom prst="rect">
                <a:avLst/>
              </a:prstGeom>
              <a:noFill/>
              <a:ln w="9525">
                <a:noFill/>
                <a:miter lim="800000"/>
                <a:headEnd/>
                <a:tailEnd/>
              </a:ln>
              <a:effectLst/>
            </p:spPr>
            <p:txBody>
              <a:bodyPr wrap="none">
                <a:spAutoFit/>
              </a:bodyPr>
              <a:lstStyle/>
              <a:p>
                <a:r>
                  <a:rPr lang="en-US" sz="2000"/>
                  <a:t>4 u.e.</a:t>
                </a:r>
              </a:p>
            </p:txBody>
          </p:sp>
        </p:grpSp>
        <p:sp>
          <p:nvSpPr>
            <p:cNvPr id="7322" name="Text Box 154"/>
            <p:cNvSpPr txBox="1">
              <a:spLocks noChangeArrowheads="1"/>
            </p:cNvSpPr>
            <p:nvPr/>
          </p:nvSpPr>
          <p:spPr bwMode="auto">
            <a:xfrm>
              <a:off x="3456" y="672"/>
              <a:ext cx="276" cy="288"/>
            </a:xfrm>
            <a:prstGeom prst="rect">
              <a:avLst/>
            </a:prstGeom>
            <a:noFill/>
            <a:ln w="9525">
              <a:noFill/>
              <a:miter lim="800000"/>
              <a:headEnd/>
              <a:tailEnd/>
            </a:ln>
            <a:effectLst/>
          </p:spPr>
          <p:txBody>
            <a:bodyPr wrap="none">
              <a:spAutoFit/>
            </a:bodyPr>
            <a:lstStyle/>
            <a:p>
              <a:r>
                <a:rPr lang="en-US" i="1"/>
                <a:t>d</a:t>
              </a:r>
              <a:r>
                <a:rPr lang="en-US" i="1" baseline="30000"/>
                <a:t>6</a:t>
              </a:r>
              <a:endParaRPr lang="en-US" i="1"/>
            </a:p>
          </p:txBody>
        </p:sp>
      </p:grpSp>
      <p:grpSp>
        <p:nvGrpSpPr>
          <p:cNvPr id="8" name="Group 157"/>
          <p:cNvGrpSpPr>
            <a:grpSpLocks/>
          </p:cNvGrpSpPr>
          <p:nvPr/>
        </p:nvGrpSpPr>
        <p:grpSpPr bwMode="auto">
          <a:xfrm>
            <a:off x="6172200" y="1066800"/>
            <a:ext cx="2743200" cy="2378075"/>
            <a:chOff x="3888" y="672"/>
            <a:chExt cx="1728" cy="1498"/>
          </a:xfrm>
        </p:grpSpPr>
        <p:grpSp>
          <p:nvGrpSpPr>
            <p:cNvPr id="9" name="Group 147"/>
            <p:cNvGrpSpPr>
              <a:grpSpLocks/>
            </p:cNvGrpSpPr>
            <p:nvPr/>
          </p:nvGrpSpPr>
          <p:grpSpPr bwMode="auto">
            <a:xfrm>
              <a:off x="3888" y="672"/>
              <a:ext cx="1728" cy="1498"/>
              <a:chOff x="3888" y="672"/>
              <a:chExt cx="1728" cy="1498"/>
            </a:xfrm>
          </p:grpSpPr>
          <p:sp>
            <p:nvSpPr>
              <p:cNvPr id="7201" name="Line 33"/>
              <p:cNvSpPr>
                <a:spLocks noChangeShapeType="1"/>
              </p:cNvSpPr>
              <p:nvPr/>
            </p:nvSpPr>
            <p:spPr bwMode="auto">
              <a:xfrm>
                <a:off x="4080"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2" name="Line 34"/>
              <p:cNvSpPr>
                <a:spLocks noChangeShapeType="1"/>
              </p:cNvSpPr>
              <p:nvPr/>
            </p:nvSpPr>
            <p:spPr bwMode="auto">
              <a:xfrm>
                <a:off x="4320"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3" name="Line 35"/>
              <p:cNvSpPr>
                <a:spLocks noChangeShapeType="1"/>
              </p:cNvSpPr>
              <p:nvPr/>
            </p:nvSpPr>
            <p:spPr bwMode="auto">
              <a:xfrm flipV="1">
                <a:off x="4032"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4" name="Line 36"/>
              <p:cNvSpPr>
                <a:spLocks noChangeShapeType="1"/>
              </p:cNvSpPr>
              <p:nvPr/>
            </p:nvSpPr>
            <p:spPr bwMode="auto">
              <a:xfrm flipV="1">
                <a:off x="4272"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5" name="Line 37"/>
              <p:cNvSpPr>
                <a:spLocks noChangeShapeType="1"/>
              </p:cNvSpPr>
              <p:nvPr/>
            </p:nvSpPr>
            <p:spPr bwMode="auto">
              <a:xfrm flipV="1">
                <a:off x="4512"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6" name="Line 38"/>
              <p:cNvSpPr>
                <a:spLocks noChangeShapeType="1"/>
              </p:cNvSpPr>
              <p:nvPr/>
            </p:nvSpPr>
            <p:spPr bwMode="auto">
              <a:xfrm flipV="1">
                <a:off x="4896"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7" name="Line 39"/>
              <p:cNvSpPr>
                <a:spLocks noChangeShapeType="1"/>
              </p:cNvSpPr>
              <p:nvPr/>
            </p:nvSpPr>
            <p:spPr bwMode="auto">
              <a:xfrm flipV="1">
                <a:off x="5184"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8" name="Line 40"/>
              <p:cNvSpPr>
                <a:spLocks noChangeShapeType="1"/>
              </p:cNvSpPr>
              <p:nvPr/>
            </p:nvSpPr>
            <p:spPr bwMode="auto">
              <a:xfrm flipV="1">
                <a:off x="5376"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9" name="Line 41"/>
              <p:cNvSpPr>
                <a:spLocks noChangeShapeType="1"/>
              </p:cNvSpPr>
              <p:nvPr/>
            </p:nvSpPr>
            <p:spPr bwMode="auto">
              <a:xfrm flipV="1">
                <a:off x="4944"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0" name="Line 42"/>
              <p:cNvSpPr>
                <a:spLocks noChangeShapeType="1"/>
              </p:cNvSpPr>
              <p:nvPr/>
            </p:nvSpPr>
            <p:spPr bwMode="auto">
              <a:xfrm flipV="1">
                <a:off x="5280"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3" name="Line 45"/>
              <p:cNvSpPr>
                <a:spLocks noChangeShapeType="1"/>
              </p:cNvSpPr>
              <p:nvPr/>
            </p:nvSpPr>
            <p:spPr bwMode="auto">
              <a:xfrm>
                <a:off x="4464"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4" name="Line 46"/>
              <p:cNvSpPr>
                <a:spLocks noChangeShapeType="1"/>
              </p:cNvSpPr>
              <p:nvPr/>
            </p:nvSpPr>
            <p:spPr bwMode="auto">
              <a:xfrm>
                <a:off x="4848"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5" name="Line 47"/>
              <p:cNvSpPr>
                <a:spLocks noChangeShapeType="1"/>
              </p:cNvSpPr>
              <p:nvPr/>
            </p:nvSpPr>
            <p:spPr bwMode="auto">
              <a:xfrm>
                <a:off x="5136"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6" name="Line 48"/>
              <p:cNvSpPr>
                <a:spLocks noChangeShapeType="1"/>
              </p:cNvSpPr>
              <p:nvPr/>
            </p:nvSpPr>
            <p:spPr bwMode="auto">
              <a:xfrm flipV="1">
                <a:off x="4080" y="76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82" name="Rectangle 114"/>
              <p:cNvSpPr>
                <a:spLocks noChangeArrowheads="1"/>
              </p:cNvSpPr>
              <p:nvPr/>
            </p:nvSpPr>
            <p:spPr bwMode="auto">
              <a:xfrm>
                <a:off x="3936" y="672"/>
                <a:ext cx="1680" cy="1488"/>
              </a:xfrm>
              <a:prstGeom prst="rect">
                <a:avLst/>
              </a:prstGeom>
              <a:noFill/>
              <a:ln w="38100">
                <a:solidFill>
                  <a:schemeClr val="hlink"/>
                </a:solidFill>
                <a:miter lim="800000"/>
                <a:headEnd/>
                <a:tailEnd/>
              </a:ln>
              <a:effectLst/>
            </p:spPr>
            <p:txBody>
              <a:bodyPr wrap="none" anchor="ctr"/>
              <a:lstStyle/>
              <a:p>
                <a:endParaRPr lang="en-US"/>
              </a:p>
            </p:txBody>
          </p:sp>
          <p:grpSp>
            <p:nvGrpSpPr>
              <p:cNvPr id="10" name="Group 115"/>
              <p:cNvGrpSpPr>
                <a:grpSpLocks/>
              </p:cNvGrpSpPr>
              <p:nvPr/>
            </p:nvGrpSpPr>
            <p:grpSpPr bwMode="auto">
              <a:xfrm>
                <a:off x="3888" y="720"/>
                <a:ext cx="1680" cy="1200"/>
                <a:chOff x="240" y="720"/>
                <a:chExt cx="1680" cy="1200"/>
              </a:xfrm>
            </p:grpSpPr>
            <p:pic>
              <p:nvPicPr>
                <p:cNvPr id="7284" name="Picture 116"/>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85" name="Rectangle 117"/>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95" name="Text Box 127"/>
              <p:cNvSpPr txBox="1">
                <a:spLocks noChangeArrowheads="1"/>
              </p:cNvSpPr>
              <p:nvPr/>
            </p:nvSpPr>
            <p:spPr bwMode="auto">
              <a:xfrm>
                <a:off x="4032" y="1920"/>
                <a:ext cx="467" cy="250"/>
              </a:xfrm>
              <a:prstGeom prst="rect">
                <a:avLst/>
              </a:prstGeom>
              <a:noFill/>
              <a:ln w="9525">
                <a:noFill/>
                <a:miter lim="800000"/>
                <a:headEnd/>
                <a:tailEnd/>
              </a:ln>
              <a:effectLst/>
            </p:spPr>
            <p:txBody>
              <a:bodyPr wrap="none">
                <a:spAutoFit/>
              </a:bodyPr>
              <a:lstStyle/>
              <a:p>
                <a:r>
                  <a:rPr lang="en-US" sz="2000"/>
                  <a:t>1 u.e.</a:t>
                </a:r>
              </a:p>
            </p:txBody>
          </p:sp>
          <p:sp>
            <p:nvSpPr>
              <p:cNvPr id="7296" name="Text Box 128"/>
              <p:cNvSpPr txBox="1">
                <a:spLocks noChangeArrowheads="1"/>
              </p:cNvSpPr>
              <p:nvPr/>
            </p:nvSpPr>
            <p:spPr bwMode="auto">
              <a:xfrm>
                <a:off x="4944" y="1920"/>
                <a:ext cx="467" cy="250"/>
              </a:xfrm>
              <a:prstGeom prst="rect">
                <a:avLst/>
              </a:prstGeom>
              <a:noFill/>
              <a:ln w="9525">
                <a:noFill/>
                <a:miter lim="800000"/>
                <a:headEnd/>
                <a:tailEnd/>
              </a:ln>
              <a:effectLst/>
            </p:spPr>
            <p:txBody>
              <a:bodyPr wrap="none">
                <a:spAutoFit/>
              </a:bodyPr>
              <a:lstStyle/>
              <a:p>
                <a:r>
                  <a:rPr lang="en-US" sz="2000"/>
                  <a:t>3 u.e.</a:t>
                </a:r>
              </a:p>
            </p:txBody>
          </p:sp>
        </p:grpSp>
        <p:sp>
          <p:nvSpPr>
            <p:cNvPr id="7324" name="Text Box 156"/>
            <p:cNvSpPr txBox="1">
              <a:spLocks noChangeArrowheads="1"/>
            </p:cNvSpPr>
            <p:nvPr/>
          </p:nvSpPr>
          <p:spPr bwMode="auto">
            <a:xfrm>
              <a:off x="5328" y="672"/>
              <a:ext cx="276" cy="288"/>
            </a:xfrm>
            <a:prstGeom prst="rect">
              <a:avLst/>
            </a:prstGeom>
            <a:noFill/>
            <a:ln w="9525">
              <a:noFill/>
              <a:miter lim="800000"/>
              <a:headEnd/>
              <a:tailEnd/>
            </a:ln>
            <a:effectLst/>
          </p:spPr>
          <p:txBody>
            <a:bodyPr wrap="none">
              <a:spAutoFit/>
            </a:bodyPr>
            <a:lstStyle/>
            <a:p>
              <a:r>
                <a:rPr lang="en-US" i="1"/>
                <a:t>d</a:t>
              </a:r>
              <a:r>
                <a:rPr lang="en-US" i="1" baseline="30000"/>
                <a:t>7</a:t>
              </a:r>
              <a:endParaRPr lang="en-US" i="1"/>
            </a:p>
          </p:txBody>
        </p:sp>
      </p:grpSp>
      <p:grpSp>
        <p:nvGrpSpPr>
          <p:cNvPr id="11" name="Group 159"/>
          <p:cNvGrpSpPr>
            <a:grpSpLocks/>
          </p:cNvGrpSpPr>
          <p:nvPr/>
        </p:nvGrpSpPr>
        <p:grpSpPr bwMode="auto">
          <a:xfrm>
            <a:off x="304800" y="3886200"/>
            <a:ext cx="2819400" cy="2378075"/>
            <a:chOff x="192" y="2448"/>
            <a:chExt cx="1776" cy="1498"/>
          </a:xfrm>
        </p:grpSpPr>
        <p:grpSp>
          <p:nvGrpSpPr>
            <p:cNvPr id="12" name="Group 148"/>
            <p:cNvGrpSpPr>
              <a:grpSpLocks/>
            </p:cNvGrpSpPr>
            <p:nvPr/>
          </p:nvGrpSpPr>
          <p:grpSpPr bwMode="auto">
            <a:xfrm>
              <a:off x="192" y="2448"/>
              <a:ext cx="1776" cy="1498"/>
              <a:chOff x="192" y="2448"/>
              <a:chExt cx="1776" cy="1498"/>
            </a:xfrm>
          </p:grpSpPr>
          <p:grpSp>
            <p:nvGrpSpPr>
              <p:cNvPr id="13" name="Group 49"/>
              <p:cNvGrpSpPr>
                <a:grpSpLocks/>
              </p:cNvGrpSpPr>
              <p:nvPr/>
            </p:nvGrpSpPr>
            <p:grpSpPr bwMode="auto">
              <a:xfrm>
                <a:off x="288" y="2448"/>
                <a:ext cx="1680" cy="1200"/>
                <a:chOff x="240" y="720"/>
                <a:chExt cx="1680" cy="1200"/>
              </a:xfrm>
            </p:grpSpPr>
            <p:pic>
              <p:nvPicPr>
                <p:cNvPr id="7218" name="Picture 50"/>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19" name="Rectangle 51"/>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20" name="Line 52"/>
              <p:cNvSpPr>
                <a:spLocks noChangeShapeType="1"/>
              </p:cNvSpPr>
              <p:nvPr/>
            </p:nvSpPr>
            <p:spPr bwMode="auto">
              <a:xfrm>
                <a:off x="480"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1" name="Line 53"/>
              <p:cNvSpPr>
                <a:spLocks noChangeShapeType="1"/>
              </p:cNvSpPr>
              <p:nvPr/>
            </p:nvSpPr>
            <p:spPr bwMode="auto">
              <a:xfrm>
                <a:off x="720"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2" name="Line 54"/>
              <p:cNvSpPr>
                <a:spLocks noChangeShapeType="1"/>
              </p:cNvSpPr>
              <p:nvPr/>
            </p:nvSpPr>
            <p:spPr bwMode="auto">
              <a:xfrm flipV="1">
                <a:off x="43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3" name="Line 55"/>
              <p:cNvSpPr>
                <a:spLocks noChangeShapeType="1"/>
              </p:cNvSpPr>
              <p:nvPr/>
            </p:nvSpPr>
            <p:spPr bwMode="auto">
              <a:xfrm flipV="1">
                <a:off x="67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4" name="Line 56"/>
              <p:cNvSpPr>
                <a:spLocks noChangeShapeType="1"/>
              </p:cNvSpPr>
              <p:nvPr/>
            </p:nvSpPr>
            <p:spPr bwMode="auto">
              <a:xfrm flipV="1">
                <a:off x="91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5" name="Line 57"/>
              <p:cNvSpPr>
                <a:spLocks noChangeShapeType="1"/>
              </p:cNvSpPr>
              <p:nvPr/>
            </p:nvSpPr>
            <p:spPr bwMode="auto">
              <a:xfrm flipV="1">
                <a:off x="129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6" name="Line 58"/>
              <p:cNvSpPr>
                <a:spLocks noChangeShapeType="1"/>
              </p:cNvSpPr>
              <p:nvPr/>
            </p:nvSpPr>
            <p:spPr bwMode="auto">
              <a:xfrm flipV="1">
                <a:off x="1584"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7" name="Line 59"/>
              <p:cNvSpPr>
                <a:spLocks noChangeShapeType="1"/>
              </p:cNvSpPr>
              <p:nvPr/>
            </p:nvSpPr>
            <p:spPr bwMode="auto">
              <a:xfrm flipV="1">
                <a:off x="177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8" name="Line 60"/>
              <p:cNvSpPr>
                <a:spLocks noChangeShapeType="1"/>
              </p:cNvSpPr>
              <p:nvPr/>
            </p:nvSpPr>
            <p:spPr bwMode="auto">
              <a:xfrm flipV="1">
                <a:off x="1392"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9" name="Line 61"/>
              <p:cNvSpPr>
                <a:spLocks noChangeShapeType="1"/>
              </p:cNvSpPr>
              <p:nvPr/>
            </p:nvSpPr>
            <p:spPr bwMode="auto">
              <a:xfrm flipV="1">
                <a:off x="1680"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0" name="Line 62"/>
              <p:cNvSpPr>
                <a:spLocks noChangeShapeType="1"/>
              </p:cNvSpPr>
              <p:nvPr/>
            </p:nvSpPr>
            <p:spPr bwMode="auto">
              <a:xfrm>
                <a:off x="864"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1" name="Line 63"/>
              <p:cNvSpPr>
                <a:spLocks noChangeShapeType="1"/>
              </p:cNvSpPr>
              <p:nvPr/>
            </p:nvSpPr>
            <p:spPr bwMode="auto">
              <a:xfrm>
                <a:off x="1248"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2" name="Line 64"/>
              <p:cNvSpPr>
                <a:spLocks noChangeShapeType="1"/>
              </p:cNvSpPr>
              <p:nvPr/>
            </p:nvSpPr>
            <p:spPr bwMode="auto">
              <a:xfrm>
                <a:off x="153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3" name="Line 65"/>
              <p:cNvSpPr>
                <a:spLocks noChangeShapeType="1"/>
              </p:cNvSpPr>
              <p:nvPr/>
            </p:nvSpPr>
            <p:spPr bwMode="auto">
              <a:xfrm flipV="1">
                <a:off x="480"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8" name="Line 100"/>
              <p:cNvSpPr>
                <a:spLocks noChangeShapeType="1"/>
              </p:cNvSpPr>
              <p:nvPr/>
            </p:nvSpPr>
            <p:spPr bwMode="auto">
              <a:xfrm flipV="1">
                <a:off x="816"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9" name="Line 101"/>
              <p:cNvSpPr>
                <a:spLocks noChangeShapeType="1"/>
              </p:cNvSpPr>
              <p:nvPr/>
            </p:nvSpPr>
            <p:spPr bwMode="auto">
              <a:xfrm>
                <a:off x="1728"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89" name="Rectangle 121"/>
              <p:cNvSpPr>
                <a:spLocks noChangeArrowheads="1"/>
              </p:cNvSpPr>
              <p:nvPr/>
            </p:nvSpPr>
            <p:spPr bwMode="auto">
              <a:xfrm>
                <a:off x="192" y="2448"/>
                <a:ext cx="1680" cy="1488"/>
              </a:xfrm>
              <a:prstGeom prst="rect">
                <a:avLst/>
              </a:prstGeom>
              <a:noFill/>
              <a:ln w="9525">
                <a:solidFill>
                  <a:schemeClr val="tx1"/>
                </a:solidFill>
                <a:miter lim="800000"/>
                <a:headEnd/>
                <a:tailEnd/>
              </a:ln>
              <a:effectLst/>
            </p:spPr>
            <p:txBody>
              <a:bodyPr wrap="none" anchor="ctr"/>
              <a:lstStyle/>
              <a:p>
                <a:endParaRPr lang="en-US"/>
              </a:p>
            </p:txBody>
          </p:sp>
          <p:sp>
            <p:nvSpPr>
              <p:cNvPr id="7297" name="Text Box 129"/>
              <p:cNvSpPr txBox="1">
                <a:spLocks noChangeArrowheads="1"/>
              </p:cNvSpPr>
              <p:nvPr/>
            </p:nvSpPr>
            <p:spPr bwMode="auto">
              <a:xfrm>
                <a:off x="432" y="3696"/>
                <a:ext cx="467" cy="250"/>
              </a:xfrm>
              <a:prstGeom prst="rect">
                <a:avLst/>
              </a:prstGeom>
              <a:noFill/>
              <a:ln w="9525">
                <a:noFill/>
                <a:miter lim="800000"/>
                <a:headEnd/>
                <a:tailEnd/>
              </a:ln>
              <a:effectLst/>
            </p:spPr>
            <p:txBody>
              <a:bodyPr wrap="none">
                <a:spAutoFit/>
              </a:bodyPr>
              <a:lstStyle/>
              <a:p>
                <a:r>
                  <a:rPr lang="en-US" sz="2000"/>
                  <a:t>2 u.e.</a:t>
                </a:r>
              </a:p>
            </p:txBody>
          </p:sp>
          <p:sp>
            <p:nvSpPr>
              <p:cNvPr id="7298" name="Text Box 130"/>
              <p:cNvSpPr txBox="1">
                <a:spLocks noChangeArrowheads="1"/>
              </p:cNvSpPr>
              <p:nvPr/>
            </p:nvSpPr>
            <p:spPr bwMode="auto">
              <a:xfrm>
                <a:off x="1296" y="3686"/>
                <a:ext cx="467" cy="250"/>
              </a:xfrm>
              <a:prstGeom prst="rect">
                <a:avLst/>
              </a:prstGeom>
              <a:noFill/>
              <a:ln w="9525">
                <a:noFill/>
                <a:miter lim="800000"/>
                <a:headEnd/>
                <a:tailEnd/>
              </a:ln>
              <a:effectLst/>
            </p:spPr>
            <p:txBody>
              <a:bodyPr wrap="none">
                <a:spAutoFit/>
              </a:bodyPr>
              <a:lstStyle/>
              <a:p>
                <a:r>
                  <a:rPr lang="en-US" sz="2000"/>
                  <a:t>2 u.e.</a:t>
                </a:r>
              </a:p>
            </p:txBody>
          </p:sp>
        </p:grpSp>
        <p:sp>
          <p:nvSpPr>
            <p:cNvPr id="7326" name="Text Box 158"/>
            <p:cNvSpPr txBox="1">
              <a:spLocks noChangeArrowheads="1"/>
            </p:cNvSpPr>
            <p:nvPr/>
          </p:nvSpPr>
          <p:spPr bwMode="auto">
            <a:xfrm>
              <a:off x="1584" y="2448"/>
              <a:ext cx="276" cy="288"/>
            </a:xfrm>
            <a:prstGeom prst="rect">
              <a:avLst/>
            </a:prstGeom>
            <a:noFill/>
            <a:ln w="9525">
              <a:noFill/>
              <a:miter lim="800000"/>
              <a:headEnd/>
              <a:tailEnd/>
            </a:ln>
            <a:effectLst/>
          </p:spPr>
          <p:txBody>
            <a:bodyPr wrap="none">
              <a:spAutoFit/>
            </a:bodyPr>
            <a:lstStyle/>
            <a:p>
              <a:r>
                <a:rPr lang="en-US" i="1"/>
                <a:t>d</a:t>
              </a:r>
              <a:r>
                <a:rPr lang="en-US" i="1" baseline="30000"/>
                <a:t>8</a:t>
              </a:r>
              <a:endParaRPr lang="en-US" i="1"/>
            </a:p>
          </p:txBody>
        </p:sp>
      </p:grpSp>
      <p:grpSp>
        <p:nvGrpSpPr>
          <p:cNvPr id="14" name="Group 161"/>
          <p:cNvGrpSpPr>
            <a:grpSpLocks/>
          </p:cNvGrpSpPr>
          <p:nvPr/>
        </p:nvGrpSpPr>
        <p:grpSpPr bwMode="auto">
          <a:xfrm>
            <a:off x="3276600" y="3886200"/>
            <a:ext cx="2667000" cy="2362200"/>
            <a:chOff x="2064" y="2448"/>
            <a:chExt cx="1680" cy="1488"/>
          </a:xfrm>
        </p:grpSpPr>
        <p:grpSp>
          <p:nvGrpSpPr>
            <p:cNvPr id="15" name="Group 149"/>
            <p:cNvGrpSpPr>
              <a:grpSpLocks/>
            </p:cNvGrpSpPr>
            <p:nvPr/>
          </p:nvGrpSpPr>
          <p:grpSpPr bwMode="auto">
            <a:xfrm>
              <a:off x="2064" y="2448"/>
              <a:ext cx="1680" cy="1488"/>
              <a:chOff x="2064" y="2448"/>
              <a:chExt cx="1680" cy="1488"/>
            </a:xfrm>
          </p:grpSpPr>
          <p:grpSp>
            <p:nvGrpSpPr>
              <p:cNvPr id="16" name="Group 66"/>
              <p:cNvGrpSpPr>
                <a:grpSpLocks/>
              </p:cNvGrpSpPr>
              <p:nvPr/>
            </p:nvGrpSpPr>
            <p:grpSpPr bwMode="auto">
              <a:xfrm>
                <a:off x="2064" y="2448"/>
                <a:ext cx="1680" cy="1200"/>
                <a:chOff x="240" y="720"/>
                <a:chExt cx="1680" cy="1200"/>
              </a:xfrm>
            </p:grpSpPr>
            <p:pic>
              <p:nvPicPr>
                <p:cNvPr id="7235" name="Picture 67"/>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36" name="Rectangle 68"/>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37" name="Line 69"/>
              <p:cNvSpPr>
                <a:spLocks noChangeShapeType="1"/>
              </p:cNvSpPr>
              <p:nvPr/>
            </p:nvSpPr>
            <p:spPr bwMode="auto">
              <a:xfrm>
                <a:off x="2256"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8" name="Line 70"/>
              <p:cNvSpPr>
                <a:spLocks noChangeShapeType="1"/>
              </p:cNvSpPr>
              <p:nvPr/>
            </p:nvSpPr>
            <p:spPr bwMode="auto">
              <a:xfrm>
                <a:off x="2496"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9" name="Line 71"/>
              <p:cNvSpPr>
                <a:spLocks noChangeShapeType="1"/>
              </p:cNvSpPr>
              <p:nvPr/>
            </p:nvSpPr>
            <p:spPr bwMode="auto">
              <a:xfrm flipV="1">
                <a:off x="2208"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0" name="Line 72"/>
              <p:cNvSpPr>
                <a:spLocks noChangeShapeType="1"/>
              </p:cNvSpPr>
              <p:nvPr/>
            </p:nvSpPr>
            <p:spPr bwMode="auto">
              <a:xfrm flipV="1">
                <a:off x="2448"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1" name="Line 73"/>
              <p:cNvSpPr>
                <a:spLocks noChangeShapeType="1"/>
              </p:cNvSpPr>
              <p:nvPr/>
            </p:nvSpPr>
            <p:spPr bwMode="auto">
              <a:xfrm flipV="1">
                <a:off x="2688"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2" name="Line 74"/>
              <p:cNvSpPr>
                <a:spLocks noChangeShapeType="1"/>
              </p:cNvSpPr>
              <p:nvPr/>
            </p:nvSpPr>
            <p:spPr bwMode="auto">
              <a:xfrm flipV="1">
                <a:off x="3072"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3" name="Line 75"/>
              <p:cNvSpPr>
                <a:spLocks noChangeShapeType="1"/>
              </p:cNvSpPr>
              <p:nvPr/>
            </p:nvSpPr>
            <p:spPr bwMode="auto">
              <a:xfrm flipV="1">
                <a:off x="3360"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4" name="Line 76"/>
              <p:cNvSpPr>
                <a:spLocks noChangeShapeType="1"/>
              </p:cNvSpPr>
              <p:nvPr/>
            </p:nvSpPr>
            <p:spPr bwMode="auto">
              <a:xfrm flipV="1">
                <a:off x="3552"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5" name="Line 77"/>
              <p:cNvSpPr>
                <a:spLocks noChangeShapeType="1"/>
              </p:cNvSpPr>
              <p:nvPr/>
            </p:nvSpPr>
            <p:spPr bwMode="auto">
              <a:xfrm flipV="1">
                <a:off x="3072"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6" name="Line 78"/>
              <p:cNvSpPr>
                <a:spLocks noChangeShapeType="1"/>
              </p:cNvSpPr>
              <p:nvPr/>
            </p:nvSpPr>
            <p:spPr bwMode="auto">
              <a:xfrm flipV="1">
                <a:off x="3456"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7" name="Line 79"/>
              <p:cNvSpPr>
                <a:spLocks noChangeShapeType="1"/>
              </p:cNvSpPr>
              <p:nvPr/>
            </p:nvSpPr>
            <p:spPr bwMode="auto">
              <a:xfrm>
                <a:off x="2640"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8" name="Line 80"/>
              <p:cNvSpPr>
                <a:spLocks noChangeShapeType="1"/>
              </p:cNvSpPr>
              <p:nvPr/>
            </p:nvSpPr>
            <p:spPr bwMode="auto">
              <a:xfrm>
                <a:off x="3024"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9" name="Line 81"/>
              <p:cNvSpPr>
                <a:spLocks noChangeShapeType="1"/>
              </p:cNvSpPr>
              <p:nvPr/>
            </p:nvSpPr>
            <p:spPr bwMode="auto">
              <a:xfrm>
                <a:off x="3312"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0" name="Line 82"/>
              <p:cNvSpPr>
                <a:spLocks noChangeShapeType="1"/>
              </p:cNvSpPr>
              <p:nvPr/>
            </p:nvSpPr>
            <p:spPr bwMode="auto">
              <a:xfrm flipV="1">
                <a:off x="2256"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90" name="Rectangle 122"/>
              <p:cNvSpPr>
                <a:spLocks noChangeArrowheads="1"/>
              </p:cNvSpPr>
              <p:nvPr/>
            </p:nvSpPr>
            <p:spPr bwMode="auto">
              <a:xfrm>
                <a:off x="2064" y="2448"/>
                <a:ext cx="1680" cy="1488"/>
              </a:xfrm>
              <a:prstGeom prst="rect">
                <a:avLst/>
              </a:prstGeom>
              <a:noFill/>
              <a:ln w="9525">
                <a:solidFill>
                  <a:schemeClr val="tx1"/>
                </a:solidFill>
                <a:miter lim="800000"/>
                <a:headEnd/>
                <a:tailEnd/>
              </a:ln>
              <a:effectLst/>
            </p:spPr>
            <p:txBody>
              <a:bodyPr wrap="none" anchor="ctr"/>
              <a:lstStyle/>
              <a:p>
                <a:endParaRPr lang="en-US"/>
              </a:p>
            </p:txBody>
          </p:sp>
          <p:sp>
            <p:nvSpPr>
              <p:cNvPr id="7299" name="Text Box 131"/>
              <p:cNvSpPr txBox="1">
                <a:spLocks noChangeArrowheads="1"/>
              </p:cNvSpPr>
              <p:nvPr/>
            </p:nvSpPr>
            <p:spPr bwMode="auto">
              <a:xfrm>
                <a:off x="2208" y="3648"/>
                <a:ext cx="467" cy="250"/>
              </a:xfrm>
              <a:prstGeom prst="rect">
                <a:avLst/>
              </a:prstGeom>
              <a:noFill/>
              <a:ln w="9525">
                <a:noFill/>
                <a:miter lim="800000"/>
                <a:headEnd/>
                <a:tailEnd/>
              </a:ln>
              <a:effectLst/>
            </p:spPr>
            <p:txBody>
              <a:bodyPr wrap="none">
                <a:spAutoFit/>
              </a:bodyPr>
              <a:lstStyle/>
              <a:p>
                <a:r>
                  <a:rPr lang="en-US" sz="2000"/>
                  <a:t>1 u.e.</a:t>
                </a:r>
              </a:p>
            </p:txBody>
          </p:sp>
          <p:sp>
            <p:nvSpPr>
              <p:cNvPr id="7300" name="Line 132"/>
              <p:cNvSpPr>
                <a:spLocks noChangeShapeType="1"/>
              </p:cNvSpPr>
              <p:nvPr/>
            </p:nvSpPr>
            <p:spPr bwMode="auto">
              <a:xfrm flipV="1">
                <a:off x="2592"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1" name="Line 133"/>
              <p:cNvSpPr>
                <a:spLocks noChangeShapeType="1"/>
              </p:cNvSpPr>
              <p:nvPr/>
            </p:nvSpPr>
            <p:spPr bwMode="auto">
              <a:xfrm>
                <a:off x="2304"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2" name="Line 134"/>
              <p:cNvSpPr>
                <a:spLocks noChangeShapeType="1"/>
              </p:cNvSpPr>
              <p:nvPr/>
            </p:nvSpPr>
            <p:spPr bwMode="auto">
              <a:xfrm>
                <a:off x="3504" y="312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3" name="Line 135"/>
              <p:cNvSpPr>
                <a:spLocks noChangeShapeType="1"/>
              </p:cNvSpPr>
              <p:nvPr/>
            </p:nvSpPr>
            <p:spPr bwMode="auto">
              <a:xfrm>
                <a:off x="3168"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4" name="Text Box 136"/>
              <p:cNvSpPr txBox="1">
                <a:spLocks noChangeArrowheads="1"/>
              </p:cNvSpPr>
              <p:nvPr/>
            </p:nvSpPr>
            <p:spPr bwMode="auto">
              <a:xfrm>
                <a:off x="3085" y="3648"/>
                <a:ext cx="467" cy="250"/>
              </a:xfrm>
              <a:prstGeom prst="rect">
                <a:avLst/>
              </a:prstGeom>
              <a:noFill/>
              <a:ln w="9525">
                <a:noFill/>
                <a:miter lim="800000"/>
                <a:headEnd/>
                <a:tailEnd/>
              </a:ln>
              <a:effectLst/>
            </p:spPr>
            <p:txBody>
              <a:bodyPr wrap="none">
                <a:spAutoFit/>
              </a:bodyPr>
              <a:lstStyle/>
              <a:p>
                <a:r>
                  <a:rPr lang="en-US" sz="2000"/>
                  <a:t>1 u.e.</a:t>
                </a:r>
              </a:p>
            </p:txBody>
          </p:sp>
        </p:grpSp>
        <p:sp>
          <p:nvSpPr>
            <p:cNvPr id="7328" name="Text Box 160"/>
            <p:cNvSpPr txBox="1">
              <a:spLocks noChangeArrowheads="1"/>
            </p:cNvSpPr>
            <p:nvPr/>
          </p:nvSpPr>
          <p:spPr bwMode="auto">
            <a:xfrm>
              <a:off x="3456" y="2448"/>
              <a:ext cx="276" cy="288"/>
            </a:xfrm>
            <a:prstGeom prst="rect">
              <a:avLst/>
            </a:prstGeom>
            <a:noFill/>
            <a:ln w="9525">
              <a:noFill/>
              <a:miter lim="800000"/>
              <a:headEnd/>
              <a:tailEnd/>
            </a:ln>
            <a:effectLst/>
          </p:spPr>
          <p:txBody>
            <a:bodyPr wrap="none">
              <a:spAutoFit/>
            </a:bodyPr>
            <a:lstStyle/>
            <a:p>
              <a:r>
                <a:rPr lang="en-US" i="1"/>
                <a:t>d</a:t>
              </a:r>
              <a:r>
                <a:rPr lang="en-US" i="1" baseline="30000"/>
                <a:t>9</a:t>
              </a:r>
              <a:endParaRPr lang="en-US" i="1"/>
            </a:p>
          </p:txBody>
        </p:sp>
      </p:grpSp>
      <p:grpSp>
        <p:nvGrpSpPr>
          <p:cNvPr id="17" name="Group 163"/>
          <p:cNvGrpSpPr>
            <a:grpSpLocks/>
          </p:cNvGrpSpPr>
          <p:nvPr/>
        </p:nvGrpSpPr>
        <p:grpSpPr bwMode="auto">
          <a:xfrm>
            <a:off x="6172200" y="3886200"/>
            <a:ext cx="2825750" cy="2362200"/>
            <a:chOff x="3888" y="2448"/>
            <a:chExt cx="1780" cy="1488"/>
          </a:xfrm>
        </p:grpSpPr>
        <p:grpSp>
          <p:nvGrpSpPr>
            <p:cNvPr id="18" name="Group 150"/>
            <p:cNvGrpSpPr>
              <a:grpSpLocks/>
            </p:cNvGrpSpPr>
            <p:nvPr/>
          </p:nvGrpSpPr>
          <p:grpSpPr bwMode="auto">
            <a:xfrm>
              <a:off x="3888" y="2448"/>
              <a:ext cx="1728" cy="1488"/>
              <a:chOff x="3888" y="2448"/>
              <a:chExt cx="1728" cy="1488"/>
            </a:xfrm>
          </p:grpSpPr>
          <p:grpSp>
            <p:nvGrpSpPr>
              <p:cNvPr id="19" name="Group 83"/>
              <p:cNvGrpSpPr>
                <a:grpSpLocks/>
              </p:cNvGrpSpPr>
              <p:nvPr/>
            </p:nvGrpSpPr>
            <p:grpSpPr bwMode="auto">
              <a:xfrm>
                <a:off x="3888" y="2496"/>
                <a:ext cx="1680" cy="1200"/>
                <a:chOff x="240" y="720"/>
                <a:chExt cx="1680" cy="1200"/>
              </a:xfrm>
            </p:grpSpPr>
            <p:pic>
              <p:nvPicPr>
                <p:cNvPr id="7252" name="Picture 84"/>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53" name="Rectangle 85"/>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54" name="Line 86"/>
              <p:cNvSpPr>
                <a:spLocks noChangeShapeType="1"/>
              </p:cNvSpPr>
              <p:nvPr/>
            </p:nvSpPr>
            <p:spPr bwMode="auto">
              <a:xfrm>
                <a:off x="4080"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5" name="Line 87"/>
              <p:cNvSpPr>
                <a:spLocks noChangeShapeType="1"/>
              </p:cNvSpPr>
              <p:nvPr/>
            </p:nvSpPr>
            <p:spPr bwMode="auto">
              <a:xfrm>
                <a:off x="4320"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6" name="Line 88"/>
              <p:cNvSpPr>
                <a:spLocks noChangeShapeType="1"/>
              </p:cNvSpPr>
              <p:nvPr/>
            </p:nvSpPr>
            <p:spPr bwMode="auto">
              <a:xfrm flipV="1">
                <a:off x="403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7" name="Line 89"/>
              <p:cNvSpPr>
                <a:spLocks noChangeShapeType="1"/>
              </p:cNvSpPr>
              <p:nvPr/>
            </p:nvSpPr>
            <p:spPr bwMode="auto">
              <a:xfrm flipV="1">
                <a:off x="427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8" name="Line 90"/>
              <p:cNvSpPr>
                <a:spLocks noChangeShapeType="1"/>
              </p:cNvSpPr>
              <p:nvPr/>
            </p:nvSpPr>
            <p:spPr bwMode="auto">
              <a:xfrm flipV="1">
                <a:off x="451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9" name="Line 91"/>
              <p:cNvSpPr>
                <a:spLocks noChangeShapeType="1"/>
              </p:cNvSpPr>
              <p:nvPr/>
            </p:nvSpPr>
            <p:spPr bwMode="auto">
              <a:xfrm flipV="1">
                <a:off x="489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0" name="Line 92"/>
              <p:cNvSpPr>
                <a:spLocks noChangeShapeType="1"/>
              </p:cNvSpPr>
              <p:nvPr/>
            </p:nvSpPr>
            <p:spPr bwMode="auto">
              <a:xfrm flipV="1">
                <a:off x="5184"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1" name="Line 93"/>
              <p:cNvSpPr>
                <a:spLocks noChangeShapeType="1"/>
              </p:cNvSpPr>
              <p:nvPr/>
            </p:nvSpPr>
            <p:spPr bwMode="auto">
              <a:xfrm flipV="1">
                <a:off x="537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2" name="Line 94"/>
              <p:cNvSpPr>
                <a:spLocks noChangeShapeType="1"/>
              </p:cNvSpPr>
              <p:nvPr/>
            </p:nvSpPr>
            <p:spPr bwMode="auto">
              <a:xfrm flipV="1">
                <a:off x="4944"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3" name="Line 95"/>
              <p:cNvSpPr>
                <a:spLocks noChangeShapeType="1"/>
              </p:cNvSpPr>
              <p:nvPr/>
            </p:nvSpPr>
            <p:spPr bwMode="auto">
              <a:xfrm flipV="1">
                <a:off x="5280"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4" name="Line 96"/>
              <p:cNvSpPr>
                <a:spLocks noChangeShapeType="1"/>
              </p:cNvSpPr>
              <p:nvPr/>
            </p:nvSpPr>
            <p:spPr bwMode="auto">
              <a:xfrm>
                <a:off x="4464"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5" name="Line 97"/>
              <p:cNvSpPr>
                <a:spLocks noChangeShapeType="1"/>
              </p:cNvSpPr>
              <p:nvPr/>
            </p:nvSpPr>
            <p:spPr bwMode="auto">
              <a:xfrm>
                <a:off x="4848"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6" name="Line 98"/>
              <p:cNvSpPr>
                <a:spLocks noChangeShapeType="1"/>
              </p:cNvSpPr>
              <p:nvPr/>
            </p:nvSpPr>
            <p:spPr bwMode="auto">
              <a:xfrm>
                <a:off x="513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7" name="Line 99"/>
              <p:cNvSpPr>
                <a:spLocks noChangeShapeType="1"/>
              </p:cNvSpPr>
              <p:nvPr/>
            </p:nvSpPr>
            <p:spPr bwMode="auto">
              <a:xfrm flipV="1">
                <a:off x="4080"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91" name="Rectangle 123"/>
              <p:cNvSpPr>
                <a:spLocks noChangeArrowheads="1"/>
              </p:cNvSpPr>
              <p:nvPr/>
            </p:nvSpPr>
            <p:spPr bwMode="auto">
              <a:xfrm>
                <a:off x="3936" y="2448"/>
                <a:ext cx="1680" cy="1488"/>
              </a:xfrm>
              <a:prstGeom prst="rect">
                <a:avLst/>
              </a:prstGeom>
              <a:noFill/>
              <a:ln w="9525">
                <a:solidFill>
                  <a:schemeClr val="tx1"/>
                </a:solidFill>
                <a:miter lim="800000"/>
                <a:headEnd/>
                <a:tailEnd/>
              </a:ln>
              <a:effectLst/>
            </p:spPr>
            <p:txBody>
              <a:bodyPr wrap="none" anchor="ctr"/>
              <a:lstStyle/>
              <a:p>
                <a:endParaRPr lang="en-US"/>
              </a:p>
            </p:txBody>
          </p:sp>
          <p:sp>
            <p:nvSpPr>
              <p:cNvPr id="7305" name="Line 137"/>
              <p:cNvSpPr>
                <a:spLocks noChangeShapeType="1"/>
              </p:cNvSpPr>
              <p:nvPr/>
            </p:nvSpPr>
            <p:spPr bwMode="auto">
              <a:xfrm>
                <a:off x="4128" y="25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6" name="Line 138"/>
              <p:cNvSpPr>
                <a:spLocks noChangeShapeType="1"/>
              </p:cNvSpPr>
              <p:nvPr/>
            </p:nvSpPr>
            <p:spPr bwMode="auto">
              <a:xfrm>
                <a:off x="4992"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7" name="Line 139"/>
              <p:cNvSpPr>
                <a:spLocks noChangeShapeType="1"/>
              </p:cNvSpPr>
              <p:nvPr/>
            </p:nvSpPr>
            <p:spPr bwMode="auto">
              <a:xfrm>
                <a:off x="5232"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8" name="Line 140"/>
              <p:cNvSpPr>
                <a:spLocks noChangeShapeType="1"/>
              </p:cNvSpPr>
              <p:nvPr/>
            </p:nvSpPr>
            <p:spPr bwMode="auto">
              <a:xfrm flipV="1">
                <a:off x="4368"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9" name="Line 141"/>
              <p:cNvSpPr>
                <a:spLocks noChangeShapeType="1"/>
              </p:cNvSpPr>
              <p:nvPr/>
            </p:nvSpPr>
            <p:spPr bwMode="auto">
              <a:xfrm>
                <a:off x="4416" y="25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10" name="Text Box 142"/>
              <p:cNvSpPr txBox="1">
                <a:spLocks noChangeArrowheads="1"/>
              </p:cNvSpPr>
              <p:nvPr/>
            </p:nvSpPr>
            <p:spPr bwMode="auto">
              <a:xfrm>
                <a:off x="4045" y="3686"/>
                <a:ext cx="467" cy="250"/>
              </a:xfrm>
              <a:prstGeom prst="rect">
                <a:avLst/>
              </a:prstGeom>
              <a:noFill/>
              <a:ln w="9525">
                <a:noFill/>
                <a:miter lim="800000"/>
                <a:headEnd/>
                <a:tailEnd/>
              </a:ln>
              <a:effectLst/>
            </p:spPr>
            <p:txBody>
              <a:bodyPr wrap="none">
                <a:spAutoFit/>
              </a:bodyPr>
              <a:lstStyle/>
              <a:p>
                <a:r>
                  <a:rPr lang="en-US" sz="2000"/>
                  <a:t>0 u.e.</a:t>
                </a:r>
              </a:p>
            </p:txBody>
          </p:sp>
          <p:sp>
            <p:nvSpPr>
              <p:cNvPr id="7311" name="Text Box 143"/>
              <p:cNvSpPr txBox="1">
                <a:spLocks noChangeArrowheads="1"/>
              </p:cNvSpPr>
              <p:nvPr/>
            </p:nvSpPr>
            <p:spPr bwMode="auto">
              <a:xfrm>
                <a:off x="4957" y="3686"/>
                <a:ext cx="467" cy="250"/>
              </a:xfrm>
              <a:prstGeom prst="rect">
                <a:avLst/>
              </a:prstGeom>
              <a:noFill/>
              <a:ln w="9525">
                <a:noFill/>
                <a:miter lim="800000"/>
                <a:headEnd/>
                <a:tailEnd/>
              </a:ln>
              <a:effectLst/>
            </p:spPr>
            <p:txBody>
              <a:bodyPr wrap="none">
                <a:spAutoFit/>
              </a:bodyPr>
              <a:lstStyle/>
              <a:p>
                <a:r>
                  <a:rPr lang="en-US" sz="2000"/>
                  <a:t>0 u.e.</a:t>
                </a:r>
              </a:p>
            </p:txBody>
          </p:sp>
        </p:grpSp>
        <p:sp>
          <p:nvSpPr>
            <p:cNvPr id="7330" name="Text Box 162"/>
            <p:cNvSpPr txBox="1">
              <a:spLocks noChangeArrowheads="1"/>
            </p:cNvSpPr>
            <p:nvPr/>
          </p:nvSpPr>
          <p:spPr bwMode="auto">
            <a:xfrm>
              <a:off x="5328" y="2448"/>
              <a:ext cx="340" cy="288"/>
            </a:xfrm>
            <a:prstGeom prst="rect">
              <a:avLst/>
            </a:prstGeom>
            <a:noFill/>
            <a:ln w="9525">
              <a:noFill/>
              <a:miter lim="800000"/>
              <a:headEnd/>
              <a:tailEnd/>
            </a:ln>
            <a:effectLst/>
          </p:spPr>
          <p:txBody>
            <a:bodyPr wrap="none">
              <a:spAutoFit/>
            </a:bodyPr>
            <a:lstStyle/>
            <a:p>
              <a:r>
                <a:rPr lang="en-US" i="1"/>
                <a:t>d</a:t>
              </a:r>
              <a:r>
                <a:rPr lang="en-US" i="1" baseline="30000"/>
                <a:t>10</a:t>
              </a:r>
              <a:endParaRPr lang="en-US" i="1"/>
            </a:p>
          </p:txBody>
        </p:sp>
      </p:grpSp>
    </p:spTree>
    <p:extLst>
      <p:ext uri="{BB962C8B-B14F-4D97-AF65-F5344CB8AC3E}">
        <p14:creationId xmlns:p14="http://schemas.microsoft.com/office/powerpoint/2010/main" val="239967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3"/>
          <a:srcRect/>
          <a:stretch>
            <a:fillRect/>
          </a:stretch>
        </p:blipFill>
        <p:spPr bwMode="auto">
          <a:xfrm>
            <a:off x="609600" y="0"/>
            <a:ext cx="8153400" cy="6808788"/>
          </a:xfrm>
          <a:prstGeom prst="rect">
            <a:avLst/>
          </a:prstGeom>
          <a:noFill/>
          <a:ln w="9525">
            <a:noFill/>
            <a:miter lim="800000"/>
            <a:headEnd/>
            <a:tailEnd/>
          </a:ln>
          <a:effectLst/>
        </p:spPr>
      </p:pic>
      <p:sp>
        <p:nvSpPr>
          <p:cNvPr id="14339" name="Rectangle 3"/>
          <p:cNvSpPr>
            <a:spLocks noChangeArrowheads="1"/>
          </p:cNvSpPr>
          <p:nvPr/>
        </p:nvSpPr>
        <p:spPr bwMode="auto">
          <a:xfrm>
            <a:off x="914400" y="1752600"/>
            <a:ext cx="4343400" cy="914400"/>
          </a:xfrm>
          <a:prstGeom prst="rect">
            <a:avLst/>
          </a:prstGeom>
          <a:noFill/>
          <a:ln w="9525">
            <a:solidFill>
              <a:srgbClr val="FF0000"/>
            </a:solidFill>
            <a:miter lim="800000"/>
            <a:headEnd/>
            <a:tailEnd/>
          </a:ln>
          <a:effectLst/>
        </p:spPr>
        <p:txBody>
          <a:bodyPr wrap="none" anchor="ctr"/>
          <a:lstStyle/>
          <a:p>
            <a:endParaRPr lang="en-US"/>
          </a:p>
        </p:txBody>
      </p:sp>
      <p:sp>
        <p:nvSpPr>
          <p:cNvPr id="14340" name="Rectangle 4"/>
          <p:cNvSpPr>
            <a:spLocks noChangeArrowheads="1"/>
          </p:cNvSpPr>
          <p:nvPr/>
        </p:nvSpPr>
        <p:spPr bwMode="auto">
          <a:xfrm>
            <a:off x="914400" y="4648200"/>
            <a:ext cx="4343400" cy="914400"/>
          </a:xfrm>
          <a:prstGeom prst="rect">
            <a:avLst/>
          </a:prstGeom>
          <a:noFill/>
          <a:ln w="9525">
            <a:solidFill>
              <a:srgbClr val="FF0000"/>
            </a:solidFill>
            <a:miter lim="800000"/>
            <a:headEnd/>
            <a:tailEnd/>
          </a:ln>
          <a:effectLst/>
        </p:spPr>
        <p:txBody>
          <a:bodyPr wrap="none" anchor="ctr"/>
          <a:lstStyle/>
          <a:p>
            <a:endParaRPr lang="en-US"/>
          </a:p>
        </p:txBody>
      </p:sp>
      <p:sp>
        <p:nvSpPr>
          <p:cNvPr id="14341" name="Rectangle 5"/>
          <p:cNvSpPr>
            <a:spLocks noChangeArrowheads="1"/>
          </p:cNvSpPr>
          <p:nvPr/>
        </p:nvSpPr>
        <p:spPr bwMode="auto">
          <a:xfrm>
            <a:off x="7315200" y="4648200"/>
            <a:ext cx="1295400" cy="914400"/>
          </a:xfrm>
          <a:prstGeom prst="rect">
            <a:avLst/>
          </a:prstGeom>
          <a:noFill/>
          <a:ln w="9525">
            <a:solidFill>
              <a:srgbClr val="FF0000"/>
            </a:solidFill>
            <a:miter lim="800000"/>
            <a:headEnd/>
            <a:tailEnd/>
          </a:ln>
          <a:effectLst/>
        </p:spPr>
        <p:txBody>
          <a:bodyPr wrap="none" anchor="ctr"/>
          <a:lstStyle/>
          <a:p>
            <a:endParaRPr lang="en-US"/>
          </a:p>
        </p:txBody>
      </p:sp>
      <p:grpSp>
        <p:nvGrpSpPr>
          <p:cNvPr id="2" name="Group 11"/>
          <p:cNvGrpSpPr>
            <a:grpSpLocks/>
          </p:cNvGrpSpPr>
          <p:nvPr/>
        </p:nvGrpSpPr>
        <p:grpSpPr bwMode="auto">
          <a:xfrm>
            <a:off x="7010400" y="1219200"/>
            <a:ext cx="1981200" cy="2819400"/>
            <a:chOff x="4416" y="768"/>
            <a:chExt cx="1248" cy="1776"/>
          </a:xfrm>
        </p:grpSpPr>
        <p:sp>
          <p:nvSpPr>
            <p:cNvPr id="14345" name="Text Box 9"/>
            <p:cNvSpPr txBox="1">
              <a:spLocks noChangeArrowheads="1"/>
            </p:cNvSpPr>
            <p:nvPr/>
          </p:nvSpPr>
          <p:spPr bwMode="auto">
            <a:xfrm>
              <a:off x="4416" y="768"/>
              <a:ext cx="1248" cy="1214"/>
            </a:xfrm>
            <a:prstGeom prst="rect">
              <a:avLst/>
            </a:prstGeom>
            <a:solidFill>
              <a:srgbClr val="FFFF99"/>
            </a:solidFill>
            <a:ln w="9525">
              <a:solidFill>
                <a:srgbClr val="FFCC00"/>
              </a:solidFill>
              <a:miter lim="800000"/>
              <a:headEnd/>
              <a:tailEnd/>
            </a:ln>
            <a:effectLst/>
          </p:spPr>
          <p:txBody>
            <a:bodyPr>
              <a:spAutoFit/>
            </a:bodyPr>
            <a:lstStyle/>
            <a:p>
              <a:pPr>
                <a:spcBef>
                  <a:spcPct val="50000"/>
                </a:spcBef>
              </a:pPr>
              <a:r>
                <a:rPr lang="en-US"/>
                <a:t>Positive favors high spin. Neg favors low spin.</a:t>
              </a:r>
            </a:p>
          </p:txBody>
        </p:sp>
        <p:sp>
          <p:nvSpPr>
            <p:cNvPr id="14346" name="Line 10"/>
            <p:cNvSpPr>
              <a:spLocks noChangeShapeType="1"/>
            </p:cNvSpPr>
            <p:nvPr/>
          </p:nvSpPr>
          <p:spPr bwMode="auto">
            <a:xfrm flipH="1">
              <a:off x="5088" y="2016"/>
              <a:ext cx="336" cy="528"/>
            </a:xfrm>
            <a:prstGeom prst="line">
              <a:avLst/>
            </a:prstGeom>
            <a:noFill/>
            <a:ln w="57150">
              <a:solidFill>
                <a:srgbClr val="F30B08"/>
              </a:solidFill>
              <a:round/>
              <a:headEnd/>
              <a:tailEnd type="triangle" w="med" len="med"/>
            </a:ln>
            <a:effectLst/>
          </p:spPr>
          <p:txBody>
            <a:bodyPr/>
            <a:lstStyle/>
            <a:p>
              <a:endParaRPr lang="en-US"/>
            </a:p>
          </p:txBody>
        </p:sp>
      </p:grpSp>
    </p:spTree>
    <p:extLst>
      <p:ext uri="{BB962C8B-B14F-4D97-AF65-F5344CB8AC3E}">
        <p14:creationId xmlns:p14="http://schemas.microsoft.com/office/powerpoint/2010/main" val="329697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8" name="Picture 6"/>
          <p:cNvPicPr>
            <a:picLocks noChangeAspect="1" noChangeArrowheads="1"/>
          </p:cNvPicPr>
          <p:nvPr/>
        </p:nvPicPr>
        <p:blipFill>
          <a:blip r:embed="rId3"/>
          <a:srcRect/>
          <a:stretch>
            <a:fillRect/>
          </a:stretch>
        </p:blipFill>
        <p:spPr bwMode="auto">
          <a:xfrm>
            <a:off x="1981200" y="1584325"/>
            <a:ext cx="3943350" cy="2809875"/>
          </a:xfrm>
          <a:prstGeom prst="rect">
            <a:avLst/>
          </a:prstGeom>
          <a:noFill/>
          <a:ln w="9525">
            <a:noFill/>
            <a:miter lim="800000"/>
            <a:headEnd/>
            <a:tailEnd/>
          </a:ln>
          <a:effectLst/>
        </p:spPr>
      </p:pic>
      <p:sp>
        <p:nvSpPr>
          <p:cNvPr id="115719" name="Text Box 7"/>
          <p:cNvSpPr txBox="1">
            <a:spLocks noChangeArrowheads="1"/>
          </p:cNvSpPr>
          <p:nvPr/>
        </p:nvSpPr>
        <p:spPr bwMode="auto">
          <a:xfrm>
            <a:off x="457200" y="609600"/>
            <a:ext cx="8305800" cy="457200"/>
          </a:xfrm>
          <a:prstGeom prst="rect">
            <a:avLst/>
          </a:prstGeom>
          <a:noFill/>
          <a:ln w="9525">
            <a:noFill/>
            <a:miter lim="800000"/>
            <a:headEnd/>
            <a:tailEnd/>
          </a:ln>
          <a:effectLst/>
        </p:spPr>
        <p:txBody>
          <a:bodyPr>
            <a:spAutoFit/>
          </a:bodyPr>
          <a:lstStyle/>
          <a:p>
            <a:pPr>
              <a:spcBef>
                <a:spcPct val="50000"/>
              </a:spcBef>
            </a:pPr>
            <a:r>
              <a:rPr lang="en-US"/>
              <a:t>Enthalpy of Hydration of hexahydrate</a:t>
            </a:r>
          </a:p>
        </p:txBody>
      </p:sp>
    </p:spTree>
    <p:extLst>
      <p:ext uri="{BB962C8B-B14F-4D97-AF65-F5344CB8AC3E}">
        <p14:creationId xmlns:p14="http://schemas.microsoft.com/office/powerpoint/2010/main" val="165464247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srcRect/>
          <a:stretch>
            <a:fillRect/>
          </a:stretch>
        </p:blipFill>
        <p:spPr bwMode="auto">
          <a:xfrm>
            <a:off x="2057400" y="1828800"/>
            <a:ext cx="4686300" cy="1930400"/>
          </a:xfrm>
          <a:prstGeom prst="rect">
            <a:avLst/>
          </a:prstGeom>
          <a:noFill/>
          <a:ln w="9525">
            <a:noFill/>
            <a:miter lim="800000"/>
            <a:headEnd/>
            <a:tailEnd/>
          </a:ln>
          <a:effectLst/>
        </p:spPr>
      </p:pic>
      <p:sp>
        <p:nvSpPr>
          <p:cNvPr id="10243" name="Text Box 3"/>
          <p:cNvSpPr txBox="1">
            <a:spLocks noChangeArrowheads="1"/>
          </p:cNvSpPr>
          <p:nvPr/>
        </p:nvSpPr>
        <p:spPr bwMode="auto">
          <a:xfrm>
            <a:off x="1241425" y="533400"/>
            <a:ext cx="6530975" cy="519113"/>
          </a:xfrm>
          <a:prstGeom prst="rect">
            <a:avLst/>
          </a:prstGeom>
          <a:noFill/>
          <a:ln w="9525">
            <a:noFill/>
            <a:miter lim="800000"/>
            <a:headEnd/>
            <a:tailEnd/>
          </a:ln>
          <a:effectLst/>
        </p:spPr>
        <p:txBody>
          <a:bodyPr>
            <a:spAutoFit/>
          </a:bodyPr>
          <a:lstStyle/>
          <a:p>
            <a:pPr>
              <a:spcBef>
                <a:spcPct val="50000"/>
              </a:spcBef>
            </a:pPr>
            <a:r>
              <a:rPr lang="en-US" sz="2800" i="1">
                <a:solidFill>
                  <a:schemeClr val="accent2"/>
                </a:solidFill>
              </a:rPr>
              <a:t>Splitting of d orbitals in a tetrahedral field</a:t>
            </a:r>
          </a:p>
        </p:txBody>
      </p:sp>
      <p:sp>
        <p:nvSpPr>
          <p:cNvPr id="10244" name="Text Box 4"/>
          <p:cNvSpPr txBox="1">
            <a:spLocks noChangeArrowheads="1"/>
          </p:cNvSpPr>
          <p:nvPr/>
        </p:nvSpPr>
        <p:spPr bwMode="auto">
          <a:xfrm>
            <a:off x="6689725" y="1660525"/>
            <a:ext cx="369888" cy="457200"/>
          </a:xfrm>
          <a:prstGeom prst="rect">
            <a:avLst/>
          </a:prstGeom>
          <a:noFill/>
          <a:ln w="9525">
            <a:noFill/>
            <a:miter lim="800000"/>
            <a:headEnd/>
            <a:tailEnd/>
          </a:ln>
          <a:effectLst/>
        </p:spPr>
        <p:txBody>
          <a:bodyPr wrap="none">
            <a:spAutoFit/>
          </a:bodyPr>
          <a:lstStyle/>
          <a:p>
            <a:r>
              <a:rPr lang="en-US" i="1">
                <a:solidFill>
                  <a:schemeClr val="accent2"/>
                </a:solidFill>
              </a:rPr>
              <a:t>t</a:t>
            </a:r>
            <a:r>
              <a:rPr lang="en-US" i="1" baseline="-25000">
                <a:solidFill>
                  <a:schemeClr val="accent2"/>
                </a:solidFill>
              </a:rPr>
              <a:t>2</a:t>
            </a:r>
            <a:endParaRPr lang="en-US" i="1"/>
          </a:p>
        </p:txBody>
      </p:sp>
      <p:sp>
        <p:nvSpPr>
          <p:cNvPr id="10245" name="Text Box 5"/>
          <p:cNvSpPr txBox="1">
            <a:spLocks noChangeArrowheads="1"/>
          </p:cNvSpPr>
          <p:nvPr/>
        </p:nvSpPr>
        <p:spPr bwMode="auto">
          <a:xfrm>
            <a:off x="6613525" y="3413125"/>
            <a:ext cx="319088" cy="457200"/>
          </a:xfrm>
          <a:prstGeom prst="rect">
            <a:avLst/>
          </a:prstGeom>
          <a:noFill/>
          <a:ln w="9525">
            <a:noFill/>
            <a:miter lim="800000"/>
            <a:headEnd/>
            <a:tailEnd/>
          </a:ln>
          <a:effectLst/>
        </p:spPr>
        <p:txBody>
          <a:bodyPr wrap="none">
            <a:spAutoFit/>
          </a:bodyPr>
          <a:lstStyle/>
          <a:p>
            <a:r>
              <a:rPr lang="en-US">
                <a:solidFill>
                  <a:srgbClr val="F30B08"/>
                </a:solidFill>
              </a:rPr>
              <a:t>e</a:t>
            </a:r>
            <a:endParaRPr lang="en-US"/>
          </a:p>
        </p:txBody>
      </p:sp>
      <p:sp>
        <p:nvSpPr>
          <p:cNvPr id="10246" name="Line 6"/>
          <p:cNvSpPr>
            <a:spLocks noChangeShapeType="1"/>
          </p:cNvSpPr>
          <p:nvPr/>
        </p:nvSpPr>
        <p:spPr bwMode="auto">
          <a:xfrm>
            <a:off x="7467600" y="1905000"/>
            <a:ext cx="0" cy="1752600"/>
          </a:xfrm>
          <a:prstGeom prst="line">
            <a:avLst/>
          </a:prstGeom>
          <a:noFill/>
          <a:ln w="38100">
            <a:solidFill>
              <a:schemeClr val="tx1"/>
            </a:solidFill>
            <a:round/>
            <a:headEnd type="triangle" w="med" len="med"/>
            <a:tailEnd type="triangle" w="med" len="med"/>
          </a:ln>
          <a:effectLst/>
        </p:spPr>
        <p:txBody>
          <a:bodyPr wrap="none" anchor="ctr"/>
          <a:lstStyle/>
          <a:p>
            <a:endParaRPr lang="en-US"/>
          </a:p>
        </p:txBody>
      </p:sp>
      <p:sp>
        <p:nvSpPr>
          <p:cNvPr id="10247" name="Text Box 7"/>
          <p:cNvSpPr txBox="1">
            <a:spLocks noChangeArrowheads="1"/>
          </p:cNvSpPr>
          <p:nvPr/>
        </p:nvSpPr>
        <p:spPr bwMode="auto">
          <a:xfrm>
            <a:off x="7680325" y="2392363"/>
            <a:ext cx="500063" cy="519112"/>
          </a:xfrm>
          <a:prstGeom prst="rect">
            <a:avLst/>
          </a:prstGeom>
          <a:noFill/>
          <a:ln w="9525">
            <a:noFill/>
            <a:miter lim="800000"/>
            <a:headEnd/>
            <a:tailEnd/>
          </a:ln>
          <a:effectLst/>
        </p:spPr>
        <p:txBody>
          <a:bodyPr wrap="none">
            <a:spAutoFit/>
          </a:bodyPr>
          <a:lstStyle/>
          <a:p>
            <a:r>
              <a:rPr lang="en-US" sz="2800">
                <a:latin typeface="Symbol" pitchFamily="18" charset="2"/>
              </a:rPr>
              <a:t>D</a:t>
            </a:r>
            <a:r>
              <a:rPr lang="en-US" sz="2800"/>
              <a:t>t</a:t>
            </a:r>
          </a:p>
        </p:txBody>
      </p:sp>
      <p:sp>
        <p:nvSpPr>
          <p:cNvPr id="10248" name="Text Box 8"/>
          <p:cNvSpPr txBox="1">
            <a:spLocks noChangeArrowheads="1"/>
          </p:cNvSpPr>
          <p:nvPr/>
        </p:nvSpPr>
        <p:spPr bwMode="auto">
          <a:xfrm>
            <a:off x="3448050" y="4800600"/>
            <a:ext cx="1463675" cy="466725"/>
          </a:xfrm>
          <a:prstGeom prst="rect">
            <a:avLst/>
          </a:prstGeom>
          <a:noFill/>
          <a:ln w="9525">
            <a:solidFill>
              <a:schemeClr val="tx1"/>
            </a:solidFill>
            <a:miter lim="800000"/>
            <a:headEnd/>
            <a:tailEnd/>
          </a:ln>
          <a:effectLst/>
        </p:spPr>
        <p:txBody>
          <a:bodyPr>
            <a:spAutoFit/>
          </a:bodyPr>
          <a:lstStyle/>
          <a:p>
            <a:r>
              <a:rPr lang="en-US">
                <a:latin typeface="Symbol" pitchFamily="18" charset="2"/>
              </a:rPr>
              <a:t>D</a:t>
            </a:r>
            <a:r>
              <a:rPr lang="en-US" baseline="-25000"/>
              <a:t>t</a:t>
            </a:r>
            <a:r>
              <a:rPr lang="en-US"/>
              <a:t> = 4/9</a:t>
            </a:r>
            <a:r>
              <a:rPr lang="en-US">
                <a:latin typeface="Symbol" pitchFamily="18" charset="2"/>
              </a:rPr>
              <a:t>D</a:t>
            </a:r>
            <a:r>
              <a:rPr lang="en-US" baseline="-25000"/>
              <a:t>o</a:t>
            </a:r>
          </a:p>
        </p:txBody>
      </p:sp>
      <p:sp>
        <p:nvSpPr>
          <p:cNvPr id="10249" name="Text Box 9"/>
          <p:cNvSpPr txBox="1">
            <a:spLocks noChangeArrowheads="1"/>
          </p:cNvSpPr>
          <p:nvPr/>
        </p:nvSpPr>
        <p:spPr bwMode="auto">
          <a:xfrm>
            <a:off x="2451100" y="5699125"/>
            <a:ext cx="3786188" cy="457200"/>
          </a:xfrm>
          <a:prstGeom prst="rect">
            <a:avLst/>
          </a:prstGeom>
          <a:noFill/>
          <a:ln w="9525">
            <a:noFill/>
            <a:miter lim="800000"/>
            <a:headEnd/>
            <a:tailEnd/>
          </a:ln>
          <a:effectLst/>
        </p:spPr>
        <p:txBody>
          <a:bodyPr wrap="none">
            <a:spAutoFit/>
          </a:bodyPr>
          <a:lstStyle/>
          <a:p>
            <a:r>
              <a:rPr lang="en-US" i="1">
                <a:solidFill>
                  <a:srgbClr val="F30B08"/>
                </a:solidFill>
              </a:rPr>
              <a:t>Always weak field (high spin)</a:t>
            </a:r>
          </a:p>
        </p:txBody>
      </p:sp>
    </p:spTree>
    <p:extLst>
      <p:ext uri="{BB962C8B-B14F-4D97-AF65-F5344CB8AC3E}">
        <p14:creationId xmlns:p14="http://schemas.microsoft.com/office/powerpoint/2010/main" val="350826406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1524000" y="471488"/>
            <a:ext cx="5883275" cy="519112"/>
          </a:xfrm>
          <a:prstGeom prst="rect">
            <a:avLst/>
          </a:prstGeom>
          <a:noFill/>
          <a:ln w="9525">
            <a:noFill/>
            <a:miter lim="800000"/>
            <a:headEnd/>
            <a:tailEnd/>
          </a:ln>
          <a:effectLst/>
        </p:spPr>
        <p:txBody>
          <a:bodyPr wrap="none">
            <a:spAutoFit/>
          </a:bodyPr>
          <a:lstStyle/>
          <a:p>
            <a:r>
              <a:rPr lang="en-US" sz="2800" i="1">
                <a:solidFill>
                  <a:schemeClr val="accent2"/>
                </a:solidFill>
              </a:rPr>
              <a:t>Magnetic properties of metal complexes</a:t>
            </a:r>
          </a:p>
        </p:txBody>
      </p:sp>
      <p:sp>
        <p:nvSpPr>
          <p:cNvPr id="8195" name="Text Box 3"/>
          <p:cNvSpPr txBox="1">
            <a:spLocks noChangeArrowheads="1"/>
          </p:cNvSpPr>
          <p:nvPr/>
        </p:nvSpPr>
        <p:spPr bwMode="auto">
          <a:xfrm>
            <a:off x="2590800" y="1501775"/>
            <a:ext cx="3863975" cy="1927225"/>
          </a:xfrm>
          <a:prstGeom prst="rect">
            <a:avLst/>
          </a:prstGeom>
          <a:noFill/>
          <a:ln w="9525">
            <a:solidFill>
              <a:schemeClr val="accent2"/>
            </a:solidFill>
            <a:miter lim="800000"/>
            <a:headEnd/>
            <a:tailEnd/>
          </a:ln>
          <a:effectLst/>
        </p:spPr>
        <p:txBody>
          <a:bodyPr>
            <a:spAutoFit/>
          </a:bodyPr>
          <a:lstStyle/>
          <a:p>
            <a:pPr algn="ctr"/>
            <a:r>
              <a:rPr lang="en-US"/>
              <a:t>Diamagnetic complexes</a:t>
            </a:r>
          </a:p>
          <a:p>
            <a:pPr algn="ctr"/>
            <a:r>
              <a:rPr lang="en-US"/>
              <a:t>very small repulsive interaction with external magnetic field</a:t>
            </a:r>
          </a:p>
          <a:p>
            <a:pPr algn="ctr"/>
            <a:r>
              <a:rPr lang="en-US" i="1"/>
              <a:t>no unpaired electrons</a:t>
            </a:r>
            <a:endParaRPr lang="en-US"/>
          </a:p>
        </p:txBody>
      </p:sp>
      <p:sp>
        <p:nvSpPr>
          <p:cNvPr id="8196" name="Text Box 4"/>
          <p:cNvSpPr txBox="1">
            <a:spLocks noChangeArrowheads="1"/>
          </p:cNvSpPr>
          <p:nvPr/>
        </p:nvSpPr>
        <p:spPr bwMode="auto">
          <a:xfrm>
            <a:off x="1600200" y="4114800"/>
            <a:ext cx="3863975" cy="1562100"/>
          </a:xfrm>
          <a:prstGeom prst="rect">
            <a:avLst/>
          </a:prstGeom>
          <a:noFill/>
          <a:ln w="9525">
            <a:solidFill>
              <a:srgbClr val="F30B08"/>
            </a:solidFill>
            <a:miter lim="800000"/>
            <a:headEnd/>
            <a:tailEnd/>
          </a:ln>
          <a:effectLst/>
        </p:spPr>
        <p:txBody>
          <a:bodyPr>
            <a:spAutoFit/>
          </a:bodyPr>
          <a:lstStyle/>
          <a:p>
            <a:pPr algn="ctr"/>
            <a:r>
              <a:rPr lang="en-US"/>
              <a:t>Paramagnetic complexes</a:t>
            </a:r>
          </a:p>
          <a:p>
            <a:pPr algn="ctr"/>
            <a:r>
              <a:rPr lang="en-US"/>
              <a:t>attractive interaction with external magnetic field</a:t>
            </a:r>
          </a:p>
          <a:p>
            <a:pPr algn="ctr"/>
            <a:r>
              <a:rPr lang="en-US" i="1"/>
              <a:t>some unpaired electrons</a:t>
            </a:r>
            <a:endParaRPr lang="en-US"/>
          </a:p>
        </p:txBody>
      </p:sp>
      <p:graphicFrame>
        <p:nvGraphicFramePr>
          <p:cNvPr id="8198" name="Object 6"/>
          <p:cNvGraphicFramePr>
            <a:graphicFrameLocks noChangeAspect="1"/>
          </p:cNvGraphicFramePr>
          <p:nvPr/>
        </p:nvGraphicFramePr>
        <p:xfrm>
          <a:off x="6067425" y="4495800"/>
          <a:ext cx="2466975" cy="673100"/>
        </p:xfrm>
        <a:graphic>
          <a:graphicData uri="http://schemas.openxmlformats.org/presentationml/2006/ole">
            <mc:AlternateContent xmlns:mc="http://schemas.openxmlformats.org/markup-compatibility/2006">
              <mc:Choice xmlns:v="urn:schemas-microsoft-com:vml" Requires="v">
                <p:oleObj spid="_x0000_s11267" name="Equation" r:id="rId4" imgW="939392" imgH="253890" progId="Equation.3">
                  <p:embed/>
                </p:oleObj>
              </mc:Choice>
              <mc:Fallback>
                <p:oleObj name="Equation" r:id="rId4" imgW="939392" imgH="25389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7425" y="4495800"/>
                        <a:ext cx="2466975" cy="6731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6659111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a:srcRect/>
          <a:stretch>
            <a:fillRect/>
          </a:stretch>
        </p:blipFill>
        <p:spPr bwMode="auto">
          <a:xfrm>
            <a:off x="304800" y="1676400"/>
            <a:ext cx="8839200" cy="4360863"/>
          </a:xfrm>
          <a:prstGeom prst="rect">
            <a:avLst/>
          </a:prstGeom>
          <a:noFill/>
          <a:ln w="9525">
            <a:noFill/>
            <a:miter lim="800000"/>
            <a:headEnd/>
            <a:tailEnd/>
          </a:ln>
          <a:effectLst/>
        </p:spPr>
      </p:pic>
      <p:sp>
        <p:nvSpPr>
          <p:cNvPr id="16387" name="Text Box 3"/>
          <p:cNvSpPr txBox="1">
            <a:spLocks noChangeArrowheads="1"/>
          </p:cNvSpPr>
          <p:nvPr/>
        </p:nvSpPr>
        <p:spPr bwMode="auto">
          <a:xfrm>
            <a:off x="609600" y="304800"/>
            <a:ext cx="8229600" cy="1187450"/>
          </a:xfrm>
          <a:prstGeom prst="rect">
            <a:avLst/>
          </a:prstGeom>
          <a:noFill/>
          <a:ln w="9525">
            <a:noFill/>
            <a:miter lim="800000"/>
            <a:headEnd/>
            <a:tailEnd/>
          </a:ln>
          <a:effectLst/>
        </p:spPr>
        <p:txBody>
          <a:bodyPr>
            <a:spAutoFit/>
          </a:bodyPr>
          <a:lstStyle/>
          <a:p>
            <a:pPr>
              <a:spcBef>
                <a:spcPct val="50000"/>
              </a:spcBef>
            </a:pPr>
            <a:r>
              <a:rPr lang="en-US"/>
              <a:t>Measured magnetic moments include contributions from both spin and orbital spin.  In the first transition series complexes the orbital contribution is small and usually ignored.</a:t>
            </a:r>
          </a:p>
        </p:txBody>
      </p:sp>
    </p:spTree>
    <p:extLst>
      <p:ext uri="{BB962C8B-B14F-4D97-AF65-F5344CB8AC3E}">
        <p14:creationId xmlns:p14="http://schemas.microsoft.com/office/powerpoint/2010/main" val="261248637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1822450" y="2744788"/>
            <a:ext cx="5805488" cy="946150"/>
          </a:xfrm>
          <a:prstGeom prst="rect">
            <a:avLst/>
          </a:prstGeom>
          <a:noFill/>
          <a:ln w="9525">
            <a:noFill/>
            <a:miter lim="800000"/>
            <a:headEnd/>
            <a:tailEnd/>
          </a:ln>
          <a:effectLst/>
        </p:spPr>
        <p:txBody>
          <a:bodyPr wrap="none">
            <a:spAutoFit/>
          </a:bodyPr>
          <a:lstStyle/>
          <a:p>
            <a:pPr algn="ctr" eaLnBrk="1" hangingPunct="1"/>
            <a:r>
              <a:rPr lang="en-US" sz="2800" i="1">
                <a:solidFill>
                  <a:schemeClr val="accent2"/>
                </a:solidFill>
                <a:latin typeface="Times New Roman" pitchFamily="18" charset="0"/>
                <a:cs typeface="Arial" charset="0"/>
              </a:rPr>
              <a:t>Coordination Chemistry:</a:t>
            </a:r>
          </a:p>
          <a:p>
            <a:pPr algn="ctr" eaLnBrk="1" hangingPunct="1"/>
            <a:r>
              <a:rPr lang="en-US" sz="2800" i="1">
                <a:solidFill>
                  <a:schemeClr val="accent2"/>
                </a:solidFill>
                <a:latin typeface="Times New Roman" pitchFamily="18" charset="0"/>
                <a:cs typeface="Arial" charset="0"/>
              </a:rPr>
              <a:t>Molecular orbitals for metal complexes</a:t>
            </a:r>
          </a:p>
        </p:txBody>
      </p:sp>
    </p:spTree>
    <p:extLst>
      <p:ext uri="{BB962C8B-B14F-4D97-AF65-F5344CB8AC3E}">
        <p14:creationId xmlns:p14="http://schemas.microsoft.com/office/powerpoint/2010/main" val="394239218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3"/>
          <a:srcRect/>
          <a:stretch>
            <a:fillRect/>
          </a:stretch>
        </p:blipFill>
        <p:spPr bwMode="auto">
          <a:xfrm>
            <a:off x="5334000" y="1447800"/>
            <a:ext cx="2524125" cy="2057400"/>
          </a:xfrm>
          <a:prstGeom prst="rect">
            <a:avLst/>
          </a:prstGeom>
          <a:noFill/>
          <a:ln w="9525">
            <a:noFill/>
            <a:miter lim="800000"/>
            <a:headEnd/>
            <a:tailEnd/>
          </a:ln>
          <a:effectLst/>
        </p:spPr>
      </p:pic>
      <p:pic>
        <p:nvPicPr>
          <p:cNvPr id="30723" name="Picture 3"/>
          <p:cNvPicPr>
            <a:picLocks noChangeAspect="1" noChangeArrowheads="1"/>
          </p:cNvPicPr>
          <p:nvPr/>
        </p:nvPicPr>
        <p:blipFill>
          <a:blip r:embed="rId4"/>
          <a:srcRect/>
          <a:stretch>
            <a:fillRect/>
          </a:stretch>
        </p:blipFill>
        <p:spPr bwMode="auto">
          <a:xfrm>
            <a:off x="1190625" y="990600"/>
            <a:ext cx="3305175" cy="2735263"/>
          </a:xfrm>
          <a:prstGeom prst="rect">
            <a:avLst/>
          </a:prstGeom>
          <a:noFill/>
          <a:ln w="9525">
            <a:noFill/>
            <a:miter lim="800000"/>
            <a:headEnd/>
            <a:tailEnd/>
          </a:ln>
          <a:effectLst/>
        </p:spPr>
      </p:pic>
      <p:pic>
        <p:nvPicPr>
          <p:cNvPr id="30724" name="Picture 4"/>
          <p:cNvPicPr>
            <a:picLocks noChangeAspect="1" noChangeArrowheads="1"/>
          </p:cNvPicPr>
          <p:nvPr/>
        </p:nvPicPr>
        <p:blipFill>
          <a:blip r:embed="rId5"/>
          <a:srcRect/>
          <a:stretch>
            <a:fillRect/>
          </a:stretch>
        </p:blipFill>
        <p:spPr bwMode="auto">
          <a:xfrm>
            <a:off x="1066800" y="4343400"/>
            <a:ext cx="6464300" cy="1782763"/>
          </a:xfrm>
          <a:prstGeom prst="rect">
            <a:avLst/>
          </a:prstGeom>
          <a:noFill/>
          <a:ln w="9525">
            <a:noFill/>
            <a:miter lim="800000"/>
            <a:headEnd/>
            <a:tailEnd/>
          </a:ln>
          <a:effectLst/>
        </p:spPr>
      </p:pic>
      <p:sp>
        <p:nvSpPr>
          <p:cNvPr id="30725" name="Text Box 5"/>
          <p:cNvSpPr txBox="1">
            <a:spLocks noChangeArrowheads="1"/>
          </p:cNvSpPr>
          <p:nvPr/>
        </p:nvSpPr>
        <p:spPr bwMode="auto">
          <a:xfrm>
            <a:off x="914400" y="228600"/>
            <a:ext cx="7662863"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The symmetry of metal orbitals in an octahedral environment</a:t>
            </a:r>
          </a:p>
        </p:txBody>
      </p:sp>
      <p:sp>
        <p:nvSpPr>
          <p:cNvPr id="30726" name="Text Box 6"/>
          <p:cNvSpPr txBox="1">
            <a:spLocks noChangeArrowheads="1"/>
          </p:cNvSpPr>
          <p:nvPr/>
        </p:nvSpPr>
        <p:spPr bwMode="auto">
          <a:xfrm>
            <a:off x="7848600" y="2438400"/>
            <a:ext cx="506413" cy="366713"/>
          </a:xfrm>
          <a:prstGeom prst="rect">
            <a:avLst/>
          </a:prstGeom>
          <a:noFill/>
          <a:ln w="9525">
            <a:noFill/>
            <a:miter lim="800000"/>
            <a:headEnd/>
            <a:tailEnd/>
          </a:ln>
          <a:effectLst/>
        </p:spPr>
        <p:txBody>
          <a:bodyPr>
            <a:spAutoFit/>
          </a:bodyPr>
          <a:lstStyle/>
          <a:p>
            <a:pPr eaLnBrk="1" hangingPunct="1"/>
            <a:r>
              <a:rPr lang="en-US" sz="1800" i="1">
                <a:solidFill>
                  <a:schemeClr val="accent2"/>
                </a:solidFill>
                <a:latin typeface="Times New Roman" pitchFamily="18" charset="0"/>
                <a:cs typeface="Arial" charset="0"/>
              </a:rPr>
              <a:t>A</a:t>
            </a:r>
            <a:r>
              <a:rPr lang="en-US" sz="1800" i="1" baseline="-25000">
                <a:solidFill>
                  <a:schemeClr val="accent2"/>
                </a:solidFill>
                <a:latin typeface="Times New Roman" pitchFamily="18" charset="0"/>
                <a:cs typeface="Arial" charset="0"/>
              </a:rPr>
              <a:t>1g</a:t>
            </a:r>
            <a:endParaRPr lang="en-US" sz="1800" i="1">
              <a:solidFill>
                <a:schemeClr val="accent2"/>
              </a:solidFill>
              <a:latin typeface="Times New Roman" pitchFamily="18" charset="0"/>
              <a:cs typeface="Arial" charset="0"/>
            </a:endParaRPr>
          </a:p>
        </p:txBody>
      </p:sp>
      <p:sp>
        <p:nvSpPr>
          <p:cNvPr id="30727" name="Text Box 7"/>
          <p:cNvSpPr txBox="1">
            <a:spLocks noChangeArrowheads="1"/>
          </p:cNvSpPr>
          <p:nvPr/>
        </p:nvSpPr>
        <p:spPr bwMode="auto">
          <a:xfrm>
            <a:off x="7848600" y="5181600"/>
            <a:ext cx="506413" cy="366713"/>
          </a:xfrm>
          <a:prstGeom prst="rect">
            <a:avLst/>
          </a:prstGeom>
          <a:noFill/>
          <a:ln w="9525">
            <a:noFill/>
            <a:miter lim="800000"/>
            <a:headEnd/>
            <a:tailEnd/>
          </a:ln>
          <a:effectLst/>
        </p:spPr>
        <p:txBody>
          <a:bodyPr>
            <a:spAutoFit/>
          </a:bodyPr>
          <a:lstStyle/>
          <a:p>
            <a:pPr eaLnBrk="1" hangingPunct="1"/>
            <a:r>
              <a:rPr lang="en-US" sz="1800" i="1">
                <a:solidFill>
                  <a:schemeClr val="accent2"/>
                </a:solidFill>
                <a:latin typeface="Times New Roman" pitchFamily="18" charset="0"/>
                <a:cs typeface="Arial" charset="0"/>
              </a:rPr>
              <a:t>T</a:t>
            </a:r>
            <a:r>
              <a:rPr lang="en-US" sz="1800" i="1" baseline="-25000">
                <a:solidFill>
                  <a:schemeClr val="accent2"/>
                </a:solidFill>
                <a:latin typeface="Times New Roman" pitchFamily="18" charset="0"/>
                <a:cs typeface="Arial" charset="0"/>
              </a:rPr>
              <a:t>1u</a:t>
            </a:r>
            <a:endParaRPr lang="en-US" sz="1800" i="1">
              <a:solidFill>
                <a:schemeClr val="accent2"/>
              </a:solidFill>
              <a:latin typeface="Times New Roman" pitchFamily="18" charset="0"/>
              <a:cs typeface="Arial" charset="0"/>
            </a:endParaRPr>
          </a:p>
        </p:txBody>
      </p:sp>
    </p:spTree>
    <p:extLst>
      <p:ext uri="{BB962C8B-B14F-4D97-AF65-F5344CB8AC3E}">
        <p14:creationId xmlns:p14="http://schemas.microsoft.com/office/powerpoint/2010/main" val="211688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07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07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7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autoUpdateAnimBg="0"/>
      <p:bldP spid="30727" grpId="0" autoUpdateAnimBg="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srcRect/>
          <a:stretch>
            <a:fillRect/>
          </a:stretch>
        </p:blipFill>
        <p:spPr bwMode="auto">
          <a:xfrm>
            <a:off x="609600" y="1219200"/>
            <a:ext cx="6286500" cy="4160838"/>
          </a:xfrm>
          <a:prstGeom prst="rect">
            <a:avLst/>
          </a:prstGeom>
          <a:noFill/>
          <a:ln w="9525">
            <a:noFill/>
            <a:miter lim="800000"/>
            <a:headEnd/>
            <a:tailEnd/>
          </a:ln>
          <a:effectLst/>
        </p:spPr>
      </p:pic>
      <p:pic>
        <p:nvPicPr>
          <p:cNvPr id="31747" name="Picture 3"/>
          <p:cNvPicPr>
            <a:picLocks noChangeAspect="1" noChangeArrowheads="1"/>
          </p:cNvPicPr>
          <p:nvPr/>
        </p:nvPicPr>
        <p:blipFill>
          <a:blip r:embed="rId4"/>
          <a:srcRect/>
          <a:stretch>
            <a:fillRect/>
          </a:stretch>
        </p:blipFill>
        <p:spPr bwMode="auto">
          <a:xfrm>
            <a:off x="5229225" y="3436938"/>
            <a:ext cx="3305175" cy="2735262"/>
          </a:xfrm>
          <a:prstGeom prst="rect">
            <a:avLst/>
          </a:prstGeom>
          <a:noFill/>
          <a:ln w="9525">
            <a:noFill/>
            <a:miter lim="800000"/>
            <a:headEnd/>
            <a:tailEnd/>
          </a:ln>
          <a:effectLst/>
        </p:spPr>
      </p:pic>
      <p:sp>
        <p:nvSpPr>
          <p:cNvPr id="31748" name="Text Box 4"/>
          <p:cNvSpPr txBox="1">
            <a:spLocks noChangeArrowheads="1"/>
          </p:cNvSpPr>
          <p:nvPr/>
        </p:nvSpPr>
        <p:spPr bwMode="auto">
          <a:xfrm>
            <a:off x="7391400" y="2133600"/>
            <a:ext cx="506413" cy="366713"/>
          </a:xfrm>
          <a:prstGeom prst="rect">
            <a:avLst/>
          </a:prstGeom>
          <a:noFill/>
          <a:ln w="9525">
            <a:noFill/>
            <a:miter lim="800000"/>
            <a:headEnd/>
            <a:tailEnd/>
          </a:ln>
          <a:effectLst/>
        </p:spPr>
        <p:txBody>
          <a:bodyPr>
            <a:spAutoFit/>
          </a:bodyPr>
          <a:lstStyle/>
          <a:p>
            <a:pPr eaLnBrk="1" hangingPunct="1"/>
            <a:r>
              <a:rPr lang="en-US" sz="1800" i="1">
                <a:solidFill>
                  <a:schemeClr val="accent2"/>
                </a:solidFill>
                <a:latin typeface="Times New Roman" pitchFamily="18" charset="0"/>
                <a:cs typeface="Arial" charset="0"/>
              </a:rPr>
              <a:t>T</a:t>
            </a:r>
            <a:r>
              <a:rPr lang="en-US" sz="1800" i="1" baseline="-25000">
                <a:solidFill>
                  <a:schemeClr val="accent2"/>
                </a:solidFill>
                <a:latin typeface="Times New Roman" pitchFamily="18" charset="0"/>
                <a:cs typeface="Arial" charset="0"/>
              </a:rPr>
              <a:t>2g</a:t>
            </a:r>
            <a:endParaRPr lang="en-US" sz="1800" i="1">
              <a:solidFill>
                <a:schemeClr val="accent2"/>
              </a:solidFill>
              <a:latin typeface="Times New Roman" pitchFamily="18" charset="0"/>
              <a:cs typeface="Arial" charset="0"/>
            </a:endParaRPr>
          </a:p>
        </p:txBody>
      </p:sp>
      <p:sp>
        <p:nvSpPr>
          <p:cNvPr id="31749" name="Text Box 5"/>
          <p:cNvSpPr txBox="1">
            <a:spLocks noChangeArrowheads="1"/>
          </p:cNvSpPr>
          <p:nvPr/>
        </p:nvSpPr>
        <p:spPr bwMode="auto">
          <a:xfrm>
            <a:off x="228600" y="4343400"/>
            <a:ext cx="506413" cy="366713"/>
          </a:xfrm>
          <a:prstGeom prst="rect">
            <a:avLst/>
          </a:prstGeom>
          <a:noFill/>
          <a:ln w="9525">
            <a:noFill/>
            <a:miter lim="800000"/>
            <a:headEnd/>
            <a:tailEnd/>
          </a:ln>
          <a:effectLst/>
        </p:spPr>
        <p:txBody>
          <a:bodyPr>
            <a:spAutoFit/>
          </a:bodyPr>
          <a:lstStyle/>
          <a:p>
            <a:r>
              <a:rPr lang="en-US" sz="1800" i="1">
                <a:solidFill>
                  <a:schemeClr val="accent2"/>
                </a:solidFill>
                <a:latin typeface="Times New Roman" pitchFamily="18" charset="0"/>
                <a:cs typeface="Arial" charset="0"/>
              </a:rPr>
              <a:t>E</a:t>
            </a:r>
            <a:r>
              <a:rPr lang="en-US" sz="1800" i="1" baseline="-25000">
                <a:solidFill>
                  <a:schemeClr val="accent2"/>
                </a:solidFill>
                <a:latin typeface="Times New Roman" pitchFamily="18" charset="0"/>
                <a:cs typeface="Arial" charset="0"/>
              </a:rPr>
              <a:t>g</a:t>
            </a:r>
            <a:endParaRPr lang="en-US" sz="1800" i="1">
              <a:solidFill>
                <a:schemeClr val="accent2"/>
              </a:solidFill>
              <a:latin typeface="Times New Roman" pitchFamily="18" charset="0"/>
              <a:cs typeface="Arial" charset="0"/>
            </a:endParaRPr>
          </a:p>
        </p:txBody>
      </p:sp>
      <p:sp>
        <p:nvSpPr>
          <p:cNvPr id="31750" name="Text Box 6"/>
          <p:cNvSpPr txBox="1">
            <a:spLocks noChangeArrowheads="1"/>
          </p:cNvSpPr>
          <p:nvPr/>
        </p:nvSpPr>
        <p:spPr bwMode="auto">
          <a:xfrm>
            <a:off x="914400" y="228600"/>
            <a:ext cx="7662863"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The symmetry of metal orbitals in an octahedral environment</a:t>
            </a:r>
          </a:p>
        </p:txBody>
      </p:sp>
    </p:spTree>
    <p:extLst>
      <p:ext uri="{BB962C8B-B14F-4D97-AF65-F5344CB8AC3E}">
        <p14:creationId xmlns:p14="http://schemas.microsoft.com/office/powerpoint/2010/main" val="183678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7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17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autoUpdateAnimBg="0"/>
      <p:bldP spid="31749" grpId="0" autoUpdateAnimBg="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3"/>
          <a:srcRect/>
          <a:stretch>
            <a:fillRect/>
          </a:stretch>
        </p:blipFill>
        <p:spPr bwMode="auto">
          <a:xfrm>
            <a:off x="152400" y="1817688"/>
            <a:ext cx="8839200" cy="3516312"/>
          </a:xfrm>
          <a:prstGeom prst="rect">
            <a:avLst/>
          </a:prstGeom>
          <a:noFill/>
          <a:ln w="9525">
            <a:noFill/>
            <a:miter lim="800000"/>
            <a:headEnd/>
            <a:tailEnd/>
          </a:ln>
          <a:effectLst/>
        </p:spPr>
      </p:pic>
      <p:sp>
        <p:nvSpPr>
          <p:cNvPr id="32771" name="Text Box 3"/>
          <p:cNvSpPr txBox="1">
            <a:spLocks noChangeArrowheads="1"/>
          </p:cNvSpPr>
          <p:nvPr/>
        </p:nvSpPr>
        <p:spPr bwMode="auto">
          <a:xfrm>
            <a:off x="914400" y="685800"/>
            <a:ext cx="7662863"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The symmetry of metal orbitals in an octahedral environment</a:t>
            </a:r>
          </a:p>
        </p:txBody>
      </p:sp>
      <p:grpSp>
        <p:nvGrpSpPr>
          <p:cNvPr id="2" name="Group 4"/>
          <p:cNvGrpSpPr>
            <a:grpSpLocks/>
          </p:cNvGrpSpPr>
          <p:nvPr/>
        </p:nvGrpSpPr>
        <p:grpSpPr bwMode="auto">
          <a:xfrm>
            <a:off x="152400" y="2590800"/>
            <a:ext cx="7124700" cy="381000"/>
            <a:chOff x="96" y="1632"/>
            <a:chExt cx="4488" cy="240"/>
          </a:xfrm>
        </p:grpSpPr>
        <p:sp>
          <p:nvSpPr>
            <p:cNvPr id="32773" name="Text Box 5"/>
            <p:cNvSpPr txBox="1">
              <a:spLocks noChangeArrowheads="1"/>
            </p:cNvSpPr>
            <p:nvPr/>
          </p:nvSpPr>
          <p:spPr bwMode="auto">
            <a:xfrm>
              <a:off x="4406" y="1632"/>
              <a:ext cx="178" cy="237"/>
            </a:xfrm>
            <a:prstGeom prst="rect">
              <a:avLst/>
            </a:prstGeom>
            <a:noFill/>
            <a:ln w="9525">
              <a:solidFill>
                <a:srgbClr val="FF0000"/>
              </a:solidFill>
              <a:miter lim="800000"/>
              <a:headEnd/>
              <a:tailEnd/>
            </a:ln>
            <a:effectLst/>
          </p:spPr>
          <p:txBody>
            <a:bodyPr wrap="none">
              <a:spAutoFit/>
            </a:bodyPr>
            <a:lstStyle/>
            <a:p>
              <a:pPr eaLnBrk="1" hangingPunct="1"/>
              <a:r>
                <a:rPr lang="en-US" sz="1800" i="1">
                  <a:solidFill>
                    <a:srgbClr val="FF0000"/>
                  </a:solidFill>
                  <a:latin typeface="Times New Roman" pitchFamily="18" charset="0"/>
                  <a:cs typeface="Arial" charset="0"/>
                </a:rPr>
                <a:t>s</a:t>
              </a:r>
            </a:p>
          </p:txBody>
        </p:sp>
        <p:sp>
          <p:nvSpPr>
            <p:cNvPr id="32774" name="Oval 6"/>
            <p:cNvSpPr>
              <a:spLocks noChangeArrowheads="1"/>
            </p:cNvSpPr>
            <p:nvPr/>
          </p:nvSpPr>
          <p:spPr bwMode="auto">
            <a:xfrm>
              <a:off x="96" y="1680"/>
              <a:ext cx="336" cy="192"/>
            </a:xfrm>
            <a:prstGeom prst="ellipse">
              <a:avLst/>
            </a:prstGeom>
            <a:noFill/>
            <a:ln w="9525">
              <a:solidFill>
                <a:srgbClr val="FF0000"/>
              </a:solidFill>
              <a:round/>
              <a:headEnd/>
              <a:tailEnd/>
            </a:ln>
            <a:effectLst/>
          </p:spPr>
          <p:txBody>
            <a:bodyPr wrap="none" anchor="ctr"/>
            <a:lstStyle/>
            <a:p>
              <a:endParaRPr lang="en-US"/>
            </a:p>
          </p:txBody>
        </p:sp>
      </p:grpSp>
      <p:grpSp>
        <p:nvGrpSpPr>
          <p:cNvPr id="3" name="Group 7"/>
          <p:cNvGrpSpPr>
            <a:grpSpLocks/>
          </p:cNvGrpSpPr>
          <p:nvPr/>
        </p:nvGrpSpPr>
        <p:grpSpPr bwMode="auto">
          <a:xfrm>
            <a:off x="152400" y="4724400"/>
            <a:ext cx="7391400" cy="381000"/>
            <a:chOff x="96" y="2976"/>
            <a:chExt cx="4656" cy="240"/>
          </a:xfrm>
        </p:grpSpPr>
        <p:sp>
          <p:nvSpPr>
            <p:cNvPr id="32776" name="Rectangle 8"/>
            <p:cNvSpPr>
              <a:spLocks noChangeArrowheads="1"/>
            </p:cNvSpPr>
            <p:nvPr/>
          </p:nvSpPr>
          <p:spPr bwMode="auto">
            <a:xfrm>
              <a:off x="4320" y="2976"/>
              <a:ext cx="432" cy="240"/>
            </a:xfrm>
            <a:prstGeom prst="rect">
              <a:avLst/>
            </a:prstGeom>
            <a:noFill/>
            <a:ln w="9525">
              <a:solidFill>
                <a:srgbClr val="FF0000"/>
              </a:solidFill>
              <a:miter lim="800000"/>
              <a:headEnd/>
              <a:tailEnd/>
            </a:ln>
            <a:effectLst/>
          </p:spPr>
          <p:txBody>
            <a:bodyPr wrap="none" anchor="ctr"/>
            <a:lstStyle/>
            <a:p>
              <a:endParaRPr lang="en-US"/>
            </a:p>
          </p:txBody>
        </p:sp>
        <p:sp>
          <p:nvSpPr>
            <p:cNvPr id="32777" name="Oval 9"/>
            <p:cNvSpPr>
              <a:spLocks noChangeArrowheads="1"/>
            </p:cNvSpPr>
            <p:nvPr/>
          </p:nvSpPr>
          <p:spPr bwMode="auto">
            <a:xfrm>
              <a:off x="96" y="2976"/>
              <a:ext cx="336" cy="192"/>
            </a:xfrm>
            <a:prstGeom prst="ellipse">
              <a:avLst/>
            </a:prstGeom>
            <a:noFill/>
            <a:ln w="9525">
              <a:solidFill>
                <a:srgbClr val="FF0000"/>
              </a:solidFill>
              <a:round/>
              <a:headEnd/>
              <a:tailEnd/>
            </a:ln>
            <a:effectLst/>
          </p:spPr>
          <p:txBody>
            <a:bodyPr wrap="none" anchor="ctr"/>
            <a:lstStyle/>
            <a:p>
              <a:endParaRPr lang="en-US"/>
            </a:p>
          </p:txBody>
        </p:sp>
      </p:grpSp>
      <p:grpSp>
        <p:nvGrpSpPr>
          <p:cNvPr id="4" name="Group 10"/>
          <p:cNvGrpSpPr>
            <a:grpSpLocks/>
          </p:cNvGrpSpPr>
          <p:nvPr/>
        </p:nvGrpSpPr>
        <p:grpSpPr bwMode="auto">
          <a:xfrm>
            <a:off x="152400" y="3733800"/>
            <a:ext cx="8610600" cy="457200"/>
            <a:chOff x="96" y="2352"/>
            <a:chExt cx="5424" cy="288"/>
          </a:xfrm>
        </p:grpSpPr>
        <p:sp>
          <p:nvSpPr>
            <p:cNvPr id="32779" name="Rectangle 11"/>
            <p:cNvSpPr>
              <a:spLocks noChangeArrowheads="1"/>
            </p:cNvSpPr>
            <p:nvPr/>
          </p:nvSpPr>
          <p:spPr bwMode="auto">
            <a:xfrm>
              <a:off x="5040" y="2352"/>
              <a:ext cx="480" cy="288"/>
            </a:xfrm>
            <a:prstGeom prst="rect">
              <a:avLst/>
            </a:prstGeom>
            <a:noFill/>
            <a:ln w="9525">
              <a:solidFill>
                <a:srgbClr val="FF0000"/>
              </a:solidFill>
              <a:miter lim="800000"/>
              <a:headEnd/>
              <a:tailEnd/>
            </a:ln>
            <a:effectLst/>
          </p:spPr>
          <p:txBody>
            <a:bodyPr wrap="none" anchor="ctr"/>
            <a:lstStyle/>
            <a:p>
              <a:endParaRPr lang="en-US"/>
            </a:p>
          </p:txBody>
        </p:sp>
        <p:sp>
          <p:nvSpPr>
            <p:cNvPr id="32780" name="Oval 12"/>
            <p:cNvSpPr>
              <a:spLocks noChangeArrowheads="1"/>
            </p:cNvSpPr>
            <p:nvPr/>
          </p:nvSpPr>
          <p:spPr bwMode="auto">
            <a:xfrm>
              <a:off x="96" y="2400"/>
              <a:ext cx="336" cy="192"/>
            </a:xfrm>
            <a:prstGeom prst="ellipse">
              <a:avLst/>
            </a:prstGeom>
            <a:noFill/>
            <a:ln w="9525">
              <a:solidFill>
                <a:srgbClr val="FF0000"/>
              </a:solidFill>
              <a:round/>
              <a:headEnd/>
              <a:tailEnd/>
            </a:ln>
            <a:effectLst/>
          </p:spPr>
          <p:txBody>
            <a:bodyPr wrap="none" anchor="ctr"/>
            <a:lstStyle/>
            <a:p>
              <a:endParaRPr lang="en-US"/>
            </a:p>
          </p:txBody>
        </p:sp>
      </p:grpSp>
      <p:grpSp>
        <p:nvGrpSpPr>
          <p:cNvPr id="5" name="Group 13"/>
          <p:cNvGrpSpPr>
            <a:grpSpLocks/>
          </p:cNvGrpSpPr>
          <p:nvPr/>
        </p:nvGrpSpPr>
        <p:grpSpPr bwMode="auto">
          <a:xfrm>
            <a:off x="152400" y="3048000"/>
            <a:ext cx="8763000" cy="609600"/>
            <a:chOff x="96" y="1920"/>
            <a:chExt cx="5520" cy="384"/>
          </a:xfrm>
        </p:grpSpPr>
        <p:sp>
          <p:nvSpPr>
            <p:cNvPr id="32782" name="Rectangle 14"/>
            <p:cNvSpPr>
              <a:spLocks noChangeArrowheads="1"/>
            </p:cNvSpPr>
            <p:nvPr/>
          </p:nvSpPr>
          <p:spPr bwMode="auto">
            <a:xfrm>
              <a:off x="4896" y="1920"/>
              <a:ext cx="720" cy="384"/>
            </a:xfrm>
            <a:prstGeom prst="rect">
              <a:avLst/>
            </a:prstGeom>
            <a:noFill/>
            <a:ln w="9525">
              <a:solidFill>
                <a:srgbClr val="FF0000"/>
              </a:solidFill>
              <a:miter lim="800000"/>
              <a:headEnd/>
              <a:tailEnd/>
            </a:ln>
            <a:effectLst/>
          </p:spPr>
          <p:txBody>
            <a:bodyPr wrap="none" anchor="ctr"/>
            <a:lstStyle/>
            <a:p>
              <a:endParaRPr lang="en-US"/>
            </a:p>
          </p:txBody>
        </p:sp>
        <p:sp>
          <p:nvSpPr>
            <p:cNvPr id="32783" name="Oval 15"/>
            <p:cNvSpPr>
              <a:spLocks noChangeArrowheads="1"/>
            </p:cNvSpPr>
            <p:nvPr/>
          </p:nvSpPr>
          <p:spPr bwMode="auto">
            <a:xfrm>
              <a:off x="96" y="1968"/>
              <a:ext cx="336" cy="192"/>
            </a:xfrm>
            <a:prstGeom prst="ellipse">
              <a:avLst/>
            </a:prstGeom>
            <a:noFill/>
            <a:ln w="9525">
              <a:solidFill>
                <a:srgbClr val="FF0000"/>
              </a:solidFill>
              <a:round/>
              <a:headEnd/>
              <a:tailEnd/>
            </a:ln>
            <a:effectLst/>
          </p:spPr>
          <p:txBody>
            <a:bodyPr wrap="none" anchor="ctr"/>
            <a:lstStyle/>
            <a:p>
              <a:endParaRPr lang="en-US"/>
            </a:p>
          </p:txBody>
        </p:sp>
      </p:grpSp>
    </p:spTree>
    <p:extLst>
      <p:ext uri="{BB962C8B-B14F-4D97-AF65-F5344CB8AC3E}">
        <p14:creationId xmlns:p14="http://schemas.microsoft.com/office/powerpoint/2010/main" val="3738574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3"/>
          <a:srcRect/>
          <a:stretch>
            <a:fillRect/>
          </a:stretch>
        </p:blipFill>
        <p:spPr bwMode="auto">
          <a:xfrm>
            <a:off x="3397250" y="2006600"/>
            <a:ext cx="2349500" cy="3098800"/>
          </a:xfrm>
          <a:prstGeom prst="rect">
            <a:avLst/>
          </a:prstGeom>
          <a:noFill/>
          <a:ln w="9525">
            <a:noFill/>
            <a:miter lim="800000"/>
            <a:headEnd/>
            <a:tailEnd/>
          </a:ln>
          <a:effectLst/>
        </p:spPr>
      </p:pic>
      <p:sp>
        <p:nvSpPr>
          <p:cNvPr id="33795" name="Text Box 3"/>
          <p:cNvSpPr txBox="1">
            <a:spLocks noChangeArrowheads="1"/>
          </p:cNvSpPr>
          <p:nvPr/>
        </p:nvSpPr>
        <p:spPr bwMode="auto">
          <a:xfrm>
            <a:off x="914400" y="685800"/>
            <a:ext cx="7251700"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Metal-ligand </a:t>
            </a:r>
            <a:r>
              <a:rPr lang="en-US" i="1">
                <a:solidFill>
                  <a:schemeClr val="accent2"/>
                </a:solidFill>
                <a:latin typeface="Symbol" pitchFamily="18" charset="2"/>
                <a:cs typeface="Arial" charset="0"/>
              </a:rPr>
              <a:t>s</a:t>
            </a:r>
            <a:r>
              <a:rPr lang="en-US" i="1">
                <a:solidFill>
                  <a:schemeClr val="accent2"/>
                </a:solidFill>
                <a:latin typeface="Times New Roman" pitchFamily="18" charset="0"/>
                <a:cs typeface="Arial" charset="0"/>
              </a:rPr>
              <a:t> interactions in an octahedral environment</a:t>
            </a:r>
          </a:p>
        </p:txBody>
      </p:sp>
      <p:sp>
        <p:nvSpPr>
          <p:cNvPr id="33796" name="Text Box 4"/>
          <p:cNvSpPr txBox="1">
            <a:spLocks noChangeArrowheads="1"/>
          </p:cNvSpPr>
          <p:nvPr/>
        </p:nvSpPr>
        <p:spPr bwMode="auto">
          <a:xfrm>
            <a:off x="304800" y="1219200"/>
            <a:ext cx="8359775" cy="396875"/>
          </a:xfrm>
          <a:prstGeom prst="rect">
            <a:avLst/>
          </a:prstGeom>
          <a:noFill/>
          <a:ln w="9525">
            <a:noFill/>
            <a:miter lim="800000"/>
            <a:headEnd/>
            <a:tailEnd/>
          </a:ln>
          <a:effectLst/>
        </p:spPr>
        <p:txBody>
          <a:bodyPr wrap="none">
            <a:spAutoFit/>
          </a:bodyPr>
          <a:lstStyle/>
          <a:p>
            <a:pPr eaLnBrk="1" hangingPunct="1"/>
            <a:r>
              <a:rPr lang="en-US" sz="2000" i="1">
                <a:solidFill>
                  <a:srgbClr val="FF0000"/>
                </a:solidFill>
                <a:latin typeface="Times New Roman" pitchFamily="18" charset="0"/>
                <a:cs typeface="Arial" charset="0"/>
              </a:rPr>
              <a:t>Six ligand orbitals of </a:t>
            </a:r>
            <a:r>
              <a:rPr lang="en-US" sz="2000" i="1">
                <a:solidFill>
                  <a:srgbClr val="FF0000"/>
                </a:solidFill>
                <a:latin typeface="Symbol" pitchFamily="18" charset="2"/>
                <a:cs typeface="Arial" charset="0"/>
              </a:rPr>
              <a:t>s</a:t>
            </a:r>
            <a:r>
              <a:rPr lang="en-US" sz="2000" i="1">
                <a:solidFill>
                  <a:srgbClr val="FF0000"/>
                </a:solidFill>
                <a:latin typeface="Times New Roman" pitchFamily="18" charset="0"/>
                <a:cs typeface="Arial" charset="0"/>
              </a:rPr>
              <a:t> symmetry approaching the metal ion along the x,y,z axes</a:t>
            </a:r>
          </a:p>
        </p:txBody>
      </p:sp>
      <p:sp>
        <p:nvSpPr>
          <p:cNvPr id="33797" name="Text Box 5"/>
          <p:cNvSpPr txBox="1">
            <a:spLocks noChangeArrowheads="1"/>
          </p:cNvSpPr>
          <p:nvPr/>
        </p:nvSpPr>
        <p:spPr bwMode="auto">
          <a:xfrm>
            <a:off x="1679575" y="5622925"/>
            <a:ext cx="5746750" cy="701675"/>
          </a:xfrm>
          <a:prstGeom prst="rect">
            <a:avLst/>
          </a:prstGeom>
          <a:noFill/>
          <a:ln w="9525">
            <a:noFill/>
            <a:miter lim="800000"/>
            <a:headEnd/>
            <a:tailEnd/>
          </a:ln>
          <a:effectLst/>
        </p:spPr>
        <p:txBody>
          <a:bodyPr wrap="none">
            <a:spAutoFit/>
          </a:bodyPr>
          <a:lstStyle/>
          <a:p>
            <a:pPr algn="ctr" eaLnBrk="1" hangingPunct="1"/>
            <a:r>
              <a:rPr lang="en-US" sz="2000" i="1">
                <a:latin typeface="Times New Roman" pitchFamily="18" charset="0"/>
                <a:cs typeface="Arial" charset="0"/>
              </a:rPr>
              <a:t>We can build 6 </a:t>
            </a:r>
            <a:r>
              <a:rPr lang="en-US" sz="2000" i="1" u="sng">
                <a:latin typeface="Times New Roman" pitchFamily="18" charset="0"/>
                <a:cs typeface="Arial" charset="0"/>
              </a:rPr>
              <a:t>group orbitals</a:t>
            </a:r>
            <a:r>
              <a:rPr lang="en-US" sz="2000" i="1">
                <a:latin typeface="Times New Roman" pitchFamily="18" charset="0"/>
                <a:cs typeface="Arial" charset="0"/>
              </a:rPr>
              <a:t> of </a:t>
            </a:r>
            <a:r>
              <a:rPr lang="en-US" sz="2000" i="1">
                <a:latin typeface="Symbol" pitchFamily="18" charset="2"/>
                <a:cs typeface="Arial" charset="0"/>
              </a:rPr>
              <a:t>s</a:t>
            </a:r>
            <a:r>
              <a:rPr lang="en-US" sz="2000" i="1">
                <a:latin typeface="Times New Roman" pitchFamily="18" charset="0"/>
                <a:cs typeface="Arial" charset="0"/>
              </a:rPr>
              <a:t> symmetry as before</a:t>
            </a:r>
          </a:p>
          <a:p>
            <a:pPr algn="ctr" eaLnBrk="1" hangingPunct="1"/>
            <a:r>
              <a:rPr lang="en-US" sz="2000" i="1">
                <a:latin typeface="Times New Roman" pitchFamily="18" charset="0"/>
                <a:cs typeface="Arial" charset="0"/>
              </a:rPr>
              <a:t>and work out the reducible representation</a:t>
            </a:r>
          </a:p>
        </p:txBody>
      </p:sp>
    </p:spTree>
    <p:extLst>
      <p:ext uri="{BB962C8B-B14F-4D97-AF65-F5344CB8AC3E}">
        <p14:creationId xmlns:p14="http://schemas.microsoft.com/office/powerpoint/2010/main" val="83909349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3"/>
          <a:srcRect/>
          <a:stretch>
            <a:fillRect/>
          </a:stretch>
        </p:blipFill>
        <p:spPr bwMode="auto">
          <a:xfrm>
            <a:off x="228600" y="533400"/>
            <a:ext cx="8915400" cy="4900613"/>
          </a:xfrm>
          <a:prstGeom prst="rect">
            <a:avLst/>
          </a:prstGeom>
          <a:noFill/>
          <a:ln w="9525">
            <a:noFill/>
            <a:miter lim="800000"/>
            <a:headEnd/>
            <a:tailEnd/>
          </a:ln>
          <a:effectLst/>
        </p:spPr>
      </p:pic>
      <p:sp>
        <p:nvSpPr>
          <p:cNvPr id="34819" name="Rectangle 3"/>
          <p:cNvSpPr>
            <a:spLocks noChangeArrowheads="1"/>
          </p:cNvSpPr>
          <p:nvPr/>
        </p:nvSpPr>
        <p:spPr bwMode="auto">
          <a:xfrm>
            <a:off x="152400" y="3886200"/>
            <a:ext cx="8763000" cy="1295400"/>
          </a:xfrm>
          <a:prstGeom prst="rect">
            <a:avLst/>
          </a:prstGeom>
          <a:noFill/>
          <a:ln w="28575">
            <a:solidFill>
              <a:schemeClr val="accent2"/>
            </a:solidFill>
            <a:miter lim="800000"/>
            <a:headEnd/>
            <a:tailEnd/>
          </a:ln>
          <a:effectLst/>
        </p:spPr>
        <p:txBody>
          <a:bodyPr wrap="none" anchor="ctr"/>
          <a:lstStyle/>
          <a:p>
            <a:pPr algn="ctr" eaLnBrk="1" hangingPunct="1"/>
            <a:endParaRPr lang="en-US" sz="1800">
              <a:solidFill>
                <a:srgbClr val="FF0000"/>
              </a:solidFill>
              <a:latin typeface="Arial" charset="0"/>
              <a:cs typeface="Arial" charset="0"/>
            </a:endParaRPr>
          </a:p>
        </p:txBody>
      </p:sp>
      <p:sp>
        <p:nvSpPr>
          <p:cNvPr id="34820" name="Text Box 4"/>
          <p:cNvSpPr txBox="1">
            <a:spLocks noChangeArrowheads="1"/>
          </p:cNvSpPr>
          <p:nvPr/>
        </p:nvSpPr>
        <p:spPr bwMode="auto">
          <a:xfrm>
            <a:off x="6994525" y="1219200"/>
            <a:ext cx="273050" cy="366713"/>
          </a:xfrm>
          <a:prstGeom prst="rect">
            <a:avLst/>
          </a:prstGeom>
          <a:noFill/>
          <a:ln w="9525">
            <a:noFill/>
            <a:miter lim="800000"/>
            <a:headEnd/>
            <a:tailEnd/>
          </a:ln>
          <a:effectLst/>
        </p:spPr>
        <p:txBody>
          <a:bodyPr wrap="none">
            <a:spAutoFit/>
          </a:bodyPr>
          <a:lstStyle/>
          <a:p>
            <a:pPr eaLnBrk="1" hangingPunct="1"/>
            <a:r>
              <a:rPr lang="en-US" sz="1800" i="1">
                <a:latin typeface="Times New Roman" pitchFamily="18" charset="0"/>
                <a:cs typeface="Arial" charset="0"/>
              </a:rPr>
              <a:t>s</a:t>
            </a:r>
          </a:p>
        </p:txBody>
      </p:sp>
      <p:sp>
        <p:nvSpPr>
          <p:cNvPr id="34821" name="Text Box 5"/>
          <p:cNvSpPr txBox="1">
            <a:spLocks noChangeArrowheads="1"/>
          </p:cNvSpPr>
          <p:nvPr/>
        </p:nvSpPr>
        <p:spPr bwMode="auto">
          <a:xfrm>
            <a:off x="788988" y="5562600"/>
            <a:ext cx="7440612" cy="915988"/>
          </a:xfrm>
          <a:prstGeom prst="rect">
            <a:avLst/>
          </a:prstGeom>
          <a:noFill/>
          <a:ln w="9525">
            <a:noFill/>
            <a:miter lim="800000"/>
            <a:headEnd/>
            <a:tailEnd/>
          </a:ln>
          <a:effectLst/>
        </p:spPr>
        <p:txBody>
          <a:bodyPr wrap="none">
            <a:spAutoFit/>
          </a:bodyPr>
          <a:lstStyle/>
          <a:p>
            <a:pPr eaLnBrk="1" hangingPunct="1"/>
            <a:r>
              <a:rPr lang="en-US" sz="1800">
                <a:solidFill>
                  <a:srgbClr val="FF0000"/>
                </a:solidFill>
                <a:latin typeface="Times New Roman" pitchFamily="18" charset="0"/>
                <a:cs typeface="Arial" charset="0"/>
              </a:rPr>
              <a:t>If you are given </a:t>
            </a:r>
            <a:r>
              <a:rPr lang="en-US" sz="1800">
                <a:solidFill>
                  <a:srgbClr val="FF0000"/>
                </a:solidFill>
                <a:latin typeface="Symbol" pitchFamily="18" charset="2"/>
                <a:cs typeface="Arial" charset="0"/>
              </a:rPr>
              <a:t>G</a:t>
            </a:r>
            <a:r>
              <a:rPr lang="en-US" sz="1800">
                <a:solidFill>
                  <a:srgbClr val="FF0000"/>
                </a:solidFill>
                <a:latin typeface="Times New Roman" pitchFamily="18" charset="0"/>
                <a:cs typeface="Arial" charset="0"/>
              </a:rPr>
              <a:t>, you know by now how to get the </a:t>
            </a:r>
            <a:r>
              <a:rPr lang="en-US" sz="1800" u="sng">
                <a:solidFill>
                  <a:srgbClr val="FF0000"/>
                </a:solidFill>
                <a:latin typeface="Times New Roman" pitchFamily="18" charset="0"/>
                <a:cs typeface="Arial" charset="0"/>
              </a:rPr>
              <a:t>irreducible</a:t>
            </a:r>
            <a:r>
              <a:rPr lang="en-US" sz="1800">
                <a:solidFill>
                  <a:srgbClr val="FF0000"/>
                </a:solidFill>
                <a:latin typeface="Times New Roman" pitchFamily="18" charset="0"/>
                <a:cs typeface="Arial" charset="0"/>
              </a:rPr>
              <a:t> representations</a:t>
            </a:r>
          </a:p>
          <a:p>
            <a:pPr eaLnBrk="1" hangingPunct="1"/>
            <a:endParaRPr lang="en-US" sz="1800">
              <a:solidFill>
                <a:srgbClr val="FF0000"/>
              </a:solidFill>
              <a:latin typeface="Times New Roman" pitchFamily="18" charset="0"/>
              <a:cs typeface="Arial" charset="0"/>
            </a:endParaRPr>
          </a:p>
          <a:p>
            <a:pPr eaLnBrk="1" hangingPunct="1"/>
            <a:r>
              <a:rPr lang="en-US" sz="1800">
                <a:solidFill>
                  <a:srgbClr val="FF0000"/>
                </a:solidFill>
                <a:latin typeface="Symbol" pitchFamily="18" charset="2"/>
                <a:cs typeface="Arial" charset="0"/>
              </a:rPr>
              <a:t>G</a:t>
            </a:r>
            <a:r>
              <a:rPr lang="en-US" sz="1800">
                <a:solidFill>
                  <a:srgbClr val="FF0000"/>
                </a:solidFill>
                <a:latin typeface="Times New Roman" pitchFamily="18" charset="0"/>
                <a:cs typeface="Arial" charset="0"/>
              </a:rPr>
              <a:t> = </a:t>
            </a:r>
            <a:r>
              <a:rPr lang="en-US" sz="1800" i="1">
                <a:solidFill>
                  <a:srgbClr val="FF0000"/>
                </a:solidFill>
                <a:latin typeface="Times New Roman" pitchFamily="18" charset="0"/>
                <a:cs typeface="Arial" charset="0"/>
              </a:rPr>
              <a:t>A</a:t>
            </a:r>
            <a:r>
              <a:rPr lang="en-US" sz="1800" i="1" baseline="-25000">
                <a:solidFill>
                  <a:srgbClr val="FF0000"/>
                </a:solidFill>
                <a:latin typeface="Times New Roman" pitchFamily="18" charset="0"/>
                <a:cs typeface="Arial" charset="0"/>
              </a:rPr>
              <a:t>1g</a:t>
            </a:r>
            <a:r>
              <a:rPr lang="en-US" sz="1800" i="1">
                <a:solidFill>
                  <a:srgbClr val="FF0000"/>
                </a:solidFill>
                <a:latin typeface="Times New Roman" pitchFamily="18" charset="0"/>
                <a:cs typeface="Arial" charset="0"/>
              </a:rPr>
              <a:t> + T</a:t>
            </a:r>
            <a:r>
              <a:rPr lang="en-US" sz="1800" i="1" baseline="-25000">
                <a:solidFill>
                  <a:srgbClr val="FF0000"/>
                </a:solidFill>
                <a:latin typeface="Times New Roman" pitchFamily="18" charset="0"/>
                <a:cs typeface="Arial" charset="0"/>
              </a:rPr>
              <a:t>1u</a:t>
            </a:r>
            <a:r>
              <a:rPr lang="en-US" sz="1800" i="1">
                <a:solidFill>
                  <a:srgbClr val="FF0000"/>
                </a:solidFill>
                <a:latin typeface="Times New Roman" pitchFamily="18" charset="0"/>
                <a:cs typeface="Arial" charset="0"/>
              </a:rPr>
              <a:t> + E</a:t>
            </a:r>
            <a:r>
              <a:rPr lang="en-US" sz="1800" i="1" baseline="-25000">
                <a:solidFill>
                  <a:srgbClr val="FF0000"/>
                </a:solidFill>
                <a:latin typeface="Times New Roman" pitchFamily="18" charset="0"/>
                <a:cs typeface="Arial" charset="0"/>
              </a:rPr>
              <a:t>g</a:t>
            </a:r>
            <a:endParaRPr lang="en-US" sz="1800">
              <a:solidFill>
                <a:srgbClr val="FF0000"/>
              </a:solidFill>
              <a:latin typeface="Times New Roman" pitchFamily="18" charset="0"/>
              <a:cs typeface="Arial" charset="0"/>
            </a:endParaRPr>
          </a:p>
        </p:txBody>
      </p:sp>
    </p:spTree>
    <p:extLst>
      <p:ext uri="{BB962C8B-B14F-4D97-AF65-F5344CB8AC3E}">
        <p14:creationId xmlns:p14="http://schemas.microsoft.com/office/powerpoint/2010/main" val="270750221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a:srcRect/>
          <a:stretch>
            <a:fillRect/>
          </a:stretch>
        </p:blipFill>
        <p:spPr bwMode="auto">
          <a:xfrm>
            <a:off x="228600" y="1371600"/>
            <a:ext cx="8915400" cy="4900613"/>
          </a:xfrm>
          <a:prstGeom prst="rect">
            <a:avLst/>
          </a:prstGeom>
          <a:noFill/>
          <a:ln w="28575">
            <a:noFill/>
            <a:miter lim="800000"/>
            <a:headEnd/>
            <a:tailEnd/>
          </a:ln>
          <a:effectLst/>
        </p:spPr>
      </p:pic>
      <p:sp>
        <p:nvSpPr>
          <p:cNvPr id="35843" name="Rectangle 3"/>
          <p:cNvSpPr>
            <a:spLocks noChangeArrowheads="1"/>
          </p:cNvSpPr>
          <p:nvPr/>
        </p:nvSpPr>
        <p:spPr bwMode="auto">
          <a:xfrm>
            <a:off x="152400" y="4724400"/>
            <a:ext cx="8763000" cy="1295400"/>
          </a:xfrm>
          <a:prstGeom prst="rect">
            <a:avLst/>
          </a:prstGeom>
          <a:noFill/>
          <a:ln w="28575">
            <a:solidFill>
              <a:schemeClr val="accent2"/>
            </a:solidFill>
            <a:miter lim="800000"/>
            <a:headEnd/>
            <a:tailEnd/>
          </a:ln>
          <a:effectLst/>
        </p:spPr>
        <p:txBody>
          <a:bodyPr wrap="none" anchor="ctr"/>
          <a:lstStyle/>
          <a:p>
            <a:pPr algn="ctr" eaLnBrk="1" hangingPunct="1"/>
            <a:endParaRPr lang="en-US" sz="1800">
              <a:solidFill>
                <a:srgbClr val="FF0000"/>
              </a:solidFill>
              <a:latin typeface="Arial" charset="0"/>
              <a:cs typeface="Arial" charset="0"/>
            </a:endParaRPr>
          </a:p>
        </p:txBody>
      </p:sp>
      <p:sp>
        <p:nvSpPr>
          <p:cNvPr id="35844" name="Text Box 4"/>
          <p:cNvSpPr txBox="1">
            <a:spLocks noChangeArrowheads="1"/>
          </p:cNvSpPr>
          <p:nvPr/>
        </p:nvSpPr>
        <p:spPr bwMode="auto">
          <a:xfrm>
            <a:off x="6994525" y="2057400"/>
            <a:ext cx="273050" cy="366713"/>
          </a:xfrm>
          <a:prstGeom prst="rect">
            <a:avLst/>
          </a:prstGeom>
          <a:noFill/>
          <a:ln w="28575">
            <a:noFill/>
            <a:miter lim="800000"/>
            <a:headEnd/>
            <a:tailEnd/>
          </a:ln>
          <a:effectLst/>
        </p:spPr>
        <p:txBody>
          <a:bodyPr wrap="none">
            <a:spAutoFit/>
          </a:bodyPr>
          <a:lstStyle/>
          <a:p>
            <a:pPr eaLnBrk="1" hangingPunct="1"/>
            <a:r>
              <a:rPr lang="en-US" sz="1800" i="1">
                <a:latin typeface="Times New Roman" pitchFamily="18" charset="0"/>
                <a:cs typeface="Arial" charset="0"/>
              </a:rPr>
              <a:t>s</a:t>
            </a:r>
          </a:p>
        </p:txBody>
      </p:sp>
      <p:grpSp>
        <p:nvGrpSpPr>
          <p:cNvPr id="2" name="Group 5"/>
          <p:cNvGrpSpPr>
            <a:grpSpLocks/>
          </p:cNvGrpSpPr>
          <p:nvPr/>
        </p:nvGrpSpPr>
        <p:grpSpPr bwMode="auto">
          <a:xfrm>
            <a:off x="457200" y="2133600"/>
            <a:ext cx="6781800" cy="3200400"/>
            <a:chOff x="288" y="1056"/>
            <a:chExt cx="4272" cy="2016"/>
          </a:xfrm>
        </p:grpSpPr>
        <p:sp>
          <p:nvSpPr>
            <p:cNvPr id="35846" name="Rectangle 6"/>
            <p:cNvSpPr>
              <a:spLocks noChangeArrowheads="1"/>
            </p:cNvSpPr>
            <p:nvPr/>
          </p:nvSpPr>
          <p:spPr bwMode="auto">
            <a:xfrm>
              <a:off x="4416" y="1056"/>
              <a:ext cx="144" cy="192"/>
            </a:xfrm>
            <a:prstGeom prst="rect">
              <a:avLst/>
            </a:prstGeom>
            <a:noFill/>
            <a:ln w="28575">
              <a:solidFill>
                <a:schemeClr val="accent2"/>
              </a:solidFill>
              <a:miter lim="800000"/>
              <a:headEnd/>
              <a:tailEnd/>
            </a:ln>
            <a:effectLst/>
          </p:spPr>
          <p:txBody>
            <a:bodyPr wrap="none" anchor="ctr"/>
            <a:lstStyle/>
            <a:p>
              <a:endParaRPr lang="en-US"/>
            </a:p>
          </p:txBody>
        </p:sp>
        <p:sp>
          <p:nvSpPr>
            <p:cNvPr id="35847" name="Oval 7"/>
            <p:cNvSpPr>
              <a:spLocks noChangeArrowheads="1"/>
            </p:cNvSpPr>
            <p:nvPr/>
          </p:nvSpPr>
          <p:spPr bwMode="auto">
            <a:xfrm>
              <a:off x="288" y="1056"/>
              <a:ext cx="192" cy="192"/>
            </a:xfrm>
            <a:prstGeom prst="ellipse">
              <a:avLst/>
            </a:prstGeom>
            <a:noFill/>
            <a:ln w="28575">
              <a:solidFill>
                <a:schemeClr val="accent2"/>
              </a:solidFill>
              <a:round/>
              <a:headEnd/>
              <a:tailEnd/>
            </a:ln>
            <a:effectLst/>
          </p:spPr>
          <p:txBody>
            <a:bodyPr wrap="none" anchor="ctr"/>
            <a:lstStyle/>
            <a:p>
              <a:endParaRPr lang="en-US"/>
            </a:p>
          </p:txBody>
        </p:sp>
        <p:sp>
          <p:nvSpPr>
            <p:cNvPr id="35848" name="Oval 8"/>
            <p:cNvSpPr>
              <a:spLocks noChangeArrowheads="1"/>
            </p:cNvSpPr>
            <p:nvPr/>
          </p:nvSpPr>
          <p:spPr bwMode="auto">
            <a:xfrm>
              <a:off x="288" y="2880"/>
              <a:ext cx="192" cy="192"/>
            </a:xfrm>
            <a:prstGeom prst="ellipse">
              <a:avLst/>
            </a:prstGeom>
            <a:noFill/>
            <a:ln w="28575">
              <a:solidFill>
                <a:schemeClr val="accent2"/>
              </a:solidFill>
              <a:round/>
              <a:headEnd/>
              <a:tailEnd/>
            </a:ln>
            <a:effectLst/>
          </p:spPr>
          <p:txBody>
            <a:bodyPr wrap="none" anchor="ctr"/>
            <a:lstStyle/>
            <a:p>
              <a:endParaRPr lang="en-US"/>
            </a:p>
          </p:txBody>
        </p:sp>
      </p:grpSp>
      <p:grpSp>
        <p:nvGrpSpPr>
          <p:cNvPr id="3" name="Group 9"/>
          <p:cNvGrpSpPr>
            <a:grpSpLocks/>
          </p:cNvGrpSpPr>
          <p:nvPr/>
        </p:nvGrpSpPr>
        <p:grpSpPr bwMode="auto">
          <a:xfrm>
            <a:off x="381000" y="2590800"/>
            <a:ext cx="8458200" cy="3276600"/>
            <a:chOff x="240" y="1344"/>
            <a:chExt cx="5328" cy="2064"/>
          </a:xfrm>
        </p:grpSpPr>
        <p:sp>
          <p:nvSpPr>
            <p:cNvPr id="35850" name="Rectangle 10"/>
            <p:cNvSpPr>
              <a:spLocks noChangeArrowheads="1"/>
            </p:cNvSpPr>
            <p:nvPr/>
          </p:nvSpPr>
          <p:spPr bwMode="auto">
            <a:xfrm>
              <a:off x="4896" y="1344"/>
              <a:ext cx="672" cy="336"/>
            </a:xfrm>
            <a:prstGeom prst="rect">
              <a:avLst/>
            </a:prstGeom>
            <a:noFill/>
            <a:ln w="28575">
              <a:solidFill>
                <a:schemeClr val="tx1"/>
              </a:solidFill>
              <a:miter lim="800000"/>
              <a:headEnd/>
              <a:tailEnd/>
            </a:ln>
            <a:effectLst/>
          </p:spPr>
          <p:txBody>
            <a:bodyPr wrap="none" anchor="ctr"/>
            <a:lstStyle/>
            <a:p>
              <a:endParaRPr lang="en-US"/>
            </a:p>
          </p:txBody>
        </p:sp>
        <p:sp>
          <p:nvSpPr>
            <p:cNvPr id="35851" name="Oval 11"/>
            <p:cNvSpPr>
              <a:spLocks noChangeArrowheads="1"/>
            </p:cNvSpPr>
            <p:nvPr/>
          </p:nvSpPr>
          <p:spPr bwMode="auto">
            <a:xfrm>
              <a:off x="240" y="1344"/>
              <a:ext cx="192" cy="192"/>
            </a:xfrm>
            <a:prstGeom prst="ellipse">
              <a:avLst/>
            </a:prstGeom>
            <a:noFill/>
            <a:ln w="28575">
              <a:solidFill>
                <a:schemeClr val="tx1"/>
              </a:solidFill>
              <a:round/>
              <a:headEnd/>
              <a:tailEnd/>
            </a:ln>
            <a:effectLst/>
          </p:spPr>
          <p:txBody>
            <a:bodyPr wrap="none" anchor="ctr"/>
            <a:lstStyle/>
            <a:p>
              <a:endParaRPr lang="en-US"/>
            </a:p>
          </p:txBody>
        </p:sp>
        <p:sp>
          <p:nvSpPr>
            <p:cNvPr id="35852" name="Oval 12"/>
            <p:cNvSpPr>
              <a:spLocks noChangeArrowheads="1"/>
            </p:cNvSpPr>
            <p:nvPr/>
          </p:nvSpPr>
          <p:spPr bwMode="auto">
            <a:xfrm>
              <a:off x="240" y="3216"/>
              <a:ext cx="192" cy="192"/>
            </a:xfrm>
            <a:prstGeom prst="ellipse">
              <a:avLst/>
            </a:prstGeom>
            <a:noFill/>
            <a:ln w="28575">
              <a:solidFill>
                <a:schemeClr val="tx1"/>
              </a:solidFill>
              <a:round/>
              <a:headEnd/>
              <a:tailEnd/>
            </a:ln>
            <a:effectLst/>
          </p:spPr>
          <p:txBody>
            <a:bodyPr wrap="none" anchor="ctr"/>
            <a:lstStyle/>
            <a:p>
              <a:endParaRPr lang="en-US"/>
            </a:p>
          </p:txBody>
        </p:sp>
      </p:grpSp>
      <p:grpSp>
        <p:nvGrpSpPr>
          <p:cNvPr id="4" name="Group 13"/>
          <p:cNvGrpSpPr>
            <a:grpSpLocks/>
          </p:cNvGrpSpPr>
          <p:nvPr/>
        </p:nvGrpSpPr>
        <p:grpSpPr bwMode="auto">
          <a:xfrm>
            <a:off x="381000" y="4191000"/>
            <a:ext cx="7162800" cy="1447800"/>
            <a:chOff x="240" y="2352"/>
            <a:chExt cx="4512" cy="912"/>
          </a:xfrm>
        </p:grpSpPr>
        <p:sp>
          <p:nvSpPr>
            <p:cNvPr id="35854" name="Rectangle 14"/>
            <p:cNvSpPr>
              <a:spLocks noChangeArrowheads="1"/>
            </p:cNvSpPr>
            <p:nvPr/>
          </p:nvSpPr>
          <p:spPr bwMode="auto">
            <a:xfrm>
              <a:off x="4368" y="2352"/>
              <a:ext cx="384" cy="240"/>
            </a:xfrm>
            <a:prstGeom prst="rect">
              <a:avLst/>
            </a:prstGeom>
            <a:noFill/>
            <a:ln w="28575">
              <a:solidFill>
                <a:schemeClr val="hlink"/>
              </a:solidFill>
              <a:miter lim="800000"/>
              <a:headEnd/>
              <a:tailEnd/>
            </a:ln>
            <a:effectLst/>
          </p:spPr>
          <p:txBody>
            <a:bodyPr wrap="none" anchor="ctr"/>
            <a:lstStyle/>
            <a:p>
              <a:endParaRPr lang="en-US"/>
            </a:p>
          </p:txBody>
        </p:sp>
        <p:sp>
          <p:nvSpPr>
            <p:cNvPr id="35855" name="Oval 15"/>
            <p:cNvSpPr>
              <a:spLocks noChangeArrowheads="1"/>
            </p:cNvSpPr>
            <p:nvPr/>
          </p:nvSpPr>
          <p:spPr bwMode="auto">
            <a:xfrm>
              <a:off x="240" y="2352"/>
              <a:ext cx="192" cy="192"/>
            </a:xfrm>
            <a:prstGeom prst="ellipse">
              <a:avLst/>
            </a:prstGeom>
            <a:noFill/>
            <a:ln w="28575">
              <a:solidFill>
                <a:schemeClr val="hlink"/>
              </a:solidFill>
              <a:round/>
              <a:headEnd/>
              <a:tailEnd/>
            </a:ln>
            <a:effectLst/>
          </p:spPr>
          <p:txBody>
            <a:bodyPr wrap="none" anchor="ctr"/>
            <a:lstStyle/>
            <a:p>
              <a:endParaRPr lang="en-US"/>
            </a:p>
          </p:txBody>
        </p:sp>
        <p:sp>
          <p:nvSpPr>
            <p:cNvPr id="35856" name="Oval 16"/>
            <p:cNvSpPr>
              <a:spLocks noChangeArrowheads="1"/>
            </p:cNvSpPr>
            <p:nvPr/>
          </p:nvSpPr>
          <p:spPr bwMode="auto">
            <a:xfrm>
              <a:off x="240" y="3072"/>
              <a:ext cx="192" cy="192"/>
            </a:xfrm>
            <a:prstGeom prst="ellipse">
              <a:avLst/>
            </a:prstGeom>
            <a:noFill/>
            <a:ln w="28575">
              <a:solidFill>
                <a:schemeClr val="hlink"/>
              </a:solidFill>
              <a:round/>
              <a:headEnd/>
              <a:tailEnd/>
            </a:ln>
            <a:effectLst/>
          </p:spPr>
          <p:txBody>
            <a:bodyPr wrap="none" anchor="ctr"/>
            <a:lstStyle/>
            <a:p>
              <a:endParaRPr lang="en-US"/>
            </a:p>
          </p:txBody>
        </p:sp>
      </p:grpSp>
      <p:grpSp>
        <p:nvGrpSpPr>
          <p:cNvPr id="5" name="Group 17"/>
          <p:cNvGrpSpPr>
            <a:grpSpLocks/>
          </p:cNvGrpSpPr>
          <p:nvPr/>
        </p:nvGrpSpPr>
        <p:grpSpPr bwMode="auto">
          <a:xfrm>
            <a:off x="381000" y="3276600"/>
            <a:ext cx="8382000" cy="381000"/>
            <a:chOff x="240" y="1776"/>
            <a:chExt cx="5280" cy="240"/>
          </a:xfrm>
        </p:grpSpPr>
        <p:sp>
          <p:nvSpPr>
            <p:cNvPr id="35858" name="Rectangle 18"/>
            <p:cNvSpPr>
              <a:spLocks noChangeArrowheads="1"/>
            </p:cNvSpPr>
            <p:nvPr/>
          </p:nvSpPr>
          <p:spPr bwMode="auto">
            <a:xfrm>
              <a:off x="4944" y="1776"/>
              <a:ext cx="576" cy="240"/>
            </a:xfrm>
            <a:prstGeom prst="rect">
              <a:avLst/>
            </a:prstGeom>
            <a:noFill/>
            <a:ln w="28575">
              <a:solidFill>
                <a:srgbClr val="FF0000"/>
              </a:solidFill>
              <a:miter lim="800000"/>
              <a:headEnd/>
              <a:tailEnd/>
            </a:ln>
            <a:effectLst/>
          </p:spPr>
          <p:txBody>
            <a:bodyPr wrap="none" anchor="ctr"/>
            <a:lstStyle/>
            <a:p>
              <a:endParaRPr lang="en-US"/>
            </a:p>
          </p:txBody>
        </p:sp>
        <p:sp>
          <p:nvSpPr>
            <p:cNvPr id="35859" name="Oval 19"/>
            <p:cNvSpPr>
              <a:spLocks noChangeArrowheads="1"/>
            </p:cNvSpPr>
            <p:nvPr/>
          </p:nvSpPr>
          <p:spPr bwMode="auto">
            <a:xfrm>
              <a:off x="240" y="1776"/>
              <a:ext cx="192" cy="192"/>
            </a:xfrm>
            <a:prstGeom prst="ellipse">
              <a:avLst/>
            </a:prstGeom>
            <a:noFill/>
            <a:ln w="28575">
              <a:solidFill>
                <a:srgbClr val="FF0000"/>
              </a:solidFill>
              <a:round/>
              <a:headEnd/>
              <a:tailEnd/>
            </a:ln>
            <a:effectLst/>
          </p:spPr>
          <p:txBody>
            <a:bodyPr wrap="none" anchor="ctr"/>
            <a:lstStyle/>
            <a:p>
              <a:endParaRPr lang="en-US"/>
            </a:p>
          </p:txBody>
        </p:sp>
      </p:grpSp>
      <p:sp>
        <p:nvSpPr>
          <p:cNvPr id="35860" name="Text Box 20"/>
          <p:cNvSpPr txBox="1">
            <a:spLocks noChangeArrowheads="1"/>
          </p:cNvSpPr>
          <p:nvPr/>
        </p:nvSpPr>
        <p:spPr bwMode="auto">
          <a:xfrm>
            <a:off x="2133600" y="457200"/>
            <a:ext cx="5294313"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Now we just match the orbital symmetries</a:t>
            </a:r>
          </a:p>
        </p:txBody>
      </p:sp>
    </p:spTree>
    <p:extLst>
      <p:ext uri="{BB962C8B-B14F-4D97-AF65-F5344CB8AC3E}">
        <p14:creationId xmlns:p14="http://schemas.microsoft.com/office/powerpoint/2010/main" val="428347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3"/>
          <a:srcRect/>
          <a:stretch>
            <a:fillRect/>
          </a:stretch>
        </p:blipFill>
        <p:spPr bwMode="auto">
          <a:xfrm>
            <a:off x="2295525" y="420688"/>
            <a:ext cx="4552950" cy="6016625"/>
          </a:xfrm>
          <a:prstGeom prst="rect">
            <a:avLst/>
          </a:prstGeom>
          <a:noFill/>
          <a:ln w="9525">
            <a:noFill/>
            <a:miter lim="800000"/>
            <a:headEnd/>
            <a:tailEnd/>
          </a:ln>
          <a:effectLst/>
        </p:spPr>
      </p:pic>
      <p:sp>
        <p:nvSpPr>
          <p:cNvPr id="36867" name="Text Box 3"/>
          <p:cNvSpPr txBox="1">
            <a:spLocks noChangeArrowheads="1"/>
          </p:cNvSpPr>
          <p:nvPr/>
        </p:nvSpPr>
        <p:spPr bwMode="auto">
          <a:xfrm>
            <a:off x="6769100" y="4297363"/>
            <a:ext cx="2132013" cy="366712"/>
          </a:xfrm>
          <a:prstGeom prst="rect">
            <a:avLst/>
          </a:prstGeom>
          <a:noFill/>
          <a:ln w="9525">
            <a:noFill/>
            <a:miter lim="800000"/>
            <a:headEnd/>
            <a:tailEnd/>
          </a:ln>
          <a:effectLst/>
        </p:spPr>
        <p:txBody>
          <a:bodyPr wrap="none">
            <a:spAutoFit/>
          </a:bodyPr>
          <a:lstStyle/>
          <a:p>
            <a:pPr eaLnBrk="1" hangingPunct="1"/>
            <a:r>
              <a:rPr lang="en-US" sz="1800">
                <a:solidFill>
                  <a:srgbClr val="FF0000"/>
                </a:solidFill>
                <a:latin typeface="Times New Roman" pitchFamily="18" charset="0"/>
                <a:cs typeface="Arial" charset="0"/>
              </a:rPr>
              <a:t>6 </a:t>
            </a:r>
            <a:r>
              <a:rPr lang="en-US" sz="1800">
                <a:solidFill>
                  <a:srgbClr val="FF0000"/>
                </a:solidFill>
                <a:latin typeface="Symbol" pitchFamily="18" charset="2"/>
                <a:cs typeface="Arial" charset="0"/>
              </a:rPr>
              <a:t>s</a:t>
            </a:r>
            <a:r>
              <a:rPr lang="en-US" sz="1800">
                <a:solidFill>
                  <a:srgbClr val="FF0000"/>
                </a:solidFill>
                <a:latin typeface="Times New Roman" pitchFamily="18" charset="0"/>
                <a:cs typeface="Arial" charset="0"/>
              </a:rPr>
              <a:t> ligands x 2e each</a:t>
            </a:r>
          </a:p>
        </p:txBody>
      </p:sp>
      <p:grpSp>
        <p:nvGrpSpPr>
          <p:cNvPr id="2" name="Group 4"/>
          <p:cNvGrpSpPr>
            <a:grpSpLocks/>
          </p:cNvGrpSpPr>
          <p:nvPr/>
        </p:nvGrpSpPr>
        <p:grpSpPr bwMode="auto">
          <a:xfrm>
            <a:off x="2033588" y="4495800"/>
            <a:ext cx="3071812" cy="1600200"/>
            <a:chOff x="1281" y="2832"/>
            <a:chExt cx="1935" cy="1008"/>
          </a:xfrm>
        </p:grpSpPr>
        <p:sp>
          <p:nvSpPr>
            <p:cNvPr id="36869" name="Rectangle 5"/>
            <p:cNvSpPr>
              <a:spLocks noChangeArrowheads="1"/>
            </p:cNvSpPr>
            <p:nvPr/>
          </p:nvSpPr>
          <p:spPr bwMode="auto">
            <a:xfrm>
              <a:off x="2544" y="2832"/>
              <a:ext cx="672" cy="1008"/>
            </a:xfrm>
            <a:prstGeom prst="rect">
              <a:avLst/>
            </a:prstGeom>
            <a:noFill/>
            <a:ln w="28575">
              <a:solidFill>
                <a:srgbClr val="FF0000"/>
              </a:solidFill>
              <a:miter lim="800000"/>
              <a:headEnd/>
              <a:tailEnd/>
            </a:ln>
            <a:effectLst/>
          </p:spPr>
          <p:txBody>
            <a:bodyPr wrap="none" anchor="ctr"/>
            <a:lstStyle/>
            <a:p>
              <a:endParaRPr lang="en-US"/>
            </a:p>
          </p:txBody>
        </p:sp>
        <p:sp>
          <p:nvSpPr>
            <p:cNvPr id="36870" name="Text Box 6"/>
            <p:cNvSpPr txBox="1">
              <a:spLocks noChangeArrowheads="1"/>
            </p:cNvSpPr>
            <p:nvPr/>
          </p:nvSpPr>
          <p:spPr bwMode="auto">
            <a:xfrm>
              <a:off x="1281" y="3206"/>
              <a:ext cx="1168" cy="404"/>
            </a:xfrm>
            <a:prstGeom prst="rect">
              <a:avLst/>
            </a:prstGeom>
            <a:noFill/>
            <a:ln w="9525">
              <a:noFill/>
              <a:miter lim="800000"/>
              <a:headEnd/>
              <a:tailEnd/>
            </a:ln>
            <a:effectLst/>
          </p:spPr>
          <p:txBody>
            <a:bodyPr wrap="none">
              <a:spAutoFit/>
            </a:bodyPr>
            <a:lstStyle/>
            <a:p>
              <a:pPr algn="ctr" eaLnBrk="1" hangingPunct="1"/>
              <a:r>
                <a:rPr lang="en-US" sz="1800">
                  <a:solidFill>
                    <a:srgbClr val="FF0000"/>
                  </a:solidFill>
                  <a:latin typeface="Times New Roman" pitchFamily="18" charset="0"/>
                  <a:cs typeface="Arial" charset="0"/>
                </a:rPr>
                <a:t>12 </a:t>
              </a:r>
              <a:r>
                <a:rPr lang="en-US" sz="1800">
                  <a:solidFill>
                    <a:srgbClr val="FF0000"/>
                  </a:solidFill>
                  <a:latin typeface="Symbol" pitchFamily="18" charset="2"/>
                  <a:cs typeface="Arial" charset="0"/>
                </a:rPr>
                <a:t>s</a:t>
              </a:r>
              <a:r>
                <a:rPr lang="en-US" sz="1800">
                  <a:solidFill>
                    <a:srgbClr val="FF0000"/>
                  </a:solidFill>
                  <a:latin typeface="Times New Roman" pitchFamily="18" charset="0"/>
                  <a:cs typeface="Arial" charset="0"/>
                </a:rPr>
                <a:t> bonding e</a:t>
              </a:r>
            </a:p>
            <a:p>
              <a:pPr algn="ctr" eaLnBrk="1" hangingPunct="1"/>
              <a:r>
                <a:rPr lang="en-US" sz="1800">
                  <a:solidFill>
                    <a:srgbClr val="FF0000"/>
                  </a:solidFill>
                  <a:latin typeface="Times New Roman" pitchFamily="18" charset="0"/>
                  <a:cs typeface="Arial" charset="0"/>
                </a:rPr>
                <a:t>“ligand character”</a:t>
              </a:r>
            </a:p>
          </p:txBody>
        </p:sp>
      </p:grpSp>
      <p:sp>
        <p:nvSpPr>
          <p:cNvPr id="36871" name="Text Box 7"/>
          <p:cNvSpPr txBox="1">
            <a:spLocks noChangeArrowheads="1"/>
          </p:cNvSpPr>
          <p:nvPr/>
        </p:nvSpPr>
        <p:spPr bwMode="auto">
          <a:xfrm>
            <a:off x="457200" y="1676400"/>
            <a:ext cx="1803400" cy="366713"/>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“d</a:t>
            </a:r>
            <a:r>
              <a:rPr lang="en-US" sz="1800" baseline="30000">
                <a:solidFill>
                  <a:schemeClr val="accent2"/>
                </a:solidFill>
                <a:latin typeface="Times New Roman" pitchFamily="18" charset="0"/>
                <a:cs typeface="Arial" charset="0"/>
              </a:rPr>
              <a:t>0</a:t>
            </a:r>
            <a:r>
              <a:rPr lang="en-US" sz="1800">
                <a:solidFill>
                  <a:schemeClr val="accent2"/>
                </a:solidFill>
                <a:latin typeface="Times New Roman" pitchFamily="18" charset="0"/>
                <a:cs typeface="Arial" charset="0"/>
              </a:rPr>
              <a:t>-d</a:t>
            </a:r>
            <a:r>
              <a:rPr lang="en-US" sz="1800" baseline="30000">
                <a:solidFill>
                  <a:schemeClr val="accent2"/>
                </a:solidFill>
                <a:latin typeface="Times New Roman" pitchFamily="18" charset="0"/>
                <a:cs typeface="Arial" charset="0"/>
              </a:rPr>
              <a:t>10</a:t>
            </a:r>
            <a:r>
              <a:rPr lang="en-US" sz="1800">
                <a:solidFill>
                  <a:schemeClr val="accent2"/>
                </a:solidFill>
                <a:latin typeface="Times New Roman" pitchFamily="18" charset="0"/>
                <a:cs typeface="Arial" charset="0"/>
              </a:rPr>
              <a:t> electrons”</a:t>
            </a:r>
          </a:p>
        </p:txBody>
      </p:sp>
      <p:grpSp>
        <p:nvGrpSpPr>
          <p:cNvPr id="3" name="Group 8"/>
          <p:cNvGrpSpPr>
            <a:grpSpLocks/>
          </p:cNvGrpSpPr>
          <p:nvPr/>
        </p:nvGrpSpPr>
        <p:grpSpPr bwMode="auto">
          <a:xfrm>
            <a:off x="4267200" y="1524000"/>
            <a:ext cx="4914900" cy="1524000"/>
            <a:chOff x="2688" y="960"/>
            <a:chExt cx="3096" cy="960"/>
          </a:xfrm>
        </p:grpSpPr>
        <p:sp>
          <p:nvSpPr>
            <p:cNvPr id="36873" name="Rectangle 9"/>
            <p:cNvSpPr>
              <a:spLocks noChangeArrowheads="1"/>
            </p:cNvSpPr>
            <p:nvPr/>
          </p:nvSpPr>
          <p:spPr bwMode="auto">
            <a:xfrm>
              <a:off x="2688" y="1008"/>
              <a:ext cx="624" cy="912"/>
            </a:xfrm>
            <a:prstGeom prst="rect">
              <a:avLst/>
            </a:prstGeom>
            <a:noFill/>
            <a:ln w="28575">
              <a:solidFill>
                <a:schemeClr val="accent2"/>
              </a:solidFill>
              <a:miter lim="800000"/>
              <a:headEnd/>
              <a:tailEnd/>
            </a:ln>
            <a:effectLst/>
          </p:spPr>
          <p:txBody>
            <a:bodyPr wrap="none" anchor="ctr"/>
            <a:lstStyle/>
            <a:p>
              <a:endParaRPr lang="en-US"/>
            </a:p>
          </p:txBody>
        </p:sp>
        <p:sp>
          <p:nvSpPr>
            <p:cNvPr id="36874" name="Line 10"/>
            <p:cNvSpPr>
              <a:spLocks noChangeShapeType="1"/>
            </p:cNvSpPr>
            <p:nvPr/>
          </p:nvSpPr>
          <p:spPr bwMode="auto">
            <a:xfrm flipH="1">
              <a:off x="3216" y="1680"/>
              <a:ext cx="528" cy="0"/>
            </a:xfrm>
            <a:prstGeom prst="line">
              <a:avLst/>
            </a:prstGeom>
            <a:noFill/>
            <a:ln w="9525">
              <a:solidFill>
                <a:schemeClr val="accent2"/>
              </a:solidFill>
              <a:round/>
              <a:headEnd/>
              <a:tailEnd type="triangle" w="med" len="med"/>
            </a:ln>
            <a:effectLst/>
          </p:spPr>
          <p:txBody>
            <a:bodyPr/>
            <a:lstStyle/>
            <a:p>
              <a:endParaRPr lang="en-US"/>
            </a:p>
          </p:txBody>
        </p:sp>
        <p:sp>
          <p:nvSpPr>
            <p:cNvPr id="36875" name="Text Box 11"/>
            <p:cNvSpPr txBox="1">
              <a:spLocks noChangeArrowheads="1"/>
            </p:cNvSpPr>
            <p:nvPr/>
          </p:nvSpPr>
          <p:spPr bwMode="auto">
            <a:xfrm>
              <a:off x="3734" y="1560"/>
              <a:ext cx="840"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non bonding</a:t>
              </a:r>
            </a:p>
          </p:txBody>
        </p:sp>
        <p:sp>
          <p:nvSpPr>
            <p:cNvPr id="36876" name="Line 12"/>
            <p:cNvSpPr>
              <a:spLocks noChangeShapeType="1"/>
            </p:cNvSpPr>
            <p:nvPr/>
          </p:nvSpPr>
          <p:spPr bwMode="auto">
            <a:xfrm flipH="1">
              <a:off x="3312" y="1128"/>
              <a:ext cx="528" cy="0"/>
            </a:xfrm>
            <a:prstGeom prst="line">
              <a:avLst/>
            </a:prstGeom>
            <a:noFill/>
            <a:ln w="9525">
              <a:solidFill>
                <a:schemeClr val="accent2"/>
              </a:solidFill>
              <a:round/>
              <a:headEnd/>
              <a:tailEnd type="triangle" w="med" len="med"/>
            </a:ln>
            <a:effectLst/>
          </p:spPr>
          <p:txBody>
            <a:bodyPr/>
            <a:lstStyle/>
            <a:p>
              <a:endParaRPr lang="en-US"/>
            </a:p>
          </p:txBody>
        </p:sp>
        <p:sp>
          <p:nvSpPr>
            <p:cNvPr id="36877" name="Text Box 13"/>
            <p:cNvSpPr txBox="1">
              <a:spLocks noChangeArrowheads="1"/>
            </p:cNvSpPr>
            <p:nvPr/>
          </p:nvSpPr>
          <p:spPr bwMode="auto">
            <a:xfrm>
              <a:off x="3830" y="1008"/>
              <a:ext cx="840"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anti bonding</a:t>
              </a:r>
            </a:p>
          </p:txBody>
        </p:sp>
        <p:sp>
          <p:nvSpPr>
            <p:cNvPr id="36878" name="AutoShape 14"/>
            <p:cNvSpPr>
              <a:spLocks/>
            </p:cNvSpPr>
            <p:nvPr/>
          </p:nvSpPr>
          <p:spPr bwMode="auto">
            <a:xfrm>
              <a:off x="4608" y="960"/>
              <a:ext cx="96" cy="864"/>
            </a:xfrm>
            <a:prstGeom prst="rightBrace">
              <a:avLst>
                <a:gd name="adj1" fmla="val 75000"/>
                <a:gd name="adj2" fmla="val 50000"/>
              </a:avLst>
            </a:prstGeom>
            <a:noFill/>
            <a:ln w="28575">
              <a:solidFill>
                <a:schemeClr val="accent2"/>
              </a:solidFill>
              <a:round/>
              <a:headEnd/>
              <a:tailEnd/>
            </a:ln>
            <a:effectLst/>
          </p:spPr>
          <p:txBody>
            <a:bodyPr wrap="none" anchor="ctr"/>
            <a:lstStyle/>
            <a:p>
              <a:pPr algn="ctr" eaLnBrk="1" hangingPunct="1"/>
              <a:endParaRPr lang="en-US" sz="1800">
                <a:solidFill>
                  <a:schemeClr val="accent2"/>
                </a:solidFill>
                <a:latin typeface="Arial" charset="0"/>
                <a:cs typeface="Arial" charset="0"/>
              </a:endParaRPr>
            </a:p>
          </p:txBody>
        </p:sp>
        <p:sp>
          <p:nvSpPr>
            <p:cNvPr id="36879" name="Text Box 15"/>
            <p:cNvSpPr txBox="1">
              <a:spLocks noChangeArrowheads="1"/>
            </p:cNvSpPr>
            <p:nvPr/>
          </p:nvSpPr>
          <p:spPr bwMode="auto">
            <a:xfrm>
              <a:off x="4656" y="1272"/>
              <a:ext cx="1128"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“metal character”</a:t>
              </a:r>
            </a:p>
          </p:txBody>
        </p:sp>
      </p:grpSp>
    </p:spTree>
    <p:extLst>
      <p:ext uri="{BB962C8B-B14F-4D97-AF65-F5344CB8AC3E}">
        <p14:creationId xmlns:p14="http://schemas.microsoft.com/office/powerpoint/2010/main" val="105255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3"/>
          <a:srcRect/>
          <a:stretch>
            <a:fillRect/>
          </a:stretch>
        </p:blipFill>
        <p:spPr bwMode="auto">
          <a:xfrm>
            <a:off x="1414463" y="2100263"/>
            <a:ext cx="2166937" cy="2166937"/>
          </a:xfrm>
          <a:prstGeom prst="rect">
            <a:avLst/>
          </a:prstGeom>
          <a:noFill/>
          <a:ln w="9525">
            <a:noFill/>
            <a:miter lim="800000"/>
            <a:headEnd/>
            <a:tailEnd/>
          </a:ln>
          <a:effectLst/>
        </p:spPr>
      </p:pic>
      <p:pic>
        <p:nvPicPr>
          <p:cNvPr id="37891" name="Picture 3"/>
          <p:cNvPicPr>
            <a:picLocks noChangeAspect="1" noChangeArrowheads="1"/>
          </p:cNvPicPr>
          <p:nvPr/>
        </p:nvPicPr>
        <p:blipFill>
          <a:blip r:embed="rId4"/>
          <a:srcRect/>
          <a:stretch>
            <a:fillRect/>
          </a:stretch>
        </p:blipFill>
        <p:spPr bwMode="auto">
          <a:xfrm>
            <a:off x="4572000" y="1676400"/>
            <a:ext cx="3173413" cy="3602038"/>
          </a:xfrm>
          <a:prstGeom prst="rect">
            <a:avLst/>
          </a:prstGeom>
          <a:noFill/>
          <a:ln w="9525">
            <a:noFill/>
            <a:miter lim="800000"/>
            <a:headEnd/>
            <a:tailEnd/>
          </a:ln>
          <a:effectLst/>
        </p:spPr>
      </p:pic>
      <p:sp>
        <p:nvSpPr>
          <p:cNvPr id="37892" name="Text Box 4"/>
          <p:cNvSpPr txBox="1">
            <a:spLocks noChangeArrowheads="1"/>
          </p:cNvSpPr>
          <p:nvPr/>
        </p:nvSpPr>
        <p:spPr bwMode="auto">
          <a:xfrm>
            <a:off x="2971800" y="471488"/>
            <a:ext cx="3430588" cy="519112"/>
          </a:xfrm>
          <a:prstGeom prst="rect">
            <a:avLst/>
          </a:prstGeom>
          <a:noFill/>
          <a:ln w="9525">
            <a:noFill/>
            <a:miter lim="800000"/>
            <a:headEnd/>
            <a:tailEnd/>
          </a:ln>
          <a:effectLst/>
        </p:spPr>
        <p:txBody>
          <a:bodyPr wrap="none">
            <a:spAutoFit/>
          </a:bodyPr>
          <a:lstStyle/>
          <a:p>
            <a:pPr eaLnBrk="1" hangingPunct="1"/>
            <a:r>
              <a:rPr lang="en-US" sz="2800" i="1">
                <a:solidFill>
                  <a:schemeClr val="accent2"/>
                </a:solidFill>
                <a:latin typeface="Times New Roman" pitchFamily="18" charset="0"/>
                <a:cs typeface="Arial" charset="0"/>
              </a:rPr>
              <a:t>Introducing π-bonding</a:t>
            </a:r>
          </a:p>
        </p:txBody>
      </p:sp>
      <p:sp>
        <p:nvSpPr>
          <p:cNvPr id="37893" name="Text Box 5"/>
          <p:cNvSpPr txBox="1">
            <a:spLocks noChangeArrowheads="1"/>
          </p:cNvSpPr>
          <p:nvPr/>
        </p:nvSpPr>
        <p:spPr bwMode="auto">
          <a:xfrm>
            <a:off x="1220788" y="4837113"/>
            <a:ext cx="2436812" cy="641350"/>
          </a:xfrm>
          <a:prstGeom prst="rect">
            <a:avLst/>
          </a:prstGeom>
          <a:noFill/>
          <a:ln w="9525">
            <a:noFill/>
            <a:miter lim="800000"/>
            <a:headEnd/>
            <a:tailEnd/>
          </a:ln>
          <a:effectLst/>
        </p:spPr>
        <p:txBody>
          <a:bodyPr wrap="none">
            <a:spAutoFit/>
          </a:bodyPr>
          <a:lstStyle/>
          <a:p>
            <a:pPr algn="ctr" eaLnBrk="1" hangingPunct="1"/>
            <a:r>
              <a:rPr lang="en-US" sz="1800" i="1">
                <a:solidFill>
                  <a:srgbClr val="FF0000"/>
                </a:solidFill>
                <a:latin typeface="Times New Roman" pitchFamily="18" charset="0"/>
                <a:cs typeface="Arial" charset="0"/>
              </a:rPr>
              <a:t>2 orbitals of π-symmetry</a:t>
            </a:r>
          </a:p>
          <a:p>
            <a:pPr algn="ctr" eaLnBrk="1" hangingPunct="1"/>
            <a:r>
              <a:rPr lang="en-US" sz="1800" i="1">
                <a:solidFill>
                  <a:srgbClr val="FF0000"/>
                </a:solidFill>
                <a:latin typeface="Times New Roman" pitchFamily="18" charset="0"/>
                <a:cs typeface="Arial" charset="0"/>
              </a:rPr>
              <a:t>on each ligand</a:t>
            </a:r>
          </a:p>
        </p:txBody>
      </p:sp>
      <p:sp>
        <p:nvSpPr>
          <p:cNvPr id="37894" name="Text Box 6"/>
          <p:cNvSpPr txBox="1">
            <a:spLocks noChangeArrowheads="1"/>
          </p:cNvSpPr>
          <p:nvPr/>
        </p:nvSpPr>
        <p:spPr bwMode="auto">
          <a:xfrm>
            <a:off x="4606925" y="5411788"/>
            <a:ext cx="3048000" cy="641350"/>
          </a:xfrm>
          <a:prstGeom prst="rect">
            <a:avLst/>
          </a:prstGeom>
          <a:noFill/>
          <a:ln w="9525">
            <a:noFill/>
            <a:miter lim="800000"/>
            <a:headEnd/>
            <a:tailEnd/>
          </a:ln>
          <a:effectLst/>
        </p:spPr>
        <p:txBody>
          <a:bodyPr wrap="none">
            <a:spAutoFit/>
          </a:bodyPr>
          <a:lstStyle/>
          <a:p>
            <a:pPr algn="ctr" eaLnBrk="1" hangingPunct="1"/>
            <a:r>
              <a:rPr lang="en-US" sz="1800" i="1">
                <a:latin typeface="Times New Roman" pitchFamily="18" charset="0"/>
                <a:cs typeface="Arial" charset="0"/>
              </a:rPr>
              <a:t>We can build 12 group orbitals</a:t>
            </a:r>
          </a:p>
          <a:p>
            <a:pPr algn="ctr" eaLnBrk="1" hangingPunct="1"/>
            <a:r>
              <a:rPr lang="en-US" sz="1800" i="1">
                <a:latin typeface="Times New Roman" pitchFamily="18" charset="0"/>
                <a:cs typeface="Arial" charset="0"/>
              </a:rPr>
              <a:t>of π-symmetry</a:t>
            </a:r>
          </a:p>
        </p:txBody>
      </p:sp>
    </p:spTree>
    <p:extLst>
      <p:ext uri="{BB962C8B-B14F-4D97-AF65-F5344CB8AC3E}">
        <p14:creationId xmlns:p14="http://schemas.microsoft.com/office/powerpoint/2010/main" val="85605971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3"/>
          <a:srcRect/>
          <a:stretch>
            <a:fillRect/>
          </a:stretch>
        </p:blipFill>
        <p:spPr bwMode="auto">
          <a:xfrm>
            <a:off x="152400" y="1524000"/>
            <a:ext cx="8839200" cy="2493963"/>
          </a:xfrm>
          <a:prstGeom prst="rect">
            <a:avLst/>
          </a:prstGeom>
          <a:noFill/>
          <a:ln w="9525">
            <a:noFill/>
            <a:miter lim="800000"/>
            <a:headEnd/>
            <a:tailEnd/>
          </a:ln>
          <a:effectLst/>
        </p:spPr>
      </p:pic>
      <p:sp>
        <p:nvSpPr>
          <p:cNvPr id="38915" name="Rectangle 3"/>
          <p:cNvSpPr>
            <a:spLocks noChangeArrowheads="1"/>
          </p:cNvSpPr>
          <p:nvPr/>
        </p:nvSpPr>
        <p:spPr bwMode="auto">
          <a:xfrm>
            <a:off x="2438400" y="4267200"/>
            <a:ext cx="3886200" cy="1066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8916" name="Text Box 4"/>
          <p:cNvSpPr txBox="1">
            <a:spLocks noChangeArrowheads="1"/>
          </p:cNvSpPr>
          <p:nvPr/>
        </p:nvSpPr>
        <p:spPr bwMode="auto">
          <a:xfrm>
            <a:off x="2728913" y="4572000"/>
            <a:ext cx="3371850" cy="457200"/>
          </a:xfrm>
          <a:prstGeom prst="rect">
            <a:avLst/>
          </a:prstGeom>
          <a:noFill/>
          <a:ln w="9525">
            <a:noFill/>
            <a:miter lim="800000"/>
            <a:headEnd/>
            <a:tailEnd/>
          </a:ln>
          <a:effectLst/>
        </p:spPr>
        <p:txBody>
          <a:bodyPr wrap="none">
            <a:spAutoFit/>
          </a:bodyPr>
          <a:lstStyle/>
          <a:p>
            <a:pPr eaLnBrk="1" hangingPunct="1"/>
            <a:r>
              <a:rPr lang="en-US">
                <a:latin typeface="Symbol" pitchFamily="18" charset="2"/>
                <a:cs typeface="Arial" charset="0"/>
              </a:rPr>
              <a:t>G</a:t>
            </a:r>
            <a:r>
              <a:rPr lang="en-US" baseline="-25000">
                <a:latin typeface="Times New Roman" pitchFamily="18" charset="0"/>
                <a:cs typeface="Arial" charset="0"/>
              </a:rPr>
              <a:t>π</a:t>
            </a:r>
            <a:r>
              <a:rPr lang="en-US">
                <a:latin typeface="Times New Roman" pitchFamily="18" charset="0"/>
                <a:cs typeface="Arial" charset="0"/>
              </a:rPr>
              <a:t> = </a:t>
            </a:r>
            <a:r>
              <a:rPr lang="en-US" i="1">
                <a:latin typeface="Times New Roman" pitchFamily="18" charset="0"/>
                <a:cs typeface="Arial" charset="0"/>
              </a:rPr>
              <a:t>T</a:t>
            </a:r>
            <a:r>
              <a:rPr lang="en-US" i="1" baseline="-25000">
                <a:latin typeface="Times New Roman" pitchFamily="18" charset="0"/>
                <a:cs typeface="Arial" charset="0"/>
              </a:rPr>
              <a:t>1g</a:t>
            </a:r>
            <a:r>
              <a:rPr lang="en-US" i="1">
                <a:latin typeface="Times New Roman" pitchFamily="18" charset="0"/>
                <a:cs typeface="Arial" charset="0"/>
              </a:rPr>
              <a:t> + T</a:t>
            </a:r>
            <a:r>
              <a:rPr lang="en-US" i="1" baseline="-25000">
                <a:latin typeface="Times New Roman" pitchFamily="18" charset="0"/>
                <a:cs typeface="Arial" charset="0"/>
              </a:rPr>
              <a:t>2g</a:t>
            </a:r>
            <a:r>
              <a:rPr lang="en-US" i="1">
                <a:latin typeface="Times New Roman" pitchFamily="18" charset="0"/>
                <a:cs typeface="Arial" charset="0"/>
              </a:rPr>
              <a:t> + T</a:t>
            </a:r>
            <a:r>
              <a:rPr lang="en-US" i="1" baseline="-25000">
                <a:latin typeface="Times New Roman" pitchFamily="18" charset="0"/>
                <a:cs typeface="Arial" charset="0"/>
              </a:rPr>
              <a:t>1u</a:t>
            </a:r>
            <a:r>
              <a:rPr lang="en-US" i="1">
                <a:latin typeface="Times New Roman" pitchFamily="18" charset="0"/>
                <a:cs typeface="Arial" charset="0"/>
              </a:rPr>
              <a:t> + T</a:t>
            </a:r>
            <a:r>
              <a:rPr lang="en-US" i="1" baseline="-25000">
                <a:latin typeface="Times New Roman" pitchFamily="18" charset="0"/>
                <a:cs typeface="Arial" charset="0"/>
              </a:rPr>
              <a:t>2u</a:t>
            </a:r>
            <a:endParaRPr lang="en-US">
              <a:latin typeface="Times New Roman" pitchFamily="18" charset="0"/>
              <a:cs typeface="Arial" charset="0"/>
            </a:endParaRPr>
          </a:p>
        </p:txBody>
      </p:sp>
      <p:sp>
        <p:nvSpPr>
          <p:cNvPr id="38917" name="Oval 5"/>
          <p:cNvSpPr>
            <a:spLocks noChangeArrowheads="1"/>
          </p:cNvSpPr>
          <p:nvPr/>
        </p:nvSpPr>
        <p:spPr bwMode="auto">
          <a:xfrm>
            <a:off x="4114800" y="4495800"/>
            <a:ext cx="609600" cy="609600"/>
          </a:xfrm>
          <a:prstGeom prst="ellipse">
            <a:avLst/>
          </a:prstGeom>
          <a:noFill/>
          <a:ln w="9525">
            <a:solidFill>
              <a:srgbClr val="FF0000"/>
            </a:solidFill>
            <a:round/>
            <a:headEnd/>
            <a:tailEnd/>
          </a:ln>
          <a:effectLst/>
        </p:spPr>
        <p:txBody>
          <a:bodyPr wrap="none" anchor="ctr"/>
          <a:lstStyle/>
          <a:p>
            <a:endParaRPr lang="en-US"/>
          </a:p>
        </p:txBody>
      </p:sp>
    </p:spTree>
    <p:extLst>
      <p:ext uri="{BB962C8B-B14F-4D97-AF65-F5344CB8AC3E}">
        <p14:creationId xmlns:p14="http://schemas.microsoft.com/office/powerpoint/2010/main" val="2553221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3"/>
          <a:srcRect/>
          <a:stretch>
            <a:fillRect/>
          </a:stretch>
        </p:blipFill>
        <p:spPr bwMode="auto">
          <a:xfrm>
            <a:off x="3814763" y="76200"/>
            <a:ext cx="4102100" cy="6477000"/>
          </a:xfrm>
          <a:prstGeom prst="rect">
            <a:avLst/>
          </a:prstGeom>
          <a:noFill/>
          <a:ln w="9525">
            <a:noFill/>
            <a:miter lim="800000"/>
            <a:headEnd/>
            <a:tailEnd/>
          </a:ln>
          <a:effectLst/>
        </p:spPr>
      </p:pic>
      <p:sp>
        <p:nvSpPr>
          <p:cNvPr id="39939" name="Rectangle 3"/>
          <p:cNvSpPr>
            <a:spLocks noChangeArrowheads="1"/>
          </p:cNvSpPr>
          <p:nvPr/>
        </p:nvSpPr>
        <p:spPr bwMode="auto">
          <a:xfrm>
            <a:off x="5029200" y="685800"/>
            <a:ext cx="1168400" cy="2878138"/>
          </a:xfrm>
          <a:prstGeom prst="rect">
            <a:avLst/>
          </a:prstGeom>
          <a:noFill/>
          <a:ln w="28575">
            <a:solidFill>
              <a:srgbClr val="FF0000"/>
            </a:solidFill>
            <a:miter lim="800000"/>
            <a:headEnd/>
            <a:tailEnd/>
          </a:ln>
          <a:effectLst/>
        </p:spPr>
        <p:txBody>
          <a:bodyPr wrap="none" anchor="ctr"/>
          <a:lstStyle/>
          <a:p>
            <a:endParaRPr lang="en-US"/>
          </a:p>
        </p:txBody>
      </p:sp>
      <p:sp>
        <p:nvSpPr>
          <p:cNvPr id="39940" name="Text Box 4"/>
          <p:cNvSpPr txBox="1">
            <a:spLocks noChangeArrowheads="1"/>
          </p:cNvSpPr>
          <p:nvPr/>
        </p:nvSpPr>
        <p:spPr bwMode="auto">
          <a:xfrm>
            <a:off x="6237288" y="776288"/>
            <a:ext cx="2373312" cy="366712"/>
          </a:xfrm>
          <a:prstGeom prst="rect">
            <a:avLst/>
          </a:prstGeom>
          <a:noFill/>
          <a:ln w="9525">
            <a:noFill/>
            <a:miter lim="800000"/>
            <a:headEnd/>
            <a:tailEnd/>
          </a:ln>
          <a:effectLst/>
        </p:spPr>
        <p:txBody>
          <a:bodyPr wrap="none">
            <a:spAutoFit/>
          </a:bodyPr>
          <a:lstStyle/>
          <a:p>
            <a:pPr eaLnBrk="1" hangingPunct="1"/>
            <a:r>
              <a:rPr lang="en-US" sz="1800" i="1">
                <a:solidFill>
                  <a:srgbClr val="FF0000"/>
                </a:solidFill>
                <a:latin typeface="Times New Roman" pitchFamily="18" charset="0"/>
                <a:cs typeface="Arial" charset="0"/>
              </a:rPr>
              <a:t>Anti-bonding LUMO(π)</a:t>
            </a:r>
          </a:p>
        </p:txBody>
      </p:sp>
      <p:sp>
        <p:nvSpPr>
          <p:cNvPr id="39941" name="Text Box 5"/>
          <p:cNvSpPr txBox="1">
            <a:spLocks noChangeArrowheads="1"/>
          </p:cNvSpPr>
          <p:nvPr/>
        </p:nvSpPr>
        <p:spPr bwMode="auto">
          <a:xfrm>
            <a:off x="304800" y="1600200"/>
            <a:ext cx="2155825"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The CN- ligand </a:t>
            </a:r>
          </a:p>
        </p:txBody>
      </p:sp>
    </p:spTree>
    <p:extLst>
      <p:ext uri="{BB962C8B-B14F-4D97-AF65-F5344CB8AC3E}">
        <p14:creationId xmlns:p14="http://schemas.microsoft.com/office/powerpoint/2010/main" val="335157978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srcRect/>
          <a:stretch>
            <a:fillRect/>
          </a:stretch>
        </p:blipFill>
        <p:spPr bwMode="auto">
          <a:xfrm>
            <a:off x="1219200" y="1447800"/>
            <a:ext cx="7010400" cy="5343525"/>
          </a:xfrm>
          <a:prstGeom prst="rect">
            <a:avLst/>
          </a:prstGeom>
          <a:noFill/>
          <a:ln w="9525">
            <a:noFill/>
            <a:miter lim="800000"/>
            <a:headEnd/>
            <a:tailEnd/>
          </a:ln>
          <a:effectLst/>
        </p:spPr>
      </p:pic>
      <p:sp>
        <p:nvSpPr>
          <p:cNvPr id="40963" name="Text Box 3"/>
          <p:cNvSpPr txBox="1">
            <a:spLocks noChangeArrowheads="1"/>
          </p:cNvSpPr>
          <p:nvPr/>
        </p:nvSpPr>
        <p:spPr bwMode="auto">
          <a:xfrm>
            <a:off x="914400" y="228600"/>
            <a:ext cx="7467600" cy="1187450"/>
          </a:xfrm>
          <a:prstGeom prst="rect">
            <a:avLst/>
          </a:prstGeom>
          <a:noFill/>
          <a:ln w="9525">
            <a:noFill/>
            <a:miter lim="800000"/>
            <a:headEnd/>
            <a:tailEnd/>
          </a:ln>
          <a:effectLst/>
        </p:spPr>
        <p:txBody>
          <a:bodyPr>
            <a:spAutoFit/>
          </a:bodyPr>
          <a:lstStyle/>
          <a:p>
            <a:pPr>
              <a:spcBef>
                <a:spcPct val="50000"/>
              </a:spcBef>
            </a:pPr>
            <a:r>
              <a:rPr lang="en-US"/>
              <a:t>Some schematic diagrams showing how p bonding occurs with a ligand having a d orbital (P), a </a:t>
            </a:r>
            <a:r>
              <a:rPr lang="en-US">
                <a:latin typeface="Symbol" pitchFamily="18" charset="2"/>
              </a:rPr>
              <a:t>p</a:t>
            </a:r>
            <a:r>
              <a:rPr lang="en-US" baseline="30000"/>
              <a:t>*</a:t>
            </a:r>
            <a:r>
              <a:rPr lang="en-US"/>
              <a:t> orbital, and a vacant p orbital.</a:t>
            </a:r>
          </a:p>
        </p:txBody>
      </p:sp>
    </p:spTree>
    <p:extLst>
      <p:ext uri="{BB962C8B-B14F-4D97-AF65-F5344CB8AC3E}">
        <p14:creationId xmlns:p14="http://schemas.microsoft.com/office/powerpoint/2010/main" val="118997772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3"/>
          <a:srcRect/>
          <a:stretch>
            <a:fillRect/>
          </a:stretch>
        </p:blipFill>
        <p:spPr bwMode="auto">
          <a:xfrm>
            <a:off x="2295525" y="420688"/>
            <a:ext cx="4552950" cy="6016625"/>
          </a:xfrm>
          <a:prstGeom prst="rect">
            <a:avLst/>
          </a:prstGeom>
          <a:noFill/>
          <a:ln w="9525">
            <a:noFill/>
            <a:miter lim="800000"/>
            <a:headEnd/>
            <a:tailEnd/>
          </a:ln>
          <a:effectLst/>
        </p:spPr>
      </p:pic>
      <p:sp>
        <p:nvSpPr>
          <p:cNvPr id="41987" name="Text Box 3"/>
          <p:cNvSpPr txBox="1">
            <a:spLocks noChangeArrowheads="1"/>
          </p:cNvSpPr>
          <p:nvPr/>
        </p:nvSpPr>
        <p:spPr bwMode="auto">
          <a:xfrm>
            <a:off x="6769100" y="4297363"/>
            <a:ext cx="2132013" cy="366712"/>
          </a:xfrm>
          <a:prstGeom prst="rect">
            <a:avLst/>
          </a:prstGeom>
          <a:noFill/>
          <a:ln w="9525">
            <a:noFill/>
            <a:miter lim="800000"/>
            <a:headEnd/>
            <a:tailEnd/>
          </a:ln>
          <a:effectLst/>
        </p:spPr>
        <p:txBody>
          <a:bodyPr wrap="none">
            <a:spAutoFit/>
          </a:bodyPr>
          <a:lstStyle/>
          <a:p>
            <a:pPr eaLnBrk="1" hangingPunct="1"/>
            <a:r>
              <a:rPr lang="en-US" sz="1800">
                <a:solidFill>
                  <a:srgbClr val="FF0000"/>
                </a:solidFill>
                <a:latin typeface="Times New Roman" pitchFamily="18" charset="0"/>
                <a:cs typeface="Arial" charset="0"/>
              </a:rPr>
              <a:t>6 </a:t>
            </a:r>
            <a:r>
              <a:rPr lang="en-US" sz="1800">
                <a:solidFill>
                  <a:srgbClr val="FF0000"/>
                </a:solidFill>
                <a:latin typeface="Symbol" pitchFamily="18" charset="2"/>
                <a:cs typeface="Arial" charset="0"/>
              </a:rPr>
              <a:t>s</a:t>
            </a:r>
            <a:r>
              <a:rPr lang="en-US" sz="1800">
                <a:solidFill>
                  <a:srgbClr val="FF0000"/>
                </a:solidFill>
                <a:latin typeface="Times New Roman" pitchFamily="18" charset="0"/>
                <a:cs typeface="Arial" charset="0"/>
              </a:rPr>
              <a:t> ligands x 2e each</a:t>
            </a:r>
          </a:p>
        </p:txBody>
      </p:sp>
      <p:grpSp>
        <p:nvGrpSpPr>
          <p:cNvPr id="2" name="Group 4"/>
          <p:cNvGrpSpPr>
            <a:grpSpLocks/>
          </p:cNvGrpSpPr>
          <p:nvPr/>
        </p:nvGrpSpPr>
        <p:grpSpPr bwMode="auto">
          <a:xfrm>
            <a:off x="2033588" y="4495800"/>
            <a:ext cx="3071812" cy="1600200"/>
            <a:chOff x="1281" y="2832"/>
            <a:chExt cx="1935" cy="1008"/>
          </a:xfrm>
        </p:grpSpPr>
        <p:sp>
          <p:nvSpPr>
            <p:cNvPr id="41989" name="Rectangle 5"/>
            <p:cNvSpPr>
              <a:spLocks noChangeArrowheads="1"/>
            </p:cNvSpPr>
            <p:nvPr/>
          </p:nvSpPr>
          <p:spPr bwMode="auto">
            <a:xfrm>
              <a:off x="2544" y="2832"/>
              <a:ext cx="672" cy="1008"/>
            </a:xfrm>
            <a:prstGeom prst="rect">
              <a:avLst/>
            </a:prstGeom>
            <a:noFill/>
            <a:ln w="28575">
              <a:solidFill>
                <a:srgbClr val="FF0000"/>
              </a:solidFill>
              <a:miter lim="800000"/>
              <a:headEnd/>
              <a:tailEnd/>
            </a:ln>
            <a:effectLst/>
          </p:spPr>
          <p:txBody>
            <a:bodyPr wrap="none" anchor="ctr"/>
            <a:lstStyle/>
            <a:p>
              <a:endParaRPr lang="en-US"/>
            </a:p>
          </p:txBody>
        </p:sp>
        <p:sp>
          <p:nvSpPr>
            <p:cNvPr id="41990" name="Text Box 6"/>
            <p:cNvSpPr txBox="1">
              <a:spLocks noChangeArrowheads="1"/>
            </p:cNvSpPr>
            <p:nvPr/>
          </p:nvSpPr>
          <p:spPr bwMode="auto">
            <a:xfrm>
              <a:off x="1281" y="3206"/>
              <a:ext cx="1168" cy="404"/>
            </a:xfrm>
            <a:prstGeom prst="rect">
              <a:avLst/>
            </a:prstGeom>
            <a:noFill/>
            <a:ln w="9525">
              <a:noFill/>
              <a:miter lim="800000"/>
              <a:headEnd/>
              <a:tailEnd/>
            </a:ln>
            <a:effectLst/>
          </p:spPr>
          <p:txBody>
            <a:bodyPr wrap="none">
              <a:spAutoFit/>
            </a:bodyPr>
            <a:lstStyle/>
            <a:p>
              <a:pPr algn="ctr" eaLnBrk="1" hangingPunct="1"/>
              <a:r>
                <a:rPr lang="en-US" sz="1800">
                  <a:solidFill>
                    <a:srgbClr val="FF0000"/>
                  </a:solidFill>
                  <a:latin typeface="Times New Roman" pitchFamily="18" charset="0"/>
                  <a:cs typeface="Arial" charset="0"/>
                </a:rPr>
                <a:t>12 </a:t>
              </a:r>
              <a:r>
                <a:rPr lang="en-US" sz="1800">
                  <a:solidFill>
                    <a:srgbClr val="FF0000"/>
                  </a:solidFill>
                  <a:latin typeface="Symbol" pitchFamily="18" charset="2"/>
                  <a:cs typeface="Arial" charset="0"/>
                </a:rPr>
                <a:t>s</a:t>
              </a:r>
              <a:r>
                <a:rPr lang="en-US" sz="1800">
                  <a:solidFill>
                    <a:srgbClr val="FF0000"/>
                  </a:solidFill>
                  <a:latin typeface="Times New Roman" pitchFamily="18" charset="0"/>
                  <a:cs typeface="Arial" charset="0"/>
                </a:rPr>
                <a:t> bonding e</a:t>
              </a:r>
            </a:p>
            <a:p>
              <a:pPr algn="ctr" eaLnBrk="1" hangingPunct="1"/>
              <a:r>
                <a:rPr lang="en-US" sz="1800">
                  <a:solidFill>
                    <a:srgbClr val="FF0000"/>
                  </a:solidFill>
                  <a:latin typeface="Times New Roman" pitchFamily="18" charset="0"/>
                  <a:cs typeface="Arial" charset="0"/>
                </a:rPr>
                <a:t>“ligand character”</a:t>
              </a:r>
            </a:p>
          </p:txBody>
        </p:sp>
      </p:grpSp>
      <p:sp>
        <p:nvSpPr>
          <p:cNvPr id="41991" name="Text Box 7"/>
          <p:cNvSpPr txBox="1">
            <a:spLocks noChangeArrowheads="1"/>
          </p:cNvSpPr>
          <p:nvPr/>
        </p:nvSpPr>
        <p:spPr bwMode="auto">
          <a:xfrm>
            <a:off x="457200" y="1676400"/>
            <a:ext cx="1803400" cy="366713"/>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“d</a:t>
            </a:r>
            <a:r>
              <a:rPr lang="en-US" sz="1800" baseline="30000">
                <a:solidFill>
                  <a:schemeClr val="accent2"/>
                </a:solidFill>
                <a:latin typeface="Times New Roman" pitchFamily="18" charset="0"/>
                <a:cs typeface="Arial" charset="0"/>
              </a:rPr>
              <a:t>0</a:t>
            </a:r>
            <a:r>
              <a:rPr lang="en-US" sz="1800">
                <a:solidFill>
                  <a:schemeClr val="accent2"/>
                </a:solidFill>
                <a:latin typeface="Times New Roman" pitchFamily="18" charset="0"/>
                <a:cs typeface="Arial" charset="0"/>
              </a:rPr>
              <a:t>-d</a:t>
            </a:r>
            <a:r>
              <a:rPr lang="en-US" sz="1800" baseline="30000">
                <a:solidFill>
                  <a:schemeClr val="accent2"/>
                </a:solidFill>
                <a:latin typeface="Times New Roman" pitchFamily="18" charset="0"/>
                <a:cs typeface="Arial" charset="0"/>
              </a:rPr>
              <a:t>10</a:t>
            </a:r>
            <a:r>
              <a:rPr lang="en-US" sz="1800">
                <a:solidFill>
                  <a:schemeClr val="accent2"/>
                </a:solidFill>
                <a:latin typeface="Times New Roman" pitchFamily="18" charset="0"/>
                <a:cs typeface="Arial" charset="0"/>
              </a:rPr>
              <a:t> electrons”</a:t>
            </a:r>
          </a:p>
        </p:txBody>
      </p:sp>
      <p:grpSp>
        <p:nvGrpSpPr>
          <p:cNvPr id="3" name="Group 8"/>
          <p:cNvGrpSpPr>
            <a:grpSpLocks/>
          </p:cNvGrpSpPr>
          <p:nvPr/>
        </p:nvGrpSpPr>
        <p:grpSpPr bwMode="auto">
          <a:xfrm>
            <a:off x="4267200" y="1524000"/>
            <a:ext cx="4914900" cy="1524000"/>
            <a:chOff x="2688" y="960"/>
            <a:chExt cx="3096" cy="960"/>
          </a:xfrm>
        </p:grpSpPr>
        <p:sp>
          <p:nvSpPr>
            <p:cNvPr id="41993" name="Rectangle 9"/>
            <p:cNvSpPr>
              <a:spLocks noChangeArrowheads="1"/>
            </p:cNvSpPr>
            <p:nvPr/>
          </p:nvSpPr>
          <p:spPr bwMode="auto">
            <a:xfrm>
              <a:off x="2688" y="1008"/>
              <a:ext cx="624" cy="912"/>
            </a:xfrm>
            <a:prstGeom prst="rect">
              <a:avLst/>
            </a:prstGeom>
            <a:noFill/>
            <a:ln w="28575">
              <a:solidFill>
                <a:schemeClr val="accent2"/>
              </a:solidFill>
              <a:miter lim="800000"/>
              <a:headEnd/>
              <a:tailEnd/>
            </a:ln>
            <a:effectLst/>
          </p:spPr>
          <p:txBody>
            <a:bodyPr wrap="none" anchor="ctr"/>
            <a:lstStyle/>
            <a:p>
              <a:endParaRPr lang="en-US"/>
            </a:p>
          </p:txBody>
        </p:sp>
        <p:sp>
          <p:nvSpPr>
            <p:cNvPr id="41994" name="Line 10"/>
            <p:cNvSpPr>
              <a:spLocks noChangeShapeType="1"/>
            </p:cNvSpPr>
            <p:nvPr/>
          </p:nvSpPr>
          <p:spPr bwMode="auto">
            <a:xfrm flipH="1">
              <a:off x="3216" y="1680"/>
              <a:ext cx="528" cy="0"/>
            </a:xfrm>
            <a:prstGeom prst="line">
              <a:avLst/>
            </a:prstGeom>
            <a:noFill/>
            <a:ln w="9525">
              <a:solidFill>
                <a:schemeClr val="accent2"/>
              </a:solidFill>
              <a:round/>
              <a:headEnd/>
              <a:tailEnd type="triangle" w="med" len="med"/>
            </a:ln>
            <a:effectLst/>
          </p:spPr>
          <p:txBody>
            <a:bodyPr/>
            <a:lstStyle/>
            <a:p>
              <a:endParaRPr lang="en-US"/>
            </a:p>
          </p:txBody>
        </p:sp>
        <p:sp>
          <p:nvSpPr>
            <p:cNvPr id="41995" name="Text Box 11"/>
            <p:cNvSpPr txBox="1">
              <a:spLocks noChangeArrowheads="1"/>
            </p:cNvSpPr>
            <p:nvPr/>
          </p:nvSpPr>
          <p:spPr bwMode="auto">
            <a:xfrm>
              <a:off x="3734" y="1560"/>
              <a:ext cx="840"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non bonding</a:t>
              </a:r>
            </a:p>
          </p:txBody>
        </p:sp>
        <p:sp>
          <p:nvSpPr>
            <p:cNvPr id="41996" name="Line 12"/>
            <p:cNvSpPr>
              <a:spLocks noChangeShapeType="1"/>
            </p:cNvSpPr>
            <p:nvPr/>
          </p:nvSpPr>
          <p:spPr bwMode="auto">
            <a:xfrm flipH="1">
              <a:off x="3312" y="1128"/>
              <a:ext cx="528" cy="0"/>
            </a:xfrm>
            <a:prstGeom prst="line">
              <a:avLst/>
            </a:prstGeom>
            <a:noFill/>
            <a:ln w="9525">
              <a:solidFill>
                <a:schemeClr val="accent2"/>
              </a:solidFill>
              <a:round/>
              <a:headEnd/>
              <a:tailEnd type="triangle" w="med" len="med"/>
            </a:ln>
            <a:effectLst/>
          </p:spPr>
          <p:txBody>
            <a:bodyPr/>
            <a:lstStyle/>
            <a:p>
              <a:endParaRPr lang="en-US"/>
            </a:p>
          </p:txBody>
        </p:sp>
        <p:sp>
          <p:nvSpPr>
            <p:cNvPr id="41997" name="Text Box 13"/>
            <p:cNvSpPr txBox="1">
              <a:spLocks noChangeArrowheads="1"/>
            </p:cNvSpPr>
            <p:nvPr/>
          </p:nvSpPr>
          <p:spPr bwMode="auto">
            <a:xfrm>
              <a:off x="3830" y="1008"/>
              <a:ext cx="840"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anti bonding</a:t>
              </a:r>
            </a:p>
          </p:txBody>
        </p:sp>
        <p:sp>
          <p:nvSpPr>
            <p:cNvPr id="41998" name="AutoShape 14"/>
            <p:cNvSpPr>
              <a:spLocks/>
            </p:cNvSpPr>
            <p:nvPr/>
          </p:nvSpPr>
          <p:spPr bwMode="auto">
            <a:xfrm>
              <a:off x="4608" y="960"/>
              <a:ext cx="96" cy="864"/>
            </a:xfrm>
            <a:prstGeom prst="rightBrace">
              <a:avLst>
                <a:gd name="adj1" fmla="val 75000"/>
                <a:gd name="adj2" fmla="val 50000"/>
              </a:avLst>
            </a:prstGeom>
            <a:noFill/>
            <a:ln w="28575">
              <a:solidFill>
                <a:schemeClr val="accent2"/>
              </a:solidFill>
              <a:round/>
              <a:headEnd/>
              <a:tailEnd/>
            </a:ln>
            <a:effectLst/>
          </p:spPr>
          <p:txBody>
            <a:bodyPr wrap="none" anchor="ctr"/>
            <a:lstStyle/>
            <a:p>
              <a:pPr algn="ctr" eaLnBrk="1" hangingPunct="1"/>
              <a:endParaRPr lang="en-US" sz="1800">
                <a:solidFill>
                  <a:schemeClr val="accent2"/>
                </a:solidFill>
                <a:latin typeface="Arial" charset="0"/>
                <a:cs typeface="Arial" charset="0"/>
              </a:endParaRPr>
            </a:p>
          </p:txBody>
        </p:sp>
        <p:sp>
          <p:nvSpPr>
            <p:cNvPr id="41999" name="Text Box 15"/>
            <p:cNvSpPr txBox="1">
              <a:spLocks noChangeArrowheads="1"/>
            </p:cNvSpPr>
            <p:nvPr/>
          </p:nvSpPr>
          <p:spPr bwMode="auto">
            <a:xfrm>
              <a:off x="4656" y="1272"/>
              <a:ext cx="1128"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“metal character”</a:t>
              </a:r>
            </a:p>
          </p:txBody>
        </p:sp>
      </p:grpSp>
      <p:sp>
        <p:nvSpPr>
          <p:cNvPr id="42000" name="Text Box 16"/>
          <p:cNvSpPr txBox="1">
            <a:spLocks noChangeArrowheads="1"/>
          </p:cNvSpPr>
          <p:nvPr/>
        </p:nvSpPr>
        <p:spPr bwMode="auto">
          <a:xfrm>
            <a:off x="306388" y="236538"/>
            <a:ext cx="2679700" cy="466725"/>
          </a:xfrm>
          <a:prstGeom prst="rect">
            <a:avLst/>
          </a:prstGeom>
          <a:noFill/>
          <a:ln w="9525">
            <a:solidFill>
              <a:schemeClr val="accent2"/>
            </a:solid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ML</a:t>
            </a:r>
            <a:r>
              <a:rPr lang="en-US" i="1" baseline="-25000">
                <a:solidFill>
                  <a:schemeClr val="accent2"/>
                </a:solidFill>
                <a:latin typeface="Times New Roman" pitchFamily="18" charset="0"/>
                <a:cs typeface="Arial" charset="0"/>
              </a:rPr>
              <a:t>6</a:t>
            </a:r>
            <a:r>
              <a:rPr lang="en-US" i="1">
                <a:solidFill>
                  <a:schemeClr val="accent2"/>
                </a:solidFill>
                <a:latin typeface="Times New Roman" pitchFamily="18" charset="0"/>
                <a:cs typeface="Arial" charset="0"/>
              </a:rPr>
              <a:t> </a:t>
            </a:r>
            <a:r>
              <a:rPr lang="en-US" i="1">
                <a:solidFill>
                  <a:schemeClr val="accent2"/>
                </a:solidFill>
                <a:latin typeface="Symbol" pitchFamily="18" charset="2"/>
                <a:cs typeface="Arial" charset="0"/>
              </a:rPr>
              <a:t>s</a:t>
            </a:r>
            <a:r>
              <a:rPr lang="en-US" i="1">
                <a:solidFill>
                  <a:schemeClr val="accent2"/>
                </a:solidFill>
                <a:latin typeface="Times New Roman" pitchFamily="18" charset="0"/>
                <a:cs typeface="Arial" charset="0"/>
              </a:rPr>
              <a:t>-only bonding</a:t>
            </a:r>
          </a:p>
        </p:txBody>
      </p:sp>
      <p:sp>
        <p:nvSpPr>
          <p:cNvPr id="42001" name="Rectangle 17"/>
          <p:cNvSpPr>
            <a:spLocks noChangeArrowheads="1"/>
          </p:cNvSpPr>
          <p:nvPr/>
        </p:nvSpPr>
        <p:spPr bwMode="auto">
          <a:xfrm>
            <a:off x="1905000" y="3810000"/>
            <a:ext cx="6934200" cy="2514600"/>
          </a:xfrm>
          <a:prstGeom prst="rect">
            <a:avLst/>
          </a:prstGeom>
          <a:solidFill>
            <a:schemeClr val="bg1"/>
          </a:solidFill>
          <a:ln w="9525">
            <a:noFill/>
            <a:miter lim="800000"/>
            <a:headEnd/>
            <a:tailEnd/>
          </a:ln>
          <a:effectLst/>
        </p:spPr>
        <p:txBody>
          <a:bodyPr wrap="none" anchor="ctr"/>
          <a:lstStyle/>
          <a:p>
            <a:pPr algn="ctr" eaLnBrk="1" hangingPunct="1"/>
            <a:r>
              <a:rPr lang="en-US" i="1">
                <a:latin typeface="Times New Roman" pitchFamily="18" charset="0"/>
                <a:cs typeface="Arial" charset="0"/>
              </a:rPr>
              <a:t>The bonding orbitals, essentially the ligand lone pairs,</a:t>
            </a:r>
          </a:p>
          <a:p>
            <a:pPr algn="ctr" eaLnBrk="1" hangingPunct="1"/>
            <a:r>
              <a:rPr lang="en-US" i="1">
                <a:latin typeface="Times New Roman" pitchFamily="18" charset="0"/>
                <a:cs typeface="Arial" charset="0"/>
              </a:rPr>
              <a:t> will not be worked with further.</a:t>
            </a:r>
            <a:endParaRPr lang="en-US" sz="1800">
              <a:latin typeface="Arial" charset="0"/>
              <a:cs typeface="Arial" charset="0"/>
            </a:endParaRPr>
          </a:p>
        </p:txBody>
      </p:sp>
    </p:spTree>
    <p:extLst>
      <p:ext uri="{BB962C8B-B14F-4D97-AF65-F5344CB8AC3E}">
        <p14:creationId xmlns:p14="http://schemas.microsoft.com/office/powerpoint/2010/main" val="347049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20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1" grpId="0" animBg="1" autoUpdateAnimBg="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1947863" y="4572000"/>
            <a:ext cx="471487"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a:t>
            </a:r>
            <a:r>
              <a:rPr lang="en-US" i="1" baseline="-25000">
                <a:solidFill>
                  <a:schemeClr val="accent2"/>
                </a:solidFill>
                <a:latin typeface="Times New Roman" pitchFamily="18" charset="0"/>
                <a:cs typeface="Arial" charset="0"/>
              </a:rPr>
              <a:t>2g</a:t>
            </a:r>
            <a:endParaRPr lang="en-US" i="1">
              <a:solidFill>
                <a:schemeClr val="accent2"/>
              </a:solidFill>
              <a:latin typeface="Times New Roman" pitchFamily="18" charset="0"/>
              <a:cs typeface="Arial" charset="0"/>
            </a:endParaRPr>
          </a:p>
        </p:txBody>
      </p:sp>
      <p:sp>
        <p:nvSpPr>
          <p:cNvPr id="43011" name="Text Box 3"/>
          <p:cNvSpPr txBox="1">
            <a:spLocks noChangeArrowheads="1"/>
          </p:cNvSpPr>
          <p:nvPr/>
        </p:nvSpPr>
        <p:spPr bwMode="auto">
          <a:xfrm>
            <a:off x="1947863" y="2971800"/>
            <a:ext cx="420687" cy="457200"/>
          </a:xfrm>
          <a:prstGeom prst="rect">
            <a:avLst/>
          </a:prstGeom>
          <a:noFill/>
          <a:ln w="9525">
            <a:noFill/>
            <a:miter lim="800000"/>
            <a:headEnd/>
            <a:tailEnd/>
          </a:ln>
          <a:effectLst/>
        </p:spPr>
        <p:txBody>
          <a:bodyPr wrap="none">
            <a:spAutoFit/>
          </a:bodyPr>
          <a:lstStyle/>
          <a:p>
            <a:pPr eaLnBrk="1" hangingPunct="1"/>
            <a:r>
              <a:rPr lang="en-US" i="1">
                <a:solidFill>
                  <a:srgbClr val="FF0000"/>
                </a:solidFill>
                <a:latin typeface="Times New Roman" pitchFamily="18" charset="0"/>
                <a:cs typeface="Arial" charset="0"/>
              </a:rPr>
              <a:t>e</a:t>
            </a:r>
            <a:r>
              <a:rPr lang="en-US" i="1" baseline="-25000">
                <a:solidFill>
                  <a:srgbClr val="FF0000"/>
                </a:solidFill>
                <a:latin typeface="Times New Roman" pitchFamily="18" charset="0"/>
                <a:cs typeface="Arial" charset="0"/>
              </a:rPr>
              <a:t>g</a:t>
            </a:r>
            <a:endParaRPr lang="en-US" i="1">
              <a:solidFill>
                <a:schemeClr val="accent2"/>
              </a:solidFill>
              <a:latin typeface="Times New Roman" pitchFamily="18" charset="0"/>
              <a:cs typeface="Arial" charset="0"/>
            </a:endParaRPr>
          </a:p>
        </p:txBody>
      </p:sp>
      <p:pic>
        <p:nvPicPr>
          <p:cNvPr id="43012" name="Picture 4"/>
          <p:cNvPicPr>
            <a:picLocks noChangeAspect="1" noChangeArrowheads="1"/>
          </p:cNvPicPr>
          <p:nvPr/>
        </p:nvPicPr>
        <p:blipFill>
          <a:blip r:embed="rId3"/>
          <a:srcRect/>
          <a:stretch>
            <a:fillRect/>
          </a:stretch>
        </p:blipFill>
        <p:spPr bwMode="auto">
          <a:xfrm>
            <a:off x="2557463" y="638175"/>
            <a:ext cx="5006975" cy="5305425"/>
          </a:xfrm>
          <a:prstGeom prst="rect">
            <a:avLst/>
          </a:prstGeom>
          <a:noFill/>
          <a:ln w="9525">
            <a:noFill/>
            <a:miter lim="800000"/>
            <a:headEnd/>
            <a:tailEnd/>
          </a:ln>
          <a:effectLst/>
        </p:spPr>
      </p:pic>
      <p:sp>
        <p:nvSpPr>
          <p:cNvPr id="43013" name="Text Box 5"/>
          <p:cNvSpPr txBox="1">
            <a:spLocks noChangeArrowheads="1"/>
          </p:cNvSpPr>
          <p:nvPr/>
        </p:nvSpPr>
        <p:spPr bwMode="auto">
          <a:xfrm>
            <a:off x="7662863" y="2057400"/>
            <a:ext cx="471487" cy="457200"/>
          </a:xfrm>
          <a:prstGeom prst="rect">
            <a:avLst/>
          </a:prstGeom>
          <a:noFill/>
          <a:ln w="9525">
            <a:noFill/>
            <a:miter lim="800000"/>
            <a:headEnd/>
            <a:tailEnd/>
          </a:ln>
          <a:effectLst/>
        </p:spPr>
        <p:txBody>
          <a:bodyPr wrap="none">
            <a:spAutoFit/>
          </a:bodyPr>
          <a:lstStyle/>
          <a:p>
            <a:pPr eaLnBrk="1" hangingPunct="1"/>
            <a:r>
              <a:rPr lang="en-US" i="1">
                <a:solidFill>
                  <a:srgbClr val="D017B5"/>
                </a:solidFill>
                <a:latin typeface="Times New Roman" pitchFamily="18" charset="0"/>
                <a:cs typeface="Arial" charset="0"/>
              </a:rPr>
              <a:t>t</a:t>
            </a:r>
            <a:r>
              <a:rPr lang="en-US" i="1" baseline="-25000">
                <a:solidFill>
                  <a:srgbClr val="D017B5"/>
                </a:solidFill>
                <a:latin typeface="Times New Roman" pitchFamily="18" charset="0"/>
                <a:cs typeface="Arial" charset="0"/>
              </a:rPr>
              <a:t>2g</a:t>
            </a:r>
            <a:endParaRPr lang="en-US" sz="1800" i="1">
              <a:solidFill>
                <a:srgbClr val="D017B5"/>
              </a:solidFill>
              <a:latin typeface="Times New Roman" pitchFamily="18" charset="0"/>
              <a:cs typeface="Arial" charset="0"/>
            </a:endParaRPr>
          </a:p>
        </p:txBody>
      </p:sp>
      <p:sp>
        <p:nvSpPr>
          <p:cNvPr id="43014" name="Text Box 6"/>
          <p:cNvSpPr txBox="1">
            <a:spLocks noChangeArrowheads="1"/>
          </p:cNvSpPr>
          <p:nvPr/>
        </p:nvSpPr>
        <p:spPr bwMode="auto">
          <a:xfrm>
            <a:off x="2720975" y="6019800"/>
            <a:ext cx="827088" cy="650875"/>
          </a:xfrm>
          <a:prstGeom prst="rect">
            <a:avLst/>
          </a:prstGeom>
          <a:noFill/>
          <a:ln w="9525">
            <a:solidFill>
              <a:schemeClr val="tx1"/>
            </a:solidFill>
            <a:miter lim="800000"/>
            <a:headEnd/>
            <a:tailEnd/>
          </a:ln>
          <a:effectLst/>
        </p:spPr>
        <p:txBody>
          <a:bodyPr wrap="none">
            <a:spAutoFit/>
          </a:bodyPr>
          <a:lstStyle/>
          <a:p>
            <a:pPr algn="ctr" eaLnBrk="1" hangingPunct="1"/>
            <a:r>
              <a:rPr lang="en-US" sz="1800">
                <a:latin typeface="Times New Roman" pitchFamily="18" charset="0"/>
                <a:cs typeface="Arial" charset="0"/>
              </a:rPr>
              <a:t>ML</a:t>
            </a:r>
            <a:r>
              <a:rPr lang="en-US" sz="1800" baseline="-25000">
                <a:latin typeface="Times New Roman" pitchFamily="18" charset="0"/>
                <a:cs typeface="Arial" charset="0"/>
              </a:rPr>
              <a:t>6</a:t>
            </a:r>
            <a:endParaRPr lang="en-US" sz="1800">
              <a:latin typeface="Times New Roman" pitchFamily="18" charset="0"/>
              <a:cs typeface="Arial" charset="0"/>
            </a:endParaRPr>
          </a:p>
          <a:p>
            <a:pPr algn="ctr" eaLnBrk="1" hangingPunct="1"/>
            <a:r>
              <a:rPr lang="en-US" sz="1800">
                <a:latin typeface="Symbol" pitchFamily="18" charset="2"/>
                <a:cs typeface="Arial" charset="0"/>
              </a:rPr>
              <a:t>s</a:t>
            </a:r>
            <a:r>
              <a:rPr lang="en-US" sz="1800">
                <a:latin typeface="Arial" charset="0"/>
                <a:cs typeface="Arial" charset="0"/>
              </a:rPr>
              <a:t>-only</a:t>
            </a:r>
          </a:p>
        </p:txBody>
      </p:sp>
      <p:sp>
        <p:nvSpPr>
          <p:cNvPr id="43015" name="Text Box 7"/>
          <p:cNvSpPr txBox="1">
            <a:spLocks noChangeArrowheads="1"/>
          </p:cNvSpPr>
          <p:nvPr/>
        </p:nvSpPr>
        <p:spPr bwMode="auto">
          <a:xfrm>
            <a:off x="4683125" y="6019800"/>
            <a:ext cx="711200" cy="650875"/>
          </a:xfrm>
          <a:prstGeom prst="rect">
            <a:avLst/>
          </a:prstGeom>
          <a:noFill/>
          <a:ln w="9525">
            <a:solidFill>
              <a:schemeClr val="tx1"/>
            </a:solidFill>
            <a:miter lim="800000"/>
            <a:headEnd/>
            <a:tailEnd/>
          </a:ln>
          <a:effectLst/>
        </p:spPr>
        <p:txBody>
          <a:bodyPr wrap="none">
            <a:spAutoFit/>
          </a:bodyPr>
          <a:lstStyle/>
          <a:p>
            <a:pPr algn="ctr" eaLnBrk="1" hangingPunct="1"/>
            <a:r>
              <a:rPr lang="en-US" sz="1800">
                <a:latin typeface="Times New Roman" pitchFamily="18" charset="0"/>
                <a:cs typeface="Arial" charset="0"/>
              </a:rPr>
              <a:t>ML</a:t>
            </a:r>
            <a:r>
              <a:rPr lang="en-US" sz="1800" baseline="-25000">
                <a:latin typeface="Times New Roman" pitchFamily="18" charset="0"/>
                <a:cs typeface="Arial" charset="0"/>
              </a:rPr>
              <a:t>6</a:t>
            </a:r>
            <a:endParaRPr lang="en-US" sz="1800">
              <a:latin typeface="Times New Roman" pitchFamily="18" charset="0"/>
              <a:cs typeface="Arial" charset="0"/>
            </a:endParaRPr>
          </a:p>
          <a:p>
            <a:pPr algn="ctr" eaLnBrk="1" hangingPunct="1"/>
            <a:r>
              <a:rPr lang="en-US" sz="1800">
                <a:latin typeface="Symbol" pitchFamily="18" charset="2"/>
                <a:cs typeface="Arial" charset="0"/>
              </a:rPr>
              <a:t>s </a:t>
            </a:r>
            <a:r>
              <a:rPr lang="en-US" sz="1800">
                <a:latin typeface="Arial" charset="0"/>
                <a:cs typeface="Arial" charset="0"/>
              </a:rPr>
              <a:t>+ π</a:t>
            </a:r>
          </a:p>
        </p:txBody>
      </p:sp>
      <p:grpSp>
        <p:nvGrpSpPr>
          <p:cNvPr id="2" name="Group 8"/>
          <p:cNvGrpSpPr>
            <a:grpSpLocks/>
          </p:cNvGrpSpPr>
          <p:nvPr/>
        </p:nvGrpSpPr>
        <p:grpSpPr bwMode="auto">
          <a:xfrm>
            <a:off x="3902075" y="4800600"/>
            <a:ext cx="4144963" cy="838200"/>
            <a:chOff x="2458" y="3024"/>
            <a:chExt cx="2611" cy="528"/>
          </a:xfrm>
        </p:grpSpPr>
        <p:sp>
          <p:nvSpPr>
            <p:cNvPr id="43017" name="Line 9"/>
            <p:cNvSpPr>
              <a:spLocks noChangeShapeType="1"/>
            </p:cNvSpPr>
            <p:nvPr/>
          </p:nvSpPr>
          <p:spPr bwMode="auto">
            <a:xfrm>
              <a:off x="2458" y="3024"/>
              <a:ext cx="1440" cy="0"/>
            </a:xfrm>
            <a:prstGeom prst="line">
              <a:avLst/>
            </a:prstGeom>
            <a:noFill/>
            <a:ln w="9525">
              <a:solidFill>
                <a:schemeClr val="accent2"/>
              </a:solidFill>
              <a:prstDash val="lgDashDot"/>
              <a:round/>
              <a:headEnd/>
              <a:tailEnd/>
            </a:ln>
            <a:effectLst/>
          </p:spPr>
          <p:txBody>
            <a:bodyPr wrap="none" anchor="ctr"/>
            <a:lstStyle/>
            <a:p>
              <a:endParaRPr lang="en-US"/>
            </a:p>
          </p:txBody>
        </p:sp>
        <p:sp>
          <p:nvSpPr>
            <p:cNvPr id="43018" name="Line 10"/>
            <p:cNvSpPr>
              <a:spLocks noChangeShapeType="1"/>
            </p:cNvSpPr>
            <p:nvPr/>
          </p:nvSpPr>
          <p:spPr bwMode="auto">
            <a:xfrm>
              <a:off x="3850" y="3024"/>
              <a:ext cx="0" cy="528"/>
            </a:xfrm>
            <a:prstGeom prst="line">
              <a:avLst/>
            </a:prstGeom>
            <a:noFill/>
            <a:ln w="9525">
              <a:solidFill>
                <a:schemeClr val="accent2"/>
              </a:solidFill>
              <a:round/>
              <a:headEnd type="triangle" w="med" len="med"/>
              <a:tailEnd type="triangle" w="med" len="med"/>
            </a:ln>
            <a:effectLst/>
          </p:spPr>
          <p:txBody>
            <a:bodyPr wrap="none" anchor="ctr"/>
            <a:lstStyle/>
            <a:p>
              <a:endParaRPr lang="en-US"/>
            </a:p>
          </p:txBody>
        </p:sp>
        <p:sp>
          <p:nvSpPr>
            <p:cNvPr id="43019" name="Text Box 11"/>
            <p:cNvSpPr txBox="1">
              <a:spLocks noChangeArrowheads="1"/>
            </p:cNvSpPr>
            <p:nvPr/>
          </p:nvSpPr>
          <p:spPr bwMode="auto">
            <a:xfrm>
              <a:off x="3984" y="3098"/>
              <a:ext cx="1085" cy="288"/>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Stabilization</a:t>
              </a:r>
            </a:p>
          </p:txBody>
        </p:sp>
      </p:grpSp>
      <p:sp>
        <p:nvSpPr>
          <p:cNvPr id="43020" name="Rectangle 12"/>
          <p:cNvSpPr>
            <a:spLocks noChangeArrowheads="1"/>
          </p:cNvSpPr>
          <p:nvPr/>
        </p:nvSpPr>
        <p:spPr bwMode="auto">
          <a:xfrm>
            <a:off x="6291263" y="6172200"/>
            <a:ext cx="2905125" cy="376238"/>
          </a:xfrm>
          <a:prstGeom prst="rect">
            <a:avLst/>
          </a:prstGeom>
          <a:noFill/>
          <a:ln w="9525">
            <a:solidFill>
              <a:srgbClr val="D017B5"/>
            </a:solidFill>
            <a:miter lim="800000"/>
            <a:headEnd/>
            <a:tailEnd/>
          </a:ln>
          <a:effectLst/>
        </p:spPr>
        <p:txBody>
          <a:bodyPr wrap="none">
            <a:spAutoFit/>
          </a:bodyPr>
          <a:lstStyle/>
          <a:p>
            <a:pPr eaLnBrk="1" hangingPunct="1"/>
            <a:r>
              <a:rPr lang="en-US" sz="1800" i="1">
                <a:solidFill>
                  <a:srgbClr val="D017B5"/>
                </a:solidFill>
                <a:latin typeface="Times New Roman" pitchFamily="18" charset="0"/>
                <a:cs typeface="Arial" charset="0"/>
              </a:rPr>
              <a:t>(empty π-orbitals on ligands)</a:t>
            </a:r>
          </a:p>
        </p:txBody>
      </p:sp>
      <p:sp>
        <p:nvSpPr>
          <p:cNvPr id="43021" name="Text Box 13"/>
          <p:cNvSpPr txBox="1">
            <a:spLocks noChangeArrowheads="1"/>
          </p:cNvSpPr>
          <p:nvPr/>
        </p:nvSpPr>
        <p:spPr bwMode="auto">
          <a:xfrm>
            <a:off x="5280025" y="4183063"/>
            <a:ext cx="184150" cy="366712"/>
          </a:xfrm>
          <a:prstGeom prst="rect">
            <a:avLst/>
          </a:prstGeom>
          <a:noFill/>
          <a:ln w="9525">
            <a:noFill/>
            <a:miter lim="800000"/>
            <a:headEnd/>
            <a:tailEnd/>
          </a:ln>
          <a:effectLst/>
        </p:spPr>
        <p:txBody>
          <a:bodyPr>
            <a:spAutoFit/>
          </a:bodyPr>
          <a:lstStyle/>
          <a:p>
            <a:pPr eaLnBrk="1" hangingPunct="1">
              <a:spcBef>
                <a:spcPct val="50000"/>
              </a:spcBef>
            </a:pPr>
            <a:endParaRPr lang="en-US" sz="1800">
              <a:latin typeface="Arial" charset="0"/>
              <a:cs typeface="Arial" charset="0"/>
            </a:endParaRPr>
          </a:p>
        </p:txBody>
      </p:sp>
      <p:grpSp>
        <p:nvGrpSpPr>
          <p:cNvPr id="3" name="Group 14"/>
          <p:cNvGrpSpPr>
            <a:grpSpLocks/>
          </p:cNvGrpSpPr>
          <p:nvPr/>
        </p:nvGrpSpPr>
        <p:grpSpPr bwMode="auto">
          <a:xfrm>
            <a:off x="3336925" y="3200400"/>
            <a:ext cx="4875213" cy="2438400"/>
            <a:chOff x="2102" y="2016"/>
            <a:chExt cx="3071" cy="1536"/>
          </a:xfrm>
        </p:grpSpPr>
        <p:grpSp>
          <p:nvGrpSpPr>
            <p:cNvPr id="4" name="Group 15"/>
            <p:cNvGrpSpPr>
              <a:grpSpLocks/>
            </p:cNvGrpSpPr>
            <p:nvPr/>
          </p:nvGrpSpPr>
          <p:grpSpPr bwMode="auto">
            <a:xfrm>
              <a:off x="2102" y="2016"/>
              <a:ext cx="1500" cy="1536"/>
              <a:chOff x="2102" y="2016"/>
              <a:chExt cx="1500" cy="1536"/>
            </a:xfrm>
          </p:grpSpPr>
          <p:sp>
            <p:nvSpPr>
              <p:cNvPr id="43024" name="Line 16"/>
              <p:cNvSpPr>
                <a:spLocks noChangeShapeType="1"/>
              </p:cNvSpPr>
              <p:nvPr/>
            </p:nvSpPr>
            <p:spPr bwMode="auto">
              <a:xfrm>
                <a:off x="2400" y="2016"/>
                <a:ext cx="0" cy="96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43025" name="Line 17"/>
              <p:cNvSpPr>
                <a:spLocks noChangeShapeType="1"/>
              </p:cNvSpPr>
              <p:nvPr/>
            </p:nvSpPr>
            <p:spPr bwMode="auto">
              <a:xfrm flipV="1">
                <a:off x="3600" y="2016"/>
                <a:ext cx="0" cy="1536"/>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43026" name="Text Box 18"/>
              <p:cNvSpPr txBox="1">
                <a:spLocks noChangeArrowheads="1"/>
              </p:cNvSpPr>
              <p:nvPr/>
            </p:nvSpPr>
            <p:spPr bwMode="auto">
              <a:xfrm>
                <a:off x="2102" y="2337"/>
                <a:ext cx="290" cy="237"/>
              </a:xfrm>
              <a:prstGeom prst="rect">
                <a:avLst/>
              </a:prstGeom>
              <a:noFill/>
              <a:ln w="9525">
                <a:solidFill>
                  <a:schemeClr val="tx1"/>
                </a:solidFill>
                <a:miter lim="800000"/>
                <a:headEnd/>
                <a:tailEnd/>
              </a:ln>
              <a:effectLst/>
            </p:spPr>
            <p:txBody>
              <a:bodyPr wrap="none">
                <a:spAutoFit/>
              </a:bodyPr>
              <a:lstStyle/>
              <a:p>
                <a:pPr eaLnBrk="1" hangingPunct="1"/>
                <a:r>
                  <a:rPr lang="en-US" sz="1800">
                    <a:latin typeface="Symbol" pitchFamily="18" charset="2"/>
                    <a:cs typeface="Arial" charset="0"/>
                  </a:rPr>
                  <a:t>D</a:t>
                </a:r>
                <a:r>
                  <a:rPr lang="en-US" sz="1800">
                    <a:latin typeface="Arial" charset="0"/>
                    <a:cs typeface="Arial" charset="0"/>
                  </a:rPr>
                  <a:t>o</a:t>
                </a:r>
              </a:p>
            </p:txBody>
          </p:sp>
          <p:sp>
            <p:nvSpPr>
              <p:cNvPr id="43027" name="Text Box 19"/>
              <p:cNvSpPr txBox="1">
                <a:spLocks noChangeArrowheads="1"/>
              </p:cNvSpPr>
              <p:nvPr/>
            </p:nvSpPr>
            <p:spPr bwMode="auto">
              <a:xfrm>
                <a:off x="3264" y="2505"/>
                <a:ext cx="338" cy="237"/>
              </a:xfrm>
              <a:prstGeom prst="rect">
                <a:avLst/>
              </a:prstGeom>
              <a:noFill/>
              <a:ln w="9525">
                <a:solidFill>
                  <a:schemeClr val="tx1"/>
                </a:solidFill>
                <a:miter lim="800000"/>
                <a:headEnd/>
                <a:tailEnd/>
              </a:ln>
              <a:effectLst/>
            </p:spPr>
            <p:txBody>
              <a:bodyPr wrap="none">
                <a:spAutoFit/>
              </a:bodyPr>
              <a:lstStyle/>
              <a:p>
                <a:pPr eaLnBrk="1" hangingPunct="1"/>
                <a:r>
                  <a:rPr lang="en-US" sz="1800">
                    <a:latin typeface="Symbol" pitchFamily="18" charset="2"/>
                    <a:cs typeface="Arial" charset="0"/>
                  </a:rPr>
                  <a:t>D</a:t>
                </a:r>
                <a:r>
                  <a:rPr lang="en-US" sz="1800">
                    <a:latin typeface="Times New Roman" pitchFamily="18" charset="0"/>
                    <a:cs typeface="Arial" charset="0"/>
                  </a:rPr>
                  <a:t>’</a:t>
                </a:r>
                <a:r>
                  <a:rPr lang="en-US" sz="1800">
                    <a:latin typeface="Arial" charset="0"/>
                    <a:cs typeface="Arial" charset="0"/>
                  </a:rPr>
                  <a:t>o</a:t>
                </a:r>
              </a:p>
            </p:txBody>
          </p:sp>
        </p:grpSp>
        <p:sp>
          <p:nvSpPr>
            <p:cNvPr id="43028" name="Text Box 20"/>
            <p:cNvSpPr txBox="1">
              <a:spLocks noChangeArrowheads="1"/>
            </p:cNvSpPr>
            <p:nvPr/>
          </p:nvSpPr>
          <p:spPr bwMode="auto">
            <a:xfrm>
              <a:off x="3974" y="2481"/>
              <a:ext cx="1199" cy="237"/>
            </a:xfrm>
            <a:prstGeom prst="rect">
              <a:avLst/>
            </a:prstGeom>
            <a:noFill/>
            <a:ln w="9525">
              <a:solidFill>
                <a:schemeClr val="tx1"/>
              </a:solidFill>
              <a:miter lim="800000"/>
              <a:headEnd/>
              <a:tailEnd/>
            </a:ln>
            <a:effectLst/>
          </p:spPr>
          <p:txBody>
            <a:bodyPr wrap="none">
              <a:spAutoFit/>
            </a:bodyPr>
            <a:lstStyle/>
            <a:p>
              <a:pPr eaLnBrk="1" hangingPunct="1"/>
              <a:r>
                <a:rPr lang="en-US" sz="1800">
                  <a:latin typeface="Symbol" pitchFamily="18" charset="2"/>
                  <a:cs typeface="Arial" charset="0"/>
                </a:rPr>
                <a:t>D</a:t>
              </a:r>
              <a:r>
                <a:rPr lang="en-US" sz="1800" baseline="-25000">
                  <a:latin typeface="Arial" charset="0"/>
                  <a:cs typeface="Arial" charset="0"/>
                </a:rPr>
                <a:t>o</a:t>
              </a:r>
              <a:r>
                <a:rPr lang="en-US" sz="1800">
                  <a:latin typeface="Arial" charset="0"/>
                  <a:cs typeface="Arial" charset="0"/>
                </a:rPr>
                <a:t> has increased</a:t>
              </a:r>
              <a:endParaRPr lang="en-US" sz="1800" baseline="-25000">
                <a:latin typeface="Arial" charset="0"/>
                <a:cs typeface="Arial" charset="0"/>
              </a:endParaRPr>
            </a:p>
          </p:txBody>
        </p:sp>
      </p:grpSp>
      <p:sp>
        <p:nvSpPr>
          <p:cNvPr id="43029" name="Text Box 21"/>
          <p:cNvSpPr txBox="1">
            <a:spLocks noChangeArrowheads="1"/>
          </p:cNvSpPr>
          <p:nvPr/>
        </p:nvSpPr>
        <p:spPr bwMode="auto">
          <a:xfrm>
            <a:off x="222250" y="228600"/>
            <a:ext cx="3746500" cy="1625600"/>
          </a:xfrm>
          <a:prstGeom prst="rect">
            <a:avLst/>
          </a:prstGeom>
          <a:noFill/>
          <a:ln w="9525">
            <a:solidFill>
              <a:schemeClr val="accent2"/>
            </a:solidFill>
            <a:miter lim="800000"/>
            <a:headEnd/>
            <a:tailEnd/>
          </a:ln>
          <a:effectLst/>
        </p:spPr>
        <p:txBody>
          <a:bodyPr wrap="none">
            <a:spAutoFit/>
          </a:bodyPr>
          <a:lstStyle/>
          <a:p>
            <a:pPr algn="ctr" eaLnBrk="1" hangingPunct="1"/>
            <a:r>
              <a:rPr lang="en-US" sz="2000" i="1">
                <a:solidFill>
                  <a:schemeClr val="accent2"/>
                </a:solidFill>
                <a:latin typeface="Times New Roman" pitchFamily="18" charset="0"/>
                <a:cs typeface="Arial" charset="0"/>
              </a:rPr>
              <a:t>π-bonding may be introduced</a:t>
            </a:r>
          </a:p>
          <a:p>
            <a:pPr algn="ctr" eaLnBrk="1" hangingPunct="1"/>
            <a:r>
              <a:rPr lang="en-US" sz="2000" i="1">
                <a:solidFill>
                  <a:schemeClr val="accent2"/>
                </a:solidFill>
                <a:latin typeface="Times New Roman" pitchFamily="18" charset="0"/>
                <a:cs typeface="Arial" charset="0"/>
              </a:rPr>
              <a:t>as a perturbation of the t</a:t>
            </a:r>
            <a:r>
              <a:rPr lang="en-US" sz="2000" i="1" baseline="-25000">
                <a:solidFill>
                  <a:schemeClr val="accent2"/>
                </a:solidFill>
                <a:latin typeface="Times New Roman" pitchFamily="18" charset="0"/>
                <a:cs typeface="Arial" charset="0"/>
              </a:rPr>
              <a:t>2g</a:t>
            </a:r>
            <a:r>
              <a:rPr lang="en-US" sz="2000" i="1">
                <a:solidFill>
                  <a:schemeClr val="accent2"/>
                </a:solidFill>
                <a:latin typeface="Times New Roman" pitchFamily="18" charset="0"/>
                <a:cs typeface="Arial" charset="0"/>
              </a:rPr>
              <a:t>/e</a:t>
            </a:r>
            <a:r>
              <a:rPr lang="en-US" sz="2000" i="1" baseline="-25000">
                <a:solidFill>
                  <a:schemeClr val="accent2"/>
                </a:solidFill>
                <a:latin typeface="Times New Roman" pitchFamily="18" charset="0"/>
                <a:cs typeface="Arial" charset="0"/>
              </a:rPr>
              <a:t>g</a:t>
            </a:r>
            <a:r>
              <a:rPr lang="en-US" sz="2000" i="1">
                <a:solidFill>
                  <a:schemeClr val="accent2"/>
                </a:solidFill>
                <a:latin typeface="Times New Roman" pitchFamily="18" charset="0"/>
                <a:cs typeface="Arial" charset="0"/>
              </a:rPr>
              <a:t> set:</a:t>
            </a:r>
          </a:p>
          <a:p>
            <a:pPr algn="ctr" eaLnBrk="1" hangingPunct="1"/>
            <a:r>
              <a:rPr lang="en-US" sz="2000" i="1">
                <a:solidFill>
                  <a:schemeClr val="accent2"/>
                </a:solidFill>
                <a:latin typeface="Times New Roman" pitchFamily="18" charset="0"/>
                <a:cs typeface="Arial" charset="0"/>
              </a:rPr>
              <a:t>Case 1 (CN</a:t>
            </a:r>
            <a:r>
              <a:rPr lang="en-US" sz="2000" i="1" baseline="30000">
                <a:solidFill>
                  <a:schemeClr val="accent2"/>
                </a:solidFill>
                <a:latin typeface="Times New Roman" pitchFamily="18" charset="0"/>
                <a:cs typeface="Arial" charset="0"/>
              </a:rPr>
              <a:t>-</a:t>
            </a:r>
            <a:r>
              <a:rPr lang="en-US" sz="2000" i="1">
                <a:solidFill>
                  <a:schemeClr val="accent2"/>
                </a:solidFill>
                <a:latin typeface="Times New Roman" pitchFamily="18" charset="0"/>
                <a:cs typeface="Arial" charset="0"/>
              </a:rPr>
              <a:t>, CO, C</a:t>
            </a:r>
            <a:r>
              <a:rPr lang="en-US" sz="2000" i="1" baseline="-25000">
                <a:solidFill>
                  <a:schemeClr val="accent2"/>
                </a:solidFill>
                <a:latin typeface="Times New Roman" pitchFamily="18" charset="0"/>
                <a:cs typeface="Arial" charset="0"/>
              </a:rPr>
              <a:t>2</a:t>
            </a:r>
            <a:r>
              <a:rPr lang="en-US" sz="2000" i="1">
                <a:solidFill>
                  <a:schemeClr val="accent2"/>
                </a:solidFill>
                <a:latin typeface="Times New Roman" pitchFamily="18" charset="0"/>
                <a:cs typeface="Arial" charset="0"/>
              </a:rPr>
              <a:t>H</a:t>
            </a:r>
            <a:r>
              <a:rPr lang="en-US" sz="2000" i="1" baseline="-25000">
                <a:solidFill>
                  <a:schemeClr val="accent2"/>
                </a:solidFill>
                <a:latin typeface="Times New Roman" pitchFamily="18" charset="0"/>
                <a:cs typeface="Arial" charset="0"/>
              </a:rPr>
              <a:t>4</a:t>
            </a:r>
            <a:r>
              <a:rPr lang="en-US" sz="2000" i="1">
                <a:solidFill>
                  <a:schemeClr val="accent2"/>
                </a:solidFill>
                <a:latin typeface="Times New Roman" pitchFamily="18" charset="0"/>
                <a:cs typeface="Arial" charset="0"/>
              </a:rPr>
              <a:t>)</a:t>
            </a:r>
          </a:p>
          <a:p>
            <a:pPr algn="ctr" eaLnBrk="1" hangingPunct="1"/>
            <a:r>
              <a:rPr lang="en-US" sz="2000" i="1">
                <a:solidFill>
                  <a:schemeClr val="accent2"/>
                </a:solidFill>
                <a:latin typeface="Times New Roman" pitchFamily="18" charset="0"/>
                <a:cs typeface="Arial" charset="0"/>
              </a:rPr>
              <a:t>empty π-orbitals on the ligands</a:t>
            </a:r>
          </a:p>
          <a:p>
            <a:pPr algn="ctr" eaLnBrk="1" hangingPunct="1"/>
            <a:r>
              <a:rPr lang="en-US" sz="2000" i="1">
                <a:solidFill>
                  <a:schemeClr val="accent2"/>
                </a:solidFill>
                <a:latin typeface="Times New Roman" pitchFamily="18" charset="0"/>
                <a:cs typeface="Arial" charset="0"/>
              </a:rPr>
              <a:t>M</a:t>
            </a:r>
            <a:r>
              <a:rPr lang="en-US" sz="2000" i="1">
                <a:solidFill>
                  <a:schemeClr val="accent2"/>
                </a:solidFill>
                <a:latin typeface="Times New Roman" pitchFamily="18" charset="0"/>
                <a:cs typeface="Arial" charset="0"/>
                <a:sym typeface="Symbol" pitchFamily="18" charset="2"/>
              </a:rPr>
              <a:t>L π-bonding (π-back bonding)</a:t>
            </a:r>
            <a:endParaRPr lang="en-US" sz="2000" i="1">
              <a:solidFill>
                <a:schemeClr val="accent2"/>
              </a:solidFill>
              <a:latin typeface="Times New Roman" pitchFamily="18" charset="0"/>
              <a:cs typeface="Arial" charset="0"/>
            </a:endParaRPr>
          </a:p>
        </p:txBody>
      </p:sp>
      <p:sp>
        <p:nvSpPr>
          <p:cNvPr id="43030" name="Text Box 22"/>
          <p:cNvSpPr txBox="1">
            <a:spLocks noChangeArrowheads="1"/>
          </p:cNvSpPr>
          <p:nvPr/>
        </p:nvSpPr>
        <p:spPr bwMode="auto">
          <a:xfrm>
            <a:off x="3705225" y="5381625"/>
            <a:ext cx="790575" cy="396875"/>
          </a:xfrm>
          <a:prstGeom prst="rect">
            <a:avLst/>
          </a:prstGeom>
          <a:noFill/>
          <a:ln w="9525">
            <a:noFill/>
            <a:miter lim="800000"/>
            <a:headEnd/>
            <a:tailEnd/>
          </a:ln>
          <a:effectLst/>
        </p:spPr>
        <p:txBody>
          <a:bodyPr wrap="none">
            <a:spAutoFit/>
          </a:bodyPr>
          <a:lstStyle/>
          <a:p>
            <a:pPr eaLnBrk="1" hangingPunct="1"/>
            <a:r>
              <a:rPr lang="en-US" sz="2000" i="1">
                <a:latin typeface="Times New Roman" pitchFamily="18" charset="0"/>
                <a:cs typeface="Arial" charset="0"/>
              </a:rPr>
              <a:t>t</a:t>
            </a:r>
            <a:r>
              <a:rPr lang="en-US" sz="2000" i="1" baseline="-25000">
                <a:latin typeface="Times New Roman" pitchFamily="18" charset="0"/>
                <a:cs typeface="Arial" charset="0"/>
              </a:rPr>
              <a:t>2g</a:t>
            </a:r>
            <a:r>
              <a:rPr lang="en-US" sz="2000" i="1">
                <a:latin typeface="Times New Roman" pitchFamily="18" charset="0"/>
                <a:cs typeface="Arial" charset="0"/>
              </a:rPr>
              <a:t> (π)</a:t>
            </a:r>
          </a:p>
        </p:txBody>
      </p:sp>
      <p:sp>
        <p:nvSpPr>
          <p:cNvPr id="43031" name="Text Box 23"/>
          <p:cNvSpPr txBox="1">
            <a:spLocks noChangeArrowheads="1"/>
          </p:cNvSpPr>
          <p:nvPr/>
        </p:nvSpPr>
        <p:spPr bwMode="auto">
          <a:xfrm>
            <a:off x="4724400" y="762000"/>
            <a:ext cx="917575" cy="396875"/>
          </a:xfrm>
          <a:prstGeom prst="rect">
            <a:avLst/>
          </a:prstGeom>
          <a:noFill/>
          <a:ln w="9525">
            <a:noFill/>
            <a:miter lim="800000"/>
            <a:headEnd/>
            <a:tailEnd/>
          </a:ln>
          <a:effectLst/>
        </p:spPr>
        <p:txBody>
          <a:bodyPr wrap="none">
            <a:spAutoFit/>
          </a:bodyPr>
          <a:lstStyle/>
          <a:p>
            <a:pPr eaLnBrk="1" hangingPunct="1"/>
            <a:r>
              <a:rPr lang="en-US" sz="2000" i="1">
                <a:latin typeface="Times New Roman" pitchFamily="18" charset="0"/>
                <a:cs typeface="Arial" charset="0"/>
              </a:rPr>
              <a:t>t</a:t>
            </a:r>
            <a:r>
              <a:rPr lang="en-US" sz="2000" i="1" baseline="-25000">
                <a:latin typeface="Times New Roman" pitchFamily="18" charset="0"/>
                <a:cs typeface="Arial" charset="0"/>
              </a:rPr>
              <a:t>2g</a:t>
            </a:r>
            <a:r>
              <a:rPr lang="en-US" sz="2000" i="1">
                <a:latin typeface="Times New Roman" pitchFamily="18" charset="0"/>
                <a:cs typeface="Arial" charset="0"/>
              </a:rPr>
              <a:t> (π*)</a:t>
            </a:r>
          </a:p>
        </p:txBody>
      </p:sp>
      <p:sp>
        <p:nvSpPr>
          <p:cNvPr id="43032" name="Text Box 24"/>
          <p:cNvSpPr txBox="1">
            <a:spLocks noChangeArrowheads="1"/>
          </p:cNvSpPr>
          <p:nvPr/>
        </p:nvSpPr>
        <p:spPr bwMode="auto">
          <a:xfrm>
            <a:off x="4800600" y="2667000"/>
            <a:ext cx="420688" cy="457200"/>
          </a:xfrm>
          <a:prstGeom prst="rect">
            <a:avLst/>
          </a:prstGeom>
          <a:noFill/>
          <a:ln w="9525">
            <a:noFill/>
            <a:miter lim="800000"/>
            <a:headEnd/>
            <a:tailEnd/>
          </a:ln>
          <a:effectLst/>
        </p:spPr>
        <p:txBody>
          <a:bodyPr wrap="none">
            <a:spAutoFit/>
          </a:bodyPr>
          <a:lstStyle/>
          <a:p>
            <a:pPr eaLnBrk="1" hangingPunct="1"/>
            <a:r>
              <a:rPr lang="en-US" i="1">
                <a:solidFill>
                  <a:srgbClr val="FF0000"/>
                </a:solidFill>
                <a:latin typeface="Times New Roman" pitchFamily="18" charset="0"/>
                <a:cs typeface="Arial" charset="0"/>
              </a:rPr>
              <a:t>e</a:t>
            </a:r>
            <a:r>
              <a:rPr lang="en-US" i="1" baseline="-25000">
                <a:solidFill>
                  <a:srgbClr val="FF0000"/>
                </a:solidFill>
                <a:latin typeface="Times New Roman" pitchFamily="18" charset="0"/>
                <a:cs typeface="Arial" charset="0"/>
              </a:rPr>
              <a:t>g</a:t>
            </a:r>
            <a:endParaRPr lang="en-US" i="1">
              <a:solidFill>
                <a:schemeClr val="accent2"/>
              </a:solidFill>
              <a:latin typeface="Times New Roman" pitchFamily="18" charset="0"/>
              <a:cs typeface="Arial" charset="0"/>
            </a:endParaRPr>
          </a:p>
        </p:txBody>
      </p:sp>
    </p:spTree>
    <p:extLst>
      <p:ext uri="{BB962C8B-B14F-4D97-AF65-F5344CB8AC3E}">
        <p14:creationId xmlns:p14="http://schemas.microsoft.com/office/powerpoint/2010/main" val="3677585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2667000" y="3581400"/>
            <a:ext cx="471488"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a:t>
            </a:r>
            <a:r>
              <a:rPr lang="en-US" i="1" baseline="-25000">
                <a:solidFill>
                  <a:schemeClr val="accent2"/>
                </a:solidFill>
                <a:latin typeface="Times New Roman" pitchFamily="18" charset="0"/>
                <a:cs typeface="Arial" charset="0"/>
              </a:rPr>
              <a:t>2g</a:t>
            </a:r>
            <a:endParaRPr lang="en-US" i="1">
              <a:solidFill>
                <a:schemeClr val="accent2"/>
              </a:solidFill>
              <a:latin typeface="Times New Roman" pitchFamily="18" charset="0"/>
              <a:cs typeface="Arial" charset="0"/>
            </a:endParaRPr>
          </a:p>
        </p:txBody>
      </p:sp>
      <p:sp>
        <p:nvSpPr>
          <p:cNvPr id="44035" name="Text Box 3"/>
          <p:cNvSpPr txBox="1">
            <a:spLocks noChangeArrowheads="1"/>
          </p:cNvSpPr>
          <p:nvPr/>
        </p:nvSpPr>
        <p:spPr bwMode="auto">
          <a:xfrm>
            <a:off x="2971800" y="1524000"/>
            <a:ext cx="420688" cy="457200"/>
          </a:xfrm>
          <a:prstGeom prst="rect">
            <a:avLst/>
          </a:prstGeom>
          <a:noFill/>
          <a:ln w="9525">
            <a:noFill/>
            <a:miter lim="800000"/>
            <a:headEnd/>
            <a:tailEnd/>
          </a:ln>
          <a:effectLst/>
        </p:spPr>
        <p:txBody>
          <a:bodyPr wrap="none">
            <a:spAutoFit/>
          </a:bodyPr>
          <a:lstStyle/>
          <a:p>
            <a:pPr eaLnBrk="1" hangingPunct="1"/>
            <a:r>
              <a:rPr lang="en-US" i="1">
                <a:solidFill>
                  <a:srgbClr val="FF0000"/>
                </a:solidFill>
                <a:latin typeface="Times New Roman" pitchFamily="18" charset="0"/>
                <a:cs typeface="Arial" charset="0"/>
              </a:rPr>
              <a:t>e</a:t>
            </a:r>
            <a:r>
              <a:rPr lang="en-US" i="1" baseline="-25000">
                <a:solidFill>
                  <a:srgbClr val="FF0000"/>
                </a:solidFill>
                <a:latin typeface="Times New Roman" pitchFamily="18" charset="0"/>
                <a:cs typeface="Arial" charset="0"/>
              </a:rPr>
              <a:t>g</a:t>
            </a:r>
            <a:endParaRPr lang="en-US" i="1">
              <a:solidFill>
                <a:schemeClr val="accent2"/>
              </a:solidFill>
              <a:latin typeface="Times New Roman" pitchFamily="18" charset="0"/>
              <a:cs typeface="Arial" charset="0"/>
            </a:endParaRPr>
          </a:p>
        </p:txBody>
      </p:sp>
      <p:sp>
        <p:nvSpPr>
          <p:cNvPr id="44036" name="Text Box 4"/>
          <p:cNvSpPr txBox="1">
            <a:spLocks noChangeArrowheads="1"/>
          </p:cNvSpPr>
          <p:nvPr/>
        </p:nvSpPr>
        <p:spPr bwMode="auto">
          <a:xfrm>
            <a:off x="8610600" y="4419600"/>
            <a:ext cx="471488" cy="457200"/>
          </a:xfrm>
          <a:prstGeom prst="rect">
            <a:avLst/>
          </a:prstGeom>
          <a:noFill/>
          <a:ln w="9525">
            <a:noFill/>
            <a:miter lim="800000"/>
            <a:headEnd/>
            <a:tailEnd/>
          </a:ln>
          <a:effectLst/>
        </p:spPr>
        <p:txBody>
          <a:bodyPr wrap="none">
            <a:spAutoFit/>
          </a:bodyPr>
          <a:lstStyle/>
          <a:p>
            <a:pPr eaLnBrk="1" hangingPunct="1"/>
            <a:r>
              <a:rPr lang="en-US" i="1">
                <a:solidFill>
                  <a:srgbClr val="D017B5"/>
                </a:solidFill>
                <a:latin typeface="Times New Roman" pitchFamily="18" charset="0"/>
                <a:cs typeface="Arial" charset="0"/>
              </a:rPr>
              <a:t>t</a:t>
            </a:r>
            <a:r>
              <a:rPr lang="en-US" i="1" baseline="-25000">
                <a:solidFill>
                  <a:srgbClr val="D017B5"/>
                </a:solidFill>
                <a:latin typeface="Times New Roman" pitchFamily="18" charset="0"/>
                <a:cs typeface="Arial" charset="0"/>
              </a:rPr>
              <a:t>2g</a:t>
            </a:r>
            <a:endParaRPr lang="en-US" sz="1800" i="1">
              <a:solidFill>
                <a:srgbClr val="D017B5"/>
              </a:solidFill>
              <a:latin typeface="Times New Roman" pitchFamily="18" charset="0"/>
              <a:cs typeface="Arial" charset="0"/>
            </a:endParaRPr>
          </a:p>
        </p:txBody>
      </p:sp>
      <p:sp>
        <p:nvSpPr>
          <p:cNvPr id="44037" name="Text Box 5"/>
          <p:cNvSpPr txBox="1">
            <a:spLocks noChangeArrowheads="1"/>
          </p:cNvSpPr>
          <p:nvPr/>
        </p:nvSpPr>
        <p:spPr bwMode="auto">
          <a:xfrm>
            <a:off x="3559175" y="6019800"/>
            <a:ext cx="827088" cy="650875"/>
          </a:xfrm>
          <a:prstGeom prst="rect">
            <a:avLst/>
          </a:prstGeom>
          <a:noFill/>
          <a:ln w="9525">
            <a:solidFill>
              <a:schemeClr val="tx1"/>
            </a:solidFill>
            <a:miter lim="800000"/>
            <a:headEnd/>
            <a:tailEnd/>
          </a:ln>
          <a:effectLst/>
        </p:spPr>
        <p:txBody>
          <a:bodyPr wrap="none">
            <a:spAutoFit/>
          </a:bodyPr>
          <a:lstStyle/>
          <a:p>
            <a:pPr algn="ctr" eaLnBrk="1" hangingPunct="1"/>
            <a:r>
              <a:rPr lang="en-US" sz="1800">
                <a:latin typeface="Times New Roman" pitchFamily="18" charset="0"/>
                <a:cs typeface="Arial" charset="0"/>
              </a:rPr>
              <a:t>ML</a:t>
            </a:r>
            <a:r>
              <a:rPr lang="en-US" sz="1800" baseline="-25000">
                <a:latin typeface="Times New Roman" pitchFamily="18" charset="0"/>
                <a:cs typeface="Arial" charset="0"/>
              </a:rPr>
              <a:t>6</a:t>
            </a:r>
            <a:endParaRPr lang="en-US" sz="1800">
              <a:latin typeface="Times New Roman" pitchFamily="18" charset="0"/>
              <a:cs typeface="Arial" charset="0"/>
            </a:endParaRPr>
          </a:p>
          <a:p>
            <a:pPr algn="ctr" eaLnBrk="1" hangingPunct="1"/>
            <a:r>
              <a:rPr lang="en-US" sz="1800">
                <a:latin typeface="Symbol" pitchFamily="18" charset="2"/>
                <a:cs typeface="Arial" charset="0"/>
              </a:rPr>
              <a:t>s</a:t>
            </a:r>
            <a:r>
              <a:rPr lang="en-US" sz="1800">
                <a:latin typeface="Arial" charset="0"/>
                <a:cs typeface="Arial" charset="0"/>
              </a:rPr>
              <a:t>-only</a:t>
            </a:r>
          </a:p>
        </p:txBody>
      </p:sp>
      <p:sp>
        <p:nvSpPr>
          <p:cNvPr id="44038" name="Text Box 6"/>
          <p:cNvSpPr txBox="1">
            <a:spLocks noChangeArrowheads="1"/>
          </p:cNvSpPr>
          <p:nvPr/>
        </p:nvSpPr>
        <p:spPr bwMode="auto">
          <a:xfrm>
            <a:off x="5521325" y="6019800"/>
            <a:ext cx="711200" cy="650875"/>
          </a:xfrm>
          <a:prstGeom prst="rect">
            <a:avLst/>
          </a:prstGeom>
          <a:noFill/>
          <a:ln w="9525">
            <a:solidFill>
              <a:schemeClr val="tx1"/>
            </a:solidFill>
            <a:miter lim="800000"/>
            <a:headEnd/>
            <a:tailEnd/>
          </a:ln>
          <a:effectLst/>
        </p:spPr>
        <p:txBody>
          <a:bodyPr wrap="none">
            <a:spAutoFit/>
          </a:bodyPr>
          <a:lstStyle/>
          <a:p>
            <a:pPr algn="ctr" eaLnBrk="1" hangingPunct="1"/>
            <a:r>
              <a:rPr lang="en-US" sz="1800">
                <a:latin typeface="Times New Roman" pitchFamily="18" charset="0"/>
                <a:cs typeface="Arial" charset="0"/>
              </a:rPr>
              <a:t>ML</a:t>
            </a:r>
            <a:r>
              <a:rPr lang="en-US" sz="1800" baseline="-25000">
                <a:latin typeface="Times New Roman" pitchFamily="18" charset="0"/>
                <a:cs typeface="Arial" charset="0"/>
              </a:rPr>
              <a:t>6</a:t>
            </a:r>
            <a:endParaRPr lang="en-US" sz="1800">
              <a:latin typeface="Times New Roman" pitchFamily="18" charset="0"/>
              <a:cs typeface="Arial" charset="0"/>
            </a:endParaRPr>
          </a:p>
          <a:p>
            <a:pPr algn="ctr" eaLnBrk="1" hangingPunct="1"/>
            <a:r>
              <a:rPr lang="en-US" sz="1800">
                <a:latin typeface="Symbol" pitchFamily="18" charset="2"/>
                <a:cs typeface="Arial" charset="0"/>
              </a:rPr>
              <a:t>s </a:t>
            </a:r>
            <a:r>
              <a:rPr lang="en-US" sz="1800">
                <a:latin typeface="Arial" charset="0"/>
                <a:cs typeface="Arial" charset="0"/>
              </a:rPr>
              <a:t>+ π</a:t>
            </a:r>
          </a:p>
        </p:txBody>
      </p:sp>
      <p:sp>
        <p:nvSpPr>
          <p:cNvPr id="44039" name="Text Box 7"/>
          <p:cNvSpPr txBox="1">
            <a:spLocks noChangeArrowheads="1"/>
          </p:cNvSpPr>
          <p:nvPr/>
        </p:nvSpPr>
        <p:spPr bwMode="auto">
          <a:xfrm>
            <a:off x="314325" y="100013"/>
            <a:ext cx="3235325" cy="1474787"/>
          </a:xfrm>
          <a:prstGeom prst="rect">
            <a:avLst/>
          </a:prstGeom>
          <a:noFill/>
          <a:ln w="9525">
            <a:solidFill>
              <a:schemeClr val="accent2"/>
            </a:solidFill>
            <a:miter lim="800000"/>
            <a:headEnd/>
            <a:tailEnd/>
          </a:ln>
          <a:effectLst/>
        </p:spPr>
        <p:txBody>
          <a:bodyPr wrap="none">
            <a:spAutoFit/>
          </a:bodyPr>
          <a:lstStyle/>
          <a:p>
            <a:pPr algn="ctr" eaLnBrk="1" hangingPunct="1"/>
            <a:r>
              <a:rPr lang="en-US" sz="1800" i="1">
                <a:solidFill>
                  <a:schemeClr val="accent2"/>
                </a:solidFill>
                <a:latin typeface="Times New Roman" pitchFamily="18" charset="0"/>
                <a:cs typeface="Arial" charset="0"/>
              </a:rPr>
              <a:t>π-bonding may be introduced</a:t>
            </a:r>
          </a:p>
          <a:p>
            <a:pPr algn="ctr" eaLnBrk="1" hangingPunct="1"/>
            <a:r>
              <a:rPr lang="en-US" sz="1800" i="1">
                <a:solidFill>
                  <a:schemeClr val="accent2"/>
                </a:solidFill>
                <a:latin typeface="Times New Roman" pitchFamily="18" charset="0"/>
                <a:cs typeface="Arial" charset="0"/>
              </a:rPr>
              <a:t>as a perturbation of the t</a:t>
            </a:r>
            <a:r>
              <a:rPr lang="en-US" sz="1800" i="1" baseline="-25000">
                <a:solidFill>
                  <a:schemeClr val="accent2"/>
                </a:solidFill>
                <a:latin typeface="Times New Roman" pitchFamily="18" charset="0"/>
                <a:cs typeface="Arial" charset="0"/>
              </a:rPr>
              <a:t>2g</a:t>
            </a:r>
            <a:r>
              <a:rPr lang="en-US" sz="1800" i="1">
                <a:solidFill>
                  <a:schemeClr val="accent2"/>
                </a:solidFill>
                <a:latin typeface="Times New Roman" pitchFamily="18" charset="0"/>
                <a:cs typeface="Arial" charset="0"/>
              </a:rPr>
              <a:t>/e</a:t>
            </a:r>
            <a:r>
              <a:rPr lang="en-US" sz="1800" i="1" baseline="-25000">
                <a:solidFill>
                  <a:schemeClr val="accent2"/>
                </a:solidFill>
                <a:latin typeface="Times New Roman" pitchFamily="18" charset="0"/>
                <a:cs typeface="Arial" charset="0"/>
              </a:rPr>
              <a:t>g</a:t>
            </a:r>
            <a:r>
              <a:rPr lang="en-US" sz="1800" i="1">
                <a:solidFill>
                  <a:schemeClr val="accent2"/>
                </a:solidFill>
                <a:latin typeface="Times New Roman" pitchFamily="18" charset="0"/>
                <a:cs typeface="Arial" charset="0"/>
              </a:rPr>
              <a:t> set.</a:t>
            </a:r>
          </a:p>
          <a:p>
            <a:pPr algn="ctr" eaLnBrk="1" hangingPunct="1"/>
            <a:r>
              <a:rPr lang="en-US" sz="1800" i="1">
                <a:solidFill>
                  <a:schemeClr val="accent2"/>
                </a:solidFill>
                <a:latin typeface="Times New Roman" pitchFamily="18" charset="0"/>
                <a:cs typeface="Arial" charset="0"/>
              </a:rPr>
              <a:t>Case 2 (Cl</a:t>
            </a:r>
            <a:r>
              <a:rPr lang="en-US" sz="1800" i="1" baseline="30000">
                <a:solidFill>
                  <a:schemeClr val="accent2"/>
                </a:solidFill>
                <a:latin typeface="Times New Roman" pitchFamily="18" charset="0"/>
                <a:cs typeface="Arial" charset="0"/>
              </a:rPr>
              <a:t>-</a:t>
            </a:r>
            <a:r>
              <a:rPr lang="en-US" sz="1800" i="1">
                <a:solidFill>
                  <a:schemeClr val="accent2"/>
                </a:solidFill>
                <a:latin typeface="Times New Roman" pitchFamily="18" charset="0"/>
                <a:cs typeface="Arial" charset="0"/>
              </a:rPr>
              <a:t>, F</a:t>
            </a:r>
            <a:r>
              <a:rPr lang="en-US" sz="1800" i="1" baseline="30000">
                <a:solidFill>
                  <a:schemeClr val="accent2"/>
                </a:solidFill>
                <a:latin typeface="Times New Roman" pitchFamily="18" charset="0"/>
                <a:cs typeface="Arial" charset="0"/>
              </a:rPr>
              <a:t>-</a:t>
            </a:r>
            <a:r>
              <a:rPr lang="en-US" sz="1800" i="1">
                <a:solidFill>
                  <a:schemeClr val="accent2"/>
                </a:solidFill>
                <a:latin typeface="Times New Roman" pitchFamily="18" charset="0"/>
                <a:cs typeface="Arial" charset="0"/>
              </a:rPr>
              <a:t>)</a:t>
            </a:r>
          </a:p>
          <a:p>
            <a:pPr algn="ctr" eaLnBrk="1" hangingPunct="1"/>
            <a:r>
              <a:rPr lang="en-US" sz="1800" i="1">
                <a:solidFill>
                  <a:schemeClr val="accent2"/>
                </a:solidFill>
                <a:latin typeface="Times New Roman" pitchFamily="18" charset="0"/>
                <a:cs typeface="Arial" charset="0"/>
              </a:rPr>
              <a:t> filled π-orbitals on the ligands</a:t>
            </a:r>
          </a:p>
          <a:p>
            <a:pPr algn="ctr" eaLnBrk="1" hangingPunct="1"/>
            <a:r>
              <a:rPr lang="en-US" sz="1800" i="1">
                <a:solidFill>
                  <a:schemeClr val="accent2"/>
                </a:solidFill>
                <a:latin typeface="Times New Roman" pitchFamily="18" charset="0"/>
                <a:cs typeface="Arial" charset="0"/>
              </a:rPr>
              <a:t>L</a:t>
            </a:r>
            <a:r>
              <a:rPr lang="en-US" sz="1800" i="1">
                <a:solidFill>
                  <a:schemeClr val="accent2"/>
                </a:solidFill>
                <a:latin typeface="Times New Roman" pitchFamily="18" charset="0"/>
                <a:cs typeface="Arial" charset="0"/>
                <a:sym typeface="Symbol" pitchFamily="18" charset="2"/>
              </a:rPr>
              <a:t>M π-bonding</a:t>
            </a:r>
            <a:endParaRPr lang="en-US" sz="1800" i="1">
              <a:solidFill>
                <a:schemeClr val="accent2"/>
              </a:solidFill>
              <a:latin typeface="Times New Roman" pitchFamily="18" charset="0"/>
              <a:cs typeface="Arial" charset="0"/>
            </a:endParaRPr>
          </a:p>
        </p:txBody>
      </p:sp>
      <p:sp>
        <p:nvSpPr>
          <p:cNvPr id="44040" name="Rectangle 8"/>
          <p:cNvSpPr>
            <a:spLocks noChangeArrowheads="1"/>
          </p:cNvSpPr>
          <p:nvPr/>
        </p:nvSpPr>
        <p:spPr bwMode="auto">
          <a:xfrm>
            <a:off x="7129463" y="6172200"/>
            <a:ext cx="1785937" cy="376238"/>
          </a:xfrm>
          <a:prstGeom prst="rect">
            <a:avLst/>
          </a:prstGeom>
          <a:noFill/>
          <a:ln w="9525">
            <a:solidFill>
              <a:srgbClr val="D017B5"/>
            </a:solidFill>
            <a:miter lim="800000"/>
            <a:headEnd/>
            <a:tailEnd/>
          </a:ln>
          <a:effectLst/>
        </p:spPr>
        <p:txBody>
          <a:bodyPr wrap="none">
            <a:spAutoFit/>
          </a:bodyPr>
          <a:lstStyle/>
          <a:p>
            <a:pPr eaLnBrk="1" hangingPunct="1"/>
            <a:r>
              <a:rPr lang="en-US" sz="1800" i="1">
                <a:solidFill>
                  <a:srgbClr val="D017B5"/>
                </a:solidFill>
                <a:latin typeface="Times New Roman" pitchFamily="18" charset="0"/>
                <a:cs typeface="Arial" charset="0"/>
              </a:rPr>
              <a:t>(filled π-orbitals)</a:t>
            </a:r>
          </a:p>
        </p:txBody>
      </p:sp>
      <p:sp>
        <p:nvSpPr>
          <p:cNvPr id="44041" name="Text Box 9"/>
          <p:cNvSpPr txBox="1">
            <a:spLocks noChangeArrowheads="1"/>
          </p:cNvSpPr>
          <p:nvPr/>
        </p:nvSpPr>
        <p:spPr bwMode="auto">
          <a:xfrm>
            <a:off x="6118225" y="4183063"/>
            <a:ext cx="184150" cy="366712"/>
          </a:xfrm>
          <a:prstGeom prst="rect">
            <a:avLst/>
          </a:prstGeom>
          <a:noFill/>
          <a:ln w="9525">
            <a:noFill/>
            <a:miter lim="800000"/>
            <a:headEnd/>
            <a:tailEnd/>
          </a:ln>
          <a:effectLst/>
        </p:spPr>
        <p:txBody>
          <a:bodyPr>
            <a:spAutoFit/>
          </a:bodyPr>
          <a:lstStyle/>
          <a:p>
            <a:pPr eaLnBrk="1" hangingPunct="1">
              <a:spcBef>
                <a:spcPct val="50000"/>
              </a:spcBef>
            </a:pPr>
            <a:endParaRPr lang="en-US" sz="1800">
              <a:latin typeface="Arial" charset="0"/>
              <a:cs typeface="Arial" charset="0"/>
            </a:endParaRPr>
          </a:p>
        </p:txBody>
      </p:sp>
      <p:pic>
        <p:nvPicPr>
          <p:cNvPr id="44042" name="Picture 10"/>
          <p:cNvPicPr>
            <a:picLocks noChangeAspect="1" noChangeArrowheads="1"/>
          </p:cNvPicPr>
          <p:nvPr/>
        </p:nvPicPr>
        <p:blipFill>
          <a:blip r:embed="rId3"/>
          <a:srcRect/>
          <a:stretch>
            <a:fillRect/>
          </a:stretch>
        </p:blipFill>
        <p:spPr bwMode="auto">
          <a:xfrm>
            <a:off x="3136900" y="1600200"/>
            <a:ext cx="5549900" cy="4356100"/>
          </a:xfrm>
          <a:prstGeom prst="rect">
            <a:avLst/>
          </a:prstGeom>
          <a:noFill/>
          <a:ln w="9525">
            <a:noFill/>
            <a:miter lim="800000"/>
            <a:headEnd/>
            <a:tailEnd/>
          </a:ln>
          <a:effectLst/>
        </p:spPr>
      </p:pic>
      <p:grpSp>
        <p:nvGrpSpPr>
          <p:cNvPr id="2" name="Group 11"/>
          <p:cNvGrpSpPr>
            <a:grpSpLocks/>
          </p:cNvGrpSpPr>
          <p:nvPr/>
        </p:nvGrpSpPr>
        <p:grpSpPr bwMode="auto">
          <a:xfrm>
            <a:off x="3124200" y="4724400"/>
            <a:ext cx="4038600" cy="914400"/>
            <a:chOff x="1968" y="2976"/>
            <a:chExt cx="2544" cy="576"/>
          </a:xfrm>
        </p:grpSpPr>
        <p:sp>
          <p:nvSpPr>
            <p:cNvPr id="44044" name="Line 12"/>
            <p:cNvSpPr>
              <a:spLocks noChangeShapeType="1"/>
            </p:cNvSpPr>
            <p:nvPr/>
          </p:nvSpPr>
          <p:spPr bwMode="auto">
            <a:xfrm>
              <a:off x="2784" y="2976"/>
              <a:ext cx="1728" cy="0"/>
            </a:xfrm>
            <a:prstGeom prst="line">
              <a:avLst/>
            </a:prstGeom>
            <a:noFill/>
            <a:ln w="9525">
              <a:solidFill>
                <a:schemeClr val="tx1"/>
              </a:solidFill>
              <a:prstDash val="lgDashDot"/>
              <a:round/>
              <a:headEnd/>
              <a:tailEnd/>
            </a:ln>
            <a:effectLst/>
          </p:spPr>
          <p:txBody>
            <a:bodyPr wrap="none" anchor="ctr"/>
            <a:lstStyle/>
            <a:p>
              <a:endParaRPr lang="en-US"/>
            </a:p>
          </p:txBody>
        </p:sp>
        <p:sp>
          <p:nvSpPr>
            <p:cNvPr id="44045" name="Line 13"/>
            <p:cNvSpPr>
              <a:spLocks noChangeShapeType="1"/>
            </p:cNvSpPr>
            <p:nvPr/>
          </p:nvSpPr>
          <p:spPr bwMode="auto">
            <a:xfrm>
              <a:off x="2880" y="2976"/>
              <a:ext cx="0" cy="576"/>
            </a:xfrm>
            <a:prstGeom prst="line">
              <a:avLst/>
            </a:prstGeom>
            <a:noFill/>
            <a:ln w="9525">
              <a:solidFill>
                <a:schemeClr val="tx1"/>
              </a:solidFill>
              <a:round/>
              <a:headEnd/>
              <a:tailEnd type="triangle" w="med" len="med"/>
            </a:ln>
            <a:effectLst/>
          </p:spPr>
          <p:txBody>
            <a:bodyPr wrap="none" anchor="ctr"/>
            <a:lstStyle/>
            <a:p>
              <a:endParaRPr lang="en-US"/>
            </a:p>
          </p:txBody>
        </p:sp>
        <p:sp>
          <p:nvSpPr>
            <p:cNvPr id="44046" name="Text Box 14"/>
            <p:cNvSpPr txBox="1">
              <a:spLocks noChangeArrowheads="1"/>
            </p:cNvSpPr>
            <p:nvPr/>
          </p:nvSpPr>
          <p:spPr bwMode="auto">
            <a:xfrm>
              <a:off x="1968" y="3120"/>
              <a:ext cx="864" cy="231"/>
            </a:xfrm>
            <a:prstGeom prst="rect">
              <a:avLst/>
            </a:prstGeom>
            <a:noFill/>
            <a:ln w="9525">
              <a:noFill/>
              <a:miter lim="800000"/>
              <a:headEnd/>
              <a:tailEnd/>
            </a:ln>
            <a:effectLst/>
          </p:spPr>
          <p:txBody>
            <a:bodyPr>
              <a:spAutoFit/>
            </a:bodyPr>
            <a:lstStyle/>
            <a:p>
              <a:pPr eaLnBrk="1" hangingPunct="1">
                <a:spcBef>
                  <a:spcPct val="50000"/>
                </a:spcBef>
              </a:pPr>
              <a:r>
                <a:rPr lang="en-US" sz="1800" i="1">
                  <a:solidFill>
                    <a:schemeClr val="accent2"/>
                  </a:solidFill>
                  <a:latin typeface="Times New Roman" pitchFamily="18" charset="0"/>
                  <a:cs typeface="Arial" charset="0"/>
                </a:rPr>
                <a:t>Stabilization</a:t>
              </a:r>
            </a:p>
          </p:txBody>
        </p:sp>
      </p:grpSp>
      <p:grpSp>
        <p:nvGrpSpPr>
          <p:cNvPr id="3" name="Group 28"/>
          <p:cNvGrpSpPr>
            <a:grpSpLocks/>
          </p:cNvGrpSpPr>
          <p:nvPr/>
        </p:nvGrpSpPr>
        <p:grpSpPr bwMode="auto">
          <a:xfrm>
            <a:off x="3886200" y="2590800"/>
            <a:ext cx="5010150" cy="1144588"/>
            <a:chOff x="2460" y="1584"/>
            <a:chExt cx="3156" cy="721"/>
          </a:xfrm>
        </p:grpSpPr>
        <p:sp>
          <p:nvSpPr>
            <p:cNvPr id="44048" name="Line 16"/>
            <p:cNvSpPr>
              <a:spLocks noChangeShapeType="1"/>
            </p:cNvSpPr>
            <p:nvPr/>
          </p:nvSpPr>
          <p:spPr bwMode="auto">
            <a:xfrm>
              <a:off x="2460" y="2304"/>
              <a:ext cx="2207" cy="1"/>
            </a:xfrm>
            <a:prstGeom prst="line">
              <a:avLst/>
            </a:prstGeom>
            <a:noFill/>
            <a:ln w="9525">
              <a:solidFill>
                <a:schemeClr val="tx1"/>
              </a:solidFill>
              <a:prstDash val="lgDashDot"/>
              <a:round/>
              <a:headEnd/>
              <a:tailEnd/>
            </a:ln>
            <a:effectLst/>
          </p:spPr>
          <p:txBody>
            <a:bodyPr wrap="none" anchor="ctr"/>
            <a:lstStyle/>
            <a:p>
              <a:endParaRPr lang="en-US"/>
            </a:p>
          </p:txBody>
        </p:sp>
        <p:sp>
          <p:nvSpPr>
            <p:cNvPr id="44049" name="Line 17"/>
            <p:cNvSpPr>
              <a:spLocks noChangeShapeType="1"/>
            </p:cNvSpPr>
            <p:nvPr/>
          </p:nvSpPr>
          <p:spPr bwMode="auto">
            <a:xfrm flipV="1">
              <a:off x="4506" y="1584"/>
              <a:ext cx="0" cy="720"/>
            </a:xfrm>
            <a:prstGeom prst="line">
              <a:avLst/>
            </a:prstGeom>
            <a:noFill/>
            <a:ln w="9525">
              <a:solidFill>
                <a:schemeClr val="tx1"/>
              </a:solidFill>
              <a:round/>
              <a:headEnd/>
              <a:tailEnd type="triangle" w="med" len="med"/>
            </a:ln>
            <a:effectLst/>
          </p:spPr>
          <p:txBody>
            <a:bodyPr wrap="none" anchor="ctr"/>
            <a:lstStyle/>
            <a:p>
              <a:endParaRPr lang="en-US"/>
            </a:p>
          </p:txBody>
        </p:sp>
        <p:sp>
          <p:nvSpPr>
            <p:cNvPr id="44050" name="Text Box 18"/>
            <p:cNvSpPr txBox="1">
              <a:spLocks noChangeArrowheads="1"/>
            </p:cNvSpPr>
            <p:nvPr/>
          </p:nvSpPr>
          <p:spPr bwMode="auto">
            <a:xfrm>
              <a:off x="4512" y="1872"/>
              <a:ext cx="1104" cy="231"/>
            </a:xfrm>
            <a:prstGeom prst="rect">
              <a:avLst/>
            </a:prstGeom>
            <a:noFill/>
            <a:ln w="9525">
              <a:noFill/>
              <a:miter lim="800000"/>
              <a:headEnd/>
              <a:tailEnd/>
            </a:ln>
            <a:effectLst/>
          </p:spPr>
          <p:txBody>
            <a:bodyPr>
              <a:spAutoFit/>
            </a:bodyPr>
            <a:lstStyle/>
            <a:p>
              <a:pPr eaLnBrk="1" hangingPunct="1">
                <a:spcBef>
                  <a:spcPct val="50000"/>
                </a:spcBef>
              </a:pPr>
              <a:r>
                <a:rPr lang="en-US" sz="1800" i="1">
                  <a:solidFill>
                    <a:srgbClr val="FF0000"/>
                  </a:solidFill>
                  <a:latin typeface="Times New Roman" pitchFamily="18" charset="0"/>
                  <a:cs typeface="Arial" charset="0"/>
                </a:rPr>
                <a:t>Destabilization</a:t>
              </a:r>
            </a:p>
          </p:txBody>
        </p:sp>
      </p:grpSp>
      <p:sp>
        <p:nvSpPr>
          <p:cNvPr id="44051" name="Text Box 19"/>
          <p:cNvSpPr txBox="1">
            <a:spLocks noChangeArrowheads="1"/>
          </p:cNvSpPr>
          <p:nvPr/>
        </p:nvSpPr>
        <p:spPr bwMode="auto">
          <a:xfrm>
            <a:off x="4543425" y="5381625"/>
            <a:ext cx="790575" cy="396875"/>
          </a:xfrm>
          <a:prstGeom prst="rect">
            <a:avLst/>
          </a:prstGeom>
          <a:noFill/>
          <a:ln w="9525">
            <a:noFill/>
            <a:miter lim="800000"/>
            <a:headEnd/>
            <a:tailEnd/>
          </a:ln>
          <a:effectLst/>
        </p:spPr>
        <p:txBody>
          <a:bodyPr wrap="none">
            <a:spAutoFit/>
          </a:bodyPr>
          <a:lstStyle/>
          <a:p>
            <a:pPr eaLnBrk="1" hangingPunct="1"/>
            <a:r>
              <a:rPr lang="en-US" sz="2000" i="1">
                <a:latin typeface="Times New Roman" pitchFamily="18" charset="0"/>
                <a:cs typeface="Arial" charset="0"/>
              </a:rPr>
              <a:t>t</a:t>
            </a:r>
            <a:r>
              <a:rPr lang="en-US" sz="2000" i="1" baseline="-25000">
                <a:latin typeface="Times New Roman" pitchFamily="18" charset="0"/>
                <a:cs typeface="Arial" charset="0"/>
              </a:rPr>
              <a:t>2g</a:t>
            </a:r>
            <a:r>
              <a:rPr lang="en-US" sz="2000" i="1">
                <a:latin typeface="Times New Roman" pitchFamily="18" charset="0"/>
                <a:cs typeface="Arial" charset="0"/>
              </a:rPr>
              <a:t> (π)</a:t>
            </a:r>
          </a:p>
        </p:txBody>
      </p:sp>
      <p:sp>
        <p:nvSpPr>
          <p:cNvPr id="44052" name="Text Box 20"/>
          <p:cNvSpPr txBox="1">
            <a:spLocks noChangeArrowheads="1"/>
          </p:cNvSpPr>
          <p:nvPr/>
        </p:nvSpPr>
        <p:spPr bwMode="auto">
          <a:xfrm>
            <a:off x="6172200" y="2133600"/>
            <a:ext cx="917575" cy="396875"/>
          </a:xfrm>
          <a:prstGeom prst="rect">
            <a:avLst/>
          </a:prstGeom>
          <a:noFill/>
          <a:ln w="9525">
            <a:noFill/>
            <a:miter lim="800000"/>
            <a:headEnd/>
            <a:tailEnd/>
          </a:ln>
          <a:effectLst/>
        </p:spPr>
        <p:txBody>
          <a:bodyPr wrap="none">
            <a:spAutoFit/>
          </a:bodyPr>
          <a:lstStyle/>
          <a:p>
            <a:pPr eaLnBrk="1" hangingPunct="1"/>
            <a:r>
              <a:rPr lang="en-US" sz="2000" i="1">
                <a:latin typeface="Times New Roman" pitchFamily="18" charset="0"/>
                <a:cs typeface="Arial" charset="0"/>
              </a:rPr>
              <a:t>t</a:t>
            </a:r>
            <a:r>
              <a:rPr lang="en-US" sz="2000" i="1" baseline="-25000">
                <a:latin typeface="Times New Roman" pitchFamily="18" charset="0"/>
                <a:cs typeface="Arial" charset="0"/>
              </a:rPr>
              <a:t>2g</a:t>
            </a:r>
            <a:r>
              <a:rPr lang="en-US" sz="2000" i="1">
                <a:latin typeface="Times New Roman" pitchFamily="18" charset="0"/>
                <a:cs typeface="Arial" charset="0"/>
              </a:rPr>
              <a:t> (π*)</a:t>
            </a:r>
          </a:p>
        </p:txBody>
      </p:sp>
      <p:sp>
        <p:nvSpPr>
          <p:cNvPr id="44053" name="Text Box 21"/>
          <p:cNvSpPr txBox="1">
            <a:spLocks noChangeArrowheads="1"/>
          </p:cNvSpPr>
          <p:nvPr/>
        </p:nvSpPr>
        <p:spPr bwMode="auto">
          <a:xfrm>
            <a:off x="6477000" y="1447800"/>
            <a:ext cx="420688" cy="457200"/>
          </a:xfrm>
          <a:prstGeom prst="rect">
            <a:avLst/>
          </a:prstGeom>
          <a:noFill/>
          <a:ln w="9525">
            <a:noFill/>
            <a:miter lim="800000"/>
            <a:headEnd/>
            <a:tailEnd/>
          </a:ln>
          <a:effectLst/>
        </p:spPr>
        <p:txBody>
          <a:bodyPr wrap="none">
            <a:spAutoFit/>
          </a:bodyPr>
          <a:lstStyle/>
          <a:p>
            <a:pPr eaLnBrk="1" hangingPunct="1"/>
            <a:r>
              <a:rPr lang="en-US" i="1">
                <a:solidFill>
                  <a:srgbClr val="FF0000"/>
                </a:solidFill>
                <a:latin typeface="Times New Roman" pitchFamily="18" charset="0"/>
                <a:cs typeface="Arial" charset="0"/>
              </a:rPr>
              <a:t>e</a:t>
            </a:r>
            <a:r>
              <a:rPr lang="en-US" i="1" baseline="-25000">
                <a:solidFill>
                  <a:srgbClr val="FF0000"/>
                </a:solidFill>
                <a:latin typeface="Times New Roman" pitchFamily="18" charset="0"/>
                <a:cs typeface="Arial" charset="0"/>
              </a:rPr>
              <a:t>g</a:t>
            </a:r>
            <a:endParaRPr lang="en-US" i="1">
              <a:solidFill>
                <a:schemeClr val="accent2"/>
              </a:solidFill>
              <a:latin typeface="Times New Roman" pitchFamily="18" charset="0"/>
              <a:cs typeface="Arial" charset="0"/>
            </a:endParaRPr>
          </a:p>
        </p:txBody>
      </p:sp>
      <p:grpSp>
        <p:nvGrpSpPr>
          <p:cNvPr id="4" name="Group 22"/>
          <p:cNvGrpSpPr>
            <a:grpSpLocks/>
          </p:cNvGrpSpPr>
          <p:nvPr/>
        </p:nvGrpSpPr>
        <p:grpSpPr bwMode="auto">
          <a:xfrm>
            <a:off x="1295400" y="1676400"/>
            <a:ext cx="4397375" cy="2057400"/>
            <a:chOff x="816" y="1056"/>
            <a:chExt cx="2770" cy="1296"/>
          </a:xfrm>
        </p:grpSpPr>
        <p:sp>
          <p:nvSpPr>
            <p:cNvPr id="44055" name="Line 23"/>
            <p:cNvSpPr>
              <a:spLocks noChangeShapeType="1"/>
            </p:cNvSpPr>
            <p:nvPr/>
          </p:nvSpPr>
          <p:spPr bwMode="auto">
            <a:xfrm flipV="1">
              <a:off x="2722" y="1056"/>
              <a:ext cx="0" cy="1296"/>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44056" name="Line 24"/>
            <p:cNvSpPr>
              <a:spLocks noChangeShapeType="1"/>
            </p:cNvSpPr>
            <p:nvPr/>
          </p:nvSpPr>
          <p:spPr bwMode="auto">
            <a:xfrm flipV="1">
              <a:off x="3250" y="1056"/>
              <a:ext cx="0" cy="576"/>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44057" name="Rectangle 25"/>
            <p:cNvSpPr>
              <a:spLocks noChangeArrowheads="1"/>
            </p:cNvSpPr>
            <p:nvPr/>
          </p:nvSpPr>
          <p:spPr bwMode="auto">
            <a:xfrm>
              <a:off x="3264" y="1161"/>
              <a:ext cx="322" cy="237"/>
            </a:xfrm>
            <a:prstGeom prst="rect">
              <a:avLst/>
            </a:prstGeom>
            <a:solidFill>
              <a:schemeClr val="bg1"/>
            </a:solidFill>
            <a:ln w="9525">
              <a:solidFill>
                <a:schemeClr val="tx1"/>
              </a:solidFill>
              <a:miter lim="800000"/>
              <a:headEnd/>
              <a:tailEnd/>
            </a:ln>
            <a:effectLst/>
          </p:spPr>
          <p:txBody>
            <a:bodyPr wrap="none">
              <a:spAutoFit/>
            </a:bodyPr>
            <a:lstStyle/>
            <a:p>
              <a:pPr eaLnBrk="1" hangingPunct="1"/>
              <a:r>
                <a:rPr lang="en-US" sz="1800">
                  <a:latin typeface="Symbol" pitchFamily="18" charset="2"/>
                  <a:cs typeface="Arial" charset="0"/>
                </a:rPr>
                <a:t>D</a:t>
              </a:r>
              <a:r>
                <a:rPr lang="en-US" sz="1800">
                  <a:latin typeface="Arial" charset="0"/>
                  <a:cs typeface="Arial" charset="0"/>
                </a:rPr>
                <a:t>’o</a:t>
              </a:r>
            </a:p>
          </p:txBody>
        </p:sp>
        <p:sp>
          <p:nvSpPr>
            <p:cNvPr id="44058" name="Text Box 26"/>
            <p:cNvSpPr txBox="1">
              <a:spLocks noChangeArrowheads="1"/>
            </p:cNvSpPr>
            <p:nvPr/>
          </p:nvSpPr>
          <p:spPr bwMode="auto">
            <a:xfrm>
              <a:off x="2352" y="1584"/>
              <a:ext cx="322" cy="237"/>
            </a:xfrm>
            <a:prstGeom prst="rect">
              <a:avLst/>
            </a:prstGeom>
            <a:noFill/>
            <a:ln w="9525">
              <a:solidFill>
                <a:schemeClr val="tx1"/>
              </a:solidFill>
              <a:miter lim="800000"/>
              <a:headEnd/>
              <a:tailEnd/>
            </a:ln>
            <a:effectLst/>
          </p:spPr>
          <p:txBody>
            <a:bodyPr>
              <a:spAutoFit/>
            </a:bodyPr>
            <a:lstStyle/>
            <a:p>
              <a:pPr eaLnBrk="1" hangingPunct="1"/>
              <a:r>
                <a:rPr lang="en-US" sz="1800">
                  <a:latin typeface="Symbol" pitchFamily="18" charset="2"/>
                  <a:cs typeface="Arial" charset="0"/>
                </a:rPr>
                <a:t>D</a:t>
              </a:r>
              <a:r>
                <a:rPr lang="en-US" sz="1800">
                  <a:latin typeface="Arial" charset="0"/>
                  <a:cs typeface="Arial" charset="0"/>
                </a:rPr>
                <a:t>o</a:t>
              </a:r>
            </a:p>
          </p:txBody>
        </p:sp>
        <p:sp>
          <p:nvSpPr>
            <p:cNvPr id="44059" name="Rectangle 27"/>
            <p:cNvSpPr>
              <a:spLocks noChangeArrowheads="1"/>
            </p:cNvSpPr>
            <p:nvPr/>
          </p:nvSpPr>
          <p:spPr bwMode="auto">
            <a:xfrm>
              <a:off x="816" y="1488"/>
              <a:ext cx="1234" cy="237"/>
            </a:xfrm>
            <a:prstGeom prst="rect">
              <a:avLst/>
            </a:prstGeom>
            <a:noFill/>
            <a:ln w="9525">
              <a:solidFill>
                <a:schemeClr val="tx1"/>
              </a:solidFill>
              <a:miter lim="800000"/>
              <a:headEnd/>
              <a:tailEnd/>
            </a:ln>
            <a:effectLst/>
          </p:spPr>
          <p:txBody>
            <a:bodyPr wrap="none">
              <a:spAutoFit/>
            </a:bodyPr>
            <a:lstStyle/>
            <a:p>
              <a:pPr eaLnBrk="1" hangingPunct="1"/>
              <a:r>
                <a:rPr lang="en-US" sz="1800">
                  <a:latin typeface="Symbol" pitchFamily="18" charset="2"/>
                  <a:cs typeface="Arial" charset="0"/>
                </a:rPr>
                <a:t>D</a:t>
              </a:r>
              <a:r>
                <a:rPr lang="en-US" sz="1800" baseline="-25000">
                  <a:latin typeface="Arial" charset="0"/>
                  <a:cs typeface="Arial" charset="0"/>
                </a:rPr>
                <a:t>o </a:t>
              </a:r>
              <a:r>
                <a:rPr lang="en-US" sz="1800">
                  <a:latin typeface="Arial" charset="0"/>
                  <a:cs typeface="Arial" charset="0"/>
                </a:rPr>
                <a:t>has decreased</a:t>
              </a:r>
              <a:endParaRPr lang="en-US" sz="1800" baseline="-25000">
                <a:latin typeface="Arial" charset="0"/>
                <a:cs typeface="Arial" charset="0"/>
              </a:endParaRPr>
            </a:p>
          </p:txBody>
        </p:sp>
      </p:grpSp>
    </p:spTree>
    <p:extLst>
      <p:ext uri="{BB962C8B-B14F-4D97-AF65-F5344CB8AC3E}">
        <p14:creationId xmlns:p14="http://schemas.microsoft.com/office/powerpoint/2010/main" val="2806560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3"/>
          <a:srcRect/>
          <a:stretch>
            <a:fillRect/>
          </a:stretch>
        </p:blipFill>
        <p:spPr bwMode="auto">
          <a:xfrm>
            <a:off x="1981200" y="228600"/>
            <a:ext cx="5999163" cy="6324600"/>
          </a:xfrm>
          <a:prstGeom prst="rect">
            <a:avLst/>
          </a:prstGeom>
          <a:noFill/>
          <a:ln w="9525">
            <a:noFill/>
            <a:miter lim="800000"/>
            <a:headEnd/>
            <a:tailEnd/>
          </a:ln>
          <a:effectLst/>
        </p:spPr>
      </p:pic>
      <p:grpSp>
        <p:nvGrpSpPr>
          <p:cNvPr id="2" name="Group 3"/>
          <p:cNvGrpSpPr>
            <a:grpSpLocks/>
          </p:cNvGrpSpPr>
          <p:nvPr/>
        </p:nvGrpSpPr>
        <p:grpSpPr bwMode="auto">
          <a:xfrm>
            <a:off x="2286000" y="6415088"/>
            <a:ext cx="5568950" cy="366712"/>
            <a:chOff x="1440" y="4041"/>
            <a:chExt cx="3508" cy="231"/>
          </a:xfrm>
        </p:grpSpPr>
        <p:sp>
          <p:nvSpPr>
            <p:cNvPr id="45060" name="Text Box 4"/>
            <p:cNvSpPr txBox="1">
              <a:spLocks noChangeArrowheads="1"/>
            </p:cNvSpPr>
            <p:nvPr/>
          </p:nvSpPr>
          <p:spPr bwMode="auto">
            <a:xfrm>
              <a:off x="1440" y="4041"/>
              <a:ext cx="1404"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Strong field / low spin</a:t>
              </a:r>
            </a:p>
          </p:txBody>
        </p:sp>
        <p:sp>
          <p:nvSpPr>
            <p:cNvPr id="45061" name="Text Box 5"/>
            <p:cNvSpPr txBox="1">
              <a:spLocks noChangeArrowheads="1"/>
            </p:cNvSpPr>
            <p:nvPr/>
          </p:nvSpPr>
          <p:spPr bwMode="auto">
            <a:xfrm>
              <a:off x="3552" y="4041"/>
              <a:ext cx="1396" cy="231"/>
            </a:xfrm>
            <a:prstGeom prst="rect">
              <a:avLst/>
            </a:prstGeom>
            <a:noFill/>
            <a:ln w="9525">
              <a:noFill/>
              <a:miter lim="800000"/>
              <a:headEnd/>
              <a:tailEnd/>
            </a:ln>
            <a:effectLst/>
          </p:spPr>
          <p:txBody>
            <a:bodyPr wrap="none">
              <a:spAutoFit/>
            </a:bodyPr>
            <a:lstStyle/>
            <a:p>
              <a:pPr eaLnBrk="1" hangingPunct="1"/>
              <a:r>
                <a:rPr lang="en-US" sz="1800">
                  <a:solidFill>
                    <a:srgbClr val="FF0000"/>
                  </a:solidFill>
                  <a:latin typeface="Times New Roman" pitchFamily="18" charset="0"/>
                  <a:cs typeface="Arial" charset="0"/>
                </a:rPr>
                <a:t>Weak field / high spin</a:t>
              </a:r>
            </a:p>
          </p:txBody>
        </p:sp>
      </p:grpSp>
      <p:sp>
        <p:nvSpPr>
          <p:cNvPr id="45062" name="Text Box 6"/>
          <p:cNvSpPr txBox="1">
            <a:spLocks noChangeArrowheads="1"/>
          </p:cNvSpPr>
          <p:nvPr/>
        </p:nvSpPr>
        <p:spPr bwMode="auto">
          <a:xfrm>
            <a:off x="4572000" y="457200"/>
            <a:ext cx="3581400" cy="822325"/>
          </a:xfrm>
          <a:prstGeom prst="rect">
            <a:avLst/>
          </a:prstGeom>
          <a:noFill/>
          <a:ln w="9525">
            <a:noFill/>
            <a:miter lim="800000"/>
            <a:headEnd/>
            <a:tailEnd/>
          </a:ln>
          <a:effectLst/>
        </p:spPr>
        <p:txBody>
          <a:bodyPr>
            <a:spAutoFit/>
          </a:bodyPr>
          <a:lstStyle/>
          <a:p>
            <a:pPr>
              <a:spcBef>
                <a:spcPct val="50000"/>
              </a:spcBef>
            </a:pPr>
            <a:r>
              <a:rPr lang="en-US"/>
              <a:t>Putting it all on one diagram.</a:t>
            </a:r>
          </a:p>
        </p:txBody>
      </p:sp>
    </p:spTree>
    <p:extLst>
      <p:ext uri="{BB962C8B-B14F-4D97-AF65-F5344CB8AC3E}">
        <p14:creationId xmlns:p14="http://schemas.microsoft.com/office/powerpoint/2010/main" val="194029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US"/>
              <a:t>Spectrochemical Series</a:t>
            </a:r>
          </a:p>
        </p:txBody>
      </p:sp>
      <p:sp>
        <p:nvSpPr>
          <p:cNvPr id="109572" name="Text Box 4"/>
          <p:cNvSpPr txBox="1">
            <a:spLocks noChangeArrowheads="1"/>
          </p:cNvSpPr>
          <p:nvPr/>
        </p:nvSpPr>
        <p:spPr bwMode="auto">
          <a:xfrm>
            <a:off x="990600" y="1905000"/>
            <a:ext cx="7924800" cy="1004888"/>
          </a:xfrm>
          <a:prstGeom prst="rect">
            <a:avLst/>
          </a:prstGeom>
          <a:noFill/>
          <a:ln w="9525">
            <a:noFill/>
            <a:miter lim="800000"/>
            <a:headEnd/>
            <a:tailEnd/>
          </a:ln>
          <a:effectLst/>
        </p:spPr>
        <p:txBody>
          <a:bodyPr>
            <a:spAutoFit/>
          </a:bodyPr>
          <a:lstStyle/>
          <a:p>
            <a:pPr>
              <a:spcBef>
                <a:spcPct val="50000"/>
              </a:spcBef>
            </a:pPr>
            <a:r>
              <a:rPr lang="en-US"/>
              <a:t>Purely </a:t>
            </a:r>
            <a:r>
              <a:rPr lang="en-US">
                <a:latin typeface="Symbol" pitchFamily="18" charset="2"/>
              </a:rPr>
              <a:t>s</a:t>
            </a:r>
            <a:r>
              <a:rPr lang="en-US"/>
              <a:t> ligands:  </a:t>
            </a:r>
          </a:p>
          <a:p>
            <a:pPr>
              <a:spcBef>
                <a:spcPct val="50000"/>
              </a:spcBef>
            </a:pPr>
            <a:r>
              <a:rPr lang="en-US">
                <a:latin typeface="Symbol" pitchFamily="18" charset="2"/>
              </a:rPr>
              <a:t>D:</a:t>
            </a:r>
            <a:r>
              <a:rPr lang="en-US"/>
              <a:t> en &gt; NH</a:t>
            </a:r>
            <a:r>
              <a:rPr lang="en-US" baseline="-25000"/>
              <a:t>3 </a:t>
            </a:r>
            <a:r>
              <a:rPr lang="en-US"/>
              <a:t>(order of proton basicity)</a:t>
            </a:r>
          </a:p>
        </p:txBody>
      </p:sp>
      <p:sp>
        <p:nvSpPr>
          <p:cNvPr id="109573" name="Text Box 5"/>
          <p:cNvSpPr txBox="1">
            <a:spLocks noChangeArrowheads="1"/>
          </p:cNvSpPr>
          <p:nvPr/>
        </p:nvSpPr>
        <p:spPr bwMode="auto">
          <a:xfrm>
            <a:off x="914400" y="2971800"/>
            <a:ext cx="7924800" cy="822325"/>
          </a:xfrm>
          <a:prstGeom prst="rect">
            <a:avLst/>
          </a:prstGeom>
          <a:noFill/>
          <a:ln w="9525">
            <a:noFill/>
            <a:miter lim="800000"/>
            <a:headEnd/>
            <a:tailEnd/>
          </a:ln>
          <a:effectLst/>
        </p:spPr>
        <p:txBody>
          <a:bodyPr>
            <a:spAutoFit/>
          </a:bodyPr>
          <a:lstStyle/>
          <a:p>
            <a:pPr>
              <a:spcBef>
                <a:spcPct val="50000"/>
              </a:spcBef>
              <a:buFont typeface="Symbol" pitchFamily="18" charset="2"/>
              <a:buChar char="p"/>
            </a:pPr>
            <a:r>
              <a:rPr lang="en-US"/>
              <a:t> donating which decreases splitting and causes high spin:</a:t>
            </a:r>
          </a:p>
          <a:p>
            <a:r>
              <a:rPr lang="en-US">
                <a:latin typeface="Symbol" pitchFamily="18" charset="2"/>
              </a:rPr>
              <a:t>D</a:t>
            </a:r>
            <a:r>
              <a:rPr lang="en-US"/>
              <a:t>: H</a:t>
            </a:r>
            <a:r>
              <a:rPr lang="en-US" baseline="-25000"/>
              <a:t>2</a:t>
            </a:r>
            <a:r>
              <a:rPr lang="en-US"/>
              <a:t>O &gt; F &gt; RCO</a:t>
            </a:r>
            <a:r>
              <a:rPr lang="en-US" baseline="-25000"/>
              <a:t>2</a:t>
            </a:r>
            <a:r>
              <a:rPr lang="en-US"/>
              <a:t> &gt; OH &gt; Cl &gt; Br &gt; I (also proton basicity)</a:t>
            </a:r>
          </a:p>
        </p:txBody>
      </p:sp>
      <p:sp>
        <p:nvSpPr>
          <p:cNvPr id="109574" name="Text Box 6"/>
          <p:cNvSpPr txBox="1">
            <a:spLocks noChangeArrowheads="1"/>
          </p:cNvSpPr>
          <p:nvPr/>
        </p:nvSpPr>
        <p:spPr bwMode="auto">
          <a:xfrm>
            <a:off x="914400" y="4114800"/>
            <a:ext cx="7848600" cy="457200"/>
          </a:xfrm>
          <a:prstGeom prst="rect">
            <a:avLst/>
          </a:prstGeom>
          <a:noFill/>
          <a:ln w="9525">
            <a:noFill/>
            <a:miter lim="800000"/>
            <a:headEnd/>
            <a:tailEnd/>
          </a:ln>
          <a:effectLst/>
        </p:spPr>
        <p:txBody>
          <a:bodyPr>
            <a:spAutoFit/>
          </a:bodyPr>
          <a:lstStyle/>
          <a:p>
            <a:pPr>
              <a:spcBef>
                <a:spcPct val="50000"/>
              </a:spcBef>
            </a:pPr>
            <a:r>
              <a:rPr lang="en-US"/>
              <a:t>Adding in water, hydroxide and carboxylate</a:t>
            </a:r>
          </a:p>
        </p:txBody>
      </p:sp>
      <p:sp>
        <p:nvSpPr>
          <p:cNvPr id="109575" name="Rectangle 7"/>
          <p:cNvSpPr>
            <a:spLocks noChangeArrowheads="1"/>
          </p:cNvSpPr>
          <p:nvPr/>
        </p:nvSpPr>
        <p:spPr bwMode="auto">
          <a:xfrm>
            <a:off x="990600" y="4572000"/>
            <a:ext cx="5049838" cy="457200"/>
          </a:xfrm>
          <a:prstGeom prst="rect">
            <a:avLst/>
          </a:prstGeom>
          <a:noFill/>
          <a:ln w="9525">
            <a:noFill/>
            <a:miter lim="800000"/>
            <a:headEnd/>
            <a:tailEnd/>
          </a:ln>
          <a:effectLst/>
        </p:spPr>
        <p:txBody>
          <a:bodyPr wrap="none">
            <a:spAutoFit/>
          </a:bodyPr>
          <a:lstStyle/>
          <a:p>
            <a:r>
              <a:rPr lang="en-US">
                <a:latin typeface="Symbol" pitchFamily="18" charset="2"/>
              </a:rPr>
              <a:t>D</a:t>
            </a:r>
            <a:r>
              <a:rPr lang="en-US"/>
              <a:t>: H</a:t>
            </a:r>
            <a:r>
              <a:rPr lang="en-US" baseline="-25000"/>
              <a:t>2</a:t>
            </a:r>
            <a:r>
              <a:rPr lang="en-US"/>
              <a:t>O &gt; F &gt; RCO</a:t>
            </a:r>
            <a:r>
              <a:rPr lang="en-US" baseline="-25000"/>
              <a:t>2</a:t>
            </a:r>
            <a:r>
              <a:rPr lang="en-US"/>
              <a:t> &gt; OH &gt; Cl &gt; Br &gt; I</a:t>
            </a:r>
          </a:p>
        </p:txBody>
      </p:sp>
      <p:sp>
        <p:nvSpPr>
          <p:cNvPr id="109576" name="Text Box 8"/>
          <p:cNvSpPr txBox="1">
            <a:spLocks noChangeArrowheads="1"/>
          </p:cNvSpPr>
          <p:nvPr/>
        </p:nvSpPr>
        <p:spPr bwMode="auto">
          <a:xfrm>
            <a:off x="990600" y="5257800"/>
            <a:ext cx="8001000" cy="457200"/>
          </a:xfrm>
          <a:prstGeom prst="rect">
            <a:avLst/>
          </a:prstGeom>
          <a:noFill/>
          <a:ln w="9525">
            <a:noFill/>
            <a:miter lim="800000"/>
            <a:headEnd/>
            <a:tailEnd/>
          </a:ln>
          <a:effectLst/>
        </p:spPr>
        <p:txBody>
          <a:bodyPr>
            <a:spAutoFit/>
          </a:bodyPr>
          <a:lstStyle/>
          <a:p>
            <a:pPr>
              <a:spcBef>
                <a:spcPct val="50000"/>
              </a:spcBef>
            </a:pPr>
            <a:r>
              <a:rPr lang="en-US">
                <a:latin typeface="Symbol" pitchFamily="18" charset="2"/>
              </a:rPr>
              <a:t>p</a:t>
            </a:r>
            <a:r>
              <a:rPr lang="en-US"/>
              <a:t> accepting ligands increase splitting and may be low spin</a:t>
            </a:r>
          </a:p>
        </p:txBody>
      </p:sp>
      <p:sp>
        <p:nvSpPr>
          <p:cNvPr id="109577" name="Text Box 9"/>
          <p:cNvSpPr txBox="1">
            <a:spLocks noChangeArrowheads="1"/>
          </p:cNvSpPr>
          <p:nvPr/>
        </p:nvSpPr>
        <p:spPr bwMode="auto">
          <a:xfrm>
            <a:off x="990600" y="5791200"/>
            <a:ext cx="7620000" cy="457200"/>
          </a:xfrm>
          <a:prstGeom prst="rect">
            <a:avLst/>
          </a:prstGeom>
          <a:noFill/>
          <a:ln w="9525">
            <a:noFill/>
            <a:miter lim="800000"/>
            <a:headEnd/>
            <a:tailEnd/>
          </a:ln>
          <a:effectLst/>
        </p:spPr>
        <p:txBody>
          <a:bodyPr>
            <a:spAutoFit/>
          </a:bodyPr>
          <a:lstStyle/>
          <a:p>
            <a:pPr>
              <a:spcBef>
                <a:spcPct val="50000"/>
              </a:spcBef>
            </a:pPr>
            <a:r>
              <a:rPr lang="en-US">
                <a:latin typeface="Symbol" pitchFamily="18" charset="2"/>
              </a:rPr>
              <a:t>D</a:t>
            </a:r>
            <a:r>
              <a:rPr lang="en-US"/>
              <a:t>: CO, CN</a:t>
            </a:r>
            <a:r>
              <a:rPr lang="en-US" baseline="30000"/>
              <a:t>-</a:t>
            </a:r>
            <a:r>
              <a:rPr lang="en-US"/>
              <a:t>, &gt; phenanthroline &gt; NO</a:t>
            </a:r>
            <a:r>
              <a:rPr lang="en-US" baseline="-25000"/>
              <a:t>2</a:t>
            </a:r>
            <a:r>
              <a:rPr lang="en-US" baseline="30000"/>
              <a:t>-</a:t>
            </a:r>
            <a:r>
              <a:rPr lang="en-US"/>
              <a:t> &gt; NCS</a:t>
            </a:r>
            <a:r>
              <a:rPr lang="en-US" baseline="30000"/>
              <a:t>-</a:t>
            </a:r>
          </a:p>
        </p:txBody>
      </p:sp>
    </p:spTree>
    <p:extLst>
      <p:ext uri="{BB962C8B-B14F-4D97-AF65-F5344CB8AC3E}">
        <p14:creationId xmlns:p14="http://schemas.microsoft.com/office/powerpoint/2010/main" val="358514296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US" sz="3600"/>
              <a:t>Merging to get spectrochemical series</a:t>
            </a:r>
          </a:p>
        </p:txBody>
      </p:sp>
      <p:sp>
        <p:nvSpPr>
          <p:cNvPr id="111620" name="Text Box 4"/>
          <p:cNvSpPr txBox="1">
            <a:spLocks noChangeArrowheads="1"/>
          </p:cNvSpPr>
          <p:nvPr/>
        </p:nvSpPr>
        <p:spPr bwMode="auto">
          <a:xfrm>
            <a:off x="152400" y="3200400"/>
            <a:ext cx="8763000" cy="396875"/>
          </a:xfrm>
          <a:prstGeom prst="rect">
            <a:avLst/>
          </a:prstGeom>
          <a:solidFill>
            <a:srgbClr val="FFFF99"/>
          </a:solidFill>
          <a:ln w="9525">
            <a:noFill/>
            <a:miter lim="800000"/>
            <a:headEnd/>
            <a:tailEnd/>
          </a:ln>
          <a:effectLst/>
        </p:spPr>
        <p:txBody>
          <a:bodyPr>
            <a:spAutoFit/>
          </a:bodyPr>
          <a:lstStyle/>
          <a:p>
            <a:pPr>
              <a:spcBef>
                <a:spcPct val="50000"/>
              </a:spcBef>
            </a:pPr>
            <a:r>
              <a:rPr lang="en-US" sz="2000"/>
              <a:t>CO, CN</a:t>
            </a:r>
            <a:r>
              <a:rPr lang="en-US" sz="2000" baseline="30000"/>
              <a:t>-</a:t>
            </a:r>
            <a:r>
              <a:rPr lang="en-US" sz="2000"/>
              <a:t> &gt; phen &gt; en &gt; NH</a:t>
            </a:r>
            <a:r>
              <a:rPr lang="en-US" sz="2000" baseline="-25000"/>
              <a:t>3</a:t>
            </a:r>
            <a:r>
              <a:rPr lang="en-US" sz="2000"/>
              <a:t> &gt; NCS</a:t>
            </a:r>
            <a:r>
              <a:rPr lang="en-US" sz="2000" baseline="30000"/>
              <a:t>-</a:t>
            </a:r>
            <a:r>
              <a:rPr lang="en-US" sz="2000"/>
              <a:t> &gt; H</a:t>
            </a:r>
            <a:r>
              <a:rPr lang="en-US" sz="2000" baseline="-25000"/>
              <a:t>2</a:t>
            </a:r>
            <a:r>
              <a:rPr lang="en-US" sz="2000"/>
              <a:t>O &gt; F</a:t>
            </a:r>
            <a:r>
              <a:rPr lang="en-US" sz="2000" baseline="30000"/>
              <a:t>-</a:t>
            </a:r>
            <a:r>
              <a:rPr lang="en-US" sz="2000"/>
              <a:t> &gt; RCO</a:t>
            </a:r>
            <a:r>
              <a:rPr lang="en-US" sz="2000" baseline="-25000"/>
              <a:t>2</a:t>
            </a:r>
            <a:r>
              <a:rPr lang="en-US" sz="2000" baseline="30000"/>
              <a:t>-</a:t>
            </a:r>
            <a:r>
              <a:rPr lang="en-US" sz="2000"/>
              <a:t> &gt; OH</a:t>
            </a:r>
            <a:r>
              <a:rPr lang="en-US" sz="2000" baseline="30000"/>
              <a:t>-</a:t>
            </a:r>
            <a:r>
              <a:rPr lang="en-US" sz="2000"/>
              <a:t> &gt; Cl</a:t>
            </a:r>
            <a:r>
              <a:rPr lang="en-US" sz="2000" baseline="30000"/>
              <a:t>-</a:t>
            </a:r>
            <a:r>
              <a:rPr lang="en-US" sz="2000"/>
              <a:t> &gt; Br</a:t>
            </a:r>
            <a:r>
              <a:rPr lang="en-US" sz="2000" baseline="30000"/>
              <a:t>-</a:t>
            </a:r>
            <a:r>
              <a:rPr lang="en-US" sz="2000"/>
              <a:t> &gt; I</a:t>
            </a:r>
            <a:r>
              <a:rPr lang="en-US" sz="2000" baseline="30000"/>
              <a:t>-</a:t>
            </a:r>
          </a:p>
        </p:txBody>
      </p:sp>
      <p:sp>
        <p:nvSpPr>
          <p:cNvPr id="111621" name="Text Box 5"/>
          <p:cNvSpPr txBox="1">
            <a:spLocks noChangeArrowheads="1"/>
          </p:cNvSpPr>
          <p:nvPr/>
        </p:nvSpPr>
        <p:spPr bwMode="auto">
          <a:xfrm>
            <a:off x="228600" y="4038600"/>
            <a:ext cx="1752600" cy="1552575"/>
          </a:xfrm>
          <a:prstGeom prst="rect">
            <a:avLst/>
          </a:prstGeom>
          <a:noFill/>
          <a:ln w="9525">
            <a:noFill/>
            <a:miter lim="800000"/>
            <a:headEnd/>
            <a:tailEnd/>
          </a:ln>
          <a:effectLst/>
        </p:spPr>
        <p:txBody>
          <a:bodyPr>
            <a:spAutoFit/>
          </a:bodyPr>
          <a:lstStyle/>
          <a:p>
            <a:pPr>
              <a:spcBef>
                <a:spcPct val="50000"/>
              </a:spcBef>
            </a:pPr>
            <a:r>
              <a:rPr lang="en-US"/>
              <a:t>Strong field, </a:t>
            </a:r>
            <a:r>
              <a:rPr lang="en-US">
                <a:latin typeface="Symbol" pitchFamily="18" charset="2"/>
              </a:rPr>
              <a:t>p</a:t>
            </a:r>
            <a:r>
              <a:rPr lang="en-US"/>
              <a:t> acceptors large </a:t>
            </a:r>
            <a:r>
              <a:rPr lang="en-US">
                <a:latin typeface="Symbol" pitchFamily="18" charset="2"/>
              </a:rPr>
              <a:t>D</a:t>
            </a:r>
            <a:r>
              <a:rPr lang="en-US"/>
              <a:t>          low spin</a:t>
            </a:r>
          </a:p>
        </p:txBody>
      </p:sp>
      <p:sp>
        <p:nvSpPr>
          <p:cNvPr id="111622" name="Text Box 6"/>
          <p:cNvSpPr txBox="1">
            <a:spLocks noChangeArrowheads="1"/>
          </p:cNvSpPr>
          <p:nvPr/>
        </p:nvSpPr>
        <p:spPr bwMode="auto">
          <a:xfrm>
            <a:off x="2209800" y="4114800"/>
            <a:ext cx="990600" cy="457200"/>
          </a:xfrm>
          <a:prstGeom prst="rect">
            <a:avLst/>
          </a:prstGeom>
          <a:noFill/>
          <a:ln w="9525">
            <a:noFill/>
            <a:miter lim="800000"/>
            <a:headEnd/>
            <a:tailEnd/>
          </a:ln>
          <a:effectLst/>
        </p:spPr>
        <p:txBody>
          <a:bodyPr>
            <a:spAutoFit/>
          </a:bodyPr>
          <a:lstStyle/>
          <a:p>
            <a:pPr>
              <a:spcBef>
                <a:spcPct val="50000"/>
              </a:spcBef>
            </a:pPr>
            <a:r>
              <a:rPr lang="en-US">
                <a:latin typeface="Symbol" pitchFamily="18" charset="2"/>
              </a:rPr>
              <a:t>s</a:t>
            </a:r>
            <a:r>
              <a:rPr lang="en-US"/>
              <a:t> only</a:t>
            </a:r>
          </a:p>
        </p:txBody>
      </p:sp>
      <p:sp>
        <p:nvSpPr>
          <p:cNvPr id="111623" name="Text Box 7"/>
          <p:cNvSpPr txBox="1">
            <a:spLocks noChangeArrowheads="1"/>
          </p:cNvSpPr>
          <p:nvPr/>
        </p:nvSpPr>
        <p:spPr bwMode="auto">
          <a:xfrm>
            <a:off x="6553200" y="3886200"/>
            <a:ext cx="1752600" cy="1552575"/>
          </a:xfrm>
          <a:prstGeom prst="rect">
            <a:avLst/>
          </a:prstGeom>
          <a:noFill/>
          <a:ln w="9525">
            <a:noFill/>
            <a:miter lim="800000"/>
            <a:headEnd/>
            <a:tailEnd/>
          </a:ln>
          <a:effectLst/>
        </p:spPr>
        <p:txBody>
          <a:bodyPr>
            <a:spAutoFit/>
          </a:bodyPr>
          <a:lstStyle/>
          <a:p>
            <a:pPr>
              <a:spcBef>
                <a:spcPct val="50000"/>
              </a:spcBef>
            </a:pPr>
            <a:r>
              <a:rPr lang="en-US"/>
              <a:t>Weak field, </a:t>
            </a:r>
            <a:r>
              <a:rPr lang="en-US">
                <a:latin typeface="Symbol" pitchFamily="18" charset="2"/>
              </a:rPr>
              <a:t>p</a:t>
            </a:r>
            <a:r>
              <a:rPr lang="en-US"/>
              <a:t> donors small </a:t>
            </a:r>
            <a:r>
              <a:rPr lang="en-US">
                <a:latin typeface="Symbol" pitchFamily="18" charset="2"/>
              </a:rPr>
              <a:t>D</a:t>
            </a:r>
            <a:r>
              <a:rPr lang="en-US"/>
              <a:t>          high spin</a:t>
            </a:r>
          </a:p>
        </p:txBody>
      </p:sp>
    </p:spTree>
    <p:extLst>
      <p:ext uri="{BB962C8B-B14F-4D97-AF65-F5344CB8AC3E}">
        <p14:creationId xmlns:p14="http://schemas.microsoft.com/office/powerpoint/2010/main" val="120990539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sz="4000"/>
              <a:t>Turning to Square Planar Complexes</a:t>
            </a:r>
          </a:p>
        </p:txBody>
      </p:sp>
      <p:graphicFrame>
        <p:nvGraphicFramePr>
          <p:cNvPr id="97284" name="Object 4"/>
          <p:cNvGraphicFramePr>
            <a:graphicFrameLocks noChangeAspect="1"/>
          </p:cNvGraphicFramePr>
          <p:nvPr/>
        </p:nvGraphicFramePr>
        <p:xfrm>
          <a:off x="1524000" y="2209800"/>
          <a:ext cx="1308100" cy="955675"/>
        </p:xfrm>
        <a:graphic>
          <a:graphicData uri="http://schemas.openxmlformats.org/presentationml/2006/ole">
            <mc:AlternateContent xmlns:mc="http://schemas.openxmlformats.org/markup-compatibility/2006">
              <mc:Choice xmlns:v="urn:schemas-microsoft-com:vml" Requires="v">
                <p:oleObj spid="_x0000_s12291" name="CS ChemDraw Drawing" r:id="rId4" imgW="1308735" imgH="955834" progId="ChemDraw.Document.6.0">
                  <p:embed/>
                </p:oleObj>
              </mc:Choice>
              <mc:Fallback>
                <p:oleObj name="CS ChemDraw Drawing" r:id="rId4" imgW="1308735" imgH="955834" progId="ChemDraw.Document.6.0">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2209800"/>
                        <a:ext cx="1308100" cy="95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285" name="Text Box 5"/>
          <p:cNvSpPr txBox="1">
            <a:spLocks noChangeArrowheads="1"/>
          </p:cNvSpPr>
          <p:nvPr/>
        </p:nvSpPr>
        <p:spPr bwMode="auto">
          <a:xfrm>
            <a:off x="3048000" y="2133600"/>
            <a:ext cx="6019800" cy="3925888"/>
          </a:xfrm>
          <a:prstGeom prst="rect">
            <a:avLst/>
          </a:prstGeom>
          <a:noFill/>
          <a:ln w="9525">
            <a:noFill/>
            <a:miter lim="800000"/>
            <a:headEnd/>
            <a:tailEnd/>
          </a:ln>
          <a:effectLst/>
        </p:spPr>
        <p:txBody>
          <a:bodyPr>
            <a:spAutoFit/>
          </a:bodyPr>
          <a:lstStyle/>
          <a:p>
            <a:pPr>
              <a:spcBef>
                <a:spcPct val="50000"/>
              </a:spcBef>
            </a:pPr>
            <a:r>
              <a:rPr lang="en-US"/>
              <a:t>Most convenient to use a local coordinate system on each ligand with </a:t>
            </a:r>
          </a:p>
          <a:p>
            <a:pPr>
              <a:spcBef>
                <a:spcPct val="50000"/>
              </a:spcBef>
            </a:pPr>
            <a:r>
              <a:rPr lang="en-US"/>
              <a:t>y pointing in towards the metal. p</a:t>
            </a:r>
            <a:r>
              <a:rPr lang="en-US" baseline="-25000"/>
              <a:t>y</a:t>
            </a:r>
            <a:r>
              <a:rPr lang="en-US"/>
              <a:t> to be used for </a:t>
            </a:r>
            <a:r>
              <a:rPr lang="en-US">
                <a:latin typeface="Symbol" pitchFamily="18" charset="2"/>
              </a:rPr>
              <a:t>s</a:t>
            </a:r>
            <a:r>
              <a:rPr lang="en-US"/>
              <a:t> bonding.</a:t>
            </a:r>
          </a:p>
          <a:p>
            <a:pPr>
              <a:spcBef>
                <a:spcPct val="50000"/>
              </a:spcBef>
            </a:pPr>
            <a:r>
              <a:rPr lang="en-US"/>
              <a:t>z being perpendicular to the molecular plane. p</a:t>
            </a:r>
            <a:r>
              <a:rPr lang="en-US" baseline="-25000"/>
              <a:t>z</a:t>
            </a:r>
            <a:r>
              <a:rPr lang="en-US"/>
              <a:t> to be used for </a:t>
            </a:r>
            <a:r>
              <a:rPr lang="en-US">
                <a:latin typeface="Symbol" pitchFamily="18" charset="2"/>
              </a:rPr>
              <a:t>p</a:t>
            </a:r>
            <a:r>
              <a:rPr lang="en-US"/>
              <a:t> bonding perpendicular to the plane, </a:t>
            </a:r>
            <a:r>
              <a:rPr lang="en-US">
                <a:latin typeface="Symbol" pitchFamily="18" charset="2"/>
              </a:rPr>
              <a:t>p</a:t>
            </a:r>
            <a:r>
              <a:rPr lang="en-US" baseline="-25000">
                <a:latin typeface="Symbol" pitchFamily="18" charset="2"/>
              </a:rPr>
              <a:t>^</a:t>
            </a:r>
            <a:r>
              <a:rPr lang="en-US"/>
              <a:t>. </a:t>
            </a:r>
          </a:p>
          <a:p>
            <a:pPr>
              <a:spcBef>
                <a:spcPct val="50000"/>
              </a:spcBef>
            </a:pPr>
            <a:r>
              <a:rPr lang="en-US"/>
              <a:t>x lying in the molecular plane. p</a:t>
            </a:r>
            <a:r>
              <a:rPr lang="en-US" baseline="-25000"/>
              <a:t>x</a:t>
            </a:r>
            <a:r>
              <a:rPr lang="en-US"/>
              <a:t>  to be used for </a:t>
            </a:r>
            <a:r>
              <a:rPr lang="en-US">
                <a:latin typeface="Symbol" pitchFamily="18" charset="2"/>
              </a:rPr>
              <a:t>p</a:t>
            </a:r>
            <a:r>
              <a:rPr lang="en-US"/>
              <a:t> bonding in the molecular plane, </a:t>
            </a:r>
            <a:r>
              <a:rPr lang="en-US">
                <a:latin typeface="Symbol" pitchFamily="18" charset="2"/>
              </a:rPr>
              <a:t>p</a:t>
            </a:r>
            <a:r>
              <a:rPr lang="en-US" baseline="-25000"/>
              <a:t>|</a:t>
            </a:r>
            <a:r>
              <a:rPr lang="en-US"/>
              <a:t>.</a:t>
            </a:r>
          </a:p>
        </p:txBody>
      </p:sp>
    </p:spTree>
    <p:extLst>
      <p:ext uri="{BB962C8B-B14F-4D97-AF65-F5344CB8AC3E}">
        <p14:creationId xmlns:p14="http://schemas.microsoft.com/office/powerpoint/2010/main" val="49878253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3"/>
          <a:srcRect/>
          <a:stretch>
            <a:fillRect/>
          </a:stretch>
        </p:blipFill>
        <p:spPr bwMode="auto">
          <a:xfrm>
            <a:off x="838200" y="1066800"/>
            <a:ext cx="7785100" cy="5083175"/>
          </a:xfrm>
          <a:prstGeom prst="rect">
            <a:avLst/>
          </a:prstGeom>
          <a:noFill/>
          <a:ln w="9525">
            <a:noFill/>
            <a:miter lim="800000"/>
            <a:headEnd/>
            <a:tailEnd/>
          </a:ln>
          <a:effectLst/>
        </p:spPr>
      </p:pic>
      <p:sp>
        <p:nvSpPr>
          <p:cNvPr id="46083" name="Text Box 3"/>
          <p:cNvSpPr txBox="1">
            <a:spLocks noChangeArrowheads="1"/>
          </p:cNvSpPr>
          <p:nvPr/>
        </p:nvSpPr>
        <p:spPr bwMode="auto">
          <a:xfrm>
            <a:off x="2189163" y="228600"/>
            <a:ext cx="5283200" cy="701675"/>
          </a:xfrm>
          <a:prstGeom prst="rect">
            <a:avLst/>
          </a:prstGeom>
          <a:solidFill>
            <a:srgbClr val="FFFF99"/>
          </a:solidFill>
          <a:ln w="9525">
            <a:noFill/>
            <a:miter lim="800000"/>
            <a:headEnd/>
            <a:tailEnd/>
          </a:ln>
          <a:effectLst/>
        </p:spPr>
        <p:txBody>
          <a:bodyPr wrap="none">
            <a:spAutoFit/>
          </a:bodyPr>
          <a:lstStyle/>
          <a:p>
            <a:pPr algn="ctr" eaLnBrk="1" hangingPunct="1"/>
            <a:r>
              <a:rPr lang="en-US" sz="2000" i="1">
                <a:solidFill>
                  <a:schemeClr val="accent2"/>
                </a:solidFill>
                <a:latin typeface="Times New Roman" pitchFamily="18" charset="0"/>
                <a:cs typeface="Arial" charset="0"/>
              </a:rPr>
              <a:t>ML</a:t>
            </a:r>
            <a:r>
              <a:rPr lang="en-US" sz="2000" i="1" baseline="-25000">
                <a:solidFill>
                  <a:schemeClr val="accent2"/>
                </a:solidFill>
                <a:latin typeface="Times New Roman" pitchFamily="18" charset="0"/>
                <a:cs typeface="Arial" charset="0"/>
              </a:rPr>
              <a:t>4</a:t>
            </a:r>
            <a:r>
              <a:rPr lang="en-US" sz="2000" i="1">
                <a:solidFill>
                  <a:schemeClr val="accent2"/>
                </a:solidFill>
                <a:latin typeface="Times New Roman" pitchFamily="18" charset="0"/>
                <a:cs typeface="Arial" charset="0"/>
              </a:rPr>
              <a:t> square planar complexes</a:t>
            </a:r>
          </a:p>
          <a:p>
            <a:pPr algn="ctr" eaLnBrk="1" hangingPunct="1"/>
            <a:r>
              <a:rPr lang="en-US" sz="2000" i="1">
                <a:solidFill>
                  <a:schemeClr val="accent2"/>
                </a:solidFill>
                <a:latin typeface="Times New Roman" pitchFamily="18" charset="0"/>
                <a:cs typeface="Arial" charset="0"/>
              </a:rPr>
              <a:t>ligand group orbitals and matching metal orbitals</a:t>
            </a:r>
          </a:p>
        </p:txBody>
      </p:sp>
    </p:spTree>
    <p:extLst>
      <p:ext uri="{BB962C8B-B14F-4D97-AF65-F5344CB8AC3E}">
        <p14:creationId xmlns:p14="http://schemas.microsoft.com/office/powerpoint/2010/main" val="411049669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3"/>
          <a:srcRect/>
          <a:stretch>
            <a:fillRect/>
          </a:stretch>
        </p:blipFill>
        <p:spPr bwMode="auto">
          <a:xfrm>
            <a:off x="609600" y="304800"/>
            <a:ext cx="4568825" cy="5978525"/>
          </a:xfrm>
          <a:prstGeom prst="rect">
            <a:avLst/>
          </a:prstGeom>
          <a:noFill/>
          <a:ln w="9525">
            <a:noFill/>
            <a:miter lim="800000"/>
            <a:headEnd/>
            <a:tailEnd/>
          </a:ln>
          <a:effectLst/>
        </p:spPr>
      </p:pic>
      <p:sp>
        <p:nvSpPr>
          <p:cNvPr id="47107" name="Rectangle 3"/>
          <p:cNvSpPr>
            <a:spLocks noChangeArrowheads="1"/>
          </p:cNvSpPr>
          <p:nvPr/>
        </p:nvSpPr>
        <p:spPr bwMode="auto">
          <a:xfrm>
            <a:off x="609600" y="3200400"/>
            <a:ext cx="1828800" cy="914400"/>
          </a:xfrm>
          <a:prstGeom prst="rect">
            <a:avLst/>
          </a:prstGeom>
          <a:noFill/>
          <a:ln w="28575">
            <a:solidFill>
              <a:srgbClr val="FF0000"/>
            </a:solidFill>
            <a:miter lim="800000"/>
            <a:headEnd/>
            <a:tailEnd/>
          </a:ln>
          <a:effectLst/>
        </p:spPr>
        <p:txBody>
          <a:bodyPr wrap="none" anchor="ctr"/>
          <a:lstStyle/>
          <a:p>
            <a:endParaRPr lang="en-US"/>
          </a:p>
        </p:txBody>
      </p:sp>
      <p:sp>
        <p:nvSpPr>
          <p:cNvPr id="47108" name="Text Box 4"/>
          <p:cNvSpPr txBox="1">
            <a:spLocks noChangeArrowheads="1"/>
          </p:cNvSpPr>
          <p:nvPr/>
        </p:nvSpPr>
        <p:spPr bwMode="auto">
          <a:xfrm>
            <a:off x="4960938" y="228600"/>
            <a:ext cx="3233737" cy="701675"/>
          </a:xfrm>
          <a:prstGeom prst="rect">
            <a:avLst/>
          </a:prstGeom>
          <a:noFill/>
          <a:ln w="9525">
            <a:noFill/>
            <a:miter lim="800000"/>
            <a:headEnd/>
            <a:tailEnd/>
          </a:ln>
          <a:effectLst/>
        </p:spPr>
        <p:txBody>
          <a:bodyPr wrap="none">
            <a:spAutoFit/>
          </a:bodyPr>
          <a:lstStyle/>
          <a:p>
            <a:pPr algn="ctr" eaLnBrk="1" hangingPunct="1"/>
            <a:r>
              <a:rPr lang="en-US" sz="2000" i="1">
                <a:solidFill>
                  <a:schemeClr val="accent2"/>
                </a:solidFill>
                <a:latin typeface="Times New Roman" pitchFamily="18" charset="0"/>
                <a:cs typeface="Arial" charset="0"/>
              </a:rPr>
              <a:t>ML</a:t>
            </a:r>
            <a:r>
              <a:rPr lang="en-US" sz="2000" i="1" baseline="-25000">
                <a:solidFill>
                  <a:schemeClr val="accent2"/>
                </a:solidFill>
                <a:latin typeface="Times New Roman" pitchFamily="18" charset="0"/>
                <a:cs typeface="Arial" charset="0"/>
              </a:rPr>
              <a:t>4</a:t>
            </a:r>
            <a:r>
              <a:rPr lang="en-US" sz="2000" i="1">
                <a:solidFill>
                  <a:schemeClr val="accent2"/>
                </a:solidFill>
                <a:latin typeface="Times New Roman" pitchFamily="18" charset="0"/>
                <a:cs typeface="Arial" charset="0"/>
              </a:rPr>
              <a:t> square planar complexes</a:t>
            </a:r>
          </a:p>
          <a:p>
            <a:pPr algn="ctr" eaLnBrk="1" hangingPunct="1"/>
            <a:r>
              <a:rPr lang="en-US" sz="2000" i="1">
                <a:solidFill>
                  <a:schemeClr val="accent2"/>
                </a:solidFill>
                <a:latin typeface="Times New Roman" pitchFamily="18" charset="0"/>
                <a:cs typeface="Arial" charset="0"/>
              </a:rPr>
              <a:t>MO diagram</a:t>
            </a:r>
          </a:p>
        </p:txBody>
      </p:sp>
      <p:sp>
        <p:nvSpPr>
          <p:cNvPr id="47109" name="Text Box 5"/>
          <p:cNvSpPr txBox="1">
            <a:spLocks noChangeArrowheads="1"/>
          </p:cNvSpPr>
          <p:nvPr/>
        </p:nvSpPr>
        <p:spPr bwMode="auto">
          <a:xfrm>
            <a:off x="2232025" y="6248400"/>
            <a:ext cx="1654175" cy="376238"/>
          </a:xfrm>
          <a:prstGeom prst="rect">
            <a:avLst/>
          </a:prstGeom>
          <a:noFill/>
          <a:ln w="9525">
            <a:solidFill>
              <a:schemeClr val="accent2"/>
            </a:solidFill>
            <a:miter lim="800000"/>
            <a:headEnd/>
            <a:tailEnd/>
          </a:ln>
          <a:effectLst/>
        </p:spPr>
        <p:txBody>
          <a:bodyPr>
            <a:spAutoFit/>
          </a:bodyPr>
          <a:lstStyle/>
          <a:p>
            <a:pPr eaLnBrk="1" hangingPunct="1">
              <a:spcBef>
                <a:spcPct val="50000"/>
              </a:spcBef>
            </a:pPr>
            <a:r>
              <a:rPr lang="en-US" sz="1800" i="1">
                <a:solidFill>
                  <a:schemeClr val="accent2"/>
                </a:solidFill>
                <a:latin typeface="Symbol" pitchFamily="18" charset="2"/>
                <a:cs typeface="Arial" charset="0"/>
              </a:rPr>
              <a:t>s</a:t>
            </a:r>
            <a:r>
              <a:rPr lang="en-US" sz="1800" i="1">
                <a:solidFill>
                  <a:schemeClr val="accent2"/>
                </a:solidFill>
                <a:latin typeface="Times New Roman" pitchFamily="18" charset="0"/>
                <a:cs typeface="Arial" charset="0"/>
              </a:rPr>
              <a:t>-only bonding</a:t>
            </a:r>
          </a:p>
        </p:txBody>
      </p:sp>
      <p:grpSp>
        <p:nvGrpSpPr>
          <p:cNvPr id="2" name="Group 6"/>
          <p:cNvGrpSpPr>
            <a:grpSpLocks/>
          </p:cNvGrpSpPr>
          <p:nvPr/>
        </p:nvGrpSpPr>
        <p:grpSpPr bwMode="auto">
          <a:xfrm>
            <a:off x="5929313" y="1143000"/>
            <a:ext cx="1762125" cy="5486400"/>
            <a:chOff x="3735" y="720"/>
            <a:chExt cx="1110" cy="3456"/>
          </a:xfrm>
        </p:grpSpPr>
        <p:pic>
          <p:nvPicPr>
            <p:cNvPr id="47111" name="Picture 7"/>
            <p:cNvPicPr>
              <a:picLocks noChangeAspect="1" noChangeArrowheads="1"/>
            </p:cNvPicPr>
            <p:nvPr/>
          </p:nvPicPr>
          <p:blipFill>
            <a:blip r:embed="rId4"/>
            <a:srcRect/>
            <a:stretch>
              <a:fillRect/>
            </a:stretch>
          </p:blipFill>
          <p:spPr bwMode="auto">
            <a:xfrm>
              <a:off x="3735" y="720"/>
              <a:ext cx="1017" cy="1045"/>
            </a:xfrm>
            <a:prstGeom prst="rect">
              <a:avLst/>
            </a:prstGeom>
            <a:noFill/>
            <a:ln w="9525">
              <a:noFill/>
              <a:miter lim="800000"/>
              <a:headEnd/>
              <a:tailEnd/>
            </a:ln>
            <a:effectLst/>
          </p:spPr>
        </p:pic>
        <p:pic>
          <p:nvPicPr>
            <p:cNvPr id="47112" name="Picture 8"/>
            <p:cNvPicPr>
              <a:picLocks noChangeAspect="1" noChangeArrowheads="1"/>
            </p:cNvPicPr>
            <p:nvPr/>
          </p:nvPicPr>
          <p:blipFill>
            <a:blip r:embed="rId5"/>
            <a:srcRect/>
            <a:stretch>
              <a:fillRect/>
            </a:stretch>
          </p:blipFill>
          <p:spPr bwMode="auto">
            <a:xfrm>
              <a:off x="3840" y="1728"/>
              <a:ext cx="1005" cy="1045"/>
            </a:xfrm>
            <a:prstGeom prst="rect">
              <a:avLst/>
            </a:prstGeom>
            <a:noFill/>
            <a:ln w="9525">
              <a:noFill/>
              <a:miter lim="800000"/>
              <a:headEnd/>
              <a:tailEnd/>
            </a:ln>
            <a:effectLst/>
          </p:spPr>
        </p:pic>
        <p:pic>
          <p:nvPicPr>
            <p:cNvPr id="47113" name="Picture 9"/>
            <p:cNvPicPr>
              <a:picLocks noChangeAspect="1" noChangeArrowheads="1"/>
            </p:cNvPicPr>
            <p:nvPr/>
          </p:nvPicPr>
          <p:blipFill>
            <a:blip r:embed="rId6"/>
            <a:srcRect/>
            <a:stretch>
              <a:fillRect/>
            </a:stretch>
          </p:blipFill>
          <p:spPr bwMode="auto">
            <a:xfrm>
              <a:off x="3744" y="2736"/>
              <a:ext cx="1008" cy="1045"/>
            </a:xfrm>
            <a:prstGeom prst="rect">
              <a:avLst/>
            </a:prstGeom>
            <a:noFill/>
            <a:ln w="9525">
              <a:noFill/>
              <a:miter lim="800000"/>
              <a:headEnd/>
              <a:tailEnd/>
            </a:ln>
            <a:effectLst/>
          </p:spPr>
        </p:pic>
        <p:sp>
          <p:nvSpPr>
            <p:cNvPr id="47114" name="Text Box 10"/>
            <p:cNvSpPr txBox="1">
              <a:spLocks noChangeArrowheads="1"/>
            </p:cNvSpPr>
            <p:nvPr/>
          </p:nvSpPr>
          <p:spPr bwMode="auto">
            <a:xfrm>
              <a:off x="3902" y="3939"/>
              <a:ext cx="850" cy="237"/>
            </a:xfrm>
            <a:prstGeom prst="rect">
              <a:avLst/>
            </a:prstGeom>
            <a:noFill/>
            <a:ln w="9525">
              <a:solidFill>
                <a:schemeClr val="accent2"/>
              </a:solidFill>
              <a:miter lim="800000"/>
              <a:headEnd/>
              <a:tailEnd/>
            </a:ln>
            <a:effectLst/>
          </p:spPr>
          <p:txBody>
            <a:bodyPr>
              <a:spAutoFit/>
            </a:bodyPr>
            <a:lstStyle/>
            <a:p>
              <a:pPr eaLnBrk="1" hangingPunct="1">
                <a:spcBef>
                  <a:spcPct val="50000"/>
                </a:spcBef>
              </a:pPr>
              <a:r>
                <a:rPr lang="en-US" sz="1800" i="1">
                  <a:solidFill>
                    <a:schemeClr val="accent2"/>
                  </a:solidFill>
                  <a:latin typeface="Symbol" pitchFamily="18" charset="2"/>
                  <a:cs typeface="Arial" charset="0"/>
                </a:rPr>
                <a:t>π</a:t>
              </a:r>
              <a:r>
                <a:rPr lang="en-US" sz="1800" i="1">
                  <a:solidFill>
                    <a:schemeClr val="accent2"/>
                  </a:solidFill>
                  <a:latin typeface="Times New Roman" pitchFamily="18" charset="0"/>
                  <a:cs typeface="Arial" charset="0"/>
                </a:rPr>
                <a:t>- bonding</a:t>
              </a:r>
            </a:p>
          </p:txBody>
        </p:sp>
      </p:grpSp>
    </p:spTree>
    <p:extLst>
      <p:ext uri="{BB962C8B-B14F-4D97-AF65-F5344CB8AC3E}">
        <p14:creationId xmlns:p14="http://schemas.microsoft.com/office/powerpoint/2010/main" val="791673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3"/>
          <a:srcRect/>
          <a:stretch>
            <a:fillRect/>
          </a:stretch>
        </p:blipFill>
        <p:spPr bwMode="auto">
          <a:xfrm>
            <a:off x="4419600" y="1905000"/>
            <a:ext cx="4068763" cy="3081338"/>
          </a:xfrm>
          <a:prstGeom prst="rect">
            <a:avLst/>
          </a:prstGeom>
          <a:noFill/>
          <a:ln w="9525">
            <a:noFill/>
            <a:miter lim="800000"/>
            <a:headEnd/>
            <a:tailEnd/>
          </a:ln>
          <a:effectLst/>
        </p:spPr>
      </p:pic>
      <p:sp>
        <p:nvSpPr>
          <p:cNvPr id="48131" name="Text Box 3"/>
          <p:cNvSpPr txBox="1">
            <a:spLocks noChangeArrowheads="1"/>
          </p:cNvSpPr>
          <p:nvPr/>
        </p:nvSpPr>
        <p:spPr bwMode="auto">
          <a:xfrm>
            <a:off x="1295400" y="533400"/>
            <a:ext cx="6916738"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A crystal-field aproach: from octahedral to tetrahedral</a:t>
            </a:r>
          </a:p>
        </p:txBody>
      </p:sp>
      <p:pic>
        <p:nvPicPr>
          <p:cNvPr id="48132" name="Picture 4"/>
          <p:cNvPicPr>
            <a:picLocks noChangeAspect="1" noChangeArrowheads="1"/>
          </p:cNvPicPr>
          <p:nvPr/>
        </p:nvPicPr>
        <p:blipFill>
          <a:blip r:embed="rId4"/>
          <a:srcRect/>
          <a:stretch>
            <a:fillRect/>
          </a:stretch>
        </p:blipFill>
        <p:spPr bwMode="auto">
          <a:xfrm>
            <a:off x="381000" y="1898650"/>
            <a:ext cx="3886200" cy="3060700"/>
          </a:xfrm>
          <a:prstGeom prst="rect">
            <a:avLst/>
          </a:prstGeom>
          <a:noFill/>
          <a:ln w="9525">
            <a:noFill/>
            <a:miter lim="800000"/>
            <a:headEnd/>
            <a:tailEnd/>
          </a:ln>
          <a:effectLst/>
        </p:spPr>
      </p:pic>
      <p:sp>
        <p:nvSpPr>
          <p:cNvPr id="48133" name="Oval 5"/>
          <p:cNvSpPr>
            <a:spLocks noChangeArrowheads="1"/>
          </p:cNvSpPr>
          <p:nvPr/>
        </p:nvSpPr>
        <p:spPr bwMode="auto">
          <a:xfrm>
            <a:off x="7086600" y="2209800"/>
            <a:ext cx="1066800" cy="457200"/>
          </a:xfrm>
          <a:prstGeom prst="ellipse">
            <a:avLst/>
          </a:prstGeom>
          <a:noFill/>
          <a:ln w="9525">
            <a:solidFill>
              <a:srgbClr val="FF0000"/>
            </a:solidFill>
            <a:round/>
            <a:headEnd/>
            <a:tailEnd/>
          </a:ln>
          <a:effectLst/>
        </p:spPr>
        <p:txBody>
          <a:bodyPr wrap="none" anchor="ctr"/>
          <a:lstStyle/>
          <a:p>
            <a:endParaRPr lang="en-US"/>
          </a:p>
        </p:txBody>
      </p:sp>
      <p:sp>
        <p:nvSpPr>
          <p:cNvPr id="48134" name="Oval 6"/>
          <p:cNvSpPr>
            <a:spLocks noChangeArrowheads="1"/>
          </p:cNvSpPr>
          <p:nvPr/>
        </p:nvSpPr>
        <p:spPr bwMode="auto">
          <a:xfrm>
            <a:off x="7086600" y="4191000"/>
            <a:ext cx="1066800" cy="457200"/>
          </a:xfrm>
          <a:prstGeom prst="ellipse">
            <a:avLst/>
          </a:prstGeom>
          <a:noFill/>
          <a:ln w="9525">
            <a:solidFill>
              <a:srgbClr val="FF0000"/>
            </a:solidFill>
            <a:round/>
            <a:headEnd/>
            <a:tailEnd/>
          </a:ln>
          <a:effectLst/>
        </p:spPr>
        <p:txBody>
          <a:bodyPr wrap="none" anchor="ctr"/>
          <a:lstStyle/>
          <a:p>
            <a:endParaRPr lang="en-US"/>
          </a:p>
        </p:txBody>
      </p:sp>
      <p:sp>
        <p:nvSpPr>
          <p:cNvPr id="48135" name="Text Box 7"/>
          <p:cNvSpPr txBox="1">
            <a:spLocks noChangeArrowheads="1"/>
          </p:cNvSpPr>
          <p:nvPr/>
        </p:nvSpPr>
        <p:spPr bwMode="auto">
          <a:xfrm>
            <a:off x="5470525" y="5522913"/>
            <a:ext cx="3321050" cy="641350"/>
          </a:xfrm>
          <a:prstGeom prst="rect">
            <a:avLst/>
          </a:prstGeom>
          <a:noFill/>
          <a:ln w="9525">
            <a:noFill/>
            <a:miter lim="800000"/>
            <a:headEnd/>
            <a:tailEnd/>
          </a:ln>
          <a:effectLst/>
        </p:spPr>
        <p:txBody>
          <a:bodyPr wrap="none">
            <a:spAutoFit/>
          </a:bodyPr>
          <a:lstStyle/>
          <a:p>
            <a:pPr algn="ctr" eaLnBrk="1" hangingPunct="1"/>
            <a:r>
              <a:rPr lang="en-US" sz="1800">
                <a:solidFill>
                  <a:srgbClr val="FF0000"/>
                </a:solidFill>
                <a:latin typeface="Arial" charset="0"/>
                <a:cs typeface="Arial" charset="0"/>
              </a:rPr>
              <a:t>Less repulsions along the axes</a:t>
            </a:r>
          </a:p>
          <a:p>
            <a:pPr algn="ctr" eaLnBrk="1" hangingPunct="1"/>
            <a:r>
              <a:rPr lang="en-US" sz="1800">
                <a:solidFill>
                  <a:srgbClr val="FF0000"/>
                </a:solidFill>
                <a:latin typeface="Arial" charset="0"/>
                <a:cs typeface="Arial" charset="0"/>
              </a:rPr>
              <a:t>where ligands are missing</a:t>
            </a:r>
          </a:p>
        </p:txBody>
      </p:sp>
    </p:spTree>
    <p:extLst>
      <p:ext uri="{BB962C8B-B14F-4D97-AF65-F5344CB8AC3E}">
        <p14:creationId xmlns:p14="http://schemas.microsoft.com/office/powerpoint/2010/main" val="405991731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3"/>
          <a:srcRect/>
          <a:stretch>
            <a:fillRect/>
          </a:stretch>
        </p:blipFill>
        <p:spPr bwMode="auto">
          <a:xfrm>
            <a:off x="533400" y="1965325"/>
            <a:ext cx="4068763" cy="3081338"/>
          </a:xfrm>
          <a:prstGeom prst="rect">
            <a:avLst/>
          </a:prstGeom>
          <a:noFill/>
          <a:ln w="9525">
            <a:noFill/>
            <a:miter lim="800000"/>
            <a:headEnd/>
            <a:tailEnd/>
          </a:ln>
          <a:effectLst/>
        </p:spPr>
      </p:pic>
      <p:sp>
        <p:nvSpPr>
          <p:cNvPr id="49155" name="Text Box 3"/>
          <p:cNvSpPr txBox="1">
            <a:spLocks noChangeArrowheads="1"/>
          </p:cNvSpPr>
          <p:nvPr/>
        </p:nvSpPr>
        <p:spPr bwMode="auto">
          <a:xfrm>
            <a:off x="1295400" y="533400"/>
            <a:ext cx="6916738"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A crystal-field aproach: from octahedral to tetrahedral</a:t>
            </a:r>
          </a:p>
        </p:txBody>
      </p:sp>
      <p:grpSp>
        <p:nvGrpSpPr>
          <p:cNvPr id="2" name="Group 4"/>
          <p:cNvGrpSpPr>
            <a:grpSpLocks/>
          </p:cNvGrpSpPr>
          <p:nvPr/>
        </p:nvGrpSpPr>
        <p:grpSpPr bwMode="auto">
          <a:xfrm>
            <a:off x="4648200" y="1752600"/>
            <a:ext cx="4000500" cy="4259263"/>
            <a:chOff x="2928" y="1104"/>
            <a:chExt cx="2520" cy="2683"/>
          </a:xfrm>
        </p:grpSpPr>
        <p:pic>
          <p:nvPicPr>
            <p:cNvPr id="49157" name="Picture 5"/>
            <p:cNvPicPr>
              <a:picLocks noChangeAspect="1" noChangeArrowheads="1"/>
            </p:cNvPicPr>
            <p:nvPr/>
          </p:nvPicPr>
          <p:blipFill>
            <a:blip r:embed="rId4"/>
            <a:srcRect/>
            <a:stretch>
              <a:fillRect/>
            </a:stretch>
          </p:blipFill>
          <p:spPr bwMode="auto">
            <a:xfrm>
              <a:off x="2928" y="1104"/>
              <a:ext cx="2520" cy="1941"/>
            </a:xfrm>
            <a:prstGeom prst="rect">
              <a:avLst/>
            </a:prstGeom>
            <a:noFill/>
            <a:ln w="9525">
              <a:noFill/>
              <a:miter lim="800000"/>
              <a:headEnd/>
              <a:tailEnd/>
            </a:ln>
            <a:effectLst/>
          </p:spPr>
        </p:pic>
        <p:sp>
          <p:nvSpPr>
            <p:cNvPr id="49158" name="Text Box 6"/>
            <p:cNvSpPr txBox="1">
              <a:spLocks noChangeArrowheads="1"/>
            </p:cNvSpPr>
            <p:nvPr/>
          </p:nvSpPr>
          <p:spPr bwMode="auto">
            <a:xfrm>
              <a:off x="3732" y="3383"/>
              <a:ext cx="1644" cy="404"/>
            </a:xfrm>
            <a:prstGeom prst="rect">
              <a:avLst/>
            </a:prstGeom>
            <a:noFill/>
            <a:ln w="9525">
              <a:noFill/>
              <a:miter lim="800000"/>
              <a:headEnd/>
              <a:tailEnd/>
            </a:ln>
            <a:effectLst/>
          </p:spPr>
          <p:txBody>
            <a:bodyPr wrap="none">
              <a:spAutoFit/>
            </a:bodyPr>
            <a:lstStyle/>
            <a:p>
              <a:pPr algn="ctr" eaLnBrk="1" hangingPunct="1"/>
              <a:r>
                <a:rPr lang="en-US" sz="1800">
                  <a:solidFill>
                    <a:srgbClr val="FF0000"/>
                  </a:solidFill>
                  <a:latin typeface="Arial" charset="0"/>
                  <a:cs typeface="Arial" charset="0"/>
                </a:rPr>
                <a:t>A correction to preserve</a:t>
              </a:r>
            </a:p>
            <a:p>
              <a:pPr algn="ctr" eaLnBrk="1" hangingPunct="1"/>
              <a:r>
                <a:rPr lang="en-US" sz="1800">
                  <a:solidFill>
                    <a:srgbClr val="FF0000"/>
                  </a:solidFill>
                  <a:latin typeface="Arial" charset="0"/>
                  <a:cs typeface="Arial" charset="0"/>
                </a:rPr>
                <a:t>center of gravity</a:t>
              </a:r>
            </a:p>
          </p:txBody>
        </p:sp>
      </p:grpSp>
    </p:spTree>
    <p:extLst>
      <p:ext uri="{BB962C8B-B14F-4D97-AF65-F5344CB8AC3E}">
        <p14:creationId xmlns:p14="http://schemas.microsoft.com/office/powerpoint/2010/main" val="332516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819400" y="381000"/>
            <a:ext cx="3775075" cy="579438"/>
          </a:xfrm>
          <a:prstGeom prst="rect">
            <a:avLst/>
          </a:prstGeom>
          <a:noFill/>
          <a:ln w="9525">
            <a:noFill/>
            <a:miter lim="800000"/>
            <a:headEnd/>
            <a:tailEnd/>
          </a:ln>
          <a:effectLst/>
        </p:spPr>
        <p:txBody>
          <a:bodyPr wrap="none">
            <a:spAutoFit/>
          </a:bodyPr>
          <a:lstStyle/>
          <a:p>
            <a:pPr eaLnBrk="1" hangingPunct="1"/>
            <a:r>
              <a:rPr lang="en-US" sz="3200" i="1">
                <a:solidFill>
                  <a:schemeClr val="accent2"/>
                </a:solidFill>
                <a:latin typeface="Times New Roman" pitchFamily="18" charset="0"/>
                <a:cs typeface="Arial" charset="0"/>
              </a:rPr>
              <a:t>The Jahn-Teller effect</a:t>
            </a:r>
          </a:p>
        </p:txBody>
      </p:sp>
      <p:sp>
        <p:nvSpPr>
          <p:cNvPr id="50179" name="Text Box 3"/>
          <p:cNvSpPr txBox="1">
            <a:spLocks noChangeArrowheads="1"/>
          </p:cNvSpPr>
          <p:nvPr/>
        </p:nvSpPr>
        <p:spPr bwMode="auto">
          <a:xfrm>
            <a:off x="39688" y="2149475"/>
            <a:ext cx="8961437" cy="822325"/>
          </a:xfrm>
          <a:prstGeom prst="rect">
            <a:avLst/>
          </a:prstGeom>
          <a:noFill/>
          <a:ln w="9525">
            <a:noFill/>
            <a:miter lim="800000"/>
            <a:headEnd/>
            <a:tailEnd/>
          </a:ln>
          <a:effectLst/>
        </p:spPr>
        <p:txBody>
          <a:bodyPr wrap="none">
            <a:spAutoFit/>
          </a:bodyPr>
          <a:lstStyle/>
          <a:p>
            <a:pPr algn="ctr" eaLnBrk="1" hangingPunct="1"/>
            <a:r>
              <a:rPr lang="en-US" i="1">
                <a:latin typeface="Times New Roman" pitchFamily="18" charset="0"/>
                <a:cs typeface="Arial" charset="0"/>
              </a:rPr>
              <a:t>Jahn-Teller theorem:</a:t>
            </a:r>
          </a:p>
          <a:p>
            <a:pPr algn="ctr" eaLnBrk="1" hangingPunct="1"/>
            <a:r>
              <a:rPr lang="en-US" i="1">
                <a:latin typeface="Times New Roman" pitchFamily="18" charset="0"/>
                <a:cs typeface="Arial" charset="0"/>
              </a:rPr>
              <a:t> “there cannot be unequal occupation of orbitals with identical energy”</a:t>
            </a:r>
          </a:p>
        </p:txBody>
      </p:sp>
      <p:sp>
        <p:nvSpPr>
          <p:cNvPr id="50180" name="Text Box 4"/>
          <p:cNvSpPr txBox="1">
            <a:spLocks noChangeArrowheads="1"/>
          </p:cNvSpPr>
          <p:nvPr/>
        </p:nvSpPr>
        <p:spPr bwMode="auto">
          <a:xfrm>
            <a:off x="1219200" y="3810000"/>
            <a:ext cx="6286500" cy="457200"/>
          </a:xfrm>
          <a:prstGeom prst="rect">
            <a:avLst/>
          </a:prstGeom>
          <a:noFill/>
          <a:ln w="9525">
            <a:noFill/>
            <a:miter lim="800000"/>
            <a:headEnd/>
            <a:tailEnd/>
          </a:ln>
          <a:effectLst/>
        </p:spPr>
        <p:txBody>
          <a:bodyPr wrap="none">
            <a:spAutoFit/>
          </a:bodyPr>
          <a:lstStyle/>
          <a:p>
            <a:pPr eaLnBrk="1" hangingPunct="1"/>
            <a:r>
              <a:rPr lang="en-US" i="1">
                <a:latin typeface="Times New Roman" pitchFamily="18" charset="0"/>
                <a:cs typeface="Arial" charset="0"/>
              </a:rPr>
              <a:t>Molecules will distort to eliminate the degeneracy</a:t>
            </a:r>
          </a:p>
        </p:txBody>
      </p:sp>
    </p:spTree>
    <p:extLst>
      <p:ext uri="{BB962C8B-B14F-4D97-AF65-F5344CB8AC3E}">
        <p14:creationId xmlns:p14="http://schemas.microsoft.com/office/powerpoint/2010/main" val="392230042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3"/>
          <a:srcRect/>
          <a:stretch>
            <a:fillRect/>
          </a:stretch>
        </p:blipFill>
        <p:spPr bwMode="auto">
          <a:xfrm>
            <a:off x="0" y="4492625"/>
            <a:ext cx="9144000" cy="2060575"/>
          </a:xfrm>
          <a:prstGeom prst="rect">
            <a:avLst/>
          </a:prstGeom>
          <a:noFill/>
          <a:ln w="9525">
            <a:noFill/>
            <a:miter lim="800000"/>
            <a:headEnd/>
            <a:tailEnd/>
          </a:ln>
          <a:effectLst/>
        </p:spPr>
      </p:pic>
      <p:pic>
        <p:nvPicPr>
          <p:cNvPr id="51203" name="Picture 3"/>
          <p:cNvPicPr>
            <a:picLocks noChangeAspect="1" noChangeArrowheads="1"/>
          </p:cNvPicPr>
          <p:nvPr/>
        </p:nvPicPr>
        <p:blipFill>
          <a:blip r:embed="rId4"/>
          <a:srcRect/>
          <a:stretch>
            <a:fillRect/>
          </a:stretch>
        </p:blipFill>
        <p:spPr bwMode="auto">
          <a:xfrm>
            <a:off x="1219200" y="609600"/>
            <a:ext cx="7162800" cy="3684588"/>
          </a:xfrm>
          <a:prstGeom prst="rect">
            <a:avLst/>
          </a:prstGeom>
          <a:noFill/>
          <a:ln w="9525">
            <a:noFill/>
            <a:miter lim="800000"/>
            <a:headEnd/>
            <a:tailEnd/>
          </a:ln>
          <a:effectLst/>
        </p:spPr>
      </p:pic>
      <p:sp>
        <p:nvSpPr>
          <p:cNvPr id="51204" name="Oval 4"/>
          <p:cNvSpPr>
            <a:spLocks noChangeArrowheads="1"/>
          </p:cNvSpPr>
          <p:nvPr/>
        </p:nvSpPr>
        <p:spPr bwMode="auto">
          <a:xfrm>
            <a:off x="1143000" y="2971800"/>
            <a:ext cx="1219200" cy="533400"/>
          </a:xfrm>
          <a:prstGeom prst="ellipse">
            <a:avLst/>
          </a:prstGeom>
          <a:noFill/>
          <a:ln w="9525">
            <a:solidFill>
              <a:srgbClr val="FF0000"/>
            </a:solidFill>
            <a:round/>
            <a:headEnd/>
            <a:tailEnd/>
          </a:ln>
          <a:effectLst/>
        </p:spPr>
        <p:txBody>
          <a:bodyPr wrap="none" anchor="ctr"/>
          <a:lstStyle/>
          <a:p>
            <a:endParaRPr lang="en-US"/>
          </a:p>
        </p:txBody>
      </p:sp>
      <p:sp>
        <p:nvSpPr>
          <p:cNvPr id="51205" name="Oval 5"/>
          <p:cNvSpPr>
            <a:spLocks noChangeArrowheads="1"/>
          </p:cNvSpPr>
          <p:nvPr/>
        </p:nvSpPr>
        <p:spPr bwMode="auto">
          <a:xfrm>
            <a:off x="4419600" y="5029200"/>
            <a:ext cx="304800" cy="304800"/>
          </a:xfrm>
          <a:prstGeom prst="ellipse">
            <a:avLst/>
          </a:prstGeom>
          <a:noFill/>
          <a:ln w="9525">
            <a:solidFill>
              <a:srgbClr val="FF0000"/>
            </a:solidFill>
            <a:round/>
            <a:headEnd/>
            <a:tailEnd/>
          </a:ln>
          <a:effectLst/>
        </p:spPr>
        <p:txBody>
          <a:bodyPr wrap="none" anchor="ctr"/>
          <a:lstStyle/>
          <a:p>
            <a:endParaRPr lang="en-US"/>
          </a:p>
        </p:txBody>
      </p:sp>
      <p:sp>
        <p:nvSpPr>
          <p:cNvPr id="51206" name="Oval 6"/>
          <p:cNvSpPr>
            <a:spLocks noChangeArrowheads="1"/>
          </p:cNvSpPr>
          <p:nvPr/>
        </p:nvSpPr>
        <p:spPr bwMode="auto">
          <a:xfrm>
            <a:off x="6248400" y="5334000"/>
            <a:ext cx="304800" cy="304800"/>
          </a:xfrm>
          <a:prstGeom prst="ellipse">
            <a:avLst/>
          </a:prstGeom>
          <a:noFill/>
          <a:ln w="9525">
            <a:solidFill>
              <a:srgbClr val="FF0000"/>
            </a:solidFill>
            <a:round/>
            <a:headEnd/>
            <a:tailEnd/>
          </a:ln>
          <a:effectLst/>
        </p:spPr>
        <p:txBody>
          <a:bodyPr wrap="none" anchor="ctr"/>
          <a:lstStyle/>
          <a:p>
            <a:endParaRPr lang="en-US"/>
          </a:p>
        </p:txBody>
      </p:sp>
      <p:sp>
        <p:nvSpPr>
          <p:cNvPr id="51207" name="Oval 7"/>
          <p:cNvSpPr>
            <a:spLocks noChangeArrowheads="1"/>
          </p:cNvSpPr>
          <p:nvPr/>
        </p:nvSpPr>
        <p:spPr bwMode="auto">
          <a:xfrm>
            <a:off x="7467600" y="5029200"/>
            <a:ext cx="304800" cy="304800"/>
          </a:xfrm>
          <a:prstGeom prst="ellipse">
            <a:avLst/>
          </a:prstGeom>
          <a:noFill/>
          <a:ln w="9525">
            <a:solidFill>
              <a:srgbClr val="FF0000"/>
            </a:solidFill>
            <a:round/>
            <a:headEnd/>
            <a:tailEnd/>
          </a:ln>
          <a:effectLst/>
        </p:spPr>
        <p:txBody>
          <a:bodyPr wrap="none" anchor="ctr"/>
          <a:lstStyle/>
          <a:p>
            <a:endParaRPr lang="en-US"/>
          </a:p>
        </p:txBody>
      </p:sp>
      <p:sp>
        <p:nvSpPr>
          <p:cNvPr id="51208" name="Oval 8"/>
          <p:cNvSpPr>
            <a:spLocks noChangeArrowheads="1"/>
          </p:cNvSpPr>
          <p:nvPr/>
        </p:nvSpPr>
        <p:spPr bwMode="auto">
          <a:xfrm>
            <a:off x="7467600" y="5334000"/>
            <a:ext cx="304800" cy="304800"/>
          </a:xfrm>
          <a:prstGeom prst="ellipse">
            <a:avLst/>
          </a:prstGeom>
          <a:noFill/>
          <a:ln w="9525">
            <a:solidFill>
              <a:srgbClr val="FF0000"/>
            </a:solidFill>
            <a:round/>
            <a:headEnd/>
            <a:tailEnd/>
          </a:ln>
          <a:effectLst/>
        </p:spPr>
        <p:txBody>
          <a:bodyPr wrap="none" anchor="ctr"/>
          <a:lstStyle/>
          <a:p>
            <a:endParaRPr lang="en-US"/>
          </a:p>
        </p:txBody>
      </p:sp>
    </p:spTree>
    <p:extLst>
      <p:ext uri="{BB962C8B-B14F-4D97-AF65-F5344CB8AC3E}">
        <p14:creationId xmlns:p14="http://schemas.microsoft.com/office/powerpoint/2010/main" val="323669474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a:t>Angular Overlap Method</a:t>
            </a:r>
          </a:p>
        </p:txBody>
      </p:sp>
      <p:sp>
        <p:nvSpPr>
          <p:cNvPr id="99332" name="Text Box 4"/>
          <p:cNvSpPr txBox="1">
            <a:spLocks noChangeArrowheads="1"/>
          </p:cNvSpPr>
          <p:nvPr/>
        </p:nvSpPr>
        <p:spPr bwMode="auto">
          <a:xfrm>
            <a:off x="685800" y="2125663"/>
            <a:ext cx="7924800" cy="457200"/>
          </a:xfrm>
          <a:prstGeom prst="rect">
            <a:avLst/>
          </a:prstGeom>
          <a:noFill/>
          <a:ln w="9525">
            <a:noFill/>
            <a:miter lim="800000"/>
            <a:headEnd/>
            <a:tailEnd/>
          </a:ln>
          <a:effectLst/>
        </p:spPr>
        <p:txBody>
          <a:bodyPr>
            <a:spAutoFit/>
          </a:bodyPr>
          <a:lstStyle/>
          <a:p>
            <a:pPr>
              <a:spcBef>
                <a:spcPct val="50000"/>
              </a:spcBef>
            </a:pPr>
            <a:r>
              <a:rPr lang="en-US"/>
              <a:t>An attempt to systematize the interactions for all geometries.</a:t>
            </a:r>
          </a:p>
        </p:txBody>
      </p:sp>
      <p:graphicFrame>
        <p:nvGraphicFramePr>
          <p:cNvPr id="99333" name="Object 5"/>
          <p:cNvGraphicFramePr>
            <a:graphicFrameLocks noChangeAspect="1"/>
          </p:cNvGraphicFramePr>
          <p:nvPr/>
        </p:nvGraphicFramePr>
        <p:xfrm>
          <a:off x="2768600" y="2933700"/>
          <a:ext cx="3606800" cy="990600"/>
        </p:xfrm>
        <a:graphic>
          <a:graphicData uri="http://schemas.openxmlformats.org/presentationml/2006/ole">
            <mc:AlternateContent xmlns:mc="http://schemas.openxmlformats.org/markup-compatibility/2006">
              <mc:Choice xmlns:v="urn:schemas-microsoft-com:vml" Requires="v">
                <p:oleObj spid="_x0000_s13315" name="CS ChemDraw Drawing" r:id="rId4" imgW="3606737" imgH="990600" progId="ChemDraw.Document.6.0">
                  <p:embed/>
                </p:oleObj>
              </mc:Choice>
              <mc:Fallback>
                <p:oleObj name="CS ChemDraw Drawing" r:id="rId4" imgW="3606737" imgH="990600" progId="ChemDraw.Document.6.0">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8600" y="2933700"/>
                        <a:ext cx="36068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334" name="Text Box 6"/>
          <p:cNvSpPr txBox="1">
            <a:spLocks noChangeArrowheads="1"/>
          </p:cNvSpPr>
          <p:nvPr/>
        </p:nvSpPr>
        <p:spPr bwMode="auto">
          <a:xfrm>
            <a:off x="685800" y="3962400"/>
            <a:ext cx="7924800" cy="822325"/>
          </a:xfrm>
          <a:prstGeom prst="rect">
            <a:avLst/>
          </a:prstGeom>
          <a:noFill/>
          <a:ln w="9525">
            <a:noFill/>
            <a:miter lim="800000"/>
            <a:headEnd/>
            <a:tailEnd/>
          </a:ln>
          <a:effectLst/>
        </p:spPr>
        <p:txBody>
          <a:bodyPr>
            <a:spAutoFit/>
          </a:bodyPr>
          <a:lstStyle/>
          <a:p>
            <a:pPr>
              <a:spcBef>
                <a:spcPct val="50000"/>
              </a:spcBef>
            </a:pPr>
            <a:r>
              <a:rPr lang="en-US"/>
              <a:t>The various complexes may be fashioned out of the ligands above</a:t>
            </a:r>
          </a:p>
        </p:txBody>
      </p:sp>
      <p:sp>
        <p:nvSpPr>
          <p:cNvPr id="99336" name="Text Box 8"/>
          <p:cNvSpPr txBox="1">
            <a:spLocks noChangeArrowheads="1"/>
          </p:cNvSpPr>
          <p:nvPr/>
        </p:nvSpPr>
        <p:spPr bwMode="auto">
          <a:xfrm>
            <a:off x="228600" y="4953000"/>
            <a:ext cx="2362200" cy="1311275"/>
          </a:xfrm>
          <a:prstGeom prst="rect">
            <a:avLst/>
          </a:prstGeom>
          <a:noFill/>
          <a:ln w="9525">
            <a:noFill/>
            <a:miter lim="800000"/>
            <a:headEnd/>
            <a:tailEnd/>
          </a:ln>
          <a:effectLst/>
        </p:spPr>
        <p:txBody>
          <a:bodyPr>
            <a:spAutoFit/>
          </a:bodyPr>
          <a:lstStyle/>
          <a:p>
            <a:pPr>
              <a:spcBef>
                <a:spcPct val="50000"/>
              </a:spcBef>
            </a:pPr>
            <a:r>
              <a:rPr lang="en-US" sz="2000"/>
              <a:t>Linear: 1,6</a:t>
            </a:r>
          </a:p>
          <a:p>
            <a:pPr>
              <a:spcBef>
                <a:spcPct val="50000"/>
              </a:spcBef>
            </a:pPr>
            <a:r>
              <a:rPr lang="en-US" sz="2000"/>
              <a:t>Trigonal: 2,11,12</a:t>
            </a:r>
          </a:p>
          <a:p>
            <a:pPr>
              <a:spcBef>
                <a:spcPct val="50000"/>
              </a:spcBef>
            </a:pPr>
            <a:r>
              <a:rPr lang="en-US" sz="2000"/>
              <a:t>T-shape: 1,3,5</a:t>
            </a:r>
          </a:p>
        </p:txBody>
      </p:sp>
      <p:sp>
        <p:nvSpPr>
          <p:cNvPr id="99337" name="Text Box 9"/>
          <p:cNvSpPr txBox="1">
            <a:spLocks noChangeArrowheads="1"/>
          </p:cNvSpPr>
          <p:nvPr/>
        </p:nvSpPr>
        <p:spPr bwMode="auto">
          <a:xfrm>
            <a:off x="2133600" y="4999038"/>
            <a:ext cx="4343400" cy="1858962"/>
          </a:xfrm>
          <a:prstGeom prst="rect">
            <a:avLst/>
          </a:prstGeom>
          <a:noFill/>
          <a:ln w="9525">
            <a:noFill/>
            <a:miter lim="800000"/>
            <a:headEnd/>
            <a:tailEnd/>
          </a:ln>
          <a:effectLst/>
        </p:spPr>
        <p:txBody>
          <a:bodyPr>
            <a:spAutoFit/>
          </a:bodyPr>
          <a:lstStyle/>
          <a:p>
            <a:pPr>
              <a:spcBef>
                <a:spcPct val="50000"/>
              </a:spcBef>
            </a:pPr>
            <a:r>
              <a:rPr lang="en-US" sz="2000"/>
              <a:t>Tetrahedral: 7,8,9,10</a:t>
            </a:r>
          </a:p>
          <a:p>
            <a:pPr>
              <a:spcBef>
                <a:spcPct val="50000"/>
              </a:spcBef>
            </a:pPr>
            <a:r>
              <a:rPr lang="en-US" sz="2000"/>
              <a:t>Square planar: 2,3,4,5</a:t>
            </a:r>
          </a:p>
          <a:p>
            <a:pPr>
              <a:spcBef>
                <a:spcPct val="50000"/>
              </a:spcBef>
            </a:pPr>
            <a:r>
              <a:rPr lang="en-US" sz="2000"/>
              <a:t>Trigonal bipyramid: 1,2,6,11,12</a:t>
            </a:r>
          </a:p>
          <a:p>
            <a:pPr>
              <a:spcBef>
                <a:spcPct val="50000"/>
              </a:spcBef>
            </a:pPr>
            <a:endParaRPr lang="en-US"/>
          </a:p>
        </p:txBody>
      </p:sp>
      <p:sp>
        <p:nvSpPr>
          <p:cNvPr id="99338" name="Text Box 10"/>
          <p:cNvSpPr txBox="1">
            <a:spLocks noChangeArrowheads="1"/>
          </p:cNvSpPr>
          <p:nvPr/>
        </p:nvSpPr>
        <p:spPr bwMode="auto">
          <a:xfrm>
            <a:off x="5638800" y="4953000"/>
            <a:ext cx="3352800" cy="854075"/>
          </a:xfrm>
          <a:prstGeom prst="rect">
            <a:avLst/>
          </a:prstGeom>
          <a:noFill/>
          <a:ln w="9525">
            <a:noFill/>
            <a:miter lim="800000"/>
            <a:headEnd/>
            <a:tailEnd/>
          </a:ln>
          <a:effectLst/>
        </p:spPr>
        <p:txBody>
          <a:bodyPr>
            <a:spAutoFit/>
          </a:bodyPr>
          <a:lstStyle/>
          <a:p>
            <a:pPr>
              <a:spcBef>
                <a:spcPct val="50000"/>
              </a:spcBef>
            </a:pPr>
            <a:r>
              <a:rPr lang="en-US" sz="2000"/>
              <a:t>Square pyramid: 1,2,3,4,5</a:t>
            </a:r>
          </a:p>
          <a:p>
            <a:pPr>
              <a:spcBef>
                <a:spcPct val="50000"/>
              </a:spcBef>
            </a:pPr>
            <a:r>
              <a:rPr lang="en-US" sz="2000"/>
              <a:t>Octahedral: 1,2,3,4,5,6</a:t>
            </a:r>
          </a:p>
        </p:txBody>
      </p:sp>
    </p:spTree>
    <p:extLst>
      <p:ext uri="{BB962C8B-B14F-4D97-AF65-F5344CB8AC3E}">
        <p14:creationId xmlns:p14="http://schemas.microsoft.com/office/powerpoint/2010/main" val="179327839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t>Cont’d</a:t>
            </a:r>
          </a:p>
        </p:txBody>
      </p:sp>
      <p:sp>
        <p:nvSpPr>
          <p:cNvPr id="101380" name="Text Box 4"/>
          <p:cNvSpPr txBox="1">
            <a:spLocks noChangeArrowheads="1"/>
          </p:cNvSpPr>
          <p:nvPr/>
        </p:nvSpPr>
        <p:spPr bwMode="auto">
          <a:xfrm>
            <a:off x="762000" y="1600200"/>
            <a:ext cx="7848600" cy="4108450"/>
          </a:xfrm>
          <a:prstGeom prst="rect">
            <a:avLst/>
          </a:prstGeom>
          <a:noFill/>
          <a:ln w="9525">
            <a:noFill/>
            <a:miter lim="800000"/>
            <a:headEnd/>
            <a:tailEnd/>
          </a:ln>
          <a:effectLst/>
        </p:spPr>
        <p:txBody>
          <a:bodyPr>
            <a:spAutoFit/>
          </a:bodyPr>
          <a:lstStyle/>
          <a:p>
            <a:pPr>
              <a:spcBef>
                <a:spcPct val="50000"/>
              </a:spcBef>
            </a:pPr>
            <a:r>
              <a:rPr lang="en-US"/>
              <a:t>All </a:t>
            </a:r>
            <a:r>
              <a:rPr lang="en-US">
                <a:latin typeface="Symbol" pitchFamily="18" charset="2"/>
              </a:rPr>
              <a:t>s</a:t>
            </a:r>
            <a:r>
              <a:rPr lang="en-US"/>
              <a:t> interactions with the ligands are stabilizing to the ligands and destabilizing to the d orbitals.  The interaction of a ligand with a d orbital depends on their  orientation with respect to each other, estimated by their overlap which can be calculated.</a:t>
            </a:r>
          </a:p>
          <a:p>
            <a:pPr>
              <a:spcBef>
                <a:spcPct val="50000"/>
              </a:spcBef>
            </a:pPr>
            <a:r>
              <a:rPr lang="en-US"/>
              <a:t>The total destabilization of a d orbital comes from all the interactions with the set of ligands.</a:t>
            </a:r>
          </a:p>
          <a:p>
            <a:pPr>
              <a:spcBef>
                <a:spcPct val="50000"/>
              </a:spcBef>
            </a:pPr>
            <a:r>
              <a:rPr lang="en-US"/>
              <a:t>For any particular complex geometry we can obtain the overlaps of a particular d orbital with all the various ligands and thus the destabilization.</a:t>
            </a:r>
          </a:p>
        </p:txBody>
      </p:sp>
    </p:spTree>
    <p:extLst>
      <p:ext uri="{BB962C8B-B14F-4D97-AF65-F5344CB8AC3E}">
        <p14:creationId xmlns:p14="http://schemas.microsoft.com/office/powerpoint/2010/main" val="305271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8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38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537" name="Group 113"/>
          <p:cNvGraphicFramePr>
            <a:graphicFrameLocks noGrp="1"/>
          </p:cNvGraphicFramePr>
          <p:nvPr/>
        </p:nvGraphicFramePr>
        <p:xfrm>
          <a:off x="1447800" y="381000"/>
          <a:ext cx="6096000" cy="4785360"/>
        </p:xfrm>
        <a:graphic>
          <a:graphicData uri="http://schemas.openxmlformats.org/drawingml/2006/table">
            <a:tbl>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ligand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d</a:t>
                      </a:r>
                      <a:r>
                        <a:rPr kumimoji="0" lang="en-US" sz="1800" b="0" i="0" u="none" strike="noStrike" cap="none" normalizeH="0" baseline="-25000">
                          <a:ln>
                            <a:noFill/>
                          </a:ln>
                          <a:solidFill>
                            <a:schemeClr val="tx1"/>
                          </a:solidFill>
                          <a:effectLst/>
                          <a:latin typeface="Times"/>
                        </a:rPr>
                        <a:t>z</a:t>
                      </a:r>
                      <a:r>
                        <a:rPr kumimoji="0" lang="en-US" sz="2000" b="0" i="0" u="none" strike="noStrike" cap="none" normalizeH="0" baseline="-25000">
                          <a:ln>
                            <a:noFill/>
                          </a:ln>
                          <a:solidFill>
                            <a:schemeClr val="tx1"/>
                          </a:solidFill>
                          <a:effectLst/>
                          <a:latin typeface="Times"/>
                        </a:rPr>
                        <a:t>2</a:t>
                      </a:r>
                      <a:endParaRPr kumimoji="0" lang="en-US" sz="1800" b="0" i="0" u="none" strike="noStrike" cap="none" normalizeH="0" baseline="0">
                        <a:ln>
                          <a:noFill/>
                        </a:ln>
                        <a:solidFill>
                          <a:schemeClr val="tx1"/>
                        </a:solidFill>
                        <a:effectLst/>
                        <a:latin typeface="Time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d</a:t>
                      </a:r>
                      <a:r>
                        <a:rPr kumimoji="0" lang="en-US" sz="1800" b="0" i="0" u="none" strike="noStrike" cap="none" normalizeH="0" baseline="-25000">
                          <a:ln>
                            <a:noFill/>
                          </a:ln>
                          <a:solidFill>
                            <a:schemeClr val="tx1"/>
                          </a:solidFill>
                          <a:effectLst/>
                          <a:latin typeface="Times"/>
                        </a:rPr>
                        <a:t>x</a:t>
                      </a:r>
                      <a:r>
                        <a:rPr kumimoji="0" lang="en-US" sz="2000" b="0" i="0" u="none" strike="noStrike" cap="none" normalizeH="0" baseline="-25000">
                          <a:ln>
                            <a:noFill/>
                          </a:ln>
                          <a:solidFill>
                            <a:schemeClr val="tx1"/>
                          </a:solidFill>
                          <a:effectLst/>
                          <a:latin typeface="Times"/>
                        </a:rPr>
                        <a:t>2</a:t>
                      </a:r>
                      <a:r>
                        <a:rPr kumimoji="0" lang="en-US" sz="1800" b="0" i="0" u="none" strike="noStrike" cap="none" normalizeH="0" baseline="-25000">
                          <a:ln>
                            <a:noFill/>
                          </a:ln>
                          <a:solidFill>
                            <a:schemeClr val="tx1"/>
                          </a:solidFill>
                          <a:effectLst/>
                          <a:latin typeface="Times"/>
                        </a:rPr>
                        <a:t>-y</a:t>
                      </a:r>
                      <a:r>
                        <a:rPr kumimoji="0" lang="en-US" sz="2000" b="0" i="0" u="none" strike="noStrike" cap="none" normalizeH="0" baseline="-25000">
                          <a:ln>
                            <a:noFill/>
                          </a:ln>
                          <a:solidFill>
                            <a:schemeClr val="tx1"/>
                          </a:solidFill>
                          <a:effectLst/>
                          <a:latin typeface="Times"/>
                        </a:rPr>
                        <a:t>2</a:t>
                      </a:r>
                      <a:endParaRPr kumimoji="0" lang="en-US" sz="1800" b="0" i="0" u="none" strike="noStrike" cap="none" normalizeH="0" baseline="0">
                        <a:ln>
                          <a:noFill/>
                        </a:ln>
                        <a:solidFill>
                          <a:schemeClr val="tx1"/>
                        </a:solidFill>
                        <a:effectLst/>
                        <a:latin typeface="Time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d</a:t>
                      </a:r>
                      <a:r>
                        <a:rPr kumimoji="0" lang="en-US" sz="1800" b="0" i="0" u="none" strike="noStrike" cap="none" normalizeH="0" baseline="-25000">
                          <a:ln>
                            <a:noFill/>
                          </a:ln>
                          <a:solidFill>
                            <a:schemeClr val="tx1"/>
                          </a:solidFill>
                          <a:effectLst/>
                          <a:latin typeface="Times"/>
                        </a:rPr>
                        <a:t>xy</a:t>
                      </a:r>
                      <a:endParaRPr kumimoji="0" lang="en-US" sz="1800" b="0" i="0" u="none" strike="noStrike" cap="none" normalizeH="0" baseline="0">
                        <a:ln>
                          <a:noFill/>
                        </a:ln>
                        <a:solidFill>
                          <a:schemeClr val="tx1"/>
                        </a:solidFill>
                        <a:effectLst/>
                        <a:latin typeface="Time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d</a:t>
                      </a:r>
                      <a:r>
                        <a:rPr kumimoji="0" lang="en-US" sz="1800" b="0" i="0" u="none" strike="noStrike" cap="none" normalizeH="0" baseline="-25000">
                          <a:ln>
                            <a:noFill/>
                          </a:ln>
                          <a:solidFill>
                            <a:schemeClr val="tx1"/>
                          </a:solidFill>
                          <a:effectLst/>
                          <a:latin typeface="Times"/>
                        </a:rPr>
                        <a:t>xz</a:t>
                      </a:r>
                      <a:endParaRPr kumimoji="0" lang="en-US" sz="1800" b="0" i="0" u="none" strike="noStrike" cap="none" normalizeH="0" baseline="0">
                        <a:ln>
                          <a:noFill/>
                        </a:ln>
                        <a:solidFill>
                          <a:schemeClr val="tx1"/>
                        </a:solidFill>
                        <a:effectLst/>
                        <a:latin typeface="Time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d</a:t>
                      </a:r>
                      <a:r>
                        <a:rPr kumimoji="0" lang="en-US" sz="1800" b="0" i="0" u="none" strike="noStrike" cap="none" normalizeH="0" baseline="-25000">
                          <a:ln>
                            <a:noFill/>
                          </a:ln>
                          <a:solidFill>
                            <a:schemeClr val="tx1"/>
                          </a:solidFill>
                          <a:effectLst/>
                          <a:latin typeface="Times"/>
                        </a:rPr>
                        <a:t>yz</a:t>
                      </a:r>
                      <a:endParaRPr kumimoji="0" lang="en-US" sz="1800" b="0" i="0" u="none" strike="noStrike" cap="none" normalizeH="0" baseline="0">
                        <a:ln>
                          <a:noFill/>
                        </a:ln>
                        <a:solidFill>
                          <a:schemeClr val="tx1"/>
                        </a:solidFill>
                        <a:effectLst/>
                        <a:latin typeface="Time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 e</a:t>
                      </a:r>
                      <a:r>
                        <a:rPr kumimoji="0" lang="en-US" sz="1800" b="0" i="0" u="none" strike="noStrike" cap="none" normalizeH="0" baseline="-25000">
                          <a:ln>
                            <a:noFill/>
                          </a:ln>
                          <a:solidFill>
                            <a:schemeClr val="tx1"/>
                          </a:solidFill>
                          <a:effectLst/>
                          <a:latin typeface="Symbol" pitchFamily="18" charset="2"/>
                        </a:rPr>
                        <a:t>s</a:t>
                      </a:r>
                      <a:endParaRPr kumimoji="0" lang="en-US" sz="1800" b="0" i="0" u="none" strike="noStrike" cap="none" normalizeH="0" baseline="0">
                        <a:ln>
                          <a:noFill/>
                        </a:ln>
                        <a:solidFill>
                          <a:schemeClr val="tx1"/>
                        </a:solidFill>
                        <a:effectLst/>
                        <a:latin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3/16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9/16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3/16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9/16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103538" name="Text Box 114"/>
          <p:cNvSpPr txBox="1">
            <a:spLocks noChangeArrowheads="1"/>
          </p:cNvSpPr>
          <p:nvPr/>
        </p:nvSpPr>
        <p:spPr bwMode="auto">
          <a:xfrm>
            <a:off x="381000" y="5181600"/>
            <a:ext cx="8382000" cy="1552575"/>
          </a:xfrm>
          <a:prstGeom prst="rect">
            <a:avLst/>
          </a:prstGeom>
          <a:noFill/>
          <a:ln w="9525">
            <a:noFill/>
            <a:miter lim="800000"/>
            <a:headEnd/>
            <a:tailEnd/>
          </a:ln>
          <a:effectLst/>
        </p:spPr>
        <p:txBody>
          <a:bodyPr>
            <a:spAutoFit/>
          </a:bodyPr>
          <a:lstStyle/>
          <a:p>
            <a:pPr>
              <a:spcBef>
                <a:spcPct val="50000"/>
              </a:spcBef>
            </a:pPr>
            <a:r>
              <a:rPr lang="en-US"/>
              <a:t>Thus, for example a d</a:t>
            </a:r>
            <a:r>
              <a:rPr lang="en-US" baseline="-25000"/>
              <a:t>x</a:t>
            </a:r>
            <a:r>
              <a:rPr lang="en-US" sz="2800" baseline="-25000"/>
              <a:t>2</a:t>
            </a:r>
            <a:r>
              <a:rPr lang="en-US" sz="3200" baseline="-25000"/>
              <a:t>-</a:t>
            </a:r>
            <a:r>
              <a:rPr lang="en-US" sz="2800" baseline="-25000"/>
              <a:t>y</a:t>
            </a:r>
            <a:r>
              <a:rPr lang="en-US" sz="3200" baseline="-25000"/>
              <a:t>2</a:t>
            </a:r>
            <a:r>
              <a:rPr lang="en-US"/>
              <a:t> orbital is destabilized by (3/4 +6/16) e</a:t>
            </a:r>
            <a:r>
              <a:rPr lang="en-US" baseline="-25000">
                <a:latin typeface="Symbol" pitchFamily="18" charset="2"/>
              </a:rPr>
              <a:t>s</a:t>
            </a:r>
            <a:r>
              <a:rPr lang="en-US"/>
              <a:t> = 18/16 e</a:t>
            </a:r>
            <a:r>
              <a:rPr lang="en-US" baseline="-25000">
                <a:latin typeface="Symbol" pitchFamily="18" charset="2"/>
              </a:rPr>
              <a:t>s</a:t>
            </a:r>
            <a:r>
              <a:rPr lang="en-US"/>
              <a:t> in a trigonal bipyramid complex due to </a:t>
            </a:r>
            <a:r>
              <a:rPr lang="en-US">
                <a:latin typeface="Symbol" pitchFamily="18" charset="2"/>
              </a:rPr>
              <a:t>s</a:t>
            </a:r>
            <a:r>
              <a:rPr lang="en-US"/>
              <a:t> interaction. The d</a:t>
            </a:r>
            <a:r>
              <a:rPr lang="en-US" baseline="-25000"/>
              <a:t>xy</a:t>
            </a:r>
            <a:r>
              <a:rPr lang="en-US"/>
              <a:t>, equivalent by symmetry, is destabilized by the same amount.  The d</a:t>
            </a:r>
            <a:r>
              <a:rPr lang="en-US" baseline="-25000"/>
              <a:t>z</a:t>
            </a:r>
            <a:r>
              <a:rPr lang="en-US" sz="2800" baseline="-25000"/>
              <a:t>2</a:t>
            </a:r>
            <a:r>
              <a:rPr lang="en-US"/>
              <a:t> is destabililzed by 11/4 e</a:t>
            </a:r>
            <a:r>
              <a:rPr lang="en-US" baseline="-25000">
                <a:latin typeface="Symbol" pitchFamily="18" charset="2"/>
              </a:rPr>
              <a:t>s</a:t>
            </a:r>
            <a:r>
              <a:rPr lang="en-US"/>
              <a:t>.</a:t>
            </a:r>
          </a:p>
        </p:txBody>
      </p:sp>
    </p:spTree>
    <p:extLst>
      <p:ext uri="{BB962C8B-B14F-4D97-AF65-F5344CB8AC3E}">
        <p14:creationId xmlns:p14="http://schemas.microsoft.com/office/powerpoint/2010/main" val="411851477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935464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7143</Words>
  <Application>Microsoft Office PowerPoint</Application>
  <PresentationFormat>On-screen Show (4:3)</PresentationFormat>
  <Paragraphs>1171</Paragraphs>
  <Slides>196</Slides>
  <Notes>127</Notes>
  <HiddenSlides>5</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5</vt:i4>
      </vt:variant>
      <vt:variant>
        <vt:lpstr>Slide Titles</vt:lpstr>
      </vt:variant>
      <vt:variant>
        <vt:i4>196</vt:i4>
      </vt:variant>
    </vt:vector>
  </HeadingPairs>
  <TitlesOfParts>
    <vt:vector size="209" baseType="lpstr">
      <vt:lpstr>Arial</vt:lpstr>
      <vt:lpstr>Calibri</vt:lpstr>
      <vt:lpstr>Symbol</vt:lpstr>
      <vt:lpstr>Times</vt:lpstr>
      <vt:lpstr>Times New Roman</vt:lpstr>
      <vt:lpstr>Wingdings</vt:lpstr>
      <vt:lpstr>Wingdings 2</vt:lpstr>
      <vt:lpstr>Office Theme</vt:lpstr>
      <vt:lpstr>Chemistry 4-D Draw</vt:lpstr>
      <vt:lpstr>Equation</vt:lpstr>
      <vt:lpstr>Microsoft ClipArt Gallery</vt:lpstr>
      <vt:lpstr>Image</vt:lpstr>
      <vt:lpstr>CS ChemDraw Drawing</vt:lpstr>
      <vt:lpstr>Coordination Chemistry</vt:lpstr>
      <vt:lpstr>Ligands</vt:lpstr>
      <vt:lpstr>Ligands</vt:lpstr>
      <vt:lpstr>Ligands</vt:lpstr>
      <vt:lpstr>Ligands</vt:lpstr>
      <vt:lpstr>Ligands</vt:lpstr>
      <vt:lpstr>Ligands</vt:lpstr>
      <vt:lpstr>Ligands</vt:lpstr>
      <vt:lpstr>Ligands</vt:lpstr>
      <vt:lpstr>Ligands</vt:lpstr>
      <vt:lpstr>PowerPoint Presentation</vt:lpstr>
      <vt:lpstr>PowerPoint Presentation</vt:lpstr>
      <vt:lpstr>PowerPoint Presentation</vt:lpstr>
      <vt:lpstr>The Coordination of EDTA with a 2+ Metal Ion</vt:lpstr>
      <vt:lpstr>Rules for Naming Coordination Compounds</vt:lpstr>
      <vt:lpstr>Rules for Naming Coordination Compounds</vt:lpstr>
      <vt:lpstr>Rules for Naming Coordination Compounds</vt:lpstr>
      <vt:lpstr>Rules for Naming Coordination Compounds</vt:lpstr>
      <vt:lpstr>Naming coordination compounds (new) </vt:lpstr>
      <vt:lpstr>PowerPoint Presentation</vt:lpstr>
      <vt:lpstr>PowerPoint Presentation</vt:lpstr>
      <vt:lpstr>PowerPoint Presentation</vt:lpstr>
      <vt:lpstr>PowerPoint Presentation</vt:lpstr>
      <vt:lpstr>PowerPoint Presentation</vt:lpstr>
      <vt:lpstr>Exercise</vt:lpstr>
      <vt:lpstr>Some Classes of Isomers</vt:lpstr>
      <vt:lpstr>Structural Isomerism</vt:lpstr>
      <vt:lpstr>Linkage Isomerism of NO2–</vt:lpstr>
      <vt:lpstr>Stereoisomerism</vt:lpstr>
      <vt:lpstr>Geometrical (cis-trans) Isomerism for a Square Planar Compound   (a) cis isomer  (b) trans isomer</vt:lpstr>
      <vt:lpstr>Geometrical (cis-trans) Isomerism for an Octahedral Complex Ion</vt:lpstr>
      <vt:lpstr>Stereoisomerism</vt:lpstr>
      <vt:lpstr>Unpolarized Light Consists of Waves Vibrating in Many Different Planes</vt:lpstr>
      <vt:lpstr>The Rotation of the Plane of Polarized Light by an Optically Active Substance</vt:lpstr>
      <vt:lpstr>Optical Activity</vt:lpstr>
      <vt:lpstr>A Human Hand Exhibits a Nonsuperimposable Mirror Image</vt:lpstr>
      <vt:lpstr>PowerPoint Presentation</vt:lpstr>
      <vt:lpstr>Bonding in Complex Ions</vt:lpstr>
      <vt:lpstr>Bonding in Complex Ions</vt:lpstr>
      <vt:lpstr>The Interaction Between a Metal Ion and a Ligand Can Be Viewed as a Lewis Acid-Base Reaction</vt:lpstr>
      <vt:lpstr>Hybrid Orbitals on Co3+ Can Accept an Electron Pair from Each NH3 Ligand</vt:lpstr>
      <vt:lpstr>The Hybrid Orbitals Required for Tetrahedral, Square Planar, and Linear Complex Ions</vt:lpstr>
      <vt:lpstr>Crystal Field Model</vt:lpstr>
      <vt:lpstr>Octahedral Complexes</vt:lpstr>
      <vt:lpstr>An Octahedral Arrangement of Point-Charge Ligands and the Orientation of the 3d Orbitals</vt:lpstr>
      <vt:lpstr>Which Type of Orbital is Lower in Energy?</vt:lpstr>
      <vt:lpstr>The Energies of the 3d Orbitals for a Metal Ion in an Octahedral Complex</vt:lpstr>
      <vt:lpstr>Possible Electron Arrangements in the Split 3d Orbitals in an Octahedral Complex of Co3+</vt:lpstr>
      <vt:lpstr>Magnetic Properties</vt:lpstr>
      <vt:lpstr>Spectrochemical Series</vt:lpstr>
      <vt:lpstr>Complex Ion Colours</vt:lpstr>
      <vt:lpstr>Complex Ion Colours</vt:lpstr>
      <vt:lpstr>Absorbtion of Visible Light by the Complex Ion Ti(H2O)63+</vt:lpstr>
      <vt:lpstr>PowerPoint Presentation</vt:lpstr>
      <vt:lpstr>Tetrahedral Arrangement</vt:lpstr>
      <vt:lpstr>The d Orbitals in a Tetrahedral Arrangement of Point Charges</vt:lpstr>
      <vt:lpstr>The Crystal Field Diagrams for Octahedral and Tetrahedral Complexes</vt:lpstr>
      <vt:lpstr>PowerPoint Presentation</vt:lpstr>
      <vt:lpstr>PowerPoint Presentation</vt:lpstr>
      <vt:lpstr>PowerPoint Presentation</vt:lpstr>
      <vt:lpstr>PowerPoint Presentation</vt:lpstr>
      <vt:lpstr>PowerPoint Presentation</vt:lpstr>
      <vt:lpstr>The d Energy Diagrams for Square Planar Complexes</vt:lpstr>
      <vt:lpstr>The d Energy Diagrams for Linear Complexes Where the Ligands Lie Along the z Axis</vt:lpstr>
      <vt:lpstr>Transition Metal Complexes in Biological Molecules</vt:lpstr>
      <vt:lpstr>First-Row Transition Metals and Their Biological Significance</vt:lpstr>
      <vt:lpstr>Biological Importance of Iron</vt:lpstr>
      <vt:lpstr>The Heme Complex</vt:lpstr>
      <vt:lpstr>Myoglobin</vt:lpstr>
      <vt:lpstr>Hemoglobin</vt:lpstr>
      <vt:lpstr>Metallurgy</vt:lpstr>
      <vt:lpstr>The Blast Furnace Used In the Production of Iron</vt:lpstr>
      <vt:lpstr>A Schematic of the Open Hearth Process for Steelmaking</vt:lpstr>
      <vt:lpstr>The Basic Oxygen Process for Steelmaking</vt:lpstr>
      <vt:lpstr>Polydentate Ligands</vt:lpstr>
      <vt:lpstr>Chelating Agents</vt:lpstr>
      <vt:lpstr>Chelating Agents</vt:lpstr>
      <vt:lpstr>Chelating Agents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Crystal Field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Tetrahedral Complexes</vt:lpstr>
      <vt:lpstr>PowerPoint Presentation</vt:lpstr>
      <vt:lpstr>PowerPoint Presentation</vt:lpstr>
      <vt:lpstr>PowerPoint Presentation</vt:lpstr>
      <vt:lpstr>Properties of Optical Isomers</vt:lpstr>
      <vt:lpstr>Optical Isomers</vt:lpstr>
      <vt:lpstr>Properties of Optical Isomers</vt:lpstr>
      <vt:lpstr>Properties of Transition Metal Complexes</vt:lpstr>
      <vt:lpstr>Crystal Field Theory</vt:lpstr>
      <vt:lpstr>PowerPoint Presentation</vt:lpstr>
      <vt:lpstr>Crystal Field Theory</vt:lpstr>
      <vt:lpstr>PowerPoint Presentation</vt:lpstr>
      <vt:lpstr>PowerPoint Presentation</vt:lpstr>
      <vt:lpstr>PowerPoint Presentation</vt:lpstr>
      <vt:lpstr>PowerPoint Presentation</vt:lpstr>
      <vt:lpstr>PowerPoint Presentation</vt:lpstr>
      <vt:lpstr>PowerPoint Presentation</vt:lpstr>
      <vt:lpstr>Spectrochemical Series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Pairing Energy, 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Spectrochemical Series</vt:lpstr>
      <vt:lpstr>Merging to get spectrochemical series</vt:lpstr>
      <vt:lpstr>Turning to Square Planar Complexes</vt:lpstr>
      <vt:lpstr>PowerPoint Presentation</vt:lpstr>
      <vt:lpstr>PowerPoint Presentation</vt:lpstr>
      <vt:lpstr>PowerPoint Presentation</vt:lpstr>
      <vt:lpstr>PowerPoint Presentation</vt:lpstr>
      <vt:lpstr>PowerPoint Presentation</vt:lpstr>
      <vt:lpstr>PowerPoint Presentation</vt:lpstr>
      <vt:lpstr>Angular Overlap Method</vt:lpstr>
      <vt:lpstr>Cont’d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Coordination Chemistry</dc:title>
  <dc:creator>User</dc:creator>
  <cp:lastModifiedBy>Piyumi Malshika</cp:lastModifiedBy>
  <cp:revision>1</cp:revision>
  <dcterms:created xsi:type="dcterms:W3CDTF">2020-12-09T17:25:15Z</dcterms:created>
  <dcterms:modified xsi:type="dcterms:W3CDTF">2022-01-03T17:33:37Z</dcterms:modified>
</cp:coreProperties>
</file>