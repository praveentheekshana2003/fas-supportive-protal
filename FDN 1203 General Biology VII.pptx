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1" r:id="rId2"/>
    <p:sldId id="340" r:id="rId3"/>
    <p:sldId id="322" r:id="rId4"/>
    <p:sldId id="323" r:id="rId5"/>
    <p:sldId id="324" r:id="rId6"/>
    <p:sldId id="325" r:id="rId7"/>
    <p:sldId id="326" r:id="rId8"/>
    <p:sldId id="327" r:id="rId9"/>
    <p:sldId id="341" r:id="rId10"/>
    <p:sldId id="328" r:id="rId11"/>
    <p:sldId id="329" r:id="rId12"/>
    <p:sldId id="331" r:id="rId13"/>
    <p:sldId id="333" r:id="rId14"/>
    <p:sldId id="335" r:id="rId15"/>
    <p:sldId id="336" r:id="rId16"/>
    <p:sldId id="337" r:id="rId17"/>
    <p:sldId id="338" r:id="rId18"/>
    <p:sldId id="339" r:id="rId19"/>
    <p:sldId id="28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12/08/2020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FFFF00"/>
                </a:solidFill>
                <a:effectLst/>
              </a:rPr>
              <a:t>Phylum </a:t>
            </a:r>
            <a:r>
              <a:rPr lang="en-US" dirty="0" err="1" smtClean="0">
                <a:solidFill>
                  <a:srgbClr val="FFFF00"/>
                </a:solidFill>
                <a:effectLst/>
              </a:rPr>
              <a:t>Chordata</a:t>
            </a:r>
            <a:endParaRPr lang="en-US" dirty="0" smtClean="0">
              <a:solidFill>
                <a:srgbClr val="FFFF00"/>
              </a:solidFill>
              <a:effectLst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37160" indent="0" eaLnBrk="1" hangingPunct="1">
              <a:buNone/>
              <a:defRPr/>
            </a:pPr>
            <a:r>
              <a:rPr lang="en-US" sz="3600" b="1" dirty="0" smtClean="0">
                <a:solidFill>
                  <a:srgbClr val="7030A0"/>
                </a:solidFill>
              </a:rPr>
              <a:t>Class – Pisces (Fishes)</a:t>
            </a:r>
          </a:p>
          <a:p>
            <a:pPr marL="137160" indent="0" eaLnBrk="1" hangingPunct="1">
              <a:buNone/>
              <a:defRPr/>
            </a:pPr>
            <a:endParaRPr lang="en-US" sz="3200" b="1" dirty="0" smtClean="0">
              <a:solidFill>
                <a:srgbClr val="C00000"/>
              </a:solidFill>
            </a:endParaRPr>
          </a:p>
          <a:p>
            <a:pPr marL="137160" indent="0" eaLnBrk="1" hangingPunct="1">
              <a:buNone/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Two types of fish</a:t>
            </a:r>
            <a:endParaRPr lang="en-US" sz="3200" b="1" dirty="0">
              <a:solidFill>
                <a:srgbClr val="C00000"/>
              </a:solidFill>
            </a:endParaRPr>
          </a:p>
          <a:p>
            <a:pPr marL="137160" indent="0" eaLnBrk="1" hangingPunct="1">
              <a:buNone/>
              <a:defRPr/>
            </a:pPr>
            <a:endParaRPr lang="en-US" b="1" dirty="0" smtClean="0">
              <a:solidFill>
                <a:srgbClr val="7030A0"/>
              </a:solidFill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rgbClr val="FFFF66"/>
                </a:solidFill>
              </a:rPr>
              <a:t>Cartilaginous fishes and Bony fishes</a:t>
            </a:r>
          </a:p>
        </p:txBody>
      </p:sp>
    </p:spTree>
    <p:extLst>
      <p:ext uri="{BB962C8B-B14F-4D97-AF65-F5344CB8AC3E}">
        <p14:creationId xmlns:p14="http://schemas.microsoft.com/office/powerpoint/2010/main" val="148960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Cartilaginous fishes have cartilaginous skeleton</a:t>
            </a:r>
          </a:p>
          <a:p>
            <a:pPr marL="137160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 smtClean="0">
                <a:solidFill>
                  <a:srgbClr val="C00000"/>
                </a:solidFill>
              </a:rPr>
              <a:t>They do not have a </a:t>
            </a:r>
            <a:r>
              <a:rPr lang="en-US" dirty="0">
                <a:solidFill>
                  <a:srgbClr val="C00000"/>
                </a:solidFill>
              </a:rPr>
              <a:t>swim bladder </a:t>
            </a:r>
            <a:r>
              <a:rPr lang="en-US" dirty="0" smtClean="0">
                <a:solidFill>
                  <a:srgbClr val="C00000"/>
                </a:solidFill>
              </a:rPr>
              <a:t>so that they must </a:t>
            </a:r>
            <a:r>
              <a:rPr lang="en-US" dirty="0">
                <a:solidFill>
                  <a:srgbClr val="C00000"/>
                </a:solidFill>
              </a:rPr>
              <a:t>keep </a:t>
            </a:r>
            <a:r>
              <a:rPr lang="en-US" dirty="0" smtClean="0">
                <a:solidFill>
                  <a:srgbClr val="C00000"/>
                </a:solidFill>
              </a:rPr>
              <a:t>swimming</a:t>
            </a:r>
          </a:p>
          <a:p>
            <a:pPr marL="137160" indent="0">
              <a:buNone/>
              <a:defRPr/>
            </a:pPr>
            <a:endParaRPr lang="en-US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dirty="0" smtClean="0">
                <a:solidFill>
                  <a:schemeClr val="bg1"/>
                </a:solidFill>
              </a:rPr>
              <a:t>They are viviparous – live bearers.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69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9" name="il_fi" descr="StingRayFish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6481" y="332656"/>
            <a:ext cx="6192688" cy="501272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315618"/>
            <a:ext cx="4000500" cy="300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993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696"/>
            <a:ext cx="8229600" cy="5760640"/>
          </a:xfrm>
        </p:spPr>
        <p:txBody>
          <a:bodyPr>
            <a:normAutofit lnSpcReduction="10000"/>
          </a:bodyPr>
          <a:lstStyle/>
          <a:p>
            <a:pPr marL="137160" indent="0" eaLnBrk="1" hangingPunct="1">
              <a:buNone/>
              <a:defRPr/>
            </a:pPr>
            <a:r>
              <a:rPr lang="en-US" b="1" dirty="0" smtClean="0">
                <a:solidFill>
                  <a:srgbClr val="FFFF66"/>
                </a:solidFill>
              </a:rPr>
              <a:t>Bony fishes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C00000"/>
                </a:solidFill>
              </a:rPr>
              <a:t>h</a:t>
            </a:r>
            <a:r>
              <a:rPr lang="en-US" dirty="0" smtClean="0">
                <a:solidFill>
                  <a:srgbClr val="C00000"/>
                </a:solidFill>
              </a:rPr>
              <a:t>ave bony skeleton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have spindle shaped body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srgbClr val="C00000"/>
                </a:solidFill>
              </a:rPr>
              <a:t>Respire through gills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>
                <a:solidFill>
                  <a:srgbClr val="002060"/>
                </a:solidFill>
              </a:rPr>
              <a:t>h</a:t>
            </a:r>
            <a:r>
              <a:rPr lang="en-US" dirty="0" smtClean="0">
                <a:solidFill>
                  <a:srgbClr val="002060"/>
                </a:solidFill>
              </a:rPr>
              <a:t>ave scales in the body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have a swim bladder help them to rise and sink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srgbClr val="FFFF00"/>
                </a:solidFill>
              </a:rPr>
              <a:t>have two chambered heart</a:t>
            </a:r>
          </a:p>
          <a:p>
            <a:pPr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6824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40768"/>
            <a:ext cx="7861261" cy="4541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9512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712"/>
            <a:ext cx="8229600" cy="5616624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FF66"/>
                </a:solidFill>
              </a:rPr>
              <a:t>Class </a:t>
            </a:r>
            <a:r>
              <a:rPr lang="en-US" b="1" dirty="0" err="1" smtClean="0">
                <a:solidFill>
                  <a:srgbClr val="FFFF66"/>
                </a:solidFill>
              </a:rPr>
              <a:t>Amphibia</a:t>
            </a:r>
            <a:endParaRPr lang="en-US" b="1" dirty="0" smtClean="0">
              <a:solidFill>
                <a:srgbClr val="FFFF66"/>
              </a:solidFill>
            </a:endParaRPr>
          </a:p>
          <a:p>
            <a:pPr eaLnBrk="1" hangingPunct="1">
              <a:defRPr/>
            </a:pPr>
            <a:endParaRPr lang="en-US" b="1" dirty="0" smtClean="0">
              <a:solidFill>
                <a:srgbClr val="FFFF66"/>
              </a:solidFill>
            </a:endParaRPr>
          </a:p>
          <a:p>
            <a:pPr eaLnBrk="1" hangingPunct="1">
              <a:defRPr/>
            </a:pPr>
            <a:r>
              <a:rPr lang="en-US" dirty="0" smtClean="0"/>
              <a:t>They live in water and on land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srgbClr val="C00000"/>
                </a:solidFill>
              </a:rPr>
              <a:t>They have smooth and moist skin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srgbClr val="FFC000"/>
                </a:solidFill>
              </a:rPr>
              <a:t>No scales present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srgbClr val="00B0F0"/>
                </a:solidFill>
              </a:rPr>
              <a:t>They have two pairs of limbs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Their heart is three chambered.</a:t>
            </a:r>
          </a:p>
          <a:p>
            <a:pPr eaLnBrk="1" hangingPunct="1">
              <a:defRPr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08245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5" name="il_fi" descr="tree_frog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3608" y="620688"/>
            <a:ext cx="6898035" cy="493340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9156" name="Rectangle 5"/>
          <p:cNvSpPr>
            <a:spLocks noChangeArrowheads="1"/>
          </p:cNvSpPr>
          <p:nvPr/>
        </p:nvSpPr>
        <p:spPr bwMode="auto">
          <a:xfrm>
            <a:off x="2209800" y="5791200"/>
            <a:ext cx="1822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>
                <a:latin typeface="Arial" charset="0"/>
              </a:rPr>
              <a:t>     Ex: Tree frog</a:t>
            </a:r>
          </a:p>
          <a:p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292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712"/>
            <a:ext cx="8229600" cy="5472648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FFFF66"/>
                </a:solidFill>
              </a:rPr>
              <a:t>Class </a:t>
            </a:r>
            <a:r>
              <a:rPr lang="en-US" b="1" dirty="0" err="1" smtClean="0">
                <a:solidFill>
                  <a:srgbClr val="FFFF66"/>
                </a:solidFill>
              </a:rPr>
              <a:t>Reptilia</a:t>
            </a:r>
            <a:endParaRPr lang="en-US" b="1" dirty="0" smtClean="0">
              <a:solidFill>
                <a:srgbClr val="FFFF66"/>
              </a:solidFill>
            </a:endParaRPr>
          </a:p>
          <a:p>
            <a:pPr marL="137160" indent="0" eaLnBrk="1" hangingPunct="1">
              <a:buNone/>
              <a:defRPr/>
            </a:pPr>
            <a:endParaRPr lang="en-US" b="1" dirty="0" smtClean="0">
              <a:solidFill>
                <a:srgbClr val="FFFF66"/>
              </a:solidFill>
            </a:endParaRPr>
          </a:p>
          <a:p>
            <a:pPr eaLnBrk="1" hangingPunct="1">
              <a:defRPr/>
            </a:pPr>
            <a:r>
              <a:rPr lang="en-US" dirty="0" smtClean="0"/>
              <a:t>They have dry horny scaly skin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srgbClr val="FF0000"/>
                </a:solidFill>
              </a:rPr>
              <a:t>They have two pairs of limbs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Their heart is three chambered </a:t>
            </a:r>
          </a:p>
        </p:txBody>
      </p:sp>
    </p:spTree>
    <p:extLst>
      <p:ext uri="{BB962C8B-B14F-4D97-AF65-F5344CB8AC3E}">
        <p14:creationId xmlns:p14="http://schemas.microsoft.com/office/powerpoint/2010/main" val="426618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l_fi" descr="ANd9GcQoSRF2NsMYbH3TnayLbvOMquoXnzuVroXzmsouf1DYXA9adCi7&amp;t=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692696"/>
            <a:ext cx="5991992" cy="4948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620688" y="5955953"/>
            <a:ext cx="1289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dirty="0">
                <a:latin typeface="Arial" charset="0"/>
              </a:rPr>
              <a:t>Ex: Python</a:t>
            </a:r>
          </a:p>
        </p:txBody>
      </p:sp>
    </p:spTree>
    <p:extLst>
      <p:ext uri="{BB962C8B-B14F-4D97-AF65-F5344CB8AC3E}">
        <p14:creationId xmlns:p14="http://schemas.microsoft.com/office/powerpoint/2010/main" val="417607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688"/>
            <a:ext cx="8229600" cy="5688672"/>
          </a:xfrm>
        </p:spPr>
        <p:txBody>
          <a:bodyPr/>
          <a:lstStyle/>
          <a:p>
            <a:pPr marL="137160" indent="0" eaLnBrk="1" hangingPunct="1">
              <a:buNone/>
              <a:defRPr/>
            </a:pPr>
            <a:r>
              <a:rPr lang="en-US" b="1" dirty="0" smtClean="0">
                <a:solidFill>
                  <a:srgbClr val="FFFF66"/>
                </a:solidFill>
              </a:rPr>
              <a:t>Class Aves</a:t>
            </a:r>
          </a:p>
          <a:p>
            <a:pPr marL="137160" indent="0" eaLnBrk="1" hangingPunct="1">
              <a:buNone/>
              <a:defRPr/>
            </a:pPr>
            <a:endParaRPr lang="en-US" b="1" dirty="0" smtClean="0">
              <a:solidFill>
                <a:srgbClr val="FFFF66"/>
              </a:solidFill>
            </a:endParaRPr>
          </a:p>
          <a:p>
            <a:pPr eaLnBrk="1" hangingPunct="1">
              <a:defRPr/>
            </a:pPr>
            <a:r>
              <a:rPr lang="en-US" dirty="0" smtClean="0"/>
              <a:t>Distinct feature of birds is flight</a:t>
            </a:r>
          </a:p>
          <a:p>
            <a:pPr marL="137160" indent="0" eaLnBrk="1" hangingPunct="1">
              <a:buNone/>
              <a:defRPr/>
            </a:pPr>
            <a:endParaRPr lang="en-US" dirty="0"/>
          </a:p>
          <a:p>
            <a:pPr marL="137160" indent="0" eaLnBrk="1" hangingPunct="1">
              <a:buNone/>
              <a:defRPr/>
            </a:pPr>
            <a:r>
              <a:rPr lang="en-US" b="1" dirty="0" smtClean="0">
                <a:solidFill>
                  <a:srgbClr val="33CCFF"/>
                </a:solidFill>
              </a:rPr>
              <a:t>Characteristic features that help the birds in flight</a:t>
            </a:r>
          </a:p>
          <a:p>
            <a:pPr marL="137160" indent="0" eaLnBrk="1" hangingPunct="1">
              <a:buNone/>
              <a:defRPr/>
            </a:pPr>
            <a:endParaRPr lang="en-US" dirty="0" smtClean="0">
              <a:solidFill>
                <a:srgbClr val="33CCFF"/>
              </a:solidFill>
            </a:endParaRPr>
          </a:p>
          <a:p>
            <a:pPr eaLnBrk="1" hangingPunct="1">
              <a:defRPr/>
            </a:pPr>
            <a:r>
              <a:rPr lang="en-US" dirty="0" smtClean="0"/>
              <a:t>They have a stream lined body covered by feathers to help to reduce the resistance.</a:t>
            </a:r>
          </a:p>
          <a:p>
            <a:pPr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8798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8680"/>
            <a:ext cx="8229600" cy="576068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The fore limbs are modified into wings. They are also covered by feathers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Have light, porous bones with air cavities to reduce the weight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marL="609600" indent="-609600">
              <a:defRPr/>
            </a:pPr>
            <a:r>
              <a:rPr lang="en-US" dirty="0">
                <a:solidFill>
                  <a:srgbClr val="FF0000"/>
                </a:solidFill>
              </a:rPr>
              <a:t>Have a strong breast bone called keel to which the flight muscles are </a:t>
            </a:r>
            <a:r>
              <a:rPr lang="en-US" dirty="0" smtClean="0">
                <a:solidFill>
                  <a:srgbClr val="FF0000"/>
                </a:solidFill>
              </a:rPr>
              <a:t>attached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609600" indent="-609600">
              <a:defRPr/>
            </a:pPr>
            <a:r>
              <a:rPr lang="en-US" dirty="0">
                <a:solidFill>
                  <a:srgbClr val="FFFF00"/>
                </a:solidFill>
              </a:rPr>
              <a:t>Heart is four chambered which allows complete separation of the oxygenated blood from the deoxygenated blood</a:t>
            </a:r>
            <a:r>
              <a:rPr lang="en-US" dirty="0"/>
              <a:t>.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87123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8680"/>
            <a:ext cx="8229600" cy="576068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dirty="0" smtClean="0"/>
              <a:t>Hind limbs are adapted for perching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>
                <a:solidFill>
                  <a:srgbClr val="FFFF00"/>
                </a:solidFill>
              </a:rPr>
              <a:t>The tail is used for changing the direction</a:t>
            </a:r>
          </a:p>
          <a:p>
            <a:pPr eaLnBrk="1" hangingPunct="1">
              <a:defRPr/>
            </a:pPr>
            <a:endParaRPr lang="en-US" dirty="0"/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Have a constant body </a:t>
            </a:r>
            <a:r>
              <a:rPr lang="en-US" dirty="0" smtClean="0">
                <a:solidFill>
                  <a:srgbClr val="FF0000"/>
                </a:solidFill>
              </a:rPr>
              <a:t>temperature called </a:t>
            </a:r>
            <a:r>
              <a:rPr lang="en-US" dirty="0">
                <a:solidFill>
                  <a:srgbClr val="FF0000"/>
                </a:solidFill>
              </a:rPr>
              <a:t>warm blooded. 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 smtClean="0"/>
              <a:t>They maintain </a:t>
            </a:r>
            <a:r>
              <a:rPr lang="en-US" dirty="0"/>
              <a:t>a high metabolic rate in order to lift off the body from the </a:t>
            </a:r>
            <a:r>
              <a:rPr lang="en-US" dirty="0" smtClean="0"/>
              <a:t>ground</a:t>
            </a:r>
          </a:p>
          <a:p>
            <a:pPr marL="137160" indent="0">
              <a:buNone/>
              <a:defRPr/>
            </a:pPr>
            <a:endParaRPr lang="en-US" dirty="0" smtClean="0"/>
          </a:p>
          <a:p>
            <a:pPr>
              <a:defRPr/>
            </a:pPr>
            <a:r>
              <a:rPr lang="en-US" dirty="0">
                <a:solidFill>
                  <a:srgbClr val="C00000"/>
                </a:solidFill>
              </a:rPr>
              <a:t>The heart of the birds beats faster in order to supply large amount of oxygenated blood into the </a:t>
            </a:r>
            <a:r>
              <a:rPr lang="en-US" dirty="0" smtClean="0">
                <a:solidFill>
                  <a:srgbClr val="C00000"/>
                </a:solidFill>
              </a:rPr>
              <a:t>body</a:t>
            </a:r>
            <a:endParaRPr lang="en-US" dirty="0">
              <a:solidFill>
                <a:srgbClr val="C00000"/>
              </a:solidFill>
            </a:endParaRPr>
          </a:p>
          <a:p>
            <a:pPr>
              <a:defRPr/>
            </a:pPr>
            <a:endParaRPr lang="en-US" dirty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93927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672"/>
            <a:ext cx="8229600" cy="5832688"/>
          </a:xfrm>
        </p:spPr>
        <p:txBody>
          <a:bodyPr/>
          <a:lstStyle/>
          <a:p>
            <a:pPr marL="609600" indent="-609600" eaLnBrk="1" hangingPunct="1">
              <a:defRPr/>
            </a:pPr>
            <a:r>
              <a:rPr lang="en-US" dirty="0" smtClean="0"/>
              <a:t>Have large eyes and strong sense of sight. The field of vision is also great. </a:t>
            </a:r>
          </a:p>
          <a:p>
            <a:pPr marL="0" indent="0" eaLnBrk="1" hangingPunct="1">
              <a:buNone/>
              <a:defRPr/>
            </a:pPr>
            <a:endParaRPr lang="en-US" dirty="0" smtClean="0"/>
          </a:p>
          <a:p>
            <a:pPr marL="609600" indent="-609600" eaLnBrk="1" hangingPunct="1">
              <a:defRPr/>
            </a:pPr>
            <a:r>
              <a:rPr lang="en-US" dirty="0" smtClean="0">
                <a:solidFill>
                  <a:srgbClr val="FFFF00"/>
                </a:solidFill>
              </a:rPr>
              <a:t>They have a remarkable ability to judge the distance from a close range as well as from a great height</a:t>
            </a:r>
            <a:endParaRPr lang="en-US" dirty="0">
              <a:solidFill>
                <a:srgbClr val="FFFF00"/>
              </a:solidFill>
            </a:endParaRPr>
          </a:p>
          <a:p>
            <a:pPr marL="609600" indent="-609600" eaLnBrk="1" hangingPunct="1">
              <a:defRPr/>
            </a:pPr>
            <a:endParaRPr lang="en-US" dirty="0" smtClean="0">
              <a:solidFill>
                <a:srgbClr val="FFFF00"/>
              </a:solidFill>
            </a:endParaRPr>
          </a:p>
          <a:p>
            <a:pPr marL="609600" indent="-609600">
              <a:defRPr/>
            </a:pPr>
            <a:r>
              <a:rPr lang="en-US" dirty="0">
                <a:solidFill>
                  <a:schemeClr val="bg1"/>
                </a:solidFill>
              </a:rPr>
              <a:t>The disappearance of right ovary and right oviduct </a:t>
            </a:r>
            <a:r>
              <a:rPr lang="en-US" dirty="0" smtClean="0">
                <a:solidFill>
                  <a:schemeClr val="bg1"/>
                </a:solidFill>
              </a:rPr>
              <a:t>reduces </a:t>
            </a:r>
            <a:r>
              <a:rPr lang="en-US" dirty="0">
                <a:solidFill>
                  <a:schemeClr val="bg1"/>
                </a:solidFill>
              </a:rPr>
              <a:t>weight and is an adaptation for flight.</a:t>
            </a:r>
          </a:p>
          <a:p>
            <a:pPr marL="609600" indent="-609600" eaLnBrk="1" hangingPunct="1">
              <a:defRPr/>
            </a:pPr>
            <a:endParaRPr lang="en-US" dirty="0">
              <a:solidFill>
                <a:srgbClr val="FFFF00"/>
              </a:solidFill>
            </a:endParaRPr>
          </a:p>
          <a:p>
            <a:pPr marL="609600" indent="-609600" eaLnBrk="1" hangingPunct="1">
              <a:defRPr/>
            </a:pPr>
            <a:endParaRPr lang="en-US" dirty="0" smtClean="0">
              <a:solidFill>
                <a:srgbClr val="FFFF00"/>
              </a:solidFill>
            </a:endParaRPr>
          </a:p>
          <a:p>
            <a:pPr marL="609600" indent="-609600" eaLnBrk="1" hangingPunct="1">
              <a:defRPr/>
            </a:pPr>
            <a:endParaRPr lang="en-US" dirty="0" smtClean="0"/>
          </a:p>
          <a:p>
            <a:pPr marL="609600" indent="-609600"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2761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6632"/>
            <a:ext cx="4428132" cy="5790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405" y="2780928"/>
            <a:ext cx="4642826" cy="3589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5360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672"/>
            <a:ext cx="8229600" cy="5832688"/>
          </a:xfrm>
        </p:spPr>
        <p:txBody>
          <a:bodyPr/>
          <a:lstStyle/>
          <a:p>
            <a:pPr marL="137160" indent="0" eaLnBrk="1" hangingPunct="1">
              <a:buNone/>
              <a:defRPr/>
            </a:pPr>
            <a:r>
              <a:rPr lang="en-US" b="1" dirty="0" smtClean="0">
                <a:solidFill>
                  <a:srgbClr val="FFFF66"/>
                </a:solidFill>
              </a:rPr>
              <a:t>Class Mammalia</a:t>
            </a:r>
          </a:p>
          <a:p>
            <a:pPr marL="137160" indent="0" eaLnBrk="1" hangingPunct="1">
              <a:buNone/>
              <a:defRPr/>
            </a:pPr>
            <a:endParaRPr lang="en-US" dirty="0" smtClean="0">
              <a:solidFill>
                <a:srgbClr val="FFFF66"/>
              </a:solidFill>
            </a:endParaRPr>
          </a:p>
          <a:p>
            <a:pPr eaLnBrk="1" hangingPunct="1">
              <a:defRPr/>
            </a:pPr>
            <a:r>
              <a:rPr lang="en-US" dirty="0" smtClean="0"/>
              <a:t>They are viviparous and nourish the young ones with milk secreted from mammary glands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Body is covered with hair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External ear present</a:t>
            </a:r>
          </a:p>
          <a:p>
            <a:pPr marL="137160" indent="0" eaLnBrk="1" hangingPunct="1">
              <a:buNone/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Spiny ant eater is an exceptional that Egg laying mammal</a:t>
            </a:r>
          </a:p>
        </p:txBody>
      </p:sp>
    </p:spTree>
    <p:extLst>
      <p:ext uri="{BB962C8B-B14F-4D97-AF65-F5344CB8AC3E}">
        <p14:creationId xmlns:p14="http://schemas.microsoft.com/office/powerpoint/2010/main" val="3713684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Remarkable mammals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Spiny ant eater is an </a:t>
            </a:r>
            <a:r>
              <a:rPr lang="en-US" b="1" dirty="0" smtClean="0">
                <a:solidFill>
                  <a:schemeClr val="bg1"/>
                </a:solidFill>
              </a:rPr>
              <a:t>egg laying mammal</a:t>
            </a:r>
          </a:p>
          <a:p>
            <a:pPr marL="137160" indent="0" eaLnBrk="1" hangingPunct="1">
              <a:lnSpc>
                <a:spcPct val="90000"/>
              </a:lnSpc>
              <a:buNone/>
              <a:defRPr/>
            </a:pPr>
            <a:endParaRPr lang="en-US" b="1" dirty="0" smtClean="0">
              <a:solidFill>
                <a:schemeClr val="bg1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solidFill>
                  <a:srgbClr val="FF0000"/>
                </a:solidFill>
              </a:rPr>
              <a:t>In kangaroo, </a:t>
            </a:r>
            <a:r>
              <a:rPr lang="en-US" dirty="0">
                <a:solidFill>
                  <a:srgbClr val="FF0000"/>
                </a:solidFill>
              </a:rPr>
              <a:t>y</a:t>
            </a:r>
            <a:r>
              <a:rPr lang="en-US" dirty="0" smtClean="0">
                <a:solidFill>
                  <a:srgbClr val="FF0000"/>
                </a:solidFill>
              </a:rPr>
              <a:t>oung ones are 3cm long when born. They crawl into the pouch and feed on the milk</a:t>
            </a:r>
          </a:p>
          <a:p>
            <a:pPr marL="137160" indent="0" eaLnBrk="1" hangingPunct="1">
              <a:lnSpc>
                <a:spcPct val="90000"/>
              </a:lnSpc>
              <a:buNone/>
              <a:defRPr/>
            </a:pPr>
            <a:endParaRPr lang="en-US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solidFill>
                  <a:srgbClr val="FFFF00"/>
                </a:solidFill>
              </a:rPr>
              <a:t>Shrews are the smallest, insectivorous mammals</a:t>
            </a:r>
          </a:p>
        </p:txBody>
      </p:sp>
    </p:spTree>
    <p:extLst>
      <p:ext uri="{BB962C8B-B14F-4D97-AF65-F5344CB8AC3E}">
        <p14:creationId xmlns:p14="http://schemas.microsoft.com/office/powerpoint/2010/main" val="2039457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2656"/>
            <a:ext cx="8229600" cy="5976704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Bats are </a:t>
            </a:r>
            <a:r>
              <a:rPr lang="en-US" dirty="0" smtClean="0">
                <a:solidFill>
                  <a:srgbClr val="FFFF00"/>
                </a:solidFill>
              </a:rPr>
              <a:t>flying mammals</a:t>
            </a:r>
            <a:r>
              <a:rPr lang="en-US" dirty="0" smtClean="0"/>
              <a:t>. Their fore limbs are modified into </a:t>
            </a:r>
            <a:r>
              <a:rPr lang="en-US" dirty="0" smtClean="0">
                <a:solidFill>
                  <a:srgbClr val="FF0000"/>
                </a:solidFill>
              </a:rPr>
              <a:t>wings</a:t>
            </a:r>
          </a:p>
          <a:p>
            <a:pPr marL="137160" indent="0" eaLnBrk="1" hangingPunct="1">
              <a:buNone/>
              <a:defRPr/>
            </a:pPr>
            <a:endParaRPr lang="en-US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dirty="0" smtClean="0"/>
              <a:t>Whales, Dolphins are </a:t>
            </a:r>
            <a:r>
              <a:rPr lang="en-US" dirty="0" smtClean="0">
                <a:solidFill>
                  <a:srgbClr val="FFFF00"/>
                </a:solidFill>
              </a:rPr>
              <a:t>aquatic mammals</a:t>
            </a:r>
            <a:r>
              <a:rPr lang="en-US" dirty="0" smtClean="0"/>
              <a:t>. Fore limbs are modified in to </a:t>
            </a:r>
            <a:r>
              <a:rPr lang="en-US" dirty="0" smtClean="0">
                <a:solidFill>
                  <a:srgbClr val="FF0000"/>
                </a:solidFill>
              </a:rPr>
              <a:t>flippers</a:t>
            </a:r>
          </a:p>
          <a:p>
            <a:pPr marL="137160" indent="0" eaLnBrk="1" hangingPunct="1">
              <a:buNone/>
              <a:defRPr/>
            </a:pPr>
            <a:endParaRPr lang="en-US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n-US" dirty="0" smtClean="0"/>
              <a:t>Man, Monkey, Gorilla are highly evolved mammals. They have </a:t>
            </a:r>
            <a:r>
              <a:rPr lang="en-US" dirty="0" smtClean="0">
                <a:solidFill>
                  <a:srgbClr val="FFFF00"/>
                </a:solidFill>
              </a:rPr>
              <a:t>opposable thumb</a:t>
            </a:r>
            <a:r>
              <a:rPr lang="en-US" dirty="0" smtClean="0"/>
              <a:t>. </a:t>
            </a:r>
            <a:r>
              <a:rPr lang="en-US" dirty="0" smtClean="0">
                <a:solidFill>
                  <a:schemeClr val="bg1"/>
                </a:solidFill>
              </a:rPr>
              <a:t>Intelligent animals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55016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24744"/>
            <a:ext cx="8323273" cy="4683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2115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1828800"/>
          </a:xfrm>
        </p:spPr>
        <p:txBody>
          <a:bodyPr>
            <a:normAutofit/>
          </a:bodyPr>
          <a:lstStyle/>
          <a:p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Thank you!</a:t>
            </a:r>
            <a:endParaRPr lang="en-US" sz="8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8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3853</TotalTime>
  <Words>449</Words>
  <Application>Microsoft Office PowerPoint</Application>
  <PresentationFormat>On-screen Show (4:3)</PresentationFormat>
  <Paragraphs>97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Apex</vt:lpstr>
      <vt:lpstr>Phylum Chordata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Remarkable mammals</vt:lpstr>
      <vt:lpstr>PowerPoint Presentation</vt:lpstr>
      <vt:lpstr>PowerPoint Presentation</vt:lpstr>
      <vt:lpstr>Thank you!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MIGSEN</cp:lastModifiedBy>
  <cp:revision>54</cp:revision>
  <dcterms:created xsi:type="dcterms:W3CDTF">2013-05-05T15:32:03Z</dcterms:created>
  <dcterms:modified xsi:type="dcterms:W3CDTF">2020-08-12T02:16:54Z</dcterms:modified>
</cp:coreProperties>
</file>