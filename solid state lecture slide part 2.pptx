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8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22" r:id="rId38"/>
    <p:sldId id="323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24" r:id="rId48"/>
    <p:sldId id="292" r:id="rId49"/>
    <p:sldId id="321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33" r:id="rId79"/>
    <p:sldId id="334" r:id="rId8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0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8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B8640-C363-49C9-AB5E-7A08D6E021D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1099C-A4C4-4906-8466-69D653736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6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9EDCAF-FE18-4614-AD4D-5C092C66473C}" type="slidenum">
              <a:rPr lang="en-US"/>
              <a:pPr/>
              <a:t>30</a:t>
            </a:fld>
            <a:endParaRPr 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E61030-AE97-4556-8E38-DEBB04302E48}" type="slidenum">
              <a:rPr lang="en-US"/>
              <a:pPr/>
              <a:t>31</a:t>
            </a:fld>
            <a:endParaRPr lang="en-US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38E5D8-69A7-48D6-AF60-8DD52FDF8650}" type="slidenum">
              <a:rPr lang="en-US"/>
              <a:pPr/>
              <a:t>32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49387F-A216-4418-8CD7-BDF7D07659FC}" type="slidenum">
              <a:rPr lang="en-US"/>
              <a:pPr/>
              <a:t>33</a:t>
            </a:fld>
            <a:endParaRPr 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98D56D-ECBD-4A19-810A-2222BD44995D}" type="slidenum">
              <a:rPr lang="en-US"/>
              <a:pPr/>
              <a:t>34</a:t>
            </a:fld>
            <a:endParaRPr lang="en-US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061664-4A14-4650-9485-B36655296CDF}" type="slidenum">
              <a:rPr lang="en-US"/>
              <a:pPr/>
              <a:t>35</a:t>
            </a:fld>
            <a:endParaRPr lang="en-US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3DCD26-B248-4DD4-A4C5-B9154B86478C}" type="slidenum">
              <a:rPr lang="en-US"/>
              <a:pPr/>
              <a:t>36</a:t>
            </a:fld>
            <a:endParaRPr lang="en-US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F1099C-A4C4-4906-8466-69D65373651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05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E6D663-C940-429D-8700-2FFCEEBF6368}" type="slidenum">
              <a:rPr lang="en-US"/>
              <a:pPr/>
              <a:t>46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7EF176-F98E-45C2-BC4D-792529E3D83F}" type="slidenum">
              <a:rPr lang="en-US"/>
              <a:pPr/>
              <a:t>48</a:t>
            </a:fld>
            <a:endParaRPr lang="en-US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2826ED-EDD7-44F0-9916-11F10FF92389}" type="slidenum">
              <a:rPr lang="en-US"/>
              <a:pPr/>
              <a:t>50</a:t>
            </a:fld>
            <a:endParaRPr lang="en-US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E6D663-C940-429D-8700-2FFCEEBF6368}" type="slidenum">
              <a:rPr lang="en-US"/>
              <a:pPr/>
              <a:t>51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58A6A3-BB6D-46D3-BD6C-F59B55D21623}" type="slidenum">
              <a:rPr lang="en-US"/>
              <a:pPr/>
              <a:t>52</a:t>
            </a:fld>
            <a:endParaRPr 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4EEB6E-1503-42F9-98BC-D89D9CB6D40E}" type="slidenum">
              <a:rPr lang="en-US"/>
              <a:pPr/>
              <a:t>53</a:t>
            </a:fld>
            <a:endParaRPr lang="en-US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2EF9BD-A8E9-454F-A0C1-3354AE289459}" type="slidenum">
              <a:rPr lang="en-US"/>
              <a:pPr/>
              <a:t>54</a:t>
            </a:fld>
            <a:endParaRPr lang="en-US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74F19A-18CC-4193-B255-4E3F78969F81}" type="slidenum">
              <a:rPr lang="en-US"/>
              <a:pPr/>
              <a:t>55</a:t>
            </a:fld>
            <a:endParaRPr lang="en-US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839EA5-A7BA-4B66-A253-988EC131D16A}" type="slidenum">
              <a:rPr lang="en-US"/>
              <a:pPr/>
              <a:t>56</a:t>
            </a:fld>
            <a:endParaRPr lang="en-US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804951-98AB-4A65-BD49-9319553E95C3}" type="slidenum">
              <a:rPr lang="en-US"/>
              <a:pPr/>
              <a:t>57</a:t>
            </a:fld>
            <a:endParaRPr 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CF7AEE-910C-4C35-99A5-02C3718E43CB}" type="slidenum">
              <a:rPr lang="en-US"/>
              <a:pPr/>
              <a:t>58</a:t>
            </a:fld>
            <a:endParaRPr lang="en-US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24792A-4FC2-4DAE-A5D5-B528FA709301}" type="slidenum">
              <a:rPr lang="en-US"/>
              <a:pPr/>
              <a:t>59</a:t>
            </a:fld>
            <a:endParaRPr lang="en-US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270CED-E60D-4900-AF05-A165FC447056}" type="slidenum">
              <a:rPr lang="en-US"/>
              <a:pPr/>
              <a:t>60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34E078-90FB-495F-A3C6-E3E3974837F7}" type="slidenum">
              <a:rPr lang="en-US"/>
              <a:pPr/>
              <a:t>61</a:t>
            </a:fld>
            <a:endParaRPr lang="en-US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7CBB7-5174-46B9-8E36-215DA902C984}" type="slidenum">
              <a:rPr lang="en-US"/>
              <a:pPr/>
              <a:t>62</a:t>
            </a:fld>
            <a:endParaRPr lang="en-US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741E64-4F23-4160-B871-5974F646E323}" type="slidenum">
              <a:rPr lang="en-US"/>
              <a:pPr/>
              <a:t>63</a:t>
            </a:fld>
            <a:endParaRPr lang="en-US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DACE8D-D6AA-40EA-8C4A-524C756B0CF4}" type="slidenum">
              <a:rPr lang="en-US"/>
              <a:pPr/>
              <a:t>64</a:t>
            </a:fld>
            <a:endParaRPr lang="en-US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C5DA9C-790F-4DAD-9C1A-E27692CB6C19}" type="slidenum">
              <a:rPr lang="en-US"/>
              <a:pPr/>
              <a:t>65</a:t>
            </a:fld>
            <a:endParaRPr lang="en-US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591B62-BC71-42D7-B36C-2DFD28DBD18C}" type="slidenum">
              <a:rPr lang="en-US"/>
              <a:pPr/>
              <a:t>66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155E31-5C38-4CF0-8F39-716257713C13}" type="slidenum">
              <a:rPr lang="en-US"/>
              <a:pPr/>
              <a:t>67</a:t>
            </a:fld>
            <a:endParaRPr 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AF5CCB-3802-4C2D-B772-3F131B8F206D}" type="slidenum">
              <a:rPr lang="en-US"/>
              <a:pPr/>
              <a:t>68</a:t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0AADCF-EE2D-4697-9EBD-906837FB9718}" type="slidenum">
              <a:rPr lang="en-US"/>
              <a:pPr/>
              <a:t>69</a:t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A05375-DEC2-4A05-AA64-66F4349F7B25}" type="slidenum">
              <a:rPr lang="en-US"/>
              <a:pPr/>
              <a:t>70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2DF264-1BC1-412B-9B12-DFF0C65EA5C0}" type="slidenum">
              <a:rPr lang="en-US"/>
              <a:pPr/>
              <a:t>71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731142-8C61-4E11-A570-218107E8656B}" type="slidenum">
              <a:rPr lang="en-US"/>
              <a:pPr/>
              <a:t>72</a:t>
            </a:fld>
            <a:endParaRPr 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8B423D-1895-4687-B91B-A0E21B2AD694}" type="slidenum">
              <a:rPr lang="en-US"/>
              <a:pPr/>
              <a:t>73</a:t>
            </a:fld>
            <a:endParaRPr lang="en-US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F82D41-3F77-4BDB-8793-A77AB5089A54}" type="slidenum">
              <a:rPr lang="en-US"/>
              <a:pPr/>
              <a:t>74</a:t>
            </a:fld>
            <a:endParaRPr lang="en-US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B3DBB5-22BA-42A3-95FF-698D0090788D}" type="slidenum">
              <a:rPr lang="en-US"/>
              <a:pPr/>
              <a:t>75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B3A09C-655F-48B5-BBDD-D178BFE70F47}" type="slidenum">
              <a:rPr lang="en-US"/>
              <a:pPr/>
              <a:t>76</a:t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E2F26B-C8E8-4B0B-8036-B61250FE0DD5}" type="slidenum">
              <a:rPr lang="en-US"/>
              <a:pPr/>
              <a:t>77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CEA5F18-5C3D-4BEA-9535-916CBEE530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0340E-18A6-4C3B-96BF-811AD5B0B0B2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5F07E-BDC0-47D0-AC7B-24779453E8F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video" Target="file:///D:\3_5.avi" TargetMode="External"/><Relationship Id="rId6" Type="http://schemas.openxmlformats.org/officeDocument/2006/relationships/image" Target="../media/image35.png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video" Target="file:///D:\3_9.avi" TargetMode="External"/><Relationship Id="rId5" Type="http://schemas.openxmlformats.org/officeDocument/2006/relationships/image" Target="../media/image40.png"/><Relationship Id="rId4" Type="http://schemas.openxmlformats.org/officeDocument/2006/relationships/image" Target="../media/image39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ideo" Target="file:///D:\3_7.avi" TargetMode="External"/><Relationship Id="rId5" Type="http://schemas.openxmlformats.org/officeDocument/2006/relationships/image" Target="../media/image46.png"/><Relationship Id="rId4" Type="http://schemas.openxmlformats.org/officeDocument/2006/relationships/image" Target="../media/image45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oleObject" Target="../embeddings/oleObject2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D:\3_13_b.avi" TargetMode="External"/><Relationship Id="rId1" Type="http://schemas.openxmlformats.org/officeDocument/2006/relationships/video" Target="file:///D:\3_13_a.avi" TargetMode="Externa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notesSlide" Target="../notesSlides/notesSlide3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wmf"/><Relationship Id="rId4" Type="http://schemas.openxmlformats.org/officeDocument/2006/relationships/image" Target="../media/image8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crystal Structures of Ionic Materials: Pauling groups, Crystal types: simple cubic (c), body centered cubic (bcc), face centered cubic (</a:t>
            </a:r>
            <a:r>
              <a:rPr lang="en-US" dirty="0" err="1" smtClean="0"/>
              <a:t>fcc</a:t>
            </a:r>
            <a:r>
              <a:rPr lang="en-US" dirty="0" smtClean="0"/>
              <a:t>/</a:t>
            </a:r>
            <a:r>
              <a:rPr lang="en-US" dirty="0" err="1" smtClean="0"/>
              <a:t>ccp</a:t>
            </a:r>
            <a:r>
              <a:rPr lang="en-US" dirty="0" smtClean="0"/>
              <a:t>) hexagonal close packed (</a:t>
            </a:r>
            <a:r>
              <a:rPr lang="en-US" dirty="0" err="1" smtClean="0"/>
              <a:t>hcp</a:t>
            </a:r>
            <a:r>
              <a:rPr lang="en-US" dirty="0" smtClean="0"/>
              <a:t>) etc., tetrahedral and octahedral holes, coordination number, unit cell, crystal systems, Miller indices and their significance.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dirty="0"/>
              <a:t>We can assume minerals to be made of orderly packing of atoms or rather </a:t>
            </a:r>
            <a:r>
              <a:rPr lang="en-US" dirty="0" smtClean="0"/>
              <a:t>ions or </a:t>
            </a:r>
            <a:r>
              <a:rPr lang="en-US" dirty="0"/>
              <a:t>molecules.</a:t>
            </a:r>
          </a:p>
          <a:p>
            <a:r>
              <a:rPr lang="en-US" dirty="0" smtClean="0"/>
              <a:t> </a:t>
            </a:r>
            <a:r>
              <a:rPr lang="en-US" dirty="0"/>
              <a:t>Many mineral properties like symmetry, density etc are dependent on how </a:t>
            </a:r>
            <a:r>
              <a:rPr lang="en-US" dirty="0" smtClean="0"/>
              <a:t>the atoms </a:t>
            </a:r>
            <a:r>
              <a:rPr lang="en-US" dirty="0"/>
              <a:t>or ions are packed</a:t>
            </a:r>
          </a:p>
          <a:p>
            <a:r>
              <a:rPr lang="en-US" dirty="0" smtClean="0"/>
              <a:t> </a:t>
            </a:r>
            <a:r>
              <a:rPr lang="en-US" dirty="0"/>
              <a:t>We can approximate the atoms or ions in a metal to be rigid spherical balls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a box full of ping </a:t>
            </a:r>
            <a:r>
              <a:rPr lang="en-US" dirty="0" smtClean="0"/>
              <a:t>pong balls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densest packing is one </a:t>
            </a:r>
            <a:r>
              <a:rPr lang="en-US" dirty="0" smtClean="0"/>
              <a:t>on which </a:t>
            </a:r>
            <a:r>
              <a:rPr lang="en-US" dirty="0"/>
              <a:t>a layer of balls sit on </a:t>
            </a:r>
            <a:r>
              <a:rPr lang="en-US" dirty="0" smtClean="0"/>
              <a:t>the hollow </a:t>
            </a:r>
            <a:r>
              <a:rPr lang="en-US" dirty="0"/>
              <a:t>between the balls in </a:t>
            </a:r>
            <a:r>
              <a:rPr lang="en-US" dirty="0" smtClean="0"/>
              <a:t>the layer </a:t>
            </a:r>
            <a:r>
              <a:rPr lang="en-US" dirty="0"/>
              <a:t>below</a:t>
            </a:r>
            <a:r>
              <a:rPr lang="en-US" dirty="0" smtClean="0"/>
              <a:t>.</a:t>
            </a:r>
          </a:p>
          <a:p>
            <a:r>
              <a:rPr lang="en-US" dirty="0"/>
              <a:t>The two closest packing are</a:t>
            </a:r>
            <a:r>
              <a:rPr lang="en-US" dirty="0" smtClean="0"/>
              <a:t>:</a:t>
            </a:r>
          </a:p>
          <a:p>
            <a:r>
              <a:rPr lang="en-US" dirty="0"/>
              <a:t>Hexagonal close </a:t>
            </a:r>
            <a:r>
              <a:rPr lang="en-US" dirty="0" smtClean="0"/>
              <a:t>packing (</a:t>
            </a:r>
            <a:r>
              <a:rPr lang="en-US" dirty="0"/>
              <a:t>ABCABC)</a:t>
            </a:r>
          </a:p>
          <a:p>
            <a:r>
              <a:rPr lang="en-US" dirty="0" smtClean="0"/>
              <a:t> </a:t>
            </a:r>
            <a:r>
              <a:rPr lang="en-US" dirty="0"/>
              <a:t>Cubic close packing (ABAB)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066801"/>
            <a:ext cx="5167313" cy="39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514600" y="5638800"/>
            <a:ext cx="457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Closest packing of spheres.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</a:t>
            </a:r>
            <a:r>
              <a:rPr lang="en-US" dirty="0"/>
              <a:t>what less dense packing is </a:t>
            </a:r>
            <a:r>
              <a:rPr lang="en-US" dirty="0" smtClean="0"/>
              <a:t>body centered </a:t>
            </a:r>
            <a:r>
              <a:rPr lang="en-US" dirty="0"/>
              <a:t>cubic packing, seen in Iron.</a:t>
            </a:r>
          </a:p>
          <a:p>
            <a:r>
              <a:rPr lang="en-US" dirty="0" smtClean="0"/>
              <a:t>Because </a:t>
            </a:r>
            <a:r>
              <a:rPr lang="en-US" dirty="0"/>
              <a:t>they can be packed so closely</a:t>
            </a:r>
            <a:r>
              <a:rPr lang="en-US" dirty="0" smtClean="0"/>
              <a:t>, metals </a:t>
            </a:r>
            <a:r>
              <a:rPr lang="en-US" dirty="0"/>
              <a:t>have high density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US" dirty="0"/>
              <a:t>Body-centered cubic packing. 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a) </a:t>
            </a:r>
            <a:r>
              <a:rPr lang="en-US" dirty="0" err="1"/>
              <a:t>Bodycentered</a:t>
            </a:r>
            <a:r>
              <a:rPr lang="en-US" dirty="0"/>
              <a:t> lattice (left) and with atoms at each lattice node (right). 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b) Eight unit cells.</a:t>
            </a:r>
          </a:p>
          <a:p>
            <a:r>
              <a:rPr lang="en-US" dirty="0"/>
              <a:t>Each sphere is in contact with eight neighbors.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2971800"/>
            <a:ext cx="225742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Covalent and Molecular Bonds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Covalent </a:t>
            </a:r>
            <a:r>
              <a:rPr lang="en-US" dirty="0"/>
              <a:t>bonds are strong therefore covalent </a:t>
            </a:r>
            <a:r>
              <a:rPr lang="en-US" dirty="0" smtClean="0"/>
              <a:t>crystals are </a:t>
            </a:r>
            <a:r>
              <a:rPr lang="en-US" dirty="0"/>
              <a:t>strong and have high melting point</a:t>
            </a:r>
          </a:p>
          <a:p>
            <a:r>
              <a:rPr lang="en-US" dirty="0" smtClean="0"/>
              <a:t>Because </a:t>
            </a:r>
            <a:r>
              <a:rPr lang="en-US" dirty="0"/>
              <a:t>atoms need to be placed in a </a:t>
            </a:r>
            <a:r>
              <a:rPr lang="en-US" dirty="0" smtClean="0"/>
              <a:t>specific orientation </a:t>
            </a:r>
            <a:r>
              <a:rPr lang="en-US" dirty="0"/>
              <a:t>only, covalent crystals do not show a </a:t>
            </a:r>
            <a:r>
              <a:rPr lang="en-US" dirty="0" smtClean="0"/>
              <a:t>close packing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bonds in molecular crystals are weak, hence </a:t>
            </a:r>
            <a:r>
              <a:rPr lang="en-US" dirty="0" smtClean="0"/>
              <a:t>these tend </a:t>
            </a:r>
            <a:r>
              <a:rPr lang="en-US" dirty="0"/>
              <a:t>to be soft.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geometry of the structure </a:t>
            </a:r>
            <a:r>
              <a:rPr lang="en-US" dirty="0" smtClean="0"/>
              <a:t>is determined </a:t>
            </a:r>
            <a:r>
              <a:rPr lang="en-US" dirty="0"/>
              <a:t>by the shape and charge distribution in </a:t>
            </a:r>
            <a:r>
              <a:rPr lang="en-US" dirty="0" smtClean="0"/>
              <a:t>the molecules </a:t>
            </a:r>
            <a:r>
              <a:rPr lang="en-US" dirty="0"/>
              <a:t>(e.g., Hydrogen bond in water)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Ionic Bonds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For minerals formed largely by ionic bonding, the </a:t>
            </a:r>
            <a:r>
              <a:rPr lang="en-US" dirty="0"/>
              <a:t>ion geometry can be simply considered to </a:t>
            </a:r>
            <a:r>
              <a:rPr lang="en-US" dirty="0" smtClean="0"/>
              <a:t>be spherical</a:t>
            </a:r>
            <a:endParaRPr lang="en-US" dirty="0"/>
          </a:p>
          <a:p>
            <a:r>
              <a:rPr lang="en-US" dirty="0" smtClean="0"/>
              <a:t>Spherical </a:t>
            </a:r>
            <a:r>
              <a:rPr lang="en-US" dirty="0"/>
              <a:t>ions will geometrically </a:t>
            </a:r>
            <a:r>
              <a:rPr lang="en-US" dirty="0" smtClean="0"/>
              <a:t>pack (</a:t>
            </a:r>
            <a:r>
              <a:rPr lang="en-US" dirty="0"/>
              <a:t>coordinate) oppositely charged ions </a:t>
            </a:r>
            <a:r>
              <a:rPr lang="en-US" dirty="0" smtClean="0"/>
              <a:t>around  them </a:t>
            </a:r>
            <a:r>
              <a:rPr lang="en-US" dirty="0"/>
              <a:t>as tightly as possible while </a:t>
            </a:r>
            <a:r>
              <a:rPr lang="en-US" dirty="0" smtClean="0"/>
              <a:t>maintaining charge </a:t>
            </a:r>
            <a:r>
              <a:rPr lang="en-US" dirty="0"/>
              <a:t>neutrality</a:t>
            </a:r>
          </a:p>
          <a:p>
            <a:r>
              <a:rPr lang="en-US" dirty="0" smtClean="0"/>
              <a:t>For </a:t>
            </a:r>
            <a:r>
              <a:rPr lang="en-US" dirty="0"/>
              <a:t>a particular ion, the surrounding </a:t>
            </a:r>
            <a:r>
              <a:rPr lang="en-US" dirty="0" smtClean="0"/>
              <a:t>coordination ions </a:t>
            </a:r>
            <a:r>
              <a:rPr lang="en-US" dirty="0"/>
              <a:t>define the apices of a polyhedron</a:t>
            </a:r>
          </a:p>
          <a:p>
            <a:r>
              <a:rPr lang="en-US" dirty="0" smtClean="0"/>
              <a:t>The </a:t>
            </a:r>
            <a:r>
              <a:rPr lang="en-US" dirty="0"/>
              <a:t>number </a:t>
            </a:r>
            <a:r>
              <a:rPr lang="en-US" dirty="0" smtClean="0"/>
              <a:t>of </a:t>
            </a:r>
            <a:r>
              <a:rPr lang="en-US" dirty="0"/>
              <a:t>surrounding ions is </a:t>
            </a:r>
            <a:r>
              <a:rPr lang="en-US" dirty="0" smtClean="0"/>
              <a:t>the Coordination </a:t>
            </a:r>
            <a:r>
              <a:rPr lang="en-US" dirty="0"/>
              <a:t>Number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Pauling’s Rules of Mineral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Rule 1: </a:t>
            </a:r>
            <a:endParaRPr lang="en-US" b="1" dirty="0" smtClean="0"/>
          </a:p>
          <a:p>
            <a:r>
              <a:rPr lang="en-US" b="1" dirty="0" smtClean="0"/>
              <a:t>A </a:t>
            </a:r>
            <a:r>
              <a:rPr lang="en-US" b="1" dirty="0"/>
              <a:t>coordination </a:t>
            </a:r>
            <a:r>
              <a:rPr lang="en-US" b="1" dirty="0" smtClean="0"/>
              <a:t>polyhedron </a:t>
            </a:r>
            <a:r>
              <a:rPr lang="en-US" dirty="0" smtClean="0"/>
              <a:t>of </a:t>
            </a:r>
            <a:r>
              <a:rPr lang="en-US" dirty="0"/>
              <a:t>anions is formed around </a:t>
            </a:r>
            <a:r>
              <a:rPr lang="en-US" dirty="0" smtClean="0"/>
              <a:t>each </a:t>
            </a:r>
            <a:r>
              <a:rPr lang="en-US" dirty="0" err="1" smtClean="0"/>
              <a:t>cation</a:t>
            </a:r>
            <a:r>
              <a:rPr lang="en-US" dirty="0"/>
              <a:t>, </a:t>
            </a:r>
            <a:r>
              <a:rPr lang="en-US" dirty="0" smtClean="0"/>
              <a:t>wherein</a:t>
            </a:r>
            <a:r>
              <a:rPr lang="en-US" dirty="0"/>
              <a:t>:</a:t>
            </a:r>
          </a:p>
          <a:p>
            <a:r>
              <a:rPr lang="en-US" dirty="0"/>
              <a:t>- the </a:t>
            </a:r>
            <a:r>
              <a:rPr lang="en-US" dirty="0" err="1"/>
              <a:t>cation</a:t>
            </a:r>
            <a:r>
              <a:rPr lang="en-US" dirty="0"/>
              <a:t>-anion distance </a:t>
            </a:r>
            <a:r>
              <a:rPr lang="en-US" dirty="0" smtClean="0"/>
              <a:t>is determined </a:t>
            </a:r>
            <a:r>
              <a:rPr lang="en-US" dirty="0"/>
              <a:t>by the sum of </a:t>
            </a:r>
            <a:r>
              <a:rPr lang="en-US" dirty="0" smtClean="0"/>
              <a:t>the ionic </a:t>
            </a:r>
            <a:r>
              <a:rPr lang="en-US" dirty="0"/>
              <a:t>radii, and</a:t>
            </a:r>
          </a:p>
          <a:p>
            <a:r>
              <a:rPr lang="en-US" dirty="0"/>
              <a:t>- the coordination number of </a:t>
            </a:r>
            <a:r>
              <a:rPr lang="en-US" dirty="0" smtClean="0"/>
              <a:t>the polyhedron </a:t>
            </a:r>
            <a:r>
              <a:rPr lang="en-US" dirty="0"/>
              <a:t>is determined by </a:t>
            </a:r>
            <a:r>
              <a:rPr lang="en-US" dirty="0" smtClean="0"/>
              <a:t>the </a:t>
            </a:r>
            <a:r>
              <a:rPr lang="en-US" dirty="0" err="1" smtClean="0"/>
              <a:t>cation</a:t>
            </a:r>
            <a:r>
              <a:rPr lang="en-US" dirty="0" smtClean="0"/>
              <a:t>/anion </a:t>
            </a:r>
            <a:r>
              <a:rPr lang="en-US" dirty="0"/>
              <a:t>radius ratio (</a:t>
            </a:r>
            <a:r>
              <a:rPr lang="en-US" dirty="0" err="1" smtClean="0"/>
              <a:t>Rc:Rx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Radius </a:t>
            </a:r>
            <a:r>
              <a:rPr lang="en-US" dirty="0" smtClean="0"/>
              <a:t>Ratio of </a:t>
            </a:r>
            <a:r>
              <a:rPr lang="en-US" dirty="0" err="1"/>
              <a:t>Cation</a:t>
            </a:r>
            <a:r>
              <a:rPr lang="en-US" dirty="0"/>
              <a:t> </a:t>
            </a:r>
            <a:r>
              <a:rPr lang="en-US" dirty="0" smtClean="0"/>
              <a:t>and Anion </a:t>
            </a:r>
            <a:r>
              <a:rPr lang="en-US" dirty="0"/>
              <a:t>(</a:t>
            </a:r>
            <a:r>
              <a:rPr lang="en-US" dirty="0" err="1"/>
              <a:t>Rc</a:t>
            </a:r>
            <a:r>
              <a:rPr lang="en-US" dirty="0"/>
              <a:t>/Ra</a:t>
            </a:r>
            <a:r>
              <a:rPr lang="en-US" dirty="0" smtClean="0"/>
              <a:t>), Coordination number and Coordination </a:t>
            </a:r>
            <a:r>
              <a:rPr lang="en-US" dirty="0" err="1" smtClean="0"/>
              <a:t>polyhedra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09600" y="609600"/>
          <a:ext cx="7467600" cy="5279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209800"/>
                <a:gridCol w="2743200"/>
              </a:tblGrid>
              <a:tr h="99060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Minimum</a:t>
                      </a:r>
                    </a:p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Radius</a:t>
                      </a:r>
                    </a:p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Ratio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1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Coordination</a:t>
                      </a:r>
                    </a:p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Packing</a:t>
                      </a:r>
                    </a:p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geometry</a:t>
                      </a:r>
                      <a:endParaRPr lang="en-US" dirty="0"/>
                    </a:p>
                  </a:txBody>
                  <a:tcPr/>
                </a:tc>
              </a:tr>
              <a:tr h="660747">
                <a:tc>
                  <a:txBody>
                    <a:bodyPr/>
                    <a:lstStyle/>
                    <a:p>
                      <a:pPr algn="l"/>
                      <a:r>
                        <a:rPr lang="en-US" sz="1400" baseline="0" dirty="0" smtClean="0">
                          <a:latin typeface="Arial"/>
                        </a:rPr>
                        <a:t>~1.0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aseline="0" dirty="0" smtClean="0">
                          <a:latin typeface="Arial"/>
                        </a:rPr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aseline="0" dirty="0" smtClean="0">
                          <a:latin typeface="Arial"/>
                        </a:rPr>
                        <a:t>Corners of a</a:t>
                      </a:r>
                    </a:p>
                    <a:p>
                      <a:pPr algn="l"/>
                      <a:r>
                        <a:rPr lang="en-US" sz="1400" baseline="0" dirty="0" err="1" smtClean="0">
                          <a:latin typeface="Arial"/>
                        </a:rPr>
                        <a:t>cuboctahedron</a:t>
                      </a:r>
                      <a:endParaRPr lang="en-US" sz="1400" baseline="0" dirty="0" smtClean="0">
                        <a:latin typeface="Arial"/>
                      </a:endParaRPr>
                    </a:p>
                    <a:p>
                      <a:pPr algn="l"/>
                      <a:r>
                        <a:rPr lang="en-US" sz="1400" baseline="0" dirty="0" smtClean="0">
                          <a:latin typeface="Arial"/>
                        </a:rPr>
                        <a:t>(close packing)</a:t>
                      </a:r>
                      <a:endParaRPr lang="en-US" dirty="0"/>
                    </a:p>
                  </a:txBody>
                  <a:tcPr/>
                </a:tc>
              </a:tr>
              <a:tr h="660747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0.732-1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Corners of a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cube</a:t>
                      </a:r>
                      <a:endParaRPr lang="en-US" dirty="0"/>
                    </a:p>
                  </a:txBody>
                  <a:tcPr/>
                </a:tc>
              </a:tr>
              <a:tr h="660747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0.414-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Corners of a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octahedron</a:t>
                      </a:r>
                      <a:endParaRPr lang="en-US" dirty="0"/>
                    </a:p>
                  </a:txBody>
                  <a:tcPr/>
                </a:tc>
              </a:tr>
              <a:tr h="660747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0.225-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Corners of a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tetrahedron</a:t>
                      </a:r>
                      <a:endParaRPr lang="en-US" dirty="0"/>
                    </a:p>
                  </a:txBody>
                  <a:tcPr/>
                </a:tc>
              </a:tr>
              <a:tr h="660747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0.155-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0.225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Corners of an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equilateral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triangle</a:t>
                      </a:r>
                      <a:endParaRPr lang="en-US" dirty="0"/>
                    </a:p>
                  </a:txBody>
                  <a:tcPr/>
                </a:tc>
              </a:tr>
              <a:tr h="660747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&lt;0.155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Linear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04800"/>
            <a:ext cx="4419600" cy="560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b="1" dirty="0"/>
              <a:t>Rule 2: </a:t>
            </a:r>
            <a:r>
              <a:rPr lang="en-US" b="1" dirty="0" smtClean="0"/>
              <a:t>The </a:t>
            </a:r>
            <a:r>
              <a:rPr lang="en-US" b="1" dirty="0"/>
              <a:t>electrostatic </a:t>
            </a:r>
            <a:r>
              <a:rPr lang="en-US" b="1" dirty="0" err="1"/>
              <a:t>valency</a:t>
            </a:r>
            <a:r>
              <a:rPr lang="en-US" b="1" dirty="0"/>
              <a:t> principle</a:t>
            </a:r>
          </a:p>
          <a:p>
            <a:r>
              <a:rPr lang="en-US" dirty="0"/>
              <a:t>The strength of an ionic (electrostatic</a:t>
            </a:r>
            <a:r>
              <a:rPr lang="en-US" dirty="0" smtClean="0"/>
              <a:t>) bond </a:t>
            </a:r>
            <a:r>
              <a:rPr lang="en-US" dirty="0"/>
              <a:t>(</a:t>
            </a:r>
            <a:r>
              <a:rPr lang="en-US" dirty="0" err="1"/>
              <a:t>e.v</a:t>
            </a:r>
            <a:r>
              <a:rPr lang="en-US" dirty="0"/>
              <a:t>.) between a </a:t>
            </a:r>
            <a:r>
              <a:rPr lang="en-US" dirty="0" err="1"/>
              <a:t>cation</a:t>
            </a:r>
            <a:r>
              <a:rPr lang="en-US" dirty="0"/>
              <a:t> and an </a:t>
            </a:r>
            <a:r>
              <a:rPr lang="en-US" dirty="0" smtClean="0"/>
              <a:t>anion is </a:t>
            </a:r>
            <a:r>
              <a:rPr lang="en-US" dirty="0"/>
              <a:t>equal to the charge of the anion (z</a:t>
            </a:r>
            <a:r>
              <a:rPr lang="en-US" dirty="0" smtClean="0"/>
              <a:t>) divided </a:t>
            </a:r>
            <a:r>
              <a:rPr lang="en-US" dirty="0"/>
              <a:t>by its coordination number (n):</a:t>
            </a:r>
          </a:p>
          <a:p>
            <a:r>
              <a:rPr lang="en-US" dirty="0" err="1"/>
              <a:t>e.v</a:t>
            </a:r>
            <a:r>
              <a:rPr lang="en-US" dirty="0"/>
              <a:t>. = z/n</a:t>
            </a:r>
          </a:p>
          <a:p>
            <a:r>
              <a:rPr lang="en-US" dirty="0"/>
              <a:t>In a stable (neutral) structure, a </a:t>
            </a:r>
            <a:r>
              <a:rPr lang="en-US" dirty="0" smtClean="0"/>
              <a:t>charge balance </a:t>
            </a:r>
            <a:r>
              <a:rPr lang="en-US" dirty="0"/>
              <a:t>results between the </a:t>
            </a:r>
            <a:r>
              <a:rPr lang="en-US" dirty="0" err="1"/>
              <a:t>cation</a:t>
            </a:r>
            <a:r>
              <a:rPr lang="en-US" dirty="0"/>
              <a:t> and </a:t>
            </a:r>
            <a:r>
              <a:rPr lang="en-US" dirty="0" smtClean="0"/>
              <a:t>its polyhedral </a:t>
            </a:r>
            <a:r>
              <a:rPr lang="en-US" dirty="0"/>
              <a:t>anions with which it is bonded.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Charge </a:t>
            </a:r>
            <a:r>
              <a:rPr lang="en-US" dirty="0" smtClean="0"/>
              <a:t>Balance of </a:t>
            </a:r>
            <a:r>
              <a:rPr lang="en-US" dirty="0"/>
              <a:t>Ionic Bonds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447800"/>
            <a:ext cx="3962399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Bond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/>
              <a:t>Isodesmic</a:t>
            </a:r>
            <a:r>
              <a:rPr lang="en-US" b="1" dirty="0"/>
              <a:t>: where all </a:t>
            </a:r>
            <a:r>
              <a:rPr lang="en-US" b="1" dirty="0" smtClean="0"/>
              <a:t>ionic </a:t>
            </a:r>
            <a:r>
              <a:rPr lang="en-US" dirty="0" smtClean="0"/>
              <a:t>bonds </a:t>
            </a:r>
            <a:r>
              <a:rPr lang="en-US" dirty="0"/>
              <a:t>are of equal strength</a:t>
            </a:r>
          </a:p>
          <a:p>
            <a:r>
              <a:rPr lang="en-US" dirty="0" smtClean="0"/>
              <a:t> </a:t>
            </a:r>
            <a:r>
              <a:rPr lang="en-US" dirty="0"/>
              <a:t>Anions tend to pack around </a:t>
            </a:r>
            <a:r>
              <a:rPr lang="en-US" dirty="0" smtClean="0"/>
              <a:t>the </a:t>
            </a:r>
            <a:r>
              <a:rPr lang="en-US" dirty="0" err="1" smtClean="0"/>
              <a:t>cation</a:t>
            </a:r>
            <a:r>
              <a:rPr lang="en-US" dirty="0" smtClean="0"/>
              <a:t> </a:t>
            </a:r>
            <a:r>
              <a:rPr lang="en-US" dirty="0"/>
              <a:t>in </a:t>
            </a:r>
            <a:r>
              <a:rPr lang="en-US" dirty="0" smtClean="0"/>
              <a:t>highly  symmetric and generally </a:t>
            </a:r>
            <a:r>
              <a:rPr lang="en-US" dirty="0"/>
              <a:t>close </a:t>
            </a:r>
            <a:r>
              <a:rPr lang="en-US" dirty="0" smtClean="0"/>
              <a:t>packing arrangement</a:t>
            </a:r>
            <a:endParaRPr lang="en-US" dirty="0"/>
          </a:p>
          <a:p>
            <a:r>
              <a:rPr lang="en-US" dirty="0" smtClean="0"/>
              <a:t>Most </a:t>
            </a:r>
            <a:r>
              <a:rPr lang="en-US" dirty="0"/>
              <a:t>of the minerals </a:t>
            </a:r>
            <a:r>
              <a:rPr lang="en-US" dirty="0" smtClean="0"/>
              <a:t>crystallize in </a:t>
            </a:r>
            <a:r>
              <a:rPr lang="en-US" dirty="0"/>
              <a:t>highly symmetric systems </a:t>
            </a:r>
            <a:r>
              <a:rPr lang="en-US" dirty="0" smtClean="0"/>
              <a:t>like isometric</a:t>
            </a:r>
            <a:r>
              <a:rPr lang="en-US" dirty="0"/>
              <a:t>, tetragonal </a:t>
            </a:r>
            <a:r>
              <a:rPr lang="en-US" dirty="0" smtClean="0"/>
              <a:t>or hexagonal </a:t>
            </a:r>
            <a:r>
              <a:rPr lang="en-US" dirty="0"/>
              <a:t>systems</a:t>
            </a:r>
          </a:p>
          <a:p>
            <a:r>
              <a:rPr lang="en-US" dirty="0" smtClean="0"/>
              <a:t>Oxides</a:t>
            </a:r>
            <a:r>
              <a:rPr lang="en-US" dirty="0"/>
              <a:t>, Fluorides, Chlorides </a:t>
            </a:r>
            <a:r>
              <a:rPr lang="en-US" dirty="0" smtClean="0"/>
              <a:t>are common </a:t>
            </a:r>
            <a:r>
              <a:rPr lang="en-US" dirty="0"/>
              <a:t>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81275" y="2153444"/>
            <a:ext cx="398145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Nonuniform</a:t>
            </a:r>
            <a:r>
              <a:rPr lang="en-US" dirty="0"/>
              <a:t> Bond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anion-</a:t>
            </a:r>
            <a:r>
              <a:rPr lang="en-US" dirty="0" err="1"/>
              <a:t>cation</a:t>
            </a:r>
            <a:r>
              <a:rPr lang="en-US" dirty="0"/>
              <a:t> bonds are </a:t>
            </a:r>
            <a:r>
              <a:rPr lang="en-US" dirty="0" smtClean="0"/>
              <a:t>stronger than </a:t>
            </a:r>
            <a:r>
              <a:rPr lang="en-US" dirty="0"/>
              <a:t>others: </a:t>
            </a:r>
            <a:r>
              <a:rPr lang="en-US" dirty="0" err="1"/>
              <a:t>cations</a:t>
            </a:r>
            <a:r>
              <a:rPr lang="en-US" dirty="0"/>
              <a:t> forming </a:t>
            </a:r>
            <a:r>
              <a:rPr lang="en-US" dirty="0" smtClean="0"/>
              <a:t>stronger bonds </a:t>
            </a:r>
            <a:r>
              <a:rPr lang="en-US" dirty="0"/>
              <a:t>are smaller and have a high </a:t>
            </a:r>
            <a:r>
              <a:rPr lang="en-US" dirty="0" smtClean="0"/>
              <a:t>charge</a:t>
            </a:r>
          </a:p>
          <a:p>
            <a:r>
              <a:rPr lang="pt-BR" dirty="0"/>
              <a:t>– </a:t>
            </a:r>
            <a:r>
              <a:rPr lang="pt-BR" dirty="0" smtClean="0"/>
              <a:t>Eg: </a:t>
            </a:r>
            <a:r>
              <a:rPr lang="pt-BR" dirty="0"/>
              <a:t>C</a:t>
            </a:r>
            <a:r>
              <a:rPr lang="pt-BR" baseline="30000" dirty="0"/>
              <a:t>4+</a:t>
            </a:r>
            <a:r>
              <a:rPr lang="pt-BR" dirty="0"/>
              <a:t>, S</a:t>
            </a:r>
            <a:r>
              <a:rPr lang="pt-BR" baseline="30000" dirty="0"/>
              <a:t>6+</a:t>
            </a:r>
            <a:r>
              <a:rPr lang="pt-BR" dirty="0"/>
              <a:t>, P</a:t>
            </a:r>
            <a:r>
              <a:rPr lang="pt-BR" baseline="30000" dirty="0"/>
              <a:t>5+</a:t>
            </a:r>
            <a:r>
              <a:rPr lang="pt-BR" dirty="0"/>
              <a:t>, Si</a:t>
            </a:r>
            <a:r>
              <a:rPr lang="pt-BR" baseline="30000" dirty="0"/>
              <a:t>4+</a:t>
            </a:r>
          </a:p>
          <a:p>
            <a:r>
              <a:rPr lang="en-US" dirty="0"/>
              <a:t>– These strongly charged </a:t>
            </a:r>
            <a:r>
              <a:rPr lang="en-US" dirty="0" err="1"/>
              <a:t>cations</a:t>
            </a:r>
            <a:r>
              <a:rPr lang="en-US" dirty="0"/>
              <a:t> from </a:t>
            </a:r>
            <a:r>
              <a:rPr lang="en-US" dirty="0" smtClean="0"/>
              <a:t>CO</a:t>
            </a:r>
            <a:r>
              <a:rPr lang="en-US" baseline="-25000" dirty="0" smtClean="0"/>
              <a:t>3</a:t>
            </a:r>
            <a:r>
              <a:rPr lang="en-US" baseline="30000" dirty="0" smtClean="0"/>
              <a:t>2-</a:t>
            </a:r>
            <a:r>
              <a:rPr lang="en-US" dirty="0" smtClean="0"/>
              <a:t>, SO</a:t>
            </a:r>
            <a:r>
              <a:rPr lang="en-US" baseline="-25000" dirty="0" smtClean="0"/>
              <a:t>4</a:t>
            </a:r>
            <a:r>
              <a:rPr lang="en-US" baseline="30000" dirty="0" smtClean="0"/>
              <a:t>4-</a:t>
            </a:r>
            <a:r>
              <a:rPr lang="en-US" dirty="0"/>
              <a:t>, </a:t>
            </a:r>
            <a:r>
              <a:rPr lang="en-US" dirty="0" smtClean="0"/>
              <a:t>PO</a:t>
            </a:r>
            <a:r>
              <a:rPr lang="en-US" baseline="-25000" dirty="0" smtClean="0"/>
              <a:t>4</a:t>
            </a:r>
            <a:r>
              <a:rPr lang="en-US" baseline="30000" dirty="0" smtClean="0"/>
              <a:t>3-</a:t>
            </a:r>
            <a:r>
              <a:rPr lang="en-US" dirty="0"/>
              <a:t>,</a:t>
            </a:r>
            <a:r>
              <a:rPr lang="en-US" dirty="0" smtClean="0"/>
              <a:t>SiO</a:t>
            </a:r>
            <a:r>
              <a:rPr lang="en-US" baseline="-25000" dirty="0" smtClean="0"/>
              <a:t>4</a:t>
            </a:r>
            <a:r>
              <a:rPr lang="en-US" baseline="30000" dirty="0" smtClean="0"/>
              <a:t>4-</a:t>
            </a:r>
            <a:r>
              <a:rPr lang="en-US" dirty="0" smtClean="0"/>
              <a:t> anionic groups</a:t>
            </a:r>
          </a:p>
          <a:p>
            <a:r>
              <a:rPr lang="en-US" dirty="0"/>
              <a:t>Have lower symmetry, </a:t>
            </a:r>
            <a:r>
              <a:rPr lang="en-US" dirty="0" smtClean="0"/>
              <a:t>irregular coordination </a:t>
            </a:r>
            <a:r>
              <a:rPr lang="en-US" dirty="0" err="1"/>
              <a:t>polyhedra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Formation of Anionic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Anisodesmic</a:t>
            </a:r>
            <a:r>
              <a:rPr lang="en-US" b="1" dirty="0"/>
              <a:t> Bonds results from high valence </a:t>
            </a:r>
            <a:r>
              <a:rPr lang="en-US" b="1" dirty="0" err="1"/>
              <a:t>cations</a:t>
            </a:r>
            <a:r>
              <a:rPr lang="en-US" b="1" dirty="0"/>
              <a:t> with </a:t>
            </a:r>
            <a:r>
              <a:rPr lang="en-US" b="1" dirty="0" smtClean="0"/>
              <a:t>electrostatic </a:t>
            </a:r>
            <a:r>
              <a:rPr lang="en-US" dirty="0" err="1" smtClean="0"/>
              <a:t>valencies</a:t>
            </a:r>
            <a:r>
              <a:rPr lang="en-US" dirty="0" smtClean="0"/>
              <a:t> </a:t>
            </a:r>
            <a:r>
              <a:rPr lang="en-US" dirty="0"/>
              <a:t>greater </a:t>
            </a:r>
            <a:r>
              <a:rPr lang="en-US" dirty="0" smtClean="0"/>
              <a:t>than </a:t>
            </a:r>
            <a:r>
              <a:rPr lang="en-US" dirty="0"/>
              <a:t>half the </a:t>
            </a:r>
            <a:r>
              <a:rPr lang="en-US" dirty="0" err="1"/>
              <a:t>valency</a:t>
            </a:r>
            <a:r>
              <a:rPr lang="en-US" dirty="0"/>
              <a:t> of the polyhedral anions; </a:t>
            </a:r>
            <a:r>
              <a:rPr lang="en-US" dirty="0" smtClean="0"/>
              <a:t>other bonds </a:t>
            </a:r>
            <a:r>
              <a:rPr lang="en-US" dirty="0"/>
              <a:t>with those anions will be relatively weaker.</a:t>
            </a:r>
          </a:p>
          <a:p>
            <a:r>
              <a:rPr lang="en-US" dirty="0" err="1"/>
              <a:t>Mesodesmic</a:t>
            </a:r>
            <a:r>
              <a:rPr lang="en-US" dirty="0"/>
              <a:t>: anion-</a:t>
            </a:r>
            <a:r>
              <a:rPr lang="en-US" dirty="0" err="1"/>
              <a:t>cation</a:t>
            </a:r>
            <a:r>
              <a:rPr lang="en-US" dirty="0"/>
              <a:t> bond takes exactly half </a:t>
            </a:r>
            <a:r>
              <a:rPr lang="en-US" dirty="0" err="1"/>
              <a:t>othe</a:t>
            </a:r>
            <a:r>
              <a:rPr lang="en-US" dirty="0"/>
              <a:t> available </a:t>
            </a:r>
            <a:r>
              <a:rPr lang="en-US" dirty="0" err="1" smtClean="0"/>
              <a:t>anioncation</a:t>
            </a:r>
            <a:r>
              <a:rPr lang="en-US" dirty="0" smtClean="0"/>
              <a:t> charge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Anisodesmic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28800"/>
            <a:ext cx="420052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877219"/>
            <a:ext cx="4724400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38400" y="1524000"/>
            <a:ext cx="3686175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143000" y="4953000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Anisodesmic</a:t>
            </a:r>
            <a:r>
              <a:rPr lang="en-US" dirty="0"/>
              <a:t> carbonate (</a:t>
            </a:r>
            <a:r>
              <a:rPr lang="en-US" dirty="0" smtClean="0"/>
              <a:t>CO</a:t>
            </a:r>
            <a:r>
              <a:rPr lang="en-US" baseline="-25000" dirty="0" smtClean="0"/>
              <a:t>3</a:t>
            </a:r>
            <a:r>
              <a:rPr lang="en-US" baseline="30000" dirty="0" smtClean="0"/>
              <a:t>2</a:t>
            </a:r>
            <a:r>
              <a:rPr lang="en-US" baseline="30000" dirty="0"/>
              <a:t>−</a:t>
            </a:r>
            <a:r>
              <a:rPr lang="en-US" dirty="0"/>
              <a:t>) group. Each O–C bond occupies 1.33 of the available –2 charge on oxygen; only two-thirds </a:t>
            </a:r>
            <a:r>
              <a:rPr lang="en-US" dirty="0" smtClean="0"/>
              <a:t>of a </a:t>
            </a:r>
            <a:r>
              <a:rPr lang="en-US" dirty="0"/>
              <a:t>charge on the oxygen is available to bond with other </a:t>
            </a:r>
            <a:r>
              <a:rPr lang="en-US" dirty="0" err="1"/>
              <a:t>cations</a:t>
            </a:r>
            <a:r>
              <a:rPr lang="en-US" dirty="0"/>
              <a:t> such as Ca</a:t>
            </a:r>
            <a:r>
              <a:rPr lang="en-US" baseline="30000" dirty="0"/>
              <a:t>2+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0" y="609600"/>
            <a:ext cx="2247900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676400" y="4953000"/>
            <a:ext cx="426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Mesodesmic</a:t>
            </a:r>
            <a:r>
              <a:rPr lang="en-US" dirty="0"/>
              <a:t> silicon </a:t>
            </a:r>
            <a:r>
              <a:rPr lang="en-US" dirty="0" err="1"/>
              <a:t>tetrahedra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Rule 3: Anion </a:t>
            </a:r>
            <a:r>
              <a:rPr lang="en-US" b="1" dirty="0" err="1"/>
              <a:t>polyhedra</a:t>
            </a:r>
            <a:r>
              <a:rPr lang="en-US" b="1" dirty="0"/>
              <a:t> that share edges </a:t>
            </a:r>
            <a:r>
              <a:rPr lang="en-US" b="1" dirty="0" smtClean="0"/>
              <a:t>or </a:t>
            </a:r>
            <a:r>
              <a:rPr lang="en-US" dirty="0" smtClean="0"/>
              <a:t>faces </a:t>
            </a:r>
            <a:r>
              <a:rPr lang="en-US" dirty="0"/>
              <a:t>decrease their stability due to </a:t>
            </a:r>
            <a:r>
              <a:rPr lang="en-US" dirty="0" smtClean="0"/>
              <a:t>bringing </a:t>
            </a:r>
            <a:r>
              <a:rPr lang="en-US" dirty="0" err="1" smtClean="0"/>
              <a:t>cations</a:t>
            </a:r>
            <a:r>
              <a:rPr lang="en-US" dirty="0" smtClean="0"/>
              <a:t> </a:t>
            </a:r>
            <a:r>
              <a:rPr lang="en-US" dirty="0"/>
              <a:t>closer together; especially significant </a:t>
            </a:r>
            <a:r>
              <a:rPr lang="en-US" dirty="0" smtClean="0"/>
              <a:t>for high </a:t>
            </a:r>
            <a:r>
              <a:rPr lang="en-US" dirty="0" err="1"/>
              <a:t>valency</a:t>
            </a:r>
            <a:r>
              <a:rPr lang="en-US" dirty="0"/>
              <a:t> </a:t>
            </a:r>
            <a:r>
              <a:rPr lang="en-US" dirty="0" err="1"/>
              <a:t>cations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Rule 4: In structures with different types </a:t>
            </a:r>
            <a:r>
              <a:rPr lang="en-US" b="1" dirty="0" smtClean="0"/>
              <a:t>of </a:t>
            </a:r>
            <a:r>
              <a:rPr lang="en-US" dirty="0" err="1" smtClean="0"/>
              <a:t>cations</a:t>
            </a:r>
            <a:r>
              <a:rPr lang="en-US" dirty="0"/>
              <a:t>, those </a:t>
            </a:r>
            <a:r>
              <a:rPr lang="en-US" dirty="0" err="1"/>
              <a:t>cations</a:t>
            </a:r>
            <a:r>
              <a:rPr lang="en-US" dirty="0"/>
              <a:t> with high </a:t>
            </a:r>
            <a:r>
              <a:rPr lang="en-US" dirty="0" err="1"/>
              <a:t>valency</a:t>
            </a:r>
            <a:r>
              <a:rPr lang="en-US" dirty="0"/>
              <a:t> </a:t>
            </a:r>
            <a:r>
              <a:rPr lang="en-US" dirty="0" smtClean="0"/>
              <a:t>and small </a:t>
            </a:r>
            <a:r>
              <a:rPr lang="en-US" dirty="0"/>
              <a:t>CN tend not to share </a:t>
            </a:r>
            <a:r>
              <a:rPr lang="en-US" dirty="0" err="1"/>
              <a:t>polyhedra</a:t>
            </a:r>
            <a:r>
              <a:rPr lang="en-US" dirty="0"/>
              <a:t> with </a:t>
            </a:r>
            <a:r>
              <a:rPr lang="en-US" dirty="0" smtClean="0"/>
              <a:t>each other</a:t>
            </a:r>
            <a:r>
              <a:rPr lang="en-US" dirty="0"/>
              <a:t>; when they do, </a:t>
            </a:r>
            <a:r>
              <a:rPr lang="en-US" dirty="0" err="1"/>
              <a:t>polyhedra</a:t>
            </a:r>
            <a:r>
              <a:rPr lang="en-US" dirty="0"/>
              <a:t> are deformed </a:t>
            </a:r>
            <a:r>
              <a:rPr lang="en-US" dirty="0" smtClean="0"/>
              <a:t>to accommodate </a:t>
            </a:r>
            <a:r>
              <a:rPr lang="en-US" dirty="0" err="1"/>
              <a:t>cation</a:t>
            </a:r>
            <a:r>
              <a:rPr lang="en-US" dirty="0"/>
              <a:t> repulsion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5000" y="685800"/>
            <a:ext cx="527685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743200" y="4267200"/>
            <a:ext cx="411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Sharing anions between </a:t>
            </a:r>
            <a:r>
              <a:rPr lang="en-US" dirty="0" err="1"/>
              <a:t>polyhedra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Rule 5: The principle of parsimony : nature </a:t>
            </a:r>
            <a:r>
              <a:rPr lang="en-US" b="1" dirty="0" smtClean="0"/>
              <a:t>tends </a:t>
            </a:r>
            <a:r>
              <a:rPr lang="en-US" dirty="0" smtClean="0"/>
              <a:t>towards simplicity </a:t>
            </a:r>
          </a:p>
          <a:p>
            <a:r>
              <a:rPr lang="en-US" dirty="0" smtClean="0"/>
              <a:t>Because </a:t>
            </a:r>
            <a:r>
              <a:rPr lang="en-US" dirty="0"/>
              <a:t>the number and types of different </a:t>
            </a:r>
            <a:r>
              <a:rPr lang="en-US" dirty="0" smtClean="0"/>
              <a:t>structural sites </a:t>
            </a:r>
            <a:r>
              <a:rPr lang="en-US" dirty="0"/>
              <a:t>tends to be limited, even in complex minerals</a:t>
            </a:r>
            <a:r>
              <a:rPr lang="en-US" dirty="0" smtClean="0"/>
              <a:t>, different </a:t>
            </a:r>
            <a:r>
              <a:rPr lang="en-US" dirty="0"/>
              <a:t>ionic elements are forced to occupy the </a:t>
            </a:r>
            <a:r>
              <a:rPr lang="en-US" dirty="0" smtClean="0"/>
              <a:t>same structural </a:t>
            </a:r>
            <a:r>
              <a:rPr lang="en-US" dirty="0"/>
              <a:t>positions – leads to solid solution.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62125" y="2696369"/>
            <a:ext cx="561975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352800" y="5410200"/>
            <a:ext cx="274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NaCl</a:t>
            </a:r>
            <a:r>
              <a:rPr lang="en-US" dirty="0"/>
              <a:t> structure.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09800" y="381000"/>
            <a:ext cx="3438525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38200" y="4724400"/>
            <a:ext cx="746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Anhydrite structure. Isolated </a:t>
            </a:r>
            <a:r>
              <a:rPr lang="en-US" dirty="0" smtClean="0"/>
              <a:t>SO</a:t>
            </a:r>
            <a:r>
              <a:rPr lang="en-US" baseline="-25000" dirty="0" smtClean="0"/>
              <a:t>4</a:t>
            </a:r>
            <a:r>
              <a:rPr lang="en-US" baseline="30000" dirty="0" smtClean="0"/>
              <a:t>2</a:t>
            </a:r>
            <a:r>
              <a:rPr lang="en-US" baseline="30000" dirty="0"/>
              <a:t>−</a:t>
            </a:r>
            <a:r>
              <a:rPr lang="en-US" dirty="0"/>
              <a:t> groups are bonded laterally through </a:t>
            </a:r>
            <a:r>
              <a:rPr lang="en-US" dirty="0" smtClean="0"/>
              <a:t>Ca</a:t>
            </a:r>
            <a:r>
              <a:rPr lang="en-US" baseline="30000" dirty="0" smtClean="0"/>
              <a:t>2+</a:t>
            </a:r>
            <a:r>
              <a:rPr lang="en-US" dirty="0" smtClean="0"/>
              <a:t> </a:t>
            </a:r>
            <a:r>
              <a:rPr lang="en-US" dirty="0"/>
              <a:t>(dark spheres).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Crystal types: simple cubic (c), body centered cubic (bcc), face centered cubic (</a:t>
            </a:r>
            <a:r>
              <a:rPr lang="en-US" dirty="0" err="1" smtClean="0"/>
              <a:t>fcc</a:t>
            </a:r>
            <a:r>
              <a:rPr lang="en-US" dirty="0" smtClean="0"/>
              <a:t>/</a:t>
            </a:r>
            <a:r>
              <a:rPr lang="en-US" dirty="0" err="1" smtClean="0"/>
              <a:t>ccp</a:t>
            </a:r>
            <a:r>
              <a:rPr lang="en-US" dirty="0" smtClean="0"/>
              <a:t>) hexagonal close packed (</a:t>
            </a:r>
            <a:r>
              <a:rPr lang="en-US" dirty="0" err="1" smtClean="0"/>
              <a:t>hcp</a:t>
            </a:r>
            <a:r>
              <a:rPr lang="en-US" smtClean="0"/>
              <a:t>) etc.,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746125" y="1162050"/>
            <a:ext cx="847725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800">
                <a:solidFill>
                  <a:srgbClr val="000000"/>
                </a:solidFill>
                <a:latin typeface="Arial Rounded MT Bold" charset="0"/>
              </a:rPr>
              <a:t>Type</a:t>
            </a:r>
            <a:endParaRPr lang="en-US">
              <a:latin typeface="Times" charset="0"/>
            </a:endParaRP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815975" y="1746250"/>
            <a:ext cx="7270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Ionic</a:t>
            </a:r>
            <a:endParaRPr lang="en-US">
              <a:latin typeface="Times" charset="0"/>
            </a:endParaRP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523875" y="2813050"/>
            <a:ext cx="13112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Covalent</a:t>
            </a:r>
            <a:endParaRPr lang="en-US">
              <a:latin typeface="Times" charset="0"/>
            </a:endParaRP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606425" y="4235450"/>
            <a:ext cx="11525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Metallic</a:t>
            </a:r>
            <a:endParaRPr lang="en-US">
              <a:latin typeface="Times" charset="0"/>
            </a:endParaRPr>
          </a:p>
        </p:txBody>
      </p:sp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377825" y="5302250"/>
            <a:ext cx="1603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Secondary</a:t>
            </a:r>
            <a:endParaRPr lang="en-US">
              <a:latin typeface="Times" charset="0"/>
            </a:endParaRPr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2176463" y="1162050"/>
            <a:ext cx="2227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800">
                <a:solidFill>
                  <a:srgbClr val="000000"/>
                </a:solidFill>
                <a:latin typeface="Arial Rounded MT Bold" charset="0"/>
              </a:rPr>
              <a:t>Bond Energy</a:t>
            </a:r>
            <a:endParaRPr lang="en-US">
              <a:latin typeface="Times" charset="0"/>
            </a:endParaRPr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2805113" y="1746250"/>
            <a:ext cx="9715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Large!</a:t>
            </a:r>
            <a:endParaRPr lang="en-US">
              <a:latin typeface="Times" charset="0"/>
            </a:endParaRP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2670175" y="2457450"/>
            <a:ext cx="12414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Variable</a:t>
            </a:r>
            <a:endParaRPr lang="en-US">
              <a:latin typeface="Times" charset="0"/>
            </a:endParaRPr>
          </a:p>
        </p:txBody>
      </p: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2197100" y="2813050"/>
            <a:ext cx="21875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large-Diamond</a:t>
            </a:r>
            <a:endParaRPr lang="en-US">
              <a:latin typeface="Times" charset="0"/>
            </a:endParaRPr>
          </a:p>
        </p:txBody>
      </p:sp>
      <p:sp>
        <p:nvSpPr>
          <p:cNvPr id="52235" name="Rectangle 11"/>
          <p:cNvSpPr>
            <a:spLocks noChangeArrowheads="1"/>
          </p:cNvSpPr>
          <p:nvPr/>
        </p:nvSpPr>
        <p:spPr bwMode="auto">
          <a:xfrm>
            <a:off x="2243138" y="3168650"/>
            <a:ext cx="20955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small-Bismuth</a:t>
            </a:r>
            <a:endParaRPr lang="en-US">
              <a:latin typeface="Times" charset="0"/>
            </a:endParaRPr>
          </a:p>
        </p:txBody>
      </p:sp>
      <p:sp>
        <p:nvSpPr>
          <p:cNvPr id="52236" name="Rectangle 12"/>
          <p:cNvSpPr>
            <a:spLocks noChangeArrowheads="1"/>
          </p:cNvSpPr>
          <p:nvPr/>
        </p:nvSpPr>
        <p:spPr bwMode="auto">
          <a:xfrm>
            <a:off x="2670175" y="3879850"/>
            <a:ext cx="12414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Variable</a:t>
            </a:r>
            <a:endParaRPr lang="en-US">
              <a:latin typeface="Times" charset="0"/>
            </a:endParaRPr>
          </a:p>
        </p:txBody>
      </p:sp>
      <p:sp>
        <p:nvSpPr>
          <p:cNvPr id="52237" name="Rectangle 13"/>
          <p:cNvSpPr>
            <a:spLocks noChangeArrowheads="1"/>
          </p:cNvSpPr>
          <p:nvPr/>
        </p:nvSpPr>
        <p:spPr bwMode="auto">
          <a:xfrm>
            <a:off x="2162175" y="4235450"/>
            <a:ext cx="22574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large-Tungsten</a:t>
            </a:r>
            <a:endParaRPr lang="en-US">
              <a:latin typeface="Times" charset="0"/>
            </a:endParaRPr>
          </a:p>
        </p:txBody>
      </p:sp>
      <p:sp>
        <p:nvSpPr>
          <p:cNvPr id="52238" name="Rectangle 14"/>
          <p:cNvSpPr>
            <a:spLocks noChangeArrowheads="1"/>
          </p:cNvSpPr>
          <p:nvPr/>
        </p:nvSpPr>
        <p:spPr bwMode="auto">
          <a:xfrm>
            <a:off x="2233613" y="4591050"/>
            <a:ext cx="21145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small-Mercury</a:t>
            </a:r>
            <a:endParaRPr lang="en-US">
              <a:latin typeface="Times" charset="0"/>
            </a:endParaRPr>
          </a:p>
        </p:txBody>
      </p:sp>
      <p:sp>
        <p:nvSpPr>
          <p:cNvPr id="52239" name="Rectangle 15"/>
          <p:cNvSpPr>
            <a:spLocks noChangeArrowheads="1"/>
          </p:cNvSpPr>
          <p:nvPr/>
        </p:nvSpPr>
        <p:spPr bwMode="auto">
          <a:xfrm>
            <a:off x="2673350" y="5302250"/>
            <a:ext cx="12350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smallest</a:t>
            </a:r>
            <a:endParaRPr lang="en-US">
              <a:latin typeface="Times" charset="0"/>
            </a:endParaRPr>
          </a:p>
        </p:txBody>
      </p:sp>
      <p:sp>
        <p:nvSpPr>
          <p:cNvPr id="52240" name="Rectangle 16"/>
          <p:cNvSpPr>
            <a:spLocks noChangeArrowheads="1"/>
          </p:cNvSpPr>
          <p:nvPr/>
        </p:nvSpPr>
        <p:spPr bwMode="auto">
          <a:xfrm>
            <a:off x="5630863" y="1162050"/>
            <a:ext cx="1849437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800">
                <a:solidFill>
                  <a:srgbClr val="000000"/>
                </a:solidFill>
                <a:latin typeface="Arial Rounded MT Bold" charset="0"/>
              </a:rPr>
              <a:t>Comments</a:t>
            </a:r>
            <a:endParaRPr lang="en-US">
              <a:latin typeface="Times" charset="0"/>
            </a:endParaRPr>
          </a:p>
        </p:txBody>
      </p:sp>
      <p:sp>
        <p:nvSpPr>
          <p:cNvPr id="52241" name="Rectangle 17"/>
          <p:cNvSpPr>
            <a:spLocks noChangeArrowheads="1"/>
          </p:cNvSpPr>
          <p:nvPr/>
        </p:nvSpPr>
        <p:spPr bwMode="auto">
          <a:xfrm>
            <a:off x="6775450" y="1568450"/>
            <a:ext cx="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endParaRPr lang="en-US">
              <a:latin typeface="Times" charset="0"/>
            </a:endParaRPr>
          </a:p>
        </p:txBody>
      </p:sp>
      <p:sp>
        <p:nvSpPr>
          <p:cNvPr id="52242" name="Rectangle 18"/>
          <p:cNvSpPr>
            <a:spLocks noChangeArrowheads="1"/>
          </p:cNvSpPr>
          <p:nvPr/>
        </p:nvSpPr>
        <p:spPr bwMode="auto">
          <a:xfrm>
            <a:off x="4711700" y="1746250"/>
            <a:ext cx="38576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Nondirectional (</a:t>
            </a:r>
            <a:r>
              <a:rPr lang="en-US">
                <a:solidFill>
                  <a:srgbClr val="0000AA"/>
                </a:solidFill>
                <a:latin typeface="Arial Rounded MT Bold" charset="0"/>
              </a:rPr>
              <a:t>ceramics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)</a:t>
            </a:r>
          </a:p>
        </p:txBody>
      </p:sp>
      <p:sp>
        <p:nvSpPr>
          <p:cNvPr id="52243" name="Rectangle 19"/>
          <p:cNvSpPr>
            <a:spLocks noChangeArrowheads="1"/>
          </p:cNvSpPr>
          <p:nvPr/>
        </p:nvSpPr>
        <p:spPr bwMode="auto">
          <a:xfrm>
            <a:off x="5675313" y="2457450"/>
            <a:ext cx="1625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Directional</a:t>
            </a:r>
            <a:endParaRPr lang="en-US">
              <a:latin typeface="Times" charset="0"/>
            </a:endParaRPr>
          </a:p>
        </p:txBody>
      </p:sp>
      <p:sp>
        <p:nvSpPr>
          <p:cNvPr id="52244" name="Rectangle 20"/>
          <p:cNvSpPr>
            <a:spLocks noChangeArrowheads="1"/>
          </p:cNvSpPr>
          <p:nvPr/>
        </p:nvSpPr>
        <p:spPr bwMode="auto">
          <a:xfrm>
            <a:off x="4670425" y="2819400"/>
            <a:ext cx="39401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3366FF"/>
                </a:solidFill>
                <a:latin typeface="Arial Rounded MT Bold" charset="0"/>
              </a:rPr>
              <a:t>semiconductors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, </a:t>
            </a:r>
            <a:r>
              <a:rPr lang="en-US">
                <a:solidFill>
                  <a:srgbClr val="0000AA"/>
                </a:solidFill>
                <a:latin typeface="Arial Rounded MT Bold" charset="0"/>
              </a:rPr>
              <a:t>ceramics</a:t>
            </a:r>
          </a:p>
        </p:txBody>
      </p:sp>
      <p:sp>
        <p:nvSpPr>
          <p:cNvPr id="52245" name="Rectangle 21"/>
          <p:cNvSpPr>
            <a:spLocks noChangeArrowheads="1"/>
          </p:cNvSpPr>
          <p:nvPr/>
        </p:nvSpPr>
        <p:spPr bwMode="auto">
          <a:xfrm>
            <a:off x="5456238" y="3168650"/>
            <a:ext cx="23685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6600"/>
                </a:solidFill>
                <a:latin typeface="Arial Rounded MT Bold" charset="0"/>
              </a:rPr>
              <a:t>polymer 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chains)</a:t>
            </a:r>
          </a:p>
        </p:txBody>
      </p:sp>
      <p:sp>
        <p:nvSpPr>
          <p:cNvPr id="52246" name="Rectangle 22"/>
          <p:cNvSpPr>
            <a:spLocks noChangeArrowheads="1"/>
          </p:cNvSpPr>
          <p:nvPr/>
        </p:nvSpPr>
        <p:spPr bwMode="auto">
          <a:xfrm>
            <a:off x="4905375" y="4235450"/>
            <a:ext cx="34702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Nondirectional (</a:t>
            </a:r>
            <a:r>
              <a:rPr lang="en-US">
                <a:solidFill>
                  <a:srgbClr val="FF0000"/>
                </a:solidFill>
                <a:latin typeface="Arial Rounded MT Bold" charset="0"/>
              </a:rPr>
              <a:t>metals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)</a:t>
            </a:r>
          </a:p>
        </p:txBody>
      </p:sp>
      <p:sp>
        <p:nvSpPr>
          <p:cNvPr id="52247" name="Rectangle 23"/>
          <p:cNvSpPr>
            <a:spLocks noChangeArrowheads="1"/>
          </p:cNvSpPr>
          <p:nvPr/>
        </p:nvSpPr>
        <p:spPr bwMode="auto">
          <a:xfrm>
            <a:off x="5751513" y="4946650"/>
            <a:ext cx="1625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Directional</a:t>
            </a:r>
            <a:endParaRPr lang="en-US">
              <a:latin typeface="Times" charset="0"/>
            </a:endParaRPr>
          </a:p>
        </p:txBody>
      </p:sp>
      <p:sp>
        <p:nvSpPr>
          <p:cNvPr id="52248" name="Rectangle 24"/>
          <p:cNvSpPr>
            <a:spLocks noChangeArrowheads="1"/>
          </p:cNvSpPr>
          <p:nvPr/>
        </p:nvSpPr>
        <p:spPr bwMode="auto">
          <a:xfrm>
            <a:off x="5051425" y="5273675"/>
            <a:ext cx="31781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inter-chain (</a:t>
            </a:r>
            <a:r>
              <a:rPr lang="en-US">
                <a:solidFill>
                  <a:srgbClr val="006600"/>
                </a:solidFill>
                <a:latin typeface="Arial Rounded MT Bold" charset="0"/>
              </a:rPr>
              <a:t>polymer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) </a:t>
            </a:r>
          </a:p>
        </p:txBody>
      </p:sp>
      <p:sp>
        <p:nvSpPr>
          <p:cNvPr id="52249" name="Rectangle 25"/>
          <p:cNvSpPr>
            <a:spLocks noChangeArrowheads="1"/>
          </p:cNvSpPr>
          <p:nvPr/>
        </p:nvSpPr>
        <p:spPr bwMode="auto">
          <a:xfrm>
            <a:off x="5434013" y="5657850"/>
            <a:ext cx="22701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inter-molecular</a:t>
            </a:r>
            <a:endParaRPr lang="en-US">
              <a:latin typeface="Times" charset="0"/>
            </a:endParaRPr>
          </a:p>
        </p:txBody>
      </p:sp>
      <p:sp>
        <p:nvSpPr>
          <p:cNvPr id="52250" name="Rectangle 26"/>
          <p:cNvSpPr>
            <a:spLocks noChangeArrowheads="1"/>
          </p:cNvSpPr>
          <p:nvPr/>
        </p:nvSpPr>
        <p:spPr bwMode="auto">
          <a:xfrm>
            <a:off x="685800" y="3810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600">
                <a:solidFill>
                  <a:schemeClr val="tx2"/>
                </a:solidFill>
                <a:latin typeface="Arial Rounded MT Bold" charset="0"/>
              </a:rPr>
              <a:t>SUMMARY:  BONDING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4876800" y="5181600"/>
            <a:ext cx="3962400" cy="533400"/>
          </a:xfrm>
          <a:prstGeom prst="rect">
            <a:avLst/>
          </a:prstGeom>
          <a:solidFill>
            <a:srgbClr val="CCCCFF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457200" y="1143000"/>
            <a:ext cx="2533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Bond length</a:t>
            </a:r>
            <a:r>
              <a:rPr lang="en-US">
                <a:latin typeface="Arial Rounded MT Bold" charset="0"/>
              </a:rPr>
              <a:t>, r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457200" y="2844800"/>
            <a:ext cx="2830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Bond energy</a:t>
            </a:r>
            <a:r>
              <a:rPr lang="en-US">
                <a:latin typeface="Arial Rounded MT Bold" charset="0"/>
              </a:rPr>
              <a:t>, E</a:t>
            </a:r>
            <a:r>
              <a:rPr lang="en-US" baseline="-2000">
                <a:latin typeface="Arial Rounded MT Bold" charset="0"/>
              </a:rPr>
              <a:t>o</a:t>
            </a:r>
            <a:endParaRPr lang="en-US">
              <a:latin typeface="Arial Rounded MT Bold" charset="0"/>
            </a:endParaRPr>
          </a:p>
        </p:txBody>
      </p:sp>
      <p:pic>
        <p:nvPicPr>
          <p:cNvPr id="532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" y="1676400"/>
            <a:ext cx="31623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4495800" y="1219200"/>
            <a:ext cx="4078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Melting Temperature</a:t>
            </a:r>
            <a:r>
              <a:rPr lang="en-US">
                <a:latin typeface="Arial Rounded MT Bold" charset="0"/>
              </a:rPr>
              <a:t>, T</a:t>
            </a:r>
            <a:r>
              <a:rPr lang="en-US" baseline="-2000">
                <a:latin typeface="Arial Rounded MT Bold" charset="0"/>
              </a:rPr>
              <a:t>m</a:t>
            </a:r>
            <a:endParaRPr lang="en-US">
              <a:latin typeface="Arial Rounded MT Bold" charset="0"/>
            </a:endParaRPr>
          </a:p>
        </p:txBody>
      </p:sp>
      <p:pic>
        <p:nvPicPr>
          <p:cNvPr id="5325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2800" y="3505200"/>
            <a:ext cx="3454400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256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1600200"/>
            <a:ext cx="3238500" cy="344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4876800" y="5181600"/>
            <a:ext cx="3914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T</a:t>
            </a:r>
            <a:r>
              <a:rPr lang="en-US" baseline="-2000">
                <a:latin typeface="Arial Rounded MT Bold" charset="0"/>
              </a:rPr>
              <a:t>m</a:t>
            </a:r>
            <a:r>
              <a:rPr lang="en-US">
                <a:latin typeface="Arial Rounded MT Bold" charset="0"/>
              </a:rPr>
              <a:t> is larger if E</a:t>
            </a:r>
            <a:r>
              <a:rPr lang="en-US" baseline="-2000">
                <a:latin typeface="Arial Rounded MT Bold" charset="0"/>
              </a:rPr>
              <a:t>o</a:t>
            </a:r>
            <a:r>
              <a:rPr lang="en-US">
                <a:latin typeface="Arial Rounded MT Bold" charset="0"/>
              </a:rPr>
              <a:t> is larger.</a:t>
            </a:r>
          </a:p>
        </p:txBody>
      </p:sp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685800" y="381000"/>
            <a:ext cx="7924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600">
                <a:solidFill>
                  <a:schemeClr val="tx2"/>
                </a:solidFill>
                <a:latin typeface="Arial Rounded MT Bold" charset="0"/>
              </a:rPr>
              <a:t>PROPERTIES FROM BONDING: T</a:t>
            </a:r>
            <a:r>
              <a:rPr lang="en-US" sz="3600" baseline="-25000">
                <a:solidFill>
                  <a:schemeClr val="tx2"/>
                </a:solidFill>
                <a:latin typeface="Arial Rounded MT Bold" charset="0"/>
              </a:rPr>
              <a:t>M</a:t>
            </a:r>
            <a:endParaRPr lang="en-US" sz="3600">
              <a:solidFill>
                <a:schemeClr val="tx2"/>
              </a:solidFill>
              <a:latin typeface="Arial Rounded MT Bold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457200" y="854075"/>
            <a:ext cx="3159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Elastic modulus</a:t>
            </a:r>
            <a:r>
              <a:rPr lang="en-US">
                <a:latin typeface="Arial Rounded MT Bold" charset="0"/>
              </a:rPr>
              <a:t>, E</a:t>
            </a: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57200" y="3292475"/>
            <a:ext cx="3125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E ~ curvature at r</a:t>
            </a:r>
            <a:r>
              <a:rPr lang="en-US" baseline="-2000">
                <a:latin typeface="Arial Rounded MT Bold" charset="0"/>
              </a:rPr>
              <a:t>o</a:t>
            </a:r>
            <a:endParaRPr lang="en-US">
              <a:latin typeface="Arial Rounded MT Bold" charset="0"/>
            </a:endParaRPr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6500" y="930275"/>
            <a:ext cx="3746500" cy="234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9200" y="1235075"/>
            <a:ext cx="3327400" cy="168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4953000" y="4724400"/>
            <a:ext cx="3748088" cy="457200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E is larger if E</a:t>
            </a:r>
            <a:r>
              <a:rPr lang="en-US" baseline="-2000">
                <a:latin typeface="Arial Rounded MT Bold" charset="0"/>
              </a:rPr>
              <a:t>o</a:t>
            </a:r>
            <a:r>
              <a:rPr lang="en-US">
                <a:latin typeface="Arial Rounded MT Bold" charset="0"/>
              </a:rPr>
              <a:t> is larger.</a:t>
            </a:r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685800" y="2286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>
                <a:solidFill>
                  <a:schemeClr val="tx2"/>
                </a:solidFill>
                <a:latin typeface="Arial Rounded MT Bold" charset="0"/>
              </a:rPr>
              <a:t>PROPERTIES FROM BONDING:  E</a:t>
            </a:r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457200" y="3292475"/>
            <a:ext cx="3125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E ~ curvature at r</a:t>
            </a:r>
            <a:r>
              <a:rPr lang="en-US" baseline="-2000">
                <a:latin typeface="Arial Rounded MT Bold" charset="0"/>
              </a:rPr>
              <a:t>o</a:t>
            </a:r>
            <a:endParaRPr lang="en-US">
              <a:latin typeface="Arial Rounded MT Bold" charset="0"/>
            </a:endParaRPr>
          </a:p>
        </p:txBody>
      </p:sp>
      <p:pic>
        <p:nvPicPr>
          <p:cNvPr id="54281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03300" y="3470275"/>
            <a:ext cx="5168900" cy="325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457200" y="914400"/>
            <a:ext cx="558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Coefficient of thermal expansion</a:t>
            </a:r>
            <a:r>
              <a:rPr lang="en-US">
                <a:latin typeface="Arial Rounded MT Bold" charset="0"/>
              </a:rPr>
              <a:t>, </a:t>
            </a:r>
            <a:r>
              <a:rPr lang="en-US">
                <a:latin typeface="Symbol" pitchFamily="18" charset="2"/>
              </a:rPr>
              <a:t>a</a:t>
            </a:r>
            <a:endParaRPr lang="en-US">
              <a:latin typeface="Arial Rounded MT Bold" charset="0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457200" y="3314700"/>
            <a:ext cx="3121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>
                <a:latin typeface="Symbol" pitchFamily="18" charset="2"/>
              </a:rPr>
              <a:t>a</a:t>
            </a:r>
            <a:r>
              <a:rPr lang="en-US">
                <a:latin typeface="Arial Rounded MT Bold" charset="0"/>
              </a:rPr>
              <a:t> ~ symmetry at r</a:t>
            </a:r>
            <a:r>
              <a:rPr lang="en-US" baseline="-2000">
                <a:latin typeface="Arial Rounded MT Bold" charset="0"/>
              </a:rPr>
              <a:t>o</a:t>
            </a:r>
            <a:endParaRPr lang="en-US">
              <a:latin typeface="Arial Rounded MT Bold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724400" y="4800600"/>
            <a:ext cx="3930650" cy="457200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Symbol" pitchFamily="18" charset="2"/>
              </a:rPr>
              <a:t>a</a:t>
            </a:r>
            <a:r>
              <a:rPr lang="en-US">
                <a:latin typeface="Arial Rounded MT Bold" charset="0"/>
              </a:rPr>
              <a:t> is larger if E</a:t>
            </a:r>
            <a:r>
              <a:rPr lang="en-US" baseline="-2000">
                <a:latin typeface="Arial Rounded MT Bold" charset="0"/>
              </a:rPr>
              <a:t>o</a:t>
            </a:r>
            <a:r>
              <a:rPr lang="en-US">
                <a:latin typeface="Arial Rounded MT Bold" charset="0"/>
              </a:rPr>
              <a:t> is smaller.</a:t>
            </a:r>
          </a:p>
        </p:txBody>
      </p:sp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295400"/>
            <a:ext cx="2603500" cy="196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91000" y="1295400"/>
            <a:ext cx="4114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0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14400" y="3581400"/>
            <a:ext cx="3340100" cy="294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685800" y="3810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>
                <a:solidFill>
                  <a:schemeClr val="tx2"/>
                </a:solidFill>
                <a:latin typeface="Arial Rounded MT Bold" charset="0"/>
              </a:rPr>
              <a:t>PROPERTIES FROM BONDING:  </a:t>
            </a:r>
            <a:r>
              <a:rPr lang="en-US" sz="2800">
                <a:solidFill>
                  <a:schemeClr val="tx2"/>
                </a:solidFill>
                <a:latin typeface="Symbol" pitchFamily="18" charset="2"/>
              </a:rPr>
              <a:t>a</a:t>
            </a:r>
            <a:endParaRPr lang="en-US" sz="2800">
              <a:solidFill>
                <a:schemeClr val="tx2"/>
              </a:solidFill>
              <a:latin typeface="Arial Rounded MT Bold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1028700" y="990600"/>
            <a:ext cx="14192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3399"/>
                </a:solidFill>
                <a:latin typeface="Arial Rounded MT Bold" charset="0"/>
              </a:rPr>
              <a:t>Ceramics</a:t>
            </a:r>
            <a:endParaRPr lang="en-US">
              <a:latin typeface="Arial Rounded MT Bold" charset="0"/>
            </a:endParaRP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1028700" y="1454150"/>
            <a:ext cx="3314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  <a:latin typeface="Arial Rounded MT Bold" charset="0"/>
              </a:rPr>
              <a:t>(Ionic &amp; covalent bonding):</a:t>
            </a:r>
            <a:endParaRPr lang="en-US" sz="2000">
              <a:latin typeface="Times" charset="0"/>
            </a:endParaRP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1028700" y="2514600"/>
            <a:ext cx="9715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DD0000"/>
                </a:solidFill>
                <a:latin typeface="Arial Rounded MT Bold" charset="0"/>
              </a:rPr>
              <a:t>Metals</a:t>
            </a:r>
            <a:endParaRPr lang="en-US">
              <a:latin typeface="Arial Rounded MT Bold" charset="0"/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1028700" y="2946400"/>
            <a:ext cx="2289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  <a:latin typeface="Arial Rounded MT Bold" charset="0"/>
              </a:rPr>
              <a:t>(Metallic bonding):</a:t>
            </a:r>
            <a:endParaRPr lang="en-US" sz="2000">
              <a:latin typeface="Times" charset="0"/>
            </a:endParaRPr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1028700" y="4191000"/>
            <a:ext cx="13843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6600"/>
                </a:solidFill>
                <a:latin typeface="Arial Rounded MT Bold" charset="0"/>
              </a:rPr>
              <a:t>Polymers</a:t>
            </a:r>
            <a:endParaRPr lang="en-US">
              <a:latin typeface="Arial Rounded MT Bold" charset="0"/>
            </a:endParaRP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1028700" y="4597400"/>
            <a:ext cx="3013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  <a:latin typeface="Arial Rounded MT Bold" charset="0"/>
              </a:rPr>
              <a:t>(Covalent &amp; Secondary):</a:t>
            </a:r>
            <a:endParaRPr lang="en-US" sz="2000">
              <a:latin typeface="Times" charset="0"/>
            </a:endParaRPr>
          </a:p>
        </p:txBody>
      </p:sp>
      <p:pic>
        <p:nvPicPr>
          <p:cNvPr id="56328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62100" y="5035550"/>
            <a:ext cx="1790700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4540250" y="990600"/>
            <a:ext cx="2806700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US">
                <a:solidFill>
                  <a:srgbClr val="003399"/>
                </a:solidFill>
                <a:latin typeface="Arial Rounded MT Bold" charset="0"/>
              </a:rPr>
              <a:t>Large bond energy</a:t>
            </a:r>
          </a:p>
          <a:p>
            <a:pPr algn="ctr" eaLnBrk="0" hangingPunct="0"/>
            <a:r>
              <a:rPr lang="en-US" sz="2000">
                <a:solidFill>
                  <a:srgbClr val="003399"/>
                </a:solidFill>
                <a:latin typeface="Arial Rounded MT Bold" charset="0"/>
              </a:rPr>
              <a:t>large T</a:t>
            </a:r>
            <a:r>
              <a:rPr lang="en-US" sz="2000" baseline="-2000">
                <a:solidFill>
                  <a:srgbClr val="003399"/>
                </a:solidFill>
                <a:latin typeface="Arial Rounded MT Bold" charset="0"/>
              </a:rPr>
              <a:t>m</a:t>
            </a:r>
            <a:endParaRPr lang="en-US" sz="2000">
              <a:solidFill>
                <a:srgbClr val="003399"/>
              </a:solidFill>
              <a:latin typeface="Arial Rounded MT Bold" charset="0"/>
            </a:endParaRPr>
          </a:p>
          <a:p>
            <a:pPr algn="ctr" eaLnBrk="0" hangingPunct="0"/>
            <a:r>
              <a:rPr lang="en-US" sz="2000">
                <a:solidFill>
                  <a:srgbClr val="003399"/>
                </a:solidFill>
                <a:latin typeface="Arial Rounded MT Bold" charset="0"/>
              </a:rPr>
              <a:t>large E</a:t>
            </a:r>
          </a:p>
          <a:p>
            <a:pPr algn="ctr" eaLnBrk="0" hangingPunct="0"/>
            <a:r>
              <a:rPr lang="en-US" sz="2000">
                <a:solidFill>
                  <a:srgbClr val="003399"/>
                </a:solidFill>
                <a:latin typeface="Arial Rounded MT Bold" charset="0"/>
              </a:rPr>
              <a:t>small </a:t>
            </a:r>
            <a:r>
              <a:rPr lang="en-US" sz="2000">
                <a:solidFill>
                  <a:srgbClr val="003399"/>
                </a:solidFill>
                <a:latin typeface="Symbol" pitchFamily="18" charset="2"/>
              </a:rPr>
              <a:t>a</a:t>
            </a:r>
            <a:endParaRPr lang="en-US" sz="2000">
              <a:latin typeface="Times" charset="0"/>
            </a:endParaRPr>
          </a:p>
        </p:txBody>
      </p:sp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4419600" y="2514600"/>
            <a:ext cx="3178175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US">
                <a:solidFill>
                  <a:srgbClr val="DD0000"/>
                </a:solidFill>
                <a:latin typeface="Arial Rounded MT Bold" charset="0"/>
              </a:rPr>
              <a:t>Variable bond energy</a:t>
            </a:r>
          </a:p>
          <a:p>
            <a:pPr algn="ctr" eaLnBrk="0" hangingPunct="0"/>
            <a:r>
              <a:rPr lang="en-US" sz="2000">
                <a:solidFill>
                  <a:srgbClr val="DD0000"/>
                </a:solidFill>
                <a:latin typeface="Arial Rounded MT Bold" charset="0"/>
              </a:rPr>
              <a:t>moderate T</a:t>
            </a:r>
            <a:r>
              <a:rPr lang="en-US" sz="2000" baseline="-2000">
                <a:solidFill>
                  <a:srgbClr val="DD0000"/>
                </a:solidFill>
                <a:latin typeface="Arial Rounded MT Bold" charset="0"/>
              </a:rPr>
              <a:t>m</a:t>
            </a:r>
            <a:endParaRPr lang="en-US" sz="2000">
              <a:solidFill>
                <a:srgbClr val="DD0000"/>
              </a:solidFill>
              <a:latin typeface="Arial Rounded MT Bold" charset="0"/>
            </a:endParaRPr>
          </a:p>
          <a:p>
            <a:pPr algn="ctr" eaLnBrk="0" hangingPunct="0"/>
            <a:r>
              <a:rPr lang="en-US" sz="2000">
                <a:solidFill>
                  <a:srgbClr val="DD0000"/>
                </a:solidFill>
                <a:latin typeface="Arial Rounded MT Bold" charset="0"/>
              </a:rPr>
              <a:t>moderate E</a:t>
            </a:r>
          </a:p>
          <a:p>
            <a:pPr algn="ctr" eaLnBrk="0" hangingPunct="0"/>
            <a:r>
              <a:rPr lang="en-US" sz="2000">
                <a:solidFill>
                  <a:srgbClr val="DD0000"/>
                </a:solidFill>
                <a:latin typeface="Arial Rounded MT Bold" charset="0"/>
              </a:rPr>
              <a:t>moderate </a:t>
            </a:r>
            <a:r>
              <a:rPr lang="en-US" sz="2000">
                <a:solidFill>
                  <a:srgbClr val="DD0000"/>
                </a:solidFill>
                <a:latin typeface="Symbol" pitchFamily="18" charset="2"/>
              </a:rPr>
              <a:t>a</a:t>
            </a:r>
            <a:endParaRPr lang="en-US" sz="2000">
              <a:latin typeface="Times" charset="0"/>
            </a:endParaRPr>
          </a:p>
        </p:txBody>
      </p:sp>
      <p:sp>
        <p:nvSpPr>
          <p:cNvPr id="56331" name="Rectangle 11"/>
          <p:cNvSpPr>
            <a:spLocks noChangeArrowheads="1"/>
          </p:cNvSpPr>
          <p:nvPr/>
        </p:nvSpPr>
        <p:spPr bwMode="auto">
          <a:xfrm>
            <a:off x="4445000" y="4191000"/>
            <a:ext cx="3762375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US">
                <a:solidFill>
                  <a:srgbClr val="006600"/>
                </a:solidFill>
                <a:latin typeface="Arial Rounded MT Bold" charset="0"/>
              </a:rPr>
              <a:t>Directional Properties</a:t>
            </a:r>
          </a:p>
          <a:p>
            <a:pPr algn="ctr" eaLnBrk="0" hangingPunct="0"/>
            <a:r>
              <a:rPr lang="en-US" sz="2000">
                <a:solidFill>
                  <a:srgbClr val="006600"/>
                </a:solidFill>
                <a:latin typeface="Arial Rounded MT Bold" charset="0"/>
              </a:rPr>
              <a:t>Secondary bonding dominates</a:t>
            </a:r>
          </a:p>
          <a:p>
            <a:pPr algn="ctr" eaLnBrk="0" hangingPunct="0"/>
            <a:r>
              <a:rPr lang="en-US" sz="2000">
                <a:solidFill>
                  <a:srgbClr val="006600"/>
                </a:solidFill>
                <a:latin typeface="Arial Rounded MT Bold" charset="0"/>
              </a:rPr>
              <a:t>small T</a:t>
            </a:r>
          </a:p>
          <a:p>
            <a:pPr algn="ctr" eaLnBrk="0" hangingPunct="0"/>
            <a:r>
              <a:rPr lang="en-US" sz="2000">
                <a:solidFill>
                  <a:srgbClr val="006600"/>
                </a:solidFill>
                <a:latin typeface="Arial Rounded MT Bold" charset="0"/>
              </a:rPr>
              <a:t>small E</a:t>
            </a:r>
          </a:p>
          <a:p>
            <a:pPr algn="ctr" eaLnBrk="0" hangingPunct="0"/>
            <a:r>
              <a:rPr lang="en-US" sz="2000">
                <a:solidFill>
                  <a:srgbClr val="006600"/>
                </a:solidFill>
                <a:latin typeface="Arial Rounded MT Bold" charset="0"/>
              </a:rPr>
              <a:t>large </a:t>
            </a:r>
            <a:r>
              <a:rPr lang="en-US" sz="2000">
                <a:solidFill>
                  <a:srgbClr val="006600"/>
                </a:solidFill>
                <a:latin typeface="Symbol" pitchFamily="18" charset="2"/>
              </a:rPr>
              <a:t>a</a:t>
            </a:r>
            <a:endParaRPr lang="en-US" sz="2000">
              <a:latin typeface="Times" charset="0"/>
            </a:endParaRPr>
          </a:p>
        </p:txBody>
      </p:sp>
      <p:sp>
        <p:nvSpPr>
          <p:cNvPr id="56332" name="Rectangle 12"/>
          <p:cNvSpPr>
            <a:spLocks noChangeArrowheads="1"/>
          </p:cNvSpPr>
          <p:nvPr/>
        </p:nvSpPr>
        <p:spPr bwMode="auto">
          <a:xfrm>
            <a:off x="685800" y="3810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>
                <a:solidFill>
                  <a:schemeClr val="tx2"/>
                </a:solidFill>
                <a:latin typeface="Arial Rounded MT Bold" charset="0"/>
              </a:rPr>
              <a:t>SUMMARY:  PRIMARY BONDS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900113" y="2011363"/>
            <a:ext cx="469265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800" b="1">
                <a:solidFill>
                  <a:srgbClr val="4D4D4D"/>
                </a:solidFill>
                <a:latin typeface="Arial Rounded MT Bold" charset="0"/>
              </a:rPr>
              <a:t>ISSUES TO ADDRESS...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295400" y="2514600"/>
            <a:ext cx="64960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•  How do atoms assemble into solid structures?</a:t>
            </a:r>
            <a:endParaRPr lang="en-US">
              <a:latin typeface="Arial Rounded MT Bold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295400" y="4191000"/>
            <a:ext cx="648017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•  How does the density of a material depend on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its structure?</a:t>
            </a:r>
            <a:endParaRPr lang="en-US">
              <a:latin typeface="Arial Rounded MT Bold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371600" y="5105400"/>
            <a:ext cx="590232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•  When do material properties vary with the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sample (i.e., part) orientation?</a:t>
            </a:r>
            <a:endParaRPr lang="en-US">
              <a:latin typeface="Arial Rounded MT Bold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8077200" y="64008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CHAPTER 3:  Structures of Metals and Ceramics</a:t>
            </a: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219200" y="3124200"/>
            <a:ext cx="65690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3838" indent="-223838">
              <a:buFontTx/>
              <a:buChar char="•"/>
            </a:pPr>
            <a:r>
              <a:rPr lang="en-US">
                <a:latin typeface="Arial Rounded MT Bold" charset="0"/>
              </a:rPr>
              <a:t>How do the structures of ceramic materials differ from those of metals?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8077200" y="6400800"/>
            <a:ext cx="2746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457200" y="990600"/>
            <a:ext cx="459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Non dense,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random</a:t>
            </a:r>
            <a:r>
              <a:rPr lang="en-US">
                <a:latin typeface="Arial Rounded MT Bold" charset="0"/>
              </a:rPr>
              <a:t> packing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447800"/>
            <a:ext cx="151130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482600" y="3378200"/>
            <a:ext cx="3898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Dense,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regular</a:t>
            </a:r>
            <a:r>
              <a:rPr lang="en-US">
                <a:latin typeface="Arial Rounded MT Bold" charset="0"/>
              </a:rPr>
              <a:t> packing</a:t>
            </a: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3911600"/>
            <a:ext cx="1701800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628650" y="5638800"/>
            <a:ext cx="7092950" cy="822325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Dense, regular-packed structures tend to have</a:t>
            </a:r>
          </a:p>
          <a:p>
            <a:pPr eaLnBrk="0" hangingPunct="0"/>
            <a:r>
              <a:rPr lang="en-US">
                <a:latin typeface="Arial Rounded MT Bold" charset="0"/>
              </a:rPr>
              <a:t>  lower energy.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56000" y="1066800"/>
            <a:ext cx="46736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619500" y="3416300"/>
            <a:ext cx="4610100" cy="222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06" name="Rectang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ENERGY AND PACKING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812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Lattice and Unit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Lattices:</a:t>
            </a:r>
          </a:p>
          <a:p>
            <a:r>
              <a:rPr lang="en-US" dirty="0" smtClean="0"/>
              <a:t>The simplest regular array is a line of evenly spaced objects.</a:t>
            </a:r>
          </a:p>
          <a:p>
            <a:r>
              <a:rPr lang="en-US" dirty="0" smtClean="0"/>
              <a:t>There is a dot at the same place in each objects.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676400" y="48768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590800" y="48768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05200" y="48768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343400" y="48768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81600" y="48768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019800" y="48768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2705100" y="53340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636818" y="5306291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71800" y="533400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64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line of the dots is called the lattice and each lattice point must have identical surroundings.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96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and Two dimensional Unit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unit cell for the 1-D lattice lies between two vertical lines.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676400" y="3124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590800" y="3124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05200" y="3124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343400" y="3124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81600" y="3124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019800" y="3124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705100" y="3581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636818" y="3553691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71800" y="358140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26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unit or the 2-D lattices are parallelograms with their corners at equivalent positions in the array.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133600" y="3276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971800" y="3276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733800" y="3276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343400" y="3276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05400" y="3276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791200" y="3276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629400" y="3276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195945" y="3810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034145" y="3810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796145" y="3810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405745" y="3810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67745" y="3810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853545" y="3810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691745" y="38100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202875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041075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803075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412675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174675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860475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698675" y="44196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209800" y="506384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048000" y="506384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810000" y="506384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419600" y="506384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181600" y="506384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867400" y="506384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705600" y="506384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>
            <a:endCxn id="5" idx="2"/>
          </p:cNvCxnSpPr>
          <p:nvPr/>
        </p:nvCxnSpPr>
        <p:spPr>
          <a:xfrm>
            <a:off x="2362200" y="3390900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endCxn id="11" idx="0"/>
          </p:cNvCxnSpPr>
          <p:nvPr/>
        </p:nvCxnSpPr>
        <p:spPr>
          <a:xfrm>
            <a:off x="2310245" y="35052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endCxn id="12" idx="2"/>
          </p:cNvCxnSpPr>
          <p:nvPr/>
        </p:nvCxnSpPr>
        <p:spPr>
          <a:xfrm>
            <a:off x="2438400" y="3924300"/>
            <a:ext cx="595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3093025" y="3471722"/>
            <a:ext cx="18477" cy="338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216725" y="572885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054925" y="572885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816925" y="572885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4426525" y="572885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188525" y="572885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5874325" y="572885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712525" y="572885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/>
          <p:cNvCxnSpPr>
            <a:endCxn id="7" idx="2"/>
          </p:cNvCxnSpPr>
          <p:nvPr/>
        </p:nvCxnSpPr>
        <p:spPr>
          <a:xfrm>
            <a:off x="3962400" y="33909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3283525" y="4533900"/>
            <a:ext cx="512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6" idx="3"/>
          </p:cNvCxnSpPr>
          <p:nvPr/>
        </p:nvCxnSpPr>
        <p:spPr>
          <a:xfrm flipV="1">
            <a:off x="3262745" y="3471722"/>
            <a:ext cx="504533" cy="947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20" idx="0"/>
            <a:endCxn id="7" idx="3"/>
          </p:cNvCxnSpPr>
          <p:nvPr/>
        </p:nvCxnSpPr>
        <p:spPr>
          <a:xfrm flipV="1">
            <a:off x="3917375" y="3471722"/>
            <a:ext cx="459503" cy="947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18" idx="6"/>
            <a:endCxn id="19" idx="2"/>
          </p:cNvCxnSpPr>
          <p:nvPr/>
        </p:nvCxnSpPr>
        <p:spPr>
          <a:xfrm>
            <a:off x="2431475" y="4533900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27" idx="1"/>
          </p:cNvCxnSpPr>
          <p:nvPr/>
        </p:nvCxnSpPr>
        <p:spPr>
          <a:xfrm>
            <a:off x="3200400" y="4648200"/>
            <a:ext cx="643078" cy="449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26" idx="1"/>
          </p:cNvCxnSpPr>
          <p:nvPr/>
        </p:nvCxnSpPr>
        <p:spPr>
          <a:xfrm>
            <a:off x="2424545" y="4648200"/>
            <a:ext cx="656933" cy="449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26" idx="6"/>
            <a:endCxn id="27" idx="2"/>
          </p:cNvCxnSpPr>
          <p:nvPr/>
        </p:nvCxnSpPr>
        <p:spPr>
          <a:xfrm>
            <a:off x="3276600" y="5178140"/>
            <a:ext cx="53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51" idx="1"/>
            <a:endCxn id="28" idx="5"/>
          </p:cNvCxnSpPr>
          <p:nvPr/>
        </p:nvCxnSpPr>
        <p:spPr>
          <a:xfrm flipH="1" flipV="1">
            <a:off x="4614722" y="5258962"/>
            <a:ext cx="607281" cy="503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28" idx="6"/>
            <a:endCxn id="15" idx="0"/>
          </p:cNvCxnSpPr>
          <p:nvPr/>
        </p:nvCxnSpPr>
        <p:spPr>
          <a:xfrm flipV="1">
            <a:off x="4648200" y="3810000"/>
            <a:ext cx="633845" cy="1368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5" idx="4"/>
          </p:cNvCxnSpPr>
          <p:nvPr/>
        </p:nvCxnSpPr>
        <p:spPr>
          <a:xfrm>
            <a:off x="5282045" y="4038600"/>
            <a:ext cx="59228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5403275" y="4648200"/>
            <a:ext cx="471050" cy="1080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7349855" y="327659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7412200" y="380999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7419130" y="441959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7426055" y="506383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7432980" y="572885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>
            <a:stCxn id="10" idx="5"/>
            <a:endCxn id="81" idx="1"/>
          </p:cNvCxnSpPr>
          <p:nvPr/>
        </p:nvCxnSpPr>
        <p:spPr>
          <a:xfrm>
            <a:off x="6824522" y="3471722"/>
            <a:ext cx="621156" cy="371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endCxn id="30" idx="7"/>
          </p:cNvCxnSpPr>
          <p:nvPr/>
        </p:nvCxnSpPr>
        <p:spPr>
          <a:xfrm flipH="1">
            <a:off x="6062522" y="3505200"/>
            <a:ext cx="629223" cy="1592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30" idx="6"/>
            <a:endCxn id="53" idx="1"/>
          </p:cNvCxnSpPr>
          <p:nvPr/>
        </p:nvCxnSpPr>
        <p:spPr>
          <a:xfrm>
            <a:off x="6096000" y="5178140"/>
            <a:ext cx="650003" cy="584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81" idx="3"/>
            <a:endCxn id="53" idx="0"/>
          </p:cNvCxnSpPr>
          <p:nvPr/>
        </p:nvCxnSpPr>
        <p:spPr>
          <a:xfrm flipH="1">
            <a:off x="6826825" y="4005117"/>
            <a:ext cx="618853" cy="1723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377133" y="4682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2516157" y="34717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3462706" y="4050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2817843" y="466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4814279" y="48489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6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96" grpId="0"/>
      <p:bldP spid="97" grpId="0"/>
      <p:bldP spid="98" grpId="0"/>
      <p:bldP spid="99" grpId="0"/>
      <p:bldP spid="10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Five 2-D lattices are possible.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7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dimensional unit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unit cell of a 3-D  is defined by three distance </a:t>
            </a:r>
            <a:r>
              <a:rPr lang="en-US" dirty="0" err="1" smtClean="0"/>
              <a:t>a,b</a:t>
            </a:r>
            <a:r>
              <a:rPr lang="en-US" dirty="0" smtClean="0"/>
              <a:t> and c and three angles </a:t>
            </a:r>
            <a:r>
              <a:rPr lang="en-US" dirty="0" smtClean="0">
                <a:sym typeface="Symbol"/>
              </a:rPr>
              <a:t></a:t>
            </a:r>
            <a:r>
              <a:rPr lang="en-US" dirty="0" smtClean="0"/>
              <a:t>, </a:t>
            </a:r>
            <a:r>
              <a:rPr lang="en-US" dirty="0" smtClean="0">
                <a:sym typeface="Symbol"/>
              </a:rPr>
              <a:t></a:t>
            </a:r>
            <a:r>
              <a:rPr lang="en-US" dirty="0" smtClean="0"/>
              <a:t> and </a:t>
            </a:r>
            <a:r>
              <a:rPr lang="en-US" dirty="0" smtClean="0">
                <a:sym typeface="Symbol"/>
              </a:rPr>
              <a:t>.</a:t>
            </a:r>
          </a:p>
          <a:p>
            <a:endParaRPr lang="en-US" dirty="0"/>
          </a:p>
        </p:txBody>
      </p:sp>
      <p:sp>
        <p:nvSpPr>
          <p:cNvPr id="4" name="Cube 3"/>
          <p:cNvSpPr/>
          <p:nvPr/>
        </p:nvSpPr>
        <p:spPr>
          <a:xfrm>
            <a:off x="2514600" y="4114800"/>
            <a:ext cx="1216152" cy="121615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819400" y="5029200"/>
            <a:ext cx="1905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819400" y="3505200"/>
            <a:ext cx="0" cy="1524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905000" y="502920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2812473" y="4835236"/>
            <a:ext cx="221672" cy="166255"/>
          </a:xfrm>
          <a:custGeom>
            <a:avLst/>
            <a:gdLst>
              <a:gd name="connsiteX0" fmla="*/ 221672 w 221672"/>
              <a:gd name="connsiteY0" fmla="*/ 166255 h 166255"/>
              <a:gd name="connsiteX1" fmla="*/ 180109 w 221672"/>
              <a:gd name="connsiteY1" fmla="*/ 96982 h 166255"/>
              <a:gd name="connsiteX2" fmla="*/ 152400 w 221672"/>
              <a:gd name="connsiteY2" fmla="*/ 55419 h 166255"/>
              <a:gd name="connsiteX3" fmla="*/ 96982 w 221672"/>
              <a:gd name="connsiteY3" fmla="*/ 41564 h 166255"/>
              <a:gd name="connsiteX4" fmla="*/ 0 w 221672"/>
              <a:gd name="connsiteY4" fmla="*/ 0 h 16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672" h="166255">
                <a:moveTo>
                  <a:pt x="221672" y="166255"/>
                </a:moveTo>
                <a:cubicBezTo>
                  <a:pt x="207818" y="143164"/>
                  <a:pt x="194381" y="119817"/>
                  <a:pt x="180109" y="96982"/>
                </a:cubicBezTo>
                <a:cubicBezTo>
                  <a:pt x="171284" y="82862"/>
                  <a:pt x="166254" y="64655"/>
                  <a:pt x="152400" y="55419"/>
                </a:cubicBezTo>
                <a:cubicBezTo>
                  <a:pt x="136557" y="44857"/>
                  <a:pt x="115220" y="47035"/>
                  <a:pt x="96982" y="41564"/>
                </a:cubicBezTo>
                <a:cubicBezTo>
                  <a:pt x="11910" y="16042"/>
                  <a:pt x="33556" y="33558"/>
                  <a:pt x="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2826327" y="4849091"/>
            <a:ext cx="207818" cy="180109"/>
          </a:xfrm>
          <a:custGeom>
            <a:avLst/>
            <a:gdLst>
              <a:gd name="connsiteX0" fmla="*/ 207818 w 207818"/>
              <a:gd name="connsiteY0" fmla="*/ 180109 h 180109"/>
              <a:gd name="connsiteX1" fmla="*/ 166255 w 207818"/>
              <a:gd name="connsiteY1" fmla="*/ 110836 h 180109"/>
              <a:gd name="connsiteX2" fmla="*/ 96982 w 207818"/>
              <a:gd name="connsiteY2" fmla="*/ 41564 h 180109"/>
              <a:gd name="connsiteX3" fmla="*/ 0 w 207818"/>
              <a:gd name="connsiteY3" fmla="*/ 0 h 18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818" h="180109">
                <a:moveTo>
                  <a:pt x="207818" y="180109"/>
                </a:moveTo>
                <a:cubicBezTo>
                  <a:pt x="193964" y="157018"/>
                  <a:pt x="180527" y="133671"/>
                  <a:pt x="166255" y="110836"/>
                </a:cubicBezTo>
                <a:cubicBezTo>
                  <a:pt x="143164" y="73890"/>
                  <a:pt x="138546" y="60037"/>
                  <a:pt x="96982" y="41564"/>
                </a:cubicBezTo>
                <a:cubicBezTo>
                  <a:pt x="-10207" y="-6076"/>
                  <a:pt x="38504" y="38501"/>
                  <a:pt x="0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581400" y="5105400"/>
            <a:ext cx="190500" cy="22555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514600" y="5486400"/>
            <a:ext cx="838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362200" y="4419600"/>
            <a:ext cx="0" cy="91135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7800" y="5758934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724400" y="5105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279073" y="31358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z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777836" y="503351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Symbol"/>
              </a:rPr>
              <a:t>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930236" y="460426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Symbol"/>
              </a:rPr>
              <a:t>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431473" y="469061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Symbol"/>
              </a:rPr>
              <a:t>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82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Since the unit cells are the basic building blocks of the crystals, they must be space filling.</a:t>
            </a:r>
          </a:p>
          <a:p>
            <a:r>
              <a:rPr lang="en-US" dirty="0" smtClean="0"/>
              <a:t>The 3-D unit cell includes four different types.</a:t>
            </a:r>
          </a:p>
          <a:p>
            <a:r>
              <a:rPr lang="en-US" dirty="0" smtClean="0"/>
              <a:t>1.	The primitive cell – has a lattice point at each corner.</a:t>
            </a:r>
          </a:p>
          <a:p>
            <a:r>
              <a:rPr lang="en-US" dirty="0" smtClean="0"/>
              <a:t>2.	The body centered unit cell- has a lattice point at each corner and one at the center  of the cell.</a:t>
            </a:r>
          </a:p>
          <a:p>
            <a:r>
              <a:rPr lang="en-US" dirty="0" smtClean="0"/>
              <a:t>3.	The face centered unit cell – has a lattice point at each corner and one in the center of each face.</a:t>
            </a:r>
          </a:p>
          <a:p>
            <a:r>
              <a:rPr lang="en-US" dirty="0" smtClean="0"/>
              <a:t>4.	The face centered unit cell – has a lattice point at each corner and one in the centers of one pair of opposite faces. (</a:t>
            </a:r>
            <a:r>
              <a:rPr lang="en-US" dirty="0" err="1" smtClean="0"/>
              <a:t>eg</a:t>
            </a:r>
            <a:r>
              <a:rPr lang="en-US" dirty="0" smtClean="0"/>
              <a:t>., an A centered cell has lattice point in the </a:t>
            </a:r>
            <a:r>
              <a:rPr lang="en-US" dirty="0" err="1" smtClean="0"/>
              <a:t>centeres</a:t>
            </a:r>
            <a:r>
              <a:rPr lang="en-US" dirty="0" smtClean="0"/>
              <a:t> of the </a:t>
            </a:r>
            <a:r>
              <a:rPr lang="en-US" dirty="0" err="1" smtClean="0"/>
              <a:t>bc</a:t>
            </a:r>
            <a:r>
              <a:rPr lang="en-US" dirty="0" smtClean="0"/>
              <a:t> faces)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63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 smtClean="0"/>
              <a:t>These are known as the seven crystal systems or classes.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File002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93750" y="1295400"/>
            <a:ext cx="3143250" cy="4800600"/>
          </a:xfrm>
          <a:noFill/>
          <a:ln/>
        </p:spPr>
      </p:pic>
      <p:pic>
        <p:nvPicPr>
          <p:cNvPr id="59395" name="Picture 3" descr="File0025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638800" y="1143000"/>
            <a:ext cx="1792288" cy="1911350"/>
          </a:xfrm>
          <a:noFill/>
          <a:ln/>
        </p:spPr>
      </p:pic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419100" y="228600"/>
            <a:ext cx="8305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Arial" charset="0"/>
              </a:rPr>
              <a:t>14 different point lattices, called </a:t>
            </a:r>
            <a:r>
              <a:rPr lang="en-US" sz="1800" i="1">
                <a:latin typeface="Arial" charset="0"/>
              </a:rPr>
              <a:t>Bravais lattices</a:t>
            </a:r>
            <a:r>
              <a:rPr lang="en-US" sz="1800">
                <a:latin typeface="Arial" charset="0"/>
              </a:rPr>
              <a:t>, make up the crystal system. The lengths of the sides, a, b, and c, and the angles between them can vary for a particular </a:t>
            </a:r>
            <a:r>
              <a:rPr lang="en-US" sz="1800" i="1">
                <a:latin typeface="Arial" charset="0"/>
              </a:rPr>
              <a:t>unit cell</a:t>
            </a:r>
            <a:r>
              <a:rPr lang="en-US" sz="1800">
                <a:latin typeface="Arial" charset="0"/>
              </a:rPr>
              <a:t>.</a:t>
            </a:r>
          </a:p>
        </p:txBody>
      </p:sp>
      <p:pic>
        <p:nvPicPr>
          <p:cNvPr id="59399" name="Picture 7" descr="File002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572000" y="3124200"/>
            <a:ext cx="4572000" cy="311785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2388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2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8077200" y="64008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3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533400" y="1295400"/>
            <a:ext cx="42354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tend to be densely packed.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533400" y="1798638"/>
            <a:ext cx="6235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have several reasons for dense packing: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812800" y="2209800"/>
            <a:ext cx="7034213" cy="167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-Typically, only one element is present, so all atomic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radii are the same.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-Metallic bonding is not directional.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-Nearest neighbor distances tend to be small in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order to lower bond energy.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609600" y="4191000"/>
            <a:ext cx="7650163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have the simplest crystal structures.  74 elements </a:t>
            </a:r>
          </a:p>
          <a:p>
            <a:pPr eaLnBrk="0" hangingPunct="0"/>
            <a:r>
              <a:rPr lang="en-US">
                <a:latin typeface="Arial Rounded MT Bold" charset="0"/>
              </a:rPr>
              <a:t>have the simplest crystal structures – BCC, FCC and HCP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762000" y="5867400"/>
            <a:ext cx="5664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333333"/>
                </a:solidFill>
                <a:latin typeface="Arial Rounded MT Bold" charset="0"/>
              </a:rPr>
              <a:t>We will look at three such structures...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METALLIC CRYSTALS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80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533400" y="228600"/>
            <a:ext cx="777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latin typeface="Arial" charset="0"/>
              </a:rPr>
              <a:t>The crystal lattice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258763"/>
          </a:xfrm>
        </p:spPr>
        <p:txBody>
          <a:bodyPr>
            <a:normAutofit fontScale="90000"/>
          </a:bodyPr>
          <a:lstStyle/>
          <a:p>
            <a:endParaRPr lang="en-US" sz="3200"/>
          </a:p>
        </p:txBody>
      </p:sp>
      <p:pic>
        <p:nvPicPr>
          <p:cNvPr id="58372" name="Picture 4" descr="File0030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057400" y="914400"/>
            <a:ext cx="5334000" cy="2781300"/>
          </a:xfrm>
          <a:noFill/>
          <a:ln/>
        </p:spPr>
      </p:pic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667000" y="4572000"/>
            <a:ext cx="43434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Arial" charset="0"/>
              </a:rPr>
              <a:t>A point lattice is made up of regular, repeating points in space.  An atom or group of atoms are tied to each lattice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File002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93750" y="1295400"/>
            <a:ext cx="3143250" cy="4800600"/>
          </a:xfrm>
          <a:noFill/>
          <a:ln/>
        </p:spPr>
      </p:pic>
      <p:pic>
        <p:nvPicPr>
          <p:cNvPr id="59395" name="Picture 3" descr="File0025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638800" y="1143000"/>
            <a:ext cx="1792288" cy="1911350"/>
          </a:xfrm>
          <a:noFill/>
          <a:ln/>
        </p:spPr>
      </p:pic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419100" y="228600"/>
            <a:ext cx="8305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Arial" charset="0"/>
              </a:rPr>
              <a:t>14 different point lattices, called </a:t>
            </a:r>
            <a:r>
              <a:rPr lang="en-US" sz="1800" i="1">
                <a:latin typeface="Arial" charset="0"/>
              </a:rPr>
              <a:t>Bravais lattices</a:t>
            </a:r>
            <a:r>
              <a:rPr lang="en-US" sz="1800">
                <a:latin typeface="Arial" charset="0"/>
              </a:rPr>
              <a:t>, make up the crystal system. The lengths of the sides, a, b, and c, and the angles between them can vary for a particular </a:t>
            </a:r>
            <a:r>
              <a:rPr lang="en-US" sz="1800" i="1">
                <a:latin typeface="Arial" charset="0"/>
              </a:rPr>
              <a:t>unit cell</a:t>
            </a:r>
            <a:r>
              <a:rPr lang="en-US" sz="1800">
                <a:latin typeface="Arial" charset="0"/>
              </a:rPr>
              <a:t>.</a:t>
            </a:r>
          </a:p>
        </p:txBody>
      </p:sp>
      <p:pic>
        <p:nvPicPr>
          <p:cNvPr id="59399" name="Picture 7" descr="File002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4572000" y="3124200"/>
            <a:ext cx="4572000" cy="31178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/>
              <a:t>Three simple lattices that describe metals are Face Centered Cubic (FCC) Body Centered Cubic (BCC) and Hexagonal Close Packed (HCP)</a:t>
            </a:r>
          </a:p>
        </p:txBody>
      </p:sp>
      <p:pic>
        <p:nvPicPr>
          <p:cNvPr id="61443" name="Picture 3" descr="bcc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85800" y="2327275"/>
            <a:ext cx="3814763" cy="2986088"/>
          </a:xfrm>
          <a:noFill/>
          <a:ln/>
        </p:spPr>
      </p:pic>
      <p:pic>
        <p:nvPicPr>
          <p:cNvPr id="61444" name="Picture 4" descr="File0021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008563" y="1981200"/>
            <a:ext cx="3063875" cy="4087813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8077200" y="64008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4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533400" y="1143000"/>
            <a:ext cx="77089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Rare due to poor packing</a:t>
            </a:r>
            <a:r>
              <a:rPr lang="en-US" sz="2200">
                <a:latin typeface="Arial Rounded MT Bold" charset="0"/>
              </a:rPr>
              <a:t> (only Po has this structure)</a:t>
            </a:r>
            <a:endParaRPr lang="en-US">
              <a:latin typeface="Arial Rounded MT Bold" charset="0"/>
            </a:endParaRPr>
          </a:p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Close-packed directions</a:t>
            </a:r>
            <a:r>
              <a:rPr lang="en-US">
                <a:latin typeface="Arial Rounded MT Bold" charset="0"/>
              </a:rPr>
              <a:t> are cube edges.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5348288" y="2209800"/>
            <a:ext cx="3109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•  </a:t>
            </a:r>
            <a:r>
              <a:rPr lang="en-US" sz="2200">
                <a:solidFill>
                  <a:schemeClr val="accent2"/>
                </a:solidFill>
                <a:latin typeface="Arial Rounded MT Bold" charset="0"/>
              </a:rPr>
              <a:t>Coordination #</a:t>
            </a:r>
            <a:r>
              <a:rPr lang="en-US" sz="2200">
                <a:latin typeface="Arial Rounded MT Bold" charset="0"/>
              </a:rPr>
              <a:t> = 6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(# nearest neighbors)</a:t>
            </a: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2971800"/>
            <a:ext cx="1816100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00800" y="4953000"/>
            <a:ext cx="1168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1524000" y="6248400"/>
            <a:ext cx="2085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(Courtesy P.M. Anderson)</a:t>
            </a:r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SIMPLE CUBIC STRUCTURE (SC)</a:t>
            </a:r>
          </a:p>
        </p:txBody>
      </p:sp>
      <p:pic>
        <p:nvPicPr>
          <p:cNvPr id="6153" name="3_5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685800" y="2438400"/>
            <a:ext cx="3543300" cy="3543300"/>
          </a:xfrm>
          <a:prstGeom prst="rect">
            <a:avLst/>
          </a:prstGeom>
          <a:noFill/>
        </p:spPr>
      </p:pic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1600200" y="5867400"/>
            <a:ext cx="19415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Arial Rounded MT Bold" charset="0"/>
              </a:rPr>
              <a:t>Click on image to animate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1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153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8077200" y="64008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5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12888" y="990600"/>
            <a:ext cx="6121400" cy="166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533400" y="2759075"/>
            <a:ext cx="59848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APF for a simple cubic structure = 0.52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11600" y="3124200"/>
            <a:ext cx="4851400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" y="3124200"/>
            <a:ext cx="36195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79488" y="6172200"/>
            <a:ext cx="1916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3.19,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ATOMIC PACKING FACTOR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8077200" y="64008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6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37175" y="2530475"/>
            <a:ext cx="3121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Coordination # = 12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3048000"/>
            <a:ext cx="2819400" cy="278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6327775" y="5638800"/>
            <a:ext cx="2024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3.1(a),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800225" y="6248400"/>
            <a:ext cx="2085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(Courtesy P.M. Anderson)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533400" y="1295400"/>
            <a:ext cx="67468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Close packed directions are face diagonals.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879475" y="1660525"/>
            <a:ext cx="74961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800">
                <a:latin typeface="Arial Rounded MT Bold" charset="0"/>
              </a:rPr>
              <a:t>--Note:  All atoms are identical; the face-centered atoms are shaded</a:t>
            </a:r>
          </a:p>
          <a:p>
            <a:pPr eaLnBrk="0" hangingPunct="0"/>
            <a:r>
              <a:rPr lang="en-US" sz="1800">
                <a:latin typeface="Arial Rounded MT Bold" charset="0"/>
              </a:rPr>
              <a:t>   differently only for ease of viewing.</a:t>
            </a:r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FACE CENTERED CUBIC STRUCTURE (FCC)</a:t>
            </a:r>
          </a:p>
        </p:txBody>
      </p:sp>
      <p:pic>
        <p:nvPicPr>
          <p:cNvPr id="8202" name="3_9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571500" y="2752725"/>
            <a:ext cx="3543300" cy="3571875"/>
          </a:xfrm>
          <a:prstGeom prst="rect">
            <a:avLst/>
          </a:prstGeom>
          <a:noFill/>
        </p:spPr>
      </p:pic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1828800" y="5867400"/>
            <a:ext cx="19415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Arial Rounded MT Bold" charset="0"/>
              </a:rPr>
              <a:t>Click on image to animate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2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202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4267200"/>
            <a:ext cx="5994400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38600" y="2844800"/>
            <a:ext cx="30734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500" y="1143000"/>
            <a:ext cx="3670300" cy="364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8077200" y="64008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7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533400" y="1006475"/>
            <a:ext cx="7185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APF for a body-centered cubic structure = 0.74</a:t>
            </a:r>
          </a:p>
        </p:txBody>
      </p: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038600" y="1600200"/>
            <a:ext cx="41402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479425" y="4191000"/>
            <a:ext cx="1196975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Fig. 3.1(a),</a:t>
            </a:r>
          </a:p>
          <a:p>
            <a:pPr eaLnBrk="0" hangingPunct="0"/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9225" name="Rectangle 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ATOMIC PACKING FACTOR:  FCC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5535613" y="2713038"/>
            <a:ext cx="2693987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•  Coordination # = 8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0" y="3013075"/>
            <a:ext cx="2895600" cy="285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8077200" y="64008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8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6019800" y="5791200"/>
            <a:ext cx="182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3.2,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1524000" y="6400800"/>
            <a:ext cx="2085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(Courtesy P.M. Anderson)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533400" y="1219200"/>
            <a:ext cx="68389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Close packed directions are cube diagonals.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879475" y="1584325"/>
            <a:ext cx="63436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800">
                <a:latin typeface="Arial Rounded MT Bold" charset="0"/>
              </a:rPr>
              <a:t>--Note:  All atoms are identical; the center atom is shaded</a:t>
            </a:r>
          </a:p>
          <a:p>
            <a:pPr eaLnBrk="0" hangingPunct="0"/>
            <a:r>
              <a:rPr lang="en-US" sz="1800">
                <a:latin typeface="Arial Rounded MT Bold" charset="0"/>
              </a:rPr>
              <a:t>   differently only for ease of viewing.</a:t>
            </a: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BODY CENTERED CUBIC STRUCTURE (BCC)</a:t>
            </a:r>
          </a:p>
        </p:txBody>
      </p:sp>
      <p:pic>
        <p:nvPicPr>
          <p:cNvPr id="10250" name="3_7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533400" y="2695575"/>
            <a:ext cx="3543300" cy="3552825"/>
          </a:xfrm>
          <a:prstGeom prst="rect">
            <a:avLst/>
          </a:prstGeom>
          <a:noFill/>
        </p:spPr>
      </p:pic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1524000" y="6019800"/>
            <a:ext cx="19415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Arial Rounded MT Bold" charset="0"/>
              </a:rPr>
              <a:t>Click on image to animate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2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50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0250"/>
                </p:tgtEl>
              </p:cMediaNode>
            </p:vide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066800"/>
            <a:ext cx="38735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8077200" y="64008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9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533400" y="1006475"/>
            <a:ext cx="7185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APF for a body-centered cubic structure = 0.68</a:t>
            </a: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13200" y="1600200"/>
            <a:ext cx="41402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38600" y="2844800"/>
            <a:ext cx="30734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479425" y="4191000"/>
            <a:ext cx="1196975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Fig. 3.2,</a:t>
            </a:r>
          </a:p>
          <a:p>
            <a:pPr eaLnBrk="0" hangingPunct="0"/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11272" name="Rectangle 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ATOMIC PACKING FACTOR:  BCC</a:t>
            </a:r>
          </a:p>
        </p:txBody>
      </p:sp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57400" y="4330700"/>
            <a:ext cx="5994400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10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612775" y="5137150"/>
            <a:ext cx="3121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Coordination # = 12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546100" y="1600200"/>
            <a:ext cx="43656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ABAB... Stacking Sequence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612775" y="5654675"/>
            <a:ext cx="1835150" cy="365125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APF = 0.74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444500" y="2057400"/>
            <a:ext cx="2451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3D Projection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4724400" y="2057400"/>
            <a:ext cx="2451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2D Projection</a:t>
            </a:r>
          </a:p>
        </p:txBody>
      </p:sp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2800" y="2540000"/>
            <a:ext cx="31496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2514600"/>
            <a:ext cx="42037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914400" y="4572000"/>
            <a:ext cx="182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3.3,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12299" name="Rectangle 11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HEXAGONAL CLOSE-PACKED STRUCTURE (HCP)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11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533400" y="3444875"/>
            <a:ext cx="2619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Example:  Copper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4200" y="977900"/>
            <a:ext cx="8178800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762000" y="3749675"/>
            <a:ext cx="75961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000">
                <a:latin typeface="Arial Rounded MT Bold" charset="0"/>
              </a:rPr>
              <a:t>Data from Table inside front cover of Callister (see next slide):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033463" y="4114800"/>
            <a:ext cx="58039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000">
                <a:latin typeface="Arial Rounded MT Bold" charset="0"/>
              </a:rPr>
              <a:t>•  crystal structure = FCC:  </a:t>
            </a:r>
            <a:r>
              <a:rPr lang="en-US" sz="2000">
                <a:solidFill>
                  <a:srgbClr val="006600"/>
                </a:solidFill>
                <a:latin typeface="Arial Rounded MT Bold" charset="0"/>
              </a:rPr>
              <a:t>4 atoms/unit cell</a:t>
            </a:r>
            <a:endParaRPr lang="en-US" sz="2000">
              <a:latin typeface="Arial Rounded MT Bold" charset="0"/>
            </a:endParaRPr>
          </a:p>
          <a:p>
            <a:pPr eaLnBrk="0" hangingPunct="0"/>
            <a:r>
              <a:rPr lang="en-US" sz="2000">
                <a:latin typeface="Arial Rounded MT Bold" charset="0"/>
              </a:rPr>
              <a:t>•  atomic weight = </a:t>
            </a:r>
            <a:r>
              <a:rPr lang="en-US" sz="2000">
                <a:solidFill>
                  <a:srgbClr val="CC9900"/>
                </a:solidFill>
                <a:latin typeface="Arial Rounded MT Bold" charset="0"/>
              </a:rPr>
              <a:t>63.55 g/mol</a:t>
            </a:r>
            <a:r>
              <a:rPr lang="en-US" sz="2000">
                <a:latin typeface="Arial Rounded MT Bold" charset="0"/>
              </a:rPr>
              <a:t> (1 amu = 1 g/mol)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•  atomic radius R = 0.128 nm   (1 nm = 10   cm)</a:t>
            </a: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5943600" y="4648200"/>
            <a:ext cx="396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Arial Rounded MT Bold" charset="0"/>
              </a:rPr>
              <a:t>-7</a:t>
            </a:r>
          </a:p>
        </p:txBody>
      </p:sp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79525" y="4991100"/>
            <a:ext cx="65786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5092700"/>
            <a:ext cx="38100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90600" y="5753100"/>
            <a:ext cx="77724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23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90600" y="5410200"/>
            <a:ext cx="5943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324" name="Rectangle 1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THEORETICAL DENSITY, </a:t>
            </a:r>
            <a:r>
              <a:rPr lang="en-US">
                <a:latin typeface="Symbol" pitchFamily="18" charset="2"/>
              </a:rPr>
              <a:t>r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12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977900"/>
            <a:ext cx="1727200" cy="565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57400" y="977900"/>
            <a:ext cx="1206500" cy="565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00" y="723900"/>
            <a:ext cx="1485900" cy="590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858000" y="685800"/>
            <a:ext cx="1955800" cy="591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318000" y="647700"/>
            <a:ext cx="1016000" cy="598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562600" y="685800"/>
            <a:ext cx="1333500" cy="591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533400" y="127635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7620000" y="2286000"/>
            <a:ext cx="13493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Table, "Charac-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teristics of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Selected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Elements",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inside front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cover,</a:t>
            </a:r>
          </a:p>
          <a:p>
            <a:pPr eaLnBrk="0" hangingPunct="0"/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14347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305800" cy="685800"/>
          </a:xfrm>
        </p:spPr>
        <p:txBody>
          <a:bodyPr/>
          <a:lstStyle/>
          <a:p>
            <a:r>
              <a:rPr lang="en-US" sz="2800"/>
              <a:t>Characteristics of Selected Elements at 20C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28600" y="1066800"/>
            <a:ext cx="5245100" cy="81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13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9000" y="1041400"/>
            <a:ext cx="53848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57200" y="1600200"/>
            <a:ext cx="338772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Why?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Arial Rounded MT Bold" charset="0"/>
              </a:rPr>
              <a:t>  </a:t>
            </a:r>
            <a:r>
              <a:rPr lang="en-US" sz="2200">
                <a:solidFill>
                  <a:schemeClr val="tx2"/>
                </a:solidFill>
                <a:latin typeface="Arial Rounded MT Bold" charset="0"/>
              </a:rPr>
              <a:t>Metals</a:t>
            </a:r>
            <a:r>
              <a:rPr lang="en-US" sz="2200">
                <a:latin typeface="Arial Rounded MT Bold" charset="0"/>
              </a:rPr>
              <a:t> have...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• close-packing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    (metallic bonding)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• large atomic mass</a:t>
            </a:r>
          </a:p>
          <a:p>
            <a:pPr eaLnBrk="0" hangingPunct="0"/>
            <a:r>
              <a:rPr lang="en-US" sz="2200">
                <a:solidFill>
                  <a:schemeClr val="tx2"/>
                </a:solidFill>
                <a:latin typeface="Arial Rounded MT Bold" charset="0"/>
              </a:rPr>
              <a:t>  </a:t>
            </a:r>
            <a:r>
              <a:rPr lang="en-US" sz="2200">
                <a:solidFill>
                  <a:srgbClr val="0000FF"/>
                </a:solidFill>
                <a:latin typeface="Arial Rounded MT Bold" charset="0"/>
              </a:rPr>
              <a:t>Ceramics</a:t>
            </a:r>
            <a:r>
              <a:rPr lang="en-US" sz="2200">
                <a:latin typeface="Arial Rounded MT Bold" charset="0"/>
              </a:rPr>
              <a:t> have...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• less dense packing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    (covalent bonding)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• often lighter elements</a:t>
            </a:r>
            <a:endParaRPr lang="en-US" sz="2000">
              <a:solidFill>
                <a:srgbClr val="0000FF"/>
              </a:solidFill>
              <a:latin typeface="Arial Rounded MT Bold" charset="0"/>
            </a:endParaRPr>
          </a:p>
          <a:p>
            <a:pPr eaLnBrk="0" hangingPunct="0"/>
            <a:r>
              <a:rPr lang="en-US" sz="2200">
                <a:latin typeface="Arial Rounded MT Bold" charset="0"/>
              </a:rPr>
              <a:t>  </a:t>
            </a:r>
            <a:r>
              <a:rPr lang="en-US" sz="2200">
                <a:solidFill>
                  <a:srgbClr val="006600"/>
                </a:solidFill>
                <a:latin typeface="Arial Rounded MT Bold" charset="0"/>
              </a:rPr>
              <a:t>Polymers</a:t>
            </a:r>
            <a:r>
              <a:rPr lang="en-US" sz="2200">
                <a:latin typeface="Arial Rounded MT Bold" charset="0"/>
              </a:rPr>
              <a:t> have...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• poor packing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     (often amorphous)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• lighter elements (C,H,O)</a:t>
            </a:r>
            <a:endParaRPr lang="en-US" sz="2000">
              <a:solidFill>
                <a:srgbClr val="006600"/>
              </a:solidFill>
              <a:latin typeface="Arial Rounded MT Bold" charset="0"/>
            </a:endParaRPr>
          </a:p>
          <a:p>
            <a:pPr eaLnBrk="0" hangingPunct="0"/>
            <a:r>
              <a:rPr lang="en-US" sz="2200">
                <a:solidFill>
                  <a:srgbClr val="006600"/>
                </a:solidFill>
                <a:latin typeface="Arial Rounded MT Bold" charset="0"/>
              </a:rPr>
              <a:t>  </a:t>
            </a:r>
            <a:r>
              <a:rPr lang="en-US" sz="2200">
                <a:solidFill>
                  <a:srgbClr val="D60093"/>
                </a:solidFill>
                <a:latin typeface="Arial Rounded MT Bold" charset="0"/>
              </a:rPr>
              <a:t>Composites</a:t>
            </a:r>
            <a:r>
              <a:rPr lang="en-US" sz="2200">
                <a:latin typeface="Arial Rounded MT Bold" charset="0"/>
              </a:rPr>
              <a:t> have...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• intermediate values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4495800" y="6126163"/>
            <a:ext cx="3810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Data from Table B1,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DENSITIES OF MATERIAL CLASSES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14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609600" y="1143000"/>
            <a:ext cx="6738938" cy="13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Bonding: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--Mostly ionic, some covalent.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--% ionic character increases with difference in 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   electronegativity.</a:t>
            </a:r>
            <a:endParaRPr lang="en-US">
              <a:latin typeface="Arial Rounded MT Bold" charset="0"/>
            </a:endParaRP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9300" y="2819400"/>
            <a:ext cx="7632700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838200" y="6096000"/>
            <a:ext cx="7315200" cy="54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2.7,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 (Fig. 2.7 is adapted from Linus Pauling,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The Nature of the Chemical Bond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, 3rd edition, Copyright 1939 and 1940, 3rd edition.  Copyright 1960 by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Cornell University.</a:t>
            </a:r>
            <a:endParaRPr lang="en-US" sz="1200" i="1">
              <a:solidFill>
                <a:srgbClr val="000000"/>
              </a:solidFill>
              <a:latin typeface="Arial Rounded MT Bold" charset="0"/>
            </a:endParaRP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609600" y="2592388"/>
            <a:ext cx="56451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Large vs small ionic bond character:</a:t>
            </a:r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CERAMIC BONDING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15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09600" y="1143000"/>
            <a:ext cx="2984500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Charge Neutrality</a:t>
            </a:r>
            <a:r>
              <a:rPr lang="en-US">
                <a:latin typeface="Arial Rounded MT Bold" charset="0"/>
              </a:rPr>
              <a:t>: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--Net charge in the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     structure should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     be zero.</a:t>
            </a:r>
          </a:p>
          <a:p>
            <a:pPr eaLnBrk="0" hangingPunct="0"/>
            <a:endParaRPr lang="en-US" sz="2200">
              <a:latin typeface="Arial Rounded MT Bold" charset="0"/>
            </a:endParaRPr>
          </a:p>
          <a:p>
            <a:pPr eaLnBrk="0" hangingPunct="0"/>
            <a:endParaRPr lang="en-US" sz="2200">
              <a:latin typeface="Arial Rounded MT Bold" charset="0"/>
            </a:endParaRPr>
          </a:p>
          <a:p>
            <a:pPr eaLnBrk="0" hangingPunct="0"/>
            <a:r>
              <a:rPr lang="en-US" sz="2200">
                <a:latin typeface="Arial Rounded MT Bold" charset="0"/>
              </a:rPr>
              <a:t>    --General form:</a:t>
            </a:r>
            <a:endParaRPr lang="en-US">
              <a:latin typeface="Arial Rounded MT Bold" charset="0"/>
            </a:endParaRP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0" y="3048000"/>
            <a:ext cx="5257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533400" y="4008438"/>
            <a:ext cx="8304213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Stable structures: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--maximize the # of nearest oppositely charged neighbors.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7010400" y="5257800"/>
            <a:ext cx="1752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12.1,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4762500"/>
            <a:ext cx="13970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6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05200" y="4762500"/>
            <a:ext cx="13589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7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86400" y="4762500"/>
            <a:ext cx="14859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8" name="Picture 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962400" y="1143000"/>
            <a:ext cx="47117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19" name="Rectangle 1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IONIC BONDING &amp;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16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609600" y="1143000"/>
            <a:ext cx="4764088" cy="1065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Coordination # increases with</a:t>
            </a:r>
          </a:p>
          <a:p>
            <a:pPr eaLnBrk="0" hangingPunct="0"/>
            <a:r>
              <a:rPr lang="en-US">
                <a:latin typeface="Arial Rounded MT Bold" charset="0"/>
              </a:rPr>
              <a:t>    </a:t>
            </a:r>
            <a:r>
              <a:rPr lang="en-US" sz="2200">
                <a:latin typeface="Arial Rounded MT Bold" charset="0"/>
              </a:rPr>
              <a:t>Issue:  How many anions can you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   arrange around a cation?</a:t>
            </a:r>
            <a:endParaRPr lang="en-US">
              <a:latin typeface="Arial Rounded MT Bold" charset="0"/>
            </a:endParaRP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838200"/>
            <a:ext cx="1219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30275" y="2241550"/>
            <a:ext cx="7223125" cy="423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990600" y="6096000"/>
            <a:ext cx="1752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Table 12.2,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6629400" y="46640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12.2,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6629400" y="5959475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12.3,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6629400" y="3140075"/>
            <a:ext cx="2057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12.4,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COORDINATION # AND IONIC RADII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17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533400" y="1143000"/>
            <a:ext cx="743267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•  </a:t>
            </a:r>
            <a:r>
              <a:rPr lang="en-US">
                <a:latin typeface="Arial Rounded MT Bold" charset="0"/>
              </a:rPr>
              <a:t>On the basis of ionic radii, what crystal structure</a:t>
            </a:r>
          </a:p>
          <a:p>
            <a:pPr eaLnBrk="0" hangingPunct="0"/>
            <a:r>
              <a:rPr lang="en-US">
                <a:latin typeface="Arial Rounded MT Bold" charset="0"/>
              </a:rPr>
              <a:t>    would you predict for FeO? </a:t>
            </a:r>
            <a:endParaRPr lang="en-US">
              <a:solidFill>
                <a:srgbClr val="000000"/>
              </a:solidFill>
              <a:latin typeface="Arial Rounded MT Bold" charset="0"/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2070100"/>
            <a:ext cx="1574800" cy="440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54200" y="2070100"/>
            <a:ext cx="2946400" cy="440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5111750" y="2057400"/>
            <a:ext cx="1670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•  </a:t>
            </a:r>
            <a:r>
              <a:rPr lang="en-US">
                <a:latin typeface="Arial Rounded MT Bold" charset="0"/>
              </a:rPr>
              <a:t>Answer:</a:t>
            </a:r>
          </a:p>
        </p:txBody>
      </p:sp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5486400" y="2667000"/>
          <a:ext cx="2108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6" imgW="2108200" imgH="1219200" progId="Equation.3">
                  <p:embed/>
                </p:oleObj>
              </mc:Choice>
              <mc:Fallback>
                <p:oleObj name="Equation" r:id="rId6" imgW="2108200" imgH="1219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667000"/>
                        <a:ext cx="2108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5568950" y="4140200"/>
            <a:ext cx="277653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200">
                <a:solidFill>
                  <a:srgbClr val="000000"/>
                </a:solidFill>
                <a:latin typeface="Arial Rounded MT Bold" charset="0"/>
              </a:rPr>
              <a:t>based on this ratio,</a:t>
            </a:r>
          </a:p>
          <a:p>
            <a:pPr eaLnBrk="0" hangingPunct="0"/>
            <a:r>
              <a:rPr lang="en-US" sz="2200">
                <a:solidFill>
                  <a:srgbClr val="000000"/>
                </a:solidFill>
                <a:latin typeface="Arial Rounded MT Bold" charset="0"/>
              </a:rPr>
              <a:t>--coord # = 6</a:t>
            </a:r>
          </a:p>
          <a:p>
            <a:pPr eaLnBrk="0" hangingPunct="0"/>
            <a:r>
              <a:rPr lang="en-US" sz="2200">
                <a:solidFill>
                  <a:srgbClr val="000000"/>
                </a:solidFill>
                <a:latin typeface="Arial Rounded MT Bold" charset="0"/>
              </a:rPr>
              <a:t>--structure = NaCl</a:t>
            </a:r>
            <a:endParaRPr lang="en-US" sz="2200">
              <a:latin typeface="Arial Rounded MT Bold" charset="0"/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4114800" y="6019800"/>
            <a:ext cx="1752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Data from Table 12.3,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</a:p>
        </p:txBody>
      </p:sp>
      <p:sp>
        <p:nvSpPr>
          <p:cNvPr id="19466" name="Rectang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EX:  </a:t>
            </a:r>
            <a:r>
              <a:rPr lang="en-US" sz="3200"/>
              <a:t>PREDICTING STRUCTURE OF FeO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18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533400" y="1311275"/>
            <a:ext cx="26638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Consider CaF</a:t>
            </a:r>
            <a:r>
              <a:rPr lang="en-US" sz="2800" baseline="-6000">
                <a:latin typeface="Arial Rounded MT Bold" charset="0"/>
              </a:rPr>
              <a:t>2</a:t>
            </a:r>
            <a:r>
              <a:rPr lang="en-US">
                <a:latin typeface="Arial Rounded MT Bold" charset="0"/>
              </a:rPr>
              <a:t> : 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3352800" y="1066800"/>
          <a:ext cx="2857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4" imgW="2857500" imgH="825500" progId="Equation.3">
                  <p:embed/>
                </p:oleObj>
              </mc:Choice>
              <mc:Fallback>
                <p:oleObj name="Equation" r:id="rId4" imgW="2857500" imgH="8255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066800"/>
                        <a:ext cx="2857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533400" y="1997075"/>
            <a:ext cx="81089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Based on this ratio, coord # = 8 and structure = CsCl. 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533400" y="2362200"/>
            <a:ext cx="757555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Result:  CsCl structure w/only half the </a:t>
            </a:r>
            <a:r>
              <a:rPr lang="en-US">
                <a:solidFill>
                  <a:schemeClr val="accent1"/>
                </a:solidFill>
                <a:latin typeface="Arial Rounded MT Bold" charset="0"/>
              </a:rPr>
              <a:t>cation</a:t>
            </a:r>
            <a:r>
              <a:rPr lang="en-US">
                <a:latin typeface="Arial Rounded MT Bold" charset="0"/>
              </a:rPr>
              <a:t> sites</a:t>
            </a:r>
          </a:p>
          <a:p>
            <a:pPr eaLnBrk="0" hangingPunct="0"/>
            <a:r>
              <a:rPr lang="en-US">
                <a:latin typeface="Arial Rounded MT Bold" charset="0"/>
              </a:rPr>
              <a:t>      occupied. </a:t>
            </a:r>
          </a:p>
        </p:txBody>
      </p:sp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90600" y="3276600"/>
            <a:ext cx="2768600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4267200" y="3276600"/>
            <a:ext cx="44196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Only half the </a:t>
            </a:r>
            <a:r>
              <a:rPr lang="en-US">
                <a:solidFill>
                  <a:schemeClr val="accent1"/>
                </a:solidFill>
                <a:latin typeface="Arial Rounded MT Bold" charset="0"/>
              </a:rPr>
              <a:t>cation</a:t>
            </a:r>
            <a:r>
              <a:rPr lang="en-US">
                <a:latin typeface="Arial Rounded MT Bold" charset="0"/>
              </a:rPr>
              <a:t> sites</a:t>
            </a:r>
          </a:p>
          <a:p>
            <a:pPr eaLnBrk="0" hangingPunct="0"/>
            <a:r>
              <a:rPr lang="en-US">
                <a:latin typeface="Arial Rounded MT Bold" charset="0"/>
              </a:rPr>
              <a:t>      are occupied since</a:t>
            </a:r>
          </a:p>
          <a:p>
            <a:pPr eaLnBrk="0" hangingPunct="0"/>
            <a:r>
              <a:rPr lang="en-US">
                <a:latin typeface="Arial Rounded MT Bold" charset="0"/>
              </a:rPr>
              <a:t>      #Ca</a:t>
            </a:r>
            <a:r>
              <a:rPr lang="en-US" sz="2800" baseline="24000">
                <a:latin typeface="Arial Rounded MT Bold" charset="0"/>
              </a:rPr>
              <a:t>2+</a:t>
            </a:r>
            <a:r>
              <a:rPr lang="en-US">
                <a:latin typeface="Arial Rounded MT Bold" charset="0"/>
              </a:rPr>
              <a:t> ions = 1/2 # F</a:t>
            </a:r>
            <a:r>
              <a:rPr lang="en-US" sz="2800" baseline="24000">
                <a:latin typeface="Arial Rounded MT Bold" charset="0"/>
              </a:rPr>
              <a:t>-</a:t>
            </a:r>
            <a:r>
              <a:rPr lang="en-US">
                <a:latin typeface="Arial Rounded MT Bold" charset="0"/>
              </a:rPr>
              <a:t> ions.</a:t>
            </a: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3962400" y="5334000"/>
            <a:ext cx="228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12.5,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</a:p>
        </p:txBody>
      </p:sp>
      <p:sp>
        <p:nvSpPr>
          <p:cNvPr id="20490" name="Rectang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A</a:t>
            </a:r>
            <a:r>
              <a:rPr lang="en-US" baseline="-25000"/>
              <a:t>m</a:t>
            </a:r>
            <a:r>
              <a:rPr lang="en-US"/>
              <a:t>X</a:t>
            </a:r>
            <a:r>
              <a:rPr lang="en-US" baseline="-25000"/>
              <a:t>p</a:t>
            </a:r>
            <a:r>
              <a:rPr lang="en-US"/>
              <a:t>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19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581025" y="1692275"/>
            <a:ext cx="48164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Demonstrates "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polymorphism</a:t>
            </a:r>
            <a:r>
              <a:rPr lang="en-US">
                <a:latin typeface="Arial Rounded MT Bold" charset="0"/>
              </a:rPr>
              <a:t>"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5943600" y="1600200"/>
            <a:ext cx="25146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800">
                <a:latin typeface="Arial Rounded MT Bold" charset="0"/>
              </a:rPr>
              <a:t>The same atoms can have more than one crystal structure.</a:t>
            </a:r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 flipH="1">
            <a:off x="5410200" y="1752600"/>
            <a:ext cx="457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DEMO:  HEATING AND</a:t>
            </a:r>
            <a:br>
              <a:rPr lang="en-US"/>
            </a:br>
            <a:r>
              <a:rPr lang="en-US"/>
              <a:t>COOLING OF AN IRON WIRE</a:t>
            </a:r>
          </a:p>
        </p:txBody>
      </p:sp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2101850"/>
            <a:ext cx="6697663" cy="429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20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533400" y="1006475"/>
            <a:ext cx="481647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ABCABC... Stacking Sequence</a:t>
            </a:r>
          </a:p>
          <a:p>
            <a:pPr eaLnBrk="0" hangingPunct="0"/>
            <a:r>
              <a:rPr lang="en-US">
                <a:latin typeface="Arial Rounded MT Bold" charset="0"/>
              </a:rPr>
              <a:t>•  2D Projection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20800" y="1447800"/>
            <a:ext cx="6832600" cy="261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533400" y="4527550"/>
            <a:ext cx="22256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FCC Unit Cell</a:t>
            </a:r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70300" y="4254500"/>
            <a:ext cx="2273300" cy="229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559" name="Rectangle 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FCC STACKING SEQUENCE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21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533400" y="1066800"/>
            <a:ext cx="81375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Compounds: </a:t>
            </a:r>
            <a:r>
              <a:rPr lang="en-US" sz="2200">
                <a:latin typeface="Arial Rounded MT Bold" charset="0"/>
              </a:rPr>
              <a:t>Often have similar close-packed structures.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4559300" y="1447800"/>
            <a:ext cx="39751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Close-packed directions</a:t>
            </a:r>
          </a:p>
          <a:p>
            <a:pPr eaLnBrk="0" hangingPunct="0"/>
            <a:r>
              <a:rPr lang="en-US" sz="1800">
                <a:latin typeface="Arial Rounded MT Bold" charset="0"/>
              </a:rPr>
              <a:t>    --along cube edges.</a:t>
            </a:r>
            <a:endParaRPr lang="en-US">
              <a:latin typeface="Arial Rounded MT Bold" charset="0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57200" y="1447800"/>
            <a:ext cx="309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Structure of </a:t>
            </a:r>
            <a:r>
              <a:rPr lang="en-US">
                <a:solidFill>
                  <a:srgbClr val="5F5F5F"/>
                </a:solidFill>
                <a:latin typeface="Arial Rounded MT Bold" charset="0"/>
              </a:rPr>
              <a:t>Na</a:t>
            </a:r>
            <a:r>
              <a:rPr lang="en-US">
                <a:solidFill>
                  <a:srgbClr val="CC0000"/>
                </a:solidFill>
                <a:latin typeface="Arial Rounded MT Bold" charset="0"/>
              </a:rPr>
              <a:t>Cl</a:t>
            </a:r>
            <a:r>
              <a:rPr lang="en-US">
                <a:latin typeface="Arial Rounded MT Bold" charset="0"/>
              </a:rPr>
              <a:t> 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1524000" y="6172200"/>
            <a:ext cx="2085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(Courtesy P.M. Anderson)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5534025" y="6172200"/>
            <a:ext cx="2085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(Courtesy P.M. Anderson)</a:t>
            </a:r>
          </a:p>
        </p:txBody>
      </p:sp>
      <p:sp>
        <p:nvSpPr>
          <p:cNvPr id="24584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8100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/>
              <a:t>STRUCTURE OF COMPOUNDS: NaCl</a:t>
            </a:r>
          </a:p>
        </p:txBody>
      </p:sp>
      <p:pic>
        <p:nvPicPr>
          <p:cNvPr id="24585" name="3_13_a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533400" y="2838450"/>
            <a:ext cx="3543300" cy="3181350"/>
          </a:xfrm>
          <a:prstGeom prst="rect">
            <a:avLst/>
          </a:prstGeom>
          <a:noFill/>
        </p:spPr>
      </p:pic>
      <p:pic>
        <p:nvPicPr>
          <p:cNvPr id="24586" name="3_13_b.avi">
            <a:hlinkClick r:id="" action="ppaction://media"/>
          </p:cNvPr>
          <p:cNvPicPr>
            <a:picLocks noRot="1" noChangeAspect="1" noChangeArrowheads="1"/>
          </p:cNvPicPr>
          <p:nvPr>
            <a:videoFile r:link="rId2"/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4876800" y="2667000"/>
            <a:ext cx="3543300" cy="3181350"/>
          </a:xfrm>
          <a:prstGeom prst="rect">
            <a:avLst/>
          </a:prstGeom>
          <a:noFill/>
        </p:spPr>
      </p:pic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1676400" y="5867400"/>
            <a:ext cx="19415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Arial Rounded MT Bold" charset="0"/>
              </a:rPr>
              <a:t>Click on image to animate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5486400" y="5867400"/>
            <a:ext cx="19415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latin typeface="Arial Rounded MT Bold" charset="0"/>
              </a:rPr>
              <a:t>Click on image to animate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5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45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85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458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5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45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86"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4586"/>
                </p:tgtEl>
              </p:cMediaNode>
            </p:video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/>
              <a:t>Diamond, BeO and GaAs are examples of FCC structures with two atoms per lattice point</a:t>
            </a:r>
          </a:p>
        </p:txBody>
      </p:sp>
      <p:pic>
        <p:nvPicPr>
          <p:cNvPr id="72707" name="Picture 3" descr="File00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2057400"/>
            <a:ext cx="4864100" cy="2865438"/>
          </a:xfrm>
          <a:prstGeom prst="rect">
            <a:avLst/>
          </a:prstGeom>
          <a:noFill/>
        </p:spPr>
      </p:pic>
      <p:pic>
        <p:nvPicPr>
          <p:cNvPr id="72708" name="Picture 4" descr="File00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2133600"/>
            <a:ext cx="2971800" cy="27908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22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90525" y="1219200"/>
            <a:ext cx="83153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 i="1">
                <a:latin typeface="Arial Rounded MT Bold" charset="0"/>
              </a:rPr>
              <a:t>Some</a:t>
            </a:r>
            <a:r>
              <a:rPr lang="en-US">
                <a:latin typeface="Arial Rounded MT Bold" charset="0"/>
              </a:rPr>
              <a:t> engineering applications require single crystals: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81000" y="3505200"/>
            <a:ext cx="52578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Crystal properties reveal features</a:t>
            </a:r>
          </a:p>
          <a:p>
            <a:pPr eaLnBrk="0" hangingPunct="0"/>
            <a:r>
              <a:rPr lang="en-US">
                <a:latin typeface="Arial Rounded MT Bold" charset="0"/>
              </a:rPr>
              <a:t>      of atomic structure.</a:t>
            </a: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3549650"/>
            <a:ext cx="1104900" cy="1905000"/>
          </a:xfrm>
          <a:prstGeom prst="rect">
            <a:avLst/>
          </a:prstGeom>
          <a:noFill/>
        </p:spPr>
      </p:pic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5791200" y="5530850"/>
            <a:ext cx="2085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(Courtesy P.M. Anderson)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685800" y="4311650"/>
            <a:ext cx="51704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--Ex:  Certain crystal planes in quartz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fracture more easily than others.</a:t>
            </a:r>
          </a:p>
        </p:txBody>
      </p:sp>
      <p:pic>
        <p:nvPicPr>
          <p:cNvPr id="25608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67600" y="1600200"/>
            <a:ext cx="1143000" cy="2286000"/>
          </a:xfrm>
          <a:prstGeom prst="rect">
            <a:avLst/>
          </a:prstGeom>
          <a:noFill/>
        </p:spPr>
      </p:pic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609600" y="1524000"/>
            <a:ext cx="34655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--diamond single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 crystals for abrasives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5181600" y="1477963"/>
            <a:ext cx="2395538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 --turbine blades</a:t>
            </a: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5486400" y="1981200"/>
            <a:ext cx="1989138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Fig. 8.30(c),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(Fig. 8.30(c) courtesy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of Pratt and Whitney).</a:t>
            </a:r>
          </a:p>
        </p:txBody>
      </p:sp>
      <p:pic>
        <p:nvPicPr>
          <p:cNvPr id="25612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6800" y="2286000"/>
            <a:ext cx="873125" cy="889000"/>
          </a:xfrm>
          <a:prstGeom prst="rect">
            <a:avLst/>
          </a:prstGeom>
          <a:noFill/>
        </p:spPr>
      </p:pic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1981200" y="2286000"/>
            <a:ext cx="2133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>
                <a:latin typeface="Arial Rounded MT Bold" charset="0"/>
              </a:rPr>
              <a:t>(Courtesy Martin Deakins,</a:t>
            </a:r>
          </a:p>
          <a:p>
            <a:pPr eaLnBrk="0" hangingPunct="0"/>
            <a:r>
              <a:rPr lang="en-US" sz="1200">
                <a:latin typeface="Arial Rounded MT Bold" charset="0"/>
              </a:rPr>
              <a:t>GE Superabrasives, Worthington, OH.  Used with permission.)</a:t>
            </a:r>
          </a:p>
        </p:txBody>
      </p:sp>
      <p:sp>
        <p:nvSpPr>
          <p:cNvPr id="25614" name="Rectangle 14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7700963" cy="1143000"/>
          </a:xfrm>
        </p:spPr>
        <p:txBody>
          <a:bodyPr/>
          <a:lstStyle/>
          <a:p>
            <a:r>
              <a:rPr lang="en-US"/>
              <a:t>CRYSTALS AS BUILDING BLOCKS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23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581025" y="914400"/>
            <a:ext cx="68294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</a:t>
            </a:r>
            <a:r>
              <a:rPr lang="en-US" i="1">
                <a:latin typeface="Arial Rounded MT Bold" charset="0"/>
              </a:rPr>
              <a:t>Most</a:t>
            </a:r>
            <a:r>
              <a:rPr lang="en-US">
                <a:latin typeface="Arial Rounded MT Bold" charset="0"/>
              </a:rPr>
              <a:t> engineering materials are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polycrystals.</a:t>
            </a:r>
            <a:endParaRPr lang="en-US">
              <a:latin typeface="Arial Rounded MT Bold" charset="0"/>
            </a:endParaRP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1113" y="1371600"/>
            <a:ext cx="5653087" cy="2908300"/>
          </a:xfrm>
          <a:prstGeom prst="rect">
            <a:avLst/>
          </a:prstGeom>
          <a:noFill/>
        </p:spPr>
      </p:pic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609600" y="4362450"/>
            <a:ext cx="7677150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Nb-Hf-W plate with an electron beam weld.</a:t>
            </a:r>
          </a:p>
          <a:p>
            <a:pPr eaLnBrk="0" hangingPunct="0"/>
            <a:r>
              <a:rPr lang="en-US">
                <a:latin typeface="Arial Rounded MT Bold" charset="0"/>
              </a:rPr>
              <a:t>•  Each "grain" is a single crystal.</a:t>
            </a:r>
          </a:p>
          <a:p>
            <a:pPr eaLnBrk="0" hangingPunct="0"/>
            <a:r>
              <a:rPr lang="en-US">
                <a:latin typeface="Arial Rounded MT Bold" charset="0"/>
              </a:rPr>
              <a:t>•  If crystals are randomly oriented,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   overall component properties are not directional.</a:t>
            </a:r>
          </a:p>
          <a:p>
            <a:pPr eaLnBrk="0" hangingPunct="0"/>
            <a:r>
              <a:rPr lang="en-US">
                <a:latin typeface="Arial Rounded MT Bold" charset="0"/>
              </a:rPr>
              <a:t>•  Crystal sizes typ. range from 1 nm to 2 cm</a:t>
            </a:r>
          </a:p>
          <a:p>
            <a:pPr eaLnBrk="0" hangingPunct="0"/>
            <a:r>
              <a:rPr lang="en-US">
                <a:latin typeface="Arial Rounded MT Bold" charset="0"/>
              </a:rPr>
              <a:t>      </a:t>
            </a:r>
            <a:r>
              <a:rPr lang="en-US" sz="2000">
                <a:latin typeface="Arial Rounded MT Bold" charset="0"/>
              </a:rPr>
              <a:t>(i.e., from a few to millions of atomic layers).</a:t>
            </a:r>
            <a:endParaRPr lang="en-US">
              <a:latin typeface="Arial Rounded MT Bold" charset="0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7010400" y="2074863"/>
            <a:ext cx="1676400" cy="127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K, color inset pages of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.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(Fig. K is courtesy of Paul E. Danielson, Teledyne Wah Chang Albany)</a:t>
            </a:r>
            <a:endParaRPr lang="en-US" sz="1200">
              <a:latin typeface="Arial Rounded MT Bold" charset="0"/>
            </a:endParaRPr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1371600" y="3886200"/>
            <a:ext cx="990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arrow" w="med" len="med"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1371600" y="3254375"/>
            <a:ext cx="98107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1 mm</a:t>
            </a:r>
            <a:endParaRPr lang="en-US">
              <a:solidFill>
                <a:schemeClr val="bg1"/>
              </a:solidFill>
              <a:latin typeface="Arial Rounded MT Bold" charset="0"/>
            </a:endParaRPr>
          </a:p>
        </p:txBody>
      </p:sp>
      <p:sp>
        <p:nvSpPr>
          <p:cNvPr id="26633" name="Rectangle 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POLYCRYSTALS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24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581025" y="992188"/>
            <a:ext cx="24860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Single Crystals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914400" y="1403350"/>
            <a:ext cx="3208338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-Properties vary with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direction:  </a:t>
            </a:r>
            <a:r>
              <a:rPr lang="en-US" sz="2200">
                <a:solidFill>
                  <a:schemeClr val="accent2"/>
                </a:solidFill>
                <a:latin typeface="Arial Rounded MT Bold" charset="0"/>
              </a:rPr>
              <a:t>anisotropic</a:t>
            </a:r>
            <a:r>
              <a:rPr lang="en-US" sz="2200">
                <a:latin typeface="Arial Rounded MT Bold" charset="0"/>
              </a:rPr>
              <a:t>.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914400" y="2149475"/>
            <a:ext cx="384175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-Example:  the modulus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of elasticity (E) in BCC iron: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609600" y="3200400"/>
            <a:ext cx="20764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Polycrystals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942975" y="3676650"/>
            <a:ext cx="3308350" cy="234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-Properties may/may not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vary with direction.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-If grains are randomly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oriented: </a:t>
            </a:r>
            <a:r>
              <a:rPr lang="en-US" sz="2200">
                <a:solidFill>
                  <a:schemeClr val="accent2"/>
                </a:solidFill>
                <a:latin typeface="Arial Rounded MT Bold" charset="0"/>
              </a:rPr>
              <a:t>isotropic</a:t>
            </a:r>
            <a:r>
              <a:rPr lang="en-US" sz="2200">
                <a:latin typeface="Arial Rounded MT Bold" charset="0"/>
              </a:rPr>
              <a:t>.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</a:t>
            </a:r>
            <a:r>
              <a:rPr lang="en-US" sz="2000">
                <a:latin typeface="Arial Rounded MT Bold" charset="0"/>
              </a:rPr>
              <a:t>(E</a:t>
            </a:r>
            <a:r>
              <a:rPr lang="en-US" sz="2200" baseline="-10000">
                <a:latin typeface="Arial Rounded MT Bold" charset="0"/>
              </a:rPr>
              <a:t>poly iron</a:t>
            </a:r>
            <a:r>
              <a:rPr lang="en-US" sz="2000">
                <a:latin typeface="Arial Rounded MT Bold" charset="0"/>
              </a:rPr>
              <a:t> = 210 GPa)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-If grains are </a:t>
            </a:r>
            <a:r>
              <a:rPr lang="en-US" sz="2200">
                <a:solidFill>
                  <a:schemeClr val="accent2"/>
                </a:solidFill>
                <a:latin typeface="Arial Rounded MT Bold" charset="0"/>
              </a:rPr>
              <a:t>textured</a:t>
            </a:r>
            <a:r>
              <a:rPr lang="en-US" sz="2200">
                <a:latin typeface="Arial Rounded MT Bold" charset="0"/>
              </a:rPr>
              <a:t>,</a:t>
            </a:r>
          </a:p>
          <a:p>
            <a:pPr eaLnBrk="0" hangingPunct="0"/>
            <a:r>
              <a:rPr lang="en-US" sz="2200">
                <a:latin typeface="Arial Rounded MT Bold" charset="0"/>
              </a:rPr>
              <a:t>  anisotropic.</a:t>
            </a:r>
          </a:p>
        </p:txBody>
      </p:sp>
      <p:pic>
        <p:nvPicPr>
          <p:cNvPr id="27656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3581400"/>
            <a:ext cx="1644650" cy="1477963"/>
          </a:xfrm>
          <a:prstGeom prst="rect">
            <a:avLst/>
          </a:prstGeom>
          <a:noFill/>
        </p:spPr>
      </p:pic>
      <p:pic>
        <p:nvPicPr>
          <p:cNvPr id="27657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5380038"/>
            <a:ext cx="2286000" cy="715962"/>
          </a:xfrm>
          <a:prstGeom prst="rect">
            <a:avLst/>
          </a:prstGeom>
          <a:noFill/>
        </p:spPr>
      </p:pic>
      <p:pic>
        <p:nvPicPr>
          <p:cNvPr id="27658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873125"/>
            <a:ext cx="2971800" cy="26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5634038" y="3581400"/>
            <a:ext cx="1071562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Arial Rounded MT Bold" charset="0"/>
              </a:rPr>
              <a:t>200 </a:t>
            </a:r>
            <a:r>
              <a:rPr lang="en-US" sz="2000">
                <a:latin typeface="Symbol" pitchFamily="18" charset="2"/>
              </a:rPr>
              <a:t>m</a:t>
            </a:r>
            <a:r>
              <a:rPr lang="en-US" sz="2000">
                <a:latin typeface="Arial Rounded MT Bold" charset="0"/>
              </a:rPr>
              <a:t>m</a:t>
            </a:r>
            <a:endParaRPr lang="en-US" sz="2000">
              <a:solidFill>
                <a:schemeClr val="bg1"/>
              </a:solidFill>
              <a:latin typeface="Arial Rounded MT Bold" charset="0"/>
            </a:endParaRP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5791200" y="35814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4191000" y="5715000"/>
            <a:ext cx="4572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 flipV="1">
            <a:off x="3886200" y="4724400"/>
            <a:ext cx="14478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7086600" y="1371600"/>
            <a:ext cx="1676400" cy="164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Data from Table 3.3,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.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(Source of data is R.W. Hertzberg,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Deformation and Fracture Mechanics of Engineering Materials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, 3rd ed., John Wiley and Sons, 1989.)</a:t>
            </a:r>
            <a:endParaRPr lang="en-US" sz="1200">
              <a:latin typeface="Arial Rounded MT Bold" charset="0"/>
            </a:endParaRP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7086600" y="3733800"/>
            <a:ext cx="16764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4.12(b),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.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(Fig. 4.12(b) is courtesy of L.C. Smith and C. Brady, the National Bureau of Standards, Washington, DC [now the National Institute of Standards and Technology, Gaithersburg, MD].)</a:t>
            </a:r>
            <a:endParaRPr lang="en-US" sz="1200">
              <a:latin typeface="Arial Rounded MT Bold" charset="0"/>
            </a:endParaRPr>
          </a:p>
        </p:txBody>
      </p:sp>
      <p:sp>
        <p:nvSpPr>
          <p:cNvPr id="27665" name="Rectangle 1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SINGLE VS POLYCRYSTALS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533400" y="1524000"/>
            <a:ext cx="522922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4D4D4D"/>
                </a:solidFill>
                <a:latin typeface="Arial Rounded MT Bold" charset="0"/>
              </a:rPr>
              <a:t>•  atoms pack in periodic, 3D arrays</a:t>
            </a:r>
          </a:p>
          <a:p>
            <a:pPr eaLnBrk="0" hangingPunct="0"/>
            <a:r>
              <a:rPr lang="en-US">
                <a:solidFill>
                  <a:srgbClr val="4D4D4D"/>
                </a:solidFill>
                <a:latin typeface="Arial Rounded MT Bold" charset="0"/>
              </a:rPr>
              <a:t>•  typical of:</a:t>
            </a:r>
            <a:endParaRPr lang="en-US" sz="2800">
              <a:solidFill>
                <a:srgbClr val="4D4D4D"/>
              </a:solidFill>
              <a:latin typeface="Arial Rounded MT Bold" charset="0"/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26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381000" y="1127125"/>
            <a:ext cx="3521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accent2"/>
                </a:solidFill>
                <a:latin typeface="Arial Rounded MT Bold" charset="0"/>
              </a:rPr>
              <a:t>Crystalline</a:t>
            </a:r>
            <a:r>
              <a:rPr lang="en-US">
                <a:latin typeface="Arial Rounded MT Bold" charset="0"/>
              </a:rPr>
              <a:t> materials...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2543175" y="1905000"/>
            <a:ext cx="23526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-metals</a:t>
            </a:r>
          </a:p>
          <a:p>
            <a:pPr eaLnBrk="0" hangingPunct="0"/>
            <a:r>
              <a:rPr lang="en-US">
                <a:latin typeface="Arial Rounded MT Bold" charset="0"/>
              </a:rPr>
              <a:t>-many ceramics</a:t>
            </a:r>
          </a:p>
          <a:p>
            <a:pPr eaLnBrk="0" hangingPunct="0"/>
            <a:r>
              <a:rPr lang="en-US">
                <a:latin typeface="Arial Rounded MT Bold" charset="0"/>
              </a:rPr>
              <a:t>-some polymers</a:t>
            </a:r>
            <a:endParaRPr lang="en-US" sz="2800">
              <a:latin typeface="Arial Rounded MT Bold" charset="0"/>
            </a:endParaRPr>
          </a:p>
        </p:txBody>
      </p:sp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1066800"/>
            <a:ext cx="1905000" cy="161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584200" y="4191000"/>
            <a:ext cx="496252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4D4D4D"/>
                </a:solidFill>
                <a:latin typeface="Arial Rounded MT Bold" charset="0"/>
              </a:rPr>
              <a:t>•  atoms have no periodic packing</a:t>
            </a:r>
          </a:p>
          <a:p>
            <a:pPr eaLnBrk="0" hangingPunct="0"/>
            <a:r>
              <a:rPr lang="en-US">
                <a:solidFill>
                  <a:srgbClr val="4D4D4D"/>
                </a:solidFill>
                <a:latin typeface="Arial Rounded MT Bold" charset="0"/>
              </a:rPr>
              <a:t>•  occurs for:</a:t>
            </a:r>
            <a:endParaRPr lang="en-US" sz="2800">
              <a:solidFill>
                <a:srgbClr val="4D4D4D"/>
              </a:solidFill>
              <a:latin typeface="Arial Rounded MT Bold" charset="0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381000" y="3733800"/>
            <a:ext cx="4076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accent2"/>
                </a:solidFill>
                <a:latin typeface="Arial Rounded MT Bold" charset="0"/>
              </a:rPr>
              <a:t>Noncrystalline</a:t>
            </a:r>
            <a:r>
              <a:rPr lang="en-US">
                <a:latin typeface="Arial Rounded MT Bold" charset="0"/>
              </a:rPr>
              <a:t> materials...</a:t>
            </a: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2593975" y="4568825"/>
            <a:ext cx="296862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-complex structures</a:t>
            </a:r>
          </a:p>
          <a:p>
            <a:pPr eaLnBrk="0" hangingPunct="0"/>
            <a:r>
              <a:rPr lang="en-US">
                <a:latin typeface="Arial Rounded MT Bold" charset="0"/>
              </a:rPr>
              <a:t>-rapid cooling</a:t>
            </a:r>
            <a:endParaRPr lang="en-US" sz="2800">
              <a:latin typeface="Arial Rounded MT Bold" charset="0"/>
            </a:endParaRPr>
          </a:p>
        </p:txBody>
      </p:sp>
      <p:pic>
        <p:nvPicPr>
          <p:cNvPr id="29706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34100" y="4038600"/>
            <a:ext cx="1828800" cy="152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67400" y="34290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6173788" y="2667000"/>
            <a:ext cx="2074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Arial Rounded MT Bold" charset="0"/>
              </a:rPr>
              <a:t>crystalline SiO</a:t>
            </a:r>
            <a:r>
              <a:rPr lang="en-US" sz="2000" baseline="-2000">
                <a:latin typeface="Arial Rounded MT Bold" charset="0"/>
              </a:rPr>
              <a:t>2</a:t>
            </a:r>
            <a:endParaRPr lang="en-US" sz="2000">
              <a:latin typeface="Arial Rounded MT Bold" charset="0"/>
            </a:endParaRPr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5943600" y="5486400"/>
            <a:ext cx="2536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Arial Rounded MT Bold" charset="0"/>
              </a:rPr>
              <a:t>noncrystalline SiO</a:t>
            </a:r>
            <a:r>
              <a:rPr lang="en-US" sz="2000" baseline="-2000">
                <a:latin typeface="Arial Rounded MT Bold" charset="0"/>
              </a:rPr>
              <a:t>2</a:t>
            </a:r>
            <a:endParaRPr lang="en-US" sz="2000">
              <a:latin typeface="Arial Rounded MT Bold" charset="0"/>
            </a:endParaRP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381000" y="5486400"/>
            <a:ext cx="4667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"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Amorphous</a:t>
            </a:r>
            <a:r>
              <a:rPr lang="en-US">
                <a:latin typeface="Arial Rounded MT Bold" charset="0"/>
              </a:rPr>
              <a:t>" = Noncrystalline</a:t>
            </a:r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6019800" y="5791200"/>
            <a:ext cx="2119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3.18(b),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6019800" y="2971800"/>
            <a:ext cx="211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Adapted from Fig. 3.18(a),</a:t>
            </a:r>
          </a:p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  <a:r>
              <a:rPr lang="en-US" sz="1200" i="1">
                <a:solidFill>
                  <a:srgbClr val="000000"/>
                </a:solidFill>
                <a:latin typeface="Arial Rounded MT Bold" charset="0"/>
              </a:rPr>
              <a:t>Callister 6e.</a:t>
            </a:r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 </a:t>
            </a:r>
          </a:p>
        </p:txBody>
      </p:sp>
      <p:sp>
        <p:nvSpPr>
          <p:cNvPr id="29713" name="Rectangle 1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MATERIALS AND PACKING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28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3400" y="3657600"/>
            <a:ext cx="32131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Quartz is crystalline</a:t>
            </a:r>
          </a:p>
          <a:p>
            <a:pPr eaLnBrk="0" hangingPunct="0"/>
            <a:r>
              <a:rPr lang="en-US">
                <a:latin typeface="Arial Rounded MT Bold" charset="0"/>
              </a:rPr>
              <a:t>    SiO</a:t>
            </a:r>
            <a:r>
              <a:rPr lang="en-US" sz="2800" baseline="-4000">
                <a:latin typeface="Arial Rounded MT Bold" charset="0"/>
              </a:rPr>
              <a:t>2</a:t>
            </a:r>
            <a:r>
              <a:rPr lang="en-US">
                <a:latin typeface="Arial Rounded MT Bold" charset="0"/>
              </a:rPr>
              <a:t>: </a:t>
            </a: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3733800"/>
            <a:ext cx="28956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609600" y="1092200"/>
            <a:ext cx="19431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Basic Unit: </a:t>
            </a:r>
          </a:p>
        </p:txBody>
      </p:sp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3000" y="1574800"/>
            <a:ext cx="2336800" cy="17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3000" y="4651375"/>
            <a:ext cx="1765300" cy="159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4267200" y="1143000"/>
            <a:ext cx="4419600" cy="234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>
                <a:latin typeface="Arial Rounded MT Bold" charset="0"/>
              </a:rPr>
              <a:t>•  Glass is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amorphous</a:t>
            </a:r>
            <a:endParaRPr lang="en-US">
              <a:latin typeface="Arial Rounded MT Bold" charset="0"/>
            </a:endParaRPr>
          </a:p>
          <a:p>
            <a:pPr eaLnBrk="0" hangingPunct="0"/>
            <a:r>
              <a:rPr lang="en-US">
                <a:latin typeface="Arial Rounded MT Bold" charset="0"/>
              </a:rPr>
              <a:t>•  Amorphous structure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occurs by adding impurities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 (Na</a:t>
            </a:r>
            <a:r>
              <a:rPr lang="en-US" sz="2800" baseline="20000">
                <a:latin typeface="Arial Rounded MT Bold" charset="0"/>
              </a:rPr>
              <a:t>+</a:t>
            </a:r>
            <a:r>
              <a:rPr lang="en-US" sz="2000">
                <a:latin typeface="Arial Rounded MT Bold" charset="0"/>
              </a:rPr>
              <a:t>,Mg</a:t>
            </a:r>
            <a:r>
              <a:rPr lang="en-US" sz="2800" baseline="20000">
                <a:latin typeface="Arial Rounded MT Bold" charset="0"/>
              </a:rPr>
              <a:t>2+</a:t>
            </a:r>
            <a:r>
              <a:rPr lang="en-US" sz="2000">
                <a:latin typeface="Arial Rounded MT Bold" charset="0"/>
              </a:rPr>
              <a:t>,Ca</a:t>
            </a:r>
            <a:r>
              <a:rPr lang="en-US" sz="2800" baseline="20000">
                <a:latin typeface="Arial Rounded MT Bold" charset="0"/>
              </a:rPr>
              <a:t>2+</a:t>
            </a:r>
            <a:r>
              <a:rPr lang="en-US" sz="2000">
                <a:latin typeface="Arial Rounded MT Bold" charset="0"/>
              </a:rPr>
              <a:t>, Al</a:t>
            </a:r>
            <a:r>
              <a:rPr lang="en-US" sz="2800" baseline="20000">
                <a:latin typeface="Arial Rounded MT Bold" charset="0"/>
              </a:rPr>
              <a:t>3+</a:t>
            </a:r>
            <a:r>
              <a:rPr lang="en-US" sz="2200">
                <a:latin typeface="Arial Rounded MT Bold" charset="0"/>
              </a:rPr>
              <a:t>)</a:t>
            </a:r>
          </a:p>
          <a:p>
            <a:pPr eaLnBrk="0" hangingPunct="0"/>
            <a:r>
              <a:rPr lang="en-US">
                <a:latin typeface="Arial Rounded MT Bold" charset="0"/>
              </a:rPr>
              <a:t>•  Impurities: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interfere with formation of</a:t>
            </a:r>
          </a:p>
          <a:p>
            <a:pPr eaLnBrk="0" hangingPunct="0"/>
            <a:r>
              <a:rPr lang="en-US" sz="2000">
                <a:latin typeface="Arial Rounded MT Bold" charset="0"/>
              </a:rPr>
              <a:t>    crystalline structure.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6781800" y="5257800"/>
            <a:ext cx="18303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200">
                <a:latin typeface="Arial Rounded MT Bold" charset="0"/>
              </a:rPr>
              <a:t>(soda glass)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6781800" y="57912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>
                <a:latin typeface="Arial Rounded MT Bold" charset="0"/>
              </a:rPr>
              <a:t>Adapted from Fig. 12.11, </a:t>
            </a:r>
            <a:r>
              <a:rPr lang="en-US" sz="1200" i="1">
                <a:latin typeface="Arial Rounded MT Bold" charset="0"/>
              </a:rPr>
              <a:t>Callister, 6e</a:t>
            </a:r>
            <a:r>
              <a:rPr lang="en-US" sz="1200">
                <a:latin typeface="Arial Rounded MT Bold" charset="0"/>
              </a:rPr>
              <a:t>.</a:t>
            </a:r>
          </a:p>
        </p:txBody>
      </p:sp>
      <p:sp>
        <p:nvSpPr>
          <p:cNvPr id="32779" name="Rectangle 1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GLASS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1143000" y="1555750"/>
            <a:ext cx="604202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•  Atoms may assemble into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crystalline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 or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 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amorphous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 structures.</a:t>
            </a:r>
            <a:endParaRPr lang="en-US">
              <a:latin typeface="Arial Rounded MT Bold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143000" y="2417763"/>
            <a:ext cx="6950075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•  We can predict the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density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 of a material,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  provided we know the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atomic weight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,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atomic</a:t>
            </a:r>
          </a:p>
          <a:p>
            <a:pPr eaLnBrk="0" hangingPunct="0"/>
            <a:r>
              <a:rPr lang="en-US">
                <a:solidFill>
                  <a:schemeClr val="accent2"/>
                </a:solidFill>
                <a:latin typeface="Arial Rounded MT Bold" charset="0"/>
              </a:rPr>
              <a:t>     radius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, and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crystal geometry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 (e.g., FCC,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  BCC, HCP).</a:t>
            </a:r>
            <a:endParaRPr lang="en-US">
              <a:latin typeface="Arial Rounded MT Bold" charset="0"/>
            </a:endParaRP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143000" y="4010025"/>
            <a:ext cx="7467600" cy="182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•  Material properties generally vary with single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  crystal orientation (i.e., they are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anisotropic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),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  but properties are generally non-directional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  (i.e., they are </a:t>
            </a:r>
            <a:r>
              <a:rPr lang="en-US">
                <a:solidFill>
                  <a:schemeClr val="accent2"/>
                </a:solidFill>
                <a:latin typeface="Arial Rounded MT Bold" charset="0"/>
              </a:rPr>
              <a:t>isotropic</a:t>
            </a:r>
            <a:r>
              <a:rPr lang="en-US">
                <a:solidFill>
                  <a:srgbClr val="000000"/>
                </a:solidFill>
                <a:latin typeface="Arial Rounded MT Bold" charset="0"/>
              </a:rPr>
              <a:t>) in polycrystals with</a:t>
            </a:r>
          </a:p>
          <a:p>
            <a:pPr eaLnBrk="0" hangingPunct="0"/>
            <a:r>
              <a:rPr lang="en-US">
                <a:solidFill>
                  <a:srgbClr val="000000"/>
                </a:solidFill>
                <a:latin typeface="Arial Rounded MT Bold" charset="0"/>
              </a:rPr>
              <a:t>     randomly oriented grains.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8077200" y="6400800"/>
            <a:ext cx="352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>
                <a:solidFill>
                  <a:srgbClr val="000000"/>
                </a:solidFill>
                <a:latin typeface="Arial Rounded MT Bold" charset="0"/>
              </a:rPr>
              <a:t>27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Miller Indices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faces of the crystals both when they grow and when they are formed by cleavage</a:t>
            </a:r>
          </a:p>
          <a:p>
            <a:r>
              <a:rPr lang="en-US" dirty="0" smtClean="0"/>
              <a:t>Tent to be parallel either to the sides of the unit cell or to </a:t>
            </a:r>
            <a:r>
              <a:rPr lang="en-US" dirty="0"/>
              <a:t>planes in the </a:t>
            </a:r>
            <a:r>
              <a:rPr lang="en-US" dirty="0" smtClean="0"/>
              <a:t>crystals.</a:t>
            </a:r>
          </a:p>
          <a:p>
            <a:r>
              <a:rPr lang="en-US" dirty="0" smtClean="0"/>
              <a:t>It is useful to be able to refer to both crystal faces and to the planes  </a:t>
            </a:r>
            <a:r>
              <a:rPr lang="en-US" dirty="0" smtClean="0">
                <a:sym typeface="Wingdings" pitchFamily="2" charset="2"/>
              </a:rPr>
              <a:t> by Miller indices.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843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7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3114</Words>
  <Application>Microsoft Office PowerPoint</Application>
  <PresentationFormat>On-screen Show (4:3)</PresentationFormat>
  <Paragraphs>523</Paragraphs>
  <Slides>79</Slides>
  <Notes>38</Notes>
  <HiddenSlides>0</HiddenSlides>
  <MMClips>5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1" baseType="lpstr"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Covalent and Molecular Bonds </vt:lpstr>
      <vt:lpstr>Ionic Bonds </vt:lpstr>
      <vt:lpstr>Pauling’s Rules of Mineral Structure</vt:lpstr>
      <vt:lpstr>PowerPoint Presentation</vt:lpstr>
      <vt:lpstr>PowerPoint Presentation</vt:lpstr>
      <vt:lpstr>PowerPoint Presentation</vt:lpstr>
      <vt:lpstr>PowerPoint Presentation</vt:lpstr>
      <vt:lpstr>Charge Balance of Ionic Bonds</vt:lpstr>
      <vt:lpstr>Uniform Bond Strength</vt:lpstr>
      <vt:lpstr>PowerPoint Presentation</vt:lpstr>
      <vt:lpstr>Nonuniform Bond Strength</vt:lpstr>
      <vt:lpstr>Formation of Anionic Groups</vt:lpstr>
      <vt:lpstr>Anisodesmic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3:  Structures of Metals and Ceramics</vt:lpstr>
      <vt:lpstr>ENERGY AND PACKING</vt:lpstr>
      <vt:lpstr>PowerPoint Presentation</vt:lpstr>
      <vt:lpstr>Lattice and Unit Cells</vt:lpstr>
      <vt:lpstr>PowerPoint Presentation</vt:lpstr>
      <vt:lpstr>One and Two dimensional Unit Cell</vt:lpstr>
      <vt:lpstr>PowerPoint Presentation</vt:lpstr>
      <vt:lpstr>PowerPoint Presentation</vt:lpstr>
      <vt:lpstr>Three dimensional unit cell</vt:lpstr>
      <vt:lpstr>PowerPoint Presentation</vt:lpstr>
      <vt:lpstr>PowerPoint Presentation</vt:lpstr>
      <vt:lpstr>PowerPoint Presentation</vt:lpstr>
      <vt:lpstr>PowerPoint Presentation</vt:lpstr>
      <vt:lpstr>METALLIC CRYSTALS</vt:lpstr>
      <vt:lpstr>PowerPoint Presentation</vt:lpstr>
      <vt:lpstr>PowerPoint Presentation</vt:lpstr>
      <vt:lpstr>PowerPoint Presentation</vt:lpstr>
      <vt:lpstr>Three simple lattices that describe metals are Face Centered Cubic (FCC) Body Centered Cubic (BCC) and Hexagonal Close Packed (HCP)</vt:lpstr>
      <vt:lpstr>SIMPLE CUBIC STRUCTURE (SC)</vt:lpstr>
      <vt:lpstr>ATOMIC PACKING FACTOR</vt:lpstr>
      <vt:lpstr>FACE CENTERED CUBIC STRUCTURE (FCC)</vt:lpstr>
      <vt:lpstr>ATOMIC PACKING FACTOR:  FCC</vt:lpstr>
      <vt:lpstr>BODY CENTERED CUBIC STRUCTURE (BCC)</vt:lpstr>
      <vt:lpstr>ATOMIC PACKING FACTOR:  BCC</vt:lpstr>
      <vt:lpstr>HEXAGONAL CLOSE-PACKED STRUCTURE (HCP)</vt:lpstr>
      <vt:lpstr>THEORETICAL DENSITY, r</vt:lpstr>
      <vt:lpstr>Characteristics of Selected Elements at 20C</vt:lpstr>
      <vt:lpstr>DENSITIES OF MATERIAL CLASSES</vt:lpstr>
      <vt:lpstr>CERAMIC BONDING</vt:lpstr>
      <vt:lpstr>IONIC BONDING &amp; STRUCTURE</vt:lpstr>
      <vt:lpstr>COORDINATION # AND IONIC RADII</vt:lpstr>
      <vt:lpstr>EX:  PREDICTING STRUCTURE OF FeO</vt:lpstr>
      <vt:lpstr>AmXp STRUCTURES</vt:lpstr>
      <vt:lpstr>DEMO:  HEATING AND COOLING OF AN IRON WIRE</vt:lpstr>
      <vt:lpstr>FCC STACKING SEQUENCE</vt:lpstr>
      <vt:lpstr>STRUCTURE OF COMPOUNDS: NaCl</vt:lpstr>
      <vt:lpstr>Diamond, BeO and GaAs are examples of FCC structures with two atoms per lattice point</vt:lpstr>
      <vt:lpstr>CRYSTALS AS BUILDING BLOCKS</vt:lpstr>
      <vt:lpstr>POLYCRYSTALS</vt:lpstr>
      <vt:lpstr>SINGLE VS POLYCRYSTALS</vt:lpstr>
      <vt:lpstr>MATERIALS AND PACKING</vt:lpstr>
      <vt:lpstr>GLASS STRUCTURE</vt:lpstr>
      <vt:lpstr>SUMMARY</vt:lpstr>
      <vt:lpstr>Miller Indices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11</cp:revision>
  <dcterms:created xsi:type="dcterms:W3CDTF">2017-03-23T00:29:13Z</dcterms:created>
  <dcterms:modified xsi:type="dcterms:W3CDTF">2025-01-28T09:43:41Z</dcterms:modified>
</cp:coreProperties>
</file>