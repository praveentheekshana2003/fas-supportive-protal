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8" r:id="rId3"/>
    <p:sldId id="258" r:id="rId4"/>
    <p:sldId id="261" r:id="rId5"/>
    <p:sldId id="288" r:id="rId6"/>
    <p:sldId id="290" r:id="rId7"/>
    <p:sldId id="262" r:id="rId8"/>
    <p:sldId id="323" r:id="rId9"/>
    <p:sldId id="309" r:id="rId10"/>
    <p:sldId id="310" r:id="rId11"/>
    <p:sldId id="311" r:id="rId12"/>
    <p:sldId id="312" r:id="rId13"/>
    <p:sldId id="263" r:id="rId14"/>
    <p:sldId id="291" r:id="rId15"/>
    <p:sldId id="264" r:id="rId16"/>
    <p:sldId id="266" r:id="rId17"/>
    <p:sldId id="313" r:id="rId18"/>
    <p:sldId id="314" r:id="rId19"/>
    <p:sldId id="315" r:id="rId20"/>
    <p:sldId id="268" r:id="rId21"/>
    <p:sldId id="269" r:id="rId22"/>
    <p:sldId id="270" r:id="rId23"/>
    <p:sldId id="292" r:id="rId24"/>
    <p:sldId id="293" r:id="rId25"/>
    <p:sldId id="324" r:id="rId26"/>
    <p:sldId id="319" r:id="rId27"/>
    <p:sldId id="316" r:id="rId28"/>
    <p:sldId id="317" r:id="rId29"/>
    <p:sldId id="318" r:id="rId30"/>
    <p:sldId id="320" r:id="rId31"/>
    <p:sldId id="294" r:id="rId32"/>
    <p:sldId id="271" r:id="rId33"/>
    <p:sldId id="295" r:id="rId34"/>
    <p:sldId id="272" r:id="rId35"/>
    <p:sldId id="296" r:id="rId36"/>
    <p:sldId id="273" r:id="rId37"/>
    <p:sldId id="297" r:id="rId38"/>
    <p:sldId id="274" r:id="rId39"/>
    <p:sldId id="298" r:id="rId40"/>
    <p:sldId id="321" r:id="rId41"/>
    <p:sldId id="299" r:id="rId42"/>
    <p:sldId id="300" r:id="rId43"/>
    <p:sldId id="301" r:id="rId44"/>
    <p:sldId id="302" r:id="rId45"/>
    <p:sldId id="322" r:id="rId46"/>
    <p:sldId id="304" r:id="rId47"/>
    <p:sldId id="303" r:id="rId48"/>
    <p:sldId id="276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57" autoAdjust="0"/>
  </p:normalViewPr>
  <p:slideViewPr>
    <p:cSldViewPr>
      <p:cViewPr varScale="1">
        <p:scale>
          <a:sx n="77" d="100"/>
          <a:sy n="77" d="100"/>
        </p:scale>
        <p:origin x="109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27.wmf"/><Relationship Id="rId4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66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12" Type="http://schemas.openxmlformats.org/officeDocument/2006/relationships/image" Target="../media/image65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11" Type="http://schemas.openxmlformats.org/officeDocument/2006/relationships/image" Target="../media/image64.wmf"/><Relationship Id="rId5" Type="http://schemas.openxmlformats.org/officeDocument/2006/relationships/image" Target="../media/image58.wmf"/><Relationship Id="rId15" Type="http://schemas.openxmlformats.org/officeDocument/2006/relationships/image" Target="../media/image68.wmf"/><Relationship Id="rId10" Type="http://schemas.openxmlformats.org/officeDocument/2006/relationships/image" Target="../media/image63.wmf"/><Relationship Id="rId4" Type="http://schemas.openxmlformats.org/officeDocument/2006/relationships/image" Target="../media/image57.wmf"/><Relationship Id="rId9" Type="http://schemas.openxmlformats.org/officeDocument/2006/relationships/image" Target="../media/image62.wmf"/><Relationship Id="rId14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9" Type="http://schemas.openxmlformats.org/officeDocument/2006/relationships/image" Target="../media/image8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12" Type="http://schemas.openxmlformats.org/officeDocument/2006/relationships/image" Target="../media/image99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11" Type="http://schemas.openxmlformats.org/officeDocument/2006/relationships/image" Target="../media/image98.wmf"/><Relationship Id="rId5" Type="http://schemas.openxmlformats.org/officeDocument/2006/relationships/image" Target="../media/image92.wmf"/><Relationship Id="rId10" Type="http://schemas.openxmlformats.org/officeDocument/2006/relationships/image" Target="../media/image97.wmf"/><Relationship Id="rId4" Type="http://schemas.openxmlformats.org/officeDocument/2006/relationships/image" Target="../media/image91.wmf"/><Relationship Id="rId9" Type="http://schemas.openxmlformats.org/officeDocument/2006/relationships/image" Target="../media/image9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4" Type="http://schemas.openxmlformats.org/officeDocument/2006/relationships/image" Target="../media/image10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3.wmf"/><Relationship Id="rId4" Type="http://schemas.openxmlformats.org/officeDocument/2006/relationships/image" Target="../media/image10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3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9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10" Type="http://schemas.openxmlformats.org/officeDocument/2006/relationships/image" Target="../media/image129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4" Type="http://schemas.openxmlformats.org/officeDocument/2006/relationships/image" Target="../media/image133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4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7" Type="http://schemas.openxmlformats.org/officeDocument/2006/relationships/image" Target="../media/image141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42.wmf"/><Relationship Id="rId1" Type="http://schemas.openxmlformats.org/officeDocument/2006/relationships/image" Target="../media/image119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11" Type="http://schemas.openxmlformats.org/officeDocument/2006/relationships/image" Target="../media/image156.wmf"/><Relationship Id="rId5" Type="http://schemas.openxmlformats.org/officeDocument/2006/relationships/image" Target="../media/image150.wmf"/><Relationship Id="rId10" Type="http://schemas.openxmlformats.org/officeDocument/2006/relationships/image" Target="../media/image155.wmf"/><Relationship Id="rId4" Type="http://schemas.openxmlformats.org/officeDocument/2006/relationships/image" Target="../media/image149.wmf"/><Relationship Id="rId9" Type="http://schemas.openxmlformats.org/officeDocument/2006/relationships/image" Target="../media/image154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2" Type="http://schemas.openxmlformats.org/officeDocument/2006/relationships/image" Target="../media/image157.wmf"/><Relationship Id="rId1" Type="http://schemas.openxmlformats.org/officeDocument/2006/relationships/image" Target="../media/image79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8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8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4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7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5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0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6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39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54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43E8E-E345-409E-B57E-6587F91F3424}" type="datetimeFigureOut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0D94D-5E0F-4404-98AE-B8BE2478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4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4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3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1.wmf"/><Relationship Id="rId26" Type="http://schemas.openxmlformats.org/officeDocument/2006/relationships/image" Target="../media/image65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0.wmf"/><Relationship Id="rId20" Type="http://schemas.openxmlformats.org/officeDocument/2006/relationships/image" Target="../media/image62.wmf"/><Relationship Id="rId29" Type="http://schemas.openxmlformats.org/officeDocument/2006/relationships/oleObject" Target="../embeddings/oleObject67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64.wmf"/><Relationship Id="rId32" Type="http://schemas.openxmlformats.org/officeDocument/2006/relationships/image" Target="../media/image68.w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66.wmf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62.bin"/><Relationship Id="rId31" Type="http://schemas.openxmlformats.org/officeDocument/2006/relationships/oleObject" Target="../embeddings/oleObject68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59.wmf"/><Relationship Id="rId22" Type="http://schemas.openxmlformats.org/officeDocument/2006/relationships/image" Target="../media/image63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67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73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6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image" Target="../media/image74.wmf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72.bin"/><Relationship Id="rId14" Type="http://schemas.openxmlformats.org/officeDocument/2006/relationships/oleObject" Target="../embeddings/oleObject7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86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95.wmf"/><Relationship Id="rId26" Type="http://schemas.openxmlformats.org/officeDocument/2006/relationships/image" Target="../media/image99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98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93.wmf"/><Relationship Id="rId22" Type="http://schemas.openxmlformats.org/officeDocument/2006/relationships/image" Target="../media/image97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0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5.bin"/><Relationship Id="rId10" Type="http://schemas.openxmlformats.org/officeDocument/2006/relationships/oleObject" Target="../embeddings/oleObject108.bin"/><Relationship Id="rId4" Type="http://schemas.openxmlformats.org/officeDocument/2006/relationships/image" Target="../media/image103.wmf"/><Relationship Id="rId9" Type="http://schemas.openxmlformats.org/officeDocument/2006/relationships/image" Target="../media/image10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oleObject" Target="../embeddings/oleObject11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7.wmf"/><Relationship Id="rId11" Type="http://schemas.openxmlformats.org/officeDocument/2006/relationships/image" Target="../media/image109.wmf"/><Relationship Id="rId5" Type="http://schemas.openxmlformats.org/officeDocument/2006/relationships/oleObject" Target="../embeddings/oleObject111.bin"/><Relationship Id="rId10" Type="http://schemas.openxmlformats.org/officeDocument/2006/relationships/oleObject" Target="../embeddings/oleObject114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03.wmf"/><Relationship Id="rId9" Type="http://schemas.openxmlformats.org/officeDocument/2006/relationships/image" Target="../media/image111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12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24.bin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14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1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16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1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33.bin"/><Relationship Id="rId21" Type="http://schemas.openxmlformats.org/officeDocument/2006/relationships/oleObject" Target="../embeddings/oleObject142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40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25.wmf"/><Relationship Id="rId22" Type="http://schemas.openxmlformats.org/officeDocument/2006/relationships/image" Target="../media/image129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33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4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13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53.bin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39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40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60.bin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4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43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4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161.bin"/><Relationship Id="rId21" Type="http://schemas.openxmlformats.org/officeDocument/2006/relationships/oleObject" Target="../embeddings/oleObject170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2.wmf"/><Relationship Id="rId20" Type="http://schemas.openxmlformats.org/officeDocument/2006/relationships/image" Target="../media/image154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65.bin"/><Relationship Id="rId24" Type="http://schemas.openxmlformats.org/officeDocument/2006/relationships/image" Target="../media/image156.wmf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23" Type="http://schemas.openxmlformats.org/officeDocument/2006/relationships/oleObject" Target="../embeddings/oleObject171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69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51.wmf"/><Relationship Id="rId22" Type="http://schemas.openxmlformats.org/officeDocument/2006/relationships/image" Target="../media/image155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77.bin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60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2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76.bin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10" Type="http://schemas.openxmlformats.org/officeDocument/2006/relationships/image" Target="../media/image159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6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70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86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9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68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7893" y="1791563"/>
            <a:ext cx="57345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i-LK" sz="2800" b="1" dirty="0" smtClean="0">
                <a:latin typeface="Dutch801 Rm BT" pitchFamily="18" charset="0"/>
              </a:rPr>
              <a:t>MATRICES </a:t>
            </a:r>
            <a:r>
              <a:rPr lang="si-LK" sz="2800" b="1" dirty="0">
                <a:latin typeface="Dutch801 Rm BT" pitchFamily="18" charset="0"/>
              </a:rPr>
              <a:t>&amp; DETERMINANTS</a:t>
            </a:r>
            <a:endParaRPr lang="en-US" sz="2800" b="1" dirty="0">
              <a:latin typeface="Dutch801 Rm BT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0551" y="925056"/>
            <a:ext cx="79906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Arial" charset="0"/>
              </a:rPr>
              <a:t>ICT 1404 –Mathematics for Computing</a:t>
            </a:r>
            <a:endParaRPr lang="en-US" sz="3600" b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40152" y="3581400"/>
            <a:ext cx="8451448" cy="186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 err="1"/>
              <a:t>P.D.Wimalasiri</a:t>
            </a:r>
            <a:endParaRPr lang="en-US" sz="1800" b="1" dirty="0"/>
          </a:p>
          <a:p>
            <a:pPr>
              <a:spcBef>
                <a:spcPct val="50000"/>
              </a:spcBef>
            </a:pPr>
            <a:r>
              <a:rPr lang="en-US" sz="1800" b="1" dirty="0" smtClean="0">
                <a:solidFill>
                  <a:srgbClr val="FF0000"/>
                </a:solidFill>
              </a:rPr>
              <a:t>[</a:t>
            </a:r>
            <a:r>
              <a:rPr lang="en-US" sz="1800" b="1" dirty="0">
                <a:solidFill>
                  <a:srgbClr val="FF0000"/>
                </a:solidFill>
              </a:rPr>
              <a:t>(B.Sc. Maths, M.Sc. In Computer Sc., Sp. Trained in CICC Japan, Dip in Engineering OUSL </a:t>
            </a:r>
            <a:r>
              <a:rPr lang="en-US" sz="1800" b="1" dirty="0" smtClean="0">
                <a:solidFill>
                  <a:srgbClr val="FF0000"/>
                </a:solidFill>
              </a:rPr>
              <a:t>)] </a:t>
            </a: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 smtClean="0">
                <a:solidFill>
                  <a:srgbClr val="FF0000"/>
                </a:solidFill>
              </a:rPr>
              <a:t>Academic and Social experiences in Singapore, Malaysia, Thailand, India, Japan</a:t>
            </a:r>
            <a:endParaRPr lang="en-US" sz="1800" b="1" dirty="0">
              <a:solidFill>
                <a:srgbClr val="FF0000"/>
              </a:solidFill>
            </a:endParaRP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 smtClean="0"/>
              <a:t>Lecturer in Computer Science/Mathematics</a:t>
            </a:r>
            <a:endParaRPr lang="en-US" sz="1800" b="1" dirty="0"/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/>
              <a:t>Rajarata University of Sri Lanka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328987"/>
            <a:ext cx="74453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48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2971800" y="901791"/>
            <a:ext cx="466725" cy="134619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rot="0" vert="vert270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1</a:t>
            </a:r>
            <a:r>
              <a:rPr lang="en-US" sz="1800" baseline="300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st</a:t>
            </a:r>
            <a:r>
              <a:rPr lang="en-US" sz="18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 column</a:t>
            </a:r>
            <a:endParaRPr lang="en-US" sz="1100" dirty="0">
              <a:effectLst/>
              <a:latin typeface="Calibri"/>
              <a:ea typeface="Calibri"/>
              <a:cs typeface="Iskoola Pota"/>
            </a:endParaRP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3505948" y="887185"/>
            <a:ext cx="466725" cy="13608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rot="0" vert="vert270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2nd column</a:t>
            </a:r>
            <a:endParaRPr lang="en-US" sz="1100" dirty="0">
              <a:effectLst/>
              <a:latin typeface="Calibri"/>
              <a:ea typeface="Calibri"/>
              <a:cs typeface="Iskoola Pota"/>
            </a:endParaRPr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5519737" y="901791"/>
            <a:ext cx="466725" cy="13608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rot="0" vert="vert270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n</a:t>
            </a:r>
            <a:r>
              <a:rPr lang="en-US" sz="1800" baseline="300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th</a:t>
            </a:r>
            <a:r>
              <a:rPr lang="en-US" sz="18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 column</a:t>
            </a:r>
            <a:endParaRPr lang="en-US" sz="1100" dirty="0">
              <a:effectLst/>
              <a:latin typeface="Calibri"/>
              <a:ea typeface="Calibri"/>
              <a:cs typeface="Iskoola Pota"/>
            </a:endParaRPr>
          </a:p>
        </p:txBody>
      </p: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126682" y="71580"/>
            <a:ext cx="6350318" cy="7386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Generally matrix is given by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-80963" y="100762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178"/>
              </p:ext>
            </p:extLst>
          </p:nvPr>
        </p:nvGraphicFramePr>
        <p:xfrm>
          <a:off x="2936875" y="2362200"/>
          <a:ext cx="3270250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60" name="Equation" r:id="rId3" imgW="2070100" imgH="1397000" progId="Equation.3">
                  <p:embed/>
                </p:oleObj>
              </mc:Choice>
              <mc:Fallback>
                <p:oleObj name="Equation" r:id="rId3" imgW="2070100" imgH="13970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2362200"/>
                        <a:ext cx="3270250" cy="2166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27"/>
          <p:cNvSpPr>
            <a:spLocks noChangeArrowheads="1"/>
          </p:cNvSpPr>
          <p:nvPr/>
        </p:nvSpPr>
        <p:spPr bwMode="auto">
          <a:xfrm>
            <a:off x="1600200" y="2369066"/>
            <a:ext cx="11782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1</a:t>
            </a:r>
            <a:r>
              <a:rPr kumimoji="0" lang="en-US" sz="1800" b="0" i="0" u="none" strike="noStrike" cap="none" normalizeH="0" baseline="3000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st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row</a:t>
            </a: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1621971" y="2806059"/>
            <a:ext cx="11782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2</a:t>
            </a:r>
            <a:r>
              <a:rPr kumimoji="0" lang="en-US" sz="1800" b="0" i="0" u="none" strike="noStrike" cap="none" normalizeH="0" baseline="3000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nd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row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27"/>
          <p:cNvSpPr>
            <a:spLocks noChangeArrowheads="1"/>
          </p:cNvSpPr>
          <p:nvPr/>
        </p:nvSpPr>
        <p:spPr bwMode="auto">
          <a:xfrm>
            <a:off x="1621971" y="3461266"/>
            <a:ext cx="1179286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i</a:t>
            </a:r>
            <a:r>
              <a:rPr kumimoji="0" lang="en-US" sz="1800" b="0" i="0" u="none" strike="noStrike" cap="none" normalizeH="0" baseline="3000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th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row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1626655" y="4202668"/>
            <a:ext cx="11782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m</a:t>
            </a:r>
            <a:r>
              <a:rPr kumimoji="0" lang="en-US" sz="1800" b="0" i="0" u="none" strike="noStrike" cap="none" normalizeH="0" baseline="3000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th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row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4257675" y="887185"/>
            <a:ext cx="466725" cy="136080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rot="0" vert="vert270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 smtClean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J</a:t>
            </a:r>
            <a:r>
              <a:rPr lang="en-US" sz="1800" baseline="30000" dirty="0" err="1" smtClean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th</a:t>
            </a:r>
            <a:r>
              <a:rPr lang="en-US" sz="1800" dirty="0" smtClean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 </a:t>
            </a:r>
            <a:r>
              <a:rPr lang="en-US" sz="1800" dirty="0">
                <a:solidFill>
                  <a:srgbClr val="333333"/>
                </a:solidFill>
                <a:effectLst/>
                <a:latin typeface="Segoe UI"/>
                <a:ea typeface="Times New Roman"/>
                <a:cs typeface="Iskoola Pota"/>
              </a:rPr>
              <a:t>column</a:t>
            </a:r>
            <a:endParaRPr lang="en-US" sz="1100" dirty="0">
              <a:effectLst/>
              <a:latin typeface="Calibri"/>
              <a:ea typeface="Calibri"/>
              <a:cs typeface="Iskoola Pota"/>
            </a:endParaRPr>
          </a:p>
        </p:txBody>
      </p:sp>
      <p:sp>
        <p:nvSpPr>
          <p:cNvPr id="39" name="Rectangle 32"/>
          <p:cNvSpPr>
            <a:spLocks noChangeArrowheads="1"/>
          </p:cNvSpPr>
          <p:nvPr/>
        </p:nvSpPr>
        <p:spPr bwMode="auto">
          <a:xfrm>
            <a:off x="217396" y="4879592"/>
            <a:ext cx="17526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more generally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686626"/>
              </p:ext>
            </p:extLst>
          </p:nvPr>
        </p:nvGraphicFramePr>
        <p:xfrm>
          <a:off x="1838324" y="4865078"/>
          <a:ext cx="6381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61" name="Equation" r:id="rId5" imgW="279279" imgH="241195" progId="Equation.3">
                  <p:embed/>
                </p:oleObj>
              </mc:Choice>
              <mc:Fallback>
                <p:oleObj name="Equation" r:id="rId5" imgW="279279" imgH="241195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4" y="4865078"/>
                        <a:ext cx="638175" cy="542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33"/>
          <p:cNvSpPr>
            <a:spLocks noChangeArrowheads="1"/>
          </p:cNvSpPr>
          <p:nvPr/>
        </p:nvSpPr>
        <p:spPr bwMode="auto">
          <a:xfrm>
            <a:off x="2476499" y="4904601"/>
            <a:ext cx="6553200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 matrix where i=1,2,3,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/>
                <a:ea typeface="Times New Roman" pitchFamily="18" charset="0"/>
                <a:cs typeface="Segoe UI" pitchFamily="34" charset="0"/>
              </a:rPr>
              <a:t>……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..,m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and j=1,2,3,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alibri"/>
                <a:ea typeface="Times New Roman" pitchFamily="18" charset="0"/>
                <a:cs typeface="Segoe UI" pitchFamily="34" charset="0"/>
              </a:rPr>
              <a:t>……………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Segoe UI" pitchFamily="34" charset="0"/>
                <a:ea typeface="Times New Roman" pitchFamily="18" charset="0"/>
                <a:cs typeface="Segoe UI" pitchFamily="34" charset="0"/>
              </a:rPr>
              <a:t>,n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56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8585" y="152399"/>
            <a:ext cx="3276600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800" b="1" smtClean="0"/>
              <a:t>Matrices</a:t>
            </a:r>
            <a:endParaRPr lang="en-US" sz="4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554192"/>
              </p:ext>
            </p:extLst>
          </p:nvPr>
        </p:nvGraphicFramePr>
        <p:xfrm>
          <a:off x="4757708" y="4576810"/>
          <a:ext cx="10668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" name="Equation" r:id="rId3" imgW="203024" imgH="215713" progId="Equation.3">
                  <p:embed/>
                </p:oleObj>
              </mc:Choice>
              <mc:Fallback>
                <p:oleObj name="Equation" r:id="rId3" imgW="203024" imgH="21571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08" y="4576810"/>
                        <a:ext cx="1066800" cy="11684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356156"/>
              </p:ext>
            </p:extLst>
          </p:nvPr>
        </p:nvGraphicFramePr>
        <p:xfrm>
          <a:off x="6454956" y="4576810"/>
          <a:ext cx="948903" cy="109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0" name="Equation" r:id="rId5" imgW="190335" imgH="215713" progId="Equation.3">
                  <p:embed/>
                </p:oleObj>
              </mc:Choice>
              <mc:Fallback>
                <p:oleObj name="Equation" r:id="rId5" imgW="190335" imgH="215713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956" y="4576810"/>
                        <a:ext cx="948903" cy="109123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40185" y="1066800"/>
            <a:ext cx="81534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t"/>
            <a:r>
              <a:rPr lang="en-US" sz="2800" b="1" dirty="0"/>
              <a:t>A matrix is a rectangular array of </a:t>
            </a:r>
            <a:r>
              <a:rPr lang="en-US" sz="2800" b="1" dirty="0" smtClean="0"/>
              <a:t>numbers/algebraic expressions  </a:t>
            </a:r>
            <a:r>
              <a:rPr lang="en-US" sz="2800" b="1" dirty="0"/>
              <a:t>arranged in rows and columns. </a:t>
            </a:r>
            <a:endParaRPr lang="en-US" sz="2800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40186" y="3659088"/>
            <a:ext cx="8653798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000" dirty="0"/>
              <a:t>The number of rows and columns that a matrix has is called its size. The size of </a:t>
            </a:r>
            <a:r>
              <a:rPr lang="en-US" sz="2000" dirty="0" err="1"/>
              <a:t>of</a:t>
            </a:r>
            <a:r>
              <a:rPr lang="en-US" sz="2000" dirty="0"/>
              <a:t> the above matrix is 3 x </a:t>
            </a:r>
            <a:r>
              <a:rPr lang="en-US" sz="2000" dirty="0" smtClean="0"/>
              <a:t>3, </a:t>
            </a:r>
            <a:r>
              <a:rPr lang="en-US" sz="2000" dirty="0"/>
              <a:t>meaning that it has 3 rows and </a:t>
            </a:r>
            <a:r>
              <a:rPr lang="en-US" sz="2000" dirty="0" smtClean="0"/>
              <a:t>3 </a:t>
            </a:r>
            <a:r>
              <a:rPr lang="en-US" sz="2000" dirty="0"/>
              <a:t>columns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5903423" y="4345977"/>
            <a:ext cx="51809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or</a:t>
            </a:r>
            <a:r>
              <a:rPr kumimoji="0" lang="si-LK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1980359" y="4867723"/>
            <a:ext cx="279114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Denoted by symbols</a:t>
            </a:r>
            <a:r>
              <a:rPr lang="si-LK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.</a:t>
            </a:r>
            <a:endParaRPr lang="en-US" sz="2400" dirty="0">
              <a:latin typeface="Iskoola Pota" pitchFamily="34" charset="0"/>
              <a:ea typeface="Times New Roman" pitchFamily="18" charset="0"/>
              <a:cs typeface="Iskoola Pota" pitchFamily="34" charset="0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332829"/>
              </p:ext>
            </p:extLst>
          </p:nvPr>
        </p:nvGraphicFramePr>
        <p:xfrm>
          <a:off x="2133600" y="2163581"/>
          <a:ext cx="1295400" cy="131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" name="Equation" r:id="rId7" imgW="1079280" imgH="711000" progId="Equation.3">
                  <p:embed/>
                </p:oleObj>
              </mc:Choice>
              <mc:Fallback>
                <p:oleObj name="Equation" r:id="rId7" imgW="1079280" imgH="711000" progId="Equation.3">
                  <p:embed/>
                  <p:pic>
                    <p:nvPicPr>
                      <p:cNvPr id="0" name="Object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163581"/>
                        <a:ext cx="1295400" cy="1311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40185" y="2186066"/>
            <a:ext cx="164101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t"/>
            <a:r>
              <a:rPr lang="en-US" sz="2800" b="1" dirty="0" smtClean="0"/>
              <a:t>examples</a:t>
            </a:r>
            <a:endParaRPr lang="en-US" sz="2800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868580"/>
              </p:ext>
            </p:extLst>
          </p:nvPr>
        </p:nvGraphicFramePr>
        <p:xfrm>
          <a:off x="3984625" y="2185988"/>
          <a:ext cx="1757363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" name="Equation" r:id="rId9" imgW="1091880" imgH="711000" progId="Equation.3">
                  <p:embed/>
                </p:oleObj>
              </mc:Choice>
              <mc:Fallback>
                <p:oleObj name="Equation" r:id="rId9" imgW="10918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25" y="2185988"/>
                        <a:ext cx="1757363" cy="1166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224429"/>
              </p:ext>
            </p:extLst>
          </p:nvPr>
        </p:nvGraphicFramePr>
        <p:xfrm>
          <a:off x="6055185" y="2186066"/>
          <a:ext cx="1906948" cy="91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3" name="Equation" r:id="rId11" imgW="977760" imgH="469800" progId="Equation.3">
                  <p:embed/>
                </p:oleObj>
              </mc:Choice>
              <mc:Fallback>
                <p:oleObj name="Equation" r:id="rId11" imgW="97776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5185" y="2186066"/>
                        <a:ext cx="1906948" cy="915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099784"/>
              </p:ext>
            </p:extLst>
          </p:nvPr>
        </p:nvGraphicFramePr>
        <p:xfrm>
          <a:off x="8101472" y="2213548"/>
          <a:ext cx="7842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4" name="Equation" r:id="rId13" imgW="330120" imgH="228600" progId="Equation.3">
                  <p:embed/>
                </p:oleObj>
              </mc:Choice>
              <mc:Fallback>
                <p:oleObj name="Equation" r:id="rId13" imgW="3301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472" y="2213548"/>
                        <a:ext cx="7842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352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57200"/>
            <a:ext cx="2789418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b="1" u="sng" dirty="0" smtClean="0"/>
              <a:t>Types of matrices</a:t>
            </a:r>
            <a:endParaRPr lang="en-US" sz="2800" u="sng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50556" y="1908698"/>
            <a:ext cx="513756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t"/>
            <a:r>
              <a:rPr lang="en-US" sz="2800" b="1" dirty="0" smtClean="0"/>
              <a:t>A </a:t>
            </a:r>
            <a:r>
              <a:rPr lang="en-US" sz="2800" b="1" dirty="0"/>
              <a:t>matrix which has only one row.</a:t>
            </a:r>
            <a:endParaRPr lang="en-US" sz="28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762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0556" y="1184904"/>
            <a:ext cx="1894365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b="1" u="sng" dirty="0" smtClean="0"/>
              <a:t>Row matrix</a:t>
            </a:r>
            <a:endParaRPr lang="en-US" sz="2800" b="1" u="sng" dirty="0"/>
          </a:p>
        </p:txBody>
      </p:sp>
      <p:sp>
        <p:nvSpPr>
          <p:cNvPr id="7" name="Rectangle 6"/>
          <p:cNvSpPr/>
          <p:nvPr/>
        </p:nvSpPr>
        <p:spPr>
          <a:xfrm>
            <a:off x="336815" y="2590800"/>
            <a:ext cx="183538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Example: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426886"/>
              </p:ext>
            </p:extLst>
          </p:nvPr>
        </p:nvGraphicFramePr>
        <p:xfrm>
          <a:off x="368045" y="3200400"/>
          <a:ext cx="3149127" cy="65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0" name="Equation" r:id="rId3" imgW="1117440" imgH="228600" progId="Equation.3">
                  <p:embed/>
                </p:oleObj>
              </mc:Choice>
              <mc:Fallback>
                <p:oleObj name="Equation" r:id="rId3" imgW="11174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045" y="3200400"/>
                        <a:ext cx="3149127" cy="654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332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19659" y="1105449"/>
            <a:ext cx="5681107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t"/>
            <a:r>
              <a:rPr lang="en-US" sz="2800" b="1" dirty="0"/>
              <a:t>A matrix which has only one </a:t>
            </a:r>
            <a:r>
              <a:rPr lang="en-US" sz="2800" b="1" dirty="0" smtClean="0"/>
              <a:t>column.</a:t>
            </a:r>
            <a:endParaRPr lang="en-US" sz="28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762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381655"/>
            <a:ext cx="2387064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b="1" u="sng" dirty="0" smtClean="0"/>
              <a:t>Column matrix</a:t>
            </a:r>
            <a:endParaRPr lang="en-US" sz="2800" b="1" u="sng" dirty="0"/>
          </a:p>
        </p:txBody>
      </p:sp>
      <p:sp>
        <p:nvSpPr>
          <p:cNvPr id="7" name="Rectangle 6"/>
          <p:cNvSpPr/>
          <p:nvPr/>
        </p:nvSpPr>
        <p:spPr>
          <a:xfrm>
            <a:off x="519659" y="1787551"/>
            <a:ext cx="183538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Example: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729526"/>
              </p:ext>
            </p:extLst>
          </p:nvPr>
        </p:nvGraphicFramePr>
        <p:xfrm>
          <a:off x="2460625" y="1787551"/>
          <a:ext cx="2111375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Equation" r:id="rId3" imgW="749160" imgH="711000" progId="Equation.3">
                  <p:embed/>
                </p:oleObj>
              </mc:Choice>
              <mc:Fallback>
                <p:oleObj name="Equation" r:id="rId3" imgW="749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1787551"/>
                        <a:ext cx="2111375" cy="2039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602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60121" y="1348918"/>
            <a:ext cx="8479079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smtClean="0"/>
              <a:t>A </a:t>
            </a:r>
            <a:r>
              <a:rPr lang="en-US" sz="2800" b="1" dirty="0"/>
              <a:t>matrix with the same number of rows as columns. </a:t>
            </a:r>
            <a:endParaRPr lang="en-US" sz="28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6762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4107" y="381655"/>
            <a:ext cx="2277226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b="1" u="sng" dirty="0" smtClean="0"/>
              <a:t>Square matrix</a:t>
            </a:r>
            <a:endParaRPr lang="en-US" sz="2800" b="1" u="sng" dirty="0"/>
          </a:p>
        </p:txBody>
      </p:sp>
      <p:sp>
        <p:nvSpPr>
          <p:cNvPr id="7" name="Rectangle 6"/>
          <p:cNvSpPr/>
          <p:nvPr/>
        </p:nvSpPr>
        <p:spPr>
          <a:xfrm>
            <a:off x="360121" y="2066410"/>
            <a:ext cx="183538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Examples: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789876"/>
              </p:ext>
            </p:extLst>
          </p:nvPr>
        </p:nvGraphicFramePr>
        <p:xfrm>
          <a:off x="6019800" y="2283898"/>
          <a:ext cx="2827337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8" name="Equation" r:id="rId3" imgW="1002960" imgH="469800" progId="Equation.3">
                  <p:embed/>
                </p:oleObj>
              </mc:Choice>
              <mc:Fallback>
                <p:oleObj name="Equation" r:id="rId3" imgW="10029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283898"/>
                        <a:ext cx="2827337" cy="13477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18285"/>
              </p:ext>
            </p:extLst>
          </p:nvPr>
        </p:nvGraphicFramePr>
        <p:xfrm>
          <a:off x="2362200" y="2286000"/>
          <a:ext cx="3613150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" name="Equation" r:id="rId5" imgW="1282680" imgH="711000" progId="Equation.3">
                  <p:embed/>
                </p:oleObj>
              </mc:Choice>
              <mc:Fallback>
                <p:oleObj name="Equation" r:id="rId5" imgW="12826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86000"/>
                        <a:ext cx="3613150" cy="2039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377874" y="4419600"/>
            <a:ext cx="846132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A square matrix has two diagonals. They are </a:t>
            </a:r>
            <a:r>
              <a:rPr lang="en-US" sz="2400" b="1" u="sng" dirty="0" smtClean="0"/>
              <a:t>main diagonal </a:t>
            </a:r>
            <a:r>
              <a:rPr lang="en-US" sz="2400" dirty="0" smtClean="0"/>
              <a:t>and </a:t>
            </a:r>
            <a:r>
              <a:rPr lang="en-US" sz="2400" u="sng" dirty="0" smtClean="0"/>
              <a:t>other diagonal.</a:t>
            </a:r>
            <a:r>
              <a:rPr lang="en-US" sz="2400" dirty="0"/>
              <a:t> </a:t>
            </a:r>
            <a:endParaRPr lang="en-US" sz="2400" dirty="0" smtClean="0"/>
          </a:p>
          <a:p>
            <a:pPr algn="just"/>
            <a:r>
              <a:rPr lang="en-US" sz="2400" dirty="0" smtClean="0"/>
              <a:t>Main diagonal includes first row first column element.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200400" y="2286000"/>
            <a:ext cx="2057400" cy="18288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200402" y="2286000"/>
            <a:ext cx="2209798" cy="1757065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984793" y="2297243"/>
            <a:ext cx="1321007" cy="113175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984793" y="2428407"/>
            <a:ext cx="1321007" cy="1152993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55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016345"/>
              </p:ext>
            </p:extLst>
          </p:nvPr>
        </p:nvGraphicFramePr>
        <p:xfrm>
          <a:off x="2231571" y="2971800"/>
          <a:ext cx="1880119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5" name="Equation" r:id="rId3" imgW="889000" imgH="469900" progId="Equation.3">
                  <p:embed/>
                </p:oleObj>
              </mc:Choice>
              <mc:Fallback>
                <p:oleObj name="Equation" r:id="rId3" imgW="8890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571" y="2971800"/>
                        <a:ext cx="1880119" cy="990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456504"/>
              </p:ext>
            </p:extLst>
          </p:nvPr>
        </p:nvGraphicFramePr>
        <p:xfrm>
          <a:off x="4876799" y="2989943"/>
          <a:ext cx="2144485" cy="1429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6" name="Equation" r:id="rId5" imgW="1054100" imgH="711200" progId="Equation.3">
                  <p:embed/>
                </p:oleObj>
              </mc:Choice>
              <mc:Fallback>
                <p:oleObj name="Equation" r:id="rId5" imgW="10541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799" y="2989943"/>
                        <a:ext cx="2144485" cy="142965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99571" y="228600"/>
            <a:ext cx="4114801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unit matrix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9571" y="1129844"/>
            <a:ext cx="8538606" cy="14157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,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 square matrix in which all the elements in main diagonal are 1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s and all remaining elements are zeros.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9571" y="2971800"/>
            <a:ext cx="1847301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indent="58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Examples 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57200" y="4648200"/>
            <a:ext cx="8280977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i.e. </a:t>
            </a:r>
            <a:r>
              <a:rPr lang="en-US" dirty="0" err="1"/>
              <a:t>a</a:t>
            </a:r>
            <a:r>
              <a:rPr lang="en-US" i="1" baseline="-25000" dirty="0" err="1"/>
              <a:t>ij</a:t>
            </a:r>
            <a:r>
              <a:rPr lang="en-US" dirty="0"/>
              <a:t> =0 for all </a:t>
            </a:r>
            <a:r>
              <a:rPr lang="en-US" i="1" dirty="0"/>
              <a:t>i</a:t>
            </a:r>
            <a:r>
              <a:rPr lang="en-US" dirty="0"/>
              <a:t> = </a:t>
            </a:r>
            <a:r>
              <a:rPr lang="en-US" i="1" dirty="0"/>
              <a:t>j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 err="1"/>
              <a:t>a</a:t>
            </a:r>
            <a:r>
              <a:rPr lang="en-US" i="1" baseline="-25000" dirty="0" err="1"/>
              <a:t>ij</a:t>
            </a:r>
            <a:r>
              <a:rPr lang="en-US" dirty="0"/>
              <a:t> = 1 for some or all </a:t>
            </a:r>
            <a:r>
              <a:rPr lang="en-US" i="1" dirty="0"/>
              <a:t>i </a:t>
            </a:r>
            <a:r>
              <a:rPr lang="en-US" dirty="0"/>
              <a:t>= </a:t>
            </a:r>
            <a:r>
              <a:rPr lang="en-US" i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18642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911549"/>
              </p:ext>
            </p:extLst>
          </p:nvPr>
        </p:nvGraphicFramePr>
        <p:xfrm>
          <a:off x="2227942" y="2852763"/>
          <a:ext cx="23907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6" name="Equation" r:id="rId3" imgW="1130040" imgH="469800" progId="Equation.3">
                  <p:embed/>
                </p:oleObj>
              </mc:Choice>
              <mc:Fallback>
                <p:oleObj name="Equation" r:id="rId3" imgW="11300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942" y="2852763"/>
                        <a:ext cx="2390775" cy="990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99571" y="228600"/>
            <a:ext cx="4114801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Transpose matrix , A</a:t>
            </a:r>
            <a:r>
              <a:rPr lang="en-US" sz="2800" b="1" u="sng" baseline="300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T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9571" y="1345287"/>
            <a:ext cx="8538606" cy="9848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, 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 matrix in which rows and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columns are interchanged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571" y="2819400"/>
            <a:ext cx="1618072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indent="58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935654"/>
              </p:ext>
            </p:extLst>
          </p:nvPr>
        </p:nvGraphicFramePr>
        <p:xfrm>
          <a:off x="5638800" y="2841171"/>
          <a:ext cx="2097087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7" name="Equation" r:id="rId5" imgW="990360" imgH="711000" progId="Equation.3">
                  <p:embed/>
                </p:oleObj>
              </mc:Choice>
              <mc:Fallback>
                <p:oleObj name="Equation" r:id="rId5" imgW="9903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841171"/>
                        <a:ext cx="2097087" cy="1500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ight Arrow 4"/>
          <p:cNvSpPr/>
          <p:nvPr/>
        </p:nvSpPr>
        <p:spPr>
          <a:xfrm>
            <a:off x="4648200" y="3200400"/>
            <a:ext cx="914400" cy="14222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7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62000" y="685800"/>
            <a:ext cx="27432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800" b="1" u="sng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 null matrix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99540" y="1371600"/>
            <a:ext cx="7987259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800" b="1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 null matrix is one whose elements are all zero.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173171"/>
              </p:ext>
            </p:extLst>
          </p:nvPr>
        </p:nvGraphicFramePr>
        <p:xfrm>
          <a:off x="3276600" y="2133600"/>
          <a:ext cx="2144713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0" name="Equation" r:id="rId3" imgW="1054080" imgH="711000" progId="Equation.3">
                  <p:embed/>
                </p:oleObj>
              </mc:Choice>
              <mc:Fallback>
                <p:oleObj name="Equation" r:id="rId3" imgW="105408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133600"/>
                        <a:ext cx="2144713" cy="14303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680802" y="2286000"/>
            <a:ext cx="1707840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indent="58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 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47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28600" y="381000"/>
            <a:ext cx="3276600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u="sng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Triangular matrix</a:t>
            </a:r>
            <a:endParaRPr lang="en-US" sz="2800" b="1" u="sng" dirty="0">
              <a:latin typeface="Iskoola Pota" pitchFamily="34" charset="0"/>
              <a:ea typeface="Times New Roman" pitchFamily="18" charset="0"/>
              <a:cs typeface="Iskoola Pota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527449"/>
              </p:ext>
            </p:extLst>
          </p:nvPr>
        </p:nvGraphicFramePr>
        <p:xfrm>
          <a:off x="2209800" y="2448580"/>
          <a:ext cx="18129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7" name="Equation" r:id="rId3" imgW="685800" imgH="711000" progId="Equation.3">
                  <p:embed/>
                </p:oleObj>
              </mc:Choice>
              <mc:Fallback>
                <p:oleObj name="Equation" r:id="rId3" imgW="6858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48580"/>
                        <a:ext cx="1812925" cy="187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782182"/>
              </p:ext>
            </p:extLst>
          </p:nvPr>
        </p:nvGraphicFramePr>
        <p:xfrm>
          <a:off x="4207239" y="2448580"/>
          <a:ext cx="18129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8" name="Equation" r:id="rId5" imgW="685800" imgH="711000" progId="Equation.3">
                  <p:embed/>
                </p:oleObj>
              </mc:Choice>
              <mc:Fallback>
                <p:oleObj name="Equation" r:id="rId5" imgW="6858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7239" y="2448580"/>
                        <a:ext cx="1812925" cy="187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553434"/>
              </p:ext>
            </p:extLst>
          </p:nvPr>
        </p:nvGraphicFramePr>
        <p:xfrm>
          <a:off x="6172200" y="2448580"/>
          <a:ext cx="1812925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29" name="Equation" r:id="rId7" imgW="685800" imgH="711000" progId="Equation.3">
                  <p:embed/>
                </p:oleObj>
              </mc:Choice>
              <mc:Fallback>
                <p:oleObj name="Equation" r:id="rId7" imgW="6858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448580"/>
                        <a:ext cx="1812925" cy="187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28600" y="1199346"/>
            <a:ext cx="7924800" cy="954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 smtClean="0"/>
              <a:t>A </a:t>
            </a:r>
            <a:r>
              <a:rPr lang="en-US" sz="2800" dirty="0"/>
              <a:t>square matrix whose elements above or below the main diagonal are all 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448580"/>
            <a:ext cx="1847301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 indent="587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Examples :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02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304800" y="2133600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533400" y="457200"/>
            <a:ext cx="7772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u="sng" dirty="0" smtClean="0"/>
              <a:t> </a:t>
            </a:r>
            <a:r>
              <a:rPr lang="en-US" b="1" u="sng" dirty="0"/>
              <a:t>Upper triangular matrix</a:t>
            </a:r>
          </a:p>
        </p:txBody>
      </p:sp>
      <p:sp>
        <p:nvSpPr>
          <p:cNvPr id="14343" name="Rectangle 8"/>
          <p:cNvSpPr>
            <a:spLocks noChangeArrowheads="1"/>
          </p:cNvSpPr>
          <p:nvPr/>
        </p:nvSpPr>
        <p:spPr bwMode="auto">
          <a:xfrm>
            <a:off x="511629" y="1066800"/>
            <a:ext cx="6824663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 square matrix whose elements below the main diagonal are all zero</a:t>
            </a:r>
          </a:p>
        </p:txBody>
      </p:sp>
      <p:sp>
        <p:nvSpPr>
          <p:cNvPr id="14344" name="Text Box 10"/>
          <p:cNvSpPr txBox="1">
            <a:spLocks noChangeArrowheads="1"/>
          </p:cNvSpPr>
          <p:nvPr/>
        </p:nvSpPr>
        <p:spPr bwMode="auto">
          <a:xfrm>
            <a:off x="533400" y="4343401"/>
            <a:ext cx="304800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i.e. </a:t>
            </a:r>
            <a:r>
              <a:rPr lang="en-US" dirty="0" err="1"/>
              <a:t>a</a:t>
            </a:r>
            <a:r>
              <a:rPr lang="en-US" i="1" baseline="-25000" dirty="0" err="1"/>
              <a:t>ij</a:t>
            </a:r>
            <a:r>
              <a:rPr lang="en-US" dirty="0"/>
              <a:t> = 0 for all </a:t>
            </a:r>
            <a:r>
              <a:rPr lang="en-US" i="1" dirty="0"/>
              <a:t>i</a:t>
            </a:r>
            <a:r>
              <a:rPr lang="en-US" dirty="0"/>
              <a:t> &gt; </a:t>
            </a:r>
            <a:r>
              <a:rPr lang="en-US" i="1" dirty="0" smtClean="0"/>
              <a:t>j</a:t>
            </a:r>
            <a:endParaRPr lang="en-US" i="1" dirty="0"/>
          </a:p>
        </p:txBody>
      </p:sp>
      <p:graphicFrame>
        <p:nvGraphicFramePr>
          <p:cNvPr id="1434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064044"/>
              </p:ext>
            </p:extLst>
          </p:nvPr>
        </p:nvGraphicFramePr>
        <p:xfrm>
          <a:off x="3352800" y="2133600"/>
          <a:ext cx="1731962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5" name="Equation" r:id="rId3" imgW="698400" imgH="711000" progId="Equation.3">
                  <p:embed/>
                </p:oleObj>
              </mc:Choice>
              <mc:Fallback>
                <p:oleObj name="Equation" r:id="rId3" imgW="6984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1731962" cy="1844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318724"/>
              </p:ext>
            </p:extLst>
          </p:nvPr>
        </p:nvGraphicFramePr>
        <p:xfrm>
          <a:off x="5715000" y="2193481"/>
          <a:ext cx="2287348" cy="2393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6" name="Equation" r:id="rId5" imgW="914400" imgH="914400" progId="Equation.3">
                  <p:embed/>
                </p:oleObj>
              </mc:Choice>
              <mc:Fallback>
                <p:oleObj name="Equation" r:id="rId5" imgW="9144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193481"/>
                        <a:ext cx="2287348" cy="239324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379852"/>
              </p:ext>
            </p:extLst>
          </p:nvPr>
        </p:nvGraphicFramePr>
        <p:xfrm>
          <a:off x="531813" y="2125663"/>
          <a:ext cx="2487612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7" name="Equation" r:id="rId7" imgW="1002960" imgH="711000" progId="Equation.3">
                  <p:embed/>
                </p:oleObj>
              </mc:Choice>
              <mc:Fallback>
                <p:oleObj name="Equation" r:id="rId7" imgW="10029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2125663"/>
                        <a:ext cx="2487612" cy="1844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519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  <p:bldP spid="14343" grpId="0" animBg="1"/>
      <p:bldP spid="143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57200" y="838200"/>
            <a:ext cx="8077200" cy="11079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 square matrix whose elements above the main diagonal are all zero</a:t>
            </a:r>
          </a:p>
          <a:p>
            <a:pPr eaLnBrk="0" hangingPunct="0"/>
            <a:endParaRPr lang="en-US" dirty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304800" y="228600"/>
            <a:ext cx="3581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u="sng" dirty="0" smtClean="0"/>
              <a:t>Lower </a:t>
            </a:r>
            <a:r>
              <a:rPr lang="en-US" b="1" u="sng" dirty="0"/>
              <a:t>triangular matrix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78971" y="4164203"/>
            <a:ext cx="304800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i.e. </a:t>
            </a:r>
            <a:r>
              <a:rPr lang="en-US" dirty="0" err="1"/>
              <a:t>a</a:t>
            </a:r>
            <a:r>
              <a:rPr lang="en-US" i="1" baseline="-25000" dirty="0" err="1"/>
              <a:t>ij</a:t>
            </a:r>
            <a:r>
              <a:rPr lang="en-US" dirty="0"/>
              <a:t> = 0 for all </a:t>
            </a:r>
            <a:r>
              <a:rPr lang="en-US" i="1" dirty="0"/>
              <a:t>i</a:t>
            </a:r>
            <a:r>
              <a:rPr lang="en-US" dirty="0"/>
              <a:t> &lt; </a:t>
            </a:r>
            <a:r>
              <a:rPr lang="en-US" i="1" dirty="0" smtClean="0"/>
              <a:t>j</a:t>
            </a:r>
            <a:endParaRPr lang="en-US" i="1" dirty="0"/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992884"/>
              </p:ext>
            </p:extLst>
          </p:nvPr>
        </p:nvGraphicFramePr>
        <p:xfrm>
          <a:off x="4522788" y="2054225"/>
          <a:ext cx="1912937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8" name="Equation" r:id="rId3" imgW="723600" imgH="711000" progId="Equation.3">
                  <p:embed/>
                </p:oleObj>
              </mc:Choice>
              <mc:Fallback>
                <p:oleObj name="Equation" r:id="rId3" imgW="7236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8" y="2054225"/>
                        <a:ext cx="1912937" cy="187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026032"/>
              </p:ext>
            </p:extLst>
          </p:nvPr>
        </p:nvGraphicFramePr>
        <p:xfrm>
          <a:off x="1501775" y="2057400"/>
          <a:ext cx="2384425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9" name="Equation" r:id="rId5" imgW="901700" imgH="736600" progId="Equation.3">
                  <p:embed/>
                </p:oleObj>
              </mc:Choice>
              <mc:Fallback>
                <p:oleObj name="Equation" r:id="rId5" imgW="901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2057400"/>
                        <a:ext cx="2384425" cy="1946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505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2200" y="175582"/>
            <a:ext cx="24765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 dirty="0" smtClean="0"/>
              <a:t>Matrix Algebra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228600" y="849791"/>
            <a:ext cx="39624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i-LK" sz="2800" b="1" dirty="0" smtClean="0"/>
              <a:t>Addition </a:t>
            </a:r>
            <a:r>
              <a:rPr lang="si-LK" sz="2800" b="1" dirty="0"/>
              <a:t>and </a:t>
            </a:r>
            <a:r>
              <a:rPr lang="si-LK" sz="2800" b="1" dirty="0" smtClean="0"/>
              <a:t>Subtraction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221342" y="1676400"/>
            <a:ext cx="854165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Valid only with same size </a:t>
            </a:r>
            <a:r>
              <a:rPr lang="en-US" sz="2400" b="1" dirty="0" err="1" smtClean="0"/>
              <a:t>matrces</a:t>
            </a:r>
            <a:r>
              <a:rPr lang="en-US" sz="2400" b="1" dirty="0" smtClean="0"/>
              <a:t>.</a:t>
            </a:r>
          </a:p>
          <a:p>
            <a:pPr algn="just"/>
            <a:r>
              <a:rPr lang="en-US" sz="2400" b="1" dirty="0" smtClean="0"/>
              <a:t>To </a:t>
            </a:r>
            <a:r>
              <a:rPr lang="en-US" sz="2400" b="1" dirty="0"/>
              <a:t>add two matrices: add the numbers in the matching positions</a:t>
            </a:r>
            <a:r>
              <a:rPr lang="en-US" sz="2400" b="1" dirty="0" smtClean="0"/>
              <a:t>:</a:t>
            </a:r>
            <a:endParaRPr lang="en-US" sz="2400" b="1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6040489"/>
              </p:ext>
            </p:extLst>
          </p:nvPr>
        </p:nvGraphicFramePr>
        <p:xfrm>
          <a:off x="2767353" y="3164114"/>
          <a:ext cx="1543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9" name="Equation" r:id="rId3" imgW="787400" imgH="457200" progId="Equation.3">
                  <p:embed/>
                </p:oleObj>
              </mc:Choice>
              <mc:Fallback>
                <p:oleObj name="Equation" r:id="rId3" imgW="7874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353" y="3164114"/>
                        <a:ext cx="1543050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644412"/>
              </p:ext>
            </p:extLst>
          </p:nvPr>
        </p:nvGraphicFramePr>
        <p:xfrm>
          <a:off x="4684713" y="3087688"/>
          <a:ext cx="17176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0" name="Equation" r:id="rId5" imgW="825480" imgH="457200" progId="Equation.3">
                  <p:embed/>
                </p:oleObj>
              </mc:Choice>
              <mc:Fallback>
                <p:oleObj name="Equation" r:id="rId5" imgW="82548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3087688"/>
                        <a:ext cx="1717675" cy="952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72600"/>
              </p:ext>
            </p:extLst>
          </p:nvPr>
        </p:nvGraphicFramePr>
        <p:xfrm>
          <a:off x="3211853" y="4451577"/>
          <a:ext cx="31956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1" name="Equation" r:id="rId7" imgW="1473120" imgH="457200" progId="Equation.3">
                  <p:embed/>
                </p:oleObj>
              </mc:Choice>
              <mc:Fallback>
                <p:oleObj name="Equation" r:id="rId7" imgW="147312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853" y="4451577"/>
                        <a:ext cx="3195638" cy="987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Oval 2"/>
          <p:cNvSpPr/>
          <p:nvPr/>
        </p:nvSpPr>
        <p:spPr>
          <a:xfrm>
            <a:off x="3257211" y="310787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214825" y="3053442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805556"/>
              </p:ext>
            </p:extLst>
          </p:nvPr>
        </p:nvGraphicFramePr>
        <p:xfrm>
          <a:off x="6472125" y="4435932"/>
          <a:ext cx="157003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2" name="Equation" r:id="rId9" imgW="723600" imgH="520560" progId="Equation.3">
                  <p:embed/>
                </p:oleObj>
              </mc:Choice>
              <mc:Fallback>
                <p:oleObj name="Equation" r:id="rId9" imgW="72360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2125" y="4435932"/>
                        <a:ext cx="1570038" cy="11239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Oval 13"/>
          <p:cNvSpPr/>
          <p:nvPr/>
        </p:nvSpPr>
        <p:spPr>
          <a:xfrm>
            <a:off x="6733383" y="4397828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826899" y="3107870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799027" y="3053442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491753" y="4397828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8985" y="3597728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251113" y="3528786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769671" y="4916714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32348" y="2724533"/>
            <a:ext cx="110479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000" b="1" u="sng" dirty="0" smtClean="0"/>
              <a:t>Addition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22002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3" grpId="0" animBg="1"/>
      <p:bldP spid="3" grpId="1" animBg="1"/>
      <p:bldP spid="13" grpId="0" animBg="1"/>
      <p:bldP spid="13" grpId="1" animBg="1"/>
      <p:bldP spid="14" grpId="0" animBg="1"/>
      <p:bldP spid="14" grpId="1" animBg="1"/>
      <p:bldP spid="12" grpId="0" animBg="1"/>
      <p:bldP spid="12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826311"/>
              </p:ext>
            </p:extLst>
          </p:nvPr>
        </p:nvGraphicFramePr>
        <p:xfrm>
          <a:off x="1643065" y="815517"/>
          <a:ext cx="15430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2" name="Equation" r:id="rId3" imgW="787400" imgH="457200" progId="Equation.3">
                  <p:embed/>
                </p:oleObj>
              </mc:Choice>
              <mc:Fallback>
                <p:oleObj name="Equation" r:id="rId3" imgW="787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5" y="815517"/>
                        <a:ext cx="1543050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518949"/>
              </p:ext>
            </p:extLst>
          </p:nvPr>
        </p:nvGraphicFramePr>
        <p:xfrm>
          <a:off x="3548065" y="739317"/>
          <a:ext cx="17430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3" name="Equation" r:id="rId5" imgW="838200" imgH="457200" progId="Equation.3">
                  <p:embed/>
                </p:oleObj>
              </mc:Choice>
              <mc:Fallback>
                <p:oleObj name="Equation" r:id="rId5" imgW="838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5" y="739317"/>
                        <a:ext cx="1743075" cy="952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209480"/>
              </p:ext>
            </p:extLst>
          </p:nvPr>
        </p:nvGraphicFramePr>
        <p:xfrm>
          <a:off x="1949450" y="2103438"/>
          <a:ext cx="34718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4" name="Equation" r:id="rId7" imgW="1600200" imgH="457200" progId="Equation.3">
                  <p:embed/>
                </p:oleObj>
              </mc:Choice>
              <mc:Fallback>
                <p:oleObj name="Equation" r:id="rId7" imgW="1600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450" y="2103438"/>
                        <a:ext cx="3471863" cy="987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Oval 2"/>
          <p:cNvSpPr/>
          <p:nvPr/>
        </p:nvSpPr>
        <p:spPr>
          <a:xfrm>
            <a:off x="2132923" y="759273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090537" y="704845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039116"/>
              </p:ext>
            </p:extLst>
          </p:nvPr>
        </p:nvGraphicFramePr>
        <p:xfrm>
          <a:off x="5463718" y="2074863"/>
          <a:ext cx="165258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5" name="Equation" r:id="rId9" imgW="761760" imgH="520560" progId="Equation.3">
                  <p:embed/>
                </p:oleObj>
              </mc:Choice>
              <mc:Fallback>
                <p:oleObj name="Equation" r:id="rId9" imgW="761760" imgH="520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3718" y="2074863"/>
                        <a:ext cx="1652588" cy="11239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Oval 13"/>
          <p:cNvSpPr/>
          <p:nvPr/>
        </p:nvSpPr>
        <p:spPr>
          <a:xfrm>
            <a:off x="5783263" y="2049231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702611" y="759273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674739" y="704845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541633" y="2049231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154697" y="1249131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126825" y="1180189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819551" y="2568117"/>
            <a:ext cx="5334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05635" y="238517"/>
            <a:ext cx="1662699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b="1" u="sng" dirty="0" smtClean="0"/>
              <a:t>Subtraction</a:t>
            </a:r>
            <a:endParaRPr lang="en-US" sz="2400" b="1" u="sng" dirty="0"/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609600" y="4114800"/>
            <a:ext cx="7391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/>
              <a:t>Matrices of different sizes cannot be added or subtracted</a:t>
            </a:r>
          </a:p>
        </p:txBody>
      </p:sp>
    </p:spTree>
    <p:extLst>
      <p:ext uri="{BB962C8B-B14F-4D97-AF65-F5344CB8AC3E}">
        <p14:creationId xmlns:p14="http://schemas.microsoft.com/office/powerpoint/2010/main" val="2688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3" grpId="0" animBg="1"/>
      <p:bldP spid="13" grpId="1" animBg="1"/>
      <p:bldP spid="14" grpId="0" animBg="1"/>
      <p:bldP spid="14" grpId="1" animBg="1"/>
      <p:bldP spid="12" grpId="0" animBg="1"/>
      <p:bldP spid="12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1" grpId="0" animBg="1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72219"/>
            <a:ext cx="2326214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si-LK" sz="2800" b="1" dirty="0" smtClean="0"/>
              <a:t>Scalar product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272142" y="1676400"/>
            <a:ext cx="8490857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/>
              <a:t>Multiply all elements by scalar value.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284813" y="2384057"/>
            <a:ext cx="183538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: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022788"/>
              </p:ext>
            </p:extLst>
          </p:nvPr>
        </p:nvGraphicFramePr>
        <p:xfrm>
          <a:off x="2266013" y="2384057"/>
          <a:ext cx="2935287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6" name="Equation" r:id="rId3" imgW="1041120" imgH="469800" progId="Equation.3">
                  <p:embed/>
                </p:oleObj>
              </mc:Choice>
              <mc:Fallback>
                <p:oleObj name="Equation" r:id="rId3" imgW="10411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013" y="2384057"/>
                        <a:ext cx="2935287" cy="134778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730380"/>
              </p:ext>
            </p:extLst>
          </p:nvPr>
        </p:nvGraphicFramePr>
        <p:xfrm>
          <a:off x="5314013" y="2380428"/>
          <a:ext cx="3544888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7" name="Equation" r:id="rId5" imgW="1257120" imgH="469800" progId="Equation.3">
                  <p:embed/>
                </p:oleObj>
              </mc:Choice>
              <mc:Fallback>
                <p:oleObj name="Equation" r:id="rId5" imgW="12571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013" y="2380428"/>
                        <a:ext cx="3544888" cy="13477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304800" y="725922"/>
            <a:ext cx="8458200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dirty="0" smtClean="0"/>
              <a:t>A scalar is a number or a </a:t>
            </a:r>
            <a:r>
              <a:rPr lang="en-US" sz="2800" dirty="0" err="1" smtClean="0"/>
              <a:t>costant</a:t>
            </a:r>
            <a:r>
              <a:rPr lang="en-US" sz="2800" dirty="0" smtClean="0"/>
              <a:t> which is not another matrix</a:t>
            </a:r>
            <a:r>
              <a:rPr lang="si-LK" sz="2800" dirty="0" smtClean="0"/>
              <a:t>. 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7766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3450240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b="1" u="sng" dirty="0" smtClean="0"/>
              <a:t>Transpose </a:t>
            </a:r>
            <a:r>
              <a:rPr lang="en-US" sz="2400" b="1" u="sng" dirty="0"/>
              <a:t>of a matrix)- A</a:t>
            </a:r>
            <a:r>
              <a:rPr lang="en-US" sz="2400" b="1" u="sng" baseline="30000" dirty="0"/>
              <a:t>T</a:t>
            </a:r>
            <a:endParaRPr lang="en-US" sz="2400" u="sng" dirty="0"/>
          </a:p>
        </p:txBody>
      </p:sp>
      <p:sp>
        <p:nvSpPr>
          <p:cNvPr id="3" name="Rectangle 2"/>
          <p:cNvSpPr/>
          <p:nvPr/>
        </p:nvSpPr>
        <p:spPr>
          <a:xfrm>
            <a:off x="290286" y="914400"/>
            <a:ext cx="847271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 smtClean="0"/>
              <a:t>Transpose matrix is the matrix in which rows and columns are </a:t>
            </a:r>
            <a:r>
              <a:rPr lang="en-US" sz="2400" dirty="0" err="1" smtClean="0"/>
              <a:t>interchaged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018706"/>
              </p:ext>
            </p:extLst>
          </p:nvPr>
        </p:nvGraphicFramePr>
        <p:xfrm>
          <a:off x="304800" y="2133600"/>
          <a:ext cx="2687216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1" name="Equation" r:id="rId3" imgW="1028700" imgH="469900" progId="Equation.3">
                  <p:embed/>
                </p:oleObj>
              </mc:Choice>
              <mc:Fallback>
                <p:oleObj name="Equation" r:id="rId3" imgW="1028700" imgH="469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133600"/>
                        <a:ext cx="2687216" cy="1219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614719"/>
              </p:ext>
            </p:extLst>
          </p:nvPr>
        </p:nvGraphicFramePr>
        <p:xfrm>
          <a:off x="4408488" y="2057400"/>
          <a:ext cx="2814637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92" name="Equation" r:id="rId5" imgW="901440" imgH="711000" progId="Equation.3">
                  <p:embed/>
                </p:oleObj>
              </mc:Choice>
              <mc:Fallback>
                <p:oleObj name="Equation" r:id="rId5" imgW="901440" imgH="71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488" y="2057400"/>
                        <a:ext cx="2814637" cy="2241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791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286000" y="228600"/>
            <a:ext cx="5334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b="1" u="sng" dirty="0"/>
              <a:t>MULTIPLICATION OF MATRICES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533400" y="990600"/>
            <a:ext cx="8382000" cy="39703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The product of two matrices is another </a:t>
            </a:r>
            <a:r>
              <a:rPr lang="en-US" dirty="0" smtClean="0"/>
              <a:t>matrix.</a:t>
            </a:r>
            <a:endParaRPr lang="en-US" dirty="0"/>
          </a:p>
          <a:p>
            <a:pPr eaLnBrk="1" hangingPunct="1">
              <a:spcBef>
                <a:spcPct val="50000"/>
              </a:spcBef>
            </a:pPr>
            <a:r>
              <a:rPr lang="en-US" dirty="0"/>
              <a:t>Two matrices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</a:t>
            </a:r>
            <a:r>
              <a:rPr lang="en-US" dirty="0"/>
              <a:t> must be </a:t>
            </a:r>
            <a:r>
              <a:rPr lang="en-US" b="1" u="sng" dirty="0">
                <a:solidFill>
                  <a:schemeClr val="accent2"/>
                </a:solidFill>
              </a:rPr>
              <a:t>conformable</a:t>
            </a:r>
            <a:r>
              <a:rPr lang="en-US" dirty="0"/>
              <a:t> for multiplication to be possible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i.e. the </a:t>
            </a:r>
            <a:r>
              <a:rPr lang="en-US" u="sng" dirty="0"/>
              <a:t>number of columns of </a:t>
            </a:r>
            <a:r>
              <a:rPr lang="en-US" b="1" u="sng" dirty="0"/>
              <a:t>A</a:t>
            </a:r>
            <a:r>
              <a:rPr lang="en-US" u="sng" dirty="0"/>
              <a:t> </a:t>
            </a:r>
            <a:r>
              <a:rPr lang="en-US" dirty="0"/>
              <a:t>must equal the </a:t>
            </a:r>
            <a:r>
              <a:rPr lang="en-US" u="sng" dirty="0"/>
              <a:t>number of rows of </a:t>
            </a:r>
            <a:r>
              <a:rPr lang="en-US" b="1" u="sng" dirty="0"/>
              <a:t>B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Example.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b="1" dirty="0"/>
              <a:t>A</a:t>
            </a:r>
            <a:r>
              <a:rPr lang="en-US" dirty="0"/>
              <a:t>     x     </a:t>
            </a:r>
            <a:r>
              <a:rPr lang="en-US" b="1" dirty="0"/>
              <a:t>B</a:t>
            </a:r>
            <a:r>
              <a:rPr lang="en-US" dirty="0"/>
              <a:t>   =      </a:t>
            </a:r>
            <a:r>
              <a:rPr lang="en-US" b="1" dirty="0"/>
              <a:t>C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x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dirty="0"/>
              <a:t>)     (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3</a:t>
            </a:r>
            <a:r>
              <a:rPr lang="en-US" dirty="0" smtClean="0"/>
              <a:t>x</a:t>
            </a:r>
            <a:r>
              <a:rPr lang="en-US" b="1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)      </a:t>
            </a:r>
            <a:r>
              <a:rPr lang="en-US" dirty="0"/>
              <a:t>(</a:t>
            </a:r>
            <a:r>
              <a:rPr lang="en-US" b="1" dirty="0" smtClean="0">
                <a:solidFill>
                  <a:srgbClr val="FF0000"/>
                </a:solidFill>
              </a:rPr>
              <a:t>1x2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04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600200" y="304800"/>
            <a:ext cx="6172200" cy="4838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   </a:t>
            </a:r>
            <a:r>
              <a:rPr lang="en-US" b="1" dirty="0"/>
              <a:t>B</a:t>
            </a:r>
            <a:r>
              <a:rPr lang="en-US" dirty="0"/>
              <a:t>   x    </a:t>
            </a:r>
            <a:r>
              <a:rPr lang="en-US" b="1" dirty="0"/>
              <a:t>A</a:t>
            </a:r>
            <a:r>
              <a:rPr lang="en-US" dirty="0"/>
              <a:t>      =     Not possible!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(2x1)   (4x2)</a:t>
            </a:r>
          </a:p>
          <a:p>
            <a:pPr eaLnBrk="1" hangingPunct="1">
              <a:spcBef>
                <a:spcPct val="50000"/>
              </a:spcBef>
            </a:pPr>
            <a:endParaRPr lang="en-US" dirty="0"/>
          </a:p>
          <a:p>
            <a:pPr eaLnBrk="1" hangingPunct="1">
              <a:spcBef>
                <a:spcPct val="50000"/>
              </a:spcBef>
            </a:pPr>
            <a:r>
              <a:rPr lang="en-US" dirty="0"/>
              <a:t>  </a:t>
            </a:r>
            <a:r>
              <a:rPr lang="en-US" b="1" dirty="0"/>
              <a:t>A</a:t>
            </a:r>
            <a:r>
              <a:rPr lang="en-US" dirty="0"/>
              <a:t>    x    </a:t>
            </a:r>
            <a:r>
              <a:rPr lang="en-US" b="1" dirty="0"/>
              <a:t>B</a:t>
            </a:r>
            <a:r>
              <a:rPr lang="en-US" dirty="0"/>
              <a:t>         =    Not possible!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(6x2)    (6x3)</a:t>
            </a:r>
          </a:p>
          <a:p>
            <a:pPr eaLnBrk="1" hangingPunct="1">
              <a:spcBef>
                <a:spcPct val="50000"/>
              </a:spcBef>
            </a:pPr>
            <a:endParaRPr lang="en-US" dirty="0"/>
          </a:p>
          <a:p>
            <a:pPr eaLnBrk="1" hangingPunct="1">
              <a:spcBef>
                <a:spcPct val="50000"/>
              </a:spcBef>
            </a:pPr>
            <a:r>
              <a:rPr lang="en-US" dirty="0"/>
              <a:t>Example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 </a:t>
            </a:r>
            <a:r>
              <a:rPr lang="en-US" b="1" dirty="0"/>
              <a:t>A</a:t>
            </a:r>
            <a:r>
              <a:rPr lang="en-US" dirty="0"/>
              <a:t>      x       </a:t>
            </a:r>
            <a:r>
              <a:rPr lang="en-US" b="1" dirty="0"/>
              <a:t>B</a:t>
            </a:r>
            <a:r>
              <a:rPr lang="en-US" dirty="0"/>
              <a:t>        =    </a:t>
            </a:r>
            <a:r>
              <a:rPr lang="en-US" b="1" dirty="0"/>
              <a:t>C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(2x3)        (3x2)         (2x2)</a:t>
            </a:r>
          </a:p>
        </p:txBody>
      </p:sp>
    </p:spTree>
    <p:extLst>
      <p:ext uri="{BB962C8B-B14F-4D97-AF65-F5344CB8AC3E}">
        <p14:creationId xmlns:p14="http://schemas.microsoft.com/office/powerpoint/2010/main" val="18901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782118"/>
              </p:ext>
            </p:extLst>
          </p:nvPr>
        </p:nvGraphicFramePr>
        <p:xfrm>
          <a:off x="952500" y="609600"/>
          <a:ext cx="68580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19" name="Equation" r:id="rId3" imgW="2387600" imgH="711200" progId="Equation.3">
                  <p:embed/>
                </p:oleObj>
              </mc:Choice>
              <mc:Fallback>
                <p:oleObj name="Equation" r:id="rId3" imgW="2387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609600"/>
                        <a:ext cx="6858000" cy="2043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609600" y="5334000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/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846037"/>
              </p:ext>
            </p:extLst>
          </p:nvPr>
        </p:nvGraphicFramePr>
        <p:xfrm>
          <a:off x="1161738" y="2743200"/>
          <a:ext cx="5334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0" name="Equation" r:id="rId5" imgW="2286000" imgH="228600" progId="Equation.3">
                  <p:embed/>
                </p:oleObj>
              </mc:Choice>
              <mc:Fallback>
                <p:oleObj name="Equation" r:id="rId5" imgW="228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1738" y="2743200"/>
                        <a:ext cx="5334000" cy="533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723900" y="5334000"/>
            <a:ext cx="7315200" cy="822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Successive multiplication of row </a:t>
            </a:r>
            <a:r>
              <a:rPr lang="en-US" i="1" dirty="0"/>
              <a:t>i</a:t>
            </a:r>
            <a:r>
              <a:rPr lang="en-US" dirty="0"/>
              <a:t> of </a:t>
            </a:r>
            <a:r>
              <a:rPr lang="en-US" b="1" dirty="0"/>
              <a:t>A</a:t>
            </a:r>
            <a:r>
              <a:rPr lang="en-US" dirty="0"/>
              <a:t> with column </a:t>
            </a:r>
            <a:r>
              <a:rPr lang="en-US" i="1" dirty="0"/>
              <a:t>j</a:t>
            </a:r>
            <a:r>
              <a:rPr lang="en-US" dirty="0"/>
              <a:t> of </a:t>
            </a:r>
            <a:r>
              <a:rPr lang="en-US" b="1" dirty="0"/>
              <a:t>B</a:t>
            </a:r>
            <a:r>
              <a:rPr lang="en-US" dirty="0"/>
              <a:t> – row by column multiplication</a:t>
            </a: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109575"/>
              </p:ext>
            </p:extLst>
          </p:nvPr>
        </p:nvGraphicFramePr>
        <p:xfrm>
          <a:off x="1114425" y="3352800"/>
          <a:ext cx="53927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1" name="Equation" r:id="rId7" imgW="2311200" imgH="228600" progId="Equation.3">
                  <p:embed/>
                </p:oleObj>
              </mc:Choice>
              <mc:Fallback>
                <p:oleObj name="Equation" r:id="rId7" imgW="2311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3352800"/>
                        <a:ext cx="5392738" cy="533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902326"/>
              </p:ext>
            </p:extLst>
          </p:nvPr>
        </p:nvGraphicFramePr>
        <p:xfrm>
          <a:off x="1052513" y="4038600"/>
          <a:ext cx="54213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2" name="Equation" r:id="rId9" imgW="2323800" imgH="228600" progId="Equation.3">
                  <p:embed/>
                </p:oleObj>
              </mc:Choice>
              <mc:Fallback>
                <p:oleObj name="Equation" r:id="rId9" imgW="2323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4038600"/>
                        <a:ext cx="5421312" cy="533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784945"/>
              </p:ext>
            </p:extLst>
          </p:nvPr>
        </p:nvGraphicFramePr>
        <p:xfrm>
          <a:off x="1036638" y="4648200"/>
          <a:ext cx="54816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3" name="Equation" r:id="rId11" imgW="2349360" imgH="228600" progId="Equation.3">
                  <p:embed/>
                </p:oleObj>
              </mc:Choice>
              <mc:Fallback>
                <p:oleObj name="Equation" r:id="rId11" imgW="2349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4648200"/>
                        <a:ext cx="5481637" cy="533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 rot="16200000">
            <a:off x="1981201" y="114300"/>
            <a:ext cx="685798" cy="2514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10800000">
            <a:off x="3886200" y="723900"/>
            <a:ext cx="685798" cy="1981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3741" y="0"/>
            <a:ext cx="53340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/>
              <a:t>MULTIPLICATION OF </a:t>
            </a:r>
            <a:r>
              <a:rPr lang="en-US" sz="1800" dirty="0" smtClean="0"/>
              <a:t>MATRICES…….</a:t>
            </a:r>
            <a:endParaRPr lang="en-US" sz="1800" dirty="0"/>
          </a:p>
        </p:txBody>
      </p:sp>
      <p:sp>
        <p:nvSpPr>
          <p:cNvPr id="16" name="Rectangle 15"/>
          <p:cNvSpPr/>
          <p:nvPr/>
        </p:nvSpPr>
        <p:spPr>
          <a:xfrm rot="10800000">
            <a:off x="4691921" y="723900"/>
            <a:ext cx="685798" cy="1981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16200000">
            <a:off x="2016178" y="800099"/>
            <a:ext cx="685798" cy="2514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 rot="10800000">
            <a:off x="3916180" y="723900"/>
            <a:ext cx="685798" cy="1981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6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6" grpId="2" animBg="1"/>
      <p:bldP spid="17" grpId="0" animBg="1"/>
      <p:bldP spid="18" grpId="0" animBg="1"/>
      <p:bldP spid="1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109179"/>
              </p:ext>
            </p:extLst>
          </p:nvPr>
        </p:nvGraphicFramePr>
        <p:xfrm>
          <a:off x="1780229" y="557820"/>
          <a:ext cx="26543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2" name="Equation" r:id="rId3" imgW="1015920" imgH="469800" progId="Equation.3">
                  <p:embed/>
                </p:oleObj>
              </mc:Choice>
              <mc:Fallback>
                <p:oleObj name="Equation" r:id="rId3" imgW="101592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229" y="557820"/>
                        <a:ext cx="2654300" cy="1219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127231"/>
              </p:ext>
            </p:extLst>
          </p:nvPr>
        </p:nvGraphicFramePr>
        <p:xfrm>
          <a:off x="4724400" y="544269"/>
          <a:ext cx="2971800" cy="1486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3" name="Equation" r:id="rId5" imgW="1434960" imgH="711000" progId="Equation.3">
                  <p:embed/>
                </p:oleObj>
              </mc:Choice>
              <mc:Fallback>
                <p:oleObj name="Equation" r:id="rId5" imgW="143496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44269"/>
                        <a:ext cx="2971800" cy="148695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35146" y="96155"/>
            <a:ext cx="183538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Example 1 : 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03404" y="634020"/>
            <a:ext cx="1676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65965" y="326989"/>
            <a:ext cx="658586" cy="1806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303169"/>
              </p:ext>
            </p:extLst>
          </p:nvPr>
        </p:nvGraphicFramePr>
        <p:xfrm>
          <a:off x="4800600" y="2552700"/>
          <a:ext cx="286702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" name="Equation" r:id="rId7" imgW="1180800" imgH="469800" progId="Equation.3">
                  <p:embed/>
                </p:oleObj>
              </mc:Choice>
              <mc:Fallback>
                <p:oleObj name="Equation" r:id="rId7" imgW="11808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552700"/>
                        <a:ext cx="2867025" cy="1150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Oval 7"/>
          <p:cNvSpPr/>
          <p:nvPr/>
        </p:nvSpPr>
        <p:spPr>
          <a:xfrm>
            <a:off x="2509571" y="557820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391151" y="478971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6384" y="2153701"/>
            <a:ext cx="6560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2x5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374" y="2153700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+4x</a:t>
            </a:r>
            <a:r>
              <a:rPr kumimoji="0" 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-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48781" y="2147280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+3x</a:t>
            </a:r>
            <a:r>
              <a:rPr lang="en-US" sz="24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03788" y="2147279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=14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874904" y="557820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391151" y="925494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439808" y="557820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391151" y="1418981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791201" y="2655553"/>
            <a:ext cx="60959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24552" y="326988"/>
            <a:ext cx="658586" cy="1806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87145" y="481620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1784" y="2769723"/>
            <a:ext cx="6560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2x3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3774" y="2769722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+4x</a:t>
            </a:r>
            <a:r>
              <a:rPr kumimoji="0" lang="en-US" sz="24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-</a:t>
            </a:r>
            <a:r>
              <a:rPr lang="en-US" sz="24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66860" y="2777817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+3x</a:t>
            </a:r>
            <a:r>
              <a:rPr lang="en-US" sz="24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629188" y="2763301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=15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10300" y="2655553"/>
            <a:ext cx="60959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035224" y="925493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035224" y="1418981"/>
            <a:ext cx="5334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6384" y="3455523"/>
            <a:ext cx="6560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2x1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68374" y="3455522"/>
            <a:ext cx="108287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+4x</a:t>
            </a:r>
            <a:r>
              <a:rPr lang="en-US" sz="2400" baseline="300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-</a:t>
            </a: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62566" y="3450105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+3x</a:t>
            </a: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588729" y="3449101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=4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13764" y="2637972"/>
            <a:ext cx="60959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247" y="4141323"/>
            <a:ext cx="6560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x5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04237" y="4141322"/>
            <a:ext cx="108287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+4x-2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641971" y="4135905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</a:t>
            </a: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x</a:t>
            </a:r>
            <a:r>
              <a:rPr lang="en-US" sz="24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526190" y="4134901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=1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74871" y="3060283"/>
            <a:ext cx="60959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289551" y="1167420"/>
            <a:ext cx="1676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6344" y="4807022"/>
            <a:ext cx="6560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x3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48334" y="4807021"/>
            <a:ext cx="108287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+4x0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686068" y="4801604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</a:t>
            </a: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x</a:t>
            </a: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570287" y="4800600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=6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95570" y="3055260"/>
            <a:ext cx="60959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>
                <a:latin typeface="Iskoola Pota" pitchFamily="34" charset="0"/>
                <a:cs typeface="Iskoola Pota" pitchFamily="34" charset="0"/>
              </a:rPr>
              <a:t>6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621234" y="361603"/>
            <a:ext cx="658586" cy="18066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5628" y="5492822"/>
            <a:ext cx="65609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x1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87618" y="5492821"/>
            <a:ext cx="108287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+4x-1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625352" y="5487404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+</a:t>
            </a:r>
            <a:r>
              <a:rPr lang="en-US" sz="2400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1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x</a:t>
            </a:r>
            <a:r>
              <a:rPr lang="en-US" sz="24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509571" y="5486400"/>
            <a:ext cx="880407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=-1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621234" y="3064751"/>
            <a:ext cx="60959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 smtClean="0">
                <a:latin typeface="Iskoola Pota" pitchFamily="34" charset="0"/>
                <a:cs typeface="Iskoola Pota" pitchFamily="34" charset="0"/>
              </a:rPr>
              <a:t>-1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95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6" grpId="1" animBg="1"/>
      <p:bldP spid="6" grpId="2" animBg="1"/>
      <p:bldP spid="6" grpId="3" animBg="1"/>
      <p:bldP spid="8" grpId="0" animBg="1"/>
      <p:bldP spid="8" grpId="1" animBg="1"/>
      <p:bldP spid="8" grpId="2" animBg="1"/>
      <p:bldP spid="8" grpId="3" animBg="1"/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4" grpId="1" animBg="1"/>
      <p:bldP spid="14" grpId="2" animBg="1"/>
      <p:bldP spid="14" grpId="3" animBg="1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6" grpId="3" animBg="1"/>
      <p:bldP spid="17" grpId="0" animBg="1"/>
      <p:bldP spid="17" grpId="1" animBg="1"/>
      <p:bldP spid="18" grpId="0"/>
      <p:bldP spid="19" grpId="0" animBg="1"/>
      <p:bldP spid="19" grpId="1" animBg="1"/>
      <p:bldP spid="19" grpId="2" animBg="1"/>
      <p:bldP spid="19" grpId="3" animBg="1"/>
      <p:bldP spid="19" grpId="4" animBg="1"/>
      <p:bldP spid="20" grpId="0" animBg="1"/>
      <p:bldP spid="20" grpId="1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30" grpId="0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6" grpId="1" animBg="1"/>
      <p:bldP spid="46" grpId="2" animBg="1"/>
      <p:bldP spid="46" grpId="3" animBg="1"/>
      <p:bldP spid="47" grpId="0" animBg="1"/>
      <p:bldP spid="48" grpId="0" animBg="1"/>
      <p:bldP spid="49" grpId="0" animBg="1"/>
      <p:bldP spid="50" grpId="0" animBg="1"/>
      <p:bldP spid="5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4600" y="149184"/>
            <a:ext cx="304800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/>
            <a:r>
              <a:rPr lang="en-US" sz="2800" b="1" u="sng" dirty="0" smtClean="0"/>
              <a:t>Determinants</a:t>
            </a:r>
            <a:endParaRPr lang="en-US" u="sng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3570" y="1020633"/>
            <a:ext cx="8305800" cy="954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Determinants has equal number of rows and columns.</a:t>
            </a:r>
            <a:r>
              <a:rPr kumimoji="0" lang="en-US" sz="2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Can be calculated into a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Latha" pitchFamily="34" charset="0"/>
              </a:rPr>
              <a:t>single valued.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11024" y="2133600"/>
            <a:ext cx="8305800" cy="95410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If A is a square matrix, the determinant of A,</a:t>
            </a:r>
            <a:r>
              <a:rPr lang="en-US" sz="28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</a:t>
            </a:r>
            <a:r>
              <a:rPr lang="en-US" sz="2800" dirty="0" err="1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det</a:t>
            </a:r>
            <a:r>
              <a:rPr lang="en-US" sz="2800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(A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                   is represent by       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212245" y="5244643"/>
            <a:ext cx="274434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24232"/>
              </p:ext>
            </p:extLst>
          </p:nvPr>
        </p:nvGraphicFramePr>
        <p:xfrm>
          <a:off x="2556775" y="2554877"/>
          <a:ext cx="533400" cy="626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Equation" r:id="rId3" imgW="215713" imgH="253780" progId="Equation.3">
                  <p:embed/>
                </p:oleObj>
              </mc:Choice>
              <mc:Fallback>
                <p:oleObj name="Equation" r:id="rId3" imgW="215713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775" y="2554877"/>
                        <a:ext cx="533400" cy="6261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039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28600"/>
            <a:ext cx="4279377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 smtClean="0"/>
              <a:t>Second order determinants</a:t>
            </a:r>
            <a:endParaRPr lang="en-US" sz="2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873745"/>
              </p:ext>
            </p:extLst>
          </p:nvPr>
        </p:nvGraphicFramePr>
        <p:xfrm>
          <a:off x="2286000" y="1291318"/>
          <a:ext cx="1829783" cy="1097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36" name="Equation" r:id="rId3" imgW="812447" imgH="482391" progId="Equation.3">
                  <p:embed/>
                </p:oleObj>
              </mc:Choice>
              <mc:Fallback>
                <p:oleObj name="Equation" r:id="rId3" imgW="812447" imgH="4823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291318"/>
                        <a:ext cx="1829783" cy="10978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9359403"/>
              </p:ext>
            </p:extLst>
          </p:nvPr>
        </p:nvGraphicFramePr>
        <p:xfrm>
          <a:off x="4191000" y="1796256"/>
          <a:ext cx="121443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37" name="Equation" r:id="rId5" imgW="495000" imgH="215640" progId="Equation.3">
                  <p:embed/>
                </p:oleObj>
              </mc:Choice>
              <mc:Fallback>
                <p:oleObj name="Equation" r:id="rId5" imgW="49500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796256"/>
                        <a:ext cx="1214437" cy="5222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3"/>
          <p:cNvSpPr>
            <a:spLocks noChangeShapeType="1"/>
          </p:cNvSpPr>
          <p:nvPr/>
        </p:nvSpPr>
        <p:spPr bwMode="auto">
          <a:xfrm>
            <a:off x="3200400" y="1677307"/>
            <a:ext cx="428624" cy="380093"/>
          </a:xfrm>
          <a:prstGeom prst="straightConnector1">
            <a:avLst/>
          </a:prstGeom>
          <a:ln w="28575">
            <a:solidFill>
              <a:srgbClr val="FF0000"/>
            </a:solidFill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"/>
          <p:cNvSpPr>
            <a:spLocks noChangeShapeType="1"/>
          </p:cNvSpPr>
          <p:nvPr/>
        </p:nvSpPr>
        <p:spPr bwMode="auto">
          <a:xfrm flipH="1">
            <a:off x="3200399" y="1676400"/>
            <a:ext cx="428624" cy="381000"/>
          </a:xfrm>
          <a:prstGeom prst="straightConnector1">
            <a:avLst/>
          </a:prstGeom>
          <a:noFill/>
          <a:ln w="28575">
            <a:solidFill>
              <a:srgbClr val="00206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942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=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167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817393"/>
              </p:ext>
            </p:extLst>
          </p:nvPr>
        </p:nvGraphicFramePr>
        <p:xfrm>
          <a:off x="5381172" y="1796256"/>
          <a:ext cx="11826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38" name="Equation" r:id="rId7" imgW="482400" imgH="215640" progId="Equation.3">
                  <p:embed/>
                </p:oleObj>
              </mc:Choice>
              <mc:Fallback>
                <p:oleObj name="Equation" r:id="rId7" imgW="482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172" y="1796256"/>
                        <a:ext cx="1182688" cy="5222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809496"/>
              </p:ext>
            </p:extLst>
          </p:nvPr>
        </p:nvGraphicFramePr>
        <p:xfrm>
          <a:off x="2524125" y="2876550"/>
          <a:ext cx="125888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39" name="Equation" r:id="rId9" imgW="558720" imgH="457200" progId="Equation.3">
                  <p:embed/>
                </p:oleObj>
              </mc:Choice>
              <mc:Fallback>
                <p:oleObj name="Equation" r:id="rId9" imgW="5587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2876550"/>
                        <a:ext cx="1258888" cy="10398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715591"/>
              </p:ext>
            </p:extLst>
          </p:nvPr>
        </p:nvGraphicFramePr>
        <p:xfrm>
          <a:off x="4113213" y="3368675"/>
          <a:ext cx="12763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40" name="Equation" r:id="rId11" imgW="520560" imgH="203040" progId="Equation.3">
                  <p:embed/>
                </p:oleObj>
              </mc:Choice>
              <mc:Fallback>
                <p:oleObj name="Equation" r:id="rId11" imgW="5205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3" y="3368675"/>
                        <a:ext cx="1276350" cy="4905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3"/>
          <p:cNvSpPr>
            <a:spLocks noChangeShapeType="1"/>
          </p:cNvSpPr>
          <p:nvPr/>
        </p:nvSpPr>
        <p:spPr bwMode="auto">
          <a:xfrm>
            <a:off x="3153228" y="3233851"/>
            <a:ext cx="428624" cy="380093"/>
          </a:xfrm>
          <a:prstGeom prst="straightConnector1">
            <a:avLst/>
          </a:prstGeom>
          <a:ln w="28575">
            <a:solidFill>
              <a:srgbClr val="FF0000"/>
            </a:solidFill>
            <a:headE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2"/>
          <p:cNvSpPr>
            <a:spLocks noChangeShapeType="1"/>
          </p:cNvSpPr>
          <p:nvPr/>
        </p:nvSpPr>
        <p:spPr bwMode="auto">
          <a:xfrm flipH="1">
            <a:off x="3153227" y="3232944"/>
            <a:ext cx="428624" cy="381000"/>
          </a:xfrm>
          <a:prstGeom prst="straightConnector1">
            <a:avLst/>
          </a:prstGeom>
          <a:noFill/>
          <a:ln w="28575">
            <a:solidFill>
              <a:srgbClr val="00206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83464"/>
              </p:ext>
            </p:extLst>
          </p:nvPr>
        </p:nvGraphicFramePr>
        <p:xfrm>
          <a:off x="5303838" y="3368675"/>
          <a:ext cx="12446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41" name="Equation" r:id="rId13" imgW="507960" imgH="203040" progId="Equation.3">
                  <p:embed/>
                </p:oleObj>
              </mc:Choice>
              <mc:Fallback>
                <p:oleObj name="Equation" r:id="rId13" imgW="5079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3368675"/>
                        <a:ext cx="1244600" cy="4905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385975"/>
              </p:ext>
            </p:extLst>
          </p:nvPr>
        </p:nvGraphicFramePr>
        <p:xfrm>
          <a:off x="4114800" y="3962400"/>
          <a:ext cx="22415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42" name="Equation" r:id="rId15" imgW="914400" imgH="241200" progId="Equation.3">
                  <p:embed/>
                </p:oleObj>
              </mc:Choice>
              <mc:Fallback>
                <p:oleObj name="Equation" r:id="rId15" imgW="914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962400"/>
                        <a:ext cx="2241550" cy="5826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382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228600"/>
            <a:ext cx="3974421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dirty="0" smtClean="0"/>
              <a:t>Third order determinants</a:t>
            </a:r>
            <a:endParaRPr lang="en-US" sz="2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743037"/>
              </p:ext>
            </p:extLst>
          </p:nvPr>
        </p:nvGraphicFramePr>
        <p:xfrm>
          <a:off x="609600" y="866775"/>
          <a:ext cx="1830388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2" name="Equation" r:id="rId3" imgW="812520" imgH="711000" progId="Equation.3">
                  <p:embed/>
                </p:oleObj>
              </mc:Choice>
              <mc:Fallback>
                <p:oleObj name="Equation" r:id="rId3" imgW="8125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866775"/>
                        <a:ext cx="1830388" cy="16192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1676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1450" algn="l"/>
              </a:tabLst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736153"/>
              </p:ext>
            </p:extLst>
          </p:nvPr>
        </p:nvGraphicFramePr>
        <p:xfrm>
          <a:off x="2719388" y="1155700"/>
          <a:ext cx="145891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3" name="Equation" r:id="rId5" imgW="647640" imgH="457200" progId="Equation.3">
                  <p:embed/>
                </p:oleObj>
              </mc:Choice>
              <mc:Fallback>
                <p:oleObj name="Equation" r:id="rId5" imgW="647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8" y="1155700"/>
                        <a:ext cx="1458912" cy="1039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032291"/>
              </p:ext>
            </p:extLst>
          </p:nvPr>
        </p:nvGraphicFramePr>
        <p:xfrm>
          <a:off x="4164375" y="1156493"/>
          <a:ext cx="14017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4" name="Equation" r:id="rId7" imgW="622080" imgH="457200" progId="Equation.3">
                  <p:embed/>
                </p:oleObj>
              </mc:Choice>
              <mc:Fallback>
                <p:oleObj name="Equation" r:id="rId7" imgW="622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375" y="1156493"/>
                        <a:ext cx="1401762" cy="1039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015624"/>
              </p:ext>
            </p:extLst>
          </p:nvPr>
        </p:nvGraphicFramePr>
        <p:xfrm>
          <a:off x="5526539" y="1155700"/>
          <a:ext cx="1430337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5" name="Equation" r:id="rId9" imgW="634680" imgH="457200" progId="Equation.3">
                  <p:embed/>
                </p:oleObj>
              </mc:Choice>
              <mc:Fallback>
                <p:oleObj name="Equation" r:id="rId9" imgW="634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6539" y="1155700"/>
                        <a:ext cx="1430337" cy="1039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>
          <a:xfrm>
            <a:off x="1079502" y="892473"/>
            <a:ext cx="368297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1397" y="877959"/>
            <a:ext cx="1397003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555749" y="903436"/>
            <a:ext cx="368297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021347" y="917950"/>
            <a:ext cx="368297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449241"/>
              </p:ext>
            </p:extLst>
          </p:nvPr>
        </p:nvGraphicFramePr>
        <p:xfrm>
          <a:off x="755650" y="3368675"/>
          <a:ext cx="1744663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6" name="Equation" r:id="rId11" imgW="774360" imgH="711000" progId="Equation.3">
                  <p:embed/>
                </p:oleObj>
              </mc:Choice>
              <mc:Fallback>
                <p:oleObj name="Equation" r:id="rId11" imgW="7743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368675"/>
                        <a:ext cx="1744663" cy="16192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551888"/>
              </p:ext>
            </p:extLst>
          </p:nvPr>
        </p:nvGraphicFramePr>
        <p:xfrm>
          <a:off x="2851150" y="3657600"/>
          <a:ext cx="140176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7" name="Equation" r:id="rId13" imgW="622080" imgH="457200" progId="Equation.3">
                  <p:embed/>
                </p:oleObj>
              </mc:Choice>
              <mc:Fallback>
                <p:oleObj name="Equation" r:id="rId13" imgW="622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657600"/>
                        <a:ext cx="1401763" cy="1039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56325"/>
              </p:ext>
            </p:extLst>
          </p:nvPr>
        </p:nvGraphicFramePr>
        <p:xfrm>
          <a:off x="4295775" y="3657600"/>
          <a:ext cx="134461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8" name="Equation" r:id="rId15" imgW="596880" imgH="457200" progId="Equation.3">
                  <p:embed/>
                </p:oleObj>
              </mc:Choice>
              <mc:Fallback>
                <p:oleObj name="Equation" r:id="rId15" imgW="596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3657600"/>
                        <a:ext cx="1344613" cy="1039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128103"/>
              </p:ext>
            </p:extLst>
          </p:nvPr>
        </p:nvGraphicFramePr>
        <p:xfrm>
          <a:off x="5657850" y="3657600"/>
          <a:ext cx="137318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19" name="Equation" r:id="rId17" imgW="609480" imgH="457200" progId="Equation.3">
                  <p:embed/>
                </p:oleObj>
              </mc:Choice>
              <mc:Fallback>
                <p:oleObj name="Equation" r:id="rId17" imgW="609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3657600"/>
                        <a:ext cx="1373188" cy="1039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/>
          <p:cNvSpPr/>
          <p:nvPr/>
        </p:nvSpPr>
        <p:spPr>
          <a:xfrm>
            <a:off x="1182327" y="3393580"/>
            <a:ext cx="368297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144222" y="3379066"/>
            <a:ext cx="1397003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658574" y="3404543"/>
            <a:ext cx="368297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124172" y="3419057"/>
            <a:ext cx="368297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225102"/>
              </p:ext>
            </p:extLst>
          </p:nvPr>
        </p:nvGraphicFramePr>
        <p:xfrm>
          <a:off x="2755900" y="4734002"/>
          <a:ext cx="151606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20" name="Equation" r:id="rId19" imgW="672840" imgH="203040" progId="Equation.3">
                  <p:embed/>
                </p:oleObj>
              </mc:Choice>
              <mc:Fallback>
                <p:oleObj name="Equation" r:id="rId19" imgW="6728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4734002"/>
                        <a:ext cx="1516063" cy="46196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516495"/>
              </p:ext>
            </p:extLst>
          </p:nvPr>
        </p:nvGraphicFramePr>
        <p:xfrm>
          <a:off x="4214813" y="4734002"/>
          <a:ext cx="143033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21" name="Equation" r:id="rId21" imgW="634680" imgH="203040" progId="Equation.3">
                  <p:embed/>
                </p:oleObj>
              </mc:Choice>
              <mc:Fallback>
                <p:oleObj name="Equation" r:id="rId21" imgW="634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4734002"/>
                        <a:ext cx="1430337" cy="46196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450878"/>
              </p:ext>
            </p:extLst>
          </p:nvPr>
        </p:nvGraphicFramePr>
        <p:xfrm>
          <a:off x="5562600" y="4734002"/>
          <a:ext cx="148748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22" name="Equation" r:id="rId23" imgW="660240" imgH="203040" progId="Equation.3">
                  <p:embed/>
                </p:oleObj>
              </mc:Choice>
              <mc:Fallback>
                <p:oleObj name="Equation" r:id="rId23" imgW="6602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734002"/>
                        <a:ext cx="1487488" cy="46196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471183"/>
              </p:ext>
            </p:extLst>
          </p:nvPr>
        </p:nvGraphicFramePr>
        <p:xfrm>
          <a:off x="3036888" y="5210175"/>
          <a:ext cx="800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23" name="Equation" r:id="rId25" imgW="355320" imgH="177480" progId="Equation.3">
                  <p:embed/>
                </p:oleObj>
              </mc:Choice>
              <mc:Fallback>
                <p:oleObj name="Equation" r:id="rId25" imgW="3553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5210175"/>
                        <a:ext cx="800100" cy="404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122683"/>
              </p:ext>
            </p:extLst>
          </p:nvPr>
        </p:nvGraphicFramePr>
        <p:xfrm>
          <a:off x="3791767" y="5196114"/>
          <a:ext cx="6000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24" name="Equation" r:id="rId27" imgW="266400" imgH="177480" progId="Equation.3">
                  <p:embed/>
                </p:oleObj>
              </mc:Choice>
              <mc:Fallback>
                <p:oleObj name="Equation" r:id="rId27" imgW="2664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67" y="5196114"/>
                        <a:ext cx="600075" cy="404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220724"/>
              </p:ext>
            </p:extLst>
          </p:nvPr>
        </p:nvGraphicFramePr>
        <p:xfrm>
          <a:off x="4379688" y="5196114"/>
          <a:ext cx="6000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25" name="Equation" r:id="rId29" imgW="266400" imgH="177480" progId="Equation.3">
                  <p:embed/>
                </p:oleObj>
              </mc:Choice>
              <mc:Fallback>
                <p:oleObj name="Equation" r:id="rId29" imgW="2664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688" y="5196114"/>
                        <a:ext cx="600075" cy="4048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232399"/>
              </p:ext>
            </p:extLst>
          </p:nvPr>
        </p:nvGraphicFramePr>
        <p:xfrm>
          <a:off x="5033963" y="5110163"/>
          <a:ext cx="7429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26" name="Equation" r:id="rId31" imgW="330120" imgH="241200" progId="Equation.3">
                  <p:embed/>
                </p:oleObj>
              </mc:Choice>
              <mc:Fallback>
                <p:oleObj name="Equation" r:id="rId31" imgW="3301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5110163"/>
                        <a:ext cx="742950" cy="54927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408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  <p:bldP spid="24" grpId="3" animBg="1"/>
      <p:bldP spid="24" grpId="4" animBg="1"/>
      <p:bldP spid="25" grpId="0" animBg="1"/>
      <p:bldP spid="25" grpId="1" animBg="1"/>
      <p:bldP spid="26" grpId="0" animBg="1"/>
      <p:bldP spid="26" grpId="1" animBg="1"/>
      <p:bldP spid="31" grpId="0" animBg="1"/>
      <p:bldP spid="31" grpId="1" animBg="1"/>
      <p:bldP spid="31" grpId="2" animBg="1"/>
      <p:bldP spid="32" grpId="1" animBg="1"/>
      <p:bldP spid="32" grpId="2" animBg="1"/>
      <p:bldP spid="33" grpId="0" animBg="1"/>
      <p:bldP spid="33" grpId="1" animBg="1"/>
      <p:bldP spid="34" grpId="0" animBg="1"/>
      <p:bldP spid="3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231" y="240191"/>
            <a:ext cx="428885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800" b="1" dirty="0" smtClean="0"/>
              <a:t>Properties of determinants</a:t>
            </a:r>
            <a:endParaRPr 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54629" y="914400"/>
            <a:ext cx="8577705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1" dirty="0" smtClean="0"/>
              <a:t>A </a:t>
            </a:r>
            <a:r>
              <a:rPr lang="en-US" sz="2400" b="1" i="1" dirty="0"/>
              <a:t>row where every entry is zero, or a column where every entry is zero. </a:t>
            </a:r>
            <a:r>
              <a:rPr lang="en-US" sz="2400" b="1" i="1" dirty="0" smtClean="0"/>
              <a:t>Then</a:t>
            </a:r>
            <a:r>
              <a:rPr lang="en-US" sz="2400" b="1" i="1" dirty="0"/>
              <a:t> </a:t>
            </a:r>
            <a:r>
              <a:rPr lang="en-US" sz="2400" b="1" i="1" dirty="0" err="1"/>
              <a:t>det</a:t>
            </a:r>
            <a:r>
              <a:rPr lang="en-US" sz="2400" b="1" i="1" dirty="0"/>
              <a:t>(A)=0</a:t>
            </a:r>
            <a:r>
              <a:rPr lang="en-US" sz="2400" i="1" dirty="0" smtClean="0"/>
              <a:t>.</a:t>
            </a:r>
            <a:endParaRPr lang="en-US" sz="2400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54628" y="2971800"/>
            <a:ext cx="8577705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b="1" i="1" dirty="0"/>
              <a:t>I</a:t>
            </a:r>
            <a:r>
              <a:rPr lang="en-US" sz="2400" b="1" i="1" dirty="0" smtClean="0"/>
              <a:t>nterchanging </a:t>
            </a:r>
            <a:r>
              <a:rPr lang="en-US" sz="2400" b="1" i="1" dirty="0"/>
              <a:t>the location of two rows, or interchanging the location of two </a:t>
            </a:r>
            <a:r>
              <a:rPr lang="en-US" sz="2400" b="1" i="1" dirty="0" smtClean="0"/>
              <a:t>columns sign of the value is changed.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54630" y="3896823"/>
            <a:ext cx="8577705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Interchange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 of rows and columns is unchanged the determinant value.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54630" y="4876800"/>
            <a:ext cx="8577705" cy="15696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b="1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Any row or column is replaced by adding or subtracting any scalar product of </a:t>
            </a:r>
            <a:r>
              <a:rPr lang="en-US" sz="2400" b="1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another row or </a:t>
            </a:r>
            <a:r>
              <a:rPr lang="en-US" sz="2400" b="1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column keep unchanged the value.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b="1" dirty="0" smtClean="0">
                <a:latin typeface="Iskoola Pota" pitchFamily="34" charset="0"/>
                <a:cs typeface="Iskoola Pota" pitchFamily="34" charset="0"/>
              </a:rPr>
              <a:t>			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R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 smtClean="0">
                <a:latin typeface="Iskoola Pota" pitchFamily="34" charset="0"/>
                <a:cs typeface="Iskoola Pota" pitchFamily="34" charset="0"/>
                <a:sym typeface="Symbol"/>
              </a:rPr>
              <a:t> </a:t>
            </a:r>
            <a:r>
              <a:rPr lang="en-US" sz="2400" b="1" dirty="0" err="1">
                <a:latin typeface="Iskoola Pota" pitchFamily="34" charset="0"/>
                <a:cs typeface="Iskoola Pota" pitchFamily="34" charset="0"/>
              </a:rPr>
              <a:t>R</a:t>
            </a:r>
            <a:r>
              <a:rPr lang="en-US" sz="2400" b="1" baseline="-25000" dirty="0" err="1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 smtClean="0">
                <a:latin typeface="Iskoola Pota" pitchFamily="34" charset="0"/>
                <a:cs typeface="Iskoola Pota" pitchFamily="34" charset="0"/>
              </a:rPr>
              <a:t>+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kR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j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   </a:t>
            </a:r>
            <a:r>
              <a:rPr lang="en-US" sz="2400" b="1" dirty="0" smtClean="0">
                <a:latin typeface="Iskoola Pota" pitchFamily="34" charset="0"/>
                <a:cs typeface="Iskoola Pota" pitchFamily="34" charset="0"/>
              </a:rPr>
              <a:t>or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C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>
                <a:latin typeface="Iskoola Pota" pitchFamily="34" charset="0"/>
                <a:cs typeface="Iskoola Pota" pitchFamily="34" charset="0"/>
                <a:sym typeface="Symbol"/>
              </a:rPr>
              <a:t>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C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>
                <a:latin typeface="Iskoola Pota" pitchFamily="34" charset="0"/>
                <a:cs typeface="Iskoola Pota" pitchFamily="34" charset="0"/>
              </a:rPr>
              <a:t>+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kC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j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9229" y="1967591"/>
            <a:ext cx="8577705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1" dirty="0" smtClean="0"/>
              <a:t>If any two rows or two columns are equal or  with same proportion   Then</a:t>
            </a:r>
            <a:r>
              <a:rPr lang="en-US" sz="2400" b="1" i="1" dirty="0"/>
              <a:t> </a:t>
            </a:r>
            <a:r>
              <a:rPr lang="en-US" sz="2400" b="1" i="1" dirty="0" err="1"/>
              <a:t>det</a:t>
            </a:r>
            <a:r>
              <a:rPr lang="en-US" sz="2400" b="1" i="1" dirty="0"/>
              <a:t>(A)=0</a:t>
            </a:r>
            <a:r>
              <a:rPr lang="en-US" sz="2400" i="1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156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1" grpId="0" animBg="1"/>
      <p:bldP spid="12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1000" y="149423"/>
            <a:ext cx="8577705" cy="21852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b="1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Any row or column is replaced by adding or subtracting any scalar product of </a:t>
            </a:r>
            <a:r>
              <a:rPr lang="en-US" sz="2400" b="1" dirty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another row or </a:t>
            </a:r>
            <a:r>
              <a:rPr lang="en-US" sz="2400" b="1" dirty="0" smtClean="0">
                <a:latin typeface="Iskoola Pota" pitchFamily="34" charset="0"/>
                <a:ea typeface="Times New Roman" pitchFamily="18" charset="0"/>
                <a:cs typeface="Iskoola Pota" pitchFamily="34" charset="0"/>
              </a:rPr>
              <a:t>column keep unchanged the value.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b="1" dirty="0" smtClean="0">
                <a:latin typeface="Iskoola Pota" pitchFamily="34" charset="0"/>
                <a:cs typeface="Iskoola Pota" pitchFamily="34" charset="0"/>
              </a:rPr>
              <a:t>			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R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 smtClean="0">
                <a:latin typeface="Iskoola Pota" pitchFamily="34" charset="0"/>
                <a:cs typeface="Iskoola Pota" pitchFamily="34" charset="0"/>
                <a:sym typeface="Symbol"/>
              </a:rPr>
              <a:t> </a:t>
            </a:r>
            <a:r>
              <a:rPr lang="en-US" sz="2400" b="1" dirty="0" err="1">
                <a:latin typeface="Iskoola Pota" pitchFamily="34" charset="0"/>
                <a:cs typeface="Iskoola Pota" pitchFamily="34" charset="0"/>
              </a:rPr>
              <a:t>R</a:t>
            </a:r>
            <a:r>
              <a:rPr lang="en-US" sz="2400" b="1" baseline="-25000" dirty="0" err="1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 smtClean="0">
                <a:latin typeface="Iskoola Pota" pitchFamily="34" charset="0"/>
                <a:cs typeface="Iskoola Pota" pitchFamily="34" charset="0"/>
              </a:rPr>
              <a:t>+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kR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j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   </a:t>
            </a:r>
            <a:r>
              <a:rPr lang="en-US" sz="2400" b="1" dirty="0" smtClean="0">
                <a:latin typeface="Iskoola Pota" pitchFamily="34" charset="0"/>
                <a:cs typeface="Iskoola Pota" pitchFamily="34" charset="0"/>
              </a:rPr>
              <a:t>or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C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>
                <a:latin typeface="Iskoola Pota" pitchFamily="34" charset="0"/>
                <a:cs typeface="Iskoola Pota" pitchFamily="34" charset="0"/>
                <a:sym typeface="Symbol"/>
              </a:rPr>
              <a:t>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C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i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  <a:r>
              <a:rPr lang="en-US" sz="2400" b="1" dirty="0">
                <a:latin typeface="Iskoola Pota" pitchFamily="34" charset="0"/>
                <a:cs typeface="Iskoola Pota" pitchFamily="34" charset="0"/>
              </a:rPr>
              <a:t>+ </a:t>
            </a:r>
            <a:r>
              <a:rPr lang="en-US" sz="2400" b="1" dirty="0" err="1" smtClean="0">
                <a:latin typeface="Iskoola Pota" pitchFamily="34" charset="0"/>
                <a:cs typeface="Iskoola Pota" pitchFamily="34" charset="0"/>
              </a:rPr>
              <a:t>kC</a:t>
            </a:r>
            <a:r>
              <a:rPr lang="en-US" sz="2400" b="1" baseline="-25000" dirty="0" err="1" smtClean="0">
                <a:latin typeface="Iskoola Pota" pitchFamily="34" charset="0"/>
                <a:cs typeface="Iskoola Pota" pitchFamily="34" charset="0"/>
              </a:rPr>
              <a:t>j</a:t>
            </a: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endParaRPr lang="en-US" sz="2400" b="1" baseline="-25000" dirty="0">
              <a:latin typeface="Iskoola Pota" pitchFamily="34" charset="0"/>
              <a:cs typeface="Iskoola Pota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b="1" baseline="-25000" dirty="0" smtClean="0">
                <a:latin typeface="Iskoola Pota" pitchFamily="34" charset="0"/>
                <a:cs typeface="Iskoola Pota" pitchFamily="34" charset="0"/>
              </a:rPr>
              <a:t>Here replacing row or column is not multiplied.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36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993331"/>
              </p:ext>
            </p:extLst>
          </p:nvPr>
        </p:nvGraphicFramePr>
        <p:xfrm>
          <a:off x="373062" y="228600"/>
          <a:ext cx="17129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48" name="Equation" r:id="rId3" imgW="1143000" imgH="711000" progId="Equation.3">
                  <p:embed/>
                </p:oleObj>
              </mc:Choice>
              <mc:Fallback>
                <p:oleObj name="Equation" r:id="rId3" imgW="1143000" imgH="71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2" y="228600"/>
                        <a:ext cx="171291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756278"/>
              </p:ext>
            </p:extLst>
          </p:nvPr>
        </p:nvGraphicFramePr>
        <p:xfrm>
          <a:off x="3711818" y="228600"/>
          <a:ext cx="16748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49" name="Equation" r:id="rId5" imgW="1117440" imgH="711000" progId="Equation.3">
                  <p:embed/>
                </p:oleObj>
              </mc:Choice>
              <mc:Fallback>
                <p:oleObj name="Equation" r:id="rId5" imgW="11174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818" y="228600"/>
                        <a:ext cx="167481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867649"/>
              </p:ext>
            </p:extLst>
          </p:nvPr>
        </p:nvGraphicFramePr>
        <p:xfrm>
          <a:off x="6313488" y="2074863"/>
          <a:ext cx="2590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0" name="Equation" r:id="rId7" imgW="1726920" imgH="203040" progId="Equation.3">
                  <p:embed/>
                </p:oleObj>
              </mc:Choice>
              <mc:Fallback>
                <p:oleObj name="Equation" r:id="rId7" imgW="1726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488" y="2074863"/>
                        <a:ext cx="2590800" cy="304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>
            <a:off x="2263090" y="914400"/>
            <a:ext cx="13183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48297" y="342900"/>
            <a:ext cx="1333103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r>
              <a:rPr lang="en-US" baseline="-25000" dirty="0" smtClean="0"/>
              <a:t>1 </a:t>
            </a:r>
            <a:r>
              <a:rPr lang="en-US" dirty="0" smtClean="0">
                <a:sym typeface="Wingdings" panose="05000000000000000000" pitchFamily="2" charset="2"/>
              </a:rPr>
              <a:t> R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r>
              <a:rPr lang="en-US" dirty="0" smtClean="0">
                <a:sym typeface="Wingdings" panose="05000000000000000000" pitchFamily="2" charset="2"/>
              </a:rPr>
              <a:t>/10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539960" y="914400"/>
            <a:ext cx="13183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90579" y="381000"/>
            <a:ext cx="13331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C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r>
              <a:rPr lang="en-US" dirty="0" smtClean="0">
                <a:sym typeface="Wingdings" panose="05000000000000000000" pitchFamily="2" charset="2"/>
              </a:rPr>
              <a:t> C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r>
              <a:rPr lang="en-US" dirty="0" smtClean="0">
                <a:sym typeface="Wingdings" panose="05000000000000000000" pitchFamily="2" charset="2"/>
              </a:rPr>
              <a:t>-C</a:t>
            </a:r>
            <a:r>
              <a:rPr lang="en-US" baseline="-25000" dirty="0" smtClean="0">
                <a:sym typeface="Wingdings" panose="05000000000000000000" pitchFamily="2" charset="2"/>
              </a:rPr>
              <a:t>3</a:t>
            </a:r>
            <a:endParaRPr lang="en-US" dirty="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710400"/>
              </p:ext>
            </p:extLst>
          </p:nvPr>
        </p:nvGraphicFramePr>
        <p:xfrm>
          <a:off x="7083000" y="381000"/>
          <a:ext cx="16748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1" name="Equation" r:id="rId9" imgW="1117440" imgH="711000" progId="Equation.3">
                  <p:embed/>
                </p:oleObj>
              </mc:Choice>
              <mc:Fallback>
                <p:oleObj name="Equation" r:id="rId9" imgW="11174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000" y="381000"/>
                        <a:ext cx="167481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563686"/>
              </p:ext>
            </p:extLst>
          </p:nvPr>
        </p:nvGraphicFramePr>
        <p:xfrm>
          <a:off x="373062" y="1524001"/>
          <a:ext cx="16748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2" name="Equation" r:id="rId11" imgW="1117440" imgH="711000" progId="Equation.3">
                  <p:embed/>
                </p:oleObj>
              </mc:Choice>
              <mc:Fallback>
                <p:oleObj name="Equation" r:id="rId11" imgW="11174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2" y="1524001"/>
                        <a:ext cx="167481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229048" y="1524001"/>
            <a:ext cx="13331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C</a:t>
            </a:r>
            <a:r>
              <a:rPr lang="en-US" baseline="-25000" dirty="0" smtClean="0">
                <a:sym typeface="Wingdings" panose="05000000000000000000" pitchFamily="2" charset="2"/>
              </a:rPr>
              <a:t>2</a:t>
            </a:r>
            <a:r>
              <a:rPr lang="en-US" dirty="0" smtClean="0">
                <a:sym typeface="Wingdings" panose="05000000000000000000" pitchFamily="2" charset="2"/>
              </a:rPr>
              <a:t> C</a:t>
            </a:r>
            <a:r>
              <a:rPr lang="en-US" baseline="-25000" dirty="0" smtClean="0">
                <a:sym typeface="Wingdings" panose="05000000000000000000" pitchFamily="2" charset="2"/>
              </a:rPr>
              <a:t>2</a:t>
            </a:r>
            <a:r>
              <a:rPr lang="en-US" dirty="0" smtClean="0">
                <a:sym typeface="Wingdings" panose="05000000000000000000" pitchFamily="2" charset="2"/>
              </a:rPr>
              <a:t>-4C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229048" y="2218642"/>
            <a:ext cx="133310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C</a:t>
            </a:r>
            <a:r>
              <a:rPr lang="en-US" baseline="-25000" dirty="0">
                <a:sym typeface="Wingdings" panose="05000000000000000000" pitchFamily="2" charset="2"/>
              </a:rPr>
              <a:t>3</a:t>
            </a:r>
            <a:r>
              <a:rPr lang="en-US" dirty="0" smtClean="0">
                <a:sym typeface="Wingdings" panose="05000000000000000000" pitchFamily="2" charset="2"/>
              </a:rPr>
              <a:t> C</a:t>
            </a:r>
            <a:r>
              <a:rPr lang="en-US" baseline="-25000" dirty="0" smtClean="0">
                <a:sym typeface="Wingdings" panose="05000000000000000000" pitchFamily="2" charset="2"/>
              </a:rPr>
              <a:t>3</a:t>
            </a:r>
            <a:r>
              <a:rPr lang="en-US" dirty="0" smtClean="0">
                <a:sym typeface="Wingdings" panose="05000000000000000000" pitchFamily="2" charset="2"/>
              </a:rPr>
              <a:t>-2C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263090" y="2057401"/>
            <a:ext cx="13183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816702"/>
              </p:ext>
            </p:extLst>
          </p:nvPr>
        </p:nvGraphicFramePr>
        <p:xfrm>
          <a:off x="3805238" y="1558925"/>
          <a:ext cx="19621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3" name="Equation" r:id="rId12" imgW="1307880" imgH="711000" progId="Equation.3">
                  <p:embed/>
                </p:oleObj>
              </mc:Choice>
              <mc:Fallback>
                <p:oleObj name="Equation" r:id="rId12" imgW="13078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238" y="1558925"/>
                        <a:ext cx="1962150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5837039" y="2218642"/>
            <a:ext cx="42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574972"/>
              </p:ext>
            </p:extLst>
          </p:nvPr>
        </p:nvGraphicFramePr>
        <p:xfrm>
          <a:off x="6335792" y="2701926"/>
          <a:ext cx="16192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4" name="Equation" r:id="rId14" imgW="1079280" imgH="203040" progId="Equation.3">
                  <p:embed/>
                </p:oleObj>
              </mc:Choice>
              <mc:Fallback>
                <p:oleObj name="Equation" r:id="rId14" imgW="1079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92" y="2701926"/>
                        <a:ext cx="1619250" cy="304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691636"/>
              </p:ext>
            </p:extLst>
          </p:nvPr>
        </p:nvGraphicFramePr>
        <p:xfrm>
          <a:off x="6313488" y="3212047"/>
          <a:ext cx="76279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5" name="Equation" r:id="rId16" imgW="545760" imgH="241200" progId="Equation.3">
                  <p:embed/>
                </p:oleObj>
              </mc:Choice>
              <mc:Fallback>
                <p:oleObj name="Equation" r:id="rId16" imgW="5457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488" y="3212047"/>
                        <a:ext cx="762792" cy="3619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897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9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899" y="169784"/>
            <a:ext cx="860150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800" b="1" dirty="0" smtClean="0"/>
              <a:t>Solving simultaneous equation using </a:t>
            </a:r>
            <a:r>
              <a:rPr lang="en-US" sz="2400" b="1" dirty="0" smtClean="0"/>
              <a:t>Cramer’s Rule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3897" y="990118"/>
            <a:ext cx="127904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000" b="1" dirty="0" smtClean="0"/>
              <a:t>Steps: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351998" y="1457719"/>
            <a:ext cx="856340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000" b="1" dirty="0" smtClean="0"/>
              <a:t>1. </a:t>
            </a:r>
            <a:r>
              <a:rPr lang="en-US" sz="2000" b="1" i="1" dirty="0" smtClean="0"/>
              <a:t>Calculate the determinant value D, which is made by coefficients of  variables.</a:t>
            </a:r>
            <a:endParaRPr lang="en-US" sz="1400" i="1" dirty="0"/>
          </a:p>
        </p:txBody>
      </p:sp>
      <p:sp>
        <p:nvSpPr>
          <p:cNvPr id="14" name="Rectangle 13"/>
          <p:cNvSpPr/>
          <p:nvPr/>
        </p:nvSpPr>
        <p:spPr>
          <a:xfrm>
            <a:off x="285940" y="2236673"/>
            <a:ext cx="8629460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000" b="1" dirty="0" smtClean="0"/>
              <a:t>2. </a:t>
            </a:r>
            <a:r>
              <a:rPr lang="en-US" sz="2000" b="1" dirty="0"/>
              <a:t>Then </a:t>
            </a:r>
            <a:r>
              <a:rPr lang="en-US" sz="2000" b="1" dirty="0" smtClean="0"/>
              <a:t>obtain </a:t>
            </a:r>
          </a:p>
          <a:p>
            <a:pPr marL="0" lvl="1"/>
            <a:r>
              <a:rPr lang="en-US" sz="2000" b="1" dirty="0" smtClean="0"/>
              <a:t> determinant </a:t>
            </a:r>
            <a:r>
              <a:rPr lang="en-US" sz="2000" b="1" dirty="0" err="1" smtClean="0"/>
              <a:t>D</a:t>
            </a:r>
            <a:r>
              <a:rPr lang="en-US" sz="2000" b="1" baseline="-25000" dirty="0" err="1" smtClean="0"/>
              <a:t>x</a:t>
            </a:r>
            <a:r>
              <a:rPr lang="en-US" sz="2000" b="1" baseline="-25000" dirty="0" smtClean="0"/>
              <a:t> </a:t>
            </a:r>
            <a:r>
              <a:rPr lang="en-US" sz="2000" b="1" dirty="0" smtClean="0"/>
              <a:t> using D, in which x variable column is replaced by right hand side column of constants, </a:t>
            </a:r>
          </a:p>
          <a:p>
            <a:pPr marL="0" lvl="1"/>
            <a:r>
              <a:rPr lang="en-US" sz="2000" b="1" dirty="0"/>
              <a:t>determinant </a:t>
            </a:r>
            <a:r>
              <a:rPr lang="en-US" sz="2000" b="1" dirty="0" err="1"/>
              <a:t>D</a:t>
            </a:r>
            <a:r>
              <a:rPr lang="en-US" sz="2000" b="1" baseline="-25000" dirty="0" err="1" smtClean="0"/>
              <a:t>y</a:t>
            </a:r>
            <a:r>
              <a:rPr lang="en-US" sz="2000" b="1" baseline="-25000" dirty="0" smtClean="0"/>
              <a:t> </a:t>
            </a:r>
            <a:r>
              <a:rPr lang="en-US" sz="2000" b="1" dirty="0"/>
              <a:t>using D in which </a:t>
            </a:r>
            <a:r>
              <a:rPr lang="en-US" sz="2000" b="1" dirty="0" smtClean="0"/>
              <a:t>y </a:t>
            </a:r>
            <a:r>
              <a:rPr lang="en-US" sz="2000" b="1" dirty="0"/>
              <a:t>variable column is replaced by right hand side column of </a:t>
            </a:r>
            <a:r>
              <a:rPr lang="en-US" sz="2000" b="1" dirty="0" smtClean="0"/>
              <a:t>constants,</a:t>
            </a:r>
            <a:r>
              <a:rPr lang="en-US" sz="2000" b="1" dirty="0"/>
              <a:t> </a:t>
            </a:r>
            <a:endParaRPr lang="en-US" sz="2000" b="1" dirty="0" smtClean="0"/>
          </a:p>
          <a:p>
            <a:pPr marL="0" lvl="1"/>
            <a:r>
              <a:rPr lang="en-US" sz="2000" b="1" dirty="0"/>
              <a:t>determinant </a:t>
            </a:r>
            <a:r>
              <a:rPr lang="en-US" sz="2000" b="1" dirty="0" err="1"/>
              <a:t>D</a:t>
            </a:r>
            <a:r>
              <a:rPr lang="en-US" sz="2000" b="1" baseline="-25000" dirty="0" err="1" smtClean="0"/>
              <a:t>z</a:t>
            </a:r>
            <a:r>
              <a:rPr lang="en-US" sz="2000" b="1"/>
              <a:t> using D in </a:t>
            </a:r>
            <a:r>
              <a:rPr lang="en-US" sz="2000" b="1" dirty="0"/>
              <a:t>which </a:t>
            </a:r>
            <a:r>
              <a:rPr lang="en-US" sz="2000" b="1" dirty="0" smtClean="0"/>
              <a:t>z </a:t>
            </a:r>
            <a:r>
              <a:rPr lang="en-US" sz="2000" b="1" dirty="0"/>
              <a:t>variable column is replaced by right hand side column of </a:t>
            </a:r>
            <a:r>
              <a:rPr lang="en-US" sz="2000" b="1" dirty="0" smtClean="0"/>
              <a:t>constants.</a:t>
            </a:r>
            <a:endParaRPr lang="en-US" sz="2000" b="1" i="1" dirty="0" smtClean="0"/>
          </a:p>
        </p:txBody>
      </p:sp>
      <p:sp>
        <p:nvSpPr>
          <p:cNvPr id="15" name="Rectangle 14"/>
          <p:cNvSpPr/>
          <p:nvPr/>
        </p:nvSpPr>
        <p:spPr>
          <a:xfrm>
            <a:off x="313897" y="4524345"/>
            <a:ext cx="860150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000" b="1" dirty="0" smtClean="0"/>
              <a:t>3.Use the following formulas to  find</a:t>
            </a:r>
            <a:r>
              <a:rPr lang="si-LK" sz="2000" b="1" dirty="0" smtClean="0"/>
              <a:t> </a:t>
            </a:r>
            <a:r>
              <a:rPr lang="en-US" sz="2000" b="1" dirty="0" smtClean="0"/>
              <a:t>x, y, z</a:t>
            </a:r>
            <a:r>
              <a:rPr lang="si-LK" sz="2000" b="1" dirty="0" smtClean="0"/>
              <a:t>.</a:t>
            </a:r>
            <a:endParaRPr lang="en-US" sz="2000" b="1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676007"/>
              </p:ext>
            </p:extLst>
          </p:nvPr>
        </p:nvGraphicFramePr>
        <p:xfrm>
          <a:off x="2144928" y="5187802"/>
          <a:ext cx="10509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4" name="Equation" r:id="rId3" imgW="482400" imgH="393480" progId="Equation.3">
                  <p:embed/>
                </p:oleObj>
              </mc:Choice>
              <mc:Fallback>
                <p:oleObj name="Equation" r:id="rId3" imgW="482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928" y="5187802"/>
                        <a:ext cx="1050925" cy="796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425723"/>
              </p:ext>
            </p:extLst>
          </p:nvPr>
        </p:nvGraphicFramePr>
        <p:xfrm>
          <a:off x="3727665" y="5137002"/>
          <a:ext cx="10795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5" name="Equation" r:id="rId5" imgW="495000" imgH="419040" progId="Equation.3">
                  <p:embed/>
                </p:oleObj>
              </mc:Choice>
              <mc:Fallback>
                <p:oleObj name="Equation" r:id="rId5" imgW="4950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665" y="5137002"/>
                        <a:ext cx="1079500" cy="8493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81603"/>
              </p:ext>
            </p:extLst>
          </p:nvPr>
        </p:nvGraphicFramePr>
        <p:xfrm>
          <a:off x="5334000" y="5137002"/>
          <a:ext cx="10255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6" name="Equation" r:id="rId7" imgW="469800" imgH="393480" progId="Equation.3">
                  <p:embed/>
                </p:oleObj>
              </mc:Choice>
              <mc:Fallback>
                <p:oleObj name="Equation" r:id="rId7" imgW="469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137002"/>
                        <a:ext cx="1025525" cy="8239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408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4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412256"/>
              </p:ext>
            </p:extLst>
          </p:nvPr>
        </p:nvGraphicFramePr>
        <p:xfrm>
          <a:off x="1705429" y="559832"/>
          <a:ext cx="118903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28" name="Equation" r:id="rId3" imgW="774360" imgH="431640" progId="Equation.3">
                  <p:embed/>
                </p:oleObj>
              </mc:Choice>
              <mc:Fallback>
                <p:oleObj name="Equation" r:id="rId3" imgW="774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429" y="559832"/>
                        <a:ext cx="1189038" cy="663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974767"/>
              </p:ext>
            </p:extLst>
          </p:nvPr>
        </p:nvGraphicFramePr>
        <p:xfrm>
          <a:off x="2076450" y="1376363"/>
          <a:ext cx="11414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29" name="Equation" r:id="rId5" imgW="761760" imgH="457200" progId="Equation.3">
                  <p:embed/>
                </p:oleObj>
              </mc:Choice>
              <mc:Fallback>
                <p:oleObj name="Equation" r:id="rId5" imgW="761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376363"/>
                        <a:ext cx="1141413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4495800" y="3886200"/>
            <a:ext cx="1447800" cy="6001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x=3   y=-1   </a:t>
            </a:r>
            <a:endParaRPr lang="en-US" sz="2200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337369"/>
              </p:ext>
            </p:extLst>
          </p:nvPr>
        </p:nvGraphicFramePr>
        <p:xfrm>
          <a:off x="3497263" y="1376363"/>
          <a:ext cx="14636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30" name="Equation" r:id="rId7" imgW="977760" imgH="457200" progId="Equation.3">
                  <p:embed/>
                </p:oleObj>
              </mc:Choice>
              <mc:Fallback>
                <p:oleObj name="Equation" r:id="rId7" imgW="977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1376363"/>
                        <a:ext cx="1463675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678728"/>
              </p:ext>
            </p:extLst>
          </p:nvPr>
        </p:nvGraphicFramePr>
        <p:xfrm>
          <a:off x="5151438" y="1376363"/>
          <a:ext cx="13112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31" name="Equation" r:id="rId9" imgW="876240" imgH="457200" progId="Equation.3">
                  <p:embed/>
                </p:oleObj>
              </mc:Choice>
              <mc:Fallback>
                <p:oleObj name="Equation" r:id="rId9" imgW="876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8" y="1376363"/>
                        <a:ext cx="1311275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641127"/>
              </p:ext>
            </p:extLst>
          </p:nvPr>
        </p:nvGraphicFramePr>
        <p:xfrm>
          <a:off x="1981200" y="2133600"/>
          <a:ext cx="971550" cy="31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32" name="Equation" r:id="rId11" imgW="545760" imgH="177480" progId="Equation.3">
                  <p:embed/>
                </p:oleObj>
              </mc:Choice>
              <mc:Fallback>
                <p:oleObj name="Equation" r:id="rId11" imgW="5457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971550" cy="31631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643107"/>
              </p:ext>
            </p:extLst>
          </p:nvPr>
        </p:nvGraphicFramePr>
        <p:xfrm>
          <a:off x="3493180" y="2089150"/>
          <a:ext cx="10842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33" name="Equation" r:id="rId13" imgW="609480" imgH="228600" progId="Equation.3">
                  <p:embed/>
                </p:oleObj>
              </mc:Choice>
              <mc:Fallback>
                <p:oleObj name="Equation" r:id="rId13" imgW="609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3180" y="2089150"/>
                        <a:ext cx="1084262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50932"/>
              </p:ext>
            </p:extLst>
          </p:nvPr>
        </p:nvGraphicFramePr>
        <p:xfrm>
          <a:off x="5148718" y="2105025"/>
          <a:ext cx="9493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34" name="Equation" r:id="rId15" imgW="533160" imgH="241200" progId="Equation.3">
                  <p:embed/>
                </p:oleObj>
              </mc:Choice>
              <mc:Fallback>
                <p:oleObj name="Equation" r:id="rId15" imgW="5331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718" y="2105025"/>
                        <a:ext cx="949325" cy="428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505973"/>
              </p:ext>
            </p:extLst>
          </p:nvPr>
        </p:nvGraphicFramePr>
        <p:xfrm>
          <a:off x="1746250" y="2743200"/>
          <a:ext cx="2460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35" name="Equation" r:id="rId17" imgW="1130040" imgH="393480" progId="Equation.3">
                  <p:embed/>
                </p:oleObj>
              </mc:Choice>
              <mc:Fallback>
                <p:oleObj name="Equation" r:id="rId17" imgW="11300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2743200"/>
                        <a:ext cx="2460625" cy="796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11471"/>
              </p:ext>
            </p:extLst>
          </p:nvPr>
        </p:nvGraphicFramePr>
        <p:xfrm>
          <a:off x="1614488" y="3632200"/>
          <a:ext cx="26812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36" name="Equation" r:id="rId19" imgW="1231560" imgH="419040" progId="Equation.3">
                  <p:embed/>
                </p:oleObj>
              </mc:Choice>
              <mc:Fallback>
                <p:oleObj name="Equation" r:id="rId19" imgW="12315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3632200"/>
                        <a:ext cx="2681287" cy="847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896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143000" y="4191000"/>
            <a:ext cx="1828800" cy="54771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x=2   y= 3  z=1</a:t>
            </a:r>
            <a:endParaRPr lang="en-US" sz="22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13361"/>
              </p:ext>
            </p:extLst>
          </p:nvPr>
        </p:nvGraphicFramePr>
        <p:xfrm>
          <a:off x="1101725" y="3276600"/>
          <a:ext cx="210026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68" name="Equation" r:id="rId3" imgW="965160" imgH="393480" progId="Equation.3">
                  <p:embed/>
                </p:oleObj>
              </mc:Choice>
              <mc:Fallback>
                <p:oleObj name="Equation" r:id="rId3" imgW="965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3276600"/>
                        <a:ext cx="2100263" cy="796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183529"/>
              </p:ext>
            </p:extLst>
          </p:nvPr>
        </p:nvGraphicFramePr>
        <p:xfrm>
          <a:off x="1704975" y="522288"/>
          <a:ext cx="181292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69" name="Equation" r:id="rId5" imgW="1180588" imgH="672808" progId="Equation.3">
                  <p:embed/>
                </p:oleObj>
              </mc:Choice>
              <mc:Fallback>
                <p:oleObj name="Equation" r:id="rId5" imgW="1180588" imgH="67280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5" y="522288"/>
                        <a:ext cx="1812925" cy="10334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46808"/>
              </p:ext>
            </p:extLst>
          </p:nvPr>
        </p:nvGraphicFramePr>
        <p:xfrm>
          <a:off x="1295400" y="1674813"/>
          <a:ext cx="15986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0" name="Equation" r:id="rId7" imgW="1066680" imgH="711000" progId="Equation.3">
                  <p:embed/>
                </p:oleObj>
              </mc:Choice>
              <mc:Fallback>
                <p:oleObj name="Equation" r:id="rId7" imgW="10666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674813"/>
                        <a:ext cx="159861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440172"/>
              </p:ext>
            </p:extLst>
          </p:nvPr>
        </p:nvGraphicFramePr>
        <p:xfrm>
          <a:off x="3190875" y="1674813"/>
          <a:ext cx="16176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1" name="Equation" r:id="rId9" imgW="1079280" imgH="711000" progId="Equation.3">
                  <p:embed/>
                </p:oleObj>
              </mc:Choice>
              <mc:Fallback>
                <p:oleObj name="Equation" r:id="rId9" imgW="10792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75" y="1674813"/>
                        <a:ext cx="161766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010417"/>
              </p:ext>
            </p:extLst>
          </p:nvPr>
        </p:nvGraphicFramePr>
        <p:xfrm>
          <a:off x="5048250" y="1674813"/>
          <a:ext cx="1789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2" name="Equation" r:id="rId11" imgW="1193760" imgH="711000" progId="Equation.3">
                  <p:embed/>
                </p:oleObj>
              </mc:Choice>
              <mc:Fallback>
                <p:oleObj name="Equation" r:id="rId11" imgW="11937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1674813"/>
                        <a:ext cx="178911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98955"/>
              </p:ext>
            </p:extLst>
          </p:nvPr>
        </p:nvGraphicFramePr>
        <p:xfrm>
          <a:off x="7058025" y="1674813"/>
          <a:ext cx="16557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3" name="Equation" r:id="rId13" imgW="1104840" imgH="711000" progId="Equation.3">
                  <p:embed/>
                </p:oleObj>
              </mc:Choice>
              <mc:Fallback>
                <p:oleObj name="Equation" r:id="rId13" imgW="11048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1674813"/>
                        <a:ext cx="165576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874573"/>
              </p:ext>
            </p:extLst>
          </p:nvPr>
        </p:nvGraphicFramePr>
        <p:xfrm>
          <a:off x="1219201" y="2819400"/>
          <a:ext cx="762000" cy="320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4" name="Equation" r:id="rId15" imgW="393480" imgH="164880" progId="Equation.3">
                  <p:embed/>
                </p:oleObj>
              </mc:Choice>
              <mc:Fallback>
                <p:oleObj name="Equation" r:id="rId15" imgW="3934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1" y="2819400"/>
                        <a:ext cx="762000" cy="32040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240031"/>
              </p:ext>
            </p:extLst>
          </p:nvPr>
        </p:nvGraphicFramePr>
        <p:xfrm>
          <a:off x="3118530" y="2772002"/>
          <a:ext cx="860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5" name="Equation" r:id="rId17" imgW="444240" imgH="228600" progId="Equation.3">
                  <p:embed/>
                </p:oleObj>
              </mc:Choice>
              <mc:Fallback>
                <p:oleObj name="Equation" r:id="rId17" imgW="444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530" y="2772002"/>
                        <a:ext cx="860425" cy="444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822541"/>
              </p:ext>
            </p:extLst>
          </p:nvPr>
        </p:nvGraphicFramePr>
        <p:xfrm>
          <a:off x="5010148" y="2773589"/>
          <a:ext cx="10080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6" name="Equation" r:id="rId19" imgW="520560" imgH="241200" progId="Equation.3">
                  <p:embed/>
                </p:oleObj>
              </mc:Choice>
              <mc:Fallback>
                <p:oleObj name="Equation" r:id="rId19" imgW="520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48" y="2773589"/>
                        <a:ext cx="1008063" cy="46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590582"/>
              </p:ext>
            </p:extLst>
          </p:nvPr>
        </p:nvGraphicFramePr>
        <p:xfrm>
          <a:off x="6996341" y="2809875"/>
          <a:ext cx="8604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7" name="Equation" r:id="rId21" imgW="444240" imgH="215640" progId="Equation.3">
                  <p:embed/>
                </p:oleObj>
              </mc:Choice>
              <mc:Fallback>
                <p:oleObj name="Equation" r:id="rId21" imgW="444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6341" y="2809875"/>
                        <a:ext cx="860425" cy="420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365495"/>
              </p:ext>
            </p:extLst>
          </p:nvPr>
        </p:nvGraphicFramePr>
        <p:xfrm>
          <a:off x="3319463" y="3251200"/>
          <a:ext cx="22383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8" name="Equation" r:id="rId23" imgW="1028520" imgH="419040" progId="Equation.3">
                  <p:embed/>
                </p:oleObj>
              </mc:Choice>
              <mc:Fallback>
                <p:oleObj name="Equation" r:id="rId23" imgW="10285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3251200"/>
                        <a:ext cx="2238375" cy="8493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018210"/>
              </p:ext>
            </p:extLst>
          </p:nvPr>
        </p:nvGraphicFramePr>
        <p:xfrm>
          <a:off x="5811838" y="3302000"/>
          <a:ext cx="20447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79" name="Equation" r:id="rId25" imgW="939600" imgH="393480" progId="Equation.3">
                  <p:embed/>
                </p:oleObj>
              </mc:Choice>
              <mc:Fallback>
                <p:oleObj name="Equation" r:id="rId25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838" y="3302000"/>
                        <a:ext cx="2044700" cy="796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383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143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65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2600" y="128082"/>
            <a:ext cx="62484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800" b="1" dirty="0" smtClean="0"/>
              <a:t>Minors and Co-factors of a matrix</a:t>
            </a:r>
            <a:endParaRPr 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24694" y="770557"/>
            <a:ext cx="4820540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u="sng" dirty="0" smtClean="0"/>
              <a:t>Defined only with square matrices</a:t>
            </a:r>
            <a:r>
              <a:rPr lang="si-LK" sz="2400" dirty="0" smtClean="0"/>
              <a:t>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2171" y="2075615"/>
            <a:ext cx="8581334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dirty="0" smtClean="0"/>
              <a:t>The minor </a:t>
            </a:r>
            <a:r>
              <a:rPr lang="en-US" sz="2400" dirty="0" err="1" smtClean="0"/>
              <a:t>M</a:t>
            </a:r>
            <a:r>
              <a:rPr lang="en-US" sz="2400" baseline="-25000" dirty="0" err="1" smtClean="0"/>
              <a:t>ij</a:t>
            </a:r>
            <a:r>
              <a:rPr lang="en-US" sz="2400" dirty="0" smtClean="0"/>
              <a:t> associated to an given element is the determinant made by  remaining elements after removing elements belongs to </a:t>
            </a:r>
            <a:r>
              <a:rPr lang="en-US" sz="2400" dirty="0" err="1" smtClean="0"/>
              <a:t>i</a:t>
            </a:r>
            <a:r>
              <a:rPr lang="en-US" sz="2400" baseline="30000" dirty="0" err="1" smtClean="0"/>
              <a:t>th</a:t>
            </a:r>
            <a:r>
              <a:rPr lang="en-US" sz="2400" dirty="0" smtClean="0"/>
              <a:t> row and </a:t>
            </a:r>
            <a:r>
              <a:rPr lang="en-US" sz="2400" dirty="0" err="1" smtClean="0"/>
              <a:t>J</a:t>
            </a:r>
            <a:r>
              <a:rPr lang="en-US" sz="2400" baseline="30000" dirty="0" err="1" smtClean="0"/>
              <a:t>th</a:t>
            </a:r>
            <a:r>
              <a:rPr lang="en-US" sz="2400" dirty="0" smtClean="0"/>
              <a:t> column </a:t>
            </a:r>
            <a:r>
              <a:rPr lang="en-US" sz="2400" i="1" dirty="0" smtClean="0"/>
              <a:t>which includes the given element</a:t>
            </a:r>
            <a:r>
              <a:rPr lang="en-US" sz="2400" dirty="0" smtClean="0"/>
              <a:t>.</a:t>
            </a:r>
            <a:endParaRPr lang="en-US" sz="1600" dirty="0"/>
          </a:p>
        </p:txBody>
      </p:sp>
      <p:sp>
        <p:nvSpPr>
          <p:cNvPr id="13" name="Rectangle 12"/>
          <p:cNvSpPr/>
          <p:nvPr/>
        </p:nvSpPr>
        <p:spPr>
          <a:xfrm>
            <a:off x="257656" y="3343557"/>
            <a:ext cx="1450205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b="1" dirty="0" smtClean="0"/>
              <a:t>Example</a:t>
            </a:r>
            <a:endParaRPr lang="en-US" sz="2800" b="1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220023"/>
              </p:ext>
            </p:extLst>
          </p:nvPr>
        </p:nvGraphicFramePr>
        <p:xfrm>
          <a:off x="2607243" y="3275944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9" name="Equation" r:id="rId3" imgW="965160" imgH="711000" progId="Equation.3">
                  <p:embed/>
                </p:oleObj>
              </mc:Choice>
              <mc:Fallback>
                <p:oleObj name="Equation" r:id="rId3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243" y="3275944"/>
                        <a:ext cx="2290762" cy="1685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319345" y="4116201"/>
            <a:ext cx="82365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11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2781296" y="3323116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781296" y="3343557"/>
            <a:ext cx="156210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364172" y="3857682"/>
            <a:ext cx="979229" cy="9787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314556"/>
              </p:ext>
            </p:extLst>
          </p:nvPr>
        </p:nvGraphicFramePr>
        <p:xfrm>
          <a:off x="5414963" y="3725863"/>
          <a:ext cx="18605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0" name="Equation" r:id="rId5" imgW="825480" imgH="457200" progId="Equation.3">
                  <p:embed/>
                </p:oleObj>
              </mc:Choice>
              <mc:Fallback>
                <p:oleObj name="Equation" r:id="rId5" imgW="825480" imgH="457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3725863"/>
                        <a:ext cx="1860550" cy="103981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ight Arrow 4"/>
          <p:cNvSpPr/>
          <p:nvPr/>
        </p:nvSpPr>
        <p:spPr>
          <a:xfrm>
            <a:off x="4343401" y="4234551"/>
            <a:ext cx="1066799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917151"/>
              </p:ext>
            </p:extLst>
          </p:nvPr>
        </p:nvGraphicFramePr>
        <p:xfrm>
          <a:off x="7315200" y="4256328"/>
          <a:ext cx="13446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1" name="Equation" r:id="rId7" imgW="596880" imgH="215640" progId="Equation.3">
                  <p:embed/>
                </p:oleObj>
              </mc:Choice>
              <mc:Fallback>
                <p:oleObj name="Equation" r:id="rId7" imgW="596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4256328"/>
                        <a:ext cx="1344613" cy="49053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/>
          <p:nvPr/>
        </p:nvSpPr>
        <p:spPr>
          <a:xfrm>
            <a:off x="272171" y="1340040"/>
            <a:ext cx="332830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800" b="1" u="sng" dirty="0" smtClean="0"/>
              <a:t>Minors , </a:t>
            </a:r>
            <a:r>
              <a:rPr lang="en-US" sz="2800" b="1" u="sng" dirty="0" err="1" smtClean="0"/>
              <a:t>M</a:t>
            </a:r>
            <a:r>
              <a:rPr lang="en-US" sz="2800" b="1" u="sng" baseline="-25000" dirty="0" err="1" smtClean="0"/>
              <a:t>ij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59968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5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910247"/>
              </p:ext>
            </p:extLst>
          </p:nvPr>
        </p:nvGraphicFramePr>
        <p:xfrm>
          <a:off x="826288" y="411265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5" name="Equation" r:id="rId3" imgW="965160" imgH="711000" progId="Equation.3">
                  <p:embed/>
                </p:oleObj>
              </mc:Choice>
              <mc:Fallback>
                <p:oleObj name="Equation" r:id="rId3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288" y="411265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950013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12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1572872" y="471620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16784" y="471620"/>
            <a:ext cx="156210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6124" y="985745"/>
            <a:ext cx="489614" cy="9787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605714"/>
              </p:ext>
            </p:extLst>
          </p:nvPr>
        </p:nvGraphicFramePr>
        <p:xfrm>
          <a:off x="3647624" y="854075"/>
          <a:ext cx="160178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6" name="Equation" r:id="rId5" imgW="711000" imgH="457200" progId="Equation.3">
                  <p:embed/>
                </p:oleObj>
              </mc:Choice>
              <mc:Fallback>
                <p:oleObj name="Equation" r:id="rId5" imgW="711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624" y="854075"/>
                        <a:ext cx="1601788" cy="10398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Arrow 8"/>
          <p:cNvSpPr/>
          <p:nvPr/>
        </p:nvSpPr>
        <p:spPr>
          <a:xfrm>
            <a:off x="2578889" y="1057820"/>
            <a:ext cx="1066799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00161" y="969400"/>
            <a:ext cx="489614" cy="9787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1395739" y="1500496"/>
            <a:ext cx="2249950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91200" y="1402527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12</a:t>
            </a:r>
            <a:r>
              <a:rPr lang="en-US" sz="2400" b="1" dirty="0" smtClean="0"/>
              <a:t>=-2 </a:t>
            </a:r>
            <a:endParaRPr lang="en-US" sz="1600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78228"/>
              </p:ext>
            </p:extLst>
          </p:nvPr>
        </p:nvGraphicFramePr>
        <p:xfrm>
          <a:off x="821526" y="2362200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7" name="Equation" r:id="rId7" imgW="965160" imgH="711000" progId="Equation.3">
                  <p:embed/>
                </p:oleObj>
              </mc:Choice>
              <mc:Fallback>
                <p:oleObj name="Equation" r:id="rId7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526" y="2362200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-4762" y="2900948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13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2134156" y="2422555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12022" y="2422555"/>
            <a:ext cx="156210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901362" y="2936680"/>
            <a:ext cx="1121438" cy="9787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56180"/>
              </p:ext>
            </p:extLst>
          </p:nvPr>
        </p:nvGraphicFramePr>
        <p:xfrm>
          <a:off x="3673475" y="2805113"/>
          <a:ext cx="180181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8" name="Equation" r:id="rId8" imgW="799920" imgH="457200" progId="Equation.3">
                  <p:embed/>
                </p:oleObj>
              </mc:Choice>
              <mc:Fallback>
                <p:oleObj name="Equation" r:id="rId8" imgW="799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475" y="2805113"/>
                        <a:ext cx="1801813" cy="103981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ight Arrow 21"/>
          <p:cNvSpPr/>
          <p:nvPr/>
        </p:nvSpPr>
        <p:spPr>
          <a:xfrm>
            <a:off x="2022799" y="3349833"/>
            <a:ext cx="1618127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786438" y="3353462"/>
            <a:ext cx="145256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13</a:t>
            </a:r>
            <a:r>
              <a:rPr lang="en-US" sz="2400" b="1" dirty="0" smtClean="0"/>
              <a:t>= 10 </a:t>
            </a:r>
            <a:endParaRPr lang="en-US" sz="16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78228"/>
              </p:ext>
            </p:extLst>
          </p:nvPr>
        </p:nvGraphicFramePr>
        <p:xfrm>
          <a:off x="793739" y="4281487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9" name="Equation" r:id="rId10" imgW="965160" imgH="711000" progId="Equation.3">
                  <p:embed/>
                </p:oleObj>
              </mc:Choice>
              <mc:Fallback>
                <p:oleObj name="Equation" r:id="rId10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39" y="4281487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-32549" y="4820235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21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974277" y="4341842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84235" y="4893374"/>
            <a:ext cx="156210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489400" y="4312814"/>
            <a:ext cx="1066800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11550"/>
              </p:ext>
            </p:extLst>
          </p:nvPr>
        </p:nvGraphicFramePr>
        <p:xfrm>
          <a:off x="3808413" y="4464050"/>
          <a:ext cx="14017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60" name="Equation" r:id="rId11" imgW="622080" imgH="457200" progId="Equation.3">
                  <p:embed/>
                </p:oleObj>
              </mc:Choice>
              <mc:Fallback>
                <p:oleObj name="Equation" r:id="rId11" imgW="622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3" y="4464050"/>
                        <a:ext cx="1401762" cy="10398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ight Arrow 29"/>
          <p:cNvSpPr/>
          <p:nvPr/>
        </p:nvSpPr>
        <p:spPr>
          <a:xfrm>
            <a:off x="2542485" y="5385395"/>
            <a:ext cx="1273684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5721232" y="5012118"/>
            <a:ext cx="145256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21</a:t>
            </a:r>
            <a:r>
              <a:rPr lang="en-US" sz="2400" b="1" dirty="0" smtClean="0"/>
              <a:t>= 2 </a:t>
            </a:r>
            <a:endParaRPr lang="en-US" sz="1600" dirty="0"/>
          </a:p>
        </p:txBody>
      </p:sp>
      <p:sp>
        <p:nvSpPr>
          <p:cNvPr id="33" name="Right Arrow 32"/>
          <p:cNvSpPr/>
          <p:nvPr/>
        </p:nvSpPr>
        <p:spPr>
          <a:xfrm>
            <a:off x="2574127" y="4647682"/>
            <a:ext cx="1235873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482942" y="5385395"/>
            <a:ext cx="1066800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3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22" grpId="0" animBg="1"/>
      <p:bldP spid="22" grpId="1" animBg="1"/>
      <p:bldP spid="23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30" grpId="0" animBg="1"/>
      <p:bldP spid="30" grpId="1" animBg="1"/>
      <p:bldP spid="31" grpId="0" animBg="1"/>
      <p:bldP spid="33" grpId="0" animBg="1"/>
      <p:bldP spid="33" grpId="1" animBg="1"/>
      <p:bldP spid="32" grpId="0" animBg="1"/>
      <p:bldP spid="3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-38272"/>
            <a:ext cx="1734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……Example</a:t>
            </a:r>
            <a:endParaRPr lang="en-US" sz="2400" b="1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733127"/>
              </p:ext>
            </p:extLst>
          </p:nvPr>
        </p:nvGraphicFramePr>
        <p:xfrm>
          <a:off x="826288" y="411265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0" name="Equation" r:id="rId3" imgW="965160" imgH="711000" progId="Equation.3">
                  <p:embed/>
                </p:oleObj>
              </mc:Choice>
              <mc:Fallback>
                <p:oleObj name="Equation" r:id="rId3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288" y="411265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950013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22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1572872" y="471620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43430" y="994124"/>
            <a:ext cx="1635460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7136" y="423393"/>
            <a:ext cx="489614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175309"/>
              </p:ext>
            </p:extLst>
          </p:nvPr>
        </p:nvGraphicFramePr>
        <p:xfrm>
          <a:off x="3698648" y="724676"/>
          <a:ext cx="131603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1" name="Equation" r:id="rId5" imgW="583920" imgH="457200" progId="Equation.3">
                  <p:embed/>
                </p:oleObj>
              </mc:Choice>
              <mc:Fallback>
                <p:oleObj name="Equation" r:id="rId5" imgW="583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648" y="724676"/>
                        <a:ext cx="1316038" cy="10398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Arrow 8"/>
          <p:cNvSpPr/>
          <p:nvPr/>
        </p:nvSpPr>
        <p:spPr>
          <a:xfrm>
            <a:off x="2667312" y="822547"/>
            <a:ext cx="1021918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66349" y="1451758"/>
            <a:ext cx="489614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flipV="1">
            <a:off x="2667312" y="1492767"/>
            <a:ext cx="1021918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89596" y="1230188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22</a:t>
            </a:r>
            <a:r>
              <a:rPr lang="en-US" sz="2400" b="1" dirty="0" smtClean="0"/>
              <a:t>=1 </a:t>
            </a:r>
            <a:endParaRPr lang="en-US" sz="1600" dirty="0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442294"/>
              </p:ext>
            </p:extLst>
          </p:nvPr>
        </p:nvGraphicFramePr>
        <p:xfrm>
          <a:off x="3787775" y="2805113"/>
          <a:ext cx="1573213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2" name="Equation" r:id="rId7" imgW="698400" imgH="457200" progId="Equation.3">
                  <p:embed/>
                </p:oleObj>
              </mc:Choice>
              <mc:Fallback>
                <p:oleObj name="Equation" r:id="rId7" imgW="698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2805113"/>
                        <a:ext cx="1573213" cy="103981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>
          <a:xfrm>
            <a:off x="5786438" y="3353462"/>
            <a:ext cx="145256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23</a:t>
            </a:r>
            <a:r>
              <a:rPr lang="en-US" sz="2400" b="1" dirty="0" smtClean="0"/>
              <a:t>= -5 </a:t>
            </a:r>
            <a:endParaRPr lang="en-US" sz="16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015240"/>
              </p:ext>
            </p:extLst>
          </p:nvPr>
        </p:nvGraphicFramePr>
        <p:xfrm>
          <a:off x="793739" y="4281487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3" name="Equation" r:id="rId9" imgW="965160" imgH="711000" progId="Equation.3">
                  <p:embed/>
                </p:oleObj>
              </mc:Choice>
              <mc:Fallback>
                <p:oleObj name="Equation" r:id="rId9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39" y="4281487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-32549" y="4820235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31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974277" y="4341842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84235" y="5459420"/>
            <a:ext cx="156210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489400" y="4312814"/>
            <a:ext cx="1066800" cy="96908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160647"/>
              </p:ext>
            </p:extLst>
          </p:nvPr>
        </p:nvGraphicFramePr>
        <p:xfrm>
          <a:off x="3679825" y="4464050"/>
          <a:ext cx="1658938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4" name="Equation" r:id="rId10" imgW="736560" imgH="457200" progId="Equation.3">
                  <p:embed/>
                </p:oleObj>
              </mc:Choice>
              <mc:Fallback>
                <p:oleObj name="Equation" r:id="rId10" imgW="736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825" y="4464050"/>
                        <a:ext cx="1658938" cy="10398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/>
          <p:cNvSpPr/>
          <p:nvPr/>
        </p:nvSpPr>
        <p:spPr>
          <a:xfrm>
            <a:off x="5721232" y="5012118"/>
            <a:ext cx="145256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31</a:t>
            </a:r>
            <a:r>
              <a:rPr lang="en-US" sz="2400" b="1" dirty="0" smtClean="0"/>
              <a:t>= 4 </a:t>
            </a:r>
            <a:endParaRPr lang="en-US" sz="1600" dirty="0"/>
          </a:p>
        </p:txBody>
      </p:sp>
      <p:sp>
        <p:nvSpPr>
          <p:cNvPr id="33" name="Right Arrow 32"/>
          <p:cNvSpPr/>
          <p:nvPr/>
        </p:nvSpPr>
        <p:spPr>
          <a:xfrm>
            <a:off x="2574127" y="4836364"/>
            <a:ext cx="1034249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134156" y="423393"/>
            <a:ext cx="489614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094470" y="1476703"/>
            <a:ext cx="489614" cy="49343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86394"/>
              </p:ext>
            </p:extLst>
          </p:nvPr>
        </p:nvGraphicFramePr>
        <p:xfrm>
          <a:off x="803697" y="2520143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65" name="Equation" r:id="rId12" imgW="965160" imgH="711000" progId="Equation.3">
                  <p:embed/>
                </p:oleObj>
              </mc:Choice>
              <mc:Fallback>
                <p:oleObj name="Equation" r:id="rId12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697" y="2520143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6"/>
          <p:cNvSpPr/>
          <p:nvPr/>
        </p:nvSpPr>
        <p:spPr>
          <a:xfrm>
            <a:off x="-22591" y="3058891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23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38" name="Rectangle 37"/>
          <p:cNvSpPr/>
          <p:nvPr/>
        </p:nvSpPr>
        <p:spPr>
          <a:xfrm>
            <a:off x="2116327" y="2580498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94193" y="3132030"/>
            <a:ext cx="156210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76854" y="2551470"/>
            <a:ext cx="1066800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/>
          <p:cNvSpPr/>
          <p:nvPr/>
        </p:nvSpPr>
        <p:spPr>
          <a:xfrm>
            <a:off x="2037197" y="3624051"/>
            <a:ext cx="1581138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>
            <a:off x="2043655" y="2958908"/>
            <a:ext cx="1574680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970396" y="3624051"/>
            <a:ext cx="1066800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3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31" grpId="0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647154"/>
              </p:ext>
            </p:extLst>
          </p:nvPr>
        </p:nvGraphicFramePr>
        <p:xfrm>
          <a:off x="826288" y="411265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6" name="Equation" r:id="rId3" imgW="965160" imgH="711000" progId="Equation.3">
                  <p:embed/>
                </p:oleObj>
              </mc:Choice>
              <mc:Fallback>
                <p:oleObj name="Equation" r:id="rId3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288" y="411265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0" y="950013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32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572872" y="442592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35152" y="1553028"/>
            <a:ext cx="167276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06124" y="448727"/>
            <a:ext cx="489614" cy="9787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223456"/>
              </p:ext>
            </p:extLst>
          </p:nvPr>
        </p:nvGraphicFramePr>
        <p:xfrm>
          <a:off x="3693888" y="824379"/>
          <a:ext cx="14017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7" name="Equation" r:id="rId5" imgW="622080" imgH="457200" progId="Equation.3">
                  <p:embed/>
                </p:oleObj>
              </mc:Choice>
              <mc:Fallback>
                <p:oleObj name="Equation" r:id="rId5" imgW="622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888" y="824379"/>
                        <a:ext cx="1401762" cy="10398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ight Arrow 7"/>
          <p:cNvSpPr/>
          <p:nvPr/>
        </p:nvSpPr>
        <p:spPr>
          <a:xfrm>
            <a:off x="2607917" y="914563"/>
            <a:ext cx="1066799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100161" y="432382"/>
            <a:ext cx="489614" cy="9787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1392108" y="1352157"/>
            <a:ext cx="2282607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791200" y="1402527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32</a:t>
            </a:r>
            <a:r>
              <a:rPr lang="en-US" sz="2400" b="1" dirty="0" smtClean="0"/>
              <a:t>= 2 </a:t>
            </a:r>
            <a:endParaRPr lang="en-US" sz="1600" dirty="0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725441"/>
              </p:ext>
            </p:extLst>
          </p:nvPr>
        </p:nvGraphicFramePr>
        <p:xfrm>
          <a:off x="811882" y="2179637"/>
          <a:ext cx="2290762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8" name="Equation" r:id="rId7" imgW="965160" imgH="711000" progId="Equation.3">
                  <p:embed/>
                </p:oleObj>
              </mc:Choice>
              <mc:Fallback>
                <p:oleObj name="Equation" r:id="rId7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882" y="2179637"/>
                        <a:ext cx="2290762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-14406" y="2718385"/>
            <a:ext cx="82729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33</a:t>
            </a:r>
            <a:r>
              <a:rPr lang="en-US" sz="2400" b="1" dirty="0" smtClean="0"/>
              <a:t> 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2124512" y="2239992"/>
            <a:ext cx="449928" cy="1545927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02378" y="3357570"/>
            <a:ext cx="1562105" cy="411480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70525" y="2210964"/>
            <a:ext cx="1066800" cy="96908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778270"/>
              </p:ext>
            </p:extLst>
          </p:nvPr>
        </p:nvGraphicFramePr>
        <p:xfrm>
          <a:off x="3555092" y="2362200"/>
          <a:ext cx="203041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9" name="Equation" r:id="rId8" imgW="901440" imgH="457200" progId="Equation.3">
                  <p:embed/>
                </p:oleObj>
              </mc:Choice>
              <mc:Fallback>
                <p:oleObj name="Equation" r:id="rId8" imgW="9014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5092" y="2362200"/>
                        <a:ext cx="2030413" cy="10398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5739375" y="2910268"/>
            <a:ext cx="145256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33</a:t>
            </a:r>
            <a:r>
              <a:rPr lang="en-US" sz="2400" b="1" dirty="0" smtClean="0"/>
              <a:t>= -10 </a:t>
            </a:r>
            <a:endParaRPr lang="en-US" sz="1600" dirty="0"/>
          </a:p>
        </p:txBody>
      </p:sp>
      <p:sp>
        <p:nvSpPr>
          <p:cNvPr id="19" name="Right Arrow 18"/>
          <p:cNvSpPr/>
          <p:nvPr/>
        </p:nvSpPr>
        <p:spPr>
          <a:xfrm>
            <a:off x="2022800" y="2734514"/>
            <a:ext cx="1603719" cy="109728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0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18" grpId="0" animBg="1"/>
      <p:bldP spid="19" grpId="0" animBg="1"/>
      <p:bldP spid="19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615994" y="707518"/>
            <a:ext cx="39624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11</a:t>
            </a:r>
            <a:r>
              <a:rPr lang="en-US" sz="2400" b="1" dirty="0" smtClean="0"/>
              <a:t>= -4      M</a:t>
            </a:r>
            <a:r>
              <a:rPr lang="en-US" sz="2400" b="1" baseline="-25000" dirty="0" smtClean="0"/>
              <a:t>12</a:t>
            </a:r>
            <a:r>
              <a:rPr lang="en-US" sz="2400" b="1" dirty="0" smtClean="0"/>
              <a:t>= -2    M</a:t>
            </a:r>
            <a:r>
              <a:rPr lang="en-US" sz="2400" b="1" baseline="-25000" dirty="0" smtClean="0"/>
              <a:t>13</a:t>
            </a:r>
            <a:r>
              <a:rPr lang="en-US" sz="2400" b="1" dirty="0" smtClean="0"/>
              <a:t>= 10 </a:t>
            </a:r>
          </a:p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21</a:t>
            </a:r>
            <a:r>
              <a:rPr lang="en-US" sz="2400" b="1" dirty="0"/>
              <a:t>= </a:t>
            </a:r>
            <a:r>
              <a:rPr lang="en-US" sz="2400" b="1" dirty="0" smtClean="0"/>
              <a:t>2       M</a:t>
            </a:r>
            <a:r>
              <a:rPr lang="en-US" sz="2400" b="1" baseline="-25000" dirty="0" smtClean="0"/>
              <a:t>22</a:t>
            </a:r>
            <a:r>
              <a:rPr lang="en-US" sz="2400" b="1" dirty="0" smtClean="0"/>
              <a:t>= 1      M</a:t>
            </a:r>
            <a:r>
              <a:rPr lang="en-US" sz="2400" b="1" baseline="-25000" dirty="0" smtClean="0"/>
              <a:t>23</a:t>
            </a:r>
            <a:r>
              <a:rPr lang="en-US" sz="2400" b="1" dirty="0" smtClean="0"/>
              <a:t>= -5 </a:t>
            </a:r>
            <a:endParaRPr lang="en-US" sz="2400" b="1" dirty="0"/>
          </a:p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31</a:t>
            </a:r>
            <a:r>
              <a:rPr lang="en-US" sz="2400" b="1" dirty="0"/>
              <a:t>= </a:t>
            </a:r>
            <a:r>
              <a:rPr lang="en-US" sz="2400" b="1" dirty="0" smtClean="0"/>
              <a:t>4       M</a:t>
            </a:r>
            <a:r>
              <a:rPr lang="en-US" sz="2400" b="1" baseline="-25000" dirty="0" smtClean="0"/>
              <a:t>32</a:t>
            </a:r>
            <a:r>
              <a:rPr lang="en-US" sz="2400" b="1" dirty="0" smtClean="0"/>
              <a:t>= </a:t>
            </a:r>
            <a:r>
              <a:rPr lang="en-US" sz="2400" b="1" dirty="0"/>
              <a:t>2      </a:t>
            </a:r>
            <a:r>
              <a:rPr lang="en-US" sz="2400" b="1" dirty="0" smtClean="0"/>
              <a:t>M</a:t>
            </a:r>
            <a:r>
              <a:rPr lang="en-US" sz="2400" b="1" baseline="-25000" dirty="0" smtClean="0"/>
              <a:t>33</a:t>
            </a:r>
            <a:r>
              <a:rPr lang="en-US" sz="2400" b="1" dirty="0" smtClean="0"/>
              <a:t>= -10 </a:t>
            </a:r>
            <a:endParaRPr lang="en-US" sz="2400" b="1" dirty="0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142941"/>
              </p:ext>
            </p:extLst>
          </p:nvPr>
        </p:nvGraphicFramePr>
        <p:xfrm>
          <a:off x="289834" y="3495558"/>
          <a:ext cx="289242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6" name="Equation" r:id="rId3" imgW="1218960" imgH="711000" progId="Equation.3">
                  <p:embed/>
                </p:oleObj>
              </mc:Choice>
              <mc:Fallback>
                <p:oleObj name="Equation" r:id="rId3" imgW="1218960" imgH="711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34" y="3495558"/>
                        <a:ext cx="2892425" cy="1685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>
          <a:xfrm>
            <a:off x="4655680" y="147935"/>
            <a:ext cx="392997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 algn="ctr"/>
            <a:r>
              <a:rPr lang="en-US" sz="2400" b="1" dirty="0" smtClean="0">
                <a:solidFill>
                  <a:srgbClr val="FF0000"/>
                </a:solidFill>
              </a:rPr>
              <a:t> Minors of A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8585" y="897587"/>
            <a:ext cx="3962400" cy="16312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000" b="1" dirty="0" smtClean="0"/>
              <a:t>Co-factors are equal in </a:t>
            </a:r>
            <a:r>
              <a:rPr lang="en-US" sz="2000" b="1" smtClean="0"/>
              <a:t>their magnitudes of Minors</a:t>
            </a:r>
            <a:r>
              <a:rPr lang="en-US" sz="2000" smtClean="0"/>
              <a:t>.</a:t>
            </a:r>
            <a:r>
              <a:rPr lang="si-LK" sz="2000" b="1" u="sng" dirty="0" smtClean="0"/>
              <a:t> </a:t>
            </a:r>
            <a:endParaRPr lang="en-US" sz="2000" b="1" u="sng" dirty="0" smtClean="0"/>
          </a:p>
          <a:p>
            <a:pPr marL="0" lvl="1"/>
            <a:r>
              <a:rPr lang="en-US" sz="2000" b="1" dirty="0" smtClean="0"/>
              <a:t>But the sign is opposite when their sum of row number and column number is </a:t>
            </a:r>
            <a:r>
              <a:rPr lang="en-US" sz="2000" b="1" u="sng" dirty="0" smtClean="0"/>
              <a:t>odd</a:t>
            </a:r>
            <a:r>
              <a:rPr lang="si-LK" sz="2000" b="1" dirty="0" smtClean="0"/>
              <a:t>.</a:t>
            </a:r>
            <a:endParaRPr lang="en-US" sz="2000" b="1" dirty="0" smtClean="0"/>
          </a:p>
        </p:txBody>
      </p:sp>
      <p:sp>
        <p:nvSpPr>
          <p:cNvPr id="7" name="Rectangle 6"/>
          <p:cNvSpPr/>
          <p:nvPr/>
        </p:nvSpPr>
        <p:spPr>
          <a:xfrm>
            <a:off x="288585" y="204346"/>
            <a:ext cx="369002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400" b="1" u="sng" dirty="0" smtClean="0"/>
              <a:t>Co-factors, </a:t>
            </a:r>
            <a:r>
              <a:rPr lang="en-US" sz="2400" b="1" u="sng" dirty="0" err="1" smtClean="0"/>
              <a:t>C</a:t>
            </a:r>
            <a:r>
              <a:rPr lang="en-US" sz="2400" b="1" u="sng" baseline="-25000" dirty="0" err="1" smtClean="0"/>
              <a:t>ij</a:t>
            </a:r>
            <a:endParaRPr lang="en-US" sz="1600" u="sng" dirty="0"/>
          </a:p>
        </p:txBody>
      </p:sp>
      <p:sp>
        <p:nvSpPr>
          <p:cNvPr id="9" name="Rectangle 8"/>
          <p:cNvSpPr/>
          <p:nvPr/>
        </p:nvSpPr>
        <p:spPr>
          <a:xfrm>
            <a:off x="4659565" y="2244975"/>
            <a:ext cx="392997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 algn="ctr"/>
            <a:r>
              <a:rPr lang="en-US" sz="2400" b="1" dirty="0" smtClean="0">
                <a:solidFill>
                  <a:srgbClr val="FF0000"/>
                </a:solidFill>
              </a:rPr>
              <a:t>Co-factors of A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649693" y="707518"/>
            <a:ext cx="533400" cy="5334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866215" y="1040982"/>
            <a:ext cx="533400" cy="5334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595251" y="1381704"/>
            <a:ext cx="533400" cy="5334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277343" y="1040982"/>
            <a:ext cx="533400" cy="5334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627136" y="2773757"/>
            <a:ext cx="39624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C</a:t>
            </a:r>
            <a:r>
              <a:rPr lang="en-US" sz="2400" b="1" baseline="-25000" dirty="0" smtClean="0"/>
              <a:t>11</a:t>
            </a:r>
            <a:r>
              <a:rPr lang="en-US" sz="2400" b="1" dirty="0" smtClean="0"/>
              <a:t>= -4      </a:t>
            </a:r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12</a:t>
            </a:r>
            <a:r>
              <a:rPr lang="en-US" sz="2400" b="1" dirty="0" smtClean="0">
                <a:solidFill>
                  <a:srgbClr val="FF0000"/>
                </a:solidFill>
              </a:rPr>
              <a:t>= +2    </a:t>
            </a:r>
            <a:r>
              <a:rPr lang="en-US" sz="2400" b="1" dirty="0" smtClean="0"/>
              <a:t>C</a:t>
            </a:r>
            <a:r>
              <a:rPr lang="en-US" sz="2400" b="1" baseline="-25000" dirty="0" smtClean="0"/>
              <a:t>13</a:t>
            </a:r>
            <a:r>
              <a:rPr lang="en-US" sz="2400" b="1" dirty="0" smtClean="0"/>
              <a:t>= 10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3350" y="3239793"/>
            <a:ext cx="39624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21</a:t>
            </a:r>
            <a:r>
              <a:rPr lang="en-US" sz="2400" b="1" dirty="0">
                <a:solidFill>
                  <a:srgbClr val="FF0000"/>
                </a:solidFill>
              </a:rPr>
              <a:t>= -2       </a:t>
            </a:r>
            <a:r>
              <a:rPr lang="en-US" sz="2400" b="1" dirty="0" smtClean="0"/>
              <a:t>C</a:t>
            </a:r>
            <a:r>
              <a:rPr lang="en-US" sz="2400" b="1" baseline="-25000" dirty="0" smtClean="0"/>
              <a:t>22</a:t>
            </a:r>
            <a:r>
              <a:rPr lang="en-US" sz="2400" b="1" dirty="0"/>
              <a:t>= 1      </a:t>
            </a:r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23</a:t>
            </a:r>
            <a:r>
              <a:rPr lang="en-US" sz="2400" b="1" dirty="0">
                <a:solidFill>
                  <a:srgbClr val="FF0000"/>
                </a:solidFill>
              </a:rPr>
              <a:t>= +5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23507" y="3712598"/>
            <a:ext cx="39624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C</a:t>
            </a:r>
            <a:r>
              <a:rPr lang="en-US" sz="2400" b="1" baseline="-25000" dirty="0" smtClean="0"/>
              <a:t>31</a:t>
            </a:r>
            <a:r>
              <a:rPr lang="en-US" sz="2400" b="1" dirty="0"/>
              <a:t>= 4       </a:t>
            </a:r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32</a:t>
            </a:r>
            <a:r>
              <a:rPr lang="en-US" sz="2400" b="1" dirty="0">
                <a:solidFill>
                  <a:srgbClr val="FF0000"/>
                </a:solidFill>
              </a:rPr>
              <a:t>= -2      </a:t>
            </a:r>
            <a:r>
              <a:rPr lang="en-US" sz="2400" b="1" dirty="0" smtClean="0"/>
              <a:t>C</a:t>
            </a:r>
            <a:r>
              <a:rPr lang="en-US" sz="2400" b="1" baseline="-25000" dirty="0" smtClean="0"/>
              <a:t>33</a:t>
            </a:r>
            <a:r>
              <a:rPr lang="en-US" sz="2400" b="1" dirty="0"/>
              <a:t>= -10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2543" y="2849139"/>
            <a:ext cx="1059801" cy="37470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643350" y="3283270"/>
            <a:ext cx="1221131" cy="37470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139808" y="3306955"/>
            <a:ext cx="1071125" cy="37470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5860351" y="3770526"/>
            <a:ext cx="1091994" cy="37470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57587"/>
              </p:ext>
            </p:extLst>
          </p:nvPr>
        </p:nvGraphicFramePr>
        <p:xfrm>
          <a:off x="293581" y="2699547"/>
          <a:ext cx="245110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7" name="Equation" r:id="rId5" imgW="939392" imgH="253890" progId="Equation.3">
                  <p:embed/>
                </p:oleObj>
              </mc:Choice>
              <mc:Fallback>
                <p:oleObj name="Equation" r:id="rId5" imgW="939392" imgH="25389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81" y="2699547"/>
                        <a:ext cx="2451100" cy="661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431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6" grpId="0" animBg="1"/>
      <p:bldP spid="7" grpId="0" animBg="1"/>
      <p:bldP spid="9" grpId="0" animBg="1"/>
      <p:bldP spid="15" grpId="0" animBg="1"/>
      <p:bldP spid="15" grpId="2" animBg="1"/>
      <p:bldP spid="16" grpId="0" animBg="1"/>
      <p:bldP spid="16" grpId="1" animBg="1"/>
      <p:bldP spid="17" grpId="0" animBg="1"/>
      <p:bldP spid="17" grpId="2" animBg="1"/>
      <p:bldP spid="18" grpId="0" animBg="1"/>
      <p:bldP spid="18" grpId="2" animBg="1"/>
      <p:bldP spid="19" grpId="0" animBg="1"/>
      <p:bldP spid="21" grpId="0" animBg="1"/>
      <p:bldP spid="22" grpId="0" animBg="1"/>
      <p:bldP spid="10" grpId="0" animBg="1"/>
      <p:bldP spid="10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525320"/>
              </p:ext>
            </p:extLst>
          </p:nvPr>
        </p:nvGraphicFramePr>
        <p:xfrm>
          <a:off x="422755" y="1184421"/>
          <a:ext cx="15684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3" name="Equation" r:id="rId3" imgW="660240" imgH="469800" progId="Equation.3">
                  <p:embed/>
                </p:oleObj>
              </mc:Choice>
              <mc:Fallback>
                <p:oleObj name="Equation" r:id="rId3" imgW="6602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5" y="1184421"/>
                        <a:ext cx="1568450" cy="1114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2406718" y="137574"/>
            <a:ext cx="414648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800" dirty="0" smtClean="0"/>
              <a:t>Minors of 2 x 2 size matrix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2088" y="1259604"/>
            <a:ext cx="449928" cy="938585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66199" y="1259604"/>
            <a:ext cx="957801" cy="386482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34386" y="1708837"/>
            <a:ext cx="489614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57400" y="1478004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11</a:t>
            </a:r>
            <a:r>
              <a:rPr lang="en-US" sz="2400" b="1" dirty="0" smtClean="0"/>
              <a:t>= d</a:t>
            </a:r>
            <a:endParaRPr lang="en-US" sz="1600" dirty="0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922172"/>
              </p:ext>
            </p:extLst>
          </p:nvPr>
        </p:nvGraphicFramePr>
        <p:xfrm>
          <a:off x="3851755" y="1253688"/>
          <a:ext cx="15684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4" name="Equation" r:id="rId5" imgW="660240" imgH="469800" progId="Equation.3">
                  <p:embed/>
                </p:oleObj>
              </mc:Choice>
              <mc:Fallback>
                <p:oleObj name="Equation" r:id="rId5" imgW="6602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755" y="1253688"/>
                        <a:ext cx="1568450" cy="1114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4512631" y="1351247"/>
            <a:ext cx="449928" cy="938585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995199" y="1328871"/>
            <a:ext cx="957801" cy="386482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995199" y="1795846"/>
            <a:ext cx="489614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486400" y="1547271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12</a:t>
            </a:r>
            <a:r>
              <a:rPr lang="en-US" sz="2400" b="1" dirty="0" smtClean="0"/>
              <a:t>= c</a:t>
            </a:r>
            <a:endParaRPr lang="en-US" sz="1600" dirty="0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609445"/>
              </p:ext>
            </p:extLst>
          </p:nvPr>
        </p:nvGraphicFramePr>
        <p:xfrm>
          <a:off x="396909" y="2376399"/>
          <a:ext cx="15684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5" name="Equation" r:id="rId6" imgW="660240" imgH="469800" progId="Equation.3">
                  <p:embed/>
                </p:oleObj>
              </mc:Choice>
              <mc:Fallback>
                <p:oleObj name="Equation" r:id="rId6" imgW="6602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909" y="2376399"/>
                        <a:ext cx="1568450" cy="1114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/>
          <p:nvPr/>
        </p:nvSpPr>
        <p:spPr>
          <a:xfrm>
            <a:off x="506242" y="2451582"/>
            <a:ext cx="449928" cy="938585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40353" y="2989171"/>
            <a:ext cx="957801" cy="386482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008540" y="2421853"/>
            <a:ext cx="489614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31554" y="2669982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21</a:t>
            </a:r>
            <a:r>
              <a:rPr lang="en-US" sz="2400" b="1" dirty="0" smtClean="0"/>
              <a:t>= b</a:t>
            </a:r>
            <a:endParaRPr lang="en-US" sz="1600" dirty="0"/>
          </a:p>
        </p:txBody>
      </p:sp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155272"/>
              </p:ext>
            </p:extLst>
          </p:nvPr>
        </p:nvGraphicFramePr>
        <p:xfrm>
          <a:off x="3825909" y="2445666"/>
          <a:ext cx="15684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6" name="Equation" r:id="rId7" imgW="660240" imgH="469800" progId="Equation.3">
                  <p:embed/>
                </p:oleObj>
              </mc:Choice>
              <mc:Fallback>
                <p:oleObj name="Equation" r:id="rId7" imgW="6602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909" y="2445666"/>
                        <a:ext cx="1568450" cy="1114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>
          <a:xfrm>
            <a:off x="4486785" y="2543225"/>
            <a:ext cx="449928" cy="938585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969353" y="3086895"/>
            <a:ext cx="957801" cy="386482"/>
          </a:xfrm>
          <a:prstGeom prst="rect">
            <a:avLst/>
          </a:prstGeom>
          <a:solidFill>
            <a:schemeClr val="accent3">
              <a:lumMod val="20000"/>
              <a:lumOff val="80000"/>
              <a:alpha val="49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969353" y="2523376"/>
            <a:ext cx="489614" cy="48935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460554" y="2739249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22</a:t>
            </a:r>
            <a:r>
              <a:rPr lang="en-US" sz="2400" b="1" dirty="0" smtClean="0"/>
              <a:t>= a</a:t>
            </a:r>
            <a:endParaRPr lang="en-US" sz="1600" dirty="0"/>
          </a:p>
        </p:txBody>
      </p:sp>
      <p:sp>
        <p:nvSpPr>
          <p:cNvPr id="30" name="Rectangle 29"/>
          <p:cNvSpPr/>
          <p:nvPr/>
        </p:nvSpPr>
        <p:spPr>
          <a:xfrm>
            <a:off x="1939513" y="3733800"/>
            <a:ext cx="427078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dirty="0" smtClean="0"/>
              <a:t>Co-factors of </a:t>
            </a:r>
            <a:r>
              <a:rPr lang="en-US" sz="2400" dirty="0"/>
              <a:t>2 x 2 size matrix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3790" y="4255122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C</a:t>
            </a:r>
            <a:r>
              <a:rPr lang="en-US" sz="2400" b="1" baseline="-25000" dirty="0" smtClean="0"/>
              <a:t>11</a:t>
            </a:r>
            <a:r>
              <a:rPr lang="en-US" sz="2400" b="1" dirty="0" smtClean="0"/>
              <a:t>= d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3748989" y="4261085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12</a:t>
            </a:r>
            <a:r>
              <a:rPr lang="en-US" sz="2400" b="1" dirty="0" smtClean="0">
                <a:solidFill>
                  <a:srgbClr val="FF0000"/>
                </a:solidFill>
              </a:rPr>
              <a:t>= -c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333790" y="4742188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21</a:t>
            </a:r>
            <a:r>
              <a:rPr lang="en-US" sz="2400" b="1" dirty="0" smtClean="0">
                <a:solidFill>
                  <a:srgbClr val="FF0000"/>
                </a:solidFill>
              </a:rPr>
              <a:t>= -b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750199" y="4742188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/>
              <a:t>C</a:t>
            </a:r>
            <a:r>
              <a:rPr lang="en-US" sz="2400" b="1" baseline="-25000" dirty="0" smtClean="0"/>
              <a:t>22</a:t>
            </a:r>
            <a:r>
              <a:rPr lang="en-US" sz="2400" b="1" dirty="0" smtClean="0"/>
              <a:t>= 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420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7" grpId="1" animBg="1"/>
      <p:bldP spid="11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21" grpId="0" animBg="1"/>
      <p:bldP spid="22" grpId="0" animBg="1"/>
      <p:bldP spid="23" grpId="0" animBg="1"/>
      <p:bldP spid="23" grpId="1" animBg="1"/>
      <p:bldP spid="24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767466"/>
              </p:ext>
            </p:extLst>
          </p:nvPr>
        </p:nvGraphicFramePr>
        <p:xfrm>
          <a:off x="700088" y="1131888"/>
          <a:ext cx="177958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8" name="Equation" r:id="rId3" imgW="749160" imgH="469800" progId="Equation.3">
                  <p:embed/>
                </p:oleObj>
              </mc:Choice>
              <mc:Fallback>
                <p:oleObj name="Equation" r:id="rId3" imgW="7491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1131888"/>
                        <a:ext cx="1779587" cy="1114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2406718" y="137574"/>
            <a:ext cx="544188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dirty="0" smtClean="0"/>
              <a:t>Minors and Co-factors  </a:t>
            </a:r>
            <a:r>
              <a:rPr lang="en-US" sz="2400" dirty="0"/>
              <a:t>of 2 x 2 size matrix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4467" y="1318890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11</a:t>
            </a:r>
            <a:r>
              <a:rPr lang="en-US" sz="2400" b="1" dirty="0" smtClean="0"/>
              <a:t>= -5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4062267" y="1318889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12</a:t>
            </a:r>
            <a:r>
              <a:rPr lang="en-US" sz="2400" b="1" dirty="0" smtClean="0"/>
              <a:t>= 7</a:t>
            </a:r>
            <a:endParaRPr 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2614467" y="1780555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21</a:t>
            </a:r>
            <a:r>
              <a:rPr lang="en-US" sz="2400" b="1" dirty="0" smtClean="0"/>
              <a:t>= -4</a:t>
            </a:r>
            <a:endParaRPr lang="en-US" sz="1600" dirty="0"/>
          </a:p>
        </p:txBody>
      </p:sp>
      <p:sp>
        <p:nvSpPr>
          <p:cNvPr id="29" name="Rectangle 28"/>
          <p:cNvSpPr/>
          <p:nvPr/>
        </p:nvSpPr>
        <p:spPr>
          <a:xfrm>
            <a:off x="4055714" y="1780555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M</a:t>
            </a:r>
            <a:r>
              <a:rPr lang="en-US" sz="2400" b="1" baseline="-25000" dirty="0" smtClean="0"/>
              <a:t>22</a:t>
            </a:r>
            <a:r>
              <a:rPr lang="en-US" sz="2400" b="1" dirty="0" smtClean="0"/>
              <a:t>= 2</a:t>
            </a:r>
            <a:endParaRPr lang="en-US" sz="1600" dirty="0"/>
          </a:p>
        </p:txBody>
      </p:sp>
      <p:sp>
        <p:nvSpPr>
          <p:cNvPr id="31" name="Rectangle 30"/>
          <p:cNvSpPr/>
          <p:nvPr/>
        </p:nvSpPr>
        <p:spPr>
          <a:xfrm>
            <a:off x="2570787" y="3094334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C</a:t>
            </a:r>
            <a:r>
              <a:rPr lang="en-US" sz="2400" b="1" baseline="-25000" dirty="0" smtClean="0"/>
              <a:t>11</a:t>
            </a:r>
            <a:r>
              <a:rPr lang="en-US" sz="2400" b="1" dirty="0" smtClean="0"/>
              <a:t>= -5</a:t>
            </a:r>
            <a:endParaRPr lang="en-US" sz="1600" dirty="0"/>
          </a:p>
        </p:txBody>
      </p:sp>
      <p:sp>
        <p:nvSpPr>
          <p:cNvPr id="32" name="Rectangle 31"/>
          <p:cNvSpPr/>
          <p:nvPr/>
        </p:nvSpPr>
        <p:spPr>
          <a:xfrm>
            <a:off x="3985986" y="3100297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12</a:t>
            </a:r>
            <a:r>
              <a:rPr lang="en-US" sz="2400" b="1" dirty="0" smtClean="0">
                <a:solidFill>
                  <a:srgbClr val="FF0000"/>
                </a:solidFill>
              </a:rPr>
              <a:t>= -7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570787" y="3581400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>
                <a:solidFill>
                  <a:srgbClr val="FF0000"/>
                </a:solidFill>
              </a:rPr>
              <a:t>C</a:t>
            </a:r>
            <a:r>
              <a:rPr lang="en-US" sz="2400" b="1" baseline="-25000" dirty="0" smtClean="0">
                <a:solidFill>
                  <a:srgbClr val="FF0000"/>
                </a:solidFill>
              </a:rPr>
              <a:t>21</a:t>
            </a:r>
            <a:r>
              <a:rPr lang="en-US" sz="2400" b="1" dirty="0" smtClean="0">
                <a:solidFill>
                  <a:srgbClr val="FF0000"/>
                </a:solidFill>
              </a:rPr>
              <a:t>= 4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987196" y="3581400"/>
            <a:ext cx="14478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/>
              <a:t>C</a:t>
            </a:r>
            <a:r>
              <a:rPr lang="en-US" sz="2400" b="1" baseline="-25000" dirty="0" smtClean="0"/>
              <a:t>22</a:t>
            </a:r>
            <a:r>
              <a:rPr lang="en-US" sz="2400" b="1" dirty="0" smtClean="0"/>
              <a:t>= 2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156541" y="492088"/>
            <a:ext cx="1241878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Example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137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9" grpId="0" animBg="1"/>
      <p:bldP spid="24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2600" y="128082"/>
            <a:ext cx="75438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800" b="1" dirty="0" smtClean="0"/>
              <a:t>Adjoin matrix -  adj.(A)</a:t>
            </a:r>
            <a:endParaRPr 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19345" y="678320"/>
            <a:ext cx="4786056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u="sng" dirty="0"/>
              <a:t>Defined only with square matrices</a:t>
            </a:r>
            <a:r>
              <a:rPr lang="si-LK" sz="2400" dirty="0"/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7529" y="1193802"/>
            <a:ext cx="858133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Adjoin matrix is the transpose matrix of the square matrix which is made co-factors in same order</a:t>
            </a:r>
            <a:r>
              <a:rPr lang="si-LK" sz="2400" b="1" dirty="0" smtClean="0"/>
              <a:t>.</a:t>
            </a:r>
            <a:endParaRPr lang="en-US" sz="1600" b="1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78061"/>
              </p:ext>
            </p:extLst>
          </p:nvPr>
        </p:nvGraphicFramePr>
        <p:xfrm>
          <a:off x="415925" y="2286224"/>
          <a:ext cx="30130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0" name="Equation" r:id="rId3" imgW="1269720" imgH="711000" progId="Equation.3">
                  <p:embed/>
                </p:oleObj>
              </mc:Choice>
              <mc:Fallback>
                <p:oleObj name="Equation" r:id="rId3" imgW="1269720" imgH="7110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" y="2286224"/>
                        <a:ext cx="3013075" cy="1685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/>
          <p:nvPr/>
        </p:nvSpPr>
        <p:spPr>
          <a:xfrm>
            <a:off x="3429000" y="2886073"/>
            <a:ext cx="801859" cy="3048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646324"/>
              </p:ext>
            </p:extLst>
          </p:nvPr>
        </p:nvGraphicFramePr>
        <p:xfrm>
          <a:off x="4227974" y="2099808"/>
          <a:ext cx="3949700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1" name="Equation" r:id="rId5" imgW="1333440" imgH="736560" progId="Equation.3">
                  <p:embed/>
                </p:oleObj>
              </mc:Choice>
              <mc:Fallback>
                <p:oleObj name="Equation" r:id="rId5" imgW="133344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974" y="2099808"/>
                        <a:ext cx="3949700" cy="2022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Arrow 8"/>
          <p:cNvSpPr/>
          <p:nvPr/>
        </p:nvSpPr>
        <p:spPr>
          <a:xfrm rot="5400000">
            <a:off x="6743212" y="4003652"/>
            <a:ext cx="603240" cy="304801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23002" y="2437565"/>
            <a:ext cx="1524000" cy="43088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200" b="1" dirty="0" smtClean="0"/>
              <a:t>C</a:t>
            </a:r>
            <a:r>
              <a:rPr lang="en-US" sz="2200" b="1" baseline="-25000" dirty="0" smtClean="0"/>
              <a:t>11</a:t>
            </a:r>
            <a:r>
              <a:rPr lang="en-US" sz="2200" b="1" dirty="0"/>
              <a:t> </a:t>
            </a:r>
            <a:r>
              <a:rPr lang="en-US" sz="2200" b="1" dirty="0" smtClean="0"/>
              <a:t> C</a:t>
            </a:r>
            <a:r>
              <a:rPr lang="en-US" sz="2200" b="1" baseline="-25000" dirty="0" smtClean="0"/>
              <a:t>12  </a:t>
            </a:r>
            <a:r>
              <a:rPr lang="en-US" sz="2200" b="1" dirty="0" smtClean="0"/>
              <a:t>C</a:t>
            </a:r>
            <a:r>
              <a:rPr lang="en-US" sz="2200" b="1" baseline="-25000" dirty="0" smtClean="0"/>
              <a:t>13</a:t>
            </a:r>
            <a:r>
              <a:rPr lang="en-US" sz="2200" b="1" dirty="0" smtClean="0"/>
              <a:t>  </a:t>
            </a:r>
            <a:endParaRPr lang="en-US" sz="2200" dirty="0"/>
          </a:p>
        </p:txBody>
      </p:sp>
      <p:sp>
        <p:nvSpPr>
          <p:cNvPr id="11" name="Rectangle 10"/>
          <p:cNvSpPr/>
          <p:nvPr/>
        </p:nvSpPr>
        <p:spPr>
          <a:xfrm>
            <a:off x="6223002" y="2913744"/>
            <a:ext cx="1524000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200" b="1" dirty="0" smtClean="0"/>
              <a:t>C</a:t>
            </a:r>
            <a:r>
              <a:rPr lang="en-US" sz="2200" b="1" baseline="-25000" dirty="0" smtClean="0"/>
              <a:t>21</a:t>
            </a:r>
            <a:r>
              <a:rPr lang="en-US" sz="2200" b="1" dirty="0" smtClean="0"/>
              <a:t>  C</a:t>
            </a:r>
            <a:r>
              <a:rPr lang="en-US" sz="2200" b="1" baseline="-25000" dirty="0" smtClean="0"/>
              <a:t>22  </a:t>
            </a:r>
            <a:r>
              <a:rPr lang="en-US" sz="2200" b="1" dirty="0" smtClean="0"/>
              <a:t>C</a:t>
            </a:r>
            <a:r>
              <a:rPr lang="en-US" sz="2200" b="1" baseline="-25000" dirty="0" smtClean="0"/>
              <a:t>23</a:t>
            </a:r>
            <a:r>
              <a:rPr lang="en-US" sz="2200" b="1" dirty="0" smtClean="0"/>
              <a:t>  </a:t>
            </a:r>
            <a:endParaRPr lang="en-US" sz="2200" dirty="0"/>
          </a:p>
        </p:txBody>
      </p:sp>
      <p:sp>
        <p:nvSpPr>
          <p:cNvPr id="12" name="Rectangle 11"/>
          <p:cNvSpPr/>
          <p:nvPr/>
        </p:nvSpPr>
        <p:spPr>
          <a:xfrm>
            <a:off x="6212116" y="3423545"/>
            <a:ext cx="1524000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200" b="1" dirty="0" smtClean="0"/>
              <a:t>C</a:t>
            </a:r>
            <a:r>
              <a:rPr lang="en-US" sz="2200" b="1" baseline="-25000" dirty="0" smtClean="0"/>
              <a:t>31</a:t>
            </a:r>
            <a:r>
              <a:rPr lang="en-US" sz="2200" b="1" dirty="0" smtClean="0"/>
              <a:t>  C</a:t>
            </a:r>
            <a:r>
              <a:rPr lang="en-US" sz="2200" b="1" baseline="-25000" dirty="0" smtClean="0"/>
              <a:t>32  </a:t>
            </a:r>
            <a:r>
              <a:rPr lang="en-US" sz="2200" b="1" dirty="0" smtClean="0"/>
              <a:t>C</a:t>
            </a:r>
            <a:r>
              <a:rPr lang="en-US" sz="2200" b="1" baseline="-25000" dirty="0" smtClean="0"/>
              <a:t>33</a:t>
            </a:r>
            <a:r>
              <a:rPr lang="en-US" sz="2200" b="1" dirty="0" smtClean="0"/>
              <a:t>  </a:t>
            </a:r>
            <a:endParaRPr lang="en-US" sz="2200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633216"/>
              </p:ext>
            </p:extLst>
          </p:nvPr>
        </p:nvGraphicFramePr>
        <p:xfrm>
          <a:off x="4368802" y="4506913"/>
          <a:ext cx="3890963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2" name="Equation" r:id="rId7" imgW="1269720" imgH="711000" progId="Equation.3">
                  <p:embed/>
                </p:oleObj>
              </mc:Choice>
              <mc:Fallback>
                <p:oleObj name="Equation" r:id="rId7" imgW="12697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2" y="4506913"/>
                        <a:ext cx="3890963" cy="1952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6357178" y="4703785"/>
            <a:ext cx="533400" cy="15633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C</a:t>
            </a:r>
            <a:r>
              <a:rPr lang="en-US" sz="2200" b="1" baseline="-25000" dirty="0" smtClean="0"/>
              <a:t>11</a:t>
            </a:r>
            <a:r>
              <a:rPr lang="en-US" sz="2200" b="1" dirty="0" smtClean="0"/>
              <a:t>  C</a:t>
            </a:r>
            <a:r>
              <a:rPr lang="en-US" sz="2200" b="1" baseline="-25000" dirty="0" smtClean="0"/>
              <a:t>12  </a:t>
            </a:r>
            <a:r>
              <a:rPr lang="en-US" sz="2200" b="1" dirty="0" smtClean="0"/>
              <a:t>C</a:t>
            </a:r>
            <a:r>
              <a:rPr lang="en-US" sz="2200" b="1" baseline="-25000" dirty="0" smtClean="0"/>
              <a:t>13</a:t>
            </a:r>
            <a:endParaRPr lang="en-US" sz="2200" dirty="0"/>
          </a:p>
        </p:txBody>
      </p:sp>
      <p:sp>
        <p:nvSpPr>
          <p:cNvPr id="16" name="Rectangle 15"/>
          <p:cNvSpPr/>
          <p:nvPr/>
        </p:nvSpPr>
        <p:spPr>
          <a:xfrm>
            <a:off x="6979519" y="4703785"/>
            <a:ext cx="520700" cy="16158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C</a:t>
            </a:r>
            <a:r>
              <a:rPr lang="en-US" sz="2200" b="1" baseline="-25000" dirty="0" smtClean="0"/>
              <a:t>21</a:t>
            </a:r>
            <a:r>
              <a:rPr lang="en-US" sz="2200" b="1" dirty="0" smtClean="0"/>
              <a:t>  C</a:t>
            </a:r>
            <a:r>
              <a:rPr lang="en-US" sz="2200" b="1" baseline="-25000" dirty="0" smtClean="0"/>
              <a:t>22  </a:t>
            </a:r>
            <a:r>
              <a:rPr lang="en-US" sz="2200" b="1" dirty="0" smtClean="0"/>
              <a:t>C</a:t>
            </a:r>
            <a:r>
              <a:rPr lang="en-US" sz="2200" b="1" baseline="-25000" dirty="0" smtClean="0"/>
              <a:t>23</a:t>
            </a:r>
            <a:r>
              <a:rPr lang="en-US" sz="2200" b="1" dirty="0" smtClean="0"/>
              <a:t>  </a:t>
            </a:r>
            <a:endParaRPr lang="en-US" sz="2200" dirty="0"/>
          </a:p>
        </p:txBody>
      </p:sp>
      <p:sp>
        <p:nvSpPr>
          <p:cNvPr id="17" name="Rectangle 16"/>
          <p:cNvSpPr/>
          <p:nvPr/>
        </p:nvSpPr>
        <p:spPr>
          <a:xfrm>
            <a:off x="7561904" y="4700761"/>
            <a:ext cx="529773" cy="16158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C</a:t>
            </a:r>
            <a:r>
              <a:rPr lang="en-US" sz="2200" b="1" baseline="-25000" dirty="0" smtClean="0"/>
              <a:t>31</a:t>
            </a:r>
            <a:r>
              <a:rPr lang="en-US" sz="2200" b="1" dirty="0" smtClean="0"/>
              <a:t>  C</a:t>
            </a:r>
            <a:r>
              <a:rPr lang="en-US" sz="2200" b="1" baseline="-25000" dirty="0" smtClean="0"/>
              <a:t>32  </a:t>
            </a:r>
            <a:r>
              <a:rPr lang="en-US" sz="2200" b="1" dirty="0" smtClean="0"/>
              <a:t>C</a:t>
            </a:r>
            <a:r>
              <a:rPr lang="en-US" sz="2200" b="1" baseline="-25000" dirty="0" smtClean="0"/>
              <a:t>33</a:t>
            </a:r>
            <a:r>
              <a:rPr lang="en-US" sz="2200" b="1" dirty="0" smtClean="0"/>
              <a:t> 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8446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302925"/>
              </p:ext>
            </p:extLst>
          </p:nvPr>
        </p:nvGraphicFramePr>
        <p:xfrm>
          <a:off x="1160003" y="526735"/>
          <a:ext cx="22891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2" name="Equation" r:id="rId3" imgW="965160" imgH="711000" progId="Equation.3">
                  <p:embed/>
                </p:oleObj>
              </mc:Choice>
              <mc:Fallback>
                <p:oleObj name="Equation" r:id="rId3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003" y="526735"/>
                        <a:ext cx="2289175" cy="1685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/>
          <p:nvPr/>
        </p:nvSpPr>
        <p:spPr>
          <a:xfrm>
            <a:off x="3449178" y="1244301"/>
            <a:ext cx="801859" cy="30480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188206"/>
              </p:ext>
            </p:extLst>
          </p:nvPr>
        </p:nvGraphicFramePr>
        <p:xfrm>
          <a:off x="4248152" y="458036"/>
          <a:ext cx="3949700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3" name="Equation" r:id="rId5" imgW="1333440" imgH="736560" progId="Equation.3">
                  <p:embed/>
                </p:oleObj>
              </mc:Choice>
              <mc:Fallback>
                <p:oleObj name="Equation" r:id="rId5" imgW="133344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2" y="458036"/>
                        <a:ext cx="3949700" cy="2022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ight Arrow 8"/>
          <p:cNvSpPr/>
          <p:nvPr/>
        </p:nvSpPr>
        <p:spPr>
          <a:xfrm rot="5400000">
            <a:off x="6745120" y="2403051"/>
            <a:ext cx="685583" cy="304802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43180" y="795793"/>
            <a:ext cx="1524000" cy="43088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200" b="1" dirty="0" smtClean="0"/>
              <a:t>-6    17 </a:t>
            </a:r>
            <a:r>
              <a:rPr lang="en-US" sz="2200" b="1" baseline="-25000" dirty="0" smtClean="0"/>
              <a:t>    </a:t>
            </a:r>
            <a:r>
              <a:rPr lang="en-US" sz="2200" b="1" dirty="0" smtClean="0"/>
              <a:t>-1  </a:t>
            </a:r>
            <a:endParaRPr lang="en-US" sz="2200" dirty="0"/>
          </a:p>
        </p:txBody>
      </p:sp>
      <p:sp>
        <p:nvSpPr>
          <p:cNvPr id="11" name="Rectangle 10"/>
          <p:cNvSpPr/>
          <p:nvPr/>
        </p:nvSpPr>
        <p:spPr>
          <a:xfrm>
            <a:off x="6243180" y="1271972"/>
            <a:ext cx="1524000" cy="430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200" b="1" dirty="0" smtClean="0"/>
              <a:t>-6      7 </a:t>
            </a:r>
            <a:r>
              <a:rPr lang="en-US" sz="2200" b="1" baseline="-25000" dirty="0" smtClean="0"/>
              <a:t>  </a:t>
            </a:r>
            <a:r>
              <a:rPr lang="en-US" sz="2200" b="1" dirty="0" smtClean="0"/>
              <a:t>   4  </a:t>
            </a:r>
            <a:endParaRPr lang="en-US" sz="2200" dirty="0"/>
          </a:p>
        </p:txBody>
      </p:sp>
      <p:sp>
        <p:nvSpPr>
          <p:cNvPr id="12" name="Rectangle 11"/>
          <p:cNvSpPr/>
          <p:nvPr/>
        </p:nvSpPr>
        <p:spPr>
          <a:xfrm>
            <a:off x="6232294" y="1781773"/>
            <a:ext cx="1524000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200" b="1" dirty="0" smtClean="0"/>
              <a:t>9     -13   -1  </a:t>
            </a:r>
            <a:endParaRPr lang="en-US" sz="2200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457481"/>
              </p:ext>
            </p:extLst>
          </p:nvPr>
        </p:nvGraphicFramePr>
        <p:xfrm>
          <a:off x="4431874" y="2924175"/>
          <a:ext cx="3890963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14" name="Equation" r:id="rId7" imgW="1269720" imgH="711000" progId="Equation.3">
                  <p:embed/>
                </p:oleObj>
              </mc:Choice>
              <mc:Fallback>
                <p:oleObj name="Equation" r:id="rId7" imgW="12697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1874" y="2924175"/>
                        <a:ext cx="3890963" cy="1952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6377356" y="3062013"/>
            <a:ext cx="533400" cy="156337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-6  17</a:t>
            </a:r>
            <a:r>
              <a:rPr lang="en-US" sz="2200" b="1" baseline="-25000" dirty="0" smtClean="0"/>
              <a:t>  </a:t>
            </a:r>
            <a:r>
              <a:rPr lang="en-US" sz="2200" b="1" dirty="0" smtClean="0"/>
              <a:t>-1</a:t>
            </a:r>
            <a:endParaRPr lang="en-US" sz="2200" dirty="0"/>
          </a:p>
        </p:txBody>
      </p:sp>
      <p:sp>
        <p:nvSpPr>
          <p:cNvPr id="16" name="Rectangle 15"/>
          <p:cNvSpPr/>
          <p:nvPr/>
        </p:nvSpPr>
        <p:spPr>
          <a:xfrm>
            <a:off x="6999697" y="3062013"/>
            <a:ext cx="520700" cy="16158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-6         </a:t>
            </a:r>
            <a:r>
              <a:rPr lang="en-US" sz="2200" b="1" baseline="-25000" dirty="0" smtClean="0"/>
              <a:t> </a:t>
            </a:r>
          </a:p>
          <a:p>
            <a:pPr marL="0" lvl="1">
              <a:lnSpc>
                <a:spcPct val="150000"/>
              </a:lnSpc>
            </a:pPr>
            <a:r>
              <a:rPr lang="en-US" sz="2200" b="1" dirty="0" smtClean="0"/>
              <a:t> 7</a:t>
            </a:r>
            <a:endParaRPr lang="en-US" sz="2200" b="1" dirty="0"/>
          </a:p>
          <a:p>
            <a:pPr marL="0" lvl="1">
              <a:lnSpc>
                <a:spcPct val="150000"/>
              </a:lnSpc>
            </a:pPr>
            <a:r>
              <a:rPr lang="en-US" sz="2200" b="1" dirty="0" smtClean="0"/>
              <a:t> 4  </a:t>
            </a:r>
            <a:endParaRPr lang="en-US" sz="2200" dirty="0"/>
          </a:p>
        </p:txBody>
      </p:sp>
      <p:sp>
        <p:nvSpPr>
          <p:cNvPr id="17" name="Rectangle 16"/>
          <p:cNvSpPr/>
          <p:nvPr/>
        </p:nvSpPr>
        <p:spPr>
          <a:xfrm>
            <a:off x="7582082" y="3058989"/>
            <a:ext cx="571318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 9  </a:t>
            </a:r>
            <a:r>
              <a:rPr lang="en-US" sz="2000" b="1" dirty="0" smtClean="0"/>
              <a:t>-13</a:t>
            </a:r>
            <a:r>
              <a:rPr lang="en-US" sz="2000" b="1" baseline="-25000" dirty="0" smtClean="0"/>
              <a:t>      </a:t>
            </a:r>
            <a:r>
              <a:rPr lang="en-US" sz="2000" b="1" dirty="0" smtClean="0"/>
              <a:t>   </a:t>
            </a:r>
            <a:r>
              <a:rPr lang="en-US" sz="2200" b="1" dirty="0" smtClean="0"/>
              <a:t>-1  </a:t>
            </a:r>
            <a:endParaRPr lang="en-US" sz="2200" dirty="0"/>
          </a:p>
        </p:txBody>
      </p:sp>
      <p:sp>
        <p:nvSpPr>
          <p:cNvPr id="18" name="Rectangle 17"/>
          <p:cNvSpPr/>
          <p:nvPr/>
        </p:nvSpPr>
        <p:spPr>
          <a:xfrm>
            <a:off x="128416" y="42565"/>
            <a:ext cx="1323632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Example: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847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865736"/>
              </p:ext>
            </p:extLst>
          </p:nvPr>
        </p:nvGraphicFramePr>
        <p:xfrm>
          <a:off x="465138" y="304800"/>
          <a:ext cx="7831137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4" name="Equation" r:id="rId3" imgW="4089240" imgH="711000" progId="Equation.3">
                  <p:embed/>
                </p:oleObj>
              </mc:Choice>
              <mc:Fallback>
                <p:oleObj name="Equation" r:id="rId3" imgW="40892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304800"/>
                        <a:ext cx="7831137" cy="1360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/>
          <p:nvPr/>
        </p:nvSpPr>
        <p:spPr>
          <a:xfrm>
            <a:off x="533400" y="3441457"/>
            <a:ext cx="17526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 smtClean="0"/>
              <a:t>Example:</a:t>
            </a:r>
            <a:endParaRPr lang="en-US" sz="2400" dirty="0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603679"/>
              </p:ext>
            </p:extLst>
          </p:nvPr>
        </p:nvGraphicFramePr>
        <p:xfrm>
          <a:off x="513162" y="1726885"/>
          <a:ext cx="3068238" cy="498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5" name="Equation" r:id="rId5" imgW="1562040" imgH="253800" progId="Equation.3">
                  <p:embed/>
                </p:oleObj>
              </mc:Choice>
              <mc:Fallback>
                <p:oleObj name="Equation" r:id="rId5" imgW="15620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162" y="1726885"/>
                        <a:ext cx="3068238" cy="49834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734021"/>
              </p:ext>
            </p:extLst>
          </p:nvPr>
        </p:nvGraphicFramePr>
        <p:xfrm>
          <a:off x="487180" y="2237644"/>
          <a:ext cx="31115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6" name="Equation" r:id="rId7" imgW="1625400" imgH="253800" progId="Equation.3">
                  <p:embed/>
                </p:oleObj>
              </mc:Choice>
              <mc:Fallback>
                <p:oleObj name="Equation" r:id="rId7" imgW="1625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0" y="2237644"/>
                        <a:ext cx="3111500" cy="485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211902"/>
              </p:ext>
            </p:extLst>
          </p:nvPr>
        </p:nvGraphicFramePr>
        <p:xfrm>
          <a:off x="496888" y="2725738"/>
          <a:ext cx="30861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7" name="Equation" r:id="rId9" imgW="1612800" imgH="253800" progId="Equation.3">
                  <p:embed/>
                </p:oleObj>
              </mc:Choice>
              <mc:Fallback>
                <p:oleObj name="Equation" r:id="rId9" imgW="1612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2725738"/>
                        <a:ext cx="3086100" cy="485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922450"/>
              </p:ext>
            </p:extLst>
          </p:nvPr>
        </p:nvGraphicFramePr>
        <p:xfrm>
          <a:off x="3777031" y="2057400"/>
          <a:ext cx="52006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8" name="Equation" r:id="rId11" imgW="2717640" imgH="253800" progId="Equation.3">
                  <p:embed/>
                </p:oleObj>
              </mc:Choice>
              <mc:Fallback>
                <p:oleObj name="Equation" r:id="rId11" imgW="2717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031" y="2057400"/>
                        <a:ext cx="5200650" cy="485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464182"/>
              </p:ext>
            </p:extLst>
          </p:nvPr>
        </p:nvGraphicFramePr>
        <p:xfrm>
          <a:off x="2667000" y="3441457"/>
          <a:ext cx="1845465" cy="1359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09" name="Equation" r:id="rId13" imgW="965160" imgH="711000" progId="Equation.3">
                  <p:embed/>
                </p:oleObj>
              </mc:Choice>
              <mc:Fallback>
                <p:oleObj name="Equation" r:id="rId13" imgW="965160" imgH="71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41457"/>
                        <a:ext cx="1845465" cy="135914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524560"/>
              </p:ext>
            </p:extLst>
          </p:nvPr>
        </p:nvGraphicFramePr>
        <p:xfrm>
          <a:off x="4495800" y="3441457"/>
          <a:ext cx="2601236" cy="1359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0" name="Equation" r:id="rId15" imgW="1320480" imgH="711000" progId="Equation.3">
                  <p:embed/>
                </p:oleObj>
              </mc:Choice>
              <mc:Fallback>
                <p:oleObj name="Equation" r:id="rId15" imgW="13204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441457"/>
                        <a:ext cx="2601236" cy="135914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989776"/>
              </p:ext>
            </p:extLst>
          </p:nvPr>
        </p:nvGraphicFramePr>
        <p:xfrm>
          <a:off x="381000" y="5105400"/>
          <a:ext cx="42640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1" name="Equation" r:id="rId17" imgW="2171520" imgH="253800" progId="Equation.3">
                  <p:embed/>
                </p:oleObj>
              </mc:Choice>
              <mc:Fallback>
                <p:oleObj name="Equation" r:id="rId17" imgW="2171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05400"/>
                        <a:ext cx="4264025" cy="498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019518"/>
              </p:ext>
            </p:extLst>
          </p:nvPr>
        </p:nvGraphicFramePr>
        <p:xfrm>
          <a:off x="4800600" y="5029200"/>
          <a:ext cx="4267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2" name="Equation" r:id="rId19" imgW="2031840" imgH="253800" progId="Equation.3">
                  <p:embed/>
                </p:oleObj>
              </mc:Choice>
              <mc:Fallback>
                <p:oleObj name="Equation" r:id="rId19" imgW="20318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029200"/>
                        <a:ext cx="4267200" cy="498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053441"/>
              </p:ext>
            </p:extLst>
          </p:nvPr>
        </p:nvGraphicFramePr>
        <p:xfrm>
          <a:off x="381000" y="5791200"/>
          <a:ext cx="44005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13" name="Equation" r:id="rId21" imgW="2095200" imgH="253800" progId="Equation.3">
                  <p:embed/>
                </p:oleObj>
              </mc:Choice>
              <mc:Fallback>
                <p:oleObj name="Equation" r:id="rId21" imgW="20952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791200"/>
                        <a:ext cx="4400550" cy="498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078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073467"/>
              </p:ext>
            </p:extLst>
          </p:nvPr>
        </p:nvGraphicFramePr>
        <p:xfrm>
          <a:off x="167905" y="838200"/>
          <a:ext cx="180975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09" name="Equation" r:id="rId3" imgW="761760" imgH="457200" progId="Equation.3">
                  <p:embed/>
                </p:oleObj>
              </mc:Choice>
              <mc:Fallback>
                <p:oleObj name="Equation" r:id="rId3" imgW="761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05" y="838200"/>
                        <a:ext cx="1809750" cy="1084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1720918" y="203413"/>
            <a:ext cx="582288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dirty="0" smtClean="0"/>
              <a:t>An easy way to obtain adj.(A) of a 2x2 matrix</a:t>
            </a:r>
            <a:endParaRPr lang="en-US" sz="1600" dirty="0"/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515323"/>
              </p:ext>
            </p:extLst>
          </p:nvPr>
        </p:nvGraphicFramePr>
        <p:xfrm>
          <a:off x="2406718" y="838200"/>
          <a:ext cx="3076575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0" name="Equation" r:id="rId5" imgW="1295280" imgH="457200" progId="Equation.3">
                  <p:embed/>
                </p:oleObj>
              </mc:Choice>
              <mc:Fallback>
                <p:oleObj name="Equation" r:id="rId5" imgW="1295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718" y="838200"/>
                        <a:ext cx="3076575" cy="1084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/>
          <p:cNvSpPr/>
          <p:nvPr/>
        </p:nvSpPr>
        <p:spPr>
          <a:xfrm>
            <a:off x="533400" y="2251110"/>
            <a:ext cx="76962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1. Interchange the positions of main diagonal elements.</a:t>
            </a:r>
            <a:endParaRPr lang="en-US" sz="1600" b="1" dirty="0"/>
          </a:p>
        </p:txBody>
      </p:sp>
      <p:sp>
        <p:nvSpPr>
          <p:cNvPr id="37" name="Rectangle 36"/>
          <p:cNvSpPr/>
          <p:nvPr/>
        </p:nvSpPr>
        <p:spPr>
          <a:xfrm>
            <a:off x="533400" y="2932019"/>
            <a:ext cx="769620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1"/>
            <a:r>
              <a:rPr lang="en-US" sz="2400" b="1" dirty="0" smtClean="0"/>
              <a:t>2. Change the sign of elements of the other diagonal.</a:t>
            </a:r>
            <a:endParaRPr lang="en-US" sz="1600" b="1" dirty="0"/>
          </a:p>
        </p:txBody>
      </p:sp>
      <p:sp>
        <p:nvSpPr>
          <p:cNvPr id="38" name="Rectangle 37"/>
          <p:cNvSpPr/>
          <p:nvPr/>
        </p:nvSpPr>
        <p:spPr>
          <a:xfrm>
            <a:off x="193506" y="3886200"/>
            <a:ext cx="1241878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Example</a:t>
            </a:r>
            <a:endParaRPr lang="en-US" sz="2400" dirty="0"/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600974"/>
              </p:ext>
            </p:extLst>
          </p:nvPr>
        </p:nvGraphicFramePr>
        <p:xfrm>
          <a:off x="1651000" y="4116388"/>
          <a:ext cx="2262188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1" name="Equation" r:id="rId7" imgW="952200" imgH="457200" progId="Equation.3">
                  <p:embed/>
                </p:oleObj>
              </mc:Choice>
              <mc:Fallback>
                <p:oleObj name="Equation" r:id="rId7" imgW="952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4116388"/>
                        <a:ext cx="2262188" cy="1084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91145"/>
              </p:ext>
            </p:extLst>
          </p:nvPr>
        </p:nvGraphicFramePr>
        <p:xfrm>
          <a:off x="4114800" y="4117032"/>
          <a:ext cx="3076575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12" name="Equation" r:id="rId9" imgW="1295280" imgH="457200" progId="Equation.3">
                  <p:embed/>
                </p:oleObj>
              </mc:Choice>
              <mc:Fallback>
                <p:oleObj name="Equation" r:id="rId9" imgW="1295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117032"/>
                        <a:ext cx="3076575" cy="1084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Arrow Connector 8"/>
          <p:cNvCxnSpPr/>
          <p:nvPr/>
        </p:nvCxnSpPr>
        <p:spPr>
          <a:xfrm>
            <a:off x="2895600" y="4347865"/>
            <a:ext cx="457200" cy="376535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10800000">
            <a:off x="2841171" y="4456721"/>
            <a:ext cx="457200" cy="37653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03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6" grpId="0" animBg="1"/>
      <p:bldP spid="37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9344" y="60752"/>
            <a:ext cx="34290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800" b="1" dirty="0" smtClean="0"/>
              <a:t>Inverse matrix) -  A</a:t>
            </a:r>
            <a:r>
              <a:rPr lang="en-US" sz="2800" b="1" baseline="30000" dirty="0" smtClean="0"/>
              <a:t>-1</a:t>
            </a:r>
            <a:endParaRPr 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19345" y="562905"/>
            <a:ext cx="4633656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u="sng" dirty="0"/>
              <a:t>Defined only with square matrices</a:t>
            </a:r>
            <a:r>
              <a:rPr lang="si-LK" sz="2400" dirty="0"/>
              <a:t>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917941"/>
              </p:ext>
            </p:extLst>
          </p:nvPr>
        </p:nvGraphicFramePr>
        <p:xfrm>
          <a:off x="1600200" y="1600200"/>
          <a:ext cx="5620465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2" name="Equation" r:id="rId3" imgW="1447560" imgH="444240" progId="Equation.3">
                  <p:embed/>
                </p:oleObj>
              </mc:Choice>
              <mc:Fallback>
                <p:oleObj name="Equation" r:id="rId3" imgW="14475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5620465" cy="1600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9344" y="3657600"/>
            <a:ext cx="4633657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dirty="0" smtClean="0"/>
              <a:t>An important property of </a:t>
            </a:r>
            <a:r>
              <a:rPr lang="en-US" sz="2400" b="1" dirty="0" smtClean="0"/>
              <a:t>A</a:t>
            </a:r>
            <a:r>
              <a:rPr lang="en-US" sz="2400" b="1" baseline="30000" dirty="0" smtClean="0"/>
              <a:t>-1 </a:t>
            </a:r>
            <a:r>
              <a:rPr lang="en-US" sz="2400" dirty="0" smtClean="0"/>
              <a:t>matrix 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57203" y="4343399"/>
            <a:ext cx="2086397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</a:pPr>
            <a:r>
              <a:rPr lang="en-US" sz="2400" b="1" dirty="0" smtClean="0"/>
              <a:t>AA</a:t>
            </a:r>
            <a:r>
              <a:rPr lang="en-US" sz="2400" b="1" baseline="30000" dirty="0" smtClean="0"/>
              <a:t>-1 </a:t>
            </a:r>
            <a:r>
              <a:rPr lang="en-US" sz="2400" dirty="0" smtClean="0"/>
              <a:t> </a:t>
            </a:r>
            <a:r>
              <a:rPr lang="en-US" sz="2400" b="1" dirty="0" smtClean="0"/>
              <a:t>=</a:t>
            </a:r>
            <a:r>
              <a:rPr lang="en-US" sz="2400" b="1" dirty="0"/>
              <a:t> </a:t>
            </a:r>
            <a:r>
              <a:rPr lang="en-US" sz="2400" b="1" dirty="0" smtClean="0"/>
              <a:t>A</a:t>
            </a:r>
            <a:r>
              <a:rPr lang="en-US" sz="2400" b="1" baseline="30000" dirty="0" smtClean="0"/>
              <a:t>-1 </a:t>
            </a:r>
            <a:r>
              <a:rPr lang="en-US" sz="2400" b="1" dirty="0" smtClean="0"/>
              <a:t>A = </a:t>
            </a:r>
            <a:r>
              <a:rPr lang="en-US" sz="2400" dirty="0" smtClean="0"/>
              <a:t>I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32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7200" y="80445"/>
            <a:ext cx="1323632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Example:</a:t>
            </a:r>
            <a:endParaRPr lang="en-US" sz="24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149022"/>
              </p:ext>
            </p:extLst>
          </p:nvPr>
        </p:nvGraphicFramePr>
        <p:xfrm>
          <a:off x="838200" y="616409"/>
          <a:ext cx="1828800" cy="876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7" name="Equation" r:id="rId3" imgW="952200" imgH="457200" progId="Equation.3">
                  <p:embed/>
                </p:oleObj>
              </mc:Choice>
              <mc:Fallback>
                <p:oleObj name="Equation" r:id="rId3" imgW="952200" imgH="4572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16409"/>
                        <a:ext cx="1828800" cy="8765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508908" y="615786"/>
            <a:ext cx="393246" cy="877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1100" dirty="0" smtClean="0"/>
          </a:p>
          <a:p>
            <a:r>
              <a:rPr lang="en-US" sz="2400" dirty="0" smtClean="0"/>
              <a:t>If</a:t>
            </a:r>
            <a:r>
              <a:rPr lang="si-LK" sz="2400" dirty="0" smtClean="0"/>
              <a:t> </a:t>
            </a:r>
            <a:endParaRPr lang="en-US" sz="2400" dirty="0" smtClean="0"/>
          </a:p>
          <a:p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394607" y="1845326"/>
            <a:ext cx="1217000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Solution</a:t>
            </a:r>
            <a:endParaRPr lang="en-US" sz="2400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589306"/>
              </p:ext>
            </p:extLst>
          </p:nvPr>
        </p:nvGraphicFramePr>
        <p:xfrm>
          <a:off x="1666418" y="1859840"/>
          <a:ext cx="1914982" cy="917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8" name="Equation" r:id="rId5" imgW="952200" imgH="457200" progId="Equation.3">
                  <p:embed/>
                </p:oleObj>
              </mc:Choice>
              <mc:Fallback>
                <p:oleObj name="Equation" r:id="rId5" imgW="952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418" y="1859840"/>
                        <a:ext cx="1914982" cy="91784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169974"/>
              </p:ext>
            </p:extLst>
          </p:nvPr>
        </p:nvGraphicFramePr>
        <p:xfrm>
          <a:off x="3815443" y="2094301"/>
          <a:ext cx="3505199" cy="53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9" name="Equation" r:id="rId7" imgW="1650960" imgH="253800" progId="Equation.3">
                  <p:embed/>
                </p:oleObj>
              </mc:Choice>
              <mc:Fallback>
                <p:oleObj name="Equation" r:id="rId7" imgW="1650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5443" y="2094301"/>
                        <a:ext cx="3505199" cy="5392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749237"/>
              </p:ext>
            </p:extLst>
          </p:nvPr>
        </p:nvGraphicFramePr>
        <p:xfrm>
          <a:off x="1676400" y="2819400"/>
          <a:ext cx="2362200" cy="832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0" name="Equation" r:id="rId9" imgW="1295280" imgH="457200" progId="Equation.3">
                  <p:embed/>
                </p:oleObj>
              </mc:Choice>
              <mc:Fallback>
                <p:oleObj name="Equation" r:id="rId9" imgW="1295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19400"/>
                        <a:ext cx="2362200" cy="8324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7910916"/>
              </p:ext>
            </p:extLst>
          </p:nvPr>
        </p:nvGraphicFramePr>
        <p:xfrm>
          <a:off x="1676400" y="3581400"/>
          <a:ext cx="1992313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1" name="Equation" r:id="rId11" imgW="1091880" imgH="647640" progId="Equation.3">
                  <p:embed/>
                </p:oleObj>
              </mc:Choice>
              <mc:Fallback>
                <p:oleObj name="Equation" r:id="rId11" imgW="1091880" imgH="647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581400"/>
                        <a:ext cx="1992313" cy="1177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778050"/>
              </p:ext>
            </p:extLst>
          </p:nvPr>
        </p:nvGraphicFramePr>
        <p:xfrm>
          <a:off x="3657600" y="3947886"/>
          <a:ext cx="18986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2" name="Equation" r:id="rId13" imgW="1041120" imgH="457200" progId="Equation.3">
                  <p:embed/>
                </p:oleObj>
              </mc:Choice>
              <mc:Fallback>
                <p:oleObj name="Equation" r:id="rId13" imgW="10411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947886"/>
                        <a:ext cx="1898650" cy="831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884448"/>
              </p:ext>
            </p:extLst>
          </p:nvPr>
        </p:nvGraphicFramePr>
        <p:xfrm>
          <a:off x="4191000" y="2819400"/>
          <a:ext cx="1908175" cy="898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3" name="Equation" r:id="rId15" imgW="876240" imgH="444240" progId="Equation.3">
                  <p:embed/>
                </p:oleObj>
              </mc:Choice>
              <mc:Fallback>
                <p:oleObj name="Equation" r:id="rId15" imgW="876240" imgH="444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819400"/>
                        <a:ext cx="1908175" cy="89803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/>
          <p:nvPr/>
        </p:nvSpPr>
        <p:spPr>
          <a:xfrm>
            <a:off x="2667000" y="618310"/>
            <a:ext cx="1367972" cy="8771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1100" dirty="0" smtClean="0"/>
          </a:p>
          <a:p>
            <a:r>
              <a:rPr lang="en-US" sz="2400" dirty="0" smtClean="0"/>
              <a:t>find</a:t>
            </a:r>
            <a:r>
              <a:rPr lang="si-LK" sz="2400" dirty="0" smtClean="0"/>
              <a:t> 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-1  </a:t>
            </a:r>
            <a:r>
              <a:rPr lang="si-LK" sz="2400" dirty="0" smtClean="0"/>
              <a:t>.</a:t>
            </a:r>
            <a:endParaRPr lang="en-US" sz="2400" dirty="0" smtClean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885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744935"/>
              </p:ext>
            </p:extLst>
          </p:nvPr>
        </p:nvGraphicFramePr>
        <p:xfrm>
          <a:off x="870096" y="515185"/>
          <a:ext cx="1659397" cy="1222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8" name="Equation" r:id="rId3" imgW="965160" imgH="711000" progId="Equation.3">
                  <p:embed/>
                </p:oleObj>
              </mc:Choice>
              <mc:Fallback>
                <p:oleObj name="Equation" r:id="rId3" imgW="9651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096" y="515185"/>
                        <a:ext cx="1659397" cy="122210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346446"/>
              </p:ext>
            </p:extLst>
          </p:nvPr>
        </p:nvGraphicFramePr>
        <p:xfrm>
          <a:off x="1111934" y="4724400"/>
          <a:ext cx="2951162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9" name="Equation" r:id="rId5" imgW="1625400" imgH="761760" progId="Equation.3">
                  <p:embed/>
                </p:oleObj>
              </mc:Choice>
              <mc:Fallback>
                <p:oleObj name="Equation" r:id="rId5" imgW="1625400" imgH="761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934" y="4724400"/>
                        <a:ext cx="2951162" cy="1281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800129"/>
              </p:ext>
            </p:extLst>
          </p:nvPr>
        </p:nvGraphicFramePr>
        <p:xfrm>
          <a:off x="1116022" y="2183452"/>
          <a:ext cx="3610109" cy="159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0" name="Equation" r:id="rId7" imgW="1269720" imgH="711000" progId="Equation.3">
                  <p:embed/>
                </p:oleObj>
              </mc:Choice>
              <mc:Fallback>
                <p:oleObj name="Equation" r:id="rId7" imgW="12697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22" y="2183452"/>
                        <a:ext cx="3610109" cy="159499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2989946" y="2236216"/>
            <a:ext cx="533400" cy="50629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000" b="1" dirty="0" smtClean="0"/>
              <a:t>-6</a:t>
            </a:r>
            <a:endParaRPr lang="en-US" sz="2000" dirty="0"/>
          </a:p>
        </p:txBody>
      </p:sp>
      <p:sp>
        <p:nvSpPr>
          <p:cNvPr id="17" name="Rectangle 16"/>
          <p:cNvSpPr/>
          <p:nvPr/>
        </p:nvSpPr>
        <p:spPr>
          <a:xfrm>
            <a:off x="3962547" y="2220648"/>
            <a:ext cx="571318" cy="5477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  9</a:t>
            </a:r>
            <a:endParaRPr lang="en-US" sz="2200" dirty="0"/>
          </a:p>
        </p:txBody>
      </p:sp>
      <p:sp>
        <p:nvSpPr>
          <p:cNvPr id="18" name="Rectangle 17"/>
          <p:cNvSpPr/>
          <p:nvPr/>
        </p:nvSpPr>
        <p:spPr>
          <a:xfrm>
            <a:off x="457200" y="0"/>
            <a:ext cx="1548052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Example 2: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457200" y="534235"/>
            <a:ext cx="43194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If</a:t>
            </a:r>
          </a:p>
          <a:p>
            <a:endParaRPr lang="en-US" sz="2400" dirty="0" smtClean="0"/>
          </a:p>
        </p:txBody>
      </p:sp>
      <p:sp>
        <p:nvSpPr>
          <p:cNvPr id="19" name="Rectangle 18"/>
          <p:cNvSpPr/>
          <p:nvPr/>
        </p:nvSpPr>
        <p:spPr>
          <a:xfrm>
            <a:off x="239769" y="1803339"/>
            <a:ext cx="1298753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Solution: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984646" y="2678069"/>
            <a:ext cx="533400" cy="54771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 17</a:t>
            </a:r>
            <a:r>
              <a:rPr lang="en-US" sz="2200" b="1" baseline="-25000" dirty="0" smtClean="0"/>
              <a:t>  </a:t>
            </a:r>
            <a:endParaRPr lang="en-US" sz="2200" dirty="0"/>
          </a:p>
        </p:txBody>
      </p:sp>
      <p:sp>
        <p:nvSpPr>
          <p:cNvPr id="23" name="Rectangle 22"/>
          <p:cNvSpPr/>
          <p:nvPr/>
        </p:nvSpPr>
        <p:spPr>
          <a:xfrm>
            <a:off x="2989946" y="3091042"/>
            <a:ext cx="533400" cy="54771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-1</a:t>
            </a:r>
            <a:endParaRPr lang="en-US" sz="2200" dirty="0"/>
          </a:p>
        </p:txBody>
      </p:sp>
      <p:sp>
        <p:nvSpPr>
          <p:cNvPr id="24" name="Rectangle 23"/>
          <p:cNvSpPr/>
          <p:nvPr/>
        </p:nvSpPr>
        <p:spPr>
          <a:xfrm>
            <a:off x="3518046" y="2220648"/>
            <a:ext cx="520700" cy="5477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-6         </a:t>
            </a:r>
            <a:r>
              <a:rPr lang="en-US" sz="2200" b="1" baseline="-25000" dirty="0" smtClean="0"/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3346" y="3091042"/>
            <a:ext cx="520700" cy="5477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 4  </a:t>
            </a:r>
            <a:endParaRPr lang="en-US" sz="2200" dirty="0"/>
          </a:p>
        </p:txBody>
      </p:sp>
      <p:sp>
        <p:nvSpPr>
          <p:cNvPr id="27" name="Rectangle 26"/>
          <p:cNvSpPr/>
          <p:nvPr/>
        </p:nvSpPr>
        <p:spPr>
          <a:xfrm>
            <a:off x="3523346" y="2672000"/>
            <a:ext cx="520700" cy="5477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 7 </a:t>
            </a:r>
            <a:endParaRPr lang="en-US" sz="2200" dirty="0"/>
          </a:p>
        </p:txBody>
      </p:sp>
      <p:sp>
        <p:nvSpPr>
          <p:cNvPr id="28" name="Rectangle 27"/>
          <p:cNvSpPr/>
          <p:nvPr/>
        </p:nvSpPr>
        <p:spPr>
          <a:xfrm>
            <a:off x="4033160" y="2740649"/>
            <a:ext cx="500705" cy="5078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b="1" dirty="0" smtClean="0"/>
              <a:t>-13</a:t>
            </a:r>
            <a:r>
              <a:rPr lang="en-US" b="1" baseline="-25000" dirty="0" smtClean="0"/>
              <a:t>      </a:t>
            </a:r>
            <a:r>
              <a:rPr lang="en-US" b="1" dirty="0" smtClean="0"/>
              <a:t>   </a:t>
            </a:r>
            <a:endParaRPr lang="en-US" sz="2000" dirty="0"/>
          </a:p>
        </p:txBody>
      </p:sp>
      <p:sp>
        <p:nvSpPr>
          <p:cNvPr id="30" name="Rectangle 29"/>
          <p:cNvSpPr/>
          <p:nvPr/>
        </p:nvSpPr>
        <p:spPr>
          <a:xfrm>
            <a:off x="4044046" y="3101364"/>
            <a:ext cx="477938" cy="5477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-</a:t>
            </a:r>
            <a:r>
              <a:rPr lang="en-US" sz="2000" b="1" dirty="0" smtClean="0"/>
              <a:t>1</a:t>
            </a:r>
            <a:r>
              <a:rPr lang="en-US" sz="2200" b="1" dirty="0" smtClean="0"/>
              <a:t>  </a:t>
            </a:r>
            <a:endParaRPr lang="en-US" sz="22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033620"/>
              </p:ext>
            </p:extLst>
          </p:nvPr>
        </p:nvGraphicFramePr>
        <p:xfrm>
          <a:off x="1095521" y="3810000"/>
          <a:ext cx="19081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1" name="Equation" r:id="rId9" imgW="876240" imgH="444240" progId="Equation.3">
                  <p:embed/>
                </p:oleObj>
              </mc:Choice>
              <mc:Fallback>
                <p:oleObj name="Equation" r:id="rId9" imgW="876240" imgH="4442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521" y="3810000"/>
                        <a:ext cx="1908175" cy="898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63395"/>
              </p:ext>
            </p:extLst>
          </p:nvPr>
        </p:nvGraphicFramePr>
        <p:xfrm>
          <a:off x="5276850" y="1902317"/>
          <a:ext cx="3829050" cy="448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2" name="Equation" r:id="rId11" imgW="2171520" imgH="253800" progId="Equation.3">
                  <p:embed/>
                </p:oleObj>
              </mc:Choice>
              <mc:Fallback>
                <p:oleObj name="Equation" r:id="rId11" imgW="2171520" imgH="253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850" y="1902317"/>
                        <a:ext cx="3829050" cy="44830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62799"/>
              </p:ext>
            </p:extLst>
          </p:nvPr>
        </p:nvGraphicFramePr>
        <p:xfrm>
          <a:off x="5276850" y="2416109"/>
          <a:ext cx="8509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3" name="Equation" r:id="rId13" imgW="482400" imgH="253800" progId="Equation.3">
                  <p:embed/>
                </p:oleObj>
              </mc:Choice>
              <mc:Fallback>
                <p:oleObj name="Equation" r:id="rId13" imgW="482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850" y="2416109"/>
                        <a:ext cx="850900" cy="447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1"/>
          <p:cNvSpPr/>
          <p:nvPr/>
        </p:nvSpPr>
        <p:spPr>
          <a:xfrm>
            <a:off x="5486400" y="307032"/>
            <a:ext cx="342900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i="1" dirty="0" smtClean="0"/>
              <a:t>Determinant can  be calculated by multiplying </a:t>
            </a:r>
            <a:r>
              <a:rPr lang="en-US" b="1" i="1" dirty="0" err="1" smtClean="0"/>
              <a:t>i</a:t>
            </a:r>
            <a:r>
              <a:rPr lang="en-US" b="1" i="1" baseline="30000" dirty="0" err="1" smtClean="0"/>
              <a:t>th</a:t>
            </a:r>
            <a:r>
              <a:rPr lang="en-US" b="1" i="1" dirty="0" smtClean="0"/>
              <a:t>  row/column of A by </a:t>
            </a:r>
            <a:r>
              <a:rPr lang="en-US" b="1" i="1" dirty="0" err="1"/>
              <a:t>i</a:t>
            </a:r>
            <a:r>
              <a:rPr lang="en-US" b="1" i="1" baseline="30000" dirty="0" err="1"/>
              <a:t>th</a:t>
            </a:r>
            <a:r>
              <a:rPr lang="en-US" b="1" i="1"/>
              <a:t>  </a:t>
            </a:r>
            <a:r>
              <a:rPr lang="en-US" b="1" i="1" smtClean="0"/>
              <a:t>column/row </a:t>
            </a:r>
            <a:r>
              <a:rPr lang="en-US" b="1" i="1" dirty="0" smtClean="0"/>
              <a:t>of </a:t>
            </a:r>
            <a:r>
              <a:rPr lang="en-US" b="1" i="1" dirty="0" err="1" smtClean="0"/>
              <a:t>adj</a:t>
            </a:r>
            <a:r>
              <a:rPr lang="en-US" b="1" i="1" dirty="0" smtClean="0"/>
              <a:t>(A).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7366" y="534235"/>
            <a:ext cx="1535794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Find </a:t>
            </a:r>
            <a:r>
              <a:rPr lang="si-LK" sz="2400" dirty="0" smtClean="0"/>
              <a:t> 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-1 </a:t>
            </a:r>
            <a:r>
              <a:rPr lang="si-LK" sz="2400" dirty="0" smtClean="0"/>
              <a:t>.</a:t>
            </a:r>
            <a:endParaRPr lang="en-US" sz="2400" dirty="0" smtClean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74879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4" grpId="0" animBg="1"/>
      <p:bldP spid="19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900" y="33437"/>
            <a:ext cx="75438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si-LK" sz="2800" b="1" dirty="0" smtClean="0"/>
              <a:t> </a:t>
            </a:r>
            <a:r>
              <a:rPr lang="en-US" sz="2800" b="1" dirty="0" smtClean="0"/>
              <a:t>Solving Linear Equations using matrices</a:t>
            </a:r>
            <a:r>
              <a:rPr lang="si-LK" sz="2800" b="1" dirty="0" smtClean="0"/>
              <a:t>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21395" y="556657"/>
            <a:ext cx="1279043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000" b="1" dirty="0" smtClean="0"/>
              <a:t>Steps: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321395" y="1007100"/>
            <a:ext cx="8296699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indent="-457200"/>
            <a:r>
              <a:rPr lang="en-US" sz="2000" b="1" dirty="0" smtClean="0"/>
              <a:t>1. Convert set of linear equations into matrix format.</a:t>
            </a:r>
            <a:endParaRPr lang="en-US" sz="14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36564"/>
              </p:ext>
            </p:extLst>
          </p:nvPr>
        </p:nvGraphicFramePr>
        <p:xfrm>
          <a:off x="313900" y="1524000"/>
          <a:ext cx="206533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17" name="Equation" r:id="rId3" imgW="1346040" imgH="685800" progId="Equation.3">
                  <p:embed/>
                </p:oleObj>
              </mc:Choice>
              <mc:Fallback>
                <p:oleObj name="Equation" r:id="rId3" imgW="134604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900" y="1524000"/>
                        <a:ext cx="2065337" cy="1052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978145"/>
              </p:ext>
            </p:extLst>
          </p:nvPr>
        </p:nvGraphicFramePr>
        <p:xfrm>
          <a:off x="2480043" y="1524000"/>
          <a:ext cx="3211513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18" name="Equation" r:id="rId5" imgW="1676160" imgH="711000" progId="Equation.3">
                  <p:embed/>
                </p:oleObj>
              </mc:Choice>
              <mc:Fallback>
                <p:oleObj name="Equation" r:id="rId5" imgW="167616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043" y="1524000"/>
                        <a:ext cx="3211513" cy="1360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872970"/>
              </p:ext>
            </p:extLst>
          </p:nvPr>
        </p:nvGraphicFramePr>
        <p:xfrm>
          <a:off x="376123" y="3048000"/>
          <a:ext cx="2433637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19" name="Equation" r:id="rId7" imgW="1269720" imgH="711000" progId="Equation.3">
                  <p:embed/>
                </p:oleObj>
              </mc:Choice>
              <mc:Fallback>
                <p:oleObj name="Equation" r:id="rId7" imgW="12697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23" y="3048000"/>
                        <a:ext cx="2433637" cy="1360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939926"/>
              </p:ext>
            </p:extLst>
          </p:nvPr>
        </p:nvGraphicFramePr>
        <p:xfrm>
          <a:off x="2895600" y="3048000"/>
          <a:ext cx="1046163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0" name="Equation" r:id="rId9" imgW="545760" imgH="711000" progId="Equation.3">
                  <p:embed/>
                </p:oleObj>
              </mc:Choice>
              <mc:Fallback>
                <p:oleObj name="Equation" r:id="rId9" imgW="5457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048000"/>
                        <a:ext cx="1046163" cy="1360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268437"/>
              </p:ext>
            </p:extLst>
          </p:nvPr>
        </p:nvGraphicFramePr>
        <p:xfrm>
          <a:off x="4079554" y="3048000"/>
          <a:ext cx="1119188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1" name="Equation" r:id="rId11" imgW="583920" imgH="711000" progId="Equation.3">
                  <p:embed/>
                </p:oleObj>
              </mc:Choice>
              <mc:Fallback>
                <p:oleObj name="Equation" r:id="rId11" imgW="58392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554" y="3048000"/>
                        <a:ext cx="1119188" cy="1360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119905"/>
              </p:ext>
            </p:extLst>
          </p:nvPr>
        </p:nvGraphicFramePr>
        <p:xfrm>
          <a:off x="6096000" y="2819400"/>
          <a:ext cx="10699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2" name="Equation" r:id="rId13" imgW="558720" imgH="203040" progId="Equation.3">
                  <p:embed/>
                </p:oleObj>
              </mc:Choice>
              <mc:Fallback>
                <p:oleObj name="Equation" r:id="rId13" imgW="5587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19400"/>
                        <a:ext cx="1069975" cy="387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158827"/>
              </p:ext>
            </p:extLst>
          </p:nvPr>
        </p:nvGraphicFramePr>
        <p:xfrm>
          <a:off x="6096000" y="3352800"/>
          <a:ext cx="182403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3" name="Equation" r:id="rId15" imgW="952200" imgH="228600" progId="Equation.3">
                  <p:embed/>
                </p:oleObj>
              </mc:Choice>
              <mc:Fallback>
                <p:oleObj name="Equation" r:id="rId15" imgW="952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352800"/>
                        <a:ext cx="1824037" cy="436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731473"/>
              </p:ext>
            </p:extLst>
          </p:nvPr>
        </p:nvGraphicFramePr>
        <p:xfrm>
          <a:off x="6096000" y="3886200"/>
          <a:ext cx="20669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4" name="Equation" r:id="rId17" imgW="1079280" imgH="228600" progId="Equation.3">
                  <p:embed/>
                </p:oleObj>
              </mc:Choice>
              <mc:Fallback>
                <p:oleObj name="Equation" r:id="rId17" imgW="1079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886200"/>
                        <a:ext cx="2066925" cy="436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951298"/>
              </p:ext>
            </p:extLst>
          </p:nvPr>
        </p:nvGraphicFramePr>
        <p:xfrm>
          <a:off x="6096000" y="4419600"/>
          <a:ext cx="13620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5" name="Equation" r:id="rId19" imgW="711000" imgH="228600" progId="Equation.3">
                  <p:embed/>
                </p:oleObj>
              </mc:Choice>
              <mc:Fallback>
                <p:oleObj name="Equation" r:id="rId19" imgW="711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419600"/>
                        <a:ext cx="1362075" cy="436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958136"/>
              </p:ext>
            </p:extLst>
          </p:nvPr>
        </p:nvGraphicFramePr>
        <p:xfrm>
          <a:off x="6096000" y="4953000"/>
          <a:ext cx="1265238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6" name="Equation" r:id="rId21" imgW="660240" imgH="228600" progId="Equation.3">
                  <p:embed/>
                </p:oleObj>
              </mc:Choice>
              <mc:Fallback>
                <p:oleObj name="Equation" r:id="rId21" imgW="660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953000"/>
                        <a:ext cx="1265238" cy="436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227853"/>
              </p:ext>
            </p:extLst>
          </p:nvPr>
        </p:nvGraphicFramePr>
        <p:xfrm>
          <a:off x="1295400" y="4648200"/>
          <a:ext cx="4029411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27" name="Equation" r:id="rId23" imgW="1765080" imgH="736560" progId="Equation.3">
                  <p:embed/>
                </p:oleObj>
              </mc:Choice>
              <mc:Fallback>
                <p:oleObj name="Equation" r:id="rId23" imgW="176508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648200"/>
                        <a:ext cx="4029411" cy="167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5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476738"/>
              </p:ext>
            </p:extLst>
          </p:nvPr>
        </p:nvGraphicFramePr>
        <p:xfrm>
          <a:off x="1705429" y="559832"/>
          <a:ext cx="118903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69" name="Equation" r:id="rId3" imgW="774360" imgH="431640" progId="Equation.3">
                  <p:embed/>
                </p:oleObj>
              </mc:Choice>
              <mc:Fallback>
                <p:oleObj name="Equation" r:id="rId3" imgW="7743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429" y="559832"/>
                        <a:ext cx="1189038" cy="663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28600" y="152400"/>
            <a:ext cx="14478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Example 1: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1513" y="1319434"/>
            <a:ext cx="1116011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000" dirty="0" smtClean="0"/>
              <a:t>Solution:</a:t>
            </a:r>
            <a:endParaRPr lang="en-US" sz="20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981966"/>
              </p:ext>
            </p:extLst>
          </p:nvPr>
        </p:nvGraphicFramePr>
        <p:xfrm>
          <a:off x="1714500" y="1376644"/>
          <a:ext cx="18843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0" name="Equation" r:id="rId5" imgW="1257120" imgH="457200" progId="Equation.3">
                  <p:embed/>
                </p:oleObj>
              </mc:Choice>
              <mc:Fallback>
                <p:oleObj name="Equation" r:id="rId5" imgW="12571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376644"/>
                        <a:ext cx="1884363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1676400" y="3810000"/>
            <a:ext cx="1447800" cy="6001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sz="2200" b="1" dirty="0" smtClean="0"/>
              <a:t>x=3   y=-1   </a:t>
            </a:r>
            <a:endParaRPr lang="en-US" sz="2200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96278"/>
              </p:ext>
            </p:extLst>
          </p:nvPr>
        </p:nvGraphicFramePr>
        <p:xfrm>
          <a:off x="1676400" y="2133600"/>
          <a:ext cx="20367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1" name="Equation" r:id="rId7" imgW="1358640" imgH="495000" progId="Equation.3">
                  <p:embed/>
                </p:oleObj>
              </mc:Choice>
              <mc:Fallback>
                <p:oleObj name="Equation" r:id="rId7" imgW="135864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33600"/>
                        <a:ext cx="2036763" cy="742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558298"/>
              </p:ext>
            </p:extLst>
          </p:nvPr>
        </p:nvGraphicFramePr>
        <p:xfrm>
          <a:off x="3796148" y="1866900"/>
          <a:ext cx="20939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2" name="Equation" r:id="rId9" imgW="1396800" imgH="685800" progId="Equation.3">
                  <p:embed/>
                </p:oleObj>
              </mc:Choice>
              <mc:Fallback>
                <p:oleObj name="Equation" r:id="rId9" imgW="1396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6148" y="1866900"/>
                        <a:ext cx="2093913" cy="1028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842087"/>
              </p:ext>
            </p:extLst>
          </p:nvPr>
        </p:nvGraphicFramePr>
        <p:xfrm>
          <a:off x="5943600" y="2209800"/>
          <a:ext cx="24939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3" name="Equation" r:id="rId11" imgW="1663560" imgH="457200" progId="Equation.3">
                  <p:embed/>
                </p:oleObj>
              </mc:Choice>
              <mc:Fallback>
                <p:oleObj name="Equation" r:id="rId11" imgW="1663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209800"/>
                        <a:ext cx="2493963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396194"/>
              </p:ext>
            </p:extLst>
          </p:nvPr>
        </p:nvGraphicFramePr>
        <p:xfrm>
          <a:off x="1676400" y="2971800"/>
          <a:ext cx="16954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4" name="Equation" r:id="rId13" imgW="1130040" imgH="457200" progId="Equation.3">
                  <p:embed/>
                </p:oleObj>
              </mc:Choice>
              <mc:Fallback>
                <p:oleObj name="Equation" r:id="rId13" imgW="1130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971800"/>
                        <a:ext cx="1695450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6749"/>
              </p:ext>
            </p:extLst>
          </p:nvPr>
        </p:nvGraphicFramePr>
        <p:xfrm>
          <a:off x="3867150" y="2971800"/>
          <a:ext cx="1104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75" name="Equation" r:id="rId15" imgW="736560" imgH="457200" progId="Equation.3">
                  <p:embed/>
                </p:oleObj>
              </mc:Choice>
              <mc:Fallback>
                <p:oleObj name="Equation" r:id="rId15" imgW="736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150" y="2971800"/>
                        <a:ext cx="1104900" cy="68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132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073452"/>
              </p:ext>
            </p:extLst>
          </p:nvPr>
        </p:nvGraphicFramePr>
        <p:xfrm>
          <a:off x="1952738" y="380180"/>
          <a:ext cx="1812925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4" name="Equation" r:id="rId3" imgW="1180800" imgH="672840" progId="Equation.3">
                  <p:embed/>
                </p:oleObj>
              </mc:Choice>
              <mc:Fallback>
                <p:oleObj name="Equation" r:id="rId3" imgW="1180800" imgH="6728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738" y="380180"/>
                        <a:ext cx="1812925" cy="10334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696052"/>
              </p:ext>
            </p:extLst>
          </p:nvPr>
        </p:nvGraphicFramePr>
        <p:xfrm>
          <a:off x="4191000" y="397669"/>
          <a:ext cx="23415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5" name="Equation" r:id="rId5" imgW="1562040" imgH="711000" progId="Equation.3">
                  <p:embed/>
                </p:oleObj>
              </mc:Choice>
              <mc:Fallback>
                <p:oleObj name="Equation" r:id="rId5" imgW="15620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97669"/>
                        <a:ext cx="2341562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444084" y="380180"/>
            <a:ext cx="12954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Example 2:</a:t>
            </a:r>
            <a:endParaRPr lang="en-US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211145"/>
              </p:ext>
            </p:extLst>
          </p:nvPr>
        </p:nvGraphicFramePr>
        <p:xfrm>
          <a:off x="1927754" y="1658911"/>
          <a:ext cx="251301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6" name="Equation" r:id="rId7" imgW="1676160" imgH="736560" progId="Equation.3">
                  <p:embed/>
                </p:oleObj>
              </mc:Choice>
              <mc:Fallback>
                <p:oleObj name="Equation" r:id="rId7" imgW="167616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754" y="1658911"/>
                        <a:ext cx="2513013" cy="1104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295869"/>
              </p:ext>
            </p:extLst>
          </p:nvPr>
        </p:nvGraphicFramePr>
        <p:xfrm>
          <a:off x="2003954" y="2878111"/>
          <a:ext cx="27797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7" name="Equation" r:id="rId9" imgW="1854000" imgH="711000" progId="Equation.3">
                  <p:embed/>
                </p:oleObj>
              </mc:Choice>
              <mc:Fallback>
                <p:oleObj name="Equation" r:id="rId9" imgW="185400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954" y="2878111"/>
                        <a:ext cx="277971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416316"/>
              </p:ext>
            </p:extLst>
          </p:nvPr>
        </p:nvGraphicFramePr>
        <p:xfrm>
          <a:off x="4823354" y="2878111"/>
          <a:ext cx="35226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8" name="Equation" r:id="rId11" imgW="2349360" imgH="711000" progId="Equation.3">
                  <p:embed/>
                </p:oleObj>
              </mc:Choice>
              <mc:Fallback>
                <p:oleObj name="Equation" r:id="rId11" imgW="234936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354" y="2878111"/>
                        <a:ext cx="352266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246580"/>
              </p:ext>
            </p:extLst>
          </p:nvPr>
        </p:nvGraphicFramePr>
        <p:xfrm>
          <a:off x="2080154" y="4021111"/>
          <a:ext cx="12366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9" name="Equation" r:id="rId13" imgW="825480" imgH="711000" progId="Equation.3">
                  <p:embed/>
                </p:oleObj>
              </mc:Choice>
              <mc:Fallback>
                <p:oleObj name="Equation" r:id="rId13" imgW="82548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154" y="4021111"/>
                        <a:ext cx="123666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197334"/>
              </p:ext>
            </p:extLst>
          </p:nvPr>
        </p:nvGraphicFramePr>
        <p:xfrm>
          <a:off x="3889904" y="4021111"/>
          <a:ext cx="9699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0" name="Equation" r:id="rId15" imgW="647640" imgH="711000" progId="Equation.3">
                  <p:embed/>
                </p:oleObj>
              </mc:Choice>
              <mc:Fallback>
                <p:oleObj name="Equation" r:id="rId15" imgW="647640" imgH="71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904" y="4021111"/>
                        <a:ext cx="969963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374934"/>
              </p:ext>
            </p:extLst>
          </p:nvPr>
        </p:nvGraphicFramePr>
        <p:xfrm>
          <a:off x="5204354" y="4325911"/>
          <a:ext cx="262774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1" name="Equation" r:id="rId17" imgW="1206360" imgH="279360" progId="Equation.3">
                  <p:embed/>
                </p:oleObj>
              </mc:Choice>
              <mc:Fallback>
                <p:oleObj name="Equation" r:id="rId17" imgW="120636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4354" y="4325911"/>
                        <a:ext cx="2627745" cy="609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879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57500" y="1447800"/>
            <a:ext cx="3733800" cy="12003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lvl="1" algn="ctr">
              <a:lnSpc>
                <a:spcPct val="150000"/>
              </a:lnSpc>
            </a:pPr>
            <a:r>
              <a:rPr lang="en-US" sz="4800" b="1" dirty="0" smtClean="0">
                <a:latin typeface="Edwardian Script ITC" panose="030303020407070D0804" pitchFamily="66" charset="0"/>
              </a:rPr>
              <a:t>Thank You !</a:t>
            </a:r>
            <a:endParaRPr lang="en-US" sz="2200" dirty="0">
              <a:latin typeface="Edwardian Script ITC" panose="030303020407070D08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52800" y="2819400"/>
            <a:ext cx="2743200" cy="101566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  <a:latin typeface="AdageDisplayCapsSSK" panose="00000400000000000000" pitchFamily="2" charset="0"/>
                <a:cs typeface="Times New Roman" pitchFamily="18" charset="0"/>
              </a:rPr>
              <a:t>END</a:t>
            </a:r>
            <a:endParaRPr lang="en-US" sz="6000" dirty="0">
              <a:solidFill>
                <a:schemeClr val="bg1"/>
              </a:solidFill>
              <a:latin typeface="AdageDisplayCapsSSK" panose="00000400000000000000" pitchFamily="2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22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2454</TotalTime>
  <Words>1381</Words>
  <Application>Microsoft Office PowerPoint</Application>
  <PresentationFormat>On-screen Show (4:3)</PresentationFormat>
  <Paragraphs>268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AdageDisplayCapsSSK</vt:lpstr>
      <vt:lpstr>Arial</vt:lpstr>
      <vt:lpstr>Calibri</vt:lpstr>
      <vt:lpstr>Dutch801 Rm BT</vt:lpstr>
      <vt:lpstr>Edwardian Script ITC</vt:lpstr>
      <vt:lpstr>Iskoola Pota</vt:lpstr>
      <vt:lpstr>Latha</vt:lpstr>
      <vt:lpstr>Segoe UI</vt:lpstr>
      <vt:lpstr>Symbol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dtc</cp:lastModifiedBy>
  <cp:revision>240</cp:revision>
  <dcterms:created xsi:type="dcterms:W3CDTF">2018-01-21T14:07:18Z</dcterms:created>
  <dcterms:modified xsi:type="dcterms:W3CDTF">2023-06-06T10:03:23Z</dcterms:modified>
</cp:coreProperties>
</file>