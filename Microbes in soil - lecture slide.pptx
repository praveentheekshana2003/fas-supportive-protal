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Default Extension="emf" ContentType="image/x-emf"/>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67.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notesSlides/notesSlide37.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s/slide139.xml" ContentType="application/vnd.openxmlformats-officedocument.presentationml.slide+xml"/>
  <Override PartName="/ppt/slides/slide157.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82"/>
  </p:notesMasterIdLst>
  <p:handoutMasterIdLst>
    <p:handoutMasterId r:id="rId183"/>
  </p:handoutMasterIdLst>
  <p:sldIdLst>
    <p:sldId id="600" r:id="rId2"/>
    <p:sldId id="601" r:id="rId3"/>
    <p:sldId id="602" r:id="rId4"/>
    <p:sldId id="603" r:id="rId5"/>
    <p:sldId id="604" r:id="rId6"/>
    <p:sldId id="605" r:id="rId7"/>
    <p:sldId id="606" r:id="rId8"/>
    <p:sldId id="607" r:id="rId9"/>
    <p:sldId id="608" r:id="rId10"/>
    <p:sldId id="609" r:id="rId11"/>
    <p:sldId id="610" r:id="rId12"/>
    <p:sldId id="611" r:id="rId13"/>
    <p:sldId id="612" r:id="rId14"/>
    <p:sldId id="613" r:id="rId15"/>
    <p:sldId id="614" r:id="rId16"/>
    <p:sldId id="615" r:id="rId17"/>
    <p:sldId id="616" r:id="rId18"/>
    <p:sldId id="617" r:id="rId19"/>
    <p:sldId id="618" r:id="rId20"/>
    <p:sldId id="619" r:id="rId21"/>
    <p:sldId id="620" r:id="rId22"/>
    <p:sldId id="621" r:id="rId23"/>
    <p:sldId id="622" r:id="rId24"/>
    <p:sldId id="623" r:id="rId25"/>
    <p:sldId id="624" r:id="rId26"/>
    <p:sldId id="625" r:id="rId27"/>
    <p:sldId id="626" r:id="rId28"/>
    <p:sldId id="627" r:id="rId29"/>
    <p:sldId id="628" r:id="rId30"/>
    <p:sldId id="629" r:id="rId31"/>
    <p:sldId id="630" r:id="rId32"/>
    <p:sldId id="631" r:id="rId33"/>
    <p:sldId id="632" r:id="rId34"/>
    <p:sldId id="633" r:id="rId35"/>
    <p:sldId id="634" r:id="rId36"/>
    <p:sldId id="635" r:id="rId37"/>
    <p:sldId id="636" r:id="rId38"/>
    <p:sldId id="637" r:id="rId39"/>
    <p:sldId id="638" r:id="rId40"/>
    <p:sldId id="639" r:id="rId41"/>
    <p:sldId id="640" r:id="rId42"/>
    <p:sldId id="641" r:id="rId43"/>
    <p:sldId id="642" r:id="rId44"/>
    <p:sldId id="643" r:id="rId45"/>
    <p:sldId id="644" r:id="rId46"/>
    <p:sldId id="645" r:id="rId47"/>
    <p:sldId id="646" r:id="rId48"/>
    <p:sldId id="647" r:id="rId49"/>
    <p:sldId id="649" r:id="rId50"/>
    <p:sldId id="259" r:id="rId51"/>
    <p:sldId id="260" r:id="rId52"/>
    <p:sldId id="261" r:id="rId53"/>
    <p:sldId id="262" r:id="rId54"/>
    <p:sldId id="263" r:id="rId55"/>
    <p:sldId id="264" r:id="rId56"/>
    <p:sldId id="265" r:id="rId57"/>
    <p:sldId id="266" r:id="rId58"/>
    <p:sldId id="267" r:id="rId59"/>
    <p:sldId id="268" r:id="rId60"/>
    <p:sldId id="269" r:id="rId61"/>
    <p:sldId id="270" r:id="rId62"/>
    <p:sldId id="271" r:id="rId63"/>
    <p:sldId id="273" r:id="rId64"/>
    <p:sldId id="390" r:id="rId65"/>
    <p:sldId id="278" r:id="rId66"/>
    <p:sldId id="392" r:id="rId67"/>
    <p:sldId id="393" r:id="rId68"/>
    <p:sldId id="394" r:id="rId69"/>
    <p:sldId id="395" r:id="rId70"/>
    <p:sldId id="396" r:id="rId71"/>
    <p:sldId id="279" r:id="rId72"/>
    <p:sldId id="280" r:id="rId73"/>
    <p:sldId id="281" r:id="rId74"/>
    <p:sldId id="308" r:id="rId75"/>
    <p:sldId id="309" r:id="rId76"/>
    <p:sldId id="310" r:id="rId77"/>
    <p:sldId id="320" r:id="rId78"/>
    <p:sldId id="321" r:id="rId79"/>
    <p:sldId id="322" r:id="rId80"/>
    <p:sldId id="323" r:id="rId81"/>
    <p:sldId id="324" r:id="rId82"/>
    <p:sldId id="325" r:id="rId83"/>
    <p:sldId id="326" r:id="rId84"/>
    <p:sldId id="330" r:id="rId85"/>
    <p:sldId id="337" r:id="rId86"/>
    <p:sldId id="338" r:id="rId87"/>
    <p:sldId id="341" r:id="rId88"/>
    <p:sldId id="342" r:id="rId89"/>
    <p:sldId id="343" r:id="rId90"/>
    <p:sldId id="344" r:id="rId91"/>
    <p:sldId id="398" r:id="rId92"/>
    <p:sldId id="399" r:id="rId93"/>
    <p:sldId id="400" r:id="rId94"/>
    <p:sldId id="401" r:id="rId95"/>
    <p:sldId id="402" r:id="rId96"/>
    <p:sldId id="403" r:id="rId97"/>
    <p:sldId id="404" r:id="rId98"/>
    <p:sldId id="405" r:id="rId99"/>
    <p:sldId id="406" r:id="rId100"/>
    <p:sldId id="407" r:id="rId101"/>
    <p:sldId id="408" r:id="rId102"/>
    <p:sldId id="409" r:id="rId103"/>
    <p:sldId id="410" r:id="rId104"/>
    <p:sldId id="345" r:id="rId105"/>
    <p:sldId id="346" r:id="rId106"/>
    <p:sldId id="426" r:id="rId107"/>
    <p:sldId id="427" r:id="rId108"/>
    <p:sldId id="429" r:id="rId109"/>
    <p:sldId id="432" r:id="rId110"/>
    <p:sldId id="433" r:id="rId111"/>
    <p:sldId id="435" r:id="rId112"/>
    <p:sldId id="436" r:id="rId113"/>
    <p:sldId id="437" r:id="rId114"/>
    <p:sldId id="438" r:id="rId115"/>
    <p:sldId id="440" r:id="rId116"/>
    <p:sldId id="443" r:id="rId117"/>
    <p:sldId id="447" r:id="rId118"/>
    <p:sldId id="449" r:id="rId119"/>
    <p:sldId id="452" r:id="rId120"/>
    <p:sldId id="455" r:id="rId121"/>
    <p:sldId id="456" r:id="rId122"/>
    <p:sldId id="457" r:id="rId123"/>
    <p:sldId id="349" r:id="rId124"/>
    <p:sldId id="412" r:id="rId125"/>
    <p:sldId id="414" r:id="rId126"/>
    <p:sldId id="419" r:id="rId127"/>
    <p:sldId id="415" r:id="rId128"/>
    <p:sldId id="417" r:id="rId129"/>
    <p:sldId id="357" r:id="rId130"/>
    <p:sldId id="358" r:id="rId131"/>
    <p:sldId id="359" r:id="rId132"/>
    <p:sldId id="360" r:id="rId133"/>
    <p:sldId id="362" r:id="rId134"/>
    <p:sldId id="363" r:id="rId135"/>
    <p:sldId id="381" r:id="rId136"/>
    <p:sldId id="487" r:id="rId137"/>
    <p:sldId id="488" r:id="rId138"/>
    <p:sldId id="490" r:id="rId139"/>
    <p:sldId id="492" r:id="rId140"/>
    <p:sldId id="494" r:id="rId141"/>
    <p:sldId id="496" r:id="rId142"/>
    <p:sldId id="498" r:id="rId143"/>
    <p:sldId id="499" r:id="rId144"/>
    <p:sldId id="500" r:id="rId145"/>
    <p:sldId id="503" r:id="rId146"/>
    <p:sldId id="651" r:id="rId147"/>
    <p:sldId id="653" r:id="rId148"/>
    <p:sldId id="505" r:id="rId149"/>
    <p:sldId id="506" r:id="rId150"/>
    <p:sldId id="508" r:id="rId151"/>
    <p:sldId id="511" r:id="rId152"/>
    <p:sldId id="513" r:id="rId153"/>
    <p:sldId id="514" r:id="rId154"/>
    <p:sldId id="516" r:id="rId155"/>
    <p:sldId id="517" r:id="rId156"/>
    <p:sldId id="518" r:id="rId157"/>
    <p:sldId id="519" r:id="rId158"/>
    <p:sldId id="520" r:id="rId159"/>
    <p:sldId id="524" r:id="rId160"/>
    <p:sldId id="526" r:id="rId161"/>
    <p:sldId id="527" r:id="rId162"/>
    <p:sldId id="529" r:id="rId163"/>
    <p:sldId id="530" r:id="rId164"/>
    <p:sldId id="532" r:id="rId165"/>
    <p:sldId id="535" r:id="rId166"/>
    <p:sldId id="537" r:id="rId167"/>
    <p:sldId id="540" r:id="rId168"/>
    <p:sldId id="541" r:id="rId169"/>
    <p:sldId id="544" r:id="rId170"/>
    <p:sldId id="546" r:id="rId171"/>
    <p:sldId id="547" r:id="rId172"/>
    <p:sldId id="548" r:id="rId173"/>
    <p:sldId id="549" r:id="rId174"/>
    <p:sldId id="550" r:id="rId175"/>
    <p:sldId id="551" r:id="rId176"/>
    <p:sldId id="553" r:id="rId177"/>
    <p:sldId id="554" r:id="rId178"/>
    <p:sldId id="555" r:id="rId179"/>
    <p:sldId id="558" r:id="rId180"/>
    <p:sldId id="654" r:id="rId18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notesMaster" Target="notesMasters/notesMaster1.xml"/><Relationship Id="rId187"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Georgia" pitchFamily="18" charset="0"/>
              </a:defRPr>
            </a:lvl1pPr>
          </a:lstStyle>
          <a:p>
            <a:endParaRPr lang="en-US"/>
          </a:p>
        </p:txBody>
      </p:sp>
      <p:sp>
        <p:nvSpPr>
          <p:cNvPr id="17613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Georgia" pitchFamily="18" charset="0"/>
              </a:defRPr>
            </a:lvl1pPr>
          </a:lstStyle>
          <a:p>
            <a:fld id="{EDB0E030-1E2C-4143-AEB7-01D6093BABDC}" type="datetimeFigureOut">
              <a:rPr lang="en-US"/>
              <a:pPr/>
              <a:t>7/26/2016</a:t>
            </a:fld>
            <a:endParaRPr lang="en-US"/>
          </a:p>
        </p:txBody>
      </p:sp>
      <p:sp>
        <p:nvSpPr>
          <p:cNvPr id="17613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eorgia" pitchFamily="18" charset="0"/>
              </a:defRPr>
            </a:lvl1pPr>
          </a:lstStyle>
          <a:p>
            <a:endParaRPr lang="en-US"/>
          </a:p>
        </p:txBody>
      </p:sp>
      <p:sp>
        <p:nvSpPr>
          <p:cNvPr id="17613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eorgia" pitchFamily="18" charset="0"/>
              </a:defRPr>
            </a:lvl1pPr>
          </a:lstStyle>
          <a:p>
            <a:fld id="{DEE60DE1-E980-488C-A777-ABF411481950}" type="slidenum">
              <a:rPr lang="en-US"/>
              <a:pPr/>
              <a:t>‹#›</a:t>
            </a:fld>
            <a:endParaRPr lang="en-US"/>
          </a:p>
        </p:txBody>
      </p:sp>
    </p:spTree>
    <p:extLst>
      <p:ext uri="{BB962C8B-B14F-4D97-AF65-F5344CB8AC3E}">
        <p14:creationId xmlns="" xmlns:p14="http://schemas.microsoft.com/office/powerpoint/2010/main" val="2118105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384D8DEE-0443-401A-B386-26023CA65263}" type="datetimeFigureOut">
              <a:rPr lang="en-US"/>
              <a:pPr>
                <a:defRPr/>
              </a:pPr>
              <a:t>7/26/2016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83675B98-F2CA-4B53-B5CA-F60A3C70FECE}" type="slidenum">
              <a:rPr lang="en-US"/>
              <a:pPr>
                <a:defRPr/>
              </a:pPr>
              <a:t>‹#›</a:t>
            </a:fld>
            <a:endParaRPr lang="en-US"/>
          </a:p>
        </p:txBody>
      </p:sp>
    </p:spTree>
    <p:extLst>
      <p:ext uri="{BB962C8B-B14F-4D97-AF65-F5344CB8AC3E}">
        <p14:creationId xmlns="" xmlns:p14="http://schemas.microsoft.com/office/powerpoint/2010/main" val="395223045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9830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687304B-5867-43A5-BCD0-C626677182B6}" type="slidenum">
              <a:rPr lang="en-US" smtClean="0"/>
              <a:pPr fontAlgn="base">
                <a:spcBef>
                  <a:spcPct val="0"/>
                </a:spcBef>
                <a:spcAft>
                  <a:spcPct val="0"/>
                </a:spcAft>
                <a:defRPr/>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9933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0BD13F3-AF6F-4B89-BE1C-F4D37AB4FF79}" type="slidenum">
              <a:rPr lang="en-US" smtClean="0"/>
              <a:pPr fontAlgn="base">
                <a:spcBef>
                  <a:spcPct val="0"/>
                </a:spcBef>
                <a:spcAft>
                  <a:spcPct val="0"/>
                </a:spcAft>
                <a:defRPr/>
              </a:pPr>
              <a:t>5</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DB2E554-B149-40EF-B6D0-2FBA2FF8A18C}" type="slidenum">
              <a:rPr lang="en-US" smtClean="0">
                <a:latin typeface="Arial" pitchFamily="34" charset="0"/>
              </a:rPr>
              <a:pPr fontAlgn="base">
                <a:spcBef>
                  <a:spcPct val="0"/>
                </a:spcBef>
                <a:spcAft>
                  <a:spcPct val="0"/>
                </a:spcAft>
              </a:pPr>
              <a:t>12</a:t>
            </a:fld>
            <a:endParaRPr lang="en-US" smtClean="0">
              <a:latin typeface="Arial" pitchFamily="34" charset="0"/>
            </a:endParaRPr>
          </a:p>
        </p:txBody>
      </p:sp>
      <p:sp>
        <p:nvSpPr>
          <p:cNvPr id="1249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49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0342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57D6157-C7B9-4A7E-9632-6DD2F35D3434}" type="slidenum">
              <a:rPr lang="en-US" smtClean="0"/>
              <a:pPr fontAlgn="base">
                <a:spcBef>
                  <a:spcPct val="0"/>
                </a:spcBef>
                <a:spcAft>
                  <a:spcPct val="0"/>
                </a:spcAft>
                <a:defRPr/>
              </a:pPr>
              <a:t>30</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41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82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1A9E9C0-1F9E-4AEF-B79C-0AFD0AAC3388}" type="slidenum">
              <a:rPr lang="en-US"/>
              <a:pPr fontAlgn="base">
                <a:spcBef>
                  <a:spcPct val="0"/>
                </a:spcBef>
                <a:spcAft>
                  <a:spcPct val="0"/>
                </a:spcAft>
              </a:pPr>
              <a:t>79</a:t>
            </a:fld>
            <a:endParaRPr lang="en-US"/>
          </a:p>
        </p:txBody>
      </p:sp>
      <p:sp>
        <p:nvSpPr>
          <p:cNvPr id="139267"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9268"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US" b="1" smtClean="0">
                <a:cs typeface="Times New Roman" pitchFamily="18" charset="0"/>
              </a:rPr>
              <a:t>Plants require certain elements for growth</a:t>
            </a:r>
          </a:p>
          <a:p>
            <a:pPr>
              <a:spcBef>
                <a:spcPct val="0"/>
              </a:spcBef>
            </a:pPr>
            <a:r>
              <a:rPr lang="en-US" smtClean="0">
                <a:latin typeface="Symbol" pitchFamily="18" charset="2"/>
                <a:cs typeface="Times New Roman" pitchFamily="18" charset="0"/>
              </a:rPr>
              <a:t>·</a:t>
            </a:r>
            <a:r>
              <a:rPr lang="en-US" smtClean="0">
                <a:cs typeface="Times New Roman" pitchFamily="18" charset="0"/>
              </a:rPr>
              <a:t>       </a:t>
            </a:r>
            <a:r>
              <a:rPr lang="en-US" b="1" smtClean="0">
                <a:cs typeface="Times New Roman" pitchFamily="18" charset="0"/>
              </a:rPr>
              <a:t>Basic elements that are used in photosynthesis and respiration (Carbon, Oxygen) or are extracted directly from the atmosphere via breakdown of water (Hydrogen)</a:t>
            </a:r>
            <a:endParaRPr lang="en-US" smtClean="0">
              <a:cs typeface="Times New Roman" pitchFamily="18" charset="0"/>
            </a:endParaRPr>
          </a:p>
          <a:p>
            <a:pPr>
              <a:spcBef>
                <a:spcPct val="0"/>
              </a:spcBef>
            </a:pPr>
            <a:r>
              <a:rPr lang="en-US" smtClean="0">
                <a:latin typeface="Symbol" pitchFamily="18" charset="2"/>
                <a:cs typeface="Times New Roman" pitchFamily="18" charset="0"/>
              </a:rPr>
              <a:t>·</a:t>
            </a:r>
            <a:r>
              <a:rPr lang="en-US" smtClean="0">
                <a:cs typeface="Times New Roman" pitchFamily="18" charset="0"/>
              </a:rPr>
              <a:t>       </a:t>
            </a:r>
            <a:r>
              <a:rPr lang="en-US" b="1" smtClean="0">
                <a:cs typeface="Times New Roman" pitchFamily="18" charset="0"/>
              </a:rPr>
              <a:t>There are the macro-nutrients – needed in significant amounts</a:t>
            </a:r>
            <a:endParaRPr lang="en-US" smtClean="0">
              <a:cs typeface="Times New Roman" pitchFamily="18" charset="0"/>
            </a:endParaRPr>
          </a:p>
          <a:p>
            <a:pPr>
              <a:spcBef>
                <a:spcPct val="0"/>
              </a:spcBef>
            </a:pPr>
            <a:r>
              <a:rPr lang="en-US" smtClean="0">
                <a:latin typeface="Symbol" pitchFamily="18" charset="2"/>
                <a:cs typeface="Times New Roman" pitchFamily="18" charset="0"/>
              </a:rPr>
              <a:t>·</a:t>
            </a:r>
            <a:r>
              <a:rPr lang="en-US" smtClean="0">
                <a:cs typeface="Times New Roman" pitchFamily="18" charset="0"/>
              </a:rPr>
              <a:t>       </a:t>
            </a:r>
            <a:r>
              <a:rPr lang="en-US" b="1" smtClean="0">
                <a:cs typeface="Times New Roman" pitchFamily="18" charset="0"/>
              </a:rPr>
              <a:t>There are micro-needed in trace amounts</a:t>
            </a:r>
            <a:endParaRPr lang="en-US" smtClean="0">
              <a:cs typeface="Times New Roman" pitchFamily="18" charset="0"/>
            </a:endParaRPr>
          </a:p>
          <a:p>
            <a:pPr>
              <a:spcBef>
                <a:spcPct val="0"/>
              </a:spcBef>
            </a:pPr>
            <a:r>
              <a:rPr lang="en-US" smtClean="0">
                <a:latin typeface="Symbol" pitchFamily="18" charset="2"/>
                <a:cs typeface="Times New Roman" pitchFamily="18" charset="0"/>
              </a:rPr>
              <a:t>·</a:t>
            </a:r>
            <a:r>
              <a:rPr lang="en-US" smtClean="0">
                <a:cs typeface="Times New Roman" pitchFamily="18" charset="0"/>
              </a:rPr>
              <a:t>       </a:t>
            </a:r>
            <a:r>
              <a:rPr lang="en-US" b="1" smtClean="0">
                <a:cs typeface="Times New Roman" pitchFamily="18" charset="0"/>
              </a:rPr>
              <a:t>Note a variety of other elements can be found in plants, but none are actually required for growth</a:t>
            </a:r>
            <a:endParaRPr lang="en-US" smtClean="0">
              <a:cs typeface="Times New Roman" pitchFamily="18" charset="0"/>
            </a:endParaRPr>
          </a:p>
          <a:p>
            <a:pPr>
              <a:spcBef>
                <a:spcPct val="0"/>
              </a:spcBef>
            </a:pPr>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82F5CAA-8F6E-41B6-9BA1-D705D159856E}" type="slidenum">
              <a:rPr lang="en-US"/>
              <a:pPr fontAlgn="base">
                <a:spcBef>
                  <a:spcPct val="0"/>
                </a:spcBef>
                <a:spcAft>
                  <a:spcPct val="0"/>
                </a:spcAft>
              </a:pPr>
              <a:t>80</a:t>
            </a:fld>
            <a:endParaRPr lang="en-US"/>
          </a:p>
        </p:txBody>
      </p:sp>
      <p:sp>
        <p:nvSpPr>
          <p:cNvPr id="1402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02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This is what we are going to explore more closely in this lecture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13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23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64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bwMode="auto">
          <a:noFill/>
          <a:ln>
            <a:solidFill>
              <a:srgbClr val="000000"/>
            </a:solidFill>
            <a:miter lim="800000"/>
            <a:headEnd/>
            <a:tailEnd/>
          </a:ln>
        </p:spPr>
      </p:sp>
      <p:sp>
        <p:nvSpPr>
          <p:cNvPr id="14950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495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8AEE240-00F7-4C73-B143-67A95D41F763}" type="slidenum">
              <a:rPr lang="en-US"/>
              <a:pPr fontAlgn="base">
                <a:spcBef>
                  <a:spcPct val="0"/>
                </a:spcBef>
                <a:spcAft>
                  <a:spcPct val="0"/>
                </a:spcAft>
              </a:pPr>
              <a:t>86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25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36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8" tIns="45719" rIns="91438" bIns="45719" anchor="b"/>
          <a:lstStyle/>
          <a:p>
            <a:pPr algn="r"/>
            <a:fld id="{4151695F-A2BF-400E-B8D4-D8887740663D}" type="slidenum">
              <a:rPr lang="en-US" sz="1200">
                <a:latin typeface="Calibri" pitchFamily="34" charset="0"/>
              </a:rPr>
              <a:pPr algn="r"/>
              <a:t>91</a:t>
            </a:fld>
            <a:endParaRPr lang="en-US" sz="1200">
              <a:latin typeface="Calibri" pitchFamily="34" charset="0"/>
            </a:endParaRPr>
          </a:p>
        </p:txBody>
      </p:sp>
      <p:sp>
        <p:nvSpPr>
          <p:cNvPr id="1648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48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r>
              <a:rPr lang="en-US" sz="1600" smtClean="0"/>
              <a:t>Occurs only in procaryots:</a:t>
            </a:r>
          </a:p>
          <a:p>
            <a:pPr lvl="1" eaLnBrk="1" hangingPunct="1">
              <a:spcBef>
                <a:spcPct val="0"/>
              </a:spcBef>
              <a:buFontTx/>
              <a:buChar char="•"/>
            </a:pPr>
            <a:r>
              <a:rPr lang="en-US" sz="1600" smtClean="0"/>
              <a:t>Bacteria (e.g. </a:t>
            </a:r>
            <a:r>
              <a:rPr lang="en-US" sz="1600" i="1" smtClean="0"/>
              <a:t>Rhizobium, Frankia</a:t>
            </a:r>
            <a:r>
              <a:rPr lang="en-US" sz="1600" smtClean="0"/>
              <a:t>) – </a:t>
            </a:r>
            <a:r>
              <a:rPr lang="en-US" sz="1600" b="1" u="sng" smtClean="0"/>
              <a:t>heterotrophic – energy &amp; C from plant (exudates, residues)</a:t>
            </a:r>
          </a:p>
          <a:p>
            <a:pPr lvl="1" eaLnBrk="1" hangingPunct="1">
              <a:spcBef>
                <a:spcPct val="0"/>
              </a:spcBef>
              <a:buFontTx/>
              <a:buChar char="•"/>
            </a:pPr>
            <a:r>
              <a:rPr lang="en-US" sz="1600" smtClean="0"/>
              <a:t>Cyanobacteria (e.g. </a:t>
            </a:r>
            <a:r>
              <a:rPr lang="en-US" sz="1600" i="1" smtClean="0"/>
              <a:t>Nostoc</a:t>
            </a:r>
            <a:r>
              <a:rPr lang="en-US" sz="1600" smtClean="0"/>
              <a:t>, </a:t>
            </a:r>
            <a:r>
              <a:rPr lang="en-US" sz="1600" i="1" smtClean="0"/>
              <a:t>Anabaena</a:t>
            </a:r>
            <a:r>
              <a:rPr lang="en-US" sz="1600" smtClean="0"/>
              <a:t>) – </a:t>
            </a:r>
            <a:r>
              <a:rPr lang="en-US" sz="1600" b="1" u="sng" smtClean="0"/>
              <a:t>photosynthetic – more N fixation than free-living heterotrophs</a:t>
            </a:r>
          </a:p>
          <a:p>
            <a:pPr lvl="2" eaLnBrk="1" hangingPunct="1">
              <a:spcBef>
                <a:spcPct val="0"/>
              </a:spcBef>
              <a:buFontTx/>
              <a:buChar char="•"/>
            </a:pPr>
            <a:r>
              <a:rPr lang="en-US" sz="1600" u="sng" smtClean="0"/>
              <a:t>Free-living</a:t>
            </a:r>
            <a:r>
              <a:rPr lang="en-US" sz="1600" smtClean="0"/>
              <a:t> in the soil </a:t>
            </a:r>
            <a:r>
              <a:rPr lang="en-US" sz="1600" b="1" smtClean="0"/>
              <a:t>or aquatic – heterocysts </a:t>
            </a:r>
          </a:p>
          <a:p>
            <a:pPr lvl="2" eaLnBrk="1" hangingPunct="1">
              <a:spcBef>
                <a:spcPct val="0"/>
              </a:spcBef>
              <a:buFontTx/>
              <a:buChar char="•"/>
            </a:pPr>
            <a:r>
              <a:rPr lang="en-US" sz="1600" u="sng" smtClean="0"/>
              <a:t>symbiotic</a:t>
            </a:r>
            <a:r>
              <a:rPr lang="en-US" sz="1600" smtClean="0"/>
              <a:t> with plants </a:t>
            </a:r>
            <a:r>
              <a:rPr lang="en-US" sz="1600" b="1" smtClean="0"/>
              <a:t>– root nodules – </a:t>
            </a:r>
            <a:r>
              <a:rPr lang="en-US" sz="1600" b="1" u="sng" smtClean="0"/>
              <a:t>most N-Fix by symbiotic fixers</a:t>
            </a:r>
          </a:p>
          <a:p>
            <a:pPr lvl="2" eaLnBrk="1" hangingPunct="1">
              <a:spcBef>
                <a:spcPct val="0"/>
              </a:spcBef>
              <a:buFontTx/>
              <a:buChar char="•"/>
            </a:pPr>
            <a:r>
              <a:rPr lang="en-US" sz="1600" smtClean="0"/>
              <a:t>Loosely associated with plants </a:t>
            </a:r>
            <a:r>
              <a:rPr lang="en-US" sz="1600" b="1" smtClean="0"/>
              <a:t>– in soil.  May not release N until dies.</a:t>
            </a:r>
            <a:endParaRPr lang="en-US" sz="1600" u="sng" smtClean="0"/>
          </a:p>
          <a:p>
            <a:pPr eaLnBrk="1" hangingPunct="1">
              <a:spcBef>
                <a:spcPct val="0"/>
              </a:spcBef>
              <a:buFontTx/>
              <a:buChar char="•"/>
            </a:pPr>
            <a:r>
              <a:rPr lang="en-US" sz="1600" u="sng" smtClean="0"/>
              <a:t>Symbiosis</a:t>
            </a:r>
            <a:r>
              <a:rPr lang="en-US" sz="1600" smtClean="0"/>
              <a:t> with plants – </a:t>
            </a:r>
            <a:r>
              <a:rPr lang="en-US" sz="1600" i="1" smtClean="0"/>
              <a:t>mutualism</a:t>
            </a:r>
          </a:p>
          <a:p>
            <a:pPr lvl="1" eaLnBrk="1" hangingPunct="1">
              <a:spcBef>
                <a:spcPct val="0"/>
              </a:spcBef>
              <a:buFontTx/>
              <a:buChar char="•"/>
            </a:pPr>
            <a:r>
              <a:rPr lang="en-US" sz="1600" smtClean="0"/>
              <a:t>Procaryot receives carbohydrates</a:t>
            </a:r>
          </a:p>
          <a:p>
            <a:pPr lvl="2" eaLnBrk="1" hangingPunct="1">
              <a:spcBef>
                <a:spcPct val="0"/>
              </a:spcBef>
              <a:buFontTx/>
              <a:buChar char="•"/>
            </a:pPr>
            <a:r>
              <a:rPr lang="en-US" sz="1600" smtClean="0"/>
              <a:t>Plant may allocate up to 30% of its C to the symbiont</a:t>
            </a:r>
          </a:p>
          <a:p>
            <a:pPr lvl="1" eaLnBrk="1" hangingPunct="1">
              <a:spcBef>
                <a:spcPct val="0"/>
              </a:spcBef>
              <a:buFontTx/>
              <a:buChar char="•"/>
            </a:pPr>
            <a:r>
              <a:rPr lang="en-US" sz="1600" smtClean="0"/>
              <a:t>Plant provides anaerobic site – nodules </a:t>
            </a:r>
          </a:p>
          <a:p>
            <a:pPr lvl="2" eaLnBrk="1" hangingPunct="1">
              <a:spcBef>
                <a:spcPct val="0"/>
              </a:spcBef>
              <a:buFontTx/>
              <a:buChar char="•"/>
            </a:pPr>
            <a:r>
              <a:rPr lang="en-US" sz="1600" smtClean="0"/>
              <a:t>Plant receives </a:t>
            </a:r>
            <a:r>
              <a:rPr lang="en-US" sz="1600" b="1" smtClean="0"/>
              <a:t>mineral, available N </a:t>
            </a:r>
          </a:p>
          <a:p>
            <a:pPr lvl="2" eaLnBrk="1" hangingPunct="1">
              <a:spcBef>
                <a:spcPct val="0"/>
              </a:spcBef>
              <a:buFontTx/>
              <a:buChar char="•"/>
            </a:pPr>
            <a:endParaRPr lang="en-US" sz="1600" smtClean="0"/>
          </a:p>
          <a:p>
            <a:pPr eaLnBrk="1" hangingPunct="1">
              <a:spcBef>
                <a:spcPct val="0"/>
              </a:spcBef>
            </a:pPr>
            <a:endParaRPr lang="en-US" sz="160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8" tIns="45719" rIns="91438" bIns="45719" anchor="b"/>
          <a:lstStyle/>
          <a:p>
            <a:pPr algn="r"/>
            <a:fld id="{6D443748-76BE-43A5-91C4-13500DAD437A}" type="slidenum">
              <a:rPr lang="en-US" sz="1200">
                <a:latin typeface="Calibri" pitchFamily="34" charset="0"/>
              </a:rPr>
              <a:pPr algn="r"/>
              <a:t>93</a:t>
            </a:fld>
            <a:endParaRPr lang="en-US" sz="1200">
              <a:latin typeface="Calibri" pitchFamily="34" charset="0"/>
            </a:endParaRPr>
          </a:p>
        </p:txBody>
      </p:sp>
      <p:sp>
        <p:nvSpPr>
          <p:cNvPr id="165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5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z="1600" smtClean="0"/>
              <a:t>Examples of plant-N</a:t>
            </a:r>
            <a:r>
              <a:rPr lang="en-US" sz="1600" baseline="-25000" smtClean="0"/>
              <a:t>2</a:t>
            </a:r>
            <a:r>
              <a:rPr lang="en-US" sz="1600" smtClean="0"/>
              <a:t>-fixing symbiotic systems – Legumes (e.g. peas, soybeans, clovers)</a:t>
            </a:r>
          </a:p>
          <a:p>
            <a:pPr lvl="1" eaLnBrk="1" hangingPunct="1">
              <a:spcBef>
                <a:spcPct val="0"/>
              </a:spcBef>
              <a:buFontTx/>
              <a:buChar char="•"/>
            </a:pPr>
            <a:r>
              <a:rPr lang="en-US" sz="1600" b="1" smtClean="0"/>
              <a:t>very widespread, ecologically &amp; economically important</a:t>
            </a:r>
          </a:p>
          <a:p>
            <a:pPr lvl="1" eaLnBrk="1" hangingPunct="1">
              <a:spcBef>
                <a:spcPct val="0"/>
              </a:spcBef>
              <a:buFontTx/>
              <a:buChar char="•"/>
            </a:pPr>
            <a:r>
              <a:rPr lang="en-US" sz="1600" i="1" smtClean="0"/>
              <a:t>Rhizobium </a:t>
            </a:r>
            <a:r>
              <a:rPr lang="en-US" sz="1600" smtClean="0"/>
              <a:t>spp. bacteria </a:t>
            </a:r>
            <a:endParaRPr lang="en-US" sz="1600" b="1" smtClean="0"/>
          </a:p>
          <a:p>
            <a:pPr lvl="1" eaLnBrk="1" hangingPunct="1">
              <a:spcBef>
                <a:spcPct val="0"/>
              </a:spcBef>
              <a:buFontTx/>
              <a:buChar char="•"/>
            </a:pPr>
            <a:r>
              <a:rPr lang="en-US" sz="1600" smtClean="0"/>
              <a:t>Legumes with N</a:t>
            </a:r>
            <a:r>
              <a:rPr lang="en-US" sz="1600" baseline="-25000" smtClean="0"/>
              <a:t>2</a:t>
            </a:r>
            <a:r>
              <a:rPr lang="en-US" sz="1600" smtClean="0"/>
              <a:t>-fixing symbionts form “</a:t>
            </a:r>
            <a:r>
              <a:rPr lang="en-US" sz="1600" u="sng" smtClean="0"/>
              <a:t>nodules</a:t>
            </a:r>
            <a:r>
              <a:rPr lang="en-US" sz="1600" smtClean="0"/>
              <a:t>” on their roots </a:t>
            </a:r>
          </a:p>
          <a:p>
            <a:pPr eaLnBrk="1" hangingPunct="1">
              <a:spcBef>
                <a:spcPct val="0"/>
              </a:spcBef>
            </a:pPr>
            <a:r>
              <a:rPr lang="en-US" sz="1600" smtClean="0"/>
              <a:t>	– </a:t>
            </a:r>
            <a:r>
              <a:rPr lang="en-US" sz="1600" b="1" smtClean="0"/>
              <a:t>swollen region that “houses” bacteria</a:t>
            </a:r>
          </a:p>
          <a:p>
            <a:pPr eaLnBrk="1" hangingPunct="1">
              <a:spcBef>
                <a:spcPct val="0"/>
              </a:spcBef>
            </a:pPr>
            <a:r>
              <a:rPr lang="en-US" sz="1600" b="1" smtClean="0"/>
              <a:t>	- provides anaerobic site</a:t>
            </a:r>
          </a:p>
          <a:p>
            <a:pPr eaLnBrk="1" hangingPunct="1">
              <a:spcBef>
                <a:spcPct val="0"/>
              </a:spcBef>
            </a:pPr>
            <a:r>
              <a:rPr lang="en-US" sz="1600" smtClean="0"/>
              <a:t>	- </a:t>
            </a:r>
            <a:r>
              <a:rPr lang="en-US" sz="1600" b="1" smtClean="0"/>
              <a:t>not all have nodules</a:t>
            </a:r>
          </a:p>
          <a:p>
            <a:pPr eaLnBrk="1" hangingPunct="1">
              <a:spcBef>
                <a:spcPct val="0"/>
              </a:spcBef>
            </a:pPr>
            <a:endParaRPr lang="en-US" sz="160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8" tIns="45719" rIns="91438" bIns="45719" anchor="b"/>
          <a:lstStyle/>
          <a:p>
            <a:pPr algn="r"/>
            <a:fld id="{0C4E5641-6B6B-4135-9833-DC9321E495A4}" type="slidenum">
              <a:rPr lang="en-US" sz="1200">
                <a:latin typeface="Calibri" pitchFamily="34" charset="0"/>
              </a:rPr>
              <a:pPr algn="r"/>
              <a:t>94</a:t>
            </a:fld>
            <a:endParaRPr lang="en-US" sz="1200">
              <a:latin typeface="Calibri" pitchFamily="34" charset="0"/>
            </a:endParaRPr>
          </a:p>
        </p:txBody>
      </p:sp>
      <p:sp>
        <p:nvSpPr>
          <p:cNvPr id="166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6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r>
              <a:rPr lang="en-US" sz="1600" smtClean="0"/>
              <a:t>Symbionts regulate O</a:t>
            </a:r>
            <a:r>
              <a:rPr lang="en-US" sz="1600" baseline="-25000" smtClean="0"/>
              <a:t>2</a:t>
            </a:r>
            <a:r>
              <a:rPr lang="en-US" sz="1600" smtClean="0"/>
              <a:t> in the nodule by making </a:t>
            </a:r>
            <a:r>
              <a:rPr lang="en-US" sz="1600" u="sng" smtClean="0"/>
              <a:t>leghemoglobin</a:t>
            </a:r>
          </a:p>
          <a:p>
            <a:pPr lvl="1" eaLnBrk="1" hangingPunct="1">
              <a:spcBef>
                <a:spcPct val="0"/>
              </a:spcBef>
              <a:buFontTx/>
              <a:buChar char="•"/>
            </a:pPr>
            <a:r>
              <a:rPr lang="en-US" sz="1600" b="1" smtClean="0"/>
              <a:t>An oxygen carrier </a:t>
            </a:r>
            <a:r>
              <a:rPr lang="en-US" sz="1600" smtClean="0"/>
              <a:t>(in legumes) </a:t>
            </a:r>
            <a:r>
              <a:rPr lang="en-US" sz="1600" b="1" smtClean="0"/>
              <a:t>to prevent oxygen toxicity for the bacterium</a:t>
            </a:r>
            <a:endParaRPr lang="en-US" sz="1600" smtClean="0"/>
          </a:p>
          <a:p>
            <a:pPr lvl="1" eaLnBrk="1" hangingPunct="1">
              <a:spcBef>
                <a:spcPct val="0"/>
              </a:spcBef>
              <a:buFontTx/>
              <a:buChar char="•"/>
            </a:pPr>
            <a:r>
              <a:rPr lang="en-US" sz="1600" smtClean="0"/>
              <a:t> </a:t>
            </a:r>
            <a:r>
              <a:rPr lang="en-US" sz="1600" b="1" smtClean="0"/>
              <a:t>different pieces synthesized by the bacteria (heme) and in the plant (protein)</a:t>
            </a:r>
          </a:p>
          <a:p>
            <a:pPr eaLnBrk="1" hangingPunct="1">
              <a:spcBef>
                <a:spcPct val="0"/>
              </a:spcBef>
            </a:pPr>
            <a:endParaRPr lang="en-US" sz="1600" b="1"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8" tIns="45719" rIns="91438" bIns="45719" anchor="b"/>
          <a:lstStyle/>
          <a:p>
            <a:pPr algn="r"/>
            <a:fld id="{472C18EB-78C1-45C9-8313-F22D4B62872B}" type="slidenum">
              <a:rPr lang="en-US" sz="1200">
                <a:latin typeface="Calibri" pitchFamily="34" charset="0"/>
              </a:rPr>
              <a:pPr algn="r"/>
              <a:t>100</a:t>
            </a:fld>
            <a:endParaRPr lang="en-US" sz="1200">
              <a:latin typeface="Calibri" pitchFamily="34" charset="0"/>
            </a:endParaRPr>
          </a:p>
        </p:txBody>
      </p:sp>
      <p:sp>
        <p:nvSpPr>
          <p:cNvPr id="167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79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z="1600" smtClean="0"/>
              <a:t>(2) Non-legume symbiotic plants –</a:t>
            </a:r>
          </a:p>
          <a:p>
            <a:pPr eaLnBrk="1" hangingPunct="1">
              <a:lnSpc>
                <a:spcPct val="50000"/>
              </a:lnSpc>
              <a:spcBef>
                <a:spcPct val="0"/>
              </a:spcBef>
              <a:buFontTx/>
              <a:buChar char="•"/>
            </a:pPr>
            <a:r>
              <a:rPr lang="en-US" sz="1600" smtClean="0"/>
              <a:t>“Actinorhizal”= associated with actinomycetes (N</a:t>
            </a:r>
            <a:r>
              <a:rPr lang="en-US" sz="1600" baseline="-25000" smtClean="0"/>
              <a:t>2</a:t>
            </a:r>
            <a:r>
              <a:rPr lang="en-US" sz="1600" smtClean="0"/>
              <a:t>-fixing bacteria)</a:t>
            </a:r>
          </a:p>
          <a:p>
            <a:pPr lvl="2" eaLnBrk="1" hangingPunct="1">
              <a:spcBef>
                <a:spcPct val="0"/>
              </a:spcBef>
              <a:buFontTx/>
              <a:buChar char="•"/>
            </a:pPr>
            <a:r>
              <a:rPr lang="en-US" sz="1600" smtClean="0"/>
              <a:t>genus </a:t>
            </a:r>
            <a:r>
              <a:rPr lang="en-US" sz="1600" i="1" smtClean="0"/>
              <a:t>Frankia</a:t>
            </a:r>
            <a:endParaRPr lang="en-US" sz="1600" smtClean="0"/>
          </a:p>
          <a:p>
            <a:pPr lvl="1" eaLnBrk="1" hangingPunct="1">
              <a:lnSpc>
                <a:spcPct val="140000"/>
              </a:lnSpc>
              <a:spcBef>
                <a:spcPct val="0"/>
              </a:spcBef>
              <a:buFontTx/>
              <a:buChar char="•"/>
            </a:pPr>
            <a:r>
              <a:rPr lang="en-US" sz="1600" smtClean="0"/>
              <a:t>Usually woody species – e.g. Alders, </a:t>
            </a:r>
            <a:r>
              <a:rPr lang="en-US" sz="1600" i="1" smtClean="0"/>
              <a:t>Ceanothus</a:t>
            </a:r>
          </a:p>
          <a:p>
            <a:pPr lvl="1" eaLnBrk="1" hangingPunct="1">
              <a:spcBef>
                <a:spcPct val="0"/>
              </a:spcBef>
              <a:buFontTx/>
              <a:buChar char="•"/>
            </a:pPr>
            <a:r>
              <a:rPr lang="en-US" sz="1600" b="1" smtClean="0"/>
              <a:t>Bacteria occur in root or small vesicles</a:t>
            </a:r>
          </a:p>
          <a:p>
            <a:pPr eaLnBrk="1" hangingPunct="1">
              <a:spcBef>
                <a:spcPct val="0"/>
              </a:spcBef>
            </a:pPr>
            <a:endParaRPr lang="en-US" sz="160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46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56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8" tIns="45719" rIns="91438" bIns="45719" anchor="b"/>
          <a:lstStyle/>
          <a:p>
            <a:pPr algn="r"/>
            <a:fld id="{8C7D9BE4-5A53-4A47-BDE1-8DB2D0CB6860}" type="slidenum">
              <a:rPr lang="en-US" sz="1200">
                <a:latin typeface="Calibri" pitchFamily="34" charset="0"/>
              </a:rPr>
              <a:pPr algn="r"/>
              <a:t>126</a:t>
            </a:fld>
            <a:endParaRPr lang="en-US" sz="1200">
              <a:latin typeface="Calibri" pitchFamily="34" charset="0"/>
            </a:endParaRPr>
          </a:p>
        </p:txBody>
      </p:sp>
      <p:sp>
        <p:nvSpPr>
          <p:cNvPr id="169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9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25425" indent="-225425" eaLnBrk="1" hangingPunct="1">
              <a:lnSpc>
                <a:spcPct val="120000"/>
              </a:lnSpc>
              <a:spcBef>
                <a:spcPct val="0"/>
              </a:spcBef>
              <a:buFontTx/>
              <a:buAutoNum type="alphaUcPeriod" startAt="2"/>
            </a:pPr>
            <a:r>
              <a:rPr lang="en-US" sz="1600" smtClean="0"/>
              <a:t> Major groups of mycorrhizae:</a:t>
            </a:r>
          </a:p>
          <a:p>
            <a:pPr marL="225425" indent="-225425" eaLnBrk="1" hangingPunct="1">
              <a:lnSpc>
                <a:spcPct val="110000"/>
              </a:lnSpc>
              <a:spcBef>
                <a:spcPct val="0"/>
              </a:spcBef>
            </a:pPr>
            <a:r>
              <a:rPr lang="en-US" sz="1600" smtClean="0"/>
              <a:t>  1)  </a:t>
            </a:r>
            <a:r>
              <a:rPr lang="en-US" sz="1600" b="1" u="sng" smtClean="0"/>
              <a:t>Ecto</a:t>
            </a:r>
            <a:r>
              <a:rPr lang="en-US" sz="1600" u="sng" smtClean="0"/>
              <a:t>mycorrhizae</a:t>
            </a:r>
            <a:r>
              <a:rPr lang="en-US" sz="1600" smtClean="0"/>
              <a:t> – </a:t>
            </a:r>
          </a:p>
          <a:p>
            <a:pPr marL="677863" lvl="1" indent="-225425" eaLnBrk="1" hangingPunct="1">
              <a:spcBef>
                <a:spcPct val="0"/>
              </a:spcBef>
              <a:buFontTx/>
              <a:buChar char="•"/>
            </a:pPr>
            <a:r>
              <a:rPr lang="en-US" sz="1600" smtClean="0"/>
              <a:t>Fungus forms “sheath” around the root (mantle)</a:t>
            </a:r>
          </a:p>
          <a:p>
            <a:pPr marL="677863" lvl="1" indent="-225425" eaLnBrk="1" hangingPunct="1">
              <a:spcBef>
                <a:spcPct val="0"/>
              </a:spcBef>
              <a:buFontTx/>
              <a:buChar char="•"/>
            </a:pPr>
            <a:r>
              <a:rPr lang="en-US" sz="1600" smtClean="0"/>
              <a:t>Grows in between cortical cells =Hartig net – </a:t>
            </a:r>
            <a:r>
              <a:rPr lang="en-US" sz="1600" u="sng" smtClean="0"/>
              <a:t>apoplastic</a:t>
            </a:r>
            <a:r>
              <a:rPr lang="en-US" sz="1600" smtClean="0"/>
              <a:t> connection</a:t>
            </a:r>
          </a:p>
          <a:p>
            <a:pPr marL="677863" lvl="1" indent="-225425" eaLnBrk="1" hangingPunct="1">
              <a:spcBef>
                <a:spcPct val="0"/>
              </a:spcBef>
              <a:buFontTx/>
              <a:buChar char="•"/>
            </a:pPr>
            <a:r>
              <a:rPr lang="en-US" sz="1600" smtClean="0"/>
              <a:t>Occur most often </a:t>
            </a:r>
          </a:p>
          <a:p>
            <a:pPr marL="677863" lvl="1" indent="-225425" eaLnBrk="1" hangingPunct="1">
              <a:spcBef>
                <a:spcPct val="0"/>
              </a:spcBef>
            </a:pPr>
            <a:r>
              <a:rPr lang="en-US" sz="1600" smtClean="0"/>
              <a:t>	in woody spp</a:t>
            </a:r>
          </a:p>
          <a:p>
            <a:pPr marL="225425" indent="-225425" eaLnBrk="1" hangingPunct="1">
              <a:spcBef>
                <a:spcPct val="0"/>
              </a:spcBef>
            </a:pPr>
            <a:endParaRPr lang="en-US" sz="160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8" tIns="45719" rIns="91438" bIns="45719" anchor="b"/>
          <a:lstStyle/>
          <a:p>
            <a:pPr algn="r"/>
            <a:fld id="{034835D4-3B39-4B6A-B67E-BE9408768D5D}" type="slidenum">
              <a:rPr lang="en-US" sz="1200">
                <a:latin typeface="Calibri" pitchFamily="34" charset="0"/>
              </a:rPr>
              <a:pPr algn="r"/>
              <a:t>128</a:t>
            </a:fld>
            <a:endParaRPr lang="en-US" sz="1200">
              <a:latin typeface="Calibri" pitchFamily="34" charset="0"/>
            </a:endParaRPr>
          </a:p>
        </p:txBody>
      </p:sp>
      <p:sp>
        <p:nvSpPr>
          <p:cNvPr id="1710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10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z="1600" smtClean="0"/>
              <a:t>2)  </a:t>
            </a:r>
            <a:r>
              <a:rPr lang="en-US" sz="1600" b="1" u="sng" smtClean="0"/>
              <a:t>Endo</a:t>
            </a:r>
            <a:r>
              <a:rPr lang="en-US" sz="1600" u="sng" smtClean="0"/>
              <a:t>mycorrhizae</a:t>
            </a:r>
            <a:r>
              <a:rPr lang="en-US" sz="1600" smtClean="0"/>
              <a:t> –</a:t>
            </a:r>
          </a:p>
          <a:p>
            <a:pPr lvl="1" eaLnBrk="1" hangingPunct="1">
              <a:spcBef>
                <a:spcPct val="0"/>
              </a:spcBef>
              <a:buFontTx/>
              <a:buChar char="•"/>
            </a:pPr>
            <a:r>
              <a:rPr lang="en-US" sz="1600" smtClean="0"/>
              <a:t>Fungus penetrates cells of root</a:t>
            </a:r>
          </a:p>
          <a:p>
            <a:pPr eaLnBrk="1" hangingPunct="1">
              <a:spcBef>
                <a:spcPct val="0"/>
              </a:spcBef>
              <a:buFontTx/>
              <a:buChar char="•"/>
            </a:pPr>
            <a:r>
              <a:rPr lang="en-US" sz="1600" smtClean="0"/>
              <a:t>Common example is arbuscular mycorrhizae (AM)</a:t>
            </a:r>
          </a:p>
          <a:p>
            <a:pPr lvl="1" eaLnBrk="1" hangingPunct="1">
              <a:spcBef>
                <a:spcPct val="0"/>
              </a:spcBef>
              <a:buFontTx/>
              <a:buChar char="•"/>
            </a:pPr>
            <a:r>
              <a:rPr lang="en-US" sz="1600" smtClean="0"/>
              <a:t>Found in both herbaceous &amp; woody plants</a:t>
            </a:r>
          </a:p>
          <a:p>
            <a:pPr lvl="1" eaLnBrk="1" hangingPunct="1">
              <a:spcBef>
                <a:spcPct val="0"/>
              </a:spcBef>
              <a:buFontTx/>
              <a:buChar char="•"/>
            </a:pPr>
            <a:r>
              <a:rPr lang="en-US" sz="1600" smtClean="0"/>
              <a:t>Arbuscule = </a:t>
            </a:r>
            <a:r>
              <a:rPr lang="en-US" sz="1600" b="1" u="sng" smtClean="0"/>
              <a:t>within cell</a:t>
            </a:r>
            <a:r>
              <a:rPr lang="en-US" sz="1600" b="1" smtClean="0"/>
              <a:t>, major exchange site </a:t>
            </a:r>
            <a:r>
              <a:rPr lang="en-US" sz="1600" b="1" u="sng" smtClean="0"/>
              <a:t>between host and fungi</a:t>
            </a:r>
          </a:p>
          <a:p>
            <a:pPr eaLnBrk="1" hangingPunct="1">
              <a:spcBef>
                <a:spcPct val="0"/>
              </a:spcBef>
            </a:pPr>
            <a:endParaRPr lang="en-US" sz="160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39C6488-8718-482F-83B1-05A159A79DD1}" type="slidenum">
              <a:rPr lang="es-ES"/>
              <a:pPr fontAlgn="base">
                <a:spcBef>
                  <a:spcPct val="0"/>
                </a:spcBef>
                <a:spcAft>
                  <a:spcPct val="0"/>
                </a:spcAft>
              </a:pPr>
              <a:t>130</a:t>
            </a:fld>
            <a:endParaRPr lang="es-ES"/>
          </a:p>
        </p:txBody>
      </p:sp>
      <p:sp>
        <p:nvSpPr>
          <p:cNvPr id="1177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77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s-PE"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396106B-085F-40E6-B1EC-D5A0ECCC4E1B}" type="slidenum">
              <a:rPr lang="es-ES"/>
              <a:pPr fontAlgn="base">
                <a:spcBef>
                  <a:spcPct val="0"/>
                </a:spcBef>
                <a:spcAft>
                  <a:spcPct val="0"/>
                </a:spcAft>
              </a:pPr>
              <a:t>131</a:t>
            </a:fld>
            <a:endParaRPr lang="es-ES"/>
          </a:p>
        </p:txBody>
      </p:sp>
      <p:sp>
        <p:nvSpPr>
          <p:cNvPr id="1187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87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s-PE"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884681D-195B-4E5E-B6D7-8D06D61675B4}" type="slidenum">
              <a:rPr lang="es-ES"/>
              <a:pPr fontAlgn="base">
                <a:spcBef>
                  <a:spcPct val="0"/>
                </a:spcBef>
                <a:spcAft>
                  <a:spcPct val="0"/>
                </a:spcAft>
              </a:pPr>
              <a:t>132</a:t>
            </a:fld>
            <a:endParaRPr lang="es-ES"/>
          </a:p>
        </p:txBody>
      </p:sp>
      <p:sp>
        <p:nvSpPr>
          <p:cNvPr id="1198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98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s-PE"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7D0DA39-6FAF-4F06-815B-182937AACC12}" type="slidenum">
              <a:rPr lang="en-US"/>
              <a:pPr fontAlgn="base">
                <a:spcBef>
                  <a:spcPct val="0"/>
                </a:spcBef>
                <a:spcAft>
                  <a:spcPct val="0"/>
                </a:spcAft>
              </a:pPr>
              <a:t>135</a:t>
            </a:fld>
            <a:endParaRPr lang="en-US"/>
          </a:p>
        </p:txBody>
      </p:sp>
      <p:sp>
        <p:nvSpPr>
          <p:cNvPr id="13312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3124"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US" smtClean="0"/>
              <a:t>In looking at the entire nutrient budget of a single ecosystem, one must consider a wide range of factors </a:t>
            </a:r>
          </a:p>
          <a:p>
            <a:pPr>
              <a:spcBef>
                <a:spcPct val="0"/>
              </a:spcBef>
            </a:pPr>
            <a:endParaRPr lang="en-US" smtClean="0"/>
          </a:p>
          <a:p>
            <a:pPr>
              <a:spcBef>
                <a:spcPct val="0"/>
              </a:spcBef>
            </a:pPr>
            <a:r>
              <a:rPr lang="en-US" smtClean="0"/>
              <a:t>– we have discussed a few of these, e.g., nitrogen fixers, microbial activity, soil temperature, moisture/drainage</a:t>
            </a:r>
          </a:p>
          <a:p>
            <a:pPr>
              <a:spcBef>
                <a:spcPct val="0"/>
              </a:spcBef>
            </a:pPr>
            <a:r>
              <a:rPr lang="en-US" smtClean="0"/>
              <a:t> There are others as well</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EA8035A6-7A8A-4EF1-8F5D-696067DB643A}" type="slidenum">
              <a:rPr lang="en-US">
                <a:latin typeface="Arial" pitchFamily="34" charset="0"/>
              </a:rPr>
              <a:pPr/>
              <a:t>146</a:t>
            </a:fld>
            <a:endParaRPr lang="en-US">
              <a:latin typeface="Arial"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26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46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77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98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08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28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39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49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59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69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10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41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51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p:spPr>
      </p:sp>
      <p:sp>
        <p:nvSpPr>
          <p:cNvPr id="1361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361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C5F20FB-0CEB-453B-AF6E-DD1BC0B9BBB0}" type="slidenum">
              <a:rPr lang="en-US" smtClean="0">
                <a:latin typeface="Arial" pitchFamily="34" charset="0"/>
              </a:rPr>
              <a:pPr/>
              <a:t>169</a:t>
            </a:fld>
            <a:endParaRPr lang="en-US"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72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82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92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02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ko-KR" altLang="en-US" smtClean="0">
              <a:ea typeface="Gulim" pitchFamily="34"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5" name="Rectangle 4"/>
          <p:cNvSpPr>
            <a:spLocks noChangeArrowheads="1"/>
          </p:cNvSpPr>
          <p:nvPr/>
        </p:nvSpPr>
        <p:spPr bwMode="white">
          <a:xfrm>
            <a:off x="8991600" y="3175"/>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6" name="Rectangle 5"/>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7" name="Rectangle 6"/>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1" name="Straight Connector 10"/>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2" name="Rectangle 11"/>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685800" y="381000"/>
            <a:ext cx="7772400" cy="1752600"/>
          </a:xfrm>
        </p:spPr>
        <p:txBody>
          <a:bodyPr/>
          <a:lstStyle>
            <a:lvl1pPr>
              <a:defRPr sz="4200">
                <a:solidFill>
                  <a:schemeClr val="accent1"/>
                </a:solidFill>
              </a:defRPr>
            </a:lvl1pPr>
          </a:lstStyle>
          <a:p>
            <a:r>
              <a:rPr lang="en-US" smtClean="0"/>
              <a:t>Click to edit Master title style</a:t>
            </a:r>
            <a:endParaRPr lang="en-US"/>
          </a:p>
        </p:txBody>
      </p:sp>
      <p:sp>
        <p:nvSpPr>
          <p:cNvPr id="15" name="Date Placeholder 27"/>
          <p:cNvSpPr>
            <a:spLocks noGrp="1"/>
          </p:cNvSpPr>
          <p:nvPr>
            <p:ph type="dt" sz="half" idx="10"/>
          </p:nvPr>
        </p:nvSpPr>
        <p:spPr/>
        <p:txBody>
          <a:bodyPr/>
          <a:lstStyle>
            <a:lvl1pPr>
              <a:defRPr/>
            </a:lvl1pPr>
          </a:lstStyle>
          <a:p>
            <a:pPr>
              <a:defRPr/>
            </a:pPr>
            <a:fld id="{674F114B-6C8D-429C-9FF6-D92DE860567F}" type="datetimeFigureOut">
              <a:rPr lang="en-US"/>
              <a:pPr>
                <a:defRPr/>
              </a:pPr>
              <a:t>7/26/2016</a:t>
            </a:fld>
            <a:endParaRPr lang="en-US"/>
          </a:p>
        </p:txBody>
      </p:sp>
      <p:sp>
        <p:nvSpPr>
          <p:cNvPr id="16" name="Footer Placeholder 16"/>
          <p:cNvSpPr>
            <a:spLocks noGrp="1"/>
          </p:cNvSpPr>
          <p:nvPr>
            <p:ph type="ftr" sz="quarter" idx="11"/>
          </p:nvPr>
        </p:nvSpPr>
        <p:spPr/>
        <p:txBody>
          <a:bodyPr/>
          <a:lstStyle>
            <a:lvl1pPr>
              <a:defRPr/>
            </a:lvl1pPr>
          </a:lstStyle>
          <a:p>
            <a:pPr>
              <a:defRPr/>
            </a:pPr>
            <a:endParaRPr lang="en-US"/>
          </a:p>
        </p:txBody>
      </p:sp>
      <p:sp>
        <p:nvSpPr>
          <p:cNvPr id="17" name="Slide Number Placeholder 28"/>
          <p:cNvSpPr>
            <a:spLocks noGrp="1"/>
          </p:cNvSpPr>
          <p:nvPr>
            <p:ph type="sldNum" sz="quarter" idx="12"/>
          </p:nvPr>
        </p:nvSpPr>
        <p:spPr>
          <a:xfrm>
            <a:off x="4343400" y="2198688"/>
            <a:ext cx="457200" cy="441325"/>
          </a:xfrm>
        </p:spPr>
        <p:txBody>
          <a:bodyPr/>
          <a:lstStyle>
            <a:lvl1pPr>
              <a:defRPr smtClean="0">
                <a:solidFill>
                  <a:schemeClr val="accent3">
                    <a:shade val="75000"/>
                  </a:schemeClr>
                </a:solidFill>
              </a:defRPr>
            </a:lvl1pPr>
          </a:lstStyle>
          <a:p>
            <a:pPr>
              <a:defRPr/>
            </a:pPr>
            <a:fld id="{35D7E0FB-8D88-44E3-9EDA-688317056913}"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5" name="Rectangle 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6" name="Rectangle 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7" name="Rectangle 6"/>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8" name="Rectangle 7"/>
          <p:cNvSpPr>
            <a:spLocks noChangeArrowheads="1"/>
          </p:cNvSpPr>
          <p:nvPr/>
        </p:nvSpPr>
        <p:spPr bwMode="white">
          <a:xfrm>
            <a:off x="152400" y="2286000"/>
            <a:ext cx="8832850" cy="304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9" name="Rectangle 8"/>
          <p:cNvSpPr>
            <a:spLocks noChangeArrowheads="1"/>
          </p:cNvSpPr>
          <p:nvPr/>
        </p:nvSpPr>
        <p:spPr bwMode="auto">
          <a:xfrm>
            <a:off x="155575" y="142875"/>
            <a:ext cx="8832850" cy="2139950"/>
          </a:xfrm>
          <a:prstGeom prst="rect">
            <a:avLst/>
          </a:prstGeom>
          <a:solidFill>
            <a:schemeClr val="accent1"/>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2" name="Straight Connector 11"/>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en-US" smtClean="0"/>
              <a:t>Click to edit Master title style</a:t>
            </a:r>
            <a:endParaRPr lang="en-US"/>
          </a:p>
        </p:txBody>
      </p:sp>
      <p:sp>
        <p:nvSpPr>
          <p:cNvPr id="15" name="Footer Placeholder 4"/>
          <p:cNvSpPr>
            <a:spLocks noGrp="1"/>
          </p:cNvSpPr>
          <p:nvPr>
            <p:ph type="ftr" sz="quarter" idx="10"/>
          </p:nvPr>
        </p:nvSpPr>
        <p:spPr/>
        <p:txBody>
          <a:bodyPr/>
          <a:lstStyle>
            <a:lvl1pPr>
              <a:defRPr/>
            </a:lvl1pPr>
          </a:lstStyle>
          <a:p>
            <a:pPr>
              <a:defRPr/>
            </a:pPr>
            <a:endParaRPr lang="en-US"/>
          </a:p>
        </p:txBody>
      </p:sp>
      <p:sp>
        <p:nvSpPr>
          <p:cNvPr id="16" name="Date Placeholder 3"/>
          <p:cNvSpPr>
            <a:spLocks noGrp="1"/>
          </p:cNvSpPr>
          <p:nvPr>
            <p:ph type="dt" sz="half" idx="11"/>
          </p:nvPr>
        </p:nvSpPr>
        <p:spPr/>
        <p:txBody>
          <a:bodyPr/>
          <a:lstStyle>
            <a:lvl1pPr>
              <a:defRPr/>
            </a:lvl1pPr>
          </a:lstStyle>
          <a:p>
            <a:pPr>
              <a:defRPr/>
            </a:pPr>
            <a:fld id="{A62405FB-DCC5-4126-875F-EC80ED041F2A}" type="datetimeFigureOut">
              <a:rPr lang="en-US"/>
              <a:pPr>
                <a:defRPr/>
              </a:pPr>
              <a:t>7/26/2016</a:t>
            </a:fld>
            <a:endParaRPr lang="en-US"/>
          </a:p>
        </p:txBody>
      </p:sp>
      <p:sp>
        <p:nvSpPr>
          <p:cNvPr id="17" name="Slide Number Placeholder 5"/>
          <p:cNvSpPr>
            <a:spLocks noGrp="1"/>
          </p:cNvSpPr>
          <p:nvPr>
            <p:ph type="sldNum" sz="quarter" idx="12"/>
          </p:nvPr>
        </p:nvSpPr>
        <p:spPr>
          <a:xfrm>
            <a:off x="4343400" y="2198688"/>
            <a:ext cx="457200" cy="441325"/>
          </a:xfrm>
        </p:spPr>
        <p:txBody>
          <a:bodyPr/>
          <a:lstStyle>
            <a:lvl1pPr>
              <a:defRPr smtClean="0">
                <a:solidFill>
                  <a:schemeClr val="accent3">
                    <a:shade val="75000"/>
                  </a:schemeClr>
                </a:solidFill>
              </a:defRPr>
            </a:lvl1pPr>
          </a:lstStyle>
          <a:p>
            <a:pPr>
              <a:defRPr/>
            </a:pPr>
            <a:fld id="{34D8790D-76D5-44B2-BF28-D3ED1F351AC8}"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flipV="1">
            <a:off x="4562475" y="1576388"/>
            <a:ext cx="9525" cy="4818062"/>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2" name="Title 1"/>
          <p:cNvSpPr>
            <a:spLocks noGrp="1"/>
          </p:cNvSpPr>
          <p:nvPr>
            <p:ph type="title"/>
          </p:nvPr>
        </p:nvSpPr>
        <p:spPr>
          <a:xfrm>
            <a:off x="301752" y="228600"/>
            <a:ext cx="8534400" cy="758952"/>
          </a:xfrm>
        </p:spPr>
        <p:txBody>
          <a:bodyPr/>
          <a:lstStyle/>
          <a:p>
            <a:r>
              <a:rPr lang="en-US" smtClean="0"/>
              <a:t>Click to edit Master title style</a:t>
            </a:r>
            <a:endParaRPr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4"/>
          <p:cNvSpPr>
            <a:spLocks noGrp="1"/>
          </p:cNvSpPr>
          <p:nvPr>
            <p:ph type="dt" sz="half" idx="10"/>
          </p:nvPr>
        </p:nvSpPr>
        <p:spPr>
          <a:xfrm>
            <a:off x="5791200" y="6410325"/>
            <a:ext cx="3044825" cy="365125"/>
          </a:xfrm>
        </p:spPr>
        <p:txBody>
          <a:bodyPr/>
          <a:lstStyle>
            <a:lvl1pPr>
              <a:defRPr/>
            </a:lvl1pPr>
          </a:lstStyle>
          <a:p>
            <a:pPr>
              <a:defRPr/>
            </a:pPr>
            <a:fld id="{9B1BD43D-54EA-4035-9D5D-4478566DE4B6}" type="datetimeFigureOut">
              <a:rPr lang="en-US"/>
              <a:pPr>
                <a:defRPr/>
              </a:pPr>
              <a:t>7/26/2016</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F382233C-A9F0-421A-8489-5301B5A2A7F4}"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flipV="1">
            <a:off x="4572000" y="2200275"/>
            <a:ext cx="0" cy="4187825"/>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8" name="Rectangle 7"/>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9" name="Rectangle 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1" name="Rectangle 10"/>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2" name="Rectangle 11"/>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a:spLocks noChangeArrowheads="1"/>
          </p:cNvSpPr>
          <p:nvPr/>
        </p:nvSpPr>
        <p:spPr bwMode="auto">
          <a:xfrm>
            <a:off x="146050" y="6391275"/>
            <a:ext cx="883285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4" name="Straight Connector 13"/>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5" name="Rectangle 14"/>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6" name="Oval 15"/>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Oval 16"/>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6" name="Content Placeholder 25"/>
          <p:cNvSpPr>
            <a:spLocks noGrp="1"/>
          </p:cNvSpPr>
          <p:nvPr>
            <p:ph sz="quarter" idx="4"/>
          </p:nvPr>
        </p:nvSpPr>
        <p:spPr>
          <a:xfrm>
            <a:off x="4800600" y="2471383"/>
            <a:ext cx="4038600" cy="38221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3" name="Title 22"/>
          <p:cNvSpPr>
            <a:spLocks noGrp="1"/>
          </p:cNvSpPr>
          <p:nvPr>
            <p:ph type="title"/>
          </p:nvPr>
        </p:nvSpPr>
        <p:spPr/>
        <p:txBody>
          <a:bodyPr rtlCol="0"/>
          <a:lstStyle/>
          <a:p>
            <a:r>
              <a:rPr lang="en-US" smtClean="0"/>
              <a:t>Click to edit Master title style</a:t>
            </a:r>
            <a:endParaRPr lang="en-US"/>
          </a:p>
        </p:txBody>
      </p:sp>
      <p:sp>
        <p:nvSpPr>
          <p:cNvPr id="18" name="Date Placeholder 6"/>
          <p:cNvSpPr>
            <a:spLocks noGrp="1"/>
          </p:cNvSpPr>
          <p:nvPr>
            <p:ph type="dt" sz="half" idx="10"/>
          </p:nvPr>
        </p:nvSpPr>
        <p:spPr/>
        <p:txBody>
          <a:bodyPr/>
          <a:lstStyle>
            <a:lvl1pPr>
              <a:defRPr/>
            </a:lvl1pPr>
          </a:lstStyle>
          <a:p>
            <a:pPr>
              <a:defRPr/>
            </a:pPr>
            <a:fld id="{47A6FF52-A705-48EC-A06A-5418C0BF5C34}" type="datetimeFigureOut">
              <a:rPr lang="en-US"/>
              <a:pPr>
                <a:defRPr/>
              </a:pPr>
              <a:t>7/26/2016</a:t>
            </a:fld>
            <a:endParaRPr lang="en-US"/>
          </a:p>
        </p:txBody>
      </p:sp>
      <p:sp>
        <p:nvSpPr>
          <p:cNvPr id="19" name="Footer Placeholder 7"/>
          <p:cNvSpPr>
            <a:spLocks noGrp="1"/>
          </p:cNvSpPr>
          <p:nvPr>
            <p:ph type="ftr" sz="quarter" idx="11"/>
          </p:nvPr>
        </p:nvSpPr>
        <p:spPr>
          <a:xfrm>
            <a:off x="304800" y="6410325"/>
            <a:ext cx="3581400" cy="365125"/>
          </a:xfrm>
        </p:spPr>
        <p:txBody>
          <a:bodyPr/>
          <a:lstStyle>
            <a:lvl1pPr>
              <a:defRPr/>
            </a:lvl1pPr>
          </a:lstStyle>
          <a:p>
            <a:pPr>
              <a:defRPr/>
            </a:pPr>
            <a:endParaRPr lang="en-US"/>
          </a:p>
        </p:txBody>
      </p:sp>
      <p:sp>
        <p:nvSpPr>
          <p:cNvPr id="20" name="Slide Number Placeholder 8"/>
          <p:cNvSpPr>
            <a:spLocks noGrp="1"/>
          </p:cNvSpPr>
          <p:nvPr>
            <p:ph type="sldNum" sz="quarter" idx="12"/>
          </p:nvPr>
        </p:nvSpPr>
        <p:spPr>
          <a:xfrm>
            <a:off x="4343400" y="1042988"/>
            <a:ext cx="457200" cy="441325"/>
          </a:xfrm>
        </p:spPr>
        <p:txBody>
          <a:bodyPr/>
          <a:lstStyle>
            <a:lvl1pPr algn="ctr">
              <a:defRPr smtClean="0"/>
            </a:lvl1pPr>
          </a:lstStyle>
          <a:p>
            <a:pPr>
              <a:defRPr/>
            </a:pPr>
            <a:fld id="{18724139-3D8C-4774-9577-A00D590E0DC5}"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2CA9C121-D093-4D3B-ACB4-DC005CAF79C5}" type="datetimeFigureOut">
              <a:rPr lang="en-US"/>
              <a:pPr>
                <a:defRPr/>
              </a:pPr>
              <a:t>7/26/2016</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4343400" y="1036638"/>
            <a:ext cx="457200" cy="441325"/>
          </a:xfrm>
        </p:spPr>
        <p:txBody>
          <a:bodyPr/>
          <a:lstStyle>
            <a:lvl1pPr>
              <a:defRPr/>
            </a:lvl1pPr>
          </a:lstStyle>
          <a:p>
            <a:pPr>
              <a:defRPr/>
            </a:pPr>
            <a:fld id="{90DB22F1-0FDA-4D2E-8F75-4ACA194B50E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3" name="Rectangle 2"/>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4" name="Rectangle 3"/>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5" name="Rectangle 4"/>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6" name="Rectangle 5"/>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7" name="Rectangle 6"/>
          <p:cNvSpPr>
            <a:spLocks noChangeArrowheads="1"/>
          </p:cNvSpPr>
          <p:nvPr/>
        </p:nvSpPr>
        <p:spPr bwMode="auto">
          <a:xfrm>
            <a:off x="152400" y="15875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8" name="Date Placeholder 1"/>
          <p:cNvSpPr>
            <a:spLocks noGrp="1"/>
          </p:cNvSpPr>
          <p:nvPr>
            <p:ph type="dt" sz="half" idx="10"/>
          </p:nvPr>
        </p:nvSpPr>
        <p:spPr/>
        <p:txBody>
          <a:bodyPr/>
          <a:lstStyle>
            <a:lvl1pPr>
              <a:defRPr/>
            </a:lvl1pPr>
          </a:lstStyle>
          <a:p>
            <a:pPr>
              <a:defRPr/>
            </a:pPr>
            <a:fld id="{FFFFFB45-1159-4188-94A1-AFC3FB49E238}" type="datetimeFigureOut">
              <a:rPr lang="en-US"/>
              <a:pPr>
                <a:defRPr/>
              </a:pPr>
              <a:t>7/26/2016</a:t>
            </a:fld>
            <a:endParaRPr lang="en-US"/>
          </a:p>
        </p:txBody>
      </p:sp>
      <p:sp>
        <p:nvSpPr>
          <p:cNvPr id="9" name="Footer Placeholder 2"/>
          <p:cNvSpPr>
            <a:spLocks noGrp="1"/>
          </p:cNvSpPr>
          <p:nvPr>
            <p:ph type="ftr" sz="quarter" idx="11"/>
          </p:nvPr>
        </p:nvSpPr>
        <p:spPr/>
        <p:txBody>
          <a:bodyPr/>
          <a:lstStyle>
            <a:lvl1pPr>
              <a:defRPr/>
            </a:lvl1pPr>
          </a:lstStyle>
          <a:p>
            <a:pPr>
              <a:defRPr/>
            </a:pPr>
            <a:endParaRPr lang="en-US"/>
          </a:p>
        </p:txBody>
      </p:sp>
      <p:sp>
        <p:nvSpPr>
          <p:cNvPr id="10" name="Slide Number Placeholder 3"/>
          <p:cNvSpPr>
            <a:spLocks noGrp="1"/>
          </p:cNvSpPr>
          <p:nvPr>
            <p:ph type="sldNum" sz="quarter" idx="12"/>
          </p:nvPr>
        </p:nvSpPr>
        <p:spPr>
          <a:xfrm>
            <a:off x="4267200" y="6324600"/>
            <a:ext cx="609600" cy="441325"/>
          </a:xfrm>
        </p:spPr>
        <p:txBody>
          <a:bodyPr/>
          <a:lstStyle>
            <a:lvl1pPr>
              <a:defRPr smtClean="0">
                <a:solidFill>
                  <a:srgbClr val="FFFFFF"/>
                </a:solidFill>
              </a:defRPr>
            </a:lvl1pPr>
          </a:lstStyle>
          <a:p>
            <a:pPr>
              <a:defRPr/>
            </a:pPr>
            <a:fld id="{ADB44521-2BDF-4664-8E5F-D650DA5B597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8" name="Rectangle 7"/>
          <p:cNvSpPr>
            <a:spLocks noChangeArrowheads="1"/>
          </p:cNvSpPr>
          <p:nvPr/>
        </p:nvSpPr>
        <p:spPr bwMode="white">
          <a:xfrm>
            <a:off x="0" y="0"/>
            <a:ext cx="9144000" cy="119063"/>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0" name="Rectangle 9"/>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2" name="Straight Connector 11"/>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2" name="Title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en-US" smtClean="0"/>
              <a:t>Click to edit Master title style</a:t>
            </a:r>
            <a:endParaRPr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Slide Number Placeholder 6"/>
          <p:cNvSpPr>
            <a:spLocks noGrp="1"/>
          </p:cNvSpPr>
          <p:nvPr>
            <p:ph type="sldNum" sz="quarter" idx="10"/>
          </p:nvPr>
        </p:nvSpPr>
        <p:spPr>
          <a:xfrm>
            <a:off x="1371600" y="312738"/>
            <a:ext cx="457200" cy="441325"/>
          </a:xfrm>
        </p:spPr>
        <p:txBody>
          <a:bodyPr/>
          <a:lstStyle>
            <a:lvl1pPr>
              <a:defRPr smtClean="0">
                <a:solidFill>
                  <a:schemeClr val="accent3">
                    <a:shade val="75000"/>
                  </a:schemeClr>
                </a:solidFill>
              </a:defRPr>
            </a:lvl1pPr>
          </a:lstStyle>
          <a:p>
            <a:pPr>
              <a:defRPr/>
            </a:pPr>
            <a:fld id="{66E63A8F-6E2D-44C5-A5BD-EBC8E51021E3}" type="slidenum">
              <a:rPr lang="en-US"/>
              <a:pPr>
                <a:defRPr/>
              </a:pPr>
              <a:t>‹#›</a:t>
            </a:fld>
            <a:endParaRPr lang="en-US"/>
          </a:p>
        </p:txBody>
      </p:sp>
      <p:sp>
        <p:nvSpPr>
          <p:cNvPr id="17" name="Date Placeholder 4"/>
          <p:cNvSpPr>
            <a:spLocks noGrp="1"/>
          </p:cNvSpPr>
          <p:nvPr>
            <p:ph type="dt" sz="half" idx="11"/>
          </p:nvPr>
        </p:nvSpPr>
        <p:spPr/>
        <p:txBody>
          <a:bodyPr/>
          <a:lstStyle>
            <a:lvl1pPr>
              <a:defRPr/>
            </a:lvl1pPr>
          </a:lstStyle>
          <a:p>
            <a:pPr>
              <a:defRPr/>
            </a:pPr>
            <a:fld id="{52C3D2A8-32C8-49C7-B48D-B16AE24FB758}" type="datetimeFigureOut">
              <a:rPr lang="en-US"/>
              <a:pPr>
                <a:defRPr/>
              </a:pPr>
              <a:t>7/26/2016</a:t>
            </a:fld>
            <a:endParaRPr lang="en-US"/>
          </a:p>
        </p:txBody>
      </p:sp>
      <p:sp>
        <p:nvSpPr>
          <p:cNvPr id="18" name="Footer Placeholder 5"/>
          <p:cNvSpPr>
            <a:spLocks noGrp="1"/>
          </p:cNvSpPr>
          <p:nvPr>
            <p:ph type="ftr" sz="quarter" idx="12"/>
          </p:nvPr>
        </p:nvSpPr>
        <p:spPr>
          <a:xfrm>
            <a:off x="301625" y="6410325"/>
            <a:ext cx="3382963" cy="366713"/>
          </a:xfrm>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8" name="Rectangle 7"/>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0" name="Rectangle 9"/>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1" name="Rectangle 10"/>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smtClean="0"/>
              <a:t>Click to edit Master text styles</a:t>
            </a:r>
          </a:p>
        </p:txBody>
      </p:sp>
      <p:sp>
        <p:nvSpPr>
          <p:cNvPr id="16" name="Slide Number Placeholder 6"/>
          <p:cNvSpPr>
            <a:spLocks noGrp="1"/>
          </p:cNvSpPr>
          <p:nvPr>
            <p:ph type="sldNum" sz="quarter" idx="10"/>
          </p:nvPr>
        </p:nvSpPr>
        <p:spPr>
          <a:xfrm>
            <a:off x="1371600" y="312738"/>
            <a:ext cx="457200" cy="441325"/>
          </a:xfrm>
        </p:spPr>
        <p:txBody>
          <a:bodyPr/>
          <a:lstStyle>
            <a:lvl1pPr>
              <a:defRPr/>
            </a:lvl1pPr>
          </a:lstStyle>
          <a:p>
            <a:pPr>
              <a:defRPr/>
            </a:pPr>
            <a:fld id="{A8EC05EA-91A9-4E0C-B960-1F459A4F6A5F}" type="slidenum">
              <a:rPr lang="en-US"/>
              <a:pPr>
                <a:defRPr/>
              </a:pPr>
              <a:t>‹#›</a:t>
            </a:fld>
            <a:endParaRPr lang="en-US"/>
          </a:p>
        </p:txBody>
      </p:sp>
      <p:sp>
        <p:nvSpPr>
          <p:cNvPr id="17" name="Date Placeholder 4"/>
          <p:cNvSpPr>
            <a:spLocks noGrp="1"/>
          </p:cNvSpPr>
          <p:nvPr>
            <p:ph type="dt" sz="half" idx="11"/>
          </p:nvPr>
        </p:nvSpPr>
        <p:spPr>
          <a:xfrm>
            <a:off x="5788025" y="6405563"/>
            <a:ext cx="3044825" cy="365125"/>
          </a:xfrm>
        </p:spPr>
        <p:txBody>
          <a:bodyPr/>
          <a:lstStyle>
            <a:lvl1pPr>
              <a:defRPr/>
            </a:lvl1pPr>
          </a:lstStyle>
          <a:p>
            <a:pPr>
              <a:defRPr/>
            </a:pPr>
            <a:fld id="{3814D0DC-DEB7-4237-8F08-B21D9C891C18}" type="datetimeFigureOut">
              <a:rPr lang="en-US"/>
              <a:pPr>
                <a:defRPr/>
              </a:pPr>
              <a:t>7/26/2016</a:t>
            </a:fld>
            <a:endParaRPr lang="en-US"/>
          </a:p>
        </p:txBody>
      </p:sp>
      <p:sp>
        <p:nvSpPr>
          <p:cNvPr id="18" name="Footer Placeholder 5"/>
          <p:cNvSpPr>
            <a:spLocks noGrp="1"/>
          </p:cNvSpPr>
          <p:nvPr>
            <p:ph type="ftr" sz="quarter" idx="12"/>
          </p:nvPr>
        </p:nvSpPr>
        <p:spPr>
          <a:xfrm>
            <a:off x="301625" y="6410325"/>
            <a:ext cx="3584575" cy="366713"/>
          </a:xfrm>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3964484-C2E8-47AB-A112-F6119780A80B}" type="datetimeFigureOut">
              <a:rPr lang="en-US"/>
              <a:pPr>
                <a:defRPr/>
              </a:pPr>
              <a:t>7/26/2016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E31A441-5826-4950-9DF8-FB883378A971}"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5" name="Rectangle 4"/>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6" name="Rectangle 5"/>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7" name="Rectangle 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8" name="Rectangle 7"/>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9" name="Rectangle 8"/>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0" name="Straight Connector 9"/>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1" name="Oval 10"/>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Oval 11"/>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 name="Vertical Title 1"/>
          <p:cNvSpPr>
            <a:spLocks noGrp="1"/>
          </p:cNvSpPr>
          <p:nvPr>
            <p:ph type="title" orient="vert"/>
          </p:nvPr>
        </p:nvSpPr>
        <p:spPr>
          <a:xfrm>
            <a:off x="7391400" y="304801"/>
            <a:ext cx="1447800" cy="5851525"/>
          </a:xfrm>
        </p:spPr>
        <p:txBody>
          <a:bodyPr vert="eaVert"/>
          <a:lstStyle/>
          <a:p>
            <a:r>
              <a:rPr lang="en-US" smtClean="0"/>
              <a:t>Click to edit Master title style</a:t>
            </a:r>
            <a:endParaRPr lang="en-US"/>
          </a:p>
        </p:txBody>
      </p:sp>
      <p:sp>
        <p:nvSpPr>
          <p:cNvPr id="13" name="Slide Number Placeholder 5"/>
          <p:cNvSpPr>
            <a:spLocks noGrp="1"/>
          </p:cNvSpPr>
          <p:nvPr>
            <p:ph type="sldNum" sz="quarter" idx="10"/>
          </p:nvPr>
        </p:nvSpPr>
        <p:spPr>
          <a:xfrm>
            <a:off x="6915150" y="3009900"/>
            <a:ext cx="457200" cy="441325"/>
          </a:xfrm>
        </p:spPr>
        <p:txBody>
          <a:bodyPr/>
          <a:lstStyle>
            <a:lvl1pPr>
              <a:defRPr/>
            </a:lvl1pPr>
          </a:lstStyle>
          <a:p>
            <a:pPr>
              <a:defRPr/>
            </a:pPr>
            <a:fld id="{378450D3-6CB9-4A09-9129-72E4D079EBCE}" type="slidenum">
              <a:rPr lang="en-US"/>
              <a:pPr>
                <a:defRPr/>
              </a:pPr>
              <a:t>‹#›</a:t>
            </a:fld>
            <a:endParaRPr lang="en-US"/>
          </a:p>
        </p:txBody>
      </p:sp>
      <p:sp>
        <p:nvSpPr>
          <p:cNvPr id="14" name="Date Placeholder 3"/>
          <p:cNvSpPr>
            <a:spLocks noGrp="1"/>
          </p:cNvSpPr>
          <p:nvPr>
            <p:ph type="dt" sz="half" idx="11"/>
          </p:nvPr>
        </p:nvSpPr>
        <p:spPr/>
        <p:txBody>
          <a:bodyPr/>
          <a:lstStyle>
            <a:lvl1pPr>
              <a:defRPr/>
            </a:lvl1pPr>
          </a:lstStyle>
          <a:p>
            <a:pPr>
              <a:defRPr/>
            </a:pPr>
            <a:fld id="{33E76208-504B-40BF-8B25-2BEC080555F0}" type="datetimeFigureOut">
              <a:rPr lang="en-US"/>
              <a:pPr>
                <a:defRPr/>
              </a:pPr>
              <a:t>7/26/2016</a:t>
            </a:fld>
            <a:endParaRPr lang="en-US"/>
          </a:p>
        </p:txBody>
      </p:sp>
      <p:sp>
        <p:nvSpPr>
          <p:cNvPr id="15" name="Footer Placeholder 4"/>
          <p:cNvSpPr>
            <a:spLocks noGrp="1"/>
          </p:cNvSpPr>
          <p:nvPr>
            <p:ph type="ftr" sz="quarter" idx="12"/>
          </p:nvPr>
        </p:nvSpPr>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p:txBody>
          <a:bodyPr/>
          <a:lstStyle>
            <a:lvl1pPr>
              <a:defRPr/>
            </a:lvl1pPr>
          </a:lstStyle>
          <a:p>
            <a:pPr>
              <a:defRPr/>
            </a:pPr>
            <a:endParaRPr lang="es-ES"/>
          </a:p>
        </p:txBody>
      </p:sp>
      <p:sp>
        <p:nvSpPr>
          <p:cNvPr id="6" name="Rectangle 3"/>
          <p:cNvSpPr>
            <a:spLocks noGrp="1" noChangeArrowheads="1"/>
          </p:cNvSpPr>
          <p:nvPr>
            <p:ph type="sldNum" sz="quarter" idx="11"/>
          </p:nvPr>
        </p:nvSpPr>
        <p:spPr/>
        <p:txBody>
          <a:bodyPr/>
          <a:lstStyle>
            <a:lvl1pPr>
              <a:defRPr/>
            </a:lvl1pPr>
          </a:lstStyle>
          <a:p>
            <a:pPr>
              <a:defRPr/>
            </a:pPr>
            <a:fld id="{1F339480-0497-42DD-8B44-A64C1EC162B4}" type="slidenum">
              <a:rPr lang="es-ES"/>
              <a:pPr>
                <a:defRPr/>
              </a:pPr>
              <a:t>‹#›</a:t>
            </a:fld>
            <a:endParaRPr lang="es-ES"/>
          </a:p>
        </p:txBody>
      </p:sp>
      <p:sp>
        <p:nvSpPr>
          <p:cNvPr id="7" name="Rectangle 16"/>
          <p:cNvSpPr>
            <a:spLocks noGrp="1" noChangeArrowheads="1"/>
          </p:cNvSpPr>
          <p:nvPr>
            <p:ph type="dt" sz="half" idx="12"/>
          </p:nvPr>
        </p:nvSpPr>
        <p:spPr/>
        <p:txBody>
          <a:bodyPr/>
          <a:lstStyle>
            <a:lvl1pPr>
              <a:defRPr/>
            </a:lvl1pPr>
          </a:lstStyle>
          <a:p>
            <a:pPr>
              <a:defRPr/>
            </a:pPr>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762D65-075B-4C0E-98C2-8C7687DA1DDA}" type="datetimeFigureOut">
              <a:rPr lang="en-US" smtClean="0"/>
              <a:pPr/>
              <a:t>7/26/2016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D2314-D77A-4181-ACFA-99AA0B3A9C65}"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92100"/>
            <a:ext cx="8229600" cy="13843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05000"/>
            <a:ext cx="40386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05000"/>
            <a:ext cx="40386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38600"/>
            <a:ext cx="40386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pPr>
              <a:defRPr/>
            </a:pPr>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pPr>
              <a:defRPr/>
            </a:pPr>
            <a:fld id="{2C8300E8-ABC4-4DC7-8EC7-6D870A9F3806}"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smtClean="0"/>
              <a:t>Click to edit Master title style</a:t>
            </a:r>
            <a:endParaRPr lang="en-US"/>
          </a:p>
        </p:txBody>
      </p:sp>
      <p:sp>
        <p:nvSpPr>
          <p:cNvPr id="3" name="Chart Placeholder 2"/>
          <p:cNvSpPr>
            <a:spLocks noGrp="1"/>
          </p:cNvSpPr>
          <p:nvPr>
            <p:ph type="chart" sz="half" idx="1"/>
          </p:nvPr>
        </p:nvSpPr>
        <p:spPr>
          <a:xfrm>
            <a:off x="1182688" y="2017713"/>
            <a:ext cx="3810000" cy="4114800"/>
          </a:xfrm>
        </p:spPr>
        <p:txBody>
          <a:bodyPr rtlCol="0">
            <a:normAutofit/>
          </a:bodyPr>
          <a:lstStyle/>
          <a:p>
            <a:pPr lvl="0"/>
            <a:endParaRPr lang="en-US" noProof="0" smtClean="0"/>
          </a:p>
        </p:txBody>
      </p:sp>
      <p:sp>
        <p:nvSpPr>
          <p:cNvPr id="4" name="Text Placeholder 3"/>
          <p:cNvSpPr>
            <a:spLocks noGrp="1"/>
          </p:cNvSpPr>
          <p:nvPr>
            <p:ph type="body" sz="half" idx="2"/>
          </p:nvPr>
        </p:nvSpPr>
        <p:spPr>
          <a:xfrm>
            <a:off x="5145088" y="2017713"/>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p:txBody>
          <a:bodyPr/>
          <a:lstStyle>
            <a:lvl1pPr>
              <a:defRPr/>
            </a:lvl1pPr>
          </a:lstStyle>
          <a:p>
            <a:pPr>
              <a:defRPr/>
            </a:pPr>
            <a:endParaRPr lang="en-US"/>
          </a:p>
        </p:txBody>
      </p:sp>
      <p:sp>
        <p:nvSpPr>
          <p:cNvPr id="6" name="Rectangle 12"/>
          <p:cNvSpPr>
            <a:spLocks noGrp="1" noChangeArrowheads="1"/>
          </p:cNvSpPr>
          <p:nvPr>
            <p:ph type="ftr" sz="quarter" idx="11"/>
          </p:nvPr>
        </p:nvSpPr>
        <p:spPr/>
        <p:txBody>
          <a:bodyPr/>
          <a:lstStyle>
            <a:lvl1pPr>
              <a:defRPr/>
            </a:lvl1pPr>
          </a:lstStyle>
          <a:p>
            <a:pPr>
              <a:defRPr/>
            </a:pPr>
            <a:endParaRPr lang="en-US"/>
          </a:p>
        </p:txBody>
      </p:sp>
      <p:sp>
        <p:nvSpPr>
          <p:cNvPr id="7" name="Rectangle 13"/>
          <p:cNvSpPr>
            <a:spLocks noGrp="1" noChangeArrowheads="1"/>
          </p:cNvSpPr>
          <p:nvPr>
            <p:ph type="sldNum" sz="quarter" idx="12"/>
          </p:nvPr>
        </p:nvSpPr>
        <p:spPr/>
        <p:txBody>
          <a:bodyPr/>
          <a:lstStyle>
            <a:lvl1pPr>
              <a:defRPr/>
            </a:lvl1pPr>
          </a:lstStyle>
          <a:p>
            <a:pPr>
              <a:defRPr/>
            </a:pPr>
            <a:fld id="{421F495E-3F19-42C3-98AB-9C970952E856}"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182688" y="2017713"/>
            <a:ext cx="3810000" cy="4114800"/>
          </a:xfrm>
        </p:spPr>
        <p:txBody>
          <a:bodyPr rtlCol="0">
            <a:normAutofit/>
          </a:bodyPr>
          <a:lstStyle/>
          <a:p>
            <a:pPr lvl="0"/>
            <a:endParaRPr lang="en-US" noProof="0" smtClean="0"/>
          </a:p>
        </p:txBody>
      </p:sp>
      <p:sp>
        <p:nvSpPr>
          <p:cNvPr id="4" name="Text Placeholder 3"/>
          <p:cNvSpPr>
            <a:spLocks noGrp="1"/>
          </p:cNvSpPr>
          <p:nvPr>
            <p:ph type="body" sz="half" idx="2"/>
          </p:nvPr>
        </p:nvSpPr>
        <p:spPr>
          <a:xfrm>
            <a:off x="5145088" y="2017713"/>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p:txBody>
          <a:bodyPr/>
          <a:lstStyle>
            <a:lvl1pPr>
              <a:defRPr/>
            </a:lvl1pPr>
          </a:lstStyle>
          <a:p>
            <a:pPr>
              <a:defRPr/>
            </a:pPr>
            <a:endParaRPr lang="en-US"/>
          </a:p>
        </p:txBody>
      </p:sp>
      <p:sp>
        <p:nvSpPr>
          <p:cNvPr id="6" name="Rectangle 12"/>
          <p:cNvSpPr>
            <a:spLocks noGrp="1" noChangeArrowheads="1"/>
          </p:cNvSpPr>
          <p:nvPr>
            <p:ph type="ftr" sz="quarter" idx="11"/>
          </p:nvPr>
        </p:nvSpPr>
        <p:spPr/>
        <p:txBody>
          <a:bodyPr/>
          <a:lstStyle>
            <a:lvl1pPr>
              <a:defRPr/>
            </a:lvl1pPr>
          </a:lstStyle>
          <a:p>
            <a:pPr>
              <a:defRPr/>
            </a:pPr>
            <a:endParaRPr lang="en-US"/>
          </a:p>
        </p:txBody>
      </p:sp>
      <p:sp>
        <p:nvSpPr>
          <p:cNvPr id="7" name="Rectangle 13"/>
          <p:cNvSpPr>
            <a:spLocks noGrp="1" noChangeArrowheads="1"/>
          </p:cNvSpPr>
          <p:nvPr>
            <p:ph type="sldNum" sz="quarter" idx="12"/>
          </p:nvPr>
        </p:nvSpPr>
        <p:spPr/>
        <p:txBody>
          <a:bodyPr/>
          <a:lstStyle>
            <a:lvl1pPr>
              <a:defRPr/>
            </a:lvl1pPr>
          </a:lstStyle>
          <a:p>
            <a:pPr>
              <a:defRPr/>
            </a:pPr>
            <a:fld id="{A2AD354A-0238-4B67-85C2-85715173B657}"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71538" y="192088"/>
            <a:ext cx="8162925" cy="14319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2813" y="1905000"/>
            <a:ext cx="3978275"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043488" y="1905000"/>
            <a:ext cx="3979862" cy="4191000"/>
          </a:xfrm>
        </p:spPr>
        <p:txBody>
          <a:bodyPr/>
          <a:lstStyle/>
          <a:p>
            <a:pPr lvl="0"/>
            <a:endParaRPr lang="en-US" noProof="0"/>
          </a:p>
        </p:txBody>
      </p:sp>
      <p:sp>
        <p:nvSpPr>
          <p:cNvPr id="5" name="Date Placeholder 4"/>
          <p:cNvSpPr>
            <a:spLocks noGrp="1"/>
          </p:cNvSpPr>
          <p:nvPr>
            <p:ph type="dt" sz="half" idx="10"/>
          </p:nvPr>
        </p:nvSpPr>
        <p:spPr>
          <a:xfrm>
            <a:off x="1152525" y="6286500"/>
            <a:ext cx="1905000" cy="45720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3590925" y="62865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7019925" y="6286500"/>
            <a:ext cx="1905000" cy="457200"/>
          </a:xfrm>
        </p:spPr>
        <p:txBody>
          <a:bodyPr/>
          <a:lstStyle>
            <a:lvl1pPr>
              <a:defRPr/>
            </a:lvl1pPr>
          </a:lstStyle>
          <a:p>
            <a:pPr>
              <a:defRPr/>
            </a:pPr>
            <a:fld id="{E94A543F-F05B-43D0-9D8C-54EB23A63BD2}"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48200" y="1981200"/>
            <a:ext cx="3810000" cy="4114800"/>
          </a:xfrm>
        </p:spPr>
        <p:txBody>
          <a:bodyPr rtlCol="0">
            <a:normAutofit/>
          </a:bodyPr>
          <a:lstStyle/>
          <a:p>
            <a:pPr lvl="0"/>
            <a:endParaRPr lang="en-US" noProof="0" smtClean="0"/>
          </a:p>
        </p:txBody>
      </p:sp>
      <p:sp>
        <p:nvSpPr>
          <p:cNvPr id="5" name="Rectangle 13"/>
          <p:cNvSpPr>
            <a:spLocks noGrp="1" noChangeArrowheads="1"/>
          </p:cNvSpPr>
          <p:nvPr>
            <p:ph type="dt" sz="half" idx="10"/>
          </p:nvPr>
        </p:nvSpPr>
        <p:spPr/>
        <p:txBody>
          <a:bodyPr/>
          <a:lstStyle>
            <a:lvl1pPr>
              <a:defRPr/>
            </a:lvl1pPr>
          </a:lstStyle>
          <a:p>
            <a:pPr>
              <a:defRPr/>
            </a:pPr>
            <a:endParaRPr lang="en-US"/>
          </a:p>
        </p:txBody>
      </p:sp>
      <p:sp>
        <p:nvSpPr>
          <p:cNvPr id="6" name="Rectangle 14"/>
          <p:cNvSpPr>
            <a:spLocks noGrp="1" noChangeArrowheads="1"/>
          </p:cNvSpPr>
          <p:nvPr>
            <p:ph type="ftr" sz="quarter" idx="11"/>
          </p:nvPr>
        </p:nvSpPr>
        <p:spPr/>
        <p:txBody>
          <a:bodyPr/>
          <a:lstStyle>
            <a:lvl1pPr>
              <a:defRPr/>
            </a:lvl1pPr>
          </a:lstStyle>
          <a:p>
            <a:pPr>
              <a:defRPr/>
            </a:pPr>
            <a:endParaRPr lang="en-US"/>
          </a:p>
        </p:txBody>
      </p:sp>
      <p:sp>
        <p:nvSpPr>
          <p:cNvPr id="7" name="Rectangle 15"/>
          <p:cNvSpPr>
            <a:spLocks noGrp="1" noChangeArrowheads="1"/>
          </p:cNvSpPr>
          <p:nvPr>
            <p:ph type="sldNum" sz="quarter" idx="12"/>
          </p:nvPr>
        </p:nvSpPr>
        <p:spPr/>
        <p:txBody>
          <a:bodyPr/>
          <a:lstStyle>
            <a:lvl1pPr>
              <a:defRPr/>
            </a:lvl1pPr>
          </a:lstStyle>
          <a:p>
            <a:pPr>
              <a:defRPr/>
            </a:pPr>
            <a:fld id="{142C732B-7A6C-462C-892D-D2AF883829F9}"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a:defRPr/>
            </a:pPr>
            <a:fld id="{3956BEE8-B2E0-4D9C-9C06-69AF924378E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6" name="Rectangle 15"/>
          <p:cNvSpPr>
            <a:spLocks noChangeArrowheads="1"/>
          </p:cNvSpPr>
          <p:nvPr/>
        </p:nvSpPr>
        <p:spPr bwMode="white">
          <a:xfrm>
            <a:off x="0" y="0"/>
            <a:ext cx="9144000" cy="139382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9" name="Rectangle 8"/>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4" name="Date Placeholder 13"/>
          <p:cNvSpPr>
            <a:spLocks noGrp="1"/>
          </p:cNvSpPr>
          <p:nvPr>
            <p:ph type="dt" sz="half" idx="2"/>
          </p:nvPr>
        </p:nvSpPr>
        <p:spPr>
          <a:xfrm>
            <a:off x="5791200" y="6405563"/>
            <a:ext cx="3044825" cy="365125"/>
          </a:xfrm>
          <a:prstGeom prst="rect">
            <a:avLst/>
          </a:prstGeom>
        </p:spPr>
        <p:txBody>
          <a:bodyPr vert="horz"/>
          <a:lstStyle>
            <a:lvl1pPr algn="r" eaLnBrk="1" fontAlgn="auto" latinLnBrk="0" hangingPunct="1">
              <a:spcBef>
                <a:spcPts val="0"/>
              </a:spcBef>
              <a:spcAft>
                <a:spcPts val="0"/>
              </a:spcAft>
              <a:defRPr kumimoji="0" sz="1400" smtClean="0">
                <a:solidFill>
                  <a:srgbClr val="FFFFFF"/>
                </a:solidFill>
                <a:latin typeface="+mn-lt"/>
              </a:defRPr>
            </a:lvl1pPr>
          </a:lstStyle>
          <a:p>
            <a:pPr>
              <a:defRPr/>
            </a:pPr>
            <a:fld id="{ECD80656-C0DF-4CC5-92B1-8A35A3238ECE}" type="datetimeFigureOut">
              <a:rPr lang="en-US"/>
              <a:pPr>
                <a:defRPr/>
              </a:pPr>
              <a:t>7/26/2016</a:t>
            </a:fld>
            <a:endParaRPr lang="en-US"/>
          </a:p>
        </p:txBody>
      </p:sp>
      <p:sp>
        <p:nvSpPr>
          <p:cNvPr id="3" name="Footer Placeholder 2"/>
          <p:cNvSpPr>
            <a:spLocks noGrp="1"/>
          </p:cNvSpPr>
          <p:nvPr>
            <p:ph type="ftr" sz="quarter" idx="3"/>
          </p:nvPr>
        </p:nvSpPr>
        <p:spPr>
          <a:xfrm>
            <a:off x="304800" y="6410325"/>
            <a:ext cx="3581400" cy="366713"/>
          </a:xfrm>
          <a:prstGeom prst="rect">
            <a:avLst/>
          </a:prstGeom>
        </p:spPr>
        <p:txBody>
          <a:bodyPr vert="horz"/>
          <a:lstStyle>
            <a:lvl1pPr algn="l" eaLnBrk="1" fontAlgn="auto" latinLnBrk="0" hangingPunct="1">
              <a:spcBef>
                <a:spcPts val="0"/>
              </a:spcBef>
              <a:spcAft>
                <a:spcPts val="0"/>
              </a:spcAft>
              <a:defRPr kumimoji="0" sz="1200">
                <a:solidFill>
                  <a:srgbClr val="FFFFFF"/>
                </a:solidFill>
                <a:latin typeface="+mn-lt"/>
              </a:defRPr>
            </a:lvl1pPr>
          </a:lstStyle>
          <a:p>
            <a:pPr>
              <a:defRPr/>
            </a:pPr>
            <a:endParaRPr lang="en-US"/>
          </a:p>
        </p:txBody>
      </p:sp>
      <p:sp>
        <p:nvSpPr>
          <p:cNvPr id="8" name="Rectangle 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fontAlgn="auto">
              <a:spcBef>
                <a:spcPts val="0"/>
              </a:spcBef>
              <a:spcAft>
                <a:spcPts val="0"/>
              </a:spcAft>
              <a:defRPr/>
            </a:pPr>
            <a:endParaRPr lang="en-US" dirty="0">
              <a:latin typeface="+mn-lt"/>
            </a:endParaRPr>
          </a:p>
        </p:txBody>
      </p:sp>
      <p:sp>
        <p:nvSpPr>
          <p:cNvPr id="10" name="Straight Connector 9"/>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fontAlgn="auto">
              <a:spcBef>
                <a:spcPts val="0"/>
              </a:spcBef>
              <a:spcAft>
                <a:spcPts val="0"/>
              </a:spcAft>
              <a:defRPr/>
            </a:pPr>
            <a:endParaRPr lang="en-US">
              <a:latin typeface="+mn-lt"/>
            </a:endParaRPr>
          </a:p>
        </p:txBody>
      </p:sp>
      <p:sp>
        <p:nvSpPr>
          <p:cNvPr id="12" name="Oval 11"/>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Oval 14"/>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Slide Number Placeholder 22"/>
          <p:cNvSpPr>
            <a:spLocks noGrp="1"/>
          </p:cNvSpPr>
          <p:nvPr>
            <p:ph type="sldNum" sz="quarter" idx="4"/>
          </p:nvPr>
        </p:nvSpPr>
        <p:spPr>
          <a:xfrm>
            <a:off x="4343400" y="1039813"/>
            <a:ext cx="457200" cy="441325"/>
          </a:xfrm>
          <a:prstGeom prst="rect">
            <a:avLst/>
          </a:prstGeom>
        </p:spPr>
        <p:txBody>
          <a:bodyPr vert="horz" lIns="45720" rIns="45720" anchor="ctr">
            <a:normAutofit/>
          </a:bodyPr>
          <a:lstStyle>
            <a:lvl1pPr algn="ctr" eaLnBrk="1" fontAlgn="auto" latinLnBrk="0" hangingPunct="1">
              <a:spcBef>
                <a:spcPts val="0"/>
              </a:spcBef>
              <a:spcAft>
                <a:spcPts val="0"/>
              </a:spcAft>
              <a:defRPr kumimoji="0" sz="1600" smtClean="0">
                <a:solidFill>
                  <a:schemeClr val="accent3">
                    <a:shade val="75000"/>
                  </a:schemeClr>
                </a:solidFill>
                <a:latin typeface="+mn-lt"/>
              </a:defRPr>
            </a:lvl1pPr>
          </a:lstStyle>
          <a:p>
            <a:pPr>
              <a:defRPr/>
            </a:pPr>
            <a:fld id="{FAED2C92-DA82-4C11-9BC7-DC7D7CA4DAA8}" type="slidenum">
              <a:rPr lang="en-US"/>
              <a:pPr>
                <a:defRPr/>
              </a:pPr>
              <a:t>‹#›</a:t>
            </a:fld>
            <a:endParaRPr lang="en-US"/>
          </a:p>
        </p:txBody>
      </p:sp>
      <p:sp>
        <p:nvSpPr>
          <p:cNvPr id="4110" name="Title Placeholder 21"/>
          <p:cNvSpPr>
            <a:spLocks noGrp="1"/>
          </p:cNvSpPr>
          <p:nvPr>
            <p:ph type="title"/>
          </p:nvPr>
        </p:nvSpPr>
        <p:spPr bwMode="auto">
          <a:xfrm>
            <a:off x="301625" y="228600"/>
            <a:ext cx="8534400" cy="758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4111" name="Text Placeholder 12"/>
          <p:cNvSpPr>
            <a:spLocks noGrp="1"/>
          </p:cNvSpPr>
          <p:nvPr>
            <p:ph type="body" idx="1"/>
          </p:nvPr>
        </p:nvSpPr>
        <p:spPr bwMode="auto">
          <a:xfrm>
            <a:off x="301625" y="1524000"/>
            <a:ext cx="8534400" cy="45989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Lst>
  <p:txStyles>
    <p:titleStyle>
      <a:lvl1pPr algn="ctr" rtl="0" fontAlgn="base">
        <a:spcBef>
          <a:spcPct val="0"/>
        </a:spcBef>
        <a:spcAft>
          <a:spcPct val="0"/>
        </a:spcAft>
        <a:defRPr sz="3300" kern="1200">
          <a:solidFill>
            <a:srgbClr val="7B9899"/>
          </a:solidFill>
          <a:latin typeface="+mj-lt"/>
          <a:ea typeface="+mj-ea"/>
          <a:cs typeface="+mj-cs"/>
        </a:defRPr>
      </a:lvl1pPr>
      <a:lvl2pPr algn="ctr" rtl="0" fontAlgn="base">
        <a:spcBef>
          <a:spcPct val="0"/>
        </a:spcBef>
        <a:spcAft>
          <a:spcPct val="0"/>
        </a:spcAft>
        <a:defRPr sz="3300">
          <a:solidFill>
            <a:srgbClr val="7B9899"/>
          </a:solidFill>
          <a:latin typeface="Georgia" pitchFamily="18" charset="0"/>
        </a:defRPr>
      </a:lvl2pPr>
      <a:lvl3pPr algn="ctr" rtl="0" fontAlgn="base">
        <a:spcBef>
          <a:spcPct val="0"/>
        </a:spcBef>
        <a:spcAft>
          <a:spcPct val="0"/>
        </a:spcAft>
        <a:defRPr sz="3300">
          <a:solidFill>
            <a:srgbClr val="7B9899"/>
          </a:solidFill>
          <a:latin typeface="Georgia" pitchFamily="18" charset="0"/>
        </a:defRPr>
      </a:lvl3pPr>
      <a:lvl4pPr algn="ctr" rtl="0" fontAlgn="base">
        <a:spcBef>
          <a:spcPct val="0"/>
        </a:spcBef>
        <a:spcAft>
          <a:spcPct val="0"/>
        </a:spcAft>
        <a:defRPr sz="3300">
          <a:solidFill>
            <a:srgbClr val="7B9899"/>
          </a:solidFill>
          <a:latin typeface="Georgia" pitchFamily="18" charset="0"/>
        </a:defRPr>
      </a:lvl4pPr>
      <a:lvl5pPr algn="ctr" rtl="0" fontAlgn="base">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fontAlgn="base">
        <a:spcBef>
          <a:spcPct val="20000"/>
        </a:spcBef>
        <a:spcAft>
          <a:spcPct val="0"/>
        </a:spcAft>
        <a:buClr>
          <a:schemeClr val="accent1"/>
        </a:buClr>
        <a:buSzPct val="85000"/>
        <a:buFont typeface="Wingdings 2" pitchFamily="18" charset="2"/>
        <a:buChar char=""/>
        <a:defRPr sz="2700" kern="1200">
          <a:solidFill>
            <a:schemeClr val="tx1"/>
          </a:solidFill>
          <a:latin typeface="+mn-lt"/>
          <a:ea typeface="+mn-ea"/>
          <a:cs typeface="+mn-cs"/>
        </a:defRPr>
      </a:lvl1pPr>
      <a:lvl2pPr marL="547688" indent="-273050" algn="l" rtl="0" fontAlgn="base">
        <a:spcBef>
          <a:spcPct val="20000"/>
        </a:spcBef>
        <a:spcAft>
          <a:spcPct val="0"/>
        </a:spcAft>
        <a:buClr>
          <a:schemeClr val="accent2"/>
        </a:buClr>
        <a:buSzPct val="70000"/>
        <a:buFont typeface="Wingdings" pitchFamily="2" charset="2"/>
        <a:buChar char=""/>
        <a:defRPr sz="2200" kern="1200">
          <a:solidFill>
            <a:schemeClr val="tx2"/>
          </a:solidFill>
          <a:latin typeface="+mn-lt"/>
          <a:ea typeface="+mn-ea"/>
          <a:cs typeface="+mn-cs"/>
        </a:defRPr>
      </a:lvl2pPr>
      <a:lvl3pPr marL="822325" indent="-228600" algn="l" rtl="0" fontAlgn="base">
        <a:spcBef>
          <a:spcPct val="20000"/>
        </a:spcBef>
        <a:spcAft>
          <a:spcPct val="0"/>
        </a:spcAft>
        <a:buClr>
          <a:srgbClr val="8CADAE"/>
        </a:buClr>
        <a:buSzPct val="75000"/>
        <a:buFont typeface="Wingdings 2" pitchFamily="18" charset="2"/>
        <a:buChar char=""/>
        <a:defRPr sz="2000" kern="1200">
          <a:solidFill>
            <a:schemeClr val="tx1"/>
          </a:solidFill>
          <a:latin typeface="+mn-lt"/>
          <a:ea typeface="+mn-ea"/>
          <a:cs typeface="+mn-cs"/>
        </a:defRPr>
      </a:lvl3pPr>
      <a:lvl4pPr marL="1096963" indent="-228600" algn="l" rtl="0" fontAlgn="base">
        <a:spcBef>
          <a:spcPct val="20000"/>
        </a:spcBef>
        <a:spcAft>
          <a:spcPct val="0"/>
        </a:spcAft>
        <a:buClr>
          <a:srgbClr val="8C7B70"/>
        </a:buClr>
        <a:buSzPct val="70000"/>
        <a:buFont typeface="Wingdings" pitchFamily="2" charset="2"/>
        <a:buChar char=""/>
        <a:defRPr sz="2000" kern="1200">
          <a:solidFill>
            <a:schemeClr val="tx2"/>
          </a:solidFill>
          <a:latin typeface="+mn-lt"/>
          <a:ea typeface="+mn-ea"/>
          <a:cs typeface="+mn-cs"/>
        </a:defRPr>
      </a:lvl4pPr>
      <a:lvl5pPr marL="1371600" indent="-228600" algn="l" rtl="0" fontAlgn="base">
        <a:spcBef>
          <a:spcPct val="20000"/>
        </a:spcBef>
        <a:spcAft>
          <a:spcPct val="0"/>
        </a:spcAft>
        <a:buClr>
          <a:srgbClr val="8FB08C"/>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7.jpeg"/><Relationship Id="rId4" Type="http://schemas.openxmlformats.org/officeDocument/2006/relationships/image" Target="../media/image3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6.xml"/><Relationship Id="rId4" Type="http://schemas.openxmlformats.org/officeDocument/2006/relationships/image" Target="../media/image59.jpeg"/></Relationships>
</file>

<file path=ppt/slides/_rels/slide5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6.xml"/><Relationship Id="rId4" Type="http://schemas.openxmlformats.org/officeDocument/2006/relationships/image" Target="../media/image66.jpeg"/></Relationships>
</file>

<file path=ppt/slides/_rels/slide7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hyperlink" Target="http://en.wikipedia.org/wiki/Methylococcus_capsulatus" TargetMode="External"/><Relationship Id="rId2" Type="http://schemas.openxmlformats.org/officeDocument/2006/relationships/hyperlink" Target="http://en.wikipedia.org/wiki/Methanosarcina" TargetMode="Externa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9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76.png"/><Relationship Id="rId4" Type="http://schemas.openxmlformats.org/officeDocument/2006/relationships/image" Target="../media/image75.png"/></Relationships>
</file>

<file path=ppt/slides/_rels/slide9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6.jpeg"/><Relationship Id="rId4" Type="http://schemas.openxmlformats.org/officeDocument/2006/relationships/image" Target="../media/image85.jpeg"/></Relationships>
</file>

<file path=ppt/slides/_rels/slide101.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1.xml"/></Relationships>
</file>

<file path=ppt/slides/_rels/slide125.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11.xml"/></Relationships>
</file>

<file path=ppt/slides/_rels/slide126.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102.jpe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109.jpeg"/><Relationship Id="rId4" Type="http://schemas.openxmlformats.org/officeDocument/2006/relationships/image" Target="../media/image108.jpeg"/></Relationships>
</file>

<file path=ppt/slides/_rels/slide147.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xml"/><Relationship Id="rId4" Type="http://schemas.openxmlformats.org/officeDocument/2006/relationships/image" Target="../media/image113.png"/></Relationships>
</file>

<file path=ppt/slides/_rels/slide14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a:xfrm>
            <a:off x="838200" y="2362200"/>
            <a:ext cx="7772400" cy="1241425"/>
          </a:xfrm>
        </p:spPr>
        <p:txBody>
          <a:bodyPr/>
          <a:lstStyle/>
          <a:p>
            <a:pPr eaLnBrk="1" hangingPunct="1"/>
            <a:r>
              <a:rPr lang="en-US" sz="5400" dirty="0" smtClean="0">
                <a:solidFill>
                  <a:schemeClr val="tx1"/>
                </a:solidFill>
                <a:latin typeface="Bodoni MT Black" pitchFamily="18" charset="0"/>
              </a:rPr>
              <a:t>Microbes in soil</a:t>
            </a:r>
          </a:p>
        </p:txBody>
      </p:sp>
      <p:sp>
        <p:nvSpPr>
          <p:cNvPr id="13315" name="Subtitle 2"/>
          <p:cNvSpPr>
            <a:spLocks noGrp="1"/>
          </p:cNvSpPr>
          <p:nvPr>
            <p:ph type="subTitle" idx="1"/>
          </p:nvPr>
        </p:nvSpPr>
        <p:spPr>
          <a:xfrm>
            <a:off x="0" y="3886200"/>
            <a:ext cx="5410200" cy="2971800"/>
          </a:xfrm>
        </p:spPr>
        <p:txBody>
          <a:bodyPr/>
          <a:lstStyle/>
          <a:p>
            <a:pPr eaLnBrk="1" hangingPunct="1"/>
            <a:r>
              <a:rPr lang="en-US" sz="1800" dirty="0" smtClean="0">
                <a:solidFill>
                  <a:schemeClr val="tx1"/>
                </a:solidFill>
                <a:latin typeface="Bodoni MT Black" pitchFamily="18" charset="0"/>
              </a:rPr>
              <a:t>P. </a:t>
            </a:r>
            <a:r>
              <a:rPr lang="en-US" sz="1800" dirty="0" err="1" smtClean="0">
                <a:solidFill>
                  <a:schemeClr val="tx1"/>
                </a:solidFill>
                <a:latin typeface="Bodoni MT Black" pitchFamily="18" charset="0"/>
              </a:rPr>
              <a:t>Neelamanie</a:t>
            </a:r>
            <a:r>
              <a:rPr lang="en-US" sz="1800" dirty="0" smtClean="0">
                <a:solidFill>
                  <a:schemeClr val="tx1"/>
                </a:solidFill>
                <a:latin typeface="Bodoni MT Black" pitchFamily="18" charset="0"/>
              </a:rPr>
              <a:t> </a:t>
            </a:r>
            <a:r>
              <a:rPr lang="en-US" sz="1800" dirty="0" err="1" smtClean="0">
                <a:solidFill>
                  <a:schemeClr val="tx1"/>
                </a:solidFill>
                <a:latin typeface="Bodoni MT Black" pitchFamily="18" charset="0"/>
              </a:rPr>
              <a:t>Yapa</a:t>
            </a:r>
            <a:endParaRPr lang="en-US" sz="1800" dirty="0" smtClean="0">
              <a:solidFill>
                <a:schemeClr val="tx1"/>
              </a:solidFill>
              <a:latin typeface="Bodoni MT Black" pitchFamily="18" charset="0"/>
            </a:endParaRPr>
          </a:p>
          <a:p>
            <a:pPr eaLnBrk="1" hangingPunct="1"/>
            <a:r>
              <a:rPr lang="en-US" sz="1800" dirty="0" smtClean="0">
                <a:solidFill>
                  <a:schemeClr val="tx1"/>
                </a:solidFill>
                <a:latin typeface="Bodoni MT Black" pitchFamily="18" charset="0"/>
              </a:rPr>
              <a:t>Faculty of Applied Sciences</a:t>
            </a:r>
          </a:p>
          <a:p>
            <a:pPr eaLnBrk="1" hangingPunct="1"/>
            <a:r>
              <a:rPr lang="en-US" sz="1800" dirty="0" err="1" smtClean="0">
                <a:solidFill>
                  <a:schemeClr val="tx1"/>
                </a:solidFill>
                <a:latin typeface="Bodoni MT Black" pitchFamily="18" charset="0"/>
              </a:rPr>
              <a:t>Rajarata</a:t>
            </a:r>
            <a:r>
              <a:rPr lang="en-US" sz="1800" dirty="0" smtClean="0">
                <a:solidFill>
                  <a:schemeClr val="tx1"/>
                </a:solidFill>
                <a:latin typeface="Bodoni MT Black" pitchFamily="18" charset="0"/>
              </a:rPr>
              <a:t> University of </a:t>
            </a:r>
          </a:p>
          <a:p>
            <a:pPr eaLnBrk="1" hangingPunct="1"/>
            <a:r>
              <a:rPr lang="en-US" sz="1800" dirty="0" smtClean="0">
                <a:solidFill>
                  <a:schemeClr val="tx1"/>
                </a:solidFill>
                <a:latin typeface="Bodoni MT Black" pitchFamily="18" charset="0"/>
              </a:rPr>
              <a:t>Sri Lanka</a:t>
            </a:r>
          </a:p>
        </p:txBody>
      </p:sp>
      <p:sp>
        <p:nvSpPr>
          <p:cNvPr id="13316" name="AutoShape 2" descr="http://www.treehugger.com/Biochar_Answer.jp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sp>
        <p:nvSpPr>
          <p:cNvPr id="13317" name="AutoShape 4" descr="http://www.treehugger.com/Biochar_Answer.jp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pic>
        <p:nvPicPr>
          <p:cNvPr id="13318" name="Picture 6" descr="http://www.mass.gov/agr/events/images/2008/04_tilling_field.jpg"/>
          <p:cNvPicPr>
            <a:picLocks noChangeAspect="1" noChangeArrowheads="1"/>
          </p:cNvPicPr>
          <p:nvPr/>
        </p:nvPicPr>
        <p:blipFill>
          <a:blip r:embed="rId3"/>
          <a:srcRect/>
          <a:stretch>
            <a:fillRect/>
          </a:stretch>
        </p:blipFill>
        <p:spPr bwMode="auto">
          <a:xfrm>
            <a:off x="0" y="0"/>
            <a:ext cx="3429000" cy="2514600"/>
          </a:xfrm>
          <a:prstGeom prst="rect">
            <a:avLst/>
          </a:prstGeom>
          <a:noFill/>
          <a:ln w="9525">
            <a:noFill/>
            <a:miter lim="800000"/>
            <a:headEnd/>
            <a:tailEnd/>
          </a:ln>
        </p:spPr>
      </p:pic>
      <p:pic>
        <p:nvPicPr>
          <p:cNvPr id="13319" name="Picture 8" descr="http://www.make-my-own-house.com/images/tilled.jpg"/>
          <p:cNvPicPr>
            <a:picLocks noChangeAspect="1" noChangeArrowheads="1"/>
          </p:cNvPicPr>
          <p:nvPr/>
        </p:nvPicPr>
        <p:blipFill>
          <a:blip r:embed="rId4"/>
          <a:srcRect/>
          <a:stretch>
            <a:fillRect/>
          </a:stretch>
        </p:blipFill>
        <p:spPr bwMode="auto">
          <a:xfrm>
            <a:off x="5448300" y="3562350"/>
            <a:ext cx="3695700" cy="3295650"/>
          </a:xfrm>
          <a:prstGeom prst="rect">
            <a:avLst/>
          </a:prstGeom>
          <a:noFill/>
          <a:ln w="9525">
            <a:noFill/>
            <a:miter lim="800000"/>
            <a:headEnd/>
            <a:tailEnd/>
          </a:ln>
        </p:spPr>
      </p:pic>
      <p:pic>
        <p:nvPicPr>
          <p:cNvPr id="13320" name="Picture 11" descr="http://www.waterscan.rs/images/virusi-bakterije//bacterie-penicillium.jpg"/>
          <p:cNvPicPr>
            <a:picLocks noChangeAspect="1" noChangeArrowheads="1"/>
          </p:cNvPicPr>
          <p:nvPr/>
        </p:nvPicPr>
        <p:blipFill>
          <a:blip r:embed="rId5"/>
          <a:srcRect/>
          <a:stretch>
            <a:fillRect/>
          </a:stretch>
        </p:blipFill>
        <p:spPr bwMode="auto">
          <a:xfrm>
            <a:off x="6019800" y="0"/>
            <a:ext cx="3124200" cy="25146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Learning Outcomes</a:t>
            </a:r>
            <a:r>
              <a:rPr lang="en-US" dirty="0" smtClean="0"/>
              <a:t> are to:</a:t>
            </a:r>
            <a:br>
              <a:rPr lang="en-US" dirty="0" smtClean="0"/>
            </a:br>
            <a:endParaRPr lang="en-US" dirty="0"/>
          </a:p>
        </p:txBody>
      </p:sp>
      <p:sp>
        <p:nvSpPr>
          <p:cNvPr id="3" name="Content Placeholder 2"/>
          <p:cNvSpPr>
            <a:spLocks noGrp="1"/>
          </p:cNvSpPr>
          <p:nvPr>
            <p:ph idx="1"/>
          </p:nvPr>
        </p:nvSpPr>
        <p:spPr>
          <a:xfrm>
            <a:off x="457200" y="1295400"/>
            <a:ext cx="8229600" cy="5562600"/>
          </a:xfrm>
        </p:spPr>
        <p:txBody>
          <a:bodyPr/>
          <a:lstStyle/>
          <a:p>
            <a:r>
              <a:rPr lang="en-US" dirty="0" smtClean="0"/>
              <a:t>describe morphological indications of different soil microorganisms;</a:t>
            </a:r>
          </a:p>
          <a:p>
            <a:r>
              <a:rPr lang="en-US" dirty="0" smtClean="0"/>
              <a:t>identify the representatives of the main soil microorganism groups;</a:t>
            </a:r>
          </a:p>
          <a:p>
            <a:r>
              <a:rPr lang="en-US" dirty="0" smtClean="0"/>
              <a:t>understand the course of microbiological processes and know their main agents </a:t>
            </a:r>
          </a:p>
          <a:p>
            <a:r>
              <a:rPr lang="en-US" dirty="0" smtClean="0"/>
              <a:t>Identify activity and interactions of different microorganisms in soil</a:t>
            </a:r>
          </a:p>
          <a:p>
            <a:r>
              <a:rPr lang="en-US" dirty="0" smtClean="0"/>
              <a:t>use of microorganisms in improving soil health.</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0" y="381000"/>
            <a:ext cx="4800600" cy="1219200"/>
          </a:xfrm>
        </p:spPr>
        <p:txBody>
          <a:bodyPr/>
          <a:lstStyle/>
          <a:p>
            <a:pPr eaLnBrk="1" hangingPunct="1"/>
            <a:r>
              <a:rPr lang="en-US" b="1" dirty="0" smtClean="0"/>
              <a:t>Soil</a:t>
            </a:r>
            <a:endParaRPr lang="en-US" dirty="0" smtClean="0"/>
          </a:p>
        </p:txBody>
      </p:sp>
      <p:sp>
        <p:nvSpPr>
          <p:cNvPr id="14339" name="Content Placeholder 2"/>
          <p:cNvSpPr>
            <a:spLocks noGrp="1"/>
          </p:cNvSpPr>
          <p:nvPr>
            <p:ph idx="1"/>
          </p:nvPr>
        </p:nvSpPr>
        <p:spPr>
          <a:xfrm>
            <a:off x="457200" y="1905000"/>
            <a:ext cx="8686800" cy="4953000"/>
          </a:xfrm>
        </p:spPr>
        <p:txBody>
          <a:bodyPr/>
          <a:lstStyle/>
          <a:p>
            <a:pPr eaLnBrk="1" hangingPunct="1">
              <a:buFont typeface="Arial" pitchFamily="34" charset="0"/>
              <a:buNone/>
            </a:pPr>
            <a:r>
              <a:rPr lang="en-US" smtClean="0"/>
              <a:t> Soils correspond to the surface layer of</a:t>
            </a:r>
          </a:p>
          <a:p>
            <a:pPr eaLnBrk="1" hangingPunct="1">
              <a:buFont typeface="Arial" pitchFamily="34" charset="0"/>
              <a:buNone/>
            </a:pPr>
            <a:r>
              <a:rPr lang="en-US" smtClean="0"/>
              <a:t>the Earth's crust </a:t>
            </a:r>
          </a:p>
          <a:p>
            <a:pPr eaLnBrk="1" hangingPunct="1">
              <a:buFont typeface="Arial" pitchFamily="34" charset="0"/>
              <a:buNone/>
            </a:pPr>
            <a:r>
              <a:rPr lang="en-US" smtClean="0"/>
              <a:t>(lithosphere: litho = rock).</a:t>
            </a:r>
          </a:p>
          <a:p>
            <a:pPr eaLnBrk="1" hangingPunct="1">
              <a:buFont typeface="Arial" pitchFamily="34" charset="0"/>
              <a:buNone/>
            </a:pPr>
            <a:r>
              <a:rPr lang="en-US" smtClean="0"/>
              <a:t> They develop as a result of the</a:t>
            </a:r>
          </a:p>
          <a:p>
            <a:pPr eaLnBrk="1" hangingPunct="1">
              <a:buFont typeface="Arial" pitchFamily="34" charset="0"/>
              <a:buNone/>
            </a:pPr>
            <a:r>
              <a:rPr lang="en-US" smtClean="0"/>
              <a:t>weathering of geological rock </a:t>
            </a:r>
          </a:p>
          <a:p>
            <a:pPr eaLnBrk="1" hangingPunct="1">
              <a:buFont typeface="Arial" pitchFamily="34" charset="0"/>
              <a:buNone/>
            </a:pPr>
            <a:r>
              <a:rPr lang="en-US" smtClean="0"/>
              <a:t>formations.</a:t>
            </a:r>
          </a:p>
        </p:txBody>
      </p:sp>
      <p:pic>
        <p:nvPicPr>
          <p:cNvPr id="14340" name="Picture 2" descr="http://images.quickblogcast.com/3/0/7/0/2/129183-120703/Soil.jpg"/>
          <p:cNvPicPr>
            <a:picLocks noChangeAspect="1" noChangeArrowheads="1"/>
          </p:cNvPicPr>
          <p:nvPr/>
        </p:nvPicPr>
        <p:blipFill>
          <a:blip r:embed="rId2"/>
          <a:srcRect/>
          <a:stretch>
            <a:fillRect/>
          </a:stretch>
        </p:blipFill>
        <p:spPr bwMode="auto">
          <a:xfrm>
            <a:off x="5562600" y="4000500"/>
            <a:ext cx="3581400" cy="2857500"/>
          </a:xfrm>
          <a:prstGeom prst="rect">
            <a:avLst/>
          </a:prstGeom>
          <a:noFill/>
          <a:ln w="9525">
            <a:noFill/>
            <a:miter lim="800000"/>
            <a:headEnd/>
            <a:tailEnd/>
          </a:ln>
        </p:spPr>
      </p:pic>
      <p:sp>
        <p:nvSpPr>
          <p:cNvPr id="14341" name="AutoShape 4" descr="http://www.treehugger.com/Biochar_Answer.jp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sp>
        <p:nvSpPr>
          <p:cNvPr id="14342" name="AutoShape 6" descr="http://www.treehugger.com/Biochar_Answer.jp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sp>
        <p:nvSpPr>
          <p:cNvPr id="14343" name="AutoShape 8" descr="http://www.treehugger.com/Biochar_Answer.jp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sp>
        <p:nvSpPr>
          <p:cNvPr id="14344" name="AutoShape 10" descr="http://www.treehugger.com/Biochar_Answer.jp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pic>
        <p:nvPicPr>
          <p:cNvPr id="14345" name="Picture 12" descr="http://extension.usu.edu/waterquality/images/uploads/nrfd/HandsSoilPlant.jpg"/>
          <p:cNvPicPr>
            <a:picLocks noChangeAspect="1" noChangeArrowheads="1"/>
          </p:cNvPicPr>
          <p:nvPr/>
        </p:nvPicPr>
        <p:blipFill>
          <a:blip r:embed="rId3"/>
          <a:srcRect/>
          <a:stretch>
            <a:fillRect/>
          </a:stretch>
        </p:blipFill>
        <p:spPr bwMode="auto">
          <a:xfrm>
            <a:off x="5334000" y="0"/>
            <a:ext cx="3810000" cy="3065463"/>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0"/>
            <a:ext cx="7772400" cy="1143000"/>
          </a:xfrm>
        </p:spPr>
        <p:txBody>
          <a:bodyPr/>
          <a:lstStyle/>
          <a:p>
            <a:pPr eaLnBrk="1" hangingPunct="1"/>
            <a:r>
              <a:rPr lang="en-US" smtClean="0"/>
              <a:t>Soils Defined</a:t>
            </a:r>
          </a:p>
        </p:txBody>
      </p:sp>
      <p:sp>
        <p:nvSpPr>
          <p:cNvPr id="41987" name="Rectangle 3"/>
          <p:cNvSpPr>
            <a:spLocks noGrp="1" noChangeArrowheads="1"/>
          </p:cNvSpPr>
          <p:nvPr>
            <p:ph idx="1"/>
          </p:nvPr>
        </p:nvSpPr>
        <p:spPr>
          <a:xfrm>
            <a:off x="0" y="1066800"/>
            <a:ext cx="9144000" cy="5257800"/>
          </a:xfrm>
        </p:spPr>
        <p:txBody>
          <a:bodyPr rtlCol="0">
            <a:normAutofit/>
          </a:bodyPr>
          <a:lstStyle/>
          <a:p>
            <a:pPr eaLnBrk="1" fontAlgn="auto" hangingPunct="1">
              <a:spcAft>
                <a:spcPts val="0"/>
              </a:spcAft>
              <a:buFont typeface="Arial" pitchFamily="34" charset="0"/>
              <a:buNone/>
              <a:defRPr/>
            </a:pPr>
            <a:r>
              <a:rPr lang="en-US" dirty="0" smtClean="0"/>
              <a:t>Natural Body that Occurs on the  land Surface</a:t>
            </a:r>
          </a:p>
          <a:p>
            <a:pPr lvl="1" eaLnBrk="1" fontAlgn="auto" hangingPunct="1">
              <a:spcAft>
                <a:spcPts val="0"/>
              </a:spcAft>
              <a:buFont typeface="Arial" pitchFamily="34" charset="0"/>
              <a:buNone/>
              <a:defRPr/>
            </a:pPr>
            <a:r>
              <a:rPr lang="en-US" sz="3200" dirty="0" smtClean="0"/>
              <a:t>Consists of Distinct Horizons or Layers</a:t>
            </a:r>
          </a:p>
          <a:p>
            <a:pPr lvl="1" eaLnBrk="1" fontAlgn="auto" hangingPunct="1">
              <a:spcAft>
                <a:spcPts val="0"/>
              </a:spcAft>
              <a:buFont typeface="Arial" pitchFamily="34" charset="0"/>
              <a:buNone/>
              <a:defRPr/>
            </a:pPr>
            <a:r>
              <a:rPr lang="en-US" sz="3200" dirty="0" smtClean="0"/>
              <a:t>The ability to support rooted plants in a natural</a:t>
            </a:r>
            <a:br>
              <a:rPr lang="en-US" sz="3200" dirty="0" smtClean="0"/>
            </a:br>
            <a:r>
              <a:rPr lang="en-US" sz="3200" dirty="0" smtClean="0"/>
              <a:t>environment</a:t>
            </a:r>
          </a:p>
          <a:p>
            <a:pPr lvl="1" eaLnBrk="1" fontAlgn="auto" hangingPunct="1">
              <a:spcAft>
                <a:spcPts val="0"/>
              </a:spcAft>
              <a:buFont typeface="Arial" pitchFamily="34" charset="0"/>
              <a:buNone/>
              <a:defRPr/>
            </a:pPr>
            <a:r>
              <a:rPr lang="en-US" sz="3200" dirty="0" smtClean="0"/>
              <a:t>Upper Limit is Air or Shallow Water</a:t>
            </a:r>
          </a:p>
          <a:p>
            <a:pPr lvl="1" eaLnBrk="1" fontAlgn="auto" hangingPunct="1">
              <a:spcAft>
                <a:spcPts val="0"/>
              </a:spcAft>
              <a:buFont typeface="Arial" pitchFamily="34" charset="0"/>
              <a:buNone/>
              <a:defRPr/>
            </a:pPr>
            <a:r>
              <a:rPr lang="en-US" sz="3200" dirty="0" smtClean="0"/>
              <a:t>Lower Limit is Bedrock or Limit of Biological Activity</a:t>
            </a:r>
          </a:p>
          <a:p>
            <a:pPr lvl="1" eaLnBrk="1" fontAlgn="auto" hangingPunct="1">
              <a:spcAft>
                <a:spcPts val="0"/>
              </a:spcAft>
              <a:buFont typeface="Arial" pitchFamily="34" charset="0"/>
              <a:buNone/>
              <a:defRPr/>
            </a:pPr>
            <a:r>
              <a:rPr lang="en-US" sz="3200" dirty="0" smtClean="0"/>
              <a:t>Classification based on a typical depth of 2 m or </a:t>
            </a:r>
            <a:br>
              <a:rPr lang="en-US" sz="3200" dirty="0" smtClean="0"/>
            </a:br>
            <a:r>
              <a:rPr lang="en-US" sz="3200" dirty="0" smtClean="0"/>
              <a:t>approximately 6.0 feet</a:t>
            </a:r>
            <a:endParaRPr lang="en-US" sz="36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5181600" y="685800"/>
            <a:ext cx="3429000" cy="1066800"/>
          </a:xfrm>
        </p:spPr>
        <p:txBody>
          <a:bodyPr rtlCol="0">
            <a:normAutofit fontScale="90000"/>
          </a:bodyPr>
          <a:lstStyle/>
          <a:p>
            <a:pPr eaLnBrk="1" fontAlgn="auto" hangingPunct="1">
              <a:spcAft>
                <a:spcPts val="0"/>
              </a:spcAft>
              <a:defRPr/>
            </a:pPr>
            <a:r>
              <a:rPr lang="en-US" b="1" dirty="0" smtClean="0"/>
              <a:t>Soil microbiology</a:t>
            </a:r>
            <a:br>
              <a:rPr lang="en-US" b="1" dirty="0" smtClean="0"/>
            </a:br>
            <a:endParaRPr lang="en-US" dirty="0" smtClean="0"/>
          </a:p>
        </p:txBody>
      </p:sp>
      <p:sp>
        <p:nvSpPr>
          <p:cNvPr id="16387" name="Content Placeholder 2"/>
          <p:cNvSpPr>
            <a:spLocks noGrp="1"/>
          </p:cNvSpPr>
          <p:nvPr>
            <p:ph idx="1"/>
          </p:nvPr>
        </p:nvSpPr>
        <p:spPr>
          <a:xfrm>
            <a:off x="0" y="2819400"/>
            <a:ext cx="9144000" cy="4038600"/>
          </a:xfrm>
        </p:spPr>
        <p:txBody>
          <a:bodyPr/>
          <a:lstStyle/>
          <a:p>
            <a:pPr eaLnBrk="1" hangingPunct="1">
              <a:buFont typeface="Arial" pitchFamily="34" charset="0"/>
              <a:buNone/>
            </a:pPr>
            <a:r>
              <a:rPr lang="en-US" dirty="0" smtClean="0"/>
              <a:t> They are found in association with air (i.e. the soil atmosphere) and an aqueous phase (i.e. the soil solution) in the pores </a:t>
            </a:r>
          </a:p>
          <a:p>
            <a:pPr eaLnBrk="1" hangingPunct="1">
              <a:buFont typeface="Arial" pitchFamily="34" charset="0"/>
              <a:buNone/>
            </a:pPr>
            <a:r>
              <a:rPr lang="en-US" dirty="0" smtClean="0"/>
              <a:t>   existing between particles </a:t>
            </a:r>
          </a:p>
          <a:p>
            <a:pPr eaLnBrk="1" hangingPunct="1">
              <a:buFont typeface="Arial" pitchFamily="34" charset="0"/>
              <a:buNone/>
            </a:pPr>
            <a:r>
              <a:rPr lang="en-US" dirty="0" smtClean="0"/>
              <a:t>    and/or aggregates.</a:t>
            </a:r>
          </a:p>
        </p:txBody>
      </p:sp>
      <p:pic>
        <p:nvPicPr>
          <p:cNvPr id="16388" name="Picture 2" descr="http://farm4.static.flickr.com/3602/3288213824_eafaaa9e4e.jpg"/>
          <p:cNvPicPr>
            <a:picLocks noChangeAspect="1" noChangeArrowheads="1"/>
          </p:cNvPicPr>
          <p:nvPr/>
        </p:nvPicPr>
        <p:blipFill>
          <a:blip r:embed="rId3"/>
          <a:srcRect/>
          <a:stretch>
            <a:fillRect/>
          </a:stretch>
        </p:blipFill>
        <p:spPr bwMode="auto">
          <a:xfrm>
            <a:off x="5105400" y="3962400"/>
            <a:ext cx="4038600" cy="2895600"/>
          </a:xfrm>
          <a:prstGeom prst="rect">
            <a:avLst/>
          </a:prstGeom>
          <a:noFill/>
          <a:ln w="9525">
            <a:noFill/>
            <a:miter lim="800000"/>
            <a:headEnd/>
            <a:tailEnd/>
          </a:ln>
        </p:spPr>
      </p:pic>
      <p:pic>
        <p:nvPicPr>
          <p:cNvPr id="16389" name="Picture 6" descr="http://www.bio.kpu.ac.jp/pomlab/PomMedia/Vaminf.jpg"/>
          <p:cNvPicPr>
            <a:picLocks noChangeAspect="1" noChangeArrowheads="1"/>
          </p:cNvPicPr>
          <p:nvPr/>
        </p:nvPicPr>
        <p:blipFill>
          <a:blip r:embed="rId4"/>
          <a:srcRect/>
          <a:stretch>
            <a:fillRect/>
          </a:stretch>
        </p:blipFill>
        <p:spPr bwMode="auto">
          <a:xfrm>
            <a:off x="0" y="0"/>
            <a:ext cx="4457700" cy="28194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381000"/>
            <a:ext cx="4724400" cy="1143000"/>
          </a:xfrm>
        </p:spPr>
        <p:txBody>
          <a:bodyPr/>
          <a:lstStyle/>
          <a:p>
            <a:pPr eaLnBrk="1" hangingPunct="1"/>
            <a:r>
              <a:rPr lang="en-US" smtClean="0"/>
              <a:t>Soil Composition</a:t>
            </a:r>
          </a:p>
        </p:txBody>
      </p:sp>
      <p:pic>
        <p:nvPicPr>
          <p:cNvPr id="18435" name="Picture 4" descr="C:\share\mgsoils\p2-2large.gif"/>
          <p:cNvPicPr>
            <a:picLocks noGrp="1" noChangeAspect="1" noChangeArrowheads="1"/>
          </p:cNvPicPr>
          <p:nvPr>
            <p:ph type="clipArt" sz="half" idx="1"/>
          </p:nvPr>
        </p:nvPicPr>
        <p:blipFill>
          <a:blip r:embed="rId2"/>
          <a:srcRect/>
          <a:stretch>
            <a:fillRect/>
          </a:stretch>
        </p:blipFill>
        <p:spPr>
          <a:xfrm>
            <a:off x="911225" y="1981200"/>
            <a:ext cx="3357563" cy="4114800"/>
          </a:xfrm>
        </p:spPr>
      </p:pic>
      <p:sp>
        <p:nvSpPr>
          <p:cNvPr id="44035" name="Rectangle 3"/>
          <p:cNvSpPr>
            <a:spLocks noGrp="1" noChangeArrowheads="1"/>
          </p:cNvSpPr>
          <p:nvPr>
            <p:ph type="body" sz="half" idx="2"/>
          </p:nvPr>
        </p:nvSpPr>
        <p:spPr>
          <a:xfrm>
            <a:off x="4495800" y="3276600"/>
            <a:ext cx="4648200" cy="3581400"/>
          </a:xfrm>
        </p:spPr>
        <p:txBody>
          <a:bodyPr rtlCol="0">
            <a:normAutofit fontScale="92500" lnSpcReduction="20000"/>
          </a:bodyPr>
          <a:lstStyle/>
          <a:p>
            <a:pPr eaLnBrk="1" fontAlgn="auto" hangingPunct="1">
              <a:spcAft>
                <a:spcPts val="0"/>
              </a:spcAft>
              <a:buFont typeface="Arial" pitchFamily="34" charset="0"/>
              <a:buNone/>
              <a:defRPr/>
            </a:pPr>
            <a:r>
              <a:rPr lang="en-US" sz="2800" dirty="0" smtClean="0"/>
              <a:t>Constantly changing</a:t>
            </a:r>
          </a:p>
          <a:p>
            <a:pPr eaLnBrk="1" fontAlgn="auto" hangingPunct="1">
              <a:spcAft>
                <a:spcPts val="0"/>
              </a:spcAft>
              <a:buFont typeface="Arial" pitchFamily="34" charset="0"/>
              <a:buNone/>
              <a:defRPr/>
            </a:pPr>
            <a:r>
              <a:rPr lang="en-US" sz="2800" dirty="0" smtClean="0"/>
              <a:t>Mineral</a:t>
            </a:r>
          </a:p>
          <a:p>
            <a:pPr lvl="1" eaLnBrk="1" fontAlgn="auto" hangingPunct="1">
              <a:spcAft>
                <a:spcPts val="0"/>
              </a:spcAft>
              <a:buFont typeface="Arial" pitchFamily="34" charset="0"/>
              <a:buNone/>
              <a:defRPr/>
            </a:pPr>
            <a:r>
              <a:rPr lang="en-US" sz="2400" dirty="0" smtClean="0"/>
              <a:t>rock derivative</a:t>
            </a:r>
          </a:p>
          <a:p>
            <a:pPr eaLnBrk="1" fontAlgn="auto" hangingPunct="1">
              <a:spcAft>
                <a:spcPts val="0"/>
              </a:spcAft>
              <a:buFont typeface="Arial" pitchFamily="34" charset="0"/>
              <a:buNone/>
              <a:defRPr/>
            </a:pPr>
            <a:r>
              <a:rPr lang="en-US" sz="2800" dirty="0" smtClean="0"/>
              <a:t>Pore space</a:t>
            </a:r>
          </a:p>
          <a:p>
            <a:pPr lvl="1" eaLnBrk="1" fontAlgn="auto" hangingPunct="1">
              <a:spcAft>
                <a:spcPts val="0"/>
              </a:spcAft>
              <a:buFont typeface="Arial" pitchFamily="34" charset="0"/>
              <a:buNone/>
              <a:defRPr/>
            </a:pPr>
            <a:r>
              <a:rPr lang="en-US" sz="2400" dirty="0" smtClean="0"/>
              <a:t>water</a:t>
            </a:r>
          </a:p>
          <a:p>
            <a:pPr lvl="1" eaLnBrk="1" fontAlgn="auto" hangingPunct="1">
              <a:spcAft>
                <a:spcPts val="0"/>
              </a:spcAft>
              <a:buFont typeface="Arial" pitchFamily="34" charset="0"/>
              <a:buNone/>
              <a:defRPr/>
            </a:pPr>
            <a:r>
              <a:rPr lang="en-US" sz="2400" dirty="0" smtClean="0"/>
              <a:t>air</a:t>
            </a:r>
          </a:p>
          <a:p>
            <a:pPr eaLnBrk="1" fontAlgn="auto" hangingPunct="1">
              <a:spcAft>
                <a:spcPts val="0"/>
              </a:spcAft>
              <a:buFont typeface="Arial" pitchFamily="34" charset="0"/>
              <a:buNone/>
              <a:defRPr/>
            </a:pPr>
            <a:r>
              <a:rPr lang="en-US" sz="2800" dirty="0" smtClean="0"/>
              <a:t>Organic Matter</a:t>
            </a:r>
          </a:p>
          <a:p>
            <a:pPr lvl="1" eaLnBrk="1" fontAlgn="auto" hangingPunct="1">
              <a:spcAft>
                <a:spcPts val="0"/>
              </a:spcAft>
              <a:buFont typeface="Arial" pitchFamily="34" charset="0"/>
              <a:buNone/>
              <a:defRPr/>
            </a:pPr>
            <a:r>
              <a:rPr lang="en-US" sz="2400" dirty="0" smtClean="0"/>
              <a:t>plant and animal matter</a:t>
            </a:r>
          </a:p>
          <a:p>
            <a:pPr lvl="1" eaLnBrk="1" fontAlgn="auto" hangingPunct="1">
              <a:spcAft>
                <a:spcPts val="0"/>
              </a:spcAft>
              <a:buFont typeface="Arial" pitchFamily="34" charset="0"/>
              <a:buNone/>
              <a:defRPr/>
            </a:pPr>
            <a:r>
              <a:rPr lang="en-US" sz="2400" dirty="0" smtClean="0"/>
              <a:t>living and dead</a:t>
            </a:r>
          </a:p>
        </p:txBody>
      </p:sp>
      <p:pic>
        <p:nvPicPr>
          <p:cNvPr id="18437" name="Picture 2" descr="http://www.stevenswater.com/articles/images/soilcrosssection.jpg"/>
          <p:cNvPicPr>
            <a:picLocks noChangeAspect="1" noChangeArrowheads="1"/>
          </p:cNvPicPr>
          <p:nvPr/>
        </p:nvPicPr>
        <p:blipFill>
          <a:blip r:embed="rId3"/>
          <a:srcRect/>
          <a:stretch>
            <a:fillRect/>
          </a:stretch>
        </p:blipFill>
        <p:spPr bwMode="auto">
          <a:xfrm>
            <a:off x="4267200" y="0"/>
            <a:ext cx="4876800" cy="32766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343400" y="914400"/>
            <a:ext cx="4800600" cy="1981200"/>
          </a:xfrm>
        </p:spPr>
        <p:txBody>
          <a:bodyPr/>
          <a:lstStyle/>
          <a:p>
            <a:pPr eaLnBrk="1" hangingPunct="1"/>
            <a:r>
              <a:rPr lang="en-US" smtClean="0"/>
              <a:t>Five Soil Formation </a:t>
            </a:r>
            <a:br>
              <a:rPr lang="en-US" smtClean="0"/>
            </a:br>
            <a:r>
              <a:rPr lang="en-US" smtClean="0"/>
              <a:t>Factors</a:t>
            </a:r>
          </a:p>
        </p:txBody>
      </p:sp>
      <p:sp>
        <p:nvSpPr>
          <p:cNvPr id="20483" name="Rectangle 3"/>
          <p:cNvSpPr>
            <a:spLocks noGrp="1" noChangeArrowheads="1"/>
          </p:cNvSpPr>
          <p:nvPr>
            <p:ph type="body" sz="half" idx="1"/>
          </p:nvPr>
        </p:nvSpPr>
        <p:spPr>
          <a:xfrm>
            <a:off x="0" y="3429000"/>
            <a:ext cx="5334000" cy="3429000"/>
          </a:xfrm>
        </p:spPr>
        <p:txBody>
          <a:bodyPr/>
          <a:lstStyle/>
          <a:p>
            <a:pPr eaLnBrk="1" hangingPunct="1">
              <a:buFont typeface="Arial" pitchFamily="34" charset="0"/>
              <a:buNone/>
            </a:pPr>
            <a:r>
              <a:rPr lang="en-US" sz="2400" smtClean="0"/>
              <a:t>Organisms</a:t>
            </a:r>
          </a:p>
          <a:p>
            <a:pPr eaLnBrk="1" hangingPunct="1">
              <a:buFont typeface="Arial" pitchFamily="34" charset="0"/>
              <a:buNone/>
            </a:pPr>
            <a:r>
              <a:rPr lang="en-US" sz="2400" smtClean="0"/>
              <a:t>Climate</a:t>
            </a:r>
          </a:p>
          <a:p>
            <a:pPr eaLnBrk="1" hangingPunct="1">
              <a:buFont typeface="Arial" pitchFamily="34" charset="0"/>
              <a:buNone/>
            </a:pPr>
            <a:r>
              <a:rPr lang="en-US" sz="2400" smtClean="0"/>
              <a:t>Time</a:t>
            </a:r>
          </a:p>
          <a:p>
            <a:pPr eaLnBrk="1" hangingPunct="1">
              <a:buFont typeface="Arial" pitchFamily="34" charset="0"/>
              <a:buNone/>
            </a:pPr>
            <a:r>
              <a:rPr lang="en-US" sz="2400" smtClean="0"/>
              <a:t>Topography and Landscape Setting</a:t>
            </a:r>
          </a:p>
          <a:p>
            <a:pPr eaLnBrk="1" hangingPunct="1">
              <a:buFont typeface="Arial" pitchFamily="34" charset="0"/>
              <a:buNone/>
            </a:pPr>
            <a:r>
              <a:rPr lang="en-US" sz="2400" smtClean="0"/>
              <a:t>Parent Material</a:t>
            </a:r>
          </a:p>
        </p:txBody>
      </p:sp>
      <p:sp>
        <p:nvSpPr>
          <p:cNvPr id="20484" name="Text Box 7"/>
          <p:cNvSpPr txBox="1">
            <a:spLocks noChangeArrowheads="1"/>
          </p:cNvSpPr>
          <p:nvPr/>
        </p:nvSpPr>
        <p:spPr bwMode="auto">
          <a:xfrm>
            <a:off x="7696200" y="5257800"/>
            <a:ext cx="387350" cy="457200"/>
          </a:xfrm>
          <a:prstGeom prst="rect">
            <a:avLst/>
          </a:prstGeom>
          <a:noFill/>
          <a:ln w="9525">
            <a:noFill/>
            <a:miter lim="800000"/>
            <a:headEnd/>
            <a:tailEnd/>
          </a:ln>
        </p:spPr>
        <p:txBody>
          <a:bodyPr wrap="none">
            <a:spAutoFit/>
          </a:bodyPr>
          <a:lstStyle/>
          <a:p>
            <a:r>
              <a:rPr lang="en-US">
                <a:solidFill>
                  <a:schemeClr val="bg2"/>
                </a:solidFill>
                <a:latin typeface="Calibri" pitchFamily="34" charset="0"/>
              </a:rPr>
              <a:t>R</a:t>
            </a:r>
            <a:endParaRPr lang="en-US">
              <a:latin typeface="Calibri" pitchFamily="34" charset="0"/>
            </a:endParaRPr>
          </a:p>
        </p:txBody>
      </p:sp>
      <p:sp>
        <p:nvSpPr>
          <p:cNvPr id="20485" name="Text Box 8"/>
          <p:cNvSpPr txBox="1">
            <a:spLocks noChangeArrowheads="1"/>
          </p:cNvSpPr>
          <p:nvPr/>
        </p:nvSpPr>
        <p:spPr bwMode="auto">
          <a:xfrm>
            <a:off x="0" y="5791200"/>
            <a:ext cx="5257800" cy="641350"/>
          </a:xfrm>
          <a:prstGeom prst="rect">
            <a:avLst/>
          </a:prstGeom>
          <a:noFill/>
          <a:ln w="9525">
            <a:noFill/>
            <a:miter lim="800000"/>
            <a:headEnd/>
            <a:tailEnd/>
          </a:ln>
        </p:spPr>
        <p:txBody>
          <a:bodyPr>
            <a:spAutoFit/>
          </a:bodyPr>
          <a:lstStyle/>
          <a:p>
            <a:r>
              <a:rPr lang="en-US" b="1">
                <a:latin typeface="Calibri" pitchFamily="34" charset="0"/>
              </a:rPr>
              <a:t>Point: Soils are Created in Geological Time, but can be destroyed in a  very short time</a:t>
            </a:r>
          </a:p>
        </p:txBody>
      </p:sp>
      <p:pic>
        <p:nvPicPr>
          <p:cNvPr id="20486" name="Picture 2" descr="http://www.waihekewine.co.nz/site/DefaultSite/filesystem/images/winemaking/IMG_3546_edited.jpg"/>
          <p:cNvPicPr>
            <a:picLocks noChangeAspect="1" noChangeArrowheads="1"/>
          </p:cNvPicPr>
          <p:nvPr/>
        </p:nvPicPr>
        <p:blipFill>
          <a:blip r:embed="rId2"/>
          <a:srcRect/>
          <a:stretch>
            <a:fillRect/>
          </a:stretch>
        </p:blipFill>
        <p:spPr bwMode="auto">
          <a:xfrm>
            <a:off x="5334000" y="3352800"/>
            <a:ext cx="3810000" cy="3505200"/>
          </a:xfrm>
          <a:prstGeom prst="rect">
            <a:avLst/>
          </a:prstGeom>
          <a:noFill/>
          <a:ln w="9525">
            <a:noFill/>
            <a:miter lim="800000"/>
            <a:headEnd/>
            <a:tailEnd/>
          </a:ln>
        </p:spPr>
      </p:pic>
      <p:pic>
        <p:nvPicPr>
          <p:cNvPr id="20487" name="Picture 4" descr="http://www.ubcbotanicalgarden.org/potd/lichen_diversity1.jpg"/>
          <p:cNvPicPr>
            <a:picLocks noChangeAspect="1" noChangeArrowheads="1"/>
          </p:cNvPicPr>
          <p:nvPr/>
        </p:nvPicPr>
        <p:blipFill>
          <a:blip r:embed="rId3"/>
          <a:srcRect/>
          <a:stretch>
            <a:fillRect/>
          </a:stretch>
        </p:blipFill>
        <p:spPr bwMode="auto">
          <a:xfrm>
            <a:off x="0" y="0"/>
            <a:ext cx="4038600" cy="3429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0"/>
            <a:ext cx="7772400" cy="838200"/>
          </a:xfrm>
        </p:spPr>
        <p:txBody>
          <a:bodyPr/>
          <a:lstStyle/>
          <a:p>
            <a:pPr eaLnBrk="1" hangingPunct="1"/>
            <a:r>
              <a:rPr lang="en-US" smtClean="0"/>
              <a:t>Soil Organic Matter</a:t>
            </a:r>
          </a:p>
        </p:txBody>
      </p:sp>
      <p:sp>
        <p:nvSpPr>
          <p:cNvPr id="57347" name="Rectangle 3"/>
          <p:cNvSpPr>
            <a:spLocks noGrp="1" noChangeArrowheads="1"/>
          </p:cNvSpPr>
          <p:nvPr>
            <p:ph type="body" sz="half" idx="1"/>
          </p:nvPr>
        </p:nvSpPr>
        <p:spPr>
          <a:xfrm>
            <a:off x="0" y="914400"/>
            <a:ext cx="4800600" cy="5943600"/>
          </a:xfrm>
        </p:spPr>
        <p:txBody>
          <a:bodyPr rtlCol="0">
            <a:normAutofit/>
          </a:bodyPr>
          <a:lstStyle/>
          <a:p>
            <a:pPr eaLnBrk="1" fontAlgn="auto" hangingPunct="1">
              <a:lnSpc>
                <a:spcPct val="90000"/>
              </a:lnSpc>
              <a:spcAft>
                <a:spcPts val="0"/>
              </a:spcAft>
              <a:buFont typeface="Arial" pitchFamily="34" charset="0"/>
              <a:buNone/>
              <a:defRPr/>
            </a:pPr>
            <a:r>
              <a:rPr lang="en-US" smtClean="0"/>
              <a:t>Composition</a:t>
            </a:r>
          </a:p>
          <a:p>
            <a:pPr lvl="1" eaLnBrk="1" fontAlgn="auto" hangingPunct="1">
              <a:lnSpc>
                <a:spcPct val="90000"/>
              </a:lnSpc>
              <a:spcAft>
                <a:spcPts val="0"/>
              </a:spcAft>
              <a:buFont typeface="Arial" pitchFamily="34" charset="0"/>
              <a:buNone/>
              <a:defRPr/>
            </a:pPr>
            <a:r>
              <a:rPr lang="en-US" smtClean="0"/>
              <a:t>Carbon Cycle</a:t>
            </a:r>
          </a:p>
          <a:p>
            <a:pPr lvl="2" eaLnBrk="1" fontAlgn="auto" hangingPunct="1">
              <a:lnSpc>
                <a:spcPct val="90000"/>
              </a:lnSpc>
              <a:spcAft>
                <a:spcPts val="0"/>
              </a:spcAft>
              <a:buFont typeface="Arial" pitchFamily="34" charset="0"/>
              <a:buNone/>
              <a:defRPr/>
            </a:pPr>
            <a:r>
              <a:rPr lang="en-US" smtClean="0"/>
              <a:t>living and dead</a:t>
            </a:r>
          </a:p>
          <a:p>
            <a:pPr lvl="2" eaLnBrk="1" fontAlgn="auto" hangingPunct="1">
              <a:lnSpc>
                <a:spcPct val="90000"/>
              </a:lnSpc>
              <a:spcAft>
                <a:spcPts val="0"/>
              </a:spcAft>
              <a:buFont typeface="Arial" pitchFamily="34" charset="0"/>
              <a:buNone/>
              <a:defRPr/>
            </a:pPr>
            <a:r>
              <a:rPr lang="en-US" smtClean="0"/>
              <a:t>plant and animal</a:t>
            </a:r>
          </a:p>
          <a:p>
            <a:pPr lvl="2" eaLnBrk="1" fontAlgn="auto" hangingPunct="1">
              <a:lnSpc>
                <a:spcPct val="90000"/>
              </a:lnSpc>
              <a:spcAft>
                <a:spcPts val="0"/>
              </a:spcAft>
              <a:buFont typeface="Arial" pitchFamily="34" charset="0"/>
              <a:buNone/>
              <a:defRPr/>
            </a:pPr>
            <a:r>
              <a:rPr lang="en-US" smtClean="0"/>
              <a:t>dynamic system</a:t>
            </a:r>
          </a:p>
          <a:p>
            <a:pPr eaLnBrk="1" fontAlgn="auto" hangingPunct="1">
              <a:lnSpc>
                <a:spcPct val="90000"/>
              </a:lnSpc>
              <a:spcAft>
                <a:spcPts val="0"/>
              </a:spcAft>
              <a:buFont typeface="Arial" pitchFamily="34" charset="0"/>
              <a:buNone/>
              <a:defRPr/>
            </a:pPr>
            <a:r>
              <a:rPr lang="en-US" smtClean="0"/>
              <a:t>Advantages</a:t>
            </a:r>
          </a:p>
          <a:p>
            <a:pPr lvl="1" eaLnBrk="1" fontAlgn="auto" hangingPunct="1">
              <a:lnSpc>
                <a:spcPct val="90000"/>
              </a:lnSpc>
              <a:spcAft>
                <a:spcPts val="0"/>
              </a:spcAft>
              <a:buFont typeface="Arial" pitchFamily="34" charset="0"/>
              <a:buNone/>
              <a:defRPr/>
            </a:pPr>
            <a:r>
              <a:rPr lang="en-US" smtClean="0"/>
              <a:t>Improves structure</a:t>
            </a:r>
          </a:p>
          <a:p>
            <a:pPr lvl="2" eaLnBrk="1" fontAlgn="auto" hangingPunct="1">
              <a:lnSpc>
                <a:spcPct val="90000"/>
              </a:lnSpc>
              <a:spcAft>
                <a:spcPts val="0"/>
              </a:spcAft>
              <a:buFont typeface="Arial" pitchFamily="34" charset="0"/>
              <a:buNone/>
              <a:defRPr/>
            </a:pPr>
            <a:r>
              <a:rPr lang="en-US" smtClean="0"/>
              <a:t>increased infiltration</a:t>
            </a:r>
          </a:p>
          <a:p>
            <a:pPr lvl="2" eaLnBrk="1" fontAlgn="auto" hangingPunct="1">
              <a:lnSpc>
                <a:spcPct val="90000"/>
              </a:lnSpc>
              <a:spcAft>
                <a:spcPts val="0"/>
              </a:spcAft>
              <a:buFont typeface="Arial" pitchFamily="34" charset="0"/>
              <a:buNone/>
              <a:defRPr/>
            </a:pPr>
            <a:r>
              <a:rPr lang="en-US" smtClean="0"/>
              <a:t>increased water holding capacity</a:t>
            </a:r>
          </a:p>
          <a:p>
            <a:pPr lvl="2" eaLnBrk="1" fontAlgn="auto" hangingPunct="1">
              <a:lnSpc>
                <a:spcPct val="90000"/>
              </a:lnSpc>
              <a:spcAft>
                <a:spcPts val="0"/>
              </a:spcAft>
              <a:buFont typeface="Arial" pitchFamily="34" charset="0"/>
              <a:buNone/>
              <a:defRPr/>
            </a:pPr>
            <a:r>
              <a:rPr lang="en-US" smtClean="0"/>
              <a:t>increased workability</a:t>
            </a:r>
          </a:p>
          <a:p>
            <a:pPr lvl="1" eaLnBrk="1" fontAlgn="auto" hangingPunct="1">
              <a:lnSpc>
                <a:spcPct val="90000"/>
              </a:lnSpc>
              <a:spcAft>
                <a:spcPts val="0"/>
              </a:spcAft>
              <a:buFont typeface="Arial" pitchFamily="34" charset="0"/>
              <a:buNone/>
              <a:defRPr/>
            </a:pPr>
            <a:r>
              <a:rPr lang="en-US" smtClean="0"/>
              <a:t>increased CEC</a:t>
            </a:r>
          </a:p>
          <a:p>
            <a:pPr lvl="2" eaLnBrk="1" fontAlgn="auto" hangingPunct="1">
              <a:lnSpc>
                <a:spcPct val="90000"/>
              </a:lnSpc>
              <a:spcAft>
                <a:spcPts val="0"/>
              </a:spcAft>
              <a:buFont typeface="Arial" pitchFamily="34" charset="0"/>
              <a:buNone/>
              <a:defRPr/>
            </a:pPr>
            <a:r>
              <a:rPr lang="en-US" smtClean="0"/>
              <a:t>OM has high number of exchange sites</a:t>
            </a:r>
          </a:p>
        </p:txBody>
      </p:sp>
      <p:pic>
        <p:nvPicPr>
          <p:cNvPr id="29700" name="Picture 8" descr="C:\TALKS\titus\carboncycle.gif"/>
          <p:cNvPicPr>
            <a:picLocks noGrp="1" noChangeAspect="1" noChangeArrowheads="1"/>
          </p:cNvPicPr>
          <p:nvPr>
            <p:ph sz="quarter" idx="2"/>
          </p:nvPr>
        </p:nvPicPr>
        <p:blipFill>
          <a:blip r:embed="rId2"/>
          <a:srcRect/>
          <a:stretch>
            <a:fillRect/>
          </a:stretch>
        </p:blipFill>
        <p:spPr>
          <a:xfrm>
            <a:off x="4648200" y="1595438"/>
            <a:ext cx="3273425" cy="3509962"/>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124200" y="381000"/>
            <a:ext cx="3048000" cy="1828800"/>
          </a:xfrm>
        </p:spPr>
        <p:txBody>
          <a:bodyPr/>
          <a:lstStyle/>
          <a:p>
            <a:pPr eaLnBrk="1" hangingPunct="1"/>
            <a:r>
              <a:rPr lang="en-US" smtClean="0"/>
              <a:t>Chemical Properties</a:t>
            </a:r>
          </a:p>
        </p:txBody>
      </p:sp>
      <p:sp>
        <p:nvSpPr>
          <p:cNvPr id="30723" name="Rectangle 4"/>
          <p:cNvSpPr>
            <a:spLocks noGrp="1" noChangeArrowheads="1"/>
          </p:cNvSpPr>
          <p:nvPr>
            <p:ph type="body" sz="half" idx="2"/>
          </p:nvPr>
        </p:nvSpPr>
        <p:spPr>
          <a:xfrm>
            <a:off x="0" y="2895600"/>
            <a:ext cx="9144000" cy="3962400"/>
          </a:xfrm>
        </p:spPr>
        <p:txBody>
          <a:bodyPr/>
          <a:lstStyle/>
          <a:p>
            <a:pPr eaLnBrk="1" hangingPunct="1">
              <a:buFont typeface="Arial" pitchFamily="34" charset="0"/>
              <a:buNone/>
            </a:pPr>
            <a:r>
              <a:rPr lang="en-US" sz="2800" smtClean="0"/>
              <a:t>Soil pH</a:t>
            </a:r>
          </a:p>
          <a:p>
            <a:pPr eaLnBrk="1" hangingPunct="1">
              <a:buFont typeface="Arial" pitchFamily="34" charset="0"/>
              <a:buNone/>
            </a:pPr>
            <a:r>
              <a:rPr lang="en-US" sz="2800" smtClean="0"/>
              <a:t>Cation  Exchange Capacity</a:t>
            </a:r>
          </a:p>
          <a:p>
            <a:pPr lvl="1" eaLnBrk="1" hangingPunct="1">
              <a:buFont typeface="Arial" pitchFamily="34" charset="0"/>
              <a:buNone/>
            </a:pPr>
            <a:r>
              <a:rPr lang="en-US" sz="2400" smtClean="0"/>
              <a:t>Organic matter content</a:t>
            </a:r>
          </a:p>
          <a:p>
            <a:pPr lvl="1" eaLnBrk="1" hangingPunct="1">
              <a:buFont typeface="Arial" pitchFamily="34" charset="0"/>
              <a:buNone/>
            </a:pPr>
            <a:r>
              <a:rPr lang="en-US" sz="2400" smtClean="0"/>
              <a:t>Clay mineralogy</a:t>
            </a:r>
          </a:p>
          <a:p>
            <a:pPr eaLnBrk="1" hangingPunct="1">
              <a:buFont typeface="Arial" pitchFamily="34" charset="0"/>
              <a:buNone/>
            </a:pPr>
            <a:r>
              <a:rPr lang="en-US" sz="2800" smtClean="0"/>
              <a:t>Essential Plant Nutrients</a:t>
            </a:r>
          </a:p>
          <a:p>
            <a:pPr eaLnBrk="1" hangingPunct="1">
              <a:buFont typeface="Arial" pitchFamily="34" charset="0"/>
              <a:buNone/>
            </a:pPr>
            <a:r>
              <a:rPr lang="en-US" sz="2800" smtClean="0"/>
              <a:t>Nutrient Movement</a:t>
            </a:r>
          </a:p>
          <a:p>
            <a:pPr eaLnBrk="1" hangingPunct="1">
              <a:buFont typeface="Arial" pitchFamily="34" charset="0"/>
              <a:buNone/>
            </a:pPr>
            <a:r>
              <a:rPr lang="en-US" sz="2800" smtClean="0"/>
              <a:t>Root/soil interaction</a:t>
            </a:r>
          </a:p>
        </p:txBody>
      </p:sp>
      <p:pic>
        <p:nvPicPr>
          <p:cNvPr id="30724" name="Picture 2" descr="http://www.greenmanconservation.co.uk/Images/Photos/Web%20Ready/Mycorrhiza/Roots.jpg"/>
          <p:cNvPicPr>
            <a:picLocks noChangeAspect="1" noChangeArrowheads="1"/>
          </p:cNvPicPr>
          <p:nvPr/>
        </p:nvPicPr>
        <p:blipFill>
          <a:blip r:embed="rId2"/>
          <a:srcRect/>
          <a:stretch>
            <a:fillRect/>
          </a:stretch>
        </p:blipFill>
        <p:spPr bwMode="auto">
          <a:xfrm>
            <a:off x="6324600" y="3581400"/>
            <a:ext cx="2819400" cy="3276600"/>
          </a:xfrm>
          <a:prstGeom prst="rect">
            <a:avLst/>
          </a:prstGeom>
          <a:noFill/>
          <a:ln w="9525">
            <a:noFill/>
            <a:miter lim="800000"/>
            <a:headEnd/>
            <a:tailEnd/>
          </a:ln>
        </p:spPr>
      </p:pic>
      <p:pic>
        <p:nvPicPr>
          <p:cNvPr id="30725" name="Picture 4" descr="http://www.tomagro.nl/images/DispersaTom%20big.jpg"/>
          <p:cNvPicPr>
            <a:picLocks noChangeAspect="1" noChangeArrowheads="1"/>
          </p:cNvPicPr>
          <p:nvPr/>
        </p:nvPicPr>
        <p:blipFill>
          <a:blip r:embed="rId3"/>
          <a:srcRect/>
          <a:stretch>
            <a:fillRect/>
          </a:stretch>
        </p:blipFill>
        <p:spPr bwMode="auto">
          <a:xfrm>
            <a:off x="0" y="0"/>
            <a:ext cx="3276600" cy="3048000"/>
          </a:xfrm>
          <a:prstGeom prst="rect">
            <a:avLst/>
          </a:prstGeom>
          <a:noFill/>
          <a:ln w="9525">
            <a:noFill/>
            <a:miter lim="800000"/>
            <a:headEnd/>
            <a:tailEnd/>
          </a:ln>
        </p:spPr>
      </p:pic>
      <p:pic>
        <p:nvPicPr>
          <p:cNvPr id="30726" name="Picture 6" descr="http://gis.lrs.uoguelph.ca/AgriEnvArchives/pics/illusb.gif"/>
          <p:cNvPicPr>
            <a:picLocks noChangeAspect="1" noChangeArrowheads="1"/>
          </p:cNvPicPr>
          <p:nvPr/>
        </p:nvPicPr>
        <p:blipFill>
          <a:blip r:embed="rId4"/>
          <a:srcRect/>
          <a:stretch>
            <a:fillRect/>
          </a:stretch>
        </p:blipFill>
        <p:spPr bwMode="auto">
          <a:xfrm>
            <a:off x="6286500" y="0"/>
            <a:ext cx="2857500" cy="28765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0"/>
            <a:ext cx="7772400" cy="1143000"/>
          </a:xfrm>
        </p:spPr>
        <p:txBody>
          <a:bodyPr/>
          <a:lstStyle/>
          <a:p>
            <a:pPr eaLnBrk="1" hangingPunct="1"/>
            <a:r>
              <a:rPr lang="en-US" smtClean="0"/>
              <a:t>Types of Pores</a:t>
            </a:r>
          </a:p>
        </p:txBody>
      </p:sp>
      <p:sp>
        <p:nvSpPr>
          <p:cNvPr id="34819" name="Text Box 5"/>
          <p:cNvSpPr txBox="1">
            <a:spLocks noChangeArrowheads="1"/>
          </p:cNvSpPr>
          <p:nvPr/>
        </p:nvSpPr>
        <p:spPr bwMode="auto">
          <a:xfrm>
            <a:off x="914400" y="5791200"/>
            <a:ext cx="5867400" cy="461963"/>
          </a:xfrm>
          <a:prstGeom prst="rect">
            <a:avLst/>
          </a:prstGeom>
          <a:noFill/>
          <a:ln w="9525">
            <a:noFill/>
            <a:miter lim="800000"/>
            <a:headEnd/>
            <a:tailEnd/>
          </a:ln>
        </p:spPr>
        <p:txBody>
          <a:bodyPr>
            <a:spAutoFit/>
          </a:bodyPr>
          <a:lstStyle/>
          <a:p>
            <a:pPr>
              <a:spcBef>
                <a:spcPct val="50000"/>
              </a:spcBef>
            </a:pPr>
            <a:r>
              <a:rPr lang="en-US" sz="2400" b="1">
                <a:latin typeface="Calibri" pitchFamily="34" charset="0"/>
              </a:rPr>
              <a:t>Micropores (&lt; 10 microns)- Small</a:t>
            </a:r>
          </a:p>
        </p:txBody>
      </p:sp>
      <p:sp>
        <p:nvSpPr>
          <p:cNvPr id="34820" name="Text Box 6"/>
          <p:cNvSpPr txBox="1">
            <a:spLocks noChangeArrowheads="1"/>
          </p:cNvSpPr>
          <p:nvPr/>
        </p:nvSpPr>
        <p:spPr bwMode="auto">
          <a:xfrm>
            <a:off x="914400" y="5181600"/>
            <a:ext cx="7620000" cy="523875"/>
          </a:xfrm>
          <a:prstGeom prst="rect">
            <a:avLst/>
          </a:prstGeom>
          <a:noFill/>
          <a:ln w="9525">
            <a:noFill/>
            <a:miter lim="800000"/>
            <a:headEnd/>
            <a:tailEnd/>
          </a:ln>
        </p:spPr>
        <p:txBody>
          <a:bodyPr>
            <a:spAutoFit/>
          </a:bodyPr>
          <a:lstStyle/>
          <a:p>
            <a:r>
              <a:rPr lang="en-US" sz="2400" b="1">
                <a:latin typeface="Calibri" pitchFamily="34" charset="0"/>
              </a:rPr>
              <a:t>Mesopores (10 to 1,000 microns)-</a:t>
            </a:r>
            <a:r>
              <a:rPr lang="en-US" sz="2800" b="1">
                <a:latin typeface="Calibri" pitchFamily="34" charset="0"/>
              </a:rPr>
              <a:t> </a:t>
            </a:r>
            <a:r>
              <a:rPr lang="en-US" sz="2400" b="1">
                <a:latin typeface="Calibri" pitchFamily="34" charset="0"/>
              </a:rPr>
              <a:t>Medium</a:t>
            </a:r>
          </a:p>
        </p:txBody>
      </p:sp>
      <p:sp>
        <p:nvSpPr>
          <p:cNvPr id="34821" name="Text Box 7"/>
          <p:cNvSpPr txBox="1">
            <a:spLocks noChangeArrowheads="1"/>
          </p:cNvSpPr>
          <p:nvPr/>
        </p:nvSpPr>
        <p:spPr bwMode="auto">
          <a:xfrm>
            <a:off x="914400" y="4724400"/>
            <a:ext cx="6994525" cy="461963"/>
          </a:xfrm>
          <a:prstGeom prst="rect">
            <a:avLst/>
          </a:prstGeom>
          <a:noFill/>
          <a:ln w="9525">
            <a:noFill/>
            <a:miter lim="800000"/>
            <a:headEnd/>
            <a:tailEnd/>
          </a:ln>
        </p:spPr>
        <p:txBody>
          <a:bodyPr>
            <a:spAutoFit/>
          </a:bodyPr>
          <a:lstStyle/>
          <a:p>
            <a:r>
              <a:rPr lang="en-US" sz="2400" b="1">
                <a:latin typeface="Calibri" pitchFamily="34" charset="0"/>
              </a:rPr>
              <a:t>Macropores (&gt; 1,000 microns)- large</a:t>
            </a:r>
          </a:p>
        </p:txBody>
      </p:sp>
      <p:sp>
        <p:nvSpPr>
          <p:cNvPr id="34822" name="Text Box 8"/>
          <p:cNvSpPr txBox="1">
            <a:spLocks noChangeArrowheads="1"/>
          </p:cNvSpPr>
          <p:nvPr/>
        </p:nvSpPr>
        <p:spPr bwMode="auto">
          <a:xfrm>
            <a:off x="228600" y="3352800"/>
            <a:ext cx="184150" cy="822325"/>
          </a:xfrm>
          <a:prstGeom prst="rect">
            <a:avLst/>
          </a:prstGeom>
          <a:noFill/>
          <a:ln w="9525">
            <a:noFill/>
            <a:miter lim="800000"/>
            <a:headEnd/>
            <a:tailEnd/>
          </a:ln>
        </p:spPr>
        <p:txBody>
          <a:bodyPr wrap="none">
            <a:spAutoFit/>
          </a:bodyPr>
          <a:lstStyle/>
          <a:p>
            <a:endParaRPr lang="en-US">
              <a:latin typeface="Calibri" pitchFamily="34" charset="0"/>
            </a:endParaRPr>
          </a:p>
          <a:p>
            <a:endParaRPr lang="en-US">
              <a:latin typeface="Calibri" pitchFamily="34" charset="0"/>
            </a:endParaRPr>
          </a:p>
        </p:txBody>
      </p:sp>
      <p:pic>
        <p:nvPicPr>
          <p:cNvPr id="34823" name="Picture 9" descr="structure_sol_en"/>
          <p:cNvPicPr>
            <a:picLocks noChangeAspect="1" noChangeArrowheads="1"/>
          </p:cNvPicPr>
          <p:nvPr/>
        </p:nvPicPr>
        <p:blipFill>
          <a:blip r:embed="rId2"/>
          <a:srcRect/>
          <a:stretch>
            <a:fillRect/>
          </a:stretch>
        </p:blipFill>
        <p:spPr bwMode="auto">
          <a:xfrm>
            <a:off x="1295400" y="990600"/>
            <a:ext cx="6691313"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5800" y="228600"/>
            <a:ext cx="7772400" cy="1143000"/>
          </a:xfrm>
        </p:spPr>
        <p:txBody>
          <a:bodyPr/>
          <a:lstStyle/>
          <a:p>
            <a:pPr eaLnBrk="1" hangingPunct="1"/>
            <a:r>
              <a:rPr lang="en-US" smtClean="0"/>
              <a:t>Water Stable Aggregates </a:t>
            </a:r>
          </a:p>
        </p:txBody>
      </p:sp>
      <p:pic>
        <p:nvPicPr>
          <p:cNvPr id="36867" name="Picture 4" descr="waterstablepeds"/>
          <p:cNvPicPr>
            <a:picLocks noChangeAspect="1" noChangeArrowheads="1"/>
          </p:cNvPicPr>
          <p:nvPr/>
        </p:nvPicPr>
        <p:blipFill>
          <a:blip r:embed="rId2"/>
          <a:srcRect/>
          <a:stretch>
            <a:fillRect/>
          </a:stretch>
        </p:blipFill>
        <p:spPr bwMode="auto">
          <a:xfrm>
            <a:off x="3733800" y="1524000"/>
            <a:ext cx="5029200" cy="3725863"/>
          </a:xfrm>
          <a:prstGeom prst="rect">
            <a:avLst/>
          </a:prstGeom>
          <a:noFill/>
          <a:ln w="9525">
            <a:noFill/>
            <a:miter lim="800000"/>
            <a:headEnd/>
            <a:tailEnd/>
          </a:ln>
        </p:spPr>
      </p:pic>
      <p:sp>
        <p:nvSpPr>
          <p:cNvPr id="36868" name="Text Box 5"/>
          <p:cNvSpPr txBox="1">
            <a:spLocks noChangeArrowheads="1"/>
          </p:cNvSpPr>
          <p:nvPr/>
        </p:nvSpPr>
        <p:spPr bwMode="auto">
          <a:xfrm>
            <a:off x="381000" y="1524000"/>
            <a:ext cx="3200400" cy="2308225"/>
          </a:xfrm>
          <a:prstGeom prst="rect">
            <a:avLst/>
          </a:prstGeom>
          <a:noFill/>
          <a:ln w="9525">
            <a:noFill/>
            <a:miter lim="800000"/>
            <a:headEnd/>
            <a:tailEnd/>
          </a:ln>
        </p:spPr>
        <p:txBody>
          <a:bodyPr>
            <a:spAutoFit/>
          </a:bodyPr>
          <a:lstStyle/>
          <a:p>
            <a:r>
              <a:rPr lang="en-US" sz="2400" b="1">
                <a:latin typeface="Calibri" pitchFamily="34" charset="0"/>
              </a:rPr>
              <a:t>Aggregates on left are more water stable, i.e., aggregate stays together  and do not separate into the its components, </a:t>
            </a:r>
            <a:endParaRPr lang="en-US" b="1">
              <a:latin typeface="Calibri" pitchFamily="34" charset="0"/>
            </a:endParaRPr>
          </a:p>
        </p:txBody>
      </p:sp>
      <p:sp>
        <p:nvSpPr>
          <p:cNvPr id="36869" name="Line 6"/>
          <p:cNvSpPr>
            <a:spLocks noChangeShapeType="1"/>
          </p:cNvSpPr>
          <p:nvPr/>
        </p:nvSpPr>
        <p:spPr bwMode="auto">
          <a:xfrm flipV="1">
            <a:off x="2667000" y="2743200"/>
            <a:ext cx="2133600" cy="2590800"/>
          </a:xfrm>
          <a:prstGeom prst="line">
            <a:avLst/>
          </a:prstGeom>
          <a:noFill/>
          <a:ln w="57150">
            <a:solidFill>
              <a:srgbClr val="B42871"/>
            </a:solidFill>
            <a:round/>
            <a:headEnd/>
            <a:tailEnd type="triangle" w="med" len="med"/>
          </a:ln>
        </p:spPr>
        <p:txBody>
          <a:bodyPr/>
          <a:lstStyle/>
          <a:p>
            <a:endParaRPr lang="en-US"/>
          </a:p>
        </p:txBody>
      </p:sp>
      <p:sp>
        <p:nvSpPr>
          <p:cNvPr id="36870" name="Text Box 7"/>
          <p:cNvSpPr txBox="1">
            <a:spLocks noChangeArrowheads="1"/>
          </p:cNvSpPr>
          <p:nvPr/>
        </p:nvSpPr>
        <p:spPr bwMode="auto">
          <a:xfrm>
            <a:off x="1584325" y="5527675"/>
            <a:ext cx="3433763" cy="457200"/>
          </a:xfrm>
          <a:prstGeom prst="rect">
            <a:avLst/>
          </a:prstGeom>
          <a:noFill/>
          <a:ln w="9525">
            <a:noFill/>
            <a:miter lim="800000"/>
            <a:headEnd/>
            <a:tailEnd/>
          </a:ln>
        </p:spPr>
        <p:txBody>
          <a:bodyPr wrap="none">
            <a:spAutoFit/>
          </a:bodyPr>
          <a:lstStyle/>
          <a:p>
            <a:r>
              <a:rPr lang="en-US" b="1">
                <a:latin typeface="Calibri" pitchFamily="34" charset="0"/>
              </a:rPr>
              <a:t>Water Stable Aggregates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0"/>
            <a:ext cx="7772400" cy="1219200"/>
          </a:xfrm>
        </p:spPr>
        <p:txBody>
          <a:bodyPr/>
          <a:lstStyle/>
          <a:p>
            <a:pPr eaLnBrk="1" hangingPunct="1"/>
            <a:r>
              <a:rPr lang="en-US" smtClean="0"/>
              <a:t>Soil Horizons</a:t>
            </a:r>
          </a:p>
        </p:txBody>
      </p:sp>
      <p:pic>
        <p:nvPicPr>
          <p:cNvPr id="38915" name="Picture 6" descr="soils1"/>
          <p:cNvPicPr>
            <a:picLocks noGrp="1" noChangeAspect="1" noChangeArrowheads="1"/>
          </p:cNvPicPr>
          <p:nvPr>
            <p:ph type="chart" sz="half" idx="1"/>
          </p:nvPr>
        </p:nvPicPr>
        <p:blipFill>
          <a:blip r:embed="rId3"/>
          <a:srcRect/>
          <a:stretch>
            <a:fillRect/>
          </a:stretch>
        </p:blipFill>
        <p:spPr>
          <a:xfrm>
            <a:off x="304800" y="1524000"/>
            <a:ext cx="4267200" cy="4419600"/>
          </a:xfrm>
        </p:spPr>
      </p:pic>
      <p:sp>
        <p:nvSpPr>
          <p:cNvPr id="38916" name="Rectangle 4"/>
          <p:cNvSpPr>
            <a:spLocks noGrp="1" noChangeArrowheads="1"/>
          </p:cNvSpPr>
          <p:nvPr>
            <p:ph type="body" sz="half" idx="2"/>
          </p:nvPr>
        </p:nvSpPr>
        <p:spPr>
          <a:xfrm>
            <a:off x="4648200" y="1371600"/>
            <a:ext cx="3810000" cy="4724400"/>
          </a:xfrm>
        </p:spPr>
        <p:txBody>
          <a:bodyPr/>
          <a:lstStyle/>
          <a:p>
            <a:pPr eaLnBrk="1" hangingPunct="1">
              <a:buFont typeface="Arial" pitchFamily="34" charset="0"/>
              <a:buNone/>
            </a:pPr>
            <a:r>
              <a:rPr lang="en-US" sz="2800" dirty="0" smtClean="0"/>
              <a:t>Layer of Soil Parallel to Surface</a:t>
            </a:r>
          </a:p>
          <a:p>
            <a:pPr eaLnBrk="1" hangingPunct="1">
              <a:buFont typeface="Arial" pitchFamily="34" charset="0"/>
              <a:buNone/>
            </a:pPr>
            <a:r>
              <a:rPr lang="en-US" sz="2800" dirty="0" smtClean="0"/>
              <a:t>Properties a function of climate, landscape setting, parent material, biological activity, and other soil forming processes.</a:t>
            </a:r>
          </a:p>
          <a:p>
            <a:pPr eaLnBrk="1" hangingPunct="1">
              <a:buFont typeface="Arial" pitchFamily="34" charset="0"/>
              <a:buNone/>
            </a:pPr>
            <a:r>
              <a:rPr lang="en-US" sz="2800" dirty="0" smtClean="0"/>
              <a:t>Horizons (A, E, B, C, R, </a:t>
            </a:r>
            <a:r>
              <a:rPr lang="en-US" sz="2800" dirty="0" err="1" smtClean="0"/>
              <a:t>etc</a:t>
            </a:r>
            <a:r>
              <a:rPr lang="en-US" sz="2800" dirty="0" smtClean="0"/>
              <a:t>)</a:t>
            </a:r>
          </a:p>
        </p:txBody>
      </p:sp>
      <p:sp>
        <p:nvSpPr>
          <p:cNvPr id="38917" name="Text Box 8"/>
          <p:cNvSpPr txBox="1">
            <a:spLocks noChangeArrowheads="1"/>
          </p:cNvSpPr>
          <p:nvPr/>
        </p:nvSpPr>
        <p:spPr bwMode="auto">
          <a:xfrm>
            <a:off x="517525" y="6061075"/>
            <a:ext cx="5208588" cy="457200"/>
          </a:xfrm>
          <a:prstGeom prst="rect">
            <a:avLst/>
          </a:prstGeom>
          <a:noFill/>
          <a:ln w="9525">
            <a:noFill/>
            <a:miter lim="800000"/>
            <a:headEnd/>
            <a:tailEnd/>
          </a:ln>
        </p:spPr>
        <p:txBody>
          <a:bodyPr wrap="none">
            <a:spAutoFit/>
          </a:bodyPr>
          <a:lstStyle/>
          <a:p>
            <a:r>
              <a:rPr lang="en-US">
                <a:latin typeface="Calibri" pitchFamily="34" charset="0"/>
              </a:rPr>
              <a:t>Image Source: University of Texas, 2002</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85800" y="228600"/>
            <a:ext cx="7772400" cy="1143000"/>
          </a:xfrm>
        </p:spPr>
        <p:txBody>
          <a:bodyPr rtlCol="0">
            <a:normAutofit/>
          </a:bodyPr>
          <a:lstStyle/>
          <a:p>
            <a:pPr eaLnBrk="1" fontAlgn="auto" hangingPunct="1">
              <a:spcAft>
                <a:spcPts val="0"/>
              </a:spcAft>
              <a:defRPr/>
            </a:pPr>
            <a:r>
              <a:rPr lang="en-US" smtClean="0"/>
              <a:t>Soil Horizons</a:t>
            </a:r>
            <a:br>
              <a:rPr lang="en-US" smtClean="0"/>
            </a:br>
            <a:r>
              <a:rPr lang="en-US" smtClean="0"/>
              <a:t>O- Organic Horizons</a:t>
            </a:r>
          </a:p>
        </p:txBody>
      </p:sp>
      <p:sp>
        <p:nvSpPr>
          <p:cNvPr id="39939" name="Rectangle 4"/>
          <p:cNvSpPr>
            <a:spLocks noGrp="1" noChangeArrowheads="1"/>
          </p:cNvSpPr>
          <p:nvPr>
            <p:ph type="body" sz="half" idx="2"/>
          </p:nvPr>
        </p:nvSpPr>
        <p:spPr>
          <a:xfrm>
            <a:off x="4724400" y="1524000"/>
            <a:ext cx="3810000" cy="4419600"/>
          </a:xfrm>
        </p:spPr>
        <p:txBody>
          <a:bodyPr/>
          <a:lstStyle/>
          <a:p>
            <a:pPr eaLnBrk="1" hangingPunct="1">
              <a:lnSpc>
                <a:spcPct val="90000"/>
              </a:lnSpc>
              <a:buFont typeface="Arial" pitchFamily="34" charset="0"/>
              <a:buNone/>
            </a:pPr>
            <a:r>
              <a:rPr lang="en-US" sz="2400" smtClean="0"/>
              <a:t>Organic Layers of Decaying Plant and Animal Tissue</a:t>
            </a:r>
          </a:p>
          <a:p>
            <a:pPr eaLnBrk="1" hangingPunct="1">
              <a:lnSpc>
                <a:spcPct val="90000"/>
              </a:lnSpc>
              <a:buFont typeface="Arial" pitchFamily="34" charset="0"/>
              <a:buNone/>
            </a:pPr>
            <a:r>
              <a:rPr lang="en-US" sz="2400" smtClean="0"/>
              <a:t>Aids Soil Structural Development</a:t>
            </a:r>
          </a:p>
          <a:p>
            <a:pPr eaLnBrk="1" hangingPunct="1">
              <a:lnSpc>
                <a:spcPct val="90000"/>
              </a:lnSpc>
              <a:buFont typeface="Arial" pitchFamily="34" charset="0"/>
              <a:buNone/>
            </a:pPr>
            <a:r>
              <a:rPr lang="en-US" sz="2400" smtClean="0"/>
              <a:t>Helps to Retain Moisture</a:t>
            </a:r>
          </a:p>
          <a:p>
            <a:pPr eaLnBrk="1" hangingPunct="1">
              <a:lnSpc>
                <a:spcPct val="90000"/>
              </a:lnSpc>
              <a:buFont typeface="Arial" pitchFamily="34" charset="0"/>
              <a:buNone/>
            </a:pPr>
            <a:r>
              <a:rPr lang="en-US" sz="2400" smtClean="0"/>
              <a:t>Enriches Soil with </a:t>
            </a:r>
            <a:br>
              <a:rPr lang="en-US" sz="2400" smtClean="0"/>
            </a:br>
            <a:r>
              <a:rPr lang="en-US" sz="2400" smtClean="0"/>
              <a:t>Nutrients</a:t>
            </a:r>
          </a:p>
          <a:p>
            <a:pPr eaLnBrk="1" hangingPunct="1">
              <a:lnSpc>
                <a:spcPct val="90000"/>
              </a:lnSpc>
              <a:buFont typeface="Arial" pitchFamily="34" charset="0"/>
              <a:buNone/>
            </a:pPr>
            <a:r>
              <a:rPr lang="en-US" sz="2400" smtClean="0"/>
              <a:t>Infiltration Capacity function of Organic Decomposition</a:t>
            </a:r>
          </a:p>
          <a:p>
            <a:pPr eaLnBrk="1" hangingPunct="1">
              <a:lnSpc>
                <a:spcPct val="90000"/>
              </a:lnSpc>
              <a:buFont typeface="Arial" pitchFamily="34" charset="0"/>
              <a:buNone/>
            </a:pPr>
            <a:r>
              <a:rPr lang="en-US" sz="2400" smtClean="0"/>
              <a:t>Organic Matter Critical in Maintaining Water Stable Peds</a:t>
            </a:r>
          </a:p>
        </p:txBody>
      </p:sp>
      <p:pic>
        <p:nvPicPr>
          <p:cNvPr id="39940" name="Picture 6" descr="Soilprofile2"/>
          <p:cNvPicPr>
            <a:picLocks noChangeAspect="1" noChangeArrowheads="1"/>
          </p:cNvPicPr>
          <p:nvPr/>
        </p:nvPicPr>
        <p:blipFill>
          <a:blip r:embed="rId2"/>
          <a:srcRect/>
          <a:stretch>
            <a:fillRect/>
          </a:stretch>
        </p:blipFill>
        <p:spPr bwMode="auto">
          <a:xfrm>
            <a:off x="1066800" y="2133600"/>
            <a:ext cx="2757488" cy="3429000"/>
          </a:xfrm>
          <a:prstGeom prst="rect">
            <a:avLst/>
          </a:prstGeom>
          <a:solidFill>
            <a:schemeClr val="accent1"/>
          </a:solidFill>
          <a:ln w="57150">
            <a:solidFill>
              <a:schemeClr val="accent2"/>
            </a:solidFill>
            <a:miter lim="800000"/>
            <a:headEnd/>
            <a:tailEnd/>
          </a:ln>
        </p:spPr>
      </p:pic>
      <p:sp>
        <p:nvSpPr>
          <p:cNvPr id="39941" name="Rectangle 7"/>
          <p:cNvSpPr>
            <a:spLocks noChangeArrowheads="1"/>
          </p:cNvSpPr>
          <p:nvPr/>
        </p:nvSpPr>
        <p:spPr bwMode="auto">
          <a:xfrm>
            <a:off x="2667000" y="2209800"/>
            <a:ext cx="1447800" cy="457200"/>
          </a:xfrm>
          <a:prstGeom prst="rect">
            <a:avLst/>
          </a:prstGeom>
          <a:solidFill>
            <a:schemeClr val="accent1"/>
          </a:solidFill>
          <a:ln w="9525">
            <a:solidFill>
              <a:schemeClr val="tx1"/>
            </a:solidFill>
            <a:miter lim="800000"/>
            <a:headEnd/>
            <a:tailEnd/>
          </a:ln>
        </p:spPr>
        <p:txBody>
          <a:bodyPr wrap="none" anchor="ctr"/>
          <a:lstStyle/>
          <a:p>
            <a:pPr algn="ctr"/>
            <a:r>
              <a:rPr lang="en-US">
                <a:latin typeface="Calibri" pitchFamily="34" charset="0"/>
              </a:rPr>
              <a:t>O Horizon</a:t>
            </a:r>
          </a:p>
        </p:txBody>
      </p:sp>
      <p:sp>
        <p:nvSpPr>
          <p:cNvPr id="39942" name="Line 9"/>
          <p:cNvSpPr>
            <a:spLocks noChangeShapeType="1"/>
          </p:cNvSpPr>
          <p:nvPr/>
        </p:nvSpPr>
        <p:spPr bwMode="auto">
          <a:xfrm flipH="1">
            <a:off x="1828800" y="2667000"/>
            <a:ext cx="914400" cy="609600"/>
          </a:xfrm>
          <a:prstGeom prst="line">
            <a:avLst/>
          </a:prstGeom>
          <a:noFill/>
          <a:ln w="57150">
            <a:solidFill>
              <a:srgbClr val="B42871"/>
            </a:solidFill>
            <a:round/>
            <a:headEnd/>
            <a:tailEnd type="triangle" w="med" len="med"/>
          </a:ln>
        </p:spPr>
        <p:txBody>
          <a:bodyPr wrap="none" anchor="ctr"/>
          <a:lstStyle/>
          <a:p>
            <a:endParaRPr lang="en-US"/>
          </a:p>
        </p:txBody>
      </p:sp>
      <p:sp>
        <p:nvSpPr>
          <p:cNvPr id="39943" name="Text Box 10"/>
          <p:cNvSpPr txBox="1">
            <a:spLocks noChangeArrowheads="1"/>
          </p:cNvSpPr>
          <p:nvPr/>
        </p:nvSpPr>
        <p:spPr bwMode="auto">
          <a:xfrm>
            <a:off x="457200" y="5867400"/>
            <a:ext cx="4038600" cy="646113"/>
          </a:xfrm>
          <a:prstGeom prst="rect">
            <a:avLst/>
          </a:prstGeom>
          <a:noFill/>
          <a:ln w="9525">
            <a:noFill/>
            <a:miter lim="800000"/>
            <a:headEnd/>
            <a:tailEnd/>
          </a:ln>
        </p:spPr>
        <p:txBody>
          <a:bodyPr>
            <a:spAutoFit/>
          </a:bodyPr>
          <a:lstStyle/>
          <a:p>
            <a:r>
              <a:rPr lang="en-US">
                <a:latin typeface="Calibri" pitchFamily="34" charset="0"/>
              </a:rPr>
              <a:t>Dark in Color Because of Humus Material - 1,000,000 bacteria per cm3</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rtlCol="0">
            <a:normAutofit/>
          </a:bodyPr>
          <a:lstStyle/>
          <a:p>
            <a:pPr eaLnBrk="1" fontAlgn="auto" hangingPunct="1">
              <a:spcAft>
                <a:spcPts val="0"/>
              </a:spcAft>
              <a:defRPr/>
            </a:pPr>
            <a:r>
              <a:rPr lang="en-US" smtClean="0"/>
              <a:t>Soil Horizons</a:t>
            </a:r>
            <a:br>
              <a:rPr lang="en-US" smtClean="0"/>
            </a:br>
            <a:r>
              <a:rPr lang="en-US" smtClean="0"/>
              <a:t>A Horizons: “ Topsoil”</a:t>
            </a:r>
          </a:p>
        </p:txBody>
      </p:sp>
      <p:sp>
        <p:nvSpPr>
          <p:cNvPr id="40963" name="Rectangle 3"/>
          <p:cNvSpPr>
            <a:spLocks noGrp="1" noChangeArrowheads="1"/>
          </p:cNvSpPr>
          <p:nvPr>
            <p:ph type="body" sz="half" idx="2"/>
          </p:nvPr>
        </p:nvSpPr>
        <p:spPr>
          <a:xfrm>
            <a:off x="4648200" y="1981200"/>
            <a:ext cx="3810000" cy="4419600"/>
          </a:xfrm>
        </p:spPr>
        <p:txBody>
          <a:bodyPr/>
          <a:lstStyle/>
          <a:p>
            <a:pPr eaLnBrk="1" hangingPunct="1">
              <a:lnSpc>
                <a:spcPct val="90000"/>
              </a:lnSpc>
              <a:buFont typeface="Arial" pitchFamily="34" charset="0"/>
              <a:buNone/>
            </a:pPr>
            <a:r>
              <a:rPr lang="en-US" sz="2800" smtClean="0"/>
              <a:t>Mineral Horizon Near</a:t>
            </a:r>
            <a:br>
              <a:rPr lang="en-US" sz="2800" smtClean="0"/>
            </a:br>
            <a:r>
              <a:rPr lang="en-US" sz="2800" smtClean="0"/>
              <a:t>Surface</a:t>
            </a:r>
          </a:p>
          <a:p>
            <a:pPr eaLnBrk="1" hangingPunct="1">
              <a:lnSpc>
                <a:spcPct val="90000"/>
              </a:lnSpc>
            </a:pPr>
            <a:endParaRPr lang="en-US" sz="2800" smtClean="0"/>
          </a:p>
          <a:p>
            <a:pPr eaLnBrk="1" hangingPunct="1">
              <a:lnSpc>
                <a:spcPct val="90000"/>
              </a:lnSpc>
              <a:buFont typeface="Arial" pitchFamily="34" charset="0"/>
              <a:buNone/>
            </a:pPr>
            <a:r>
              <a:rPr lang="en-US" sz="2800" smtClean="0"/>
              <a:t>Moves Humic and Minerals from O Horizon into A horizon</a:t>
            </a:r>
          </a:p>
          <a:p>
            <a:pPr eaLnBrk="1" hangingPunct="1">
              <a:lnSpc>
                <a:spcPct val="90000"/>
              </a:lnSpc>
            </a:pPr>
            <a:endParaRPr lang="en-US" sz="2800" smtClean="0"/>
          </a:p>
          <a:p>
            <a:pPr eaLnBrk="1" hangingPunct="1">
              <a:lnSpc>
                <a:spcPct val="90000"/>
              </a:lnSpc>
              <a:buFont typeface="Arial" pitchFamily="34" charset="0"/>
              <a:buNone/>
            </a:pPr>
            <a:r>
              <a:rPr lang="en-US" sz="2800" smtClean="0"/>
              <a:t>Soil dark in color, coarser in texture, and high porosity</a:t>
            </a:r>
            <a:endParaRPr lang="en-US" sz="3600" smtClean="0"/>
          </a:p>
          <a:p>
            <a:pPr eaLnBrk="1" hangingPunct="1">
              <a:lnSpc>
                <a:spcPct val="90000"/>
              </a:lnSpc>
            </a:pPr>
            <a:endParaRPr lang="en-US" smtClean="0"/>
          </a:p>
        </p:txBody>
      </p:sp>
      <p:pic>
        <p:nvPicPr>
          <p:cNvPr id="40964" name="Picture 4" descr="Soilprofile2"/>
          <p:cNvPicPr>
            <a:picLocks noChangeAspect="1" noChangeArrowheads="1"/>
          </p:cNvPicPr>
          <p:nvPr/>
        </p:nvPicPr>
        <p:blipFill>
          <a:blip r:embed="rId2"/>
          <a:srcRect/>
          <a:stretch>
            <a:fillRect/>
          </a:stretch>
        </p:blipFill>
        <p:spPr bwMode="auto">
          <a:xfrm>
            <a:off x="1066800" y="2133600"/>
            <a:ext cx="3063875" cy="3810000"/>
          </a:xfrm>
          <a:prstGeom prst="rect">
            <a:avLst/>
          </a:prstGeom>
          <a:solidFill>
            <a:schemeClr val="accent1"/>
          </a:solidFill>
          <a:ln w="57150">
            <a:solidFill>
              <a:schemeClr val="accent2"/>
            </a:solidFill>
            <a:miter lim="800000"/>
            <a:headEnd/>
            <a:tailEnd/>
          </a:ln>
        </p:spPr>
      </p:pic>
      <p:sp>
        <p:nvSpPr>
          <p:cNvPr id="40965" name="Rectangle 5"/>
          <p:cNvSpPr>
            <a:spLocks noChangeArrowheads="1"/>
          </p:cNvSpPr>
          <p:nvPr/>
        </p:nvSpPr>
        <p:spPr bwMode="auto">
          <a:xfrm>
            <a:off x="2667000" y="2209800"/>
            <a:ext cx="1447800" cy="457200"/>
          </a:xfrm>
          <a:prstGeom prst="rect">
            <a:avLst/>
          </a:prstGeom>
          <a:solidFill>
            <a:schemeClr val="accent1"/>
          </a:solidFill>
          <a:ln w="9525">
            <a:solidFill>
              <a:schemeClr val="tx1"/>
            </a:solidFill>
            <a:miter lim="800000"/>
            <a:headEnd/>
            <a:tailEnd/>
          </a:ln>
        </p:spPr>
        <p:txBody>
          <a:bodyPr wrap="none" anchor="ctr"/>
          <a:lstStyle/>
          <a:p>
            <a:pPr algn="ctr"/>
            <a:r>
              <a:rPr lang="en-US">
                <a:latin typeface="Calibri" pitchFamily="34" charset="0"/>
              </a:rPr>
              <a:t>A Horizon</a:t>
            </a:r>
          </a:p>
        </p:txBody>
      </p:sp>
      <p:sp>
        <p:nvSpPr>
          <p:cNvPr id="40966" name="Line 6"/>
          <p:cNvSpPr>
            <a:spLocks noChangeShapeType="1"/>
          </p:cNvSpPr>
          <p:nvPr/>
        </p:nvSpPr>
        <p:spPr bwMode="auto">
          <a:xfrm flipH="1">
            <a:off x="1828800" y="2819400"/>
            <a:ext cx="914400" cy="609600"/>
          </a:xfrm>
          <a:prstGeom prst="line">
            <a:avLst/>
          </a:prstGeom>
          <a:noFill/>
          <a:ln w="57150">
            <a:solidFill>
              <a:srgbClr val="B42871"/>
            </a:solidFill>
            <a:round/>
            <a:headEnd/>
            <a:tailEnd type="triangle" w="med" len="med"/>
          </a:ln>
        </p:spPr>
        <p:txBody>
          <a:bodyPr wrap="none" anchor="ct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http://www.trustnature.com.au/images/soil_foodweb.jpg"/>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endParaRPr lang="en-US" smtClean="0"/>
          </a:p>
        </p:txBody>
      </p:sp>
      <p:sp>
        <p:nvSpPr>
          <p:cNvPr id="47107" name="Content Placeholder 2"/>
          <p:cNvSpPr>
            <a:spLocks noGrp="1"/>
          </p:cNvSpPr>
          <p:nvPr>
            <p:ph idx="1"/>
          </p:nvPr>
        </p:nvSpPr>
        <p:spPr>
          <a:xfrm>
            <a:off x="304800" y="1600200"/>
            <a:ext cx="8382000" cy="4525963"/>
          </a:xfrm>
        </p:spPr>
        <p:txBody>
          <a:bodyPr/>
          <a:lstStyle/>
          <a:p>
            <a:pPr eaLnBrk="1" hangingPunct="1">
              <a:buFont typeface="Arial" pitchFamily="34" charset="0"/>
              <a:buNone/>
            </a:pPr>
            <a:r>
              <a:rPr lang="fr-FR" smtClean="0"/>
              <a:t>Soil - a favorable habitat for microorganisms</a:t>
            </a:r>
          </a:p>
          <a:p>
            <a:pPr eaLnBrk="1" hangingPunct="1">
              <a:buFont typeface="Arial" pitchFamily="34" charset="0"/>
              <a:buNone/>
            </a:pPr>
            <a:r>
              <a:rPr lang="en-US" smtClean="0"/>
              <a:t>inhabited by a wide range of microorganisms, including bacteria, fungi, algae, viruses and  protozoa.</a:t>
            </a:r>
          </a:p>
          <a:p>
            <a:pPr eaLnBrk="1" hangingPunct="1">
              <a:buFont typeface="Arial" pitchFamily="34" charset="0"/>
              <a:buNone/>
            </a:pPr>
            <a:r>
              <a:rPr lang="en-US" smtClean="0"/>
              <a:t> Microorganisms are found in large numbers in soil - usually between one and ten million microorganisms are present per gram of soil.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endParaRPr lang="en-US" smtClean="0"/>
          </a:p>
        </p:txBody>
      </p:sp>
      <p:sp>
        <p:nvSpPr>
          <p:cNvPr id="48131" name="Content Placeholder 2"/>
          <p:cNvSpPr>
            <a:spLocks noGrp="1"/>
          </p:cNvSpPr>
          <p:nvPr>
            <p:ph idx="1"/>
          </p:nvPr>
        </p:nvSpPr>
        <p:spPr/>
        <p:txBody>
          <a:bodyPr/>
          <a:lstStyle/>
          <a:p>
            <a:pPr eaLnBrk="1" hangingPunct="1">
              <a:buFont typeface="Arial" pitchFamily="34" charset="0"/>
              <a:buNone/>
            </a:pPr>
            <a:r>
              <a:rPr lang="en-US" dirty="0" smtClean="0"/>
              <a:t>Bacteria and fungi being the most prevalent.</a:t>
            </a:r>
          </a:p>
          <a:p>
            <a:pPr eaLnBrk="1" hangingPunct="1">
              <a:buFont typeface="Arial" pitchFamily="34" charset="0"/>
              <a:buNone/>
            </a:pPr>
            <a:r>
              <a:rPr lang="en-US" dirty="0" smtClean="0"/>
              <a:t> However, the availability of nutrients is often limiting for microbial growth in soil and most soil microorganisms may not be  physiologically active in the soil at a given time.</a:t>
            </a:r>
          </a:p>
        </p:txBody>
      </p:sp>
      <p:pic>
        <p:nvPicPr>
          <p:cNvPr id="48132" name="Picture 2"/>
          <p:cNvPicPr>
            <a:picLocks noChangeAspect="1" noChangeArrowheads="1"/>
          </p:cNvPicPr>
          <p:nvPr/>
        </p:nvPicPr>
        <p:blipFill>
          <a:blip r:embed="rId2"/>
          <a:srcRect/>
          <a:stretch>
            <a:fillRect/>
          </a:stretch>
        </p:blipFill>
        <p:spPr bwMode="auto">
          <a:xfrm>
            <a:off x="6324600" y="4191000"/>
            <a:ext cx="2819400" cy="2667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Microorganisms and their significance:</a:t>
            </a:r>
            <a:endParaRPr lang="en-US" dirty="0" smtClean="0"/>
          </a:p>
        </p:txBody>
      </p:sp>
      <p:sp>
        <p:nvSpPr>
          <p:cNvPr id="49155" name="Content Placeholder 2"/>
          <p:cNvSpPr>
            <a:spLocks noGrp="1"/>
          </p:cNvSpPr>
          <p:nvPr>
            <p:ph idx="1"/>
          </p:nvPr>
        </p:nvSpPr>
        <p:spPr>
          <a:xfrm>
            <a:off x="0" y="1600200"/>
            <a:ext cx="9144000" cy="4525963"/>
          </a:xfrm>
        </p:spPr>
        <p:txBody>
          <a:bodyPr/>
          <a:lstStyle/>
          <a:p>
            <a:pPr eaLnBrk="1" hangingPunct="1"/>
            <a:endParaRPr lang="en-US" b="1" smtClean="0"/>
          </a:p>
          <a:p>
            <a:pPr eaLnBrk="1" hangingPunct="1">
              <a:buFont typeface="Arial" pitchFamily="34" charset="0"/>
              <a:buNone/>
            </a:pPr>
            <a:r>
              <a:rPr lang="en-US" smtClean="0"/>
              <a:t> Almost every chemical transformation taking place in soil involves active contributions from soil microorganisms.</a:t>
            </a:r>
          </a:p>
          <a:p>
            <a:pPr eaLnBrk="1" hangingPunct="1">
              <a:buFont typeface="Arial" pitchFamily="34" charset="0"/>
              <a:buNone/>
            </a:pPr>
            <a:r>
              <a:rPr lang="en-US" smtClean="0"/>
              <a:t> Active role in soil fertility as a result of their</a:t>
            </a:r>
          </a:p>
          <a:p>
            <a:pPr eaLnBrk="1" hangingPunct="1">
              <a:buFont typeface="Arial" pitchFamily="34" charset="0"/>
              <a:buNone/>
            </a:pPr>
            <a:r>
              <a:rPr lang="en-US" smtClean="0"/>
              <a:t>involvement in the cycle of nutrients like carbon and nitrogen, which are required for plant growth.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8991600" cy="1371600"/>
          </a:xfrm>
        </p:spPr>
        <p:txBody>
          <a:bodyPr rtlCol="0">
            <a:normAutofit fontScale="90000"/>
          </a:bodyPr>
          <a:lstStyle/>
          <a:p>
            <a:pPr eaLnBrk="1" fontAlgn="auto" hangingPunct="1">
              <a:spcAft>
                <a:spcPts val="0"/>
              </a:spcAft>
              <a:defRPr/>
            </a:pPr>
            <a:r>
              <a:rPr lang="en-US" b="1" dirty="0" smtClean="0"/>
              <a:t/>
            </a:r>
            <a:br>
              <a:rPr lang="en-US" b="1" dirty="0" smtClean="0"/>
            </a:br>
            <a:r>
              <a:rPr lang="en-US" b="1" dirty="0" smtClean="0"/>
              <a:t>Microorganisms and their</a:t>
            </a:r>
            <a:br>
              <a:rPr lang="en-US" b="1" dirty="0" smtClean="0"/>
            </a:br>
            <a:r>
              <a:rPr lang="en-US" b="1" dirty="0" smtClean="0"/>
              <a:t>significance:</a:t>
            </a:r>
            <a:br>
              <a:rPr lang="en-US" b="1" dirty="0" smtClean="0"/>
            </a:br>
            <a:endParaRPr lang="en-US" dirty="0"/>
          </a:p>
        </p:txBody>
      </p:sp>
      <p:sp>
        <p:nvSpPr>
          <p:cNvPr id="50179" name="Content Placeholder 2"/>
          <p:cNvSpPr>
            <a:spLocks noGrp="1"/>
          </p:cNvSpPr>
          <p:nvPr>
            <p:ph idx="1"/>
          </p:nvPr>
        </p:nvSpPr>
        <p:spPr>
          <a:xfrm>
            <a:off x="0" y="1371600"/>
            <a:ext cx="9144000" cy="4754563"/>
          </a:xfrm>
        </p:spPr>
        <p:txBody>
          <a:bodyPr/>
          <a:lstStyle/>
          <a:p>
            <a:pPr eaLnBrk="1" hangingPunct="1">
              <a:buFont typeface="Arial" pitchFamily="34" charset="0"/>
              <a:buNone/>
            </a:pPr>
            <a:r>
              <a:rPr lang="en-US" dirty="0" smtClean="0"/>
              <a:t>Responsible for the decomposition of the organic matter entering the soil and therefore in the recycling of nutrients in soil.</a:t>
            </a:r>
          </a:p>
          <a:p>
            <a:pPr eaLnBrk="1" hangingPunct="1">
              <a:buFont typeface="Arial" pitchFamily="34" charset="0"/>
              <a:buNone/>
            </a:pPr>
            <a:r>
              <a:rPr lang="en-US" dirty="0" smtClean="0"/>
              <a:t>Certain soil microorganisms such as </a:t>
            </a:r>
            <a:r>
              <a:rPr lang="en-US" dirty="0" err="1" smtClean="0"/>
              <a:t>mycorrhizal</a:t>
            </a:r>
            <a:r>
              <a:rPr lang="en-US" dirty="0" smtClean="0"/>
              <a:t> fungi can also increase the availability of mineral nutrients (e.g. phosphorus) to plants.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rtlCol="0">
            <a:normAutofit fontScale="90000"/>
          </a:bodyPr>
          <a:lstStyle/>
          <a:p>
            <a:pPr eaLnBrk="1" fontAlgn="auto" hangingPunct="1">
              <a:spcAft>
                <a:spcPts val="0"/>
              </a:spcAft>
              <a:defRPr/>
            </a:pPr>
            <a:r>
              <a:rPr lang="en-US" b="1" dirty="0"/>
              <a:t>Microorganisms and their</a:t>
            </a:r>
            <a:br>
              <a:rPr lang="en-US" b="1" dirty="0"/>
            </a:br>
            <a:r>
              <a:rPr lang="en-US" b="1" dirty="0"/>
              <a:t>significance:</a:t>
            </a:r>
            <a:br>
              <a:rPr lang="en-US" b="1" dirty="0"/>
            </a:br>
            <a:endParaRPr lang="en-US" dirty="0" smtClean="0"/>
          </a:p>
        </p:txBody>
      </p:sp>
      <p:sp>
        <p:nvSpPr>
          <p:cNvPr id="51203" name="Content Placeholder 2"/>
          <p:cNvSpPr>
            <a:spLocks noGrp="1"/>
          </p:cNvSpPr>
          <p:nvPr>
            <p:ph idx="1"/>
          </p:nvPr>
        </p:nvSpPr>
        <p:spPr/>
        <p:txBody>
          <a:bodyPr/>
          <a:lstStyle/>
          <a:p>
            <a:pPr eaLnBrk="1" hangingPunct="1">
              <a:buFont typeface="Arial" pitchFamily="34" charset="0"/>
              <a:buNone/>
            </a:pPr>
            <a:r>
              <a:rPr lang="en-US" smtClean="0"/>
              <a:t> Can increase the amount of nutrients present in the soil.</a:t>
            </a:r>
          </a:p>
          <a:p>
            <a:pPr eaLnBrk="1" hangingPunct="1">
              <a:buFont typeface="Arial" pitchFamily="34" charset="0"/>
              <a:buNone/>
            </a:pPr>
            <a:r>
              <a:rPr lang="en-US" smtClean="0"/>
              <a:t> The microorganisms, which improve the fertility status of the soil and contribute to plant growth, have been termed ‘biofertilizers’.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0"/>
            <a:ext cx="8229600" cy="1417638"/>
          </a:xfrm>
        </p:spPr>
        <p:txBody>
          <a:bodyPr rtlCol="0">
            <a:normAutofit fontScale="90000"/>
          </a:bodyPr>
          <a:lstStyle/>
          <a:p>
            <a:pPr eaLnBrk="1" fontAlgn="auto" hangingPunct="1">
              <a:spcAft>
                <a:spcPts val="0"/>
              </a:spcAft>
              <a:defRPr/>
            </a:pPr>
            <a:r>
              <a:rPr lang="en-US" b="1" dirty="0"/>
              <a:t>Microorganisms and their</a:t>
            </a:r>
            <a:br>
              <a:rPr lang="en-US" b="1" dirty="0"/>
            </a:br>
            <a:r>
              <a:rPr lang="en-US" b="1" dirty="0"/>
              <a:t>significance:</a:t>
            </a:r>
            <a:br>
              <a:rPr lang="en-US" b="1" dirty="0"/>
            </a:br>
            <a:endParaRPr lang="en-US" dirty="0" smtClean="0"/>
          </a:p>
        </p:txBody>
      </p:sp>
      <p:sp>
        <p:nvSpPr>
          <p:cNvPr id="52227" name="Content Placeholder 2"/>
          <p:cNvSpPr>
            <a:spLocks noGrp="1"/>
          </p:cNvSpPr>
          <p:nvPr>
            <p:ph idx="1"/>
          </p:nvPr>
        </p:nvSpPr>
        <p:spPr/>
        <p:txBody>
          <a:bodyPr/>
          <a:lstStyle/>
          <a:p>
            <a:pPr eaLnBrk="1" hangingPunct="1">
              <a:buFont typeface="Arial" pitchFamily="34" charset="0"/>
              <a:buNone/>
            </a:pPr>
            <a:r>
              <a:rPr lang="en-US" smtClean="0"/>
              <a:t> Soil microorganisms produce compounds</a:t>
            </a:r>
          </a:p>
          <a:p>
            <a:pPr eaLnBrk="1" hangingPunct="1">
              <a:buFont typeface="Arial" pitchFamily="34" charset="0"/>
              <a:buNone/>
            </a:pPr>
            <a:r>
              <a:rPr lang="en-US" smtClean="0"/>
              <a:t>(such as vitamins and plant hormones) that can improve plant health and contribute to higher crop yield.</a:t>
            </a:r>
          </a:p>
          <a:p>
            <a:pPr eaLnBrk="1" hangingPunct="1">
              <a:buFont typeface="Arial" pitchFamily="34" charset="0"/>
              <a:buNone/>
            </a:pPr>
            <a:r>
              <a:rPr lang="en-US" smtClean="0"/>
              <a:t> ‘Phytostimulators’ are currently studied for</a:t>
            </a:r>
          </a:p>
          <a:p>
            <a:pPr eaLnBrk="1" hangingPunct="1">
              <a:buFont typeface="Arial" pitchFamily="34" charset="0"/>
              <a:buNone/>
            </a:pPr>
            <a:r>
              <a:rPr lang="en-US" smtClean="0"/>
              <a:t>possible use as microbial inoculants to improve crop yield.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rtlCol="0">
            <a:normAutofit fontScale="90000"/>
          </a:bodyPr>
          <a:lstStyle/>
          <a:p>
            <a:pPr eaLnBrk="1" fontAlgn="auto" hangingPunct="1">
              <a:spcAft>
                <a:spcPts val="0"/>
              </a:spcAft>
              <a:defRPr/>
            </a:pPr>
            <a:r>
              <a:rPr lang="en-US" b="1" dirty="0"/>
              <a:t>Microorganisms and their</a:t>
            </a:r>
            <a:br>
              <a:rPr lang="en-US" b="1" dirty="0"/>
            </a:br>
            <a:r>
              <a:rPr lang="en-US" b="1" dirty="0"/>
              <a:t>significance:</a:t>
            </a:r>
            <a:br>
              <a:rPr lang="en-US" b="1" dirty="0"/>
            </a:br>
            <a:endParaRPr lang="en-US" dirty="0" smtClean="0"/>
          </a:p>
        </p:txBody>
      </p:sp>
      <p:sp>
        <p:nvSpPr>
          <p:cNvPr id="53251" name="Content Placeholder 2"/>
          <p:cNvSpPr>
            <a:spLocks noGrp="1"/>
          </p:cNvSpPr>
          <p:nvPr>
            <p:ph idx="1"/>
          </p:nvPr>
        </p:nvSpPr>
        <p:spPr/>
        <p:txBody>
          <a:bodyPr/>
          <a:lstStyle/>
          <a:p>
            <a:pPr eaLnBrk="1" hangingPunct="1">
              <a:buFont typeface="Arial" pitchFamily="34" charset="0"/>
              <a:buNone/>
            </a:pPr>
            <a:r>
              <a:rPr lang="en-US" smtClean="0"/>
              <a:t> Some soil microorganisms are pathogenic to</a:t>
            </a:r>
          </a:p>
          <a:p>
            <a:pPr eaLnBrk="1" hangingPunct="1">
              <a:buFont typeface="Arial" pitchFamily="34" charset="0"/>
              <a:buNone/>
            </a:pPr>
            <a:r>
              <a:rPr lang="en-US" smtClean="0"/>
              <a:t>plants. Large numbers are routinely found in</a:t>
            </a:r>
          </a:p>
          <a:p>
            <a:pPr eaLnBrk="1" hangingPunct="1">
              <a:buFont typeface="Arial" pitchFamily="34" charset="0"/>
              <a:buNone/>
            </a:pPr>
            <a:r>
              <a:rPr lang="en-US" smtClean="0"/>
              <a:t>the soil and many of them can infect the plant</a:t>
            </a:r>
          </a:p>
          <a:p>
            <a:pPr eaLnBrk="1" hangingPunct="1">
              <a:buFont typeface="Arial" pitchFamily="34" charset="0"/>
              <a:buNone/>
            </a:pPr>
            <a:r>
              <a:rPr lang="en-US" smtClean="0"/>
              <a:t>through the roots.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838200"/>
            <a:ext cx="8229600" cy="579438"/>
          </a:xfrm>
        </p:spPr>
        <p:txBody>
          <a:bodyPr rtlCol="0">
            <a:normAutofit fontScale="90000"/>
          </a:bodyPr>
          <a:lstStyle/>
          <a:p>
            <a:pPr eaLnBrk="1" fontAlgn="auto" hangingPunct="1">
              <a:spcAft>
                <a:spcPts val="0"/>
              </a:spcAft>
              <a:defRPr/>
            </a:pPr>
            <a:r>
              <a:rPr lang="en-US" b="1" dirty="0" smtClean="0"/>
              <a:t>Microorganisms and their significance:</a:t>
            </a:r>
            <a:br>
              <a:rPr lang="en-US" b="1" dirty="0" smtClean="0"/>
            </a:br>
            <a:endParaRPr lang="en-US" dirty="0" smtClean="0"/>
          </a:p>
        </p:txBody>
      </p:sp>
      <p:sp>
        <p:nvSpPr>
          <p:cNvPr id="54275" name="Content Placeholder 2"/>
          <p:cNvSpPr>
            <a:spLocks noGrp="1"/>
          </p:cNvSpPr>
          <p:nvPr>
            <p:ph idx="1"/>
          </p:nvPr>
        </p:nvSpPr>
        <p:spPr/>
        <p:txBody>
          <a:bodyPr/>
          <a:lstStyle/>
          <a:p>
            <a:pPr eaLnBrk="1" hangingPunct="1">
              <a:buFont typeface="Arial" pitchFamily="34" charset="0"/>
              <a:buNone/>
            </a:pPr>
            <a:r>
              <a:rPr lang="en-US" smtClean="0"/>
              <a:t> Antagonistic to the pathogens and can</a:t>
            </a:r>
          </a:p>
          <a:p>
            <a:pPr eaLnBrk="1" hangingPunct="1">
              <a:buFont typeface="Arial" pitchFamily="34" charset="0"/>
              <a:buNone/>
            </a:pPr>
            <a:r>
              <a:rPr lang="en-US" smtClean="0"/>
              <a:t>prevent the infection of crop plants.</a:t>
            </a:r>
          </a:p>
          <a:p>
            <a:pPr eaLnBrk="1" hangingPunct="1">
              <a:buFont typeface="Arial" pitchFamily="34" charset="0"/>
              <a:buNone/>
            </a:pPr>
            <a:r>
              <a:rPr lang="en-US" smtClean="0"/>
              <a:t>– Competition for nutrients and/or production</a:t>
            </a:r>
          </a:p>
          <a:p>
            <a:pPr eaLnBrk="1" hangingPunct="1">
              <a:buFont typeface="Arial" pitchFamily="34" charset="0"/>
              <a:buNone/>
            </a:pPr>
            <a:r>
              <a:rPr lang="en-US" smtClean="0"/>
              <a:t>of inhibitory compounds such as secondary</a:t>
            </a:r>
          </a:p>
          <a:p>
            <a:pPr eaLnBrk="1" hangingPunct="1">
              <a:buFont typeface="Arial" pitchFamily="34" charset="0"/>
              <a:buNone/>
            </a:pPr>
            <a:r>
              <a:rPr lang="en-US" smtClean="0"/>
              <a:t>metabolites (antimicrobial metabolites and</a:t>
            </a:r>
          </a:p>
          <a:p>
            <a:pPr eaLnBrk="1" hangingPunct="1">
              <a:buFont typeface="Arial" pitchFamily="34" charset="0"/>
              <a:buNone/>
            </a:pPr>
            <a:r>
              <a:rPr lang="en-US" smtClean="0"/>
              <a:t>antibiotics) and extracellular enzymes.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Major groups of soil microorganisms :</a:t>
            </a:r>
            <a:br>
              <a:rPr lang="en-US" b="1" dirty="0" smtClean="0"/>
            </a:br>
            <a:endParaRPr lang="en-US" dirty="0" smtClean="0"/>
          </a:p>
        </p:txBody>
      </p:sp>
      <p:sp>
        <p:nvSpPr>
          <p:cNvPr id="55299" name="Content Placeholder 2"/>
          <p:cNvSpPr>
            <a:spLocks noGrp="1"/>
          </p:cNvSpPr>
          <p:nvPr>
            <p:ph idx="1"/>
          </p:nvPr>
        </p:nvSpPr>
        <p:spPr>
          <a:xfrm>
            <a:off x="457200" y="1447800"/>
            <a:ext cx="8229600" cy="4754563"/>
          </a:xfrm>
        </p:spPr>
        <p:txBody>
          <a:bodyPr/>
          <a:lstStyle/>
          <a:p>
            <a:pPr eaLnBrk="1" hangingPunct="1">
              <a:buFont typeface="Arial" pitchFamily="34" charset="0"/>
              <a:buNone/>
            </a:pPr>
            <a:r>
              <a:rPr lang="en-US" smtClean="0"/>
              <a:t>Bacteria:</a:t>
            </a:r>
          </a:p>
          <a:p>
            <a:pPr eaLnBrk="1" hangingPunct="1">
              <a:buFont typeface="Arial" pitchFamily="34" charset="0"/>
              <a:buNone/>
            </a:pPr>
            <a:r>
              <a:rPr lang="en-US" smtClean="0"/>
              <a:t> Numerically abundant</a:t>
            </a:r>
          </a:p>
          <a:p>
            <a:pPr eaLnBrk="1" hangingPunct="1">
              <a:buFont typeface="Arial" pitchFamily="34" charset="0"/>
              <a:buNone/>
            </a:pPr>
            <a:r>
              <a:rPr lang="en-US" smtClean="0"/>
              <a:t>Along with fungi, most important decomposers of organic matter</a:t>
            </a:r>
          </a:p>
        </p:txBody>
      </p:sp>
      <p:pic>
        <p:nvPicPr>
          <p:cNvPr id="55300" name="Picture 2" descr="http://www.rothamsted.ac.uk/ppi/rhizo2/images/Picture5.jpg"/>
          <p:cNvPicPr>
            <a:picLocks noChangeAspect="1" noChangeArrowheads="1"/>
          </p:cNvPicPr>
          <p:nvPr/>
        </p:nvPicPr>
        <p:blipFill>
          <a:blip r:embed="rId2"/>
          <a:srcRect/>
          <a:stretch>
            <a:fillRect/>
          </a:stretch>
        </p:blipFill>
        <p:spPr bwMode="auto">
          <a:xfrm>
            <a:off x="6096000" y="3886200"/>
            <a:ext cx="3048000" cy="29718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idx="4294967295"/>
          </p:nvPr>
        </p:nvSpPr>
        <p:spPr>
          <a:xfrm>
            <a:off x="0" y="274638"/>
            <a:ext cx="8229600" cy="1143000"/>
          </a:xfrm>
        </p:spPr>
        <p:txBody>
          <a:bodyPr rtlCol="0">
            <a:normAutofit fontScale="90000"/>
          </a:bodyPr>
          <a:lstStyle/>
          <a:p>
            <a:pPr eaLnBrk="1" fontAlgn="auto" hangingPunct="1">
              <a:spcAft>
                <a:spcPts val="0"/>
              </a:spcAft>
              <a:defRPr/>
            </a:pPr>
            <a:r>
              <a:rPr lang="en-US" b="1" dirty="0"/>
              <a:t>Major groups of soil microorganisms :</a:t>
            </a:r>
            <a:br>
              <a:rPr lang="en-US" b="1" dirty="0"/>
            </a:br>
            <a:r>
              <a:rPr lang="en-US" dirty="0"/>
              <a:t/>
            </a:r>
            <a:br>
              <a:rPr lang="en-US" dirty="0"/>
            </a:br>
            <a:endParaRPr lang="en-US" dirty="0" smtClean="0"/>
          </a:p>
        </p:txBody>
      </p:sp>
      <p:sp>
        <p:nvSpPr>
          <p:cNvPr id="56323" name="Content Placeholder 2"/>
          <p:cNvSpPr>
            <a:spLocks noGrp="1"/>
          </p:cNvSpPr>
          <p:nvPr>
            <p:ph idx="4294967295"/>
          </p:nvPr>
        </p:nvSpPr>
        <p:spPr>
          <a:xfrm>
            <a:off x="0" y="1600200"/>
            <a:ext cx="9144000" cy="4525963"/>
          </a:xfrm>
        </p:spPr>
        <p:txBody>
          <a:bodyPr/>
          <a:lstStyle/>
          <a:p>
            <a:pPr eaLnBrk="1" hangingPunct="1">
              <a:buFont typeface="Arial" pitchFamily="34" charset="0"/>
              <a:buNone/>
            </a:pPr>
            <a:r>
              <a:rPr lang="en-US" smtClean="0"/>
              <a:t>Bacteria: </a:t>
            </a:r>
          </a:p>
          <a:p>
            <a:pPr eaLnBrk="1" hangingPunct="1">
              <a:buFont typeface="Arial" pitchFamily="34" charset="0"/>
              <a:buNone/>
            </a:pPr>
            <a:r>
              <a:rPr lang="en-US" smtClean="0"/>
              <a:t>Specialized groups participate in all</a:t>
            </a:r>
          </a:p>
          <a:p>
            <a:pPr eaLnBrk="1" hangingPunct="1">
              <a:buFont typeface="Arial" pitchFamily="34" charset="0"/>
              <a:buNone/>
            </a:pPr>
            <a:r>
              <a:rPr lang="en-US" smtClean="0"/>
              <a:t>biogeochemical cycles</a:t>
            </a:r>
          </a:p>
          <a:p>
            <a:pPr eaLnBrk="1" hangingPunct="1">
              <a:buFont typeface="Arial" pitchFamily="34" charset="0"/>
              <a:buNone/>
            </a:pPr>
            <a:r>
              <a:rPr lang="en-US" smtClean="0"/>
              <a:t> Their extracellular polymers help bind soil</a:t>
            </a:r>
          </a:p>
          <a:p>
            <a:pPr eaLnBrk="1" hangingPunct="1">
              <a:buFont typeface="Arial" pitchFamily="34" charset="0"/>
              <a:buNone/>
            </a:pPr>
            <a:r>
              <a:rPr lang="en-US" smtClean="0"/>
              <a:t>particles into aggregates</a:t>
            </a:r>
          </a:p>
          <a:p>
            <a:pPr eaLnBrk="1" hangingPunct="1">
              <a:buFont typeface="Arial" pitchFamily="34" charset="0"/>
              <a:buNone/>
            </a:pPr>
            <a:r>
              <a:rPr lang="en-US" smtClean="0"/>
              <a:t> Some form beneficial or </a:t>
            </a:r>
          </a:p>
          <a:p>
            <a:pPr eaLnBrk="1" hangingPunct="1">
              <a:buFont typeface="Arial" pitchFamily="34" charset="0"/>
              <a:buNone/>
            </a:pPr>
            <a:r>
              <a:rPr lang="en-US" smtClean="0"/>
              <a:t>pathogenic interactions with plants</a:t>
            </a:r>
          </a:p>
        </p:txBody>
      </p:sp>
      <p:pic>
        <p:nvPicPr>
          <p:cNvPr id="56324" name="Picture 4" descr="http://wishart.biology.ualberta.ca/BacMap/includes/species/Agrobacterium_tumefaciens.png"/>
          <p:cNvPicPr>
            <a:picLocks noChangeAspect="1" noChangeArrowheads="1"/>
          </p:cNvPicPr>
          <p:nvPr/>
        </p:nvPicPr>
        <p:blipFill>
          <a:blip r:embed="rId2"/>
          <a:srcRect/>
          <a:stretch>
            <a:fillRect/>
          </a:stretch>
        </p:blipFill>
        <p:spPr bwMode="auto">
          <a:xfrm>
            <a:off x="6019800" y="533400"/>
            <a:ext cx="3124200" cy="1924050"/>
          </a:xfrm>
          <a:prstGeom prst="rect">
            <a:avLst/>
          </a:prstGeom>
          <a:noFill/>
          <a:ln w="9525">
            <a:noFill/>
            <a:miter lim="800000"/>
            <a:headEnd/>
            <a:tailEnd/>
          </a:ln>
        </p:spPr>
      </p:pic>
      <p:pic>
        <p:nvPicPr>
          <p:cNvPr id="56325" name="Picture 6" descr="http://www.bio.uio.no/plfys/haa/gif/bi150.jpg"/>
          <p:cNvPicPr>
            <a:picLocks noChangeAspect="1" noChangeArrowheads="1"/>
          </p:cNvPicPr>
          <p:nvPr/>
        </p:nvPicPr>
        <p:blipFill>
          <a:blip r:embed="rId3"/>
          <a:srcRect/>
          <a:stretch>
            <a:fillRect/>
          </a:stretch>
        </p:blipFill>
        <p:spPr bwMode="auto">
          <a:xfrm>
            <a:off x="5867400" y="4191000"/>
            <a:ext cx="3276600" cy="2667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Major groups of soil microorganisms :</a:t>
            </a:r>
            <a:br>
              <a:rPr lang="en-US" b="1" dirty="0" smtClean="0"/>
            </a:br>
            <a:endParaRPr lang="en-US" dirty="0" smtClean="0"/>
          </a:p>
        </p:txBody>
      </p:sp>
      <p:sp>
        <p:nvSpPr>
          <p:cNvPr id="57347" name="Content Placeholder 2"/>
          <p:cNvSpPr>
            <a:spLocks noGrp="1"/>
          </p:cNvSpPr>
          <p:nvPr>
            <p:ph idx="1"/>
          </p:nvPr>
        </p:nvSpPr>
        <p:spPr/>
        <p:txBody>
          <a:bodyPr/>
          <a:lstStyle/>
          <a:p>
            <a:pPr eaLnBrk="1" hangingPunct="1">
              <a:buFont typeface="Arial" pitchFamily="34" charset="0"/>
              <a:buNone/>
            </a:pPr>
            <a:r>
              <a:rPr lang="en-US" smtClean="0"/>
              <a:t>Nitrogen fixing organisms: bacteria</a:t>
            </a:r>
          </a:p>
        </p:txBody>
      </p:sp>
      <p:pic>
        <p:nvPicPr>
          <p:cNvPr id="57348" name="Picture 2" descr="http://seattlegarden.files.wordpress.com/2010/03/rhizobium-bacteria.jpg"/>
          <p:cNvPicPr>
            <a:picLocks noChangeAspect="1" noChangeArrowheads="1"/>
          </p:cNvPicPr>
          <p:nvPr/>
        </p:nvPicPr>
        <p:blipFill>
          <a:blip r:embed="rId2"/>
          <a:srcRect/>
          <a:stretch>
            <a:fillRect/>
          </a:stretch>
        </p:blipFill>
        <p:spPr bwMode="auto">
          <a:xfrm>
            <a:off x="838200" y="2286000"/>
            <a:ext cx="7391400" cy="42672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Major groups of soil microorganisms :</a:t>
            </a:r>
            <a:br>
              <a:rPr lang="en-US" b="1" dirty="0" smtClean="0"/>
            </a:br>
            <a:endParaRPr lang="en-US" dirty="0" smtClean="0"/>
          </a:p>
        </p:txBody>
      </p:sp>
      <p:sp>
        <p:nvSpPr>
          <p:cNvPr id="58371" name="Content Placeholder 2"/>
          <p:cNvSpPr>
            <a:spLocks noGrp="1"/>
          </p:cNvSpPr>
          <p:nvPr>
            <p:ph idx="1"/>
          </p:nvPr>
        </p:nvSpPr>
        <p:spPr/>
        <p:txBody>
          <a:bodyPr/>
          <a:lstStyle/>
          <a:p>
            <a:pPr eaLnBrk="1" hangingPunct="1">
              <a:buFont typeface="Arial" pitchFamily="34" charset="0"/>
              <a:buNone/>
            </a:pPr>
            <a:r>
              <a:rPr lang="en-US" smtClean="0"/>
              <a:t> Actinomycetes:</a:t>
            </a:r>
          </a:p>
          <a:p>
            <a:pPr eaLnBrk="1" hangingPunct="1">
              <a:buFont typeface="Arial" pitchFamily="34" charset="0"/>
              <a:buNone/>
            </a:pPr>
            <a:r>
              <a:rPr lang="en-US" smtClean="0"/>
              <a:t>– specialized filamentous prokaryotes</a:t>
            </a:r>
          </a:p>
          <a:p>
            <a:pPr eaLnBrk="1" hangingPunct="1">
              <a:buFont typeface="Arial" pitchFamily="34" charset="0"/>
              <a:buNone/>
            </a:pPr>
            <a:r>
              <a:rPr lang="en-US" smtClean="0"/>
              <a:t>– participate in decomposition of complex organic compounds</a:t>
            </a:r>
          </a:p>
          <a:p>
            <a:pPr eaLnBrk="1" hangingPunct="1">
              <a:buFont typeface="Arial" pitchFamily="34" charset="0"/>
              <a:buNone/>
            </a:pPr>
            <a:r>
              <a:rPr lang="en-US" smtClean="0"/>
              <a:t>– produce many 2nd metabolites, e.g., antibiotics, geosmins (earth odor) that give soil its characteristic distinctive aroma</a:t>
            </a:r>
          </a:p>
        </p:txBody>
      </p:sp>
      <p:pic>
        <p:nvPicPr>
          <p:cNvPr id="4" name="Picture 4" descr="http://soils.usda.gov/sqi/concepts/soil_biology/images/SSSA14_LR.jpg"/>
          <p:cNvPicPr>
            <a:picLocks noChangeAspect="1" noChangeArrowheads="1"/>
          </p:cNvPicPr>
          <p:nvPr/>
        </p:nvPicPr>
        <p:blipFill>
          <a:blip r:embed="rId2"/>
          <a:srcRect/>
          <a:stretch>
            <a:fillRect/>
          </a:stretch>
        </p:blipFill>
        <p:spPr bwMode="auto">
          <a:xfrm>
            <a:off x="5943600" y="4267200"/>
            <a:ext cx="2895600" cy="20574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http://www.soils.umn.edu/academics/classes/soil3612/images/alnus.gif"/>
          <p:cNvPicPr>
            <a:picLocks noChangeAspect="1" noChangeArrowheads="1"/>
          </p:cNvPicPr>
          <p:nvPr/>
        </p:nvPicPr>
        <p:blipFill>
          <a:blip r:embed="rId2"/>
          <a:srcRect/>
          <a:stretch>
            <a:fillRect/>
          </a:stretch>
        </p:blipFill>
        <p:spPr bwMode="auto">
          <a:xfrm>
            <a:off x="0" y="2819400"/>
            <a:ext cx="4419600" cy="4038600"/>
          </a:xfrm>
          <a:prstGeom prst="rect">
            <a:avLst/>
          </a:prstGeom>
          <a:noFill/>
          <a:ln w="9525">
            <a:noFill/>
            <a:miter lim="800000"/>
            <a:headEnd/>
            <a:tailEnd/>
          </a:ln>
        </p:spPr>
      </p:pic>
      <p:pic>
        <p:nvPicPr>
          <p:cNvPr id="59395" name="Picture 4" descr="http://genome.jgi-psf.org/fra_c/fra_c.jpg"/>
          <p:cNvPicPr>
            <a:picLocks noChangeAspect="1" noChangeArrowheads="1"/>
          </p:cNvPicPr>
          <p:nvPr/>
        </p:nvPicPr>
        <p:blipFill>
          <a:blip r:embed="rId3"/>
          <a:srcRect/>
          <a:stretch>
            <a:fillRect/>
          </a:stretch>
        </p:blipFill>
        <p:spPr bwMode="auto">
          <a:xfrm>
            <a:off x="5562600" y="0"/>
            <a:ext cx="3581400" cy="3276600"/>
          </a:xfrm>
          <a:prstGeom prst="rect">
            <a:avLst/>
          </a:prstGeom>
          <a:noFill/>
          <a:ln w="9525">
            <a:noFill/>
            <a:miter lim="800000"/>
            <a:headEnd/>
            <a:tailEnd/>
          </a:ln>
        </p:spPr>
      </p:pic>
      <p:sp>
        <p:nvSpPr>
          <p:cNvPr id="59396" name="Title 5"/>
          <p:cNvSpPr>
            <a:spLocks noGrp="1"/>
          </p:cNvSpPr>
          <p:nvPr>
            <p:ph type="title"/>
          </p:nvPr>
        </p:nvSpPr>
        <p:spPr/>
        <p:txBody>
          <a:bodyPr/>
          <a:lstStyle/>
          <a:p>
            <a:pPr eaLnBrk="1" hangingPunct="1"/>
            <a:endParaRPr lang="en-US" smtClean="0"/>
          </a:p>
        </p:txBody>
      </p:sp>
      <p:sp>
        <p:nvSpPr>
          <p:cNvPr id="59397" name="Content Placeholder 6"/>
          <p:cNvSpPr>
            <a:spLocks noGrp="1"/>
          </p:cNvSpPr>
          <p:nvPr>
            <p:ph idx="1"/>
          </p:nvPr>
        </p:nvSpPr>
        <p:spPr>
          <a:xfrm>
            <a:off x="0" y="1600200"/>
            <a:ext cx="8686800" cy="5257800"/>
          </a:xfrm>
        </p:spPr>
        <p:txBody>
          <a:bodyPr/>
          <a:lstStyle/>
          <a:p>
            <a:pPr eaLnBrk="1" hangingPunct="1">
              <a:buFont typeface="Arial" pitchFamily="34" charset="0"/>
              <a:buNone/>
            </a:pPr>
            <a:r>
              <a:rPr lang="en-US" i="1" smtClean="0"/>
              <a:t>Frankia</a:t>
            </a:r>
            <a:r>
              <a:rPr lang="en-US" smtClean="0"/>
              <a:t> and actinorrhizal plant </a:t>
            </a:r>
          </a:p>
          <a:p>
            <a:pPr eaLnBrk="1" hangingPunct="1">
              <a:buFont typeface="Arial" pitchFamily="34" charset="0"/>
              <a:buNone/>
            </a:pPr>
            <a:r>
              <a:rPr lang="en-US" smtClean="0"/>
              <a:t>Symbiosis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274638"/>
            <a:ext cx="4953000" cy="1143000"/>
          </a:xfrm>
        </p:spPr>
        <p:txBody>
          <a:bodyPr rtlCol="0">
            <a:normAutofit fontScale="90000"/>
          </a:bodyPr>
          <a:lstStyle/>
          <a:p>
            <a:pPr eaLnBrk="1" fontAlgn="auto" hangingPunct="1">
              <a:spcAft>
                <a:spcPts val="0"/>
              </a:spcAft>
              <a:defRPr/>
            </a:pPr>
            <a:r>
              <a:rPr lang="en-US" b="1" dirty="0" smtClean="0"/>
              <a:t>Major groups of soil microorganisms :</a:t>
            </a:r>
            <a:br>
              <a:rPr lang="en-US" b="1" dirty="0" smtClean="0"/>
            </a:br>
            <a:endParaRPr lang="en-US" dirty="0" smtClean="0"/>
          </a:p>
        </p:txBody>
      </p:sp>
      <p:sp>
        <p:nvSpPr>
          <p:cNvPr id="3" name="Content Placeholder 2"/>
          <p:cNvSpPr>
            <a:spLocks noGrp="1"/>
          </p:cNvSpPr>
          <p:nvPr>
            <p:ph idx="1"/>
          </p:nvPr>
        </p:nvSpPr>
        <p:spPr>
          <a:xfrm>
            <a:off x="457200" y="1600200"/>
            <a:ext cx="4953000" cy="4525963"/>
          </a:xfrm>
        </p:spPr>
        <p:txBody>
          <a:bodyPr rtlCol="0">
            <a:normAutofit/>
          </a:bodyPr>
          <a:lstStyle/>
          <a:p>
            <a:pPr eaLnBrk="1" fontAlgn="auto" hangingPunct="1">
              <a:spcAft>
                <a:spcPts val="0"/>
              </a:spcAft>
              <a:defRPr/>
            </a:pPr>
            <a:r>
              <a:rPr lang="en-US" dirty="0" smtClean="0"/>
              <a:t>Fungi:</a:t>
            </a:r>
          </a:p>
          <a:p>
            <a:pPr eaLnBrk="1" fontAlgn="auto" hangingPunct="1">
              <a:spcAft>
                <a:spcPts val="0"/>
              </a:spcAft>
              <a:buFont typeface="Arial" pitchFamily="34" charset="0"/>
              <a:buNone/>
              <a:defRPr/>
            </a:pPr>
            <a:r>
              <a:rPr lang="en-US" dirty="0" smtClean="0"/>
              <a:t>– the major component of microbial biomass in soils</a:t>
            </a:r>
          </a:p>
          <a:p>
            <a:pPr eaLnBrk="1" fontAlgn="auto" hangingPunct="1">
              <a:spcAft>
                <a:spcPts val="0"/>
              </a:spcAft>
              <a:buFont typeface="Arial" pitchFamily="34" charset="0"/>
              <a:buNone/>
              <a:defRPr/>
            </a:pPr>
            <a:r>
              <a:rPr lang="en-US" dirty="0" smtClean="0"/>
              <a:t>– major participants in decomposition of</a:t>
            </a:r>
          </a:p>
          <a:p>
            <a:pPr eaLnBrk="1" fontAlgn="auto" hangingPunct="1">
              <a:spcAft>
                <a:spcPts val="0"/>
              </a:spcAft>
              <a:buFont typeface="Arial" pitchFamily="34" charset="0"/>
              <a:buNone/>
              <a:defRPr/>
            </a:pPr>
            <a:r>
              <a:rPr lang="en-US" dirty="0" smtClean="0"/>
              <a:t>organic matter</a:t>
            </a:r>
          </a:p>
          <a:p>
            <a:pPr eaLnBrk="1" fontAlgn="auto" hangingPunct="1">
              <a:spcAft>
                <a:spcPts val="0"/>
              </a:spcAft>
              <a:buFont typeface="Arial" pitchFamily="34" charset="0"/>
              <a:buNone/>
              <a:defRPr/>
            </a:pPr>
            <a:r>
              <a:rPr lang="en-US" dirty="0" smtClean="0"/>
              <a:t>– </a:t>
            </a:r>
            <a:r>
              <a:rPr lang="en-US" dirty="0" err="1" smtClean="0"/>
              <a:t>hyphal</a:t>
            </a:r>
            <a:r>
              <a:rPr lang="en-US" dirty="0" smtClean="0"/>
              <a:t> growth helps bind soil particles into stable aggregates.</a:t>
            </a:r>
          </a:p>
        </p:txBody>
      </p:sp>
      <p:pic>
        <p:nvPicPr>
          <p:cNvPr id="60420" name="Picture 2" descr="http://www.vilt.net/kessello/wp-content/uploads/2008/01/trichoderma_harzianum.jpg"/>
          <p:cNvPicPr>
            <a:picLocks noChangeAspect="1" noChangeArrowheads="1"/>
          </p:cNvPicPr>
          <p:nvPr/>
        </p:nvPicPr>
        <p:blipFill>
          <a:blip r:embed="rId2"/>
          <a:srcRect/>
          <a:stretch>
            <a:fillRect/>
          </a:stretch>
        </p:blipFill>
        <p:spPr bwMode="auto">
          <a:xfrm>
            <a:off x="5334000" y="0"/>
            <a:ext cx="3810000" cy="2819400"/>
          </a:xfrm>
          <a:prstGeom prst="rect">
            <a:avLst/>
          </a:prstGeom>
          <a:noFill/>
          <a:ln w="9525">
            <a:noFill/>
            <a:miter lim="800000"/>
            <a:headEnd/>
            <a:tailEnd/>
          </a:ln>
        </p:spPr>
      </p:pic>
      <p:pic>
        <p:nvPicPr>
          <p:cNvPr id="60421" name="Picture 4" descr="http://botit.botany.wisc.edu/toms_fungi/images/tricho-cult.jpg"/>
          <p:cNvPicPr>
            <a:picLocks noChangeAspect="1" noChangeArrowheads="1"/>
          </p:cNvPicPr>
          <p:nvPr/>
        </p:nvPicPr>
        <p:blipFill>
          <a:blip r:embed="rId3"/>
          <a:srcRect/>
          <a:stretch>
            <a:fillRect/>
          </a:stretch>
        </p:blipFill>
        <p:spPr bwMode="auto">
          <a:xfrm>
            <a:off x="5334000" y="4000500"/>
            <a:ext cx="3810000" cy="28575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pPr eaLnBrk="1" hangingPunct="1"/>
            <a:endParaRPr lang="en-US" smtClean="0"/>
          </a:p>
        </p:txBody>
      </p:sp>
      <p:sp>
        <p:nvSpPr>
          <p:cNvPr id="3" name="Content Placeholder 2"/>
          <p:cNvSpPr>
            <a:spLocks noGrp="1"/>
          </p:cNvSpPr>
          <p:nvPr>
            <p:ph idx="1"/>
          </p:nvPr>
        </p:nvSpPr>
        <p:spPr>
          <a:xfrm>
            <a:off x="0" y="1600200"/>
            <a:ext cx="2209800" cy="4525963"/>
          </a:xfrm>
        </p:spPr>
        <p:txBody>
          <a:bodyPr rtlCol="0">
            <a:normAutofit/>
          </a:bodyPr>
          <a:lstStyle/>
          <a:p>
            <a:pPr marL="0" indent="0" eaLnBrk="1" hangingPunct="1">
              <a:spcBef>
                <a:spcPct val="0"/>
              </a:spcBef>
              <a:buFont typeface="Arial" pitchFamily="34" charset="0"/>
              <a:buNone/>
              <a:defRPr/>
            </a:pPr>
            <a:r>
              <a:rPr lang="en-US" sz="2000" b="1" dirty="0" smtClean="0">
                <a:latin typeface="Arial" pitchFamily="34" charset="0"/>
              </a:rPr>
              <a:t>Plant communities are closely associated with fungal and bacterial communities in their soil</a:t>
            </a:r>
          </a:p>
          <a:p>
            <a:pPr marL="0" indent="0">
              <a:spcBef>
                <a:spcPct val="0"/>
              </a:spcBef>
              <a:buFont typeface="Arial" pitchFamily="34" charset="0"/>
              <a:buNone/>
              <a:defRPr/>
            </a:pPr>
            <a:r>
              <a:rPr lang="en-US" sz="1800" dirty="0" smtClean="0">
                <a:latin typeface="Arial" pitchFamily="34" charset="0"/>
              </a:rPr>
              <a:t>  </a:t>
            </a:r>
            <a:endParaRPr lang="en-US" sz="31100" dirty="0" smtClean="0">
              <a:latin typeface="Arial" pitchFamily="34" charset="0"/>
            </a:endParaRPr>
          </a:p>
          <a:p>
            <a:pPr eaLnBrk="1" fontAlgn="auto" hangingPunct="1">
              <a:spcAft>
                <a:spcPts val="0"/>
              </a:spcAft>
              <a:defRPr/>
            </a:pPr>
            <a:endParaRPr lang="en-US" dirty="0"/>
          </a:p>
        </p:txBody>
      </p:sp>
      <p:pic>
        <p:nvPicPr>
          <p:cNvPr id="61444" name="Picture 2" descr="http://www.uni-frankfurt.de/fb/fb15/institute/inst-1-oeko-evo-div/AK-Piepenbring/bilder/fo1.png"/>
          <p:cNvPicPr>
            <a:picLocks noChangeAspect="1" noChangeArrowheads="1"/>
          </p:cNvPicPr>
          <p:nvPr/>
        </p:nvPicPr>
        <p:blipFill>
          <a:blip r:embed="rId3"/>
          <a:srcRect/>
          <a:stretch>
            <a:fillRect/>
          </a:stretch>
        </p:blipFill>
        <p:spPr bwMode="auto">
          <a:xfrm>
            <a:off x="2286000" y="0"/>
            <a:ext cx="7086600" cy="68580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Major groups of soil microorganisms :</a:t>
            </a:r>
            <a:br>
              <a:rPr lang="en-US" b="1" dirty="0" smtClean="0"/>
            </a:br>
            <a:endParaRPr lang="en-US" dirty="0" smtClean="0"/>
          </a:p>
        </p:txBody>
      </p:sp>
      <p:sp>
        <p:nvSpPr>
          <p:cNvPr id="62467" name="Content Placeholder 2"/>
          <p:cNvSpPr>
            <a:spLocks noGrp="1"/>
          </p:cNvSpPr>
          <p:nvPr>
            <p:ph idx="1"/>
          </p:nvPr>
        </p:nvSpPr>
        <p:spPr/>
        <p:txBody>
          <a:bodyPr/>
          <a:lstStyle/>
          <a:p>
            <a:pPr marL="0" indent="0">
              <a:buNone/>
            </a:pPr>
            <a:r>
              <a:rPr lang="en-US" dirty="0" smtClean="0"/>
              <a:t> Fungi:</a:t>
            </a:r>
          </a:p>
          <a:p>
            <a:pPr marL="0" indent="0">
              <a:buNone/>
            </a:pPr>
            <a:r>
              <a:rPr lang="en-US" dirty="0" smtClean="0"/>
              <a:t>– Some associate with plant roots: major plant</a:t>
            </a:r>
          </a:p>
          <a:p>
            <a:pPr marL="0" indent="0">
              <a:buNone/>
            </a:pPr>
            <a:r>
              <a:rPr lang="en-US" dirty="0" smtClean="0"/>
              <a:t>pathogens,</a:t>
            </a:r>
          </a:p>
          <a:p>
            <a:pPr marL="0" indent="0">
              <a:buNone/>
            </a:pPr>
            <a:r>
              <a:rPr lang="en-US" dirty="0" smtClean="0"/>
              <a:t>– Beneficial </a:t>
            </a:r>
            <a:r>
              <a:rPr lang="en-US" dirty="0" err="1" smtClean="0"/>
              <a:t>symbionts</a:t>
            </a:r>
            <a:endParaRPr lang="en-US" dirty="0" smtClean="0"/>
          </a:p>
          <a:p>
            <a:pPr marL="0" indent="0">
              <a:buNone/>
            </a:pPr>
            <a:r>
              <a:rPr lang="en-US" dirty="0" smtClean="0"/>
              <a:t>increase nutrient uptake and decrease disease incidence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Major groups of soil microorganisms :</a:t>
            </a:r>
            <a:br>
              <a:rPr lang="en-US" b="1" dirty="0" smtClean="0"/>
            </a:br>
            <a:endParaRPr lang="en-US" dirty="0" smtClean="0"/>
          </a:p>
        </p:txBody>
      </p:sp>
      <p:sp>
        <p:nvSpPr>
          <p:cNvPr id="63491" name="Content Placeholder 2"/>
          <p:cNvSpPr>
            <a:spLocks noGrp="1"/>
          </p:cNvSpPr>
          <p:nvPr>
            <p:ph idx="1"/>
          </p:nvPr>
        </p:nvSpPr>
        <p:spPr/>
        <p:txBody>
          <a:bodyPr/>
          <a:lstStyle/>
          <a:p>
            <a:pPr eaLnBrk="1" hangingPunct="1">
              <a:buFont typeface="Arial" pitchFamily="34" charset="0"/>
              <a:buNone/>
            </a:pPr>
            <a:r>
              <a:rPr lang="en-US" smtClean="0"/>
              <a:t> Cyanobacteria and algae (green algae,</a:t>
            </a:r>
          </a:p>
          <a:p>
            <a:pPr eaLnBrk="1" hangingPunct="1">
              <a:buFont typeface="Arial" pitchFamily="34" charset="0"/>
              <a:buNone/>
            </a:pPr>
            <a:r>
              <a:rPr lang="en-US" smtClean="0"/>
              <a:t>diatoms):</a:t>
            </a:r>
          </a:p>
          <a:p>
            <a:pPr eaLnBrk="1" hangingPunct="1">
              <a:buFont typeface="Arial" pitchFamily="34" charset="0"/>
              <a:buNone/>
            </a:pPr>
            <a:r>
              <a:rPr lang="en-US" smtClean="0"/>
              <a:t>– Photoautotrophs, form surface algal crusts</a:t>
            </a:r>
          </a:p>
          <a:p>
            <a:pPr eaLnBrk="1" hangingPunct="1">
              <a:buFont typeface="Arial" pitchFamily="34" charset="0"/>
              <a:buNone/>
            </a:pPr>
            <a:r>
              <a:rPr lang="en-US" smtClean="0"/>
              <a:t>important in H2O retention</a:t>
            </a:r>
          </a:p>
          <a:p>
            <a:pPr eaLnBrk="1" hangingPunct="1">
              <a:buFont typeface="Arial" pitchFamily="34" charset="0"/>
              <a:buNone/>
            </a:pPr>
            <a:r>
              <a:rPr lang="en-US" smtClean="0"/>
              <a:t>– Some cyanobacteria carry out free-living and</a:t>
            </a:r>
          </a:p>
          <a:p>
            <a:pPr eaLnBrk="1" hangingPunct="1">
              <a:buFont typeface="Arial" pitchFamily="34" charset="0"/>
              <a:buNone/>
            </a:pPr>
            <a:r>
              <a:rPr lang="en-US" smtClean="0"/>
              <a:t>symbiotic N2-fixation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rtlCol="0">
            <a:normAutofit fontScale="90000"/>
          </a:bodyPr>
          <a:lstStyle/>
          <a:p>
            <a:pPr eaLnBrk="1" fontAlgn="auto" hangingPunct="1">
              <a:spcAft>
                <a:spcPts val="0"/>
              </a:spcAft>
              <a:defRPr/>
            </a:pPr>
            <a:r>
              <a:rPr lang="en-US" b="1" dirty="0"/>
              <a:t>Major groups of soil microorganisms :</a:t>
            </a:r>
            <a:br>
              <a:rPr lang="en-US" b="1" dirty="0"/>
            </a:br>
            <a:endParaRPr lang="en-US" dirty="0" smtClean="0"/>
          </a:p>
        </p:txBody>
      </p:sp>
      <p:sp>
        <p:nvSpPr>
          <p:cNvPr id="64515" name="Content Placeholder 2"/>
          <p:cNvSpPr>
            <a:spLocks noGrp="1"/>
          </p:cNvSpPr>
          <p:nvPr>
            <p:ph idx="1"/>
          </p:nvPr>
        </p:nvSpPr>
        <p:spPr/>
        <p:txBody>
          <a:bodyPr/>
          <a:lstStyle/>
          <a:p>
            <a:pPr eaLnBrk="1" hangingPunct="1">
              <a:buFont typeface="Arial" pitchFamily="34" charset="0"/>
              <a:buNone/>
            </a:pPr>
            <a:r>
              <a:rPr lang="en-US" smtClean="0"/>
              <a:t>Viruses:</a:t>
            </a:r>
            <a:br>
              <a:rPr lang="en-US" smtClean="0"/>
            </a:br>
            <a:r>
              <a:rPr lang="en-US" smtClean="0"/>
              <a:t>- Numerically abundant, ecology not well</a:t>
            </a:r>
          </a:p>
          <a:p>
            <a:pPr eaLnBrk="1" hangingPunct="1">
              <a:buFont typeface="Arial" pitchFamily="34" charset="0"/>
              <a:buNone/>
            </a:pPr>
            <a:r>
              <a:rPr lang="en-US" smtClean="0"/>
              <a:t>    defined</a:t>
            </a:r>
          </a:p>
          <a:p>
            <a:pPr eaLnBrk="1" hangingPunct="1">
              <a:buFont typeface="Arial" pitchFamily="34" charset="0"/>
              <a:buNone/>
            </a:pPr>
            <a:r>
              <a:rPr lang="en-US" smtClean="0"/>
              <a:t>–bacteriophage</a:t>
            </a:r>
          </a:p>
          <a:p>
            <a:pPr eaLnBrk="1" hangingPunct="1">
              <a:buFont typeface="Arial" pitchFamily="34" charset="0"/>
              <a:buNone/>
            </a:pPr>
            <a:r>
              <a:rPr lang="en-US" smtClean="0"/>
              <a:t>– Persistance and migration of human</a:t>
            </a:r>
          </a:p>
          <a:p>
            <a:pPr eaLnBrk="1" hangingPunct="1">
              <a:buFont typeface="Arial" pitchFamily="34" charset="0"/>
              <a:buNone/>
            </a:pPr>
            <a:r>
              <a:rPr lang="en-US" smtClean="0"/>
              <a:t> enteroviruses pose serious health issues with</a:t>
            </a:r>
          </a:p>
          <a:p>
            <a:pPr eaLnBrk="1" hangingPunct="1">
              <a:buFont typeface="Arial" pitchFamily="34" charset="0"/>
              <a:buNone/>
            </a:pPr>
            <a:r>
              <a:rPr lang="en-US" smtClean="0"/>
              <a:t>  land disposal of sewage and fecal wastes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26"/>
          <p:cNvSpPr>
            <a:spLocks noGrp="1" noChangeArrowheads="1"/>
          </p:cNvSpPr>
          <p:nvPr>
            <p:ph type="title"/>
          </p:nvPr>
        </p:nvSpPr>
        <p:spPr/>
        <p:txBody>
          <a:bodyPr/>
          <a:lstStyle/>
          <a:p>
            <a:pPr eaLnBrk="1" hangingPunct="1"/>
            <a:r>
              <a:rPr lang="en-US" smtClean="0"/>
              <a:t>Terrestrial Environments</a:t>
            </a:r>
          </a:p>
        </p:txBody>
      </p:sp>
      <p:sp>
        <p:nvSpPr>
          <p:cNvPr id="72707" name="Rectangle 1027"/>
          <p:cNvSpPr>
            <a:spLocks noGrp="1" noChangeArrowheads="1"/>
          </p:cNvSpPr>
          <p:nvPr>
            <p:ph type="body" idx="1"/>
          </p:nvPr>
        </p:nvSpPr>
        <p:spPr>
          <a:xfrm>
            <a:off x="228600" y="1676400"/>
            <a:ext cx="4016375" cy="3849688"/>
          </a:xfrm>
        </p:spPr>
        <p:txBody>
          <a:bodyPr/>
          <a:lstStyle/>
          <a:p>
            <a:pPr eaLnBrk="1" hangingPunct="1">
              <a:lnSpc>
                <a:spcPct val="120000"/>
              </a:lnSpc>
            </a:pPr>
            <a:endParaRPr lang="en-US" sz="1500" smtClean="0">
              <a:latin typeface="Arial" pitchFamily="34" charset="0"/>
            </a:endParaRPr>
          </a:p>
          <a:p>
            <a:pPr eaLnBrk="1" hangingPunct="1">
              <a:lnSpc>
                <a:spcPct val="120000"/>
              </a:lnSpc>
            </a:pPr>
            <a:r>
              <a:rPr lang="en-US" sz="2000" smtClean="0">
                <a:latin typeface="Arial" pitchFamily="34" charset="0"/>
              </a:rPr>
              <a:t>Most microbial growth takes place on the surfaces of soil particles</a:t>
            </a:r>
          </a:p>
          <a:p>
            <a:pPr eaLnBrk="1" hangingPunct="1">
              <a:lnSpc>
                <a:spcPct val="120000"/>
              </a:lnSpc>
              <a:buFont typeface="Wingdings" pitchFamily="2" charset="2"/>
              <a:buChar char="•"/>
            </a:pPr>
            <a:endParaRPr lang="en-US" sz="400" smtClean="0">
              <a:latin typeface="Arial" pitchFamily="34" charset="0"/>
            </a:endParaRPr>
          </a:p>
          <a:p>
            <a:pPr eaLnBrk="1" hangingPunct="1">
              <a:lnSpc>
                <a:spcPct val="120000"/>
              </a:lnSpc>
            </a:pPr>
            <a:r>
              <a:rPr lang="en-US" sz="2000" smtClean="0">
                <a:latin typeface="Arial" pitchFamily="34" charset="0"/>
              </a:rPr>
              <a:t>Soil aggregates can contain many different microenvironments supporting the growth of several types of microbes</a:t>
            </a:r>
          </a:p>
          <a:p>
            <a:pPr eaLnBrk="1" hangingPunct="1">
              <a:lnSpc>
                <a:spcPct val="120000"/>
              </a:lnSpc>
            </a:pPr>
            <a:endParaRPr lang="en-US" sz="2000" smtClean="0">
              <a:latin typeface="Arial" pitchFamily="34" charset="0"/>
            </a:endParaRPr>
          </a:p>
          <a:p>
            <a:pPr eaLnBrk="1" hangingPunct="1">
              <a:lnSpc>
                <a:spcPct val="120000"/>
              </a:lnSpc>
            </a:pPr>
            <a:endParaRPr lang="en-US" sz="2000" smtClean="0">
              <a:latin typeface="Arial" pitchFamily="34" charset="0"/>
            </a:endParaRPr>
          </a:p>
          <a:p>
            <a:pPr eaLnBrk="1" hangingPunct="1">
              <a:lnSpc>
                <a:spcPct val="120000"/>
              </a:lnSpc>
              <a:buFont typeface="Wingdings" pitchFamily="2" charset="2"/>
              <a:buNone/>
            </a:pPr>
            <a:endParaRPr lang="en-US" sz="2000" smtClean="0">
              <a:latin typeface="Arial" pitchFamily="34" charset="0"/>
            </a:endParaRPr>
          </a:p>
        </p:txBody>
      </p:sp>
      <p:pic>
        <p:nvPicPr>
          <p:cNvPr id="72708" name="Picture 9" descr="23_11Figure-L"/>
          <p:cNvPicPr>
            <a:picLocks noChangeAspect="1" noChangeArrowheads="1"/>
          </p:cNvPicPr>
          <p:nvPr/>
        </p:nvPicPr>
        <p:blipFill>
          <a:blip r:embed="rId3"/>
          <a:srcRect b="3127"/>
          <a:stretch>
            <a:fillRect/>
          </a:stretch>
        </p:blipFill>
        <p:spPr bwMode="auto">
          <a:xfrm>
            <a:off x="4198938" y="2843213"/>
            <a:ext cx="4945062" cy="34559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3400" y="228600"/>
            <a:ext cx="8610600" cy="838200"/>
          </a:xfrm>
        </p:spPr>
        <p:txBody>
          <a:bodyPr/>
          <a:lstStyle/>
          <a:p>
            <a:pPr eaLnBrk="1" hangingPunct="1"/>
            <a:r>
              <a:rPr lang="en-US" sz="3200" b="1" smtClean="0"/>
              <a:t>Rhizosphere: the Place to be in Soil</a:t>
            </a:r>
          </a:p>
        </p:txBody>
      </p:sp>
      <p:sp>
        <p:nvSpPr>
          <p:cNvPr id="73731" name="Rectangle 3"/>
          <p:cNvSpPr>
            <a:spLocks noGrp="1" noChangeArrowheads="1"/>
          </p:cNvSpPr>
          <p:nvPr>
            <p:ph type="body" idx="1"/>
          </p:nvPr>
        </p:nvSpPr>
        <p:spPr>
          <a:xfrm>
            <a:off x="457200" y="1066800"/>
            <a:ext cx="5638800" cy="5486400"/>
          </a:xfrm>
        </p:spPr>
        <p:txBody>
          <a:bodyPr/>
          <a:lstStyle/>
          <a:p>
            <a:pPr eaLnBrk="1" hangingPunct="1">
              <a:lnSpc>
                <a:spcPct val="90000"/>
              </a:lnSpc>
              <a:buFont typeface="Arial" pitchFamily="34" charset="0"/>
              <a:buNone/>
            </a:pPr>
            <a:r>
              <a:rPr lang="en-US" sz="2400" b="1" smtClean="0"/>
              <a:t>What is the Rhizosphere</a:t>
            </a:r>
            <a:endParaRPr lang="en-US" sz="2400" smtClean="0"/>
          </a:p>
          <a:p>
            <a:pPr eaLnBrk="1" hangingPunct="1">
              <a:lnSpc>
                <a:spcPct val="90000"/>
              </a:lnSpc>
              <a:buFont typeface="Arial" pitchFamily="34" charset="0"/>
              <a:buNone/>
            </a:pPr>
            <a:r>
              <a:rPr lang="en-US" sz="2400" smtClean="0"/>
              <a:t>Rhizo= Rhiza= root </a:t>
            </a:r>
          </a:p>
          <a:p>
            <a:pPr eaLnBrk="1" hangingPunct="1">
              <a:lnSpc>
                <a:spcPct val="90000"/>
              </a:lnSpc>
              <a:buFont typeface="Arial" pitchFamily="34" charset="0"/>
              <a:buNone/>
            </a:pPr>
            <a:r>
              <a:rPr lang="en-US" sz="2400" smtClean="0"/>
              <a:t>Sphere= field or area of influence , physical location around the root</a:t>
            </a:r>
          </a:p>
          <a:p>
            <a:pPr eaLnBrk="1" hangingPunct="1">
              <a:lnSpc>
                <a:spcPct val="90000"/>
              </a:lnSpc>
              <a:buFont typeface="Arial" pitchFamily="34" charset="0"/>
              <a:buNone/>
            </a:pPr>
            <a:r>
              <a:rPr lang="en-US" sz="2400" smtClean="0"/>
              <a:t>Introduced by Hiltner in 1904 </a:t>
            </a:r>
          </a:p>
          <a:p>
            <a:pPr eaLnBrk="1" hangingPunct="1">
              <a:lnSpc>
                <a:spcPct val="90000"/>
              </a:lnSpc>
              <a:buFont typeface="Arial" pitchFamily="34" charset="0"/>
              <a:buNone/>
            </a:pPr>
            <a:r>
              <a:rPr lang="en-US" sz="2400" smtClean="0"/>
              <a:t>the region surround plant roots</a:t>
            </a:r>
          </a:p>
          <a:p>
            <a:pPr eaLnBrk="1" hangingPunct="1">
              <a:lnSpc>
                <a:spcPct val="90000"/>
              </a:lnSpc>
              <a:buFont typeface="Arial" pitchFamily="34" charset="0"/>
              <a:buNone/>
            </a:pPr>
            <a:r>
              <a:rPr lang="en-US" sz="2400" smtClean="0"/>
              <a:t>influence by root exudates</a:t>
            </a:r>
          </a:p>
          <a:p>
            <a:pPr eaLnBrk="1" hangingPunct="1">
              <a:lnSpc>
                <a:spcPct val="90000"/>
              </a:lnSpc>
              <a:buFont typeface="Arial" pitchFamily="34" charset="0"/>
              <a:buNone/>
            </a:pPr>
            <a:r>
              <a:rPr lang="en-US" sz="2400" smtClean="0"/>
              <a:t>1-2 mm from root</a:t>
            </a:r>
          </a:p>
          <a:p>
            <a:pPr eaLnBrk="1" hangingPunct="1">
              <a:lnSpc>
                <a:spcPct val="90000"/>
              </a:lnSpc>
              <a:buFont typeface="Arial" pitchFamily="34" charset="0"/>
              <a:buNone/>
            </a:pPr>
            <a:r>
              <a:rPr lang="en-US" sz="2400" smtClean="0"/>
              <a:t>variable region where the root production stimulate microbial population and activity</a:t>
            </a:r>
          </a:p>
          <a:p>
            <a:pPr eaLnBrk="1" hangingPunct="1">
              <a:lnSpc>
                <a:spcPct val="90000"/>
              </a:lnSpc>
              <a:buFontTx/>
              <a:buNone/>
            </a:pPr>
            <a:endParaRPr lang="en-US" sz="2000" smtClean="0"/>
          </a:p>
        </p:txBody>
      </p:sp>
      <p:pic>
        <p:nvPicPr>
          <p:cNvPr id="73732" name="Picture 5" descr="Hiltner"/>
          <p:cNvPicPr>
            <a:picLocks noChangeAspect="1" noChangeArrowheads="1"/>
          </p:cNvPicPr>
          <p:nvPr/>
        </p:nvPicPr>
        <p:blipFill>
          <a:blip r:embed="rId2"/>
          <a:srcRect t="4445" b="11111"/>
          <a:stretch>
            <a:fillRect/>
          </a:stretch>
        </p:blipFill>
        <p:spPr bwMode="auto">
          <a:xfrm>
            <a:off x="6321425" y="3568700"/>
            <a:ext cx="2822575" cy="32893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smtClean="0"/>
              <a:t>Rhizosphere </a:t>
            </a:r>
          </a:p>
        </p:txBody>
      </p:sp>
      <p:sp>
        <p:nvSpPr>
          <p:cNvPr id="74755" name="Rectangle 3"/>
          <p:cNvSpPr>
            <a:spLocks noGrp="1" noChangeArrowheads="1"/>
          </p:cNvSpPr>
          <p:nvPr>
            <p:ph type="body" idx="1"/>
          </p:nvPr>
        </p:nvSpPr>
        <p:spPr>
          <a:xfrm>
            <a:off x="457200" y="1600200"/>
            <a:ext cx="8229600" cy="5105400"/>
          </a:xfrm>
        </p:spPr>
        <p:txBody>
          <a:bodyPr/>
          <a:lstStyle/>
          <a:p>
            <a:pPr eaLnBrk="1" hangingPunct="1">
              <a:buFont typeface="Arial" pitchFamily="34" charset="0"/>
              <a:buNone/>
            </a:pPr>
            <a:r>
              <a:rPr lang="en-US" sz="2800" smtClean="0"/>
              <a:t>Comprised of different zones</a:t>
            </a:r>
          </a:p>
          <a:p>
            <a:pPr eaLnBrk="1" hangingPunct="1">
              <a:buFont typeface="Arial" pitchFamily="34" charset="0"/>
              <a:buNone/>
            </a:pPr>
            <a:r>
              <a:rPr lang="en-US" sz="2800" b="1" smtClean="0">
                <a:solidFill>
                  <a:srgbClr val="CC0000"/>
                </a:solidFill>
              </a:rPr>
              <a:t>Endorhizosphere</a:t>
            </a:r>
          </a:p>
          <a:p>
            <a:pPr lvl="1" eaLnBrk="1" hangingPunct="1">
              <a:buFont typeface="Arial" pitchFamily="34" charset="0"/>
              <a:buNone/>
            </a:pPr>
            <a:r>
              <a:rPr lang="en-US" smtClean="0"/>
              <a:t>	multi-layered microenvironment, which includes a mucoid layer on the root surface, the epidermal layer of the root tissue including the root hairs and the cortical cells</a:t>
            </a:r>
          </a:p>
          <a:p>
            <a:pPr eaLnBrk="1" hangingPunct="1">
              <a:buFont typeface="Arial" pitchFamily="34" charset="0"/>
              <a:buNone/>
            </a:pPr>
            <a:r>
              <a:rPr lang="en-US" sz="2800" b="1" smtClean="0">
                <a:solidFill>
                  <a:srgbClr val="CC0000"/>
                </a:solidFill>
              </a:rPr>
              <a:t>Ectorhizosphere</a:t>
            </a:r>
          </a:p>
          <a:p>
            <a:pPr eaLnBrk="1" hangingPunct="1">
              <a:buFont typeface="Arial" pitchFamily="34" charset="0"/>
              <a:buNone/>
            </a:pPr>
            <a:r>
              <a:rPr lang="en-US" sz="2800" smtClean="0">
                <a:solidFill>
                  <a:srgbClr val="CC0000"/>
                </a:solidFill>
              </a:rPr>
              <a:t>	</a:t>
            </a:r>
            <a:r>
              <a:rPr lang="en-US" sz="2800" smtClean="0"/>
              <a:t>	    rhizosphere soil</a:t>
            </a:r>
          </a:p>
          <a:p>
            <a:pPr eaLnBrk="1" hangingPunct="1">
              <a:buFont typeface="Arial" pitchFamily="34" charset="0"/>
              <a:buNone/>
            </a:pPr>
            <a:endParaRPr lang="en-US" sz="2800" smtClean="0">
              <a:solidFill>
                <a:srgbClr val="CC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52400" y="944563"/>
            <a:ext cx="3352800" cy="808037"/>
          </a:xfrm>
        </p:spPr>
        <p:txBody>
          <a:bodyPr/>
          <a:lstStyle/>
          <a:p>
            <a:pPr eaLnBrk="1" hangingPunct="1"/>
            <a:r>
              <a:rPr lang="en-US" sz="2800" b="1" smtClean="0"/>
              <a:t>  </a:t>
            </a:r>
            <a:r>
              <a:rPr lang="en-US" sz="3200" b="1" smtClean="0">
                <a:solidFill>
                  <a:srgbClr val="CC0000"/>
                </a:solidFill>
              </a:rPr>
              <a:t>Rhizosplane</a:t>
            </a:r>
          </a:p>
        </p:txBody>
      </p:sp>
      <p:sp>
        <p:nvSpPr>
          <p:cNvPr id="76803" name="Rectangle 3"/>
          <p:cNvSpPr>
            <a:spLocks noGrp="1" noChangeArrowheads="1"/>
          </p:cNvSpPr>
          <p:nvPr>
            <p:ph type="body" idx="1"/>
          </p:nvPr>
        </p:nvSpPr>
        <p:spPr>
          <a:xfrm>
            <a:off x="0" y="1600200"/>
            <a:ext cx="8686800" cy="4525963"/>
          </a:xfrm>
        </p:spPr>
        <p:txBody>
          <a:bodyPr/>
          <a:lstStyle/>
          <a:p>
            <a:pPr eaLnBrk="1" hangingPunct="1">
              <a:buFont typeface="Arial" pitchFamily="34" charset="0"/>
              <a:buNone/>
            </a:pPr>
            <a:r>
              <a:rPr lang="en-US" sz="2800" smtClean="0"/>
              <a:t>It’s plant’s root surface (external surface) where many microorganism adhere to it.</a:t>
            </a:r>
          </a:p>
          <a:p>
            <a:pPr eaLnBrk="1" hangingPunct="1">
              <a:buFont typeface="Arial" pitchFamily="34" charset="0"/>
              <a:buNone/>
            </a:pPr>
            <a:r>
              <a:rPr lang="en-US" sz="2800" smtClean="0"/>
              <a:t>1</a:t>
            </a:r>
            <a:r>
              <a:rPr lang="en-US" sz="2800" smtClean="0">
                <a:cs typeface="Arial" pitchFamily="34" charset="0"/>
              </a:rPr>
              <a:t>µ</a:t>
            </a:r>
            <a:r>
              <a:rPr lang="en-US" sz="2800" smtClean="0"/>
              <a:t>m thick.</a:t>
            </a:r>
          </a:p>
          <a:p>
            <a:pPr eaLnBrk="1" hangingPunct="1">
              <a:buFont typeface="Arial" pitchFamily="34" charset="0"/>
              <a:buNone/>
            </a:pPr>
            <a:r>
              <a:rPr lang="en-US" sz="2800" smtClean="0"/>
              <a:t>hard to distinguish between Rhizo sphere/ plane.</a:t>
            </a:r>
          </a:p>
          <a:p>
            <a:pPr eaLnBrk="1" hangingPunct="1">
              <a:buFont typeface="Arial" pitchFamily="34" charset="0"/>
              <a:buNone/>
            </a:pPr>
            <a:endParaRPr lang="en-US" sz="2400" smtClean="0"/>
          </a:p>
          <a:p>
            <a:pPr eaLnBrk="1" hangingPunct="1">
              <a:buFont typeface="Arial" pitchFamily="34" charset="0"/>
              <a:buNone/>
            </a:pPr>
            <a:r>
              <a:rPr lang="en-US" sz="2800" b="1" smtClean="0">
                <a:solidFill>
                  <a:srgbClr val="CC0000"/>
                </a:solidFill>
              </a:rPr>
              <a:t>	</a:t>
            </a:r>
            <a:r>
              <a:rPr lang="en-US" b="1" smtClean="0">
                <a:solidFill>
                  <a:srgbClr val="CC0000"/>
                </a:solidFill>
              </a:rPr>
              <a:t>NonRhizosphere</a:t>
            </a:r>
            <a:endParaRPr lang="en-US" sz="2800" b="1" smtClean="0">
              <a:solidFill>
                <a:srgbClr val="CC0000"/>
              </a:solidFill>
            </a:endParaRPr>
          </a:p>
          <a:p>
            <a:pPr eaLnBrk="1" hangingPunct="1">
              <a:buFont typeface="Arial" pitchFamily="34" charset="0"/>
              <a:buNone/>
            </a:pPr>
            <a:endParaRPr lang="en-US" sz="2800" b="1" smtClean="0">
              <a:solidFill>
                <a:srgbClr val="CC0000"/>
              </a:solidFill>
            </a:endParaRPr>
          </a:p>
          <a:p>
            <a:pPr eaLnBrk="1" hangingPunct="1">
              <a:buFont typeface="Arial" pitchFamily="34" charset="0"/>
              <a:buNone/>
            </a:pPr>
            <a:endParaRPr lang="en-US" sz="2800" b="1" smtClean="0">
              <a:solidFill>
                <a:srgbClr val="CC0000"/>
              </a:solidFill>
            </a:endParaRPr>
          </a:p>
        </p:txBody>
      </p:sp>
      <p:sp>
        <p:nvSpPr>
          <p:cNvPr id="76804" name="Rectangle 4"/>
          <p:cNvSpPr>
            <a:spLocks noChangeArrowheads="1"/>
          </p:cNvSpPr>
          <p:nvPr/>
        </p:nvSpPr>
        <p:spPr bwMode="auto">
          <a:xfrm>
            <a:off x="914400" y="4495800"/>
            <a:ext cx="7543800" cy="1200150"/>
          </a:xfrm>
          <a:prstGeom prst="rect">
            <a:avLst/>
          </a:prstGeom>
          <a:noFill/>
          <a:ln w="9525">
            <a:noFill/>
            <a:miter lim="800000"/>
            <a:headEnd/>
            <a:tailEnd/>
          </a:ln>
        </p:spPr>
        <p:txBody>
          <a:bodyPr anchor="ctr">
            <a:spAutoFit/>
          </a:bodyPr>
          <a:lstStyle/>
          <a:p>
            <a:endParaRPr lang="en-US" sz="2400">
              <a:latin typeface="Calibri" pitchFamily="34" charset="0"/>
            </a:endParaRPr>
          </a:p>
          <a:p>
            <a:r>
              <a:rPr lang="en-US" sz="2400">
                <a:latin typeface="Calibri" pitchFamily="34" charset="0"/>
              </a:rPr>
              <a:t>Zone that not penetrated by plant root . </a:t>
            </a:r>
          </a:p>
          <a:p>
            <a:r>
              <a:rPr lang="en-US" sz="2400">
                <a:latin typeface="Calibri" pitchFamily="34" charset="0"/>
              </a:rPr>
              <a:t>it has less microbial activity.</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sz="3200" b="1" smtClean="0"/>
              <a:t>Rhizosphere vs NonRhizosphere</a:t>
            </a:r>
          </a:p>
        </p:txBody>
      </p:sp>
      <p:sp>
        <p:nvSpPr>
          <p:cNvPr id="77827" name="Rectangle 3"/>
          <p:cNvSpPr>
            <a:spLocks noGrp="1" noChangeArrowheads="1"/>
          </p:cNvSpPr>
          <p:nvPr>
            <p:ph type="body" sz="half" idx="1"/>
          </p:nvPr>
        </p:nvSpPr>
        <p:spPr>
          <a:xfrm>
            <a:off x="457200" y="1600200"/>
            <a:ext cx="6400800" cy="1676400"/>
          </a:xfrm>
        </p:spPr>
        <p:txBody>
          <a:bodyPr/>
          <a:lstStyle/>
          <a:p>
            <a:pPr eaLnBrk="1" hangingPunct="1">
              <a:buFont typeface="Arial" pitchFamily="34" charset="0"/>
              <a:buNone/>
            </a:pPr>
            <a:r>
              <a:rPr lang="en-US" sz="2800" b="1" smtClean="0"/>
              <a:t>In the Rhizosphere:</a:t>
            </a:r>
          </a:p>
          <a:p>
            <a:pPr eaLnBrk="1" hangingPunct="1">
              <a:buFont typeface="Arial" pitchFamily="34" charset="0"/>
              <a:buNone/>
            </a:pPr>
            <a:r>
              <a:rPr lang="en-US" sz="2800" smtClean="0"/>
              <a:t>More enhanced microbial growth</a:t>
            </a:r>
          </a:p>
          <a:p>
            <a:pPr eaLnBrk="1" hangingPunct="1">
              <a:buFont typeface="Arial" pitchFamily="34" charset="0"/>
              <a:buNone/>
            </a:pPr>
            <a:r>
              <a:rPr lang="en-US" sz="2800" smtClean="0"/>
              <a:t>More soluble C, nutrients</a:t>
            </a:r>
          </a:p>
          <a:p>
            <a:pPr eaLnBrk="1" hangingPunct="1">
              <a:buFont typeface="Arial" pitchFamily="34" charset="0"/>
              <a:buNone/>
            </a:pPr>
            <a:endParaRPr lang="en-US" sz="2800" smtClean="0"/>
          </a:p>
        </p:txBody>
      </p:sp>
      <p:graphicFrame>
        <p:nvGraphicFramePr>
          <p:cNvPr id="16430" name="Group 46"/>
          <p:cNvGraphicFramePr>
            <a:graphicFrameLocks noGrp="1"/>
          </p:cNvGraphicFramePr>
          <p:nvPr>
            <p:ph sz="half" idx="2"/>
          </p:nvPr>
        </p:nvGraphicFramePr>
        <p:xfrm>
          <a:off x="1371600" y="3352800"/>
          <a:ext cx="6324600" cy="2987040"/>
        </p:xfrm>
        <a:graphic>
          <a:graphicData uri="http://schemas.openxmlformats.org/drawingml/2006/table">
            <a:tbl>
              <a:tblPr/>
              <a:tblGrid>
                <a:gridCol w="2108200"/>
                <a:gridCol w="2108200"/>
                <a:gridCol w="2108200"/>
              </a:tblGrid>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Distance (</a:t>
                      </a:r>
                      <a:r>
                        <a:rPr kumimoji="0" lang="en-US" sz="2000" b="0" i="0" u="none" strike="noStrike" cap="none" normalizeH="0" baseline="0" smtClean="0">
                          <a:ln>
                            <a:noFill/>
                          </a:ln>
                          <a:solidFill>
                            <a:schemeClr val="tx1"/>
                          </a:solidFill>
                          <a:effectLst/>
                          <a:latin typeface="Arial" charset="0"/>
                          <a:cs typeface="Arial" charset="0"/>
                        </a:rPr>
                        <a:t>µ</a:t>
                      </a:r>
                      <a:r>
                        <a:rPr kumimoji="0" lang="en-US" sz="2000" b="0" i="0" u="none" strike="noStrike" cap="none" normalizeH="0" baseline="0" smtClean="0">
                          <a:ln>
                            <a:noFill/>
                          </a:ln>
                          <a:solidFill>
                            <a:schemeClr val="tx1"/>
                          </a:solidFill>
                          <a:effectLst/>
                          <a:latin typeface="Arial" charset="0"/>
                        </a:rPr>
                        <a:t>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Morphologically distinct microbe type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Numbers (x 10</a:t>
                      </a:r>
                      <a:r>
                        <a:rPr kumimoji="0" lang="en-US" sz="2000" b="1" i="0" u="none" strike="noStrike" cap="none" normalizeH="0" baseline="30000" smtClean="0">
                          <a:ln>
                            <a:noFill/>
                          </a:ln>
                          <a:solidFill>
                            <a:schemeClr val="tx1"/>
                          </a:solidFill>
                          <a:effectLst/>
                          <a:latin typeface="Arial" charset="0"/>
                        </a:rPr>
                        <a:t>-9</a:t>
                      </a:r>
                      <a:r>
                        <a:rPr kumimoji="0" lang="en-US" sz="2000" b="1" i="0" u="none" strike="noStrike" cap="none" normalizeH="0" baseline="0" smtClean="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120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5-10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41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10-15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15-20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858" name="Text Box 47"/>
          <p:cNvSpPr txBox="1">
            <a:spLocks noChangeArrowheads="1"/>
          </p:cNvSpPr>
          <p:nvPr/>
        </p:nvSpPr>
        <p:spPr bwMode="auto">
          <a:xfrm>
            <a:off x="6172200" y="6362700"/>
            <a:ext cx="1449388" cy="336550"/>
          </a:xfrm>
          <a:prstGeom prst="rect">
            <a:avLst/>
          </a:prstGeom>
          <a:noFill/>
          <a:ln w="9525">
            <a:noFill/>
            <a:miter lim="800000"/>
            <a:headEnd/>
            <a:tailEnd/>
          </a:ln>
        </p:spPr>
        <p:txBody>
          <a:bodyPr wrap="none">
            <a:spAutoFit/>
          </a:bodyPr>
          <a:lstStyle/>
          <a:p>
            <a:r>
              <a:rPr lang="en-US" sz="1600" b="1">
                <a:latin typeface="Calibri" pitchFamily="34" charset="0"/>
              </a:rPr>
              <a:t>Foster (1986)</a:t>
            </a:r>
          </a:p>
        </p:txBody>
      </p:sp>
      <p:sp>
        <p:nvSpPr>
          <p:cNvPr id="77859" name="Line 48"/>
          <p:cNvSpPr>
            <a:spLocks noChangeShapeType="1"/>
          </p:cNvSpPr>
          <p:nvPr/>
        </p:nvSpPr>
        <p:spPr bwMode="auto">
          <a:xfrm>
            <a:off x="914400" y="3429000"/>
            <a:ext cx="0" cy="2743200"/>
          </a:xfrm>
          <a:prstGeom prst="line">
            <a:avLst/>
          </a:prstGeom>
          <a:noFill/>
          <a:ln w="38100">
            <a:solidFill>
              <a:srgbClr val="996633"/>
            </a:solidFill>
            <a:round/>
            <a:headEnd/>
            <a:tailEnd type="triangle" w="med" len="med"/>
          </a:ln>
        </p:spPr>
        <p:txBody>
          <a:bodyPr/>
          <a:lstStyle/>
          <a:p>
            <a:endParaRPr lang="en-US"/>
          </a:p>
        </p:txBody>
      </p:sp>
      <p:sp>
        <p:nvSpPr>
          <p:cNvPr id="77860" name="Text Box 49"/>
          <p:cNvSpPr txBox="1">
            <a:spLocks noChangeArrowheads="1"/>
          </p:cNvSpPr>
          <p:nvPr/>
        </p:nvSpPr>
        <p:spPr bwMode="auto">
          <a:xfrm rot="-5400000">
            <a:off x="-402431" y="4398169"/>
            <a:ext cx="2114550" cy="366712"/>
          </a:xfrm>
          <a:prstGeom prst="rect">
            <a:avLst/>
          </a:prstGeom>
          <a:noFill/>
          <a:ln w="9525">
            <a:noFill/>
            <a:miter lim="800000"/>
            <a:headEnd/>
            <a:tailEnd/>
          </a:ln>
        </p:spPr>
        <p:txBody>
          <a:bodyPr wrap="none">
            <a:spAutoFit/>
          </a:bodyPr>
          <a:lstStyle/>
          <a:p>
            <a:r>
              <a:rPr lang="en-US">
                <a:latin typeface="Calibri" pitchFamily="34" charset="0"/>
              </a:rPr>
              <a:t>From the plant root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685800" y="381000"/>
            <a:ext cx="7772400" cy="838200"/>
          </a:xfrm>
        </p:spPr>
        <p:txBody>
          <a:bodyPr/>
          <a:lstStyle/>
          <a:p>
            <a:pPr eaLnBrk="1" hangingPunct="1"/>
            <a:r>
              <a:rPr lang="en-US" smtClean="0"/>
              <a:t>Organic material in rhizosphere</a:t>
            </a:r>
          </a:p>
        </p:txBody>
      </p:sp>
      <p:sp>
        <p:nvSpPr>
          <p:cNvPr id="83971" name="Rectangle 3"/>
          <p:cNvSpPr>
            <a:spLocks noGrp="1" noChangeArrowheads="1"/>
          </p:cNvSpPr>
          <p:nvPr>
            <p:ph type="body" sz="half" idx="1"/>
          </p:nvPr>
        </p:nvSpPr>
        <p:spPr>
          <a:xfrm>
            <a:off x="304800" y="1295400"/>
            <a:ext cx="5334000" cy="5334000"/>
          </a:xfrm>
        </p:spPr>
        <p:txBody>
          <a:bodyPr/>
          <a:lstStyle/>
          <a:p>
            <a:pPr eaLnBrk="1" hangingPunct="1"/>
            <a:r>
              <a:rPr lang="en-US" sz="2800" smtClean="0"/>
              <a:t>Exudates</a:t>
            </a:r>
          </a:p>
          <a:p>
            <a:pPr lvl="1" eaLnBrk="1" hangingPunct="1"/>
            <a:r>
              <a:rPr lang="en-US" sz="2400" smtClean="0"/>
              <a:t>low molecular weight compounds released from plant cells in a non-metabolic manner (leakage)</a:t>
            </a:r>
          </a:p>
          <a:p>
            <a:pPr eaLnBrk="1" hangingPunct="1"/>
            <a:r>
              <a:rPr lang="en-US" sz="2800" smtClean="0"/>
              <a:t>Secretions</a:t>
            </a:r>
          </a:p>
          <a:p>
            <a:pPr lvl="1" eaLnBrk="1" hangingPunct="1"/>
            <a:r>
              <a:rPr lang="en-US" sz="2400" smtClean="0"/>
              <a:t>compounds metabolically released from plant cells</a:t>
            </a:r>
          </a:p>
          <a:p>
            <a:pPr eaLnBrk="1" hangingPunct="1"/>
            <a:r>
              <a:rPr lang="en-US" sz="2800" smtClean="0"/>
              <a:t>Lysates</a:t>
            </a:r>
          </a:p>
          <a:p>
            <a:pPr lvl="1" eaLnBrk="1" hangingPunct="1"/>
            <a:r>
              <a:rPr lang="en-US" sz="2400" smtClean="0"/>
              <a:t>compounds released from cells during autolysis</a:t>
            </a:r>
          </a:p>
          <a:p>
            <a:pPr eaLnBrk="1" hangingPunct="1"/>
            <a:r>
              <a:rPr lang="en-US" sz="2800" smtClean="0"/>
              <a:t>Plant mucilage</a:t>
            </a:r>
          </a:p>
          <a:p>
            <a:pPr lvl="1" eaLnBrk="1" hangingPunct="1"/>
            <a:r>
              <a:rPr lang="en-US" sz="2400" smtClean="0"/>
              <a:t>plant polysacchrides</a:t>
            </a:r>
          </a:p>
        </p:txBody>
      </p:sp>
      <p:grpSp>
        <p:nvGrpSpPr>
          <p:cNvPr id="2" name="Group 22"/>
          <p:cNvGrpSpPr>
            <a:grpSpLocks/>
          </p:cNvGrpSpPr>
          <p:nvPr/>
        </p:nvGrpSpPr>
        <p:grpSpPr bwMode="auto">
          <a:xfrm>
            <a:off x="5943600" y="1447800"/>
            <a:ext cx="2670175" cy="5029200"/>
            <a:chOff x="3216" y="960"/>
            <a:chExt cx="2018" cy="3048"/>
          </a:xfrm>
        </p:grpSpPr>
        <p:sp>
          <p:nvSpPr>
            <p:cNvPr id="83999" name="Freeform 6" descr="Newsprint"/>
            <p:cNvSpPr>
              <a:spLocks/>
            </p:cNvSpPr>
            <p:nvPr/>
          </p:nvSpPr>
          <p:spPr bwMode="auto">
            <a:xfrm>
              <a:off x="3216" y="960"/>
              <a:ext cx="2018" cy="3048"/>
            </a:xfrm>
            <a:custGeom>
              <a:avLst/>
              <a:gdLst>
                <a:gd name="T0" fmla="*/ 115 w 2018"/>
                <a:gd name="T1" fmla="*/ 77 h 3048"/>
                <a:gd name="T2" fmla="*/ 158 w 2018"/>
                <a:gd name="T3" fmla="*/ 205 h 3048"/>
                <a:gd name="T4" fmla="*/ 167 w 2018"/>
                <a:gd name="T5" fmla="*/ 497 h 3048"/>
                <a:gd name="T6" fmla="*/ 175 w 2018"/>
                <a:gd name="T7" fmla="*/ 540 h 3048"/>
                <a:gd name="T8" fmla="*/ 149 w 2018"/>
                <a:gd name="T9" fmla="*/ 574 h 3048"/>
                <a:gd name="T10" fmla="*/ 141 w 2018"/>
                <a:gd name="T11" fmla="*/ 1020 h 3048"/>
                <a:gd name="T12" fmla="*/ 115 w 2018"/>
                <a:gd name="T13" fmla="*/ 1285 h 3048"/>
                <a:gd name="T14" fmla="*/ 158 w 2018"/>
                <a:gd name="T15" fmla="*/ 1851 h 3048"/>
                <a:gd name="T16" fmla="*/ 167 w 2018"/>
                <a:gd name="T17" fmla="*/ 2177 h 3048"/>
                <a:gd name="T18" fmla="*/ 201 w 2018"/>
                <a:gd name="T19" fmla="*/ 2237 h 3048"/>
                <a:gd name="T20" fmla="*/ 269 w 2018"/>
                <a:gd name="T21" fmla="*/ 2374 h 3048"/>
                <a:gd name="T22" fmla="*/ 347 w 2018"/>
                <a:gd name="T23" fmla="*/ 2537 h 3048"/>
                <a:gd name="T24" fmla="*/ 407 w 2018"/>
                <a:gd name="T25" fmla="*/ 2674 h 3048"/>
                <a:gd name="T26" fmla="*/ 458 w 2018"/>
                <a:gd name="T27" fmla="*/ 2708 h 3048"/>
                <a:gd name="T28" fmla="*/ 484 w 2018"/>
                <a:gd name="T29" fmla="*/ 2734 h 3048"/>
                <a:gd name="T30" fmla="*/ 552 w 2018"/>
                <a:gd name="T31" fmla="*/ 2820 h 3048"/>
                <a:gd name="T32" fmla="*/ 681 w 2018"/>
                <a:gd name="T33" fmla="*/ 2922 h 3048"/>
                <a:gd name="T34" fmla="*/ 758 w 2018"/>
                <a:gd name="T35" fmla="*/ 2957 h 3048"/>
                <a:gd name="T36" fmla="*/ 818 w 2018"/>
                <a:gd name="T37" fmla="*/ 2991 h 3048"/>
                <a:gd name="T38" fmla="*/ 912 w 2018"/>
                <a:gd name="T39" fmla="*/ 3017 h 3048"/>
                <a:gd name="T40" fmla="*/ 1212 w 2018"/>
                <a:gd name="T41" fmla="*/ 2991 h 3048"/>
                <a:gd name="T42" fmla="*/ 1358 w 2018"/>
                <a:gd name="T43" fmla="*/ 2991 h 3048"/>
                <a:gd name="T44" fmla="*/ 1701 w 2018"/>
                <a:gd name="T45" fmla="*/ 2905 h 3048"/>
                <a:gd name="T46" fmla="*/ 1718 w 2018"/>
                <a:gd name="T47" fmla="*/ 2777 h 3048"/>
                <a:gd name="T48" fmla="*/ 1752 w 2018"/>
                <a:gd name="T49" fmla="*/ 2760 h 3048"/>
                <a:gd name="T50" fmla="*/ 1769 w 2018"/>
                <a:gd name="T51" fmla="*/ 2725 h 3048"/>
                <a:gd name="T52" fmla="*/ 1787 w 2018"/>
                <a:gd name="T53" fmla="*/ 2708 h 3048"/>
                <a:gd name="T54" fmla="*/ 1804 w 2018"/>
                <a:gd name="T55" fmla="*/ 2674 h 3048"/>
                <a:gd name="T56" fmla="*/ 1812 w 2018"/>
                <a:gd name="T57" fmla="*/ 2640 h 3048"/>
                <a:gd name="T58" fmla="*/ 1907 w 2018"/>
                <a:gd name="T59" fmla="*/ 2537 h 3048"/>
                <a:gd name="T60" fmla="*/ 1949 w 2018"/>
                <a:gd name="T61" fmla="*/ 2374 h 3048"/>
                <a:gd name="T62" fmla="*/ 1984 w 2018"/>
                <a:gd name="T63" fmla="*/ 2022 h 3048"/>
                <a:gd name="T64" fmla="*/ 2018 w 2018"/>
                <a:gd name="T65" fmla="*/ 1534 h 3048"/>
                <a:gd name="T66" fmla="*/ 1984 w 2018"/>
                <a:gd name="T67" fmla="*/ 1174 h 3048"/>
                <a:gd name="T68" fmla="*/ 1975 w 2018"/>
                <a:gd name="T69" fmla="*/ 334 h 3048"/>
                <a:gd name="T70" fmla="*/ 1829 w 2018"/>
                <a:gd name="T71" fmla="*/ 51 h 3048"/>
                <a:gd name="T72" fmla="*/ 1649 w 2018"/>
                <a:gd name="T73" fmla="*/ 17 h 3048"/>
                <a:gd name="T74" fmla="*/ 1152 w 2018"/>
                <a:gd name="T75" fmla="*/ 0 h 3048"/>
                <a:gd name="T76" fmla="*/ 587 w 2018"/>
                <a:gd name="T77" fmla="*/ 25 h 3048"/>
                <a:gd name="T78" fmla="*/ 304 w 2018"/>
                <a:gd name="T79" fmla="*/ 60 h 3048"/>
                <a:gd name="T80" fmla="*/ 115 w 2018"/>
                <a:gd name="T81" fmla="*/ 77 h 304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8"/>
                <a:gd name="T124" fmla="*/ 0 h 3048"/>
                <a:gd name="T125" fmla="*/ 2018 w 2018"/>
                <a:gd name="T126" fmla="*/ 3048 h 304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8" h="3048">
                  <a:moveTo>
                    <a:pt x="115" y="77"/>
                  </a:moveTo>
                  <a:cubicBezTo>
                    <a:pt x="130" y="119"/>
                    <a:pt x="143" y="163"/>
                    <a:pt x="158" y="205"/>
                  </a:cubicBezTo>
                  <a:cubicBezTo>
                    <a:pt x="161" y="302"/>
                    <a:pt x="162" y="400"/>
                    <a:pt x="167" y="497"/>
                  </a:cubicBezTo>
                  <a:cubicBezTo>
                    <a:pt x="168" y="512"/>
                    <a:pt x="178" y="526"/>
                    <a:pt x="175" y="540"/>
                  </a:cubicBezTo>
                  <a:cubicBezTo>
                    <a:pt x="172" y="554"/>
                    <a:pt x="158" y="563"/>
                    <a:pt x="149" y="574"/>
                  </a:cubicBezTo>
                  <a:cubicBezTo>
                    <a:pt x="118" y="741"/>
                    <a:pt x="135" y="774"/>
                    <a:pt x="141" y="1020"/>
                  </a:cubicBezTo>
                  <a:cubicBezTo>
                    <a:pt x="134" y="1171"/>
                    <a:pt x="142" y="1183"/>
                    <a:pt x="115" y="1285"/>
                  </a:cubicBezTo>
                  <a:cubicBezTo>
                    <a:pt x="118" y="1474"/>
                    <a:pt x="0" y="1747"/>
                    <a:pt x="158" y="1851"/>
                  </a:cubicBezTo>
                  <a:cubicBezTo>
                    <a:pt x="161" y="1960"/>
                    <a:pt x="159" y="2069"/>
                    <a:pt x="167" y="2177"/>
                  </a:cubicBezTo>
                  <a:cubicBezTo>
                    <a:pt x="169" y="2200"/>
                    <a:pt x="193" y="2216"/>
                    <a:pt x="201" y="2237"/>
                  </a:cubicBezTo>
                  <a:cubicBezTo>
                    <a:pt x="221" y="2287"/>
                    <a:pt x="221" y="2342"/>
                    <a:pt x="269" y="2374"/>
                  </a:cubicBezTo>
                  <a:cubicBezTo>
                    <a:pt x="288" y="2430"/>
                    <a:pt x="313" y="2489"/>
                    <a:pt x="347" y="2537"/>
                  </a:cubicBezTo>
                  <a:cubicBezTo>
                    <a:pt x="358" y="2585"/>
                    <a:pt x="368" y="2639"/>
                    <a:pt x="407" y="2674"/>
                  </a:cubicBezTo>
                  <a:cubicBezTo>
                    <a:pt x="422" y="2688"/>
                    <a:pt x="444" y="2694"/>
                    <a:pt x="458" y="2708"/>
                  </a:cubicBezTo>
                  <a:cubicBezTo>
                    <a:pt x="467" y="2717"/>
                    <a:pt x="475" y="2725"/>
                    <a:pt x="484" y="2734"/>
                  </a:cubicBezTo>
                  <a:cubicBezTo>
                    <a:pt x="497" y="2790"/>
                    <a:pt x="495" y="2800"/>
                    <a:pt x="552" y="2820"/>
                  </a:cubicBezTo>
                  <a:cubicBezTo>
                    <a:pt x="587" y="2865"/>
                    <a:pt x="626" y="2905"/>
                    <a:pt x="681" y="2922"/>
                  </a:cubicBezTo>
                  <a:cubicBezTo>
                    <a:pt x="706" y="2948"/>
                    <a:pt x="725" y="2944"/>
                    <a:pt x="758" y="2957"/>
                  </a:cubicBezTo>
                  <a:cubicBezTo>
                    <a:pt x="779" y="2965"/>
                    <a:pt x="796" y="2983"/>
                    <a:pt x="818" y="2991"/>
                  </a:cubicBezTo>
                  <a:cubicBezTo>
                    <a:pt x="848" y="3002"/>
                    <a:pt x="882" y="3006"/>
                    <a:pt x="912" y="3017"/>
                  </a:cubicBezTo>
                  <a:cubicBezTo>
                    <a:pt x="1015" y="3013"/>
                    <a:pt x="1113" y="3017"/>
                    <a:pt x="1212" y="2991"/>
                  </a:cubicBezTo>
                  <a:cubicBezTo>
                    <a:pt x="1259" y="2960"/>
                    <a:pt x="1307" y="2978"/>
                    <a:pt x="1358" y="2991"/>
                  </a:cubicBezTo>
                  <a:cubicBezTo>
                    <a:pt x="1498" y="2987"/>
                    <a:pt x="1651" y="3048"/>
                    <a:pt x="1701" y="2905"/>
                  </a:cubicBezTo>
                  <a:cubicBezTo>
                    <a:pt x="1707" y="2862"/>
                    <a:pt x="1704" y="2818"/>
                    <a:pt x="1718" y="2777"/>
                  </a:cubicBezTo>
                  <a:cubicBezTo>
                    <a:pt x="1722" y="2765"/>
                    <a:pt x="1743" y="2769"/>
                    <a:pt x="1752" y="2760"/>
                  </a:cubicBezTo>
                  <a:cubicBezTo>
                    <a:pt x="1761" y="2751"/>
                    <a:pt x="1762" y="2736"/>
                    <a:pt x="1769" y="2725"/>
                  </a:cubicBezTo>
                  <a:cubicBezTo>
                    <a:pt x="1774" y="2718"/>
                    <a:pt x="1781" y="2714"/>
                    <a:pt x="1787" y="2708"/>
                  </a:cubicBezTo>
                  <a:cubicBezTo>
                    <a:pt x="1793" y="2697"/>
                    <a:pt x="1800" y="2686"/>
                    <a:pt x="1804" y="2674"/>
                  </a:cubicBezTo>
                  <a:cubicBezTo>
                    <a:pt x="1808" y="2663"/>
                    <a:pt x="1807" y="2650"/>
                    <a:pt x="1812" y="2640"/>
                  </a:cubicBezTo>
                  <a:cubicBezTo>
                    <a:pt x="1830" y="2604"/>
                    <a:pt x="1874" y="2559"/>
                    <a:pt x="1907" y="2537"/>
                  </a:cubicBezTo>
                  <a:cubicBezTo>
                    <a:pt x="1920" y="2481"/>
                    <a:pt x="1932" y="2428"/>
                    <a:pt x="1949" y="2374"/>
                  </a:cubicBezTo>
                  <a:cubicBezTo>
                    <a:pt x="1958" y="2256"/>
                    <a:pt x="1966" y="2139"/>
                    <a:pt x="1984" y="2022"/>
                  </a:cubicBezTo>
                  <a:cubicBezTo>
                    <a:pt x="1989" y="1870"/>
                    <a:pt x="1967" y="1680"/>
                    <a:pt x="2018" y="1534"/>
                  </a:cubicBezTo>
                  <a:cubicBezTo>
                    <a:pt x="2010" y="1414"/>
                    <a:pt x="1996" y="1294"/>
                    <a:pt x="1984" y="1174"/>
                  </a:cubicBezTo>
                  <a:cubicBezTo>
                    <a:pt x="2018" y="897"/>
                    <a:pt x="1985" y="612"/>
                    <a:pt x="1975" y="334"/>
                  </a:cubicBezTo>
                  <a:cubicBezTo>
                    <a:pt x="1966" y="94"/>
                    <a:pt x="2018" y="79"/>
                    <a:pt x="1829" y="51"/>
                  </a:cubicBezTo>
                  <a:cubicBezTo>
                    <a:pt x="1769" y="29"/>
                    <a:pt x="1707" y="45"/>
                    <a:pt x="1649" y="17"/>
                  </a:cubicBezTo>
                  <a:cubicBezTo>
                    <a:pt x="1486" y="58"/>
                    <a:pt x="1313" y="49"/>
                    <a:pt x="1152" y="0"/>
                  </a:cubicBezTo>
                  <a:cubicBezTo>
                    <a:pt x="962" y="5"/>
                    <a:pt x="776" y="17"/>
                    <a:pt x="587" y="25"/>
                  </a:cubicBezTo>
                  <a:cubicBezTo>
                    <a:pt x="479" y="41"/>
                    <a:pt x="417" y="53"/>
                    <a:pt x="304" y="60"/>
                  </a:cubicBezTo>
                  <a:cubicBezTo>
                    <a:pt x="250" y="77"/>
                    <a:pt x="170" y="94"/>
                    <a:pt x="115" y="77"/>
                  </a:cubicBezTo>
                  <a:close/>
                </a:path>
              </a:pathLst>
            </a:custGeom>
            <a:blipFill dpi="0" rotWithShape="0">
              <a:blip r:embed="rId2"/>
              <a:srcRect/>
              <a:tile tx="0" ty="0" sx="100000" sy="100000" flip="none" algn="tl"/>
            </a:blipFill>
            <a:ln w="9525">
              <a:solidFill>
                <a:schemeClr val="tx1"/>
              </a:solidFill>
              <a:round/>
              <a:headEnd/>
              <a:tailEnd/>
            </a:ln>
          </p:spPr>
          <p:txBody>
            <a:bodyPr wrap="none" anchor="ctr"/>
            <a:lstStyle/>
            <a:p>
              <a:endParaRPr lang="en-US">
                <a:latin typeface="Calibri" pitchFamily="34" charset="0"/>
              </a:endParaRPr>
            </a:p>
          </p:txBody>
        </p:sp>
        <p:sp>
          <p:nvSpPr>
            <p:cNvPr id="84000" name="Freeform 7" descr="Granite"/>
            <p:cNvSpPr>
              <a:spLocks/>
            </p:cNvSpPr>
            <p:nvPr/>
          </p:nvSpPr>
          <p:spPr bwMode="auto">
            <a:xfrm>
              <a:off x="3818" y="1227"/>
              <a:ext cx="864" cy="2448"/>
            </a:xfrm>
            <a:custGeom>
              <a:avLst/>
              <a:gdLst>
                <a:gd name="T0" fmla="*/ 0 w 864"/>
                <a:gd name="T1" fmla="*/ 0 h 2448"/>
                <a:gd name="T2" fmla="*/ 48 w 864"/>
                <a:gd name="T3" fmla="*/ 2064 h 2448"/>
                <a:gd name="T4" fmla="*/ 336 w 864"/>
                <a:gd name="T5" fmla="*/ 2352 h 2448"/>
                <a:gd name="T6" fmla="*/ 624 w 864"/>
                <a:gd name="T7" fmla="*/ 2448 h 2448"/>
                <a:gd name="T8" fmla="*/ 720 w 864"/>
                <a:gd name="T9" fmla="*/ 2352 h 2448"/>
                <a:gd name="T10" fmla="*/ 816 w 864"/>
                <a:gd name="T11" fmla="*/ 2160 h 2448"/>
                <a:gd name="T12" fmla="*/ 864 w 864"/>
                <a:gd name="T13" fmla="*/ 1776 h 2448"/>
                <a:gd name="T14" fmla="*/ 864 w 864"/>
                <a:gd name="T15" fmla="*/ 0 h 2448"/>
                <a:gd name="T16" fmla="*/ 0 w 864"/>
                <a:gd name="T17" fmla="*/ 0 h 24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4"/>
                <a:gd name="T28" fmla="*/ 0 h 2448"/>
                <a:gd name="T29" fmla="*/ 864 w 864"/>
                <a:gd name="T30" fmla="*/ 2448 h 24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4" h="2448">
                  <a:moveTo>
                    <a:pt x="0" y="0"/>
                  </a:moveTo>
                  <a:lnTo>
                    <a:pt x="48" y="2064"/>
                  </a:lnTo>
                  <a:lnTo>
                    <a:pt x="336" y="2352"/>
                  </a:lnTo>
                  <a:lnTo>
                    <a:pt x="624" y="2448"/>
                  </a:lnTo>
                  <a:lnTo>
                    <a:pt x="720" y="2352"/>
                  </a:lnTo>
                  <a:lnTo>
                    <a:pt x="816" y="2160"/>
                  </a:lnTo>
                  <a:lnTo>
                    <a:pt x="864" y="1776"/>
                  </a:lnTo>
                  <a:lnTo>
                    <a:pt x="864" y="0"/>
                  </a:lnTo>
                  <a:lnTo>
                    <a:pt x="0" y="0"/>
                  </a:lnTo>
                  <a:close/>
                </a:path>
              </a:pathLst>
            </a:custGeom>
            <a:blipFill dpi="0" rotWithShape="0">
              <a:blip r:embed="rId3"/>
              <a:srcRect/>
              <a:tile tx="0" ty="0" sx="100000" sy="100000" flip="none" algn="tl"/>
            </a:blipFill>
            <a:ln w="9525">
              <a:solidFill>
                <a:schemeClr val="tx1"/>
              </a:solidFill>
              <a:round/>
              <a:headEnd/>
              <a:tailEnd/>
            </a:ln>
          </p:spPr>
          <p:txBody>
            <a:bodyPr wrap="none" anchor="ctr"/>
            <a:lstStyle/>
            <a:p>
              <a:endParaRPr lang="en-US">
                <a:latin typeface="Calibri" pitchFamily="34" charset="0"/>
              </a:endParaRPr>
            </a:p>
          </p:txBody>
        </p:sp>
        <p:sp>
          <p:nvSpPr>
            <p:cNvPr id="84001" name="Freeform 8"/>
            <p:cNvSpPr>
              <a:spLocks/>
            </p:cNvSpPr>
            <p:nvPr/>
          </p:nvSpPr>
          <p:spPr bwMode="auto">
            <a:xfrm>
              <a:off x="3962" y="1227"/>
              <a:ext cx="568" cy="2472"/>
            </a:xfrm>
            <a:custGeom>
              <a:avLst/>
              <a:gdLst>
                <a:gd name="T0" fmla="*/ 40 w 568"/>
                <a:gd name="T1" fmla="*/ 48 h 2472"/>
                <a:gd name="T2" fmla="*/ 40 w 568"/>
                <a:gd name="T3" fmla="*/ 1824 h 2472"/>
                <a:gd name="T4" fmla="*/ 280 w 568"/>
                <a:gd name="T5" fmla="*/ 2160 h 2472"/>
                <a:gd name="T6" fmla="*/ 520 w 568"/>
                <a:gd name="T7" fmla="*/ 2112 h 2472"/>
                <a:gd name="T8" fmla="*/ 568 w 568"/>
                <a:gd name="T9" fmla="*/ 0 h 2472"/>
                <a:gd name="T10" fmla="*/ 0 60000 65536"/>
                <a:gd name="T11" fmla="*/ 0 60000 65536"/>
                <a:gd name="T12" fmla="*/ 0 60000 65536"/>
                <a:gd name="T13" fmla="*/ 0 60000 65536"/>
                <a:gd name="T14" fmla="*/ 0 60000 65536"/>
                <a:gd name="T15" fmla="*/ 0 w 568"/>
                <a:gd name="T16" fmla="*/ 0 h 2472"/>
                <a:gd name="T17" fmla="*/ 568 w 568"/>
                <a:gd name="T18" fmla="*/ 2472 h 2472"/>
              </a:gdLst>
              <a:ahLst/>
              <a:cxnLst>
                <a:cxn ang="T10">
                  <a:pos x="T0" y="T1"/>
                </a:cxn>
                <a:cxn ang="T11">
                  <a:pos x="T2" y="T3"/>
                </a:cxn>
                <a:cxn ang="T12">
                  <a:pos x="T4" y="T5"/>
                </a:cxn>
                <a:cxn ang="T13">
                  <a:pos x="T6" y="T7"/>
                </a:cxn>
                <a:cxn ang="T14">
                  <a:pos x="T8" y="T9"/>
                </a:cxn>
              </a:cxnLst>
              <a:rect l="T15" t="T16" r="T17" b="T18"/>
              <a:pathLst>
                <a:path w="568" h="2472">
                  <a:moveTo>
                    <a:pt x="40" y="48"/>
                  </a:moveTo>
                  <a:cubicBezTo>
                    <a:pt x="20" y="760"/>
                    <a:pt x="0" y="1472"/>
                    <a:pt x="40" y="1824"/>
                  </a:cubicBezTo>
                  <a:cubicBezTo>
                    <a:pt x="80" y="2176"/>
                    <a:pt x="200" y="2112"/>
                    <a:pt x="280" y="2160"/>
                  </a:cubicBezTo>
                  <a:cubicBezTo>
                    <a:pt x="360" y="2208"/>
                    <a:pt x="472" y="2472"/>
                    <a:pt x="520" y="2112"/>
                  </a:cubicBezTo>
                  <a:cubicBezTo>
                    <a:pt x="568" y="1752"/>
                    <a:pt x="568" y="876"/>
                    <a:pt x="568" y="0"/>
                  </a:cubicBezTo>
                </a:path>
              </a:pathLst>
            </a:custGeom>
            <a:solidFill>
              <a:schemeClr val="bg1"/>
            </a:solidFill>
            <a:ln w="28575">
              <a:solidFill>
                <a:schemeClr val="tx1"/>
              </a:solidFill>
              <a:round/>
              <a:headEnd/>
              <a:tailEnd/>
            </a:ln>
          </p:spPr>
          <p:txBody>
            <a:bodyPr wrap="none" anchor="ctr"/>
            <a:lstStyle/>
            <a:p>
              <a:endParaRPr lang="en-US">
                <a:latin typeface="Calibri" pitchFamily="34" charset="0"/>
              </a:endParaRPr>
            </a:p>
          </p:txBody>
        </p:sp>
        <p:cxnSp>
          <p:nvCxnSpPr>
            <p:cNvPr id="84002" name="AutoShape 9"/>
            <p:cNvCxnSpPr>
              <a:cxnSpLocks noChangeShapeType="1"/>
              <a:stCxn id="84001" idx="0"/>
              <a:endCxn id="84001" idx="4"/>
            </p:cNvCxnSpPr>
            <p:nvPr/>
          </p:nvCxnSpPr>
          <p:spPr bwMode="auto">
            <a:xfrm flipV="1">
              <a:off x="4002" y="1218"/>
              <a:ext cx="528" cy="48"/>
            </a:xfrm>
            <a:prstGeom prst="straightConnector1">
              <a:avLst/>
            </a:prstGeom>
            <a:noFill/>
            <a:ln w="9525">
              <a:solidFill>
                <a:schemeClr val="tx1"/>
              </a:solidFill>
              <a:round/>
              <a:headEnd/>
              <a:tailEnd/>
            </a:ln>
          </p:spPr>
        </p:cxnSp>
        <p:sp>
          <p:nvSpPr>
            <p:cNvPr id="84003" name="Oval 10"/>
            <p:cNvSpPr>
              <a:spLocks noChangeArrowheads="1"/>
            </p:cNvSpPr>
            <p:nvPr/>
          </p:nvSpPr>
          <p:spPr bwMode="auto">
            <a:xfrm>
              <a:off x="4538" y="1467"/>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04" name="Oval 11"/>
            <p:cNvSpPr>
              <a:spLocks noChangeArrowheads="1"/>
            </p:cNvSpPr>
            <p:nvPr/>
          </p:nvSpPr>
          <p:spPr bwMode="auto">
            <a:xfrm>
              <a:off x="4538" y="1803"/>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05" name="Oval 12"/>
            <p:cNvSpPr>
              <a:spLocks noChangeArrowheads="1"/>
            </p:cNvSpPr>
            <p:nvPr/>
          </p:nvSpPr>
          <p:spPr bwMode="auto">
            <a:xfrm>
              <a:off x="4538" y="2091"/>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06" name="Oval 13"/>
            <p:cNvSpPr>
              <a:spLocks noChangeArrowheads="1"/>
            </p:cNvSpPr>
            <p:nvPr/>
          </p:nvSpPr>
          <p:spPr bwMode="auto">
            <a:xfrm>
              <a:off x="4538" y="2379"/>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07" name="Oval 14"/>
            <p:cNvSpPr>
              <a:spLocks noChangeArrowheads="1"/>
            </p:cNvSpPr>
            <p:nvPr/>
          </p:nvSpPr>
          <p:spPr bwMode="auto">
            <a:xfrm>
              <a:off x="4538" y="2667"/>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08" name="Oval 15"/>
            <p:cNvSpPr>
              <a:spLocks noChangeArrowheads="1"/>
            </p:cNvSpPr>
            <p:nvPr/>
          </p:nvSpPr>
          <p:spPr bwMode="auto">
            <a:xfrm>
              <a:off x="4538" y="2955"/>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09" name="Oval 16"/>
            <p:cNvSpPr>
              <a:spLocks noChangeArrowheads="1"/>
            </p:cNvSpPr>
            <p:nvPr/>
          </p:nvSpPr>
          <p:spPr bwMode="auto">
            <a:xfrm>
              <a:off x="3866" y="2955"/>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10" name="Oval 17"/>
            <p:cNvSpPr>
              <a:spLocks noChangeArrowheads="1"/>
            </p:cNvSpPr>
            <p:nvPr/>
          </p:nvSpPr>
          <p:spPr bwMode="auto">
            <a:xfrm>
              <a:off x="3866" y="2187"/>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11" name="Oval 18"/>
            <p:cNvSpPr>
              <a:spLocks noChangeArrowheads="1"/>
            </p:cNvSpPr>
            <p:nvPr/>
          </p:nvSpPr>
          <p:spPr bwMode="auto">
            <a:xfrm>
              <a:off x="3866" y="1707"/>
              <a:ext cx="96" cy="192"/>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12" name="Oval 19"/>
            <p:cNvSpPr>
              <a:spLocks noChangeArrowheads="1"/>
            </p:cNvSpPr>
            <p:nvPr/>
          </p:nvSpPr>
          <p:spPr bwMode="auto">
            <a:xfrm rot="1530248">
              <a:off x="4106" y="3435"/>
              <a:ext cx="192" cy="96"/>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84013" name="Oval 20"/>
            <p:cNvSpPr>
              <a:spLocks noChangeArrowheads="1"/>
            </p:cNvSpPr>
            <p:nvPr/>
          </p:nvSpPr>
          <p:spPr bwMode="auto">
            <a:xfrm rot="7181429" flipV="1">
              <a:off x="4367" y="3414"/>
              <a:ext cx="277" cy="127"/>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grpSp>
      <p:sp>
        <p:nvSpPr>
          <p:cNvPr id="83973" name="Oval 23"/>
          <p:cNvSpPr>
            <a:spLocks noChangeArrowheads="1"/>
          </p:cNvSpPr>
          <p:nvPr/>
        </p:nvSpPr>
        <p:spPr bwMode="auto">
          <a:xfrm>
            <a:off x="6553200" y="320040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83974" name="Oval 24"/>
          <p:cNvSpPr>
            <a:spLocks noChangeArrowheads="1"/>
          </p:cNvSpPr>
          <p:nvPr/>
        </p:nvSpPr>
        <p:spPr bwMode="auto">
          <a:xfrm>
            <a:off x="6705600" y="335280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83975" name="Oval 25"/>
          <p:cNvSpPr>
            <a:spLocks noChangeArrowheads="1"/>
          </p:cNvSpPr>
          <p:nvPr/>
        </p:nvSpPr>
        <p:spPr bwMode="auto">
          <a:xfrm>
            <a:off x="6858000" y="327660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83976" name="Oval 26"/>
          <p:cNvSpPr>
            <a:spLocks noChangeArrowheads="1"/>
          </p:cNvSpPr>
          <p:nvPr/>
        </p:nvSpPr>
        <p:spPr bwMode="auto">
          <a:xfrm>
            <a:off x="6400800" y="304800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83977" name="Oval 27"/>
          <p:cNvSpPr>
            <a:spLocks noChangeArrowheads="1"/>
          </p:cNvSpPr>
          <p:nvPr/>
        </p:nvSpPr>
        <p:spPr bwMode="auto">
          <a:xfrm>
            <a:off x="6553200" y="342900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83978" name="Oval 28"/>
          <p:cNvSpPr>
            <a:spLocks noChangeArrowheads="1"/>
          </p:cNvSpPr>
          <p:nvPr/>
        </p:nvSpPr>
        <p:spPr bwMode="auto">
          <a:xfrm>
            <a:off x="6858000" y="304800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83979" name="Line 29"/>
          <p:cNvSpPr>
            <a:spLocks noChangeShapeType="1"/>
          </p:cNvSpPr>
          <p:nvPr/>
        </p:nvSpPr>
        <p:spPr bwMode="auto">
          <a:xfrm>
            <a:off x="5410200" y="2514600"/>
            <a:ext cx="990600" cy="533400"/>
          </a:xfrm>
          <a:prstGeom prst="line">
            <a:avLst/>
          </a:prstGeom>
          <a:noFill/>
          <a:ln w="9525">
            <a:solidFill>
              <a:schemeClr val="tx1"/>
            </a:solidFill>
            <a:round/>
            <a:headEnd/>
            <a:tailEnd type="triangle" w="med" len="med"/>
          </a:ln>
        </p:spPr>
        <p:txBody>
          <a:bodyPr wrap="none" anchor="ctr"/>
          <a:lstStyle/>
          <a:p>
            <a:endParaRPr lang="en-US"/>
          </a:p>
        </p:txBody>
      </p:sp>
      <p:sp>
        <p:nvSpPr>
          <p:cNvPr id="83980" name="Oval 30"/>
          <p:cNvSpPr>
            <a:spLocks noChangeArrowheads="1"/>
          </p:cNvSpPr>
          <p:nvPr/>
        </p:nvSpPr>
        <p:spPr bwMode="auto">
          <a:xfrm>
            <a:off x="6553200" y="3886200"/>
            <a:ext cx="76200" cy="76200"/>
          </a:xfrm>
          <a:prstGeom prst="ellipse">
            <a:avLst/>
          </a:prstGeom>
          <a:solidFill>
            <a:schemeClr val="accent2"/>
          </a:solidFill>
          <a:ln w="9525">
            <a:solidFill>
              <a:schemeClr val="tx1"/>
            </a:solidFill>
            <a:round/>
            <a:headEnd/>
            <a:tailEnd/>
          </a:ln>
        </p:spPr>
        <p:txBody>
          <a:bodyPr wrap="none" anchor="ctr"/>
          <a:lstStyle/>
          <a:p>
            <a:endParaRPr lang="en-US">
              <a:latin typeface="Calibri" pitchFamily="34" charset="0"/>
            </a:endParaRPr>
          </a:p>
        </p:txBody>
      </p:sp>
      <p:sp>
        <p:nvSpPr>
          <p:cNvPr id="83981" name="Oval 31"/>
          <p:cNvSpPr>
            <a:spLocks noChangeArrowheads="1"/>
          </p:cNvSpPr>
          <p:nvPr/>
        </p:nvSpPr>
        <p:spPr bwMode="auto">
          <a:xfrm>
            <a:off x="6781800" y="3962400"/>
            <a:ext cx="76200" cy="76200"/>
          </a:xfrm>
          <a:prstGeom prst="ellipse">
            <a:avLst/>
          </a:prstGeom>
          <a:solidFill>
            <a:schemeClr val="accent2"/>
          </a:solidFill>
          <a:ln w="9525">
            <a:solidFill>
              <a:schemeClr val="tx1"/>
            </a:solidFill>
            <a:round/>
            <a:headEnd/>
            <a:tailEnd/>
          </a:ln>
        </p:spPr>
        <p:txBody>
          <a:bodyPr wrap="none" anchor="ctr"/>
          <a:lstStyle/>
          <a:p>
            <a:endParaRPr lang="en-US">
              <a:latin typeface="Calibri" pitchFamily="34" charset="0"/>
            </a:endParaRPr>
          </a:p>
        </p:txBody>
      </p:sp>
      <p:sp>
        <p:nvSpPr>
          <p:cNvPr id="83982" name="Oval 32"/>
          <p:cNvSpPr>
            <a:spLocks noChangeArrowheads="1"/>
          </p:cNvSpPr>
          <p:nvPr/>
        </p:nvSpPr>
        <p:spPr bwMode="auto">
          <a:xfrm>
            <a:off x="6629400" y="4114800"/>
            <a:ext cx="76200" cy="76200"/>
          </a:xfrm>
          <a:prstGeom prst="ellipse">
            <a:avLst/>
          </a:prstGeom>
          <a:solidFill>
            <a:schemeClr val="accent2"/>
          </a:solidFill>
          <a:ln w="9525">
            <a:solidFill>
              <a:schemeClr val="tx1"/>
            </a:solidFill>
            <a:round/>
            <a:headEnd/>
            <a:tailEnd/>
          </a:ln>
        </p:spPr>
        <p:txBody>
          <a:bodyPr wrap="none" anchor="ctr"/>
          <a:lstStyle/>
          <a:p>
            <a:endParaRPr lang="en-US">
              <a:latin typeface="Calibri" pitchFamily="34" charset="0"/>
            </a:endParaRPr>
          </a:p>
        </p:txBody>
      </p:sp>
      <p:sp>
        <p:nvSpPr>
          <p:cNvPr id="83983" name="Oval 33"/>
          <p:cNvSpPr>
            <a:spLocks noChangeArrowheads="1"/>
          </p:cNvSpPr>
          <p:nvPr/>
        </p:nvSpPr>
        <p:spPr bwMode="auto">
          <a:xfrm>
            <a:off x="6400800" y="4038600"/>
            <a:ext cx="76200" cy="76200"/>
          </a:xfrm>
          <a:prstGeom prst="ellipse">
            <a:avLst/>
          </a:prstGeom>
          <a:solidFill>
            <a:schemeClr val="accent2"/>
          </a:solidFill>
          <a:ln w="9525">
            <a:solidFill>
              <a:schemeClr val="tx1"/>
            </a:solidFill>
            <a:round/>
            <a:headEnd/>
            <a:tailEnd/>
          </a:ln>
        </p:spPr>
        <p:txBody>
          <a:bodyPr wrap="none" anchor="ctr"/>
          <a:lstStyle/>
          <a:p>
            <a:endParaRPr lang="en-US">
              <a:latin typeface="Calibri" pitchFamily="34" charset="0"/>
            </a:endParaRPr>
          </a:p>
        </p:txBody>
      </p:sp>
      <p:sp>
        <p:nvSpPr>
          <p:cNvPr id="83984" name="Oval 34"/>
          <p:cNvSpPr>
            <a:spLocks noChangeArrowheads="1"/>
          </p:cNvSpPr>
          <p:nvPr/>
        </p:nvSpPr>
        <p:spPr bwMode="auto">
          <a:xfrm>
            <a:off x="6858000" y="3810000"/>
            <a:ext cx="76200" cy="76200"/>
          </a:xfrm>
          <a:prstGeom prst="ellipse">
            <a:avLst/>
          </a:prstGeom>
          <a:solidFill>
            <a:schemeClr val="accent2"/>
          </a:solidFill>
          <a:ln w="9525">
            <a:solidFill>
              <a:schemeClr val="tx1"/>
            </a:solidFill>
            <a:round/>
            <a:headEnd/>
            <a:tailEnd/>
          </a:ln>
        </p:spPr>
        <p:txBody>
          <a:bodyPr wrap="none" anchor="ctr"/>
          <a:lstStyle/>
          <a:p>
            <a:endParaRPr lang="en-US">
              <a:latin typeface="Calibri" pitchFamily="34" charset="0"/>
            </a:endParaRPr>
          </a:p>
        </p:txBody>
      </p:sp>
      <p:sp>
        <p:nvSpPr>
          <p:cNvPr id="83985" name="Line 35"/>
          <p:cNvSpPr>
            <a:spLocks noChangeShapeType="1"/>
          </p:cNvSpPr>
          <p:nvPr/>
        </p:nvSpPr>
        <p:spPr bwMode="auto">
          <a:xfrm>
            <a:off x="5562600" y="3886200"/>
            <a:ext cx="838200" cy="152400"/>
          </a:xfrm>
          <a:prstGeom prst="line">
            <a:avLst/>
          </a:prstGeom>
          <a:noFill/>
          <a:ln w="9525">
            <a:solidFill>
              <a:schemeClr val="tx1"/>
            </a:solidFill>
            <a:round/>
            <a:headEnd/>
            <a:tailEnd type="triangle" w="med" len="med"/>
          </a:ln>
        </p:spPr>
        <p:txBody>
          <a:bodyPr wrap="none" anchor="ctr"/>
          <a:lstStyle/>
          <a:p>
            <a:endParaRPr lang="en-US"/>
          </a:p>
        </p:txBody>
      </p:sp>
      <p:sp>
        <p:nvSpPr>
          <p:cNvPr id="83986" name="Rectangle 36"/>
          <p:cNvSpPr>
            <a:spLocks noChangeArrowheads="1"/>
          </p:cNvSpPr>
          <p:nvPr/>
        </p:nvSpPr>
        <p:spPr bwMode="auto">
          <a:xfrm>
            <a:off x="7010400" y="4876800"/>
            <a:ext cx="152400" cy="304800"/>
          </a:xfrm>
          <a:prstGeom prst="rect">
            <a:avLst/>
          </a:prstGeom>
          <a:solidFill>
            <a:schemeClr val="bg2"/>
          </a:solidFill>
          <a:ln w="9525">
            <a:solidFill>
              <a:schemeClr val="tx1"/>
            </a:solidFill>
            <a:prstDash val="dash"/>
            <a:miter lim="800000"/>
            <a:headEnd/>
            <a:tailEnd/>
          </a:ln>
        </p:spPr>
        <p:txBody>
          <a:bodyPr wrap="none" anchor="ctr"/>
          <a:lstStyle/>
          <a:p>
            <a:endParaRPr lang="en-US">
              <a:latin typeface="Calibri" pitchFamily="34" charset="0"/>
            </a:endParaRPr>
          </a:p>
        </p:txBody>
      </p:sp>
      <p:sp>
        <p:nvSpPr>
          <p:cNvPr id="83987" name="Oval 37"/>
          <p:cNvSpPr>
            <a:spLocks noChangeArrowheads="1"/>
          </p:cNvSpPr>
          <p:nvPr/>
        </p:nvSpPr>
        <p:spPr bwMode="auto">
          <a:xfrm>
            <a:off x="6934200" y="51054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88" name="Oval 38"/>
          <p:cNvSpPr>
            <a:spLocks noChangeArrowheads="1"/>
          </p:cNvSpPr>
          <p:nvPr/>
        </p:nvSpPr>
        <p:spPr bwMode="auto">
          <a:xfrm>
            <a:off x="6934200" y="52578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89" name="Oval 39"/>
          <p:cNvSpPr>
            <a:spLocks noChangeArrowheads="1"/>
          </p:cNvSpPr>
          <p:nvPr/>
        </p:nvSpPr>
        <p:spPr bwMode="auto">
          <a:xfrm>
            <a:off x="6781800" y="51816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90" name="Oval 40"/>
          <p:cNvSpPr>
            <a:spLocks noChangeArrowheads="1"/>
          </p:cNvSpPr>
          <p:nvPr/>
        </p:nvSpPr>
        <p:spPr bwMode="auto">
          <a:xfrm>
            <a:off x="6781800" y="53340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91" name="Oval 41"/>
          <p:cNvSpPr>
            <a:spLocks noChangeArrowheads="1"/>
          </p:cNvSpPr>
          <p:nvPr/>
        </p:nvSpPr>
        <p:spPr bwMode="auto">
          <a:xfrm>
            <a:off x="6629400" y="52578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92" name="Oval 42"/>
          <p:cNvSpPr>
            <a:spLocks noChangeArrowheads="1"/>
          </p:cNvSpPr>
          <p:nvPr/>
        </p:nvSpPr>
        <p:spPr bwMode="auto">
          <a:xfrm>
            <a:off x="6629400" y="54864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93" name="Oval 43"/>
          <p:cNvSpPr>
            <a:spLocks noChangeArrowheads="1"/>
          </p:cNvSpPr>
          <p:nvPr/>
        </p:nvSpPr>
        <p:spPr bwMode="auto">
          <a:xfrm>
            <a:off x="6781800" y="5638800"/>
            <a:ext cx="76200" cy="762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3994" name="Freeform 44"/>
          <p:cNvSpPr>
            <a:spLocks/>
          </p:cNvSpPr>
          <p:nvPr/>
        </p:nvSpPr>
        <p:spPr bwMode="auto">
          <a:xfrm>
            <a:off x="7396163" y="5673725"/>
            <a:ext cx="87312" cy="449263"/>
          </a:xfrm>
          <a:custGeom>
            <a:avLst/>
            <a:gdLst>
              <a:gd name="T0" fmla="*/ 2147483647 w 55"/>
              <a:gd name="T1" fmla="*/ 0 h 283"/>
              <a:gd name="T2" fmla="*/ 2147483647 w 55"/>
              <a:gd name="T3" fmla="*/ 2147483647 h 283"/>
              <a:gd name="T4" fmla="*/ 2147483647 w 55"/>
              <a:gd name="T5" fmla="*/ 2147483647 h 283"/>
              <a:gd name="T6" fmla="*/ 2147483647 w 55"/>
              <a:gd name="T7" fmla="*/ 2147483647 h 283"/>
              <a:gd name="T8" fmla="*/ 2147483647 w 55"/>
              <a:gd name="T9" fmla="*/ 2147483647 h 283"/>
              <a:gd name="T10" fmla="*/ 0 60000 65536"/>
              <a:gd name="T11" fmla="*/ 0 60000 65536"/>
              <a:gd name="T12" fmla="*/ 0 60000 65536"/>
              <a:gd name="T13" fmla="*/ 0 60000 65536"/>
              <a:gd name="T14" fmla="*/ 0 60000 65536"/>
              <a:gd name="T15" fmla="*/ 0 w 55"/>
              <a:gd name="T16" fmla="*/ 0 h 283"/>
              <a:gd name="T17" fmla="*/ 55 w 55"/>
              <a:gd name="T18" fmla="*/ 283 h 283"/>
            </a:gdLst>
            <a:ahLst/>
            <a:cxnLst>
              <a:cxn ang="T10">
                <a:pos x="T0" y="T1"/>
              </a:cxn>
              <a:cxn ang="T11">
                <a:pos x="T2" y="T3"/>
              </a:cxn>
              <a:cxn ang="T12">
                <a:pos x="T4" y="T5"/>
              </a:cxn>
              <a:cxn ang="T13">
                <a:pos x="T6" y="T7"/>
              </a:cxn>
              <a:cxn ang="T14">
                <a:pos x="T8" y="T9"/>
              </a:cxn>
            </a:cxnLst>
            <a:rect l="T15" t="T16" r="T17" b="T18"/>
            <a:pathLst>
              <a:path w="55" h="283">
                <a:moveTo>
                  <a:pt x="30" y="0"/>
                </a:moveTo>
                <a:cubicBezTo>
                  <a:pt x="13" y="49"/>
                  <a:pt x="27" y="112"/>
                  <a:pt x="55" y="155"/>
                </a:cubicBezTo>
                <a:cubicBezTo>
                  <a:pt x="52" y="169"/>
                  <a:pt x="55" y="185"/>
                  <a:pt x="47" y="197"/>
                </a:cubicBezTo>
                <a:cubicBezTo>
                  <a:pt x="17" y="242"/>
                  <a:pt x="20" y="161"/>
                  <a:pt x="4" y="232"/>
                </a:cubicBezTo>
                <a:cubicBezTo>
                  <a:pt x="0" y="249"/>
                  <a:pt x="4" y="266"/>
                  <a:pt x="4" y="283"/>
                </a:cubicBezTo>
              </a:path>
            </a:pathLst>
          </a:custGeom>
          <a:noFill/>
          <a:ln w="28575">
            <a:solidFill>
              <a:schemeClr val="tx1"/>
            </a:solidFill>
            <a:round/>
            <a:headEnd/>
            <a:tailEnd/>
          </a:ln>
        </p:spPr>
        <p:txBody>
          <a:bodyPr wrap="none" anchor="ctr"/>
          <a:lstStyle/>
          <a:p>
            <a:endParaRPr lang="en-US">
              <a:latin typeface="Calibri" pitchFamily="34" charset="0"/>
            </a:endParaRPr>
          </a:p>
        </p:txBody>
      </p:sp>
      <p:sp>
        <p:nvSpPr>
          <p:cNvPr id="83995" name="Freeform 45"/>
          <p:cNvSpPr>
            <a:spLocks/>
          </p:cNvSpPr>
          <p:nvPr/>
        </p:nvSpPr>
        <p:spPr bwMode="auto">
          <a:xfrm>
            <a:off x="6953250" y="5400675"/>
            <a:ext cx="190500" cy="573088"/>
          </a:xfrm>
          <a:custGeom>
            <a:avLst/>
            <a:gdLst>
              <a:gd name="T0" fmla="*/ 2147483647 w 120"/>
              <a:gd name="T1" fmla="*/ 2147483647 h 361"/>
              <a:gd name="T2" fmla="*/ 2147483647 w 120"/>
              <a:gd name="T3" fmla="*/ 2147483647 h 361"/>
              <a:gd name="T4" fmla="*/ 2147483647 w 120"/>
              <a:gd name="T5" fmla="*/ 2147483647 h 361"/>
              <a:gd name="T6" fmla="*/ 0 w 120"/>
              <a:gd name="T7" fmla="*/ 2147483647 h 361"/>
              <a:gd name="T8" fmla="*/ 0 60000 65536"/>
              <a:gd name="T9" fmla="*/ 0 60000 65536"/>
              <a:gd name="T10" fmla="*/ 0 60000 65536"/>
              <a:gd name="T11" fmla="*/ 0 60000 65536"/>
              <a:gd name="T12" fmla="*/ 0 w 120"/>
              <a:gd name="T13" fmla="*/ 0 h 361"/>
              <a:gd name="T14" fmla="*/ 120 w 120"/>
              <a:gd name="T15" fmla="*/ 361 h 361"/>
            </a:gdLst>
            <a:ahLst/>
            <a:cxnLst>
              <a:cxn ang="T8">
                <a:pos x="T0" y="T1"/>
              </a:cxn>
              <a:cxn ang="T9">
                <a:pos x="T2" y="T3"/>
              </a:cxn>
              <a:cxn ang="T10">
                <a:pos x="T4" y="T5"/>
              </a:cxn>
              <a:cxn ang="T11">
                <a:pos x="T6" y="T7"/>
              </a:cxn>
            </a:cxnLst>
            <a:rect l="T12" t="T13" r="T14" b="T15"/>
            <a:pathLst>
              <a:path w="120" h="361">
                <a:moveTo>
                  <a:pt x="120" y="1"/>
                </a:moveTo>
                <a:cubicBezTo>
                  <a:pt x="55" y="99"/>
                  <a:pt x="109" y="0"/>
                  <a:pt x="77" y="147"/>
                </a:cubicBezTo>
                <a:cubicBezTo>
                  <a:pt x="73" y="166"/>
                  <a:pt x="57" y="180"/>
                  <a:pt x="51" y="198"/>
                </a:cubicBezTo>
                <a:cubicBezTo>
                  <a:pt x="66" y="283"/>
                  <a:pt x="57" y="304"/>
                  <a:pt x="0" y="361"/>
                </a:cubicBezTo>
              </a:path>
            </a:pathLst>
          </a:custGeom>
          <a:noFill/>
          <a:ln w="28575">
            <a:solidFill>
              <a:schemeClr val="tx1"/>
            </a:solidFill>
            <a:round/>
            <a:headEnd/>
            <a:tailEnd/>
          </a:ln>
        </p:spPr>
        <p:txBody>
          <a:bodyPr wrap="none" anchor="ctr"/>
          <a:lstStyle/>
          <a:p>
            <a:endParaRPr lang="en-US">
              <a:latin typeface="Calibri" pitchFamily="34" charset="0"/>
            </a:endParaRPr>
          </a:p>
        </p:txBody>
      </p:sp>
      <p:sp>
        <p:nvSpPr>
          <p:cNvPr id="83996" name="Freeform 46"/>
          <p:cNvSpPr>
            <a:spLocks/>
          </p:cNvSpPr>
          <p:nvPr/>
        </p:nvSpPr>
        <p:spPr bwMode="auto">
          <a:xfrm>
            <a:off x="7126288" y="5795963"/>
            <a:ext cx="303212" cy="190500"/>
          </a:xfrm>
          <a:custGeom>
            <a:avLst/>
            <a:gdLst>
              <a:gd name="T0" fmla="*/ 2147483647 w 191"/>
              <a:gd name="T1" fmla="*/ 0 h 120"/>
              <a:gd name="T2" fmla="*/ 2147483647 w 191"/>
              <a:gd name="T3" fmla="*/ 2147483647 h 120"/>
              <a:gd name="T4" fmla="*/ 2147483647 w 191"/>
              <a:gd name="T5" fmla="*/ 2147483647 h 120"/>
              <a:gd name="T6" fmla="*/ 2147483647 w 191"/>
              <a:gd name="T7" fmla="*/ 2147483647 h 120"/>
              <a:gd name="T8" fmla="*/ 2147483647 w 191"/>
              <a:gd name="T9" fmla="*/ 2147483647 h 120"/>
              <a:gd name="T10" fmla="*/ 0 60000 65536"/>
              <a:gd name="T11" fmla="*/ 0 60000 65536"/>
              <a:gd name="T12" fmla="*/ 0 60000 65536"/>
              <a:gd name="T13" fmla="*/ 0 60000 65536"/>
              <a:gd name="T14" fmla="*/ 0 60000 65536"/>
              <a:gd name="T15" fmla="*/ 0 w 191"/>
              <a:gd name="T16" fmla="*/ 0 h 120"/>
              <a:gd name="T17" fmla="*/ 191 w 191"/>
              <a:gd name="T18" fmla="*/ 120 h 120"/>
            </a:gdLst>
            <a:ahLst/>
            <a:cxnLst>
              <a:cxn ang="T10">
                <a:pos x="T0" y="T1"/>
              </a:cxn>
              <a:cxn ang="T11">
                <a:pos x="T2" y="T3"/>
              </a:cxn>
              <a:cxn ang="T12">
                <a:pos x="T4" y="T5"/>
              </a:cxn>
              <a:cxn ang="T13">
                <a:pos x="T6" y="T7"/>
              </a:cxn>
              <a:cxn ang="T14">
                <a:pos x="T8" y="T9"/>
              </a:cxn>
            </a:cxnLst>
            <a:rect l="T15" t="T16" r="T17" b="T18"/>
            <a:pathLst>
              <a:path w="191" h="120">
                <a:moveTo>
                  <a:pt x="191" y="0"/>
                </a:moveTo>
                <a:cubicBezTo>
                  <a:pt x="189" y="0"/>
                  <a:pt x="120" y="14"/>
                  <a:pt x="114" y="18"/>
                </a:cubicBezTo>
                <a:cubicBezTo>
                  <a:pt x="106" y="24"/>
                  <a:pt x="103" y="35"/>
                  <a:pt x="97" y="43"/>
                </a:cubicBezTo>
                <a:cubicBezTo>
                  <a:pt x="75" y="70"/>
                  <a:pt x="52" y="84"/>
                  <a:pt x="20" y="95"/>
                </a:cubicBezTo>
                <a:cubicBezTo>
                  <a:pt x="0" y="114"/>
                  <a:pt x="2" y="104"/>
                  <a:pt x="2" y="120"/>
                </a:cubicBezTo>
              </a:path>
            </a:pathLst>
          </a:custGeom>
          <a:noFill/>
          <a:ln w="28575">
            <a:solidFill>
              <a:schemeClr val="tx1"/>
            </a:solidFill>
            <a:round/>
            <a:headEnd/>
            <a:tailEnd/>
          </a:ln>
        </p:spPr>
        <p:txBody>
          <a:bodyPr wrap="none" anchor="ctr"/>
          <a:lstStyle/>
          <a:p>
            <a:endParaRPr lang="en-US">
              <a:latin typeface="Calibri" pitchFamily="34" charset="0"/>
            </a:endParaRPr>
          </a:p>
        </p:txBody>
      </p:sp>
      <p:sp>
        <p:nvSpPr>
          <p:cNvPr id="83997" name="Freeform 47"/>
          <p:cNvSpPr>
            <a:spLocks/>
          </p:cNvSpPr>
          <p:nvPr/>
        </p:nvSpPr>
        <p:spPr bwMode="auto">
          <a:xfrm>
            <a:off x="6653213" y="5510213"/>
            <a:ext cx="409575" cy="163512"/>
          </a:xfrm>
          <a:custGeom>
            <a:avLst/>
            <a:gdLst>
              <a:gd name="T0" fmla="*/ 2147483647 w 258"/>
              <a:gd name="T1" fmla="*/ 2147483647 h 103"/>
              <a:gd name="T2" fmla="*/ 2147483647 w 258"/>
              <a:gd name="T3" fmla="*/ 2147483647 h 103"/>
              <a:gd name="T4" fmla="*/ 2147483647 w 258"/>
              <a:gd name="T5" fmla="*/ 2147483647 h 103"/>
              <a:gd name="T6" fmla="*/ 2147483647 w 258"/>
              <a:gd name="T7" fmla="*/ 2147483647 h 103"/>
              <a:gd name="T8" fmla="*/ 2147483647 w 258"/>
              <a:gd name="T9" fmla="*/ 2147483647 h 103"/>
              <a:gd name="T10" fmla="*/ 2147483647 w 258"/>
              <a:gd name="T11" fmla="*/ 2147483647 h 103"/>
              <a:gd name="T12" fmla="*/ 0 w 258"/>
              <a:gd name="T13" fmla="*/ 2147483647 h 103"/>
              <a:gd name="T14" fmla="*/ 0 60000 65536"/>
              <a:gd name="T15" fmla="*/ 0 60000 65536"/>
              <a:gd name="T16" fmla="*/ 0 60000 65536"/>
              <a:gd name="T17" fmla="*/ 0 60000 65536"/>
              <a:gd name="T18" fmla="*/ 0 60000 65536"/>
              <a:gd name="T19" fmla="*/ 0 60000 65536"/>
              <a:gd name="T20" fmla="*/ 0 60000 65536"/>
              <a:gd name="T21" fmla="*/ 0 w 258"/>
              <a:gd name="T22" fmla="*/ 0 h 103"/>
              <a:gd name="T23" fmla="*/ 258 w 258"/>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8" h="103">
                <a:moveTo>
                  <a:pt x="258" y="35"/>
                </a:moveTo>
                <a:cubicBezTo>
                  <a:pt x="222" y="46"/>
                  <a:pt x="207" y="34"/>
                  <a:pt x="180" y="9"/>
                </a:cubicBezTo>
                <a:cubicBezTo>
                  <a:pt x="101" y="30"/>
                  <a:pt x="183" y="0"/>
                  <a:pt x="129" y="43"/>
                </a:cubicBezTo>
                <a:cubicBezTo>
                  <a:pt x="122" y="49"/>
                  <a:pt x="111" y="48"/>
                  <a:pt x="103" y="52"/>
                </a:cubicBezTo>
                <a:cubicBezTo>
                  <a:pt x="94" y="57"/>
                  <a:pt x="87" y="64"/>
                  <a:pt x="78" y="69"/>
                </a:cubicBezTo>
                <a:cubicBezTo>
                  <a:pt x="61" y="78"/>
                  <a:pt x="43" y="87"/>
                  <a:pt x="26" y="95"/>
                </a:cubicBezTo>
                <a:cubicBezTo>
                  <a:pt x="18" y="99"/>
                  <a:pt x="0" y="103"/>
                  <a:pt x="0" y="103"/>
                </a:cubicBezTo>
              </a:path>
            </a:pathLst>
          </a:custGeom>
          <a:noFill/>
          <a:ln w="28575">
            <a:solidFill>
              <a:schemeClr val="tx1"/>
            </a:solidFill>
            <a:round/>
            <a:headEnd/>
            <a:tailEnd/>
          </a:ln>
        </p:spPr>
        <p:txBody>
          <a:bodyPr wrap="none" anchor="ctr"/>
          <a:lstStyle/>
          <a:p>
            <a:endParaRPr lang="en-US">
              <a:latin typeface="Calibri" pitchFamily="34" charset="0"/>
            </a:endParaRPr>
          </a:p>
        </p:txBody>
      </p:sp>
      <p:sp>
        <p:nvSpPr>
          <p:cNvPr id="83998" name="Line 48"/>
          <p:cNvSpPr>
            <a:spLocks noChangeShapeType="1"/>
          </p:cNvSpPr>
          <p:nvPr/>
        </p:nvSpPr>
        <p:spPr bwMode="auto">
          <a:xfrm flipV="1">
            <a:off x="3733800" y="5867400"/>
            <a:ext cx="3276600" cy="381000"/>
          </a:xfrm>
          <a:prstGeom prst="line">
            <a:avLst/>
          </a:prstGeom>
          <a:noFill/>
          <a:ln w="9525">
            <a:solidFill>
              <a:schemeClr val="tx1"/>
            </a:solidFill>
            <a:round/>
            <a:headEnd/>
            <a:tailEnd type="triangle" w="med" len="med"/>
          </a:ln>
        </p:spPr>
        <p:txBody>
          <a:bodyPr wrap="none" anchor="ct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7"/>
          <p:cNvGraphicFramePr>
            <a:graphicFrameLocks noChangeAspect="1"/>
          </p:cNvGraphicFramePr>
          <p:nvPr/>
        </p:nvGraphicFramePr>
        <p:xfrm>
          <a:off x="0" y="1716088"/>
          <a:ext cx="6781800" cy="5060950"/>
        </p:xfrm>
        <a:graphic>
          <a:graphicData uri="http://schemas.openxmlformats.org/presentationml/2006/ole">
            <p:oleObj spid="_x0000_s541704" name="Slide" r:id="rId3" imgW="4533840" imgH="3390840" progId="PowerPoint.Slide.8">
              <p:embed/>
            </p:oleObj>
          </a:graphicData>
        </a:graphic>
      </p:graphicFrame>
      <p:sp>
        <p:nvSpPr>
          <p:cNvPr id="2051" name="Rectangle 2"/>
          <p:cNvSpPr>
            <a:spLocks noGrp="1" noChangeArrowheads="1"/>
          </p:cNvSpPr>
          <p:nvPr>
            <p:ph type="title"/>
          </p:nvPr>
        </p:nvSpPr>
        <p:spPr>
          <a:xfrm>
            <a:off x="152400" y="609600"/>
            <a:ext cx="5029200" cy="838200"/>
          </a:xfrm>
        </p:spPr>
        <p:txBody>
          <a:bodyPr rtlCol="0">
            <a:normAutofit fontScale="90000"/>
          </a:bodyPr>
          <a:lstStyle/>
          <a:p>
            <a:pPr eaLnBrk="1" fontAlgn="auto" hangingPunct="1">
              <a:spcAft>
                <a:spcPts val="0"/>
              </a:spcAft>
              <a:defRPr/>
            </a:pPr>
            <a:r>
              <a:rPr lang="en-US" smtClean="0"/>
              <a:t>Densities of microorganisms in rhizosphere</a:t>
            </a:r>
          </a:p>
        </p:txBody>
      </p:sp>
      <p:sp>
        <p:nvSpPr>
          <p:cNvPr id="1028" name="Freeform 5" descr="Newsprint"/>
          <p:cNvSpPr>
            <a:spLocks/>
          </p:cNvSpPr>
          <p:nvPr/>
        </p:nvSpPr>
        <p:spPr bwMode="auto">
          <a:xfrm>
            <a:off x="6248400" y="685800"/>
            <a:ext cx="2171700" cy="4000500"/>
          </a:xfrm>
          <a:custGeom>
            <a:avLst/>
            <a:gdLst>
              <a:gd name="T0" fmla="*/ 2147483647 w 2018"/>
              <a:gd name="T1" fmla="*/ 2147483647 h 3048"/>
              <a:gd name="T2" fmla="*/ 2147483647 w 2018"/>
              <a:gd name="T3" fmla="*/ 2147483647 h 3048"/>
              <a:gd name="T4" fmla="*/ 2147483647 w 2018"/>
              <a:gd name="T5" fmla="*/ 2147483647 h 3048"/>
              <a:gd name="T6" fmla="*/ 2147483647 w 2018"/>
              <a:gd name="T7" fmla="*/ 2147483647 h 3048"/>
              <a:gd name="T8" fmla="*/ 2147483647 w 2018"/>
              <a:gd name="T9" fmla="*/ 2147483647 h 3048"/>
              <a:gd name="T10" fmla="*/ 2147483647 w 2018"/>
              <a:gd name="T11" fmla="*/ 2147483647 h 3048"/>
              <a:gd name="T12" fmla="*/ 2147483647 w 2018"/>
              <a:gd name="T13" fmla="*/ 2147483647 h 3048"/>
              <a:gd name="T14" fmla="*/ 2147483647 w 2018"/>
              <a:gd name="T15" fmla="*/ 2147483647 h 3048"/>
              <a:gd name="T16" fmla="*/ 2147483647 w 2018"/>
              <a:gd name="T17" fmla="*/ 2147483647 h 3048"/>
              <a:gd name="T18" fmla="*/ 2147483647 w 2018"/>
              <a:gd name="T19" fmla="*/ 2147483647 h 3048"/>
              <a:gd name="T20" fmla="*/ 2147483647 w 2018"/>
              <a:gd name="T21" fmla="*/ 2147483647 h 3048"/>
              <a:gd name="T22" fmla="*/ 2147483647 w 2018"/>
              <a:gd name="T23" fmla="*/ 2147483647 h 3048"/>
              <a:gd name="T24" fmla="*/ 2147483647 w 2018"/>
              <a:gd name="T25" fmla="*/ 2147483647 h 3048"/>
              <a:gd name="T26" fmla="*/ 2147483647 w 2018"/>
              <a:gd name="T27" fmla="*/ 2147483647 h 3048"/>
              <a:gd name="T28" fmla="*/ 2147483647 w 2018"/>
              <a:gd name="T29" fmla="*/ 2147483647 h 3048"/>
              <a:gd name="T30" fmla="*/ 2147483647 w 2018"/>
              <a:gd name="T31" fmla="*/ 2147483647 h 3048"/>
              <a:gd name="T32" fmla="*/ 2147483647 w 2018"/>
              <a:gd name="T33" fmla="*/ 2147483647 h 3048"/>
              <a:gd name="T34" fmla="*/ 2147483647 w 2018"/>
              <a:gd name="T35" fmla="*/ 2147483647 h 3048"/>
              <a:gd name="T36" fmla="*/ 2147483647 w 2018"/>
              <a:gd name="T37" fmla="*/ 2147483647 h 3048"/>
              <a:gd name="T38" fmla="*/ 2147483647 w 2018"/>
              <a:gd name="T39" fmla="*/ 2147483647 h 3048"/>
              <a:gd name="T40" fmla="*/ 2147483647 w 2018"/>
              <a:gd name="T41" fmla="*/ 2147483647 h 3048"/>
              <a:gd name="T42" fmla="*/ 2147483647 w 2018"/>
              <a:gd name="T43" fmla="*/ 2147483647 h 3048"/>
              <a:gd name="T44" fmla="*/ 2147483647 w 2018"/>
              <a:gd name="T45" fmla="*/ 2147483647 h 3048"/>
              <a:gd name="T46" fmla="*/ 2147483647 w 2018"/>
              <a:gd name="T47" fmla="*/ 2147483647 h 3048"/>
              <a:gd name="T48" fmla="*/ 2147483647 w 2018"/>
              <a:gd name="T49" fmla="*/ 2147483647 h 3048"/>
              <a:gd name="T50" fmla="*/ 2147483647 w 2018"/>
              <a:gd name="T51" fmla="*/ 2147483647 h 3048"/>
              <a:gd name="T52" fmla="*/ 2147483647 w 2018"/>
              <a:gd name="T53" fmla="*/ 2147483647 h 3048"/>
              <a:gd name="T54" fmla="*/ 2147483647 w 2018"/>
              <a:gd name="T55" fmla="*/ 2147483647 h 3048"/>
              <a:gd name="T56" fmla="*/ 2147483647 w 2018"/>
              <a:gd name="T57" fmla="*/ 2147483647 h 3048"/>
              <a:gd name="T58" fmla="*/ 2147483647 w 2018"/>
              <a:gd name="T59" fmla="*/ 2147483647 h 3048"/>
              <a:gd name="T60" fmla="*/ 2147483647 w 2018"/>
              <a:gd name="T61" fmla="*/ 2147483647 h 3048"/>
              <a:gd name="T62" fmla="*/ 2147483647 w 2018"/>
              <a:gd name="T63" fmla="*/ 2147483647 h 3048"/>
              <a:gd name="T64" fmla="*/ 2147483647 w 2018"/>
              <a:gd name="T65" fmla="*/ 2147483647 h 3048"/>
              <a:gd name="T66" fmla="*/ 2147483647 w 2018"/>
              <a:gd name="T67" fmla="*/ 2147483647 h 3048"/>
              <a:gd name="T68" fmla="*/ 2147483647 w 2018"/>
              <a:gd name="T69" fmla="*/ 2147483647 h 3048"/>
              <a:gd name="T70" fmla="*/ 2147483647 w 2018"/>
              <a:gd name="T71" fmla="*/ 2147483647 h 3048"/>
              <a:gd name="T72" fmla="*/ 2147483647 w 2018"/>
              <a:gd name="T73" fmla="*/ 2147483647 h 3048"/>
              <a:gd name="T74" fmla="*/ 2147483647 w 2018"/>
              <a:gd name="T75" fmla="*/ 0 h 3048"/>
              <a:gd name="T76" fmla="*/ 2147483647 w 2018"/>
              <a:gd name="T77" fmla="*/ 2147483647 h 3048"/>
              <a:gd name="T78" fmla="*/ 2147483647 w 2018"/>
              <a:gd name="T79" fmla="*/ 2147483647 h 3048"/>
              <a:gd name="T80" fmla="*/ 2147483647 w 2018"/>
              <a:gd name="T81" fmla="*/ 2147483647 h 304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8"/>
              <a:gd name="T124" fmla="*/ 0 h 3048"/>
              <a:gd name="T125" fmla="*/ 2018 w 2018"/>
              <a:gd name="T126" fmla="*/ 3048 h 304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8" h="3048">
                <a:moveTo>
                  <a:pt x="115" y="77"/>
                </a:moveTo>
                <a:cubicBezTo>
                  <a:pt x="130" y="119"/>
                  <a:pt x="143" y="163"/>
                  <a:pt x="158" y="205"/>
                </a:cubicBezTo>
                <a:cubicBezTo>
                  <a:pt x="161" y="302"/>
                  <a:pt x="162" y="400"/>
                  <a:pt x="167" y="497"/>
                </a:cubicBezTo>
                <a:cubicBezTo>
                  <a:pt x="168" y="512"/>
                  <a:pt x="178" y="526"/>
                  <a:pt x="175" y="540"/>
                </a:cubicBezTo>
                <a:cubicBezTo>
                  <a:pt x="172" y="554"/>
                  <a:pt x="158" y="563"/>
                  <a:pt x="149" y="574"/>
                </a:cubicBezTo>
                <a:cubicBezTo>
                  <a:pt x="118" y="741"/>
                  <a:pt x="135" y="774"/>
                  <a:pt x="141" y="1020"/>
                </a:cubicBezTo>
                <a:cubicBezTo>
                  <a:pt x="134" y="1171"/>
                  <a:pt x="142" y="1183"/>
                  <a:pt x="115" y="1285"/>
                </a:cubicBezTo>
                <a:cubicBezTo>
                  <a:pt x="118" y="1474"/>
                  <a:pt x="0" y="1747"/>
                  <a:pt x="158" y="1851"/>
                </a:cubicBezTo>
                <a:cubicBezTo>
                  <a:pt x="161" y="1960"/>
                  <a:pt x="159" y="2069"/>
                  <a:pt x="167" y="2177"/>
                </a:cubicBezTo>
                <a:cubicBezTo>
                  <a:pt x="169" y="2200"/>
                  <a:pt x="193" y="2216"/>
                  <a:pt x="201" y="2237"/>
                </a:cubicBezTo>
                <a:cubicBezTo>
                  <a:pt x="221" y="2287"/>
                  <a:pt x="221" y="2342"/>
                  <a:pt x="269" y="2374"/>
                </a:cubicBezTo>
                <a:cubicBezTo>
                  <a:pt x="288" y="2430"/>
                  <a:pt x="313" y="2489"/>
                  <a:pt x="347" y="2537"/>
                </a:cubicBezTo>
                <a:cubicBezTo>
                  <a:pt x="358" y="2585"/>
                  <a:pt x="368" y="2639"/>
                  <a:pt x="407" y="2674"/>
                </a:cubicBezTo>
                <a:cubicBezTo>
                  <a:pt x="422" y="2688"/>
                  <a:pt x="444" y="2694"/>
                  <a:pt x="458" y="2708"/>
                </a:cubicBezTo>
                <a:cubicBezTo>
                  <a:pt x="467" y="2717"/>
                  <a:pt x="475" y="2725"/>
                  <a:pt x="484" y="2734"/>
                </a:cubicBezTo>
                <a:cubicBezTo>
                  <a:pt x="497" y="2790"/>
                  <a:pt x="495" y="2800"/>
                  <a:pt x="552" y="2820"/>
                </a:cubicBezTo>
                <a:cubicBezTo>
                  <a:pt x="587" y="2865"/>
                  <a:pt x="626" y="2905"/>
                  <a:pt x="681" y="2922"/>
                </a:cubicBezTo>
                <a:cubicBezTo>
                  <a:pt x="706" y="2948"/>
                  <a:pt x="725" y="2944"/>
                  <a:pt x="758" y="2957"/>
                </a:cubicBezTo>
                <a:cubicBezTo>
                  <a:pt x="779" y="2965"/>
                  <a:pt x="796" y="2983"/>
                  <a:pt x="818" y="2991"/>
                </a:cubicBezTo>
                <a:cubicBezTo>
                  <a:pt x="848" y="3002"/>
                  <a:pt x="882" y="3006"/>
                  <a:pt x="912" y="3017"/>
                </a:cubicBezTo>
                <a:cubicBezTo>
                  <a:pt x="1015" y="3013"/>
                  <a:pt x="1113" y="3017"/>
                  <a:pt x="1212" y="2991"/>
                </a:cubicBezTo>
                <a:cubicBezTo>
                  <a:pt x="1259" y="2960"/>
                  <a:pt x="1307" y="2978"/>
                  <a:pt x="1358" y="2991"/>
                </a:cubicBezTo>
                <a:cubicBezTo>
                  <a:pt x="1498" y="2987"/>
                  <a:pt x="1651" y="3048"/>
                  <a:pt x="1701" y="2905"/>
                </a:cubicBezTo>
                <a:cubicBezTo>
                  <a:pt x="1707" y="2862"/>
                  <a:pt x="1704" y="2818"/>
                  <a:pt x="1718" y="2777"/>
                </a:cubicBezTo>
                <a:cubicBezTo>
                  <a:pt x="1722" y="2765"/>
                  <a:pt x="1743" y="2769"/>
                  <a:pt x="1752" y="2760"/>
                </a:cubicBezTo>
                <a:cubicBezTo>
                  <a:pt x="1761" y="2751"/>
                  <a:pt x="1762" y="2736"/>
                  <a:pt x="1769" y="2725"/>
                </a:cubicBezTo>
                <a:cubicBezTo>
                  <a:pt x="1774" y="2718"/>
                  <a:pt x="1781" y="2714"/>
                  <a:pt x="1787" y="2708"/>
                </a:cubicBezTo>
                <a:cubicBezTo>
                  <a:pt x="1793" y="2697"/>
                  <a:pt x="1800" y="2686"/>
                  <a:pt x="1804" y="2674"/>
                </a:cubicBezTo>
                <a:cubicBezTo>
                  <a:pt x="1808" y="2663"/>
                  <a:pt x="1807" y="2650"/>
                  <a:pt x="1812" y="2640"/>
                </a:cubicBezTo>
                <a:cubicBezTo>
                  <a:pt x="1830" y="2604"/>
                  <a:pt x="1874" y="2559"/>
                  <a:pt x="1907" y="2537"/>
                </a:cubicBezTo>
                <a:cubicBezTo>
                  <a:pt x="1920" y="2481"/>
                  <a:pt x="1932" y="2428"/>
                  <a:pt x="1949" y="2374"/>
                </a:cubicBezTo>
                <a:cubicBezTo>
                  <a:pt x="1958" y="2256"/>
                  <a:pt x="1966" y="2139"/>
                  <a:pt x="1984" y="2022"/>
                </a:cubicBezTo>
                <a:cubicBezTo>
                  <a:pt x="1989" y="1870"/>
                  <a:pt x="1967" y="1680"/>
                  <a:pt x="2018" y="1534"/>
                </a:cubicBezTo>
                <a:cubicBezTo>
                  <a:pt x="2010" y="1414"/>
                  <a:pt x="1996" y="1294"/>
                  <a:pt x="1984" y="1174"/>
                </a:cubicBezTo>
                <a:cubicBezTo>
                  <a:pt x="2018" y="897"/>
                  <a:pt x="1985" y="612"/>
                  <a:pt x="1975" y="334"/>
                </a:cubicBezTo>
                <a:cubicBezTo>
                  <a:pt x="1966" y="94"/>
                  <a:pt x="2018" y="79"/>
                  <a:pt x="1829" y="51"/>
                </a:cubicBezTo>
                <a:cubicBezTo>
                  <a:pt x="1769" y="29"/>
                  <a:pt x="1707" y="45"/>
                  <a:pt x="1649" y="17"/>
                </a:cubicBezTo>
                <a:cubicBezTo>
                  <a:pt x="1486" y="58"/>
                  <a:pt x="1313" y="49"/>
                  <a:pt x="1152" y="0"/>
                </a:cubicBezTo>
                <a:cubicBezTo>
                  <a:pt x="962" y="5"/>
                  <a:pt x="776" y="17"/>
                  <a:pt x="587" y="25"/>
                </a:cubicBezTo>
                <a:cubicBezTo>
                  <a:pt x="479" y="41"/>
                  <a:pt x="417" y="53"/>
                  <a:pt x="304" y="60"/>
                </a:cubicBezTo>
                <a:cubicBezTo>
                  <a:pt x="250" y="77"/>
                  <a:pt x="170" y="94"/>
                  <a:pt x="115" y="77"/>
                </a:cubicBezTo>
                <a:close/>
              </a:path>
            </a:pathLst>
          </a:custGeom>
          <a:blipFill dpi="0" rotWithShape="0">
            <a:blip r:embed="rId4"/>
            <a:srcRect/>
            <a:tile tx="0" ty="0" sx="100000" sy="100000" flip="none" algn="tl"/>
          </a:blipFill>
          <a:ln w="9525">
            <a:solidFill>
              <a:schemeClr val="tx1"/>
            </a:solidFill>
            <a:round/>
            <a:headEnd/>
            <a:tailEnd/>
          </a:ln>
        </p:spPr>
        <p:txBody>
          <a:bodyPr wrap="none" anchor="ctr"/>
          <a:lstStyle/>
          <a:p>
            <a:endParaRPr lang="en-US">
              <a:latin typeface="Calibri" pitchFamily="34" charset="0"/>
            </a:endParaRPr>
          </a:p>
        </p:txBody>
      </p:sp>
      <p:grpSp>
        <p:nvGrpSpPr>
          <p:cNvPr id="2" name="Group 25"/>
          <p:cNvGrpSpPr>
            <a:grpSpLocks/>
          </p:cNvGrpSpPr>
          <p:nvPr/>
        </p:nvGrpSpPr>
        <p:grpSpPr bwMode="auto">
          <a:xfrm>
            <a:off x="6934200" y="685800"/>
            <a:ext cx="930275" cy="3257550"/>
            <a:chOff x="4392" y="1413"/>
            <a:chExt cx="586" cy="2052"/>
          </a:xfrm>
        </p:grpSpPr>
        <p:sp>
          <p:nvSpPr>
            <p:cNvPr id="1032" name="Freeform 6" descr="Granite"/>
            <p:cNvSpPr>
              <a:spLocks/>
            </p:cNvSpPr>
            <p:nvPr/>
          </p:nvSpPr>
          <p:spPr bwMode="auto">
            <a:xfrm>
              <a:off x="4392" y="1421"/>
              <a:ext cx="586" cy="2024"/>
            </a:xfrm>
            <a:custGeom>
              <a:avLst/>
              <a:gdLst>
                <a:gd name="T0" fmla="*/ 0 w 864"/>
                <a:gd name="T1" fmla="*/ 0 h 2448"/>
                <a:gd name="T2" fmla="*/ 1 w 864"/>
                <a:gd name="T3" fmla="*/ 21 h 2448"/>
                <a:gd name="T4" fmla="*/ 1 w 864"/>
                <a:gd name="T5" fmla="*/ 25 h 2448"/>
                <a:gd name="T6" fmla="*/ 1 w 864"/>
                <a:gd name="T7" fmla="*/ 26 h 2448"/>
                <a:gd name="T8" fmla="*/ 1 w 864"/>
                <a:gd name="T9" fmla="*/ 25 h 2448"/>
                <a:gd name="T10" fmla="*/ 1 w 864"/>
                <a:gd name="T11" fmla="*/ 22 h 2448"/>
                <a:gd name="T12" fmla="*/ 1 w 864"/>
                <a:gd name="T13" fmla="*/ 18 h 2448"/>
                <a:gd name="T14" fmla="*/ 1 w 864"/>
                <a:gd name="T15" fmla="*/ 0 h 2448"/>
                <a:gd name="T16" fmla="*/ 0 w 864"/>
                <a:gd name="T17" fmla="*/ 0 h 24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64"/>
                <a:gd name="T28" fmla="*/ 0 h 2448"/>
                <a:gd name="T29" fmla="*/ 864 w 864"/>
                <a:gd name="T30" fmla="*/ 2448 h 24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64" h="2448">
                  <a:moveTo>
                    <a:pt x="0" y="0"/>
                  </a:moveTo>
                  <a:lnTo>
                    <a:pt x="48" y="2064"/>
                  </a:lnTo>
                  <a:lnTo>
                    <a:pt x="336" y="2352"/>
                  </a:lnTo>
                  <a:lnTo>
                    <a:pt x="624" y="2448"/>
                  </a:lnTo>
                  <a:lnTo>
                    <a:pt x="720" y="2352"/>
                  </a:lnTo>
                  <a:lnTo>
                    <a:pt x="816" y="2160"/>
                  </a:lnTo>
                  <a:lnTo>
                    <a:pt x="864" y="1776"/>
                  </a:lnTo>
                  <a:lnTo>
                    <a:pt x="864" y="0"/>
                  </a:lnTo>
                  <a:lnTo>
                    <a:pt x="0" y="0"/>
                  </a:lnTo>
                  <a:close/>
                </a:path>
              </a:pathLst>
            </a:custGeom>
            <a:blipFill dpi="0" rotWithShape="0">
              <a:blip r:embed="rId5"/>
              <a:srcRect/>
              <a:tile tx="0" ty="0" sx="100000" sy="100000" flip="none" algn="tl"/>
            </a:blipFill>
            <a:ln w="9525">
              <a:solidFill>
                <a:schemeClr val="tx1"/>
              </a:solidFill>
              <a:round/>
              <a:headEnd/>
              <a:tailEnd/>
            </a:ln>
          </p:spPr>
          <p:txBody>
            <a:bodyPr wrap="none" anchor="ctr"/>
            <a:lstStyle/>
            <a:p>
              <a:endParaRPr lang="en-US">
                <a:latin typeface="Calibri" pitchFamily="34" charset="0"/>
              </a:endParaRPr>
            </a:p>
          </p:txBody>
        </p:sp>
        <p:sp>
          <p:nvSpPr>
            <p:cNvPr id="1033" name="Freeform 7"/>
            <p:cNvSpPr>
              <a:spLocks/>
            </p:cNvSpPr>
            <p:nvPr/>
          </p:nvSpPr>
          <p:spPr bwMode="auto">
            <a:xfrm>
              <a:off x="4490" y="1421"/>
              <a:ext cx="385" cy="2044"/>
            </a:xfrm>
            <a:custGeom>
              <a:avLst/>
              <a:gdLst>
                <a:gd name="T0" fmla="*/ 1 w 568"/>
                <a:gd name="T1" fmla="*/ 2 h 2472"/>
                <a:gd name="T2" fmla="*/ 1 w 568"/>
                <a:gd name="T3" fmla="*/ 19 h 2472"/>
                <a:gd name="T4" fmla="*/ 1 w 568"/>
                <a:gd name="T5" fmla="*/ 22 h 2472"/>
                <a:gd name="T6" fmla="*/ 1 w 568"/>
                <a:gd name="T7" fmla="*/ 21 h 2472"/>
                <a:gd name="T8" fmla="*/ 1 w 568"/>
                <a:gd name="T9" fmla="*/ 0 h 2472"/>
                <a:gd name="T10" fmla="*/ 0 60000 65536"/>
                <a:gd name="T11" fmla="*/ 0 60000 65536"/>
                <a:gd name="T12" fmla="*/ 0 60000 65536"/>
                <a:gd name="T13" fmla="*/ 0 60000 65536"/>
                <a:gd name="T14" fmla="*/ 0 60000 65536"/>
                <a:gd name="T15" fmla="*/ 0 w 568"/>
                <a:gd name="T16" fmla="*/ 0 h 2472"/>
                <a:gd name="T17" fmla="*/ 568 w 568"/>
                <a:gd name="T18" fmla="*/ 2472 h 2472"/>
              </a:gdLst>
              <a:ahLst/>
              <a:cxnLst>
                <a:cxn ang="T10">
                  <a:pos x="T0" y="T1"/>
                </a:cxn>
                <a:cxn ang="T11">
                  <a:pos x="T2" y="T3"/>
                </a:cxn>
                <a:cxn ang="T12">
                  <a:pos x="T4" y="T5"/>
                </a:cxn>
                <a:cxn ang="T13">
                  <a:pos x="T6" y="T7"/>
                </a:cxn>
                <a:cxn ang="T14">
                  <a:pos x="T8" y="T9"/>
                </a:cxn>
              </a:cxnLst>
              <a:rect l="T15" t="T16" r="T17" b="T18"/>
              <a:pathLst>
                <a:path w="568" h="2472">
                  <a:moveTo>
                    <a:pt x="40" y="48"/>
                  </a:moveTo>
                  <a:cubicBezTo>
                    <a:pt x="20" y="760"/>
                    <a:pt x="0" y="1472"/>
                    <a:pt x="40" y="1824"/>
                  </a:cubicBezTo>
                  <a:cubicBezTo>
                    <a:pt x="80" y="2176"/>
                    <a:pt x="200" y="2112"/>
                    <a:pt x="280" y="2160"/>
                  </a:cubicBezTo>
                  <a:cubicBezTo>
                    <a:pt x="360" y="2208"/>
                    <a:pt x="472" y="2472"/>
                    <a:pt x="520" y="2112"/>
                  </a:cubicBezTo>
                  <a:cubicBezTo>
                    <a:pt x="568" y="1752"/>
                    <a:pt x="568" y="876"/>
                    <a:pt x="568" y="0"/>
                  </a:cubicBezTo>
                </a:path>
              </a:pathLst>
            </a:custGeom>
            <a:solidFill>
              <a:schemeClr val="bg1"/>
            </a:solidFill>
            <a:ln w="28575">
              <a:solidFill>
                <a:schemeClr val="tx1"/>
              </a:solidFill>
              <a:round/>
              <a:headEnd/>
              <a:tailEnd/>
            </a:ln>
          </p:spPr>
          <p:txBody>
            <a:bodyPr wrap="none" anchor="ctr"/>
            <a:lstStyle/>
            <a:p>
              <a:endParaRPr lang="en-US">
                <a:latin typeface="Calibri" pitchFamily="34" charset="0"/>
              </a:endParaRPr>
            </a:p>
          </p:txBody>
        </p:sp>
        <p:cxnSp>
          <p:nvCxnSpPr>
            <p:cNvPr id="1034" name="AutoShape 8"/>
            <p:cNvCxnSpPr>
              <a:cxnSpLocks noChangeShapeType="1"/>
              <a:stCxn id="1033" idx="0"/>
              <a:endCxn id="1033" idx="4"/>
            </p:cNvCxnSpPr>
            <p:nvPr/>
          </p:nvCxnSpPr>
          <p:spPr bwMode="auto">
            <a:xfrm flipV="1">
              <a:off x="4517" y="1413"/>
              <a:ext cx="358" cy="40"/>
            </a:xfrm>
            <a:prstGeom prst="straightConnector1">
              <a:avLst/>
            </a:prstGeom>
            <a:noFill/>
            <a:ln w="9525">
              <a:solidFill>
                <a:schemeClr val="tx1"/>
              </a:solidFill>
              <a:round/>
              <a:headEnd/>
              <a:tailEnd/>
            </a:ln>
          </p:spPr>
        </p:cxnSp>
        <p:sp>
          <p:nvSpPr>
            <p:cNvPr id="1035" name="Oval 9"/>
            <p:cNvSpPr>
              <a:spLocks noChangeArrowheads="1"/>
            </p:cNvSpPr>
            <p:nvPr/>
          </p:nvSpPr>
          <p:spPr bwMode="auto">
            <a:xfrm>
              <a:off x="4880" y="1619"/>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36" name="Oval 10"/>
            <p:cNvSpPr>
              <a:spLocks noChangeArrowheads="1"/>
            </p:cNvSpPr>
            <p:nvPr/>
          </p:nvSpPr>
          <p:spPr bwMode="auto">
            <a:xfrm>
              <a:off x="4880" y="1897"/>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37" name="Oval 11"/>
            <p:cNvSpPr>
              <a:spLocks noChangeArrowheads="1"/>
            </p:cNvSpPr>
            <p:nvPr/>
          </p:nvSpPr>
          <p:spPr bwMode="auto">
            <a:xfrm>
              <a:off x="4880" y="2135"/>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38" name="Oval 12"/>
            <p:cNvSpPr>
              <a:spLocks noChangeArrowheads="1"/>
            </p:cNvSpPr>
            <p:nvPr/>
          </p:nvSpPr>
          <p:spPr bwMode="auto">
            <a:xfrm>
              <a:off x="4880" y="2373"/>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39" name="Oval 13"/>
            <p:cNvSpPr>
              <a:spLocks noChangeArrowheads="1"/>
            </p:cNvSpPr>
            <p:nvPr/>
          </p:nvSpPr>
          <p:spPr bwMode="auto">
            <a:xfrm>
              <a:off x="4880" y="2611"/>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40" name="Oval 14"/>
            <p:cNvSpPr>
              <a:spLocks noChangeArrowheads="1"/>
            </p:cNvSpPr>
            <p:nvPr/>
          </p:nvSpPr>
          <p:spPr bwMode="auto">
            <a:xfrm>
              <a:off x="4880" y="2849"/>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41" name="Oval 16"/>
            <p:cNvSpPr>
              <a:spLocks noChangeArrowheads="1"/>
            </p:cNvSpPr>
            <p:nvPr/>
          </p:nvSpPr>
          <p:spPr bwMode="auto">
            <a:xfrm>
              <a:off x="4425" y="2214"/>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42" name="Oval 17"/>
            <p:cNvSpPr>
              <a:spLocks noChangeArrowheads="1"/>
            </p:cNvSpPr>
            <p:nvPr/>
          </p:nvSpPr>
          <p:spPr bwMode="auto">
            <a:xfrm>
              <a:off x="4425" y="1818"/>
              <a:ext cx="65" cy="158"/>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43" name="Oval 18"/>
            <p:cNvSpPr>
              <a:spLocks noChangeArrowheads="1"/>
            </p:cNvSpPr>
            <p:nvPr/>
          </p:nvSpPr>
          <p:spPr bwMode="auto">
            <a:xfrm rot="1530248">
              <a:off x="4587" y="3246"/>
              <a:ext cx="130" cy="80"/>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44" name="Oval 19"/>
            <p:cNvSpPr>
              <a:spLocks noChangeArrowheads="1"/>
            </p:cNvSpPr>
            <p:nvPr/>
          </p:nvSpPr>
          <p:spPr bwMode="auto">
            <a:xfrm rot="7181429" flipV="1">
              <a:off x="4743" y="3239"/>
              <a:ext cx="229" cy="86"/>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sp>
          <p:nvSpPr>
            <p:cNvPr id="1045" name="Oval 15"/>
            <p:cNvSpPr>
              <a:spLocks noChangeArrowheads="1"/>
            </p:cNvSpPr>
            <p:nvPr/>
          </p:nvSpPr>
          <p:spPr bwMode="auto">
            <a:xfrm>
              <a:off x="4416" y="2928"/>
              <a:ext cx="65" cy="159"/>
            </a:xfrm>
            <a:prstGeom prst="ellipse">
              <a:avLst/>
            </a:prstGeom>
            <a:solidFill>
              <a:schemeClr val="accent1"/>
            </a:solidFill>
            <a:ln w="9525">
              <a:solidFill>
                <a:schemeClr val="tx1"/>
              </a:solidFill>
              <a:round/>
              <a:headEnd/>
              <a:tailEnd/>
            </a:ln>
          </p:spPr>
          <p:txBody>
            <a:bodyPr wrap="none" anchor="ctr"/>
            <a:lstStyle/>
            <a:p>
              <a:endParaRPr lang="en-US">
                <a:latin typeface="Calibri" pitchFamily="34" charset="0"/>
              </a:endParaRPr>
            </a:p>
          </p:txBody>
        </p:sp>
      </p:grpSp>
      <p:sp>
        <p:nvSpPr>
          <p:cNvPr id="1030" name="Text Box 22"/>
          <p:cNvSpPr txBox="1">
            <a:spLocks noChangeArrowheads="1"/>
          </p:cNvSpPr>
          <p:nvPr/>
        </p:nvSpPr>
        <p:spPr bwMode="auto">
          <a:xfrm>
            <a:off x="7010400" y="5181600"/>
            <a:ext cx="1554163" cy="1187450"/>
          </a:xfrm>
          <a:prstGeom prst="rect">
            <a:avLst/>
          </a:prstGeom>
          <a:noFill/>
          <a:ln w="9525">
            <a:noFill/>
            <a:miter lim="800000"/>
            <a:headEnd/>
            <a:tailEnd/>
          </a:ln>
        </p:spPr>
        <p:txBody>
          <a:bodyPr wrap="none">
            <a:spAutoFit/>
          </a:bodyPr>
          <a:lstStyle/>
          <a:p>
            <a:r>
              <a:rPr lang="en-US">
                <a:latin typeface="Calibri" pitchFamily="34" charset="0"/>
              </a:rPr>
              <a:t>Decreasing</a:t>
            </a:r>
          </a:p>
          <a:p>
            <a:r>
              <a:rPr lang="en-US">
                <a:latin typeface="Calibri" pitchFamily="34" charset="0"/>
              </a:rPr>
              <a:t>microbial</a:t>
            </a:r>
          </a:p>
          <a:p>
            <a:r>
              <a:rPr lang="en-US">
                <a:latin typeface="Calibri" pitchFamily="34" charset="0"/>
              </a:rPr>
              <a:t>diversity</a:t>
            </a:r>
          </a:p>
        </p:txBody>
      </p:sp>
      <p:sp>
        <p:nvSpPr>
          <p:cNvPr id="1031" name="Line 26"/>
          <p:cNvSpPr>
            <a:spLocks noChangeShapeType="1"/>
          </p:cNvSpPr>
          <p:nvPr/>
        </p:nvSpPr>
        <p:spPr bwMode="auto">
          <a:xfrm>
            <a:off x="7467600" y="3657600"/>
            <a:ext cx="0" cy="1524000"/>
          </a:xfrm>
          <a:prstGeom prst="line">
            <a:avLst/>
          </a:prstGeom>
          <a:noFill/>
          <a:ln w="28575">
            <a:solidFill>
              <a:schemeClr val="tx1"/>
            </a:solidFill>
            <a:round/>
            <a:headEnd/>
            <a:tailEnd type="triangle" w="med" len="med"/>
          </a:ln>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noChangeArrowheads="1"/>
          </p:cNvSpPr>
          <p:nvPr>
            <p:ph type="body" idx="1"/>
          </p:nvPr>
        </p:nvSpPr>
        <p:spPr>
          <a:xfrm>
            <a:off x="76200" y="1447800"/>
            <a:ext cx="9144000" cy="5410200"/>
          </a:xfrm>
        </p:spPr>
        <p:txBody>
          <a:bodyPr/>
          <a:lstStyle/>
          <a:p>
            <a:pPr eaLnBrk="1" hangingPunct="1">
              <a:lnSpc>
                <a:spcPct val="80000"/>
              </a:lnSpc>
              <a:buFont typeface="Arial" pitchFamily="34" charset="0"/>
              <a:buNone/>
            </a:pPr>
            <a:r>
              <a:rPr lang="en-US" smtClean="0"/>
              <a:t>Insoluble organic compounds of four different origins.</a:t>
            </a:r>
          </a:p>
          <a:p>
            <a:pPr eaLnBrk="1" hangingPunct="1">
              <a:lnSpc>
                <a:spcPct val="80000"/>
              </a:lnSpc>
              <a:buFontTx/>
              <a:buNone/>
            </a:pPr>
            <a:r>
              <a:rPr lang="en-US" smtClean="0"/>
              <a:t>	</a:t>
            </a:r>
            <a:r>
              <a:rPr lang="en-US" sz="3600" smtClean="0"/>
              <a:t>-</a:t>
            </a:r>
            <a:r>
              <a:rPr lang="en-US" smtClean="0"/>
              <a:t> mucilage secreted by Golgi organelles in the root cap cells.</a:t>
            </a:r>
          </a:p>
          <a:p>
            <a:pPr eaLnBrk="1" hangingPunct="1">
              <a:lnSpc>
                <a:spcPct val="80000"/>
              </a:lnSpc>
              <a:buFontTx/>
              <a:buNone/>
            </a:pPr>
            <a:r>
              <a:rPr lang="en-US" smtClean="0"/>
              <a:t>	</a:t>
            </a:r>
            <a:r>
              <a:rPr lang="en-US" sz="3600" smtClean="0"/>
              <a:t>- </a:t>
            </a:r>
            <a:r>
              <a:rPr lang="en-US" smtClean="0"/>
              <a:t>hydrolysates of the polysaccharides of the primary cell wall between  epidermal cells of the primary wall and sloughed root cap call.</a:t>
            </a:r>
          </a:p>
          <a:p>
            <a:pPr eaLnBrk="1" hangingPunct="1">
              <a:lnSpc>
                <a:spcPct val="80000"/>
              </a:lnSpc>
              <a:buFontTx/>
              <a:buNone/>
            </a:pPr>
            <a:r>
              <a:rPr lang="en-US" smtClean="0"/>
              <a:t>	</a:t>
            </a:r>
            <a:r>
              <a:rPr lang="en-US" sz="3600" smtClean="0"/>
              <a:t>-</a:t>
            </a:r>
            <a:r>
              <a:rPr lang="en-US" smtClean="0"/>
              <a:t> mucilage secreted by epidermal cells and root hairs.</a:t>
            </a:r>
          </a:p>
          <a:p>
            <a:pPr eaLnBrk="1" hangingPunct="1">
              <a:lnSpc>
                <a:spcPct val="80000"/>
              </a:lnSpc>
              <a:buFontTx/>
              <a:buNone/>
            </a:pPr>
            <a:r>
              <a:rPr lang="en-US" smtClean="0"/>
              <a:t>	</a:t>
            </a:r>
            <a:r>
              <a:rPr lang="en-US" sz="3600" smtClean="0"/>
              <a:t>-</a:t>
            </a:r>
            <a:r>
              <a:rPr lang="en-US" smtClean="0"/>
              <a:t> mucilage produced by bacterial degradation of dead epidermal cells.</a:t>
            </a:r>
          </a:p>
          <a:p>
            <a:pPr eaLnBrk="1" hangingPunct="1">
              <a:lnSpc>
                <a:spcPct val="80000"/>
              </a:lnSpc>
              <a:buFontTx/>
              <a:buNone/>
            </a:pPr>
            <a:endParaRPr lang="en-US" smtClean="0"/>
          </a:p>
        </p:txBody>
      </p:sp>
      <p:sp>
        <p:nvSpPr>
          <p:cNvPr id="84995" name="Rectangle 4"/>
          <p:cNvSpPr>
            <a:spLocks noGrp="1" noChangeArrowheads="1"/>
          </p:cNvSpPr>
          <p:nvPr>
            <p:ph type="title"/>
          </p:nvPr>
        </p:nvSpPr>
        <p:spPr/>
        <p:txBody>
          <a:bodyPr/>
          <a:lstStyle/>
          <a:p>
            <a:pPr eaLnBrk="1" hangingPunct="1"/>
            <a:r>
              <a:rPr lang="en-US" b="1" smtClean="0"/>
              <a:t>Mucilage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n-US" sz="3200" b="1" smtClean="0"/>
              <a:t>Root exudates</a:t>
            </a:r>
          </a:p>
        </p:txBody>
      </p:sp>
      <p:sp>
        <p:nvSpPr>
          <p:cNvPr id="86019" name="Rectangle 3"/>
          <p:cNvSpPr>
            <a:spLocks noGrp="1" noChangeArrowheads="1"/>
          </p:cNvSpPr>
          <p:nvPr>
            <p:ph type="body" idx="1"/>
          </p:nvPr>
        </p:nvSpPr>
        <p:spPr>
          <a:xfrm>
            <a:off x="228600" y="1524000"/>
            <a:ext cx="4191000" cy="4525963"/>
          </a:xfrm>
        </p:spPr>
        <p:txBody>
          <a:bodyPr/>
          <a:lstStyle/>
          <a:p>
            <a:pPr eaLnBrk="1" hangingPunct="1">
              <a:buFont typeface="Arial" pitchFamily="34" charset="0"/>
              <a:buNone/>
            </a:pPr>
            <a:r>
              <a:rPr lang="en-US" sz="2800" b="1" smtClean="0"/>
              <a:t>Low molecular weight compounds.</a:t>
            </a:r>
          </a:p>
          <a:p>
            <a:pPr eaLnBrk="1" hangingPunct="1">
              <a:buFont typeface="Arial" pitchFamily="34" charset="0"/>
              <a:buNone/>
            </a:pPr>
            <a:endParaRPr lang="en-US" sz="2800" b="1" smtClean="0"/>
          </a:p>
          <a:p>
            <a:pPr eaLnBrk="1" hangingPunct="1">
              <a:buFont typeface="Arial" pitchFamily="34" charset="0"/>
              <a:buNone/>
            </a:pPr>
            <a:r>
              <a:rPr lang="en-US" sz="2800" b="1" smtClean="0"/>
              <a:t>Act as a messengers</a:t>
            </a:r>
            <a:r>
              <a:rPr lang="en-US" sz="2400" b="1" smtClean="0"/>
              <a:t> </a:t>
            </a:r>
          </a:p>
          <a:p>
            <a:pPr eaLnBrk="1" hangingPunct="1">
              <a:buFont typeface="Arial" pitchFamily="34" charset="0"/>
              <a:buNone/>
            </a:pPr>
            <a:endParaRPr lang="en-US" sz="2400" b="1" smtClean="0"/>
          </a:p>
          <a:p>
            <a:pPr eaLnBrk="1" hangingPunct="1">
              <a:buFont typeface="Arial" pitchFamily="34" charset="0"/>
              <a:buNone/>
            </a:pPr>
            <a:r>
              <a:rPr lang="en-US" sz="2400" b="1" smtClean="0"/>
              <a:t>Energy for microbes</a:t>
            </a:r>
          </a:p>
          <a:p>
            <a:pPr eaLnBrk="1" hangingPunct="1">
              <a:buFont typeface="Arial" pitchFamily="34" charset="0"/>
              <a:buNone/>
            </a:pPr>
            <a:endParaRPr lang="en-US" sz="2400" b="1" smtClean="0"/>
          </a:p>
        </p:txBody>
      </p:sp>
      <p:pic>
        <p:nvPicPr>
          <p:cNvPr id="86020" name="Picture 5" descr="2726_mccullyme-1"/>
          <p:cNvPicPr>
            <a:picLocks noChangeAspect="1" noChangeArrowheads="1"/>
          </p:cNvPicPr>
          <p:nvPr/>
        </p:nvPicPr>
        <p:blipFill>
          <a:blip r:embed="rId2"/>
          <a:srcRect l="49098" b="10257"/>
          <a:stretch>
            <a:fillRect/>
          </a:stretch>
        </p:blipFill>
        <p:spPr bwMode="auto">
          <a:xfrm>
            <a:off x="4171950" y="1600200"/>
            <a:ext cx="4438650" cy="4408488"/>
          </a:xfrm>
          <a:prstGeom prst="rect">
            <a:avLst/>
          </a:prstGeom>
          <a:noFill/>
          <a:ln w="9525">
            <a:noFill/>
            <a:miter lim="800000"/>
            <a:headEnd/>
            <a:tailEnd/>
          </a:ln>
        </p:spPr>
      </p:pic>
      <p:sp>
        <p:nvSpPr>
          <p:cNvPr id="86021" name="Line 7"/>
          <p:cNvSpPr>
            <a:spLocks noChangeShapeType="1"/>
          </p:cNvSpPr>
          <p:nvPr/>
        </p:nvSpPr>
        <p:spPr bwMode="auto">
          <a:xfrm flipV="1">
            <a:off x="3429000" y="3048000"/>
            <a:ext cx="2057400" cy="2133600"/>
          </a:xfrm>
          <a:prstGeom prst="line">
            <a:avLst/>
          </a:prstGeom>
          <a:noFill/>
          <a:ln w="38100">
            <a:solidFill>
              <a:srgbClr val="FF3300"/>
            </a:solidFill>
            <a:round/>
            <a:headEnd/>
            <a:tailEnd type="triangle" w="med" len="med"/>
          </a:ln>
        </p:spPr>
        <p:txBody>
          <a:bodyPr/>
          <a:lstStyle/>
          <a:p>
            <a:endParaRPr lang="en-US"/>
          </a:p>
        </p:txBody>
      </p:sp>
      <p:sp>
        <p:nvSpPr>
          <p:cNvPr id="86022" name="Line 8"/>
          <p:cNvSpPr>
            <a:spLocks noChangeShapeType="1"/>
          </p:cNvSpPr>
          <p:nvPr/>
        </p:nvSpPr>
        <p:spPr bwMode="auto">
          <a:xfrm>
            <a:off x="3429000" y="5181600"/>
            <a:ext cx="1828800" cy="12700"/>
          </a:xfrm>
          <a:prstGeom prst="line">
            <a:avLst/>
          </a:prstGeom>
          <a:noFill/>
          <a:ln w="38100">
            <a:solidFill>
              <a:srgbClr val="FF3300"/>
            </a:solidFill>
            <a:round/>
            <a:headEnd/>
            <a:tailEnd type="triangle" w="med" len="med"/>
          </a:ln>
        </p:spPr>
        <p:txBody>
          <a:bodyPr/>
          <a:lstStyle/>
          <a:p>
            <a:endParaRPr lang="en-US"/>
          </a:p>
        </p:txBody>
      </p:sp>
      <p:sp>
        <p:nvSpPr>
          <p:cNvPr id="86023" name="Text Box 9"/>
          <p:cNvSpPr txBox="1">
            <a:spLocks noChangeArrowheads="1"/>
          </p:cNvSpPr>
          <p:nvPr/>
        </p:nvSpPr>
        <p:spPr bwMode="auto">
          <a:xfrm>
            <a:off x="1066800" y="4981575"/>
            <a:ext cx="2514600" cy="581025"/>
          </a:xfrm>
          <a:prstGeom prst="rect">
            <a:avLst/>
          </a:prstGeom>
          <a:noFill/>
          <a:ln w="9525">
            <a:noFill/>
            <a:miter lim="800000"/>
            <a:headEnd/>
            <a:tailEnd/>
          </a:ln>
        </p:spPr>
        <p:txBody>
          <a:bodyPr>
            <a:spAutoFit/>
          </a:bodyPr>
          <a:lstStyle/>
          <a:p>
            <a:pPr algn="ctr"/>
            <a:r>
              <a:rPr lang="en-US" sz="1600" b="1">
                <a:latin typeface="Calibri" pitchFamily="34" charset="0"/>
              </a:rPr>
              <a:t>Root exudates as drops on root surface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type="body" idx="1"/>
          </p:nvPr>
        </p:nvSpPr>
        <p:spPr>
          <a:xfrm>
            <a:off x="457200" y="1143000"/>
            <a:ext cx="8686800" cy="5715000"/>
          </a:xfrm>
        </p:spPr>
        <p:txBody>
          <a:bodyPr/>
          <a:lstStyle/>
          <a:p>
            <a:pPr eaLnBrk="1" hangingPunct="1">
              <a:lnSpc>
                <a:spcPct val="80000"/>
              </a:lnSpc>
              <a:buFont typeface="Arial" pitchFamily="34" charset="0"/>
              <a:buNone/>
            </a:pPr>
            <a:r>
              <a:rPr lang="en-US" sz="2800" smtClean="0"/>
              <a:t>Defend the rhizosphere and root against pathogenic microorganism</a:t>
            </a:r>
          </a:p>
          <a:p>
            <a:pPr eaLnBrk="1" hangingPunct="1">
              <a:lnSpc>
                <a:spcPct val="80000"/>
              </a:lnSpc>
              <a:buFont typeface="Arial" pitchFamily="34" charset="0"/>
              <a:buNone/>
            </a:pPr>
            <a:endParaRPr lang="en-US" sz="2800" smtClean="0"/>
          </a:p>
          <a:p>
            <a:pPr eaLnBrk="1" hangingPunct="1">
              <a:lnSpc>
                <a:spcPct val="80000"/>
              </a:lnSpc>
              <a:buFont typeface="Arial" pitchFamily="34" charset="0"/>
              <a:buNone/>
            </a:pPr>
            <a:r>
              <a:rPr lang="en-US" sz="2800" smtClean="0"/>
              <a:t>Attract greater number of microorganism</a:t>
            </a:r>
          </a:p>
          <a:p>
            <a:pPr eaLnBrk="1" hangingPunct="1">
              <a:lnSpc>
                <a:spcPct val="80000"/>
              </a:lnSpc>
              <a:buFont typeface="Arial" pitchFamily="34" charset="0"/>
              <a:buNone/>
            </a:pPr>
            <a:endParaRPr lang="en-US" sz="2800" smtClean="0"/>
          </a:p>
          <a:p>
            <a:pPr eaLnBrk="1" hangingPunct="1">
              <a:lnSpc>
                <a:spcPct val="80000"/>
              </a:lnSpc>
              <a:buFont typeface="Arial" pitchFamily="34" charset="0"/>
              <a:buNone/>
            </a:pPr>
            <a:r>
              <a:rPr lang="en-US" sz="2800" smtClean="0"/>
              <a:t>Keep the soil around the root moist</a:t>
            </a:r>
          </a:p>
          <a:p>
            <a:pPr eaLnBrk="1" hangingPunct="1">
              <a:lnSpc>
                <a:spcPct val="80000"/>
              </a:lnSpc>
              <a:buFont typeface="Arial" pitchFamily="34" charset="0"/>
              <a:buNone/>
            </a:pPr>
            <a:endParaRPr lang="en-US" sz="2800" smtClean="0"/>
          </a:p>
          <a:p>
            <a:pPr eaLnBrk="1" hangingPunct="1">
              <a:lnSpc>
                <a:spcPct val="80000"/>
              </a:lnSpc>
              <a:buFont typeface="Arial" pitchFamily="34" charset="0"/>
              <a:buNone/>
            </a:pPr>
            <a:r>
              <a:rPr lang="en-US" sz="2800" smtClean="0"/>
              <a:t>Obtain nutrients</a:t>
            </a:r>
          </a:p>
          <a:p>
            <a:pPr eaLnBrk="1" hangingPunct="1">
              <a:lnSpc>
                <a:spcPct val="80000"/>
              </a:lnSpc>
              <a:buFont typeface="Arial" pitchFamily="34" charset="0"/>
              <a:buNone/>
            </a:pPr>
            <a:endParaRPr lang="en-US" sz="2800" smtClean="0"/>
          </a:p>
          <a:p>
            <a:pPr eaLnBrk="1" hangingPunct="1">
              <a:lnSpc>
                <a:spcPct val="80000"/>
              </a:lnSpc>
              <a:buFont typeface="Arial" pitchFamily="34" charset="0"/>
              <a:buNone/>
            </a:pPr>
            <a:r>
              <a:rPr lang="en-US" sz="2800" smtClean="0"/>
              <a:t>Change the chemical properties of the soil around the root</a:t>
            </a:r>
          </a:p>
          <a:p>
            <a:pPr eaLnBrk="1" hangingPunct="1">
              <a:lnSpc>
                <a:spcPct val="80000"/>
              </a:lnSpc>
              <a:buFont typeface="Arial" pitchFamily="34" charset="0"/>
              <a:buNone/>
            </a:pPr>
            <a:endParaRPr lang="en-US" sz="2800" smtClean="0"/>
          </a:p>
          <a:p>
            <a:pPr eaLnBrk="1" hangingPunct="1">
              <a:lnSpc>
                <a:spcPct val="80000"/>
              </a:lnSpc>
              <a:buFont typeface="Arial" pitchFamily="34" charset="0"/>
              <a:buNone/>
            </a:pPr>
            <a:r>
              <a:rPr lang="en-US" sz="2800" smtClean="0"/>
              <a:t>Inhibit the growth of competing plant species</a:t>
            </a:r>
          </a:p>
          <a:p>
            <a:pPr eaLnBrk="1" hangingPunct="1">
              <a:lnSpc>
                <a:spcPct val="80000"/>
              </a:lnSpc>
              <a:buFont typeface="Arial" pitchFamily="34" charset="0"/>
              <a:buNone/>
            </a:pPr>
            <a:endParaRPr lang="en-US" sz="2400" b="1" smtClean="0"/>
          </a:p>
        </p:txBody>
      </p:sp>
      <p:sp>
        <p:nvSpPr>
          <p:cNvPr id="91139" name="Rectangle 4"/>
          <p:cNvSpPr>
            <a:spLocks noGrp="1" noChangeArrowheads="1"/>
          </p:cNvSpPr>
          <p:nvPr>
            <p:ph type="title"/>
          </p:nvPr>
        </p:nvSpPr>
        <p:spPr>
          <a:xfrm>
            <a:off x="457200" y="152400"/>
            <a:ext cx="8229600" cy="990600"/>
          </a:xfrm>
        </p:spPr>
        <p:txBody>
          <a:bodyPr rtlCol="0">
            <a:normAutofit fontScale="90000"/>
          </a:bodyPr>
          <a:lstStyle/>
          <a:p>
            <a:pPr eaLnBrk="1" fontAlgn="auto" hangingPunct="1">
              <a:spcAft>
                <a:spcPts val="0"/>
              </a:spcAft>
              <a:defRPr/>
            </a:pPr>
            <a:r>
              <a:rPr lang="en-US" sz="3200" b="1" smtClean="0"/>
              <a:t>Root exudates function</a:t>
            </a:r>
            <a:br>
              <a:rPr lang="en-US" sz="3200" b="1" smtClean="0"/>
            </a:br>
            <a:endParaRPr lang="en-US" sz="3200" b="1"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457200" y="228600"/>
            <a:ext cx="8229600" cy="563563"/>
          </a:xfrm>
        </p:spPr>
        <p:txBody>
          <a:bodyPr rtlCol="0">
            <a:normAutofit fontScale="90000"/>
          </a:bodyPr>
          <a:lstStyle/>
          <a:p>
            <a:pPr eaLnBrk="1" fontAlgn="auto" hangingPunct="1">
              <a:spcAft>
                <a:spcPts val="0"/>
              </a:spcAft>
              <a:defRPr/>
            </a:pPr>
            <a:r>
              <a:rPr lang="en-US" sz="3600" b="1" smtClean="0"/>
              <a:t>Enzymes in the rhizosphere</a:t>
            </a:r>
          </a:p>
        </p:txBody>
      </p:sp>
      <p:sp>
        <p:nvSpPr>
          <p:cNvPr id="93187" name="Rectangle 3"/>
          <p:cNvSpPr>
            <a:spLocks noGrp="1" noChangeArrowheads="1"/>
          </p:cNvSpPr>
          <p:nvPr>
            <p:ph type="body" idx="1"/>
          </p:nvPr>
        </p:nvSpPr>
        <p:spPr>
          <a:xfrm>
            <a:off x="457200" y="990600"/>
            <a:ext cx="8229600" cy="5715000"/>
          </a:xfrm>
        </p:spPr>
        <p:txBody>
          <a:bodyPr rtlCol="0">
            <a:normAutofit fontScale="92500" lnSpcReduction="20000"/>
          </a:bodyPr>
          <a:lstStyle/>
          <a:p>
            <a:pPr eaLnBrk="1" fontAlgn="auto" hangingPunct="1">
              <a:lnSpc>
                <a:spcPct val="80000"/>
              </a:lnSpc>
              <a:spcAft>
                <a:spcPts val="0"/>
              </a:spcAft>
              <a:buFont typeface="Arial" pitchFamily="34" charset="0"/>
              <a:buNone/>
              <a:defRPr/>
            </a:pPr>
            <a:r>
              <a:rPr lang="en-US" sz="2400" smtClean="0"/>
              <a:t>	</a:t>
            </a:r>
            <a:r>
              <a:rPr lang="en-US" sz="2800" smtClean="0"/>
              <a:t>Enzymes activity greater in rhizosphere than in bulk soil</a:t>
            </a:r>
          </a:p>
          <a:p>
            <a:pPr eaLnBrk="1" fontAlgn="auto" hangingPunct="1">
              <a:lnSpc>
                <a:spcPct val="80000"/>
              </a:lnSpc>
              <a:spcAft>
                <a:spcPts val="0"/>
              </a:spcAft>
              <a:buFont typeface="Arial" pitchFamily="34" charset="0"/>
              <a:buNone/>
              <a:defRPr/>
            </a:pPr>
            <a:endParaRPr lang="en-US" sz="2800" smtClean="0"/>
          </a:p>
          <a:p>
            <a:pPr eaLnBrk="1" fontAlgn="auto" hangingPunct="1">
              <a:lnSpc>
                <a:spcPct val="80000"/>
              </a:lnSpc>
              <a:spcAft>
                <a:spcPts val="0"/>
              </a:spcAft>
              <a:buFont typeface="Arial" pitchFamily="34" charset="0"/>
              <a:buNone/>
              <a:defRPr/>
            </a:pPr>
            <a:r>
              <a:rPr lang="en-US" sz="2800" smtClean="0"/>
              <a:t>Wide range of enzymes ( plant- microorganism)</a:t>
            </a:r>
          </a:p>
          <a:p>
            <a:pPr eaLnBrk="1" fontAlgn="auto" hangingPunct="1">
              <a:lnSpc>
                <a:spcPct val="80000"/>
              </a:lnSpc>
              <a:spcAft>
                <a:spcPts val="0"/>
              </a:spcAft>
              <a:buFont typeface="Arial" pitchFamily="34" charset="0"/>
              <a:buNone/>
              <a:defRPr/>
            </a:pPr>
            <a:r>
              <a:rPr lang="en-US" sz="2800" smtClean="0"/>
              <a:t>	-Oxidoreductases (transfer of electrons from one molecule to another)</a:t>
            </a:r>
            <a:r>
              <a:rPr lang="en-US" sz="3600" smtClean="0"/>
              <a:t> </a:t>
            </a:r>
            <a:endParaRPr lang="en-US" sz="2800" smtClean="0"/>
          </a:p>
          <a:p>
            <a:pPr eaLnBrk="1" fontAlgn="auto" hangingPunct="1">
              <a:lnSpc>
                <a:spcPct val="80000"/>
              </a:lnSpc>
              <a:spcAft>
                <a:spcPts val="0"/>
              </a:spcAft>
              <a:buFont typeface="Arial" pitchFamily="34" charset="0"/>
              <a:buNone/>
              <a:defRPr/>
            </a:pPr>
            <a:r>
              <a:rPr lang="en-US" sz="2800" smtClean="0"/>
              <a:t>	-Hydrolases (nutrient mineralization, protein breakdown)</a:t>
            </a:r>
          </a:p>
          <a:p>
            <a:pPr eaLnBrk="1" fontAlgn="auto" hangingPunct="1">
              <a:lnSpc>
                <a:spcPct val="80000"/>
              </a:lnSpc>
              <a:spcAft>
                <a:spcPts val="0"/>
              </a:spcAft>
              <a:buFont typeface="Arial" pitchFamily="34" charset="0"/>
              <a:buNone/>
              <a:defRPr/>
            </a:pPr>
            <a:r>
              <a:rPr lang="en-US" sz="2800" smtClean="0"/>
              <a:t>	-Lyases (degrades cell wall and membrane of bacteria and fungi)</a:t>
            </a:r>
          </a:p>
          <a:p>
            <a:pPr eaLnBrk="1" fontAlgn="auto" hangingPunct="1">
              <a:lnSpc>
                <a:spcPct val="80000"/>
              </a:lnSpc>
              <a:spcAft>
                <a:spcPts val="0"/>
              </a:spcAft>
              <a:buFont typeface="Arial" pitchFamily="34" charset="0"/>
              <a:buNone/>
              <a:defRPr/>
            </a:pPr>
            <a:r>
              <a:rPr lang="en-US" sz="2800" smtClean="0"/>
              <a:t>	-Transferases(transfer a functional group from one molecule to another)</a:t>
            </a:r>
          </a:p>
          <a:p>
            <a:pPr eaLnBrk="1" fontAlgn="auto" hangingPunct="1">
              <a:lnSpc>
                <a:spcPct val="80000"/>
              </a:lnSpc>
              <a:spcAft>
                <a:spcPts val="0"/>
              </a:spcAft>
              <a:buFont typeface="Arial" pitchFamily="34" charset="0"/>
              <a:buNone/>
              <a:defRPr/>
            </a:pPr>
            <a:endParaRPr lang="en-US" sz="2800" smtClean="0"/>
          </a:p>
          <a:p>
            <a:pPr eaLnBrk="1" fontAlgn="auto" hangingPunct="1">
              <a:lnSpc>
                <a:spcPct val="80000"/>
              </a:lnSpc>
              <a:spcAft>
                <a:spcPts val="0"/>
              </a:spcAft>
              <a:buFont typeface="Arial" pitchFamily="34" charset="0"/>
              <a:buNone/>
              <a:defRPr/>
            </a:pPr>
            <a:r>
              <a:rPr lang="en-US" sz="2800" b="1" smtClean="0"/>
              <a:t>Enzymes catalyze the breakdown of</a:t>
            </a:r>
            <a:r>
              <a:rPr lang="en-US" sz="2800" smtClean="0"/>
              <a:t> </a:t>
            </a:r>
          </a:p>
          <a:p>
            <a:pPr eaLnBrk="1" fontAlgn="auto" hangingPunct="1">
              <a:lnSpc>
                <a:spcPct val="80000"/>
              </a:lnSpc>
              <a:spcAft>
                <a:spcPts val="0"/>
              </a:spcAft>
              <a:buFont typeface="Arial" pitchFamily="34" charset="0"/>
              <a:buNone/>
              <a:defRPr/>
            </a:pPr>
            <a:r>
              <a:rPr lang="en-US" sz="2800" smtClean="0"/>
              <a:t>	- organic material (cellulases, dehydrogenases)</a:t>
            </a:r>
          </a:p>
          <a:p>
            <a:pPr eaLnBrk="1" fontAlgn="auto" hangingPunct="1">
              <a:lnSpc>
                <a:spcPct val="80000"/>
              </a:lnSpc>
              <a:spcAft>
                <a:spcPts val="0"/>
              </a:spcAft>
              <a:buFont typeface="Arial" pitchFamily="34" charset="0"/>
              <a:buNone/>
              <a:defRPr/>
            </a:pPr>
            <a:r>
              <a:rPr lang="en-US" sz="2800" smtClean="0"/>
              <a:t>	- fertilizers (ureases)</a:t>
            </a:r>
          </a:p>
          <a:p>
            <a:pPr eaLnBrk="1" fontAlgn="auto" hangingPunct="1">
              <a:lnSpc>
                <a:spcPct val="80000"/>
              </a:lnSpc>
              <a:spcAft>
                <a:spcPts val="0"/>
              </a:spcAft>
              <a:buFont typeface="Arial" pitchFamily="34" charset="0"/>
              <a:buNone/>
              <a:defRPr/>
            </a:pPr>
            <a:r>
              <a:rPr lang="en-US" sz="2800" smtClean="0"/>
              <a:t>	- organic nutrients (phosphatases, sulfatases)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Grp="1" noChangeArrowheads="1"/>
          </p:cNvSpPr>
          <p:nvPr>
            <p:ph type="title"/>
          </p:nvPr>
        </p:nvSpPr>
        <p:spPr/>
        <p:txBody>
          <a:bodyPr/>
          <a:lstStyle/>
          <a:p>
            <a:pPr eaLnBrk="1" hangingPunct="1"/>
            <a:r>
              <a:rPr lang="en-US" sz="3600" smtClean="0"/>
              <a:t>Some function of Bacteria in rhizosphere</a:t>
            </a:r>
          </a:p>
        </p:txBody>
      </p:sp>
      <p:sp>
        <p:nvSpPr>
          <p:cNvPr id="92163" name="Text Box 5"/>
          <p:cNvSpPr>
            <a:spLocks noGrp="1" noChangeArrowheads="1"/>
          </p:cNvSpPr>
          <p:nvPr>
            <p:ph type="body" idx="1"/>
          </p:nvPr>
        </p:nvSpPr>
        <p:spPr>
          <a:xfrm>
            <a:off x="457200" y="1066800"/>
            <a:ext cx="4876800" cy="2819400"/>
          </a:xfrm>
        </p:spPr>
        <p:txBody>
          <a:bodyPr/>
          <a:lstStyle/>
          <a:p>
            <a:pPr eaLnBrk="1" hangingPunct="1">
              <a:spcBef>
                <a:spcPct val="0"/>
              </a:spcBef>
              <a:buFontTx/>
              <a:buNone/>
            </a:pPr>
            <a:r>
              <a:rPr lang="en-US" sz="2800" smtClean="0">
                <a:solidFill>
                  <a:srgbClr val="CC0000"/>
                </a:solidFill>
              </a:rPr>
              <a:t>Bacteria N2 fixation</a:t>
            </a:r>
          </a:p>
          <a:p>
            <a:pPr eaLnBrk="1" hangingPunct="1">
              <a:spcBef>
                <a:spcPct val="0"/>
              </a:spcBef>
              <a:buFontTx/>
              <a:buNone/>
            </a:pPr>
            <a:endParaRPr lang="en-US" sz="2000" smtClean="0">
              <a:solidFill>
                <a:srgbClr val="CC0000"/>
              </a:solidFill>
            </a:endParaRPr>
          </a:p>
          <a:p>
            <a:pPr eaLnBrk="1" hangingPunct="1">
              <a:spcBef>
                <a:spcPct val="0"/>
              </a:spcBef>
              <a:buFontTx/>
              <a:buNone/>
            </a:pPr>
            <a:r>
              <a:rPr lang="en-US" sz="2000" i="1" smtClean="0"/>
              <a:t>Rhizobium,Bradyrhizobium</a:t>
            </a:r>
            <a:r>
              <a:rPr lang="en-US" sz="2000" smtClean="0"/>
              <a:t> with legumes</a:t>
            </a:r>
          </a:p>
          <a:p>
            <a:pPr eaLnBrk="1" hangingPunct="1">
              <a:spcBef>
                <a:spcPct val="0"/>
              </a:spcBef>
              <a:buFontTx/>
              <a:buNone/>
            </a:pPr>
            <a:endParaRPr lang="en-US" sz="2000" smtClean="0"/>
          </a:p>
          <a:p>
            <a:pPr eaLnBrk="1" hangingPunct="1">
              <a:spcBef>
                <a:spcPct val="0"/>
              </a:spcBef>
              <a:buFontTx/>
              <a:buNone/>
            </a:pPr>
            <a:r>
              <a:rPr lang="en-US" sz="2000" i="1" smtClean="0"/>
              <a:t>Azospirillum</a:t>
            </a:r>
            <a:r>
              <a:rPr lang="en-US" sz="2000" smtClean="0"/>
              <a:t> on roots surface of grass  </a:t>
            </a:r>
          </a:p>
          <a:p>
            <a:pPr eaLnBrk="1" hangingPunct="1">
              <a:spcBef>
                <a:spcPct val="0"/>
              </a:spcBef>
              <a:buFontTx/>
              <a:buNone/>
            </a:pPr>
            <a:endParaRPr lang="en-US" sz="2000" smtClean="0"/>
          </a:p>
          <a:p>
            <a:pPr eaLnBrk="1" hangingPunct="1">
              <a:spcBef>
                <a:spcPct val="0"/>
              </a:spcBef>
              <a:buFontTx/>
              <a:buNone/>
            </a:pPr>
            <a:r>
              <a:rPr lang="en-US" sz="2000" i="1" smtClean="0"/>
              <a:t>Frankia</a:t>
            </a:r>
            <a:r>
              <a:rPr lang="en-US" sz="2000" smtClean="0"/>
              <a:t> with nonleguminous angiosperms</a:t>
            </a:r>
          </a:p>
        </p:txBody>
      </p:sp>
      <p:pic>
        <p:nvPicPr>
          <p:cNvPr id="92164" name="Picture 6" descr="Picture 062"/>
          <p:cNvPicPr>
            <a:picLocks noChangeAspect="1" noChangeArrowheads="1"/>
          </p:cNvPicPr>
          <p:nvPr/>
        </p:nvPicPr>
        <p:blipFill>
          <a:blip r:embed="rId2"/>
          <a:srcRect l="8536" t="32971" r="3786" b="31970"/>
          <a:stretch>
            <a:fillRect/>
          </a:stretch>
        </p:blipFill>
        <p:spPr bwMode="auto">
          <a:xfrm>
            <a:off x="1524000" y="3962400"/>
            <a:ext cx="4191000" cy="2667000"/>
          </a:xfrm>
          <a:prstGeom prst="rect">
            <a:avLst/>
          </a:prstGeom>
          <a:noFill/>
          <a:ln w="19050">
            <a:solidFill>
              <a:srgbClr val="000000"/>
            </a:solidFill>
            <a:miter lim="800000"/>
            <a:headEnd/>
            <a:tailEnd/>
          </a:ln>
        </p:spPr>
      </p:pic>
      <p:pic>
        <p:nvPicPr>
          <p:cNvPr id="92165" name="Picture 7" descr="Picture 062"/>
          <p:cNvPicPr>
            <a:picLocks noChangeAspect="1" noChangeArrowheads="1"/>
          </p:cNvPicPr>
          <p:nvPr/>
        </p:nvPicPr>
        <p:blipFill>
          <a:blip r:embed="rId2"/>
          <a:srcRect l="56360" t="4926" r="3786" b="71034"/>
          <a:stretch>
            <a:fillRect/>
          </a:stretch>
        </p:blipFill>
        <p:spPr bwMode="auto">
          <a:xfrm>
            <a:off x="6096000" y="4276725"/>
            <a:ext cx="2133600" cy="2047875"/>
          </a:xfrm>
          <a:prstGeom prst="rect">
            <a:avLst/>
          </a:prstGeom>
          <a:noFill/>
          <a:ln w="19050">
            <a:solidFill>
              <a:srgbClr val="000000"/>
            </a:solidFill>
            <a:miter lim="800000"/>
            <a:headEnd/>
            <a:tailEnd/>
          </a:ln>
        </p:spPr>
      </p:pic>
      <p:sp>
        <p:nvSpPr>
          <p:cNvPr id="92166" name="Text Box 9"/>
          <p:cNvSpPr txBox="1">
            <a:spLocks noChangeArrowheads="1"/>
          </p:cNvSpPr>
          <p:nvPr/>
        </p:nvSpPr>
        <p:spPr bwMode="auto">
          <a:xfrm>
            <a:off x="6508750" y="6338888"/>
            <a:ext cx="1416050" cy="366712"/>
          </a:xfrm>
          <a:prstGeom prst="rect">
            <a:avLst/>
          </a:prstGeom>
          <a:noFill/>
          <a:ln w="9525">
            <a:noFill/>
            <a:miter lim="800000"/>
            <a:headEnd/>
            <a:tailEnd/>
          </a:ln>
        </p:spPr>
        <p:txBody>
          <a:bodyPr wrap="none">
            <a:spAutoFit/>
          </a:bodyPr>
          <a:lstStyle/>
          <a:p>
            <a:r>
              <a:rPr lang="en-US" i="1">
                <a:latin typeface="Calibri" pitchFamily="34" charset="0"/>
              </a:rPr>
              <a:t>Azospirillum</a:t>
            </a:r>
          </a:p>
        </p:txBody>
      </p:sp>
      <p:sp>
        <p:nvSpPr>
          <p:cNvPr id="92167" name="Text Box 10"/>
          <p:cNvSpPr txBox="1">
            <a:spLocks noChangeArrowheads="1"/>
          </p:cNvSpPr>
          <p:nvPr/>
        </p:nvSpPr>
        <p:spPr bwMode="auto">
          <a:xfrm>
            <a:off x="304800" y="6019800"/>
            <a:ext cx="1066800" cy="366713"/>
          </a:xfrm>
          <a:prstGeom prst="rect">
            <a:avLst/>
          </a:prstGeom>
          <a:noFill/>
          <a:ln w="9525">
            <a:noFill/>
            <a:miter lim="800000"/>
            <a:headEnd/>
            <a:tailEnd/>
          </a:ln>
        </p:spPr>
        <p:txBody>
          <a:bodyPr>
            <a:spAutoFit/>
          </a:bodyPr>
          <a:lstStyle/>
          <a:p>
            <a:r>
              <a:rPr lang="en-US" i="1">
                <a:latin typeface="Calibri" pitchFamily="34" charset="0"/>
              </a:rPr>
              <a:t>Frankia</a:t>
            </a:r>
          </a:p>
        </p:txBody>
      </p:sp>
      <p:pic>
        <p:nvPicPr>
          <p:cNvPr id="92168" name="Picture 12" descr="rhizobium"/>
          <p:cNvPicPr>
            <a:picLocks noChangeAspect="1" noChangeArrowheads="1"/>
          </p:cNvPicPr>
          <p:nvPr/>
        </p:nvPicPr>
        <p:blipFill>
          <a:blip r:embed="rId3"/>
          <a:srcRect/>
          <a:stretch>
            <a:fillRect/>
          </a:stretch>
        </p:blipFill>
        <p:spPr bwMode="auto">
          <a:xfrm>
            <a:off x="6096000" y="1676400"/>
            <a:ext cx="2089150" cy="2057400"/>
          </a:xfrm>
          <a:prstGeom prst="rect">
            <a:avLst/>
          </a:prstGeom>
          <a:noFill/>
          <a:ln w="9525">
            <a:noFill/>
            <a:miter lim="800000"/>
            <a:headEnd/>
            <a:tailEnd/>
          </a:ln>
        </p:spPr>
      </p:pic>
      <p:sp>
        <p:nvSpPr>
          <p:cNvPr id="92169" name="Text Box 13"/>
          <p:cNvSpPr txBox="1">
            <a:spLocks noChangeArrowheads="1"/>
          </p:cNvSpPr>
          <p:nvPr/>
        </p:nvSpPr>
        <p:spPr bwMode="auto">
          <a:xfrm>
            <a:off x="6508750" y="3748088"/>
            <a:ext cx="1263650" cy="366712"/>
          </a:xfrm>
          <a:prstGeom prst="rect">
            <a:avLst/>
          </a:prstGeom>
          <a:noFill/>
          <a:ln w="9525">
            <a:noFill/>
            <a:miter lim="800000"/>
            <a:headEnd/>
            <a:tailEnd/>
          </a:ln>
        </p:spPr>
        <p:txBody>
          <a:bodyPr wrap="none">
            <a:spAutoFit/>
          </a:bodyPr>
          <a:lstStyle/>
          <a:p>
            <a:r>
              <a:rPr lang="en-US" i="1">
                <a:latin typeface="Calibri" pitchFamily="34" charset="0"/>
              </a:rPr>
              <a:t>Rhizobium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body" idx="1"/>
          </p:nvPr>
        </p:nvSpPr>
        <p:spPr/>
        <p:txBody>
          <a:bodyPr/>
          <a:lstStyle/>
          <a:p>
            <a:pPr eaLnBrk="1" hangingPunct="1">
              <a:lnSpc>
                <a:spcPct val="90000"/>
              </a:lnSpc>
              <a:buFont typeface="Arial" pitchFamily="34" charset="0"/>
              <a:buNone/>
            </a:pPr>
            <a:r>
              <a:rPr lang="en-US" smtClean="0"/>
              <a:t>Bacteria has role in P cycle in the rhizosphere</a:t>
            </a:r>
          </a:p>
          <a:p>
            <a:pPr eaLnBrk="1" hangingPunct="1">
              <a:lnSpc>
                <a:spcPct val="90000"/>
              </a:lnSpc>
              <a:buFont typeface="Arial" pitchFamily="34" charset="0"/>
              <a:buNone/>
            </a:pPr>
            <a:endParaRPr lang="en-US" smtClean="0"/>
          </a:p>
          <a:p>
            <a:pPr eaLnBrk="1" hangingPunct="1">
              <a:lnSpc>
                <a:spcPct val="90000"/>
              </a:lnSpc>
              <a:buFont typeface="Arial" pitchFamily="34" charset="0"/>
              <a:buNone/>
            </a:pPr>
            <a:r>
              <a:rPr lang="en-US" smtClean="0"/>
              <a:t>Solubilization of inorganic phosphorus (P dissolving bacteria) </a:t>
            </a:r>
            <a:r>
              <a:rPr lang="en-US" i="1" smtClean="0"/>
              <a:t>	Pseudomonas, Bacillus </a:t>
            </a:r>
          </a:p>
          <a:p>
            <a:pPr eaLnBrk="1" hangingPunct="1">
              <a:lnSpc>
                <a:spcPct val="90000"/>
              </a:lnSpc>
              <a:buFont typeface="Arial" pitchFamily="34" charset="0"/>
              <a:buNone/>
            </a:pPr>
            <a:endParaRPr lang="en-US" i="1" smtClean="0"/>
          </a:p>
          <a:p>
            <a:pPr eaLnBrk="1" hangingPunct="1">
              <a:lnSpc>
                <a:spcPct val="90000"/>
              </a:lnSpc>
              <a:buFont typeface="Arial" pitchFamily="34" charset="0"/>
              <a:buNone/>
            </a:pPr>
            <a:r>
              <a:rPr lang="en-US" smtClean="0"/>
              <a:t>Reduce pH by secret organic acids (formic, acetic, lactic acid)</a:t>
            </a:r>
          </a:p>
        </p:txBody>
      </p:sp>
      <p:sp>
        <p:nvSpPr>
          <p:cNvPr id="93187" name="Rectangle 4"/>
          <p:cNvSpPr>
            <a:spLocks noGrp="1" noChangeArrowheads="1"/>
          </p:cNvSpPr>
          <p:nvPr>
            <p:ph type="title"/>
          </p:nvPr>
        </p:nvSpPr>
        <p:spPr/>
        <p:txBody>
          <a:bodyPr/>
          <a:lstStyle/>
          <a:p>
            <a:pPr eaLnBrk="1" hangingPunct="1"/>
            <a:r>
              <a:rPr lang="en-US" sz="3600" smtClean="0"/>
              <a:t>Some function of Bacteria in rhizosphere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sz="3200" smtClean="0"/>
              <a:t>Mycorrhizal fungi</a:t>
            </a:r>
          </a:p>
        </p:txBody>
      </p:sp>
      <p:sp>
        <p:nvSpPr>
          <p:cNvPr id="95235" name="Rectangle 3"/>
          <p:cNvSpPr>
            <a:spLocks noGrp="1" noChangeArrowheads="1"/>
          </p:cNvSpPr>
          <p:nvPr>
            <p:ph type="body" idx="1"/>
          </p:nvPr>
        </p:nvSpPr>
        <p:spPr>
          <a:xfrm>
            <a:off x="457200" y="1600200"/>
            <a:ext cx="5181600" cy="4525963"/>
          </a:xfrm>
        </p:spPr>
        <p:txBody>
          <a:bodyPr/>
          <a:lstStyle/>
          <a:p>
            <a:pPr eaLnBrk="1" hangingPunct="1"/>
            <a:r>
              <a:rPr lang="en-US" sz="2400" smtClean="0"/>
              <a:t>Beneficial fungi associate with plant root</a:t>
            </a:r>
          </a:p>
          <a:p>
            <a:pPr eaLnBrk="1" hangingPunct="1"/>
            <a:r>
              <a:rPr lang="en-US" sz="2400" smtClean="0"/>
              <a:t>~ 90 % of plant count on mycorrhizal fungi root system</a:t>
            </a:r>
          </a:p>
          <a:p>
            <a:pPr eaLnBrk="1" hangingPunct="1"/>
            <a:r>
              <a:rPr lang="en-US" smtClean="0"/>
              <a:t> </a:t>
            </a:r>
            <a:r>
              <a:rPr lang="en-US" sz="2400" smtClean="0"/>
              <a:t>nutrient exchange</a:t>
            </a:r>
            <a:r>
              <a:rPr lang="en-US" smtClean="0"/>
              <a:t> </a:t>
            </a:r>
            <a:endParaRPr lang="en-US" sz="2400" smtClean="0"/>
          </a:p>
          <a:p>
            <a:pPr eaLnBrk="1" hangingPunct="1"/>
            <a:endParaRPr lang="en-US" smtClean="0"/>
          </a:p>
        </p:txBody>
      </p:sp>
      <p:pic>
        <p:nvPicPr>
          <p:cNvPr id="95236" name="Picture 7" descr="Mycorrhiza"/>
          <p:cNvPicPr>
            <a:picLocks noChangeAspect="1" noChangeArrowheads="1"/>
          </p:cNvPicPr>
          <p:nvPr/>
        </p:nvPicPr>
        <p:blipFill>
          <a:blip r:embed="rId2"/>
          <a:srcRect/>
          <a:stretch>
            <a:fillRect/>
          </a:stretch>
        </p:blipFill>
        <p:spPr bwMode="auto">
          <a:xfrm>
            <a:off x="5410200" y="2133600"/>
            <a:ext cx="3352800" cy="3184525"/>
          </a:xfrm>
          <a:prstGeom prst="rect">
            <a:avLst/>
          </a:prstGeom>
          <a:noFill/>
          <a:ln w="9525">
            <a:noFill/>
            <a:miter lim="800000"/>
            <a:headEnd/>
            <a:tailEnd/>
          </a:ln>
        </p:spPr>
      </p:pic>
      <p:sp>
        <p:nvSpPr>
          <p:cNvPr id="95237" name="Line 8"/>
          <p:cNvSpPr>
            <a:spLocks noChangeShapeType="1"/>
          </p:cNvSpPr>
          <p:nvPr/>
        </p:nvSpPr>
        <p:spPr bwMode="auto">
          <a:xfrm>
            <a:off x="1676400" y="4572000"/>
            <a:ext cx="1524000" cy="0"/>
          </a:xfrm>
          <a:prstGeom prst="line">
            <a:avLst/>
          </a:prstGeom>
          <a:noFill/>
          <a:ln w="38100">
            <a:solidFill>
              <a:srgbClr val="CC0000"/>
            </a:solidFill>
            <a:round/>
            <a:headEnd/>
            <a:tailEnd type="triangle" w="med" len="med"/>
          </a:ln>
        </p:spPr>
        <p:txBody>
          <a:bodyPr/>
          <a:lstStyle/>
          <a:p>
            <a:endParaRPr lang="en-US"/>
          </a:p>
        </p:txBody>
      </p:sp>
      <p:sp>
        <p:nvSpPr>
          <p:cNvPr id="95238" name="Line 9"/>
          <p:cNvSpPr>
            <a:spLocks noChangeShapeType="1"/>
          </p:cNvSpPr>
          <p:nvPr/>
        </p:nvSpPr>
        <p:spPr bwMode="auto">
          <a:xfrm flipH="1">
            <a:off x="1676400" y="4953000"/>
            <a:ext cx="1524000" cy="0"/>
          </a:xfrm>
          <a:prstGeom prst="line">
            <a:avLst/>
          </a:prstGeom>
          <a:noFill/>
          <a:ln w="38100">
            <a:solidFill>
              <a:srgbClr val="CC0000"/>
            </a:solidFill>
            <a:round/>
            <a:headEnd/>
            <a:tailEnd type="triangle" w="med" len="med"/>
          </a:ln>
        </p:spPr>
        <p:txBody>
          <a:bodyPr/>
          <a:lstStyle/>
          <a:p>
            <a:endParaRPr lang="en-US"/>
          </a:p>
        </p:txBody>
      </p:sp>
      <p:sp>
        <p:nvSpPr>
          <p:cNvPr id="95239" name="Text Box 10"/>
          <p:cNvSpPr txBox="1">
            <a:spLocks noChangeArrowheads="1"/>
          </p:cNvSpPr>
          <p:nvPr/>
        </p:nvSpPr>
        <p:spPr bwMode="auto">
          <a:xfrm>
            <a:off x="685800" y="4419600"/>
            <a:ext cx="846138" cy="457200"/>
          </a:xfrm>
          <a:prstGeom prst="rect">
            <a:avLst/>
          </a:prstGeom>
          <a:noFill/>
          <a:ln w="9525">
            <a:noFill/>
            <a:miter lim="800000"/>
            <a:headEnd/>
            <a:tailEnd/>
          </a:ln>
        </p:spPr>
        <p:txBody>
          <a:bodyPr wrap="none">
            <a:spAutoFit/>
          </a:bodyPr>
          <a:lstStyle/>
          <a:p>
            <a:r>
              <a:rPr lang="en-US">
                <a:latin typeface="Calibri" pitchFamily="34" charset="0"/>
              </a:rPr>
              <a:t>plant</a:t>
            </a:r>
          </a:p>
        </p:txBody>
      </p:sp>
      <p:sp>
        <p:nvSpPr>
          <p:cNvPr id="95240" name="Text Box 11"/>
          <p:cNvSpPr txBox="1">
            <a:spLocks noChangeArrowheads="1"/>
          </p:cNvSpPr>
          <p:nvPr/>
        </p:nvSpPr>
        <p:spPr bwMode="auto">
          <a:xfrm>
            <a:off x="3344863" y="4495800"/>
            <a:ext cx="1676400" cy="457200"/>
          </a:xfrm>
          <a:prstGeom prst="rect">
            <a:avLst/>
          </a:prstGeom>
          <a:noFill/>
          <a:ln w="9525">
            <a:noFill/>
            <a:miter lim="800000"/>
            <a:headEnd/>
            <a:tailEnd/>
          </a:ln>
        </p:spPr>
        <p:txBody>
          <a:bodyPr wrap="none">
            <a:spAutoFit/>
          </a:bodyPr>
          <a:lstStyle/>
          <a:p>
            <a:r>
              <a:rPr lang="en-US">
                <a:latin typeface="Calibri" pitchFamily="34" charset="0"/>
              </a:rPr>
              <a:t>mycorrhiza</a:t>
            </a:r>
          </a:p>
        </p:txBody>
      </p:sp>
      <p:sp>
        <p:nvSpPr>
          <p:cNvPr id="95241" name="Text Box 12"/>
          <p:cNvSpPr txBox="1">
            <a:spLocks noChangeArrowheads="1"/>
          </p:cNvSpPr>
          <p:nvPr/>
        </p:nvSpPr>
        <p:spPr bwMode="auto">
          <a:xfrm>
            <a:off x="1600200" y="4086225"/>
            <a:ext cx="1665288" cy="396875"/>
          </a:xfrm>
          <a:prstGeom prst="rect">
            <a:avLst/>
          </a:prstGeom>
          <a:noFill/>
          <a:ln w="9525">
            <a:noFill/>
            <a:miter lim="800000"/>
            <a:headEnd/>
            <a:tailEnd/>
          </a:ln>
        </p:spPr>
        <p:txBody>
          <a:bodyPr wrap="none">
            <a:spAutoFit/>
          </a:bodyPr>
          <a:lstStyle/>
          <a:p>
            <a:r>
              <a:rPr lang="en-US" sz="2000">
                <a:latin typeface="Calibri" pitchFamily="34" charset="0"/>
              </a:rPr>
              <a:t>carbohydrate</a:t>
            </a:r>
          </a:p>
        </p:txBody>
      </p:sp>
      <p:sp>
        <p:nvSpPr>
          <p:cNvPr id="95242" name="Text Box 13"/>
          <p:cNvSpPr txBox="1">
            <a:spLocks noChangeArrowheads="1"/>
          </p:cNvSpPr>
          <p:nvPr/>
        </p:nvSpPr>
        <p:spPr bwMode="auto">
          <a:xfrm>
            <a:off x="1881188" y="4953000"/>
            <a:ext cx="1166812" cy="400050"/>
          </a:xfrm>
          <a:prstGeom prst="rect">
            <a:avLst/>
          </a:prstGeom>
          <a:noFill/>
          <a:ln w="9525">
            <a:noFill/>
            <a:miter lim="800000"/>
            <a:headEnd/>
            <a:tailEnd/>
          </a:ln>
        </p:spPr>
        <p:txBody>
          <a:bodyPr wrap="none">
            <a:spAutoFit/>
          </a:bodyPr>
          <a:lstStyle/>
          <a:p>
            <a:r>
              <a:rPr lang="en-US" sz="2000">
                <a:latin typeface="Calibri" pitchFamily="34" charset="0"/>
              </a:rPr>
              <a:t>nutrients</a:t>
            </a:r>
          </a:p>
        </p:txBody>
      </p:sp>
      <p:sp>
        <p:nvSpPr>
          <p:cNvPr id="95243" name="Line 15"/>
          <p:cNvSpPr>
            <a:spLocks noChangeShapeType="1"/>
          </p:cNvSpPr>
          <p:nvPr/>
        </p:nvSpPr>
        <p:spPr bwMode="auto">
          <a:xfrm flipV="1">
            <a:off x="5410200" y="3962400"/>
            <a:ext cx="1066800" cy="1828800"/>
          </a:xfrm>
          <a:prstGeom prst="line">
            <a:avLst/>
          </a:prstGeom>
          <a:noFill/>
          <a:ln w="38100">
            <a:solidFill>
              <a:srgbClr val="CC0000"/>
            </a:solidFill>
            <a:round/>
            <a:headEnd/>
            <a:tailEnd type="triangle" w="med" len="med"/>
          </a:ln>
        </p:spPr>
        <p:txBody>
          <a:bodyPr/>
          <a:lstStyle/>
          <a:p>
            <a:endParaRPr lang="en-US"/>
          </a:p>
        </p:txBody>
      </p:sp>
      <p:sp>
        <p:nvSpPr>
          <p:cNvPr id="95244" name="Text Box 16"/>
          <p:cNvSpPr txBox="1">
            <a:spLocks noChangeArrowheads="1"/>
          </p:cNvSpPr>
          <p:nvPr/>
        </p:nvSpPr>
        <p:spPr bwMode="auto">
          <a:xfrm>
            <a:off x="4773613" y="5699125"/>
            <a:ext cx="1017587" cy="396875"/>
          </a:xfrm>
          <a:prstGeom prst="rect">
            <a:avLst/>
          </a:prstGeom>
          <a:noFill/>
          <a:ln w="9525">
            <a:noFill/>
            <a:miter lim="800000"/>
            <a:headEnd/>
            <a:tailEnd/>
          </a:ln>
        </p:spPr>
        <p:txBody>
          <a:bodyPr wrap="none">
            <a:spAutoFit/>
          </a:bodyPr>
          <a:lstStyle/>
          <a:p>
            <a:r>
              <a:rPr lang="en-US" sz="2000">
                <a:latin typeface="Calibri" pitchFamily="34" charset="0"/>
              </a:rPr>
              <a:t>hyphae</a:t>
            </a:r>
          </a:p>
        </p:txBody>
      </p:sp>
      <p:sp>
        <p:nvSpPr>
          <p:cNvPr id="95245" name="Line 19"/>
          <p:cNvSpPr>
            <a:spLocks noChangeShapeType="1"/>
          </p:cNvSpPr>
          <p:nvPr/>
        </p:nvSpPr>
        <p:spPr bwMode="auto">
          <a:xfrm flipV="1">
            <a:off x="7620000" y="2590800"/>
            <a:ext cx="685800" cy="3200400"/>
          </a:xfrm>
          <a:prstGeom prst="line">
            <a:avLst/>
          </a:prstGeom>
          <a:noFill/>
          <a:ln w="38100">
            <a:solidFill>
              <a:srgbClr val="CC0000"/>
            </a:solidFill>
            <a:prstDash val="sysDot"/>
            <a:round/>
            <a:headEnd/>
            <a:tailEnd type="triangle" w="med" len="med"/>
          </a:ln>
        </p:spPr>
        <p:txBody>
          <a:bodyPr/>
          <a:lstStyle/>
          <a:p>
            <a:endParaRPr lang="en-US"/>
          </a:p>
        </p:txBody>
      </p:sp>
      <p:sp>
        <p:nvSpPr>
          <p:cNvPr id="95246" name="Line 20"/>
          <p:cNvSpPr>
            <a:spLocks noChangeShapeType="1"/>
          </p:cNvSpPr>
          <p:nvPr/>
        </p:nvSpPr>
        <p:spPr bwMode="auto">
          <a:xfrm flipH="1" flipV="1">
            <a:off x="6629400" y="3352800"/>
            <a:ext cx="1295400" cy="685800"/>
          </a:xfrm>
          <a:prstGeom prst="line">
            <a:avLst/>
          </a:prstGeom>
          <a:noFill/>
          <a:ln w="38100">
            <a:solidFill>
              <a:srgbClr val="CC0000"/>
            </a:solidFill>
            <a:prstDash val="sysDot"/>
            <a:round/>
            <a:headEnd/>
            <a:tailEnd type="triangle" w="med" len="med"/>
          </a:ln>
        </p:spPr>
        <p:txBody>
          <a:bodyPr/>
          <a:lstStyle/>
          <a:p>
            <a:endParaRPr lang="en-US"/>
          </a:p>
        </p:txBody>
      </p:sp>
      <p:sp>
        <p:nvSpPr>
          <p:cNvPr id="95247" name="Text Box 21"/>
          <p:cNvSpPr txBox="1">
            <a:spLocks noChangeArrowheads="1"/>
          </p:cNvSpPr>
          <p:nvPr/>
        </p:nvSpPr>
        <p:spPr bwMode="auto">
          <a:xfrm>
            <a:off x="6400800" y="5775325"/>
            <a:ext cx="2584450" cy="396875"/>
          </a:xfrm>
          <a:prstGeom prst="rect">
            <a:avLst/>
          </a:prstGeom>
          <a:noFill/>
          <a:ln w="9525">
            <a:noFill/>
            <a:miter lim="800000"/>
            <a:headEnd/>
            <a:tailEnd/>
          </a:ln>
        </p:spPr>
        <p:txBody>
          <a:bodyPr wrap="none">
            <a:spAutoFit/>
          </a:bodyPr>
          <a:lstStyle/>
          <a:p>
            <a:r>
              <a:rPr lang="en-US" sz="2000">
                <a:latin typeface="Calibri" pitchFamily="34" charset="0"/>
              </a:rPr>
              <a:t>Vesicular Arbuscular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type="body" idx="1"/>
          </p:nvPr>
        </p:nvSpPr>
        <p:spPr>
          <a:xfrm>
            <a:off x="76200" y="1143000"/>
            <a:ext cx="6705600" cy="5562600"/>
          </a:xfrm>
        </p:spPr>
        <p:txBody>
          <a:bodyPr/>
          <a:lstStyle/>
          <a:p>
            <a:pPr eaLnBrk="1" hangingPunct="1"/>
            <a:endParaRPr lang="en-US" b="1" smtClean="0">
              <a:solidFill>
                <a:schemeClr val="hlink"/>
              </a:solidFill>
            </a:endParaRPr>
          </a:p>
          <a:p>
            <a:pPr eaLnBrk="1" hangingPunct="1"/>
            <a:r>
              <a:rPr lang="en-US" b="1" smtClean="0">
                <a:solidFill>
                  <a:schemeClr val="hlink"/>
                </a:solidFill>
              </a:rPr>
              <a:t>Nematodes</a:t>
            </a:r>
          </a:p>
          <a:p>
            <a:pPr eaLnBrk="1" hangingPunct="1">
              <a:buFontTx/>
              <a:buNone/>
            </a:pPr>
            <a:endParaRPr lang="en-US" b="1" smtClean="0">
              <a:solidFill>
                <a:schemeClr val="hlink"/>
              </a:solidFill>
            </a:endParaRPr>
          </a:p>
          <a:p>
            <a:pPr eaLnBrk="1" hangingPunct="1"/>
            <a:r>
              <a:rPr lang="en-US" smtClean="0"/>
              <a:t>Up to 83% soil nematodes are root feeders (herbivores)</a:t>
            </a:r>
          </a:p>
          <a:p>
            <a:pPr eaLnBrk="1" hangingPunct="1">
              <a:buFontTx/>
              <a:buNone/>
            </a:pPr>
            <a:endParaRPr lang="en-US" smtClean="0"/>
          </a:p>
          <a:p>
            <a:pPr eaLnBrk="1" hangingPunct="1"/>
            <a:r>
              <a:rPr lang="en-US" smtClean="0"/>
              <a:t>Nematode activity stimulate by substances in Rhizosphere ( CO</a:t>
            </a:r>
            <a:r>
              <a:rPr lang="en-US" b="1" baseline="-25000" smtClean="0"/>
              <a:t>2</a:t>
            </a:r>
            <a:r>
              <a:rPr lang="en-US" smtClean="0"/>
              <a:t>, ethylene- amino acids- salts- mucigel)</a:t>
            </a:r>
            <a:endParaRPr lang="en-US" sz="4000" smtClean="0"/>
          </a:p>
        </p:txBody>
      </p:sp>
      <p:sp>
        <p:nvSpPr>
          <p:cNvPr id="96259" name="Rectangle 4"/>
          <p:cNvSpPr>
            <a:spLocks noGrp="1" noChangeArrowheads="1"/>
          </p:cNvSpPr>
          <p:nvPr>
            <p:ph type="title"/>
          </p:nvPr>
        </p:nvSpPr>
        <p:spPr/>
        <p:txBody>
          <a:bodyPr/>
          <a:lstStyle/>
          <a:p>
            <a:pPr eaLnBrk="1" hangingPunct="1"/>
            <a:r>
              <a:rPr lang="en-US" sz="3200" smtClean="0"/>
              <a:t>Microorganism in rhizosphere</a:t>
            </a:r>
          </a:p>
        </p:txBody>
      </p:sp>
      <p:pic>
        <p:nvPicPr>
          <p:cNvPr id="96260" name="Picture 6" descr="Pratylenchus agilis on root"/>
          <p:cNvPicPr>
            <a:picLocks noChangeAspect="1" noChangeArrowheads="1"/>
          </p:cNvPicPr>
          <p:nvPr/>
        </p:nvPicPr>
        <p:blipFill>
          <a:blip r:embed="rId2"/>
          <a:srcRect/>
          <a:stretch>
            <a:fillRect/>
          </a:stretch>
        </p:blipFill>
        <p:spPr bwMode="auto">
          <a:xfrm>
            <a:off x="6681788" y="1447800"/>
            <a:ext cx="2386012" cy="4724400"/>
          </a:xfrm>
          <a:prstGeom prst="rect">
            <a:avLst/>
          </a:prstGeom>
          <a:noFill/>
          <a:ln w="9525">
            <a:noFill/>
            <a:miter lim="800000"/>
            <a:headEnd/>
            <a:tailEnd/>
          </a:ln>
        </p:spPr>
      </p:pic>
      <p:sp>
        <p:nvSpPr>
          <p:cNvPr id="96261" name="Text Box 7"/>
          <p:cNvSpPr txBox="1">
            <a:spLocks noChangeArrowheads="1"/>
          </p:cNvSpPr>
          <p:nvPr/>
        </p:nvSpPr>
        <p:spPr bwMode="auto">
          <a:xfrm>
            <a:off x="6781800" y="6361113"/>
            <a:ext cx="2101850" cy="366712"/>
          </a:xfrm>
          <a:prstGeom prst="rect">
            <a:avLst/>
          </a:prstGeom>
          <a:noFill/>
          <a:ln w="9525">
            <a:noFill/>
            <a:miter lim="800000"/>
            <a:headEnd/>
            <a:tailEnd/>
          </a:ln>
        </p:spPr>
        <p:txBody>
          <a:bodyPr wrap="none">
            <a:spAutoFit/>
          </a:bodyPr>
          <a:lstStyle/>
          <a:p>
            <a:r>
              <a:rPr lang="en-US">
                <a:latin typeface="Calibri" pitchFamily="34" charset="0"/>
              </a:rPr>
              <a:t>Lavelle </a:t>
            </a:r>
            <a:r>
              <a:rPr lang="en-US" i="1">
                <a:latin typeface="Calibri" pitchFamily="34" charset="0"/>
              </a:rPr>
              <a:t>et al</a:t>
            </a:r>
            <a:r>
              <a:rPr lang="en-US">
                <a:latin typeface="Calibri" pitchFamily="34" charset="0"/>
              </a:rPr>
              <a:t>., 2001</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Subtitle 2"/>
          <p:cNvSpPr>
            <a:spLocks noGrp="1"/>
          </p:cNvSpPr>
          <p:nvPr>
            <p:ph type="subTitle" idx="1"/>
          </p:nvPr>
        </p:nvSpPr>
        <p:spPr>
          <a:xfrm>
            <a:off x="3200400" y="1828800"/>
            <a:ext cx="5943600" cy="3733800"/>
          </a:xfrm>
        </p:spPr>
        <p:txBody>
          <a:bodyPr>
            <a:normAutofit/>
          </a:bodyPr>
          <a:lstStyle/>
          <a:p>
            <a:pPr fontAlgn="auto">
              <a:spcAft>
                <a:spcPts val="0"/>
              </a:spcAft>
              <a:buFont typeface="Wingdings 2"/>
              <a:buNone/>
              <a:defRPr/>
            </a:pPr>
            <a:r>
              <a:rPr lang="en-US" smtClean="0">
                <a:solidFill>
                  <a:schemeClr val="tx1"/>
                </a:solidFill>
                <a:latin typeface="Arial Black" pitchFamily="34" charset="0"/>
              </a:rPr>
              <a:t>Decomposition of Organic Matter</a:t>
            </a:r>
          </a:p>
        </p:txBody>
      </p:sp>
      <p:sp>
        <p:nvSpPr>
          <p:cNvPr id="501762" name="Rectangle 2"/>
          <p:cNvSpPr>
            <a:spLocks noGrp="1" noChangeArrowheads="1"/>
          </p:cNvSpPr>
          <p:nvPr>
            <p:ph type="ctrTitle"/>
          </p:nvPr>
        </p:nvSpPr>
        <p:spPr>
          <a:xfrm>
            <a:off x="3733800" y="304800"/>
            <a:ext cx="5410200" cy="1470025"/>
          </a:xfrm>
        </p:spPr>
        <p:txBody>
          <a:bodyPr rtlCol="0">
            <a:normAutofit fontScale="90000"/>
          </a:bodyPr>
          <a:lstStyle/>
          <a:p>
            <a:pPr fontAlgn="auto">
              <a:spcAft>
                <a:spcPts val="0"/>
              </a:spcAft>
              <a:defRPr/>
            </a:pPr>
            <a:r>
              <a:rPr lang="en-US" dirty="0" smtClean="0">
                <a:latin typeface="Arial Black" pitchFamily="34" charset="0"/>
              </a:rPr>
              <a:t>SOIL BIOLOGICAL PROCESSES</a:t>
            </a:r>
          </a:p>
        </p:txBody>
      </p:sp>
      <p:sp>
        <p:nvSpPr>
          <p:cNvPr id="18436" name="AutoShape 2" descr="http://www.pratt.duke.edu/files/wordpress/wp-content/uploads/2008/08/plant-residue-cycle-small.jpg"/>
          <p:cNvSpPr>
            <a:spLocks noChangeAspect="1" noChangeArrowheads="1"/>
          </p:cNvSpPr>
          <p:nvPr/>
        </p:nvSpPr>
        <p:spPr bwMode="auto">
          <a:xfrm>
            <a:off x="63500" y="-136525"/>
            <a:ext cx="3552825" cy="5334000"/>
          </a:xfrm>
          <a:prstGeom prst="rect">
            <a:avLst/>
          </a:prstGeom>
          <a:noFill/>
          <a:ln w="9525">
            <a:noFill/>
            <a:miter lim="800000"/>
            <a:headEnd/>
            <a:tailEnd/>
          </a:ln>
        </p:spPr>
        <p:txBody>
          <a:bodyPr/>
          <a:lstStyle/>
          <a:p>
            <a:endParaRPr lang="en-US">
              <a:latin typeface="Calibri" pitchFamily="34" charset="0"/>
            </a:endParaRPr>
          </a:p>
        </p:txBody>
      </p:sp>
      <p:sp>
        <p:nvSpPr>
          <p:cNvPr id="18437" name="AutoShape 4" descr="http://www.pratt.duke.edu/files/wordpress/wp-content/uploads/2008/08/plant-residue-cycle-small.jpg"/>
          <p:cNvSpPr>
            <a:spLocks noChangeAspect="1" noChangeArrowheads="1"/>
          </p:cNvSpPr>
          <p:nvPr/>
        </p:nvSpPr>
        <p:spPr bwMode="auto">
          <a:xfrm>
            <a:off x="0" y="0"/>
            <a:ext cx="3552825" cy="5334000"/>
          </a:xfrm>
          <a:prstGeom prst="rect">
            <a:avLst/>
          </a:prstGeom>
          <a:noFill/>
          <a:ln w="9525">
            <a:noFill/>
            <a:miter lim="800000"/>
            <a:headEnd/>
            <a:tailEnd/>
          </a:ln>
        </p:spPr>
        <p:txBody>
          <a:bodyPr/>
          <a:lstStyle/>
          <a:p>
            <a:endParaRPr lang="en-US">
              <a:latin typeface="Calibri" pitchFamily="34" charset="0"/>
            </a:endParaRPr>
          </a:p>
        </p:txBody>
      </p:sp>
      <p:pic>
        <p:nvPicPr>
          <p:cNvPr id="18438" name="Picture 7" descr="http://www.ecohusky.uconn.edu/images/compost.jpg"/>
          <p:cNvPicPr>
            <a:picLocks noChangeAspect="1" noChangeArrowheads="1"/>
          </p:cNvPicPr>
          <p:nvPr/>
        </p:nvPicPr>
        <p:blipFill>
          <a:blip r:embed="rId2"/>
          <a:srcRect/>
          <a:stretch>
            <a:fillRect/>
          </a:stretch>
        </p:blipFill>
        <p:spPr bwMode="auto">
          <a:xfrm>
            <a:off x="0" y="0"/>
            <a:ext cx="3505200" cy="2819400"/>
          </a:xfrm>
          <a:prstGeom prst="rect">
            <a:avLst/>
          </a:prstGeom>
          <a:noFill/>
          <a:ln w="9525">
            <a:noFill/>
            <a:miter lim="800000"/>
            <a:headEnd/>
            <a:tailEnd/>
          </a:ln>
        </p:spPr>
      </p:pic>
      <p:pic>
        <p:nvPicPr>
          <p:cNvPr id="18439" name="Picture 2" descr="http://www.sciencedaily.com/images/2008/11/081124130948-large.jpg"/>
          <p:cNvPicPr>
            <a:picLocks noChangeAspect="1" noChangeArrowheads="1"/>
          </p:cNvPicPr>
          <p:nvPr/>
        </p:nvPicPr>
        <p:blipFill>
          <a:blip r:embed="rId3"/>
          <a:srcRect/>
          <a:stretch>
            <a:fillRect/>
          </a:stretch>
        </p:blipFill>
        <p:spPr bwMode="auto">
          <a:xfrm>
            <a:off x="5410200" y="3886200"/>
            <a:ext cx="373380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457200" y="990600"/>
            <a:ext cx="8001000" cy="3108543"/>
          </a:xfrm>
          <a:prstGeom prst="rect">
            <a:avLst/>
          </a:prstGeom>
          <a:noFill/>
          <a:ln w="9525">
            <a:noFill/>
            <a:miter lim="800000"/>
            <a:headEnd/>
            <a:tailEnd/>
          </a:ln>
        </p:spPr>
        <p:txBody>
          <a:bodyPr wrap="square">
            <a:spAutoFit/>
          </a:bodyPr>
          <a:lstStyle/>
          <a:p>
            <a:r>
              <a:rPr lang="en-US" sz="2800" b="1" dirty="0">
                <a:latin typeface="Calibri" pitchFamily="34" charset="0"/>
              </a:rPr>
              <a:t>The major fungi involved in  weathering –</a:t>
            </a:r>
          </a:p>
          <a:p>
            <a:r>
              <a:rPr lang="en-US" sz="2800" b="1" dirty="0">
                <a:latin typeface="Calibri" pitchFamily="34" charset="0"/>
              </a:rPr>
              <a:t>taxonomic and ecological perspectives</a:t>
            </a:r>
          </a:p>
          <a:p>
            <a:endParaRPr lang="en-US" sz="2800" dirty="0">
              <a:latin typeface="Calibri" pitchFamily="34" charset="0"/>
            </a:endParaRPr>
          </a:p>
          <a:p>
            <a:r>
              <a:rPr lang="en-US" sz="2800" dirty="0">
                <a:latin typeface="Calibri" pitchFamily="34" charset="0"/>
              </a:rPr>
              <a:t>In the fungal phyla </a:t>
            </a:r>
            <a:r>
              <a:rPr lang="en-US" sz="2800" dirty="0" err="1">
                <a:latin typeface="Calibri" pitchFamily="34" charset="0"/>
              </a:rPr>
              <a:t>Ascomycota</a:t>
            </a:r>
            <a:r>
              <a:rPr lang="en-US" sz="2800" dirty="0">
                <a:latin typeface="Calibri" pitchFamily="34" charset="0"/>
              </a:rPr>
              <a:t>, </a:t>
            </a:r>
            <a:r>
              <a:rPr lang="en-US" sz="2800" dirty="0" err="1">
                <a:latin typeface="Calibri" pitchFamily="34" charset="0"/>
              </a:rPr>
              <a:t>Basidiomycota</a:t>
            </a:r>
            <a:r>
              <a:rPr lang="en-US" sz="2800" dirty="0">
                <a:latin typeface="Calibri" pitchFamily="34" charset="0"/>
              </a:rPr>
              <a:t>, and </a:t>
            </a:r>
            <a:r>
              <a:rPr lang="en-US" sz="2800" dirty="0" err="1">
                <a:latin typeface="Calibri" pitchFamily="34" charset="0"/>
              </a:rPr>
              <a:t>Zygomycota</a:t>
            </a:r>
            <a:r>
              <a:rPr lang="en-US" sz="2800" dirty="0">
                <a:latin typeface="Calibri" pitchFamily="34" charset="0"/>
              </a:rPr>
              <a:t>, important functional groups of fungi with potential weathering capabilities can be recognized.</a:t>
            </a:r>
          </a:p>
        </p:txBody>
      </p:sp>
      <p:sp>
        <p:nvSpPr>
          <p:cNvPr id="3" name="Rectangle 2"/>
          <p:cNvSpPr/>
          <p:nvPr/>
        </p:nvSpPr>
        <p:spPr>
          <a:xfrm>
            <a:off x="1295400" y="0"/>
            <a:ext cx="5562600" cy="1200329"/>
          </a:xfrm>
          <a:prstGeom prst="rect">
            <a:avLst/>
          </a:prstGeom>
        </p:spPr>
        <p:txBody>
          <a:bodyPr wrap="square">
            <a:spAutoFit/>
          </a:bodyPr>
          <a:lstStyle/>
          <a:p>
            <a:r>
              <a:rPr lang="en-US" dirty="0" smtClean="0">
                <a:solidFill>
                  <a:schemeClr val="accent3">
                    <a:shade val="75000"/>
                  </a:schemeClr>
                </a:solidFill>
                <a:latin typeface="Arial Black" pitchFamily="34" charset="0"/>
              </a:rPr>
              <a:t>Weathering of rocks : biological weathering/ microorganisms helps weathering</a:t>
            </a:r>
            <a:br>
              <a:rPr lang="en-US" dirty="0" smtClean="0">
                <a:solidFill>
                  <a:schemeClr val="accent3">
                    <a:shade val="75000"/>
                  </a:schemeClr>
                </a:solidFill>
                <a:latin typeface="Arial Black" pitchFamily="34" charset="0"/>
              </a:rPr>
            </a:br>
            <a:endParaRPr lang="en-US" dirty="0"/>
          </a:p>
        </p:txBody>
      </p:sp>
      <p:pic>
        <p:nvPicPr>
          <p:cNvPr id="4" name="Picture 2" descr="http://cdn.physorg.com/newman/gfx/news/hires/1-plantssaveth.jpg"/>
          <p:cNvPicPr>
            <a:picLocks noChangeAspect="1" noChangeArrowheads="1"/>
          </p:cNvPicPr>
          <p:nvPr/>
        </p:nvPicPr>
        <p:blipFill>
          <a:blip r:embed="rId2"/>
          <a:srcRect/>
          <a:stretch>
            <a:fillRect/>
          </a:stretch>
        </p:blipFill>
        <p:spPr bwMode="auto">
          <a:xfrm>
            <a:off x="5334000" y="4000500"/>
            <a:ext cx="3810000" cy="28575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Content Placeholder 2"/>
          <p:cNvSpPr>
            <a:spLocks noGrp="1"/>
          </p:cNvSpPr>
          <p:nvPr>
            <p:ph idx="4294967295"/>
          </p:nvPr>
        </p:nvSpPr>
        <p:spPr>
          <a:xfrm>
            <a:off x="609600" y="1066800"/>
            <a:ext cx="7239000" cy="5059363"/>
          </a:xfrm>
        </p:spPr>
        <p:txBody>
          <a:bodyPr>
            <a:normAutofit/>
          </a:bodyPr>
          <a:lstStyle/>
          <a:p>
            <a:pPr marL="274320" indent="-274320" fontAlgn="auto">
              <a:lnSpc>
                <a:spcPct val="90000"/>
              </a:lnSpc>
              <a:spcAft>
                <a:spcPts val="0"/>
              </a:spcAft>
              <a:buFont typeface="Arial" pitchFamily="34" charset="0"/>
              <a:buNone/>
              <a:defRPr/>
            </a:pPr>
            <a:r>
              <a:rPr lang="en-US" dirty="0" smtClean="0"/>
              <a:t>Lichen-forming fungi. Lichens, associations between</a:t>
            </a:r>
          </a:p>
          <a:p>
            <a:pPr marL="274320" indent="-274320" fontAlgn="auto">
              <a:lnSpc>
                <a:spcPct val="90000"/>
              </a:lnSpc>
              <a:spcAft>
                <a:spcPts val="0"/>
              </a:spcAft>
              <a:buFont typeface="Arial" pitchFamily="34" charset="0"/>
              <a:buNone/>
              <a:defRPr/>
            </a:pPr>
            <a:r>
              <a:rPr lang="en-US" dirty="0" smtClean="0"/>
              <a:t>fungi and algae or </a:t>
            </a:r>
            <a:r>
              <a:rPr lang="en-US" dirty="0" err="1" smtClean="0"/>
              <a:t>cyanobacteria</a:t>
            </a:r>
            <a:r>
              <a:rPr lang="en-US" dirty="0" smtClean="0"/>
              <a:t>, date at least from the early Devonian (400 million years ago). </a:t>
            </a:r>
          </a:p>
          <a:p>
            <a:pPr marL="274320" indent="-274320" fontAlgn="auto">
              <a:lnSpc>
                <a:spcPct val="90000"/>
              </a:lnSpc>
              <a:spcAft>
                <a:spcPts val="0"/>
              </a:spcAft>
              <a:buFont typeface="Arial" pitchFamily="34" charset="0"/>
              <a:buNone/>
              <a:defRPr/>
            </a:pPr>
            <a:r>
              <a:rPr lang="en-US" dirty="0" smtClean="0"/>
              <a:t>Lichens have played an important role in rock</a:t>
            </a:r>
          </a:p>
          <a:p>
            <a:pPr marL="274320" indent="-274320" fontAlgn="auto">
              <a:lnSpc>
                <a:spcPct val="90000"/>
              </a:lnSpc>
              <a:spcAft>
                <a:spcPts val="0"/>
              </a:spcAft>
              <a:buFont typeface="Arial" pitchFamily="34" charset="0"/>
              <a:buNone/>
              <a:defRPr/>
            </a:pPr>
            <a:r>
              <a:rPr lang="en-US" dirty="0" smtClean="0"/>
              <a:t>    weathering and soil development (Chen </a:t>
            </a:r>
            <a:r>
              <a:rPr lang="en-US" i="1" dirty="0" smtClean="0"/>
              <a:t>et al. 2000).</a:t>
            </a:r>
          </a:p>
          <a:p>
            <a:pPr marL="274320" indent="-274320" fontAlgn="auto">
              <a:lnSpc>
                <a:spcPct val="90000"/>
              </a:lnSpc>
              <a:spcAft>
                <a:spcPts val="0"/>
              </a:spcAft>
              <a:buFont typeface="Arial" pitchFamily="34" charset="0"/>
              <a:buNone/>
              <a:defRPr/>
            </a:pPr>
            <a:r>
              <a:rPr lang="en-US" dirty="0" smtClean="0"/>
              <a:t>Because the associated fungus is closer to the mineral interface than the plant, the weathering ability of lichens is most probably due mainly to the fungus.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sz="quarter" idx="4294967295"/>
          </p:nvPr>
        </p:nvSpPr>
        <p:spPr bwMode="auto">
          <a:xfrm>
            <a:off x="0" y="1600200"/>
            <a:ext cx="8229600" cy="52578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Arial" pitchFamily="34" charset="0"/>
              <a:buNone/>
            </a:pPr>
            <a:r>
              <a:rPr lang="en-US" sz="2700">
                <a:solidFill>
                  <a:schemeClr val="tx1"/>
                </a:solidFill>
              </a:rPr>
              <a:t>Mycorrhizal fungi, especially ectomycorrhizal</a:t>
            </a:r>
          </a:p>
          <a:p>
            <a:pPr marL="273050" indent="-273050" algn="l" fontAlgn="base">
              <a:spcBef>
                <a:spcPct val="20000"/>
              </a:spcBef>
              <a:spcAft>
                <a:spcPct val="0"/>
              </a:spcAft>
              <a:buClr>
                <a:schemeClr val="accent1"/>
              </a:buClr>
              <a:buSzPct val="85000"/>
              <a:buFont typeface="Arial" pitchFamily="34" charset="0"/>
              <a:buNone/>
            </a:pPr>
            <a:r>
              <a:rPr lang="en-US" sz="2700">
                <a:solidFill>
                  <a:schemeClr val="tx1"/>
                </a:solidFill>
              </a:rPr>
              <a:t>(sheathing mycorrhizal) and ericoid mycorrhizal fungi, which were recognized recently as potentially important for mineral weathering (Lndeweert </a:t>
            </a:r>
            <a:r>
              <a:rPr lang="en-US" sz="2700" i="1">
                <a:solidFill>
                  <a:schemeClr val="tx1"/>
                </a:solidFill>
              </a:rPr>
              <a:t>et al. 2001).</a:t>
            </a:r>
            <a:endParaRPr lang="en-US" sz="2700">
              <a:solidFill>
                <a:schemeClr val="tx1"/>
              </a:solidFill>
            </a:endParaRPr>
          </a:p>
        </p:txBody>
      </p:sp>
      <p:pic>
        <p:nvPicPr>
          <p:cNvPr id="22532" name="Picture 2" descr="http://t0.gstatic.com/images?q=tbn:j0S4TuSO-QMrhM:http://www.una.edu/faculty/pgdavison/images/trees/ectmyccm.jpg"/>
          <p:cNvPicPr>
            <a:picLocks noChangeAspect="1" noChangeArrowheads="1"/>
          </p:cNvPicPr>
          <p:nvPr/>
        </p:nvPicPr>
        <p:blipFill>
          <a:blip r:embed="rId2"/>
          <a:srcRect/>
          <a:stretch>
            <a:fillRect/>
          </a:stretch>
        </p:blipFill>
        <p:spPr bwMode="auto">
          <a:xfrm>
            <a:off x="5334000" y="3962400"/>
            <a:ext cx="3810000" cy="28956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sz="quarter" idx="4294967295"/>
          </p:nvPr>
        </p:nvSpPr>
        <p:spPr bwMode="auto">
          <a:xfrm>
            <a:off x="0" y="1600200"/>
            <a:ext cx="8229600" cy="52578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Arial" pitchFamily="34" charset="0"/>
              <a:buNone/>
            </a:pPr>
            <a:r>
              <a:rPr lang="en-US" sz="2700" dirty="0" err="1">
                <a:solidFill>
                  <a:schemeClr val="tx1"/>
                </a:solidFill>
              </a:rPr>
              <a:t>Saprotrophic</a:t>
            </a:r>
            <a:r>
              <a:rPr lang="en-US" sz="2700" dirty="0">
                <a:solidFill>
                  <a:schemeClr val="tx1"/>
                </a:solidFill>
              </a:rPr>
              <a:t> fungi, </a:t>
            </a:r>
            <a:r>
              <a:rPr lang="en-US" sz="2700" i="1" dirty="0" err="1" smtClean="0">
                <a:solidFill>
                  <a:schemeClr val="tx1"/>
                </a:solidFill>
              </a:rPr>
              <a:t>Aspergillus</a:t>
            </a:r>
            <a:r>
              <a:rPr lang="en-US" sz="2700" i="1" dirty="0" smtClean="0">
                <a:solidFill>
                  <a:schemeClr val="tx1"/>
                </a:solidFill>
              </a:rPr>
              <a:t> </a:t>
            </a:r>
            <a:r>
              <a:rPr lang="en-US" sz="2700" i="1" dirty="0" err="1">
                <a:solidFill>
                  <a:schemeClr val="tx1"/>
                </a:solidFill>
              </a:rPr>
              <a:t>niger</a:t>
            </a:r>
            <a:r>
              <a:rPr lang="en-US" sz="2700" i="1" dirty="0">
                <a:solidFill>
                  <a:schemeClr val="tx1"/>
                </a:solidFill>
              </a:rPr>
              <a:t> </a:t>
            </a:r>
            <a:r>
              <a:rPr lang="en-US" sz="2700" dirty="0" smtClean="0">
                <a:solidFill>
                  <a:schemeClr val="tx1"/>
                </a:solidFill>
              </a:rPr>
              <a:t>which </a:t>
            </a:r>
            <a:r>
              <a:rPr lang="en-US" sz="2700" dirty="0">
                <a:solidFill>
                  <a:schemeClr val="tx1"/>
                </a:solidFill>
              </a:rPr>
              <a:t>use relatively simple carbohydrate sources and quickly proliferate under favorable conditions.</a:t>
            </a:r>
          </a:p>
        </p:txBody>
      </p:sp>
      <p:pic>
        <p:nvPicPr>
          <p:cNvPr id="23556" name="Picture 4" descr="See full size image"/>
          <p:cNvPicPr>
            <a:picLocks noChangeAspect="1" noChangeArrowheads="1"/>
          </p:cNvPicPr>
          <p:nvPr/>
        </p:nvPicPr>
        <p:blipFill>
          <a:blip r:embed="rId2"/>
          <a:srcRect/>
          <a:stretch>
            <a:fillRect/>
          </a:stretch>
        </p:blipFill>
        <p:spPr bwMode="auto">
          <a:xfrm>
            <a:off x="5867400" y="4191000"/>
            <a:ext cx="3276600" cy="2667000"/>
          </a:xfrm>
          <a:prstGeom prst="rect">
            <a:avLst/>
          </a:prstGeom>
          <a:noFill/>
          <a:ln w="9525">
            <a:noFill/>
            <a:miter lim="800000"/>
            <a:headEnd/>
            <a:tailEnd/>
          </a:ln>
        </p:spPr>
      </p:pic>
      <p:pic>
        <p:nvPicPr>
          <p:cNvPr id="23557" name="Picture 6" descr="http://www.pgodoy.com/imagensoportu/Aspergillus_niger.jpg"/>
          <p:cNvPicPr>
            <a:picLocks noChangeAspect="1" noChangeArrowheads="1"/>
          </p:cNvPicPr>
          <p:nvPr/>
        </p:nvPicPr>
        <p:blipFill>
          <a:blip r:embed="rId3"/>
          <a:srcRect/>
          <a:stretch>
            <a:fillRect/>
          </a:stretch>
        </p:blipFill>
        <p:spPr bwMode="auto">
          <a:xfrm>
            <a:off x="0" y="4114800"/>
            <a:ext cx="3048000" cy="274320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sz="quarter" idx="4294967295"/>
          </p:nvPr>
        </p:nvSpPr>
        <p:spPr bwMode="auto">
          <a:xfrm>
            <a:off x="0" y="1828800"/>
            <a:ext cx="5791200" cy="47244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lnSpc>
                <a:spcPct val="90000"/>
              </a:lnSpc>
              <a:spcBef>
                <a:spcPct val="20000"/>
              </a:spcBef>
              <a:spcAft>
                <a:spcPct val="0"/>
              </a:spcAft>
              <a:buClr>
                <a:schemeClr val="accent1"/>
              </a:buClr>
              <a:buSzPct val="85000"/>
              <a:buFont typeface="Arial" pitchFamily="34" charset="0"/>
              <a:buNone/>
            </a:pPr>
            <a:endParaRPr lang="en-US" sz="2400" dirty="0" smtClean="0">
              <a:solidFill>
                <a:schemeClr val="tx1"/>
              </a:solidFill>
            </a:endParaRPr>
          </a:p>
          <a:p>
            <a:pPr marL="273050" indent="-273050" algn="l" fontAlgn="base">
              <a:lnSpc>
                <a:spcPct val="90000"/>
              </a:lnSpc>
              <a:spcBef>
                <a:spcPct val="20000"/>
              </a:spcBef>
              <a:spcAft>
                <a:spcPct val="0"/>
              </a:spcAft>
              <a:buClr>
                <a:schemeClr val="accent1"/>
              </a:buClr>
              <a:buSzPct val="85000"/>
              <a:buFont typeface="Arial" pitchFamily="34" charset="0"/>
              <a:buNone/>
            </a:pPr>
            <a:r>
              <a:rPr lang="en-US" sz="2400" dirty="0" err="1" smtClean="0">
                <a:solidFill>
                  <a:schemeClr val="tx1"/>
                </a:solidFill>
              </a:rPr>
              <a:t>Saprotrophic</a:t>
            </a:r>
            <a:r>
              <a:rPr lang="en-US" sz="2400" dirty="0" smtClean="0">
                <a:solidFill>
                  <a:schemeClr val="tx1"/>
                </a:solidFill>
              </a:rPr>
              <a:t> </a:t>
            </a:r>
            <a:r>
              <a:rPr lang="en-US" sz="2400" dirty="0">
                <a:solidFill>
                  <a:schemeClr val="tx1"/>
                </a:solidFill>
              </a:rPr>
              <a:t>organisms that use the </a:t>
            </a:r>
            <a:r>
              <a:rPr lang="en-US" sz="2400" dirty="0" err="1" smtClean="0">
                <a:solidFill>
                  <a:schemeClr val="tx1"/>
                </a:solidFill>
              </a:rPr>
              <a:t>lignocellulose</a:t>
            </a:r>
            <a:r>
              <a:rPr lang="en-US" sz="2400" dirty="0" smtClean="0">
                <a:solidFill>
                  <a:schemeClr val="tx1"/>
                </a:solidFill>
              </a:rPr>
              <a:t> complex</a:t>
            </a:r>
            <a:r>
              <a:rPr lang="en-US" sz="2400" dirty="0">
                <a:solidFill>
                  <a:schemeClr val="tx1"/>
                </a:solidFill>
              </a:rPr>
              <a:t>. </a:t>
            </a:r>
            <a:endParaRPr lang="en-US" sz="2400" dirty="0" smtClean="0">
              <a:solidFill>
                <a:schemeClr val="tx1"/>
              </a:solidFill>
            </a:endParaRPr>
          </a:p>
          <a:p>
            <a:pPr marL="273050" indent="-273050" algn="l" fontAlgn="base">
              <a:lnSpc>
                <a:spcPct val="90000"/>
              </a:lnSpc>
              <a:spcBef>
                <a:spcPct val="20000"/>
              </a:spcBef>
              <a:spcAft>
                <a:spcPct val="0"/>
              </a:spcAft>
              <a:buClr>
                <a:schemeClr val="accent1"/>
              </a:buClr>
              <a:buSzPct val="85000"/>
              <a:buFont typeface="Arial" pitchFamily="34" charset="0"/>
              <a:buNone/>
            </a:pPr>
            <a:r>
              <a:rPr lang="en-US" sz="2400" dirty="0" smtClean="0">
                <a:solidFill>
                  <a:schemeClr val="tx1"/>
                </a:solidFill>
              </a:rPr>
              <a:t>White </a:t>
            </a:r>
            <a:r>
              <a:rPr lang="en-US" sz="2400" dirty="0">
                <a:solidFill>
                  <a:schemeClr val="tx1"/>
                </a:solidFill>
              </a:rPr>
              <a:t>rot and brown rot fungi produce </a:t>
            </a:r>
            <a:r>
              <a:rPr lang="en-US" sz="2400" dirty="0" smtClean="0">
                <a:solidFill>
                  <a:schemeClr val="tx1"/>
                </a:solidFill>
              </a:rPr>
              <a:t>large amounts </a:t>
            </a:r>
            <a:r>
              <a:rPr lang="en-US" sz="2400" dirty="0">
                <a:solidFill>
                  <a:schemeClr val="tx1"/>
                </a:solidFill>
              </a:rPr>
              <a:t>of organic anions (especially oxalate) that</a:t>
            </a:r>
          </a:p>
          <a:p>
            <a:pPr marL="273050" indent="-273050" algn="l" fontAlgn="base">
              <a:lnSpc>
                <a:spcPct val="90000"/>
              </a:lnSpc>
              <a:spcBef>
                <a:spcPct val="20000"/>
              </a:spcBef>
              <a:spcAft>
                <a:spcPct val="0"/>
              </a:spcAft>
              <a:buClr>
                <a:schemeClr val="accent1"/>
              </a:buClr>
              <a:buSzPct val="85000"/>
              <a:buFont typeface="Arial" pitchFamily="34" charset="0"/>
              <a:buNone/>
            </a:pPr>
            <a:r>
              <a:rPr lang="en-US" sz="2400" dirty="0" smtClean="0">
                <a:solidFill>
                  <a:schemeClr val="tx1"/>
                </a:solidFill>
              </a:rPr>
              <a:t>    they </a:t>
            </a:r>
            <a:r>
              <a:rPr lang="en-US" sz="2400" dirty="0">
                <a:solidFill>
                  <a:schemeClr val="tx1"/>
                </a:solidFill>
              </a:rPr>
              <a:t>use for generating hydrogen peroxide and for </a:t>
            </a:r>
            <a:r>
              <a:rPr lang="en-US" sz="2400" dirty="0" smtClean="0">
                <a:solidFill>
                  <a:schemeClr val="tx1"/>
                </a:solidFill>
              </a:rPr>
              <a:t>the production </a:t>
            </a:r>
            <a:r>
              <a:rPr lang="en-US" sz="2400" dirty="0">
                <a:solidFill>
                  <a:schemeClr val="tx1"/>
                </a:solidFill>
              </a:rPr>
              <a:t>of </a:t>
            </a:r>
            <a:r>
              <a:rPr lang="en-US" sz="2400" dirty="0" err="1">
                <a:solidFill>
                  <a:schemeClr val="tx1"/>
                </a:solidFill>
              </a:rPr>
              <a:t>Mn</a:t>
            </a:r>
            <a:r>
              <a:rPr lang="en-US" sz="2400" dirty="0">
                <a:solidFill>
                  <a:schemeClr val="tx1"/>
                </a:solidFill>
              </a:rPr>
              <a:t> </a:t>
            </a:r>
            <a:r>
              <a:rPr lang="en-US" sz="2400" dirty="0" err="1">
                <a:solidFill>
                  <a:schemeClr val="tx1"/>
                </a:solidFill>
              </a:rPr>
              <a:t>chelates</a:t>
            </a:r>
            <a:r>
              <a:rPr lang="en-US" sz="2400" dirty="0">
                <a:solidFill>
                  <a:schemeClr val="tx1"/>
                </a:solidFill>
              </a:rPr>
              <a:t> that can oxidize a range </a:t>
            </a:r>
            <a:r>
              <a:rPr lang="en-US" sz="2400" dirty="0" smtClean="0">
                <a:solidFill>
                  <a:schemeClr val="tx1"/>
                </a:solidFill>
              </a:rPr>
              <a:t>of </a:t>
            </a:r>
            <a:r>
              <a:rPr lang="en-US" sz="2400" dirty="0" err="1" smtClean="0">
                <a:solidFill>
                  <a:schemeClr val="tx1"/>
                </a:solidFill>
              </a:rPr>
              <a:t>phenolic</a:t>
            </a:r>
            <a:r>
              <a:rPr lang="en-US" sz="2400" dirty="0" smtClean="0">
                <a:solidFill>
                  <a:schemeClr val="tx1"/>
                </a:solidFill>
              </a:rPr>
              <a:t> </a:t>
            </a:r>
            <a:r>
              <a:rPr lang="en-US" sz="2400" dirty="0">
                <a:solidFill>
                  <a:schemeClr val="tx1"/>
                </a:solidFill>
              </a:rPr>
              <a:t>compounds </a:t>
            </a:r>
            <a:r>
              <a:rPr lang="en-US" sz="2400" dirty="0" smtClean="0">
                <a:solidFill>
                  <a:schemeClr val="tx1"/>
                </a:solidFill>
              </a:rPr>
              <a:t>may </a:t>
            </a:r>
            <a:r>
              <a:rPr lang="en-US" sz="2400" dirty="0">
                <a:solidFill>
                  <a:schemeClr val="tx1"/>
                </a:solidFill>
              </a:rPr>
              <a:t>therefore be potential weathering </a:t>
            </a:r>
            <a:r>
              <a:rPr lang="en-US" sz="2400" dirty="0" smtClean="0">
                <a:solidFill>
                  <a:schemeClr val="tx1"/>
                </a:solidFill>
              </a:rPr>
              <a:t>agents</a:t>
            </a:r>
            <a:r>
              <a:rPr lang="en-US" sz="2400" dirty="0">
                <a:solidFill>
                  <a:schemeClr val="tx1"/>
                </a:solidFill>
              </a:rPr>
              <a:t>.</a:t>
            </a:r>
          </a:p>
        </p:txBody>
      </p:sp>
      <p:pic>
        <p:nvPicPr>
          <p:cNvPr id="24580" name="Picture 2" descr="See full size image"/>
          <p:cNvPicPr>
            <a:picLocks noChangeAspect="1" noChangeArrowheads="1"/>
          </p:cNvPicPr>
          <p:nvPr/>
        </p:nvPicPr>
        <p:blipFill>
          <a:blip r:embed="rId2"/>
          <a:srcRect/>
          <a:stretch>
            <a:fillRect/>
          </a:stretch>
        </p:blipFill>
        <p:spPr bwMode="auto">
          <a:xfrm>
            <a:off x="5715000" y="4419600"/>
            <a:ext cx="3124200" cy="2057400"/>
          </a:xfrm>
          <a:prstGeom prst="rect">
            <a:avLst/>
          </a:prstGeom>
          <a:noFill/>
          <a:ln w="9525">
            <a:noFill/>
            <a:miter lim="800000"/>
            <a:headEnd/>
            <a:tailEnd/>
          </a:ln>
        </p:spPr>
      </p:pic>
      <p:pic>
        <p:nvPicPr>
          <p:cNvPr id="24581" name="Picture 4" descr="http://invam.caf.wvu.edu/methods/spores/cleaning/htghealthy.jpg"/>
          <p:cNvPicPr>
            <a:picLocks noChangeAspect="1" noChangeArrowheads="1"/>
          </p:cNvPicPr>
          <p:nvPr/>
        </p:nvPicPr>
        <p:blipFill>
          <a:blip r:embed="rId3"/>
          <a:srcRect/>
          <a:stretch>
            <a:fillRect/>
          </a:stretch>
        </p:blipFill>
        <p:spPr bwMode="auto">
          <a:xfrm>
            <a:off x="0" y="0"/>
            <a:ext cx="3352800" cy="19050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p:cNvSpPr>
            <a:spLocks noGrp="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Arial" pitchFamily="34" charset="0"/>
              <a:buNone/>
            </a:pPr>
            <a:r>
              <a:rPr lang="en-US" sz="2700" b="1" dirty="0">
                <a:solidFill>
                  <a:schemeClr val="tx1"/>
                </a:solidFill>
              </a:rPr>
              <a:t>How do fungi weather rocks and minerals?</a:t>
            </a:r>
          </a:p>
          <a:p>
            <a:pPr marL="273050" indent="-273050" algn="l" fontAlgn="base">
              <a:spcBef>
                <a:spcPct val="20000"/>
              </a:spcBef>
              <a:spcAft>
                <a:spcPct val="0"/>
              </a:spcAft>
              <a:buClr>
                <a:schemeClr val="accent1"/>
              </a:buClr>
              <a:buSzPct val="85000"/>
              <a:buFont typeface="Arial" pitchFamily="34" charset="0"/>
              <a:buNone/>
            </a:pPr>
            <a:r>
              <a:rPr lang="en-US" sz="2700" dirty="0" smtClean="0">
                <a:solidFill>
                  <a:schemeClr val="tx1"/>
                </a:solidFill>
              </a:rPr>
              <a:t>   Fungi </a:t>
            </a:r>
            <a:r>
              <a:rPr lang="en-US" sz="2700" dirty="0">
                <a:solidFill>
                  <a:schemeClr val="tx1"/>
                </a:solidFill>
              </a:rPr>
              <a:t>can penetrate solid materials using both physical and chemical tools. The </a:t>
            </a:r>
            <a:r>
              <a:rPr lang="en-US" sz="2700" dirty="0" err="1">
                <a:solidFill>
                  <a:schemeClr val="tx1"/>
                </a:solidFill>
              </a:rPr>
              <a:t>mycelial</a:t>
            </a:r>
            <a:r>
              <a:rPr lang="en-US" sz="2700" dirty="0">
                <a:solidFill>
                  <a:schemeClr val="tx1"/>
                </a:solidFill>
              </a:rPr>
              <a:t> growth form allows fungi to exploit weak spots on the rock or grain surface.</a:t>
            </a:r>
          </a:p>
        </p:txBody>
      </p:sp>
      <p:pic>
        <p:nvPicPr>
          <p:cNvPr id="25604" name="Picture 4" descr="See full size image"/>
          <p:cNvPicPr>
            <a:picLocks noChangeAspect="1" noChangeArrowheads="1"/>
          </p:cNvPicPr>
          <p:nvPr/>
        </p:nvPicPr>
        <p:blipFill>
          <a:blip r:embed="rId2"/>
          <a:srcRect/>
          <a:stretch>
            <a:fillRect/>
          </a:stretch>
        </p:blipFill>
        <p:spPr bwMode="auto">
          <a:xfrm>
            <a:off x="0" y="4724400"/>
            <a:ext cx="2590800" cy="2133600"/>
          </a:xfrm>
          <a:prstGeom prst="rect">
            <a:avLst/>
          </a:prstGeom>
          <a:noFill/>
          <a:ln w="9525">
            <a:noFill/>
            <a:miter lim="800000"/>
            <a:headEnd/>
            <a:tailEnd/>
          </a:ln>
        </p:spPr>
      </p:pic>
      <p:pic>
        <p:nvPicPr>
          <p:cNvPr id="25605" name="Picture 6" descr="See full size image"/>
          <p:cNvPicPr>
            <a:picLocks noChangeAspect="1" noChangeArrowheads="1"/>
          </p:cNvPicPr>
          <p:nvPr/>
        </p:nvPicPr>
        <p:blipFill>
          <a:blip r:embed="rId3"/>
          <a:srcRect/>
          <a:stretch>
            <a:fillRect/>
          </a:stretch>
        </p:blipFill>
        <p:spPr bwMode="auto">
          <a:xfrm>
            <a:off x="6400800" y="4724400"/>
            <a:ext cx="2743200" cy="2133600"/>
          </a:xfrm>
          <a:prstGeom prst="rect">
            <a:avLst/>
          </a:prstGeom>
          <a:noFill/>
          <a:ln w="9525">
            <a:noFill/>
            <a:miter lim="800000"/>
            <a:headEnd/>
            <a:tailEnd/>
          </a:ln>
        </p:spPr>
      </p:pic>
      <p:pic>
        <p:nvPicPr>
          <p:cNvPr id="25606" name="Picture 8" descr="http://www.clarku.edu/faculty/dhibbett/TFTOL/images/HYPHAE1.gif"/>
          <p:cNvPicPr>
            <a:picLocks noChangeAspect="1" noChangeArrowheads="1"/>
          </p:cNvPicPr>
          <p:nvPr/>
        </p:nvPicPr>
        <p:blipFill>
          <a:blip r:embed="rId4"/>
          <a:srcRect/>
          <a:stretch>
            <a:fillRect/>
          </a:stretch>
        </p:blipFill>
        <p:spPr bwMode="auto">
          <a:xfrm>
            <a:off x="2971800" y="4724400"/>
            <a:ext cx="3057525" cy="2133600"/>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bwMode="auto">
          <a:xfrm>
            <a:off x="0" y="1905000"/>
            <a:ext cx="9144000" cy="4953000"/>
          </a:xfrm>
          <a:noFill/>
          <a:ln>
            <a:miter lim="800000"/>
            <a:headEnd/>
            <a:tailEnd/>
          </a:ln>
        </p:spPr>
        <p:txBody>
          <a:bodyPr rtlCol="0">
            <a:normAutofit/>
          </a:bodyPr>
          <a:lstStyle/>
          <a:p>
            <a:pPr marL="274320" indent="-274320" algn="l">
              <a:lnSpc>
                <a:spcPct val="80000"/>
              </a:lnSpc>
              <a:spcBef>
                <a:spcPct val="20000"/>
              </a:spcBef>
              <a:buClr>
                <a:schemeClr val="accent1"/>
              </a:buClr>
              <a:buSzPct val="85000"/>
              <a:buFont typeface="Arial" charset="0"/>
              <a:buNone/>
              <a:defRPr/>
            </a:pPr>
            <a:r>
              <a:rPr lang="en-US" sz="2600" i="1" dirty="0">
                <a:solidFill>
                  <a:schemeClr val="tx1"/>
                </a:solidFill>
              </a:rPr>
              <a:t>Lichen compounds. “Lichen acids”, produced by the fungal</a:t>
            </a:r>
          </a:p>
          <a:p>
            <a:pPr marL="274320" indent="-274320" algn="l">
              <a:lnSpc>
                <a:spcPct val="80000"/>
              </a:lnSpc>
              <a:spcBef>
                <a:spcPct val="20000"/>
              </a:spcBef>
              <a:buClr>
                <a:schemeClr val="accent1"/>
              </a:buClr>
              <a:buSzPct val="85000"/>
              <a:buFont typeface="Arial" charset="0"/>
              <a:buNone/>
              <a:defRPr/>
            </a:pPr>
            <a:r>
              <a:rPr lang="en-US" sz="2600" dirty="0" smtClean="0">
                <a:solidFill>
                  <a:schemeClr val="tx1"/>
                </a:solidFill>
              </a:rPr>
              <a:t>   partner </a:t>
            </a:r>
            <a:r>
              <a:rPr lang="en-US" sz="2600" dirty="0">
                <a:solidFill>
                  <a:schemeClr val="tx1"/>
                </a:solidFill>
              </a:rPr>
              <a:t>in the lichen symbiosis, have for a long time been recognized as the major weathering components of lichens growing on </a:t>
            </a:r>
            <a:r>
              <a:rPr lang="en-US" sz="2600" dirty="0" smtClean="0">
                <a:solidFill>
                  <a:schemeClr val="tx1"/>
                </a:solidFill>
              </a:rPr>
              <a:t>rocks.</a:t>
            </a:r>
            <a:endParaRPr lang="en-US" sz="2600" i="1" dirty="0" smtClean="0">
              <a:solidFill>
                <a:schemeClr val="tx1"/>
              </a:solidFill>
            </a:endParaRPr>
          </a:p>
          <a:p>
            <a:pPr marL="274320" indent="-274320" algn="l">
              <a:lnSpc>
                <a:spcPct val="80000"/>
              </a:lnSpc>
              <a:spcBef>
                <a:spcPct val="20000"/>
              </a:spcBef>
              <a:buClr>
                <a:schemeClr val="accent1"/>
              </a:buClr>
              <a:buSzPct val="85000"/>
              <a:buFont typeface="Arial" charset="0"/>
              <a:buNone/>
              <a:defRPr/>
            </a:pPr>
            <a:r>
              <a:rPr lang="en-US" sz="2600" dirty="0" smtClean="0">
                <a:solidFill>
                  <a:schemeClr val="tx1"/>
                </a:solidFill>
              </a:rPr>
              <a:t>Furthermore</a:t>
            </a:r>
            <a:r>
              <a:rPr lang="en-US" sz="2600" dirty="0">
                <a:solidFill>
                  <a:schemeClr val="tx1"/>
                </a:solidFill>
              </a:rPr>
              <a:t>, lichen compounds are usually concentrated in the upper </a:t>
            </a:r>
            <a:r>
              <a:rPr lang="en-US" sz="2600" dirty="0" err="1">
                <a:solidFill>
                  <a:schemeClr val="tx1"/>
                </a:solidFill>
              </a:rPr>
              <a:t>thallus</a:t>
            </a:r>
            <a:r>
              <a:rPr lang="en-US" sz="2600" dirty="0">
                <a:solidFill>
                  <a:schemeClr val="tx1"/>
                </a:solidFill>
              </a:rPr>
              <a:t>, at the fungal–algal or </a:t>
            </a:r>
            <a:r>
              <a:rPr lang="en-US" sz="2600" dirty="0" err="1">
                <a:solidFill>
                  <a:schemeClr val="tx1"/>
                </a:solidFill>
              </a:rPr>
              <a:t>cyanobacterial</a:t>
            </a:r>
            <a:r>
              <a:rPr lang="en-US" sz="2600" dirty="0">
                <a:solidFill>
                  <a:schemeClr val="tx1"/>
                </a:solidFill>
              </a:rPr>
              <a:t> interface, not at the mineral interface. </a:t>
            </a:r>
          </a:p>
          <a:p>
            <a:pPr marL="274320" indent="-274320" algn="l">
              <a:lnSpc>
                <a:spcPct val="80000"/>
              </a:lnSpc>
              <a:spcBef>
                <a:spcPct val="20000"/>
              </a:spcBef>
              <a:buClr>
                <a:schemeClr val="accent1"/>
              </a:buClr>
              <a:buSzPct val="85000"/>
              <a:buFont typeface="Arial" charset="0"/>
              <a:buNone/>
              <a:defRPr/>
            </a:pPr>
            <a:r>
              <a:rPr lang="en-US" sz="2600" dirty="0">
                <a:solidFill>
                  <a:schemeClr val="tx1"/>
                </a:solidFill>
              </a:rPr>
              <a:t>In the field, metal–lichen–acid complexes </a:t>
            </a:r>
          </a:p>
          <a:p>
            <a:pPr marL="274320" indent="-274320" algn="l">
              <a:lnSpc>
                <a:spcPct val="80000"/>
              </a:lnSpc>
              <a:spcBef>
                <a:spcPct val="20000"/>
              </a:spcBef>
              <a:buClr>
                <a:schemeClr val="accent1"/>
              </a:buClr>
              <a:buSzPct val="85000"/>
              <a:buFont typeface="Arial" charset="0"/>
              <a:buNone/>
              <a:defRPr/>
            </a:pPr>
            <a:r>
              <a:rPr lang="en-US" sz="2600" dirty="0" smtClean="0">
                <a:solidFill>
                  <a:schemeClr val="tx1"/>
                </a:solidFill>
              </a:rPr>
              <a:t>    have </a:t>
            </a:r>
            <a:r>
              <a:rPr lang="en-US" sz="2600" dirty="0">
                <a:solidFill>
                  <a:schemeClr val="tx1"/>
                </a:solidFill>
              </a:rPr>
              <a:t>very rarely been reported, </a:t>
            </a:r>
          </a:p>
          <a:p>
            <a:pPr marL="274320" indent="-274320" algn="l">
              <a:lnSpc>
                <a:spcPct val="80000"/>
              </a:lnSpc>
              <a:spcBef>
                <a:spcPct val="20000"/>
              </a:spcBef>
              <a:buClr>
                <a:schemeClr val="accent1"/>
              </a:buClr>
              <a:buSzPct val="85000"/>
              <a:buFont typeface="Arial" charset="0"/>
              <a:buNone/>
              <a:defRPr/>
            </a:pPr>
            <a:r>
              <a:rPr lang="en-US" sz="2600" dirty="0" smtClean="0">
                <a:solidFill>
                  <a:schemeClr val="tx1"/>
                </a:solidFill>
              </a:rPr>
              <a:t>    suggesting </a:t>
            </a:r>
            <a:r>
              <a:rPr lang="en-US" sz="2600" dirty="0">
                <a:solidFill>
                  <a:schemeClr val="tx1"/>
                </a:solidFill>
              </a:rPr>
              <a:t>they play a limited role </a:t>
            </a:r>
          </a:p>
          <a:p>
            <a:pPr marL="274320" indent="-274320" algn="l">
              <a:lnSpc>
                <a:spcPct val="80000"/>
              </a:lnSpc>
              <a:spcBef>
                <a:spcPct val="20000"/>
              </a:spcBef>
              <a:buClr>
                <a:schemeClr val="accent1"/>
              </a:buClr>
              <a:buSzPct val="85000"/>
              <a:buFont typeface="Arial" charset="0"/>
              <a:buNone/>
              <a:defRPr/>
            </a:pPr>
            <a:r>
              <a:rPr lang="en-US" sz="2600" dirty="0" smtClean="0">
                <a:solidFill>
                  <a:schemeClr val="tx1"/>
                </a:solidFill>
              </a:rPr>
              <a:t>    in </a:t>
            </a:r>
            <a:r>
              <a:rPr lang="en-US" sz="2600" dirty="0">
                <a:solidFill>
                  <a:schemeClr val="tx1"/>
                </a:solidFill>
              </a:rPr>
              <a:t>weathering.</a:t>
            </a:r>
          </a:p>
        </p:txBody>
      </p:sp>
      <p:pic>
        <p:nvPicPr>
          <p:cNvPr id="26627" name="Picture 2" descr="http://t1.gstatic.com/images?q=tbn:wYNNti7-e5LYWM:http://www.fs.fed.us/wildflowers/interesting/lichens/biology/images/crustose_lichens_lg.jpg"/>
          <p:cNvPicPr>
            <a:picLocks noChangeAspect="1" noChangeArrowheads="1"/>
          </p:cNvPicPr>
          <p:nvPr/>
        </p:nvPicPr>
        <p:blipFill>
          <a:blip r:embed="rId2"/>
          <a:srcRect/>
          <a:stretch>
            <a:fillRect/>
          </a:stretch>
        </p:blipFill>
        <p:spPr bwMode="auto">
          <a:xfrm>
            <a:off x="0" y="0"/>
            <a:ext cx="3429000" cy="1905000"/>
          </a:xfrm>
          <a:prstGeom prst="rect">
            <a:avLst/>
          </a:prstGeom>
          <a:noFill/>
          <a:ln w="9525">
            <a:noFill/>
            <a:miter lim="800000"/>
            <a:headEnd/>
            <a:tailEnd/>
          </a:ln>
        </p:spPr>
      </p:pic>
      <p:pic>
        <p:nvPicPr>
          <p:cNvPr id="26628" name="Picture 4" descr="See full size image"/>
          <p:cNvPicPr>
            <a:picLocks noChangeAspect="1" noChangeArrowheads="1"/>
          </p:cNvPicPr>
          <p:nvPr/>
        </p:nvPicPr>
        <p:blipFill>
          <a:blip r:embed="rId3"/>
          <a:srcRect/>
          <a:stretch>
            <a:fillRect/>
          </a:stretch>
        </p:blipFill>
        <p:spPr bwMode="auto">
          <a:xfrm>
            <a:off x="5638800" y="4724400"/>
            <a:ext cx="3505200" cy="213360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ctrTitle" idx="4294967295"/>
          </p:nvPr>
        </p:nvSpPr>
        <p:spPr>
          <a:xfrm>
            <a:off x="4572000" y="0"/>
            <a:ext cx="4572000" cy="2819400"/>
          </a:xfrm>
        </p:spPr>
        <p:txBody>
          <a:bodyPr/>
          <a:lstStyle/>
          <a:p>
            <a:r>
              <a:rPr lang="en-US" sz="4800" dirty="0" smtClean="0">
                <a:solidFill>
                  <a:schemeClr val="tx1"/>
                </a:solidFill>
              </a:rPr>
              <a:t>Decomposition and soil organic matter</a:t>
            </a:r>
          </a:p>
        </p:txBody>
      </p:sp>
      <p:pic>
        <p:nvPicPr>
          <p:cNvPr id="27651" name="Picture 2" descr="http://kentsimmons.uwinnipeg.ca/16cm05/1116/54-02-FungiDecomposing.jpg"/>
          <p:cNvPicPr>
            <a:picLocks noChangeAspect="1" noChangeArrowheads="1"/>
          </p:cNvPicPr>
          <p:nvPr/>
        </p:nvPicPr>
        <p:blipFill>
          <a:blip r:embed="rId2"/>
          <a:srcRect/>
          <a:stretch>
            <a:fillRect/>
          </a:stretch>
        </p:blipFill>
        <p:spPr bwMode="auto">
          <a:xfrm>
            <a:off x="0" y="0"/>
            <a:ext cx="4572000" cy="3124200"/>
          </a:xfrm>
          <a:prstGeom prst="rect">
            <a:avLst/>
          </a:prstGeom>
          <a:noFill/>
          <a:ln w="9525">
            <a:noFill/>
            <a:miter lim="800000"/>
            <a:headEnd/>
            <a:tailEnd/>
          </a:ln>
        </p:spPr>
      </p:pic>
      <p:pic>
        <p:nvPicPr>
          <p:cNvPr id="27652" name="Picture 6" descr="http://t0.gstatic.com/images?q=tbn:ithoHY4bEtp_BM:http://www.fortunecity.com/greenfield/flamingo/671/images/plants/fungi_lichens.jpg"/>
          <p:cNvPicPr>
            <a:picLocks noChangeAspect="1" noChangeArrowheads="1"/>
          </p:cNvPicPr>
          <p:nvPr/>
        </p:nvPicPr>
        <p:blipFill>
          <a:blip r:embed="rId3"/>
          <a:srcRect/>
          <a:stretch>
            <a:fillRect/>
          </a:stretch>
        </p:blipFill>
        <p:spPr bwMode="auto">
          <a:xfrm>
            <a:off x="3124200" y="3124200"/>
            <a:ext cx="3733800" cy="3733800"/>
          </a:xfrm>
          <a:prstGeom prst="rect">
            <a:avLst/>
          </a:prstGeom>
          <a:noFill/>
          <a:ln w="9525">
            <a:noFill/>
            <a:miter lim="800000"/>
            <a:headEnd/>
            <a:tailEnd/>
          </a:ln>
        </p:spPr>
      </p:pic>
      <p:pic>
        <p:nvPicPr>
          <p:cNvPr id="27653" name="Picture 8" descr="http://www.sciencedaily.com/images/2007/04/070418132343.jpg"/>
          <p:cNvPicPr>
            <a:picLocks noChangeAspect="1" noChangeArrowheads="1"/>
          </p:cNvPicPr>
          <p:nvPr/>
        </p:nvPicPr>
        <p:blipFill>
          <a:blip r:embed="rId4"/>
          <a:srcRect/>
          <a:stretch>
            <a:fillRect/>
          </a:stretch>
        </p:blipFill>
        <p:spPr bwMode="auto">
          <a:xfrm>
            <a:off x="0" y="3124200"/>
            <a:ext cx="3162300" cy="37338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685800" y="0"/>
            <a:ext cx="8153400" cy="641350"/>
          </a:xfrm>
          <a:prstGeom prst="rect">
            <a:avLst/>
          </a:prstGeom>
          <a:noFill/>
          <a:ln w="9525">
            <a:noFill/>
            <a:miter lim="800000"/>
            <a:headEnd/>
            <a:tailEnd/>
          </a:ln>
        </p:spPr>
        <p:txBody>
          <a:bodyPr>
            <a:spAutoFit/>
          </a:bodyPr>
          <a:lstStyle/>
          <a:p>
            <a:pPr algn="ctr"/>
            <a:r>
              <a:rPr lang="en-US" sz="3600">
                <a:solidFill>
                  <a:srgbClr val="FFFF00"/>
                </a:solidFill>
                <a:latin typeface="Calibri" pitchFamily="34" charset="0"/>
              </a:rPr>
              <a:t>Litter Decomposition</a:t>
            </a:r>
          </a:p>
        </p:txBody>
      </p:sp>
      <p:pic>
        <p:nvPicPr>
          <p:cNvPr id="28675" name="Picture 3" descr="decomposing_leaf"/>
          <p:cNvPicPr>
            <a:picLocks noChangeAspect="1" noChangeArrowheads="1"/>
          </p:cNvPicPr>
          <p:nvPr/>
        </p:nvPicPr>
        <p:blipFill>
          <a:blip r:embed="rId2"/>
          <a:srcRect/>
          <a:stretch>
            <a:fillRect/>
          </a:stretch>
        </p:blipFill>
        <p:spPr bwMode="auto">
          <a:xfrm>
            <a:off x="2000250" y="0"/>
            <a:ext cx="5143500" cy="6858000"/>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838200" y="0"/>
            <a:ext cx="7772400" cy="685800"/>
          </a:xfrm>
          <a:prstGeom prst="rect">
            <a:avLst/>
          </a:prstGeom>
          <a:noFill/>
          <a:ln w="9525">
            <a:noFill/>
            <a:miter lim="800000"/>
            <a:headEnd/>
            <a:tailEnd/>
          </a:ln>
        </p:spPr>
        <p:txBody>
          <a:bodyPr/>
          <a:lstStyle/>
          <a:p>
            <a:pPr algn="ctr"/>
            <a:r>
              <a:rPr lang="en-US" sz="3600">
                <a:latin typeface="Calibri" pitchFamily="34" charset="0"/>
              </a:rPr>
              <a:t>Plant Litter Decomposition</a:t>
            </a:r>
          </a:p>
        </p:txBody>
      </p:sp>
      <p:sp>
        <p:nvSpPr>
          <p:cNvPr id="29699" name="Rectangle 3"/>
          <p:cNvSpPr>
            <a:spLocks noChangeArrowheads="1"/>
          </p:cNvSpPr>
          <p:nvPr/>
        </p:nvSpPr>
        <p:spPr bwMode="auto">
          <a:xfrm>
            <a:off x="762000" y="1143000"/>
            <a:ext cx="7772400" cy="1828800"/>
          </a:xfrm>
          <a:prstGeom prst="rect">
            <a:avLst/>
          </a:prstGeom>
          <a:noFill/>
          <a:ln w="9525">
            <a:noFill/>
            <a:miter lim="800000"/>
            <a:headEnd/>
            <a:tailEnd/>
          </a:ln>
        </p:spPr>
        <p:txBody>
          <a:bodyPr/>
          <a:lstStyle/>
          <a:p>
            <a:pPr marL="609600" indent="-609600">
              <a:spcBef>
                <a:spcPct val="20000"/>
              </a:spcBef>
            </a:pPr>
            <a:r>
              <a:rPr lang="en-US" sz="3200" dirty="0">
                <a:solidFill>
                  <a:schemeClr val="bg1"/>
                </a:solidFill>
                <a:latin typeface="Calibri" pitchFamily="34" charset="0"/>
              </a:rPr>
              <a:t>3 </a:t>
            </a:r>
            <a:r>
              <a:rPr lang="en-US" sz="3200" dirty="0">
                <a:latin typeface="Calibri" pitchFamily="34" charset="0"/>
              </a:rPr>
              <a:t>phases:</a:t>
            </a:r>
          </a:p>
          <a:p>
            <a:pPr marL="609600" indent="-609600">
              <a:spcBef>
                <a:spcPct val="20000"/>
              </a:spcBef>
            </a:pPr>
            <a:r>
              <a:rPr lang="en-US" sz="3200" dirty="0" smtClean="0">
                <a:latin typeface="Calibri" pitchFamily="34" charset="0"/>
              </a:rPr>
              <a:t>       Leaching </a:t>
            </a:r>
            <a:r>
              <a:rPr lang="en-US" sz="3200" dirty="0">
                <a:latin typeface="Calibri" pitchFamily="34" charset="0"/>
              </a:rPr>
              <a:t>by water. Removes soluble </a:t>
            </a:r>
            <a:r>
              <a:rPr lang="en-US" sz="3200" dirty="0" smtClean="0">
                <a:latin typeface="Calibri" pitchFamily="34" charset="0"/>
              </a:rPr>
              <a:t>    materials </a:t>
            </a:r>
            <a:r>
              <a:rPr lang="en-US" sz="3200" dirty="0">
                <a:latin typeface="Calibri" pitchFamily="34" charset="0"/>
              </a:rPr>
              <a:t>(nutrients, simple C </a:t>
            </a:r>
            <a:r>
              <a:rPr lang="en-US" sz="3200" dirty="0">
                <a:solidFill>
                  <a:schemeClr val="bg1"/>
                </a:solidFill>
                <a:latin typeface="Calibri" pitchFamily="34" charset="0"/>
              </a:rPr>
              <a:t>compounds)</a:t>
            </a:r>
          </a:p>
        </p:txBody>
      </p:sp>
      <p:sp>
        <p:nvSpPr>
          <p:cNvPr id="29700" name="Rectangle 4"/>
          <p:cNvSpPr>
            <a:spLocks noChangeArrowheads="1"/>
          </p:cNvSpPr>
          <p:nvPr/>
        </p:nvSpPr>
        <p:spPr bwMode="auto">
          <a:xfrm>
            <a:off x="762000" y="4876800"/>
            <a:ext cx="8915400" cy="1066800"/>
          </a:xfrm>
          <a:prstGeom prst="rect">
            <a:avLst/>
          </a:prstGeom>
          <a:noFill/>
          <a:ln w="9525">
            <a:noFill/>
            <a:miter lim="800000"/>
            <a:headEnd/>
            <a:tailEnd/>
          </a:ln>
        </p:spPr>
        <p:txBody>
          <a:bodyPr>
            <a:spAutoFit/>
          </a:bodyPr>
          <a:lstStyle/>
          <a:p>
            <a:r>
              <a:rPr lang="en-US" sz="3200" dirty="0" smtClean="0">
                <a:solidFill>
                  <a:schemeClr val="bg1"/>
                </a:solidFill>
                <a:latin typeface="Calibri" pitchFamily="34" charset="0"/>
              </a:rPr>
              <a:t>3</a:t>
            </a:r>
            <a:r>
              <a:rPr lang="en-US" sz="3200" dirty="0" smtClean="0">
                <a:latin typeface="Calibri" pitchFamily="34" charset="0"/>
              </a:rPr>
              <a:t>    Chemical </a:t>
            </a:r>
            <a:r>
              <a:rPr lang="en-US" sz="3200" dirty="0">
                <a:latin typeface="Calibri" pitchFamily="34" charset="0"/>
              </a:rPr>
              <a:t>alteration.  Changes chemical</a:t>
            </a:r>
          </a:p>
          <a:p>
            <a:r>
              <a:rPr lang="en-US" sz="3200" dirty="0">
                <a:latin typeface="Calibri" pitchFamily="34" charset="0"/>
              </a:rPr>
              <a:t>    </a:t>
            </a:r>
            <a:r>
              <a:rPr lang="en-US" sz="3200" dirty="0" smtClean="0">
                <a:latin typeface="Calibri" pitchFamily="34" charset="0"/>
              </a:rPr>
              <a:t>  composition </a:t>
            </a:r>
            <a:r>
              <a:rPr lang="en-US" sz="3200" dirty="0">
                <a:latin typeface="Calibri" pitchFamily="34" charset="0"/>
              </a:rPr>
              <a:t>of detritus.</a:t>
            </a:r>
          </a:p>
        </p:txBody>
      </p:sp>
      <p:sp>
        <p:nvSpPr>
          <p:cNvPr id="29701" name="Rectangle 5"/>
          <p:cNvSpPr>
            <a:spLocks noChangeArrowheads="1"/>
          </p:cNvSpPr>
          <p:nvPr/>
        </p:nvSpPr>
        <p:spPr bwMode="auto">
          <a:xfrm>
            <a:off x="762000" y="3611563"/>
            <a:ext cx="8153400" cy="579437"/>
          </a:xfrm>
          <a:prstGeom prst="rect">
            <a:avLst/>
          </a:prstGeom>
          <a:noFill/>
          <a:ln w="9525">
            <a:noFill/>
            <a:miter lim="800000"/>
            <a:headEnd/>
            <a:tailEnd/>
          </a:ln>
        </p:spPr>
        <p:txBody>
          <a:bodyPr>
            <a:spAutoFit/>
          </a:bodyPr>
          <a:lstStyle/>
          <a:p>
            <a:r>
              <a:rPr lang="en-US" sz="3200" dirty="0" smtClean="0">
                <a:solidFill>
                  <a:schemeClr val="bg1"/>
                </a:solidFill>
                <a:latin typeface="Calibri" pitchFamily="34" charset="0"/>
              </a:rPr>
              <a:t>222.</a:t>
            </a:r>
            <a:r>
              <a:rPr lang="en-US" sz="3200" dirty="0" smtClean="0">
                <a:latin typeface="Calibri" pitchFamily="34" charset="0"/>
              </a:rPr>
              <a:t>Fragmentation </a:t>
            </a:r>
            <a:r>
              <a:rPr lang="en-US" sz="3200" dirty="0">
                <a:latin typeface="Calibri" pitchFamily="34" charset="0"/>
              </a:rPr>
              <a:t>by soil animals. </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685800" y="228600"/>
            <a:ext cx="7772400" cy="685800"/>
          </a:xfrm>
          <a:prstGeom prst="rect">
            <a:avLst/>
          </a:prstGeom>
          <a:noFill/>
          <a:ln w="9525">
            <a:noFill/>
            <a:miter lim="800000"/>
            <a:headEnd/>
            <a:tailEnd/>
          </a:ln>
        </p:spPr>
        <p:txBody>
          <a:bodyPr/>
          <a:lstStyle/>
          <a:p>
            <a:pPr algn="ctr"/>
            <a:r>
              <a:rPr lang="en-US" sz="3600">
                <a:solidFill>
                  <a:schemeClr val="bg1"/>
                </a:solidFill>
                <a:latin typeface="Calibri" pitchFamily="34" charset="0"/>
              </a:rPr>
              <a:t>The role of microbes: phase 3</a:t>
            </a:r>
          </a:p>
        </p:txBody>
      </p:sp>
      <p:sp>
        <p:nvSpPr>
          <p:cNvPr id="30723" name="Rectangle 3"/>
          <p:cNvSpPr>
            <a:spLocks noChangeArrowheads="1"/>
          </p:cNvSpPr>
          <p:nvPr/>
        </p:nvSpPr>
        <p:spPr bwMode="auto">
          <a:xfrm>
            <a:off x="533400" y="533400"/>
            <a:ext cx="8153400" cy="2971800"/>
          </a:xfrm>
          <a:prstGeom prst="rect">
            <a:avLst/>
          </a:prstGeom>
          <a:noFill/>
          <a:ln w="9525">
            <a:noFill/>
            <a:miter lim="800000"/>
            <a:headEnd/>
            <a:tailEnd/>
          </a:ln>
        </p:spPr>
        <p:txBody>
          <a:bodyPr/>
          <a:lstStyle/>
          <a:p>
            <a:pPr marL="342900" indent="-342900">
              <a:lnSpc>
                <a:spcPct val="80000"/>
              </a:lnSpc>
              <a:spcBef>
                <a:spcPct val="20000"/>
              </a:spcBef>
            </a:pPr>
            <a:r>
              <a:rPr lang="en-US" sz="3200" dirty="0">
                <a:solidFill>
                  <a:schemeClr val="bg1"/>
                </a:solidFill>
                <a:latin typeface="Calibri" pitchFamily="34" charset="0"/>
              </a:rPr>
              <a:t>Chemistry is altered as microbes break down</a:t>
            </a:r>
          </a:p>
          <a:p>
            <a:pPr marL="342900" indent="-342900">
              <a:lnSpc>
                <a:spcPct val="80000"/>
              </a:lnSpc>
              <a:spcBef>
                <a:spcPct val="20000"/>
              </a:spcBef>
            </a:pPr>
            <a:r>
              <a:rPr lang="en-US" sz="3200" dirty="0">
                <a:latin typeface="Calibri" pitchFamily="34" charset="0"/>
              </a:rPr>
              <a:t>organic matter molecules</a:t>
            </a:r>
          </a:p>
          <a:p>
            <a:pPr marL="342900" indent="-342900">
              <a:lnSpc>
                <a:spcPct val="80000"/>
              </a:lnSpc>
              <a:spcBef>
                <a:spcPct val="20000"/>
              </a:spcBef>
            </a:pPr>
            <a:endParaRPr lang="en-US" sz="3200" dirty="0">
              <a:latin typeface="Calibri" pitchFamily="34" charset="0"/>
            </a:endParaRPr>
          </a:p>
          <a:p>
            <a:pPr marL="342900" indent="-342900">
              <a:lnSpc>
                <a:spcPct val="80000"/>
              </a:lnSpc>
              <a:spcBef>
                <a:spcPct val="20000"/>
              </a:spcBef>
            </a:pPr>
            <a:r>
              <a:rPr lang="en-US" sz="3200" dirty="0">
                <a:latin typeface="Calibri" pitchFamily="34" charset="0"/>
              </a:rPr>
              <a:t>Compounds are decomposed at different rates,</a:t>
            </a:r>
          </a:p>
          <a:p>
            <a:pPr marL="342900" indent="-342900">
              <a:lnSpc>
                <a:spcPct val="80000"/>
              </a:lnSpc>
              <a:spcBef>
                <a:spcPct val="20000"/>
              </a:spcBef>
            </a:pPr>
            <a:r>
              <a:rPr lang="en-US" sz="3200" dirty="0">
                <a:latin typeface="Calibri" pitchFamily="34" charset="0"/>
              </a:rPr>
              <a:t>new compounds are synthesized</a:t>
            </a:r>
          </a:p>
        </p:txBody>
      </p:sp>
      <p:sp>
        <p:nvSpPr>
          <p:cNvPr id="62468" name="Rectangle 4"/>
          <p:cNvSpPr>
            <a:spLocks noChangeArrowheads="1"/>
          </p:cNvSpPr>
          <p:nvPr/>
        </p:nvSpPr>
        <p:spPr bwMode="auto">
          <a:xfrm>
            <a:off x="381000" y="3048000"/>
            <a:ext cx="8382000" cy="5661600"/>
          </a:xfrm>
          <a:prstGeom prst="rect">
            <a:avLst/>
          </a:prstGeom>
          <a:noFill/>
          <a:ln w="9525">
            <a:noFill/>
            <a:miter lim="800000"/>
            <a:headEnd/>
            <a:tailEnd/>
          </a:ln>
        </p:spPr>
        <p:txBody>
          <a:bodyPr wrap="square">
            <a:spAutoFit/>
          </a:bodyPr>
          <a:lstStyle/>
          <a:p>
            <a:pPr marL="457200" indent="-457200"/>
            <a:r>
              <a:rPr lang="en-US" sz="3200" dirty="0">
                <a:solidFill>
                  <a:srgbClr val="FF0000"/>
                </a:solidFill>
                <a:latin typeface="Calibri" pitchFamily="34" charset="0"/>
              </a:rPr>
              <a:t>Microbial activity controlled by:</a:t>
            </a:r>
          </a:p>
          <a:p>
            <a:pPr marL="457200" indent="-457200"/>
            <a:r>
              <a:rPr lang="en-US" sz="3200" b="1" dirty="0">
                <a:solidFill>
                  <a:srgbClr val="FF0000"/>
                </a:solidFill>
                <a:latin typeface="Calibri" pitchFamily="34" charset="0"/>
              </a:rPr>
              <a:t>Environment</a:t>
            </a:r>
            <a:r>
              <a:rPr lang="en-US" sz="3200" dirty="0">
                <a:solidFill>
                  <a:srgbClr val="FF0000"/>
                </a:solidFill>
                <a:latin typeface="Calibri" pitchFamily="34" charset="0"/>
              </a:rPr>
              <a:t>: </a:t>
            </a:r>
            <a:r>
              <a:rPr lang="en-US" sz="3200" dirty="0">
                <a:latin typeface="Calibri" pitchFamily="34" charset="0"/>
              </a:rPr>
              <a:t>soil T, H</a:t>
            </a:r>
            <a:r>
              <a:rPr lang="en-US" sz="3200" baseline="-25000" dirty="0">
                <a:latin typeface="Calibri" pitchFamily="34" charset="0"/>
              </a:rPr>
              <a:t>2</a:t>
            </a:r>
            <a:r>
              <a:rPr lang="en-US" sz="3200" dirty="0">
                <a:latin typeface="Calibri" pitchFamily="34" charset="0"/>
              </a:rPr>
              <a:t>O, soil O</a:t>
            </a:r>
            <a:r>
              <a:rPr lang="en-US" sz="3200" baseline="-25000" dirty="0">
                <a:latin typeface="Calibri" pitchFamily="34" charset="0"/>
              </a:rPr>
              <a:t>2</a:t>
            </a:r>
            <a:endParaRPr lang="en-US" sz="3200" dirty="0">
              <a:latin typeface="Calibri" pitchFamily="34" charset="0"/>
            </a:endParaRPr>
          </a:p>
          <a:p>
            <a:pPr marL="457200" indent="-457200"/>
            <a:r>
              <a:rPr lang="en-US" sz="3200" b="1" dirty="0">
                <a:solidFill>
                  <a:srgbClr val="FF0000"/>
                </a:solidFill>
                <a:latin typeface="Calibri" pitchFamily="34" charset="0"/>
              </a:rPr>
              <a:t>Substrate</a:t>
            </a:r>
            <a:r>
              <a:rPr lang="en-US" sz="3200" dirty="0">
                <a:solidFill>
                  <a:srgbClr val="FF0000"/>
                </a:solidFill>
                <a:latin typeface="Calibri" pitchFamily="34" charset="0"/>
              </a:rPr>
              <a:t>:</a:t>
            </a:r>
            <a:r>
              <a:rPr lang="en-US" sz="3200" dirty="0">
                <a:latin typeface="Calibri" pitchFamily="34" charset="0"/>
              </a:rPr>
              <a:t> chemical makeup of organic </a:t>
            </a:r>
            <a:r>
              <a:rPr lang="en-US" sz="3200" dirty="0" smtClean="0">
                <a:latin typeface="Calibri" pitchFamily="34" charset="0"/>
              </a:rPr>
              <a:t>matter</a:t>
            </a:r>
          </a:p>
          <a:p>
            <a:pPr marL="457200" indent="-457200"/>
            <a:r>
              <a:rPr lang="en-US" sz="3200" dirty="0" smtClean="0">
                <a:solidFill>
                  <a:srgbClr val="0070C0"/>
                </a:solidFill>
                <a:latin typeface="Calibri" pitchFamily="34" charset="0"/>
              </a:rPr>
              <a:t>Rate of microbial activity determines rate of C loss, nutrient release etc.</a:t>
            </a:r>
          </a:p>
          <a:p>
            <a:pPr marL="457200" indent="-457200"/>
            <a:r>
              <a:rPr lang="en-US" sz="3200" dirty="0" smtClean="0">
                <a:solidFill>
                  <a:srgbClr val="0070C0"/>
                </a:solidFill>
                <a:latin typeface="Calibri" pitchFamily="34" charset="0"/>
              </a:rPr>
              <a:t>Rate of activity measured as organic matter mass loss.</a:t>
            </a:r>
          </a:p>
          <a:p>
            <a:pPr marL="457200" indent="-457200">
              <a:buFont typeface="Arial Unicode MS" pitchFamily="34" charset="-128"/>
              <a:buAutoNum type="arabicPeriod"/>
            </a:pPr>
            <a:endParaRPr lang="en-US" sz="3200" dirty="0" smtClean="0">
              <a:latin typeface="Calibri" pitchFamily="34" charset="0"/>
            </a:endParaRPr>
          </a:p>
          <a:p>
            <a:pPr marL="457200" indent="-457200">
              <a:buFont typeface="Arial Unicode MS" pitchFamily="34" charset="-128"/>
              <a:buAutoNum type="arabicPeriod"/>
            </a:pPr>
            <a:endParaRPr lang="en-US" sz="3200" dirty="0">
              <a:latin typeface="Calibri" pitchFamily="34" charset="0"/>
            </a:endParaRPr>
          </a:p>
          <a:p>
            <a:pPr marL="457200" indent="-457200"/>
            <a:endParaRPr lang="en-US" sz="3200" dirty="0">
              <a:latin typeface="Calibri" pitchFamily="34" charset="0"/>
            </a:endParaRPr>
          </a:p>
          <a:p>
            <a:pPr marL="457200" indent="-457200"/>
            <a:endParaRPr lang="en-US" sz="3200" dirty="0">
              <a:solidFill>
                <a:schemeClr val="bg1"/>
              </a:solidFill>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685800" y="76200"/>
            <a:ext cx="7772400" cy="838200"/>
          </a:xfrm>
          <a:prstGeom prst="rect">
            <a:avLst/>
          </a:prstGeom>
          <a:noFill/>
          <a:ln w="9525">
            <a:noFill/>
            <a:miter lim="800000"/>
            <a:headEnd/>
            <a:tailEnd/>
          </a:ln>
        </p:spPr>
        <p:txBody>
          <a:bodyPr/>
          <a:lstStyle/>
          <a:p>
            <a:pPr algn="ctr"/>
            <a:r>
              <a:rPr lang="en-US" sz="3600">
                <a:solidFill>
                  <a:schemeClr val="bg1"/>
                </a:solidFill>
                <a:latin typeface="Calibri" pitchFamily="34" charset="0"/>
              </a:rPr>
              <a:t>Fungi</a:t>
            </a:r>
          </a:p>
        </p:txBody>
      </p:sp>
      <p:sp>
        <p:nvSpPr>
          <p:cNvPr id="31747" name="Rectangle 3"/>
          <p:cNvSpPr>
            <a:spLocks noChangeArrowheads="1"/>
          </p:cNvSpPr>
          <p:nvPr/>
        </p:nvSpPr>
        <p:spPr bwMode="auto">
          <a:xfrm>
            <a:off x="457200" y="685800"/>
            <a:ext cx="8458200" cy="2057400"/>
          </a:xfrm>
          <a:prstGeom prst="rect">
            <a:avLst/>
          </a:prstGeom>
          <a:noFill/>
          <a:ln w="9525">
            <a:noFill/>
            <a:miter lim="800000"/>
            <a:headEnd/>
            <a:tailEnd/>
          </a:ln>
        </p:spPr>
        <p:txBody>
          <a:bodyPr/>
          <a:lstStyle/>
          <a:p>
            <a:pPr marL="342900" indent="-342900">
              <a:spcBef>
                <a:spcPct val="20000"/>
              </a:spcBef>
            </a:pPr>
            <a:r>
              <a:rPr lang="en-US" sz="3200" dirty="0" smtClean="0">
                <a:latin typeface="Calibri" pitchFamily="34" charset="0"/>
              </a:rPr>
              <a:t> Fungi </a:t>
            </a:r>
          </a:p>
          <a:p>
            <a:pPr marL="342900" indent="-342900">
              <a:spcBef>
                <a:spcPct val="20000"/>
              </a:spcBef>
            </a:pPr>
            <a:r>
              <a:rPr lang="en-US" sz="3200" dirty="0" smtClean="0">
                <a:solidFill>
                  <a:srgbClr val="FF0000"/>
                </a:solidFill>
                <a:latin typeface="Calibri" pitchFamily="34" charset="0"/>
              </a:rPr>
              <a:t>Accounts </a:t>
            </a:r>
            <a:r>
              <a:rPr lang="en-US" sz="3200" dirty="0">
                <a:solidFill>
                  <a:srgbClr val="FF0000"/>
                </a:solidFill>
                <a:latin typeface="Calibri" pitchFamily="34" charset="0"/>
              </a:rPr>
              <a:t>for most aerobic decomposition</a:t>
            </a:r>
          </a:p>
          <a:p>
            <a:pPr marL="342900" indent="-342900">
              <a:spcBef>
                <a:spcPct val="20000"/>
              </a:spcBef>
            </a:pPr>
            <a:r>
              <a:rPr lang="en-US" sz="3200" dirty="0">
                <a:latin typeface="Calibri" pitchFamily="34" charset="0"/>
              </a:rPr>
              <a:t>	- </a:t>
            </a:r>
            <a:r>
              <a:rPr lang="en-US" sz="2800" dirty="0">
                <a:latin typeface="Calibri" pitchFamily="34" charset="0"/>
              </a:rPr>
              <a:t>60-90% of microbial biomass in forests</a:t>
            </a:r>
          </a:p>
          <a:p>
            <a:pPr marL="342900" indent="-342900">
              <a:spcBef>
                <a:spcPct val="20000"/>
              </a:spcBef>
            </a:pPr>
            <a:r>
              <a:rPr lang="en-US" sz="2800" dirty="0">
                <a:latin typeface="Calibri" pitchFamily="34" charset="0"/>
              </a:rPr>
              <a:t>	- About half of microbial biomass in grassland</a:t>
            </a:r>
          </a:p>
        </p:txBody>
      </p:sp>
      <p:sp>
        <p:nvSpPr>
          <p:cNvPr id="63492" name="Rectangle 4"/>
          <p:cNvSpPr>
            <a:spLocks noChangeArrowheads="1"/>
          </p:cNvSpPr>
          <p:nvPr/>
        </p:nvSpPr>
        <p:spPr bwMode="auto">
          <a:xfrm>
            <a:off x="317500" y="4648200"/>
            <a:ext cx="7290201" cy="1618905"/>
          </a:xfrm>
          <a:prstGeom prst="rect">
            <a:avLst/>
          </a:prstGeom>
          <a:noFill/>
          <a:ln w="9525">
            <a:noFill/>
            <a:miter lim="800000"/>
            <a:headEnd/>
            <a:tailEnd/>
          </a:ln>
        </p:spPr>
        <p:txBody>
          <a:bodyPr wrap="none">
            <a:spAutoFit/>
          </a:bodyPr>
          <a:lstStyle/>
          <a:p>
            <a:pPr>
              <a:spcBef>
                <a:spcPct val="20000"/>
              </a:spcBef>
            </a:pPr>
            <a:r>
              <a:rPr lang="en-US" sz="3200" dirty="0">
                <a:solidFill>
                  <a:srgbClr val="FF0000"/>
                </a:solidFill>
                <a:latin typeface="Calibri" pitchFamily="34" charset="0"/>
              </a:rPr>
              <a:t>Can transport metabolites through </a:t>
            </a:r>
            <a:r>
              <a:rPr lang="en-US" sz="3200" u="sng" dirty="0" err="1">
                <a:solidFill>
                  <a:srgbClr val="FF0000"/>
                </a:solidFill>
                <a:latin typeface="Calibri" pitchFamily="34" charset="0"/>
              </a:rPr>
              <a:t>hyphae</a:t>
            </a:r>
            <a:endParaRPr lang="en-US" sz="3200" dirty="0">
              <a:solidFill>
                <a:srgbClr val="FF0000"/>
              </a:solidFill>
              <a:latin typeface="Calibri" pitchFamily="34" charset="0"/>
            </a:endParaRPr>
          </a:p>
          <a:p>
            <a:pPr lvl="1">
              <a:spcBef>
                <a:spcPct val="20000"/>
              </a:spcBef>
              <a:buFontTx/>
              <a:buChar char="–"/>
            </a:pPr>
            <a:r>
              <a:rPr lang="en-US" sz="2800" dirty="0">
                <a:latin typeface="Calibri" pitchFamily="34" charset="0"/>
              </a:rPr>
              <a:t> Surface litter (import nitrogen from soil)</a:t>
            </a:r>
          </a:p>
          <a:p>
            <a:pPr lvl="1">
              <a:spcBef>
                <a:spcPct val="20000"/>
              </a:spcBef>
              <a:buFontTx/>
              <a:buChar char="–"/>
            </a:pPr>
            <a:r>
              <a:rPr lang="en-US" sz="2800" dirty="0">
                <a:latin typeface="Calibri" pitchFamily="34" charset="0"/>
              </a:rPr>
              <a:t> Wood degraders (import nitrogen from soil)</a:t>
            </a:r>
          </a:p>
        </p:txBody>
      </p:sp>
      <p:sp>
        <p:nvSpPr>
          <p:cNvPr id="63493" name="Rectangle 5"/>
          <p:cNvSpPr>
            <a:spLocks noChangeArrowheads="1"/>
          </p:cNvSpPr>
          <p:nvPr/>
        </p:nvSpPr>
        <p:spPr bwMode="auto">
          <a:xfrm>
            <a:off x="-152400" y="2743200"/>
            <a:ext cx="7358874" cy="1618905"/>
          </a:xfrm>
          <a:prstGeom prst="rect">
            <a:avLst/>
          </a:prstGeom>
          <a:noFill/>
          <a:ln w="9525">
            <a:noFill/>
            <a:miter lim="800000"/>
            <a:headEnd/>
            <a:tailEnd/>
          </a:ln>
        </p:spPr>
        <p:txBody>
          <a:bodyPr wrap="none">
            <a:spAutoFit/>
          </a:bodyPr>
          <a:lstStyle/>
          <a:p>
            <a:pPr lvl="1">
              <a:spcBef>
                <a:spcPct val="20000"/>
              </a:spcBef>
            </a:pPr>
            <a:r>
              <a:rPr lang="en-US" sz="3200" dirty="0">
                <a:solidFill>
                  <a:srgbClr val="FF0000"/>
                </a:solidFill>
                <a:latin typeface="Calibri" pitchFamily="34" charset="0"/>
              </a:rPr>
              <a:t>Broad enzymatic capability</a:t>
            </a:r>
            <a:endParaRPr lang="en-US" sz="2800" dirty="0">
              <a:solidFill>
                <a:srgbClr val="FF0000"/>
              </a:solidFill>
              <a:latin typeface="Calibri" pitchFamily="34" charset="0"/>
            </a:endParaRPr>
          </a:p>
          <a:p>
            <a:pPr lvl="1">
              <a:spcBef>
                <a:spcPct val="20000"/>
              </a:spcBef>
            </a:pPr>
            <a:r>
              <a:rPr lang="en-US" sz="2800" dirty="0">
                <a:latin typeface="Calibri" pitchFamily="34" charset="0"/>
              </a:rPr>
              <a:t>	- Cell walls (lignin, cellulose, </a:t>
            </a:r>
            <a:r>
              <a:rPr lang="en-US" sz="2800" dirty="0" err="1">
                <a:latin typeface="Calibri" pitchFamily="34" charset="0"/>
              </a:rPr>
              <a:t>hemicellulose</a:t>
            </a:r>
            <a:r>
              <a:rPr lang="en-US" sz="2800" dirty="0">
                <a:latin typeface="Calibri" pitchFamily="34" charset="0"/>
              </a:rPr>
              <a:t>)</a:t>
            </a:r>
          </a:p>
          <a:p>
            <a:pPr lvl="1">
              <a:spcBef>
                <a:spcPct val="20000"/>
              </a:spcBef>
            </a:pPr>
            <a:r>
              <a:rPr lang="en-US" sz="2800" dirty="0">
                <a:latin typeface="Calibri" pitchFamily="34" charset="0"/>
              </a:rPr>
              <a:t>	- Cell contents (proteins, sugars, lipids)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p:bldP spid="6349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685800" y="228600"/>
            <a:ext cx="7772400" cy="609600"/>
          </a:xfrm>
          <a:prstGeom prst="rect">
            <a:avLst/>
          </a:prstGeom>
          <a:noFill/>
          <a:ln w="9525">
            <a:noFill/>
            <a:miter lim="800000"/>
            <a:headEnd/>
            <a:tailEnd/>
          </a:ln>
        </p:spPr>
        <p:txBody>
          <a:bodyPr/>
          <a:lstStyle/>
          <a:p>
            <a:pPr algn="ctr"/>
            <a:r>
              <a:rPr lang="en-US" sz="3600">
                <a:solidFill>
                  <a:schemeClr val="bg1"/>
                </a:solidFill>
                <a:latin typeface="Calibri" pitchFamily="34" charset="0"/>
              </a:rPr>
              <a:t>Bacteria</a:t>
            </a:r>
          </a:p>
        </p:txBody>
      </p:sp>
      <p:sp>
        <p:nvSpPr>
          <p:cNvPr id="32771" name="Rectangle 3"/>
          <p:cNvSpPr>
            <a:spLocks noChangeArrowheads="1"/>
          </p:cNvSpPr>
          <p:nvPr/>
        </p:nvSpPr>
        <p:spPr bwMode="auto">
          <a:xfrm>
            <a:off x="381000" y="152400"/>
            <a:ext cx="8686800" cy="3733800"/>
          </a:xfrm>
          <a:prstGeom prst="rect">
            <a:avLst/>
          </a:prstGeom>
          <a:noFill/>
          <a:ln w="9525">
            <a:noFill/>
            <a:miter lim="800000"/>
            <a:headEnd/>
            <a:tailEnd/>
          </a:ln>
        </p:spPr>
        <p:txBody>
          <a:bodyPr/>
          <a:lstStyle/>
          <a:p>
            <a:pPr marL="342900" indent="-342900">
              <a:spcBef>
                <a:spcPct val="20000"/>
              </a:spcBef>
              <a:buFontTx/>
              <a:buChar char="•"/>
            </a:pPr>
            <a:r>
              <a:rPr lang="en-US" sz="2800" dirty="0" smtClean="0">
                <a:solidFill>
                  <a:srgbClr val="FF0000"/>
                </a:solidFill>
                <a:latin typeface="Calibri" pitchFamily="34" charset="0"/>
              </a:rPr>
              <a:t>Bacteria </a:t>
            </a:r>
          </a:p>
          <a:p>
            <a:pPr marL="342900" indent="-342900">
              <a:spcBef>
                <a:spcPct val="20000"/>
              </a:spcBef>
              <a:buFontTx/>
              <a:buChar char="•"/>
            </a:pPr>
            <a:endParaRPr lang="en-US" sz="2800" dirty="0">
              <a:latin typeface="Calibri" pitchFamily="34" charset="0"/>
            </a:endParaRPr>
          </a:p>
          <a:p>
            <a:pPr marL="342900" indent="-342900">
              <a:spcBef>
                <a:spcPct val="20000"/>
              </a:spcBef>
            </a:pPr>
            <a:r>
              <a:rPr lang="en-US" sz="2800" dirty="0" smtClean="0">
                <a:latin typeface="Calibri" pitchFamily="34" charset="0"/>
              </a:rPr>
              <a:t>Grow </a:t>
            </a:r>
            <a:r>
              <a:rPr lang="en-US" sz="2800" dirty="0">
                <a:latin typeface="Calibri" pitchFamily="34" charset="0"/>
              </a:rPr>
              <a:t>rapidly on labile substrates</a:t>
            </a:r>
          </a:p>
          <a:p>
            <a:pPr marL="342900" indent="-342900">
              <a:spcBef>
                <a:spcPct val="20000"/>
              </a:spcBef>
            </a:pPr>
            <a:r>
              <a:rPr lang="en-US" sz="2800" dirty="0">
                <a:latin typeface="Calibri" pitchFamily="34" charset="0"/>
              </a:rPr>
              <a:t>Some function </a:t>
            </a:r>
            <a:r>
              <a:rPr lang="en-US" sz="2800" dirty="0" err="1">
                <a:latin typeface="Calibri" pitchFamily="34" charset="0"/>
              </a:rPr>
              <a:t>anaerobically</a:t>
            </a:r>
            <a:endParaRPr lang="en-US" sz="2800" dirty="0">
              <a:latin typeface="Calibri" pitchFamily="34" charset="0"/>
            </a:endParaRPr>
          </a:p>
          <a:p>
            <a:pPr marL="342900" indent="-342900">
              <a:spcBef>
                <a:spcPct val="20000"/>
              </a:spcBef>
            </a:pPr>
            <a:r>
              <a:rPr lang="en-US" sz="2800" dirty="0">
                <a:latin typeface="Calibri" pitchFamily="34" charset="0"/>
              </a:rPr>
              <a:t>Dependent on substrates that diffuse. Diffusion gradient caused by</a:t>
            </a:r>
          </a:p>
          <a:p>
            <a:pPr marL="742950" lvl="1" indent="-285750">
              <a:spcBef>
                <a:spcPct val="20000"/>
              </a:spcBef>
            </a:pPr>
            <a:r>
              <a:rPr lang="en-US" sz="2400" dirty="0">
                <a:latin typeface="Calibri" pitchFamily="34" charset="0"/>
              </a:rPr>
              <a:t>Production of soluble substrates (enzymes)</a:t>
            </a:r>
          </a:p>
          <a:p>
            <a:pPr marL="742950" lvl="1" indent="-285750">
              <a:spcBef>
                <a:spcPct val="20000"/>
              </a:spcBef>
            </a:pPr>
            <a:r>
              <a:rPr lang="en-US" sz="2400" dirty="0">
                <a:latin typeface="Calibri" pitchFamily="34" charset="0"/>
              </a:rPr>
              <a:t>Uptake of substrates by bacterium</a:t>
            </a:r>
          </a:p>
        </p:txBody>
      </p:sp>
      <p:sp>
        <p:nvSpPr>
          <p:cNvPr id="64516" name="Rectangle 4"/>
          <p:cNvSpPr>
            <a:spLocks noChangeArrowheads="1"/>
          </p:cNvSpPr>
          <p:nvPr/>
        </p:nvSpPr>
        <p:spPr bwMode="auto">
          <a:xfrm>
            <a:off x="381000" y="3962400"/>
            <a:ext cx="8001000" cy="3200400"/>
          </a:xfrm>
          <a:prstGeom prst="rect">
            <a:avLst/>
          </a:prstGeom>
          <a:noFill/>
          <a:ln w="9525">
            <a:noFill/>
            <a:miter lim="800000"/>
            <a:headEnd/>
            <a:tailEnd/>
          </a:ln>
        </p:spPr>
        <p:txBody>
          <a:bodyPr/>
          <a:lstStyle/>
          <a:p>
            <a:pPr marL="342900" indent="-342900">
              <a:spcBef>
                <a:spcPct val="20000"/>
              </a:spcBef>
            </a:pPr>
            <a:r>
              <a:rPr lang="en-US" sz="2800" dirty="0">
                <a:solidFill>
                  <a:srgbClr val="FF0000"/>
                </a:solidFill>
                <a:latin typeface="Calibri" pitchFamily="34" charset="0"/>
              </a:rPr>
              <a:t>Spatial specialists</a:t>
            </a:r>
          </a:p>
          <a:p>
            <a:pPr marL="742950" lvl="1" indent="-285750">
              <a:spcBef>
                <a:spcPct val="20000"/>
              </a:spcBef>
            </a:pPr>
            <a:r>
              <a:rPr lang="en-US" sz="2400" dirty="0" err="1">
                <a:latin typeface="Calibri" pitchFamily="34" charset="0"/>
              </a:rPr>
              <a:t>Rhizosphere</a:t>
            </a:r>
            <a:r>
              <a:rPr lang="en-US" sz="2400" dirty="0">
                <a:latin typeface="Calibri" pitchFamily="34" charset="0"/>
              </a:rPr>
              <a:t>, </a:t>
            </a:r>
            <a:r>
              <a:rPr lang="en-US" sz="2400" dirty="0" err="1">
                <a:latin typeface="Calibri" pitchFamily="34" charset="0"/>
              </a:rPr>
              <a:t>macropores</a:t>
            </a:r>
            <a:r>
              <a:rPr lang="en-US" sz="2400" dirty="0">
                <a:latin typeface="Calibri" pitchFamily="34" charset="0"/>
              </a:rPr>
              <a:t>, interior of aggregates</a:t>
            </a:r>
          </a:p>
          <a:p>
            <a:pPr marL="742950" lvl="1" indent="-285750">
              <a:spcBef>
                <a:spcPct val="20000"/>
              </a:spcBef>
            </a:pPr>
            <a:r>
              <a:rPr lang="en-US" sz="2400" dirty="0">
                <a:latin typeface="Calibri" pitchFamily="34" charset="0"/>
              </a:rPr>
              <a:t>form </a:t>
            </a:r>
            <a:r>
              <a:rPr lang="en-US" sz="2400" dirty="0" err="1">
                <a:latin typeface="Calibri" pitchFamily="34" charset="0"/>
              </a:rPr>
              <a:t>biofilms</a:t>
            </a:r>
            <a:r>
              <a:rPr lang="en-US" sz="2400" dirty="0">
                <a:latin typeface="Calibri" pitchFamily="34" charset="0"/>
              </a:rPr>
              <a:t> on particle surfaces</a:t>
            </a:r>
          </a:p>
          <a:p>
            <a:pPr marL="342900" indent="-342900">
              <a:spcBef>
                <a:spcPct val="20000"/>
              </a:spcBef>
            </a:pPr>
            <a:r>
              <a:rPr lang="en-US" sz="2800" dirty="0">
                <a:solidFill>
                  <a:srgbClr val="FF0000"/>
                </a:solidFill>
                <a:latin typeface="Calibri" pitchFamily="34" charset="0"/>
              </a:rPr>
              <a:t>Chemical specialists</a:t>
            </a:r>
          </a:p>
          <a:p>
            <a:pPr marL="742950" lvl="1" indent="-285750">
              <a:spcBef>
                <a:spcPct val="20000"/>
              </a:spcBef>
            </a:pPr>
            <a:r>
              <a:rPr lang="en-US" sz="2400" dirty="0">
                <a:latin typeface="Calibri" pitchFamily="34" charset="0"/>
              </a:rPr>
              <a:t>Different bacteria produce different enzymes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1819275" y="838200"/>
            <a:ext cx="5648325" cy="6019800"/>
          </a:xfrm>
          <a:prstGeom prst="rect">
            <a:avLst/>
          </a:prstGeom>
          <a:noFill/>
          <a:ln w="9525">
            <a:noFill/>
            <a:miter lim="800000"/>
            <a:headEnd/>
            <a:tailEnd/>
          </a:ln>
        </p:spPr>
      </p:pic>
      <p:sp>
        <p:nvSpPr>
          <p:cNvPr id="34819" name="Rectangle 3"/>
          <p:cNvSpPr>
            <a:spLocks noChangeArrowheads="1"/>
          </p:cNvSpPr>
          <p:nvPr/>
        </p:nvSpPr>
        <p:spPr bwMode="auto">
          <a:xfrm>
            <a:off x="838200" y="76200"/>
            <a:ext cx="7772400" cy="685800"/>
          </a:xfrm>
          <a:prstGeom prst="rect">
            <a:avLst/>
          </a:prstGeom>
          <a:noFill/>
          <a:ln w="9525">
            <a:noFill/>
            <a:miter lim="800000"/>
            <a:headEnd/>
            <a:tailEnd/>
          </a:ln>
        </p:spPr>
        <p:txBody>
          <a:bodyPr/>
          <a:lstStyle/>
          <a:p>
            <a:pPr algn="ctr"/>
            <a:r>
              <a:rPr lang="en-US" sz="3600">
                <a:solidFill>
                  <a:schemeClr val="bg1"/>
                </a:solidFill>
                <a:latin typeface="Calibri" pitchFamily="34" charset="0"/>
              </a:rPr>
              <a:t>Plant Litter Decomposition</a:t>
            </a:r>
          </a:p>
        </p:txBody>
      </p:sp>
      <p:sp>
        <p:nvSpPr>
          <p:cNvPr id="34820" name="Rectangle 4"/>
          <p:cNvSpPr>
            <a:spLocks noChangeArrowheads="1"/>
          </p:cNvSpPr>
          <p:nvPr/>
        </p:nvSpPr>
        <p:spPr bwMode="auto">
          <a:xfrm>
            <a:off x="5257800" y="2590800"/>
            <a:ext cx="3886200" cy="579438"/>
          </a:xfrm>
          <a:prstGeom prst="rect">
            <a:avLst/>
          </a:prstGeom>
          <a:noFill/>
          <a:ln w="9525">
            <a:noFill/>
            <a:miter lim="800000"/>
            <a:headEnd/>
            <a:tailEnd/>
          </a:ln>
        </p:spPr>
        <p:txBody>
          <a:bodyPr>
            <a:spAutoFit/>
          </a:bodyPr>
          <a:lstStyle/>
          <a:p>
            <a:pPr>
              <a:spcBef>
                <a:spcPct val="20000"/>
              </a:spcBef>
            </a:pPr>
            <a:endParaRPr lang="en-US" sz="3200">
              <a:solidFill>
                <a:schemeClr val="bg1"/>
              </a:solidFill>
              <a:latin typeface="Calibri"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0" y="228600"/>
            <a:ext cx="8534400" cy="758825"/>
          </a:xfrm>
        </p:spPr>
        <p:txBody>
          <a:bodyPr/>
          <a:lstStyle/>
          <a:p>
            <a:r>
              <a:rPr lang="en-US" sz="3600" smtClean="0"/>
              <a:t>Organic matter in the soil</a:t>
            </a:r>
            <a:endParaRPr lang="en-US" smtClean="0"/>
          </a:p>
        </p:txBody>
      </p:sp>
      <p:sp>
        <p:nvSpPr>
          <p:cNvPr id="71683"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Organic matter is anything that contains carbon compounds that were formed by living organisms. Three main components are</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Dead forms of organic material - mostly dead plant parts (85%)</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living parts of plants - mostly roots (10%)</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living microbes and soil animals</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Partly decayed organic matter is called humus</a:t>
            </a:r>
          </a:p>
          <a:p>
            <a:pPr marL="273050" indent="-273050" algn="l" fontAlgn="base">
              <a:spcBef>
                <a:spcPct val="20000"/>
              </a:spcBef>
              <a:spcAft>
                <a:spcPct val="0"/>
              </a:spcAft>
              <a:buClr>
                <a:schemeClr val="accent1"/>
              </a:buClr>
              <a:buSzPct val="85000"/>
              <a:buFont typeface="Arial" pitchFamily="34" charset="0"/>
              <a:buNone/>
            </a:pPr>
            <a:endParaRPr lang="en-US" sz="2700">
              <a:solidFill>
                <a:schemeClr val="tx1"/>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762000"/>
          </a:xfrm>
          <a:prstGeom prst="rect">
            <a:avLst/>
          </a:prstGeom>
          <a:noFill/>
          <a:ln w="9525">
            <a:noFill/>
            <a:miter lim="800000"/>
            <a:headEnd/>
            <a:tailEnd/>
          </a:ln>
        </p:spPr>
        <p:txBody>
          <a:bodyPr/>
          <a:lstStyle/>
          <a:p>
            <a:pPr algn="ctr"/>
            <a:r>
              <a:rPr lang="en-US" sz="3600">
                <a:solidFill>
                  <a:schemeClr val="bg1"/>
                </a:solidFill>
                <a:latin typeface="Calibri" pitchFamily="34" charset="0"/>
              </a:rPr>
              <a:t>Humus (Latin for soil)</a:t>
            </a:r>
          </a:p>
        </p:txBody>
      </p:sp>
      <p:sp>
        <p:nvSpPr>
          <p:cNvPr id="94211" name="Text Box 3"/>
          <p:cNvSpPr txBox="1">
            <a:spLocks noChangeArrowheads="1"/>
          </p:cNvSpPr>
          <p:nvPr/>
        </p:nvSpPr>
        <p:spPr bwMode="auto">
          <a:xfrm>
            <a:off x="914400" y="2667000"/>
            <a:ext cx="7696200" cy="2677656"/>
          </a:xfrm>
          <a:prstGeom prst="rect">
            <a:avLst/>
          </a:prstGeom>
          <a:noFill/>
          <a:ln w="9525">
            <a:noFill/>
            <a:miter lim="800000"/>
            <a:headEnd/>
            <a:tailEnd/>
          </a:ln>
        </p:spPr>
        <p:txBody>
          <a:bodyPr>
            <a:spAutoFit/>
          </a:bodyPr>
          <a:lstStyle/>
          <a:p>
            <a:pPr marL="457200" indent="-457200">
              <a:buFont typeface="Arial Unicode MS" pitchFamily="34" charset="-128"/>
              <a:buNone/>
            </a:pPr>
            <a:r>
              <a:rPr lang="en-US" sz="2800" dirty="0">
                <a:solidFill>
                  <a:schemeClr val="bg1"/>
                </a:solidFill>
                <a:latin typeface="Calibri" pitchFamily="34" charset="0"/>
              </a:rPr>
              <a:t>Separation Schemes for operational definition</a:t>
            </a:r>
          </a:p>
          <a:p>
            <a:pPr marL="457200" indent="-457200">
              <a:buFont typeface="Arial Unicode MS" pitchFamily="34" charset="-128"/>
              <a:buNone/>
            </a:pPr>
            <a:r>
              <a:rPr lang="en-US" sz="2800" u="sng" dirty="0">
                <a:latin typeface="Calibri" pitchFamily="34" charset="0"/>
              </a:rPr>
              <a:t>Chemical Separation</a:t>
            </a:r>
            <a:endParaRPr lang="en-US" sz="2800" dirty="0">
              <a:latin typeface="Calibri" pitchFamily="34" charset="0"/>
            </a:endParaRPr>
          </a:p>
          <a:p>
            <a:pPr marL="457200" indent="-457200">
              <a:buFont typeface="Arial Unicode MS" pitchFamily="34" charset="-128"/>
              <a:buNone/>
            </a:pPr>
            <a:r>
              <a:rPr lang="en-US" sz="2800" dirty="0" err="1">
                <a:latin typeface="Calibri" pitchFamily="34" charset="0"/>
              </a:rPr>
              <a:t>Fulvic</a:t>
            </a:r>
            <a:r>
              <a:rPr lang="en-US" sz="2800" dirty="0">
                <a:latin typeface="Calibri" pitchFamily="34" charset="0"/>
              </a:rPr>
              <a:t> acids- soluble in acid, base</a:t>
            </a:r>
          </a:p>
          <a:p>
            <a:pPr marL="457200" indent="-457200">
              <a:buFont typeface="Arial Unicode MS" pitchFamily="34" charset="-128"/>
              <a:buNone/>
            </a:pPr>
            <a:r>
              <a:rPr lang="en-US" sz="2800" dirty="0" err="1">
                <a:latin typeface="Calibri" pitchFamily="34" charset="0"/>
              </a:rPr>
              <a:t>Humic</a:t>
            </a:r>
            <a:r>
              <a:rPr lang="en-US" sz="2800" dirty="0">
                <a:latin typeface="Calibri" pitchFamily="34" charset="0"/>
              </a:rPr>
              <a:t> acids- soluble in base, </a:t>
            </a:r>
            <a:r>
              <a:rPr lang="en-US" sz="2800" u="sng" dirty="0">
                <a:latin typeface="Calibri" pitchFamily="34" charset="0"/>
              </a:rPr>
              <a:t>not</a:t>
            </a:r>
            <a:r>
              <a:rPr lang="en-US" sz="2800" dirty="0">
                <a:latin typeface="Calibri" pitchFamily="34" charset="0"/>
              </a:rPr>
              <a:t> acid</a:t>
            </a:r>
          </a:p>
          <a:p>
            <a:pPr marL="457200" indent="-457200">
              <a:buFont typeface="Arial Unicode MS" pitchFamily="34" charset="-128"/>
              <a:buNone/>
            </a:pPr>
            <a:r>
              <a:rPr lang="en-US" sz="2800" dirty="0" err="1">
                <a:latin typeface="Calibri" pitchFamily="34" charset="0"/>
              </a:rPr>
              <a:t>Humins</a:t>
            </a:r>
            <a:r>
              <a:rPr lang="en-US" sz="2800" dirty="0">
                <a:latin typeface="Calibri" pitchFamily="34" charset="0"/>
              </a:rPr>
              <a:t> - </a:t>
            </a:r>
            <a:r>
              <a:rPr lang="en-US" sz="2800" u="sng" dirty="0">
                <a:latin typeface="Calibri" pitchFamily="34" charset="0"/>
              </a:rPr>
              <a:t>not</a:t>
            </a:r>
            <a:r>
              <a:rPr lang="en-US" sz="2800" dirty="0">
                <a:latin typeface="Calibri" pitchFamily="34" charset="0"/>
              </a:rPr>
              <a:t> soluble in base or acid</a:t>
            </a:r>
          </a:p>
          <a:p>
            <a:pPr marL="457200" indent="-457200">
              <a:buFont typeface="Arial Unicode MS" pitchFamily="34" charset="-128"/>
              <a:buNone/>
            </a:pPr>
            <a:endParaRPr lang="en-US" sz="2800" dirty="0">
              <a:latin typeface="Calibri" pitchFamily="34" charset="0"/>
            </a:endParaRPr>
          </a:p>
        </p:txBody>
      </p:sp>
      <p:sp>
        <p:nvSpPr>
          <p:cNvPr id="39940" name="Text Box 4"/>
          <p:cNvSpPr txBox="1">
            <a:spLocks noChangeArrowheads="1"/>
          </p:cNvSpPr>
          <p:nvPr/>
        </p:nvSpPr>
        <p:spPr bwMode="auto">
          <a:xfrm>
            <a:off x="381000" y="762000"/>
            <a:ext cx="8534400" cy="946150"/>
          </a:xfrm>
          <a:prstGeom prst="rect">
            <a:avLst/>
          </a:prstGeom>
          <a:noFill/>
          <a:ln w="9525">
            <a:noFill/>
            <a:miter lim="800000"/>
            <a:headEnd/>
            <a:tailEnd/>
          </a:ln>
        </p:spPr>
        <p:txBody>
          <a:bodyPr>
            <a:spAutoFit/>
          </a:bodyPr>
          <a:lstStyle/>
          <a:p>
            <a:pPr algn="ctr"/>
            <a:r>
              <a:rPr lang="en-US" sz="2800">
                <a:solidFill>
                  <a:schemeClr val="bg1"/>
                </a:solidFill>
                <a:latin typeface="Calibri" pitchFamily="34" charset="0"/>
              </a:rPr>
              <a:t>A </a:t>
            </a:r>
            <a:r>
              <a:rPr lang="en-US" sz="2800">
                <a:latin typeface="Calibri" pitchFamily="34" charset="0"/>
              </a:rPr>
              <a:t>continuum of organic matter decomposition from fresh litter to well decomposed humus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4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idx="4294967295"/>
          </p:nvPr>
        </p:nvSpPr>
        <p:spPr>
          <a:xfrm>
            <a:off x="0" y="228600"/>
            <a:ext cx="8534400" cy="758825"/>
          </a:xfrm>
        </p:spPr>
        <p:txBody>
          <a:bodyPr rtlCol="0">
            <a:normAutofit fontScale="90000"/>
          </a:bodyPr>
          <a:lstStyle/>
          <a:p>
            <a:pPr fontAlgn="auto">
              <a:spcAft>
                <a:spcPts val="0"/>
              </a:spcAft>
              <a:defRPr/>
            </a:pPr>
            <a:r>
              <a:rPr lang="en-US" sz="3600" smtClean="0">
                <a:solidFill>
                  <a:schemeClr val="accent3">
                    <a:shade val="75000"/>
                  </a:schemeClr>
                </a:solidFill>
              </a:rPr>
              <a:t>Major steps in the degradation of organic matter</a:t>
            </a:r>
            <a:endParaRPr lang="en-US" smtClean="0">
              <a:solidFill>
                <a:schemeClr val="accent3">
                  <a:shade val="75000"/>
                </a:schemeClr>
              </a:solidFill>
            </a:endParaRPr>
          </a:p>
        </p:txBody>
      </p:sp>
      <p:sp>
        <p:nvSpPr>
          <p:cNvPr id="72707"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Monotype Sorts"/>
              <a:buNone/>
            </a:pPr>
            <a:r>
              <a:rPr lang="en-US" sz="2800">
                <a:solidFill>
                  <a:schemeClr val="tx1"/>
                </a:solidFill>
              </a:rPr>
              <a:t>Involves 4 major steps</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Breakdown of compounds that are easy to decompose (e.g. sugars, starches and proteins)</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Breakdown of compounds that take several years  to decompose (cellulose and lignin)</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Breakdown of compounds that take 10 years (e.g. waxes and phenols)</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Compounds that takes 100-1000’s of  years (e.g. humus like substances, which are very complex)</a:t>
            </a:r>
          </a:p>
          <a:p>
            <a:pPr marL="273050" indent="-273050" algn="l" fontAlgn="base">
              <a:spcBef>
                <a:spcPct val="20000"/>
              </a:spcBef>
              <a:spcAft>
                <a:spcPct val="0"/>
              </a:spcAft>
              <a:buClr>
                <a:schemeClr val="accent1"/>
              </a:buClr>
              <a:buSzPct val="85000"/>
              <a:buFont typeface="Arial" pitchFamily="34" charset="0"/>
              <a:buNone/>
            </a:pPr>
            <a:endParaRPr lang="en-US" sz="2700">
              <a:solidFill>
                <a:schemeClr val="tx1"/>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0" y="228600"/>
            <a:ext cx="8534400" cy="758825"/>
          </a:xfrm>
        </p:spPr>
        <p:txBody>
          <a:bodyPr/>
          <a:lstStyle/>
          <a:p>
            <a:r>
              <a:rPr lang="en-US" sz="3600" smtClean="0"/>
              <a:t>Microbial degradation or organic matter</a:t>
            </a:r>
            <a:endParaRPr lang="en-US" smtClean="0"/>
          </a:p>
        </p:txBody>
      </p:sp>
      <p:sp>
        <p:nvSpPr>
          <p:cNvPr id="73731"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Involves complex processes. Chemical alteration of organic matter, physical fragmentation and release of mineral nutrients.</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The dead organic matter is colonized by microbes and degraded with help of microbial enzymes.</a:t>
            </a:r>
          </a:p>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Macromolecules are broken down into simpler units and further degraded into constituent elements.</a:t>
            </a:r>
          </a:p>
          <a:p>
            <a:pPr marL="273050" indent="-273050" algn="l" fontAlgn="base">
              <a:spcBef>
                <a:spcPct val="20000"/>
              </a:spcBef>
              <a:spcAft>
                <a:spcPct val="0"/>
              </a:spcAft>
              <a:buClr>
                <a:schemeClr val="accent1"/>
              </a:buClr>
              <a:buSzPct val="85000"/>
              <a:buFont typeface="Arial" pitchFamily="34" charset="0"/>
              <a:buNone/>
            </a:pPr>
            <a:endParaRPr lang="en-US" sz="2700">
              <a:solidFill>
                <a:schemeClr val="tx1"/>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0" y="228600"/>
            <a:ext cx="8534400" cy="758825"/>
          </a:xfrm>
        </p:spPr>
        <p:txBody>
          <a:bodyPr>
            <a:normAutofit fontScale="90000"/>
          </a:bodyPr>
          <a:lstStyle/>
          <a:p>
            <a:pPr fontAlgn="auto">
              <a:spcAft>
                <a:spcPts val="0"/>
              </a:spcAft>
              <a:defRPr/>
            </a:pPr>
            <a:r>
              <a:rPr lang="en-US" sz="3600" smtClean="0">
                <a:solidFill>
                  <a:schemeClr val="accent3">
                    <a:shade val="75000"/>
                  </a:schemeClr>
                </a:solidFill>
              </a:rPr>
              <a:t>Microbial degradation or organic matter..</a:t>
            </a:r>
          </a:p>
        </p:txBody>
      </p:sp>
      <p:sp>
        <p:nvSpPr>
          <p:cNvPr id="74755"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Monotype Sorts"/>
              <a:buNone/>
            </a:pPr>
            <a:r>
              <a:rPr lang="en-US" sz="2700" b="1">
                <a:solidFill>
                  <a:schemeClr val="tx1"/>
                </a:solidFill>
              </a:rPr>
              <a:t>Why do stems and leaves degrade at different rates?</a:t>
            </a:r>
            <a:endParaRPr lang="en-US" sz="2700">
              <a:solidFill>
                <a:schemeClr val="tx1"/>
              </a:solidFill>
            </a:endParaRPr>
          </a:p>
          <a:p>
            <a:pPr marL="273050" indent="-273050" algn="l" fontAlgn="base">
              <a:spcBef>
                <a:spcPct val="20000"/>
              </a:spcBef>
              <a:spcAft>
                <a:spcPct val="0"/>
              </a:spcAft>
              <a:buClr>
                <a:schemeClr val="accent1"/>
              </a:buClr>
              <a:buSzPct val="85000"/>
              <a:buFont typeface="Arial" pitchFamily="34" charset="0"/>
              <a:buNone/>
            </a:pPr>
            <a:r>
              <a:rPr lang="en-US" sz="2700">
                <a:solidFill>
                  <a:schemeClr val="tx1"/>
                </a:solidFill>
              </a:rPr>
              <a:t>Because they are made up of different kinds of molecules and require different enzymes.</a:t>
            </a:r>
          </a:p>
          <a:p>
            <a:pPr marL="273050" indent="-273050" algn="l" fontAlgn="base">
              <a:spcBef>
                <a:spcPct val="20000"/>
              </a:spcBef>
              <a:spcAft>
                <a:spcPct val="0"/>
              </a:spcAft>
              <a:buClr>
                <a:schemeClr val="accent1"/>
              </a:buClr>
              <a:buSzPct val="85000"/>
              <a:buFont typeface="Arial" pitchFamily="34" charset="0"/>
              <a:buNone/>
            </a:pPr>
            <a:r>
              <a:rPr lang="en-US" sz="2700">
                <a:solidFill>
                  <a:schemeClr val="tx1"/>
                </a:solidFill>
              </a:rPr>
              <a:t>E.g. Cellulose, predominant in leafy tissues are easily degradable than lignin, major component of wood. </a:t>
            </a:r>
          </a:p>
          <a:p>
            <a:pPr marL="273050" indent="-273050" algn="l" fontAlgn="base">
              <a:spcBef>
                <a:spcPct val="20000"/>
              </a:spcBef>
              <a:spcAft>
                <a:spcPct val="0"/>
              </a:spcAft>
              <a:buClr>
                <a:schemeClr val="accent1"/>
              </a:buClr>
              <a:buSzPct val="85000"/>
              <a:buFont typeface="Arial" pitchFamily="34" charset="0"/>
              <a:buNone/>
            </a:pPr>
            <a:endParaRPr lang="en-US" sz="2700">
              <a:solidFill>
                <a:schemeClr val="tx1"/>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0" y="228600"/>
            <a:ext cx="8534400" cy="758825"/>
          </a:xfrm>
        </p:spPr>
        <p:txBody>
          <a:bodyPr/>
          <a:lstStyle/>
          <a:p>
            <a:r>
              <a:rPr lang="en-US" smtClean="0"/>
              <a:t>Mineralization of organic matter</a:t>
            </a:r>
          </a:p>
        </p:txBody>
      </p:sp>
      <p:sp>
        <p:nvSpPr>
          <p:cNvPr id="75779"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Arial" pitchFamily="34" charset="0"/>
              <a:buNone/>
            </a:pPr>
            <a:r>
              <a:rPr lang="en-US" sz="2800">
                <a:solidFill>
                  <a:schemeClr val="tx1"/>
                </a:solidFill>
              </a:rPr>
              <a:t>Mineralisation is the biological process where organic compounds in organic matter are chemically converted by the microorganisms in soil to simpler compounds, other organic compounds or mineralised nutrients.</a:t>
            </a:r>
          </a:p>
          <a:p>
            <a:pPr marL="273050" indent="-273050" algn="l" fontAlgn="base">
              <a:spcBef>
                <a:spcPct val="20000"/>
              </a:spcBef>
              <a:spcAft>
                <a:spcPct val="0"/>
              </a:spcAft>
              <a:buClr>
                <a:schemeClr val="accent1"/>
              </a:buClr>
              <a:buSzPct val="85000"/>
              <a:buFont typeface="Arial" pitchFamily="34" charset="0"/>
              <a:buNone/>
            </a:pPr>
            <a:endParaRPr lang="en-US" sz="2800">
              <a:solidFill>
                <a:schemeClr val="tx1"/>
              </a:solidFill>
            </a:endParaRPr>
          </a:p>
          <a:p>
            <a:pPr marL="273050" indent="-273050" algn="l" fontAlgn="base">
              <a:spcBef>
                <a:spcPct val="20000"/>
              </a:spcBef>
              <a:spcAft>
                <a:spcPct val="0"/>
              </a:spcAft>
              <a:buClr>
                <a:schemeClr val="accent1"/>
              </a:buClr>
              <a:buSzPct val="85000"/>
              <a:buFont typeface="Wingdings 2" pitchFamily="18" charset="2"/>
              <a:buChar char=""/>
            </a:pPr>
            <a:endParaRPr lang="en-US" sz="2700">
              <a:solidFill>
                <a:schemeClr val="tx1"/>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0" y="838200"/>
          <a:ext cx="9144000" cy="6019800"/>
        </p:xfrm>
        <a:graphic>
          <a:graphicData uri="http://schemas.openxmlformats.org/presentationml/2006/ole">
            <p:oleObj spid="_x0000_s239624" name="Photo Editor Photo" r:id="rId3" imgW="11790476" imgH="9409524" progId="">
              <p:embed/>
            </p:oleObj>
          </a:graphicData>
        </a:graphic>
      </p:graphicFrame>
      <p:sp>
        <p:nvSpPr>
          <p:cNvPr id="3075" name="Text Box 3"/>
          <p:cNvSpPr txBox="1">
            <a:spLocks noChangeArrowheads="1"/>
          </p:cNvSpPr>
          <p:nvPr/>
        </p:nvSpPr>
        <p:spPr bwMode="auto">
          <a:xfrm>
            <a:off x="1066800" y="381000"/>
            <a:ext cx="7696200" cy="457200"/>
          </a:xfrm>
          <a:prstGeom prst="rect">
            <a:avLst/>
          </a:prstGeom>
          <a:noFill/>
          <a:ln w="12700">
            <a:noFill/>
            <a:miter lim="800000"/>
            <a:headEnd type="none" w="sm" len="sm"/>
            <a:tailEnd type="none" w="sm" len="sm"/>
          </a:ln>
        </p:spPr>
        <p:txBody>
          <a:bodyPr>
            <a:spAutoFit/>
          </a:bodyPr>
          <a:lstStyle/>
          <a:p>
            <a:pPr>
              <a:spcBef>
                <a:spcPct val="50000"/>
              </a:spcBef>
            </a:pPr>
            <a:r>
              <a:rPr lang="en-US">
                <a:latin typeface="Calibri" pitchFamily="34" charset="0"/>
              </a:rPr>
              <a:t>Examples of tropical and temperate region plant-soil systems</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0" y="0"/>
            <a:ext cx="9144000" cy="762000"/>
          </a:xfrm>
          <a:prstGeom prst="rect">
            <a:avLst/>
          </a:prstGeom>
          <a:noFill/>
          <a:ln w="9525">
            <a:noFill/>
            <a:miter lim="800000"/>
            <a:headEnd/>
            <a:tailEnd/>
          </a:ln>
        </p:spPr>
        <p:txBody>
          <a:bodyPr/>
          <a:lstStyle/>
          <a:p>
            <a:pPr algn="ctr"/>
            <a:r>
              <a:rPr lang="en-US" sz="3600" u="sng">
                <a:latin typeface="Calibri" pitchFamily="34" charset="0"/>
              </a:rPr>
              <a:t>Humification</a:t>
            </a:r>
            <a:endParaRPr lang="en-US" sz="3600">
              <a:latin typeface="Calibri" pitchFamily="34" charset="0"/>
            </a:endParaRPr>
          </a:p>
        </p:txBody>
      </p:sp>
      <p:sp>
        <p:nvSpPr>
          <p:cNvPr id="95235" name="Text Box 3"/>
          <p:cNvSpPr txBox="1">
            <a:spLocks noChangeArrowheads="1"/>
          </p:cNvSpPr>
          <p:nvPr/>
        </p:nvSpPr>
        <p:spPr bwMode="auto">
          <a:xfrm>
            <a:off x="381000" y="2560638"/>
            <a:ext cx="8534400" cy="1373187"/>
          </a:xfrm>
          <a:prstGeom prst="rect">
            <a:avLst/>
          </a:prstGeom>
          <a:noFill/>
          <a:ln w="9525">
            <a:noFill/>
            <a:miter lim="800000"/>
            <a:headEnd/>
            <a:tailEnd/>
          </a:ln>
        </p:spPr>
        <p:txBody>
          <a:bodyPr>
            <a:spAutoFit/>
          </a:bodyPr>
          <a:lstStyle/>
          <a:p>
            <a:pPr marL="457200" indent="-457200">
              <a:buFont typeface="Arial Unicode MS" pitchFamily="34" charset="-128"/>
              <a:buNone/>
            </a:pPr>
            <a:r>
              <a:rPr lang="en-US" sz="2800" dirty="0" smtClean="0">
                <a:solidFill>
                  <a:schemeClr val="bg1"/>
                </a:solidFill>
                <a:latin typeface="Calibri" pitchFamily="34" charset="0"/>
              </a:rPr>
              <a:t>2</a:t>
            </a:r>
            <a:r>
              <a:rPr lang="en-US" sz="2800" dirty="0" smtClean="0">
                <a:solidFill>
                  <a:srgbClr val="FF0000"/>
                </a:solidFill>
                <a:latin typeface="Calibri" pitchFamily="34" charset="0"/>
              </a:rPr>
              <a:t> </a:t>
            </a:r>
            <a:r>
              <a:rPr lang="en-US" sz="2800" dirty="0">
                <a:solidFill>
                  <a:srgbClr val="FF0000"/>
                </a:solidFill>
                <a:latin typeface="Calibri" pitchFamily="34" charset="0"/>
              </a:rPr>
              <a:t>Microbial transformations </a:t>
            </a:r>
            <a:r>
              <a:rPr lang="en-US" sz="2800" dirty="0">
                <a:latin typeface="Calibri" pitchFamily="34" charset="0"/>
              </a:rPr>
              <a:t>-- enzymatic breakdown by microbes produces low molecular weight soluble compounds such as amino acids.</a:t>
            </a:r>
          </a:p>
        </p:txBody>
      </p:sp>
      <p:sp>
        <p:nvSpPr>
          <p:cNvPr id="95236" name="Text Box 4"/>
          <p:cNvSpPr txBox="1">
            <a:spLocks noChangeArrowheads="1"/>
          </p:cNvSpPr>
          <p:nvPr/>
        </p:nvSpPr>
        <p:spPr bwMode="auto">
          <a:xfrm>
            <a:off x="381000" y="4265613"/>
            <a:ext cx="8610600" cy="1373187"/>
          </a:xfrm>
          <a:prstGeom prst="rect">
            <a:avLst/>
          </a:prstGeom>
          <a:noFill/>
          <a:ln w="9525">
            <a:noFill/>
            <a:miter lim="800000"/>
            <a:headEnd/>
            <a:tailEnd/>
          </a:ln>
        </p:spPr>
        <p:txBody>
          <a:bodyPr>
            <a:spAutoFit/>
          </a:bodyPr>
          <a:lstStyle/>
          <a:p>
            <a:pPr marL="457200" indent="-457200">
              <a:buFont typeface="Arial Unicode MS" pitchFamily="34" charset="-128"/>
              <a:buNone/>
            </a:pPr>
            <a:r>
              <a:rPr lang="en-US" sz="2800" dirty="0">
                <a:solidFill>
                  <a:schemeClr val="bg1"/>
                </a:solidFill>
                <a:latin typeface="Calibri" pitchFamily="34" charset="0"/>
              </a:rPr>
              <a:t>3. </a:t>
            </a:r>
            <a:r>
              <a:rPr lang="en-US" sz="2800" dirty="0" err="1">
                <a:solidFill>
                  <a:srgbClr val="FF0000"/>
                </a:solidFill>
                <a:latin typeface="Calibri" pitchFamily="34" charset="0"/>
              </a:rPr>
              <a:t>Polyphenol</a:t>
            </a:r>
            <a:r>
              <a:rPr lang="en-US" sz="2800" dirty="0">
                <a:solidFill>
                  <a:srgbClr val="FF0000"/>
                </a:solidFill>
                <a:latin typeface="Calibri" pitchFamily="34" charset="0"/>
              </a:rPr>
              <a:t> formation </a:t>
            </a:r>
            <a:r>
              <a:rPr lang="en-US" sz="2800" dirty="0">
                <a:latin typeface="Calibri" pitchFamily="34" charset="0"/>
              </a:rPr>
              <a:t>--phenols in soil are derived from lignin breakdown, soil microbial synthesis, and by plants as defensive compounds</a:t>
            </a:r>
          </a:p>
        </p:txBody>
      </p:sp>
      <p:sp>
        <p:nvSpPr>
          <p:cNvPr id="95237" name="Text Box 5"/>
          <p:cNvSpPr txBox="1">
            <a:spLocks noChangeArrowheads="1"/>
          </p:cNvSpPr>
          <p:nvPr/>
        </p:nvSpPr>
        <p:spPr bwMode="auto">
          <a:xfrm>
            <a:off x="381000" y="990600"/>
            <a:ext cx="8763000" cy="1373188"/>
          </a:xfrm>
          <a:prstGeom prst="rect">
            <a:avLst/>
          </a:prstGeom>
          <a:noFill/>
          <a:ln w="9525">
            <a:noFill/>
            <a:miter lim="800000"/>
            <a:headEnd/>
            <a:tailEnd/>
          </a:ln>
        </p:spPr>
        <p:txBody>
          <a:bodyPr>
            <a:spAutoFit/>
          </a:bodyPr>
          <a:lstStyle/>
          <a:p>
            <a:pPr marL="457200" indent="-457200">
              <a:buFont typeface="Arial Unicode MS" pitchFamily="34" charset="-128"/>
              <a:buNone/>
            </a:pPr>
            <a:r>
              <a:rPr lang="en-US" sz="2800" dirty="0">
                <a:solidFill>
                  <a:schemeClr val="bg1"/>
                </a:solidFill>
                <a:latin typeface="Calibri" pitchFamily="34" charset="0"/>
              </a:rPr>
              <a:t>1. </a:t>
            </a:r>
            <a:r>
              <a:rPr lang="en-US" sz="2800" dirty="0">
                <a:solidFill>
                  <a:srgbClr val="FF0000"/>
                </a:solidFill>
                <a:latin typeface="Calibri" pitchFamily="34" charset="0"/>
              </a:rPr>
              <a:t>Selective preservation </a:t>
            </a:r>
            <a:r>
              <a:rPr lang="en-US" sz="2800" dirty="0">
                <a:latin typeface="Calibri" pitchFamily="34" charset="0"/>
              </a:rPr>
              <a:t>-- plant waxes, </a:t>
            </a:r>
            <a:r>
              <a:rPr lang="en-US" sz="2800" dirty="0" err="1">
                <a:latin typeface="Calibri" pitchFamily="34" charset="0"/>
              </a:rPr>
              <a:t>cutins</a:t>
            </a:r>
            <a:r>
              <a:rPr lang="en-US" sz="2800" dirty="0">
                <a:latin typeface="Calibri" pitchFamily="34" charset="0"/>
              </a:rPr>
              <a:t>, </a:t>
            </a:r>
            <a:r>
              <a:rPr lang="en-US" sz="2800" dirty="0" err="1">
                <a:latin typeface="Calibri" pitchFamily="34" charset="0"/>
              </a:rPr>
              <a:t>suberin</a:t>
            </a:r>
            <a:r>
              <a:rPr lang="en-US" sz="2800" dirty="0">
                <a:latin typeface="Calibri" pitchFamily="34" charset="0"/>
              </a:rPr>
              <a:t>, lignin, chitin, microbial cell walls are hard to decompose &amp; become enriched in soil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2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2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autoUpdateAnimBg="0"/>
      <p:bldP spid="95236" grpId="0" autoUpdateAnimBg="0"/>
      <p:bldP spid="95237"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0"/>
            <a:ext cx="9144000" cy="762000"/>
          </a:xfrm>
          <a:prstGeom prst="rect">
            <a:avLst/>
          </a:prstGeom>
          <a:noFill/>
          <a:ln w="9525">
            <a:noFill/>
            <a:miter lim="800000"/>
            <a:headEnd/>
            <a:tailEnd/>
          </a:ln>
        </p:spPr>
        <p:txBody>
          <a:bodyPr/>
          <a:lstStyle/>
          <a:p>
            <a:pPr algn="ctr"/>
            <a:r>
              <a:rPr lang="en-US" sz="3600" u="sng">
                <a:latin typeface="Calibri" pitchFamily="34" charset="0"/>
              </a:rPr>
              <a:t>Humification</a:t>
            </a:r>
            <a:endParaRPr lang="en-US" sz="3600">
              <a:latin typeface="Calibri" pitchFamily="34" charset="0"/>
            </a:endParaRPr>
          </a:p>
        </p:txBody>
      </p:sp>
      <p:sp>
        <p:nvSpPr>
          <p:cNvPr id="96259" name="Text Box 3"/>
          <p:cNvSpPr txBox="1">
            <a:spLocks noChangeArrowheads="1"/>
          </p:cNvSpPr>
          <p:nvPr/>
        </p:nvSpPr>
        <p:spPr bwMode="auto">
          <a:xfrm>
            <a:off x="381000" y="4572000"/>
            <a:ext cx="8458200" cy="1373188"/>
          </a:xfrm>
          <a:prstGeom prst="rect">
            <a:avLst/>
          </a:prstGeom>
          <a:noFill/>
          <a:ln w="9525">
            <a:noFill/>
            <a:miter lim="800000"/>
            <a:headEnd/>
            <a:tailEnd/>
          </a:ln>
        </p:spPr>
        <p:txBody>
          <a:bodyPr>
            <a:spAutoFit/>
          </a:bodyPr>
          <a:lstStyle/>
          <a:p>
            <a:pPr marL="457200" indent="-457200">
              <a:buFont typeface="Arial Unicode MS" pitchFamily="34" charset="-128"/>
              <a:buNone/>
            </a:pPr>
            <a:r>
              <a:rPr lang="en-US" sz="2800" dirty="0">
                <a:latin typeface="Calibri" pitchFamily="34" charset="0"/>
              </a:rPr>
              <a:t>5. </a:t>
            </a:r>
            <a:r>
              <a:rPr lang="en-US" sz="2800" dirty="0" err="1">
                <a:solidFill>
                  <a:srgbClr val="FF0000"/>
                </a:solidFill>
                <a:latin typeface="Calibri" pitchFamily="34" charset="0"/>
              </a:rPr>
              <a:t>Abiotic</a:t>
            </a:r>
            <a:r>
              <a:rPr lang="en-US" sz="2800" dirty="0">
                <a:solidFill>
                  <a:srgbClr val="FF0000"/>
                </a:solidFill>
                <a:latin typeface="Calibri" pitchFamily="34" charset="0"/>
              </a:rPr>
              <a:t> condensation </a:t>
            </a:r>
            <a:r>
              <a:rPr lang="en-US" sz="2800" dirty="0">
                <a:latin typeface="Calibri" pitchFamily="34" charset="0"/>
              </a:rPr>
              <a:t>-- </a:t>
            </a:r>
            <a:r>
              <a:rPr lang="en-US" sz="2800" dirty="0" err="1">
                <a:latin typeface="Calibri" pitchFamily="34" charset="0"/>
              </a:rPr>
              <a:t>quinones</a:t>
            </a:r>
            <a:r>
              <a:rPr lang="en-US" sz="2800" dirty="0">
                <a:latin typeface="Calibri" pitchFamily="34" charset="0"/>
              </a:rPr>
              <a:t> react spontaneously with many soil compounds such as amino acids to form humus</a:t>
            </a:r>
          </a:p>
        </p:txBody>
      </p:sp>
      <p:grpSp>
        <p:nvGrpSpPr>
          <p:cNvPr id="41988" name="Group 4"/>
          <p:cNvGrpSpPr>
            <a:grpSpLocks/>
          </p:cNvGrpSpPr>
          <p:nvPr/>
        </p:nvGrpSpPr>
        <p:grpSpPr bwMode="auto">
          <a:xfrm>
            <a:off x="457200" y="2514600"/>
            <a:ext cx="6477000" cy="1828800"/>
            <a:chOff x="1104" y="2784"/>
            <a:chExt cx="4080" cy="1152"/>
          </a:xfrm>
        </p:grpSpPr>
        <p:sp>
          <p:nvSpPr>
            <p:cNvPr id="41990" name="Rectangle 5"/>
            <p:cNvSpPr>
              <a:spLocks noChangeArrowheads="1"/>
            </p:cNvSpPr>
            <p:nvPr/>
          </p:nvSpPr>
          <p:spPr bwMode="auto">
            <a:xfrm>
              <a:off x="1104" y="2784"/>
              <a:ext cx="4080" cy="1152"/>
            </a:xfrm>
            <a:prstGeom prst="rect">
              <a:avLst/>
            </a:prstGeom>
            <a:solidFill>
              <a:schemeClr val="bg1"/>
            </a:solidFill>
            <a:ln w="9525">
              <a:solidFill>
                <a:schemeClr val="tx1"/>
              </a:solidFill>
              <a:miter lim="800000"/>
              <a:headEnd/>
              <a:tailEnd/>
            </a:ln>
          </p:spPr>
          <p:txBody>
            <a:bodyPr wrap="none" anchor="ctr"/>
            <a:lstStyle/>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a:p>
              <a:pPr algn="ctr"/>
              <a:endParaRPr lang="en-US">
                <a:latin typeface="Calibri" pitchFamily="34" charset="0"/>
              </a:endParaRPr>
            </a:p>
          </p:txBody>
        </p:sp>
        <p:pic>
          <p:nvPicPr>
            <p:cNvPr id="41991" name="Picture 6" descr="app_com_envi01_e"/>
            <p:cNvPicPr>
              <a:picLocks noChangeAspect="1" noChangeArrowheads="1"/>
            </p:cNvPicPr>
            <p:nvPr/>
          </p:nvPicPr>
          <p:blipFill>
            <a:blip r:embed="rId2"/>
            <a:srcRect/>
            <a:stretch>
              <a:fillRect/>
            </a:stretch>
          </p:blipFill>
          <p:spPr bwMode="auto">
            <a:xfrm>
              <a:off x="1632" y="3024"/>
              <a:ext cx="2754" cy="676"/>
            </a:xfrm>
            <a:prstGeom prst="rect">
              <a:avLst/>
            </a:prstGeom>
            <a:solidFill>
              <a:schemeClr val="bg1"/>
            </a:solidFill>
            <a:ln w="9525">
              <a:noFill/>
              <a:miter lim="800000"/>
              <a:headEnd/>
              <a:tailEnd/>
            </a:ln>
          </p:spPr>
        </p:pic>
      </p:grpSp>
      <p:sp>
        <p:nvSpPr>
          <p:cNvPr id="96263" name="Text Box 7"/>
          <p:cNvSpPr txBox="1">
            <a:spLocks noChangeArrowheads="1"/>
          </p:cNvSpPr>
          <p:nvPr/>
        </p:nvSpPr>
        <p:spPr bwMode="auto">
          <a:xfrm>
            <a:off x="457200" y="1066800"/>
            <a:ext cx="8458200" cy="954107"/>
          </a:xfrm>
          <a:prstGeom prst="rect">
            <a:avLst/>
          </a:prstGeom>
          <a:noFill/>
          <a:ln w="9525">
            <a:noFill/>
            <a:miter lim="800000"/>
            <a:headEnd/>
            <a:tailEnd/>
          </a:ln>
        </p:spPr>
        <p:txBody>
          <a:bodyPr>
            <a:spAutoFit/>
          </a:bodyPr>
          <a:lstStyle/>
          <a:p>
            <a:pPr marL="457200" indent="-457200">
              <a:buFont typeface="Arial Unicode MS" pitchFamily="34" charset="-128"/>
              <a:buNone/>
            </a:pPr>
            <a:r>
              <a:rPr lang="en-US" sz="2800" dirty="0">
                <a:latin typeface="Calibri" pitchFamily="34" charset="0"/>
              </a:rPr>
              <a:t>4. </a:t>
            </a:r>
            <a:r>
              <a:rPr lang="en-US" sz="2800" dirty="0" err="1">
                <a:solidFill>
                  <a:srgbClr val="FF0000"/>
                </a:solidFill>
                <a:latin typeface="Calibri" pitchFamily="34" charset="0"/>
              </a:rPr>
              <a:t>Quinone</a:t>
            </a:r>
            <a:r>
              <a:rPr lang="en-US" sz="2800" dirty="0">
                <a:solidFill>
                  <a:srgbClr val="FF0000"/>
                </a:solidFill>
                <a:latin typeface="Calibri" pitchFamily="34" charset="0"/>
              </a:rPr>
              <a:t> formation </a:t>
            </a:r>
            <a:r>
              <a:rPr lang="en-US" sz="2800" dirty="0">
                <a:latin typeface="Calibri" pitchFamily="34" charset="0"/>
              </a:rPr>
              <a:t>-- conversion of </a:t>
            </a:r>
            <a:r>
              <a:rPr lang="en-US" sz="2800" dirty="0" err="1">
                <a:latin typeface="Calibri" pitchFamily="34" charset="0"/>
              </a:rPr>
              <a:t>polyphenols</a:t>
            </a:r>
            <a:r>
              <a:rPr lang="en-US" sz="2800" dirty="0">
                <a:latin typeface="Calibri" pitchFamily="34" charset="0"/>
              </a:rPr>
              <a:t> to reactive </a:t>
            </a:r>
            <a:r>
              <a:rPr lang="en-US" sz="2800" dirty="0" err="1">
                <a:latin typeface="Calibri" pitchFamily="34" charset="0"/>
              </a:rPr>
              <a:t>quinones</a:t>
            </a:r>
            <a:r>
              <a:rPr lang="en-US" sz="2800" dirty="0">
                <a:latin typeface="Calibri" pitchFamily="34" charset="0"/>
              </a:rPr>
              <a:t> as a result of extracellular enzymes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2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6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autoUpdateAnimBg="0"/>
      <p:bldP spid="96263"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0" y="228600"/>
            <a:ext cx="7772400" cy="1143000"/>
          </a:xfrm>
        </p:spPr>
        <p:txBody>
          <a:bodyPr/>
          <a:lstStyle/>
          <a:p>
            <a:r>
              <a:rPr lang="en-US" sz="3200" dirty="0" smtClean="0"/>
              <a:t>What stimulates soil organic matter decomposition?</a:t>
            </a:r>
          </a:p>
        </p:txBody>
      </p:sp>
      <p:sp>
        <p:nvSpPr>
          <p:cNvPr id="43011" name="Rectangle 3"/>
          <p:cNvSpPr>
            <a:spLocks noGrp="1" noChangeArrowheads="1"/>
          </p:cNvSpPr>
          <p:nvPr>
            <p:ph idx="4294967295"/>
          </p:nvPr>
        </p:nvSpPr>
        <p:spPr>
          <a:xfrm>
            <a:off x="304800" y="1752600"/>
            <a:ext cx="8839200" cy="5105400"/>
          </a:xfrm>
        </p:spPr>
        <p:txBody>
          <a:bodyPr/>
          <a:lstStyle/>
          <a:p>
            <a:pPr>
              <a:lnSpc>
                <a:spcPct val="90000"/>
              </a:lnSpc>
            </a:pPr>
            <a:r>
              <a:rPr lang="en-US" dirty="0" smtClean="0"/>
              <a:t>Usual suspects (changes in climate, nutrient availability, aeration)</a:t>
            </a:r>
          </a:p>
          <a:p>
            <a:pPr>
              <a:lnSpc>
                <a:spcPct val="90000"/>
              </a:lnSpc>
              <a:buFontTx/>
              <a:buNone/>
            </a:pPr>
            <a:endParaRPr lang="en-US" dirty="0" smtClean="0"/>
          </a:p>
          <a:p>
            <a:pPr>
              <a:lnSpc>
                <a:spcPct val="90000"/>
              </a:lnSpc>
            </a:pPr>
            <a:r>
              <a:rPr lang="en-US" dirty="0" smtClean="0"/>
              <a:t>Mechanical mixing/plowing</a:t>
            </a:r>
          </a:p>
          <a:p>
            <a:pPr>
              <a:lnSpc>
                <a:spcPct val="90000"/>
              </a:lnSpc>
              <a:buFontTx/>
              <a:buNone/>
            </a:pPr>
            <a:endParaRPr lang="en-US" dirty="0" smtClean="0"/>
          </a:p>
          <a:p>
            <a:pPr>
              <a:lnSpc>
                <a:spcPct val="90000"/>
              </a:lnSpc>
            </a:pPr>
            <a:r>
              <a:rPr lang="en-US" dirty="0" smtClean="0"/>
              <a:t>Plant species change</a:t>
            </a:r>
          </a:p>
          <a:p>
            <a:pPr>
              <a:lnSpc>
                <a:spcPct val="90000"/>
              </a:lnSpc>
            </a:pPr>
            <a:endParaRPr lang="en-US" dirty="0" smtClean="0"/>
          </a:p>
          <a:p>
            <a:pPr>
              <a:lnSpc>
                <a:spcPct val="90000"/>
              </a:lnSpc>
            </a:pPr>
            <a:r>
              <a:rPr lang="en-US" dirty="0" smtClean="0"/>
              <a:t>C  additions </a:t>
            </a:r>
            <a:r>
              <a:rPr lang="en-US" dirty="0" smtClean="0">
                <a:latin typeface="Arial" pitchFamily="34" charset="0"/>
              </a:rPr>
              <a:t>“</a:t>
            </a:r>
            <a:r>
              <a:rPr lang="en-US" dirty="0" smtClean="0"/>
              <a:t>priming the pump</a:t>
            </a:r>
            <a:r>
              <a:rPr lang="en-US" dirty="0" smtClean="0">
                <a:latin typeface="Arial" pitchFamily="34" charset="0"/>
              </a:rPr>
              <a:t>”…</a:t>
            </a:r>
            <a:endParaRPr lang="en-US" dirty="0" smtClean="0"/>
          </a:p>
          <a:p>
            <a:pPr>
              <a:lnSpc>
                <a:spcPct val="90000"/>
              </a:lnSpc>
              <a:buFontTx/>
              <a:buNone/>
            </a:pPr>
            <a:endParaRPr lang="en-US" dirty="0" smtClean="0"/>
          </a:p>
          <a:p>
            <a:pPr>
              <a:lnSpc>
                <a:spcPct val="90000"/>
              </a:lnSpc>
            </a:pPr>
            <a:r>
              <a:rPr lang="en-US" dirty="0" smtClean="0"/>
              <a:t>Soil weathering</a:t>
            </a:r>
            <a:r>
              <a:rPr lang="en-US" dirty="0" smtClean="0">
                <a:latin typeface="Arial" pitchFamily="34" charset="0"/>
              </a:rPr>
              <a:t>…</a:t>
            </a:r>
            <a:r>
              <a:rPr lang="en-US" dirty="0" smtClean="0"/>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idx="4294967295"/>
          </p:nvPr>
        </p:nvSpPr>
        <p:spPr>
          <a:xfrm>
            <a:off x="0" y="228600"/>
            <a:ext cx="8534400" cy="758825"/>
          </a:xfrm>
        </p:spPr>
        <p:txBody>
          <a:bodyPr rtlCol="0">
            <a:normAutofit fontScale="90000"/>
          </a:bodyPr>
          <a:lstStyle/>
          <a:p>
            <a:pPr fontAlgn="auto">
              <a:spcAft>
                <a:spcPts val="0"/>
              </a:spcAft>
              <a:defRPr/>
            </a:pPr>
            <a:r>
              <a:rPr lang="en-US" sz="3600" dirty="0" smtClean="0">
                <a:solidFill>
                  <a:schemeClr val="accent3">
                    <a:shade val="75000"/>
                  </a:schemeClr>
                </a:solidFill>
                <a:latin typeface="Arial Black" pitchFamily="34" charset="0"/>
              </a:rPr>
              <a:t>SOIL FORMATION AND AGGREATION</a:t>
            </a:r>
            <a:endParaRPr lang="en-US" dirty="0" smtClean="0">
              <a:solidFill>
                <a:schemeClr val="accent3">
                  <a:shade val="75000"/>
                </a:schemeClr>
              </a:solidFill>
              <a:latin typeface="Arial Black" pitchFamily="34" charset="0"/>
            </a:endParaRPr>
          </a:p>
        </p:txBody>
      </p:sp>
      <p:sp>
        <p:nvSpPr>
          <p:cNvPr id="216067" name="Rectangle 3"/>
          <p:cNvSpPr>
            <a:spLocks noGrp="1" noChangeArrowheads="1"/>
          </p:cNvSpPr>
          <p:nvPr>
            <p:ph sz="quarter" idx="4294967295"/>
          </p:nvPr>
        </p:nvSpPr>
        <p:spPr bwMode="auto">
          <a:xfrm>
            <a:off x="0" y="1600200"/>
            <a:ext cx="9144000" cy="5257800"/>
          </a:xfrm>
          <a:noFill/>
          <a:ln>
            <a:miter lim="800000"/>
            <a:headEnd/>
            <a:tailEnd/>
          </a:ln>
        </p:spPr>
        <p:txBody>
          <a:bodyPr>
            <a:normAutofit lnSpcReduction="10000"/>
          </a:bodyPr>
          <a:lstStyle/>
          <a:p>
            <a:pPr marL="274320" indent="-274320" algn="l">
              <a:spcBef>
                <a:spcPct val="20000"/>
              </a:spcBef>
              <a:buClr>
                <a:schemeClr val="accent1"/>
              </a:buClr>
              <a:buSzPct val="85000"/>
              <a:buFont typeface="Arial" pitchFamily="34" charset="0"/>
              <a:buNone/>
              <a:defRPr/>
            </a:pPr>
            <a:r>
              <a:rPr lang="en-US" sz="2800" b="1">
                <a:solidFill>
                  <a:schemeClr val="tx1"/>
                </a:solidFill>
              </a:rPr>
              <a:t>Where are the microorganisms located in the soil?</a:t>
            </a:r>
          </a:p>
          <a:p>
            <a:pPr marL="274320" indent="-274320" algn="l">
              <a:spcBef>
                <a:spcPct val="20000"/>
              </a:spcBef>
              <a:buClr>
                <a:schemeClr val="accent1"/>
              </a:buClr>
              <a:buSzPct val="85000"/>
              <a:buFont typeface="Arial" pitchFamily="34" charset="0"/>
              <a:buNone/>
              <a:defRPr/>
            </a:pPr>
            <a:r>
              <a:rPr lang="en-US" sz="2800">
                <a:solidFill>
                  <a:schemeClr val="tx1"/>
                </a:solidFill>
              </a:rPr>
              <a:t>Usually the top 2-3 cms.</a:t>
            </a:r>
          </a:p>
          <a:p>
            <a:pPr marL="274320" indent="-274320" algn="l">
              <a:spcBef>
                <a:spcPct val="20000"/>
              </a:spcBef>
              <a:buClr>
                <a:schemeClr val="accent1"/>
              </a:buClr>
              <a:buSzPct val="85000"/>
              <a:buFont typeface="Arial" pitchFamily="34" charset="0"/>
              <a:buNone/>
              <a:defRPr/>
            </a:pPr>
            <a:endParaRPr lang="en-US" sz="2800">
              <a:solidFill>
                <a:schemeClr val="tx1"/>
              </a:solidFill>
            </a:endParaRPr>
          </a:p>
          <a:p>
            <a:pPr marL="274320" indent="-274320" algn="l">
              <a:spcBef>
                <a:spcPct val="20000"/>
              </a:spcBef>
              <a:buClr>
                <a:schemeClr val="accent1"/>
              </a:buClr>
              <a:buSzPct val="85000"/>
              <a:buFont typeface="Arial" pitchFamily="34" charset="0"/>
              <a:buNone/>
              <a:defRPr/>
            </a:pPr>
            <a:r>
              <a:rPr lang="en-US" sz="2800">
                <a:solidFill>
                  <a:schemeClr val="tx1"/>
                </a:solidFill>
              </a:rPr>
              <a:t>Commonly found close to root surfaces, in dead roots, on soil particles or amongst aggregates of soil particles.</a:t>
            </a:r>
          </a:p>
          <a:p>
            <a:pPr marL="274320" indent="-274320" algn="l">
              <a:spcBef>
                <a:spcPct val="20000"/>
              </a:spcBef>
              <a:buClr>
                <a:schemeClr val="accent1"/>
              </a:buClr>
              <a:buSzPct val="85000"/>
              <a:buFont typeface="Arial" pitchFamily="34" charset="0"/>
              <a:buNone/>
              <a:defRPr/>
            </a:pPr>
            <a:endParaRPr lang="en-US" sz="2800">
              <a:solidFill>
                <a:schemeClr val="tx1"/>
              </a:solidFill>
            </a:endParaRPr>
          </a:p>
          <a:p>
            <a:pPr marL="274320" indent="-274320" algn="l">
              <a:spcBef>
                <a:spcPct val="20000"/>
              </a:spcBef>
              <a:buClr>
                <a:schemeClr val="accent1"/>
              </a:buClr>
              <a:buSzPct val="85000"/>
              <a:buFont typeface="Arial" pitchFamily="34" charset="0"/>
              <a:buNone/>
              <a:defRPr/>
            </a:pPr>
            <a:r>
              <a:rPr lang="en-US" sz="2800">
                <a:solidFill>
                  <a:schemeClr val="tx1"/>
                </a:solidFill>
              </a:rPr>
              <a:t>Soils that are clayey have many bacteria because these soils have lot of small pores.</a:t>
            </a:r>
          </a:p>
          <a:p>
            <a:pPr marL="274320" indent="-274320" algn="l">
              <a:spcBef>
                <a:spcPct val="20000"/>
              </a:spcBef>
              <a:buClr>
                <a:schemeClr val="accent1"/>
              </a:buClr>
              <a:buSzPct val="85000"/>
              <a:buFont typeface="Arial" pitchFamily="34" charset="0"/>
              <a:buNone/>
              <a:defRPr/>
            </a:pPr>
            <a:endParaRPr lang="en-US" sz="2800">
              <a:solidFill>
                <a:schemeClr val="tx1"/>
              </a:solidFill>
            </a:endParaRPr>
          </a:p>
          <a:p>
            <a:pPr marL="274320" indent="-274320" algn="l">
              <a:spcBef>
                <a:spcPct val="20000"/>
              </a:spcBef>
              <a:buClr>
                <a:schemeClr val="accent1"/>
              </a:buClr>
              <a:buSzPct val="85000"/>
              <a:buFont typeface="Arial" pitchFamily="34" charset="0"/>
              <a:buNone/>
              <a:defRPr/>
            </a:pPr>
            <a:r>
              <a:rPr lang="en-US" sz="2800">
                <a:solidFill>
                  <a:schemeClr val="tx1"/>
                </a:solidFill>
              </a:rPr>
              <a:t>Sandy soil is less suitable habitat.</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0" y="274638"/>
            <a:ext cx="8229600" cy="868362"/>
          </a:xfrm>
        </p:spPr>
        <p:txBody>
          <a:bodyPr/>
          <a:lstStyle/>
          <a:p>
            <a:r>
              <a:rPr lang="en-US" sz="4000" b="1" smtClean="0"/>
              <a:t>Soil aggregates and soil pores</a:t>
            </a:r>
          </a:p>
        </p:txBody>
      </p:sp>
      <p:sp>
        <p:nvSpPr>
          <p:cNvPr id="503811" name="Rectangle 3"/>
          <p:cNvSpPr>
            <a:spLocks noGrp="1" noChangeArrowheads="1"/>
          </p:cNvSpPr>
          <p:nvPr>
            <p:ph sz="quarter" idx="4294967295"/>
          </p:nvPr>
        </p:nvSpPr>
        <p:spPr bwMode="auto">
          <a:xfrm>
            <a:off x="0" y="1295400"/>
            <a:ext cx="8229600" cy="4830763"/>
          </a:xfrm>
          <a:noFill/>
          <a:ln>
            <a:miter lim="800000"/>
            <a:headEnd/>
            <a:tailEnd/>
          </a:ln>
        </p:spPr>
        <p:txBody>
          <a:bodyPr rtlCol="0">
            <a:normAutofit fontScale="92500" lnSpcReduction="20000"/>
          </a:bodyPr>
          <a:lstStyle/>
          <a:p>
            <a:pPr marL="274320" indent="-274320" algn="l">
              <a:spcBef>
                <a:spcPct val="20000"/>
              </a:spcBef>
              <a:buClr>
                <a:schemeClr val="accent1"/>
              </a:buClr>
              <a:buSzPct val="85000"/>
              <a:buFont typeface="Monotype Sorts"/>
              <a:buNone/>
              <a:defRPr/>
            </a:pPr>
            <a:r>
              <a:rPr lang="en-US" sz="3500" dirty="0">
                <a:solidFill>
                  <a:srgbClr val="FF0000"/>
                </a:solidFill>
              </a:rPr>
              <a:t>What are soil aggregates and soil pores?</a:t>
            </a:r>
          </a:p>
          <a:p>
            <a:pPr marL="274320" indent="-274320" algn="l">
              <a:spcBef>
                <a:spcPct val="20000"/>
              </a:spcBef>
              <a:buClr>
                <a:schemeClr val="accent1"/>
              </a:buClr>
              <a:buSzPct val="85000"/>
              <a:buFont typeface="Arial" pitchFamily="34" charset="0"/>
              <a:buNone/>
              <a:defRPr/>
            </a:pPr>
            <a:r>
              <a:rPr lang="en-US" sz="3000" b="1" dirty="0">
                <a:solidFill>
                  <a:schemeClr val="tx1"/>
                </a:solidFill>
              </a:rPr>
              <a:t>Soil aggregates</a:t>
            </a:r>
            <a:r>
              <a:rPr lang="en-US" sz="3000" dirty="0">
                <a:solidFill>
                  <a:schemeClr val="tx1"/>
                </a:solidFill>
              </a:rPr>
              <a:t>: Clumps of soil particles that are held together by moist clay, organic matter, gums (from bacteria and fungi) and by fungal </a:t>
            </a:r>
            <a:r>
              <a:rPr lang="en-US" sz="3000" dirty="0" err="1">
                <a:solidFill>
                  <a:schemeClr val="tx1"/>
                </a:solidFill>
              </a:rPr>
              <a:t>hyphae</a:t>
            </a:r>
            <a:r>
              <a:rPr lang="en-US" sz="3000" dirty="0">
                <a:solidFill>
                  <a:schemeClr val="tx1"/>
                </a:solidFill>
              </a:rPr>
              <a:t>.</a:t>
            </a:r>
          </a:p>
          <a:p>
            <a:pPr marL="274320" indent="-274320" algn="l">
              <a:spcBef>
                <a:spcPct val="20000"/>
              </a:spcBef>
              <a:buClr>
                <a:schemeClr val="accent1"/>
              </a:buClr>
              <a:buSzPct val="85000"/>
              <a:buFont typeface="Arial" pitchFamily="34" charset="0"/>
              <a:buNone/>
              <a:defRPr/>
            </a:pPr>
            <a:r>
              <a:rPr lang="en-US" sz="3000" dirty="0">
                <a:solidFill>
                  <a:schemeClr val="tx1"/>
                </a:solidFill>
              </a:rPr>
              <a:t>Vary in size from 2 microns to 2 mm.</a:t>
            </a:r>
          </a:p>
          <a:p>
            <a:pPr marL="274320" indent="-274320" algn="l">
              <a:spcBef>
                <a:spcPct val="20000"/>
              </a:spcBef>
              <a:buClr>
                <a:schemeClr val="accent1"/>
              </a:buClr>
              <a:buSzPct val="85000"/>
              <a:buFont typeface="Arial" pitchFamily="34" charset="0"/>
              <a:buNone/>
              <a:defRPr/>
            </a:pPr>
            <a:endParaRPr lang="en-US" sz="3000" dirty="0">
              <a:solidFill>
                <a:schemeClr val="tx1"/>
              </a:solidFill>
            </a:endParaRPr>
          </a:p>
          <a:p>
            <a:pPr marL="274320" indent="-274320" algn="l">
              <a:spcBef>
                <a:spcPct val="20000"/>
              </a:spcBef>
              <a:buClr>
                <a:schemeClr val="accent1"/>
              </a:buClr>
              <a:buSzPct val="85000"/>
              <a:buFont typeface="Arial" pitchFamily="34" charset="0"/>
              <a:buNone/>
              <a:defRPr/>
            </a:pPr>
            <a:r>
              <a:rPr lang="en-US" sz="3000" b="1" dirty="0">
                <a:solidFill>
                  <a:schemeClr val="tx1"/>
                </a:solidFill>
              </a:rPr>
              <a:t>Soil pores</a:t>
            </a:r>
            <a:r>
              <a:rPr lang="en-US" sz="3000" dirty="0">
                <a:solidFill>
                  <a:schemeClr val="tx1"/>
                </a:solidFill>
              </a:rPr>
              <a:t>: spaces between soil particles and soil aggregates.</a:t>
            </a:r>
          </a:p>
          <a:p>
            <a:pPr marL="274320" indent="-274320" algn="l">
              <a:spcBef>
                <a:spcPct val="20000"/>
              </a:spcBef>
              <a:buClr>
                <a:schemeClr val="accent1"/>
              </a:buClr>
              <a:buSzPct val="85000"/>
              <a:buFont typeface="Arial" pitchFamily="34" charset="0"/>
              <a:buNone/>
              <a:defRPr/>
            </a:pPr>
            <a:r>
              <a:rPr lang="en-US" sz="3000" dirty="0">
                <a:solidFill>
                  <a:schemeClr val="tx1"/>
                </a:solidFill>
              </a:rPr>
              <a:t>They can be full of air or have water in them.</a:t>
            </a:r>
          </a:p>
          <a:p>
            <a:pPr marL="274320" indent="-274320" algn="l">
              <a:spcBef>
                <a:spcPct val="20000"/>
              </a:spcBef>
              <a:buClr>
                <a:schemeClr val="accent1"/>
              </a:buClr>
              <a:buSzPct val="85000"/>
              <a:buFont typeface="Arial" pitchFamily="34" charset="0"/>
              <a:buNone/>
              <a:defRPr/>
            </a:pPr>
            <a:r>
              <a:rPr lang="en-US" sz="3000" dirty="0">
                <a:solidFill>
                  <a:schemeClr val="tx1"/>
                </a:solidFill>
              </a:rPr>
              <a:t>Very essential for storing air, water, microbes, nutrients and organic matter.</a:t>
            </a:r>
            <a:endParaRPr lang="en-US" sz="3900" dirty="0">
              <a:solidFill>
                <a:schemeClr val="tx1"/>
              </a:solidFill>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idx="4294967295"/>
          </p:nvPr>
        </p:nvSpPr>
        <p:spPr>
          <a:xfrm>
            <a:off x="0" y="228600"/>
            <a:ext cx="8534400" cy="758825"/>
          </a:xfrm>
        </p:spPr>
        <p:txBody>
          <a:bodyPr rtlCol="0">
            <a:normAutofit fontScale="90000"/>
          </a:bodyPr>
          <a:lstStyle/>
          <a:p>
            <a:pPr fontAlgn="auto">
              <a:spcAft>
                <a:spcPts val="0"/>
              </a:spcAft>
              <a:defRPr/>
            </a:pPr>
            <a:r>
              <a:rPr lang="en-US" sz="3600" b="1" smtClean="0">
                <a:solidFill>
                  <a:schemeClr val="accent3">
                    <a:shade val="75000"/>
                  </a:schemeClr>
                </a:solidFill>
              </a:rPr>
              <a:t>Bacterial/ Fungal role in the formation of soil aggregate</a:t>
            </a:r>
            <a:endParaRPr lang="en-US" b="1" smtClean="0">
              <a:solidFill>
                <a:schemeClr val="accent3">
                  <a:shade val="75000"/>
                </a:schemeClr>
              </a:solidFill>
            </a:endParaRPr>
          </a:p>
        </p:txBody>
      </p:sp>
      <p:sp>
        <p:nvSpPr>
          <p:cNvPr id="70659"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Monotype Sorts"/>
              <a:buNone/>
            </a:pPr>
            <a:r>
              <a:rPr lang="en-US" sz="2400">
                <a:solidFill>
                  <a:schemeClr val="tx1"/>
                </a:solidFill>
              </a:rPr>
              <a:t>Two ways</a:t>
            </a:r>
          </a:p>
          <a:p>
            <a:pPr marL="273050" indent="-273050" algn="l" fontAlgn="base">
              <a:spcBef>
                <a:spcPct val="20000"/>
              </a:spcBef>
              <a:spcAft>
                <a:spcPct val="0"/>
              </a:spcAft>
              <a:buClr>
                <a:schemeClr val="accent1"/>
              </a:buClr>
              <a:buSzPct val="85000"/>
              <a:buFont typeface="Wingdings 2" pitchFamily="18" charset="2"/>
              <a:buChar char=""/>
            </a:pPr>
            <a:r>
              <a:rPr lang="en-US" sz="2400">
                <a:solidFill>
                  <a:schemeClr val="tx1"/>
                </a:solidFill>
              </a:rPr>
              <a:t>Using bacterial polysaccharide as a gum</a:t>
            </a:r>
          </a:p>
          <a:p>
            <a:pPr marL="273050" indent="-273050" algn="l" fontAlgn="base">
              <a:spcBef>
                <a:spcPct val="20000"/>
              </a:spcBef>
              <a:spcAft>
                <a:spcPct val="0"/>
              </a:spcAft>
              <a:buClr>
                <a:schemeClr val="accent1"/>
              </a:buClr>
              <a:buSzPct val="85000"/>
              <a:buFont typeface="Wingdings 2" pitchFamily="18" charset="2"/>
              <a:buChar char=""/>
            </a:pPr>
            <a:r>
              <a:rPr lang="en-US" sz="2400">
                <a:solidFill>
                  <a:schemeClr val="tx1"/>
                </a:solidFill>
              </a:rPr>
              <a:t>Through electrostatic charge between bacteria and clay surfaces</a:t>
            </a:r>
          </a:p>
          <a:p>
            <a:pPr marL="273050" indent="-273050" algn="l" fontAlgn="base">
              <a:spcBef>
                <a:spcPct val="20000"/>
              </a:spcBef>
              <a:spcAft>
                <a:spcPct val="0"/>
              </a:spcAft>
              <a:buClr>
                <a:schemeClr val="accent1"/>
              </a:buClr>
              <a:buSzPct val="85000"/>
              <a:buFont typeface="Wingdings 2" pitchFamily="18" charset="2"/>
              <a:buChar char=""/>
            </a:pPr>
            <a:r>
              <a:rPr lang="en-US" sz="2400">
                <a:solidFill>
                  <a:schemeClr val="tx1"/>
                </a:solidFill>
              </a:rPr>
              <a:t>Fungi help form soil aggregates when fungal hyphae enmesh and cross link soil particles.</a:t>
            </a:r>
          </a:p>
          <a:p>
            <a:pPr marL="273050" indent="-273050" algn="l" fontAlgn="base">
              <a:spcBef>
                <a:spcPct val="20000"/>
              </a:spcBef>
              <a:spcAft>
                <a:spcPct val="0"/>
              </a:spcAft>
              <a:buClr>
                <a:schemeClr val="accent1"/>
              </a:buClr>
              <a:buSzPct val="85000"/>
              <a:buFont typeface="Wingdings 2" pitchFamily="18" charset="2"/>
              <a:buChar char=""/>
            </a:pPr>
            <a:r>
              <a:rPr lang="en-US" sz="2400">
                <a:solidFill>
                  <a:schemeClr val="tx1"/>
                </a:solidFill>
              </a:rPr>
              <a:t>Mycorrhizae are very important in this process.</a:t>
            </a:r>
          </a:p>
          <a:p>
            <a:pPr marL="273050" indent="-273050" algn="l" fontAlgn="base">
              <a:spcBef>
                <a:spcPct val="20000"/>
              </a:spcBef>
              <a:spcAft>
                <a:spcPct val="0"/>
              </a:spcAft>
              <a:buClr>
                <a:schemeClr val="accent1"/>
              </a:buClr>
              <a:buSzPct val="85000"/>
              <a:buFont typeface="Wingdings 2" pitchFamily="18" charset="2"/>
              <a:buChar char=""/>
            </a:pPr>
            <a:endParaRPr lang="en-US" sz="2700">
              <a:solidFill>
                <a:schemeClr val="tx1"/>
              </a:solidFill>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title" idx="4294967295"/>
          </p:nvPr>
        </p:nvSpPr>
        <p:spPr>
          <a:xfrm>
            <a:off x="512763" y="2438400"/>
            <a:ext cx="8631237" cy="1371600"/>
          </a:xfrm>
        </p:spPr>
        <p:txBody>
          <a:bodyPr lIns="91418" rIns="91418"/>
          <a:lstStyle/>
          <a:p>
            <a:r>
              <a:rPr lang="en-US" sz="3900" smtClean="0">
                <a:latin typeface="Arial Black" pitchFamily="34" charset="0"/>
              </a:rPr>
              <a:t>Biogeochemical Cycles and soil microbes</a:t>
            </a:r>
          </a:p>
        </p:txBody>
      </p:sp>
      <p:grpSp>
        <p:nvGrpSpPr>
          <p:cNvPr id="79875" name="Group 1034"/>
          <p:cNvGrpSpPr>
            <a:grpSpLocks/>
          </p:cNvGrpSpPr>
          <p:nvPr/>
        </p:nvGrpSpPr>
        <p:grpSpPr bwMode="auto">
          <a:xfrm>
            <a:off x="4953000" y="0"/>
            <a:ext cx="3962400" cy="2438400"/>
            <a:chOff x="1680" y="2400"/>
            <a:chExt cx="3024" cy="1728"/>
          </a:xfrm>
        </p:grpSpPr>
        <p:pic>
          <p:nvPicPr>
            <p:cNvPr id="79878" name="Picture 1035"/>
            <p:cNvPicPr>
              <a:picLocks noChangeAspect="1" noChangeArrowheads="1"/>
            </p:cNvPicPr>
            <p:nvPr/>
          </p:nvPicPr>
          <p:blipFill>
            <a:blip r:embed="rId2"/>
            <a:srcRect/>
            <a:stretch>
              <a:fillRect/>
            </a:stretch>
          </p:blipFill>
          <p:spPr bwMode="auto">
            <a:xfrm>
              <a:off x="1680" y="2544"/>
              <a:ext cx="2784" cy="1514"/>
            </a:xfrm>
            <a:prstGeom prst="rect">
              <a:avLst/>
            </a:prstGeom>
            <a:noFill/>
            <a:ln w="9525">
              <a:noFill/>
              <a:miter lim="800000"/>
              <a:headEnd/>
              <a:tailEnd/>
            </a:ln>
          </p:spPr>
        </p:pic>
        <p:sp>
          <p:nvSpPr>
            <p:cNvPr id="79879" name="Rectangle 1036"/>
            <p:cNvSpPr>
              <a:spLocks noChangeArrowheads="1"/>
            </p:cNvSpPr>
            <p:nvPr/>
          </p:nvSpPr>
          <p:spPr bwMode="auto">
            <a:xfrm>
              <a:off x="4617" y="2400"/>
              <a:ext cx="87" cy="1728"/>
            </a:xfrm>
            <a:prstGeom prst="rect">
              <a:avLst/>
            </a:prstGeom>
            <a:solidFill>
              <a:schemeClr val="bg1"/>
            </a:solidFill>
            <a:ln w="9525">
              <a:noFill/>
              <a:miter lim="800000"/>
              <a:headEnd/>
              <a:tailEnd/>
            </a:ln>
          </p:spPr>
          <p:txBody>
            <a:bodyPr wrap="none" anchor="ctr"/>
            <a:lstStyle/>
            <a:p>
              <a:endParaRPr lang="en-US">
                <a:latin typeface="Calibri" pitchFamily="34" charset="0"/>
              </a:endParaRPr>
            </a:p>
          </p:txBody>
        </p:sp>
      </p:grpSp>
      <p:pic>
        <p:nvPicPr>
          <p:cNvPr id="79876" name="Picture 1033"/>
          <p:cNvPicPr>
            <a:picLocks noChangeAspect="1" noChangeArrowheads="1"/>
          </p:cNvPicPr>
          <p:nvPr/>
        </p:nvPicPr>
        <p:blipFill>
          <a:blip r:embed="rId3"/>
          <a:srcRect/>
          <a:stretch>
            <a:fillRect/>
          </a:stretch>
        </p:blipFill>
        <p:spPr bwMode="auto">
          <a:xfrm>
            <a:off x="0" y="4495800"/>
            <a:ext cx="3200400" cy="2362200"/>
          </a:xfrm>
          <a:prstGeom prst="rect">
            <a:avLst/>
          </a:prstGeom>
          <a:noFill/>
          <a:ln w="9525">
            <a:noFill/>
            <a:miter lim="800000"/>
            <a:headEnd/>
            <a:tailEnd/>
          </a:ln>
        </p:spPr>
      </p:pic>
      <p:pic>
        <p:nvPicPr>
          <p:cNvPr id="79877" name="Picture 1037"/>
          <p:cNvPicPr>
            <a:picLocks noChangeAspect="1" noChangeArrowheads="1"/>
          </p:cNvPicPr>
          <p:nvPr/>
        </p:nvPicPr>
        <p:blipFill>
          <a:blip r:embed="rId4"/>
          <a:srcRect/>
          <a:stretch>
            <a:fillRect/>
          </a:stretch>
        </p:blipFill>
        <p:spPr bwMode="auto">
          <a:xfrm>
            <a:off x="6324600" y="4495800"/>
            <a:ext cx="2819400"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sz="2900" dirty="0" smtClean="0">
                <a:solidFill>
                  <a:srgbClr val="404040"/>
                </a:solidFill>
                <a:latin typeface="Arial Narrow" pitchFamily="34" charset="0"/>
              </a:rPr>
              <a:t>Water body</a:t>
            </a:r>
            <a:endParaRPr lang="en-US" sz="2900" dirty="0">
              <a:solidFill>
                <a:srgbClr val="404040"/>
              </a:solidFill>
              <a:latin typeface="Arial Narrow" pitchFamily="34" charset="0"/>
            </a:endParaRPr>
          </a:p>
        </p:txBody>
      </p:sp>
      <p:pic>
        <p:nvPicPr>
          <p:cNvPr id="80899" name="Picture 6" descr="23_02Figure-L"/>
          <p:cNvPicPr>
            <a:picLocks noChangeAspect="1" noChangeArrowheads="1"/>
          </p:cNvPicPr>
          <p:nvPr/>
        </p:nvPicPr>
        <p:blipFill>
          <a:blip r:embed="rId3"/>
          <a:srcRect/>
          <a:stretch>
            <a:fillRect/>
          </a:stretch>
        </p:blipFill>
        <p:spPr bwMode="auto">
          <a:xfrm>
            <a:off x="1219200" y="685800"/>
            <a:ext cx="6781800" cy="617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xfrm>
            <a:off x="4362450" y="1027113"/>
            <a:ext cx="457200" cy="441325"/>
          </a:xfrm>
        </p:spPr>
        <p:txBody>
          <a:bodyPr/>
          <a:lstStyle/>
          <a:p>
            <a:pPr>
              <a:defRPr/>
            </a:pPr>
            <a:fld id="{9BA3CBBC-F9F1-464E-899D-565961DA7398}" type="slidenum">
              <a:rPr lang="en-US">
                <a:solidFill>
                  <a:schemeClr val="accent3">
                    <a:shade val="75000"/>
                  </a:schemeClr>
                </a:solidFill>
              </a:rPr>
              <a:pPr>
                <a:defRPr/>
              </a:pPr>
              <a:t>79</a:t>
            </a:fld>
            <a:endParaRPr lang="en-US">
              <a:solidFill>
                <a:schemeClr val="accent3">
                  <a:shade val="75000"/>
                </a:schemeClr>
              </a:solidFill>
            </a:endParaRPr>
          </a:p>
        </p:txBody>
      </p:sp>
      <p:sp>
        <p:nvSpPr>
          <p:cNvPr id="229378" name="Rectangle 2"/>
          <p:cNvSpPr>
            <a:spLocks noGrp="1" noChangeArrowheads="1"/>
          </p:cNvSpPr>
          <p:nvPr>
            <p:ph type="title" idx="4294967295"/>
          </p:nvPr>
        </p:nvSpPr>
        <p:spPr>
          <a:xfrm>
            <a:off x="0" y="381000"/>
            <a:ext cx="7772400" cy="609600"/>
          </a:xfrm>
        </p:spPr>
        <p:txBody>
          <a:bodyPr>
            <a:normAutofit fontScale="90000"/>
          </a:bodyPr>
          <a:lstStyle/>
          <a:p>
            <a:pPr fontAlgn="auto">
              <a:spcAft>
                <a:spcPts val="0"/>
              </a:spcAft>
              <a:defRPr/>
            </a:pPr>
            <a:r>
              <a:rPr lang="en-US" sz="3200" b="1" smtClean="0">
                <a:solidFill>
                  <a:schemeClr val="accent3">
                    <a:shade val="75000"/>
                  </a:schemeClr>
                </a:solidFill>
              </a:rPr>
              <a:t>Nutrient Requirements for Plant Growth</a:t>
            </a:r>
          </a:p>
        </p:txBody>
      </p:sp>
      <p:sp>
        <p:nvSpPr>
          <p:cNvPr id="81924" name="Rectangle 3"/>
          <p:cNvSpPr>
            <a:spLocks noGrp="1" noChangeArrowheads="1"/>
          </p:cNvSpPr>
          <p:nvPr>
            <p:ph sz="quarter" idx="4294967295"/>
          </p:nvPr>
        </p:nvSpPr>
        <p:spPr bwMode="auto">
          <a:xfrm>
            <a:off x="0" y="1219200"/>
            <a:ext cx="8153400" cy="48768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Wingdings 2" pitchFamily="18" charset="2"/>
              <a:buChar char=""/>
            </a:pPr>
            <a:r>
              <a:rPr lang="en-US" sz="2800" b="1">
                <a:solidFill>
                  <a:schemeClr val="tx1"/>
                </a:solidFill>
                <a:cs typeface="Times New Roman" pitchFamily="18" charset="0"/>
              </a:rPr>
              <a:t>Taken up in gaseous form, Oxygen (O</a:t>
            </a:r>
            <a:r>
              <a:rPr lang="en-US" sz="2800" b="1" baseline="-25000">
                <a:solidFill>
                  <a:schemeClr val="tx1"/>
                </a:solidFill>
                <a:cs typeface="Times New Roman" pitchFamily="18" charset="0"/>
              </a:rPr>
              <a:t>2</a:t>
            </a:r>
            <a:r>
              <a:rPr lang="en-US" sz="2800" b="1">
                <a:solidFill>
                  <a:schemeClr val="tx1"/>
                </a:solidFill>
                <a:cs typeface="Times New Roman" pitchFamily="18" charset="0"/>
              </a:rPr>
              <a:t>), Carbon CO</a:t>
            </a:r>
            <a:r>
              <a:rPr lang="en-US" sz="2800" b="1" baseline="-25000">
                <a:solidFill>
                  <a:schemeClr val="tx1"/>
                </a:solidFill>
                <a:cs typeface="Times New Roman" pitchFamily="18" charset="0"/>
              </a:rPr>
              <a:t>2</a:t>
            </a:r>
            <a:r>
              <a:rPr lang="en-US" sz="2800" b="1">
                <a:solidFill>
                  <a:schemeClr val="tx1"/>
                </a:solidFill>
                <a:cs typeface="Times New Roman" pitchFamily="18" charset="0"/>
              </a:rPr>
              <a:t>,  and from roots - Water (H</a:t>
            </a:r>
            <a:r>
              <a:rPr lang="en-US" sz="2800" b="1" baseline="-25000">
                <a:solidFill>
                  <a:schemeClr val="tx1"/>
                </a:solidFill>
                <a:cs typeface="Times New Roman" pitchFamily="18" charset="0"/>
              </a:rPr>
              <a:t>2</a:t>
            </a:r>
            <a:r>
              <a:rPr lang="en-US" sz="2800" b="1">
                <a:solidFill>
                  <a:schemeClr val="tx1"/>
                </a:solidFill>
                <a:cs typeface="Times New Roman" pitchFamily="18" charset="0"/>
              </a:rPr>
              <a:t>O).</a:t>
            </a:r>
          </a:p>
          <a:p>
            <a:pPr marL="547688" lvl="1" indent="-273050">
              <a:spcBef>
                <a:spcPct val="20000"/>
              </a:spcBef>
              <a:buClr>
                <a:schemeClr val="accent2"/>
              </a:buClr>
              <a:buSzPct val="70000"/>
              <a:buFont typeface="Wingdings" pitchFamily="2" charset="2"/>
              <a:buChar char=""/>
            </a:pPr>
            <a:r>
              <a:rPr lang="en-US" sz="2400" b="1">
                <a:solidFill>
                  <a:schemeClr val="tx2"/>
                </a:solidFill>
                <a:latin typeface="Georgia" pitchFamily="18" charset="0"/>
                <a:cs typeface="Times New Roman" pitchFamily="18" charset="0"/>
              </a:rPr>
              <a:t>Derived from water and carbon dioxide</a:t>
            </a:r>
          </a:p>
          <a:p>
            <a:pPr marL="273050" indent="-273050" algn="l" fontAlgn="base">
              <a:spcBef>
                <a:spcPct val="20000"/>
              </a:spcBef>
              <a:spcAft>
                <a:spcPct val="0"/>
              </a:spcAft>
              <a:buClr>
                <a:schemeClr val="accent1"/>
              </a:buClr>
              <a:buSzPct val="85000"/>
              <a:buFont typeface="Wingdings 2" pitchFamily="18" charset="2"/>
              <a:buChar char=""/>
            </a:pPr>
            <a:r>
              <a:rPr lang="en-US" sz="2800" b="1">
                <a:solidFill>
                  <a:schemeClr val="tx1"/>
                </a:solidFill>
                <a:cs typeface="Times New Roman" pitchFamily="18" charset="0"/>
              </a:rPr>
              <a:t>Rest are taken up from soil solutions</a:t>
            </a:r>
          </a:p>
          <a:p>
            <a:pPr marL="547688" lvl="1" indent="-273050">
              <a:spcBef>
                <a:spcPct val="20000"/>
              </a:spcBef>
              <a:buClr>
                <a:schemeClr val="accent2"/>
              </a:buClr>
              <a:buSzPct val="70000"/>
              <a:buFont typeface="Wingdings" pitchFamily="2" charset="2"/>
              <a:buChar char=""/>
            </a:pPr>
            <a:r>
              <a:rPr lang="en-US" sz="2200" b="1">
                <a:solidFill>
                  <a:schemeClr val="tx2"/>
                </a:solidFill>
                <a:latin typeface="Georgia" pitchFamily="18" charset="0"/>
                <a:cs typeface="Times New Roman" pitchFamily="18" charset="0"/>
              </a:rPr>
              <a:t>Macro-nutrients –Nitrogen (N), Phosphorous (P), Potassium (K), </a:t>
            </a:r>
          </a:p>
          <a:p>
            <a:pPr marL="547688" lvl="1" indent="-273050">
              <a:spcBef>
                <a:spcPct val="20000"/>
              </a:spcBef>
              <a:buClr>
                <a:schemeClr val="accent2"/>
              </a:buClr>
              <a:buSzPct val="70000"/>
              <a:buFont typeface="Wingdings" pitchFamily="2" charset="2"/>
              <a:buChar char=""/>
            </a:pPr>
            <a:r>
              <a:rPr lang="en-US" sz="2200" b="1">
                <a:solidFill>
                  <a:schemeClr val="tx2"/>
                </a:solidFill>
                <a:latin typeface="Georgia" pitchFamily="18" charset="0"/>
                <a:cs typeface="Times New Roman" pitchFamily="18" charset="0"/>
              </a:rPr>
              <a:t>Calcium (Ca), Magnesium (Mg), Sulfur (S)</a:t>
            </a:r>
          </a:p>
          <a:p>
            <a:pPr marL="547688" lvl="1" indent="-273050">
              <a:spcBef>
                <a:spcPct val="20000"/>
              </a:spcBef>
              <a:buClr>
                <a:schemeClr val="accent2"/>
              </a:buClr>
              <a:buSzPct val="70000"/>
              <a:buFont typeface="Wingdings" pitchFamily="2" charset="2"/>
              <a:buChar char=""/>
            </a:pPr>
            <a:r>
              <a:rPr lang="en-US" sz="2200" b="1">
                <a:solidFill>
                  <a:schemeClr val="tx2"/>
                </a:solidFill>
                <a:latin typeface="Georgia" pitchFamily="18" charset="0"/>
                <a:cs typeface="Times New Roman" pitchFamily="18" charset="0"/>
              </a:rPr>
              <a:t>Micro-nutrients – Boron (B), Copper (Cu), Iron (Fe), Manganese (Mn), Molybdenum (Mo), Zinc (Zn)</a:t>
            </a:r>
            <a:endParaRPr lang="en-US" sz="2200">
              <a:solidFill>
                <a:schemeClr val="tx2"/>
              </a:solidFill>
              <a:latin typeface="Georgia" pitchFamily="18" charset="0"/>
              <a:cs typeface="Times New Roman" pitchFamily="18" charset="0"/>
            </a:endParaRPr>
          </a:p>
          <a:p>
            <a:pPr marL="822325" lvl="2" indent="-228600">
              <a:spcBef>
                <a:spcPct val="20000"/>
              </a:spcBef>
              <a:buClr>
                <a:srgbClr val="8CADAE"/>
              </a:buClr>
              <a:buSzPct val="75000"/>
              <a:buFont typeface="Wingdings 2" pitchFamily="18" charset="2"/>
              <a:buChar char=""/>
            </a:pPr>
            <a:endParaRPr lang="en-US" sz="2000" b="1">
              <a:latin typeface="Georgia" pitchFamily="18" charset="0"/>
              <a:cs typeface="Times New Roman" pitchFamily="18" charset="0"/>
            </a:endParaRPr>
          </a:p>
          <a:p>
            <a:pPr marL="547688" lvl="1" indent="-273050">
              <a:spcBef>
                <a:spcPct val="20000"/>
              </a:spcBef>
              <a:buClr>
                <a:schemeClr val="accent2"/>
              </a:buClr>
              <a:buSzPct val="70000"/>
              <a:buFont typeface="Wingdings" pitchFamily="2" charset="2"/>
              <a:buChar char=""/>
            </a:pPr>
            <a:endParaRPr lang="en-US" sz="2400" b="1">
              <a:solidFill>
                <a:schemeClr val="tx2"/>
              </a:solidFill>
              <a:latin typeface="Georgia"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idx="4294967295"/>
          </p:nvPr>
        </p:nvSpPr>
        <p:spPr>
          <a:xfrm>
            <a:off x="0" y="228600"/>
            <a:ext cx="8534400" cy="758825"/>
          </a:xfrm>
        </p:spPr>
        <p:txBody>
          <a:bodyPr/>
          <a:lstStyle/>
          <a:p>
            <a:r>
              <a:rPr lang="en-US" b="1" smtClean="0"/>
              <a:t>Biogeochemical Cycling</a:t>
            </a:r>
          </a:p>
        </p:txBody>
      </p:sp>
      <p:sp>
        <p:nvSpPr>
          <p:cNvPr id="82948" name="Rectangle 1027"/>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pPr>
            <a:r>
              <a:rPr lang="en-US" sz="2700" b="1">
                <a:solidFill>
                  <a:schemeClr val="tx1"/>
                </a:solidFill>
              </a:rPr>
              <a:t>The cycling of nutrients through ecosystems via food chains and food webs, including the exchange of nutrients between the biosphere and the hydrosphere, atmosphere and geosphere (e.g., soils and sediments)</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pPr eaLnBrk="0" hangingPunct="0"/>
            <a:r>
              <a:rPr lang="en-US" sz="2900">
                <a:solidFill>
                  <a:srgbClr val="404040"/>
                </a:solidFill>
                <a:latin typeface="Arial Narrow" pitchFamily="34" charset="0"/>
              </a:rPr>
              <a:t>The Carbon Cycle</a:t>
            </a:r>
          </a:p>
        </p:txBody>
      </p:sp>
      <p:pic>
        <p:nvPicPr>
          <p:cNvPr id="83971" name="Picture 5" descr="24_01Figure-L"/>
          <p:cNvPicPr>
            <a:picLocks noChangeAspect="1" noChangeArrowheads="1"/>
          </p:cNvPicPr>
          <p:nvPr/>
        </p:nvPicPr>
        <p:blipFill>
          <a:blip r:embed="rId3"/>
          <a:srcRect b="3882"/>
          <a:stretch>
            <a:fillRect/>
          </a:stretch>
        </p:blipFill>
        <p:spPr bwMode="auto">
          <a:xfrm>
            <a:off x="328613" y="882650"/>
            <a:ext cx="8591550" cy="4445000"/>
          </a:xfrm>
          <a:prstGeom prst="rect">
            <a:avLst/>
          </a:prstGeom>
          <a:noFill/>
          <a:ln w="9525">
            <a:noFill/>
            <a:miter lim="800000"/>
            <a:headEnd/>
            <a:tailEnd/>
          </a:ln>
        </p:spPr>
      </p:pic>
      <p:sp>
        <p:nvSpPr>
          <p:cNvPr id="83972" name="Text Box 6"/>
          <p:cNvSpPr txBox="1">
            <a:spLocks noChangeArrowheads="1"/>
          </p:cNvSpPr>
          <p:nvPr/>
        </p:nvSpPr>
        <p:spPr bwMode="auto">
          <a:xfrm>
            <a:off x="319088" y="5527675"/>
            <a:ext cx="8542337" cy="1098550"/>
          </a:xfrm>
          <a:prstGeom prst="rect">
            <a:avLst/>
          </a:prstGeom>
          <a:noFill/>
          <a:ln w="9525">
            <a:noFill/>
            <a:miter lim="800000"/>
            <a:headEnd/>
            <a:tailEnd/>
          </a:ln>
        </p:spPr>
        <p:txBody>
          <a:bodyPr lIns="82058" tIns="41029" rIns="82058" bIns="41029">
            <a:spAutoFit/>
          </a:bodyPr>
          <a:lstStyle/>
          <a:p>
            <a:pPr>
              <a:lnSpc>
                <a:spcPct val="150000"/>
              </a:lnSpc>
              <a:spcBef>
                <a:spcPct val="20000"/>
              </a:spcBef>
              <a:buClr>
                <a:schemeClr val="tx1"/>
              </a:buClr>
            </a:pPr>
            <a:r>
              <a:rPr lang="en-US" sz="2200">
                <a:latin typeface="Calibri" pitchFamily="34" charset="0"/>
              </a:rPr>
              <a:t>Carbon is cycled through all of Earth’s major carbon reservoirs (atmosphere, land, oceans, sediments, rocks, and biomass)</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a:xfrm>
            <a:off x="0" y="274638"/>
            <a:ext cx="8229600" cy="563562"/>
          </a:xfrm>
        </p:spPr>
        <p:txBody>
          <a:bodyPr lIns="91418" rIns="91418" rtlCol="0">
            <a:normAutofit fontScale="90000"/>
          </a:bodyPr>
          <a:lstStyle/>
          <a:p>
            <a:pPr fontAlgn="auto">
              <a:spcAft>
                <a:spcPts val="0"/>
              </a:spcAft>
              <a:defRPr/>
            </a:pPr>
            <a:r>
              <a:rPr lang="en-US" smtClean="0">
                <a:solidFill>
                  <a:schemeClr val="accent3">
                    <a:shade val="75000"/>
                  </a:schemeClr>
                </a:solidFill>
              </a:rPr>
              <a:t>The Carbon Cycle</a:t>
            </a:r>
          </a:p>
        </p:txBody>
      </p:sp>
      <p:sp>
        <p:nvSpPr>
          <p:cNvPr id="84995" name="Rectangle 3"/>
          <p:cNvSpPr>
            <a:spLocks noGrp="1" noChangeArrowheads="1"/>
          </p:cNvSpPr>
          <p:nvPr>
            <p:ph type="body" idx="4294967295"/>
          </p:nvPr>
        </p:nvSpPr>
        <p:spPr>
          <a:xfrm>
            <a:off x="0" y="838200"/>
            <a:ext cx="8204200" cy="5105400"/>
          </a:xfrm>
        </p:spPr>
        <p:txBody>
          <a:bodyPr tIns="18283" bIns="18283"/>
          <a:lstStyle/>
          <a:p>
            <a:pPr>
              <a:buFont typeface="Arial" pitchFamily="34" charset="0"/>
              <a:buNone/>
            </a:pPr>
            <a:r>
              <a:rPr lang="en-US" sz="2800" smtClean="0">
                <a:latin typeface="Arial" pitchFamily="34" charset="0"/>
              </a:rPr>
              <a:t>CO</a:t>
            </a:r>
            <a:r>
              <a:rPr lang="en-US" sz="2800" baseline="-25000" smtClean="0">
                <a:latin typeface="Arial" pitchFamily="34" charset="0"/>
              </a:rPr>
              <a:t>2</a:t>
            </a:r>
            <a:r>
              <a:rPr lang="en-US" sz="2800" smtClean="0">
                <a:latin typeface="Arial" pitchFamily="34" charset="0"/>
              </a:rPr>
              <a:t> in the atmosphere is the most rapidly transferred carbon reservoir</a:t>
            </a:r>
          </a:p>
          <a:p>
            <a:pPr>
              <a:buFont typeface="Arial" pitchFamily="34" charset="0"/>
              <a:buNone/>
            </a:pPr>
            <a:r>
              <a:rPr lang="en-US" sz="2800" smtClean="0">
                <a:latin typeface="Arial" pitchFamily="34" charset="0"/>
              </a:rPr>
              <a:t>CO</a:t>
            </a:r>
            <a:r>
              <a:rPr lang="en-US" sz="2800" baseline="-25000" smtClean="0">
                <a:latin typeface="Arial" pitchFamily="34" charset="0"/>
              </a:rPr>
              <a:t>2</a:t>
            </a:r>
            <a:r>
              <a:rPr lang="en-US" sz="2800" smtClean="0">
                <a:latin typeface="Arial" pitchFamily="34" charset="0"/>
              </a:rPr>
              <a:t> is fixed primarily by photosynthetic land plants and marine microbes (autotrophs fix carbon dioxide)</a:t>
            </a:r>
          </a:p>
          <a:p>
            <a:pPr>
              <a:buFont typeface="Arial" pitchFamily="34" charset="0"/>
              <a:buNone/>
            </a:pPr>
            <a:r>
              <a:rPr lang="en-US" sz="2800" smtClean="0">
                <a:latin typeface="Arial" pitchFamily="34" charset="0"/>
              </a:rPr>
              <a:t>CO</a:t>
            </a:r>
            <a:r>
              <a:rPr lang="en-US" sz="2800" baseline="-25000" smtClean="0">
                <a:latin typeface="Arial" pitchFamily="34" charset="0"/>
              </a:rPr>
              <a:t>2</a:t>
            </a:r>
            <a:r>
              <a:rPr lang="en-US" sz="2800" smtClean="0">
                <a:latin typeface="Arial" pitchFamily="34" charset="0"/>
              </a:rPr>
              <a:t> is returned to the atmosphere by respiration of animals and chemoorganotrophic microbes as well as by the activities of humans.</a:t>
            </a:r>
          </a:p>
          <a:p>
            <a:pPr lvl="1">
              <a:buFont typeface="Arial" pitchFamily="34" charset="0"/>
              <a:buNone/>
            </a:pPr>
            <a:r>
              <a:rPr lang="en-US" smtClean="0">
                <a:latin typeface="Arial" pitchFamily="34" charset="0"/>
              </a:rPr>
              <a:t>Microbial decomposition is the largest source of CO</a:t>
            </a:r>
            <a:r>
              <a:rPr lang="en-US" baseline="-25000" smtClean="0">
                <a:latin typeface="Arial" pitchFamily="34" charset="0"/>
              </a:rPr>
              <a:t>2</a:t>
            </a:r>
            <a:r>
              <a:rPr lang="en-US" smtClean="0">
                <a:latin typeface="Arial" pitchFamily="34" charset="0"/>
              </a:rPr>
              <a:t> released to the atmosphere</a:t>
            </a:r>
          </a:p>
          <a:p>
            <a:pPr>
              <a:buFont typeface="Arial" pitchFamily="34" charset="0"/>
              <a:buNone/>
            </a:pPr>
            <a:endParaRPr lang="en-US" sz="2800" smtClean="0">
              <a:latin typeface="Arial" pitchFamily="34" charset="0"/>
            </a:endParaRPr>
          </a:p>
        </p:txBody>
      </p:sp>
      <p:pic>
        <p:nvPicPr>
          <p:cNvPr id="84996" name="Picture 5" descr="24_01Figure-L"/>
          <p:cNvPicPr>
            <a:picLocks noChangeAspect="1" noChangeArrowheads="1"/>
          </p:cNvPicPr>
          <p:nvPr/>
        </p:nvPicPr>
        <p:blipFill>
          <a:blip r:embed="rId3"/>
          <a:srcRect b="3882"/>
          <a:stretch>
            <a:fillRect/>
          </a:stretch>
        </p:blipFill>
        <p:spPr bwMode="auto">
          <a:xfrm>
            <a:off x="5765800" y="5110163"/>
            <a:ext cx="3378200" cy="17478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0" y="274638"/>
            <a:ext cx="8229600" cy="1143000"/>
          </a:xfrm>
        </p:spPr>
        <p:txBody>
          <a:bodyPr lIns="91418" rIns="91418"/>
          <a:lstStyle/>
          <a:p>
            <a:r>
              <a:rPr lang="en-US" smtClean="0"/>
              <a:t>Carbon Cycle</a:t>
            </a:r>
          </a:p>
        </p:txBody>
      </p:sp>
      <p:sp>
        <p:nvSpPr>
          <p:cNvPr id="233475" name="Rectangle 3"/>
          <p:cNvSpPr>
            <a:spLocks noGrp="1" noChangeArrowheads="1"/>
          </p:cNvSpPr>
          <p:nvPr>
            <p:ph type="body" idx="4294967295"/>
          </p:nvPr>
        </p:nvSpPr>
        <p:spPr>
          <a:xfrm>
            <a:off x="0" y="1219200"/>
            <a:ext cx="8229600" cy="5638800"/>
          </a:xfrm>
        </p:spPr>
        <p:txBody>
          <a:bodyPr tIns="18283" bIns="18283">
            <a:normAutofit fontScale="92500"/>
          </a:bodyPr>
          <a:lstStyle/>
          <a:p>
            <a:pPr marL="274320" indent="-274320" fontAlgn="auto">
              <a:spcAft>
                <a:spcPts val="0"/>
              </a:spcAft>
              <a:buFont typeface="Arial" pitchFamily="34" charset="0"/>
              <a:buNone/>
              <a:defRPr/>
            </a:pPr>
            <a:r>
              <a:rPr lang="en-US" sz="2800" smtClean="0"/>
              <a:t>Autotrophs fix carbon dioxide into organic molecules</a:t>
            </a:r>
          </a:p>
          <a:p>
            <a:pPr marL="274320" indent="-274320" fontAlgn="auto">
              <a:spcAft>
                <a:spcPts val="0"/>
              </a:spcAft>
              <a:buFont typeface="Arial" pitchFamily="34" charset="0"/>
              <a:buNone/>
              <a:defRPr/>
            </a:pPr>
            <a:r>
              <a:rPr lang="en-US" sz="2800" smtClean="0"/>
              <a:t>Chemoheterotrophs eat autotrophs and each other (This moves the carbon atoms around the food chain)</a:t>
            </a:r>
          </a:p>
          <a:p>
            <a:pPr marL="274320" indent="-274320" fontAlgn="auto">
              <a:spcAft>
                <a:spcPts val="0"/>
              </a:spcAft>
              <a:buFont typeface="Arial" pitchFamily="34" charset="0"/>
              <a:buNone/>
              <a:defRPr/>
            </a:pPr>
            <a:r>
              <a:rPr lang="en-US" sz="2800" smtClean="0"/>
              <a:t>As carbon containing organic compounds are used for energy (respiration) carbon dioxide is released into the atmosphere to start the cycle over again.</a:t>
            </a:r>
          </a:p>
          <a:p>
            <a:pPr marL="274320" indent="-274320" fontAlgn="auto">
              <a:spcAft>
                <a:spcPts val="0"/>
              </a:spcAft>
              <a:buFont typeface="Arial" pitchFamily="34" charset="0"/>
              <a:buNone/>
              <a:defRPr/>
            </a:pPr>
            <a:r>
              <a:rPr lang="en-US" sz="2800" smtClean="0"/>
              <a:t>Also: when organisms die their remains are acted upon by bacteria and fungi (decomposers).Decomposition oxidizes the organic remains and carbon dioxide is liberated to re-enter the cycle.</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0" y="274638"/>
            <a:ext cx="8229600" cy="487362"/>
          </a:xfrm>
        </p:spPr>
        <p:txBody>
          <a:bodyPr lIns="91418" rIns="91418"/>
          <a:lstStyle/>
          <a:p>
            <a:r>
              <a:rPr lang="en-US" dirty="0" err="1" smtClean="0">
                <a:solidFill>
                  <a:srgbClr val="FF0000"/>
                </a:solidFill>
              </a:rPr>
              <a:t>Methanogenesis</a:t>
            </a:r>
            <a:r>
              <a:rPr lang="en-US" dirty="0" smtClean="0">
                <a:solidFill>
                  <a:srgbClr val="FF0000"/>
                </a:solidFill>
              </a:rPr>
              <a:t> and </a:t>
            </a:r>
            <a:r>
              <a:rPr lang="en-US" dirty="0" err="1" smtClean="0">
                <a:solidFill>
                  <a:srgbClr val="FF0000"/>
                </a:solidFill>
              </a:rPr>
              <a:t>Syntrophy</a:t>
            </a:r>
            <a:endParaRPr lang="en-US" dirty="0" smtClean="0">
              <a:solidFill>
                <a:srgbClr val="FF0000"/>
              </a:solidFill>
            </a:endParaRPr>
          </a:p>
        </p:txBody>
      </p:sp>
      <p:sp>
        <p:nvSpPr>
          <p:cNvPr id="90115" name="Rectangle 3"/>
          <p:cNvSpPr>
            <a:spLocks noGrp="1" noChangeArrowheads="1"/>
          </p:cNvSpPr>
          <p:nvPr>
            <p:ph type="body" idx="4294967295"/>
          </p:nvPr>
        </p:nvSpPr>
        <p:spPr>
          <a:xfrm>
            <a:off x="0" y="1103313"/>
            <a:ext cx="8204200" cy="5053012"/>
          </a:xfrm>
        </p:spPr>
        <p:txBody>
          <a:bodyPr tIns="18283" bIns="18283"/>
          <a:lstStyle/>
          <a:p>
            <a:pPr>
              <a:buNone/>
            </a:pPr>
            <a:r>
              <a:rPr lang="en-US" dirty="0" smtClean="0">
                <a:latin typeface="Arial" pitchFamily="34" charset="0"/>
              </a:rPr>
              <a:t>Most </a:t>
            </a:r>
            <a:r>
              <a:rPr lang="en-US" dirty="0" err="1" smtClean="0">
                <a:latin typeface="Arial" pitchFamily="34" charset="0"/>
              </a:rPr>
              <a:t>methanogens</a:t>
            </a:r>
            <a:r>
              <a:rPr lang="en-US" dirty="0" smtClean="0">
                <a:latin typeface="Arial" pitchFamily="34" charset="0"/>
              </a:rPr>
              <a:t> reduce CO</a:t>
            </a:r>
            <a:r>
              <a:rPr lang="en-US" baseline="-25000" dirty="0" smtClean="0">
                <a:latin typeface="Arial" pitchFamily="34" charset="0"/>
              </a:rPr>
              <a:t>2</a:t>
            </a:r>
            <a:r>
              <a:rPr lang="en-US" dirty="0" smtClean="0">
                <a:latin typeface="Arial" pitchFamily="34" charset="0"/>
              </a:rPr>
              <a:t> to CH</a:t>
            </a:r>
            <a:r>
              <a:rPr lang="en-US" baseline="-25000" dirty="0" smtClean="0">
                <a:latin typeface="Arial" pitchFamily="34" charset="0"/>
              </a:rPr>
              <a:t>4</a:t>
            </a:r>
            <a:r>
              <a:rPr lang="en-US" dirty="0" smtClean="0">
                <a:latin typeface="Arial" pitchFamily="34" charset="0"/>
              </a:rPr>
              <a:t> with H</a:t>
            </a:r>
            <a:r>
              <a:rPr lang="en-US" baseline="-25000" dirty="0" smtClean="0">
                <a:latin typeface="Arial" pitchFamily="34" charset="0"/>
              </a:rPr>
              <a:t>2</a:t>
            </a:r>
            <a:r>
              <a:rPr lang="en-US" dirty="0" smtClean="0">
                <a:latin typeface="Arial" pitchFamily="34" charset="0"/>
              </a:rPr>
              <a:t> as an electron donor; some can reduce other substrates to CH</a:t>
            </a:r>
            <a:r>
              <a:rPr lang="en-US" baseline="-25000" dirty="0" smtClean="0">
                <a:latin typeface="Arial" pitchFamily="34" charset="0"/>
              </a:rPr>
              <a:t>4</a:t>
            </a:r>
            <a:r>
              <a:rPr lang="en-US" dirty="0" smtClean="0">
                <a:latin typeface="Arial" pitchFamily="34" charset="0"/>
              </a:rPr>
              <a:t> (e.g., acetate)</a:t>
            </a:r>
          </a:p>
          <a:p>
            <a:pPr>
              <a:buNone/>
            </a:pPr>
            <a:endParaRPr lang="en-US" dirty="0" smtClean="0">
              <a:latin typeface="Arial" pitchFamily="34" charset="0"/>
            </a:endParaRPr>
          </a:p>
          <a:p>
            <a:pPr>
              <a:buNone/>
            </a:pPr>
            <a:r>
              <a:rPr lang="en-US" dirty="0" err="1" smtClean="0">
                <a:latin typeface="Arial" pitchFamily="34" charset="0"/>
              </a:rPr>
              <a:t>Methanogens</a:t>
            </a:r>
            <a:r>
              <a:rPr lang="en-US" dirty="0" smtClean="0">
                <a:latin typeface="Arial" pitchFamily="34" charset="0"/>
              </a:rPr>
              <a:t> may team up with partners (</a:t>
            </a:r>
            <a:r>
              <a:rPr lang="en-US" dirty="0" err="1" smtClean="0">
                <a:latin typeface="Arial" pitchFamily="34" charset="0"/>
              </a:rPr>
              <a:t>syntrophs</a:t>
            </a:r>
            <a:r>
              <a:rPr lang="en-US" dirty="0" smtClean="0">
                <a:latin typeface="Arial" pitchFamily="34" charset="0"/>
              </a:rPr>
              <a:t>) that supply them with necessary substrates</a:t>
            </a:r>
          </a:p>
          <a:p>
            <a:pPr>
              <a:buNone/>
            </a:pPr>
            <a:r>
              <a:rPr lang="en-US" sz="4000" b="1" u="sng" baseline="-25000" dirty="0" err="1" smtClean="0">
                <a:latin typeface="Arial" pitchFamily="34" charset="0"/>
              </a:rPr>
              <a:t>Syntrophy</a:t>
            </a:r>
            <a:r>
              <a:rPr lang="en-US" sz="4000" baseline="-25000" dirty="0" smtClean="0">
                <a:latin typeface="Arial" pitchFamily="34" charset="0"/>
              </a:rPr>
              <a:t>:</a:t>
            </a:r>
            <a:r>
              <a:rPr lang="en-US" sz="4000" dirty="0" smtClean="0">
                <a:latin typeface="Arial" pitchFamily="34" charset="0"/>
              </a:rPr>
              <a:t> </a:t>
            </a:r>
            <a:r>
              <a:rPr lang="en-US" sz="4000" baseline="-25000" dirty="0" smtClean="0">
                <a:latin typeface="Arial" pitchFamily="34" charset="0"/>
              </a:rPr>
              <a:t>A process whereby 2 or more microbes cooperate to degrade a substance neither can degrade</a:t>
            </a:r>
            <a:r>
              <a:rPr lang="en-US" sz="4000" dirty="0" smtClean="0">
                <a:latin typeface="Arial" pitchFamily="34" charset="0"/>
              </a:rPr>
              <a:t> </a:t>
            </a:r>
            <a:r>
              <a:rPr lang="en-US" sz="4000" baseline="-25000" dirty="0" smtClean="0">
                <a:latin typeface="Arial" pitchFamily="34" charset="0"/>
              </a:rPr>
              <a:t>alone</a:t>
            </a:r>
            <a:endParaRPr lang="en-US" sz="4000" dirty="0" smtClean="0">
              <a:latin typeface="Arial" pitchFamily="34" charset="0"/>
            </a:endParaRPr>
          </a:p>
          <a:p>
            <a:pPr>
              <a:buNone/>
            </a:pPr>
            <a:endParaRPr lang="en-US" sz="4000" dirty="0" smtClean="0">
              <a:latin typeface="Arial" pitchFamily="34"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Content Placeholder 4"/>
          <p:cNvSpPr>
            <a:spLocks noGrp="1"/>
          </p:cNvSpPr>
          <p:nvPr>
            <p:ph idx="4294967295"/>
          </p:nvPr>
        </p:nvSpPr>
        <p:spPr>
          <a:xfrm>
            <a:off x="0" y="0"/>
            <a:ext cx="8458200" cy="6858000"/>
          </a:xfrm>
        </p:spPr>
        <p:txBody>
          <a:bodyPr/>
          <a:lstStyle/>
          <a:p>
            <a:pPr>
              <a:buFont typeface="Arial" pitchFamily="34" charset="0"/>
              <a:buNone/>
            </a:pPr>
            <a:endParaRPr lang="en-US" b="1" dirty="0" smtClean="0"/>
          </a:p>
          <a:p>
            <a:pPr>
              <a:buFont typeface="Arial" pitchFamily="34" charset="0"/>
              <a:buNone/>
            </a:pPr>
            <a:r>
              <a:rPr lang="en-US" b="1" dirty="0" err="1" smtClean="0"/>
              <a:t>Methylotrophs</a:t>
            </a:r>
            <a:r>
              <a:rPr lang="en-US" dirty="0" smtClean="0"/>
              <a:t> are a diverse group of microorganisms that can use reduced one-carbon compounds, such as methanol or methane  as the carbon source for their growth. </a:t>
            </a:r>
          </a:p>
          <a:p>
            <a:pPr>
              <a:buFont typeface="Arial" pitchFamily="34" charset="0"/>
              <a:buNone/>
            </a:pPr>
            <a:r>
              <a:rPr lang="en-US" dirty="0" smtClean="0"/>
              <a:t>Some </a:t>
            </a:r>
            <a:r>
              <a:rPr lang="en-US" dirty="0" err="1" smtClean="0"/>
              <a:t>methylotrophs</a:t>
            </a:r>
            <a:r>
              <a:rPr lang="en-US" dirty="0" smtClean="0"/>
              <a:t> can degrade the methane and in this case they are called </a:t>
            </a:r>
            <a:r>
              <a:rPr lang="en-US" dirty="0" err="1" smtClean="0"/>
              <a:t>methanotrophs</a:t>
            </a:r>
            <a:r>
              <a:rPr lang="en-US" dirty="0" smtClean="0"/>
              <a:t>. </a:t>
            </a:r>
          </a:p>
          <a:p>
            <a:pPr>
              <a:buFont typeface="Arial" pitchFamily="34" charset="0"/>
              <a:buNone/>
            </a:pPr>
            <a:r>
              <a:rPr lang="en-US" dirty="0" smtClean="0"/>
              <a:t>The </a:t>
            </a:r>
            <a:r>
              <a:rPr lang="en-US" dirty="0" err="1" smtClean="0"/>
              <a:t>methanotroph</a:t>
            </a:r>
            <a:r>
              <a:rPr lang="en-US" dirty="0" smtClean="0"/>
              <a:t>  </a:t>
            </a:r>
            <a:r>
              <a:rPr lang="en-US" i="1" dirty="0" err="1" smtClean="0"/>
              <a:t>Methylococcus</a:t>
            </a:r>
            <a:r>
              <a:rPr lang="en-US" i="1" dirty="0" smtClean="0"/>
              <a:t> </a:t>
            </a:r>
            <a:r>
              <a:rPr lang="en-US" i="1" dirty="0" err="1" smtClean="0"/>
              <a:t>capsulatus</a:t>
            </a:r>
            <a:r>
              <a:rPr lang="en-US" dirty="0" smtClean="0"/>
              <a:t> used to degrade methane and other pollutants. </a:t>
            </a:r>
          </a:p>
          <a:p>
            <a:pPr>
              <a:buFont typeface="Arial" pitchFamily="34" charset="0"/>
              <a:buNone/>
            </a:pPr>
            <a:r>
              <a:rPr lang="en-US" dirty="0" smtClean="0"/>
              <a:t>Examples of </a:t>
            </a:r>
            <a:r>
              <a:rPr lang="en-US" dirty="0" err="1" smtClean="0"/>
              <a:t>methylotrophs</a:t>
            </a:r>
            <a:r>
              <a:rPr lang="en-US" dirty="0" smtClean="0"/>
              <a:t>:</a:t>
            </a:r>
          </a:p>
          <a:p>
            <a:pPr>
              <a:buFont typeface="Arial" pitchFamily="34" charset="0"/>
              <a:buNone/>
            </a:pPr>
            <a:r>
              <a:rPr lang="en-US" dirty="0" smtClean="0"/>
              <a:t>Genus </a:t>
            </a:r>
            <a:r>
              <a:rPr lang="en-US" i="1" dirty="0" err="1" smtClean="0">
                <a:hlinkClick r:id="rId2" tooltip="Methanosarcina"/>
              </a:rPr>
              <a:t>Methanosarcina</a:t>
            </a:r>
            <a:endParaRPr lang="en-US" dirty="0" smtClean="0"/>
          </a:p>
          <a:p>
            <a:pPr>
              <a:buFont typeface="Arial" pitchFamily="34" charset="0"/>
              <a:buNone/>
            </a:pPr>
            <a:r>
              <a:rPr lang="en-US" i="1" dirty="0" err="1" smtClean="0">
                <a:hlinkClick r:id="rId3" tooltip="Methylococcus capsulatus"/>
              </a:rPr>
              <a:t>Methylococcus</a:t>
            </a:r>
            <a:r>
              <a:rPr lang="en-US" i="1" dirty="0" smtClean="0">
                <a:hlinkClick r:id="rId3" tooltip="Methylococcus capsulatus"/>
              </a:rPr>
              <a:t> </a:t>
            </a:r>
            <a:r>
              <a:rPr lang="en-US" i="1" dirty="0" err="1" smtClean="0">
                <a:hlinkClick r:id="rId3" tooltip="Methylococcus capsulatus"/>
              </a:rPr>
              <a:t>capsulatus</a:t>
            </a:r>
            <a:endParaRPr lang="en-US" dirty="0" smtClean="0"/>
          </a:p>
          <a:p>
            <a:pPr>
              <a:buFont typeface="Arial" pitchFamily="34" charset="0"/>
              <a:buNone/>
            </a:pPr>
            <a:endParaRPr lang="en-US" dirty="0" smtClean="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4038600" y="152400"/>
            <a:ext cx="4953000" cy="838200"/>
          </a:xfrm>
        </p:spPr>
        <p:txBody>
          <a:bodyPr/>
          <a:lstStyle/>
          <a:p>
            <a:r>
              <a:rPr lang="en-US" smtClean="0"/>
              <a:t>Carbon cycling</a:t>
            </a:r>
          </a:p>
        </p:txBody>
      </p:sp>
      <p:sp>
        <p:nvSpPr>
          <p:cNvPr id="98307" name="Text Box 4"/>
          <p:cNvSpPr txBox="1">
            <a:spLocks noChangeArrowheads="1"/>
          </p:cNvSpPr>
          <p:nvPr/>
        </p:nvSpPr>
        <p:spPr bwMode="auto">
          <a:xfrm>
            <a:off x="4419600" y="1219200"/>
            <a:ext cx="4724400" cy="4401205"/>
          </a:xfrm>
          <a:prstGeom prst="rect">
            <a:avLst/>
          </a:prstGeom>
          <a:noFill/>
          <a:ln w="9525">
            <a:noFill/>
            <a:miter lim="800000"/>
            <a:headEnd/>
            <a:tailEnd/>
          </a:ln>
        </p:spPr>
        <p:txBody>
          <a:bodyPr>
            <a:spAutoFit/>
          </a:bodyPr>
          <a:lstStyle/>
          <a:p>
            <a:r>
              <a:rPr lang="en-US" sz="2800" dirty="0">
                <a:latin typeface="Georgia" pitchFamily="18" charset="0"/>
                <a:cs typeface="Times New Roman" pitchFamily="18" charset="0"/>
              </a:rPr>
              <a:t>Methane (CH</a:t>
            </a:r>
            <a:r>
              <a:rPr lang="en-US" sz="2800" baseline="-25000" dirty="0">
                <a:latin typeface="Georgia" pitchFamily="18" charset="0"/>
                <a:cs typeface="Times New Roman" pitchFamily="18" charset="0"/>
              </a:rPr>
              <a:t>4</a:t>
            </a:r>
            <a:r>
              <a:rPr lang="en-US" sz="2800" dirty="0" smtClean="0">
                <a:latin typeface="Georgia" pitchFamily="18" charset="0"/>
                <a:cs typeface="Times New Roman" pitchFamily="18" charset="0"/>
              </a:rPr>
              <a:t>)</a:t>
            </a:r>
            <a:endParaRPr lang="en-US" sz="2800" dirty="0">
              <a:latin typeface="Georgia" pitchFamily="18" charset="0"/>
              <a:cs typeface="Times New Roman" pitchFamily="18" charset="0"/>
            </a:endParaRPr>
          </a:p>
          <a:p>
            <a:r>
              <a:rPr lang="en-US" sz="2800" dirty="0" smtClean="0">
                <a:latin typeface="Georgia" pitchFamily="18" charset="0"/>
                <a:cs typeface="Arial" pitchFamily="34" charset="0"/>
              </a:rPr>
              <a:t> </a:t>
            </a:r>
            <a:r>
              <a:rPr lang="en-US" sz="2800" dirty="0">
                <a:latin typeface="Georgia" pitchFamily="18" charset="0"/>
                <a:cs typeface="Times New Roman" pitchFamily="18" charset="0"/>
              </a:rPr>
              <a:t>is an end product of anaerobic ecosystems</a:t>
            </a:r>
          </a:p>
          <a:p>
            <a:endParaRPr lang="en-US" sz="2800" dirty="0">
              <a:latin typeface="Georgia" pitchFamily="18" charset="0"/>
              <a:cs typeface="Times New Roman" pitchFamily="18" charset="0"/>
            </a:endParaRPr>
          </a:p>
          <a:p>
            <a:r>
              <a:rPr lang="en-US" sz="2800" dirty="0">
                <a:latin typeface="Georgia" pitchFamily="18" charset="0"/>
                <a:cs typeface="Arial" pitchFamily="34" charset="0"/>
              </a:rPr>
              <a:t> </a:t>
            </a:r>
            <a:r>
              <a:rPr lang="en-US" sz="2800" dirty="0">
                <a:latin typeface="Georgia" pitchFamily="18" charset="0"/>
                <a:cs typeface="Times New Roman" pitchFamily="18" charset="0"/>
              </a:rPr>
              <a:t>is a greenhouse gas; traps 21X as much heat per molecule as CO</a:t>
            </a:r>
            <a:r>
              <a:rPr lang="en-US" sz="2800" baseline="-25000" dirty="0">
                <a:latin typeface="Georgia" pitchFamily="18" charset="0"/>
                <a:cs typeface="Times New Roman" pitchFamily="18" charset="0"/>
              </a:rPr>
              <a:t>2</a:t>
            </a:r>
            <a:endParaRPr lang="en-US" sz="2800" dirty="0">
              <a:latin typeface="Georgia" pitchFamily="18" charset="0"/>
              <a:cs typeface="Times New Roman" pitchFamily="18" charset="0"/>
            </a:endParaRPr>
          </a:p>
          <a:p>
            <a:endParaRPr lang="en-US" sz="2800" dirty="0">
              <a:latin typeface="Georgia" pitchFamily="18" charset="0"/>
              <a:cs typeface="Times New Roman" pitchFamily="18" charset="0"/>
            </a:endParaRPr>
          </a:p>
          <a:p>
            <a:r>
              <a:rPr lang="en-US" sz="2800" dirty="0">
                <a:latin typeface="Georgia" pitchFamily="18" charset="0"/>
                <a:cs typeface="Arial" pitchFamily="34" charset="0"/>
              </a:rPr>
              <a:t> </a:t>
            </a:r>
            <a:r>
              <a:rPr lang="en-US" sz="2800" dirty="0">
                <a:latin typeface="Georgia" pitchFamily="18" charset="0"/>
                <a:cs typeface="Times New Roman" pitchFamily="18" charset="0"/>
              </a:rPr>
              <a:t>is consumed by some </a:t>
            </a:r>
            <a:r>
              <a:rPr lang="en-US" sz="2800" dirty="0" err="1">
                <a:latin typeface="Georgia" pitchFamily="18" charset="0"/>
                <a:cs typeface="Times New Roman" pitchFamily="18" charset="0"/>
              </a:rPr>
              <a:t>methylotrophs</a:t>
            </a:r>
            <a:endParaRPr lang="en-US" sz="2800" dirty="0">
              <a:latin typeface="Georgia" pitchFamily="18" charset="0"/>
              <a:cs typeface="Times New Roman" pitchFamily="18" charset="0"/>
            </a:endParaRPr>
          </a:p>
        </p:txBody>
      </p:sp>
      <p:pic>
        <p:nvPicPr>
          <p:cNvPr id="98308" name="Picture 6" descr="U:\MEL\metabolic_modelers\talk111904\gg04001.gif"/>
          <p:cNvPicPr>
            <a:picLocks noChangeAspect="1" noChangeArrowheads="1"/>
          </p:cNvPicPr>
          <p:nvPr/>
        </p:nvPicPr>
        <p:blipFill>
          <a:blip r:embed="rId3"/>
          <a:srcRect/>
          <a:stretch>
            <a:fillRect/>
          </a:stretch>
        </p:blipFill>
        <p:spPr bwMode="auto">
          <a:xfrm>
            <a:off x="0" y="228600"/>
            <a:ext cx="4419600" cy="6400800"/>
          </a:xfrm>
          <a:prstGeom prst="rect">
            <a:avLst/>
          </a:prstGeom>
          <a:noFill/>
          <a:ln w="9525">
            <a:solidFill>
              <a:srgbClr val="000000"/>
            </a:solidFill>
            <a:miter lim="800000"/>
            <a:headEnd/>
            <a:tailEnd/>
          </a:ln>
        </p:spPr>
      </p:pic>
      <p:sp>
        <p:nvSpPr>
          <p:cNvPr id="98309" name="Text Box 8"/>
          <p:cNvSpPr txBox="1">
            <a:spLocks noChangeArrowheads="1"/>
          </p:cNvSpPr>
          <p:nvPr/>
        </p:nvSpPr>
        <p:spPr bwMode="auto">
          <a:xfrm>
            <a:off x="1066800" y="6248400"/>
            <a:ext cx="2320925" cy="244475"/>
          </a:xfrm>
          <a:prstGeom prst="rect">
            <a:avLst/>
          </a:prstGeom>
          <a:noFill/>
          <a:ln w="9525">
            <a:noFill/>
            <a:miter lim="800000"/>
            <a:headEnd/>
            <a:tailEnd/>
          </a:ln>
        </p:spPr>
        <p:txBody>
          <a:bodyPr wrap="none">
            <a:spAutoFit/>
          </a:bodyPr>
          <a:lstStyle/>
          <a:p>
            <a:r>
              <a:rPr lang="en-US" sz="1000">
                <a:latin typeface="Comic Sans MS" pitchFamily="66" charset="0"/>
              </a:rPr>
              <a:t>www.bbc.co.uk/schools/gcsebitesize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idx="4294967295"/>
          </p:nvPr>
        </p:nvSpPr>
        <p:spPr>
          <a:xfrm>
            <a:off x="0" y="274638"/>
            <a:ext cx="8229600" cy="1143000"/>
          </a:xfrm>
        </p:spPr>
        <p:txBody>
          <a:bodyPr lIns="91418" rIns="91418"/>
          <a:lstStyle/>
          <a:p>
            <a:r>
              <a:rPr lang="en-US" smtClean="0"/>
              <a:t>Nitrogen Cycle</a:t>
            </a:r>
          </a:p>
        </p:txBody>
      </p:sp>
      <p:sp>
        <p:nvSpPr>
          <p:cNvPr id="101379" name="Content Placeholder 2"/>
          <p:cNvSpPr>
            <a:spLocks noGrp="1"/>
          </p:cNvSpPr>
          <p:nvPr>
            <p:ph idx="4294967295"/>
          </p:nvPr>
        </p:nvSpPr>
        <p:spPr>
          <a:xfrm>
            <a:off x="0" y="1219200"/>
            <a:ext cx="9144000" cy="5638800"/>
          </a:xfrm>
        </p:spPr>
        <p:txBody>
          <a:bodyPr tIns="18283" bIns="18283"/>
          <a:lstStyle/>
          <a:p>
            <a:pPr>
              <a:buFont typeface="Arial" pitchFamily="34" charset="0"/>
              <a:buNone/>
            </a:pPr>
            <a:r>
              <a:rPr lang="en-US" smtClean="0"/>
              <a:t>Nitrogen is essential for amino acids, nucleic acids, etc.</a:t>
            </a:r>
          </a:p>
          <a:p>
            <a:pPr>
              <a:buFont typeface="Arial" pitchFamily="34" charset="0"/>
              <a:buNone/>
            </a:pPr>
            <a:r>
              <a:rPr lang="en-US" smtClean="0"/>
              <a:t>80% of atmosphere is molecular nitrogen N</a:t>
            </a:r>
            <a:r>
              <a:rPr lang="en-US" baseline="-25000" smtClean="0"/>
              <a:t>2</a:t>
            </a:r>
            <a:endParaRPr lang="en-US" smtClean="0"/>
          </a:p>
          <a:p>
            <a:pPr>
              <a:buFont typeface="Arial" pitchFamily="34" charset="0"/>
              <a:buNone/>
            </a:pPr>
            <a:r>
              <a:rPr lang="en-US" smtClean="0"/>
              <a:t>For plants to use nitrogen it must be fixed (combined with other elements). Only a few species of bacteria can fix nitrogen!!</a:t>
            </a:r>
          </a:p>
          <a:p>
            <a:pPr>
              <a:buFont typeface="Arial" pitchFamily="34" charset="0"/>
              <a:buNone/>
            </a:pPr>
            <a:r>
              <a:rPr lang="en-US" b="1" smtClean="0"/>
              <a:t>Nitrogen fixation</a:t>
            </a:r>
            <a:r>
              <a:rPr lang="en-US" smtClean="0"/>
              <a:t>: nitrogen gas is converted to ammonia (requires enzyme nitrogenase)</a:t>
            </a:r>
          </a:p>
          <a:p>
            <a:pPr lvl="1">
              <a:buFont typeface="Arial" pitchFamily="34" charset="0"/>
              <a:buNone/>
            </a:pPr>
            <a:r>
              <a:rPr lang="en-US" smtClean="0"/>
              <a:t>Free-living nitrogen-fixing bacteria</a:t>
            </a:r>
          </a:p>
          <a:p>
            <a:pPr lvl="1">
              <a:buFont typeface="Arial" pitchFamily="34" charset="0"/>
              <a:buNone/>
            </a:pPr>
            <a:r>
              <a:rPr lang="en-US" smtClean="0"/>
              <a:t>Symbiotic nitrogen-fixing bacteria</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5" descr="24_05Figure-L"/>
          <p:cNvPicPr>
            <a:picLocks noChangeAspect="1" noChangeArrowheads="1"/>
          </p:cNvPicPr>
          <p:nvPr/>
        </p:nvPicPr>
        <p:blipFill>
          <a:blip r:embed="rId3"/>
          <a:srcRect b="4970"/>
          <a:stretch>
            <a:fillRect/>
          </a:stretch>
        </p:blipFill>
        <p:spPr bwMode="auto">
          <a:xfrm>
            <a:off x="0" y="-304800"/>
            <a:ext cx="9144000" cy="716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a:xfrm>
            <a:off x="0" y="0"/>
            <a:ext cx="8229600" cy="685800"/>
          </a:xfrm>
        </p:spPr>
        <p:txBody>
          <a:bodyPr lIns="91418" rIns="91418"/>
          <a:lstStyle/>
          <a:p>
            <a:r>
              <a:rPr lang="en-US" smtClean="0"/>
              <a:t>The Nitrogen Cycle</a:t>
            </a:r>
          </a:p>
        </p:txBody>
      </p:sp>
      <p:sp>
        <p:nvSpPr>
          <p:cNvPr id="103427" name="Rectangle 3"/>
          <p:cNvSpPr>
            <a:spLocks noGrp="1" noChangeArrowheads="1"/>
          </p:cNvSpPr>
          <p:nvPr>
            <p:ph type="body" idx="4294967295"/>
          </p:nvPr>
        </p:nvSpPr>
        <p:spPr>
          <a:xfrm>
            <a:off x="0" y="609600"/>
            <a:ext cx="9144000" cy="6248400"/>
          </a:xfrm>
        </p:spPr>
        <p:txBody>
          <a:bodyPr tIns="18283" bIns="18283"/>
          <a:lstStyle/>
          <a:p>
            <a:pPr>
              <a:buFont typeface="Arial" pitchFamily="34" charset="0"/>
              <a:buNone/>
            </a:pPr>
            <a:r>
              <a:rPr lang="en-US" sz="2800" i="1" u="sng" smtClean="0">
                <a:latin typeface="Arial" pitchFamily="34" charset="0"/>
              </a:rPr>
              <a:t>Ammonification</a:t>
            </a:r>
          </a:p>
          <a:p>
            <a:pPr lvl="1">
              <a:buFont typeface="Arial" pitchFamily="34" charset="0"/>
              <a:buNone/>
            </a:pPr>
            <a:r>
              <a:rPr lang="en-US" smtClean="0">
                <a:latin typeface="Arial" pitchFamily="34" charset="0"/>
              </a:rPr>
              <a:t>Microbes decompose proteins to amino acids. The amino acids can undergo deamination which produces ammonia (NH</a:t>
            </a:r>
            <a:r>
              <a:rPr lang="en-US" baseline="-25000" smtClean="0">
                <a:latin typeface="Arial" pitchFamily="34" charset="0"/>
              </a:rPr>
              <a:t>3</a:t>
            </a:r>
            <a:r>
              <a:rPr lang="en-US" smtClean="0">
                <a:latin typeface="Arial" pitchFamily="34" charset="0"/>
              </a:rPr>
              <a:t>)</a:t>
            </a:r>
          </a:p>
          <a:p>
            <a:pPr>
              <a:buFont typeface="Arial" pitchFamily="34" charset="0"/>
              <a:buNone/>
            </a:pPr>
            <a:r>
              <a:rPr lang="en-US" sz="2800" smtClean="0">
                <a:latin typeface="Arial" pitchFamily="34" charset="0"/>
              </a:rPr>
              <a:t>Ammonia produced by </a:t>
            </a:r>
            <a:r>
              <a:rPr lang="en-US" sz="2800" i="1" u="sng" smtClean="0">
                <a:latin typeface="Arial" pitchFamily="34" charset="0"/>
              </a:rPr>
              <a:t>nitrogen fixation</a:t>
            </a:r>
            <a:r>
              <a:rPr lang="en-US" sz="2800" smtClean="0">
                <a:latin typeface="Arial" pitchFamily="34" charset="0"/>
              </a:rPr>
              <a:t> or </a:t>
            </a:r>
            <a:r>
              <a:rPr lang="en-US" sz="2800" i="1" u="sng" smtClean="0">
                <a:latin typeface="Arial" pitchFamily="34" charset="0"/>
              </a:rPr>
              <a:t>ammonification</a:t>
            </a:r>
            <a:r>
              <a:rPr lang="en-US" sz="2800" smtClean="0">
                <a:latin typeface="Arial" pitchFamily="34" charset="0"/>
              </a:rPr>
              <a:t> can be assimilated into organic matter or oxidized to nitrate</a:t>
            </a:r>
          </a:p>
          <a:p>
            <a:pPr>
              <a:buFont typeface="Arial" pitchFamily="34" charset="0"/>
              <a:buNone/>
            </a:pPr>
            <a:r>
              <a:rPr lang="en-US" sz="2800" i="1" u="sng" smtClean="0">
                <a:latin typeface="Arial" pitchFamily="34" charset="0"/>
              </a:rPr>
              <a:t>Nitrification</a:t>
            </a:r>
            <a:r>
              <a:rPr lang="en-US" sz="2800" smtClean="0">
                <a:latin typeface="Arial" pitchFamily="34" charset="0"/>
              </a:rPr>
              <a:t> the oxidation of ammonia to produce nitrate.</a:t>
            </a:r>
          </a:p>
          <a:p>
            <a:pPr lvl="1">
              <a:buFont typeface="Arial" pitchFamily="34" charset="0"/>
              <a:buNone/>
            </a:pPr>
            <a:r>
              <a:rPr lang="en-US" smtClean="0">
                <a:latin typeface="Arial" pitchFamily="34" charset="0"/>
              </a:rPr>
              <a:t>Plants use nitrate as their principle source of nitrogen</a:t>
            </a:r>
          </a:p>
          <a:p>
            <a:pPr lvl="1">
              <a:buFont typeface="Arial" pitchFamily="34" charset="0"/>
              <a:buNone/>
            </a:pPr>
            <a:r>
              <a:rPr lang="en-US" i="1" smtClean="0">
                <a:latin typeface="Arial" pitchFamily="34" charset="0"/>
              </a:rPr>
              <a:t>Nitrobacter</a:t>
            </a:r>
            <a:r>
              <a:rPr lang="en-US" smtClean="0">
                <a:latin typeface="Arial" pitchFamily="34" charset="0"/>
              </a:rPr>
              <a:t> and </a:t>
            </a:r>
            <a:r>
              <a:rPr lang="en-US" i="1" smtClean="0">
                <a:latin typeface="Arial" pitchFamily="34" charset="0"/>
              </a:rPr>
              <a:t>Nitrosomonas</a:t>
            </a:r>
            <a:r>
              <a:rPr lang="en-US" smtClean="0">
                <a:latin typeface="Arial" pitchFamily="34" charset="0"/>
              </a:rPr>
              <a:t> are genera of nitrifying bacteria</a:t>
            </a:r>
          </a:p>
          <a:p>
            <a:pPr>
              <a:buFont typeface="Arial" pitchFamily="34" charset="0"/>
              <a:buNone/>
            </a:pPr>
            <a:endParaRPr lang="en-US" sz="2800" smtClean="0">
              <a:latin typeface="Arial" pitchFamily="34" charset="0"/>
            </a:endParaRPr>
          </a:p>
          <a:p>
            <a:pPr>
              <a:buFont typeface="Arial" pitchFamily="34" charset="0"/>
              <a:buNone/>
            </a:pPr>
            <a:endParaRPr lang="en-US" sz="2400" smtClean="0">
              <a:latin typeface="Arial" pitchFamily="34"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idx="4294967295"/>
          </p:nvPr>
        </p:nvSpPr>
        <p:spPr>
          <a:xfrm>
            <a:off x="0" y="274638"/>
            <a:ext cx="8229600" cy="1143000"/>
          </a:xfrm>
        </p:spPr>
        <p:txBody>
          <a:bodyPr lIns="91418" rIns="91418"/>
          <a:lstStyle/>
          <a:p>
            <a:r>
              <a:rPr lang="en-US" smtClean="0"/>
              <a:t>Nitrogen Cycle</a:t>
            </a:r>
          </a:p>
        </p:txBody>
      </p:sp>
      <p:sp>
        <p:nvSpPr>
          <p:cNvPr id="104451" name="Content Placeholder 2"/>
          <p:cNvSpPr>
            <a:spLocks noGrp="1"/>
          </p:cNvSpPr>
          <p:nvPr>
            <p:ph idx="4294967295"/>
          </p:nvPr>
        </p:nvSpPr>
        <p:spPr>
          <a:xfrm>
            <a:off x="0" y="1600200"/>
            <a:ext cx="8229600" cy="4525963"/>
          </a:xfrm>
        </p:spPr>
        <p:txBody>
          <a:bodyPr tIns="18283" bIns="18283"/>
          <a:lstStyle/>
          <a:p>
            <a:r>
              <a:rPr lang="en-US" i="1" u="sng" smtClean="0">
                <a:latin typeface="Arial" pitchFamily="34" charset="0"/>
              </a:rPr>
              <a:t>Denitrification</a:t>
            </a:r>
            <a:r>
              <a:rPr lang="en-US" smtClean="0">
                <a:latin typeface="Arial" pitchFamily="34" charset="0"/>
              </a:rPr>
              <a:t> is the reduction of nitrate (NO</a:t>
            </a:r>
            <a:r>
              <a:rPr lang="en-US" baseline="-25000" smtClean="0">
                <a:latin typeface="Arial" pitchFamily="34" charset="0"/>
              </a:rPr>
              <a:t>3 </a:t>
            </a:r>
            <a:r>
              <a:rPr lang="en-US" smtClean="0">
                <a:latin typeface="Arial" pitchFamily="34" charset="0"/>
              </a:rPr>
              <a:t>) to gaseous nitrogen products (N</a:t>
            </a:r>
            <a:r>
              <a:rPr lang="en-US" baseline="-25000" smtClean="0">
                <a:latin typeface="Arial" pitchFamily="34" charset="0"/>
              </a:rPr>
              <a:t>2 </a:t>
            </a:r>
            <a:r>
              <a:rPr lang="en-US" smtClean="0">
                <a:latin typeface="Arial" pitchFamily="34" charset="0"/>
              </a:rPr>
              <a:t>O and N</a:t>
            </a:r>
            <a:r>
              <a:rPr lang="en-US" baseline="-25000" smtClean="0">
                <a:latin typeface="Arial" pitchFamily="34" charset="0"/>
              </a:rPr>
              <a:t>2 </a:t>
            </a:r>
            <a:r>
              <a:rPr lang="en-US" smtClean="0">
                <a:latin typeface="Arial" pitchFamily="34" charset="0"/>
              </a:rPr>
              <a:t>) and is the primary mechanism by which N</a:t>
            </a:r>
            <a:r>
              <a:rPr lang="en-US" baseline="-25000" smtClean="0">
                <a:latin typeface="Arial" pitchFamily="34" charset="0"/>
              </a:rPr>
              <a:t>2</a:t>
            </a:r>
            <a:r>
              <a:rPr lang="en-US" smtClean="0">
                <a:latin typeface="Arial" pitchFamily="34" charset="0"/>
              </a:rPr>
              <a:t> is produced biologically</a:t>
            </a:r>
          </a:p>
          <a:p>
            <a:pPr lvl="1"/>
            <a:r>
              <a:rPr lang="en-US" i="1" smtClean="0">
                <a:latin typeface="Arial" pitchFamily="34" charset="0"/>
              </a:rPr>
              <a:t>Pseudomonas</a:t>
            </a:r>
            <a:r>
              <a:rPr lang="en-US" smtClean="0">
                <a:latin typeface="Arial" pitchFamily="34" charset="0"/>
              </a:rPr>
              <a:t> spp. are important bacteria in the denitrification of soils</a:t>
            </a:r>
            <a:endParaRPr lang="en-US" sz="2300" smtClean="0">
              <a:latin typeface="Arial" pitchFamily="34" charset="0"/>
            </a:endParaRPr>
          </a:p>
          <a:p>
            <a:r>
              <a:rPr lang="en-US" i="1" u="sng" smtClean="0">
                <a:latin typeface="Arial" pitchFamily="34" charset="0"/>
              </a:rPr>
              <a:t>Anammox</a:t>
            </a:r>
            <a:r>
              <a:rPr lang="en-US" smtClean="0">
                <a:latin typeface="Arial" pitchFamily="34" charset="0"/>
              </a:rPr>
              <a:t> is the anaerobic oxidation of ammonia to N</a:t>
            </a:r>
            <a:r>
              <a:rPr lang="en-US" baseline="-25000" smtClean="0">
                <a:latin typeface="Arial" pitchFamily="34" charset="0"/>
              </a:rPr>
              <a:t>2</a:t>
            </a:r>
            <a:r>
              <a:rPr lang="en-US" smtClean="0">
                <a:latin typeface="Arial" pitchFamily="34" charset="0"/>
              </a:rPr>
              <a:t> gas</a:t>
            </a:r>
          </a:p>
          <a:p>
            <a:r>
              <a:rPr lang="en-US" smtClean="0">
                <a:latin typeface="Arial" pitchFamily="34" charset="0"/>
              </a:rPr>
              <a:t>Denitrification and anammox result in losses of nitrogen from the biosphere</a:t>
            </a:r>
          </a:p>
          <a:p>
            <a:pPr>
              <a:buFont typeface="Wingdings" pitchFamily="2" charset="2"/>
              <a:buNone/>
            </a:pPr>
            <a:endParaRPr lang="en-US" smtClean="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228600" y="4038600"/>
            <a:ext cx="7772400" cy="2917722"/>
          </a:xfrm>
          <a:prstGeom prst="rect">
            <a:avLst/>
          </a:prstGeom>
          <a:noFill/>
          <a:ln w="9525">
            <a:noFill/>
            <a:miter lim="800000"/>
            <a:headEnd/>
            <a:tailEnd/>
          </a:ln>
        </p:spPr>
        <p:txBody>
          <a:bodyPr>
            <a:spAutoFit/>
          </a:bodyPr>
          <a:lstStyle/>
          <a:p>
            <a:pPr marL="231775" indent="-231775">
              <a:tabLst>
                <a:tab pos="231775" algn="l"/>
              </a:tabLst>
            </a:pPr>
            <a:r>
              <a:rPr lang="en-US" sz="2200" dirty="0">
                <a:solidFill>
                  <a:schemeClr val="bg1"/>
                </a:solidFill>
                <a:latin typeface="Calibri" pitchFamily="34" charset="0"/>
              </a:rPr>
              <a:t>Symbiosis</a:t>
            </a:r>
            <a:r>
              <a:rPr lang="en-US" sz="2200" dirty="0">
                <a:solidFill>
                  <a:srgbClr val="FFFF00"/>
                </a:solidFill>
                <a:latin typeface="Calibri" pitchFamily="34" charset="0"/>
              </a:rPr>
              <a:t> </a:t>
            </a:r>
            <a:r>
              <a:rPr lang="en-US" sz="2200" dirty="0">
                <a:solidFill>
                  <a:schemeClr val="bg1"/>
                </a:solidFill>
                <a:latin typeface="Calibri" pitchFamily="34" charset="0"/>
              </a:rPr>
              <a:t>with plants – </a:t>
            </a:r>
            <a:r>
              <a:rPr lang="en-US" sz="2400" i="1" u="sng" dirty="0">
                <a:solidFill>
                  <a:srgbClr val="FF0000"/>
                </a:solidFill>
                <a:latin typeface="Calibri" pitchFamily="34" charset="0"/>
              </a:rPr>
              <a:t>Mutualism</a:t>
            </a:r>
          </a:p>
          <a:p>
            <a:pPr marL="231775" indent="-231775">
              <a:lnSpc>
                <a:spcPct val="70000"/>
              </a:lnSpc>
              <a:tabLst>
                <a:tab pos="231775" algn="l"/>
              </a:tabLst>
            </a:pPr>
            <a:endParaRPr lang="en-US" sz="2400" i="1" u="sng" dirty="0">
              <a:latin typeface="Calibri" pitchFamily="34" charset="0"/>
            </a:endParaRPr>
          </a:p>
          <a:p>
            <a:pPr marL="573088" lvl="1" indent="-225425">
              <a:tabLst>
                <a:tab pos="231775" algn="l"/>
              </a:tabLst>
            </a:pPr>
            <a:r>
              <a:rPr lang="en-US" sz="2400" dirty="0">
                <a:latin typeface="Calibri" pitchFamily="34" charset="0"/>
              </a:rPr>
              <a:t>Prokaryote receives carbohydrates</a:t>
            </a:r>
          </a:p>
          <a:p>
            <a:pPr lvl="2" indent="-117475">
              <a:tabLst>
                <a:tab pos="231775" algn="l"/>
              </a:tabLst>
            </a:pPr>
            <a:r>
              <a:rPr lang="en-US" sz="2400" dirty="0">
                <a:latin typeface="Calibri" pitchFamily="34" charset="0"/>
              </a:rPr>
              <a:t>Plant may allocate up to 30% of its C to the </a:t>
            </a:r>
            <a:r>
              <a:rPr lang="en-US" sz="2400" dirty="0" err="1">
                <a:latin typeface="Calibri" pitchFamily="34" charset="0"/>
              </a:rPr>
              <a:t>symbiont</a:t>
            </a:r>
            <a:endParaRPr lang="en-US" sz="2400" dirty="0">
              <a:latin typeface="Calibri" pitchFamily="34" charset="0"/>
            </a:endParaRPr>
          </a:p>
          <a:p>
            <a:pPr lvl="2" indent="-117475">
              <a:lnSpc>
                <a:spcPct val="80000"/>
              </a:lnSpc>
              <a:tabLst>
                <a:tab pos="231775" algn="l"/>
              </a:tabLst>
            </a:pPr>
            <a:endParaRPr lang="en-US" sz="2400" dirty="0">
              <a:latin typeface="Calibri" pitchFamily="34" charset="0"/>
            </a:endParaRPr>
          </a:p>
          <a:p>
            <a:pPr marL="573088" lvl="1" indent="-225425">
              <a:tabLst>
                <a:tab pos="231775" algn="l"/>
              </a:tabLst>
            </a:pPr>
            <a:r>
              <a:rPr lang="en-US" sz="2400" dirty="0">
                <a:latin typeface="Calibri" pitchFamily="34" charset="0"/>
              </a:rPr>
              <a:t>Plant provides anaerobic site – nodules </a:t>
            </a:r>
          </a:p>
          <a:p>
            <a:pPr marL="573088" lvl="1" indent="-225425">
              <a:lnSpc>
                <a:spcPct val="70000"/>
              </a:lnSpc>
              <a:tabLst>
                <a:tab pos="231775" algn="l"/>
              </a:tabLst>
            </a:pPr>
            <a:endParaRPr lang="en-US" sz="2400" dirty="0">
              <a:latin typeface="Calibri" pitchFamily="34" charset="0"/>
            </a:endParaRPr>
          </a:p>
          <a:p>
            <a:pPr marL="573088" lvl="1" indent="-225425">
              <a:lnSpc>
                <a:spcPct val="70000"/>
              </a:lnSpc>
              <a:tabLst>
                <a:tab pos="231775" algn="l"/>
              </a:tabLst>
            </a:pPr>
            <a:r>
              <a:rPr lang="en-US" sz="2400" dirty="0">
                <a:latin typeface="Calibri" pitchFamily="34" charset="0"/>
              </a:rPr>
              <a:t>Plant receives N </a:t>
            </a:r>
          </a:p>
          <a:p>
            <a:pPr marL="573088" lvl="1" indent="-225425">
              <a:buFontTx/>
              <a:buChar char="•"/>
              <a:tabLst>
                <a:tab pos="231775" algn="l"/>
              </a:tabLst>
            </a:pPr>
            <a:endParaRPr lang="en-US" dirty="0">
              <a:latin typeface="Calibri" pitchFamily="34" charset="0"/>
            </a:endParaRPr>
          </a:p>
        </p:txBody>
      </p:sp>
      <p:sp>
        <p:nvSpPr>
          <p:cNvPr id="6148" name="Text Box 6"/>
          <p:cNvSpPr txBox="1">
            <a:spLocks noChangeArrowheads="1"/>
          </p:cNvSpPr>
          <p:nvPr/>
        </p:nvSpPr>
        <p:spPr bwMode="auto">
          <a:xfrm>
            <a:off x="304800" y="228600"/>
            <a:ext cx="7772400" cy="1754326"/>
          </a:xfrm>
          <a:prstGeom prst="rect">
            <a:avLst/>
          </a:prstGeom>
          <a:noFill/>
          <a:ln w="9525">
            <a:noFill/>
            <a:miter lim="800000"/>
            <a:headEnd/>
            <a:tailEnd/>
          </a:ln>
        </p:spPr>
        <p:txBody>
          <a:bodyPr>
            <a:spAutoFit/>
          </a:bodyPr>
          <a:lstStyle/>
          <a:p>
            <a:pPr marL="457200" indent="-457200">
              <a:buClr>
                <a:schemeClr val="bg1"/>
              </a:buClr>
              <a:buSzPct val="80000"/>
              <a:buFont typeface="Wingdings" pitchFamily="2" charset="2"/>
              <a:buAutoNum type="alphaUcPeriod"/>
              <a:tabLst>
                <a:tab pos="231775" algn="l"/>
              </a:tabLst>
            </a:pPr>
            <a:r>
              <a:rPr lang="en-US" sz="2400" dirty="0" smtClean="0">
                <a:solidFill>
                  <a:srgbClr val="FF0000"/>
                </a:solidFill>
                <a:latin typeface="Calibri" pitchFamily="34" charset="0"/>
              </a:rPr>
              <a:t>Biological Nitrogen Fixation</a:t>
            </a:r>
          </a:p>
          <a:p>
            <a:pPr marL="457200" indent="-457200">
              <a:buClr>
                <a:schemeClr val="bg1"/>
              </a:buClr>
              <a:buSzPct val="80000"/>
              <a:buFont typeface="Wingdings" pitchFamily="2" charset="2"/>
              <a:buAutoNum type="alphaUcPeriod"/>
              <a:tabLst>
                <a:tab pos="231775" algn="l"/>
              </a:tabLst>
            </a:pPr>
            <a:r>
              <a:rPr lang="en-US" sz="2400" dirty="0" smtClean="0">
                <a:latin typeface="Calibri" pitchFamily="34" charset="0"/>
              </a:rPr>
              <a:t>Occurs </a:t>
            </a:r>
            <a:r>
              <a:rPr lang="en-US" sz="2400" dirty="0">
                <a:latin typeface="Calibri" pitchFamily="34" charset="0"/>
              </a:rPr>
              <a:t>only in prokaryotes:</a:t>
            </a:r>
            <a:endParaRPr lang="en-US" sz="2400" dirty="0">
              <a:solidFill>
                <a:srgbClr val="FF0000"/>
              </a:solidFill>
              <a:latin typeface="Calibri" pitchFamily="34" charset="0"/>
            </a:endParaRPr>
          </a:p>
          <a:p>
            <a:pPr marL="231775" indent="-231775">
              <a:lnSpc>
                <a:spcPct val="50000"/>
              </a:lnSpc>
              <a:buFontTx/>
              <a:buChar char="•"/>
              <a:tabLst>
                <a:tab pos="231775" algn="l"/>
              </a:tabLst>
            </a:pPr>
            <a:endParaRPr lang="en-US" sz="2400" dirty="0">
              <a:latin typeface="Calibri" pitchFamily="34" charset="0"/>
            </a:endParaRPr>
          </a:p>
          <a:p>
            <a:pPr marL="573088" lvl="1" indent="-225425">
              <a:tabLst>
                <a:tab pos="231775" algn="l"/>
              </a:tabLst>
            </a:pPr>
            <a:r>
              <a:rPr lang="en-US" sz="2400" dirty="0">
                <a:latin typeface="Calibri" pitchFamily="34" charset="0"/>
              </a:rPr>
              <a:t>Bacteria (e.g. </a:t>
            </a:r>
            <a:r>
              <a:rPr lang="en-US" sz="2400" i="1" dirty="0" err="1">
                <a:latin typeface="Calibri" pitchFamily="34" charset="0"/>
              </a:rPr>
              <a:t>Rhizobium</a:t>
            </a:r>
            <a:r>
              <a:rPr lang="en-US" sz="2400" i="1" dirty="0">
                <a:latin typeface="Calibri" pitchFamily="34" charset="0"/>
              </a:rPr>
              <a:t>, </a:t>
            </a:r>
            <a:r>
              <a:rPr lang="en-US" sz="2400" i="1" dirty="0" err="1">
                <a:latin typeface="Calibri" pitchFamily="34" charset="0"/>
              </a:rPr>
              <a:t>Frankia</a:t>
            </a:r>
            <a:r>
              <a:rPr lang="en-US" sz="2400" dirty="0">
                <a:latin typeface="Calibri" pitchFamily="34" charset="0"/>
              </a:rPr>
              <a:t>)</a:t>
            </a:r>
          </a:p>
          <a:p>
            <a:pPr marL="573088" lvl="1" indent="-225425">
              <a:tabLst>
                <a:tab pos="231775" algn="l"/>
              </a:tabLst>
            </a:pPr>
            <a:r>
              <a:rPr lang="en-US" sz="2400" dirty="0" err="1">
                <a:latin typeface="Calibri" pitchFamily="34" charset="0"/>
              </a:rPr>
              <a:t>Cyanobacteria</a:t>
            </a:r>
            <a:r>
              <a:rPr lang="en-US" sz="2400" dirty="0">
                <a:latin typeface="Calibri" pitchFamily="34" charset="0"/>
              </a:rPr>
              <a:t> (e.g. </a:t>
            </a:r>
            <a:r>
              <a:rPr lang="en-US" sz="2400" i="1" dirty="0" err="1">
                <a:latin typeface="Calibri" pitchFamily="34" charset="0"/>
              </a:rPr>
              <a:t>Nostoc</a:t>
            </a:r>
            <a:r>
              <a:rPr lang="en-US" sz="2400" dirty="0">
                <a:latin typeface="Calibri" pitchFamily="34" charset="0"/>
              </a:rPr>
              <a:t>, </a:t>
            </a:r>
            <a:r>
              <a:rPr lang="en-US" sz="2400" i="1" dirty="0">
                <a:latin typeface="Calibri" pitchFamily="34" charset="0"/>
              </a:rPr>
              <a:t>Anabaena</a:t>
            </a:r>
            <a:r>
              <a:rPr lang="en-US" sz="2400" dirty="0">
                <a:latin typeface="Calibri" pitchFamily="34" charset="0"/>
              </a:rPr>
              <a:t>)</a:t>
            </a:r>
          </a:p>
        </p:txBody>
      </p:sp>
      <p:grpSp>
        <p:nvGrpSpPr>
          <p:cNvPr id="2" name="Group 9"/>
          <p:cNvGrpSpPr>
            <a:grpSpLocks/>
          </p:cNvGrpSpPr>
          <p:nvPr/>
        </p:nvGrpSpPr>
        <p:grpSpPr bwMode="auto">
          <a:xfrm>
            <a:off x="762000" y="1752600"/>
            <a:ext cx="8382000" cy="2819400"/>
            <a:chOff x="384" y="1056"/>
            <a:chExt cx="5280" cy="1392"/>
          </a:xfrm>
        </p:grpSpPr>
        <p:grpSp>
          <p:nvGrpSpPr>
            <p:cNvPr id="3" name="Group 7"/>
            <p:cNvGrpSpPr>
              <a:grpSpLocks/>
            </p:cNvGrpSpPr>
            <p:nvPr/>
          </p:nvGrpSpPr>
          <p:grpSpPr bwMode="auto">
            <a:xfrm>
              <a:off x="384" y="1056"/>
              <a:ext cx="5280" cy="1229"/>
              <a:chOff x="384" y="1056"/>
              <a:chExt cx="5280" cy="1229"/>
            </a:xfrm>
          </p:grpSpPr>
          <p:graphicFrame>
            <p:nvGraphicFramePr>
              <p:cNvPr id="6146" name="Object 0"/>
              <p:cNvGraphicFramePr>
                <a:graphicFrameLocks noChangeAspect="1"/>
              </p:cNvGraphicFramePr>
              <p:nvPr/>
            </p:nvGraphicFramePr>
            <p:xfrm>
              <a:off x="3535" y="1056"/>
              <a:ext cx="2129" cy="1200"/>
            </p:xfrm>
            <a:graphic>
              <a:graphicData uri="http://schemas.openxmlformats.org/presentationml/2006/ole">
                <p:oleObj spid="_x0000_s240648" name="Photo Editor Photo" r:id="rId4" imgW="9752381" imgH="6609524" progId="">
                  <p:embed/>
                </p:oleObj>
              </a:graphicData>
            </a:graphic>
          </p:graphicFrame>
          <p:sp>
            <p:nvSpPr>
              <p:cNvPr id="6152" name="Text Box 5"/>
              <p:cNvSpPr txBox="1">
                <a:spLocks noChangeArrowheads="1"/>
              </p:cNvSpPr>
              <p:nvPr/>
            </p:nvSpPr>
            <p:spPr bwMode="auto">
              <a:xfrm>
                <a:off x="384" y="1200"/>
                <a:ext cx="3216" cy="1085"/>
              </a:xfrm>
              <a:prstGeom prst="rect">
                <a:avLst/>
              </a:prstGeom>
              <a:noFill/>
              <a:ln w="9525">
                <a:noFill/>
                <a:miter lim="800000"/>
                <a:headEnd/>
                <a:tailEnd/>
              </a:ln>
            </p:spPr>
            <p:txBody>
              <a:bodyPr>
                <a:spAutoFit/>
              </a:bodyPr>
              <a:lstStyle/>
              <a:p>
                <a:pPr marL="573088" lvl="1" indent="-225425">
                  <a:lnSpc>
                    <a:spcPct val="120000"/>
                  </a:lnSpc>
                  <a:buSzPct val="60000"/>
                  <a:tabLst>
                    <a:tab pos="231775" algn="l"/>
                  </a:tabLst>
                </a:pPr>
                <a:r>
                  <a:rPr lang="en-US" sz="2400" u="sng" dirty="0">
                    <a:latin typeface="Calibri" pitchFamily="34" charset="0"/>
                  </a:rPr>
                  <a:t>Free-living</a:t>
                </a:r>
                <a:r>
                  <a:rPr lang="en-US" sz="2400" dirty="0">
                    <a:latin typeface="Calibri" pitchFamily="34" charset="0"/>
                  </a:rPr>
                  <a:t> in soil/water – </a:t>
                </a:r>
                <a:r>
                  <a:rPr lang="en-US" sz="2400" dirty="0" err="1">
                    <a:latin typeface="Calibri" pitchFamily="34" charset="0"/>
                  </a:rPr>
                  <a:t>heterocysts</a:t>
                </a:r>
                <a:r>
                  <a:rPr lang="en-US" sz="2400" dirty="0">
                    <a:latin typeface="Calibri" pitchFamily="34" charset="0"/>
                  </a:rPr>
                  <a:t> </a:t>
                </a:r>
              </a:p>
              <a:p>
                <a:pPr marL="573088" lvl="1" indent="-225425">
                  <a:lnSpc>
                    <a:spcPct val="120000"/>
                  </a:lnSpc>
                  <a:buSzPct val="60000"/>
                  <a:tabLst>
                    <a:tab pos="231775" algn="l"/>
                  </a:tabLst>
                </a:pPr>
                <a:r>
                  <a:rPr lang="en-US" sz="2400" u="sng" dirty="0">
                    <a:latin typeface="Calibri" pitchFamily="34" charset="0"/>
                  </a:rPr>
                  <a:t>Symbiotic</a:t>
                </a:r>
                <a:r>
                  <a:rPr lang="en-US" sz="2400" dirty="0">
                    <a:latin typeface="Calibri" pitchFamily="34" charset="0"/>
                  </a:rPr>
                  <a:t> with plants – root nodules</a:t>
                </a:r>
              </a:p>
              <a:p>
                <a:pPr marL="573088" lvl="1" indent="-225425">
                  <a:lnSpc>
                    <a:spcPct val="120000"/>
                  </a:lnSpc>
                  <a:buSzPct val="60000"/>
                  <a:tabLst>
                    <a:tab pos="231775" algn="l"/>
                  </a:tabLst>
                </a:pPr>
                <a:r>
                  <a:rPr lang="en-US" sz="2400" dirty="0">
                    <a:latin typeface="Calibri" pitchFamily="34" charset="0"/>
                  </a:rPr>
                  <a:t>Loose association with plants</a:t>
                </a:r>
              </a:p>
              <a:p>
                <a:pPr marL="231775" indent="-231775">
                  <a:lnSpc>
                    <a:spcPct val="90000"/>
                  </a:lnSpc>
                  <a:tabLst>
                    <a:tab pos="231775" algn="l"/>
                  </a:tabLst>
                </a:pPr>
                <a:endParaRPr lang="en-US" sz="2400" dirty="0">
                  <a:latin typeface="Calibri" pitchFamily="34" charset="0"/>
                </a:endParaRPr>
              </a:p>
            </p:txBody>
          </p:sp>
        </p:grpSp>
        <p:sp>
          <p:nvSpPr>
            <p:cNvPr id="6151" name="Text Box 8"/>
            <p:cNvSpPr txBox="1">
              <a:spLocks noChangeArrowheads="1"/>
            </p:cNvSpPr>
            <p:nvPr/>
          </p:nvSpPr>
          <p:spPr bwMode="auto">
            <a:xfrm>
              <a:off x="3759" y="2236"/>
              <a:ext cx="1809" cy="212"/>
            </a:xfrm>
            <a:prstGeom prst="rect">
              <a:avLst/>
            </a:prstGeom>
            <a:noFill/>
            <a:ln w="9525">
              <a:noFill/>
              <a:miter lim="800000"/>
              <a:headEnd/>
              <a:tailEnd/>
            </a:ln>
          </p:spPr>
          <p:txBody>
            <a:bodyPr wrap="none">
              <a:spAutoFit/>
            </a:bodyPr>
            <a:lstStyle/>
            <a:p>
              <a:r>
                <a:rPr lang="en-US" sz="1600" i="1">
                  <a:solidFill>
                    <a:schemeClr val="hlink"/>
                  </a:solidFill>
                  <a:latin typeface="AHD Symbol Sans"/>
                </a:rPr>
                <a:t>Anabaena </a:t>
              </a:r>
              <a:r>
                <a:rPr lang="en-US" sz="1600">
                  <a:solidFill>
                    <a:schemeClr val="hlink"/>
                  </a:solidFill>
                  <a:latin typeface="AHD Symbol Sans"/>
                </a:rPr>
                <a:t>with heterocysts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4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bigFL2"/>
          <p:cNvPicPr>
            <a:picLocks noChangeAspect="1" noChangeArrowheads="1"/>
          </p:cNvPicPr>
          <p:nvPr/>
        </p:nvPicPr>
        <p:blipFill>
          <a:blip r:embed="rId2"/>
          <a:srcRect/>
          <a:stretch>
            <a:fillRect/>
          </a:stretch>
        </p:blipFill>
        <p:spPr bwMode="auto">
          <a:xfrm>
            <a:off x="433388" y="609600"/>
            <a:ext cx="4062412" cy="5562600"/>
          </a:xfrm>
          <a:prstGeom prst="rect">
            <a:avLst/>
          </a:prstGeom>
          <a:noFill/>
          <a:ln w="9525">
            <a:noFill/>
            <a:miter lim="800000"/>
            <a:headEnd/>
            <a:tailEnd/>
          </a:ln>
        </p:spPr>
      </p:pic>
      <p:sp>
        <p:nvSpPr>
          <p:cNvPr id="104451" name="Text Box 3"/>
          <p:cNvSpPr txBox="1">
            <a:spLocks noChangeArrowheads="1"/>
          </p:cNvSpPr>
          <p:nvPr/>
        </p:nvSpPr>
        <p:spPr bwMode="auto">
          <a:xfrm>
            <a:off x="6248400" y="663575"/>
            <a:ext cx="1354138" cy="519113"/>
          </a:xfrm>
          <a:prstGeom prst="rect">
            <a:avLst/>
          </a:prstGeom>
          <a:noFill/>
          <a:ln w="12700" cap="sq">
            <a:noFill/>
            <a:miter lim="800000"/>
            <a:headEnd type="none" w="sm" len="sm"/>
            <a:tailEnd type="none" w="sm" len="sm"/>
          </a:ln>
        </p:spPr>
        <p:txBody>
          <a:bodyPr wrap="none">
            <a:spAutoFit/>
          </a:bodyPr>
          <a:lstStyle/>
          <a:p>
            <a:r>
              <a:rPr lang="en-US" sz="2800">
                <a:latin typeface="Calibri" pitchFamily="34" charset="0"/>
              </a:rPr>
              <a:t>legume</a:t>
            </a:r>
          </a:p>
        </p:txBody>
      </p:sp>
      <p:sp>
        <p:nvSpPr>
          <p:cNvPr id="104452" name="Text Box 4"/>
          <p:cNvSpPr txBox="1">
            <a:spLocks noChangeArrowheads="1"/>
          </p:cNvSpPr>
          <p:nvPr/>
        </p:nvSpPr>
        <p:spPr bwMode="auto">
          <a:xfrm>
            <a:off x="6324600" y="4854575"/>
            <a:ext cx="1433513" cy="519113"/>
          </a:xfrm>
          <a:prstGeom prst="rect">
            <a:avLst/>
          </a:prstGeom>
          <a:noFill/>
          <a:ln w="12700" cap="sq">
            <a:noFill/>
            <a:miter lim="800000"/>
            <a:headEnd type="none" w="sm" len="sm"/>
            <a:tailEnd type="none" w="sm" len="sm"/>
          </a:ln>
        </p:spPr>
        <p:txBody>
          <a:bodyPr wrap="none">
            <a:spAutoFit/>
          </a:bodyPr>
          <a:lstStyle/>
          <a:p>
            <a:r>
              <a:rPr lang="en-US" sz="2800">
                <a:latin typeface="Calibri" pitchFamily="34" charset="0"/>
              </a:rPr>
              <a:t>rhizobia</a:t>
            </a:r>
          </a:p>
        </p:txBody>
      </p:sp>
      <p:cxnSp>
        <p:nvCxnSpPr>
          <p:cNvPr id="104453" name="AutoShape 5"/>
          <p:cNvCxnSpPr>
            <a:cxnSpLocks noChangeShapeType="1"/>
            <a:stCxn id="104452" idx="1"/>
            <a:endCxn id="104451" idx="1"/>
          </p:cNvCxnSpPr>
          <p:nvPr/>
        </p:nvCxnSpPr>
        <p:spPr bwMode="auto">
          <a:xfrm rot="10800000">
            <a:off x="6248400" y="923925"/>
            <a:ext cx="76200" cy="4191000"/>
          </a:xfrm>
          <a:prstGeom prst="curvedConnector3">
            <a:avLst>
              <a:gd name="adj1" fmla="val 1141662"/>
            </a:avLst>
          </a:prstGeom>
          <a:noFill/>
          <a:ln w="57150">
            <a:solidFill>
              <a:schemeClr val="tx1"/>
            </a:solidFill>
            <a:round/>
            <a:headEnd/>
            <a:tailEnd type="triangle" w="med" len="med"/>
          </a:ln>
        </p:spPr>
      </p:cxnSp>
      <p:cxnSp>
        <p:nvCxnSpPr>
          <p:cNvPr id="104454" name="AutoShape 6"/>
          <p:cNvCxnSpPr>
            <a:cxnSpLocks noChangeShapeType="1"/>
            <a:stCxn id="104451" idx="3"/>
            <a:endCxn id="104452" idx="3"/>
          </p:cNvCxnSpPr>
          <p:nvPr/>
        </p:nvCxnSpPr>
        <p:spPr bwMode="auto">
          <a:xfrm>
            <a:off x="7602538" y="923925"/>
            <a:ext cx="155575" cy="4191000"/>
          </a:xfrm>
          <a:prstGeom prst="curvedConnector3">
            <a:avLst>
              <a:gd name="adj1" fmla="val 496940"/>
            </a:avLst>
          </a:prstGeom>
          <a:noFill/>
          <a:ln w="57150">
            <a:solidFill>
              <a:schemeClr val="tx1"/>
            </a:solidFill>
            <a:round/>
            <a:headEnd/>
            <a:tailEnd type="triangle" w="med" len="med"/>
          </a:ln>
        </p:spPr>
      </p:cxnSp>
      <p:sp>
        <p:nvSpPr>
          <p:cNvPr id="104455" name="Text Box 7"/>
          <p:cNvSpPr txBox="1">
            <a:spLocks noChangeArrowheads="1"/>
          </p:cNvSpPr>
          <p:nvPr/>
        </p:nvSpPr>
        <p:spPr bwMode="auto">
          <a:xfrm>
            <a:off x="4876800" y="2819400"/>
            <a:ext cx="1771650" cy="654050"/>
          </a:xfrm>
          <a:prstGeom prst="rect">
            <a:avLst/>
          </a:prstGeom>
          <a:solidFill>
            <a:srgbClr val="006666"/>
          </a:solidFill>
          <a:ln w="12700" cap="sq">
            <a:solidFill>
              <a:schemeClr val="tx1"/>
            </a:solidFill>
            <a:miter lim="800000"/>
            <a:headEnd type="none" w="sm" len="sm"/>
            <a:tailEnd type="none" w="sm" len="sm"/>
          </a:ln>
        </p:spPr>
        <p:txBody>
          <a:bodyPr wrap="none">
            <a:spAutoFit/>
          </a:bodyPr>
          <a:lstStyle/>
          <a:p>
            <a:pPr algn="ctr"/>
            <a:r>
              <a:rPr lang="en-US" b="1">
                <a:latin typeface="Calibri" pitchFamily="34" charset="0"/>
              </a:rPr>
              <a:t>Fixed nitrogen</a:t>
            </a:r>
          </a:p>
          <a:p>
            <a:pPr algn="ctr"/>
            <a:r>
              <a:rPr lang="en-US" b="1">
                <a:latin typeface="Calibri" pitchFamily="34" charset="0"/>
              </a:rPr>
              <a:t>(ammonia)</a:t>
            </a:r>
          </a:p>
        </p:txBody>
      </p:sp>
      <p:sp>
        <p:nvSpPr>
          <p:cNvPr id="104456" name="Text Box 8"/>
          <p:cNvSpPr txBox="1">
            <a:spLocks noChangeArrowheads="1"/>
          </p:cNvSpPr>
          <p:nvPr/>
        </p:nvSpPr>
        <p:spPr bwMode="auto">
          <a:xfrm>
            <a:off x="7010400" y="2819400"/>
            <a:ext cx="2076450" cy="654050"/>
          </a:xfrm>
          <a:prstGeom prst="rect">
            <a:avLst/>
          </a:prstGeom>
          <a:solidFill>
            <a:srgbClr val="990000"/>
          </a:solidFill>
          <a:ln w="12700" cap="sq">
            <a:solidFill>
              <a:schemeClr val="tx1"/>
            </a:solidFill>
            <a:miter lim="800000"/>
            <a:headEnd type="none" w="sm" len="sm"/>
            <a:tailEnd type="none" w="sm" len="sm"/>
          </a:ln>
        </p:spPr>
        <p:txBody>
          <a:bodyPr wrap="none">
            <a:spAutoFit/>
          </a:bodyPr>
          <a:lstStyle/>
          <a:p>
            <a:pPr algn="ctr"/>
            <a:r>
              <a:rPr lang="en-US" b="1">
                <a:latin typeface="Calibri" pitchFamily="34" charset="0"/>
              </a:rPr>
              <a:t>Fixed carbon</a:t>
            </a:r>
          </a:p>
          <a:p>
            <a:pPr algn="ctr"/>
            <a:r>
              <a:rPr lang="en-US" b="1">
                <a:latin typeface="Calibri" pitchFamily="34" charset="0"/>
              </a:rPr>
              <a:t>(malate, sucrose)</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174750" y="1660525"/>
            <a:ext cx="6216650" cy="707886"/>
          </a:xfrm>
          <a:prstGeom prst="rect">
            <a:avLst/>
          </a:prstGeom>
          <a:noFill/>
          <a:ln w="9525">
            <a:noFill/>
            <a:miter lim="800000"/>
            <a:headEnd/>
            <a:tailEnd/>
          </a:ln>
        </p:spPr>
        <p:txBody>
          <a:bodyPr>
            <a:spAutoFit/>
          </a:bodyPr>
          <a:lstStyle/>
          <a:p>
            <a:pPr marL="234950" indent="-234950">
              <a:buFontTx/>
              <a:buChar char="•"/>
            </a:pPr>
            <a:r>
              <a:rPr lang="en-US" dirty="0">
                <a:solidFill>
                  <a:schemeClr val="bg1"/>
                </a:solidFill>
                <a:latin typeface="Calibri" pitchFamily="34" charset="0"/>
              </a:rPr>
              <a:t>Those </a:t>
            </a:r>
            <a:r>
              <a:rPr lang="en-US" sz="2000" dirty="0">
                <a:solidFill>
                  <a:schemeClr val="bg1"/>
                </a:solidFill>
                <a:latin typeface="Calibri" pitchFamily="34" charset="0"/>
              </a:rPr>
              <a:t>with </a:t>
            </a:r>
            <a:r>
              <a:rPr lang="en-US" sz="2000" dirty="0">
                <a:latin typeface="Calibri" pitchFamily="34" charset="0"/>
              </a:rPr>
              <a:t>N</a:t>
            </a:r>
            <a:r>
              <a:rPr lang="en-US" sz="2000" baseline="-25000" dirty="0">
                <a:latin typeface="Calibri" pitchFamily="34" charset="0"/>
              </a:rPr>
              <a:t>2</a:t>
            </a:r>
            <a:r>
              <a:rPr lang="en-US" sz="2000" dirty="0">
                <a:latin typeface="Calibri" pitchFamily="34" charset="0"/>
              </a:rPr>
              <a:t>-fixing </a:t>
            </a:r>
            <a:r>
              <a:rPr lang="en-US" sz="2000" dirty="0" err="1">
                <a:latin typeface="Calibri" pitchFamily="34" charset="0"/>
              </a:rPr>
              <a:t>symbionts</a:t>
            </a:r>
            <a:r>
              <a:rPr lang="en-US" sz="2000" dirty="0">
                <a:latin typeface="Calibri" pitchFamily="34" charset="0"/>
              </a:rPr>
              <a:t> form root “</a:t>
            </a:r>
            <a:r>
              <a:rPr lang="en-US" sz="2000" u="sng" dirty="0">
                <a:latin typeface="Calibri" pitchFamily="34" charset="0"/>
              </a:rPr>
              <a:t>nodules</a:t>
            </a:r>
            <a:r>
              <a:rPr lang="en-US" sz="2000" dirty="0">
                <a:latin typeface="Calibri" pitchFamily="34" charset="0"/>
              </a:rPr>
              <a:t>”</a:t>
            </a:r>
          </a:p>
          <a:p>
            <a:pPr marL="234950" indent="-234950"/>
            <a:r>
              <a:rPr lang="en-US" sz="2000" dirty="0">
                <a:latin typeface="Calibri" pitchFamily="34" charset="0"/>
              </a:rPr>
              <a:t>	– anaerobic sites that “house” bacteria</a:t>
            </a:r>
          </a:p>
        </p:txBody>
      </p:sp>
      <p:grpSp>
        <p:nvGrpSpPr>
          <p:cNvPr id="2" name="Group 10"/>
          <p:cNvGrpSpPr>
            <a:grpSpLocks/>
          </p:cNvGrpSpPr>
          <p:nvPr/>
        </p:nvGrpSpPr>
        <p:grpSpPr bwMode="auto">
          <a:xfrm>
            <a:off x="304800" y="2514600"/>
            <a:ext cx="4203700" cy="3924300"/>
            <a:chOff x="192" y="1440"/>
            <a:chExt cx="2648" cy="2472"/>
          </a:xfrm>
        </p:grpSpPr>
        <p:pic>
          <p:nvPicPr>
            <p:cNvPr id="105481" name="Picture 5" descr="nodule2"/>
            <p:cNvPicPr>
              <a:picLocks noChangeAspect="1" noChangeArrowheads="1"/>
            </p:cNvPicPr>
            <p:nvPr/>
          </p:nvPicPr>
          <p:blipFill>
            <a:blip r:embed="rId3"/>
            <a:srcRect/>
            <a:stretch>
              <a:fillRect/>
            </a:stretch>
          </p:blipFill>
          <p:spPr bwMode="auto">
            <a:xfrm>
              <a:off x="192" y="1440"/>
              <a:ext cx="2648" cy="2472"/>
            </a:xfrm>
            <a:prstGeom prst="rect">
              <a:avLst/>
            </a:prstGeom>
            <a:noFill/>
            <a:ln w="9525">
              <a:noFill/>
              <a:miter lim="800000"/>
              <a:headEnd/>
              <a:tailEnd/>
            </a:ln>
          </p:spPr>
        </p:pic>
        <p:sp>
          <p:nvSpPr>
            <p:cNvPr id="105482" name="Text Box 6"/>
            <p:cNvSpPr txBox="1">
              <a:spLocks noChangeArrowheads="1"/>
            </p:cNvSpPr>
            <p:nvPr/>
          </p:nvSpPr>
          <p:spPr bwMode="auto">
            <a:xfrm>
              <a:off x="335" y="1687"/>
              <a:ext cx="721" cy="442"/>
            </a:xfrm>
            <a:prstGeom prst="rect">
              <a:avLst/>
            </a:prstGeom>
            <a:noFill/>
            <a:ln w="9525">
              <a:noFill/>
              <a:miter lim="800000"/>
              <a:headEnd/>
              <a:tailEnd/>
            </a:ln>
          </p:spPr>
          <p:txBody>
            <a:bodyPr wrap="none">
              <a:spAutoFit/>
            </a:bodyPr>
            <a:lstStyle/>
            <a:p>
              <a:pPr algn="ctr"/>
              <a:r>
                <a:rPr lang="en-US">
                  <a:solidFill>
                    <a:schemeClr val="bg1"/>
                  </a:solidFill>
                  <a:latin typeface="Calibri" pitchFamily="34" charset="0"/>
                </a:rPr>
                <a:t>soybean</a:t>
              </a:r>
            </a:p>
            <a:p>
              <a:pPr algn="ctr"/>
              <a:r>
                <a:rPr lang="en-US">
                  <a:solidFill>
                    <a:schemeClr val="bg1"/>
                  </a:solidFill>
                  <a:latin typeface="Calibri" pitchFamily="34" charset="0"/>
                </a:rPr>
                <a:t>root</a:t>
              </a:r>
            </a:p>
          </p:txBody>
        </p:sp>
      </p:grpSp>
      <p:grpSp>
        <p:nvGrpSpPr>
          <p:cNvPr id="3" name="Group 9"/>
          <p:cNvGrpSpPr>
            <a:grpSpLocks/>
          </p:cNvGrpSpPr>
          <p:nvPr/>
        </p:nvGrpSpPr>
        <p:grpSpPr bwMode="auto">
          <a:xfrm>
            <a:off x="4267200" y="2305050"/>
            <a:ext cx="4519613" cy="3028950"/>
            <a:chOff x="2688" y="1200"/>
            <a:chExt cx="2847" cy="1908"/>
          </a:xfrm>
        </p:grpSpPr>
        <p:pic>
          <p:nvPicPr>
            <p:cNvPr id="105479" name="Picture 7" descr="tridas"/>
            <p:cNvPicPr>
              <a:picLocks noChangeAspect="1" noChangeArrowheads="1"/>
            </p:cNvPicPr>
            <p:nvPr/>
          </p:nvPicPr>
          <p:blipFill>
            <a:blip r:embed="rId4"/>
            <a:srcRect/>
            <a:stretch>
              <a:fillRect/>
            </a:stretch>
          </p:blipFill>
          <p:spPr bwMode="auto">
            <a:xfrm>
              <a:off x="2688" y="1200"/>
              <a:ext cx="2847" cy="1908"/>
            </a:xfrm>
            <a:prstGeom prst="rect">
              <a:avLst/>
            </a:prstGeom>
            <a:noFill/>
            <a:ln w="9525">
              <a:noFill/>
              <a:miter lim="800000"/>
              <a:headEnd/>
              <a:tailEnd/>
            </a:ln>
          </p:spPr>
        </p:pic>
        <p:sp>
          <p:nvSpPr>
            <p:cNvPr id="105480" name="Text Box 8"/>
            <p:cNvSpPr txBox="1">
              <a:spLocks noChangeArrowheads="1"/>
            </p:cNvSpPr>
            <p:nvPr/>
          </p:nvSpPr>
          <p:spPr bwMode="auto">
            <a:xfrm>
              <a:off x="3590" y="1207"/>
              <a:ext cx="1015" cy="250"/>
            </a:xfrm>
            <a:prstGeom prst="rect">
              <a:avLst/>
            </a:prstGeom>
            <a:noFill/>
            <a:ln w="9525">
              <a:noFill/>
              <a:miter lim="800000"/>
              <a:headEnd/>
              <a:tailEnd/>
            </a:ln>
          </p:spPr>
          <p:txBody>
            <a:bodyPr wrap="none">
              <a:spAutoFit/>
            </a:bodyPr>
            <a:lstStyle/>
            <a:p>
              <a:r>
                <a:rPr lang="en-US">
                  <a:solidFill>
                    <a:schemeClr val="bg1"/>
                  </a:solidFill>
                  <a:latin typeface="Calibri" pitchFamily="34" charset="0"/>
                </a:rPr>
                <a:t>alpine clover</a:t>
              </a:r>
            </a:p>
          </p:txBody>
        </p:sp>
      </p:grpSp>
      <p:pic>
        <p:nvPicPr>
          <p:cNvPr id="9228" name="Picture 12" descr="tridasnodules"/>
          <p:cNvPicPr>
            <a:picLocks noChangeAspect="1" noChangeArrowheads="1"/>
          </p:cNvPicPr>
          <p:nvPr/>
        </p:nvPicPr>
        <p:blipFill>
          <a:blip r:embed="rId5"/>
          <a:srcRect l="7857" r="8571" b="8333"/>
          <a:stretch>
            <a:fillRect/>
          </a:stretch>
        </p:blipFill>
        <p:spPr bwMode="auto">
          <a:xfrm>
            <a:off x="5715000" y="2667000"/>
            <a:ext cx="2971800" cy="4191000"/>
          </a:xfrm>
          <a:prstGeom prst="rect">
            <a:avLst/>
          </a:prstGeom>
          <a:noFill/>
          <a:ln w="9525">
            <a:noFill/>
            <a:miter lim="800000"/>
            <a:headEnd/>
            <a:tailEnd/>
          </a:ln>
        </p:spPr>
      </p:pic>
      <p:sp>
        <p:nvSpPr>
          <p:cNvPr id="105478" name="Text Box 13"/>
          <p:cNvSpPr txBox="1">
            <a:spLocks noChangeArrowheads="1"/>
          </p:cNvSpPr>
          <p:nvPr/>
        </p:nvSpPr>
        <p:spPr bwMode="auto">
          <a:xfrm>
            <a:off x="457200" y="3175"/>
            <a:ext cx="7086600" cy="1689693"/>
          </a:xfrm>
          <a:prstGeom prst="rect">
            <a:avLst/>
          </a:prstGeom>
          <a:noFill/>
          <a:ln w="9525">
            <a:noFill/>
            <a:miter lim="800000"/>
            <a:headEnd/>
            <a:tailEnd/>
          </a:ln>
        </p:spPr>
        <p:txBody>
          <a:bodyPr>
            <a:spAutoFit/>
          </a:bodyPr>
          <a:lstStyle/>
          <a:p>
            <a:r>
              <a:rPr lang="en-US" sz="2200" dirty="0">
                <a:solidFill>
                  <a:schemeClr val="bg1"/>
                </a:solidFill>
                <a:latin typeface="Calibri" pitchFamily="34" charset="0"/>
              </a:rPr>
              <a:t>Examples of plant–N</a:t>
            </a:r>
            <a:r>
              <a:rPr lang="en-US" sz="2200" baseline="-25000" dirty="0">
                <a:solidFill>
                  <a:schemeClr val="bg1"/>
                </a:solidFill>
                <a:latin typeface="Calibri" pitchFamily="34" charset="0"/>
              </a:rPr>
              <a:t>2</a:t>
            </a:r>
            <a:r>
              <a:rPr lang="en-US" sz="2200" dirty="0">
                <a:solidFill>
                  <a:schemeClr val="bg1"/>
                </a:solidFill>
                <a:latin typeface="Calibri" pitchFamily="34" charset="0"/>
              </a:rPr>
              <a:t>-fixing symbiotic systems – </a:t>
            </a:r>
          </a:p>
          <a:p>
            <a:pPr>
              <a:lnSpc>
                <a:spcPct val="50000"/>
              </a:lnSpc>
            </a:pPr>
            <a:endParaRPr lang="en-US" sz="2200" dirty="0">
              <a:solidFill>
                <a:schemeClr val="bg1"/>
              </a:solidFill>
              <a:latin typeface="Calibri" pitchFamily="34" charset="0"/>
            </a:endParaRPr>
          </a:p>
          <a:p>
            <a:pPr marL="515938" lvl="1" indent="-276225">
              <a:buFontTx/>
              <a:buAutoNum type="arabicParenR"/>
            </a:pPr>
            <a:r>
              <a:rPr lang="en-US" sz="2200" dirty="0">
                <a:latin typeface="Calibri" pitchFamily="34" charset="0"/>
              </a:rPr>
              <a:t> Legumes (</a:t>
            </a:r>
            <a:r>
              <a:rPr lang="en-US" sz="2200" dirty="0" err="1">
                <a:latin typeface="Calibri" pitchFamily="34" charset="0"/>
              </a:rPr>
              <a:t>Fabaceae</a:t>
            </a:r>
            <a:r>
              <a:rPr lang="en-US" sz="2200" dirty="0">
                <a:latin typeface="Calibri" pitchFamily="34" charset="0"/>
              </a:rPr>
              <a:t>)</a:t>
            </a:r>
          </a:p>
          <a:p>
            <a:pPr marL="968375" lvl="2" indent="-219075">
              <a:lnSpc>
                <a:spcPct val="40000"/>
              </a:lnSpc>
            </a:pPr>
            <a:endParaRPr lang="en-US" sz="2200" dirty="0">
              <a:latin typeface="Calibri" pitchFamily="34" charset="0"/>
            </a:endParaRPr>
          </a:p>
          <a:p>
            <a:pPr marL="968375" lvl="2" indent="-219075"/>
            <a:r>
              <a:rPr lang="en-US" sz="2000" dirty="0">
                <a:latin typeface="Calibri" pitchFamily="34" charset="0"/>
              </a:rPr>
              <a:t>Widespread</a:t>
            </a:r>
          </a:p>
          <a:p>
            <a:pPr marL="968375" lvl="2" indent="-219075"/>
            <a:r>
              <a:rPr lang="en-US" sz="2000" dirty="0">
                <a:latin typeface="Calibri" pitchFamily="34" charset="0"/>
              </a:rPr>
              <a:t>bacteria = e.g., </a:t>
            </a:r>
            <a:r>
              <a:rPr lang="en-US" sz="2000" i="1" dirty="0" err="1">
                <a:latin typeface="Calibri" pitchFamily="34" charset="0"/>
              </a:rPr>
              <a:t>Rhizobium</a:t>
            </a:r>
            <a:r>
              <a:rPr lang="en-US" sz="2000" i="1" dirty="0">
                <a:latin typeface="Calibri" pitchFamily="34" charset="0"/>
              </a:rPr>
              <a:t> </a:t>
            </a:r>
            <a:r>
              <a:rPr lang="en-US" sz="2000" dirty="0">
                <a:latin typeface="Calibri" pitchFamily="34" charset="0"/>
              </a:rPr>
              <a:t>spp.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9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3"/>
          <p:cNvSpPr txBox="1">
            <a:spLocks noChangeArrowheads="1"/>
          </p:cNvSpPr>
          <p:nvPr/>
        </p:nvSpPr>
        <p:spPr bwMode="auto">
          <a:xfrm>
            <a:off x="914400" y="1143000"/>
            <a:ext cx="7543800" cy="1551194"/>
          </a:xfrm>
          <a:prstGeom prst="rect">
            <a:avLst/>
          </a:prstGeom>
          <a:noFill/>
          <a:ln w="9525">
            <a:noFill/>
            <a:miter lim="800000"/>
            <a:headEnd/>
            <a:tailEnd/>
          </a:ln>
        </p:spPr>
        <p:txBody>
          <a:bodyPr wrap="square">
            <a:spAutoFit/>
          </a:bodyPr>
          <a:lstStyle/>
          <a:p>
            <a:r>
              <a:rPr lang="en-US" dirty="0" smtClean="0">
                <a:solidFill>
                  <a:schemeClr val="bg1"/>
                </a:solidFill>
                <a:latin typeface="Calibri" pitchFamily="34" charset="0"/>
              </a:rPr>
              <a:t>of </a:t>
            </a:r>
            <a:r>
              <a:rPr lang="en-US" dirty="0">
                <a:solidFill>
                  <a:schemeClr val="bg1"/>
                </a:solidFill>
                <a:latin typeface="Calibri" pitchFamily="34" charset="0"/>
              </a:rPr>
              <a:t>O</a:t>
            </a:r>
            <a:r>
              <a:rPr lang="en-US" baseline="-25000" dirty="0">
                <a:solidFill>
                  <a:schemeClr val="bg1"/>
                </a:solidFill>
                <a:latin typeface="Calibri" pitchFamily="34" charset="0"/>
              </a:rPr>
              <a:t>2</a:t>
            </a:r>
            <a:r>
              <a:rPr lang="en-US" dirty="0">
                <a:solidFill>
                  <a:schemeClr val="bg1"/>
                </a:solidFill>
                <a:latin typeface="Calibri" pitchFamily="34" charset="0"/>
              </a:rPr>
              <a:t> toxicity –</a:t>
            </a:r>
          </a:p>
          <a:p>
            <a:pPr marL="525463" lvl="1" indent="-176213">
              <a:lnSpc>
                <a:spcPct val="60000"/>
              </a:lnSpc>
            </a:pPr>
            <a:r>
              <a:rPr lang="en-US" sz="2400" dirty="0" err="1" smtClean="0">
                <a:latin typeface="Calibri" pitchFamily="34" charset="0"/>
              </a:rPr>
              <a:t>Symbionts</a:t>
            </a:r>
            <a:r>
              <a:rPr lang="en-US" sz="2400" dirty="0" smtClean="0">
                <a:latin typeface="Calibri" pitchFamily="34" charset="0"/>
              </a:rPr>
              <a:t> </a:t>
            </a:r>
            <a:r>
              <a:rPr lang="en-US" sz="2400" dirty="0">
                <a:latin typeface="Calibri" pitchFamily="34" charset="0"/>
              </a:rPr>
              <a:t>regulate O</a:t>
            </a:r>
            <a:r>
              <a:rPr lang="en-US" sz="2400" baseline="-25000" dirty="0">
                <a:latin typeface="Calibri" pitchFamily="34" charset="0"/>
              </a:rPr>
              <a:t>2</a:t>
            </a:r>
            <a:r>
              <a:rPr lang="en-US" sz="2400" dirty="0">
                <a:latin typeface="Calibri" pitchFamily="34" charset="0"/>
              </a:rPr>
              <a:t> in the nodule with </a:t>
            </a:r>
            <a:r>
              <a:rPr lang="en-US" sz="2400" u="sng" dirty="0" err="1">
                <a:latin typeface="Calibri" pitchFamily="34" charset="0"/>
              </a:rPr>
              <a:t>leghemoglobin</a:t>
            </a:r>
            <a:endParaRPr lang="en-US" sz="2400" u="sng" dirty="0">
              <a:latin typeface="Calibri" pitchFamily="34" charset="0"/>
            </a:endParaRPr>
          </a:p>
          <a:p>
            <a:pPr>
              <a:spcBef>
                <a:spcPct val="30000"/>
              </a:spcBef>
            </a:pPr>
            <a:r>
              <a:rPr lang="en-US" sz="2400" dirty="0" smtClean="0">
                <a:latin typeface="Calibri" pitchFamily="34" charset="0"/>
              </a:rPr>
              <a:t>     </a:t>
            </a:r>
          </a:p>
          <a:p>
            <a:pPr>
              <a:spcBef>
                <a:spcPct val="30000"/>
              </a:spcBef>
            </a:pPr>
            <a:r>
              <a:rPr lang="en-US" sz="2400" dirty="0" smtClean="0">
                <a:latin typeface="Calibri" pitchFamily="34" charset="0"/>
              </a:rPr>
              <a:t>      Different </a:t>
            </a:r>
            <a:r>
              <a:rPr lang="en-US" sz="2400" dirty="0">
                <a:latin typeface="Calibri" pitchFamily="34" charset="0"/>
              </a:rPr>
              <a:t>part synthesized by the bacteria and legume</a:t>
            </a:r>
          </a:p>
        </p:txBody>
      </p:sp>
      <p:grpSp>
        <p:nvGrpSpPr>
          <p:cNvPr id="2" name="Group 9"/>
          <p:cNvGrpSpPr>
            <a:grpSpLocks/>
          </p:cNvGrpSpPr>
          <p:nvPr/>
        </p:nvGrpSpPr>
        <p:grpSpPr bwMode="auto">
          <a:xfrm>
            <a:off x="1676400" y="3317875"/>
            <a:ext cx="5680075" cy="1555750"/>
            <a:chOff x="1126" y="898"/>
            <a:chExt cx="3216" cy="726"/>
          </a:xfrm>
        </p:grpSpPr>
        <p:pic>
          <p:nvPicPr>
            <p:cNvPr id="106500" name="Picture 5" descr="nodules3"/>
            <p:cNvPicPr>
              <a:picLocks noChangeAspect="1" noChangeArrowheads="1"/>
            </p:cNvPicPr>
            <p:nvPr/>
          </p:nvPicPr>
          <p:blipFill>
            <a:blip r:embed="rId3"/>
            <a:srcRect b="51154"/>
            <a:stretch>
              <a:fillRect/>
            </a:stretch>
          </p:blipFill>
          <p:spPr bwMode="auto">
            <a:xfrm>
              <a:off x="1126" y="898"/>
              <a:ext cx="3216" cy="587"/>
            </a:xfrm>
            <a:prstGeom prst="rect">
              <a:avLst/>
            </a:prstGeom>
            <a:noFill/>
            <a:ln w="9525">
              <a:noFill/>
              <a:miter lim="800000"/>
              <a:headEnd/>
              <a:tailEnd/>
            </a:ln>
          </p:spPr>
        </p:pic>
        <p:sp>
          <p:nvSpPr>
            <p:cNvPr id="106501" name="Text Box 6"/>
            <p:cNvSpPr txBox="1">
              <a:spLocks noChangeArrowheads="1"/>
            </p:cNvSpPr>
            <p:nvPr/>
          </p:nvSpPr>
          <p:spPr bwMode="auto">
            <a:xfrm>
              <a:off x="1296" y="1453"/>
              <a:ext cx="2908" cy="171"/>
            </a:xfrm>
            <a:prstGeom prst="rect">
              <a:avLst/>
            </a:prstGeom>
            <a:noFill/>
            <a:ln w="9525">
              <a:noFill/>
              <a:miter lim="800000"/>
              <a:headEnd/>
              <a:tailEnd/>
            </a:ln>
          </p:spPr>
          <p:txBody>
            <a:bodyPr wrap="none">
              <a:spAutoFit/>
            </a:bodyPr>
            <a:lstStyle/>
            <a:p>
              <a:r>
                <a:rPr lang="en-US">
                  <a:solidFill>
                    <a:schemeClr val="hlink"/>
                  </a:solidFill>
                  <a:latin typeface="AHD Symbol Sans"/>
                </a:rPr>
                <a:t>Cross-section of nodules of soybean nodules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1106488" y="1676400"/>
            <a:ext cx="6934200" cy="3724096"/>
          </a:xfrm>
          <a:prstGeom prst="rect">
            <a:avLst/>
          </a:prstGeom>
          <a:noFill/>
          <a:ln w="9525">
            <a:noFill/>
            <a:miter lim="800000"/>
            <a:headEnd/>
            <a:tailEnd/>
          </a:ln>
        </p:spPr>
        <p:txBody>
          <a:bodyPr>
            <a:spAutoFit/>
          </a:bodyPr>
          <a:lstStyle/>
          <a:p>
            <a:r>
              <a:rPr lang="en-US" sz="2000" b="1" u="sng" dirty="0">
                <a:latin typeface="Calibri" pitchFamily="34" charset="0"/>
              </a:rPr>
              <a:t>Host plant</a:t>
            </a:r>
            <a:r>
              <a:rPr lang="en-US" sz="2000" dirty="0">
                <a:latin typeface="Calibri" pitchFamily="34" charset="0"/>
              </a:rPr>
              <a:t>			</a:t>
            </a:r>
            <a:r>
              <a:rPr lang="en-US" sz="2000" b="1" u="sng" dirty="0">
                <a:latin typeface="Calibri" pitchFamily="34" charset="0"/>
              </a:rPr>
              <a:t>Bacterial </a:t>
            </a:r>
            <a:r>
              <a:rPr lang="en-US" sz="2000" b="1" u="sng" dirty="0" err="1">
                <a:latin typeface="Calibri" pitchFamily="34" charset="0"/>
              </a:rPr>
              <a:t>symbiont</a:t>
            </a:r>
            <a:r>
              <a:rPr lang="en-US" sz="2000" dirty="0">
                <a:latin typeface="Calibri" pitchFamily="34" charset="0"/>
              </a:rPr>
              <a:t/>
            </a:r>
            <a:br>
              <a:rPr lang="en-US" sz="2000" dirty="0">
                <a:latin typeface="Calibri" pitchFamily="34" charset="0"/>
              </a:rPr>
            </a:br>
            <a:endParaRPr lang="en-US" sz="2000" dirty="0">
              <a:latin typeface="Calibri" pitchFamily="34" charset="0"/>
            </a:endParaRPr>
          </a:p>
          <a:p>
            <a:r>
              <a:rPr lang="en-US" sz="2000" dirty="0">
                <a:latin typeface="Calibri" pitchFamily="34" charset="0"/>
              </a:rPr>
              <a:t>Alfalfa				</a:t>
            </a:r>
            <a:r>
              <a:rPr lang="en-US" sz="2000" i="1" dirty="0" err="1">
                <a:latin typeface="Calibri" pitchFamily="34" charset="0"/>
              </a:rPr>
              <a:t>Rhizobium</a:t>
            </a:r>
            <a:r>
              <a:rPr lang="en-US" sz="2000" i="1" dirty="0">
                <a:latin typeface="Calibri" pitchFamily="34" charset="0"/>
              </a:rPr>
              <a:t> </a:t>
            </a:r>
            <a:r>
              <a:rPr lang="en-US" sz="2000" i="1" dirty="0" err="1">
                <a:latin typeface="Calibri" pitchFamily="34" charset="0"/>
              </a:rPr>
              <a:t>meliloti</a:t>
            </a:r>
            <a:endParaRPr lang="en-US" sz="2000" i="1" dirty="0">
              <a:latin typeface="Calibri" pitchFamily="34" charset="0"/>
            </a:endParaRPr>
          </a:p>
          <a:p>
            <a:r>
              <a:rPr lang="en-US" sz="2000" dirty="0">
                <a:latin typeface="Calibri" pitchFamily="34" charset="0"/>
              </a:rPr>
              <a:t>Clover				</a:t>
            </a:r>
            <a:r>
              <a:rPr lang="en-US" sz="2000" i="1" dirty="0" err="1">
                <a:latin typeface="Calibri" pitchFamily="34" charset="0"/>
              </a:rPr>
              <a:t>Rhizobium</a:t>
            </a:r>
            <a:r>
              <a:rPr lang="en-US" sz="2000" i="1" dirty="0">
                <a:latin typeface="Calibri" pitchFamily="34" charset="0"/>
              </a:rPr>
              <a:t> </a:t>
            </a:r>
            <a:r>
              <a:rPr lang="en-US" sz="2000" i="1" dirty="0" err="1">
                <a:latin typeface="Calibri" pitchFamily="34" charset="0"/>
              </a:rPr>
              <a:t>trifolii</a:t>
            </a:r>
            <a:endParaRPr lang="en-US" sz="2000" i="1" dirty="0">
              <a:latin typeface="Calibri" pitchFamily="34" charset="0"/>
            </a:endParaRPr>
          </a:p>
          <a:p>
            <a:r>
              <a:rPr lang="en-US" sz="2000" dirty="0">
                <a:latin typeface="Calibri" pitchFamily="34" charset="0"/>
              </a:rPr>
              <a:t>Soybean</a:t>
            </a:r>
            <a:r>
              <a:rPr lang="en-US" sz="2000" i="1" dirty="0">
                <a:latin typeface="Calibri" pitchFamily="34" charset="0"/>
              </a:rPr>
              <a:t>	</a:t>
            </a:r>
            <a:r>
              <a:rPr lang="en-US" sz="2000" dirty="0">
                <a:latin typeface="Calibri" pitchFamily="34" charset="0"/>
              </a:rPr>
              <a:t>		</a:t>
            </a:r>
            <a:r>
              <a:rPr lang="en-US" sz="2000" dirty="0" smtClean="0">
                <a:latin typeface="Calibri" pitchFamily="34" charset="0"/>
              </a:rPr>
              <a:t>              </a:t>
            </a:r>
            <a:r>
              <a:rPr lang="en-US" sz="2000" i="1" dirty="0" err="1" smtClean="0">
                <a:latin typeface="Calibri" pitchFamily="34" charset="0"/>
              </a:rPr>
              <a:t>Bradyrhizobium</a:t>
            </a:r>
            <a:r>
              <a:rPr lang="en-US" sz="2000" i="1" dirty="0" smtClean="0">
                <a:latin typeface="Calibri" pitchFamily="34" charset="0"/>
              </a:rPr>
              <a:t> </a:t>
            </a:r>
            <a:r>
              <a:rPr lang="en-US" sz="2000" i="1" dirty="0" err="1">
                <a:latin typeface="Calibri" pitchFamily="34" charset="0"/>
              </a:rPr>
              <a:t>japonicum</a:t>
            </a:r>
            <a:endParaRPr lang="en-US" sz="2000" dirty="0">
              <a:latin typeface="Calibri" pitchFamily="34" charset="0"/>
            </a:endParaRPr>
          </a:p>
          <a:p>
            <a:r>
              <a:rPr lang="en-US" sz="2000" dirty="0">
                <a:latin typeface="Calibri" pitchFamily="34" charset="0"/>
              </a:rPr>
              <a:t>Beans				</a:t>
            </a:r>
            <a:r>
              <a:rPr lang="en-US" sz="2000" i="1" dirty="0" err="1">
                <a:latin typeface="Calibri" pitchFamily="34" charset="0"/>
              </a:rPr>
              <a:t>Rhizobium</a:t>
            </a:r>
            <a:r>
              <a:rPr lang="en-US" sz="2000" i="1" dirty="0">
                <a:latin typeface="Calibri" pitchFamily="34" charset="0"/>
              </a:rPr>
              <a:t> </a:t>
            </a:r>
            <a:r>
              <a:rPr lang="en-US" sz="2000" i="1" dirty="0" err="1">
                <a:latin typeface="Calibri" pitchFamily="34" charset="0"/>
              </a:rPr>
              <a:t>phaseoli</a:t>
            </a:r>
            <a:endParaRPr lang="en-US" sz="2000" dirty="0">
              <a:latin typeface="Calibri" pitchFamily="34" charset="0"/>
            </a:endParaRPr>
          </a:p>
          <a:p>
            <a:r>
              <a:rPr lang="en-US" sz="2000" dirty="0">
                <a:latin typeface="Calibri" pitchFamily="34" charset="0"/>
              </a:rPr>
              <a:t>Pea				</a:t>
            </a:r>
            <a:r>
              <a:rPr lang="en-US" sz="2000" i="1" dirty="0" err="1">
                <a:latin typeface="Calibri" pitchFamily="34" charset="0"/>
              </a:rPr>
              <a:t>Rhizobium</a:t>
            </a:r>
            <a:r>
              <a:rPr lang="en-US" sz="2000" i="1" dirty="0">
                <a:latin typeface="Calibri" pitchFamily="34" charset="0"/>
              </a:rPr>
              <a:t> </a:t>
            </a:r>
            <a:r>
              <a:rPr lang="en-US" sz="2000" i="1" dirty="0" err="1">
                <a:latin typeface="Calibri" pitchFamily="34" charset="0"/>
              </a:rPr>
              <a:t>leguminosarum</a:t>
            </a:r>
            <a:endParaRPr lang="en-US" sz="2000" dirty="0">
              <a:latin typeface="Calibri" pitchFamily="34" charset="0"/>
            </a:endParaRPr>
          </a:p>
          <a:p>
            <a:r>
              <a:rPr lang="en-US" sz="2000" i="1" dirty="0" err="1">
                <a:latin typeface="Calibri" pitchFamily="34" charset="0"/>
              </a:rPr>
              <a:t>Sesbania</a:t>
            </a:r>
            <a:r>
              <a:rPr lang="en-US" sz="2000" i="1" dirty="0">
                <a:latin typeface="Calibri" pitchFamily="34" charset="0"/>
              </a:rPr>
              <a:t>			</a:t>
            </a:r>
            <a:r>
              <a:rPr lang="en-US" sz="2000" i="1" dirty="0" smtClean="0">
                <a:latin typeface="Calibri" pitchFamily="34" charset="0"/>
              </a:rPr>
              <a:t>              </a:t>
            </a:r>
            <a:r>
              <a:rPr lang="en-US" sz="2000" i="1" dirty="0" err="1" smtClean="0">
                <a:latin typeface="Calibri" pitchFamily="34" charset="0"/>
              </a:rPr>
              <a:t>Azorhizobium</a:t>
            </a:r>
            <a:r>
              <a:rPr lang="en-US" sz="2000" i="1" dirty="0" smtClean="0">
                <a:latin typeface="Calibri" pitchFamily="34" charset="0"/>
              </a:rPr>
              <a:t> </a:t>
            </a:r>
            <a:r>
              <a:rPr lang="en-US" sz="2000" i="1" dirty="0" err="1">
                <a:latin typeface="Calibri" pitchFamily="34" charset="0"/>
              </a:rPr>
              <a:t>caulinodans</a:t>
            </a:r>
            <a:endParaRPr lang="en-US" sz="2400" i="1" dirty="0">
              <a:latin typeface="Calibri" pitchFamily="34" charset="0"/>
            </a:endParaRPr>
          </a:p>
          <a:p>
            <a:endParaRPr lang="en-US" sz="2800" dirty="0">
              <a:latin typeface="Calibri" pitchFamily="34" charset="0"/>
            </a:endParaRPr>
          </a:p>
          <a:p>
            <a:endParaRPr lang="en-US" sz="2400" dirty="0">
              <a:solidFill>
                <a:schemeClr val="tx2"/>
              </a:solidFill>
              <a:latin typeface="Calibri" pitchFamily="34" charset="0"/>
            </a:endParaRPr>
          </a:p>
          <a:p>
            <a:r>
              <a:rPr lang="en-US" sz="2400" b="1" dirty="0">
                <a:latin typeface="Calibri" pitchFamily="34" charset="0"/>
              </a:rPr>
              <a:t>Both plant and bacterial factors determine specificity</a:t>
            </a:r>
          </a:p>
        </p:txBody>
      </p:sp>
      <p:sp>
        <p:nvSpPr>
          <p:cNvPr id="107523" name="Rectangle 3"/>
          <p:cNvSpPr>
            <a:spLocks noChangeArrowheads="1"/>
          </p:cNvSpPr>
          <p:nvPr/>
        </p:nvSpPr>
        <p:spPr bwMode="auto">
          <a:xfrm>
            <a:off x="1754188" y="685800"/>
            <a:ext cx="5638800" cy="579438"/>
          </a:xfrm>
          <a:prstGeom prst="rect">
            <a:avLst/>
          </a:prstGeom>
          <a:noFill/>
          <a:ln w="9525">
            <a:noFill/>
            <a:miter lim="800000"/>
            <a:headEnd/>
            <a:tailEnd/>
          </a:ln>
        </p:spPr>
        <p:txBody>
          <a:bodyPr>
            <a:spAutoFit/>
          </a:bodyPr>
          <a:lstStyle/>
          <a:p>
            <a:r>
              <a:rPr lang="en-US" sz="3200" i="1" dirty="0" err="1">
                <a:solidFill>
                  <a:srgbClr val="FF0000"/>
                </a:solidFill>
                <a:latin typeface="Calibri" pitchFamily="34" charset="0"/>
              </a:rPr>
              <a:t>Rhizobium</a:t>
            </a:r>
            <a:r>
              <a:rPr lang="en-US" sz="3200" dirty="0">
                <a:solidFill>
                  <a:srgbClr val="FF0000"/>
                </a:solidFill>
                <a:latin typeface="Calibri" pitchFamily="34" charset="0"/>
              </a:rPr>
              <a:t>-legume symbioses </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descr="nodule"/>
          <p:cNvPicPr>
            <a:picLocks noChangeAspect="1" noChangeArrowheads="1"/>
          </p:cNvPicPr>
          <p:nvPr/>
        </p:nvPicPr>
        <p:blipFill>
          <a:blip r:embed="rId2"/>
          <a:srcRect/>
          <a:stretch>
            <a:fillRect/>
          </a:stretch>
        </p:blipFill>
        <p:spPr bwMode="auto">
          <a:xfrm>
            <a:off x="2667000" y="609600"/>
            <a:ext cx="5543550" cy="3074988"/>
          </a:xfrm>
          <a:prstGeom prst="rect">
            <a:avLst/>
          </a:prstGeom>
          <a:noFill/>
          <a:ln w="9525">
            <a:noFill/>
            <a:miter lim="800000"/>
            <a:headEnd/>
            <a:tailEnd/>
          </a:ln>
        </p:spPr>
      </p:pic>
      <p:sp>
        <p:nvSpPr>
          <p:cNvPr id="108547" name="Rectangle 3"/>
          <p:cNvSpPr>
            <a:spLocks noChangeArrowheads="1"/>
          </p:cNvSpPr>
          <p:nvPr/>
        </p:nvSpPr>
        <p:spPr bwMode="auto">
          <a:xfrm>
            <a:off x="3048000" y="4191000"/>
            <a:ext cx="4572000" cy="2047875"/>
          </a:xfrm>
          <a:prstGeom prst="rect">
            <a:avLst/>
          </a:prstGeom>
          <a:noFill/>
          <a:ln w="9525">
            <a:noFill/>
            <a:miter lim="800000"/>
            <a:headEnd/>
            <a:tailEnd/>
          </a:ln>
        </p:spPr>
        <p:txBody>
          <a:bodyPr>
            <a:spAutoFit/>
          </a:bodyPr>
          <a:lstStyle/>
          <a:p>
            <a:pPr>
              <a:spcBef>
                <a:spcPct val="50000"/>
              </a:spcBef>
            </a:pPr>
            <a:r>
              <a:rPr lang="en-US" sz="1600">
                <a:latin typeface="Comic Sans MS" pitchFamily="66" charset="0"/>
              </a:rPr>
              <a:t>Clover root nodules showing two partly crushed nodules (arrowheads) with pink-colored contents. This color is caused  by the presence of the pigment leghemoglobin - a unique metabolite of this type of symbiosis. Leghemoglobin is found only in the nodules and  is not produced by either the bacterium or the plant when grown alone.</a:t>
            </a:r>
          </a:p>
        </p:txBody>
      </p:sp>
      <p:sp>
        <p:nvSpPr>
          <p:cNvPr id="108548" name="Rectangle 4"/>
          <p:cNvSpPr>
            <a:spLocks noChangeArrowheads="1"/>
          </p:cNvSpPr>
          <p:nvPr/>
        </p:nvSpPr>
        <p:spPr bwMode="auto">
          <a:xfrm>
            <a:off x="304800" y="609600"/>
            <a:ext cx="1524000" cy="2781300"/>
          </a:xfrm>
          <a:prstGeom prst="rect">
            <a:avLst/>
          </a:prstGeom>
          <a:noFill/>
          <a:ln w="9525">
            <a:noFill/>
            <a:miter lim="800000"/>
            <a:headEnd/>
            <a:tailEnd/>
          </a:ln>
        </p:spPr>
        <p:txBody>
          <a:bodyPr>
            <a:spAutoFit/>
          </a:bodyPr>
          <a:lstStyle/>
          <a:p>
            <a:r>
              <a:rPr lang="en-US" sz="1600">
                <a:latin typeface="Comic Sans MS" pitchFamily="66" charset="0"/>
              </a:rPr>
              <a:t>Part of a clover root system bearing naturally occurring nodules of Rhizobium.</a:t>
            </a:r>
          </a:p>
          <a:p>
            <a:r>
              <a:rPr lang="en-US" sz="1600">
                <a:latin typeface="Comic Sans MS" pitchFamily="66" charset="0"/>
              </a:rPr>
              <a:t>Each nodule is about 2-3 mm long</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endParaRPr lang="en-US" smtClean="0"/>
          </a:p>
        </p:txBody>
      </p:sp>
      <p:sp>
        <p:nvSpPr>
          <p:cNvPr id="109571" name="Rectangle 3"/>
          <p:cNvSpPr>
            <a:spLocks noGrp="1" noChangeArrowheads="1"/>
          </p:cNvSpPr>
          <p:nvPr>
            <p:ph idx="1"/>
          </p:nvPr>
        </p:nvSpPr>
        <p:spPr/>
        <p:txBody>
          <a:bodyPr/>
          <a:lstStyle/>
          <a:p>
            <a:pPr eaLnBrk="1" hangingPunct="1"/>
            <a:endParaRPr lang="en-US" smtClean="0"/>
          </a:p>
        </p:txBody>
      </p:sp>
      <p:pic>
        <p:nvPicPr>
          <p:cNvPr id="109572" name="Picture 4" descr="Nods_on_beans_LR"/>
          <p:cNvPicPr>
            <a:picLocks noChangeAspect="1" noChangeArrowheads="1"/>
          </p:cNvPicPr>
          <p:nvPr/>
        </p:nvPicPr>
        <p:blipFill>
          <a:blip r:embed="rId2"/>
          <a:srcRect/>
          <a:stretch>
            <a:fillRect/>
          </a:stretch>
        </p:blipFill>
        <p:spPr bwMode="auto">
          <a:xfrm>
            <a:off x="1143000" y="1166813"/>
            <a:ext cx="6858000" cy="4524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3600"/>
              <a:t>Plant-associated nitrogen fixation: the endophytes and epiphytes</a:t>
            </a:r>
          </a:p>
        </p:txBody>
      </p:sp>
      <p:sp>
        <p:nvSpPr>
          <p:cNvPr id="110595" name="Text Box 3"/>
          <p:cNvSpPr txBox="1">
            <a:spLocks noChangeArrowheads="1"/>
          </p:cNvSpPr>
          <p:nvPr/>
        </p:nvSpPr>
        <p:spPr bwMode="auto">
          <a:xfrm>
            <a:off x="2706688" y="1828800"/>
            <a:ext cx="3694112" cy="457200"/>
          </a:xfrm>
          <a:prstGeom prst="rect">
            <a:avLst/>
          </a:prstGeom>
          <a:noFill/>
          <a:ln w="9525">
            <a:noFill/>
            <a:miter lim="800000"/>
            <a:headEnd/>
            <a:tailEnd/>
          </a:ln>
        </p:spPr>
        <p:txBody>
          <a:bodyPr wrap="none">
            <a:spAutoFit/>
          </a:bodyPr>
          <a:lstStyle/>
          <a:p>
            <a:pPr algn="ctr"/>
            <a:r>
              <a:rPr lang="en-US" sz="2400" i="1">
                <a:latin typeface="Calibri" pitchFamily="34" charset="0"/>
              </a:rPr>
              <a:t>Acetobacter diazotropicus</a:t>
            </a:r>
            <a:endParaRPr lang="en-US" sz="2400">
              <a:latin typeface="Calibri" pitchFamily="34" charset="0"/>
            </a:endParaRPr>
          </a:p>
        </p:txBody>
      </p:sp>
      <p:sp>
        <p:nvSpPr>
          <p:cNvPr id="110596" name="Rectangle 4"/>
          <p:cNvSpPr>
            <a:spLocks noChangeArrowheads="1"/>
          </p:cNvSpPr>
          <p:nvPr/>
        </p:nvSpPr>
        <p:spPr bwMode="auto">
          <a:xfrm>
            <a:off x="0" y="2513013"/>
            <a:ext cx="9144000" cy="0"/>
          </a:xfrm>
          <a:prstGeom prst="rect">
            <a:avLst/>
          </a:prstGeom>
          <a:noFill/>
          <a:ln w="9525">
            <a:noFill/>
            <a:miter lim="800000"/>
            <a:headEnd/>
            <a:tailEnd/>
          </a:ln>
        </p:spPr>
        <p:txBody>
          <a:bodyPr>
            <a:spAutoFit/>
          </a:bodyPr>
          <a:lstStyle/>
          <a:p>
            <a:endParaRPr lang="en-US">
              <a:latin typeface="Calibri" pitchFamily="34" charset="0"/>
            </a:endParaRPr>
          </a:p>
        </p:txBody>
      </p:sp>
      <p:pic>
        <p:nvPicPr>
          <p:cNvPr id="110597" name="Picture 5" descr="ad.jpg (8627 bytes)"/>
          <p:cNvPicPr>
            <a:picLocks noChangeAspect="1" noChangeArrowheads="1"/>
          </p:cNvPicPr>
          <p:nvPr/>
        </p:nvPicPr>
        <p:blipFill>
          <a:blip r:embed="rId2"/>
          <a:srcRect/>
          <a:stretch>
            <a:fillRect/>
          </a:stretch>
        </p:blipFill>
        <p:spPr bwMode="auto">
          <a:xfrm>
            <a:off x="228600" y="3267075"/>
            <a:ext cx="3657600" cy="3260725"/>
          </a:xfrm>
          <a:prstGeom prst="rect">
            <a:avLst/>
          </a:prstGeom>
          <a:noFill/>
          <a:ln w="9525">
            <a:noFill/>
            <a:miter lim="800000"/>
            <a:headEnd/>
            <a:tailEnd/>
          </a:ln>
        </p:spPr>
      </p:pic>
      <p:sp>
        <p:nvSpPr>
          <p:cNvPr id="110598" name="Rectangle 6"/>
          <p:cNvSpPr>
            <a:spLocks noChangeArrowheads="1"/>
          </p:cNvSpPr>
          <p:nvPr/>
        </p:nvSpPr>
        <p:spPr bwMode="auto">
          <a:xfrm>
            <a:off x="381000" y="2362200"/>
            <a:ext cx="8534400" cy="400110"/>
          </a:xfrm>
          <a:prstGeom prst="rect">
            <a:avLst/>
          </a:prstGeom>
          <a:noFill/>
          <a:ln w="9525">
            <a:noFill/>
            <a:miter lim="800000"/>
            <a:headEnd/>
            <a:tailEnd/>
          </a:ln>
        </p:spPr>
        <p:txBody>
          <a:bodyPr>
            <a:spAutoFit/>
          </a:bodyPr>
          <a:lstStyle/>
          <a:p>
            <a:pPr algn="ctr"/>
            <a:r>
              <a:rPr lang="en-US" sz="2000" dirty="0">
                <a:latin typeface="Calibri" pitchFamily="34" charset="0"/>
              </a:rPr>
              <a:t>Lives as an </a:t>
            </a:r>
            <a:r>
              <a:rPr lang="en-US" sz="2000" dirty="0" err="1">
                <a:latin typeface="Calibri" pitchFamily="34" charset="0"/>
              </a:rPr>
              <a:t>endophyte</a:t>
            </a:r>
            <a:r>
              <a:rPr lang="en-US" sz="2000" dirty="0">
                <a:latin typeface="Calibri" pitchFamily="34" charset="0"/>
              </a:rPr>
              <a:t> of sugarcane and various other monocots and some </a:t>
            </a:r>
            <a:r>
              <a:rPr lang="en-US" sz="2000" dirty="0" err="1">
                <a:latin typeface="Calibri" pitchFamily="34" charset="0"/>
              </a:rPr>
              <a:t>dicots</a:t>
            </a:r>
            <a:endParaRPr lang="en-US" sz="2000" dirty="0">
              <a:latin typeface="Calibri" pitchFamily="34" charset="0"/>
            </a:endParaRPr>
          </a:p>
        </p:txBody>
      </p:sp>
      <p:sp>
        <p:nvSpPr>
          <p:cNvPr id="110599" name="Rectangle 7"/>
          <p:cNvSpPr>
            <a:spLocks noChangeArrowheads="1"/>
          </p:cNvSpPr>
          <p:nvPr/>
        </p:nvSpPr>
        <p:spPr bwMode="auto">
          <a:xfrm>
            <a:off x="0" y="2513013"/>
            <a:ext cx="9144000" cy="0"/>
          </a:xfrm>
          <a:prstGeom prst="rect">
            <a:avLst/>
          </a:prstGeom>
          <a:noFill/>
          <a:ln w="9525">
            <a:noFill/>
            <a:miter lim="800000"/>
            <a:headEnd/>
            <a:tailEnd/>
          </a:ln>
        </p:spPr>
        <p:txBody>
          <a:bodyPr>
            <a:spAutoFit/>
          </a:bodyPr>
          <a:lstStyle/>
          <a:p>
            <a:endParaRPr lang="en-US">
              <a:latin typeface="Calibri" pitchFamily="34" charset="0"/>
            </a:endParaRPr>
          </a:p>
        </p:txBody>
      </p:sp>
      <p:sp>
        <p:nvSpPr>
          <p:cNvPr id="110600" name="Text Box 8"/>
          <p:cNvSpPr txBox="1">
            <a:spLocks noChangeArrowheads="1"/>
          </p:cNvSpPr>
          <p:nvPr/>
        </p:nvSpPr>
        <p:spPr bwMode="auto">
          <a:xfrm>
            <a:off x="5291138" y="2743200"/>
            <a:ext cx="2100262" cy="457200"/>
          </a:xfrm>
          <a:prstGeom prst="rect">
            <a:avLst/>
          </a:prstGeom>
          <a:noFill/>
          <a:ln w="9525">
            <a:noFill/>
            <a:miter lim="800000"/>
            <a:headEnd/>
            <a:tailEnd/>
          </a:ln>
        </p:spPr>
        <p:txBody>
          <a:bodyPr wrap="none">
            <a:spAutoFit/>
          </a:bodyPr>
          <a:lstStyle/>
          <a:p>
            <a:pPr algn="ctr"/>
            <a:r>
              <a:rPr lang="en-US" sz="2400">
                <a:solidFill>
                  <a:schemeClr val="tx2"/>
                </a:solidFill>
                <a:latin typeface="Calibri" pitchFamily="34" charset="0"/>
              </a:rPr>
              <a:t>On sugarcane</a:t>
            </a:r>
          </a:p>
        </p:txBody>
      </p:sp>
      <p:pic>
        <p:nvPicPr>
          <p:cNvPr id="110601" name="Picture 9" descr="cane-n60d"/>
          <p:cNvPicPr>
            <a:picLocks noChangeAspect="1" noChangeArrowheads="1"/>
          </p:cNvPicPr>
          <p:nvPr/>
        </p:nvPicPr>
        <p:blipFill>
          <a:blip r:embed="rId3"/>
          <a:srcRect/>
          <a:stretch>
            <a:fillRect/>
          </a:stretch>
        </p:blipFill>
        <p:spPr bwMode="auto">
          <a:xfrm>
            <a:off x="4114800" y="3276600"/>
            <a:ext cx="4876800" cy="3238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nF22"/>
          <p:cNvPicPr>
            <a:picLocks noChangeAspect="1" noChangeArrowheads="1"/>
          </p:cNvPicPr>
          <p:nvPr/>
        </p:nvPicPr>
        <p:blipFill>
          <a:blip r:embed="rId2"/>
          <a:srcRect/>
          <a:stretch>
            <a:fillRect/>
          </a:stretch>
        </p:blipFill>
        <p:spPr bwMode="auto">
          <a:xfrm>
            <a:off x="457200" y="1752600"/>
            <a:ext cx="4572000" cy="3016250"/>
          </a:xfrm>
          <a:prstGeom prst="rect">
            <a:avLst/>
          </a:prstGeom>
          <a:noFill/>
          <a:ln w="9525">
            <a:noFill/>
            <a:miter lim="800000"/>
            <a:headEnd/>
            <a:tailEnd/>
          </a:ln>
        </p:spPr>
      </p:pic>
      <p:pic>
        <p:nvPicPr>
          <p:cNvPr id="111619" name="Picture 3" descr="welfia"/>
          <p:cNvPicPr>
            <a:picLocks noChangeAspect="1" noChangeArrowheads="1"/>
          </p:cNvPicPr>
          <p:nvPr/>
        </p:nvPicPr>
        <p:blipFill>
          <a:blip r:embed="rId3"/>
          <a:srcRect/>
          <a:stretch>
            <a:fillRect/>
          </a:stretch>
        </p:blipFill>
        <p:spPr bwMode="auto">
          <a:xfrm>
            <a:off x="5867400" y="1447800"/>
            <a:ext cx="2351088" cy="2857500"/>
          </a:xfrm>
          <a:prstGeom prst="rect">
            <a:avLst/>
          </a:prstGeom>
          <a:noFill/>
          <a:ln w="9525">
            <a:noFill/>
            <a:miter lim="800000"/>
            <a:headEnd/>
            <a:tailEnd/>
          </a:ln>
        </p:spPr>
      </p:pic>
      <p:sp>
        <p:nvSpPr>
          <p:cNvPr id="111620" name="Line 4"/>
          <p:cNvSpPr>
            <a:spLocks noChangeShapeType="1"/>
          </p:cNvSpPr>
          <p:nvPr/>
        </p:nvSpPr>
        <p:spPr bwMode="auto">
          <a:xfrm flipV="1">
            <a:off x="3733800" y="1447800"/>
            <a:ext cx="2133600" cy="838200"/>
          </a:xfrm>
          <a:prstGeom prst="line">
            <a:avLst/>
          </a:prstGeom>
          <a:noFill/>
          <a:ln w="28575">
            <a:solidFill>
              <a:schemeClr val="tx1"/>
            </a:solidFill>
            <a:round/>
            <a:headEnd/>
            <a:tailEnd/>
          </a:ln>
        </p:spPr>
        <p:txBody>
          <a:bodyPr/>
          <a:lstStyle/>
          <a:p>
            <a:endParaRPr lang="en-US"/>
          </a:p>
        </p:txBody>
      </p:sp>
      <p:sp>
        <p:nvSpPr>
          <p:cNvPr id="111621" name="Line 5"/>
          <p:cNvSpPr>
            <a:spLocks noChangeShapeType="1"/>
          </p:cNvSpPr>
          <p:nvPr/>
        </p:nvSpPr>
        <p:spPr bwMode="auto">
          <a:xfrm>
            <a:off x="3505200" y="2590800"/>
            <a:ext cx="2362200" cy="1676400"/>
          </a:xfrm>
          <a:prstGeom prst="line">
            <a:avLst/>
          </a:prstGeom>
          <a:noFill/>
          <a:ln w="28575">
            <a:solidFill>
              <a:schemeClr val="tx1"/>
            </a:solidFill>
            <a:round/>
            <a:headEnd/>
            <a:tailEnd/>
          </a:ln>
        </p:spPr>
        <p:txBody>
          <a:bodyPr/>
          <a:lstStyle/>
          <a:p>
            <a:endParaRPr lang="en-US"/>
          </a:p>
        </p:txBody>
      </p:sp>
      <p:sp>
        <p:nvSpPr>
          <p:cNvPr id="111622" name="Text Box 6"/>
          <p:cNvSpPr txBox="1">
            <a:spLocks noChangeArrowheads="1"/>
          </p:cNvSpPr>
          <p:nvPr/>
        </p:nvSpPr>
        <p:spPr bwMode="auto">
          <a:xfrm>
            <a:off x="304800" y="381000"/>
            <a:ext cx="8382000" cy="822325"/>
          </a:xfrm>
          <a:prstGeom prst="rect">
            <a:avLst/>
          </a:prstGeom>
          <a:noFill/>
          <a:ln w="9525">
            <a:noFill/>
            <a:miter lim="800000"/>
            <a:headEnd/>
            <a:tailEnd/>
          </a:ln>
        </p:spPr>
        <p:txBody>
          <a:bodyPr>
            <a:spAutoFit/>
          </a:bodyPr>
          <a:lstStyle/>
          <a:p>
            <a:pPr algn="ctr"/>
            <a:r>
              <a:rPr lang="en-US" sz="2400">
                <a:latin typeface="Calibri" pitchFamily="34" charset="0"/>
              </a:rPr>
              <a:t>Another cyanobacterium on the palm </a:t>
            </a:r>
            <a:r>
              <a:rPr lang="en-US" sz="2400" i="1">
                <a:latin typeface="Calibri" pitchFamily="34" charset="0"/>
              </a:rPr>
              <a:t>Welfia regia</a:t>
            </a:r>
            <a:r>
              <a:rPr lang="en-US" sz="2400">
                <a:latin typeface="Calibri" pitchFamily="34" charset="0"/>
              </a:rPr>
              <a:t> in an epiphyllic relationship</a:t>
            </a:r>
          </a:p>
        </p:txBody>
      </p:sp>
      <p:sp>
        <p:nvSpPr>
          <p:cNvPr id="111623" name="Text Box 7"/>
          <p:cNvSpPr txBox="1">
            <a:spLocks noChangeArrowheads="1"/>
          </p:cNvSpPr>
          <p:nvPr/>
        </p:nvSpPr>
        <p:spPr bwMode="auto">
          <a:xfrm>
            <a:off x="0" y="5105400"/>
            <a:ext cx="8763000" cy="822325"/>
          </a:xfrm>
          <a:prstGeom prst="rect">
            <a:avLst/>
          </a:prstGeom>
          <a:noFill/>
          <a:ln w="9525">
            <a:noFill/>
            <a:miter lim="800000"/>
            <a:headEnd/>
            <a:tailEnd/>
          </a:ln>
        </p:spPr>
        <p:txBody>
          <a:bodyPr>
            <a:spAutoFit/>
          </a:bodyPr>
          <a:lstStyle/>
          <a:p>
            <a:pPr algn="ctr"/>
            <a:r>
              <a:rPr lang="en-US" sz="2400">
                <a:latin typeface="Calibri" pitchFamily="34" charset="0"/>
              </a:rPr>
              <a:t>It is believed that these bacteria transfer some % of fixed N to the plants through the leaf surfaces</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bwMode="auto">
          <a:xfrm>
            <a:off x="1882775" y="3200400"/>
            <a:ext cx="5233988" cy="3494088"/>
            <a:chOff x="1632" y="384"/>
            <a:chExt cx="3921" cy="2617"/>
          </a:xfrm>
        </p:grpSpPr>
        <p:pic>
          <p:nvPicPr>
            <p:cNvPr id="112652" name="Picture 3" descr="sherperdia"/>
            <p:cNvPicPr>
              <a:picLocks noChangeAspect="1" noChangeArrowheads="1"/>
            </p:cNvPicPr>
            <p:nvPr/>
          </p:nvPicPr>
          <p:blipFill>
            <a:blip r:embed="rId3"/>
            <a:srcRect/>
            <a:stretch>
              <a:fillRect/>
            </a:stretch>
          </p:blipFill>
          <p:spPr bwMode="auto">
            <a:xfrm>
              <a:off x="1632" y="384"/>
              <a:ext cx="3921" cy="2617"/>
            </a:xfrm>
            <a:prstGeom prst="rect">
              <a:avLst/>
            </a:prstGeom>
            <a:noFill/>
            <a:ln w="9525">
              <a:noFill/>
              <a:miter lim="800000"/>
              <a:headEnd/>
              <a:tailEnd/>
            </a:ln>
          </p:spPr>
        </p:pic>
        <p:sp>
          <p:nvSpPr>
            <p:cNvPr id="112653" name="Text Box 4"/>
            <p:cNvSpPr txBox="1">
              <a:spLocks noChangeAspect="1" noChangeArrowheads="1"/>
            </p:cNvSpPr>
            <p:nvPr/>
          </p:nvSpPr>
          <p:spPr bwMode="auto">
            <a:xfrm>
              <a:off x="2237" y="2468"/>
              <a:ext cx="3012" cy="481"/>
            </a:xfrm>
            <a:prstGeom prst="rect">
              <a:avLst/>
            </a:prstGeom>
            <a:noFill/>
            <a:ln w="9525">
              <a:noFill/>
              <a:miter lim="800000"/>
              <a:headEnd/>
              <a:tailEnd/>
            </a:ln>
          </p:spPr>
          <p:txBody>
            <a:bodyPr wrap="none">
              <a:spAutoFit/>
            </a:bodyPr>
            <a:lstStyle/>
            <a:p>
              <a:pPr algn="ctr"/>
              <a:r>
                <a:rPr lang="en-US">
                  <a:solidFill>
                    <a:schemeClr val="bg1"/>
                  </a:solidFill>
                  <a:latin typeface="AHD Symbol Sans"/>
                </a:rPr>
                <a:t>Buffaloberry (</a:t>
              </a:r>
              <a:r>
                <a:rPr lang="en-US" i="1">
                  <a:solidFill>
                    <a:schemeClr val="bg1"/>
                  </a:solidFill>
                  <a:latin typeface="AHD Symbol Sans"/>
                </a:rPr>
                <a:t>Shepherdia argentea</a:t>
              </a:r>
              <a:r>
                <a:rPr lang="en-US">
                  <a:solidFill>
                    <a:schemeClr val="bg1"/>
                  </a:solidFill>
                  <a:latin typeface="AHD Symbol Sans"/>
                </a:rPr>
                <a:t>)</a:t>
              </a:r>
            </a:p>
            <a:p>
              <a:pPr algn="ctr"/>
              <a:r>
                <a:rPr lang="en-US">
                  <a:solidFill>
                    <a:schemeClr val="bg1"/>
                  </a:solidFill>
                  <a:latin typeface="AHD Symbol Sans"/>
                </a:rPr>
                <a:t>- actinorhizal shrub (Arizona)</a:t>
              </a:r>
            </a:p>
          </p:txBody>
        </p:sp>
      </p:grpSp>
      <p:sp>
        <p:nvSpPr>
          <p:cNvPr id="112643" name="Text Box 12"/>
          <p:cNvSpPr txBox="1">
            <a:spLocks noChangeArrowheads="1"/>
          </p:cNvSpPr>
          <p:nvPr/>
        </p:nvSpPr>
        <p:spPr bwMode="auto">
          <a:xfrm>
            <a:off x="457200" y="0"/>
            <a:ext cx="8153400" cy="2167966"/>
          </a:xfrm>
          <a:prstGeom prst="rect">
            <a:avLst/>
          </a:prstGeom>
          <a:noFill/>
          <a:ln w="9525">
            <a:noFill/>
            <a:miter lim="800000"/>
            <a:headEnd/>
            <a:tailEnd/>
          </a:ln>
        </p:spPr>
        <p:txBody>
          <a:bodyPr>
            <a:spAutoFit/>
          </a:bodyPr>
          <a:lstStyle/>
          <a:p>
            <a:r>
              <a:rPr lang="en-US" sz="2200" dirty="0">
                <a:latin typeface="Calibri" pitchFamily="34" charset="0"/>
              </a:rPr>
              <a:t>2)  </a:t>
            </a:r>
            <a:r>
              <a:rPr lang="en-US" sz="2400" dirty="0">
                <a:latin typeface="Calibri" pitchFamily="34" charset="0"/>
              </a:rPr>
              <a:t>Non-legume symbiotic plants –</a:t>
            </a:r>
          </a:p>
          <a:p>
            <a:pPr>
              <a:lnSpc>
                <a:spcPct val="50000"/>
              </a:lnSpc>
            </a:pPr>
            <a:endParaRPr lang="en-US" sz="2400" dirty="0">
              <a:latin typeface="Calibri" pitchFamily="34" charset="0"/>
            </a:endParaRPr>
          </a:p>
          <a:p>
            <a:pPr marL="406400" lvl="1" indent="-171450">
              <a:buFontTx/>
              <a:buChar char="•"/>
            </a:pPr>
            <a:r>
              <a:rPr lang="en-US" sz="2400" dirty="0">
                <a:solidFill>
                  <a:schemeClr val="bg1"/>
                </a:solidFill>
                <a:latin typeface="Calibri" pitchFamily="34" charset="0"/>
              </a:rPr>
              <a:t>“</a:t>
            </a:r>
            <a:r>
              <a:rPr lang="en-US" sz="2400" dirty="0" err="1">
                <a:latin typeface="Calibri" pitchFamily="34" charset="0"/>
              </a:rPr>
              <a:t>Actinorhizal</a:t>
            </a:r>
            <a:r>
              <a:rPr lang="en-US" sz="2400" dirty="0">
                <a:latin typeface="Calibri" pitchFamily="34" charset="0"/>
              </a:rPr>
              <a:t>”= associated with </a:t>
            </a:r>
            <a:r>
              <a:rPr lang="en-US" sz="2400" dirty="0" err="1">
                <a:latin typeface="Calibri" pitchFamily="34" charset="0"/>
              </a:rPr>
              <a:t>actinomycetes</a:t>
            </a:r>
            <a:r>
              <a:rPr lang="en-US" sz="2400" dirty="0">
                <a:latin typeface="Calibri" pitchFamily="34" charset="0"/>
              </a:rPr>
              <a:t> (N</a:t>
            </a:r>
            <a:r>
              <a:rPr lang="en-US" sz="2400" baseline="-25000" dirty="0">
                <a:latin typeface="Calibri" pitchFamily="34" charset="0"/>
              </a:rPr>
              <a:t>2</a:t>
            </a:r>
            <a:r>
              <a:rPr lang="en-US" sz="2400" dirty="0">
                <a:latin typeface="Calibri" pitchFamily="34" charset="0"/>
              </a:rPr>
              <a:t>-fixing bacteria)</a:t>
            </a:r>
          </a:p>
          <a:p>
            <a:pPr lvl="2" indent="-227013">
              <a:buFontTx/>
              <a:buChar char="•"/>
            </a:pPr>
            <a:r>
              <a:rPr lang="en-US" sz="2400" dirty="0">
                <a:latin typeface="Calibri" pitchFamily="34" charset="0"/>
              </a:rPr>
              <a:t>genus </a:t>
            </a:r>
            <a:r>
              <a:rPr lang="en-US" sz="2400" i="1" dirty="0" err="1">
                <a:latin typeface="Calibri" pitchFamily="34" charset="0"/>
              </a:rPr>
              <a:t>Frankia</a:t>
            </a:r>
            <a:endParaRPr lang="en-US" sz="2400" dirty="0">
              <a:latin typeface="Calibri" pitchFamily="34" charset="0"/>
            </a:endParaRPr>
          </a:p>
          <a:p>
            <a:pPr marL="406400" lvl="1" indent="-171450">
              <a:lnSpc>
                <a:spcPct val="120000"/>
              </a:lnSpc>
              <a:buFontTx/>
              <a:buChar char="•"/>
            </a:pPr>
            <a:r>
              <a:rPr lang="en-US" sz="2400" dirty="0" smtClean="0">
                <a:latin typeface="Calibri" pitchFamily="34" charset="0"/>
              </a:rPr>
              <a:t>Usually woody species – </a:t>
            </a:r>
            <a:r>
              <a:rPr lang="en-US" sz="2400" dirty="0">
                <a:latin typeface="Calibri" pitchFamily="34" charset="0"/>
              </a:rPr>
              <a:t>e.g. Alders, </a:t>
            </a:r>
            <a:r>
              <a:rPr lang="en-US" sz="2400" i="1" dirty="0" err="1">
                <a:latin typeface="Calibri" pitchFamily="34" charset="0"/>
              </a:rPr>
              <a:t>Ceanothus</a:t>
            </a:r>
            <a:endParaRPr lang="en-US" sz="2400" i="1" dirty="0">
              <a:latin typeface="Calibri" pitchFamily="34" charset="0"/>
            </a:endParaRPr>
          </a:p>
        </p:txBody>
      </p:sp>
      <p:grpSp>
        <p:nvGrpSpPr>
          <p:cNvPr id="3" name="Group 17"/>
          <p:cNvGrpSpPr>
            <a:grpSpLocks/>
          </p:cNvGrpSpPr>
          <p:nvPr/>
        </p:nvGrpSpPr>
        <p:grpSpPr bwMode="auto">
          <a:xfrm>
            <a:off x="152400" y="2286000"/>
            <a:ext cx="8813800" cy="3581400"/>
            <a:chOff x="96" y="1295"/>
            <a:chExt cx="5552" cy="2401"/>
          </a:xfrm>
        </p:grpSpPr>
        <p:grpSp>
          <p:nvGrpSpPr>
            <p:cNvPr id="4" name="Group 14"/>
            <p:cNvGrpSpPr>
              <a:grpSpLocks/>
            </p:cNvGrpSpPr>
            <p:nvPr/>
          </p:nvGrpSpPr>
          <p:grpSpPr bwMode="auto">
            <a:xfrm>
              <a:off x="96" y="1295"/>
              <a:ext cx="2997" cy="2401"/>
              <a:chOff x="96" y="911"/>
              <a:chExt cx="2997" cy="2401"/>
            </a:xfrm>
          </p:grpSpPr>
          <p:pic>
            <p:nvPicPr>
              <p:cNvPr id="112650" name="Picture 9" descr="ceanothusvelutinus"/>
              <p:cNvPicPr>
                <a:picLocks noChangeAspect="1" noChangeArrowheads="1"/>
              </p:cNvPicPr>
              <p:nvPr/>
            </p:nvPicPr>
            <p:blipFill>
              <a:blip r:embed="rId4">
                <a:lum contrast="20000"/>
              </a:blip>
              <a:srcRect l="20932" t="4527"/>
              <a:stretch>
                <a:fillRect/>
              </a:stretch>
            </p:blipFill>
            <p:spPr bwMode="auto">
              <a:xfrm>
                <a:off x="96" y="911"/>
                <a:ext cx="2997" cy="2401"/>
              </a:xfrm>
              <a:prstGeom prst="rect">
                <a:avLst/>
              </a:prstGeom>
              <a:noFill/>
              <a:ln w="9525">
                <a:noFill/>
                <a:miter lim="800000"/>
                <a:headEnd/>
                <a:tailEnd/>
              </a:ln>
            </p:spPr>
          </p:pic>
          <p:sp>
            <p:nvSpPr>
              <p:cNvPr id="112651" name="Text Box 10"/>
              <p:cNvSpPr txBox="1">
                <a:spLocks noChangeAspect="1" noChangeArrowheads="1"/>
              </p:cNvSpPr>
              <p:nvPr/>
            </p:nvSpPr>
            <p:spPr bwMode="auto">
              <a:xfrm>
                <a:off x="192" y="977"/>
                <a:ext cx="2428" cy="231"/>
              </a:xfrm>
              <a:prstGeom prst="rect">
                <a:avLst/>
              </a:prstGeom>
              <a:noFill/>
              <a:ln w="9525">
                <a:noFill/>
                <a:miter lim="800000"/>
                <a:headEnd/>
                <a:tailEnd/>
              </a:ln>
            </p:spPr>
            <p:txBody>
              <a:bodyPr wrap="none">
                <a:spAutoFit/>
              </a:bodyPr>
              <a:lstStyle/>
              <a:p>
                <a:r>
                  <a:rPr lang="en-US" i="1">
                    <a:solidFill>
                      <a:schemeClr val="bg1"/>
                    </a:solidFill>
                    <a:latin typeface="AHD Symbol Sans"/>
                  </a:rPr>
                  <a:t>Ceanothus velutinus </a:t>
                </a:r>
                <a:r>
                  <a:rPr lang="en-US">
                    <a:solidFill>
                      <a:schemeClr val="bg1"/>
                    </a:solidFill>
                    <a:latin typeface="AHD Symbol Sans"/>
                  </a:rPr>
                  <a:t>- snowbrush</a:t>
                </a:r>
              </a:p>
            </p:txBody>
          </p:sp>
        </p:grpSp>
        <p:grpSp>
          <p:nvGrpSpPr>
            <p:cNvPr id="5" name="Group 13"/>
            <p:cNvGrpSpPr>
              <a:grpSpLocks/>
            </p:cNvGrpSpPr>
            <p:nvPr/>
          </p:nvGrpSpPr>
          <p:grpSpPr bwMode="auto">
            <a:xfrm>
              <a:off x="2784" y="1488"/>
              <a:ext cx="2864" cy="1776"/>
              <a:chOff x="2704" y="1824"/>
              <a:chExt cx="2864" cy="1776"/>
            </a:xfrm>
          </p:grpSpPr>
          <p:pic>
            <p:nvPicPr>
              <p:cNvPr id="112648" name="Picture 6" descr="ceanothusroots"/>
              <p:cNvPicPr>
                <a:picLocks noChangeAspect="1" noChangeArrowheads="1"/>
              </p:cNvPicPr>
              <p:nvPr/>
            </p:nvPicPr>
            <p:blipFill>
              <a:blip r:embed="rId5">
                <a:lum bright="-18000" contrast="12000"/>
              </a:blip>
              <a:srcRect t="11147" b="6363"/>
              <a:stretch>
                <a:fillRect/>
              </a:stretch>
            </p:blipFill>
            <p:spPr bwMode="auto">
              <a:xfrm>
                <a:off x="2704" y="1824"/>
                <a:ext cx="2864" cy="1776"/>
              </a:xfrm>
              <a:prstGeom prst="rect">
                <a:avLst/>
              </a:prstGeom>
              <a:noFill/>
              <a:ln w="9525">
                <a:noFill/>
                <a:miter lim="800000"/>
                <a:headEnd/>
                <a:tailEnd/>
              </a:ln>
            </p:spPr>
          </p:pic>
          <p:sp>
            <p:nvSpPr>
              <p:cNvPr id="112649" name="Text Box 7"/>
              <p:cNvSpPr txBox="1">
                <a:spLocks noChangeAspect="1" noChangeArrowheads="1"/>
              </p:cNvSpPr>
              <p:nvPr/>
            </p:nvSpPr>
            <p:spPr bwMode="auto">
              <a:xfrm>
                <a:off x="2727" y="3160"/>
                <a:ext cx="1628" cy="404"/>
              </a:xfrm>
              <a:prstGeom prst="rect">
                <a:avLst/>
              </a:prstGeom>
              <a:noFill/>
              <a:ln w="9525">
                <a:noFill/>
                <a:miter lim="800000"/>
                <a:headEnd/>
                <a:tailEnd/>
              </a:ln>
            </p:spPr>
            <p:txBody>
              <a:bodyPr wrap="none">
                <a:spAutoFit/>
              </a:bodyPr>
              <a:lstStyle/>
              <a:p>
                <a:r>
                  <a:rPr lang="en-US" i="1">
                    <a:solidFill>
                      <a:srgbClr val="A50021"/>
                    </a:solidFill>
                    <a:latin typeface="AHD Symbol Sans"/>
                  </a:rPr>
                  <a:t>Ceanothus</a:t>
                </a:r>
                <a:r>
                  <a:rPr lang="en-US">
                    <a:solidFill>
                      <a:srgbClr val="A50021"/>
                    </a:solidFill>
                    <a:latin typeface="AHD Symbol Sans"/>
                  </a:rPr>
                  <a:t> roots, with</a:t>
                </a:r>
              </a:p>
              <a:p>
                <a:r>
                  <a:rPr lang="en-US" i="1">
                    <a:solidFill>
                      <a:srgbClr val="A50021"/>
                    </a:solidFill>
                    <a:latin typeface="AHD Symbol Sans"/>
                  </a:rPr>
                  <a:t>Frankia</a:t>
                </a:r>
                <a:r>
                  <a:rPr lang="en-US">
                    <a:solidFill>
                      <a:srgbClr val="A50021"/>
                    </a:solidFill>
                    <a:latin typeface="AHD Symbol Sans"/>
                  </a:rPr>
                  <a:t> vesicles</a:t>
                </a:r>
              </a:p>
            </p:txBody>
          </p:sp>
        </p:grpSp>
      </p:grpSp>
      <p:sp>
        <p:nvSpPr>
          <p:cNvPr id="112645" name="Text Box 15"/>
          <p:cNvSpPr txBox="1">
            <a:spLocks noChangeArrowheads="1"/>
          </p:cNvSpPr>
          <p:nvPr/>
        </p:nvSpPr>
        <p:spPr bwMode="auto">
          <a:xfrm>
            <a:off x="685800" y="1752600"/>
            <a:ext cx="6400800" cy="646331"/>
          </a:xfrm>
          <a:prstGeom prst="rect">
            <a:avLst/>
          </a:prstGeom>
          <a:noFill/>
          <a:ln w="9525">
            <a:noFill/>
            <a:miter lim="800000"/>
            <a:headEnd/>
            <a:tailEnd/>
          </a:ln>
        </p:spPr>
        <p:txBody>
          <a:bodyPr wrap="square">
            <a:spAutoFit/>
          </a:bodyPr>
          <a:lstStyle/>
          <a:p>
            <a:pPr marL="234950" indent="-234950">
              <a:buFontTx/>
              <a:buChar char="•"/>
            </a:pPr>
            <a:r>
              <a:rPr lang="en-US" dirty="0" smtClean="0">
                <a:solidFill>
                  <a:schemeClr val="bg1"/>
                </a:solidFill>
                <a:latin typeface="Calibri" pitchFamily="34" charset="0"/>
              </a:rPr>
              <a:t>                                                                                                              </a:t>
            </a:r>
            <a:r>
              <a:rPr lang="en-US" dirty="0" err="1" smtClean="0">
                <a:solidFill>
                  <a:schemeClr val="bg1"/>
                </a:solidFill>
                <a:latin typeface="Calibri" pitchFamily="34" charset="0"/>
              </a:rPr>
              <a:t>eria</a:t>
            </a:r>
            <a:r>
              <a:rPr lang="en-US" dirty="0" smtClean="0">
                <a:solidFill>
                  <a:schemeClr val="bg1"/>
                </a:solidFill>
                <a:latin typeface="Calibri" pitchFamily="34" charset="0"/>
              </a:rPr>
              <a:t> in </a:t>
            </a:r>
            <a:r>
              <a:rPr lang="en-US" dirty="0">
                <a:solidFill>
                  <a:schemeClr val="bg1"/>
                </a:solidFill>
                <a:latin typeface="Calibri" pitchFamily="34" charset="0"/>
              </a:rPr>
              <a:t>root or small vesicles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alder"/>
          <p:cNvPicPr>
            <a:picLocks noChangeAspect="1" noChangeArrowheads="1"/>
          </p:cNvPicPr>
          <p:nvPr/>
        </p:nvPicPr>
        <p:blipFill>
          <a:blip r:embed="rId2"/>
          <a:srcRect/>
          <a:stretch>
            <a:fillRect/>
          </a:stretch>
        </p:blipFill>
        <p:spPr bwMode="auto">
          <a:xfrm>
            <a:off x="2438400" y="228600"/>
            <a:ext cx="6400800" cy="5040313"/>
          </a:xfrm>
          <a:prstGeom prst="rect">
            <a:avLst/>
          </a:prstGeom>
          <a:noFill/>
          <a:ln w="9525">
            <a:noFill/>
            <a:miter lim="800000"/>
            <a:headEnd/>
            <a:tailEnd/>
          </a:ln>
        </p:spPr>
      </p:pic>
      <p:sp>
        <p:nvSpPr>
          <p:cNvPr id="113667" name="Rectangle 3"/>
          <p:cNvSpPr>
            <a:spLocks noChangeArrowheads="1"/>
          </p:cNvSpPr>
          <p:nvPr/>
        </p:nvSpPr>
        <p:spPr bwMode="auto">
          <a:xfrm>
            <a:off x="152400" y="381000"/>
            <a:ext cx="2133600" cy="3270250"/>
          </a:xfrm>
          <a:prstGeom prst="rect">
            <a:avLst/>
          </a:prstGeom>
          <a:noFill/>
          <a:ln w="9525">
            <a:noFill/>
            <a:miter lim="800000"/>
            <a:headEnd/>
            <a:tailEnd/>
          </a:ln>
        </p:spPr>
        <p:txBody>
          <a:bodyPr>
            <a:spAutoFit/>
          </a:bodyPr>
          <a:lstStyle/>
          <a:p>
            <a:pPr>
              <a:spcBef>
                <a:spcPct val="50000"/>
              </a:spcBef>
            </a:pPr>
            <a:r>
              <a:rPr lang="en-US" sz="1600">
                <a:latin typeface="Comic Sans MS" pitchFamily="66" charset="0"/>
              </a:rPr>
              <a:t>Alder and the other woody hosts of </a:t>
            </a:r>
            <a:r>
              <a:rPr lang="en-US" sz="1600" i="1">
                <a:latin typeface="Comic Sans MS" pitchFamily="66" charset="0"/>
              </a:rPr>
              <a:t>Frankia</a:t>
            </a:r>
            <a:r>
              <a:rPr lang="en-US" sz="1600">
                <a:latin typeface="Comic Sans MS" pitchFamily="66" charset="0"/>
              </a:rPr>
              <a:t> are typical pioneer species that invade nutrient-poor soils. These plants probably benefit from the nitrogen-fixing association, while supplying the bacterial symbiont with photosynthetic products.</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endParaRPr lang="en-US" smtClean="0"/>
          </a:p>
        </p:txBody>
      </p:sp>
      <p:sp>
        <p:nvSpPr>
          <p:cNvPr id="114691" name="Rectangle 3"/>
          <p:cNvSpPr>
            <a:spLocks noGrp="1" noChangeArrowheads="1"/>
          </p:cNvSpPr>
          <p:nvPr>
            <p:ph idx="1"/>
          </p:nvPr>
        </p:nvSpPr>
        <p:spPr/>
        <p:txBody>
          <a:bodyPr/>
          <a:lstStyle/>
          <a:p>
            <a:pPr eaLnBrk="1" hangingPunct="1">
              <a:lnSpc>
                <a:spcPct val="90000"/>
              </a:lnSpc>
            </a:pPr>
            <a:endParaRPr lang="en-US" sz="2800" dirty="0" smtClean="0"/>
          </a:p>
          <a:p>
            <a:pPr eaLnBrk="1" hangingPunct="1">
              <a:lnSpc>
                <a:spcPct val="90000"/>
              </a:lnSpc>
              <a:buNone/>
            </a:pPr>
            <a:r>
              <a:rPr lang="en-US" sz="2800" dirty="0" err="1" smtClean="0"/>
              <a:t>Cyanobacteria</a:t>
            </a:r>
            <a:r>
              <a:rPr lang="en-US" sz="2800" dirty="0" smtClean="0"/>
              <a:t> ; Symbiotic </a:t>
            </a:r>
            <a:r>
              <a:rPr lang="en-US" sz="2800" dirty="0" err="1" smtClean="0"/>
              <a:t>cyanobacteria</a:t>
            </a:r>
            <a:r>
              <a:rPr lang="en-US" sz="2800" dirty="0" smtClean="0"/>
              <a:t>, with fungi- lichens</a:t>
            </a:r>
          </a:p>
          <a:p>
            <a:pPr eaLnBrk="1" hangingPunct="1">
              <a:lnSpc>
                <a:spcPct val="90000"/>
              </a:lnSpc>
              <a:buNone/>
            </a:pPr>
            <a:r>
              <a:rPr lang="en-US" sz="2800" dirty="0" smtClean="0"/>
              <a:t>With  aquatic fern </a:t>
            </a:r>
            <a:r>
              <a:rPr lang="en-US" sz="2800" i="1" dirty="0" err="1" smtClean="0"/>
              <a:t>Azolla</a:t>
            </a:r>
            <a:r>
              <a:rPr lang="en-US" sz="2800" i="1" dirty="0" smtClean="0"/>
              <a:t>- </a:t>
            </a:r>
            <a:r>
              <a:rPr lang="en-US" sz="2800" i="1" dirty="0" smtClean="0">
                <a:solidFill>
                  <a:srgbClr val="FF0000"/>
                </a:solidFill>
              </a:rPr>
              <a:t>Anabaena </a:t>
            </a:r>
            <a:r>
              <a:rPr lang="en-US" sz="2800" i="1" dirty="0" err="1" smtClean="0">
                <a:solidFill>
                  <a:srgbClr val="FF0000"/>
                </a:solidFill>
              </a:rPr>
              <a:t>azollae</a:t>
            </a:r>
            <a:endParaRPr lang="en-US" sz="2800" i="1" dirty="0" smtClean="0">
              <a:solidFill>
                <a:srgbClr val="FF0000"/>
              </a:solidFill>
            </a:endParaRPr>
          </a:p>
          <a:p>
            <a:pPr eaLnBrk="1" hangingPunct="1">
              <a:lnSpc>
                <a:spcPct val="90000"/>
              </a:lnSpc>
              <a:buNone/>
            </a:pPr>
            <a:r>
              <a:rPr lang="en-US" sz="2800" i="1" dirty="0" smtClean="0"/>
              <a:t>With a Cycad-</a:t>
            </a:r>
            <a:r>
              <a:rPr lang="en-US" sz="2800" i="1" dirty="0" smtClean="0">
                <a:solidFill>
                  <a:srgbClr val="FF0000"/>
                </a:solidFill>
              </a:rPr>
              <a:t>Anabaena </a:t>
            </a:r>
            <a:r>
              <a:rPr lang="en-US" sz="2800" i="1" dirty="0" err="1" smtClean="0">
                <a:solidFill>
                  <a:srgbClr val="FF0000"/>
                </a:solidFill>
              </a:rPr>
              <a:t>cycadarum</a:t>
            </a:r>
            <a:endParaRPr lang="en-US" sz="2800" i="1" dirty="0" smtClean="0">
              <a:solidFill>
                <a:srgbClr val="FF0000"/>
              </a:solidFill>
            </a:endParaRPr>
          </a:p>
          <a:p>
            <a:pPr eaLnBrk="1" hangingPunct="1">
              <a:lnSpc>
                <a:spcPct val="90000"/>
              </a:lnSpc>
              <a:buNone/>
            </a:pPr>
            <a:endParaRPr lang="en-US" sz="2800" i="1" dirty="0" smtClean="0">
              <a:solidFill>
                <a:srgbClr val="FF0000"/>
              </a:solidFill>
            </a:endParaRPr>
          </a:p>
          <a:p>
            <a:pPr eaLnBrk="1" hangingPunct="1">
              <a:lnSpc>
                <a:spcPct val="90000"/>
              </a:lnSpc>
              <a:buNone/>
            </a:pPr>
            <a:r>
              <a:rPr lang="en-US" sz="2800" i="1" dirty="0" err="1" smtClean="0"/>
              <a:t>Azolla</a:t>
            </a:r>
            <a:r>
              <a:rPr lang="en-US" sz="2800" i="1" dirty="0" smtClean="0"/>
              <a:t> </a:t>
            </a:r>
            <a:r>
              <a:rPr lang="en-US" sz="2800" dirty="0" err="1" smtClean="0"/>
              <a:t>habouring</a:t>
            </a:r>
            <a:r>
              <a:rPr lang="en-US" sz="2800" dirty="0" smtClean="0"/>
              <a:t> </a:t>
            </a:r>
            <a:r>
              <a:rPr lang="en-US" sz="2800" i="1" dirty="0" smtClean="0">
                <a:solidFill>
                  <a:srgbClr val="FF0000"/>
                </a:solidFill>
              </a:rPr>
              <a:t>Anabaena</a:t>
            </a:r>
            <a:r>
              <a:rPr lang="en-US" sz="2800" dirty="0" smtClean="0"/>
              <a:t> is an important green manure for rice cultivation </a:t>
            </a:r>
            <a:endParaRPr lang="en-US" sz="2800" i="1" dirty="0" smtClean="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bigF2"/>
          <p:cNvPicPr>
            <a:picLocks noChangeAspect="1" noChangeArrowheads="1"/>
          </p:cNvPicPr>
          <p:nvPr/>
        </p:nvPicPr>
        <p:blipFill>
          <a:blip r:embed="rId2"/>
          <a:srcRect/>
          <a:stretch>
            <a:fillRect/>
          </a:stretch>
        </p:blipFill>
        <p:spPr bwMode="auto">
          <a:xfrm>
            <a:off x="2057400" y="1050925"/>
            <a:ext cx="5040313" cy="3989388"/>
          </a:xfrm>
          <a:prstGeom prst="rect">
            <a:avLst/>
          </a:prstGeom>
          <a:noFill/>
          <a:ln w="9525">
            <a:noFill/>
            <a:miter lim="800000"/>
            <a:headEnd/>
            <a:tailEnd/>
          </a:ln>
        </p:spPr>
      </p:pic>
      <p:sp>
        <p:nvSpPr>
          <p:cNvPr id="115715" name="Text Box 3"/>
          <p:cNvSpPr txBox="1">
            <a:spLocks noChangeArrowheads="1"/>
          </p:cNvSpPr>
          <p:nvPr/>
        </p:nvSpPr>
        <p:spPr bwMode="auto">
          <a:xfrm>
            <a:off x="609600" y="5318125"/>
            <a:ext cx="7693025" cy="1006475"/>
          </a:xfrm>
          <a:prstGeom prst="rect">
            <a:avLst/>
          </a:prstGeom>
          <a:noFill/>
          <a:ln w="9525">
            <a:noFill/>
            <a:miter lim="800000"/>
            <a:headEnd/>
            <a:tailEnd/>
          </a:ln>
        </p:spPr>
        <p:txBody>
          <a:bodyPr>
            <a:spAutoFit/>
          </a:bodyPr>
          <a:lstStyle/>
          <a:p>
            <a:r>
              <a:rPr lang="en-US" sz="2000">
                <a:latin typeface="Calibri" pitchFamily="34" charset="0"/>
              </a:rPr>
              <a:t>The aquatic fern </a:t>
            </a:r>
            <a:r>
              <a:rPr lang="en-US" sz="2000" i="1">
                <a:latin typeface="Calibri" pitchFamily="34" charset="0"/>
              </a:rPr>
              <a:t>Azolla</a:t>
            </a:r>
            <a:r>
              <a:rPr lang="en-US" sz="2000">
                <a:latin typeface="Calibri" pitchFamily="34" charset="0"/>
              </a:rPr>
              <a:t> is the only fern that can fix nitrogen. It does so by virtue of a symbiotic association with a cyanobacterium (</a:t>
            </a:r>
            <a:r>
              <a:rPr lang="en-US" sz="2000" i="1">
                <a:latin typeface="Calibri" pitchFamily="34" charset="0"/>
              </a:rPr>
              <a:t>Anabaena azollae</a:t>
            </a:r>
            <a:r>
              <a:rPr lang="en-US" sz="2000">
                <a:latin typeface="Calibri" pitchFamily="34" charset="0"/>
              </a:rPr>
              <a:t>). </a:t>
            </a:r>
          </a:p>
        </p:txBody>
      </p:sp>
      <p:sp>
        <p:nvSpPr>
          <p:cNvPr id="115716" name="Text Box 4"/>
          <p:cNvSpPr txBox="1">
            <a:spLocks noChangeArrowheads="1"/>
          </p:cNvSpPr>
          <p:nvPr/>
        </p:nvSpPr>
        <p:spPr bwMode="auto">
          <a:xfrm>
            <a:off x="2287588" y="1055688"/>
            <a:ext cx="758825" cy="519112"/>
          </a:xfrm>
          <a:prstGeom prst="rect">
            <a:avLst/>
          </a:prstGeom>
          <a:noFill/>
          <a:ln w="9525">
            <a:noFill/>
            <a:miter lim="800000"/>
            <a:headEnd/>
            <a:tailEnd/>
          </a:ln>
        </p:spPr>
        <p:txBody>
          <a:bodyPr wrap="none">
            <a:spAutoFit/>
          </a:bodyPr>
          <a:lstStyle/>
          <a:p>
            <a:pPr algn="ctr"/>
            <a:r>
              <a:rPr lang="en-US" sz="2800">
                <a:latin typeface="Calibri" pitchFamily="34" charset="0"/>
              </a:rPr>
              <a:t>-Co</a:t>
            </a:r>
          </a:p>
        </p:txBody>
      </p:sp>
      <p:sp>
        <p:nvSpPr>
          <p:cNvPr id="115717" name="Text Box 5"/>
          <p:cNvSpPr txBox="1">
            <a:spLocks noChangeArrowheads="1"/>
          </p:cNvSpPr>
          <p:nvPr/>
        </p:nvSpPr>
        <p:spPr bwMode="auto">
          <a:xfrm>
            <a:off x="5916613" y="1055688"/>
            <a:ext cx="847725" cy="519112"/>
          </a:xfrm>
          <a:prstGeom prst="rect">
            <a:avLst/>
          </a:prstGeom>
          <a:noFill/>
          <a:ln w="9525">
            <a:noFill/>
            <a:miter lim="800000"/>
            <a:headEnd/>
            <a:tailEnd/>
          </a:ln>
        </p:spPr>
        <p:txBody>
          <a:bodyPr wrap="none">
            <a:spAutoFit/>
          </a:bodyPr>
          <a:lstStyle/>
          <a:p>
            <a:pPr algn="ctr"/>
            <a:r>
              <a:rPr lang="en-US" sz="2800">
                <a:latin typeface="Calibri" pitchFamily="34" charset="0"/>
              </a:rPr>
              <a:t>+Co</a:t>
            </a:r>
          </a:p>
        </p:txBody>
      </p:sp>
      <p:sp>
        <p:nvSpPr>
          <p:cNvPr id="115718" name="Rectangle 6"/>
          <p:cNvSpPr>
            <a:spLocks noGrp="1" noChangeArrowheads="1"/>
          </p:cNvSpPr>
          <p:nvPr>
            <p:ph type="title"/>
          </p:nvPr>
        </p:nvSpPr>
        <p:spPr>
          <a:xfrm>
            <a:off x="762000" y="0"/>
            <a:ext cx="7772400" cy="1143000"/>
          </a:xfrm>
        </p:spPr>
        <p:txBody>
          <a:bodyPr/>
          <a:lstStyle/>
          <a:p>
            <a:pPr eaLnBrk="1" hangingPunct="1"/>
            <a:r>
              <a:rPr lang="en-US" sz="4000" smtClean="0"/>
              <a:t>A nitrogen-fixing fern</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a:xfrm>
            <a:off x="0" y="274638"/>
            <a:ext cx="8229600" cy="1143000"/>
          </a:xfrm>
        </p:spPr>
        <p:txBody>
          <a:bodyPr lIns="91418" rIns="91418"/>
          <a:lstStyle/>
          <a:p>
            <a:r>
              <a:rPr lang="en-US" smtClean="0"/>
              <a:t>The Sulfur Cycle</a:t>
            </a:r>
          </a:p>
        </p:txBody>
      </p:sp>
      <p:sp>
        <p:nvSpPr>
          <p:cNvPr id="105475" name="Rectangle 3"/>
          <p:cNvSpPr>
            <a:spLocks noGrp="1" noChangeArrowheads="1"/>
          </p:cNvSpPr>
          <p:nvPr>
            <p:ph type="body" idx="4294967295"/>
          </p:nvPr>
        </p:nvSpPr>
        <p:spPr>
          <a:xfrm>
            <a:off x="0" y="1600200"/>
            <a:ext cx="8229600" cy="4525963"/>
          </a:xfrm>
        </p:spPr>
        <p:txBody>
          <a:bodyPr tIns="18283" bIns="18283"/>
          <a:lstStyle/>
          <a:p>
            <a:r>
              <a:rPr lang="en-US" sz="2200" smtClean="0">
                <a:latin typeface="Arial" pitchFamily="34" charset="0"/>
              </a:rPr>
              <a:t> H</a:t>
            </a:r>
            <a:r>
              <a:rPr lang="en-US" sz="2200" baseline="-25000" smtClean="0">
                <a:latin typeface="Arial" pitchFamily="34" charset="0"/>
              </a:rPr>
              <a:t>2</a:t>
            </a:r>
            <a:r>
              <a:rPr lang="en-US" sz="2200" smtClean="0">
                <a:latin typeface="Arial" pitchFamily="34" charset="0"/>
              </a:rPr>
              <a:t>S (</a:t>
            </a:r>
            <a:r>
              <a:rPr lang="en-US" sz="2300" smtClean="0">
                <a:latin typeface="Arial" pitchFamily="34" charset="0"/>
              </a:rPr>
              <a:t>Hydrogen sulfide…reduced form of sulfur) is an energy source for some autotrophs</a:t>
            </a:r>
          </a:p>
          <a:p>
            <a:pPr lvl="1"/>
            <a:r>
              <a:rPr lang="en-US" sz="2300" smtClean="0">
                <a:latin typeface="Arial" pitchFamily="34" charset="0"/>
              </a:rPr>
              <a:t>Photoautrophs (green and purple bacteria groups)</a:t>
            </a:r>
          </a:p>
          <a:p>
            <a:pPr lvl="1"/>
            <a:r>
              <a:rPr lang="en-US" sz="2300" smtClean="0">
                <a:latin typeface="Arial" pitchFamily="34" charset="0"/>
              </a:rPr>
              <a:t>Chemoautoatrophs (</a:t>
            </a:r>
            <a:r>
              <a:rPr lang="en-US" sz="2300" i="1" smtClean="0">
                <a:latin typeface="Arial" pitchFamily="34" charset="0"/>
              </a:rPr>
              <a:t>Beggiatoa</a:t>
            </a:r>
            <a:r>
              <a:rPr lang="en-US" sz="2300" smtClean="0">
                <a:latin typeface="Arial" pitchFamily="34" charset="0"/>
              </a:rPr>
              <a:t> and </a:t>
            </a:r>
            <a:r>
              <a:rPr lang="en-US" sz="2300" i="1" smtClean="0">
                <a:latin typeface="Arial" pitchFamily="34" charset="0"/>
              </a:rPr>
              <a:t>Thiobacillus</a:t>
            </a:r>
            <a:r>
              <a:rPr lang="en-US" sz="2300" smtClean="0">
                <a:latin typeface="Arial" pitchFamily="34" charset="0"/>
              </a:rPr>
              <a:t>)</a:t>
            </a:r>
          </a:p>
          <a:p>
            <a:r>
              <a:rPr lang="en-US" sz="2200" smtClean="0">
                <a:latin typeface="Arial" pitchFamily="34" charset="0"/>
              </a:rPr>
              <a:t> Oxidation of sulfur</a:t>
            </a:r>
          </a:p>
          <a:p>
            <a:pPr lvl="1"/>
            <a:r>
              <a:rPr lang="en-US" smtClean="0">
                <a:latin typeface="Arial" pitchFamily="34" charset="0"/>
              </a:rPr>
              <a:t>H</a:t>
            </a:r>
            <a:r>
              <a:rPr lang="en-US" baseline="-25000" smtClean="0">
                <a:latin typeface="Arial" pitchFamily="34" charset="0"/>
              </a:rPr>
              <a:t>2</a:t>
            </a:r>
            <a:r>
              <a:rPr lang="en-US" smtClean="0">
                <a:latin typeface="Arial" pitchFamily="34" charset="0"/>
              </a:rPr>
              <a:t>S ----------</a:t>
            </a:r>
            <a:r>
              <a:rPr lang="en-US" smtClean="0">
                <a:latin typeface="Arial" pitchFamily="34" charset="0"/>
                <a:sym typeface="Wingdings" pitchFamily="2" charset="2"/>
              </a:rPr>
              <a:t> elemental sulfur (S) ---------- </a:t>
            </a:r>
            <a:r>
              <a:rPr lang="en-US" smtClean="0">
                <a:latin typeface="Arial" pitchFamily="34" charset="0"/>
              </a:rPr>
              <a:t>SO</a:t>
            </a:r>
            <a:r>
              <a:rPr lang="en-US" baseline="-25000" smtClean="0">
                <a:latin typeface="Arial" pitchFamily="34" charset="0"/>
              </a:rPr>
              <a:t>4</a:t>
            </a:r>
            <a:endParaRPr lang="en-US" sz="2300" smtClean="0">
              <a:latin typeface="Arial" pitchFamily="34" charset="0"/>
            </a:endParaRPr>
          </a:p>
          <a:p>
            <a:r>
              <a:rPr lang="en-US" sz="2300" smtClean="0">
                <a:latin typeface="Arial" pitchFamily="34" charset="0"/>
              </a:rPr>
              <a:t>Sulfate </a:t>
            </a:r>
            <a:r>
              <a:rPr lang="en-US" sz="2200" smtClean="0">
                <a:latin typeface="Arial" pitchFamily="34" charset="0"/>
              </a:rPr>
              <a:t>(SO</a:t>
            </a:r>
            <a:r>
              <a:rPr lang="en-US" sz="2200" baseline="-25000" smtClean="0">
                <a:latin typeface="Arial" pitchFamily="34" charset="0"/>
              </a:rPr>
              <a:t>4</a:t>
            </a:r>
            <a:r>
              <a:rPr lang="en-US" sz="2200" smtClean="0">
                <a:latin typeface="Arial" pitchFamily="34" charset="0"/>
              </a:rPr>
              <a:t>) </a:t>
            </a:r>
            <a:r>
              <a:rPr lang="en-US" sz="2300" smtClean="0">
                <a:latin typeface="Arial" pitchFamily="34" charset="0"/>
              </a:rPr>
              <a:t>is assimilated by plants and bacteria into proteins</a:t>
            </a:r>
          </a:p>
          <a:p>
            <a:r>
              <a:rPr lang="en-US" sz="2300" smtClean="0">
                <a:latin typeface="Arial" pitchFamily="34" charset="0"/>
              </a:rPr>
              <a:t>Decomposition by microbes releases sulfur (dissimulation) as </a:t>
            </a:r>
            <a:r>
              <a:rPr lang="en-US" sz="2200" smtClean="0">
                <a:latin typeface="Arial" pitchFamily="34" charset="0"/>
              </a:rPr>
              <a:t>H</a:t>
            </a:r>
            <a:r>
              <a:rPr lang="en-US" sz="2200" baseline="-25000" smtClean="0">
                <a:latin typeface="Arial" pitchFamily="34" charset="0"/>
              </a:rPr>
              <a:t>2</a:t>
            </a:r>
            <a:r>
              <a:rPr lang="en-US" sz="2200" smtClean="0">
                <a:latin typeface="Arial" pitchFamily="34" charset="0"/>
              </a:rPr>
              <a:t>S to reenter the cycle</a:t>
            </a:r>
            <a:endParaRPr lang="en-US" sz="2300" smtClean="0">
              <a:latin typeface="Arial" pitchFamily="34" charset="0"/>
            </a:endParaRPr>
          </a:p>
          <a:p>
            <a:pPr lvl="1"/>
            <a:endParaRPr lang="en-US" sz="2300" smtClean="0">
              <a:latin typeface="Arial" pitchFamily="34"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pPr eaLnBrk="0" hangingPunct="0"/>
            <a:r>
              <a:rPr lang="en-US" sz="2900">
                <a:solidFill>
                  <a:srgbClr val="404040"/>
                </a:solidFill>
                <a:latin typeface="Arial Narrow" pitchFamily="34" charset="0"/>
              </a:rPr>
              <a:t>Redox Cycle for Sulfur</a:t>
            </a:r>
          </a:p>
        </p:txBody>
      </p:sp>
      <p:sp>
        <p:nvSpPr>
          <p:cNvPr id="106499" name="Text Box 4"/>
          <p:cNvSpPr txBox="1">
            <a:spLocks noChangeArrowheads="1"/>
          </p:cNvSpPr>
          <p:nvPr/>
        </p:nvSpPr>
        <p:spPr bwMode="auto">
          <a:xfrm>
            <a:off x="7959725" y="6107113"/>
            <a:ext cx="906463" cy="252412"/>
          </a:xfrm>
          <a:prstGeom prst="rect">
            <a:avLst/>
          </a:prstGeom>
          <a:noFill/>
          <a:ln w="9525">
            <a:noFill/>
            <a:miter lim="800000"/>
            <a:headEnd/>
            <a:tailEnd/>
          </a:ln>
        </p:spPr>
        <p:txBody>
          <a:bodyPr lIns="82048" tIns="41025" rIns="82048" bIns="41025">
            <a:spAutoFit/>
          </a:bodyPr>
          <a:lstStyle/>
          <a:p>
            <a:pPr algn="r" eaLnBrk="0" hangingPunct="0"/>
            <a:r>
              <a:rPr lang="en-US" sz="1100">
                <a:latin typeface="Calibri" pitchFamily="34" charset="0"/>
                <a:ea typeface="MS PGothic" pitchFamily="34" charset="-128"/>
              </a:rPr>
              <a:t>Figure 24.6</a:t>
            </a:r>
          </a:p>
        </p:txBody>
      </p:sp>
      <p:pic>
        <p:nvPicPr>
          <p:cNvPr id="106500" name="Picture 5" descr="24_06Figure-L"/>
          <p:cNvPicPr>
            <a:picLocks noChangeAspect="1" noChangeArrowheads="1"/>
          </p:cNvPicPr>
          <p:nvPr/>
        </p:nvPicPr>
        <p:blipFill>
          <a:blip r:embed="rId3"/>
          <a:srcRect b="4805"/>
          <a:stretch>
            <a:fillRect/>
          </a:stretch>
        </p:blipFill>
        <p:spPr bwMode="auto">
          <a:xfrm>
            <a:off x="292100" y="1544638"/>
            <a:ext cx="8559800" cy="3768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endParaRPr lang="en-US" smtClean="0"/>
          </a:p>
        </p:txBody>
      </p:sp>
      <p:sp>
        <p:nvSpPr>
          <p:cNvPr id="11267" name="Content Placeholder 2"/>
          <p:cNvSpPr>
            <a:spLocks noGrp="1"/>
          </p:cNvSpPr>
          <p:nvPr>
            <p:ph idx="1"/>
          </p:nvPr>
        </p:nvSpPr>
        <p:spPr/>
        <p:txBody>
          <a:bodyPr/>
          <a:lstStyle/>
          <a:p>
            <a:pPr eaLnBrk="1" hangingPunct="1">
              <a:buFont typeface="Arial" pitchFamily="34" charset="0"/>
              <a:buNone/>
            </a:pPr>
            <a:r>
              <a:rPr lang="en-US" i="1" smtClean="0"/>
              <a:t>Thiobacillus</a:t>
            </a:r>
            <a:r>
              <a:rPr lang="en-US" smtClean="0"/>
              <a:t> are colorless, rod-shaped, Gram-negative bacteria with polar flagella. They possess an iron oxidase, which allows them to metabolize metal ions such as ferrous iron: </a:t>
            </a:r>
          </a:p>
          <a:p>
            <a:pPr eaLnBrk="1" hangingPunct="1">
              <a:buFont typeface="Arial" pitchFamily="34" charset="0"/>
              <a:buNone/>
            </a:pPr>
            <a:r>
              <a:rPr lang="en-US" smtClean="0"/>
              <a:t>Fe</a:t>
            </a:r>
            <a:r>
              <a:rPr lang="en-US" baseline="30000" smtClean="0"/>
              <a:t>2+</a:t>
            </a:r>
            <a:r>
              <a:rPr lang="en-US" smtClean="0"/>
              <a:t> + 1/2 O</a:t>
            </a:r>
            <a:r>
              <a:rPr lang="en-US" baseline="-25000" smtClean="0"/>
              <a:t>2</a:t>
            </a:r>
            <a:r>
              <a:rPr lang="en-US" smtClean="0"/>
              <a:t> + 2H</a:t>
            </a:r>
            <a:r>
              <a:rPr lang="en-US" baseline="30000" smtClean="0"/>
              <a:t>+</a:t>
            </a:r>
            <a:r>
              <a:rPr lang="en-US" smtClean="0"/>
              <a:t> --&gt; Fe</a:t>
            </a:r>
            <a:r>
              <a:rPr lang="en-US" baseline="30000" smtClean="0"/>
              <a:t>3+</a:t>
            </a:r>
            <a:r>
              <a:rPr lang="en-US" smtClean="0"/>
              <a:t> + H</a:t>
            </a:r>
            <a:r>
              <a:rPr lang="en-US" baseline="-25000" smtClean="0"/>
              <a:t>2</a:t>
            </a:r>
            <a:r>
              <a:rPr lang="en-US" smtClean="0"/>
              <a:t>O </a:t>
            </a:r>
          </a:p>
          <a:p>
            <a:pPr eaLnBrk="1" hangingPunct="1">
              <a:buFont typeface="Arial" pitchFamily="34" charset="0"/>
              <a:buNone/>
            </a:pPr>
            <a:r>
              <a:rPr lang="en-US" i="1" smtClean="0"/>
              <a:t>Thiobacillus</a:t>
            </a:r>
            <a:r>
              <a:rPr lang="en-US" smtClean="0"/>
              <a:t> are strictly aerobic bacteria.</a:t>
            </a:r>
          </a:p>
          <a:p>
            <a:pPr eaLnBrk="1" hangingPunct="1">
              <a:buFont typeface="Arial" pitchFamily="34" charset="0"/>
              <a:buNone/>
            </a:pPr>
            <a:endParaRPr lang="en-US" smtClean="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endParaRPr lang="en-US" smtClean="0"/>
          </a:p>
        </p:txBody>
      </p:sp>
      <p:sp>
        <p:nvSpPr>
          <p:cNvPr id="12291" name="Content Placeholder 2"/>
          <p:cNvSpPr>
            <a:spLocks noGrp="1"/>
          </p:cNvSpPr>
          <p:nvPr>
            <p:ph idx="1"/>
          </p:nvPr>
        </p:nvSpPr>
        <p:spPr/>
        <p:txBody>
          <a:bodyPr/>
          <a:lstStyle/>
          <a:p>
            <a:pPr eaLnBrk="1" hangingPunct="1">
              <a:buFont typeface="Arial" pitchFamily="34" charset="0"/>
              <a:buNone/>
            </a:pPr>
            <a:r>
              <a:rPr lang="en-US" i="1" dirty="0" err="1" smtClean="0"/>
              <a:t>Thiobacillus</a:t>
            </a:r>
            <a:r>
              <a:rPr lang="en-US" i="1" dirty="0" smtClean="0"/>
              <a:t> </a:t>
            </a:r>
            <a:r>
              <a:rPr lang="en-US" i="1" dirty="0" err="1" smtClean="0"/>
              <a:t>ferrooxidans</a:t>
            </a:r>
            <a:r>
              <a:rPr lang="en-US" i="1" dirty="0" smtClean="0"/>
              <a:t> 0r </a:t>
            </a:r>
            <a:r>
              <a:rPr lang="en-US" i="1" dirty="0" err="1" smtClean="0"/>
              <a:t>Acidothiobacillus</a:t>
            </a:r>
            <a:r>
              <a:rPr lang="en-US" i="1" dirty="0" smtClean="0"/>
              <a:t> </a:t>
            </a:r>
            <a:r>
              <a:rPr lang="en-US" i="1" dirty="0" err="1" smtClean="0"/>
              <a:t>ferrooxidans</a:t>
            </a:r>
            <a:r>
              <a:rPr lang="en-US" dirty="0" smtClean="0"/>
              <a:t> is the most common type of bacteria in mine waste piles. This organism is acidophilic (acid loving), and increases the rate of pyrite oxidation in mine tailings piles and coal deposits. It </a:t>
            </a:r>
            <a:r>
              <a:rPr lang="en-US" dirty="0" err="1" smtClean="0"/>
              <a:t>oxidies</a:t>
            </a:r>
            <a:r>
              <a:rPr lang="en-US" dirty="0" smtClean="0"/>
              <a:t> iron and inorganic sulfur compounds. The oxidation process can be harmful, as it produces sulfuric acid, which is a major pollutant. </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3352800" y="274638"/>
            <a:ext cx="5334000" cy="1143000"/>
          </a:xfrm>
        </p:spPr>
        <p:txBody>
          <a:bodyPr/>
          <a:lstStyle/>
          <a:p>
            <a:pPr eaLnBrk="1" hangingPunct="1"/>
            <a:r>
              <a:rPr lang="en-US" i="1" smtClean="0"/>
              <a:t>  Thiobacillus</a:t>
            </a:r>
          </a:p>
        </p:txBody>
      </p:sp>
      <p:pic>
        <p:nvPicPr>
          <p:cNvPr id="98309" name="Picture 5" descr="Thiobacillus"/>
          <p:cNvPicPr>
            <a:picLocks noChangeAspect="1" noChangeArrowheads="1"/>
          </p:cNvPicPr>
          <p:nvPr/>
        </p:nvPicPr>
        <p:blipFill>
          <a:blip r:embed="rId2"/>
          <a:srcRect/>
          <a:stretch>
            <a:fillRect/>
          </a:stretch>
        </p:blipFill>
        <p:spPr bwMode="auto">
          <a:xfrm>
            <a:off x="0" y="4191000"/>
            <a:ext cx="3429000" cy="2667000"/>
          </a:xfrm>
          <a:prstGeom prst="rect">
            <a:avLst/>
          </a:prstGeom>
          <a:noFill/>
          <a:ln w="9525">
            <a:noFill/>
            <a:miter lim="800000"/>
            <a:headEnd/>
            <a:tailEnd/>
          </a:ln>
        </p:spPr>
      </p:pic>
      <p:sp>
        <p:nvSpPr>
          <p:cNvPr id="14340" name="Rectangle 6"/>
          <p:cNvSpPr>
            <a:spLocks noChangeArrowheads="1"/>
          </p:cNvSpPr>
          <p:nvPr/>
        </p:nvSpPr>
        <p:spPr bwMode="auto">
          <a:xfrm>
            <a:off x="609600" y="-3279775"/>
            <a:ext cx="4038600" cy="1004887"/>
          </a:xfrm>
          <a:prstGeom prst="rect">
            <a:avLst/>
          </a:prstGeom>
          <a:noFill/>
          <a:ln w="9525">
            <a:noFill/>
            <a:miter lim="800000"/>
            <a:headEnd/>
            <a:tailEnd/>
          </a:ln>
        </p:spPr>
        <p:txBody>
          <a:bodyPr>
            <a:spAutoFit/>
          </a:bodyPr>
          <a:lstStyle/>
          <a:p>
            <a:pPr algn="l">
              <a:spcBef>
                <a:spcPct val="50000"/>
              </a:spcBef>
            </a:pPr>
            <a:r>
              <a:rPr lang="en-US">
                <a:latin typeface="Calibri" pitchFamily="34" charset="0"/>
              </a:rPr>
              <a:t>. </a:t>
            </a:r>
          </a:p>
          <a:p>
            <a:pPr algn="l">
              <a:spcBef>
                <a:spcPct val="50000"/>
              </a:spcBef>
            </a:pPr>
            <a:r>
              <a:rPr lang="en-US">
                <a:latin typeface="Calibri" pitchFamily="34" charset="0"/>
              </a:rPr>
              <a:t>                              </a:t>
            </a:r>
          </a:p>
        </p:txBody>
      </p:sp>
      <p:sp>
        <p:nvSpPr>
          <p:cNvPr id="98312" name="Text Box 8"/>
          <p:cNvSpPr txBox="1">
            <a:spLocks noChangeArrowheads="1"/>
          </p:cNvSpPr>
          <p:nvPr/>
        </p:nvSpPr>
        <p:spPr bwMode="auto">
          <a:xfrm>
            <a:off x="5013325" y="2014538"/>
            <a:ext cx="1776512" cy="400110"/>
          </a:xfrm>
          <a:prstGeom prst="rect">
            <a:avLst/>
          </a:prstGeom>
          <a:noFill/>
          <a:ln w="9525">
            <a:noFill/>
            <a:miter lim="800000"/>
            <a:headEnd/>
            <a:tailEnd/>
          </a:ln>
        </p:spPr>
        <p:txBody>
          <a:bodyPr wrap="none">
            <a:spAutoFit/>
          </a:bodyPr>
          <a:lstStyle/>
          <a:p>
            <a:pPr algn="l"/>
            <a:r>
              <a:rPr lang="en-US" sz="2000" b="1" dirty="0">
                <a:solidFill>
                  <a:schemeClr val="folHlink"/>
                </a:solidFill>
                <a:latin typeface="Calibri" pitchFamily="34" charset="0"/>
              </a:rPr>
              <a:t>Strictly aerobic</a:t>
            </a:r>
          </a:p>
        </p:txBody>
      </p:sp>
      <p:sp>
        <p:nvSpPr>
          <p:cNvPr id="98313" name="Text Box 9"/>
          <p:cNvSpPr txBox="1">
            <a:spLocks noChangeArrowheads="1"/>
          </p:cNvSpPr>
          <p:nvPr/>
        </p:nvSpPr>
        <p:spPr bwMode="auto">
          <a:xfrm>
            <a:off x="5029200" y="2362200"/>
            <a:ext cx="2474913" cy="457200"/>
          </a:xfrm>
          <a:prstGeom prst="rect">
            <a:avLst/>
          </a:prstGeom>
          <a:noFill/>
          <a:ln w="9525">
            <a:noFill/>
            <a:miter lim="800000"/>
            <a:headEnd/>
            <a:tailEnd/>
          </a:ln>
        </p:spPr>
        <p:txBody>
          <a:bodyPr wrap="none">
            <a:spAutoFit/>
          </a:bodyPr>
          <a:lstStyle/>
          <a:p>
            <a:pPr algn="l"/>
            <a:r>
              <a:rPr lang="en-US" b="1" dirty="0">
                <a:solidFill>
                  <a:schemeClr val="folHlink"/>
                </a:solidFill>
                <a:latin typeface="Calibri" pitchFamily="34" charset="0"/>
              </a:rPr>
              <a:t>Gram-negative</a:t>
            </a:r>
          </a:p>
        </p:txBody>
      </p:sp>
      <p:sp>
        <p:nvSpPr>
          <p:cNvPr id="98314" name="Text Box 10"/>
          <p:cNvSpPr txBox="1">
            <a:spLocks noChangeArrowheads="1"/>
          </p:cNvSpPr>
          <p:nvPr/>
        </p:nvSpPr>
        <p:spPr bwMode="auto">
          <a:xfrm>
            <a:off x="5035550" y="2743200"/>
            <a:ext cx="1974850"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Rod shaped</a:t>
            </a:r>
          </a:p>
        </p:txBody>
      </p:sp>
      <p:sp>
        <p:nvSpPr>
          <p:cNvPr id="98315" name="Text Box 11"/>
          <p:cNvSpPr txBox="1">
            <a:spLocks noChangeArrowheads="1"/>
          </p:cNvSpPr>
          <p:nvPr/>
        </p:nvSpPr>
        <p:spPr bwMode="auto">
          <a:xfrm>
            <a:off x="5035550" y="3124200"/>
            <a:ext cx="2967038"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Polarly flagellated</a:t>
            </a:r>
          </a:p>
        </p:txBody>
      </p:sp>
      <p:sp>
        <p:nvSpPr>
          <p:cNvPr id="98316" name="Text Box 12"/>
          <p:cNvSpPr txBox="1">
            <a:spLocks noChangeArrowheads="1"/>
          </p:cNvSpPr>
          <p:nvPr/>
        </p:nvSpPr>
        <p:spPr bwMode="auto">
          <a:xfrm>
            <a:off x="5033963" y="3505200"/>
            <a:ext cx="3081337"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Non-spore forming</a:t>
            </a:r>
          </a:p>
        </p:txBody>
      </p:sp>
      <p:sp>
        <p:nvSpPr>
          <p:cNvPr id="98317" name="Text Box 13"/>
          <p:cNvSpPr txBox="1">
            <a:spLocks noChangeArrowheads="1"/>
          </p:cNvSpPr>
          <p:nvPr/>
        </p:nvSpPr>
        <p:spPr bwMode="auto">
          <a:xfrm>
            <a:off x="5072063" y="3886200"/>
            <a:ext cx="3898900"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Best growth at 25-35° C</a:t>
            </a:r>
          </a:p>
        </p:txBody>
      </p:sp>
      <p:sp>
        <p:nvSpPr>
          <p:cNvPr id="98318" name="Text Box 14"/>
          <p:cNvSpPr txBox="1">
            <a:spLocks noChangeArrowheads="1"/>
          </p:cNvSpPr>
          <p:nvPr/>
        </p:nvSpPr>
        <p:spPr bwMode="auto">
          <a:xfrm>
            <a:off x="5092700" y="4267200"/>
            <a:ext cx="2097088" cy="369888"/>
          </a:xfrm>
          <a:prstGeom prst="rect">
            <a:avLst/>
          </a:prstGeom>
          <a:noFill/>
          <a:ln w="9525">
            <a:noFill/>
            <a:miter lim="800000"/>
            <a:headEnd/>
            <a:tailEnd/>
          </a:ln>
        </p:spPr>
        <p:txBody>
          <a:bodyPr wrap="none">
            <a:spAutoFit/>
          </a:bodyPr>
          <a:lstStyle/>
          <a:p>
            <a:pPr algn="l"/>
            <a:r>
              <a:rPr lang="en-US" b="1">
                <a:latin typeface="Calibri" pitchFamily="34" charset="0"/>
              </a:rPr>
              <a:t>Obligate autotrophs</a:t>
            </a:r>
          </a:p>
        </p:txBody>
      </p:sp>
      <p:sp>
        <p:nvSpPr>
          <p:cNvPr id="98319" name="Text Box 15"/>
          <p:cNvSpPr txBox="1">
            <a:spLocks noChangeArrowheads="1"/>
          </p:cNvSpPr>
          <p:nvPr/>
        </p:nvSpPr>
        <p:spPr bwMode="auto">
          <a:xfrm>
            <a:off x="5053013" y="4648200"/>
            <a:ext cx="3944937"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Grow best at neutral pH </a:t>
            </a:r>
          </a:p>
        </p:txBody>
      </p:sp>
      <p:sp>
        <p:nvSpPr>
          <p:cNvPr id="98320" name="Text Box 16"/>
          <p:cNvSpPr txBox="1">
            <a:spLocks noChangeArrowheads="1"/>
          </p:cNvSpPr>
          <p:nvPr/>
        </p:nvSpPr>
        <p:spPr bwMode="auto">
          <a:xfrm>
            <a:off x="4800600" y="5029200"/>
            <a:ext cx="4343400" cy="822325"/>
          </a:xfrm>
          <a:prstGeom prst="rect">
            <a:avLst/>
          </a:prstGeom>
          <a:noFill/>
          <a:ln w="9525">
            <a:noFill/>
            <a:miter lim="800000"/>
            <a:headEnd/>
            <a:tailEnd/>
          </a:ln>
        </p:spPr>
        <p:txBody>
          <a:bodyPr>
            <a:spAutoFit/>
          </a:bodyPr>
          <a:lstStyle/>
          <a:p>
            <a:pPr algn="l"/>
            <a:r>
              <a:rPr lang="en-US">
                <a:solidFill>
                  <a:schemeClr val="hlink"/>
                </a:solidFill>
                <a:latin typeface="Calibri" pitchFamily="34" charset="0"/>
              </a:rPr>
              <a:t>(Some spp. are able to live in highly acidic environments)</a:t>
            </a:r>
          </a:p>
        </p:txBody>
      </p:sp>
      <p:pic>
        <p:nvPicPr>
          <p:cNvPr id="14350" name="Picture 14"/>
          <p:cNvPicPr>
            <a:picLocks noChangeAspect="1" noChangeArrowheads="1"/>
          </p:cNvPicPr>
          <p:nvPr/>
        </p:nvPicPr>
        <p:blipFill>
          <a:blip r:embed="rId3"/>
          <a:srcRect/>
          <a:stretch>
            <a:fillRect/>
          </a:stretch>
        </p:blipFill>
        <p:spPr bwMode="auto">
          <a:xfrm>
            <a:off x="0" y="0"/>
            <a:ext cx="3276600" cy="2667000"/>
          </a:xfrm>
          <a:prstGeom prst="rect">
            <a:avLst/>
          </a:prstGeom>
          <a:noFill/>
          <a:ln w="9525">
            <a:noFill/>
            <a:miter lim="800000"/>
            <a:headEnd/>
            <a:tailEnd/>
          </a:ln>
        </p:spPr>
      </p:pic>
      <p:sp>
        <p:nvSpPr>
          <p:cNvPr id="14351" name="Rectangle 14"/>
          <p:cNvSpPr>
            <a:spLocks noChangeArrowheads="1"/>
          </p:cNvSpPr>
          <p:nvPr/>
        </p:nvSpPr>
        <p:spPr bwMode="auto">
          <a:xfrm>
            <a:off x="0" y="2590800"/>
            <a:ext cx="3200400" cy="369888"/>
          </a:xfrm>
          <a:prstGeom prst="rect">
            <a:avLst/>
          </a:prstGeom>
          <a:noFill/>
          <a:ln w="9525">
            <a:noFill/>
            <a:miter lim="800000"/>
            <a:headEnd/>
            <a:tailEnd/>
          </a:ln>
        </p:spPr>
        <p:txBody>
          <a:bodyPr>
            <a:spAutoFit/>
          </a:bodyPr>
          <a:lstStyle/>
          <a:p>
            <a:pPr algn="l"/>
            <a:r>
              <a:rPr lang="en-US" i="1"/>
              <a:t>Thiobacillus ferrooxidans</a:t>
            </a:r>
            <a:r>
              <a:rPr lang="en-US"/>
              <a:t>. </a:t>
            </a:r>
          </a:p>
        </p:txBody>
      </p:sp>
      <p:sp>
        <p:nvSpPr>
          <p:cNvPr id="14352" name="Rectangle 15"/>
          <p:cNvSpPr>
            <a:spLocks noChangeArrowheads="1"/>
          </p:cNvSpPr>
          <p:nvPr/>
        </p:nvSpPr>
        <p:spPr bwMode="auto">
          <a:xfrm>
            <a:off x="3429000" y="5934075"/>
            <a:ext cx="3886200" cy="923925"/>
          </a:xfrm>
          <a:prstGeom prst="rect">
            <a:avLst/>
          </a:prstGeom>
          <a:noFill/>
          <a:ln w="9525">
            <a:noFill/>
            <a:miter lim="800000"/>
            <a:headEnd/>
            <a:tailEnd/>
          </a:ln>
        </p:spPr>
        <p:txBody>
          <a:bodyPr>
            <a:spAutoFit/>
          </a:bodyPr>
          <a:lstStyle/>
          <a:p>
            <a:pPr algn="l"/>
            <a:r>
              <a:rPr lang="en-US" b="1"/>
              <a:t>cells of thiobacilli growing in a "floc" of cellular material and sulfur in water.</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06"/>
                                        </p:tgtEl>
                                        <p:attrNameLst>
                                          <p:attrName>style.visibility</p:attrName>
                                        </p:attrNameLst>
                                      </p:cBhvr>
                                      <p:to>
                                        <p:strVal val="visible"/>
                                      </p:to>
                                    </p:set>
                                    <p:animEffect transition="in" filter="blinds(horizontal)">
                                      <p:cBhvr>
                                        <p:cTn id="7" dur="500"/>
                                        <p:tgtEl>
                                          <p:spTgt spid="983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8309"/>
                                        </p:tgtEl>
                                        <p:attrNameLst>
                                          <p:attrName>style.visibility</p:attrName>
                                        </p:attrNameLst>
                                      </p:cBhvr>
                                      <p:to>
                                        <p:strVal val="visible"/>
                                      </p:to>
                                    </p:set>
                                    <p:anim calcmode="lin" valueType="num">
                                      <p:cBhvr additive="base">
                                        <p:cTn id="12" dur="500" fill="hold"/>
                                        <p:tgtEl>
                                          <p:spTgt spid="98309"/>
                                        </p:tgtEl>
                                        <p:attrNameLst>
                                          <p:attrName>ppt_x</p:attrName>
                                        </p:attrNameLst>
                                      </p:cBhvr>
                                      <p:tavLst>
                                        <p:tav tm="0">
                                          <p:val>
                                            <p:strVal val="0-#ppt_w/2"/>
                                          </p:val>
                                        </p:tav>
                                        <p:tav tm="100000">
                                          <p:val>
                                            <p:strVal val="#ppt_x"/>
                                          </p:val>
                                        </p:tav>
                                      </p:tavLst>
                                    </p:anim>
                                    <p:anim calcmode="lin" valueType="num">
                                      <p:cBhvr additive="base">
                                        <p:cTn id="13" dur="500" fill="hold"/>
                                        <p:tgtEl>
                                          <p:spTgt spid="9830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98312"/>
                                        </p:tgtEl>
                                        <p:attrNameLst>
                                          <p:attrName>style.visibility</p:attrName>
                                        </p:attrNameLst>
                                      </p:cBhvr>
                                      <p:to>
                                        <p:strVal val="visible"/>
                                      </p:to>
                                    </p:set>
                                    <p:anim calcmode="lin" valueType="num">
                                      <p:cBhvr additive="base">
                                        <p:cTn id="18" dur="500" fill="hold"/>
                                        <p:tgtEl>
                                          <p:spTgt spid="98312"/>
                                        </p:tgtEl>
                                        <p:attrNameLst>
                                          <p:attrName>ppt_x</p:attrName>
                                        </p:attrNameLst>
                                      </p:cBhvr>
                                      <p:tavLst>
                                        <p:tav tm="0">
                                          <p:val>
                                            <p:strVal val="1+#ppt_w/2"/>
                                          </p:val>
                                        </p:tav>
                                        <p:tav tm="100000">
                                          <p:val>
                                            <p:strVal val="#ppt_x"/>
                                          </p:val>
                                        </p:tav>
                                      </p:tavLst>
                                    </p:anim>
                                    <p:anim calcmode="lin" valueType="num">
                                      <p:cBhvr additive="base">
                                        <p:cTn id="19" dur="500" fill="hold"/>
                                        <p:tgtEl>
                                          <p:spTgt spid="9831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98313"/>
                                        </p:tgtEl>
                                        <p:attrNameLst>
                                          <p:attrName>style.visibility</p:attrName>
                                        </p:attrNameLst>
                                      </p:cBhvr>
                                      <p:to>
                                        <p:strVal val="visible"/>
                                      </p:to>
                                    </p:set>
                                    <p:anim calcmode="lin" valueType="num">
                                      <p:cBhvr additive="base">
                                        <p:cTn id="24" dur="500" fill="hold"/>
                                        <p:tgtEl>
                                          <p:spTgt spid="98313"/>
                                        </p:tgtEl>
                                        <p:attrNameLst>
                                          <p:attrName>ppt_x</p:attrName>
                                        </p:attrNameLst>
                                      </p:cBhvr>
                                      <p:tavLst>
                                        <p:tav tm="0">
                                          <p:val>
                                            <p:strVal val="1+#ppt_w/2"/>
                                          </p:val>
                                        </p:tav>
                                        <p:tav tm="100000">
                                          <p:val>
                                            <p:strVal val="#ppt_x"/>
                                          </p:val>
                                        </p:tav>
                                      </p:tavLst>
                                    </p:anim>
                                    <p:anim calcmode="lin" valueType="num">
                                      <p:cBhvr additive="base">
                                        <p:cTn id="25" dur="500" fill="hold"/>
                                        <p:tgtEl>
                                          <p:spTgt spid="98313"/>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98314"/>
                                        </p:tgtEl>
                                        <p:attrNameLst>
                                          <p:attrName>style.visibility</p:attrName>
                                        </p:attrNameLst>
                                      </p:cBhvr>
                                      <p:to>
                                        <p:strVal val="visible"/>
                                      </p:to>
                                    </p:set>
                                    <p:anim calcmode="lin" valueType="num">
                                      <p:cBhvr additive="base">
                                        <p:cTn id="30" dur="500" fill="hold"/>
                                        <p:tgtEl>
                                          <p:spTgt spid="98314"/>
                                        </p:tgtEl>
                                        <p:attrNameLst>
                                          <p:attrName>ppt_x</p:attrName>
                                        </p:attrNameLst>
                                      </p:cBhvr>
                                      <p:tavLst>
                                        <p:tav tm="0">
                                          <p:val>
                                            <p:strVal val="1+#ppt_w/2"/>
                                          </p:val>
                                        </p:tav>
                                        <p:tav tm="100000">
                                          <p:val>
                                            <p:strVal val="#ppt_x"/>
                                          </p:val>
                                        </p:tav>
                                      </p:tavLst>
                                    </p:anim>
                                    <p:anim calcmode="lin" valueType="num">
                                      <p:cBhvr additive="base">
                                        <p:cTn id="31" dur="500" fill="hold"/>
                                        <p:tgtEl>
                                          <p:spTgt spid="9831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98315"/>
                                        </p:tgtEl>
                                        <p:attrNameLst>
                                          <p:attrName>style.visibility</p:attrName>
                                        </p:attrNameLst>
                                      </p:cBhvr>
                                      <p:to>
                                        <p:strVal val="visible"/>
                                      </p:to>
                                    </p:set>
                                    <p:anim calcmode="lin" valueType="num">
                                      <p:cBhvr additive="base">
                                        <p:cTn id="36" dur="500" fill="hold"/>
                                        <p:tgtEl>
                                          <p:spTgt spid="98315"/>
                                        </p:tgtEl>
                                        <p:attrNameLst>
                                          <p:attrName>ppt_x</p:attrName>
                                        </p:attrNameLst>
                                      </p:cBhvr>
                                      <p:tavLst>
                                        <p:tav tm="0">
                                          <p:val>
                                            <p:strVal val="1+#ppt_w/2"/>
                                          </p:val>
                                        </p:tav>
                                        <p:tav tm="100000">
                                          <p:val>
                                            <p:strVal val="#ppt_x"/>
                                          </p:val>
                                        </p:tav>
                                      </p:tavLst>
                                    </p:anim>
                                    <p:anim calcmode="lin" valueType="num">
                                      <p:cBhvr additive="base">
                                        <p:cTn id="37" dur="500" fill="hold"/>
                                        <p:tgtEl>
                                          <p:spTgt spid="9831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98316"/>
                                        </p:tgtEl>
                                        <p:attrNameLst>
                                          <p:attrName>style.visibility</p:attrName>
                                        </p:attrNameLst>
                                      </p:cBhvr>
                                      <p:to>
                                        <p:strVal val="visible"/>
                                      </p:to>
                                    </p:set>
                                    <p:anim calcmode="lin" valueType="num">
                                      <p:cBhvr additive="base">
                                        <p:cTn id="42" dur="500" fill="hold"/>
                                        <p:tgtEl>
                                          <p:spTgt spid="98316"/>
                                        </p:tgtEl>
                                        <p:attrNameLst>
                                          <p:attrName>ppt_x</p:attrName>
                                        </p:attrNameLst>
                                      </p:cBhvr>
                                      <p:tavLst>
                                        <p:tav tm="0">
                                          <p:val>
                                            <p:strVal val="1+#ppt_w/2"/>
                                          </p:val>
                                        </p:tav>
                                        <p:tav tm="100000">
                                          <p:val>
                                            <p:strVal val="#ppt_x"/>
                                          </p:val>
                                        </p:tav>
                                      </p:tavLst>
                                    </p:anim>
                                    <p:anim calcmode="lin" valueType="num">
                                      <p:cBhvr additive="base">
                                        <p:cTn id="43" dur="500" fill="hold"/>
                                        <p:tgtEl>
                                          <p:spTgt spid="98316"/>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98317"/>
                                        </p:tgtEl>
                                        <p:attrNameLst>
                                          <p:attrName>style.visibility</p:attrName>
                                        </p:attrNameLst>
                                      </p:cBhvr>
                                      <p:to>
                                        <p:strVal val="visible"/>
                                      </p:to>
                                    </p:set>
                                    <p:anim calcmode="lin" valueType="num">
                                      <p:cBhvr additive="base">
                                        <p:cTn id="48" dur="500" fill="hold"/>
                                        <p:tgtEl>
                                          <p:spTgt spid="98317"/>
                                        </p:tgtEl>
                                        <p:attrNameLst>
                                          <p:attrName>ppt_x</p:attrName>
                                        </p:attrNameLst>
                                      </p:cBhvr>
                                      <p:tavLst>
                                        <p:tav tm="0">
                                          <p:val>
                                            <p:strVal val="1+#ppt_w/2"/>
                                          </p:val>
                                        </p:tav>
                                        <p:tav tm="100000">
                                          <p:val>
                                            <p:strVal val="#ppt_x"/>
                                          </p:val>
                                        </p:tav>
                                      </p:tavLst>
                                    </p:anim>
                                    <p:anim calcmode="lin" valueType="num">
                                      <p:cBhvr additive="base">
                                        <p:cTn id="49" dur="500" fill="hold"/>
                                        <p:tgtEl>
                                          <p:spTgt spid="98317"/>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98318"/>
                                        </p:tgtEl>
                                        <p:attrNameLst>
                                          <p:attrName>style.visibility</p:attrName>
                                        </p:attrNameLst>
                                      </p:cBhvr>
                                      <p:to>
                                        <p:strVal val="visible"/>
                                      </p:to>
                                    </p:set>
                                    <p:anim calcmode="lin" valueType="num">
                                      <p:cBhvr additive="base">
                                        <p:cTn id="54" dur="500" fill="hold"/>
                                        <p:tgtEl>
                                          <p:spTgt spid="98318"/>
                                        </p:tgtEl>
                                        <p:attrNameLst>
                                          <p:attrName>ppt_x</p:attrName>
                                        </p:attrNameLst>
                                      </p:cBhvr>
                                      <p:tavLst>
                                        <p:tav tm="0">
                                          <p:val>
                                            <p:strVal val="1+#ppt_w/2"/>
                                          </p:val>
                                        </p:tav>
                                        <p:tav tm="100000">
                                          <p:val>
                                            <p:strVal val="#ppt_x"/>
                                          </p:val>
                                        </p:tav>
                                      </p:tavLst>
                                    </p:anim>
                                    <p:anim calcmode="lin" valueType="num">
                                      <p:cBhvr additive="base">
                                        <p:cTn id="55" dur="500" fill="hold"/>
                                        <p:tgtEl>
                                          <p:spTgt spid="98318"/>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98319"/>
                                        </p:tgtEl>
                                        <p:attrNameLst>
                                          <p:attrName>style.visibility</p:attrName>
                                        </p:attrNameLst>
                                      </p:cBhvr>
                                      <p:to>
                                        <p:strVal val="visible"/>
                                      </p:to>
                                    </p:set>
                                    <p:anim calcmode="lin" valueType="num">
                                      <p:cBhvr additive="base">
                                        <p:cTn id="60" dur="500" fill="hold"/>
                                        <p:tgtEl>
                                          <p:spTgt spid="98319"/>
                                        </p:tgtEl>
                                        <p:attrNameLst>
                                          <p:attrName>ppt_x</p:attrName>
                                        </p:attrNameLst>
                                      </p:cBhvr>
                                      <p:tavLst>
                                        <p:tav tm="0">
                                          <p:val>
                                            <p:strVal val="1+#ppt_w/2"/>
                                          </p:val>
                                        </p:tav>
                                        <p:tav tm="100000">
                                          <p:val>
                                            <p:strVal val="#ppt_x"/>
                                          </p:val>
                                        </p:tav>
                                      </p:tavLst>
                                    </p:anim>
                                    <p:anim calcmode="lin" valueType="num">
                                      <p:cBhvr additive="base">
                                        <p:cTn id="61" dur="500" fill="hold"/>
                                        <p:tgtEl>
                                          <p:spTgt spid="98319"/>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98320"/>
                                        </p:tgtEl>
                                        <p:attrNameLst>
                                          <p:attrName>style.visibility</p:attrName>
                                        </p:attrNameLst>
                                      </p:cBhvr>
                                      <p:to>
                                        <p:strVal val="visible"/>
                                      </p:to>
                                    </p:set>
                                    <p:anim calcmode="lin" valueType="num">
                                      <p:cBhvr additive="base">
                                        <p:cTn id="66" dur="500" fill="hold"/>
                                        <p:tgtEl>
                                          <p:spTgt spid="98320"/>
                                        </p:tgtEl>
                                        <p:attrNameLst>
                                          <p:attrName>ppt_x</p:attrName>
                                        </p:attrNameLst>
                                      </p:cBhvr>
                                      <p:tavLst>
                                        <p:tav tm="0">
                                          <p:val>
                                            <p:strVal val="#ppt_x"/>
                                          </p:val>
                                        </p:tav>
                                        <p:tav tm="100000">
                                          <p:val>
                                            <p:strVal val="#ppt_x"/>
                                          </p:val>
                                        </p:tav>
                                      </p:tavLst>
                                    </p:anim>
                                    <p:anim calcmode="lin" valueType="num">
                                      <p:cBhvr additive="base">
                                        <p:cTn id="67" dur="500" fill="hold"/>
                                        <p:tgtEl>
                                          <p:spTgt spid="98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12" grpId="0" autoUpdateAnimBg="0"/>
      <p:bldP spid="98313" grpId="0" autoUpdateAnimBg="0"/>
      <p:bldP spid="98314" grpId="0" autoUpdateAnimBg="0"/>
      <p:bldP spid="98315" grpId="0" autoUpdateAnimBg="0"/>
      <p:bldP spid="98316" grpId="0" autoUpdateAnimBg="0"/>
      <p:bldP spid="98317" grpId="0" autoUpdateAnimBg="0"/>
      <p:bldP spid="98318" grpId="0" autoUpdateAnimBg="0"/>
      <p:bldP spid="98319" grpId="0" autoUpdateAnimBg="0"/>
      <p:bldP spid="98320"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i="1" smtClean="0"/>
              <a:t>Beggiatoa</a:t>
            </a:r>
          </a:p>
        </p:txBody>
      </p:sp>
      <p:sp>
        <p:nvSpPr>
          <p:cNvPr id="17411" name="Rectangle 4"/>
          <p:cNvSpPr>
            <a:spLocks noChangeArrowheads="1"/>
          </p:cNvSpPr>
          <p:nvPr/>
        </p:nvSpPr>
        <p:spPr bwMode="auto">
          <a:xfrm>
            <a:off x="609600" y="-3279775"/>
            <a:ext cx="4038600" cy="1004887"/>
          </a:xfrm>
          <a:prstGeom prst="rect">
            <a:avLst/>
          </a:prstGeom>
          <a:noFill/>
          <a:ln w="9525">
            <a:noFill/>
            <a:miter lim="800000"/>
            <a:headEnd/>
            <a:tailEnd/>
          </a:ln>
        </p:spPr>
        <p:txBody>
          <a:bodyPr>
            <a:spAutoFit/>
          </a:bodyPr>
          <a:lstStyle/>
          <a:p>
            <a:pPr algn="l">
              <a:spcBef>
                <a:spcPct val="50000"/>
              </a:spcBef>
            </a:pPr>
            <a:r>
              <a:rPr lang="en-US">
                <a:latin typeface="Calibri" pitchFamily="34" charset="0"/>
              </a:rPr>
              <a:t>. </a:t>
            </a:r>
          </a:p>
          <a:p>
            <a:pPr algn="l">
              <a:spcBef>
                <a:spcPct val="50000"/>
              </a:spcBef>
            </a:pPr>
            <a:r>
              <a:rPr lang="en-US">
                <a:latin typeface="Calibri" pitchFamily="34" charset="0"/>
              </a:rPr>
              <a:t>                              </a:t>
            </a:r>
          </a:p>
        </p:txBody>
      </p:sp>
      <p:sp>
        <p:nvSpPr>
          <p:cNvPr id="100357" name="Text Box 5"/>
          <p:cNvSpPr txBox="1">
            <a:spLocks noChangeArrowheads="1"/>
          </p:cNvSpPr>
          <p:nvPr/>
        </p:nvSpPr>
        <p:spPr bwMode="auto">
          <a:xfrm>
            <a:off x="4648200" y="2057400"/>
            <a:ext cx="4208463" cy="457200"/>
          </a:xfrm>
          <a:prstGeom prst="rect">
            <a:avLst/>
          </a:prstGeom>
          <a:noFill/>
          <a:ln w="9525">
            <a:noFill/>
            <a:miter lim="800000"/>
            <a:headEnd/>
            <a:tailEnd/>
          </a:ln>
        </p:spPr>
        <p:txBody>
          <a:bodyPr wrap="none">
            <a:spAutoFit/>
          </a:bodyPr>
          <a:lstStyle/>
          <a:p>
            <a:pPr algn="l"/>
            <a:r>
              <a:rPr lang="en-US" b="1" dirty="0">
                <a:solidFill>
                  <a:schemeClr val="folHlink"/>
                </a:solidFill>
                <a:latin typeface="Calibri" pitchFamily="34" charset="0"/>
              </a:rPr>
              <a:t>Aerobic or </a:t>
            </a:r>
            <a:r>
              <a:rPr lang="en-US" b="1" dirty="0" err="1">
                <a:solidFill>
                  <a:schemeClr val="folHlink"/>
                </a:solidFill>
                <a:latin typeface="Calibri" pitchFamily="34" charset="0"/>
              </a:rPr>
              <a:t>microaerophilic</a:t>
            </a:r>
            <a:endParaRPr lang="en-US" b="1" dirty="0">
              <a:solidFill>
                <a:schemeClr val="folHlink"/>
              </a:solidFill>
              <a:latin typeface="Calibri" pitchFamily="34" charset="0"/>
            </a:endParaRPr>
          </a:p>
        </p:txBody>
      </p:sp>
      <p:sp>
        <p:nvSpPr>
          <p:cNvPr id="100358" name="Text Box 6"/>
          <p:cNvSpPr txBox="1">
            <a:spLocks noChangeArrowheads="1"/>
          </p:cNvSpPr>
          <p:nvPr/>
        </p:nvSpPr>
        <p:spPr bwMode="auto">
          <a:xfrm>
            <a:off x="4648200" y="2514600"/>
            <a:ext cx="2474913"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Gram-negative</a:t>
            </a:r>
          </a:p>
        </p:txBody>
      </p:sp>
      <p:sp>
        <p:nvSpPr>
          <p:cNvPr id="100359" name="Text Box 7"/>
          <p:cNvSpPr txBox="1">
            <a:spLocks noChangeArrowheads="1"/>
          </p:cNvSpPr>
          <p:nvPr/>
        </p:nvSpPr>
        <p:spPr bwMode="auto">
          <a:xfrm>
            <a:off x="4648200" y="2971800"/>
            <a:ext cx="4191000" cy="822325"/>
          </a:xfrm>
          <a:prstGeom prst="rect">
            <a:avLst/>
          </a:prstGeom>
          <a:noFill/>
          <a:ln w="9525">
            <a:noFill/>
            <a:miter lim="800000"/>
            <a:headEnd/>
            <a:tailEnd/>
          </a:ln>
        </p:spPr>
        <p:txBody>
          <a:bodyPr>
            <a:spAutoFit/>
          </a:bodyPr>
          <a:lstStyle/>
          <a:p>
            <a:pPr algn="l"/>
            <a:r>
              <a:rPr lang="en-US" b="1">
                <a:solidFill>
                  <a:schemeClr val="folHlink"/>
                </a:solidFill>
                <a:latin typeface="Calibri" pitchFamily="34" charset="0"/>
              </a:rPr>
              <a:t>Disk shaped, filament forming</a:t>
            </a:r>
          </a:p>
        </p:txBody>
      </p:sp>
      <p:sp>
        <p:nvSpPr>
          <p:cNvPr id="100360" name="Text Box 8"/>
          <p:cNvSpPr txBox="1">
            <a:spLocks noChangeArrowheads="1"/>
          </p:cNvSpPr>
          <p:nvPr/>
        </p:nvSpPr>
        <p:spPr bwMode="auto">
          <a:xfrm>
            <a:off x="4648200" y="3810000"/>
            <a:ext cx="2730500"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Motile by gliding</a:t>
            </a:r>
          </a:p>
        </p:txBody>
      </p:sp>
      <p:sp>
        <p:nvSpPr>
          <p:cNvPr id="100361" name="Text Box 9"/>
          <p:cNvSpPr txBox="1">
            <a:spLocks noChangeArrowheads="1"/>
          </p:cNvSpPr>
          <p:nvPr/>
        </p:nvSpPr>
        <p:spPr bwMode="auto">
          <a:xfrm>
            <a:off x="4648200" y="4267200"/>
            <a:ext cx="3081338"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Non-spore forming</a:t>
            </a:r>
          </a:p>
        </p:txBody>
      </p:sp>
      <p:sp>
        <p:nvSpPr>
          <p:cNvPr id="100362" name="Text Box 10"/>
          <p:cNvSpPr txBox="1">
            <a:spLocks noChangeArrowheads="1"/>
          </p:cNvSpPr>
          <p:nvPr/>
        </p:nvSpPr>
        <p:spPr bwMode="auto">
          <a:xfrm>
            <a:off x="4648200" y="4724400"/>
            <a:ext cx="4495800" cy="822325"/>
          </a:xfrm>
          <a:prstGeom prst="rect">
            <a:avLst/>
          </a:prstGeom>
          <a:noFill/>
          <a:ln w="9525">
            <a:noFill/>
            <a:miter lim="800000"/>
            <a:headEnd/>
            <a:tailEnd/>
          </a:ln>
        </p:spPr>
        <p:txBody>
          <a:bodyPr>
            <a:spAutoFit/>
          </a:bodyPr>
          <a:lstStyle/>
          <a:p>
            <a:pPr algn="l"/>
            <a:r>
              <a:rPr lang="en-US" b="1">
                <a:solidFill>
                  <a:schemeClr val="folHlink"/>
                </a:solidFill>
                <a:latin typeface="Calibri" pitchFamily="34" charset="0"/>
              </a:rPr>
              <a:t>Growth occurs between 0-40 </a:t>
            </a:r>
            <a:r>
              <a:rPr lang="en-US" b="1" baseline="30000">
                <a:solidFill>
                  <a:schemeClr val="folHlink"/>
                </a:solidFill>
                <a:latin typeface="Calibri" pitchFamily="34" charset="0"/>
              </a:rPr>
              <a:t>o</a:t>
            </a:r>
            <a:r>
              <a:rPr lang="en-US" b="1">
                <a:solidFill>
                  <a:schemeClr val="folHlink"/>
                </a:solidFill>
                <a:latin typeface="Calibri" pitchFamily="34" charset="0"/>
              </a:rPr>
              <a:t>C</a:t>
            </a:r>
          </a:p>
        </p:txBody>
      </p:sp>
      <p:sp>
        <p:nvSpPr>
          <p:cNvPr id="100363" name="Text Box 11"/>
          <p:cNvSpPr txBox="1">
            <a:spLocks noChangeArrowheads="1"/>
          </p:cNvSpPr>
          <p:nvPr/>
        </p:nvSpPr>
        <p:spPr bwMode="auto">
          <a:xfrm>
            <a:off x="4648200" y="5562600"/>
            <a:ext cx="4267200" cy="822325"/>
          </a:xfrm>
          <a:prstGeom prst="rect">
            <a:avLst/>
          </a:prstGeom>
          <a:noFill/>
          <a:ln w="9525">
            <a:noFill/>
            <a:miter lim="800000"/>
            <a:headEnd/>
            <a:tailEnd/>
          </a:ln>
        </p:spPr>
        <p:txBody>
          <a:bodyPr>
            <a:spAutoFit/>
          </a:bodyPr>
          <a:lstStyle/>
          <a:p>
            <a:pPr algn="l">
              <a:spcBef>
                <a:spcPct val="50000"/>
              </a:spcBef>
            </a:pPr>
            <a:r>
              <a:rPr lang="en-US" b="1">
                <a:solidFill>
                  <a:schemeClr val="folHlink"/>
                </a:solidFill>
                <a:latin typeface="Calibri" pitchFamily="34" charset="0"/>
              </a:rPr>
              <a:t>Chemoorganotrophic and facultatively autotrophic</a:t>
            </a:r>
          </a:p>
        </p:txBody>
      </p:sp>
      <p:pic>
        <p:nvPicPr>
          <p:cNvPr id="100366" name="Picture 14" descr="beggia02"/>
          <p:cNvPicPr>
            <a:picLocks noChangeAspect="1" noChangeArrowheads="1"/>
          </p:cNvPicPr>
          <p:nvPr/>
        </p:nvPicPr>
        <p:blipFill>
          <a:blip r:embed="rId2"/>
          <a:srcRect/>
          <a:stretch>
            <a:fillRect/>
          </a:stretch>
        </p:blipFill>
        <p:spPr bwMode="auto">
          <a:xfrm>
            <a:off x="533400" y="2352675"/>
            <a:ext cx="3962400" cy="37433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blinds(horizontal)">
                                      <p:cBhvr>
                                        <p:cTn id="7" dur="500"/>
                                        <p:tgtEl>
                                          <p:spTgt spid="1003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0366"/>
                                        </p:tgtEl>
                                        <p:attrNameLst>
                                          <p:attrName>style.visibility</p:attrName>
                                        </p:attrNameLst>
                                      </p:cBhvr>
                                      <p:to>
                                        <p:strVal val="visible"/>
                                      </p:to>
                                    </p:set>
                                    <p:anim calcmode="lin" valueType="num">
                                      <p:cBhvr additive="base">
                                        <p:cTn id="12" dur="500" fill="hold"/>
                                        <p:tgtEl>
                                          <p:spTgt spid="100366"/>
                                        </p:tgtEl>
                                        <p:attrNameLst>
                                          <p:attrName>ppt_x</p:attrName>
                                        </p:attrNameLst>
                                      </p:cBhvr>
                                      <p:tavLst>
                                        <p:tav tm="0">
                                          <p:val>
                                            <p:strVal val="#ppt_x"/>
                                          </p:val>
                                        </p:tav>
                                        <p:tav tm="100000">
                                          <p:val>
                                            <p:strVal val="#ppt_x"/>
                                          </p:val>
                                        </p:tav>
                                      </p:tavLst>
                                    </p:anim>
                                    <p:anim calcmode="lin" valueType="num">
                                      <p:cBhvr additive="base">
                                        <p:cTn id="13" dur="500" fill="hold"/>
                                        <p:tgtEl>
                                          <p:spTgt spid="10036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0357"/>
                                        </p:tgtEl>
                                        <p:attrNameLst>
                                          <p:attrName>style.visibility</p:attrName>
                                        </p:attrNameLst>
                                      </p:cBhvr>
                                      <p:to>
                                        <p:strVal val="visible"/>
                                      </p:to>
                                    </p:set>
                                    <p:anim calcmode="lin" valueType="num">
                                      <p:cBhvr additive="base">
                                        <p:cTn id="18" dur="500" fill="hold"/>
                                        <p:tgtEl>
                                          <p:spTgt spid="100357"/>
                                        </p:tgtEl>
                                        <p:attrNameLst>
                                          <p:attrName>ppt_x</p:attrName>
                                        </p:attrNameLst>
                                      </p:cBhvr>
                                      <p:tavLst>
                                        <p:tav tm="0">
                                          <p:val>
                                            <p:strVal val="1+#ppt_w/2"/>
                                          </p:val>
                                        </p:tav>
                                        <p:tav tm="100000">
                                          <p:val>
                                            <p:strVal val="#ppt_x"/>
                                          </p:val>
                                        </p:tav>
                                      </p:tavLst>
                                    </p:anim>
                                    <p:anim calcmode="lin" valueType="num">
                                      <p:cBhvr additive="base">
                                        <p:cTn id="19" dur="500" fill="hold"/>
                                        <p:tgtEl>
                                          <p:spTgt spid="10035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00358"/>
                                        </p:tgtEl>
                                        <p:attrNameLst>
                                          <p:attrName>style.visibility</p:attrName>
                                        </p:attrNameLst>
                                      </p:cBhvr>
                                      <p:to>
                                        <p:strVal val="visible"/>
                                      </p:to>
                                    </p:set>
                                    <p:anim calcmode="lin" valueType="num">
                                      <p:cBhvr additive="base">
                                        <p:cTn id="24" dur="500" fill="hold"/>
                                        <p:tgtEl>
                                          <p:spTgt spid="100358"/>
                                        </p:tgtEl>
                                        <p:attrNameLst>
                                          <p:attrName>ppt_x</p:attrName>
                                        </p:attrNameLst>
                                      </p:cBhvr>
                                      <p:tavLst>
                                        <p:tav tm="0">
                                          <p:val>
                                            <p:strVal val="1+#ppt_w/2"/>
                                          </p:val>
                                        </p:tav>
                                        <p:tav tm="100000">
                                          <p:val>
                                            <p:strVal val="#ppt_x"/>
                                          </p:val>
                                        </p:tav>
                                      </p:tavLst>
                                    </p:anim>
                                    <p:anim calcmode="lin" valueType="num">
                                      <p:cBhvr additive="base">
                                        <p:cTn id="25" dur="500" fill="hold"/>
                                        <p:tgtEl>
                                          <p:spTgt spid="10035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00359"/>
                                        </p:tgtEl>
                                        <p:attrNameLst>
                                          <p:attrName>style.visibility</p:attrName>
                                        </p:attrNameLst>
                                      </p:cBhvr>
                                      <p:to>
                                        <p:strVal val="visible"/>
                                      </p:to>
                                    </p:set>
                                    <p:anim calcmode="lin" valueType="num">
                                      <p:cBhvr additive="base">
                                        <p:cTn id="30" dur="500" fill="hold"/>
                                        <p:tgtEl>
                                          <p:spTgt spid="100359"/>
                                        </p:tgtEl>
                                        <p:attrNameLst>
                                          <p:attrName>ppt_x</p:attrName>
                                        </p:attrNameLst>
                                      </p:cBhvr>
                                      <p:tavLst>
                                        <p:tav tm="0">
                                          <p:val>
                                            <p:strVal val="1+#ppt_w/2"/>
                                          </p:val>
                                        </p:tav>
                                        <p:tav tm="100000">
                                          <p:val>
                                            <p:strVal val="#ppt_x"/>
                                          </p:val>
                                        </p:tav>
                                      </p:tavLst>
                                    </p:anim>
                                    <p:anim calcmode="lin" valueType="num">
                                      <p:cBhvr additive="base">
                                        <p:cTn id="31" dur="500" fill="hold"/>
                                        <p:tgtEl>
                                          <p:spTgt spid="10035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0360"/>
                                        </p:tgtEl>
                                        <p:attrNameLst>
                                          <p:attrName>style.visibility</p:attrName>
                                        </p:attrNameLst>
                                      </p:cBhvr>
                                      <p:to>
                                        <p:strVal val="visible"/>
                                      </p:to>
                                    </p:set>
                                    <p:anim calcmode="lin" valueType="num">
                                      <p:cBhvr additive="base">
                                        <p:cTn id="36" dur="500" fill="hold"/>
                                        <p:tgtEl>
                                          <p:spTgt spid="100360"/>
                                        </p:tgtEl>
                                        <p:attrNameLst>
                                          <p:attrName>ppt_x</p:attrName>
                                        </p:attrNameLst>
                                      </p:cBhvr>
                                      <p:tavLst>
                                        <p:tav tm="0">
                                          <p:val>
                                            <p:strVal val="1+#ppt_w/2"/>
                                          </p:val>
                                        </p:tav>
                                        <p:tav tm="100000">
                                          <p:val>
                                            <p:strVal val="#ppt_x"/>
                                          </p:val>
                                        </p:tav>
                                      </p:tavLst>
                                    </p:anim>
                                    <p:anim calcmode="lin" valueType="num">
                                      <p:cBhvr additive="base">
                                        <p:cTn id="37" dur="500" fill="hold"/>
                                        <p:tgtEl>
                                          <p:spTgt spid="100360"/>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00361"/>
                                        </p:tgtEl>
                                        <p:attrNameLst>
                                          <p:attrName>style.visibility</p:attrName>
                                        </p:attrNameLst>
                                      </p:cBhvr>
                                      <p:to>
                                        <p:strVal val="visible"/>
                                      </p:to>
                                    </p:set>
                                    <p:anim calcmode="lin" valueType="num">
                                      <p:cBhvr additive="base">
                                        <p:cTn id="42" dur="500" fill="hold"/>
                                        <p:tgtEl>
                                          <p:spTgt spid="100361"/>
                                        </p:tgtEl>
                                        <p:attrNameLst>
                                          <p:attrName>ppt_x</p:attrName>
                                        </p:attrNameLst>
                                      </p:cBhvr>
                                      <p:tavLst>
                                        <p:tav tm="0">
                                          <p:val>
                                            <p:strVal val="1+#ppt_w/2"/>
                                          </p:val>
                                        </p:tav>
                                        <p:tav tm="100000">
                                          <p:val>
                                            <p:strVal val="#ppt_x"/>
                                          </p:val>
                                        </p:tav>
                                      </p:tavLst>
                                    </p:anim>
                                    <p:anim calcmode="lin" valueType="num">
                                      <p:cBhvr additive="base">
                                        <p:cTn id="43" dur="500" fill="hold"/>
                                        <p:tgtEl>
                                          <p:spTgt spid="100361"/>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00362"/>
                                        </p:tgtEl>
                                        <p:attrNameLst>
                                          <p:attrName>style.visibility</p:attrName>
                                        </p:attrNameLst>
                                      </p:cBhvr>
                                      <p:to>
                                        <p:strVal val="visible"/>
                                      </p:to>
                                    </p:set>
                                    <p:anim calcmode="lin" valueType="num">
                                      <p:cBhvr additive="base">
                                        <p:cTn id="48" dur="500" fill="hold"/>
                                        <p:tgtEl>
                                          <p:spTgt spid="100362"/>
                                        </p:tgtEl>
                                        <p:attrNameLst>
                                          <p:attrName>ppt_x</p:attrName>
                                        </p:attrNameLst>
                                      </p:cBhvr>
                                      <p:tavLst>
                                        <p:tav tm="0">
                                          <p:val>
                                            <p:strVal val="1+#ppt_w/2"/>
                                          </p:val>
                                        </p:tav>
                                        <p:tav tm="100000">
                                          <p:val>
                                            <p:strVal val="#ppt_x"/>
                                          </p:val>
                                        </p:tav>
                                      </p:tavLst>
                                    </p:anim>
                                    <p:anim calcmode="lin" valueType="num">
                                      <p:cBhvr additive="base">
                                        <p:cTn id="49" dur="500" fill="hold"/>
                                        <p:tgtEl>
                                          <p:spTgt spid="100362"/>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100363"/>
                                        </p:tgtEl>
                                        <p:attrNameLst>
                                          <p:attrName>style.visibility</p:attrName>
                                        </p:attrNameLst>
                                      </p:cBhvr>
                                      <p:to>
                                        <p:strVal val="visible"/>
                                      </p:to>
                                    </p:set>
                                    <p:anim calcmode="lin" valueType="num">
                                      <p:cBhvr additive="base">
                                        <p:cTn id="54" dur="500" fill="hold"/>
                                        <p:tgtEl>
                                          <p:spTgt spid="100363"/>
                                        </p:tgtEl>
                                        <p:attrNameLst>
                                          <p:attrName>ppt_x</p:attrName>
                                        </p:attrNameLst>
                                      </p:cBhvr>
                                      <p:tavLst>
                                        <p:tav tm="0">
                                          <p:val>
                                            <p:strVal val="1+#ppt_w/2"/>
                                          </p:val>
                                        </p:tav>
                                        <p:tav tm="100000">
                                          <p:val>
                                            <p:strVal val="#ppt_x"/>
                                          </p:val>
                                        </p:tav>
                                      </p:tavLst>
                                    </p:anim>
                                    <p:anim calcmode="lin" valueType="num">
                                      <p:cBhvr additive="base">
                                        <p:cTn id="55" dur="500" fill="hold"/>
                                        <p:tgtEl>
                                          <p:spTgt spid="1003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utoUpdateAnimBg="0"/>
      <p:bldP spid="100357" grpId="0" autoUpdateAnimBg="0"/>
      <p:bldP spid="100358" grpId="0" autoUpdateAnimBg="0"/>
      <p:bldP spid="100359" grpId="0" autoUpdateAnimBg="0"/>
      <p:bldP spid="100360" grpId="0" autoUpdateAnimBg="0"/>
      <p:bldP spid="100361" grpId="0" autoUpdateAnimBg="0"/>
      <p:bldP spid="100362" grpId="0" autoUpdateAnimBg="0"/>
      <p:bldP spid="100363"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i="1" smtClean="0"/>
              <a:t>Sulfolobus</a:t>
            </a:r>
          </a:p>
        </p:txBody>
      </p:sp>
      <p:sp>
        <p:nvSpPr>
          <p:cNvPr id="18435" name="Rectangle 3"/>
          <p:cNvSpPr>
            <a:spLocks noChangeArrowheads="1"/>
          </p:cNvSpPr>
          <p:nvPr/>
        </p:nvSpPr>
        <p:spPr bwMode="auto">
          <a:xfrm>
            <a:off x="609600" y="-3279775"/>
            <a:ext cx="4038600" cy="1004887"/>
          </a:xfrm>
          <a:prstGeom prst="rect">
            <a:avLst/>
          </a:prstGeom>
          <a:noFill/>
          <a:ln w="9525">
            <a:noFill/>
            <a:miter lim="800000"/>
            <a:headEnd/>
            <a:tailEnd/>
          </a:ln>
        </p:spPr>
        <p:txBody>
          <a:bodyPr>
            <a:spAutoFit/>
          </a:bodyPr>
          <a:lstStyle/>
          <a:p>
            <a:pPr algn="l">
              <a:spcBef>
                <a:spcPct val="50000"/>
              </a:spcBef>
            </a:pPr>
            <a:r>
              <a:rPr lang="en-US">
                <a:latin typeface="Calibri" pitchFamily="34" charset="0"/>
              </a:rPr>
              <a:t>. </a:t>
            </a:r>
          </a:p>
          <a:p>
            <a:pPr algn="l">
              <a:spcBef>
                <a:spcPct val="50000"/>
              </a:spcBef>
            </a:pPr>
            <a:r>
              <a:rPr lang="en-US">
                <a:latin typeface="Calibri" pitchFamily="34" charset="0"/>
              </a:rPr>
              <a:t>                              </a:t>
            </a:r>
          </a:p>
        </p:txBody>
      </p:sp>
      <p:sp>
        <p:nvSpPr>
          <p:cNvPr id="101380" name="Text Box 4"/>
          <p:cNvSpPr txBox="1">
            <a:spLocks noChangeArrowheads="1"/>
          </p:cNvSpPr>
          <p:nvPr/>
        </p:nvSpPr>
        <p:spPr bwMode="auto">
          <a:xfrm>
            <a:off x="4495800" y="1905000"/>
            <a:ext cx="2501900"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Strictly aerobic</a:t>
            </a:r>
          </a:p>
        </p:txBody>
      </p:sp>
      <p:sp>
        <p:nvSpPr>
          <p:cNvPr id="101381" name="Text Box 5"/>
          <p:cNvSpPr txBox="1">
            <a:spLocks noChangeArrowheads="1"/>
          </p:cNvSpPr>
          <p:nvPr/>
        </p:nvSpPr>
        <p:spPr bwMode="auto">
          <a:xfrm>
            <a:off x="4495800" y="2362200"/>
            <a:ext cx="2674938"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Archaeabacteria</a:t>
            </a:r>
          </a:p>
        </p:txBody>
      </p:sp>
      <p:sp>
        <p:nvSpPr>
          <p:cNvPr id="101382" name="Text Box 6"/>
          <p:cNvSpPr txBox="1">
            <a:spLocks noChangeArrowheads="1"/>
          </p:cNvSpPr>
          <p:nvPr/>
        </p:nvSpPr>
        <p:spPr bwMode="auto">
          <a:xfrm>
            <a:off x="4495800" y="2819400"/>
            <a:ext cx="4191000" cy="822325"/>
          </a:xfrm>
          <a:prstGeom prst="rect">
            <a:avLst/>
          </a:prstGeom>
          <a:noFill/>
          <a:ln w="9525">
            <a:noFill/>
            <a:miter lim="800000"/>
            <a:headEnd/>
            <a:tailEnd/>
          </a:ln>
        </p:spPr>
        <p:txBody>
          <a:bodyPr>
            <a:spAutoFit/>
          </a:bodyPr>
          <a:lstStyle/>
          <a:p>
            <a:pPr algn="l"/>
            <a:r>
              <a:rPr lang="en-US" b="1">
                <a:solidFill>
                  <a:schemeClr val="folHlink"/>
                </a:solidFill>
                <a:latin typeface="Calibri" pitchFamily="34" charset="0"/>
              </a:rPr>
              <a:t>Irregular shape, filament forming</a:t>
            </a:r>
          </a:p>
        </p:txBody>
      </p:sp>
      <p:sp>
        <p:nvSpPr>
          <p:cNvPr id="101383" name="Text Box 7"/>
          <p:cNvSpPr txBox="1">
            <a:spLocks noChangeArrowheads="1"/>
          </p:cNvSpPr>
          <p:nvPr/>
        </p:nvSpPr>
        <p:spPr bwMode="auto">
          <a:xfrm>
            <a:off x="4495800" y="3657600"/>
            <a:ext cx="4525963" cy="457200"/>
          </a:xfrm>
          <a:prstGeom prst="rect">
            <a:avLst/>
          </a:prstGeom>
          <a:noFill/>
          <a:ln w="9525">
            <a:noFill/>
            <a:miter lim="800000"/>
            <a:headEnd/>
            <a:tailEnd/>
          </a:ln>
        </p:spPr>
        <p:txBody>
          <a:bodyPr wrap="none">
            <a:spAutoFit/>
          </a:bodyPr>
          <a:lstStyle/>
          <a:p>
            <a:pPr algn="l"/>
            <a:r>
              <a:rPr lang="en-US" b="1">
                <a:solidFill>
                  <a:schemeClr val="folHlink"/>
                </a:solidFill>
                <a:latin typeface="Calibri" pitchFamily="34" charset="0"/>
              </a:rPr>
              <a:t>Having pilus or pseudopodia</a:t>
            </a:r>
          </a:p>
        </p:txBody>
      </p:sp>
      <p:sp>
        <p:nvSpPr>
          <p:cNvPr id="101384" name="Text Box 8"/>
          <p:cNvSpPr txBox="1">
            <a:spLocks noChangeArrowheads="1"/>
          </p:cNvSpPr>
          <p:nvPr/>
        </p:nvSpPr>
        <p:spPr bwMode="auto">
          <a:xfrm>
            <a:off x="4495800" y="4114800"/>
            <a:ext cx="4495800" cy="822325"/>
          </a:xfrm>
          <a:prstGeom prst="rect">
            <a:avLst/>
          </a:prstGeom>
          <a:noFill/>
          <a:ln w="9525">
            <a:noFill/>
            <a:miter lim="800000"/>
            <a:headEnd/>
            <a:tailEnd/>
          </a:ln>
        </p:spPr>
        <p:txBody>
          <a:bodyPr>
            <a:spAutoFit/>
          </a:bodyPr>
          <a:lstStyle/>
          <a:p>
            <a:pPr algn="l"/>
            <a:r>
              <a:rPr lang="en-US" b="1">
                <a:solidFill>
                  <a:schemeClr val="folHlink"/>
                </a:solidFill>
                <a:latin typeface="Calibri" pitchFamily="34" charset="0"/>
              </a:rPr>
              <a:t>Found in pH 1 - 6, cannot survive above pH 7</a:t>
            </a:r>
          </a:p>
        </p:txBody>
      </p:sp>
      <p:sp>
        <p:nvSpPr>
          <p:cNvPr id="101385" name="Text Box 9"/>
          <p:cNvSpPr txBox="1">
            <a:spLocks noChangeArrowheads="1"/>
          </p:cNvSpPr>
          <p:nvPr/>
        </p:nvSpPr>
        <p:spPr bwMode="auto">
          <a:xfrm>
            <a:off x="4495800" y="4968875"/>
            <a:ext cx="4495800" cy="822325"/>
          </a:xfrm>
          <a:prstGeom prst="rect">
            <a:avLst/>
          </a:prstGeom>
          <a:noFill/>
          <a:ln w="9525">
            <a:noFill/>
            <a:miter lim="800000"/>
            <a:headEnd/>
            <a:tailEnd/>
          </a:ln>
        </p:spPr>
        <p:txBody>
          <a:bodyPr>
            <a:spAutoFit/>
          </a:bodyPr>
          <a:lstStyle/>
          <a:p>
            <a:pPr algn="l"/>
            <a:r>
              <a:rPr lang="en-US" b="1">
                <a:solidFill>
                  <a:schemeClr val="folHlink"/>
                </a:solidFill>
                <a:latin typeface="Calibri" pitchFamily="34" charset="0"/>
              </a:rPr>
              <a:t>Temperature range is form 55 - 87° C</a:t>
            </a:r>
          </a:p>
        </p:txBody>
      </p:sp>
      <p:sp>
        <p:nvSpPr>
          <p:cNvPr id="101386" name="Text Box 10"/>
          <p:cNvSpPr txBox="1">
            <a:spLocks noChangeArrowheads="1"/>
          </p:cNvSpPr>
          <p:nvPr/>
        </p:nvSpPr>
        <p:spPr bwMode="auto">
          <a:xfrm>
            <a:off x="4495800" y="5807075"/>
            <a:ext cx="4267200" cy="822325"/>
          </a:xfrm>
          <a:prstGeom prst="rect">
            <a:avLst/>
          </a:prstGeom>
          <a:noFill/>
          <a:ln w="9525">
            <a:noFill/>
            <a:miter lim="800000"/>
            <a:headEnd/>
            <a:tailEnd/>
          </a:ln>
        </p:spPr>
        <p:txBody>
          <a:bodyPr>
            <a:spAutoFit/>
          </a:bodyPr>
          <a:lstStyle/>
          <a:p>
            <a:pPr algn="l">
              <a:spcBef>
                <a:spcPct val="50000"/>
              </a:spcBef>
            </a:pPr>
            <a:r>
              <a:rPr lang="en-US" b="1">
                <a:solidFill>
                  <a:schemeClr val="folHlink"/>
                </a:solidFill>
                <a:latin typeface="Calibri" pitchFamily="34" charset="0"/>
              </a:rPr>
              <a:t>Capable of lithotrophic and organotrophic growth</a:t>
            </a:r>
          </a:p>
        </p:txBody>
      </p:sp>
      <p:pic>
        <p:nvPicPr>
          <p:cNvPr id="101388" name="Picture 12" descr="bug"/>
          <p:cNvPicPr>
            <a:picLocks noChangeAspect="1" noChangeArrowheads="1"/>
          </p:cNvPicPr>
          <p:nvPr/>
        </p:nvPicPr>
        <p:blipFill>
          <a:blip r:embed="rId2"/>
          <a:srcRect/>
          <a:stretch>
            <a:fillRect/>
          </a:stretch>
        </p:blipFill>
        <p:spPr bwMode="auto">
          <a:xfrm>
            <a:off x="533400" y="2362200"/>
            <a:ext cx="3748088" cy="3810000"/>
          </a:xfrm>
          <a:prstGeom prst="rect">
            <a:avLst/>
          </a:prstGeom>
          <a:noFill/>
          <a:ln w="9525">
            <a:noFill/>
            <a:miter lim="800000"/>
            <a:headEnd/>
            <a:tailEnd/>
          </a:ln>
        </p:spPr>
      </p:pic>
      <p:sp>
        <p:nvSpPr>
          <p:cNvPr id="18444" name="Rectangle 13"/>
          <p:cNvSpPr>
            <a:spLocks noChangeArrowheads="1"/>
          </p:cNvSpPr>
          <p:nvPr/>
        </p:nvSpPr>
        <p:spPr bwMode="auto">
          <a:xfrm>
            <a:off x="-685800" y="-1905000"/>
            <a:ext cx="4572000" cy="2647950"/>
          </a:xfrm>
          <a:prstGeom prst="rect">
            <a:avLst/>
          </a:prstGeom>
          <a:noFill/>
          <a:ln w="9525">
            <a:noFill/>
            <a:miter lim="800000"/>
            <a:headEnd/>
            <a:tailEnd/>
          </a:ln>
        </p:spPr>
        <p:txBody>
          <a:bodyPr>
            <a:spAutoFit/>
          </a:bodyPr>
          <a:lstStyle/>
          <a:p>
            <a:pPr algn="l">
              <a:spcBef>
                <a:spcPct val="50000"/>
              </a:spcBef>
            </a:pPr>
            <a:r>
              <a:rPr lang="en-US">
                <a:latin typeface="Calibri" pitchFamily="34" charset="0"/>
              </a:rPr>
              <a:t>-</a:t>
            </a:r>
          </a:p>
          <a:p>
            <a:pPr algn="l">
              <a:spcBef>
                <a:spcPct val="50000"/>
              </a:spcBef>
            </a:pPr>
            <a:endParaRPr lang="en-US">
              <a:latin typeface="Calibri" pitchFamily="34" charset="0"/>
            </a:endParaRPr>
          </a:p>
          <a:p>
            <a:pPr algn="l">
              <a:spcBef>
                <a:spcPct val="50000"/>
              </a:spcBef>
            </a:pPr>
            <a:r>
              <a:rPr lang="en-US">
                <a:latin typeface="Calibri" pitchFamily="34" charset="0"/>
              </a:rPr>
              <a:t> -</a:t>
            </a:r>
          </a:p>
          <a:p>
            <a:pPr algn="l">
              <a:spcBef>
                <a:spcPct val="50000"/>
              </a:spcBef>
            </a:pPr>
            <a:endParaRPr lang="en-US">
              <a:latin typeface="Calibri" pitchFamily="34" charset="0"/>
            </a:endParaRPr>
          </a:p>
          <a:p>
            <a:pPr algn="l">
              <a:spcBef>
                <a:spcPct val="50000"/>
              </a:spcBef>
            </a:pPr>
            <a:r>
              <a:rPr lang="en-US">
                <a:latin typeface="Calibri"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blinds(horizontal)">
                                      <p:cBhvr>
                                        <p:cTn id="7" dur="5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1388"/>
                                        </p:tgtEl>
                                        <p:attrNameLst>
                                          <p:attrName>style.visibility</p:attrName>
                                        </p:attrNameLst>
                                      </p:cBhvr>
                                      <p:to>
                                        <p:strVal val="visible"/>
                                      </p:to>
                                    </p:set>
                                    <p:anim calcmode="lin" valueType="num">
                                      <p:cBhvr additive="base">
                                        <p:cTn id="12" dur="500" fill="hold"/>
                                        <p:tgtEl>
                                          <p:spTgt spid="101388"/>
                                        </p:tgtEl>
                                        <p:attrNameLst>
                                          <p:attrName>ppt_x</p:attrName>
                                        </p:attrNameLst>
                                      </p:cBhvr>
                                      <p:tavLst>
                                        <p:tav tm="0">
                                          <p:val>
                                            <p:strVal val="0-#ppt_w/2"/>
                                          </p:val>
                                        </p:tav>
                                        <p:tav tm="100000">
                                          <p:val>
                                            <p:strVal val="#ppt_x"/>
                                          </p:val>
                                        </p:tav>
                                      </p:tavLst>
                                    </p:anim>
                                    <p:anim calcmode="lin" valueType="num">
                                      <p:cBhvr additive="base">
                                        <p:cTn id="13" dur="500" fill="hold"/>
                                        <p:tgtEl>
                                          <p:spTgt spid="10138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1380"/>
                                        </p:tgtEl>
                                        <p:attrNameLst>
                                          <p:attrName>style.visibility</p:attrName>
                                        </p:attrNameLst>
                                      </p:cBhvr>
                                      <p:to>
                                        <p:strVal val="visible"/>
                                      </p:to>
                                    </p:set>
                                    <p:anim calcmode="lin" valueType="num">
                                      <p:cBhvr additive="base">
                                        <p:cTn id="18" dur="500" fill="hold"/>
                                        <p:tgtEl>
                                          <p:spTgt spid="101380"/>
                                        </p:tgtEl>
                                        <p:attrNameLst>
                                          <p:attrName>ppt_x</p:attrName>
                                        </p:attrNameLst>
                                      </p:cBhvr>
                                      <p:tavLst>
                                        <p:tav tm="0">
                                          <p:val>
                                            <p:strVal val="1+#ppt_w/2"/>
                                          </p:val>
                                        </p:tav>
                                        <p:tav tm="100000">
                                          <p:val>
                                            <p:strVal val="#ppt_x"/>
                                          </p:val>
                                        </p:tav>
                                      </p:tavLst>
                                    </p:anim>
                                    <p:anim calcmode="lin" valueType="num">
                                      <p:cBhvr additive="base">
                                        <p:cTn id="19" dur="500" fill="hold"/>
                                        <p:tgtEl>
                                          <p:spTgt spid="10138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01381"/>
                                        </p:tgtEl>
                                        <p:attrNameLst>
                                          <p:attrName>style.visibility</p:attrName>
                                        </p:attrNameLst>
                                      </p:cBhvr>
                                      <p:to>
                                        <p:strVal val="visible"/>
                                      </p:to>
                                    </p:set>
                                    <p:anim calcmode="lin" valueType="num">
                                      <p:cBhvr additive="base">
                                        <p:cTn id="24" dur="500" fill="hold"/>
                                        <p:tgtEl>
                                          <p:spTgt spid="101381"/>
                                        </p:tgtEl>
                                        <p:attrNameLst>
                                          <p:attrName>ppt_x</p:attrName>
                                        </p:attrNameLst>
                                      </p:cBhvr>
                                      <p:tavLst>
                                        <p:tav tm="0">
                                          <p:val>
                                            <p:strVal val="1+#ppt_w/2"/>
                                          </p:val>
                                        </p:tav>
                                        <p:tav tm="100000">
                                          <p:val>
                                            <p:strVal val="#ppt_x"/>
                                          </p:val>
                                        </p:tav>
                                      </p:tavLst>
                                    </p:anim>
                                    <p:anim calcmode="lin" valueType="num">
                                      <p:cBhvr additive="base">
                                        <p:cTn id="25" dur="500" fill="hold"/>
                                        <p:tgtEl>
                                          <p:spTgt spid="101381"/>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01382"/>
                                        </p:tgtEl>
                                        <p:attrNameLst>
                                          <p:attrName>style.visibility</p:attrName>
                                        </p:attrNameLst>
                                      </p:cBhvr>
                                      <p:to>
                                        <p:strVal val="visible"/>
                                      </p:to>
                                    </p:set>
                                    <p:anim calcmode="lin" valueType="num">
                                      <p:cBhvr additive="base">
                                        <p:cTn id="30" dur="500" fill="hold"/>
                                        <p:tgtEl>
                                          <p:spTgt spid="101382"/>
                                        </p:tgtEl>
                                        <p:attrNameLst>
                                          <p:attrName>ppt_x</p:attrName>
                                        </p:attrNameLst>
                                      </p:cBhvr>
                                      <p:tavLst>
                                        <p:tav tm="0">
                                          <p:val>
                                            <p:strVal val="1+#ppt_w/2"/>
                                          </p:val>
                                        </p:tav>
                                        <p:tav tm="100000">
                                          <p:val>
                                            <p:strVal val="#ppt_x"/>
                                          </p:val>
                                        </p:tav>
                                      </p:tavLst>
                                    </p:anim>
                                    <p:anim calcmode="lin" valueType="num">
                                      <p:cBhvr additive="base">
                                        <p:cTn id="31" dur="500" fill="hold"/>
                                        <p:tgtEl>
                                          <p:spTgt spid="10138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1383"/>
                                        </p:tgtEl>
                                        <p:attrNameLst>
                                          <p:attrName>style.visibility</p:attrName>
                                        </p:attrNameLst>
                                      </p:cBhvr>
                                      <p:to>
                                        <p:strVal val="visible"/>
                                      </p:to>
                                    </p:set>
                                    <p:anim calcmode="lin" valueType="num">
                                      <p:cBhvr additive="base">
                                        <p:cTn id="36" dur="500" fill="hold"/>
                                        <p:tgtEl>
                                          <p:spTgt spid="101383"/>
                                        </p:tgtEl>
                                        <p:attrNameLst>
                                          <p:attrName>ppt_x</p:attrName>
                                        </p:attrNameLst>
                                      </p:cBhvr>
                                      <p:tavLst>
                                        <p:tav tm="0">
                                          <p:val>
                                            <p:strVal val="1+#ppt_w/2"/>
                                          </p:val>
                                        </p:tav>
                                        <p:tav tm="100000">
                                          <p:val>
                                            <p:strVal val="#ppt_x"/>
                                          </p:val>
                                        </p:tav>
                                      </p:tavLst>
                                    </p:anim>
                                    <p:anim calcmode="lin" valueType="num">
                                      <p:cBhvr additive="base">
                                        <p:cTn id="37" dur="500" fill="hold"/>
                                        <p:tgtEl>
                                          <p:spTgt spid="10138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01384"/>
                                        </p:tgtEl>
                                        <p:attrNameLst>
                                          <p:attrName>style.visibility</p:attrName>
                                        </p:attrNameLst>
                                      </p:cBhvr>
                                      <p:to>
                                        <p:strVal val="visible"/>
                                      </p:to>
                                    </p:set>
                                    <p:anim calcmode="lin" valueType="num">
                                      <p:cBhvr additive="base">
                                        <p:cTn id="42" dur="500" fill="hold"/>
                                        <p:tgtEl>
                                          <p:spTgt spid="101384"/>
                                        </p:tgtEl>
                                        <p:attrNameLst>
                                          <p:attrName>ppt_x</p:attrName>
                                        </p:attrNameLst>
                                      </p:cBhvr>
                                      <p:tavLst>
                                        <p:tav tm="0">
                                          <p:val>
                                            <p:strVal val="1+#ppt_w/2"/>
                                          </p:val>
                                        </p:tav>
                                        <p:tav tm="100000">
                                          <p:val>
                                            <p:strVal val="#ppt_x"/>
                                          </p:val>
                                        </p:tav>
                                      </p:tavLst>
                                    </p:anim>
                                    <p:anim calcmode="lin" valueType="num">
                                      <p:cBhvr additive="base">
                                        <p:cTn id="43" dur="500" fill="hold"/>
                                        <p:tgtEl>
                                          <p:spTgt spid="10138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01385"/>
                                        </p:tgtEl>
                                        <p:attrNameLst>
                                          <p:attrName>style.visibility</p:attrName>
                                        </p:attrNameLst>
                                      </p:cBhvr>
                                      <p:to>
                                        <p:strVal val="visible"/>
                                      </p:to>
                                    </p:set>
                                    <p:anim calcmode="lin" valueType="num">
                                      <p:cBhvr additive="base">
                                        <p:cTn id="48" dur="500" fill="hold"/>
                                        <p:tgtEl>
                                          <p:spTgt spid="101385"/>
                                        </p:tgtEl>
                                        <p:attrNameLst>
                                          <p:attrName>ppt_x</p:attrName>
                                        </p:attrNameLst>
                                      </p:cBhvr>
                                      <p:tavLst>
                                        <p:tav tm="0">
                                          <p:val>
                                            <p:strVal val="1+#ppt_w/2"/>
                                          </p:val>
                                        </p:tav>
                                        <p:tav tm="100000">
                                          <p:val>
                                            <p:strVal val="#ppt_x"/>
                                          </p:val>
                                        </p:tav>
                                      </p:tavLst>
                                    </p:anim>
                                    <p:anim calcmode="lin" valueType="num">
                                      <p:cBhvr additive="base">
                                        <p:cTn id="49" dur="500" fill="hold"/>
                                        <p:tgtEl>
                                          <p:spTgt spid="101385"/>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101386"/>
                                        </p:tgtEl>
                                        <p:attrNameLst>
                                          <p:attrName>style.visibility</p:attrName>
                                        </p:attrNameLst>
                                      </p:cBhvr>
                                      <p:to>
                                        <p:strVal val="visible"/>
                                      </p:to>
                                    </p:set>
                                    <p:anim calcmode="lin" valueType="num">
                                      <p:cBhvr additive="base">
                                        <p:cTn id="54" dur="500" fill="hold"/>
                                        <p:tgtEl>
                                          <p:spTgt spid="101386"/>
                                        </p:tgtEl>
                                        <p:attrNameLst>
                                          <p:attrName>ppt_x</p:attrName>
                                        </p:attrNameLst>
                                      </p:cBhvr>
                                      <p:tavLst>
                                        <p:tav tm="0">
                                          <p:val>
                                            <p:strVal val="1+#ppt_w/2"/>
                                          </p:val>
                                        </p:tav>
                                        <p:tav tm="100000">
                                          <p:val>
                                            <p:strVal val="#ppt_x"/>
                                          </p:val>
                                        </p:tav>
                                      </p:tavLst>
                                    </p:anim>
                                    <p:anim calcmode="lin" valueType="num">
                                      <p:cBhvr additive="base">
                                        <p:cTn id="55" dur="500" fill="hold"/>
                                        <p:tgtEl>
                                          <p:spTgt spid="1013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1380" grpId="0" autoUpdateAnimBg="0"/>
      <p:bldP spid="101381" grpId="0" autoUpdateAnimBg="0"/>
      <p:bldP spid="101382" grpId="0" autoUpdateAnimBg="0"/>
      <p:bldP spid="101383" grpId="0" autoUpdateAnimBg="0"/>
      <p:bldP spid="101384" grpId="0" autoUpdateAnimBg="0"/>
      <p:bldP spid="101385" grpId="0" autoUpdateAnimBg="0"/>
      <p:bldP spid="101386"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endParaRPr lang="en-US" smtClean="0"/>
          </a:p>
        </p:txBody>
      </p:sp>
      <p:sp>
        <p:nvSpPr>
          <p:cNvPr id="20483" name="Content Placeholder 2"/>
          <p:cNvSpPr>
            <a:spLocks noGrp="1"/>
          </p:cNvSpPr>
          <p:nvPr>
            <p:ph idx="1"/>
          </p:nvPr>
        </p:nvSpPr>
        <p:spPr/>
        <p:txBody>
          <a:bodyPr/>
          <a:lstStyle/>
          <a:p>
            <a:pPr eaLnBrk="1" hangingPunct="1">
              <a:buFont typeface="Arial" pitchFamily="34" charset="0"/>
              <a:buNone/>
            </a:pPr>
            <a:r>
              <a:rPr lang="en-US" i="1" smtClean="0"/>
              <a:t>Sulfolobus</a:t>
            </a:r>
            <a:r>
              <a:rPr lang="en-US" smtClean="0"/>
              <a:t> can grow either lithoautotrophically by oxidizing sulfur, or chemoheterotrophically using sulfur to oxidize simple reduced carbon compounds. Heterotrophic growth has only been observed, however, in the presence of oxygen. The principle metabolic pathways are a glycolytic pathway, a pentose phosphate pathway, and the TCA cycle.</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endParaRPr lang="en-US" smtClean="0"/>
          </a:p>
        </p:txBody>
      </p:sp>
      <p:sp>
        <p:nvSpPr>
          <p:cNvPr id="3" name="Content Placeholder 2"/>
          <p:cNvSpPr>
            <a:spLocks noGrp="1"/>
          </p:cNvSpPr>
          <p:nvPr>
            <p:ph idx="1"/>
          </p:nvPr>
        </p:nvSpPr>
        <p:spPr/>
        <p:txBody>
          <a:bodyPr>
            <a:normAutofit/>
          </a:bodyPr>
          <a:lstStyle/>
          <a:p>
            <a:pPr eaLnBrk="1" hangingPunct="1">
              <a:lnSpc>
                <a:spcPct val="80000"/>
              </a:lnSpc>
              <a:buFont typeface="Arial" pitchFamily="34" charset="0"/>
              <a:buNone/>
            </a:pPr>
            <a:r>
              <a:rPr lang="en-US" sz="2700" i="1" dirty="0" smtClean="0"/>
              <a:t>S. </a:t>
            </a:r>
            <a:r>
              <a:rPr lang="en-US" sz="2700" i="1" dirty="0" err="1" smtClean="0"/>
              <a:t>solfataricus</a:t>
            </a:r>
            <a:r>
              <a:rPr lang="en-US" sz="2700" i="1" dirty="0" smtClean="0"/>
              <a:t> </a:t>
            </a:r>
            <a:r>
              <a:rPr lang="en-US" sz="2700" dirty="0" smtClean="0"/>
              <a:t>has been found in different areas including Yellowstone National Park, Mount St. Helens, Iceland, Italy, and Russia to name a few. </a:t>
            </a:r>
          </a:p>
          <a:p>
            <a:pPr eaLnBrk="1" hangingPunct="1">
              <a:lnSpc>
                <a:spcPct val="80000"/>
              </a:lnSpc>
              <a:buFont typeface="Arial" pitchFamily="34" charset="0"/>
              <a:buNone/>
            </a:pPr>
            <a:r>
              <a:rPr lang="en-US" sz="2700" i="1" dirty="0" err="1" smtClean="0"/>
              <a:t>Sulfolobus</a:t>
            </a:r>
            <a:r>
              <a:rPr lang="en-US" sz="2700" dirty="0" smtClean="0"/>
              <a:t> is located almost wherever there is volcanic activity. They strive in environments where the temperature is about 80C with a pH at about 3 and sulfur present. </a:t>
            </a:r>
          </a:p>
          <a:p>
            <a:pPr eaLnBrk="1" hangingPunct="1">
              <a:lnSpc>
                <a:spcPct val="80000"/>
              </a:lnSpc>
              <a:buFont typeface="Arial" pitchFamily="34" charset="0"/>
              <a:buNone/>
            </a:pPr>
            <a:r>
              <a:rPr lang="en-US" sz="2700" dirty="0" smtClean="0"/>
              <a:t>Another species, </a:t>
            </a:r>
            <a:r>
              <a:rPr lang="en-US" sz="2700" i="1" dirty="0" smtClean="0"/>
              <a:t>S. </a:t>
            </a:r>
            <a:r>
              <a:rPr lang="en-US" sz="2700" i="1" dirty="0" err="1" smtClean="0"/>
              <a:t>tokodaii</a:t>
            </a:r>
            <a:r>
              <a:rPr lang="en-US" sz="2700" dirty="0" smtClean="0"/>
              <a:t>, has been located in an acidic spa in </a:t>
            </a:r>
            <a:r>
              <a:rPr lang="en-US" sz="2700" dirty="0" err="1" smtClean="0"/>
              <a:t>Beppu</a:t>
            </a:r>
            <a:r>
              <a:rPr lang="en-US" sz="2700" dirty="0" smtClean="0"/>
              <a:t> Hot Springs, Kyushu, Japan. Sediments from ~90m below the seafloor on the Peruvian continental margin are dominated by community is sedimentary </a:t>
            </a:r>
            <a:r>
              <a:rPr lang="en-US" sz="2700" dirty="0" err="1" smtClean="0"/>
              <a:t>archaea</a:t>
            </a:r>
            <a:r>
              <a:rPr lang="en-US" sz="2700" dirty="0" smtClean="0"/>
              <a:t>.</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b="1" i="1" smtClean="0"/>
              <a:t>Sulfolobus</a:t>
            </a:r>
            <a:r>
              <a:rPr lang="en-US" b="1" smtClean="0"/>
              <a:t> as a viral host</a:t>
            </a:r>
            <a:br>
              <a:rPr lang="en-US" b="1" smtClean="0"/>
            </a:br>
            <a:endParaRPr lang="en-US" smtClean="0"/>
          </a:p>
        </p:txBody>
      </p:sp>
      <p:sp>
        <p:nvSpPr>
          <p:cNvPr id="22531" name="Content Placeholder 2"/>
          <p:cNvSpPr>
            <a:spLocks noGrp="1"/>
          </p:cNvSpPr>
          <p:nvPr>
            <p:ph idx="1"/>
          </p:nvPr>
        </p:nvSpPr>
        <p:spPr/>
        <p:txBody>
          <a:bodyPr/>
          <a:lstStyle/>
          <a:p>
            <a:pPr eaLnBrk="1" hangingPunct="1">
              <a:buFont typeface="Arial" pitchFamily="34" charset="0"/>
              <a:buNone/>
            </a:pPr>
            <a:r>
              <a:rPr lang="en-US" smtClean="0"/>
              <a:t> Lysogenic viruses infect </a:t>
            </a:r>
            <a:r>
              <a:rPr lang="en-US" i="1" smtClean="0"/>
              <a:t>Sulfolobus</a:t>
            </a:r>
            <a:r>
              <a:rPr lang="en-US" smtClean="0"/>
              <a:t> for protection. The viruses cannot survive in the extremely acidic and hot conditions that </a:t>
            </a:r>
            <a:r>
              <a:rPr lang="en-US" i="1" smtClean="0"/>
              <a:t>Sulfolobus</a:t>
            </a:r>
            <a:r>
              <a:rPr lang="en-US" smtClean="0"/>
              <a:t> lives in, and so the viruses use </a:t>
            </a:r>
            <a:r>
              <a:rPr lang="en-US" i="1" smtClean="0"/>
              <a:t>Sulfolobus</a:t>
            </a:r>
            <a:r>
              <a:rPr lang="en-US" smtClean="0"/>
              <a:t> as protection against the harsh elements. This relationship allows the virus to replicate inside the archaea without being destroyed by the environment.</a:t>
            </a:r>
          </a:p>
          <a:p>
            <a:pPr eaLnBrk="1" hangingPunct="1">
              <a:buFont typeface="Arial" pitchFamily="34" charset="0"/>
              <a:buNone/>
            </a:pPr>
            <a:endParaRPr lang="en-US" smtClean="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0" y="381000"/>
            <a:ext cx="8382000" cy="304800"/>
          </a:xfrm>
        </p:spPr>
        <p:txBody>
          <a:bodyPr/>
          <a:lstStyle/>
          <a:p>
            <a:pPr eaLnBrk="1" hangingPunct="1"/>
            <a:r>
              <a:rPr lang="en-US" b="1" smtClean="0"/>
              <a:t>Role in biotechnology</a:t>
            </a:r>
            <a:br>
              <a:rPr lang="en-US" b="1" smtClean="0"/>
            </a:br>
            <a:endParaRPr lang="en-US" smtClean="0"/>
          </a:p>
        </p:txBody>
      </p:sp>
      <p:sp>
        <p:nvSpPr>
          <p:cNvPr id="3" name="Content Placeholder 2"/>
          <p:cNvSpPr>
            <a:spLocks noGrp="1"/>
          </p:cNvSpPr>
          <p:nvPr>
            <p:ph idx="1"/>
          </p:nvPr>
        </p:nvSpPr>
        <p:spPr>
          <a:xfrm>
            <a:off x="457200" y="838200"/>
            <a:ext cx="8229600" cy="6019800"/>
          </a:xfrm>
        </p:spPr>
        <p:txBody>
          <a:bodyPr rtlCol="0">
            <a:normAutofit/>
          </a:bodyPr>
          <a:lstStyle/>
          <a:p>
            <a:pPr eaLnBrk="1" fontAlgn="auto" hangingPunct="1">
              <a:spcAft>
                <a:spcPts val="0"/>
              </a:spcAft>
              <a:buFont typeface="Arial" charset="0"/>
              <a:buNone/>
              <a:defRPr/>
            </a:pPr>
            <a:r>
              <a:rPr lang="en-US" i="1" dirty="0" err="1" smtClean="0"/>
              <a:t>Sulfolobus</a:t>
            </a:r>
            <a:r>
              <a:rPr lang="en-US" dirty="0" smtClean="0"/>
              <a:t> proteins are of interest for biotechnology and industrial use due to their  </a:t>
            </a:r>
            <a:r>
              <a:rPr lang="en-US" dirty="0" err="1" smtClean="0"/>
              <a:t>thermostable</a:t>
            </a:r>
            <a:r>
              <a:rPr lang="en-US" dirty="0" smtClean="0"/>
              <a:t> nature. One application is the creation of artificial derivatives from </a:t>
            </a:r>
            <a:r>
              <a:rPr lang="en-US" i="1" dirty="0" smtClean="0"/>
              <a:t>S. </a:t>
            </a:r>
            <a:r>
              <a:rPr lang="en-US" i="1" dirty="0" err="1" smtClean="0"/>
              <a:t>acidocaldarius</a:t>
            </a:r>
            <a:r>
              <a:rPr lang="en-US" i="1" dirty="0" smtClean="0"/>
              <a:t> </a:t>
            </a:r>
            <a:r>
              <a:rPr lang="en-US" dirty="0" smtClean="0"/>
              <a:t>proteins, named  </a:t>
            </a:r>
            <a:r>
              <a:rPr lang="en-US" dirty="0" err="1" smtClean="0"/>
              <a:t>affitins</a:t>
            </a:r>
            <a:r>
              <a:rPr lang="en-US" dirty="0" smtClean="0"/>
              <a:t>. </a:t>
            </a:r>
          </a:p>
          <a:p>
            <a:pPr eaLnBrk="1" fontAlgn="auto" hangingPunct="1">
              <a:spcAft>
                <a:spcPts val="0"/>
              </a:spcAft>
              <a:buFont typeface="Arial" charset="0"/>
              <a:buNone/>
              <a:defRPr/>
            </a:pPr>
            <a:r>
              <a:rPr lang="en-US" dirty="0" smtClean="0"/>
              <a:t>Intracellular proteins are not necessarily stable at low pH however, as </a:t>
            </a:r>
            <a:r>
              <a:rPr lang="en-US" i="1" dirty="0" err="1" smtClean="0"/>
              <a:t>Sulfolobus</a:t>
            </a:r>
            <a:r>
              <a:rPr lang="en-US" dirty="0" smtClean="0"/>
              <a:t> species maintain a significant pH gradient across the outer membrane.</a:t>
            </a:r>
          </a:p>
          <a:p>
            <a:pPr eaLnBrk="1" fontAlgn="auto" hangingPunct="1">
              <a:spcAft>
                <a:spcPts val="0"/>
              </a:spcAft>
              <a:buFont typeface="Arial" charset="0"/>
              <a:buNone/>
              <a:defRPr/>
            </a:pPr>
            <a:r>
              <a:rPr lang="en-US" dirty="0" smtClean="0"/>
              <a:t> </a:t>
            </a:r>
            <a:r>
              <a:rPr lang="en-US" i="1" dirty="0" smtClean="0"/>
              <a:t>S. </a:t>
            </a:r>
            <a:r>
              <a:rPr lang="en-US" i="1" dirty="0" err="1" smtClean="0"/>
              <a:t>tokodaii</a:t>
            </a:r>
            <a:r>
              <a:rPr lang="en-US" dirty="0" smtClean="0"/>
              <a:t> is known to  oxidize hydrogen sulfide to sulfate </a:t>
            </a:r>
            <a:r>
              <a:rPr lang="en-US" dirty="0" err="1" smtClean="0"/>
              <a:t>intracellularly</a:t>
            </a:r>
            <a:r>
              <a:rPr lang="en-US" dirty="0" smtClean="0"/>
              <a:t>.</a:t>
            </a:r>
          </a:p>
          <a:p>
            <a:pPr eaLnBrk="1" fontAlgn="auto" hangingPunct="1">
              <a:spcAft>
                <a:spcPts val="0"/>
              </a:spcAft>
              <a:buFont typeface="Arial" charset="0"/>
              <a:buNone/>
              <a:defRPr/>
            </a:pPr>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9"/>
          <p:cNvSpPr>
            <a:spLocks noGrp="1" noChangeArrowheads="1"/>
          </p:cNvSpPr>
          <p:nvPr>
            <p:ph type="title"/>
          </p:nvPr>
        </p:nvSpPr>
        <p:spPr/>
        <p:txBody>
          <a:bodyPr/>
          <a:lstStyle/>
          <a:p>
            <a:pPr eaLnBrk="1" hangingPunct="1"/>
            <a:r>
              <a:rPr lang="en-US" smtClean="0"/>
              <a:t>SULFUR OXIDIZING FUNGI</a:t>
            </a:r>
          </a:p>
        </p:txBody>
      </p:sp>
      <p:pic>
        <p:nvPicPr>
          <p:cNvPr id="25603" name="Picture 5" descr="gbr-3"/>
          <p:cNvPicPr>
            <a:picLocks noGrp="1" noChangeAspect="1" noChangeArrowheads="1"/>
          </p:cNvPicPr>
          <p:nvPr>
            <p:ph sz="half" idx="1"/>
          </p:nvPr>
        </p:nvPicPr>
        <p:blipFill>
          <a:blip r:embed="rId2">
            <a:lum contrast="20000"/>
          </a:blip>
          <a:stretch>
            <a:fillRect/>
          </a:stretch>
        </p:blipFill>
        <p:spPr>
          <a:xfrm>
            <a:off x="643351" y="1371600"/>
            <a:ext cx="3355147" cy="4681538"/>
          </a:xfrm>
        </p:spPr>
      </p:pic>
      <p:pic>
        <p:nvPicPr>
          <p:cNvPr id="25604" name="Picture 8" descr="gbr-1"/>
          <p:cNvPicPr>
            <a:picLocks noGrp="1" noChangeAspect="1" noChangeArrowheads="1"/>
          </p:cNvPicPr>
          <p:nvPr>
            <p:ph sz="half" idx="2"/>
          </p:nvPr>
        </p:nvPicPr>
        <p:blipFill>
          <a:blip r:embed="rId3">
            <a:lum contrast="20000"/>
          </a:blip>
          <a:srcRect/>
          <a:stretch>
            <a:fillRect/>
          </a:stretch>
        </p:blipFill>
        <p:spPr>
          <a:xfrm>
            <a:off x="5043488" y="1905000"/>
            <a:ext cx="3109912" cy="4343400"/>
          </a:xfrm>
        </p:spPr>
      </p:pic>
      <p:sp>
        <p:nvSpPr>
          <p:cNvPr id="25605" name="Text Box 11"/>
          <p:cNvSpPr txBox="1">
            <a:spLocks noChangeArrowheads="1"/>
          </p:cNvSpPr>
          <p:nvPr/>
        </p:nvSpPr>
        <p:spPr bwMode="auto">
          <a:xfrm>
            <a:off x="1030288" y="5824538"/>
            <a:ext cx="3438525" cy="457200"/>
          </a:xfrm>
          <a:prstGeom prst="rect">
            <a:avLst/>
          </a:prstGeom>
          <a:noFill/>
          <a:ln w="9525">
            <a:noFill/>
            <a:miter lim="800000"/>
            <a:headEnd/>
            <a:tailEnd/>
          </a:ln>
        </p:spPr>
        <p:txBody>
          <a:bodyPr wrap="none">
            <a:spAutoFit/>
          </a:bodyPr>
          <a:lstStyle/>
          <a:p>
            <a:r>
              <a:rPr lang="en-US" b="1" i="1">
                <a:latin typeface="Calibri" pitchFamily="34" charset="0"/>
              </a:rPr>
              <a:t>Aspergillus japonicus</a:t>
            </a:r>
          </a:p>
        </p:txBody>
      </p:sp>
      <p:sp>
        <p:nvSpPr>
          <p:cNvPr id="25606" name="Text Box 12"/>
          <p:cNvSpPr txBox="1">
            <a:spLocks noChangeArrowheads="1"/>
          </p:cNvSpPr>
          <p:nvPr/>
        </p:nvSpPr>
        <p:spPr bwMode="auto">
          <a:xfrm>
            <a:off x="4852988" y="5821363"/>
            <a:ext cx="3789362" cy="457200"/>
          </a:xfrm>
          <a:prstGeom prst="rect">
            <a:avLst/>
          </a:prstGeom>
          <a:noFill/>
          <a:ln w="9525">
            <a:noFill/>
            <a:miter lim="800000"/>
            <a:headEnd/>
            <a:tailEnd/>
          </a:ln>
        </p:spPr>
        <p:txBody>
          <a:bodyPr wrap="none">
            <a:spAutoFit/>
          </a:bodyPr>
          <a:lstStyle/>
          <a:p>
            <a:r>
              <a:rPr lang="en-US" b="1" i="1">
                <a:latin typeface="Calibri" pitchFamily="34" charset="0"/>
              </a:rPr>
              <a:t>Penicillium nalgiovense</a:t>
            </a: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smtClean="0"/>
              <a:t>The purple sulfur bacteria</a:t>
            </a:r>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None/>
              <a:defRPr/>
            </a:pPr>
            <a:r>
              <a:rPr lang="en-US" dirty="0" smtClean="0"/>
              <a:t>Can use Hydrogen sulfide as a photosynthetic electron donor. </a:t>
            </a:r>
          </a:p>
          <a:p>
            <a:pPr eaLnBrk="1" fontAlgn="auto" hangingPunct="1">
              <a:spcAft>
                <a:spcPts val="0"/>
              </a:spcAft>
              <a:buFont typeface="Arial" pitchFamily="34" charset="0"/>
              <a:buNone/>
              <a:defRPr/>
            </a:pPr>
            <a:r>
              <a:rPr lang="en-US" dirty="0" smtClean="0"/>
              <a:t>Oxidation of hydrogen sulfide produces </a:t>
            </a:r>
            <a:r>
              <a:rPr lang="en-US" dirty="0" err="1" smtClean="0"/>
              <a:t>sulphur</a:t>
            </a:r>
            <a:r>
              <a:rPr lang="en-US" dirty="0" smtClean="0"/>
              <a:t>. In the genus of </a:t>
            </a:r>
            <a:r>
              <a:rPr lang="en-US" i="1" dirty="0" err="1" smtClean="0"/>
              <a:t>Ectothiorhodospira</a:t>
            </a:r>
            <a:r>
              <a:rPr lang="en-US" i="1" dirty="0" smtClean="0"/>
              <a:t>  </a:t>
            </a:r>
            <a:r>
              <a:rPr lang="en-US" b="1" dirty="0" err="1" smtClean="0"/>
              <a:t>sulphur</a:t>
            </a:r>
            <a:r>
              <a:rPr lang="en-US" b="1" dirty="0" smtClean="0"/>
              <a:t> deposition is extracellular</a:t>
            </a:r>
            <a:r>
              <a:rPr lang="en-US" i="1" dirty="0" smtClean="0"/>
              <a:t>.</a:t>
            </a:r>
          </a:p>
          <a:p>
            <a:pPr eaLnBrk="1" fontAlgn="auto" hangingPunct="1">
              <a:spcAft>
                <a:spcPts val="0"/>
              </a:spcAft>
              <a:buFont typeface="Arial" pitchFamily="34" charset="0"/>
              <a:buNone/>
              <a:defRPr/>
            </a:pPr>
            <a:r>
              <a:rPr lang="en-US" dirty="0" smtClean="0"/>
              <a:t>All the other purple sulfur bacteria sulfur is deposited within the cells as oily inclusions.</a:t>
            </a:r>
          </a:p>
          <a:p>
            <a:pPr eaLnBrk="1" hangingPunct="1">
              <a:buFont typeface="Arial" pitchFamily="34" charset="0"/>
              <a:buNone/>
            </a:pPr>
            <a:r>
              <a:rPr lang="en-US" dirty="0" smtClean="0"/>
              <a:t>Examples:</a:t>
            </a:r>
          </a:p>
          <a:p>
            <a:pPr eaLnBrk="1" hangingPunct="1">
              <a:buFont typeface="Arial" pitchFamily="34" charset="0"/>
              <a:buNone/>
            </a:pPr>
            <a:r>
              <a:rPr lang="en-US" dirty="0" smtClean="0"/>
              <a:t>    </a:t>
            </a:r>
            <a:r>
              <a:rPr lang="en-US" i="1" dirty="0" err="1" smtClean="0"/>
              <a:t>Thiospirillum</a:t>
            </a:r>
            <a:r>
              <a:rPr lang="en-US" i="1" dirty="0" smtClean="0"/>
              <a:t>, </a:t>
            </a:r>
            <a:r>
              <a:rPr lang="en-US" i="1" dirty="0" err="1" smtClean="0"/>
              <a:t>Thiocystis</a:t>
            </a:r>
            <a:r>
              <a:rPr lang="en-US" i="1" dirty="0" smtClean="0"/>
              <a:t>, </a:t>
            </a:r>
            <a:r>
              <a:rPr lang="en-US" i="1" dirty="0" err="1" smtClean="0"/>
              <a:t>Thiocapsa</a:t>
            </a:r>
            <a:r>
              <a:rPr lang="en-US" i="1" dirty="0" smtClean="0"/>
              <a:t>, </a:t>
            </a:r>
            <a:r>
              <a:rPr lang="en-US" i="1" dirty="0" err="1" smtClean="0"/>
              <a:t>Chromatium</a:t>
            </a:r>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smtClean="0"/>
              <a:t>GREEN SULFUR BACTERIA</a:t>
            </a:r>
          </a:p>
        </p:txBody>
      </p:sp>
      <p:sp>
        <p:nvSpPr>
          <p:cNvPr id="104452" name="Rectangle 4"/>
          <p:cNvSpPr>
            <a:spLocks noGrp="1" noChangeArrowheads="1"/>
          </p:cNvSpPr>
          <p:nvPr>
            <p:ph type="body" sz="half" idx="2"/>
          </p:nvPr>
        </p:nvSpPr>
        <p:spPr>
          <a:xfrm>
            <a:off x="2743200" y="2017713"/>
            <a:ext cx="6211888" cy="4114800"/>
          </a:xfrm>
        </p:spPr>
        <p:txBody>
          <a:bodyPr/>
          <a:lstStyle/>
          <a:p>
            <a:pPr eaLnBrk="1" hangingPunct="1">
              <a:lnSpc>
                <a:spcPct val="90000"/>
              </a:lnSpc>
            </a:pPr>
            <a:r>
              <a:rPr lang="en-US" sz="2800" smtClean="0"/>
              <a:t>Photolithotrophic and Anaerobic</a:t>
            </a:r>
          </a:p>
          <a:p>
            <a:pPr eaLnBrk="1" hangingPunct="1">
              <a:lnSpc>
                <a:spcPct val="90000"/>
              </a:lnSpc>
            </a:pPr>
            <a:r>
              <a:rPr lang="en-US" sz="2800" smtClean="0"/>
              <a:t>Straight or curved rods to star-like extrusions, some spiral forms </a:t>
            </a:r>
          </a:p>
          <a:p>
            <a:pPr eaLnBrk="1" hangingPunct="1">
              <a:lnSpc>
                <a:spcPct val="90000"/>
              </a:lnSpc>
            </a:pPr>
            <a:r>
              <a:rPr lang="en-US" sz="2800" smtClean="0"/>
              <a:t>Gram negative</a:t>
            </a:r>
          </a:p>
          <a:p>
            <a:pPr eaLnBrk="1" hangingPunct="1">
              <a:lnSpc>
                <a:spcPct val="90000"/>
              </a:lnSpc>
            </a:pPr>
            <a:r>
              <a:rPr lang="en-US" sz="2800" smtClean="0"/>
              <a:t>Non motile</a:t>
            </a:r>
          </a:p>
          <a:p>
            <a:pPr eaLnBrk="1" hangingPunct="1">
              <a:lnSpc>
                <a:spcPct val="90000"/>
              </a:lnSpc>
            </a:pPr>
            <a:r>
              <a:rPr lang="en-US" sz="2800" smtClean="0"/>
              <a:t>Colonies are green, and brown (if carotenoids are present)</a:t>
            </a:r>
          </a:p>
          <a:p>
            <a:pPr eaLnBrk="1" hangingPunct="1">
              <a:lnSpc>
                <a:spcPct val="90000"/>
              </a:lnSpc>
            </a:pPr>
            <a:r>
              <a:rPr lang="en-US" sz="2800" smtClean="0"/>
              <a:t>Nitrogen fixation</a:t>
            </a:r>
          </a:p>
          <a:p>
            <a:pPr eaLnBrk="1" hangingPunct="1">
              <a:lnSpc>
                <a:spcPct val="90000"/>
              </a:lnSpc>
            </a:pPr>
            <a:r>
              <a:rPr lang="en-US" sz="2800" smtClean="0"/>
              <a:t>Non spore forming</a:t>
            </a:r>
          </a:p>
        </p:txBody>
      </p:sp>
      <p:pic>
        <p:nvPicPr>
          <p:cNvPr id="104453" name="Picture 5" descr="spiral"/>
          <p:cNvPicPr>
            <a:picLocks noChangeAspect="1" noChangeArrowheads="1"/>
          </p:cNvPicPr>
          <p:nvPr/>
        </p:nvPicPr>
        <p:blipFill>
          <a:blip r:embed="rId2"/>
          <a:srcRect/>
          <a:stretch>
            <a:fillRect/>
          </a:stretch>
        </p:blipFill>
        <p:spPr bwMode="auto">
          <a:xfrm>
            <a:off x="685800" y="2506663"/>
            <a:ext cx="1554163" cy="31321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blinds(horizontal)">
                                      <p:cBhvr>
                                        <p:cTn id="7" dur="500"/>
                                        <p:tgtEl>
                                          <p:spTgt spid="1044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4453"/>
                                        </p:tgtEl>
                                        <p:attrNameLst>
                                          <p:attrName>style.visibility</p:attrName>
                                        </p:attrNameLst>
                                      </p:cBhvr>
                                      <p:to>
                                        <p:strVal val="visible"/>
                                      </p:to>
                                    </p:set>
                                    <p:anim calcmode="lin" valueType="num">
                                      <p:cBhvr additive="base">
                                        <p:cTn id="12" dur="500" fill="hold"/>
                                        <p:tgtEl>
                                          <p:spTgt spid="104453"/>
                                        </p:tgtEl>
                                        <p:attrNameLst>
                                          <p:attrName>ppt_x</p:attrName>
                                        </p:attrNameLst>
                                      </p:cBhvr>
                                      <p:tavLst>
                                        <p:tav tm="0">
                                          <p:val>
                                            <p:strVal val="0-#ppt_w/2"/>
                                          </p:val>
                                        </p:tav>
                                        <p:tav tm="100000">
                                          <p:val>
                                            <p:strVal val="#ppt_x"/>
                                          </p:val>
                                        </p:tav>
                                      </p:tavLst>
                                    </p:anim>
                                    <p:anim calcmode="lin" valueType="num">
                                      <p:cBhvr additive="base">
                                        <p:cTn id="13" dur="500" fill="hold"/>
                                        <p:tgtEl>
                                          <p:spTgt spid="10445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4452">
                                            <p:txEl>
                                              <p:pRg st="0" end="0"/>
                                            </p:txEl>
                                          </p:spTgt>
                                        </p:tgtEl>
                                        <p:attrNameLst>
                                          <p:attrName>style.visibility</p:attrName>
                                        </p:attrNameLst>
                                      </p:cBhvr>
                                      <p:to>
                                        <p:strVal val="visible"/>
                                      </p:to>
                                    </p:set>
                                    <p:anim calcmode="lin" valueType="num">
                                      <p:cBhvr additive="base">
                                        <p:cTn id="18" dur="500" fill="hold"/>
                                        <p:tgtEl>
                                          <p:spTgt spid="104452">
                                            <p:txEl>
                                              <p:pRg st="0" end="0"/>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0445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04452">
                                            <p:txEl>
                                              <p:pRg st="1" end="1"/>
                                            </p:txEl>
                                          </p:spTgt>
                                        </p:tgtEl>
                                        <p:attrNameLst>
                                          <p:attrName>style.visibility</p:attrName>
                                        </p:attrNameLst>
                                      </p:cBhvr>
                                      <p:to>
                                        <p:strVal val="visible"/>
                                      </p:to>
                                    </p:set>
                                    <p:anim calcmode="lin" valueType="num">
                                      <p:cBhvr additive="base">
                                        <p:cTn id="24" dur="500" fill="hold"/>
                                        <p:tgtEl>
                                          <p:spTgt spid="104452">
                                            <p:txEl>
                                              <p:pRg st="1" end="1"/>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0445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04452">
                                            <p:txEl>
                                              <p:pRg st="2" end="2"/>
                                            </p:txEl>
                                          </p:spTgt>
                                        </p:tgtEl>
                                        <p:attrNameLst>
                                          <p:attrName>style.visibility</p:attrName>
                                        </p:attrNameLst>
                                      </p:cBhvr>
                                      <p:to>
                                        <p:strVal val="visible"/>
                                      </p:to>
                                    </p:set>
                                    <p:anim calcmode="lin" valueType="num">
                                      <p:cBhvr additive="base">
                                        <p:cTn id="30" dur="500" fill="hold"/>
                                        <p:tgtEl>
                                          <p:spTgt spid="104452">
                                            <p:txEl>
                                              <p:pRg st="2" end="2"/>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0445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4452">
                                            <p:txEl>
                                              <p:pRg st="3" end="3"/>
                                            </p:txEl>
                                          </p:spTgt>
                                        </p:tgtEl>
                                        <p:attrNameLst>
                                          <p:attrName>style.visibility</p:attrName>
                                        </p:attrNameLst>
                                      </p:cBhvr>
                                      <p:to>
                                        <p:strVal val="visible"/>
                                      </p:to>
                                    </p:set>
                                    <p:anim calcmode="lin" valueType="num">
                                      <p:cBhvr additive="base">
                                        <p:cTn id="36" dur="500" fill="hold"/>
                                        <p:tgtEl>
                                          <p:spTgt spid="104452">
                                            <p:txEl>
                                              <p:pRg st="3" end="3"/>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0445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04452">
                                            <p:txEl>
                                              <p:pRg st="4" end="4"/>
                                            </p:txEl>
                                          </p:spTgt>
                                        </p:tgtEl>
                                        <p:attrNameLst>
                                          <p:attrName>style.visibility</p:attrName>
                                        </p:attrNameLst>
                                      </p:cBhvr>
                                      <p:to>
                                        <p:strVal val="visible"/>
                                      </p:to>
                                    </p:set>
                                    <p:anim calcmode="lin" valueType="num">
                                      <p:cBhvr additive="base">
                                        <p:cTn id="42" dur="500" fill="hold"/>
                                        <p:tgtEl>
                                          <p:spTgt spid="104452">
                                            <p:txEl>
                                              <p:pRg st="4" end="4"/>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10445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04452">
                                            <p:txEl>
                                              <p:pRg st="5" end="5"/>
                                            </p:txEl>
                                          </p:spTgt>
                                        </p:tgtEl>
                                        <p:attrNameLst>
                                          <p:attrName>style.visibility</p:attrName>
                                        </p:attrNameLst>
                                      </p:cBhvr>
                                      <p:to>
                                        <p:strVal val="visible"/>
                                      </p:to>
                                    </p:set>
                                    <p:anim calcmode="lin" valueType="num">
                                      <p:cBhvr additive="base">
                                        <p:cTn id="48" dur="500" fill="hold"/>
                                        <p:tgtEl>
                                          <p:spTgt spid="104452">
                                            <p:txEl>
                                              <p:pRg st="5" end="5"/>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10445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104452">
                                            <p:txEl>
                                              <p:pRg st="6" end="6"/>
                                            </p:txEl>
                                          </p:spTgt>
                                        </p:tgtEl>
                                        <p:attrNameLst>
                                          <p:attrName>style.visibility</p:attrName>
                                        </p:attrNameLst>
                                      </p:cBhvr>
                                      <p:to>
                                        <p:strVal val="visible"/>
                                      </p:to>
                                    </p:set>
                                    <p:anim calcmode="lin" valueType="num">
                                      <p:cBhvr additive="base">
                                        <p:cTn id="54" dur="500" fill="hold"/>
                                        <p:tgtEl>
                                          <p:spTgt spid="104452">
                                            <p:txEl>
                                              <p:pRg st="6" end="6"/>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10445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2" grpId="0" build="p"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p:cNvSpPr>
            <a:spLocks noGrp="1"/>
          </p:cNvSpPr>
          <p:nvPr>
            <p:ph type="title"/>
          </p:nvPr>
        </p:nvSpPr>
        <p:spPr/>
        <p:txBody>
          <a:bodyPr/>
          <a:lstStyle/>
          <a:p>
            <a:pPr eaLnBrk="1" hangingPunct="1"/>
            <a:endParaRPr lang="en-US" smtClean="0"/>
          </a:p>
        </p:txBody>
      </p:sp>
      <p:sp>
        <p:nvSpPr>
          <p:cNvPr id="34819" name="Content Placeholder 3"/>
          <p:cNvSpPr>
            <a:spLocks noGrp="1"/>
          </p:cNvSpPr>
          <p:nvPr>
            <p:ph idx="1"/>
          </p:nvPr>
        </p:nvSpPr>
        <p:spPr>
          <a:xfrm>
            <a:off x="457200" y="838200"/>
            <a:ext cx="8229600" cy="5791200"/>
          </a:xfrm>
        </p:spPr>
        <p:txBody>
          <a:bodyPr/>
          <a:lstStyle/>
          <a:p>
            <a:pPr eaLnBrk="1" hangingPunct="1">
              <a:buFont typeface="Arial" pitchFamily="34" charset="0"/>
              <a:buNone/>
            </a:pPr>
            <a:r>
              <a:rPr lang="en-US" i="1" smtClean="0"/>
              <a:t>Chlorobium tepidum</a:t>
            </a:r>
            <a:r>
              <a:rPr lang="en-US" smtClean="0"/>
              <a:t> is a thermophilic green sulfur bacteria originally isolated from a New Zealand hot spring. This type of bacterium has special light-harvesting complexes called chlorosomes that contain bacteriochlorophylls and carotenoids. </a:t>
            </a:r>
          </a:p>
          <a:p>
            <a:pPr eaLnBrk="1" hangingPunct="1">
              <a:buFont typeface="Arial" pitchFamily="34" charset="0"/>
              <a:buNone/>
            </a:pPr>
            <a:r>
              <a:rPr lang="en-US" i="1" smtClean="0"/>
              <a:t>Chlorobium</a:t>
            </a:r>
            <a:r>
              <a:rPr lang="en-US" smtClean="0"/>
              <a:t> grows in dense mats over hot springs as well as in other warm muds and bodies of water that contain sufficient hydrogen sulfide.</a:t>
            </a: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endParaRPr lang="en-US" smtClean="0"/>
          </a:p>
        </p:txBody>
      </p:sp>
      <p:sp>
        <p:nvSpPr>
          <p:cNvPr id="37891" name="Content Placeholder 2"/>
          <p:cNvSpPr>
            <a:spLocks noGrp="1"/>
          </p:cNvSpPr>
          <p:nvPr>
            <p:ph idx="1"/>
          </p:nvPr>
        </p:nvSpPr>
        <p:spPr/>
        <p:txBody>
          <a:bodyPr/>
          <a:lstStyle/>
          <a:p>
            <a:pPr eaLnBrk="1" hangingPunct="1">
              <a:buFont typeface="Arial" pitchFamily="34" charset="0"/>
              <a:buNone/>
            </a:pPr>
            <a:r>
              <a:rPr lang="en-US" smtClean="0"/>
              <a:t>The green bacteria are strictly anaerobic ad obligatory photosynthetic. They can use hydrogen sulfide as an electron donor to the reduction of carbon dioxide.  The sulfer formed as an intermediate in oxidation of sulfide to sulphate is always deposited outside the cells.</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en-US" smtClean="0"/>
              <a:t>REDUCTION OF OXIDIZED S</a:t>
            </a:r>
          </a:p>
        </p:txBody>
      </p:sp>
      <p:sp>
        <p:nvSpPr>
          <p:cNvPr id="106499" name="Rectangle 3"/>
          <p:cNvSpPr>
            <a:spLocks noGrp="1" noChangeArrowheads="1"/>
          </p:cNvSpPr>
          <p:nvPr>
            <p:ph idx="1"/>
          </p:nvPr>
        </p:nvSpPr>
        <p:spPr/>
        <p:txBody>
          <a:bodyPr/>
          <a:lstStyle/>
          <a:p>
            <a:pPr eaLnBrk="1" hangingPunct="1">
              <a:buFont typeface="Wingdings" pitchFamily="2" charset="2"/>
              <a:buNone/>
            </a:pPr>
            <a:r>
              <a:rPr lang="en-US" smtClean="0"/>
              <a:t>Environmental conditions:</a:t>
            </a:r>
          </a:p>
          <a:p>
            <a:pPr eaLnBrk="1" hangingPunct="1"/>
            <a:r>
              <a:rPr lang="en-US" smtClean="0"/>
              <a:t>Anaerobic conditions</a:t>
            </a:r>
          </a:p>
          <a:p>
            <a:pPr eaLnBrk="1" hangingPunct="1">
              <a:buFont typeface="Wingdings" pitchFamily="2" charset="2"/>
              <a:buNone/>
            </a:pPr>
            <a:r>
              <a:rPr lang="en-US" smtClean="0"/>
              <a:t>   (All O</a:t>
            </a:r>
            <a:r>
              <a:rPr lang="en-US" baseline="-25000" smtClean="0"/>
              <a:t>2</a:t>
            </a:r>
            <a:r>
              <a:rPr lang="en-US" smtClean="0"/>
              <a:t> and NO</a:t>
            </a:r>
            <a:r>
              <a:rPr lang="en-US" baseline="-25000" smtClean="0"/>
              <a:t>3</a:t>
            </a:r>
            <a:r>
              <a:rPr lang="en-US" baseline="30000" smtClean="0"/>
              <a:t>-</a:t>
            </a:r>
            <a:r>
              <a:rPr lang="en-US" smtClean="0"/>
              <a:t> gone)</a:t>
            </a:r>
          </a:p>
          <a:p>
            <a:pPr eaLnBrk="1" hangingPunct="1"/>
            <a:r>
              <a:rPr lang="en-US" smtClean="0"/>
              <a:t>Available organic C exist</a:t>
            </a:r>
          </a:p>
          <a:p>
            <a:pPr eaLnBrk="1" hangingPunct="1"/>
            <a:r>
              <a:rPr lang="en-US" smtClean="0"/>
              <a:t>Desulfuring microorganisms exist</a:t>
            </a:r>
          </a:p>
          <a:p>
            <a:pPr eaLnBrk="1" hangingPunct="1">
              <a:buFont typeface="Wingdings" pitchFamily="2" charset="2"/>
              <a:buNone/>
            </a:pPr>
            <a:r>
              <a:rPr lang="en-US" smtClean="0"/>
              <a:t>   (</a:t>
            </a:r>
            <a:r>
              <a:rPr lang="en-US" i="1" smtClean="0"/>
              <a:t>Desulfovibrio</a:t>
            </a:r>
            <a:r>
              <a:rPr 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blinds(horizontal)">
                                      <p:cBhvr>
                                        <p:cTn id="7" dur="500"/>
                                        <p:tgtEl>
                                          <p:spTgt spid="1064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06499">
                                            <p:txEl>
                                              <p:pRg st="0" end="0"/>
                                            </p:txEl>
                                          </p:spTgt>
                                        </p:tgtEl>
                                        <p:attrNameLst>
                                          <p:attrName>style.visibility</p:attrName>
                                        </p:attrNameLst>
                                      </p:cBhvr>
                                      <p:to>
                                        <p:strVal val="visible"/>
                                      </p:to>
                                    </p:set>
                                    <p:anim calcmode="lin" valueType="num">
                                      <p:cBhvr additive="base">
                                        <p:cTn id="12" dur="500" fill="hold"/>
                                        <p:tgtEl>
                                          <p:spTgt spid="106499">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06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6499">
                                            <p:txEl>
                                              <p:pRg st="1" end="1"/>
                                            </p:txEl>
                                          </p:spTgt>
                                        </p:tgtEl>
                                        <p:attrNameLst>
                                          <p:attrName>style.visibility</p:attrName>
                                        </p:attrNameLst>
                                      </p:cBhvr>
                                      <p:to>
                                        <p:strVal val="visible"/>
                                      </p:to>
                                    </p:set>
                                    <p:anim calcmode="lin" valueType="num">
                                      <p:cBhvr additive="base">
                                        <p:cTn id="18" dur="500" fill="hold"/>
                                        <p:tgtEl>
                                          <p:spTgt spid="106499">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064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06499">
                                            <p:txEl>
                                              <p:pRg st="2" end="2"/>
                                            </p:txEl>
                                          </p:spTgt>
                                        </p:tgtEl>
                                        <p:attrNameLst>
                                          <p:attrName>style.visibility</p:attrName>
                                        </p:attrNameLst>
                                      </p:cBhvr>
                                      <p:to>
                                        <p:strVal val="visible"/>
                                      </p:to>
                                    </p:set>
                                    <p:anim calcmode="lin" valueType="num">
                                      <p:cBhvr additive="base">
                                        <p:cTn id="24" dur="500" fill="hold"/>
                                        <p:tgtEl>
                                          <p:spTgt spid="106499">
                                            <p:txEl>
                                              <p:pRg st="2" end="2"/>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064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06499">
                                            <p:txEl>
                                              <p:pRg st="3" end="3"/>
                                            </p:txEl>
                                          </p:spTgt>
                                        </p:tgtEl>
                                        <p:attrNameLst>
                                          <p:attrName>style.visibility</p:attrName>
                                        </p:attrNameLst>
                                      </p:cBhvr>
                                      <p:to>
                                        <p:strVal val="visible"/>
                                      </p:to>
                                    </p:set>
                                    <p:anim calcmode="lin" valueType="num">
                                      <p:cBhvr additive="base">
                                        <p:cTn id="30" dur="500" fill="hold"/>
                                        <p:tgtEl>
                                          <p:spTgt spid="106499">
                                            <p:txEl>
                                              <p:pRg st="3" end="3"/>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064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6499">
                                            <p:txEl>
                                              <p:pRg st="4" end="4"/>
                                            </p:txEl>
                                          </p:spTgt>
                                        </p:tgtEl>
                                        <p:attrNameLst>
                                          <p:attrName>style.visibility</p:attrName>
                                        </p:attrNameLst>
                                      </p:cBhvr>
                                      <p:to>
                                        <p:strVal val="visible"/>
                                      </p:to>
                                    </p:set>
                                    <p:anim calcmode="lin" valueType="num">
                                      <p:cBhvr additive="base">
                                        <p:cTn id="36" dur="500" fill="hold"/>
                                        <p:tgtEl>
                                          <p:spTgt spid="106499">
                                            <p:txEl>
                                              <p:pRg st="4" end="4"/>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064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06499">
                                            <p:txEl>
                                              <p:pRg st="5" end="5"/>
                                            </p:txEl>
                                          </p:spTgt>
                                        </p:tgtEl>
                                        <p:attrNameLst>
                                          <p:attrName>style.visibility</p:attrName>
                                        </p:attrNameLst>
                                      </p:cBhvr>
                                      <p:to>
                                        <p:strVal val="visible"/>
                                      </p:to>
                                    </p:set>
                                    <p:anim calcmode="lin" valueType="num">
                                      <p:cBhvr additive="base">
                                        <p:cTn id="42" dur="500" fill="hold"/>
                                        <p:tgtEl>
                                          <p:spTgt spid="106499">
                                            <p:txEl>
                                              <p:pRg st="5" end="5"/>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10649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P spid="106499" grpId="0" build="p"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i="1" smtClean="0"/>
              <a:t>Desulfovibrio desulfuricans</a:t>
            </a:r>
          </a:p>
        </p:txBody>
      </p:sp>
      <p:pic>
        <p:nvPicPr>
          <p:cNvPr id="107526" name="Picture 6" descr="desulfo"/>
          <p:cNvPicPr>
            <a:picLocks noGrp="1" noChangeAspect="1" noChangeArrowheads="1"/>
          </p:cNvPicPr>
          <p:nvPr>
            <p:ph type="clipArt" sz="half" idx="1"/>
          </p:nvPr>
        </p:nvPicPr>
        <p:blipFill>
          <a:blip r:embed="rId2"/>
          <a:srcRect/>
          <a:stretch>
            <a:fillRect/>
          </a:stretch>
        </p:blipFill>
        <p:spPr>
          <a:xfrm>
            <a:off x="457200" y="2438400"/>
            <a:ext cx="3465513" cy="3338513"/>
          </a:xfrm>
        </p:spPr>
      </p:pic>
      <p:sp>
        <p:nvSpPr>
          <p:cNvPr id="107524" name="Rectangle 4"/>
          <p:cNvSpPr>
            <a:spLocks noGrp="1" noChangeArrowheads="1"/>
          </p:cNvSpPr>
          <p:nvPr>
            <p:ph type="body" sz="half" idx="2"/>
          </p:nvPr>
        </p:nvSpPr>
        <p:spPr>
          <a:xfrm>
            <a:off x="4191000" y="2551113"/>
            <a:ext cx="4764088" cy="2859087"/>
          </a:xfrm>
        </p:spPr>
        <p:txBody>
          <a:bodyPr/>
          <a:lstStyle/>
          <a:p>
            <a:pPr eaLnBrk="1" hangingPunct="1"/>
            <a:r>
              <a:rPr lang="en-US" sz="2800" smtClean="0"/>
              <a:t>Obligate anaerobes</a:t>
            </a:r>
          </a:p>
          <a:p>
            <a:pPr eaLnBrk="1" hangingPunct="1"/>
            <a:r>
              <a:rPr lang="en-US" sz="2800" smtClean="0"/>
              <a:t>Curved rod-shaped cells</a:t>
            </a:r>
          </a:p>
          <a:p>
            <a:pPr eaLnBrk="1" hangingPunct="1"/>
            <a:r>
              <a:rPr lang="en-US" sz="2800" smtClean="0"/>
              <a:t>Non-spore forming</a:t>
            </a:r>
          </a:p>
          <a:p>
            <a:pPr eaLnBrk="1" hangingPunct="1"/>
            <a:r>
              <a:rPr lang="en-US" sz="2800" smtClean="0"/>
              <a:t>Gram negative</a:t>
            </a:r>
          </a:p>
          <a:p>
            <a:pPr eaLnBrk="1" hangingPunct="1"/>
            <a:r>
              <a:rPr lang="en-US" sz="2800" smtClean="0"/>
              <a:t>Polarly flagellated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blinds(horizontal)">
                                      <p:cBhvr>
                                        <p:cTn id="7" dur="5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7526"/>
                                        </p:tgtEl>
                                        <p:attrNameLst>
                                          <p:attrName>style.visibility</p:attrName>
                                        </p:attrNameLst>
                                      </p:cBhvr>
                                      <p:to>
                                        <p:strVal val="visible"/>
                                      </p:to>
                                    </p:set>
                                    <p:anim calcmode="lin" valueType="num">
                                      <p:cBhvr additive="base">
                                        <p:cTn id="12" dur="500" fill="hold"/>
                                        <p:tgtEl>
                                          <p:spTgt spid="107526"/>
                                        </p:tgtEl>
                                        <p:attrNameLst>
                                          <p:attrName>ppt_x</p:attrName>
                                        </p:attrNameLst>
                                      </p:cBhvr>
                                      <p:tavLst>
                                        <p:tav tm="0">
                                          <p:val>
                                            <p:strVal val="0-#ppt_w/2"/>
                                          </p:val>
                                        </p:tav>
                                        <p:tav tm="100000">
                                          <p:val>
                                            <p:strVal val="#ppt_x"/>
                                          </p:val>
                                        </p:tav>
                                      </p:tavLst>
                                    </p:anim>
                                    <p:anim calcmode="lin" valueType="num">
                                      <p:cBhvr additive="base">
                                        <p:cTn id="13" dur="500" fill="hold"/>
                                        <p:tgtEl>
                                          <p:spTgt spid="10752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7524">
                                            <p:txEl>
                                              <p:pRg st="0" end="0"/>
                                            </p:txEl>
                                          </p:spTgt>
                                        </p:tgtEl>
                                        <p:attrNameLst>
                                          <p:attrName>style.visibility</p:attrName>
                                        </p:attrNameLst>
                                      </p:cBhvr>
                                      <p:to>
                                        <p:strVal val="visible"/>
                                      </p:to>
                                    </p:set>
                                    <p:anim calcmode="lin" valueType="num">
                                      <p:cBhvr additive="base">
                                        <p:cTn id="18" dur="500" fill="hold"/>
                                        <p:tgtEl>
                                          <p:spTgt spid="107524">
                                            <p:txEl>
                                              <p:pRg st="0" end="0"/>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075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07524">
                                            <p:txEl>
                                              <p:pRg st="1" end="1"/>
                                            </p:txEl>
                                          </p:spTgt>
                                        </p:tgtEl>
                                        <p:attrNameLst>
                                          <p:attrName>style.visibility</p:attrName>
                                        </p:attrNameLst>
                                      </p:cBhvr>
                                      <p:to>
                                        <p:strVal val="visible"/>
                                      </p:to>
                                    </p:set>
                                    <p:anim calcmode="lin" valueType="num">
                                      <p:cBhvr additive="base">
                                        <p:cTn id="24" dur="500" fill="hold"/>
                                        <p:tgtEl>
                                          <p:spTgt spid="107524">
                                            <p:txEl>
                                              <p:pRg st="1" end="1"/>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075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07524">
                                            <p:txEl>
                                              <p:pRg st="2" end="2"/>
                                            </p:txEl>
                                          </p:spTgt>
                                        </p:tgtEl>
                                        <p:attrNameLst>
                                          <p:attrName>style.visibility</p:attrName>
                                        </p:attrNameLst>
                                      </p:cBhvr>
                                      <p:to>
                                        <p:strVal val="visible"/>
                                      </p:to>
                                    </p:set>
                                    <p:anim calcmode="lin" valueType="num">
                                      <p:cBhvr additive="base">
                                        <p:cTn id="30" dur="500" fill="hold"/>
                                        <p:tgtEl>
                                          <p:spTgt spid="107524">
                                            <p:txEl>
                                              <p:pRg st="2" end="2"/>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075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7524">
                                            <p:txEl>
                                              <p:pRg st="3" end="3"/>
                                            </p:txEl>
                                          </p:spTgt>
                                        </p:tgtEl>
                                        <p:attrNameLst>
                                          <p:attrName>style.visibility</p:attrName>
                                        </p:attrNameLst>
                                      </p:cBhvr>
                                      <p:to>
                                        <p:strVal val="visible"/>
                                      </p:to>
                                    </p:set>
                                    <p:anim calcmode="lin" valueType="num">
                                      <p:cBhvr additive="base">
                                        <p:cTn id="36" dur="500" fill="hold"/>
                                        <p:tgtEl>
                                          <p:spTgt spid="107524">
                                            <p:txEl>
                                              <p:pRg st="3" end="3"/>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075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07524">
                                            <p:txEl>
                                              <p:pRg st="4" end="4"/>
                                            </p:txEl>
                                          </p:spTgt>
                                        </p:tgtEl>
                                        <p:attrNameLst>
                                          <p:attrName>style.visibility</p:attrName>
                                        </p:attrNameLst>
                                      </p:cBhvr>
                                      <p:to>
                                        <p:strVal val="visible"/>
                                      </p:to>
                                    </p:set>
                                    <p:anim calcmode="lin" valueType="num">
                                      <p:cBhvr additive="base">
                                        <p:cTn id="42" dur="500" fill="hold"/>
                                        <p:tgtEl>
                                          <p:spTgt spid="107524">
                                            <p:txEl>
                                              <p:pRg st="4" end="4"/>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10752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4" grpId="0" build="p"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smtClean="0"/>
              <a:t>Sulfate reducers</a:t>
            </a:r>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charset="0"/>
              <a:buNone/>
              <a:defRPr/>
            </a:pPr>
            <a:r>
              <a:rPr lang="en-US" dirty="0" smtClean="0"/>
              <a:t>The rod-shaped bacterium is identified as </a:t>
            </a:r>
            <a:r>
              <a:rPr lang="en-US" dirty="0" err="1" smtClean="0"/>
              <a:t>anaerobically</a:t>
            </a:r>
            <a:r>
              <a:rPr lang="en-US" dirty="0" smtClean="0"/>
              <a:t> growing, motile organism. </a:t>
            </a:r>
            <a:r>
              <a:rPr lang="en-US" i="1" dirty="0" err="1" smtClean="0"/>
              <a:t>Desulfovibrio</a:t>
            </a:r>
            <a:r>
              <a:rPr lang="en-US" i="1" dirty="0" smtClean="0"/>
              <a:t> </a:t>
            </a:r>
            <a:r>
              <a:rPr lang="en-US" dirty="0" smtClean="0"/>
              <a:t>is known as a sulfate reducing bacterium, which has put it to the forefront of biological research. Because of its metal corroding ability, which has consequently led to numerous health and safety concerns in industry. </a:t>
            </a:r>
          </a:p>
          <a:p>
            <a:pPr eaLnBrk="1" fontAlgn="auto" hangingPunct="1">
              <a:spcAft>
                <a:spcPts val="0"/>
              </a:spcAft>
              <a:buFont typeface="Arial" charset="0"/>
              <a:buNone/>
              <a:defRPr/>
            </a:pPr>
            <a:r>
              <a:rPr lang="en-US" dirty="0" smtClean="0"/>
              <a:t>The organism however also shows potential for bioremediation, in that it may undergo anaerobic conversion of pollutants in the soil. </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idx="4294967295"/>
          </p:nvPr>
        </p:nvSpPr>
        <p:spPr>
          <a:xfrm>
            <a:off x="0" y="274638"/>
            <a:ext cx="8229600" cy="1143000"/>
          </a:xfrm>
        </p:spPr>
        <p:txBody>
          <a:bodyPr lIns="91418" rIns="91418"/>
          <a:lstStyle/>
          <a:p>
            <a:r>
              <a:rPr lang="en-US" smtClean="0"/>
              <a:t>Phosphorus Cycle</a:t>
            </a:r>
          </a:p>
        </p:txBody>
      </p:sp>
      <p:sp>
        <p:nvSpPr>
          <p:cNvPr id="109571" name="Content Placeholder 2"/>
          <p:cNvSpPr>
            <a:spLocks noGrp="1"/>
          </p:cNvSpPr>
          <p:nvPr>
            <p:ph idx="4294967295"/>
          </p:nvPr>
        </p:nvSpPr>
        <p:spPr>
          <a:xfrm>
            <a:off x="0" y="1600200"/>
            <a:ext cx="8229600" cy="4525963"/>
          </a:xfrm>
        </p:spPr>
        <p:txBody>
          <a:bodyPr tIns="18283" bIns="18283"/>
          <a:lstStyle/>
          <a:p>
            <a:r>
              <a:rPr lang="en-US" smtClean="0">
                <a:latin typeface="Arial" pitchFamily="34" charset="0"/>
                <a:cs typeface="Arial" pitchFamily="34" charset="0"/>
              </a:rPr>
              <a:t>Phosphorus exists mainly as phosphate (PO</a:t>
            </a:r>
            <a:r>
              <a:rPr lang="en-US" baseline="-25000" smtClean="0">
                <a:latin typeface="Arial" pitchFamily="34" charset="0"/>
                <a:cs typeface="Arial" pitchFamily="34" charset="0"/>
              </a:rPr>
              <a:t>4</a:t>
            </a:r>
            <a:r>
              <a:rPr lang="en-US" smtClean="0">
                <a:latin typeface="Arial" pitchFamily="34" charset="0"/>
                <a:cs typeface="Arial" pitchFamily="34" charset="0"/>
              </a:rPr>
              <a:t>) ions</a:t>
            </a:r>
          </a:p>
          <a:p>
            <a:r>
              <a:rPr lang="en-US" smtClean="0">
                <a:latin typeface="Arial" pitchFamily="34" charset="0"/>
                <a:cs typeface="Arial" pitchFamily="34" charset="0"/>
              </a:rPr>
              <a:t>The phosphorus cycle mainly involves changes from soluble to insoluble forms of phosphate.</a:t>
            </a:r>
          </a:p>
          <a:p>
            <a:r>
              <a:rPr lang="en-US" smtClean="0">
                <a:latin typeface="Arial" pitchFamily="34" charset="0"/>
                <a:cs typeface="Arial" pitchFamily="34" charset="0"/>
              </a:rPr>
              <a:t>Microbes (such as </a:t>
            </a:r>
            <a:r>
              <a:rPr lang="en-US" i="1" smtClean="0">
                <a:latin typeface="Arial" pitchFamily="34" charset="0"/>
                <a:cs typeface="Arial" pitchFamily="34" charset="0"/>
              </a:rPr>
              <a:t>Thiobacillus</a:t>
            </a:r>
            <a:r>
              <a:rPr lang="en-US" smtClean="0">
                <a:latin typeface="Arial" pitchFamily="34" charset="0"/>
                <a:cs typeface="Arial" pitchFamily="34" charset="0"/>
              </a:rPr>
              <a:t>) may produce acids that solubilize the phosphate and make it available for plants and other microbes.</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457200" y="0"/>
            <a:ext cx="8229600" cy="1143000"/>
          </a:xfrm>
        </p:spPr>
        <p:txBody>
          <a:bodyPr/>
          <a:lstStyle/>
          <a:p>
            <a:pPr eaLnBrk="1" hangingPunct="1"/>
            <a:r>
              <a:rPr lang="en-US" b="1" smtClean="0">
                <a:latin typeface="Comic Sans MS" pitchFamily="66" charset="0"/>
              </a:rPr>
              <a:t>Plant-Mycorrhizae Mutualism</a:t>
            </a:r>
          </a:p>
        </p:txBody>
      </p:sp>
      <p:sp>
        <p:nvSpPr>
          <p:cNvPr id="117763" name="Rectangle 3"/>
          <p:cNvSpPr>
            <a:spLocks noChangeArrowheads="1"/>
          </p:cNvSpPr>
          <p:nvPr/>
        </p:nvSpPr>
        <p:spPr bwMode="auto">
          <a:xfrm>
            <a:off x="304800" y="1371600"/>
            <a:ext cx="8610600" cy="1447800"/>
          </a:xfrm>
          <a:prstGeom prst="rect">
            <a:avLst/>
          </a:prstGeom>
          <a:noFill/>
          <a:ln w="9525">
            <a:noFill/>
            <a:miter lim="800000"/>
            <a:headEnd/>
            <a:tailEnd/>
          </a:ln>
        </p:spPr>
        <p:txBody>
          <a:bodyPr/>
          <a:lstStyle/>
          <a:p>
            <a:pPr marL="342900" indent="-342900">
              <a:lnSpc>
                <a:spcPct val="80000"/>
              </a:lnSpc>
              <a:spcBef>
                <a:spcPct val="50000"/>
              </a:spcBef>
              <a:buClr>
                <a:srgbClr val="00FF00"/>
              </a:buClr>
              <a:buFontTx/>
              <a:buChar char="•"/>
            </a:pPr>
            <a:r>
              <a:rPr lang="en-US" sz="2800" dirty="0" err="1">
                <a:latin typeface="Calibri" pitchFamily="34" charset="0"/>
              </a:rPr>
              <a:t>mycorrhizal</a:t>
            </a:r>
            <a:r>
              <a:rPr lang="en-US" sz="2800" dirty="0">
                <a:latin typeface="Calibri" pitchFamily="34" charset="0"/>
              </a:rPr>
              <a:t> fungi provide phosphorus to plants (</a:t>
            </a:r>
            <a:r>
              <a:rPr lang="en-US" sz="2800" dirty="0">
                <a:solidFill>
                  <a:srgbClr val="0099FF"/>
                </a:solidFill>
                <a:latin typeface="Calibri" pitchFamily="34" charset="0"/>
              </a:rPr>
              <a:t>nutritional</a:t>
            </a:r>
            <a:r>
              <a:rPr lang="en-US" sz="2800" dirty="0">
                <a:latin typeface="Calibri" pitchFamily="34" charset="0"/>
              </a:rPr>
              <a:t>)</a:t>
            </a:r>
          </a:p>
          <a:p>
            <a:pPr marL="342900" indent="-342900">
              <a:lnSpc>
                <a:spcPct val="80000"/>
              </a:lnSpc>
              <a:spcBef>
                <a:spcPct val="50000"/>
              </a:spcBef>
              <a:buClr>
                <a:srgbClr val="00FF00"/>
              </a:buClr>
              <a:buFontTx/>
              <a:buChar char="•"/>
            </a:pPr>
            <a:r>
              <a:rPr lang="en-US" sz="2800" dirty="0">
                <a:latin typeface="Calibri" pitchFamily="34" charset="0"/>
              </a:rPr>
              <a:t>other part of mutualism is </a:t>
            </a:r>
            <a:r>
              <a:rPr lang="en-US" sz="2800" dirty="0">
                <a:solidFill>
                  <a:srgbClr val="0099FF"/>
                </a:solidFill>
                <a:latin typeface="Calibri" pitchFamily="34" charset="0"/>
              </a:rPr>
              <a:t>energetic</a:t>
            </a:r>
            <a:r>
              <a:rPr lang="en-US" sz="2800" dirty="0">
                <a:latin typeface="Calibri" pitchFamily="34" charset="0"/>
              </a:rPr>
              <a:t> - plants provide </a:t>
            </a:r>
            <a:r>
              <a:rPr lang="en-US" sz="2800" dirty="0" smtClean="0">
                <a:latin typeface="Calibri" pitchFamily="34" charset="0"/>
              </a:rPr>
              <a:t>carbohydrates</a:t>
            </a:r>
          </a:p>
          <a:p>
            <a:pPr marL="747713" lvl="1" indent="-457200"/>
            <a:endParaRPr lang="en-US" sz="3200" dirty="0" smtClean="0">
              <a:latin typeface="Calibri" pitchFamily="34" charset="0"/>
            </a:endParaRPr>
          </a:p>
          <a:p>
            <a:pPr marL="747713" lvl="1" indent="-457200"/>
            <a:r>
              <a:rPr lang="en-US" sz="3200" dirty="0" smtClean="0">
                <a:latin typeface="Calibri" pitchFamily="34" charset="0"/>
              </a:rPr>
              <a:t>Widespread –</a:t>
            </a:r>
          </a:p>
          <a:p>
            <a:pPr marL="747713" lvl="1" indent="-457200">
              <a:lnSpc>
                <a:spcPct val="60000"/>
              </a:lnSpc>
            </a:pPr>
            <a:endParaRPr lang="en-US" sz="3200" dirty="0" smtClean="0">
              <a:latin typeface="Calibri" pitchFamily="34" charset="0"/>
            </a:endParaRPr>
          </a:p>
          <a:p>
            <a:pPr marL="747713" lvl="1" indent="-457200"/>
            <a:r>
              <a:rPr lang="en-US" sz="3200" dirty="0" smtClean="0">
                <a:latin typeface="Calibri" pitchFamily="34" charset="0"/>
              </a:rPr>
              <a:t>Occurs ~80% angiosperm </a:t>
            </a:r>
            <a:r>
              <a:rPr lang="en-US" sz="3200" dirty="0" err="1" smtClean="0">
                <a:latin typeface="Calibri" pitchFamily="34" charset="0"/>
              </a:rPr>
              <a:t>spp</a:t>
            </a:r>
            <a:r>
              <a:rPr lang="en-US" sz="3200" dirty="0" smtClean="0">
                <a:latin typeface="Calibri" pitchFamily="34" charset="0"/>
              </a:rPr>
              <a:t> </a:t>
            </a:r>
          </a:p>
          <a:p>
            <a:pPr marL="747713" lvl="1" indent="-457200"/>
            <a:r>
              <a:rPr lang="en-US" sz="3200" dirty="0" smtClean="0">
                <a:latin typeface="Calibri" pitchFamily="34" charset="0"/>
              </a:rPr>
              <a:t>All gymnosperms</a:t>
            </a:r>
          </a:p>
          <a:p>
            <a:pPr marL="747713" lvl="1" indent="-457200"/>
            <a:r>
              <a:rPr lang="en-US" sz="2400" dirty="0" smtClean="0">
                <a:latin typeface="Calibri" pitchFamily="34" charset="0"/>
              </a:rPr>
              <a:t>Sometimes an </a:t>
            </a:r>
            <a:r>
              <a:rPr lang="en-US" sz="2400" u="sng" dirty="0" smtClean="0">
                <a:latin typeface="Calibri" pitchFamily="34" charset="0"/>
              </a:rPr>
              <a:t>obligate</a:t>
            </a:r>
            <a:r>
              <a:rPr lang="en-US" sz="2400" dirty="0" smtClean="0">
                <a:latin typeface="Calibri" pitchFamily="34" charset="0"/>
              </a:rPr>
              <a:t> relationship</a:t>
            </a:r>
          </a:p>
          <a:p>
            <a:pPr marL="342900" indent="-342900">
              <a:lnSpc>
                <a:spcPct val="80000"/>
              </a:lnSpc>
              <a:spcBef>
                <a:spcPct val="50000"/>
              </a:spcBef>
              <a:buClr>
                <a:srgbClr val="00FF00"/>
              </a:buClr>
            </a:pPr>
            <a:endParaRPr lang="en-US" sz="3200" dirty="0">
              <a:latin typeface="Calibri" pitchFamily="34" charset="0"/>
            </a:endParaRPr>
          </a:p>
        </p:txBody>
      </p:sp>
      <p:pic>
        <p:nvPicPr>
          <p:cNvPr id="117764" name="Picture 4" descr="1071148_3_mycorrhiza"/>
          <p:cNvPicPr>
            <a:picLocks noChangeAspect="1" noChangeArrowheads="1"/>
          </p:cNvPicPr>
          <p:nvPr/>
        </p:nvPicPr>
        <p:blipFill>
          <a:blip r:embed="rId2" cstate="print"/>
          <a:srcRect/>
          <a:stretch>
            <a:fillRect/>
          </a:stretch>
        </p:blipFill>
        <p:spPr bwMode="auto">
          <a:xfrm flipH="1">
            <a:off x="5562600" y="4014787"/>
            <a:ext cx="3352800" cy="28432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2133600" y="-152400"/>
            <a:ext cx="4876800" cy="1143000"/>
          </a:xfrm>
        </p:spPr>
        <p:txBody>
          <a:bodyPr/>
          <a:lstStyle/>
          <a:p>
            <a:pPr eaLnBrk="1" hangingPunct="1"/>
            <a:r>
              <a:rPr lang="en-US" b="1" smtClean="0">
                <a:latin typeface="Comic Sans MS" pitchFamily="66" charset="0"/>
              </a:rPr>
              <a:t>Ectomycorrhizae</a:t>
            </a:r>
          </a:p>
        </p:txBody>
      </p:sp>
      <p:sp>
        <p:nvSpPr>
          <p:cNvPr id="119811" name="Rectangle 3"/>
          <p:cNvSpPr>
            <a:spLocks noChangeArrowheads="1"/>
          </p:cNvSpPr>
          <p:nvPr/>
        </p:nvSpPr>
        <p:spPr bwMode="auto">
          <a:xfrm>
            <a:off x="0" y="1066800"/>
            <a:ext cx="8305800" cy="5791200"/>
          </a:xfrm>
          <a:prstGeom prst="rect">
            <a:avLst/>
          </a:prstGeom>
          <a:noFill/>
          <a:ln w="9525">
            <a:noFill/>
            <a:miter lim="800000"/>
            <a:headEnd/>
            <a:tailEnd/>
          </a:ln>
        </p:spPr>
        <p:txBody>
          <a:bodyPr/>
          <a:lstStyle/>
          <a:p>
            <a:pPr marL="342900" indent="-342900">
              <a:lnSpc>
                <a:spcPct val="80000"/>
              </a:lnSpc>
              <a:spcBef>
                <a:spcPct val="50000"/>
              </a:spcBef>
              <a:buClr>
                <a:srgbClr val="00FF00"/>
              </a:buClr>
            </a:pPr>
            <a:r>
              <a:rPr lang="en-US" sz="3200" dirty="0" smtClean="0">
                <a:latin typeface="Calibri" pitchFamily="34" charset="0"/>
              </a:rPr>
              <a:t>fungus covers the ends </a:t>
            </a:r>
            <a:br>
              <a:rPr lang="en-US" sz="3200" dirty="0" smtClean="0">
                <a:latin typeface="Calibri" pitchFamily="34" charset="0"/>
              </a:rPr>
            </a:br>
            <a:r>
              <a:rPr lang="en-US" sz="3200" dirty="0" smtClean="0">
                <a:latin typeface="Calibri" pitchFamily="34" charset="0"/>
              </a:rPr>
              <a:t>of young roots &amp; only </a:t>
            </a:r>
            <a:br>
              <a:rPr lang="en-US" sz="3200" dirty="0" smtClean="0">
                <a:latin typeface="Calibri" pitchFamily="34" charset="0"/>
              </a:rPr>
            </a:br>
            <a:r>
              <a:rPr lang="en-US" sz="3200" dirty="0" smtClean="0">
                <a:latin typeface="Calibri" pitchFamily="34" charset="0"/>
              </a:rPr>
              <a:t>penetrates the cell wall </a:t>
            </a:r>
            <a:br>
              <a:rPr lang="en-US" sz="3200" dirty="0" smtClean="0">
                <a:latin typeface="Calibri" pitchFamily="34" charset="0"/>
              </a:rPr>
            </a:br>
            <a:r>
              <a:rPr lang="en-US" sz="3200" dirty="0" smtClean="0">
                <a:latin typeface="Calibri" pitchFamily="34" charset="0"/>
              </a:rPr>
              <a:t>of the cortex </a:t>
            </a:r>
          </a:p>
          <a:p>
            <a:pPr marL="342900" indent="-342900">
              <a:lnSpc>
                <a:spcPct val="80000"/>
              </a:lnSpc>
              <a:spcBef>
                <a:spcPct val="50000"/>
              </a:spcBef>
              <a:buClr>
                <a:srgbClr val="00FF00"/>
              </a:buClr>
            </a:pPr>
            <a:r>
              <a:rPr lang="en-US" sz="3200" dirty="0" smtClean="0">
                <a:latin typeface="Calibri" pitchFamily="34" charset="0"/>
              </a:rPr>
              <a:t>common in evergreen </a:t>
            </a:r>
            <a:br>
              <a:rPr lang="en-US" sz="3200" dirty="0" smtClean="0">
                <a:latin typeface="Calibri" pitchFamily="34" charset="0"/>
              </a:rPr>
            </a:br>
            <a:r>
              <a:rPr lang="en-US" sz="3200" dirty="0" smtClean="0">
                <a:latin typeface="Calibri" pitchFamily="34" charset="0"/>
              </a:rPr>
              <a:t>trees/shrubs</a:t>
            </a:r>
          </a:p>
          <a:p>
            <a:pPr marL="342900" indent="-342900">
              <a:lnSpc>
                <a:spcPct val="80000"/>
              </a:lnSpc>
              <a:spcBef>
                <a:spcPct val="50000"/>
              </a:spcBef>
              <a:buClr>
                <a:srgbClr val="00FF00"/>
              </a:buClr>
            </a:pPr>
            <a:r>
              <a:rPr lang="en-US" sz="3200" dirty="0" smtClean="0">
                <a:latin typeface="Calibri" pitchFamily="34" charset="0"/>
              </a:rPr>
              <a:t>deciduous tree species:  </a:t>
            </a:r>
            <a:r>
              <a:rPr lang="en-US" sz="3200" i="1" dirty="0" err="1" smtClean="0">
                <a:latin typeface="Calibri" pitchFamily="34" charset="0"/>
              </a:rPr>
              <a:t>Fagus</a:t>
            </a:r>
            <a:r>
              <a:rPr lang="en-US" sz="3200" i="1" dirty="0" smtClean="0">
                <a:latin typeface="Calibri" pitchFamily="34" charset="0"/>
              </a:rPr>
              <a:t>, </a:t>
            </a:r>
            <a:r>
              <a:rPr lang="en-US" sz="3200" i="1" dirty="0" err="1" smtClean="0">
                <a:latin typeface="Calibri" pitchFamily="34" charset="0"/>
              </a:rPr>
              <a:t>Betula</a:t>
            </a:r>
            <a:r>
              <a:rPr lang="en-US" sz="3200" i="1" dirty="0" smtClean="0">
                <a:latin typeface="Calibri" pitchFamily="34" charset="0"/>
              </a:rPr>
              <a:t>, </a:t>
            </a:r>
            <a:r>
              <a:rPr lang="en-US" sz="3200" i="1" dirty="0" err="1" smtClean="0">
                <a:latin typeface="Calibri" pitchFamily="34" charset="0"/>
              </a:rPr>
              <a:t>Quercus</a:t>
            </a:r>
            <a:r>
              <a:rPr lang="en-US" sz="3200" i="1" dirty="0" smtClean="0">
                <a:latin typeface="Calibri" pitchFamily="34" charset="0"/>
              </a:rPr>
              <a:t>, </a:t>
            </a:r>
            <a:r>
              <a:rPr lang="en-US" sz="3200" i="1" dirty="0" err="1" smtClean="0">
                <a:latin typeface="Calibri" pitchFamily="34" charset="0"/>
              </a:rPr>
              <a:t>Tilia</a:t>
            </a:r>
            <a:r>
              <a:rPr lang="en-US" sz="3200" i="1" dirty="0" smtClean="0">
                <a:latin typeface="Calibri" pitchFamily="34" charset="0"/>
              </a:rPr>
              <a:t>, </a:t>
            </a:r>
            <a:r>
              <a:rPr lang="en-US" sz="3200" i="1" dirty="0" err="1" smtClean="0">
                <a:latin typeface="Calibri" pitchFamily="34" charset="0"/>
              </a:rPr>
              <a:t>Populus</a:t>
            </a:r>
            <a:r>
              <a:rPr lang="en-US" sz="3200" i="1" dirty="0" smtClean="0">
                <a:latin typeface="Calibri" pitchFamily="34" charset="0"/>
              </a:rPr>
              <a:t>, Salix</a:t>
            </a:r>
            <a:r>
              <a:rPr lang="en-US" sz="3200" dirty="0" smtClean="0">
                <a:latin typeface="Calibri" pitchFamily="34" charset="0"/>
              </a:rPr>
              <a:t> and </a:t>
            </a:r>
            <a:r>
              <a:rPr lang="en-US" sz="3200" i="1" dirty="0" err="1" smtClean="0">
                <a:latin typeface="Calibri" pitchFamily="34" charset="0"/>
              </a:rPr>
              <a:t>Castanea</a:t>
            </a:r>
            <a:r>
              <a:rPr lang="en-US" sz="3200" dirty="0" smtClean="0">
                <a:latin typeface="Calibri" pitchFamily="34" charset="0"/>
              </a:rPr>
              <a:t> </a:t>
            </a:r>
          </a:p>
          <a:p>
            <a:pPr marL="342900" indent="-342900">
              <a:lnSpc>
                <a:spcPct val="80000"/>
              </a:lnSpc>
              <a:spcBef>
                <a:spcPct val="50000"/>
              </a:spcBef>
              <a:buClr>
                <a:srgbClr val="00FF00"/>
              </a:buClr>
            </a:pPr>
            <a:r>
              <a:rPr lang="en-US" sz="3200" dirty="0" smtClean="0">
                <a:latin typeface="Calibri" pitchFamily="34" charset="0"/>
              </a:rPr>
              <a:t>absorb phosphate, ammonium, and zinc from the soil</a:t>
            </a:r>
          </a:p>
          <a:p>
            <a:pPr marL="342900" indent="-342900">
              <a:lnSpc>
                <a:spcPct val="80000"/>
              </a:lnSpc>
              <a:spcBef>
                <a:spcPct val="50000"/>
              </a:spcBef>
              <a:buClr>
                <a:srgbClr val="00FF00"/>
              </a:buClr>
            </a:pPr>
            <a:r>
              <a:rPr lang="en-US" sz="3200" dirty="0" smtClean="0">
                <a:latin typeface="Calibri" pitchFamily="34" charset="0"/>
              </a:rPr>
              <a:t>tend to be host-specific </a:t>
            </a:r>
          </a:p>
          <a:p>
            <a:pPr marL="742950" lvl="1" indent="-285750">
              <a:lnSpc>
                <a:spcPct val="80000"/>
              </a:lnSpc>
              <a:spcBef>
                <a:spcPct val="50000"/>
              </a:spcBef>
              <a:buClr>
                <a:srgbClr val="00FF00"/>
              </a:buClr>
            </a:pPr>
            <a:endParaRPr lang="en-US" sz="3200" dirty="0">
              <a:latin typeface="Calibri" pitchFamily="34" charset="0"/>
            </a:endParaRPr>
          </a:p>
        </p:txBody>
      </p:sp>
      <p:pic>
        <p:nvPicPr>
          <p:cNvPr id="119812" name="Picture 4" descr="ectomycorrhizae"/>
          <p:cNvPicPr>
            <a:picLocks noChangeAspect="1" noChangeArrowheads="1"/>
          </p:cNvPicPr>
          <p:nvPr/>
        </p:nvPicPr>
        <p:blipFill>
          <a:blip r:embed="rId2"/>
          <a:srcRect/>
          <a:stretch>
            <a:fillRect/>
          </a:stretch>
        </p:blipFill>
        <p:spPr bwMode="auto">
          <a:xfrm>
            <a:off x="5257800" y="1066800"/>
            <a:ext cx="3657600" cy="256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76200" y="0"/>
            <a:ext cx="8001000" cy="4924425"/>
          </a:xfrm>
          <a:prstGeom prst="rect">
            <a:avLst/>
          </a:prstGeom>
          <a:noFill/>
          <a:ln w="9525">
            <a:noFill/>
            <a:miter lim="800000"/>
            <a:headEnd/>
            <a:tailEnd/>
          </a:ln>
        </p:spPr>
        <p:txBody>
          <a:bodyPr>
            <a:spAutoFit/>
          </a:bodyPr>
          <a:lstStyle/>
          <a:p>
            <a:pPr marL="225425" indent="-225425">
              <a:lnSpc>
                <a:spcPct val="120000"/>
              </a:lnSpc>
              <a:buFontTx/>
              <a:buAutoNum type="alphaUcPeriod" startAt="2"/>
            </a:pPr>
            <a:r>
              <a:rPr lang="en-US" sz="2200" dirty="0">
                <a:solidFill>
                  <a:srgbClr val="FFFF00"/>
                </a:solidFill>
                <a:latin typeface="Calibri" pitchFamily="34" charset="0"/>
              </a:rPr>
              <a:t> </a:t>
            </a:r>
            <a:r>
              <a:rPr lang="en-US" sz="4000" dirty="0">
                <a:latin typeface="Calibri" pitchFamily="34" charset="0"/>
              </a:rPr>
              <a:t>Major groups of </a:t>
            </a:r>
            <a:r>
              <a:rPr lang="en-US" sz="4000" dirty="0" err="1">
                <a:latin typeface="Calibri" pitchFamily="34" charset="0"/>
              </a:rPr>
              <a:t>mycorrhizae</a:t>
            </a:r>
            <a:r>
              <a:rPr lang="en-US" sz="4000" dirty="0">
                <a:latin typeface="Calibri" pitchFamily="34" charset="0"/>
              </a:rPr>
              <a:t>:</a:t>
            </a:r>
          </a:p>
          <a:p>
            <a:pPr marL="225425" indent="-225425">
              <a:lnSpc>
                <a:spcPct val="50000"/>
              </a:lnSpc>
              <a:buFontTx/>
              <a:buAutoNum type="alphaUcPeriod" startAt="2"/>
            </a:pPr>
            <a:endParaRPr lang="en-US" sz="4000" dirty="0">
              <a:latin typeface="Calibri" pitchFamily="34" charset="0"/>
            </a:endParaRPr>
          </a:p>
          <a:p>
            <a:pPr marL="225425" indent="-225425">
              <a:lnSpc>
                <a:spcPct val="110000"/>
              </a:lnSpc>
            </a:pPr>
            <a:r>
              <a:rPr lang="en-US" sz="4000" dirty="0">
                <a:latin typeface="Calibri" pitchFamily="34" charset="0"/>
              </a:rPr>
              <a:t>  1)  </a:t>
            </a:r>
            <a:r>
              <a:rPr lang="en-US" sz="4000" b="1" u="sng" dirty="0" err="1">
                <a:solidFill>
                  <a:srgbClr val="FF0000"/>
                </a:solidFill>
                <a:latin typeface="Calibri" pitchFamily="34" charset="0"/>
              </a:rPr>
              <a:t>Ecto</a:t>
            </a:r>
            <a:r>
              <a:rPr lang="en-US" sz="4000" u="sng" dirty="0" err="1">
                <a:solidFill>
                  <a:srgbClr val="FF0000"/>
                </a:solidFill>
                <a:latin typeface="Calibri" pitchFamily="34" charset="0"/>
              </a:rPr>
              <a:t>mycorrhizae</a:t>
            </a:r>
            <a:r>
              <a:rPr lang="en-US" sz="4000" dirty="0">
                <a:solidFill>
                  <a:srgbClr val="FF0000"/>
                </a:solidFill>
                <a:latin typeface="Calibri" pitchFamily="34" charset="0"/>
              </a:rPr>
              <a:t> –</a:t>
            </a:r>
            <a:r>
              <a:rPr lang="en-US" sz="4000" dirty="0">
                <a:latin typeface="Calibri" pitchFamily="34" charset="0"/>
              </a:rPr>
              <a:t> </a:t>
            </a:r>
          </a:p>
          <a:p>
            <a:pPr marL="225425" indent="-225425">
              <a:lnSpc>
                <a:spcPct val="50000"/>
              </a:lnSpc>
            </a:pPr>
            <a:endParaRPr lang="en-US" sz="2000" dirty="0">
              <a:latin typeface="Calibri" pitchFamily="34" charset="0"/>
            </a:endParaRPr>
          </a:p>
          <a:p>
            <a:pPr marL="515938" lvl="1" indent="-176213"/>
            <a:r>
              <a:rPr lang="en-US" sz="3200" dirty="0">
                <a:latin typeface="Times New Roman" pitchFamily="18" charset="0"/>
                <a:cs typeface="Times New Roman" pitchFamily="18" charset="0"/>
              </a:rPr>
              <a:t>Fungus forms “sheath” around the root (mantle)</a:t>
            </a:r>
          </a:p>
          <a:p>
            <a:pPr marL="515938" lvl="1" indent="-176213"/>
            <a:r>
              <a:rPr lang="en-US" sz="3200" dirty="0">
                <a:latin typeface="Times New Roman" pitchFamily="18" charset="0"/>
                <a:cs typeface="Times New Roman" pitchFamily="18" charset="0"/>
              </a:rPr>
              <a:t>Grows in between cortical cells = </a:t>
            </a:r>
            <a:r>
              <a:rPr lang="en-US" sz="3200" dirty="0" err="1">
                <a:latin typeface="Times New Roman" pitchFamily="18" charset="0"/>
                <a:cs typeface="Times New Roman" pitchFamily="18" charset="0"/>
              </a:rPr>
              <a:t>Hartig</a:t>
            </a:r>
            <a:r>
              <a:rPr lang="en-US" sz="3200" dirty="0">
                <a:latin typeface="Times New Roman" pitchFamily="18" charset="0"/>
                <a:cs typeface="Times New Roman" pitchFamily="18" charset="0"/>
              </a:rPr>
              <a:t> net – </a:t>
            </a:r>
            <a:r>
              <a:rPr lang="en-US" sz="3200" u="sng" dirty="0" err="1">
                <a:latin typeface="Times New Roman" pitchFamily="18" charset="0"/>
                <a:cs typeface="Times New Roman" pitchFamily="18" charset="0"/>
              </a:rPr>
              <a:t>apoplastic</a:t>
            </a:r>
            <a:r>
              <a:rPr lang="en-US" sz="3200" dirty="0">
                <a:latin typeface="Times New Roman" pitchFamily="18" charset="0"/>
                <a:cs typeface="Times New Roman" pitchFamily="18" charset="0"/>
              </a:rPr>
              <a:t> connection</a:t>
            </a:r>
          </a:p>
          <a:p>
            <a:pPr marL="225425" indent="-225425"/>
            <a:endParaRPr lang="en-US" sz="3200" dirty="0">
              <a:latin typeface="Times New Roman" pitchFamily="18" charset="0"/>
              <a:cs typeface="Times New Roman" pitchFamily="18" charset="0"/>
            </a:endParaRPr>
          </a:p>
          <a:p>
            <a:pPr marL="515938" lvl="1" indent="-176213"/>
            <a:endParaRPr lang="en-US" sz="3200" dirty="0">
              <a:latin typeface="Times New Roman" pitchFamily="18" charset="0"/>
              <a:cs typeface="Times New Roman" pitchFamily="18" charset="0"/>
            </a:endParaRPr>
          </a:p>
        </p:txBody>
      </p:sp>
      <p:pic>
        <p:nvPicPr>
          <p:cNvPr id="121859" name="Picture 3" descr="mycorrhizae_ECM1"/>
          <p:cNvPicPr>
            <a:picLocks noChangeAspect="1" noChangeArrowheads="1"/>
          </p:cNvPicPr>
          <p:nvPr/>
        </p:nvPicPr>
        <p:blipFill>
          <a:blip r:embed="rId3"/>
          <a:srcRect/>
          <a:stretch>
            <a:fillRect/>
          </a:stretch>
        </p:blipFill>
        <p:spPr bwMode="auto">
          <a:xfrm>
            <a:off x="2514600" y="1843088"/>
            <a:ext cx="6553200" cy="4938712"/>
          </a:xfrm>
          <a:prstGeom prst="rect">
            <a:avLst/>
          </a:prstGeom>
          <a:noFill/>
          <a:ln w="9525">
            <a:noFill/>
            <a:miter lim="800000"/>
            <a:headEnd/>
            <a:tailEnd/>
          </a:ln>
        </p:spPr>
      </p:pic>
      <p:sp>
        <p:nvSpPr>
          <p:cNvPr id="121860" name="Oval 4"/>
          <p:cNvSpPr>
            <a:spLocks noChangeArrowheads="1"/>
          </p:cNvSpPr>
          <p:nvPr/>
        </p:nvSpPr>
        <p:spPr bwMode="auto">
          <a:xfrm>
            <a:off x="2514600" y="3962400"/>
            <a:ext cx="685800" cy="457200"/>
          </a:xfrm>
          <a:prstGeom prst="ellipse">
            <a:avLst/>
          </a:prstGeom>
          <a:noFill/>
          <a:ln w="28575">
            <a:solidFill>
              <a:srgbClr val="008000"/>
            </a:solidFill>
            <a:round/>
            <a:headEnd/>
            <a:tailEnd/>
          </a:ln>
        </p:spPr>
        <p:txBody>
          <a:bodyPr wrap="none" anchor="ctr"/>
          <a:lstStyle/>
          <a:p>
            <a:endParaRPr lang="en-US">
              <a:latin typeface="Calibri" pitchFamily="34" charset="0"/>
            </a:endParaRPr>
          </a:p>
        </p:txBody>
      </p:sp>
      <p:pic>
        <p:nvPicPr>
          <p:cNvPr id="5" name="Picture 3" descr="mycorrhizae_ECM1"/>
          <p:cNvPicPr>
            <a:picLocks noChangeAspect="1" noChangeArrowheads="1"/>
          </p:cNvPicPr>
          <p:nvPr/>
        </p:nvPicPr>
        <p:blipFill>
          <a:blip r:embed="rId3"/>
          <a:srcRect/>
          <a:stretch>
            <a:fillRect/>
          </a:stretch>
        </p:blipFill>
        <p:spPr bwMode="auto">
          <a:xfrm>
            <a:off x="2590800" y="1919288"/>
            <a:ext cx="6553200" cy="49387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457200" y="0"/>
            <a:ext cx="8229600" cy="1143000"/>
          </a:xfrm>
        </p:spPr>
        <p:txBody>
          <a:bodyPr/>
          <a:lstStyle/>
          <a:p>
            <a:pPr eaLnBrk="1" hangingPunct="1"/>
            <a:r>
              <a:rPr lang="en-US" b="1" smtClean="0">
                <a:latin typeface="Comic Sans MS" pitchFamily="66" charset="0"/>
              </a:rPr>
              <a:t>Endomycorrhizae</a:t>
            </a:r>
          </a:p>
        </p:txBody>
      </p:sp>
      <p:sp>
        <p:nvSpPr>
          <p:cNvPr id="120835" name="Rectangle 3"/>
          <p:cNvSpPr>
            <a:spLocks noChangeArrowheads="1"/>
          </p:cNvSpPr>
          <p:nvPr/>
        </p:nvSpPr>
        <p:spPr bwMode="auto">
          <a:xfrm>
            <a:off x="381000" y="1600200"/>
            <a:ext cx="8382000" cy="5257800"/>
          </a:xfrm>
          <a:prstGeom prst="rect">
            <a:avLst/>
          </a:prstGeom>
          <a:noFill/>
          <a:ln w="9525">
            <a:noFill/>
            <a:miter lim="800000"/>
            <a:headEnd/>
            <a:tailEnd/>
          </a:ln>
        </p:spPr>
        <p:txBody>
          <a:bodyPr/>
          <a:lstStyle/>
          <a:p>
            <a:pPr marL="342900" indent="-342900">
              <a:lnSpc>
                <a:spcPct val="80000"/>
              </a:lnSpc>
              <a:spcBef>
                <a:spcPct val="50000"/>
              </a:spcBef>
              <a:buClr>
                <a:srgbClr val="00FF00"/>
              </a:buClr>
            </a:pPr>
            <a:r>
              <a:rPr lang="en-US" sz="3200" dirty="0">
                <a:latin typeface="Calibri" pitchFamily="34" charset="0"/>
              </a:rPr>
              <a:t>invade plant roots and develop within the plant</a:t>
            </a:r>
          </a:p>
          <a:p>
            <a:pPr marL="342900" indent="-342900">
              <a:lnSpc>
                <a:spcPct val="80000"/>
              </a:lnSpc>
              <a:spcBef>
                <a:spcPct val="50000"/>
              </a:spcBef>
              <a:buClr>
                <a:srgbClr val="00FF00"/>
              </a:buClr>
            </a:pPr>
            <a:r>
              <a:rPr lang="en-US" sz="3200" dirty="0" err="1">
                <a:latin typeface="Calibri" pitchFamily="34" charset="0"/>
              </a:rPr>
              <a:t>vesicular­arbuscular</a:t>
            </a:r>
            <a:r>
              <a:rPr lang="en-US" sz="3200" dirty="0">
                <a:latin typeface="Calibri" pitchFamily="34" charset="0"/>
              </a:rPr>
              <a:t> </a:t>
            </a:r>
            <a:r>
              <a:rPr lang="en-US" sz="3200" dirty="0" err="1">
                <a:latin typeface="Calibri" pitchFamily="34" charset="0"/>
              </a:rPr>
              <a:t>mycorrhizae</a:t>
            </a:r>
            <a:r>
              <a:rPr lang="en-US" sz="3200" dirty="0">
                <a:latin typeface="Calibri" pitchFamily="34" charset="0"/>
              </a:rPr>
              <a:t> (VAM)</a:t>
            </a:r>
          </a:p>
          <a:p>
            <a:pPr marL="342900" indent="-342900">
              <a:lnSpc>
                <a:spcPct val="80000"/>
              </a:lnSpc>
              <a:spcBef>
                <a:spcPct val="50000"/>
              </a:spcBef>
              <a:buClr>
                <a:srgbClr val="00FF00"/>
              </a:buClr>
            </a:pPr>
            <a:r>
              <a:rPr lang="en-US" sz="3200" dirty="0">
                <a:latin typeface="Calibri" pitchFamily="34" charset="0"/>
              </a:rPr>
              <a:t>commonly on deciduous trees, annual crops, &amp; other herbaceous plants </a:t>
            </a:r>
          </a:p>
          <a:p>
            <a:pPr marL="342900" indent="-342900">
              <a:lnSpc>
                <a:spcPct val="80000"/>
              </a:lnSpc>
              <a:spcBef>
                <a:spcPct val="50000"/>
              </a:spcBef>
              <a:buClr>
                <a:srgbClr val="00FF00"/>
              </a:buClr>
            </a:pPr>
            <a:r>
              <a:rPr lang="en-US" sz="3200" dirty="0" err="1">
                <a:latin typeface="Calibri" pitchFamily="34" charset="0"/>
              </a:rPr>
              <a:t>hyphae</a:t>
            </a:r>
            <a:r>
              <a:rPr lang="en-US" sz="3200" dirty="0">
                <a:latin typeface="Calibri" pitchFamily="34" charset="0"/>
              </a:rPr>
              <a:t> grow inter­ &amp; </a:t>
            </a:r>
            <a:r>
              <a:rPr lang="en-US" sz="3200" dirty="0" err="1">
                <a:latin typeface="Calibri" pitchFamily="34" charset="0"/>
              </a:rPr>
              <a:t>intracellularly</a:t>
            </a:r>
            <a:r>
              <a:rPr lang="en-US" sz="3200" dirty="0">
                <a:latin typeface="Calibri" pitchFamily="34" charset="0"/>
              </a:rPr>
              <a:t> within the root</a:t>
            </a:r>
          </a:p>
          <a:p>
            <a:pPr marL="342900" indent="-342900">
              <a:lnSpc>
                <a:spcPct val="80000"/>
              </a:lnSpc>
              <a:spcBef>
                <a:spcPct val="50000"/>
              </a:spcBef>
              <a:buClr>
                <a:srgbClr val="00FF00"/>
              </a:buClr>
            </a:pPr>
            <a:r>
              <a:rPr lang="en-US" sz="3200" dirty="0">
                <a:latin typeface="Calibri" pitchFamily="34" charset="0"/>
              </a:rPr>
              <a:t>uptake of phosphate and zinc </a:t>
            </a:r>
          </a:p>
          <a:p>
            <a:pPr marL="342900" indent="-342900">
              <a:lnSpc>
                <a:spcPct val="80000"/>
              </a:lnSpc>
              <a:spcBef>
                <a:spcPct val="50000"/>
              </a:spcBef>
              <a:buClr>
                <a:srgbClr val="00FF00"/>
              </a:buClr>
            </a:pPr>
            <a:r>
              <a:rPr lang="en-US" sz="3200" dirty="0">
                <a:latin typeface="Calibri" pitchFamily="34" charset="0"/>
              </a:rPr>
              <a:t>typically not host-specific</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0" y="487363"/>
            <a:ext cx="4572000" cy="935641"/>
          </a:xfrm>
          <a:prstGeom prst="rect">
            <a:avLst/>
          </a:prstGeom>
          <a:noFill/>
          <a:ln w="9525">
            <a:noFill/>
            <a:miter lim="800000"/>
            <a:headEnd/>
            <a:tailEnd/>
          </a:ln>
        </p:spPr>
        <p:txBody>
          <a:bodyPr>
            <a:spAutoFit/>
          </a:bodyPr>
          <a:lstStyle/>
          <a:p>
            <a:r>
              <a:rPr lang="en-US" sz="2200" dirty="0">
                <a:solidFill>
                  <a:schemeClr val="bg1"/>
                </a:solidFill>
                <a:latin typeface="Calibri" pitchFamily="34" charset="0"/>
              </a:rPr>
              <a:t>2)  </a:t>
            </a:r>
            <a:r>
              <a:rPr lang="en-US" sz="2200" b="1" u="sng" dirty="0" err="1">
                <a:solidFill>
                  <a:srgbClr val="FF0000"/>
                </a:solidFill>
                <a:latin typeface="Calibri" pitchFamily="34" charset="0"/>
              </a:rPr>
              <a:t>Endo</a:t>
            </a:r>
            <a:r>
              <a:rPr lang="en-US" sz="2200" u="sng" dirty="0" err="1">
                <a:solidFill>
                  <a:srgbClr val="FF0000"/>
                </a:solidFill>
                <a:latin typeface="Calibri" pitchFamily="34" charset="0"/>
              </a:rPr>
              <a:t>mycorrhizae</a:t>
            </a:r>
            <a:r>
              <a:rPr lang="en-US" sz="2200" dirty="0">
                <a:solidFill>
                  <a:srgbClr val="FF0000"/>
                </a:solidFill>
                <a:latin typeface="Calibri" pitchFamily="34" charset="0"/>
              </a:rPr>
              <a:t> –</a:t>
            </a:r>
          </a:p>
          <a:p>
            <a:pPr>
              <a:lnSpc>
                <a:spcPct val="40000"/>
              </a:lnSpc>
            </a:pPr>
            <a:endParaRPr lang="en-US" sz="2200" dirty="0">
              <a:solidFill>
                <a:schemeClr val="bg1"/>
              </a:solidFill>
              <a:latin typeface="Calibri" pitchFamily="34" charset="0"/>
            </a:endParaRPr>
          </a:p>
          <a:p>
            <a:pPr marL="280988" lvl="1" indent="-166688"/>
            <a:r>
              <a:rPr lang="en-US" sz="2400" dirty="0">
                <a:latin typeface="Calibri" pitchFamily="34" charset="0"/>
              </a:rPr>
              <a:t>Fungus penetrates cells of root</a:t>
            </a:r>
          </a:p>
        </p:txBody>
      </p:sp>
      <p:sp>
        <p:nvSpPr>
          <p:cNvPr id="122883" name="Text Box 3"/>
          <p:cNvSpPr txBox="1">
            <a:spLocks noChangeArrowheads="1"/>
          </p:cNvSpPr>
          <p:nvPr/>
        </p:nvSpPr>
        <p:spPr bwMode="auto">
          <a:xfrm>
            <a:off x="76200" y="1431925"/>
            <a:ext cx="5562600" cy="1938992"/>
          </a:xfrm>
          <a:prstGeom prst="rect">
            <a:avLst/>
          </a:prstGeom>
          <a:noFill/>
          <a:ln w="9525">
            <a:noFill/>
            <a:miter lim="800000"/>
            <a:headEnd/>
            <a:tailEnd/>
          </a:ln>
        </p:spPr>
        <p:txBody>
          <a:bodyPr>
            <a:spAutoFit/>
          </a:bodyPr>
          <a:lstStyle/>
          <a:p>
            <a:pPr marL="177800" indent="-177800">
              <a:buFontTx/>
              <a:buChar char="•"/>
            </a:pPr>
            <a:r>
              <a:rPr lang="en-US" dirty="0">
                <a:solidFill>
                  <a:schemeClr val="bg1"/>
                </a:solidFill>
                <a:latin typeface="Calibri" pitchFamily="34" charset="0"/>
              </a:rPr>
              <a:t>Common </a:t>
            </a:r>
            <a:r>
              <a:rPr lang="en-US" sz="2400" dirty="0">
                <a:latin typeface="Calibri" pitchFamily="34" charset="0"/>
              </a:rPr>
              <a:t>example is </a:t>
            </a:r>
            <a:r>
              <a:rPr lang="en-US" sz="2400" dirty="0" err="1">
                <a:latin typeface="Calibri" pitchFamily="34" charset="0"/>
              </a:rPr>
              <a:t>arbuscular</a:t>
            </a:r>
            <a:r>
              <a:rPr lang="en-US" sz="2400" dirty="0">
                <a:latin typeface="Calibri" pitchFamily="34" charset="0"/>
              </a:rPr>
              <a:t> </a:t>
            </a:r>
            <a:r>
              <a:rPr lang="en-US" sz="2400" dirty="0" err="1">
                <a:latin typeface="Calibri" pitchFamily="34" charset="0"/>
              </a:rPr>
              <a:t>mycorrhizae</a:t>
            </a:r>
            <a:r>
              <a:rPr lang="en-US" sz="2400" dirty="0">
                <a:latin typeface="Calibri" pitchFamily="34" charset="0"/>
              </a:rPr>
              <a:t> (AM)</a:t>
            </a:r>
          </a:p>
          <a:p>
            <a:pPr lvl="1" indent="-165100"/>
            <a:r>
              <a:rPr lang="en-US" sz="2400" dirty="0">
                <a:latin typeface="Calibri" pitchFamily="34" charset="0"/>
              </a:rPr>
              <a:t>Found in both herbaceous &amp; woody plants</a:t>
            </a:r>
          </a:p>
          <a:p>
            <a:pPr lvl="1" indent="-165100">
              <a:buFontTx/>
              <a:buChar char="•"/>
            </a:pPr>
            <a:r>
              <a:rPr lang="en-US" sz="2400" dirty="0" err="1">
                <a:latin typeface="Calibri" pitchFamily="34" charset="0"/>
              </a:rPr>
              <a:t>Arbuscule</a:t>
            </a:r>
            <a:r>
              <a:rPr lang="en-US" sz="2400" dirty="0">
                <a:latin typeface="Calibri" pitchFamily="34" charset="0"/>
              </a:rPr>
              <a:t> = exchange site</a:t>
            </a:r>
          </a:p>
        </p:txBody>
      </p:sp>
      <p:grpSp>
        <p:nvGrpSpPr>
          <p:cNvPr id="2" name="Group 14"/>
          <p:cNvGrpSpPr>
            <a:grpSpLocks/>
          </p:cNvGrpSpPr>
          <p:nvPr/>
        </p:nvGrpSpPr>
        <p:grpSpPr bwMode="auto">
          <a:xfrm>
            <a:off x="228600" y="304800"/>
            <a:ext cx="8915400" cy="5583238"/>
            <a:chOff x="480" y="144"/>
            <a:chExt cx="5232" cy="3517"/>
          </a:xfrm>
        </p:grpSpPr>
        <p:pic>
          <p:nvPicPr>
            <p:cNvPr id="122885" name="Picture 8" descr="mycorrhizae_AM1"/>
            <p:cNvPicPr>
              <a:picLocks noChangeAspect="1" noChangeArrowheads="1"/>
            </p:cNvPicPr>
            <p:nvPr/>
          </p:nvPicPr>
          <p:blipFill>
            <a:blip r:embed="rId3"/>
            <a:srcRect/>
            <a:stretch>
              <a:fillRect/>
            </a:stretch>
          </p:blipFill>
          <p:spPr bwMode="auto">
            <a:xfrm>
              <a:off x="3700" y="144"/>
              <a:ext cx="2012" cy="2688"/>
            </a:xfrm>
            <a:prstGeom prst="rect">
              <a:avLst/>
            </a:prstGeom>
            <a:noFill/>
            <a:ln w="9525">
              <a:noFill/>
              <a:miter lim="800000"/>
              <a:headEnd/>
              <a:tailEnd/>
            </a:ln>
          </p:spPr>
        </p:pic>
        <p:grpSp>
          <p:nvGrpSpPr>
            <p:cNvPr id="3" name="Group 12"/>
            <p:cNvGrpSpPr>
              <a:grpSpLocks/>
            </p:cNvGrpSpPr>
            <p:nvPr/>
          </p:nvGrpSpPr>
          <p:grpSpPr bwMode="auto">
            <a:xfrm>
              <a:off x="480" y="1776"/>
              <a:ext cx="2208" cy="1885"/>
              <a:chOff x="3552" y="240"/>
              <a:chExt cx="2208" cy="1885"/>
            </a:xfrm>
          </p:grpSpPr>
          <p:pic>
            <p:nvPicPr>
              <p:cNvPr id="122888" name="Picture 10" descr="arbuscule1"/>
              <p:cNvPicPr>
                <a:picLocks noChangeAspect="1" noChangeArrowheads="1"/>
              </p:cNvPicPr>
              <p:nvPr/>
            </p:nvPicPr>
            <p:blipFill>
              <a:blip r:embed="rId4"/>
              <a:srcRect/>
              <a:stretch>
                <a:fillRect/>
              </a:stretch>
            </p:blipFill>
            <p:spPr bwMode="auto">
              <a:xfrm>
                <a:off x="3571" y="240"/>
                <a:ext cx="2189" cy="1885"/>
              </a:xfrm>
              <a:prstGeom prst="rect">
                <a:avLst/>
              </a:prstGeom>
              <a:solidFill>
                <a:schemeClr val="bg1"/>
              </a:solidFill>
              <a:ln w="9525">
                <a:noFill/>
                <a:miter lim="800000"/>
                <a:headEnd/>
                <a:tailEnd/>
              </a:ln>
            </p:spPr>
          </p:pic>
          <p:sp>
            <p:nvSpPr>
              <p:cNvPr id="122889" name="Text Box 11"/>
              <p:cNvSpPr txBox="1">
                <a:spLocks noChangeArrowheads="1"/>
              </p:cNvSpPr>
              <p:nvPr/>
            </p:nvSpPr>
            <p:spPr bwMode="auto">
              <a:xfrm>
                <a:off x="3552" y="242"/>
                <a:ext cx="1652" cy="231"/>
              </a:xfrm>
              <a:prstGeom prst="rect">
                <a:avLst/>
              </a:prstGeom>
              <a:solidFill>
                <a:schemeClr val="bg1"/>
              </a:solidFill>
              <a:ln w="9525">
                <a:noFill/>
                <a:miter lim="800000"/>
                <a:headEnd/>
                <a:tailEnd/>
              </a:ln>
            </p:spPr>
            <p:txBody>
              <a:bodyPr wrap="none">
                <a:spAutoFit/>
              </a:bodyPr>
              <a:lstStyle/>
              <a:p>
                <a:r>
                  <a:rPr lang="en-US">
                    <a:solidFill>
                      <a:schemeClr val="accent2"/>
                    </a:solidFill>
                    <a:latin typeface="AHD Symbol Sans"/>
                  </a:rPr>
                  <a:t>Arbuscule in plant cell</a:t>
                </a:r>
              </a:p>
            </p:txBody>
          </p:sp>
        </p:grpSp>
        <p:sp>
          <p:nvSpPr>
            <p:cNvPr id="122887" name="Line 13"/>
            <p:cNvSpPr>
              <a:spLocks noChangeShapeType="1"/>
            </p:cNvSpPr>
            <p:nvPr/>
          </p:nvSpPr>
          <p:spPr bwMode="auto">
            <a:xfrm flipV="1">
              <a:off x="2064" y="1200"/>
              <a:ext cx="3024" cy="1152"/>
            </a:xfrm>
            <a:prstGeom prst="line">
              <a:avLst/>
            </a:prstGeom>
            <a:noFill/>
            <a:ln w="28575">
              <a:solidFill>
                <a:srgbClr val="66FF33"/>
              </a:solidFill>
              <a:round/>
              <a:headEnd type="triangle" w="med" len="med"/>
              <a:tailEnd/>
            </a:ln>
          </p:spPr>
          <p:txBody>
            <a:bodyPr/>
            <a:lstStyle/>
            <a:p>
              <a:endParaRPr lang="en-US"/>
            </a:p>
          </p:txBody>
        </p:sp>
      </p:gr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ctrTitle"/>
          </p:nvPr>
        </p:nvSpPr>
        <p:spPr>
          <a:xfrm>
            <a:off x="685800" y="2209800"/>
            <a:ext cx="8458200" cy="1460500"/>
          </a:xfrm>
        </p:spPr>
        <p:txBody>
          <a:bodyPr/>
          <a:lstStyle/>
          <a:p>
            <a:r>
              <a:rPr lang="en-US" sz="3200" smtClean="0"/>
              <a:t>The potential of  Plant Growth Promoting Rhizobacteria for farming</a:t>
            </a:r>
            <a:endParaRPr lang="en-US" sz="2900" smtClean="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sz="quarter" idx="4294967295"/>
          </p:nvPr>
        </p:nvSpPr>
        <p:spPr bwMode="auto">
          <a:xfrm>
            <a:off x="696913" y="533400"/>
            <a:ext cx="8447087" cy="5403850"/>
          </a:xfrm>
          <a:noFill/>
          <a:ln>
            <a:miter lim="800000"/>
            <a:headEnd/>
            <a:tailEnd/>
          </a:ln>
        </p:spPr>
        <p:txBody>
          <a:bodyPr rtlCol="0">
            <a:normAutofit lnSpcReduction="10000"/>
          </a:bodyPr>
          <a:lstStyle/>
          <a:p>
            <a:pPr marL="274320" indent="-274320" algn="just">
              <a:lnSpc>
                <a:spcPct val="90000"/>
              </a:lnSpc>
              <a:spcBef>
                <a:spcPct val="20000"/>
              </a:spcBef>
              <a:buClr>
                <a:schemeClr val="accent1"/>
              </a:buClr>
              <a:buSzPct val="85000"/>
              <a:buFont typeface="Wingdings" pitchFamily="2" charset="2"/>
              <a:buNone/>
              <a:defRPr/>
            </a:pPr>
            <a:r>
              <a:rPr lang="en-US" sz="2800" dirty="0">
                <a:solidFill>
                  <a:schemeClr val="tx1"/>
                </a:solidFill>
                <a:cs typeface="Times New Roman" pitchFamily="18" charset="0"/>
              </a:rPr>
              <a:t>Plant Growth Promoting </a:t>
            </a:r>
            <a:r>
              <a:rPr lang="en-US" sz="2800" dirty="0" err="1">
                <a:solidFill>
                  <a:schemeClr val="tx1"/>
                </a:solidFill>
                <a:cs typeface="Times New Roman" pitchFamily="18" charset="0"/>
              </a:rPr>
              <a:t>Rhizobacteria</a:t>
            </a:r>
            <a:r>
              <a:rPr lang="en-US" sz="2800" dirty="0">
                <a:solidFill>
                  <a:schemeClr val="tx1"/>
                </a:solidFill>
                <a:cs typeface="Times New Roman" pitchFamily="18" charset="0"/>
              </a:rPr>
              <a:t>:</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dirty="0">
                <a:solidFill>
                  <a:schemeClr val="tx2"/>
                </a:solidFill>
                <a:latin typeface="+mn-lt"/>
                <a:cs typeface="Times New Roman" pitchFamily="18" charset="0"/>
              </a:rPr>
              <a:t>(free living) soil bacteria colonizing plant roots</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dirty="0">
                <a:solidFill>
                  <a:schemeClr val="tx2"/>
                </a:solidFill>
                <a:latin typeface="+mn-lt"/>
                <a:cs typeface="Times New Roman" pitchFamily="18" charset="0"/>
              </a:rPr>
              <a:t>stimulate plant growth</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dirty="0">
                <a:solidFill>
                  <a:schemeClr val="tx2"/>
                </a:solidFill>
                <a:latin typeface="+mn-lt"/>
                <a:cs typeface="Times New Roman" pitchFamily="18" charset="0"/>
              </a:rPr>
              <a:t>control pathogens </a:t>
            </a:r>
          </a:p>
          <a:p>
            <a:pPr marL="274320" indent="-274320" algn="just">
              <a:lnSpc>
                <a:spcPct val="90000"/>
              </a:lnSpc>
              <a:spcBef>
                <a:spcPct val="20000"/>
              </a:spcBef>
              <a:buClr>
                <a:schemeClr val="accent1"/>
              </a:buClr>
              <a:buSzPct val="85000"/>
              <a:buFont typeface="Wingdings" pitchFamily="2" charset="2"/>
              <a:buNone/>
              <a:defRPr/>
            </a:pPr>
            <a:endParaRPr lang="en-US" sz="1800" dirty="0">
              <a:solidFill>
                <a:schemeClr val="tx1"/>
              </a:solidFill>
              <a:cs typeface="Times New Roman" pitchFamily="18" charset="0"/>
            </a:endParaRP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i="1" dirty="0">
                <a:solidFill>
                  <a:schemeClr val="tx2"/>
                </a:solidFill>
                <a:latin typeface="+mn-lt"/>
                <a:cs typeface="Times New Roman" pitchFamily="18" charset="0"/>
              </a:rPr>
              <a:t>Bacillus</a:t>
            </a:r>
            <a:r>
              <a:rPr lang="en-US" sz="2400" dirty="0">
                <a:solidFill>
                  <a:schemeClr val="tx2"/>
                </a:solidFill>
                <a:latin typeface="+mn-lt"/>
                <a:cs typeface="Times New Roman" pitchFamily="18" charset="0"/>
              </a:rPr>
              <a:t>  - producing spores</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i="1" dirty="0" err="1">
                <a:solidFill>
                  <a:schemeClr val="tx2"/>
                </a:solidFill>
                <a:latin typeface="+mn-lt"/>
                <a:cs typeface="Times New Roman" pitchFamily="18" charset="0"/>
              </a:rPr>
              <a:t>Actinomycetes</a:t>
            </a:r>
            <a:r>
              <a:rPr lang="en-US" sz="2400" i="1" dirty="0">
                <a:solidFill>
                  <a:schemeClr val="tx2"/>
                </a:solidFill>
                <a:latin typeface="+mn-lt"/>
                <a:cs typeface="Times New Roman" pitchFamily="18" charset="0"/>
              </a:rPr>
              <a:t> - </a:t>
            </a:r>
            <a:r>
              <a:rPr lang="en-US" sz="2400" dirty="0">
                <a:solidFill>
                  <a:schemeClr val="tx2"/>
                </a:solidFill>
                <a:latin typeface="+mn-lt"/>
                <a:cs typeface="Times New Roman" pitchFamily="18" charset="0"/>
              </a:rPr>
              <a:t>producing spores</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i="1" dirty="0" err="1">
                <a:solidFill>
                  <a:schemeClr val="tx2"/>
                </a:solidFill>
                <a:latin typeface="+mn-lt"/>
                <a:cs typeface="Times New Roman" pitchFamily="18" charset="0"/>
              </a:rPr>
              <a:t>Azotobacter</a:t>
            </a:r>
            <a:r>
              <a:rPr lang="en-US" sz="2400" dirty="0">
                <a:solidFill>
                  <a:schemeClr val="tx2"/>
                </a:solidFill>
                <a:latin typeface="+mn-lt"/>
                <a:cs typeface="Times New Roman" pitchFamily="18" charset="0"/>
              </a:rPr>
              <a:t> – fix nitrogen</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i="1" dirty="0" err="1">
                <a:solidFill>
                  <a:schemeClr val="tx2"/>
                </a:solidFill>
                <a:latin typeface="+mn-lt"/>
                <a:cs typeface="Times New Roman" pitchFamily="18" charset="0"/>
              </a:rPr>
              <a:t>Azospirillum</a:t>
            </a:r>
            <a:r>
              <a:rPr lang="en-US" sz="2400" dirty="0">
                <a:solidFill>
                  <a:schemeClr val="tx2"/>
                </a:solidFill>
                <a:latin typeface="+mn-lt"/>
                <a:cs typeface="Times New Roman" pitchFamily="18" charset="0"/>
              </a:rPr>
              <a:t> – </a:t>
            </a:r>
            <a:r>
              <a:rPr lang="en-US" sz="2400" dirty="0" err="1">
                <a:solidFill>
                  <a:schemeClr val="tx2"/>
                </a:solidFill>
                <a:latin typeface="+mn-lt"/>
                <a:cs typeface="Times New Roman" pitchFamily="18" charset="0"/>
              </a:rPr>
              <a:t>endophytic</a:t>
            </a:r>
            <a:r>
              <a:rPr lang="en-US" sz="2400" dirty="0">
                <a:solidFill>
                  <a:schemeClr val="tx2"/>
                </a:solidFill>
                <a:latin typeface="+mn-lt"/>
                <a:cs typeface="Times New Roman" pitchFamily="18" charset="0"/>
              </a:rPr>
              <a:t> bacteria / fix nitrogen</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r>
              <a:rPr lang="en-US" sz="2400" i="1" dirty="0">
                <a:solidFill>
                  <a:schemeClr val="tx2"/>
                </a:solidFill>
                <a:latin typeface="+mn-lt"/>
                <a:cs typeface="Times New Roman" pitchFamily="18" charset="0"/>
              </a:rPr>
              <a:t>Pseudomonas</a:t>
            </a:r>
            <a:r>
              <a:rPr lang="en-US" sz="2400" dirty="0">
                <a:solidFill>
                  <a:schemeClr val="tx2"/>
                </a:solidFill>
                <a:latin typeface="+mn-lt"/>
                <a:cs typeface="Times New Roman" pitchFamily="18" charset="0"/>
              </a:rPr>
              <a:t> – root </a:t>
            </a:r>
            <a:r>
              <a:rPr lang="en-US" sz="2400" dirty="0" err="1">
                <a:solidFill>
                  <a:schemeClr val="tx2"/>
                </a:solidFill>
                <a:latin typeface="+mn-lt"/>
                <a:cs typeface="Times New Roman" pitchFamily="18" charset="0"/>
              </a:rPr>
              <a:t>biofilm</a:t>
            </a:r>
            <a:r>
              <a:rPr lang="en-US" sz="2400" dirty="0">
                <a:solidFill>
                  <a:schemeClr val="tx2"/>
                </a:solidFill>
                <a:latin typeface="+mn-lt"/>
                <a:cs typeface="Times New Roman" pitchFamily="18" charset="0"/>
              </a:rPr>
              <a:t> </a:t>
            </a:r>
          </a:p>
          <a:p>
            <a:pPr marL="548640" lvl="1" indent="-274320" algn="just" fontAlgn="auto">
              <a:lnSpc>
                <a:spcPct val="90000"/>
              </a:lnSpc>
              <a:spcBef>
                <a:spcPct val="20000"/>
              </a:spcBef>
              <a:spcAft>
                <a:spcPts val="0"/>
              </a:spcAft>
              <a:buClr>
                <a:schemeClr val="accent2"/>
              </a:buClr>
              <a:buSzPct val="70000"/>
              <a:buFont typeface="Wingdings" pitchFamily="2" charset="2"/>
              <a:buChar char="Ø"/>
              <a:defRPr/>
            </a:pPr>
            <a:endParaRPr lang="en-US" sz="2400" dirty="0">
              <a:solidFill>
                <a:schemeClr val="tx2"/>
              </a:solidFill>
              <a:latin typeface="+mn-lt"/>
              <a:cs typeface="Times New Roman" pitchFamily="18" charset="0"/>
            </a:endParaRPr>
          </a:p>
          <a:p>
            <a:pPr marL="548640" lvl="1" indent="-274320" fontAlgn="auto">
              <a:lnSpc>
                <a:spcPct val="90000"/>
              </a:lnSpc>
              <a:spcBef>
                <a:spcPct val="20000"/>
              </a:spcBef>
              <a:spcAft>
                <a:spcPts val="0"/>
              </a:spcAft>
              <a:buClr>
                <a:schemeClr val="accent2"/>
              </a:buClr>
              <a:buSzPct val="70000"/>
              <a:buFont typeface="Wingdings" pitchFamily="2" charset="2"/>
              <a:buChar char="Ø"/>
              <a:defRPr/>
            </a:pPr>
            <a:r>
              <a:rPr lang="en-US" sz="2400" i="1" dirty="0" err="1">
                <a:solidFill>
                  <a:schemeClr val="tx2"/>
                </a:solidFill>
                <a:latin typeface="+mn-lt"/>
                <a:cs typeface="Arial" charset="0"/>
              </a:rPr>
              <a:t>Acetobacter</a:t>
            </a:r>
            <a:r>
              <a:rPr lang="en-US" sz="2400" i="1" dirty="0">
                <a:solidFill>
                  <a:schemeClr val="tx2"/>
                </a:solidFill>
                <a:latin typeface="+mn-lt"/>
                <a:cs typeface="Arial" charset="0"/>
              </a:rPr>
              <a:t>, </a:t>
            </a:r>
            <a:r>
              <a:rPr lang="en-US" sz="2400" i="1" dirty="0" err="1">
                <a:solidFill>
                  <a:schemeClr val="tx2"/>
                </a:solidFill>
                <a:latin typeface="+mn-lt"/>
                <a:cs typeface="Arial" charset="0"/>
              </a:rPr>
              <a:t>Burkholderia</a:t>
            </a:r>
            <a:r>
              <a:rPr lang="en-US" sz="2400" i="1" dirty="0">
                <a:solidFill>
                  <a:schemeClr val="tx2"/>
                </a:solidFill>
                <a:latin typeface="+mn-lt"/>
                <a:cs typeface="Arial" charset="0"/>
              </a:rPr>
              <a:t>, </a:t>
            </a:r>
            <a:r>
              <a:rPr lang="en-US" sz="2400" i="1" dirty="0" err="1">
                <a:solidFill>
                  <a:schemeClr val="tx2"/>
                </a:solidFill>
                <a:latin typeface="+mn-lt"/>
                <a:cs typeface="Arial" charset="0"/>
              </a:rPr>
              <a:t>Enterobacter</a:t>
            </a:r>
            <a:r>
              <a:rPr lang="en-US" sz="2400" i="1" dirty="0">
                <a:solidFill>
                  <a:schemeClr val="tx2"/>
                </a:solidFill>
                <a:latin typeface="+mn-lt"/>
                <a:cs typeface="Arial" charset="0"/>
              </a:rPr>
              <a:t>, </a:t>
            </a:r>
            <a:r>
              <a:rPr lang="en-US" sz="2400" i="1" dirty="0" err="1">
                <a:solidFill>
                  <a:schemeClr val="tx2"/>
                </a:solidFill>
                <a:latin typeface="+mn-lt"/>
                <a:cs typeface="Arial" charset="0"/>
              </a:rPr>
              <a:t>Serratia</a:t>
            </a:r>
            <a:r>
              <a:rPr lang="en-US" sz="2400" i="1" dirty="0">
                <a:solidFill>
                  <a:schemeClr val="tx2"/>
                </a:solidFill>
                <a:latin typeface="+mn-lt"/>
                <a:cs typeface="Arial" charset="0"/>
              </a:rPr>
              <a:t>, </a:t>
            </a:r>
            <a:r>
              <a:rPr lang="en-US" sz="2400" i="1" dirty="0" err="1">
                <a:solidFill>
                  <a:schemeClr val="tx2"/>
                </a:solidFill>
                <a:latin typeface="+mn-lt"/>
                <a:cs typeface="Arial" charset="0"/>
              </a:rPr>
              <a:t>Paenibacillus</a:t>
            </a:r>
            <a:r>
              <a:rPr lang="en-US" sz="2400" i="1" dirty="0">
                <a:solidFill>
                  <a:schemeClr val="tx2"/>
                </a:solidFill>
                <a:latin typeface="+mn-lt"/>
                <a:cs typeface="Arial" charset="0"/>
              </a:rPr>
              <a:t> spp.</a:t>
            </a:r>
          </a:p>
          <a:p>
            <a:pPr marL="274320" indent="-274320" algn="l">
              <a:lnSpc>
                <a:spcPct val="90000"/>
              </a:lnSpc>
              <a:spcBef>
                <a:spcPct val="20000"/>
              </a:spcBef>
              <a:buClr>
                <a:schemeClr val="accent1"/>
              </a:buClr>
              <a:buSzPct val="85000"/>
              <a:buFont typeface="Wingdings" pitchFamily="2" charset="2"/>
              <a:buNone/>
              <a:defRPr/>
            </a:pPr>
            <a:r>
              <a:rPr lang="en-US" sz="2800" dirty="0">
                <a:solidFill>
                  <a:schemeClr val="folHlink"/>
                </a:solidFill>
                <a:cs typeface="Arial" charset="0"/>
              </a:rPr>
              <a:t> </a:t>
            </a:r>
          </a:p>
          <a:p>
            <a:pPr marL="274320" indent="-274320" algn="just">
              <a:lnSpc>
                <a:spcPct val="90000"/>
              </a:lnSpc>
              <a:spcBef>
                <a:spcPct val="20000"/>
              </a:spcBef>
              <a:buClr>
                <a:schemeClr val="accent1"/>
              </a:buClr>
              <a:buSzPct val="85000"/>
              <a:buFont typeface="Wingdings 2"/>
              <a:buChar char=""/>
              <a:defRPr/>
            </a:pPr>
            <a:endParaRPr lang="en-US" sz="2800" dirty="0">
              <a:solidFill>
                <a:schemeClr val="folHlink"/>
              </a:solidFill>
            </a:endParaRPr>
          </a:p>
          <a:p>
            <a:pPr marL="274320" indent="-274320" algn="l">
              <a:lnSpc>
                <a:spcPct val="90000"/>
              </a:lnSpc>
              <a:spcBef>
                <a:spcPct val="20000"/>
              </a:spcBef>
              <a:buClr>
                <a:schemeClr val="accent1"/>
              </a:buClr>
              <a:buSzPct val="85000"/>
              <a:buFont typeface="Wingdings" pitchFamily="2" charset="2"/>
              <a:buNone/>
              <a:defRPr/>
            </a:pPr>
            <a:endParaRPr lang="en-US" sz="2800" dirty="0">
              <a:solidFill>
                <a:schemeClr val="folHlink"/>
              </a:solidFill>
              <a:cs typeface="Times New Roman" pitchFamily="18" charset="0"/>
            </a:endParaRPr>
          </a:p>
        </p:txBody>
      </p:sp>
      <p:sp>
        <p:nvSpPr>
          <p:cNvPr id="45059" name="Rectangle 3"/>
          <p:cNvSpPr>
            <a:spLocks noChangeArrowheads="1"/>
          </p:cNvSpPr>
          <p:nvPr/>
        </p:nvSpPr>
        <p:spPr bwMode="auto">
          <a:xfrm>
            <a:off x="3276600" y="1700213"/>
            <a:ext cx="9144000" cy="0"/>
          </a:xfrm>
          <a:prstGeom prst="rect">
            <a:avLst/>
          </a:prstGeom>
          <a:noFill/>
          <a:ln w="9525">
            <a:noFill/>
            <a:miter lim="800000"/>
            <a:headEnd/>
            <a:tailEnd/>
          </a:ln>
        </p:spPr>
        <p:txBody>
          <a:bodyPr>
            <a:spAutoFit/>
          </a:bodyPr>
          <a:lstStyle/>
          <a:p>
            <a:endParaRPr lang="en-US">
              <a:latin typeface="Calibri" pitchFamily="34" charset="0"/>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sz="quarter" idx="4294967295"/>
          </p:nvPr>
        </p:nvSpPr>
        <p:spPr bwMode="auto">
          <a:xfrm>
            <a:off x="0" y="0"/>
            <a:ext cx="9144000" cy="5861050"/>
          </a:xfrm>
          <a:noFill/>
          <a:ln>
            <a:miter lim="800000"/>
            <a:headEnd/>
            <a:tailEnd/>
          </a:ln>
        </p:spPr>
        <p:txBody>
          <a:bodyPr wrap="square" lIns="91440" tIns="45720" rIns="91440" bIns="45720" numCol="1" anchor="t" anchorCtr="0" compatLnSpc="1">
            <a:prstTxWarp prst="textNoShape">
              <a:avLst/>
            </a:prstTxWarp>
          </a:bodyPr>
          <a:lstStyle/>
          <a:p>
            <a:pPr marL="273050" indent="-273050" algn="just" fontAlgn="base">
              <a:spcBef>
                <a:spcPct val="20000"/>
              </a:spcBef>
              <a:spcAft>
                <a:spcPct val="0"/>
              </a:spcAft>
              <a:buClr>
                <a:schemeClr val="accent1"/>
              </a:buClr>
              <a:buSzPct val="85000"/>
              <a:buFont typeface="Wingdings" pitchFamily="2" charset="2"/>
              <a:buNone/>
            </a:pPr>
            <a:r>
              <a:rPr lang="en-US" sz="2700">
                <a:solidFill>
                  <a:schemeClr val="tx1"/>
                </a:solidFill>
                <a:cs typeface="Times New Roman" pitchFamily="18" charset="0"/>
              </a:rPr>
              <a:t>Mechanisms:</a:t>
            </a:r>
          </a:p>
          <a:p>
            <a:pPr marL="547688" lvl="1" indent="-273050">
              <a:spcBef>
                <a:spcPct val="20000"/>
              </a:spcBef>
              <a:buClr>
                <a:schemeClr val="accent2"/>
              </a:buClr>
              <a:buSzPct val="70000"/>
              <a:buFont typeface="Wingdings" pitchFamily="2" charset="2"/>
              <a:buChar char="Ø"/>
            </a:pPr>
            <a:r>
              <a:rPr lang="es-PE" sz="2200">
                <a:solidFill>
                  <a:schemeClr val="tx2"/>
                </a:solidFill>
                <a:latin typeface="Georgia" pitchFamily="18" charset="0"/>
              </a:rPr>
              <a:t> </a:t>
            </a:r>
            <a:r>
              <a:rPr lang="en-US" sz="2200">
                <a:solidFill>
                  <a:schemeClr val="tx2"/>
                </a:solidFill>
                <a:latin typeface="Georgia" pitchFamily="18" charset="0"/>
              </a:rPr>
              <a:t>phytohormons	</a:t>
            </a:r>
          </a:p>
          <a:p>
            <a:pPr marL="547688" lvl="1" indent="-273050">
              <a:spcBef>
                <a:spcPct val="20000"/>
              </a:spcBef>
              <a:buClr>
                <a:schemeClr val="accent2"/>
              </a:buClr>
              <a:buSzPct val="70000"/>
              <a:buFont typeface="Wingdings" pitchFamily="2" charset="2"/>
              <a:buChar char="Ø"/>
            </a:pPr>
            <a:r>
              <a:rPr lang="en-US" sz="2200">
                <a:solidFill>
                  <a:schemeClr val="tx2"/>
                </a:solidFill>
                <a:latin typeface="Georgia" pitchFamily="18" charset="0"/>
              </a:rPr>
              <a:t> solubilizing of P</a:t>
            </a:r>
          </a:p>
          <a:p>
            <a:pPr marL="547688" lvl="1" indent="-273050">
              <a:spcBef>
                <a:spcPct val="20000"/>
              </a:spcBef>
              <a:buClr>
                <a:schemeClr val="accent2"/>
              </a:buClr>
              <a:buSzPct val="70000"/>
              <a:buFont typeface="Wingdings" pitchFamily="2" charset="2"/>
              <a:buChar char="Ø"/>
            </a:pPr>
            <a:r>
              <a:rPr lang="en-US" sz="2200">
                <a:solidFill>
                  <a:schemeClr val="tx2"/>
                </a:solidFill>
                <a:latin typeface="Georgia" pitchFamily="18" charset="0"/>
              </a:rPr>
              <a:t> nitrogen fixation</a:t>
            </a:r>
          </a:p>
          <a:p>
            <a:pPr marL="547688" lvl="1" indent="-273050">
              <a:spcBef>
                <a:spcPct val="20000"/>
              </a:spcBef>
              <a:buClr>
                <a:schemeClr val="accent2"/>
              </a:buClr>
              <a:buSzPct val="70000"/>
              <a:buFont typeface="Wingdings" pitchFamily="2" charset="2"/>
              <a:buChar char="Ø"/>
            </a:pPr>
            <a:r>
              <a:rPr lang="en-US" sz="2200">
                <a:solidFill>
                  <a:schemeClr val="tx2"/>
                </a:solidFill>
                <a:latin typeface="Georgia" pitchFamily="18" charset="0"/>
              </a:rPr>
              <a:t> antagonistic effects</a:t>
            </a:r>
          </a:p>
          <a:p>
            <a:pPr marL="822325" lvl="2" indent="-228600">
              <a:spcBef>
                <a:spcPct val="20000"/>
              </a:spcBef>
              <a:buClr>
                <a:srgbClr val="8CADAE"/>
              </a:buClr>
              <a:buSzPct val="75000"/>
              <a:buFont typeface="Wingdings" pitchFamily="2" charset="2"/>
              <a:buChar char="Ø"/>
            </a:pPr>
            <a:r>
              <a:rPr lang="en-US" sz="2000">
                <a:latin typeface="Georgia" pitchFamily="18" charset="0"/>
              </a:rPr>
              <a:t> direct competition for ‘rhizosphere space’</a:t>
            </a:r>
          </a:p>
          <a:p>
            <a:pPr marL="822325" lvl="2" indent="-228600">
              <a:spcBef>
                <a:spcPct val="20000"/>
              </a:spcBef>
              <a:buClr>
                <a:srgbClr val="8CADAE"/>
              </a:buClr>
              <a:buSzPct val="75000"/>
              <a:buFont typeface="Wingdings" pitchFamily="2" charset="2"/>
              <a:buChar char="Ø"/>
            </a:pPr>
            <a:r>
              <a:rPr lang="en-US" sz="2000">
                <a:latin typeface="Georgia" pitchFamily="18" charset="0"/>
              </a:rPr>
              <a:t> production of antibiotics</a:t>
            </a:r>
          </a:p>
          <a:p>
            <a:pPr marL="822325" lvl="2" indent="-228600">
              <a:spcBef>
                <a:spcPct val="20000"/>
              </a:spcBef>
              <a:buClr>
                <a:srgbClr val="8CADAE"/>
              </a:buClr>
              <a:buSzPct val="75000"/>
              <a:buFont typeface="Wingdings" pitchFamily="2" charset="2"/>
              <a:buChar char="Ø"/>
            </a:pPr>
            <a:r>
              <a:rPr lang="en-US" sz="2000">
                <a:latin typeface="Georgia" pitchFamily="18" charset="0"/>
              </a:rPr>
              <a:t> siderophores</a:t>
            </a:r>
          </a:p>
          <a:p>
            <a:pPr marL="822325" lvl="2" indent="-228600">
              <a:spcBef>
                <a:spcPct val="20000"/>
              </a:spcBef>
              <a:buClr>
                <a:srgbClr val="8CADAE"/>
              </a:buClr>
              <a:buSzPct val="75000"/>
              <a:buFont typeface="Wingdings" pitchFamily="2" charset="2"/>
              <a:buChar char="Ø"/>
            </a:pPr>
            <a:r>
              <a:rPr lang="en-US" sz="2000">
                <a:latin typeface="Georgia" pitchFamily="18" charset="0"/>
              </a:rPr>
              <a:t> lytic enzymes</a:t>
            </a:r>
          </a:p>
          <a:p>
            <a:pPr marL="547688" lvl="1" indent="-273050">
              <a:spcBef>
                <a:spcPct val="20000"/>
              </a:spcBef>
              <a:buClr>
                <a:schemeClr val="accent2"/>
              </a:buClr>
              <a:buSzPct val="70000"/>
              <a:buFont typeface="Wingdings" pitchFamily="2" charset="2"/>
              <a:buChar char="Ø"/>
            </a:pPr>
            <a:r>
              <a:rPr lang="en-US" sz="2200">
                <a:solidFill>
                  <a:schemeClr val="tx2"/>
                </a:solidFill>
                <a:latin typeface="Georgia" pitchFamily="18" charset="0"/>
              </a:rPr>
              <a:t> induction of systematic resistance</a:t>
            </a:r>
          </a:p>
          <a:p>
            <a:pPr marL="273050" indent="-273050" algn="l" fontAlgn="base">
              <a:spcBef>
                <a:spcPct val="20000"/>
              </a:spcBef>
              <a:spcAft>
                <a:spcPct val="0"/>
              </a:spcAft>
              <a:buClr>
                <a:schemeClr val="accent1"/>
              </a:buClr>
              <a:buSzPct val="85000"/>
              <a:buFont typeface="Wingdings" pitchFamily="2" charset="2"/>
              <a:buNone/>
            </a:pPr>
            <a:r>
              <a:rPr lang="es-PE" sz="2700">
                <a:solidFill>
                  <a:schemeClr val="folHlink"/>
                </a:solidFill>
              </a:rPr>
              <a:t> </a:t>
            </a:r>
            <a:r>
              <a:rPr lang="en-US" sz="2700">
                <a:solidFill>
                  <a:schemeClr val="folHlink"/>
                </a:solidFill>
                <a:cs typeface="Arial" pitchFamily="34" charset="0"/>
              </a:rPr>
              <a:t> </a:t>
            </a:r>
          </a:p>
          <a:p>
            <a:pPr marL="273050" indent="-273050" algn="just" fontAlgn="base">
              <a:spcBef>
                <a:spcPct val="20000"/>
              </a:spcBef>
              <a:spcAft>
                <a:spcPct val="0"/>
              </a:spcAft>
              <a:buClr>
                <a:schemeClr val="accent1"/>
              </a:buClr>
              <a:buSzPct val="85000"/>
              <a:buFont typeface="Wingdings" pitchFamily="2" charset="2"/>
              <a:buChar char="Ø"/>
            </a:pPr>
            <a:endParaRPr lang="en-US" sz="2700">
              <a:solidFill>
                <a:schemeClr val="folHlink"/>
              </a:solidFill>
            </a:endParaRPr>
          </a:p>
          <a:p>
            <a:pPr marL="273050" indent="-273050" algn="l" fontAlgn="base">
              <a:spcBef>
                <a:spcPct val="20000"/>
              </a:spcBef>
              <a:spcAft>
                <a:spcPct val="0"/>
              </a:spcAft>
              <a:buClr>
                <a:schemeClr val="accent1"/>
              </a:buClr>
              <a:buSzPct val="85000"/>
              <a:buFont typeface="Wingdings" pitchFamily="2" charset="2"/>
              <a:buNone/>
            </a:pPr>
            <a:endParaRPr lang="en-US" sz="2700">
              <a:solidFill>
                <a:schemeClr val="folHlink"/>
              </a:solidFill>
              <a:cs typeface="Times New Roman" pitchFamily="18" charset="0"/>
            </a:endParaRPr>
          </a:p>
        </p:txBody>
      </p:sp>
      <p:sp>
        <p:nvSpPr>
          <p:cNvPr id="46083" name="Rectangle 3"/>
          <p:cNvSpPr>
            <a:spLocks noChangeArrowheads="1"/>
          </p:cNvSpPr>
          <p:nvPr/>
        </p:nvSpPr>
        <p:spPr bwMode="auto">
          <a:xfrm>
            <a:off x="3276600" y="1700213"/>
            <a:ext cx="9144000" cy="0"/>
          </a:xfrm>
          <a:prstGeom prst="rect">
            <a:avLst/>
          </a:prstGeom>
          <a:noFill/>
          <a:ln w="9525">
            <a:noFill/>
            <a:miter lim="800000"/>
            <a:headEnd/>
            <a:tailEnd/>
          </a:ln>
        </p:spPr>
        <p:txBody>
          <a:bodyPr>
            <a:spAutoFit/>
          </a:bodyPr>
          <a:lstStyle/>
          <a:p>
            <a:endParaRPr lang="en-US">
              <a:latin typeface="Calibri" pitchFamily="34" charset="0"/>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766888" y="1857375"/>
            <a:ext cx="9144000" cy="0"/>
          </a:xfrm>
          <a:prstGeom prst="rect">
            <a:avLst/>
          </a:prstGeom>
          <a:noFill/>
          <a:ln w="9525">
            <a:noFill/>
            <a:miter lim="800000"/>
            <a:headEnd/>
            <a:tailEnd/>
          </a:ln>
        </p:spPr>
        <p:txBody>
          <a:bodyPr>
            <a:spAutoFit/>
          </a:bodyPr>
          <a:lstStyle/>
          <a:p>
            <a:endParaRPr lang="en-US">
              <a:latin typeface="Calibri" pitchFamily="34" charset="0"/>
            </a:endParaRPr>
          </a:p>
        </p:txBody>
      </p:sp>
      <p:pic>
        <p:nvPicPr>
          <p:cNvPr id="47107" name="Picture 3"/>
          <p:cNvPicPr>
            <a:picLocks noChangeAspect="1" noChangeArrowheads="1"/>
          </p:cNvPicPr>
          <p:nvPr/>
        </p:nvPicPr>
        <p:blipFill>
          <a:blip r:embed="rId3"/>
          <a:srcRect/>
          <a:stretch>
            <a:fillRect/>
          </a:stretch>
        </p:blipFill>
        <p:spPr bwMode="auto">
          <a:xfrm>
            <a:off x="323850" y="836613"/>
            <a:ext cx="8521700" cy="5516562"/>
          </a:xfrm>
          <a:prstGeom prst="rect">
            <a:avLst/>
          </a:prstGeom>
          <a:noFill/>
          <a:ln w="9525">
            <a:noFill/>
            <a:miter lim="800000"/>
            <a:headEnd/>
            <a:tailEnd/>
          </a:ln>
        </p:spPr>
      </p:pic>
      <p:sp>
        <p:nvSpPr>
          <p:cNvPr id="47108" name="Text Box 4"/>
          <p:cNvSpPr txBox="1">
            <a:spLocks noChangeArrowheads="1"/>
          </p:cNvSpPr>
          <p:nvPr/>
        </p:nvSpPr>
        <p:spPr bwMode="auto">
          <a:xfrm>
            <a:off x="533400" y="441325"/>
            <a:ext cx="7391400" cy="396875"/>
          </a:xfrm>
          <a:prstGeom prst="rect">
            <a:avLst/>
          </a:prstGeom>
          <a:noFill/>
          <a:ln w="9525">
            <a:noFill/>
            <a:miter lim="800000"/>
            <a:headEnd/>
            <a:tailEnd/>
          </a:ln>
        </p:spPr>
        <p:txBody>
          <a:bodyPr>
            <a:spAutoFit/>
          </a:bodyPr>
          <a:lstStyle/>
          <a:p>
            <a:pPr>
              <a:spcBef>
                <a:spcPct val="50000"/>
              </a:spcBef>
            </a:pPr>
            <a:r>
              <a:rPr lang="en-US" sz="2000" b="1">
                <a:solidFill>
                  <a:schemeClr val="bg2"/>
                </a:solidFill>
                <a:latin typeface="Calibri" pitchFamily="34" charset="0"/>
              </a:rPr>
              <a:t>INTERACTION PGPR - PLANT</a:t>
            </a:r>
          </a:p>
        </p:txBody>
      </p:sp>
      <p:sp>
        <p:nvSpPr>
          <p:cNvPr id="47109" name="Text Box 5"/>
          <p:cNvSpPr txBox="1">
            <a:spLocks noChangeArrowheads="1"/>
          </p:cNvSpPr>
          <p:nvPr/>
        </p:nvSpPr>
        <p:spPr bwMode="auto">
          <a:xfrm>
            <a:off x="457200" y="6324600"/>
            <a:ext cx="4267200" cy="304800"/>
          </a:xfrm>
          <a:prstGeom prst="rect">
            <a:avLst/>
          </a:prstGeom>
          <a:noFill/>
          <a:ln w="9525">
            <a:noFill/>
            <a:miter lim="800000"/>
            <a:headEnd/>
            <a:tailEnd/>
          </a:ln>
        </p:spPr>
        <p:txBody>
          <a:bodyPr>
            <a:spAutoFit/>
          </a:bodyPr>
          <a:lstStyle/>
          <a:p>
            <a:pPr>
              <a:spcBef>
                <a:spcPct val="50000"/>
              </a:spcBef>
            </a:pPr>
            <a:r>
              <a:rPr lang="en-US" sz="1400">
                <a:solidFill>
                  <a:schemeClr val="folHlink"/>
                </a:solidFill>
                <a:latin typeface="Calibri" pitchFamily="34" charset="0"/>
              </a:rPr>
              <a:t>KILLIAN, 2000</a:t>
            </a: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6"/>
          <p:cNvSpPr>
            <a:spLocks noGrp="1" noChangeArrowheads="1"/>
          </p:cNvSpPr>
          <p:nvPr>
            <p:ph type="title" idx="4294967295"/>
          </p:nvPr>
        </p:nvSpPr>
        <p:spPr>
          <a:xfrm>
            <a:off x="0" y="-228600"/>
            <a:ext cx="8229600" cy="1371600"/>
          </a:xfrm>
        </p:spPr>
        <p:txBody>
          <a:bodyPr/>
          <a:lstStyle/>
          <a:p>
            <a:r>
              <a:rPr lang="es-PE" sz="2400" smtClean="0">
                <a:solidFill>
                  <a:srgbClr val="000099"/>
                </a:solidFill>
              </a:rPr>
              <a:t>Phosphate Solubilization</a:t>
            </a:r>
          </a:p>
        </p:txBody>
      </p:sp>
      <p:sp>
        <p:nvSpPr>
          <p:cNvPr id="49155" name="Rectangle 3"/>
          <p:cNvSpPr>
            <a:spLocks noGrp="1" noChangeArrowheads="1"/>
          </p:cNvSpPr>
          <p:nvPr>
            <p:ph sz="quarter" idx="4294967295"/>
          </p:nvPr>
        </p:nvSpPr>
        <p:spPr bwMode="auto">
          <a:xfrm>
            <a:off x="0" y="1371600"/>
            <a:ext cx="8763000" cy="54864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Wingdings" pitchFamily="2" charset="2"/>
              <a:buNone/>
            </a:pPr>
            <a:r>
              <a:rPr lang="es-PE" sz="1600">
                <a:solidFill>
                  <a:schemeClr val="tx1"/>
                </a:solidFill>
              </a:rPr>
              <a:t>     </a:t>
            </a:r>
            <a:r>
              <a:rPr lang="es-PE" sz="2000">
                <a:solidFill>
                  <a:schemeClr val="tx1"/>
                </a:solidFill>
              </a:rPr>
              <a:t>Using growth medium </a:t>
            </a:r>
            <a:r>
              <a:rPr lang="en-US" sz="2000">
                <a:solidFill>
                  <a:schemeClr val="tx1"/>
                </a:solidFill>
              </a:rPr>
              <a:t>with Tricalcium phosphate (NBRIP).</a:t>
            </a:r>
          </a:p>
          <a:p>
            <a:pPr marL="273050" indent="-273050" algn="l" fontAlgn="base">
              <a:spcBef>
                <a:spcPct val="20000"/>
              </a:spcBef>
              <a:spcAft>
                <a:spcPct val="0"/>
              </a:spcAft>
              <a:buClr>
                <a:schemeClr val="accent1"/>
              </a:buClr>
              <a:buSzPct val="85000"/>
              <a:buFont typeface="Wingdings" pitchFamily="2" charset="2"/>
              <a:buNone/>
            </a:pPr>
            <a:r>
              <a:rPr lang="en-US" sz="2000">
                <a:solidFill>
                  <a:schemeClr val="tx1"/>
                </a:solidFill>
              </a:rPr>
              <a:t>     Bacterial mechanisms: phosphatase enzymes or production of acids</a:t>
            </a:r>
          </a:p>
          <a:p>
            <a:pPr marL="273050" indent="-273050" algn="l" fontAlgn="base">
              <a:spcBef>
                <a:spcPct val="20000"/>
              </a:spcBef>
              <a:spcAft>
                <a:spcPct val="0"/>
              </a:spcAft>
              <a:buClr>
                <a:schemeClr val="accent1"/>
              </a:buClr>
              <a:buSzPct val="85000"/>
              <a:buFont typeface="Wingdings" pitchFamily="2" charset="2"/>
              <a:buNone/>
            </a:pPr>
            <a:r>
              <a:rPr lang="en-US" sz="2000">
                <a:solidFill>
                  <a:schemeClr val="tx1"/>
                </a:solidFill>
              </a:rPr>
              <a:t>    </a:t>
            </a:r>
            <a:endParaRPr lang="es-PE" sz="2000">
              <a:solidFill>
                <a:schemeClr val="tx1"/>
              </a:solidFill>
            </a:endParaRPr>
          </a:p>
        </p:txBody>
      </p:sp>
      <p:pic>
        <p:nvPicPr>
          <p:cNvPr id="49156" name="Picture 4" descr="IMG_2179"/>
          <p:cNvPicPr>
            <a:picLocks noChangeAspect="1" noChangeArrowheads="1"/>
          </p:cNvPicPr>
          <p:nvPr/>
        </p:nvPicPr>
        <p:blipFill>
          <a:blip r:embed="rId2"/>
          <a:srcRect/>
          <a:stretch>
            <a:fillRect/>
          </a:stretch>
        </p:blipFill>
        <p:spPr bwMode="auto">
          <a:xfrm>
            <a:off x="6019800" y="2743200"/>
            <a:ext cx="2590800" cy="2533650"/>
          </a:xfrm>
          <a:prstGeom prst="rect">
            <a:avLst/>
          </a:prstGeom>
          <a:noFill/>
          <a:ln w="9525">
            <a:noFill/>
            <a:miter lim="800000"/>
            <a:headEnd/>
            <a:tailEnd/>
          </a:ln>
        </p:spPr>
      </p:pic>
      <p:pic>
        <p:nvPicPr>
          <p:cNvPr id="49157" name="Picture 5" descr="IMG_2175"/>
          <p:cNvPicPr>
            <a:picLocks noChangeAspect="1" noChangeArrowheads="1"/>
          </p:cNvPicPr>
          <p:nvPr/>
        </p:nvPicPr>
        <p:blipFill>
          <a:blip r:embed="rId3"/>
          <a:srcRect/>
          <a:stretch>
            <a:fillRect/>
          </a:stretch>
        </p:blipFill>
        <p:spPr bwMode="auto">
          <a:xfrm>
            <a:off x="1143000" y="2590800"/>
            <a:ext cx="2057400" cy="1806575"/>
          </a:xfrm>
          <a:prstGeom prst="rect">
            <a:avLst/>
          </a:prstGeom>
          <a:noFill/>
          <a:ln w="9525">
            <a:noFill/>
            <a:miter lim="800000"/>
            <a:headEnd/>
            <a:tailEnd/>
          </a:ln>
        </p:spPr>
      </p:pic>
      <p:sp>
        <p:nvSpPr>
          <p:cNvPr id="49158" name="Line 7"/>
          <p:cNvSpPr>
            <a:spLocks noChangeShapeType="1"/>
          </p:cNvSpPr>
          <p:nvPr/>
        </p:nvSpPr>
        <p:spPr bwMode="auto">
          <a:xfrm>
            <a:off x="2514600" y="3657600"/>
            <a:ext cx="609600" cy="1447800"/>
          </a:xfrm>
          <a:prstGeom prst="line">
            <a:avLst/>
          </a:prstGeom>
          <a:noFill/>
          <a:ln w="9525">
            <a:solidFill>
              <a:schemeClr val="tx1"/>
            </a:solidFill>
            <a:round/>
            <a:headEnd/>
            <a:tailEnd type="triangle" w="med" len="med"/>
          </a:ln>
        </p:spPr>
        <p:txBody>
          <a:bodyPr/>
          <a:lstStyle/>
          <a:p>
            <a:endParaRPr lang="en-US"/>
          </a:p>
        </p:txBody>
      </p:sp>
      <p:sp>
        <p:nvSpPr>
          <p:cNvPr id="49159" name="Text Box 8"/>
          <p:cNvSpPr txBox="1">
            <a:spLocks noChangeArrowheads="1"/>
          </p:cNvSpPr>
          <p:nvPr/>
        </p:nvSpPr>
        <p:spPr bwMode="auto">
          <a:xfrm>
            <a:off x="2286000" y="5181600"/>
            <a:ext cx="2133600" cy="336550"/>
          </a:xfrm>
          <a:prstGeom prst="rect">
            <a:avLst/>
          </a:prstGeom>
          <a:noFill/>
          <a:ln w="9525">
            <a:noFill/>
            <a:miter lim="800000"/>
            <a:headEnd/>
            <a:tailEnd/>
          </a:ln>
        </p:spPr>
        <p:txBody>
          <a:bodyPr>
            <a:spAutoFit/>
          </a:bodyPr>
          <a:lstStyle/>
          <a:p>
            <a:pPr>
              <a:spcBef>
                <a:spcPct val="50000"/>
              </a:spcBef>
            </a:pPr>
            <a:r>
              <a:rPr lang="es-PE" sz="1600">
                <a:latin typeface="Calibri" pitchFamily="34" charset="0"/>
              </a:rPr>
              <a:t>Solubilization of P</a:t>
            </a:r>
          </a:p>
        </p:txBody>
      </p:sp>
      <p:sp>
        <p:nvSpPr>
          <p:cNvPr id="49160" name="Line 9"/>
          <p:cNvSpPr>
            <a:spLocks noChangeShapeType="1"/>
          </p:cNvSpPr>
          <p:nvPr/>
        </p:nvSpPr>
        <p:spPr bwMode="auto">
          <a:xfrm flipH="1">
            <a:off x="6248400" y="4800600"/>
            <a:ext cx="990600" cy="1066800"/>
          </a:xfrm>
          <a:prstGeom prst="line">
            <a:avLst/>
          </a:prstGeom>
          <a:noFill/>
          <a:ln w="9525">
            <a:solidFill>
              <a:schemeClr val="tx1"/>
            </a:solidFill>
            <a:round/>
            <a:headEnd/>
            <a:tailEnd type="triangle" w="med" len="med"/>
          </a:ln>
        </p:spPr>
        <p:txBody>
          <a:bodyPr/>
          <a:lstStyle/>
          <a:p>
            <a:endParaRPr lang="en-US"/>
          </a:p>
        </p:txBody>
      </p:sp>
      <p:sp>
        <p:nvSpPr>
          <p:cNvPr id="49161" name="Text Box 10"/>
          <p:cNvSpPr txBox="1">
            <a:spLocks noChangeArrowheads="1"/>
          </p:cNvSpPr>
          <p:nvPr/>
        </p:nvSpPr>
        <p:spPr bwMode="auto">
          <a:xfrm>
            <a:off x="5334000" y="5835650"/>
            <a:ext cx="1905000" cy="336550"/>
          </a:xfrm>
          <a:prstGeom prst="rect">
            <a:avLst/>
          </a:prstGeom>
          <a:noFill/>
          <a:ln w="9525">
            <a:noFill/>
            <a:miter lim="800000"/>
            <a:headEnd/>
            <a:tailEnd/>
          </a:ln>
        </p:spPr>
        <p:txBody>
          <a:bodyPr>
            <a:spAutoFit/>
          </a:bodyPr>
          <a:lstStyle/>
          <a:p>
            <a:pPr algn="ctr"/>
            <a:r>
              <a:rPr lang="es-PE" sz="1600">
                <a:latin typeface="Calibri" pitchFamily="34" charset="0"/>
              </a:rPr>
              <a:t>No solubilization</a:t>
            </a: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srcRect/>
          <a:stretch>
            <a:fillRect/>
          </a:stretch>
        </p:blipFill>
        <p:spPr bwMode="auto">
          <a:xfrm>
            <a:off x="0" y="-117475"/>
            <a:ext cx="5410200" cy="6975475"/>
          </a:xfrm>
          <a:prstGeom prst="rect">
            <a:avLst/>
          </a:prstGeom>
          <a:noFill/>
          <a:ln w="9525">
            <a:noFill/>
            <a:miter lim="800000"/>
            <a:headEnd/>
            <a:tailEnd/>
          </a:ln>
        </p:spPr>
      </p:pic>
      <p:sp>
        <p:nvSpPr>
          <p:cNvPr id="50179" name="Rectangle 4"/>
          <p:cNvSpPr>
            <a:spLocks noChangeArrowheads="1"/>
          </p:cNvSpPr>
          <p:nvPr/>
        </p:nvSpPr>
        <p:spPr bwMode="auto">
          <a:xfrm>
            <a:off x="5410200" y="0"/>
            <a:ext cx="3733800" cy="5632450"/>
          </a:xfrm>
          <a:prstGeom prst="rect">
            <a:avLst/>
          </a:prstGeom>
          <a:noFill/>
          <a:ln w="9525">
            <a:noFill/>
            <a:miter lim="800000"/>
            <a:headEnd/>
            <a:tailEnd/>
          </a:ln>
        </p:spPr>
        <p:txBody>
          <a:bodyPr>
            <a:spAutoFit/>
          </a:bodyPr>
          <a:lstStyle/>
          <a:p>
            <a:r>
              <a:rPr lang="en-US" i="1">
                <a:latin typeface="Calibri" pitchFamily="34" charset="0"/>
              </a:rPr>
              <a:t>Pure mineral patches of either potassium feldspar (K) or quartz (Q), introduced at the mycelial front in flatbed peat containing Pinus sylvestris</a:t>
            </a:r>
            <a:r>
              <a:rPr lang="en-US">
                <a:latin typeface="Calibri" pitchFamily="34" charset="0"/>
              </a:rPr>
              <a:t> </a:t>
            </a:r>
            <a:r>
              <a:rPr lang="en-US" i="1">
                <a:latin typeface="Calibri" pitchFamily="34" charset="0"/>
              </a:rPr>
              <a:t>seedlings colonized by Hebeloma crustuliniforme. </a:t>
            </a:r>
          </a:p>
          <a:p>
            <a:r>
              <a:rPr lang="en-US" i="1">
                <a:latin typeface="Calibri" pitchFamily="34" charset="0"/>
              </a:rPr>
              <a:t>Fifteen weeks after introduction, fungal proliferation was more intense in patches of</a:t>
            </a:r>
          </a:p>
          <a:p>
            <a:r>
              <a:rPr lang="en-US" i="1">
                <a:latin typeface="Calibri" pitchFamily="34" charset="0"/>
              </a:rPr>
              <a:t>K-feldspar compared to patches of quartz. From Rosling et al. (2004).</a:t>
            </a:r>
            <a:endParaRPr lang="en-US">
              <a:latin typeface="Calibri" pitchFamily="34"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xfrm>
            <a:off x="4362450" y="1027113"/>
            <a:ext cx="457200" cy="441325"/>
          </a:xfrm>
        </p:spPr>
        <p:txBody>
          <a:bodyPr/>
          <a:lstStyle/>
          <a:p>
            <a:pPr>
              <a:defRPr/>
            </a:pPr>
            <a:fld id="{6B7632C6-F994-4002-8716-B7CEAE6A94F5}" type="slidenum">
              <a:rPr lang="en-US">
                <a:solidFill>
                  <a:schemeClr val="accent3">
                    <a:shade val="75000"/>
                  </a:schemeClr>
                </a:solidFill>
              </a:rPr>
              <a:pPr>
                <a:defRPr/>
              </a:pPr>
              <a:t>135</a:t>
            </a:fld>
            <a:endParaRPr lang="en-US">
              <a:solidFill>
                <a:schemeClr val="accent3">
                  <a:shade val="75000"/>
                </a:schemeClr>
              </a:solidFill>
            </a:endParaRPr>
          </a:p>
        </p:txBody>
      </p:sp>
      <p:sp>
        <p:nvSpPr>
          <p:cNvPr id="48131" name="Rectangle 2"/>
          <p:cNvSpPr>
            <a:spLocks noGrp="1" noChangeArrowheads="1"/>
          </p:cNvSpPr>
          <p:nvPr>
            <p:ph type="title" idx="4294967295"/>
          </p:nvPr>
        </p:nvSpPr>
        <p:spPr>
          <a:xfrm>
            <a:off x="0" y="228600"/>
            <a:ext cx="7772400" cy="1143000"/>
          </a:xfrm>
        </p:spPr>
        <p:txBody>
          <a:bodyPr rtlCol="0">
            <a:normAutofit fontScale="90000"/>
          </a:bodyPr>
          <a:lstStyle/>
          <a:p>
            <a:pPr fontAlgn="auto">
              <a:spcAft>
                <a:spcPts val="0"/>
              </a:spcAft>
              <a:defRPr/>
            </a:pPr>
            <a:r>
              <a:rPr lang="en-US" sz="3600" b="1" smtClean="0">
                <a:solidFill>
                  <a:schemeClr val="accent3">
                    <a:shade val="75000"/>
                  </a:schemeClr>
                </a:solidFill>
              </a:rPr>
              <a:t>Factors Influencing </a:t>
            </a:r>
            <a:br>
              <a:rPr lang="en-US" sz="3600" b="1" smtClean="0">
                <a:solidFill>
                  <a:schemeClr val="accent3">
                    <a:shade val="75000"/>
                  </a:schemeClr>
                </a:solidFill>
              </a:rPr>
            </a:br>
            <a:r>
              <a:rPr lang="en-US" sz="3600" b="1" smtClean="0">
                <a:solidFill>
                  <a:schemeClr val="accent3">
                    <a:shade val="75000"/>
                  </a:schemeClr>
                </a:solidFill>
              </a:rPr>
              <a:t>Nutrient Availability</a:t>
            </a:r>
          </a:p>
        </p:txBody>
      </p:sp>
      <p:sp>
        <p:nvSpPr>
          <p:cNvPr id="66564" name="Rectangle 3"/>
          <p:cNvSpPr>
            <a:spLocks noGrp="1" noChangeArrowheads="1"/>
          </p:cNvSpPr>
          <p:nvPr>
            <p:ph sz="quarter" idx="4294967295"/>
          </p:nvPr>
        </p:nvSpPr>
        <p:spPr bwMode="auto">
          <a:xfrm>
            <a:off x="0" y="1527175"/>
            <a:ext cx="8504238" cy="4572000"/>
          </a:xfrm>
          <a:noFill/>
          <a:ln>
            <a:miter lim="800000"/>
            <a:headEnd/>
            <a:tailEnd/>
          </a:ln>
        </p:spPr>
        <p:txBody>
          <a:bodyPr wrap="square" lIns="91440" tIns="45720" rIns="91440" bIns="45720" numCol="1" anchor="t" anchorCtr="0" compatLnSpc="1">
            <a:prstTxWarp prst="textNoShape">
              <a:avLst/>
            </a:prstTxWarp>
          </a:bodyPr>
          <a:lstStyle/>
          <a:p>
            <a:pPr marL="273050" indent="-273050" algn="l" fontAlgn="base">
              <a:spcBef>
                <a:spcPct val="20000"/>
              </a:spcBef>
              <a:spcAft>
                <a:spcPct val="0"/>
              </a:spcAft>
              <a:buClr>
                <a:schemeClr val="accent1"/>
              </a:buClr>
              <a:buSzPct val="85000"/>
              <a:buFont typeface="Wingdings 2" pitchFamily="18" charset="2"/>
              <a:buChar char=""/>
            </a:pPr>
            <a:r>
              <a:rPr lang="en-US" sz="2700" b="1">
                <a:solidFill>
                  <a:schemeClr val="tx1"/>
                </a:solidFill>
              </a:rPr>
              <a:t>Presence of nitrogen fixers</a:t>
            </a:r>
          </a:p>
          <a:p>
            <a:pPr marL="273050" indent="-273050" algn="l" fontAlgn="base">
              <a:spcBef>
                <a:spcPct val="20000"/>
              </a:spcBef>
              <a:spcAft>
                <a:spcPct val="0"/>
              </a:spcAft>
              <a:buClr>
                <a:schemeClr val="accent1"/>
              </a:buClr>
              <a:buSzPct val="85000"/>
              <a:buFont typeface="Wingdings 2" pitchFamily="18" charset="2"/>
              <a:buChar char=""/>
            </a:pPr>
            <a:r>
              <a:rPr lang="en-US" sz="2700" b="1">
                <a:solidFill>
                  <a:schemeClr val="tx1"/>
                </a:solidFill>
              </a:rPr>
              <a:t>Microbial activity</a:t>
            </a:r>
          </a:p>
          <a:p>
            <a:pPr marL="273050" indent="-273050" algn="l" fontAlgn="base">
              <a:spcBef>
                <a:spcPct val="20000"/>
              </a:spcBef>
              <a:spcAft>
                <a:spcPct val="0"/>
              </a:spcAft>
              <a:buClr>
                <a:schemeClr val="accent1"/>
              </a:buClr>
              <a:buSzPct val="85000"/>
              <a:buFont typeface="Wingdings 2" pitchFamily="18" charset="2"/>
              <a:buChar char=""/>
            </a:pPr>
            <a:r>
              <a:rPr lang="en-US" sz="2700" b="1">
                <a:solidFill>
                  <a:schemeClr val="tx1"/>
                </a:solidFill>
              </a:rPr>
              <a:t>Fire</a:t>
            </a:r>
          </a:p>
          <a:p>
            <a:pPr marL="273050" indent="-273050" algn="l" fontAlgn="base">
              <a:spcBef>
                <a:spcPct val="20000"/>
              </a:spcBef>
              <a:spcAft>
                <a:spcPct val="0"/>
              </a:spcAft>
              <a:buClr>
                <a:schemeClr val="accent1"/>
              </a:buClr>
              <a:buSzPct val="85000"/>
              <a:buFont typeface="Wingdings 2" pitchFamily="18" charset="2"/>
              <a:buChar char=""/>
            </a:pPr>
            <a:r>
              <a:rPr lang="en-US" sz="2700" b="1">
                <a:solidFill>
                  <a:schemeClr val="tx1"/>
                </a:solidFill>
              </a:rPr>
              <a:t>Precipitation patterns</a:t>
            </a:r>
          </a:p>
          <a:p>
            <a:pPr marL="273050" indent="-273050" algn="l" fontAlgn="base">
              <a:spcBef>
                <a:spcPct val="20000"/>
              </a:spcBef>
              <a:spcAft>
                <a:spcPct val="0"/>
              </a:spcAft>
              <a:buClr>
                <a:schemeClr val="accent1"/>
              </a:buClr>
              <a:buSzPct val="85000"/>
              <a:buFont typeface="Wingdings 2" pitchFamily="18" charset="2"/>
              <a:buChar char=""/>
            </a:pPr>
            <a:r>
              <a:rPr lang="en-US" sz="2700" b="1">
                <a:solidFill>
                  <a:schemeClr val="tx1"/>
                </a:solidFill>
              </a:rPr>
              <a:t>Soil drainage</a:t>
            </a:r>
          </a:p>
          <a:p>
            <a:pPr marL="273050" indent="-273050" algn="l" fontAlgn="base">
              <a:spcBef>
                <a:spcPct val="20000"/>
              </a:spcBef>
              <a:spcAft>
                <a:spcPct val="0"/>
              </a:spcAft>
              <a:buClr>
                <a:schemeClr val="accent1"/>
              </a:buClr>
              <a:buSzPct val="85000"/>
              <a:buFont typeface="Wingdings 2" pitchFamily="18" charset="2"/>
              <a:buChar char=""/>
            </a:pPr>
            <a:r>
              <a:rPr lang="en-US" sz="2700" b="1">
                <a:solidFill>
                  <a:schemeClr val="tx1"/>
                </a:solidFill>
              </a:rPr>
              <a:t>Soil temperature, moisture</a:t>
            </a:r>
          </a:p>
          <a:p>
            <a:pPr marL="273050" indent="-273050" algn="l" fontAlgn="base">
              <a:spcBef>
                <a:spcPct val="20000"/>
              </a:spcBef>
              <a:spcAft>
                <a:spcPct val="0"/>
              </a:spcAft>
              <a:buClr>
                <a:schemeClr val="accent1"/>
              </a:buClr>
              <a:buSzPct val="85000"/>
              <a:buFont typeface="Wingdings 2" pitchFamily="18" charset="2"/>
              <a:buChar char=""/>
            </a:pPr>
            <a:endParaRPr lang="en-US" sz="2700" b="1">
              <a:solidFill>
                <a:schemeClr val="tx1"/>
              </a:solidFill>
            </a:endParaRPr>
          </a:p>
          <a:p>
            <a:pPr marL="273050" indent="-273050" algn="l" fontAlgn="base">
              <a:spcBef>
                <a:spcPct val="20000"/>
              </a:spcBef>
              <a:spcAft>
                <a:spcPct val="0"/>
              </a:spcAft>
              <a:buClr>
                <a:schemeClr val="accent1"/>
              </a:buClr>
              <a:buSzPct val="85000"/>
              <a:buFont typeface="Wingdings 2" pitchFamily="18" charset="2"/>
              <a:buChar char=""/>
            </a:pPr>
            <a:endParaRPr lang="en-US" sz="2700" b="1" i="1">
              <a:solidFill>
                <a:schemeClr val="tx1"/>
              </a:solidFill>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b="1" smtClean="0"/>
              <a:t>Classification of Soils Based on the Functions of Microorganisms</a:t>
            </a:r>
            <a:endParaRPr lang="en-US" smtClean="0"/>
          </a:p>
        </p:txBody>
      </p:sp>
      <p:sp>
        <p:nvSpPr>
          <p:cNvPr id="22531" name="Content Placeholder 2"/>
          <p:cNvSpPr>
            <a:spLocks noGrp="1"/>
          </p:cNvSpPr>
          <p:nvPr>
            <p:ph idx="1"/>
          </p:nvPr>
        </p:nvSpPr>
        <p:spPr>
          <a:xfrm>
            <a:off x="457200" y="1600200"/>
            <a:ext cx="8229600" cy="9753600"/>
          </a:xfrm>
        </p:spPr>
        <p:txBody>
          <a:bodyPr/>
          <a:lstStyle/>
          <a:p>
            <a:pPr eaLnBrk="1" hangingPunct="1">
              <a:buFont typeface="Arial" pitchFamily="34" charset="0"/>
              <a:buNone/>
            </a:pPr>
            <a:r>
              <a:rPr lang="en-US" sz="2800" b="1" dirty="0" smtClean="0"/>
              <a:t>Disease-Inducing Soils.</a:t>
            </a:r>
            <a:r>
              <a:rPr lang="en-US" sz="2800" dirty="0" smtClean="0"/>
              <a:t> In this type of soil, plant pathogenic microorganisms such as </a:t>
            </a:r>
            <a:r>
              <a:rPr lang="en-US" sz="2800" i="1" dirty="0" err="1" smtClean="0"/>
              <a:t>Fusarium</a:t>
            </a:r>
            <a:r>
              <a:rPr lang="en-US" sz="2800" dirty="0" smtClean="0"/>
              <a:t> fungi can comprise 5 to 20 percent of the total </a:t>
            </a:r>
            <a:r>
              <a:rPr lang="en-US" sz="2800" dirty="0" err="1" smtClean="0"/>
              <a:t>microflora</a:t>
            </a:r>
            <a:r>
              <a:rPr lang="en-US" sz="2800" dirty="0" smtClean="0"/>
              <a:t>. </a:t>
            </a:r>
          </a:p>
          <a:p>
            <a:pPr eaLnBrk="1" hangingPunct="1">
              <a:buFont typeface="Arial" pitchFamily="34" charset="0"/>
              <a:buNone/>
            </a:pPr>
            <a:r>
              <a:rPr lang="en-US" sz="2800" dirty="0" smtClean="0"/>
              <a:t>If fresh organic matter with a high nitrogen content is applied to such a soil, incompletely oxidized products can arise that are malodorous and toxic to growing plants. Such soils tend to cause frequent infestations of disease organisms, and harmful insects. Thus, the application of fresh organic matter to these soils is often harmful to crops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endParaRPr lang="en-US" smtClean="0"/>
          </a:p>
        </p:txBody>
      </p:sp>
      <p:sp>
        <p:nvSpPr>
          <p:cNvPr id="23555" name="Content Placeholder 2"/>
          <p:cNvSpPr>
            <a:spLocks noGrp="1"/>
          </p:cNvSpPr>
          <p:nvPr>
            <p:ph idx="1"/>
          </p:nvPr>
        </p:nvSpPr>
        <p:spPr/>
        <p:txBody>
          <a:bodyPr/>
          <a:lstStyle/>
          <a:p>
            <a:pPr eaLnBrk="1" hangingPunct="1">
              <a:buFont typeface="Arial" pitchFamily="34" charset="0"/>
              <a:buNone/>
            </a:pPr>
            <a:r>
              <a:rPr lang="en-US" smtClean="0"/>
              <a:t> Probably more than 90 percent of the agricultural land devoted to crop production worldwide can be classified as having disease-inducing soil. Such soils generally have poor physical properties, and large amounts of energy are lost as "greenhouse" gases, particularly in the case of rice fields. Plant nutrients are also subject to immobilization into unavailable forms.</a:t>
            </a:r>
          </a:p>
          <a:p>
            <a:pPr eaLnBrk="1" hangingPunct="1"/>
            <a:endParaRPr lang="en-US" smtClean="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endParaRPr lang="en-US" smtClean="0"/>
          </a:p>
        </p:txBody>
      </p:sp>
      <p:sp>
        <p:nvSpPr>
          <p:cNvPr id="24579" name="Content Placeholder 2"/>
          <p:cNvSpPr>
            <a:spLocks noGrp="1"/>
          </p:cNvSpPr>
          <p:nvPr>
            <p:ph idx="1"/>
          </p:nvPr>
        </p:nvSpPr>
        <p:spPr/>
        <p:txBody>
          <a:bodyPr/>
          <a:lstStyle/>
          <a:p>
            <a:pPr eaLnBrk="1" hangingPunct="1">
              <a:buFont typeface="Arial" pitchFamily="34" charset="0"/>
              <a:buNone/>
            </a:pPr>
            <a:r>
              <a:rPr lang="en-US" b="1" smtClean="0"/>
              <a:t>Disease-Suppressive Soils.</a:t>
            </a:r>
            <a:r>
              <a:rPr lang="en-US" smtClean="0"/>
              <a:t> </a:t>
            </a:r>
          </a:p>
          <a:p>
            <a:pPr eaLnBrk="1" hangingPunct="1"/>
            <a:r>
              <a:rPr lang="en-US" sz="2800" smtClean="0"/>
              <a:t>The microflora of disease-suppressive soils is usually dominated by antagonistic microorganisms that produce copious amounts of antibiotics. These include fungi of the genera </a:t>
            </a:r>
            <a:r>
              <a:rPr lang="en-US" sz="2800" i="1" smtClean="0"/>
              <a:t>Penicillium, Trichoderma</a:t>
            </a:r>
            <a:r>
              <a:rPr lang="en-US" sz="2800" smtClean="0"/>
              <a:t>, and </a:t>
            </a:r>
            <a:r>
              <a:rPr lang="en-US" sz="2800" i="1" smtClean="0"/>
              <a:t>Aspergillus</a:t>
            </a:r>
            <a:r>
              <a:rPr lang="en-US" sz="2800" smtClean="0"/>
              <a:t>, and actinomycetes of the genus </a:t>
            </a:r>
            <a:r>
              <a:rPr lang="en-US" sz="2800" i="1" smtClean="0"/>
              <a:t>Streptomyces</a:t>
            </a:r>
            <a:r>
              <a:rPr lang="en-US" sz="2800" smtClean="0"/>
              <a:t>. The antibiotics they produce can have biostatic and biocidal effects on soil-borne plant pathogens, including </a:t>
            </a:r>
            <a:r>
              <a:rPr lang="en-US" sz="2800" i="1" smtClean="0"/>
              <a:t>Fusarium </a:t>
            </a:r>
            <a:r>
              <a:rPr lang="en-US" sz="2800" smtClean="0"/>
              <a:t>which would have an incidence in these soils of less than 5 percent. </a:t>
            </a:r>
            <a:endParaRPr lang="en-US" smtClean="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endParaRPr lang="en-US" smtClean="0"/>
          </a:p>
        </p:txBody>
      </p:sp>
      <p:sp>
        <p:nvSpPr>
          <p:cNvPr id="13315" name="Content Placeholder 2"/>
          <p:cNvSpPr>
            <a:spLocks noGrp="1"/>
          </p:cNvSpPr>
          <p:nvPr>
            <p:ph idx="1"/>
          </p:nvPr>
        </p:nvSpPr>
        <p:spPr/>
        <p:txBody>
          <a:bodyPr/>
          <a:lstStyle/>
          <a:p>
            <a:pPr eaLnBrk="1" hangingPunct="1">
              <a:buFont typeface="Arial" pitchFamily="34" charset="0"/>
              <a:buNone/>
            </a:pPr>
            <a:r>
              <a:rPr lang="en-US" u="sng" smtClean="0"/>
              <a:t>Autochthonous microorganisms</a:t>
            </a:r>
          </a:p>
          <a:p>
            <a:pPr eaLnBrk="1" hangingPunct="1">
              <a:buFont typeface="Arial" pitchFamily="34" charset="0"/>
              <a:buNone/>
            </a:pPr>
            <a:r>
              <a:rPr lang="en-US" smtClean="0"/>
              <a:t>An indigenous form of soil microorganisms, responsible for chemical processes that occur in the soil under normal conditions.</a:t>
            </a:r>
          </a:p>
          <a:p>
            <a:pPr eaLnBrk="1" hangingPunct="1">
              <a:buFont typeface="Arial" pitchFamily="34" charset="0"/>
              <a:buNone/>
            </a:pPr>
            <a:r>
              <a:rPr lang="en-US" u="sng" smtClean="0"/>
              <a:t>Allochthonous microorganisms</a:t>
            </a:r>
          </a:p>
          <a:p>
            <a:pPr eaLnBrk="1" hangingPunct="1">
              <a:buFont typeface="Arial" pitchFamily="34" charset="0"/>
              <a:buNone/>
            </a:pPr>
            <a:r>
              <a:rPr lang="en-US" smtClean="0"/>
              <a:t>Introduced microorganisms.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eaLnBrk="1" hangingPunct="1">
              <a:defRPr/>
            </a:pPr>
            <a:r>
              <a:rPr lang="en-US" sz="3600" dirty="0" err="1" smtClean="0"/>
              <a:t>Biofertilizers</a:t>
            </a:r>
            <a:r>
              <a:rPr lang="en-US" dirty="0" smtClean="0"/>
              <a:t>  </a:t>
            </a:r>
          </a:p>
        </p:txBody>
      </p:sp>
      <p:sp>
        <p:nvSpPr>
          <p:cNvPr id="615427" name="Rectangle 3"/>
          <p:cNvSpPr>
            <a:spLocks noGrp="1" noChangeArrowheads="1"/>
          </p:cNvSpPr>
          <p:nvPr>
            <p:ph idx="1"/>
          </p:nvPr>
        </p:nvSpPr>
        <p:spPr>
          <a:xfrm>
            <a:off x="1008063" y="1881188"/>
            <a:ext cx="7543800" cy="4114800"/>
          </a:xfrm>
        </p:spPr>
        <p:txBody>
          <a:bodyPr/>
          <a:lstStyle/>
          <a:p>
            <a:pPr algn="l" eaLnBrk="1" hangingPunct="1">
              <a:lnSpc>
                <a:spcPct val="80000"/>
              </a:lnSpc>
              <a:defRPr/>
            </a:pPr>
            <a:endParaRPr lang="en-US" sz="2400" dirty="0" smtClean="0"/>
          </a:p>
          <a:p>
            <a:pPr algn="l" eaLnBrk="1" hangingPunct="1">
              <a:lnSpc>
                <a:spcPct val="80000"/>
              </a:lnSpc>
              <a:buFont typeface="Wingdings" pitchFamily="2" charset="2"/>
              <a:buNone/>
              <a:defRPr/>
            </a:pPr>
            <a:r>
              <a:rPr lang="en-US" sz="2400" dirty="0" err="1" smtClean="0"/>
              <a:t>Biofertilizers</a:t>
            </a:r>
            <a:r>
              <a:rPr lang="en-US" sz="2400" dirty="0" smtClean="0"/>
              <a:t> are considered the alternate source of fertilizer to meet the nutrient requirement of crops and to bridge the future gaps. </a:t>
            </a:r>
          </a:p>
          <a:p>
            <a:pPr algn="l" eaLnBrk="1" hangingPunct="1">
              <a:lnSpc>
                <a:spcPct val="80000"/>
              </a:lnSpc>
              <a:buFont typeface="Wingdings" pitchFamily="2" charset="2"/>
              <a:buNone/>
              <a:defRPr/>
            </a:pPr>
            <a:endParaRPr lang="en-US" sz="2400" dirty="0" smtClean="0"/>
          </a:p>
          <a:p>
            <a:pPr>
              <a:lnSpc>
                <a:spcPct val="80000"/>
              </a:lnSpc>
              <a:buNone/>
              <a:defRPr/>
            </a:pPr>
            <a:r>
              <a:rPr lang="en-US" sz="2400" dirty="0" smtClean="0"/>
              <a:t>Further knowing the deleterious effects of using only the chemical fertilizers, use of soil microorganisms, which can fix atmospheric nitrogen, </a:t>
            </a:r>
            <a:r>
              <a:rPr lang="en-US" sz="2400" dirty="0" err="1" smtClean="0"/>
              <a:t>solubilize</a:t>
            </a:r>
            <a:r>
              <a:rPr lang="en-US" sz="2400" dirty="0" smtClean="0"/>
              <a:t> phosphorus or stimulate plant growth through synthesis of growth promoting substances will be environmentally benign approach for nutrient management of ecosystem.</a:t>
            </a:r>
            <a:r>
              <a:rPr lang="en-US" sz="1600" dirty="0" smtClean="0"/>
              <a:t> </a:t>
            </a:r>
          </a:p>
          <a:p>
            <a:pPr algn="l" eaLnBrk="1" hangingPunct="1">
              <a:lnSpc>
                <a:spcPct val="80000"/>
              </a:lnSpc>
              <a:buFont typeface="Wingdings" pitchFamily="2" charset="2"/>
              <a:buNone/>
              <a:defRPr/>
            </a:pPr>
            <a:endParaRPr lang="en-US" sz="2400" dirty="0" smtClean="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Grp="1" noChangeArrowheads="1"/>
          </p:cNvSpPr>
          <p:nvPr>
            <p:ph type="title"/>
          </p:nvPr>
        </p:nvSpPr>
        <p:spPr/>
        <p:txBody>
          <a:bodyPr/>
          <a:lstStyle/>
          <a:p>
            <a:pPr eaLnBrk="1" hangingPunct="1">
              <a:defRPr/>
            </a:pPr>
            <a:endParaRPr lang="en-US" smtClean="0"/>
          </a:p>
        </p:txBody>
      </p:sp>
      <p:sp>
        <p:nvSpPr>
          <p:cNvPr id="630787" name="Rectangle 3"/>
          <p:cNvSpPr>
            <a:spLocks noGrp="1" noChangeArrowheads="1"/>
          </p:cNvSpPr>
          <p:nvPr>
            <p:ph idx="1"/>
          </p:nvPr>
        </p:nvSpPr>
        <p:spPr/>
        <p:txBody>
          <a:bodyPr/>
          <a:lstStyle/>
          <a:p>
            <a:pPr>
              <a:buNone/>
              <a:defRPr/>
            </a:pPr>
            <a:r>
              <a:rPr lang="en-US" dirty="0" err="1" smtClean="0"/>
              <a:t>Biofertilizers</a:t>
            </a:r>
            <a:r>
              <a:rPr lang="en-US" dirty="0" smtClean="0"/>
              <a:t> are products containing living cells of different types of microorganisms, which have an ability to convert nutritionally important elements from unavailable to available form through biological processes</a:t>
            </a:r>
          </a:p>
          <a:p>
            <a:pPr algn="l" eaLnBrk="1" hangingPunct="1">
              <a:buFont typeface="Wingdings" pitchFamily="2" charset="2"/>
              <a:buNone/>
              <a:defRPr/>
            </a:pPr>
            <a:endParaRPr lang="en-US" dirty="0" smtClean="0"/>
          </a:p>
          <a:p>
            <a:pPr algn="l" eaLnBrk="1" hangingPunct="1">
              <a:buFont typeface="Wingdings" pitchFamily="2" charset="2"/>
              <a:buNone/>
              <a:defRPr/>
            </a:pPr>
            <a:endParaRPr lang="en-US" dirty="0" smtClean="0"/>
          </a:p>
          <a:p>
            <a:pPr algn="l" eaLnBrk="1" hangingPunct="1">
              <a:buFont typeface="Wingdings" pitchFamily="2" charset="2"/>
              <a:buNone/>
              <a:defRPr/>
            </a:pPr>
            <a:r>
              <a:rPr lang="en-US" dirty="0" smtClean="0"/>
              <a:t>This group of organisms seems to play an important role in soil </a:t>
            </a:r>
            <a:r>
              <a:rPr lang="en-US" dirty="0" err="1" smtClean="0"/>
              <a:t>biofertility</a:t>
            </a:r>
            <a:r>
              <a:rPr lang="en-US" dirty="0" smtClean="0"/>
              <a:t>, because of their capability for producing hormones, amino acids and vitamins</a:t>
            </a: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type="title"/>
          </p:nvPr>
        </p:nvSpPr>
        <p:spPr/>
        <p:txBody>
          <a:bodyPr/>
          <a:lstStyle/>
          <a:p>
            <a:pPr eaLnBrk="1" hangingPunct="1">
              <a:defRPr/>
            </a:pPr>
            <a:endParaRPr lang="en-US" smtClean="0"/>
          </a:p>
        </p:txBody>
      </p:sp>
      <p:sp>
        <p:nvSpPr>
          <p:cNvPr id="631811" name="Rectangle 3"/>
          <p:cNvSpPr>
            <a:spLocks noGrp="1" noChangeArrowheads="1"/>
          </p:cNvSpPr>
          <p:nvPr>
            <p:ph idx="1"/>
          </p:nvPr>
        </p:nvSpPr>
        <p:spPr/>
        <p:txBody>
          <a:bodyPr/>
          <a:lstStyle/>
          <a:p>
            <a:pPr algn="l" eaLnBrk="1" hangingPunct="1">
              <a:buFont typeface="Wingdings" pitchFamily="2" charset="2"/>
              <a:buNone/>
              <a:defRPr/>
            </a:pPr>
            <a:r>
              <a:rPr lang="en-US" smtClean="0"/>
              <a:t>In recent years, biofertilizers have emerged as an important component of the integrated nutrient supply system and hold a great promise to improve crop yields through environmentally better nutrient supplies.</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p:txBody>
          <a:bodyPr/>
          <a:lstStyle/>
          <a:p>
            <a:pPr eaLnBrk="1" hangingPunct="1">
              <a:defRPr/>
            </a:pPr>
            <a:endParaRPr lang="en-US" smtClean="0"/>
          </a:p>
        </p:txBody>
      </p:sp>
      <p:sp>
        <p:nvSpPr>
          <p:cNvPr id="618499" name="Rectangle 3"/>
          <p:cNvSpPr>
            <a:spLocks noGrp="1" noChangeArrowheads="1"/>
          </p:cNvSpPr>
          <p:nvPr>
            <p:ph idx="1"/>
          </p:nvPr>
        </p:nvSpPr>
        <p:spPr/>
        <p:txBody>
          <a:bodyPr/>
          <a:lstStyle/>
          <a:p>
            <a:pPr algn="l" eaLnBrk="1" hangingPunct="1">
              <a:buFont typeface="Wingdings" pitchFamily="2" charset="2"/>
              <a:buNone/>
              <a:defRPr/>
            </a:pPr>
            <a:r>
              <a:rPr lang="en-US" sz="2800" smtClean="0"/>
              <a:t>A wide variety of biofertilizers is being used as a good source of plant nutrients in sustainable agriculture.</a:t>
            </a:r>
            <a:r>
              <a:rPr lang="en-US" sz="2800" i="1" smtClean="0"/>
              <a:t> </a:t>
            </a:r>
          </a:p>
          <a:p>
            <a:pPr algn="l" eaLnBrk="1" hangingPunct="1">
              <a:buFont typeface="Wingdings" pitchFamily="2" charset="2"/>
              <a:buNone/>
              <a:defRPr/>
            </a:pPr>
            <a:r>
              <a:rPr lang="en-US" sz="2800" smtClean="0"/>
              <a:t>Microbes, especially some </a:t>
            </a:r>
            <a:r>
              <a:rPr lang="en-US" sz="2800" i="1" smtClean="0"/>
              <a:t>Bacillus</a:t>
            </a:r>
            <a:r>
              <a:rPr lang="en-US" sz="2800" smtClean="0"/>
              <a:t> strains (</a:t>
            </a:r>
            <a:r>
              <a:rPr lang="en-US" sz="2800" i="1" smtClean="0"/>
              <a:t>B. polymyxa </a:t>
            </a:r>
            <a:r>
              <a:rPr lang="en-US" sz="2800" smtClean="0"/>
              <a:t>as nitrogen fixer</a:t>
            </a:r>
            <a:r>
              <a:rPr lang="en-US" sz="2800" i="1" smtClean="0"/>
              <a:t>, B. megaterium</a:t>
            </a:r>
            <a:r>
              <a:rPr lang="en-US" sz="2800" smtClean="0"/>
              <a:t> as phosphate dissolving bacteria and </a:t>
            </a:r>
            <a:r>
              <a:rPr lang="en-US" sz="2800" i="1" smtClean="0"/>
              <a:t>B. circulans  </a:t>
            </a:r>
            <a:r>
              <a:rPr lang="en-US" sz="2800" smtClean="0"/>
              <a:t>as potassium release bacteria) play central role in manufacturing of biofertilizers </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pPr eaLnBrk="1" hangingPunct="1">
              <a:defRPr/>
            </a:pPr>
            <a:endParaRPr lang="en-US" smtClean="0"/>
          </a:p>
        </p:txBody>
      </p:sp>
      <p:sp>
        <p:nvSpPr>
          <p:cNvPr id="619523" name="Rectangle 3"/>
          <p:cNvSpPr>
            <a:spLocks noGrp="1" noChangeArrowheads="1"/>
          </p:cNvSpPr>
          <p:nvPr>
            <p:ph idx="1"/>
          </p:nvPr>
        </p:nvSpPr>
        <p:spPr/>
        <p:txBody>
          <a:bodyPr/>
          <a:lstStyle/>
          <a:p>
            <a:pPr algn="l" rtl="0" eaLnBrk="1" hangingPunct="1">
              <a:defRPr/>
            </a:pPr>
            <a:r>
              <a:rPr lang="en-US" dirty="0" smtClean="0"/>
              <a:t>The economic importance of biological NPK fertilizers and plant growth-promoting </a:t>
            </a:r>
            <a:r>
              <a:rPr lang="en-US" dirty="0" err="1" smtClean="0"/>
              <a:t>rhizobacteria</a:t>
            </a:r>
            <a:r>
              <a:rPr lang="en-US" dirty="0" smtClean="0"/>
              <a:t> ( PGPR) </a:t>
            </a:r>
            <a:r>
              <a:rPr lang="en-US" dirty="0" err="1" smtClean="0"/>
              <a:t>inocula</a:t>
            </a:r>
            <a:r>
              <a:rPr lang="en-US" dirty="0" smtClean="0"/>
              <a:t>, not only felt in conserving the environment, but improve it, too. </a:t>
            </a:r>
          </a:p>
          <a:p>
            <a:pPr algn="l" rtl="0" eaLnBrk="1" hangingPunct="1">
              <a:defRPr/>
            </a:pPr>
            <a:endParaRPr lang="en-US" dirty="0" smtClean="0"/>
          </a:p>
          <a:p>
            <a:pPr>
              <a:defRPr/>
            </a:pPr>
            <a:r>
              <a:rPr lang="en-US" dirty="0" smtClean="0"/>
              <a:t>They reduced pollution hazards caused by leaching nitrate in the drainage water and through volatilization of NH3 gas from (NH4)</a:t>
            </a:r>
            <a:r>
              <a:rPr lang="en-US" baseline="-25000" dirty="0" smtClean="0"/>
              <a:t>2</a:t>
            </a:r>
            <a:r>
              <a:rPr lang="en-US" dirty="0" smtClean="0"/>
              <a:t>SO4 fertilizer and nitrogen oxide gases evolved during </a:t>
            </a:r>
            <a:r>
              <a:rPr lang="en-US" dirty="0" err="1" smtClean="0"/>
              <a:t>denitrification</a:t>
            </a:r>
            <a:r>
              <a:rPr lang="en-US" dirty="0" smtClean="0"/>
              <a:t> processes </a:t>
            </a:r>
          </a:p>
          <a:p>
            <a:pPr algn="l" rtl="0" eaLnBrk="1" hangingPunct="1">
              <a:defRPr/>
            </a:pPr>
            <a:endParaRPr lang="en-US" dirty="0" smtClean="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431800" y="0"/>
            <a:ext cx="8229600" cy="1139825"/>
          </a:xfrm>
        </p:spPr>
        <p:txBody>
          <a:bodyPr/>
          <a:lstStyle/>
          <a:p>
            <a:pPr eaLnBrk="1" hangingPunct="1">
              <a:defRPr/>
            </a:pPr>
            <a:r>
              <a:rPr lang="en-US" altLang="zh-CN" sz="4800" b="0" i="1" dirty="0" smtClean="0">
                <a:solidFill>
                  <a:srgbClr val="FF0000"/>
                </a:solidFill>
                <a:ea typeface="SimSun" pitchFamily="2" charset="-122"/>
              </a:rPr>
              <a:t>Benefit of </a:t>
            </a:r>
            <a:r>
              <a:rPr lang="en-US" altLang="zh-CN" sz="4800" b="0" i="1" dirty="0" err="1" smtClean="0">
                <a:solidFill>
                  <a:srgbClr val="FF0000"/>
                </a:solidFill>
                <a:ea typeface="SimSun" pitchFamily="2" charset="-122"/>
              </a:rPr>
              <a:t>Biofertilizer</a:t>
            </a:r>
            <a:endParaRPr lang="en-US" sz="4800" b="0" i="1" dirty="0" smtClean="0">
              <a:solidFill>
                <a:srgbClr val="FF0000"/>
              </a:solidFill>
              <a:ea typeface="SimSun" pitchFamily="2" charset="-122"/>
            </a:endParaRPr>
          </a:p>
        </p:txBody>
      </p:sp>
      <p:sp>
        <p:nvSpPr>
          <p:cNvPr id="357379" name="Rectangle 3"/>
          <p:cNvSpPr>
            <a:spLocks noGrp="1" noChangeArrowheads="1"/>
          </p:cNvSpPr>
          <p:nvPr>
            <p:ph idx="1"/>
          </p:nvPr>
        </p:nvSpPr>
        <p:spPr>
          <a:xfrm>
            <a:off x="0" y="1089025"/>
            <a:ext cx="9144000" cy="5768975"/>
          </a:xfrm>
        </p:spPr>
        <p:txBody>
          <a:bodyPr/>
          <a:lstStyle/>
          <a:p>
            <a:pPr algn="l" rtl="0" eaLnBrk="1" hangingPunct="1">
              <a:defRPr/>
            </a:pPr>
            <a:r>
              <a:rPr lang="en-US" altLang="zh-CN" sz="3200" b="1" dirty="0" smtClean="0">
                <a:ea typeface="SimSun" pitchFamily="2" charset="-122"/>
              </a:rPr>
              <a:t>To lessen the use of chemical fertilizer that </a:t>
            </a:r>
            <a:r>
              <a:rPr lang="en-US" altLang="zh-CN" sz="3200" b="1" u="sng" dirty="0" smtClean="0">
                <a:ea typeface="SimSun" pitchFamily="2" charset="-122"/>
              </a:rPr>
              <a:t>may be</a:t>
            </a:r>
            <a:r>
              <a:rPr lang="en-US" altLang="zh-CN" sz="3200" b="1" dirty="0" smtClean="0">
                <a:ea typeface="SimSun" pitchFamily="2" charset="-122"/>
              </a:rPr>
              <a:t> a health hazard.</a:t>
            </a:r>
          </a:p>
          <a:p>
            <a:pPr algn="l" rtl="0" eaLnBrk="1" hangingPunct="1">
              <a:defRPr/>
            </a:pPr>
            <a:r>
              <a:rPr lang="en-US" altLang="zh-CN" sz="3200" b="1" dirty="0" smtClean="0">
                <a:solidFill>
                  <a:srgbClr val="FF0000"/>
                </a:solidFill>
                <a:ea typeface="SimSun" pitchFamily="2" charset="-122"/>
              </a:rPr>
              <a:t>Enhance nutrient uptake in deficient soils.</a:t>
            </a:r>
          </a:p>
          <a:p>
            <a:pPr algn="l" rtl="0" eaLnBrk="1" hangingPunct="1">
              <a:defRPr/>
            </a:pPr>
            <a:r>
              <a:rPr lang="en-US" altLang="zh-CN" sz="3200" b="1" dirty="0" smtClean="0">
                <a:ea typeface="SimSun" pitchFamily="2" charset="-122"/>
              </a:rPr>
              <a:t>They could secrete </a:t>
            </a:r>
            <a:r>
              <a:rPr lang="en-US" altLang="zh-CN" sz="3200" b="1" dirty="0" smtClean="0">
                <a:solidFill>
                  <a:srgbClr val="FF0000"/>
                </a:solidFill>
                <a:ea typeface="SimSun" pitchFamily="2" charset="-122"/>
              </a:rPr>
              <a:t>plant growth substances and antifungal chemical, and/or improve seed germination </a:t>
            </a:r>
            <a:r>
              <a:rPr lang="en-US" altLang="zh-CN" sz="3200" b="1" dirty="0" smtClean="0">
                <a:ea typeface="SimSun" pitchFamily="2" charset="-122"/>
              </a:rPr>
              <a:t>and root growth.</a:t>
            </a:r>
            <a:endParaRPr lang="en-US" sz="3200" b="1" dirty="0" smtClean="0">
              <a:ea typeface="SimSun"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357378"/>
                                        </p:tgtEl>
                                        <p:attrNameLst>
                                          <p:attrName>style.visibility</p:attrName>
                                        </p:attrNameLst>
                                      </p:cBhvr>
                                      <p:to>
                                        <p:strVal val="visible"/>
                                      </p:to>
                                    </p:set>
                                    <p:animEffect transition="in" filter="box(in)">
                                      <p:cBhvr>
                                        <p:cTn id="7" dur="500"/>
                                        <p:tgtEl>
                                          <p:spTgt spid="35737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57379">
                                            <p:txEl>
                                              <p:pRg st="0" end="0"/>
                                            </p:txEl>
                                          </p:spTgt>
                                        </p:tgtEl>
                                        <p:attrNameLst>
                                          <p:attrName>style.visibility</p:attrName>
                                        </p:attrNameLst>
                                      </p:cBhvr>
                                      <p:to>
                                        <p:strVal val="visible"/>
                                      </p:to>
                                    </p:set>
                                    <p:animEffect transition="in" filter="blinds(horizontal)">
                                      <p:cBhvr>
                                        <p:cTn id="11" dur="500"/>
                                        <p:tgtEl>
                                          <p:spTgt spid="357379">
                                            <p:txEl>
                                              <p:pRg st="0" end="0"/>
                                            </p:txEl>
                                          </p:spTgt>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57379">
                                            <p:txEl>
                                              <p:pRg st="1" end="1"/>
                                            </p:txEl>
                                          </p:spTgt>
                                        </p:tgtEl>
                                        <p:attrNameLst>
                                          <p:attrName>style.visibility</p:attrName>
                                        </p:attrNameLst>
                                      </p:cBhvr>
                                      <p:to>
                                        <p:strVal val="visible"/>
                                      </p:to>
                                    </p:set>
                                    <p:animEffect transition="in" filter="blinds(horizontal)">
                                      <p:cBhvr>
                                        <p:cTn id="15" dur="500"/>
                                        <p:tgtEl>
                                          <p:spTgt spid="357379">
                                            <p:txEl>
                                              <p:pRg st="1" end="1"/>
                                            </p:txEl>
                                          </p:spTgt>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57379">
                                            <p:txEl>
                                              <p:pRg st="2" end="2"/>
                                            </p:txEl>
                                          </p:spTgt>
                                        </p:tgtEl>
                                        <p:attrNameLst>
                                          <p:attrName>style.visibility</p:attrName>
                                        </p:attrNameLst>
                                      </p:cBhvr>
                                      <p:to>
                                        <p:strVal val="visible"/>
                                      </p:to>
                                    </p:set>
                                    <p:animEffect transition="in" filter="blinds(horizontal)">
                                      <p:cBhvr>
                                        <p:cTn id="19" dur="500"/>
                                        <p:tgtEl>
                                          <p:spTgt spid="3573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p:bldP spid="357379"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SoilHealth%201%209"/>
          <p:cNvPicPr>
            <a:picLocks noChangeAspect="1" noChangeArrowheads="1"/>
          </p:cNvPicPr>
          <p:nvPr/>
        </p:nvPicPr>
        <p:blipFill>
          <a:blip r:embed="rId3"/>
          <a:srcRect/>
          <a:stretch>
            <a:fillRect/>
          </a:stretch>
        </p:blipFill>
        <p:spPr bwMode="auto">
          <a:xfrm>
            <a:off x="5562600" y="1427163"/>
            <a:ext cx="3505200" cy="2992437"/>
          </a:xfrm>
          <a:prstGeom prst="rect">
            <a:avLst/>
          </a:prstGeom>
          <a:noFill/>
          <a:ln w="9525">
            <a:noFill/>
            <a:miter lim="800000"/>
            <a:headEnd/>
            <a:tailEnd/>
          </a:ln>
        </p:spPr>
      </p:pic>
      <p:grpSp>
        <p:nvGrpSpPr>
          <p:cNvPr id="2" name="Group 3"/>
          <p:cNvGrpSpPr>
            <a:grpSpLocks/>
          </p:cNvGrpSpPr>
          <p:nvPr/>
        </p:nvGrpSpPr>
        <p:grpSpPr bwMode="auto">
          <a:xfrm>
            <a:off x="152400" y="1371600"/>
            <a:ext cx="3581400" cy="3048000"/>
            <a:chOff x="96" y="624"/>
            <a:chExt cx="2160" cy="1608"/>
          </a:xfrm>
        </p:grpSpPr>
        <p:pic>
          <p:nvPicPr>
            <p:cNvPr id="14353" name="Picture 4" descr="PH02382J[1]1_small"/>
            <p:cNvPicPr>
              <a:picLocks noChangeAspect="1" noChangeArrowheads="1"/>
            </p:cNvPicPr>
            <p:nvPr/>
          </p:nvPicPr>
          <p:blipFill>
            <a:blip r:embed="rId4">
              <a:lum bright="12000"/>
            </a:blip>
            <a:srcRect/>
            <a:stretch>
              <a:fillRect/>
            </a:stretch>
          </p:blipFill>
          <p:spPr bwMode="auto">
            <a:xfrm>
              <a:off x="1157" y="1416"/>
              <a:ext cx="1099" cy="816"/>
            </a:xfrm>
            <a:prstGeom prst="rect">
              <a:avLst/>
            </a:prstGeom>
            <a:noFill/>
            <a:ln w="9525">
              <a:noFill/>
              <a:miter lim="800000"/>
              <a:headEnd/>
              <a:tailEnd/>
            </a:ln>
          </p:spPr>
        </p:pic>
        <p:pic>
          <p:nvPicPr>
            <p:cNvPr id="14354" name="Picture 5" descr="PH02382J[1]1_small"/>
            <p:cNvPicPr>
              <a:picLocks noChangeAspect="1" noChangeArrowheads="1"/>
            </p:cNvPicPr>
            <p:nvPr/>
          </p:nvPicPr>
          <p:blipFill>
            <a:blip r:embed="rId4">
              <a:lum bright="12000"/>
            </a:blip>
            <a:srcRect/>
            <a:stretch>
              <a:fillRect/>
            </a:stretch>
          </p:blipFill>
          <p:spPr bwMode="auto">
            <a:xfrm>
              <a:off x="1157" y="624"/>
              <a:ext cx="1099" cy="816"/>
            </a:xfrm>
            <a:prstGeom prst="rect">
              <a:avLst/>
            </a:prstGeom>
            <a:noFill/>
            <a:ln w="9525">
              <a:noFill/>
              <a:miter lim="800000"/>
              <a:headEnd/>
              <a:tailEnd/>
            </a:ln>
          </p:spPr>
        </p:pic>
        <p:pic>
          <p:nvPicPr>
            <p:cNvPr id="14355" name="Picture 6" descr="PH02382J[1]1_small"/>
            <p:cNvPicPr>
              <a:picLocks noChangeAspect="1" noChangeArrowheads="1"/>
            </p:cNvPicPr>
            <p:nvPr/>
          </p:nvPicPr>
          <p:blipFill>
            <a:blip r:embed="rId4">
              <a:lum bright="12000"/>
            </a:blip>
            <a:srcRect/>
            <a:stretch>
              <a:fillRect/>
            </a:stretch>
          </p:blipFill>
          <p:spPr bwMode="auto">
            <a:xfrm>
              <a:off x="96" y="1416"/>
              <a:ext cx="1099" cy="816"/>
            </a:xfrm>
            <a:prstGeom prst="rect">
              <a:avLst/>
            </a:prstGeom>
            <a:noFill/>
            <a:ln w="9525">
              <a:noFill/>
              <a:miter lim="800000"/>
              <a:headEnd/>
              <a:tailEnd/>
            </a:ln>
          </p:spPr>
        </p:pic>
        <p:pic>
          <p:nvPicPr>
            <p:cNvPr id="14356" name="Picture 7" descr="PH02382J[1]1_small"/>
            <p:cNvPicPr>
              <a:picLocks noChangeAspect="1" noChangeArrowheads="1"/>
            </p:cNvPicPr>
            <p:nvPr/>
          </p:nvPicPr>
          <p:blipFill>
            <a:blip r:embed="rId4">
              <a:lum bright="12000"/>
            </a:blip>
            <a:srcRect/>
            <a:stretch>
              <a:fillRect/>
            </a:stretch>
          </p:blipFill>
          <p:spPr bwMode="auto">
            <a:xfrm>
              <a:off x="96" y="624"/>
              <a:ext cx="1099" cy="816"/>
            </a:xfrm>
            <a:prstGeom prst="rect">
              <a:avLst/>
            </a:prstGeom>
            <a:noFill/>
            <a:ln w="9525">
              <a:noFill/>
              <a:miter lim="800000"/>
              <a:headEnd/>
              <a:tailEnd/>
            </a:ln>
          </p:spPr>
        </p:pic>
      </p:grpSp>
      <p:grpSp>
        <p:nvGrpSpPr>
          <p:cNvPr id="3" name="Group 8"/>
          <p:cNvGrpSpPr>
            <a:grpSpLocks/>
          </p:cNvGrpSpPr>
          <p:nvPr/>
        </p:nvGrpSpPr>
        <p:grpSpPr bwMode="auto">
          <a:xfrm>
            <a:off x="2590800" y="1031875"/>
            <a:ext cx="3889375" cy="3713163"/>
            <a:chOff x="1557" y="650"/>
            <a:chExt cx="2450" cy="2339"/>
          </a:xfrm>
        </p:grpSpPr>
        <p:sp>
          <p:nvSpPr>
            <p:cNvPr id="14346" name="Oval 9"/>
            <p:cNvSpPr>
              <a:spLocks noChangeArrowheads="1"/>
            </p:cNvSpPr>
            <p:nvPr/>
          </p:nvSpPr>
          <p:spPr bwMode="auto">
            <a:xfrm>
              <a:off x="1557" y="650"/>
              <a:ext cx="1528" cy="1522"/>
            </a:xfrm>
            <a:prstGeom prst="ellipse">
              <a:avLst/>
            </a:prstGeom>
            <a:solidFill>
              <a:srgbClr val="FFFF66">
                <a:alpha val="89803"/>
              </a:srgbClr>
            </a:solidFill>
            <a:ln w="9525">
              <a:solidFill>
                <a:srgbClr val="000000"/>
              </a:solidFill>
              <a:round/>
              <a:headEnd/>
              <a:tailEnd/>
            </a:ln>
          </p:spPr>
          <p:txBody>
            <a:bodyPr wrap="none" anchor="ctr"/>
            <a:lstStyle/>
            <a:p>
              <a:endParaRPr lang="en-US"/>
            </a:p>
          </p:txBody>
        </p:sp>
        <p:sp>
          <p:nvSpPr>
            <p:cNvPr id="14347" name="Oval 10"/>
            <p:cNvSpPr>
              <a:spLocks noChangeArrowheads="1"/>
            </p:cNvSpPr>
            <p:nvPr/>
          </p:nvSpPr>
          <p:spPr bwMode="auto">
            <a:xfrm>
              <a:off x="2024" y="1467"/>
              <a:ext cx="1528" cy="1522"/>
            </a:xfrm>
            <a:prstGeom prst="ellipse">
              <a:avLst/>
            </a:prstGeom>
            <a:solidFill>
              <a:srgbClr val="FF6600">
                <a:alpha val="89803"/>
              </a:srgbClr>
            </a:solidFill>
            <a:ln w="9525">
              <a:solidFill>
                <a:srgbClr val="000000"/>
              </a:solidFill>
              <a:round/>
              <a:headEnd/>
              <a:tailEnd/>
            </a:ln>
          </p:spPr>
          <p:txBody>
            <a:bodyPr wrap="none" anchor="ctr"/>
            <a:lstStyle/>
            <a:p>
              <a:endParaRPr lang="en-US"/>
            </a:p>
          </p:txBody>
        </p:sp>
        <p:sp>
          <p:nvSpPr>
            <p:cNvPr id="14348" name="Oval 11"/>
            <p:cNvSpPr>
              <a:spLocks noChangeArrowheads="1"/>
            </p:cNvSpPr>
            <p:nvPr/>
          </p:nvSpPr>
          <p:spPr bwMode="auto">
            <a:xfrm>
              <a:off x="2479" y="657"/>
              <a:ext cx="1528" cy="1522"/>
            </a:xfrm>
            <a:prstGeom prst="ellipse">
              <a:avLst/>
            </a:prstGeom>
            <a:solidFill>
              <a:srgbClr val="FF0000">
                <a:alpha val="89803"/>
              </a:srgbClr>
            </a:solidFill>
            <a:ln w="9525">
              <a:solidFill>
                <a:srgbClr val="000000"/>
              </a:solidFill>
              <a:round/>
              <a:headEnd/>
              <a:tailEnd/>
            </a:ln>
          </p:spPr>
          <p:txBody>
            <a:bodyPr wrap="none" anchor="ctr"/>
            <a:lstStyle/>
            <a:p>
              <a:endParaRPr lang="en-US"/>
            </a:p>
          </p:txBody>
        </p:sp>
        <p:sp>
          <p:nvSpPr>
            <p:cNvPr id="14349" name="Text Box 12"/>
            <p:cNvSpPr txBox="1">
              <a:spLocks noChangeArrowheads="1"/>
            </p:cNvSpPr>
            <p:nvPr/>
          </p:nvSpPr>
          <p:spPr bwMode="auto">
            <a:xfrm>
              <a:off x="1618" y="1196"/>
              <a:ext cx="795" cy="288"/>
            </a:xfrm>
            <a:prstGeom prst="rect">
              <a:avLst/>
            </a:prstGeom>
            <a:noFill/>
            <a:ln w="9525">
              <a:noFill/>
              <a:miter lim="800000"/>
              <a:headEnd/>
              <a:tailEnd/>
            </a:ln>
          </p:spPr>
          <p:txBody>
            <a:bodyPr wrap="none">
              <a:spAutoFit/>
            </a:bodyPr>
            <a:lstStyle/>
            <a:p>
              <a:r>
                <a:rPr lang="en-US" sz="2400" b="1">
                  <a:latin typeface="Franklin Gothic Medium" pitchFamily="34" charset="0"/>
                </a:rPr>
                <a:t>Physical</a:t>
              </a:r>
            </a:p>
          </p:txBody>
        </p:sp>
        <p:sp>
          <p:nvSpPr>
            <p:cNvPr id="14350" name="Text Box 13"/>
            <p:cNvSpPr txBox="1">
              <a:spLocks noChangeArrowheads="1"/>
            </p:cNvSpPr>
            <p:nvPr/>
          </p:nvSpPr>
          <p:spPr bwMode="auto">
            <a:xfrm>
              <a:off x="3049" y="1131"/>
              <a:ext cx="887" cy="288"/>
            </a:xfrm>
            <a:prstGeom prst="rect">
              <a:avLst/>
            </a:prstGeom>
            <a:noFill/>
            <a:ln w="9525">
              <a:noFill/>
              <a:miter lim="800000"/>
              <a:headEnd/>
              <a:tailEnd/>
            </a:ln>
          </p:spPr>
          <p:txBody>
            <a:bodyPr wrap="none">
              <a:spAutoFit/>
            </a:bodyPr>
            <a:lstStyle/>
            <a:p>
              <a:r>
                <a:rPr lang="en-US" sz="2400" b="1">
                  <a:solidFill>
                    <a:schemeClr val="bg1"/>
                  </a:solidFill>
                  <a:latin typeface="Franklin Gothic Medium" pitchFamily="34" charset="0"/>
                </a:rPr>
                <a:t>Chemical</a:t>
              </a:r>
            </a:p>
          </p:txBody>
        </p:sp>
        <p:sp>
          <p:nvSpPr>
            <p:cNvPr id="14351" name="Text Box 14"/>
            <p:cNvSpPr txBox="1">
              <a:spLocks noChangeArrowheads="1"/>
            </p:cNvSpPr>
            <p:nvPr/>
          </p:nvSpPr>
          <p:spPr bwMode="auto">
            <a:xfrm>
              <a:off x="2324" y="2336"/>
              <a:ext cx="919" cy="288"/>
            </a:xfrm>
            <a:prstGeom prst="rect">
              <a:avLst/>
            </a:prstGeom>
            <a:noFill/>
            <a:ln w="9525">
              <a:noFill/>
              <a:miter lim="800000"/>
              <a:headEnd/>
              <a:tailEnd/>
            </a:ln>
          </p:spPr>
          <p:txBody>
            <a:bodyPr wrap="none">
              <a:spAutoFit/>
            </a:bodyPr>
            <a:lstStyle/>
            <a:p>
              <a:r>
                <a:rPr lang="en-US" sz="2400" b="1">
                  <a:solidFill>
                    <a:schemeClr val="bg1"/>
                  </a:solidFill>
                  <a:latin typeface="Franklin Gothic Medium" pitchFamily="34" charset="0"/>
                </a:rPr>
                <a:t>Biological</a:t>
              </a:r>
            </a:p>
          </p:txBody>
        </p:sp>
        <p:sp>
          <p:nvSpPr>
            <p:cNvPr id="14352" name="Freeform 15"/>
            <p:cNvSpPr>
              <a:spLocks/>
            </p:cNvSpPr>
            <p:nvPr/>
          </p:nvSpPr>
          <p:spPr bwMode="auto">
            <a:xfrm>
              <a:off x="2484" y="1466"/>
              <a:ext cx="594" cy="570"/>
            </a:xfrm>
            <a:custGeom>
              <a:avLst/>
              <a:gdLst>
                <a:gd name="T0" fmla="*/ 11 w 594"/>
                <a:gd name="T1" fmla="*/ 58 h 570"/>
                <a:gd name="T2" fmla="*/ 86 w 594"/>
                <a:gd name="T3" fmla="*/ 31 h 570"/>
                <a:gd name="T4" fmla="*/ 155 w 594"/>
                <a:gd name="T5" fmla="*/ 15 h 570"/>
                <a:gd name="T6" fmla="*/ 225 w 594"/>
                <a:gd name="T7" fmla="*/ 5 h 570"/>
                <a:gd name="T8" fmla="*/ 304 w 594"/>
                <a:gd name="T9" fmla="*/ 0 h 570"/>
                <a:gd name="T10" fmla="*/ 374 w 594"/>
                <a:gd name="T11" fmla="*/ 5 h 570"/>
                <a:gd name="T12" fmla="*/ 414 w 594"/>
                <a:gd name="T13" fmla="*/ 7 h 570"/>
                <a:gd name="T14" fmla="*/ 489 w 594"/>
                <a:gd name="T15" fmla="*/ 20 h 570"/>
                <a:gd name="T16" fmla="*/ 561 w 594"/>
                <a:gd name="T17" fmla="*/ 45 h 570"/>
                <a:gd name="T18" fmla="*/ 590 w 594"/>
                <a:gd name="T19" fmla="*/ 56 h 570"/>
                <a:gd name="T20" fmla="*/ 588 w 594"/>
                <a:gd name="T21" fmla="*/ 79 h 570"/>
                <a:gd name="T22" fmla="*/ 563 w 594"/>
                <a:gd name="T23" fmla="*/ 172 h 570"/>
                <a:gd name="T24" fmla="*/ 534 w 594"/>
                <a:gd name="T25" fmla="*/ 260 h 570"/>
                <a:gd name="T26" fmla="*/ 486 w 594"/>
                <a:gd name="T27" fmla="*/ 354 h 570"/>
                <a:gd name="T28" fmla="*/ 425 w 594"/>
                <a:gd name="T29" fmla="*/ 432 h 570"/>
                <a:gd name="T30" fmla="*/ 348 w 594"/>
                <a:gd name="T31" fmla="*/ 509 h 570"/>
                <a:gd name="T32" fmla="*/ 283 w 594"/>
                <a:gd name="T33" fmla="*/ 565 h 570"/>
                <a:gd name="T34" fmla="*/ 249 w 594"/>
                <a:gd name="T35" fmla="*/ 541 h 570"/>
                <a:gd name="T36" fmla="*/ 187 w 594"/>
                <a:gd name="T37" fmla="*/ 474 h 570"/>
                <a:gd name="T38" fmla="*/ 113 w 594"/>
                <a:gd name="T39" fmla="*/ 370 h 570"/>
                <a:gd name="T40" fmla="*/ 49 w 594"/>
                <a:gd name="T41" fmla="*/ 239 h 570"/>
                <a:gd name="T42" fmla="*/ 20 w 594"/>
                <a:gd name="T43" fmla="*/ 132 h 570"/>
                <a:gd name="T44" fmla="*/ 11 w 594"/>
                <a:gd name="T45" fmla="*/ 58 h 5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94"/>
                <a:gd name="T70" fmla="*/ 0 h 570"/>
                <a:gd name="T71" fmla="*/ 594 w 594"/>
                <a:gd name="T72" fmla="*/ 570 h 57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94" h="570">
                  <a:moveTo>
                    <a:pt x="11" y="58"/>
                  </a:moveTo>
                  <a:cubicBezTo>
                    <a:pt x="22" y="41"/>
                    <a:pt x="62" y="38"/>
                    <a:pt x="86" y="31"/>
                  </a:cubicBezTo>
                  <a:cubicBezTo>
                    <a:pt x="110" y="24"/>
                    <a:pt x="132" y="19"/>
                    <a:pt x="155" y="15"/>
                  </a:cubicBezTo>
                  <a:cubicBezTo>
                    <a:pt x="178" y="11"/>
                    <a:pt x="200" y="8"/>
                    <a:pt x="225" y="5"/>
                  </a:cubicBezTo>
                  <a:cubicBezTo>
                    <a:pt x="250" y="2"/>
                    <a:pt x="279" y="0"/>
                    <a:pt x="304" y="0"/>
                  </a:cubicBezTo>
                  <a:cubicBezTo>
                    <a:pt x="329" y="0"/>
                    <a:pt x="356" y="4"/>
                    <a:pt x="374" y="5"/>
                  </a:cubicBezTo>
                  <a:cubicBezTo>
                    <a:pt x="392" y="6"/>
                    <a:pt x="395" y="5"/>
                    <a:pt x="414" y="7"/>
                  </a:cubicBezTo>
                  <a:cubicBezTo>
                    <a:pt x="433" y="9"/>
                    <a:pt x="465" y="14"/>
                    <a:pt x="489" y="20"/>
                  </a:cubicBezTo>
                  <a:cubicBezTo>
                    <a:pt x="513" y="26"/>
                    <a:pt x="544" y="39"/>
                    <a:pt x="561" y="45"/>
                  </a:cubicBezTo>
                  <a:cubicBezTo>
                    <a:pt x="578" y="51"/>
                    <a:pt x="586" y="50"/>
                    <a:pt x="590" y="56"/>
                  </a:cubicBezTo>
                  <a:cubicBezTo>
                    <a:pt x="594" y="62"/>
                    <a:pt x="592" y="60"/>
                    <a:pt x="588" y="79"/>
                  </a:cubicBezTo>
                  <a:cubicBezTo>
                    <a:pt x="584" y="98"/>
                    <a:pt x="572" y="142"/>
                    <a:pt x="563" y="172"/>
                  </a:cubicBezTo>
                  <a:cubicBezTo>
                    <a:pt x="554" y="202"/>
                    <a:pt x="547" y="230"/>
                    <a:pt x="534" y="260"/>
                  </a:cubicBezTo>
                  <a:cubicBezTo>
                    <a:pt x="521" y="290"/>
                    <a:pt x="504" y="325"/>
                    <a:pt x="486" y="354"/>
                  </a:cubicBezTo>
                  <a:cubicBezTo>
                    <a:pt x="468" y="383"/>
                    <a:pt x="448" y="406"/>
                    <a:pt x="425" y="432"/>
                  </a:cubicBezTo>
                  <a:cubicBezTo>
                    <a:pt x="402" y="458"/>
                    <a:pt x="372" y="487"/>
                    <a:pt x="348" y="509"/>
                  </a:cubicBezTo>
                  <a:cubicBezTo>
                    <a:pt x="324" y="531"/>
                    <a:pt x="299" y="560"/>
                    <a:pt x="283" y="565"/>
                  </a:cubicBezTo>
                  <a:cubicBezTo>
                    <a:pt x="267" y="570"/>
                    <a:pt x="265" y="556"/>
                    <a:pt x="249" y="541"/>
                  </a:cubicBezTo>
                  <a:cubicBezTo>
                    <a:pt x="233" y="526"/>
                    <a:pt x="210" y="502"/>
                    <a:pt x="187" y="474"/>
                  </a:cubicBezTo>
                  <a:cubicBezTo>
                    <a:pt x="164" y="446"/>
                    <a:pt x="136" y="409"/>
                    <a:pt x="113" y="370"/>
                  </a:cubicBezTo>
                  <a:cubicBezTo>
                    <a:pt x="90" y="331"/>
                    <a:pt x="64" y="279"/>
                    <a:pt x="49" y="239"/>
                  </a:cubicBezTo>
                  <a:cubicBezTo>
                    <a:pt x="34" y="199"/>
                    <a:pt x="26" y="162"/>
                    <a:pt x="20" y="132"/>
                  </a:cubicBezTo>
                  <a:cubicBezTo>
                    <a:pt x="14" y="102"/>
                    <a:pt x="0" y="75"/>
                    <a:pt x="11" y="58"/>
                  </a:cubicBezTo>
                  <a:close/>
                </a:path>
              </a:pathLst>
            </a:custGeom>
            <a:solidFill>
              <a:srgbClr val="785102">
                <a:alpha val="74901"/>
              </a:srgbClr>
            </a:solidFill>
            <a:ln w="9525">
              <a:solidFill>
                <a:srgbClr val="B17703"/>
              </a:solidFill>
              <a:round/>
              <a:headEnd/>
              <a:tailEnd/>
            </a:ln>
          </p:spPr>
          <p:txBody>
            <a:bodyPr/>
            <a:lstStyle/>
            <a:p>
              <a:endParaRPr lang="en-US"/>
            </a:p>
          </p:txBody>
        </p:sp>
      </p:grpSp>
      <p:grpSp>
        <p:nvGrpSpPr>
          <p:cNvPr id="4" name="Group 16"/>
          <p:cNvGrpSpPr>
            <a:grpSpLocks/>
          </p:cNvGrpSpPr>
          <p:nvPr/>
        </p:nvGrpSpPr>
        <p:grpSpPr bwMode="auto">
          <a:xfrm>
            <a:off x="3602038" y="2260600"/>
            <a:ext cx="1681162" cy="1016000"/>
            <a:chOff x="2430" y="1466"/>
            <a:chExt cx="1059" cy="640"/>
          </a:xfrm>
        </p:grpSpPr>
        <p:sp>
          <p:nvSpPr>
            <p:cNvPr id="14344" name="WordArt 17"/>
            <p:cNvSpPr>
              <a:spLocks noChangeArrowheads="1" noChangeShapeType="1" noTextEdit="1"/>
            </p:cNvSpPr>
            <p:nvPr/>
          </p:nvSpPr>
          <p:spPr bwMode="auto">
            <a:xfrm>
              <a:off x="2633" y="1466"/>
              <a:ext cx="592" cy="294"/>
            </a:xfrm>
            <a:prstGeom prst="rect">
              <a:avLst/>
            </a:prstGeom>
          </p:spPr>
          <p:txBody>
            <a:bodyPr wrap="none" fromWordArt="1">
              <a:prstTxWarp prst="textPlain">
                <a:avLst>
                  <a:gd name="adj" fmla="val 50000"/>
                </a:avLst>
              </a:prstTxWarp>
            </a:bodyPr>
            <a:lstStyle/>
            <a:p>
              <a:pPr algn="ctr"/>
              <a:r>
                <a:rPr lang="en-US" sz="3600" kern="10">
                  <a:ln w="15875">
                    <a:solidFill>
                      <a:srgbClr val="CC9864"/>
                    </a:solidFill>
                    <a:round/>
                    <a:headEnd/>
                    <a:tailEnd/>
                  </a:ln>
                  <a:blipFill dpi="0" rotWithShape="1">
                    <a:blip r:embed="rId5"/>
                    <a:srcRect/>
                    <a:tile tx="0" ty="0" sx="100000" sy="100000" flip="none" algn="tl"/>
                  </a:blipFill>
                  <a:effectLst>
                    <a:outerShdw dist="35921" dir="2700000" algn="ctr" rotWithShape="0">
                      <a:srgbClr val="80552A"/>
                    </a:outerShdw>
                  </a:effectLst>
                  <a:latin typeface="Arial Black"/>
                </a:rPr>
                <a:t>Soil</a:t>
              </a:r>
            </a:p>
          </p:txBody>
        </p:sp>
        <p:sp>
          <p:nvSpPr>
            <p:cNvPr id="14345" name="WordArt 18"/>
            <p:cNvSpPr>
              <a:spLocks noChangeArrowheads="1" noChangeShapeType="1" noTextEdit="1"/>
            </p:cNvSpPr>
            <p:nvPr/>
          </p:nvSpPr>
          <p:spPr bwMode="auto">
            <a:xfrm>
              <a:off x="2430" y="1812"/>
              <a:ext cx="1059" cy="294"/>
            </a:xfrm>
            <a:prstGeom prst="rect">
              <a:avLst/>
            </a:prstGeom>
          </p:spPr>
          <p:txBody>
            <a:bodyPr wrap="none" fromWordArt="1">
              <a:prstTxWarp prst="textPlain">
                <a:avLst>
                  <a:gd name="adj" fmla="val 50000"/>
                </a:avLst>
              </a:prstTxWarp>
            </a:bodyPr>
            <a:lstStyle/>
            <a:p>
              <a:pPr algn="ctr"/>
              <a:r>
                <a:rPr lang="en-US" sz="3600" kern="10">
                  <a:ln w="15875">
                    <a:solidFill>
                      <a:srgbClr val="CC9864"/>
                    </a:solidFill>
                    <a:round/>
                    <a:headEnd/>
                    <a:tailEnd/>
                  </a:ln>
                  <a:blipFill dpi="0" rotWithShape="1">
                    <a:blip r:embed="rId5"/>
                    <a:srcRect/>
                    <a:tile tx="0" ty="0" sx="100000" sy="100000" flip="none" algn="tl"/>
                  </a:blipFill>
                  <a:effectLst>
                    <a:outerShdw dist="35921" dir="2700000" algn="ctr" rotWithShape="0">
                      <a:srgbClr val="80552A"/>
                    </a:outerShdw>
                  </a:effectLst>
                  <a:latin typeface="Arial Black"/>
                </a:rPr>
                <a:t>Health</a:t>
              </a:r>
            </a:p>
          </p:txBody>
        </p:sp>
      </p:grpSp>
      <p:sp>
        <p:nvSpPr>
          <p:cNvPr id="295955" name="Text Box 19"/>
          <p:cNvSpPr txBox="1">
            <a:spLocks noChangeArrowheads="1"/>
          </p:cNvSpPr>
          <p:nvPr/>
        </p:nvSpPr>
        <p:spPr bwMode="auto">
          <a:xfrm>
            <a:off x="381000" y="152400"/>
            <a:ext cx="8382000" cy="701675"/>
          </a:xfrm>
          <a:prstGeom prst="rect">
            <a:avLst/>
          </a:prstGeom>
          <a:noFill/>
          <a:ln w="9525">
            <a:noFill/>
            <a:miter lim="800000"/>
            <a:headEnd/>
            <a:tailEnd/>
          </a:ln>
          <a:effectLst>
            <a:outerShdw dist="35921" dir="2700000" algn="ctr" rotWithShape="0">
              <a:schemeClr val="bg2"/>
            </a:outerShdw>
          </a:effectLst>
        </p:spPr>
        <p:txBody>
          <a:bodyPr>
            <a:spAutoFit/>
          </a:bodyPr>
          <a:lstStyle/>
          <a:p>
            <a:pPr>
              <a:defRPr/>
            </a:pPr>
            <a:r>
              <a:rPr lang="en-US" sz="4000">
                <a:solidFill>
                  <a:srgbClr val="FFFF66"/>
                </a:solidFill>
                <a:latin typeface="Arial" charset="0"/>
              </a:rPr>
              <a:t>Soil Health Concept</a:t>
            </a:r>
          </a:p>
        </p:txBody>
      </p:sp>
      <p:sp>
        <p:nvSpPr>
          <p:cNvPr id="295956" name="Text Box 20"/>
          <p:cNvSpPr txBox="1">
            <a:spLocks noChangeArrowheads="1"/>
          </p:cNvSpPr>
          <p:nvPr/>
        </p:nvSpPr>
        <p:spPr bwMode="auto">
          <a:xfrm>
            <a:off x="381000" y="5029200"/>
            <a:ext cx="8382000" cy="1373188"/>
          </a:xfrm>
          <a:prstGeom prst="rect">
            <a:avLst/>
          </a:prstGeom>
          <a:noFill/>
          <a:ln w="9525">
            <a:noFill/>
            <a:miter lim="800000"/>
            <a:headEnd/>
            <a:tailEnd/>
          </a:ln>
          <a:effectLst>
            <a:outerShdw dist="28398" dir="1593903" algn="ctr" rotWithShape="0">
              <a:srgbClr val="292929"/>
            </a:outerShdw>
          </a:effectLst>
        </p:spPr>
        <p:txBody>
          <a:bodyPr>
            <a:spAutoFit/>
          </a:bodyPr>
          <a:lstStyle/>
          <a:p>
            <a:pPr algn="ctr">
              <a:defRPr/>
            </a:pPr>
            <a:r>
              <a:rPr lang="en-US" sz="2800">
                <a:solidFill>
                  <a:schemeClr val="bg1"/>
                </a:solidFill>
                <a:latin typeface="Tahoma" pitchFamily="34" charset="0"/>
              </a:rPr>
              <a:t>Emphasizing the integration of biological with chemical and physical measures of soil quality</a:t>
            </a:r>
          </a:p>
          <a:p>
            <a:pPr algn="ctr">
              <a:defRPr/>
            </a:pPr>
            <a:r>
              <a:rPr lang="en-US" sz="2800">
                <a:solidFill>
                  <a:schemeClr val="bg1"/>
                </a:solidFill>
                <a:latin typeface="Tahoma" pitchFamily="34" charset="0"/>
              </a:rPr>
              <a:t>as they affect grower profits and the environment</a:t>
            </a: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8" descr="Soil_4"/>
          <p:cNvPicPr>
            <a:picLocks noChangeAspect="1" noChangeArrowheads="1"/>
          </p:cNvPicPr>
          <p:nvPr/>
        </p:nvPicPr>
        <p:blipFill>
          <a:blip r:embed="rId2">
            <a:lum bright="-40000" contrast="-38000"/>
          </a:blip>
          <a:srcRect/>
          <a:stretch>
            <a:fillRect/>
          </a:stretch>
        </p:blipFill>
        <p:spPr bwMode="auto">
          <a:xfrm>
            <a:off x="0" y="0"/>
            <a:ext cx="9144000" cy="6858000"/>
          </a:xfrm>
          <a:prstGeom prst="rect">
            <a:avLst/>
          </a:prstGeom>
          <a:noFill/>
          <a:ln w="9525">
            <a:noFill/>
            <a:miter lim="800000"/>
            <a:headEnd/>
            <a:tailEnd/>
          </a:ln>
        </p:spPr>
      </p:pic>
      <p:sp>
        <p:nvSpPr>
          <p:cNvPr id="238596" name="Rectangle 4"/>
          <p:cNvSpPr>
            <a:spLocks noGrp="1" noChangeArrowheads="1"/>
          </p:cNvSpPr>
          <p:nvPr>
            <p:ph type="title"/>
          </p:nvPr>
        </p:nvSpPr>
        <p:spPr>
          <a:xfrm>
            <a:off x="457200" y="274638"/>
            <a:ext cx="8229600" cy="901700"/>
          </a:xfrm>
          <a:effectLst>
            <a:outerShdw dist="35921" dir="2700000" algn="ctr" rotWithShape="0">
              <a:srgbClr val="5F5F5F"/>
            </a:outerShdw>
          </a:effectLst>
        </p:spPr>
        <p:txBody>
          <a:bodyPr/>
          <a:lstStyle/>
          <a:p>
            <a:pPr algn="l" eaLnBrk="1" hangingPunct="1">
              <a:defRPr/>
            </a:pPr>
            <a:r>
              <a:rPr lang="en-US" smtClean="0">
                <a:solidFill>
                  <a:srgbClr val="FFFF66"/>
                </a:solidFill>
              </a:rPr>
              <a:t>A healthy soil has....</a:t>
            </a:r>
          </a:p>
        </p:txBody>
      </p:sp>
      <p:sp>
        <p:nvSpPr>
          <p:cNvPr id="16388" name="Rectangle 6"/>
          <p:cNvSpPr>
            <a:spLocks noGrp="1" noChangeArrowheads="1"/>
          </p:cNvSpPr>
          <p:nvPr>
            <p:ph type="body" sz="half" idx="1"/>
          </p:nvPr>
        </p:nvSpPr>
        <p:spPr>
          <a:xfrm>
            <a:off x="333375" y="1417638"/>
            <a:ext cx="4297363" cy="4921250"/>
          </a:xfrm>
        </p:spPr>
        <p:txBody>
          <a:bodyPr/>
          <a:lstStyle/>
          <a:p>
            <a:pPr eaLnBrk="1" hangingPunct="1">
              <a:lnSpc>
                <a:spcPct val="80000"/>
              </a:lnSpc>
              <a:buClr>
                <a:srgbClr val="FFFF66"/>
              </a:buClr>
              <a:buFont typeface="Wingdings" pitchFamily="2" charset="2"/>
              <a:buChar char="ü"/>
            </a:pPr>
            <a:r>
              <a:rPr lang="en-US" sz="2600" smtClean="0">
                <a:solidFill>
                  <a:schemeClr val="bg1"/>
                </a:solidFill>
              </a:rPr>
              <a:t>Good soil tilth</a:t>
            </a:r>
          </a:p>
          <a:p>
            <a:pPr eaLnBrk="1" hangingPunct="1">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Sufficient depth</a:t>
            </a:r>
          </a:p>
          <a:p>
            <a:pPr eaLnBrk="1" hangingPunct="1">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Sufficient but not excess supply of nutrients</a:t>
            </a:r>
          </a:p>
          <a:p>
            <a:pPr eaLnBrk="1" hangingPunct="1">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Good soil drainage</a:t>
            </a:r>
          </a:p>
          <a:p>
            <a:pPr eaLnBrk="1" hangingPunct="1">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Low population of plant pathogens and other pests</a:t>
            </a:r>
          </a:p>
          <a:p>
            <a:pPr eaLnBrk="1" hangingPunct="1">
              <a:lnSpc>
                <a:spcPct val="80000"/>
              </a:lnSpc>
            </a:pPr>
            <a:endParaRPr lang="en-US" sz="2600" smtClean="0">
              <a:solidFill>
                <a:schemeClr val="bg1"/>
              </a:solidFill>
            </a:endParaRPr>
          </a:p>
        </p:txBody>
      </p:sp>
      <p:sp>
        <p:nvSpPr>
          <p:cNvPr id="16389" name="Rectangle 7"/>
          <p:cNvSpPr>
            <a:spLocks noGrp="1" noChangeArrowheads="1"/>
          </p:cNvSpPr>
          <p:nvPr>
            <p:ph type="body" sz="half" idx="2"/>
          </p:nvPr>
        </p:nvSpPr>
        <p:spPr>
          <a:xfrm>
            <a:off x="4648200" y="1323975"/>
            <a:ext cx="4192588" cy="5132388"/>
          </a:xfrm>
        </p:spPr>
        <p:txBody>
          <a:bodyPr/>
          <a:lstStyle/>
          <a:p>
            <a:pPr eaLnBrk="1" hangingPunct="1">
              <a:lnSpc>
                <a:spcPct val="80000"/>
              </a:lnSpc>
              <a:buClr>
                <a:srgbClr val="FFFF66"/>
              </a:buClr>
              <a:buFont typeface="Wingdings" pitchFamily="2" charset="2"/>
              <a:buChar char="ü"/>
            </a:pPr>
            <a:r>
              <a:rPr lang="en-US" sz="2600" smtClean="0">
                <a:solidFill>
                  <a:schemeClr val="bg1"/>
                </a:solidFill>
              </a:rPr>
              <a:t>High populations of beneficial organisms</a:t>
            </a:r>
          </a:p>
          <a:p>
            <a:pPr eaLnBrk="1" hangingPunct="1">
              <a:lnSpc>
                <a:spcPct val="30000"/>
              </a:lnSpc>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Low weed pressure</a:t>
            </a:r>
          </a:p>
          <a:p>
            <a:pPr eaLnBrk="1" hangingPunct="1">
              <a:lnSpc>
                <a:spcPct val="70000"/>
              </a:lnSpc>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Free of chemicals and toxins that may harm plants</a:t>
            </a:r>
          </a:p>
          <a:p>
            <a:pPr eaLnBrk="1" hangingPunct="1">
              <a:lnSpc>
                <a:spcPct val="80000"/>
              </a:lnSpc>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Resistant to degradation</a:t>
            </a:r>
          </a:p>
          <a:p>
            <a:pPr eaLnBrk="1" hangingPunct="1">
              <a:lnSpc>
                <a:spcPct val="90000"/>
              </a:lnSpc>
              <a:buClr>
                <a:srgbClr val="FFFF66"/>
              </a:buClr>
              <a:buFont typeface="Wingdings" pitchFamily="2" charset="2"/>
              <a:buChar char="ü"/>
            </a:pPr>
            <a:endParaRPr lang="en-US" sz="2600" smtClean="0">
              <a:solidFill>
                <a:schemeClr val="bg1"/>
              </a:solidFill>
            </a:endParaRPr>
          </a:p>
          <a:p>
            <a:pPr eaLnBrk="1" hangingPunct="1">
              <a:lnSpc>
                <a:spcPct val="80000"/>
              </a:lnSpc>
              <a:buClr>
                <a:srgbClr val="FFFF66"/>
              </a:buClr>
              <a:buFont typeface="Wingdings" pitchFamily="2" charset="2"/>
              <a:buChar char="ü"/>
            </a:pPr>
            <a:r>
              <a:rPr lang="en-US" sz="2600" smtClean="0">
                <a:solidFill>
                  <a:schemeClr val="bg1"/>
                </a:solidFill>
              </a:rPr>
              <a:t>Resilient when unfavorable conditions occur</a:t>
            </a: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rtlCol="0">
            <a:normAutofit/>
          </a:bodyPr>
          <a:lstStyle/>
          <a:p>
            <a:pPr eaLnBrk="1" fontAlgn="auto" hangingPunct="1">
              <a:spcAft>
                <a:spcPts val="0"/>
              </a:spcAft>
              <a:defRPr/>
            </a:pPr>
            <a:endParaRPr lang="en-US" dirty="0" smtClean="0"/>
          </a:p>
        </p:txBody>
      </p:sp>
      <p:sp>
        <p:nvSpPr>
          <p:cNvPr id="4098" name="Title 1"/>
          <p:cNvSpPr>
            <a:spLocks noGrp="1"/>
          </p:cNvSpPr>
          <p:nvPr>
            <p:ph type="ctrTitle"/>
          </p:nvPr>
        </p:nvSpPr>
        <p:spPr>
          <a:xfrm>
            <a:off x="2590800" y="381000"/>
            <a:ext cx="5867400" cy="1752600"/>
          </a:xfrm>
        </p:spPr>
        <p:txBody>
          <a:bodyPr/>
          <a:lstStyle/>
          <a:p>
            <a:pPr eaLnBrk="1" hangingPunct="1"/>
            <a:r>
              <a:rPr lang="en-US" dirty="0" smtClean="0"/>
              <a:t> Examples of some Important soil microbes</a:t>
            </a:r>
          </a:p>
        </p:txBody>
      </p:sp>
      <p:pic>
        <p:nvPicPr>
          <p:cNvPr id="4101" name="Picture 5"/>
          <p:cNvPicPr>
            <a:picLocks noChangeAspect="1" noChangeArrowheads="1"/>
          </p:cNvPicPr>
          <p:nvPr/>
        </p:nvPicPr>
        <p:blipFill>
          <a:blip r:embed="rId2"/>
          <a:srcRect/>
          <a:stretch>
            <a:fillRect/>
          </a:stretch>
        </p:blipFill>
        <p:spPr bwMode="auto">
          <a:xfrm>
            <a:off x="0" y="0"/>
            <a:ext cx="2362200" cy="2057400"/>
          </a:xfrm>
          <a:prstGeom prst="rect">
            <a:avLst/>
          </a:prstGeom>
          <a:noFill/>
          <a:ln w="9525">
            <a:noFill/>
            <a:miter lim="800000"/>
            <a:headEnd/>
            <a:tailEnd/>
          </a:ln>
          <a:effectLst/>
        </p:spPr>
      </p:pic>
      <p:pic>
        <p:nvPicPr>
          <p:cNvPr id="4102" name="Picture 6"/>
          <p:cNvPicPr>
            <a:picLocks noChangeAspect="1" noChangeArrowheads="1"/>
          </p:cNvPicPr>
          <p:nvPr/>
        </p:nvPicPr>
        <p:blipFill>
          <a:blip r:embed="rId3"/>
          <a:srcRect/>
          <a:stretch>
            <a:fillRect/>
          </a:stretch>
        </p:blipFill>
        <p:spPr bwMode="auto">
          <a:xfrm>
            <a:off x="6248400" y="3886200"/>
            <a:ext cx="2895600" cy="2971800"/>
          </a:xfrm>
          <a:prstGeom prst="rect">
            <a:avLst/>
          </a:prstGeom>
          <a:noFill/>
          <a:ln w="9525">
            <a:noFill/>
            <a:miter lim="800000"/>
            <a:headEnd/>
            <a:tailEnd/>
          </a:ln>
          <a:effectLst/>
        </p:spPr>
      </p:pic>
      <p:pic>
        <p:nvPicPr>
          <p:cNvPr id="4103" name="Picture 7"/>
          <p:cNvPicPr>
            <a:picLocks noChangeAspect="1" noChangeArrowheads="1"/>
          </p:cNvPicPr>
          <p:nvPr/>
        </p:nvPicPr>
        <p:blipFill>
          <a:blip r:embed="rId4"/>
          <a:srcRect/>
          <a:stretch>
            <a:fillRect/>
          </a:stretch>
        </p:blipFill>
        <p:spPr bwMode="auto">
          <a:xfrm>
            <a:off x="0" y="4191000"/>
            <a:ext cx="2933700" cy="2667000"/>
          </a:xfrm>
          <a:prstGeom prst="rect">
            <a:avLst/>
          </a:prstGeom>
          <a:noFill/>
          <a:ln w="9525">
            <a:noFill/>
            <a:miter lim="800000"/>
            <a:headEnd/>
            <a:tailEnd/>
          </a:ln>
          <a:effec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ko-KR" smtClean="0">
                <a:ea typeface="Gulim" pitchFamily="34" charset="-127"/>
              </a:rPr>
              <a:t>Endospore-Forming Gram-Positive Bacteria</a:t>
            </a:r>
          </a:p>
        </p:txBody>
      </p:sp>
      <p:sp>
        <p:nvSpPr>
          <p:cNvPr id="5123" name="Rectangle 3"/>
          <p:cNvSpPr>
            <a:spLocks noGrp="1" noChangeArrowheads="1"/>
          </p:cNvSpPr>
          <p:nvPr>
            <p:ph idx="1"/>
          </p:nvPr>
        </p:nvSpPr>
        <p:spPr/>
        <p:txBody>
          <a:bodyPr/>
          <a:lstStyle/>
          <a:p>
            <a:pPr eaLnBrk="1" hangingPunct="1"/>
            <a:endParaRPr lang="ko-KR" altLang="en-US" sz="2300" smtClean="0">
              <a:latin typeface="Arial" pitchFamily="34" charset="0"/>
              <a:ea typeface="Gulim" pitchFamily="34" charset="-127"/>
            </a:endParaRPr>
          </a:p>
          <a:p>
            <a:pPr eaLnBrk="1" hangingPunct="1"/>
            <a:r>
              <a:rPr lang="en-US" altLang="ko-KR" sz="2700" smtClean="0">
                <a:latin typeface="Arial" pitchFamily="34" charset="0"/>
                <a:ea typeface="Gulim" pitchFamily="34" charset="-127"/>
              </a:rPr>
              <a:t>Key Genera: </a:t>
            </a:r>
            <a:r>
              <a:rPr lang="en-US" altLang="ko-KR" sz="2700" i="1" smtClean="0">
                <a:latin typeface="Arial" pitchFamily="34" charset="0"/>
                <a:ea typeface="Gulim" pitchFamily="34" charset="-127"/>
              </a:rPr>
              <a:t>Bacillus, Clostridium, Sporosarcina, Heliobacterium</a:t>
            </a:r>
          </a:p>
          <a:p>
            <a:pPr lvl="1" eaLnBrk="1" hangingPunct="1"/>
            <a:r>
              <a:rPr lang="en-US" altLang="ko-KR" sz="2300" smtClean="0">
                <a:latin typeface="Arial" pitchFamily="34" charset="0"/>
                <a:ea typeface="Gulim" pitchFamily="34" charset="-127"/>
              </a:rPr>
              <a:t>Distinguished on the basis of cell morphology, shape and cellular position of endospore</a:t>
            </a:r>
          </a:p>
          <a:p>
            <a:pPr lvl="1" eaLnBrk="1" hangingPunct="1"/>
            <a:r>
              <a:rPr lang="en-US" altLang="ko-KR" sz="2300" smtClean="0">
                <a:latin typeface="Arial" pitchFamily="34" charset="0"/>
                <a:ea typeface="Gulim" pitchFamily="34" charset="-127"/>
              </a:rPr>
              <a:t>Generally found in soils</a:t>
            </a:r>
          </a:p>
          <a:p>
            <a:pPr lvl="1" eaLnBrk="1" hangingPunct="1"/>
            <a:r>
              <a:rPr lang="en-US" altLang="ko-KR" sz="2300" smtClean="0">
                <a:latin typeface="Arial" pitchFamily="34" charset="0"/>
                <a:ea typeface="Gulim" pitchFamily="34" charset="-127"/>
              </a:rPr>
              <a:t>Endospores are advantageous for soil microorganisms</a:t>
            </a:r>
          </a:p>
        </p:txBody>
      </p:sp>
      <p:pic>
        <p:nvPicPr>
          <p:cNvPr id="5125" name="Picture 5"/>
          <p:cNvPicPr>
            <a:picLocks noChangeAspect="1" noChangeArrowheads="1"/>
          </p:cNvPicPr>
          <p:nvPr/>
        </p:nvPicPr>
        <p:blipFill>
          <a:blip r:embed="rId3"/>
          <a:srcRect/>
          <a:stretch>
            <a:fillRect/>
          </a:stretch>
        </p:blipFill>
        <p:spPr bwMode="auto">
          <a:xfrm>
            <a:off x="6248400" y="4648200"/>
            <a:ext cx="2895600" cy="2209800"/>
          </a:xfrm>
          <a:prstGeom prst="rect">
            <a:avLst/>
          </a:prstGeom>
          <a:noFill/>
          <a:ln w="9525">
            <a:noFill/>
            <a:miter lim="800000"/>
            <a:headEnd/>
            <a:tailEnd/>
          </a:ln>
          <a:effec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ko-KR" smtClean="0">
                <a:ea typeface="Gulim" pitchFamily="34" charset="-127"/>
              </a:rPr>
              <a:t>Endospore-Forming Gram-Positive Bacteria</a:t>
            </a:r>
          </a:p>
        </p:txBody>
      </p:sp>
      <p:sp>
        <p:nvSpPr>
          <p:cNvPr id="7171" name="Rectangle 3"/>
          <p:cNvSpPr>
            <a:spLocks noGrp="1" noChangeArrowheads="1"/>
          </p:cNvSpPr>
          <p:nvPr>
            <p:ph idx="1"/>
          </p:nvPr>
        </p:nvSpPr>
        <p:spPr/>
        <p:txBody>
          <a:bodyPr/>
          <a:lstStyle/>
          <a:p>
            <a:pPr eaLnBrk="1" hangingPunct="1"/>
            <a:endParaRPr lang="ko-KR" altLang="en-US" sz="2300" smtClean="0">
              <a:latin typeface="Arial" pitchFamily="34" charset="0"/>
              <a:ea typeface="Gulim" pitchFamily="34" charset="-127"/>
            </a:endParaRPr>
          </a:p>
          <a:p>
            <a:pPr eaLnBrk="1" hangingPunct="1"/>
            <a:r>
              <a:rPr lang="en-US" altLang="ko-KR" sz="2700" i="1" smtClean="0">
                <a:latin typeface="Arial" pitchFamily="34" charset="0"/>
                <a:ea typeface="Gulim" pitchFamily="34" charset="-127"/>
              </a:rPr>
              <a:t>Bacillus and Paenibacillus</a:t>
            </a:r>
            <a:r>
              <a:rPr lang="en-US" altLang="ko-KR" sz="2700" smtClean="0">
                <a:latin typeface="Arial" pitchFamily="34" charset="0"/>
                <a:ea typeface="Gulim" pitchFamily="34" charset="-127"/>
              </a:rPr>
              <a:t> </a:t>
            </a:r>
          </a:p>
          <a:p>
            <a:pPr lvl="1" eaLnBrk="1" hangingPunct="1"/>
            <a:r>
              <a:rPr lang="en-US" altLang="ko-KR" sz="2300" smtClean="0">
                <a:latin typeface="Arial" pitchFamily="34" charset="0"/>
                <a:ea typeface="Gulim" pitchFamily="34" charset="-127"/>
              </a:rPr>
              <a:t>Many produce </a:t>
            </a:r>
            <a:r>
              <a:rPr lang="en-US" altLang="ko-KR" sz="2300" u="sng" smtClean="0">
                <a:latin typeface="Arial" pitchFamily="34" charset="0"/>
                <a:ea typeface="Gulim" pitchFamily="34" charset="-127"/>
              </a:rPr>
              <a:t>extracellular hydrolytic enzymes</a:t>
            </a:r>
            <a:r>
              <a:rPr lang="en-US" altLang="ko-KR" sz="2300" smtClean="0">
                <a:latin typeface="Arial" pitchFamily="34" charset="0"/>
                <a:ea typeface="Gulim" pitchFamily="34" charset="-127"/>
              </a:rPr>
              <a:t> that break down polymers</a:t>
            </a:r>
          </a:p>
          <a:p>
            <a:pPr lvl="1" eaLnBrk="1" hangingPunct="1"/>
            <a:r>
              <a:rPr lang="en-US" altLang="ko-KR" sz="2300" smtClean="0">
                <a:latin typeface="Arial" pitchFamily="34" charset="0"/>
                <a:ea typeface="Gulim" pitchFamily="34" charset="-127"/>
              </a:rPr>
              <a:t>Many bacilli produce </a:t>
            </a:r>
            <a:r>
              <a:rPr lang="en-US" altLang="ko-KR" sz="2300" smtClean="0">
                <a:solidFill>
                  <a:schemeClr val="hlink"/>
                </a:solidFill>
                <a:latin typeface="Arial" pitchFamily="34" charset="0"/>
                <a:ea typeface="Gulim" pitchFamily="34" charset="-127"/>
              </a:rPr>
              <a:t>antibiotics</a:t>
            </a:r>
          </a:p>
          <a:p>
            <a:pPr lvl="1" eaLnBrk="1" hangingPunct="1"/>
            <a:r>
              <a:rPr lang="en-US" altLang="ko-KR" sz="2300" i="1" smtClean="0">
                <a:latin typeface="Arial" pitchFamily="34" charset="0"/>
                <a:ea typeface="Gulim" pitchFamily="34" charset="-127"/>
              </a:rPr>
              <a:t>Paenibacillus popilliae</a:t>
            </a:r>
            <a:r>
              <a:rPr lang="en-US" altLang="ko-KR" sz="2300" smtClean="0">
                <a:latin typeface="Arial" pitchFamily="34" charset="0"/>
                <a:ea typeface="Gulim" pitchFamily="34" charset="-127"/>
              </a:rPr>
              <a:t> and </a:t>
            </a:r>
            <a:r>
              <a:rPr lang="en-US" altLang="ko-KR" sz="2300" i="1" smtClean="0">
                <a:latin typeface="Arial" pitchFamily="34" charset="0"/>
                <a:ea typeface="Gulim" pitchFamily="34" charset="-127"/>
              </a:rPr>
              <a:t>Bacillus thuringiensis</a:t>
            </a:r>
            <a:r>
              <a:rPr lang="en-US" altLang="ko-KR" sz="2300" smtClean="0">
                <a:latin typeface="Arial" pitchFamily="34" charset="0"/>
                <a:ea typeface="Gulim" pitchFamily="34" charset="-127"/>
              </a:rPr>
              <a:t> produce </a:t>
            </a:r>
            <a:r>
              <a:rPr lang="en-US" altLang="ko-KR" sz="2300" smtClean="0">
                <a:solidFill>
                  <a:schemeClr val="hlink"/>
                </a:solidFill>
                <a:latin typeface="Arial" pitchFamily="34" charset="0"/>
                <a:ea typeface="Gulim" pitchFamily="34" charset="-127"/>
              </a:rPr>
              <a:t>insect larvicides</a:t>
            </a:r>
            <a:r>
              <a:rPr lang="en-US" altLang="ko-KR" sz="2300" smtClean="0">
                <a:latin typeface="Arial" pitchFamily="34" charset="0"/>
                <a:ea typeface="Gulim" pitchFamily="34" charset="-127"/>
              </a:rPr>
              <a:t> </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ko-KR" smtClean="0">
                <a:ea typeface="Gulim" pitchFamily="34" charset="-127"/>
              </a:rPr>
              <a:t>Endospore-Forming Gram-Positive Bacteria</a:t>
            </a:r>
          </a:p>
        </p:txBody>
      </p:sp>
      <p:sp>
        <p:nvSpPr>
          <p:cNvPr id="10243" name="Rectangle 3"/>
          <p:cNvSpPr>
            <a:spLocks noGrp="1" noChangeArrowheads="1"/>
          </p:cNvSpPr>
          <p:nvPr>
            <p:ph idx="1"/>
          </p:nvPr>
        </p:nvSpPr>
        <p:spPr>
          <a:xfrm>
            <a:off x="296863" y="1600200"/>
            <a:ext cx="8847137" cy="5257800"/>
          </a:xfrm>
        </p:spPr>
        <p:txBody>
          <a:bodyPr/>
          <a:lstStyle/>
          <a:p>
            <a:pPr eaLnBrk="1" hangingPunct="1"/>
            <a:r>
              <a:rPr lang="en-US" altLang="ko-KR" sz="2700" i="1" smtClean="0">
                <a:latin typeface="Arial" pitchFamily="34" charset="0"/>
                <a:ea typeface="Gulim" pitchFamily="34" charset="-127"/>
              </a:rPr>
              <a:t>Clostridium</a:t>
            </a:r>
            <a:endParaRPr lang="en-US" altLang="ko-KR" sz="2700" smtClean="0">
              <a:latin typeface="Arial" pitchFamily="34" charset="0"/>
              <a:ea typeface="Gulim" pitchFamily="34" charset="-127"/>
            </a:endParaRPr>
          </a:p>
          <a:p>
            <a:pPr lvl="1" eaLnBrk="1" hangingPunct="1"/>
            <a:r>
              <a:rPr lang="en-US" altLang="ko-KR" sz="2300" smtClean="0">
                <a:latin typeface="Arial" pitchFamily="34" charset="0"/>
                <a:ea typeface="Gulim" pitchFamily="34" charset="-127"/>
              </a:rPr>
              <a:t>Lack a respiratory chain, anaerobic</a:t>
            </a:r>
          </a:p>
          <a:p>
            <a:pPr lvl="1" eaLnBrk="1" hangingPunct="1"/>
            <a:r>
              <a:rPr lang="en-US" altLang="ko-KR" sz="2300" smtClean="0">
                <a:latin typeface="Arial" pitchFamily="34" charset="0"/>
                <a:ea typeface="Gulim" pitchFamily="34" charset="-127"/>
              </a:rPr>
              <a:t>Some </a:t>
            </a:r>
            <a:r>
              <a:rPr lang="en-US" altLang="ko-KR" sz="2300" i="1" smtClean="0">
                <a:latin typeface="Arial" pitchFamily="34" charset="0"/>
                <a:ea typeface="Gulim" pitchFamily="34" charset="-127"/>
              </a:rPr>
              <a:t>Clostridia</a:t>
            </a:r>
            <a:r>
              <a:rPr lang="en-US" altLang="ko-KR" sz="2300" smtClean="0">
                <a:latin typeface="Arial" pitchFamily="34" charset="0"/>
                <a:ea typeface="Gulim" pitchFamily="34" charset="-127"/>
              </a:rPr>
              <a:t> perform </a:t>
            </a:r>
            <a:r>
              <a:rPr lang="en-US" altLang="ko-KR" sz="2300" smtClean="0">
                <a:solidFill>
                  <a:schemeClr val="hlink"/>
                </a:solidFill>
                <a:latin typeface="Arial" pitchFamily="34" charset="0"/>
                <a:ea typeface="Gulim" pitchFamily="34" charset="-127"/>
              </a:rPr>
              <a:t>Stickland reactions</a:t>
            </a:r>
          </a:p>
          <a:p>
            <a:pPr lvl="2" eaLnBrk="1" hangingPunct="1"/>
            <a:r>
              <a:rPr lang="en-US" altLang="ko-KR" sz="2200" smtClean="0">
                <a:latin typeface="Arial" pitchFamily="34" charset="0"/>
                <a:ea typeface="Gulim" pitchFamily="34" charset="-127"/>
              </a:rPr>
              <a:t>Metabolism of pair of amino acids</a:t>
            </a:r>
          </a:p>
          <a:p>
            <a:pPr lvl="1" eaLnBrk="1" hangingPunct="1"/>
            <a:r>
              <a:rPr lang="en-US" altLang="ko-KR" sz="2300" smtClean="0">
                <a:latin typeface="Arial" pitchFamily="34" charset="0"/>
                <a:ea typeface="Gulim" pitchFamily="34" charset="-127"/>
              </a:rPr>
              <a:t>Mainly found in anaerobic pockets in the soil</a:t>
            </a:r>
          </a:p>
          <a:p>
            <a:pPr lvl="2" eaLnBrk="1" hangingPunct="1"/>
            <a:r>
              <a:rPr lang="en-US" altLang="ko-KR" sz="2200" smtClean="0">
                <a:latin typeface="Arial" pitchFamily="34" charset="0"/>
                <a:ea typeface="Gulim" pitchFamily="34" charset="-127"/>
              </a:rPr>
              <a:t>Also live in mammalian intestinal tract</a:t>
            </a:r>
          </a:p>
          <a:p>
            <a:pPr lvl="1" eaLnBrk="1" hangingPunct="1"/>
            <a:r>
              <a:rPr lang="en-US" altLang="ko-KR" sz="2300" smtClean="0">
                <a:latin typeface="Arial" pitchFamily="34" charset="0"/>
                <a:ea typeface="Gulim" pitchFamily="34" charset="-127"/>
              </a:rPr>
              <a:t>Some are pathogenic; cause diseases such as </a:t>
            </a:r>
            <a:r>
              <a:rPr lang="en-US" altLang="ko-KR" sz="2300" smtClean="0">
                <a:solidFill>
                  <a:schemeClr val="hlink"/>
                </a:solidFill>
                <a:latin typeface="Arial" pitchFamily="34" charset="0"/>
                <a:ea typeface="Gulim" pitchFamily="34" charset="-127"/>
              </a:rPr>
              <a:t>botulism</a:t>
            </a:r>
            <a:r>
              <a:rPr lang="en-US" altLang="ko-KR" sz="2300" smtClean="0">
                <a:latin typeface="Arial" pitchFamily="34" charset="0"/>
                <a:ea typeface="Gulim" pitchFamily="34" charset="-127"/>
              </a:rPr>
              <a:t>, </a:t>
            </a:r>
            <a:r>
              <a:rPr lang="en-US" altLang="ko-KR" sz="2300" smtClean="0">
                <a:solidFill>
                  <a:schemeClr val="hlink"/>
                </a:solidFill>
                <a:latin typeface="Arial" pitchFamily="34" charset="0"/>
                <a:ea typeface="Gulim" pitchFamily="34" charset="-127"/>
              </a:rPr>
              <a:t>tetanus</a:t>
            </a:r>
            <a:r>
              <a:rPr lang="en-US" altLang="ko-KR" sz="2300" smtClean="0">
                <a:latin typeface="Arial" pitchFamily="34" charset="0"/>
                <a:ea typeface="Gulim" pitchFamily="34" charset="-127"/>
              </a:rPr>
              <a:t>, and </a:t>
            </a:r>
            <a:r>
              <a:rPr lang="en-US" altLang="ko-KR" sz="2300" smtClean="0">
                <a:solidFill>
                  <a:schemeClr val="hlink"/>
                </a:solidFill>
                <a:latin typeface="Arial" pitchFamily="34" charset="0"/>
                <a:ea typeface="Gulim" pitchFamily="34" charset="-127"/>
              </a:rPr>
              <a:t>gas</a:t>
            </a:r>
            <a:r>
              <a:rPr lang="en-US" altLang="ko-KR" sz="2300" smtClean="0">
                <a:latin typeface="Arial" pitchFamily="34" charset="0"/>
                <a:ea typeface="Gulim" pitchFamily="34" charset="-127"/>
              </a:rPr>
              <a:t> </a:t>
            </a:r>
            <a:r>
              <a:rPr lang="en-US" altLang="ko-KR" sz="2300" smtClean="0">
                <a:solidFill>
                  <a:schemeClr val="hlink"/>
                </a:solidFill>
                <a:latin typeface="Arial" pitchFamily="34" charset="0"/>
                <a:ea typeface="Gulim" pitchFamily="34" charset="-127"/>
              </a:rPr>
              <a:t>gangrene</a:t>
            </a:r>
            <a:r>
              <a:rPr lang="en-US" altLang="ko-KR" sz="2300" smtClean="0">
                <a:latin typeface="Arial" pitchFamily="34" charset="0"/>
                <a:ea typeface="Gulim" pitchFamily="34" charset="-127"/>
              </a:rPr>
              <a:t> </a:t>
            </a:r>
          </a:p>
        </p:txBody>
      </p:sp>
      <p:pic>
        <p:nvPicPr>
          <p:cNvPr id="10245" name="Picture 5"/>
          <p:cNvPicPr>
            <a:picLocks noChangeAspect="1" noChangeArrowheads="1"/>
          </p:cNvPicPr>
          <p:nvPr/>
        </p:nvPicPr>
        <p:blipFill>
          <a:blip r:embed="rId3"/>
          <a:srcRect/>
          <a:stretch>
            <a:fillRect/>
          </a:stretch>
        </p:blipFill>
        <p:spPr bwMode="auto">
          <a:xfrm>
            <a:off x="6705600" y="4772025"/>
            <a:ext cx="2438400" cy="2085975"/>
          </a:xfrm>
          <a:prstGeom prst="rect">
            <a:avLst/>
          </a:prstGeom>
          <a:noFill/>
          <a:ln w="9525">
            <a:noFill/>
            <a:miter lim="800000"/>
            <a:headEnd/>
            <a:tailEnd/>
          </a:ln>
          <a:effectLst/>
        </p:spPr>
      </p:pic>
      <p:sp>
        <p:nvSpPr>
          <p:cNvPr id="10246" name="Rectangle 6"/>
          <p:cNvSpPr>
            <a:spLocks noChangeArrowheads="1"/>
          </p:cNvSpPr>
          <p:nvPr/>
        </p:nvSpPr>
        <p:spPr bwMode="auto">
          <a:xfrm>
            <a:off x="4343400" y="5715000"/>
            <a:ext cx="2212975" cy="641350"/>
          </a:xfrm>
          <a:prstGeom prst="rect">
            <a:avLst/>
          </a:prstGeom>
          <a:noFill/>
          <a:ln w="9525">
            <a:noFill/>
            <a:miter lim="800000"/>
            <a:headEnd/>
            <a:tailEnd/>
          </a:ln>
          <a:effectLst/>
        </p:spPr>
        <p:txBody>
          <a:bodyPr anchor="ctr">
            <a:spAutoFit/>
          </a:bodyPr>
          <a:lstStyle/>
          <a:p>
            <a:pPr eaLnBrk="0" hangingPunct="0"/>
            <a:r>
              <a:rPr lang="en-US" i="1"/>
              <a:t>Clostridium botulinum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i="1">
                <a:solidFill>
                  <a:srgbClr val="404040"/>
                </a:solidFill>
                <a:latin typeface="Arial Narrow" pitchFamily="34" charset="0"/>
                <a:ea typeface="Gulim" pitchFamily="34" charset="-127"/>
              </a:rPr>
              <a:t>Clostridium</a:t>
            </a:r>
            <a:r>
              <a:rPr lang="en-US" altLang="ko-KR" sz="2900" b="1">
                <a:solidFill>
                  <a:srgbClr val="404040"/>
                </a:solidFill>
                <a:latin typeface="Arial Narrow" pitchFamily="34" charset="0"/>
                <a:ea typeface="Gulim" pitchFamily="34" charset="-127"/>
              </a:rPr>
              <a:t> Species and Endospore Location</a:t>
            </a:r>
          </a:p>
        </p:txBody>
      </p:sp>
      <p:sp>
        <p:nvSpPr>
          <p:cNvPr id="12291" name="Text Box 4"/>
          <p:cNvSpPr txBox="1">
            <a:spLocks noChangeArrowheads="1"/>
          </p:cNvSpPr>
          <p:nvPr/>
        </p:nvSpPr>
        <p:spPr bwMode="auto">
          <a:xfrm>
            <a:off x="7889875" y="6107113"/>
            <a:ext cx="908050" cy="252412"/>
          </a:xfrm>
          <a:prstGeom prst="rect">
            <a:avLst/>
          </a:prstGeom>
          <a:noFill/>
          <a:ln w="9525">
            <a:noFill/>
            <a:miter lim="800000"/>
            <a:headEnd/>
            <a:tailEnd/>
          </a:ln>
        </p:spPr>
        <p:txBody>
          <a:bodyPr lIns="82058" tIns="41029" rIns="82058" bIns="41029">
            <a:spAutoFit/>
          </a:bodyPr>
          <a:lstStyle/>
          <a:p>
            <a:pPr algn="r" eaLnBrk="0" hangingPunct="0"/>
            <a:r>
              <a:rPr lang="en-US" altLang="ko-KR" sz="1100">
                <a:ea typeface="Gulim" pitchFamily="34" charset="-127"/>
              </a:rPr>
              <a:t>Figure 16.5 </a:t>
            </a:r>
          </a:p>
        </p:txBody>
      </p:sp>
      <p:pic>
        <p:nvPicPr>
          <p:cNvPr id="12292" name="Picture 5" descr="16_05Figure-L"/>
          <p:cNvPicPr>
            <a:picLocks noChangeAspect="1" noChangeArrowheads="1"/>
          </p:cNvPicPr>
          <p:nvPr/>
        </p:nvPicPr>
        <p:blipFill>
          <a:blip r:embed="rId3"/>
          <a:srcRect b="5630"/>
          <a:stretch>
            <a:fillRect/>
          </a:stretch>
        </p:blipFill>
        <p:spPr bwMode="auto">
          <a:xfrm>
            <a:off x="373063" y="2124075"/>
            <a:ext cx="8396287" cy="2638425"/>
          </a:xfrm>
          <a:prstGeom prst="rect">
            <a:avLst/>
          </a:prstGeom>
          <a:noFill/>
          <a:ln w="9525">
            <a:noFill/>
            <a:miter lim="800000"/>
            <a:headEnd/>
            <a:tailEnd/>
          </a:ln>
        </p:spPr>
      </p:pic>
      <p:sp>
        <p:nvSpPr>
          <p:cNvPr id="12293" name="Text Box 7"/>
          <p:cNvSpPr txBox="1">
            <a:spLocks noChangeArrowheads="1"/>
          </p:cNvSpPr>
          <p:nvPr/>
        </p:nvSpPr>
        <p:spPr bwMode="auto">
          <a:xfrm>
            <a:off x="774700" y="4364038"/>
            <a:ext cx="1962150" cy="498475"/>
          </a:xfrm>
          <a:prstGeom prst="rect">
            <a:avLst/>
          </a:prstGeom>
          <a:noFill/>
          <a:ln w="9525">
            <a:noFill/>
            <a:miter lim="800000"/>
            <a:headEnd/>
            <a:tailEnd/>
          </a:ln>
        </p:spPr>
        <p:txBody>
          <a:bodyPr wrap="none" lIns="82058" tIns="41029" rIns="82058" bIns="41029">
            <a:spAutoFit/>
          </a:bodyPr>
          <a:lstStyle/>
          <a:p>
            <a:r>
              <a:rPr lang="en-US" altLang="ko-KR" sz="1300" b="1" i="1">
                <a:ea typeface="Gulim" pitchFamily="34" charset="-127"/>
              </a:rPr>
              <a:t>Clostridium cadaveris</a:t>
            </a:r>
          </a:p>
          <a:p>
            <a:r>
              <a:rPr lang="en-US" altLang="ko-KR" sz="1300" b="1">
                <a:ea typeface="Gulim" pitchFamily="34" charset="-127"/>
              </a:rPr>
              <a:t>Terminal endospores</a:t>
            </a:r>
          </a:p>
        </p:txBody>
      </p:sp>
      <p:sp>
        <p:nvSpPr>
          <p:cNvPr id="12294" name="Text Box 8"/>
          <p:cNvSpPr txBox="1">
            <a:spLocks noChangeArrowheads="1"/>
          </p:cNvSpPr>
          <p:nvPr/>
        </p:nvSpPr>
        <p:spPr bwMode="auto">
          <a:xfrm>
            <a:off x="3679825" y="4364038"/>
            <a:ext cx="2127250" cy="484187"/>
          </a:xfrm>
          <a:prstGeom prst="rect">
            <a:avLst/>
          </a:prstGeom>
          <a:noFill/>
          <a:ln w="9525">
            <a:noFill/>
            <a:miter lim="800000"/>
            <a:headEnd/>
            <a:tailEnd/>
          </a:ln>
        </p:spPr>
        <p:txBody>
          <a:bodyPr wrap="none" lIns="82058" tIns="41029" rIns="82058" bIns="41029">
            <a:spAutoFit/>
          </a:bodyPr>
          <a:lstStyle/>
          <a:p>
            <a:r>
              <a:rPr lang="en-US" altLang="ko-KR" sz="1300" b="1" i="1">
                <a:ea typeface="Gulim" pitchFamily="34" charset="-127"/>
              </a:rPr>
              <a:t>Clostridium sporogenes</a:t>
            </a:r>
          </a:p>
          <a:p>
            <a:r>
              <a:rPr lang="en-US" altLang="ko-KR" sz="1300" b="1">
                <a:ea typeface="Gulim" pitchFamily="34" charset="-127"/>
              </a:rPr>
              <a:t>Subterminal endospores</a:t>
            </a:r>
          </a:p>
        </p:txBody>
      </p:sp>
      <p:sp>
        <p:nvSpPr>
          <p:cNvPr id="12295" name="Text Box 9"/>
          <p:cNvSpPr txBox="1">
            <a:spLocks noChangeArrowheads="1"/>
          </p:cNvSpPr>
          <p:nvPr/>
        </p:nvSpPr>
        <p:spPr bwMode="auto">
          <a:xfrm>
            <a:off x="6550025" y="4364038"/>
            <a:ext cx="2190750" cy="498475"/>
          </a:xfrm>
          <a:prstGeom prst="rect">
            <a:avLst/>
          </a:prstGeom>
          <a:noFill/>
          <a:ln w="9525">
            <a:noFill/>
            <a:miter lim="800000"/>
            <a:headEnd/>
            <a:tailEnd/>
          </a:ln>
        </p:spPr>
        <p:txBody>
          <a:bodyPr wrap="none" lIns="82058" tIns="41029" rIns="82058" bIns="41029">
            <a:spAutoFit/>
          </a:bodyPr>
          <a:lstStyle/>
          <a:p>
            <a:r>
              <a:rPr lang="en-US" altLang="ko-KR" sz="1300" b="1" i="1">
                <a:ea typeface="Gulim" pitchFamily="34" charset="-127"/>
              </a:rPr>
              <a:t>Clostridium bifermentans</a:t>
            </a:r>
          </a:p>
          <a:p>
            <a:r>
              <a:rPr lang="en-US" altLang="ko-KR" sz="1300" b="1">
                <a:ea typeface="Gulim" pitchFamily="34" charset="-127"/>
              </a:rPr>
              <a:t>Central endspores</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Grp="1" noChangeArrowheads="1"/>
          </p:cNvSpPr>
          <p:nvPr>
            <p:ph type="title"/>
          </p:nvPr>
        </p:nvSpPr>
        <p:spPr/>
        <p:txBody>
          <a:bodyPr/>
          <a:lstStyle/>
          <a:p>
            <a:pPr eaLnBrk="1" hangingPunct="1"/>
            <a:r>
              <a:rPr lang="en-US" altLang="ko-KR" smtClean="0">
                <a:ea typeface="Gulim" pitchFamily="34" charset="-127"/>
              </a:rPr>
              <a:t>Endospore-Forming Gram-Positive Bacteria</a:t>
            </a:r>
          </a:p>
        </p:txBody>
      </p:sp>
      <p:sp>
        <p:nvSpPr>
          <p:cNvPr id="13315" name="Rectangle 1027"/>
          <p:cNvSpPr>
            <a:spLocks noGrp="1" noChangeArrowheads="1"/>
          </p:cNvSpPr>
          <p:nvPr>
            <p:ph idx="1"/>
          </p:nvPr>
        </p:nvSpPr>
        <p:spPr>
          <a:xfrm>
            <a:off x="304800" y="1752600"/>
            <a:ext cx="8307388" cy="4438650"/>
          </a:xfrm>
        </p:spPr>
        <p:txBody>
          <a:bodyPr/>
          <a:lstStyle/>
          <a:p>
            <a:pPr eaLnBrk="1" hangingPunct="1"/>
            <a:r>
              <a:rPr lang="en-US" altLang="ko-KR" sz="2700" i="1" dirty="0" err="1" smtClean="0">
                <a:latin typeface="Arial" pitchFamily="34" charset="0"/>
                <a:ea typeface="Gulim" pitchFamily="34" charset="-127"/>
              </a:rPr>
              <a:t>Sporosarcina</a:t>
            </a:r>
            <a:endParaRPr lang="en-US" altLang="ko-KR" sz="2700" dirty="0" smtClean="0">
              <a:latin typeface="Arial" pitchFamily="34" charset="0"/>
              <a:ea typeface="Gulim" pitchFamily="34" charset="-127"/>
            </a:endParaRPr>
          </a:p>
          <a:p>
            <a:pPr lvl="1" eaLnBrk="1" hangingPunct="1"/>
            <a:r>
              <a:rPr lang="en-US" altLang="ko-KR" sz="2300" dirty="0" smtClean="0">
                <a:latin typeface="Arial" pitchFamily="34" charset="0"/>
                <a:ea typeface="Gulim" pitchFamily="34" charset="-127"/>
              </a:rPr>
              <a:t>Unique among </a:t>
            </a:r>
            <a:r>
              <a:rPr lang="en-US" altLang="ko-KR" sz="2300" dirty="0" err="1" smtClean="0">
                <a:latin typeface="Arial" pitchFamily="34" charset="0"/>
                <a:ea typeface="Gulim" pitchFamily="34" charset="-127"/>
              </a:rPr>
              <a:t>endospore</a:t>
            </a:r>
            <a:r>
              <a:rPr lang="en-US" altLang="ko-KR" sz="2300" dirty="0" smtClean="0">
                <a:latin typeface="Arial" pitchFamily="34" charset="0"/>
                <a:ea typeface="Gulim" pitchFamily="34" charset="-127"/>
              </a:rPr>
              <a:t> formers because cells are </a:t>
            </a:r>
            <a:r>
              <a:rPr lang="en-US" altLang="ko-KR" sz="2300" u="sng" dirty="0" err="1" smtClean="0">
                <a:latin typeface="Arial" pitchFamily="34" charset="0"/>
                <a:ea typeface="Gulim" pitchFamily="34" charset="-127"/>
              </a:rPr>
              <a:t>cocci</a:t>
            </a:r>
            <a:r>
              <a:rPr lang="en-US" altLang="ko-KR" sz="2300" dirty="0" smtClean="0">
                <a:latin typeface="Arial" pitchFamily="34" charset="0"/>
                <a:ea typeface="Gulim" pitchFamily="34" charset="-127"/>
              </a:rPr>
              <a:t> instead of rods</a:t>
            </a:r>
          </a:p>
          <a:p>
            <a:pPr lvl="1" eaLnBrk="1" hangingPunct="1"/>
            <a:r>
              <a:rPr lang="en-US" altLang="ko-KR" sz="2300" dirty="0" smtClean="0">
                <a:latin typeface="Arial" pitchFamily="34" charset="0"/>
                <a:ea typeface="Gulim" pitchFamily="34" charset="-127"/>
              </a:rPr>
              <a:t>Strictly aerobic, spherical cells</a:t>
            </a:r>
          </a:p>
          <a:p>
            <a:pPr lvl="1" eaLnBrk="1" hangingPunct="1"/>
            <a:r>
              <a:rPr lang="en-US" altLang="ko-KR" sz="2300" dirty="0" smtClean="0">
                <a:latin typeface="Arial" pitchFamily="34" charset="0"/>
                <a:ea typeface="Gulim" pitchFamily="34" charset="-127"/>
              </a:rPr>
              <a:t>Common in soils </a:t>
            </a:r>
          </a:p>
        </p:txBody>
      </p:sp>
      <p:pic>
        <p:nvPicPr>
          <p:cNvPr id="4" name="Picture 5" descr="16_07Figure-L"/>
          <p:cNvPicPr>
            <a:picLocks noChangeAspect="1" noChangeArrowheads="1"/>
          </p:cNvPicPr>
          <p:nvPr/>
        </p:nvPicPr>
        <p:blipFill>
          <a:blip r:embed="rId3"/>
          <a:srcRect b="4121"/>
          <a:stretch>
            <a:fillRect/>
          </a:stretch>
        </p:blipFill>
        <p:spPr bwMode="auto">
          <a:xfrm>
            <a:off x="4419600" y="3886200"/>
            <a:ext cx="4495800" cy="2971800"/>
          </a:xfrm>
          <a:prstGeom prst="rect">
            <a:avLst/>
          </a:prstGeom>
          <a:noFill/>
          <a:ln w="9525">
            <a:noFill/>
            <a:miter lim="800000"/>
            <a:headEnd/>
            <a:tailEnd/>
          </a:ln>
        </p:spPr>
      </p:pic>
      <p:sp>
        <p:nvSpPr>
          <p:cNvPr id="5" name="Rectangle 4"/>
          <p:cNvSpPr/>
          <p:nvPr/>
        </p:nvSpPr>
        <p:spPr>
          <a:xfrm>
            <a:off x="4495800" y="3429000"/>
            <a:ext cx="1840568" cy="369332"/>
          </a:xfrm>
          <a:prstGeom prst="rect">
            <a:avLst/>
          </a:prstGeom>
        </p:spPr>
        <p:txBody>
          <a:bodyPr wrap="square">
            <a:spAutoFit/>
          </a:bodyPr>
          <a:lstStyle/>
          <a:p>
            <a:pPr eaLnBrk="0" hangingPunct="0"/>
            <a:r>
              <a:rPr lang="en-US" altLang="ko-KR" b="1" i="1" dirty="0" err="1" smtClean="0">
                <a:solidFill>
                  <a:srgbClr val="404040"/>
                </a:solidFill>
                <a:latin typeface="Arial Narrow" pitchFamily="34" charset="0"/>
                <a:ea typeface="Gulim" pitchFamily="34" charset="-127"/>
              </a:rPr>
              <a:t>Sporsarcina</a:t>
            </a:r>
            <a:r>
              <a:rPr lang="en-US" altLang="ko-KR" b="1" i="1" dirty="0" smtClean="0">
                <a:solidFill>
                  <a:srgbClr val="404040"/>
                </a:solidFill>
                <a:latin typeface="Arial Narrow" pitchFamily="34" charset="0"/>
                <a:ea typeface="Gulim" pitchFamily="34" charset="-127"/>
              </a:rPr>
              <a:t> </a:t>
            </a:r>
            <a:r>
              <a:rPr lang="en-US" altLang="ko-KR" b="1" i="1" dirty="0" err="1" smtClean="0">
                <a:solidFill>
                  <a:srgbClr val="404040"/>
                </a:solidFill>
                <a:latin typeface="Arial Narrow" pitchFamily="34" charset="0"/>
                <a:ea typeface="Gulim" pitchFamily="34" charset="-127"/>
              </a:rPr>
              <a:t>ureae</a:t>
            </a:r>
            <a:endParaRPr lang="en-US" altLang="ko-KR" b="1" dirty="0">
              <a:solidFill>
                <a:srgbClr val="404040"/>
              </a:solidFill>
              <a:latin typeface="Arial Narrow" pitchFamily="34" charset="0"/>
              <a:ea typeface="Gulim" pitchFamily="34" charset="-127"/>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title"/>
          </p:nvPr>
        </p:nvSpPr>
        <p:spPr/>
        <p:txBody>
          <a:bodyPr/>
          <a:lstStyle/>
          <a:p>
            <a:pPr eaLnBrk="1" hangingPunct="1"/>
            <a:r>
              <a:rPr lang="en-US" altLang="ko-KR" smtClean="0">
                <a:ea typeface="Gulim" pitchFamily="34" charset="-127"/>
              </a:rPr>
              <a:t>Endospore-Forming Gram-Positive Bacteria</a:t>
            </a:r>
          </a:p>
        </p:txBody>
      </p:sp>
      <p:sp>
        <p:nvSpPr>
          <p:cNvPr id="15363" name="Rectangle 1027"/>
          <p:cNvSpPr>
            <a:spLocks noGrp="1" noChangeArrowheads="1"/>
          </p:cNvSpPr>
          <p:nvPr>
            <p:ph idx="1"/>
          </p:nvPr>
        </p:nvSpPr>
        <p:spPr>
          <a:xfrm>
            <a:off x="304800" y="1752600"/>
            <a:ext cx="8307388" cy="4772025"/>
          </a:xfrm>
        </p:spPr>
        <p:txBody>
          <a:bodyPr/>
          <a:lstStyle/>
          <a:p>
            <a:pPr eaLnBrk="1" hangingPunct="1">
              <a:buFont typeface="Arial" pitchFamily="34" charset="0"/>
              <a:buNone/>
            </a:pPr>
            <a:r>
              <a:rPr lang="en-US" altLang="ko-KR" sz="2700" i="1" smtClean="0">
                <a:latin typeface="Arial" pitchFamily="34" charset="0"/>
                <a:ea typeface="Gulim" pitchFamily="34" charset="-127"/>
              </a:rPr>
              <a:t>Heliobacteria</a:t>
            </a:r>
            <a:endParaRPr lang="en-US" altLang="ko-KR" sz="2700" smtClean="0">
              <a:latin typeface="Arial" pitchFamily="34" charset="0"/>
              <a:ea typeface="Gulim" pitchFamily="34" charset="-127"/>
            </a:endParaRPr>
          </a:p>
          <a:p>
            <a:pPr lvl="1" eaLnBrk="1" hangingPunct="1">
              <a:buFont typeface="Arial" pitchFamily="34" charset="0"/>
              <a:buNone/>
            </a:pPr>
            <a:endParaRPr lang="en-US" altLang="ko-KR" sz="2300" smtClean="0">
              <a:latin typeface="Arial" pitchFamily="34" charset="0"/>
              <a:ea typeface="Gulim" pitchFamily="34" charset="-127"/>
            </a:endParaRPr>
          </a:p>
          <a:p>
            <a:pPr lvl="1" eaLnBrk="1" hangingPunct="1">
              <a:buFont typeface="Arial" pitchFamily="34" charset="0"/>
              <a:buNone/>
            </a:pPr>
            <a:r>
              <a:rPr lang="en-US" altLang="ko-KR" sz="2300" smtClean="0">
                <a:latin typeface="Arial" pitchFamily="34" charset="0"/>
                <a:ea typeface="Gulim" pitchFamily="34" charset="-127"/>
              </a:rPr>
              <a:t>Phototrophic gram-positive bacteria</a:t>
            </a:r>
          </a:p>
          <a:p>
            <a:pPr lvl="1" eaLnBrk="1" hangingPunct="1">
              <a:buFont typeface="Arial" pitchFamily="34" charset="0"/>
              <a:buNone/>
            </a:pPr>
            <a:r>
              <a:rPr lang="en-US" altLang="ko-KR" sz="2300" smtClean="0">
                <a:latin typeface="Arial" pitchFamily="34" charset="0"/>
                <a:ea typeface="Gulim" pitchFamily="34" charset="-127"/>
              </a:rPr>
              <a:t>Anoxygenic phototrophs</a:t>
            </a:r>
          </a:p>
          <a:p>
            <a:pPr lvl="1" eaLnBrk="1" hangingPunct="1">
              <a:buFont typeface="Arial" pitchFamily="34" charset="0"/>
              <a:buNone/>
            </a:pPr>
            <a:r>
              <a:rPr lang="en-US" altLang="ko-KR" sz="2300" smtClean="0">
                <a:latin typeface="Arial" pitchFamily="34" charset="0"/>
                <a:ea typeface="Gulim" pitchFamily="34" charset="-127"/>
              </a:rPr>
              <a:t>Produce bacteriochlorophyll </a:t>
            </a:r>
            <a:r>
              <a:rPr lang="en-US" altLang="ko-KR" sz="2300" i="1" smtClean="0">
                <a:latin typeface="Arial" pitchFamily="34" charset="0"/>
                <a:ea typeface="Gulim" pitchFamily="34" charset="-127"/>
              </a:rPr>
              <a:t>g</a:t>
            </a:r>
          </a:p>
          <a:p>
            <a:pPr lvl="1" eaLnBrk="1" hangingPunct="1">
              <a:buFont typeface="Arial" pitchFamily="34" charset="0"/>
              <a:buNone/>
            </a:pPr>
            <a:r>
              <a:rPr lang="en-US" altLang="ko-KR" sz="2300" smtClean="0">
                <a:latin typeface="Arial" pitchFamily="34" charset="0"/>
                <a:ea typeface="Gulim" pitchFamily="34" charset="-127"/>
              </a:rPr>
              <a:t>Strict anaerobes</a:t>
            </a:r>
          </a:p>
          <a:p>
            <a:pPr lvl="1" eaLnBrk="1" hangingPunct="1">
              <a:buFont typeface="Arial" pitchFamily="34" charset="0"/>
              <a:buNone/>
            </a:pPr>
            <a:r>
              <a:rPr lang="en-US" altLang="ko-KR" sz="2300" smtClean="0">
                <a:latin typeface="Arial" pitchFamily="34" charset="0"/>
                <a:ea typeface="Gulim" pitchFamily="34" charset="-127"/>
              </a:rPr>
              <a:t>Reside in soils and also in highly alkaline environments (i.e., soda lakes and alkaline soils)</a:t>
            </a:r>
          </a:p>
          <a:p>
            <a:pPr lvl="1" eaLnBrk="1" hangingPunct="1">
              <a:buFont typeface="Arial" pitchFamily="34" charset="0"/>
              <a:buNone/>
            </a:pPr>
            <a:r>
              <a:rPr lang="en-US" altLang="ko-KR" sz="2300" smtClean="0">
                <a:latin typeface="Arial" pitchFamily="34" charset="0"/>
                <a:ea typeface="Gulim" pitchFamily="34" charset="-127"/>
              </a:rPr>
              <a:t>Have nitrogen-fixation capabilities </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a:solidFill>
                  <a:srgbClr val="404040"/>
                </a:solidFill>
                <a:latin typeface="Arial Narrow" pitchFamily="34" charset="0"/>
                <a:ea typeface="Gulim" pitchFamily="34" charset="-127"/>
              </a:rPr>
              <a:t>Cells and Endospores of Heliobacteria</a:t>
            </a:r>
          </a:p>
        </p:txBody>
      </p:sp>
      <p:sp>
        <p:nvSpPr>
          <p:cNvPr id="16387" name="Text Box 4"/>
          <p:cNvSpPr txBox="1">
            <a:spLocks noChangeArrowheads="1"/>
          </p:cNvSpPr>
          <p:nvPr/>
        </p:nvSpPr>
        <p:spPr bwMode="auto">
          <a:xfrm>
            <a:off x="7889875" y="6107113"/>
            <a:ext cx="908050" cy="252412"/>
          </a:xfrm>
          <a:prstGeom prst="rect">
            <a:avLst/>
          </a:prstGeom>
          <a:noFill/>
          <a:ln w="9525">
            <a:noFill/>
            <a:miter lim="800000"/>
            <a:headEnd/>
            <a:tailEnd/>
          </a:ln>
        </p:spPr>
        <p:txBody>
          <a:bodyPr lIns="82058" tIns="41029" rIns="82058" bIns="41029">
            <a:spAutoFit/>
          </a:bodyPr>
          <a:lstStyle/>
          <a:p>
            <a:pPr algn="r" eaLnBrk="0" hangingPunct="0"/>
            <a:r>
              <a:rPr lang="en-US" altLang="ko-KR" sz="1100">
                <a:ea typeface="Gulim" pitchFamily="34" charset="-127"/>
              </a:rPr>
              <a:t>Figure 16.8</a:t>
            </a:r>
          </a:p>
        </p:txBody>
      </p:sp>
      <p:pic>
        <p:nvPicPr>
          <p:cNvPr id="16388" name="Picture 5" descr="16_08Figure-L"/>
          <p:cNvPicPr>
            <a:picLocks noChangeAspect="1" noChangeArrowheads="1"/>
          </p:cNvPicPr>
          <p:nvPr/>
        </p:nvPicPr>
        <p:blipFill>
          <a:blip r:embed="rId3"/>
          <a:srcRect b="2515"/>
          <a:stretch>
            <a:fillRect/>
          </a:stretch>
        </p:blipFill>
        <p:spPr bwMode="auto">
          <a:xfrm>
            <a:off x="1428750" y="946150"/>
            <a:ext cx="6284913" cy="5159375"/>
          </a:xfrm>
          <a:prstGeom prst="rect">
            <a:avLst/>
          </a:prstGeom>
          <a:noFill/>
          <a:ln w="9525">
            <a:noFill/>
            <a:miter lim="800000"/>
            <a:headEnd/>
            <a:tailEnd/>
          </a:ln>
        </p:spPr>
      </p:pic>
      <p:sp>
        <p:nvSpPr>
          <p:cNvPr id="16389" name="Text Box 6"/>
          <p:cNvSpPr txBox="1">
            <a:spLocks noChangeArrowheads="1"/>
          </p:cNvSpPr>
          <p:nvPr/>
        </p:nvSpPr>
        <p:spPr bwMode="auto">
          <a:xfrm>
            <a:off x="1801813" y="3116263"/>
            <a:ext cx="2574925" cy="296862"/>
          </a:xfrm>
          <a:prstGeom prst="rect">
            <a:avLst/>
          </a:prstGeom>
          <a:noFill/>
          <a:ln w="9525">
            <a:noFill/>
            <a:miter lim="800000"/>
            <a:headEnd/>
            <a:tailEnd/>
          </a:ln>
        </p:spPr>
        <p:txBody>
          <a:bodyPr lIns="82058" tIns="41029" rIns="82058" bIns="41029">
            <a:spAutoFit/>
          </a:bodyPr>
          <a:lstStyle/>
          <a:p>
            <a:pPr>
              <a:spcBef>
                <a:spcPct val="50000"/>
              </a:spcBef>
            </a:pPr>
            <a:r>
              <a:rPr lang="en-US" altLang="ko-KR" sz="1400" b="1" i="1">
                <a:ea typeface="Gulim" pitchFamily="34" charset="-127"/>
              </a:rPr>
              <a:t>Heliobacillus mobilis</a:t>
            </a:r>
          </a:p>
        </p:txBody>
      </p:sp>
      <p:sp>
        <p:nvSpPr>
          <p:cNvPr id="16390" name="Text Box 7"/>
          <p:cNvSpPr txBox="1">
            <a:spLocks noChangeArrowheads="1"/>
          </p:cNvSpPr>
          <p:nvPr/>
        </p:nvSpPr>
        <p:spPr bwMode="auto">
          <a:xfrm>
            <a:off x="1801813" y="5784850"/>
            <a:ext cx="2574925" cy="296863"/>
          </a:xfrm>
          <a:prstGeom prst="rect">
            <a:avLst/>
          </a:prstGeom>
          <a:noFill/>
          <a:ln w="9525">
            <a:noFill/>
            <a:miter lim="800000"/>
            <a:headEnd/>
            <a:tailEnd/>
          </a:ln>
        </p:spPr>
        <p:txBody>
          <a:bodyPr lIns="82058" tIns="41029" rIns="82058" bIns="41029">
            <a:spAutoFit/>
          </a:bodyPr>
          <a:lstStyle/>
          <a:p>
            <a:pPr>
              <a:spcBef>
                <a:spcPct val="50000"/>
              </a:spcBef>
            </a:pPr>
            <a:r>
              <a:rPr lang="en-US" altLang="ko-KR" sz="1400" b="1" i="1">
                <a:ea typeface="Gulim" pitchFamily="34" charset="-127"/>
              </a:rPr>
              <a:t>Heliophilum fasciatum</a:t>
            </a:r>
          </a:p>
        </p:txBody>
      </p:sp>
      <p:sp>
        <p:nvSpPr>
          <p:cNvPr id="16391" name="Text Box 8"/>
          <p:cNvSpPr txBox="1">
            <a:spLocks noChangeArrowheads="1"/>
          </p:cNvSpPr>
          <p:nvPr/>
        </p:nvSpPr>
        <p:spPr bwMode="auto">
          <a:xfrm>
            <a:off x="6411913" y="5873750"/>
            <a:ext cx="2576512" cy="361950"/>
          </a:xfrm>
          <a:prstGeom prst="rect">
            <a:avLst/>
          </a:prstGeom>
          <a:noFill/>
          <a:ln w="9525">
            <a:noFill/>
            <a:miter lim="800000"/>
            <a:headEnd/>
            <a:tailEnd/>
          </a:ln>
        </p:spPr>
        <p:txBody>
          <a:bodyPr lIns="82058" tIns="41029" rIns="82058" bIns="41029">
            <a:spAutoFit/>
          </a:bodyPr>
          <a:lstStyle/>
          <a:p>
            <a:pPr>
              <a:lnSpc>
                <a:spcPct val="40000"/>
              </a:lnSpc>
              <a:spcBef>
                <a:spcPct val="50000"/>
              </a:spcBef>
            </a:pPr>
            <a:r>
              <a:rPr lang="en-US" altLang="ko-KR" sz="1400" b="1" i="1">
                <a:ea typeface="Gulim" pitchFamily="34" charset="-127"/>
              </a:rPr>
              <a:t>Heliobacterium</a:t>
            </a:r>
          </a:p>
          <a:p>
            <a:pPr>
              <a:lnSpc>
                <a:spcPct val="40000"/>
              </a:lnSpc>
              <a:spcBef>
                <a:spcPct val="50000"/>
              </a:spcBef>
            </a:pPr>
            <a:r>
              <a:rPr lang="en-US" altLang="ko-KR" sz="1400" b="1" i="1">
                <a:ea typeface="Gulim" pitchFamily="34" charset="-127"/>
              </a:rPr>
              <a:t>gestii</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a:xfrm>
            <a:off x="457200" y="274638"/>
            <a:ext cx="8229600" cy="868362"/>
          </a:xfrm>
        </p:spPr>
        <p:txBody>
          <a:bodyPr/>
          <a:lstStyle/>
          <a:p>
            <a:pPr eaLnBrk="1" hangingPunct="1"/>
            <a:r>
              <a:rPr lang="en-US" altLang="ko-KR" sz="3200" b="1" dirty="0" err="1" smtClean="0">
                <a:solidFill>
                  <a:srgbClr val="FF0000"/>
                </a:solidFill>
                <a:ea typeface="Gulim" pitchFamily="34" charset="-127"/>
              </a:rPr>
              <a:t>Actinobacteria</a:t>
            </a:r>
            <a:r>
              <a:rPr lang="en-US" altLang="ko-KR" sz="3200" dirty="0" smtClean="0">
                <a:solidFill>
                  <a:srgbClr val="FF0000"/>
                </a:solidFill>
                <a:ea typeface="Gulim" pitchFamily="34" charset="-127"/>
              </a:rPr>
              <a:t>: </a:t>
            </a:r>
            <a:r>
              <a:rPr lang="en-US" altLang="ko-KR" sz="3200" dirty="0" err="1" smtClean="0">
                <a:solidFill>
                  <a:srgbClr val="FF0000"/>
                </a:solidFill>
                <a:ea typeface="Gulim" pitchFamily="34" charset="-127"/>
              </a:rPr>
              <a:t>Coryneform</a:t>
            </a:r>
            <a:r>
              <a:rPr lang="en-US" altLang="ko-KR" sz="3200" dirty="0" smtClean="0">
                <a:solidFill>
                  <a:srgbClr val="FF0000"/>
                </a:solidFill>
                <a:ea typeface="Gulim" pitchFamily="34" charset="-127"/>
              </a:rPr>
              <a:t> &amp; </a:t>
            </a:r>
            <a:r>
              <a:rPr lang="en-US" altLang="ko-KR" sz="3200" dirty="0" err="1" smtClean="0">
                <a:solidFill>
                  <a:srgbClr val="FF0000"/>
                </a:solidFill>
                <a:ea typeface="Gulim" pitchFamily="34" charset="-127"/>
              </a:rPr>
              <a:t>Propionic</a:t>
            </a:r>
            <a:r>
              <a:rPr lang="en-US" altLang="ko-KR" sz="3200" dirty="0" smtClean="0">
                <a:solidFill>
                  <a:srgbClr val="FF0000"/>
                </a:solidFill>
                <a:ea typeface="Gulim" pitchFamily="34" charset="-127"/>
              </a:rPr>
              <a:t> Acid Bacteria</a:t>
            </a:r>
            <a:endParaRPr lang="en-US" altLang="ko-KR" sz="4800" dirty="0" smtClean="0">
              <a:solidFill>
                <a:srgbClr val="FF0000"/>
              </a:solidFill>
              <a:ea typeface="Gulim" pitchFamily="34" charset="-127"/>
            </a:endParaRPr>
          </a:p>
        </p:txBody>
      </p:sp>
      <p:sp>
        <p:nvSpPr>
          <p:cNvPr id="17411" name="Rectangle 1027"/>
          <p:cNvSpPr>
            <a:spLocks noGrp="1" noChangeArrowheads="1"/>
          </p:cNvSpPr>
          <p:nvPr>
            <p:ph idx="1"/>
          </p:nvPr>
        </p:nvSpPr>
        <p:spPr>
          <a:xfrm>
            <a:off x="339725" y="1144588"/>
            <a:ext cx="8307388" cy="5118100"/>
          </a:xfrm>
        </p:spPr>
        <p:txBody>
          <a:bodyPr/>
          <a:lstStyle/>
          <a:p>
            <a:pPr eaLnBrk="1" hangingPunct="1"/>
            <a:endParaRPr lang="en-US" altLang="ko-KR" sz="2800" dirty="0" smtClean="0">
              <a:latin typeface="Arial" pitchFamily="34" charset="0"/>
              <a:ea typeface="Gulim" pitchFamily="34" charset="-127"/>
            </a:endParaRPr>
          </a:p>
          <a:p>
            <a:pPr eaLnBrk="1" hangingPunct="1">
              <a:buFont typeface="Arial" pitchFamily="34" charset="0"/>
              <a:buNone/>
            </a:pPr>
            <a:r>
              <a:rPr lang="en-US" altLang="ko-KR" sz="2800" dirty="0" smtClean="0">
                <a:latin typeface="Arial" pitchFamily="34" charset="0"/>
                <a:ea typeface="Gulim" pitchFamily="34" charset="-127"/>
              </a:rPr>
              <a:t>Key genera</a:t>
            </a:r>
            <a:r>
              <a:rPr lang="en-US" altLang="ko-KR" sz="2800" i="1" u="sng" dirty="0" smtClean="0">
                <a:latin typeface="Arial" pitchFamily="34" charset="0"/>
                <a:ea typeface="Gulim" pitchFamily="34" charset="-127"/>
              </a:rPr>
              <a:t>:</a:t>
            </a:r>
            <a:r>
              <a:rPr lang="en-US" altLang="ko-KR" sz="2800" i="1" dirty="0" smtClean="0">
                <a:latin typeface="Arial" pitchFamily="34" charset="0"/>
                <a:ea typeface="Gulim" pitchFamily="34" charset="-127"/>
              </a:rPr>
              <a:t> </a:t>
            </a:r>
            <a:r>
              <a:rPr lang="en-US" altLang="ko-KR" sz="2800" i="1" dirty="0" err="1" smtClean="0">
                <a:latin typeface="Arial" pitchFamily="34" charset="0"/>
                <a:ea typeface="Gulim" pitchFamily="34" charset="-127"/>
              </a:rPr>
              <a:t>Corynebacterium</a:t>
            </a:r>
            <a:r>
              <a:rPr lang="en-US" altLang="ko-KR" sz="2800" i="1" dirty="0" smtClean="0">
                <a:latin typeface="Arial" pitchFamily="34" charset="0"/>
                <a:ea typeface="Gulim" pitchFamily="34" charset="-127"/>
              </a:rPr>
              <a:t>, </a:t>
            </a:r>
            <a:r>
              <a:rPr lang="en-US" altLang="ko-KR" sz="2800" i="1" dirty="0" err="1" smtClean="0">
                <a:latin typeface="Arial" pitchFamily="34" charset="0"/>
                <a:ea typeface="Gulim" pitchFamily="34" charset="-127"/>
              </a:rPr>
              <a:t>Arthrobacter</a:t>
            </a:r>
            <a:r>
              <a:rPr lang="en-US" altLang="ko-KR" sz="2800" i="1" dirty="0" smtClean="0">
                <a:latin typeface="Arial" pitchFamily="34" charset="0"/>
                <a:ea typeface="Gulim" pitchFamily="34" charset="-127"/>
              </a:rPr>
              <a:t>, </a:t>
            </a:r>
            <a:r>
              <a:rPr lang="en-US" altLang="ko-KR" sz="2800" i="1" dirty="0" err="1" smtClean="0">
                <a:latin typeface="Arial" pitchFamily="34" charset="0"/>
                <a:ea typeface="Gulim" pitchFamily="34" charset="-127"/>
              </a:rPr>
              <a:t>Propionibacterium</a:t>
            </a:r>
            <a:r>
              <a:rPr lang="en-US" altLang="ko-KR" sz="2800" dirty="0" smtClean="0">
                <a:latin typeface="Arial" pitchFamily="34" charset="0"/>
                <a:ea typeface="Gulim" pitchFamily="34" charset="-127"/>
              </a:rPr>
              <a:t> </a:t>
            </a:r>
          </a:p>
          <a:p>
            <a:pPr lvl="1" eaLnBrk="1" hangingPunct="1"/>
            <a:endParaRPr lang="en-US" altLang="ko-KR" sz="2200" dirty="0" smtClean="0">
              <a:solidFill>
                <a:schemeClr val="hlink"/>
              </a:solidFill>
              <a:latin typeface="Arial" pitchFamily="34" charset="0"/>
              <a:ea typeface="Gulim" pitchFamily="34" charset="-127"/>
            </a:endParaRPr>
          </a:p>
          <a:p>
            <a:pPr lvl="1" eaLnBrk="1" hangingPunct="1"/>
            <a:r>
              <a:rPr lang="en-US" altLang="ko-KR" sz="2200" dirty="0" err="1" smtClean="0">
                <a:solidFill>
                  <a:schemeClr val="hlink"/>
                </a:solidFill>
                <a:latin typeface="Arial" pitchFamily="34" charset="0"/>
                <a:ea typeface="Gulim" pitchFamily="34" charset="-127"/>
              </a:rPr>
              <a:t>Actinobacteria</a:t>
            </a:r>
            <a:r>
              <a:rPr lang="en-US" altLang="ko-KR" sz="2200" dirty="0" smtClean="0">
                <a:latin typeface="Arial" pitchFamily="34" charset="0"/>
                <a:ea typeface="Gulim" pitchFamily="34" charset="-127"/>
              </a:rPr>
              <a:t> form their own phylum</a:t>
            </a:r>
          </a:p>
          <a:p>
            <a:pPr lvl="1" eaLnBrk="1" hangingPunct="1">
              <a:buFont typeface="Wingdings" pitchFamily="2" charset="2"/>
              <a:buNone/>
            </a:pPr>
            <a:r>
              <a:rPr lang="en-US" altLang="ko-KR" sz="2200" dirty="0" smtClean="0">
                <a:latin typeface="Arial" pitchFamily="34" charset="0"/>
                <a:ea typeface="Gulim" pitchFamily="34" charset="-127"/>
              </a:rPr>
              <a:t>   - High G+C gram-positive bacteria</a:t>
            </a:r>
          </a:p>
          <a:p>
            <a:pPr lvl="1" eaLnBrk="1" hangingPunct="1"/>
            <a:r>
              <a:rPr lang="en-US" altLang="ko-KR" sz="2200" dirty="0" smtClean="0">
                <a:latin typeface="Arial" pitchFamily="34" charset="0"/>
                <a:ea typeface="Gulim" pitchFamily="34" charset="-127"/>
              </a:rPr>
              <a:t>Over 30 taxonomic families</a:t>
            </a:r>
          </a:p>
          <a:p>
            <a:pPr lvl="1" eaLnBrk="1" hangingPunct="1"/>
            <a:r>
              <a:rPr lang="en-US" altLang="ko-KR" sz="2200" dirty="0" smtClean="0">
                <a:latin typeface="Arial" pitchFamily="34" charset="0"/>
                <a:ea typeface="Gulim" pitchFamily="34" charset="-127"/>
              </a:rPr>
              <a:t>Rod to filamentous, usually aerobic</a:t>
            </a:r>
          </a:p>
          <a:p>
            <a:pPr lvl="1" eaLnBrk="1" hangingPunct="1"/>
            <a:r>
              <a:rPr lang="en-US" altLang="ko-KR" sz="2200" dirty="0" smtClean="0">
                <a:latin typeface="Arial" pitchFamily="34" charset="0"/>
                <a:ea typeface="Gulim" pitchFamily="34" charset="-127"/>
              </a:rPr>
              <a:t>Mostly harmless </a:t>
            </a:r>
            <a:r>
              <a:rPr lang="en-US" altLang="ko-KR" sz="2200" dirty="0" err="1" smtClean="0">
                <a:latin typeface="Arial" pitchFamily="34" charset="0"/>
                <a:ea typeface="Gulim" pitchFamily="34" charset="-127"/>
              </a:rPr>
              <a:t>commensals</a:t>
            </a:r>
            <a:r>
              <a:rPr lang="en-US" altLang="ko-KR" sz="2200" dirty="0" smtClean="0">
                <a:latin typeface="Arial" pitchFamily="34" charset="0"/>
                <a:ea typeface="Gulim" pitchFamily="34" charset="-127"/>
              </a:rPr>
              <a:t> (</a:t>
            </a:r>
            <a:r>
              <a:rPr lang="en-US" altLang="ko-KR" sz="2200" i="1" dirty="0" smtClean="0">
                <a:solidFill>
                  <a:schemeClr val="hlink"/>
                </a:solidFill>
                <a:latin typeface="Arial" pitchFamily="34" charset="0"/>
                <a:ea typeface="Gulim" pitchFamily="34" charset="-127"/>
              </a:rPr>
              <a:t>Mycobacterium</a:t>
            </a:r>
            <a:r>
              <a:rPr lang="en-US" altLang="ko-KR" sz="2200" dirty="0" smtClean="0">
                <a:latin typeface="Arial" pitchFamily="34" charset="0"/>
                <a:ea typeface="Gulim" pitchFamily="34" charset="-127"/>
              </a:rPr>
              <a:t> are notable exceptions)</a:t>
            </a:r>
          </a:p>
          <a:p>
            <a:pPr lvl="1" eaLnBrk="1" hangingPunct="1"/>
            <a:r>
              <a:rPr lang="en-US" altLang="ko-KR" sz="2200" dirty="0" smtClean="0">
                <a:latin typeface="Arial" pitchFamily="34" charset="0"/>
                <a:ea typeface="Gulim" pitchFamily="34" charset="-127"/>
              </a:rPr>
              <a:t>Valuable for antibiotics and certain fermented dairy products</a:t>
            </a:r>
          </a:p>
          <a:p>
            <a:pPr eaLnBrk="1" hangingPunct="1"/>
            <a:endParaRPr lang="en-US" altLang="ko-KR" sz="2200" dirty="0" smtClean="0">
              <a:latin typeface="Arial" pitchFamily="34" charset="0"/>
              <a:ea typeface="Gulim" pitchFamily="34" charset="-127"/>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a:xfrm>
            <a:off x="457200" y="304800"/>
            <a:ext cx="8229600" cy="563563"/>
          </a:xfrm>
        </p:spPr>
        <p:txBody>
          <a:bodyPr/>
          <a:lstStyle/>
          <a:p>
            <a:pPr eaLnBrk="1" hangingPunct="1"/>
            <a:r>
              <a:rPr lang="en-US" altLang="ko-KR" sz="2700" smtClean="0">
                <a:ea typeface="Gulim" pitchFamily="34" charset="-127"/>
              </a:rPr>
              <a:t>Actinobacteria: Coryneform &amp; Propionic Acid Bacteria</a:t>
            </a:r>
            <a:endParaRPr lang="en-US" altLang="ko-KR" smtClean="0">
              <a:ea typeface="Gulim" pitchFamily="34" charset="-127"/>
            </a:endParaRPr>
          </a:p>
        </p:txBody>
      </p:sp>
      <p:sp>
        <p:nvSpPr>
          <p:cNvPr id="18435" name="Rectangle 1027"/>
          <p:cNvSpPr>
            <a:spLocks noGrp="1" noChangeArrowheads="1"/>
          </p:cNvSpPr>
          <p:nvPr>
            <p:ph idx="1"/>
          </p:nvPr>
        </p:nvSpPr>
        <p:spPr>
          <a:xfrm>
            <a:off x="339725" y="990600"/>
            <a:ext cx="8307388" cy="5299075"/>
          </a:xfrm>
        </p:spPr>
        <p:txBody>
          <a:bodyPr/>
          <a:lstStyle/>
          <a:p>
            <a:pPr eaLnBrk="1" hangingPunct="1">
              <a:lnSpc>
                <a:spcPct val="90000"/>
              </a:lnSpc>
            </a:pPr>
            <a:endParaRPr lang="ko-KR" altLang="en-US" sz="2300" smtClean="0">
              <a:latin typeface="Arial" pitchFamily="34" charset="0"/>
              <a:ea typeface="Gulim" pitchFamily="34" charset="-127"/>
            </a:endParaRPr>
          </a:p>
          <a:p>
            <a:pPr eaLnBrk="1" hangingPunct="1">
              <a:buFont typeface="Arial" pitchFamily="34" charset="0"/>
              <a:buNone/>
            </a:pPr>
            <a:r>
              <a:rPr lang="en-US" altLang="ko-KR" sz="2700" i="1" smtClean="0">
                <a:latin typeface="Arial" pitchFamily="34" charset="0"/>
                <a:ea typeface="Gulim" pitchFamily="34" charset="-127"/>
              </a:rPr>
              <a:t>Corynebacterium</a:t>
            </a:r>
          </a:p>
          <a:p>
            <a:pPr lvl="1" eaLnBrk="1" hangingPunct="1"/>
            <a:r>
              <a:rPr lang="en-US" altLang="ko-KR" sz="2300" smtClean="0">
                <a:latin typeface="Arial" pitchFamily="34" charset="0"/>
                <a:ea typeface="Gulim" pitchFamily="34" charset="-127"/>
              </a:rPr>
              <a:t>Gram-positive, aerobic, non-motile, rod-shaped</a:t>
            </a:r>
          </a:p>
          <a:p>
            <a:pPr lvl="1" eaLnBrk="1" hangingPunct="1"/>
            <a:r>
              <a:rPr lang="en-US" altLang="ko-KR" sz="2300" smtClean="0">
                <a:latin typeface="Arial" pitchFamily="34" charset="0"/>
                <a:ea typeface="Gulim" pitchFamily="34" charset="-127"/>
              </a:rPr>
              <a:t>Form </a:t>
            </a:r>
            <a:r>
              <a:rPr lang="en-US" altLang="ko-KR" sz="2300" u="sng" smtClean="0">
                <a:latin typeface="Arial" pitchFamily="34" charset="0"/>
                <a:ea typeface="Gulim" pitchFamily="34" charset="-127"/>
              </a:rPr>
              <a:t>club-shaped, irregular-shaped, or V-shaped</a:t>
            </a:r>
            <a:r>
              <a:rPr lang="en-US" altLang="ko-KR" sz="2300" smtClean="0">
                <a:latin typeface="Arial" pitchFamily="34" charset="0"/>
                <a:ea typeface="Gulim" pitchFamily="34" charset="-127"/>
              </a:rPr>
              <a:t> cell arrangements</a:t>
            </a:r>
          </a:p>
          <a:p>
            <a:pPr lvl="1" eaLnBrk="1" hangingPunct="1"/>
            <a:r>
              <a:rPr lang="en-US" altLang="ko-KR" sz="2300" smtClean="0">
                <a:latin typeface="Arial" pitchFamily="34" charset="0"/>
                <a:ea typeface="Gulim" pitchFamily="34" charset="-127"/>
              </a:rPr>
              <a:t>Extremely diverse </a:t>
            </a:r>
          </a:p>
          <a:p>
            <a:pPr eaLnBrk="1" hangingPunct="1">
              <a:buFont typeface="Arial" pitchFamily="34" charset="0"/>
              <a:buNone/>
            </a:pPr>
            <a:endParaRPr lang="en-US" altLang="ko-KR" sz="2700" i="1" smtClean="0">
              <a:latin typeface="Arial" pitchFamily="34" charset="0"/>
              <a:ea typeface="Gulim" pitchFamily="34" charset="-127"/>
            </a:endParaRPr>
          </a:p>
          <a:p>
            <a:pPr eaLnBrk="1" hangingPunct="1">
              <a:buFont typeface="Arial" pitchFamily="34" charset="0"/>
              <a:buNone/>
            </a:pPr>
            <a:r>
              <a:rPr lang="en-US" altLang="ko-KR" sz="2700" i="1" smtClean="0">
                <a:latin typeface="Arial" pitchFamily="34" charset="0"/>
                <a:ea typeface="Gulim" pitchFamily="34" charset="-127"/>
              </a:rPr>
              <a:t>Arthrobacter</a:t>
            </a:r>
            <a:endParaRPr lang="en-US" altLang="ko-KR" sz="2700" smtClean="0">
              <a:latin typeface="Arial" pitchFamily="34" charset="0"/>
              <a:ea typeface="Gulim" pitchFamily="34" charset="-127"/>
            </a:endParaRPr>
          </a:p>
          <a:p>
            <a:pPr lvl="1" eaLnBrk="1" hangingPunct="1"/>
            <a:r>
              <a:rPr lang="en-US" altLang="ko-KR" sz="2300" smtClean="0">
                <a:latin typeface="Arial" pitchFamily="34" charset="0"/>
                <a:ea typeface="Gulim" pitchFamily="34" charset="-127"/>
              </a:rPr>
              <a:t>Primarily soil organisms</a:t>
            </a:r>
          </a:p>
          <a:p>
            <a:pPr lvl="1" eaLnBrk="1" hangingPunct="1"/>
            <a:r>
              <a:rPr lang="en-US" altLang="ko-KR" sz="2300" smtClean="0">
                <a:latin typeface="Arial" pitchFamily="34" charset="0"/>
                <a:ea typeface="Gulim" pitchFamily="34" charset="-127"/>
              </a:rPr>
              <a:t>Remarkably </a:t>
            </a:r>
            <a:r>
              <a:rPr lang="en-US" altLang="ko-KR" sz="2300" u="sng" smtClean="0">
                <a:latin typeface="Arial" pitchFamily="34" charset="0"/>
                <a:ea typeface="Gulim" pitchFamily="34" charset="-127"/>
              </a:rPr>
              <a:t>resistant to dessication and starvation</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ko-KR" sz="3200" smtClean="0">
                <a:ea typeface="Gulim" pitchFamily="34" charset="-127"/>
              </a:rPr>
              <a:t>Actinobacteria: Coryneform &amp; Propionic Acid Bacteria</a:t>
            </a:r>
            <a:endParaRPr lang="en-US" altLang="ko-KR" sz="4800" smtClean="0">
              <a:ea typeface="Gulim" pitchFamily="34" charset="-127"/>
            </a:endParaRPr>
          </a:p>
        </p:txBody>
      </p:sp>
      <p:sp>
        <p:nvSpPr>
          <p:cNvPr id="19459" name="Rectangle 3"/>
          <p:cNvSpPr>
            <a:spLocks noGrp="1" noChangeArrowheads="1"/>
          </p:cNvSpPr>
          <p:nvPr>
            <p:ph idx="1"/>
          </p:nvPr>
        </p:nvSpPr>
        <p:spPr/>
        <p:txBody>
          <a:bodyPr/>
          <a:lstStyle/>
          <a:p>
            <a:pPr eaLnBrk="1" hangingPunct="1">
              <a:lnSpc>
                <a:spcPct val="90000"/>
              </a:lnSpc>
            </a:pPr>
            <a:endParaRPr lang="ko-KR" altLang="en-US" sz="2300" smtClean="0">
              <a:latin typeface="Arial" pitchFamily="34" charset="0"/>
              <a:ea typeface="Gulim" pitchFamily="34" charset="-127"/>
            </a:endParaRPr>
          </a:p>
          <a:p>
            <a:pPr eaLnBrk="1" hangingPunct="1">
              <a:buFont typeface="Arial" pitchFamily="34" charset="0"/>
              <a:buNone/>
            </a:pPr>
            <a:r>
              <a:rPr lang="en-US" altLang="ko-KR" sz="2700" smtClean="0">
                <a:solidFill>
                  <a:schemeClr val="hlink"/>
                </a:solidFill>
                <a:latin typeface="Arial" pitchFamily="34" charset="0"/>
                <a:ea typeface="Gulim" pitchFamily="34" charset="-127"/>
              </a:rPr>
              <a:t>Propionic Acid Bacteria</a:t>
            </a:r>
          </a:p>
          <a:p>
            <a:pPr lvl="1" eaLnBrk="1" hangingPunct="1">
              <a:lnSpc>
                <a:spcPct val="130000"/>
              </a:lnSpc>
            </a:pPr>
            <a:r>
              <a:rPr lang="en-US" altLang="ko-KR" sz="2300" smtClean="0">
                <a:latin typeface="Arial" pitchFamily="34" charset="0"/>
                <a:ea typeface="Gulim" pitchFamily="34" charset="-127"/>
              </a:rPr>
              <a:t>First discovered in Swiss cheese</a:t>
            </a:r>
          </a:p>
          <a:p>
            <a:pPr lvl="1" eaLnBrk="1" hangingPunct="1">
              <a:lnSpc>
                <a:spcPct val="130000"/>
              </a:lnSpc>
            </a:pPr>
            <a:r>
              <a:rPr lang="en-US" altLang="ko-KR" sz="2300" smtClean="0">
                <a:latin typeface="Arial" pitchFamily="34" charset="0"/>
                <a:ea typeface="Gulim" pitchFamily="34" charset="-127"/>
              </a:rPr>
              <a:t>Gram-positive anaerobes</a:t>
            </a:r>
          </a:p>
          <a:p>
            <a:pPr lvl="1" eaLnBrk="1" hangingPunct="1">
              <a:lnSpc>
                <a:spcPct val="130000"/>
              </a:lnSpc>
            </a:pPr>
            <a:r>
              <a:rPr lang="en-US" altLang="ko-KR" sz="2300" smtClean="0">
                <a:latin typeface="Arial" pitchFamily="34" charset="0"/>
                <a:ea typeface="Gulim" pitchFamily="34" charset="-127"/>
              </a:rPr>
              <a:t>Have metabolic strategy called </a:t>
            </a:r>
            <a:r>
              <a:rPr lang="en-US" altLang="ko-KR" sz="2300" smtClean="0">
                <a:solidFill>
                  <a:schemeClr val="hlink"/>
                </a:solidFill>
                <a:latin typeface="Arial" pitchFamily="34" charset="0"/>
                <a:ea typeface="Gulim" pitchFamily="34" charset="-127"/>
              </a:rPr>
              <a:t>secondary fermentation</a:t>
            </a:r>
          </a:p>
          <a:p>
            <a:pPr lvl="2" eaLnBrk="1" hangingPunct="1">
              <a:lnSpc>
                <a:spcPct val="130000"/>
              </a:lnSpc>
            </a:pPr>
            <a:r>
              <a:rPr lang="en-US" altLang="ko-KR" sz="2300" smtClean="0">
                <a:latin typeface="Arial" pitchFamily="34" charset="0"/>
                <a:ea typeface="Gulim" pitchFamily="34" charset="-127"/>
              </a:rPr>
              <a:t>Obtain energy from fermentation products produced by other bacteria </a:t>
            </a:r>
          </a:p>
          <a:p>
            <a:pPr lvl="2" eaLnBrk="1" hangingPunct="1">
              <a:lnSpc>
                <a:spcPct val="130000"/>
              </a:lnSpc>
              <a:buFont typeface="Wingdings" pitchFamily="2" charset="2"/>
              <a:buNone/>
            </a:pPr>
            <a:r>
              <a:rPr lang="en-US" altLang="ko-KR" sz="2300" smtClean="0">
                <a:latin typeface="Arial" pitchFamily="34" charset="0"/>
                <a:ea typeface="Gulim" pitchFamily="34" charset="-127"/>
              </a:rPr>
              <a:t>  - </a:t>
            </a:r>
            <a:r>
              <a:rPr lang="en-US" altLang="ko-KR" sz="2300" i="1" smtClean="0">
                <a:latin typeface="Arial" pitchFamily="34" charset="0"/>
                <a:ea typeface="Gulim" pitchFamily="34" charset="-127"/>
              </a:rPr>
              <a:t>Propionibacterium</a:t>
            </a:r>
            <a:r>
              <a:rPr lang="en-US" altLang="ko-KR" sz="2300" smtClean="0">
                <a:latin typeface="Arial" pitchFamily="34" charset="0"/>
                <a:ea typeface="Gulim" pitchFamily="34" charset="-127"/>
              </a:rPr>
              <a:t>: lactic acid</a:t>
            </a:r>
          </a:p>
          <a:p>
            <a:pPr lvl="2" eaLnBrk="1" hangingPunct="1">
              <a:lnSpc>
                <a:spcPct val="130000"/>
              </a:lnSpc>
              <a:buFont typeface="Wingdings" pitchFamily="2" charset="2"/>
              <a:buNone/>
            </a:pPr>
            <a:r>
              <a:rPr lang="en-US" altLang="ko-KR" sz="2300" smtClean="0">
                <a:latin typeface="Arial" pitchFamily="34" charset="0"/>
                <a:ea typeface="Gulim" pitchFamily="34" charset="-127"/>
              </a:rPr>
              <a:t>  - </a:t>
            </a:r>
            <a:r>
              <a:rPr lang="en-US" altLang="ko-KR" sz="2300" i="1" smtClean="0">
                <a:latin typeface="Arial" pitchFamily="34" charset="0"/>
                <a:ea typeface="Gulim" pitchFamily="34" charset="-127"/>
              </a:rPr>
              <a:t>Propionigenium</a:t>
            </a:r>
            <a:r>
              <a:rPr lang="en-US" altLang="ko-KR" sz="2300" smtClean="0">
                <a:latin typeface="Arial" pitchFamily="34" charset="0"/>
                <a:ea typeface="Gulim" pitchFamily="34" charset="-127"/>
              </a:rPr>
              <a:t>: succinate</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ko-KR" smtClean="0">
                <a:ea typeface="Gulim" pitchFamily="34" charset="-127"/>
              </a:rPr>
              <a:t>Actinobacteria: </a:t>
            </a:r>
            <a:r>
              <a:rPr lang="en-US" altLang="ko-KR" i="1" smtClean="0">
                <a:ea typeface="Gulim" pitchFamily="34" charset="-127"/>
              </a:rPr>
              <a:t>Mycobacterium</a:t>
            </a:r>
            <a:endParaRPr lang="en-US" altLang="ko-KR" smtClean="0">
              <a:ea typeface="Gulim" pitchFamily="34" charset="-127"/>
            </a:endParaRPr>
          </a:p>
        </p:txBody>
      </p:sp>
      <p:sp>
        <p:nvSpPr>
          <p:cNvPr id="23555" name="Rectangle 3"/>
          <p:cNvSpPr>
            <a:spLocks noGrp="1" noChangeArrowheads="1"/>
          </p:cNvSpPr>
          <p:nvPr>
            <p:ph idx="1"/>
          </p:nvPr>
        </p:nvSpPr>
        <p:spPr/>
        <p:txBody>
          <a:bodyPr/>
          <a:lstStyle/>
          <a:p>
            <a:pPr eaLnBrk="1" hangingPunct="1">
              <a:lnSpc>
                <a:spcPct val="90000"/>
              </a:lnSpc>
            </a:pPr>
            <a:endParaRPr lang="ko-KR" altLang="en-US" sz="2300" smtClean="0">
              <a:latin typeface="Arial" pitchFamily="34" charset="0"/>
              <a:ea typeface="Gulim" pitchFamily="34" charset="-127"/>
            </a:endParaRPr>
          </a:p>
          <a:p>
            <a:pPr eaLnBrk="1" hangingPunct="1">
              <a:buFont typeface="Arial" pitchFamily="34" charset="0"/>
              <a:buNone/>
            </a:pPr>
            <a:r>
              <a:rPr lang="en-US" altLang="ko-KR" sz="2700" i="1" smtClean="0">
                <a:latin typeface="Arial" pitchFamily="34" charset="0"/>
                <a:ea typeface="Gulim" pitchFamily="34" charset="-127"/>
              </a:rPr>
              <a:t>Mycobacterium</a:t>
            </a:r>
            <a:endParaRPr lang="en-US" altLang="ko-KR" sz="2700" smtClean="0">
              <a:latin typeface="Arial" pitchFamily="34" charset="0"/>
              <a:ea typeface="Gulim" pitchFamily="34" charset="-127"/>
            </a:endParaRPr>
          </a:p>
          <a:p>
            <a:pPr lvl="1" eaLnBrk="1" hangingPunct="1"/>
            <a:r>
              <a:rPr lang="en-US" altLang="ko-KR" sz="2300" smtClean="0">
                <a:latin typeface="Arial" pitchFamily="34" charset="0"/>
                <a:ea typeface="Gulim" pitchFamily="34" charset="-127"/>
              </a:rPr>
              <a:t>Rod-shaped organisms, exhibit </a:t>
            </a:r>
            <a:r>
              <a:rPr lang="en-US" altLang="ko-KR" sz="2300" smtClean="0">
                <a:solidFill>
                  <a:schemeClr val="hlink"/>
                </a:solidFill>
                <a:latin typeface="Arial" pitchFamily="34" charset="0"/>
                <a:ea typeface="Gulim" pitchFamily="34" charset="-127"/>
              </a:rPr>
              <a:t>acid-fastness</a:t>
            </a:r>
          </a:p>
          <a:p>
            <a:pPr lvl="1" eaLnBrk="1" hangingPunct="1"/>
            <a:r>
              <a:rPr lang="en-US" altLang="ko-KR" sz="2300" smtClean="0">
                <a:latin typeface="Arial" pitchFamily="34" charset="0"/>
                <a:ea typeface="Gulim" pitchFamily="34" charset="-127"/>
              </a:rPr>
              <a:t>First discovered by Robert Koch</a:t>
            </a:r>
          </a:p>
          <a:p>
            <a:pPr lvl="1" eaLnBrk="1" hangingPunct="1"/>
            <a:r>
              <a:rPr lang="en-US" altLang="ko-KR" sz="2300" smtClean="0">
                <a:latin typeface="Arial" pitchFamily="34" charset="0"/>
                <a:ea typeface="Gulim" pitchFamily="34" charset="-127"/>
              </a:rPr>
              <a:t>Not readily stained by Gram stain because of high surface lipid content  </a:t>
            </a:r>
          </a:p>
          <a:p>
            <a:pPr lvl="1" eaLnBrk="1" hangingPunct="1"/>
            <a:r>
              <a:rPr lang="en-US" altLang="ko-KR" sz="2300" smtClean="0">
                <a:latin typeface="Arial" pitchFamily="34" charset="0"/>
                <a:ea typeface="Gulim" pitchFamily="34" charset="-127"/>
              </a:rPr>
              <a:t>Cells are somewhat pleomorphic</a:t>
            </a:r>
          </a:p>
          <a:p>
            <a:pPr lvl="1" eaLnBrk="1" hangingPunct="1"/>
            <a:r>
              <a:rPr lang="en-US" altLang="ko-KR" sz="2300" smtClean="0">
                <a:latin typeface="Arial" pitchFamily="34" charset="0"/>
                <a:ea typeface="Gulim" pitchFamily="34" charset="-127"/>
              </a:rPr>
              <a:t>Separated into two groups: slow and fast growers</a:t>
            </a:r>
          </a:p>
          <a:p>
            <a:pPr lvl="1" eaLnBrk="1" hangingPunct="1"/>
            <a:r>
              <a:rPr lang="en-US" altLang="ko-KR" sz="2300" smtClean="0">
                <a:latin typeface="Arial" pitchFamily="34" charset="0"/>
                <a:ea typeface="Gulim" pitchFamily="34" charset="-127"/>
              </a:rPr>
              <a:t>Classified into three groups based on pigmentation</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a:solidFill>
                  <a:srgbClr val="404040"/>
                </a:solidFill>
                <a:latin typeface="Arial Narrow" pitchFamily="34" charset="0"/>
                <a:ea typeface="Gulim" pitchFamily="34" charset="-127"/>
              </a:rPr>
              <a:t>Characteristic Colony Morphology of Mycobacteria</a:t>
            </a:r>
          </a:p>
        </p:txBody>
      </p:sp>
      <p:sp>
        <p:nvSpPr>
          <p:cNvPr id="25603" name="Text Box 1028"/>
          <p:cNvSpPr txBox="1">
            <a:spLocks noChangeArrowheads="1"/>
          </p:cNvSpPr>
          <p:nvPr/>
        </p:nvSpPr>
        <p:spPr bwMode="auto">
          <a:xfrm>
            <a:off x="7705725" y="6107113"/>
            <a:ext cx="1092200" cy="252412"/>
          </a:xfrm>
          <a:prstGeom prst="rect">
            <a:avLst/>
          </a:prstGeom>
          <a:noFill/>
          <a:ln w="9525">
            <a:noFill/>
            <a:miter lim="800000"/>
            <a:headEnd/>
            <a:tailEnd/>
          </a:ln>
        </p:spPr>
        <p:txBody>
          <a:bodyPr lIns="82058" tIns="41029" rIns="82058" bIns="41029">
            <a:spAutoFit/>
          </a:bodyPr>
          <a:lstStyle/>
          <a:p>
            <a:pPr algn="r" eaLnBrk="0" hangingPunct="0"/>
            <a:r>
              <a:rPr lang="en-US" altLang="ko-KR" sz="1100">
                <a:ea typeface="Gulim" pitchFamily="34" charset="-127"/>
              </a:rPr>
              <a:t>Figure 16.16</a:t>
            </a:r>
          </a:p>
        </p:txBody>
      </p:sp>
      <p:pic>
        <p:nvPicPr>
          <p:cNvPr id="25604" name="Picture 1029" descr="16_16Figure-L"/>
          <p:cNvPicPr>
            <a:picLocks noChangeAspect="1" noChangeArrowheads="1"/>
          </p:cNvPicPr>
          <p:nvPr/>
        </p:nvPicPr>
        <p:blipFill>
          <a:blip r:embed="rId3"/>
          <a:srcRect b="2715"/>
          <a:stretch>
            <a:fillRect/>
          </a:stretch>
        </p:blipFill>
        <p:spPr bwMode="auto">
          <a:xfrm>
            <a:off x="1354138" y="781050"/>
            <a:ext cx="6451600" cy="5673725"/>
          </a:xfrm>
          <a:prstGeom prst="rect">
            <a:avLst/>
          </a:prstGeom>
          <a:noFill/>
          <a:ln w="9525">
            <a:noFill/>
            <a:miter lim="800000"/>
            <a:headEnd/>
            <a:tailEnd/>
          </a:ln>
        </p:spPr>
      </p:pic>
      <p:sp>
        <p:nvSpPr>
          <p:cNvPr id="25605" name="Text Box 1030"/>
          <p:cNvSpPr txBox="1">
            <a:spLocks noChangeArrowheads="1"/>
          </p:cNvSpPr>
          <p:nvPr/>
        </p:nvSpPr>
        <p:spPr bwMode="auto">
          <a:xfrm>
            <a:off x="1728788" y="3416300"/>
            <a:ext cx="2016125" cy="514350"/>
          </a:xfrm>
          <a:prstGeom prst="rect">
            <a:avLst/>
          </a:prstGeom>
          <a:noFill/>
          <a:ln w="9525">
            <a:noFill/>
            <a:miter lim="800000"/>
            <a:headEnd/>
            <a:tailEnd/>
          </a:ln>
        </p:spPr>
        <p:txBody>
          <a:bodyPr lIns="82058" tIns="41029" rIns="82058" bIns="41029">
            <a:spAutoFit/>
          </a:bodyPr>
          <a:lstStyle/>
          <a:p>
            <a:pPr>
              <a:spcBef>
                <a:spcPct val="50000"/>
              </a:spcBef>
            </a:pPr>
            <a:r>
              <a:rPr lang="en-US" altLang="ko-KR" sz="1400" b="1" i="1">
                <a:ea typeface="Gulim" pitchFamily="34" charset="-127"/>
              </a:rPr>
              <a:t>M. tuberculosis</a:t>
            </a:r>
            <a:r>
              <a:rPr lang="en-US" altLang="ko-KR" sz="1400" b="1">
                <a:ea typeface="Gulim" pitchFamily="34" charset="-127"/>
              </a:rPr>
              <a:t> colony</a:t>
            </a:r>
          </a:p>
        </p:txBody>
      </p:sp>
      <p:sp>
        <p:nvSpPr>
          <p:cNvPr id="25606" name="Text Box 1031"/>
          <p:cNvSpPr txBox="1">
            <a:spLocks noChangeArrowheads="1"/>
          </p:cNvSpPr>
          <p:nvPr/>
        </p:nvSpPr>
        <p:spPr bwMode="auto">
          <a:xfrm>
            <a:off x="4619625" y="3411538"/>
            <a:ext cx="2903538" cy="514350"/>
          </a:xfrm>
          <a:prstGeom prst="rect">
            <a:avLst/>
          </a:prstGeom>
          <a:noFill/>
          <a:ln w="9525">
            <a:noFill/>
            <a:miter lim="800000"/>
            <a:headEnd/>
            <a:tailEnd/>
          </a:ln>
        </p:spPr>
        <p:txBody>
          <a:bodyPr lIns="82058" tIns="41029" rIns="82058" bIns="41029">
            <a:spAutoFit/>
          </a:bodyPr>
          <a:lstStyle/>
          <a:p>
            <a:pPr>
              <a:spcBef>
                <a:spcPct val="50000"/>
              </a:spcBef>
            </a:pPr>
            <a:r>
              <a:rPr lang="en-US" altLang="ko-KR" sz="1400" b="1">
                <a:ea typeface="Gulim" pitchFamily="34" charset="-127"/>
              </a:rPr>
              <a:t>Colony of </a:t>
            </a:r>
            <a:r>
              <a:rPr lang="en-US" altLang="ko-KR" sz="1400" b="1" i="1">
                <a:ea typeface="Gulim" pitchFamily="34" charset="-127"/>
              </a:rPr>
              <a:t> </a:t>
            </a:r>
            <a:r>
              <a:rPr lang="en-US" altLang="ko-KR" sz="1400" b="1">
                <a:ea typeface="Gulim" pitchFamily="34" charset="-127"/>
              </a:rPr>
              <a:t>virulent</a:t>
            </a:r>
            <a:r>
              <a:rPr lang="en-US" altLang="ko-KR" sz="1400" b="1" i="1">
                <a:ea typeface="Gulim" pitchFamily="34" charset="-127"/>
              </a:rPr>
              <a:t> M. tuberculosis</a:t>
            </a:r>
            <a:r>
              <a:rPr lang="en-US" altLang="ko-KR" sz="1400" b="1">
                <a:ea typeface="Gulim" pitchFamily="34" charset="-127"/>
              </a:rPr>
              <a:t> at an early stage</a:t>
            </a:r>
          </a:p>
        </p:txBody>
      </p:sp>
      <p:sp>
        <p:nvSpPr>
          <p:cNvPr id="25607" name="Text Box 1032"/>
          <p:cNvSpPr txBox="1">
            <a:spLocks noChangeArrowheads="1"/>
          </p:cNvSpPr>
          <p:nvPr/>
        </p:nvSpPr>
        <p:spPr bwMode="auto">
          <a:xfrm>
            <a:off x="1820863" y="6156325"/>
            <a:ext cx="2016125" cy="298450"/>
          </a:xfrm>
          <a:prstGeom prst="rect">
            <a:avLst/>
          </a:prstGeom>
          <a:noFill/>
          <a:ln w="9525">
            <a:noFill/>
            <a:miter lim="800000"/>
            <a:headEnd/>
            <a:tailEnd/>
          </a:ln>
        </p:spPr>
        <p:txBody>
          <a:bodyPr lIns="82058" tIns="41029" rIns="82058" bIns="41029">
            <a:spAutoFit/>
          </a:bodyPr>
          <a:lstStyle/>
          <a:p>
            <a:pPr>
              <a:spcBef>
                <a:spcPct val="50000"/>
              </a:spcBef>
            </a:pPr>
            <a:r>
              <a:rPr lang="en-US" altLang="ko-KR" sz="1400" b="1" i="1">
                <a:ea typeface="Gulim" pitchFamily="34" charset="-127"/>
              </a:rPr>
              <a:t>M. avium</a:t>
            </a:r>
            <a:r>
              <a:rPr lang="en-US" altLang="ko-KR" sz="1400" b="1">
                <a:ea typeface="Gulim" pitchFamily="34" charset="-127"/>
              </a:rPr>
              <a:t> colonies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457200" y="274638"/>
            <a:ext cx="8229600" cy="868362"/>
          </a:xfrm>
        </p:spPr>
        <p:txBody>
          <a:bodyPr/>
          <a:lstStyle/>
          <a:p>
            <a:r>
              <a:rPr lang="en-US" sz="4000" b="1" smtClean="0"/>
              <a:t>Actinomycetes</a:t>
            </a:r>
            <a:r>
              <a:rPr lang="en-US" sz="4000" smtClean="0"/>
              <a:t/>
            </a:r>
            <a:br>
              <a:rPr lang="en-US" sz="4000" smtClean="0"/>
            </a:br>
            <a:endParaRPr lang="en-US" sz="4000" smtClean="0"/>
          </a:p>
        </p:txBody>
      </p:sp>
      <p:sp>
        <p:nvSpPr>
          <p:cNvPr id="39939" name="Content Placeholder 2"/>
          <p:cNvSpPr>
            <a:spLocks noGrp="1"/>
          </p:cNvSpPr>
          <p:nvPr>
            <p:ph idx="1"/>
          </p:nvPr>
        </p:nvSpPr>
        <p:spPr>
          <a:xfrm>
            <a:off x="0" y="838200"/>
            <a:ext cx="9144000" cy="6019800"/>
          </a:xfrm>
        </p:spPr>
        <p:txBody>
          <a:bodyPr/>
          <a:lstStyle/>
          <a:p>
            <a:pPr>
              <a:buFont typeface="Arial" pitchFamily="34" charset="0"/>
              <a:buNone/>
            </a:pPr>
            <a:r>
              <a:rPr lang="en-US" smtClean="0"/>
              <a:t/>
            </a:r>
            <a:br>
              <a:rPr lang="en-US" smtClean="0"/>
            </a:br>
            <a:r>
              <a:rPr lang="en-US" smtClean="0"/>
              <a:t>These are soil organisms which have characteristics common to bacteria and fungi and yet possess sufficient distinctive features to delimit them into a distinct category. On agar plates, they can easily be distinguished from true bacteria. </a:t>
            </a:r>
          </a:p>
          <a:p>
            <a:pPr>
              <a:buFont typeface="Arial" pitchFamily="34" charset="0"/>
              <a:buNone/>
            </a:pPr>
            <a:r>
              <a:rPr lang="en-US" b="1" smtClean="0"/>
              <a:t>Unlike slimy distinct colonies of true bacteria which grow quickly, actinomycete colonies appear slowly, show powdery consistency and stick firmly to agar surface</a:t>
            </a:r>
            <a:r>
              <a:rPr lang="en-US" smtClean="0"/>
              <a: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endParaRPr lang="en-US" smtClean="0"/>
          </a:p>
        </p:txBody>
      </p:sp>
      <p:sp>
        <p:nvSpPr>
          <p:cNvPr id="41987" name="Content Placeholder 2"/>
          <p:cNvSpPr>
            <a:spLocks noGrp="1"/>
          </p:cNvSpPr>
          <p:nvPr>
            <p:ph idx="1"/>
          </p:nvPr>
        </p:nvSpPr>
        <p:spPr/>
        <p:txBody>
          <a:bodyPr/>
          <a:lstStyle/>
          <a:p>
            <a:pPr>
              <a:buFont typeface="Arial" pitchFamily="34" charset="0"/>
              <a:buNone/>
            </a:pPr>
            <a:r>
              <a:rPr lang="en-US" smtClean="0"/>
              <a:t>Viruses are known to attack bacteria and actinomycetes but not fungi. Actinomycetes differ from fungi in the composition of their cell wall. They do not have chitin and cellulose which are commonly found in the cell walls of fungi.</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idx="4294967295"/>
          </p:nvPr>
        </p:nvSpPr>
        <p:spPr>
          <a:xfrm>
            <a:off x="0" y="228600"/>
            <a:ext cx="8534400" cy="758825"/>
          </a:xfrm>
        </p:spPr>
        <p:txBody>
          <a:bodyPr/>
          <a:lstStyle/>
          <a:p>
            <a:r>
              <a:rPr lang="en-US" b="1" smtClean="0"/>
              <a:t>Aerobic </a:t>
            </a:r>
            <a:r>
              <a:rPr lang="en-US" b="1" i="1" smtClean="0"/>
              <a:t>Actinomycetes</a:t>
            </a:r>
            <a:r>
              <a:rPr lang="en-US" b="1" smtClean="0"/>
              <a:t>: Natural Habitats</a:t>
            </a:r>
          </a:p>
        </p:txBody>
      </p:sp>
      <p:sp>
        <p:nvSpPr>
          <p:cNvPr id="179203" name="Rectangle 3"/>
          <p:cNvSpPr>
            <a:spLocks noGrp="1" noChangeArrowheads="1"/>
          </p:cNvSpPr>
          <p:nvPr>
            <p:ph type="body" idx="4294967295"/>
          </p:nvPr>
        </p:nvSpPr>
        <p:spPr>
          <a:xfrm>
            <a:off x="0" y="1524000"/>
            <a:ext cx="8534400" cy="4598988"/>
          </a:xfrm>
        </p:spPr>
        <p:txBody>
          <a:bodyPr/>
          <a:lstStyle/>
          <a:p>
            <a:r>
              <a:rPr lang="en-US" sz="2400" b="1" i="1" dirty="0" err="1" smtClean="0"/>
              <a:t>Nocardia</a:t>
            </a:r>
            <a:r>
              <a:rPr lang="en-US" sz="2400" b="1" dirty="0" smtClean="0"/>
              <a:t> species and other aerobic </a:t>
            </a:r>
            <a:r>
              <a:rPr lang="en-US" sz="2400" b="1" i="1" dirty="0" err="1" smtClean="0"/>
              <a:t>Actinomycetes</a:t>
            </a:r>
            <a:r>
              <a:rPr lang="en-US" sz="2400" b="1" dirty="0" smtClean="0"/>
              <a:t> ubiquitous in soil and primarily responsible for decomposition of organic plant matter</a:t>
            </a:r>
          </a:p>
          <a:p>
            <a:r>
              <a:rPr lang="en-US" b="1" i="1" dirty="0" err="1" smtClean="0"/>
              <a:t>Rhodococcus</a:t>
            </a:r>
            <a:r>
              <a:rPr lang="en-US" b="1" i="1" dirty="0" smtClean="0"/>
              <a:t> </a:t>
            </a:r>
            <a:r>
              <a:rPr lang="en-US" b="1" dirty="0" smtClean="0"/>
              <a:t>species present in the intestinal bacterial flora of grazing herbivores especially horses</a:t>
            </a:r>
          </a:p>
          <a:p>
            <a:r>
              <a:rPr lang="en-US" b="1" i="1" dirty="0" err="1" smtClean="0"/>
              <a:t>Streptomyces</a:t>
            </a:r>
            <a:r>
              <a:rPr lang="en-US" b="1" i="1" dirty="0" smtClean="0"/>
              <a:t> </a:t>
            </a:r>
            <a:r>
              <a:rPr lang="en-US" b="1" dirty="0" smtClean="0"/>
              <a:t>species (&gt;3,000) widely distributed in soil</a:t>
            </a: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idx="4294967295"/>
          </p:nvPr>
        </p:nvSpPr>
        <p:spPr>
          <a:xfrm>
            <a:off x="0" y="228600"/>
            <a:ext cx="8534400" cy="758825"/>
          </a:xfrm>
        </p:spPr>
        <p:txBody>
          <a:bodyPr/>
          <a:lstStyle/>
          <a:p>
            <a:r>
              <a:rPr lang="en-US" b="1" smtClean="0"/>
              <a:t>Taxonomy of the Aerobic </a:t>
            </a:r>
            <a:r>
              <a:rPr lang="en-US" b="1" i="1" smtClean="0"/>
              <a:t>Actinomycetes</a:t>
            </a:r>
          </a:p>
        </p:txBody>
      </p:sp>
      <p:sp>
        <p:nvSpPr>
          <p:cNvPr id="165891" name="Rectangle 3"/>
          <p:cNvSpPr>
            <a:spLocks noGrp="1" noChangeArrowheads="1"/>
          </p:cNvSpPr>
          <p:nvPr>
            <p:ph type="body" idx="4294967295"/>
          </p:nvPr>
        </p:nvSpPr>
        <p:spPr>
          <a:xfrm>
            <a:off x="0" y="1524000"/>
            <a:ext cx="8534400" cy="4598988"/>
          </a:xfrm>
        </p:spPr>
        <p:txBody>
          <a:bodyPr/>
          <a:lstStyle/>
          <a:p>
            <a:pPr>
              <a:buFont typeface="Arial" pitchFamily="34" charset="0"/>
              <a:buNone/>
            </a:pPr>
            <a:r>
              <a:rPr lang="en-US" b="1" smtClean="0"/>
              <a:t>Gram-positive branching filaments that sporulate or fragment: the aerobic </a:t>
            </a:r>
          </a:p>
          <a:p>
            <a:pPr>
              <a:buFontTx/>
              <a:buNone/>
            </a:pPr>
            <a:r>
              <a:rPr lang="en-US" b="1" smtClean="0"/>
              <a:t>	</a:t>
            </a:r>
            <a:r>
              <a:rPr lang="en-US" b="1" i="1" smtClean="0"/>
              <a:t>Actinomycetes</a:t>
            </a:r>
            <a:r>
              <a:rPr lang="en-US" b="1" smtClean="0"/>
              <a:t> (order </a:t>
            </a:r>
            <a:r>
              <a:rPr lang="en-US" b="1" i="1" smtClean="0"/>
              <a:t>Actinomycetales</a:t>
            </a:r>
            <a:r>
              <a:rPr lang="en-US" b="1" smtClean="0"/>
              <a:t>)</a:t>
            </a:r>
          </a:p>
          <a:p>
            <a:pPr>
              <a:buFont typeface="Arial" pitchFamily="34" charset="0"/>
              <a:buNone/>
            </a:pPr>
            <a:r>
              <a:rPr lang="en-US" b="1" smtClean="0"/>
              <a:t>Aerobic </a:t>
            </a:r>
            <a:r>
              <a:rPr lang="en-US" b="1" i="1" smtClean="0"/>
              <a:t>Actinomycetes</a:t>
            </a:r>
            <a:r>
              <a:rPr lang="en-US" b="1" smtClean="0"/>
              <a:t> whose cell walls contain mycolic acid: </a:t>
            </a:r>
            <a:r>
              <a:rPr lang="en-US" b="1" i="1" smtClean="0"/>
              <a:t>Nocardia</a:t>
            </a:r>
            <a:r>
              <a:rPr lang="en-US" b="1" smtClean="0"/>
              <a:t> species and </a:t>
            </a:r>
            <a:r>
              <a:rPr lang="en-US" b="1" i="1" smtClean="0"/>
              <a:t>Rhodococcus</a:t>
            </a:r>
            <a:r>
              <a:rPr lang="en-US" b="1" smtClean="0"/>
              <a:t> species (family </a:t>
            </a:r>
            <a:r>
              <a:rPr lang="en-US" b="1" i="1" smtClean="0"/>
              <a:t>Nocardiaceae</a:t>
            </a:r>
            <a:r>
              <a:rPr lang="en-US" b="1" smtClean="0"/>
              <a:t>)</a:t>
            </a:r>
          </a:p>
          <a:p>
            <a:pPr>
              <a:buFont typeface="Arial" pitchFamily="34" charset="0"/>
              <a:buNone/>
            </a:pPr>
            <a:r>
              <a:rPr lang="en-US" b="1" smtClean="0"/>
              <a:t>Aerobic </a:t>
            </a:r>
            <a:r>
              <a:rPr lang="en-US" b="1" i="1" smtClean="0"/>
              <a:t>Actinomycetes</a:t>
            </a:r>
            <a:r>
              <a:rPr lang="en-US" b="1" smtClean="0"/>
              <a:t> whose cell walls lack mycolic acid: </a:t>
            </a:r>
            <a:r>
              <a:rPr lang="en-US" b="1" i="1" smtClean="0"/>
              <a:t>Streptomyces</a:t>
            </a:r>
            <a:r>
              <a:rPr lang="en-US" b="1" smtClean="0"/>
              <a:t> species</a:t>
            </a: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endParaRPr lang="en-US" smtClean="0"/>
          </a:p>
        </p:txBody>
      </p:sp>
      <p:sp>
        <p:nvSpPr>
          <p:cNvPr id="43011" name="Content Placeholder 2"/>
          <p:cNvSpPr>
            <a:spLocks noGrp="1"/>
          </p:cNvSpPr>
          <p:nvPr>
            <p:ph idx="1"/>
          </p:nvPr>
        </p:nvSpPr>
        <p:spPr/>
        <p:txBody>
          <a:bodyPr/>
          <a:lstStyle/>
          <a:p>
            <a:pPr>
              <a:buFont typeface="Arial" pitchFamily="34" charset="0"/>
              <a:buNone/>
            </a:pPr>
            <a:r>
              <a:rPr lang="en-US" dirty="0" smtClean="0"/>
              <a:t>The number of </a:t>
            </a:r>
            <a:r>
              <a:rPr lang="en-US" dirty="0" err="1" smtClean="0"/>
              <a:t>actinomycetes</a:t>
            </a:r>
            <a:r>
              <a:rPr lang="en-US" dirty="0" smtClean="0"/>
              <a:t> increases in the presence of decomposing organic matter. As a rule, they are intolerant to acidity and their numbers decline at pH 5.0. The most conducive range of pH is between 6.5 and 8.0.</a:t>
            </a:r>
          </a:p>
          <a:p>
            <a:pPr>
              <a:buFont typeface="Arial" pitchFamily="34" charset="0"/>
              <a:buNone/>
            </a:pPr>
            <a:r>
              <a:rPr lang="en-US" dirty="0" err="1" smtClean="0"/>
              <a:t>Waterlogging</a:t>
            </a:r>
            <a:r>
              <a:rPr lang="en-US" dirty="0" smtClean="0"/>
              <a:t> of soil is </a:t>
            </a:r>
            <a:r>
              <a:rPr lang="en-US" dirty="0" err="1" smtClean="0"/>
              <a:t>unfavourable</a:t>
            </a:r>
            <a:r>
              <a:rPr lang="en-US" dirty="0" smtClean="0"/>
              <a:t> for the growth of </a:t>
            </a:r>
            <a:r>
              <a:rPr lang="en-US" dirty="0" err="1" smtClean="0"/>
              <a:t>actinomycetes</a:t>
            </a:r>
            <a:r>
              <a:rPr lang="en-US" dirty="0" smtClean="0"/>
              <a:t> whereas </a:t>
            </a:r>
            <a:r>
              <a:rPr lang="en-US" dirty="0" err="1" smtClean="0"/>
              <a:t>desertic</a:t>
            </a:r>
            <a:r>
              <a:rPr lang="en-US" dirty="0" smtClean="0"/>
              <a:t> soils of arid and semi-arid zones sustain sizeable population, probably due to the resistance of spores to desiccation.</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endParaRPr lang="en-US" smtClean="0"/>
          </a:p>
        </p:txBody>
      </p:sp>
      <p:sp>
        <p:nvSpPr>
          <p:cNvPr id="45059" name="Content Placeholder 2"/>
          <p:cNvSpPr>
            <a:spLocks noGrp="1"/>
          </p:cNvSpPr>
          <p:nvPr>
            <p:ph idx="1"/>
          </p:nvPr>
        </p:nvSpPr>
        <p:spPr/>
        <p:txBody>
          <a:bodyPr/>
          <a:lstStyle/>
          <a:p>
            <a:pPr>
              <a:buFont typeface="Arial" pitchFamily="34" charset="0"/>
              <a:buNone/>
            </a:pPr>
            <a:r>
              <a:rPr lang="en-US" smtClean="0"/>
              <a:t>The percentage of actinomycetes in the total microbial population increases with the depth of soil and actinomycetes can be isolated in sufficient number even from soil samples obtained from the C horizon of a soil profile.</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p:txBody>
          <a:bodyPr/>
          <a:lstStyle/>
          <a:p>
            <a:pPr eaLnBrk="1" hangingPunct="1"/>
            <a:r>
              <a:rPr lang="en-US" altLang="ko-KR" smtClean="0">
                <a:ea typeface="Gulim" pitchFamily="34" charset="-127"/>
              </a:rPr>
              <a:t>Filamentous Actinobacteria: </a:t>
            </a:r>
            <a:r>
              <a:rPr lang="en-US" altLang="ko-KR" i="1" smtClean="0">
                <a:ea typeface="Gulim" pitchFamily="34" charset="-127"/>
              </a:rPr>
              <a:t>Streptomyces </a:t>
            </a:r>
            <a:r>
              <a:rPr lang="en-US" altLang="ko-KR" smtClean="0">
                <a:ea typeface="Gulim" pitchFamily="34" charset="-127"/>
              </a:rPr>
              <a:t>&amp; Others</a:t>
            </a:r>
          </a:p>
        </p:txBody>
      </p:sp>
      <p:sp>
        <p:nvSpPr>
          <p:cNvPr id="50179" name="Rectangle 1027"/>
          <p:cNvSpPr>
            <a:spLocks noGrp="1" noChangeArrowheads="1"/>
          </p:cNvSpPr>
          <p:nvPr>
            <p:ph idx="1"/>
          </p:nvPr>
        </p:nvSpPr>
        <p:spPr>
          <a:xfrm>
            <a:off x="0" y="1524000"/>
            <a:ext cx="9144000" cy="5334000"/>
          </a:xfrm>
        </p:spPr>
        <p:txBody>
          <a:bodyPr/>
          <a:lstStyle/>
          <a:p>
            <a:pPr eaLnBrk="1" hangingPunct="1"/>
            <a:r>
              <a:rPr lang="en-US" altLang="ko-KR" smtClean="0">
                <a:latin typeface="Arial" pitchFamily="34" charset="0"/>
                <a:ea typeface="Gulim" pitchFamily="34" charset="-127"/>
              </a:rPr>
              <a:t>Key genera: </a:t>
            </a:r>
            <a:r>
              <a:rPr lang="en-US" altLang="ko-KR" i="1" smtClean="0">
                <a:latin typeface="Arial" pitchFamily="34" charset="0"/>
                <a:ea typeface="Gulim" pitchFamily="34" charset="-127"/>
              </a:rPr>
              <a:t>Streptomyces, Actinomyces</a:t>
            </a:r>
            <a:endParaRPr lang="en-US" altLang="ko-KR" smtClean="0">
              <a:latin typeface="Arial" pitchFamily="34" charset="0"/>
              <a:ea typeface="Gulim" pitchFamily="34" charset="-127"/>
            </a:endParaRPr>
          </a:p>
          <a:p>
            <a:pPr lvl="1" eaLnBrk="1" hangingPunct="1">
              <a:lnSpc>
                <a:spcPct val="130000"/>
              </a:lnSpc>
            </a:pPr>
            <a:r>
              <a:rPr lang="en-US" altLang="ko-KR" sz="2200" smtClean="0">
                <a:latin typeface="Arial" pitchFamily="34" charset="0"/>
                <a:ea typeface="Gulim" pitchFamily="34" charset="-127"/>
              </a:rPr>
              <a:t>Filamentous, gram-positive bacteria</a:t>
            </a:r>
          </a:p>
          <a:p>
            <a:pPr lvl="1" eaLnBrk="1" hangingPunct="1">
              <a:lnSpc>
                <a:spcPct val="130000"/>
              </a:lnSpc>
            </a:pPr>
            <a:r>
              <a:rPr lang="en-US" altLang="ko-KR" sz="2200" smtClean="0">
                <a:latin typeface="Arial" pitchFamily="34" charset="0"/>
                <a:ea typeface="Gulim" pitchFamily="34" charset="-127"/>
              </a:rPr>
              <a:t>Produce </a:t>
            </a:r>
            <a:r>
              <a:rPr lang="en-US" altLang="ko-KR" sz="2200" smtClean="0">
                <a:solidFill>
                  <a:schemeClr val="hlink"/>
                </a:solidFill>
                <a:latin typeface="Arial" pitchFamily="34" charset="0"/>
                <a:ea typeface="Gulim" pitchFamily="34" charset="-127"/>
              </a:rPr>
              <a:t>mycelium</a:t>
            </a:r>
            <a:r>
              <a:rPr lang="en-US" altLang="ko-KR" sz="2200" smtClean="0">
                <a:latin typeface="Arial" pitchFamily="34" charset="0"/>
                <a:ea typeface="Gulim" pitchFamily="34" charset="-127"/>
              </a:rPr>
              <a:t> analogous to mycelium of filamentous fungi</a:t>
            </a:r>
          </a:p>
          <a:p>
            <a:pPr lvl="1" eaLnBrk="1" hangingPunct="1">
              <a:lnSpc>
                <a:spcPct val="130000"/>
              </a:lnSpc>
            </a:pPr>
            <a:r>
              <a:rPr lang="en-US" altLang="ko-KR" sz="2200" smtClean="0">
                <a:latin typeface="Arial" pitchFamily="34" charset="0"/>
                <a:ea typeface="Gulim" pitchFamily="34" charset="-127"/>
              </a:rPr>
              <a:t>Over 500 species of </a:t>
            </a:r>
            <a:r>
              <a:rPr lang="en-US" altLang="ko-KR" sz="2200" i="1" smtClean="0">
                <a:latin typeface="Arial" pitchFamily="34" charset="0"/>
                <a:ea typeface="Gulim" pitchFamily="34" charset="-127"/>
              </a:rPr>
              <a:t>Streptomyces</a:t>
            </a:r>
            <a:r>
              <a:rPr lang="en-US" altLang="ko-KR" sz="2200" smtClean="0">
                <a:latin typeface="Arial" pitchFamily="34" charset="0"/>
                <a:ea typeface="Gulim" pitchFamily="34" charset="-127"/>
              </a:rPr>
              <a:t> are recognized</a:t>
            </a:r>
          </a:p>
          <a:p>
            <a:pPr lvl="1" eaLnBrk="1" hangingPunct="1">
              <a:lnSpc>
                <a:spcPct val="130000"/>
              </a:lnSpc>
            </a:pPr>
            <a:r>
              <a:rPr lang="en-US" altLang="ko-KR" sz="2200" i="1" smtClean="0">
                <a:latin typeface="Arial" pitchFamily="34" charset="0"/>
                <a:ea typeface="Gulim" pitchFamily="34" charset="-127"/>
              </a:rPr>
              <a:t>Streptomyces</a:t>
            </a:r>
            <a:r>
              <a:rPr lang="en-US" altLang="ko-KR" sz="2200" smtClean="0">
                <a:latin typeface="Arial" pitchFamily="34" charset="0"/>
                <a:ea typeface="Gulim" pitchFamily="34" charset="-127"/>
              </a:rPr>
              <a:t> spores are called </a:t>
            </a:r>
            <a:r>
              <a:rPr lang="en-US" altLang="ko-KR" sz="2200" smtClean="0">
                <a:solidFill>
                  <a:schemeClr val="hlink"/>
                </a:solidFill>
                <a:latin typeface="Arial" pitchFamily="34" charset="0"/>
                <a:ea typeface="Gulim" pitchFamily="34" charset="-127"/>
              </a:rPr>
              <a:t>conidia </a:t>
            </a:r>
            <a:r>
              <a:rPr lang="en-US" altLang="ko-KR" sz="2200" smtClean="0">
                <a:latin typeface="Arial" pitchFamily="34" charset="0"/>
                <a:ea typeface="Gulim" pitchFamily="34" charset="-127"/>
              </a:rPr>
              <a:t>(in the aerial mycelium</a:t>
            </a:r>
            <a:r>
              <a:rPr lang="en-US" altLang="ko-KR" sz="2200" smtClean="0">
                <a:solidFill>
                  <a:schemeClr val="hlink"/>
                </a:solidFill>
                <a:latin typeface="Arial" pitchFamily="34" charset="0"/>
                <a:ea typeface="Gulim" pitchFamily="34" charset="-127"/>
              </a:rPr>
              <a:t> sporophores</a:t>
            </a:r>
            <a:r>
              <a:rPr lang="en-US" altLang="ko-KR" sz="2200" smtClean="0">
                <a:latin typeface="Arial" pitchFamily="34" charset="0"/>
                <a:ea typeface="Gulim" pitchFamily="34" charset="-127"/>
              </a:rPr>
              <a:t>)</a:t>
            </a:r>
          </a:p>
          <a:p>
            <a:pPr lvl="1" eaLnBrk="1" hangingPunct="1">
              <a:lnSpc>
                <a:spcPct val="130000"/>
              </a:lnSpc>
            </a:pPr>
            <a:r>
              <a:rPr lang="en-US" altLang="ko-KR" sz="2200" smtClean="0">
                <a:latin typeface="Arial" pitchFamily="34" charset="0"/>
                <a:ea typeface="Gulim" pitchFamily="34" charset="-127"/>
              </a:rPr>
              <a:t>Primarily soil microorganisms, responsible for earthy odor of soil (</a:t>
            </a:r>
            <a:r>
              <a:rPr lang="en-US" altLang="ko-KR" sz="2200" smtClean="0">
                <a:solidFill>
                  <a:schemeClr val="hlink"/>
                </a:solidFill>
                <a:latin typeface="Arial" pitchFamily="34" charset="0"/>
                <a:ea typeface="Gulim" pitchFamily="34" charset="-127"/>
              </a:rPr>
              <a:t>geosmins</a:t>
            </a:r>
            <a:r>
              <a:rPr lang="en-US" altLang="ko-KR" sz="2200" smtClean="0">
                <a:latin typeface="Arial" pitchFamily="34" charset="0"/>
                <a:ea typeface="Gulim" pitchFamily="34" charset="-127"/>
              </a:rPr>
              <a:t>)</a:t>
            </a:r>
            <a:endParaRPr lang="en-US" altLang="ko-KR" sz="2200" i="1" u="sng" smtClean="0">
              <a:latin typeface="Arial" pitchFamily="34" charset="0"/>
              <a:ea typeface="Gulim" pitchFamily="34" charset="-127"/>
            </a:endParaRPr>
          </a:p>
          <a:p>
            <a:pPr lvl="1" eaLnBrk="1" hangingPunct="1">
              <a:lnSpc>
                <a:spcPct val="130000"/>
              </a:lnSpc>
            </a:pPr>
            <a:r>
              <a:rPr lang="en-US" altLang="ko-KR" sz="2200" smtClean="0">
                <a:latin typeface="Arial" pitchFamily="34" charset="0"/>
                <a:ea typeface="Gulim" pitchFamily="34" charset="-127"/>
              </a:rPr>
              <a:t> aerobic  and produce many extracellular enzymes. </a:t>
            </a:r>
            <a:r>
              <a:rPr lang="en-US" altLang="ko-KR" sz="2200" i="1" smtClean="0">
                <a:latin typeface="Arial" pitchFamily="34" charset="0"/>
                <a:ea typeface="Gulim" pitchFamily="34" charset="-127"/>
              </a:rPr>
              <a:t>Actinomyces</a:t>
            </a:r>
            <a:r>
              <a:rPr lang="en-US" altLang="ko-KR" sz="2200" smtClean="0">
                <a:latin typeface="Arial" pitchFamily="34" charset="0"/>
                <a:ea typeface="Gulim" pitchFamily="34" charset="-127"/>
              </a:rPr>
              <a:t> are anaerobic.</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ko-KR" smtClean="0">
                <a:ea typeface="Gulim" pitchFamily="34" charset="-127"/>
              </a:rPr>
              <a:t>Filamentous Actinobacteria: </a:t>
            </a:r>
            <a:r>
              <a:rPr lang="en-US" altLang="ko-KR" i="1" smtClean="0">
                <a:ea typeface="Gulim" pitchFamily="34" charset="-127"/>
              </a:rPr>
              <a:t>Streptomyces </a:t>
            </a:r>
            <a:r>
              <a:rPr lang="en-US" altLang="ko-KR" smtClean="0">
                <a:ea typeface="Gulim" pitchFamily="34" charset="-127"/>
              </a:rPr>
              <a:t>&amp; Others</a:t>
            </a:r>
          </a:p>
        </p:txBody>
      </p:sp>
      <p:sp>
        <p:nvSpPr>
          <p:cNvPr id="51203" name="Rectangle 3"/>
          <p:cNvSpPr>
            <a:spLocks noGrp="1" noChangeArrowheads="1"/>
          </p:cNvSpPr>
          <p:nvPr>
            <p:ph idx="1"/>
          </p:nvPr>
        </p:nvSpPr>
        <p:spPr/>
        <p:txBody>
          <a:bodyPr/>
          <a:lstStyle/>
          <a:p>
            <a:pPr eaLnBrk="1" hangingPunct="1">
              <a:lnSpc>
                <a:spcPct val="90000"/>
              </a:lnSpc>
            </a:pPr>
            <a:endParaRPr lang="ko-KR" altLang="en-US" sz="2300" dirty="0" smtClean="0">
              <a:latin typeface="Arial" pitchFamily="34" charset="0"/>
              <a:ea typeface="Gulim" pitchFamily="34" charset="-127"/>
            </a:endParaRPr>
          </a:p>
          <a:p>
            <a:pPr eaLnBrk="1" hangingPunct="1"/>
            <a:r>
              <a:rPr lang="en-US" altLang="ko-KR" sz="2700" i="1" dirty="0" err="1" smtClean="0">
                <a:latin typeface="Arial" pitchFamily="34" charset="0"/>
                <a:ea typeface="Gulim" pitchFamily="34" charset="-127"/>
              </a:rPr>
              <a:t>Streptomyces</a:t>
            </a:r>
            <a:endParaRPr lang="en-US" altLang="ko-KR" sz="2300" i="1" dirty="0" smtClean="0">
              <a:latin typeface="Arial" pitchFamily="34" charset="0"/>
              <a:ea typeface="Gulim" pitchFamily="34" charset="-127"/>
            </a:endParaRPr>
          </a:p>
          <a:p>
            <a:pPr lvl="1" eaLnBrk="1" hangingPunct="1"/>
            <a:r>
              <a:rPr lang="en-US" altLang="ko-KR" sz="2300" dirty="0" smtClean="0">
                <a:latin typeface="Arial" pitchFamily="34" charset="0"/>
                <a:ea typeface="Gulim" pitchFamily="34" charset="-127"/>
              </a:rPr>
              <a:t>50% of all isolated </a:t>
            </a:r>
            <a:r>
              <a:rPr lang="en-US" altLang="ko-KR" sz="2300" i="1" dirty="0" err="1" smtClean="0">
                <a:latin typeface="Arial" pitchFamily="34" charset="0"/>
                <a:ea typeface="Gulim" pitchFamily="34" charset="-127"/>
              </a:rPr>
              <a:t>Streptomyces</a:t>
            </a:r>
            <a:r>
              <a:rPr lang="en-US" altLang="ko-KR" sz="2300" dirty="0" smtClean="0">
                <a:latin typeface="Arial" pitchFamily="34" charset="0"/>
                <a:ea typeface="Gulim" pitchFamily="34" charset="-127"/>
              </a:rPr>
              <a:t> produce </a:t>
            </a:r>
            <a:r>
              <a:rPr lang="en-US" altLang="ko-KR" sz="2300" dirty="0" smtClean="0">
                <a:solidFill>
                  <a:schemeClr val="hlink"/>
                </a:solidFill>
                <a:latin typeface="Arial" pitchFamily="34" charset="0"/>
                <a:ea typeface="Gulim" pitchFamily="34" charset="-127"/>
              </a:rPr>
              <a:t>antibiotics</a:t>
            </a:r>
          </a:p>
          <a:p>
            <a:pPr lvl="1" eaLnBrk="1" hangingPunct="1"/>
            <a:r>
              <a:rPr lang="en-US" altLang="ko-KR" sz="2300" dirty="0" smtClean="0">
                <a:latin typeface="Arial" pitchFamily="34" charset="0"/>
                <a:ea typeface="Gulim" pitchFamily="34" charset="-127"/>
              </a:rPr>
              <a:t>Over 500 distinct antibiotics produced by </a:t>
            </a:r>
            <a:r>
              <a:rPr lang="en-US" altLang="ko-KR" sz="2300" i="1" dirty="0" err="1" smtClean="0">
                <a:latin typeface="Arial" pitchFamily="34" charset="0"/>
                <a:ea typeface="Gulim" pitchFamily="34" charset="-127"/>
              </a:rPr>
              <a:t>Streptomyces</a:t>
            </a:r>
            <a:endParaRPr lang="en-US" altLang="ko-KR" sz="2300" i="1" dirty="0" smtClean="0">
              <a:latin typeface="Arial" pitchFamily="34" charset="0"/>
              <a:ea typeface="Gulim" pitchFamily="34" charset="-127"/>
            </a:endParaRPr>
          </a:p>
          <a:p>
            <a:pPr lvl="1" eaLnBrk="1" hangingPunct="1"/>
            <a:r>
              <a:rPr lang="en-US" altLang="ko-KR" sz="2300" dirty="0" smtClean="0">
                <a:latin typeface="Arial" pitchFamily="34" charset="0"/>
                <a:ea typeface="Gulim" pitchFamily="34" charset="-127"/>
              </a:rPr>
              <a:t>Some produce more than one antibiotic</a:t>
            </a:r>
          </a:p>
          <a:p>
            <a:pPr lvl="1" eaLnBrk="1" hangingPunct="1"/>
            <a:r>
              <a:rPr lang="en-US" altLang="ko-KR" sz="2300" dirty="0" smtClean="0">
                <a:latin typeface="Arial" pitchFamily="34" charset="0"/>
                <a:ea typeface="Gulim" pitchFamily="34" charset="-127"/>
              </a:rPr>
              <a:t>Knowledge of the ecology of </a:t>
            </a:r>
            <a:r>
              <a:rPr lang="en-US" altLang="ko-KR" sz="2300" i="1" dirty="0" err="1" smtClean="0">
                <a:latin typeface="Arial" pitchFamily="34" charset="0"/>
                <a:ea typeface="Gulim" pitchFamily="34" charset="-127"/>
              </a:rPr>
              <a:t>Streptomyces</a:t>
            </a:r>
            <a:r>
              <a:rPr lang="en-US" altLang="ko-KR" sz="2300" dirty="0" smtClean="0">
                <a:latin typeface="Arial" pitchFamily="34" charset="0"/>
                <a:ea typeface="Gulim" pitchFamily="34" charset="-127"/>
              </a:rPr>
              <a:t> remains poor</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r>
              <a:rPr lang="en-US" smtClean="0"/>
              <a:t>ACTINOMYCETES MORPHOLOGY</a:t>
            </a:r>
          </a:p>
        </p:txBody>
      </p:sp>
      <p:pic>
        <p:nvPicPr>
          <p:cNvPr id="54275" name="Picture 2"/>
          <p:cNvPicPr>
            <a:picLocks noGrp="1" noChangeAspect="1" noChangeArrowheads="1"/>
          </p:cNvPicPr>
          <p:nvPr>
            <p:ph idx="1"/>
          </p:nvPr>
        </p:nvPicPr>
        <p:blipFill>
          <a:blip r:embed="rId3"/>
          <a:srcRect/>
          <a:stretch>
            <a:fillRect/>
          </a:stretch>
        </p:blipFill>
        <p:spPr>
          <a:xfrm>
            <a:off x="457200" y="1295400"/>
            <a:ext cx="8229600" cy="4724400"/>
          </a:xfrm>
          <a:noFill/>
        </p:spPr>
      </p:pic>
      <p:sp>
        <p:nvSpPr>
          <p:cNvPr id="54276" name="Rectangle 4"/>
          <p:cNvSpPr>
            <a:spLocks noChangeArrowheads="1"/>
          </p:cNvSpPr>
          <p:nvPr/>
        </p:nvSpPr>
        <p:spPr bwMode="auto">
          <a:xfrm>
            <a:off x="228600" y="5791200"/>
            <a:ext cx="8686800" cy="830263"/>
          </a:xfrm>
          <a:prstGeom prst="rect">
            <a:avLst/>
          </a:prstGeom>
          <a:noFill/>
          <a:ln w="9525">
            <a:noFill/>
            <a:miter lim="800000"/>
            <a:headEnd/>
            <a:tailEnd/>
          </a:ln>
        </p:spPr>
        <p:txBody>
          <a:bodyPr>
            <a:spAutoFit/>
          </a:bodyPr>
          <a:lstStyle/>
          <a:p>
            <a:r>
              <a:rPr lang="en-US" sz="2400" b="1">
                <a:latin typeface="Calibri" pitchFamily="34" charset="0"/>
              </a:rPr>
              <a:t>An actinomycete colony growing on agar - note the</a:t>
            </a:r>
          </a:p>
          <a:p>
            <a:r>
              <a:rPr lang="en-US" sz="2400" b="1">
                <a:latin typeface="Calibri" pitchFamily="34" charset="0"/>
              </a:rPr>
              <a:t>subterranean and aerial hyphae….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a:solidFill>
                  <a:srgbClr val="404040"/>
                </a:solidFill>
                <a:latin typeface="Arial Narrow" pitchFamily="34" charset="0"/>
                <a:ea typeface="Gulim" pitchFamily="34" charset="-127"/>
              </a:rPr>
              <a:t>Spore Formation in </a:t>
            </a:r>
            <a:r>
              <a:rPr lang="en-US" altLang="ko-KR" sz="2900" b="1" i="1">
                <a:solidFill>
                  <a:srgbClr val="404040"/>
                </a:solidFill>
                <a:latin typeface="Arial Narrow" pitchFamily="34" charset="0"/>
                <a:ea typeface="Gulim" pitchFamily="34" charset="-127"/>
              </a:rPr>
              <a:t>Streptomyces</a:t>
            </a:r>
            <a:r>
              <a:rPr lang="en-US" altLang="ko-KR" sz="2900" b="1">
                <a:solidFill>
                  <a:srgbClr val="404040"/>
                </a:solidFill>
                <a:latin typeface="Arial Narrow" pitchFamily="34" charset="0"/>
                <a:ea typeface="Gulim" pitchFamily="34" charset="-127"/>
              </a:rPr>
              <a:t> </a:t>
            </a:r>
          </a:p>
        </p:txBody>
      </p:sp>
      <p:pic>
        <p:nvPicPr>
          <p:cNvPr id="56323" name="Picture 1029" descr="16_20Figure-L"/>
          <p:cNvPicPr>
            <a:picLocks noChangeAspect="1" noChangeArrowheads="1"/>
          </p:cNvPicPr>
          <p:nvPr/>
        </p:nvPicPr>
        <p:blipFill>
          <a:blip r:embed="rId3"/>
          <a:srcRect b="2527"/>
          <a:stretch>
            <a:fillRect/>
          </a:stretch>
        </p:blipFill>
        <p:spPr bwMode="auto">
          <a:xfrm>
            <a:off x="1079500" y="1054100"/>
            <a:ext cx="6981825" cy="5106988"/>
          </a:xfrm>
          <a:prstGeom prst="rect">
            <a:avLst/>
          </a:prstGeom>
          <a:noFill/>
          <a:ln w="9525">
            <a:noFill/>
            <a:miter lim="800000"/>
            <a:headEnd/>
            <a:tailEnd/>
          </a:ln>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pPr eaLnBrk="1" hangingPunct="1"/>
            <a:r>
              <a:rPr lang="en-US" smtClean="0"/>
              <a:t>ACTINOMYCETES REPRODUCTION</a:t>
            </a:r>
          </a:p>
        </p:txBody>
      </p:sp>
      <p:pic>
        <p:nvPicPr>
          <p:cNvPr id="57347" name="Picture 3"/>
          <p:cNvPicPr>
            <a:picLocks noGrp="1" noChangeAspect="1" noChangeArrowheads="1"/>
          </p:cNvPicPr>
          <p:nvPr>
            <p:ph idx="1"/>
          </p:nvPr>
        </p:nvPicPr>
        <p:blipFill>
          <a:blip r:embed="rId2"/>
          <a:srcRect/>
          <a:stretch>
            <a:fillRect/>
          </a:stretch>
        </p:blipFill>
        <p:spPr>
          <a:xfrm>
            <a:off x="0" y="1524000"/>
            <a:ext cx="5035550" cy="4525963"/>
          </a:xfrm>
          <a:noFill/>
        </p:spPr>
      </p:pic>
      <p:sp>
        <p:nvSpPr>
          <p:cNvPr id="57348" name="Rectangle 5"/>
          <p:cNvSpPr>
            <a:spLocks noChangeArrowheads="1"/>
          </p:cNvSpPr>
          <p:nvPr/>
        </p:nvSpPr>
        <p:spPr bwMode="auto">
          <a:xfrm>
            <a:off x="2057400" y="5459413"/>
            <a:ext cx="3746500" cy="369887"/>
          </a:xfrm>
          <a:prstGeom prst="rect">
            <a:avLst/>
          </a:prstGeom>
          <a:noFill/>
          <a:ln w="9525">
            <a:noFill/>
            <a:miter lim="800000"/>
            <a:headEnd/>
            <a:tailEnd/>
          </a:ln>
        </p:spPr>
        <p:txBody>
          <a:bodyPr>
            <a:spAutoFit/>
          </a:bodyPr>
          <a:lstStyle/>
          <a:p>
            <a:r>
              <a:rPr lang="en-US" b="1">
                <a:latin typeface="Calibri" pitchFamily="34" charset="0"/>
              </a:rPr>
              <a:t>Conidia of </a:t>
            </a:r>
            <a:r>
              <a:rPr lang="en-US" b="1" i="1">
                <a:latin typeface="Calibri" pitchFamily="34" charset="0"/>
              </a:rPr>
              <a:t>Streptomyces</a:t>
            </a:r>
          </a:p>
        </p:txBody>
      </p:sp>
      <p:pic>
        <p:nvPicPr>
          <p:cNvPr id="57349" name="Picture 5"/>
          <p:cNvPicPr>
            <a:picLocks noChangeAspect="1" noChangeArrowheads="1"/>
          </p:cNvPicPr>
          <p:nvPr/>
        </p:nvPicPr>
        <p:blipFill>
          <a:blip r:embed="rId3"/>
          <a:srcRect/>
          <a:stretch>
            <a:fillRect/>
          </a:stretch>
        </p:blipFill>
        <p:spPr bwMode="auto">
          <a:xfrm>
            <a:off x="5715000" y="1676400"/>
            <a:ext cx="3200400" cy="2847975"/>
          </a:xfrm>
          <a:prstGeom prst="rect">
            <a:avLst/>
          </a:prstGeom>
          <a:noFill/>
          <a:ln w="9525">
            <a:noFill/>
            <a:miter lim="800000"/>
            <a:headEnd/>
            <a:tailEnd/>
          </a:ln>
        </p:spPr>
      </p:pic>
      <p:sp>
        <p:nvSpPr>
          <p:cNvPr id="57350" name="Rectangle 5"/>
          <p:cNvSpPr>
            <a:spLocks noChangeArrowheads="1"/>
          </p:cNvSpPr>
          <p:nvPr/>
        </p:nvSpPr>
        <p:spPr bwMode="auto">
          <a:xfrm>
            <a:off x="5715000" y="4724400"/>
            <a:ext cx="2514600" cy="646113"/>
          </a:xfrm>
          <a:prstGeom prst="rect">
            <a:avLst/>
          </a:prstGeom>
          <a:noFill/>
          <a:ln w="9525">
            <a:noFill/>
            <a:miter lim="800000"/>
            <a:headEnd/>
            <a:tailEnd/>
          </a:ln>
        </p:spPr>
        <p:txBody>
          <a:bodyPr>
            <a:spAutoFit/>
          </a:bodyPr>
          <a:lstStyle/>
          <a:p>
            <a:r>
              <a:rPr lang="en-US"/>
              <a:t>High Magnification of actinomycete spores</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4294967295"/>
          </p:nvPr>
        </p:nvSpPr>
        <p:spPr>
          <a:xfrm>
            <a:off x="0" y="457200"/>
            <a:ext cx="9144000" cy="5410200"/>
          </a:xfrm>
        </p:spPr>
        <p:txBody>
          <a:bodyPr/>
          <a:lstStyle/>
          <a:p>
            <a:pPr eaLnBrk="1" hangingPunct="1">
              <a:buFont typeface="Arial" pitchFamily="34" charset="0"/>
              <a:buNone/>
            </a:pPr>
            <a:endParaRPr lang="en-US" smtClean="0"/>
          </a:p>
          <a:p>
            <a:pPr eaLnBrk="1" hangingPunct="1">
              <a:buFont typeface="Arial" pitchFamily="34" charset="0"/>
              <a:buNone/>
            </a:pPr>
            <a:r>
              <a:rPr lang="en-US" smtClean="0"/>
              <a:t>     ACTINOMYCETES REPRODUCTION</a:t>
            </a:r>
          </a:p>
          <a:p>
            <a:pPr eaLnBrk="1" hangingPunct="1">
              <a:buFont typeface="Arial" pitchFamily="34" charset="0"/>
              <a:buNone/>
            </a:pPr>
            <a:r>
              <a:rPr lang="en-US" smtClean="0"/>
              <a:t>    Actinomycetes (and fungi) reproduce via spores</a:t>
            </a:r>
          </a:p>
          <a:p>
            <a:pPr eaLnBrk="1" hangingPunct="1">
              <a:buFont typeface="Arial" pitchFamily="34" charset="0"/>
              <a:buNone/>
            </a:pPr>
            <a:r>
              <a:rPr lang="en-US" smtClean="0"/>
              <a:t>    hyphal growth is followed by fragmentation</a:t>
            </a:r>
          </a:p>
          <a:p>
            <a:pPr eaLnBrk="1" hangingPunct="1">
              <a:buFont typeface="Arial" pitchFamily="34" charset="0"/>
              <a:buNone/>
            </a:pPr>
            <a:r>
              <a:rPr lang="en-US" smtClean="0"/>
              <a:t>    and release of spores</a:t>
            </a:r>
          </a:p>
          <a:p>
            <a:pPr eaLnBrk="1" hangingPunct="1">
              <a:buFont typeface="Arial" pitchFamily="34" charset="0"/>
              <a:buNone/>
            </a:pPr>
            <a:r>
              <a:rPr lang="en-US" smtClean="0"/>
              <a:t>    conidia – spores produced asexually on aerial filaments called sporophores</a:t>
            </a:r>
          </a:p>
          <a:p>
            <a:pPr eaLnBrk="1" hangingPunct="1">
              <a:buFont typeface="Arial" pitchFamily="34" charset="0"/>
              <a:buNone/>
            </a:pPr>
            <a:r>
              <a:rPr lang="en-US" smtClean="0"/>
              <a:t>    shape and arrangement of sporophores help identification of actinomycete taxa</a:t>
            </a:r>
          </a:p>
          <a:p>
            <a:pPr eaLnBrk="1" hangingPunct="1"/>
            <a:endParaRPr lang="en-US" smtClean="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i="1">
                <a:solidFill>
                  <a:srgbClr val="404040"/>
                </a:solidFill>
                <a:latin typeface="Arial Narrow" pitchFamily="34" charset="0"/>
                <a:ea typeface="Gulim" pitchFamily="34" charset="-127"/>
              </a:rPr>
              <a:t>Nocardia </a:t>
            </a:r>
          </a:p>
        </p:txBody>
      </p:sp>
      <p:sp>
        <p:nvSpPr>
          <p:cNvPr id="59395" name="Text Box 4"/>
          <p:cNvSpPr txBox="1">
            <a:spLocks noChangeArrowheads="1"/>
          </p:cNvSpPr>
          <p:nvPr/>
        </p:nvSpPr>
        <p:spPr bwMode="auto">
          <a:xfrm>
            <a:off x="7705725" y="6107113"/>
            <a:ext cx="1092200" cy="252412"/>
          </a:xfrm>
          <a:prstGeom prst="rect">
            <a:avLst/>
          </a:prstGeom>
          <a:noFill/>
          <a:ln w="9525">
            <a:noFill/>
            <a:miter lim="800000"/>
            <a:headEnd/>
            <a:tailEnd/>
          </a:ln>
        </p:spPr>
        <p:txBody>
          <a:bodyPr lIns="82058" tIns="41029" rIns="82058" bIns="41029">
            <a:spAutoFit/>
          </a:bodyPr>
          <a:lstStyle/>
          <a:p>
            <a:pPr algn="r" eaLnBrk="0" hangingPunct="0"/>
            <a:r>
              <a:rPr lang="en-US" altLang="ko-KR" sz="1100">
                <a:ea typeface="Gulim" pitchFamily="34" charset="-127"/>
              </a:rPr>
              <a:t>Figure 16.18</a:t>
            </a:r>
          </a:p>
        </p:txBody>
      </p:sp>
      <p:pic>
        <p:nvPicPr>
          <p:cNvPr id="59396" name="Picture 5" descr="16_18Figure-L"/>
          <p:cNvPicPr>
            <a:picLocks noChangeAspect="1" noChangeArrowheads="1"/>
          </p:cNvPicPr>
          <p:nvPr/>
        </p:nvPicPr>
        <p:blipFill>
          <a:blip r:embed="rId3"/>
          <a:srcRect b="5252"/>
          <a:stretch>
            <a:fillRect/>
          </a:stretch>
        </p:blipFill>
        <p:spPr bwMode="auto">
          <a:xfrm>
            <a:off x="1435100" y="1473200"/>
            <a:ext cx="6273800" cy="3914775"/>
          </a:xfrm>
          <a:prstGeom prst="rect">
            <a:avLst/>
          </a:prstGeom>
          <a:noFill/>
          <a:ln w="9525">
            <a:noFill/>
            <a:miter lim="800000"/>
            <a:headEnd/>
            <a:tailEnd/>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a:solidFill>
                  <a:srgbClr val="404040"/>
                </a:solidFill>
                <a:latin typeface="Arial Narrow" pitchFamily="34" charset="0"/>
                <a:ea typeface="Gulim" pitchFamily="34" charset="-127"/>
              </a:rPr>
              <a:t>Spore-Bearing Structures of Actinomycetes </a:t>
            </a:r>
          </a:p>
        </p:txBody>
      </p:sp>
      <p:sp>
        <p:nvSpPr>
          <p:cNvPr id="60419" name="Text Box 4"/>
          <p:cNvSpPr txBox="1">
            <a:spLocks noChangeArrowheads="1"/>
          </p:cNvSpPr>
          <p:nvPr/>
        </p:nvSpPr>
        <p:spPr bwMode="auto">
          <a:xfrm>
            <a:off x="7705725" y="6107113"/>
            <a:ext cx="1092200" cy="252412"/>
          </a:xfrm>
          <a:prstGeom prst="rect">
            <a:avLst/>
          </a:prstGeom>
          <a:noFill/>
          <a:ln w="9525">
            <a:noFill/>
            <a:miter lim="800000"/>
            <a:headEnd/>
            <a:tailEnd/>
          </a:ln>
        </p:spPr>
        <p:txBody>
          <a:bodyPr lIns="82058" tIns="41029" rIns="82058" bIns="41029">
            <a:spAutoFit/>
          </a:bodyPr>
          <a:lstStyle/>
          <a:p>
            <a:pPr algn="r" eaLnBrk="0" hangingPunct="0"/>
            <a:r>
              <a:rPr lang="en-US" altLang="ko-KR" sz="1100">
                <a:ea typeface="Gulim" pitchFamily="34" charset="-127"/>
              </a:rPr>
              <a:t>Figure 16.19</a:t>
            </a:r>
          </a:p>
        </p:txBody>
      </p:sp>
      <p:pic>
        <p:nvPicPr>
          <p:cNvPr id="60420" name="Picture 5" descr="16_19Figure-L"/>
          <p:cNvPicPr>
            <a:picLocks noChangeAspect="1" noChangeArrowheads="1"/>
          </p:cNvPicPr>
          <p:nvPr/>
        </p:nvPicPr>
        <p:blipFill>
          <a:blip r:embed="rId3"/>
          <a:srcRect b="2730"/>
          <a:stretch>
            <a:fillRect/>
          </a:stretch>
        </p:blipFill>
        <p:spPr bwMode="auto">
          <a:xfrm>
            <a:off x="2379663" y="819150"/>
            <a:ext cx="4384675" cy="5640388"/>
          </a:xfrm>
          <a:prstGeom prst="rect">
            <a:avLst/>
          </a:prstGeom>
          <a:noFill/>
          <a:ln w="9525">
            <a:noFill/>
            <a:miter lim="800000"/>
            <a:headEnd/>
            <a:tailEnd/>
          </a:ln>
        </p:spPr>
      </p:pic>
      <p:sp>
        <p:nvSpPr>
          <p:cNvPr id="60421" name="Text Box 6"/>
          <p:cNvSpPr txBox="1">
            <a:spLocks noChangeArrowheads="1"/>
          </p:cNvSpPr>
          <p:nvPr/>
        </p:nvSpPr>
        <p:spPr bwMode="auto">
          <a:xfrm>
            <a:off x="2800350" y="2708275"/>
            <a:ext cx="1747838" cy="574675"/>
          </a:xfrm>
          <a:prstGeom prst="rect">
            <a:avLst/>
          </a:prstGeom>
          <a:noFill/>
          <a:ln w="9525">
            <a:noFill/>
            <a:miter lim="800000"/>
            <a:headEnd/>
            <a:tailEnd/>
          </a:ln>
        </p:spPr>
        <p:txBody>
          <a:bodyPr lIns="82058" tIns="41029" rIns="82058" bIns="41029">
            <a:spAutoFit/>
          </a:bodyPr>
          <a:lstStyle/>
          <a:p>
            <a:pPr>
              <a:spcBef>
                <a:spcPct val="50000"/>
              </a:spcBef>
            </a:pPr>
            <a:r>
              <a:rPr lang="en-US" altLang="ko-KR" sz="1600" b="1" i="1">
                <a:ea typeface="Gulim" pitchFamily="34" charset="-127"/>
              </a:rPr>
              <a:t>Streptomyces</a:t>
            </a:r>
            <a:r>
              <a:rPr lang="en-US" altLang="ko-KR" sz="1600" b="1">
                <a:ea typeface="Gulim" pitchFamily="34" charset="-127"/>
              </a:rPr>
              <a:t> sp.</a:t>
            </a:r>
          </a:p>
        </p:txBody>
      </p:sp>
      <p:sp>
        <p:nvSpPr>
          <p:cNvPr id="60422" name="Text Box 7"/>
          <p:cNvSpPr txBox="1">
            <a:spLocks noChangeArrowheads="1"/>
          </p:cNvSpPr>
          <p:nvPr/>
        </p:nvSpPr>
        <p:spPr bwMode="auto">
          <a:xfrm>
            <a:off x="2814638" y="6151563"/>
            <a:ext cx="1749425" cy="576262"/>
          </a:xfrm>
          <a:prstGeom prst="rect">
            <a:avLst/>
          </a:prstGeom>
          <a:noFill/>
          <a:ln w="9525">
            <a:noFill/>
            <a:miter lim="800000"/>
            <a:headEnd/>
            <a:tailEnd/>
          </a:ln>
        </p:spPr>
        <p:txBody>
          <a:bodyPr lIns="82058" tIns="41029" rIns="82058" bIns="41029">
            <a:spAutoFit/>
          </a:bodyPr>
          <a:lstStyle/>
          <a:p>
            <a:pPr>
              <a:spcBef>
                <a:spcPct val="50000"/>
              </a:spcBef>
            </a:pPr>
            <a:r>
              <a:rPr lang="en-US" altLang="ko-KR" sz="1600" b="1" i="1">
                <a:ea typeface="Gulim" pitchFamily="34" charset="-127"/>
              </a:rPr>
              <a:t>Streptomyces</a:t>
            </a:r>
            <a:r>
              <a:rPr lang="en-US" altLang="ko-KR" sz="1600" b="1">
                <a:ea typeface="Gulim" pitchFamily="34" charset="-127"/>
              </a:rPr>
              <a:t> sp.</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pPr eaLnBrk="0" hangingPunct="0"/>
            <a:r>
              <a:rPr lang="en-US" altLang="ko-KR" sz="2900" b="1">
                <a:solidFill>
                  <a:srgbClr val="404040"/>
                </a:solidFill>
                <a:latin typeface="Arial Narrow" pitchFamily="34" charset="0"/>
                <a:ea typeface="Gulim" pitchFamily="34" charset="-127"/>
              </a:rPr>
              <a:t>Colonies of </a:t>
            </a:r>
            <a:r>
              <a:rPr lang="en-US" altLang="ko-KR" sz="2900" b="1" i="1">
                <a:solidFill>
                  <a:srgbClr val="404040"/>
                </a:solidFill>
                <a:latin typeface="Arial Narrow" pitchFamily="34" charset="0"/>
                <a:ea typeface="Gulim" pitchFamily="34" charset="-127"/>
              </a:rPr>
              <a:t>Streptomyces</a:t>
            </a:r>
            <a:r>
              <a:rPr lang="en-US" altLang="ko-KR" sz="2900" b="1">
                <a:solidFill>
                  <a:srgbClr val="404040"/>
                </a:solidFill>
                <a:latin typeface="Arial Narrow" pitchFamily="34" charset="0"/>
                <a:ea typeface="Gulim" pitchFamily="34" charset="-127"/>
              </a:rPr>
              <a:t> </a:t>
            </a:r>
          </a:p>
        </p:txBody>
      </p:sp>
      <p:sp>
        <p:nvSpPr>
          <p:cNvPr id="61443" name="Text Box 4"/>
          <p:cNvSpPr txBox="1">
            <a:spLocks noChangeArrowheads="1"/>
          </p:cNvSpPr>
          <p:nvPr/>
        </p:nvSpPr>
        <p:spPr bwMode="auto">
          <a:xfrm>
            <a:off x="7705725" y="6107113"/>
            <a:ext cx="1092200" cy="252412"/>
          </a:xfrm>
          <a:prstGeom prst="rect">
            <a:avLst/>
          </a:prstGeom>
          <a:noFill/>
          <a:ln w="9525">
            <a:noFill/>
            <a:miter lim="800000"/>
            <a:headEnd/>
            <a:tailEnd/>
          </a:ln>
        </p:spPr>
        <p:txBody>
          <a:bodyPr lIns="82058" tIns="41029" rIns="82058" bIns="41029">
            <a:spAutoFit/>
          </a:bodyPr>
          <a:lstStyle/>
          <a:p>
            <a:pPr algn="r" eaLnBrk="0" hangingPunct="0"/>
            <a:r>
              <a:rPr lang="en-US" altLang="ko-KR" sz="1100">
                <a:ea typeface="Gulim" pitchFamily="34" charset="-127"/>
              </a:rPr>
              <a:t>Figure 16.22</a:t>
            </a:r>
          </a:p>
        </p:txBody>
      </p:sp>
      <p:pic>
        <p:nvPicPr>
          <p:cNvPr id="61444" name="Picture 5" descr="16_22Figure-L"/>
          <p:cNvPicPr>
            <a:picLocks noChangeAspect="1" noChangeArrowheads="1"/>
          </p:cNvPicPr>
          <p:nvPr/>
        </p:nvPicPr>
        <p:blipFill>
          <a:blip r:embed="rId3"/>
          <a:srcRect b="2953"/>
          <a:stretch>
            <a:fillRect/>
          </a:stretch>
        </p:blipFill>
        <p:spPr bwMode="auto">
          <a:xfrm>
            <a:off x="2190750" y="823913"/>
            <a:ext cx="4760913" cy="5618162"/>
          </a:xfrm>
          <a:prstGeom prst="rect">
            <a:avLst/>
          </a:prstGeom>
          <a:noFill/>
          <a:ln w="9525">
            <a:noFill/>
            <a:miter lim="800000"/>
            <a:headEnd/>
            <a:tailEnd/>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pPr eaLnBrk="1" hangingPunct="1"/>
            <a:r>
              <a:rPr lang="en-US" smtClean="0"/>
              <a:t>ACTINOMYCETES ECOLOGY</a:t>
            </a:r>
          </a:p>
        </p:txBody>
      </p:sp>
      <p:sp>
        <p:nvSpPr>
          <p:cNvPr id="63491" name="Content Placeholder 2"/>
          <p:cNvSpPr>
            <a:spLocks noGrp="1"/>
          </p:cNvSpPr>
          <p:nvPr>
            <p:ph idx="1"/>
          </p:nvPr>
        </p:nvSpPr>
        <p:spPr/>
        <p:txBody>
          <a:bodyPr/>
          <a:lstStyle/>
          <a:p>
            <a:pPr eaLnBrk="1" hangingPunct="1">
              <a:buFont typeface="Arial" pitchFamily="34" charset="0"/>
              <a:buNone/>
            </a:pPr>
            <a:r>
              <a:rPr lang="en-US" smtClean="0"/>
              <a:t>predominantly soil bacteria</a:t>
            </a:r>
          </a:p>
          <a:p>
            <a:pPr eaLnBrk="1" hangingPunct="1">
              <a:buFont typeface="Arial" pitchFamily="34" charset="0"/>
              <a:buNone/>
            </a:pPr>
            <a:r>
              <a:rPr lang="en-US" smtClean="0"/>
              <a:t>good at degrading recalcitrant compounds such as chitin &amp; cellulose</a:t>
            </a:r>
          </a:p>
          <a:p>
            <a:pPr eaLnBrk="1" hangingPunct="1">
              <a:buFont typeface="Arial" pitchFamily="34" charset="0"/>
              <a:buNone/>
            </a:pPr>
            <a:r>
              <a:rPr lang="en-US" smtClean="0"/>
              <a:t>often active at higher pH (contrast to fungi who may dominate at lower pH)</a:t>
            </a:r>
          </a:p>
          <a:p>
            <a:pPr eaLnBrk="1" hangingPunct="1">
              <a:buFont typeface="Arial" pitchFamily="34" charset="0"/>
              <a:buNone/>
            </a:pPr>
            <a:r>
              <a:rPr lang="en-US" smtClean="0"/>
              <a:t>give soil the “earthy” smell - geosmin</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eaLnBrk="1" hangingPunct="1"/>
            <a:r>
              <a:rPr lang="en-US" smtClean="0"/>
              <a:t>Examples</a:t>
            </a:r>
          </a:p>
        </p:txBody>
      </p:sp>
      <p:sp>
        <p:nvSpPr>
          <p:cNvPr id="64515" name="Content Placeholder 2"/>
          <p:cNvSpPr>
            <a:spLocks noGrp="1"/>
          </p:cNvSpPr>
          <p:nvPr>
            <p:ph idx="1"/>
          </p:nvPr>
        </p:nvSpPr>
        <p:spPr>
          <a:xfrm>
            <a:off x="457200" y="1295400"/>
            <a:ext cx="8229600" cy="5562600"/>
          </a:xfrm>
        </p:spPr>
        <p:txBody>
          <a:bodyPr/>
          <a:lstStyle/>
          <a:p>
            <a:pPr eaLnBrk="1" hangingPunct="1">
              <a:buFont typeface="Arial" pitchFamily="34" charset="0"/>
              <a:buNone/>
            </a:pPr>
            <a:r>
              <a:rPr lang="en-US" smtClean="0"/>
              <a:t>Genus </a:t>
            </a:r>
            <a:r>
              <a:rPr lang="en-US" i="1" smtClean="0"/>
              <a:t>Frankia</a:t>
            </a:r>
            <a:r>
              <a:rPr lang="en-US" smtClean="0"/>
              <a:t> –</a:t>
            </a:r>
          </a:p>
          <a:p>
            <a:pPr eaLnBrk="1" hangingPunct="1">
              <a:buFont typeface="Arial" pitchFamily="34" charset="0"/>
              <a:buNone/>
            </a:pPr>
            <a:r>
              <a:rPr lang="en-US" smtClean="0"/>
              <a:t>large genus that all form nodules on certain</a:t>
            </a:r>
          </a:p>
          <a:p>
            <a:pPr eaLnBrk="1" hangingPunct="1">
              <a:buFont typeface="Arial" pitchFamily="34" charset="0"/>
              <a:buNone/>
            </a:pPr>
            <a:r>
              <a:rPr lang="en-US" smtClean="0"/>
              <a:t>non-legume trees</a:t>
            </a:r>
          </a:p>
          <a:p>
            <a:pPr eaLnBrk="1" hangingPunct="1">
              <a:buFont typeface="Arial" pitchFamily="34" charset="0"/>
              <a:buNone/>
            </a:pPr>
            <a:r>
              <a:rPr lang="en-US" smtClean="0"/>
              <a:t>fixes nitrogen from the air and converts into</a:t>
            </a:r>
          </a:p>
          <a:p>
            <a:pPr eaLnBrk="1" hangingPunct="1">
              <a:buFont typeface="Arial" pitchFamily="34" charset="0"/>
              <a:buNone/>
            </a:pPr>
            <a:r>
              <a:rPr lang="en-US" smtClean="0"/>
              <a:t>forms useable by plant host</a:t>
            </a:r>
          </a:p>
          <a:p>
            <a:pPr eaLnBrk="1" hangingPunct="1">
              <a:buFont typeface="Arial" pitchFamily="34" charset="0"/>
              <a:buNone/>
            </a:pPr>
            <a:r>
              <a:rPr lang="en-US" smtClean="0"/>
              <a:t>involved in relationship with plant and mycorrhizal fungus. e.g.</a:t>
            </a:r>
          </a:p>
          <a:p>
            <a:pPr eaLnBrk="1" hangingPunct="1">
              <a:buFont typeface="Arial" pitchFamily="34" charset="0"/>
              <a:buNone/>
            </a:pPr>
            <a:r>
              <a:rPr lang="en-US" i="1" smtClean="0"/>
              <a:t>Myrica </a:t>
            </a:r>
            <a:r>
              <a:rPr lang="en-US" smtClean="0"/>
              <a:t>in the tropics (invasive in Hawaii)</a:t>
            </a:r>
          </a:p>
          <a:p>
            <a:pPr eaLnBrk="1" hangingPunct="1">
              <a:buFont typeface="Arial" pitchFamily="34" charset="0"/>
              <a:buNone/>
            </a:pPr>
            <a:r>
              <a:rPr lang="en-US" i="1" smtClean="0"/>
              <a:t>Alnus</a:t>
            </a:r>
            <a:r>
              <a:rPr lang="en-US" smtClean="0"/>
              <a:t> in temperate climates (early successional)</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eaLnBrk="1" hangingPunct="1"/>
            <a:r>
              <a:rPr lang="en-US" i="1" smtClean="0"/>
              <a:t>Frankia</a:t>
            </a:r>
            <a:r>
              <a:rPr lang="en-US" smtClean="0"/>
              <a:t> nodules on </a:t>
            </a:r>
            <a:r>
              <a:rPr lang="en-US" i="1" smtClean="0"/>
              <a:t>Ceanothus</a:t>
            </a:r>
            <a:r>
              <a:rPr lang="en-US" smtClean="0"/>
              <a:t> roots</a:t>
            </a:r>
          </a:p>
        </p:txBody>
      </p:sp>
      <p:pic>
        <p:nvPicPr>
          <p:cNvPr id="65539" name="Picture 2"/>
          <p:cNvPicPr>
            <a:picLocks noGrp="1" noChangeAspect="1" noChangeArrowheads="1"/>
          </p:cNvPicPr>
          <p:nvPr>
            <p:ph idx="1"/>
          </p:nvPr>
        </p:nvPicPr>
        <p:blipFill>
          <a:blip r:embed="rId2"/>
          <a:stretch>
            <a:fillRect/>
          </a:stretch>
        </p:blipFill>
        <p:spPr>
          <a:xfrm>
            <a:off x="1801812" y="2285206"/>
            <a:ext cx="5534025" cy="3076575"/>
          </a:xfrm>
          <a:noFill/>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533400" y="0"/>
            <a:ext cx="8229600" cy="1371600"/>
          </a:xfrm>
        </p:spPr>
        <p:txBody>
          <a:bodyPr/>
          <a:lstStyle/>
          <a:p>
            <a:pPr eaLnBrk="1" hangingPunct="1"/>
            <a:r>
              <a:rPr lang="en-US" smtClean="0"/>
              <a:t> </a:t>
            </a:r>
            <a:r>
              <a:rPr lang="en-US" sz="3200" smtClean="0"/>
              <a:t>Other antibiotics produced by Streptomyces spp</a:t>
            </a:r>
            <a:endParaRPr lang="en-US" smtClean="0"/>
          </a:p>
        </p:txBody>
      </p:sp>
      <p:sp>
        <p:nvSpPr>
          <p:cNvPr id="3" name="Content Placeholder 2"/>
          <p:cNvSpPr>
            <a:spLocks noGrp="1"/>
          </p:cNvSpPr>
          <p:nvPr>
            <p:ph idx="1"/>
          </p:nvPr>
        </p:nvSpPr>
        <p:spPr>
          <a:xfrm>
            <a:off x="457200" y="1447800"/>
            <a:ext cx="8229600" cy="4678363"/>
          </a:xfrm>
        </p:spPr>
        <p:txBody>
          <a:bodyPr rtlCol="0">
            <a:normAutofit fontScale="77500" lnSpcReduction="20000"/>
          </a:bodyPr>
          <a:lstStyle/>
          <a:p>
            <a:pPr eaLnBrk="1" fontAlgn="auto" hangingPunct="1">
              <a:spcAft>
                <a:spcPts val="0"/>
              </a:spcAft>
              <a:buFont typeface="Arial" charset="0"/>
              <a:buNone/>
              <a:defRPr/>
            </a:pPr>
            <a:r>
              <a:rPr lang="en-US" b="1" dirty="0" smtClean="0"/>
              <a:t>Antibiotic:                                                  affects:</a:t>
            </a:r>
          </a:p>
          <a:p>
            <a:pPr eaLnBrk="1" fontAlgn="auto" hangingPunct="1">
              <a:spcAft>
                <a:spcPts val="0"/>
              </a:spcAft>
              <a:buFont typeface="Arial" charset="0"/>
              <a:buNone/>
              <a:defRPr/>
            </a:pPr>
            <a:r>
              <a:rPr lang="en-US" dirty="0" err="1" smtClean="0"/>
              <a:t>Spectinomycin</a:t>
            </a:r>
            <a:r>
              <a:rPr lang="en-US" smtClean="0"/>
              <a:t>                       </a:t>
            </a:r>
            <a:r>
              <a:rPr lang="en-US" i="1" smtClean="0"/>
              <a:t> </a:t>
            </a:r>
            <a:r>
              <a:rPr lang="en-US" i="1" dirty="0" smtClean="0"/>
              <a:t>M. tuberculosis, Neisseria </a:t>
            </a:r>
            <a:r>
              <a:rPr lang="en-US" i="1" dirty="0" err="1" smtClean="0"/>
              <a:t>gonorrhoeae</a:t>
            </a:r>
            <a:endParaRPr lang="en-US" i="1" dirty="0" smtClean="0"/>
          </a:p>
          <a:p>
            <a:pPr eaLnBrk="1" fontAlgn="auto" hangingPunct="1">
              <a:spcAft>
                <a:spcPts val="0"/>
              </a:spcAft>
              <a:buFont typeface="Arial" charset="0"/>
              <a:buNone/>
              <a:defRPr/>
            </a:pPr>
            <a:endParaRPr lang="en-US" dirty="0" smtClean="0"/>
          </a:p>
          <a:p>
            <a:pPr eaLnBrk="1" fontAlgn="auto" hangingPunct="1">
              <a:spcAft>
                <a:spcPts val="0"/>
              </a:spcAft>
              <a:buFont typeface="Arial" charset="0"/>
              <a:buNone/>
              <a:defRPr/>
            </a:pPr>
            <a:r>
              <a:rPr lang="en-US" dirty="0" smtClean="0"/>
              <a:t>Neomycin                                 Broad spectrum, </a:t>
            </a:r>
          </a:p>
          <a:p>
            <a:pPr eaLnBrk="1" fontAlgn="auto" hangingPunct="1">
              <a:spcAft>
                <a:spcPts val="0"/>
              </a:spcAft>
              <a:buFont typeface="Arial" charset="0"/>
              <a:buNone/>
              <a:defRPr/>
            </a:pPr>
            <a:endParaRPr lang="en-US" dirty="0" smtClean="0"/>
          </a:p>
          <a:p>
            <a:pPr eaLnBrk="1" fontAlgn="auto" hangingPunct="1">
              <a:spcAft>
                <a:spcPts val="0"/>
              </a:spcAft>
              <a:buFont typeface="Arial" charset="0"/>
              <a:buNone/>
              <a:defRPr/>
            </a:pPr>
            <a:r>
              <a:rPr lang="en-US" dirty="0" err="1" smtClean="0"/>
              <a:t>Tetracyclines</a:t>
            </a:r>
            <a:r>
              <a:rPr lang="en-US" dirty="0" smtClean="0"/>
              <a:t>                             Broad spectrum, </a:t>
            </a:r>
            <a:r>
              <a:rPr lang="en-US" dirty="0" err="1" smtClean="0"/>
              <a:t>Chlamydias</a:t>
            </a:r>
            <a:r>
              <a:rPr lang="en-US" dirty="0" smtClean="0"/>
              <a:t>,</a:t>
            </a:r>
          </a:p>
          <a:p>
            <a:pPr eaLnBrk="1" fontAlgn="auto" hangingPunct="1">
              <a:spcAft>
                <a:spcPts val="0"/>
              </a:spcAft>
              <a:buFont typeface="Arial" charset="0"/>
              <a:buNone/>
              <a:defRPr/>
            </a:pPr>
            <a:r>
              <a:rPr lang="en-US" dirty="0" smtClean="0"/>
              <a:t>                                                    </a:t>
            </a:r>
            <a:r>
              <a:rPr lang="en-US" dirty="0" err="1" smtClean="0"/>
              <a:t>Rickettsias</a:t>
            </a:r>
            <a:r>
              <a:rPr lang="en-US" dirty="0" smtClean="0"/>
              <a:t> etc.</a:t>
            </a:r>
          </a:p>
          <a:p>
            <a:pPr eaLnBrk="1" fontAlgn="auto" hangingPunct="1">
              <a:spcAft>
                <a:spcPts val="0"/>
              </a:spcAft>
              <a:buFont typeface="Arial" charset="0"/>
              <a:buNone/>
              <a:defRPr/>
            </a:pPr>
            <a:endParaRPr lang="en-US" dirty="0" smtClean="0"/>
          </a:p>
          <a:p>
            <a:pPr eaLnBrk="1" fontAlgn="auto" hangingPunct="1">
              <a:spcAft>
                <a:spcPts val="0"/>
              </a:spcAft>
              <a:buFont typeface="Arial" charset="0"/>
              <a:buNone/>
              <a:defRPr/>
            </a:pPr>
            <a:r>
              <a:rPr lang="en-US" dirty="0" err="1" smtClean="0"/>
              <a:t>Nystatin</a:t>
            </a:r>
            <a:r>
              <a:rPr lang="en-US" dirty="0" smtClean="0"/>
              <a:t>                                     Fungi, esp. </a:t>
            </a:r>
            <a:r>
              <a:rPr lang="en-US" i="1" dirty="0" smtClean="0"/>
              <a:t>Candida</a:t>
            </a:r>
          </a:p>
          <a:p>
            <a:pPr eaLnBrk="1" fontAlgn="auto" hangingPunct="1">
              <a:spcAft>
                <a:spcPts val="0"/>
              </a:spcAft>
              <a:buFont typeface="Arial" charset="0"/>
              <a:buNone/>
              <a:defRPr/>
            </a:pPr>
            <a:endParaRPr lang="en-US" dirty="0" smtClean="0"/>
          </a:p>
          <a:p>
            <a:pPr eaLnBrk="1" fontAlgn="auto" hangingPunct="1">
              <a:spcAft>
                <a:spcPts val="0"/>
              </a:spcAft>
              <a:buFont typeface="Arial" charset="0"/>
              <a:buNone/>
              <a:defRPr/>
            </a:pPr>
            <a:r>
              <a:rPr lang="en-US" dirty="0" smtClean="0"/>
              <a:t>Erythromycin                           Gram + Bacteria and </a:t>
            </a:r>
            <a:r>
              <a:rPr lang="en-US" i="1" dirty="0" err="1" smtClean="0"/>
              <a:t>Legionella</a:t>
            </a:r>
            <a:endParaRPr lang="en-US" i="1" dirty="0" smtClean="0"/>
          </a:p>
          <a:p>
            <a:pPr eaLnBrk="1" fontAlgn="auto" hangingPunct="1">
              <a:spcAft>
                <a:spcPts val="0"/>
              </a:spcAft>
              <a:buFont typeface="Arial" charset="0"/>
              <a:buNone/>
              <a:defRPr/>
            </a:pPr>
            <a:endParaRPr lang="en-US" dirty="0" smtClean="0"/>
          </a:p>
          <a:p>
            <a:pPr eaLnBrk="1" fontAlgn="auto" hangingPunct="1">
              <a:spcAft>
                <a:spcPts val="0"/>
              </a:spcAft>
              <a:buFont typeface="Arial" charset="0"/>
              <a:buNone/>
              <a:defRPr/>
            </a:pPr>
            <a:r>
              <a:rPr lang="en-US" dirty="0" err="1" smtClean="0"/>
              <a:t>Chloramphenicol</a:t>
            </a:r>
            <a:r>
              <a:rPr lang="en-US" dirty="0" smtClean="0"/>
              <a:t>                     Broad spectrum, typhoid fever</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Recommended Reading-</a:t>
            </a:r>
            <a:r>
              <a:rPr lang="en-US" sz="1800" dirty="0" smtClean="0"/>
              <a:t>General Microbiology</a:t>
            </a:r>
            <a:endParaRPr lang="en-US" sz="1800" dirty="0"/>
          </a:p>
        </p:txBody>
      </p:sp>
      <p:sp>
        <p:nvSpPr>
          <p:cNvPr id="3" name="Content Placeholder 2"/>
          <p:cNvSpPr>
            <a:spLocks noGrp="1"/>
          </p:cNvSpPr>
          <p:nvPr>
            <p:ph idx="1"/>
          </p:nvPr>
        </p:nvSpPr>
        <p:spPr/>
        <p:txBody>
          <a:bodyPr/>
          <a:lstStyle/>
          <a:p>
            <a:r>
              <a:rPr lang="en-US" dirty="0" smtClean="0"/>
              <a:t>GJ </a:t>
            </a:r>
            <a:r>
              <a:rPr lang="en-US" dirty="0" err="1" smtClean="0"/>
              <a:t>Tortora</a:t>
            </a:r>
            <a:r>
              <a:rPr lang="en-US" dirty="0" smtClean="0"/>
              <a:t>, Christine L and </a:t>
            </a:r>
            <a:r>
              <a:rPr lang="en-US" dirty="0" err="1" smtClean="0"/>
              <a:t>Funke</a:t>
            </a:r>
            <a:r>
              <a:rPr lang="en-US" dirty="0" smtClean="0"/>
              <a:t> BR (2007). Microbiology: an introduction, 9</a:t>
            </a:r>
            <a:r>
              <a:rPr lang="en-US" baseline="30000" dirty="0" smtClean="0"/>
              <a:t>th</a:t>
            </a:r>
            <a:r>
              <a:rPr lang="en-US" dirty="0" smtClean="0"/>
              <a:t> ed. Pearson Education, New Delhi.</a:t>
            </a:r>
          </a:p>
          <a:p>
            <a:endParaRPr lang="en-US" dirty="0"/>
          </a:p>
        </p:txBody>
      </p:sp>
      <p:sp>
        <p:nvSpPr>
          <p:cNvPr id="667649" name="Rectangle 1"/>
          <p:cNvSpPr>
            <a:spLocks noChangeArrowheads="1"/>
          </p:cNvSpPr>
          <p:nvPr/>
        </p:nvSpPr>
        <p:spPr bwMode="auto">
          <a:xfrm>
            <a:off x="0" y="0"/>
            <a:ext cx="184731" cy="3385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914400" algn="l"/>
              </a:tabLst>
            </a:pP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288</TotalTime>
  <Words>7110</Words>
  <Application>Microsoft Office PowerPoint</Application>
  <PresentationFormat>On-screen Show (4:3)</PresentationFormat>
  <Paragraphs>1096</Paragraphs>
  <Slides>180</Slides>
  <Notes>46</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180</vt:i4>
      </vt:variant>
    </vt:vector>
  </HeadingPairs>
  <TitlesOfParts>
    <vt:vector size="183" baseType="lpstr">
      <vt:lpstr>Civic</vt:lpstr>
      <vt:lpstr>Slide</vt:lpstr>
      <vt:lpstr>Photo Editor Photo</vt:lpstr>
      <vt:lpstr>Microbes in soil</vt:lpstr>
      <vt:lpstr>Learning Outcomes are to: </vt:lpstr>
      <vt:lpstr>Soil</vt:lpstr>
      <vt:lpstr>Soils Defined</vt:lpstr>
      <vt:lpstr>Soil microbiology </vt:lpstr>
      <vt:lpstr>Soil Composition</vt:lpstr>
      <vt:lpstr>Five Soil Formation  Factors</vt:lpstr>
      <vt:lpstr>Soil Organic Matter</vt:lpstr>
      <vt:lpstr>Chemical Properties</vt:lpstr>
      <vt:lpstr>Types of Pores</vt:lpstr>
      <vt:lpstr>Water Stable Aggregates </vt:lpstr>
      <vt:lpstr>Soil Horizons</vt:lpstr>
      <vt:lpstr>Soil Horizons O- Organic Horizons</vt:lpstr>
      <vt:lpstr>Soil Horizons A Horizons: “ Topsoil”</vt:lpstr>
      <vt:lpstr>Slide 15</vt:lpstr>
      <vt:lpstr>Slide 16</vt:lpstr>
      <vt:lpstr>Slide 17</vt:lpstr>
      <vt:lpstr>Microorganisms and their significance:</vt:lpstr>
      <vt:lpstr> Microorganisms and their significance: </vt:lpstr>
      <vt:lpstr>Microorganisms and their significance: </vt:lpstr>
      <vt:lpstr>Microorganisms and their significance: </vt:lpstr>
      <vt:lpstr>Microorganisms and their significance: </vt:lpstr>
      <vt:lpstr>Microorganisms and their significance: </vt:lpstr>
      <vt:lpstr>Major groups of soil microorganisms : </vt:lpstr>
      <vt:lpstr>Major groups of soil microorganisms :  </vt:lpstr>
      <vt:lpstr>Major groups of soil microorganisms : </vt:lpstr>
      <vt:lpstr>Major groups of soil microorganisms : </vt:lpstr>
      <vt:lpstr>Slide 28</vt:lpstr>
      <vt:lpstr>Major groups of soil microorganisms : </vt:lpstr>
      <vt:lpstr>Slide 30</vt:lpstr>
      <vt:lpstr>Major groups of soil microorganisms : </vt:lpstr>
      <vt:lpstr>Major groups of soil microorganisms : </vt:lpstr>
      <vt:lpstr>Major groups of soil microorganisms : </vt:lpstr>
      <vt:lpstr>Terrestrial Environments</vt:lpstr>
      <vt:lpstr>Rhizosphere: the Place to be in Soil</vt:lpstr>
      <vt:lpstr>Rhizosphere </vt:lpstr>
      <vt:lpstr>  Rhizosplane</vt:lpstr>
      <vt:lpstr>Rhizosphere vs NonRhizosphere</vt:lpstr>
      <vt:lpstr>Organic material in rhizosphere</vt:lpstr>
      <vt:lpstr>Densities of microorganisms in rhizosphere</vt:lpstr>
      <vt:lpstr>Mucilage</vt:lpstr>
      <vt:lpstr>Root exudates</vt:lpstr>
      <vt:lpstr>Root exudates function </vt:lpstr>
      <vt:lpstr>Enzymes in the rhizosphere</vt:lpstr>
      <vt:lpstr>Some function of Bacteria in rhizosphere</vt:lpstr>
      <vt:lpstr>Some function of Bacteria in rhizosphere</vt:lpstr>
      <vt:lpstr>Mycorrhizal fungi</vt:lpstr>
      <vt:lpstr>Microorganism in rhizosphere</vt:lpstr>
      <vt:lpstr>SOIL BIOLOGICAL PROCESSES</vt:lpstr>
      <vt:lpstr>Slide 50</vt:lpstr>
      <vt:lpstr>Slide 51</vt:lpstr>
      <vt:lpstr>Slide 52</vt:lpstr>
      <vt:lpstr>Slide 53</vt:lpstr>
      <vt:lpstr>Slide 54</vt:lpstr>
      <vt:lpstr>Slide 55</vt:lpstr>
      <vt:lpstr>Slide 56</vt:lpstr>
      <vt:lpstr>Decomposition and soil organic matter</vt:lpstr>
      <vt:lpstr>Slide 58</vt:lpstr>
      <vt:lpstr>Slide 59</vt:lpstr>
      <vt:lpstr>Slide 60</vt:lpstr>
      <vt:lpstr>Slide 61</vt:lpstr>
      <vt:lpstr>Slide 62</vt:lpstr>
      <vt:lpstr>Slide 63</vt:lpstr>
      <vt:lpstr>Organic matter in the soil</vt:lpstr>
      <vt:lpstr>Slide 65</vt:lpstr>
      <vt:lpstr>Major steps in the degradation of organic matter</vt:lpstr>
      <vt:lpstr>Microbial degradation or organic matter</vt:lpstr>
      <vt:lpstr>Microbial degradation or organic matter..</vt:lpstr>
      <vt:lpstr>Mineralization of organic matter</vt:lpstr>
      <vt:lpstr>Slide 70</vt:lpstr>
      <vt:lpstr>Slide 71</vt:lpstr>
      <vt:lpstr>Slide 72</vt:lpstr>
      <vt:lpstr>What stimulates soil organic matter decomposition?</vt:lpstr>
      <vt:lpstr>SOIL FORMATION AND AGGREATION</vt:lpstr>
      <vt:lpstr>Soil aggregates and soil pores</vt:lpstr>
      <vt:lpstr>Bacterial/ Fungal role in the formation of soil aggregate</vt:lpstr>
      <vt:lpstr>Biogeochemical Cycles and soil microbes</vt:lpstr>
      <vt:lpstr>Slide 78</vt:lpstr>
      <vt:lpstr>Nutrient Requirements for Plant Growth</vt:lpstr>
      <vt:lpstr>Biogeochemical Cycling</vt:lpstr>
      <vt:lpstr>Slide 81</vt:lpstr>
      <vt:lpstr>The Carbon Cycle</vt:lpstr>
      <vt:lpstr>Carbon Cycle</vt:lpstr>
      <vt:lpstr>Methanogenesis and Syntrophy</vt:lpstr>
      <vt:lpstr>Slide 85</vt:lpstr>
      <vt:lpstr>Carbon cycling</vt:lpstr>
      <vt:lpstr>Nitrogen Cycle</vt:lpstr>
      <vt:lpstr>Slide 88</vt:lpstr>
      <vt:lpstr>The Nitrogen Cycle</vt:lpstr>
      <vt:lpstr>Nitrogen Cycle</vt:lpstr>
      <vt:lpstr>Slide 91</vt:lpstr>
      <vt:lpstr>Slide 92</vt:lpstr>
      <vt:lpstr>Slide 93</vt:lpstr>
      <vt:lpstr>Slide 94</vt:lpstr>
      <vt:lpstr>Slide 95</vt:lpstr>
      <vt:lpstr>Slide 96</vt:lpstr>
      <vt:lpstr>Slide 97</vt:lpstr>
      <vt:lpstr>Plant-associated nitrogen fixation: the endophytes and epiphytes</vt:lpstr>
      <vt:lpstr>Slide 99</vt:lpstr>
      <vt:lpstr>Slide 100</vt:lpstr>
      <vt:lpstr>Slide 101</vt:lpstr>
      <vt:lpstr>Slide 102</vt:lpstr>
      <vt:lpstr>A nitrogen-fixing fern</vt:lpstr>
      <vt:lpstr>The Sulfur Cycle</vt:lpstr>
      <vt:lpstr>Slide 105</vt:lpstr>
      <vt:lpstr>Slide 106</vt:lpstr>
      <vt:lpstr>Slide 107</vt:lpstr>
      <vt:lpstr>  Thiobacillus</vt:lpstr>
      <vt:lpstr>Beggiatoa</vt:lpstr>
      <vt:lpstr>Sulfolobus</vt:lpstr>
      <vt:lpstr>Slide 111</vt:lpstr>
      <vt:lpstr>Slide 112</vt:lpstr>
      <vt:lpstr>Sulfolobus as a viral host </vt:lpstr>
      <vt:lpstr>Role in biotechnology </vt:lpstr>
      <vt:lpstr>SULFUR OXIDIZING FUNGI</vt:lpstr>
      <vt:lpstr>The purple sulfur bacteria</vt:lpstr>
      <vt:lpstr>GREEN SULFUR BACTERIA</vt:lpstr>
      <vt:lpstr>Slide 118</vt:lpstr>
      <vt:lpstr>Slide 119</vt:lpstr>
      <vt:lpstr>REDUCTION OF OXIDIZED S</vt:lpstr>
      <vt:lpstr>Desulfovibrio desulfuricans</vt:lpstr>
      <vt:lpstr>Sulfate reducers</vt:lpstr>
      <vt:lpstr>Phosphorus Cycle</vt:lpstr>
      <vt:lpstr>Plant-Mycorrhizae Mutualism</vt:lpstr>
      <vt:lpstr>Ectomycorrhizae</vt:lpstr>
      <vt:lpstr>Slide 126</vt:lpstr>
      <vt:lpstr>Endomycorrhizae</vt:lpstr>
      <vt:lpstr>Slide 128</vt:lpstr>
      <vt:lpstr>The potential of  Plant Growth Promoting Rhizobacteria for farming</vt:lpstr>
      <vt:lpstr>Slide 130</vt:lpstr>
      <vt:lpstr>Slide 131</vt:lpstr>
      <vt:lpstr>Slide 132</vt:lpstr>
      <vt:lpstr>Phosphate Solubilization</vt:lpstr>
      <vt:lpstr>Slide 134</vt:lpstr>
      <vt:lpstr>Factors Influencing  Nutrient Availability</vt:lpstr>
      <vt:lpstr>Classification of Soils Based on the Functions of Microorganisms</vt:lpstr>
      <vt:lpstr>Slide 137</vt:lpstr>
      <vt:lpstr>Slide 138</vt:lpstr>
      <vt:lpstr>Slide 139</vt:lpstr>
      <vt:lpstr>Biofertilizers  </vt:lpstr>
      <vt:lpstr>Slide 141</vt:lpstr>
      <vt:lpstr>Slide 142</vt:lpstr>
      <vt:lpstr>Slide 143</vt:lpstr>
      <vt:lpstr>Slide 144</vt:lpstr>
      <vt:lpstr>Benefit of Biofertilizer</vt:lpstr>
      <vt:lpstr>Slide 146</vt:lpstr>
      <vt:lpstr>A healthy soil has....</vt:lpstr>
      <vt:lpstr> Examples of some Important soil microbes</vt:lpstr>
      <vt:lpstr>Endospore-Forming Gram-Positive Bacteria</vt:lpstr>
      <vt:lpstr>Endospore-Forming Gram-Positive Bacteria</vt:lpstr>
      <vt:lpstr>Endospore-Forming Gram-Positive Bacteria</vt:lpstr>
      <vt:lpstr>Slide 152</vt:lpstr>
      <vt:lpstr>Endospore-Forming Gram-Positive Bacteria</vt:lpstr>
      <vt:lpstr>Endospore-Forming Gram-Positive Bacteria</vt:lpstr>
      <vt:lpstr>Slide 155</vt:lpstr>
      <vt:lpstr>Actinobacteria: Coryneform &amp; Propionic Acid Bacteria</vt:lpstr>
      <vt:lpstr>Actinobacteria: Coryneform &amp; Propionic Acid Bacteria</vt:lpstr>
      <vt:lpstr>Actinobacteria: Coryneform &amp; Propionic Acid Bacteria</vt:lpstr>
      <vt:lpstr>Actinobacteria: Mycobacterium</vt:lpstr>
      <vt:lpstr>Slide 160</vt:lpstr>
      <vt:lpstr>Actinomycetes </vt:lpstr>
      <vt:lpstr>Slide 162</vt:lpstr>
      <vt:lpstr>Aerobic Actinomycetes: Natural Habitats</vt:lpstr>
      <vt:lpstr>Taxonomy of the Aerobic Actinomycetes</vt:lpstr>
      <vt:lpstr>Slide 165</vt:lpstr>
      <vt:lpstr>Slide 166</vt:lpstr>
      <vt:lpstr>Filamentous Actinobacteria: Streptomyces &amp; Others</vt:lpstr>
      <vt:lpstr>Filamentous Actinobacteria: Streptomyces &amp; Others</vt:lpstr>
      <vt:lpstr>ACTINOMYCETES MORPHOLOGY</vt:lpstr>
      <vt:lpstr>Slide 170</vt:lpstr>
      <vt:lpstr>ACTINOMYCETES REPRODUCTION</vt:lpstr>
      <vt:lpstr>Slide 172</vt:lpstr>
      <vt:lpstr>Slide 173</vt:lpstr>
      <vt:lpstr>Slide 174</vt:lpstr>
      <vt:lpstr>Slide 175</vt:lpstr>
      <vt:lpstr>ACTINOMYCETES ECOLOGY</vt:lpstr>
      <vt:lpstr>Examples</vt:lpstr>
      <vt:lpstr>Frankia nodules on Ceanothus roots</vt:lpstr>
      <vt:lpstr> Other antibiotics produced by Streptomyces spp</vt:lpstr>
      <vt:lpstr> Recommended Reading-General Microbiology</vt:lpstr>
    </vt:vector>
  </TitlesOfParts>
  <Company>TRI MEDIA EDITION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BIOLOGICAL PROCESSES</dc:title>
  <dc:creator>JALA</dc:creator>
  <cp:lastModifiedBy>HP</cp:lastModifiedBy>
  <cp:revision>33</cp:revision>
  <dcterms:created xsi:type="dcterms:W3CDTF">2010-07-13T16:34:41Z</dcterms:created>
  <dcterms:modified xsi:type="dcterms:W3CDTF">2016-07-26T07:12:13Z</dcterms:modified>
</cp:coreProperties>
</file>