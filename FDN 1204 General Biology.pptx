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7" r:id="rId4"/>
    <p:sldId id="275" r:id="rId5"/>
    <p:sldId id="265" r:id="rId6"/>
    <p:sldId id="276" r:id="rId7"/>
    <p:sldId id="266" r:id="rId8"/>
    <p:sldId id="268" r:id="rId9"/>
    <p:sldId id="277" r:id="rId10"/>
    <p:sldId id="269" r:id="rId11"/>
    <p:sldId id="270" r:id="rId12"/>
    <p:sldId id="278" r:id="rId13"/>
    <p:sldId id="271" r:id="rId14"/>
    <p:sldId id="272" r:id="rId15"/>
    <p:sldId id="279" r:id="rId16"/>
    <p:sldId id="273" r:id="rId17"/>
    <p:sldId id="280" r:id="rId18"/>
    <p:sldId id="274" r:id="rId19"/>
    <p:sldId id="28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6" d="100"/>
          <a:sy n="76" d="100"/>
        </p:scale>
        <p:origin x="-1044" y="-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pPr/>
              <a:t>04/02/2023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pPr/>
              <a:t>04/02/2023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pPr/>
              <a:t>04/02/2023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7CCC407-0F24-4C1C-82A9-0AFC0A7EE50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pPr/>
              <a:t>04/02/2023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pPr/>
              <a:t>04/02/2023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pPr/>
              <a:t>04/02/2023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pPr/>
              <a:t>04/02/2023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pPr/>
              <a:t>04/02/2023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pPr/>
              <a:t>04/02/2023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pPr/>
              <a:t>04/02/2023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pPr/>
              <a:t>04/02/2023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E4BA0AA-78E7-4C51-861B-2473917043FA}" type="datetimeFigureOut">
              <a:rPr lang="en-GB" smtClean="0"/>
              <a:pPr/>
              <a:t>04/02/2023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7CCC407-0F24-4C1C-82A9-0AFC0A7EE502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076" y="1196752"/>
            <a:ext cx="7772400" cy="1296144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GENERAL BIOLOGY 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FDN 1203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3" name="Picture 2" descr="General Biology - Wikibooks, open books for an open 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41776" y="2636912"/>
            <a:ext cx="5715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19081" y="5229200"/>
            <a:ext cx="43924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Dr. </a:t>
            </a:r>
            <a:r>
              <a:rPr lang="en-US" sz="2800" b="1" dirty="0" err="1" smtClean="0">
                <a:solidFill>
                  <a:schemeClr val="bg1"/>
                </a:solidFill>
              </a:rPr>
              <a:t>Theja</a:t>
            </a:r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en-US" sz="2800" b="1" dirty="0" err="1" smtClean="0">
                <a:solidFill>
                  <a:schemeClr val="bg1"/>
                </a:solidFill>
              </a:rPr>
              <a:t>Abayarathna</a:t>
            </a:r>
            <a:endParaRPr lang="en-US" sz="2800" b="1" dirty="0" smtClean="0">
              <a:solidFill>
                <a:schemeClr val="bg1"/>
              </a:solidFill>
            </a:endParaRPr>
          </a:p>
          <a:p>
            <a:r>
              <a:rPr lang="en-US" sz="2000" b="1" dirty="0" smtClean="0">
                <a:solidFill>
                  <a:schemeClr val="bg1"/>
                </a:solidFill>
              </a:rPr>
              <a:t>Department of Biology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Faculty of Applied Sciences</a:t>
            </a:r>
          </a:p>
          <a:p>
            <a:r>
              <a:rPr lang="en-US" sz="2000" b="1" dirty="0" err="1" smtClean="0">
                <a:solidFill>
                  <a:schemeClr val="bg1"/>
                </a:solidFill>
              </a:rPr>
              <a:t>Rajarata</a:t>
            </a:r>
            <a:r>
              <a:rPr lang="en-US" sz="2000" b="1" dirty="0" smtClean="0">
                <a:solidFill>
                  <a:schemeClr val="bg1"/>
                </a:solidFill>
              </a:rPr>
              <a:t> University of Sri Lanka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6113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Biology and its relationship with other sciences.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35719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To study Biology  we should know other sciences like physics and chemistry.</a:t>
            </a:r>
            <a:endParaRPr lang="en-US" sz="3200" b="1" dirty="0"/>
          </a:p>
          <a:p>
            <a:r>
              <a:rPr lang="en-US" sz="3200" b="1" dirty="0" smtClean="0"/>
              <a:t>Cell membrane – structure of lipids and proteins – </a:t>
            </a:r>
            <a:r>
              <a:rPr lang="en-US" sz="3200" b="1" dirty="0" smtClean="0">
                <a:solidFill>
                  <a:srgbClr val="FF0000"/>
                </a:solidFill>
              </a:rPr>
              <a:t>chemistry</a:t>
            </a:r>
          </a:p>
          <a:p>
            <a:r>
              <a:rPr lang="en-US" sz="3200" b="1" dirty="0" smtClean="0"/>
              <a:t>Release of energy during respiration –Electron transport chain – </a:t>
            </a:r>
            <a:r>
              <a:rPr lang="en-US" sz="3200" b="1" dirty="0" smtClean="0">
                <a:solidFill>
                  <a:srgbClr val="FF0000"/>
                </a:solidFill>
              </a:rPr>
              <a:t>chemistry</a:t>
            </a:r>
          </a:p>
          <a:p>
            <a:r>
              <a:rPr lang="en-US" sz="3200" b="1" dirty="0" smtClean="0"/>
              <a:t>Effect of light on flowering – Absorption of different wave lengths of light- </a:t>
            </a:r>
            <a:r>
              <a:rPr lang="en-US" sz="3200" b="1" dirty="0" smtClean="0">
                <a:solidFill>
                  <a:srgbClr val="FF0000"/>
                </a:solidFill>
              </a:rPr>
              <a:t>physics</a:t>
            </a:r>
            <a:endParaRPr lang="en-GB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00650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00"/>
                </a:solidFill>
              </a:rPr>
              <a:t>Scientific method in Biology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It is difficult to find an answer without logical solution.</a:t>
            </a:r>
          </a:p>
          <a:p>
            <a:r>
              <a:rPr lang="en-US" sz="3200" b="1" dirty="0" smtClean="0"/>
              <a:t>We need to define the problem, experiment it, analyze it and come to a conclusion</a:t>
            </a:r>
          </a:p>
          <a:p>
            <a:r>
              <a:rPr lang="en-US" sz="3200" b="1" dirty="0" smtClean="0"/>
              <a:t>It is done through Scientific method which draws a definite conclusion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xmlns="" val="101868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553200" y="1371600"/>
            <a:ext cx="2098430" cy="304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28600" y="0"/>
            <a:ext cx="3200400" cy="6705600"/>
          </a:xfrm>
        </p:spPr>
        <p:txBody>
          <a:bodyPr>
            <a:normAutofit fontScale="92500"/>
          </a:bodyPr>
          <a:lstStyle/>
          <a:p>
            <a:pPr marL="514350" indent="-514350" algn="l"/>
            <a:endParaRPr lang="en-US" sz="3600" dirty="0" smtClean="0">
              <a:solidFill>
                <a:schemeClr val="bg1"/>
              </a:solidFill>
            </a:endParaRPr>
          </a:p>
          <a:p>
            <a:pPr marL="514350" indent="-514350" algn="l"/>
            <a:endParaRPr lang="en-US" sz="3600" dirty="0" smtClean="0">
              <a:solidFill>
                <a:schemeClr val="bg1"/>
              </a:solidFill>
            </a:endParaRPr>
          </a:p>
          <a:p>
            <a:pPr marL="742950" indent="-742950" algn="l">
              <a:buFont typeface="+mj-lt"/>
              <a:buAutoNum type="arabicPeriod"/>
            </a:pPr>
            <a:r>
              <a:rPr lang="en-US" sz="3500" dirty="0" smtClean="0">
                <a:solidFill>
                  <a:schemeClr val="bg1"/>
                </a:solidFill>
              </a:rPr>
              <a:t>Observation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sz="3500" dirty="0" smtClean="0">
                <a:solidFill>
                  <a:schemeClr val="bg1"/>
                </a:solidFill>
              </a:rPr>
              <a:t>Question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sz="3500" dirty="0" smtClean="0">
                <a:solidFill>
                  <a:schemeClr val="bg1"/>
                </a:solidFill>
              </a:rPr>
              <a:t>Hypothesis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sz="3500" dirty="0" smtClean="0">
                <a:solidFill>
                  <a:schemeClr val="bg1"/>
                </a:solidFill>
              </a:rPr>
              <a:t> Prediction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sz="3500" dirty="0" smtClean="0">
                <a:solidFill>
                  <a:schemeClr val="bg1"/>
                </a:solidFill>
              </a:rPr>
              <a:t>Experiment 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sz="3500" dirty="0" smtClean="0">
                <a:solidFill>
                  <a:schemeClr val="bg1"/>
                </a:solidFill>
              </a:rPr>
              <a:t> Analysis 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sz="3500" dirty="0" smtClean="0">
                <a:solidFill>
                  <a:schemeClr val="bg1"/>
                </a:solidFill>
              </a:rPr>
              <a:t> Result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sz="3500" dirty="0" smtClean="0">
                <a:solidFill>
                  <a:schemeClr val="bg1"/>
                </a:solidFill>
              </a:rPr>
              <a:t> Conclusion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35350" y="304800"/>
            <a:ext cx="5708650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90741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472648"/>
          </a:xfrm>
        </p:spPr>
        <p:txBody>
          <a:bodyPr>
            <a:normAutofit/>
          </a:bodyPr>
          <a:lstStyle/>
          <a:p>
            <a:pPr marL="651510" indent="-514350">
              <a:buAutoNum type="arabicPeriod"/>
            </a:pPr>
            <a:r>
              <a:rPr lang="en-US" sz="3200" b="1" dirty="0" smtClean="0">
                <a:solidFill>
                  <a:schemeClr val="bg1"/>
                </a:solidFill>
              </a:rPr>
              <a:t>Observation </a:t>
            </a:r>
            <a:r>
              <a:rPr lang="en-US" sz="3200" dirty="0" smtClean="0"/>
              <a:t>: </a:t>
            </a:r>
            <a:endParaRPr lang="en-US" sz="3200" dirty="0"/>
          </a:p>
          <a:p>
            <a:pPr marL="137160" indent="0">
              <a:buNone/>
            </a:pPr>
            <a:r>
              <a:rPr lang="en-US" sz="3200" dirty="0" smtClean="0"/>
              <a:t>Most biological investigations – start with observation on</a:t>
            </a:r>
          </a:p>
          <a:p>
            <a:pPr marL="137160" indent="0">
              <a:buNone/>
            </a:pPr>
            <a:r>
              <a:rPr lang="en-US" sz="3200" dirty="0" smtClean="0"/>
              <a:t>Structure, process, behavioral pattern </a:t>
            </a:r>
            <a:r>
              <a:rPr lang="en-US" sz="3200" dirty="0" err="1" smtClean="0"/>
              <a:t>ect</a:t>
            </a:r>
            <a:r>
              <a:rPr lang="en-US" sz="3200" dirty="0" smtClean="0"/>
              <a:t>.</a:t>
            </a:r>
          </a:p>
          <a:p>
            <a:endParaRPr lang="en-US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501008"/>
            <a:ext cx="3303662" cy="2592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76036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976704"/>
          </a:xfrm>
        </p:spPr>
        <p:txBody>
          <a:bodyPr/>
          <a:lstStyle/>
          <a:p>
            <a:pPr marL="137160" indent="0">
              <a:buNone/>
            </a:pPr>
            <a:r>
              <a:rPr lang="en-US" b="1" dirty="0">
                <a:solidFill>
                  <a:schemeClr val="bg1"/>
                </a:solidFill>
              </a:rPr>
              <a:t>2. Defining a problem</a:t>
            </a:r>
          </a:p>
          <a:p>
            <a:r>
              <a:rPr lang="en-US" dirty="0"/>
              <a:t>The observations lead to </a:t>
            </a:r>
            <a:r>
              <a:rPr lang="en-US" b="1" dirty="0"/>
              <a:t>questions</a:t>
            </a:r>
            <a:r>
              <a:rPr lang="en-US" dirty="0"/>
              <a:t>: </a:t>
            </a:r>
            <a:endParaRPr lang="en-US" dirty="0" smtClean="0"/>
          </a:p>
          <a:p>
            <a:pPr marL="137160" indent="0">
              <a:buNone/>
            </a:pPr>
            <a:endParaRPr lang="en-US" dirty="0" smtClean="0"/>
          </a:p>
          <a:p>
            <a:r>
              <a:rPr lang="en-US" dirty="0" smtClean="0"/>
              <a:t>what </a:t>
            </a:r>
            <a:r>
              <a:rPr lang="en-US" dirty="0"/>
              <a:t>is this, how does it work, why does it work the way it does? </a:t>
            </a:r>
            <a:endParaRPr lang="en-US" dirty="0" smtClean="0"/>
          </a:p>
          <a:p>
            <a:pPr marL="137160" indent="0">
              <a:buNone/>
            </a:pP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may necessitate further observations to be </a:t>
            </a:r>
            <a:r>
              <a:rPr lang="en-US" dirty="0" smtClean="0"/>
              <a:t>made</a:t>
            </a:r>
          </a:p>
          <a:p>
            <a:pPr marL="137160" indent="0">
              <a:buNone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26364" y="3933056"/>
            <a:ext cx="2452388" cy="2461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590247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688672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US" sz="3200" b="1" dirty="0" smtClean="0">
                <a:solidFill>
                  <a:schemeClr val="bg1"/>
                </a:solidFill>
              </a:rPr>
              <a:t>3. Hypothesis</a:t>
            </a:r>
          </a:p>
          <a:p>
            <a:r>
              <a:rPr lang="en-US" sz="3200" b="1" dirty="0" smtClean="0"/>
              <a:t>On the basis of the facts known already – make a tentative theory</a:t>
            </a:r>
          </a:p>
          <a:p>
            <a:pPr marL="137160" indent="0">
              <a:buNone/>
            </a:pPr>
            <a:endParaRPr lang="en-US" sz="3200" b="1" dirty="0" smtClean="0"/>
          </a:p>
          <a:p>
            <a:r>
              <a:rPr lang="en-US" sz="3200" b="1" dirty="0" smtClean="0">
                <a:solidFill>
                  <a:srgbClr val="FFC000"/>
                </a:solidFill>
              </a:rPr>
              <a:t>It is an intelligent guess</a:t>
            </a:r>
          </a:p>
          <a:p>
            <a:r>
              <a:rPr lang="en-US" sz="3200" b="1" dirty="0" smtClean="0">
                <a:solidFill>
                  <a:srgbClr val="FFC000"/>
                </a:solidFill>
              </a:rPr>
              <a:t>It is a gradual accumulation of indirect evidence</a:t>
            </a:r>
          </a:p>
          <a:p>
            <a:r>
              <a:rPr lang="en-US" sz="3200" b="1" dirty="0" smtClean="0">
                <a:solidFill>
                  <a:srgbClr val="FFC000"/>
                </a:solidFill>
              </a:rPr>
              <a:t>It may have number off predictions</a:t>
            </a:r>
            <a:endParaRPr lang="en-GB" sz="32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8382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544656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US" sz="3200" b="1" dirty="0" smtClean="0">
                <a:solidFill>
                  <a:schemeClr val="bg1"/>
                </a:solidFill>
              </a:rPr>
              <a:t>4. Controlled experiment</a:t>
            </a:r>
          </a:p>
          <a:p>
            <a:pPr marL="137160" indent="0">
              <a:buNone/>
            </a:pPr>
            <a:r>
              <a:rPr lang="en-US" sz="3200" b="1" dirty="0" smtClean="0"/>
              <a:t>Test each prediction</a:t>
            </a:r>
          </a:p>
          <a:p>
            <a:r>
              <a:rPr lang="en-US" sz="3200" dirty="0" smtClean="0"/>
              <a:t>It is </a:t>
            </a:r>
            <a:r>
              <a:rPr lang="en-US" sz="3200" dirty="0"/>
              <a:t>geared specifically towards </a:t>
            </a:r>
            <a:r>
              <a:rPr lang="en-US" sz="3200" b="1" dirty="0"/>
              <a:t>rejecting </a:t>
            </a:r>
            <a:r>
              <a:rPr lang="en-US" sz="3200" dirty="0"/>
              <a:t>one's favored </a:t>
            </a:r>
            <a:r>
              <a:rPr lang="en-US" sz="3200" dirty="0" smtClean="0"/>
              <a:t>hypothesis</a:t>
            </a:r>
          </a:p>
          <a:p>
            <a:r>
              <a:rPr lang="en-US" sz="3200" dirty="0"/>
              <a:t>Often, two experiments are conducted at the same time. </a:t>
            </a:r>
            <a:endParaRPr lang="en-US" sz="3200" dirty="0" smtClean="0"/>
          </a:p>
          <a:p>
            <a:r>
              <a:rPr lang="en-US" sz="3200" dirty="0" smtClean="0"/>
              <a:t>In </a:t>
            </a:r>
            <a:r>
              <a:rPr lang="en-US" sz="3200" dirty="0"/>
              <a:t>one experiment, all the variables are kept constant except one, 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xmlns="" val="3108976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328632"/>
          </a:xfrm>
        </p:spPr>
        <p:txBody>
          <a:bodyPr/>
          <a:lstStyle/>
          <a:p>
            <a:r>
              <a:rPr lang="en-US" dirty="0" smtClean="0"/>
              <a:t>The other </a:t>
            </a:r>
            <a:r>
              <a:rPr lang="en-US" dirty="0"/>
              <a:t>experiment </a:t>
            </a:r>
            <a:r>
              <a:rPr lang="en-US" dirty="0" smtClean="0"/>
              <a:t>- </a:t>
            </a:r>
            <a:r>
              <a:rPr lang="en-US" b="1" dirty="0" smtClean="0"/>
              <a:t>control experiment</a:t>
            </a:r>
            <a:r>
              <a:rPr lang="en-US" dirty="0" smtClean="0"/>
              <a:t> -variable </a:t>
            </a:r>
            <a:r>
              <a:rPr lang="en-US" dirty="0"/>
              <a:t>is left unaltered. </a:t>
            </a:r>
            <a:endParaRPr lang="en-US" dirty="0" smtClean="0"/>
          </a:p>
          <a:p>
            <a:pPr marL="137160" indent="0">
              <a:buNone/>
            </a:pPr>
            <a:endParaRPr lang="en-US" dirty="0"/>
          </a:p>
          <a:p>
            <a:r>
              <a:rPr lang="en-US" dirty="0"/>
              <a:t>The results of the two experiments are compared </a:t>
            </a:r>
            <a:r>
              <a:rPr lang="en-US" dirty="0" smtClean="0"/>
              <a:t>to </a:t>
            </a:r>
            <a:r>
              <a:rPr lang="en-US" dirty="0"/>
              <a:t>determine if the tested variable </a:t>
            </a:r>
            <a:r>
              <a:rPr lang="en-US" dirty="0" smtClean="0"/>
              <a:t>has </a:t>
            </a:r>
            <a:r>
              <a:rPr lang="en-US" dirty="0"/>
              <a:t>an effect on the outcome.</a:t>
            </a:r>
            <a:endParaRPr lang="en-GB" b="1" dirty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853456"/>
            <a:ext cx="3429063" cy="2815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99658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976664"/>
          </a:xfrm>
        </p:spPr>
        <p:txBody>
          <a:bodyPr/>
          <a:lstStyle/>
          <a:p>
            <a:pPr marL="13716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5. Theory</a:t>
            </a:r>
          </a:p>
          <a:p>
            <a:r>
              <a:rPr lang="en-US" sz="3200" b="1" dirty="0" smtClean="0"/>
              <a:t>When Hypothesis is supported by evidence it becomes a theory</a:t>
            </a:r>
          </a:p>
          <a:p>
            <a:r>
              <a:rPr lang="en-US" sz="3200" b="1" dirty="0" smtClean="0"/>
              <a:t>More evidence, more acceptance confirms it</a:t>
            </a:r>
          </a:p>
          <a:p>
            <a:r>
              <a:rPr lang="en-US" sz="3200" b="1" dirty="0" smtClean="0"/>
              <a:t>It is not a fact that cannot be changed</a:t>
            </a:r>
          </a:p>
          <a:p>
            <a:r>
              <a:rPr lang="en-US" sz="3200" b="1" dirty="0" smtClean="0"/>
              <a:t>Ex. Theory of evolution – changed over time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xmlns="" val="247115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00"/>
                </a:solidFill>
              </a:rPr>
              <a:t>Role of Biology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US" sz="3200" b="1" dirty="0" smtClean="0">
                <a:solidFill>
                  <a:srgbClr val="FF0000"/>
                </a:solidFill>
              </a:rPr>
              <a:t>Objectives of studying Biology</a:t>
            </a:r>
          </a:p>
          <a:p>
            <a:pPr marL="137160" indent="0">
              <a:buNone/>
            </a:pPr>
            <a:endParaRPr lang="en-US" sz="32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1.Understand ourselves better</a:t>
            </a:r>
          </a:p>
          <a:p>
            <a:pPr marL="0" indent="0">
              <a:buNone/>
            </a:pPr>
            <a:r>
              <a:rPr lang="en-US" sz="3200" b="1" dirty="0" smtClean="0"/>
              <a:t>We study basic concepts related to structure and functions of cells and organs</a:t>
            </a:r>
          </a:p>
          <a:p>
            <a:pPr marL="0" indent="0">
              <a:buNone/>
            </a:pPr>
            <a:endParaRPr lang="en-US" sz="3200" b="1" dirty="0" smtClean="0"/>
          </a:p>
          <a:p>
            <a:endParaRPr lang="en-GB" sz="32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60032" y="4437112"/>
            <a:ext cx="3976679" cy="2226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6237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19272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Give an idea about our place in the </a:t>
            </a: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universe</a:t>
            </a:r>
          </a:p>
          <a:p>
            <a:pPr marL="0" indent="0">
              <a:buNone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/>
              <a:t>Man  </a:t>
            </a:r>
            <a:r>
              <a:rPr lang="en-US" b="1" dirty="0" smtClean="0"/>
              <a:t>is a small part of the universe</a:t>
            </a: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We need to protect </a:t>
            </a:r>
            <a:r>
              <a:rPr lang="en-US" b="1" dirty="0"/>
              <a:t>and respect other living things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595478"/>
            <a:ext cx="4404468" cy="3761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99261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669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 smtClean="0"/>
              <a:t>3. </a:t>
            </a:r>
            <a:r>
              <a:rPr lang="en-US" sz="3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Meet our needs</a:t>
            </a:r>
            <a:r>
              <a:rPr lang="en-US" sz="3200" b="1" dirty="0" smtClean="0"/>
              <a:t> 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 smtClean="0"/>
              <a:t>Helps to utilize resources available.</a:t>
            </a:r>
          </a:p>
          <a:p>
            <a:pPr marL="0" indent="0">
              <a:buNone/>
            </a:pPr>
            <a:r>
              <a:rPr lang="en-US" sz="3200" b="1" dirty="0" smtClean="0"/>
              <a:t>Ex. Medicine- cure diseases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 smtClean="0"/>
              <a:t>4. </a:t>
            </a:r>
            <a:r>
              <a:rPr lang="en-US" sz="3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Warn about health hazards </a:t>
            </a:r>
            <a:r>
              <a:rPr lang="en-US" sz="3200" b="1" dirty="0" smtClean="0"/>
              <a:t>due to use of pesticides , fertilizers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 smtClean="0"/>
              <a:t>5. </a:t>
            </a:r>
            <a:r>
              <a:rPr lang="en-US" sz="3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Increase awareness </a:t>
            </a:r>
            <a:r>
              <a:rPr lang="en-US" sz="3200" b="1" dirty="0" smtClean="0"/>
              <a:t>of interrelationships of organisms with environment.</a:t>
            </a:r>
          </a:p>
          <a:p>
            <a:pPr marL="0" indent="0">
              <a:buNone/>
            </a:pP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xmlns="" val="127394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Properties of life</a:t>
            </a:r>
            <a:endParaRPr lang="en-GB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896584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Biology is the study of living things</a:t>
            </a:r>
          </a:p>
          <a:p>
            <a:r>
              <a:rPr lang="en-US" sz="3200" b="1" dirty="0" smtClean="0"/>
              <a:t>What makes something alive?</a:t>
            </a:r>
          </a:p>
          <a:p>
            <a:r>
              <a:rPr lang="en-US" sz="3200" b="1" dirty="0" smtClean="0"/>
              <a:t>All living organisms share 5 basic characteristics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83968" y="3501008"/>
            <a:ext cx="4560168" cy="314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650124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688672"/>
          </a:xfrm>
        </p:spPr>
        <p:txBody>
          <a:bodyPr/>
          <a:lstStyle/>
          <a:p>
            <a:pPr marL="137160" indent="0">
              <a:buNone/>
            </a:pPr>
            <a:r>
              <a:rPr lang="en-US" b="1" dirty="0">
                <a:solidFill>
                  <a:srgbClr val="FF0000"/>
                </a:solidFill>
              </a:rPr>
              <a:t>1. </a:t>
            </a:r>
            <a:r>
              <a:rPr lang="en-US" b="1" dirty="0" smtClean="0">
                <a:solidFill>
                  <a:srgbClr val="FF0000"/>
                </a:solidFill>
              </a:rPr>
              <a:t>Order</a:t>
            </a:r>
          </a:p>
          <a:p>
            <a:pPr marL="13716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/>
              <a:t>All organisms </a:t>
            </a:r>
            <a:r>
              <a:rPr lang="en-US" b="1" dirty="0" smtClean="0"/>
              <a:t> are composed of one </a:t>
            </a:r>
            <a:r>
              <a:rPr lang="en-US" b="1" dirty="0"/>
              <a:t>or more </a:t>
            </a:r>
            <a:r>
              <a:rPr lang="en-US" b="1" dirty="0" smtClean="0"/>
              <a:t>cells in a highly </a:t>
            </a:r>
            <a:r>
              <a:rPr lang="en-US" b="1" dirty="0"/>
              <a:t>ordered structure</a:t>
            </a:r>
          </a:p>
          <a:p>
            <a:r>
              <a:rPr lang="en-US" b="1" dirty="0"/>
              <a:t>Atoms-molecules-cellular organelles- cells</a:t>
            </a:r>
            <a:endParaRPr lang="en-GB" b="1" dirty="0"/>
          </a:p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80112" y="3356992"/>
            <a:ext cx="3294112" cy="3294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91063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976704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US" sz="3200" b="1" dirty="0" smtClean="0">
                <a:solidFill>
                  <a:srgbClr val="FF0000"/>
                </a:solidFill>
              </a:rPr>
              <a:t>2. Sensitivity</a:t>
            </a:r>
          </a:p>
          <a:p>
            <a:r>
              <a:rPr lang="en-US" sz="3200" dirty="0" smtClean="0"/>
              <a:t>Living things </a:t>
            </a:r>
            <a:r>
              <a:rPr lang="en-US" sz="3200" dirty="0"/>
              <a:t>r</a:t>
            </a:r>
            <a:r>
              <a:rPr lang="en-US" sz="3200" dirty="0" smtClean="0"/>
              <a:t>espond to stimuli</a:t>
            </a:r>
          </a:p>
          <a:p>
            <a:r>
              <a:rPr lang="en-US" sz="3200" dirty="0" smtClean="0"/>
              <a:t>Ex. Plants grow towards light</a:t>
            </a:r>
          </a:p>
          <a:p>
            <a:endParaRPr lang="en-US" sz="32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636912"/>
            <a:ext cx="5559550" cy="3682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59791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120720"/>
          </a:xfrm>
        </p:spPr>
        <p:txBody>
          <a:bodyPr/>
          <a:lstStyle/>
          <a:p>
            <a:pPr marL="137160" indent="0">
              <a:buNone/>
            </a:pPr>
            <a:r>
              <a:rPr lang="en-US" b="1" dirty="0">
                <a:solidFill>
                  <a:srgbClr val="FF0000"/>
                </a:solidFill>
              </a:rPr>
              <a:t>3. Growth, Reproduction, development</a:t>
            </a:r>
          </a:p>
          <a:p>
            <a:r>
              <a:rPr lang="en-US" dirty="0" smtClean="0"/>
              <a:t>Living things are capable </a:t>
            </a:r>
            <a:r>
              <a:rPr lang="en-US" dirty="0"/>
              <a:t>of growing and reproducing</a:t>
            </a:r>
          </a:p>
          <a:p>
            <a:r>
              <a:rPr lang="en-US" dirty="0" smtClean="0"/>
              <a:t>They Possess </a:t>
            </a:r>
            <a:r>
              <a:rPr lang="en-US" dirty="0"/>
              <a:t>hereditary </a:t>
            </a:r>
            <a:r>
              <a:rPr lang="en-US" dirty="0" smtClean="0"/>
              <a:t>molecules and are </a:t>
            </a:r>
            <a:r>
              <a:rPr lang="en-US" dirty="0"/>
              <a:t>passed to offspring</a:t>
            </a:r>
            <a:endParaRPr lang="en-GB" dirty="0"/>
          </a:p>
          <a:p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51920" y="2636912"/>
            <a:ext cx="4762500" cy="356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35847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048712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US" sz="3200" b="1" dirty="0" smtClean="0">
                <a:solidFill>
                  <a:srgbClr val="FF0000"/>
                </a:solidFill>
              </a:rPr>
              <a:t>4. Homeostasis</a:t>
            </a:r>
          </a:p>
          <a:p>
            <a:r>
              <a:rPr lang="en-US" sz="3200" dirty="0" smtClean="0"/>
              <a:t>Capable of keeping internal environment constant</a:t>
            </a:r>
          </a:p>
          <a:p>
            <a:pPr marL="137160" indent="0">
              <a:buNone/>
            </a:pPr>
            <a:r>
              <a:rPr lang="en-US" sz="3200" b="1" dirty="0" smtClean="0">
                <a:solidFill>
                  <a:srgbClr val="FF0000"/>
                </a:solidFill>
              </a:rPr>
              <a:t>5. Evolution</a:t>
            </a:r>
            <a:endParaRPr lang="en-US" sz="3200" b="1" dirty="0">
              <a:solidFill>
                <a:srgbClr val="FF0000"/>
              </a:solidFill>
            </a:endParaRPr>
          </a:p>
          <a:p>
            <a:r>
              <a:rPr lang="en-US" sz="3200" dirty="0"/>
              <a:t>With the time </a:t>
            </a:r>
            <a:r>
              <a:rPr lang="en-US" sz="3200" dirty="0" smtClean="0"/>
              <a:t>living things change </a:t>
            </a:r>
            <a:r>
              <a:rPr lang="en-US" sz="3200" dirty="0"/>
              <a:t>according to the environment</a:t>
            </a:r>
            <a:endParaRPr lang="en-GB" sz="3200" dirty="0"/>
          </a:p>
          <a:p>
            <a:endParaRPr lang="en-US" sz="3200" dirty="0" smtClean="0"/>
          </a:p>
          <a:p>
            <a:pPr marL="137160" indent="0">
              <a:buNone/>
            </a:pPr>
            <a:endParaRPr lang="en-US" sz="3200" b="1" dirty="0">
              <a:solidFill>
                <a:srgbClr val="FFFF00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19872" y="3568623"/>
            <a:ext cx="5394176" cy="3020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3351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 algn="ctr">
              <a:buNone/>
            </a:pPr>
            <a:endParaRPr lang="en-US" dirty="0" smtClean="0"/>
          </a:p>
          <a:p>
            <a:pPr marL="137160" indent="0" algn="ctr">
              <a:buNone/>
            </a:pPr>
            <a:endParaRPr lang="en-US" dirty="0"/>
          </a:p>
          <a:p>
            <a:pPr marL="137160" indent="0" algn="ctr">
              <a:buNone/>
            </a:pPr>
            <a:endParaRPr lang="en-US" dirty="0" smtClean="0"/>
          </a:p>
          <a:p>
            <a:pPr marL="137160" indent="0" algn="ctr">
              <a:buNone/>
            </a:pPr>
            <a:r>
              <a:rPr lang="en-US" sz="7200" b="1" dirty="0" smtClean="0">
                <a:solidFill>
                  <a:srgbClr val="FF0000"/>
                </a:solidFill>
                <a:latin typeface="Aaah Speed" pitchFamily="2" charset="0"/>
              </a:rPr>
              <a:t>THANK YOU!</a:t>
            </a:r>
            <a:endParaRPr lang="en-US" sz="7200" b="1" dirty="0">
              <a:solidFill>
                <a:srgbClr val="FF0000"/>
              </a:solidFill>
              <a:latin typeface="Aaah Spe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76983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274</TotalTime>
  <Words>526</Words>
  <Application>Microsoft Office PowerPoint</Application>
  <PresentationFormat>On-screen Show (4:3)</PresentationFormat>
  <Paragraphs>90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Apex</vt:lpstr>
      <vt:lpstr>GENERAL BIOLOGY  FDN 1203</vt:lpstr>
      <vt:lpstr>Biology and its relationship with other sciences.</vt:lpstr>
      <vt:lpstr>Scientific method in Biology</vt:lpstr>
      <vt:lpstr>Slide 4</vt:lpstr>
      <vt:lpstr>Slide 5</vt:lpstr>
      <vt:lpstr>Slide 6</vt:lpstr>
      <vt:lpstr>Slide 7</vt:lpstr>
      <vt:lpstr>Slide 8</vt:lpstr>
      <vt:lpstr>Slide 9</vt:lpstr>
      <vt:lpstr>Slide 10</vt:lpstr>
      <vt:lpstr>Role of Biology</vt:lpstr>
      <vt:lpstr>Slide 12</vt:lpstr>
      <vt:lpstr>Slide 13</vt:lpstr>
      <vt:lpstr>Properties of life</vt:lpstr>
      <vt:lpstr>Slide 15</vt:lpstr>
      <vt:lpstr>Slide 16</vt:lpstr>
      <vt:lpstr>Slide 17</vt:lpstr>
      <vt:lpstr>Slide 18</vt:lpstr>
      <vt:lpstr>Slide 19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BIOLOGY FOR PHYSICAL SCIENCE STUDENTS CMP 1203/1307</dc:title>
  <dc:creator>ismail - [2010]</dc:creator>
  <cp:lastModifiedBy>Ulindu</cp:lastModifiedBy>
  <cp:revision>29</cp:revision>
  <dcterms:created xsi:type="dcterms:W3CDTF">2013-05-05T15:32:03Z</dcterms:created>
  <dcterms:modified xsi:type="dcterms:W3CDTF">2023-02-05T06:18:39Z</dcterms:modified>
</cp:coreProperties>
</file>