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81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28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73913" autoAdjust="0"/>
  </p:normalViewPr>
  <p:slideViewPr>
    <p:cSldViewPr>
      <p:cViewPr>
        <p:scale>
          <a:sx n="64" d="100"/>
          <a:sy n="64" d="100"/>
        </p:scale>
        <p:origin x="-1566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9F9D6-525A-49B7-8B71-29932B27C212}" type="datetimeFigureOut">
              <a:rPr lang="en-US" smtClean="0"/>
              <a:t>11/16/2020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FCD54-E115-4ED1-9227-092E76F0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02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124744"/>
            <a:ext cx="7560840" cy="2664296"/>
          </a:xfrm>
        </p:spPr>
        <p:txBody>
          <a:bodyPr/>
          <a:lstStyle/>
          <a:p>
            <a:pPr eaLnBrk="1" hangingPunct="1">
              <a:defRPr/>
            </a:pPr>
            <a:r>
              <a:rPr lang="en-US" b="1" i="1" dirty="0" smtClean="0">
                <a:solidFill>
                  <a:srgbClr val="FF0000"/>
                </a:solidFill>
                <a:effectLst/>
              </a:rPr>
              <a:t>BIOMES</a:t>
            </a:r>
          </a:p>
        </p:txBody>
      </p:sp>
    </p:spTree>
    <p:extLst>
      <p:ext uri="{BB962C8B-B14F-4D97-AF65-F5344CB8AC3E}">
        <p14:creationId xmlns:p14="http://schemas.microsoft.com/office/powerpoint/2010/main" val="7308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  <a:effectLst/>
              </a:rPr>
              <a:t>Biomes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229600" cy="482457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Biome is the </a:t>
            </a:r>
            <a:r>
              <a:rPr lang="en-US" dirty="0" smtClean="0">
                <a:solidFill>
                  <a:srgbClr val="FFFF00"/>
                </a:solidFill>
              </a:rPr>
              <a:t>largest terrestrial community </a:t>
            </a:r>
            <a:r>
              <a:rPr lang="en-US" dirty="0" smtClean="0"/>
              <a:t>or the </a:t>
            </a:r>
            <a:r>
              <a:rPr lang="en-US" dirty="0" smtClean="0">
                <a:solidFill>
                  <a:srgbClr val="FFFF00"/>
                </a:solidFill>
              </a:rPr>
              <a:t>largest ecological unit.</a:t>
            </a:r>
          </a:p>
          <a:p>
            <a:pPr eaLnBrk="1" hangingPunct="1">
              <a:lnSpc>
                <a:spcPct val="90000"/>
              </a:lnSpc>
            </a:pPr>
            <a:endParaRPr lang="en-US" dirty="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It has </a:t>
            </a:r>
            <a:r>
              <a:rPr lang="en-US" dirty="0" smtClean="0">
                <a:solidFill>
                  <a:srgbClr val="FF0000"/>
                </a:solidFill>
              </a:rPr>
              <a:t>specific kinds of plants and animals 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It has </a:t>
            </a:r>
            <a:r>
              <a:rPr lang="en-US" dirty="0" smtClean="0">
                <a:solidFill>
                  <a:srgbClr val="92D050"/>
                </a:solidFill>
              </a:rPr>
              <a:t>distinct climatic conditions. 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Biomes  are distributed on earth as </a:t>
            </a:r>
            <a:r>
              <a:rPr lang="en-US" dirty="0" smtClean="0">
                <a:solidFill>
                  <a:srgbClr val="002060"/>
                </a:solidFill>
              </a:rPr>
              <a:t>broad belts</a:t>
            </a:r>
            <a:r>
              <a:rPr lang="en-US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8981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rgbClr val="FF0000"/>
                </a:solidFill>
                <a:effectLst/>
              </a:rPr>
              <a:t>The major biomes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20000"/>
          </a:bodyPr>
          <a:lstStyle/>
          <a:p>
            <a:pPr marL="137160" indent="0" eaLnBrk="1" hangingPunct="1">
              <a:lnSpc>
                <a:spcPct val="90000"/>
              </a:lnSpc>
              <a:buNone/>
            </a:pPr>
            <a:r>
              <a:rPr lang="en-US" sz="2800" b="1" dirty="0" smtClean="0">
                <a:solidFill>
                  <a:srgbClr val="7030A0"/>
                </a:solidFill>
              </a:rPr>
              <a:t>1.Tundra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sz="2800" dirty="0" smtClean="0">
              <a:solidFill>
                <a:srgbClr val="7030A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Found across </a:t>
            </a:r>
            <a:r>
              <a:rPr lang="en-US" sz="2800" b="1" dirty="0" smtClean="0">
                <a:solidFill>
                  <a:srgbClr val="002060"/>
                </a:solidFill>
              </a:rPr>
              <a:t>Asia, Europe and North America.</a:t>
            </a:r>
          </a:p>
          <a:p>
            <a:pPr eaLnBrk="1" hangingPunct="1">
              <a:lnSpc>
                <a:spcPct val="90000"/>
              </a:lnSpc>
            </a:pPr>
            <a:endParaRPr lang="en-US" sz="2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Rainfall </a:t>
            </a:r>
            <a:r>
              <a:rPr lang="en-US" sz="2800" b="1" dirty="0" smtClean="0">
                <a:solidFill>
                  <a:srgbClr val="FFFF00"/>
                </a:solidFill>
              </a:rPr>
              <a:t>below 25cm</a:t>
            </a:r>
          </a:p>
          <a:p>
            <a:pPr eaLnBrk="1" hangingPunct="1">
              <a:lnSpc>
                <a:spcPct val="90000"/>
              </a:lnSpc>
            </a:pPr>
            <a:endParaRPr lang="en-US" sz="2800" b="1" dirty="0" smtClean="0">
              <a:solidFill>
                <a:srgbClr val="FFFF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>
                <a:solidFill>
                  <a:srgbClr val="00B0F0"/>
                </a:solidFill>
              </a:rPr>
              <a:t>Poor light and extremely low temperature.</a:t>
            </a:r>
          </a:p>
          <a:p>
            <a:pPr eaLnBrk="1" hangingPunct="1">
              <a:lnSpc>
                <a:spcPct val="90000"/>
              </a:lnSpc>
            </a:pPr>
            <a:endParaRPr lang="en-US" b="1" dirty="0">
              <a:solidFill>
                <a:srgbClr val="00B0F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Snowfall is scanty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sz="2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>
                <a:solidFill>
                  <a:srgbClr val="92D050"/>
                </a:solidFill>
              </a:rPr>
              <a:t>Sparse vegetation</a:t>
            </a:r>
            <a:r>
              <a:rPr lang="en-US" sz="2800" b="1" dirty="0" smtClean="0"/>
              <a:t>. 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sz="28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>
                <a:solidFill>
                  <a:srgbClr val="FFFF00"/>
                </a:solidFill>
              </a:rPr>
              <a:t>Dwarf willow trees, </a:t>
            </a:r>
            <a:r>
              <a:rPr lang="en-US" b="1" dirty="0">
                <a:solidFill>
                  <a:srgbClr val="FFFF00"/>
                </a:solidFill>
              </a:rPr>
              <a:t>l</a:t>
            </a:r>
            <a:r>
              <a:rPr lang="en-US" sz="2800" b="1" dirty="0" smtClean="0">
                <a:solidFill>
                  <a:srgbClr val="FFFF00"/>
                </a:solidFill>
              </a:rPr>
              <a:t>ichens, mosses are found.</a:t>
            </a:r>
          </a:p>
        </p:txBody>
      </p:sp>
    </p:spTree>
    <p:extLst>
      <p:ext uri="{BB962C8B-B14F-4D97-AF65-F5344CB8AC3E}">
        <p14:creationId xmlns:p14="http://schemas.microsoft.com/office/powerpoint/2010/main" val="114706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" y="188640"/>
            <a:ext cx="8895184" cy="5559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87624" y="5949280"/>
            <a:ext cx="1476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FF00"/>
                </a:solidFill>
              </a:rPr>
              <a:t>Tundra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45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8680"/>
            <a:ext cx="8229600" cy="5760680"/>
          </a:xfrm>
        </p:spPr>
        <p:txBody>
          <a:bodyPr/>
          <a:lstStyle/>
          <a:p>
            <a:pPr marL="137160" indent="0" eaLnBrk="1" hangingPunct="1">
              <a:lnSpc>
                <a:spcPct val="9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2. Taiga</a:t>
            </a:r>
          </a:p>
          <a:p>
            <a:pPr eaLnBrk="1" hangingPunct="1">
              <a:lnSpc>
                <a:spcPct val="90000"/>
              </a:lnSpc>
            </a:pPr>
            <a:endParaRPr lang="en-US" dirty="0" smtClean="0">
              <a:solidFill>
                <a:schemeClr val="folHlink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It is occurred at the east west band across </a:t>
            </a:r>
            <a:r>
              <a:rPr lang="en-US" dirty="0" smtClean="0">
                <a:solidFill>
                  <a:srgbClr val="C00000"/>
                </a:solidFill>
              </a:rPr>
              <a:t>North America, Europe and Asia.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0070C0"/>
                </a:solidFill>
              </a:rPr>
              <a:t>Rainfall 10-35cm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FFC000"/>
                </a:solidFill>
              </a:rPr>
              <a:t>Average temperature 6°C in winter and 20 °C in summer</a:t>
            </a:r>
            <a:br>
              <a:rPr lang="en-US" dirty="0" smtClean="0">
                <a:solidFill>
                  <a:srgbClr val="FFC000"/>
                </a:solidFill>
              </a:rPr>
            </a:br>
            <a:endParaRPr lang="en-US" dirty="0" smtClean="0">
              <a:solidFill>
                <a:srgbClr val="FFC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92D050"/>
                </a:solidFill>
              </a:rPr>
              <a:t>Evergreen trees</a:t>
            </a:r>
          </a:p>
        </p:txBody>
      </p:sp>
    </p:spTree>
    <p:extLst>
      <p:ext uri="{BB962C8B-B14F-4D97-AF65-F5344CB8AC3E}">
        <p14:creationId xmlns:p14="http://schemas.microsoft.com/office/powerpoint/2010/main" val="409177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8404"/>
            <a:ext cx="8241658" cy="5439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71600" y="6021288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FF00"/>
                </a:solidFill>
              </a:rPr>
              <a:t>Taiga</a:t>
            </a:r>
            <a:endParaRPr 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8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 marL="137160" indent="0" eaLnBrk="1" hangingPunct="1">
              <a:buNone/>
            </a:pPr>
            <a:r>
              <a:rPr lang="en-US" b="1" dirty="0" smtClean="0">
                <a:solidFill>
                  <a:srgbClr val="7030A0"/>
                </a:solidFill>
              </a:rPr>
              <a:t>3. Deciduous forest</a:t>
            </a:r>
          </a:p>
          <a:p>
            <a:pPr marL="137160" indent="0" eaLnBrk="1" hangingPunct="1">
              <a:buNone/>
            </a:pPr>
            <a:endParaRPr lang="en-US" dirty="0" smtClean="0">
              <a:solidFill>
                <a:schemeClr val="folHlink"/>
              </a:solidFill>
            </a:endParaRPr>
          </a:p>
          <a:p>
            <a:pPr eaLnBrk="1" hangingPunct="1"/>
            <a:r>
              <a:rPr lang="en-US" dirty="0" smtClean="0"/>
              <a:t>Occurred in temperate region of </a:t>
            </a:r>
            <a:r>
              <a:rPr lang="en-US" dirty="0" smtClean="0">
                <a:solidFill>
                  <a:srgbClr val="C00000"/>
                </a:solidFill>
              </a:rPr>
              <a:t>North Central Europe, </a:t>
            </a:r>
            <a:r>
              <a:rPr lang="en-US" dirty="0" err="1" smtClean="0">
                <a:solidFill>
                  <a:srgbClr val="C00000"/>
                </a:solidFill>
              </a:rPr>
              <a:t>Easten</a:t>
            </a:r>
            <a:r>
              <a:rPr lang="en-US" dirty="0" smtClean="0">
                <a:solidFill>
                  <a:srgbClr val="C00000"/>
                </a:solidFill>
              </a:rPr>
              <a:t> Asia and </a:t>
            </a:r>
            <a:r>
              <a:rPr lang="en-US" dirty="0" err="1" smtClean="0">
                <a:solidFill>
                  <a:srgbClr val="C00000"/>
                </a:solidFill>
              </a:rPr>
              <a:t>Easten</a:t>
            </a:r>
            <a:r>
              <a:rPr lang="en-US" dirty="0" smtClean="0">
                <a:solidFill>
                  <a:srgbClr val="C00000"/>
                </a:solidFill>
              </a:rPr>
              <a:t> United states</a:t>
            </a:r>
            <a:r>
              <a:rPr lang="en-US" dirty="0" smtClean="0"/>
              <a:t>.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Rain fall </a:t>
            </a:r>
            <a:r>
              <a:rPr lang="en-US" b="1" dirty="0" smtClean="0">
                <a:solidFill>
                  <a:srgbClr val="00B0F0"/>
                </a:solidFill>
              </a:rPr>
              <a:t>75-150cm</a:t>
            </a:r>
          </a:p>
          <a:p>
            <a:pPr marL="137160" indent="0" eaLnBrk="1" hangingPunct="1">
              <a:buNone/>
            </a:pPr>
            <a:endParaRPr lang="en-US" b="1" dirty="0" smtClean="0">
              <a:solidFill>
                <a:srgbClr val="00B0F0"/>
              </a:solidFill>
            </a:endParaRPr>
          </a:p>
          <a:p>
            <a:pPr eaLnBrk="1" hangingPunct="1"/>
            <a:r>
              <a:rPr lang="en-US" dirty="0" smtClean="0">
                <a:solidFill>
                  <a:srgbClr val="92D050"/>
                </a:solidFill>
              </a:rPr>
              <a:t>Broadleaved hardwood trees are found</a:t>
            </a:r>
          </a:p>
        </p:txBody>
      </p:sp>
    </p:spTree>
    <p:extLst>
      <p:ext uri="{BB962C8B-B14F-4D97-AF65-F5344CB8AC3E}">
        <p14:creationId xmlns:p14="http://schemas.microsoft.com/office/powerpoint/2010/main" val="122151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728663"/>
            <a:ext cx="80962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15781" y="6169827"/>
            <a:ext cx="29883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Deciduous forest</a:t>
            </a:r>
            <a:endParaRPr lang="en-US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17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8680"/>
            <a:ext cx="8229600" cy="576068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 smtClean="0">
                <a:solidFill>
                  <a:schemeClr val="folHlink"/>
                </a:solidFill>
              </a:rPr>
              <a:t>4. Tropical rain forest</a:t>
            </a:r>
          </a:p>
          <a:p>
            <a:pPr marL="0" indent="0" eaLnBrk="1" hangingPunct="1">
              <a:buNone/>
            </a:pPr>
            <a:endParaRPr lang="en-US" dirty="0" smtClean="0">
              <a:solidFill>
                <a:schemeClr val="folHlink"/>
              </a:solidFill>
            </a:endParaRPr>
          </a:p>
          <a:p>
            <a:pPr marL="609600" indent="-609600" eaLnBrk="1" hangingPunct="1"/>
            <a:r>
              <a:rPr lang="en-US" sz="3200" dirty="0" smtClean="0"/>
              <a:t>Occurred in </a:t>
            </a:r>
            <a:r>
              <a:rPr lang="en-US" sz="3200" dirty="0" smtClean="0">
                <a:solidFill>
                  <a:srgbClr val="C00000"/>
                </a:solidFill>
              </a:rPr>
              <a:t>equatorial regions</a:t>
            </a:r>
          </a:p>
          <a:p>
            <a:pPr marL="609600" indent="-609600" eaLnBrk="1" hangingPunct="1"/>
            <a:endParaRPr lang="en-US" sz="3200" dirty="0" smtClean="0">
              <a:solidFill>
                <a:srgbClr val="C00000"/>
              </a:solidFill>
            </a:endParaRPr>
          </a:p>
          <a:p>
            <a:pPr marL="609600" indent="-609600" eaLnBrk="1" hangingPunct="1"/>
            <a:r>
              <a:rPr lang="en-US" sz="3200" b="1" dirty="0" smtClean="0">
                <a:solidFill>
                  <a:srgbClr val="0070C0"/>
                </a:solidFill>
              </a:rPr>
              <a:t>Rainfall exceeds 140 cm</a:t>
            </a:r>
          </a:p>
          <a:p>
            <a:pPr marL="0" indent="0" eaLnBrk="1" hangingPunct="1">
              <a:buNone/>
            </a:pPr>
            <a:endParaRPr lang="en-US" sz="3200" b="1" dirty="0" smtClean="0">
              <a:solidFill>
                <a:srgbClr val="0070C0"/>
              </a:solidFill>
            </a:endParaRPr>
          </a:p>
          <a:p>
            <a:pPr marL="609600" indent="-609600" eaLnBrk="1" hangingPunct="1"/>
            <a:r>
              <a:rPr lang="en-US" sz="3200" b="1" dirty="0" smtClean="0">
                <a:solidFill>
                  <a:srgbClr val="FFFF00"/>
                </a:solidFill>
              </a:rPr>
              <a:t>Warm and humid climate</a:t>
            </a:r>
          </a:p>
          <a:p>
            <a:pPr marL="0" indent="0" eaLnBrk="1" hangingPunct="1">
              <a:buNone/>
            </a:pPr>
            <a:endParaRPr lang="en-US" sz="3200" b="1" dirty="0" smtClean="0">
              <a:solidFill>
                <a:srgbClr val="FFFF00"/>
              </a:solidFill>
            </a:endParaRPr>
          </a:p>
          <a:p>
            <a:pPr marL="609600" indent="-609600" eaLnBrk="1" hangingPunct="1"/>
            <a:r>
              <a:rPr lang="en-US" sz="3200" b="1" dirty="0" smtClean="0">
                <a:solidFill>
                  <a:srgbClr val="92D050"/>
                </a:solidFill>
              </a:rPr>
              <a:t>Luxuriant and varied vegetation</a:t>
            </a:r>
          </a:p>
        </p:txBody>
      </p:sp>
    </p:spTree>
    <p:extLst>
      <p:ext uri="{BB962C8B-B14F-4D97-AF65-F5344CB8AC3E}">
        <p14:creationId xmlns:p14="http://schemas.microsoft.com/office/powerpoint/2010/main" val="16439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06" y="260648"/>
            <a:ext cx="684076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900326" y="6165304"/>
            <a:ext cx="33377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Tropical rain forest</a:t>
            </a:r>
            <a:endParaRPr lang="en-US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14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664"/>
            <a:ext cx="8229600" cy="590469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800" b="1" dirty="0" smtClean="0">
                <a:solidFill>
                  <a:schemeClr val="folHlink"/>
                </a:solidFill>
              </a:rPr>
              <a:t>5. Chaparral</a:t>
            </a:r>
            <a:endParaRPr lang="en-US" b="1" dirty="0">
              <a:solidFill>
                <a:schemeClr val="folHlink"/>
              </a:solidFill>
            </a:endParaRPr>
          </a:p>
          <a:p>
            <a:pPr marL="0" indent="0" eaLnBrk="1" hangingPunct="1">
              <a:buNone/>
            </a:pPr>
            <a:endParaRPr lang="en-US" sz="2800" b="1" dirty="0" smtClean="0">
              <a:solidFill>
                <a:schemeClr val="folHlink"/>
              </a:solidFill>
            </a:endParaRPr>
          </a:p>
          <a:p>
            <a:pPr marL="609600" indent="-609600" eaLnBrk="1" hangingPunct="1"/>
            <a:r>
              <a:rPr lang="en-US" sz="2800" b="1" dirty="0" smtClean="0"/>
              <a:t>Extends along </a:t>
            </a:r>
            <a:r>
              <a:rPr lang="en-US" sz="2800" b="1" dirty="0" smtClean="0">
                <a:solidFill>
                  <a:srgbClr val="C00000"/>
                </a:solidFill>
              </a:rPr>
              <a:t>Mediterranean sea, </a:t>
            </a:r>
            <a:r>
              <a:rPr lang="en-US" sz="2800" b="1" dirty="0" err="1" smtClean="0">
                <a:solidFill>
                  <a:srgbClr val="C00000"/>
                </a:solidFill>
              </a:rPr>
              <a:t>Pasific</a:t>
            </a:r>
            <a:r>
              <a:rPr lang="en-US" sz="2800" b="1" dirty="0" smtClean="0">
                <a:solidFill>
                  <a:srgbClr val="C00000"/>
                </a:solidFill>
              </a:rPr>
              <a:t> coast of south America, Chili, South Africa and south Australia.</a:t>
            </a:r>
          </a:p>
          <a:p>
            <a:pPr marL="0" indent="0" eaLnBrk="1" hangingPunct="1">
              <a:buNone/>
            </a:pPr>
            <a:endParaRPr lang="en-US" sz="2800" b="1" dirty="0" smtClean="0">
              <a:solidFill>
                <a:srgbClr val="C00000"/>
              </a:solidFill>
            </a:endParaRPr>
          </a:p>
          <a:p>
            <a:pPr marL="609600" indent="-609600" eaLnBrk="1" hangingPunct="1"/>
            <a:r>
              <a:rPr lang="en-US" sz="2800" b="1" dirty="0" smtClean="0">
                <a:solidFill>
                  <a:srgbClr val="00B0F0"/>
                </a:solidFill>
              </a:rPr>
              <a:t>Limited winter rain followed by drought.</a:t>
            </a:r>
          </a:p>
          <a:p>
            <a:pPr marL="0" indent="0" eaLnBrk="1" hangingPunct="1">
              <a:buNone/>
            </a:pPr>
            <a:endParaRPr lang="en-US" sz="2800" b="1" dirty="0" smtClean="0">
              <a:solidFill>
                <a:srgbClr val="00B0F0"/>
              </a:solidFill>
            </a:endParaRPr>
          </a:p>
          <a:p>
            <a:pPr marL="609600" indent="-609600"/>
            <a:r>
              <a:rPr lang="en-US" dirty="0" smtClean="0"/>
              <a:t>Vegetation </a:t>
            </a:r>
            <a:r>
              <a:rPr lang="en-US" dirty="0"/>
              <a:t>composed of </a:t>
            </a:r>
            <a:r>
              <a:rPr lang="en-US" b="1" dirty="0">
                <a:solidFill>
                  <a:srgbClr val="92D050"/>
                </a:solidFill>
              </a:rPr>
              <a:t>broad-leaved evergreen shrubs, bushes, and small trees usually less than 2.5 m </a:t>
            </a:r>
            <a:r>
              <a:rPr lang="en-US" b="1" dirty="0" smtClean="0">
                <a:solidFill>
                  <a:srgbClr val="92D050"/>
                </a:solidFill>
              </a:rPr>
              <a:t>tall</a:t>
            </a:r>
            <a:r>
              <a:rPr lang="en-US" dirty="0"/>
              <a:t>; together they often form dense thickets</a:t>
            </a:r>
            <a:endParaRPr lang="en-US" sz="28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099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20688"/>
            <a:ext cx="7154275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043608" y="5877272"/>
            <a:ext cx="1821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Chaparral</a:t>
            </a:r>
          </a:p>
        </p:txBody>
      </p:sp>
    </p:spTree>
    <p:extLst>
      <p:ext uri="{BB962C8B-B14F-4D97-AF65-F5344CB8AC3E}">
        <p14:creationId xmlns:p14="http://schemas.microsoft.com/office/powerpoint/2010/main" val="168036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688"/>
            <a:ext cx="8229600" cy="568867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 smtClean="0">
                <a:solidFill>
                  <a:schemeClr val="folHlink"/>
                </a:solidFill>
              </a:rPr>
              <a:t>6. Tropical savannah</a:t>
            </a:r>
          </a:p>
          <a:p>
            <a:pPr marL="0" indent="0" eaLnBrk="1" hangingPunct="1">
              <a:buNone/>
            </a:pPr>
            <a:endParaRPr lang="en-US" dirty="0" smtClean="0">
              <a:solidFill>
                <a:schemeClr val="folHlink"/>
              </a:solidFill>
            </a:endParaRPr>
          </a:p>
          <a:p>
            <a:pPr marL="609600" indent="-609600" eaLnBrk="1" hangingPunct="1"/>
            <a:r>
              <a:rPr lang="en-US" dirty="0" smtClean="0">
                <a:solidFill>
                  <a:srgbClr val="C00000"/>
                </a:solidFill>
              </a:rPr>
              <a:t>South America, Africa, Asia and Australia</a:t>
            </a:r>
          </a:p>
          <a:p>
            <a:pPr marL="0" indent="0" eaLnBrk="1" hangingPunct="1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marL="609600" indent="-609600" eaLnBrk="1" hangingPunct="1"/>
            <a:r>
              <a:rPr lang="en-US" dirty="0" smtClean="0">
                <a:solidFill>
                  <a:srgbClr val="FFC000"/>
                </a:solidFill>
              </a:rPr>
              <a:t>Warm climate</a:t>
            </a:r>
          </a:p>
          <a:p>
            <a:pPr marL="0" indent="0" eaLnBrk="1" hangingPunct="1">
              <a:buNone/>
            </a:pPr>
            <a:endParaRPr lang="en-US" dirty="0" smtClean="0"/>
          </a:p>
          <a:p>
            <a:pPr marL="609600" indent="-609600" eaLnBrk="1" hangingPunct="1"/>
            <a:r>
              <a:rPr lang="en-US" dirty="0" smtClean="0">
                <a:solidFill>
                  <a:srgbClr val="002060"/>
                </a:solidFill>
              </a:rPr>
              <a:t>Rain fall 100-150 cm</a:t>
            </a:r>
          </a:p>
        </p:txBody>
      </p:sp>
    </p:spTree>
    <p:extLst>
      <p:ext uri="{BB962C8B-B14F-4D97-AF65-F5344CB8AC3E}">
        <p14:creationId xmlns:p14="http://schemas.microsoft.com/office/powerpoint/2010/main" val="1674605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48680"/>
            <a:ext cx="7431217" cy="506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5877272"/>
            <a:ext cx="3207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Tropical savannah</a:t>
            </a:r>
            <a:endParaRPr lang="en-US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1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 marL="137160" indent="0" eaLnBrk="1" hangingPunct="1">
              <a:buNone/>
            </a:pPr>
            <a:r>
              <a:rPr lang="en-US" b="1" dirty="0" smtClean="0">
                <a:solidFill>
                  <a:schemeClr val="folHlink"/>
                </a:solidFill>
              </a:rPr>
              <a:t>7. Grasslands</a:t>
            </a:r>
          </a:p>
          <a:p>
            <a:pPr marL="137160" indent="0" eaLnBrk="1" hangingPunct="1">
              <a:buNone/>
            </a:pPr>
            <a:endParaRPr lang="en-US" dirty="0" smtClean="0">
              <a:solidFill>
                <a:schemeClr val="folHlink"/>
              </a:solidFill>
            </a:endParaRPr>
          </a:p>
          <a:p>
            <a:pPr eaLnBrk="1" hangingPunct="1"/>
            <a:r>
              <a:rPr lang="en-US" dirty="0" smtClean="0">
                <a:solidFill>
                  <a:srgbClr val="C00000"/>
                </a:solidFill>
              </a:rPr>
              <a:t>Prairies of Canada and USA, Pampas of </a:t>
            </a:r>
            <a:r>
              <a:rPr lang="en-US" dirty="0" err="1" smtClean="0">
                <a:solidFill>
                  <a:srgbClr val="C00000"/>
                </a:solidFill>
              </a:rPr>
              <a:t>Soth</a:t>
            </a:r>
            <a:r>
              <a:rPr lang="en-US" dirty="0" smtClean="0">
                <a:solidFill>
                  <a:srgbClr val="C00000"/>
                </a:solidFill>
              </a:rPr>
              <a:t> America, </a:t>
            </a:r>
            <a:r>
              <a:rPr lang="en-US" dirty="0" err="1" smtClean="0">
                <a:solidFill>
                  <a:srgbClr val="C00000"/>
                </a:solidFill>
              </a:rPr>
              <a:t>Stepps</a:t>
            </a:r>
            <a:r>
              <a:rPr lang="en-US" dirty="0" smtClean="0">
                <a:solidFill>
                  <a:srgbClr val="C00000"/>
                </a:solidFill>
              </a:rPr>
              <a:t> of Europe and Asia, Veldts of Africa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b="1" dirty="0" smtClean="0">
                <a:solidFill>
                  <a:srgbClr val="002060"/>
                </a:solidFill>
              </a:rPr>
              <a:t>Rainfall is about 25-75cm</a:t>
            </a:r>
          </a:p>
          <a:p>
            <a:pPr marL="137160" indent="0" eaLnBrk="1" hangingPunct="1">
              <a:buNone/>
            </a:pPr>
            <a:endParaRPr lang="en-US" dirty="0" smtClean="0"/>
          </a:p>
          <a:p>
            <a:pPr eaLnBrk="1" hangingPunct="1"/>
            <a:r>
              <a:rPr lang="en-US" b="1" dirty="0" smtClean="0">
                <a:solidFill>
                  <a:srgbClr val="92D050"/>
                </a:solidFill>
              </a:rPr>
              <a:t>Short and tall grasses found</a:t>
            </a:r>
          </a:p>
        </p:txBody>
      </p:sp>
    </p:spTree>
    <p:extLst>
      <p:ext uri="{BB962C8B-B14F-4D97-AF65-F5344CB8AC3E}">
        <p14:creationId xmlns:p14="http://schemas.microsoft.com/office/powerpoint/2010/main" val="619968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0648"/>
            <a:ext cx="7177616" cy="5383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11560" y="5949280"/>
            <a:ext cx="21570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7160"/>
            <a:r>
              <a:rPr lang="en-US" sz="2800" b="1" dirty="0">
                <a:solidFill>
                  <a:srgbClr val="FFC000"/>
                </a:solidFill>
              </a:rPr>
              <a:t>Grasslands</a:t>
            </a:r>
          </a:p>
        </p:txBody>
      </p:sp>
    </p:spTree>
    <p:extLst>
      <p:ext uri="{BB962C8B-B14F-4D97-AF65-F5344CB8AC3E}">
        <p14:creationId xmlns:p14="http://schemas.microsoft.com/office/powerpoint/2010/main" val="3342938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marL="137160" indent="0" eaLnBrk="1" hangingPunct="1">
              <a:lnSpc>
                <a:spcPct val="90000"/>
              </a:lnSpc>
              <a:buNone/>
            </a:pPr>
            <a:r>
              <a:rPr lang="en-US" b="1" dirty="0" smtClean="0">
                <a:solidFill>
                  <a:srgbClr val="7030A0"/>
                </a:solidFill>
              </a:rPr>
              <a:t>8. Desserts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>
              <a:solidFill>
                <a:srgbClr val="7030A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solidFill>
                  <a:srgbClr val="C00000"/>
                </a:solidFill>
              </a:rPr>
              <a:t>South western USA, Mexico, coastal area of Chili and Peru, North Africa Sahara dessert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002060"/>
                </a:solidFill>
              </a:rPr>
              <a:t>Extremely low rainfall. Less than 25cm, high evaporation.</a:t>
            </a:r>
          </a:p>
          <a:p>
            <a:pPr marL="137160" indent="0" eaLnBrk="1" hangingPunct="1">
              <a:lnSpc>
                <a:spcPct val="90000"/>
              </a:lnSpc>
              <a:buNone/>
            </a:pPr>
            <a:endParaRPr lang="en-US" b="1" dirty="0" smtClean="0">
              <a:solidFill>
                <a:srgbClr val="00206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92D050"/>
                </a:solidFill>
              </a:rPr>
              <a:t>Hardy grasses found.</a:t>
            </a:r>
          </a:p>
        </p:txBody>
      </p:sp>
    </p:spTree>
    <p:extLst>
      <p:ext uri="{BB962C8B-B14F-4D97-AF65-F5344CB8AC3E}">
        <p14:creationId xmlns:p14="http://schemas.microsoft.com/office/powerpoint/2010/main" val="2471026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4664"/>
            <a:ext cx="7296017" cy="547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9734" y="5959565"/>
            <a:ext cx="171777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7160">
              <a:lnSpc>
                <a:spcPct val="90000"/>
              </a:lnSpc>
            </a:pPr>
            <a:r>
              <a:rPr lang="en-US" sz="2800" b="1" dirty="0">
                <a:solidFill>
                  <a:srgbClr val="FFC000"/>
                </a:solidFill>
              </a:rPr>
              <a:t>Desserts</a:t>
            </a:r>
          </a:p>
        </p:txBody>
      </p:sp>
    </p:spTree>
    <p:extLst>
      <p:ext uri="{BB962C8B-B14F-4D97-AF65-F5344CB8AC3E}">
        <p14:creationId xmlns:p14="http://schemas.microsoft.com/office/powerpoint/2010/main" val="1177468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18370</TotalTime>
  <Words>329</Words>
  <Application>Microsoft Office PowerPoint</Application>
  <PresentationFormat>On-screen Show (4:3)</PresentationFormat>
  <Paragraphs>89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Apex</vt:lpstr>
      <vt:lpstr>GENERAL BIOLOGY fdn 1203</vt:lpstr>
      <vt:lpstr>BIOMES</vt:lpstr>
      <vt:lpstr>Biomes</vt:lpstr>
      <vt:lpstr>The major biomes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Theja</cp:lastModifiedBy>
  <cp:revision>45</cp:revision>
  <dcterms:created xsi:type="dcterms:W3CDTF">2013-05-05T15:32:03Z</dcterms:created>
  <dcterms:modified xsi:type="dcterms:W3CDTF">2020-11-16T15:30:43Z</dcterms:modified>
</cp:coreProperties>
</file>