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40" r:id="rId2"/>
    <p:sldId id="304" r:id="rId3"/>
    <p:sldId id="305" r:id="rId4"/>
    <p:sldId id="306" r:id="rId5"/>
    <p:sldId id="307" r:id="rId6"/>
    <p:sldId id="308" r:id="rId7"/>
    <p:sldId id="309" r:id="rId8"/>
    <p:sldId id="310" r:id="rId9"/>
    <p:sldId id="312" r:id="rId10"/>
    <p:sldId id="313" r:id="rId11"/>
    <p:sldId id="341" r:id="rId12"/>
    <p:sldId id="315" r:id="rId13"/>
    <p:sldId id="316" r:id="rId14"/>
    <p:sldId id="317" r:id="rId15"/>
    <p:sldId id="318" r:id="rId16"/>
    <p:sldId id="319" r:id="rId17"/>
    <p:sldId id="342" r:id="rId18"/>
    <p:sldId id="280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07/08/2020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07/08/2020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07/08/2020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07/08/2020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07/08/2020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07/08/2020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07/08/2020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07/08/2020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07/08/2020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07/08/2020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07/08/2020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E4BA0AA-78E7-4C51-861B-2473917043FA}" type="datetimeFigureOut">
              <a:rPr lang="en-GB" smtClean="0"/>
              <a:t>07/08/2020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476672"/>
            <a:ext cx="7772400" cy="1584176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GENERAL BIOLOGY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err="1" smtClean="0">
                <a:solidFill>
                  <a:srgbClr val="FF0000"/>
                </a:solidFill>
              </a:rPr>
              <a:t>fdn</a:t>
            </a:r>
            <a:r>
              <a:rPr lang="en-US" dirty="0" smtClean="0">
                <a:solidFill>
                  <a:srgbClr val="FF0000"/>
                </a:solidFill>
              </a:rPr>
              <a:t> 1203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1026" name="Picture 2" descr="General Biology - Wikibooks, open books for an open 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76872"/>
            <a:ext cx="5715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99592" y="4941168"/>
            <a:ext cx="43924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Dr. </a:t>
            </a:r>
            <a:r>
              <a:rPr lang="en-US" sz="2800" b="1" dirty="0" err="1" smtClean="0">
                <a:solidFill>
                  <a:schemeClr val="bg1"/>
                </a:solidFill>
              </a:rPr>
              <a:t>Theja</a:t>
            </a: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 err="1" smtClean="0">
                <a:solidFill>
                  <a:schemeClr val="bg1"/>
                </a:solidFill>
              </a:rPr>
              <a:t>Abayarathna</a:t>
            </a:r>
            <a:endParaRPr lang="en-US" sz="2800" b="1" dirty="0" smtClean="0">
              <a:solidFill>
                <a:schemeClr val="bg1"/>
              </a:solidFill>
            </a:endParaRPr>
          </a:p>
          <a:p>
            <a:r>
              <a:rPr lang="en-US" sz="2000" b="1" dirty="0" smtClean="0">
                <a:solidFill>
                  <a:schemeClr val="bg1"/>
                </a:solidFill>
              </a:rPr>
              <a:t>Department of Biology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Faculty of Applied Sciences</a:t>
            </a:r>
          </a:p>
          <a:p>
            <a:r>
              <a:rPr lang="en-US" sz="2000" b="1" dirty="0" err="1" smtClean="0">
                <a:solidFill>
                  <a:schemeClr val="bg1"/>
                </a:solidFill>
              </a:rPr>
              <a:t>Rajarata</a:t>
            </a:r>
            <a:r>
              <a:rPr lang="en-US" sz="2000" b="1" dirty="0" smtClean="0">
                <a:solidFill>
                  <a:schemeClr val="bg1"/>
                </a:solidFill>
              </a:rPr>
              <a:t> University of Sri Lanka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95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it-IT" dirty="0" smtClean="0">
                <a:effectLst/>
              </a:rPr>
              <a:t>Phyllum: Porifera</a:t>
            </a:r>
            <a:r>
              <a:rPr lang="en-US" dirty="0" smtClean="0">
                <a:effectLst/>
              </a:rPr>
              <a:t/>
            </a:r>
            <a:br>
              <a:rPr lang="en-US" dirty="0" smtClean="0">
                <a:effectLst/>
              </a:rPr>
            </a:br>
            <a:endParaRPr lang="en-US" dirty="0" smtClean="0">
              <a:effectLst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Called pore bearers as their body wall contain minute pores. </a:t>
            </a:r>
          </a:p>
          <a:p>
            <a:pPr eaLnBrk="1" hangingPunct="1">
              <a:defRPr/>
            </a:pPr>
            <a:r>
              <a:rPr lang="en-US" dirty="0" smtClean="0"/>
              <a:t>All are aquatic marine or fresh water.</a:t>
            </a:r>
          </a:p>
        </p:txBody>
      </p:sp>
      <p:pic>
        <p:nvPicPr>
          <p:cNvPr id="26628" name="Picture 4" descr="11697-004-9041962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581400"/>
            <a:ext cx="28575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1676400" y="5867400"/>
            <a:ext cx="1657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>
                <a:latin typeface="Arial" charset="0"/>
              </a:rPr>
              <a:t>Ex. </a:t>
            </a:r>
            <a:r>
              <a:rPr lang="en-US" i="1">
                <a:latin typeface="Arial" charset="0"/>
              </a:rPr>
              <a:t>Euspongia</a:t>
            </a:r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294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smtClean="0"/>
              <a:t>Phylum Cnidaria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Radial symmetrical animals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They have specialized cells</a:t>
            </a:r>
          </a:p>
          <a:p>
            <a:pPr marL="137160" indent="0" eaLnBrk="1" hangingPunct="1">
              <a:buNone/>
              <a:defRPr/>
            </a:pPr>
            <a:r>
              <a:rPr lang="en-US" dirty="0" smtClean="0"/>
              <a:t> called </a:t>
            </a:r>
            <a:r>
              <a:rPr lang="en-US" dirty="0" err="1" smtClean="0"/>
              <a:t>Cnidocytes</a:t>
            </a:r>
            <a:r>
              <a:rPr lang="en-US" dirty="0" smtClean="0"/>
              <a:t> – “stinging cells”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6228184" y="6237257"/>
            <a:ext cx="1327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dirty="0">
                <a:latin typeface="Arial" charset="0"/>
              </a:rPr>
              <a:t>Ex. jellyfish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251419"/>
            <a:ext cx="2627326" cy="3935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534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42617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600" dirty="0" smtClean="0">
                <a:effectLst/>
              </a:rPr>
              <a:t>Phylum</a:t>
            </a:r>
            <a:r>
              <a:rPr lang="en-US" dirty="0" smtClean="0">
                <a:effectLst/>
              </a:rPr>
              <a:t> </a:t>
            </a:r>
            <a:r>
              <a:rPr lang="en-US" dirty="0" err="1" smtClean="0">
                <a:effectLst/>
              </a:rPr>
              <a:t>Plathyhelminthes</a:t>
            </a:r>
            <a:r>
              <a:rPr lang="en-US" dirty="0" smtClean="0">
                <a:effectLst/>
              </a:rPr>
              <a:t> (Flatworms)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Soft, </a:t>
            </a:r>
            <a:r>
              <a:rPr lang="en-US" dirty="0" err="1" smtClean="0"/>
              <a:t>dorso</a:t>
            </a:r>
            <a:r>
              <a:rPr lang="en-US" dirty="0" smtClean="0"/>
              <a:t>-ventrally flattened animals with bilateral symmetry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Most are parasitic.</a:t>
            </a:r>
          </a:p>
        </p:txBody>
      </p:sp>
      <p:pic>
        <p:nvPicPr>
          <p:cNvPr id="28676" name="il_fi" descr="Taenia%20solium%20adult%2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284984"/>
            <a:ext cx="3048000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5436096" y="5660449"/>
            <a:ext cx="20002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dirty="0">
                <a:latin typeface="Arial" charset="0"/>
              </a:rPr>
              <a:t>Ex. </a:t>
            </a:r>
            <a:r>
              <a:rPr lang="en-US" i="1" dirty="0" err="1">
                <a:latin typeface="Arial" charset="0"/>
              </a:rPr>
              <a:t>Taenia</a:t>
            </a:r>
            <a:r>
              <a:rPr lang="en-US" i="1" dirty="0">
                <a:latin typeface="Arial" charset="0"/>
              </a:rPr>
              <a:t> </a:t>
            </a:r>
            <a:r>
              <a:rPr lang="en-US" i="1" dirty="0" err="1">
                <a:latin typeface="Arial" charset="0"/>
              </a:rPr>
              <a:t>solium</a:t>
            </a:r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749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smtClean="0"/>
              <a:t>Phylum Nematoda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Commonly known as round worms</a:t>
            </a:r>
            <a:endParaRPr lang="en-US" dirty="0"/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Occur almost every where in soil, fresh water, salt water and as parasites in the body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Body wall is covered by a tough cuticle</a:t>
            </a:r>
          </a:p>
          <a:p>
            <a:pPr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27572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5"/>
          <p:cNvSpPr>
            <a:spLocks noChangeArrowheads="1"/>
          </p:cNvSpPr>
          <p:nvPr/>
        </p:nvSpPr>
        <p:spPr bwMode="auto">
          <a:xfrm>
            <a:off x="2555776" y="5373216"/>
            <a:ext cx="532859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lang="en-US" i="1" dirty="0">
                <a:latin typeface="Arial" charset="0"/>
              </a:rPr>
              <a:t>Ex:</a:t>
            </a:r>
            <a:r>
              <a:rPr lang="en-US" b="1" i="1" dirty="0">
                <a:latin typeface="Arial" charset="0"/>
              </a:rPr>
              <a:t> </a:t>
            </a:r>
            <a:r>
              <a:rPr lang="en-US" i="1" dirty="0" err="1">
                <a:latin typeface="Arial" charset="0"/>
              </a:rPr>
              <a:t>Ancylostoma</a:t>
            </a:r>
            <a:r>
              <a:rPr lang="en-US" i="1" dirty="0">
                <a:latin typeface="Arial" charset="0"/>
              </a:rPr>
              <a:t>- </a:t>
            </a:r>
            <a:r>
              <a:rPr lang="en-US" dirty="0">
                <a:latin typeface="Arial" charset="0"/>
              </a:rPr>
              <a:t>Hook worm </a:t>
            </a:r>
            <a:r>
              <a:rPr lang="en-US" dirty="0" smtClean="0">
                <a:latin typeface="Arial" charset="0"/>
              </a:rPr>
              <a:t>infection</a:t>
            </a:r>
            <a:endParaRPr lang="en-US" dirty="0">
              <a:latin typeface="Arial" charset="0"/>
            </a:endParaRP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279" y="692696"/>
            <a:ext cx="5395844" cy="404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6342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ffectLst/>
              </a:rPr>
              <a:t>Phylum Annelida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Elongated segmented body.</a:t>
            </a:r>
          </a:p>
          <a:p>
            <a:pPr eaLnBrk="1" hangingPunct="1">
              <a:defRPr/>
            </a:pPr>
            <a:r>
              <a:rPr lang="en-US" smtClean="0"/>
              <a:t>Body is covered by a transparent cuticle.</a:t>
            </a:r>
          </a:p>
          <a:p>
            <a:pPr eaLnBrk="1" hangingPunct="1">
              <a:defRPr/>
            </a:pPr>
            <a:endParaRPr lang="en-US" smtClean="0"/>
          </a:p>
        </p:txBody>
      </p:sp>
      <p:pic>
        <p:nvPicPr>
          <p:cNvPr id="31748" name="il_fi" descr="539949_hirudinariamanillens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276600"/>
            <a:ext cx="3276600" cy="280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1828800" y="6172200"/>
            <a:ext cx="2508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>
                <a:latin typeface="Arial" charset="0"/>
              </a:rPr>
              <a:t>Ex. </a:t>
            </a:r>
            <a:r>
              <a:rPr lang="en-US" i="1">
                <a:latin typeface="Arial" charset="0"/>
              </a:rPr>
              <a:t>Hirudinaria</a:t>
            </a:r>
            <a:r>
              <a:rPr lang="en-US">
                <a:latin typeface="Arial" charset="0"/>
              </a:rPr>
              <a:t> - Leech</a:t>
            </a:r>
          </a:p>
        </p:txBody>
      </p:sp>
    </p:spTree>
    <p:extLst>
      <p:ext uri="{BB962C8B-B14F-4D97-AF65-F5344CB8AC3E}">
        <p14:creationId xmlns:p14="http://schemas.microsoft.com/office/powerpoint/2010/main" val="2107868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smtClean="0"/>
              <a:t>Phylum Mollusca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Live in fresh water, marine water and on land.</a:t>
            </a:r>
          </a:p>
          <a:p>
            <a:pPr eaLnBrk="1" hangingPunct="1">
              <a:defRPr/>
            </a:pPr>
            <a:r>
              <a:rPr lang="en-US" smtClean="0"/>
              <a:t>Soft bodied. </a:t>
            </a:r>
          </a:p>
          <a:p>
            <a:pPr eaLnBrk="1" hangingPunct="1">
              <a:defRPr/>
            </a:pPr>
            <a:r>
              <a:rPr lang="en-US" smtClean="0"/>
              <a:t>Have a muscular foot used for locomotion</a:t>
            </a:r>
          </a:p>
          <a:p>
            <a:pPr eaLnBrk="1" hangingPunct="1">
              <a:defRPr/>
            </a:pPr>
            <a:endParaRPr lang="en-US" smtClean="0"/>
          </a:p>
        </p:txBody>
      </p:sp>
      <p:pic>
        <p:nvPicPr>
          <p:cNvPr id="4" name="il_fi" descr="P1060189+Haplotrema+vancouverense+GG_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212976"/>
            <a:ext cx="3929062" cy="292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339752" y="4941168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Ex. Snail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54517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smtClean="0"/>
              <a:t>Phylum Arthropoda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Symbol" pitchFamily="18" charset="2"/>
              <a:buChar char=""/>
              <a:defRPr/>
            </a:pPr>
            <a:r>
              <a:rPr lang="en-US" dirty="0" smtClean="0"/>
              <a:t>Largest group of animals</a:t>
            </a:r>
          </a:p>
          <a:p>
            <a:pPr marL="609600" indent="-609600" eaLnBrk="1" hangingPunct="1">
              <a:buFont typeface="Symbol" pitchFamily="18" charset="2"/>
              <a:buChar char=""/>
              <a:defRPr/>
            </a:pPr>
            <a:endParaRPr lang="en-US" dirty="0" smtClean="0"/>
          </a:p>
          <a:p>
            <a:pPr marL="0" indent="0" eaLnBrk="1" hangingPunct="1">
              <a:buNone/>
              <a:defRPr/>
            </a:pPr>
            <a:r>
              <a:rPr lang="en-US" b="1" dirty="0" smtClean="0">
                <a:solidFill>
                  <a:srgbClr val="FFFF66"/>
                </a:solidFill>
              </a:rPr>
              <a:t>Reasons for the success of Arthropods:</a:t>
            </a:r>
          </a:p>
          <a:p>
            <a:pPr marL="0" indent="0" eaLnBrk="1" hangingPunct="1">
              <a:buNone/>
              <a:defRPr/>
            </a:pPr>
            <a:endParaRPr lang="en-US" b="1" dirty="0" smtClean="0">
              <a:solidFill>
                <a:srgbClr val="FFFF66"/>
              </a:solidFill>
            </a:endParaRPr>
          </a:p>
          <a:p>
            <a:pPr marL="609600" indent="-609600" eaLnBrk="1" hangingPunct="1">
              <a:buFontTx/>
              <a:buAutoNum type="arabicPeriod"/>
              <a:defRPr/>
            </a:pPr>
            <a:r>
              <a:rPr lang="en-US" b="1" dirty="0" err="1" smtClean="0">
                <a:solidFill>
                  <a:srgbClr val="33CCFF"/>
                </a:solidFill>
              </a:rPr>
              <a:t>Chitinous</a:t>
            </a:r>
            <a:r>
              <a:rPr lang="en-US" b="1" dirty="0" smtClean="0">
                <a:solidFill>
                  <a:srgbClr val="33CCFF"/>
                </a:solidFill>
              </a:rPr>
              <a:t> exoskeleton</a:t>
            </a:r>
          </a:p>
          <a:p>
            <a:pPr marL="609600" indent="-609600" eaLnBrk="1" hangingPunct="1">
              <a:defRPr/>
            </a:pPr>
            <a:r>
              <a:rPr lang="en-US" dirty="0" smtClean="0"/>
              <a:t>They have a unique </a:t>
            </a:r>
            <a:r>
              <a:rPr lang="en-US" dirty="0" err="1" smtClean="0"/>
              <a:t>chitinous</a:t>
            </a:r>
            <a:r>
              <a:rPr lang="en-US" dirty="0" smtClean="0"/>
              <a:t> (made up of </a:t>
            </a:r>
            <a:r>
              <a:rPr lang="en-US" dirty="0" err="1" smtClean="0"/>
              <a:t>chitine</a:t>
            </a:r>
            <a:r>
              <a:rPr lang="en-US" dirty="0" smtClean="0"/>
              <a:t>) cuticle which is light weight and tough. </a:t>
            </a:r>
          </a:p>
        </p:txBody>
      </p:sp>
    </p:spTree>
    <p:extLst>
      <p:ext uri="{BB962C8B-B14F-4D97-AF65-F5344CB8AC3E}">
        <p14:creationId xmlns:p14="http://schemas.microsoft.com/office/powerpoint/2010/main" val="3037015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en-US" dirty="0" smtClean="0"/>
              <a:t>It protects the animals from predators.</a:t>
            </a:r>
          </a:p>
          <a:p>
            <a:pPr lvl="1" eaLnBrk="1" hangingPunct="1">
              <a:buFontTx/>
              <a:buNone/>
              <a:defRPr/>
            </a:pPr>
            <a:endParaRPr lang="en-US" dirty="0" smtClean="0"/>
          </a:p>
          <a:p>
            <a:pPr lvl="1" eaLnBrk="1" hangingPunct="1">
              <a:defRPr/>
            </a:pPr>
            <a:r>
              <a:rPr lang="en-US" dirty="0" smtClean="0"/>
              <a:t>It is impervious to water and so protects the body from drying and has made the arthropods survive on land in almost all types of environments. </a:t>
            </a:r>
          </a:p>
          <a:p>
            <a:pPr lvl="1" eaLnBrk="1" hangingPunct="1">
              <a:defRPr/>
            </a:pPr>
            <a:endParaRPr lang="en-US" dirty="0"/>
          </a:p>
          <a:p>
            <a:pPr lvl="1">
              <a:defRPr/>
            </a:pPr>
            <a:r>
              <a:rPr lang="en-US" dirty="0"/>
              <a:t>Insects have </a:t>
            </a:r>
            <a:r>
              <a:rPr lang="en-US" dirty="0" err="1"/>
              <a:t>chitinous</a:t>
            </a:r>
            <a:r>
              <a:rPr lang="en-US" dirty="0"/>
              <a:t> wings that help them to fly.</a:t>
            </a:r>
          </a:p>
          <a:p>
            <a:pPr lvl="1">
              <a:buNone/>
              <a:defRPr/>
            </a:pPr>
            <a:endParaRPr lang="en-US" dirty="0"/>
          </a:p>
          <a:p>
            <a:pPr lvl="1">
              <a:defRPr/>
            </a:pPr>
            <a:r>
              <a:rPr lang="en-US" dirty="0"/>
              <a:t>The biting mouth parts, lenses for the eye, and sensory organs are also made up of chitin.</a:t>
            </a:r>
          </a:p>
          <a:p>
            <a:pPr lvl="1"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26726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700808"/>
            <a:ext cx="7025257" cy="4632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79712" y="980728"/>
            <a:ext cx="5256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/>
              <a:t>Chitinous</a:t>
            </a:r>
            <a:r>
              <a:rPr lang="en-US" sz="2800" dirty="0" smtClean="0"/>
              <a:t> exoskeleton of beetle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55395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20688"/>
            <a:ext cx="8229600" cy="5688672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  <a:defRPr/>
            </a:pPr>
            <a:r>
              <a:rPr lang="en-US" dirty="0" smtClean="0"/>
              <a:t>2. </a:t>
            </a:r>
            <a:r>
              <a:rPr lang="en-US" dirty="0" smtClean="0">
                <a:solidFill>
                  <a:srgbClr val="33CCFF"/>
                </a:solidFill>
              </a:rPr>
              <a:t>Segmentation</a:t>
            </a:r>
          </a:p>
          <a:p>
            <a:pPr marL="609600" indent="-609600" eaLnBrk="1" hangingPunct="1">
              <a:buFont typeface="Wingdings" pitchFamily="2" charset="2"/>
              <a:buNone/>
              <a:defRPr/>
            </a:pPr>
            <a:endParaRPr lang="en-US" dirty="0" smtClean="0">
              <a:solidFill>
                <a:srgbClr val="33CCFF"/>
              </a:solidFill>
            </a:endParaRPr>
          </a:p>
          <a:p>
            <a:pPr marL="609600" indent="-609600" eaLnBrk="1" hangingPunct="1">
              <a:defRPr/>
            </a:pPr>
            <a:r>
              <a:rPr lang="en-US" dirty="0" smtClean="0"/>
              <a:t>Body is segmented into distinct regions as head, thorax, and abdomen; each one is specialized to perform a specific function.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472" y="3356992"/>
            <a:ext cx="4274568" cy="3312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7702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20688"/>
            <a:ext cx="8229600" cy="5688672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  <a:defRPr/>
            </a:pPr>
            <a:r>
              <a:rPr lang="en-US" dirty="0" smtClean="0"/>
              <a:t>3</a:t>
            </a:r>
            <a:r>
              <a:rPr lang="en-US" b="1" dirty="0" smtClean="0">
                <a:solidFill>
                  <a:srgbClr val="00B0F0"/>
                </a:solidFill>
              </a:rPr>
              <a:t>. Jointed appendages</a:t>
            </a:r>
          </a:p>
          <a:p>
            <a:pPr marL="457200" indent="-457200">
              <a:defRPr/>
            </a:pPr>
            <a:r>
              <a:rPr lang="en-US" dirty="0" smtClean="0"/>
              <a:t>The appendages have been modified to perform different functions. </a:t>
            </a:r>
          </a:p>
          <a:p>
            <a:pPr marL="609600" indent="-609600" eaLnBrk="1" hangingPunct="1">
              <a:defRPr/>
            </a:pPr>
            <a:r>
              <a:rPr lang="en-US" dirty="0" smtClean="0"/>
              <a:t>It increases the efficiency and complexity of the activity. </a:t>
            </a:r>
          </a:p>
          <a:p>
            <a:pPr marL="609600" indent="-609600" eaLnBrk="1" hangingPunct="1">
              <a:defRPr/>
            </a:pPr>
            <a:r>
              <a:rPr lang="en-US" dirty="0" smtClean="0"/>
              <a:t>It is also help the arthropods to adjust to different habitats. 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3933056"/>
            <a:ext cx="2219325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4816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4704"/>
            <a:ext cx="8229600" cy="5544656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  <a:defRPr/>
            </a:pPr>
            <a:r>
              <a:rPr lang="en-US" dirty="0" smtClean="0"/>
              <a:t>4. </a:t>
            </a:r>
            <a:r>
              <a:rPr lang="en-US" dirty="0" err="1" smtClean="0">
                <a:solidFill>
                  <a:srgbClr val="33CCFF"/>
                </a:solidFill>
              </a:rPr>
              <a:t>Ecdysis</a:t>
            </a:r>
            <a:r>
              <a:rPr lang="en-US" dirty="0" smtClean="0">
                <a:solidFill>
                  <a:srgbClr val="33CCFF"/>
                </a:solidFill>
              </a:rPr>
              <a:t>/molting</a:t>
            </a:r>
          </a:p>
          <a:p>
            <a:pPr marL="609600" indent="-609600" eaLnBrk="1" hangingPunct="1">
              <a:buFont typeface="Wingdings" pitchFamily="2" charset="2"/>
              <a:buNone/>
              <a:defRPr/>
            </a:pPr>
            <a:endParaRPr lang="en-US" dirty="0" smtClean="0">
              <a:solidFill>
                <a:srgbClr val="33CCFF"/>
              </a:solidFill>
            </a:endParaRPr>
          </a:p>
          <a:p>
            <a:pPr marL="609600" indent="-609600" eaLnBrk="1" hangingPunct="1">
              <a:defRPr/>
            </a:pPr>
            <a:r>
              <a:rPr lang="en-US" dirty="0" smtClean="0"/>
              <a:t>The </a:t>
            </a:r>
            <a:r>
              <a:rPr lang="en-US" dirty="0" err="1" smtClean="0"/>
              <a:t>chitinous</a:t>
            </a:r>
            <a:r>
              <a:rPr lang="en-US" dirty="0" smtClean="0"/>
              <a:t> skeleton does not allow the body to grow and hence to overcome it, </a:t>
            </a:r>
            <a:r>
              <a:rPr lang="en-US" dirty="0" err="1" smtClean="0"/>
              <a:t>ecdysis</a:t>
            </a:r>
            <a:r>
              <a:rPr lang="en-US" dirty="0" smtClean="0"/>
              <a:t> has evolved. </a:t>
            </a:r>
          </a:p>
          <a:p>
            <a:pPr marL="609600" indent="-609600" eaLnBrk="1" hangingPunct="1">
              <a:defRPr/>
            </a:pPr>
            <a:endParaRPr lang="en-US" dirty="0" smtClean="0"/>
          </a:p>
          <a:p>
            <a:pPr marL="609600" indent="-609600" eaLnBrk="1" hangingPunct="1">
              <a:defRPr/>
            </a:pPr>
            <a:r>
              <a:rPr lang="en-US" dirty="0" smtClean="0"/>
              <a:t>The animal shed off the exoskeleton periodically and grows larger</a:t>
            </a:r>
            <a:r>
              <a:rPr lang="en-US" dirty="0"/>
              <a:t> </a:t>
            </a:r>
            <a:r>
              <a:rPr lang="en-US" dirty="0" smtClean="0"/>
              <a:t>and secretes the new exoskeleton.</a:t>
            </a:r>
          </a:p>
        </p:txBody>
      </p:sp>
    </p:spTree>
    <p:extLst>
      <p:ext uri="{BB962C8B-B14F-4D97-AF65-F5344CB8AC3E}">
        <p14:creationId xmlns:p14="http://schemas.microsoft.com/office/powerpoint/2010/main" val="2872395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052736"/>
            <a:ext cx="6470848" cy="4448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461303" y="5673505"/>
            <a:ext cx="453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/>
              <a:t>Ecdysis</a:t>
            </a:r>
            <a:r>
              <a:rPr lang="en-US" sz="2800" dirty="0" smtClean="0"/>
              <a:t> of scorpion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76150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ffectLst/>
              </a:rPr>
              <a:t>Phylum Echinodermata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All are marine animals</a:t>
            </a:r>
          </a:p>
          <a:p>
            <a:pPr eaLnBrk="1" hangingPunct="1">
              <a:defRPr/>
            </a:pPr>
            <a:r>
              <a:rPr lang="en-US" smtClean="0"/>
              <a:t>Spiny skinned animals. The spines fixed or movable.</a:t>
            </a:r>
          </a:p>
          <a:p>
            <a:pPr eaLnBrk="1" hangingPunct="1">
              <a:defRPr/>
            </a:pPr>
            <a:r>
              <a:rPr lang="en-US" smtClean="0"/>
              <a:t>Radial symmetrical animals with a water vascular system </a:t>
            </a:r>
          </a:p>
          <a:p>
            <a:pPr eaLnBrk="1" hangingPunct="1">
              <a:defRPr/>
            </a:pPr>
            <a:r>
              <a:rPr lang="en-US" smtClean="0"/>
              <a:t>Have a anterior- posterior flattened body.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895318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836712"/>
            <a:ext cx="7177688" cy="4821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71600" y="5687670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Echinoderms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22083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844824"/>
            <a:ext cx="8229600" cy="1828800"/>
          </a:xfrm>
        </p:spPr>
        <p:txBody>
          <a:bodyPr>
            <a:normAutofit/>
          </a:bodyPr>
          <a:lstStyle/>
          <a:p>
            <a:r>
              <a:rPr lang="en-US" sz="8800" dirty="0" smtClean="0">
                <a:solidFill>
                  <a:srgbClr val="FF0000"/>
                </a:solidFill>
                <a:latin typeface="Copperplate Gothic Bold" pitchFamily="34" charset="0"/>
              </a:rPr>
              <a:t>Thank </a:t>
            </a:r>
            <a:r>
              <a:rPr lang="en-US" sz="8800" dirty="0" smtClean="0">
                <a:solidFill>
                  <a:srgbClr val="FF0000"/>
                </a:solidFill>
                <a:latin typeface="Copperplate Gothic Bold" pitchFamily="34" charset="0"/>
              </a:rPr>
              <a:t>you!</a:t>
            </a:r>
            <a:endParaRPr lang="en-US" sz="8800" dirty="0">
              <a:solidFill>
                <a:srgbClr val="FF0000"/>
              </a:solidFill>
              <a:latin typeface="Copperplate Gothic Bold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5576" y="620688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C000"/>
                </a:solidFill>
              </a:rPr>
              <a:t>See you next week!</a:t>
            </a:r>
            <a:endParaRPr lang="en-US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4829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3800</TotalTime>
  <Words>415</Words>
  <Application>Microsoft Office PowerPoint</Application>
  <PresentationFormat>On-screen Show (4:3)</PresentationFormat>
  <Paragraphs>73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Apex</vt:lpstr>
      <vt:lpstr>GENERAL BIOLOGY fdn 1203</vt:lpstr>
      <vt:lpstr>Phyllum: Porifera </vt:lpstr>
      <vt:lpstr>Phylum Cnidaria</vt:lpstr>
      <vt:lpstr>Phylum Plathyhelminthes (Flatworms)</vt:lpstr>
      <vt:lpstr>Phylum Nematoda</vt:lpstr>
      <vt:lpstr>PowerPoint Presentation</vt:lpstr>
      <vt:lpstr>Phylum Annelida</vt:lpstr>
      <vt:lpstr>Phylum Mollusca</vt:lpstr>
      <vt:lpstr>Phylum Arthropoda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Phylum Echinodermata</vt:lpstr>
      <vt:lpstr>PowerPoint Presentation</vt:lpstr>
      <vt:lpstr>Thank you!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BIOLOGY FOR PHYSICAL SCIENCE STUDENTS CMP 1203/1307</dc:title>
  <dc:creator>ismail - [2010]</dc:creator>
  <cp:lastModifiedBy>MIGSEN</cp:lastModifiedBy>
  <cp:revision>48</cp:revision>
  <dcterms:created xsi:type="dcterms:W3CDTF">2013-05-05T15:32:03Z</dcterms:created>
  <dcterms:modified xsi:type="dcterms:W3CDTF">2020-08-07T03:39:51Z</dcterms:modified>
</cp:coreProperties>
</file>