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sldIdLst>
    <p:sldId id="256" r:id="rId2"/>
    <p:sldId id="281" r:id="rId3"/>
    <p:sldId id="288" r:id="rId4"/>
    <p:sldId id="289" r:id="rId5"/>
    <p:sldId id="290" r:id="rId6"/>
    <p:sldId id="291" r:id="rId7"/>
    <p:sldId id="292" r:id="rId8"/>
    <p:sldId id="293" r:id="rId9"/>
    <p:sldId id="294" r:id="rId10"/>
    <p:sldId id="295" r:id="rId11"/>
    <p:sldId id="296" r:id="rId12"/>
    <p:sldId id="297" r:id="rId13"/>
    <p:sldId id="298" r:id="rId14"/>
    <p:sldId id="280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588" autoAdjust="0"/>
    <p:restoredTop sz="73913" autoAdjust="0"/>
  </p:normalViewPr>
  <p:slideViewPr>
    <p:cSldViewPr>
      <p:cViewPr>
        <p:scale>
          <a:sx n="64" d="100"/>
          <a:sy n="64" d="100"/>
        </p:scale>
        <p:origin x="-1566" y="-31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19F9D6-525A-49B7-8B71-29932B27C212}" type="datetimeFigureOut">
              <a:rPr lang="en-US" smtClean="0"/>
              <a:t>11/13/2020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9FCD54-E115-4ED1-9227-092E76F0C1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8020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22030" y="1371600"/>
            <a:ext cx="8229600" cy="1828800"/>
          </a:xfrm>
        </p:spPr>
        <p:txBody>
          <a:bodyPr vert="horz" lIns="45720" tIns="0" rIns="45720" bIns="0" anchor="b">
            <a:norm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</a:sp3d>
          </a:bodyPr>
          <a:lstStyle>
            <a:lvl1pPr>
              <a:defRPr sz="4800" b="1" cap="all" baseline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27000" dist="200000" dir="27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BA0AA-78E7-4C51-861B-2473917043FA}" type="datetimeFigureOut">
              <a:rPr lang="en-GB" smtClean="0"/>
              <a:t>13/11/2020</a:t>
            </a:fld>
            <a:endParaRPr lang="en-GB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CC407-0F24-4C1C-82A9-0AFC0A7EE502}" type="slidenum">
              <a:rPr lang="en-GB" smtClean="0"/>
              <a:t>‹#›</a:t>
            </a:fld>
            <a:endParaRPr lang="en-GB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371600" y="3331698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BA0AA-78E7-4C51-861B-2473917043FA}" type="datetimeFigureOut">
              <a:rPr lang="en-GB" smtClean="0"/>
              <a:t>13/11/2020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CC407-0F24-4C1C-82A9-0AFC0A7EE502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609600"/>
            <a:ext cx="7086600" cy="1828800"/>
          </a:xfrm>
        </p:spPr>
        <p:txBody>
          <a:bodyPr vert="horz" bIns="0" anchor="b">
            <a:no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  <a:contourClr>
                <a:schemeClr val="tx2">
                  <a:shade val="50000"/>
                </a:schemeClr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4800" b="1" cap="none" baseline="0">
                <a:ln w="6350">
                  <a:noFill/>
                </a:ln>
                <a:solidFill>
                  <a:schemeClr val="accent1">
                    <a:tint val="90000"/>
                    <a:satMod val="120000"/>
                  </a:schemeClr>
                </a:soli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00200" y="2507786"/>
            <a:ext cx="7086600" cy="1509712"/>
          </a:xfrm>
        </p:spPr>
        <p:txBody>
          <a:bodyPr anchor="t"/>
          <a:lstStyle>
            <a:lvl1pPr marL="73152" indent="0" algn="l">
              <a:buNone/>
              <a:defRPr sz="20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BA0AA-78E7-4C51-861B-2473917043FA}" type="datetimeFigureOut">
              <a:rPr lang="en-GB" smtClean="0"/>
              <a:t>13/11/2020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24800" y="6416675"/>
            <a:ext cx="762000" cy="365125"/>
          </a:xfrm>
        </p:spPr>
        <p:txBody>
          <a:bodyPr/>
          <a:lstStyle/>
          <a:p>
            <a:fld id="{57CCC407-0F24-4C1C-82A9-0AFC0A7EE502}" type="slidenum">
              <a:rPr lang="en-GB" smtClean="0"/>
              <a:t>‹#›</a:t>
            </a:fld>
            <a:endParaRPr lang="en-GB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BA0AA-78E7-4C51-861B-2473917043FA}" type="datetimeFigureOut">
              <a:rPr lang="en-GB" smtClean="0"/>
              <a:t>13/11/2020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CC407-0F24-4C1C-82A9-0AFC0A7EE502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2"/>
            <a:ext cx="4040188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535112"/>
            <a:ext cx="4041775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4040188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362200"/>
            <a:ext cx="4041775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BA0AA-78E7-4C51-861B-2473917043FA}" type="datetimeFigureOut">
              <a:rPr lang="en-GB" smtClean="0"/>
              <a:t>13/11/2020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CC407-0F24-4C1C-82A9-0AFC0A7EE502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BA0AA-78E7-4C51-861B-2473917043FA}" type="datetimeFigureOut">
              <a:rPr lang="en-GB" smtClean="0"/>
              <a:t>13/11/2020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CC407-0F24-4C1C-82A9-0AFC0A7EE502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BA0AA-78E7-4C51-861B-2473917043FA}" type="datetimeFigureOut">
              <a:rPr lang="en-GB" smtClean="0"/>
              <a:t>13/11/2020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CC407-0F24-4C1C-82A9-0AFC0A7EE502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vert="horz" anchor="b">
            <a:normAutofit/>
            <a:sp3d prstMaterial="softEdge"/>
          </a:bodyPr>
          <a:lstStyle>
            <a:lvl1pPr algn="l">
              <a:buNone/>
              <a:defRPr sz="2200" b="0">
                <a:ln w="6350">
                  <a:noFill/>
                </a:ln>
                <a:solidFill>
                  <a:schemeClr val="accent1">
                    <a:tint val="73000"/>
                    <a:satMod val="180000"/>
                  </a:schemeClr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524000"/>
            <a:ext cx="3008313" cy="4602163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BA0AA-78E7-4C51-861B-2473917043FA}" type="datetimeFigureOut">
              <a:rPr lang="en-GB" smtClean="0"/>
              <a:t>13/11/2020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CC407-0F24-4C1C-82A9-0AFC0A7EE502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609600"/>
            <a:ext cx="5486400" cy="522288"/>
          </a:xfrm>
        </p:spPr>
        <p:txBody>
          <a:bodyPr lIns="45720" rIns="45720" bIns="0" anchor="b">
            <a:sp3d prstMaterial="softEdge"/>
          </a:bodyPr>
          <a:lstStyle>
            <a:lvl1pPr algn="ctr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828800" y="1831975"/>
            <a:ext cx="5486400" cy="3962400"/>
          </a:xfrm>
          <a:solidFill>
            <a:schemeClr val="bg2"/>
          </a:solidFill>
          <a:ln w="44450" cap="sq" cmpd="sng" algn="ctr">
            <a:solidFill>
              <a:srgbClr val="FFFFFF"/>
            </a:solidFill>
            <a:prstDash val="solid"/>
            <a:miter lim="800000"/>
          </a:ln>
          <a:effectLst>
            <a:outerShdw blurRad="190500" dist="228600" dir="2700000" sy="90000">
              <a:srgbClr val="000000">
                <a:alpha val="25000"/>
              </a:srgbClr>
            </a:outerShdw>
          </a:effectLst>
          <a:scene3d>
            <a:camera prst="orthographicFront">
              <a:rot lat="0" lon="0" rev="0"/>
            </a:camera>
            <a:lightRig rig="balanced" dir="tr">
              <a:rot lat="0" lon="0" rev="2700000"/>
            </a:lightRig>
          </a:scene3d>
          <a:sp3d prstMaterial="matte">
            <a:contourClr>
              <a:schemeClr val="tx2">
                <a:shade val="50000"/>
              </a:schemeClr>
            </a:contourClr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indent="0">
              <a:buNone/>
              <a:defRPr sz="3200"/>
            </a:lvl1pPr>
          </a:lstStyle>
          <a:p>
            <a:pPr marL="0" algn="l" rtl="0" eaLnBrk="1" latinLnBrk="0" hangingPunct="1"/>
            <a:r>
              <a:rPr kumimoji="0" lang="en-US" smtClean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Click icon to add picture</a:t>
            </a:r>
            <a:endParaRPr kumimoji="0"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28800" y="1166787"/>
            <a:ext cx="5486400" cy="530352"/>
          </a:xfrm>
        </p:spPr>
        <p:txBody>
          <a:bodyPr lIns="45720" tIns="45720" rIns="45720" anchor="t"/>
          <a:lstStyle>
            <a:lvl1pPr marL="0" indent="0" algn="ct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BA0AA-78E7-4C51-861B-2473917043FA}" type="datetimeFigureOut">
              <a:rPr lang="en-GB" smtClean="0"/>
              <a:t>13/11/2020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CC407-0F24-4C1C-82A9-0AFC0A7EE502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BA0AA-78E7-4C51-861B-2473917043FA}" type="datetimeFigureOut">
              <a:rPr lang="en-GB" smtClean="0"/>
              <a:t>13/11/2020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CC407-0F24-4C1C-82A9-0AFC0A7EE502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BA0AA-78E7-4C51-861B-2473917043FA}" type="datetimeFigureOut">
              <a:rPr lang="en-GB" smtClean="0"/>
              <a:t>13/11/2020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CC407-0F24-4C1C-82A9-0AFC0A7EE502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>
                <a:rot lat="0" lon="0" rev="16800000"/>
              </a:lightRig>
            </a:scene3d>
            <a:sp3d prstMaterial="softEdge">
              <a:bevelT w="38100" h="38100"/>
            </a:sp3d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70916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457200" y="6416675"/>
            <a:ext cx="21336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CE4BA0AA-78E7-4C51-861B-2473917043FA}" type="datetimeFigureOut">
              <a:rPr lang="en-GB" smtClean="0"/>
              <a:t>13/11/2020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124200" y="6416675"/>
            <a:ext cx="2895600" cy="365125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7924800" y="6416675"/>
            <a:ext cx="762000" cy="365125"/>
          </a:xfrm>
          <a:prstGeom prst="rect">
            <a:avLst/>
          </a:prstGeom>
        </p:spPr>
        <p:txBody>
          <a:bodyPr vert="horz" lIns="0" rIns="0" anchor="b"/>
          <a:lstStyle>
            <a:lvl1pPr algn="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57CCC407-0F24-4C1C-82A9-0AFC0A7EE502}" type="slidenum">
              <a:rPr lang="en-GB" smtClean="0"/>
              <a:t>‹#›</a:t>
            </a:fld>
            <a:endParaRPr lang="en-GB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1" latinLnBrk="0" hangingPunct="1">
        <a:spcBef>
          <a:spcPct val="0"/>
        </a:spcBef>
        <a:buNone/>
        <a:defRPr kumimoji="0" sz="4100" b="1" kern="1200" cap="none" baseline="0">
          <a:ln w="6350">
            <a:noFill/>
          </a:ln>
          <a:gradFill>
            <a:gsLst>
              <a:gs pos="0">
                <a:schemeClr val="accent1">
                  <a:tint val="73000"/>
                  <a:satMod val="145000"/>
                </a:schemeClr>
              </a:gs>
              <a:gs pos="73000">
                <a:schemeClr val="accent1">
                  <a:tint val="73000"/>
                  <a:satMod val="145000"/>
                </a:schemeClr>
              </a:gs>
              <a:gs pos="100000">
                <a:schemeClr val="accent1">
                  <a:tint val="83000"/>
                  <a:satMod val="143000"/>
                </a:schemeClr>
              </a:gs>
            </a:gsLst>
            <a:lin ang="4800000" scaled="1"/>
          </a:gradFill>
          <a:effectLst>
            <a:outerShdw blurRad="114300" dist="101600" dir="27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548640" indent="-411480" algn="l" rtl="0" eaLnBrk="1" latinLnBrk="0" hangingPunct="1">
        <a:spcBef>
          <a:spcPct val="20000"/>
        </a:spcBef>
        <a:buClr>
          <a:schemeClr val="tx1">
            <a:shade val="95000"/>
          </a:schemeClr>
        </a:buClr>
        <a:buSzPct val="65000"/>
        <a:buFont typeface="Wingdings 2"/>
        <a:buChar char="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868680" indent="-283464" algn="l" rtl="0" eaLnBrk="1" latinLnBrk="0" hangingPunct="1">
        <a:spcBef>
          <a:spcPct val="20000"/>
        </a:spcBef>
        <a:buClr>
          <a:schemeClr val="tx1"/>
        </a:buClr>
        <a:buSzPct val="80000"/>
        <a:buFont typeface="Wingdings 2"/>
        <a:buChar char="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33856" indent="-228600" algn="l" rtl="0" eaLnBrk="1" latinLnBrk="0" hangingPunct="1">
        <a:spcBef>
          <a:spcPct val="20000"/>
        </a:spcBef>
        <a:buClr>
          <a:schemeClr val="tx1"/>
        </a:buClr>
        <a:buSzPct val="95000"/>
        <a:buFont typeface="Wingdings"/>
        <a:buChar char="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353312" indent="-182880" algn="l" rtl="0" eaLnBrk="1" latinLnBrk="0" hangingPunct="1">
        <a:spcBef>
          <a:spcPct val="20000"/>
        </a:spcBef>
        <a:buClr>
          <a:schemeClr val="tx1"/>
        </a:buClr>
        <a:buSzPct val="100000"/>
        <a:buFont typeface="Wingdings 3"/>
        <a:buChar char="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4533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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64792" indent="-182880" algn="l" rtl="0" eaLnBrk="1" latinLnBrk="0" hangingPunct="1">
        <a:spcBef>
          <a:spcPct val="20000"/>
        </a:spcBef>
        <a:buClr>
          <a:schemeClr val="tx1"/>
        </a:buClr>
        <a:buFont typeface="Wingdings 3"/>
        <a:buChar char="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65960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67128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36829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5576" y="476672"/>
            <a:ext cx="7772400" cy="1584176"/>
          </a:xfrm>
        </p:spPr>
        <p:txBody>
          <a:bodyPr>
            <a:no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GENERAL BIOLOGY</a:t>
            </a:r>
            <a:br>
              <a:rPr lang="en-US" dirty="0" smtClean="0">
                <a:solidFill>
                  <a:srgbClr val="FF0000"/>
                </a:solidFill>
              </a:rPr>
            </a:br>
            <a:r>
              <a:rPr lang="en-US" dirty="0" err="1" smtClean="0">
                <a:solidFill>
                  <a:srgbClr val="FF0000"/>
                </a:solidFill>
              </a:rPr>
              <a:t>fdn</a:t>
            </a:r>
            <a:r>
              <a:rPr lang="en-US" dirty="0" smtClean="0">
                <a:solidFill>
                  <a:srgbClr val="FF0000"/>
                </a:solidFill>
              </a:rPr>
              <a:t> 1203</a:t>
            </a:r>
            <a:endParaRPr lang="en-GB" dirty="0">
              <a:solidFill>
                <a:srgbClr val="FF0000"/>
              </a:solidFill>
            </a:endParaRPr>
          </a:p>
        </p:txBody>
      </p:sp>
      <p:pic>
        <p:nvPicPr>
          <p:cNvPr id="1026" name="Picture 2" descr="General Biology - Wikibooks, open books for an open worl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2276872"/>
            <a:ext cx="5715000" cy="2381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899592" y="4941168"/>
            <a:ext cx="439248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chemeClr val="bg1"/>
                </a:solidFill>
              </a:rPr>
              <a:t>Dr. </a:t>
            </a:r>
            <a:r>
              <a:rPr lang="en-US" sz="2800" b="1" dirty="0" err="1" smtClean="0">
                <a:solidFill>
                  <a:schemeClr val="bg1"/>
                </a:solidFill>
              </a:rPr>
              <a:t>Theja</a:t>
            </a:r>
            <a:r>
              <a:rPr lang="en-US" sz="2800" b="1" dirty="0" smtClean="0">
                <a:solidFill>
                  <a:schemeClr val="bg1"/>
                </a:solidFill>
              </a:rPr>
              <a:t> </a:t>
            </a:r>
            <a:r>
              <a:rPr lang="en-US" sz="2800" b="1" dirty="0" err="1" smtClean="0">
                <a:solidFill>
                  <a:schemeClr val="bg1"/>
                </a:solidFill>
              </a:rPr>
              <a:t>Abayarathna</a:t>
            </a:r>
            <a:endParaRPr lang="en-US" sz="2800" b="1" dirty="0" smtClean="0">
              <a:solidFill>
                <a:schemeClr val="bg1"/>
              </a:solidFill>
            </a:endParaRPr>
          </a:p>
          <a:p>
            <a:r>
              <a:rPr lang="en-US" sz="2000" b="1" dirty="0" smtClean="0">
                <a:solidFill>
                  <a:schemeClr val="bg1"/>
                </a:solidFill>
              </a:rPr>
              <a:t>Department of Biology</a:t>
            </a:r>
          </a:p>
          <a:p>
            <a:r>
              <a:rPr lang="en-US" sz="2000" b="1" dirty="0" smtClean="0">
                <a:solidFill>
                  <a:schemeClr val="bg1"/>
                </a:solidFill>
              </a:rPr>
              <a:t>Faculty of Applied Sciences</a:t>
            </a:r>
          </a:p>
          <a:p>
            <a:r>
              <a:rPr lang="en-US" sz="2000" b="1" dirty="0" err="1" smtClean="0">
                <a:solidFill>
                  <a:schemeClr val="bg1"/>
                </a:solidFill>
              </a:rPr>
              <a:t>Rajarata</a:t>
            </a:r>
            <a:r>
              <a:rPr lang="en-US" sz="2000" b="1" dirty="0" smtClean="0">
                <a:solidFill>
                  <a:schemeClr val="bg1"/>
                </a:solidFill>
              </a:rPr>
              <a:t> University of Sri Lanka</a:t>
            </a:r>
            <a:endParaRPr lang="en-US" sz="2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11358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11560" y="1124744"/>
            <a:ext cx="7560840" cy="2664296"/>
          </a:xfrm>
        </p:spPr>
        <p:txBody>
          <a:bodyPr/>
          <a:lstStyle/>
          <a:p>
            <a:pPr eaLnBrk="1" hangingPunct="1">
              <a:defRPr/>
            </a:pPr>
            <a:r>
              <a:rPr lang="en-US" b="1" i="1" dirty="0" smtClean="0">
                <a:solidFill>
                  <a:srgbClr val="FF0000"/>
                </a:solidFill>
                <a:effectLst/>
              </a:rPr>
              <a:t>DYNAMICS OF THE</a:t>
            </a:r>
            <a:br>
              <a:rPr lang="en-US" b="1" i="1" dirty="0" smtClean="0">
                <a:solidFill>
                  <a:srgbClr val="FF0000"/>
                </a:solidFill>
                <a:effectLst/>
              </a:rPr>
            </a:br>
            <a:r>
              <a:rPr lang="en-US" b="1" i="1" dirty="0" smtClean="0">
                <a:solidFill>
                  <a:srgbClr val="FF0000"/>
                </a:solidFill>
                <a:effectLst/>
              </a:rPr>
              <a:t> </a:t>
            </a:r>
            <a:br>
              <a:rPr lang="en-US" b="1" i="1" dirty="0" smtClean="0">
                <a:solidFill>
                  <a:srgbClr val="FF0000"/>
                </a:solidFill>
                <a:effectLst/>
              </a:rPr>
            </a:br>
            <a:r>
              <a:rPr lang="en-US" b="1" i="1" dirty="0" smtClean="0">
                <a:solidFill>
                  <a:srgbClr val="FF0000"/>
                </a:solidFill>
                <a:effectLst/>
              </a:rPr>
              <a:t>Ecosystem</a:t>
            </a:r>
          </a:p>
        </p:txBody>
      </p:sp>
    </p:spTree>
    <p:extLst>
      <p:ext uri="{BB962C8B-B14F-4D97-AF65-F5344CB8AC3E}">
        <p14:creationId xmlns:p14="http://schemas.microsoft.com/office/powerpoint/2010/main" val="730854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 smtClean="0">
                <a:solidFill>
                  <a:srgbClr val="FF0000"/>
                </a:solidFill>
                <a:effectLst/>
              </a:rPr>
              <a:t>Dynamics of the ecosystem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every ecosystem has regulated transfer of energy and a controlled cycling of nutrients.</a:t>
            </a:r>
          </a:p>
          <a:p>
            <a:pPr marL="137160" indent="0" eaLnBrk="1" hangingPunct="1">
              <a:buNone/>
            </a:pPr>
            <a:endParaRPr lang="en-US" dirty="0" smtClean="0"/>
          </a:p>
          <a:p>
            <a:pPr eaLnBrk="1" hangingPunct="1"/>
            <a:r>
              <a:rPr lang="en-US" dirty="0" smtClean="0">
                <a:solidFill>
                  <a:srgbClr val="FFFF00"/>
                </a:solidFill>
              </a:rPr>
              <a:t>All of the substances cycle through ecosystems in biogeochemical cycles.</a:t>
            </a:r>
          </a:p>
        </p:txBody>
      </p:sp>
    </p:spTree>
    <p:extLst>
      <p:ext uri="{BB962C8B-B14F-4D97-AF65-F5344CB8AC3E}">
        <p14:creationId xmlns:p14="http://schemas.microsoft.com/office/powerpoint/2010/main" val="11609880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 smtClean="0">
                <a:solidFill>
                  <a:srgbClr val="FF0000"/>
                </a:solidFill>
              </a:rPr>
              <a:t>Water cycle</a:t>
            </a:r>
          </a:p>
        </p:txBody>
      </p:sp>
      <p:pic>
        <p:nvPicPr>
          <p:cNvPr id="1126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12" y="1440544"/>
            <a:ext cx="5245001" cy="5301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028697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769938" y="332656"/>
            <a:ext cx="6870700" cy="6096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b="1" dirty="0" smtClean="0">
                <a:solidFill>
                  <a:srgbClr val="FF0000"/>
                </a:solidFill>
                <a:effectLst/>
              </a:rPr>
              <a:t>Carbon cycle	</a:t>
            </a:r>
          </a:p>
        </p:txBody>
      </p:sp>
      <p:pic>
        <p:nvPicPr>
          <p:cNvPr id="1229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938" y="1371600"/>
            <a:ext cx="6897687" cy="5095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223118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6870700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b="1" smtClean="0">
                <a:solidFill>
                  <a:schemeClr val="tx2"/>
                </a:solidFill>
              </a:rPr>
              <a:t>Nitrogen cycle</a:t>
            </a:r>
          </a:p>
        </p:txBody>
      </p:sp>
      <p:pic>
        <p:nvPicPr>
          <p:cNvPr id="1331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990600"/>
            <a:ext cx="6548438" cy="5122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868732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>
                <a:solidFill>
                  <a:srgbClr val="FF0000"/>
                </a:solidFill>
                <a:effectLst/>
              </a:rPr>
              <a:t> </a:t>
            </a:r>
            <a:r>
              <a:rPr lang="en-US" b="1" dirty="0" smtClean="0">
                <a:solidFill>
                  <a:srgbClr val="FF0000"/>
                </a:solidFill>
                <a:effectLst/>
              </a:rPr>
              <a:t>Trophic levels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 b="1" dirty="0" smtClean="0"/>
              <a:t>An ecosystem is composed of </a:t>
            </a:r>
            <a:r>
              <a:rPr lang="en-US" sz="2800" b="1" dirty="0" smtClean="0">
                <a:solidFill>
                  <a:srgbClr val="FFC000"/>
                </a:solidFill>
              </a:rPr>
              <a:t>autotrophs</a:t>
            </a:r>
            <a:r>
              <a:rPr lang="en-US" sz="2800" b="1" dirty="0" smtClean="0"/>
              <a:t> and </a:t>
            </a:r>
            <a:r>
              <a:rPr lang="en-US" sz="2800" b="1" dirty="0" smtClean="0">
                <a:solidFill>
                  <a:srgbClr val="FFC000"/>
                </a:solidFill>
              </a:rPr>
              <a:t>heterotrophs</a:t>
            </a:r>
            <a:r>
              <a:rPr lang="en-US" sz="2800" b="1" dirty="0" smtClean="0"/>
              <a:t>.</a:t>
            </a:r>
          </a:p>
          <a:p>
            <a:pPr eaLnBrk="1" hangingPunct="1">
              <a:buFontTx/>
              <a:buNone/>
            </a:pPr>
            <a:r>
              <a:rPr lang="en-US" sz="2800" b="1" dirty="0" smtClean="0"/>
              <a:t> </a:t>
            </a:r>
          </a:p>
          <a:p>
            <a:pPr eaLnBrk="1" hangingPunct="1"/>
            <a:r>
              <a:rPr lang="en-US" sz="2800" b="1" dirty="0" smtClean="0">
                <a:solidFill>
                  <a:srgbClr val="FFFF00"/>
                </a:solidFill>
              </a:rPr>
              <a:t>Autotrophs</a:t>
            </a:r>
            <a:r>
              <a:rPr lang="en-US" sz="2800" b="1" dirty="0" smtClean="0"/>
              <a:t> are the </a:t>
            </a:r>
            <a:r>
              <a:rPr lang="en-US" sz="2800" b="1" dirty="0" smtClean="0">
                <a:solidFill>
                  <a:srgbClr val="002060"/>
                </a:solidFill>
              </a:rPr>
              <a:t>plants, algae and some bacteria</a:t>
            </a:r>
            <a:r>
              <a:rPr lang="en-US" sz="2800" b="1" dirty="0" smtClean="0"/>
              <a:t> that are able to </a:t>
            </a:r>
            <a:r>
              <a:rPr lang="en-US" sz="2800" b="1" dirty="0" smtClean="0">
                <a:solidFill>
                  <a:srgbClr val="002060"/>
                </a:solidFill>
              </a:rPr>
              <a:t>capture light energy and manufacture their own food</a:t>
            </a:r>
            <a:r>
              <a:rPr lang="en-US" sz="2800" b="1" dirty="0" smtClean="0"/>
              <a:t>. </a:t>
            </a:r>
          </a:p>
          <a:p>
            <a:pPr marL="137160" indent="0" eaLnBrk="1" hangingPunct="1">
              <a:buNone/>
            </a:pPr>
            <a:endParaRPr lang="en-US" sz="2800" b="1" dirty="0" smtClean="0"/>
          </a:p>
          <a:p>
            <a:pPr eaLnBrk="1" hangingPunct="1"/>
            <a:r>
              <a:rPr lang="en-US" b="1" dirty="0" smtClean="0"/>
              <a:t>They are </a:t>
            </a:r>
            <a:r>
              <a:rPr lang="en-US" sz="2800" b="1" dirty="0" smtClean="0">
                <a:solidFill>
                  <a:srgbClr val="C00000"/>
                </a:solidFill>
              </a:rPr>
              <a:t>primary producers</a:t>
            </a:r>
            <a:r>
              <a:rPr lang="en-US" sz="2800" b="1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270695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08720"/>
            <a:ext cx="8229600" cy="5400640"/>
          </a:xfrm>
        </p:spPr>
        <p:txBody>
          <a:bodyPr/>
          <a:lstStyle/>
          <a:p>
            <a:pPr eaLnBrk="1" hangingPunct="1"/>
            <a:r>
              <a:rPr lang="en-US" b="1" dirty="0" smtClean="0">
                <a:solidFill>
                  <a:srgbClr val="FFFF00"/>
                </a:solidFill>
              </a:rPr>
              <a:t>Heterotrophs</a:t>
            </a:r>
            <a:r>
              <a:rPr lang="en-US" b="1" dirty="0" smtClean="0"/>
              <a:t> </a:t>
            </a:r>
            <a:r>
              <a:rPr lang="en-US" b="1" dirty="0"/>
              <a:t> </a:t>
            </a:r>
            <a:r>
              <a:rPr lang="en-US" b="1" dirty="0" smtClean="0"/>
              <a:t>are the </a:t>
            </a:r>
            <a:r>
              <a:rPr lang="en-US" b="1" dirty="0" smtClean="0">
                <a:solidFill>
                  <a:srgbClr val="C00000"/>
                </a:solidFill>
              </a:rPr>
              <a:t>animals, fungi and most other organisms</a:t>
            </a:r>
            <a:r>
              <a:rPr lang="en-US" b="1" dirty="0" smtClean="0"/>
              <a:t>, who obtain </a:t>
            </a:r>
            <a:r>
              <a:rPr lang="en-US" b="1" dirty="0" smtClean="0">
                <a:solidFill>
                  <a:srgbClr val="92D050"/>
                </a:solidFill>
              </a:rPr>
              <a:t>organic molecules that have been synthesized by autotrophs</a:t>
            </a:r>
            <a:r>
              <a:rPr lang="en-US" b="1" dirty="0" smtClean="0"/>
              <a:t>. </a:t>
            </a:r>
          </a:p>
          <a:p>
            <a:pPr marL="137160" indent="0" eaLnBrk="1" hangingPunct="1">
              <a:buNone/>
            </a:pPr>
            <a:endParaRPr lang="en-US" b="1" dirty="0" smtClean="0"/>
          </a:p>
          <a:p>
            <a:pPr eaLnBrk="1" hangingPunct="1"/>
            <a:r>
              <a:rPr lang="en-US" b="1" dirty="0" smtClean="0"/>
              <a:t>They are </a:t>
            </a:r>
            <a:r>
              <a:rPr lang="en-US" b="1" dirty="0" smtClean="0">
                <a:solidFill>
                  <a:srgbClr val="FFFF00"/>
                </a:solidFill>
              </a:rPr>
              <a:t>consumers</a:t>
            </a:r>
            <a:r>
              <a:rPr lang="en-US" b="1" dirty="0" smtClean="0"/>
              <a:t>.</a:t>
            </a:r>
          </a:p>
          <a:p>
            <a:pPr marL="137160" indent="0" eaLnBrk="1" hangingPunct="1">
              <a:buNone/>
            </a:pPr>
            <a:endParaRPr lang="en-US" b="1" dirty="0" smtClean="0"/>
          </a:p>
        </p:txBody>
      </p:sp>
    </p:spTree>
    <p:extLst>
      <p:ext uri="{BB962C8B-B14F-4D97-AF65-F5344CB8AC3E}">
        <p14:creationId xmlns:p14="http://schemas.microsoft.com/office/powerpoint/2010/main" val="4361180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548680"/>
            <a:ext cx="8287072" cy="5976664"/>
          </a:xfrm>
        </p:spPr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</a:pPr>
            <a:r>
              <a:rPr lang="en-US" sz="2800" dirty="0" smtClean="0">
                <a:solidFill>
                  <a:srgbClr val="FF0000"/>
                </a:solidFill>
              </a:rPr>
              <a:t>There are several different levels of consumers. </a:t>
            </a:r>
          </a:p>
          <a:p>
            <a:pPr eaLnBrk="1" hangingPunct="1">
              <a:lnSpc>
                <a:spcPct val="80000"/>
              </a:lnSpc>
            </a:pPr>
            <a:endParaRPr lang="en-US" sz="2800" b="1" dirty="0" smtClean="0"/>
          </a:p>
          <a:p>
            <a:pPr eaLnBrk="1" hangingPunct="1">
              <a:lnSpc>
                <a:spcPct val="80000"/>
              </a:lnSpc>
            </a:pPr>
            <a:r>
              <a:rPr lang="en-US" sz="2800" b="1" dirty="0" smtClean="0">
                <a:solidFill>
                  <a:srgbClr val="FFFF00"/>
                </a:solidFill>
              </a:rPr>
              <a:t>Primary consumers</a:t>
            </a:r>
            <a:r>
              <a:rPr lang="en-US" dirty="0">
                <a:solidFill>
                  <a:srgbClr val="FFFF00"/>
                </a:solidFill>
              </a:rPr>
              <a:t> </a:t>
            </a:r>
            <a:r>
              <a:rPr lang="en-US" dirty="0" smtClean="0"/>
              <a:t>are </a:t>
            </a:r>
            <a:r>
              <a:rPr lang="en-US" sz="2800" b="1" dirty="0" smtClean="0">
                <a:solidFill>
                  <a:srgbClr val="92D050"/>
                </a:solidFill>
              </a:rPr>
              <a:t>herbivores.</a:t>
            </a:r>
            <a:endParaRPr lang="en-US" b="1" dirty="0">
              <a:solidFill>
                <a:srgbClr val="92D050"/>
              </a:solidFill>
            </a:endParaRPr>
          </a:p>
          <a:p>
            <a:pPr eaLnBrk="1" hangingPunct="1">
              <a:lnSpc>
                <a:spcPct val="80000"/>
              </a:lnSpc>
            </a:pPr>
            <a:endParaRPr lang="en-US" sz="2800" dirty="0" smtClean="0"/>
          </a:p>
          <a:p>
            <a:pPr eaLnBrk="1" hangingPunct="1">
              <a:lnSpc>
                <a:spcPct val="80000"/>
              </a:lnSpc>
            </a:pPr>
            <a:r>
              <a:rPr lang="en-US" sz="2800" dirty="0" smtClean="0"/>
              <a:t>They feed directly on the green plants.</a:t>
            </a:r>
          </a:p>
          <a:p>
            <a:pPr eaLnBrk="1" hangingPunct="1">
              <a:lnSpc>
                <a:spcPct val="80000"/>
              </a:lnSpc>
            </a:pPr>
            <a:endParaRPr lang="en-US" sz="2800" b="1" dirty="0" smtClean="0"/>
          </a:p>
          <a:p>
            <a:pPr eaLnBrk="1" hangingPunct="1">
              <a:lnSpc>
                <a:spcPct val="80000"/>
              </a:lnSpc>
            </a:pPr>
            <a:r>
              <a:rPr lang="en-US" sz="2800" b="1" dirty="0" smtClean="0">
                <a:solidFill>
                  <a:srgbClr val="FFFF00"/>
                </a:solidFill>
              </a:rPr>
              <a:t>Secondary consumers </a:t>
            </a:r>
            <a:r>
              <a:rPr lang="en-US" dirty="0" smtClean="0"/>
              <a:t>are</a:t>
            </a:r>
            <a:r>
              <a:rPr lang="en-US" sz="2800" dirty="0" smtClean="0"/>
              <a:t> </a:t>
            </a:r>
            <a:r>
              <a:rPr lang="en-US" b="1" dirty="0">
                <a:solidFill>
                  <a:srgbClr val="00B0F0"/>
                </a:solidFill>
              </a:rPr>
              <a:t>c</a:t>
            </a:r>
            <a:r>
              <a:rPr lang="en-US" sz="2800" b="1" dirty="0" smtClean="0">
                <a:solidFill>
                  <a:srgbClr val="00B0F0"/>
                </a:solidFill>
              </a:rPr>
              <a:t>arnivores</a:t>
            </a:r>
            <a:r>
              <a:rPr lang="en-US" sz="2800" dirty="0" smtClean="0"/>
              <a:t> and </a:t>
            </a:r>
            <a:r>
              <a:rPr lang="en-US" sz="2800" b="1" dirty="0" smtClean="0">
                <a:solidFill>
                  <a:srgbClr val="00B0F0"/>
                </a:solidFill>
              </a:rPr>
              <a:t>parasites</a:t>
            </a:r>
            <a:r>
              <a:rPr lang="en-US" sz="2800" dirty="0" smtClean="0"/>
              <a:t> of the animals feed in </a:t>
            </a:r>
            <a:r>
              <a:rPr lang="en-US" dirty="0" smtClean="0"/>
              <a:t>and</a:t>
            </a:r>
            <a:r>
              <a:rPr lang="en-US" sz="2800" dirty="0" smtClean="0"/>
              <a:t> on the herbivores. </a:t>
            </a:r>
          </a:p>
          <a:p>
            <a:pPr eaLnBrk="1" hangingPunct="1">
              <a:lnSpc>
                <a:spcPct val="80000"/>
              </a:lnSpc>
            </a:pPr>
            <a:endParaRPr lang="en-US" sz="2800" b="1" dirty="0" smtClean="0"/>
          </a:p>
          <a:p>
            <a:pPr eaLnBrk="1" hangingPunct="1">
              <a:lnSpc>
                <a:spcPct val="80000"/>
              </a:lnSpc>
            </a:pPr>
            <a:r>
              <a:rPr lang="en-US" sz="2800" b="1" dirty="0" smtClean="0">
                <a:solidFill>
                  <a:srgbClr val="00B0F0"/>
                </a:solidFill>
              </a:rPr>
              <a:t>Decomposers</a:t>
            </a:r>
            <a:r>
              <a:rPr lang="en-US" sz="2800" b="1" dirty="0" smtClean="0"/>
              <a:t> </a:t>
            </a:r>
            <a:r>
              <a:rPr lang="en-US" sz="2800" dirty="0" smtClean="0"/>
              <a:t> </a:t>
            </a:r>
            <a:r>
              <a:rPr lang="en-US" dirty="0"/>
              <a:t>b</a:t>
            </a:r>
            <a:r>
              <a:rPr lang="en-US" sz="2800" dirty="0" smtClean="0"/>
              <a:t>reakdown the organic matter accumulated in the bodies of other organisms.</a:t>
            </a:r>
          </a:p>
        </p:txBody>
      </p:sp>
    </p:spTree>
    <p:extLst>
      <p:ext uri="{BB962C8B-B14F-4D97-AF65-F5344CB8AC3E}">
        <p14:creationId xmlns:p14="http://schemas.microsoft.com/office/powerpoint/2010/main" val="32262670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692696"/>
            <a:ext cx="8229600" cy="5616664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dirty="0" smtClean="0"/>
              <a:t>All of these categories </a:t>
            </a:r>
            <a:r>
              <a:rPr lang="en-US" dirty="0"/>
              <a:t> </a:t>
            </a:r>
            <a:r>
              <a:rPr lang="en-US" dirty="0" smtClean="0"/>
              <a:t>are occurred in any ecosystem. </a:t>
            </a:r>
          </a:p>
          <a:p>
            <a:pPr marL="137160" indent="0" eaLnBrk="1" hangingPunct="1">
              <a:lnSpc>
                <a:spcPct val="90000"/>
              </a:lnSpc>
              <a:buNone/>
            </a:pPr>
            <a:endParaRPr lang="en-US" b="1" dirty="0" smtClean="0">
              <a:solidFill>
                <a:srgbClr val="FFC000"/>
              </a:solidFill>
            </a:endParaRPr>
          </a:p>
          <a:p>
            <a:pPr marL="137160" indent="0" eaLnBrk="1" hangingPunct="1">
              <a:lnSpc>
                <a:spcPct val="90000"/>
              </a:lnSpc>
              <a:buNone/>
            </a:pPr>
            <a:endParaRPr lang="en-US" b="1" dirty="0" smtClean="0">
              <a:solidFill>
                <a:srgbClr val="FFC000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en-US" b="1" dirty="0" smtClean="0">
                <a:solidFill>
                  <a:srgbClr val="FFC000"/>
                </a:solidFill>
              </a:rPr>
              <a:t>They represent different “Trophic levels”</a:t>
            </a:r>
          </a:p>
          <a:p>
            <a:pPr eaLnBrk="1" hangingPunct="1">
              <a:lnSpc>
                <a:spcPct val="90000"/>
              </a:lnSpc>
            </a:pPr>
            <a:endParaRPr lang="en-US" dirty="0" smtClean="0"/>
          </a:p>
          <a:p>
            <a:pPr marL="137160" indent="0" eaLnBrk="1" hangingPunct="1">
              <a:lnSpc>
                <a:spcPct val="90000"/>
              </a:lnSpc>
              <a:buNone/>
            </a:pPr>
            <a:endParaRPr lang="en-US" dirty="0" smtClean="0"/>
          </a:p>
          <a:p>
            <a:pPr eaLnBrk="1" hangingPunct="1">
              <a:lnSpc>
                <a:spcPct val="90000"/>
              </a:lnSpc>
            </a:pPr>
            <a:r>
              <a:rPr lang="en-US" dirty="0" smtClean="0"/>
              <a:t>Organisms from each tropic level feed on one another make up a series called </a:t>
            </a:r>
            <a:r>
              <a:rPr lang="en-US" b="1" dirty="0" smtClean="0">
                <a:solidFill>
                  <a:srgbClr val="FF0000"/>
                </a:solidFill>
              </a:rPr>
              <a:t>“food chain”</a:t>
            </a:r>
          </a:p>
        </p:txBody>
      </p:sp>
    </p:spTree>
    <p:extLst>
      <p:ext uri="{BB962C8B-B14F-4D97-AF65-F5344CB8AC3E}">
        <p14:creationId xmlns:p14="http://schemas.microsoft.com/office/powerpoint/2010/main" val="23821522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dirty="0" smtClean="0"/>
              <a:t>An example for a food chain</a:t>
            </a:r>
          </a:p>
        </p:txBody>
      </p:sp>
      <p:pic>
        <p:nvPicPr>
          <p:cNvPr id="1843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0" y="13411200"/>
            <a:ext cx="6238875" cy="4089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8436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15616" y="1916832"/>
            <a:ext cx="6511925" cy="426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18111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332656"/>
            <a:ext cx="7696200" cy="6048672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dirty="0" smtClean="0"/>
              <a:t>In real life it is  rare for a given kind of organism to feed only on </a:t>
            </a:r>
            <a:r>
              <a:rPr lang="en-US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one other type of organism. </a:t>
            </a:r>
          </a:p>
          <a:p>
            <a:pPr marL="137160" indent="0" eaLnBrk="1" hangingPunct="1">
              <a:lnSpc>
                <a:spcPct val="90000"/>
              </a:lnSpc>
              <a:buNone/>
            </a:pPr>
            <a:endParaRPr lang="en-US" b="1" dirty="0" smtClean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en-US" dirty="0" smtClean="0">
                <a:solidFill>
                  <a:srgbClr val="FFC000"/>
                </a:solidFill>
              </a:rPr>
              <a:t>Usually each organism feed on 2 or more kinds and it is eaten by several other kinds of organisms. </a:t>
            </a:r>
          </a:p>
          <a:p>
            <a:pPr marL="137160" indent="0" eaLnBrk="1" hangingPunct="1">
              <a:lnSpc>
                <a:spcPct val="90000"/>
              </a:lnSpc>
              <a:buNone/>
            </a:pPr>
            <a:endParaRPr lang="en-US" dirty="0" smtClean="0"/>
          </a:p>
          <a:p>
            <a:pPr eaLnBrk="1" hangingPunct="1">
              <a:lnSpc>
                <a:spcPct val="90000"/>
              </a:lnSpc>
            </a:pPr>
            <a:r>
              <a:rPr lang="en-US" b="1" dirty="0" smtClean="0">
                <a:solidFill>
                  <a:srgbClr val="002060"/>
                </a:solidFill>
              </a:rPr>
              <a:t>When diagrammed it appears as a series of branching lines, than a straight line.</a:t>
            </a:r>
          </a:p>
          <a:p>
            <a:pPr marL="137160" indent="0" eaLnBrk="1" hangingPunct="1">
              <a:lnSpc>
                <a:spcPct val="90000"/>
              </a:lnSpc>
              <a:buNone/>
            </a:pPr>
            <a:endParaRPr lang="en-US" dirty="0" smtClean="0"/>
          </a:p>
          <a:p>
            <a:pPr eaLnBrk="1" hangingPunct="1">
              <a:lnSpc>
                <a:spcPct val="90000"/>
              </a:lnSpc>
            </a:pPr>
            <a:r>
              <a:rPr lang="en-US" dirty="0" smtClean="0"/>
              <a:t>It is called a </a:t>
            </a:r>
            <a:r>
              <a:rPr lang="en-US" b="1" dirty="0" smtClean="0">
                <a:solidFill>
                  <a:srgbClr val="FF0000"/>
                </a:solidFill>
              </a:rPr>
              <a:t>food web.</a:t>
            </a:r>
          </a:p>
        </p:txBody>
      </p:sp>
    </p:spTree>
    <p:extLst>
      <p:ext uri="{BB962C8B-B14F-4D97-AF65-F5344CB8AC3E}">
        <p14:creationId xmlns:p14="http://schemas.microsoft.com/office/powerpoint/2010/main" val="41680392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dirty="0" smtClean="0"/>
              <a:t>An example for a food web</a:t>
            </a:r>
          </a:p>
        </p:txBody>
      </p:sp>
      <p:pic>
        <p:nvPicPr>
          <p:cNvPr id="2048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696" y="1615918"/>
            <a:ext cx="5111080" cy="48825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882674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7544" y="1844824"/>
            <a:ext cx="8229600" cy="1828800"/>
          </a:xfrm>
        </p:spPr>
        <p:txBody>
          <a:bodyPr>
            <a:normAutofit/>
          </a:bodyPr>
          <a:lstStyle/>
          <a:p>
            <a:r>
              <a:rPr lang="en-US" sz="8800" dirty="0" smtClean="0">
                <a:solidFill>
                  <a:srgbClr val="FF0000"/>
                </a:solidFill>
                <a:latin typeface="Copperplate Gothic Bold" pitchFamily="34" charset="0"/>
              </a:rPr>
              <a:t>Thank you!</a:t>
            </a:r>
            <a:endParaRPr lang="en-US" sz="8800" dirty="0">
              <a:solidFill>
                <a:srgbClr val="FF0000"/>
              </a:solidFill>
              <a:latin typeface="Copperplate Gothic Bold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448299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pex">
  <a:themeElements>
    <a:clrScheme name="Apex">
      <a:dk1>
        <a:sysClr val="windowText" lastClr="000000"/>
      </a:dk1>
      <a:lt1>
        <a:sysClr val="window" lastClr="FFFFFF"/>
      </a:lt1>
      <a:dk2>
        <a:srgbClr val="69676D"/>
      </a:dk2>
      <a:lt2>
        <a:srgbClr val="C9C2D1"/>
      </a:lt2>
      <a:accent1>
        <a:srgbClr val="CEB966"/>
      </a:accent1>
      <a:accent2>
        <a:srgbClr val="9CB084"/>
      </a:accent2>
      <a:accent3>
        <a:srgbClr val="6BB1C9"/>
      </a:accent3>
      <a:accent4>
        <a:srgbClr val="6585CF"/>
      </a:accent4>
      <a:accent5>
        <a:srgbClr val="7E6BC9"/>
      </a:accent5>
      <a:accent6>
        <a:srgbClr val="A379BB"/>
      </a:accent6>
      <a:hlink>
        <a:srgbClr val="410082"/>
      </a:hlink>
      <a:folHlink>
        <a:srgbClr val="932968"/>
      </a:folHlink>
    </a:clrScheme>
    <a:fontScheme name="Apex">
      <a:majorFont>
        <a:latin typeface="Lucida Sans"/>
        <a:ea typeface=""/>
        <a:cs typeface=""/>
        <a:font script="Grek" typeface="Arial"/>
        <a:font script="Cyrl" typeface="Arial"/>
        <a:font script="Jpan" typeface="HG丸ｺﾞｼｯｸM-PRO"/>
        <a:font script="Hang" typeface="휴먼옛체"/>
        <a:font script="Hans" typeface="黑体"/>
        <a:font script="Hant" typeface="微軟正黑體"/>
        <a:font script="Arab" typeface="Tahoma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明朝B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Apex">
      <a:fillStyleLst>
        <a:solidFill>
          <a:schemeClr val="phClr"/>
        </a:solidFill>
        <a:gradFill rotWithShape="1">
          <a:gsLst>
            <a:gs pos="20000">
              <a:schemeClr val="phClr">
                <a:tint val="9000"/>
              </a:schemeClr>
            </a:gs>
            <a:gs pos="100000">
              <a:schemeClr val="phClr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gradFill rotWithShape="1">
          <a:gsLst>
            <a:gs pos="0">
              <a:schemeClr val="phClr">
                <a:shade val="60000"/>
              </a:schemeClr>
            </a:gs>
            <a:gs pos="33000">
              <a:schemeClr val="phClr">
                <a:tint val="86500"/>
              </a:schemeClr>
            </a:gs>
            <a:gs pos="46750">
              <a:schemeClr val="phClr">
                <a:tint val="71000"/>
                <a:satMod val="112000"/>
              </a:schemeClr>
            </a:gs>
            <a:gs pos="53000">
              <a:schemeClr val="phClr">
                <a:tint val="71000"/>
                <a:satMod val="112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shade val="60000"/>
              </a:schemeClr>
            </a:gs>
          </a:gsLst>
          <a:lin ang="8350000" scaled="1"/>
        </a:gradFill>
      </a:fillStyleLst>
      <a:lnStyleLst>
        <a:ln w="9525" cap="flat" cmpd="sng" algn="ctr">
          <a:solidFill>
            <a:schemeClr val="phClr">
              <a:shade val="48000"/>
              <a:satMod val="11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30000" dist="101600" dir="2700000" algn="tl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r="10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"/>
                <a:satMod val="110000"/>
              </a:schemeClr>
              <a:schemeClr val="phClr">
                <a:tint val="60000"/>
                <a:satMod val="42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Black Tie</Template>
  <TotalTime>16174</TotalTime>
  <Words>287</Words>
  <Application>Microsoft Office PowerPoint</Application>
  <PresentationFormat>On-screen Show (4:3)</PresentationFormat>
  <Paragraphs>48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Apex</vt:lpstr>
      <vt:lpstr>GENERAL BIOLOGY fdn 1203</vt:lpstr>
      <vt:lpstr>DYNAMICS OF THE   Ecosystem</vt:lpstr>
      <vt:lpstr>Dynamics of the ecosystem</vt:lpstr>
      <vt:lpstr>Water cycle</vt:lpstr>
      <vt:lpstr>Carbon cycle </vt:lpstr>
      <vt:lpstr>Nitrogen cycle</vt:lpstr>
      <vt:lpstr> Trophic levels</vt:lpstr>
      <vt:lpstr>PowerPoint Presentation</vt:lpstr>
      <vt:lpstr>PowerPoint Presentation</vt:lpstr>
      <vt:lpstr>PowerPoint Presentation</vt:lpstr>
      <vt:lpstr>An example for a food chain</vt:lpstr>
      <vt:lpstr>PowerPoint Presentation</vt:lpstr>
      <vt:lpstr>An example for a food web</vt:lpstr>
      <vt:lpstr>Thank you!</vt:lpstr>
    </vt:vector>
  </TitlesOfParts>
  <Company>home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GENERAL BIOLOGY FOR PHYSICAL SCIENCE STUDENTS CMP 1203/1307</dc:title>
  <dc:creator>ismail - [2010]</dc:creator>
  <cp:lastModifiedBy>Theja</cp:lastModifiedBy>
  <cp:revision>35</cp:revision>
  <dcterms:created xsi:type="dcterms:W3CDTF">2013-05-05T15:32:03Z</dcterms:created>
  <dcterms:modified xsi:type="dcterms:W3CDTF">2020-11-13T04:22:40Z</dcterms:modified>
</cp:coreProperties>
</file>