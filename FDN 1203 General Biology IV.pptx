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340" r:id="rId8"/>
    <p:sldId id="286" r:id="rId9"/>
    <p:sldId id="287" r:id="rId10"/>
    <p:sldId id="288" r:id="rId11"/>
    <p:sldId id="341" r:id="rId12"/>
    <p:sldId id="289" r:id="rId13"/>
    <p:sldId id="342" r:id="rId14"/>
    <p:sldId id="290" r:id="rId15"/>
    <p:sldId id="291" r:id="rId16"/>
    <p:sldId id="29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11/08/2020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980728"/>
            <a:ext cx="8229600" cy="93610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Classification of life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2204864"/>
            <a:ext cx="6400800" cy="88939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Week 6</a:t>
            </a:r>
          </a:p>
        </p:txBody>
      </p:sp>
      <p:pic>
        <p:nvPicPr>
          <p:cNvPr id="60418" name="Picture 2" descr="Evolution &amp; Classification of Life poster by Matt Baker on Dribb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825487"/>
            <a:ext cx="5147791" cy="386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29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544616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In early history people knew only </a:t>
            </a:r>
            <a:r>
              <a:rPr lang="en-GB" b="1" dirty="0" smtClean="0">
                <a:solidFill>
                  <a:srgbClr val="FFC000"/>
                </a:solidFill>
              </a:rPr>
              <a:t>plants and animals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Linnaeus developed his system of classification, there were only two kingdoms, </a:t>
            </a:r>
            <a:r>
              <a:rPr lang="en-US" b="1" dirty="0" smtClean="0">
                <a:solidFill>
                  <a:srgbClr val="FFC000"/>
                </a:solidFill>
              </a:rPr>
              <a:t>Plants and Animals</a:t>
            </a:r>
            <a:r>
              <a:rPr lang="en-US" b="1" dirty="0" smtClean="0"/>
              <a:t>.</a:t>
            </a:r>
            <a:r>
              <a:rPr lang="en-US" dirty="0" smtClean="0"/>
              <a:t> </a:t>
            </a:r>
          </a:p>
        </p:txBody>
      </p:sp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626096"/>
            <a:ext cx="4467399" cy="314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9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47264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The invention of the microscope led to the discovery of new organisms and the identification of differences in cells.</a:t>
            </a:r>
          </a:p>
          <a:p>
            <a:pPr marL="137160" indent="0" eaLnBrk="1" hangingPunct="1">
              <a:buNone/>
              <a:defRPr/>
            </a:pPr>
            <a:r>
              <a:rPr lang="en-US" dirty="0" smtClean="0"/>
              <a:t>  </a:t>
            </a:r>
          </a:p>
          <a:p>
            <a:pPr eaLnBrk="1" hangingPunct="1">
              <a:defRPr/>
            </a:pPr>
            <a:r>
              <a:rPr lang="en-US" dirty="0" smtClean="0"/>
              <a:t>So, the </a:t>
            </a:r>
            <a:r>
              <a:rPr lang="en-US" dirty="0" smtClean="0"/>
              <a:t>two-kingdom system was </a:t>
            </a:r>
            <a:r>
              <a:rPr lang="en-US" b="1" dirty="0" smtClean="0"/>
              <a:t>no</a:t>
            </a:r>
            <a:r>
              <a:rPr lang="en-US" dirty="0" smtClean="0"/>
              <a:t> longer useful.  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Today the system of classification includes </a:t>
            </a:r>
            <a:r>
              <a:rPr lang="en-US" b="1" dirty="0" smtClean="0">
                <a:solidFill>
                  <a:srgbClr val="FF0000"/>
                </a:solidFill>
              </a:rPr>
              <a:t>six kingdoms. 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67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The six kingdoms of life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GB" dirty="0" smtClean="0"/>
              <a:t>1. </a:t>
            </a:r>
            <a:r>
              <a:rPr lang="en-GB" dirty="0" err="1" smtClean="0">
                <a:solidFill>
                  <a:srgbClr val="C00000"/>
                </a:solidFill>
              </a:rPr>
              <a:t>Archaebacteria</a:t>
            </a:r>
            <a:endParaRPr lang="en-US" dirty="0" smtClean="0">
              <a:solidFill>
                <a:srgbClr val="C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GB" dirty="0" smtClean="0"/>
              <a:t>2. </a:t>
            </a:r>
            <a:r>
              <a:rPr lang="en-GB" dirty="0" smtClean="0">
                <a:solidFill>
                  <a:srgbClr val="FFFF00"/>
                </a:solidFill>
              </a:rPr>
              <a:t>Eubacteria</a:t>
            </a:r>
            <a:r>
              <a:rPr lang="en-GB" dirty="0" smtClean="0"/>
              <a:t> (bacteria and cyanobacteria / blue green algae)</a:t>
            </a:r>
            <a:endParaRPr lang="en-US" dirty="0" smtClean="0"/>
          </a:p>
          <a:p>
            <a:pPr marL="0" indent="0" eaLnBrk="1" hangingPunct="1">
              <a:buNone/>
              <a:defRPr/>
            </a:pPr>
            <a:r>
              <a:rPr lang="en-GB" dirty="0" smtClean="0"/>
              <a:t>3. </a:t>
            </a:r>
            <a:r>
              <a:rPr lang="en-GB" dirty="0" smtClean="0">
                <a:solidFill>
                  <a:srgbClr val="FF0000"/>
                </a:solidFill>
              </a:rPr>
              <a:t>Protista</a:t>
            </a:r>
            <a:r>
              <a:rPr lang="en-GB" dirty="0" smtClean="0"/>
              <a:t> (algae and slime moulds)</a:t>
            </a:r>
            <a:endParaRPr lang="en-US" dirty="0" smtClean="0"/>
          </a:p>
          <a:p>
            <a:pPr marL="0" indent="0" eaLnBrk="1" hangingPunct="1">
              <a:buNone/>
              <a:defRPr/>
            </a:pPr>
            <a:r>
              <a:rPr lang="en-GB" dirty="0" smtClean="0"/>
              <a:t>4. </a:t>
            </a:r>
            <a:r>
              <a:rPr lang="en-GB" dirty="0" smtClean="0">
                <a:solidFill>
                  <a:srgbClr val="00B0F0"/>
                </a:solidFill>
              </a:rPr>
              <a:t>Fungi</a:t>
            </a:r>
            <a:r>
              <a:rPr lang="en-GB" dirty="0" smtClean="0"/>
              <a:t> (mushroom, yeasts, moulds)</a:t>
            </a:r>
            <a:endParaRPr lang="en-US" dirty="0" smtClean="0"/>
          </a:p>
          <a:p>
            <a:pPr marL="0" indent="0" eaLnBrk="1" hangingPunct="1">
              <a:buNone/>
              <a:defRPr/>
            </a:pPr>
            <a:r>
              <a:rPr lang="en-GB" dirty="0" smtClean="0"/>
              <a:t>5. </a:t>
            </a:r>
            <a:r>
              <a:rPr lang="en-GB" dirty="0" smtClean="0">
                <a:solidFill>
                  <a:srgbClr val="7030A0"/>
                </a:solidFill>
              </a:rPr>
              <a:t>Plantae</a:t>
            </a:r>
            <a:r>
              <a:rPr lang="en-GB" dirty="0" smtClean="0"/>
              <a:t> (plants)</a:t>
            </a:r>
            <a:endParaRPr lang="en-US" dirty="0" smtClean="0"/>
          </a:p>
          <a:p>
            <a:pPr marL="0" indent="0" eaLnBrk="1" hangingPunct="1">
              <a:buNone/>
              <a:defRPr/>
            </a:pPr>
            <a:r>
              <a:rPr lang="en-GB" dirty="0" smtClean="0"/>
              <a:t>6. </a:t>
            </a:r>
            <a:r>
              <a:rPr lang="en-GB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Animalia</a:t>
            </a:r>
            <a:r>
              <a:rPr lang="en-GB" dirty="0" smtClean="0"/>
              <a:t> (animals)</a:t>
            </a:r>
            <a:endParaRPr lang="en-US" dirty="0" smtClean="0"/>
          </a:p>
          <a:p>
            <a:pPr marL="609600" indent="-609600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96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472648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In addition to this, there are ‘</a:t>
            </a:r>
            <a:r>
              <a:rPr lang="en-GB" b="1" dirty="0" smtClean="0">
                <a:solidFill>
                  <a:srgbClr val="FFC000"/>
                </a:solidFill>
              </a:rPr>
              <a:t>viruses</a:t>
            </a:r>
            <a:r>
              <a:rPr lang="en-GB" dirty="0" smtClean="0"/>
              <a:t>’.</a:t>
            </a:r>
          </a:p>
          <a:p>
            <a:pPr marL="137160" indent="0" eaLnBrk="1" hangingPunct="1"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These are sub-microscopic agents that can be </a:t>
            </a:r>
            <a:r>
              <a:rPr lang="en-GB" b="1" dirty="0" smtClean="0">
                <a:solidFill>
                  <a:srgbClr val="FFC000"/>
                </a:solidFill>
              </a:rPr>
              <a:t>seen only through the electron microscope</a:t>
            </a:r>
            <a:r>
              <a:rPr lang="en-GB" dirty="0" smtClean="0"/>
              <a:t>.</a:t>
            </a:r>
          </a:p>
          <a:p>
            <a:pPr marL="137160" indent="0" eaLnBrk="1" hangingPunct="1"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They are </a:t>
            </a:r>
            <a:r>
              <a:rPr lang="en-GB" b="1" dirty="0" smtClean="0">
                <a:solidFill>
                  <a:srgbClr val="FFC000"/>
                </a:solidFill>
              </a:rPr>
              <a:t>unable to grow and reproduce out side living cells</a:t>
            </a:r>
            <a:r>
              <a:rPr lang="en-GB" dirty="0" smtClean="0"/>
              <a:t>.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 smtClean="0"/>
              <a:t>They share both living and non living characteristics.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95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  <a:effectLst/>
              </a:rPr>
              <a:t>Living and non living characteristics of Viruses</a:t>
            </a:r>
            <a:endParaRPr lang="en-US" dirty="0">
              <a:solidFill>
                <a:srgbClr val="FFFF00"/>
              </a:solidFill>
              <a:effectLst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6595400" cy="49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6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1. </a:t>
            </a:r>
            <a:r>
              <a:rPr lang="en-GB" dirty="0" err="1" smtClean="0">
                <a:solidFill>
                  <a:srgbClr val="FFFF00"/>
                </a:solidFill>
                <a:effectLst/>
              </a:rPr>
              <a:t>Archaebacteria</a:t>
            </a:r>
            <a:r>
              <a:rPr lang="en-GB" dirty="0" smtClean="0">
                <a:solidFill>
                  <a:srgbClr val="FFFF00"/>
                </a:solidFill>
                <a:effectLst/>
              </a:rPr>
              <a:t> 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These are a diverse group of bacteria  </a:t>
            </a:r>
            <a:endParaRPr lang="en-US" dirty="0"/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r>
              <a:rPr lang="en-US" dirty="0" smtClean="0"/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err="1" smtClean="0"/>
              <a:t>Archaebacteria</a:t>
            </a:r>
            <a:r>
              <a:rPr lang="en-US" dirty="0" smtClean="0"/>
              <a:t> are different from Eubacteria, from the places where they live.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They live </a:t>
            </a:r>
            <a:r>
              <a:rPr lang="en-US" b="1" dirty="0" smtClean="0">
                <a:solidFill>
                  <a:srgbClr val="FFC000"/>
                </a:solidFill>
              </a:rPr>
              <a:t>in extreme conditions which are not suitable for other normal life forms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There are </a:t>
            </a:r>
            <a:r>
              <a:rPr lang="en-US" b="1" dirty="0" smtClean="0">
                <a:solidFill>
                  <a:schemeClr val="bg1"/>
                </a:solidFill>
              </a:rPr>
              <a:t>three major known groups of </a:t>
            </a:r>
            <a:r>
              <a:rPr lang="en-US" b="1" dirty="0" err="1" smtClean="0">
                <a:solidFill>
                  <a:schemeClr val="bg1"/>
                </a:solidFill>
              </a:rPr>
              <a:t>Archaebacteria</a:t>
            </a:r>
            <a:r>
              <a:rPr lang="en-US" dirty="0" smtClean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2172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FFFF00"/>
                </a:solidFill>
              </a:rPr>
              <a:t>1.Methanogens</a:t>
            </a:r>
          </a:p>
          <a:p>
            <a:pPr marL="137160" indent="0" eaLnBrk="1" hangingPunct="1">
              <a:buNone/>
              <a:defRPr/>
            </a:pPr>
            <a:endParaRPr lang="en-US" sz="3200" b="1" dirty="0" smtClean="0">
              <a:solidFill>
                <a:srgbClr val="FFFF00"/>
              </a:solidFill>
            </a:endParaRPr>
          </a:p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</a:rPr>
              <a:t>2. Halophiles</a:t>
            </a:r>
          </a:p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FFFF00"/>
                </a:solidFill>
              </a:rPr>
              <a:t> </a:t>
            </a:r>
          </a:p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92D050"/>
                </a:solidFill>
              </a:rPr>
              <a:t>3. Thermophiles</a:t>
            </a:r>
          </a:p>
          <a:p>
            <a:pPr marL="137160" indent="0" eaLnBrk="1" hangingPunct="1">
              <a:buNone/>
              <a:defRPr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4646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</a:rPr>
              <a:t>1. Methanogens </a:t>
            </a:r>
          </a:p>
          <a:p>
            <a:pPr marL="137160" indent="0" eaLnBrk="1" hangingPunct="1">
              <a:buNone/>
              <a:defRPr/>
            </a:pPr>
            <a:endParaRPr lang="en-US" sz="3200" b="1" dirty="0" smtClean="0"/>
          </a:p>
          <a:p>
            <a:pPr eaLnBrk="1" hangingPunct="1">
              <a:defRPr/>
            </a:pPr>
            <a:r>
              <a:rPr lang="en-US" sz="3200" dirty="0" smtClean="0"/>
              <a:t>They live in </a:t>
            </a:r>
            <a:r>
              <a:rPr lang="en-US" sz="3200" b="1" dirty="0" smtClean="0">
                <a:solidFill>
                  <a:srgbClr val="FFC000"/>
                </a:solidFill>
              </a:rPr>
              <a:t>oxygen less environments</a:t>
            </a:r>
          </a:p>
          <a:p>
            <a:pPr marL="137160" indent="0" eaLnBrk="1" hangingPunct="1">
              <a:buNone/>
              <a:defRPr/>
            </a:pPr>
            <a:endParaRPr lang="en-US" sz="3200" b="1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en-US" sz="3200" dirty="0" smtClean="0"/>
              <a:t> They are found in sewage treatment plants, bogs, and the intestinal tracts of some animals. </a:t>
            </a:r>
          </a:p>
        </p:txBody>
      </p:sp>
    </p:spTree>
    <p:extLst>
      <p:ext uri="{BB962C8B-B14F-4D97-AF65-F5344CB8AC3E}">
        <p14:creationId xmlns:p14="http://schemas.microsoft.com/office/powerpoint/2010/main" val="235927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20888"/>
            <a:ext cx="5534067" cy="3868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91680" y="1345123"/>
            <a:ext cx="33123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>
              <a:defRPr/>
            </a:pPr>
            <a:r>
              <a:rPr lang="en-US" sz="3200" b="1" dirty="0">
                <a:solidFill>
                  <a:srgbClr val="FF0000"/>
                </a:solidFill>
              </a:rPr>
              <a:t>Methanogens </a:t>
            </a:r>
          </a:p>
        </p:txBody>
      </p:sp>
    </p:spTree>
    <p:extLst>
      <p:ext uri="{BB962C8B-B14F-4D97-AF65-F5344CB8AC3E}">
        <p14:creationId xmlns:p14="http://schemas.microsoft.com/office/powerpoint/2010/main" val="58237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052736"/>
            <a:ext cx="7543800" cy="5500464"/>
          </a:xfrm>
        </p:spPr>
        <p:txBody>
          <a:bodyPr>
            <a:normAutofit/>
          </a:bodyPr>
          <a:lstStyle/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</a:rPr>
              <a:t>2. Halophiles</a:t>
            </a:r>
          </a:p>
          <a:p>
            <a:pPr>
              <a:defRPr/>
            </a:pPr>
            <a:r>
              <a:rPr lang="en-US" sz="3200" dirty="0" smtClean="0"/>
              <a:t>Are bacteria that thrive in high salt concentrations such as sea water</a:t>
            </a:r>
            <a:endParaRPr lang="en-US" sz="3200" dirty="0"/>
          </a:p>
          <a:p>
            <a:pPr marL="137160" indent="0">
              <a:buNone/>
              <a:defRPr/>
            </a:pPr>
            <a:endParaRPr lang="en-US" sz="3200" dirty="0" smtClean="0"/>
          </a:p>
          <a:p>
            <a:pPr marL="137160" indent="0" eaLnBrk="1" hangingPunct="1">
              <a:buNone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3. Thermophiles</a:t>
            </a:r>
          </a:p>
          <a:p>
            <a:pPr eaLnBrk="1" hangingPunct="1">
              <a:defRPr/>
            </a:pPr>
            <a:r>
              <a:rPr lang="en-US" sz="3200" dirty="0" smtClean="0"/>
              <a:t>Are the heat-loving bacteria found in hot water springs.</a:t>
            </a:r>
          </a:p>
          <a:p>
            <a:pPr eaLnBrk="1" hangingPunct="1">
              <a:defRPr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70062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696"/>
            <a:ext cx="3275210" cy="4088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3568" y="4941168"/>
            <a:ext cx="23942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7160">
              <a:defRPr/>
            </a:pPr>
            <a:r>
              <a:rPr lang="en-US" sz="3200" b="1" dirty="0">
                <a:solidFill>
                  <a:srgbClr val="FF0000"/>
                </a:solidFill>
              </a:rPr>
              <a:t>Halophiles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173816"/>
            <a:ext cx="381000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38136" y="3310281"/>
            <a:ext cx="28575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7160">
              <a:defRPr/>
            </a:pPr>
            <a:r>
              <a:rPr lang="en-US" sz="3200" dirty="0">
                <a:solidFill>
                  <a:srgbClr val="FF0000"/>
                </a:solidFill>
              </a:rPr>
              <a:t>Thermophiles</a:t>
            </a:r>
          </a:p>
        </p:txBody>
      </p:sp>
    </p:spTree>
    <p:extLst>
      <p:ext uri="{BB962C8B-B14F-4D97-AF65-F5344CB8AC3E}">
        <p14:creationId xmlns:p14="http://schemas.microsoft.com/office/powerpoint/2010/main" val="1010487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>
                <a:solidFill>
                  <a:srgbClr val="FFFF00"/>
                </a:solidFill>
                <a:effectLst/>
              </a:rPr>
              <a:t>Kingdom 2.   Eubacteria 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3200" dirty="0" smtClean="0"/>
              <a:t>Includes </a:t>
            </a:r>
            <a:r>
              <a:rPr lang="en-GB" sz="3200" dirty="0">
                <a:solidFill>
                  <a:srgbClr val="00B0F0"/>
                </a:solidFill>
              </a:rPr>
              <a:t>B</a:t>
            </a:r>
            <a:r>
              <a:rPr lang="en-GB" sz="3200" dirty="0" smtClean="0">
                <a:solidFill>
                  <a:srgbClr val="00B0F0"/>
                </a:solidFill>
              </a:rPr>
              <a:t>acteria</a:t>
            </a:r>
            <a:r>
              <a:rPr lang="en-GB" sz="3200" dirty="0" smtClean="0"/>
              <a:t> and </a:t>
            </a:r>
            <a:r>
              <a:rPr lang="en-GB" sz="3200" dirty="0">
                <a:solidFill>
                  <a:srgbClr val="00B0F0"/>
                </a:solidFill>
              </a:rPr>
              <a:t>C</a:t>
            </a:r>
            <a:r>
              <a:rPr lang="en-GB" sz="3200" dirty="0" smtClean="0">
                <a:solidFill>
                  <a:srgbClr val="00B0F0"/>
                </a:solidFill>
              </a:rPr>
              <a:t>yanobacteria</a:t>
            </a:r>
          </a:p>
          <a:p>
            <a:pPr marL="137160" indent="0" eaLnBrk="1" hangingPunct="1">
              <a:buNone/>
              <a:defRPr/>
            </a:pPr>
            <a:endParaRPr lang="en-GB" sz="3200" dirty="0" smtClean="0"/>
          </a:p>
          <a:p>
            <a:pPr marL="137160" indent="0" eaLnBrk="1" hangingPunct="1">
              <a:buNone/>
              <a:defRPr/>
            </a:pPr>
            <a:r>
              <a:rPr lang="en-GB" sz="3200" b="1" dirty="0" smtClean="0">
                <a:solidFill>
                  <a:srgbClr val="FFC000"/>
                </a:solidFill>
              </a:rPr>
              <a:t>Bacteria</a:t>
            </a:r>
          </a:p>
          <a:p>
            <a:pPr marL="137160" indent="0" eaLnBrk="1" hangingPunct="1">
              <a:buNone/>
              <a:defRPr/>
            </a:pPr>
            <a:endParaRPr lang="en-GB" sz="3200" dirty="0" smtClean="0"/>
          </a:p>
          <a:p>
            <a:pPr eaLnBrk="1" hangingPunct="1">
              <a:defRPr/>
            </a:pPr>
            <a:r>
              <a:rPr lang="en-GB" sz="3200" dirty="0" smtClean="0"/>
              <a:t>Tiny minute organisms that can not be seen with the naked eye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93640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il_fi" descr="procaryote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5138" y="609600"/>
            <a:ext cx="5285134" cy="606011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029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 eaLnBrk="1" hangingPunct="1">
              <a:buNone/>
              <a:defRPr/>
            </a:pPr>
            <a:r>
              <a:rPr lang="en-GB" sz="3200" b="1" dirty="0" smtClean="0">
                <a:solidFill>
                  <a:srgbClr val="FFC000"/>
                </a:solidFill>
              </a:rPr>
              <a:t>Cyanobacteria</a:t>
            </a:r>
          </a:p>
          <a:p>
            <a:pPr marL="137160" indent="0" eaLnBrk="1" hangingPunct="1">
              <a:buNone/>
              <a:defRPr/>
            </a:pPr>
            <a:endParaRPr lang="en-GB" sz="3200" b="1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en-GB" sz="3200" dirty="0" smtClean="0"/>
              <a:t>These are prokaryotic, photosynthetic (can make their own food) simple life forms</a:t>
            </a:r>
          </a:p>
          <a:p>
            <a:pPr marL="137160" indent="0" eaLnBrk="1" hangingPunct="1">
              <a:buNone/>
              <a:defRPr/>
            </a:pPr>
            <a:endParaRPr lang="en-GB" sz="3200" i="1" dirty="0" smtClean="0"/>
          </a:p>
          <a:p>
            <a:pPr eaLnBrk="1" hangingPunct="1">
              <a:defRPr/>
            </a:pPr>
            <a:r>
              <a:rPr lang="en-GB" sz="3200" i="1" dirty="0" smtClean="0"/>
              <a:t>Ex. </a:t>
            </a:r>
            <a:r>
              <a:rPr lang="en-GB" sz="3200" i="1" dirty="0" err="1" smtClean="0"/>
              <a:t>Microcystis</a:t>
            </a:r>
            <a:endParaRPr lang="en-GB" sz="3200" i="1" dirty="0" smtClean="0"/>
          </a:p>
          <a:p>
            <a:pPr eaLnBrk="1" hangingPunct="1">
              <a:defRPr/>
            </a:pPr>
            <a:endParaRPr lang="en-US" sz="3200" i="1" dirty="0" smtClean="0"/>
          </a:p>
        </p:txBody>
      </p:sp>
      <p:pic>
        <p:nvPicPr>
          <p:cNvPr id="14340" name="Picture 4" descr="Microcystis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28194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825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1593</TotalTime>
  <Words>347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Apex</vt:lpstr>
      <vt:lpstr>GENERAL BIOLOGY fdn 1203</vt:lpstr>
      <vt:lpstr>Classification of life</vt:lpstr>
      <vt:lpstr>PowerPoint Presentation</vt:lpstr>
      <vt:lpstr>PowerPoint Presentation</vt:lpstr>
      <vt:lpstr>The six kingdoms of life</vt:lpstr>
      <vt:lpstr>PowerPoint Presentation</vt:lpstr>
      <vt:lpstr>Living and non living characteristics of Viruses</vt:lpstr>
      <vt:lpstr>Kingdom 1. Archaebacteria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Kingdom 2.   Eubacteria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30</cp:revision>
  <dcterms:created xsi:type="dcterms:W3CDTF">2013-05-05T15:32:03Z</dcterms:created>
  <dcterms:modified xsi:type="dcterms:W3CDTF">2020-08-11T13:39:16Z</dcterms:modified>
</cp:coreProperties>
</file>