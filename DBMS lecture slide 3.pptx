
<file path=[Content_Types].xml><?xml version="1.0" encoding="utf-8"?>
<Types xmlns="http://schemas.openxmlformats.org/package/2006/content-types">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3"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GI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GI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76628" y="770468"/>
            <a:ext cx="8386572" cy="1134533"/>
          </a:xfrm>
        </p:spPr>
        <p:txBody>
          <a:bodyPr>
            <a:noAutofit/>
          </a:bodyPr>
          <a:lstStyle/>
          <a:p>
            <a:pPr algn="ctr"/>
            <a:r>
              <a:rPr lang="en-US" sz="4800" b="1" dirty="0" smtClean="0">
                <a:solidFill>
                  <a:schemeClr val="accent6">
                    <a:lumMod val="50000"/>
                  </a:schemeClr>
                </a:solidFill>
              </a:rPr>
              <a:t>ICT1407-Database </a:t>
            </a:r>
            <a:r>
              <a:rPr lang="en-US" sz="4800" b="1" dirty="0">
                <a:solidFill>
                  <a:schemeClr val="accent6">
                    <a:lumMod val="50000"/>
                  </a:schemeClr>
                </a:solidFill>
              </a:rPr>
              <a:t>Management Systems</a:t>
            </a:r>
            <a:endParaRPr lang="en-US" sz="4800" b="1" dirty="0">
              <a:solidFill>
                <a:schemeClr val="accent6">
                  <a:lumMod val="50000"/>
                </a:schemeClr>
              </a:solidFill>
            </a:endParaRPr>
          </a:p>
        </p:txBody>
      </p:sp>
      <p:sp>
        <p:nvSpPr>
          <p:cNvPr id="3" name="Subtitle 2"/>
          <p:cNvSpPr>
            <a:spLocks noGrp="1"/>
          </p:cNvSpPr>
          <p:nvPr>
            <p:ph type="subTitle" idx="1"/>
          </p:nvPr>
        </p:nvSpPr>
        <p:spPr>
          <a:xfrm>
            <a:off x="2334099" y="5181600"/>
            <a:ext cx="8033766" cy="754592"/>
          </a:xfrm>
        </p:spPr>
        <p:txBody>
          <a:bodyPr>
            <a:normAutofit/>
          </a:bodyPr>
          <a:lstStyle/>
          <a:p>
            <a:pPr algn="ctr"/>
            <a:r>
              <a:rPr lang="en-GB" sz="4000" b="1" dirty="0">
                <a:solidFill>
                  <a:schemeClr val="accent2"/>
                </a:solidFill>
              </a:rPr>
              <a:t>Database Design process</a:t>
            </a:r>
            <a:endParaRPr lang="en-US" sz="4000" b="1" dirty="0">
              <a:solidFill>
                <a:schemeClr val="accent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body" idx="4294967295"/>
          </p:nvPr>
        </p:nvSpPr>
        <p:spPr>
          <a:xfrm>
            <a:off x="1981200" y="1600200"/>
            <a:ext cx="8229600" cy="4800600"/>
          </a:xfrm>
        </p:spPr>
        <p:txBody>
          <a:bodyPr>
            <a:normAutofit/>
          </a:bodyPr>
          <a:lstStyle/>
          <a:p>
            <a:pPr eaLnBrk="1" hangingPunct="1">
              <a:lnSpc>
                <a:spcPct val="90000"/>
              </a:lnSpc>
            </a:pPr>
            <a:endParaRPr lang="en-US" dirty="0"/>
          </a:p>
          <a:p>
            <a:pPr eaLnBrk="1" hangingPunct="1">
              <a:lnSpc>
                <a:spcPct val="90000"/>
              </a:lnSpc>
            </a:pPr>
            <a:r>
              <a:rPr lang="en-US" dirty="0">
                <a:solidFill>
                  <a:schemeClr val="tx1"/>
                </a:solidFill>
              </a:rPr>
              <a:t>Database design process can be divided into following major steps: </a:t>
            </a:r>
            <a:endParaRPr lang="en-US" dirty="0">
              <a:solidFill>
                <a:schemeClr val="tx1"/>
              </a:solidFill>
            </a:endParaRPr>
          </a:p>
          <a:p>
            <a:pPr lvl="1">
              <a:buFont typeface="Wingdings" panose="05000000000000000000" pitchFamily="2" charset="2"/>
              <a:buChar char="Ø"/>
            </a:pPr>
            <a:r>
              <a:rPr lang="en-US" b="1" dirty="0">
                <a:solidFill>
                  <a:schemeClr val="tx1"/>
                </a:solidFill>
              </a:rPr>
              <a:t>Requirements Analysis</a:t>
            </a:r>
            <a:endParaRPr lang="en-US" b="1" dirty="0">
              <a:solidFill>
                <a:schemeClr val="tx1"/>
              </a:solidFill>
            </a:endParaRPr>
          </a:p>
          <a:p>
            <a:pPr lvl="1">
              <a:buFont typeface="Wingdings" panose="05000000000000000000" pitchFamily="2" charset="2"/>
              <a:buChar char="Ø"/>
            </a:pPr>
            <a:r>
              <a:rPr lang="en-US" b="1" dirty="0">
                <a:solidFill>
                  <a:schemeClr val="tx1"/>
                </a:solidFill>
              </a:rPr>
              <a:t>Conceptual Design</a:t>
            </a:r>
            <a:endParaRPr lang="en-US" b="1" dirty="0">
              <a:solidFill>
                <a:schemeClr val="tx1"/>
              </a:solidFill>
            </a:endParaRPr>
          </a:p>
          <a:p>
            <a:pPr lvl="1">
              <a:buFont typeface="Wingdings" panose="05000000000000000000" pitchFamily="2" charset="2"/>
              <a:buChar char="Ø"/>
            </a:pPr>
            <a:r>
              <a:rPr lang="en-US" b="1" dirty="0">
                <a:solidFill>
                  <a:schemeClr val="tx1"/>
                </a:solidFill>
              </a:rPr>
              <a:t>Logical Design </a:t>
            </a:r>
            <a:endParaRPr lang="en-US" b="1" dirty="0">
              <a:solidFill>
                <a:schemeClr val="tx1"/>
              </a:solidFill>
            </a:endParaRPr>
          </a:p>
          <a:p>
            <a:pPr lvl="1">
              <a:buFont typeface="Wingdings" panose="05000000000000000000" pitchFamily="2" charset="2"/>
              <a:buChar char="Ø"/>
            </a:pPr>
            <a:r>
              <a:rPr lang="en-US" b="1" dirty="0">
                <a:solidFill>
                  <a:schemeClr val="tx1"/>
                </a:solidFill>
              </a:rPr>
              <a:t>Normalization</a:t>
            </a:r>
            <a:endParaRPr lang="en-US" b="1" dirty="0">
              <a:solidFill>
                <a:schemeClr val="tx1"/>
              </a:solidFill>
            </a:endParaRPr>
          </a:p>
          <a:p>
            <a:pPr lvl="1">
              <a:buFont typeface="Wingdings" panose="05000000000000000000" pitchFamily="2" charset="2"/>
              <a:buChar char="Ø"/>
            </a:pPr>
            <a:r>
              <a:rPr lang="en-US" b="1" dirty="0">
                <a:solidFill>
                  <a:schemeClr val="tx1"/>
                </a:solidFill>
              </a:rPr>
              <a:t>Physical Design</a:t>
            </a:r>
            <a:endParaRPr lang="en-US" b="1" dirty="0">
              <a:solidFill>
                <a:schemeClr val="tx1"/>
              </a:solidFill>
            </a:endParaRPr>
          </a:p>
          <a:p>
            <a:pPr lvl="1">
              <a:buFont typeface="Wingdings" panose="05000000000000000000" pitchFamily="2" charset="2"/>
              <a:buChar char="Ø"/>
            </a:pPr>
            <a:r>
              <a:rPr lang="en-US" b="1" dirty="0">
                <a:solidFill>
                  <a:schemeClr val="tx1"/>
                </a:solidFill>
              </a:rPr>
              <a:t>Implementation</a:t>
            </a:r>
            <a:endParaRPr lang="en-US" b="1" dirty="0">
              <a:solidFill>
                <a:schemeClr val="tx1"/>
              </a:solidFill>
            </a:endParaRPr>
          </a:p>
          <a:p>
            <a:pPr lvl="1">
              <a:buFont typeface="Wingdings" panose="05000000000000000000" pitchFamily="2" charset="2"/>
              <a:buChar char="Ø"/>
            </a:pPr>
            <a:r>
              <a:rPr lang="en-US" b="1" dirty="0">
                <a:solidFill>
                  <a:schemeClr val="tx1"/>
                </a:solidFill>
              </a:rPr>
              <a:t>Testing</a:t>
            </a:r>
            <a:endParaRPr lang="en-US" b="1" dirty="0">
              <a:solidFill>
                <a:schemeClr val="tx1"/>
              </a:solidFill>
            </a:endParaRPr>
          </a:p>
          <a:p>
            <a:pPr lvl="1">
              <a:buFont typeface="Wingdings" panose="05000000000000000000" pitchFamily="2" charset="2"/>
              <a:buChar char="Ø"/>
            </a:pPr>
            <a:r>
              <a:rPr lang="en-US" b="1" dirty="0">
                <a:solidFill>
                  <a:schemeClr val="tx1"/>
                </a:solidFill>
              </a:rPr>
              <a:t>Deployment </a:t>
            </a:r>
            <a:endParaRPr lang="en-US" b="1" dirty="0">
              <a:solidFill>
                <a:schemeClr val="tx1"/>
              </a:solidFill>
            </a:endParaRPr>
          </a:p>
          <a:p>
            <a:pPr lvl="1">
              <a:buFont typeface="Wingdings" panose="05000000000000000000" pitchFamily="2" charset="2"/>
              <a:buChar char="Ø"/>
            </a:pPr>
            <a:r>
              <a:rPr lang="en-US" b="1" dirty="0">
                <a:solidFill>
                  <a:schemeClr val="tx1"/>
                </a:solidFill>
              </a:rPr>
              <a:t>Maintenance and Optimization</a:t>
            </a:r>
            <a:endParaRPr lang="en-US" b="1" dirty="0">
              <a:solidFill>
                <a:schemeClr val="tx1"/>
              </a:solidFill>
            </a:endParaRPr>
          </a:p>
          <a:p>
            <a:pPr lvl="1">
              <a:buFont typeface="Wingdings" panose="05000000000000000000" pitchFamily="2" charset="2"/>
              <a:buChar char="Ø"/>
            </a:pPr>
            <a:r>
              <a:rPr lang="en-US" b="1" dirty="0">
                <a:solidFill>
                  <a:schemeClr val="tx1"/>
                </a:solidFill>
              </a:rPr>
              <a:t>Documentation</a:t>
            </a:r>
            <a:endParaRPr lang="en-US" b="1" dirty="0">
              <a:solidFill>
                <a:schemeClr val="tx1"/>
              </a:solidFill>
            </a:endParaRPr>
          </a:p>
        </p:txBody>
      </p:sp>
      <p:sp>
        <p:nvSpPr>
          <p:cNvPr id="6147" name="Rectangle 2"/>
          <p:cNvSpPr>
            <a:spLocks noGrp="1" noChangeArrowheads="1"/>
          </p:cNvSpPr>
          <p:nvPr>
            <p:ph type="title" idx="4294967295"/>
          </p:nvPr>
        </p:nvSpPr>
        <p:spPr>
          <a:xfrm>
            <a:off x="1524000" y="609600"/>
            <a:ext cx="8229600" cy="1143000"/>
          </a:xfrm>
        </p:spPr>
        <p:txBody>
          <a:bodyPr/>
          <a:lstStyle/>
          <a:p>
            <a:pPr eaLnBrk="1" hangingPunct="1"/>
            <a:r>
              <a:rPr lang="en-US"/>
              <a:t>Database Design</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981200" y="609600"/>
            <a:ext cx="8229600" cy="914400"/>
          </a:xfrm>
        </p:spPr>
        <p:txBody>
          <a:bodyPr/>
          <a:lstStyle/>
          <a:p>
            <a:pPr eaLnBrk="1" hangingPunct="1"/>
            <a:r>
              <a:rPr lang="en-GB"/>
              <a:t>Database Design</a:t>
            </a:r>
            <a:endParaRPr lang="en-GB"/>
          </a:p>
        </p:txBody>
      </p:sp>
      <p:sp>
        <p:nvSpPr>
          <p:cNvPr id="189443" name="Rectangle 3"/>
          <p:cNvSpPr>
            <a:spLocks noGrp="1" noChangeArrowheads="1"/>
          </p:cNvSpPr>
          <p:nvPr>
            <p:ph idx="1"/>
          </p:nvPr>
        </p:nvSpPr>
        <p:spPr/>
        <p:txBody>
          <a:bodyPr>
            <a:normAutofit/>
          </a:bodyPr>
          <a:lstStyle/>
          <a:p>
            <a:pPr eaLnBrk="1" hangingPunct="1">
              <a:lnSpc>
                <a:spcPct val="90000"/>
              </a:lnSpc>
            </a:pPr>
            <a:r>
              <a:rPr lang="en-GB" sz="2400" dirty="0">
                <a:solidFill>
                  <a:schemeClr val="tx1"/>
                </a:solidFill>
              </a:rPr>
              <a:t>Process of fitting a database solution to client’s requirements.</a:t>
            </a:r>
            <a:endParaRPr lang="en-GB" sz="2400" dirty="0">
              <a:solidFill>
                <a:schemeClr val="tx1"/>
              </a:solidFill>
            </a:endParaRPr>
          </a:p>
          <a:p>
            <a:pPr lvl="1" eaLnBrk="1" hangingPunct="1">
              <a:lnSpc>
                <a:spcPct val="90000"/>
              </a:lnSpc>
            </a:pPr>
            <a:endParaRPr lang="en-GB" sz="2400" dirty="0">
              <a:solidFill>
                <a:schemeClr val="tx1"/>
              </a:solidFill>
            </a:endParaRPr>
          </a:p>
          <a:p>
            <a:pPr lvl="1" eaLnBrk="1" hangingPunct="1">
              <a:lnSpc>
                <a:spcPct val="90000"/>
              </a:lnSpc>
            </a:pPr>
            <a:r>
              <a:rPr lang="en-GB" sz="2400" dirty="0">
                <a:solidFill>
                  <a:schemeClr val="tx1"/>
                </a:solidFill>
              </a:rPr>
              <a:t>use semi-formal methods to arrive at an initial design.</a:t>
            </a:r>
            <a:endParaRPr lang="en-GB" sz="2400" dirty="0">
              <a:solidFill>
                <a:schemeClr val="tx1"/>
              </a:solidFill>
            </a:endParaRPr>
          </a:p>
          <a:p>
            <a:pPr lvl="1" eaLnBrk="1" hangingPunct="1">
              <a:lnSpc>
                <a:spcPct val="90000"/>
              </a:lnSpc>
            </a:pPr>
            <a:r>
              <a:rPr lang="en-GB" sz="2400" dirty="0">
                <a:solidFill>
                  <a:schemeClr val="tx1"/>
                </a:solidFill>
              </a:rPr>
              <a:t>Use iterative refinement to improve the design.</a:t>
            </a:r>
            <a:endParaRPr lang="en-GB" sz="2400" dirty="0">
              <a:solidFill>
                <a:schemeClr val="tx1"/>
              </a:solidFill>
            </a:endParaRPr>
          </a:p>
          <a:p>
            <a:pPr lvl="1" eaLnBrk="1" hangingPunct="1">
              <a:lnSpc>
                <a:spcPct val="90000"/>
              </a:lnSpc>
              <a:buFontTx/>
              <a:buNone/>
            </a:pPr>
            <a:endParaRPr lang="en-GB" sz="2400" dirty="0"/>
          </a:p>
        </p:txBody>
      </p:sp>
      <p:pic>
        <p:nvPicPr>
          <p:cNvPr id="7172" name="Picture 4" descr="0016"/>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9665450" y="4692022"/>
            <a:ext cx="1219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89443">
                                            <p:txEl>
                                              <p:pRg st="2" end="2"/>
                                            </p:txEl>
                                          </p:spTgt>
                                        </p:tgtEl>
                                        <p:attrNameLst>
                                          <p:attrName>style.visibility</p:attrName>
                                        </p:attrNameLst>
                                      </p:cBhvr>
                                      <p:to>
                                        <p:strVal val="visible"/>
                                      </p:to>
                                    </p:set>
                                    <p:anim calcmode="lin" valueType="num">
                                      <p:cBhvr additive="base">
                                        <p:cTn id="7" dur="500" fill="hold"/>
                                        <p:tgtEl>
                                          <p:spTgt spid="189443">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9443">
                                            <p:txEl>
                                              <p:pRg st="2" end="2"/>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89443">
                                            <p:txEl>
                                              <p:pRg st="3" end="3"/>
                                            </p:txEl>
                                          </p:spTgt>
                                        </p:tgtEl>
                                        <p:attrNameLst>
                                          <p:attrName>style.visibility</p:attrName>
                                        </p:attrNameLst>
                                      </p:cBhvr>
                                      <p:to>
                                        <p:strVal val="visible"/>
                                      </p:to>
                                    </p:set>
                                    <p:anim calcmode="lin" valueType="num">
                                      <p:cBhvr additive="base">
                                        <p:cTn id="11" dur="500" fill="hold"/>
                                        <p:tgtEl>
                                          <p:spTgt spid="189443">
                                            <p:txEl>
                                              <p:pRg st="3" end="3"/>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894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1524000" y="609600"/>
            <a:ext cx="8229600" cy="1143000"/>
          </a:xfrm>
        </p:spPr>
        <p:txBody>
          <a:bodyPr/>
          <a:lstStyle/>
          <a:p>
            <a:pPr marL="742950" indent="-742950">
              <a:buFont typeface="+mj-lt"/>
              <a:buAutoNum type="arabicPeriod"/>
            </a:pPr>
            <a:r>
              <a:rPr lang="en-US" dirty="0"/>
              <a:t>Requirements Analysis</a:t>
            </a:r>
            <a:endParaRPr lang="en-US" dirty="0"/>
          </a:p>
        </p:txBody>
      </p:sp>
      <p:sp>
        <p:nvSpPr>
          <p:cNvPr id="8195" name="Rectangle 3"/>
          <p:cNvSpPr>
            <a:spLocks noGrp="1" noChangeArrowheads="1"/>
          </p:cNvSpPr>
          <p:nvPr>
            <p:ph type="body" idx="4294967295"/>
          </p:nvPr>
        </p:nvSpPr>
        <p:spPr>
          <a:xfrm>
            <a:off x="1524000" y="1905001"/>
            <a:ext cx="8229600" cy="4221163"/>
          </a:xfrm>
        </p:spPr>
        <p:txBody>
          <a:bodyPr>
            <a:normAutofit lnSpcReduction="10000"/>
          </a:bodyPr>
          <a:lstStyle/>
          <a:p>
            <a:pPr algn="just"/>
            <a:r>
              <a:rPr lang="en-US" dirty="0">
                <a:solidFill>
                  <a:schemeClr val="tx1"/>
                </a:solidFill>
              </a:rPr>
              <a:t>This initial step involves gathering requirements from stakeholders to understand what the database needs to accomplish. It includes identifying data entities, relationships, constraints, and business rules.</a:t>
            </a:r>
            <a:endParaRPr lang="en-US" dirty="0">
              <a:solidFill>
                <a:schemeClr val="tx1"/>
              </a:solidFill>
            </a:endParaRPr>
          </a:p>
          <a:p>
            <a:pPr eaLnBrk="1" hangingPunct="1"/>
            <a:endParaRPr lang="en-US" dirty="0">
              <a:solidFill>
                <a:schemeClr val="tx1"/>
              </a:solidFill>
            </a:endParaRPr>
          </a:p>
          <a:p>
            <a:pPr eaLnBrk="1" hangingPunct="1"/>
            <a:r>
              <a:rPr lang="en-US" dirty="0">
                <a:solidFill>
                  <a:schemeClr val="tx1"/>
                </a:solidFill>
              </a:rPr>
              <a:t>This step answers the following question:</a:t>
            </a:r>
            <a:endParaRPr lang="en-US" dirty="0">
              <a:solidFill>
                <a:schemeClr val="tx1"/>
              </a:solidFill>
            </a:endParaRPr>
          </a:p>
          <a:p>
            <a:pPr lvl="1" eaLnBrk="1" hangingPunct="1"/>
            <a:r>
              <a:rPr lang="en-US" b="1" dirty="0">
                <a:solidFill>
                  <a:schemeClr val="tx1"/>
                </a:solidFill>
              </a:rPr>
              <a:t>“What users want from the database?”</a:t>
            </a:r>
            <a:endParaRPr lang="en-US" b="1" dirty="0">
              <a:solidFill>
                <a:schemeClr val="tx1"/>
              </a:solidFill>
            </a:endParaRPr>
          </a:p>
          <a:p>
            <a:pPr lvl="1" eaLnBrk="1" hangingPunct="1">
              <a:buFontTx/>
              <a:buChar char="-"/>
            </a:pPr>
            <a:r>
              <a:rPr lang="en-US" b="1" dirty="0">
                <a:solidFill>
                  <a:schemeClr val="tx1"/>
                </a:solidFill>
              </a:rPr>
              <a:t>what is going to be stored in the database?</a:t>
            </a:r>
            <a:endParaRPr lang="en-US" b="1" dirty="0">
              <a:solidFill>
                <a:schemeClr val="tx1"/>
              </a:solidFill>
            </a:endParaRPr>
          </a:p>
          <a:p>
            <a:pPr lvl="1" eaLnBrk="1" hangingPunct="1">
              <a:buFontTx/>
              <a:buChar char="-"/>
            </a:pPr>
            <a:r>
              <a:rPr lang="en-US" b="1" dirty="0">
                <a:solidFill>
                  <a:schemeClr val="tx1"/>
                </a:solidFill>
              </a:rPr>
              <a:t>what applications are going to be built on top the database?</a:t>
            </a:r>
            <a:endParaRPr lang="en-US" b="1" dirty="0">
              <a:solidFill>
                <a:schemeClr val="tx1"/>
              </a:solidFill>
            </a:endParaRPr>
          </a:p>
          <a:p>
            <a:pPr lvl="1" eaLnBrk="1" hangingPunct="1">
              <a:buFontTx/>
              <a:buChar char="-"/>
            </a:pPr>
            <a:r>
              <a:rPr lang="en-US" b="1" dirty="0">
                <a:solidFill>
                  <a:schemeClr val="tx1"/>
                </a:solidFill>
              </a:rPr>
              <a:t>what are the most frequently asked queries?</a:t>
            </a:r>
            <a:endParaRPr lang="en-US" b="1" dirty="0">
              <a:solidFill>
                <a:schemeClr val="tx1"/>
              </a:solidFill>
            </a:endParaRPr>
          </a:p>
          <a:p>
            <a:pPr>
              <a:buNone/>
            </a:pPr>
            <a:r>
              <a:rPr lang="en-US" dirty="0">
                <a:solidFill>
                  <a:schemeClr val="tx1"/>
                </a:solidFill>
              </a:rPr>
              <a:t>Result:</a:t>
            </a:r>
            <a:endParaRPr lang="en-US" dirty="0">
              <a:solidFill>
                <a:schemeClr val="tx1"/>
              </a:solidFill>
            </a:endParaRPr>
          </a:p>
          <a:p>
            <a:pPr>
              <a:buNone/>
            </a:pPr>
            <a:r>
              <a:rPr lang="en-US" dirty="0">
                <a:solidFill>
                  <a:schemeClr val="tx1"/>
                </a:solidFill>
              </a:rPr>
              <a:t>	A well-written concise document enumerating</a:t>
            </a:r>
            <a:r>
              <a:rPr lang="en-US" dirty="0"/>
              <a:t> </a:t>
            </a:r>
            <a:r>
              <a:rPr lang="en-US" dirty="0">
                <a:solidFill>
                  <a:srgbClr val="FF0000"/>
                </a:solidFill>
              </a:rPr>
              <a:t>the user’s requirements.</a:t>
            </a:r>
            <a:endParaRPr lang="en-US" dirty="0">
              <a:solidFill>
                <a:srgbClr val="FF0000"/>
              </a:solidFill>
            </a:endParaRPr>
          </a:p>
          <a:p>
            <a:pPr lvl="1" eaLnBrk="1" hangingPunct="1">
              <a:buFontTx/>
              <a:buChar char="-"/>
            </a:pPr>
            <a:endParaRPr lang="en-US" dirty="0"/>
          </a:p>
        </p:txBody>
      </p:sp>
      <p:pic>
        <p:nvPicPr>
          <p:cNvPr id="8196" name="Picture 4" descr="book12"/>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8534400" y="2667001"/>
            <a:ext cx="15240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1524000" y="609600"/>
            <a:ext cx="8229600" cy="1143000"/>
          </a:xfrm>
        </p:spPr>
        <p:txBody>
          <a:bodyPr/>
          <a:lstStyle/>
          <a:p>
            <a:pPr eaLnBrk="1" hangingPunct="1"/>
            <a:r>
              <a:rPr lang="en-US"/>
              <a:t>Requirement Analysis (contd.)</a:t>
            </a:r>
            <a:endParaRPr lang="en-US"/>
          </a:p>
        </p:txBody>
      </p:sp>
      <p:sp>
        <p:nvSpPr>
          <p:cNvPr id="16387" name="Rectangle 3"/>
          <p:cNvSpPr>
            <a:spLocks noGrp="1" noChangeArrowheads="1"/>
          </p:cNvSpPr>
          <p:nvPr>
            <p:ph type="body" idx="4294967295"/>
          </p:nvPr>
        </p:nvSpPr>
        <p:spPr>
          <a:xfrm>
            <a:off x="1524000" y="1905001"/>
            <a:ext cx="8229600" cy="4221163"/>
          </a:xfrm>
        </p:spPr>
        <p:txBody>
          <a:bodyPr/>
          <a:lstStyle/>
          <a:p>
            <a:pPr eaLnBrk="1" hangingPunct="1">
              <a:lnSpc>
                <a:spcPct val="90000"/>
              </a:lnSpc>
            </a:pPr>
            <a:r>
              <a:rPr lang="en-US" dirty="0">
                <a:solidFill>
                  <a:schemeClr val="tx1"/>
                </a:solidFill>
              </a:rPr>
              <a:t>For example: a library database…</a:t>
            </a:r>
            <a:endParaRPr lang="en-US" dirty="0">
              <a:solidFill>
                <a:schemeClr val="tx1"/>
              </a:solidFill>
            </a:endParaRPr>
          </a:p>
          <a:p>
            <a:pPr eaLnBrk="1" hangingPunct="1">
              <a:lnSpc>
                <a:spcPct val="90000"/>
              </a:lnSpc>
            </a:pPr>
            <a:r>
              <a:rPr lang="en-US" dirty="0">
                <a:solidFill>
                  <a:schemeClr val="tx1"/>
                </a:solidFill>
              </a:rPr>
              <a:t>Data to be stored can be…</a:t>
            </a:r>
            <a:endParaRPr lang="en-US" dirty="0">
              <a:solidFill>
                <a:schemeClr val="tx1"/>
              </a:solidFill>
            </a:endParaRPr>
          </a:p>
          <a:p>
            <a:pPr lvl="1" eaLnBrk="1" hangingPunct="1">
              <a:lnSpc>
                <a:spcPct val="90000"/>
              </a:lnSpc>
            </a:pPr>
            <a:r>
              <a:rPr lang="en-US" dirty="0">
                <a:solidFill>
                  <a:schemeClr val="tx1"/>
                </a:solidFill>
              </a:rPr>
              <a:t>Record of all books in the library</a:t>
            </a:r>
            <a:endParaRPr lang="en-US" dirty="0">
              <a:solidFill>
                <a:schemeClr val="tx1"/>
              </a:solidFill>
            </a:endParaRPr>
          </a:p>
          <a:p>
            <a:pPr lvl="1" eaLnBrk="1" hangingPunct="1">
              <a:lnSpc>
                <a:spcPct val="90000"/>
              </a:lnSpc>
            </a:pPr>
            <a:r>
              <a:rPr lang="en-US" dirty="0">
                <a:solidFill>
                  <a:schemeClr val="tx1"/>
                </a:solidFill>
              </a:rPr>
              <a:t>Record of members of the library</a:t>
            </a:r>
            <a:endParaRPr lang="en-US" dirty="0">
              <a:solidFill>
                <a:schemeClr val="tx1"/>
              </a:solidFill>
            </a:endParaRPr>
          </a:p>
          <a:p>
            <a:pPr lvl="2" eaLnBrk="1" hangingPunct="1">
              <a:lnSpc>
                <a:spcPct val="90000"/>
              </a:lnSpc>
            </a:pPr>
            <a:r>
              <a:rPr lang="en-US" dirty="0">
                <a:solidFill>
                  <a:schemeClr val="tx1"/>
                </a:solidFill>
              </a:rPr>
              <a:t>Students</a:t>
            </a:r>
            <a:endParaRPr lang="en-US" dirty="0">
              <a:solidFill>
                <a:schemeClr val="tx1"/>
              </a:solidFill>
            </a:endParaRPr>
          </a:p>
          <a:p>
            <a:pPr lvl="2" eaLnBrk="1" hangingPunct="1">
              <a:lnSpc>
                <a:spcPct val="90000"/>
              </a:lnSpc>
            </a:pPr>
            <a:r>
              <a:rPr lang="en-US" dirty="0">
                <a:solidFill>
                  <a:schemeClr val="tx1"/>
                </a:solidFill>
              </a:rPr>
              <a:t>Faculty</a:t>
            </a:r>
            <a:endParaRPr lang="en-US" dirty="0">
              <a:solidFill>
                <a:schemeClr val="tx1"/>
              </a:solidFill>
            </a:endParaRPr>
          </a:p>
          <a:p>
            <a:pPr lvl="2" eaLnBrk="1" hangingPunct="1">
              <a:lnSpc>
                <a:spcPct val="90000"/>
              </a:lnSpc>
            </a:pPr>
            <a:r>
              <a:rPr lang="en-US" dirty="0">
                <a:solidFill>
                  <a:schemeClr val="tx1"/>
                </a:solidFill>
              </a:rPr>
              <a:t>Other members</a:t>
            </a:r>
            <a:endParaRPr lang="en-US" dirty="0">
              <a:solidFill>
                <a:schemeClr val="tx1"/>
              </a:solidFill>
            </a:endParaRPr>
          </a:p>
          <a:p>
            <a:pPr lvl="1" eaLnBrk="1" hangingPunct="1">
              <a:lnSpc>
                <a:spcPct val="90000"/>
              </a:lnSpc>
            </a:pPr>
            <a:r>
              <a:rPr lang="en-US" dirty="0">
                <a:solidFill>
                  <a:schemeClr val="tx1"/>
                </a:solidFill>
              </a:rPr>
              <a:t>Record members’ borrowing information</a:t>
            </a:r>
            <a:endParaRPr lang="en-US" dirty="0">
              <a:solidFill>
                <a:schemeClr val="tx1"/>
              </a:solidFill>
            </a:endParaRPr>
          </a:p>
          <a:p>
            <a:pPr lvl="1" eaLnBrk="1" hangingPunct="1">
              <a:lnSpc>
                <a:spcPct val="90000"/>
              </a:lnSpc>
            </a:pPr>
            <a:endParaRPr lang="en-US" dirty="0">
              <a:solidFill>
                <a:schemeClr val="tx1"/>
              </a:solidFill>
            </a:endParaRPr>
          </a:p>
        </p:txBody>
      </p:sp>
      <p:pic>
        <p:nvPicPr>
          <p:cNvPr id="5" name="Picture 4" descr="download (2).jpg"/>
          <p:cNvPicPr>
            <a:picLocks noChangeAspect="1"/>
          </p:cNvPicPr>
          <p:nvPr/>
        </p:nvPicPr>
        <p:blipFill>
          <a:blip r:embed="rId1"/>
          <a:stretch>
            <a:fillRect/>
          </a:stretch>
        </p:blipFill>
        <p:spPr>
          <a:xfrm>
            <a:off x="8048626" y="3276601"/>
            <a:ext cx="2619375" cy="1743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6387">
                                            <p:txEl>
                                              <p:pRg st="2" end="2"/>
                                            </p:txEl>
                                          </p:spTgt>
                                        </p:tgtEl>
                                        <p:attrNameLst>
                                          <p:attrName>style.visibility</p:attrName>
                                        </p:attrNameLst>
                                      </p:cBhvr>
                                      <p:to>
                                        <p:strVal val="visible"/>
                                      </p:to>
                                    </p:set>
                                    <p:anim calcmode="lin" valueType="num">
                                      <p:cBhvr additive="base">
                                        <p:cTn id="7" dur="500" fill="hold"/>
                                        <p:tgtEl>
                                          <p:spTgt spid="16387">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6387">
                                            <p:txEl>
                                              <p:pRg st="3" end="3"/>
                                            </p:txEl>
                                          </p:spTgt>
                                        </p:tgtEl>
                                        <p:attrNameLst>
                                          <p:attrName>style.visibility</p:attrName>
                                        </p:attrNameLst>
                                      </p:cBhvr>
                                      <p:to>
                                        <p:strVal val="visible"/>
                                      </p:to>
                                    </p:set>
                                    <p:anim calcmode="lin" valueType="num">
                                      <p:cBhvr additive="base">
                                        <p:cTn id="13" dur="500" fill="hold"/>
                                        <p:tgtEl>
                                          <p:spTgt spid="16387">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3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6387">
                                            <p:txEl>
                                              <p:pRg st="4" end="4"/>
                                            </p:txEl>
                                          </p:spTgt>
                                        </p:tgtEl>
                                        <p:attrNameLst>
                                          <p:attrName>style.visibility</p:attrName>
                                        </p:attrNameLst>
                                      </p:cBhvr>
                                      <p:to>
                                        <p:strVal val="visible"/>
                                      </p:to>
                                    </p:set>
                                    <p:anim calcmode="lin" valueType="num">
                                      <p:cBhvr additive="base">
                                        <p:cTn id="19" dur="500" fill="hold"/>
                                        <p:tgtEl>
                                          <p:spTgt spid="16387">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87">
                                            <p:txEl>
                                              <p:pRg st="4" end="4"/>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6387">
                                            <p:txEl>
                                              <p:pRg st="5" end="5"/>
                                            </p:txEl>
                                          </p:spTgt>
                                        </p:tgtEl>
                                        <p:attrNameLst>
                                          <p:attrName>style.visibility</p:attrName>
                                        </p:attrNameLst>
                                      </p:cBhvr>
                                      <p:to>
                                        <p:strVal val="visible"/>
                                      </p:to>
                                    </p:set>
                                    <p:anim calcmode="lin" valueType="num">
                                      <p:cBhvr additive="base">
                                        <p:cTn id="23" dur="500" fill="hold"/>
                                        <p:tgtEl>
                                          <p:spTgt spid="16387">
                                            <p:txEl>
                                              <p:pRg st="5" end="5"/>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6387">
                                            <p:txEl>
                                              <p:pRg st="5" end="5"/>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16387">
                                            <p:txEl>
                                              <p:pRg st="6" end="6"/>
                                            </p:txEl>
                                          </p:spTgt>
                                        </p:tgtEl>
                                        <p:attrNameLst>
                                          <p:attrName>style.visibility</p:attrName>
                                        </p:attrNameLst>
                                      </p:cBhvr>
                                      <p:to>
                                        <p:strVal val="visible"/>
                                      </p:to>
                                    </p:set>
                                    <p:anim calcmode="lin" valueType="num">
                                      <p:cBhvr additive="base">
                                        <p:cTn id="27" dur="500" fill="hold"/>
                                        <p:tgtEl>
                                          <p:spTgt spid="16387">
                                            <p:txEl>
                                              <p:pRg st="6" end="6"/>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638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16387">
                                            <p:txEl>
                                              <p:pRg st="7" end="7"/>
                                            </p:txEl>
                                          </p:spTgt>
                                        </p:tgtEl>
                                        <p:attrNameLst>
                                          <p:attrName>style.visibility</p:attrName>
                                        </p:attrNameLst>
                                      </p:cBhvr>
                                      <p:to>
                                        <p:strVal val="visible"/>
                                      </p:to>
                                    </p:set>
                                    <p:anim calcmode="lin" valueType="num">
                                      <p:cBhvr additive="base">
                                        <p:cTn id="33" dur="500" fill="hold"/>
                                        <p:tgtEl>
                                          <p:spTgt spid="16387">
                                            <p:txEl>
                                              <p:pRg st="7" end="7"/>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638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1524000" y="609600"/>
            <a:ext cx="8229600" cy="1143000"/>
          </a:xfrm>
        </p:spPr>
        <p:txBody>
          <a:bodyPr/>
          <a:lstStyle/>
          <a:p>
            <a:pPr eaLnBrk="1" hangingPunct="1"/>
            <a:r>
              <a:rPr lang="en-US"/>
              <a:t>Requirements Analysis (contd.)</a:t>
            </a:r>
            <a:endParaRPr lang="en-US"/>
          </a:p>
        </p:txBody>
      </p:sp>
      <p:sp>
        <p:nvSpPr>
          <p:cNvPr id="17411" name="Rectangle 3"/>
          <p:cNvSpPr>
            <a:spLocks noGrp="1" noChangeArrowheads="1"/>
          </p:cNvSpPr>
          <p:nvPr>
            <p:ph type="body" idx="4294967295"/>
          </p:nvPr>
        </p:nvSpPr>
        <p:spPr>
          <a:xfrm>
            <a:off x="1524000" y="1905001"/>
            <a:ext cx="8229600" cy="4221163"/>
          </a:xfrm>
        </p:spPr>
        <p:txBody>
          <a:bodyPr>
            <a:normAutofit/>
          </a:bodyPr>
          <a:lstStyle/>
          <a:p>
            <a:pPr eaLnBrk="1" hangingPunct="1">
              <a:buFontTx/>
              <a:buNone/>
            </a:pPr>
            <a:r>
              <a:rPr lang="en-US" dirty="0"/>
              <a:t>	</a:t>
            </a:r>
            <a:endParaRPr lang="en-US" dirty="0"/>
          </a:p>
          <a:p>
            <a:pPr eaLnBrk="1" hangingPunct="1">
              <a:buFontTx/>
              <a:buNone/>
            </a:pPr>
            <a:r>
              <a:rPr lang="en-US" dirty="0">
                <a:solidFill>
                  <a:schemeClr val="tx1"/>
                </a:solidFill>
              </a:rPr>
              <a:t>Some applications on top of the database can be…</a:t>
            </a:r>
            <a:endParaRPr lang="en-US" dirty="0">
              <a:solidFill>
                <a:schemeClr val="tx1"/>
              </a:solidFill>
            </a:endParaRPr>
          </a:p>
          <a:p>
            <a:pPr lvl="1" eaLnBrk="1" hangingPunct="1"/>
            <a:r>
              <a:rPr lang="en-US" dirty="0">
                <a:solidFill>
                  <a:schemeClr val="tx1"/>
                </a:solidFill>
              </a:rPr>
              <a:t>Renewal service (may be on-line)</a:t>
            </a:r>
            <a:endParaRPr lang="en-US" dirty="0">
              <a:solidFill>
                <a:schemeClr val="tx1"/>
              </a:solidFill>
            </a:endParaRPr>
          </a:p>
          <a:p>
            <a:pPr lvl="1" eaLnBrk="1" hangingPunct="1"/>
            <a:r>
              <a:rPr lang="en-US" dirty="0">
                <a:solidFill>
                  <a:schemeClr val="tx1"/>
                </a:solidFill>
              </a:rPr>
              <a:t>Borrowing-Lending service</a:t>
            </a:r>
            <a:endParaRPr lang="en-US" dirty="0">
              <a:solidFill>
                <a:schemeClr val="tx1"/>
              </a:solidFill>
            </a:endParaRPr>
          </a:p>
          <a:p>
            <a:pPr lvl="1" eaLnBrk="1" hangingPunct="1"/>
            <a:r>
              <a:rPr lang="en-US" dirty="0">
                <a:solidFill>
                  <a:schemeClr val="tx1"/>
                </a:solidFill>
              </a:rPr>
              <a:t>Resource reservation system (may be on-line)</a:t>
            </a:r>
            <a:endParaRPr lang="en-US" dirty="0">
              <a:solidFill>
                <a:schemeClr val="tx1"/>
              </a:solidFill>
            </a:endParaRPr>
          </a:p>
          <a:p>
            <a:pPr lvl="1" eaLnBrk="1" hangingPunct="1"/>
            <a:r>
              <a:rPr lang="en-US" dirty="0">
                <a:solidFill>
                  <a:schemeClr val="tx1"/>
                </a:solidFill>
              </a:rPr>
              <a:t>Resource request service (may be on-line)</a:t>
            </a: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anim calcmode="lin" valueType="num">
                                      <p:cBhvr additive="base">
                                        <p:cTn id="7" dur="500" fill="hold"/>
                                        <p:tgtEl>
                                          <p:spTgt spid="17411">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7411">
                                            <p:txEl>
                                              <p:pRg st="3" end="3"/>
                                            </p:txEl>
                                          </p:spTgt>
                                        </p:tgtEl>
                                        <p:attrNameLst>
                                          <p:attrName>style.visibility</p:attrName>
                                        </p:attrNameLst>
                                      </p:cBhvr>
                                      <p:to>
                                        <p:strVal val="visible"/>
                                      </p:to>
                                    </p:set>
                                    <p:anim calcmode="lin" valueType="num">
                                      <p:cBhvr additive="base">
                                        <p:cTn id="13" dur="500" fill="hold"/>
                                        <p:tgtEl>
                                          <p:spTgt spid="17411">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7411">
                                            <p:txEl>
                                              <p:pRg st="4" end="4"/>
                                            </p:txEl>
                                          </p:spTgt>
                                        </p:tgtEl>
                                        <p:attrNameLst>
                                          <p:attrName>style.visibility</p:attrName>
                                        </p:attrNameLst>
                                      </p:cBhvr>
                                      <p:to>
                                        <p:strVal val="visible"/>
                                      </p:to>
                                    </p:set>
                                    <p:anim calcmode="lin" valueType="num">
                                      <p:cBhvr additive="base">
                                        <p:cTn id="19" dur="500" fill="hold"/>
                                        <p:tgtEl>
                                          <p:spTgt spid="17411">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7411">
                                            <p:txEl>
                                              <p:pRg st="5" end="5"/>
                                            </p:txEl>
                                          </p:spTgt>
                                        </p:tgtEl>
                                        <p:attrNameLst>
                                          <p:attrName>style.visibility</p:attrName>
                                        </p:attrNameLst>
                                      </p:cBhvr>
                                      <p:to>
                                        <p:strVal val="visible"/>
                                      </p:to>
                                    </p:set>
                                    <p:anim calcmode="lin" valueType="num">
                                      <p:cBhvr additive="base">
                                        <p:cTn id="25" dur="500" fill="hold"/>
                                        <p:tgtEl>
                                          <p:spTgt spid="17411">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1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1524000" y="609600"/>
            <a:ext cx="8229600" cy="1143000"/>
          </a:xfrm>
        </p:spPr>
        <p:txBody>
          <a:bodyPr/>
          <a:lstStyle/>
          <a:p>
            <a:pPr marL="742950" indent="-742950">
              <a:buFont typeface="+mj-lt"/>
              <a:buAutoNum type="arabicPeriod" startAt="2"/>
            </a:pPr>
            <a:r>
              <a:rPr lang="en-US" dirty="0"/>
              <a:t>Conceptual Database Design</a:t>
            </a:r>
            <a:endParaRPr lang="en-US" dirty="0"/>
          </a:p>
        </p:txBody>
      </p:sp>
      <p:sp>
        <p:nvSpPr>
          <p:cNvPr id="12291" name="Rectangle 3"/>
          <p:cNvSpPr>
            <a:spLocks noGrp="1" noChangeArrowheads="1"/>
          </p:cNvSpPr>
          <p:nvPr>
            <p:ph type="body" idx="4294967295"/>
          </p:nvPr>
        </p:nvSpPr>
        <p:spPr>
          <a:xfrm>
            <a:off x="2332990" y="1637665"/>
            <a:ext cx="8534400" cy="4495800"/>
          </a:xfrm>
        </p:spPr>
        <p:txBody>
          <a:bodyPr>
            <a:normAutofit/>
          </a:bodyPr>
          <a:lstStyle/>
          <a:p>
            <a:pPr marL="0" indent="0" algn="just">
              <a:buNone/>
            </a:pPr>
            <a:r>
              <a:rPr lang="en-US" sz="2400" dirty="0">
                <a:solidFill>
                  <a:schemeClr val="tx1"/>
                </a:solidFill>
              </a:rPr>
              <a:t>In this step, a high-level conceptual model of the database is created. </a:t>
            </a:r>
            <a:endParaRPr lang="en-US" sz="2400" dirty="0">
              <a:solidFill>
                <a:schemeClr val="tx1"/>
              </a:solidFill>
            </a:endParaRPr>
          </a:p>
          <a:p>
            <a:pPr marL="0" indent="0" algn="just">
              <a:buNone/>
            </a:pPr>
            <a:r>
              <a:rPr lang="en-US" sz="2400" dirty="0">
                <a:solidFill>
                  <a:schemeClr val="tx1"/>
                </a:solidFill>
              </a:rPr>
              <a:t>This model represents the overall structure of the database without considering implementation details.</a:t>
            </a:r>
            <a:endParaRPr lang="en-US" sz="2400" dirty="0">
              <a:solidFill>
                <a:schemeClr val="tx1"/>
              </a:solidFill>
            </a:endParaRPr>
          </a:p>
          <a:p>
            <a:pPr marL="0" indent="0" algn="just">
              <a:buNone/>
            </a:pPr>
            <a:r>
              <a:rPr lang="en-US" sz="2400" dirty="0">
                <a:solidFill>
                  <a:schemeClr val="tx1"/>
                </a:solidFill>
              </a:rPr>
              <a:t>Common techniques for conceptual design include Entity-Relationship Diagrams (ERD) or Unified Modeling Language (UML) diagrams</a:t>
            </a:r>
            <a:endParaRPr lang="en-US" sz="2400" dirty="0">
              <a:solidFill>
                <a:schemeClr val="tx1"/>
              </a:solidFill>
            </a:endParaRPr>
          </a:p>
          <a:p>
            <a:pPr eaLnBrk="1" hangingPunct="1">
              <a:buFontTx/>
              <a:buNone/>
            </a:pPr>
            <a:r>
              <a:rPr lang="en-US" sz="2400" dirty="0">
                <a:solidFill>
                  <a:schemeClr val="tx1"/>
                </a:solidFill>
              </a:rPr>
              <a:t>	</a:t>
            </a:r>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524000" y="609600"/>
            <a:ext cx="8229600" cy="1143000"/>
          </a:xfrm>
        </p:spPr>
        <p:txBody>
          <a:bodyPr/>
          <a:lstStyle/>
          <a:p>
            <a:pPr marL="742950" indent="-742950">
              <a:buFont typeface="+mj-lt"/>
              <a:buAutoNum type="arabicPeriod" startAt="3"/>
            </a:pPr>
            <a:r>
              <a:rPr lang="en-US" dirty="0"/>
              <a:t>Logical Database Design</a:t>
            </a:r>
            <a:endParaRPr lang="en-US" dirty="0"/>
          </a:p>
        </p:txBody>
      </p:sp>
      <p:sp>
        <p:nvSpPr>
          <p:cNvPr id="14339" name="Rectangle 3"/>
          <p:cNvSpPr>
            <a:spLocks noGrp="1" noChangeArrowheads="1"/>
          </p:cNvSpPr>
          <p:nvPr>
            <p:ph type="body" idx="4294967295"/>
          </p:nvPr>
        </p:nvSpPr>
        <p:spPr>
          <a:xfrm>
            <a:off x="1905000" y="1905001"/>
            <a:ext cx="8229600" cy="4221163"/>
          </a:xfrm>
        </p:spPr>
        <p:txBody>
          <a:bodyPr>
            <a:normAutofit/>
          </a:bodyPr>
          <a:lstStyle/>
          <a:p>
            <a:pPr lvl="1" eaLnBrk="1" hangingPunct="1">
              <a:lnSpc>
                <a:spcPct val="90000"/>
              </a:lnSpc>
              <a:buFontTx/>
              <a:buNone/>
            </a:pPr>
            <a:r>
              <a:rPr lang="en-US" dirty="0"/>
              <a:t>	</a:t>
            </a:r>
            <a:endParaRPr lang="en-US" dirty="0"/>
          </a:p>
          <a:p>
            <a:r>
              <a:rPr lang="en-US" dirty="0">
                <a:solidFill>
                  <a:schemeClr val="tx1"/>
                </a:solidFill>
              </a:rPr>
              <a:t>During logical design, the conceptual model is translated into a logical model that can be implemented in a specific database management system (DBMS).</a:t>
            </a:r>
            <a:endParaRPr lang="en-US" dirty="0">
              <a:solidFill>
                <a:schemeClr val="tx1"/>
              </a:solidFill>
            </a:endParaRPr>
          </a:p>
          <a:p>
            <a:r>
              <a:rPr lang="en-US" dirty="0">
                <a:solidFill>
                  <a:schemeClr val="tx1"/>
                </a:solidFill>
              </a:rPr>
              <a:t> This involves defining tables, attributes, primary and foreign keys, normalization, and other data structures.</a:t>
            </a:r>
            <a:endParaRPr lang="en-US" dirty="0">
              <a:solidFill>
                <a:schemeClr val="tx1"/>
              </a:solidFill>
            </a:endParaRPr>
          </a:p>
          <a:p>
            <a:pPr lvl="1" eaLnBrk="1" hangingPunct="1">
              <a:lnSpc>
                <a:spcPct val="90000"/>
              </a:lnSpc>
              <a:buFontTx/>
              <a:buNone/>
            </a:pPr>
            <a:r>
              <a:rPr lang="en-US" dirty="0"/>
              <a:t> </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1524000" y="609600"/>
            <a:ext cx="8229600" cy="1143000"/>
          </a:xfrm>
        </p:spPr>
        <p:txBody>
          <a:bodyPr/>
          <a:lstStyle/>
          <a:p>
            <a:pPr marL="742950" indent="-742950">
              <a:buFont typeface="+mj-lt"/>
              <a:buAutoNum type="arabicPeriod" startAt="4"/>
            </a:pPr>
            <a:r>
              <a:rPr lang="en-US" dirty="0"/>
              <a:t>	Normalization</a:t>
            </a:r>
            <a:endParaRPr lang="en-US" dirty="0"/>
          </a:p>
        </p:txBody>
      </p:sp>
      <p:sp>
        <p:nvSpPr>
          <p:cNvPr id="15363" name="Rectangle 3"/>
          <p:cNvSpPr>
            <a:spLocks noGrp="1" noChangeArrowheads="1"/>
          </p:cNvSpPr>
          <p:nvPr>
            <p:ph type="body" idx="4294967295"/>
          </p:nvPr>
        </p:nvSpPr>
        <p:spPr>
          <a:xfrm>
            <a:off x="2133600" y="2133601"/>
            <a:ext cx="8229600" cy="4221163"/>
          </a:xfrm>
        </p:spPr>
        <p:txBody>
          <a:bodyPr/>
          <a:lstStyle/>
          <a:p>
            <a:pPr>
              <a:buNone/>
            </a:pPr>
            <a:r>
              <a:rPr lang="en-US" dirty="0">
                <a:solidFill>
                  <a:schemeClr val="tx1"/>
                </a:solidFill>
              </a:rPr>
              <a:t>This step involves organizing the tables and attributes to minimize redundancy and dependency. </a:t>
            </a:r>
            <a:endParaRPr lang="en-US" dirty="0">
              <a:solidFill>
                <a:schemeClr val="tx1"/>
              </a:solidFill>
            </a:endParaRPr>
          </a:p>
          <a:p>
            <a:pPr>
              <a:buNone/>
            </a:pPr>
            <a:r>
              <a:rPr lang="en-US" dirty="0">
                <a:solidFill>
                  <a:schemeClr val="tx1"/>
                </a:solidFill>
              </a:rPr>
              <a:t>Normalization ensures data integrity and reduces the chances of anomalies during database operations.</a:t>
            </a:r>
            <a:endParaRPr lang="en-US" dirty="0">
              <a:solidFill>
                <a:schemeClr val="tx1"/>
              </a:solidFill>
            </a:endParaRPr>
          </a:p>
          <a:p>
            <a:pPr eaLnBrk="1" hangingPunct="1">
              <a:buFontTx/>
              <a:buNone/>
            </a:pPr>
            <a:r>
              <a:rPr lang="en-US" dirty="0"/>
              <a:t>.</a:t>
            </a:r>
            <a:endParaRPr lang="en-US" dirty="0"/>
          </a:p>
          <a:p>
            <a:pPr eaLnBrk="1" hangingPunct="1">
              <a:buFontTx/>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1524000" y="609600"/>
            <a:ext cx="8229600" cy="1143000"/>
          </a:xfrm>
        </p:spPr>
        <p:txBody>
          <a:bodyPr/>
          <a:lstStyle/>
          <a:p>
            <a:pPr marL="742950" indent="-742950">
              <a:buFont typeface="+mj-lt"/>
              <a:buAutoNum type="arabicPeriod" startAt="5"/>
            </a:pPr>
            <a:r>
              <a:rPr lang="en-US" dirty="0"/>
              <a:t>Physical Database Design</a:t>
            </a:r>
            <a:endParaRPr lang="en-US" dirty="0"/>
          </a:p>
        </p:txBody>
      </p:sp>
      <p:sp>
        <p:nvSpPr>
          <p:cNvPr id="16387" name="Rectangle 3"/>
          <p:cNvSpPr>
            <a:spLocks noGrp="1" noChangeArrowheads="1"/>
          </p:cNvSpPr>
          <p:nvPr>
            <p:ph type="body" idx="4294967295"/>
          </p:nvPr>
        </p:nvSpPr>
        <p:spPr>
          <a:xfrm>
            <a:off x="1981200" y="1752601"/>
            <a:ext cx="8229600" cy="4221163"/>
          </a:xfrm>
        </p:spPr>
        <p:txBody>
          <a:bodyPr/>
          <a:lstStyle/>
          <a:p>
            <a:pPr eaLnBrk="1" hangingPunct="1"/>
            <a:endParaRPr lang="en-US" dirty="0"/>
          </a:p>
          <a:p>
            <a:pPr>
              <a:buNone/>
            </a:pPr>
            <a:r>
              <a:rPr lang="en-US" dirty="0"/>
              <a:t>	 </a:t>
            </a:r>
            <a:r>
              <a:rPr lang="en-US" dirty="0">
                <a:solidFill>
                  <a:schemeClr val="tx1"/>
                </a:solidFill>
              </a:rPr>
              <a:t>In the physical design phase, the logical model is transformed into a physical database schema. </a:t>
            </a:r>
            <a:endParaRPr lang="en-US" dirty="0">
              <a:solidFill>
                <a:schemeClr val="tx1"/>
              </a:solidFill>
            </a:endParaRPr>
          </a:p>
          <a:p>
            <a:pPr>
              <a:buNone/>
            </a:pPr>
            <a:r>
              <a:rPr lang="en-US" dirty="0">
                <a:solidFill>
                  <a:schemeClr val="tx1"/>
                </a:solidFill>
              </a:rPr>
              <a:t>This includes specifying data types, indexes, storage structures, partitioning, and other physical implementation details</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1524000" y="609600"/>
            <a:ext cx="8229600" cy="1143000"/>
          </a:xfrm>
        </p:spPr>
        <p:txBody>
          <a:bodyPr/>
          <a:lstStyle/>
          <a:p>
            <a:pPr marL="742950" indent="-742950">
              <a:buFont typeface="+mj-lt"/>
              <a:buAutoNum type="arabicPeriod" startAt="6"/>
            </a:pPr>
            <a:r>
              <a:rPr lang="en-US" dirty="0"/>
              <a:t>Implementation</a:t>
            </a:r>
            <a:endParaRPr lang="en-US" dirty="0"/>
          </a:p>
        </p:txBody>
      </p:sp>
      <p:sp>
        <p:nvSpPr>
          <p:cNvPr id="17411" name="Rectangle 3"/>
          <p:cNvSpPr>
            <a:spLocks noGrp="1" noChangeArrowheads="1"/>
          </p:cNvSpPr>
          <p:nvPr>
            <p:ph type="body" idx="4294967295"/>
          </p:nvPr>
        </p:nvSpPr>
        <p:spPr>
          <a:xfrm>
            <a:off x="2057400" y="1905001"/>
            <a:ext cx="8229600" cy="4221163"/>
          </a:xfrm>
        </p:spPr>
        <p:txBody>
          <a:bodyPr/>
          <a:lstStyle/>
          <a:p>
            <a:pPr eaLnBrk="1" hangingPunct="1">
              <a:lnSpc>
                <a:spcPct val="90000"/>
              </a:lnSpc>
              <a:buFontTx/>
              <a:buNone/>
            </a:pPr>
            <a:r>
              <a:rPr lang="en-US" dirty="0"/>
              <a:t>	</a:t>
            </a:r>
            <a:endParaRPr lang="en-US" dirty="0"/>
          </a:p>
          <a:p>
            <a:pPr algn="just"/>
            <a:r>
              <a:rPr lang="en-US" dirty="0">
                <a:solidFill>
                  <a:schemeClr val="tx1"/>
                </a:solidFill>
              </a:rPr>
              <a:t>Once the physical design is complete, the database schema is implemented in the chosen DBMS. This involves creating tables, defining relationships, setting up security, and optimizing performance.</a:t>
            </a:r>
            <a:endParaRPr lang="en-US" dirty="0">
              <a:solidFill>
                <a:schemeClr val="tx1"/>
              </a:solidFill>
            </a:endParaRPr>
          </a:p>
          <a:p>
            <a:pPr eaLnBrk="1" hangingPunct="1">
              <a:lnSpc>
                <a:spcPct val="90000"/>
              </a:lnSpc>
              <a:buFontTx/>
              <a:buNone/>
            </a:pPr>
            <a:endParaRPr lang="en-US" dirty="0">
              <a:solidFill>
                <a:schemeClr val="tx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a:t>
            </a:r>
            <a:endParaRPr lang="en-US" dirty="0"/>
          </a:p>
        </p:txBody>
      </p:sp>
      <p:sp>
        <p:nvSpPr>
          <p:cNvPr id="3" name="Content Placeholder 2"/>
          <p:cNvSpPr>
            <a:spLocks noGrp="1"/>
          </p:cNvSpPr>
          <p:nvPr>
            <p:ph idx="1"/>
          </p:nvPr>
        </p:nvSpPr>
        <p:spPr>
          <a:xfrm>
            <a:off x="2133600" y="2362201"/>
            <a:ext cx="8065294" cy="3766185"/>
          </a:xfrm>
        </p:spPr>
        <p:txBody>
          <a:bodyPr/>
          <a:lstStyle/>
          <a:p>
            <a:pPr algn="just"/>
            <a:r>
              <a:rPr lang="en-US" dirty="0">
                <a:solidFill>
                  <a:schemeClr val="tx1"/>
                </a:solidFill>
              </a:rPr>
              <a:t>After implementation, the database is tested to ensure that it meets the requirements and performs as expected. Testing includes data validation, integrity checks, performance testing, and user acceptance testing.</a:t>
            </a:r>
            <a:endParaRPr lang="en-US" dirty="0">
              <a:solidFill>
                <a:schemeClr val="tx1"/>
              </a:solidFill>
            </a:endParaRPr>
          </a:p>
          <a:p>
            <a:endParaRPr lang="en-US" dirty="0">
              <a:solidFill>
                <a:schemeClr val="tx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Deployment</a:t>
            </a:r>
            <a:endParaRPr lang="en-US" dirty="0"/>
          </a:p>
        </p:txBody>
      </p:sp>
      <p:sp>
        <p:nvSpPr>
          <p:cNvPr id="4" name="Content Placeholder 3"/>
          <p:cNvSpPr>
            <a:spLocks noGrp="1"/>
          </p:cNvSpPr>
          <p:nvPr>
            <p:ph idx="1"/>
          </p:nvPr>
        </p:nvSpPr>
        <p:spPr>
          <a:xfrm>
            <a:off x="2041940" y="2362201"/>
            <a:ext cx="8065294" cy="3766185"/>
          </a:xfrm>
        </p:spPr>
        <p:txBody>
          <a:bodyPr/>
          <a:lstStyle/>
          <a:p>
            <a:pPr algn="just"/>
            <a:r>
              <a:rPr lang="en-US" dirty="0">
                <a:solidFill>
                  <a:schemeClr val="tx1"/>
                </a:solidFill>
              </a:rPr>
              <a:t>Once testing is successful, the database is deployed for production use. This involves migrating data from existing systems, setting up backups, and configuring access controls.</a:t>
            </a:r>
            <a:endParaRPr lang="en-US" dirty="0">
              <a:solidFill>
                <a:schemeClr val="tx1"/>
              </a:solidFill>
            </a:endParaRP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Maintenance and Optimization</a:t>
            </a:r>
            <a:endParaRPr lang="en-US" dirty="0"/>
          </a:p>
        </p:txBody>
      </p:sp>
      <p:sp>
        <p:nvSpPr>
          <p:cNvPr id="3" name="Content Placeholder 2"/>
          <p:cNvSpPr>
            <a:spLocks noGrp="1"/>
          </p:cNvSpPr>
          <p:nvPr>
            <p:ph idx="1"/>
          </p:nvPr>
        </p:nvSpPr>
        <p:spPr>
          <a:xfrm>
            <a:off x="2016919" y="1981201"/>
            <a:ext cx="8065294" cy="3766185"/>
          </a:xfrm>
        </p:spPr>
        <p:txBody>
          <a:bodyPr/>
          <a:lstStyle/>
          <a:p>
            <a:pPr algn="just"/>
            <a:r>
              <a:rPr lang="en-US" dirty="0">
                <a:solidFill>
                  <a:schemeClr val="tx1"/>
                </a:solidFill>
              </a:rPr>
              <a:t>Database design is an ongoing process, and regular maintenance is required to ensure optimal performance and data integrity. This includes monitoring performance, tuning queries, applying updates, and making modifications as needed based on changing requirements.</a:t>
            </a:r>
            <a:endParaRPr lang="en-US" dirty="0">
              <a:solidFill>
                <a:schemeClr val="tx1"/>
              </a:solidFill>
            </a:endParaRPr>
          </a:p>
          <a:p>
            <a:endParaRPr lang="en-US" dirty="0">
              <a:solidFill>
                <a:schemeClr val="tx1"/>
              </a:solidFill>
            </a:endParaRP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Documentation</a:t>
            </a:r>
            <a:endParaRPr lang="en-US" dirty="0"/>
          </a:p>
        </p:txBody>
      </p:sp>
      <p:sp>
        <p:nvSpPr>
          <p:cNvPr id="3" name="Content Placeholder 2"/>
          <p:cNvSpPr>
            <a:spLocks noGrp="1"/>
          </p:cNvSpPr>
          <p:nvPr>
            <p:ph idx="1"/>
          </p:nvPr>
        </p:nvSpPr>
        <p:spPr>
          <a:xfrm>
            <a:off x="2016919" y="2171380"/>
            <a:ext cx="8065294" cy="3766185"/>
          </a:xfrm>
        </p:spPr>
        <p:txBody>
          <a:bodyPr/>
          <a:lstStyle/>
          <a:p>
            <a:pPr algn="just"/>
            <a:r>
              <a:rPr lang="en-US" dirty="0">
                <a:solidFill>
                  <a:schemeClr val="tx1"/>
                </a:solidFill>
              </a:rPr>
              <a:t>Throughout the design process, documentation should be created to record design decisions, data definitions, schema diagrams, and other relevant information. Good documentation helps with understanding and maintaining the database in the future</a:t>
            </a:r>
            <a:endParaRPr lang="en-US" dirty="0">
              <a:solidFill>
                <a:schemeClr val="tx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3677</Words>
  <Application>WPS Presentation</Application>
  <PresentationFormat>Widescreen</PresentationFormat>
  <Paragraphs>112</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Wingdings 3</vt:lpstr>
      <vt:lpstr>Arial</vt:lpstr>
      <vt:lpstr>Century Gothic</vt:lpstr>
      <vt:lpstr>Microsoft YaHei</vt:lpstr>
      <vt:lpstr>Arial Unicode MS</vt:lpstr>
      <vt:lpstr>Calibri</vt:lpstr>
      <vt:lpstr>Wisp</vt:lpstr>
      <vt:lpstr>ICT1407-Database Management Systems</vt:lpstr>
      <vt:lpstr>Database Design</vt:lpstr>
      <vt:lpstr>Database Design</vt:lpstr>
      <vt:lpstr>Requirements Analysis</vt:lpstr>
      <vt:lpstr>Requirement Analysis (contd.)</vt:lpstr>
      <vt:lpstr>Requirements Analysis (contd.)</vt:lpstr>
      <vt:lpstr>Conceptual Database Design</vt:lpstr>
      <vt:lpstr>Logical Database Design</vt:lpstr>
      <vt:lpstr>	Normalization</vt:lpstr>
      <vt:lpstr>Physical Database Design</vt:lpstr>
      <vt:lpstr>Implementation</vt:lpstr>
      <vt:lpstr>Testing</vt:lpstr>
      <vt:lpstr>Deployment</vt:lpstr>
      <vt:lpstr>Maintenance and Optimization</vt:lpstr>
      <vt:lpstr>Documentation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ICT1407-Database Management Systems</dc:title>
  <dc:creator>Rameesha</dc:creator>
  <cp:lastModifiedBy>Rameesha</cp:lastModifiedBy>
  <cp:revision>4</cp:revision>
  <dcterms:created xsi:type="dcterms:W3CDTF">2025-06-15T03:08:00Z</dcterms:created>
  <dcterms:modified xsi:type="dcterms:W3CDTF">2025-07-01T02:31:12Z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986F71677A534E4FB3BABA92821756F0_12</vt:lpwstr>
  </property>
  <property fmtid="{D5CDD505-2E9C-101B-9397-08002B2CF9AE}" pid="3" name="KSOProductBuildVer">
    <vt:lpwstr>1033-12.2.0.21546</vt:lpwstr>
  </property>
</Properties>
</file>