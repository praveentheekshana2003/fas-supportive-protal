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78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E3DF6-A7E6-4B5E-99E2-E5FB5503F786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A70BE-8E0E-4920-B9D5-156FE338B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2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0979425-5D40-4BB0-B022-29542F301A2D}" type="slidenum">
              <a:rPr lang="en-US" smtClean="0"/>
              <a:pPr/>
              <a:t>14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1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16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4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6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9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25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5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86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7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BB318-A42D-4F21-B618-67906153A7FA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09A71-9480-4F53-8266-E73F2F58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1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0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9.bin"/><Relationship Id="rId4" Type="http://schemas.openxmlformats.org/officeDocument/2006/relationships/image" Target="../media/image32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73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Gravimetric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CHE 2103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AMH </a:t>
            </a:r>
            <a:r>
              <a:rPr lang="en-US" smtClean="0"/>
              <a:t>- </a:t>
            </a:r>
            <a:r>
              <a:rPr lang="en-US" smtClean="0"/>
              <a:t>2023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9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524000"/>
          </a:xfrm>
        </p:spPr>
        <p:txBody>
          <a:bodyPr/>
          <a:lstStyle/>
          <a:p>
            <a:pPr eaLnBrk="1" hangingPunct="1"/>
            <a:r>
              <a:rPr lang="en-US" sz="4000" smtClean="0"/>
              <a:t>How to Perform a Successful Gravimetric Analysis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648200"/>
          </a:xfrm>
        </p:spPr>
        <p:txBody>
          <a:bodyPr>
            <a:normAutofit lnSpcReduction="10000"/>
          </a:bodyPr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sz="3600" b="1" dirty="0" smtClean="0"/>
              <a:t>What steps are needed?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/>
              <a:t>Sampled dried, triplicate portions weighed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>
                <a:solidFill>
                  <a:schemeClr val="accent2"/>
                </a:solidFill>
              </a:rPr>
              <a:t>Preparation of the solution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/>
              <a:t>Precipitation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>
                <a:solidFill>
                  <a:schemeClr val="accent2"/>
                </a:solidFill>
              </a:rPr>
              <a:t>Digestion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/>
              <a:t>Filtration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>
                <a:solidFill>
                  <a:schemeClr val="accent2"/>
                </a:solidFill>
              </a:rPr>
              <a:t>Washing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/>
              <a:t>Drying or igniting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>
                <a:solidFill>
                  <a:schemeClr val="accent2"/>
                </a:solidFill>
              </a:rPr>
              <a:t>Weighing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/>
              <a:t>Calculation</a:t>
            </a: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1129145" y="5243945"/>
            <a:ext cx="2286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4329545" y="5586845"/>
            <a:ext cx="1295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535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343378-DAFC-41C2-B210-D689C98BDC36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22536" name="Footer Placeholder 10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075" name="Text Box 8"/>
          <p:cNvSpPr txBox="1">
            <a:spLocks noChangeArrowheads="1"/>
          </p:cNvSpPr>
          <p:nvPr/>
        </p:nvSpPr>
        <p:spPr bwMode="auto">
          <a:xfrm>
            <a:off x="284163" y="1189038"/>
            <a:ext cx="8766175" cy="537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>
                <a:solidFill>
                  <a:schemeClr val="tx2"/>
                </a:solidFill>
              </a:rPr>
              <a:t>Introduction</a:t>
            </a: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1.)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Gravimetric Analysis:</a:t>
            </a:r>
          </a:p>
          <a:p>
            <a:pPr marL="1371600" lvl="2" indent="-457200"/>
            <a:r>
              <a:rPr lang="en-US">
                <a:solidFill>
                  <a:srgbClr val="CC3300"/>
                </a:solidFill>
              </a:rPr>
              <a:t>	</a:t>
            </a:r>
            <a:r>
              <a:rPr lang="en-US" b="0">
                <a:solidFill>
                  <a:schemeClr val="accent2"/>
                </a:solidFill>
              </a:rPr>
              <a:t>(i)</a:t>
            </a:r>
            <a:r>
              <a:rPr lang="en-US" sz="2000">
                <a:solidFill>
                  <a:srgbClr val="CC3300"/>
                </a:solidFill>
              </a:rPr>
              <a:t> </a:t>
            </a:r>
            <a:r>
              <a:rPr lang="en-US" b="0"/>
              <a:t>A technique in which the amount of an analyte in a sample is </a:t>
            </a:r>
          </a:p>
          <a:p>
            <a:pPr marL="1371600" lvl="2" indent="-457200"/>
            <a:r>
              <a:rPr lang="en-US" b="0"/>
              <a:t>            determined by converting the analyte to some product  </a:t>
            </a:r>
            <a:endParaRPr lang="en-US" b="0" i="1"/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b="0" i="1">
                <a:solidFill>
                  <a:schemeClr val="accent2"/>
                </a:solidFill>
              </a:rPr>
              <a:t>Mass of product can be easily measured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600" b="0">
              <a:solidFill>
                <a:schemeClr val="accent2"/>
              </a:solidFill>
            </a:endParaRPr>
          </a:p>
          <a:p>
            <a:pPr marL="914400" lvl="1" indent="-457200"/>
            <a:r>
              <a:rPr lang="en-US" b="0"/>
              <a:t>	       </a:t>
            </a:r>
            <a:r>
              <a:rPr lang="en-US" b="0">
                <a:solidFill>
                  <a:schemeClr val="accent2"/>
                </a:solidFill>
              </a:rPr>
              <a:t>(ii)</a:t>
            </a:r>
            <a:r>
              <a:rPr lang="en-US" b="0"/>
              <a:t> </a:t>
            </a:r>
            <a:r>
              <a:rPr lang="en-US" b="0" u="sng"/>
              <a:t>Analyte</a:t>
            </a:r>
            <a:r>
              <a:rPr lang="en-US" b="0"/>
              <a:t>: the compound or species to be analyzed in a sample</a:t>
            </a:r>
          </a:p>
          <a:p>
            <a:pPr marL="914400" lvl="1" indent="-457200"/>
            <a:endParaRPr lang="en-US" b="0"/>
          </a:p>
          <a:p>
            <a:pPr marL="914400" lvl="1" indent="-457200"/>
            <a:r>
              <a:rPr lang="en-US" b="0"/>
              <a:t>	       </a:t>
            </a:r>
            <a:r>
              <a:rPr lang="en-US" b="0">
                <a:solidFill>
                  <a:schemeClr val="accent2"/>
                </a:solidFill>
              </a:rPr>
              <a:t>(iii)</a:t>
            </a:r>
            <a:r>
              <a:rPr lang="en-US" b="0"/>
              <a:t> Overall, gravimetry sounds simple.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b="0" i="1" u="sng">
                <a:solidFill>
                  <a:schemeClr val="accent2"/>
                </a:solidFill>
              </a:rPr>
              <a:t>Advantages</a:t>
            </a:r>
            <a:r>
              <a:rPr lang="en-US" b="0">
                <a:solidFill>
                  <a:schemeClr val="accent2"/>
                </a:solidFill>
              </a:rPr>
              <a:t> - when done correctly is highly accurate (most accurate of all time); requires minimal equipment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b="0">
              <a:solidFill>
                <a:schemeClr val="accent2"/>
              </a:solidFill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b="0" i="1" u="sng">
                <a:solidFill>
                  <a:schemeClr val="accent2"/>
                </a:solidFill>
              </a:rPr>
              <a:t>Disadvantage</a:t>
            </a:r>
            <a:r>
              <a:rPr lang="en-US" b="0">
                <a:solidFill>
                  <a:schemeClr val="accent2"/>
                </a:solidFill>
              </a:rPr>
              <a:t> - requires skilled operator, slow.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b="0">
              <a:solidFill>
                <a:schemeClr val="accent2"/>
              </a:solidFill>
            </a:endParaRPr>
          </a:p>
          <a:p>
            <a:pPr marL="457200" indent="-457200"/>
            <a:endParaRPr lang="en-US" b="0"/>
          </a:p>
          <a:p>
            <a:pPr marL="457200" indent="-457200"/>
            <a:r>
              <a:rPr lang="en-US" b="0"/>
              <a:t>	</a:t>
            </a:r>
            <a:r>
              <a:rPr lang="en-US" sz="2000" b="0" i="1">
                <a:solidFill>
                  <a:srgbClr val="CC3300"/>
                </a:solidFill>
              </a:rPr>
              <a:t>Convert analyte into a solid, filter, weigh, calculate via a mole map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b="0" i="1">
              <a:solidFill>
                <a:srgbClr val="CC3300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		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3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" descr="PBCl2-pp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488" y="2541588"/>
            <a:ext cx="1655762" cy="421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Text Box 6"/>
          <p:cNvSpPr txBox="1">
            <a:spLocks noChangeArrowheads="1"/>
          </p:cNvSpPr>
          <p:nvPr/>
        </p:nvSpPr>
        <p:spPr bwMode="auto">
          <a:xfrm>
            <a:off x="284163" y="1189038"/>
            <a:ext cx="8766175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>
                <a:solidFill>
                  <a:schemeClr val="tx2"/>
                </a:solidFill>
              </a:rPr>
              <a:t>Introduction</a:t>
            </a: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1.)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Gravimetric Analysis: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</a:rPr>
              <a:t>(iii) </a:t>
            </a:r>
            <a:r>
              <a:rPr lang="en-US" sz="1600" b="0"/>
              <a:t>Example: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/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</a:rPr>
              <a:t>Determination of lead (Pb</a:t>
            </a:r>
            <a:r>
              <a:rPr lang="en-US" sz="1600" b="0" baseline="30000">
                <a:solidFill>
                  <a:schemeClr val="accent2"/>
                </a:solidFill>
              </a:rPr>
              <a:t>+2</a:t>
            </a:r>
            <a:r>
              <a:rPr lang="en-US" sz="1600" b="0">
                <a:solidFill>
                  <a:schemeClr val="accent2"/>
                </a:solidFill>
              </a:rPr>
              <a:t>) in water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</a:rPr>
              <a:t>			</a:t>
            </a:r>
            <a:r>
              <a:rPr lang="en-US" b="0">
                <a:solidFill>
                  <a:srgbClr val="CC3300"/>
                </a:solidFill>
              </a:rPr>
              <a:t>Pb</a:t>
            </a:r>
            <a:r>
              <a:rPr lang="en-US" b="0" baseline="30000">
                <a:solidFill>
                  <a:srgbClr val="CC3300"/>
                </a:solidFill>
              </a:rPr>
              <a:t>+2</a:t>
            </a:r>
            <a:r>
              <a:rPr lang="en-US" b="0">
                <a:solidFill>
                  <a:srgbClr val="CC3300"/>
                </a:solidFill>
              </a:rPr>
              <a:t>     +      2Cl</a:t>
            </a:r>
            <a:r>
              <a:rPr lang="en-US" b="0" baseline="30000">
                <a:solidFill>
                  <a:srgbClr val="CC3300"/>
                </a:solidFill>
              </a:rPr>
              <a:t>-</a:t>
            </a:r>
            <a:r>
              <a:rPr lang="en-US" b="0">
                <a:solidFill>
                  <a:srgbClr val="CC3300"/>
                </a:solidFill>
              </a:rPr>
              <a:t>  	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 	PbCl</a:t>
            </a:r>
            <a:r>
              <a:rPr lang="en-US" b="0" baseline="-25000">
                <a:solidFill>
                  <a:srgbClr val="CC3300"/>
                </a:solidFill>
                <a:sym typeface="Wingdings" pitchFamily="2" charset="2"/>
              </a:rPr>
              <a:t>2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(s)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b="0">
              <a:solidFill>
                <a:srgbClr val="CC3300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b="0">
              <a:solidFill>
                <a:srgbClr val="CC3300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By adding excess Cl</a:t>
            </a:r>
            <a:r>
              <a:rPr lang="en-US" sz="1600" b="0" baseline="30000">
                <a:solidFill>
                  <a:schemeClr val="accent2"/>
                </a:solidFill>
                <a:sym typeface="Wingdings" pitchFamily="2" charset="2"/>
              </a:rPr>
              <a:t>-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to the sample, essentially all of the Pb</a:t>
            </a:r>
            <a:r>
              <a:rPr lang="en-US" sz="1600" b="0" baseline="30000">
                <a:solidFill>
                  <a:schemeClr val="accent2"/>
                </a:solidFill>
                <a:sym typeface="Wingdings" pitchFamily="2" charset="2"/>
              </a:rPr>
              <a:t>+2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will precipitate as PbCl</a:t>
            </a:r>
            <a:r>
              <a:rPr lang="en-US" sz="1600" b="0" baseline="-25000">
                <a:solidFill>
                  <a:schemeClr val="accent2"/>
                </a:solidFill>
                <a:sym typeface="Wingdings" pitchFamily="2" charset="2"/>
              </a:rPr>
              <a:t>2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.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Mass of PbCl</a:t>
            </a:r>
            <a:r>
              <a:rPr lang="en-US" sz="1600" b="0" baseline="-25000">
                <a:solidFill>
                  <a:schemeClr val="accent2"/>
                </a:solidFill>
                <a:sym typeface="Wingdings" pitchFamily="2" charset="2"/>
              </a:rPr>
              <a:t>2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is then determined.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- </a:t>
            </a:r>
            <a:r>
              <a:rPr lang="en-US" sz="1400" i="1">
                <a:solidFill>
                  <a:srgbClr val="CC3300"/>
                </a:solidFill>
                <a:sym typeface="Wingdings" pitchFamily="2" charset="2"/>
              </a:rPr>
              <a:t>used to calculate the amount of Pb</a:t>
            </a:r>
            <a:r>
              <a:rPr lang="en-US" sz="1400" i="1" baseline="30000">
                <a:solidFill>
                  <a:srgbClr val="CC3300"/>
                </a:solidFill>
                <a:sym typeface="Wingdings" pitchFamily="2" charset="2"/>
              </a:rPr>
              <a:t>+2</a:t>
            </a:r>
            <a:r>
              <a:rPr lang="en-US" sz="1400" i="1">
                <a:solidFill>
                  <a:srgbClr val="CC3300"/>
                </a:solidFill>
                <a:sym typeface="Wingdings" pitchFamily="2" charset="2"/>
              </a:rPr>
              <a:t> in original solution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400" i="1">
              <a:solidFill>
                <a:srgbClr val="CC3300"/>
              </a:solidFill>
              <a:sym typeface="Wingdings" pitchFamily="2" charset="2"/>
            </a:endParaRPr>
          </a:p>
        </p:txBody>
      </p:sp>
      <p:sp>
        <p:nvSpPr>
          <p:cNvPr id="4100" name="Text Box 7"/>
          <p:cNvSpPr txBox="1">
            <a:spLocks noChangeArrowheads="1"/>
          </p:cNvSpPr>
          <p:nvPr/>
        </p:nvSpPr>
        <p:spPr bwMode="auto">
          <a:xfrm>
            <a:off x="5005388" y="3406775"/>
            <a:ext cx="960437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0"/>
              <a:t>Reagent</a:t>
            </a:r>
          </a:p>
        </p:txBody>
      </p:sp>
      <p:sp>
        <p:nvSpPr>
          <p:cNvPr id="4101" name="Text Box 8"/>
          <p:cNvSpPr txBox="1">
            <a:spLocks noChangeArrowheads="1"/>
          </p:cNvSpPr>
          <p:nvPr/>
        </p:nvSpPr>
        <p:spPr bwMode="auto">
          <a:xfrm>
            <a:off x="3727450" y="3398838"/>
            <a:ext cx="869950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0"/>
              <a:t>Analyte</a:t>
            </a:r>
          </a:p>
        </p:txBody>
      </p:sp>
      <p:sp>
        <p:nvSpPr>
          <p:cNvPr id="4102" name="Text Box 9"/>
          <p:cNvSpPr txBox="1">
            <a:spLocks noChangeArrowheads="1"/>
          </p:cNvSpPr>
          <p:nvPr/>
        </p:nvSpPr>
        <p:spPr bwMode="auto">
          <a:xfrm>
            <a:off x="6496050" y="3417888"/>
            <a:ext cx="1400175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0"/>
              <a:t>Solid Product</a:t>
            </a:r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4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5123" name="Text Box 6"/>
          <p:cNvSpPr txBox="1">
            <a:spLocks noChangeArrowheads="1"/>
          </p:cNvSpPr>
          <p:nvPr/>
        </p:nvSpPr>
        <p:spPr bwMode="auto">
          <a:xfrm>
            <a:off x="284163" y="1189038"/>
            <a:ext cx="8766175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>
                <a:solidFill>
                  <a:schemeClr val="tx2"/>
                </a:solidFill>
              </a:rPr>
              <a:t>Introduction</a:t>
            </a: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1.)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Gravimetric Analysis: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ym typeface="Wingdings" pitchFamily="2" charset="2"/>
              </a:rPr>
              <a:t>Example Calculation:</a:t>
            </a:r>
          </a:p>
          <a:p>
            <a:pPr marL="2286000" lvl="4" indent="-457200">
              <a:buClr>
                <a:srgbClr val="CC3300"/>
              </a:buClr>
              <a:buSzPct val="60000"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What is the %KCl in a solid if 5.1367 g of solid gives rise to 0.8246 g AgCl?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Cl</a:t>
            </a:r>
            <a:r>
              <a:rPr lang="en-US" b="0" baseline="30000">
                <a:solidFill>
                  <a:srgbClr val="CC3300"/>
                </a:solidFill>
                <a:sym typeface="Wingdings" pitchFamily="2" charset="2"/>
              </a:rPr>
              <a:t>-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	+    Ag</a:t>
            </a:r>
            <a:r>
              <a:rPr lang="en-US" b="0" baseline="30000">
                <a:solidFill>
                  <a:srgbClr val="CC3300"/>
                </a:solidFill>
                <a:sym typeface="Wingdings" pitchFamily="2" charset="2"/>
              </a:rPr>
              <a:t>+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       AgCl(s)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b="0">
              <a:solidFill>
                <a:srgbClr val="CC3300"/>
              </a:solidFill>
              <a:sym typeface="Wingdings" pitchFamily="2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5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284163" y="1189038"/>
            <a:ext cx="8766175" cy="1220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>
                <a:solidFill>
                  <a:schemeClr val="tx2"/>
                </a:solidFill>
              </a:rPr>
              <a:t>Types of Gravimetric Analysis</a:t>
            </a: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1.)</a:t>
            </a:r>
            <a:r>
              <a:rPr lang="en-US" sz="1600" b="0"/>
              <a:t>	</a:t>
            </a:r>
            <a:r>
              <a:rPr lang="en-US" u="sng">
                <a:solidFill>
                  <a:schemeClr val="accent2"/>
                </a:solidFill>
              </a:rPr>
              <a:t>Combustion Analysis</a:t>
            </a:r>
          </a:p>
          <a:p>
            <a:pPr marL="914400" lvl="1" indent="-457200"/>
            <a:r>
              <a:rPr lang="en-US" b="0"/>
              <a:t>2.)</a:t>
            </a:r>
            <a:r>
              <a:rPr lang="en-US">
                <a:solidFill>
                  <a:srgbClr val="CC3300"/>
                </a:solidFill>
              </a:rPr>
              <a:t>	</a:t>
            </a:r>
            <a:r>
              <a:rPr lang="en-US" u="sng">
                <a:solidFill>
                  <a:schemeClr val="accent2"/>
                </a:solidFill>
              </a:rPr>
              <a:t>Precipitation</a:t>
            </a:r>
            <a:endParaRPr lang="en-US" b="0" u="sng">
              <a:solidFill>
                <a:schemeClr val="accent2"/>
              </a:solidFill>
              <a:sym typeface="Wingdings" pitchFamily="2" charset="2"/>
            </a:endParaRPr>
          </a:p>
        </p:txBody>
      </p:sp>
      <p:sp>
        <p:nvSpPr>
          <p:cNvPr id="6148" name="Text Box 6"/>
          <p:cNvSpPr txBox="1">
            <a:spLocks noChangeArrowheads="1"/>
          </p:cNvSpPr>
          <p:nvPr/>
        </p:nvSpPr>
        <p:spPr bwMode="auto">
          <a:xfrm>
            <a:off x="376238" y="2782888"/>
            <a:ext cx="8634412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>
                <a:solidFill>
                  <a:schemeClr val="tx2"/>
                </a:solidFill>
              </a:rPr>
              <a:t>Combustion Analysis</a:t>
            </a: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>
              <a:buClr>
                <a:schemeClr val="tx1"/>
              </a:buClr>
              <a:buFontTx/>
              <a:buChar char="•"/>
            </a:pPr>
            <a:r>
              <a:rPr lang="en-US">
                <a:solidFill>
                  <a:srgbClr val="CC3300"/>
                </a:solidFill>
              </a:rPr>
              <a:t>Common method used to determine the amount of carbon and hydrogen </a:t>
            </a:r>
          </a:p>
          <a:p>
            <a:pPr marL="914400" lvl="1" indent="-457200">
              <a:buClr>
                <a:schemeClr val="tx1"/>
              </a:buClr>
              <a:buFontTx/>
              <a:buChar char="•"/>
            </a:pPr>
            <a:endParaRPr lang="en-US">
              <a:solidFill>
                <a:srgbClr val="CC3300"/>
              </a:solidFill>
            </a:endParaRPr>
          </a:p>
          <a:p>
            <a:pPr marL="914400" lvl="1" indent="-457200">
              <a:buClr>
                <a:schemeClr val="tx1"/>
              </a:buClr>
              <a:buFontTx/>
              <a:buChar char="•"/>
            </a:pPr>
            <a:r>
              <a:rPr lang="en-US">
                <a:solidFill>
                  <a:srgbClr val="CC3300"/>
                </a:solidFill>
              </a:rPr>
              <a:t>One modified method (</a:t>
            </a:r>
            <a:r>
              <a:rPr lang="en-US" u="sng">
                <a:solidFill>
                  <a:srgbClr val="CC3300"/>
                </a:solidFill>
              </a:rPr>
              <a:t>Dumas Method</a:t>
            </a:r>
            <a:r>
              <a:rPr lang="en-US">
                <a:solidFill>
                  <a:srgbClr val="CC3300"/>
                </a:solidFill>
              </a:rPr>
              <a:t>) can also determine the amount of nitrogen in a sample</a:t>
            </a:r>
          </a:p>
          <a:p>
            <a:pPr marL="914400" lvl="1" indent="-457200">
              <a:buClr>
                <a:schemeClr val="tx1"/>
              </a:buClr>
              <a:buFontTx/>
              <a:buChar char="•"/>
            </a:pPr>
            <a:endParaRPr lang="en-US">
              <a:solidFill>
                <a:srgbClr val="CC3300"/>
              </a:solidFill>
            </a:endParaRPr>
          </a:p>
          <a:p>
            <a:pPr marL="914400" lvl="1" indent="-457200">
              <a:buClr>
                <a:schemeClr val="tx1"/>
              </a:buClr>
              <a:buFontTx/>
              <a:buChar char="•"/>
            </a:pPr>
            <a:r>
              <a:rPr lang="en-US">
                <a:solidFill>
                  <a:srgbClr val="CC3300"/>
                </a:solidFill>
              </a:rPr>
              <a:t>Technique is accurate and usable with a wide range of compounds.</a:t>
            </a:r>
            <a:endParaRPr lang="en-US" sz="1600" b="0">
              <a:sym typeface="Wingdings" pitchFamily="2" charset="2"/>
            </a:endParaRPr>
          </a:p>
          <a:p>
            <a:pPr marL="1371600" lvl="2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ym typeface="Wingdings" pitchFamily="2" charset="2"/>
              </a:rPr>
              <a:t>Often one of the first methods used to characterize a new compound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1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284163" y="1189038"/>
            <a:ext cx="8859837" cy="419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 dirty="0">
                <a:solidFill>
                  <a:schemeClr val="tx2"/>
                </a:solidFill>
              </a:rPr>
              <a:t>Combustion Analysis</a:t>
            </a:r>
          </a:p>
          <a:p>
            <a:pPr marL="457200" indent="-457200"/>
            <a:endParaRPr lang="en-US" b="0" i="1" dirty="0">
              <a:solidFill>
                <a:schemeClr val="tx2"/>
              </a:solidFill>
            </a:endParaRPr>
          </a:p>
          <a:p>
            <a:pPr marL="914400" lvl="1" indent="-457200"/>
            <a:r>
              <a:rPr lang="en-US" b="0" dirty="0"/>
              <a:t>1.)</a:t>
            </a:r>
            <a:r>
              <a:rPr lang="en-US" sz="1600" b="0" dirty="0"/>
              <a:t>	</a:t>
            </a:r>
            <a:r>
              <a:rPr lang="en-US" dirty="0">
                <a:solidFill>
                  <a:srgbClr val="CC3300"/>
                </a:solidFill>
              </a:rPr>
              <a:t>Principals:</a:t>
            </a:r>
            <a:endParaRPr lang="en-US" b="0" dirty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(i)</a:t>
            </a:r>
            <a:r>
              <a:rPr lang="en-US" sz="1600" b="0" dirty="0">
                <a:sym typeface="Wingdings" pitchFamily="2" charset="2"/>
              </a:rPr>
              <a:t> Sample is heated in presence of Oxygen (O</a:t>
            </a:r>
            <a:r>
              <a:rPr lang="en-US" sz="1600" b="0" baseline="-25000" dirty="0">
                <a:sym typeface="Wingdings" pitchFamily="2" charset="2"/>
              </a:rPr>
              <a:t>2</a:t>
            </a:r>
            <a:r>
              <a:rPr lang="en-US" sz="1600" b="0" dirty="0">
                <a:sym typeface="Wingdings" pitchFamily="2" charset="2"/>
              </a:rPr>
              <a:t>)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Converts carbon in sample to CO</a:t>
            </a:r>
            <a:r>
              <a:rPr lang="en-US" sz="1600" b="0" baseline="-25000" dirty="0">
                <a:solidFill>
                  <a:schemeClr val="accent2"/>
                </a:solidFill>
                <a:sym typeface="Wingdings" pitchFamily="2" charset="2"/>
              </a:rPr>
              <a:t>2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Converts hydrogen in sample to H</a:t>
            </a:r>
            <a:r>
              <a:rPr lang="en-US" sz="1600" b="0" baseline="-25000" dirty="0">
                <a:solidFill>
                  <a:schemeClr val="accent2"/>
                </a:solidFill>
                <a:sym typeface="Wingdings" pitchFamily="2" charset="2"/>
              </a:rPr>
              <a:t>2</a:t>
            </a: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O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600" b="0" dirty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2000" b="0" dirty="0">
                <a:sym typeface="Wingdings" pitchFamily="2" charset="2"/>
              </a:rPr>
              <a:t>C</a:t>
            </a:r>
            <a:r>
              <a:rPr lang="en-US" sz="2000" b="0" baseline="-25000" dirty="0">
                <a:sym typeface="Wingdings" pitchFamily="2" charset="2"/>
              </a:rPr>
              <a:t>(sample)   </a:t>
            </a:r>
            <a:r>
              <a:rPr lang="en-US" sz="2000" b="0" dirty="0">
                <a:sym typeface="Wingdings" pitchFamily="2" charset="2"/>
              </a:rPr>
              <a:t>+   O</a:t>
            </a:r>
            <a:r>
              <a:rPr lang="en-US" sz="2000" b="0" baseline="-25000" dirty="0">
                <a:sym typeface="Wingdings" pitchFamily="2" charset="2"/>
              </a:rPr>
              <a:t>2</a:t>
            </a: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                          </a:t>
            </a:r>
            <a:r>
              <a:rPr lang="en-US" sz="2000" b="0" dirty="0">
                <a:sym typeface="Wingdings" pitchFamily="2" charset="2"/>
              </a:rPr>
              <a:t>CO</a:t>
            </a:r>
            <a:r>
              <a:rPr lang="en-US" sz="2000" b="0" baseline="-25000" dirty="0">
                <a:sym typeface="Wingdings" pitchFamily="2" charset="2"/>
              </a:rPr>
              <a:t>2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2000" b="0" baseline="-25000" dirty="0"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2000" b="0" baseline="-25000" dirty="0"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2000" b="0" dirty="0">
                <a:sym typeface="Wingdings" pitchFamily="2" charset="2"/>
              </a:rPr>
              <a:t>2H</a:t>
            </a:r>
            <a:r>
              <a:rPr lang="en-US" sz="2000" b="0" baseline="-25000" dirty="0">
                <a:sym typeface="Wingdings" pitchFamily="2" charset="2"/>
              </a:rPr>
              <a:t>(sample)  </a:t>
            </a:r>
            <a:r>
              <a:rPr lang="en-US" sz="2000" b="0" dirty="0">
                <a:sym typeface="Wingdings" pitchFamily="2" charset="2"/>
              </a:rPr>
              <a:t>+ </a:t>
            </a:r>
            <a:r>
              <a:rPr lang="en-US" sz="2000" dirty="0">
                <a:sym typeface="Wingdings" pitchFamily="2" charset="2"/>
              </a:rPr>
              <a:t>½</a:t>
            </a:r>
            <a:r>
              <a:rPr lang="en-US" sz="2000" b="0" dirty="0">
                <a:sym typeface="Wingdings" pitchFamily="2" charset="2"/>
              </a:rPr>
              <a:t>O</a:t>
            </a:r>
            <a:r>
              <a:rPr lang="en-US" sz="2000" b="0" baseline="-25000" dirty="0">
                <a:sym typeface="Wingdings" pitchFamily="2" charset="2"/>
              </a:rPr>
              <a:t>2		          </a:t>
            </a:r>
            <a:r>
              <a:rPr lang="en-US" sz="2000" b="0" dirty="0">
                <a:sym typeface="Wingdings" pitchFamily="2" charset="2"/>
              </a:rPr>
              <a:t>H</a:t>
            </a:r>
            <a:r>
              <a:rPr lang="en-US" sz="2000" b="0" baseline="-25000" dirty="0">
                <a:sym typeface="Wingdings" pitchFamily="2" charset="2"/>
              </a:rPr>
              <a:t>2</a:t>
            </a:r>
            <a:r>
              <a:rPr lang="en-US" sz="2000" b="0" dirty="0">
                <a:sym typeface="Wingdings" pitchFamily="2" charset="2"/>
              </a:rPr>
              <a:t>O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600" b="0" dirty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600" b="0" dirty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 dirty="0" err="1">
                <a:solidFill>
                  <a:schemeClr val="accent2"/>
                </a:solidFill>
                <a:sym typeface="Wingdings" pitchFamily="2" charset="2"/>
              </a:rPr>
              <a:t>Pt</a:t>
            </a: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, </a:t>
            </a:r>
            <a:r>
              <a:rPr lang="en-US" sz="1600" b="0" dirty="0" err="1">
                <a:solidFill>
                  <a:schemeClr val="accent2"/>
                </a:solidFill>
                <a:sym typeface="Wingdings" pitchFamily="2" charset="2"/>
              </a:rPr>
              <a:t>CuO</a:t>
            </a: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, PbO</a:t>
            </a:r>
            <a:r>
              <a:rPr lang="en-US" sz="1600" b="0" baseline="-25000" dirty="0">
                <a:solidFill>
                  <a:schemeClr val="accent2"/>
                </a:solidFill>
                <a:sym typeface="Wingdings" pitchFamily="2" charset="2"/>
              </a:rPr>
              <a:t>2</a:t>
            </a: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, or MnO</a:t>
            </a:r>
            <a:r>
              <a:rPr lang="en-US" sz="1600" b="0" baseline="-25000" dirty="0">
                <a:solidFill>
                  <a:schemeClr val="accent2"/>
                </a:solidFill>
                <a:sym typeface="Wingdings" pitchFamily="2" charset="2"/>
              </a:rPr>
              <a:t>2</a:t>
            </a: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 is used as a catalyst in this process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600" b="0" dirty="0">
              <a:solidFill>
                <a:schemeClr val="accent2"/>
              </a:solidFill>
              <a:sym typeface="Wingdings" pitchFamily="2" charset="2"/>
            </a:endParaRPr>
          </a:p>
          <a:p>
            <a:pPr marL="1371600" lvl="2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	</a:t>
            </a:r>
            <a:endParaRPr lang="en-US" sz="1400" dirty="0">
              <a:sym typeface="Wingdings" pitchFamily="2" charset="2"/>
            </a:endParaRPr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7172" name="Line 6"/>
          <p:cNvSpPr>
            <a:spLocks noChangeShapeType="1"/>
          </p:cNvSpPr>
          <p:nvPr/>
        </p:nvSpPr>
        <p:spPr bwMode="auto">
          <a:xfrm>
            <a:off x="3962400" y="3205163"/>
            <a:ext cx="7318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3" name="Line 7"/>
          <p:cNvSpPr>
            <a:spLocks noChangeShapeType="1"/>
          </p:cNvSpPr>
          <p:nvPr/>
        </p:nvSpPr>
        <p:spPr bwMode="auto">
          <a:xfrm>
            <a:off x="4333875" y="3938588"/>
            <a:ext cx="7318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4025900" y="2808288"/>
            <a:ext cx="33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Symbol" pitchFamily="18" charset="2"/>
              </a:rPr>
              <a:t>D</a:t>
            </a:r>
          </a:p>
        </p:txBody>
      </p:sp>
      <p:sp>
        <p:nvSpPr>
          <p:cNvPr id="7175" name="Text Box 9"/>
          <p:cNvSpPr txBox="1">
            <a:spLocks noChangeArrowheads="1"/>
          </p:cNvSpPr>
          <p:nvPr/>
        </p:nvSpPr>
        <p:spPr bwMode="auto">
          <a:xfrm>
            <a:off x="4494213" y="3600450"/>
            <a:ext cx="33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Symbol" pitchFamily="18" charset="2"/>
              </a:rPr>
              <a:t>D</a:t>
            </a:r>
          </a:p>
        </p:txBody>
      </p:sp>
      <p:sp>
        <p:nvSpPr>
          <p:cNvPr id="7176" name="Text Box 10"/>
          <p:cNvSpPr txBox="1">
            <a:spLocks noChangeArrowheads="1"/>
          </p:cNvSpPr>
          <p:nvPr/>
        </p:nvSpPr>
        <p:spPr bwMode="auto">
          <a:xfrm>
            <a:off x="4025900" y="3233738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 dirty="0" err="1"/>
              <a:t>Pt</a:t>
            </a:r>
            <a:endParaRPr lang="en-US" b="0" dirty="0"/>
          </a:p>
        </p:txBody>
      </p:sp>
      <p:sp>
        <p:nvSpPr>
          <p:cNvPr id="7177" name="Text Box 11"/>
          <p:cNvSpPr txBox="1">
            <a:spLocks noChangeArrowheads="1"/>
          </p:cNvSpPr>
          <p:nvPr/>
        </p:nvSpPr>
        <p:spPr bwMode="auto">
          <a:xfrm>
            <a:off x="4425950" y="3890963"/>
            <a:ext cx="40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/>
              <a:t>Pt</a:t>
            </a:r>
          </a:p>
        </p:txBody>
      </p:sp>
      <p:sp>
        <p:nvSpPr>
          <p:cNvPr id="7179" name="Rectangle 13"/>
          <p:cNvSpPr>
            <a:spLocks noChangeArrowheads="1"/>
          </p:cNvSpPr>
          <p:nvPr/>
        </p:nvSpPr>
        <p:spPr bwMode="auto">
          <a:xfrm>
            <a:off x="352425" y="6046788"/>
            <a:ext cx="9144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 err="1"/>
              <a:t>Ascarite</a:t>
            </a:r>
            <a:endParaRPr lang="en-US" sz="1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0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052411" y="1143000"/>
            <a:ext cx="4041775" cy="3951288"/>
          </a:xfrm>
        </p:spPr>
        <p:txBody>
          <a:bodyPr>
            <a:normAutofit fontScale="85000" lnSpcReduction="20000"/>
          </a:bodyPr>
          <a:lstStyle/>
          <a:p>
            <a:pPr marL="571500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dirty="0">
                <a:solidFill>
                  <a:schemeClr val="accent2"/>
                </a:solidFill>
                <a:sym typeface="Wingdings" pitchFamily="2" charset="2"/>
              </a:rPr>
              <a:t>(ii)  </a:t>
            </a:r>
            <a:r>
              <a:rPr lang="en-US" dirty="0">
                <a:sym typeface="Wingdings" pitchFamily="2" charset="2"/>
              </a:rPr>
              <a:t>As CO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and H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O form, leave the sample and flow through a series of 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chambers</a:t>
            </a:r>
          </a:p>
          <a:p>
            <a:pPr marL="571500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dirty="0">
                <a:solidFill>
                  <a:schemeClr val="accent2"/>
                </a:solidFill>
                <a:sym typeface="Wingdings" pitchFamily="2" charset="2"/>
              </a:rPr>
              <a:t>Chambers contain chemicals that bind one or both of these products</a:t>
            </a:r>
          </a:p>
          <a:p>
            <a:pPr marL="571500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dirty="0">
                <a:solidFill>
                  <a:schemeClr val="accent2"/>
                </a:solidFill>
                <a:sym typeface="Wingdings" pitchFamily="2" charset="2"/>
              </a:rPr>
              <a:t>Example:</a:t>
            </a:r>
          </a:p>
          <a:p>
            <a:pPr marL="571500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dirty="0">
                <a:solidFill>
                  <a:schemeClr val="accent2"/>
                </a:solidFill>
                <a:sym typeface="Wingdings" pitchFamily="2" charset="2"/>
              </a:rPr>
              <a:t>	</a:t>
            </a:r>
            <a:r>
              <a:rPr lang="en-US" dirty="0">
                <a:solidFill>
                  <a:srgbClr val="CC3300"/>
                </a:solidFill>
                <a:sym typeface="Wingdings" pitchFamily="2" charset="2"/>
              </a:rPr>
              <a:t>- P</a:t>
            </a:r>
            <a:r>
              <a:rPr lang="en-US" baseline="-25000" dirty="0">
                <a:solidFill>
                  <a:srgbClr val="CC3300"/>
                </a:solidFill>
                <a:sym typeface="Wingdings" pitchFamily="2" charset="2"/>
              </a:rPr>
              <a:t>4</a:t>
            </a:r>
            <a:r>
              <a:rPr lang="en-US" dirty="0">
                <a:solidFill>
                  <a:srgbClr val="CC3300"/>
                </a:solidFill>
                <a:sym typeface="Wingdings" pitchFamily="2" charset="2"/>
              </a:rPr>
              <a:t>O</a:t>
            </a:r>
            <a:r>
              <a:rPr lang="en-US" baseline="-25000" dirty="0">
                <a:solidFill>
                  <a:srgbClr val="CC3300"/>
                </a:solidFill>
                <a:sym typeface="Wingdings" pitchFamily="2" charset="2"/>
              </a:rPr>
              <a:t>10</a:t>
            </a:r>
            <a:r>
              <a:rPr lang="en-US" dirty="0">
                <a:solidFill>
                  <a:srgbClr val="CC3300"/>
                </a:solidFill>
                <a:sym typeface="Wingdings" pitchFamily="2" charset="2"/>
              </a:rPr>
              <a:t> can be used to absorb H</a:t>
            </a:r>
            <a:r>
              <a:rPr lang="en-US" baseline="-25000" dirty="0">
                <a:solidFill>
                  <a:srgbClr val="CC3300"/>
                </a:solidFill>
                <a:sym typeface="Wingdings" pitchFamily="2" charset="2"/>
              </a:rPr>
              <a:t>2</a:t>
            </a:r>
            <a:r>
              <a:rPr lang="en-US" dirty="0">
                <a:solidFill>
                  <a:srgbClr val="CC3300"/>
                </a:solidFill>
                <a:sym typeface="Wingdings" pitchFamily="2" charset="2"/>
              </a:rPr>
              <a:t>O</a:t>
            </a:r>
          </a:p>
          <a:p>
            <a:pPr marL="571500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  <a:sym typeface="Wingdings" pitchFamily="2" charset="2"/>
              </a:rPr>
              <a:t>	- </a:t>
            </a:r>
            <a:r>
              <a:rPr lang="en-US" dirty="0" err="1">
                <a:solidFill>
                  <a:srgbClr val="CC3300"/>
                </a:solidFill>
                <a:sym typeface="Wingdings" pitchFamily="2" charset="2"/>
              </a:rPr>
              <a:t>Ascarite</a:t>
            </a:r>
            <a:r>
              <a:rPr lang="en-US" dirty="0">
                <a:solidFill>
                  <a:srgbClr val="CC3300"/>
                </a:solidFill>
                <a:sym typeface="Wingdings" pitchFamily="2" charset="2"/>
              </a:rPr>
              <a:t> can be used to absorb CO</a:t>
            </a:r>
            <a:r>
              <a:rPr lang="en-US" baseline="-25000" dirty="0">
                <a:solidFill>
                  <a:srgbClr val="CC3300"/>
                </a:solidFill>
                <a:sym typeface="Wingdings" pitchFamily="2" charset="2"/>
              </a:rPr>
              <a:t>2 </a:t>
            </a:r>
            <a:endParaRPr lang="en-US" dirty="0">
              <a:sym typeface="Wingdings" pitchFamily="2" charset="2"/>
            </a:endParaRPr>
          </a:p>
          <a:p>
            <a:pPr marL="571500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  <a:sym typeface="Wingdings" pitchFamily="2" charset="2"/>
              </a:rPr>
              <a:t>	- </a:t>
            </a:r>
            <a:r>
              <a:rPr lang="en-US" dirty="0" err="1">
                <a:solidFill>
                  <a:srgbClr val="CC3300"/>
                </a:solidFill>
                <a:sym typeface="Wingdings" pitchFamily="2" charset="2"/>
              </a:rPr>
              <a:t>Ascarite</a:t>
            </a:r>
            <a:r>
              <a:rPr lang="en-US" dirty="0">
                <a:solidFill>
                  <a:srgbClr val="CC3300"/>
                </a:solidFill>
                <a:sym typeface="Wingdings" pitchFamily="2" charset="2"/>
              </a:rPr>
              <a:t> - Sodium Hydroxide Coated Non-Fibrous Silicate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12" descr="ltn_columns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l="47812" r="25313"/>
          <a:stretch>
            <a:fillRect/>
          </a:stretch>
        </p:blipFill>
        <p:spPr bwMode="auto">
          <a:xfrm>
            <a:off x="1447800" y="1239044"/>
            <a:ext cx="873760" cy="375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1167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284163" y="1189038"/>
            <a:ext cx="8859837" cy="514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>
                <a:solidFill>
                  <a:schemeClr val="tx2"/>
                </a:solidFill>
              </a:rPr>
              <a:t>Combustion Analysis</a:t>
            </a: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2.)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Apparatus: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(i)</a:t>
            </a:r>
            <a:r>
              <a:rPr lang="en-US" sz="1600" b="0">
                <a:sym typeface="Wingdings" pitchFamily="2" charset="2"/>
              </a:rPr>
              <a:t> After the sample is completely burned: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Remove P</a:t>
            </a:r>
            <a:r>
              <a:rPr lang="en-US" sz="1600" b="0" baseline="-25000">
                <a:solidFill>
                  <a:schemeClr val="accent2"/>
                </a:solidFill>
                <a:sym typeface="Wingdings" pitchFamily="2" charset="2"/>
              </a:rPr>
              <a:t>4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O</a:t>
            </a:r>
            <a:r>
              <a:rPr lang="en-US" sz="1600" b="0" baseline="-25000">
                <a:solidFill>
                  <a:schemeClr val="accent2"/>
                </a:solidFill>
                <a:sym typeface="Wingdings" pitchFamily="2" charset="2"/>
              </a:rPr>
              <a:t>10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and Ascarite cartridges and weigh</a:t>
            </a:r>
            <a:endParaRPr lang="en-US" sz="1600" b="0" baseline="-2500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If C and H are present in sample, both cartridges will increase in mass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371600" lvl="2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(ii)  </a:t>
            </a:r>
            <a:r>
              <a:rPr lang="en-US" sz="1600" b="0">
                <a:sym typeface="Wingdings" pitchFamily="2" charset="2"/>
              </a:rPr>
              <a:t>Amount of C and H in the original sample is determined from: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Knowing the amount of sample burned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Change in weight in each cartridge</a:t>
            </a:r>
            <a:endParaRPr lang="en-US" sz="1400">
              <a:sym typeface="Wingdings" pitchFamily="2" charset="2"/>
            </a:endParaRPr>
          </a:p>
        </p:txBody>
      </p:sp>
      <p:pic>
        <p:nvPicPr>
          <p:cNvPr id="8196" name="Picture 6" descr="grav-ap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8175" y="2189163"/>
            <a:ext cx="6097588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5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/>
          <p:cNvSpPr txBox="1">
            <a:spLocks noChangeArrowheads="1"/>
          </p:cNvSpPr>
          <p:nvPr/>
        </p:nvSpPr>
        <p:spPr bwMode="auto">
          <a:xfrm>
            <a:off x="284163" y="1189038"/>
            <a:ext cx="8859837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>
                <a:solidFill>
                  <a:schemeClr val="tx2"/>
                </a:solidFill>
              </a:rPr>
              <a:t>Precipitation Analysis</a:t>
            </a: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1.)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Principals: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(i)</a:t>
            </a:r>
            <a:r>
              <a:rPr lang="en-US" sz="1600" b="0">
                <a:sym typeface="Wingdings" pitchFamily="2" charset="2"/>
              </a:rPr>
              <a:t> 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ym typeface="Wingdings" pitchFamily="2" charset="2"/>
              </a:rPr>
              <a:t>Reagent  +  Analyte 		Solid Product   </a:t>
            </a:r>
            <a:r>
              <a:rPr lang="en-US" sz="1600" b="0">
                <a:solidFill>
                  <a:srgbClr val="CC3300"/>
                </a:solidFill>
                <a:sym typeface="Wingdings" pitchFamily="2" charset="2"/>
              </a:rPr>
              <a:t>(collect and measure mass)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rgbClr val="CC3300"/>
              </a:solidFill>
              <a:sym typeface="Wingdings" pitchFamily="2" charset="2"/>
            </a:endParaRPr>
          </a:p>
          <a:p>
            <a:pPr marL="1371600" lvl="2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(ii)  </a:t>
            </a:r>
            <a:r>
              <a:rPr lang="en-US" sz="1600" b="0">
                <a:sym typeface="Wingdings" pitchFamily="2" charset="2"/>
              </a:rPr>
              <a:t>Desired Properties of Solid Product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Should be very insoluble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Easily filterable (i.e., large crystals)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Very Pure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Known and constant composition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</a:t>
            </a:r>
            <a:endParaRPr lang="en-US" sz="1400">
              <a:sym typeface="Wingdings" pitchFamily="2" charset="2"/>
            </a:endParaRPr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0244" name="Line 6"/>
          <p:cNvSpPr>
            <a:spLocks noChangeShapeType="1"/>
          </p:cNvSpPr>
          <p:nvPr/>
        </p:nvSpPr>
        <p:spPr bwMode="auto">
          <a:xfrm>
            <a:off x="3902075" y="2720975"/>
            <a:ext cx="7318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1370013" y="6097588"/>
            <a:ext cx="71231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/>
              <a:t>Few precipitates have all of these properties, but in most cases appropriate techniques can help optimize these qualities</a:t>
            </a:r>
          </a:p>
        </p:txBody>
      </p:sp>
      <p:pic>
        <p:nvPicPr>
          <p:cNvPr id="10246" name="Picture 8" descr="cr13"/>
          <p:cNvPicPr>
            <a:picLocks noChangeAspect="1" noChangeArrowheads="1"/>
          </p:cNvPicPr>
          <p:nvPr/>
        </p:nvPicPr>
        <p:blipFill>
          <a:blip r:embed="rId2"/>
          <a:srcRect l="26743" t="16800" r="12343" b="28799"/>
          <a:stretch>
            <a:fillRect/>
          </a:stretch>
        </p:blipFill>
        <p:spPr bwMode="auto">
          <a:xfrm>
            <a:off x="441325" y="4348163"/>
            <a:ext cx="2020888" cy="154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Picture 9" descr="cr14"/>
          <p:cNvPicPr>
            <a:picLocks noChangeAspect="1" noChangeArrowheads="1"/>
          </p:cNvPicPr>
          <p:nvPr/>
        </p:nvPicPr>
        <p:blipFill>
          <a:blip r:embed="rId3"/>
          <a:srcRect l="18515" t="24001" r="18515" b="28799"/>
          <a:stretch>
            <a:fillRect/>
          </a:stretch>
        </p:blipFill>
        <p:spPr bwMode="auto">
          <a:xfrm>
            <a:off x="6496050" y="4356100"/>
            <a:ext cx="2376488" cy="152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8" name="Picture 10" descr="mic2"/>
          <p:cNvPicPr>
            <a:picLocks noChangeAspect="1" noChangeArrowheads="1"/>
          </p:cNvPicPr>
          <p:nvPr/>
        </p:nvPicPr>
        <p:blipFill>
          <a:blip r:embed="rId4"/>
          <a:srcRect r="3429" b="7272"/>
          <a:stretch>
            <a:fillRect/>
          </a:stretch>
        </p:blipFill>
        <p:spPr bwMode="auto">
          <a:xfrm>
            <a:off x="3441700" y="4518025"/>
            <a:ext cx="2574925" cy="116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1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1267" name="Text Box 5"/>
          <p:cNvSpPr txBox="1">
            <a:spLocks noChangeArrowheads="1"/>
          </p:cNvSpPr>
          <p:nvPr/>
        </p:nvSpPr>
        <p:spPr bwMode="auto">
          <a:xfrm>
            <a:off x="284163" y="1189038"/>
            <a:ext cx="8859837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>
                <a:solidFill>
                  <a:schemeClr val="tx2"/>
                </a:solidFill>
              </a:rPr>
              <a:t>Precipitation Analysis</a:t>
            </a: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2.)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Solubility: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(i)</a:t>
            </a:r>
            <a:r>
              <a:rPr lang="en-US" sz="1600" b="0">
                <a:sym typeface="Wingdings" pitchFamily="2" charset="2"/>
              </a:rPr>
              <a:t> The solubility of a precipitate can be decreased by: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Decreasing temperature of solution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Using a different solvent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- </a:t>
            </a:r>
            <a:r>
              <a:rPr lang="en-US" sz="1600" b="0">
                <a:solidFill>
                  <a:srgbClr val="CC3300"/>
                </a:solidFill>
                <a:sym typeface="Wingdings" pitchFamily="2" charset="2"/>
              </a:rPr>
              <a:t>usually a less polar or organic solvent (</a:t>
            </a:r>
            <a:r>
              <a:rPr lang="en-US" sz="1600" b="0" i="1">
                <a:solidFill>
                  <a:srgbClr val="CC3300"/>
                </a:solidFill>
                <a:sym typeface="Wingdings" pitchFamily="2" charset="2"/>
              </a:rPr>
              <a:t>like dissolves like</a:t>
            </a:r>
            <a:r>
              <a:rPr lang="en-US" sz="1600" b="0">
                <a:solidFill>
                  <a:srgbClr val="CC3300"/>
                </a:solidFill>
                <a:sym typeface="Wingdings" pitchFamily="2" charset="2"/>
              </a:rPr>
              <a:t>) 	</a:t>
            </a:r>
            <a:endParaRPr lang="en-US" sz="1400">
              <a:solidFill>
                <a:srgbClr val="CC3300"/>
              </a:solidFill>
              <a:sym typeface="Wingdings" pitchFamily="2" charset="2"/>
            </a:endParaRPr>
          </a:p>
        </p:txBody>
      </p:sp>
      <p:pic>
        <p:nvPicPr>
          <p:cNvPr id="11268" name="Picture 8" descr="sol-p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50" y="3959225"/>
            <a:ext cx="3043238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9" descr="sol-common-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1025" y="3960813"/>
            <a:ext cx="3043238" cy="228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10" descr="171solublesalts"/>
          <p:cNvPicPr>
            <a:picLocks noChangeAspect="1" noChangeArrowheads="1"/>
          </p:cNvPicPr>
          <p:nvPr/>
        </p:nvPicPr>
        <p:blipFill>
          <a:blip r:embed="rId4"/>
          <a:srcRect t="13446" r="2823" b="8067"/>
          <a:stretch>
            <a:fillRect/>
          </a:stretch>
        </p:blipFill>
        <p:spPr bwMode="auto">
          <a:xfrm>
            <a:off x="6300788" y="3946525"/>
            <a:ext cx="2843212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1" name="Rectangle 11"/>
          <p:cNvSpPr>
            <a:spLocks noChangeArrowheads="1"/>
          </p:cNvSpPr>
          <p:nvPr/>
        </p:nvSpPr>
        <p:spPr bwMode="auto">
          <a:xfrm>
            <a:off x="696913" y="3614738"/>
            <a:ext cx="159226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Solubility vs. pH</a:t>
            </a:r>
          </a:p>
        </p:txBody>
      </p:sp>
      <p:sp>
        <p:nvSpPr>
          <p:cNvPr id="11272" name="Rectangle 12"/>
          <p:cNvSpPr>
            <a:spLocks noChangeArrowheads="1"/>
          </p:cNvSpPr>
          <p:nvPr/>
        </p:nvSpPr>
        <p:spPr bwMode="auto">
          <a:xfrm>
            <a:off x="6472238" y="3595688"/>
            <a:ext cx="244316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Solubility vs. Temperature</a:t>
            </a:r>
          </a:p>
        </p:txBody>
      </p:sp>
      <p:sp>
        <p:nvSpPr>
          <p:cNvPr id="11273" name="Rectangle 13"/>
          <p:cNvSpPr>
            <a:spLocks noChangeArrowheads="1"/>
          </p:cNvSpPr>
          <p:nvPr/>
        </p:nvSpPr>
        <p:spPr bwMode="auto">
          <a:xfrm>
            <a:off x="3130550" y="3627438"/>
            <a:ext cx="3000375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Solubility vs. Common Ion Effect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5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032" name="Text Box 6"/>
          <p:cNvSpPr txBox="1">
            <a:spLocks noChangeArrowheads="1"/>
          </p:cNvSpPr>
          <p:nvPr/>
        </p:nvSpPr>
        <p:spPr bwMode="auto">
          <a:xfrm>
            <a:off x="284163" y="1189038"/>
            <a:ext cx="8507412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b="0" i="1">
                <a:solidFill>
                  <a:schemeClr val="tx2"/>
                </a:solidFill>
              </a:rPr>
              <a:t>Precipitation Analysis</a:t>
            </a:r>
            <a:endParaRPr lang="en-US" sz="2000" b="0" i="1">
              <a:solidFill>
                <a:schemeClr val="tx2"/>
              </a:solidFill>
            </a:endParaRP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3.)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Gravimetric Analysis: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(i)</a:t>
            </a:r>
            <a:r>
              <a:rPr lang="en-US" sz="1600" b="0">
                <a:sym typeface="Wingdings" pitchFamily="2" charset="2"/>
              </a:rPr>
              <a:t> Governed by equilibrium: AgCl K</a:t>
            </a:r>
            <a:r>
              <a:rPr lang="en-US" sz="1600" b="0" baseline="-25000">
                <a:sym typeface="Wingdings" pitchFamily="2" charset="2"/>
              </a:rPr>
              <a:t>sp</a:t>
            </a:r>
            <a:r>
              <a:rPr lang="en-US" sz="1600" b="0">
                <a:sym typeface="Wingdings" pitchFamily="2" charset="2"/>
              </a:rPr>
              <a:t> = 1.8 x 10</a:t>
            </a:r>
            <a:r>
              <a:rPr lang="en-US" sz="1600" b="0" baseline="30000">
                <a:sym typeface="Wingdings" pitchFamily="2" charset="2"/>
              </a:rPr>
              <a:t>-10</a:t>
            </a:r>
            <a:r>
              <a:rPr lang="en-US">
                <a:sym typeface="Wingdings" pitchFamily="2" charset="2"/>
              </a:rPr>
              <a:t> </a:t>
            </a:r>
            <a:endParaRPr lang="en-US" sz="1600" b="0"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b="0">
                <a:solidFill>
                  <a:schemeClr val="accent2"/>
                </a:solidFill>
              </a:rPr>
              <a:t>Solubility of AgCl = [Ag</a:t>
            </a:r>
            <a:r>
              <a:rPr lang="en-US" b="0" baseline="30000">
                <a:solidFill>
                  <a:schemeClr val="accent2"/>
                </a:solidFill>
              </a:rPr>
              <a:t>+</a:t>
            </a:r>
            <a:r>
              <a:rPr lang="en-US" b="0">
                <a:solidFill>
                  <a:schemeClr val="accent2"/>
                </a:solidFill>
              </a:rPr>
              <a:t>] + [AgCl]  +  [AgCl</a:t>
            </a:r>
            <a:r>
              <a:rPr lang="en-US" b="0" baseline="30000">
                <a:solidFill>
                  <a:schemeClr val="accent2"/>
                </a:solidFill>
              </a:rPr>
              <a:t>2-</a:t>
            </a:r>
            <a:r>
              <a:rPr lang="en-US" b="0">
                <a:solidFill>
                  <a:schemeClr val="accent2"/>
                </a:solidFill>
              </a:rPr>
              <a:t>]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b="0">
              <a:solidFill>
                <a:srgbClr val="CC3300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Cl</a:t>
            </a:r>
            <a:r>
              <a:rPr lang="en-US" b="0" baseline="30000">
                <a:solidFill>
                  <a:srgbClr val="CC3300"/>
                </a:solidFill>
                <a:sym typeface="Wingdings" pitchFamily="2" charset="2"/>
              </a:rPr>
              <a:t>-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	+    Ag</a:t>
            </a:r>
            <a:r>
              <a:rPr lang="en-US" b="0" baseline="30000">
                <a:solidFill>
                  <a:srgbClr val="CC3300"/>
                </a:solidFill>
                <a:sym typeface="Wingdings" pitchFamily="2" charset="2"/>
              </a:rPr>
              <a:t>+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       AgCl(ag) 	ion pair formation</a:t>
            </a:r>
            <a:endParaRPr lang="en-US"/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/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b="0">
                <a:solidFill>
                  <a:srgbClr val="CC3300"/>
                </a:solidFill>
              </a:rPr>
              <a:t>AgCl(aq)       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     AgCl(s)	intrinsic solubility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b="0">
              <a:solidFill>
                <a:srgbClr val="CC3300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b="0">
              <a:solidFill>
                <a:srgbClr val="CC3300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AgCl  +Cl</a:t>
            </a:r>
            <a:r>
              <a:rPr lang="en-US" b="0" baseline="30000">
                <a:solidFill>
                  <a:srgbClr val="CC3300"/>
                </a:solidFill>
                <a:sym typeface="Wingdings" pitchFamily="2" charset="2"/>
              </a:rPr>
              <a:t>-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          AgCl</a:t>
            </a:r>
            <a:r>
              <a:rPr lang="en-US" b="0" baseline="30000">
                <a:solidFill>
                  <a:srgbClr val="CC3300"/>
                </a:solidFill>
                <a:sym typeface="Wingdings" pitchFamily="2" charset="2"/>
              </a:rPr>
              <a:t>2-</a:t>
            </a:r>
            <a:r>
              <a:rPr lang="en-US" b="0">
                <a:solidFill>
                  <a:srgbClr val="CC3300"/>
                </a:solidFill>
                <a:sym typeface="Wingdings" pitchFamily="2" charset="2"/>
              </a:rPr>
              <a:t>	complex ion formation	</a:t>
            </a:r>
            <a:r>
              <a:rPr lang="en-US">
                <a:sym typeface="Wingdings" pitchFamily="2" charset="2"/>
              </a:rPr>
              <a:t>	</a:t>
            </a:r>
            <a:endParaRPr lang="en-US" b="0" baseline="-25000">
              <a:solidFill>
                <a:srgbClr val="CC3300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b="0">
              <a:solidFill>
                <a:srgbClr val="CC3300"/>
              </a:solidFill>
              <a:sym typeface="Wingdings" pitchFamily="2" charset="2"/>
            </a:endParaRPr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7405688" y="2946400"/>
          <a:ext cx="1333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066680" imgH="431640" progId="Equation.3">
                  <p:embed/>
                </p:oleObj>
              </mc:Choice>
              <mc:Fallback>
                <p:oleObj name="Equation" r:id="rId3" imgW="1066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688" y="2946400"/>
                        <a:ext cx="1333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8"/>
          <p:cNvGraphicFramePr>
            <a:graphicFrameLocks noChangeAspect="1"/>
          </p:cNvGraphicFramePr>
          <p:nvPr/>
        </p:nvGraphicFramePr>
        <p:xfrm>
          <a:off x="7416800" y="3938588"/>
          <a:ext cx="10001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799920" imgH="228600" progId="Equation.3">
                  <p:embed/>
                </p:oleObj>
              </mc:Choice>
              <mc:Fallback>
                <p:oleObj name="Equation" r:id="rId5" imgW="7999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3938588"/>
                        <a:ext cx="10001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9"/>
          <p:cNvGraphicFramePr>
            <a:graphicFrameLocks noChangeAspect="1"/>
          </p:cNvGraphicFramePr>
          <p:nvPr/>
        </p:nvGraphicFramePr>
        <p:xfrm>
          <a:off x="7377113" y="4613275"/>
          <a:ext cx="14605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1168200" imgH="444240" progId="Equation.3">
                  <p:embed/>
                </p:oleObj>
              </mc:Choice>
              <mc:Fallback>
                <p:oleObj name="Equation" r:id="rId7" imgW="1168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7113" y="4613275"/>
                        <a:ext cx="14605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10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9" imgW="914400" imgH="215640" progId="Equation.3">
                  <p:embed/>
                </p:oleObj>
              </mc:Choice>
              <mc:Fallback>
                <p:oleObj name="Equation" r:id="rId9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11"/>
          <p:cNvGraphicFramePr>
            <a:graphicFrameLocks noChangeAspect="1"/>
          </p:cNvGraphicFramePr>
          <p:nvPr/>
        </p:nvGraphicFramePr>
        <p:xfrm>
          <a:off x="1695450" y="5572125"/>
          <a:ext cx="63690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1" imgW="3911400" imgH="444240" progId="Equation.3">
                  <p:embed/>
                </p:oleObj>
              </mc:Choice>
              <mc:Fallback>
                <p:oleObj name="Equation" r:id="rId11" imgW="3911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5572125"/>
                        <a:ext cx="636905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6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284163" y="1189038"/>
            <a:ext cx="8859837" cy="514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000" b="0" i="1" dirty="0">
                <a:solidFill>
                  <a:schemeClr val="tx2"/>
                </a:solidFill>
              </a:rPr>
              <a:t>Precipitation Analysis</a:t>
            </a:r>
          </a:p>
          <a:p>
            <a:pPr marL="457200" indent="-457200"/>
            <a:endParaRPr lang="en-US" b="0" i="1" dirty="0">
              <a:solidFill>
                <a:schemeClr val="tx2"/>
              </a:solidFill>
            </a:endParaRPr>
          </a:p>
          <a:p>
            <a:pPr marL="914400" lvl="1" indent="-457200"/>
            <a:r>
              <a:rPr lang="en-US" b="0" dirty="0"/>
              <a:t>4.)</a:t>
            </a:r>
            <a:r>
              <a:rPr lang="en-US" sz="1600" b="0" dirty="0"/>
              <a:t>	</a:t>
            </a:r>
            <a:r>
              <a:rPr lang="en-US" dirty="0">
                <a:solidFill>
                  <a:srgbClr val="CC3300"/>
                </a:solidFill>
              </a:rPr>
              <a:t>Filterability:</a:t>
            </a:r>
            <a:endParaRPr lang="en-US" b="0" dirty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(</a:t>
            </a:r>
            <a:r>
              <a:rPr lang="en-US" sz="1600" b="0" dirty="0" err="1">
                <a:solidFill>
                  <a:schemeClr val="accent2"/>
                </a:solidFill>
                <a:sym typeface="Wingdings" pitchFamily="2" charset="2"/>
              </a:rPr>
              <a:t>i</a:t>
            </a: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)</a:t>
            </a:r>
            <a:r>
              <a:rPr lang="en-US" sz="1600" b="0" dirty="0">
                <a:sym typeface="Wingdings" pitchFamily="2" charset="2"/>
              </a:rPr>
              <a:t> Want product to be large enough to collect on filter: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Doesn’t clog filter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Doesn’t pass through filter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600" b="0" dirty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(ii) </a:t>
            </a:r>
            <a:r>
              <a:rPr lang="en-US" sz="1600" b="0" dirty="0">
                <a:sym typeface="Wingdings" pitchFamily="2" charset="2"/>
              </a:rPr>
              <a:t>Best Case: </a:t>
            </a:r>
            <a:r>
              <a:rPr lang="en-US" sz="1600" b="0" u="sng" dirty="0">
                <a:sym typeface="Wingdings" pitchFamily="2" charset="2"/>
              </a:rPr>
              <a:t>Pure Crystals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 u="sng" dirty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 u="sng" dirty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 u="sng" dirty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 u="sng" dirty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 u="sng" dirty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 u="sng" dirty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 u="sng" dirty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 u="sng" dirty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 dirty="0">
                <a:sym typeface="Wingdings" pitchFamily="2" charset="2"/>
              </a:rPr>
              <a:t> (</a:t>
            </a: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iii</a:t>
            </a:r>
            <a:r>
              <a:rPr lang="en-US" sz="1600" b="0" dirty="0">
                <a:sym typeface="Wingdings" pitchFamily="2" charset="2"/>
              </a:rPr>
              <a:t>) Worst Case: </a:t>
            </a:r>
            <a:r>
              <a:rPr lang="en-US" sz="1600" b="0" u="sng" dirty="0">
                <a:sym typeface="Wingdings" pitchFamily="2" charset="2"/>
              </a:rPr>
              <a:t>Colloidal suspension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Difficult to filter due to small size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 dirty="0">
                <a:solidFill>
                  <a:schemeClr val="accent2"/>
                </a:solidFill>
                <a:sym typeface="Wingdings" pitchFamily="2" charset="2"/>
              </a:rPr>
              <a:t>Tend to stay in solution indefinitely  suspended by Brownian motion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 dirty="0">
                <a:solidFill>
                  <a:srgbClr val="CC3300"/>
                </a:solidFill>
                <a:sym typeface="Wingdings" pitchFamily="2" charset="2"/>
              </a:rPr>
              <a:t>	</a:t>
            </a:r>
            <a:r>
              <a:rPr lang="en-US" sz="1400" dirty="0">
                <a:solidFill>
                  <a:srgbClr val="CC3300"/>
                </a:solidFill>
                <a:sym typeface="Wingdings" pitchFamily="2" charset="2"/>
              </a:rPr>
              <a:t>- usually 1-100 nm in size</a:t>
            </a:r>
            <a:r>
              <a:rPr lang="en-US" sz="1600" b="0" dirty="0">
                <a:solidFill>
                  <a:srgbClr val="CC3300"/>
                </a:solidFill>
                <a:sym typeface="Wingdings" pitchFamily="2" charset="2"/>
              </a:rPr>
              <a:t>	</a:t>
            </a:r>
            <a:endParaRPr lang="en-US" sz="1400" dirty="0">
              <a:solidFill>
                <a:srgbClr val="CC3300"/>
              </a:solidFill>
              <a:sym typeface="Wingdings" pitchFamily="2" charset="2"/>
            </a:endParaRP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111125" y="6367463"/>
            <a:ext cx="8896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i="1"/>
              <a:t>Whether crystals or colloids are obtained depends on conditions used in the precipitation</a:t>
            </a:r>
          </a:p>
        </p:txBody>
      </p:sp>
      <p:pic>
        <p:nvPicPr>
          <p:cNvPr id="12293" name="Picture 7" descr="brownian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813" y="4909161"/>
            <a:ext cx="1219200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Rectangle 8"/>
          <p:cNvSpPr>
            <a:spLocks noChangeArrowheads="1"/>
          </p:cNvSpPr>
          <p:nvPr/>
        </p:nvSpPr>
        <p:spPr bwMode="auto">
          <a:xfrm>
            <a:off x="173038" y="5849938"/>
            <a:ext cx="1635125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Brownian Motion</a:t>
            </a:r>
          </a:p>
        </p:txBody>
      </p:sp>
      <p:pic>
        <p:nvPicPr>
          <p:cNvPr id="12295" name="Picture 14" descr="200px-Zinc_chloride"/>
          <p:cNvPicPr>
            <a:picLocks noChangeAspect="1" noChangeArrowheads="1"/>
          </p:cNvPicPr>
          <p:nvPr/>
        </p:nvPicPr>
        <p:blipFill>
          <a:blip r:embed="rId4"/>
          <a:srcRect l="17999" t="20572" r="21600" b="24686"/>
          <a:stretch>
            <a:fillRect/>
          </a:stretch>
        </p:blipFill>
        <p:spPr bwMode="auto">
          <a:xfrm>
            <a:off x="2682875" y="3398838"/>
            <a:ext cx="2008188" cy="159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6" name="Picture 15" descr="pour-r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53200" y="2492375"/>
            <a:ext cx="2236788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3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717550" y="1189038"/>
            <a:ext cx="8343900" cy="394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b="0" i="1">
                <a:solidFill>
                  <a:schemeClr val="tx2"/>
                </a:solidFill>
              </a:rPr>
              <a:t>Precipitation Analysis</a:t>
            </a:r>
            <a:endParaRPr lang="en-US" sz="2000" b="0" i="1">
              <a:solidFill>
                <a:schemeClr val="tx2"/>
              </a:solidFill>
            </a:endParaRP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5.)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Process of Crystal Growth: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(i)</a:t>
            </a:r>
            <a:r>
              <a:rPr lang="en-US" sz="1600" b="0">
                <a:sym typeface="Wingdings" pitchFamily="2" charset="2"/>
              </a:rPr>
              <a:t> Two Phases in Crystal Growth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 u="sng">
                <a:solidFill>
                  <a:schemeClr val="accent2"/>
                </a:solidFill>
                <a:sym typeface="Wingdings" pitchFamily="2" charset="2"/>
              </a:rPr>
              <a:t>Nucleation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– molecules in solution come together randomly and form 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                    small aggregates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 u="sng">
                <a:solidFill>
                  <a:schemeClr val="accent2"/>
                </a:solidFill>
                <a:sym typeface="Wingdings" pitchFamily="2" charset="2"/>
              </a:rPr>
              <a:t>Particle growth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– addition of molecules to a nucleus to form a crystal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>
                <a:sym typeface="Wingdings" pitchFamily="2" charset="2"/>
              </a:rPr>
              <a:t> </a:t>
            </a:r>
          </a:p>
        </p:txBody>
      </p:sp>
      <p:pic>
        <p:nvPicPr>
          <p:cNvPr id="13316" name="Picture 17" descr="GrainGrowth"/>
          <p:cNvPicPr>
            <a:picLocks noChangeAspect="1" noChangeArrowheads="1"/>
          </p:cNvPicPr>
          <p:nvPr/>
        </p:nvPicPr>
        <p:blipFill>
          <a:blip r:embed="rId2"/>
          <a:srcRect r="53098" b="53468"/>
          <a:stretch>
            <a:fillRect/>
          </a:stretch>
        </p:blipFill>
        <p:spPr bwMode="auto">
          <a:xfrm>
            <a:off x="4635500" y="2730500"/>
            <a:ext cx="2019300" cy="174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18" descr="FreezingWat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566988"/>
            <a:ext cx="2146300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19" descr="GrainGrowth"/>
          <p:cNvPicPr>
            <a:picLocks noChangeAspect="1" noChangeArrowheads="1"/>
          </p:cNvPicPr>
          <p:nvPr/>
        </p:nvPicPr>
        <p:blipFill>
          <a:blip r:embed="rId2"/>
          <a:srcRect t="51038" b="5347"/>
          <a:stretch>
            <a:fillRect/>
          </a:stretch>
        </p:blipFill>
        <p:spPr bwMode="auto">
          <a:xfrm>
            <a:off x="4657725" y="4984750"/>
            <a:ext cx="430530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9" name="Picture 20" descr="GrainGrowth"/>
          <p:cNvPicPr>
            <a:picLocks noChangeAspect="1" noChangeArrowheads="1"/>
          </p:cNvPicPr>
          <p:nvPr/>
        </p:nvPicPr>
        <p:blipFill>
          <a:blip r:embed="rId2"/>
          <a:srcRect l="53098" t="2431" b="52254"/>
          <a:stretch>
            <a:fillRect/>
          </a:stretch>
        </p:blipFill>
        <p:spPr bwMode="auto">
          <a:xfrm>
            <a:off x="2590800" y="4910138"/>
            <a:ext cx="2019300" cy="170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0" name="AutoShape 22"/>
          <p:cNvSpPr>
            <a:spLocks noChangeArrowheads="1"/>
          </p:cNvSpPr>
          <p:nvPr/>
        </p:nvSpPr>
        <p:spPr bwMode="auto">
          <a:xfrm>
            <a:off x="4508500" y="5745163"/>
            <a:ext cx="279400" cy="128587"/>
          </a:xfrm>
          <a:prstGeom prst="rightArrow">
            <a:avLst>
              <a:gd name="adj1" fmla="val 50000"/>
              <a:gd name="adj2" fmla="val 543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AutoShape 23"/>
          <p:cNvSpPr>
            <a:spLocks noChangeArrowheads="1"/>
          </p:cNvSpPr>
          <p:nvPr/>
        </p:nvSpPr>
        <p:spPr bwMode="auto">
          <a:xfrm>
            <a:off x="6704013" y="5748338"/>
            <a:ext cx="279400" cy="128587"/>
          </a:xfrm>
          <a:prstGeom prst="rightArrow">
            <a:avLst>
              <a:gd name="adj1" fmla="val 50000"/>
              <a:gd name="adj2" fmla="val 543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2" name="Line 24"/>
          <p:cNvSpPr>
            <a:spLocks noChangeShapeType="1"/>
          </p:cNvSpPr>
          <p:nvPr/>
        </p:nvSpPr>
        <p:spPr bwMode="auto">
          <a:xfrm flipV="1">
            <a:off x="2216150" y="2649538"/>
            <a:ext cx="0" cy="4141787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23" name="Rectangle 25"/>
          <p:cNvSpPr>
            <a:spLocks noChangeArrowheads="1"/>
          </p:cNvSpPr>
          <p:nvPr/>
        </p:nvSpPr>
        <p:spPr bwMode="auto">
          <a:xfrm>
            <a:off x="280988" y="2266950"/>
            <a:ext cx="1473200" cy="3143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CC3300"/>
                </a:solidFill>
              </a:rPr>
              <a:t>Crystal Growth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2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4339" name="Text Box 6"/>
          <p:cNvSpPr txBox="1">
            <a:spLocks noChangeArrowheads="1"/>
          </p:cNvSpPr>
          <p:nvPr/>
        </p:nvSpPr>
        <p:spPr bwMode="auto">
          <a:xfrm>
            <a:off x="320675" y="1168400"/>
            <a:ext cx="8583613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b="0" i="1">
                <a:solidFill>
                  <a:schemeClr val="tx2"/>
                </a:solidFill>
              </a:rPr>
              <a:t>Precipitation Analysis</a:t>
            </a:r>
            <a:endParaRPr lang="en-US" sz="2000" b="0" i="1">
              <a:solidFill>
                <a:schemeClr val="tx2"/>
              </a:solidFill>
            </a:endParaRP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5.)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Process of Crystal Growth: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(ii)</a:t>
            </a:r>
            <a:r>
              <a:rPr lang="en-US" sz="1600" b="0">
                <a:sym typeface="Wingdings" pitchFamily="2" charset="2"/>
              </a:rPr>
              <a:t> Nucleation and Particle growth always compete for molecules/ions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ym typeface="Wingdings" pitchFamily="2" charset="2"/>
              </a:rPr>
              <a:t>     being precipitated.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If nucleation is faster than particle growth: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- 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a large number of small aggregates occur giving colloidal suspensions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400">
              <a:solidFill>
                <a:srgbClr val="CC3300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If particle growth is faster than nucleation: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>
                <a:sym typeface="Wingdings" pitchFamily="2" charset="2"/>
              </a:rPr>
              <a:t> 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only a few, large particles form giving pure crystals</a:t>
            </a:r>
          </a:p>
        </p:txBody>
      </p:sp>
      <p:pic>
        <p:nvPicPr>
          <p:cNvPr id="14340" name="Picture 7" descr="purple_gold001"/>
          <p:cNvPicPr>
            <a:picLocks noChangeAspect="1" noChangeArrowheads="1"/>
          </p:cNvPicPr>
          <p:nvPr/>
        </p:nvPicPr>
        <p:blipFill>
          <a:blip r:embed="rId2"/>
          <a:srcRect l="62608"/>
          <a:stretch>
            <a:fillRect/>
          </a:stretch>
        </p:blipFill>
        <p:spPr bwMode="auto">
          <a:xfrm>
            <a:off x="762000" y="4143375"/>
            <a:ext cx="98107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1" name="Rectangle 8"/>
          <p:cNvSpPr>
            <a:spLocks noChangeArrowheads="1"/>
          </p:cNvSpPr>
          <p:nvPr/>
        </p:nvSpPr>
        <p:spPr bwMode="auto">
          <a:xfrm>
            <a:off x="233363" y="6276975"/>
            <a:ext cx="197961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Colloidal suspension</a:t>
            </a:r>
          </a:p>
        </p:txBody>
      </p:sp>
      <p:pic>
        <p:nvPicPr>
          <p:cNvPr id="14342" name="Picture 9" descr="T014530A"/>
          <p:cNvPicPr>
            <a:picLocks noChangeAspect="1" noChangeArrowheads="1"/>
          </p:cNvPicPr>
          <p:nvPr/>
        </p:nvPicPr>
        <p:blipFill>
          <a:blip r:embed="rId3"/>
          <a:srcRect t="14635" b="8780"/>
          <a:stretch>
            <a:fillRect/>
          </a:stretch>
        </p:blipFill>
        <p:spPr bwMode="auto">
          <a:xfrm>
            <a:off x="4030663" y="4217988"/>
            <a:ext cx="4935537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3" name="Rectangle 10"/>
          <p:cNvSpPr>
            <a:spLocks noChangeArrowheads="1"/>
          </p:cNvSpPr>
          <p:nvPr/>
        </p:nvSpPr>
        <p:spPr bwMode="auto">
          <a:xfrm>
            <a:off x="5876925" y="6332538"/>
            <a:ext cx="1700213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/>
              <a:t>Crystal formation</a:t>
            </a:r>
          </a:p>
        </p:txBody>
      </p:sp>
      <p:sp>
        <p:nvSpPr>
          <p:cNvPr id="14344" name="AutoShape 11"/>
          <p:cNvSpPr>
            <a:spLocks noChangeArrowheads="1"/>
          </p:cNvSpPr>
          <p:nvPr/>
        </p:nvSpPr>
        <p:spPr bwMode="auto">
          <a:xfrm>
            <a:off x="2386013" y="5091113"/>
            <a:ext cx="1001712" cy="290512"/>
          </a:xfrm>
          <a:prstGeom prst="rightArrow">
            <a:avLst>
              <a:gd name="adj1" fmla="val 50000"/>
              <a:gd name="adj2" fmla="val 8620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Text Box 12"/>
          <p:cNvSpPr txBox="1">
            <a:spLocks noChangeArrowheads="1"/>
          </p:cNvSpPr>
          <p:nvPr/>
        </p:nvSpPr>
        <p:spPr bwMode="auto">
          <a:xfrm>
            <a:off x="2270125" y="4764088"/>
            <a:ext cx="12382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 i="1"/>
              <a:t>Want to</a:t>
            </a:r>
          </a:p>
          <a:p>
            <a:r>
              <a:rPr lang="en-US" b="0" i="1"/>
              <a:t> </a:t>
            </a:r>
          </a:p>
          <a:p>
            <a:r>
              <a:rPr lang="en-US" b="0" i="1"/>
              <a:t>Convert to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35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5363" name="Text Box 5"/>
          <p:cNvSpPr txBox="1">
            <a:spLocks noChangeArrowheads="1"/>
          </p:cNvSpPr>
          <p:nvPr/>
        </p:nvSpPr>
        <p:spPr bwMode="auto">
          <a:xfrm>
            <a:off x="436563" y="1168400"/>
            <a:ext cx="8707437" cy="535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b="0" i="1">
                <a:solidFill>
                  <a:schemeClr val="tx2"/>
                </a:solidFill>
              </a:rPr>
              <a:t>Precipitation Analysis</a:t>
            </a:r>
            <a:endParaRPr lang="en-US" sz="2000" b="0" i="1">
              <a:solidFill>
                <a:schemeClr val="tx2"/>
              </a:solidFill>
            </a:endParaRP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5.)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Process of Crystal Growth: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(iii)</a:t>
            </a:r>
            <a:r>
              <a:rPr lang="en-US" sz="1600" b="0">
                <a:sym typeface="Wingdings" pitchFamily="2" charset="2"/>
              </a:rPr>
              <a:t> Methods for Maximizing Crystal Growth (avoid colloids)</a:t>
            </a:r>
            <a:endParaRPr lang="en-US" sz="1600" b="0" i="1" u="sng">
              <a:solidFill>
                <a:srgbClr val="000099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Font typeface="Wingdings" pitchFamily="2" charset="2"/>
              <a:buNone/>
            </a:pPr>
            <a:r>
              <a:rPr lang="en-US" sz="1600" b="0">
                <a:solidFill>
                  <a:srgbClr val="CC3300"/>
                </a:solidFill>
                <a:sym typeface="Wingdings" pitchFamily="2" charset="2"/>
              </a:rPr>
              <a:t>	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Increase temperature of solution</a:t>
            </a:r>
            <a:endParaRPr lang="en-US" sz="1400" i="1">
              <a:solidFill>
                <a:srgbClr val="CC3300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 i="1">
                <a:solidFill>
                  <a:srgbClr val="CC3300"/>
                </a:solidFill>
                <a:sym typeface="Wingdings" pitchFamily="2" charset="2"/>
              </a:rPr>
              <a:t>	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increase amount of solute that can be in solution at equilibrium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 b="0">
                <a:solidFill>
                  <a:srgbClr val="CC3300"/>
                </a:solidFill>
                <a:sym typeface="Wingdings" pitchFamily="2" charset="2"/>
              </a:rPr>
              <a:t>	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Add precipitating reagent slowly while vigorously mixing solution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avoids local high concentrations of solution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 b="0">
                <a:solidFill>
                  <a:srgbClr val="CC3300"/>
                </a:solidFill>
                <a:sym typeface="Wingdings" pitchFamily="2" charset="2"/>
              </a:rPr>
              <a:t>	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Keep volume of solution large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keep concentration of analyte and precipitating reagent low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 b="0">
                <a:solidFill>
                  <a:srgbClr val="CC3300"/>
                </a:solidFill>
                <a:sym typeface="Wingdings" pitchFamily="2" charset="2"/>
              </a:rPr>
              <a:t>	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Precipitate</a:t>
            </a:r>
            <a:r>
              <a:rPr lang="en-US" sz="1400" b="0">
                <a:solidFill>
                  <a:srgbClr val="CC3300"/>
                </a:solidFill>
                <a:sym typeface="Wingdings" pitchFamily="2" charset="2"/>
              </a:rPr>
              <a:t> 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Ionic compounds in presence of electrolyte (0.1 M HNO</a:t>
            </a:r>
            <a:r>
              <a:rPr lang="en-US" sz="1600" b="0" baseline="-25000">
                <a:solidFill>
                  <a:schemeClr val="accent2"/>
                </a:solidFill>
                <a:sym typeface="Wingdings" pitchFamily="2" charset="2"/>
              </a:rPr>
              <a:t>3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)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</a:t>
            </a:r>
            <a:r>
              <a:rPr lang="en-US" sz="1400" b="0">
                <a:solidFill>
                  <a:schemeClr val="accent2"/>
                </a:solidFill>
                <a:sym typeface="Wingdings" pitchFamily="2" charset="2"/>
              </a:rPr>
              <a:t>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 - overcome charge repulsion and promotes particle growth</a:t>
            </a:r>
            <a:endParaRPr lang="en-US" sz="14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 b="0">
                <a:solidFill>
                  <a:srgbClr val="CC3300"/>
                </a:solidFill>
                <a:sym typeface="Wingdings" pitchFamily="2" charset="2"/>
              </a:rPr>
              <a:t>	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Control solubility of solute through chemical means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by adjusting pH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		- adding complexing agents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example: precipitation of Ca</a:t>
            </a:r>
            <a:r>
              <a:rPr lang="en-US" sz="1400" baseline="30000">
                <a:solidFill>
                  <a:srgbClr val="CC3300"/>
                </a:solidFill>
                <a:sym typeface="Wingdings" pitchFamily="2" charset="2"/>
              </a:rPr>
              <a:t>2+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 with C</a:t>
            </a:r>
            <a:r>
              <a:rPr lang="en-US" sz="1400" baseline="-25000">
                <a:solidFill>
                  <a:srgbClr val="CC3300"/>
                </a:solidFill>
                <a:sym typeface="Wingdings" pitchFamily="2" charset="2"/>
              </a:rPr>
              <a:t>2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O</a:t>
            </a:r>
            <a:r>
              <a:rPr lang="en-US" sz="1400" baseline="-25000">
                <a:solidFill>
                  <a:srgbClr val="CC3300"/>
                </a:solidFill>
                <a:sym typeface="Wingdings" pitchFamily="2" charset="2"/>
              </a:rPr>
              <a:t>4</a:t>
            </a:r>
            <a:r>
              <a:rPr lang="en-US" sz="1400" baseline="30000">
                <a:solidFill>
                  <a:srgbClr val="CC3300"/>
                </a:solidFill>
                <a:sym typeface="Wingdings" pitchFamily="2" charset="2"/>
              </a:rPr>
              <a:t>2-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400" baseline="30000">
              <a:solidFill>
                <a:srgbClr val="CC3300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400" baseline="30000">
              <a:solidFill>
                <a:srgbClr val="CC3300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400" baseline="30000">
              <a:solidFill>
                <a:srgbClr val="CC3300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 baseline="30000">
                <a:solidFill>
                  <a:srgbClr val="CC3300"/>
                </a:solidFill>
                <a:sym typeface="Wingdings" pitchFamily="2" charset="2"/>
              </a:rPr>
              <a:t>			</a:t>
            </a:r>
            <a:r>
              <a:rPr lang="en-US" b="0">
                <a:sym typeface="Wingdings" pitchFamily="2" charset="2"/>
              </a:rPr>
              <a:t>C</a:t>
            </a:r>
            <a:r>
              <a:rPr lang="en-US" b="0" baseline="-25000">
                <a:sym typeface="Wingdings" pitchFamily="2" charset="2"/>
              </a:rPr>
              <a:t>2</a:t>
            </a:r>
            <a:r>
              <a:rPr lang="en-US" b="0">
                <a:sym typeface="Wingdings" pitchFamily="2" charset="2"/>
              </a:rPr>
              <a:t>O</a:t>
            </a:r>
            <a:r>
              <a:rPr lang="en-US" b="0" baseline="-25000">
                <a:sym typeface="Wingdings" pitchFamily="2" charset="2"/>
              </a:rPr>
              <a:t>4</a:t>
            </a:r>
            <a:r>
              <a:rPr lang="en-US" b="0" baseline="30000">
                <a:sym typeface="Wingdings" pitchFamily="2" charset="2"/>
              </a:rPr>
              <a:t>2-</a:t>
            </a:r>
            <a:r>
              <a:rPr lang="en-US" b="0">
                <a:sym typeface="Wingdings" pitchFamily="2" charset="2"/>
              </a:rPr>
              <a:t>   +  H</a:t>
            </a:r>
            <a:r>
              <a:rPr lang="en-US" b="0" baseline="30000">
                <a:sym typeface="Wingdings" pitchFamily="2" charset="2"/>
              </a:rPr>
              <a:t>+</a:t>
            </a:r>
            <a:r>
              <a:rPr lang="en-US" b="0">
                <a:sym typeface="Wingdings" pitchFamily="2" charset="2"/>
              </a:rPr>
              <a:t>  	      HC</a:t>
            </a:r>
            <a:r>
              <a:rPr lang="en-US" b="0" baseline="-25000">
                <a:sym typeface="Wingdings" pitchFamily="2" charset="2"/>
              </a:rPr>
              <a:t>2</a:t>
            </a:r>
            <a:r>
              <a:rPr lang="en-US" b="0">
                <a:sym typeface="Wingdings" pitchFamily="2" charset="2"/>
              </a:rPr>
              <a:t>O</a:t>
            </a:r>
            <a:r>
              <a:rPr lang="en-US" b="0" baseline="-25000">
                <a:sym typeface="Wingdings" pitchFamily="2" charset="2"/>
              </a:rPr>
              <a:t>4</a:t>
            </a:r>
            <a:r>
              <a:rPr lang="en-US" b="0" baseline="30000">
                <a:sym typeface="Wingdings" pitchFamily="2" charset="2"/>
              </a:rPr>
              <a:t>-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b="0"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b="0">
                <a:sym typeface="Wingdings" pitchFamily="2" charset="2"/>
              </a:rPr>
              <a:t>			Ca</a:t>
            </a:r>
            <a:r>
              <a:rPr lang="en-US" b="0" baseline="30000">
                <a:sym typeface="Wingdings" pitchFamily="2" charset="2"/>
              </a:rPr>
              <a:t>2+</a:t>
            </a:r>
            <a:r>
              <a:rPr lang="en-US" b="0">
                <a:sym typeface="Wingdings" pitchFamily="2" charset="2"/>
              </a:rPr>
              <a:t>  + C</a:t>
            </a:r>
            <a:r>
              <a:rPr lang="en-US" b="0" baseline="-25000">
                <a:sym typeface="Wingdings" pitchFamily="2" charset="2"/>
              </a:rPr>
              <a:t>2</a:t>
            </a:r>
            <a:r>
              <a:rPr lang="en-US" b="0">
                <a:sym typeface="Wingdings" pitchFamily="2" charset="2"/>
              </a:rPr>
              <a:t>O</a:t>
            </a:r>
            <a:r>
              <a:rPr lang="en-US" b="0" baseline="-25000">
                <a:sym typeface="Wingdings" pitchFamily="2" charset="2"/>
              </a:rPr>
              <a:t>4</a:t>
            </a:r>
            <a:r>
              <a:rPr lang="en-US" b="0" baseline="30000">
                <a:sym typeface="Wingdings" pitchFamily="2" charset="2"/>
              </a:rPr>
              <a:t>2-</a:t>
            </a:r>
            <a:r>
              <a:rPr lang="en-US" b="0">
                <a:sym typeface="Wingdings" pitchFamily="2" charset="2"/>
              </a:rPr>
              <a:t>   	      CaC</a:t>
            </a:r>
            <a:r>
              <a:rPr lang="en-US" b="0" baseline="-25000">
                <a:sym typeface="Wingdings" pitchFamily="2" charset="2"/>
              </a:rPr>
              <a:t>2</a:t>
            </a:r>
            <a:r>
              <a:rPr lang="en-US" b="0">
                <a:sym typeface="Wingdings" pitchFamily="2" charset="2"/>
              </a:rPr>
              <a:t>O</a:t>
            </a:r>
            <a:r>
              <a:rPr lang="en-US" b="0" baseline="-25000">
                <a:sym typeface="Wingdings" pitchFamily="2" charset="2"/>
              </a:rPr>
              <a:t>4</a:t>
            </a:r>
            <a:r>
              <a:rPr lang="en-US" b="0">
                <a:sym typeface="Wingdings" pitchFamily="2" charset="2"/>
              </a:rPr>
              <a:t>(s)</a:t>
            </a:r>
          </a:p>
        </p:txBody>
      </p:sp>
      <p:sp>
        <p:nvSpPr>
          <p:cNvPr id="15364" name="Line 7"/>
          <p:cNvSpPr>
            <a:spLocks noChangeShapeType="1"/>
          </p:cNvSpPr>
          <p:nvPr/>
        </p:nvSpPr>
        <p:spPr bwMode="auto">
          <a:xfrm flipV="1">
            <a:off x="5602288" y="5740400"/>
            <a:ext cx="711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634038" y="5980113"/>
            <a:ext cx="711200" cy="336550"/>
            <a:chOff x="5634038" y="6353342"/>
            <a:chExt cx="711200" cy="336550"/>
          </a:xfrm>
        </p:grpSpPr>
        <p:sp>
          <p:nvSpPr>
            <p:cNvPr id="15370" name="Line 8"/>
            <p:cNvSpPr>
              <a:spLocks noChangeShapeType="1"/>
            </p:cNvSpPr>
            <p:nvPr/>
          </p:nvSpPr>
          <p:spPr bwMode="auto">
            <a:xfrm flipV="1">
              <a:off x="5634038" y="6674664"/>
              <a:ext cx="7112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Text Box 9"/>
            <p:cNvSpPr txBox="1">
              <a:spLocks noChangeArrowheads="1"/>
            </p:cNvSpPr>
            <p:nvPr/>
          </p:nvSpPr>
          <p:spPr bwMode="auto">
            <a:xfrm>
              <a:off x="5746750" y="6353342"/>
              <a:ext cx="46672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0"/>
                <a:t>K</a:t>
              </a:r>
              <a:r>
                <a:rPr lang="en-US" sz="1600" b="0" baseline="-25000"/>
                <a:t>sp</a:t>
              </a:r>
            </a:p>
          </p:txBody>
        </p:sp>
      </p:grpSp>
      <p:sp>
        <p:nvSpPr>
          <p:cNvPr id="15366" name="AutoShape 10"/>
          <p:cNvSpPr>
            <a:spLocks/>
          </p:cNvSpPr>
          <p:nvPr/>
        </p:nvSpPr>
        <p:spPr bwMode="auto">
          <a:xfrm>
            <a:off x="3878263" y="5630863"/>
            <a:ext cx="119062" cy="862012"/>
          </a:xfrm>
          <a:prstGeom prst="leftBrace">
            <a:avLst>
              <a:gd name="adj1" fmla="val 6033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Text Box 11"/>
          <p:cNvSpPr txBox="1">
            <a:spLocks noChangeArrowheads="1"/>
          </p:cNvSpPr>
          <p:nvPr/>
        </p:nvSpPr>
        <p:spPr bwMode="auto">
          <a:xfrm>
            <a:off x="1447800" y="5670550"/>
            <a:ext cx="2366963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0" u="sng"/>
              <a:t>Note:</a:t>
            </a:r>
            <a:r>
              <a:rPr lang="en-US" sz="1600" b="0"/>
              <a:t> As pH ([H</a:t>
            </a:r>
            <a:r>
              <a:rPr lang="en-US" sz="1600" b="0" baseline="30000"/>
              <a:t>+</a:t>
            </a:r>
            <a:r>
              <a:rPr lang="en-US" sz="1600" b="0"/>
              <a:t>]) changes, the solubility of CaC</a:t>
            </a:r>
            <a:r>
              <a:rPr lang="en-US" sz="1600" b="0" baseline="-25000"/>
              <a:t>2</a:t>
            </a:r>
            <a:r>
              <a:rPr lang="en-US" sz="1600" b="0"/>
              <a:t>O</a:t>
            </a:r>
            <a:r>
              <a:rPr lang="en-US" sz="1600" b="0" baseline="-25000"/>
              <a:t>4</a:t>
            </a:r>
            <a:r>
              <a:rPr lang="en-US" sz="1600" b="0"/>
              <a:t> changes</a:t>
            </a:r>
          </a:p>
        </p:txBody>
      </p:sp>
      <p:pic>
        <p:nvPicPr>
          <p:cNvPr id="15368" name="Picture 11" descr="coll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59050"/>
            <a:ext cx="259715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9" name="Rectangle 15"/>
          <p:cNvSpPr>
            <a:spLocks noChangeArrowheads="1"/>
          </p:cNvSpPr>
          <p:nvPr/>
        </p:nvSpPr>
        <p:spPr bwMode="auto">
          <a:xfrm>
            <a:off x="222250" y="4695825"/>
            <a:ext cx="2157413" cy="3079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002060"/>
                </a:solidFill>
              </a:rPr>
              <a:t>Avoid Colloidal Particle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1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6387" name="Text Box 5"/>
          <p:cNvSpPr txBox="1">
            <a:spLocks noChangeArrowheads="1"/>
          </p:cNvSpPr>
          <p:nvPr/>
        </p:nvSpPr>
        <p:spPr bwMode="auto">
          <a:xfrm>
            <a:off x="436563" y="1168400"/>
            <a:ext cx="8528050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b="0" i="1">
                <a:solidFill>
                  <a:schemeClr val="tx2"/>
                </a:solidFill>
              </a:rPr>
              <a:t>Precipitation Analysis</a:t>
            </a:r>
            <a:endParaRPr lang="en-US" sz="2000" b="0" i="1">
              <a:solidFill>
                <a:schemeClr val="tx2"/>
              </a:solidFill>
            </a:endParaRP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6.)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Crystal Impurities: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(i)</a:t>
            </a:r>
            <a:r>
              <a:rPr lang="en-US" sz="1600" b="0">
                <a:sym typeface="Wingdings" pitchFamily="2" charset="2"/>
              </a:rPr>
              <a:t> Impurities are undesirable (known as co-precipitation)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Change the chemical composition of the precipitate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Creates errors in gravimetric analysis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(iii) </a:t>
            </a:r>
            <a:r>
              <a:rPr lang="en-US" sz="1600" b="0">
                <a:sym typeface="Wingdings" pitchFamily="2" charset="2"/>
              </a:rPr>
              <a:t>Types of Impurities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Adsorption, Occlusion, Inclusion</a:t>
            </a: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endParaRPr lang="en-US" sz="1600" b="0">
              <a:sym typeface="Wingdings" pitchFamily="2" charset="2"/>
            </a:endParaRPr>
          </a:p>
        </p:txBody>
      </p:sp>
      <p:pic>
        <p:nvPicPr>
          <p:cNvPr id="16388" name="Picture 7" descr="adsorbed-impurit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8" y="3832225"/>
            <a:ext cx="2490787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6" descr="occlusion-impurit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89313" y="3787775"/>
            <a:ext cx="2386012" cy="172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7" descr="inclusion-impurity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94425" y="3914775"/>
            <a:ext cx="27781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1" name="Rectangle 15"/>
          <p:cNvSpPr>
            <a:spLocks noChangeArrowheads="1"/>
          </p:cNvSpPr>
          <p:nvPr/>
        </p:nvSpPr>
        <p:spPr bwMode="auto">
          <a:xfrm>
            <a:off x="346075" y="5795963"/>
            <a:ext cx="1643063" cy="5238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rgbClr val="002060"/>
                </a:solidFill>
              </a:rPr>
              <a:t>Adsorbed to crystal surface</a:t>
            </a:r>
          </a:p>
        </p:txBody>
      </p:sp>
      <p:sp>
        <p:nvSpPr>
          <p:cNvPr id="16392" name="Rectangle 15"/>
          <p:cNvSpPr>
            <a:spLocks noChangeArrowheads="1"/>
          </p:cNvSpPr>
          <p:nvPr/>
        </p:nvSpPr>
        <p:spPr bwMode="auto">
          <a:xfrm>
            <a:off x="3417888" y="5708650"/>
            <a:ext cx="2201862" cy="5238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rgbClr val="002060"/>
                </a:solidFill>
              </a:rPr>
              <a:t>Absorbed or trapped within crystal pockets</a:t>
            </a:r>
          </a:p>
        </p:txBody>
      </p:sp>
      <p:sp>
        <p:nvSpPr>
          <p:cNvPr id="16393" name="Rectangle 15"/>
          <p:cNvSpPr>
            <a:spLocks noChangeArrowheads="1"/>
          </p:cNvSpPr>
          <p:nvPr/>
        </p:nvSpPr>
        <p:spPr bwMode="auto">
          <a:xfrm>
            <a:off x="6294438" y="4911725"/>
            <a:ext cx="2459037" cy="5238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rgbClr val="002060"/>
                </a:solidFill>
              </a:rPr>
              <a:t>Impurity placed in crystal instead of analyte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8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"/>
          <p:cNvSpPr>
            <a:spLocks noChangeArrowheads="1"/>
          </p:cNvSpPr>
          <p:nvPr/>
        </p:nvSpPr>
        <p:spPr bwMode="auto">
          <a:xfrm>
            <a:off x="4819650" y="5594350"/>
            <a:ext cx="687388" cy="32226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Oval 7"/>
          <p:cNvSpPr>
            <a:spLocks noChangeArrowheads="1"/>
          </p:cNvSpPr>
          <p:nvPr/>
        </p:nvSpPr>
        <p:spPr bwMode="auto">
          <a:xfrm>
            <a:off x="4851400" y="6043613"/>
            <a:ext cx="538163" cy="4572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36563" y="1046163"/>
            <a:ext cx="8528050" cy="437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b="0" i="1">
                <a:solidFill>
                  <a:schemeClr val="tx2"/>
                </a:solidFill>
              </a:rPr>
              <a:t>Precipitation Analysis</a:t>
            </a:r>
            <a:endParaRPr lang="en-US" sz="2000" b="0" i="1">
              <a:solidFill>
                <a:schemeClr val="tx2"/>
              </a:solidFill>
            </a:endParaRP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6.)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Crystal Impurities:</a:t>
            </a: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(iii) </a:t>
            </a:r>
            <a:r>
              <a:rPr lang="en-US" sz="1600" b="0">
                <a:sym typeface="Wingdings" pitchFamily="2" charset="2"/>
              </a:rPr>
              <a:t>Ways to Minimize Impurities</a:t>
            </a: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Maximize crystal growth</a:t>
            </a:r>
          </a:p>
          <a:p>
            <a:pPr marL="2286000" lvl="4" indent="-457200">
              <a:buClr>
                <a:srgbClr val="CC3300"/>
              </a:buClr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large pure crystals decrease occlusions and adsorbed impurities</a:t>
            </a:r>
          </a:p>
          <a:p>
            <a:pPr marL="2286000" lvl="4" indent="-457200">
              <a:buClr>
                <a:srgbClr val="CC3300"/>
              </a:buClr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</a:t>
            </a:r>
          </a:p>
          <a:p>
            <a:pPr marL="2286000" lvl="4" indent="-457200">
              <a:buClr>
                <a:srgbClr val="CC3300"/>
              </a:buClr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</a:t>
            </a:r>
            <a:r>
              <a:rPr lang="en-US" sz="1600" b="0" u="sng">
                <a:solidFill>
                  <a:schemeClr val="accent2"/>
                </a:solidFill>
                <a:sym typeface="Wingdings" pitchFamily="2" charset="2"/>
              </a:rPr>
              <a:t>Digestion: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allowing precipitate to stand in mother liquor (precipitating solution), usually while being heated</a:t>
            </a:r>
          </a:p>
          <a:p>
            <a:pPr marL="2286000" lvl="4" indent="-457200">
              <a:buClr>
                <a:srgbClr val="CC3300"/>
              </a:buClr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promotes removal of impurities from crystal</a:t>
            </a:r>
          </a:p>
          <a:p>
            <a:pPr marL="2286000" lvl="4" indent="-457200">
              <a:buClr>
                <a:srgbClr val="CC3300"/>
              </a:buClr>
              <a:buFont typeface="Wingdings" pitchFamily="2" charset="2"/>
              <a:buNone/>
            </a:pP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		- increases size of crystals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rgbClr val="CC3300"/>
                </a:solidFill>
                <a:sym typeface="Wingdings" pitchFamily="2" charset="2"/>
              </a:rPr>
              <a:t>	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rgbClr val="CC3300"/>
                </a:solidFill>
                <a:sym typeface="Wingdings" pitchFamily="2" charset="2"/>
              </a:rPr>
              <a:t>	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Wash precipitate, redissolve in fresh solvent and reprecipitate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helps decrease all types of impurities</a:t>
            </a: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rgbClr val="CC3300"/>
                </a:solidFill>
                <a:sym typeface="Wingdings" pitchFamily="2" charset="2"/>
              </a:rPr>
              <a:t>	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rgbClr val="CC3300"/>
                </a:solidFill>
                <a:sym typeface="Wingdings" pitchFamily="2" charset="2"/>
              </a:rPr>
              <a:t>	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Add a </a:t>
            </a:r>
            <a:r>
              <a:rPr lang="en-US" sz="1600" b="0" u="sng">
                <a:solidFill>
                  <a:schemeClr val="accent2"/>
                </a:solidFill>
                <a:sym typeface="Wingdings" pitchFamily="2" charset="2"/>
              </a:rPr>
              <a:t>masking agent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to solution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	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- keeps impurities from precipitating, but not analyte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3954463" y="5608638"/>
            <a:ext cx="3271837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0"/>
              <a:t>Mg</a:t>
            </a:r>
            <a:r>
              <a:rPr lang="en-US" sz="1600" b="0" baseline="30000"/>
              <a:t>2+</a:t>
            </a:r>
            <a:r>
              <a:rPr lang="en-US" sz="1600" b="0"/>
              <a:t>   +  CPCH   </a:t>
            </a:r>
            <a:r>
              <a:rPr lang="en-US" sz="1600" b="0">
                <a:sym typeface="Wingdings" pitchFamily="2" charset="2"/>
              </a:rPr>
              <a:t>  Solid product</a:t>
            </a:r>
          </a:p>
          <a:p>
            <a:endParaRPr lang="en-US" sz="1600" b="0">
              <a:sym typeface="Wingdings" pitchFamily="2" charset="2"/>
            </a:endParaRPr>
          </a:p>
          <a:p>
            <a:r>
              <a:rPr lang="en-US" sz="1600" b="0">
                <a:sym typeface="Wingdings" pitchFamily="2" charset="2"/>
              </a:rPr>
              <a:t>Mn</a:t>
            </a:r>
            <a:r>
              <a:rPr lang="en-US" sz="1600" b="0" baseline="30000">
                <a:sym typeface="Wingdings" pitchFamily="2" charset="2"/>
              </a:rPr>
              <a:t>2+</a:t>
            </a:r>
            <a:r>
              <a:rPr lang="en-US" sz="1600" b="0">
                <a:sym typeface="Wingdings" pitchFamily="2" charset="2"/>
              </a:rPr>
              <a:t>   +  6CN</a:t>
            </a:r>
            <a:r>
              <a:rPr lang="en-US" sz="1600" b="0" baseline="30000">
                <a:sym typeface="Wingdings" pitchFamily="2" charset="2"/>
              </a:rPr>
              <a:t>-</a:t>
            </a:r>
            <a:r>
              <a:rPr lang="en-US" sz="1600" b="0">
                <a:sym typeface="Wingdings" pitchFamily="2" charset="2"/>
              </a:rPr>
              <a:t>        Mn(CN)</a:t>
            </a:r>
            <a:r>
              <a:rPr lang="en-US" sz="1600" b="0" baseline="-25000">
                <a:sym typeface="Wingdings" pitchFamily="2" charset="2"/>
              </a:rPr>
              <a:t>6</a:t>
            </a:r>
            <a:r>
              <a:rPr lang="en-US" sz="1600" b="0" baseline="30000">
                <a:sym typeface="Wingdings" pitchFamily="2" charset="2"/>
              </a:rPr>
              <a:t>4-</a:t>
            </a:r>
            <a:endParaRPr lang="en-US" sz="1600" b="0" baseline="30000"/>
          </a:p>
        </p:txBody>
      </p:sp>
      <p:sp>
        <p:nvSpPr>
          <p:cNvPr id="17415" name="Line 8"/>
          <p:cNvSpPr>
            <a:spLocks noChangeShapeType="1"/>
          </p:cNvSpPr>
          <p:nvPr/>
        </p:nvSpPr>
        <p:spPr bwMode="auto">
          <a:xfrm>
            <a:off x="3290888" y="5883275"/>
            <a:ext cx="1485900" cy="227013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Box 9"/>
          <p:cNvSpPr txBox="1">
            <a:spLocks noChangeArrowheads="1"/>
          </p:cNvSpPr>
          <p:nvPr/>
        </p:nvSpPr>
        <p:spPr bwMode="auto">
          <a:xfrm>
            <a:off x="2254250" y="5580063"/>
            <a:ext cx="1412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Masking agent</a:t>
            </a:r>
          </a:p>
        </p:txBody>
      </p:sp>
      <p:sp>
        <p:nvSpPr>
          <p:cNvPr id="17417" name="Line 11"/>
          <p:cNvSpPr>
            <a:spLocks noChangeShapeType="1"/>
          </p:cNvSpPr>
          <p:nvPr/>
        </p:nvSpPr>
        <p:spPr bwMode="auto">
          <a:xfrm flipH="1" flipV="1">
            <a:off x="5530850" y="5843588"/>
            <a:ext cx="1836738" cy="319087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418" name="Text Box 12"/>
          <p:cNvSpPr txBox="1">
            <a:spLocks noChangeArrowheads="1"/>
          </p:cNvSpPr>
          <p:nvPr/>
        </p:nvSpPr>
        <p:spPr bwMode="auto">
          <a:xfrm>
            <a:off x="7364413" y="5980113"/>
            <a:ext cx="10890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precipitant</a:t>
            </a:r>
          </a:p>
        </p:txBody>
      </p:sp>
      <p:pic>
        <p:nvPicPr>
          <p:cNvPr id="17419" name="Picture 13" descr="fluorit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813" y="2781300"/>
            <a:ext cx="2301875" cy="153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20" name="Rectangle 14"/>
          <p:cNvSpPr>
            <a:spLocks noChangeArrowheads="1"/>
          </p:cNvSpPr>
          <p:nvPr/>
        </p:nvSpPr>
        <p:spPr bwMode="auto">
          <a:xfrm>
            <a:off x="490538" y="4410075"/>
            <a:ext cx="1633537" cy="3143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Color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Impurity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0">
                <a:solidFill>
                  <a:schemeClr val="tx2"/>
                </a:solidFill>
              </a:rPr>
              <a:t>Gravimetric Analysis</a:t>
            </a:r>
            <a:r>
              <a:rPr lang="en-US" sz="4400" b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436563" y="1046163"/>
            <a:ext cx="8707437" cy="455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b="0" i="1">
                <a:solidFill>
                  <a:schemeClr val="tx2"/>
                </a:solidFill>
              </a:rPr>
              <a:t>Precipitation Analysis</a:t>
            </a:r>
            <a:endParaRPr lang="en-US" sz="2000" b="0" i="1">
              <a:solidFill>
                <a:schemeClr val="tx2"/>
              </a:solidFill>
            </a:endParaRPr>
          </a:p>
          <a:p>
            <a:pPr marL="457200" indent="-457200"/>
            <a:endParaRPr lang="en-US" b="0" i="1">
              <a:solidFill>
                <a:schemeClr val="tx2"/>
              </a:solidFill>
            </a:endParaRPr>
          </a:p>
          <a:p>
            <a:pPr marL="914400" lvl="1" indent="-457200"/>
            <a:r>
              <a:rPr lang="en-US" b="0"/>
              <a:t>7.)</a:t>
            </a:r>
            <a:r>
              <a:rPr lang="en-US" sz="1600" b="0"/>
              <a:t>	</a:t>
            </a:r>
            <a:r>
              <a:rPr lang="en-US">
                <a:solidFill>
                  <a:srgbClr val="CC3300"/>
                </a:solidFill>
              </a:rPr>
              <a:t>Final Preparation of Precipitates:</a:t>
            </a:r>
            <a:endParaRPr lang="en-US" b="0"/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(vi) </a:t>
            </a:r>
            <a:r>
              <a:rPr lang="en-US" sz="1600" b="0">
                <a:sym typeface="Wingdings" pitchFamily="2" charset="2"/>
              </a:rPr>
              <a:t>Washing Precipitates</a:t>
            </a:r>
          </a:p>
          <a:p>
            <a:pPr marL="2286000" lvl="4" indent="-457200">
              <a:buClr>
                <a:srgbClr val="CC3300"/>
              </a:buClr>
              <a:buSzPct val="60000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Precipitates from ionic compounds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- 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need electrolyte in wash solution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	- keep precipitate from breaking up and redissolving (</a:t>
            </a:r>
            <a:r>
              <a:rPr lang="en-US" sz="1400" i="1" u="sng">
                <a:solidFill>
                  <a:srgbClr val="CC3300"/>
                </a:solidFill>
                <a:sym typeface="Wingdings" pitchFamily="2" charset="2"/>
              </a:rPr>
              <a:t>peptization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)</a:t>
            </a:r>
          </a:p>
          <a:p>
            <a:pPr marL="2286000" lvl="4" indent="-457200">
              <a:buClr>
                <a:srgbClr val="CC3300"/>
              </a:buClr>
              <a:buSzPct val="60000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Electrolyte should be volatile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- 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removed by drying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	- HNO</a:t>
            </a:r>
            <a:r>
              <a:rPr lang="en-US" sz="1400" baseline="-25000">
                <a:solidFill>
                  <a:srgbClr val="CC3300"/>
                </a:solidFill>
                <a:sym typeface="Wingdings" pitchFamily="2" charset="2"/>
              </a:rPr>
              <a:t>3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, HCl, NH</a:t>
            </a:r>
            <a:r>
              <a:rPr lang="en-US" sz="1400" baseline="-25000">
                <a:solidFill>
                  <a:srgbClr val="CC3300"/>
                </a:solidFill>
                <a:sym typeface="Wingdings" pitchFamily="2" charset="2"/>
              </a:rPr>
              <a:t>4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, NO</a:t>
            </a:r>
            <a:r>
              <a:rPr lang="en-US" sz="1400" baseline="-25000">
                <a:solidFill>
                  <a:srgbClr val="CC3300"/>
                </a:solidFill>
                <a:sym typeface="Wingdings" pitchFamily="2" charset="2"/>
              </a:rPr>
              <a:t>3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, etc</a:t>
            </a:r>
            <a:r>
              <a:rPr lang="en-US" sz="1600">
                <a:solidFill>
                  <a:schemeClr val="accent2"/>
                </a:solidFill>
                <a:sym typeface="Wingdings" pitchFamily="2" charset="2"/>
              </a:rPr>
              <a:t>.</a:t>
            </a:r>
          </a:p>
          <a:p>
            <a:pPr marL="2286000" lvl="4" indent="-457200">
              <a:buClr>
                <a:srgbClr val="CC3300"/>
              </a:buClr>
              <a:buSzPct val="60000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Illustration: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	- 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AgCl(s) should not be washed with H</a:t>
            </a:r>
            <a:r>
              <a:rPr lang="en-US" sz="1400" baseline="-25000">
                <a:solidFill>
                  <a:srgbClr val="CC3300"/>
                </a:solidFill>
                <a:sym typeface="Wingdings" pitchFamily="2" charset="2"/>
              </a:rPr>
              <a:t>2</a:t>
            </a: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O, instead wash with dilute HNO</a:t>
            </a:r>
            <a:r>
              <a:rPr lang="en-US" sz="1400" baseline="-25000">
                <a:solidFill>
                  <a:srgbClr val="CC3300"/>
                </a:solidFill>
                <a:sym typeface="Wingdings" pitchFamily="2" charset="2"/>
              </a:rPr>
              <a:t>3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Char char="Ø"/>
            </a:pPr>
            <a:endParaRPr lang="en-US" sz="1400">
              <a:solidFill>
                <a:srgbClr val="CC3300"/>
              </a:solidFill>
              <a:sym typeface="Wingdings" pitchFamily="2" charset="2"/>
            </a:endParaRPr>
          </a:p>
          <a:p>
            <a:pPr marL="1828800" lvl="3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(vii) </a:t>
            </a:r>
            <a:r>
              <a:rPr lang="en-US" sz="1600" b="0">
                <a:sym typeface="Wingdings" pitchFamily="2" charset="2"/>
              </a:rPr>
              <a:t>Drying/Igniting Precipitates</a:t>
            </a:r>
            <a:endParaRPr lang="en-US" sz="1600" b="0">
              <a:solidFill>
                <a:schemeClr val="accent2"/>
              </a:solidFill>
              <a:sym typeface="Wingdings" pitchFamily="2" charset="2"/>
            </a:endParaRPr>
          </a:p>
          <a:p>
            <a:pPr marL="2286000" lvl="4" indent="-457200">
              <a:buClr>
                <a:srgbClr val="CC3300"/>
              </a:buClr>
              <a:buSzPct val="60000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Many precipitates contain varying amounts of H</a:t>
            </a:r>
            <a:r>
              <a:rPr lang="en-US" sz="1600" b="0" baseline="-25000">
                <a:solidFill>
                  <a:schemeClr val="accent2"/>
                </a:solidFill>
                <a:sym typeface="Wingdings" pitchFamily="2" charset="2"/>
              </a:rPr>
              <a:t>2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O</a:t>
            </a:r>
          </a:p>
          <a:p>
            <a:pPr marL="2286000" lvl="4" indent="-457200">
              <a:buClr>
                <a:srgbClr val="CC3300"/>
              </a:buClr>
              <a:buSzPct val="60000"/>
              <a:buFont typeface="Wingdings" pitchFamily="2" charset="2"/>
              <a:buNone/>
            </a:pPr>
            <a:r>
              <a:rPr lang="en-US" sz="1400">
                <a:solidFill>
                  <a:srgbClr val="CC3300"/>
                </a:solidFill>
                <a:sym typeface="Wingdings" pitchFamily="2" charset="2"/>
              </a:rPr>
              <a:t>	- adsorbed from the air (i.e. hygroscopic)</a:t>
            </a:r>
          </a:p>
          <a:p>
            <a:pPr marL="2286000" lvl="4" indent="-457200">
              <a:buClr>
                <a:srgbClr val="CC3300"/>
              </a:buClr>
              <a:buSzPct val="60000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Precipitates are </a:t>
            </a:r>
            <a:r>
              <a:rPr lang="en-US" sz="1600" b="0" u="sng">
                <a:solidFill>
                  <a:schemeClr val="accent2"/>
                </a:solidFill>
                <a:sym typeface="Wingdings" pitchFamily="2" charset="2"/>
              </a:rPr>
              <a:t>dried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for accurate, stable mass measurements</a:t>
            </a:r>
          </a:p>
          <a:p>
            <a:pPr marL="2286000" lvl="4" indent="-457200">
              <a:buClr>
                <a:srgbClr val="CC3300"/>
              </a:buClr>
              <a:buSzPct val="60000"/>
            </a:pP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Precipitates are also </a:t>
            </a:r>
            <a:r>
              <a:rPr lang="en-US" sz="1600" b="0" u="sng">
                <a:solidFill>
                  <a:schemeClr val="accent2"/>
                </a:solidFill>
                <a:sym typeface="Wingdings" pitchFamily="2" charset="2"/>
              </a:rPr>
              <a:t>ignited</a:t>
            </a:r>
            <a:r>
              <a:rPr lang="en-US" sz="1600" b="0">
                <a:solidFill>
                  <a:schemeClr val="accent2"/>
                </a:solidFill>
                <a:sym typeface="Wingdings" pitchFamily="2" charset="2"/>
              </a:rPr>
              <a:t> to convert to a given chemical form</a:t>
            </a:r>
          </a:p>
        </p:txBody>
      </p:sp>
      <p:pic>
        <p:nvPicPr>
          <p:cNvPr id="18436" name="Picture 6" descr="reaction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35238" y="5700713"/>
            <a:ext cx="6392862" cy="67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7" descr="ashend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813" y="4791075"/>
            <a:ext cx="203835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8" name="Picture 8" descr="prussblue4"/>
          <p:cNvPicPr>
            <a:picLocks noChangeAspect="1" noChangeArrowheads="1"/>
          </p:cNvPicPr>
          <p:nvPr/>
        </p:nvPicPr>
        <p:blipFill>
          <a:blip r:embed="rId4"/>
          <a:srcRect l="23077" r="23077" b="6076"/>
          <a:stretch>
            <a:fillRect/>
          </a:stretch>
        </p:blipFill>
        <p:spPr bwMode="auto">
          <a:xfrm>
            <a:off x="77788" y="2030413"/>
            <a:ext cx="1716087" cy="2274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8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Gravimetric analysis uses the mass of a sample to determine the amount of substance of interest.</a:t>
            </a:r>
          </a:p>
          <a:p>
            <a:r>
              <a:rPr lang="en-US" dirty="0" smtClean="0"/>
              <a:t>Precipitation is the most common form of gravimetric analysis:</a:t>
            </a:r>
          </a:p>
          <a:p>
            <a:r>
              <a:rPr lang="en-US" dirty="0" smtClean="0"/>
              <a:t>Ag</a:t>
            </a:r>
            <a:r>
              <a:rPr lang="en-US" baseline="30000" dirty="0" smtClean="0"/>
              <a:t>+</a:t>
            </a:r>
            <a:r>
              <a:rPr lang="en-US" baseline="-25000" dirty="0" smtClean="0"/>
              <a:t>(</a:t>
            </a:r>
            <a:r>
              <a:rPr lang="en-US" baseline="-25000" dirty="0" err="1" smtClean="0"/>
              <a:t>aq</a:t>
            </a:r>
            <a:r>
              <a:rPr lang="en-US" baseline="-25000" dirty="0" smtClean="0"/>
              <a:t>) </a:t>
            </a:r>
            <a:r>
              <a:rPr lang="en-US" dirty="0" smtClean="0"/>
              <a:t>+ </a:t>
            </a:r>
            <a:r>
              <a:rPr lang="en-US" dirty="0" err="1" smtClean="0"/>
              <a:t>Cl</a:t>
            </a:r>
            <a:r>
              <a:rPr lang="en-US" dirty="0" smtClean="0"/>
              <a:t>-  </a:t>
            </a:r>
            <a:r>
              <a:rPr lang="en-US" dirty="0" smtClean="0">
                <a:sym typeface="Wingdings" pitchFamily="2" charset="2"/>
              </a:rPr>
              <a:t>   </a:t>
            </a:r>
            <a:r>
              <a:rPr lang="en-US" dirty="0" err="1" smtClean="0">
                <a:sym typeface="Wingdings" pitchFamily="2" charset="2"/>
              </a:rPr>
              <a:t>AgCl</a:t>
            </a:r>
            <a:r>
              <a:rPr lang="en-US" baseline="-25000" dirty="0" smtClean="0">
                <a:sym typeface="Wingdings" pitchFamily="2" charset="2"/>
              </a:rPr>
              <a:t>(s)</a:t>
            </a:r>
          </a:p>
          <a:p>
            <a:r>
              <a:rPr lang="en-US" dirty="0" smtClean="0">
                <a:sym typeface="Wingdings" pitchFamily="2" charset="2"/>
              </a:rPr>
              <a:t>Since </a:t>
            </a:r>
            <a:r>
              <a:rPr lang="en-US" dirty="0" err="1" smtClean="0">
                <a:sym typeface="Wingdings" pitchFamily="2" charset="2"/>
              </a:rPr>
              <a:t>K</a:t>
            </a:r>
            <a:r>
              <a:rPr lang="en-US" baseline="-25000" dirty="0" err="1" smtClean="0">
                <a:sym typeface="Wingdings" pitchFamily="2" charset="2"/>
              </a:rPr>
              <a:t>sp</a:t>
            </a:r>
            <a:r>
              <a:rPr lang="en-US" dirty="0" smtClean="0">
                <a:sym typeface="Wingdings" pitchFamily="2" charset="2"/>
              </a:rPr>
              <a:t> is small (</a:t>
            </a:r>
            <a:r>
              <a:rPr lang="en-US" dirty="0" err="1" smtClean="0">
                <a:sym typeface="Wingdings" pitchFamily="2" charset="2"/>
              </a:rPr>
              <a:t>K</a:t>
            </a:r>
            <a:r>
              <a:rPr lang="en-US" baseline="-25000" dirty="0" err="1" smtClean="0">
                <a:sym typeface="Wingdings" pitchFamily="2" charset="2"/>
              </a:rPr>
              <a:t>sp</a:t>
            </a:r>
            <a:r>
              <a:rPr lang="en-US" dirty="0" smtClean="0">
                <a:sym typeface="Wingdings" pitchFamily="2" charset="2"/>
              </a:rPr>
              <a:t> = 1.8 x 10</a:t>
            </a:r>
            <a:r>
              <a:rPr lang="en-US" baseline="30000" dirty="0" smtClean="0">
                <a:sym typeface="Wingdings" pitchFamily="2" charset="2"/>
              </a:rPr>
              <a:t>-10</a:t>
            </a:r>
            <a:r>
              <a:rPr lang="en-US" dirty="0" smtClean="0">
                <a:sym typeface="Wingdings" pitchFamily="2" charset="2"/>
              </a:rPr>
              <a:t>) most of the silver will be removed from the solution in the form of precipitate.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3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From the molar mass and mass of </a:t>
            </a:r>
            <a:r>
              <a:rPr lang="en-US" dirty="0" err="1" smtClean="0"/>
              <a:t>AgCl</a:t>
            </a:r>
            <a:r>
              <a:rPr lang="en-US" dirty="0" smtClean="0"/>
              <a:t> , amount of Ag</a:t>
            </a:r>
            <a:r>
              <a:rPr lang="en-US" baseline="30000" dirty="0" smtClean="0"/>
              <a:t>+</a:t>
            </a:r>
            <a:r>
              <a:rPr lang="en-US" dirty="0" smtClean="0"/>
              <a:t> originally in solution can be calculated.</a:t>
            </a:r>
          </a:p>
          <a:p>
            <a:r>
              <a:rPr lang="en-US" dirty="0" smtClean="0"/>
              <a:t>The accuracy depends on several factors.</a:t>
            </a:r>
          </a:p>
          <a:p>
            <a:r>
              <a:rPr lang="en-US" dirty="0" smtClean="0"/>
              <a:t>1.	Value of </a:t>
            </a:r>
            <a:r>
              <a:rPr lang="en-US" dirty="0" err="1" smtClean="0"/>
              <a:t>Ksp</a:t>
            </a:r>
            <a:endParaRPr lang="en-US" dirty="0" smtClean="0"/>
          </a:p>
          <a:p>
            <a:pPr lvl="2"/>
            <a:r>
              <a:rPr lang="en-US" dirty="0" smtClean="0"/>
              <a:t>If </a:t>
            </a:r>
            <a:r>
              <a:rPr lang="en-US" dirty="0" err="1" smtClean="0"/>
              <a:t>Ksp</a:t>
            </a:r>
            <a:r>
              <a:rPr lang="en-US" dirty="0" smtClean="0"/>
              <a:t> is large </a:t>
            </a:r>
            <a:r>
              <a:rPr lang="en-US" dirty="0" smtClean="0">
                <a:sym typeface="Wingdings" pitchFamily="2" charset="2"/>
              </a:rPr>
              <a:t> more </a:t>
            </a:r>
            <a:r>
              <a:rPr lang="en-US" dirty="0" err="1" smtClean="0">
                <a:sym typeface="Wingdings" pitchFamily="2" charset="2"/>
              </a:rPr>
              <a:t>analyte</a:t>
            </a:r>
            <a:r>
              <a:rPr lang="en-US" dirty="0" smtClean="0">
                <a:sym typeface="Wingdings" pitchFamily="2" charset="2"/>
              </a:rPr>
              <a:t> will remain in solution and not to be included in mass of precipitate.</a:t>
            </a: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3200" dirty="0" smtClean="0">
                <a:sym typeface="Wingdings" pitchFamily="2" charset="2"/>
              </a:rPr>
              <a:t>2.	Crystal formation – crystal grow in two 	stages: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9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Nucleation – rapid combination of molecules to form </a:t>
            </a:r>
            <a:r>
              <a:rPr lang="en-US" dirty="0" err="1" smtClean="0"/>
              <a:t>nano</a:t>
            </a:r>
            <a:r>
              <a:rPr lang="en-US" dirty="0" smtClean="0"/>
              <a:t> scale aggregates.</a:t>
            </a:r>
          </a:p>
          <a:p>
            <a:r>
              <a:rPr lang="en-US" dirty="0" smtClean="0"/>
              <a:t>Particle growth – addition of more molecules to form macroscopic particles (larger than µm scale.</a:t>
            </a:r>
          </a:p>
          <a:p>
            <a:r>
              <a:rPr lang="en-US" u="sng" dirty="0" smtClean="0"/>
              <a:t>Potential problems with particle formation</a:t>
            </a:r>
            <a:r>
              <a:rPr lang="en-US" dirty="0" smtClean="0"/>
              <a:t>:</a:t>
            </a:r>
          </a:p>
          <a:p>
            <a:r>
              <a:rPr lang="en-US" dirty="0" smtClean="0"/>
              <a:t>1.	Colloid formation – a colloid is a </a:t>
            </a:r>
            <a:r>
              <a:rPr lang="en-US" dirty="0" err="1" smtClean="0"/>
              <a:t>nano</a:t>
            </a:r>
            <a:r>
              <a:rPr lang="en-US" dirty="0" smtClean="0"/>
              <a:t> scale 	particle (diameter &lt;  1 µm) that remains 	suspended in solution.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6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Potential problems with particle 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Colloids are recognized by  “cloudy” appearance of  solution. --  colloids are small enough to remain suspended by collisions with solvent molecules.</a:t>
            </a:r>
          </a:p>
          <a:p>
            <a:r>
              <a:rPr lang="en-US" dirty="0" smtClean="0"/>
              <a:t>Colloids are small enough to pass through filtration device and not be included in mass determination.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7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Potential problems with particle 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2.	Elevated temperature:</a:t>
            </a:r>
          </a:p>
          <a:p>
            <a:r>
              <a:rPr lang="en-US" dirty="0" smtClean="0"/>
              <a:t>       Most salts have higher solubility with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increasing temperature.</a:t>
            </a:r>
          </a:p>
          <a:p>
            <a:r>
              <a:rPr lang="en-US" dirty="0" smtClean="0"/>
              <a:t>3.	Co-precipitation:</a:t>
            </a:r>
          </a:p>
          <a:p>
            <a:r>
              <a:rPr lang="en-US" dirty="0" smtClean="0"/>
              <a:t>       Inclusion of impurities in precipitate.</a:t>
            </a:r>
          </a:p>
          <a:p>
            <a:pPr lvl="1"/>
            <a:r>
              <a:rPr lang="en-US" dirty="0" smtClean="0"/>
              <a:t>   Random occupation of sites in crystal lattice by  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 undesired species. – occurs when impurity has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 similar size and charge to desired </a:t>
            </a:r>
            <a:r>
              <a:rPr lang="en-US" dirty="0" err="1" smtClean="0"/>
              <a:t>analyte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   Pockets of impurities trapped with crystal structure.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0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 to potential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1.	Digestion:</a:t>
            </a:r>
          </a:p>
          <a:p>
            <a:r>
              <a:rPr lang="en-US" dirty="0"/>
              <a:t> </a:t>
            </a:r>
            <a:r>
              <a:rPr lang="en-US" dirty="0" smtClean="0"/>
              <a:t>      allow precipitate to form slowly in presence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of  hot solvent that cools gradually.</a:t>
            </a:r>
          </a:p>
          <a:p>
            <a:r>
              <a:rPr lang="en-US" dirty="0" smtClean="0"/>
              <a:t>2.	Washing:</a:t>
            </a:r>
          </a:p>
          <a:p>
            <a:r>
              <a:rPr lang="en-US" dirty="0" smtClean="0"/>
              <a:t>      filter the precipitate and wash with pure solvent, 	then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re-dissolve precipitate (heating) and allow 	precipitate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to recrystallize slowly.</a:t>
            </a:r>
          </a:p>
          <a:p>
            <a:pPr marL="457200" lvl="1" indent="0">
              <a:buNone/>
            </a:pPr>
            <a:r>
              <a:rPr lang="en-US" dirty="0" smtClean="0"/>
              <a:t>      ( equilibrium will </a:t>
            </a:r>
            <a:r>
              <a:rPr lang="en-US" dirty="0" err="1" smtClean="0"/>
              <a:t>favour</a:t>
            </a:r>
            <a:r>
              <a:rPr lang="en-US" dirty="0" smtClean="0"/>
              <a:t> formation of pure crystals)</a:t>
            </a:r>
          </a:p>
          <a:p>
            <a:r>
              <a:rPr lang="en-US" dirty="0" smtClean="0"/>
              <a:t>3.	Masking agents.</a:t>
            </a:r>
          </a:p>
          <a:p>
            <a:r>
              <a:rPr lang="en-US" dirty="0"/>
              <a:t> </a:t>
            </a:r>
            <a:r>
              <a:rPr lang="en-US" dirty="0" smtClean="0"/>
              <a:t>     	species that complex with impurities to keep from  	forming precipitate.</a:t>
            </a:r>
          </a:p>
          <a:p>
            <a:r>
              <a:rPr lang="en-US" dirty="0" smtClean="0"/>
              <a:t>        CN</a:t>
            </a:r>
            <a:r>
              <a:rPr lang="en-US" baseline="30000" dirty="0" smtClean="0"/>
              <a:t>-</a:t>
            </a:r>
            <a:r>
              <a:rPr lang="en-US" dirty="0" smtClean="0"/>
              <a:t> complexes with Mn</a:t>
            </a:r>
            <a:r>
              <a:rPr lang="en-US" baseline="30000" dirty="0" smtClean="0"/>
              <a:t>2+ </a:t>
            </a:r>
            <a:r>
              <a:rPr lang="en-US" dirty="0" smtClean="0"/>
              <a:t>in analysis of Ca</a:t>
            </a:r>
            <a:r>
              <a:rPr lang="en-US" baseline="30000" dirty="0" smtClean="0"/>
              <a:t>2+.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1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Gravimetric analysis 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	Precipitation Method:  </a:t>
            </a:r>
          </a:p>
          <a:p>
            <a:r>
              <a:rPr lang="en-US" dirty="0" smtClean="0"/>
              <a:t>Dissolved </a:t>
            </a:r>
            <a:r>
              <a:rPr lang="en-US" dirty="0" err="1" smtClean="0"/>
              <a:t>analyte</a:t>
            </a:r>
            <a:r>
              <a:rPr lang="en-US" dirty="0" smtClean="0"/>
              <a:t> converted to sparingly soluble precipitate.</a:t>
            </a:r>
          </a:p>
          <a:p>
            <a:r>
              <a:rPr lang="en-US" dirty="0" smtClean="0"/>
              <a:t>a).	readily filtered</a:t>
            </a:r>
          </a:p>
          <a:p>
            <a:r>
              <a:rPr lang="en-US" dirty="0" smtClean="0"/>
              <a:t>b).	low solubility</a:t>
            </a:r>
          </a:p>
          <a:p>
            <a:r>
              <a:rPr lang="en-US" dirty="0" smtClean="0"/>
              <a:t>c).	converted to product of known 	composition (heat)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8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Precipitation methods 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/>
              <a:t>Eg</a:t>
            </a:r>
            <a:r>
              <a:rPr lang="en-US" dirty="0" smtClean="0"/>
              <a:t>:-   Excess of oxalic acid (H</a:t>
            </a:r>
            <a:r>
              <a:rPr lang="en-US" baseline="-25000" dirty="0" smtClean="0"/>
              <a:t>2</a:t>
            </a: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dirty="0" smtClean="0"/>
              <a:t>O</a:t>
            </a:r>
            <a:r>
              <a:rPr lang="en-US" baseline="-25000" dirty="0" smtClean="0"/>
              <a:t>4</a:t>
            </a:r>
            <a:r>
              <a:rPr lang="en-US" baseline="30000" dirty="0" smtClean="0"/>
              <a:t>2-</a:t>
            </a:r>
            <a:r>
              <a:rPr lang="en-US" dirty="0" smtClean="0"/>
              <a:t>) added carefully to measured volume of Ca</a:t>
            </a:r>
            <a:r>
              <a:rPr lang="en-US" baseline="30000" dirty="0" smtClean="0"/>
              <a:t>2+ </a:t>
            </a:r>
            <a:r>
              <a:rPr lang="en-US" dirty="0" smtClean="0"/>
              <a:t>.</a:t>
            </a:r>
          </a:p>
          <a:p>
            <a:r>
              <a:rPr lang="en-US" dirty="0" smtClean="0"/>
              <a:t>(i)	in basic solution:</a:t>
            </a:r>
          </a:p>
          <a:p>
            <a:r>
              <a:rPr lang="en-US" dirty="0" smtClean="0"/>
              <a:t>Ca</a:t>
            </a:r>
            <a:r>
              <a:rPr lang="en-US" baseline="30000" dirty="0" smtClean="0"/>
              <a:t>2+</a:t>
            </a:r>
            <a:r>
              <a:rPr lang="en-US" dirty="0" smtClean="0"/>
              <a:t>(</a:t>
            </a:r>
            <a:r>
              <a:rPr lang="en-US" dirty="0" err="1" smtClean="0"/>
              <a:t>aq</a:t>
            </a:r>
            <a:r>
              <a:rPr lang="en-US" dirty="0" smtClean="0"/>
              <a:t>)  +    C</a:t>
            </a:r>
            <a:r>
              <a:rPr lang="en-US" baseline="-25000" dirty="0" smtClean="0"/>
              <a:t>2</a:t>
            </a:r>
            <a:r>
              <a:rPr lang="en-US" dirty="0" smtClean="0"/>
              <a:t>O</a:t>
            </a:r>
            <a:r>
              <a:rPr lang="en-US" baseline="-25000" dirty="0" smtClean="0"/>
              <a:t>4</a:t>
            </a:r>
            <a:r>
              <a:rPr lang="en-US" baseline="30000" dirty="0" smtClean="0"/>
              <a:t>2-</a:t>
            </a:r>
            <a:r>
              <a:rPr lang="en-US" dirty="0" smtClean="0"/>
              <a:t>(</a:t>
            </a:r>
            <a:r>
              <a:rPr lang="en-US" dirty="0" err="1" smtClean="0"/>
              <a:t>aq</a:t>
            </a:r>
            <a:r>
              <a:rPr lang="en-US" dirty="0" smtClean="0"/>
              <a:t>)  </a:t>
            </a:r>
            <a:r>
              <a:rPr lang="en-US" dirty="0" smtClean="0">
                <a:sym typeface="Wingdings" pitchFamily="2" charset="2"/>
              </a:rPr>
              <a:t>    CaC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O</a:t>
            </a:r>
            <a:r>
              <a:rPr lang="en-US" baseline="-25000" dirty="0" smtClean="0">
                <a:sym typeface="Wingdings" pitchFamily="2" charset="2"/>
              </a:rPr>
              <a:t>4</a:t>
            </a:r>
            <a:r>
              <a:rPr lang="en-US" dirty="0" smtClean="0">
                <a:sym typeface="Wingdings" pitchFamily="2" charset="2"/>
              </a:rPr>
              <a:t>(s)</a:t>
            </a:r>
          </a:p>
          <a:p>
            <a:r>
              <a:rPr lang="en-US" dirty="0" smtClean="0">
                <a:sym typeface="Wingdings" pitchFamily="2" charset="2"/>
              </a:rPr>
              <a:t>(ii)	</a:t>
            </a:r>
            <a:r>
              <a:rPr lang="en-US" dirty="0">
                <a:sym typeface="Wingdings" pitchFamily="2" charset="2"/>
              </a:rPr>
              <a:t> CaC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O</a:t>
            </a:r>
            <a:r>
              <a:rPr lang="en-US" baseline="-25000" dirty="0">
                <a:sym typeface="Wingdings" pitchFamily="2" charset="2"/>
              </a:rPr>
              <a:t>4</a:t>
            </a:r>
            <a:r>
              <a:rPr lang="en-US" dirty="0">
                <a:sym typeface="Wingdings" pitchFamily="2" charset="2"/>
              </a:rPr>
              <a:t>(s) </a:t>
            </a:r>
            <a:r>
              <a:rPr lang="en-US" dirty="0" smtClean="0">
                <a:sym typeface="Wingdings" pitchFamily="2" charset="2"/>
              </a:rPr>
              <a:t>is collected in a filtering crucible then dried.</a:t>
            </a:r>
          </a:p>
          <a:p>
            <a:r>
              <a:rPr lang="en-US" dirty="0" smtClean="0">
                <a:sym typeface="Wingdings" pitchFamily="2" charset="2"/>
              </a:rPr>
              <a:t>(iii) </a:t>
            </a:r>
            <a:r>
              <a:rPr lang="en-US" dirty="0">
                <a:sym typeface="Wingdings" pitchFamily="2" charset="2"/>
              </a:rPr>
              <a:t>CaC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O</a:t>
            </a:r>
            <a:r>
              <a:rPr lang="en-US" baseline="-25000" dirty="0">
                <a:sym typeface="Wingdings" pitchFamily="2" charset="2"/>
              </a:rPr>
              <a:t>4</a:t>
            </a:r>
            <a:r>
              <a:rPr lang="en-US" dirty="0">
                <a:sym typeface="Wingdings" pitchFamily="2" charset="2"/>
              </a:rPr>
              <a:t>(s)</a:t>
            </a:r>
            <a:r>
              <a:rPr lang="en-US" dirty="0" smtClean="0">
                <a:sym typeface="Wingdings" pitchFamily="2" charset="2"/>
              </a:rPr>
              <a:t>   </a:t>
            </a:r>
            <a:r>
              <a:rPr lang="en-US" dirty="0" err="1" smtClean="0">
                <a:sym typeface="Wingdings" pitchFamily="2" charset="2"/>
              </a:rPr>
              <a:t>ignitd</a:t>
            </a:r>
            <a:r>
              <a:rPr lang="en-US" dirty="0" smtClean="0">
                <a:sym typeface="Wingdings" pitchFamily="2" charset="2"/>
              </a:rPr>
              <a:t> to produce calcium oxide:</a:t>
            </a:r>
          </a:p>
          <a:p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    </a:t>
            </a:r>
            <a:r>
              <a:rPr lang="en-US" dirty="0">
                <a:sym typeface="Wingdings" pitchFamily="2" charset="2"/>
              </a:rPr>
              <a:t>CaC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O</a:t>
            </a:r>
            <a:r>
              <a:rPr lang="en-US" baseline="-25000" dirty="0">
                <a:sym typeface="Wingdings" pitchFamily="2" charset="2"/>
              </a:rPr>
              <a:t>4</a:t>
            </a:r>
            <a:r>
              <a:rPr lang="en-US" dirty="0">
                <a:sym typeface="Wingdings" pitchFamily="2" charset="2"/>
              </a:rPr>
              <a:t>(s</a:t>
            </a:r>
            <a:r>
              <a:rPr lang="en-US" dirty="0" smtClean="0">
                <a:sym typeface="Wingdings" pitchFamily="2" charset="2"/>
              </a:rPr>
              <a:t>) 	     </a:t>
            </a:r>
            <a:r>
              <a:rPr lang="en-US" dirty="0" err="1" smtClean="0">
                <a:sym typeface="Wingdings" pitchFamily="2" charset="2"/>
              </a:rPr>
              <a:t>CaO</a:t>
            </a:r>
            <a:r>
              <a:rPr lang="en-US" dirty="0" smtClean="0">
                <a:sym typeface="Wingdings" pitchFamily="2" charset="2"/>
              </a:rPr>
              <a:t>(s)  + CO(g)  + CO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(g)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424856"/>
              </p:ext>
            </p:extLst>
          </p:nvPr>
        </p:nvGraphicFramePr>
        <p:xfrm>
          <a:off x="2895600" y="5410200"/>
          <a:ext cx="6286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419040" imgH="203040" progId="Equation.3">
                  <p:embed/>
                </p:oleObj>
              </mc:Choice>
              <mc:Fallback>
                <p:oleObj name="Equation" r:id="rId3" imgW="41904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5600" y="5410200"/>
                        <a:ext cx="62865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9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(iv)	  </a:t>
            </a:r>
            <a:r>
              <a:rPr lang="en-US" dirty="0" err="1" smtClean="0"/>
              <a:t>CaO</a:t>
            </a:r>
            <a:r>
              <a:rPr lang="en-US" dirty="0" smtClean="0"/>
              <a:t>(s)   cooled, and weighed.</a:t>
            </a:r>
          </a:p>
          <a:p>
            <a:r>
              <a:rPr lang="en-US" dirty="0" smtClean="0"/>
              <a:t>(v)	  Original concentration of Ca</a:t>
            </a:r>
            <a:r>
              <a:rPr lang="en-US" baseline="30000" dirty="0" smtClean="0"/>
              <a:t>2+</a:t>
            </a:r>
            <a:r>
              <a:rPr lang="en-US" dirty="0" smtClean="0"/>
              <a:t> is 		  computed.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7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2.	</a:t>
            </a:r>
            <a:r>
              <a:rPr lang="en-US" u="sng" dirty="0" smtClean="0"/>
              <a:t>Volatilization Methods</a:t>
            </a:r>
            <a:r>
              <a:rPr lang="en-US" dirty="0" smtClean="0"/>
              <a:t>:</a:t>
            </a:r>
          </a:p>
          <a:p>
            <a:r>
              <a:rPr lang="en-US" dirty="0"/>
              <a:t> </a:t>
            </a:r>
            <a:r>
              <a:rPr lang="en-US" dirty="0" smtClean="0"/>
              <a:t>     a)      </a:t>
            </a:r>
            <a:r>
              <a:rPr lang="en-US" dirty="0" err="1" smtClean="0"/>
              <a:t>Analyte</a:t>
            </a:r>
            <a:r>
              <a:rPr lang="en-US" dirty="0" smtClean="0"/>
              <a:t> is volatilized at suitable   	  	          temperature</a:t>
            </a:r>
          </a:p>
          <a:p>
            <a:r>
              <a:rPr lang="en-US" dirty="0"/>
              <a:t> </a:t>
            </a:r>
            <a:r>
              <a:rPr lang="en-US" dirty="0" smtClean="0"/>
              <a:t>    b)        Volatile product is collected and 			weighed.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-457200">
              <a:buFont typeface="Arial" pitchFamily="34" charset="0"/>
              <a:buChar char="•"/>
              <a:tabLst>
                <a:tab pos="969963" algn="l"/>
              </a:tabLst>
            </a:pPr>
            <a:r>
              <a:rPr lang="en-US" dirty="0" smtClean="0"/>
              <a:t>3.   Precipitates – Particle Size and Filterability</a:t>
            </a:r>
          </a:p>
          <a:p>
            <a:pPr marL="457200" lvl="1" indent="-457200">
              <a:buFont typeface="Arial" pitchFamily="34" charset="0"/>
              <a:buChar char="•"/>
              <a:tabLst>
                <a:tab pos="969963" algn="l"/>
              </a:tabLst>
            </a:pPr>
            <a:r>
              <a:rPr lang="en-US" dirty="0"/>
              <a:t> </a:t>
            </a:r>
            <a:r>
              <a:rPr lang="en-US" dirty="0" smtClean="0"/>
              <a:t>    a)   Colloids   (b)     particles   (c) Crystalline        	Formation 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2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a)   </a:t>
            </a:r>
            <a:r>
              <a:rPr lang="en-US" dirty="0" smtClean="0"/>
              <a:t>Colloids  -   ( d = 10</a:t>
            </a:r>
            <a:r>
              <a:rPr lang="en-US" baseline="30000" dirty="0" smtClean="0"/>
              <a:t>-7</a:t>
            </a:r>
            <a:r>
              <a:rPr lang="en-US" dirty="0" smtClean="0"/>
              <a:t>  to  10</a:t>
            </a:r>
            <a:r>
              <a:rPr lang="en-US" baseline="30000" dirty="0" smtClean="0"/>
              <a:t>-4</a:t>
            </a:r>
            <a:r>
              <a:rPr lang="en-US" dirty="0" smtClean="0"/>
              <a:t> cm)</a:t>
            </a:r>
          </a:p>
          <a:p>
            <a:r>
              <a:rPr lang="en-US" dirty="0" smtClean="0"/>
              <a:t>-  	invisible to naked eye.</a:t>
            </a:r>
          </a:p>
          <a:p>
            <a:r>
              <a:rPr lang="en-US" dirty="0" smtClean="0"/>
              <a:t>-  	not easily filtered , do not settle out of       	solution</a:t>
            </a:r>
          </a:p>
          <a:p>
            <a:r>
              <a:rPr lang="en-US" dirty="0"/>
              <a:t>(b)     </a:t>
            </a:r>
            <a:r>
              <a:rPr lang="en-US" dirty="0" smtClean="0"/>
              <a:t>particles – (0.10 mm  or greater)</a:t>
            </a:r>
          </a:p>
          <a:p>
            <a:r>
              <a:rPr lang="en-US" dirty="0" smtClean="0"/>
              <a:t>-	spontaneously settle out of solution</a:t>
            </a:r>
          </a:p>
          <a:p>
            <a:r>
              <a:rPr lang="en-US" dirty="0" smtClean="0"/>
              <a:t>-	readily filtered and washed free of 	impurities more desirable.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3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Note:-   Size of particles influenced by relative </a:t>
            </a:r>
            <a:r>
              <a:rPr lang="en-US" dirty="0" err="1" smtClean="0"/>
              <a:t>supersaturation</a:t>
            </a:r>
            <a:r>
              <a:rPr lang="en-US" dirty="0" smtClean="0"/>
              <a:t> of the solution in which is formed.</a:t>
            </a:r>
          </a:p>
          <a:p>
            <a:r>
              <a:rPr lang="en-US" dirty="0" smtClean="0"/>
              <a:t>Relative </a:t>
            </a:r>
            <a:r>
              <a:rPr lang="en-US" dirty="0" err="1" smtClean="0"/>
              <a:t>supersaturation</a:t>
            </a:r>
            <a:r>
              <a:rPr lang="en-US" dirty="0" smtClean="0"/>
              <a:t>   = </a:t>
            </a:r>
          </a:p>
          <a:p>
            <a:r>
              <a:rPr lang="en-US" dirty="0" smtClean="0"/>
              <a:t>Where:</a:t>
            </a:r>
          </a:p>
          <a:p>
            <a:r>
              <a:rPr lang="en-US" dirty="0" smtClean="0"/>
              <a:t>Q  = concentration of solute</a:t>
            </a:r>
          </a:p>
          <a:p>
            <a:r>
              <a:rPr lang="en-US" dirty="0" smtClean="0"/>
              <a:t>S  =  solute’s equilibrium constant  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635485"/>
              </p:ext>
            </p:extLst>
          </p:nvPr>
        </p:nvGraphicFramePr>
        <p:xfrm>
          <a:off x="5638800" y="3124200"/>
          <a:ext cx="60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393480" imgH="393480" progId="Equation.3">
                  <p:embed/>
                </p:oleObj>
              </mc:Choice>
              <mc:Fallback>
                <p:oleObj name="Equation" r:id="rId3" imgW="39348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3124200"/>
                        <a:ext cx="6096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6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Precipitate solubility</a:t>
            </a:r>
          </a:p>
          <a:p>
            <a:r>
              <a:rPr lang="en-US" dirty="0" smtClean="0"/>
              <a:t>Temperature</a:t>
            </a:r>
          </a:p>
          <a:p>
            <a:r>
              <a:rPr lang="en-US" dirty="0" smtClean="0"/>
              <a:t>Reactant concentration</a:t>
            </a:r>
          </a:p>
          <a:p>
            <a:r>
              <a:rPr lang="en-US" dirty="0" smtClean="0"/>
              <a:t>Rate of reactant mixing</a:t>
            </a:r>
          </a:p>
          <a:p>
            <a:r>
              <a:rPr lang="en-US" dirty="0" smtClean="0"/>
              <a:t>If             is large  </a:t>
            </a:r>
            <a:r>
              <a:rPr lang="en-US" dirty="0" smtClean="0">
                <a:sym typeface="Wingdings" pitchFamily="2" charset="2"/>
              </a:rPr>
              <a:t>  small particle  (colloids)</a:t>
            </a:r>
          </a:p>
          <a:p>
            <a:r>
              <a:rPr lang="en-US" dirty="0" smtClean="0">
                <a:sym typeface="Wingdings" pitchFamily="2" charset="2"/>
              </a:rPr>
              <a:t>If             is small     crystalline solid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338399"/>
              </p:ext>
            </p:extLst>
          </p:nvPr>
        </p:nvGraphicFramePr>
        <p:xfrm>
          <a:off x="1447800" y="3962400"/>
          <a:ext cx="60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393480" imgH="393480" progId="Equation.3">
                  <p:embed/>
                </p:oleObj>
              </mc:Choice>
              <mc:Fallback>
                <p:oleObj name="Equation" r:id="rId3" imgW="393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962400"/>
                        <a:ext cx="609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466832"/>
              </p:ext>
            </p:extLst>
          </p:nvPr>
        </p:nvGraphicFramePr>
        <p:xfrm>
          <a:off x="1447800" y="4495800"/>
          <a:ext cx="60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393480" imgH="393480" progId="Equation.3">
                  <p:embed/>
                </p:oleObj>
              </mc:Choice>
              <mc:Fallback>
                <p:oleObj name="Equation" r:id="rId5" imgW="393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495800"/>
                        <a:ext cx="609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8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c.  </a:t>
            </a:r>
            <a:r>
              <a:rPr lang="en-US" u="sng" dirty="0" smtClean="0"/>
              <a:t>Crystalline formation</a:t>
            </a:r>
            <a:r>
              <a:rPr lang="en-US" dirty="0" smtClean="0"/>
              <a:t>:</a:t>
            </a:r>
          </a:p>
          <a:p>
            <a:r>
              <a:rPr lang="en-US" dirty="0" smtClean="0"/>
              <a:t>(i)		Raising Temperature (increase S)</a:t>
            </a:r>
          </a:p>
          <a:p>
            <a:r>
              <a:rPr lang="en-US" dirty="0" smtClean="0"/>
              <a:t>(ii)		Using dilute solution (minimizes Q)</a:t>
            </a:r>
          </a:p>
          <a:p>
            <a:r>
              <a:rPr lang="en-US" dirty="0" smtClean="0"/>
              <a:t>(iii)		Slow addition of precipitating agent 		with 	stirring (minimizes Q)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9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4.	Mechanism of Precipitate Formation:</a:t>
            </a:r>
          </a:p>
          <a:p>
            <a:r>
              <a:rPr lang="en-US" dirty="0" smtClean="0"/>
              <a:t>a).  </a:t>
            </a:r>
            <a:r>
              <a:rPr lang="en-US" u="sng" dirty="0" smtClean="0"/>
              <a:t>Nucleation</a:t>
            </a:r>
            <a:r>
              <a:rPr lang="en-US" dirty="0" smtClean="0"/>
              <a:t> -  formation of a stable solid due to number of atoms, ions, or molecules join together.  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:- formation on surface of suspended contaminants (dust particles)</a:t>
            </a:r>
          </a:p>
          <a:p>
            <a:r>
              <a:rPr lang="en-US" dirty="0" smtClean="0"/>
              <a:t>b). 	</a:t>
            </a:r>
            <a:r>
              <a:rPr lang="en-US" u="sng" dirty="0" smtClean="0"/>
              <a:t>Particle Growth</a:t>
            </a:r>
            <a:r>
              <a:rPr lang="en-US" dirty="0" smtClean="0"/>
              <a:t> – growth on existing nuclei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9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             is high  -  rate of nucleation increases</a:t>
            </a:r>
          </a:p>
          <a:p>
            <a:r>
              <a:rPr lang="en-US" dirty="0" smtClean="0"/>
              <a:t>If             is low  - particle growth dominates, excluding nucleation. </a:t>
            </a:r>
          </a:p>
          <a:p>
            <a:r>
              <a:rPr lang="en-US" dirty="0" smtClean="0"/>
              <a:t>Note 1:-   Nucleation dominates -  results in a large number of very fine particles.</a:t>
            </a:r>
          </a:p>
          <a:p>
            <a:r>
              <a:rPr lang="en-US" dirty="0" smtClean="0"/>
              <a:t>Note 2:-    Particle growth dominates  - small number of larger particles.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78964017"/>
              </p:ext>
            </p:extLst>
          </p:nvPr>
        </p:nvGraphicFramePr>
        <p:xfrm>
          <a:off x="1600200" y="1676400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393529" imgH="393529" progId="Equation.3">
                  <p:embed/>
                </p:oleObj>
              </mc:Choice>
              <mc:Fallback>
                <p:oleObj name="Equation" r:id="rId3" imgW="393529" imgH="393529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76400"/>
                        <a:ext cx="393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0803982"/>
              </p:ext>
            </p:extLst>
          </p:nvPr>
        </p:nvGraphicFramePr>
        <p:xfrm>
          <a:off x="1600200" y="2286000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393529" imgH="393529" progId="Equation.3">
                  <p:embed/>
                </p:oleObj>
              </mc:Choice>
              <mc:Fallback>
                <p:oleObj name="Equation" r:id="rId5" imgW="393529" imgH="393529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86000"/>
                        <a:ext cx="393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3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5.  Gravimetric Calculations:</a:t>
            </a:r>
          </a:p>
          <a:p>
            <a:r>
              <a:rPr lang="en-US" dirty="0" smtClean="0"/>
              <a:t>% </a:t>
            </a:r>
            <a:r>
              <a:rPr lang="en-US" dirty="0" err="1" smtClean="0"/>
              <a:t>Analyte</a:t>
            </a:r>
            <a:r>
              <a:rPr lang="en-US" dirty="0" smtClean="0"/>
              <a:t>  =</a:t>
            </a:r>
          </a:p>
          <a:p>
            <a:endParaRPr lang="en-US" dirty="0"/>
          </a:p>
          <a:p>
            <a:r>
              <a:rPr lang="en-US" dirty="0" smtClean="0"/>
              <a:t>Gravimetric Factor (GF)  </a:t>
            </a:r>
          </a:p>
          <a:p>
            <a:r>
              <a:rPr lang="en-US" dirty="0" smtClean="0"/>
              <a:t>GF = </a:t>
            </a:r>
          </a:p>
          <a:p>
            <a:r>
              <a:rPr lang="en-US" dirty="0" smtClean="0"/>
              <a:t>Where a and b are stoichiometry of an </a:t>
            </a:r>
            <a:r>
              <a:rPr lang="en-US" dirty="0" err="1" smtClean="0"/>
              <a:t>analyte</a:t>
            </a:r>
            <a:r>
              <a:rPr lang="en-US" dirty="0" smtClean="0"/>
              <a:t> and precipitate respectively.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194018"/>
              </p:ext>
            </p:extLst>
          </p:nvPr>
        </p:nvGraphicFramePr>
        <p:xfrm>
          <a:off x="3276600" y="2056410"/>
          <a:ext cx="1905000" cy="915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977760" imgH="469800" progId="Equation.3">
                  <p:embed/>
                </p:oleObj>
              </mc:Choice>
              <mc:Fallback>
                <p:oleObj name="Equation" r:id="rId3" imgW="977760" imgH="469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2056410"/>
                        <a:ext cx="1905000" cy="915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923583"/>
              </p:ext>
            </p:extLst>
          </p:nvPr>
        </p:nvGraphicFramePr>
        <p:xfrm>
          <a:off x="1981200" y="3962400"/>
          <a:ext cx="1828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1409400" imgH="469800" progId="Equation.3">
                  <p:embed/>
                </p:oleObj>
              </mc:Choice>
              <mc:Fallback>
                <p:oleObj name="Equation" r:id="rId5" imgW="1409400" imgH="469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81200" y="3962400"/>
                        <a:ext cx="18288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AMH - 2020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AC3-978B-4FE1-86FB-38BD222B66C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3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Microsoft Office PowerPoint</Application>
  <PresentationFormat>On-screen Show (4:3)</PresentationFormat>
  <Paragraphs>466</Paragraphs>
  <Slides>37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Office Theme</vt:lpstr>
      <vt:lpstr>Equation</vt:lpstr>
      <vt:lpstr>PowerPoint Presentation</vt:lpstr>
      <vt:lpstr>Gravimetric Analysis</vt:lpstr>
      <vt:lpstr>How to Perform a Successful Gravimetric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Potential problems with particle formation</vt:lpstr>
      <vt:lpstr>Potential problems with particle formation</vt:lpstr>
      <vt:lpstr>Solutions to potential problems</vt:lpstr>
      <vt:lpstr>Gravimetric analysis ..</vt:lpstr>
      <vt:lpstr>Precipitation methods ….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2023-10-10T12:46:10Z</dcterms:created>
  <dcterms:modified xsi:type="dcterms:W3CDTF">2023-10-10T12:47:09Z</dcterms:modified>
</cp:coreProperties>
</file>