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7" r:id="rId2"/>
    <p:sldId id="293" r:id="rId3"/>
    <p:sldId id="294" r:id="rId4"/>
    <p:sldId id="296" r:id="rId5"/>
    <p:sldId id="340" r:id="rId6"/>
    <p:sldId id="297" r:id="rId7"/>
    <p:sldId id="298" r:id="rId8"/>
    <p:sldId id="299" r:id="rId9"/>
    <p:sldId id="342" r:id="rId10"/>
    <p:sldId id="343" r:id="rId11"/>
    <p:sldId id="344" r:id="rId12"/>
    <p:sldId id="300" r:id="rId13"/>
    <p:sldId id="341" r:id="rId14"/>
    <p:sldId id="345" r:id="rId15"/>
    <p:sldId id="301" r:id="rId16"/>
    <p:sldId id="302" r:id="rId17"/>
    <p:sldId id="303" r:id="rId18"/>
    <p:sldId id="28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43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3: PROTISTA (Algae &amp; slim moulds)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GB" sz="3200" dirty="0" smtClean="0"/>
              <a:t>All are </a:t>
            </a:r>
            <a:r>
              <a:rPr lang="en-GB" sz="3200" dirty="0" smtClean="0">
                <a:solidFill>
                  <a:srgbClr val="FF0000"/>
                </a:solidFill>
              </a:rPr>
              <a:t>Eukaryotes</a:t>
            </a:r>
            <a:endParaRPr lang="en-GB" sz="3200" dirty="0">
              <a:solidFill>
                <a:srgbClr val="FF0000"/>
              </a:solidFill>
            </a:endParaRPr>
          </a:p>
          <a:p>
            <a:pPr marL="137160" indent="0" eaLnBrk="1" hangingPunct="1">
              <a:buNone/>
              <a:defRPr/>
            </a:pPr>
            <a:endParaRPr lang="en-GB" sz="3200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GB" sz="3200" dirty="0" smtClean="0"/>
              <a:t>All algae contain </a:t>
            </a:r>
            <a:r>
              <a:rPr lang="en-GB" sz="3200" b="1" dirty="0" smtClean="0">
                <a:solidFill>
                  <a:srgbClr val="00B0F0"/>
                </a:solidFill>
              </a:rPr>
              <a:t>Chlorophyll a</a:t>
            </a:r>
            <a:r>
              <a:rPr lang="en-GB" sz="3200" dirty="0" smtClean="0"/>
              <a:t> </a:t>
            </a:r>
          </a:p>
          <a:p>
            <a:pPr eaLnBrk="1" hangingPunct="1">
              <a:defRPr/>
            </a:pPr>
            <a:endParaRPr lang="en-GB" sz="3200" dirty="0" smtClean="0"/>
          </a:p>
          <a:p>
            <a:pPr eaLnBrk="1" hangingPunct="1">
              <a:defRPr/>
            </a:pPr>
            <a:r>
              <a:rPr lang="en-GB" sz="3200" dirty="0"/>
              <a:t>D</a:t>
            </a:r>
            <a:r>
              <a:rPr lang="en-GB" sz="3200" dirty="0" smtClean="0"/>
              <a:t>epending on the type of algae along with chlorophyll ‘a’ they can have </a:t>
            </a:r>
            <a:r>
              <a:rPr lang="en-GB" sz="3200" b="1" dirty="0" smtClean="0">
                <a:solidFill>
                  <a:srgbClr val="00B0F0"/>
                </a:solidFill>
              </a:rPr>
              <a:t>‘chlorophyll b’, ‘c’, ‘d’ or ‘e’</a:t>
            </a:r>
          </a:p>
          <a:p>
            <a:pPr marL="137160" indent="0" eaLnBrk="1" hangingPunct="1">
              <a:buNone/>
              <a:defRPr/>
            </a:pPr>
            <a:endParaRPr lang="en-GB" sz="3200" dirty="0" smtClean="0"/>
          </a:p>
          <a:p>
            <a:pPr eaLnBrk="1" hangingPunct="1">
              <a:defRPr/>
            </a:pPr>
            <a:r>
              <a:rPr lang="en-GB" sz="3200" dirty="0" smtClean="0"/>
              <a:t>Thus these algae are all </a:t>
            </a:r>
            <a:r>
              <a:rPr lang="en-GB" sz="3200" b="1" dirty="0" smtClean="0">
                <a:solidFill>
                  <a:srgbClr val="92D050"/>
                </a:solidFill>
              </a:rPr>
              <a:t>photosynthetic </a:t>
            </a:r>
            <a:r>
              <a:rPr lang="en-GB" sz="3200" b="1" dirty="0" err="1" smtClean="0">
                <a:solidFill>
                  <a:srgbClr val="92D050"/>
                </a:solidFill>
              </a:rPr>
              <a:t>protista</a:t>
            </a:r>
            <a:r>
              <a:rPr lang="en-GB" sz="3200" b="1" dirty="0" smtClean="0">
                <a:solidFill>
                  <a:srgbClr val="92D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046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229600" cy="6048712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Algae may occur in oceans, lakes, tanks, rivers streams and also in damp soil and on bodies of other organisms.</a:t>
            </a:r>
          </a:p>
          <a:p>
            <a:pPr marL="137160" indent="0" eaLnBrk="1" hangingPunct="1"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Ex. </a:t>
            </a:r>
            <a:r>
              <a:rPr lang="en-GB" i="1" dirty="0" err="1" smtClean="0"/>
              <a:t>Clamidomonas</a:t>
            </a:r>
            <a:r>
              <a:rPr lang="en-GB" i="1" dirty="0" smtClean="0"/>
              <a:t>, Spirogyra</a:t>
            </a:r>
            <a:endParaRPr lang="en-US" i="1" dirty="0" smtClean="0"/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90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4" descr="chlamydomonas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lum bright="-18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640" y="548680"/>
            <a:ext cx="2035175" cy="2598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436" name="Picture 5" descr="SpirogyraBig5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0"/>
          <a:stretch>
            <a:fillRect/>
          </a:stretch>
        </p:blipFill>
        <p:spPr bwMode="auto">
          <a:xfrm>
            <a:off x="5471319" y="3075607"/>
            <a:ext cx="2865438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403648" y="3075607"/>
            <a:ext cx="177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GB" i="1" dirty="0" err="1">
                <a:latin typeface="Arial" charset="0"/>
              </a:rPr>
              <a:t>Clamidomonas</a:t>
            </a:r>
            <a:r>
              <a:rPr lang="en-US" dirty="0">
                <a:latin typeface="Arial" charset="0"/>
              </a:rPr>
              <a:t> </a:t>
            </a: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7174707" y="5501307"/>
            <a:ext cx="1162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tabLst>
                <a:tab pos="3133725" algn="l"/>
              </a:tabLst>
            </a:pPr>
            <a:r>
              <a:rPr lang="en-GB" i="1">
                <a:latin typeface="Arial" charset="0"/>
              </a:rPr>
              <a:t>Spirogyra</a:t>
            </a:r>
          </a:p>
        </p:txBody>
      </p:sp>
    </p:spTree>
    <p:extLst>
      <p:ext uri="{BB962C8B-B14F-4D97-AF65-F5344CB8AC3E}">
        <p14:creationId xmlns:p14="http://schemas.microsoft.com/office/powerpoint/2010/main" val="31411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908720"/>
            <a:ext cx="4392488" cy="2431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12976"/>
            <a:ext cx="3937620" cy="295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592" y="4077072"/>
            <a:ext cx="3528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FF00"/>
                </a:solidFill>
              </a:rPr>
              <a:t>Algal blooms in water bodies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7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4: Fungi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GB" sz="3200" b="1" dirty="0" smtClean="0">
                <a:solidFill>
                  <a:srgbClr val="FF0000"/>
                </a:solidFill>
              </a:rPr>
              <a:t>non-photosynthetic</a:t>
            </a:r>
            <a:r>
              <a:rPr lang="en-GB" sz="3200" dirty="0" smtClean="0"/>
              <a:t> (no chlorophyll so can’t produce their own food), eukaryotic organisms</a:t>
            </a:r>
          </a:p>
          <a:p>
            <a:pPr marL="137160" indent="0" eaLnBrk="1" hangingPunct="1">
              <a:lnSpc>
                <a:spcPct val="80000"/>
              </a:lnSpc>
              <a:buNone/>
              <a:defRPr/>
            </a:pPr>
            <a:r>
              <a:rPr lang="en-GB" sz="3200" dirty="0" smtClean="0"/>
              <a:t> </a:t>
            </a:r>
          </a:p>
          <a:p>
            <a:pPr>
              <a:lnSpc>
                <a:spcPct val="80000"/>
              </a:lnSpc>
              <a:defRPr/>
            </a:pPr>
            <a:r>
              <a:rPr lang="en-GB" sz="3200" b="1" dirty="0" smtClean="0">
                <a:solidFill>
                  <a:srgbClr val="00B0F0"/>
                </a:solidFill>
              </a:rPr>
              <a:t>heterotrophic</a:t>
            </a:r>
            <a:r>
              <a:rPr lang="en-GB" sz="3200" dirty="0" smtClean="0"/>
              <a:t> (get their food from others</a:t>
            </a:r>
            <a:r>
              <a:rPr lang="en-GB" sz="3200" dirty="0"/>
              <a:t>) </a:t>
            </a:r>
            <a:endParaRPr lang="en-GB" sz="3200" dirty="0" smtClean="0"/>
          </a:p>
          <a:p>
            <a:pPr>
              <a:lnSpc>
                <a:spcPct val="80000"/>
              </a:lnSpc>
              <a:defRPr/>
            </a:pPr>
            <a:endParaRPr lang="en-GB" sz="3200" dirty="0"/>
          </a:p>
          <a:p>
            <a:pPr>
              <a:lnSpc>
                <a:spcPct val="80000"/>
              </a:lnSpc>
              <a:defRPr/>
            </a:pPr>
            <a:r>
              <a:rPr lang="en-GB" sz="3200" dirty="0" smtClean="0"/>
              <a:t>Most </a:t>
            </a:r>
            <a:r>
              <a:rPr lang="en-GB" sz="3200" dirty="0">
                <a:solidFill>
                  <a:schemeClr val="bg1"/>
                </a:solidFill>
              </a:rPr>
              <a:t>are small, microscopic, filamentous branched forms </a:t>
            </a:r>
            <a:r>
              <a:rPr lang="en-GB" sz="3200" dirty="0"/>
              <a:t>that </a:t>
            </a:r>
            <a:r>
              <a:rPr lang="en-GB" sz="3200" dirty="0">
                <a:solidFill>
                  <a:schemeClr val="bg1"/>
                </a:solidFill>
              </a:rPr>
              <a:t>bear </a:t>
            </a:r>
            <a:r>
              <a:rPr lang="en-GB" sz="3200" dirty="0" smtClean="0">
                <a:solidFill>
                  <a:schemeClr val="bg1"/>
                </a:solidFill>
              </a:rPr>
              <a:t>spores</a:t>
            </a:r>
            <a:endParaRPr lang="en-GB" sz="3200" dirty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GB" sz="3200" dirty="0" smtClean="0"/>
          </a:p>
          <a:p>
            <a:pPr eaLnBrk="1" hangingPunct="1">
              <a:lnSpc>
                <a:spcPct val="80000"/>
              </a:lnSpc>
              <a:defRPr/>
            </a:pPr>
            <a:endParaRPr lang="en-GB" sz="3200" dirty="0" smtClean="0"/>
          </a:p>
          <a:p>
            <a:pPr marL="137160" indent="0" eaLnBrk="1" hangingPunct="1">
              <a:lnSpc>
                <a:spcPct val="80000"/>
              </a:lnSpc>
              <a:buNone/>
              <a:defRPr/>
            </a:pPr>
            <a:endParaRPr lang="en-GB" sz="3200" dirty="0" smtClean="0"/>
          </a:p>
          <a:p>
            <a:pPr eaLnBrk="1" hangingPunct="1">
              <a:lnSpc>
                <a:spcPct val="80000"/>
              </a:lnSpc>
              <a:defRPr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1652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Ex. mushrooms </a:t>
            </a:r>
            <a:endParaRPr lang="en-US" dirty="0" smtClean="0"/>
          </a:p>
        </p:txBody>
      </p:sp>
      <p:pic>
        <p:nvPicPr>
          <p:cNvPr id="20484" name="Picture 4" descr="Amanita_muscar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08920"/>
            <a:ext cx="2701850" cy="344974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5" name="Picture 5" descr="agaricus_augustus_bw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96753"/>
            <a:ext cx="3248079" cy="2809304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89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5: Plantae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3200" dirty="0" smtClean="0"/>
              <a:t>Two types of plants as </a:t>
            </a:r>
            <a:r>
              <a:rPr lang="en-GB" sz="3200" dirty="0" smtClean="0">
                <a:solidFill>
                  <a:srgbClr val="FFC000"/>
                </a:solidFill>
              </a:rPr>
              <a:t>vascular</a:t>
            </a:r>
            <a:r>
              <a:rPr lang="en-GB" sz="3200" dirty="0" smtClean="0"/>
              <a:t> or </a:t>
            </a:r>
            <a:r>
              <a:rPr lang="en-GB" sz="3200" dirty="0" smtClean="0">
                <a:solidFill>
                  <a:srgbClr val="FFC000"/>
                </a:solidFill>
              </a:rPr>
              <a:t>non-vascular</a:t>
            </a:r>
          </a:p>
          <a:p>
            <a:pPr eaLnBrk="1" hangingPunct="1">
              <a:defRPr/>
            </a:pPr>
            <a:endParaRPr lang="en-GB" sz="3200" dirty="0" smtClean="0"/>
          </a:p>
          <a:p>
            <a:pPr eaLnBrk="1" hangingPunct="1">
              <a:defRPr/>
            </a:pPr>
            <a:r>
              <a:rPr lang="en-GB" sz="3200" dirty="0" smtClean="0"/>
              <a:t>Non-vascular plants are more primitive </a:t>
            </a:r>
          </a:p>
          <a:p>
            <a:pPr eaLnBrk="1" hangingPunct="1">
              <a:defRPr/>
            </a:pPr>
            <a:r>
              <a:rPr lang="en-GB" sz="3200" dirty="0" smtClean="0"/>
              <a:t>Ex.</a:t>
            </a:r>
          </a:p>
          <a:p>
            <a:pPr lvl="1" eaLnBrk="1" hangingPunct="1">
              <a:defRPr/>
            </a:pPr>
            <a:r>
              <a:rPr lang="en-GB" sz="3200" dirty="0" err="1" smtClean="0">
                <a:solidFill>
                  <a:srgbClr val="C00000"/>
                </a:solidFill>
              </a:rPr>
              <a:t>Thalloid</a:t>
            </a:r>
            <a:r>
              <a:rPr lang="en-GB" sz="3200" dirty="0" smtClean="0">
                <a:solidFill>
                  <a:srgbClr val="C00000"/>
                </a:solidFill>
              </a:rPr>
              <a:t> liverworts</a:t>
            </a:r>
          </a:p>
          <a:p>
            <a:pPr lvl="1" eaLnBrk="1" hangingPunct="1">
              <a:defRPr/>
            </a:pPr>
            <a:r>
              <a:rPr lang="en-GB" sz="3200" dirty="0" smtClean="0">
                <a:solidFill>
                  <a:srgbClr val="C00000"/>
                </a:solidFill>
              </a:rPr>
              <a:t>Mosses</a:t>
            </a:r>
          </a:p>
          <a:p>
            <a:pPr lvl="1" eaLnBrk="1" hangingPunct="1">
              <a:defRPr/>
            </a:pPr>
            <a:r>
              <a:rPr lang="en-GB" sz="3200" dirty="0" smtClean="0">
                <a:solidFill>
                  <a:srgbClr val="C00000"/>
                </a:solidFill>
              </a:rPr>
              <a:t>ferns</a:t>
            </a:r>
            <a:endParaRPr lang="en-US" sz="32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12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GB" sz="3200" dirty="0" err="1" smtClean="0">
                <a:solidFill>
                  <a:srgbClr val="C00000"/>
                </a:solidFill>
              </a:rPr>
              <a:t>Thalloid</a:t>
            </a:r>
            <a:r>
              <a:rPr lang="en-GB" sz="3200" dirty="0" smtClean="0">
                <a:solidFill>
                  <a:srgbClr val="C00000"/>
                </a:solidFill>
              </a:rPr>
              <a:t> liverworts</a:t>
            </a:r>
            <a:br>
              <a:rPr lang="en-GB" sz="3200" dirty="0" smtClean="0">
                <a:solidFill>
                  <a:srgbClr val="C00000"/>
                </a:solidFill>
              </a:rPr>
            </a:b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4310608" cy="3586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203705"/>
            <a:ext cx="5387752" cy="327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1513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GB" sz="3200" dirty="0" smtClean="0">
                <a:solidFill>
                  <a:srgbClr val="C00000"/>
                </a:solidFill>
              </a:rPr>
              <a:t>Mosses</a:t>
            </a:r>
            <a:br>
              <a:rPr lang="en-GB" sz="3200" dirty="0" smtClean="0">
                <a:solidFill>
                  <a:srgbClr val="C00000"/>
                </a:solidFill>
              </a:rPr>
            </a:b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3931105" cy="294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708920"/>
            <a:ext cx="6238503" cy="38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2146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GB" sz="3200" dirty="0">
                <a:solidFill>
                  <a:srgbClr val="C00000"/>
                </a:solidFill>
              </a:rPr>
              <a:t>F</a:t>
            </a:r>
            <a:r>
              <a:rPr lang="en-GB" sz="3200" dirty="0" smtClean="0">
                <a:solidFill>
                  <a:srgbClr val="C00000"/>
                </a:solidFill>
              </a:rPr>
              <a:t>erns</a:t>
            </a:r>
            <a:r>
              <a:rPr lang="en-US" sz="3200" dirty="0" smtClean="0">
                <a:solidFill>
                  <a:srgbClr val="C00000"/>
                </a:solidFill>
              </a:rPr>
              <a:t/>
            </a:r>
            <a:br>
              <a:rPr lang="en-US" sz="3200" dirty="0" smtClean="0">
                <a:solidFill>
                  <a:srgbClr val="C00000"/>
                </a:solidFill>
              </a:rPr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6347048" cy="3559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577724"/>
            <a:ext cx="4142087" cy="3092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435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229600" cy="5256584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GB" sz="3200" dirty="0" smtClean="0"/>
              <a:t>Vascular plants</a:t>
            </a:r>
          </a:p>
          <a:p>
            <a:pPr eaLnBrk="1" hangingPunct="1">
              <a:defRPr/>
            </a:pPr>
            <a:r>
              <a:rPr lang="en-GB" sz="3200" dirty="0" smtClean="0"/>
              <a:t>Can be of two types,</a:t>
            </a:r>
          </a:p>
          <a:p>
            <a:pPr marL="1099566" lvl="1" indent="-514350" eaLnBrk="1" hangingPunct="1">
              <a:buAutoNum type="arabicPeriod"/>
              <a:defRPr/>
            </a:pPr>
            <a:r>
              <a:rPr lang="en-GB" sz="3200" b="1" dirty="0" smtClean="0">
                <a:solidFill>
                  <a:srgbClr val="FFC000"/>
                </a:solidFill>
              </a:rPr>
              <a:t>Open seeded plants </a:t>
            </a:r>
            <a:r>
              <a:rPr lang="en-GB" sz="3200" dirty="0" smtClean="0"/>
              <a:t>(Ex </a:t>
            </a:r>
            <a:r>
              <a:rPr lang="en-GB" sz="3200" dirty="0" err="1" smtClean="0"/>
              <a:t>Cycas</a:t>
            </a:r>
            <a:r>
              <a:rPr lang="en-GB" sz="3200" dirty="0" smtClean="0"/>
              <a:t>)</a:t>
            </a:r>
          </a:p>
          <a:p>
            <a:pPr marL="1099566" lvl="1" indent="-514350" eaLnBrk="1" hangingPunct="1">
              <a:buAutoNum type="arabicPeriod"/>
              <a:defRPr/>
            </a:pPr>
            <a:endParaRPr lang="en-GB" sz="3200" dirty="0" smtClean="0"/>
          </a:p>
          <a:p>
            <a:pPr marL="1099566" lvl="1" indent="-514350" eaLnBrk="1" hangingPunct="1">
              <a:buAutoNum type="arabicPeriod"/>
              <a:defRPr/>
            </a:pPr>
            <a:r>
              <a:rPr lang="en-GB" sz="3200" b="1" dirty="0" smtClean="0">
                <a:solidFill>
                  <a:srgbClr val="FFC000"/>
                </a:solidFill>
              </a:rPr>
              <a:t>Enclosed seeded plants</a:t>
            </a:r>
          </a:p>
          <a:p>
            <a:pPr marL="585216" lvl="1" indent="0" eaLnBrk="1" hangingPunct="1">
              <a:buNone/>
              <a:defRPr/>
            </a:pPr>
            <a:endParaRPr lang="en-GB" sz="3200" b="1" dirty="0" smtClean="0">
              <a:solidFill>
                <a:srgbClr val="FFC000"/>
              </a:solidFill>
            </a:endParaRPr>
          </a:p>
          <a:p>
            <a:pPr marL="585216" lvl="1" indent="0" eaLnBrk="1" hangingPunct="1">
              <a:buNone/>
              <a:defRPr/>
            </a:pPr>
            <a:r>
              <a:rPr lang="en-GB" sz="3200" b="1" dirty="0" smtClean="0"/>
              <a:t>Can be</a:t>
            </a:r>
          </a:p>
          <a:p>
            <a:pPr lvl="2" eaLnBrk="1" hangingPunct="1">
              <a:defRPr/>
            </a:pPr>
            <a:r>
              <a:rPr lang="en-GB" sz="3200" b="1" dirty="0" smtClean="0">
                <a:solidFill>
                  <a:srgbClr val="FF0000"/>
                </a:solidFill>
              </a:rPr>
              <a:t>Dicot plants</a:t>
            </a:r>
          </a:p>
          <a:p>
            <a:pPr lvl="2" eaLnBrk="1" hangingPunct="1">
              <a:defRPr/>
            </a:pPr>
            <a:r>
              <a:rPr lang="en-GB" sz="3200" b="1" dirty="0" smtClean="0">
                <a:solidFill>
                  <a:srgbClr val="FF0000"/>
                </a:solidFill>
              </a:rPr>
              <a:t>Monocot plants</a:t>
            </a:r>
            <a:endParaRPr lang="en-US" sz="3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4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  <a:effectLst/>
              </a:rPr>
              <a:t>Differences between dicot and monocot plants</a:t>
            </a:r>
            <a:endParaRPr lang="en-US" dirty="0">
              <a:solidFill>
                <a:srgbClr val="FFFF00"/>
              </a:solidFill>
              <a:effectLst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8170404" cy="45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725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060848"/>
            <a:ext cx="8229600" cy="216024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Activity: </a:t>
            </a:r>
            <a:r>
              <a:rPr lang="en-US" sz="2800" dirty="0" smtClean="0"/>
              <a:t>Draw a flow chart to show the classification of Kingdom Plantae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683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6: </a:t>
            </a:r>
            <a:r>
              <a:rPr lang="en-GB" dirty="0" err="1" smtClean="0">
                <a:solidFill>
                  <a:srgbClr val="FFFF00"/>
                </a:solidFill>
                <a:effectLst/>
              </a:rPr>
              <a:t>Animalia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 eaLnBrk="1" hangingPunct="1">
              <a:buNone/>
              <a:defRPr/>
            </a:pPr>
            <a:r>
              <a:rPr lang="en-GB" dirty="0" smtClean="0"/>
              <a:t>This kingdom consists of 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 smtClean="0"/>
              <a:t>multicellular (composed of more than one cell)</a:t>
            </a:r>
          </a:p>
          <a:p>
            <a:pPr eaLnBrk="1" hangingPunct="1">
              <a:defRPr/>
            </a:pPr>
            <a:r>
              <a:rPr lang="en-GB" dirty="0" smtClean="0"/>
              <a:t> heterotrophic (feed on other organisms – cant produce their own food)organisms</a:t>
            </a:r>
          </a:p>
          <a:p>
            <a:pPr marL="137160" indent="0" eaLnBrk="1" hangingPunct="1">
              <a:buNone/>
              <a:defRPr/>
            </a:pPr>
            <a:endParaRPr lang="en-GB" dirty="0" smtClean="0"/>
          </a:p>
          <a:p>
            <a:pPr marL="137160" indent="0" eaLnBrk="1" hangingPunct="1">
              <a:buNone/>
              <a:defRPr/>
            </a:pPr>
            <a:r>
              <a:rPr lang="en-GB" dirty="0" smtClean="0"/>
              <a:t>Divided into 2 main Groups</a:t>
            </a:r>
          </a:p>
          <a:p>
            <a:pPr marL="651510" indent="-514350" eaLnBrk="1" hangingPunct="1">
              <a:buAutoNum type="arabicPeriod"/>
              <a:defRPr/>
            </a:pPr>
            <a:r>
              <a:rPr lang="en-GB" b="1" dirty="0" smtClean="0"/>
              <a:t>Invertebrates</a:t>
            </a:r>
          </a:p>
          <a:p>
            <a:pPr marL="651510" indent="-514350" eaLnBrk="1" hangingPunct="1">
              <a:buAutoNum type="arabicPeriod"/>
              <a:defRPr/>
            </a:pPr>
            <a:r>
              <a:rPr lang="en-GB" b="1" dirty="0" smtClean="0"/>
              <a:t>Vertebrates</a:t>
            </a:r>
            <a:r>
              <a:rPr lang="en-GB" dirty="0" smtClean="0"/>
              <a:t>                                                       </a:t>
            </a:r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847115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  <a:effectLst/>
              </a:rPr>
              <a:t>Invertebrates</a:t>
            </a:r>
            <a:endParaRPr lang="en-US" dirty="0">
              <a:solidFill>
                <a:srgbClr val="FFFF00"/>
              </a:solidFill>
              <a:effectLst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  <a:defRPr/>
            </a:pPr>
            <a:r>
              <a:rPr lang="it-IT" dirty="0" smtClean="0"/>
              <a:t>Consists of</a:t>
            </a:r>
          </a:p>
          <a:p>
            <a:pPr>
              <a:defRPr/>
            </a:pPr>
            <a:r>
              <a:rPr lang="it-IT" dirty="0" smtClean="0"/>
              <a:t>Porifera </a:t>
            </a:r>
            <a:r>
              <a:rPr lang="it-IT" dirty="0"/>
              <a:t>–Sponges</a:t>
            </a:r>
          </a:p>
          <a:p>
            <a:pPr>
              <a:defRPr/>
            </a:pPr>
            <a:r>
              <a:rPr lang="it-IT" dirty="0"/>
              <a:t>Cnidaria</a:t>
            </a:r>
          </a:p>
          <a:p>
            <a:pPr>
              <a:defRPr/>
            </a:pPr>
            <a:r>
              <a:rPr lang="it-IT" dirty="0" smtClean="0"/>
              <a:t>Plathihelminthes</a:t>
            </a:r>
          </a:p>
          <a:p>
            <a:pPr>
              <a:defRPr/>
            </a:pPr>
            <a:r>
              <a:rPr lang="it-IT" dirty="0" smtClean="0"/>
              <a:t>Nematoda</a:t>
            </a:r>
          </a:p>
          <a:p>
            <a:pPr eaLnBrk="1" hangingPunct="1">
              <a:defRPr/>
            </a:pPr>
            <a:r>
              <a:rPr lang="it-IT" dirty="0" smtClean="0"/>
              <a:t>Annelida</a:t>
            </a:r>
          </a:p>
          <a:p>
            <a:pPr eaLnBrk="1" hangingPunct="1">
              <a:defRPr/>
            </a:pPr>
            <a:r>
              <a:rPr lang="it-IT" dirty="0" smtClean="0"/>
              <a:t>Mollusca</a:t>
            </a:r>
          </a:p>
          <a:p>
            <a:pPr eaLnBrk="1" hangingPunct="1">
              <a:defRPr/>
            </a:pPr>
            <a:r>
              <a:rPr lang="it-IT" dirty="0" smtClean="0"/>
              <a:t>Arthropoda</a:t>
            </a:r>
          </a:p>
          <a:p>
            <a:pPr eaLnBrk="1" hangingPunct="1">
              <a:defRPr/>
            </a:pPr>
            <a:r>
              <a:rPr lang="it-IT" dirty="0" smtClean="0"/>
              <a:t>Echinodermata</a:t>
            </a: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00762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FF00"/>
                </a:solidFill>
                <a:effectLst/>
              </a:rPr>
              <a:t>Vertebrates -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37160" indent="0" eaLnBrk="1" hangingPunct="1">
              <a:buNone/>
              <a:defRPr/>
            </a:pPr>
            <a:r>
              <a:rPr lang="it-IT" b="1" dirty="0" smtClean="0"/>
              <a:t>Consists of</a:t>
            </a:r>
          </a:p>
          <a:p>
            <a:pPr marL="137160" indent="0" eaLnBrk="1" hangingPunct="1">
              <a:buNone/>
              <a:defRPr/>
            </a:pPr>
            <a:endParaRPr lang="it-IT" dirty="0" smtClean="0"/>
          </a:p>
          <a:p>
            <a:pPr eaLnBrk="1" hangingPunct="1">
              <a:defRPr/>
            </a:pPr>
            <a:r>
              <a:rPr lang="it-IT" dirty="0" smtClean="0"/>
              <a:t>Pisces </a:t>
            </a:r>
            <a:r>
              <a:rPr lang="it-IT" dirty="0"/>
              <a:t>-</a:t>
            </a:r>
            <a:r>
              <a:rPr lang="it-IT" dirty="0" smtClean="0"/>
              <a:t> Fish</a:t>
            </a:r>
          </a:p>
          <a:p>
            <a:pPr eaLnBrk="1" hangingPunct="1">
              <a:defRPr/>
            </a:pPr>
            <a:r>
              <a:rPr lang="it-IT" dirty="0" smtClean="0"/>
              <a:t>Amphibia</a:t>
            </a:r>
            <a:endParaRPr lang="it-IT" dirty="0"/>
          </a:p>
          <a:p>
            <a:pPr eaLnBrk="1" hangingPunct="1">
              <a:defRPr/>
            </a:pPr>
            <a:r>
              <a:rPr lang="it-IT" dirty="0" smtClean="0"/>
              <a:t>Reptilia</a:t>
            </a:r>
          </a:p>
          <a:p>
            <a:pPr eaLnBrk="1" hangingPunct="1">
              <a:defRPr/>
            </a:pPr>
            <a:r>
              <a:rPr lang="it-IT" dirty="0" smtClean="0"/>
              <a:t>Aves - Birds</a:t>
            </a:r>
          </a:p>
          <a:p>
            <a:pPr eaLnBrk="1" hangingPunct="1">
              <a:defRPr/>
            </a:pPr>
            <a:r>
              <a:rPr lang="it-IT" dirty="0" smtClean="0"/>
              <a:t>Mammalia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402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908720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C000"/>
                </a:solidFill>
              </a:rPr>
              <a:t>See you in </a:t>
            </a:r>
            <a:r>
              <a:rPr lang="en-US" sz="3600" smtClean="0">
                <a:solidFill>
                  <a:srgbClr val="FFC000"/>
                </a:solidFill>
              </a:rPr>
              <a:t>next class !</a:t>
            </a:r>
            <a:endParaRPr lang="en-US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3713</TotalTime>
  <Words>292</Words>
  <Application>Microsoft Office PowerPoint</Application>
  <PresentationFormat>On-screen Show (4:3)</PresentationFormat>
  <Paragraphs>79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Apex</vt:lpstr>
      <vt:lpstr>GENERAL BIOLOGY fdn 1203</vt:lpstr>
      <vt:lpstr>Kingdom 3: PROTISTA (Algae &amp; slim moulds)</vt:lpstr>
      <vt:lpstr>PowerPoint Presentation</vt:lpstr>
      <vt:lpstr>PowerPoint Presentation</vt:lpstr>
      <vt:lpstr>PowerPoint Presentation</vt:lpstr>
      <vt:lpstr>Kingdom 4: Fungi</vt:lpstr>
      <vt:lpstr>PowerPoint Presentation</vt:lpstr>
      <vt:lpstr>Kingdom 5: Plantae</vt:lpstr>
      <vt:lpstr>Thalloid liverworts </vt:lpstr>
      <vt:lpstr>Mosses </vt:lpstr>
      <vt:lpstr>Ferns </vt:lpstr>
      <vt:lpstr>PowerPoint Presentation</vt:lpstr>
      <vt:lpstr>Differences between dicot and monocot plants</vt:lpstr>
      <vt:lpstr>Activity: Draw a flow chart to show the classification of Kingdom Plantae</vt:lpstr>
      <vt:lpstr>Kingdom 6: Animalia</vt:lpstr>
      <vt:lpstr>Invertebrates</vt:lpstr>
      <vt:lpstr>Vertebrates - 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41</cp:revision>
  <dcterms:created xsi:type="dcterms:W3CDTF">2013-05-05T15:32:03Z</dcterms:created>
  <dcterms:modified xsi:type="dcterms:W3CDTF">2020-08-11T13:45:28Z</dcterms:modified>
</cp:coreProperties>
</file>