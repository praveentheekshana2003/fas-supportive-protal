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79" r:id="rId5"/>
    <p:sldId id="260" r:id="rId6"/>
    <p:sldId id="262" r:id="rId7"/>
    <p:sldId id="263" r:id="rId8"/>
    <p:sldId id="276" r:id="rId9"/>
    <p:sldId id="277" r:id="rId10"/>
    <p:sldId id="278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08/07/2020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Nature and Scope of Biology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Biology is the study </a:t>
            </a:r>
            <a:r>
              <a:rPr lang="en-US" sz="3200" b="1" dirty="0" smtClean="0"/>
              <a:t>of living things</a:t>
            </a:r>
          </a:p>
          <a:p>
            <a:r>
              <a:rPr lang="en-US" sz="3200" b="1" dirty="0" smtClean="0"/>
              <a:t>It is the Science </a:t>
            </a:r>
            <a:r>
              <a:rPr lang="en-US" sz="3200" b="1" dirty="0" smtClean="0"/>
              <a:t>of life</a:t>
            </a:r>
          </a:p>
          <a:p>
            <a:r>
              <a:rPr lang="en-US" sz="3200" b="1" dirty="0" smtClean="0"/>
              <a:t>It has formed by 2 </a:t>
            </a:r>
            <a:r>
              <a:rPr lang="en-US" sz="3200" b="1" dirty="0"/>
              <a:t>G</a:t>
            </a:r>
            <a:r>
              <a:rPr lang="en-US" sz="3200" b="1" dirty="0" smtClean="0"/>
              <a:t>reek </a:t>
            </a:r>
            <a:r>
              <a:rPr lang="en-US" sz="3200" b="1" dirty="0" smtClean="0"/>
              <a:t>words</a:t>
            </a:r>
          </a:p>
          <a:p>
            <a:r>
              <a:rPr lang="en-US" sz="3200" b="1" dirty="0" smtClean="0"/>
              <a:t>Bios </a:t>
            </a:r>
            <a:r>
              <a:rPr lang="en-US" sz="3200" b="1" dirty="0" smtClean="0"/>
              <a:t>means </a:t>
            </a:r>
            <a:r>
              <a:rPr lang="en-US" sz="3200" b="1" dirty="0" smtClean="0"/>
              <a:t>– </a:t>
            </a:r>
            <a:r>
              <a:rPr lang="en-US" sz="3200" b="1" dirty="0" smtClean="0"/>
              <a:t>life</a:t>
            </a:r>
          </a:p>
          <a:p>
            <a:r>
              <a:rPr lang="en-US" sz="3200" b="1" dirty="0" smtClean="0"/>
              <a:t>Logos </a:t>
            </a:r>
            <a:r>
              <a:rPr lang="en-US" sz="3200" b="1" dirty="0" smtClean="0"/>
              <a:t>means - </a:t>
            </a:r>
            <a:r>
              <a:rPr lang="en-US" sz="3200" b="1" dirty="0" smtClean="0"/>
              <a:t>knowledge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45795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Biology and its branches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229600" cy="470916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Traditionally </a:t>
            </a:r>
            <a:r>
              <a:rPr lang="en-US" sz="3600" b="1" dirty="0" smtClean="0"/>
              <a:t>two branches –Botany </a:t>
            </a:r>
            <a:r>
              <a:rPr lang="en-US" sz="3600" b="1" dirty="0" smtClean="0"/>
              <a:t>and Zoology</a:t>
            </a:r>
          </a:p>
          <a:p>
            <a:endParaRPr lang="en-US" sz="3600" b="1" dirty="0" smtClean="0"/>
          </a:p>
          <a:p>
            <a:endParaRPr lang="en-US" sz="3600" b="1" dirty="0"/>
          </a:p>
          <a:p>
            <a:endParaRPr lang="en-US" sz="3600" b="1" dirty="0" smtClean="0"/>
          </a:p>
        </p:txBody>
      </p:sp>
      <p:pic>
        <p:nvPicPr>
          <p:cNvPr id="2052" name="Picture 4" descr="Biology:What is Biology? Branches of Biology - Scoopskiller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531941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86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rmAutofit/>
          </a:bodyPr>
          <a:lstStyle/>
          <a:p>
            <a:r>
              <a:rPr lang="en-US" sz="3200" b="1" dirty="0"/>
              <a:t>3</a:t>
            </a:r>
            <a:r>
              <a:rPr lang="en-US" sz="3200" b="1" baseline="30000" dirty="0"/>
              <a:t>rd</a:t>
            </a:r>
            <a:r>
              <a:rPr lang="en-US" sz="3200" b="1" dirty="0"/>
              <a:t> division – </a:t>
            </a:r>
            <a:r>
              <a:rPr lang="en-US" sz="3200" b="1" dirty="0">
                <a:solidFill>
                  <a:srgbClr val="FFFF00"/>
                </a:solidFill>
              </a:rPr>
              <a:t>Microbiology</a:t>
            </a:r>
            <a:r>
              <a:rPr lang="en-US" sz="3200" b="1" dirty="0"/>
              <a:t> </a:t>
            </a:r>
            <a:endParaRPr lang="en-US" sz="3200" b="1" dirty="0" smtClean="0"/>
          </a:p>
          <a:p>
            <a:r>
              <a:rPr lang="en-US" sz="3200" b="1" dirty="0" smtClean="0"/>
              <a:t>Study of </a:t>
            </a:r>
            <a:r>
              <a:rPr lang="en-US" sz="3200" b="1" dirty="0" smtClean="0"/>
              <a:t>microscopic </a:t>
            </a:r>
            <a:r>
              <a:rPr lang="en-US" sz="3200" b="1" dirty="0"/>
              <a:t>animals not in </a:t>
            </a:r>
            <a:r>
              <a:rPr lang="en-US" sz="3200" b="1" dirty="0" smtClean="0"/>
              <a:t>Zoology </a:t>
            </a:r>
            <a:r>
              <a:rPr lang="en-US" sz="3200" b="1" dirty="0"/>
              <a:t>and </a:t>
            </a:r>
            <a:r>
              <a:rPr lang="en-US" sz="3200" b="1" dirty="0" smtClean="0"/>
              <a:t>Botany</a:t>
            </a:r>
            <a:endParaRPr lang="en-US" sz="3200" b="1" dirty="0"/>
          </a:p>
          <a:p>
            <a:endParaRPr lang="en-US" sz="3200" dirty="0"/>
          </a:p>
        </p:txBody>
      </p:sp>
      <p:pic>
        <p:nvPicPr>
          <p:cNvPr id="3074" name="Picture 2" descr="Molecular microbiology - Health Sciences | Curtin Universit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32" y="2636912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9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>
            <a:normAutofit/>
          </a:bodyPr>
          <a:lstStyle/>
          <a:p>
            <a:pPr marL="137160" indent="0" algn="ctr">
              <a:buNone/>
            </a:pPr>
            <a:r>
              <a:rPr lang="en-US" sz="3200" b="1" dirty="0" smtClean="0">
                <a:solidFill>
                  <a:srgbClr val="00B0F0"/>
                </a:solidFill>
              </a:rPr>
              <a:t>Biology</a:t>
            </a:r>
          </a:p>
          <a:p>
            <a:pPr lvl="8" algn="ctr"/>
            <a:endParaRPr lang="en-US" sz="1800" b="1" dirty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/>
          </a:p>
          <a:p>
            <a:pPr marL="137160" indent="0">
              <a:buNone/>
            </a:pPr>
            <a:r>
              <a:rPr lang="en-US" sz="3200" b="1" dirty="0" smtClean="0">
                <a:solidFill>
                  <a:srgbClr val="00B0F0"/>
                </a:solidFill>
              </a:rPr>
              <a:t>Zoology</a:t>
            </a:r>
            <a:r>
              <a:rPr lang="en-US" sz="3200" b="1" dirty="0" smtClean="0"/>
              <a:t>		</a:t>
            </a:r>
            <a:r>
              <a:rPr lang="en-US" sz="3200" b="1" dirty="0" smtClean="0">
                <a:solidFill>
                  <a:srgbClr val="00B0F0"/>
                </a:solidFill>
              </a:rPr>
              <a:t>Botany</a:t>
            </a:r>
            <a:r>
              <a:rPr lang="en-US" sz="3200" b="1" dirty="0" smtClean="0"/>
              <a:t>    </a:t>
            </a:r>
            <a:r>
              <a:rPr lang="en-US" sz="3200" b="1" dirty="0" smtClean="0">
                <a:solidFill>
                  <a:srgbClr val="00B0F0"/>
                </a:solidFill>
              </a:rPr>
              <a:t>Microbiology</a:t>
            </a:r>
          </a:p>
          <a:p>
            <a:pPr marL="137160" indent="0">
              <a:buNone/>
            </a:pPr>
            <a:r>
              <a:rPr lang="en-US" sz="3200" b="1" dirty="0" smtClean="0"/>
              <a:t>Animals		Plants      Microscopic</a:t>
            </a:r>
          </a:p>
          <a:p>
            <a:pPr marL="0" indent="0" algn="ctr">
              <a:buNone/>
            </a:pPr>
            <a:r>
              <a:rPr lang="en-US" sz="3200" b="1" dirty="0" smtClean="0"/>
              <a:t>                                          organisms</a:t>
            </a:r>
            <a:endParaRPr lang="en-GB" sz="3200" b="1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99992" y="2132856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Arrow 3"/>
          <p:cNvSpPr/>
          <p:nvPr/>
        </p:nvSpPr>
        <p:spPr>
          <a:xfrm rot="8227847">
            <a:off x="1414095" y="1976050"/>
            <a:ext cx="3125270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5400000">
            <a:off x="3533228" y="2048193"/>
            <a:ext cx="1933528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4042186">
            <a:off x="4702507" y="1973118"/>
            <a:ext cx="2276725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6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Subjects studied in various branches of Biology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 smtClean="0">
                <a:solidFill>
                  <a:srgbClr val="7030A0"/>
                </a:solidFill>
              </a:rPr>
              <a:t>Physiology</a:t>
            </a:r>
            <a:r>
              <a:rPr lang="en-US" sz="3200" b="1" dirty="0" smtClean="0"/>
              <a:t> – Organ systems</a:t>
            </a:r>
          </a:p>
          <a:p>
            <a:r>
              <a:rPr lang="en-US" sz="3200" b="1" dirty="0" smtClean="0">
                <a:solidFill>
                  <a:srgbClr val="7030A0"/>
                </a:solidFill>
              </a:rPr>
              <a:t>Embryology</a:t>
            </a:r>
            <a:r>
              <a:rPr lang="en-US" sz="3200" b="1" dirty="0" smtClean="0"/>
              <a:t> – Formation of </a:t>
            </a:r>
            <a:r>
              <a:rPr lang="en-US" sz="3200" b="1" dirty="0" err="1" smtClean="0"/>
              <a:t>gamates</a:t>
            </a:r>
            <a:r>
              <a:rPr lang="en-US" sz="3200" b="1" dirty="0" smtClean="0"/>
              <a:t>, Events from fertilization of egg to the development of embryo</a:t>
            </a:r>
          </a:p>
          <a:p>
            <a:r>
              <a:rPr lang="en-US" sz="3200" b="1" dirty="0" smtClean="0">
                <a:solidFill>
                  <a:srgbClr val="7030A0"/>
                </a:solidFill>
              </a:rPr>
              <a:t>Ecology</a:t>
            </a:r>
            <a:r>
              <a:rPr lang="en-US" sz="3200" b="1" dirty="0" smtClean="0"/>
              <a:t> – Interaction of plants and animals with the environment.</a:t>
            </a:r>
          </a:p>
          <a:p>
            <a:r>
              <a:rPr lang="en-US" sz="3200" b="1" dirty="0" smtClean="0">
                <a:solidFill>
                  <a:srgbClr val="7030A0"/>
                </a:solidFill>
              </a:rPr>
              <a:t>Taxonomy</a:t>
            </a:r>
            <a:r>
              <a:rPr lang="en-US" sz="3200" b="1" dirty="0" smtClean="0"/>
              <a:t> – Identification, nomenclature and classification of organisms.</a:t>
            </a:r>
          </a:p>
          <a:p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311010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</a:rPr>
              <a:t>Evolution</a:t>
            </a:r>
            <a:r>
              <a:rPr lang="en-US" sz="3200" b="1" dirty="0" smtClean="0"/>
              <a:t> – Continuous adaptations of plants and animals to the environment.</a:t>
            </a:r>
          </a:p>
          <a:p>
            <a:r>
              <a:rPr lang="en-US" sz="3200" b="1" dirty="0" smtClean="0">
                <a:solidFill>
                  <a:srgbClr val="7030A0"/>
                </a:solidFill>
              </a:rPr>
              <a:t>Genetics</a:t>
            </a:r>
            <a:r>
              <a:rPr lang="en-US" sz="3200" b="1" dirty="0" smtClean="0"/>
              <a:t> – Hereditary and variations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33396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Course Capsule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Nature of Biology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The branches of Biology, Methods of inquiry in Biology, some basic concepts, </a:t>
            </a:r>
            <a:r>
              <a:rPr lang="en-US" dirty="0" smtClean="0"/>
              <a:t>Applied </a:t>
            </a:r>
            <a:r>
              <a:rPr lang="en-US" dirty="0"/>
              <a:t>Biology. </a:t>
            </a:r>
            <a:endParaRPr lang="en-US" dirty="0" smtClean="0"/>
          </a:p>
          <a:p>
            <a:r>
              <a:rPr lang="en-US" dirty="0" smtClean="0"/>
              <a:t>Biomes </a:t>
            </a:r>
            <a:r>
              <a:rPr lang="en-US" dirty="0"/>
              <a:t>to Microhabitats. </a:t>
            </a:r>
            <a:endParaRPr lang="en-US" dirty="0" smtClean="0"/>
          </a:p>
          <a:p>
            <a:r>
              <a:rPr lang="en-US" dirty="0" smtClean="0"/>
              <a:t>Communities </a:t>
            </a:r>
            <a:r>
              <a:rPr lang="en-US" dirty="0"/>
              <a:t>and Ecosystems. </a:t>
            </a:r>
            <a:endParaRPr lang="en-US" dirty="0" smtClean="0"/>
          </a:p>
          <a:p>
            <a:r>
              <a:rPr lang="en-US" dirty="0" smtClean="0"/>
              <a:t>Pollution </a:t>
            </a:r>
            <a:r>
              <a:rPr lang="en-US" dirty="0"/>
              <a:t>and Conservation. </a:t>
            </a:r>
            <a:endParaRPr lang="en-US" dirty="0" smtClean="0"/>
          </a:p>
          <a:p>
            <a:r>
              <a:rPr lang="en-US" dirty="0" smtClean="0"/>
              <a:t>Systematics</a:t>
            </a:r>
            <a:r>
              <a:rPr lang="en-US" dirty="0"/>
              <a:t>: The taxonomic hierarchy, Naming of organisms. </a:t>
            </a:r>
            <a:endParaRPr lang="en-US" dirty="0" smtClean="0"/>
          </a:p>
          <a:p>
            <a:r>
              <a:rPr lang="en-US" dirty="0" smtClean="0"/>
              <a:t>Classification </a:t>
            </a:r>
            <a:r>
              <a:rPr lang="en-US" dirty="0"/>
              <a:t>of Organisms: </a:t>
            </a:r>
            <a:r>
              <a:rPr lang="en-US" dirty="0" err="1"/>
              <a:t>Prokaryota</a:t>
            </a:r>
            <a:r>
              <a:rPr lang="en-US" dirty="0"/>
              <a:t>, </a:t>
            </a:r>
            <a:r>
              <a:rPr lang="en-US" dirty="0" err="1"/>
              <a:t>Monera</a:t>
            </a:r>
            <a:r>
              <a:rPr lang="en-US" dirty="0"/>
              <a:t>, Protista, Fungi, Plantae, </a:t>
            </a:r>
            <a:r>
              <a:rPr lang="en-US" dirty="0" err="1"/>
              <a:t>Animalia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Cell as a basic unit: Fine structure of Prokaryotic and Eukaryotic cells.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245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6886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Tissues, Organs </a:t>
            </a:r>
            <a:r>
              <a:rPr lang="en-US" dirty="0" smtClean="0"/>
              <a:t>and </a:t>
            </a:r>
            <a:r>
              <a:rPr lang="en-US" dirty="0"/>
              <a:t>Individuals: Animal tissues, Plant tissues, Organs and organ systems. </a:t>
            </a:r>
          </a:p>
          <a:p>
            <a:r>
              <a:rPr lang="en-US" dirty="0"/>
              <a:t>Nutrition: Autotrophic and heterotrophic nutrition, Photosynthesis. </a:t>
            </a:r>
          </a:p>
          <a:p>
            <a:r>
              <a:rPr lang="en-US" dirty="0"/>
              <a:t>Respiration: Aerobic and anaerobic respiration, BMR. </a:t>
            </a:r>
          </a:p>
          <a:p>
            <a:r>
              <a:rPr lang="en-US" dirty="0"/>
              <a:t>Transport in animals and plants. </a:t>
            </a:r>
          </a:p>
          <a:p>
            <a:r>
              <a:rPr lang="en-US" dirty="0"/>
              <a:t>Defense against diseases: Defense systems in animals, Plant defenses against diseases. </a:t>
            </a:r>
          </a:p>
          <a:p>
            <a:r>
              <a:rPr lang="en-US" dirty="0"/>
              <a:t>Reproduction: Asexual and sexual reproduction. </a:t>
            </a:r>
          </a:p>
          <a:p>
            <a:r>
              <a:rPr lang="en-US" dirty="0"/>
              <a:t>Principles of Heredity: Monohybrid inheritance, </a:t>
            </a:r>
            <a:r>
              <a:rPr lang="en-US" dirty="0" err="1"/>
              <a:t>Dihybrid</a:t>
            </a:r>
            <a:r>
              <a:rPr lang="en-US" dirty="0"/>
              <a:t> inheritance. </a:t>
            </a:r>
          </a:p>
          <a:p>
            <a:r>
              <a:rPr lang="en-US" dirty="0"/>
              <a:t>Evolutionary trends.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72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Assessment Strategy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 Semester Exam           40%</a:t>
            </a:r>
          </a:p>
          <a:p>
            <a:r>
              <a:rPr lang="en-US" dirty="0" smtClean="0"/>
              <a:t>End Semester Exam           60%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8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1518</TotalTime>
  <Words>311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Apex</vt:lpstr>
      <vt:lpstr>GENERAL BIOLOGY fdn 1203</vt:lpstr>
      <vt:lpstr>Nature and Scope of Biology</vt:lpstr>
      <vt:lpstr>Biology and its branches</vt:lpstr>
      <vt:lpstr>PowerPoint Presentation</vt:lpstr>
      <vt:lpstr>PowerPoint Presentation</vt:lpstr>
      <vt:lpstr>Subjects studied in various branches of Biology</vt:lpstr>
      <vt:lpstr>PowerPoint Presentation</vt:lpstr>
      <vt:lpstr>Course Capsule</vt:lpstr>
      <vt:lpstr>PowerPoint Presentation</vt:lpstr>
      <vt:lpstr>Assessment Strategy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20</cp:revision>
  <dcterms:created xsi:type="dcterms:W3CDTF">2013-05-05T15:32:03Z</dcterms:created>
  <dcterms:modified xsi:type="dcterms:W3CDTF">2020-07-09T13:54:12Z</dcterms:modified>
</cp:coreProperties>
</file>