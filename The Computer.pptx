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</p:sldMasterIdLst>
  <p:sldIdLst>
    <p:sldId id="256" r:id="rId2"/>
    <p:sldId id="263" r:id="rId3"/>
    <p:sldId id="257" r:id="rId4"/>
    <p:sldId id="258" r:id="rId5"/>
    <p:sldId id="264" r:id="rId6"/>
    <p:sldId id="259" r:id="rId7"/>
    <p:sldId id="265" r:id="rId8"/>
    <p:sldId id="260" r:id="rId9"/>
    <p:sldId id="266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744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1877335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5915223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849C4EEF-57BE-4F24-B075-FA3C8C20CEF5}" type="datetimeFigureOut">
              <a:rPr lang="en-US" smtClean="0"/>
              <a:pPr/>
              <a:t>8/27/2023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D5544745-C180-48B3-9B16-07E57B4D4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  <p:sldLayoutId id="2147484031" r:id="rId13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3KnlfATUek" TargetMode="External"/><Relationship Id="rId7" Type="http://schemas.openxmlformats.org/officeDocument/2006/relationships/hyperlink" Target="https://youtu.be/hITuAifbPcQ" TargetMode="External"/><Relationship Id="rId2" Type="http://schemas.openxmlformats.org/officeDocument/2006/relationships/hyperlink" Target="https://www.britannica.com/technology/computer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bing.com/search?q=article+on+types+of+computers&amp;form=ANNTH1&amp;refig=6d05de045ab74553a17426847c7597d7&amp;sp=1&amp;lq=0&amp;qs=HS&amp;sc=10-0&amp;cvid=6d05de045ab74553a17426847c7597d7" TargetMode="External"/><Relationship Id="rId5" Type="http://schemas.openxmlformats.org/officeDocument/2006/relationships/hyperlink" Target="https://youtu.be/CJ5uKGgxe_U" TargetMode="External"/><Relationship Id="rId4" Type="http://schemas.openxmlformats.org/officeDocument/2006/relationships/hyperlink" Target="https://www.researchgate.net/publication/367113953_Generation_of_Computer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DE4FB0-7960-AA50-C57A-5C9D3FE54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131" y="195580"/>
            <a:ext cx="11717383" cy="1503678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FF0000"/>
                </a:solidFill>
                <a:effectLst/>
                <a:latin typeface="Algerian" pitchFamily="82" charset="0"/>
                <a:ea typeface="Arial" panose="020B0604020202020204" pitchFamily="34" charset="0"/>
              </a:rPr>
              <a:t>THE </a:t>
            </a:r>
            <a:r>
              <a:rPr lang="en-US" sz="8000" dirty="0" smtClean="0">
                <a:solidFill>
                  <a:srgbClr val="FF0000"/>
                </a:solidFill>
                <a:effectLst/>
                <a:latin typeface="Algerian" pitchFamily="82" charset="0"/>
                <a:ea typeface="Arial" panose="020B0604020202020204" pitchFamily="34" charset="0"/>
              </a:rPr>
              <a:t>COMPUTER</a:t>
            </a:r>
            <a:endParaRPr lang="en-US" sz="216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69555E8-D510-BA7F-C26A-C2AA28B1B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917" y="4807131"/>
            <a:ext cx="10723260" cy="2050869"/>
          </a:xfrm>
        </p:spPr>
        <p:txBody>
          <a:bodyPr>
            <a:normAutofit/>
          </a:bodyPr>
          <a:lstStyle/>
          <a:p>
            <a:pPr algn="l"/>
            <a:endParaRPr lang="en-US" dirty="0">
              <a:latin typeface="Arial Black" panose="020B0A04020102020204" pitchFamily="34" charset="0"/>
            </a:endParaRP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NAME :- </a:t>
            </a:r>
            <a:r>
              <a:rPr lang="en-US" sz="2000" dirty="0" err="1">
                <a:latin typeface="Arial Black" panose="020B0A04020102020204" pitchFamily="34" charset="0"/>
              </a:rPr>
              <a:t>Ulindu</a:t>
            </a:r>
            <a:r>
              <a:rPr lang="en-US" sz="2000" dirty="0">
                <a:latin typeface="Arial Black" panose="020B0A04020102020204" pitchFamily="34" charset="0"/>
              </a:rPr>
              <a:t> Eshan </a:t>
            </a:r>
            <a:r>
              <a:rPr lang="en-US" sz="2000" dirty="0" err="1">
                <a:latin typeface="Arial Black" panose="020B0A04020102020204" pitchFamily="34" charset="0"/>
              </a:rPr>
              <a:t>Samaradheera</a:t>
            </a:r>
            <a:endParaRPr lang="en-US" dirty="0">
              <a:latin typeface="Arial Black" panose="020B0A04020102020204" pitchFamily="34" charset="0"/>
            </a:endParaRPr>
          </a:p>
          <a:p>
            <a:pPr algn="l"/>
            <a:r>
              <a:rPr lang="en-US" dirty="0" smtClean="0">
                <a:latin typeface="Arial Black" panose="020B0A04020102020204" pitchFamily="34" charset="0"/>
              </a:rPr>
              <a:t>INDEX NO. </a:t>
            </a:r>
            <a:r>
              <a:rPr lang="en-US" dirty="0">
                <a:latin typeface="Arial Black" panose="020B0A04020102020204" pitchFamily="34" charset="0"/>
              </a:rPr>
              <a:t>:- </a:t>
            </a:r>
            <a:r>
              <a:rPr lang="en-US" sz="2000" dirty="0">
                <a:latin typeface="Arial Black" panose="020B0A04020102020204" pitchFamily="34" charset="0"/>
              </a:rPr>
              <a:t>5427</a:t>
            </a:r>
            <a:endParaRPr lang="en-US" dirty="0">
              <a:latin typeface="Arial Black" panose="020B0A04020102020204" pitchFamily="34" charset="0"/>
            </a:endParaRP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DEPARTMENT :- </a:t>
            </a:r>
            <a:r>
              <a:rPr lang="en-US" sz="2000" dirty="0">
                <a:latin typeface="Arial Black" panose="020B0A04020102020204" pitchFamily="34" charset="0"/>
              </a:rPr>
              <a:t>Physical </a:t>
            </a:r>
            <a:r>
              <a:rPr lang="en-US" sz="2000" dirty="0" smtClean="0">
                <a:latin typeface="Arial Black" panose="020B0A04020102020204" pitchFamily="34" charset="0"/>
              </a:rPr>
              <a:t>Science 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77EE3A-B20B-F202-87FB-33570CC8E9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50043" y="2384336"/>
            <a:ext cx="2119762" cy="1353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20755AF-79D0-0854-26E6-D90C2414E6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20789" y="1699258"/>
            <a:ext cx="5339841" cy="2997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78812A4-CE69-84C9-4677-5BA57CA6B3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11614" y="2376403"/>
            <a:ext cx="2407095" cy="13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24229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27FF0F-E70A-6868-89C6-3F03CB53D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970" y="404974"/>
            <a:ext cx="5747559" cy="74857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¡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sz="5300" u="sng" dirty="0" smtClean="0">
                <a:latin typeface="Algerian" pitchFamily="82" charset="0"/>
              </a:rPr>
              <a:t>Content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¡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77CFCB-3D7B-4444-7610-5462719AF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828801"/>
            <a:ext cx="9440034" cy="4271748"/>
          </a:xfrm>
        </p:spPr>
        <p:txBody>
          <a:bodyPr>
            <a:normAutofit/>
          </a:bodyPr>
          <a:lstStyle/>
          <a:p>
            <a:pPr marL="457200" indent="-457200" algn="l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3500" dirty="0">
                <a:solidFill>
                  <a:srgbClr val="00B0F0"/>
                </a:solidFill>
                <a:effectLst/>
                <a:latin typeface="Berlin Sans FB" pitchFamily="34" charset="0"/>
                <a:ea typeface="Times New Roman" panose="02020603050405020304" pitchFamily="18" charset="0"/>
              </a:rPr>
              <a:t>Introduction to computers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3500" dirty="0">
                <a:solidFill>
                  <a:srgbClr val="00B0F0"/>
                </a:solidFill>
                <a:effectLst/>
                <a:latin typeface="Berlin Sans FB" pitchFamily="34" charset="0"/>
                <a:ea typeface="Times New Roman" panose="02020603050405020304" pitchFamily="18" charset="0"/>
              </a:rPr>
              <a:t>Computer generations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3500" dirty="0">
                <a:solidFill>
                  <a:srgbClr val="00B0F0"/>
                </a:solidFill>
                <a:effectLst/>
                <a:latin typeface="Berlin Sans FB" pitchFamily="34" charset="0"/>
                <a:ea typeface="Times New Roman" panose="02020603050405020304" pitchFamily="18" charset="0"/>
              </a:rPr>
              <a:t>Types of computers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3500" dirty="0">
                <a:solidFill>
                  <a:srgbClr val="00B0F0"/>
                </a:solidFill>
                <a:effectLst/>
                <a:latin typeface="Berlin Sans FB" pitchFamily="34" charset="0"/>
                <a:ea typeface="Times New Roman" panose="02020603050405020304" pitchFamily="18" charset="0"/>
              </a:rPr>
              <a:t>Uses of computers in various fields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3500" dirty="0">
                <a:solidFill>
                  <a:srgbClr val="00B0F0"/>
                </a:solidFill>
                <a:latin typeface="Berlin Sans FB" pitchFamily="34" charset="0"/>
              </a:rPr>
              <a:t>Reference </a:t>
            </a:r>
            <a:r>
              <a:rPr lang="en-US" sz="2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/>
            </a:r>
            <a:br>
              <a:rPr lang="en-US" sz="2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</a:br>
            <a:endParaRPr lang="en-US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5364179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AC1498-F172-A174-BAEB-C1A1C866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3326"/>
            <a:ext cx="10972800" cy="744583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Agency FB" pitchFamily="34" charset="0"/>
                <a:ea typeface="Times New Roman" panose="02020603050405020304" pitchFamily="18" charset="0"/>
              </a:rPr>
              <a:t>Introduction to computers</a:t>
            </a:r>
            <a:endParaRPr lang="en-US" sz="7200" b="1" dirty="0">
              <a:latin typeface="Agency FB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79F72F-0695-2605-F859-16AB1B5B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48" y="1358537"/>
            <a:ext cx="10515599" cy="4310744"/>
          </a:xfrm>
        </p:spPr>
        <p:txBody>
          <a:bodyPr>
            <a:normAutofit fontScale="77500" lnSpcReduction="20000"/>
          </a:bodyPr>
          <a:lstStyle/>
          <a:p>
            <a:r>
              <a:rPr lang="en-US" i="0" dirty="0">
                <a:effectLst/>
                <a:latin typeface="Berlin Sans FB" pitchFamily="34" charset="0"/>
              </a:rPr>
              <a:t>Computers have become an integral part of our modern society, with their widespread use in almost every aspect of our lives.</a:t>
            </a:r>
          </a:p>
          <a:p>
            <a:r>
              <a:rPr lang="en-US" i="0" dirty="0">
                <a:effectLst/>
                <a:latin typeface="Berlin Sans FB" pitchFamily="34" charset="0"/>
              </a:rPr>
              <a:t>In simple terms, a computer is a device that processes information using electronic circuits.</a:t>
            </a:r>
            <a:endParaRPr lang="en-US" dirty="0">
              <a:latin typeface="Berlin Sans FB" pitchFamily="34" charset="0"/>
            </a:endParaRPr>
          </a:p>
          <a:p>
            <a:r>
              <a:rPr lang="en-US" i="0" dirty="0">
                <a:effectLst/>
                <a:latin typeface="Berlin Sans FB" pitchFamily="34" charset="0"/>
              </a:rPr>
              <a:t>At its core, a computer consists of two main components: hardware and software.</a:t>
            </a:r>
          </a:p>
          <a:p>
            <a:r>
              <a:rPr lang="en-US" i="0" dirty="0">
                <a:effectLst/>
                <a:latin typeface="Berlin Sans FB" pitchFamily="34" charset="0"/>
              </a:rPr>
              <a:t>Hardware refers to the physical components of a computer, including the central processing unit (CPU), memory, storage devices, input/output devices (such as keyboards and monitors), and other peripherals.</a:t>
            </a:r>
          </a:p>
          <a:p>
            <a:r>
              <a:rPr lang="en-US" i="0" dirty="0">
                <a:effectLst/>
                <a:latin typeface="Berlin Sans FB" pitchFamily="34" charset="0"/>
              </a:rPr>
              <a:t>Software, on the other hand, refers to the programs and data that are stored and executed on the hardware. There are two key types of software: the system software (e.g., operating systems) that manages the computer's resources, and application software (e.g., word processors, web browsers) that enables users to perform specific tasks.</a:t>
            </a:r>
          </a:p>
          <a:p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9E71711A-950B-A81F-E7C8-83F7A28600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21899" y="5062879"/>
            <a:ext cx="1615443" cy="1432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6E57040-7AD3-AB0A-B6A2-2CF1D12F51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90637" y="5201339"/>
            <a:ext cx="2059305" cy="1155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B273DCB-8784-B81F-7469-F5F9EE8F58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38605" y="4948393"/>
            <a:ext cx="2553755" cy="15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5415205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D100A3-47EC-4256-48FD-5269ED03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76" y="323526"/>
            <a:ext cx="7328684" cy="819955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Agency FB" pitchFamily="34" charset="0"/>
                <a:ea typeface="Times New Roman" panose="02020603050405020304" pitchFamily="18" charset="0"/>
              </a:rPr>
              <a:t>Computer generations</a:t>
            </a:r>
            <a:endParaRPr lang="en-US" sz="7200" b="1" dirty="0">
              <a:latin typeface="Agency FB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A70C64-B8D2-1768-7773-B925CA1F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4377"/>
            <a:ext cx="8916021" cy="5433623"/>
          </a:xfrm>
        </p:spPr>
        <p:txBody>
          <a:bodyPr>
            <a:noAutofit/>
          </a:bodyPr>
          <a:lstStyle/>
          <a:p>
            <a:pPr>
              <a:buSzPct val="80000"/>
              <a:buFont typeface="+mj-lt"/>
              <a:buAutoNum type="arabicPeriod"/>
            </a:pPr>
            <a:r>
              <a:rPr lang="en-US" sz="2000" i="0" dirty="0">
                <a:effectLst/>
                <a:latin typeface="Berlin Sans FB" pitchFamily="34" charset="0"/>
              </a:rPr>
              <a:t>First Generation (1940s-1950s):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  <a:cs typeface="Arial" pitchFamily="34" charset="0"/>
              </a:rPr>
              <a:t>The first generation of computers were large and used vacuum tubes for circuitry.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  <a:cs typeface="Arial" pitchFamily="34" charset="0"/>
              </a:rPr>
              <a:t>They were very expensive, consumed a lot of electricity, and generated a significant amount of heat.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  <a:cs typeface="Arial" pitchFamily="34" charset="0"/>
              </a:rPr>
              <a:t>Examples include ENIAC and UNIVAC</a:t>
            </a:r>
            <a:r>
              <a:rPr lang="en-US" sz="1400" b="0" i="0" dirty="0" smtClean="0">
                <a:effectLst/>
                <a:latin typeface="Bahnschrift" pitchFamily="34" charset="0"/>
                <a:cs typeface="Arial" pitchFamily="34" charset="0"/>
              </a:rPr>
              <a:t>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200" dirty="0" smtClean="0">
              <a:latin typeface="Bahnschrift" pitchFamily="34" charset="0"/>
              <a:cs typeface="Arial" pitchFamily="34" charset="0"/>
            </a:endParaRP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200" b="0" i="0" dirty="0" smtClean="0">
              <a:effectLst/>
              <a:latin typeface="Bahnschrift" pitchFamily="34" charset="0"/>
              <a:cs typeface="Arial" pitchFamily="34" charset="0"/>
            </a:endParaRPr>
          </a:p>
          <a:p>
            <a:pPr lvl="1">
              <a:buSzPct val="80000"/>
              <a:buNone/>
            </a:pPr>
            <a:endParaRPr lang="en-US" sz="1200" b="0" i="0" dirty="0">
              <a:effectLst/>
              <a:latin typeface="Bahnschrift" pitchFamily="34" charset="0"/>
              <a:cs typeface="Arial" pitchFamily="34" charset="0"/>
            </a:endParaRPr>
          </a:p>
          <a:p>
            <a:pPr>
              <a:buSzPct val="80000"/>
              <a:buFont typeface="+mj-lt"/>
              <a:buAutoNum type="arabicPeriod"/>
            </a:pPr>
            <a:r>
              <a:rPr lang="en-US" sz="2000" b="0" i="0" dirty="0">
                <a:effectLst/>
                <a:latin typeface="Berlin Sans FB" pitchFamily="34" charset="0"/>
              </a:rPr>
              <a:t>Second Generation (1950s-1960s):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The second generation saw the introduction of transistors, replacing vacuum tubes.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Transistors were smaller and more reliable, resulting in smaller and less power-hungry computers.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These computers used punch cards or magnetic tape for input/output.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Examples include IBM 1401 and DEC PDP series.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Graphical user interfaces (GUI), networking, and the internet became mainstream.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Laptops, smartphones, and tablets emerged as portable computing devices.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Examples include IBM ThinkPad, Apple MacBook, and smartphones like iPhone and Android devices.</a:t>
            </a:r>
            <a:endParaRPr lang="en-US" sz="1400" dirty="0">
              <a:latin typeface="Bahnschrift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B2C76F-3FFC-C605-3FE3-785C3AE826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30701" y="953228"/>
            <a:ext cx="1609512" cy="1205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AF02FDE-F096-B81A-4CB4-A3D3C4D9AD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7454" y="5121991"/>
            <a:ext cx="1966814" cy="141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6879EEE-CE4B-E5EA-27EB-3B50F67F4A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06724" y="2378388"/>
            <a:ext cx="3162300" cy="230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97957077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C106AC-33FF-BB35-884E-1B4612A5D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1" y="942536"/>
            <a:ext cx="10353762" cy="5312898"/>
          </a:xfrm>
        </p:spPr>
        <p:txBody>
          <a:bodyPr>
            <a:normAutofit/>
          </a:bodyPr>
          <a:lstStyle/>
          <a:p>
            <a:pPr>
              <a:buSzPct val="80000"/>
              <a:buFont typeface="+mj-lt"/>
              <a:buAutoNum type="arabicPeriod" startAt="3"/>
            </a:pPr>
            <a:r>
              <a:rPr lang="en-US" sz="2000" i="0" dirty="0">
                <a:effectLst/>
                <a:latin typeface="Berlin Sans FB" pitchFamily="34" charset="0"/>
              </a:rPr>
              <a:t>Third Generation (1960s-1970s):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The third generation brought the integration of transistors onto a single silicon chip called an integrated circuit.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This advancement allowed computers to become even smaller, more powerful, and more affordable.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High-level programming languages such as COBOL and FORTRAN were introduced during this era.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Examples include IBM 360 and DEC-10</a:t>
            </a:r>
            <a:r>
              <a:rPr lang="en-US" sz="1400" b="0" i="0" dirty="0" smtClean="0">
                <a:effectLst/>
                <a:latin typeface="Bahnschrift" pitchFamily="34" charset="0"/>
              </a:rPr>
              <a:t>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400" dirty="0" smtClean="0">
              <a:latin typeface="Bahnschrift" pitchFamily="34" charset="0"/>
            </a:endParaRPr>
          </a:p>
          <a:p>
            <a:pPr lvl="1">
              <a:buSzPct val="80000"/>
              <a:buNone/>
            </a:pPr>
            <a:endParaRPr lang="en-US" sz="1400" b="0" i="0" dirty="0">
              <a:effectLst/>
              <a:latin typeface="Bahnschrift" pitchFamily="34" charset="0"/>
            </a:endParaRPr>
          </a:p>
          <a:p>
            <a:pPr>
              <a:buSzPct val="80000"/>
              <a:buFont typeface="+mj-lt"/>
              <a:buAutoNum type="arabicPeriod" startAt="3"/>
            </a:pPr>
            <a:r>
              <a:rPr lang="en-US" sz="2000" b="0" i="0" dirty="0">
                <a:effectLst/>
                <a:latin typeface="Berlin Sans FB" pitchFamily="34" charset="0"/>
              </a:rPr>
              <a:t>Fourth Generation (1970s-1980s):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The fourth generation was characterized by the development of microprocessors, which included the entire computer's central processing unit on a single chip.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This made computers even smaller, faster, and more energy-efficient.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Personal computers (PCs) became more accessible to individuals and businesses.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Examples include IBM PC, Apple II, and Commodore PET</a:t>
            </a:r>
            <a:r>
              <a:rPr lang="en-US" sz="1400" b="0" i="0" dirty="0" smtClean="0">
                <a:effectLst/>
                <a:latin typeface="Bahnschrift" pitchFamily="34" charset="0"/>
              </a:rPr>
              <a:t>.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sz="1400" dirty="0" smtClean="0">
              <a:latin typeface="Bahnschrift" pitchFamily="34" charset="0"/>
            </a:endParaRPr>
          </a:p>
          <a:p>
            <a:pPr lvl="1">
              <a:buSzPct val="80000"/>
              <a:buNone/>
            </a:pPr>
            <a:endParaRPr lang="en-US" sz="1400" b="0" i="0" dirty="0">
              <a:effectLst/>
              <a:latin typeface="Bahnschrift" pitchFamily="34" charset="0"/>
            </a:endParaRPr>
          </a:p>
          <a:p>
            <a:pPr>
              <a:buSzPct val="80000"/>
              <a:buFont typeface="+mj-lt"/>
              <a:buAutoNum type="arabicPeriod" startAt="3"/>
            </a:pPr>
            <a:r>
              <a:rPr lang="en-US" sz="2000" b="0" i="0" dirty="0">
                <a:effectLst/>
                <a:latin typeface="Berlin Sans FB" pitchFamily="34" charset="0"/>
              </a:rPr>
              <a:t>Fifth Generation (1980s-Present):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en-US" sz="1400" b="0" i="0" dirty="0">
                <a:effectLst/>
                <a:latin typeface="Bahnschrift" pitchFamily="34" charset="0"/>
              </a:rPr>
              <a:t>The fifth generation represents the era of modern computers, which are characterized by their use of microprocessors, large-scale integration, and advanced software.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2CF1B17-F9B9-A6A4-4FCA-32D6F763F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04958" y="3835467"/>
            <a:ext cx="1806629" cy="1354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F733B7-8E88-337C-F80E-8BA783626B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22039" y="942536"/>
            <a:ext cx="1506828" cy="8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00971068"/>
      </p:ext>
    </p:extLst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E9C1C3-632F-F31C-9959-256CACAA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88" y="577617"/>
            <a:ext cx="11207931" cy="549499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effectLst/>
                <a:latin typeface="Algerian" pitchFamily="82" charset="0"/>
                <a:ea typeface="Times New Roman" panose="02020603050405020304" pitchFamily="18" charset="0"/>
              </a:rPr>
              <a:t>Types of computers</a:t>
            </a:r>
            <a:endParaRPr lang="en-US" sz="6000" dirty="0">
              <a:solidFill>
                <a:schemeClr val="tx1"/>
              </a:solidFill>
              <a:latin typeface="Algerian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512D7F-7148-EBE5-3BCA-D6C249C3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035" y="1156952"/>
            <a:ext cx="10984222" cy="5701048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Berlin Sans FB" pitchFamily="34" charset="0"/>
              </a:rPr>
              <a:t>Personal Computers (PCs):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r>
              <a:rPr lang="en-US" sz="1400" b="0" i="0" dirty="0">
                <a:effectLst/>
                <a:latin typeface="Bahnschrift" pitchFamily="34" charset="0"/>
              </a:rPr>
              <a:t>PCs are the most widely used type of computer and are designed for individual use.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r>
              <a:rPr lang="en-US" sz="1400" b="0" i="0" dirty="0">
                <a:effectLst/>
                <a:latin typeface="Bahnschrift" pitchFamily="34" charset="0"/>
              </a:rPr>
              <a:t>They are available as desktop computers or laptops and are suitable for general computing tasks, such as web browsing, word processing, multimedia consumption, and gaming</a:t>
            </a:r>
            <a:r>
              <a:rPr lang="en-US" sz="1400" b="0" i="0" dirty="0" smtClean="0">
                <a:effectLst/>
                <a:latin typeface="Bahnschrift" pitchFamily="34" charset="0"/>
              </a:rPr>
              <a:t>.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endParaRPr lang="en-US" sz="1400" b="0" i="0" dirty="0">
              <a:effectLst/>
              <a:latin typeface="Bahnschrift" pitchFamily="34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endParaRPr lang="en-US" sz="1400" b="0" i="0" dirty="0">
              <a:effectLst/>
              <a:latin typeface="Arial Black" panose="020B0A040201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Bahnschrift" pitchFamily="34" charset="0"/>
              </a:rPr>
              <a:t>Servers: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effectLst/>
                <a:latin typeface="Berlin Sans FB" pitchFamily="34" charset="0"/>
              </a:rPr>
              <a:t>Servers are computers designed to provide services to other computers or devices on a network.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effectLst/>
                <a:latin typeface="Berlin Sans FB" pitchFamily="34" charset="0"/>
              </a:rPr>
              <a:t>They are typically more robust and powerful than personal computers to handle multiple client requests simultaneously.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effectLst/>
                <a:latin typeface="Berlin Sans FB" pitchFamily="34" charset="0"/>
              </a:rPr>
              <a:t>Servers are used for tasks like hosting websites, managing databases, file sharing, email services, and cloud computing.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08E8C4C-ED82-DCFD-EC67-5185699D12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5190" y="3993912"/>
            <a:ext cx="2281011" cy="1522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EABF720-1943-12A4-6E55-85428AF5B0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14264" y="4391997"/>
            <a:ext cx="1219200" cy="977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713C0B-7586-3B30-8F24-9F25FB31DF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13468" y="3993912"/>
            <a:ext cx="2975458" cy="16736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108E2A2-04B4-D27A-146A-3315781B85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24960" y="3993912"/>
            <a:ext cx="2260401" cy="17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9254936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042B04A-5E6F-BE04-4780-FA77A6AE4495}"/>
              </a:ext>
            </a:extLst>
          </p:cNvPr>
          <p:cNvSpPr txBox="1"/>
          <p:nvPr/>
        </p:nvSpPr>
        <p:spPr>
          <a:xfrm>
            <a:off x="62249" y="566672"/>
            <a:ext cx="105981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+mj-lt"/>
              <a:buAutoNum type="arabicPeriod" startAt="3"/>
            </a:pPr>
            <a:r>
              <a:rPr lang="en-US" sz="2000" b="0" i="0" dirty="0">
                <a:effectLst/>
                <a:latin typeface="Bahnschrift" pitchFamily="34" charset="0"/>
              </a:rPr>
              <a:t>Mainframes: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Mainframes are large-scale, high-performance computers used for critical applications in large organizations and government institutions.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They are known for their ability to handle massive data processing, support multiple users simultaneously, and provide high reliability and security.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Mainframes are used in sectors such as finance, healthcare, and telecommunications.</a:t>
            </a:r>
          </a:p>
          <a:p>
            <a:pPr lvl="1" algn="l"/>
            <a:endParaRPr lang="en-US" sz="1200" dirty="0">
              <a:latin typeface="Arial Black" panose="020B0A04020102020204" pitchFamily="34" charset="0"/>
            </a:endParaRPr>
          </a:p>
          <a:p>
            <a:pPr lvl="1" algn="l"/>
            <a:endParaRPr lang="en-US" sz="1200" dirty="0">
              <a:latin typeface="Arial Black" panose="020B0A04020102020204" pitchFamily="34" charset="0"/>
            </a:endParaRPr>
          </a:p>
          <a:p>
            <a:pPr lvl="1" algn="l"/>
            <a:endParaRPr lang="en-US" sz="1200" dirty="0">
              <a:latin typeface="Arial Black" panose="020B0A04020102020204" pitchFamily="34" charset="0"/>
            </a:endParaRPr>
          </a:p>
          <a:p>
            <a:pPr lvl="1" algn="l"/>
            <a:endParaRPr lang="en-US" sz="1200" dirty="0">
              <a:latin typeface="Arial Black" panose="020B0A04020102020204" pitchFamily="34" charset="0"/>
            </a:endParaRPr>
          </a:p>
          <a:p>
            <a:pPr marL="685800" lvl="1" indent="-228600" algn="l">
              <a:buFont typeface="+mj-lt"/>
              <a:buAutoNum type="arabicPeriod" startAt="3"/>
            </a:pPr>
            <a:endParaRPr lang="en-US" sz="1200" b="0" i="0" dirty="0">
              <a:effectLst/>
              <a:latin typeface="Arial Black" panose="020B0A04020102020204" pitchFamily="34" charset="0"/>
            </a:endParaRPr>
          </a:p>
          <a:p>
            <a:pPr marL="228600" indent="-228600" algn="l">
              <a:buFont typeface="+mj-lt"/>
              <a:buAutoNum type="arabicPeriod" startAt="3"/>
            </a:pPr>
            <a:r>
              <a:rPr lang="en-US" sz="2000" b="0" i="0" dirty="0">
                <a:effectLst/>
                <a:latin typeface="Bahnschrift" pitchFamily="34" charset="0"/>
              </a:rPr>
              <a:t>Supercomputers: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Supercomputers are the most powerful computers, capable of processing vast amounts of data at incredibly high speeds.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They are used for complex scientific simulations, weather forecasting, cryptography, and specialized high-performance computing tasks.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Supercomputers often consist of numerous processors interconnected to solve intricate calculations quickly.</a:t>
            </a:r>
          </a:p>
          <a:p>
            <a:pPr lvl="1" algn="l"/>
            <a:endParaRPr lang="en-US" sz="1200" b="0" i="0" dirty="0">
              <a:effectLst/>
              <a:latin typeface="Arial Black" panose="020B0A04020102020204" pitchFamily="34" charset="0"/>
            </a:endParaRPr>
          </a:p>
          <a:p>
            <a:pPr lvl="1" algn="l"/>
            <a:endParaRPr lang="en-US" sz="1200" b="0" i="0" dirty="0">
              <a:effectLst/>
              <a:latin typeface="Arial Black" panose="020B0A04020102020204" pitchFamily="34" charset="0"/>
            </a:endParaRPr>
          </a:p>
          <a:p>
            <a:pPr lvl="1" algn="l"/>
            <a:endParaRPr lang="en-US" sz="1200" b="0" i="0" dirty="0">
              <a:effectLst/>
              <a:latin typeface="Arial Black" panose="020B0A04020102020204" pitchFamily="34" charset="0"/>
            </a:endParaRPr>
          </a:p>
          <a:p>
            <a:pPr lvl="1" algn="l"/>
            <a:endParaRPr lang="en-US" sz="1200" b="0" i="0" dirty="0">
              <a:effectLst/>
              <a:latin typeface="Arial Black" panose="020B0A04020102020204" pitchFamily="34" charset="0"/>
            </a:endParaRPr>
          </a:p>
          <a:p>
            <a:pPr marL="228600" indent="-228600" algn="l">
              <a:buFont typeface="+mj-lt"/>
              <a:buAutoNum type="arabicPeriod" startAt="3"/>
            </a:pPr>
            <a:r>
              <a:rPr lang="en-US" sz="2000" b="0" i="0" dirty="0">
                <a:effectLst/>
                <a:latin typeface="Bahnschrift" pitchFamily="34" charset="0"/>
              </a:rPr>
              <a:t>Embedded Computers: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Embedded computers are small-scale, specialized computers embedded in various devices and systems.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They are designed for specific functions and are found in things like smartphones, digital appliances, automobiles, medical devices, and industrial control systems.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Berlin Sans FB" pitchFamily="34" charset="0"/>
              </a:rPr>
              <a:t>Embedded computers are optimized for efficiency and often have limited user interfaces or operate autonomously.</a:t>
            </a:r>
            <a:endParaRPr lang="en-US" dirty="0">
              <a:latin typeface="Berlin Sans FB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9CEBC19-B16C-8A4A-A848-AADB3B4418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243031" y="1397681"/>
            <a:ext cx="2320035" cy="1450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33B1011-AEC2-4906-F43D-08A8583A25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3999" y="4711793"/>
            <a:ext cx="2825931" cy="189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64796094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E1DCB9-6635-59A4-10D7-DF6F782D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6" y="158840"/>
            <a:ext cx="11220994" cy="990691"/>
          </a:xfrm>
        </p:spPr>
        <p:txBody>
          <a:bodyPr>
            <a:noAutofit/>
          </a:bodyPr>
          <a:lstStyle/>
          <a:p>
            <a:pPr algn="ctr"/>
            <a:r>
              <a:rPr lang="en-US" sz="3200" u="sng" dirty="0">
                <a:solidFill>
                  <a:schemeClr val="accent5">
                    <a:lumMod val="75000"/>
                  </a:schemeClr>
                </a:solidFill>
                <a:effectLst/>
                <a:latin typeface="Algerian" pitchFamily="82" charset="0"/>
                <a:ea typeface="Times New Roman" panose="02020603050405020304" pitchFamily="18" charset="0"/>
              </a:rPr>
              <a:t>Uses of computers in various fields</a:t>
            </a:r>
            <a:endParaRPr lang="en-US" sz="5400" u="sng" dirty="0">
              <a:solidFill>
                <a:schemeClr val="accent5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737827-6347-55E0-D091-44E40D50F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0021"/>
            <a:ext cx="12569781" cy="6037979"/>
          </a:xfrm>
        </p:spPr>
        <p:txBody>
          <a:bodyPr>
            <a:normAutofit fontScale="40000" lnSpcReduction="20000"/>
          </a:bodyPr>
          <a:lstStyle/>
          <a:p>
            <a:pPr marL="779850" indent="-742950" algn="l">
              <a:buSzPct val="99000"/>
              <a:buFont typeface="+mj-lt"/>
              <a:buAutoNum type="arabicPeriod"/>
            </a:pPr>
            <a:r>
              <a:rPr lang="en-US" sz="6200" b="0" i="0" dirty="0">
                <a:effectLst/>
                <a:latin typeface="Bahnschrift" pitchFamily="34" charset="0"/>
              </a:rPr>
              <a:t>Education: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Computers are used in classrooms for interactive learning, multimedia presentations, and access to educational resources.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They aid in distance learning programs, online courses, and virtual classrooms.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Educational software assists in assessments, student tracking, and personalized learning.</a:t>
            </a:r>
          </a:p>
          <a:p>
            <a:pPr marL="450000" lvl="1" indent="0">
              <a:buSzPct val="99000"/>
              <a:buNone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779850" indent="-742950" algn="l">
              <a:buSzPct val="99000"/>
              <a:buFont typeface="+mj-lt"/>
              <a:buAutoNum type="arabicPeriod"/>
            </a:pPr>
            <a:r>
              <a:rPr lang="en-US" sz="6200" b="0" i="0" dirty="0">
                <a:effectLst/>
                <a:latin typeface="Bahnschrift" pitchFamily="34" charset="0"/>
              </a:rPr>
              <a:t>Healthcare: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Computers are used for electronic medical records (EMR), storing and accessing patient data securely.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Medical imaging technologies such as X-rays, MRIs, and CT scans rely on computer processing.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Computers assist in diagnosing diseases, monitoring patient vitals, and simulating surgical procedures.</a:t>
            </a:r>
          </a:p>
          <a:p>
            <a:pPr marL="450000" lvl="1" indent="0">
              <a:buSzPct val="99000"/>
              <a:buNone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779850" indent="-742950" algn="l">
              <a:buSzPct val="99000"/>
              <a:buFont typeface="+mj-lt"/>
              <a:buAutoNum type="arabicPeriod"/>
            </a:pPr>
            <a:r>
              <a:rPr lang="en-US" sz="6200" b="0" i="0" dirty="0">
                <a:effectLst/>
                <a:latin typeface="Bahnschrift" pitchFamily="34" charset="0"/>
              </a:rPr>
              <a:t>Business and Finance: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Computers handle financial transactions, bookkeeping, and payroll management.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Business software aids in inventory management, customer relationship management (CRM), and enterprise resource planning (ERP).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Data analysis tools help businesses make informed decisions and forecast trends.</a:t>
            </a:r>
          </a:p>
          <a:p>
            <a:pPr marL="450000" lvl="1" indent="0">
              <a:buSzPct val="99000"/>
              <a:buNone/>
            </a:pPr>
            <a:endParaRPr lang="en-US" sz="6200" b="0" i="0" dirty="0">
              <a:effectLst/>
              <a:latin typeface="Bahnschrift" pitchFamily="34" charset="0"/>
            </a:endParaRPr>
          </a:p>
          <a:p>
            <a:pPr marL="779850" indent="-742950" algn="l">
              <a:buSzPct val="99000"/>
              <a:buFont typeface="+mj-lt"/>
              <a:buAutoNum type="arabicPeriod"/>
            </a:pPr>
            <a:r>
              <a:rPr lang="en-US" sz="6200" b="0" i="0" dirty="0">
                <a:effectLst/>
                <a:latin typeface="Bahnschrift" pitchFamily="34" charset="0"/>
              </a:rPr>
              <a:t>Communication and Media: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Computers facilitate communication through email, video conferencing, and instant messaging.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Media production relies on computers for video editing, graphic design, and animation.</a:t>
            </a:r>
          </a:p>
          <a:p>
            <a:pPr lvl="1">
              <a:buSzPct val="99000"/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Berlin Sans FB" pitchFamily="34" charset="0"/>
              </a:rPr>
              <a:t>Social media platforms, websites, and online news portals operate with computer technology.</a:t>
            </a:r>
          </a:p>
          <a:p>
            <a:pPr marL="494100" indent="-457200">
              <a:buSzPct val="99000"/>
              <a:buFont typeface="+mj-lt"/>
              <a:buAutoNum type="arabicPeriod"/>
            </a:pP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CF678EB-8946-1ABF-DAAA-BDBE85628F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72381" y="2233011"/>
            <a:ext cx="1582709" cy="1292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B8A5A4F-0A2C-381F-9976-ADFA226102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24039" y="4868994"/>
            <a:ext cx="1929253" cy="13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374715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964BD2-7FE4-0AC3-4BEF-7DF12CE37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549" y="888642"/>
            <a:ext cx="11359166" cy="5633166"/>
          </a:xfrm>
        </p:spPr>
        <p:txBody>
          <a:bodyPr>
            <a:normAutofit fontScale="62500" lnSpcReduction="20000"/>
          </a:bodyPr>
          <a:lstStyle/>
          <a:p>
            <a:pPr marL="779850" indent="-742950" algn="l">
              <a:buSzPct val="100000"/>
              <a:buFont typeface="+mj-lt"/>
              <a:buAutoNum type="arabicPeriod" startAt="6"/>
            </a:pPr>
            <a:r>
              <a:rPr lang="en-US" sz="4500" b="0" i="0" dirty="0">
                <a:effectLst/>
                <a:latin typeface="Bahnschrift" pitchFamily="34" charset="0"/>
              </a:rPr>
              <a:t>Science and Research</a:t>
            </a:r>
            <a:r>
              <a:rPr lang="en-US" sz="3600" b="0" i="0" dirty="0">
                <a:effectLst/>
                <a:latin typeface="Bahnschrift" pitchFamily="34" charset="0"/>
              </a:rPr>
              <a:t>:</a:t>
            </a:r>
            <a:endParaRPr lang="en-US" sz="6200" b="0" i="0" dirty="0">
              <a:effectLst/>
              <a:latin typeface="Bahnschrift" pitchFamily="34" charset="0"/>
            </a:endParaRP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Computers assist in complex data analysis, modeling, and simulations in scientific research.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DNA sequencing, weather forecasting, and drug discovery depend on high-performance computing.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Data visualization tools help researchers interpret and present their findings effectively.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endParaRPr lang="en-US" sz="4400" dirty="0">
              <a:effectLst/>
              <a:latin typeface="Arial Black" panose="020B0A04020102020204" pitchFamily="34" charset="0"/>
            </a:endParaRPr>
          </a:p>
          <a:p>
            <a:pPr marL="450000" lvl="1" indent="0" algn="l">
              <a:buSzPct val="100000"/>
              <a:buNone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779850" indent="-742950" algn="l">
              <a:buSzPct val="100000"/>
              <a:buFont typeface="+mj-lt"/>
              <a:buAutoNum type="arabicPeriod" startAt="6"/>
            </a:pPr>
            <a:r>
              <a:rPr lang="en-US" sz="3800" b="0" i="0" dirty="0">
                <a:effectLst/>
                <a:latin typeface="Bahnschrift" pitchFamily="34" charset="0"/>
              </a:rPr>
              <a:t>Engineering and Architecture: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Computer-aided design (CAD) software enables engineers and architects to create and simulate designs.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Structural analysis and simulation software aid in testing and optimizing designs for efficiency and safety.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2900" b="0" i="0" dirty="0">
                <a:effectLst/>
                <a:latin typeface="Berlin Sans FB" pitchFamily="34" charset="0"/>
              </a:rPr>
              <a:t>Computers control and assist in automation and robotics in manufacturing processes.</a:t>
            </a:r>
          </a:p>
          <a:p>
            <a:pPr marL="450000" lvl="1" indent="0" algn="l">
              <a:buSzPct val="100000"/>
              <a:buNone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450000" lvl="1" indent="0" algn="l">
              <a:buSzPct val="100000"/>
              <a:buNone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779850" indent="-742950" algn="l">
              <a:buSzPct val="100000"/>
              <a:buFont typeface="+mj-lt"/>
              <a:buAutoNum type="arabicPeriod" startAt="6"/>
            </a:pPr>
            <a:r>
              <a:rPr lang="en-US" sz="4500" b="0" i="0" dirty="0">
                <a:effectLst/>
                <a:latin typeface="Bahnschrift" pitchFamily="34" charset="0"/>
              </a:rPr>
              <a:t>Transportation and Logistics: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Berlin Sans FB" pitchFamily="34" charset="0"/>
              </a:rPr>
              <a:t>Computers are used for route optimization, traffic management, and real-time tracking of vehicles.</a:t>
            </a:r>
          </a:p>
          <a:p>
            <a:pPr lvl="1" algn="l">
              <a:buSzPct val="100000"/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Berlin Sans FB" pitchFamily="34" charset="0"/>
              </a:rPr>
              <a:t>Warehouse management systems rely on computers for inventory control, order processing, and logistics planning</a:t>
            </a:r>
            <a:r>
              <a:rPr lang="en-US" sz="4400" b="0" i="0" dirty="0">
                <a:effectLst/>
                <a:latin typeface="Arial Black" panose="020B0A04020102020204" pitchFamily="34" charset="0"/>
              </a:rPr>
              <a:t>.</a:t>
            </a:r>
          </a:p>
          <a:p>
            <a:pPr marL="1192950" lvl="1" indent="-742950" algn="l">
              <a:buSzPct val="100000"/>
              <a:buFont typeface="+mj-lt"/>
              <a:buAutoNum type="arabicPeriod" startAt="6"/>
            </a:pPr>
            <a:endParaRPr lang="en-US" sz="4400" b="0" i="0" dirty="0">
              <a:effectLst/>
              <a:latin typeface="Arial Black" panose="020B0A04020102020204" pitchFamily="34" charset="0"/>
            </a:endParaRPr>
          </a:p>
          <a:p>
            <a:pPr marL="494100" indent="-457200">
              <a:buSzPct val="100000"/>
              <a:buFont typeface="+mj-lt"/>
              <a:buAutoNum type="arabicPeriod" startAt="6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2AB2204-4052-FBC2-8A1A-210D447308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50301" y="5507061"/>
            <a:ext cx="1962150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60E18AF-D29A-15FF-5863-470636C75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66513" y="1782958"/>
            <a:ext cx="1872343" cy="140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491856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8DA951-B7F0-53AA-920C-CC0143BD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52" y="412652"/>
            <a:ext cx="4994636" cy="970450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Reference</a:t>
            </a:r>
            <a:r>
              <a:rPr lang="en-US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9EA20DAB-4A40-B882-E285-4F7015092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437" y="1625148"/>
            <a:ext cx="10380989" cy="4871186"/>
          </a:xfrm>
        </p:spPr>
        <p:txBody>
          <a:bodyPr>
            <a:normAutofit fontScale="92500" lnSpcReduction="10000"/>
          </a:bodyPr>
          <a:lstStyle/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2"/>
              </a:rPr>
              <a:t> https://www.britannica.com/technology/computer</a:t>
            </a:r>
            <a:r>
              <a:rPr lang="en-US" dirty="0" smtClean="0"/>
              <a:t> </a:t>
            </a:r>
            <a:endParaRPr lang="en-US" dirty="0" smtClean="0"/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3"/>
              </a:rPr>
              <a:t>https://youtu.be/z3KnlfATUek</a:t>
            </a:r>
            <a:r>
              <a:rPr lang="en-US" dirty="0" smtClean="0"/>
              <a:t> </a:t>
            </a:r>
            <a:endParaRPr lang="en-US" dirty="0" smtClean="0"/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4"/>
              </a:rPr>
              <a:t>https</a:t>
            </a:r>
            <a:r>
              <a:rPr lang="en-US" dirty="0" smtClean="0">
                <a:hlinkClick r:id="rId4"/>
              </a:rPr>
              <a:t>://www.researchgate.net/publication/367113953_Generation_of_Computers</a:t>
            </a:r>
            <a:r>
              <a:rPr lang="en-US" dirty="0" smtClean="0"/>
              <a:t>  </a:t>
            </a:r>
            <a:endParaRPr lang="en-US" dirty="0" smtClean="0"/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5"/>
              </a:rPr>
              <a:t>https://youtu.be/CJ5uKGgxe_U</a:t>
            </a:r>
            <a:r>
              <a:rPr lang="en-US" dirty="0" smtClean="0"/>
              <a:t> </a:t>
            </a:r>
            <a:endParaRPr lang="en-US" dirty="0" smtClean="0"/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6"/>
              </a:rPr>
              <a:t>https</a:t>
            </a:r>
            <a:r>
              <a:rPr lang="en-US" dirty="0" smtClean="0">
                <a:hlinkClick r:id="rId6"/>
              </a:rPr>
              <a:t>://www.bing.com/search?q=article+on+types+of+computers&amp;form=ANNTH1&amp;refig=6d05de045ab74553a17426847c7597d7&amp;sp=1&amp;lq=0&amp;qs=HS&amp;sc=10-0&amp;cvid=6d05de045ab74553a17426847c7597d7#</a:t>
            </a:r>
            <a:r>
              <a:rPr lang="en-US" dirty="0" smtClean="0"/>
              <a:t> </a:t>
            </a:r>
          </a:p>
          <a:p>
            <a:pPr algn="l">
              <a:buFont typeface="Wingdings" pitchFamily="2" charset="2"/>
              <a:buChar char="§"/>
            </a:pPr>
            <a:endParaRPr lang="en-US" dirty="0" smtClean="0">
              <a:hlinkClick r:id="rId7"/>
            </a:endParaRPr>
          </a:p>
          <a:p>
            <a:pPr algn="l">
              <a:buFont typeface="Wingdings" pitchFamily="2" charset="2"/>
              <a:buChar char="§"/>
            </a:pPr>
            <a:r>
              <a:rPr lang="en-US" dirty="0" smtClean="0">
                <a:hlinkClick r:id="rId7"/>
              </a:rPr>
              <a:t>https://youtu.be/hITuAifbPcQ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8054" y="1958187"/>
            <a:ext cx="258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hlinkClick r:id="rId3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891370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13278A8-4945-88CA-3CAB-4146051B54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29868" y="651510"/>
            <a:ext cx="10332263" cy="555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8268899"/>
      </p:ext>
    </p:extLst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264</TotalTime>
  <Words>1122</Words>
  <Application>Microsoft Office PowerPoint</Application>
  <PresentationFormat>Custom</PresentationFormat>
  <Paragraphs>128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Urban</vt:lpstr>
      <vt:lpstr>THE COMPUTER</vt:lpstr>
      <vt:lpstr>¡ Content ¡ </vt:lpstr>
      <vt:lpstr>Introduction to computers</vt:lpstr>
      <vt:lpstr>Computer generations</vt:lpstr>
      <vt:lpstr>Slide 5</vt:lpstr>
      <vt:lpstr>Types of computers</vt:lpstr>
      <vt:lpstr>Slide 7</vt:lpstr>
      <vt:lpstr>Uses of computers in various fields</vt:lpstr>
      <vt:lpstr>Slide 9</vt:lpstr>
      <vt:lpstr>Reference 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Manuka Mihiranjana</dc:creator>
  <cp:lastModifiedBy>Ulindu</cp:lastModifiedBy>
  <cp:revision>11</cp:revision>
  <dcterms:created xsi:type="dcterms:W3CDTF">2023-08-15T03:55:22Z</dcterms:created>
  <dcterms:modified xsi:type="dcterms:W3CDTF">2023-08-28T06:02:15Z</dcterms:modified>
</cp:coreProperties>
</file>