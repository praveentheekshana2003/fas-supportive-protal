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81" r:id="rId5"/>
    <p:sldId id="282" r:id="rId6"/>
    <p:sldId id="279" r:id="rId7"/>
    <p:sldId id="283" r:id="rId8"/>
    <p:sldId id="284" r:id="rId9"/>
    <p:sldId id="286" r:id="rId10"/>
    <p:sldId id="287" r:id="rId11"/>
    <p:sldId id="289" r:id="rId12"/>
    <p:sldId id="285" r:id="rId13"/>
    <p:sldId id="288" r:id="rId14"/>
    <p:sldId id="260" r:id="rId15"/>
    <p:sldId id="262" r:id="rId16"/>
    <p:sldId id="263" r:id="rId17"/>
    <p:sldId id="276" r:id="rId18"/>
    <p:sldId id="277" r:id="rId19"/>
    <p:sldId id="278" r:id="rId20"/>
    <p:sldId id="28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10/07/2020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1872208"/>
          </a:xfrm>
        </p:spPr>
        <p:txBody>
          <a:bodyPr>
            <a:noAutofit/>
          </a:bodyPr>
          <a:lstStyle/>
          <a:p>
            <a:pPr marL="137160" indent="0">
              <a:buNone/>
            </a:pPr>
            <a:r>
              <a:rPr lang="en-GB" sz="5400" b="1" dirty="0" smtClean="0">
                <a:solidFill>
                  <a:srgbClr val="FF0000"/>
                </a:solidFill>
              </a:rPr>
              <a:t>The Cell – As the basic unit of life</a:t>
            </a:r>
            <a:endParaRPr lang="en-GB" sz="54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4680520" cy="350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795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92696"/>
            <a:ext cx="8229600" cy="5429240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3600" b="1" dirty="0" smtClean="0"/>
              <a:t>Cell is the </a:t>
            </a:r>
            <a:r>
              <a:rPr lang="en-US" sz="3600" b="1" dirty="0"/>
              <a:t>basic unit of structure and function </a:t>
            </a:r>
            <a:r>
              <a:rPr lang="en-US" sz="3600" b="1" dirty="0" smtClean="0"/>
              <a:t>of living things</a:t>
            </a:r>
          </a:p>
          <a:p>
            <a:pPr marL="137160" indent="0">
              <a:buNone/>
            </a:pPr>
            <a:endParaRPr lang="en-US" sz="3600" b="1" dirty="0"/>
          </a:p>
          <a:p>
            <a:pPr>
              <a:defRPr/>
            </a:pPr>
            <a:r>
              <a:rPr lang="en-US" sz="3600" b="1" dirty="0">
                <a:solidFill>
                  <a:srgbClr val="00B0F0"/>
                </a:solidFill>
              </a:rPr>
              <a:t>Cells </a:t>
            </a:r>
            <a:r>
              <a:rPr lang="en-US" sz="3600" b="1" dirty="0"/>
              <a:t>           </a:t>
            </a:r>
            <a:r>
              <a:rPr lang="en-US" sz="3600" b="1" dirty="0">
                <a:solidFill>
                  <a:srgbClr val="002060"/>
                </a:solidFill>
              </a:rPr>
              <a:t>Tissues</a:t>
            </a:r>
            <a:r>
              <a:rPr lang="en-US" sz="3600" b="1" dirty="0"/>
              <a:t>            </a:t>
            </a:r>
            <a:r>
              <a:rPr lang="en-US" sz="3600" b="1" dirty="0">
                <a:solidFill>
                  <a:srgbClr val="C00000"/>
                </a:solidFill>
              </a:rPr>
              <a:t>organs</a:t>
            </a:r>
            <a:r>
              <a:rPr lang="en-US" sz="3600" b="1" dirty="0"/>
              <a:t>               </a:t>
            </a:r>
          </a:p>
          <a:p>
            <a:pPr>
              <a:buNone/>
              <a:defRPr/>
            </a:pPr>
            <a:r>
              <a:rPr lang="en-US" sz="3600" b="1" dirty="0"/>
              <a:t>                                    </a:t>
            </a:r>
          </a:p>
          <a:p>
            <a:pPr>
              <a:buNone/>
              <a:defRPr/>
            </a:pPr>
            <a:r>
              <a:rPr lang="en-US" sz="3600" b="1" dirty="0"/>
              <a:t>   </a:t>
            </a:r>
            <a:r>
              <a:rPr lang="en-US" sz="3600" b="1" dirty="0">
                <a:solidFill>
                  <a:srgbClr val="FFC000"/>
                </a:solidFill>
              </a:rPr>
              <a:t>Individual </a:t>
            </a:r>
            <a:r>
              <a:rPr lang="en-US" sz="3600" b="1" dirty="0"/>
              <a:t>                   </a:t>
            </a:r>
            <a:r>
              <a:rPr lang="en-US" sz="3600" b="1" dirty="0">
                <a:solidFill>
                  <a:srgbClr val="FFFF00"/>
                </a:solidFill>
              </a:rPr>
              <a:t>organ systems </a:t>
            </a:r>
          </a:p>
          <a:p>
            <a:pPr marL="137160" indent="0">
              <a:buNone/>
            </a:pPr>
            <a:endParaRPr lang="en-US" sz="3600" b="1" dirty="0"/>
          </a:p>
          <a:p>
            <a:endParaRPr lang="en-US" sz="3600" b="1" dirty="0" smtClean="0"/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2267744" y="2852936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>
            <a:off x="5220072" y="2866506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 rot="5400000">
            <a:off x="6935388" y="3465534"/>
            <a:ext cx="92666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 rot="10800000">
            <a:off x="3491880" y="4145204"/>
            <a:ext cx="1728192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86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FF00"/>
                </a:solidFill>
              </a:rPr>
              <a:t>Cell theory</a:t>
            </a:r>
          </a:p>
        </p:txBody>
      </p:sp>
      <p:sp>
        <p:nvSpPr>
          <p:cNvPr id="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340768"/>
            <a:ext cx="8229600" cy="496859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sz="2800" b="1" dirty="0" smtClean="0"/>
              <a:t>Proposed by </a:t>
            </a:r>
            <a:r>
              <a:rPr lang="en-US" sz="2800" b="1" dirty="0" err="1" smtClean="0">
                <a:solidFill>
                  <a:srgbClr val="FF0000"/>
                </a:solidFill>
              </a:rPr>
              <a:t>Schlieden</a:t>
            </a:r>
            <a:r>
              <a:rPr lang="en-US" sz="2800" b="1" dirty="0" smtClean="0">
                <a:solidFill>
                  <a:srgbClr val="FF0000"/>
                </a:solidFill>
              </a:rPr>
              <a:t> and Schwan </a:t>
            </a:r>
            <a:r>
              <a:rPr lang="en-US" sz="2800" b="1" dirty="0" smtClean="0"/>
              <a:t>in 1838</a:t>
            </a:r>
          </a:p>
          <a:p>
            <a:pPr marL="137160" indent="0" eaLnBrk="1" hangingPunct="1">
              <a:buNone/>
              <a:defRPr/>
            </a:pPr>
            <a:endParaRPr lang="en-US" sz="2800" b="1" dirty="0" smtClean="0"/>
          </a:p>
          <a:p>
            <a:pPr eaLnBrk="1" hangingPunct="1">
              <a:defRPr/>
            </a:pPr>
            <a:r>
              <a:rPr lang="en-US" sz="2800" b="1" dirty="0" smtClean="0"/>
              <a:t>It includes </a:t>
            </a:r>
            <a:r>
              <a:rPr lang="en-US" sz="2800" b="1" dirty="0" smtClean="0">
                <a:solidFill>
                  <a:srgbClr val="002060"/>
                </a:solidFill>
              </a:rPr>
              <a:t>3 principles</a:t>
            </a:r>
            <a:r>
              <a:rPr lang="en-US" sz="2800" b="1" dirty="0" smtClean="0"/>
              <a:t>.</a:t>
            </a:r>
          </a:p>
          <a:p>
            <a:pPr marL="137160" indent="0" eaLnBrk="1" hangingPunct="1">
              <a:buNone/>
              <a:defRPr/>
            </a:pPr>
            <a:endParaRPr lang="en-US" sz="2800" b="1" dirty="0" smtClean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800" b="1" dirty="0" smtClean="0"/>
              <a:t>All organisms </a:t>
            </a:r>
            <a:r>
              <a:rPr lang="en-US" b="1" dirty="0"/>
              <a:t> </a:t>
            </a:r>
            <a:r>
              <a:rPr lang="en-US" b="1" dirty="0" smtClean="0"/>
              <a:t>are composed of </a:t>
            </a:r>
            <a:r>
              <a:rPr lang="en-US" sz="2800" b="1" dirty="0" smtClean="0"/>
              <a:t>one or more cells and metabolism and hereditary occur within these cells.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sz="2800" b="1" dirty="0" smtClean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800" b="1" dirty="0" smtClean="0"/>
              <a:t>Cells are the smallest living things, the basic units of organization.</a:t>
            </a:r>
          </a:p>
          <a:p>
            <a:pPr marL="137160" indent="0" eaLnBrk="1" hangingPunct="1">
              <a:buClr>
                <a:schemeClr val="tx1"/>
              </a:buClr>
              <a:buNone/>
              <a:defRPr/>
            </a:pPr>
            <a:endParaRPr lang="en-US" sz="2800" b="1" dirty="0" smtClean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800" b="1" dirty="0" smtClean="0"/>
              <a:t>Cells arise only by division of previously existing cell.</a:t>
            </a:r>
          </a:p>
          <a:p>
            <a:pPr eaLnBrk="1" hangingPunct="1">
              <a:defRPr/>
            </a:pP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47710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Cell as a self-contained 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smtClean="0"/>
              <a:t>Cell though very </a:t>
            </a:r>
            <a:r>
              <a:rPr lang="en-US" b="1" dirty="0"/>
              <a:t>small , </a:t>
            </a:r>
            <a:r>
              <a:rPr lang="en-US" b="1" dirty="0" smtClean="0"/>
              <a:t>it acts </a:t>
            </a:r>
            <a:r>
              <a:rPr lang="en-US" b="1" dirty="0"/>
              <a:t>as an autonomous </a:t>
            </a:r>
            <a:r>
              <a:rPr lang="en-US" b="1" dirty="0" smtClean="0"/>
              <a:t>unit. </a:t>
            </a:r>
          </a:p>
          <a:p>
            <a:pPr>
              <a:defRPr/>
            </a:pPr>
            <a:r>
              <a:rPr lang="en-US" b="1" dirty="0" smtClean="0"/>
              <a:t>Cells….</a:t>
            </a:r>
            <a:endParaRPr lang="en-US" b="1" dirty="0"/>
          </a:p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>
                <a:solidFill>
                  <a:srgbClr val="FF0000"/>
                </a:solidFill>
              </a:rPr>
              <a:t>carry out all vital biological processes.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>
                <a:solidFill>
                  <a:schemeClr val="bg1"/>
                </a:solidFill>
              </a:rPr>
              <a:t>oxidize the food molecules - produce energy and store these energy rich  </a:t>
            </a:r>
            <a:r>
              <a:rPr lang="en-US" b="1" dirty="0" smtClean="0">
                <a:solidFill>
                  <a:schemeClr val="bg1"/>
                </a:solidFill>
              </a:rPr>
              <a:t>molecules</a:t>
            </a:r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b="1" dirty="0"/>
          </a:p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 smtClean="0">
                <a:solidFill>
                  <a:srgbClr val="FFC000"/>
                </a:solidFill>
              </a:rPr>
              <a:t>build </a:t>
            </a:r>
            <a:r>
              <a:rPr lang="en-US" b="1" dirty="0">
                <a:solidFill>
                  <a:srgbClr val="FFC000"/>
                </a:solidFill>
              </a:rPr>
              <a:t>new structures and can replace worn out  </a:t>
            </a:r>
            <a:r>
              <a:rPr lang="en-US" b="1" dirty="0" smtClean="0">
                <a:solidFill>
                  <a:srgbClr val="FFC000"/>
                </a:solidFill>
              </a:rPr>
              <a:t>cells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smtClean="0">
                <a:solidFill>
                  <a:srgbClr val="FFC000"/>
                </a:solidFill>
              </a:rPr>
              <a:t>by </a:t>
            </a:r>
            <a:r>
              <a:rPr lang="en-US" b="1" dirty="0">
                <a:solidFill>
                  <a:srgbClr val="FFC000"/>
                </a:solidFill>
              </a:rPr>
              <a:t>using nutrient molecules</a:t>
            </a:r>
            <a:r>
              <a:rPr lang="en-US" b="1" dirty="0" smtClean="0">
                <a:solidFill>
                  <a:srgbClr val="FFC000"/>
                </a:solidFill>
              </a:rPr>
              <a:t> .</a:t>
            </a:r>
            <a:endParaRPr lang="en-US" b="1" dirty="0">
              <a:solidFill>
                <a:srgbClr val="FFC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29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68867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4000" b="1" dirty="0">
                <a:solidFill>
                  <a:srgbClr val="FFC000"/>
                </a:solidFill>
              </a:rPr>
              <a:t>repair and exchange gases with its </a:t>
            </a:r>
            <a:r>
              <a:rPr lang="en-US" sz="4000" b="1" dirty="0" smtClean="0">
                <a:solidFill>
                  <a:srgbClr val="FFC000"/>
                </a:solidFill>
              </a:rPr>
              <a:t>surrounding</a:t>
            </a:r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sz="4000" b="1" dirty="0"/>
          </a:p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4000" b="1" dirty="0"/>
              <a:t>replicate its own </a:t>
            </a:r>
            <a:r>
              <a:rPr lang="en-US" sz="4000" b="1" dirty="0" smtClean="0"/>
              <a:t>self</a:t>
            </a:r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sz="4000" b="1" dirty="0"/>
          </a:p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4000" b="1" dirty="0" smtClean="0">
                <a:solidFill>
                  <a:srgbClr val="FF0000"/>
                </a:solidFill>
              </a:rPr>
              <a:t>have their </a:t>
            </a:r>
            <a:r>
              <a:rPr lang="en-US" sz="4000" b="1" dirty="0">
                <a:solidFill>
                  <a:srgbClr val="FF0000"/>
                </a:solidFill>
              </a:rPr>
              <a:t>own lifespan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299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3200" b="1" dirty="0"/>
              <a:t>According to the cell structure there are two types of </a:t>
            </a:r>
            <a:r>
              <a:rPr lang="en-US" sz="3200" b="1" dirty="0" smtClean="0"/>
              <a:t>cells</a:t>
            </a:r>
          </a:p>
          <a:p>
            <a:pPr marL="137160" indent="0">
              <a:buNone/>
            </a:pPr>
            <a:endParaRPr lang="en-US" sz="3200" b="1" dirty="0"/>
          </a:p>
          <a:p>
            <a:pPr marL="651510" indent="-514350">
              <a:buAutoNum type="arabicPeriod"/>
            </a:pPr>
            <a:r>
              <a:rPr lang="en-US" sz="3200" b="1" dirty="0" smtClean="0"/>
              <a:t>Prokaryotic cell</a:t>
            </a:r>
          </a:p>
          <a:p>
            <a:pPr marL="651510" indent="-514350">
              <a:buAutoNum type="arabicPeriod"/>
            </a:pPr>
            <a:endParaRPr lang="en-US" sz="3200" b="1" dirty="0"/>
          </a:p>
          <a:p>
            <a:pPr marL="651510" indent="-514350">
              <a:buAutoNum type="arabicPeriod"/>
            </a:pPr>
            <a:r>
              <a:rPr lang="en-US" sz="3200" b="1" dirty="0" smtClean="0">
                <a:solidFill>
                  <a:srgbClr val="00B0F0"/>
                </a:solidFill>
              </a:rPr>
              <a:t>Eukaryotic cell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>
                <a:solidFill>
                  <a:srgbClr val="FFFF00"/>
                </a:solidFill>
                <a:effectLst/>
              </a:rPr>
              <a:t>Prokaryotic and Eukaryotic cell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149080"/>
            <a:ext cx="4225652" cy="1838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1382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Prokaryotic</a:t>
            </a:r>
            <a:r>
              <a:rPr lang="en-US" dirty="0" smtClean="0"/>
              <a:t> </a:t>
            </a:r>
            <a:r>
              <a:rPr lang="en-US" dirty="0" smtClean="0">
                <a:effectLst/>
              </a:rPr>
              <a:t>Cell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prokaryotes is the term given to organisms </a:t>
            </a:r>
            <a:r>
              <a:rPr lang="en-US" b="1" dirty="0">
                <a:solidFill>
                  <a:srgbClr val="FFFF00"/>
                </a:solidFill>
              </a:rPr>
              <a:t>without true nucleus</a:t>
            </a:r>
            <a:r>
              <a:rPr lang="en-US" b="1" dirty="0"/>
              <a:t>.</a:t>
            </a:r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hereditary </a:t>
            </a:r>
            <a:r>
              <a:rPr lang="en-US" b="1" dirty="0"/>
              <a:t>material called </a:t>
            </a:r>
            <a:r>
              <a:rPr lang="en-US" b="1" dirty="0">
                <a:solidFill>
                  <a:srgbClr val="FFFF00"/>
                </a:solidFill>
              </a:rPr>
              <a:t>DNA is not enclosed</a:t>
            </a:r>
            <a:r>
              <a:rPr lang="en-US" b="1" dirty="0"/>
              <a:t> in a membrane / </a:t>
            </a:r>
            <a:r>
              <a:rPr lang="en-US" b="1" dirty="0">
                <a:solidFill>
                  <a:srgbClr val="FF0000"/>
                </a:solidFill>
              </a:rPr>
              <a:t>no membrane bounded</a:t>
            </a:r>
            <a:r>
              <a:rPr lang="en-US" b="1" dirty="0"/>
              <a:t> internal structures</a:t>
            </a:r>
            <a:r>
              <a:rPr lang="en-US" b="1" dirty="0" smtClean="0"/>
              <a:t>.</a:t>
            </a:r>
          </a:p>
          <a:p>
            <a:pPr marL="137160" indent="0">
              <a:buNone/>
              <a:defRPr/>
            </a:pPr>
            <a:r>
              <a:rPr lang="en-US" b="1" dirty="0" smtClean="0"/>
              <a:t>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Structure of prokaryotic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70916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/>
              <a:t>We consider </a:t>
            </a:r>
            <a:r>
              <a:rPr lang="en-US" b="1" dirty="0" smtClean="0">
                <a:solidFill>
                  <a:srgbClr val="FF0000"/>
                </a:solidFill>
              </a:rPr>
              <a:t>Bacterial </a:t>
            </a:r>
            <a:r>
              <a:rPr lang="en-US" b="1" dirty="0">
                <a:solidFill>
                  <a:srgbClr val="FF0000"/>
                </a:solidFill>
              </a:rPr>
              <a:t>cell </a:t>
            </a:r>
            <a:r>
              <a:rPr lang="en-US" b="1" dirty="0" smtClean="0"/>
              <a:t>as an example for Prokaryotic cell.</a:t>
            </a:r>
          </a:p>
          <a:p>
            <a:pPr marL="137160" indent="0">
              <a:buNone/>
              <a:defRPr/>
            </a:pPr>
            <a:endParaRPr lang="en-US" b="1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578" y="2780928"/>
            <a:ext cx="6758960" cy="3321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26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435280" cy="5904696"/>
          </a:xfrm>
        </p:spPr>
        <p:txBody>
          <a:bodyPr/>
          <a:lstStyle/>
          <a:p>
            <a:pPr marL="137160" indent="0">
              <a:buNone/>
              <a:defRPr/>
            </a:pPr>
            <a:r>
              <a:rPr lang="en-US" b="1" dirty="0"/>
              <a:t>Bacteria cell is composed of different </a:t>
            </a:r>
            <a:r>
              <a:rPr lang="en-US" b="1" dirty="0" smtClean="0"/>
              <a:t>parts.</a:t>
            </a:r>
            <a:endParaRPr lang="en-US" b="1" dirty="0"/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b="1" dirty="0"/>
          </a:p>
          <a:p>
            <a:pPr marL="137160" indent="0">
              <a:buClr>
                <a:schemeClr val="tx1"/>
              </a:buClr>
              <a:buNone/>
              <a:defRPr/>
            </a:pPr>
            <a:r>
              <a:rPr lang="en-US" b="1" dirty="0" smtClean="0">
                <a:solidFill>
                  <a:srgbClr val="00FFFF"/>
                </a:solidFill>
              </a:rPr>
              <a:t>Cell wall</a:t>
            </a:r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b="1" dirty="0" smtClean="0">
              <a:solidFill>
                <a:srgbClr val="00FFFF"/>
              </a:solidFill>
            </a:endParaRPr>
          </a:p>
          <a:p>
            <a:pPr>
              <a:buClr>
                <a:schemeClr val="tx1"/>
              </a:buClr>
              <a:defRPr/>
            </a:pPr>
            <a:r>
              <a:rPr lang="en-US" b="1" dirty="0" smtClean="0"/>
              <a:t>Most </a:t>
            </a:r>
            <a:r>
              <a:rPr lang="en-US" b="1" dirty="0"/>
              <a:t>bacteria are encased by a strong cell wall made up of </a:t>
            </a:r>
            <a:r>
              <a:rPr lang="en-US" b="1" dirty="0" err="1">
                <a:solidFill>
                  <a:schemeClr val="bg1"/>
                </a:solidFill>
              </a:rPr>
              <a:t>peptidoglycon</a:t>
            </a:r>
            <a:r>
              <a:rPr lang="en-US" b="1" dirty="0"/>
              <a:t>. </a:t>
            </a:r>
            <a:endParaRPr lang="en-US" b="1" dirty="0" smtClean="0"/>
          </a:p>
          <a:p>
            <a:pPr>
              <a:buClr>
                <a:schemeClr val="tx1"/>
              </a:buClr>
              <a:defRPr/>
            </a:pPr>
            <a:endParaRPr lang="en-US" b="1" dirty="0"/>
          </a:p>
          <a:p>
            <a:pPr>
              <a:defRPr/>
            </a:pPr>
            <a:r>
              <a:rPr lang="en-US" b="1" dirty="0" smtClean="0"/>
              <a:t>No </a:t>
            </a:r>
            <a:r>
              <a:rPr lang="en-US" b="1" dirty="0"/>
              <a:t>Eukaryotes possess cell walls with this type of chemical composition</a:t>
            </a:r>
            <a:r>
              <a:rPr lang="en-US" b="1" dirty="0" smtClean="0"/>
              <a:t>.</a:t>
            </a:r>
          </a:p>
          <a:p>
            <a:pPr>
              <a:defRPr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4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836712"/>
            <a:ext cx="7062787" cy="4708525"/>
          </a:xfrm>
        </p:spPr>
      </p:pic>
    </p:spTree>
    <p:extLst>
      <p:ext uri="{BB962C8B-B14F-4D97-AF65-F5344CB8AC3E}">
        <p14:creationId xmlns:p14="http://schemas.microsoft.com/office/powerpoint/2010/main" val="834241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76704"/>
          </a:xfrm>
        </p:spPr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 smtClean="0">
                <a:solidFill>
                  <a:srgbClr val="00FFFF"/>
                </a:solidFill>
              </a:rPr>
              <a:t>Capsule</a:t>
            </a:r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b="1" dirty="0">
              <a:solidFill>
                <a:srgbClr val="00FFFF"/>
              </a:solidFill>
            </a:endParaRPr>
          </a:p>
          <a:p>
            <a:pPr>
              <a:defRPr/>
            </a:pPr>
            <a:r>
              <a:rPr lang="en-US" b="1" dirty="0"/>
              <a:t>The cell wall </a:t>
            </a:r>
            <a:r>
              <a:rPr lang="en-US" b="1" dirty="0" smtClean="0"/>
              <a:t> is covered </a:t>
            </a:r>
            <a:r>
              <a:rPr lang="en-US" b="1" dirty="0"/>
              <a:t>by a </a:t>
            </a:r>
            <a:r>
              <a:rPr lang="en-US" b="1" dirty="0">
                <a:solidFill>
                  <a:schemeClr val="bg1"/>
                </a:solidFill>
              </a:rPr>
              <a:t>capsule or slim layer.</a:t>
            </a:r>
          </a:p>
          <a:p>
            <a:pPr>
              <a:defRPr/>
            </a:pPr>
            <a:r>
              <a:rPr lang="en-US" b="1" dirty="0" smtClean="0"/>
              <a:t>It gives </a:t>
            </a:r>
            <a:r>
              <a:rPr lang="en-US" b="1" dirty="0" smtClean="0">
                <a:solidFill>
                  <a:srgbClr val="00B0F0"/>
                </a:solidFill>
              </a:rPr>
              <a:t>additional </a:t>
            </a:r>
            <a:r>
              <a:rPr lang="en-US" b="1" dirty="0">
                <a:solidFill>
                  <a:srgbClr val="00B0F0"/>
                </a:solidFill>
              </a:rPr>
              <a:t>protection </a:t>
            </a:r>
            <a:r>
              <a:rPr lang="en-US" b="1" dirty="0"/>
              <a:t>to the cell from unfavorable conditions. </a:t>
            </a:r>
          </a:p>
          <a:p>
            <a:pPr>
              <a:defRPr/>
            </a:pPr>
            <a:r>
              <a:rPr lang="en-US" b="1" dirty="0" smtClean="0"/>
              <a:t>Helps to </a:t>
            </a:r>
            <a:r>
              <a:rPr lang="en-US" b="1" dirty="0" smtClean="0">
                <a:solidFill>
                  <a:srgbClr val="C00000"/>
                </a:solidFill>
              </a:rPr>
              <a:t>stick </a:t>
            </a:r>
            <a:r>
              <a:rPr lang="en-US" b="1" dirty="0">
                <a:solidFill>
                  <a:srgbClr val="C00000"/>
                </a:solidFill>
              </a:rPr>
              <a:t>to each </a:t>
            </a:r>
            <a:r>
              <a:rPr lang="en-US" b="1" dirty="0" smtClean="0">
                <a:solidFill>
                  <a:srgbClr val="C00000"/>
                </a:solidFill>
              </a:rPr>
              <a:t>other</a:t>
            </a:r>
            <a:r>
              <a:rPr lang="en-US" b="1" dirty="0" smtClean="0"/>
              <a:t> and </a:t>
            </a:r>
            <a:r>
              <a:rPr lang="en-US" b="1" dirty="0"/>
              <a:t>form colonies. </a:t>
            </a:r>
          </a:p>
          <a:p>
            <a:pPr>
              <a:defRPr/>
            </a:pPr>
            <a:r>
              <a:rPr lang="en-US" b="1" dirty="0" smtClean="0"/>
              <a:t>Helps to </a:t>
            </a:r>
            <a:r>
              <a:rPr lang="en-US" b="1" dirty="0">
                <a:solidFill>
                  <a:srgbClr val="FFFF00"/>
                </a:solidFill>
              </a:rPr>
              <a:t>stick to the surface </a:t>
            </a:r>
            <a:r>
              <a:rPr lang="en-US" b="1" dirty="0"/>
              <a:t>of the food supply or to the host cell.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23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980728"/>
            <a:ext cx="7062787" cy="4708525"/>
          </a:xfrm>
        </p:spPr>
      </p:pic>
    </p:spTree>
    <p:extLst>
      <p:ext uri="{BB962C8B-B14F-4D97-AF65-F5344CB8AC3E}">
        <p14:creationId xmlns:p14="http://schemas.microsoft.com/office/powerpoint/2010/main" val="2733050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3200" b="1" dirty="0">
                <a:solidFill>
                  <a:srgbClr val="00FFFF"/>
                </a:solidFill>
              </a:rPr>
              <a:t>Plasma membrane</a:t>
            </a:r>
          </a:p>
          <a:p>
            <a:pPr>
              <a:buClr>
                <a:schemeClr val="tx1"/>
              </a:buClr>
              <a:buNone/>
              <a:defRPr/>
            </a:pPr>
            <a:endParaRPr lang="en-US" sz="3200" b="1" dirty="0"/>
          </a:p>
          <a:p>
            <a:pPr>
              <a:defRPr/>
            </a:pPr>
            <a:r>
              <a:rPr lang="en-US" sz="3200" b="1" dirty="0"/>
              <a:t>Below the cell wall  </a:t>
            </a:r>
            <a:r>
              <a:rPr lang="en-US" sz="3200" b="1" dirty="0" smtClean="0"/>
              <a:t>there is a membrane called plasma </a:t>
            </a:r>
            <a:r>
              <a:rPr lang="en-US" sz="3200" b="1" dirty="0"/>
              <a:t>membrane.</a:t>
            </a:r>
          </a:p>
          <a:p>
            <a:pPr>
              <a:buNone/>
              <a:defRPr/>
            </a:pPr>
            <a:r>
              <a:rPr lang="en-US" sz="3200" b="1" dirty="0"/>
              <a:t> </a:t>
            </a:r>
          </a:p>
          <a:p>
            <a:pPr>
              <a:defRPr/>
            </a:pPr>
            <a:r>
              <a:rPr lang="en-US" sz="3200" b="1" dirty="0" smtClean="0"/>
              <a:t>It is selectively permeable. It permits some molecules to pass through it. But not others.</a:t>
            </a:r>
            <a:endParaRPr lang="en-US" sz="3200" b="1" dirty="0"/>
          </a:p>
          <a:p>
            <a:pPr marL="137160" indent="0" algn="ctr">
              <a:buNone/>
            </a:pPr>
            <a:endParaRPr lang="en-GB" sz="3200" b="1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99992" y="2132856"/>
            <a:ext cx="0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467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052736"/>
            <a:ext cx="7062787" cy="4708525"/>
          </a:xfrm>
        </p:spPr>
      </p:pic>
    </p:spTree>
    <p:extLst>
      <p:ext uri="{BB962C8B-B14F-4D97-AF65-F5344CB8AC3E}">
        <p14:creationId xmlns:p14="http://schemas.microsoft.com/office/powerpoint/2010/main" val="3110101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04696"/>
          </a:xfrm>
        </p:spPr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 smtClean="0">
                <a:solidFill>
                  <a:srgbClr val="00FFFF"/>
                </a:solidFill>
              </a:rPr>
              <a:t>Cytoplasm</a:t>
            </a:r>
          </a:p>
          <a:p>
            <a:pPr marL="137160" indent="0">
              <a:buClr>
                <a:schemeClr val="tx1"/>
              </a:buClr>
              <a:buNone/>
              <a:defRPr/>
            </a:pPr>
            <a:endParaRPr lang="en-US" b="1" dirty="0">
              <a:solidFill>
                <a:srgbClr val="00FFFF"/>
              </a:solidFill>
            </a:endParaRPr>
          </a:p>
          <a:p>
            <a:pPr>
              <a:defRPr/>
            </a:pPr>
            <a:r>
              <a:rPr lang="en-US" b="1" dirty="0"/>
              <a:t>Plasma membrane encloses the cytoplasm. </a:t>
            </a:r>
            <a:endParaRPr lang="en-US" b="1" dirty="0" smtClean="0"/>
          </a:p>
          <a:p>
            <a:pPr marL="137160" indent="0">
              <a:buNone/>
              <a:defRPr/>
            </a:pPr>
            <a:endParaRPr lang="en-US" b="1" dirty="0"/>
          </a:p>
          <a:p>
            <a:pPr>
              <a:defRPr/>
            </a:pPr>
            <a:r>
              <a:rPr lang="en-US" b="1" dirty="0" smtClean="0">
                <a:solidFill>
                  <a:srgbClr val="FFFF00"/>
                </a:solidFill>
              </a:rPr>
              <a:t>It looks granular </a:t>
            </a:r>
            <a:r>
              <a:rPr lang="en-US" b="1" dirty="0">
                <a:solidFill>
                  <a:srgbClr val="FFFF00"/>
                </a:solidFill>
              </a:rPr>
              <a:t>due to the presence of ribosome. </a:t>
            </a:r>
            <a:endParaRPr lang="en-US" b="1" dirty="0" smtClean="0">
              <a:solidFill>
                <a:srgbClr val="FFFF00"/>
              </a:solidFill>
            </a:endParaRPr>
          </a:p>
          <a:p>
            <a:pPr marL="137160" indent="0">
              <a:buNone/>
              <a:defRPr/>
            </a:pPr>
            <a:endParaRPr lang="en-US" b="1" dirty="0"/>
          </a:p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</a:rPr>
              <a:t>There are enzymes</a:t>
            </a:r>
            <a:r>
              <a:rPr lang="en-US" b="1" dirty="0">
                <a:solidFill>
                  <a:schemeClr val="bg1"/>
                </a:solidFill>
              </a:rPr>
              <a:t>, carbohydrates, lipids and genetic </a:t>
            </a:r>
            <a:r>
              <a:rPr lang="en-US" b="1" dirty="0" smtClean="0">
                <a:solidFill>
                  <a:schemeClr val="bg1"/>
                </a:solidFill>
              </a:rPr>
              <a:t>materials can be found in the cytoplasm. 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62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980728"/>
            <a:ext cx="7062787" cy="4708525"/>
          </a:xfrm>
        </p:spPr>
      </p:pic>
    </p:spTree>
    <p:extLst>
      <p:ext uri="{BB962C8B-B14F-4D97-AF65-F5344CB8AC3E}">
        <p14:creationId xmlns:p14="http://schemas.microsoft.com/office/powerpoint/2010/main" val="4012458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44656"/>
          </a:xfrm>
        </p:spPr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>
                <a:solidFill>
                  <a:srgbClr val="00FFFF"/>
                </a:solidFill>
              </a:rPr>
              <a:t>Flagella</a:t>
            </a:r>
          </a:p>
          <a:p>
            <a:pPr>
              <a:buClr>
                <a:schemeClr val="tx1"/>
              </a:buClr>
              <a:buNone/>
              <a:defRPr/>
            </a:pPr>
            <a:endParaRPr lang="en-US" b="1" dirty="0">
              <a:solidFill>
                <a:srgbClr val="00FFFF"/>
              </a:solidFill>
            </a:endParaRPr>
          </a:p>
          <a:p>
            <a:pPr>
              <a:defRPr/>
            </a:pPr>
            <a:r>
              <a:rPr lang="en-US" b="1" dirty="0" smtClean="0"/>
              <a:t>Many bacteria are equipped </a:t>
            </a:r>
            <a:r>
              <a:rPr lang="en-US" b="1" dirty="0"/>
              <a:t>with </a:t>
            </a:r>
            <a:r>
              <a:rPr lang="en-US" b="1" dirty="0">
                <a:solidFill>
                  <a:schemeClr val="bg1"/>
                </a:solidFill>
              </a:rPr>
              <a:t>one or more flagella.</a:t>
            </a:r>
          </a:p>
          <a:p>
            <a:pPr>
              <a:buNone/>
              <a:defRPr/>
            </a:pP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pPr>
              <a:defRPr/>
            </a:pPr>
            <a:r>
              <a:rPr lang="en-US" b="1" dirty="0" smtClean="0"/>
              <a:t>It helps bacteria to </a:t>
            </a:r>
            <a:r>
              <a:rPr lang="en-US" b="1" dirty="0" smtClean="0">
                <a:solidFill>
                  <a:srgbClr val="FFC000"/>
                </a:solidFill>
              </a:rPr>
              <a:t>move </a:t>
            </a:r>
            <a:r>
              <a:rPr lang="en-US" b="1" dirty="0">
                <a:solidFill>
                  <a:srgbClr val="FFC000"/>
                </a:solidFill>
              </a:rPr>
              <a:t>and </a:t>
            </a:r>
            <a:r>
              <a:rPr lang="en-US" b="1" dirty="0" smtClean="0">
                <a:solidFill>
                  <a:srgbClr val="FFC000"/>
                </a:solidFill>
              </a:rPr>
              <a:t>to respond </a:t>
            </a:r>
            <a:r>
              <a:rPr lang="en-US" b="1" dirty="0">
                <a:solidFill>
                  <a:srgbClr val="FFC000"/>
                </a:solidFill>
              </a:rPr>
              <a:t>to stimuli.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728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692696"/>
            <a:ext cx="7786352" cy="5190901"/>
          </a:xfrm>
        </p:spPr>
      </p:pic>
    </p:spTree>
    <p:extLst>
      <p:ext uri="{BB962C8B-B14F-4D97-AF65-F5344CB8AC3E}">
        <p14:creationId xmlns:p14="http://schemas.microsoft.com/office/powerpoint/2010/main" val="2982288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1648</TotalTime>
  <Words>414</Words>
  <Application>Microsoft Office PowerPoint</Application>
  <PresentationFormat>On-screen Show (4:3)</PresentationFormat>
  <Paragraphs>78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Apex</vt:lpstr>
      <vt:lpstr>GENERAL BIOLOGY fdn 1203</vt:lpstr>
      <vt:lpstr>PowerPoint Presentation</vt:lpstr>
      <vt:lpstr>PowerPoint Presentation</vt:lpstr>
      <vt:lpstr>Cell theory</vt:lpstr>
      <vt:lpstr>Cell as a self-contained unit</vt:lpstr>
      <vt:lpstr>PowerPoint Presentation</vt:lpstr>
      <vt:lpstr>Prokaryotic and Eukaryotic cell</vt:lpstr>
      <vt:lpstr>Prokaryotic Cell</vt:lpstr>
      <vt:lpstr>Structure of prokaryotic 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32</cp:revision>
  <dcterms:created xsi:type="dcterms:W3CDTF">2013-05-05T15:32:03Z</dcterms:created>
  <dcterms:modified xsi:type="dcterms:W3CDTF">2020-07-11T03:36:14Z</dcterms:modified>
</cp:coreProperties>
</file>