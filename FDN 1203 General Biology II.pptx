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8" r:id="rId4"/>
    <p:sldId id="281" r:id="rId5"/>
    <p:sldId id="282" r:id="rId6"/>
    <p:sldId id="279" r:id="rId7"/>
    <p:sldId id="284" r:id="rId8"/>
    <p:sldId id="287" r:id="rId9"/>
    <p:sldId id="289" r:id="rId10"/>
    <p:sldId id="285" r:id="rId11"/>
    <p:sldId id="288" r:id="rId12"/>
    <p:sldId id="260" r:id="rId13"/>
    <p:sldId id="262" r:id="rId14"/>
    <p:sldId id="276" r:id="rId15"/>
    <p:sldId id="277" r:id="rId16"/>
    <p:sldId id="278" r:id="rId17"/>
    <p:sldId id="290" r:id="rId18"/>
    <p:sldId id="291" r:id="rId19"/>
    <p:sldId id="292" r:id="rId20"/>
    <p:sldId id="293" r:id="rId21"/>
    <p:sldId id="280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94" y="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E4BA0AA-78E7-4C51-861B-2473917043FA}" type="datetimeFigureOut">
              <a:rPr lang="en-GB" smtClean="0"/>
              <a:t>11/07/2020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7CCC407-0F24-4C1C-82A9-0AFC0A7EE502}" type="slidenum">
              <a:rPr lang="en-GB" smtClean="0"/>
              <a:t>‹#›</a:t>
            </a:fld>
            <a:endParaRPr lang="en-GB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576" y="476672"/>
            <a:ext cx="7772400" cy="1584176"/>
          </a:xfrm>
        </p:spPr>
        <p:txBody>
          <a:bodyPr>
            <a:no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GENERAL BIOLOGY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err="1" smtClean="0">
                <a:solidFill>
                  <a:srgbClr val="FF0000"/>
                </a:solidFill>
              </a:rPr>
              <a:t>fdn</a:t>
            </a:r>
            <a:r>
              <a:rPr lang="en-US" dirty="0" smtClean="0">
                <a:solidFill>
                  <a:srgbClr val="FF0000"/>
                </a:solidFill>
              </a:rPr>
              <a:t> 1203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1026" name="Picture 2" descr="General Biology - Wikibooks, open books for an open wor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276872"/>
            <a:ext cx="57150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99592" y="4941168"/>
            <a:ext cx="43924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Dr. </a:t>
            </a:r>
            <a:r>
              <a:rPr lang="en-US" sz="2800" b="1" dirty="0" err="1" smtClean="0">
                <a:solidFill>
                  <a:schemeClr val="bg1"/>
                </a:solidFill>
              </a:rPr>
              <a:t>Theja</a:t>
            </a:r>
            <a:r>
              <a:rPr lang="en-US" sz="2800" b="1" dirty="0" smtClean="0">
                <a:solidFill>
                  <a:schemeClr val="bg1"/>
                </a:solidFill>
              </a:rPr>
              <a:t> </a:t>
            </a:r>
            <a:r>
              <a:rPr lang="en-US" sz="2800" b="1" dirty="0" err="1" smtClean="0">
                <a:solidFill>
                  <a:schemeClr val="bg1"/>
                </a:solidFill>
              </a:rPr>
              <a:t>Abayarathna</a:t>
            </a:r>
            <a:endParaRPr lang="en-US" sz="2800" b="1" dirty="0" smtClean="0">
              <a:solidFill>
                <a:schemeClr val="bg1"/>
              </a:solidFill>
            </a:endParaRPr>
          </a:p>
          <a:p>
            <a:r>
              <a:rPr lang="en-US" sz="2000" b="1" dirty="0" smtClean="0">
                <a:solidFill>
                  <a:schemeClr val="bg1"/>
                </a:solidFill>
              </a:rPr>
              <a:t>Department of Biology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Faculty of Applied Sciences</a:t>
            </a:r>
          </a:p>
          <a:p>
            <a:r>
              <a:rPr lang="en-US" sz="2000" b="1" dirty="0" err="1" smtClean="0">
                <a:solidFill>
                  <a:schemeClr val="bg1"/>
                </a:solidFill>
              </a:rPr>
              <a:t>Rajarata</a:t>
            </a:r>
            <a:r>
              <a:rPr lang="en-US" sz="2000" b="1" dirty="0" smtClean="0">
                <a:solidFill>
                  <a:schemeClr val="bg1"/>
                </a:solidFill>
              </a:rPr>
              <a:t> University of Sri Lanka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3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980728"/>
            <a:ext cx="8229600" cy="1872208"/>
          </a:xfrm>
        </p:spPr>
        <p:txBody>
          <a:bodyPr>
            <a:noAutofit/>
          </a:bodyPr>
          <a:lstStyle/>
          <a:p>
            <a:pPr marL="137160" indent="0">
              <a:buNone/>
            </a:pPr>
            <a:r>
              <a:rPr lang="en-GB" sz="5400" b="1" dirty="0" smtClean="0">
                <a:solidFill>
                  <a:srgbClr val="FF0000"/>
                </a:solidFill>
              </a:rPr>
              <a:t>The Cell – As the basic unit of life</a:t>
            </a:r>
            <a:endParaRPr lang="en-GB" sz="5400" b="1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780928"/>
            <a:ext cx="4680520" cy="3505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7953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Eukaryotic cell</a:t>
            </a:r>
            <a:endParaRPr lang="en-US" dirty="0"/>
          </a:p>
        </p:txBody>
      </p:sp>
      <p:sp>
        <p:nvSpPr>
          <p:cNvPr id="10" name="Rectangle 3"/>
          <p:cNvSpPr txBox="1">
            <a:spLocks noRot="1" noChangeArrowheads="1"/>
          </p:cNvSpPr>
          <p:nvPr/>
        </p:nvSpPr>
        <p:spPr>
          <a:xfrm>
            <a:off x="301625" y="1600200"/>
            <a:ext cx="8540750" cy="4498975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548640" indent="-411480" algn="l" rtl="0" eaLnBrk="1" latinLnBrk="0" hangingPunct="1">
              <a:spcBef>
                <a:spcPct val="20000"/>
              </a:spcBef>
              <a:buClr>
                <a:schemeClr val="tx1">
                  <a:shade val="95000"/>
                </a:schemeClr>
              </a:buClr>
              <a:buSzPct val="65000"/>
              <a:buFont typeface="Wingdings 2"/>
              <a:buChar char="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68680" indent="-283464" algn="l" rtl="0" eaLnBrk="1" latinLnBrk="0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 2"/>
              <a:buChar char="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33856" indent="-228600" algn="l" rtl="0" eaLnBrk="1" latinLnBrk="0" hangingPunct="1">
              <a:spcBef>
                <a:spcPct val="20000"/>
              </a:spcBef>
              <a:buClr>
                <a:schemeClr val="tx1"/>
              </a:buClr>
              <a:buSzPct val="95000"/>
              <a:buFont typeface="Wingdings"/>
              <a:buChar char=""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5331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SzPct val="100000"/>
              <a:buFont typeface="Wingdings 3"/>
              <a:buChar char="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533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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64792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3"/>
              <a:buChar char="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65960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67128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68296" indent="-182880" algn="l" rtl="0" eaLnBrk="1" latinLnBrk="0" hangingPunct="1">
              <a:spcBef>
                <a:spcPct val="20000"/>
              </a:spcBef>
              <a:buClr>
                <a:schemeClr val="tx1"/>
              </a:buClr>
              <a:buFont typeface="Wingdings 2"/>
              <a:buChar char="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b="1" dirty="0" smtClean="0"/>
              <a:t>They are highly evolved cells possessing </a:t>
            </a:r>
            <a:r>
              <a:rPr lang="en-US" b="1" dirty="0" smtClean="0">
                <a:solidFill>
                  <a:schemeClr val="bg1"/>
                </a:solidFill>
              </a:rPr>
              <a:t>specialized organelles, a definite membrane bounded nucleus and highly organized cytoplasm. </a:t>
            </a:r>
          </a:p>
          <a:p>
            <a:pPr>
              <a:buFont typeface="Arial" charset="0"/>
              <a:buNone/>
              <a:defRPr/>
            </a:pPr>
            <a:endParaRPr lang="en-US" b="1" dirty="0" smtClean="0"/>
          </a:p>
          <a:p>
            <a:pPr>
              <a:defRPr/>
            </a:pPr>
            <a:r>
              <a:rPr lang="en-US" b="1" dirty="0" smtClean="0"/>
              <a:t>They show great</a:t>
            </a:r>
            <a:r>
              <a:rPr lang="en-US" b="1" dirty="0" smtClean="0">
                <a:solidFill>
                  <a:srgbClr val="FF0000"/>
                </a:solidFill>
              </a:rPr>
              <a:t> variations in shapes, size and type.</a:t>
            </a:r>
          </a:p>
          <a:p>
            <a:pPr>
              <a:buFont typeface="Arial" charset="0"/>
              <a:buNone/>
              <a:defRPr/>
            </a:pPr>
            <a:endParaRPr lang="en-US" b="1" dirty="0" smtClean="0"/>
          </a:p>
          <a:p>
            <a:pPr>
              <a:defRPr/>
            </a:pPr>
            <a:r>
              <a:rPr lang="en-US" b="1" dirty="0" smtClean="0"/>
              <a:t>It is composed of jelly like translucent </a:t>
            </a:r>
            <a:r>
              <a:rPr lang="en-US" b="1" dirty="0" smtClean="0">
                <a:solidFill>
                  <a:srgbClr val="FFC000"/>
                </a:solidFill>
              </a:rPr>
              <a:t>protoplasm </a:t>
            </a:r>
            <a:r>
              <a:rPr lang="en-US" b="1" dirty="0" smtClean="0"/>
              <a:t>bound by a </a:t>
            </a:r>
            <a:r>
              <a:rPr lang="en-US" b="1" dirty="0" smtClean="0">
                <a:solidFill>
                  <a:srgbClr val="FFC000"/>
                </a:solidFill>
              </a:rPr>
              <a:t>plasma membrane</a:t>
            </a:r>
            <a:r>
              <a:rPr lang="en-US" b="1" dirty="0" smtClean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66866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908720"/>
            <a:ext cx="8229600" cy="5601618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/>
              <a:t>protoplasm has 2 parts.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b="1" dirty="0" smtClean="0"/>
              <a:t> </a:t>
            </a:r>
          </a:p>
          <a:p>
            <a:pPr marL="137160" indent="0" eaLnBrk="1" hangingPunct="1">
              <a:buNone/>
              <a:defRPr/>
            </a:pPr>
            <a:r>
              <a:rPr lang="en-US" b="1" dirty="0" smtClean="0">
                <a:solidFill>
                  <a:srgbClr val="FFFF00"/>
                </a:solidFill>
              </a:rPr>
              <a:t>1. Cytoplasm </a:t>
            </a:r>
          </a:p>
          <a:p>
            <a:pPr marL="137160" indent="0" eaLnBrk="1" hangingPunct="1">
              <a:buNone/>
              <a:defRPr/>
            </a:pPr>
            <a:endParaRPr lang="en-US" b="1" dirty="0" smtClean="0">
              <a:solidFill>
                <a:srgbClr val="FFFF00"/>
              </a:solidFill>
            </a:endParaRPr>
          </a:p>
          <a:p>
            <a:pPr marL="137160" indent="0" eaLnBrk="1" hangingPunct="1">
              <a:buNone/>
              <a:defRPr/>
            </a:pPr>
            <a:r>
              <a:rPr lang="en-US" b="1" dirty="0" smtClean="0">
                <a:solidFill>
                  <a:srgbClr val="FFFF00"/>
                </a:solidFill>
              </a:rPr>
              <a:t>2. Nucleus </a:t>
            </a:r>
          </a:p>
          <a:p>
            <a:pPr eaLnBrk="1" hangingPunct="1">
              <a:buFont typeface="Arial" charset="0"/>
              <a:buNone/>
              <a:defRPr/>
            </a:pPr>
            <a:endParaRPr lang="en-US" b="1" dirty="0" smtClean="0"/>
          </a:p>
          <a:p>
            <a:pPr eaLnBrk="1" hangingPunct="1">
              <a:defRPr/>
            </a:pPr>
            <a:r>
              <a:rPr lang="en-US" b="1" dirty="0" smtClean="0"/>
              <a:t>Cytoplasm has number of compartments. </a:t>
            </a:r>
          </a:p>
          <a:p>
            <a:pPr eaLnBrk="1" hangingPunct="1">
              <a:buFont typeface="Arial" charset="0"/>
              <a:buNone/>
              <a:defRPr/>
            </a:pPr>
            <a:endParaRPr lang="en-US" b="1" dirty="0" smtClean="0"/>
          </a:p>
          <a:p>
            <a:pPr eaLnBrk="1" hangingPunct="1">
              <a:defRPr/>
            </a:pPr>
            <a:endParaRPr lang="en-US" b="1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340768"/>
            <a:ext cx="3044149" cy="207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7103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908720"/>
            <a:ext cx="8229600" cy="5400640"/>
          </a:xfrm>
        </p:spPr>
        <p:txBody>
          <a:bodyPr/>
          <a:lstStyle/>
          <a:p>
            <a:pPr marL="137160" indent="0" eaLnBrk="1" hangingPunct="1">
              <a:buNone/>
              <a:defRPr/>
            </a:pPr>
            <a:r>
              <a:rPr lang="en-US" b="1" dirty="0" smtClean="0"/>
              <a:t>They are called as </a:t>
            </a:r>
            <a:r>
              <a:rPr lang="en-US" b="1" dirty="0" smtClean="0">
                <a:solidFill>
                  <a:srgbClr val="FFFF00"/>
                </a:solidFill>
              </a:rPr>
              <a:t>organelles</a:t>
            </a:r>
            <a:r>
              <a:rPr lang="en-US" b="1" dirty="0" smtClean="0"/>
              <a:t> and carryout </a:t>
            </a:r>
            <a:r>
              <a:rPr lang="en-US" b="1" dirty="0" smtClean="0">
                <a:solidFill>
                  <a:srgbClr val="C00000"/>
                </a:solidFill>
              </a:rPr>
              <a:t>different functions</a:t>
            </a:r>
            <a:r>
              <a:rPr lang="en-US" b="1" dirty="0" smtClean="0"/>
              <a:t>.</a:t>
            </a:r>
          </a:p>
          <a:p>
            <a:pPr eaLnBrk="1" hangingPunct="1">
              <a:buFont typeface="Arial" charset="0"/>
              <a:buNone/>
              <a:defRPr/>
            </a:pPr>
            <a:r>
              <a:rPr lang="en-US" b="1" dirty="0" smtClean="0"/>
              <a:t> </a:t>
            </a:r>
          </a:p>
          <a:p>
            <a:pPr eaLnBrk="1" hangingPunct="1">
              <a:defRPr/>
            </a:pPr>
            <a:r>
              <a:rPr lang="en-US" b="1" dirty="0" smtClean="0"/>
              <a:t>These organelles may or may not be bound by a membrane Ex. Mitochondria, Ribosome, Golgi apparatus, Lysosome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4221088"/>
            <a:ext cx="2890838" cy="2176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629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85216" lvl="1" indent="0">
              <a:buNone/>
              <a:defRPr/>
            </a:pPr>
            <a:r>
              <a:rPr lang="en-US" sz="4000" b="1" dirty="0" smtClean="0">
                <a:solidFill>
                  <a:srgbClr val="FFC000"/>
                </a:solidFill>
              </a:rPr>
              <a:t>1. Plant cell</a:t>
            </a:r>
          </a:p>
          <a:p>
            <a:pPr marL="585216" lvl="1" indent="0">
              <a:buNone/>
              <a:defRPr/>
            </a:pPr>
            <a:endParaRPr lang="en-US" sz="4000" b="1" dirty="0">
              <a:solidFill>
                <a:srgbClr val="FFC000"/>
              </a:solidFill>
            </a:endParaRPr>
          </a:p>
          <a:p>
            <a:pPr marL="585216" lvl="1" indent="0">
              <a:buNone/>
              <a:defRPr/>
            </a:pPr>
            <a:r>
              <a:rPr lang="en-US" sz="4000" b="1" dirty="0" smtClean="0">
                <a:solidFill>
                  <a:srgbClr val="FFC000"/>
                </a:solidFill>
              </a:rPr>
              <a:t>2. Animal </a:t>
            </a:r>
            <a:r>
              <a:rPr lang="en-US" sz="4000" b="1" dirty="0">
                <a:solidFill>
                  <a:srgbClr val="FFC000"/>
                </a:solidFill>
              </a:rPr>
              <a:t>cell</a:t>
            </a:r>
          </a:p>
          <a:p>
            <a:endParaRPr lang="en-US" dirty="0"/>
          </a:p>
        </p:txBody>
      </p:sp>
      <p:sp>
        <p:nvSpPr>
          <p:cNvPr id="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b="1" dirty="0" smtClean="0">
                <a:solidFill>
                  <a:srgbClr val="FFFF00"/>
                </a:solidFill>
              </a:rPr>
              <a:t>Types of Eukaryotic cells</a:t>
            </a:r>
            <a:br>
              <a:rPr lang="en-US" sz="4000" b="1" dirty="0" smtClean="0">
                <a:solidFill>
                  <a:srgbClr val="FFFF00"/>
                </a:solidFill>
              </a:rPr>
            </a:br>
            <a:endParaRPr lang="en-US" sz="4000" b="1" dirty="0" smtClean="0">
              <a:solidFill>
                <a:srgbClr val="FFFF00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909652"/>
            <a:ext cx="4953000" cy="260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997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Major differences between plant cell and animal cell are</a:t>
            </a:r>
            <a:endParaRPr lang="en-US" dirty="0"/>
          </a:p>
        </p:txBody>
      </p:sp>
      <p:sp>
        <p:nvSpPr>
          <p:cNvPr id="6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1844824"/>
            <a:ext cx="8229600" cy="4464536"/>
          </a:xfrm>
        </p:spPr>
        <p:txBody>
          <a:bodyPr/>
          <a:lstStyle/>
          <a:p>
            <a:pPr marL="651510" indent="-514350" eaLnBrk="1" hangingPunct="1">
              <a:buFont typeface="Arial" charset="0"/>
              <a:buAutoNum type="arabicPeriod"/>
              <a:defRPr/>
            </a:pPr>
            <a:r>
              <a:rPr lang="en-US" b="1" dirty="0" smtClean="0"/>
              <a:t>Plant cell contains a </a:t>
            </a:r>
            <a:r>
              <a:rPr lang="en-US" b="1" dirty="0" smtClean="0">
                <a:solidFill>
                  <a:srgbClr val="FF0000"/>
                </a:solidFill>
              </a:rPr>
              <a:t>cell wall </a:t>
            </a:r>
            <a:r>
              <a:rPr lang="en-US" b="1" dirty="0" smtClean="0"/>
              <a:t>but animal cell does not </a:t>
            </a:r>
          </a:p>
          <a:p>
            <a:pPr marL="137160" indent="0" eaLnBrk="1" hangingPunct="1">
              <a:buNone/>
              <a:defRPr/>
            </a:pPr>
            <a:endParaRPr lang="en-US" b="1" dirty="0" smtClean="0"/>
          </a:p>
          <a:p>
            <a:pPr eaLnBrk="1" hangingPunct="1">
              <a:buFont typeface="Arial" charset="0"/>
              <a:buNone/>
              <a:defRPr/>
            </a:pPr>
            <a:r>
              <a:rPr lang="en-US" b="1" dirty="0" smtClean="0"/>
              <a:t>2. Plant cell contains a </a:t>
            </a:r>
            <a:r>
              <a:rPr lang="en-US" b="1" dirty="0" smtClean="0">
                <a:solidFill>
                  <a:srgbClr val="FFFF00"/>
                </a:solidFill>
              </a:rPr>
              <a:t>large central vacuole </a:t>
            </a:r>
            <a:r>
              <a:rPr lang="en-US" b="1" dirty="0" smtClean="0"/>
              <a:t>but animal cell contains number of small vacuoles</a:t>
            </a:r>
          </a:p>
          <a:p>
            <a:pPr eaLnBrk="1" hangingPunct="1">
              <a:buFont typeface="Arial" charset="0"/>
              <a:buNone/>
              <a:defRPr/>
            </a:pPr>
            <a:endParaRPr lang="en-US" b="1" dirty="0"/>
          </a:p>
          <a:p>
            <a:pPr eaLnBrk="1" hangingPunct="1">
              <a:buFont typeface="Arial" charset="0"/>
              <a:buNone/>
              <a:defRPr/>
            </a:pPr>
            <a:r>
              <a:rPr lang="en-US" b="1" dirty="0" smtClean="0"/>
              <a:t> 3. Plant cell contains a </a:t>
            </a:r>
            <a:r>
              <a:rPr lang="en-US" b="1" dirty="0" smtClean="0">
                <a:solidFill>
                  <a:srgbClr val="92D050"/>
                </a:solidFill>
              </a:rPr>
              <a:t>chloroplast</a:t>
            </a:r>
            <a:r>
              <a:rPr lang="en-US" b="1" dirty="0" smtClean="0"/>
              <a:t> but animal cell does not</a:t>
            </a:r>
          </a:p>
          <a:p>
            <a:pPr eaLnBrk="1" hangingPunct="1"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0434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340768"/>
            <a:ext cx="8540054" cy="4165496"/>
          </a:xfrm>
        </p:spPr>
      </p:pic>
    </p:spTree>
    <p:extLst>
      <p:ext uri="{BB962C8B-B14F-4D97-AF65-F5344CB8AC3E}">
        <p14:creationId xmlns:p14="http://schemas.microsoft.com/office/powerpoint/2010/main" val="393554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4000" b="1" dirty="0" smtClean="0">
                <a:solidFill>
                  <a:srgbClr val="FFFF00"/>
                </a:solidFill>
              </a:rPr>
              <a:t>Structure of the Plasma membrane</a:t>
            </a:r>
          </a:p>
        </p:txBody>
      </p:sp>
      <p:sp>
        <p:nvSpPr>
          <p:cNvPr id="8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/>
              <a:t>The most favored model is the </a:t>
            </a:r>
            <a:r>
              <a:rPr lang="en-US" b="1" dirty="0" smtClean="0">
                <a:solidFill>
                  <a:srgbClr val="FFC000"/>
                </a:solidFill>
              </a:rPr>
              <a:t>fluid mosaic model.</a:t>
            </a:r>
          </a:p>
          <a:p>
            <a:pPr eaLnBrk="1" hangingPunct="1">
              <a:defRPr/>
            </a:pPr>
            <a:endParaRPr lang="en-US" b="1" dirty="0" smtClean="0">
              <a:solidFill>
                <a:srgbClr val="FFC000"/>
              </a:solidFill>
            </a:endParaRPr>
          </a:p>
          <a:p>
            <a:pPr eaLnBrk="1" hangingPunct="1">
              <a:defRPr/>
            </a:pPr>
            <a:r>
              <a:rPr lang="en-US" b="1" dirty="0" smtClean="0"/>
              <a:t>Proposed by Singer and Nicholson in 1972</a:t>
            </a:r>
          </a:p>
          <a:p>
            <a:pPr marL="137160" indent="0" eaLnBrk="1" hangingPunct="1">
              <a:buNone/>
              <a:defRPr/>
            </a:pPr>
            <a:endParaRPr lang="en-US" b="1" dirty="0" smtClean="0"/>
          </a:p>
          <a:p>
            <a:pPr eaLnBrk="1" hangingPunct="1">
              <a:defRPr/>
            </a:pPr>
            <a:r>
              <a:rPr lang="en-US" b="1" dirty="0" smtClean="0"/>
              <a:t>Plasma membrane is made up of </a:t>
            </a:r>
            <a:r>
              <a:rPr lang="en-US" b="1" dirty="0" smtClean="0">
                <a:solidFill>
                  <a:srgbClr val="00FFFF"/>
                </a:solidFill>
              </a:rPr>
              <a:t>lipid, protein</a:t>
            </a:r>
            <a:r>
              <a:rPr lang="en-US" b="1" dirty="0" smtClean="0"/>
              <a:t> and </a:t>
            </a:r>
            <a:r>
              <a:rPr lang="en-US" b="1" dirty="0" smtClean="0">
                <a:solidFill>
                  <a:srgbClr val="00FFFF"/>
                </a:solidFill>
              </a:rPr>
              <a:t>carbohydrates</a:t>
            </a:r>
            <a:endParaRPr lang="en-US" b="1" dirty="0"/>
          </a:p>
          <a:p>
            <a:pPr marL="137160" indent="0" eaLnBrk="1" hangingPunct="1">
              <a:buNone/>
              <a:defRPr/>
            </a:pPr>
            <a:r>
              <a:rPr lang="en-US" b="1" dirty="0" smtClean="0"/>
              <a:t> </a:t>
            </a:r>
          </a:p>
          <a:p>
            <a:pPr eaLnBrk="1" hangingPunct="1">
              <a:defRPr/>
            </a:pPr>
            <a:r>
              <a:rPr lang="en-US" b="1" dirty="0" smtClean="0"/>
              <a:t>Lipids form a </a:t>
            </a:r>
            <a:r>
              <a:rPr lang="en-US" b="1" dirty="0" smtClean="0">
                <a:solidFill>
                  <a:srgbClr val="92D050"/>
                </a:solidFill>
              </a:rPr>
              <a:t>fluid bilayer</a:t>
            </a:r>
          </a:p>
        </p:txBody>
      </p:sp>
    </p:spTree>
    <p:extLst>
      <p:ext uri="{BB962C8B-B14F-4D97-AF65-F5344CB8AC3E}">
        <p14:creationId xmlns:p14="http://schemas.microsoft.com/office/powerpoint/2010/main" val="834241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 smtClean="0"/>
              <a:t>In this bilayer, heads of lipid molecules are </a:t>
            </a:r>
            <a:r>
              <a:rPr lang="en-US" b="1" dirty="0" smtClean="0">
                <a:solidFill>
                  <a:srgbClr val="92D050"/>
                </a:solidFill>
              </a:rPr>
              <a:t>directed outwards and hey are polar and hydrophilic</a:t>
            </a:r>
          </a:p>
          <a:p>
            <a:pPr eaLnBrk="1" hangingPunct="1">
              <a:defRPr/>
            </a:pPr>
            <a:endParaRPr lang="en-US" b="1" dirty="0"/>
          </a:p>
          <a:p>
            <a:pPr marL="137160" indent="0" eaLnBrk="1" hangingPunct="1">
              <a:buNone/>
              <a:defRPr/>
            </a:pPr>
            <a:endParaRPr lang="en-US" b="1" dirty="0" smtClean="0"/>
          </a:p>
          <a:p>
            <a:pPr eaLnBrk="1" hangingPunct="1">
              <a:defRPr/>
            </a:pPr>
            <a:r>
              <a:rPr lang="en-US" b="1" dirty="0" smtClean="0"/>
              <a:t>Tails are directed </a:t>
            </a:r>
            <a:r>
              <a:rPr lang="en-US" b="1" dirty="0" smtClean="0">
                <a:solidFill>
                  <a:srgbClr val="FFC000"/>
                </a:solidFill>
              </a:rPr>
              <a:t>inwards and they are non polar and hydrophobic</a:t>
            </a:r>
            <a:r>
              <a:rPr lang="en-US" b="1" dirty="0" smtClean="0"/>
              <a:t>. </a:t>
            </a:r>
          </a:p>
          <a:p>
            <a:pPr eaLnBrk="1" hangingPunct="1"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87223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972036"/>
            <a:ext cx="8229600" cy="1964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3050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/>
          <p:cNvCxnSpPr/>
          <p:nvPr/>
        </p:nvCxnSpPr>
        <p:spPr>
          <a:xfrm>
            <a:off x="4499992" y="2132856"/>
            <a:ext cx="0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476672"/>
            <a:ext cx="8229600" cy="5832688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b="1" dirty="0" smtClean="0"/>
              <a:t>Proteins are two types</a:t>
            </a:r>
            <a:endParaRPr lang="en-US" b="1" dirty="0"/>
          </a:p>
          <a:p>
            <a:pPr marL="137160" indent="0" eaLnBrk="1" hangingPunct="1">
              <a:buNone/>
              <a:defRPr/>
            </a:pPr>
            <a:endParaRPr lang="en-US" b="1" dirty="0" smtClean="0"/>
          </a:p>
          <a:p>
            <a:pPr marL="137160" indent="0" eaLnBrk="1" hangingPunct="1">
              <a:buNone/>
              <a:defRPr/>
            </a:pPr>
            <a:r>
              <a:rPr lang="en-US" b="1" dirty="0" smtClean="0">
                <a:solidFill>
                  <a:srgbClr val="00FFFF"/>
                </a:solidFill>
              </a:rPr>
              <a:t>1. Intrinsic proteins/ </a:t>
            </a:r>
            <a:r>
              <a:rPr lang="en-US" b="1" dirty="0" err="1" smtClean="0">
                <a:solidFill>
                  <a:srgbClr val="00FFFF"/>
                </a:solidFill>
              </a:rPr>
              <a:t>Intergral</a:t>
            </a:r>
            <a:r>
              <a:rPr lang="en-US" b="1" dirty="0" smtClean="0">
                <a:solidFill>
                  <a:srgbClr val="00FFFF"/>
                </a:solidFill>
              </a:rPr>
              <a:t> Protein</a:t>
            </a:r>
            <a:r>
              <a:rPr lang="en-US" b="1" dirty="0" smtClean="0"/>
              <a:t> -embedded in the lipid bilayer. </a:t>
            </a:r>
          </a:p>
          <a:p>
            <a:pPr marL="137160" indent="0" eaLnBrk="1" hangingPunct="1">
              <a:buNone/>
              <a:defRPr/>
            </a:pPr>
            <a:endParaRPr lang="en-US" b="1" dirty="0" smtClean="0"/>
          </a:p>
          <a:p>
            <a:pPr eaLnBrk="1" hangingPunct="1">
              <a:defRPr/>
            </a:pPr>
            <a:r>
              <a:rPr lang="en-US" b="1" dirty="0" smtClean="0"/>
              <a:t>They are held by hydrophobic and hydrophilic parts of the lipid molecules  and cannot be easily dislodged. </a:t>
            </a:r>
            <a:endParaRPr lang="en-US" b="1" dirty="0"/>
          </a:p>
          <a:p>
            <a:pPr eaLnBrk="1" hangingPunct="1">
              <a:defRPr/>
            </a:pPr>
            <a:endParaRPr lang="en-US" b="1" dirty="0" smtClean="0"/>
          </a:p>
          <a:p>
            <a:pPr eaLnBrk="1" hangingPunct="1">
              <a:defRPr/>
            </a:pPr>
            <a:r>
              <a:rPr lang="en-US" b="1" dirty="0" smtClean="0"/>
              <a:t>Some </a:t>
            </a:r>
            <a:r>
              <a:rPr lang="en-US" b="1" dirty="0"/>
              <a:t>protein molecules are small and only a </a:t>
            </a:r>
            <a:r>
              <a:rPr lang="en-US" b="1" dirty="0">
                <a:solidFill>
                  <a:srgbClr val="FFC000"/>
                </a:solidFill>
              </a:rPr>
              <a:t>part projects at the surface. </a:t>
            </a:r>
          </a:p>
          <a:p>
            <a:pPr marL="137160" indent="0">
              <a:buNone/>
              <a:defRPr/>
            </a:pPr>
            <a:endParaRPr lang="en-US" b="1" dirty="0"/>
          </a:p>
          <a:p>
            <a:pPr>
              <a:defRPr/>
            </a:pPr>
            <a:r>
              <a:rPr lang="en-US" b="1" dirty="0"/>
              <a:t>Some are </a:t>
            </a:r>
            <a:r>
              <a:rPr lang="en-US" b="1" dirty="0">
                <a:solidFill>
                  <a:srgbClr val="FFC000"/>
                </a:solidFill>
              </a:rPr>
              <a:t>large and projects at both surfaces. </a:t>
            </a:r>
          </a:p>
          <a:p>
            <a:pPr eaLnBrk="1" hangingPunct="1">
              <a:defRPr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1108467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887537"/>
            <a:ext cx="6096000" cy="4133850"/>
          </a:xfrm>
        </p:spPr>
      </p:pic>
    </p:spTree>
    <p:extLst>
      <p:ext uri="{BB962C8B-B14F-4D97-AF65-F5344CB8AC3E}">
        <p14:creationId xmlns:p14="http://schemas.microsoft.com/office/powerpoint/2010/main" val="3110101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marL="137160" indent="0" eaLnBrk="1" hangingPunct="1">
              <a:buNone/>
              <a:defRPr/>
            </a:pPr>
            <a:endParaRPr lang="en-US" b="1" dirty="0" smtClean="0">
              <a:solidFill>
                <a:srgbClr val="FFC000"/>
              </a:solidFill>
            </a:endParaRPr>
          </a:p>
          <a:p>
            <a:pPr marL="137160" indent="0" eaLnBrk="1" hangingPunct="1">
              <a:buNone/>
              <a:defRPr/>
            </a:pPr>
            <a:r>
              <a:rPr lang="en-US" b="1" dirty="0" smtClean="0">
                <a:solidFill>
                  <a:srgbClr val="00FFFF"/>
                </a:solidFill>
              </a:rPr>
              <a:t>2, Extrinsic proteins / peripheral protein</a:t>
            </a:r>
            <a:r>
              <a:rPr lang="en-US" b="1" dirty="0" smtClean="0"/>
              <a:t> are superficially attached to the lipid layer.</a:t>
            </a:r>
          </a:p>
          <a:p>
            <a:pPr marL="137160" indent="0" eaLnBrk="1" hangingPunct="1">
              <a:buNone/>
              <a:defRPr/>
            </a:pPr>
            <a:r>
              <a:rPr lang="en-US" b="1" dirty="0" smtClean="0"/>
              <a:t> </a:t>
            </a:r>
          </a:p>
          <a:p>
            <a:pPr marL="137160" indent="0" eaLnBrk="1" hangingPunct="1">
              <a:buNone/>
              <a:defRPr/>
            </a:pPr>
            <a:r>
              <a:rPr lang="en-US" b="1" dirty="0" smtClean="0"/>
              <a:t>They can be easily removed. </a:t>
            </a:r>
          </a:p>
          <a:p>
            <a:pPr eaLnBrk="1" hangingPunct="1">
              <a:defRPr/>
            </a:pPr>
            <a:endParaRPr lang="en-US" b="1" dirty="0" smtClean="0"/>
          </a:p>
          <a:p>
            <a:pPr eaLnBrk="1" hangingPunct="1">
              <a:defRPr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4012458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452" y="1628800"/>
            <a:ext cx="6477548" cy="4392587"/>
          </a:xfrm>
        </p:spPr>
      </p:pic>
    </p:spTree>
    <p:extLst>
      <p:ext uri="{BB962C8B-B14F-4D97-AF65-F5344CB8AC3E}">
        <p14:creationId xmlns:p14="http://schemas.microsoft.com/office/powerpoint/2010/main" val="3384728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57200" y="692696"/>
            <a:ext cx="8229600" cy="5616664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00B0F0"/>
                </a:solidFill>
              </a:rPr>
              <a:t>Carbohydrates</a:t>
            </a:r>
            <a:r>
              <a:rPr lang="en-US" b="1" dirty="0" smtClean="0"/>
              <a:t> forms the antennae projecting on the surface. </a:t>
            </a:r>
          </a:p>
          <a:p>
            <a:pPr eaLnBrk="1" hangingPunct="1">
              <a:defRPr/>
            </a:pPr>
            <a:endParaRPr lang="en-US" b="1" dirty="0" smtClean="0"/>
          </a:p>
          <a:p>
            <a:pPr eaLnBrk="1" hangingPunct="1">
              <a:defRPr/>
            </a:pPr>
            <a:r>
              <a:rPr lang="en-US" b="1" dirty="0" smtClean="0"/>
              <a:t>The cells recognize one another by these.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898994"/>
            <a:ext cx="5828710" cy="395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288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Cell wall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" indent="0">
              <a:buClr>
                <a:schemeClr val="tx1"/>
              </a:buClr>
              <a:buNone/>
              <a:defRPr/>
            </a:pPr>
            <a:r>
              <a:rPr lang="en-US" b="1" dirty="0">
                <a:solidFill>
                  <a:srgbClr val="00FFFF"/>
                </a:solidFill>
              </a:rPr>
              <a:t>Primary cell wall</a:t>
            </a:r>
          </a:p>
          <a:p>
            <a:pPr>
              <a:defRPr/>
            </a:pPr>
            <a:r>
              <a:rPr lang="en-US" b="1" dirty="0" smtClean="0"/>
              <a:t>Is </a:t>
            </a:r>
            <a:r>
              <a:rPr lang="en-US" b="1" dirty="0"/>
              <a:t>laid on the middle </a:t>
            </a:r>
            <a:r>
              <a:rPr lang="en-US" b="1" dirty="0" smtClean="0"/>
              <a:t>lamella </a:t>
            </a:r>
            <a:r>
              <a:rPr lang="en-US" b="1" dirty="0"/>
              <a:t>within the cell.  </a:t>
            </a:r>
          </a:p>
          <a:p>
            <a:pPr>
              <a:buNone/>
              <a:defRPr/>
            </a:pPr>
            <a:r>
              <a:rPr lang="en-US" b="1" dirty="0"/>
              <a:t>     </a:t>
            </a:r>
            <a:endParaRPr lang="en-US" b="1" dirty="0" smtClean="0"/>
          </a:p>
          <a:p>
            <a:pPr>
              <a:defRPr/>
            </a:pPr>
            <a:r>
              <a:rPr lang="en-US" b="1" dirty="0" smtClean="0"/>
              <a:t>It consists </a:t>
            </a:r>
            <a:r>
              <a:rPr lang="en-US" b="1" dirty="0"/>
              <a:t>of cellulose micro fibrils   </a:t>
            </a:r>
            <a:r>
              <a:rPr lang="en-US" b="1" dirty="0" smtClean="0"/>
              <a:t>running through </a:t>
            </a:r>
            <a:r>
              <a:rPr lang="en-US" b="1" dirty="0"/>
              <a:t>the matrix. </a:t>
            </a:r>
          </a:p>
          <a:p>
            <a:pPr>
              <a:defRPr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907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b="1" dirty="0" smtClean="0">
                <a:solidFill>
                  <a:srgbClr val="00FFFF"/>
                </a:solidFill>
              </a:rPr>
              <a:t>Secondary cell wall</a:t>
            </a: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Ø"/>
              <a:defRPr/>
            </a:pPr>
            <a:endParaRPr lang="en-US" b="1" dirty="0" smtClean="0">
              <a:solidFill>
                <a:srgbClr val="00FFFF"/>
              </a:solidFill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b="1" dirty="0" smtClean="0"/>
              <a:t>     </a:t>
            </a:r>
            <a:r>
              <a:rPr lang="en-US" b="1" dirty="0" smtClean="0"/>
              <a:t>It is built </a:t>
            </a:r>
            <a:r>
              <a:rPr lang="en-US" b="1" dirty="0" smtClean="0"/>
              <a:t>up by addition of cellulose layers on the inside surface of primary cell wall. </a:t>
            </a:r>
          </a:p>
        </p:txBody>
      </p:sp>
    </p:spTree>
    <p:extLst>
      <p:ext uri="{BB962C8B-B14F-4D97-AF65-F5344CB8AC3E}">
        <p14:creationId xmlns:p14="http://schemas.microsoft.com/office/powerpoint/2010/main" val="3956354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3"/>
          <p:cNvSpPr>
            <a:spLocks noGrp="1" noRot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b="1" dirty="0" err="1" smtClean="0">
                <a:solidFill>
                  <a:srgbClr val="00FFFF"/>
                </a:solidFill>
              </a:rPr>
              <a:t>Plasmodesmata</a:t>
            </a:r>
            <a:endParaRPr lang="en-US" b="1" dirty="0" smtClean="0">
              <a:solidFill>
                <a:srgbClr val="00FFFF"/>
              </a:solidFill>
            </a:endParaRPr>
          </a:p>
          <a:p>
            <a:pPr marL="137160" indent="0" eaLnBrk="1" hangingPunct="1">
              <a:buClr>
                <a:schemeClr val="tx1"/>
              </a:buClr>
              <a:buNone/>
              <a:defRPr/>
            </a:pPr>
            <a:endParaRPr lang="en-US" b="1" dirty="0" smtClean="0">
              <a:solidFill>
                <a:srgbClr val="00FFFF"/>
              </a:solidFill>
            </a:endParaRPr>
          </a:p>
          <a:p>
            <a:pPr eaLnBrk="1" hangingPunct="1">
              <a:buFont typeface="Arial" charset="0"/>
              <a:buNone/>
              <a:defRPr/>
            </a:pPr>
            <a:r>
              <a:rPr lang="en-US" b="1" dirty="0" smtClean="0"/>
              <a:t>    The cell wall does not form a continuous layer and is interrupted by minute pores called </a:t>
            </a:r>
            <a:r>
              <a:rPr lang="en-US" b="1" dirty="0" err="1" smtClean="0">
                <a:solidFill>
                  <a:srgbClr val="FFFF00"/>
                </a:solidFill>
              </a:rPr>
              <a:t>plasmodesmata</a:t>
            </a:r>
            <a:r>
              <a:rPr lang="en-US" b="1" dirty="0" smtClean="0"/>
              <a:t>.</a:t>
            </a:r>
          </a:p>
          <a:p>
            <a:pPr eaLnBrk="1" hangingPunct="1">
              <a:buFont typeface="Arial" charset="0"/>
              <a:buNone/>
              <a:defRPr/>
            </a:pPr>
            <a:endParaRPr lang="en-US" b="1" dirty="0" smtClean="0"/>
          </a:p>
          <a:p>
            <a:pPr eaLnBrk="1" hangingPunct="1">
              <a:defRPr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955984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884" y="1484784"/>
            <a:ext cx="7391891" cy="4450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2496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1844824"/>
            <a:ext cx="8229600" cy="1828800"/>
          </a:xfrm>
        </p:spPr>
        <p:txBody>
          <a:bodyPr>
            <a:normAutofit/>
          </a:bodyPr>
          <a:lstStyle/>
          <a:p>
            <a:r>
              <a:rPr lang="en-US" sz="8800" dirty="0" smtClean="0">
                <a:solidFill>
                  <a:srgbClr val="FF0000"/>
                </a:solidFill>
                <a:latin typeface="Copperplate Gothic Bold" pitchFamily="34" charset="0"/>
              </a:rPr>
              <a:t>Thank you!</a:t>
            </a:r>
            <a:endParaRPr lang="en-US" sz="8800" dirty="0">
              <a:solidFill>
                <a:srgbClr val="FF000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4829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Black Tie</Template>
  <TotalTime>1800</TotalTime>
  <Words>423</Words>
  <Application>Microsoft Office PowerPoint</Application>
  <PresentationFormat>On-screen Show (4:3)</PresentationFormat>
  <Paragraphs>72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Apex</vt:lpstr>
      <vt:lpstr>GENERAL BIOLOGY fdn 1203</vt:lpstr>
      <vt:lpstr>PowerPoint Presentation</vt:lpstr>
      <vt:lpstr>Eukaryotic cell</vt:lpstr>
      <vt:lpstr>PowerPoint Presentation</vt:lpstr>
      <vt:lpstr>PowerPoint Presentation</vt:lpstr>
      <vt:lpstr>Types of Eukaryotic cells </vt:lpstr>
      <vt:lpstr>Major differences between plant cell and animal cell are</vt:lpstr>
      <vt:lpstr>PowerPoint Presentation</vt:lpstr>
      <vt:lpstr>Structure of the Plasma membrane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Cell wall</vt:lpstr>
      <vt:lpstr>PowerPoint Presentation</vt:lpstr>
      <vt:lpstr>PowerPoint Presentation</vt:lpstr>
      <vt:lpstr>PowerPoint Presentation</vt:lpstr>
      <vt:lpstr>Thank you!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BIOLOGY FOR PHYSICAL SCIENCE STUDENTS CMP 1203/1307</dc:title>
  <dc:creator>ismail - [2010]</dc:creator>
  <cp:lastModifiedBy>MIGSEN</cp:lastModifiedBy>
  <cp:revision>48</cp:revision>
  <dcterms:created xsi:type="dcterms:W3CDTF">2013-05-05T15:32:03Z</dcterms:created>
  <dcterms:modified xsi:type="dcterms:W3CDTF">2020-07-12T02:13:28Z</dcterms:modified>
</cp:coreProperties>
</file>