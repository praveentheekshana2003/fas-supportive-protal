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25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4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3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9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5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1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1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7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471F0-37EC-4B7F-AC9B-0797D71003D2}" type="datetimeFigureOut">
              <a:rPr lang="en-US" smtClean="0"/>
              <a:t>5/5/2021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5036-5C44-4657-A87F-65B2DB24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0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ANALYTICAL CHEMISTRY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CHE 2103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1 Credit  (15 lecture hours)</a:t>
            </a:r>
          </a:p>
          <a:p>
            <a:r>
              <a:rPr lang="en-US" dirty="0" smtClean="0"/>
              <a:t>Pre-requisites:- All chemistry courses of level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 aims: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 obtain a strong foundation in chemical analysis</a:t>
            </a:r>
          </a:p>
          <a:p>
            <a:r>
              <a:rPr lang="en-US" dirty="0" smtClean="0"/>
              <a:t>To describe concepts and principles used in analytical chemistry</a:t>
            </a:r>
          </a:p>
          <a:p>
            <a:r>
              <a:rPr lang="en-US" dirty="0" smtClean="0"/>
              <a:t>To develop skills to solve problems in quantitative chemical analysis based on classical techniques.</a:t>
            </a:r>
          </a:p>
          <a:p>
            <a:r>
              <a:rPr lang="en-US" dirty="0" smtClean="0"/>
              <a:t>Introduce the assessment of errors and of the accuracy of experiments.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3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aims: ………..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Introduce data handling.</a:t>
            </a:r>
          </a:p>
          <a:p>
            <a:r>
              <a:rPr lang="en-US" dirty="0" smtClean="0"/>
              <a:t>Analysis and fitting to calculate results</a:t>
            </a:r>
          </a:p>
          <a:p>
            <a:r>
              <a:rPr lang="en-US" dirty="0" smtClean="0"/>
              <a:t>Introduce some basic principles of measurement in physical, organic and analytical chemistry.</a:t>
            </a:r>
          </a:p>
          <a:p>
            <a:r>
              <a:rPr lang="en-US" dirty="0" smtClean="0"/>
              <a:t>Provide the students with analytical and numerical tools to solve chemistry related problems.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1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Course ILOs: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 successful completion of the course students should be able to:-</a:t>
            </a:r>
          </a:p>
          <a:p>
            <a:r>
              <a:rPr lang="en-US" dirty="0" smtClean="0"/>
              <a:t>Carry out propagation of uncertainty in calculations and describe the type of experimental errors.</a:t>
            </a:r>
          </a:p>
          <a:p>
            <a:r>
              <a:rPr lang="en-US" dirty="0" smtClean="0"/>
              <a:t>Apply several common statistical tests to experimental data.</a:t>
            </a:r>
          </a:p>
          <a:p>
            <a:r>
              <a:rPr lang="en-US" dirty="0" smtClean="0"/>
              <a:t>Construct a linear regression line from experimental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44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ILOs</a:t>
            </a:r>
            <a:r>
              <a:rPr lang="en-US" dirty="0" smtClean="0"/>
              <a:t>:………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Demonstrate chemical concentrations in unit of molarity, molality, percent composition, part per million and parts per billion.</a:t>
            </a:r>
          </a:p>
          <a:p>
            <a:r>
              <a:rPr lang="en-US" dirty="0" smtClean="0"/>
              <a:t>Determine which technique is to be used based on an understanding of experimental parameters.</a:t>
            </a:r>
          </a:p>
          <a:p>
            <a:r>
              <a:rPr lang="en-US" dirty="0" smtClean="0"/>
              <a:t>Recognize and use the different types of titrimetric analysis methods (acid-base , </a:t>
            </a:r>
            <a:r>
              <a:rPr lang="en-US" dirty="0" err="1" smtClean="0"/>
              <a:t>complexation</a:t>
            </a:r>
            <a:r>
              <a:rPr lang="en-US" dirty="0" smtClean="0"/>
              <a:t>, redox and precipitation)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ILOs:………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appropriate buffer systems for a given pH requirement and describe step by step procedure for buffer preparation.</a:t>
            </a:r>
          </a:p>
          <a:p>
            <a:r>
              <a:rPr lang="en-US" dirty="0" smtClean="0"/>
              <a:t>Describe and apply gravimetric methods of analysis.</a:t>
            </a:r>
          </a:p>
          <a:p>
            <a:r>
              <a:rPr lang="en-US" dirty="0" smtClean="0"/>
              <a:t>Demonstrate accurate manipulation and critical thinking.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4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dirty="0" smtClean="0"/>
              <a:t>Measurements and  errors in chemical analysis (05 h)</a:t>
            </a:r>
          </a:p>
          <a:p>
            <a:r>
              <a:rPr lang="en-US" dirty="0" smtClean="0"/>
              <a:t>Significant figures, statistical treatment of analytical data, t-test, F-test and Q-test, classification of errors and means to minimize errors; Sampling procedures, sample population, significance of representative sampling, working curve, blank solution , standard addition technique, curve fitting, graphical analysis, Quality Control/Quality assurance.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3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</a:t>
            </a:r>
            <a:r>
              <a:rPr lang="en-US" dirty="0" smtClean="0"/>
              <a:t>Description………..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dirty="0" smtClean="0"/>
              <a:t>Classical Methods (10 h)</a:t>
            </a:r>
          </a:p>
          <a:p>
            <a:r>
              <a:rPr lang="en-US" dirty="0" smtClean="0"/>
              <a:t>Acid base titrations: The requirements and the feasibility of acid base titrations, calculation of the equivalence point pH value and construction of pH curves; Theory of indicators and apparent indicator constant concept; Titration of mono- and poly functional acid and bases; Titration in non-aqueous solvents and indicators for non-aqueous titration.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8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Description………..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Buffer solution: Derivation of the Henderson-</a:t>
            </a:r>
            <a:r>
              <a:rPr lang="en-US" dirty="0" err="1" smtClean="0"/>
              <a:t>Hasselbalch</a:t>
            </a:r>
            <a:r>
              <a:rPr lang="en-US" dirty="0" smtClean="0"/>
              <a:t> equation; Calculation of pH and preparation of buffer solutions, buffer capacity; </a:t>
            </a:r>
            <a:r>
              <a:rPr lang="en-US" dirty="0" err="1" smtClean="0"/>
              <a:t>Complexoetric</a:t>
            </a:r>
            <a:r>
              <a:rPr lang="en-US" dirty="0" smtClean="0"/>
              <a:t> titrations: Concept of </a:t>
            </a:r>
            <a:r>
              <a:rPr lang="en-US" dirty="0" err="1" smtClean="0"/>
              <a:t>complexation</a:t>
            </a:r>
            <a:r>
              <a:rPr lang="en-US" dirty="0" smtClean="0"/>
              <a:t> and chelation; Coordination number, stability of complexes, factors affecting stability constants, selectivity of </a:t>
            </a:r>
            <a:r>
              <a:rPr lang="en-US" dirty="0" err="1" smtClean="0"/>
              <a:t>complexometric</a:t>
            </a:r>
            <a:r>
              <a:rPr lang="en-US" dirty="0" smtClean="0"/>
              <a:t> titrations, types of EDTA titrations; </a:t>
            </a:r>
            <a:r>
              <a:rPr lang="en-US" dirty="0" err="1" smtClean="0"/>
              <a:t>metallochromic</a:t>
            </a:r>
            <a:r>
              <a:rPr lang="en-US" dirty="0" smtClean="0"/>
              <a:t> indicators and analysis of mixtures.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3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Description………..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Gravimetry</a:t>
            </a:r>
            <a:r>
              <a:rPr lang="en-US" dirty="0" smtClean="0"/>
              <a:t>: Properties of precipitates and precipitating regent, particle size and filterability of precipitates, colloidal and crystalline precipitates, co-precipitation and post-precipitation drying and ignition of precipitates, principles of gravimetric estimation of chloride, phosphate, oxalate, zinc , iron, aluminum and magnesium.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8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Teaching Methods: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Lectures</a:t>
            </a:r>
          </a:p>
          <a:p>
            <a:r>
              <a:rPr lang="en-US" dirty="0" smtClean="0"/>
              <a:t>Assignments </a:t>
            </a:r>
          </a:p>
          <a:p>
            <a:r>
              <a:rPr lang="en-US" dirty="0" smtClean="0"/>
              <a:t>Tutorials and quizzes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Evaluation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227948"/>
              </p:ext>
            </p:extLst>
          </p:nvPr>
        </p:nvGraphicFramePr>
        <p:xfrm>
          <a:off x="457200" y="1905000"/>
          <a:ext cx="8229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23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Contribution to</a:t>
                      </a:r>
                      <a:r>
                        <a:rPr lang="en-US" baseline="0" dirty="0" smtClean="0"/>
                        <a:t> course Grade (%)</a:t>
                      </a:r>
                      <a:endParaRPr lang="en-US" dirty="0"/>
                    </a:p>
                  </a:txBody>
                  <a:tcPr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 assessments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Mid semester examination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lang="en-US" dirty="0" smtClean="0"/>
                        <a:t>End semester examination theory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88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D.A.Skoog</a:t>
            </a:r>
            <a:r>
              <a:rPr lang="en-US" dirty="0"/>
              <a:t>, </a:t>
            </a:r>
            <a:r>
              <a:rPr lang="en-US" dirty="0" err="1"/>
              <a:t>D.M.West</a:t>
            </a:r>
            <a:r>
              <a:rPr lang="en-US" dirty="0"/>
              <a:t> and </a:t>
            </a:r>
            <a:r>
              <a:rPr lang="en-US" dirty="0" err="1"/>
              <a:t>F.J.holler</a:t>
            </a:r>
            <a:r>
              <a:rPr lang="en-US" dirty="0"/>
              <a:t> </a:t>
            </a:r>
            <a:r>
              <a:rPr lang="en-US" dirty="0" smtClean="0"/>
              <a:t>Fundamentals of analytical chemistry, 8</a:t>
            </a:r>
            <a:r>
              <a:rPr lang="en-US" baseline="30000" dirty="0" smtClean="0"/>
              <a:t>th</a:t>
            </a:r>
            <a:r>
              <a:rPr lang="en-US" dirty="0" smtClean="0"/>
              <a:t> edition.</a:t>
            </a:r>
          </a:p>
          <a:p>
            <a:r>
              <a:rPr lang="en-US" dirty="0" smtClean="0"/>
              <a:t>Gary D. Christian, Analytical Chemistry, 6</a:t>
            </a:r>
            <a:r>
              <a:rPr lang="en-US" baseline="30000" dirty="0" smtClean="0"/>
              <a:t>th</a:t>
            </a:r>
            <a:r>
              <a:rPr lang="en-US" dirty="0" smtClean="0"/>
              <a:t> edition.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9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Measurements and  errors in chemical analysis (05 h)</a:t>
            </a:r>
          </a:p>
          <a:p>
            <a:r>
              <a:rPr lang="en-US" dirty="0" smtClean="0"/>
              <a:t>Significant figures, statistical treatment of analytical data, t-test, F-test and Q-test, classification of errors and means to minimize errors; Sampling procedures, sample population, significance of representative sampling, working curve, blank solution , standard addition technique, curve fitting, graphical analysis, Quality Control/Quality assurance.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6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Significant Figures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9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Figures (digits)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= reliable figures obtained by measurement</a:t>
            </a:r>
          </a:p>
          <a:p>
            <a:pPr>
              <a:lnSpc>
                <a:spcPct val="90000"/>
              </a:lnSpc>
            </a:pPr>
            <a:r>
              <a:rPr lang="en-US" dirty="0"/>
              <a:t>= all digits known with certainty plus one estimated digit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0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Taking the measurement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Is always some uncertainty</a:t>
            </a:r>
          </a:p>
          <a:p>
            <a:pPr eaLnBrk="1" hangingPunct="1"/>
            <a:r>
              <a:rPr lang="en-US" dirty="0" smtClean="0"/>
              <a:t>Because of the limits of the instrument you are using</a:t>
            </a:r>
          </a:p>
          <a:p>
            <a:pPr eaLnBrk="1" hangingPunct="1">
              <a:buFontTx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588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09600" y="2438400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400">
                <a:solidFill>
                  <a:srgbClr val="6600CC"/>
                </a:solidFill>
              </a:rPr>
              <a:t>Significant Figures</a:t>
            </a:r>
            <a:r>
              <a:rPr lang="en-US" sz="4400">
                <a:solidFill>
                  <a:schemeClr val="tx2"/>
                </a:solidFill>
              </a:rPr>
              <a:t/>
            </a:r>
            <a:br>
              <a:rPr lang="en-US" sz="4400">
                <a:solidFill>
                  <a:schemeClr val="tx2"/>
                </a:solidFill>
              </a:rPr>
            </a:br>
            <a:r>
              <a:rPr lang="en-US" sz="3600">
                <a:solidFill>
                  <a:schemeClr val="tx2"/>
                </a:solidFill>
              </a:rPr>
              <a:t>(in numerical computations)</a:t>
            </a:r>
          </a:p>
        </p:txBody>
      </p:sp>
    </p:spTree>
    <p:extLst>
      <p:ext uri="{BB962C8B-B14F-4D97-AF65-F5344CB8AC3E}">
        <p14:creationId xmlns:p14="http://schemas.microsoft.com/office/powerpoint/2010/main" val="344678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We often indicate the probable </a:t>
            </a:r>
            <a:r>
              <a:rPr lang="en-US" smtClean="0">
                <a:solidFill>
                  <a:srgbClr val="FF0066"/>
                </a:solidFill>
              </a:rPr>
              <a:t>uncertainty</a:t>
            </a:r>
            <a:r>
              <a:rPr lang="en-US" smtClean="0"/>
              <a:t> associated with an experimental measurement by rounding the result which contains only </a:t>
            </a:r>
            <a:r>
              <a:rPr lang="en-US" smtClean="0">
                <a:solidFill>
                  <a:srgbClr val="FF0066"/>
                </a:solidFill>
              </a:rPr>
              <a:t>significant figures</a:t>
            </a:r>
            <a:r>
              <a:rPr lang="en-US" smtClean="0"/>
              <a:t>.</a:t>
            </a:r>
          </a:p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Significant figures</a:t>
            </a:r>
            <a:r>
              <a:rPr lang="en-US" smtClean="0"/>
              <a:t> in a number are all of the digit known certainty plus the first uncertain digit.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2732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eaLnBrk="1" hangingPunct="1"/>
            <a:r>
              <a:rPr lang="en-US" smtClean="0"/>
              <a:t>For eg: consider the burette reading as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505200" y="15240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4953000" y="15240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Freeform 9"/>
          <p:cNvSpPr>
            <a:spLocks/>
          </p:cNvSpPr>
          <p:nvPr/>
        </p:nvSpPr>
        <p:spPr bwMode="auto">
          <a:xfrm rot="274436">
            <a:off x="3505200" y="2447925"/>
            <a:ext cx="1447800" cy="317500"/>
          </a:xfrm>
          <a:custGeom>
            <a:avLst/>
            <a:gdLst>
              <a:gd name="T0" fmla="*/ 0 w 912"/>
              <a:gd name="T1" fmla="*/ 48 h 152"/>
              <a:gd name="T2" fmla="*/ 432 w 912"/>
              <a:gd name="T3" fmla="*/ 144 h 152"/>
              <a:gd name="T4" fmla="*/ 912 w 912"/>
              <a:gd name="T5" fmla="*/ 0 h 152"/>
              <a:gd name="T6" fmla="*/ 0 60000 65536"/>
              <a:gd name="T7" fmla="*/ 0 60000 65536"/>
              <a:gd name="T8" fmla="*/ 0 60000 65536"/>
              <a:gd name="T9" fmla="*/ 0 w 912"/>
              <a:gd name="T10" fmla="*/ 0 h 152"/>
              <a:gd name="T11" fmla="*/ 912 w 912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52">
                <a:moveTo>
                  <a:pt x="0" y="48"/>
                </a:moveTo>
                <a:cubicBezTo>
                  <a:pt x="140" y="100"/>
                  <a:pt x="280" y="152"/>
                  <a:pt x="432" y="144"/>
                </a:cubicBezTo>
                <a:cubicBezTo>
                  <a:pt x="584" y="136"/>
                  <a:pt x="832" y="24"/>
                  <a:pt x="91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3505200" y="414655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 flipV="1">
            <a:off x="3505200" y="3581400"/>
            <a:ext cx="4572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Line 17"/>
          <p:cNvSpPr>
            <a:spLocks noChangeShapeType="1"/>
          </p:cNvSpPr>
          <p:nvPr/>
        </p:nvSpPr>
        <p:spPr bwMode="auto">
          <a:xfrm flipV="1">
            <a:off x="3505200" y="3200400"/>
            <a:ext cx="457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>
            <a:off x="3514725" y="227647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5" name="Line 19"/>
          <p:cNvSpPr>
            <a:spLocks noChangeShapeType="1"/>
          </p:cNvSpPr>
          <p:nvPr/>
        </p:nvSpPr>
        <p:spPr bwMode="auto">
          <a:xfrm>
            <a:off x="3514725" y="30162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6" name="Line 20"/>
          <p:cNvSpPr>
            <a:spLocks noChangeShapeType="1"/>
          </p:cNvSpPr>
          <p:nvPr/>
        </p:nvSpPr>
        <p:spPr bwMode="auto">
          <a:xfrm>
            <a:off x="3514725" y="28416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7" name="Line 21"/>
          <p:cNvSpPr>
            <a:spLocks noChangeShapeType="1"/>
          </p:cNvSpPr>
          <p:nvPr/>
        </p:nvSpPr>
        <p:spPr bwMode="auto">
          <a:xfrm>
            <a:off x="35052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8" name="Line 22"/>
          <p:cNvSpPr>
            <a:spLocks noChangeShapeType="1"/>
          </p:cNvSpPr>
          <p:nvPr/>
        </p:nvSpPr>
        <p:spPr bwMode="auto">
          <a:xfrm flipV="1">
            <a:off x="3505200" y="2460625"/>
            <a:ext cx="5334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V="1">
            <a:off x="3505200" y="3397250"/>
            <a:ext cx="457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0" name="Line 24"/>
          <p:cNvSpPr>
            <a:spLocks noChangeShapeType="1"/>
          </p:cNvSpPr>
          <p:nvPr/>
        </p:nvSpPr>
        <p:spPr bwMode="auto">
          <a:xfrm flipV="1">
            <a:off x="3505200" y="3765550"/>
            <a:ext cx="457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 flipV="1">
            <a:off x="3505200" y="3962400"/>
            <a:ext cx="457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2581275" y="3962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4123" name="Text Box 27"/>
          <p:cNvSpPr txBox="1">
            <a:spLocks noChangeArrowheads="1"/>
          </p:cNvSpPr>
          <p:nvPr/>
        </p:nvSpPr>
        <p:spPr bwMode="auto">
          <a:xfrm>
            <a:off x="2590800" y="2057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28</a:t>
            </a:r>
          </a:p>
        </p:txBody>
      </p:sp>
      <p:sp>
        <p:nvSpPr>
          <p:cNvPr id="4124" name="Text Box 28"/>
          <p:cNvSpPr txBox="1">
            <a:spLocks noChangeArrowheads="1"/>
          </p:cNvSpPr>
          <p:nvPr/>
        </p:nvSpPr>
        <p:spPr bwMode="auto">
          <a:xfrm>
            <a:off x="2209800" y="5334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28.2</a:t>
            </a:r>
            <a:r>
              <a:rPr lang="en-US" sz="2400"/>
              <a:t>4</a:t>
            </a:r>
          </a:p>
        </p:txBody>
      </p:sp>
      <p:sp>
        <p:nvSpPr>
          <p:cNvPr id="4125" name="Line 29"/>
          <p:cNvSpPr>
            <a:spLocks noChangeShapeType="1"/>
          </p:cNvSpPr>
          <p:nvPr/>
        </p:nvSpPr>
        <p:spPr bwMode="auto">
          <a:xfrm>
            <a:off x="2209800" y="5867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7" name="Oval 31"/>
          <p:cNvSpPr>
            <a:spLocks noChangeArrowheads="1"/>
          </p:cNvSpPr>
          <p:nvPr/>
        </p:nvSpPr>
        <p:spPr bwMode="auto">
          <a:xfrm>
            <a:off x="2895600" y="5334000"/>
            <a:ext cx="3810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 flipH="1" flipV="1">
            <a:off x="2590800" y="5867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3733800" y="6186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certain</a:t>
            </a:r>
          </a:p>
        </p:txBody>
      </p:sp>
      <p:sp>
        <p:nvSpPr>
          <p:cNvPr id="4130" name="Text Box 34"/>
          <p:cNvSpPr txBox="1">
            <a:spLocks noChangeArrowheads="1"/>
          </p:cNvSpPr>
          <p:nvPr/>
        </p:nvSpPr>
        <p:spPr bwMode="auto">
          <a:xfrm>
            <a:off x="4876800" y="54102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uncertain</a:t>
            </a:r>
          </a:p>
        </p:txBody>
      </p:sp>
      <p:sp>
        <p:nvSpPr>
          <p:cNvPr id="4131" name="Line 35"/>
          <p:cNvSpPr>
            <a:spLocks noChangeShapeType="1"/>
          </p:cNvSpPr>
          <p:nvPr/>
        </p:nvSpPr>
        <p:spPr bwMode="auto">
          <a:xfrm flipH="1">
            <a:off x="3276600" y="5562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>
            <a:off x="4343400" y="2743200"/>
            <a:ext cx="2590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0" grpId="0" animBg="1"/>
      <p:bldP spid="4101" grpId="0" animBg="1"/>
      <p:bldP spid="4105" grpId="0" animBg="1"/>
      <p:bldP spid="4105" grpId="1" animBg="1"/>
      <p:bldP spid="4106" grpId="0" animBg="1"/>
      <p:bldP spid="4111" grpId="0" animBg="1"/>
      <p:bldP spid="4113" grpId="0" animBg="1"/>
      <p:bldP spid="4114" grpId="0" animBg="1"/>
      <p:bldP spid="4115" grpId="0" animBg="1"/>
      <p:bldP spid="4116" grpId="0" animBg="1"/>
      <p:bldP spid="4117" grpId="0" animBg="1"/>
      <p:bldP spid="4118" grpId="0" animBg="1"/>
      <p:bldP spid="4119" grpId="0" animBg="1"/>
      <p:bldP spid="4120" grpId="0" animBg="1"/>
      <p:bldP spid="4121" grpId="0" animBg="1"/>
      <p:bldP spid="4122" grpId="0"/>
      <p:bldP spid="4123" grpId="0"/>
      <p:bldP spid="4124" grpId="0"/>
      <p:bldP spid="4125" grpId="0" animBg="1"/>
      <p:bldP spid="4125" grpId="1" animBg="1"/>
      <p:bldP spid="4127" grpId="0" animBg="1"/>
      <p:bldP spid="4127" grpId="1" animBg="1"/>
      <p:bldP spid="4128" grpId="0" animBg="1"/>
      <p:bldP spid="4129" grpId="0"/>
      <p:bldP spid="4130" grpId="0"/>
      <p:bldP spid="4131" grpId="0" animBg="1"/>
      <p:bldP spid="41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Rules for determining the number of significant figures.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8638"/>
            <a:ext cx="8229600" cy="4525962"/>
          </a:xfrm>
        </p:spPr>
        <p:txBody>
          <a:bodyPr/>
          <a:lstStyle/>
          <a:p>
            <a:pPr eaLnBrk="1" hangingPunct="1"/>
            <a:r>
              <a:rPr lang="en-US" smtClean="0"/>
              <a:t>The digit zero may or may not be a significant figure, depending upon its function in the number.</a:t>
            </a:r>
          </a:p>
          <a:p>
            <a:pPr eaLnBrk="1" hangingPunct="1"/>
            <a:r>
              <a:rPr lang="en-US" smtClean="0"/>
              <a:t>For eg:- In a buret reading of </a:t>
            </a:r>
            <a:r>
              <a:rPr lang="en-US" u="sng" smtClean="0"/>
              <a:t>10.06 </a:t>
            </a:r>
          </a:p>
          <a:p>
            <a:pPr eaLnBrk="1" hangingPunct="1"/>
            <a:r>
              <a:rPr lang="en-US" smtClean="0"/>
              <a:t>Both zeros are measured numbers and are therefore significant.</a:t>
            </a:r>
          </a:p>
        </p:txBody>
      </p:sp>
    </p:spTree>
    <p:extLst>
      <p:ext uri="{BB962C8B-B14F-4D97-AF65-F5344CB8AC3E}">
        <p14:creationId xmlns:p14="http://schemas.microsoft.com/office/powerpoint/2010/main" val="146931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z="4000" smtClean="0">
              <a:solidFill>
                <a:srgbClr val="FF0066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smtClean="0">
                <a:solidFill>
                  <a:srgbClr val="6600CC"/>
                </a:solidFill>
              </a:rPr>
              <a:t>Disregard all initial zeros</a:t>
            </a:r>
            <a:r>
              <a:rPr lang="en-US" smtClean="0"/>
              <a:t>:</a:t>
            </a:r>
          </a:p>
          <a:p>
            <a:pPr marL="609600" indent="-609600" eaLnBrk="1" hangingPunct="1">
              <a:buFontTx/>
              <a:buNone/>
            </a:pPr>
            <a:r>
              <a:rPr lang="en-US" smtClean="0"/>
              <a:t>	30.24 mL and 0.03024 L are same number of significant figures number of significant figures = 4.	 in 0.03024 L  is used to place the decimal.</a:t>
            </a:r>
          </a:p>
          <a:p>
            <a:pPr marL="609600" indent="-609600" eaLnBrk="1" hangingPunct="1">
              <a:buFontTx/>
              <a:buAutoNum type="arabicPeriod" startAt="2"/>
            </a:pPr>
            <a:r>
              <a:rPr lang="en-US" smtClean="0">
                <a:solidFill>
                  <a:srgbClr val="6600CC"/>
                </a:solidFill>
              </a:rPr>
              <a:t>Disregard all final zeros unless they follow a decimal point.</a:t>
            </a:r>
          </a:p>
          <a:p>
            <a:pPr marL="609600" indent="-609600" eaLnBrk="1" hangingPunct="1">
              <a:buFontTx/>
              <a:buNone/>
            </a:pPr>
            <a:r>
              <a:rPr lang="en-US" smtClean="0">
                <a:solidFill>
                  <a:srgbClr val="6600CC"/>
                </a:solidFill>
              </a:rPr>
              <a:t>	</a:t>
            </a:r>
            <a:r>
              <a:rPr lang="en-US" smtClean="0"/>
              <a:t>for example: 2.0 L and 2000 mL</a:t>
            </a:r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6096000" y="3657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V="1">
            <a:off x="7543800" y="3657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5791200" y="5867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>
            <a:off x="3810000" y="586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1600200" y="64912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Significant no.  = 2</a:t>
            </a:r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4060825" y="5746750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4876800" y="6248400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uncertainty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7162800" y="59436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Not significant</a:t>
            </a:r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6019800" y="58674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5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  <p:bldP spid="5126" grpId="0" animBg="1"/>
      <p:bldP spid="5127" grpId="0" animBg="1"/>
      <p:bldP spid="5129" grpId="0" animBg="1"/>
      <p:bldP spid="5130" grpId="0" animBg="1"/>
      <p:bldP spid="5131" grpId="0" animBg="1"/>
      <p:bldP spid="5132" grpId="0"/>
      <p:bldP spid="5133" grpId="0" animBg="1"/>
      <p:bldP spid="5134" grpId="0"/>
      <p:bldP spid="51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2000 mL can be written as 2.0 x 10</a:t>
            </a:r>
            <a:r>
              <a:rPr lang="en-US" sz="2800" baseline="30000" smtClean="0"/>
              <a:t>3</a:t>
            </a:r>
            <a:r>
              <a:rPr lang="en-US" sz="2800" smtClean="0"/>
              <a:t> mL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6600CC"/>
                </a:solidFill>
              </a:rPr>
              <a:t>3.	All remaining digits, including zeros between nonzero digits are significant.</a:t>
            </a:r>
            <a:r>
              <a:rPr lang="en-US" sz="2800" smtClean="0"/>
              <a:t>	 For example 4.02 has number of significant figures 3).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>
                <a:solidFill>
                  <a:srgbClr val="6600CC"/>
                </a:solidFill>
              </a:rPr>
              <a:t>4.	Any digit that is non zero is significant.</a:t>
            </a:r>
            <a:r>
              <a:rPr lang="en-US" sz="2800" smtClean="0"/>
              <a:t>  For example; 837 cm has three significant figures and 1.235 kg has four significant figures.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5.	</a:t>
            </a:r>
            <a:r>
              <a:rPr lang="en-US" sz="2800" smtClean="0">
                <a:solidFill>
                  <a:srgbClr val="6600CC"/>
                </a:solidFill>
              </a:rPr>
              <a:t>For number that that do not contain decimal points,</a:t>
            </a:r>
            <a:r>
              <a:rPr lang="en-US" sz="2800" smtClean="0"/>
              <a:t> the trailing  zeros may or may not be significant. 400 cm  may have one significant figure as </a:t>
            </a:r>
            <a:r>
              <a:rPr lang="en-US" sz="2800" smtClean="0">
                <a:solidFill>
                  <a:srgbClr val="FF0066"/>
                </a:solidFill>
              </a:rPr>
              <a:t>4 x 10</a:t>
            </a:r>
            <a:r>
              <a:rPr lang="en-US" sz="2800" baseline="30000" smtClean="0">
                <a:solidFill>
                  <a:srgbClr val="FF0066"/>
                </a:solidFill>
              </a:rPr>
              <a:t>2</a:t>
            </a:r>
            <a:r>
              <a:rPr lang="en-US" sz="2800" smtClean="0">
                <a:solidFill>
                  <a:srgbClr val="FF0066"/>
                </a:solidFill>
              </a:rPr>
              <a:t> cm</a:t>
            </a:r>
            <a:r>
              <a:rPr lang="en-US" sz="2800" smtClean="0"/>
              <a:t> or  two significant figures as </a:t>
            </a:r>
            <a:r>
              <a:rPr lang="en-US" sz="2800" smtClean="0">
                <a:solidFill>
                  <a:srgbClr val="FF0066"/>
                </a:solidFill>
              </a:rPr>
              <a:t>4.0 x 10</a:t>
            </a:r>
            <a:r>
              <a:rPr lang="en-US" sz="2800" baseline="30000" smtClean="0">
                <a:solidFill>
                  <a:srgbClr val="FF0066"/>
                </a:solidFill>
              </a:rPr>
              <a:t>2</a:t>
            </a:r>
            <a:r>
              <a:rPr lang="en-US" sz="2800" smtClean="0"/>
              <a:t> cm  or  three significant figures as </a:t>
            </a:r>
            <a:r>
              <a:rPr lang="en-US" sz="2800" smtClean="0">
                <a:solidFill>
                  <a:srgbClr val="FF0066"/>
                </a:solidFill>
              </a:rPr>
              <a:t>4.00 x 10</a:t>
            </a:r>
            <a:r>
              <a:rPr lang="en-US" sz="2800" baseline="30000" smtClean="0">
                <a:solidFill>
                  <a:srgbClr val="FF0066"/>
                </a:solidFill>
              </a:rPr>
              <a:t>2</a:t>
            </a:r>
            <a:r>
              <a:rPr lang="en-US" sz="2800" smtClean="0">
                <a:solidFill>
                  <a:srgbClr val="FF0066"/>
                </a:solidFill>
              </a:rPr>
              <a:t> cm</a:t>
            </a:r>
            <a:r>
              <a:rPr lang="en-US" sz="2800" smtClean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18432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Significant figures in numerical calculations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1.	In addition and subtraction:</a:t>
            </a:r>
          </a:p>
          <a:p>
            <a:pPr eaLnBrk="1" hangingPunct="1"/>
            <a:r>
              <a:rPr lang="en-US" smtClean="0"/>
              <a:t>For addition and subtraction, the number of significant figures to the right of the decimal point in the </a:t>
            </a:r>
            <a:r>
              <a:rPr lang="en-US" smtClean="0">
                <a:solidFill>
                  <a:srgbClr val="FF0066"/>
                </a:solidFill>
              </a:rPr>
              <a:t>final</a:t>
            </a:r>
            <a:r>
              <a:rPr lang="en-US" smtClean="0"/>
              <a:t> sum or difference </a:t>
            </a:r>
            <a:r>
              <a:rPr lang="en-US" smtClean="0">
                <a:solidFill>
                  <a:srgbClr val="FF0066"/>
                </a:solidFill>
              </a:rPr>
              <a:t>is determined</a:t>
            </a:r>
            <a:r>
              <a:rPr lang="en-US" smtClean="0"/>
              <a:t> by the </a:t>
            </a:r>
            <a:r>
              <a:rPr lang="en-US" smtClean="0">
                <a:solidFill>
                  <a:srgbClr val="FF0066"/>
                </a:solidFill>
              </a:rPr>
              <a:t>lowest number of significant figures</a:t>
            </a:r>
            <a:r>
              <a:rPr lang="en-US" smtClean="0"/>
              <a:t> to the right of the decimal point in any of the </a:t>
            </a:r>
            <a:r>
              <a:rPr lang="en-US" smtClean="0">
                <a:solidFill>
                  <a:srgbClr val="FF0066"/>
                </a:solidFill>
              </a:rPr>
              <a:t>original numbers.</a:t>
            </a:r>
          </a:p>
        </p:txBody>
      </p:sp>
    </p:spTree>
    <p:extLst>
      <p:ext uri="{BB962C8B-B14F-4D97-AF65-F5344CB8AC3E}">
        <p14:creationId xmlns:p14="http://schemas.microsoft.com/office/powerpoint/2010/main" val="183887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144000" cy="5592763"/>
          </a:xfrm>
        </p:spPr>
        <p:txBody>
          <a:bodyPr/>
          <a:lstStyle/>
          <a:p>
            <a:pPr eaLnBrk="1" hangingPunct="1"/>
            <a:r>
              <a:rPr lang="en-US" smtClean="0"/>
              <a:t>For eg (1):	3.4 + 0.020 + 7.31 = 10.730</a:t>
            </a:r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3200400" y="1219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4495800" y="1219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5791200" y="1219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81000" y="23622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After the decimal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2895600" y="2362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one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4114800" y="2362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two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5410200" y="2362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two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4343400" y="36576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is 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6477000" y="3352800"/>
            <a:ext cx="198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10.7</a:t>
            </a:r>
            <a:r>
              <a:rPr lang="en-US" sz="4400"/>
              <a:t> 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4953000" y="4714875"/>
            <a:ext cx="335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Only one significant figure after the decimal</a:t>
            </a:r>
          </a:p>
        </p:txBody>
      </p:sp>
      <p:sp>
        <p:nvSpPr>
          <p:cNvPr id="9229" name="Line 14"/>
          <p:cNvSpPr>
            <a:spLocks noChangeShapeType="1"/>
          </p:cNvSpPr>
          <p:nvPr/>
        </p:nvSpPr>
        <p:spPr bwMode="auto">
          <a:xfrm>
            <a:off x="68580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/>
      <p:bldP spid="8197" grpId="0" animBg="1"/>
      <p:bldP spid="8198" grpId="0" animBg="1"/>
      <p:bldP spid="8199" grpId="0"/>
      <p:bldP spid="8201" grpId="0"/>
      <p:bldP spid="8202" grpId="0"/>
      <p:bldP spid="8204" grpId="0"/>
      <p:bldP spid="82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eaLnBrk="1" hangingPunct="1"/>
            <a:r>
              <a:rPr lang="en-US" smtClean="0"/>
              <a:t>Eg (2):     89.332 + 1.1    =  90.432</a:t>
            </a: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3352800" y="1371600"/>
            <a:ext cx="0" cy="1123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4724400" y="12954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09600" y="24384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After the decimal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31242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4958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one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4267200" y="4648200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has only one significant figure after the decimal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90.4</a:t>
            </a:r>
            <a:endParaRPr lang="en-US" sz="4400"/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0386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is</a:t>
            </a: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69342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9220" grpId="0" animBg="1"/>
      <p:bldP spid="9221" grpId="0" animBg="1"/>
      <p:bldP spid="9223" grpId="0"/>
      <p:bldP spid="9224" grpId="0"/>
      <p:bldP spid="9225" grpId="0"/>
      <p:bldP spid="9227" grpId="0"/>
      <p:bldP spid="9228" grpId="0"/>
      <p:bldP spid="9229" grpId="0"/>
      <p:bldP spid="92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352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4800600" y="1384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609600" y="24384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After the decimal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1242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4958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two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267200" y="4648200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has only two  significant figures after the decimal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1.98</a:t>
            </a:r>
            <a:endParaRPr lang="en-US" sz="4400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4038600" y="347345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is</a:t>
            </a:r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9342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609600" y="609600"/>
            <a:ext cx="670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Eg:               2.097 - 0.12  =   1.977</a:t>
            </a: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6477000" y="12192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6019800" y="18288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Round off = 1.98</a:t>
            </a:r>
          </a:p>
        </p:txBody>
      </p:sp>
    </p:spTree>
    <p:extLst>
      <p:ext uri="{BB962C8B-B14F-4D97-AF65-F5344CB8AC3E}">
        <p14:creationId xmlns:p14="http://schemas.microsoft.com/office/powerpoint/2010/main" val="272808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  <p:bldP spid="10246" grpId="0" animBg="1"/>
      <p:bldP spid="10247" grpId="0"/>
      <p:bldP spid="10248" grpId="0"/>
      <p:bldP spid="10249" grpId="0"/>
      <p:bldP spid="10250" grpId="0"/>
      <p:bldP spid="10251" grpId="0"/>
      <p:bldP spid="10252" grpId="0"/>
      <p:bldP spid="10253" grpId="0" animBg="1"/>
      <p:bldP spid="10254" grpId="0"/>
      <p:bldP spid="10255" grpId="0" animBg="1"/>
      <p:bldP spid="102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Round off a number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/>
            <a:r>
              <a:rPr lang="en-US" smtClean="0"/>
              <a:t>To round off a number at a certain point we simply drop the digits that follow if the </a:t>
            </a:r>
            <a:r>
              <a:rPr lang="en-US" smtClean="0">
                <a:solidFill>
                  <a:srgbClr val="6600CC"/>
                </a:solidFill>
              </a:rPr>
              <a:t>first of them</a:t>
            </a:r>
            <a:r>
              <a:rPr lang="en-US" smtClean="0"/>
              <a:t> is less than 5.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For eg: 8.724 = 8.72 (if we want two figures after the decimal point)</a:t>
            </a:r>
            <a:r>
              <a:rPr lang="en-US" smtClean="0"/>
              <a:t> 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3013075" y="3276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3200400" y="3657600"/>
            <a:ext cx="76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209800" y="4724400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(4 is &lt; 5 , then it can drop)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762000" y="54864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8.7245  = 8.72 (</a:t>
            </a:r>
            <a:r>
              <a:rPr lang="en-US" sz="3200"/>
              <a:t>if we want two figures after the decimal point )</a:t>
            </a:r>
          </a:p>
        </p:txBody>
      </p:sp>
    </p:spTree>
    <p:extLst>
      <p:ext uri="{BB962C8B-B14F-4D97-AF65-F5344CB8AC3E}">
        <p14:creationId xmlns:p14="http://schemas.microsoft.com/office/powerpoint/2010/main" val="20799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  <p:bldP spid="11268" grpId="0" animBg="1"/>
      <p:bldP spid="11269" grpId="0" animBg="1"/>
      <p:bldP spid="1127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Always round the computed results of chemical analysis in an appropriate way.</a:t>
            </a:r>
          </a:p>
          <a:p>
            <a:pPr eaLnBrk="1" hangingPunct="1"/>
            <a:r>
              <a:rPr lang="en-US" smtClean="0"/>
              <a:t>Consider the following replicate results: 61.60, 61.46, 61.55 and 61.61. 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The mean of the data is :</a:t>
            </a:r>
          </a:p>
          <a:p>
            <a:pPr eaLnBrk="1" hangingPunct="1"/>
            <a:r>
              <a:rPr lang="en-US" smtClean="0"/>
              <a:t>(61.60 + 61.46 + 61.55 + 61.61) / 4 =  61.555.</a:t>
            </a:r>
          </a:p>
          <a:p>
            <a:pPr eaLnBrk="1" hangingPunct="1"/>
            <a:r>
              <a:rPr lang="en-US" smtClean="0">
                <a:solidFill>
                  <a:schemeClr val="hlink"/>
                </a:solidFill>
              </a:rPr>
              <a:t>How to round 61.555 to two significant figures;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61.56</a:t>
            </a:r>
            <a:r>
              <a:rPr lang="en-US" smtClean="0"/>
              <a:t> or </a:t>
            </a:r>
            <a:r>
              <a:rPr lang="en-US" smtClean="0">
                <a:solidFill>
                  <a:srgbClr val="6600CC"/>
                </a:solidFill>
              </a:rPr>
              <a:t>61.55</a:t>
            </a:r>
          </a:p>
        </p:txBody>
      </p:sp>
    </p:spTree>
    <p:extLst>
      <p:ext uri="{BB962C8B-B14F-4D97-AF65-F5344CB8AC3E}">
        <p14:creationId xmlns:p14="http://schemas.microsoft.com/office/powerpoint/2010/main" val="32579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Correct one is </a:t>
            </a:r>
            <a:r>
              <a:rPr lang="en-US" smtClean="0">
                <a:solidFill>
                  <a:srgbClr val="6600CC"/>
                </a:solidFill>
              </a:rPr>
              <a:t>61.56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In rounding a number ending in 5 , always round so that the result ends with an even number .</a:t>
            </a:r>
          </a:p>
          <a:p>
            <a:pPr eaLnBrk="1" hangingPunct="1"/>
            <a:r>
              <a:rPr lang="en-US" smtClean="0"/>
              <a:t>i.e., 0.635 = 0.64 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0.625 = 0.62</a:t>
            </a:r>
          </a:p>
        </p:txBody>
      </p:sp>
    </p:spTree>
    <p:extLst>
      <p:ext uri="{BB962C8B-B14F-4D97-AF65-F5344CB8AC3E}">
        <p14:creationId xmlns:p14="http://schemas.microsoft.com/office/powerpoint/2010/main" val="353827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smtClean="0"/>
              <a:t>When adding and subtracting numbers in scientific notation </a:t>
            </a:r>
            <a:r>
              <a:rPr lang="en-US" smtClean="0">
                <a:sym typeface="Wingdings" pitchFamily="2" charset="2"/>
              </a:rPr>
              <a:t>  </a:t>
            </a:r>
            <a:r>
              <a:rPr lang="en-US" smtClean="0">
                <a:solidFill>
                  <a:srgbClr val="FF0066"/>
                </a:solidFill>
                <a:sym typeface="Wingdings" pitchFamily="2" charset="2"/>
              </a:rPr>
              <a:t>express the numbers to the same power of 10 in the result</a:t>
            </a:r>
            <a:r>
              <a:rPr lang="en-US" smtClean="0">
                <a:sym typeface="Wingdings" pitchFamily="2" charset="2"/>
              </a:rPr>
              <a:t>.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For eg: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2.432 x 10</a:t>
            </a:r>
            <a:r>
              <a:rPr lang="en-US" baseline="30000" smtClean="0">
                <a:sym typeface="Wingdings" pitchFamily="2" charset="2"/>
              </a:rPr>
              <a:t>6  </a:t>
            </a:r>
            <a:r>
              <a:rPr lang="en-US" smtClean="0">
                <a:sym typeface="Wingdings" pitchFamily="2" charset="2"/>
              </a:rPr>
              <a:t>+ 6.512  x 10</a:t>
            </a:r>
            <a:r>
              <a:rPr lang="en-US" baseline="30000" smtClean="0">
                <a:sym typeface="Wingdings" pitchFamily="2" charset="2"/>
              </a:rPr>
              <a:t>4 </a:t>
            </a:r>
            <a:r>
              <a:rPr lang="en-US" smtClean="0">
                <a:sym typeface="Wingdings" pitchFamily="2" charset="2"/>
              </a:rPr>
              <a:t>- </a:t>
            </a:r>
            <a:r>
              <a:rPr lang="en-US" baseline="30000" smtClean="0">
                <a:sym typeface="Wingdings" pitchFamily="2" charset="2"/>
              </a:rPr>
              <a:t> </a:t>
            </a:r>
            <a:r>
              <a:rPr lang="en-US" smtClean="0">
                <a:sym typeface="Wingdings" pitchFamily="2" charset="2"/>
              </a:rPr>
              <a:t>1.227 x 10</a:t>
            </a:r>
            <a:r>
              <a:rPr lang="en-US" baseline="30000" smtClean="0">
                <a:sym typeface="Wingdings" pitchFamily="2" charset="2"/>
              </a:rPr>
              <a:t>5  </a:t>
            </a:r>
            <a:r>
              <a:rPr lang="en-US" smtClean="0">
                <a:sym typeface="Wingdings" pitchFamily="2" charset="2"/>
              </a:rPr>
              <a:t>=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  <a:sym typeface="Wingdings" pitchFamily="2" charset="2"/>
              </a:rPr>
              <a:t>2.432x10</a:t>
            </a:r>
            <a:r>
              <a:rPr lang="en-US" baseline="30000" smtClean="0">
                <a:solidFill>
                  <a:srgbClr val="6600CC"/>
                </a:solidFill>
                <a:sym typeface="Wingdings" pitchFamily="2" charset="2"/>
              </a:rPr>
              <a:t>6  </a:t>
            </a:r>
            <a:r>
              <a:rPr lang="en-US" smtClean="0">
                <a:solidFill>
                  <a:srgbClr val="6600CC"/>
                </a:solidFill>
                <a:sym typeface="Wingdings" pitchFamily="2" charset="2"/>
              </a:rPr>
              <a:t>+ 0.06512x10</a:t>
            </a:r>
            <a:r>
              <a:rPr lang="en-US" baseline="30000" smtClean="0">
                <a:solidFill>
                  <a:srgbClr val="6600CC"/>
                </a:solidFill>
                <a:sym typeface="Wingdings" pitchFamily="2" charset="2"/>
              </a:rPr>
              <a:t>6 </a:t>
            </a:r>
            <a:r>
              <a:rPr lang="en-US" smtClean="0">
                <a:solidFill>
                  <a:srgbClr val="6600CC"/>
                </a:solidFill>
                <a:sym typeface="Wingdings" pitchFamily="2" charset="2"/>
              </a:rPr>
              <a:t>- </a:t>
            </a:r>
            <a:r>
              <a:rPr lang="en-US" baseline="30000" smtClean="0">
                <a:solidFill>
                  <a:srgbClr val="6600CC"/>
                </a:solidFill>
                <a:sym typeface="Wingdings" pitchFamily="2" charset="2"/>
              </a:rPr>
              <a:t> </a:t>
            </a:r>
            <a:r>
              <a:rPr lang="en-US" smtClean="0">
                <a:solidFill>
                  <a:srgbClr val="6600CC"/>
                </a:solidFill>
                <a:sym typeface="Wingdings" pitchFamily="2" charset="2"/>
              </a:rPr>
              <a:t>0.1227x10</a:t>
            </a:r>
            <a:r>
              <a:rPr lang="en-US" baseline="30000" smtClean="0">
                <a:solidFill>
                  <a:srgbClr val="6600CC"/>
                </a:solidFill>
                <a:sym typeface="Wingdings" pitchFamily="2" charset="2"/>
              </a:rPr>
              <a:t>6  </a:t>
            </a:r>
            <a:r>
              <a:rPr lang="en-US" smtClean="0">
                <a:solidFill>
                  <a:srgbClr val="6600CC"/>
                </a:solidFill>
                <a:sym typeface="Wingdings" pitchFamily="2" charset="2"/>
              </a:rPr>
              <a:t>=</a:t>
            </a: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1600200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4038600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67056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333500" y="4038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962400" y="4038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four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6477000" y="40386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four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0" y="38100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After decimal</a:t>
            </a:r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5791200" y="4419600"/>
            <a:ext cx="335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solidFill>
                  <a:srgbClr val="6600CC"/>
                </a:solidFill>
                <a:sym typeface="Wingdings" pitchFamily="2" charset="2"/>
              </a:rPr>
              <a:t>= 2.37442 x 10</a:t>
            </a:r>
            <a:r>
              <a:rPr lang="en-US" sz="3200" baseline="30000">
                <a:solidFill>
                  <a:srgbClr val="6600CC"/>
                </a:solidFill>
                <a:sym typeface="Wingdings" pitchFamily="2" charset="2"/>
              </a:rPr>
              <a:t>6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838200" y="5486400"/>
            <a:ext cx="6477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>
                <a:solidFill>
                  <a:srgbClr val="FF0066"/>
                </a:solidFill>
                <a:sym typeface="Wingdings" pitchFamily="2" charset="2"/>
              </a:rPr>
              <a:t>Answer can have only three significant figures  = 2.374 x 10</a:t>
            </a:r>
            <a:r>
              <a:rPr lang="en-US" sz="3200" baseline="30000">
                <a:solidFill>
                  <a:srgbClr val="FF0066"/>
                </a:solidFill>
                <a:sym typeface="Wingdings" pitchFamily="2" charset="2"/>
              </a:rPr>
              <a:t>6</a:t>
            </a: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8077200" y="3124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84582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7772400" y="6172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5715000" y="6553200"/>
            <a:ext cx="2057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 flipH="1" flipV="1">
            <a:off x="5410200" y="6477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7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2" grpId="0" animBg="1"/>
      <p:bldP spid="17413" grpId="0" animBg="1"/>
      <p:bldP spid="17414" grpId="0" animBg="1"/>
      <p:bldP spid="17415" grpId="0"/>
      <p:bldP spid="17416" grpId="0"/>
      <p:bldP spid="17417" grpId="0"/>
      <p:bldP spid="17418" grpId="0"/>
      <p:bldP spid="17419" grpId="0"/>
      <p:bldP spid="17420" grpId="0"/>
      <p:bldP spid="17421" grpId="0" animBg="1"/>
      <p:bldP spid="17422" grpId="0" animBg="1"/>
      <p:bldP spid="17423" grpId="0"/>
      <p:bldP spid="17424" grpId="0" animBg="1"/>
      <p:bldP spid="174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Multiplication and division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number of significant figures in the </a:t>
            </a:r>
            <a:r>
              <a:rPr lang="en-US" smtClean="0">
                <a:solidFill>
                  <a:srgbClr val="FF0066"/>
                </a:solidFill>
              </a:rPr>
              <a:t>final product</a:t>
            </a:r>
            <a:r>
              <a:rPr lang="en-US" smtClean="0"/>
              <a:t> or </a:t>
            </a:r>
            <a:r>
              <a:rPr lang="en-US" smtClean="0">
                <a:solidFill>
                  <a:srgbClr val="FF0066"/>
                </a:solidFill>
              </a:rPr>
              <a:t>quotient</a:t>
            </a:r>
            <a:r>
              <a:rPr lang="en-US" smtClean="0"/>
              <a:t> is determined by the </a:t>
            </a:r>
            <a:r>
              <a:rPr lang="en-US" smtClean="0">
                <a:solidFill>
                  <a:srgbClr val="FF0066"/>
                </a:solidFill>
              </a:rPr>
              <a:t>original number</a:t>
            </a:r>
            <a:r>
              <a:rPr lang="en-US" smtClean="0"/>
              <a:t> that has the </a:t>
            </a:r>
            <a:r>
              <a:rPr lang="en-US" smtClean="0">
                <a:solidFill>
                  <a:srgbClr val="FF0066"/>
                </a:solidFill>
              </a:rPr>
              <a:t>smallest number of significant figure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Eg:	2.8 x 4.5039 = 12.61092</a:t>
            </a:r>
          </a:p>
        </p:txBody>
      </p:sp>
    </p:spTree>
    <p:extLst>
      <p:ext uri="{BB962C8B-B14F-4D97-AF65-F5344CB8AC3E}">
        <p14:creationId xmlns:p14="http://schemas.microsoft.com/office/powerpoint/2010/main" val="197692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3352800" y="18097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724400" y="1752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609600" y="2438400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No. of significant figures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31242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two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44958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five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4267200" y="4648200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The answer has only two  significant figures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/>
              <a:t>13</a:t>
            </a:r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40386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The answer is</a:t>
            </a:r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67056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609600" y="609600"/>
            <a:ext cx="792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/>
              <a:t>Eg:               2.8 x 4.5039   = 12.61092</a:t>
            </a:r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6477000" y="12192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6019800" y="18288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Round off = 13</a:t>
            </a:r>
          </a:p>
        </p:txBody>
      </p:sp>
    </p:spTree>
    <p:extLst>
      <p:ext uri="{BB962C8B-B14F-4D97-AF65-F5344CB8AC3E}">
        <p14:creationId xmlns:p14="http://schemas.microsoft.com/office/powerpoint/2010/main" val="292119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14341" grpId="0" animBg="1"/>
      <p:bldP spid="14342" grpId="0"/>
      <p:bldP spid="14343" grpId="0"/>
      <p:bldP spid="14344" grpId="0"/>
      <p:bldP spid="14345" grpId="0"/>
      <p:bldP spid="14346" grpId="0"/>
      <p:bldP spid="14347" grpId="0"/>
      <p:bldP spid="14348" grpId="0" animBg="1"/>
      <p:bldP spid="14349" grpId="0"/>
      <p:bldP spid="14350" grpId="0" animBg="1"/>
      <p:bldP spid="143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3352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47244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09600" y="2438400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No. of significant figures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1242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44958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five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267200" y="4648200"/>
            <a:ext cx="403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has only three  significant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0.0611</a:t>
            </a:r>
            <a:endParaRPr lang="en-US" sz="4400"/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40386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is</a:t>
            </a: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67056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609600" y="609600"/>
            <a:ext cx="853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Eg:               6.85 / 112.04  = 0.0611388789</a:t>
            </a: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6477000" y="12192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6019800" y="18288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Round off = 0.0611</a:t>
            </a:r>
          </a:p>
        </p:txBody>
      </p:sp>
    </p:spTree>
    <p:extLst>
      <p:ext uri="{BB962C8B-B14F-4D97-AF65-F5344CB8AC3E}">
        <p14:creationId xmlns:p14="http://schemas.microsoft.com/office/powerpoint/2010/main" val="327263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7" grpId="0" animBg="1"/>
      <p:bldP spid="13319" grpId="0"/>
      <p:bldP spid="13320" grpId="0"/>
      <p:bldP spid="13321" grpId="0"/>
      <p:bldP spid="13323" grpId="0"/>
      <p:bldP spid="13324" grpId="0" animBg="1"/>
      <p:bldP spid="13326" grpId="0" animBg="1"/>
      <p:bldP spid="1332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2438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3429000" y="12954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0" y="2286000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No. of significant figures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286000" y="2362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---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276600" y="2362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three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4267200" y="4648200"/>
            <a:ext cx="403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has only three  significant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1.08</a:t>
            </a:r>
            <a:endParaRPr lang="en-US" sz="4400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0386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The answer is</a:t>
            </a:r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67056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609600" y="609600"/>
            <a:ext cx="853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Eg:       24 x 4.52 / 100.0   = 1.0848</a:t>
            </a:r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6477000" y="12192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6019800" y="18288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Round off = 1.08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4495800" y="23495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four</a:t>
            </a:r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4648200" y="1447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3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/>
      <p:bldP spid="15367" grpId="0"/>
      <p:bldP spid="15368" grpId="0"/>
      <p:bldP spid="15369" grpId="0"/>
      <p:bldP spid="15370" grpId="0"/>
      <p:bldP spid="15371" grpId="0"/>
      <p:bldP spid="15372" grpId="0" animBg="1"/>
      <p:bldP spid="15373" grpId="0"/>
      <p:bldP spid="15374" grpId="0" animBg="1"/>
      <p:bldP spid="15375" grpId="0"/>
      <p:bldP spid="15376" grpId="0"/>
      <p:bldP spid="1537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4267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609600" y="2438400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No. of significant figures</a:t>
            </a: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40386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three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51054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four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267200" y="4648200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The answer has only three significant figures</a:t>
            </a: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6477000" y="33528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/>
              <a:t>0.965</a:t>
            </a:r>
            <a:endParaRPr lang="en-US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4038600" y="3429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The answer is</a:t>
            </a:r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>
            <a:off x="6705600" y="4114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609600" y="609600"/>
            <a:ext cx="792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/>
              <a:t>Eg:               24 x 4.02 / 100.0   = 0.965</a:t>
            </a:r>
            <a:endParaRPr lang="en-US"/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2819400" y="2438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---</a:t>
            </a:r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>
            <a:off x="3200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1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0" grpId="0" animBg="1"/>
      <p:bldP spid="16401" grpId="0" animBg="1"/>
      <p:bldP spid="16402" grpId="0"/>
      <p:bldP spid="16403" grpId="0"/>
      <p:bldP spid="16404" grpId="0"/>
      <p:bldP spid="16405" grpId="0"/>
      <p:bldP spid="16406" grpId="0"/>
      <p:bldP spid="16407" grpId="0"/>
      <p:bldP spid="16408" grpId="0" animBg="1"/>
      <p:bldP spid="16409" grpId="0"/>
      <p:bldP spid="16412" grpId="0"/>
      <p:bldP spid="164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Exact numbers obtained from definition or by counting numbers of objects can be considered to have an infinite number of significant figures</a:t>
            </a:r>
            <a:r>
              <a:rPr lang="en-US" smtClean="0"/>
              <a:t>.</a:t>
            </a:r>
          </a:p>
          <a:p>
            <a:pPr eaLnBrk="1" hangingPunct="1"/>
            <a:r>
              <a:rPr lang="en-US" smtClean="0"/>
              <a:t>Eg: If an object has the mass 0.2786 g, then the mass of 8 such object is =</a:t>
            </a:r>
          </a:p>
          <a:p>
            <a:pPr eaLnBrk="1" hangingPunct="1"/>
            <a:r>
              <a:rPr lang="en-US" smtClean="0"/>
              <a:t>0.2786 x  8  = 2.229 g</a:t>
            </a:r>
          </a:p>
          <a:p>
            <a:pPr eaLnBrk="1" hangingPunct="1"/>
            <a:endParaRPr lang="en-US" smtClean="0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066800" y="44958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four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505200" y="4495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four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438400" y="44196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----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6172200" y="4267200"/>
            <a:ext cx="2590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Significant figures</a:t>
            </a: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4800600" y="4800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14478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25908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3733800" y="412105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2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7" grpId="0"/>
      <p:bldP spid="18438" grpId="0"/>
      <p:bldP spid="18439" grpId="0"/>
      <p:bldP spid="18440" grpId="0"/>
      <p:bldP spid="18441" grpId="0" animBg="1"/>
      <p:bldP spid="18442" grpId="0" animBg="1"/>
      <p:bldP spid="18443" grpId="0" animBg="1"/>
      <p:bldP spid="1844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Eg: ( 6.64 cm + 6.68 cm ) / 2  =  6.66 cm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5410200" y="2209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114800" y="358140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Number 2 = 2.000000000…….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438400" y="4800600"/>
            <a:ext cx="449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Significant figure after decimal  = two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6769290" y="2185916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6781800" y="4014716"/>
            <a:ext cx="901890" cy="10906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2286000" y="2209800"/>
            <a:ext cx="7620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 flipH="1">
            <a:off x="3429000" y="2325806"/>
            <a:ext cx="457200" cy="2322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2362200" y="4724400"/>
            <a:ext cx="4419600" cy="9906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8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  <p:bldP spid="19460" grpId="0" animBg="1"/>
      <p:bldP spid="19461" grpId="0"/>
      <p:bldP spid="19462" grpId="0"/>
      <p:bldP spid="19463" grpId="0" animBg="1"/>
      <p:bldP spid="19464" grpId="0" animBg="1"/>
      <p:bldP spid="19465" grpId="0" animBg="1"/>
      <p:bldP spid="19466" grpId="0" animBg="1"/>
      <p:bldP spid="1946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Logarithm and antilogarithms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smtClean="0"/>
              <a:t>A logarithm is composed of two parts.</a:t>
            </a:r>
          </a:p>
          <a:p>
            <a:pPr eaLnBrk="1" hangingPunct="1"/>
            <a:r>
              <a:rPr lang="en-US" sz="2400" smtClean="0"/>
              <a:t>log (2.4 x 10</a:t>
            </a:r>
            <a:r>
              <a:rPr lang="en-US" sz="2400" baseline="30000" smtClean="0"/>
              <a:t>5</a:t>
            </a:r>
            <a:r>
              <a:rPr lang="en-US" sz="2400" smtClean="0"/>
              <a:t>)</a:t>
            </a:r>
          </a:p>
          <a:p>
            <a:pPr eaLnBrk="1" hangingPunct="1"/>
            <a:r>
              <a:rPr lang="en-US" sz="2400" smtClean="0"/>
              <a:t>A whole number, </a:t>
            </a:r>
            <a:r>
              <a:rPr lang="en-US" sz="2400" u="sng" smtClean="0"/>
              <a:t>the characteristic  </a:t>
            </a:r>
            <a:r>
              <a:rPr lang="en-US" sz="2400" smtClean="0"/>
              <a:t>plus a decimal fraction, </a:t>
            </a:r>
            <a:r>
              <a:rPr lang="en-US" sz="2400" u="sng" smtClean="0"/>
              <a:t>the mantissa.</a:t>
            </a:r>
          </a:p>
          <a:p>
            <a:pPr eaLnBrk="1" hangingPunct="1"/>
            <a:r>
              <a:rPr lang="en-US" sz="2400" smtClean="0"/>
              <a:t>The characteristic is a function of the position of the decimal in the number,</a:t>
            </a:r>
          </a:p>
          <a:p>
            <a:pPr eaLnBrk="1" hangingPunct="1"/>
            <a:r>
              <a:rPr lang="en-US" sz="2400" smtClean="0"/>
              <a:t>Whose logarithm is being determined and therefore is not a significant figures.</a:t>
            </a:r>
          </a:p>
          <a:p>
            <a:pPr eaLnBrk="1" hangingPunct="1"/>
            <a:r>
              <a:rPr lang="en-US" sz="2400" smtClean="0"/>
              <a:t>Mantissa is the same regardless of the position of the decimal,</a:t>
            </a:r>
          </a:p>
          <a:p>
            <a:pPr eaLnBrk="1" hangingPunct="1"/>
            <a:r>
              <a:rPr lang="en-US" sz="2400" smtClean="0"/>
              <a:t>All the digits are considered significant.</a:t>
            </a:r>
          </a:p>
          <a:p>
            <a:pPr eaLnBrk="1" hangingPunct="1"/>
            <a:endParaRPr lang="en-US" smtClean="0"/>
          </a:p>
        </p:txBody>
      </p:sp>
      <p:sp>
        <p:nvSpPr>
          <p:cNvPr id="5" name="Freeform 4"/>
          <p:cNvSpPr/>
          <p:nvPr/>
        </p:nvSpPr>
        <p:spPr>
          <a:xfrm>
            <a:off x="1519238" y="2409825"/>
            <a:ext cx="352425" cy="38100"/>
          </a:xfrm>
          <a:custGeom>
            <a:avLst/>
            <a:gdLst>
              <a:gd name="connsiteX0" fmla="*/ 0 w 351692"/>
              <a:gd name="connsiteY0" fmla="*/ 37949 h 37949"/>
              <a:gd name="connsiteX1" fmla="*/ 351692 w 351692"/>
              <a:gd name="connsiteY1" fmla="*/ 23882 h 3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692" h="37949">
                <a:moveTo>
                  <a:pt x="0" y="37949"/>
                </a:moveTo>
                <a:cubicBezTo>
                  <a:pt x="151805" y="0"/>
                  <a:pt x="36937" y="23882"/>
                  <a:pt x="351692" y="23882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716088" y="2193925"/>
            <a:ext cx="2222500" cy="338138"/>
          </a:xfrm>
          <a:custGeom>
            <a:avLst/>
            <a:gdLst>
              <a:gd name="connsiteX0" fmla="*/ 0 w 2222696"/>
              <a:gd name="connsiteY0" fmla="*/ 239151 h 337625"/>
              <a:gd name="connsiteX1" fmla="*/ 56271 w 2222696"/>
              <a:gd name="connsiteY1" fmla="*/ 323557 h 337625"/>
              <a:gd name="connsiteX2" fmla="*/ 112542 w 2222696"/>
              <a:gd name="connsiteY2" fmla="*/ 337625 h 337625"/>
              <a:gd name="connsiteX3" fmla="*/ 379828 w 2222696"/>
              <a:gd name="connsiteY3" fmla="*/ 323557 h 337625"/>
              <a:gd name="connsiteX4" fmla="*/ 436099 w 2222696"/>
              <a:gd name="connsiteY4" fmla="*/ 309489 h 337625"/>
              <a:gd name="connsiteX5" fmla="*/ 478302 w 2222696"/>
              <a:gd name="connsiteY5" fmla="*/ 281354 h 337625"/>
              <a:gd name="connsiteX6" fmla="*/ 647114 w 2222696"/>
              <a:gd name="connsiteY6" fmla="*/ 253218 h 337625"/>
              <a:gd name="connsiteX7" fmla="*/ 689317 w 2222696"/>
              <a:gd name="connsiteY7" fmla="*/ 239151 h 337625"/>
              <a:gd name="connsiteX8" fmla="*/ 886265 w 2222696"/>
              <a:gd name="connsiteY8" fmla="*/ 168812 h 337625"/>
              <a:gd name="connsiteX9" fmla="*/ 998807 w 2222696"/>
              <a:gd name="connsiteY9" fmla="*/ 126609 h 337625"/>
              <a:gd name="connsiteX10" fmla="*/ 1041010 w 2222696"/>
              <a:gd name="connsiteY10" fmla="*/ 98474 h 337625"/>
              <a:gd name="connsiteX11" fmla="*/ 1139484 w 2222696"/>
              <a:gd name="connsiteY11" fmla="*/ 84406 h 337625"/>
              <a:gd name="connsiteX12" fmla="*/ 1266093 w 2222696"/>
              <a:gd name="connsiteY12" fmla="*/ 56271 h 337625"/>
              <a:gd name="connsiteX13" fmla="*/ 1378634 w 2222696"/>
              <a:gd name="connsiteY13" fmla="*/ 42203 h 337625"/>
              <a:gd name="connsiteX14" fmla="*/ 1519311 w 2222696"/>
              <a:gd name="connsiteY14" fmla="*/ 14068 h 337625"/>
              <a:gd name="connsiteX15" fmla="*/ 1702191 w 2222696"/>
              <a:gd name="connsiteY15" fmla="*/ 0 h 337625"/>
              <a:gd name="connsiteX16" fmla="*/ 1899139 w 2222696"/>
              <a:gd name="connsiteY16" fmla="*/ 14068 h 337625"/>
              <a:gd name="connsiteX17" fmla="*/ 1983545 w 2222696"/>
              <a:gd name="connsiteY17" fmla="*/ 42203 h 337625"/>
              <a:gd name="connsiteX18" fmla="*/ 2039816 w 2222696"/>
              <a:gd name="connsiteY18" fmla="*/ 56271 h 337625"/>
              <a:gd name="connsiteX19" fmla="*/ 2082019 w 2222696"/>
              <a:gd name="connsiteY19" fmla="*/ 84406 h 337625"/>
              <a:gd name="connsiteX20" fmla="*/ 2180493 w 2222696"/>
              <a:gd name="connsiteY20" fmla="*/ 196948 h 337625"/>
              <a:gd name="connsiteX21" fmla="*/ 2180493 w 2222696"/>
              <a:gd name="connsiteY21" fmla="*/ 309489 h 337625"/>
              <a:gd name="connsiteX22" fmla="*/ 2124222 w 2222696"/>
              <a:gd name="connsiteY22" fmla="*/ 253218 h 337625"/>
              <a:gd name="connsiteX23" fmla="*/ 2082019 w 2222696"/>
              <a:gd name="connsiteY23" fmla="*/ 239151 h 337625"/>
              <a:gd name="connsiteX24" fmla="*/ 2124222 w 2222696"/>
              <a:gd name="connsiteY24" fmla="*/ 323557 h 337625"/>
              <a:gd name="connsiteX25" fmla="*/ 2166425 w 2222696"/>
              <a:gd name="connsiteY25" fmla="*/ 337625 h 337625"/>
              <a:gd name="connsiteX26" fmla="*/ 2180493 w 2222696"/>
              <a:gd name="connsiteY26" fmla="*/ 267286 h 337625"/>
              <a:gd name="connsiteX27" fmla="*/ 2194560 w 2222696"/>
              <a:gd name="connsiteY27" fmla="*/ 211015 h 337625"/>
              <a:gd name="connsiteX28" fmla="*/ 2222696 w 2222696"/>
              <a:gd name="connsiteY28" fmla="*/ 112542 h 33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222696" h="337625">
                <a:moveTo>
                  <a:pt x="0" y="239151"/>
                </a:moveTo>
                <a:cubicBezTo>
                  <a:pt x="13429" y="279437"/>
                  <a:pt x="12881" y="298763"/>
                  <a:pt x="56271" y="323557"/>
                </a:cubicBezTo>
                <a:cubicBezTo>
                  <a:pt x="73058" y="333150"/>
                  <a:pt x="93785" y="332936"/>
                  <a:pt x="112542" y="337625"/>
                </a:cubicBezTo>
                <a:cubicBezTo>
                  <a:pt x="201637" y="332936"/>
                  <a:pt x="290945" y="331286"/>
                  <a:pt x="379828" y="323557"/>
                </a:cubicBezTo>
                <a:cubicBezTo>
                  <a:pt x="399090" y="321882"/>
                  <a:pt x="418328" y="317105"/>
                  <a:pt x="436099" y="309489"/>
                </a:cubicBezTo>
                <a:cubicBezTo>
                  <a:pt x="451639" y="302829"/>
                  <a:pt x="461966" y="285710"/>
                  <a:pt x="478302" y="281354"/>
                </a:cubicBezTo>
                <a:cubicBezTo>
                  <a:pt x="533423" y="266655"/>
                  <a:pt x="592994" y="271257"/>
                  <a:pt x="647114" y="253218"/>
                </a:cubicBezTo>
                <a:lnTo>
                  <a:pt x="689317" y="239151"/>
                </a:lnTo>
                <a:cubicBezTo>
                  <a:pt x="805180" y="161909"/>
                  <a:pt x="740170" y="187074"/>
                  <a:pt x="886265" y="168812"/>
                </a:cubicBezTo>
                <a:cubicBezTo>
                  <a:pt x="985238" y="102831"/>
                  <a:pt x="859739" y="178759"/>
                  <a:pt x="998807" y="126609"/>
                </a:cubicBezTo>
                <a:cubicBezTo>
                  <a:pt x="1014638" y="120673"/>
                  <a:pt x="1024816" y="103332"/>
                  <a:pt x="1041010" y="98474"/>
                </a:cubicBezTo>
                <a:cubicBezTo>
                  <a:pt x="1072770" y="88946"/>
                  <a:pt x="1106861" y="90338"/>
                  <a:pt x="1139484" y="84406"/>
                </a:cubicBezTo>
                <a:cubicBezTo>
                  <a:pt x="1293529" y="56397"/>
                  <a:pt x="1084563" y="84198"/>
                  <a:pt x="1266093" y="56271"/>
                </a:cubicBezTo>
                <a:cubicBezTo>
                  <a:pt x="1303459" y="50522"/>
                  <a:pt x="1341343" y="48418"/>
                  <a:pt x="1378634" y="42203"/>
                </a:cubicBezTo>
                <a:cubicBezTo>
                  <a:pt x="1506362" y="20914"/>
                  <a:pt x="1351238" y="31760"/>
                  <a:pt x="1519311" y="14068"/>
                </a:cubicBezTo>
                <a:cubicBezTo>
                  <a:pt x="1580115" y="7668"/>
                  <a:pt x="1641231" y="4689"/>
                  <a:pt x="1702191" y="0"/>
                </a:cubicBezTo>
                <a:cubicBezTo>
                  <a:pt x="1767840" y="4689"/>
                  <a:pt x="1834051" y="4305"/>
                  <a:pt x="1899139" y="14068"/>
                </a:cubicBezTo>
                <a:cubicBezTo>
                  <a:pt x="1928468" y="18467"/>
                  <a:pt x="1954773" y="35010"/>
                  <a:pt x="1983545" y="42203"/>
                </a:cubicBezTo>
                <a:lnTo>
                  <a:pt x="2039816" y="56271"/>
                </a:lnTo>
                <a:cubicBezTo>
                  <a:pt x="2053884" y="65649"/>
                  <a:pt x="2069295" y="73273"/>
                  <a:pt x="2082019" y="84406"/>
                </a:cubicBezTo>
                <a:cubicBezTo>
                  <a:pt x="2147851" y="142010"/>
                  <a:pt x="2142357" y="139746"/>
                  <a:pt x="2180493" y="196948"/>
                </a:cubicBezTo>
                <a:cubicBezTo>
                  <a:pt x="2180493" y="196949"/>
                  <a:pt x="2218005" y="309489"/>
                  <a:pt x="2180493" y="309489"/>
                </a:cubicBezTo>
                <a:cubicBezTo>
                  <a:pt x="2153967" y="309489"/>
                  <a:pt x="2149387" y="261606"/>
                  <a:pt x="2124222" y="253218"/>
                </a:cubicBezTo>
                <a:lnTo>
                  <a:pt x="2082019" y="239151"/>
                </a:lnTo>
                <a:cubicBezTo>
                  <a:pt x="2091286" y="266952"/>
                  <a:pt x="2099431" y="303724"/>
                  <a:pt x="2124222" y="323557"/>
                </a:cubicBezTo>
                <a:cubicBezTo>
                  <a:pt x="2135801" y="332820"/>
                  <a:pt x="2152357" y="332936"/>
                  <a:pt x="2166425" y="337625"/>
                </a:cubicBezTo>
                <a:cubicBezTo>
                  <a:pt x="2171114" y="314179"/>
                  <a:pt x="2175306" y="290627"/>
                  <a:pt x="2180493" y="267286"/>
                </a:cubicBezTo>
                <a:cubicBezTo>
                  <a:pt x="2184687" y="248412"/>
                  <a:pt x="2190768" y="229974"/>
                  <a:pt x="2194560" y="211015"/>
                </a:cubicBezTo>
                <a:cubicBezTo>
                  <a:pt x="2213507" y="116279"/>
                  <a:pt x="2187577" y="147658"/>
                  <a:pt x="2222696" y="112542"/>
                </a:cubicBezTo>
              </a:path>
            </a:pathLst>
          </a:custGeom>
          <a:ln>
            <a:solidFill>
              <a:srgbClr val="66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0066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193925" y="2447925"/>
            <a:ext cx="479425" cy="31750"/>
          </a:xfrm>
          <a:custGeom>
            <a:avLst/>
            <a:gdLst>
              <a:gd name="connsiteX0" fmla="*/ 0 w 478302"/>
              <a:gd name="connsiteY0" fmla="*/ 0 h 31474"/>
              <a:gd name="connsiteX1" fmla="*/ 239151 w 478302"/>
              <a:gd name="connsiteY1" fmla="*/ 28136 h 31474"/>
              <a:gd name="connsiteX2" fmla="*/ 478302 w 478302"/>
              <a:gd name="connsiteY2" fmla="*/ 14068 h 3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302" h="31474">
                <a:moveTo>
                  <a:pt x="0" y="0"/>
                </a:moveTo>
                <a:cubicBezTo>
                  <a:pt x="94419" y="31474"/>
                  <a:pt x="72785" y="28136"/>
                  <a:pt x="239151" y="28136"/>
                </a:cubicBezTo>
                <a:cubicBezTo>
                  <a:pt x="319006" y="28136"/>
                  <a:pt x="478302" y="14068"/>
                  <a:pt x="478302" y="1406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574925" y="2419350"/>
            <a:ext cx="1422400" cy="1027113"/>
          </a:xfrm>
          <a:custGeom>
            <a:avLst/>
            <a:gdLst>
              <a:gd name="connsiteX0" fmla="*/ 0 w 1422972"/>
              <a:gd name="connsiteY0" fmla="*/ 56057 h 1026728"/>
              <a:gd name="connsiteX1" fmla="*/ 42203 w 1422972"/>
              <a:gd name="connsiteY1" fmla="*/ 41989 h 1026728"/>
              <a:gd name="connsiteX2" fmla="*/ 520504 w 1422972"/>
              <a:gd name="connsiteY2" fmla="*/ 41989 h 1026728"/>
              <a:gd name="connsiteX3" fmla="*/ 618978 w 1422972"/>
              <a:gd name="connsiteY3" fmla="*/ 84192 h 1026728"/>
              <a:gd name="connsiteX4" fmla="*/ 689317 w 1422972"/>
              <a:gd name="connsiteY4" fmla="*/ 112328 h 1026728"/>
              <a:gd name="connsiteX5" fmla="*/ 773723 w 1422972"/>
              <a:gd name="connsiteY5" fmla="*/ 154531 h 1026728"/>
              <a:gd name="connsiteX6" fmla="*/ 886264 w 1422972"/>
              <a:gd name="connsiteY6" fmla="*/ 253005 h 1026728"/>
              <a:gd name="connsiteX7" fmla="*/ 942535 w 1422972"/>
              <a:gd name="connsiteY7" fmla="*/ 323343 h 1026728"/>
              <a:gd name="connsiteX8" fmla="*/ 1069144 w 1422972"/>
              <a:gd name="connsiteY8" fmla="*/ 449952 h 1026728"/>
              <a:gd name="connsiteX9" fmla="*/ 1139483 w 1422972"/>
              <a:gd name="connsiteY9" fmla="*/ 548426 h 1026728"/>
              <a:gd name="connsiteX10" fmla="*/ 1167618 w 1422972"/>
              <a:gd name="connsiteY10" fmla="*/ 604697 h 1026728"/>
              <a:gd name="connsiteX11" fmla="*/ 1195754 w 1422972"/>
              <a:gd name="connsiteY11" fmla="*/ 632832 h 1026728"/>
              <a:gd name="connsiteX12" fmla="*/ 1223889 w 1422972"/>
              <a:gd name="connsiteY12" fmla="*/ 675035 h 1026728"/>
              <a:gd name="connsiteX13" fmla="*/ 1280160 w 1422972"/>
              <a:gd name="connsiteY13" fmla="*/ 731306 h 1026728"/>
              <a:gd name="connsiteX14" fmla="*/ 1308295 w 1422972"/>
              <a:gd name="connsiteY14" fmla="*/ 773509 h 1026728"/>
              <a:gd name="connsiteX15" fmla="*/ 1350498 w 1422972"/>
              <a:gd name="connsiteY15" fmla="*/ 801645 h 1026728"/>
              <a:gd name="connsiteX16" fmla="*/ 1406769 w 1422972"/>
              <a:gd name="connsiteY16" fmla="*/ 871983 h 1026728"/>
              <a:gd name="connsiteX17" fmla="*/ 1420837 w 1422972"/>
              <a:gd name="connsiteY17" fmla="*/ 928254 h 1026728"/>
              <a:gd name="connsiteX18" fmla="*/ 1392701 w 1422972"/>
              <a:gd name="connsiteY18" fmla="*/ 998592 h 1026728"/>
              <a:gd name="connsiteX19" fmla="*/ 1336430 w 1422972"/>
              <a:gd name="connsiteY19" fmla="*/ 1012660 h 1026728"/>
              <a:gd name="connsiteX20" fmla="*/ 1294227 w 1422972"/>
              <a:gd name="connsiteY20" fmla="*/ 1026728 h 1026728"/>
              <a:gd name="connsiteX21" fmla="*/ 1181686 w 1422972"/>
              <a:gd name="connsiteY21" fmla="*/ 956389 h 1026728"/>
              <a:gd name="connsiteX22" fmla="*/ 1153550 w 1422972"/>
              <a:gd name="connsiteY22" fmla="*/ 928254 h 1026728"/>
              <a:gd name="connsiteX23" fmla="*/ 1125415 w 1422972"/>
              <a:gd name="connsiteY23" fmla="*/ 970457 h 1026728"/>
              <a:gd name="connsiteX24" fmla="*/ 1167618 w 1422972"/>
              <a:gd name="connsiteY24" fmla="*/ 871983 h 1026728"/>
              <a:gd name="connsiteX25" fmla="*/ 1223889 w 1422972"/>
              <a:gd name="connsiteY25" fmla="*/ 886051 h 1026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22972" h="1026728">
                <a:moveTo>
                  <a:pt x="0" y="56057"/>
                </a:moveTo>
                <a:cubicBezTo>
                  <a:pt x="14068" y="51368"/>
                  <a:pt x="27817" y="45586"/>
                  <a:pt x="42203" y="41989"/>
                </a:cubicBezTo>
                <a:cubicBezTo>
                  <a:pt x="210154" y="0"/>
                  <a:pt x="292448" y="34125"/>
                  <a:pt x="520504" y="41989"/>
                </a:cubicBezTo>
                <a:cubicBezTo>
                  <a:pt x="637615" y="71267"/>
                  <a:pt x="521829" y="35617"/>
                  <a:pt x="618978" y="84192"/>
                </a:cubicBezTo>
                <a:cubicBezTo>
                  <a:pt x="641565" y="95485"/>
                  <a:pt x="666328" y="101878"/>
                  <a:pt x="689317" y="112328"/>
                </a:cubicBezTo>
                <a:cubicBezTo>
                  <a:pt x="717954" y="125345"/>
                  <a:pt x="745588" y="140463"/>
                  <a:pt x="773723" y="154531"/>
                </a:cubicBezTo>
                <a:cubicBezTo>
                  <a:pt x="882742" y="299887"/>
                  <a:pt x="737033" y="120355"/>
                  <a:pt x="886264" y="253005"/>
                </a:cubicBezTo>
                <a:cubicBezTo>
                  <a:pt x="908705" y="272953"/>
                  <a:pt x="922104" y="301340"/>
                  <a:pt x="942535" y="323343"/>
                </a:cubicBezTo>
                <a:cubicBezTo>
                  <a:pt x="983147" y="367079"/>
                  <a:pt x="1033334" y="402205"/>
                  <a:pt x="1069144" y="449952"/>
                </a:cubicBezTo>
                <a:cubicBezTo>
                  <a:pt x="1087254" y="474099"/>
                  <a:pt x="1123030" y="519633"/>
                  <a:pt x="1139483" y="548426"/>
                </a:cubicBezTo>
                <a:cubicBezTo>
                  <a:pt x="1149887" y="566634"/>
                  <a:pt x="1155985" y="587248"/>
                  <a:pt x="1167618" y="604697"/>
                </a:cubicBezTo>
                <a:cubicBezTo>
                  <a:pt x="1174975" y="615733"/>
                  <a:pt x="1187468" y="622475"/>
                  <a:pt x="1195754" y="632832"/>
                </a:cubicBezTo>
                <a:cubicBezTo>
                  <a:pt x="1206316" y="646034"/>
                  <a:pt x="1212886" y="662198"/>
                  <a:pt x="1223889" y="675035"/>
                </a:cubicBezTo>
                <a:cubicBezTo>
                  <a:pt x="1241152" y="695175"/>
                  <a:pt x="1265446" y="709235"/>
                  <a:pt x="1280160" y="731306"/>
                </a:cubicBezTo>
                <a:cubicBezTo>
                  <a:pt x="1289538" y="745374"/>
                  <a:pt x="1296340" y="761554"/>
                  <a:pt x="1308295" y="773509"/>
                </a:cubicBezTo>
                <a:cubicBezTo>
                  <a:pt x="1320250" y="785464"/>
                  <a:pt x="1337296" y="791083"/>
                  <a:pt x="1350498" y="801645"/>
                </a:cubicBezTo>
                <a:cubicBezTo>
                  <a:pt x="1379137" y="824556"/>
                  <a:pt x="1385876" y="840643"/>
                  <a:pt x="1406769" y="871983"/>
                </a:cubicBezTo>
                <a:cubicBezTo>
                  <a:pt x="1411458" y="890740"/>
                  <a:pt x="1422972" y="909038"/>
                  <a:pt x="1420837" y="928254"/>
                </a:cubicBezTo>
                <a:cubicBezTo>
                  <a:pt x="1418048" y="953352"/>
                  <a:pt x="1410557" y="980736"/>
                  <a:pt x="1392701" y="998592"/>
                </a:cubicBezTo>
                <a:cubicBezTo>
                  <a:pt x="1379030" y="1012263"/>
                  <a:pt x="1355020" y="1007348"/>
                  <a:pt x="1336430" y="1012660"/>
                </a:cubicBezTo>
                <a:cubicBezTo>
                  <a:pt x="1322172" y="1016734"/>
                  <a:pt x="1308295" y="1022039"/>
                  <a:pt x="1294227" y="1026728"/>
                </a:cubicBezTo>
                <a:cubicBezTo>
                  <a:pt x="1212222" y="1006226"/>
                  <a:pt x="1251629" y="1026331"/>
                  <a:pt x="1181686" y="956389"/>
                </a:cubicBezTo>
                <a:lnTo>
                  <a:pt x="1153550" y="928254"/>
                </a:lnTo>
                <a:cubicBezTo>
                  <a:pt x="1144172" y="942322"/>
                  <a:pt x="1137370" y="982413"/>
                  <a:pt x="1125415" y="970457"/>
                </a:cubicBezTo>
                <a:cubicBezTo>
                  <a:pt x="1107248" y="952288"/>
                  <a:pt x="1160533" y="882611"/>
                  <a:pt x="1167618" y="871983"/>
                </a:cubicBezTo>
                <a:cubicBezTo>
                  <a:pt x="1214270" y="887534"/>
                  <a:pt x="1194992" y="886051"/>
                  <a:pt x="1223889" y="886051"/>
                </a:cubicBezTo>
              </a:path>
            </a:pathLst>
          </a:cu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3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Rules are: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Rule (1).	In a logarithm of a number, keep as many digits to the right of the  decimal point as there are significant figures in the original number.</a:t>
            </a:r>
          </a:p>
          <a:p>
            <a:pPr eaLnBrk="1" hangingPunct="1"/>
            <a:r>
              <a:rPr lang="en-US" smtClean="0"/>
              <a:t>Eg:	log 4.000 x 10</a:t>
            </a:r>
            <a:r>
              <a:rPr lang="en-US" baseline="30000" smtClean="0"/>
              <a:t>-5</a:t>
            </a:r>
            <a:r>
              <a:rPr lang="en-US" smtClean="0"/>
              <a:t> = - 4.3979400 </a:t>
            </a:r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2514600" y="4778375"/>
            <a:ext cx="21336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5299738" y="4876800"/>
            <a:ext cx="87246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2057400" y="474766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4918738" y="4807329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4347238" y="5751394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/>
              <a:t>Significant figures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6705600" y="5105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/>
              <a:t>- 4.3979</a:t>
            </a:r>
          </a:p>
        </p:txBody>
      </p:sp>
    </p:spTree>
    <p:extLst>
      <p:ext uri="{BB962C8B-B14F-4D97-AF65-F5344CB8AC3E}">
        <p14:creationId xmlns:p14="http://schemas.microsoft.com/office/powerpoint/2010/main" val="9374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  <p:bldP spid="20484" grpId="0" animBg="1"/>
      <p:bldP spid="20485" grpId="0" animBg="1"/>
      <p:bldP spid="20486" grpId="0" animBg="1"/>
      <p:bldP spid="20487" grpId="0" animBg="1"/>
      <p:bldP spid="20488" grpId="0"/>
      <p:bldP spid="20488" grpId="1"/>
      <p:bldP spid="2048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066800" y="685800"/>
            <a:ext cx="541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log(9.57 x 10</a:t>
            </a:r>
            <a:r>
              <a:rPr lang="en-US" sz="3200" baseline="30000"/>
              <a:t>4</a:t>
            </a:r>
            <a:r>
              <a:rPr lang="en-US" sz="3200"/>
              <a:t>) = 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295400" y="1676400"/>
            <a:ext cx="541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 ans : 4.981</a:t>
            </a:r>
          </a:p>
        </p:txBody>
      </p:sp>
    </p:spTree>
    <p:extLst>
      <p:ext uri="{BB962C8B-B14F-4D97-AF65-F5344CB8AC3E}">
        <p14:creationId xmlns:p14="http://schemas.microsoft.com/office/powerpoint/2010/main" val="281243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Rule (2):- In an antilogarithm of a number, keep as many digits as there are digits to the </a:t>
            </a:r>
            <a:r>
              <a:rPr lang="en-US" smtClean="0">
                <a:solidFill>
                  <a:srgbClr val="FF0066"/>
                </a:solidFill>
              </a:rPr>
              <a:t>right of the decimal point</a:t>
            </a:r>
            <a:r>
              <a:rPr lang="en-US" smtClean="0">
                <a:solidFill>
                  <a:srgbClr val="6600CC"/>
                </a:solidFill>
              </a:rPr>
              <a:t> in the original number.</a:t>
            </a:r>
          </a:p>
          <a:p>
            <a:pPr eaLnBrk="1" hangingPunct="1"/>
            <a:r>
              <a:rPr lang="en-US" smtClean="0"/>
              <a:t>antilog 12.5 = 3.1262277 x 10</a:t>
            </a:r>
            <a:r>
              <a:rPr lang="en-US" baseline="30000" smtClean="0"/>
              <a:t>12</a:t>
            </a:r>
          </a:p>
          <a:p>
            <a:pPr eaLnBrk="1" hangingPunct="1"/>
            <a:r>
              <a:rPr lang="en-US" baseline="30000" smtClean="0"/>
              <a:t> </a:t>
            </a:r>
            <a:r>
              <a:rPr lang="en-US" smtClean="0">
                <a:solidFill>
                  <a:srgbClr val="FF0066"/>
                </a:solidFill>
              </a:rPr>
              <a:t>the answer is</a:t>
            </a:r>
            <a:r>
              <a:rPr lang="en-US" baseline="30000" smtClean="0">
                <a:solidFill>
                  <a:srgbClr val="FF0066"/>
                </a:solidFill>
              </a:rPr>
              <a:t>   </a:t>
            </a:r>
            <a:r>
              <a:rPr lang="en-US" smtClean="0">
                <a:solidFill>
                  <a:srgbClr val="FF0066"/>
                </a:solidFill>
              </a:rPr>
              <a:t>3  x 10</a:t>
            </a:r>
            <a:r>
              <a:rPr lang="en-US" baseline="30000" smtClean="0">
                <a:solidFill>
                  <a:srgbClr val="FF0066"/>
                </a:solidFill>
              </a:rPr>
              <a:t>12</a:t>
            </a:r>
          </a:p>
          <a:p>
            <a:pPr eaLnBrk="1" hangingPunct="1"/>
            <a:endParaRPr lang="en-US" smtClean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57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Questions (for 10 minutes)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1)	11254.1 + 0.1983 =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2)	66.59 – 3.113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3) 	8.16 x 5.1355       =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4)	0.0154 / 883   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5) 	2.64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r>
              <a:rPr lang="en-US" smtClean="0">
                <a:solidFill>
                  <a:srgbClr val="FF0066"/>
                </a:solidFill>
              </a:rPr>
              <a:t> + 3.27 x 10</a:t>
            </a:r>
            <a:r>
              <a:rPr lang="en-US" baseline="30000" smtClean="0">
                <a:solidFill>
                  <a:srgbClr val="FF0066"/>
                </a:solidFill>
              </a:rPr>
              <a:t>2</a:t>
            </a:r>
            <a:r>
              <a:rPr lang="en-US" smtClean="0">
                <a:solidFill>
                  <a:srgbClr val="FF0066"/>
                </a:solidFill>
              </a:rPr>
              <a:t>  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6)	-log(2.0 x 10</a:t>
            </a:r>
            <a:r>
              <a:rPr lang="en-US" baseline="30000" smtClean="0">
                <a:solidFill>
                  <a:srgbClr val="FF0066"/>
                </a:solidFill>
              </a:rPr>
              <a:t>-3</a:t>
            </a:r>
            <a:r>
              <a:rPr lang="en-US" smtClean="0">
                <a:solidFill>
                  <a:srgbClr val="FF0066"/>
                </a:solidFill>
              </a:rPr>
              <a:t>) = 3 – 0.3010 = ?</a:t>
            </a:r>
          </a:p>
          <a:p>
            <a:pPr eaLnBrk="1" hangingPunct="1">
              <a:buFontTx/>
              <a:buNone/>
            </a:pPr>
            <a:r>
              <a:rPr lang="en-US" smtClean="0">
                <a:solidFill>
                  <a:srgbClr val="6600CC"/>
                </a:solidFill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3112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answers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1)	11254.1 + 0.1983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          answer = 11254.2983 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                       = 11254.3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2)	66.59 – 3.113 =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              answer   = 63.477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                            = 63.48</a:t>
            </a:r>
          </a:p>
          <a:p>
            <a:pPr eaLnBrk="1" hangingPunct="1"/>
            <a:endParaRPr lang="en-US" smtClean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67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3).	8.16 x 5.1355      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          answer = 41.90568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                       = 41.9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4).	0.0154 / 883    =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              answer    = 0.0000174405436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                             = 0.0000174 0r</a:t>
            </a: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                             = 1.74 x 10</a:t>
            </a:r>
            <a:r>
              <a:rPr lang="en-US" baseline="30000" smtClean="0">
                <a:solidFill>
                  <a:srgbClr val="6600CC"/>
                </a:solidFill>
              </a:rPr>
              <a:t>-5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0348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5) 	2.64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r>
              <a:rPr lang="en-US" smtClean="0">
                <a:solidFill>
                  <a:srgbClr val="FF0066"/>
                </a:solidFill>
              </a:rPr>
              <a:t> + 3.27 x 10</a:t>
            </a:r>
            <a:r>
              <a:rPr lang="en-US" baseline="30000" smtClean="0">
                <a:solidFill>
                  <a:srgbClr val="FF0066"/>
                </a:solidFill>
              </a:rPr>
              <a:t>2</a:t>
            </a:r>
            <a:r>
              <a:rPr lang="en-US" smtClean="0">
                <a:solidFill>
                  <a:srgbClr val="FF0066"/>
                </a:solidFill>
              </a:rPr>
              <a:t>   =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answer = 2.64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r>
              <a:rPr lang="en-US" smtClean="0">
                <a:solidFill>
                  <a:srgbClr val="FF0066"/>
                </a:solidFill>
              </a:rPr>
              <a:t> + 0.327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r>
              <a:rPr lang="en-US" smtClean="0">
                <a:solidFill>
                  <a:srgbClr val="FF0066"/>
                </a:solidFill>
              </a:rPr>
              <a:t>      			  = 2.967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endParaRPr lang="en-US" smtClean="0">
              <a:solidFill>
                <a:srgbClr val="FF0066"/>
              </a:solidFill>
            </a:endParaRP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                         = 2.97 x 10</a:t>
            </a:r>
            <a:r>
              <a:rPr lang="en-US" baseline="30000" smtClean="0">
                <a:solidFill>
                  <a:srgbClr val="FF0066"/>
                </a:solidFill>
              </a:rPr>
              <a:t>3</a:t>
            </a:r>
            <a:r>
              <a:rPr lang="en-US" smtClean="0">
                <a:solidFill>
                  <a:srgbClr val="FF0066"/>
                </a:solidFill>
              </a:rPr>
              <a:t> </a:t>
            </a:r>
          </a:p>
          <a:p>
            <a:pPr eaLnBrk="1" hangingPunct="1"/>
            <a:r>
              <a:rPr lang="en-US" smtClean="0">
                <a:solidFill>
                  <a:srgbClr val="FF0066"/>
                </a:solidFill>
              </a:rPr>
              <a:t>6)	-log (2.0 x 10</a:t>
            </a:r>
            <a:r>
              <a:rPr lang="en-US" baseline="30000" smtClean="0">
                <a:solidFill>
                  <a:srgbClr val="FF0066"/>
                </a:solidFill>
              </a:rPr>
              <a:t>-3</a:t>
            </a:r>
            <a:r>
              <a:rPr lang="en-US" smtClean="0">
                <a:solidFill>
                  <a:srgbClr val="FF0066"/>
                </a:solidFill>
              </a:rPr>
              <a:t>) = 3 – 0.30) = 2.70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8511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Significant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/>
              <a:t>State the number of significant figures in the following measurements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66800" y="2514600"/>
            <a:ext cx="1241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</a:rPr>
              <a:t>2005 cm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27125" y="3165475"/>
            <a:ext cx="1261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</a:rPr>
              <a:t>25.000 </a:t>
            </a:r>
            <a:r>
              <a:rPr lang="en-US" sz="2400" dirty="0">
                <a:latin typeface="Times New Roman" pitchFamily="18" charset="0"/>
              </a:rPr>
              <a:t>g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127125" y="3927475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25.0 ml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143000" y="4572000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0.25 s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143000" y="5257800"/>
            <a:ext cx="172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0.00250 mol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105400" y="2514600"/>
            <a:ext cx="131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0.050 cm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165725" y="316547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0.0280 g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5165725" y="3927475"/>
            <a:ext cx="126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50.00 ml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5181600" y="4572000"/>
            <a:ext cx="98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1000 s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181600" y="5257800"/>
            <a:ext cx="141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1000. mol</a:t>
            </a:r>
          </a:p>
        </p:txBody>
      </p:sp>
    </p:spTree>
    <p:extLst>
      <p:ext uri="{BB962C8B-B14F-4D97-AF65-F5344CB8AC3E}">
        <p14:creationId xmlns:p14="http://schemas.microsoft.com/office/powerpoint/2010/main" val="19344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/>
      <p:bldP spid="6" grpId="0" build="p" autoUpdateAnimBg="0"/>
      <p:bldP spid="7" grpId="0" autoUpdateAnimBg="0"/>
      <p:bldP spid="8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autoUpdateAnimBg="0"/>
      <p:bldP spid="18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124200" y="2514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124200" y="312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242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124200" y="4572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124200" y="5257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7162800" y="2514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7162800" y="312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71628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7162800" y="4572000"/>
            <a:ext cx="2872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</a:rPr>
              <a:t>-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7162800" y="5257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>
                <a:latin typeface="Times New Roman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143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/>
      <p:bldP spid="11" grpId="0" build="p" autoUpdateAnimBg="0"/>
      <p:bldP spid="12" grpId="0" build="p" autoUpdateAnimBg="0"/>
      <p:bldP spid="13" grpId="0" build="p" autoUpdateAnimBg="0"/>
      <p:bldP spid="19" grpId="0" build="p" autoUpdateAnimBg="0"/>
      <p:bldP spid="20" grpId="0" build="p" autoUpdateAnimBg="0"/>
      <p:bldP spid="21" grpId="0" build="p" autoUpdateAnimBg="0"/>
      <p:bldP spid="22" grpId="0" build="p" autoUpdateAnimBg="0"/>
      <p:bldP spid="23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85838"/>
          </a:xfrm>
        </p:spPr>
        <p:txBody>
          <a:bodyPr/>
          <a:lstStyle/>
          <a:p>
            <a:pPr eaLnBrk="1" hangingPunct="1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When both addition/subtraction and multiplication/division appear in the same problem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addition/subtraction the number of significant digits is limited by the value of greatest uncertainty.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multiplication/division, the number of significant digits is limited by the value with the fewest significant digits.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Since the rules are different for each type of operation, when they both occur in the same problem,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complete the first operation and establish the correct number of significant digits.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 proceed with the second and set the final answer according to the correct number of significant digits based on that operation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93768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2800" smtClean="0">
                <a:latin typeface="Trebuchet MS" pitchFamily="34" charset="0"/>
              </a:rPr>
              <a:t>(1.245 + 6.34 + 8.179)/7.5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Add</a:t>
            </a:r>
          </a:p>
          <a:p>
            <a:pPr eaLnBrk="1" hangingPunct="1">
              <a:buFontTx/>
              <a:buNone/>
            </a:pPr>
            <a:r>
              <a:rPr lang="en-US" dirty="0" smtClean="0"/>
              <a:t>		</a:t>
            </a:r>
            <a:r>
              <a:rPr lang="en-US" sz="4400" dirty="0" smtClean="0"/>
              <a:t>	 </a:t>
            </a:r>
            <a:r>
              <a:rPr lang="en-US" sz="2800" dirty="0" smtClean="0">
                <a:latin typeface="Trebuchet MS" pitchFamily="34" charset="0"/>
              </a:rPr>
              <a:t>1.245 + 6.34 + 8.179</a:t>
            </a:r>
            <a:r>
              <a:rPr lang="en-US" dirty="0" smtClean="0"/>
              <a:t> 	= 15.764</a:t>
            </a:r>
          </a:p>
          <a:p>
            <a:pPr eaLnBrk="1" hangingPunct="1"/>
            <a:r>
              <a:rPr lang="en-US" dirty="0"/>
              <a:t>	</a:t>
            </a:r>
            <a:r>
              <a:rPr lang="en-US" dirty="0" smtClean="0"/>
              <a:t>						= 15.76</a:t>
            </a:r>
          </a:p>
          <a:p>
            <a:pPr eaLnBrk="1" hangingPunct="1">
              <a:buFontTx/>
              <a:buNone/>
            </a:pPr>
            <a:r>
              <a:rPr lang="en-US" dirty="0" smtClean="0"/>
              <a:t>	</a:t>
            </a:r>
          </a:p>
          <a:p>
            <a:pPr eaLnBrk="1" hangingPunct="1">
              <a:buFontTx/>
              <a:buNone/>
            </a:pPr>
            <a:r>
              <a:rPr lang="en-US" dirty="0" smtClean="0"/>
              <a:t>Then divide by 7.5 = 15.76/7.5 = </a:t>
            </a:r>
            <a:r>
              <a:rPr lang="en-US" dirty="0" err="1" smtClean="0"/>
              <a:t>ans</a:t>
            </a:r>
            <a:r>
              <a:rPr lang="en-US" dirty="0" smtClean="0"/>
              <a:t> 2 sig.</a:t>
            </a:r>
          </a:p>
        </p:txBody>
      </p:sp>
    </p:spTree>
    <p:extLst>
      <p:ext uri="{BB962C8B-B14F-4D97-AF65-F5344CB8AC3E}">
        <p14:creationId xmlns:p14="http://schemas.microsoft.com/office/powerpoint/2010/main" val="116641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6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PresentationFormat>On-screen Show (4:3)</PresentationFormat>
  <Paragraphs>262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ANALYTICAL CHEMISTRY</vt:lpstr>
      <vt:lpstr>Course  aims:</vt:lpstr>
      <vt:lpstr>Course aims: ………..</vt:lpstr>
      <vt:lpstr> Course ILOs: </vt:lpstr>
      <vt:lpstr>Course ILOs:………</vt:lpstr>
      <vt:lpstr>Course ILOs:………</vt:lpstr>
      <vt:lpstr>Course Description</vt:lpstr>
      <vt:lpstr>Course Description………..</vt:lpstr>
      <vt:lpstr>Course Description………..</vt:lpstr>
      <vt:lpstr>Course Description………..</vt:lpstr>
      <vt:lpstr>Teaching Methods:</vt:lpstr>
      <vt:lpstr>Course Evaluation</vt:lpstr>
      <vt:lpstr>References:</vt:lpstr>
      <vt:lpstr>PowerPoint Presentation</vt:lpstr>
      <vt:lpstr>Significant Figures</vt:lpstr>
      <vt:lpstr>Significant Figures (digits)</vt:lpstr>
      <vt:lpstr>Taking the measurement</vt:lpstr>
      <vt:lpstr>PowerPoint Presentation</vt:lpstr>
      <vt:lpstr>PowerPoint Presentation</vt:lpstr>
      <vt:lpstr>PowerPoint Presentation</vt:lpstr>
      <vt:lpstr>Rules for determining the number of significant figures.</vt:lpstr>
      <vt:lpstr>PowerPoint Presentation</vt:lpstr>
      <vt:lpstr>PowerPoint Presentation</vt:lpstr>
      <vt:lpstr>Significant figures in numerical calculations</vt:lpstr>
      <vt:lpstr>PowerPoint Presentation</vt:lpstr>
      <vt:lpstr>PowerPoint Presentation</vt:lpstr>
      <vt:lpstr>PowerPoint Presentation</vt:lpstr>
      <vt:lpstr>Round off a number</vt:lpstr>
      <vt:lpstr>PowerPoint Presentation</vt:lpstr>
      <vt:lpstr>PowerPoint Presentation</vt:lpstr>
      <vt:lpstr>PowerPoint Presentation</vt:lpstr>
      <vt:lpstr>Multiplication and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Logarithm and antilogarithms </vt:lpstr>
      <vt:lpstr>PowerPoint Presentation</vt:lpstr>
      <vt:lpstr>PowerPoint Presentation</vt:lpstr>
      <vt:lpstr>PowerPoint Presentation</vt:lpstr>
      <vt:lpstr>Questions (for 10 minutes)</vt:lpstr>
      <vt:lpstr>answers</vt:lpstr>
      <vt:lpstr>PowerPoint Presentation</vt:lpstr>
      <vt:lpstr>PowerPoint Presentation</vt:lpstr>
      <vt:lpstr>Determining Significant Figures</vt:lpstr>
      <vt:lpstr>Answer</vt:lpstr>
      <vt:lpstr>When both addition/subtraction and multiplication/division appear in the same problem</vt:lpstr>
      <vt:lpstr>(1.245 + 6.34 + 8.179)/7.5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CHEMISTRY</dc:title>
  <dc:creator>User</dc:creator>
  <cp:lastModifiedBy>User</cp:lastModifiedBy>
  <cp:revision>1</cp:revision>
  <dcterms:created xsi:type="dcterms:W3CDTF">2021-05-05T18:10:30Z</dcterms:created>
  <dcterms:modified xsi:type="dcterms:W3CDTF">2021-05-05T18:11:22Z</dcterms:modified>
</cp:coreProperties>
</file>