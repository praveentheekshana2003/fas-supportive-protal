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4"/>
  </p:notesMasterIdLst>
  <p:sldIdLst>
    <p:sldId id="256" r:id="rId2"/>
    <p:sldId id="257" r:id="rId3"/>
    <p:sldId id="258" r:id="rId4"/>
    <p:sldId id="259" r:id="rId5"/>
    <p:sldId id="260" r:id="rId6"/>
    <p:sldId id="261" r:id="rId7"/>
    <p:sldId id="262" r:id="rId8"/>
    <p:sldId id="263" r:id="rId9"/>
    <p:sldId id="264" r:id="rId10"/>
    <p:sldId id="265" r:id="rId11"/>
    <p:sldId id="657" r:id="rId12"/>
    <p:sldId id="658" r:id="rId13"/>
    <p:sldId id="659" r:id="rId14"/>
    <p:sldId id="660" r:id="rId15"/>
    <p:sldId id="661" r:id="rId16"/>
    <p:sldId id="662" r:id="rId17"/>
    <p:sldId id="697" r:id="rId18"/>
    <p:sldId id="698" r:id="rId19"/>
    <p:sldId id="700" r:id="rId20"/>
    <p:sldId id="701" r:id="rId21"/>
    <p:sldId id="702" r:id="rId22"/>
    <p:sldId id="703" r:id="rId23"/>
    <p:sldId id="704" r:id="rId24"/>
    <p:sldId id="705" r:id="rId25"/>
    <p:sldId id="706" r:id="rId26"/>
    <p:sldId id="707" r:id="rId27"/>
    <p:sldId id="708" r:id="rId28"/>
    <p:sldId id="709" r:id="rId29"/>
    <p:sldId id="710" r:id="rId30"/>
    <p:sldId id="711" r:id="rId31"/>
    <p:sldId id="712" r:id="rId32"/>
    <p:sldId id="713" r:id="rId33"/>
    <p:sldId id="727" r:id="rId34"/>
    <p:sldId id="728" r:id="rId35"/>
    <p:sldId id="729" r:id="rId36"/>
    <p:sldId id="730" r:id="rId37"/>
    <p:sldId id="731" r:id="rId38"/>
    <p:sldId id="732" r:id="rId39"/>
    <p:sldId id="733" r:id="rId40"/>
    <p:sldId id="714" r:id="rId41"/>
    <p:sldId id="715" r:id="rId42"/>
    <p:sldId id="734" r:id="rId43"/>
    <p:sldId id="735" r:id="rId44"/>
    <p:sldId id="736" r:id="rId45"/>
    <p:sldId id="737" r:id="rId46"/>
    <p:sldId id="738" r:id="rId47"/>
    <p:sldId id="739" r:id="rId48"/>
    <p:sldId id="740" r:id="rId49"/>
    <p:sldId id="741" r:id="rId50"/>
    <p:sldId id="742" r:id="rId51"/>
    <p:sldId id="743" r:id="rId52"/>
    <p:sldId id="744" r:id="rId53"/>
    <p:sldId id="745" r:id="rId54"/>
    <p:sldId id="746" r:id="rId55"/>
    <p:sldId id="716" r:id="rId56"/>
    <p:sldId id="717" r:id="rId57"/>
    <p:sldId id="719" r:id="rId58"/>
    <p:sldId id="720" r:id="rId59"/>
    <p:sldId id="721" r:id="rId60"/>
    <p:sldId id="718" r:id="rId61"/>
    <p:sldId id="722" r:id="rId62"/>
    <p:sldId id="723" r:id="rId63"/>
    <p:sldId id="724" r:id="rId64"/>
    <p:sldId id="725" r:id="rId65"/>
    <p:sldId id="726" r:id="rId66"/>
    <p:sldId id="793" r:id="rId67"/>
    <p:sldId id="795" r:id="rId68"/>
    <p:sldId id="796" r:id="rId69"/>
    <p:sldId id="797" r:id="rId70"/>
    <p:sldId id="798" r:id="rId71"/>
    <p:sldId id="799" r:id="rId72"/>
    <p:sldId id="800" r:id="rId73"/>
    <p:sldId id="801" r:id="rId74"/>
    <p:sldId id="802" r:id="rId75"/>
    <p:sldId id="803" r:id="rId76"/>
    <p:sldId id="804" r:id="rId77"/>
    <p:sldId id="805" r:id="rId78"/>
    <p:sldId id="806" r:id="rId79"/>
    <p:sldId id="808" r:id="rId80"/>
    <p:sldId id="807" r:id="rId81"/>
    <p:sldId id="607" r:id="rId82"/>
    <p:sldId id="608" r:id="rId83"/>
    <p:sldId id="609" r:id="rId84"/>
    <p:sldId id="610" r:id="rId85"/>
    <p:sldId id="611" r:id="rId86"/>
    <p:sldId id="612" r:id="rId87"/>
    <p:sldId id="613" r:id="rId88"/>
    <p:sldId id="614" r:id="rId89"/>
    <p:sldId id="615" r:id="rId90"/>
    <p:sldId id="616" r:id="rId91"/>
    <p:sldId id="617" r:id="rId92"/>
    <p:sldId id="618" r:id="rId93"/>
    <p:sldId id="619" r:id="rId94"/>
    <p:sldId id="620" r:id="rId95"/>
    <p:sldId id="621" r:id="rId96"/>
    <p:sldId id="622" r:id="rId97"/>
    <p:sldId id="623" r:id="rId98"/>
    <p:sldId id="624" r:id="rId99"/>
    <p:sldId id="625" r:id="rId100"/>
    <p:sldId id="626" r:id="rId101"/>
    <p:sldId id="627" r:id="rId102"/>
    <p:sldId id="628" r:id="rId103"/>
    <p:sldId id="629" r:id="rId104"/>
    <p:sldId id="630" r:id="rId105"/>
    <p:sldId id="631" r:id="rId106"/>
    <p:sldId id="632" r:id="rId107"/>
    <p:sldId id="633" r:id="rId108"/>
    <p:sldId id="634" r:id="rId109"/>
    <p:sldId id="635" r:id="rId110"/>
    <p:sldId id="636" r:id="rId111"/>
    <p:sldId id="637" r:id="rId112"/>
    <p:sldId id="638" r:id="rId113"/>
    <p:sldId id="639" r:id="rId114"/>
    <p:sldId id="640" r:id="rId115"/>
    <p:sldId id="641" r:id="rId116"/>
    <p:sldId id="642" r:id="rId117"/>
    <p:sldId id="643" r:id="rId118"/>
    <p:sldId id="644" r:id="rId119"/>
    <p:sldId id="645" r:id="rId120"/>
    <p:sldId id="646" r:id="rId121"/>
    <p:sldId id="647" r:id="rId122"/>
    <p:sldId id="648" r:id="rId123"/>
    <p:sldId id="649" r:id="rId124"/>
    <p:sldId id="650" r:id="rId125"/>
    <p:sldId id="651" r:id="rId126"/>
    <p:sldId id="519" r:id="rId127"/>
    <p:sldId id="520" r:id="rId128"/>
    <p:sldId id="521" r:id="rId129"/>
    <p:sldId id="522" r:id="rId130"/>
    <p:sldId id="539" r:id="rId131"/>
    <p:sldId id="540" r:id="rId132"/>
    <p:sldId id="541" r:id="rId133"/>
    <p:sldId id="542" r:id="rId134"/>
    <p:sldId id="543" r:id="rId135"/>
    <p:sldId id="544" r:id="rId136"/>
    <p:sldId id="545" r:id="rId137"/>
    <p:sldId id="546" r:id="rId138"/>
    <p:sldId id="547" r:id="rId139"/>
    <p:sldId id="548" r:id="rId140"/>
    <p:sldId id="549" r:id="rId141"/>
    <p:sldId id="550" r:id="rId142"/>
    <p:sldId id="551" r:id="rId143"/>
    <p:sldId id="552" r:id="rId144"/>
    <p:sldId id="553" r:id="rId145"/>
    <p:sldId id="554" r:id="rId146"/>
    <p:sldId id="555" r:id="rId147"/>
    <p:sldId id="556" r:id="rId148"/>
    <p:sldId id="557" r:id="rId149"/>
    <p:sldId id="558" r:id="rId150"/>
    <p:sldId id="559" r:id="rId151"/>
    <p:sldId id="560" r:id="rId152"/>
    <p:sldId id="561" r:id="rId153"/>
    <p:sldId id="562" r:id="rId154"/>
    <p:sldId id="563" r:id="rId155"/>
    <p:sldId id="564" r:id="rId156"/>
    <p:sldId id="565" r:id="rId157"/>
    <p:sldId id="566" r:id="rId158"/>
    <p:sldId id="567" r:id="rId159"/>
    <p:sldId id="576" r:id="rId160"/>
    <p:sldId id="478" r:id="rId161"/>
    <p:sldId id="479" r:id="rId162"/>
    <p:sldId id="480" r:id="rId163"/>
    <p:sldId id="481" r:id="rId164"/>
    <p:sldId id="482" r:id="rId165"/>
    <p:sldId id="483" r:id="rId166"/>
    <p:sldId id="484" r:id="rId167"/>
    <p:sldId id="485" r:id="rId168"/>
    <p:sldId id="759" r:id="rId169"/>
    <p:sldId id="760" r:id="rId170"/>
    <p:sldId id="761" r:id="rId171"/>
    <p:sldId id="762" r:id="rId172"/>
    <p:sldId id="763" r:id="rId173"/>
    <p:sldId id="764" r:id="rId174"/>
    <p:sldId id="765" r:id="rId175"/>
    <p:sldId id="766" r:id="rId176"/>
    <p:sldId id="767" r:id="rId177"/>
    <p:sldId id="768" r:id="rId178"/>
    <p:sldId id="769" r:id="rId179"/>
    <p:sldId id="770" r:id="rId180"/>
    <p:sldId id="771" r:id="rId181"/>
    <p:sldId id="772" r:id="rId182"/>
    <p:sldId id="773" r:id="rId183"/>
    <p:sldId id="774" r:id="rId184"/>
    <p:sldId id="775" r:id="rId185"/>
    <p:sldId id="776" r:id="rId186"/>
    <p:sldId id="777" r:id="rId187"/>
    <p:sldId id="778" r:id="rId188"/>
    <p:sldId id="779" r:id="rId189"/>
    <p:sldId id="780" r:id="rId190"/>
    <p:sldId id="781" r:id="rId191"/>
    <p:sldId id="782" r:id="rId192"/>
    <p:sldId id="783" r:id="rId193"/>
    <p:sldId id="784" r:id="rId194"/>
    <p:sldId id="785" r:id="rId195"/>
    <p:sldId id="786" r:id="rId196"/>
    <p:sldId id="787" r:id="rId197"/>
    <p:sldId id="788" r:id="rId198"/>
    <p:sldId id="789" r:id="rId199"/>
    <p:sldId id="790" r:id="rId200"/>
    <p:sldId id="791" r:id="rId201"/>
    <p:sldId id="792" r:id="rId202"/>
    <p:sldId id="266" r:id="rId203"/>
    <p:sldId id="267" r:id="rId204"/>
    <p:sldId id="270" r:id="rId205"/>
    <p:sldId id="271" r:id="rId206"/>
    <p:sldId id="272" r:id="rId207"/>
    <p:sldId id="273" r:id="rId208"/>
    <p:sldId id="274" r:id="rId209"/>
    <p:sldId id="275" r:id="rId210"/>
    <p:sldId id="276" r:id="rId211"/>
    <p:sldId id="277" r:id="rId212"/>
    <p:sldId id="278" r:id="rId213"/>
    <p:sldId id="279" r:id="rId214"/>
    <p:sldId id="280" r:id="rId215"/>
    <p:sldId id="281" r:id="rId216"/>
    <p:sldId id="282" r:id="rId217"/>
    <p:sldId id="283" r:id="rId218"/>
    <p:sldId id="284" r:id="rId219"/>
    <p:sldId id="285" r:id="rId220"/>
    <p:sldId id="286" r:id="rId221"/>
    <p:sldId id="287" r:id="rId222"/>
    <p:sldId id="288" r:id="rId223"/>
    <p:sldId id="289" r:id="rId224"/>
    <p:sldId id="290" r:id="rId225"/>
    <p:sldId id="291" r:id="rId226"/>
    <p:sldId id="292" r:id="rId227"/>
    <p:sldId id="293" r:id="rId228"/>
    <p:sldId id="294" r:id="rId229"/>
    <p:sldId id="295" r:id="rId230"/>
    <p:sldId id="296" r:id="rId231"/>
    <p:sldId id="297" r:id="rId232"/>
    <p:sldId id="298" r:id="rId233"/>
    <p:sldId id="299" r:id="rId234"/>
    <p:sldId id="300" r:id="rId235"/>
    <p:sldId id="301" r:id="rId236"/>
    <p:sldId id="302" r:id="rId237"/>
    <p:sldId id="303" r:id="rId238"/>
    <p:sldId id="304" r:id="rId239"/>
    <p:sldId id="305" r:id="rId240"/>
    <p:sldId id="306" r:id="rId241"/>
    <p:sldId id="307" r:id="rId242"/>
    <p:sldId id="308" r:id="rId243"/>
    <p:sldId id="309" r:id="rId244"/>
    <p:sldId id="310" r:id="rId245"/>
    <p:sldId id="312" r:id="rId246"/>
    <p:sldId id="313" r:id="rId247"/>
    <p:sldId id="314" r:id="rId248"/>
    <p:sldId id="315" r:id="rId249"/>
    <p:sldId id="316" r:id="rId250"/>
    <p:sldId id="317" r:id="rId251"/>
    <p:sldId id="318" r:id="rId252"/>
    <p:sldId id="319" r:id="rId253"/>
    <p:sldId id="320" r:id="rId254"/>
    <p:sldId id="321" r:id="rId255"/>
    <p:sldId id="322" r:id="rId256"/>
    <p:sldId id="323" r:id="rId257"/>
    <p:sldId id="324" r:id="rId258"/>
    <p:sldId id="325" r:id="rId259"/>
    <p:sldId id="326" r:id="rId260"/>
    <p:sldId id="327" r:id="rId261"/>
    <p:sldId id="328" r:id="rId262"/>
    <p:sldId id="329" r:id="rId263"/>
    <p:sldId id="330" r:id="rId264"/>
    <p:sldId id="331" r:id="rId265"/>
    <p:sldId id="332" r:id="rId266"/>
    <p:sldId id="333" r:id="rId267"/>
    <p:sldId id="334" r:id="rId268"/>
    <p:sldId id="335" r:id="rId269"/>
    <p:sldId id="336" r:id="rId270"/>
    <p:sldId id="337" r:id="rId271"/>
    <p:sldId id="338" r:id="rId272"/>
    <p:sldId id="339" r:id="rId273"/>
    <p:sldId id="340" r:id="rId274"/>
    <p:sldId id="341" r:id="rId275"/>
    <p:sldId id="342" r:id="rId276"/>
    <p:sldId id="343" r:id="rId277"/>
    <p:sldId id="345" r:id="rId278"/>
    <p:sldId id="354" r:id="rId279"/>
    <p:sldId id="355" r:id="rId280"/>
    <p:sldId id="356" r:id="rId281"/>
    <p:sldId id="357" r:id="rId282"/>
    <p:sldId id="358" r:id="rId2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0" autoAdjust="0"/>
    <p:restoredTop sz="94622" autoAdjust="0"/>
  </p:normalViewPr>
  <p:slideViewPr>
    <p:cSldViewPr>
      <p:cViewPr varScale="1">
        <p:scale>
          <a:sx n="58" d="100"/>
          <a:sy n="58" d="100"/>
        </p:scale>
        <p:origin x="-720"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8624"/>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260" Type="http://schemas.openxmlformats.org/officeDocument/2006/relationships/slide" Target="slides/slide259.xml"/><Relationship Id="rId265" Type="http://schemas.openxmlformats.org/officeDocument/2006/relationships/slide" Target="slides/slide264.xml"/><Relationship Id="rId281" Type="http://schemas.openxmlformats.org/officeDocument/2006/relationships/slide" Target="slides/slide280.xml"/><Relationship Id="rId286"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slide" Target="slides/slide249.xml"/><Relationship Id="rId255" Type="http://schemas.openxmlformats.org/officeDocument/2006/relationships/slide" Target="slides/slide254.xml"/><Relationship Id="rId271" Type="http://schemas.openxmlformats.org/officeDocument/2006/relationships/slide" Target="slides/slide270.xml"/><Relationship Id="rId276" Type="http://schemas.openxmlformats.org/officeDocument/2006/relationships/slide" Target="slides/slide275.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261" Type="http://schemas.openxmlformats.org/officeDocument/2006/relationships/slide" Target="slides/slide260.xml"/><Relationship Id="rId266" Type="http://schemas.openxmlformats.org/officeDocument/2006/relationships/slide" Target="slides/slide265.xml"/><Relationship Id="rId287" Type="http://schemas.openxmlformats.org/officeDocument/2006/relationships/theme" Target="theme/theme1.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282" Type="http://schemas.openxmlformats.org/officeDocument/2006/relationships/slide" Target="slides/slide28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slide" Target="slides/slide250.xml"/><Relationship Id="rId256" Type="http://schemas.openxmlformats.org/officeDocument/2006/relationships/slide" Target="slides/slide255.xml"/><Relationship Id="rId277" Type="http://schemas.openxmlformats.org/officeDocument/2006/relationships/slide" Target="slides/slide276.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0.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0.wmf"/><Relationship Id="rId1" Type="http://schemas.openxmlformats.org/officeDocument/2006/relationships/image" Target="../media/image14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155.wmf"/><Relationship Id="rId1" Type="http://schemas.openxmlformats.org/officeDocument/2006/relationships/image" Target="../media/image15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5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57.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59.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6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65.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4.png"/></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5.png"/></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83.png"/><Relationship Id="rId1" Type="http://schemas.openxmlformats.org/officeDocument/2006/relationships/image" Target="../media/image182.png"/></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91.png"/></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97.png"/></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200.png"/><Relationship Id="rId1" Type="http://schemas.openxmlformats.org/officeDocument/2006/relationships/image" Target="../media/image199.png"/><Relationship Id="rId4" Type="http://schemas.openxmlformats.org/officeDocument/2006/relationships/image" Target="../media/image202.png"/></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203.png"/></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png"/><Relationship Id="rId1" Type="http://schemas.openxmlformats.org/officeDocument/2006/relationships/image" Target="../media/image211.png"/><Relationship Id="rId4" Type="http://schemas.openxmlformats.org/officeDocument/2006/relationships/image" Target="../media/image214.png"/></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EFD987D-BD18-49E0-9BA3-29AE7444C81A}" type="datetimeFigureOut">
              <a:rPr lang="en-US" smtClean="0"/>
              <a:pPr/>
              <a:t>1/21/2025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46ADAB-D8BF-4D78-9779-BF6D5DC02127}" type="slidenum">
              <a:rPr lang="en-US" smtClean="0"/>
              <a:pPr/>
              <a:t>‹#›</a:t>
            </a:fld>
            <a:endParaRPr lang="en-US"/>
          </a:p>
        </p:txBody>
      </p:sp>
    </p:spTree>
    <p:extLst>
      <p:ext uri="{BB962C8B-B14F-4D97-AF65-F5344CB8AC3E}">
        <p14:creationId xmlns:p14="http://schemas.microsoft.com/office/powerpoint/2010/main" val="4057892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2C73EA-4ECA-4B88-838F-A01B20868C04}" type="slidenum">
              <a:rPr lang="en-US"/>
              <a:pPr/>
              <a:t>12</a:t>
            </a:fld>
            <a:endParaRPr lang="en-US"/>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845844-4F09-4F95-9B75-D93D89261E89}" type="slidenum">
              <a:rPr lang="en-US"/>
              <a:pPr/>
              <a:t>13</a:t>
            </a:fld>
            <a:endParaRPr lang="en-US"/>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61B271-85BF-4118-8A6E-79B6BE62C502}" type="slidenum">
              <a:rPr lang="en-US"/>
              <a:pPr/>
              <a:t>14</a:t>
            </a:fld>
            <a:endParaRPr lang="en-US"/>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59873E-81B6-43F5-B235-61E77FFB0710}" type="slidenum">
              <a:rPr lang="en-US"/>
              <a:pPr/>
              <a:t>15</a:t>
            </a:fld>
            <a:endParaRPr lang="en-US"/>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59873E-81B6-43F5-B235-61E77FFB0710}" type="slidenum">
              <a:rPr lang="en-US"/>
              <a:pPr/>
              <a:t>16</a:t>
            </a:fld>
            <a:endParaRPr lang="en-US"/>
          </a:p>
        </p:txBody>
      </p:sp>
      <p:sp>
        <p:nvSpPr>
          <p:cNvPr id="17410" name="Rectangle 2"/>
          <p:cNvSpPr>
            <a:spLocks noGrp="1" noRot="1" noChangeAspect="1" noChangeArrowheads="1" noTextEdit="1"/>
          </p:cNvSpPr>
          <p:nvPr>
            <p:ph type="sldImg"/>
          </p:nvPr>
        </p:nvSpPr>
        <p:spPr>
          <a:ln/>
        </p:spPr>
      </p:sp>
      <p:sp>
        <p:nvSpPr>
          <p:cNvPr id="174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DCE1C8-29DB-4B7A-937F-C7E860441051}" type="slidenum">
              <a:rPr lang="en-US"/>
              <a:pPr/>
              <a:t>17</a:t>
            </a:fld>
            <a:endParaRPr lang="en-US"/>
          </a:p>
        </p:txBody>
      </p:sp>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293BF2-9832-481D-BB16-82F878CC44FE}" type="slidenum">
              <a:rPr lang="en-US"/>
              <a:pPr/>
              <a:t>18</a:t>
            </a:fld>
            <a:endParaRPr lang="en-US"/>
          </a:p>
        </p:txBody>
      </p:sp>
      <p:sp>
        <p:nvSpPr>
          <p:cNvPr id="21506" name="Rectangle 2"/>
          <p:cNvSpPr>
            <a:spLocks noGrp="1" noRot="1" noChangeAspect="1" noChangeArrowheads="1" noTextEdit="1"/>
          </p:cNvSpPr>
          <p:nvPr>
            <p:ph type="sldImg"/>
          </p:nvPr>
        </p:nvSpPr>
        <p:spPr>
          <a:ln/>
        </p:spPr>
      </p:sp>
      <p:sp>
        <p:nvSpPr>
          <p:cNvPr id="21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0862B0-F0D8-4F64-BF3C-A37EE42342EF}" type="slidenum">
              <a:rPr lang="en-US"/>
              <a:pPr/>
              <a:t>19</a:t>
            </a:fld>
            <a:endParaRPr 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5A5445-E4CB-4905-BCE3-780C3BD3452F}" type="slidenum">
              <a:rPr lang="en-US"/>
              <a:pPr/>
              <a:t>20</a:t>
            </a:fld>
            <a:endParaRPr lang="en-US"/>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BBA614-DCCB-44FE-A6C4-35BDD7B46CF9}" type="slidenum">
              <a:rPr lang="en-US"/>
              <a:pPr/>
              <a:t>21</a:t>
            </a:fld>
            <a:endParaRPr lang="en-US"/>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DE71F2-ACBB-4F0B-A2E8-081DCD886060}" type="slidenum">
              <a:rPr lang="en-US"/>
              <a:pPr/>
              <a:t>22</a:t>
            </a:fld>
            <a:endParaRPr lang="en-US"/>
          </a:p>
        </p:txBody>
      </p:sp>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AC3D38-AF9C-4FB0-8044-AFB6A494E63E}" type="slidenum">
              <a:rPr lang="en-US"/>
              <a:pPr/>
              <a:t>23</a:t>
            </a:fld>
            <a:endParaRPr lang="en-US"/>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FCA9F6-22FA-40A4-A5BE-CEC605F92CC0}" type="slidenum">
              <a:rPr lang="en-US"/>
              <a:pPr/>
              <a:t>24</a:t>
            </a:fld>
            <a:endParaRPr lang="en-US"/>
          </a:p>
        </p:txBody>
      </p:sp>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A2C30D-0AD3-4867-900A-C3FE3953ECF0}" type="slidenum">
              <a:rPr lang="en-US"/>
              <a:pPr/>
              <a:t>25</a:t>
            </a:fld>
            <a:endParaRPr lang="en-US"/>
          </a:p>
        </p:txBody>
      </p:sp>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B09F3E-F166-4B12-BA45-81A45AC90BAC}" type="slidenum">
              <a:rPr lang="en-US"/>
              <a:pPr/>
              <a:t>26</a:t>
            </a:fld>
            <a:endParaRPr lang="en-US"/>
          </a:p>
        </p:txBody>
      </p:sp>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BE506D-A55C-4DA3-B30E-583803D9DFF1}" type="slidenum">
              <a:rPr lang="en-US"/>
              <a:pPr/>
              <a:t>27</a:t>
            </a:fld>
            <a:endParaRPr lang="en-US"/>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E0A22B-2AAB-414A-AB3B-8248FDBA0AFC}" type="slidenum">
              <a:rPr lang="en-US"/>
              <a:pPr/>
              <a:t>28</a:t>
            </a:fld>
            <a:endParaRPr lang="en-US"/>
          </a:p>
        </p:txBody>
      </p:sp>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E85C49-5CEE-4A42-9F0B-B0CD20959F36}" type="slidenum">
              <a:rPr lang="en-US"/>
              <a:pPr/>
              <a:t>29</a:t>
            </a:fld>
            <a:endParaRPr 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546DE3-E1A4-481A-B707-2E05F4799E43}" type="slidenum">
              <a:rPr lang="en-US"/>
              <a:pPr/>
              <a:t>30</a:t>
            </a:fld>
            <a:endParaRPr lang="en-US"/>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3AFE7D-265C-49C7-8073-FCAE1554A842}" type="slidenum">
              <a:rPr lang="en-US"/>
              <a:pPr/>
              <a:t>31</a:t>
            </a:fld>
            <a:endParaRPr lang="en-US"/>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BF9582-9C11-4B29-B4E4-CF880ADA1AC2}" type="slidenum">
              <a:rPr lang="en-US"/>
              <a:pPr/>
              <a:t>32</a:t>
            </a:fld>
            <a:endParaRPr 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C0BC7C-D247-4FAB-9EF5-7C85A035C3C4}" type="slidenum">
              <a:rPr lang="en-US"/>
              <a:pPr/>
              <a:t>33</a:t>
            </a:fld>
            <a:endParaRPr lang="en-US"/>
          </a:p>
        </p:txBody>
      </p:sp>
      <p:sp>
        <p:nvSpPr>
          <p:cNvPr id="15362" name="Rectangle 2"/>
          <p:cNvSpPr>
            <a:spLocks noGrp="1" noRot="1" noChangeAspect="1" noChangeArrowheads="1" noTextEdit="1"/>
          </p:cNvSpPr>
          <p:nvPr>
            <p:ph type="sldImg"/>
          </p:nvPr>
        </p:nvSpPr>
        <p:spPr>
          <a:ln/>
        </p:spPr>
      </p:sp>
      <p:sp>
        <p:nvSpPr>
          <p:cNvPr id="153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0C2AD4-BB0E-49B4-9BF8-2DB576516DF1}" type="slidenum">
              <a:rPr lang="en-US"/>
              <a:pPr/>
              <a:t>34</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2C8B30-FDCD-44A2-93AA-64A670A2C8F5}" type="slidenum">
              <a:rPr lang="en-US"/>
              <a:pPr/>
              <a:t>35</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D70589-C128-4B7B-89F6-251B62BB6BC0}" type="slidenum">
              <a:rPr lang="en-US"/>
              <a:pPr/>
              <a:t>36</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865005-CB4A-4313-AE3D-8FF709DDFFA5}" type="slidenum">
              <a:rPr lang="en-US"/>
              <a:pPr/>
              <a:t>37</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902A09-505C-4D78-8AFA-B026862038E3}" type="slidenum">
              <a:rPr lang="en-US"/>
              <a:pPr/>
              <a:t>38</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930A689-451F-469D-9415-602631A20151}" type="slidenum">
              <a:rPr lang="en-US"/>
              <a:pPr/>
              <a:t>39</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65DE7EF-9F7C-4723-88F6-E577236D137A}" type="slidenum">
              <a:rPr lang="en-US"/>
              <a:pPr/>
              <a:t>40</a:t>
            </a:fld>
            <a:endParaRPr lang="en-US"/>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CC59355-7556-4397-A220-4643649E0CF2}" type="slidenum">
              <a:rPr lang="en-US"/>
              <a:pPr/>
              <a:t>41</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Rot="1" noChangeAspect="1" noChangeArrowheads="1" noTextEdit="1"/>
          </p:cNvSpPr>
          <p:nvPr>
            <p:ph type="sldImg"/>
          </p:nvPr>
        </p:nvSpPr>
        <p:spPr>
          <a:xfrm>
            <a:off x="1150938" y="692150"/>
            <a:ext cx="4556125" cy="3416300"/>
          </a:xfrm>
          <a:ln/>
        </p:spPr>
      </p:sp>
      <p:sp>
        <p:nvSpPr>
          <p:cNvPr id="78851" name="Rectangle 3"/>
          <p:cNvSpPr>
            <a:spLocks noGrp="1" noChangeArrowheads="1"/>
          </p:cNvSpPr>
          <p:nvPr>
            <p:ph type="body" idx="1"/>
          </p:nvPr>
        </p:nvSpPr>
        <p:spPr>
          <a:noFill/>
          <a:ln w="9525"/>
        </p:spPr>
        <p:txBody>
          <a:bodyPr/>
          <a:lstStyle/>
          <a:p>
            <a:endParaRPr lang="uk-UA" smtClean="0">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966B53-E37B-4855-9C21-ADAB72900697}" type="slidenum">
              <a:rPr lang="en-US"/>
              <a:pPr/>
              <a:t>55</a:t>
            </a:fld>
            <a:endParaRPr 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004A6C-D80F-4C86-A931-59F6AFF624A6}" type="slidenum">
              <a:rPr lang="en-US"/>
              <a:pPr/>
              <a:t>56</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00CD54C-8235-46E7-9856-450FD9DBFE57}" type="slidenum">
              <a:rPr lang="en-US"/>
              <a:pPr/>
              <a:t>57</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C45E1D-A881-457E-97CF-2E892875B5F8}" type="slidenum">
              <a:rPr lang="en-US"/>
              <a:pPr/>
              <a:t>58</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5DE0A74-B2FF-48C5-88A7-A1059C47A7D0}" type="slidenum">
              <a:rPr lang="en-US"/>
              <a:pPr/>
              <a:t>59</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F46ADAB-D8BF-4D78-9779-BF6D5DC02127}" type="slidenum">
              <a:rPr lang="en-US" smtClean="0"/>
              <a:pPr/>
              <a:t>63</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F46ADAB-D8BF-4D78-9779-BF6D5DC02127}" type="slidenum">
              <a:rPr lang="en-US" smtClean="0"/>
              <a:pPr/>
              <a:t>66</a:t>
            </a:fld>
            <a:endParaRPr lang="en-US"/>
          </a:p>
        </p:txBody>
      </p:sp>
    </p:spTree>
    <p:extLst>
      <p:ext uri="{BB962C8B-B14F-4D97-AF65-F5344CB8AC3E}">
        <p14:creationId xmlns:p14="http://schemas.microsoft.com/office/powerpoint/2010/main" val="5442931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F3F1DE-38EC-472F-90D9-1ED275599087}" type="slidenum">
              <a:rPr lang="en-US"/>
              <a:pPr/>
              <a:t>81</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r>
              <a:rPr lang="en-US"/>
              <a:t>a) </a:t>
            </a:r>
            <a:r>
              <a:rPr lang="en-US" sz="1600">
                <a:solidFill>
                  <a:srgbClr val="009900"/>
                </a:solidFill>
              </a:rPr>
              <a:t>hexaaquacobalt(III) bromide</a:t>
            </a:r>
            <a:r>
              <a:rPr lang="en-US"/>
              <a:t> </a:t>
            </a:r>
          </a:p>
          <a:p>
            <a:r>
              <a:rPr lang="en-US"/>
              <a:t>b) </a:t>
            </a:r>
            <a:r>
              <a:rPr lang="en-US" sz="1600">
                <a:solidFill>
                  <a:srgbClr val="009900"/>
                </a:solidFill>
              </a:rPr>
              <a:t>sodiumtetrachloro-platinate(II)</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D9C76B-DEA7-492B-B879-40BFBF7EABC3}" type="slidenum">
              <a:rPr lang="en-US"/>
              <a:pPr/>
              <a:t>82</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884C6C-8C62-4E5C-9793-5A7C04C35A88}" type="slidenum">
              <a:rPr lang="en-US"/>
              <a:pPr/>
              <a:t>83</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EE565F-E5C0-45C0-AC7B-F910480851F3}" type="slidenum">
              <a:rPr lang="en-US"/>
              <a:pPr/>
              <a:t>84</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814CA9-44CE-4C83-8D5C-989FCFF8928E}" type="slidenum">
              <a:rPr lang="en-US"/>
              <a:pPr/>
              <a:t>85</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DA5DBC-44E1-4718-BC09-1AF2E7DFA389}" type="slidenum">
              <a:rPr lang="en-US"/>
              <a:pPr/>
              <a:t>86</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0C927C-B26A-45B8-921F-127E3513908A}" type="slidenum">
              <a:rPr lang="en-US"/>
              <a:pPr/>
              <a:t>87</a:t>
            </a:fld>
            <a:endParaRPr lang="en-US"/>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9F7C40-98C3-426B-8116-FDEF8FDB5C29}" type="slidenum">
              <a:rPr lang="en-US"/>
              <a:pPr/>
              <a:t>88</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61444F-9873-4D77-89DB-83C8F5386A9F}" type="slidenum">
              <a:rPr lang="en-US"/>
              <a:pPr/>
              <a:t>89</a:t>
            </a:fld>
            <a:endParaRPr lang="en-US"/>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5B9255-9AAC-411B-BE2E-AA64BEED73DC}" type="slidenum">
              <a:rPr lang="en-US"/>
              <a:pPr/>
              <a:t>90</a:t>
            </a:fld>
            <a:endParaRPr lang="en-US"/>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37BD58-AE66-4062-865C-1F88DA91426D}" type="slidenum">
              <a:rPr lang="en-US"/>
              <a:pPr/>
              <a:t>91</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1AD554-4755-47A2-908A-6D5E14411289}" type="slidenum">
              <a:rPr lang="en-US"/>
              <a:pPr/>
              <a:t>92</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2BF0CF-FFA5-4991-AB5B-B67F2D26185D}" type="slidenum">
              <a:rPr lang="en-US"/>
              <a:pPr/>
              <a:t>93</a:t>
            </a:fld>
            <a:endParaRPr lang="en-US"/>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pPr marL="228600" indent="-228600"/>
            <a:r>
              <a:rPr lang="en-US"/>
              <a:t>See Figure 21.17.  </a:t>
            </a:r>
            <a:r>
              <a:rPr lang="en-US" sz="1400"/>
              <a:t>[Co(en)</a:t>
            </a:r>
            <a:r>
              <a:rPr lang="en-US" sz="1400" baseline="-25000"/>
              <a:t>2</a:t>
            </a:r>
            <a:r>
              <a:rPr lang="en-US" sz="1400"/>
              <a:t>Cl</a:t>
            </a:r>
            <a:r>
              <a:rPr lang="en-US" sz="1400" baseline="-25000"/>
              <a:t>2</a:t>
            </a:r>
            <a:r>
              <a:rPr lang="en-US" sz="1400"/>
              <a:t>]Cl exhibits geometrical isomerism (</a:t>
            </a:r>
            <a:r>
              <a:rPr lang="en-US" sz="1400" i="1"/>
              <a:t>trans</a:t>
            </a:r>
            <a:r>
              <a:rPr lang="en-US" sz="1400"/>
              <a:t> and </a:t>
            </a:r>
            <a:r>
              <a:rPr lang="en-US" sz="1400" i="1"/>
              <a:t>cis</a:t>
            </a:r>
            <a:r>
              <a:rPr lang="en-US" sz="1400"/>
              <a:t> forms).  The </a:t>
            </a:r>
            <a:r>
              <a:rPr lang="en-US" sz="1400" i="1"/>
              <a:t>trans</a:t>
            </a:r>
            <a:r>
              <a:rPr lang="en-US" sz="1400"/>
              <a:t> form does not exhibit optical isomerism but the </a:t>
            </a:r>
            <a:r>
              <a:rPr lang="en-US" sz="1400" i="1"/>
              <a:t>cis</a:t>
            </a:r>
            <a:r>
              <a:rPr lang="en-US" sz="1400"/>
              <a:t> form does exhibit optical isomerism.</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1C1C925-7F52-4B2F-A7B1-941CA7D9A0F4}" type="slidenum">
              <a:rPr lang="en-US"/>
              <a:pPr/>
              <a:t>94</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2D6645-A918-4590-BF0C-C5DC930418FE}" type="slidenum">
              <a:rPr lang="en-US"/>
              <a:pPr/>
              <a:t>95</a:t>
            </a:fld>
            <a:endParaRPr 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4AC0AE-809A-4A67-A2F3-20C476AC4D57}" type="slidenum">
              <a:rPr lang="en-US"/>
              <a:pPr/>
              <a:t>96</a:t>
            </a:fld>
            <a:endParaRPr 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1428CD-0CB0-4E6C-912C-8B7C588120CA}" type="slidenum">
              <a:rPr lang="en-US"/>
              <a:pPr/>
              <a:t>97</a:t>
            </a:fld>
            <a:endParaRPr 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DB7EC8-1562-43CC-83CD-7DCA53BFC326}" type="slidenum">
              <a:rPr lang="en-US"/>
              <a:pPr/>
              <a:t>98</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8B315A-E854-44A4-9385-D9D6F9514434}" type="slidenum">
              <a:rPr lang="en-US"/>
              <a:pPr/>
              <a:t>99</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FE78C6-E999-485D-B585-9F059476AD60}" type="slidenum">
              <a:rPr lang="en-US"/>
              <a:pPr/>
              <a:t>100</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C8407C-E7E5-499D-8244-FA2F9F8182F0}" type="slidenum">
              <a:rPr lang="en-US"/>
              <a:pPr/>
              <a:t>101</a:t>
            </a:fld>
            <a:endParaRPr lang="en-US"/>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8461FDF-D106-4B55-A941-D9FA408B595F}" type="slidenum">
              <a:rPr lang="en-US"/>
              <a:pPr/>
              <a:t>102</a:t>
            </a:fld>
            <a:endParaRPr lang="en-US"/>
          </a:p>
        </p:txBody>
      </p:sp>
      <p:sp>
        <p:nvSpPr>
          <p:cNvPr id="111618" name="Rectangle 2"/>
          <p:cNvSpPr>
            <a:spLocks noGrp="1" noRot="1" noChangeAspect="1" noChangeArrowheads="1" noTextEdit="1"/>
          </p:cNvSpPr>
          <p:nvPr>
            <p:ph type="sldImg"/>
          </p:nvPr>
        </p:nvSpPr>
        <p:spPr>
          <a:ln/>
        </p:spPr>
      </p:sp>
      <p:sp>
        <p:nvSpPr>
          <p:cNvPr id="1116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379491-591E-482C-8A13-7278265FDB87}" type="slidenum">
              <a:rPr lang="en-US"/>
              <a:pPr/>
              <a:t>103</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A0D64B-CFEA-4733-8C64-8C676F980BD6}" type="slidenum">
              <a:rPr lang="en-US"/>
              <a:pPr/>
              <a:t>104</a:t>
            </a:fld>
            <a:endParaRPr lang="en-US"/>
          </a:p>
        </p:txBody>
      </p:sp>
      <p:sp>
        <p:nvSpPr>
          <p:cNvPr id="115714" name="Rectangle 2"/>
          <p:cNvSpPr>
            <a:spLocks noGrp="1" noRot="1" noChangeAspect="1" noChangeArrowheads="1" noTextEdit="1"/>
          </p:cNvSpPr>
          <p:nvPr>
            <p:ph type="sldImg"/>
          </p:nvPr>
        </p:nvSpPr>
        <p:spPr>
          <a:ln/>
        </p:spPr>
      </p:sp>
      <p:sp>
        <p:nvSpPr>
          <p:cNvPr id="1157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A94A1C-239E-4197-ABB2-C35B450D6846}" type="slidenum">
              <a:rPr lang="en-US"/>
              <a:pPr/>
              <a:t>105</a:t>
            </a:fld>
            <a:endParaRPr lang="en-US"/>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711A9C0-F4DA-4891-B328-74EFA4B50A56}" type="slidenum">
              <a:rPr lang="en-US"/>
              <a:pPr/>
              <a:t>106</a:t>
            </a:fld>
            <a:endParaRPr lang="en-US"/>
          </a:p>
        </p:txBody>
      </p:sp>
      <p:sp>
        <p:nvSpPr>
          <p:cNvPr id="119810" name="Rectangle 2"/>
          <p:cNvSpPr>
            <a:spLocks noGrp="1" noRot="1" noChangeAspect="1" noChangeArrowheads="1" noTextEdit="1"/>
          </p:cNvSpPr>
          <p:nvPr>
            <p:ph type="sldImg"/>
          </p:nvPr>
        </p:nvSpPr>
        <p:spPr>
          <a:ln/>
        </p:spPr>
      </p:sp>
      <p:sp>
        <p:nvSpPr>
          <p:cNvPr id="1198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114B8F-9CDB-489A-95FE-E6A77D2469A5}" type="slidenum">
              <a:rPr lang="en-US"/>
              <a:pPr/>
              <a:t>107</a:t>
            </a:fld>
            <a:endParaRPr lang="en-US"/>
          </a:p>
        </p:txBody>
      </p:sp>
      <p:sp>
        <p:nvSpPr>
          <p:cNvPr id="121858" name="Rectangle 2"/>
          <p:cNvSpPr>
            <a:spLocks noGrp="1" noRot="1" noChangeAspect="1" noChangeArrowheads="1" noTextEdit="1"/>
          </p:cNvSpPr>
          <p:nvPr>
            <p:ph type="sldImg"/>
          </p:nvPr>
        </p:nvSpPr>
        <p:spPr>
          <a:ln/>
        </p:spPr>
      </p:sp>
      <p:sp>
        <p:nvSpPr>
          <p:cNvPr id="1218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25403E-59AC-4D7F-A12C-2A9FF000EFFF}" type="slidenum">
              <a:rPr lang="en-US"/>
              <a:pPr/>
              <a:t>108</a:t>
            </a:fld>
            <a:endParaRPr lang="en-US"/>
          </a:p>
        </p:txBody>
      </p:sp>
      <p:sp>
        <p:nvSpPr>
          <p:cNvPr id="123906" name="Rectangle 2"/>
          <p:cNvSpPr>
            <a:spLocks noGrp="1" noRot="1" noChangeAspect="1" noChangeArrowheads="1" noTextEdit="1"/>
          </p:cNvSpPr>
          <p:nvPr>
            <p:ph type="sldImg"/>
          </p:nvPr>
        </p:nvSpPr>
        <p:spPr>
          <a:ln/>
        </p:spPr>
      </p:sp>
      <p:sp>
        <p:nvSpPr>
          <p:cNvPr id="1239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47DCC5-70DC-4FB5-97FE-AECECA5A3301}" type="slidenum">
              <a:rPr lang="en-US"/>
              <a:pPr/>
              <a:t>109</a:t>
            </a:fld>
            <a:endParaRPr lang="en-US"/>
          </a:p>
        </p:txBody>
      </p:sp>
      <p:sp>
        <p:nvSpPr>
          <p:cNvPr id="125954" name="Rectangle 2"/>
          <p:cNvSpPr>
            <a:spLocks noGrp="1" noRot="1" noChangeAspect="1" noChangeArrowheads="1" noTextEdit="1"/>
          </p:cNvSpPr>
          <p:nvPr>
            <p:ph type="sldImg"/>
          </p:nvPr>
        </p:nvSpPr>
        <p:spPr>
          <a:ln/>
        </p:spPr>
      </p:sp>
      <p:sp>
        <p:nvSpPr>
          <p:cNvPr id="1259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13F686E-DE21-492D-8132-D5AB01429A90}" type="slidenum">
              <a:rPr lang="en-US"/>
              <a:pPr/>
              <a:t>110</a:t>
            </a:fld>
            <a:endParaRPr lang="en-US"/>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pPr marL="228600" indent="-228600"/>
            <a:r>
              <a:rPr lang="en-US" dirty="0"/>
              <a:t>There are 4 colorless octahedral compounds. These are either d</a:t>
            </a:r>
            <a:r>
              <a:rPr lang="en-US" baseline="30000" dirty="0"/>
              <a:t>10</a:t>
            </a:r>
            <a:r>
              <a:rPr lang="en-US" dirty="0"/>
              <a:t> ions (Zn</a:t>
            </a:r>
            <a:r>
              <a:rPr lang="en-US" baseline="30000" dirty="0"/>
              <a:t>2+</a:t>
            </a:r>
            <a:r>
              <a:rPr lang="en-US" dirty="0"/>
              <a:t>, Cu</a:t>
            </a:r>
            <a:r>
              <a:rPr lang="en-US" baseline="30000" dirty="0"/>
              <a:t>+</a:t>
            </a:r>
            <a:r>
              <a:rPr lang="en-US" dirty="0"/>
              <a:t>, Ag</a:t>
            </a:r>
            <a:r>
              <a:rPr lang="en-US" baseline="30000" dirty="0"/>
              <a:t>+</a:t>
            </a:r>
            <a:r>
              <a:rPr lang="en-US" dirty="0"/>
              <a:t>), or the d</a:t>
            </a:r>
            <a:r>
              <a:rPr lang="en-US" baseline="30000" dirty="0"/>
              <a:t>0</a:t>
            </a:r>
            <a:r>
              <a:rPr lang="en-US" dirty="0"/>
              <a:t> ion (Ti</a:t>
            </a:r>
            <a:r>
              <a:rPr lang="en-US" baseline="30000" dirty="0"/>
              <a:t>4+</a:t>
            </a:r>
            <a:r>
              <a:rPr lang="en-US" dirty="0"/>
              <a:t>). If electrons cannot move from one energy level to the next in the energy level diagram, there is no color absorbed.</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4A6B5A-FEB6-40B1-B289-ECB991B4815D}" type="slidenum">
              <a:rPr lang="en-US"/>
              <a:pPr/>
              <a:t>111</a:t>
            </a:fld>
            <a:endParaRPr lang="en-US"/>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A085E9-79AB-4353-8645-FF8D2087E1FB}" type="slidenum">
              <a:rPr lang="en-US"/>
              <a:pPr/>
              <a:t>112</a:t>
            </a:fld>
            <a:endParaRPr lang="en-US"/>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73B02D-A90C-44CD-855E-7DEAB02DCE33}" type="slidenum">
              <a:rPr lang="en-US"/>
              <a:pPr/>
              <a:t>113</a:t>
            </a:fld>
            <a:endParaRPr lang="en-US"/>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16F82D-7221-48EE-82D0-EAC67EDA197B}" type="slidenum">
              <a:rPr lang="en-US"/>
              <a:pPr/>
              <a:t>114</a:t>
            </a:fld>
            <a:endParaRPr lang="en-US"/>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pPr marL="228600" indent="-228600"/>
            <a:r>
              <a:rPr lang="en-US"/>
              <a:t>In all cases these answers explain the crystal field model. The molecular orbital model is a more powerful model and explains things differently. However, it is more complicated. This is another good time to discuss the role of models in science.</a:t>
            </a:r>
          </a:p>
          <a:p>
            <a:pPr marL="228600" indent="-228600"/>
            <a:r>
              <a:rPr lang="en-US"/>
              <a:t>a)  Lobes pointing between ligands are lower in energy because we assume ligands are negative point charges. Thus, orbitals (with electron probability) pointing at negative point charges will be relatively high in energy.</a:t>
            </a:r>
          </a:p>
          <a:p>
            <a:pPr marL="228600" indent="-228600"/>
            <a:r>
              <a:rPr lang="en-US"/>
              <a:t>b)  The electrons are from the metal.</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670E4C-CC1C-4648-B55D-95A19C3B2E43}" type="slidenum">
              <a:rPr lang="en-US"/>
              <a:pPr/>
              <a:t>115</a:t>
            </a:fld>
            <a:endParaRPr lang="en-US"/>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pPr marL="228600" indent="-228600"/>
            <a:r>
              <a:rPr lang="en-US"/>
              <a:t>c)  Since some orbitals are higher in energy than others (see "a"), electrons may actually be lower in energy by pairing up than by jumping up in energy to be in a separate orbital.</a:t>
            </a:r>
          </a:p>
          <a:p>
            <a:pPr marL="228600" indent="-228600"/>
            <a:r>
              <a:rPr lang="en-US"/>
              <a:t>d)  In an octahedral geometry there are some orbitals pointing directly at ligands. Thus, there is a greater energy difference between these (larger splitting). </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DE1275-6A9C-48A2-96AD-D1879BE1C30E}" type="slidenum">
              <a:rPr lang="en-US"/>
              <a:pPr/>
              <a:t>116</a:t>
            </a:fld>
            <a:endParaRPr lang="en-US"/>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pPr marL="228600" indent="-228600"/>
            <a:r>
              <a:rPr lang="en-US"/>
              <a:t>a)  A </a:t>
            </a:r>
            <a:r>
              <a:rPr lang="en-US" i="1"/>
              <a:t>d </a:t>
            </a:r>
            <a:r>
              <a:rPr lang="en-US" baseline="30000"/>
              <a:t>8</a:t>
            </a:r>
            <a:r>
              <a:rPr lang="en-US"/>
              <a:t> ion will look the same as strong field or weak field in an octahedral complex. In each case there are two unpaired electrons.</a:t>
            </a:r>
          </a:p>
          <a:p>
            <a:pPr marL="228600" indent="-228600"/>
            <a:r>
              <a:rPr lang="en-US"/>
              <a:t>b)  This is a </a:t>
            </a:r>
            <a:r>
              <a:rPr lang="en-US" i="1"/>
              <a:t>d </a:t>
            </a:r>
            <a:r>
              <a:rPr lang="en-US" baseline="30000"/>
              <a:t>5</a:t>
            </a:r>
            <a:r>
              <a:rPr lang="en-US"/>
              <a:t> ion. In the weak field case, all five electrons are unpaired. In the strong field case, there is one unpaired electron.</a:t>
            </a:r>
          </a:p>
          <a:p>
            <a:pPr marL="228600" indent="-228600"/>
            <a:r>
              <a:rPr lang="en-US"/>
              <a:t>c) This is a </a:t>
            </a:r>
            <a:r>
              <a:rPr lang="en-US" i="1"/>
              <a:t>d </a:t>
            </a:r>
            <a:r>
              <a:rPr lang="en-US" baseline="30000"/>
              <a:t>6</a:t>
            </a:r>
            <a:r>
              <a:rPr lang="en-US"/>
              <a:t> ion. In the weak field case, there are four unpaired electrons. In the strong field case, there are no unpaired electrons.</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1D8DDAD-F98E-4543-A953-93681A162C01}" type="slidenum">
              <a:rPr lang="en-US"/>
              <a:pPr/>
              <a:t>117</a:t>
            </a:fld>
            <a:endParaRPr lang="en-US"/>
          </a:p>
        </p:txBody>
      </p:sp>
      <p:sp>
        <p:nvSpPr>
          <p:cNvPr id="142338" name="Rectangle 2"/>
          <p:cNvSpPr>
            <a:spLocks noGrp="1" noRot="1" noChangeAspect="1" noChangeArrowheads="1" noTextEdit="1"/>
          </p:cNvSpPr>
          <p:nvPr>
            <p:ph type="sldImg"/>
          </p:nvPr>
        </p:nvSpPr>
        <p:spPr>
          <a:ln/>
        </p:spPr>
      </p:sp>
      <p:sp>
        <p:nvSpPr>
          <p:cNvPr id="142339" name="Rectangle 3"/>
          <p:cNvSpPr>
            <a:spLocks noGrp="1" noChangeArrowheads="1"/>
          </p:cNvSpPr>
          <p:nvPr>
            <p:ph type="body" idx="1"/>
          </p:nvPr>
        </p:nvSpPr>
        <p:spPr/>
        <p:txBody>
          <a:bodyPr/>
          <a:lstStyle/>
          <a:p>
            <a:pPr marL="228600" indent="-228600"/>
            <a:r>
              <a:rPr lang="en-US"/>
              <a:t>Metal ions would need to be </a:t>
            </a:r>
            <a:r>
              <a:rPr lang="en-US" i="1"/>
              <a:t>d</a:t>
            </a:r>
            <a:r>
              <a:rPr lang="en-US" baseline="30000"/>
              <a:t>4</a:t>
            </a:r>
            <a:r>
              <a:rPr lang="en-US"/>
              <a:t> or </a:t>
            </a:r>
            <a:r>
              <a:rPr lang="en-US" i="1"/>
              <a:t>d</a:t>
            </a:r>
            <a:r>
              <a:rPr lang="en-US" baseline="30000"/>
              <a:t>7</a:t>
            </a:r>
            <a:r>
              <a:rPr lang="en-US"/>
              <a:t> ions. Examples include Mn</a:t>
            </a:r>
            <a:r>
              <a:rPr lang="en-US" baseline="30000"/>
              <a:t>3+</a:t>
            </a:r>
            <a:r>
              <a:rPr lang="en-US"/>
              <a:t>, Co</a:t>
            </a:r>
            <a:r>
              <a:rPr lang="en-US" baseline="30000"/>
              <a:t>2+</a:t>
            </a:r>
            <a:r>
              <a:rPr lang="en-US"/>
              <a:t>, and Cr</a:t>
            </a:r>
            <a:r>
              <a:rPr lang="en-US" baseline="30000"/>
              <a:t>2+</a:t>
            </a:r>
            <a:r>
              <a:rPr lang="en-US"/>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C7394FE-6F56-43A7-B1A9-79A4A3F48C3A}" type="slidenum">
              <a:rPr lang="en-US"/>
              <a:pPr/>
              <a:t>118</a:t>
            </a:fld>
            <a:endParaRPr lang="en-US"/>
          </a:p>
        </p:txBody>
      </p:sp>
      <p:sp>
        <p:nvSpPr>
          <p:cNvPr id="144386" name="Rectangle 2"/>
          <p:cNvSpPr>
            <a:spLocks noGrp="1" noRot="1" noChangeAspect="1" noChangeArrowheads="1" noTextEdit="1"/>
          </p:cNvSpPr>
          <p:nvPr>
            <p:ph type="sldImg"/>
          </p:nvPr>
        </p:nvSpPr>
        <p:spPr>
          <a:ln/>
        </p:spPr>
      </p:sp>
      <p:sp>
        <p:nvSpPr>
          <p:cNvPr id="144387" name="Rectangle 3"/>
          <p:cNvSpPr>
            <a:spLocks noGrp="1" noChangeArrowheads="1"/>
          </p:cNvSpPr>
          <p:nvPr>
            <p:ph type="body" idx="1"/>
          </p:nvPr>
        </p:nvSpPr>
        <p:spPr/>
        <p:txBody>
          <a:bodyPr/>
          <a:lstStyle/>
          <a:p>
            <a:pPr marL="228600" indent="-228600"/>
            <a:r>
              <a:rPr lang="en-US"/>
              <a:t>[Mn(CN)</a:t>
            </a:r>
            <a:r>
              <a:rPr lang="en-US" baseline="-25000"/>
              <a:t>6</a:t>
            </a:r>
            <a:r>
              <a:rPr lang="en-US"/>
              <a:t>]</a:t>
            </a:r>
            <a:r>
              <a:rPr lang="en-US" baseline="30000"/>
              <a:t>4-</a:t>
            </a:r>
            <a:r>
              <a:rPr lang="en-US"/>
              <a:t> is more likely to be high spin because the charge on the Mn ion is 2+ while the [Mn(CN)</a:t>
            </a:r>
            <a:r>
              <a:rPr lang="en-US" baseline="-12000"/>
              <a:t>6</a:t>
            </a:r>
            <a:r>
              <a:rPr lang="en-US"/>
              <a:t>]</a:t>
            </a:r>
            <a:r>
              <a:rPr lang="en-US" baseline="34000"/>
              <a:t>3-</a:t>
            </a:r>
            <a:r>
              <a:rPr lang="en-US"/>
              <a:t> the charge on the Mn ion is 3+. With a larger charge, there is bigger splitting between energy levels, meaning strong field, or low spin.</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6ACAF8-A492-4EB6-9DC9-26C5C21662DD}" type="slidenum">
              <a:rPr lang="en-US"/>
              <a:pPr/>
              <a:t>119</a:t>
            </a:fld>
            <a:endParaRPr lang="en-US"/>
          </a:p>
        </p:txBody>
      </p:sp>
      <p:sp>
        <p:nvSpPr>
          <p:cNvPr id="146434" name="Rectangle 2"/>
          <p:cNvSpPr>
            <a:spLocks noGrp="1" noRot="1" noChangeAspect="1" noChangeArrowheads="1" noTextEdit="1"/>
          </p:cNvSpPr>
          <p:nvPr>
            <p:ph type="sldImg"/>
          </p:nvPr>
        </p:nvSpPr>
        <p:spPr>
          <a:ln/>
        </p:spPr>
      </p:sp>
      <p:sp>
        <p:nvSpPr>
          <p:cNvPr id="1464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79E4996-18FF-45C8-B292-831885A707ED}" type="slidenum">
              <a:rPr lang="en-US"/>
              <a:pPr/>
              <a:t>120</a:t>
            </a:fld>
            <a:endParaRPr lang="en-US"/>
          </a:p>
        </p:txBody>
      </p:sp>
      <p:sp>
        <p:nvSpPr>
          <p:cNvPr id="148482" name="Rectangle 2"/>
          <p:cNvSpPr>
            <a:spLocks noGrp="1" noRot="1" noChangeAspect="1" noChangeArrowheads="1" noTextEdit="1"/>
          </p:cNvSpPr>
          <p:nvPr>
            <p:ph type="sldImg"/>
          </p:nvPr>
        </p:nvSpPr>
        <p:spPr>
          <a:ln/>
        </p:spPr>
      </p:sp>
      <p:sp>
        <p:nvSpPr>
          <p:cNvPr id="1484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C15DB7-294B-4837-94A3-B6DA368678F7}" type="slidenum">
              <a:rPr lang="en-US"/>
              <a:pPr/>
              <a:t>121</a:t>
            </a:fld>
            <a:endParaRPr lang="en-US"/>
          </a:p>
        </p:txBody>
      </p:sp>
      <p:sp>
        <p:nvSpPr>
          <p:cNvPr id="150530" name="Rectangle 2"/>
          <p:cNvSpPr>
            <a:spLocks noGrp="1" noRot="1" noChangeAspect="1" noChangeArrowheads="1" noTextEdit="1"/>
          </p:cNvSpPr>
          <p:nvPr>
            <p:ph type="sldImg"/>
          </p:nvPr>
        </p:nvSpPr>
        <p:spPr>
          <a:ln/>
        </p:spPr>
      </p:sp>
      <p:sp>
        <p:nvSpPr>
          <p:cNvPr id="150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AE9F4F-40D4-4CD7-A8EE-10E9029BF416}" type="slidenum">
              <a:rPr lang="en-US"/>
              <a:pPr/>
              <a:t>122</a:t>
            </a:fld>
            <a:endParaRPr lang="en-US"/>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43CD19-A389-40CE-AA87-8FFEA6D8308C}" type="slidenum">
              <a:rPr lang="en-US"/>
              <a:pPr/>
              <a:t>123</a:t>
            </a:fld>
            <a:endParaRPr lang="en-US"/>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E179E6-E02D-4E12-8FF8-D6156747AC17}" type="slidenum">
              <a:rPr lang="en-US"/>
              <a:pPr/>
              <a:t>124</a:t>
            </a:fld>
            <a:endParaRPr lang="en-US"/>
          </a:p>
        </p:txBody>
      </p:sp>
      <p:sp>
        <p:nvSpPr>
          <p:cNvPr id="156674" name="Rectangle 2"/>
          <p:cNvSpPr>
            <a:spLocks noGrp="1" noRot="1" noChangeAspect="1" noChangeArrowheads="1" noTextEdit="1"/>
          </p:cNvSpPr>
          <p:nvPr>
            <p:ph type="sldImg"/>
          </p:nvPr>
        </p:nvSpPr>
        <p:spPr>
          <a:ln/>
        </p:spPr>
      </p:sp>
      <p:sp>
        <p:nvSpPr>
          <p:cNvPr id="1566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59938C-3CF6-4902-A85A-C4E123DA2180}" type="slidenum">
              <a:rPr lang="en-US"/>
              <a:pPr/>
              <a:t>125</a:t>
            </a:fld>
            <a:endParaRPr lang="en-US"/>
          </a:p>
        </p:txBody>
      </p:sp>
      <p:sp>
        <p:nvSpPr>
          <p:cNvPr id="158722" name="Rectangle 2"/>
          <p:cNvSpPr>
            <a:spLocks noGrp="1" noRot="1" noChangeAspect="1" noChangeArrowheads="1" noTextEdit="1"/>
          </p:cNvSpPr>
          <p:nvPr>
            <p:ph type="sldImg"/>
          </p:nvPr>
        </p:nvSpPr>
        <p:spPr>
          <a:ln/>
        </p:spPr>
      </p:sp>
      <p:sp>
        <p:nvSpPr>
          <p:cNvPr id="158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208FA-879D-4AB8-8B7D-10583D5DD2D3}" type="slidenum">
              <a:rPr lang="en-US"/>
              <a:pPr/>
              <a:t>126</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2A586B-5E90-46AF-B57C-F957ECF11582}" type="slidenum">
              <a:rPr lang="en-US"/>
              <a:pPr/>
              <a:t>127</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373594-FE28-42BE-8E44-4718F4C5B946}" type="slidenum">
              <a:rPr lang="en-US"/>
              <a:pPr/>
              <a:t>128</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37736B-CD5D-4924-AA51-284D2A9F260B}" type="slidenum">
              <a:rPr lang="en-US"/>
              <a:pPr/>
              <a:t>129</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311F58-4B88-4986-AF29-522B80FF3362}" type="slidenum">
              <a:rPr lang="en-US"/>
              <a:pPr/>
              <a:t>130</a:t>
            </a:fld>
            <a:endParaRPr lang="en-US"/>
          </a:p>
        </p:txBody>
      </p:sp>
      <p:sp>
        <p:nvSpPr>
          <p:cNvPr id="10240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240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24-22</a:t>
            </a:r>
          </a:p>
          <a:p>
            <a:endParaRPr lang="en-US"/>
          </a:p>
          <a:p>
            <a:r>
              <a:rPr lang="en-US"/>
              <a:t>Title: </a:t>
            </a:r>
          </a:p>
          <a:p>
            <a:r>
              <a:rPr lang="en-US"/>
              <a:t>Effect of ligands on color.</a:t>
            </a:r>
          </a:p>
          <a:p>
            <a:endParaRPr lang="en-US"/>
          </a:p>
          <a:p>
            <a:r>
              <a:rPr lang="en-US"/>
              <a:t>Caption: </a:t>
            </a:r>
          </a:p>
          <a:p>
            <a:r>
              <a:rPr lang="en-US"/>
              <a:t>An aqueous solution of CuSO</a:t>
            </a:r>
            <a:r>
              <a:rPr lang="en-US" baseline="-25000"/>
              <a:t>4</a:t>
            </a:r>
            <a:r>
              <a:rPr lang="en-US"/>
              <a:t> is pale blue because of [Cu(H</a:t>
            </a:r>
            <a:r>
              <a:rPr lang="en-US" baseline="-25000"/>
              <a:t>2</a:t>
            </a:r>
            <a:r>
              <a:rPr lang="en-US"/>
              <a:t>O)</a:t>
            </a:r>
            <a:r>
              <a:rPr lang="en-US" baseline="-25000"/>
              <a:t>4</a:t>
            </a:r>
            <a:r>
              <a:rPr lang="en-US"/>
              <a:t>]</a:t>
            </a:r>
            <a:r>
              <a:rPr lang="en-US" baseline="30000"/>
              <a:t>2+</a:t>
            </a:r>
            <a:r>
              <a:rPr lang="en-US"/>
              <a:t> (left).  When NH</a:t>
            </a:r>
            <a:r>
              <a:rPr lang="en-US" baseline="-25000"/>
              <a:t>3</a:t>
            </a:r>
            <a:r>
              <a:rPr lang="en-US"/>
              <a:t>(</a:t>
            </a:r>
            <a:r>
              <a:rPr lang="en-US" i="1"/>
              <a:t>aq</a:t>
            </a:r>
            <a:r>
              <a:rPr lang="en-US"/>
              <a:t>) is added (middle and right), the deep blue [Cu(NH</a:t>
            </a:r>
            <a:r>
              <a:rPr lang="en-US" baseline="-25000"/>
              <a:t>3</a:t>
            </a:r>
            <a:r>
              <a:rPr lang="en-US"/>
              <a:t>)</a:t>
            </a:r>
            <a:r>
              <a:rPr lang="en-US" baseline="-25000"/>
              <a:t>4</a:t>
            </a:r>
            <a:r>
              <a:rPr lang="en-US"/>
              <a:t>]</a:t>
            </a:r>
            <a:r>
              <a:rPr lang="en-US" baseline="30000"/>
              <a:t>2+</a:t>
            </a:r>
            <a:r>
              <a:rPr lang="en-US"/>
              <a:t> ion forms.</a:t>
            </a: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34AEB2-E6AA-4310-B23C-BDAE4A15FD95}" type="slidenum">
              <a:rPr lang="en-US"/>
              <a:pPr/>
              <a:t>131</a:t>
            </a:fld>
            <a:endParaRPr lang="en-US"/>
          </a:p>
        </p:txBody>
      </p:sp>
      <p:sp>
        <p:nvSpPr>
          <p:cNvPr id="10445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445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24-23</a:t>
            </a:r>
          </a:p>
          <a:p>
            <a:endParaRPr lang="en-US"/>
          </a:p>
          <a:p>
            <a:r>
              <a:rPr lang="en-US"/>
              <a:t>Title: </a:t>
            </a:r>
          </a:p>
          <a:p>
            <a:r>
              <a:rPr lang="en-US"/>
              <a:t>Visible spectrum. </a:t>
            </a:r>
          </a:p>
          <a:p>
            <a:endParaRPr lang="en-US"/>
          </a:p>
          <a:p>
            <a:r>
              <a:rPr lang="en-US"/>
              <a:t>Caption: </a:t>
            </a:r>
          </a:p>
          <a:p>
            <a:r>
              <a:rPr lang="en-US"/>
              <a:t>The relationship between color and wavelength for visible light. </a:t>
            </a: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E3F633-8C9E-4D92-85AC-EE28A56F6D41}" type="slidenum">
              <a:rPr lang="en-US"/>
              <a:pPr/>
              <a:t>133</a:t>
            </a:fld>
            <a:endParaRPr lang="en-US"/>
          </a:p>
        </p:txBody>
      </p:sp>
      <p:sp>
        <p:nvSpPr>
          <p:cNvPr id="10649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649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24-24</a:t>
            </a:r>
          </a:p>
          <a:p>
            <a:endParaRPr lang="en-US"/>
          </a:p>
          <a:p>
            <a:r>
              <a:rPr lang="en-US"/>
              <a:t>Title: </a:t>
            </a:r>
          </a:p>
          <a:p>
            <a:r>
              <a:rPr lang="en-US"/>
              <a:t>Artist's color wheel.</a:t>
            </a:r>
          </a:p>
          <a:p>
            <a:endParaRPr lang="en-US"/>
          </a:p>
          <a:p>
            <a:r>
              <a:rPr lang="en-US"/>
              <a:t>Caption: </a:t>
            </a:r>
          </a:p>
          <a:p>
            <a:r>
              <a:rPr lang="en-US"/>
              <a:t>Colors with approximate wavelength ranges are shown as wedges. The colors that are complementary to each other lie opposite each other. </a:t>
            </a: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6CC9B7D-EB85-4515-8E4C-30621D6646E2}" type="slidenum">
              <a:rPr lang="en-US"/>
              <a:pPr/>
              <a:t>134</a:t>
            </a:fld>
            <a:endParaRPr lang="en-US"/>
          </a:p>
        </p:txBody>
      </p:sp>
      <p:sp>
        <p:nvSpPr>
          <p:cNvPr id="11059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059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24-26</a:t>
            </a:r>
          </a:p>
          <a:p>
            <a:endParaRPr lang="en-US"/>
          </a:p>
          <a:p>
            <a:r>
              <a:rPr lang="en-US"/>
              <a:t>Title: </a:t>
            </a:r>
          </a:p>
          <a:p>
            <a:r>
              <a:rPr lang="en-US"/>
              <a:t>The color of [Ti(H</a:t>
            </a:r>
            <a:r>
              <a:rPr lang="en-US" baseline="-25000"/>
              <a:t>2</a:t>
            </a:r>
            <a:r>
              <a:rPr lang="en-US"/>
              <a:t>O)</a:t>
            </a:r>
            <a:r>
              <a:rPr lang="en-US" baseline="-25000"/>
              <a:t>6</a:t>
            </a:r>
            <a:r>
              <a:rPr lang="en-US"/>
              <a:t>]</a:t>
            </a:r>
            <a:r>
              <a:rPr lang="en-US" baseline="30000"/>
              <a:t>3+</a:t>
            </a:r>
            <a:r>
              <a:rPr lang="en-US"/>
              <a:t>. </a:t>
            </a:r>
          </a:p>
          <a:p>
            <a:endParaRPr lang="en-US"/>
          </a:p>
          <a:p>
            <a:r>
              <a:rPr lang="en-US"/>
              <a:t>Caption: </a:t>
            </a:r>
          </a:p>
          <a:p>
            <a:r>
              <a:rPr lang="en-US"/>
              <a:t>(a) A solution containing the [Ti(H</a:t>
            </a:r>
            <a:r>
              <a:rPr lang="en-US" baseline="-25000"/>
              <a:t>2</a:t>
            </a:r>
            <a:r>
              <a:rPr lang="en-US"/>
              <a:t>O)</a:t>
            </a:r>
            <a:r>
              <a:rPr lang="en-US" baseline="-25000"/>
              <a:t>6</a:t>
            </a:r>
            <a:r>
              <a:rPr lang="en-US"/>
              <a:t>]</a:t>
            </a:r>
            <a:r>
              <a:rPr lang="en-US" baseline="30000"/>
              <a:t>3+</a:t>
            </a:r>
            <a:r>
              <a:rPr lang="en-US"/>
              <a:t> ion.  (b) The visible absorption spectrum of the [Ti(H</a:t>
            </a:r>
            <a:r>
              <a:rPr lang="en-US" baseline="-25000"/>
              <a:t>2</a:t>
            </a:r>
            <a:r>
              <a:rPr lang="en-US"/>
              <a:t>O)</a:t>
            </a:r>
            <a:r>
              <a:rPr lang="en-US" baseline="-25000"/>
              <a:t>6</a:t>
            </a:r>
            <a:r>
              <a:rPr lang="en-US"/>
              <a:t>]</a:t>
            </a:r>
            <a:r>
              <a:rPr lang="en-US" baseline="30000"/>
              <a:t>3+</a:t>
            </a:r>
            <a:r>
              <a:rPr lang="en-US"/>
              <a:t> ion.</a:t>
            </a: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DD9E97-E8D6-419A-A37A-4AACA46DDA8D}" type="slidenum">
              <a:rPr lang="en-US"/>
              <a:pPr/>
              <a:t>135</a:t>
            </a:fld>
            <a:endParaRPr lang="en-US"/>
          </a:p>
        </p:txBody>
      </p:sp>
      <p:sp>
        <p:nvSpPr>
          <p:cNvPr id="10854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0854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24-25</a:t>
            </a:r>
          </a:p>
          <a:p>
            <a:endParaRPr lang="en-US"/>
          </a:p>
          <a:p>
            <a:r>
              <a:rPr lang="en-US"/>
              <a:t>Title: </a:t>
            </a:r>
          </a:p>
          <a:p>
            <a:r>
              <a:rPr lang="en-US"/>
              <a:t>Experimental determination of the absorption spectrum of a solution.</a:t>
            </a:r>
          </a:p>
          <a:p>
            <a:endParaRPr lang="en-US"/>
          </a:p>
          <a:p>
            <a:r>
              <a:rPr lang="en-US"/>
              <a:t>Caption: </a:t>
            </a:r>
          </a:p>
          <a:p>
            <a:r>
              <a:rPr lang="en-US"/>
              <a:t>The prism is rotated so that different wavelengths of light pass through the sample.  The detector measures the amount of light reaching it, and this information can be displayed as the absorption at each wavelength.  The absorbance is a measure of the light absorbed.</a:t>
            </a: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7FB2D2-4628-4358-A6C2-42B1B75569F5}" type="slidenum">
              <a:rPr lang="en-US"/>
              <a:pPr/>
              <a:t>136</a:t>
            </a:fld>
            <a:endParaRPr lang="en-US"/>
          </a:p>
        </p:txBody>
      </p:sp>
      <p:sp>
        <p:nvSpPr>
          <p:cNvPr id="1587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587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24-22</a:t>
            </a:r>
          </a:p>
          <a:p>
            <a:endParaRPr lang="en-US"/>
          </a:p>
          <a:p>
            <a:r>
              <a:rPr lang="en-US"/>
              <a:t>Title: </a:t>
            </a:r>
          </a:p>
          <a:p>
            <a:r>
              <a:rPr lang="en-US"/>
              <a:t>Effect of ligands on color.</a:t>
            </a:r>
          </a:p>
          <a:p>
            <a:endParaRPr lang="en-US"/>
          </a:p>
          <a:p>
            <a:r>
              <a:rPr lang="en-US"/>
              <a:t>Caption: </a:t>
            </a:r>
          </a:p>
          <a:p>
            <a:r>
              <a:rPr lang="en-US"/>
              <a:t>An aqueous solution of CuSO</a:t>
            </a:r>
            <a:r>
              <a:rPr lang="en-US" baseline="-25000"/>
              <a:t>4</a:t>
            </a:r>
            <a:r>
              <a:rPr lang="en-US"/>
              <a:t> is pale blue because of [Cu(H</a:t>
            </a:r>
            <a:r>
              <a:rPr lang="en-US" baseline="-25000"/>
              <a:t>2</a:t>
            </a:r>
            <a:r>
              <a:rPr lang="en-US"/>
              <a:t>O)</a:t>
            </a:r>
            <a:r>
              <a:rPr lang="en-US" baseline="-25000"/>
              <a:t>4</a:t>
            </a:r>
            <a:r>
              <a:rPr lang="en-US"/>
              <a:t>]</a:t>
            </a:r>
            <a:r>
              <a:rPr lang="en-US" baseline="30000"/>
              <a:t>2+</a:t>
            </a:r>
            <a:r>
              <a:rPr lang="en-US"/>
              <a:t> (left).  When NH</a:t>
            </a:r>
            <a:r>
              <a:rPr lang="en-US" baseline="-25000"/>
              <a:t>3</a:t>
            </a:r>
            <a:r>
              <a:rPr lang="en-US"/>
              <a:t>(</a:t>
            </a:r>
            <a:r>
              <a:rPr lang="en-US" i="1"/>
              <a:t>aq</a:t>
            </a:r>
            <a:r>
              <a:rPr lang="en-US"/>
              <a:t>) is added (middle and right), the deep blue [Cu(NH</a:t>
            </a:r>
            <a:r>
              <a:rPr lang="en-US" baseline="-25000"/>
              <a:t>3</a:t>
            </a:r>
            <a:r>
              <a:rPr lang="en-US"/>
              <a:t>)</a:t>
            </a:r>
            <a:r>
              <a:rPr lang="en-US" baseline="-25000"/>
              <a:t>4</a:t>
            </a:r>
            <a:r>
              <a:rPr lang="en-US"/>
              <a:t>]</a:t>
            </a:r>
            <a:r>
              <a:rPr lang="en-US" baseline="30000"/>
              <a:t>2+</a:t>
            </a:r>
            <a:r>
              <a:rPr lang="en-US"/>
              <a:t> ion forms.</a:t>
            </a: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09F9EA-9D32-49B2-A05F-8E33C71C59FB}" type="slidenum">
              <a:rPr lang="en-US"/>
              <a:pPr/>
              <a:t>137</a:t>
            </a:fld>
            <a:endParaRPr lang="en-US"/>
          </a:p>
        </p:txBody>
      </p:sp>
      <p:sp>
        <p:nvSpPr>
          <p:cNvPr id="11264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26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24-27</a:t>
            </a:r>
          </a:p>
          <a:p>
            <a:endParaRPr lang="en-US"/>
          </a:p>
          <a:p>
            <a:r>
              <a:rPr lang="en-US"/>
              <a:t>Title: </a:t>
            </a:r>
          </a:p>
          <a:p>
            <a:r>
              <a:rPr lang="en-US"/>
              <a:t>Metal-ligand bond formation.</a:t>
            </a:r>
          </a:p>
          <a:p>
            <a:endParaRPr lang="en-US"/>
          </a:p>
          <a:p>
            <a:r>
              <a:rPr lang="en-US"/>
              <a:t>Caption: </a:t>
            </a:r>
          </a:p>
          <a:p>
            <a:r>
              <a:rPr lang="en-US"/>
              <a:t>The ligand, which acts as a Lewis base, donates charge to the metal via a metal hybrid orbital.  The bond that results is strongly polar, with some covalent character.  It is often sufficient to assume that the metal-ligand interaction is entirely electrostatic in character, as is done in the crystal-field model.</a:t>
            </a: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1B932E-A2EE-4A6E-8D53-8A0EBEEFFD52}" type="slidenum">
              <a:rPr lang="en-US"/>
              <a:pPr/>
              <a:t>138</a:t>
            </a:fld>
            <a:endParaRPr lang="en-US"/>
          </a:p>
        </p:txBody>
      </p:sp>
      <p:sp>
        <p:nvSpPr>
          <p:cNvPr id="11469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469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24-28</a:t>
            </a:r>
          </a:p>
          <a:p>
            <a:endParaRPr lang="en-US"/>
          </a:p>
          <a:p>
            <a:r>
              <a:rPr lang="en-US"/>
              <a:t>Title: </a:t>
            </a:r>
          </a:p>
          <a:p>
            <a:r>
              <a:rPr lang="en-US"/>
              <a:t>Energies of </a:t>
            </a:r>
            <a:r>
              <a:rPr lang="en-US" i="1"/>
              <a:t>d</a:t>
            </a:r>
            <a:r>
              <a:rPr lang="en-US"/>
              <a:t> orbitals in an octahedral crystal field.</a:t>
            </a:r>
          </a:p>
          <a:p>
            <a:endParaRPr lang="en-US"/>
          </a:p>
          <a:p>
            <a:r>
              <a:rPr lang="en-US"/>
              <a:t>Caption: </a:t>
            </a:r>
          </a:p>
          <a:p>
            <a:r>
              <a:rPr lang="en-US"/>
              <a:t>On the left the energies of the </a:t>
            </a:r>
            <a:r>
              <a:rPr lang="en-US" i="1"/>
              <a:t>d</a:t>
            </a:r>
            <a:r>
              <a:rPr lang="en-US"/>
              <a:t> orbitals of a free ion are shown.  When negative charges are brought up to the ion, the average energy of the </a:t>
            </a:r>
            <a:r>
              <a:rPr lang="en-US" i="1"/>
              <a:t>d</a:t>
            </a:r>
            <a:r>
              <a:rPr lang="en-US"/>
              <a:t> orbitals increases (center).  On the right the splitting of the </a:t>
            </a:r>
            <a:r>
              <a:rPr lang="en-US" i="1"/>
              <a:t>d</a:t>
            </a:r>
            <a:r>
              <a:rPr lang="en-US"/>
              <a:t> orbitals due to the octahedral field is shown.  Because the repulsion felt by the </a:t>
            </a:r>
            <a:r>
              <a:rPr lang="en-US" i="1"/>
              <a:t>d</a:t>
            </a:r>
            <a:r>
              <a:rPr lang="en-US" i="1" baseline="-25000"/>
              <a:t>z</a:t>
            </a:r>
            <a:r>
              <a:rPr lang="en-US" baseline="-15000"/>
              <a:t>2</a:t>
            </a:r>
            <a:r>
              <a:rPr lang="en-US"/>
              <a:t> and </a:t>
            </a:r>
            <a:r>
              <a:rPr lang="en-US" i="1"/>
              <a:t>d</a:t>
            </a:r>
            <a:r>
              <a:rPr lang="en-US" i="1" baseline="-25000"/>
              <a:t>x</a:t>
            </a:r>
            <a:r>
              <a:rPr lang="en-US" baseline="-15000"/>
              <a:t>2</a:t>
            </a:r>
            <a:r>
              <a:rPr lang="en-US" baseline="-25000"/>
              <a:t>–</a:t>
            </a:r>
            <a:r>
              <a:rPr lang="en-US" i="1" baseline="-25000"/>
              <a:t>y</a:t>
            </a:r>
            <a:r>
              <a:rPr lang="en-US" baseline="-15000"/>
              <a:t>2</a:t>
            </a:r>
            <a:r>
              <a:rPr lang="en-US"/>
              <a:t> orbitals is greater than that felt by the </a:t>
            </a:r>
            <a:r>
              <a:rPr lang="en-US" i="1"/>
              <a:t>d</a:t>
            </a:r>
            <a:r>
              <a:rPr lang="en-US" i="1" baseline="-25000"/>
              <a:t>xy</a:t>
            </a:r>
            <a:r>
              <a:rPr lang="en-US"/>
              <a:t>, </a:t>
            </a:r>
            <a:r>
              <a:rPr lang="en-US" i="1"/>
              <a:t>d</a:t>
            </a:r>
            <a:r>
              <a:rPr lang="en-US" i="1" baseline="-25000"/>
              <a:t>xz</a:t>
            </a:r>
            <a:r>
              <a:rPr lang="en-US"/>
              <a:t>, and </a:t>
            </a:r>
            <a:r>
              <a:rPr lang="en-US" i="1"/>
              <a:t>d</a:t>
            </a:r>
            <a:r>
              <a:rPr lang="en-US" i="1" baseline="-25000"/>
              <a:t>yz</a:t>
            </a:r>
            <a:r>
              <a:rPr lang="en-US"/>
              <a:t> orbitals, the five </a:t>
            </a:r>
            <a:r>
              <a:rPr lang="en-US" i="1"/>
              <a:t>d</a:t>
            </a:r>
            <a:r>
              <a:rPr lang="en-US"/>
              <a:t> orbitals split into a lower-energy set of three (the </a:t>
            </a:r>
            <a:r>
              <a:rPr lang="en-US" i="1"/>
              <a:t>t</a:t>
            </a:r>
            <a:r>
              <a:rPr lang="en-US" baseline="-25000"/>
              <a:t>2</a:t>
            </a:r>
            <a:r>
              <a:rPr lang="en-US"/>
              <a:t> set) and a higher-energy set of two (the </a:t>
            </a:r>
            <a:r>
              <a:rPr lang="en-US" i="1"/>
              <a:t>e</a:t>
            </a:r>
            <a:r>
              <a:rPr lang="en-US"/>
              <a:t> set).</a:t>
            </a: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824A4B-E539-4CAE-8577-C88EA6846695}" type="slidenum">
              <a:rPr lang="en-US"/>
              <a:pPr/>
              <a:t>139</a:t>
            </a:fld>
            <a:endParaRPr lang="en-US"/>
          </a:p>
        </p:txBody>
      </p:sp>
      <p:sp>
        <p:nvSpPr>
          <p:cNvPr id="11673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673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24-29abc</a:t>
            </a:r>
          </a:p>
          <a:p>
            <a:endParaRPr lang="en-US"/>
          </a:p>
          <a:p>
            <a:r>
              <a:rPr lang="en-US"/>
              <a:t>Title: </a:t>
            </a:r>
          </a:p>
          <a:p>
            <a:r>
              <a:rPr lang="en-US"/>
              <a:t>The five </a:t>
            </a:r>
            <a:r>
              <a:rPr lang="en-US" i="1"/>
              <a:t>d</a:t>
            </a:r>
            <a:r>
              <a:rPr lang="en-US"/>
              <a:t> orbitals in an octahedral crystal field.</a:t>
            </a:r>
          </a:p>
          <a:p>
            <a:endParaRPr lang="en-US"/>
          </a:p>
          <a:p>
            <a:r>
              <a:rPr lang="en-US"/>
              <a:t>Caption: </a:t>
            </a:r>
          </a:p>
          <a:p>
            <a:r>
              <a:rPr lang="en-US"/>
              <a:t>(a) An octahedral array of negative charges approaching a metal ion.  (b) The orientations of the </a:t>
            </a:r>
            <a:r>
              <a:rPr lang="en-US" i="1"/>
              <a:t>d</a:t>
            </a:r>
            <a:r>
              <a:rPr lang="en-US"/>
              <a:t> orbitals relative to the negative charges.  Notice that the lobes of the </a:t>
            </a:r>
            <a:r>
              <a:rPr lang="en-US" i="1"/>
              <a:t>d</a:t>
            </a:r>
            <a:r>
              <a:rPr lang="en-US" i="1" baseline="-25000"/>
              <a:t>z</a:t>
            </a:r>
            <a:r>
              <a:rPr lang="en-US" baseline="-15000"/>
              <a:t>2</a:t>
            </a:r>
            <a:r>
              <a:rPr lang="en-US"/>
              <a:t> and </a:t>
            </a:r>
            <a:r>
              <a:rPr lang="en-US" i="1"/>
              <a:t>d</a:t>
            </a:r>
            <a:r>
              <a:rPr lang="en-US" i="1" baseline="-25000"/>
              <a:t>x</a:t>
            </a:r>
            <a:r>
              <a:rPr lang="en-US" baseline="-15000"/>
              <a:t>2</a:t>
            </a:r>
            <a:r>
              <a:rPr lang="en-US" baseline="-25000"/>
              <a:t>–</a:t>
            </a:r>
            <a:r>
              <a:rPr lang="en-US" i="1" baseline="-25000"/>
              <a:t>y</a:t>
            </a:r>
            <a:r>
              <a:rPr lang="en-US" baseline="-15000"/>
              <a:t>2</a:t>
            </a:r>
            <a:r>
              <a:rPr lang="en-US"/>
              <a:t> orbitals (b and c) point toward the charges, whereas the lobes of the </a:t>
            </a:r>
            <a:r>
              <a:rPr lang="en-US" i="1"/>
              <a:t>d</a:t>
            </a:r>
            <a:r>
              <a:rPr lang="en-US" i="1" baseline="-25000"/>
              <a:t>xy</a:t>
            </a:r>
            <a:r>
              <a:rPr lang="en-US"/>
              <a:t>, </a:t>
            </a:r>
            <a:r>
              <a:rPr lang="en-US" i="1"/>
              <a:t>d</a:t>
            </a:r>
            <a:r>
              <a:rPr lang="en-US" i="1" baseline="-25000"/>
              <a:t>yz</a:t>
            </a:r>
            <a:r>
              <a:rPr lang="en-US"/>
              <a:t>, and </a:t>
            </a:r>
            <a:r>
              <a:rPr lang="en-US" i="1"/>
              <a:t>d</a:t>
            </a:r>
            <a:r>
              <a:rPr lang="en-US" i="1" baseline="-25000"/>
              <a:t>xz</a:t>
            </a:r>
            <a:r>
              <a:rPr lang="en-US"/>
              <a:t> orbitals (d–f) point between the charges.</a:t>
            </a: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026CF5-9E64-4A2A-AE30-B5F71486D09B}" type="slidenum">
              <a:rPr lang="en-US"/>
              <a:pPr/>
              <a:t>140</a:t>
            </a:fld>
            <a:endParaRPr lang="en-US"/>
          </a:p>
        </p:txBody>
      </p:sp>
      <p:sp>
        <p:nvSpPr>
          <p:cNvPr id="11878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878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24-29def</a:t>
            </a:r>
          </a:p>
          <a:p>
            <a:endParaRPr lang="en-US"/>
          </a:p>
          <a:p>
            <a:r>
              <a:rPr lang="en-US"/>
              <a:t>Title: </a:t>
            </a:r>
          </a:p>
          <a:p>
            <a:r>
              <a:rPr lang="en-US"/>
              <a:t>The five </a:t>
            </a:r>
            <a:r>
              <a:rPr lang="en-US" i="1"/>
              <a:t>d</a:t>
            </a:r>
            <a:r>
              <a:rPr lang="en-US"/>
              <a:t> orbitals in an octahedral crystal field.</a:t>
            </a:r>
          </a:p>
          <a:p>
            <a:endParaRPr lang="en-US"/>
          </a:p>
          <a:p>
            <a:r>
              <a:rPr lang="en-US"/>
              <a:t>Caption: </a:t>
            </a:r>
          </a:p>
          <a:p>
            <a:r>
              <a:rPr lang="en-US"/>
              <a:t>(a) An octahedral array of negative charges approaching a metal ion.  (b) The orientations of the </a:t>
            </a:r>
            <a:r>
              <a:rPr lang="en-US" i="1"/>
              <a:t>d</a:t>
            </a:r>
            <a:r>
              <a:rPr lang="en-US"/>
              <a:t> orbitals relative to the negative charges.  Notice that the lobes of the </a:t>
            </a:r>
            <a:r>
              <a:rPr lang="en-US" i="1"/>
              <a:t>d</a:t>
            </a:r>
            <a:r>
              <a:rPr lang="en-US" i="1" baseline="-25000"/>
              <a:t>z</a:t>
            </a:r>
            <a:r>
              <a:rPr lang="en-US" baseline="-15000"/>
              <a:t>2</a:t>
            </a:r>
            <a:r>
              <a:rPr lang="en-US"/>
              <a:t> and </a:t>
            </a:r>
            <a:r>
              <a:rPr lang="en-US" i="1"/>
              <a:t>d</a:t>
            </a:r>
            <a:r>
              <a:rPr lang="en-US" i="1" baseline="-25000"/>
              <a:t>x</a:t>
            </a:r>
            <a:r>
              <a:rPr lang="en-US" baseline="-15000"/>
              <a:t>2</a:t>
            </a:r>
            <a:r>
              <a:rPr lang="en-US" baseline="-25000"/>
              <a:t>–</a:t>
            </a:r>
            <a:r>
              <a:rPr lang="en-US" i="1" baseline="-25000"/>
              <a:t>y</a:t>
            </a:r>
            <a:r>
              <a:rPr lang="en-US" baseline="-15000"/>
              <a:t>2</a:t>
            </a:r>
            <a:r>
              <a:rPr lang="en-US"/>
              <a:t> orbitals (b and c) point toward the charges, whereas the lobes of the </a:t>
            </a:r>
            <a:r>
              <a:rPr lang="en-US" i="1"/>
              <a:t>d</a:t>
            </a:r>
            <a:r>
              <a:rPr lang="en-US" i="1" baseline="-25000"/>
              <a:t>xy</a:t>
            </a:r>
            <a:r>
              <a:rPr lang="en-US"/>
              <a:t>, </a:t>
            </a:r>
            <a:r>
              <a:rPr lang="en-US" i="1"/>
              <a:t>d</a:t>
            </a:r>
            <a:r>
              <a:rPr lang="en-US" i="1" baseline="-25000"/>
              <a:t>yz</a:t>
            </a:r>
            <a:r>
              <a:rPr lang="en-US"/>
              <a:t>, and </a:t>
            </a:r>
            <a:r>
              <a:rPr lang="en-US" i="1"/>
              <a:t>d</a:t>
            </a:r>
            <a:r>
              <a:rPr lang="en-US" i="1" baseline="-25000"/>
              <a:t>xz</a:t>
            </a:r>
            <a:r>
              <a:rPr lang="en-US"/>
              <a:t> orbitals (d–f) point between the charges.</a:t>
            </a: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82B41B-31A1-40C1-9414-76FB25211F77}" type="slidenum">
              <a:rPr lang="en-US"/>
              <a:pPr/>
              <a:t>142</a:t>
            </a:fld>
            <a:endParaRPr lang="en-US"/>
          </a:p>
        </p:txBody>
      </p:sp>
      <p:sp>
        <p:nvSpPr>
          <p:cNvPr id="12083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083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24-30</a:t>
            </a:r>
          </a:p>
          <a:p>
            <a:endParaRPr lang="en-US"/>
          </a:p>
          <a:p>
            <a:r>
              <a:rPr lang="en-US"/>
              <a:t>Title: </a:t>
            </a:r>
          </a:p>
          <a:p>
            <a:r>
              <a:rPr lang="en-US"/>
              <a:t>Electronic transition accompanying absorption of light.</a:t>
            </a:r>
          </a:p>
          <a:p>
            <a:endParaRPr lang="en-US"/>
          </a:p>
          <a:p>
            <a:r>
              <a:rPr lang="en-US"/>
              <a:t>Caption: </a:t>
            </a:r>
          </a:p>
          <a:p>
            <a:r>
              <a:rPr lang="en-US"/>
              <a:t>The 3</a:t>
            </a:r>
            <a:r>
              <a:rPr lang="en-US" i="1"/>
              <a:t>d</a:t>
            </a:r>
            <a:r>
              <a:rPr lang="en-US"/>
              <a:t> electron of [Ti(H</a:t>
            </a:r>
            <a:r>
              <a:rPr lang="en-US" baseline="-25000"/>
              <a:t>2</a:t>
            </a:r>
            <a:r>
              <a:rPr lang="en-US"/>
              <a:t>O)</a:t>
            </a:r>
            <a:r>
              <a:rPr lang="en-US" baseline="-25000"/>
              <a:t>6</a:t>
            </a:r>
            <a:r>
              <a:rPr lang="en-US"/>
              <a:t>]</a:t>
            </a:r>
            <a:r>
              <a:rPr lang="en-US" baseline="30000"/>
              <a:t>3+</a:t>
            </a:r>
            <a:r>
              <a:rPr lang="en-US"/>
              <a:t> is excited from the lower-energy </a:t>
            </a:r>
            <a:r>
              <a:rPr lang="en-US" i="1"/>
              <a:t>d</a:t>
            </a:r>
            <a:r>
              <a:rPr lang="en-US"/>
              <a:t> orbitals to the higher-energy ones when irradiated with light of 495-nm wavelength.</a:t>
            </a: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541359-E303-4A26-9007-A98CC80FFCD0}" type="slidenum">
              <a:rPr lang="en-US"/>
              <a:pPr/>
              <a:t>143</a:t>
            </a:fld>
            <a:endParaRPr lang="en-US"/>
          </a:p>
        </p:txBody>
      </p:sp>
      <p:sp>
        <p:nvSpPr>
          <p:cNvPr id="12288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288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24-31</a:t>
            </a:r>
          </a:p>
          <a:p>
            <a:endParaRPr lang="en-US"/>
          </a:p>
          <a:p>
            <a:r>
              <a:rPr lang="en-US"/>
              <a:t>Title: </a:t>
            </a:r>
          </a:p>
          <a:p>
            <a:r>
              <a:rPr lang="en-US"/>
              <a:t>Effect of ligand on crystal-field splitting.</a:t>
            </a:r>
          </a:p>
          <a:p>
            <a:endParaRPr lang="en-US"/>
          </a:p>
          <a:p>
            <a:r>
              <a:rPr lang="en-US"/>
              <a:t>Caption: </a:t>
            </a:r>
          </a:p>
          <a:p>
            <a:r>
              <a:rPr lang="en-US"/>
              <a:t>This series of octahedral chromium(III) complexes illustrates how </a:t>
            </a:r>
            <a:r>
              <a:rPr lang="en-US">
                <a:latin typeface="Symbol" pitchFamily="18" charset="2"/>
                <a:sym typeface="Symbol" pitchFamily="18" charset="2"/>
              </a:rPr>
              <a:t></a:t>
            </a:r>
            <a:r>
              <a:rPr lang="en-US"/>
              <a:t>, the energy gap between the </a:t>
            </a:r>
            <a:r>
              <a:rPr lang="en-US" i="1"/>
              <a:t>t</a:t>
            </a:r>
            <a:r>
              <a:rPr lang="en-US" baseline="-25000"/>
              <a:t>2</a:t>
            </a:r>
            <a:r>
              <a:rPr lang="en-US"/>
              <a:t> and </a:t>
            </a:r>
            <a:r>
              <a:rPr lang="en-US" i="1"/>
              <a:t>e</a:t>
            </a:r>
            <a:r>
              <a:rPr lang="en-US"/>
              <a:t> orbitals, increases as the field strength of the ligand increases.</a:t>
            </a: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0F185B-5E9F-40F2-A733-1EC24463743C}" type="slidenum">
              <a:rPr lang="en-US"/>
              <a:pPr/>
              <a:t>145</a:t>
            </a:fld>
            <a:endParaRPr lang="en-US"/>
          </a:p>
        </p:txBody>
      </p:sp>
      <p:sp>
        <p:nvSpPr>
          <p:cNvPr id="12493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493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eleFigure: 24-32</a:t>
            </a:r>
          </a:p>
          <a:p>
            <a:endParaRPr lang="en-US"/>
          </a:p>
          <a:p>
            <a:r>
              <a:rPr lang="en-US"/>
              <a:t>Title: </a:t>
            </a:r>
          </a:p>
          <a:p>
            <a:r>
              <a:rPr lang="en-US"/>
              <a:t>Electron configurations in octahedral complexes.</a:t>
            </a:r>
          </a:p>
          <a:p>
            <a:endParaRPr lang="en-US"/>
          </a:p>
          <a:p>
            <a:r>
              <a:rPr lang="en-US"/>
              <a:t>Caption: </a:t>
            </a:r>
          </a:p>
          <a:p>
            <a:r>
              <a:rPr lang="en-US"/>
              <a:t>Orbital occupancies are shown for complexes with one, two, and three </a:t>
            </a:r>
            <a:r>
              <a:rPr lang="en-US" i="1"/>
              <a:t>d</a:t>
            </a:r>
            <a:r>
              <a:rPr lang="en-US"/>
              <a:t> electrons in an octahedral crystal field.</a:t>
            </a: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6FA31F-11CB-49D2-B063-4A9C82F6BEC1}" type="slidenum">
              <a:rPr lang="en-US"/>
              <a:pPr/>
              <a:t>146</a:t>
            </a:fld>
            <a:endParaRPr lang="en-US"/>
          </a:p>
        </p:txBody>
      </p:sp>
      <p:sp>
        <p:nvSpPr>
          <p:cNvPr id="12697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697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24-33</a:t>
            </a:r>
          </a:p>
          <a:p>
            <a:endParaRPr lang="en-US"/>
          </a:p>
          <a:p>
            <a:r>
              <a:rPr lang="en-US"/>
              <a:t>Title: </a:t>
            </a:r>
          </a:p>
          <a:p>
            <a:r>
              <a:rPr lang="en-US"/>
              <a:t>High-spin and low-spin complexes.</a:t>
            </a:r>
          </a:p>
          <a:p>
            <a:endParaRPr lang="en-US"/>
          </a:p>
          <a:p>
            <a:r>
              <a:rPr lang="en-US"/>
              <a:t>Caption: </a:t>
            </a:r>
          </a:p>
          <a:p>
            <a:r>
              <a:rPr lang="en-US"/>
              <a:t>Population of </a:t>
            </a:r>
            <a:r>
              <a:rPr lang="en-US" i="1"/>
              <a:t>d</a:t>
            </a:r>
            <a:r>
              <a:rPr lang="en-US"/>
              <a:t> orbitals in the high-spin [CoF</a:t>
            </a:r>
            <a:r>
              <a:rPr lang="en-US" baseline="-25000"/>
              <a:t>6</a:t>
            </a:r>
            <a:r>
              <a:rPr lang="en-US"/>
              <a:t>]</a:t>
            </a:r>
            <a:r>
              <a:rPr lang="en-US" baseline="30000"/>
              <a:t>3–</a:t>
            </a:r>
            <a:r>
              <a:rPr lang="en-US"/>
              <a:t> ion (small </a:t>
            </a:r>
            <a:r>
              <a:rPr lang="en-US">
                <a:latin typeface="Symbol" pitchFamily="18" charset="2"/>
                <a:sym typeface="Symbol" pitchFamily="18" charset="2"/>
              </a:rPr>
              <a:t></a:t>
            </a:r>
            <a:r>
              <a:rPr lang="en-US"/>
              <a:t>)and low-spin [Co(CN)</a:t>
            </a:r>
            <a:r>
              <a:rPr lang="en-US" baseline="-25000"/>
              <a:t>6</a:t>
            </a:r>
            <a:r>
              <a:rPr lang="en-US"/>
              <a:t>]</a:t>
            </a:r>
            <a:r>
              <a:rPr lang="en-US" baseline="30000"/>
              <a:t>3–</a:t>
            </a:r>
            <a:r>
              <a:rPr lang="en-US"/>
              <a:t> ion (large </a:t>
            </a:r>
            <a:r>
              <a:rPr lang="en-US">
                <a:latin typeface="Symbol" pitchFamily="18" charset="2"/>
                <a:sym typeface="Symbol" pitchFamily="18" charset="2"/>
              </a:rPr>
              <a:t></a:t>
            </a:r>
            <a:r>
              <a:rPr lang="en-US"/>
              <a:t>).  Both complexes contain cobalt(III), which has six 3</a:t>
            </a:r>
            <a:r>
              <a:rPr lang="en-US" i="1"/>
              <a:t>d</a:t>
            </a:r>
            <a:r>
              <a:rPr lang="en-US"/>
              <a:t> electrons, 3</a:t>
            </a:r>
            <a:r>
              <a:rPr lang="en-US" i="1"/>
              <a:t>d</a:t>
            </a:r>
            <a:r>
              <a:rPr lang="en-US" baseline="30000"/>
              <a:t>6</a:t>
            </a:r>
            <a:r>
              <a:rPr lang="en-US"/>
              <a:t>.</a:t>
            </a: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54B6FC-41B1-435B-A70D-8BD5F38BD119}" type="slidenum">
              <a:rPr lang="en-US"/>
              <a:pPr/>
              <a:t>147</a:t>
            </a:fld>
            <a:endParaRPr lang="en-US"/>
          </a:p>
        </p:txBody>
      </p:sp>
      <p:sp>
        <p:nvSpPr>
          <p:cNvPr id="12902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902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24-33-01UN</a:t>
            </a:r>
          </a:p>
          <a:p>
            <a:endParaRPr lang="en-US"/>
          </a:p>
          <a:p>
            <a:r>
              <a:rPr lang="en-US"/>
              <a:t>Title: </a:t>
            </a:r>
          </a:p>
          <a:p>
            <a:r>
              <a:rPr lang="en-US"/>
              <a:t>Sample Exercise 24.9 </a:t>
            </a:r>
          </a:p>
          <a:p>
            <a:endParaRPr lang="en-US"/>
          </a:p>
          <a:p>
            <a:r>
              <a:rPr lang="en-US"/>
              <a:t>Caption: </a:t>
            </a:r>
          </a:p>
          <a:p>
            <a:r>
              <a:rPr lang="en-US"/>
              <a:t>Orbital diagrams.</a:t>
            </a: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8215218-6AD3-44D8-BA06-A01A15908022}" type="slidenum">
              <a:rPr lang="en-US"/>
              <a:pPr/>
              <a:t>148</a:t>
            </a:fld>
            <a:endParaRPr lang="en-US"/>
          </a:p>
        </p:txBody>
      </p:sp>
      <p:sp>
        <p:nvSpPr>
          <p:cNvPr id="131074"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107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24-34</a:t>
            </a:r>
          </a:p>
          <a:p>
            <a:endParaRPr lang="en-US"/>
          </a:p>
          <a:p>
            <a:r>
              <a:rPr lang="en-US"/>
              <a:t>Title: </a:t>
            </a:r>
          </a:p>
          <a:p>
            <a:r>
              <a:rPr lang="en-US"/>
              <a:t>Tetrahedral crystal field.</a:t>
            </a:r>
          </a:p>
          <a:p>
            <a:endParaRPr lang="en-US"/>
          </a:p>
          <a:p>
            <a:r>
              <a:rPr lang="en-US"/>
              <a:t>Caption: </a:t>
            </a:r>
          </a:p>
          <a:p>
            <a:r>
              <a:rPr lang="en-US"/>
              <a:t>Energies of the </a:t>
            </a:r>
            <a:r>
              <a:rPr lang="en-US" i="1"/>
              <a:t>d</a:t>
            </a:r>
            <a:r>
              <a:rPr lang="en-US"/>
              <a:t> orbitals in a tetrahedral crystal field</a:t>
            </a: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F26512-775B-4FC0-9497-94935D18CCEA}" type="slidenum">
              <a:rPr lang="en-US"/>
              <a:pPr/>
              <a:t>149</a:t>
            </a:fld>
            <a:endParaRPr lang="en-US"/>
          </a:p>
        </p:txBody>
      </p:sp>
      <p:sp>
        <p:nvSpPr>
          <p:cNvPr id="133122"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312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24-35</a:t>
            </a:r>
          </a:p>
          <a:p>
            <a:endParaRPr lang="en-US"/>
          </a:p>
          <a:p>
            <a:r>
              <a:rPr lang="en-US"/>
              <a:t>Title: </a:t>
            </a:r>
          </a:p>
          <a:p>
            <a:r>
              <a:rPr lang="en-US"/>
              <a:t>Energies of the </a:t>
            </a:r>
            <a:r>
              <a:rPr lang="en-US" i="1"/>
              <a:t>d</a:t>
            </a:r>
            <a:r>
              <a:rPr lang="en-US"/>
              <a:t> orbitals in a square-planar crystal field.</a:t>
            </a:r>
          </a:p>
          <a:p>
            <a:endParaRPr lang="en-US"/>
          </a:p>
          <a:p>
            <a:r>
              <a:rPr lang="en-US"/>
              <a:t>Caption: </a:t>
            </a:r>
          </a:p>
          <a:p>
            <a:r>
              <a:rPr lang="en-US"/>
              <a:t>The boxes on the left show the energies of the </a:t>
            </a:r>
            <a:r>
              <a:rPr lang="en-US" i="1"/>
              <a:t>d</a:t>
            </a:r>
            <a:r>
              <a:rPr lang="en-US"/>
              <a:t> orbitals in an octahedral crystal field.  As the two negative charges along the </a:t>
            </a:r>
            <a:r>
              <a:rPr lang="en-US" i="1"/>
              <a:t>z</a:t>
            </a:r>
            <a:r>
              <a:rPr lang="en-US"/>
              <a:t>-axis are removed, the energies of the </a:t>
            </a:r>
            <a:r>
              <a:rPr lang="en-US" i="1"/>
              <a:t>d</a:t>
            </a:r>
            <a:r>
              <a:rPr lang="en-US"/>
              <a:t> orbitals change, as indicated by the lines between the boxes.  When the charges are completely removed, the square-planar geometry results, giving the splitting of </a:t>
            </a:r>
            <a:r>
              <a:rPr lang="en-US" i="1"/>
              <a:t>d</a:t>
            </a:r>
            <a:r>
              <a:rPr lang="en-US"/>
              <a:t>-orbital energies represented by the boxes on the right.</a:t>
            </a: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BE8FD2-1B00-446B-9067-ED119129AA29}" type="slidenum">
              <a:rPr lang="en-US"/>
              <a:pPr/>
              <a:t>151</a:t>
            </a:fld>
            <a:endParaRPr lang="en-US"/>
          </a:p>
        </p:txBody>
      </p:sp>
      <p:sp>
        <p:nvSpPr>
          <p:cNvPr id="135170"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5171"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24-35-01UNEx10</a:t>
            </a:r>
          </a:p>
          <a:p>
            <a:endParaRPr lang="en-US"/>
          </a:p>
          <a:p>
            <a:r>
              <a:rPr lang="en-US"/>
              <a:t>Title: </a:t>
            </a:r>
          </a:p>
          <a:p>
            <a:r>
              <a:rPr lang="en-US"/>
              <a:t>Sample Exercise 24.10 </a:t>
            </a:r>
          </a:p>
          <a:p>
            <a:endParaRPr lang="en-US"/>
          </a:p>
          <a:p>
            <a:r>
              <a:rPr lang="en-US"/>
              <a:t>Caption: </a:t>
            </a:r>
          </a:p>
          <a:p>
            <a:r>
              <a:rPr lang="en-US"/>
              <a:t>Orbital diagrams of tetrahedral and square planar</a:t>
            </a:r>
            <a:r>
              <a:rPr lang="en-US">
                <a:cs typeface="Arial" charset="0"/>
              </a:rPr>
              <a:t>–</a:t>
            </a:r>
            <a:r>
              <a:rPr lang="en-US"/>
              <a:t>complexes.</a:t>
            </a: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ECFDED-DA53-4980-BA28-A6903A719FF3}" type="slidenum">
              <a:rPr lang="en-US"/>
              <a:pPr/>
              <a:t>152</a:t>
            </a:fld>
            <a:endParaRPr lang="en-US"/>
          </a:p>
        </p:txBody>
      </p:sp>
      <p:sp>
        <p:nvSpPr>
          <p:cNvPr id="137218"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7219"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24-36</a:t>
            </a:r>
          </a:p>
          <a:p>
            <a:endParaRPr lang="en-US"/>
          </a:p>
          <a:p>
            <a:r>
              <a:rPr lang="en-US"/>
              <a:t>Title: </a:t>
            </a:r>
          </a:p>
          <a:p>
            <a:r>
              <a:rPr lang="en-US"/>
              <a:t>Effect of charge-transfer transitions. </a:t>
            </a:r>
          </a:p>
          <a:p>
            <a:endParaRPr lang="en-US"/>
          </a:p>
          <a:p>
            <a:r>
              <a:rPr lang="en-US"/>
              <a:t>Caption: </a:t>
            </a:r>
          </a:p>
          <a:p>
            <a:r>
              <a:rPr lang="en-US"/>
              <a:t>The compounds KMnO</a:t>
            </a:r>
            <a:r>
              <a:rPr lang="en-US" baseline="-25000"/>
              <a:t>4</a:t>
            </a:r>
            <a:r>
              <a:rPr lang="en-US"/>
              <a:t>, K</a:t>
            </a:r>
            <a:r>
              <a:rPr lang="en-US" baseline="-25000"/>
              <a:t>2</a:t>
            </a:r>
            <a:r>
              <a:rPr lang="en-US"/>
              <a:t>CrO</a:t>
            </a:r>
            <a:r>
              <a:rPr lang="en-US" baseline="-25000"/>
              <a:t>4</a:t>
            </a:r>
            <a:r>
              <a:rPr lang="en-US"/>
              <a:t>, and KClO</a:t>
            </a:r>
            <a:r>
              <a:rPr lang="en-US" baseline="-25000"/>
              <a:t>4</a:t>
            </a:r>
            <a:r>
              <a:rPr lang="en-US"/>
              <a:t> are shown from left to right.  The KMnO</a:t>
            </a:r>
            <a:r>
              <a:rPr lang="en-US" baseline="-25000"/>
              <a:t>4</a:t>
            </a:r>
            <a:r>
              <a:rPr lang="en-US"/>
              <a:t> and K</a:t>
            </a:r>
            <a:r>
              <a:rPr lang="en-US" baseline="-25000"/>
              <a:t>2</a:t>
            </a:r>
            <a:r>
              <a:rPr lang="en-US"/>
              <a:t>CrO</a:t>
            </a:r>
            <a:r>
              <a:rPr lang="en-US" baseline="-25000"/>
              <a:t>4</a:t>
            </a:r>
            <a:r>
              <a:rPr lang="en-US"/>
              <a:t> are intensely colored because of ligand-to-metal charge transfer (LMCT) transitions in the MnO</a:t>
            </a:r>
            <a:r>
              <a:rPr lang="en-US" baseline="-25000"/>
              <a:t>4</a:t>
            </a:r>
            <a:r>
              <a:rPr lang="en-US" baseline="30000"/>
              <a:t>–</a:t>
            </a:r>
            <a:r>
              <a:rPr lang="en-US"/>
              <a:t> and CrO</a:t>
            </a:r>
            <a:r>
              <a:rPr lang="en-US" baseline="-25000"/>
              <a:t>4</a:t>
            </a:r>
            <a:r>
              <a:rPr lang="en-US" baseline="30000"/>
              <a:t>2–</a:t>
            </a:r>
            <a:r>
              <a:rPr lang="en-US"/>
              <a:t> anions.  There are no valence </a:t>
            </a:r>
            <a:r>
              <a:rPr lang="en-US" i="1"/>
              <a:t>d</a:t>
            </a:r>
            <a:r>
              <a:rPr lang="en-US"/>
              <a:t> orbitals on Cl, so the charge-transfer transition for ClO</a:t>
            </a:r>
            <a:r>
              <a:rPr lang="en-US" baseline="-25000"/>
              <a:t>4</a:t>
            </a:r>
            <a:r>
              <a:rPr lang="en-US" baseline="30000"/>
              <a:t>–</a:t>
            </a:r>
            <a:r>
              <a:rPr lang="en-US"/>
              <a:t> requires ultraviolet light and KClO</a:t>
            </a:r>
            <a:r>
              <a:rPr lang="en-US" baseline="-25000"/>
              <a:t>4</a:t>
            </a:r>
            <a:r>
              <a:rPr lang="en-US"/>
              <a:t> is white.</a:t>
            </a: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BD04F3-E9BE-44D7-9596-760C47CD682B}" type="slidenum">
              <a:rPr lang="en-US"/>
              <a:pPr/>
              <a:t>153</a:t>
            </a:fld>
            <a:endParaRPr lang="en-US"/>
          </a:p>
        </p:txBody>
      </p:sp>
      <p:sp>
        <p:nvSpPr>
          <p:cNvPr id="139266" name="Rectangle 2"/>
          <p:cNvSpPr>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392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t>Figure: 24-37</a:t>
            </a:r>
          </a:p>
          <a:p>
            <a:endParaRPr lang="en-US"/>
          </a:p>
          <a:p>
            <a:r>
              <a:rPr lang="en-US"/>
              <a:t>Title: </a:t>
            </a:r>
          </a:p>
          <a:p>
            <a:r>
              <a:rPr lang="en-US"/>
              <a:t>Ligand-to-metal charge transfer (LMCT) transition in MnO</a:t>
            </a:r>
            <a:r>
              <a:rPr lang="en-US" baseline="-25000"/>
              <a:t>4</a:t>
            </a:r>
            <a:r>
              <a:rPr lang="en-US" baseline="30000"/>
              <a:t>–</a:t>
            </a:r>
            <a:r>
              <a:rPr lang="en-US"/>
              <a:t>.</a:t>
            </a:r>
          </a:p>
          <a:p>
            <a:endParaRPr lang="en-US"/>
          </a:p>
          <a:p>
            <a:r>
              <a:rPr lang="en-US"/>
              <a:t>Caption: </a:t>
            </a:r>
          </a:p>
          <a:p>
            <a:r>
              <a:rPr lang="en-US"/>
              <a:t>As shown by the blue arrow, an electron is excited from a nonbonding pair on O into one of the empty </a:t>
            </a:r>
            <a:r>
              <a:rPr lang="en-US" i="1"/>
              <a:t>d</a:t>
            </a:r>
            <a:r>
              <a:rPr lang="en-US"/>
              <a:t> orbitals on Mn.</a:t>
            </a: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2D1EF4-1494-4A47-BD1F-CA3F7446CB78}" type="slidenum">
              <a:rPr lang="en-US"/>
              <a:pPr/>
              <a:t>168</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C63429F-957C-40DC-B6DA-78113504F1C3}" type="slidenum">
              <a:rPr lang="en-US"/>
              <a:pPr/>
              <a:t>169</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0D43573-AB88-42C7-A70B-FD9E3BE6DBE0}" type="slidenum">
              <a:rPr lang="en-US"/>
              <a:pPr/>
              <a:t>170</a:t>
            </a:fld>
            <a:endParaRPr lang="en-US"/>
          </a:p>
        </p:txBody>
      </p:sp>
      <p:sp>
        <p:nvSpPr>
          <p:cNvPr id="116738" name="Rectangle 2"/>
          <p:cNvSpPr>
            <a:spLocks noGrp="1" noRot="1" noChangeAspect="1" noChangeArrowheads="1" noTextEdit="1"/>
          </p:cNvSpPr>
          <p:nvPr>
            <p:ph type="sldImg"/>
          </p:nvPr>
        </p:nvSpPr>
        <p:spPr>
          <a:ln/>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8A1D2E6-C3D3-4296-98EE-31E800D6DE5F}" type="slidenum">
              <a:rPr lang="en-US"/>
              <a:pPr/>
              <a:t>171</a:t>
            </a:fld>
            <a:endParaRPr lang="en-US"/>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1243DC-E46B-4D32-B9DD-46C4D54F4FC8}" type="slidenum">
              <a:rPr lang="en-US"/>
              <a:pPr/>
              <a:t>172</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49AC53-84EB-44E0-A62F-84AE306E0CD6}" type="slidenum">
              <a:rPr lang="en-US"/>
              <a:pPr/>
              <a:t>173</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DAA31E-648E-47AD-9646-1AD6BC23437B}" type="slidenum">
              <a:rPr lang="en-US"/>
              <a:pPr/>
              <a:t>174</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CDC904-A6C7-448E-B8DD-0D046684284B}" type="slidenum">
              <a:rPr lang="en-US"/>
              <a:pPr/>
              <a:t>175</a:t>
            </a:fld>
            <a:endParaRPr lang="en-US"/>
          </a:p>
        </p:txBody>
      </p:sp>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FE2ABC-BB11-4091-9D55-3B79B3293361}" type="slidenum">
              <a:rPr lang="en-US"/>
              <a:pPr/>
              <a:t>176</a:t>
            </a:fld>
            <a:endParaRPr lang="en-US"/>
          </a:p>
        </p:txBody>
      </p:sp>
      <p:sp>
        <p:nvSpPr>
          <p:cNvPr id="72706" name="Rectangle 2"/>
          <p:cNvSpPr>
            <a:spLocks noGrp="1" noRot="1" noChangeAspect="1" noChangeArrowheads="1" noTextEdit="1"/>
          </p:cNvSpPr>
          <p:nvPr>
            <p:ph type="sldImg"/>
          </p:nvPr>
        </p:nvSpPr>
        <p:spPr>
          <a:ln/>
        </p:spPr>
      </p:sp>
      <p:sp>
        <p:nvSpPr>
          <p:cNvPr id="727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A65A80-901D-4CB9-A832-4C84E0248CC7}" type="slidenum">
              <a:rPr lang="en-US"/>
              <a:pPr/>
              <a:t>177</a:t>
            </a:fld>
            <a:endParaRPr lang="en-US"/>
          </a:p>
        </p:txBody>
      </p:sp>
      <p:sp>
        <p:nvSpPr>
          <p:cNvPr id="73730" name="Rectangle 2"/>
          <p:cNvSpPr>
            <a:spLocks noGrp="1" noRot="1" noChangeAspect="1" noChangeArrowheads="1" noTextEdit="1"/>
          </p:cNvSpPr>
          <p:nvPr>
            <p:ph type="sldImg"/>
          </p:nvPr>
        </p:nvSpPr>
        <p:spPr>
          <a:ln/>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986F44-FE27-4FDF-A8FA-A8DC13E9CEEB}" type="slidenum">
              <a:rPr lang="en-US"/>
              <a:pPr/>
              <a:t>178</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3E0102-3FB0-4358-A084-25FD867E3DB8}" type="slidenum">
              <a:rPr lang="en-US"/>
              <a:pPr/>
              <a:t>179</a:t>
            </a:fld>
            <a:endParaRPr lang="en-US"/>
          </a:p>
        </p:txBody>
      </p:sp>
      <p:sp>
        <p:nvSpPr>
          <p:cNvPr id="75778" name="Rectangle 2"/>
          <p:cNvSpPr>
            <a:spLocks noGrp="1" noRot="1" noChangeAspect="1" noChangeArrowheads="1" noTextEdit="1"/>
          </p:cNvSpPr>
          <p:nvPr>
            <p:ph type="sldImg"/>
          </p:nvPr>
        </p:nvSpPr>
        <p:spPr>
          <a:ln/>
        </p:spPr>
      </p:sp>
      <p:sp>
        <p:nvSpPr>
          <p:cNvPr id="75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B21254-2CF0-48ED-8AAE-E5F85AF15571}" type="slidenum">
              <a:rPr lang="en-US"/>
              <a:pPr/>
              <a:t>180</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C2A917D-EC81-4E79-9E27-69BA1A2D7D24}" type="slidenum">
              <a:rPr lang="en-US"/>
              <a:pPr/>
              <a:t>181</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126315-1633-4A6C-9439-4AC308707FA9}" type="slidenum">
              <a:rPr lang="en-US"/>
              <a:pPr/>
              <a:t>182</a:t>
            </a:fld>
            <a:endParaRPr lang="en-US"/>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A01533-36D9-4180-A1F2-C55036D1FA06}" type="slidenum">
              <a:rPr lang="en-US"/>
              <a:pPr/>
              <a:t>183</a:t>
            </a:fld>
            <a:endParaRPr lang="en-US"/>
          </a:p>
        </p:txBody>
      </p:sp>
      <p:sp>
        <p:nvSpPr>
          <p:cNvPr id="79874" name="Rectangle 2"/>
          <p:cNvSpPr>
            <a:spLocks noGrp="1" noRot="1" noChangeAspect="1" noChangeArrowheads="1" noTextEdit="1"/>
          </p:cNvSpPr>
          <p:nvPr>
            <p:ph type="sldImg"/>
          </p:nvPr>
        </p:nvSpPr>
        <p:spPr>
          <a:ln/>
        </p:spPr>
      </p:sp>
      <p:sp>
        <p:nvSpPr>
          <p:cNvPr id="798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52E5A4A-FD98-4341-907E-2BE32D7AA0C6}" type="slidenum">
              <a:rPr lang="en-US"/>
              <a:pPr/>
              <a:t>184</a:t>
            </a:fld>
            <a:endParaRPr lang="en-US"/>
          </a:p>
        </p:txBody>
      </p:sp>
      <p:sp>
        <p:nvSpPr>
          <p:cNvPr id="80898" name="Rectangle 2"/>
          <p:cNvSpPr>
            <a:spLocks noGrp="1" noRot="1" noChangeAspect="1" noChangeArrowheads="1" noTextEdit="1"/>
          </p:cNvSpPr>
          <p:nvPr>
            <p:ph type="sldImg"/>
          </p:nvPr>
        </p:nvSpPr>
        <p:spPr>
          <a:ln/>
        </p:spPr>
      </p:sp>
      <p:sp>
        <p:nvSpPr>
          <p:cNvPr id="808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A6F95-A7F2-4CC9-B2E4-7553E77FA6CF}" type="slidenum">
              <a:rPr lang="en-US"/>
              <a:pPr/>
              <a:t>185</a:t>
            </a:fld>
            <a:endParaRPr lang="en-US"/>
          </a:p>
        </p:txBody>
      </p:sp>
      <p:sp>
        <p:nvSpPr>
          <p:cNvPr id="81922" name="Rectangle 2"/>
          <p:cNvSpPr>
            <a:spLocks noGrp="1" noRot="1" noChangeAspect="1" noChangeArrowheads="1" noTextEdit="1"/>
          </p:cNvSpPr>
          <p:nvPr>
            <p:ph type="sldImg"/>
          </p:nvPr>
        </p:nvSpPr>
        <p:spPr>
          <a:ln/>
        </p:spPr>
      </p:sp>
      <p:sp>
        <p:nvSpPr>
          <p:cNvPr id="819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7FEA5D-5CD5-439C-8C6D-E85662C275A5}" type="slidenum">
              <a:rPr lang="en-US"/>
              <a:pPr/>
              <a:t>186</a:t>
            </a:fld>
            <a:endParaRPr lang="en-US"/>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61E9B8D-D2DD-47C9-BFEA-2F57CBA0F2B1}" type="slidenum">
              <a:rPr lang="en-US"/>
              <a:pPr/>
              <a:t>187</a:t>
            </a:fld>
            <a:endParaRPr lang="en-US"/>
          </a:p>
        </p:txBody>
      </p:sp>
      <p:sp>
        <p:nvSpPr>
          <p:cNvPr id="83970" name="Rectangle 2"/>
          <p:cNvSpPr>
            <a:spLocks noGrp="1" noRot="1" noChangeAspect="1" noChangeArrowheads="1" noTextEdit="1"/>
          </p:cNvSpPr>
          <p:nvPr>
            <p:ph type="sldImg"/>
          </p:nvPr>
        </p:nvSpPr>
        <p:spPr>
          <a:ln/>
        </p:spPr>
      </p:sp>
      <p:sp>
        <p:nvSpPr>
          <p:cNvPr id="839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D94DE5C-96A3-4BAF-9E3F-E36C2B7D0F6D}" type="slidenum">
              <a:rPr lang="en-US"/>
              <a:pPr/>
              <a:t>188</a:t>
            </a:fld>
            <a:endParaRPr lang="en-US"/>
          </a:p>
        </p:txBody>
      </p:sp>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01C71E-0A81-414D-B050-AAC3165D4DEC}" type="slidenum">
              <a:rPr lang="en-US"/>
              <a:pPr/>
              <a:t>189</a:t>
            </a:fld>
            <a:endParaRPr lang="en-US"/>
          </a:p>
        </p:txBody>
      </p:sp>
      <p:sp>
        <p:nvSpPr>
          <p:cNvPr id="86018" name="Rectangle 2"/>
          <p:cNvSpPr>
            <a:spLocks noGrp="1" noRot="1" noChangeAspect="1" noChangeArrowheads="1" noTextEdit="1"/>
          </p:cNvSpPr>
          <p:nvPr>
            <p:ph type="sldImg"/>
          </p:nvPr>
        </p:nvSpPr>
        <p:spPr>
          <a:ln/>
        </p:spPr>
      </p:sp>
      <p:sp>
        <p:nvSpPr>
          <p:cNvPr id="860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7ADD54D-D285-446A-85BB-A1A17F882C58}" type="slidenum">
              <a:rPr lang="en-US"/>
              <a:pPr/>
              <a:t>190</a:t>
            </a:fld>
            <a:endParaRPr lang="en-US"/>
          </a:p>
        </p:txBody>
      </p:sp>
      <p:sp>
        <p:nvSpPr>
          <p:cNvPr id="113666" name="Rectangle 2"/>
          <p:cNvSpPr>
            <a:spLocks noGrp="1" noRot="1" noChangeAspect="1" noChangeArrowheads="1" noTextEdit="1"/>
          </p:cNvSpPr>
          <p:nvPr>
            <p:ph type="sldImg"/>
          </p:nvPr>
        </p:nvSpPr>
        <p:spPr>
          <a:ln/>
        </p:spPr>
      </p:sp>
      <p:sp>
        <p:nvSpPr>
          <p:cNvPr id="1136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1D5ED9-B52E-41C0-9B14-0688E6DC9D0E}" type="slidenum">
              <a:rPr lang="en-US"/>
              <a:pPr/>
              <a:t>191</a:t>
            </a:fld>
            <a:endParaRPr lang="en-US"/>
          </a:p>
        </p:txBody>
      </p:sp>
      <p:sp>
        <p:nvSpPr>
          <p:cNvPr id="114690" name="Rectangle 2"/>
          <p:cNvSpPr>
            <a:spLocks noGrp="1" noRot="1" noChangeAspect="1" noChangeArrowheads="1" noTextEdit="1"/>
          </p:cNvSpPr>
          <p:nvPr>
            <p:ph type="sldImg"/>
          </p:nvPr>
        </p:nvSpPr>
        <p:spPr>
          <a:ln/>
        </p:spPr>
      </p:sp>
      <p:sp>
        <p:nvSpPr>
          <p:cNvPr id="1146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A43A67-077B-46D5-86C2-43311932561B}" type="slidenum">
              <a:rPr lang="en-US"/>
              <a:pPr/>
              <a:t>192</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F65075-349A-4EE8-8141-7F28CAC840C3}" type="slidenum">
              <a:rPr lang="en-US"/>
              <a:pPr/>
              <a:t>193</a:t>
            </a:fld>
            <a:endParaRPr lang="en-US"/>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12124E-8F50-4608-8115-A7929FD8E40B}" type="slidenum">
              <a:rPr lang="en-US"/>
              <a:pPr/>
              <a:t>194</a:t>
            </a:fld>
            <a:endParaRPr lang="en-US"/>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F9EB70-66E8-4735-A99C-60DC472B1294}" type="slidenum">
              <a:rPr lang="en-US"/>
              <a:pPr/>
              <a:t>195</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593771-F53F-4C5E-B678-AC12A2E72833}" type="slidenum">
              <a:rPr lang="en-US"/>
              <a:pPr/>
              <a:t>196</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916C85-761C-4A6C-9348-DAD6A62BDA73}" type="slidenum">
              <a:rPr lang="en-US"/>
              <a:pPr/>
              <a:t>197</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D0BE26-50C4-48C0-9A11-8FACB016FA02}" type="slidenum">
              <a:rPr lang="en-US"/>
              <a:pPr/>
              <a:t>198</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9B09DF-1466-48C3-8F4E-842F3D0C13DD}" type="slidenum">
              <a:rPr lang="en-US"/>
              <a:pPr/>
              <a:t>199</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1CF87D7-3655-4BDC-900E-0E014E53FA43}" type="slidenum">
              <a:rPr lang="en-US"/>
              <a:pPr/>
              <a:t>200</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9A8A95-F4D2-410C-B15D-ECCC593F8EF3}" type="slidenum">
              <a:rPr lang="en-US"/>
              <a:pPr/>
              <a:t>201</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85C490D-5673-41ED-B66D-F0ED6502302F}" type="datetime1">
              <a:rPr lang="en-US" smtClean="0"/>
              <a:t>1/21/2025</a:t>
            </a:fld>
            <a:endParaRPr lang="en-US"/>
          </a:p>
        </p:txBody>
      </p:sp>
      <p:sp>
        <p:nvSpPr>
          <p:cNvPr id="5" name="Footer Placeholder 4"/>
          <p:cNvSpPr>
            <a:spLocks noGrp="1"/>
          </p:cNvSpPr>
          <p:nvPr>
            <p:ph type="ftr" sz="quarter" idx="11"/>
          </p:nvPr>
        </p:nvSpPr>
        <p:spPr/>
        <p:txBody>
          <a:bodyPr/>
          <a:lstStyle/>
          <a:p>
            <a:r>
              <a:rPr lang="en-US" smtClean="0"/>
              <a:t>AMH 2024</a:t>
            </a:r>
            <a:endParaRPr lang="en-US"/>
          </a:p>
        </p:txBody>
      </p:sp>
      <p:sp>
        <p:nvSpPr>
          <p:cNvPr id="6" name="Slide Number Placeholder 5"/>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1F0E6FA-E222-4295-A60E-0ED908B2C8D8}" type="datetime1">
              <a:rPr lang="en-US" smtClean="0"/>
              <a:t>1/21/2025</a:t>
            </a:fld>
            <a:endParaRPr lang="en-US"/>
          </a:p>
        </p:txBody>
      </p:sp>
      <p:sp>
        <p:nvSpPr>
          <p:cNvPr id="5" name="Footer Placeholder 4"/>
          <p:cNvSpPr>
            <a:spLocks noGrp="1"/>
          </p:cNvSpPr>
          <p:nvPr>
            <p:ph type="ftr" sz="quarter" idx="11"/>
          </p:nvPr>
        </p:nvSpPr>
        <p:spPr/>
        <p:txBody>
          <a:bodyPr/>
          <a:lstStyle/>
          <a:p>
            <a:r>
              <a:rPr lang="en-US" smtClean="0"/>
              <a:t>AMH 2024</a:t>
            </a:r>
            <a:endParaRPr lang="en-US"/>
          </a:p>
        </p:txBody>
      </p:sp>
      <p:sp>
        <p:nvSpPr>
          <p:cNvPr id="6" name="Slide Number Placeholder 5"/>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525350-98FE-4D1F-B4DD-202413B17480}" type="datetime1">
              <a:rPr lang="en-US" smtClean="0"/>
              <a:t>1/21/2025</a:t>
            </a:fld>
            <a:endParaRPr lang="en-US"/>
          </a:p>
        </p:txBody>
      </p:sp>
      <p:sp>
        <p:nvSpPr>
          <p:cNvPr id="5" name="Footer Placeholder 4"/>
          <p:cNvSpPr>
            <a:spLocks noGrp="1"/>
          </p:cNvSpPr>
          <p:nvPr>
            <p:ph type="ftr" sz="quarter" idx="11"/>
          </p:nvPr>
        </p:nvSpPr>
        <p:spPr/>
        <p:txBody>
          <a:bodyPr/>
          <a:lstStyle/>
          <a:p>
            <a:r>
              <a:rPr lang="en-US" smtClean="0"/>
              <a:t>AMH 2024</a:t>
            </a:r>
            <a:endParaRPr lang="en-US"/>
          </a:p>
        </p:txBody>
      </p:sp>
      <p:sp>
        <p:nvSpPr>
          <p:cNvPr id="6" name="Slide Number Placeholder 5"/>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4554F31-BB17-4413-B545-2CDA9421CABA}" type="datetime1">
              <a:rPr lang="en-US" smtClean="0"/>
              <a:t>1/21/2025</a:t>
            </a:fld>
            <a:endParaRPr lang="en-US"/>
          </a:p>
        </p:txBody>
      </p:sp>
      <p:sp>
        <p:nvSpPr>
          <p:cNvPr id="6" name="Footer Placeholder 5"/>
          <p:cNvSpPr>
            <a:spLocks noGrp="1"/>
          </p:cNvSpPr>
          <p:nvPr>
            <p:ph type="ftr" sz="quarter" idx="11"/>
          </p:nvPr>
        </p:nvSpPr>
        <p:spPr/>
        <p:txBody>
          <a:bodyPr/>
          <a:lstStyle/>
          <a:p>
            <a:r>
              <a:rPr lang="en-US" smtClean="0"/>
              <a:t>AMH 2024</a:t>
            </a:r>
            <a:endParaRPr lang="en-US"/>
          </a:p>
        </p:txBody>
      </p:sp>
      <p:sp>
        <p:nvSpPr>
          <p:cNvPr id="7" name="Slide Number Placeholder 6"/>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08493E0-9A6D-489B-9914-B2BC6101C75F}" type="datetime1">
              <a:rPr lang="en-US" smtClean="0"/>
              <a:t>1/21/2025</a:t>
            </a:fld>
            <a:endParaRPr lang="en-US"/>
          </a:p>
        </p:txBody>
      </p:sp>
      <p:sp>
        <p:nvSpPr>
          <p:cNvPr id="8" name="Footer Placeholder 7"/>
          <p:cNvSpPr>
            <a:spLocks noGrp="1"/>
          </p:cNvSpPr>
          <p:nvPr>
            <p:ph type="ftr" sz="quarter" idx="11"/>
          </p:nvPr>
        </p:nvSpPr>
        <p:spPr/>
        <p:txBody>
          <a:bodyPr/>
          <a:lstStyle/>
          <a:p>
            <a:r>
              <a:rPr lang="en-US" smtClean="0"/>
              <a:t>AMH 2024</a:t>
            </a:r>
            <a:endParaRPr lang="en-US"/>
          </a:p>
        </p:txBody>
      </p:sp>
      <p:sp>
        <p:nvSpPr>
          <p:cNvPr id="9" name="Slide Number Placeholder 8"/>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DC0ED7-308A-40A4-985C-A5930EAB3A26}" type="datetime1">
              <a:rPr lang="en-US" smtClean="0"/>
              <a:t>1/21/2025</a:t>
            </a:fld>
            <a:endParaRPr lang="en-US"/>
          </a:p>
        </p:txBody>
      </p:sp>
      <p:sp>
        <p:nvSpPr>
          <p:cNvPr id="4" name="Footer Placeholder 3"/>
          <p:cNvSpPr>
            <a:spLocks noGrp="1"/>
          </p:cNvSpPr>
          <p:nvPr>
            <p:ph type="ftr" sz="quarter" idx="11"/>
          </p:nvPr>
        </p:nvSpPr>
        <p:spPr/>
        <p:txBody>
          <a:bodyPr/>
          <a:lstStyle/>
          <a:p>
            <a:r>
              <a:rPr lang="en-US" smtClean="0"/>
              <a:t>AMH 2024</a:t>
            </a:r>
            <a:endParaRPr lang="en-US"/>
          </a:p>
        </p:txBody>
      </p:sp>
      <p:sp>
        <p:nvSpPr>
          <p:cNvPr id="5" name="Slide Number Placeholder 4"/>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CB7241-962A-4FDC-925E-EFDAB53E6239}" type="datetime1">
              <a:rPr lang="en-US" smtClean="0"/>
              <a:t>1/21/2025</a:t>
            </a:fld>
            <a:endParaRPr lang="en-US"/>
          </a:p>
        </p:txBody>
      </p:sp>
      <p:sp>
        <p:nvSpPr>
          <p:cNvPr id="3" name="Footer Placeholder 2"/>
          <p:cNvSpPr>
            <a:spLocks noGrp="1"/>
          </p:cNvSpPr>
          <p:nvPr>
            <p:ph type="ftr" sz="quarter" idx="11"/>
          </p:nvPr>
        </p:nvSpPr>
        <p:spPr/>
        <p:txBody>
          <a:bodyPr/>
          <a:lstStyle/>
          <a:p>
            <a:r>
              <a:rPr lang="en-US" smtClean="0"/>
              <a:t>AMH 2024</a:t>
            </a:r>
            <a:endParaRPr lang="en-US"/>
          </a:p>
        </p:txBody>
      </p:sp>
      <p:sp>
        <p:nvSpPr>
          <p:cNvPr id="4" name="Slide Number Placeholder 3"/>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CDED52B-C9E7-4ACC-A54C-F46B6E8CECE0}" type="datetime1">
              <a:rPr lang="en-US" smtClean="0"/>
              <a:t>1/21/2025</a:t>
            </a:fld>
            <a:endParaRPr lang="en-US"/>
          </a:p>
        </p:txBody>
      </p:sp>
      <p:sp>
        <p:nvSpPr>
          <p:cNvPr id="6" name="Footer Placeholder 5"/>
          <p:cNvSpPr>
            <a:spLocks noGrp="1"/>
          </p:cNvSpPr>
          <p:nvPr>
            <p:ph type="ftr" sz="quarter" idx="11"/>
          </p:nvPr>
        </p:nvSpPr>
        <p:spPr/>
        <p:txBody>
          <a:bodyPr/>
          <a:lstStyle/>
          <a:p>
            <a:r>
              <a:rPr lang="en-US" smtClean="0"/>
              <a:t>AMH 2024</a:t>
            </a:r>
            <a:endParaRPr lang="en-US"/>
          </a:p>
        </p:txBody>
      </p:sp>
      <p:sp>
        <p:nvSpPr>
          <p:cNvPr id="7" name="Slide Number Placeholder 6"/>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F7C1367-6C80-4F75-A702-C70393304990}" type="datetime1">
              <a:rPr lang="en-US" smtClean="0"/>
              <a:t>1/21/2025</a:t>
            </a:fld>
            <a:endParaRPr lang="en-US"/>
          </a:p>
        </p:txBody>
      </p:sp>
      <p:sp>
        <p:nvSpPr>
          <p:cNvPr id="6" name="Footer Placeholder 5"/>
          <p:cNvSpPr>
            <a:spLocks noGrp="1"/>
          </p:cNvSpPr>
          <p:nvPr>
            <p:ph type="ftr" sz="quarter" idx="11"/>
          </p:nvPr>
        </p:nvSpPr>
        <p:spPr/>
        <p:txBody>
          <a:bodyPr/>
          <a:lstStyle/>
          <a:p>
            <a:r>
              <a:rPr lang="en-US" smtClean="0"/>
              <a:t>AMH 2024</a:t>
            </a:r>
            <a:endParaRPr lang="en-US"/>
          </a:p>
        </p:txBody>
      </p:sp>
      <p:sp>
        <p:nvSpPr>
          <p:cNvPr id="7" name="Slide Number Placeholder 6"/>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ABAFA0-6FE6-4FEB-9E75-6F0DF5582DBF}" type="datetime1">
              <a:rPr lang="en-US" smtClean="0"/>
              <a:t>1/21/2025</a:t>
            </a:fld>
            <a:endParaRPr lang="en-US"/>
          </a:p>
        </p:txBody>
      </p:sp>
      <p:sp>
        <p:nvSpPr>
          <p:cNvPr id="5" name="Footer Placeholder 4"/>
          <p:cNvSpPr>
            <a:spLocks noGrp="1"/>
          </p:cNvSpPr>
          <p:nvPr>
            <p:ph type="ftr" sz="quarter" idx="11"/>
          </p:nvPr>
        </p:nvSpPr>
        <p:spPr/>
        <p:txBody>
          <a:bodyPr/>
          <a:lstStyle/>
          <a:p>
            <a:r>
              <a:rPr lang="en-US" smtClean="0"/>
              <a:t>AMH 2024</a:t>
            </a:r>
            <a:endParaRPr lang="en-US"/>
          </a:p>
        </p:txBody>
      </p:sp>
      <p:sp>
        <p:nvSpPr>
          <p:cNvPr id="6" name="Slide Number Placeholder 5"/>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438C0EE-F6F2-4F74-B48F-19607A0F3A77}" type="datetime1">
              <a:rPr lang="en-US" smtClean="0"/>
              <a:t>1/21/2025</a:t>
            </a:fld>
            <a:endParaRPr lang="en-US"/>
          </a:p>
        </p:txBody>
      </p:sp>
      <p:sp>
        <p:nvSpPr>
          <p:cNvPr id="5" name="Footer Placeholder 4"/>
          <p:cNvSpPr>
            <a:spLocks noGrp="1"/>
          </p:cNvSpPr>
          <p:nvPr>
            <p:ph type="ftr" sz="quarter" idx="11"/>
          </p:nvPr>
        </p:nvSpPr>
        <p:spPr/>
        <p:txBody>
          <a:bodyPr/>
          <a:lstStyle/>
          <a:p>
            <a:r>
              <a:rPr lang="en-US" smtClean="0"/>
              <a:t>AMH 2024</a:t>
            </a:r>
            <a:endParaRPr lang="en-US"/>
          </a:p>
        </p:txBody>
      </p:sp>
      <p:sp>
        <p:nvSpPr>
          <p:cNvPr id="6" name="Slide Number Placeholder 5"/>
          <p:cNvSpPr>
            <a:spLocks noGrp="1"/>
          </p:cNvSpPr>
          <p:nvPr>
            <p:ph type="sldNum" sz="quarter" idx="12"/>
          </p:nvPr>
        </p:nvSpPr>
        <p:spPr/>
        <p:txBody>
          <a:bodyPr/>
          <a:lstStyle/>
          <a:p>
            <a:fld id="{7186703A-D0B2-47BE-A8AB-ABBF730CE23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38401DBC-D596-4ED9-A391-EB70D8EE4775}" type="datetime1">
              <a:rPr lang="en-US" smtClean="0"/>
              <a:t>1/21/2025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smtClean="0"/>
              <a:t>AMH 2024</a:t>
            </a: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3594A374-96FC-4EE6-82F2-3818F3DDA7AC}" type="slidenum">
              <a:rPr lang="en-US"/>
              <a:pPr/>
              <a:t>‹#›</a:t>
            </a:fld>
            <a:endParaRPr lang="en-US"/>
          </a:p>
        </p:txBody>
      </p:sp>
    </p:spTree>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85800" y="41148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309AF66A-3285-434D-B26D-462DBD6EA53E}" type="datetime1">
              <a:rPr lang="en-US" smtClean="0"/>
              <a:t>1/21/2025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smtClean="0"/>
              <a:t>AMH 2024</a:t>
            </a: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6FC2E325-388C-4F1A-9977-B9AE3FD765E1}" type="slidenum">
              <a:rPr lang="en-US"/>
              <a:pPr/>
              <a:t>‹#›</a:t>
            </a:fld>
            <a:endParaRPr lang="en-US"/>
          </a:p>
        </p:txBody>
      </p:sp>
    </p:spTree>
  </p:cSld>
  <p:clrMapOvr>
    <a:masterClrMapping/>
  </p:clrMapOvr>
  <p:transition spd="slow">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0" y="41148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150C0D0A-4E1B-4B7B-B25C-47C87CC9ED3A}" type="datetime1">
              <a:rPr lang="en-US" smtClean="0"/>
              <a:t>1/21/2025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smtClean="0"/>
              <a:t>AMH 2024</a:t>
            </a: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E23F057E-412E-4FEB-866E-B9EC6FE91902}" type="slidenum">
              <a:rPr lang="en-US"/>
              <a:pPr/>
              <a:t>‹#›</a:t>
            </a:fld>
            <a:endParaRPr lang="en-US"/>
          </a:p>
        </p:txBody>
      </p:sp>
    </p:spTree>
  </p:cSld>
  <p:clrMapOvr>
    <a:masterClrMapping/>
  </p:clrMapOvr>
  <p:transition spd="slow">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fld id="{763B5571-E813-41C5-9276-FFCF1FEA7846}" type="datetime1">
              <a:rPr lang="en-US" smtClean="0"/>
              <a:t>1/21/2025</a:t>
            </a:fld>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r>
              <a:rPr lang="en-US" smtClean="0"/>
              <a:t>AMH 2024</a:t>
            </a:r>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EBDA8329-F06C-43CA-B347-54EB187F2871}" type="slidenum">
              <a:rPr lang="en-US"/>
              <a:pPr/>
              <a:t>‹#›</a:t>
            </a:fld>
            <a:endParaRPr lang="en-US"/>
          </a:p>
        </p:txBody>
      </p:sp>
    </p:spTree>
  </p:cSld>
  <p:clrMapOvr>
    <a:masterClrMapping/>
  </p:clrMapOvr>
  <p:transition spd="slow">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858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858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85800" y="6248400"/>
            <a:ext cx="1905000" cy="457200"/>
          </a:xfrm>
        </p:spPr>
        <p:txBody>
          <a:bodyPr/>
          <a:lstStyle>
            <a:lvl1pPr>
              <a:defRPr/>
            </a:lvl1pPr>
          </a:lstStyle>
          <a:p>
            <a:fld id="{04727F67-42D7-493C-A3C7-90A5D7016693}" type="datetime1">
              <a:rPr lang="en-US" smtClean="0"/>
              <a:t>1/21/2025</a:t>
            </a:fld>
            <a:endParaRPr lang="en-US"/>
          </a:p>
        </p:txBody>
      </p:sp>
      <p:sp>
        <p:nvSpPr>
          <p:cNvPr id="7" name="Footer Placeholder 6"/>
          <p:cNvSpPr>
            <a:spLocks noGrp="1"/>
          </p:cNvSpPr>
          <p:nvPr>
            <p:ph type="ftr" sz="quarter" idx="11"/>
          </p:nvPr>
        </p:nvSpPr>
        <p:spPr>
          <a:xfrm>
            <a:off x="3124200" y="6248400"/>
            <a:ext cx="2895600" cy="457200"/>
          </a:xfrm>
        </p:spPr>
        <p:txBody>
          <a:bodyPr/>
          <a:lstStyle>
            <a:lvl1pPr>
              <a:defRPr/>
            </a:lvl1pPr>
          </a:lstStyle>
          <a:p>
            <a:r>
              <a:rPr lang="en-US" smtClean="0"/>
              <a:t>AMH 2024</a:t>
            </a:r>
            <a:endParaRPr lang="en-US"/>
          </a:p>
        </p:txBody>
      </p:sp>
      <p:sp>
        <p:nvSpPr>
          <p:cNvPr id="8" name="Slide Number Placeholder 7"/>
          <p:cNvSpPr>
            <a:spLocks noGrp="1"/>
          </p:cNvSpPr>
          <p:nvPr>
            <p:ph type="sldNum" sz="quarter" idx="12"/>
          </p:nvPr>
        </p:nvSpPr>
        <p:spPr>
          <a:xfrm>
            <a:off x="6553200" y="6248400"/>
            <a:ext cx="1905000" cy="457200"/>
          </a:xfrm>
        </p:spPr>
        <p:txBody>
          <a:bodyPr/>
          <a:lstStyle>
            <a:lvl1pPr>
              <a:defRPr/>
            </a:lvl1pPr>
          </a:lstStyle>
          <a:p>
            <a:fld id="{C2AD6D96-DA2F-4522-A33C-ABDF85051830}" type="slidenum">
              <a:rPr lang="en-US"/>
              <a:pPr/>
              <a:t>‹#›</a:t>
            </a:fld>
            <a:endParaRPr lang="en-US"/>
          </a:p>
        </p:txBody>
      </p:sp>
    </p:spTree>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E0571-0E1C-452D-AADC-5A711B2681D4}" type="datetime1">
              <a:rPr lang="en-US" smtClean="0"/>
              <a:t>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AMH 2024</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86703A-D0B2-47BE-A8AB-ABBF730CE23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16.xml"/><Relationship Id="rId4" Type="http://schemas.openxmlformats.org/officeDocument/2006/relationships/image" Target="../media/image19.jpeg"/></Relationships>
</file>

<file path=ppt/slides/_rels/slide3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8.xml"/><Relationship Id="rId1" Type="http://schemas.openxmlformats.org/officeDocument/2006/relationships/slideLayout" Target="../slideLayouts/slideLayout16.xml"/><Relationship Id="rId4" Type="http://schemas.openxmlformats.org/officeDocument/2006/relationships/image" Target="../media/image21.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4.wmf"/><Relationship Id="rId5" Type="http://schemas.openxmlformats.org/officeDocument/2006/relationships/oleObject" Target="../embeddings/oleObject2.bin"/><Relationship Id="rId4" Type="http://schemas.openxmlformats.org/officeDocument/2006/relationships/image" Target="../media/image23.wmf"/></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9.wmf"/></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s://image3.slideserve.com/5610440/slide1-l.jpg"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hyperlink" Target="https://image3.slideserve.com/5610440/slide2-l.jpg" TargetMode="Externa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image3.slideserve.com/5610440/slide3-l.jpg"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image3.slideserve.com/5610440/slide4-l.jpg"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hyperlink" Target="https://image3.slideserve.com/5610440/slide5-l.jpg" TargetMode="Externa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image3.slideserve.com/5610440/slide6-l.jpg"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hyperlink" Target="https://image3.slideserve.com/5610440/slide7-l.jpg" TargetMode="Externa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hyperlink" Target="https://image3.slideserve.com/5610440/slide8-l.jpg" TargetMode="Externa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hyperlink" Target="https://image3.slideserve.com/5610440/slide9-l.jpg"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58.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47.wmf"/><Relationship Id="rId4" Type="http://schemas.openxmlformats.org/officeDocument/2006/relationships/oleObject" Target="../embeddings/oleObject5.bin"/></Relationships>
</file>

<file path=ppt/slides/_rels/slide10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47.wmf"/><Relationship Id="rId4" Type="http://schemas.openxmlformats.org/officeDocument/2006/relationships/oleObject" Target="../embeddings/oleObject7.bin"/></Relationships>
</file>

<file path=ppt/slides/_rels/slide10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12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12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7.xml"/><Relationship Id="rId4" Type="http://schemas.openxmlformats.org/officeDocument/2006/relationships/image" Target="../media/image82.jpeg"/></Relationships>
</file>

<file path=ppt/slides/_rels/slide151.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94.jpe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01.wmf"/><Relationship Id="rId4" Type="http://schemas.openxmlformats.org/officeDocument/2006/relationships/oleObject" Target="../embeddings/oleObject9.bin"/></Relationships>
</file>

<file path=ppt/slides/_rels/slide17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5.xml"/><Relationship Id="rId1" Type="http://schemas.openxmlformats.org/officeDocument/2006/relationships/slideLayout" Target="../slideLayouts/slideLayout1.xml"/><Relationship Id="rId5" Type="http://schemas.openxmlformats.org/officeDocument/2006/relationships/image" Target="../media/image105.jpeg"/><Relationship Id="rId4" Type="http://schemas.openxmlformats.org/officeDocument/2006/relationships/image" Target="../media/image104.jpeg"/></Relationships>
</file>

<file path=ppt/slides/_rels/slide17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6.xml"/><Relationship Id="rId1" Type="http://schemas.openxmlformats.org/officeDocument/2006/relationships/slideLayout" Target="../slideLayouts/slideLayout7.xml"/><Relationship Id="rId4" Type="http://schemas.openxmlformats.org/officeDocument/2006/relationships/image" Target="../media/image104.jpeg"/></Relationships>
</file>

<file path=ppt/slides/_rels/slide17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2.xml"/><Relationship Id="rId1" Type="http://schemas.openxmlformats.org/officeDocument/2006/relationships/slideLayout" Target="../slideLayouts/slideLayout7.xml"/><Relationship Id="rId4" Type="http://schemas.openxmlformats.org/officeDocument/2006/relationships/image" Target="../media/image112.jpeg"/></Relationships>
</file>

<file path=ppt/slides/_rels/slide183.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6.xml"/></Relationships>
</file>

<file path=ppt/slides/_rels/slide192.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6.xml"/><Relationship Id="rId1" Type="http://schemas.openxmlformats.org/officeDocument/2006/relationships/vmlDrawing" Target="../drawings/vmlDrawing6.vml"/><Relationship Id="rId5" Type="http://schemas.openxmlformats.org/officeDocument/2006/relationships/image" Target="../media/image119.emf"/><Relationship Id="rId4" Type="http://schemas.openxmlformats.org/officeDocument/2006/relationships/oleObject" Target="../embeddings/oleObject10.bin"/></Relationships>
</file>

<file path=ppt/slides/_rels/slide193.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4.xml"/><Relationship Id="rId1" Type="http://schemas.openxmlformats.org/officeDocument/2006/relationships/slideLayout" Target="../slideLayouts/slideLayout7.xml"/><Relationship Id="rId6" Type="http://schemas.openxmlformats.org/officeDocument/2006/relationships/image" Target="../media/image124.jpeg"/><Relationship Id="rId5" Type="http://schemas.openxmlformats.org/officeDocument/2006/relationships/image" Target="../media/image123.jpeg"/><Relationship Id="rId4" Type="http://schemas.openxmlformats.org/officeDocument/2006/relationships/image" Target="../media/image122.jpeg"/></Relationships>
</file>

<file path=ppt/slides/_rels/slide19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5.xml"/><Relationship Id="rId1" Type="http://schemas.openxmlformats.org/officeDocument/2006/relationships/slideLayout" Target="../slideLayouts/slideLayout7.xml"/><Relationship Id="rId4" Type="http://schemas.openxmlformats.org/officeDocument/2006/relationships/image" Target="../media/image126.wmf"/></Relationships>
</file>

<file path=ppt/slides/_rels/slide196.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6.xml"/><Relationship Id="rId1" Type="http://schemas.openxmlformats.org/officeDocument/2006/relationships/slideLayout" Target="../slideLayouts/slideLayout7.xml"/><Relationship Id="rId4" Type="http://schemas.openxmlformats.org/officeDocument/2006/relationships/image" Target="../media/image127.jpeg"/></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8.xml"/><Relationship Id="rId1" Type="http://schemas.openxmlformats.org/officeDocument/2006/relationships/slideLayout" Target="../slideLayouts/slideLayout7.xml"/><Relationship Id="rId4" Type="http://schemas.openxmlformats.org/officeDocument/2006/relationships/image" Target="../media/image129.jpeg"/></Relationships>
</file>

<file path=ppt/slides/_rels/slide199.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6.xml"/><Relationship Id="rId1" Type="http://schemas.openxmlformats.org/officeDocument/2006/relationships/vmlDrawing" Target="../drawings/vmlDrawing7.vml"/><Relationship Id="rId5" Type="http://schemas.openxmlformats.org/officeDocument/2006/relationships/image" Target="../media/image130.emf"/><Relationship Id="rId4" Type="http://schemas.openxmlformats.org/officeDocument/2006/relationships/oleObject" Target="../embeddings/oleObject11.bin"/></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6.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6.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2" Type="http://schemas.openxmlformats.org/officeDocument/2006/relationships/image" Target="../media/image131.jpe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2" Type="http://schemas.openxmlformats.org/officeDocument/2006/relationships/image" Target="../media/image132.jpeg"/><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image" Target="../media/image135.jpe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image" Target="../media/image138.gif"/><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media/image139.gif"/><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2" Type="http://schemas.openxmlformats.org/officeDocument/2006/relationships/image" Target="../media/image140.gif"/><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2" Type="http://schemas.openxmlformats.org/officeDocument/2006/relationships/image" Target="../media/image139.gif"/><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150.wmf"/><Relationship Id="rId5" Type="http://schemas.openxmlformats.org/officeDocument/2006/relationships/oleObject" Target="../embeddings/oleObject13.bin"/><Relationship Id="rId4" Type="http://schemas.openxmlformats.org/officeDocument/2006/relationships/image" Target="../media/image149.wmf"/></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oleObject" Target="../embeddings/oleObject14.bin"/><Relationship Id="rId7"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52.wmf"/><Relationship Id="rId5" Type="http://schemas.openxmlformats.org/officeDocument/2006/relationships/oleObject" Target="../embeddings/oleObject15.bin"/><Relationship Id="rId4" Type="http://schemas.openxmlformats.org/officeDocument/2006/relationships/image" Target="../media/image151.wmf"/></Relationships>
</file>

<file path=ppt/slides/_rels/slide2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155.wmf"/><Relationship Id="rId5" Type="http://schemas.openxmlformats.org/officeDocument/2006/relationships/oleObject" Target="../embeddings/oleObject18.bin"/><Relationship Id="rId4" Type="http://schemas.openxmlformats.org/officeDocument/2006/relationships/image" Target="../media/image154.wmf"/></Relationships>
</file>

<file path=ppt/slides/_rels/slide234.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156.wmf"/></Relationships>
</file>

<file path=ppt/slides/_rels/slide235.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157.wmf"/></Relationships>
</file>

<file path=ppt/slides/_rels/slide236.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159.wmf"/></Relationships>
</file>

<file path=ppt/slides/_rels/slide238.x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161.wmf"/><Relationship Id="rId5" Type="http://schemas.openxmlformats.org/officeDocument/2006/relationships/oleObject" Target="../embeddings/oleObject23.bin"/><Relationship Id="rId4" Type="http://schemas.openxmlformats.org/officeDocument/2006/relationships/image" Target="../media/image160.wmf"/></Relationships>
</file>

<file path=ppt/slides/_rels/slide23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5.vml"/><Relationship Id="rId4" Type="http://schemas.openxmlformats.org/officeDocument/2006/relationships/image" Target="../media/image163.wmf"/></Relationships>
</file>

<file path=ppt/slides/_rels/slide24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6.vml"/><Relationship Id="rId4" Type="http://schemas.openxmlformats.org/officeDocument/2006/relationships/image" Target="../media/image164.wmf"/></Relationships>
</file>

<file path=ppt/slides/_rels/slide241.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7.xml"/><Relationship Id="rId1" Type="http://schemas.openxmlformats.org/officeDocument/2006/relationships/vmlDrawing" Target="../drawings/vmlDrawing17.vml"/><Relationship Id="rId4" Type="http://schemas.openxmlformats.org/officeDocument/2006/relationships/image" Target="../media/image165.wmf"/></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167.wmf"/><Relationship Id="rId5" Type="http://schemas.openxmlformats.org/officeDocument/2006/relationships/oleObject" Target="../embeddings/oleObject29.bin"/><Relationship Id="rId4" Type="http://schemas.openxmlformats.org/officeDocument/2006/relationships/image" Target="../media/image166.wmf"/></Relationships>
</file>

<file path=ppt/slides/_rels/slide244.x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oleObject" Target="../embeddings/oleObject31.bin"/><Relationship Id="rId7"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70.wmf"/><Relationship Id="rId5" Type="http://schemas.openxmlformats.org/officeDocument/2006/relationships/oleObject" Target="../embeddings/oleObject32.bin"/><Relationship Id="rId4" Type="http://schemas.openxmlformats.org/officeDocument/2006/relationships/image" Target="../media/image169.wmf"/></Relationships>
</file>

<file path=ppt/slides/_rels/slide245.xml.rels><?xml version="1.0" encoding="UTF-8" standalone="yes"?>
<Relationships xmlns="http://schemas.openxmlformats.org/package/2006/relationships"><Relationship Id="rId3" Type="http://schemas.openxmlformats.org/officeDocument/2006/relationships/image" Target="../media/image172.jpeg"/><Relationship Id="rId2" Type="http://schemas.openxmlformats.org/officeDocument/2006/relationships/hyperlink" Target="http://www.mii.org/Minerals/photosalt.html" TargetMode="External"/><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6.xml"/><Relationship Id="rId1" Type="http://schemas.openxmlformats.org/officeDocument/2006/relationships/vmlDrawing" Target="../drawings/vmlDrawing20.vml"/><Relationship Id="rId4" Type="http://schemas.openxmlformats.org/officeDocument/2006/relationships/image" Target="../media/image174.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0.xml.rels><?xml version="1.0" encoding="UTF-8" standalone="yes"?>
<Relationships xmlns="http://schemas.openxmlformats.org/package/2006/relationships"><Relationship Id="rId3" Type="http://schemas.openxmlformats.org/officeDocument/2006/relationships/image" Target="../media/image176.png"/><Relationship Id="rId7" Type="http://schemas.openxmlformats.org/officeDocument/2006/relationships/image" Target="../media/image175.png"/><Relationship Id="rId2" Type="http://schemas.openxmlformats.org/officeDocument/2006/relationships/slideLayout" Target="../slideLayouts/slideLayout6.xml"/><Relationship Id="rId1" Type="http://schemas.openxmlformats.org/officeDocument/2006/relationships/vmlDrawing" Target="../drawings/vmlDrawing21.vml"/><Relationship Id="rId6" Type="http://schemas.openxmlformats.org/officeDocument/2006/relationships/oleObject" Target="../embeddings/oleObject35.bin"/><Relationship Id="rId5" Type="http://schemas.openxmlformats.org/officeDocument/2006/relationships/image" Target="../media/image178.png"/><Relationship Id="rId4" Type="http://schemas.openxmlformats.org/officeDocument/2006/relationships/image" Target="../media/image177.png"/></Relationships>
</file>

<file path=ppt/slides/_rels/slide251.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image" Target="../media/image179.jpeg"/><Relationship Id="rId1" Type="http://schemas.openxmlformats.org/officeDocument/2006/relationships/slideLayout" Target="../slideLayouts/slideLayout6.xml"/><Relationship Id="rId4" Type="http://schemas.openxmlformats.org/officeDocument/2006/relationships/image" Target="../media/image181.jpeg"/></Relationships>
</file>

<file path=ppt/slides/_rels/slide25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image" Target="../media/image183.png"/><Relationship Id="rId5" Type="http://schemas.openxmlformats.org/officeDocument/2006/relationships/oleObject" Target="../embeddings/oleObject37.bin"/><Relationship Id="rId4" Type="http://schemas.openxmlformats.org/officeDocument/2006/relationships/image" Target="../media/image182.png"/></Relationships>
</file>

<file path=ppt/slides/_rels/slide253.xml.rels><?xml version="1.0" encoding="UTF-8" standalone="yes"?>
<Relationships xmlns="http://schemas.openxmlformats.org/package/2006/relationships"><Relationship Id="rId2" Type="http://schemas.openxmlformats.org/officeDocument/2006/relationships/image" Target="../media/image184.png"/><Relationship Id="rId1" Type="http://schemas.openxmlformats.org/officeDocument/2006/relationships/slideLayout" Target="../slideLayouts/slideLayout6.xml"/></Relationships>
</file>

<file path=ppt/slides/_rels/slide254.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image" Target="../media/image186.png"/><Relationship Id="rId1" Type="http://schemas.openxmlformats.org/officeDocument/2006/relationships/slideLayout" Target="../slideLayouts/slideLayout7.xml"/><Relationship Id="rId5" Type="http://schemas.openxmlformats.org/officeDocument/2006/relationships/image" Target="../media/image189.png"/><Relationship Id="rId4" Type="http://schemas.openxmlformats.org/officeDocument/2006/relationships/image" Target="../media/image188.png"/></Relationships>
</file>

<file path=ppt/slides/_rels/slide256.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191.png"/></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192.jpeg"/><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2" Type="http://schemas.openxmlformats.org/officeDocument/2006/relationships/image" Target="../media/image193.jpeg"/><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2" Type="http://schemas.openxmlformats.org/officeDocument/2006/relationships/image" Target="../media/image194.png"/><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24.vml"/><Relationship Id="rId5" Type="http://schemas.openxmlformats.org/officeDocument/2006/relationships/image" Target="../media/image198.jpeg"/><Relationship Id="rId4" Type="http://schemas.openxmlformats.org/officeDocument/2006/relationships/image" Target="../media/image197.png"/></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8" Type="http://schemas.openxmlformats.org/officeDocument/2006/relationships/image" Target="../media/image201.png"/><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200.png"/><Relationship Id="rId5" Type="http://schemas.openxmlformats.org/officeDocument/2006/relationships/oleObject" Target="../embeddings/oleObject41.bin"/><Relationship Id="rId10" Type="http://schemas.openxmlformats.org/officeDocument/2006/relationships/image" Target="../media/image202.png"/><Relationship Id="rId4" Type="http://schemas.openxmlformats.org/officeDocument/2006/relationships/image" Target="../media/image199.png"/><Relationship Id="rId9" Type="http://schemas.openxmlformats.org/officeDocument/2006/relationships/oleObject" Target="../embeddings/oleObject43.bin"/></Relationships>
</file>

<file path=ppt/slides/_rels/slide266.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7.xml"/><Relationship Id="rId1" Type="http://schemas.openxmlformats.org/officeDocument/2006/relationships/vmlDrawing" Target="../drawings/vmlDrawing26.vml"/><Relationship Id="rId4" Type="http://schemas.openxmlformats.org/officeDocument/2006/relationships/image" Target="../media/image203.png"/></Relationships>
</file>

<file path=ppt/slides/_rels/slide267.xml.rels><?xml version="1.0" encoding="UTF-8" standalone="yes"?>
<Relationships xmlns="http://schemas.openxmlformats.org/package/2006/relationships"><Relationship Id="rId2" Type="http://schemas.openxmlformats.org/officeDocument/2006/relationships/image" Target="../media/image204.png"/><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2" Type="http://schemas.openxmlformats.org/officeDocument/2006/relationships/image" Target="../media/image205.png"/><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2" Type="http://schemas.openxmlformats.org/officeDocument/2006/relationships/image" Target="../media/image206.png"/><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image" Target="../media/image207.png"/><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2" Type="http://schemas.openxmlformats.org/officeDocument/2006/relationships/image" Target="../media/image210.jpeg"/><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8" Type="http://schemas.openxmlformats.org/officeDocument/2006/relationships/image" Target="../media/image213.png"/><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image" Target="../media/image212.png"/><Relationship Id="rId5" Type="http://schemas.openxmlformats.org/officeDocument/2006/relationships/oleObject" Target="../embeddings/oleObject46.bin"/><Relationship Id="rId10" Type="http://schemas.openxmlformats.org/officeDocument/2006/relationships/image" Target="../media/image214.png"/><Relationship Id="rId4" Type="http://schemas.openxmlformats.org/officeDocument/2006/relationships/image" Target="../media/image211.png"/><Relationship Id="rId9" Type="http://schemas.openxmlformats.org/officeDocument/2006/relationships/oleObject" Target="../embeddings/oleObject48.bin"/></Relationships>
</file>

<file path=ppt/slides/_rels/slide274.xml.rels><?xml version="1.0" encoding="UTF-8" standalone="yes"?>
<Relationships xmlns="http://schemas.openxmlformats.org/package/2006/relationships"><Relationship Id="rId2" Type="http://schemas.openxmlformats.org/officeDocument/2006/relationships/image" Target="../media/image215.emf"/><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2" Type="http://schemas.openxmlformats.org/officeDocument/2006/relationships/image" Target="../media/image216.png"/><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2" Type="http://schemas.openxmlformats.org/officeDocument/2006/relationships/image" Target="../media/image217.jpeg"/><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2" Type="http://schemas.openxmlformats.org/officeDocument/2006/relationships/image" Target="../media/image218.emf"/><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219.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2" Type="http://schemas.openxmlformats.org/officeDocument/2006/relationships/image" Target="../media/image221.emf"/><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8.vml"/><Relationship Id="rId5" Type="http://schemas.openxmlformats.org/officeDocument/2006/relationships/image" Target="../media/image225.png"/><Relationship Id="rId4" Type="http://schemas.openxmlformats.org/officeDocument/2006/relationships/image" Target="../media/image22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Inorganic Chemistry</a:t>
            </a:r>
            <a:endParaRPr lang="en-US" dirty="0"/>
          </a:p>
        </p:txBody>
      </p:sp>
      <p:sp>
        <p:nvSpPr>
          <p:cNvPr id="3" name="Subtitle 2"/>
          <p:cNvSpPr>
            <a:spLocks noGrp="1"/>
          </p:cNvSpPr>
          <p:nvPr>
            <p:ph type="subTitle" idx="1"/>
          </p:nvPr>
        </p:nvSpPr>
        <p:spPr/>
        <p:txBody>
          <a:bodyPr/>
          <a:lstStyle/>
          <a:p>
            <a:r>
              <a:rPr lang="en-US" dirty="0" smtClean="0">
                <a:solidFill>
                  <a:srgbClr val="FF0000"/>
                </a:solidFill>
              </a:rPr>
              <a:t>CHE 2205</a:t>
            </a:r>
          </a:p>
          <a:p>
            <a:r>
              <a:rPr lang="en-US" dirty="0" smtClean="0">
                <a:solidFill>
                  <a:srgbClr val="FF0000"/>
                </a:solidFill>
              </a:rPr>
              <a:t>(2 credits)</a:t>
            </a:r>
          </a:p>
          <a:p>
            <a:r>
              <a:rPr lang="en-US" dirty="0" smtClean="0">
                <a:solidFill>
                  <a:srgbClr val="FF0000"/>
                </a:solidFill>
              </a:rPr>
              <a:t>(30 hours)</a:t>
            </a:r>
            <a:endParaRPr lang="en-US" dirty="0">
              <a:solidFill>
                <a:srgbClr val="FF0000"/>
              </a:solidFill>
            </a:endParaRP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aims</a:t>
            </a:r>
            <a:endParaRPr lang="en-US" dirty="0"/>
          </a:p>
        </p:txBody>
      </p:sp>
      <p:sp>
        <p:nvSpPr>
          <p:cNvPr id="3" name="Content Placeholder 2"/>
          <p:cNvSpPr>
            <a:spLocks noGrp="1"/>
          </p:cNvSpPr>
          <p:nvPr>
            <p:ph idx="1"/>
          </p:nvPr>
        </p:nvSpPr>
        <p:spPr/>
        <p:txBody>
          <a:bodyPr/>
          <a:lstStyle/>
          <a:p>
            <a:r>
              <a:rPr lang="en-US" dirty="0" smtClean="0"/>
              <a:t>The aim is provide an overview of both modern and classical treatments of bonding in coordination compounds, and to apply the various structural models to the detailed interpretation  of spectral and magnetic properties.</a:t>
            </a:r>
          </a:p>
          <a:p>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ILOs:</a:t>
            </a:r>
            <a:endParaRPr lang="en-US" dirty="0"/>
          </a:p>
        </p:txBody>
      </p:sp>
      <p:sp>
        <p:nvSpPr>
          <p:cNvPr id="3" name="Content Placeholder 2"/>
          <p:cNvSpPr>
            <a:spLocks noGrp="1"/>
          </p:cNvSpPr>
          <p:nvPr>
            <p:ph idx="1"/>
          </p:nvPr>
        </p:nvSpPr>
        <p:spPr/>
        <p:txBody>
          <a:bodyPr>
            <a:normAutofit fontScale="92500"/>
          </a:bodyPr>
          <a:lstStyle/>
          <a:p>
            <a:r>
              <a:rPr lang="en-US" dirty="0" smtClean="0"/>
              <a:t>On successful completion of the course students should be able to </a:t>
            </a:r>
          </a:p>
          <a:p>
            <a:r>
              <a:rPr lang="en-US" dirty="0" smtClean="0"/>
              <a:t>construct molecular </a:t>
            </a:r>
            <a:r>
              <a:rPr lang="en-US" dirty="0" err="1" smtClean="0"/>
              <a:t>orbitals</a:t>
            </a:r>
            <a:r>
              <a:rPr lang="en-US" dirty="0" smtClean="0"/>
              <a:t> for mononuclear metal complexes, and to derive quantitative orbital energy schemes.</a:t>
            </a:r>
          </a:p>
          <a:p>
            <a:r>
              <a:rPr lang="en-US" dirty="0" smtClean="0"/>
              <a:t>use molecular orbital methods to interpret the position of </a:t>
            </a:r>
            <a:r>
              <a:rPr lang="en-US" dirty="0" err="1" smtClean="0"/>
              <a:t>ligands</a:t>
            </a:r>
            <a:r>
              <a:rPr lang="en-US" dirty="0" smtClean="0"/>
              <a:t> in the </a:t>
            </a:r>
            <a:r>
              <a:rPr lang="en-US" dirty="0" err="1" smtClean="0"/>
              <a:t>spectrochemical</a:t>
            </a:r>
            <a:r>
              <a:rPr lang="en-US" dirty="0" smtClean="0"/>
              <a:t> series.</a:t>
            </a:r>
          </a:p>
          <a:p>
            <a:r>
              <a:rPr lang="en-US" dirty="0" smtClean="0"/>
              <a:t>derive the energy levels of free metal ions, and how these are influenced by the </a:t>
            </a:r>
            <a:r>
              <a:rPr lang="en-US" dirty="0" err="1" smtClean="0"/>
              <a:t>ligands</a:t>
            </a:r>
            <a:r>
              <a:rPr lang="en-US" dirty="0" smtClean="0"/>
              <a:t>.</a:t>
            </a: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10000"/>
          </a:bodyPr>
          <a:lstStyle/>
          <a:p>
            <a:r>
              <a:rPr lang="en-US" dirty="0" smtClean="0"/>
              <a:t>use correlation diagrams to describe how energy levels change in metal complexes as the </a:t>
            </a:r>
            <a:r>
              <a:rPr lang="en-US" dirty="0" err="1" smtClean="0"/>
              <a:t>ligand</a:t>
            </a:r>
            <a:r>
              <a:rPr lang="en-US" dirty="0" smtClean="0"/>
              <a:t>-field strength changes.</a:t>
            </a:r>
          </a:p>
          <a:p>
            <a:r>
              <a:rPr lang="en-US" dirty="0" smtClean="0"/>
              <a:t>apply appropriate bonding models to the interpretation of electronic spectra and to extract chemically useful information from these spectra.</a:t>
            </a:r>
          </a:p>
          <a:p>
            <a:r>
              <a:rPr lang="en-US" dirty="0" smtClean="0"/>
              <a:t>describe the catalytic properties of transition metals and industrial applications of their compounds.</a:t>
            </a:r>
          </a:p>
          <a:p>
            <a:r>
              <a:rPr lang="en-US" dirty="0" smtClean="0"/>
              <a:t>specify atomic planes, directions and families of planes and directions within a given crystal structure using Miller indices.</a:t>
            </a:r>
          </a:p>
          <a:p>
            <a:r>
              <a:rPr lang="en-US" dirty="0" smtClean="0"/>
              <a:t>predict decay and reactions</a:t>
            </a:r>
          </a:p>
          <a:p>
            <a:r>
              <a:rPr lang="en-US" dirty="0" smtClean="0"/>
              <a:t>explain the courses of radio activity and radio decay.</a:t>
            </a:r>
          </a:p>
          <a:p>
            <a:r>
              <a:rPr lang="en-US" dirty="0" smtClean="0"/>
              <a:t>describe the process of decay and predict the products.</a:t>
            </a:r>
          </a:p>
          <a:p>
            <a:endParaRPr lang="en-US" dirty="0" smtClean="0"/>
          </a:p>
          <a:p>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capsule:</a:t>
            </a:r>
            <a:endParaRPr lang="en-US" dirty="0"/>
          </a:p>
        </p:txBody>
      </p:sp>
      <p:sp>
        <p:nvSpPr>
          <p:cNvPr id="3" name="Content Placeholder 2"/>
          <p:cNvSpPr>
            <a:spLocks noGrp="1"/>
          </p:cNvSpPr>
          <p:nvPr>
            <p:ph idx="1"/>
          </p:nvPr>
        </p:nvSpPr>
        <p:spPr/>
        <p:txBody>
          <a:bodyPr>
            <a:normAutofit fontScale="92500" lnSpcReduction="10000"/>
          </a:bodyPr>
          <a:lstStyle/>
          <a:p>
            <a:pPr algn="ctr"/>
            <a:r>
              <a:rPr lang="en-US" dirty="0" smtClean="0"/>
              <a:t>Coordination Chemistry (15 h)</a:t>
            </a:r>
          </a:p>
          <a:p>
            <a:r>
              <a:rPr lang="en-US" dirty="0" smtClean="0"/>
              <a:t>IUPAC nomenclature of transition metal complexes, Types of </a:t>
            </a:r>
            <a:r>
              <a:rPr lang="en-US" dirty="0" err="1" smtClean="0"/>
              <a:t>ligands</a:t>
            </a:r>
            <a:r>
              <a:rPr lang="en-US" dirty="0" smtClean="0"/>
              <a:t>, Coordination chemistry of metal complexes, Isomers, Hybridization and geometry. Bonding theories of transition metal complexes, crystal field theory, </a:t>
            </a:r>
            <a:r>
              <a:rPr lang="en-US" dirty="0" err="1" smtClean="0"/>
              <a:t>ligand</a:t>
            </a:r>
            <a:r>
              <a:rPr lang="en-US" dirty="0" smtClean="0"/>
              <a:t> field theory and molecular orbital theory. </a:t>
            </a:r>
            <a:r>
              <a:rPr lang="en-US" dirty="0" err="1" smtClean="0"/>
              <a:t>Jahn</a:t>
            </a:r>
            <a:r>
              <a:rPr lang="en-US" dirty="0" smtClean="0"/>
              <a:t> Teller theory and its applications. Variation in </a:t>
            </a:r>
            <a:r>
              <a:rPr lang="en-US" dirty="0" err="1" smtClean="0"/>
              <a:t>colour</a:t>
            </a:r>
            <a:r>
              <a:rPr lang="en-US" dirty="0" smtClean="0"/>
              <a:t>, Magnetic properties and reactivity of coordination complexes.  </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pPr algn="ctr"/>
            <a:r>
              <a:rPr lang="en-US" dirty="0" smtClean="0"/>
              <a:t>Solid state (10 h)</a:t>
            </a:r>
          </a:p>
          <a:p>
            <a:r>
              <a:rPr lang="en-US" dirty="0" smtClean="0"/>
              <a:t>Classification of Solids: Crystalline solids, amorphous solids, distinction between crystalline and amorphous solids, molecular crystals (van </a:t>
            </a:r>
            <a:r>
              <a:rPr lang="en-US" dirty="0" err="1" smtClean="0"/>
              <a:t>der</a:t>
            </a:r>
            <a:r>
              <a:rPr lang="en-US" dirty="0" smtClean="0"/>
              <a:t> Waals crystal), covalent crystals, ionic crystals.</a:t>
            </a:r>
          </a:p>
          <a:p>
            <a:r>
              <a:rPr lang="en-US" dirty="0" smtClean="0"/>
              <a:t>The crystal Structures of Ionic Materials: Pauling groups, Crystal types: simple cubic (c), body centered cubic (bcc), face centered cubic (</a:t>
            </a:r>
            <a:r>
              <a:rPr lang="en-US" dirty="0" err="1" smtClean="0"/>
              <a:t>fcc</a:t>
            </a:r>
            <a:r>
              <a:rPr lang="en-US" dirty="0" smtClean="0"/>
              <a:t>/</a:t>
            </a:r>
            <a:r>
              <a:rPr lang="en-US" dirty="0" err="1" smtClean="0"/>
              <a:t>ccp</a:t>
            </a:r>
            <a:r>
              <a:rPr lang="en-US" dirty="0" smtClean="0"/>
              <a:t>) hexagonal close packed (</a:t>
            </a:r>
            <a:r>
              <a:rPr lang="en-US" dirty="0" err="1" smtClean="0"/>
              <a:t>hcp</a:t>
            </a:r>
            <a:r>
              <a:rPr lang="en-US" dirty="0" smtClean="0"/>
              <a:t>) etc., tetrahedral and octahedral holes, coordination number, unit cell, crystal systems, Miller indices and their significance.</a:t>
            </a:r>
          </a:p>
          <a:p>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lstStyle/>
          <a:p>
            <a:pPr algn="ctr"/>
            <a:r>
              <a:rPr lang="en-US" dirty="0" smtClean="0"/>
              <a:t>Nuclear and radio chemistry (5 h)</a:t>
            </a:r>
          </a:p>
          <a:p>
            <a:r>
              <a:rPr lang="en-US" dirty="0" smtClean="0"/>
              <a:t>Atomic nucleus, radio isotopes, binding energy, nuclear stability, radioactivity and decay, nuclear reactions, effects of radiation on matter.</a:t>
            </a:r>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Teaching methods:</a:t>
            </a:r>
            <a:endParaRPr lang="en-US" dirty="0"/>
          </a:p>
        </p:txBody>
      </p:sp>
      <p:sp>
        <p:nvSpPr>
          <p:cNvPr id="3" name="Content Placeholder 2"/>
          <p:cNvSpPr>
            <a:spLocks noGrp="1"/>
          </p:cNvSpPr>
          <p:nvPr>
            <p:ph idx="1"/>
          </p:nvPr>
        </p:nvSpPr>
        <p:spPr/>
        <p:txBody>
          <a:bodyPr/>
          <a:lstStyle/>
          <a:p>
            <a:r>
              <a:rPr lang="en-US" dirty="0" smtClean="0"/>
              <a:t>Lectures</a:t>
            </a:r>
          </a:p>
          <a:p>
            <a:r>
              <a:rPr lang="en-US" dirty="0" smtClean="0"/>
              <a:t>Assignments and </a:t>
            </a:r>
          </a:p>
          <a:p>
            <a:r>
              <a:rPr lang="en-US" dirty="0" err="1" smtClean="0"/>
              <a:t>Turorials</a:t>
            </a:r>
            <a:r>
              <a:rPr lang="en-US" dirty="0" smtClean="0"/>
              <a:t>/quizzes</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Course evaluation</a:t>
            </a:r>
            <a:endParaRPr lang="en-US" dirty="0"/>
          </a:p>
        </p:txBody>
      </p:sp>
      <p:graphicFrame>
        <p:nvGraphicFramePr>
          <p:cNvPr id="4" name="Content Placeholder 3"/>
          <p:cNvGraphicFramePr>
            <a:graphicFrameLocks noGrp="1"/>
          </p:cNvGraphicFramePr>
          <p:nvPr>
            <p:ph idx="1"/>
          </p:nvPr>
        </p:nvGraphicFramePr>
        <p:xfrm>
          <a:off x="457200" y="1600200"/>
          <a:ext cx="8229600" cy="1483360"/>
        </p:xfrm>
        <a:graphic>
          <a:graphicData uri="http://schemas.openxmlformats.org/drawingml/2006/table">
            <a:tbl>
              <a:tblPr firstRow="1" bandRow="1">
                <a:tableStyleId>{5C22544A-7EE6-4342-B048-85BDC9FD1C3A}</a:tableStyleId>
              </a:tblPr>
              <a:tblGrid>
                <a:gridCol w="4114800"/>
                <a:gridCol w="4114800"/>
              </a:tblGrid>
              <a:tr h="370840">
                <a:tc>
                  <a:txBody>
                    <a:bodyPr/>
                    <a:lstStyle/>
                    <a:p>
                      <a:r>
                        <a:rPr lang="en-US" dirty="0" smtClean="0"/>
                        <a:t>Assessment</a:t>
                      </a:r>
                      <a:endParaRPr lang="en-US" dirty="0"/>
                    </a:p>
                  </a:txBody>
                  <a:tcPr/>
                </a:tc>
                <a:tc>
                  <a:txBody>
                    <a:bodyPr/>
                    <a:lstStyle/>
                    <a:p>
                      <a:r>
                        <a:rPr lang="en-US" dirty="0" smtClean="0"/>
                        <a:t>Contribution to Course Grade (%)</a:t>
                      </a:r>
                      <a:endParaRPr lang="en-US" dirty="0"/>
                    </a:p>
                  </a:txBody>
                  <a:tcPr/>
                </a:tc>
              </a:tr>
              <a:tr h="370840">
                <a:tc>
                  <a:txBody>
                    <a:bodyPr/>
                    <a:lstStyle/>
                    <a:p>
                      <a:r>
                        <a:rPr lang="en-US" dirty="0" smtClean="0"/>
                        <a:t>Continuous assessment</a:t>
                      </a:r>
                      <a:endParaRPr lang="en-US" dirty="0"/>
                    </a:p>
                  </a:txBody>
                  <a:tcPr/>
                </a:tc>
                <a:tc>
                  <a:txBody>
                    <a:bodyPr/>
                    <a:lstStyle/>
                    <a:p>
                      <a:pPr algn="ctr"/>
                      <a:r>
                        <a:rPr lang="en-US" dirty="0" smtClean="0"/>
                        <a:t>10</a:t>
                      </a:r>
                      <a:endParaRPr lang="en-US" dirty="0"/>
                    </a:p>
                  </a:txBody>
                  <a:tcPr/>
                </a:tc>
              </a:tr>
              <a:tr h="370840">
                <a:tc>
                  <a:txBody>
                    <a:bodyPr/>
                    <a:lstStyle/>
                    <a:p>
                      <a:r>
                        <a:rPr lang="en-US" dirty="0" smtClean="0"/>
                        <a:t>Mid semester examination</a:t>
                      </a:r>
                      <a:endParaRPr lang="en-US" dirty="0"/>
                    </a:p>
                  </a:txBody>
                  <a:tcPr/>
                </a:tc>
                <a:tc>
                  <a:txBody>
                    <a:bodyPr/>
                    <a:lstStyle/>
                    <a:p>
                      <a:pPr algn="ctr"/>
                      <a:r>
                        <a:rPr lang="en-US" dirty="0" smtClean="0"/>
                        <a:t>20</a:t>
                      </a:r>
                      <a:endParaRPr lang="en-US" dirty="0"/>
                    </a:p>
                  </a:txBody>
                  <a:tcPr/>
                </a:tc>
              </a:tr>
              <a:tr h="370840">
                <a:tc>
                  <a:txBody>
                    <a:bodyPr/>
                    <a:lstStyle/>
                    <a:p>
                      <a:r>
                        <a:rPr lang="en-US" dirty="0" smtClean="0"/>
                        <a:t>End semester Examination theory</a:t>
                      </a:r>
                      <a:endParaRPr lang="en-US" dirty="0"/>
                    </a:p>
                  </a:txBody>
                  <a:tcPr/>
                </a:tc>
                <a:tc>
                  <a:txBody>
                    <a:bodyPr/>
                    <a:lstStyle/>
                    <a:p>
                      <a:pPr algn="ctr"/>
                      <a:r>
                        <a:rPr lang="en-US" dirty="0" smtClean="0"/>
                        <a:t>70</a:t>
                      </a:r>
                      <a:endParaRPr lang="en-US" dirty="0"/>
                    </a:p>
                  </a:txBody>
                  <a:tcPr/>
                </a:tc>
              </a:tr>
            </a:tbl>
          </a:graphicData>
        </a:graphic>
      </p:graphicFrame>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Recommended Texts: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1.	</a:t>
            </a:r>
            <a:r>
              <a:rPr lang="en-US" dirty="0" err="1" smtClean="0"/>
              <a:t>J.D.Lee</a:t>
            </a:r>
            <a:r>
              <a:rPr lang="en-US" dirty="0" smtClean="0"/>
              <a:t> (2006) Concise Inorganic Chemistry, 	5</a:t>
            </a:r>
            <a:r>
              <a:rPr lang="en-US" baseline="30000" dirty="0" smtClean="0"/>
              <a:t>th</a:t>
            </a:r>
            <a:r>
              <a:rPr lang="en-US" dirty="0" smtClean="0"/>
              <a:t> Edition, Blackwell Science, London</a:t>
            </a:r>
          </a:p>
          <a:p>
            <a:r>
              <a:rPr lang="en-US" dirty="0" smtClean="0"/>
              <a:t>2.	D F Shriver and P W Atkins (2006) Inorganic 	Chemistry, 4</a:t>
            </a:r>
            <a:r>
              <a:rPr lang="en-US" baseline="30000" dirty="0" smtClean="0"/>
              <a:t>th</a:t>
            </a:r>
            <a:r>
              <a:rPr lang="en-US" dirty="0" smtClean="0"/>
              <a:t> Edition, W H Freeman and Co. 	London</a:t>
            </a:r>
          </a:p>
          <a:p>
            <a:r>
              <a:rPr lang="en-US" dirty="0" smtClean="0"/>
              <a:t>3.	J E </a:t>
            </a:r>
            <a:r>
              <a:rPr lang="en-US" dirty="0" err="1" smtClean="0"/>
              <a:t>Hutheey</a:t>
            </a:r>
            <a:r>
              <a:rPr lang="en-US" dirty="0" smtClean="0"/>
              <a:t>, E A </a:t>
            </a:r>
            <a:r>
              <a:rPr lang="en-US" dirty="0" err="1" smtClean="0"/>
              <a:t>Keiter</a:t>
            </a:r>
            <a:r>
              <a:rPr lang="en-US" dirty="0" smtClean="0"/>
              <a:t> and R L </a:t>
            </a:r>
            <a:r>
              <a:rPr lang="en-US" dirty="0" err="1" smtClean="0"/>
              <a:t>Keither</a:t>
            </a:r>
            <a:r>
              <a:rPr lang="en-US" dirty="0" smtClean="0"/>
              <a:t> (1997) 	Inorganic Chemistry, 4</a:t>
            </a:r>
            <a:r>
              <a:rPr lang="en-US" baseline="30000" dirty="0" smtClean="0"/>
              <a:t>th</a:t>
            </a:r>
            <a:r>
              <a:rPr lang="en-US" dirty="0" smtClean="0"/>
              <a:t> Edition, Harper 	Collins, New York</a:t>
            </a:r>
          </a:p>
          <a:p>
            <a:r>
              <a:rPr lang="en-US" dirty="0" smtClean="0"/>
              <a:t>4.	T Moeller (1990) Inorganic Chemistry: A 	</a:t>
            </a:r>
            <a:r>
              <a:rPr lang="en-US" dirty="0" err="1" smtClean="0"/>
              <a:t>Moderen</a:t>
            </a:r>
            <a:r>
              <a:rPr lang="en-US" dirty="0" smtClean="0"/>
              <a:t> Introduction, New York.</a:t>
            </a:r>
            <a:endParaRPr lang="en-US" dirty="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IUPAC nomenclature of transition metal complexes</a:t>
            </a:r>
            <a:endParaRPr lang="en-US" dirty="0"/>
          </a:p>
        </p:txBody>
      </p:sp>
      <p:sp>
        <p:nvSpPr>
          <p:cNvPr id="3" name="Content Placeholder 2"/>
          <p:cNvSpPr>
            <a:spLocks noGrp="1"/>
          </p:cNvSpPr>
          <p:nvPr>
            <p:ph idx="1"/>
          </p:nvPr>
        </p:nvSpPr>
        <p:spPr/>
        <p:txBody>
          <a:bodyPr/>
          <a:lstStyle/>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fontScale="90000"/>
          </a:bodyPr>
          <a:lstStyle/>
          <a:p>
            <a:pPr>
              <a:spcBef>
                <a:spcPct val="20000"/>
              </a:spcBef>
            </a:pPr>
            <a:r>
              <a:rPr lang="en-US" altLang="en-US" sz="4000">
                <a:latin typeface="Times New Roman" pitchFamily="18" charset="0"/>
                <a:cs typeface="Times New Roman" pitchFamily="18" charset="0"/>
              </a:rPr>
              <a:t>The Position of the Transition Elements on the Periodic Table</a:t>
            </a:r>
            <a:endParaRPr lang="en-US" sz="4000">
              <a:latin typeface="Times New Roman" pitchFamily="18" charset="0"/>
              <a:cs typeface="Times New Roman" pitchFamily="18" charset="0"/>
            </a:endParaRPr>
          </a:p>
        </p:txBody>
      </p:sp>
      <p:sp>
        <p:nvSpPr>
          <p:cNvPr id="1024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244" name="Picture 4" descr="figure_21_01"/>
          <p:cNvPicPr>
            <a:picLocks noChangeAspect="1" noChangeArrowheads="1"/>
          </p:cNvPicPr>
          <p:nvPr/>
        </p:nvPicPr>
        <p:blipFill>
          <a:blip r:embed="rId3" cstate="print"/>
          <a:srcRect/>
          <a:stretch>
            <a:fillRect/>
          </a:stretch>
        </p:blipFill>
        <p:spPr bwMode="auto">
          <a:xfrm>
            <a:off x="2133600" y="1676400"/>
            <a:ext cx="4953000" cy="4741863"/>
          </a:xfrm>
          <a:prstGeom prst="rect">
            <a:avLst/>
          </a:prstGeom>
          <a:noFill/>
          <a:ln w="12700">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Forming Ionic Compounds</a:t>
            </a:r>
          </a:p>
        </p:txBody>
      </p:sp>
      <p:sp>
        <p:nvSpPr>
          <p:cNvPr id="12291" name="Rectangle 3"/>
          <p:cNvSpPr>
            <a:spLocks noGrp="1" noChangeArrowheads="1"/>
          </p:cNvSpPr>
          <p:nvPr>
            <p:ph type="body" idx="1"/>
          </p:nvPr>
        </p:nvSpPr>
        <p:spPr>
          <a:xfrm>
            <a:off x="457200" y="1600200"/>
            <a:ext cx="8229600" cy="4210050"/>
          </a:xfrm>
        </p:spPr>
        <p:txBody>
          <a:bodyPr/>
          <a:lstStyle/>
          <a:p>
            <a:pPr marL="457200" indent="-457200"/>
            <a:r>
              <a:rPr lang="en-US" dirty="0">
                <a:solidFill>
                  <a:srgbClr val="FF0000"/>
                </a:solidFill>
                <a:latin typeface="Times New Roman" pitchFamily="18" charset="0"/>
                <a:cs typeface="Times New Roman" pitchFamily="18" charset="0"/>
              </a:rPr>
              <a:t>Transition metals generally exhibit more than one oxidation state</a:t>
            </a:r>
            <a:r>
              <a:rPr lang="en-US" dirty="0">
                <a:latin typeface="Times New Roman" pitchFamily="18" charset="0"/>
                <a:cs typeface="Times New Roman" pitchFamily="18" charset="0"/>
              </a:rPr>
              <a:t>.</a:t>
            </a:r>
          </a:p>
          <a:p>
            <a:pPr marL="457200" indent="-457200"/>
            <a:r>
              <a:rPr lang="en-US" dirty="0" err="1">
                <a:latin typeface="Times New Roman" pitchFamily="18" charset="0"/>
                <a:cs typeface="Times New Roman" pitchFamily="18" charset="0"/>
              </a:rPr>
              <a:t>Cations</a:t>
            </a:r>
            <a:r>
              <a:rPr lang="en-US" dirty="0">
                <a:latin typeface="Times New Roman" pitchFamily="18" charset="0"/>
                <a:cs typeface="Times New Roman" pitchFamily="18" charset="0"/>
              </a:rPr>
              <a:t> are often complex ions – species where the transition metal ion is surrounded by a certain number of </a:t>
            </a:r>
            <a:r>
              <a:rPr lang="en-US" dirty="0" err="1">
                <a:latin typeface="Times New Roman" pitchFamily="18" charset="0"/>
                <a:cs typeface="Times New Roman" pitchFamily="18" charset="0"/>
              </a:rPr>
              <a:t>ligands</a:t>
            </a:r>
            <a:r>
              <a:rPr lang="en-US" dirty="0">
                <a:latin typeface="Times New Roman" pitchFamily="18" charset="0"/>
                <a:cs typeface="Times New Roman" pitchFamily="18" charset="0"/>
              </a:rPr>
              <a:t> (Lewis bases).</a:t>
            </a:r>
          </a:p>
        </p:txBody>
      </p:sp>
      <p:sp>
        <p:nvSpPr>
          <p:cNvPr id="12292"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1" nodeType="clickEffect">
                                  <p:stCondLst>
                                    <p:cond delay="0"/>
                                  </p:stCondLst>
                                  <p:childTnLst>
                                    <p:set>
                                      <p:cBhvr>
                                        <p:cTn id="16" dur="1" fill="hold">
                                          <p:stCondLst>
                                            <p:cond delay="0"/>
                                          </p:stCondLst>
                                        </p:cTn>
                                        <p:tgtEl>
                                          <p:spTgt spid="12291">
                                            <p:txEl>
                                              <p:pRg st="0" end="0"/>
                                            </p:txEl>
                                          </p:spTgt>
                                        </p:tgtEl>
                                        <p:attrNameLst>
                                          <p:attrName>style.visibility</p:attrName>
                                        </p:attrNameLst>
                                      </p:cBhvr>
                                      <p:to>
                                        <p:strVal val="visible"/>
                                      </p:to>
                                    </p:set>
                                    <p:animEffect transition="in" filter="box(in)">
                                      <p:cBhvr>
                                        <p:cTn id="17" dur="500"/>
                                        <p:tgtEl>
                                          <p:spTgt spid="12291">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1" nodeType="clickEffect">
                                  <p:stCondLst>
                                    <p:cond delay="0"/>
                                  </p:stCondLst>
                                  <p:childTnLst>
                                    <p:set>
                                      <p:cBhvr>
                                        <p:cTn id="21" dur="1" fill="hold">
                                          <p:stCondLst>
                                            <p:cond delay="0"/>
                                          </p:stCondLst>
                                        </p:cTn>
                                        <p:tgtEl>
                                          <p:spTgt spid="12291">
                                            <p:txEl>
                                              <p:pRg st="1" end="1"/>
                                            </p:txEl>
                                          </p:spTgt>
                                        </p:tgtEl>
                                        <p:attrNameLst>
                                          <p:attrName>style.visibility</p:attrName>
                                        </p:attrNameLst>
                                      </p:cBhvr>
                                      <p:to>
                                        <p:strVal val="visible"/>
                                      </p:to>
                                    </p:set>
                                    <p:animEffect transition="in" filter="box(in)">
                                      <p:cBhvr>
                                        <p:cTn id="22" dur="500"/>
                                        <p:tgtEl>
                                          <p:spTgt spid="122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autoUpdateAnimBg="0"/>
      <p:bldP spid="12291" grpId="1"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381000"/>
            <a:ext cx="8229600" cy="1036638"/>
          </a:xfrm>
        </p:spPr>
        <p:txBody>
          <a:bodyPr/>
          <a:lstStyle/>
          <a:p>
            <a:pPr>
              <a:spcBef>
                <a:spcPct val="20000"/>
              </a:spcBef>
            </a:pPr>
            <a:r>
              <a:rPr lang="en-US" altLang="en-US">
                <a:latin typeface="Times New Roman" pitchFamily="18" charset="0"/>
                <a:cs typeface="Times New Roman" pitchFamily="18" charset="0"/>
              </a:rPr>
              <a:t>The Complex Ion Co(NH</a:t>
            </a:r>
            <a:r>
              <a:rPr lang="en-US" altLang="en-US" baseline="-25000">
                <a:latin typeface="Times New Roman" pitchFamily="18" charset="0"/>
                <a:cs typeface="Times New Roman" pitchFamily="18" charset="0"/>
              </a:rPr>
              <a:t>3</a:t>
            </a:r>
            <a:r>
              <a:rPr lang="en-US" altLang="en-US">
                <a:latin typeface="Times New Roman" pitchFamily="18" charset="0"/>
                <a:cs typeface="Times New Roman" pitchFamily="18" charset="0"/>
              </a:rPr>
              <a:t>)</a:t>
            </a:r>
            <a:r>
              <a:rPr lang="en-US" altLang="en-US" baseline="-25000">
                <a:latin typeface="Times New Roman" pitchFamily="18" charset="0"/>
                <a:cs typeface="Times New Roman" pitchFamily="18" charset="0"/>
              </a:rPr>
              <a:t>6</a:t>
            </a:r>
            <a:r>
              <a:rPr lang="en-US" altLang="en-US" baseline="30000">
                <a:latin typeface="Times New Roman" pitchFamily="18" charset="0"/>
                <a:cs typeface="Times New Roman" pitchFamily="18" charset="0"/>
              </a:rPr>
              <a:t>3+</a:t>
            </a:r>
            <a:endParaRPr lang="en-US" baseline="30000">
              <a:latin typeface="Times New Roman" pitchFamily="18" charset="0"/>
              <a:cs typeface="Times New Roman" pitchFamily="18" charset="0"/>
            </a:endParaRPr>
          </a:p>
        </p:txBody>
      </p:sp>
      <p:sp>
        <p:nvSpPr>
          <p:cNvPr id="1433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4340" name="Picture 4" descr="ch21_05"/>
          <p:cNvPicPr>
            <a:picLocks noChangeAspect="1" noChangeArrowheads="1"/>
          </p:cNvPicPr>
          <p:nvPr/>
        </p:nvPicPr>
        <p:blipFill>
          <a:blip r:embed="rId3"/>
          <a:srcRect/>
          <a:stretch>
            <a:fillRect/>
          </a:stretch>
        </p:blipFill>
        <p:spPr bwMode="auto">
          <a:xfrm>
            <a:off x="1295400" y="1828800"/>
            <a:ext cx="6781800" cy="3452813"/>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spcBef>
                <a:spcPct val="20000"/>
              </a:spcBef>
            </a:pPr>
            <a:r>
              <a:rPr lang="en-US" sz="3600">
                <a:latin typeface="Times New Roman" pitchFamily="18" charset="0"/>
                <a:cs typeface="Times New Roman" pitchFamily="18" charset="0"/>
              </a:rPr>
              <a:t>Ionic Compounds with Transition Metals</a:t>
            </a:r>
          </a:p>
        </p:txBody>
      </p:sp>
      <p:sp>
        <p:nvSpPr>
          <p:cNvPr id="16387" name="Rectangle 3"/>
          <p:cNvSpPr>
            <a:spLocks noGrp="1" noChangeArrowheads="1"/>
          </p:cNvSpPr>
          <p:nvPr>
            <p:ph type="body" idx="1"/>
          </p:nvPr>
        </p:nvSpPr>
        <p:spPr>
          <a:xfrm>
            <a:off x="457200" y="1828800"/>
            <a:ext cx="8229600" cy="4210050"/>
          </a:xfrm>
        </p:spPr>
        <p:txBody>
          <a:bodyPr/>
          <a:lstStyle/>
          <a:p>
            <a:pPr marL="457200" indent="-457200"/>
            <a:r>
              <a:rPr lang="en-US">
                <a:latin typeface="Times New Roman" pitchFamily="18" charset="0"/>
                <a:cs typeface="Times New Roman" pitchFamily="18" charset="0"/>
              </a:rPr>
              <a:t>Most compounds are colored because the transition metal ion in the complex ion can absorb visible light of specific wavelengths.</a:t>
            </a:r>
          </a:p>
          <a:p>
            <a:pPr marL="457200" indent="-457200"/>
            <a:r>
              <a:rPr lang="en-US">
                <a:latin typeface="Times New Roman" pitchFamily="18" charset="0"/>
                <a:cs typeface="Times New Roman" pitchFamily="18" charset="0"/>
              </a:rPr>
              <a:t>Many compounds are paramagnetic.</a:t>
            </a:r>
          </a:p>
        </p:txBody>
      </p:sp>
      <p:sp>
        <p:nvSpPr>
          <p:cNvPr id="1638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left)">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left)">
                                      <p:cBhvr>
                                        <p:cTn id="12" dur="500"/>
                                        <p:tgtEl>
                                          <p:spTgt spid="163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spcBef>
                <a:spcPct val="20000"/>
              </a:spcBef>
            </a:pPr>
            <a:r>
              <a:rPr lang="en-US" sz="3600">
                <a:latin typeface="Times New Roman" pitchFamily="18" charset="0"/>
                <a:cs typeface="Times New Roman" pitchFamily="18" charset="0"/>
              </a:rPr>
              <a:t>Ionic Compounds with Transition Metals</a:t>
            </a:r>
          </a:p>
        </p:txBody>
      </p:sp>
      <p:sp>
        <p:nvSpPr>
          <p:cNvPr id="16387" name="Rectangle 3"/>
          <p:cNvSpPr>
            <a:spLocks noGrp="1" noChangeArrowheads="1"/>
          </p:cNvSpPr>
          <p:nvPr>
            <p:ph type="body" idx="1"/>
          </p:nvPr>
        </p:nvSpPr>
        <p:spPr>
          <a:xfrm>
            <a:off x="457200" y="1828800"/>
            <a:ext cx="8229600" cy="4210050"/>
          </a:xfrm>
        </p:spPr>
        <p:txBody>
          <a:bodyPr/>
          <a:lstStyle/>
          <a:p>
            <a:pPr marL="457200" indent="-457200"/>
            <a:r>
              <a:rPr lang="en-US">
                <a:latin typeface="Times New Roman" pitchFamily="18" charset="0"/>
                <a:cs typeface="Times New Roman" pitchFamily="18" charset="0"/>
              </a:rPr>
              <a:t>Most compounds are colored because the transition metal ion in the complex ion can absorb visible light of specific wavelengths.</a:t>
            </a:r>
          </a:p>
          <a:p>
            <a:pPr marL="457200" indent="-457200"/>
            <a:r>
              <a:rPr lang="en-US">
                <a:latin typeface="Times New Roman" pitchFamily="18" charset="0"/>
                <a:cs typeface="Times New Roman" pitchFamily="18" charset="0"/>
              </a:rPr>
              <a:t>Many compounds are paramagnetic.</a:t>
            </a:r>
          </a:p>
        </p:txBody>
      </p:sp>
      <p:sp>
        <p:nvSpPr>
          <p:cNvPr id="1638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wipe(left)">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87">
                                            <p:txEl>
                                              <p:pRg st="1" end="1"/>
                                            </p:txEl>
                                          </p:spTgt>
                                        </p:tgtEl>
                                        <p:attrNameLst>
                                          <p:attrName>style.visibility</p:attrName>
                                        </p:attrNameLst>
                                      </p:cBhvr>
                                      <p:to>
                                        <p:strVal val="visible"/>
                                      </p:to>
                                    </p:set>
                                    <p:animEffect transition="in" filter="wipe(left)">
                                      <p:cBhvr>
                                        <p:cTn id="12" dur="500"/>
                                        <p:tgtEl>
                                          <p:spTgt spid="1638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Electron Configurations</a:t>
            </a:r>
          </a:p>
        </p:txBody>
      </p:sp>
      <p:sp>
        <p:nvSpPr>
          <p:cNvPr id="18435" name="Rectangle 3"/>
          <p:cNvSpPr>
            <a:spLocks noGrp="1" noChangeArrowheads="1"/>
          </p:cNvSpPr>
          <p:nvPr>
            <p:ph type="body" idx="1"/>
          </p:nvPr>
        </p:nvSpPr>
        <p:spPr>
          <a:xfrm>
            <a:off x="457200" y="1752600"/>
            <a:ext cx="8229600" cy="3962400"/>
          </a:xfrm>
        </p:spPr>
        <p:txBody>
          <a:bodyPr/>
          <a:lstStyle/>
          <a:p>
            <a:pPr marL="457200" indent="-457200"/>
            <a:r>
              <a:rPr lang="en-US" sz="3600">
                <a:latin typeface="Times New Roman" pitchFamily="18" charset="0"/>
                <a:cs typeface="Times New Roman" pitchFamily="18" charset="0"/>
              </a:rPr>
              <a:t>Example</a:t>
            </a:r>
          </a:p>
          <a:p>
            <a:pPr marL="901700" lvl="1" indent="-444500">
              <a:buFont typeface="Wingdings" pitchFamily="2" charset="2"/>
              <a:buChar char="§"/>
            </a:pPr>
            <a:r>
              <a:rPr lang="en-US" sz="3200">
                <a:latin typeface="Times New Roman" pitchFamily="18" charset="0"/>
                <a:cs typeface="Times New Roman" pitchFamily="18" charset="0"/>
              </a:rPr>
              <a:t>V: [Ar]4</a:t>
            </a:r>
            <a:r>
              <a:rPr lang="en-US" sz="3200" i="1">
                <a:latin typeface="Times New Roman" pitchFamily="18" charset="0"/>
                <a:cs typeface="Times New Roman" pitchFamily="18" charset="0"/>
              </a:rPr>
              <a:t>s</a:t>
            </a:r>
            <a:r>
              <a:rPr lang="en-US" sz="3200" baseline="30000">
                <a:latin typeface="Times New Roman" pitchFamily="18" charset="0"/>
                <a:cs typeface="Times New Roman" pitchFamily="18" charset="0"/>
              </a:rPr>
              <a:t>2</a:t>
            </a:r>
            <a:r>
              <a:rPr lang="en-US" sz="3200">
                <a:latin typeface="Times New Roman" pitchFamily="18" charset="0"/>
                <a:cs typeface="Times New Roman" pitchFamily="18" charset="0"/>
              </a:rPr>
              <a:t>3</a:t>
            </a:r>
            <a:r>
              <a:rPr lang="en-US" sz="3200" i="1">
                <a:latin typeface="Times New Roman" pitchFamily="18" charset="0"/>
                <a:cs typeface="Times New Roman" pitchFamily="18" charset="0"/>
              </a:rPr>
              <a:t>d</a:t>
            </a:r>
            <a:r>
              <a:rPr lang="en-US" sz="3200" baseline="30000">
                <a:latin typeface="Times New Roman" pitchFamily="18" charset="0"/>
                <a:cs typeface="Times New Roman" pitchFamily="18" charset="0"/>
              </a:rPr>
              <a:t>3</a:t>
            </a:r>
          </a:p>
          <a:p>
            <a:pPr marL="901700" lvl="1" indent="-444500">
              <a:buFont typeface="Wingdings" pitchFamily="2" charset="2"/>
              <a:buChar char="§"/>
            </a:pPr>
            <a:r>
              <a:rPr lang="en-US" sz="3200">
                <a:latin typeface="Times New Roman" pitchFamily="18" charset="0"/>
                <a:cs typeface="Times New Roman" pitchFamily="18" charset="0"/>
              </a:rPr>
              <a:t>Fe: [Ar]4</a:t>
            </a:r>
            <a:r>
              <a:rPr lang="en-US" sz="3200" i="1">
                <a:latin typeface="Times New Roman" pitchFamily="18" charset="0"/>
                <a:cs typeface="Times New Roman" pitchFamily="18" charset="0"/>
              </a:rPr>
              <a:t>s</a:t>
            </a:r>
            <a:r>
              <a:rPr lang="en-US" sz="3200" baseline="30000">
                <a:latin typeface="Times New Roman" pitchFamily="18" charset="0"/>
                <a:cs typeface="Times New Roman" pitchFamily="18" charset="0"/>
              </a:rPr>
              <a:t>2</a:t>
            </a:r>
            <a:r>
              <a:rPr lang="en-US" sz="3200">
                <a:latin typeface="Times New Roman" pitchFamily="18" charset="0"/>
                <a:cs typeface="Times New Roman" pitchFamily="18" charset="0"/>
              </a:rPr>
              <a:t>3</a:t>
            </a:r>
            <a:r>
              <a:rPr lang="en-US" sz="3200" i="1">
                <a:latin typeface="Times New Roman" pitchFamily="18" charset="0"/>
                <a:cs typeface="Times New Roman" pitchFamily="18" charset="0"/>
              </a:rPr>
              <a:t>d</a:t>
            </a:r>
            <a:r>
              <a:rPr lang="en-US" sz="3200" baseline="30000">
                <a:latin typeface="Times New Roman" pitchFamily="18" charset="0"/>
                <a:cs typeface="Times New Roman" pitchFamily="18" charset="0"/>
              </a:rPr>
              <a:t>6</a:t>
            </a:r>
            <a:endParaRPr lang="en-US" sz="3200">
              <a:latin typeface="Times New Roman" pitchFamily="18" charset="0"/>
              <a:cs typeface="Times New Roman" pitchFamily="18" charset="0"/>
            </a:endParaRPr>
          </a:p>
          <a:p>
            <a:pPr marL="457200" indent="-457200"/>
            <a:r>
              <a:rPr lang="en-US" sz="3600">
                <a:latin typeface="Times New Roman" pitchFamily="18" charset="0"/>
                <a:cs typeface="Times New Roman" pitchFamily="18" charset="0"/>
              </a:rPr>
              <a:t>Exceptions: Cr and Cu</a:t>
            </a:r>
          </a:p>
          <a:p>
            <a:pPr marL="901700" lvl="1" indent="-444500">
              <a:buFont typeface="Wingdings" pitchFamily="2" charset="2"/>
              <a:buChar char="§"/>
            </a:pPr>
            <a:r>
              <a:rPr lang="en-US" sz="3200">
                <a:latin typeface="Times New Roman" pitchFamily="18" charset="0"/>
                <a:cs typeface="Times New Roman" pitchFamily="18" charset="0"/>
              </a:rPr>
              <a:t>Cr: [Ar]4</a:t>
            </a:r>
            <a:r>
              <a:rPr lang="en-US" sz="3200" i="1">
                <a:latin typeface="Times New Roman" pitchFamily="18" charset="0"/>
                <a:cs typeface="Times New Roman" pitchFamily="18" charset="0"/>
              </a:rPr>
              <a:t>s</a:t>
            </a:r>
            <a:r>
              <a:rPr lang="en-US" sz="3200" baseline="30000">
                <a:latin typeface="Times New Roman" pitchFamily="18" charset="0"/>
                <a:cs typeface="Times New Roman" pitchFamily="18" charset="0"/>
              </a:rPr>
              <a:t>1</a:t>
            </a:r>
            <a:r>
              <a:rPr lang="en-US" sz="3200">
                <a:latin typeface="Times New Roman" pitchFamily="18" charset="0"/>
                <a:cs typeface="Times New Roman" pitchFamily="18" charset="0"/>
              </a:rPr>
              <a:t>3</a:t>
            </a:r>
            <a:r>
              <a:rPr lang="en-US" sz="3200" i="1">
                <a:latin typeface="Times New Roman" pitchFamily="18" charset="0"/>
                <a:cs typeface="Times New Roman" pitchFamily="18" charset="0"/>
              </a:rPr>
              <a:t>d</a:t>
            </a:r>
            <a:r>
              <a:rPr lang="en-US" sz="3200" baseline="30000">
                <a:latin typeface="Times New Roman" pitchFamily="18" charset="0"/>
                <a:cs typeface="Times New Roman" pitchFamily="18" charset="0"/>
              </a:rPr>
              <a:t>5</a:t>
            </a:r>
          </a:p>
          <a:p>
            <a:pPr marL="901700" lvl="1" indent="-444500">
              <a:buFont typeface="Wingdings" pitchFamily="2" charset="2"/>
              <a:buChar char="§"/>
            </a:pPr>
            <a:r>
              <a:rPr lang="en-US" sz="3200">
                <a:latin typeface="Times New Roman" pitchFamily="18" charset="0"/>
                <a:cs typeface="Times New Roman" pitchFamily="18" charset="0"/>
              </a:rPr>
              <a:t>Cu: [Ar]4</a:t>
            </a:r>
            <a:r>
              <a:rPr lang="en-US" sz="3200" i="1">
                <a:latin typeface="Times New Roman" pitchFamily="18" charset="0"/>
                <a:cs typeface="Times New Roman" pitchFamily="18" charset="0"/>
              </a:rPr>
              <a:t>s</a:t>
            </a:r>
            <a:r>
              <a:rPr lang="en-US" sz="3200" baseline="30000">
                <a:latin typeface="Times New Roman" pitchFamily="18" charset="0"/>
                <a:cs typeface="Times New Roman" pitchFamily="18" charset="0"/>
              </a:rPr>
              <a:t>1</a:t>
            </a:r>
            <a:r>
              <a:rPr lang="en-US" sz="3200">
                <a:latin typeface="Times New Roman" pitchFamily="18" charset="0"/>
                <a:cs typeface="Times New Roman" pitchFamily="18" charset="0"/>
              </a:rPr>
              <a:t>3</a:t>
            </a:r>
            <a:r>
              <a:rPr lang="en-US" sz="3200" i="1">
                <a:latin typeface="Times New Roman" pitchFamily="18" charset="0"/>
                <a:cs typeface="Times New Roman" pitchFamily="18" charset="0"/>
              </a:rPr>
              <a:t>d</a:t>
            </a:r>
            <a:r>
              <a:rPr lang="en-US" sz="3200" baseline="30000">
                <a:latin typeface="Times New Roman" pitchFamily="18" charset="0"/>
                <a:cs typeface="Times New Roman" pitchFamily="18" charset="0"/>
              </a:rPr>
              <a:t>10</a:t>
            </a:r>
            <a:r>
              <a:rPr lang="en-US" sz="3200">
                <a:latin typeface="Times New Roman" pitchFamily="18" charset="0"/>
                <a:cs typeface="Times New Roman" pitchFamily="18" charset="0"/>
              </a:rPr>
              <a:t> </a:t>
            </a:r>
          </a:p>
        </p:txBody>
      </p:sp>
      <p:sp>
        <p:nvSpPr>
          <p:cNvPr id="1843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wipe(left)">
                                      <p:cBhvr>
                                        <p:cTn id="12" dur="500"/>
                                        <p:tgtEl>
                                          <p:spTgt spid="18435">
                                            <p:txEl>
                                              <p:pRg st="1" end="1"/>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wipe(left)">
                                      <p:cBhvr>
                                        <p:cTn id="15" dur="500"/>
                                        <p:tgtEl>
                                          <p:spTgt spid="18435">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8435">
                                            <p:txEl>
                                              <p:pRg st="3" end="3"/>
                                            </p:txEl>
                                          </p:spTgt>
                                        </p:tgtEl>
                                        <p:attrNameLst>
                                          <p:attrName>style.visibility</p:attrName>
                                        </p:attrNameLst>
                                      </p:cBhvr>
                                      <p:to>
                                        <p:strVal val="visible"/>
                                      </p:to>
                                    </p:set>
                                    <p:animEffect transition="in" filter="wipe(left)">
                                      <p:cBhvr>
                                        <p:cTn id="20" dur="500"/>
                                        <p:tgtEl>
                                          <p:spTgt spid="18435">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8435">
                                            <p:txEl>
                                              <p:pRg st="4" end="4"/>
                                            </p:txEl>
                                          </p:spTgt>
                                        </p:tgtEl>
                                        <p:attrNameLst>
                                          <p:attrName>style.visibility</p:attrName>
                                        </p:attrNameLst>
                                      </p:cBhvr>
                                      <p:to>
                                        <p:strVal val="visible"/>
                                      </p:to>
                                    </p:set>
                                    <p:animEffect transition="in" filter="wipe(left)">
                                      <p:cBhvr>
                                        <p:cTn id="25" dur="500"/>
                                        <p:tgtEl>
                                          <p:spTgt spid="18435">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8435">
                                            <p:txEl>
                                              <p:pRg st="5" end="5"/>
                                            </p:txEl>
                                          </p:spTgt>
                                        </p:tgtEl>
                                        <p:attrNameLst>
                                          <p:attrName>style.visibility</p:attrName>
                                        </p:attrNameLst>
                                      </p:cBhvr>
                                      <p:to>
                                        <p:strVal val="visible"/>
                                      </p:to>
                                    </p:set>
                                    <p:animEffect transition="in" filter="wipe(left)">
                                      <p:cBhvr>
                                        <p:cTn id="30" dur="500"/>
                                        <p:tgtEl>
                                          <p:spTgt spid="18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Electron Configurations</a:t>
            </a:r>
          </a:p>
        </p:txBody>
      </p:sp>
      <p:sp>
        <p:nvSpPr>
          <p:cNvPr id="20483" name="Rectangle 3"/>
          <p:cNvSpPr>
            <a:spLocks noGrp="1" noChangeArrowheads="1"/>
          </p:cNvSpPr>
          <p:nvPr>
            <p:ph type="body" idx="1"/>
          </p:nvPr>
        </p:nvSpPr>
        <p:spPr>
          <a:xfrm>
            <a:off x="457200" y="1752600"/>
            <a:ext cx="8229600" cy="4114800"/>
          </a:xfrm>
        </p:spPr>
        <p:txBody>
          <a:bodyPr/>
          <a:lstStyle/>
          <a:p>
            <a:pPr marL="457200" indent="-457200"/>
            <a:r>
              <a:rPr lang="en-US" sz="3600">
                <a:latin typeface="Times New Roman" pitchFamily="18" charset="0"/>
                <a:cs typeface="Times New Roman" pitchFamily="18" charset="0"/>
              </a:rPr>
              <a:t>First-row transition metal </a:t>
            </a:r>
            <a:r>
              <a:rPr lang="en-US" sz="3600" i="1">
                <a:latin typeface="Times New Roman" pitchFamily="18" charset="0"/>
                <a:cs typeface="Times New Roman" pitchFamily="18" charset="0"/>
              </a:rPr>
              <a:t>ions</a:t>
            </a:r>
            <a:r>
              <a:rPr lang="en-US" sz="3600">
                <a:latin typeface="Times New Roman" pitchFamily="18" charset="0"/>
                <a:cs typeface="Times New Roman" pitchFamily="18" charset="0"/>
              </a:rPr>
              <a:t> do not have 4</a:t>
            </a:r>
            <a:r>
              <a:rPr lang="en-US" sz="3600" i="1">
                <a:latin typeface="Times New Roman" pitchFamily="18" charset="0"/>
                <a:cs typeface="Times New Roman" pitchFamily="18" charset="0"/>
              </a:rPr>
              <a:t>s</a:t>
            </a:r>
            <a:r>
              <a:rPr lang="en-US" sz="3600">
                <a:latin typeface="Times New Roman" pitchFamily="18" charset="0"/>
                <a:cs typeface="Times New Roman" pitchFamily="18" charset="0"/>
              </a:rPr>
              <a:t> electrons.</a:t>
            </a:r>
          </a:p>
          <a:p>
            <a:pPr marL="901700" lvl="1" indent="-444500">
              <a:buFont typeface="Wingdings" pitchFamily="2" charset="2"/>
              <a:buChar char="§"/>
            </a:pPr>
            <a:r>
              <a:rPr lang="en-US" sz="3200">
                <a:latin typeface="Times New Roman" pitchFamily="18" charset="0"/>
                <a:cs typeface="Times New Roman" pitchFamily="18" charset="0"/>
              </a:rPr>
              <a:t>Energy of the 3</a:t>
            </a:r>
            <a:r>
              <a:rPr lang="en-US" sz="3200" i="1">
                <a:latin typeface="Times New Roman" pitchFamily="18" charset="0"/>
                <a:cs typeface="Times New Roman" pitchFamily="18" charset="0"/>
              </a:rPr>
              <a:t>d</a:t>
            </a:r>
            <a:r>
              <a:rPr lang="en-US" sz="3200">
                <a:latin typeface="Times New Roman" pitchFamily="18" charset="0"/>
                <a:cs typeface="Times New Roman" pitchFamily="18" charset="0"/>
              </a:rPr>
              <a:t> orbitals is less than that of the 4</a:t>
            </a:r>
            <a:r>
              <a:rPr lang="en-US" sz="3200" i="1">
                <a:latin typeface="Times New Roman" pitchFamily="18" charset="0"/>
                <a:cs typeface="Times New Roman" pitchFamily="18" charset="0"/>
              </a:rPr>
              <a:t>s</a:t>
            </a:r>
            <a:r>
              <a:rPr lang="en-US" sz="3200">
                <a:latin typeface="Times New Roman" pitchFamily="18" charset="0"/>
                <a:cs typeface="Times New Roman" pitchFamily="18" charset="0"/>
              </a:rPr>
              <a:t> orbital. </a:t>
            </a:r>
          </a:p>
          <a:p>
            <a:pPr marL="901700" lvl="1" indent="-444500">
              <a:buFontTx/>
              <a:buNone/>
            </a:pPr>
            <a:endParaRPr lang="en-US" sz="3200" baseline="-25000">
              <a:latin typeface="Times New Roman" pitchFamily="18" charset="0"/>
              <a:cs typeface="Times New Roman" pitchFamily="18" charset="0"/>
            </a:endParaRPr>
          </a:p>
          <a:p>
            <a:pPr marL="901700" lvl="1" indent="-444500">
              <a:buFontTx/>
              <a:buNone/>
            </a:pPr>
            <a:r>
              <a:rPr lang="en-US" sz="3200" baseline="-25000">
                <a:latin typeface="Times New Roman" pitchFamily="18" charset="0"/>
                <a:cs typeface="Times New Roman" pitchFamily="18" charset="0"/>
              </a:rPr>
              <a:t>			</a:t>
            </a:r>
            <a:r>
              <a:rPr lang="en-US" sz="3200">
                <a:solidFill>
                  <a:srgbClr val="0000FF"/>
                </a:solidFill>
                <a:latin typeface="Times New Roman" pitchFamily="18" charset="0"/>
                <a:cs typeface="Times New Roman" pitchFamily="18" charset="0"/>
              </a:rPr>
              <a:t>Ti: [Ar]4</a:t>
            </a:r>
            <a:r>
              <a:rPr lang="en-US" sz="3200" i="1">
                <a:solidFill>
                  <a:srgbClr val="0000FF"/>
                </a:solidFill>
                <a:latin typeface="Times New Roman" pitchFamily="18" charset="0"/>
                <a:cs typeface="Times New Roman" pitchFamily="18" charset="0"/>
              </a:rPr>
              <a:t>s</a:t>
            </a:r>
            <a:r>
              <a:rPr lang="en-US" sz="3200" baseline="30000">
                <a:solidFill>
                  <a:srgbClr val="0000FF"/>
                </a:solidFill>
                <a:latin typeface="Times New Roman" pitchFamily="18" charset="0"/>
                <a:cs typeface="Times New Roman" pitchFamily="18" charset="0"/>
              </a:rPr>
              <a:t>2</a:t>
            </a:r>
            <a:r>
              <a:rPr lang="en-US" sz="3200">
                <a:solidFill>
                  <a:srgbClr val="0000FF"/>
                </a:solidFill>
                <a:latin typeface="Times New Roman" pitchFamily="18" charset="0"/>
                <a:cs typeface="Times New Roman" pitchFamily="18" charset="0"/>
              </a:rPr>
              <a:t>3</a:t>
            </a:r>
            <a:r>
              <a:rPr lang="en-US" sz="3200" i="1">
                <a:solidFill>
                  <a:srgbClr val="0000FF"/>
                </a:solidFill>
                <a:latin typeface="Times New Roman" pitchFamily="18" charset="0"/>
                <a:cs typeface="Times New Roman" pitchFamily="18" charset="0"/>
              </a:rPr>
              <a:t>d</a:t>
            </a:r>
            <a:r>
              <a:rPr lang="en-US" sz="3200" baseline="30000">
                <a:solidFill>
                  <a:srgbClr val="0000FF"/>
                </a:solidFill>
                <a:latin typeface="Times New Roman" pitchFamily="18" charset="0"/>
                <a:cs typeface="Times New Roman" pitchFamily="18" charset="0"/>
              </a:rPr>
              <a:t>2</a:t>
            </a:r>
          </a:p>
          <a:p>
            <a:pPr marL="901700" lvl="1" indent="-444500">
              <a:buFontTx/>
              <a:buNone/>
            </a:pPr>
            <a:r>
              <a:rPr lang="en-US" sz="3200">
                <a:solidFill>
                  <a:srgbClr val="0000FF"/>
                </a:solidFill>
                <a:latin typeface="Times New Roman" pitchFamily="18" charset="0"/>
                <a:cs typeface="Times New Roman" pitchFamily="18" charset="0"/>
              </a:rPr>
              <a:t>			Ti</a:t>
            </a:r>
            <a:r>
              <a:rPr lang="en-US" sz="3200" baseline="30000">
                <a:solidFill>
                  <a:srgbClr val="0000FF"/>
                </a:solidFill>
                <a:latin typeface="Times New Roman" pitchFamily="18" charset="0"/>
                <a:cs typeface="Times New Roman" pitchFamily="18" charset="0"/>
              </a:rPr>
              <a:t>3+</a:t>
            </a:r>
            <a:r>
              <a:rPr lang="en-US" sz="3200">
                <a:solidFill>
                  <a:srgbClr val="0000FF"/>
                </a:solidFill>
                <a:latin typeface="Times New Roman" pitchFamily="18" charset="0"/>
                <a:cs typeface="Times New Roman" pitchFamily="18" charset="0"/>
              </a:rPr>
              <a:t>: [Ar]3</a:t>
            </a:r>
            <a:r>
              <a:rPr lang="en-US" sz="3200" i="1">
                <a:solidFill>
                  <a:srgbClr val="0000FF"/>
                </a:solidFill>
                <a:latin typeface="Times New Roman" pitchFamily="18" charset="0"/>
                <a:cs typeface="Times New Roman" pitchFamily="18" charset="0"/>
              </a:rPr>
              <a:t>d</a:t>
            </a:r>
            <a:r>
              <a:rPr lang="en-US" sz="3200" baseline="30000">
                <a:solidFill>
                  <a:srgbClr val="0000FF"/>
                </a:solidFill>
                <a:latin typeface="Times New Roman" pitchFamily="18" charset="0"/>
                <a:cs typeface="Times New Roman" pitchFamily="18" charset="0"/>
              </a:rPr>
              <a:t>1</a:t>
            </a:r>
          </a:p>
        </p:txBody>
      </p:sp>
      <p:sp>
        <p:nvSpPr>
          <p:cNvPr id="2048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Effect transition="in" filter="wipe(left)">
                                      <p:cBhvr>
                                        <p:cTn id="7" dur="500"/>
                                        <p:tgtEl>
                                          <p:spTgt spid="204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483">
                                            <p:txEl>
                                              <p:pRg st="1" end="1"/>
                                            </p:txEl>
                                          </p:spTgt>
                                        </p:tgtEl>
                                        <p:attrNameLst>
                                          <p:attrName>style.visibility</p:attrName>
                                        </p:attrNameLst>
                                      </p:cBhvr>
                                      <p:to>
                                        <p:strVal val="visible"/>
                                      </p:to>
                                    </p:set>
                                    <p:animEffect transition="in" filter="wipe(left)">
                                      <p:cBhvr>
                                        <p:cTn id="12" dur="500"/>
                                        <p:tgtEl>
                                          <p:spTgt spid="204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3">
                                            <p:txEl>
                                              <p:pRg st="3" end="3"/>
                                            </p:txEl>
                                          </p:spTgt>
                                        </p:tgtEl>
                                        <p:attrNameLst>
                                          <p:attrName>style.visibility</p:attrName>
                                        </p:attrNameLst>
                                      </p:cBhvr>
                                      <p:to>
                                        <p:strVal val="visible"/>
                                      </p:to>
                                    </p:set>
                                    <p:animEffect transition="in" filter="wipe(left)">
                                      <p:cBhvr>
                                        <p:cTn id="17" dur="500"/>
                                        <p:tgtEl>
                                          <p:spTgt spid="2048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3">
                                            <p:txEl>
                                              <p:pRg st="4" end="4"/>
                                            </p:txEl>
                                          </p:spTgt>
                                        </p:tgtEl>
                                        <p:attrNameLst>
                                          <p:attrName>style.visibility</p:attrName>
                                        </p:attrNameLst>
                                      </p:cBhvr>
                                      <p:to>
                                        <p:strVal val="visible"/>
                                      </p:to>
                                    </p:set>
                                    <p:animEffect transition="in" filter="wipe(left)">
                                      <p:cBhvr>
                                        <p:cTn id="22" dur="500"/>
                                        <p:tgtEl>
                                          <p:spTgt spid="204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457200"/>
            <a:ext cx="8229600" cy="1600200"/>
          </a:xfrm>
        </p:spPr>
        <p:txBody>
          <a:bodyPr/>
          <a:lstStyle/>
          <a:p>
            <a:pPr>
              <a:spcBef>
                <a:spcPct val="20000"/>
              </a:spcBef>
            </a:pPr>
            <a:r>
              <a:rPr lang="en-US" altLang="en-US" sz="3200">
                <a:latin typeface="Times New Roman" pitchFamily="18" charset="0"/>
                <a:cs typeface="Times New Roman" pitchFamily="18" charset="0"/>
              </a:rPr>
              <a:t>Plots of the First (Red Dots) and Third (Blue Dots) Ionization Energies for the First-Row Transition Metals</a:t>
            </a:r>
            <a:endParaRPr lang="en-US" sz="3200">
              <a:latin typeface="Times New Roman" pitchFamily="18" charset="0"/>
              <a:cs typeface="Times New Roman" pitchFamily="18" charset="0"/>
            </a:endParaRPr>
          </a:p>
        </p:txBody>
      </p:sp>
      <p:sp>
        <p:nvSpPr>
          <p:cNvPr id="2457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24580" name="Picture 4" descr="figure_21_02"/>
          <p:cNvPicPr>
            <a:picLocks noChangeAspect="1" noChangeArrowheads="1"/>
          </p:cNvPicPr>
          <p:nvPr/>
        </p:nvPicPr>
        <p:blipFill>
          <a:blip r:embed="rId3"/>
          <a:srcRect/>
          <a:stretch>
            <a:fillRect/>
          </a:stretch>
        </p:blipFill>
        <p:spPr bwMode="auto">
          <a:xfrm>
            <a:off x="1905000" y="2438400"/>
            <a:ext cx="5410200" cy="3851275"/>
          </a:xfrm>
          <a:prstGeom prst="rect">
            <a:avLst/>
          </a:prstGeom>
          <a:noFill/>
          <a:ln w="12700">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304800"/>
            <a:ext cx="8229600" cy="1295400"/>
          </a:xfrm>
        </p:spPr>
        <p:txBody>
          <a:bodyPr/>
          <a:lstStyle/>
          <a:p>
            <a:pPr>
              <a:spcBef>
                <a:spcPct val="20000"/>
              </a:spcBef>
            </a:pPr>
            <a:r>
              <a:rPr lang="en-US" altLang="en-US" sz="3600">
                <a:latin typeface="Times New Roman" pitchFamily="18" charset="0"/>
                <a:cs typeface="Times New Roman" pitchFamily="18" charset="0"/>
              </a:rPr>
              <a:t>Atomic Radii of the 3</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4</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and 5</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Transition Series</a:t>
            </a:r>
            <a:endParaRPr lang="en-US" sz="3600">
              <a:latin typeface="Times New Roman" pitchFamily="18" charset="0"/>
              <a:cs typeface="Times New Roman" pitchFamily="18" charset="0"/>
            </a:endParaRPr>
          </a:p>
        </p:txBody>
      </p:sp>
      <p:sp>
        <p:nvSpPr>
          <p:cNvPr id="2662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26628" name="Picture 4" descr="ch21_08"/>
          <p:cNvPicPr>
            <a:picLocks noChangeAspect="1" noChangeArrowheads="1"/>
          </p:cNvPicPr>
          <p:nvPr/>
        </p:nvPicPr>
        <p:blipFill>
          <a:blip r:embed="rId3"/>
          <a:srcRect/>
          <a:stretch>
            <a:fillRect/>
          </a:stretch>
        </p:blipFill>
        <p:spPr bwMode="auto">
          <a:xfrm>
            <a:off x="990600" y="1905000"/>
            <a:ext cx="7391400" cy="43434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457200" y="1295400"/>
            <a:ext cx="8229600" cy="4900613"/>
          </a:xfrm>
        </p:spPr>
        <p:txBody>
          <a:bodyPr/>
          <a:lstStyle/>
          <a:p>
            <a:pPr marL="457200" indent="-457200"/>
            <a:r>
              <a:rPr lang="en-US" sz="2600">
                <a:latin typeface="Times New Roman" pitchFamily="18" charset="0"/>
                <a:cs typeface="Times New Roman" pitchFamily="18" charset="0"/>
              </a:rPr>
              <a:t>Scandium – chemistry strongly resembles lanthanides</a:t>
            </a:r>
          </a:p>
          <a:p>
            <a:pPr marL="457200" indent="-457200"/>
            <a:r>
              <a:rPr lang="en-US" sz="2600">
                <a:latin typeface="Times New Roman" pitchFamily="18" charset="0"/>
                <a:cs typeface="Times New Roman" pitchFamily="18" charset="0"/>
              </a:rPr>
              <a:t>Titanium – excellent structural material (light weight)</a:t>
            </a:r>
          </a:p>
          <a:p>
            <a:pPr marL="457200" indent="-457200"/>
            <a:r>
              <a:rPr lang="en-US" sz="2600">
                <a:latin typeface="Times New Roman" pitchFamily="18" charset="0"/>
                <a:cs typeface="Times New Roman" pitchFamily="18" charset="0"/>
              </a:rPr>
              <a:t>Vanadium – mostly in alloys with other metals</a:t>
            </a:r>
          </a:p>
          <a:p>
            <a:pPr marL="457200" indent="-457200"/>
            <a:r>
              <a:rPr lang="en-US" sz="2600">
                <a:latin typeface="Times New Roman" pitchFamily="18" charset="0"/>
                <a:cs typeface="Times New Roman" pitchFamily="18" charset="0"/>
              </a:rPr>
              <a:t>Chromium – important industrial material</a:t>
            </a:r>
          </a:p>
          <a:p>
            <a:pPr marL="457200" indent="-457200"/>
            <a:r>
              <a:rPr lang="en-US" sz="2600">
                <a:latin typeface="Times New Roman" pitchFamily="18" charset="0"/>
                <a:cs typeface="Times New Roman" pitchFamily="18" charset="0"/>
              </a:rPr>
              <a:t>Manganese – production of hard steel</a:t>
            </a:r>
          </a:p>
          <a:p>
            <a:pPr marL="457200" indent="-457200"/>
            <a:r>
              <a:rPr lang="en-US" sz="2600">
                <a:latin typeface="Times New Roman" pitchFamily="18" charset="0"/>
                <a:cs typeface="Times New Roman" pitchFamily="18" charset="0"/>
              </a:rPr>
              <a:t>Iron – most abundant heavy metal</a:t>
            </a:r>
          </a:p>
          <a:p>
            <a:pPr marL="457200" indent="-457200"/>
            <a:r>
              <a:rPr lang="en-US" sz="2600">
                <a:latin typeface="Times New Roman" pitchFamily="18" charset="0"/>
                <a:cs typeface="Times New Roman" pitchFamily="18" charset="0"/>
              </a:rPr>
              <a:t>Cobalt – alloys with other metals</a:t>
            </a:r>
          </a:p>
          <a:p>
            <a:pPr marL="457200" indent="-457200"/>
            <a:r>
              <a:rPr lang="en-US" sz="2600">
                <a:latin typeface="Times New Roman" pitchFamily="18" charset="0"/>
                <a:cs typeface="Times New Roman" pitchFamily="18" charset="0"/>
              </a:rPr>
              <a:t>Nickel – plating more active metals; alloys</a:t>
            </a:r>
          </a:p>
          <a:p>
            <a:pPr marL="457200" indent="-457200"/>
            <a:r>
              <a:rPr lang="en-US" sz="2600">
                <a:latin typeface="Times New Roman" pitchFamily="18" charset="0"/>
                <a:cs typeface="Times New Roman" pitchFamily="18" charset="0"/>
              </a:rPr>
              <a:t>Copper – plumbing and electrical applications</a:t>
            </a:r>
          </a:p>
          <a:p>
            <a:pPr marL="457200" indent="-457200"/>
            <a:r>
              <a:rPr lang="en-US" sz="2600">
                <a:latin typeface="Times New Roman" pitchFamily="18" charset="0"/>
                <a:cs typeface="Times New Roman" pitchFamily="18" charset="0"/>
              </a:rPr>
              <a:t>Zinc – galvanizing steel </a:t>
            </a:r>
          </a:p>
        </p:txBody>
      </p:sp>
      <p:sp>
        <p:nvSpPr>
          <p:cNvPr id="2867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8676" name="Rectangle 4"/>
          <p:cNvSpPr>
            <a:spLocks noGrp="1" noChangeArrowheads="1"/>
          </p:cNvSpPr>
          <p:nvPr>
            <p:ph type="title"/>
          </p:nvPr>
        </p:nvSpPr>
        <p:spPr>
          <a:xfrm>
            <a:off x="533400" y="274638"/>
            <a:ext cx="7315200" cy="944562"/>
          </a:xfrm>
        </p:spPr>
        <p:txBody>
          <a:bodyPr/>
          <a:lstStyle/>
          <a:p>
            <a:r>
              <a:rPr lang="en-US" sz="3600">
                <a:latin typeface="Times New Roman" pitchFamily="18" charset="0"/>
                <a:cs typeface="Times New Roman" pitchFamily="18" charset="0"/>
              </a:rPr>
              <a:t>3</a:t>
            </a:r>
            <a:r>
              <a:rPr lang="en-US" sz="3600" i="1">
                <a:latin typeface="Times New Roman" pitchFamily="18" charset="0"/>
                <a:cs typeface="Times New Roman" pitchFamily="18" charset="0"/>
              </a:rPr>
              <a:t>d</a:t>
            </a:r>
            <a:r>
              <a:rPr lang="en-US" sz="3600">
                <a:latin typeface="Times New Roman" pitchFamily="18" charset="0"/>
                <a:cs typeface="Times New Roman" pitchFamily="18" charset="0"/>
              </a:rPr>
              <a:t> Transition Metals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4">
                                            <p:txEl>
                                              <p:pRg st="0" end="0"/>
                                            </p:txEl>
                                          </p:spTgt>
                                        </p:tgtEl>
                                        <p:attrNameLst>
                                          <p:attrName>style.visibility</p:attrName>
                                        </p:attrNameLst>
                                      </p:cBhvr>
                                      <p:to>
                                        <p:strVal val="visible"/>
                                      </p:to>
                                    </p:set>
                                    <p:animEffect transition="in" filter="wipe(left)">
                                      <p:cBhvr>
                                        <p:cTn id="7" dur="500"/>
                                        <p:tgtEl>
                                          <p:spTgt spid="2867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4">
                                            <p:txEl>
                                              <p:pRg st="1" end="1"/>
                                            </p:txEl>
                                          </p:spTgt>
                                        </p:tgtEl>
                                        <p:attrNameLst>
                                          <p:attrName>style.visibility</p:attrName>
                                        </p:attrNameLst>
                                      </p:cBhvr>
                                      <p:to>
                                        <p:strVal val="visible"/>
                                      </p:to>
                                    </p:set>
                                    <p:animEffect transition="in" filter="wipe(left)">
                                      <p:cBhvr>
                                        <p:cTn id="12" dur="500"/>
                                        <p:tgtEl>
                                          <p:spTgt spid="2867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4">
                                            <p:txEl>
                                              <p:pRg st="2" end="2"/>
                                            </p:txEl>
                                          </p:spTgt>
                                        </p:tgtEl>
                                        <p:attrNameLst>
                                          <p:attrName>style.visibility</p:attrName>
                                        </p:attrNameLst>
                                      </p:cBhvr>
                                      <p:to>
                                        <p:strVal val="visible"/>
                                      </p:to>
                                    </p:set>
                                    <p:animEffect transition="in" filter="wipe(left)">
                                      <p:cBhvr>
                                        <p:cTn id="17" dur="500"/>
                                        <p:tgtEl>
                                          <p:spTgt spid="2867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8674">
                                            <p:txEl>
                                              <p:pRg st="3" end="3"/>
                                            </p:txEl>
                                          </p:spTgt>
                                        </p:tgtEl>
                                        <p:attrNameLst>
                                          <p:attrName>style.visibility</p:attrName>
                                        </p:attrNameLst>
                                      </p:cBhvr>
                                      <p:to>
                                        <p:strVal val="visible"/>
                                      </p:to>
                                    </p:set>
                                    <p:animEffect transition="in" filter="wipe(left)">
                                      <p:cBhvr>
                                        <p:cTn id="22" dur="500"/>
                                        <p:tgtEl>
                                          <p:spTgt spid="2867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74">
                                            <p:txEl>
                                              <p:pRg st="4" end="4"/>
                                            </p:txEl>
                                          </p:spTgt>
                                        </p:tgtEl>
                                        <p:attrNameLst>
                                          <p:attrName>style.visibility</p:attrName>
                                        </p:attrNameLst>
                                      </p:cBhvr>
                                      <p:to>
                                        <p:strVal val="visible"/>
                                      </p:to>
                                    </p:set>
                                    <p:animEffect transition="in" filter="wipe(left)">
                                      <p:cBhvr>
                                        <p:cTn id="27" dur="500"/>
                                        <p:tgtEl>
                                          <p:spTgt spid="2867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8674">
                                            <p:txEl>
                                              <p:pRg st="5" end="5"/>
                                            </p:txEl>
                                          </p:spTgt>
                                        </p:tgtEl>
                                        <p:attrNameLst>
                                          <p:attrName>style.visibility</p:attrName>
                                        </p:attrNameLst>
                                      </p:cBhvr>
                                      <p:to>
                                        <p:strVal val="visible"/>
                                      </p:to>
                                    </p:set>
                                    <p:animEffect transition="in" filter="wipe(left)">
                                      <p:cBhvr>
                                        <p:cTn id="32" dur="500"/>
                                        <p:tgtEl>
                                          <p:spTgt spid="2867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74">
                                            <p:txEl>
                                              <p:pRg st="6" end="6"/>
                                            </p:txEl>
                                          </p:spTgt>
                                        </p:tgtEl>
                                        <p:attrNameLst>
                                          <p:attrName>style.visibility</p:attrName>
                                        </p:attrNameLst>
                                      </p:cBhvr>
                                      <p:to>
                                        <p:strVal val="visible"/>
                                      </p:to>
                                    </p:set>
                                    <p:animEffect transition="in" filter="wipe(left)">
                                      <p:cBhvr>
                                        <p:cTn id="37" dur="500"/>
                                        <p:tgtEl>
                                          <p:spTgt spid="2867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674">
                                            <p:txEl>
                                              <p:pRg st="7" end="7"/>
                                            </p:txEl>
                                          </p:spTgt>
                                        </p:tgtEl>
                                        <p:attrNameLst>
                                          <p:attrName>style.visibility</p:attrName>
                                        </p:attrNameLst>
                                      </p:cBhvr>
                                      <p:to>
                                        <p:strVal val="visible"/>
                                      </p:to>
                                    </p:set>
                                    <p:animEffect transition="in" filter="wipe(left)">
                                      <p:cBhvr>
                                        <p:cTn id="42" dur="500"/>
                                        <p:tgtEl>
                                          <p:spTgt spid="2867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8674">
                                            <p:txEl>
                                              <p:pRg st="8" end="8"/>
                                            </p:txEl>
                                          </p:spTgt>
                                        </p:tgtEl>
                                        <p:attrNameLst>
                                          <p:attrName>style.visibility</p:attrName>
                                        </p:attrNameLst>
                                      </p:cBhvr>
                                      <p:to>
                                        <p:strVal val="visible"/>
                                      </p:to>
                                    </p:set>
                                    <p:animEffect transition="in" filter="wipe(left)">
                                      <p:cBhvr>
                                        <p:cTn id="47" dur="500"/>
                                        <p:tgtEl>
                                          <p:spTgt spid="2867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8674">
                                            <p:txEl>
                                              <p:pRg st="9" end="9"/>
                                            </p:txEl>
                                          </p:spTgt>
                                        </p:tgtEl>
                                        <p:attrNameLst>
                                          <p:attrName>style.visibility</p:attrName>
                                        </p:attrNameLst>
                                      </p:cBhvr>
                                      <p:to>
                                        <p:strVal val="visible"/>
                                      </p:to>
                                    </p:set>
                                    <p:animEffect transition="in" filter="wipe(left)">
                                      <p:cBhvr>
                                        <p:cTn id="52" dur="500"/>
                                        <p:tgtEl>
                                          <p:spTgt spid="2867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274638"/>
            <a:ext cx="8229600" cy="1325562"/>
          </a:xfrm>
        </p:spPr>
        <p:txBody>
          <a:bodyPr/>
          <a:lstStyle/>
          <a:p>
            <a:pPr>
              <a:spcBef>
                <a:spcPct val="20000"/>
              </a:spcBef>
            </a:pPr>
            <a:r>
              <a:rPr lang="en-US" altLang="en-US" sz="3600">
                <a:latin typeface="Times New Roman" pitchFamily="18" charset="0"/>
                <a:cs typeface="Times New Roman" pitchFamily="18" charset="0"/>
              </a:rPr>
              <a:t>Oxidation States and Species for Vanadium in Aqueous Solution</a:t>
            </a:r>
            <a:endParaRPr lang="en-US" sz="3600">
              <a:latin typeface="Times New Roman" pitchFamily="18" charset="0"/>
              <a:cs typeface="Times New Roman" pitchFamily="18" charset="0"/>
            </a:endParaRPr>
          </a:p>
        </p:txBody>
      </p:sp>
      <p:sp>
        <p:nvSpPr>
          <p:cNvPr id="3072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30724" name="Picture 4" descr="table_21_04v2"/>
          <p:cNvPicPr>
            <a:picLocks noChangeAspect="1" noChangeArrowheads="1"/>
          </p:cNvPicPr>
          <p:nvPr/>
        </p:nvPicPr>
        <p:blipFill>
          <a:blip r:embed="rId3"/>
          <a:srcRect/>
          <a:stretch>
            <a:fillRect/>
          </a:stretch>
        </p:blipFill>
        <p:spPr bwMode="auto">
          <a:xfrm>
            <a:off x="1447800" y="2057400"/>
            <a:ext cx="5638800" cy="384175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a:spcBef>
                <a:spcPct val="20000"/>
              </a:spcBef>
            </a:pPr>
            <a:r>
              <a:rPr lang="en-US" altLang="en-US" sz="4000">
                <a:latin typeface="Times New Roman" pitchFamily="18" charset="0"/>
                <a:cs typeface="Times New Roman" pitchFamily="18" charset="0"/>
              </a:rPr>
              <a:t>Typical Chromium Compounds</a:t>
            </a:r>
            <a:endParaRPr lang="en-US" sz="4000">
              <a:latin typeface="Times New Roman" pitchFamily="18" charset="0"/>
              <a:cs typeface="Times New Roman" pitchFamily="18" charset="0"/>
            </a:endParaRPr>
          </a:p>
        </p:txBody>
      </p:sp>
      <p:sp>
        <p:nvSpPr>
          <p:cNvPr id="3277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32772" name="Picture 4" descr="table_21_05v2"/>
          <p:cNvPicPr>
            <a:picLocks noChangeAspect="1" noChangeArrowheads="1"/>
          </p:cNvPicPr>
          <p:nvPr/>
        </p:nvPicPr>
        <p:blipFill>
          <a:blip r:embed="rId3"/>
          <a:srcRect/>
          <a:stretch>
            <a:fillRect/>
          </a:stretch>
        </p:blipFill>
        <p:spPr bwMode="auto">
          <a:xfrm>
            <a:off x="2209800" y="1828800"/>
            <a:ext cx="4800600" cy="4098925"/>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274638"/>
            <a:ext cx="8229600" cy="1325562"/>
          </a:xfrm>
        </p:spPr>
        <p:txBody>
          <a:bodyPr/>
          <a:lstStyle/>
          <a:p>
            <a:pPr>
              <a:spcBef>
                <a:spcPct val="20000"/>
              </a:spcBef>
            </a:pPr>
            <a:r>
              <a:rPr lang="en-US" altLang="en-US" sz="3600">
                <a:latin typeface="Times New Roman" pitchFamily="18" charset="0"/>
                <a:cs typeface="Times New Roman" pitchFamily="18" charset="0"/>
              </a:rPr>
              <a:t>Some Compounds of Manganese in Its Most Common Oxidation States</a:t>
            </a:r>
            <a:endParaRPr lang="en-US" sz="3600">
              <a:latin typeface="Times New Roman" pitchFamily="18" charset="0"/>
              <a:cs typeface="Times New Roman" pitchFamily="18" charset="0"/>
            </a:endParaRPr>
          </a:p>
        </p:txBody>
      </p:sp>
      <p:sp>
        <p:nvSpPr>
          <p:cNvPr id="3481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34820" name="Picture 4" descr="table_21_06v2"/>
          <p:cNvPicPr>
            <a:picLocks noChangeAspect="1" noChangeArrowheads="1"/>
          </p:cNvPicPr>
          <p:nvPr/>
        </p:nvPicPr>
        <p:blipFill>
          <a:blip r:embed="rId3"/>
          <a:srcRect/>
          <a:stretch>
            <a:fillRect/>
          </a:stretch>
        </p:blipFill>
        <p:spPr bwMode="auto">
          <a:xfrm>
            <a:off x="1600200" y="1981200"/>
            <a:ext cx="5257800" cy="4154488"/>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381000" y="381000"/>
            <a:ext cx="8001000" cy="762000"/>
          </a:xfrm>
        </p:spPr>
        <p:txBody>
          <a:bodyPr/>
          <a:lstStyle/>
          <a:p>
            <a:pPr>
              <a:spcBef>
                <a:spcPct val="20000"/>
              </a:spcBef>
            </a:pPr>
            <a:r>
              <a:rPr lang="en-US" altLang="en-US" sz="3600">
                <a:latin typeface="Times New Roman" pitchFamily="18" charset="0"/>
                <a:cs typeface="Times New Roman" pitchFamily="18" charset="0"/>
              </a:rPr>
              <a:t>Typical Compounds of Iron</a:t>
            </a:r>
            <a:endParaRPr lang="en-US" sz="3600">
              <a:latin typeface="Times New Roman" pitchFamily="18" charset="0"/>
              <a:cs typeface="Times New Roman" pitchFamily="18" charset="0"/>
            </a:endParaRPr>
          </a:p>
        </p:txBody>
      </p:sp>
      <p:sp>
        <p:nvSpPr>
          <p:cNvPr id="3686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36868" name="Picture 4" descr="table_21_07v2"/>
          <p:cNvPicPr>
            <a:picLocks noChangeAspect="1" noChangeArrowheads="1"/>
          </p:cNvPicPr>
          <p:nvPr/>
        </p:nvPicPr>
        <p:blipFill>
          <a:blip r:embed="rId3"/>
          <a:srcRect/>
          <a:stretch>
            <a:fillRect/>
          </a:stretch>
        </p:blipFill>
        <p:spPr bwMode="auto">
          <a:xfrm>
            <a:off x="2590800" y="1371600"/>
            <a:ext cx="3502025" cy="525780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381000" y="304800"/>
            <a:ext cx="8229600" cy="762000"/>
          </a:xfrm>
        </p:spPr>
        <p:txBody>
          <a:bodyPr/>
          <a:lstStyle/>
          <a:p>
            <a:pPr>
              <a:spcBef>
                <a:spcPct val="20000"/>
              </a:spcBef>
            </a:pPr>
            <a:r>
              <a:rPr lang="en-US" altLang="en-US" sz="3600">
                <a:latin typeface="Times New Roman" pitchFamily="18" charset="0"/>
                <a:cs typeface="Times New Roman" pitchFamily="18" charset="0"/>
              </a:rPr>
              <a:t>Typical Compounds of Cobalt</a:t>
            </a:r>
            <a:endParaRPr lang="en-US" sz="3600">
              <a:latin typeface="Times New Roman" pitchFamily="18" charset="0"/>
              <a:cs typeface="Times New Roman" pitchFamily="18" charset="0"/>
            </a:endParaRPr>
          </a:p>
        </p:txBody>
      </p:sp>
      <p:sp>
        <p:nvSpPr>
          <p:cNvPr id="3891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38916" name="Picture 4" descr="table_21_08v2"/>
          <p:cNvPicPr>
            <a:picLocks noChangeAspect="1" noChangeArrowheads="1"/>
          </p:cNvPicPr>
          <p:nvPr/>
        </p:nvPicPr>
        <p:blipFill>
          <a:blip r:embed="rId3"/>
          <a:srcRect/>
          <a:stretch>
            <a:fillRect/>
          </a:stretch>
        </p:blipFill>
        <p:spPr bwMode="auto">
          <a:xfrm>
            <a:off x="2590800" y="1295400"/>
            <a:ext cx="3835400" cy="480060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381000" y="304800"/>
            <a:ext cx="8305800" cy="762000"/>
          </a:xfrm>
        </p:spPr>
        <p:txBody>
          <a:bodyPr/>
          <a:lstStyle/>
          <a:p>
            <a:pPr>
              <a:spcBef>
                <a:spcPct val="20000"/>
              </a:spcBef>
            </a:pPr>
            <a:r>
              <a:rPr lang="en-US" altLang="en-US" sz="3600">
                <a:latin typeface="Times New Roman" pitchFamily="18" charset="0"/>
                <a:cs typeface="Times New Roman" pitchFamily="18" charset="0"/>
              </a:rPr>
              <a:t>Typical Compounds of Nickel</a:t>
            </a:r>
            <a:endParaRPr lang="en-US" sz="3600">
              <a:latin typeface="Times New Roman" pitchFamily="18" charset="0"/>
              <a:cs typeface="Times New Roman" pitchFamily="18" charset="0"/>
            </a:endParaRPr>
          </a:p>
        </p:txBody>
      </p:sp>
      <p:sp>
        <p:nvSpPr>
          <p:cNvPr id="4096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40964" name="Picture 4" descr="table_21_09v2"/>
          <p:cNvPicPr>
            <a:picLocks noChangeAspect="1" noChangeArrowheads="1"/>
          </p:cNvPicPr>
          <p:nvPr/>
        </p:nvPicPr>
        <p:blipFill>
          <a:blip r:embed="rId3"/>
          <a:srcRect/>
          <a:stretch>
            <a:fillRect/>
          </a:stretch>
        </p:blipFill>
        <p:spPr bwMode="auto">
          <a:xfrm>
            <a:off x="2590800" y="1447800"/>
            <a:ext cx="4216400" cy="449580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a:spcBef>
                <a:spcPct val="20000"/>
              </a:spcBef>
            </a:pPr>
            <a:r>
              <a:rPr lang="en-US" altLang="en-US" sz="3600">
                <a:latin typeface="Times New Roman" pitchFamily="18" charset="0"/>
                <a:cs typeface="Times New Roman" pitchFamily="18" charset="0"/>
              </a:rPr>
              <a:t>Typical Compounds of Copper</a:t>
            </a:r>
            <a:endParaRPr lang="en-US" sz="3600">
              <a:latin typeface="Times New Roman" pitchFamily="18" charset="0"/>
              <a:cs typeface="Times New Roman" pitchFamily="18" charset="0"/>
            </a:endParaRPr>
          </a:p>
        </p:txBody>
      </p:sp>
      <p:sp>
        <p:nvSpPr>
          <p:cNvPr id="4301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43012" name="Picture 4" descr="table_21_11v2"/>
          <p:cNvPicPr>
            <a:picLocks noChangeAspect="1" noChangeArrowheads="1"/>
          </p:cNvPicPr>
          <p:nvPr/>
        </p:nvPicPr>
        <p:blipFill>
          <a:blip r:embed="rId3"/>
          <a:srcRect/>
          <a:stretch>
            <a:fillRect/>
          </a:stretch>
        </p:blipFill>
        <p:spPr bwMode="auto">
          <a:xfrm>
            <a:off x="2209800" y="1600200"/>
            <a:ext cx="4724400" cy="4367213"/>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spcBef>
                <a:spcPct val="20000"/>
              </a:spcBef>
            </a:pPr>
            <a:r>
              <a:rPr lang="en-US" altLang="en-US" sz="4000">
                <a:latin typeface="Times New Roman" pitchFamily="18" charset="0"/>
                <a:cs typeface="Times New Roman" pitchFamily="18" charset="0"/>
              </a:rPr>
              <a:t>Alloys Containing Copper</a:t>
            </a:r>
            <a:endParaRPr lang="en-US" sz="4000">
              <a:latin typeface="Times New Roman" pitchFamily="18" charset="0"/>
              <a:cs typeface="Times New Roman" pitchFamily="18" charset="0"/>
            </a:endParaRPr>
          </a:p>
        </p:txBody>
      </p:sp>
      <p:sp>
        <p:nvSpPr>
          <p:cNvPr id="4505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45060" name="Picture 4" descr="table_21_10v2"/>
          <p:cNvPicPr>
            <a:picLocks noChangeAspect="1" noChangeArrowheads="1"/>
          </p:cNvPicPr>
          <p:nvPr/>
        </p:nvPicPr>
        <p:blipFill>
          <a:blip r:embed="rId3"/>
          <a:srcRect/>
          <a:stretch>
            <a:fillRect/>
          </a:stretch>
        </p:blipFill>
        <p:spPr bwMode="auto">
          <a:xfrm>
            <a:off x="685800" y="1752600"/>
            <a:ext cx="7848600" cy="259080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A Coordination Compound</a:t>
            </a:r>
          </a:p>
        </p:txBody>
      </p:sp>
      <p:sp>
        <p:nvSpPr>
          <p:cNvPr id="47107" name="Rectangle 3"/>
          <p:cNvSpPr>
            <a:spLocks noGrp="1" noChangeArrowheads="1"/>
          </p:cNvSpPr>
          <p:nvPr>
            <p:ph type="body" idx="1"/>
          </p:nvPr>
        </p:nvSpPr>
        <p:spPr>
          <a:xfrm>
            <a:off x="457200" y="1752600"/>
            <a:ext cx="8229600" cy="4495800"/>
          </a:xfrm>
        </p:spPr>
        <p:txBody>
          <a:bodyPr/>
          <a:lstStyle/>
          <a:p>
            <a:pPr marL="457200" indent="-457200"/>
            <a:r>
              <a:rPr lang="en-US">
                <a:latin typeface="Times New Roman" pitchFamily="18" charset="0"/>
                <a:cs typeface="Times New Roman" pitchFamily="18" charset="0"/>
              </a:rPr>
              <a:t>Typically consists of a complex ion and counterions (anions or cations as needed to produce a neutral compound):</a:t>
            </a:r>
          </a:p>
          <a:p>
            <a:pPr marL="457200" indent="-457200"/>
            <a:endParaRPr lang="en-US" sz="3600"/>
          </a:p>
          <a:p>
            <a:pPr marL="457200" indent="-457200" algn="ctr">
              <a:buFontTx/>
              <a:buNone/>
            </a:pPr>
            <a:r>
              <a:rPr lang="en-US" sz="3600">
                <a:solidFill>
                  <a:srgbClr val="0000FF"/>
                </a:solidFill>
                <a:latin typeface="Times New Roman" pitchFamily="18" charset="0"/>
                <a:cs typeface="Times New Roman" pitchFamily="18" charset="0"/>
              </a:rPr>
              <a:t>[Co(NH</a:t>
            </a:r>
            <a:r>
              <a:rPr lang="en-US" sz="3600" baseline="-25000">
                <a:solidFill>
                  <a:srgbClr val="0000FF"/>
                </a:solidFill>
                <a:latin typeface="Times New Roman" pitchFamily="18" charset="0"/>
                <a:cs typeface="Times New Roman" pitchFamily="18" charset="0"/>
              </a:rPr>
              <a:t>3</a:t>
            </a:r>
            <a:r>
              <a:rPr lang="en-US" sz="3600">
                <a:solidFill>
                  <a:srgbClr val="0000FF"/>
                </a:solidFill>
                <a:latin typeface="Times New Roman" pitchFamily="18" charset="0"/>
                <a:cs typeface="Times New Roman" pitchFamily="18" charset="0"/>
              </a:rPr>
              <a:t>)</a:t>
            </a:r>
            <a:r>
              <a:rPr lang="en-US" sz="3600" baseline="-25000">
                <a:solidFill>
                  <a:srgbClr val="0000FF"/>
                </a:solidFill>
                <a:latin typeface="Times New Roman" pitchFamily="18" charset="0"/>
                <a:cs typeface="Times New Roman" pitchFamily="18" charset="0"/>
              </a:rPr>
              <a:t>5</a:t>
            </a:r>
            <a:r>
              <a:rPr lang="en-US" sz="3600">
                <a:solidFill>
                  <a:srgbClr val="0000FF"/>
                </a:solidFill>
                <a:latin typeface="Times New Roman" pitchFamily="18" charset="0"/>
                <a:cs typeface="Times New Roman" pitchFamily="18" charset="0"/>
              </a:rPr>
              <a:t>Cl]Cl</a:t>
            </a:r>
            <a:r>
              <a:rPr lang="en-US" sz="3600" baseline="-25000">
                <a:solidFill>
                  <a:srgbClr val="0000FF"/>
                </a:solidFill>
                <a:latin typeface="Times New Roman" pitchFamily="18" charset="0"/>
                <a:cs typeface="Times New Roman" pitchFamily="18" charset="0"/>
              </a:rPr>
              <a:t>2</a:t>
            </a:r>
            <a:endParaRPr lang="en-US" sz="3600">
              <a:solidFill>
                <a:srgbClr val="0000FF"/>
              </a:solidFill>
              <a:latin typeface="Times New Roman" pitchFamily="18" charset="0"/>
              <a:cs typeface="Times New Roman" pitchFamily="18" charset="0"/>
            </a:endParaRPr>
          </a:p>
          <a:p>
            <a:pPr marL="457200" indent="-457200" algn="ctr">
              <a:buFontTx/>
              <a:buNone/>
            </a:pPr>
            <a:r>
              <a:rPr lang="en-US" sz="3600">
                <a:solidFill>
                  <a:srgbClr val="0000FF"/>
                </a:solidFill>
                <a:latin typeface="Times New Roman" pitchFamily="18" charset="0"/>
                <a:cs typeface="Times New Roman" pitchFamily="18" charset="0"/>
              </a:rPr>
              <a:t>[Fe(en)</a:t>
            </a:r>
            <a:r>
              <a:rPr lang="en-US" sz="3600" baseline="-25000">
                <a:solidFill>
                  <a:srgbClr val="0000FF"/>
                </a:solidFill>
                <a:latin typeface="Times New Roman" pitchFamily="18" charset="0"/>
                <a:cs typeface="Times New Roman" pitchFamily="18" charset="0"/>
              </a:rPr>
              <a:t>2</a:t>
            </a:r>
            <a:r>
              <a:rPr lang="en-US" sz="3600">
                <a:solidFill>
                  <a:srgbClr val="0000FF"/>
                </a:solidFill>
                <a:latin typeface="Times New Roman" pitchFamily="18" charset="0"/>
                <a:cs typeface="Times New Roman" pitchFamily="18" charset="0"/>
              </a:rPr>
              <a:t>(NO</a:t>
            </a:r>
            <a:r>
              <a:rPr lang="en-US" sz="3600" baseline="-25000">
                <a:solidFill>
                  <a:srgbClr val="0000FF"/>
                </a:solidFill>
                <a:latin typeface="Times New Roman" pitchFamily="18" charset="0"/>
                <a:cs typeface="Times New Roman" pitchFamily="18" charset="0"/>
              </a:rPr>
              <a:t>2</a:t>
            </a:r>
            <a:r>
              <a:rPr lang="en-US" sz="3600">
                <a:solidFill>
                  <a:srgbClr val="0000FF"/>
                </a:solidFill>
                <a:latin typeface="Times New Roman" pitchFamily="18" charset="0"/>
                <a:cs typeface="Times New Roman" pitchFamily="18" charset="0"/>
              </a:rPr>
              <a:t>)</a:t>
            </a:r>
            <a:r>
              <a:rPr lang="en-US" sz="3600" baseline="-25000">
                <a:solidFill>
                  <a:srgbClr val="0000FF"/>
                </a:solidFill>
                <a:latin typeface="Times New Roman" pitchFamily="18" charset="0"/>
                <a:cs typeface="Times New Roman" pitchFamily="18" charset="0"/>
              </a:rPr>
              <a:t>2</a:t>
            </a:r>
            <a:r>
              <a:rPr lang="en-US" sz="3600">
                <a:solidFill>
                  <a:srgbClr val="0000FF"/>
                </a:solidFill>
                <a:latin typeface="Times New Roman" pitchFamily="18" charset="0"/>
                <a:cs typeface="Times New Roman" pitchFamily="18" charset="0"/>
              </a:rPr>
              <a:t>]</a:t>
            </a:r>
            <a:r>
              <a:rPr lang="en-US" sz="3600" baseline="-25000">
                <a:solidFill>
                  <a:srgbClr val="0000FF"/>
                </a:solidFill>
                <a:latin typeface="Times New Roman" pitchFamily="18" charset="0"/>
                <a:cs typeface="Times New Roman" pitchFamily="18" charset="0"/>
              </a:rPr>
              <a:t>2</a:t>
            </a:r>
            <a:r>
              <a:rPr lang="en-US" sz="3600">
                <a:solidFill>
                  <a:srgbClr val="0000FF"/>
                </a:solidFill>
                <a:latin typeface="Times New Roman" pitchFamily="18" charset="0"/>
                <a:cs typeface="Times New Roman" pitchFamily="18" charset="0"/>
              </a:rPr>
              <a:t>SO</a:t>
            </a:r>
            <a:r>
              <a:rPr lang="en-US" sz="3600" baseline="-25000">
                <a:solidFill>
                  <a:srgbClr val="0000FF"/>
                </a:solidFill>
                <a:latin typeface="Times New Roman" pitchFamily="18" charset="0"/>
                <a:cs typeface="Times New Roman" pitchFamily="18" charset="0"/>
              </a:rPr>
              <a:t>4</a:t>
            </a:r>
          </a:p>
          <a:p>
            <a:pPr marL="457200" indent="-457200" algn="ctr">
              <a:buFontTx/>
              <a:buNone/>
            </a:pPr>
            <a:r>
              <a:rPr lang="en-US" sz="3600">
                <a:solidFill>
                  <a:srgbClr val="0000FF"/>
                </a:solidFill>
                <a:latin typeface="Times New Roman" pitchFamily="18" charset="0"/>
                <a:cs typeface="Times New Roman" pitchFamily="18" charset="0"/>
              </a:rPr>
              <a:t>K</a:t>
            </a:r>
            <a:r>
              <a:rPr lang="en-US" sz="3600" baseline="-25000">
                <a:solidFill>
                  <a:srgbClr val="0000FF"/>
                </a:solidFill>
                <a:latin typeface="Times New Roman" pitchFamily="18" charset="0"/>
                <a:cs typeface="Times New Roman" pitchFamily="18" charset="0"/>
              </a:rPr>
              <a:t>3</a:t>
            </a:r>
            <a:r>
              <a:rPr lang="en-US" sz="3600">
                <a:solidFill>
                  <a:srgbClr val="0000FF"/>
                </a:solidFill>
                <a:latin typeface="Times New Roman" pitchFamily="18" charset="0"/>
                <a:cs typeface="Times New Roman" pitchFamily="18" charset="0"/>
              </a:rPr>
              <a:t>Fe(CN)</a:t>
            </a:r>
            <a:r>
              <a:rPr lang="en-US" sz="3600" baseline="-25000">
                <a:solidFill>
                  <a:srgbClr val="0000FF"/>
                </a:solidFill>
                <a:latin typeface="Times New Roman" pitchFamily="18" charset="0"/>
                <a:cs typeface="Times New Roman" pitchFamily="18" charset="0"/>
              </a:rPr>
              <a:t>6</a:t>
            </a:r>
          </a:p>
        </p:txBody>
      </p:sp>
      <p:sp>
        <p:nvSpPr>
          <p:cNvPr id="4710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wipe(left)">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7107">
                                            <p:txEl>
                                              <p:pRg st="2" end="2"/>
                                            </p:txEl>
                                          </p:spTgt>
                                        </p:tgtEl>
                                        <p:attrNameLst>
                                          <p:attrName>style.visibility</p:attrName>
                                        </p:attrNameLst>
                                      </p:cBhvr>
                                      <p:to>
                                        <p:strVal val="visible"/>
                                      </p:to>
                                    </p:set>
                                    <p:animEffect transition="in" filter="wipe(left)">
                                      <p:cBhvr>
                                        <p:cTn id="12" dur="500"/>
                                        <p:tgtEl>
                                          <p:spTgt spid="471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7107">
                                            <p:txEl>
                                              <p:pRg st="3" end="3"/>
                                            </p:txEl>
                                          </p:spTgt>
                                        </p:tgtEl>
                                        <p:attrNameLst>
                                          <p:attrName>style.visibility</p:attrName>
                                        </p:attrNameLst>
                                      </p:cBhvr>
                                      <p:to>
                                        <p:strVal val="visible"/>
                                      </p:to>
                                    </p:set>
                                    <p:animEffect transition="in" filter="wipe(left)">
                                      <p:cBhvr>
                                        <p:cTn id="17" dur="500"/>
                                        <p:tgtEl>
                                          <p:spTgt spid="471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7107">
                                            <p:txEl>
                                              <p:pRg st="4" end="4"/>
                                            </p:txEl>
                                          </p:spTgt>
                                        </p:tgtEl>
                                        <p:attrNameLst>
                                          <p:attrName>style.visibility</p:attrName>
                                        </p:attrNameLst>
                                      </p:cBhvr>
                                      <p:to>
                                        <p:strVal val="visible"/>
                                      </p:to>
                                    </p:set>
                                    <p:animEffect transition="in" filter="wipe(left)">
                                      <p:cBhvr>
                                        <p:cTn id="22" dur="500"/>
                                        <p:tgtEl>
                                          <p:spTgt spid="47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Coordination Number</a:t>
            </a:r>
          </a:p>
        </p:txBody>
      </p:sp>
      <p:sp>
        <p:nvSpPr>
          <p:cNvPr id="49155" name="Rectangle 3"/>
          <p:cNvSpPr>
            <a:spLocks noGrp="1" noChangeArrowheads="1"/>
          </p:cNvSpPr>
          <p:nvPr>
            <p:ph type="body" idx="1"/>
          </p:nvPr>
        </p:nvSpPr>
        <p:spPr>
          <a:xfrm>
            <a:off x="457200" y="1752600"/>
            <a:ext cx="8229600" cy="3352800"/>
          </a:xfrm>
        </p:spPr>
        <p:txBody>
          <a:bodyPr/>
          <a:lstStyle/>
          <a:p>
            <a:pPr marL="457200" indent="-457200"/>
            <a:r>
              <a:rPr lang="en-US" sz="3600">
                <a:latin typeface="Times New Roman" pitchFamily="18" charset="0"/>
                <a:cs typeface="Times New Roman" pitchFamily="18" charset="0"/>
              </a:rPr>
              <a:t>Number of bonds formed between the metal ion and the ligands in the complex ion.</a:t>
            </a:r>
          </a:p>
          <a:p>
            <a:pPr marL="901700" lvl="1" indent="-444500">
              <a:buFont typeface="Wingdings" pitchFamily="2" charset="2"/>
              <a:buChar char="§"/>
            </a:pPr>
            <a:r>
              <a:rPr lang="en-US" sz="3200">
                <a:latin typeface="Times New Roman" pitchFamily="18" charset="0"/>
                <a:cs typeface="Times New Roman" pitchFamily="18" charset="0"/>
              </a:rPr>
              <a:t>6 and 4 (most common)</a:t>
            </a:r>
          </a:p>
          <a:p>
            <a:pPr marL="901700" lvl="1" indent="-444500">
              <a:buFont typeface="Wingdings" pitchFamily="2" charset="2"/>
              <a:buChar char="§"/>
            </a:pPr>
            <a:r>
              <a:rPr lang="en-US" sz="3200">
                <a:latin typeface="Times New Roman" pitchFamily="18" charset="0"/>
                <a:cs typeface="Times New Roman" pitchFamily="18" charset="0"/>
              </a:rPr>
              <a:t>2 and 8 (least common)</a:t>
            </a:r>
          </a:p>
        </p:txBody>
      </p:sp>
      <p:sp>
        <p:nvSpPr>
          <p:cNvPr id="4915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Effect transition="in" filter="wipe(left)">
                                      <p:cBhvr>
                                        <p:cTn id="7" dur="500"/>
                                        <p:tgtEl>
                                          <p:spTgt spid="49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9155">
                                            <p:txEl>
                                              <p:pRg st="1" end="1"/>
                                            </p:txEl>
                                          </p:spTgt>
                                        </p:tgtEl>
                                        <p:attrNameLst>
                                          <p:attrName>style.visibility</p:attrName>
                                        </p:attrNameLst>
                                      </p:cBhvr>
                                      <p:to>
                                        <p:strVal val="visible"/>
                                      </p:to>
                                    </p:set>
                                    <p:animEffect transition="in" filter="wipe(left)">
                                      <p:cBhvr>
                                        <p:cTn id="12" dur="500"/>
                                        <p:tgtEl>
                                          <p:spTgt spid="491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155">
                                            <p:txEl>
                                              <p:pRg st="2" end="2"/>
                                            </p:txEl>
                                          </p:spTgt>
                                        </p:tgtEl>
                                        <p:attrNameLst>
                                          <p:attrName>style.visibility</p:attrName>
                                        </p:attrNameLst>
                                      </p:cBhvr>
                                      <p:to>
                                        <p:strVal val="visible"/>
                                      </p:to>
                                    </p:set>
                                    <p:animEffect transition="in" filter="wipe(left)">
                                      <p:cBhvr>
                                        <p:cTn id="17" dur="500"/>
                                        <p:tgtEl>
                                          <p:spTgt spid="4915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609600" y="274638"/>
            <a:ext cx="7467600" cy="1143000"/>
          </a:xfrm>
        </p:spPr>
        <p:txBody>
          <a:bodyPr/>
          <a:lstStyle/>
          <a:p>
            <a:pPr>
              <a:spcBef>
                <a:spcPct val="20000"/>
              </a:spcBef>
            </a:pPr>
            <a:r>
              <a:rPr lang="en-US">
                <a:latin typeface="Times New Roman" pitchFamily="18" charset="0"/>
                <a:cs typeface="Times New Roman" pitchFamily="18" charset="0"/>
              </a:rPr>
              <a:t>Ligands</a:t>
            </a:r>
          </a:p>
        </p:txBody>
      </p:sp>
      <p:sp>
        <p:nvSpPr>
          <p:cNvPr id="51203" name="Rectangle 3"/>
          <p:cNvSpPr>
            <a:spLocks noGrp="1" noChangeArrowheads="1"/>
          </p:cNvSpPr>
          <p:nvPr>
            <p:ph type="body" idx="1"/>
          </p:nvPr>
        </p:nvSpPr>
        <p:spPr>
          <a:xfrm>
            <a:off x="457200" y="1752600"/>
            <a:ext cx="8229600" cy="4495800"/>
          </a:xfrm>
        </p:spPr>
        <p:txBody>
          <a:bodyPr/>
          <a:lstStyle/>
          <a:p>
            <a:pPr marL="457200" indent="-457200"/>
            <a:r>
              <a:rPr lang="en-US">
                <a:latin typeface="Times New Roman" pitchFamily="18" charset="0"/>
                <a:cs typeface="Times New Roman" pitchFamily="18" charset="0"/>
              </a:rPr>
              <a:t>Neutral molecule or ion having a lone electron pair that can be used to form a bond to a metal ion.</a:t>
            </a:r>
          </a:p>
          <a:p>
            <a:pPr marL="900113" lvl="1" indent="-441325">
              <a:buFont typeface="Wingdings" pitchFamily="2" charset="2"/>
              <a:buChar char="§"/>
            </a:pPr>
            <a:r>
              <a:rPr lang="en-US" sz="3000">
                <a:latin typeface="Times New Roman" pitchFamily="18" charset="0"/>
                <a:cs typeface="Times New Roman" pitchFamily="18" charset="0"/>
              </a:rPr>
              <a:t>Monodentate ligand – one bond to a metal ion</a:t>
            </a:r>
          </a:p>
          <a:p>
            <a:pPr marL="900113" lvl="1" indent="-441325">
              <a:buFont typeface="Wingdings" pitchFamily="2" charset="2"/>
              <a:buChar char="§"/>
            </a:pPr>
            <a:r>
              <a:rPr lang="en-US" sz="3000">
                <a:latin typeface="Times New Roman" pitchFamily="18" charset="0"/>
                <a:cs typeface="Times New Roman" pitchFamily="18" charset="0"/>
              </a:rPr>
              <a:t>Bidentate ligand (chelate) – two bonds to a metal ion</a:t>
            </a:r>
          </a:p>
          <a:p>
            <a:pPr marL="900113" lvl="1" indent="-441325">
              <a:buFont typeface="Wingdings" pitchFamily="2" charset="2"/>
              <a:buChar char="§"/>
            </a:pPr>
            <a:r>
              <a:rPr lang="en-US" sz="3000">
                <a:latin typeface="Times New Roman" pitchFamily="18" charset="0"/>
                <a:cs typeface="Times New Roman" pitchFamily="18" charset="0"/>
              </a:rPr>
              <a:t>Polydentate ligand – more than two bonds to a metal ion</a:t>
            </a:r>
          </a:p>
        </p:txBody>
      </p:sp>
      <p:sp>
        <p:nvSpPr>
          <p:cNvPr id="5120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Effect transition="in" filter="wipe(left)">
                                      <p:cBhvr>
                                        <p:cTn id="7" dur="500"/>
                                        <p:tgtEl>
                                          <p:spTgt spid="512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203">
                                            <p:txEl>
                                              <p:pRg st="1" end="1"/>
                                            </p:txEl>
                                          </p:spTgt>
                                        </p:tgtEl>
                                        <p:attrNameLst>
                                          <p:attrName>style.visibility</p:attrName>
                                        </p:attrNameLst>
                                      </p:cBhvr>
                                      <p:to>
                                        <p:strVal val="visible"/>
                                      </p:to>
                                    </p:set>
                                    <p:animEffect transition="in" filter="wipe(left)">
                                      <p:cBhvr>
                                        <p:cTn id="12" dur="500"/>
                                        <p:tgtEl>
                                          <p:spTgt spid="512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203">
                                            <p:txEl>
                                              <p:pRg st="2" end="2"/>
                                            </p:txEl>
                                          </p:spTgt>
                                        </p:tgtEl>
                                        <p:attrNameLst>
                                          <p:attrName>style.visibility</p:attrName>
                                        </p:attrNameLst>
                                      </p:cBhvr>
                                      <p:to>
                                        <p:strVal val="visible"/>
                                      </p:to>
                                    </p:set>
                                    <p:animEffect transition="in" filter="wipe(left)">
                                      <p:cBhvr>
                                        <p:cTn id="17" dur="500"/>
                                        <p:tgtEl>
                                          <p:spTgt spid="5120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203">
                                            <p:txEl>
                                              <p:pRg st="3" end="3"/>
                                            </p:txEl>
                                          </p:spTgt>
                                        </p:tgtEl>
                                        <p:attrNameLst>
                                          <p:attrName>style.visibility</p:attrName>
                                        </p:attrNameLst>
                                      </p:cBhvr>
                                      <p:to>
                                        <p:strVal val="visible"/>
                                      </p:to>
                                    </p:set>
                                    <p:animEffect transition="in" filter="wipe(left)">
                                      <p:cBhvr>
                                        <p:cTn id="22" dur="500"/>
                                        <p:tgtEl>
                                          <p:spTgt spid="512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Complexes</a:t>
            </a:r>
          </a:p>
        </p:txBody>
      </p:sp>
      <p:sp>
        <p:nvSpPr>
          <p:cNvPr id="5123" name="Rectangle 3"/>
          <p:cNvSpPr>
            <a:spLocks noGrp="1" noChangeArrowheads="1"/>
          </p:cNvSpPr>
          <p:nvPr>
            <p:ph type="body" sz="half" idx="1"/>
          </p:nvPr>
        </p:nvSpPr>
        <p:spPr>
          <a:xfrm>
            <a:off x="381000" y="1828800"/>
            <a:ext cx="8458200" cy="1981200"/>
          </a:xfrm>
        </p:spPr>
        <p:txBody>
          <a:bodyPr/>
          <a:lstStyle/>
          <a:p>
            <a:r>
              <a:rPr lang="en-US" sz="2800"/>
              <a:t>The molecules or ions coordinating to the metal are the </a:t>
            </a:r>
            <a:r>
              <a:rPr lang="en-US" sz="2800">
                <a:solidFill>
                  <a:srgbClr val="00197D"/>
                </a:solidFill>
              </a:rPr>
              <a:t>ligands</a:t>
            </a:r>
            <a:r>
              <a:rPr lang="en-US" sz="2800"/>
              <a:t>.</a:t>
            </a:r>
          </a:p>
          <a:p>
            <a:r>
              <a:rPr lang="en-US" sz="2800"/>
              <a:t>They are usually anions or polar molecules.</a:t>
            </a:r>
          </a:p>
          <a:p>
            <a:r>
              <a:rPr lang="en-US" sz="2800"/>
              <a:t>The must have lone pairs to interact with metal</a:t>
            </a:r>
          </a:p>
        </p:txBody>
      </p:sp>
      <p:pic>
        <p:nvPicPr>
          <p:cNvPr id="5125" name="Picture 5" descr="24_00-01UN"/>
          <p:cNvPicPr>
            <a:picLocks noGrp="1" noChangeAspect="1" noChangeArrowheads="1"/>
          </p:cNvPicPr>
          <p:nvPr>
            <p:ph sz="half" idx="2"/>
          </p:nvPr>
        </p:nvPicPr>
        <p:blipFill>
          <a:blip r:embed="rId3"/>
          <a:srcRect b="7692"/>
          <a:stretch>
            <a:fillRect/>
          </a:stretch>
        </p:blipFill>
        <p:spPr>
          <a:xfrm>
            <a:off x="1063625" y="4419600"/>
            <a:ext cx="7015163" cy="1828800"/>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123">
                                            <p:txEl>
                                              <p:pRg st="1" end="1"/>
                                            </p:txEl>
                                          </p:spTgt>
                                        </p:tgtEl>
                                        <p:attrNameLst>
                                          <p:attrName>style.visibility</p:attrName>
                                        </p:attrNameLst>
                                      </p:cBhvr>
                                      <p:to>
                                        <p:strVal val="visible"/>
                                      </p:to>
                                    </p:set>
                                    <p:animEffect transition="in" filter="fade">
                                      <p:cBhvr>
                                        <p:cTn id="7" dur="2000"/>
                                        <p:tgtEl>
                                          <p:spTgt spid="512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123">
                                            <p:txEl>
                                              <p:pRg st="2" end="2"/>
                                            </p:txEl>
                                          </p:spTgt>
                                        </p:tgtEl>
                                        <p:attrNameLst>
                                          <p:attrName>style.visibility</p:attrName>
                                        </p:attrNameLst>
                                      </p:cBhvr>
                                      <p:to>
                                        <p:strVal val="visible"/>
                                      </p:to>
                                    </p:set>
                                    <p:animEffect transition="in" filter="fade">
                                      <p:cBhvr>
                                        <p:cTn id="12" dur="2000"/>
                                        <p:tgtEl>
                                          <p:spTgt spid="512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a:t>Metal-Ligand Bond</a:t>
            </a:r>
          </a:p>
        </p:txBody>
      </p:sp>
      <p:sp>
        <p:nvSpPr>
          <p:cNvPr id="22531" name="Rectangle 3"/>
          <p:cNvSpPr>
            <a:spLocks noGrp="1" noChangeArrowheads="1"/>
          </p:cNvSpPr>
          <p:nvPr>
            <p:ph type="body" sz="half" idx="1"/>
          </p:nvPr>
        </p:nvSpPr>
        <p:spPr>
          <a:xfrm>
            <a:off x="685800" y="1981200"/>
            <a:ext cx="7772400" cy="2590800"/>
          </a:xfrm>
        </p:spPr>
        <p:txBody>
          <a:bodyPr/>
          <a:lstStyle/>
          <a:p>
            <a:r>
              <a:rPr lang="en-US" sz="2800"/>
              <a:t>This bond is formed between a Lewis acid and a Lewis base.</a:t>
            </a:r>
          </a:p>
          <a:p>
            <a:pPr lvl="1"/>
            <a:r>
              <a:rPr lang="en-US" sz="2400"/>
              <a:t>The ligands (Lewis bases) have nonbonding electrons.</a:t>
            </a:r>
          </a:p>
          <a:p>
            <a:pPr lvl="1"/>
            <a:r>
              <a:rPr lang="en-US" sz="2400"/>
              <a:t>The metal (Lewis acid) has empty orbitals.</a:t>
            </a:r>
          </a:p>
        </p:txBody>
      </p:sp>
      <p:pic>
        <p:nvPicPr>
          <p:cNvPr id="22533" name="Picture 5" descr="24_01-01UN"/>
          <p:cNvPicPr>
            <a:picLocks noGrp="1" noChangeAspect="1" noChangeArrowheads="1"/>
          </p:cNvPicPr>
          <p:nvPr>
            <p:ph sz="half" idx="2"/>
          </p:nvPr>
        </p:nvPicPr>
        <p:blipFill>
          <a:blip r:embed="rId3"/>
          <a:srcRect b="11539"/>
          <a:stretch>
            <a:fillRect/>
          </a:stretch>
        </p:blipFill>
        <p:spPr>
          <a:xfrm>
            <a:off x="806450" y="4648200"/>
            <a:ext cx="7531100" cy="1752600"/>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22531">
                                            <p:txEl>
                                              <p:pRg st="1" end="1"/>
                                            </p:txEl>
                                          </p:spTgt>
                                        </p:tgtEl>
                                        <p:attrNameLst>
                                          <p:attrName>style.visibility</p:attrName>
                                        </p:attrNameLst>
                                      </p:cBhvr>
                                      <p:to>
                                        <p:strVal val="visible"/>
                                      </p:to>
                                    </p:set>
                                    <p:animEffect transition="in" filter="fade">
                                      <p:cBhvr>
                                        <p:cTn id="7" dur="2000"/>
                                        <p:tgtEl>
                                          <p:spTgt spid="22531">
                                            <p:txEl>
                                              <p:pRg st="1" end="1"/>
                                            </p:txEl>
                                          </p:spTgt>
                                        </p:tgtEl>
                                      </p:cBhvr>
                                    </p:animEffect>
                                  </p:childTnLst>
                                </p:cTn>
                              </p:par>
                            </p:childTnLst>
                          </p:cTn>
                        </p:par>
                        <p:par>
                          <p:cTn id="8" fill="hold">
                            <p:stCondLst>
                              <p:cond delay="3000"/>
                            </p:stCondLst>
                            <p:childTnLst>
                              <p:par>
                                <p:cTn id="9" presetID="10" presetClass="entr" presetSubtype="0" fill="hold" grpId="0" nodeType="afterEffect">
                                  <p:stCondLst>
                                    <p:cond delay="2000"/>
                                  </p:stCondLst>
                                  <p:childTnLst>
                                    <p:set>
                                      <p:cBhvr>
                                        <p:cTn id="10" dur="1" fill="hold">
                                          <p:stCondLst>
                                            <p:cond delay="0"/>
                                          </p:stCondLst>
                                        </p:cTn>
                                        <p:tgtEl>
                                          <p:spTgt spid="22531">
                                            <p:txEl>
                                              <p:pRg st="2" end="2"/>
                                            </p:txEl>
                                          </p:spTgt>
                                        </p:tgtEl>
                                        <p:attrNameLst>
                                          <p:attrName>style.visibility</p:attrName>
                                        </p:attrNameLst>
                                      </p:cBhvr>
                                      <p:to>
                                        <p:strVal val="visible"/>
                                      </p:to>
                                    </p:set>
                                    <p:animEffect transition="in" filter="fade">
                                      <p:cBhvr>
                                        <p:cTn id="11" dur="2000"/>
                                        <p:tgtEl>
                                          <p:spTgt spid="2253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Metal-Ligand Bond</a:t>
            </a:r>
          </a:p>
        </p:txBody>
      </p:sp>
      <p:sp>
        <p:nvSpPr>
          <p:cNvPr id="23555" name="Rectangle 3"/>
          <p:cNvSpPr>
            <a:spLocks noGrp="1" noChangeArrowheads="1"/>
          </p:cNvSpPr>
          <p:nvPr>
            <p:ph type="body" sz="half" idx="1"/>
          </p:nvPr>
        </p:nvSpPr>
        <p:spPr>
          <a:xfrm>
            <a:off x="685800" y="1981200"/>
            <a:ext cx="5334000" cy="2438400"/>
          </a:xfrm>
        </p:spPr>
        <p:txBody>
          <a:bodyPr/>
          <a:lstStyle/>
          <a:p>
            <a:pPr>
              <a:buFontTx/>
              <a:buNone/>
            </a:pPr>
            <a:r>
              <a:rPr lang="en-US" sz="2800" dirty="0"/>
              <a:t>	The metal’s coordination </a:t>
            </a:r>
            <a:r>
              <a:rPr lang="en-US" sz="2800" dirty="0" err="1"/>
              <a:t>ligands</a:t>
            </a:r>
            <a:r>
              <a:rPr lang="en-US" sz="2800" dirty="0"/>
              <a:t> and geometry can greatly alter its properties, such as </a:t>
            </a:r>
            <a:r>
              <a:rPr lang="en-US" sz="2800" dirty="0" err="1" smtClean="0"/>
              <a:t>colour</a:t>
            </a:r>
            <a:r>
              <a:rPr lang="en-US" sz="2800" dirty="0"/>
              <a:t>, or ease of oxidation.</a:t>
            </a:r>
          </a:p>
        </p:txBody>
      </p:sp>
      <p:pic>
        <p:nvPicPr>
          <p:cNvPr id="23557" name="Picture 5" descr="24_02"/>
          <p:cNvPicPr>
            <a:picLocks noGrp="1" noChangeAspect="1" noChangeArrowheads="1"/>
          </p:cNvPicPr>
          <p:nvPr>
            <p:ph sz="half" idx="2"/>
          </p:nvPr>
        </p:nvPicPr>
        <p:blipFill>
          <a:blip r:embed="rId3"/>
          <a:srcRect l="20399" r="20399" b="7440"/>
          <a:stretch>
            <a:fillRect/>
          </a:stretch>
        </p:blipFill>
        <p:spPr>
          <a:xfrm>
            <a:off x="7162800" y="1066800"/>
            <a:ext cx="1755775" cy="5486400"/>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Oxidation Numbers</a:t>
            </a:r>
          </a:p>
        </p:txBody>
      </p:sp>
      <p:sp>
        <p:nvSpPr>
          <p:cNvPr id="24580" name="Rectangle 4"/>
          <p:cNvSpPr>
            <a:spLocks noGrp="1" noChangeArrowheads="1"/>
          </p:cNvSpPr>
          <p:nvPr>
            <p:ph type="body" sz="half" idx="2"/>
          </p:nvPr>
        </p:nvSpPr>
        <p:spPr/>
        <p:txBody>
          <a:bodyPr/>
          <a:lstStyle/>
          <a:p>
            <a:pPr>
              <a:buFontTx/>
              <a:buNone/>
            </a:pPr>
            <a:r>
              <a:rPr lang="en-US" sz="2800"/>
              <a:t>	Knowing the charge on a complex ion and the charge on each ligand, one can determine the oxidation number for the metal.</a:t>
            </a:r>
          </a:p>
        </p:txBody>
      </p:sp>
      <p:pic>
        <p:nvPicPr>
          <p:cNvPr id="24581" name="Picture 5" descr="24_02-01UN"/>
          <p:cNvPicPr>
            <a:picLocks noGrp="1" noChangeAspect="1" noChangeArrowheads="1"/>
          </p:cNvPicPr>
          <p:nvPr>
            <p:ph sz="half" idx="1"/>
          </p:nvPr>
        </p:nvPicPr>
        <p:blipFill>
          <a:blip r:embed="rId3" cstate="print"/>
          <a:srcRect/>
          <a:stretch>
            <a:fillRect/>
          </a:stretch>
        </p:blipFill>
        <p:spPr>
          <a:xfrm>
            <a:off x="2673350" y="1676400"/>
            <a:ext cx="3795713" cy="1981200"/>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t>Oxidation Numbers</a:t>
            </a:r>
          </a:p>
        </p:txBody>
      </p:sp>
      <p:sp>
        <p:nvSpPr>
          <p:cNvPr id="25603" name="Rectangle 3"/>
          <p:cNvSpPr>
            <a:spLocks noGrp="1" noChangeArrowheads="1"/>
          </p:cNvSpPr>
          <p:nvPr>
            <p:ph type="body" sz="half" idx="2"/>
          </p:nvPr>
        </p:nvSpPr>
        <p:spPr>
          <a:xfrm>
            <a:off x="619125" y="1325563"/>
            <a:ext cx="7772400" cy="1522412"/>
          </a:xfrm>
        </p:spPr>
        <p:txBody>
          <a:bodyPr/>
          <a:lstStyle/>
          <a:p>
            <a:pPr>
              <a:buFontTx/>
              <a:buNone/>
            </a:pPr>
            <a:r>
              <a:rPr lang="en-US" sz="2800"/>
              <a:t>	Or, knowing the oxidation number on the metal and the charges on the ligands, one can calculate the charge on the complex ion.</a:t>
            </a:r>
          </a:p>
        </p:txBody>
      </p:sp>
      <p:pic>
        <p:nvPicPr>
          <p:cNvPr id="25606" name="Picture 6" descr="24_02-03UN"/>
          <p:cNvPicPr>
            <a:picLocks noGrp="1" noChangeAspect="1" noChangeArrowheads="1"/>
          </p:cNvPicPr>
          <p:nvPr>
            <p:ph sz="half" idx="1"/>
          </p:nvPr>
        </p:nvPicPr>
        <p:blipFill>
          <a:blip r:embed="rId3" cstate="print"/>
          <a:srcRect b="7692"/>
          <a:stretch>
            <a:fillRect/>
          </a:stretch>
        </p:blipFill>
        <p:spPr>
          <a:xfrm>
            <a:off x="1500188" y="4316413"/>
            <a:ext cx="5267325" cy="1828800"/>
          </a:xfrm>
        </p:spPr>
      </p:pic>
      <p:sp>
        <p:nvSpPr>
          <p:cNvPr id="25607" name="Text Box 7"/>
          <p:cNvSpPr txBox="1">
            <a:spLocks noChangeArrowheads="1"/>
          </p:cNvSpPr>
          <p:nvPr/>
        </p:nvSpPr>
        <p:spPr bwMode="auto">
          <a:xfrm>
            <a:off x="947738" y="2990850"/>
            <a:ext cx="4419600" cy="519113"/>
          </a:xfrm>
          <a:prstGeom prst="rect">
            <a:avLst/>
          </a:prstGeom>
          <a:noFill/>
          <a:ln w="9525">
            <a:noFill/>
            <a:miter lim="800000"/>
            <a:headEnd/>
            <a:tailEnd/>
          </a:ln>
          <a:effectLst/>
        </p:spPr>
        <p:txBody>
          <a:bodyPr wrap="none">
            <a:spAutoFit/>
          </a:bodyPr>
          <a:lstStyle/>
          <a:p>
            <a:r>
              <a:rPr lang="en-US" sz="2800" b="1">
                <a:solidFill>
                  <a:srgbClr val="00197D"/>
                </a:solidFill>
              </a:rPr>
              <a:t>Example:  Cr(III)(H</a:t>
            </a:r>
            <a:r>
              <a:rPr lang="en-US" sz="2800" b="1" baseline="-25000">
                <a:solidFill>
                  <a:srgbClr val="00197D"/>
                </a:solidFill>
              </a:rPr>
              <a:t>2</a:t>
            </a:r>
            <a:r>
              <a:rPr lang="en-US" sz="2800" b="1">
                <a:solidFill>
                  <a:srgbClr val="00197D"/>
                </a:solidFill>
              </a:rPr>
              <a:t>O)</a:t>
            </a:r>
            <a:r>
              <a:rPr lang="en-US" sz="2800" b="1" baseline="-25000">
                <a:solidFill>
                  <a:srgbClr val="00197D"/>
                </a:solidFill>
              </a:rPr>
              <a:t>4</a:t>
            </a:r>
            <a:r>
              <a:rPr lang="en-US" sz="2800" b="1">
                <a:solidFill>
                  <a:srgbClr val="00197D"/>
                </a:solidFill>
              </a:rPr>
              <a:t>Cl</a:t>
            </a:r>
            <a:r>
              <a:rPr lang="en-US" sz="2800" b="1" baseline="-25000">
                <a:solidFill>
                  <a:srgbClr val="00197D"/>
                </a:solidFill>
              </a:rPr>
              <a:t>2</a:t>
            </a:r>
            <a:endParaRPr lang="en-US" sz="2800" b="1">
              <a:solidFill>
                <a:srgbClr val="00197D"/>
              </a:solidFill>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t>Coordination Number</a:t>
            </a:r>
          </a:p>
        </p:txBody>
      </p:sp>
      <p:sp>
        <p:nvSpPr>
          <p:cNvPr id="26628" name="Rectangle 4"/>
          <p:cNvSpPr>
            <a:spLocks noGrp="1" noChangeArrowheads="1"/>
          </p:cNvSpPr>
          <p:nvPr>
            <p:ph type="body" sz="half" idx="3"/>
          </p:nvPr>
        </p:nvSpPr>
        <p:spPr>
          <a:xfrm>
            <a:off x="5029200" y="1600200"/>
            <a:ext cx="3962400" cy="4495800"/>
          </a:xfrm>
        </p:spPr>
        <p:txBody>
          <a:bodyPr/>
          <a:lstStyle/>
          <a:p>
            <a:r>
              <a:rPr lang="en-US" sz="2800"/>
              <a:t>The atom that supplies the lone pairs of  electrons for the metal-ligand bond is the </a:t>
            </a:r>
            <a:r>
              <a:rPr lang="en-US" sz="2800">
                <a:solidFill>
                  <a:srgbClr val="00197D"/>
                </a:solidFill>
              </a:rPr>
              <a:t>donor atom</a:t>
            </a:r>
            <a:r>
              <a:rPr lang="en-US" sz="2800"/>
              <a:t>.</a:t>
            </a:r>
          </a:p>
          <a:p>
            <a:r>
              <a:rPr lang="en-US" sz="2800"/>
              <a:t>The number of these atoms is the </a:t>
            </a:r>
            <a:r>
              <a:rPr lang="en-US" sz="2800">
                <a:solidFill>
                  <a:srgbClr val="00197D"/>
                </a:solidFill>
              </a:rPr>
              <a:t>coordination number</a:t>
            </a:r>
            <a:r>
              <a:rPr lang="en-US" sz="2800"/>
              <a:t>.</a:t>
            </a:r>
          </a:p>
        </p:txBody>
      </p:sp>
      <p:pic>
        <p:nvPicPr>
          <p:cNvPr id="26632" name="Picture 8" descr="24_03ab"/>
          <p:cNvPicPr>
            <a:picLocks noGrp="1" noChangeAspect="1" noChangeArrowheads="1"/>
          </p:cNvPicPr>
          <p:nvPr>
            <p:ph sz="quarter" idx="1"/>
          </p:nvPr>
        </p:nvPicPr>
        <p:blipFill>
          <a:blip r:embed="rId3" cstate="print"/>
          <a:srcRect b="21657"/>
          <a:stretch>
            <a:fillRect/>
          </a:stretch>
        </p:blipFill>
        <p:spPr>
          <a:xfrm>
            <a:off x="304800" y="2163763"/>
            <a:ext cx="4570413" cy="1517650"/>
          </a:xfrm>
        </p:spPr>
      </p:pic>
      <p:pic>
        <p:nvPicPr>
          <p:cNvPr id="26633" name="Picture 9" descr="24_04"/>
          <p:cNvPicPr>
            <a:picLocks noGrp="1" noChangeAspect="1" noChangeArrowheads="1"/>
          </p:cNvPicPr>
          <p:nvPr>
            <p:ph sz="quarter" idx="2"/>
          </p:nvPr>
        </p:nvPicPr>
        <p:blipFill>
          <a:blip r:embed="rId4" cstate="print"/>
          <a:srcRect b="17819"/>
          <a:stretch>
            <a:fillRect/>
          </a:stretch>
        </p:blipFill>
        <p:spPr>
          <a:xfrm>
            <a:off x="304800" y="4278313"/>
            <a:ext cx="4570413" cy="1630362"/>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8">
                                            <p:txEl>
                                              <p:pRg st="1" end="1"/>
                                            </p:txEl>
                                          </p:spTgt>
                                        </p:tgtEl>
                                        <p:attrNameLst>
                                          <p:attrName>style.visibility</p:attrName>
                                        </p:attrNameLst>
                                      </p:cBhvr>
                                      <p:to>
                                        <p:strVal val="visible"/>
                                      </p:to>
                                    </p:set>
                                    <p:animEffect transition="in" filter="fade">
                                      <p:cBhvr>
                                        <p:cTn id="7" dur="2000"/>
                                        <p:tgtEl>
                                          <p:spTgt spid="2662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Coordination Number</a:t>
            </a:r>
          </a:p>
        </p:txBody>
      </p:sp>
      <p:sp>
        <p:nvSpPr>
          <p:cNvPr id="28675" name="Rectangle 3"/>
          <p:cNvSpPr>
            <a:spLocks noGrp="1" noChangeArrowheads="1"/>
          </p:cNvSpPr>
          <p:nvPr>
            <p:ph type="body" sz="half" idx="3"/>
          </p:nvPr>
        </p:nvSpPr>
        <p:spPr>
          <a:xfrm>
            <a:off x="4648200" y="1600200"/>
            <a:ext cx="4419600" cy="4495800"/>
          </a:xfrm>
        </p:spPr>
        <p:txBody>
          <a:bodyPr/>
          <a:lstStyle/>
          <a:p>
            <a:r>
              <a:rPr lang="en-US" sz="2800"/>
              <a:t>Some metals, such as chromium(III) and cobalt(III), consistently have the same coordination number (6 in the case of these two metals).</a:t>
            </a:r>
          </a:p>
          <a:p>
            <a:r>
              <a:rPr lang="en-US" sz="2800"/>
              <a:t>The most commonly encountered numbers are 4 and 6.</a:t>
            </a:r>
          </a:p>
        </p:txBody>
      </p:sp>
      <p:pic>
        <p:nvPicPr>
          <p:cNvPr id="28676" name="Picture 4" descr="24_03ab"/>
          <p:cNvPicPr>
            <a:picLocks noGrp="1" noChangeAspect="1" noChangeArrowheads="1"/>
          </p:cNvPicPr>
          <p:nvPr>
            <p:ph sz="quarter" idx="1"/>
          </p:nvPr>
        </p:nvPicPr>
        <p:blipFill>
          <a:blip r:embed="rId3" cstate="print"/>
          <a:srcRect b="21664"/>
          <a:stretch>
            <a:fillRect/>
          </a:stretch>
        </p:blipFill>
        <p:spPr>
          <a:xfrm>
            <a:off x="304800" y="2163763"/>
            <a:ext cx="4113213" cy="1365250"/>
          </a:xfrm>
        </p:spPr>
      </p:pic>
      <p:pic>
        <p:nvPicPr>
          <p:cNvPr id="28677" name="Picture 5" descr="24_04"/>
          <p:cNvPicPr>
            <a:picLocks noGrp="1" noChangeAspect="1" noChangeArrowheads="1"/>
          </p:cNvPicPr>
          <p:nvPr>
            <p:ph sz="quarter" idx="2"/>
          </p:nvPr>
        </p:nvPicPr>
        <p:blipFill>
          <a:blip r:embed="rId4" cstate="print"/>
          <a:srcRect b="17819"/>
          <a:stretch>
            <a:fillRect/>
          </a:stretch>
        </p:blipFill>
        <p:spPr>
          <a:xfrm>
            <a:off x="304800" y="4278313"/>
            <a:ext cx="4113213" cy="1466850"/>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675">
                                            <p:txEl>
                                              <p:pRg st="1" end="1"/>
                                            </p:txEl>
                                          </p:spTgt>
                                        </p:tgtEl>
                                        <p:attrNameLst>
                                          <p:attrName>style.visibility</p:attrName>
                                        </p:attrNameLst>
                                      </p:cBhvr>
                                      <p:to>
                                        <p:strVal val="visible"/>
                                      </p:to>
                                    </p:set>
                                    <p:animEffect transition="in" filter="fade">
                                      <p:cBhvr>
                                        <p:cTn id="7" dur="2000"/>
                                        <p:tgtEl>
                                          <p:spTgt spid="286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457200" y="457200"/>
            <a:ext cx="7620000" cy="1143000"/>
          </a:xfrm>
        </p:spPr>
        <p:txBody>
          <a:bodyPr/>
          <a:lstStyle/>
          <a:p>
            <a:pPr>
              <a:spcBef>
                <a:spcPct val="20000"/>
              </a:spcBef>
            </a:pPr>
            <a:r>
              <a:rPr lang="en-US" sz="4000">
                <a:latin typeface="Times New Roman" pitchFamily="18" charset="0"/>
                <a:cs typeface="Times New Roman" pitchFamily="18" charset="0"/>
              </a:rPr>
              <a:t>Coordinate Covalent Bond</a:t>
            </a:r>
          </a:p>
        </p:txBody>
      </p:sp>
      <p:sp>
        <p:nvSpPr>
          <p:cNvPr id="53251" name="Rectangle 3"/>
          <p:cNvSpPr>
            <a:spLocks noGrp="1" noChangeArrowheads="1"/>
          </p:cNvSpPr>
          <p:nvPr>
            <p:ph type="body" idx="1"/>
          </p:nvPr>
        </p:nvSpPr>
        <p:spPr>
          <a:xfrm>
            <a:off x="457200" y="1981200"/>
            <a:ext cx="8229600" cy="1981200"/>
          </a:xfrm>
        </p:spPr>
        <p:txBody>
          <a:bodyPr/>
          <a:lstStyle/>
          <a:p>
            <a:pPr marL="457200" indent="-457200"/>
            <a:r>
              <a:rPr lang="en-US" sz="3600">
                <a:latin typeface="Times New Roman" pitchFamily="18" charset="0"/>
                <a:cs typeface="Times New Roman" pitchFamily="18" charset="0"/>
              </a:rPr>
              <a:t>Bond resulting from the interaction between a Lewis base (the ligand) and a Lewis acid (the metal ion).</a:t>
            </a:r>
          </a:p>
        </p:txBody>
      </p:sp>
      <p:sp>
        <p:nvSpPr>
          <p:cNvPr id="53252"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wipe(left)">
                                      <p:cBhvr>
                                        <p:cTn id="7" dur="500"/>
                                        <p:tgtEl>
                                          <p:spTgt spid="532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1143000"/>
            <a:ext cx="3429000" cy="3352800"/>
          </a:xfrm>
        </p:spPr>
        <p:txBody>
          <a:bodyPr/>
          <a:lstStyle/>
          <a:p>
            <a:pPr>
              <a:spcBef>
                <a:spcPct val="20000"/>
              </a:spcBef>
            </a:pPr>
            <a:r>
              <a:rPr lang="en-US" altLang="en-US" sz="3200">
                <a:latin typeface="Times New Roman" pitchFamily="18" charset="0"/>
                <a:cs typeface="Times New Roman" pitchFamily="18" charset="0"/>
              </a:rPr>
              <a:t>The Bidentate Ligand Ethylenediamine and the Monodentate Ligand Ammonia</a:t>
            </a:r>
            <a:endParaRPr lang="en-US" sz="3200">
              <a:latin typeface="Times New Roman" pitchFamily="18" charset="0"/>
              <a:cs typeface="Times New Roman" pitchFamily="18" charset="0"/>
            </a:endParaRPr>
          </a:p>
        </p:txBody>
      </p:sp>
      <p:sp>
        <p:nvSpPr>
          <p:cNvPr id="5529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55300" name="Picture 4" descr="ch21_24"/>
          <p:cNvPicPr>
            <a:picLocks noChangeAspect="1" noChangeArrowheads="1"/>
          </p:cNvPicPr>
          <p:nvPr/>
        </p:nvPicPr>
        <p:blipFill>
          <a:blip r:embed="rId3"/>
          <a:srcRect/>
          <a:stretch>
            <a:fillRect/>
          </a:stretch>
        </p:blipFill>
        <p:spPr bwMode="auto">
          <a:xfrm>
            <a:off x="4572000" y="914400"/>
            <a:ext cx="3209925" cy="50292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title"/>
          </p:nvPr>
        </p:nvSpPr>
        <p:spPr/>
        <p:txBody>
          <a:bodyPr/>
          <a:lstStyle/>
          <a:p>
            <a:pPr eaLnBrk="1" hangingPunct="1"/>
            <a:r>
              <a:rPr lang="en-US" smtClean="0"/>
              <a:t>Coordination Chemistry</a:t>
            </a:r>
          </a:p>
        </p:txBody>
      </p:sp>
      <p:sp>
        <p:nvSpPr>
          <p:cNvPr id="17411" name="Rectangle 5"/>
          <p:cNvSpPr>
            <a:spLocks noGrp="1" noChangeArrowheads="1"/>
          </p:cNvSpPr>
          <p:nvPr>
            <p:ph type="body" idx="1"/>
          </p:nvPr>
        </p:nvSpPr>
        <p:spPr/>
        <p:txBody>
          <a:bodyPr>
            <a:normAutofit fontScale="92500" lnSpcReduction="10000"/>
          </a:bodyPr>
          <a:lstStyle/>
          <a:p>
            <a:pPr eaLnBrk="1" hangingPunct="1"/>
            <a:r>
              <a:rPr lang="en-US" b="1" smtClean="0"/>
              <a:t>Ligands</a:t>
            </a:r>
          </a:p>
          <a:p>
            <a:pPr lvl="1" eaLnBrk="1" hangingPunct="1"/>
            <a:r>
              <a:rPr lang="en-US" sz="3200" smtClean="0"/>
              <a:t>classified according to the number of donor atoms</a:t>
            </a:r>
          </a:p>
          <a:p>
            <a:pPr lvl="1" eaLnBrk="1" hangingPunct="1"/>
            <a:r>
              <a:rPr lang="en-US" sz="3200" smtClean="0"/>
              <a:t>Examples</a:t>
            </a:r>
          </a:p>
          <a:p>
            <a:pPr lvl="2" eaLnBrk="1" hangingPunct="1"/>
            <a:r>
              <a:rPr lang="en-US" sz="3200" smtClean="0"/>
              <a:t>monodentate = 1</a:t>
            </a:r>
          </a:p>
          <a:p>
            <a:pPr lvl="2" eaLnBrk="1" hangingPunct="1"/>
            <a:r>
              <a:rPr lang="en-US" sz="3200" smtClean="0"/>
              <a:t>bidentate = 2</a:t>
            </a:r>
          </a:p>
          <a:p>
            <a:pPr lvl="2" eaLnBrk="1" hangingPunct="1"/>
            <a:r>
              <a:rPr lang="en-US" sz="3200" smtClean="0"/>
              <a:t>tetradentate = 4</a:t>
            </a:r>
          </a:p>
          <a:p>
            <a:pPr lvl="2" eaLnBrk="1" hangingPunct="1"/>
            <a:r>
              <a:rPr lang="en-US" sz="3200" smtClean="0"/>
              <a:t>hexadentate = 6</a:t>
            </a:r>
          </a:p>
          <a:p>
            <a:pPr lvl="2" eaLnBrk="1" hangingPunct="1"/>
            <a:r>
              <a:rPr lang="en-US" sz="3200" smtClean="0"/>
              <a:t>polydentate = 2 or more donor atoms</a:t>
            </a:r>
          </a:p>
        </p:txBody>
      </p:sp>
      <p:sp>
        <p:nvSpPr>
          <p:cNvPr id="17412" name="Text Box 4"/>
          <p:cNvSpPr txBox="1">
            <a:spLocks noChangeArrowheads="1"/>
          </p:cNvSpPr>
          <p:nvPr/>
        </p:nvSpPr>
        <p:spPr bwMode="auto">
          <a:xfrm>
            <a:off x="5715000" y="4267200"/>
            <a:ext cx="2667000" cy="1138238"/>
          </a:xfrm>
          <a:prstGeom prst="rect">
            <a:avLst/>
          </a:prstGeom>
          <a:noFill/>
          <a:ln w="12700">
            <a:noFill/>
            <a:miter lim="800000"/>
            <a:headEnd/>
            <a:tailEnd/>
          </a:ln>
        </p:spPr>
        <p:txBody>
          <a:bodyPr>
            <a:spAutoFit/>
          </a:bodyPr>
          <a:lstStyle/>
          <a:p>
            <a:pPr eaLnBrk="0" hangingPunct="0">
              <a:spcBef>
                <a:spcPct val="50000"/>
              </a:spcBef>
            </a:pPr>
            <a:r>
              <a:rPr lang="en-US" sz="3400" b="1">
                <a:solidFill>
                  <a:srgbClr val="FF0000"/>
                </a:solidFill>
              </a:rPr>
              <a:t>chelating agents</a:t>
            </a:r>
          </a:p>
        </p:txBody>
      </p:sp>
      <p:sp>
        <p:nvSpPr>
          <p:cNvPr id="17413" name="Freeform 8"/>
          <p:cNvSpPr>
            <a:spLocks/>
          </p:cNvSpPr>
          <p:nvPr/>
        </p:nvSpPr>
        <p:spPr bwMode="auto">
          <a:xfrm>
            <a:off x="4038600" y="4495800"/>
            <a:ext cx="2667000" cy="1447800"/>
          </a:xfrm>
          <a:custGeom>
            <a:avLst/>
            <a:gdLst>
              <a:gd name="T0" fmla="*/ 0 w 1525"/>
              <a:gd name="T1" fmla="*/ 48450 h 1016"/>
              <a:gd name="T2" fmla="*/ 216858 w 1525"/>
              <a:gd name="T3" fmla="*/ 0 h 1016"/>
              <a:gd name="T4" fmla="*/ 652322 w 1525"/>
              <a:gd name="T5" fmla="*/ 15675 h 1016"/>
              <a:gd name="T6" fmla="*/ 750258 w 1525"/>
              <a:gd name="T7" fmla="*/ 96900 h 1016"/>
              <a:gd name="T8" fmla="*/ 869180 w 1525"/>
              <a:gd name="T9" fmla="*/ 192375 h 1016"/>
              <a:gd name="T10" fmla="*/ 1243434 w 1525"/>
              <a:gd name="T11" fmla="*/ 401850 h 1016"/>
              <a:gd name="T12" fmla="*/ 1559976 w 1525"/>
              <a:gd name="T13" fmla="*/ 386175 h 1016"/>
              <a:gd name="T14" fmla="*/ 1678898 w 1525"/>
              <a:gd name="T15" fmla="*/ 353400 h 1016"/>
              <a:gd name="T16" fmla="*/ 1638675 w 1525"/>
              <a:gd name="T17" fmla="*/ 498750 h 1016"/>
              <a:gd name="T18" fmla="*/ 1540739 w 1525"/>
              <a:gd name="T19" fmla="*/ 611325 h 1016"/>
              <a:gd name="T20" fmla="*/ 1540739 w 1525"/>
              <a:gd name="T21" fmla="*/ 805125 h 1016"/>
              <a:gd name="T22" fmla="*/ 1600200 w 1525"/>
              <a:gd name="T23" fmla="*/ 836475 h 1016"/>
              <a:gd name="T24" fmla="*/ 1678898 w 1525"/>
              <a:gd name="T25" fmla="*/ 884925 h 1016"/>
              <a:gd name="T26" fmla="*/ 1757597 w 1525"/>
              <a:gd name="T27" fmla="*/ 900600 h 1016"/>
              <a:gd name="T28" fmla="*/ 2093377 w 1525"/>
              <a:gd name="T29" fmla="*/ 981825 h 1016"/>
              <a:gd name="T30" fmla="*/ 2152838 w 1525"/>
              <a:gd name="T31" fmla="*/ 997500 h 1016"/>
              <a:gd name="T32" fmla="*/ 2271759 w 1525"/>
              <a:gd name="T33" fmla="*/ 1013175 h 1016"/>
              <a:gd name="T34" fmla="*/ 2429156 w 1525"/>
              <a:gd name="T35" fmla="*/ 1045950 h 1016"/>
              <a:gd name="T36" fmla="*/ 2586553 w 1525"/>
              <a:gd name="T37" fmla="*/ 1142850 h 1016"/>
              <a:gd name="T38" fmla="*/ 2667000 w 1525"/>
              <a:gd name="T39" fmla="*/ 1239750 h 1016"/>
              <a:gd name="T40" fmla="*/ 2646014 w 1525"/>
              <a:gd name="T41" fmla="*/ 1399350 h 1016"/>
              <a:gd name="T42" fmla="*/ 2626776 w 1525"/>
              <a:gd name="T43" fmla="*/ 1447800 h 10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25"/>
              <a:gd name="T67" fmla="*/ 0 h 1016"/>
              <a:gd name="T68" fmla="*/ 1525 w 1525"/>
              <a:gd name="T69" fmla="*/ 1016 h 10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25" h="1016">
                <a:moveTo>
                  <a:pt x="0" y="34"/>
                </a:moveTo>
                <a:cubicBezTo>
                  <a:pt x="86" y="5"/>
                  <a:pt x="45" y="16"/>
                  <a:pt x="124" y="0"/>
                </a:cubicBezTo>
                <a:cubicBezTo>
                  <a:pt x="207" y="4"/>
                  <a:pt x="291" y="1"/>
                  <a:pt x="373" y="11"/>
                </a:cubicBezTo>
                <a:cubicBezTo>
                  <a:pt x="403" y="15"/>
                  <a:pt x="413" y="51"/>
                  <a:pt x="429" y="68"/>
                </a:cubicBezTo>
                <a:cubicBezTo>
                  <a:pt x="450" y="92"/>
                  <a:pt x="497" y="135"/>
                  <a:pt x="497" y="135"/>
                </a:cubicBezTo>
                <a:cubicBezTo>
                  <a:pt x="529" y="235"/>
                  <a:pt x="619" y="264"/>
                  <a:pt x="711" y="282"/>
                </a:cubicBezTo>
                <a:cubicBezTo>
                  <a:pt x="771" y="278"/>
                  <a:pt x="832" y="279"/>
                  <a:pt x="892" y="271"/>
                </a:cubicBezTo>
                <a:cubicBezTo>
                  <a:pt x="916" y="268"/>
                  <a:pt x="960" y="248"/>
                  <a:pt x="960" y="248"/>
                </a:cubicBezTo>
                <a:cubicBezTo>
                  <a:pt x="958" y="259"/>
                  <a:pt x="945" y="335"/>
                  <a:pt x="937" y="350"/>
                </a:cubicBezTo>
                <a:cubicBezTo>
                  <a:pt x="922" y="379"/>
                  <a:pt x="899" y="402"/>
                  <a:pt x="881" y="429"/>
                </a:cubicBezTo>
                <a:cubicBezTo>
                  <a:pt x="867" y="482"/>
                  <a:pt x="855" y="502"/>
                  <a:pt x="881" y="565"/>
                </a:cubicBezTo>
                <a:cubicBezTo>
                  <a:pt x="886" y="578"/>
                  <a:pt x="904" y="579"/>
                  <a:pt x="915" y="587"/>
                </a:cubicBezTo>
                <a:cubicBezTo>
                  <a:pt x="930" y="598"/>
                  <a:pt x="943" y="613"/>
                  <a:pt x="960" y="621"/>
                </a:cubicBezTo>
                <a:cubicBezTo>
                  <a:pt x="974" y="628"/>
                  <a:pt x="990" y="627"/>
                  <a:pt x="1005" y="632"/>
                </a:cubicBezTo>
                <a:cubicBezTo>
                  <a:pt x="1070" y="654"/>
                  <a:pt x="1131" y="673"/>
                  <a:pt x="1197" y="689"/>
                </a:cubicBezTo>
                <a:cubicBezTo>
                  <a:pt x="1209" y="692"/>
                  <a:pt x="1219" y="697"/>
                  <a:pt x="1231" y="700"/>
                </a:cubicBezTo>
                <a:cubicBezTo>
                  <a:pt x="1253" y="705"/>
                  <a:pt x="1277" y="706"/>
                  <a:pt x="1299" y="711"/>
                </a:cubicBezTo>
                <a:cubicBezTo>
                  <a:pt x="1329" y="718"/>
                  <a:pt x="1389" y="734"/>
                  <a:pt x="1389" y="734"/>
                </a:cubicBezTo>
                <a:cubicBezTo>
                  <a:pt x="1419" y="757"/>
                  <a:pt x="1449" y="779"/>
                  <a:pt x="1479" y="802"/>
                </a:cubicBezTo>
                <a:cubicBezTo>
                  <a:pt x="1501" y="818"/>
                  <a:pt x="1525" y="870"/>
                  <a:pt x="1525" y="870"/>
                </a:cubicBezTo>
                <a:cubicBezTo>
                  <a:pt x="1521" y="907"/>
                  <a:pt x="1519" y="945"/>
                  <a:pt x="1513" y="982"/>
                </a:cubicBezTo>
                <a:cubicBezTo>
                  <a:pt x="1511" y="994"/>
                  <a:pt x="1502" y="1016"/>
                  <a:pt x="1502" y="1016"/>
                </a:cubicBezTo>
              </a:path>
            </a:pathLst>
          </a:custGeom>
          <a:noFill/>
          <a:ln w="28575" cap="flat" cmpd="sng">
            <a:solidFill>
              <a:srgbClr val="FC0128"/>
            </a:solidFill>
            <a:prstDash val="solid"/>
            <a:round/>
            <a:headEnd type="arrow" w="med" len="med"/>
            <a:tailEnd type="arrow" w="med" len="med"/>
          </a:ln>
        </p:spPr>
        <p:txBody>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p:cNvSpPr>
            <a:spLocks noGrp="1" noChangeArrowheads="1"/>
          </p:cNvSpPr>
          <p:nvPr>
            <p:ph type="title"/>
          </p:nvPr>
        </p:nvSpPr>
        <p:spPr/>
        <p:txBody>
          <a:bodyPr/>
          <a:lstStyle/>
          <a:p>
            <a:pPr eaLnBrk="1" hangingPunct="1"/>
            <a:r>
              <a:rPr lang="en-US" b="1" smtClean="0">
                <a:solidFill>
                  <a:srgbClr val="C00000"/>
                </a:solidFill>
              </a:rPr>
              <a:t>Ligands</a:t>
            </a:r>
          </a:p>
        </p:txBody>
      </p:sp>
      <p:sp>
        <p:nvSpPr>
          <p:cNvPr id="18435" name="Rectangle 7"/>
          <p:cNvSpPr>
            <a:spLocks noGrp="1" noChangeArrowheads="1"/>
          </p:cNvSpPr>
          <p:nvPr>
            <p:ph type="body" idx="1"/>
          </p:nvPr>
        </p:nvSpPr>
        <p:spPr/>
        <p:txBody>
          <a:bodyPr/>
          <a:lstStyle/>
          <a:p>
            <a:pPr eaLnBrk="1" hangingPunct="1"/>
            <a:r>
              <a:rPr lang="en-US" sz="3500" b="1" smtClean="0"/>
              <a:t>Monodentate</a:t>
            </a:r>
          </a:p>
          <a:p>
            <a:pPr lvl="1" eaLnBrk="1" hangingPunct="1"/>
            <a:r>
              <a:rPr lang="en-US" sz="3500" smtClean="0"/>
              <a:t>	Examples:  </a:t>
            </a:r>
          </a:p>
          <a:p>
            <a:pPr lvl="2" eaLnBrk="1" hangingPunct="1"/>
            <a:r>
              <a:rPr lang="en-US" sz="3500" smtClean="0"/>
              <a:t>H</a:t>
            </a:r>
            <a:r>
              <a:rPr lang="en-US" sz="3500" baseline="-25000" smtClean="0"/>
              <a:t>2</a:t>
            </a:r>
            <a:r>
              <a:rPr lang="en-US" sz="3500" smtClean="0"/>
              <a:t>O, CN</a:t>
            </a:r>
            <a:r>
              <a:rPr lang="en-US" sz="3500" baseline="30000" smtClean="0"/>
              <a:t>-</a:t>
            </a:r>
            <a:r>
              <a:rPr lang="en-US" sz="3500" smtClean="0"/>
              <a:t>, NH</a:t>
            </a:r>
            <a:r>
              <a:rPr lang="en-US" sz="3500" baseline="-25000" smtClean="0"/>
              <a:t>3</a:t>
            </a:r>
            <a:r>
              <a:rPr lang="en-US" sz="3500" smtClean="0"/>
              <a:t>, NO</a:t>
            </a:r>
            <a:r>
              <a:rPr lang="en-US" sz="3500" baseline="-25000" smtClean="0"/>
              <a:t>2</a:t>
            </a:r>
            <a:r>
              <a:rPr lang="en-US" sz="3500" baseline="30000" smtClean="0"/>
              <a:t>-</a:t>
            </a:r>
            <a:r>
              <a:rPr lang="en-US" sz="3500" smtClean="0"/>
              <a:t>, SCN</a:t>
            </a:r>
            <a:r>
              <a:rPr lang="en-US" sz="3500" baseline="30000" smtClean="0"/>
              <a:t>-</a:t>
            </a:r>
            <a:r>
              <a:rPr lang="en-US" sz="3500" smtClean="0"/>
              <a:t>, OH</a:t>
            </a:r>
            <a:r>
              <a:rPr lang="en-US" sz="3500" baseline="30000" smtClean="0"/>
              <a:t>-</a:t>
            </a:r>
            <a:r>
              <a:rPr lang="en-US" sz="3500" smtClean="0"/>
              <a:t>, X</a:t>
            </a:r>
            <a:r>
              <a:rPr lang="en-US" sz="3500" baseline="30000" smtClean="0"/>
              <a:t>-</a:t>
            </a:r>
            <a:r>
              <a:rPr lang="en-US" sz="3500" smtClean="0"/>
              <a:t> (halides), CO, O</a:t>
            </a:r>
            <a:r>
              <a:rPr lang="en-US" sz="3500" baseline="30000" smtClean="0"/>
              <a:t>2-</a:t>
            </a:r>
            <a:endParaRPr lang="en-US" sz="3500" smtClean="0"/>
          </a:p>
          <a:p>
            <a:pPr lvl="1" eaLnBrk="1" hangingPunct="1"/>
            <a:r>
              <a:rPr lang="en-US" sz="3500" smtClean="0"/>
              <a:t>Example Complexes</a:t>
            </a:r>
          </a:p>
          <a:p>
            <a:pPr lvl="2" eaLnBrk="1" hangingPunct="1"/>
            <a:r>
              <a:rPr lang="en-US" sz="3500" smtClean="0"/>
              <a:t>[Co(NH</a:t>
            </a:r>
            <a:r>
              <a:rPr lang="en-US" sz="3500" baseline="-25000" smtClean="0"/>
              <a:t>3</a:t>
            </a:r>
            <a:r>
              <a:rPr lang="en-US" sz="3500" smtClean="0"/>
              <a:t>)</a:t>
            </a:r>
            <a:r>
              <a:rPr lang="en-US" sz="3500" baseline="-25000" smtClean="0"/>
              <a:t>6</a:t>
            </a:r>
            <a:r>
              <a:rPr lang="en-US" sz="3500" smtClean="0"/>
              <a:t>]</a:t>
            </a:r>
            <a:r>
              <a:rPr lang="en-US" sz="3500" baseline="30000" smtClean="0"/>
              <a:t>3+</a:t>
            </a:r>
            <a:endParaRPr lang="en-US" sz="3500" smtClean="0"/>
          </a:p>
          <a:p>
            <a:pPr lvl="2" eaLnBrk="1" hangingPunct="1"/>
            <a:r>
              <a:rPr lang="en-US" sz="3500" smtClean="0"/>
              <a:t>[Fe(SCN)</a:t>
            </a:r>
            <a:r>
              <a:rPr lang="en-US" sz="3500" baseline="-25000" smtClean="0"/>
              <a:t>6</a:t>
            </a:r>
            <a:r>
              <a:rPr lang="en-US" sz="3500" smtClean="0"/>
              <a:t>]</a:t>
            </a:r>
            <a:r>
              <a:rPr lang="en-US" sz="3500" baseline="30000" smtClean="0"/>
              <a:t>3-</a:t>
            </a:r>
            <a:r>
              <a:rPr lang="en-US" sz="3500" smtClean="0"/>
              <a:t>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a:spLocks noGrp="1" noChangeArrowheads="1"/>
          </p:cNvSpPr>
          <p:nvPr>
            <p:ph type="title"/>
          </p:nvPr>
        </p:nvSpPr>
        <p:spPr>
          <a:xfrm>
            <a:off x="685800" y="304800"/>
            <a:ext cx="7772400" cy="508000"/>
          </a:xfrm>
        </p:spPr>
        <p:txBody>
          <a:bodyPr>
            <a:normAutofit fontScale="90000"/>
          </a:bodyPr>
          <a:lstStyle/>
          <a:p>
            <a:pPr eaLnBrk="1" hangingPunct="1"/>
            <a:r>
              <a:rPr lang="en-US" b="1" smtClean="0">
                <a:solidFill>
                  <a:srgbClr val="C00000"/>
                </a:solidFill>
              </a:rPr>
              <a:t>Ligands</a:t>
            </a:r>
          </a:p>
        </p:txBody>
      </p:sp>
      <p:sp>
        <p:nvSpPr>
          <p:cNvPr id="19459" name="Rectangle 5"/>
          <p:cNvSpPr>
            <a:spLocks noGrp="1" noChangeArrowheads="1"/>
          </p:cNvSpPr>
          <p:nvPr>
            <p:ph type="body" idx="1"/>
          </p:nvPr>
        </p:nvSpPr>
        <p:spPr>
          <a:xfrm>
            <a:off x="533400" y="1066800"/>
            <a:ext cx="8153400" cy="5562600"/>
          </a:xfrm>
        </p:spPr>
        <p:txBody>
          <a:bodyPr/>
          <a:lstStyle/>
          <a:p>
            <a:pPr eaLnBrk="1" hangingPunct="1"/>
            <a:r>
              <a:rPr lang="en-US" b="1" smtClean="0"/>
              <a:t>Bidentate</a:t>
            </a:r>
          </a:p>
          <a:p>
            <a:pPr lvl="1" eaLnBrk="1" hangingPunct="1"/>
            <a:r>
              <a:rPr lang="en-US" sz="3200" smtClean="0"/>
              <a:t>Examples</a:t>
            </a:r>
          </a:p>
          <a:p>
            <a:pPr lvl="2" eaLnBrk="1" hangingPunct="1"/>
            <a:r>
              <a:rPr lang="en-US" sz="3200" smtClean="0"/>
              <a:t>oxalate ion = C</a:t>
            </a:r>
            <a:r>
              <a:rPr lang="en-US" sz="3200" baseline="-25000" smtClean="0"/>
              <a:t>2</a:t>
            </a:r>
            <a:r>
              <a:rPr lang="en-US" sz="3200" smtClean="0"/>
              <a:t>O</a:t>
            </a:r>
            <a:r>
              <a:rPr lang="en-US" sz="3200" baseline="-25000" smtClean="0"/>
              <a:t>4</a:t>
            </a:r>
            <a:r>
              <a:rPr lang="en-US" sz="3200" baseline="30000" smtClean="0"/>
              <a:t>2-</a:t>
            </a:r>
            <a:r>
              <a:rPr lang="en-US" sz="3200" smtClean="0"/>
              <a:t> </a:t>
            </a:r>
          </a:p>
          <a:p>
            <a:pPr lvl="2" eaLnBrk="1" hangingPunct="1"/>
            <a:r>
              <a:rPr lang="en-US" sz="3200" smtClean="0"/>
              <a:t>ethylenediamine (en) = NH</a:t>
            </a:r>
            <a:r>
              <a:rPr lang="en-US" sz="3200" baseline="-25000" smtClean="0"/>
              <a:t>2</a:t>
            </a:r>
            <a:r>
              <a:rPr lang="en-US" sz="3200" smtClean="0"/>
              <a:t>CH</a:t>
            </a:r>
            <a:r>
              <a:rPr lang="en-US" sz="3200" baseline="-25000" smtClean="0"/>
              <a:t>2</a:t>
            </a:r>
            <a:r>
              <a:rPr lang="en-US" sz="3200" smtClean="0"/>
              <a:t>CH</a:t>
            </a:r>
            <a:r>
              <a:rPr lang="en-US" sz="3200" baseline="-25000" smtClean="0"/>
              <a:t>2</a:t>
            </a:r>
            <a:r>
              <a:rPr lang="en-US" sz="3200" smtClean="0"/>
              <a:t>NH</a:t>
            </a:r>
            <a:r>
              <a:rPr lang="en-US" sz="3200" baseline="-25000" smtClean="0"/>
              <a:t>2</a:t>
            </a:r>
          </a:p>
          <a:p>
            <a:pPr lvl="2" eaLnBrk="1" hangingPunct="1"/>
            <a:r>
              <a:rPr lang="en-US" sz="3200" smtClean="0"/>
              <a:t>ortho-phenanthroline (o-phen)</a:t>
            </a:r>
          </a:p>
          <a:p>
            <a:pPr lvl="1" eaLnBrk="1" hangingPunct="1"/>
            <a:r>
              <a:rPr lang="en-US" sz="3200" smtClean="0"/>
              <a:t>Example Complexes</a:t>
            </a:r>
          </a:p>
          <a:p>
            <a:pPr lvl="2" eaLnBrk="1" hangingPunct="1"/>
            <a:r>
              <a:rPr lang="en-US" sz="3200" smtClean="0"/>
              <a:t>[Co(en)</a:t>
            </a:r>
            <a:r>
              <a:rPr lang="en-US" sz="3200" baseline="-25000" smtClean="0"/>
              <a:t>3</a:t>
            </a:r>
            <a:r>
              <a:rPr lang="en-US" sz="3200" smtClean="0"/>
              <a:t>]</a:t>
            </a:r>
            <a:r>
              <a:rPr lang="en-US" sz="3200" baseline="30000" smtClean="0"/>
              <a:t>3+</a:t>
            </a:r>
            <a:endParaRPr lang="en-US" sz="3200" smtClean="0"/>
          </a:p>
          <a:p>
            <a:pPr lvl="2" eaLnBrk="1" hangingPunct="1"/>
            <a:r>
              <a:rPr lang="en-US" sz="3200" smtClean="0"/>
              <a:t>[Cr(C</a:t>
            </a:r>
            <a:r>
              <a:rPr lang="en-US" sz="3200" baseline="-25000" smtClean="0"/>
              <a:t>2</a:t>
            </a:r>
            <a:r>
              <a:rPr lang="en-US" sz="3200" smtClean="0"/>
              <a:t>O</a:t>
            </a:r>
            <a:r>
              <a:rPr lang="en-US" sz="3200" baseline="-25000" smtClean="0"/>
              <a:t>4</a:t>
            </a:r>
            <a:r>
              <a:rPr lang="en-US" sz="3200" smtClean="0"/>
              <a:t>)</a:t>
            </a:r>
            <a:r>
              <a:rPr lang="en-US" sz="3200" baseline="-25000" smtClean="0"/>
              <a:t>3</a:t>
            </a:r>
            <a:r>
              <a:rPr lang="en-US" sz="3200" smtClean="0"/>
              <a:t>]</a:t>
            </a:r>
            <a:r>
              <a:rPr lang="en-US" sz="3200" baseline="30000" smtClean="0"/>
              <a:t>3-</a:t>
            </a:r>
            <a:endParaRPr lang="en-US" sz="3200" smtClean="0"/>
          </a:p>
          <a:p>
            <a:pPr lvl="2" eaLnBrk="1" hangingPunct="1"/>
            <a:r>
              <a:rPr lang="en-US" sz="3200" smtClean="0"/>
              <a:t>[Fe(NH</a:t>
            </a:r>
            <a:r>
              <a:rPr lang="en-US" sz="3200" baseline="-25000" smtClean="0"/>
              <a:t>3</a:t>
            </a:r>
            <a:r>
              <a:rPr lang="en-US" sz="3200" smtClean="0"/>
              <a:t>)</a:t>
            </a:r>
            <a:r>
              <a:rPr lang="en-US" sz="3200" baseline="-25000" smtClean="0"/>
              <a:t>4</a:t>
            </a:r>
            <a:r>
              <a:rPr lang="en-US" sz="3200" smtClean="0"/>
              <a:t>(o-phen)]</a:t>
            </a:r>
            <a:r>
              <a:rPr lang="en-US" sz="3200" baseline="30000" smtClean="0"/>
              <a:t>3+</a:t>
            </a:r>
            <a:endParaRPr lang="en-US" sz="3200" smtClean="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Rectangle 2050"/>
          <p:cNvSpPr>
            <a:spLocks noGrp="1" noChangeArrowheads="1"/>
          </p:cNvSpPr>
          <p:nvPr>
            <p:ph type="title"/>
          </p:nvPr>
        </p:nvSpPr>
        <p:spPr>
          <a:xfrm>
            <a:off x="685800" y="304800"/>
            <a:ext cx="7772400" cy="558800"/>
          </a:xfrm>
        </p:spPr>
        <p:txBody>
          <a:bodyPr>
            <a:normAutofit fontScale="90000"/>
          </a:bodyPr>
          <a:lstStyle/>
          <a:p>
            <a:pPr eaLnBrk="1" hangingPunct="1"/>
            <a:r>
              <a:rPr lang="en-US" smtClean="0"/>
              <a:t>Ligands</a:t>
            </a:r>
          </a:p>
        </p:txBody>
      </p:sp>
      <p:sp>
        <p:nvSpPr>
          <p:cNvPr id="1030" name="Rectangle 2051"/>
          <p:cNvSpPr>
            <a:spLocks noChangeArrowheads="1"/>
          </p:cNvSpPr>
          <p:nvPr/>
        </p:nvSpPr>
        <p:spPr bwMode="auto">
          <a:xfrm>
            <a:off x="609600" y="990600"/>
            <a:ext cx="2360613" cy="454025"/>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t>oxalate ion</a:t>
            </a:r>
          </a:p>
        </p:txBody>
      </p:sp>
      <p:sp>
        <p:nvSpPr>
          <p:cNvPr id="1031" name="Rectangle 2052"/>
          <p:cNvSpPr>
            <a:spLocks noChangeArrowheads="1"/>
          </p:cNvSpPr>
          <p:nvPr/>
        </p:nvSpPr>
        <p:spPr bwMode="auto">
          <a:xfrm>
            <a:off x="4648200" y="1066800"/>
            <a:ext cx="3275013" cy="454025"/>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en-US" b="1"/>
              <a:t>ethylenediamine</a:t>
            </a:r>
          </a:p>
        </p:txBody>
      </p:sp>
      <p:graphicFrame>
        <p:nvGraphicFramePr>
          <p:cNvPr id="1026" name="Object 2048"/>
          <p:cNvGraphicFramePr>
            <a:graphicFrameLocks noChangeAspect="1"/>
          </p:cNvGraphicFramePr>
          <p:nvPr/>
        </p:nvGraphicFramePr>
        <p:xfrm>
          <a:off x="381000" y="1371600"/>
          <a:ext cx="3505200" cy="1825625"/>
        </p:xfrm>
        <a:graphic>
          <a:graphicData uri="http://schemas.openxmlformats.org/presentationml/2006/ole">
            <mc:AlternateContent xmlns:mc="http://schemas.openxmlformats.org/markup-compatibility/2006">
              <mc:Choice xmlns:v="urn:schemas-microsoft-com:vml" Requires="v">
                <p:oleObj spid="_x0000_s626723" name="Chemistry 4-D Draw" r:id="rId3" imgW="1552680" imgH="809640" progId="">
                  <p:embed/>
                </p:oleObj>
              </mc:Choice>
              <mc:Fallback>
                <p:oleObj name="Chemistry 4-D Draw" r:id="rId3" imgW="1552680" imgH="809640" progId="">
                  <p:embed/>
                  <p:pic>
                    <p:nvPicPr>
                      <p:cNvPr id="0" name="Object 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371600"/>
                        <a:ext cx="3505200"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2049"/>
          <p:cNvGraphicFramePr>
            <a:graphicFrameLocks noChangeAspect="1"/>
          </p:cNvGraphicFramePr>
          <p:nvPr/>
        </p:nvGraphicFramePr>
        <p:xfrm>
          <a:off x="4267200" y="1524000"/>
          <a:ext cx="4191000" cy="1462088"/>
        </p:xfrm>
        <a:graphic>
          <a:graphicData uri="http://schemas.openxmlformats.org/presentationml/2006/ole">
            <mc:AlternateContent xmlns:mc="http://schemas.openxmlformats.org/markup-compatibility/2006">
              <mc:Choice xmlns:v="urn:schemas-microsoft-com:vml" Requires="v">
                <p:oleObj spid="_x0000_s626724" name="Chemistry 4-D Draw" r:id="rId5" imgW="1609560" imgH="561960" progId="">
                  <p:embed/>
                </p:oleObj>
              </mc:Choice>
              <mc:Fallback>
                <p:oleObj name="Chemistry 4-D Draw" r:id="rId5" imgW="1609560" imgH="561960" progId="">
                  <p:embed/>
                  <p:pic>
                    <p:nvPicPr>
                      <p:cNvPr id="0" name="Object 20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524000"/>
                        <a:ext cx="4191000"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8" name="Object 2050"/>
          <p:cNvGraphicFramePr>
            <a:graphicFrameLocks noChangeAspect="1"/>
          </p:cNvGraphicFramePr>
          <p:nvPr/>
        </p:nvGraphicFramePr>
        <p:xfrm>
          <a:off x="2971800" y="3657600"/>
          <a:ext cx="3581400" cy="2560638"/>
        </p:xfrm>
        <a:graphic>
          <a:graphicData uri="http://schemas.openxmlformats.org/presentationml/2006/ole">
            <mc:AlternateContent xmlns:mc="http://schemas.openxmlformats.org/markup-compatibility/2006">
              <mc:Choice xmlns:v="urn:schemas-microsoft-com:vml" Requires="v">
                <p:oleObj spid="_x0000_s626725" name="Chemistry 4-D Draw" r:id="rId7" imgW="2104920" imgH="1504800" progId="">
                  <p:embed/>
                </p:oleObj>
              </mc:Choice>
              <mc:Fallback>
                <p:oleObj name="Chemistry 4-D Draw" r:id="rId7" imgW="2104920" imgH="1504800" progId="">
                  <p:embed/>
                  <p:pic>
                    <p:nvPicPr>
                      <p:cNvPr id="0" name="Object 20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3657600"/>
                        <a:ext cx="3581400" cy="2560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2" name="Rectangle 2056"/>
          <p:cNvSpPr>
            <a:spLocks noChangeArrowheads="1"/>
          </p:cNvSpPr>
          <p:nvPr/>
        </p:nvSpPr>
        <p:spPr bwMode="auto">
          <a:xfrm>
            <a:off x="3124200" y="3429000"/>
            <a:ext cx="3200400" cy="45402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b="1"/>
              <a:t>ortho-phenanthroline</a:t>
            </a:r>
          </a:p>
        </p:txBody>
      </p:sp>
      <p:sp>
        <p:nvSpPr>
          <p:cNvPr id="1033" name="Text Box 2057"/>
          <p:cNvSpPr txBox="1">
            <a:spLocks noChangeArrowheads="1"/>
          </p:cNvSpPr>
          <p:nvPr/>
        </p:nvSpPr>
        <p:spPr bwMode="auto">
          <a:xfrm>
            <a:off x="0" y="4724400"/>
            <a:ext cx="3429000" cy="519113"/>
          </a:xfrm>
          <a:prstGeom prst="rect">
            <a:avLst/>
          </a:prstGeom>
          <a:noFill/>
          <a:ln w="12700">
            <a:noFill/>
            <a:miter lim="800000"/>
            <a:headEnd/>
            <a:tailEnd/>
          </a:ln>
        </p:spPr>
        <p:txBody>
          <a:bodyPr>
            <a:spAutoFit/>
          </a:bodyPr>
          <a:lstStyle/>
          <a:p>
            <a:pPr algn="ctr" eaLnBrk="0" hangingPunct="0">
              <a:spcBef>
                <a:spcPct val="50000"/>
              </a:spcBef>
            </a:pPr>
            <a:r>
              <a:rPr lang="en-US" sz="2800">
                <a:solidFill>
                  <a:srgbClr val="FC0128"/>
                </a:solidFill>
              </a:rPr>
              <a:t>Donor Atoms</a:t>
            </a:r>
          </a:p>
        </p:txBody>
      </p:sp>
      <p:sp>
        <p:nvSpPr>
          <p:cNvPr id="1034" name="Text Box 2058"/>
          <p:cNvSpPr txBox="1">
            <a:spLocks noChangeArrowheads="1"/>
          </p:cNvSpPr>
          <p:nvPr/>
        </p:nvSpPr>
        <p:spPr bwMode="auto">
          <a:xfrm>
            <a:off x="533400" y="28956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5" name="Text Box 2059"/>
          <p:cNvSpPr txBox="1">
            <a:spLocks noChangeArrowheads="1"/>
          </p:cNvSpPr>
          <p:nvPr/>
        </p:nvSpPr>
        <p:spPr bwMode="auto">
          <a:xfrm>
            <a:off x="2438400" y="28956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6" name="Text Box 2060"/>
          <p:cNvSpPr txBox="1">
            <a:spLocks noChangeArrowheads="1"/>
          </p:cNvSpPr>
          <p:nvPr/>
        </p:nvSpPr>
        <p:spPr bwMode="auto">
          <a:xfrm>
            <a:off x="4953000" y="25146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7" name="Text Box 2061"/>
          <p:cNvSpPr txBox="1">
            <a:spLocks noChangeArrowheads="1"/>
          </p:cNvSpPr>
          <p:nvPr/>
        </p:nvSpPr>
        <p:spPr bwMode="auto">
          <a:xfrm>
            <a:off x="7162800" y="25908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8" name="Text Box 2062"/>
          <p:cNvSpPr txBox="1">
            <a:spLocks noChangeArrowheads="1"/>
          </p:cNvSpPr>
          <p:nvPr/>
        </p:nvSpPr>
        <p:spPr bwMode="auto">
          <a:xfrm>
            <a:off x="4648200" y="37338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1039" name="Text Box 2063"/>
          <p:cNvSpPr txBox="1">
            <a:spLocks noChangeArrowheads="1"/>
          </p:cNvSpPr>
          <p:nvPr/>
        </p:nvSpPr>
        <p:spPr bwMode="auto">
          <a:xfrm>
            <a:off x="3733800" y="4267200"/>
            <a:ext cx="276225"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Ligands</a:t>
            </a:r>
          </a:p>
        </p:txBody>
      </p:sp>
      <p:pic>
        <p:nvPicPr>
          <p:cNvPr id="20483" name="Picture 3"/>
          <p:cNvPicPr>
            <a:picLocks noChangeArrowheads="1"/>
          </p:cNvPicPr>
          <p:nvPr/>
        </p:nvPicPr>
        <p:blipFill>
          <a:blip r:embed="rId2"/>
          <a:srcRect/>
          <a:stretch>
            <a:fillRect/>
          </a:stretch>
        </p:blipFill>
        <p:spPr bwMode="auto">
          <a:xfrm>
            <a:off x="352425" y="2162175"/>
            <a:ext cx="3381375" cy="4006850"/>
          </a:xfrm>
          <a:prstGeom prst="rect">
            <a:avLst/>
          </a:prstGeom>
          <a:noFill/>
          <a:ln w="12700">
            <a:noFill/>
            <a:miter lim="800000"/>
            <a:headEnd/>
            <a:tailEnd/>
          </a:ln>
        </p:spPr>
      </p:pic>
      <p:pic>
        <p:nvPicPr>
          <p:cNvPr id="20484" name="Picture 4"/>
          <p:cNvPicPr>
            <a:picLocks noChangeArrowheads="1"/>
          </p:cNvPicPr>
          <p:nvPr/>
        </p:nvPicPr>
        <p:blipFill>
          <a:blip r:embed="rId3"/>
          <a:srcRect/>
          <a:stretch>
            <a:fillRect/>
          </a:stretch>
        </p:blipFill>
        <p:spPr bwMode="auto">
          <a:xfrm>
            <a:off x="4114800" y="2133600"/>
            <a:ext cx="4598988" cy="4038600"/>
          </a:xfrm>
          <a:prstGeom prst="rect">
            <a:avLst/>
          </a:prstGeom>
          <a:noFill/>
          <a:ln w="12700">
            <a:noFill/>
            <a:miter lim="800000"/>
            <a:headEnd/>
            <a:tailEnd/>
          </a:ln>
        </p:spPr>
      </p:pic>
      <p:sp>
        <p:nvSpPr>
          <p:cNvPr id="20485" name="Rectangle 5"/>
          <p:cNvSpPr>
            <a:spLocks noChangeArrowheads="1"/>
          </p:cNvSpPr>
          <p:nvPr/>
        </p:nvSpPr>
        <p:spPr bwMode="auto">
          <a:xfrm>
            <a:off x="838200" y="1371600"/>
            <a:ext cx="2360613"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oxalate ion</a:t>
            </a:r>
          </a:p>
        </p:txBody>
      </p:sp>
      <p:sp>
        <p:nvSpPr>
          <p:cNvPr id="20486" name="Rectangle 6"/>
          <p:cNvSpPr>
            <a:spLocks noChangeArrowheads="1"/>
          </p:cNvSpPr>
          <p:nvPr/>
        </p:nvSpPr>
        <p:spPr bwMode="auto">
          <a:xfrm>
            <a:off x="4573588" y="1373188"/>
            <a:ext cx="43402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ethylenediamine</a:t>
            </a:r>
          </a:p>
        </p:txBody>
      </p:sp>
      <p:sp>
        <p:nvSpPr>
          <p:cNvPr id="20487" name="Rectangle 7"/>
          <p:cNvSpPr>
            <a:spLocks noChangeArrowheads="1"/>
          </p:cNvSpPr>
          <p:nvPr/>
        </p:nvSpPr>
        <p:spPr bwMode="auto">
          <a:xfrm>
            <a:off x="2590800" y="5257800"/>
            <a:ext cx="606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FF2B2B"/>
                </a:solidFill>
              </a:rPr>
              <a:t>O</a:t>
            </a:r>
          </a:p>
        </p:txBody>
      </p:sp>
      <p:sp>
        <p:nvSpPr>
          <p:cNvPr id="20488" name="Line 8"/>
          <p:cNvSpPr>
            <a:spLocks noChangeShapeType="1"/>
          </p:cNvSpPr>
          <p:nvPr/>
        </p:nvSpPr>
        <p:spPr bwMode="auto">
          <a:xfrm>
            <a:off x="2895600" y="4648200"/>
            <a:ext cx="0" cy="685800"/>
          </a:xfrm>
          <a:prstGeom prst="line">
            <a:avLst/>
          </a:prstGeom>
          <a:noFill/>
          <a:ln w="76200">
            <a:solidFill>
              <a:schemeClr val="accent1"/>
            </a:solidFill>
            <a:round/>
            <a:headEnd type="triangle" w="med" len="med"/>
            <a:tailEnd/>
          </a:ln>
        </p:spPr>
        <p:txBody>
          <a:bodyPr wrap="none" anchor="ctr"/>
          <a:lstStyle/>
          <a:p>
            <a:endParaRPr lang="en-US"/>
          </a:p>
        </p:txBody>
      </p:sp>
      <p:sp>
        <p:nvSpPr>
          <p:cNvPr id="20489" name="Rectangle 9"/>
          <p:cNvSpPr>
            <a:spLocks noChangeArrowheads="1"/>
          </p:cNvSpPr>
          <p:nvPr/>
        </p:nvSpPr>
        <p:spPr bwMode="auto">
          <a:xfrm>
            <a:off x="3276600" y="3429000"/>
            <a:ext cx="682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C</a:t>
            </a:r>
          </a:p>
        </p:txBody>
      </p:sp>
      <p:sp>
        <p:nvSpPr>
          <p:cNvPr id="20490" name="Line 10"/>
          <p:cNvSpPr>
            <a:spLocks noChangeShapeType="1"/>
          </p:cNvSpPr>
          <p:nvPr/>
        </p:nvSpPr>
        <p:spPr bwMode="auto">
          <a:xfrm>
            <a:off x="2667000" y="3733800"/>
            <a:ext cx="558800" cy="25400"/>
          </a:xfrm>
          <a:prstGeom prst="line">
            <a:avLst/>
          </a:prstGeom>
          <a:noFill/>
          <a:ln w="50800">
            <a:solidFill>
              <a:schemeClr val="accent1"/>
            </a:solidFill>
            <a:round/>
            <a:headEnd type="triangle" w="med" len="med"/>
            <a:tailEnd/>
          </a:ln>
        </p:spPr>
        <p:txBody>
          <a:bodyPr wrap="none" anchor="ctr"/>
          <a:lstStyle/>
          <a:p>
            <a:endParaRPr lang="en-US"/>
          </a:p>
        </p:txBody>
      </p:sp>
      <p:sp>
        <p:nvSpPr>
          <p:cNvPr id="20491" name="Rectangle 11"/>
          <p:cNvSpPr>
            <a:spLocks noChangeArrowheads="1"/>
          </p:cNvSpPr>
          <p:nvPr/>
        </p:nvSpPr>
        <p:spPr bwMode="auto">
          <a:xfrm>
            <a:off x="1296988" y="5640388"/>
            <a:ext cx="835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13C5B4"/>
                </a:solidFill>
              </a:rPr>
              <a:t>M</a:t>
            </a:r>
          </a:p>
        </p:txBody>
      </p:sp>
      <p:sp>
        <p:nvSpPr>
          <p:cNvPr id="20492" name="Rectangle 12"/>
          <p:cNvSpPr>
            <a:spLocks noChangeArrowheads="1"/>
          </p:cNvSpPr>
          <p:nvPr/>
        </p:nvSpPr>
        <p:spPr bwMode="auto">
          <a:xfrm>
            <a:off x="4648200" y="5257800"/>
            <a:ext cx="835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13C5B4"/>
                </a:solidFill>
              </a:rPr>
              <a:t>M</a:t>
            </a:r>
          </a:p>
        </p:txBody>
      </p:sp>
      <p:sp>
        <p:nvSpPr>
          <p:cNvPr id="20493" name="Rectangle 13"/>
          <p:cNvSpPr>
            <a:spLocks noChangeArrowheads="1"/>
          </p:cNvSpPr>
          <p:nvPr/>
        </p:nvSpPr>
        <p:spPr bwMode="auto">
          <a:xfrm>
            <a:off x="6096000" y="5410200"/>
            <a:ext cx="987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accent2"/>
                </a:solidFill>
              </a:rPr>
              <a:t>N</a:t>
            </a:r>
          </a:p>
        </p:txBody>
      </p:sp>
      <p:sp>
        <p:nvSpPr>
          <p:cNvPr id="20494" name="Line 14"/>
          <p:cNvSpPr>
            <a:spLocks noChangeShapeType="1"/>
          </p:cNvSpPr>
          <p:nvPr/>
        </p:nvSpPr>
        <p:spPr bwMode="auto">
          <a:xfrm flipV="1">
            <a:off x="6553200" y="5105400"/>
            <a:ext cx="406400" cy="508000"/>
          </a:xfrm>
          <a:prstGeom prst="line">
            <a:avLst/>
          </a:prstGeom>
          <a:noFill/>
          <a:ln w="50800">
            <a:solidFill>
              <a:schemeClr val="accent1"/>
            </a:solidFill>
            <a:round/>
            <a:headEnd/>
            <a:tailEnd type="triangle" w="med" len="med"/>
          </a:ln>
        </p:spPr>
        <p:txBody>
          <a:bodyPr wrap="none" anchor="ctr"/>
          <a:lstStyle/>
          <a:p>
            <a:endParaRPr lang="en-US"/>
          </a:p>
        </p:txBody>
      </p:sp>
      <p:sp>
        <p:nvSpPr>
          <p:cNvPr id="20495" name="Rectangle 15"/>
          <p:cNvSpPr>
            <a:spLocks noChangeArrowheads="1"/>
          </p:cNvSpPr>
          <p:nvPr/>
        </p:nvSpPr>
        <p:spPr bwMode="auto">
          <a:xfrm>
            <a:off x="8002588" y="2363788"/>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C</a:t>
            </a:r>
          </a:p>
        </p:txBody>
      </p:sp>
      <p:sp>
        <p:nvSpPr>
          <p:cNvPr id="20496" name="Line 16"/>
          <p:cNvSpPr>
            <a:spLocks noChangeShapeType="1"/>
          </p:cNvSpPr>
          <p:nvPr/>
        </p:nvSpPr>
        <p:spPr bwMode="auto">
          <a:xfrm flipH="1">
            <a:off x="6629400" y="2768600"/>
            <a:ext cx="1397000" cy="508000"/>
          </a:xfrm>
          <a:prstGeom prst="line">
            <a:avLst/>
          </a:prstGeom>
          <a:noFill/>
          <a:ln w="50800">
            <a:solidFill>
              <a:schemeClr val="accent1"/>
            </a:solidFill>
            <a:round/>
            <a:headEnd/>
            <a:tailEnd type="triangle" w="med" len="med"/>
          </a:ln>
        </p:spPr>
        <p:txBody>
          <a:bodyPr wrap="none" anchor="ctr"/>
          <a:lstStyle/>
          <a:p>
            <a:endParaRPr lang="en-US"/>
          </a:p>
        </p:txBody>
      </p:sp>
      <p:sp>
        <p:nvSpPr>
          <p:cNvPr id="20497" name="Rectangle 17"/>
          <p:cNvSpPr>
            <a:spLocks noChangeArrowheads="1"/>
          </p:cNvSpPr>
          <p:nvPr/>
        </p:nvSpPr>
        <p:spPr bwMode="auto">
          <a:xfrm>
            <a:off x="4343400" y="2286000"/>
            <a:ext cx="1444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bg2"/>
                </a:solidFill>
              </a:rPr>
              <a:t>H</a:t>
            </a:r>
          </a:p>
        </p:txBody>
      </p:sp>
      <p:sp>
        <p:nvSpPr>
          <p:cNvPr id="20498" name="Line 18"/>
          <p:cNvSpPr>
            <a:spLocks noChangeShapeType="1"/>
          </p:cNvSpPr>
          <p:nvPr/>
        </p:nvSpPr>
        <p:spPr bwMode="auto">
          <a:xfrm>
            <a:off x="4724400" y="2895600"/>
            <a:ext cx="177800" cy="406400"/>
          </a:xfrm>
          <a:prstGeom prst="line">
            <a:avLst/>
          </a:prstGeom>
          <a:noFill/>
          <a:ln w="50800">
            <a:solidFill>
              <a:schemeClr val="accent1"/>
            </a:solidFill>
            <a:round/>
            <a:headEnd/>
            <a:tailEnd type="triangle" w="med" len="med"/>
          </a:ln>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050"/>
          <p:cNvSpPr>
            <a:spLocks noGrp="1" noChangeArrowheads="1"/>
          </p:cNvSpPr>
          <p:nvPr>
            <p:ph type="title"/>
          </p:nvPr>
        </p:nvSpPr>
        <p:spPr/>
        <p:txBody>
          <a:bodyPr/>
          <a:lstStyle/>
          <a:p>
            <a:pPr eaLnBrk="1" hangingPunct="1"/>
            <a:r>
              <a:rPr lang="en-US" smtClean="0"/>
              <a:t>Ligands</a:t>
            </a:r>
          </a:p>
        </p:txBody>
      </p:sp>
      <p:pic>
        <p:nvPicPr>
          <p:cNvPr id="21507" name="Picture 2067"/>
          <p:cNvPicPr>
            <a:picLocks noChangeAspect="1" noChangeArrowheads="1"/>
          </p:cNvPicPr>
          <p:nvPr/>
        </p:nvPicPr>
        <p:blipFill>
          <a:blip r:embed="rId2"/>
          <a:srcRect l="17017" r="15994"/>
          <a:stretch>
            <a:fillRect/>
          </a:stretch>
        </p:blipFill>
        <p:spPr bwMode="auto">
          <a:xfrm>
            <a:off x="1981200" y="990600"/>
            <a:ext cx="5638800" cy="56134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title"/>
          </p:nvPr>
        </p:nvSpPr>
        <p:spPr/>
        <p:txBody>
          <a:bodyPr/>
          <a:lstStyle/>
          <a:p>
            <a:pPr eaLnBrk="1" hangingPunct="1"/>
            <a:r>
              <a:rPr lang="en-US" smtClean="0"/>
              <a:t>Ligands</a:t>
            </a:r>
          </a:p>
        </p:txBody>
      </p:sp>
      <p:sp>
        <p:nvSpPr>
          <p:cNvPr id="22531" name="Rectangle 5"/>
          <p:cNvSpPr>
            <a:spLocks noGrp="1" noChangeArrowheads="1"/>
          </p:cNvSpPr>
          <p:nvPr>
            <p:ph type="body" idx="1"/>
          </p:nvPr>
        </p:nvSpPr>
        <p:spPr/>
        <p:txBody>
          <a:bodyPr/>
          <a:lstStyle/>
          <a:p>
            <a:pPr eaLnBrk="1" hangingPunct="1"/>
            <a:r>
              <a:rPr lang="en-US" sz="3400" b="1" smtClean="0"/>
              <a:t>Hexadentate</a:t>
            </a:r>
          </a:p>
          <a:p>
            <a:pPr lvl="1" eaLnBrk="1" hangingPunct="1"/>
            <a:r>
              <a:rPr lang="en-US" sz="3400" smtClean="0"/>
              <a:t> ethylenediaminetetraacetate (EDTA) = (O</a:t>
            </a:r>
            <a:r>
              <a:rPr lang="en-US" sz="3400" baseline="-25000" smtClean="0"/>
              <a:t>2</a:t>
            </a:r>
            <a:r>
              <a:rPr lang="en-US" sz="3400" smtClean="0"/>
              <a:t>CCH</a:t>
            </a:r>
            <a:r>
              <a:rPr lang="en-US" sz="3400" baseline="-25000" smtClean="0"/>
              <a:t>2</a:t>
            </a:r>
            <a:r>
              <a:rPr lang="en-US" sz="3400" smtClean="0"/>
              <a:t>)</a:t>
            </a:r>
            <a:r>
              <a:rPr lang="en-US" sz="3400" baseline="-25000" smtClean="0"/>
              <a:t>2</a:t>
            </a:r>
            <a:r>
              <a:rPr lang="en-US" sz="3400" smtClean="0"/>
              <a:t>N(CH</a:t>
            </a:r>
            <a:r>
              <a:rPr lang="en-US" sz="3400" baseline="-25000" smtClean="0"/>
              <a:t>2</a:t>
            </a:r>
            <a:r>
              <a:rPr lang="en-US" sz="3400" smtClean="0"/>
              <a:t>)</a:t>
            </a:r>
            <a:r>
              <a:rPr lang="en-US" sz="3400" baseline="-25000" smtClean="0"/>
              <a:t>2</a:t>
            </a:r>
            <a:r>
              <a:rPr lang="en-US" sz="3400" smtClean="0"/>
              <a:t>N(CH</a:t>
            </a:r>
            <a:r>
              <a:rPr lang="en-US" sz="3400" baseline="-25000" smtClean="0"/>
              <a:t>2</a:t>
            </a:r>
            <a:r>
              <a:rPr lang="en-US" sz="3400" smtClean="0"/>
              <a:t>CO</a:t>
            </a:r>
            <a:r>
              <a:rPr lang="en-US" sz="3400" baseline="-25000" smtClean="0"/>
              <a:t>2</a:t>
            </a:r>
            <a:r>
              <a:rPr lang="en-US" sz="3400" smtClean="0"/>
              <a:t>)</a:t>
            </a:r>
            <a:r>
              <a:rPr lang="en-US" sz="3400" baseline="-25000" smtClean="0"/>
              <a:t>2</a:t>
            </a:r>
            <a:r>
              <a:rPr lang="en-US" sz="3400" baseline="30000" smtClean="0"/>
              <a:t>4-</a:t>
            </a:r>
          </a:p>
          <a:p>
            <a:pPr lvl="1" eaLnBrk="1" hangingPunct="1"/>
            <a:r>
              <a:rPr lang="en-US" sz="3400" smtClean="0"/>
              <a:t>Example Complexes</a:t>
            </a:r>
          </a:p>
          <a:p>
            <a:pPr lvl="2" eaLnBrk="1" hangingPunct="1"/>
            <a:r>
              <a:rPr lang="en-US" sz="3400" smtClean="0"/>
              <a:t>[Fe(EDTA)]</a:t>
            </a:r>
            <a:r>
              <a:rPr lang="en-US" sz="3400" baseline="30000" smtClean="0"/>
              <a:t>-1</a:t>
            </a:r>
            <a:r>
              <a:rPr lang="en-US" sz="3400" smtClean="0"/>
              <a:t>  </a:t>
            </a:r>
          </a:p>
          <a:p>
            <a:pPr lvl="2" eaLnBrk="1" hangingPunct="1"/>
            <a:r>
              <a:rPr lang="en-US" sz="3400" smtClean="0"/>
              <a:t>[Co(EDTA)]</a:t>
            </a:r>
            <a:r>
              <a:rPr lang="en-US" sz="3400" baseline="30000" smtClean="0"/>
              <a:t>-1</a:t>
            </a:r>
            <a:r>
              <a:rPr lang="en-US" sz="3400" smtClean="0"/>
              <a:t>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609600" y="1676400"/>
          <a:ext cx="8077200" cy="3598863"/>
        </p:xfrm>
        <a:graphic>
          <a:graphicData uri="http://schemas.openxmlformats.org/presentationml/2006/ole">
            <mc:AlternateContent xmlns:mc="http://schemas.openxmlformats.org/markup-compatibility/2006">
              <mc:Choice xmlns:v="urn:schemas-microsoft-com:vml" Requires="v">
                <p:oleObj spid="_x0000_s627725" name="Chemistry 4-D Draw" r:id="rId3" imgW="3314880" imgH="1476360" progId="">
                  <p:embed/>
                </p:oleObj>
              </mc:Choice>
              <mc:Fallback>
                <p:oleObj name="Chemistry 4-D Draw" r:id="rId3" imgW="3314880" imgH="147636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676400"/>
                        <a:ext cx="8077200"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1" name="Rectangle 3"/>
          <p:cNvSpPr>
            <a:spLocks noChangeArrowheads="1"/>
          </p:cNvSpPr>
          <p:nvPr/>
        </p:nvSpPr>
        <p:spPr bwMode="auto">
          <a:xfrm>
            <a:off x="3657600" y="1752600"/>
            <a:ext cx="1905000"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00000"/>
                </a:solidFill>
              </a:rPr>
              <a:t>EDTA</a:t>
            </a:r>
          </a:p>
        </p:txBody>
      </p:sp>
      <p:sp>
        <p:nvSpPr>
          <p:cNvPr id="2052" name="Rectangle 4"/>
          <p:cNvSpPr>
            <a:spLocks noGrp="1" noChangeArrowheads="1"/>
          </p:cNvSpPr>
          <p:nvPr>
            <p:ph type="title"/>
          </p:nvPr>
        </p:nvSpPr>
        <p:spPr/>
        <p:txBody>
          <a:bodyPr/>
          <a:lstStyle/>
          <a:p>
            <a:pPr eaLnBrk="1" hangingPunct="1"/>
            <a:r>
              <a:rPr lang="en-US" smtClean="0"/>
              <a:t>Ligands</a:t>
            </a:r>
          </a:p>
        </p:txBody>
      </p:sp>
      <p:sp>
        <p:nvSpPr>
          <p:cNvPr id="2053" name="Text Box 5"/>
          <p:cNvSpPr txBox="1">
            <a:spLocks noChangeArrowheads="1"/>
          </p:cNvSpPr>
          <p:nvPr/>
        </p:nvSpPr>
        <p:spPr bwMode="auto">
          <a:xfrm>
            <a:off x="2438400" y="5638800"/>
            <a:ext cx="4724400" cy="519113"/>
          </a:xfrm>
          <a:prstGeom prst="rect">
            <a:avLst/>
          </a:prstGeom>
          <a:noFill/>
          <a:ln w="12700">
            <a:noFill/>
            <a:miter lim="800000"/>
            <a:headEnd/>
            <a:tailEnd/>
          </a:ln>
        </p:spPr>
        <p:txBody>
          <a:bodyPr>
            <a:spAutoFit/>
          </a:bodyPr>
          <a:lstStyle/>
          <a:p>
            <a:pPr algn="ctr" eaLnBrk="0" hangingPunct="0">
              <a:spcBef>
                <a:spcPct val="50000"/>
              </a:spcBef>
            </a:pPr>
            <a:r>
              <a:rPr lang="en-US" sz="2800">
                <a:solidFill>
                  <a:srgbClr val="FC0128"/>
                </a:solidFill>
              </a:rPr>
              <a:t>Donor Atoms</a:t>
            </a:r>
          </a:p>
        </p:txBody>
      </p:sp>
      <p:sp>
        <p:nvSpPr>
          <p:cNvPr id="2054" name="Text Box 6"/>
          <p:cNvSpPr txBox="1">
            <a:spLocks noChangeArrowheads="1"/>
          </p:cNvSpPr>
          <p:nvPr/>
        </p:nvSpPr>
        <p:spPr bwMode="auto">
          <a:xfrm>
            <a:off x="533400" y="38100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5" name="Text Box 7"/>
          <p:cNvSpPr txBox="1">
            <a:spLocks noChangeArrowheads="1"/>
          </p:cNvSpPr>
          <p:nvPr/>
        </p:nvSpPr>
        <p:spPr bwMode="auto">
          <a:xfrm>
            <a:off x="533400" y="2590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6" name="Text Box 8"/>
          <p:cNvSpPr txBox="1">
            <a:spLocks noChangeArrowheads="1"/>
          </p:cNvSpPr>
          <p:nvPr/>
        </p:nvSpPr>
        <p:spPr bwMode="auto">
          <a:xfrm>
            <a:off x="8077200" y="2590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7" name="Text Box 9"/>
          <p:cNvSpPr txBox="1">
            <a:spLocks noChangeArrowheads="1"/>
          </p:cNvSpPr>
          <p:nvPr/>
        </p:nvSpPr>
        <p:spPr bwMode="auto">
          <a:xfrm>
            <a:off x="8077200" y="38100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8" name="Text Box 10"/>
          <p:cNvSpPr txBox="1">
            <a:spLocks noChangeArrowheads="1"/>
          </p:cNvSpPr>
          <p:nvPr/>
        </p:nvSpPr>
        <p:spPr bwMode="auto">
          <a:xfrm>
            <a:off x="5562600" y="2971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059" name="Text Box 11"/>
          <p:cNvSpPr txBox="1">
            <a:spLocks noChangeArrowheads="1"/>
          </p:cNvSpPr>
          <p:nvPr/>
        </p:nvSpPr>
        <p:spPr bwMode="auto">
          <a:xfrm>
            <a:off x="3048000" y="2971800"/>
            <a:ext cx="381000" cy="641350"/>
          </a:xfrm>
          <a:prstGeom prst="rect">
            <a:avLst/>
          </a:prstGeom>
          <a:noFill/>
          <a:ln w="12700">
            <a:noFill/>
            <a:miter lim="800000"/>
            <a:headEnd/>
            <a:tailEnd/>
          </a:ln>
        </p:spPr>
        <p:txBody>
          <a:bodyPr>
            <a:spAutoFit/>
          </a:bodyPr>
          <a:lstStyle/>
          <a:p>
            <a:pPr eaLnBrk="0" hangingPunct="0">
              <a:spcBef>
                <a:spcPct val="50000"/>
              </a:spcBef>
            </a:pPr>
            <a:r>
              <a:rPr lang="en-US" sz="3600">
                <a:solidFill>
                  <a:srgbClr val="FC0128"/>
                </a:solidFill>
              </a:rPr>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1026"/>
          <p:cNvPicPr>
            <a:picLocks noChangeArrowheads="1"/>
          </p:cNvPicPr>
          <p:nvPr/>
        </p:nvPicPr>
        <p:blipFill>
          <a:blip r:embed="rId2"/>
          <a:srcRect/>
          <a:stretch>
            <a:fillRect/>
          </a:stretch>
        </p:blipFill>
        <p:spPr bwMode="auto">
          <a:xfrm>
            <a:off x="1981200" y="1066800"/>
            <a:ext cx="5562600" cy="5715000"/>
          </a:xfrm>
          <a:prstGeom prst="rect">
            <a:avLst/>
          </a:prstGeom>
          <a:noFill/>
          <a:ln w="12700">
            <a:noFill/>
            <a:miter lim="800000"/>
            <a:headEnd/>
            <a:tailEnd/>
          </a:ln>
        </p:spPr>
      </p:pic>
      <p:sp>
        <p:nvSpPr>
          <p:cNvPr id="23555" name="Rectangle 1027"/>
          <p:cNvSpPr>
            <a:spLocks noChangeArrowheads="1"/>
          </p:cNvSpPr>
          <p:nvPr/>
        </p:nvSpPr>
        <p:spPr bwMode="auto">
          <a:xfrm>
            <a:off x="3886200" y="1066800"/>
            <a:ext cx="1905000"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00000"/>
                </a:solidFill>
              </a:rPr>
              <a:t>EDTA</a:t>
            </a:r>
          </a:p>
        </p:txBody>
      </p:sp>
      <p:sp>
        <p:nvSpPr>
          <p:cNvPr id="23556" name="Rectangle 1028"/>
          <p:cNvSpPr>
            <a:spLocks noGrp="1" noChangeArrowheads="1"/>
          </p:cNvSpPr>
          <p:nvPr>
            <p:ph type="title"/>
          </p:nvPr>
        </p:nvSpPr>
        <p:spPr/>
        <p:txBody>
          <a:bodyPr/>
          <a:lstStyle/>
          <a:p>
            <a:pPr eaLnBrk="1" hangingPunct="1"/>
            <a:r>
              <a:rPr lang="en-US" smtClean="0"/>
              <a:t>Ligands</a:t>
            </a:r>
          </a:p>
        </p:txBody>
      </p:sp>
      <p:sp>
        <p:nvSpPr>
          <p:cNvPr id="23557" name="Rectangle 1029"/>
          <p:cNvSpPr>
            <a:spLocks noChangeArrowheads="1"/>
          </p:cNvSpPr>
          <p:nvPr/>
        </p:nvSpPr>
        <p:spPr bwMode="auto">
          <a:xfrm>
            <a:off x="1905000" y="2590800"/>
            <a:ext cx="682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C</a:t>
            </a:r>
          </a:p>
        </p:txBody>
      </p:sp>
      <p:sp>
        <p:nvSpPr>
          <p:cNvPr id="23558" name="Line 1030"/>
          <p:cNvSpPr>
            <a:spLocks noChangeShapeType="1"/>
          </p:cNvSpPr>
          <p:nvPr/>
        </p:nvSpPr>
        <p:spPr bwMode="auto">
          <a:xfrm>
            <a:off x="2286000" y="3124200"/>
            <a:ext cx="558800" cy="787400"/>
          </a:xfrm>
          <a:prstGeom prst="line">
            <a:avLst/>
          </a:prstGeom>
          <a:noFill/>
          <a:ln w="50800">
            <a:solidFill>
              <a:schemeClr val="accent1"/>
            </a:solidFill>
            <a:round/>
            <a:headEnd/>
            <a:tailEnd type="triangle" w="med" len="med"/>
          </a:ln>
        </p:spPr>
        <p:txBody>
          <a:bodyPr wrap="none" anchor="ctr"/>
          <a:lstStyle/>
          <a:p>
            <a:endParaRPr lang="en-US"/>
          </a:p>
        </p:txBody>
      </p:sp>
      <p:sp>
        <p:nvSpPr>
          <p:cNvPr id="23559" name="Rectangle 1031"/>
          <p:cNvSpPr>
            <a:spLocks noChangeArrowheads="1"/>
          </p:cNvSpPr>
          <p:nvPr/>
        </p:nvSpPr>
        <p:spPr bwMode="auto">
          <a:xfrm>
            <a:off x="6705600" y="1143000"/>
            <a:ext cx="9112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FF2B2B"/>
                </a:solidFill>
              </a:rPr>
              <a:t>O</a:t>
            </a:r>
          </a:p>
        </p:txBody>
      </p:sp>
      <p:sp>
        <p:nvSpPr>
          <p:cNvPr id="23560" name="Line 1032"/>
          <p:cNvSpPr>
            <a:spLocks noChangeShapeType="1"/>
          </p:cNvSpPr>
          <p:nvPr/>
        </p:nvSpPr>
        <p:spPr bwMode="auto">
          <a:xfrm flipH="1">
            <a:off x="5867400" y="1447800"/>
            <a:ext cx="812800" cy="177800"/>
          </a:xfrm>
          <a:prstGeom prst="line">
            <a:avLst/>
          </a:prstGeom>
          <a:noFill/>
          <a:ln w="50800">
            <a:solidFill>
              <a:schemeClr val="accent1"/>
            </a:solidFill>
            <a:round/>
            <a:headEnd/>
            <a:tailEnd type="triangle" w="med" len="med"/>
          </a:ln>
        </p:spPr>
        <p:txBody>
          <a:bodyPr wrap="none" anchor="ctr"/>
          <a:lstStyle/>
          <a:p>
            <a:endParaRPr lang="en-US"/>
          </a:p>
        </p:txBody>
      </p:sp>
      <p:sp>
        <p:nvSpPr>
          <p:cNvPr id="23561" name="Rectangle 1033"/>
          <p:cNvSpPr>
            <a:spLocks noChangeArrowheads="1"/>
          </p:cNvSpPr>
          <p:nvPr/>
        </p:nvSpPr>
        <p:spPr bwMode="auto">
          <a:xfrm>
            <a:off x="6858000" y="3429000"/>
            <a:ext cx="987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accent2"/>
                </a:solidFill>
              </a:rPr>
              <a:t>N</a:t>
            </a:r>
          </a:p>
        </p:txBody>
      </p:sp>
      <p:sp>
        <p:nvSpPr>
          <p:cNvPr id="23562" name="Line 1034"/>
          <p:cNvSpPr>
            <a:spLocks noChangeShapeType="1"/>
          </p:cNvSpPr>
          <p:nvPr/>
        </p:nvSpPr>
        <p:spPr bwMode="auto">
          <a:xfrm>
            <a:off x="6019800" y="3810000"/>
            <a:ext cx="787400" cy="0"/>
          </a:xfrm>
          <a:prstGeom prst="line">
            <a:avLst/>
          </a:prstGeom>
          <a:noFill/>
          <a:ln w="50800">
            <a:solidFill>
              <a:schemeClr val="accent1"/>
            </a:solidFill>
            <a:round/>
            <a:headEnd type="triangle" w="med" len="med"/>
            <a:tailEnd/>
          </a:ln>
        </p:spPr>
        <p:txBody>
          <a:bodyPr wrap="none" anchor="ctr"/>
          <a:lstStyle/>
          <a:p>
            <a:endParaRPr lang="en-US"/>
          </a:p>
        </p:txBody>
      </p:sp>
      <p:sp>
        <p:nvSpPr>
          <p:cNvPr id="23563" name="Rectangle 1035"/>
          <p:cNvSpPr>
            <a:spLocks noChangeArrowheads="1"/>
          </p:cNvSpPr>
          <p:nvPr/>
        </p:nvSpPr>
        <p:spPr bwMode="auto">
          <a:xfrm>
            <a:off x="2362200" y="1752600"/>
            <a:ext cx="8350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chemeClr val="bg2"/>
                </a:solidFill>
              </a:rPr>
              <a:t>H</a:t>
            </a:r>
          </a:p>
        </p:txBody>
      </p:sp>
      <p:sp>
        <p:nvSpPr>
          <p:cNvPr id="23564" name="Line 1036"/>
          <p:cNvSpPr>
            <a:spLocks noChangeShapeType="1"/>
          </p:cNvSpPr>
          <p:nvPr/>
        </p:nvSpPr>
        <p:spPr bwMode="auto">
          <a:xfrm>
            <a:off x="2971800" y="2133600"/>
            <a:ext cx="762000" cy="381000"/>
          </a:xfrm>
          <a:prstGeom prst="line">
            <a:avLst/>
          </a:prstGeom>
          <a:noFill/>
          <a:ln w="76200">
            <a:solidFill>
              <a:schemeClr val="accent1"/>
            </a:solidFill>
            <a:round/>
            <a:headEnd/>
            <a:tailEnd type="triangle" w="med" len="med"/>
          </a:ln>
        </p:spPr>
        <p:txBody>
          <a:bodyPr wrap="none" anchor="ctr"/>
          <a:lstStyle/>
          <a:p>
            <a:endParaRPr lang="en-US"/>
          </a:p>
        </p:txBody>
      </p:sp>
      <p:sp>
        <p:nvSpPr>
          <p:cNvPr id="23565" name="Rectangle 1037"/>
          <p:cNvSpPr>
            <a:spLocks noChangeArrowheads="1"/>
          </p:cNvSpPr>
          <p:nvPr/>
        </p:nvSpPr>
        <p:spPr bwMode="auto">
          <a:xfrm>
            <a:off x="4648200" y="3733800"/>
            <a:ext cx="7588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85049"/>
                </a:solidFill>
              </a:rPr>
              <a:t>M</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051"/>
          <p:cNvSpPr>
            <a:spLocks noChangeArrowheads="1"/>
          </p:cNvSpPr>
          <p:nvPr/>
        </p:nvSpPr>
        <p:spPr bwMode="auto">
          <a:xfrm>
            <a:off x="3886200" y="1066800"/>
            <a:ext cx="1905000"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solidFill>
                  <a:srgbClr val="000000"/>
                </a:solidFill>
              </a:rPr>
              <a:t>EDTA</a:t>
            </a:r>
          </a:p>
        </p:txBody>
      </p:sp>
      <p:sp>
        <p:nvSpPr>
          <p:cNvPr id="24579" name="Rectangle 2052"/>
          <p:cNvSpPr>
            <a:spLocks noGrp="1" noChangeArrowheads="1"/>
          </p:cNvSpPr>
          <p:nvPr>
            <p:ph type="title"/>
          </p:nvPr>
        </p:nvSpPr>
        <p:spPr/>
        <p:txBody>
          <a:bodyPr/>
          <a:lstStyle/>
          <a:p>
            <a:pPr eaLnBrk="1" hangingPunct="1"/>
            <a:r>
              <a:rPr lang="en-US" smtClean="0"/>
              <a:t>Ligands</a:t>
            </a:r>
          </a:p>
        </p:txBody>
      </p:sp>
      <p:pic>
        <p:nvPicPr>
          <p:cNvPr id="24580" name="Picture 2062"/>
          <p:cNvPicPr>
            <a:picLocks noChangeAspect="1" noChangeArrowheads="1"/>
          </p:cNvPicPr>
          <p:nvPr/>
        </p:nvPicPr>
        <p:blipFill>
          <a:blip r:embed="rId2"/>
          <a:srcRect l="11018" r="23994"/>
          <a:stretch>
            <a:fillRect/>
          </a:stretch>
        </p:blipFill>
        <p:spPr bwMode="auto">
          <a:xfrm>
            <a:off x="1981200" y="914400"/>
            <a:ext cx="5422900" cy="55626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ChangeArrowheads="1"/>
          </p:cNvSpPr>
          <p:nvPr/>
        </p:nvSpPr>
        <p:spPr bwMode="auto">
          <a:xfrm>
            <a:off x="611188" y="153988"/>
            <a:ext cx="8150225" cy="698500"/>
          </a:xfrm>
          <a:prstGeom prst="rect">
            <a:avLst/>
          </a:prstGeom>
          <a:noFill/>
          <a:ln w="12700">
            <a:noFill/>
            <a:miter lim="800000"/>
            <a:headEnd/>
            <a:tailEnd/>
          </a:ln>
        </p:spPr>
        <p:txBody>
          <a:bodyPr lIns="90488" tIns="44450" rIns="90488" bIns="44450">
            <a:spAutoFit/>
          </a:bodyPr>
          <a:lstStyle/>
          <a:p>
            <a:pPr eaLnBrk="0" hangingPunct="0">
              <a:spcBef>
                <a:spcPct val="20000"/>
              </a:spcBef>
            </a:pPr>
            <a:r>
              <a:rPr lang="en-US" sz="4000"/>
              <a:t>Common Geometries of Complexes</a:t>
            </a:r>
          </a:p>
        </p:txBody>
      </p:sp>
      <p:pic>
        <p:nvPicPr>
          <p:cNvPr id="25603" name="Picture 1027"/>
          <p:cNvPicPr>
            <a:picLocks noChangeArrowheads="1"/>
          </p:cNvPicPr>
          <p:nvPr/>
        </p:nvPicPr>
        <p:blipFill>
          <a:blip r:embed="rId2"/>
          <a:srcRect/>
          <a:stretch>
            <a:fillRect/>
          </a:stretch>
        </p:blipFill>
        <p:spPr bwMode="auto">
          <a:xfrm>
            <a:off x="4654550" y="2495550"/>
            <a:ext cx="4327525" cy="1314450"/>
          </a:xfrm>
          <a:prstGeom prst="rect">
            <a:avLst/>
          </a:prstGeom>
          <a:noFill/>
          <a:ln w="12700">
            <a:noFill/>
            <a:miter lim="800000"/>
            <a:headEnd/>
            <a:tailEnd/>
          </a:ln>
        </p:spPr>
      </p:pic>
      <p:sp>
        <p:nvSpPr>
          <p:cNvPr id="25604" name="Rectangle 1028"/>
          <p:cNvSpPr>
            <a:spLocks noChangeArrowheads="1"/>
          </p:cNvSpPr>
          <p:nvPr/>
        </p:nvSpPr>
        <p:spPr bwMode="auto">
          <a:xfrm>
            <a:off x="6097588" y="4192588"/>
            <a:ext cx="1825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Linear</a:t>
            </a:r>
          </a:p>
        </p:txBody>
      </p:sp>
      <p:sp>
        <p:nvSpPr>
          <p:cNvPr id="25605" name="Rectangle 1029"/>
          <p:cNvSpPr>
            <a:spLocks noChangeArrowheads="1"/>
          </p:cNvSpPr>
          <p:nvPr/>
        </p:nvSpPr>
        <p:spPr bwMode="auto">
          <a:xfrm>
            <a:off x="77788" y="1449388"/>
            <a:ext cx="8988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u="sng"/>
              <a:t>Coordination Number		</a:t>
            </a:r>
            <a:r>
              <a:rPr lang="en-US" sz="3600"/>
              <a:t>   </a:t>
            </a:r>
            <a:r>
              <a:rPr lang="en-US" sz="3600" u="sng"/>
              <a:t>Geometry</a:t>
            </a:r>
          </a:p>
        </p:txBody>
      </p:sp>
      <p:sp>
        <p:nvSpPr>
          <p:cNvPr id="25606" name="Rectangle 1030"/>
          <p:cNvSpPr>
            <a:spLocks noChangeArrowheads="1"/>
          </p:cNvSpPr>
          <p:nvPr/>
        </p:nvSpPr>
        <p:spPr bwMode="auto">
          <a:xfrm>
            <a:off x="1220788" y="2439988"/>
            <a:ext cx="22066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t>2</a:t>
            </a:r>
          </a:p>
        </p:txBody>
      </p:sp>
      <p:sp>
        <p:nvSpPr>
          <p:cNvPr id="25607" name="Text Box 1031"/>
          <p:cNvSpPr txBox="1">
            <a:spLocks noChangeArrowheads="1"/>
          </p:cNvSpPr>
          <p:nvPr/>
        </p:nvSpPr>
        <p:spPr bwMode="auto">
          <a:xfrm>
            <a:off x="685800" y="5029200"/>
            <a:ext cx="5105400" cy="584200"/>
          </a:xfrm>
          <a:prstGeom prst="rect">
            <a:avLst/>
          </a:prstGeom>
          <a:noFill/>
          <a:ln w="12700">
            <a:noFill/>
            <a:miter lim="800000"/>
            <a:headEnd/>
            <a:tailEnd/>
          </a:ln>
        </p:spPr>
        <p:txBody>
          <a:bodyPr>
            <a:spAutoFit/>
          </a:bodyPr>
          <a:lstStyle/>
          <a:p>
            <a:pPr eaLnBrk="0" hangingPunct="0">
              <a:spcBef>
                <a:spcPct val="50000"/>
              </a:spcBef>
            </a:pPr>
            <a:r>
              <a:rPr lang="en-US" sz="3200"/>
              <a:t>Example:  [Ag(NH</a:t>
            </a:r>
            <a:r>
              <a:rPr lang="en-US" sz="3200" baseline="-25000"/>
              <a:t>3</a:t>
            </a:r>
            <a:r>
              <a:rPr lang="en-US" sz="3200"/>
              <a:t>)</a:t>
            </a:r>
            <a:r>
              <a:rPr lang="en-US" sz="3200" baseline="-25000"/>
              <a:t>2</a:t>
            </a:r>
            <a:r>
              <a:rPr lang="en-US" sz="3200"/>
              <a:t>]</a:t>
            </a:r>
            <a:r>
              <a:rPr lang="en-US" sz="3200" baseline="30000"/>
              <a:t>+</a:t>
            </a:r>
            <a:endParaRPr lang="en-US" sz="320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611188" y="153988"/>
            <a:ext cx="8150225" cy="698500"/>
          </a:xfrm>
          <a:prstGeom prst="rect">
            <a:avLst/>
          </a:prstGeom>
          <a:noFill/>
          <a:ln w="12700">
            <a:noFill/>
            <a:miter lim="800000"/>
            <a:headEnd/>
            <a:tailEnd/>
          </a:ln>
        </p:spPr>
        <p:txBody>
          <a:bodyPr lIns="90488" tIns="44450" rIns="90488" bIns="44450">
            <a:spAutoFit/>
          </a:bodyPr>
          <a:lstStyle/>
          <a:p>
            <a:pPr eaLnBrk="0" hangingPunct="0">
              <a:spcBef>
                <a:spcPct val="20000"/>
              </a:spcBef>
            </a:pPr>
            <a:r>
              <a:rPr lang="en-US" sz="4000"/>
              <a:t>Common Geometries of Complexes</a:t>
            </a:r>
          </a:p>
        </p:txBody>
      </p:sp>
      <p:sp>
        <p:nvSpPr>
          <p:cNvPr id="26627" name="Rectangle 3"/>
          <p:cNvSpPr>
            <a:spLocks noChangeArrowheads="1"/>
          </p:cNvSpPr>
          <p:nvPr/>
        </p:nvSpPr>
        <p:spPr bwMode="auto">
          <a:xfrm>
            <a:off x="77788" y="915988"/>
            <a:ext cx="8988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u="sng"/>
              <a:t>Coordination Number		</a:t>
            </a:r>
            <a:r>
              <a:rPr lang="en-US" sz="3600"/>
              <a:t>   </a:t>
            </a:r>
            <a:r>
              <a:rPr lang="en-US" sz="3600" u="sng"/>
              <a:t>Geometry</a:t>
            </a:r>
          </a:p>
        </p:txBody>
      </p:sp>
      <p:sp>
        <p:nvSpPr>
          <p:cNvPr id="26628" name="Rectangle 4"/>
          <p:cNvSpPr>
            <a:spLocks noChangeArrowheads="1"/>
          </p:cNvSpPr>
          <p:nvPr/>
        </p:nvSpPr>
        <p:spPr bwMode="auto">
          <a:xfrm>
            <a:off x="1601788" y="1601788"/>
            <a:ext cx="22066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t>4</a:t>
            </a:r>
          </a:p>
        </p:txBody>
      </p:sp>
      <p:pic>
        <p:nvPicPr>
          <p:cNvPr id="26629" name="Picture 5"/>
          <p:cNvPicPr>
            <a:picLocks noChangeArrowheads="1"/>
          </p:cNvPicPr>
          <p:nvPr/>
        </p:nvPicPr>
        <p:blipFill>
          <a:blip r:embed="rId2"/>
          <a:srcRect/>
          <a:stretch>
            <a:fillRect/>
          </a:stretch>
        </p:blipFill>
        <p:spPr bwMode="auto">
          <a:xfrm>
            <a:off x="5715000" y="4173538"/>
            <a:ext cx="2590800" cy="2608262"/>
          </a:xfrm>
          <a:prstGeom prst="rect">
            <a:avLst/>
          </a:prstGeom>
          <a:noFill/>
          <a:ln w="12700">
            <a:noFill/>
            <a:miter lim="800000"/>
            <a:headEnd/>
            <a:tailEnd/>
          </a:ln>
        </p:spPr>
      </p:pic>
      <p:pic>
        <p:nvPicPr>
          <p:cNvPr id="26630" name="Picture 6"/>
          <p:cNvPicPr>
            <a:picLocks noChangeArrowheads="1"/>
          </p:cNvPicPr>
          <p:nvPr/>
        </p:nvPicPr>
        <p:blipFill>
          <a:blip r:embed="rId3"/>
          <a:srcRect/>
          <a:stretch>
            <a:fillRect/>
          </a:stretch>
        </p:blipFill>
        <p:spPr bwMode="auto">
          <a:xfrm>
            <a:off x="5715000" y="1536700"/>
            <a:ext cx="2590800" cy="2492375"/>
          </a:xfrm>
          <a:prstGeom prst="rect">
            <a:avLst/>
          </a:prstGeom>
          <a:noFill/>
          <a:ln w="12700">
            <a:noFill/>
            <a:miter lim="800000"/>
            <a:headEnd/>
            <a:tailEnd/>
          </a:ln>
        </p:spPr>
      </p:pic>
      <p:sp>
        <p:nvSpPr>
          <p:cNvPr id="26631" name="Rectangle 7"/>
          <p:cNvSpPr>
            <a:spLocks noChangeArrowheads="1"/>
          </p:cNvSpPr>
          <p:nvPr/>
        </p:nvSpPr>
        <p:spPr bwMode="auto">
          <a:xfrm>
            <a:off x="3581400" y="2057400"/>
            <a:ext cx="29686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tetrahedral</a:t>
            </a:r>
          </a:p>
        </p:txBody>
      </p:sp>
      <p:sp>
        <p:nvSpPr>
          <p:cNvPr id="26632" name="Rectangle 8"/>
          <p:cNvSpPr>
            <a:spLocks noChangeArrowheads="1"/>
          </p:cNvSpPr>
          <p:nvPr/>
        </p:nvSpPr>
        <p:spPr bwMode="auto">
          <a:xfrm>
            <a:off x="3048000" y="4572000"/>
            <a:ext cx="2741613"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square planar</a:t>
            </a:r>
          </a:p>
        </p:txBody>
      </p:sp>
      <p:sp>
        <p:nvSpPr>
          <p:cNvPr id="26633" name="Text Box 9"/>
          <p:cNvSpPr txBox="1">
            <a:spLocks noChangeArrowheads="1"/>
          </p:cNvSpPr>
          <p:nvPr/>
        </p:nvSpPr>
        <p:spPr bwMode="auto">
          <a:xfrm>
            <a:off x="457200" y="5334000"/>
            <a:ext cx="3962400" cy="584200"/>
          </a:xfrm>
          <a:prstGeom prst="rect">
            <a:avLst/>
          </a:prstGeom>
          <a:noFill/>
          <a:ln w="12700">
            <a:noFill/>
            <a:miter lim="800000"/>
            <a:headEnd/>
            <a:tailEnd/>
          </a:ln>
        </p:spPr>
        <p:txBody>
          <a:bodyPr>
            <a:spAutoFit/>
          </a:bodyPr>
          <a:lstStyle/>
          <a:p>
            <a:pPr eaLnBrk="0" hangingPunct="0">
              <a:spcBef>
                <a:spcPct val="50000"/>
              </a:spcBef>
            </a:pPr>
            <a:r>
              <a:rPr lang="en-US" sz="3200"/>
              <a:t>Example:  [Ni(CN)</a:t>
            </a:r>
            <a:r>
              <a:rPr lang="en-US" sz="3200" baseline="-25000"/>
              <a:t>4</a:t>
            </a:r>
            <a:r>
              <a:rPr lang="en-US" sz="3200"/>
              <a:t>]</a:t>
            </a:r>
            <a:r>
              <a:rPr lang="en-US" sz="3200" baseline="30000"/>
              <a:t>2-</a:t>
            </a:r>
            <a:endParaRPr lang="en-US" sz="3200"/>
          </a:p>
        </p:txBody>
      </p:sp>
      <p:sp>
        <p:nvSpPr>
          <p:cNvPr id="26634" name="Text Box 10"/>
          <p:cNvSpPr txBox="1">
            <a:spLocks noChangeArrowheads="1"/>
          </p:cNvSpPr>
          <p:nvPr/>
        </p:nvSpPr>
        <p:spPr bwMode="auto">
          <a:xfrm>
            <a:off x="381000" y="3200400"/>
            <a:ext cx="5105400" cy="1077913"/>
          </a:xfrm>
          <a:prstGeom prst="rect">
            <a:avLst/>
          </a:prstGeom>
          <a:noFill/>
          <a:ln w="12700">
            <a:noFill/>
            <a:miter lim="800000"/>
            <a:headEnd/>
            <a:tailEnd/>
          </a:ln>
        </p:spPr>
        <p:txBody>
          <a:bodyPr>
            <a:spAutoFit/>
          </a:bodyPr>
          <a:lstStyle/>
          <a:p>
            <a:pPr eaLnBrk="0" hangingPunct="0">
              <a:spcBef>
                <a:spcPct val="50000"/>
              </a:spcBef>
            </a:pPr>
            <a:r>
              <a:rPr lang="en-US" sz="3200"/>
              <a:t>Examples:  [Zn(NH</a:t>
            </a:r>
            <a:r>
              <a:rPr lang="en-US" sz="3200" baseline="-25000"/>
              <a:t>3</a:t>
            </a:r>
            <a:r>
              <a:rPr lang="en-US" sz="3200"/>
              <a:t>)</a:t>
            </a:r>
            <a:r>
              <a:rPr lang="en-US" sz="3200" baseline="-25000"/>
              <a:t>4</a:t>
            </a:r>
            <a:r>
              <a:rPr lang="en-US" sz="3200"/>
              <a:t>]</a:t>
            </a:r>
            <a:r>
              <a:rPr lang="en-US" sz="3200" baseline="30000"/>
              <a:t>2+</a:t>
            </a:r>
            <a:r>
              <a:rPr lang="en-US" sz="3200"/>
              <a:t>, [FeCl</a:t>
            </a:r>
            <a:r>
              <a:rPr lang="en-US" sz="3200" baseline="-25000"/>
              <a:t>4</a:t>
            </a:r>
            <a:r>
              <a:rPr lang="en-US" sz="3200"/>
              <a:t>]</a:t>
            </a:r>
            <a:r>
              <a:rPr lang="en-US" sz="3200" baseline="30000"/>
              <a:t>-</a:t>
            </a:r>
            <a:endParaRPr lang="en-US" sz="320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611188" y="153988"/>
            <a:ext cx="8150225" cy="698500"/>
          </a:xfrm>
          <a:prstGeom prst="rect">
            <a:avLst/>
          </a:prstGeom>
          <a:noFill/>
          <a:ln w="12700">
            <a:noFill/>
            <a:miter lim="800000"/>
            <a:headEnd/>
            <a:tailEnd/>
          </a:ln>
        </p:spPr>
        <p:txBody>
          <a:bodyPr lIns="90488" tIns="44450" rIns="90488" bIns="44450">
            <a:spAutoFit/>
          </a:bodyPr>
          <a:lstStyle/>
          <a:p>
            <a:pPr eaLnBrk="0" hangingPunct="0">
              <a:spcBef>
                <a:spcPct val="20000"/>
              </a:spcBef>
            </a:pPr>
            <a:r>
              <a:rPr lang="en-US" sz="4000"/>
              <a:t>Common Geometries of Complexes</a:t>
            </a:r>
          </a:p>
        </p:txBody>
      </p:sp>
      <p:sp>
        <p:nvSpPr>
          <p:cNvPr id="27651" name="Rectangle 3"/>
          <p:cNvSpPr>
            <a:spLocks noChangeArrowheads="1"/>
          </p:cNvSpPr>
          <p:nvPr/>
        </p:nvSpPr>
        <p:spPr bwMode="auto">
          <a:xfrm>
            <a:off x="77788" y="915988"/>
            <a:ext cx="89884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u="sng"/>
              <a:t>Coordination Number		</a:t>
            </a:r>
            <a:r>
              <a:rPr lang="en-US" sz="3600"/>
              <a:t>   </a:t>
            </a:r>
            <a:r>
              <a:rPr lang="en-US" sz="3600" u="sng"/>
              <a:t>Geometry</a:t>
            </a:r>
          </a:p>
        </p:txBody>
      </p:sp>
      <p:sp>
        <p:nvSpPr>
          <p:cNvPr id="27652" name="Rectangle 4"/>
          <p:cNvSpPr>
            <a:spLocks noChangeArrowheads="1"/>
          </p:cNvSpPr>
          <p:nvPr/>
        </p:nvSpPr>
        <p:spPr bwMode="auto">
          <a:xfrm>
            <a:off x="1601788" y="1601788"/>
            <a:ext cx="2206625" cy="698500"/>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4000"/>
              <a:t>6</a:t>
            </a:r>
          </a:p>
        </p:txBody>
      </p:sp>
      <p:pic>
        <p:nvPicPr>
          <p:cNvPr id="27653" name="Picture 5"/>
          <p:cNvPicPr>
            <a:picLocks noChangeArrowheads="1"/>
          </p:cNvPicPr>
          <p:nvPr/>
        </p:nvPicPr>
        <p:blipFill>
          <a:blip r:embed="rId2"/>
          <a:srcRect/>
          <a:stretch>
            <a:fillRect/>
          </a:stretch>
        </p:blipFill>
        <p:spPr bwMode="auto">
          <a:xfrm>
            <a:off x="5438775" y="1619250"/>
            <a:ext cx="2981325" cy="3609975"/>
          </a:xfrm>
          <a:prstGeom prst="rect">
            <a:avLst/>
          </a:prstGeom>
          <a:noFill/>
          <a:ln w="12700">
            <a:noFill/>
            <a:miter lim="800000"/>
            <a:headEnd/>
            <a:tailEnd/>
          </a:ln>
        </p:spPr>
      </p:pic>
      <p:sp>
        <p:nvSpPr>
          <p:cNvPr id="27654" name="Rectangle 6"/>
          <p:cNvSpPr>
            <a:spLocks noChangeArrowheads="1"/>
          </p:cNvSpPr>
          <p:nvPr/>
        </p:nvSpPr>
        <p:spPr bwMode="auto">
          <a:xfrm>
            <a:off x="6021388" y="5335588"/>
            <a:ext cx="2435225" cy="638175"/>
          </a:xfrm>
          <a:prstGeom prst="rect">
            <a:avLst/>
          </a:prstGeom>
          <a:noFill/>
          <a:ln w="12700">
            <a:noFill/>
            <a:miter lim="800000"/>
            <a:headEnd/>
            <a:tailEnd/>
          </a:ln>
        </p:spPr>
        <p:txBody>
          <a:bodyPr lIns="90488" tIns="44450" rIns="90488" bIns="44450">
            <a:spAutoFit/>
          </a:bodyPr>
          <a:lstStyle/>
          <a:p>
            <a:pPr eaLnBrk="0" hangingPunct="0">
              <a:spcBef>
                <a:spcPct val="50000"/>
              </a:spcBef>
            </a:pPr>
            <a:r>
              <a:rPr lang="en-US" sz="3600"/>
              <a:t>octahedral</a:t>
            </a:r>
          </a:p>
        </p:txBody>
      </p:sp>
      <p:sp>
        <p:nvSpPr>
          <p:cNvPr id="27655" name="Text Box 7"/>
          <p:cNvSpPr txBox="1">
            <a:spLocks noChangeArrowheads="1"/>
          </p:cNvSpPr>
          <p:nvPr/>
        </p:nvSpPr>
        <p:spPr bwMode="auto">
          <a:xfrm>
            <a:off x="533400" y="3200400"/>
            <a:ext cx="5105400" cy="1077913"/>
          </a:xfrm>
          <a:prstGeom prst="rect">
            <a:avLst/>
          </a:prstGeom>
          <a:noFill/>
          <a:ln w="12700">
            <a:noFill/>
            <a:miter lim="800000"/>
            <a:headEnd/>
            <a:tailEnd/>
          </a:ln>
        </p:spPr>
        <p:txBody>
          <a:bodyPr>
            <a:spAutoFit/>
          </a:bodyPr>
          <a:lstStyle/>
          <a:p>
            <a:pPr eaLnBrk="0" hangingPunct="0">
              <a:spcBef>
                <a:spcPct val="50000"/>
              </a:spcBef>
            </a:pPr>
            <a:r>
              <a:rPr lang="en-US" sz="3200"/>
              <a:t>Examples:  [Co(CN)</a:t>
            </a:r>
            <a:r>
              <a:rPr lang="en-US" sz="3200" baseline="-25000"/>
              <a:t>6</a:t>
            </a:r>
            <a:r>
              <a:rPr lang="en-US" sz="3200"/>
              <a:t>]</a:t>
            </a:r>
            <a:r>
              <a:rPr lang="en-US" sz="3200" baseline="30000"/>
              <a:t>3-</a:t>
            </a:r>
            <a:r>
              <a:rPr lang="en-US" sz="3200"/>
              <a:t>, [Fe(en)</a:t>
            </a:r>
            <a:r>
              <a:rPr lang="en-US" sz="3200" baseline="-25000"/>
              <a:t>3</a:t>
            </a:r>
            <a:r>
              <a:rPr lang="en-US" sz="3200"/>
              <a:t>]</a:t>
            </a:r>
            <a:r>
              <a:rPr lang="en-US" sz="3200" baseline="30000"/>
              <a:t>3+</a:t>
            </a:r>
            <a:endParaRPr lang="en-US" sz="320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zoom dir="in"/>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457200" y="1143000"/>
            <a:ext cx="3429000" cy="2133600"/>
          </a:xfrm>
        </p:spPr>
        <p:txBody>
          <a:bodyPr/>
          <a:lstStyle/>
          <a:p>
            <a:pPr>
              <a:spcBef>
                <a:spcPct val="20000"/>
              </a:spcBef>
            </a:pPr>
            <a:r>
              <a:rPr lang="en-US" altLang="en-US" sz="3200">
                <a:latin typeface="Times New Roman" pitchFamily="18" charset="0"/>
                <a:cs typeface="Times New Roman" pitchFamily="18" charset="0"/>
              </a:rPr>
              <a:t>The Coordination of EDTA with a 2+ Metal Ion</a:t>
            </a:r>
            <a:endParaRPr lang="en-US" sz="3200">
              <a:latin typeface="Times New Roman" pitchFamily="18" charset="0"/>
              <a:cs typeface="Times New Roman" pitchFamily="18" charset="0"/>
            </a:endParaRPr>
          </a:p>
        </p:txBody>
      </p:sp>
      <p:sp>
        <p:nvSpPr>
          <p:cNvPr id="5734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57348" name="Picture 4" descr="ch21_25"/>
          <p:cNvPicPr>
            <a:picLocks noChangeAspect="1" noChangeArrowheads="1"/>
          </p:cNvPicPr>
          <p:nvPr/>
        </p:nvPicPr>
        <p:blipFill>
          <a:blip r:embed="rId3"/>
          <a:srcRect/>
          <a:stretch>
            <a:fillRect/>
          </a:stretch>
        </p:blipFill>
        <p:spPr bwMode="auto">
          <a:xfrm>
            <a:off x="4114800" y="685800"/>
            <a:ext cx="4098925" cy="4953000"/>
          </a:xfrm>
          <a:prstGeom prst="rect">
            <a:avLst/>
          </a:prstGeom>
          <a:noFill/>
          <a:ln w="12699">
            <a:solidFill>
              <a:srgbClr val="000000"/>
            </a:solidFill>
            <a:miter lim="800000"/>
            <a:headEnd/>
            <a:tailEnd/>
          </a:ln>
        </p:spPr>
      </p:pic>
      <p:sp>
        <p:nvSpPr>
          <p:cNvPr id="57349" name="Rectangle 5"/>
          <p:cNvSpPr>
            <a:spLocks noGrp="1" noChangeArrowheads="1"/>
          </p:cNvSpPr>
          <p:nvPr>
            <p:ph type="body" idx="1"/>
          </p:nvPr>
        </p:nvSpPr>
        <p:spPr>
          <a:xfrm>
            <a:off x="4114800" y="5791200"/>
            <a:ext cx="4191000" cy="609600"/>
          </a:xfrm>
        </p:spPr>
        <p:txBody>
          <a:bodyPr/>
          <a:lstStyle/>
          <a:p>
            <a:pPr>
              <a:buFontTx/>
              <a:buNone/>
            </a:pPr>
            <a:r>
              <a:rPr lang="en-US" sz="2800">
                <a:latin typeface="Times New Roman" pitchFamily="18" charset="0"/>
                <a:cs typeface="Times New Roman" pitchFamily="18" charset="0"/>
              </a:rPr>
              <a:t>ethylenediaminetetraacetate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9">
                                            <p:txEl>
                                              <p:pRg st="0" end="0"/>
                                            </p:txEl>
                                          </p:spTgt>
                                        </p:tgtEl>
                                        <p:attrNameLst>
                                          <p:attrName>style.visibility</p:attrName>
                                        </p:attrNameLst>
                                      </p:cBhvr>
                                      <p:to>
                                        <p:strVal val="visible"/>
                                      </p:to>
                                    </p:set>
                                    <p:animEffect transition="in" filter="wipe(left)">
                                      <p:cBhvr>
                                        <p:cTn id="7" dur="500"/>
                                        <p:tgtEl>
                                          <p:spTgt spid="573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9"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28600" y="274638"/>
            <a:ext cx="8458200" cy="944562"/>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59395" name="Rectangle 3"/>
          <p:cNvSpPr>
            <a:spLocks noGrp="1" noChangeArrowheads="1"/>
          </p:cNvSpPr>
          <p:nvPr>
            <p:ph type="body" idx="1"/>
          </p:nvPr>
        </p:nvSpPr>
        <p:spPr>
          <a:xfrm>
            <a:off x="381000" y="2667000"/>
            <a:ext cx="8229600" cy="3352800"/>
          </a:xfrm>
        </p:spPr>
        <p:txBody>
          <a:bodyPr/>
          <a:lstStyle/>
          <a:p>
            <a:pPr marL="457200" indent="-457200">
              <a:buFontTx/>
              <a:buAutoNum type="arabicPeriod"/>
            </a:pPr>
            <a:r>
              <a:rPr lang="en-US" dirty="0" err="1">
                <a:solidFill>
                  <a:srgbClr val="669900"/>
                </a:solidFill>
                <a:latin typeface="Times New Roman" pitchFamily="18" charset="0"/>
                <a:cs typeface="Times New Roman" pitchFamily="18" charset="0"/>
              </a:rPr>
              <a:t>Cation</a:t>
            </a:r>
            <a:r>
              <a:rPr lang="en-US" dirty="0">
                <a:solidFill>
                  <a:srgbClr val="669900"/>
                </a:solidFill>
                <a:latin typeface="Times New Roman" pitchFamily="18" charset="0"/>
                <a:cs typeface="Times New Roman" pitchFamily="18" charset="0"/>
              </a:rPr>
              <a:t> is named before the anion.</a:t>
            </a:r>
          </a:p>
          <a:p>
            <a:pPr marL="457200" indent="-457200" algn="ctr">
              <a:buFontTx/>
              <a:buNone/>
            </a:pPr>
            <a:r>
              <a:rPr lang="en-US" dirty="0">
                <a:solidFill>
                  <a:srgbClr val="3333FF"/>
                </a:solidFill>
                <a:latin typeface="Times New Roman" pitchFamily="18" charset="0"/>
                <a:cs typeface="Times New Roman" pitchFamily="18" charset="0"/>
              </a:rPr>
              <a:t>“chloride” goes last (the </a:t>
            </a:r>
            <a:r>
              <a:rPr lang="en-US" dirty="0" err="1">
                <a:solidFill>
                  <a:srgbClr val="3333FF"/>
                </a:solidFill>
                <a:latin typeface="Times New Roman" pitchFamily="18" charset="0"/>
                <a:cs typeface="Times New Roman" pitchFamily="18" charset="0"/>
              </a:rPr>
              <a:t>counterion</a:t>
            </a:r>
            <a:r>
              <a:rPr lang="en-US" dirty="0">
                <a:solidFill>
                  <a:srgbClr val="3333FF"/>
                </a:solidFill>
                <a:latin typeface="Times New Roman" pitchFamily="18" charset="0"/>
                <a:cs typeface="Times New Roman" pitchFamily="18" charset="0"/>
              </a:rPr>
              <a:t>)</a:t>
            </a:r>
          </a:p>
          <a:p>
            <a:pPr marL="457200" indent="-457200">
              <a:buFontTx/>
              <a:buAutoNum type="arabicPeriod" startAt="2"/>
            </a:pPr>
            <a:r>
              <a:rPr lang="en-US" dirty="0">
                <a:solidFill>
                  <a:srgbClr val="669900"/>
                </a:solidFill>
                <a:latin typeface="Times New Roman" pitchFamily="18" charset="0"/>
                <a:cs typeface="Times New Roman" pitchFamily="18" charset="0"/>
              </a:rPr>
              <a:t>Ligands are named before the metal ion.</a:t>
            </a:r>
          </a:p>
          <a:p>
            <a:pPr marL="457200" indent="-457200" algn="ctr">
              <a:buFontTx/>
              <a:buNone/>
            </a:pPr>
            <a:r>
              <a:rPr lang="en-US" dirty="0">
                <a:solidFill>
                  <a:srgbClr val="3333FF"/>
                </a:solidFill>
                <a:latin typeface="Times New Roman" pitchFamily="18" charset="0"/>
                <a:cs typeface="Times New Roman" pitchFamily="18" charset="0"/>
              </a:rPr>
              <a:t>	ammonia (ammine) and chlorine </a:t>
            </a:r>
          </a:p>
          <a:p>
            <a:pPr marL="457200" indent="-457200" algn="ctr">
              <a:buFontTx/>
              <a:buNone/>
            </a:pPr>
            <a:r>
              <a:rPr lang="en-US" dirty="0">
                <a:solidFill>
                  <a:srgbClr val="3333FF"/>
                </a:solidFill>
                <a:latin typeface="Times New Roman" pitchFamily="18" charset="0"/>
                <a:cs typeface="Times New Roman" pitchFamily="18" charset="0"/>
              </a:rPr>
              <a:t>(</a:t>
            </a:r>
            <a:r>
              <a:rPr lang="en-US" dirty="0" err="1" smtClean="0">
                <a:solidFill>
                  <a:srgbClr val="3333FF"/>
                </a:solidFill>
                <a:latin typeface="Times New Roman" pitchFamily="18" charset="0"/>
                <a:cs typeface="Times New Roman" pitchFamily="18" charset="0"/>
              </a:rPr>
              <a:t>chlorido</a:t>
            </a:r>
            <a:r>
              <a:rPr lang="en-US" dirty="0">
                <a:solidFill>
                  <a:srgbClr val="3333FF"/>
                </a:solidFill>
                <a:latin typeface="Times New Roman" pitchFamily="18" charset="0"/>
                <a:cs typeface="Times New Roman" pitchFamily="18" charset="0"/>
              </a:rPr>
              <a:t>) named before cobalt</a:t>
            </a:r>
          </a:p>
        </p:txBody>
      </p:sp>
      <p:sp>
        <p:nvSpPr>
          <p:cNvPr id="5939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59397" name="Rectangle 5"/>
          <p:cNvSpPr>
            <a:spLocks noChangeArrowheads="1"/>
          </p:cNvSpPr>
          <p:nvPr/>
        </p:nvSpPr>
        <p:spPr bwMode="auto">
          <a:xfrm>
            <a:off x="2057400" y="14478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397"/>
                                        </p:tgtEl>
                                        <p:attrNameLst>
                                          <p:attrName>style.visibility</p:attrName>
                                        </p:attrNameLst>
                                      </p:cBhvr>
                                      <p:to>
                                        <p:strVal val="visible"/>
                                      </p:to>
                                    </p:set>
                                    <p:animEffect transition="in" filter="wipe(left)">
                                      <p:cBhvr>
                                        <p:cTn id="7" dur="500"/>
                                        <p:tgtEl>
                                          <p:spTgt spid="593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395">
                                            <p:txEl>
                                              <p:pRg st="0" end="0"/>
                                            </p:txEl>
                                          </p:spTgt>
                                        </p:tgtEl>
                                        <p:attrNameLst>
                                          <p:attrName>style.visibility</p:attrName>
                                        </p:attrNameLst>
                                      </p:cBhvr>
                                      <p:to>
                                        <p:strVal val="visible"/>
                                      </p:to>
                                    </p:set>
                                    <p:animEffect transition="in" filter="wipe(left)">
                                      <p:cBhvr>
                                        <p:cTn id="12" dur="500"/>
                                        <p:tgtEl>
                                          <p:spTgt spid="5939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9395">
                                            <p:txEl>
                                              <p:pRg st="1" end="1"/>
                                            </p:txEl>
                                          </p:spTgt>
                                        </p:tgtEl>
                                        <p:attrNameLst>
                                          <p:attrName>style.visibility</p:attrName>
                                        </p:attrNameLst>
                                      </p:cBhvr>
                                      <p:to>
                                        <p:strVal val="visible"/>
                                      </p:to>
                                    </p:set>
                                    <p:animEffect transition="in" filter="wipe(left)">
                                      <p:cBhvr>
                                        <p:cTn id="17" dur="500"/>
                                        <p:tgtEl>
                                          <p:spTgt spid="5939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9395">
                                            <p:txEl>
                                              <p:pRg st="2" end="2"/>
                                            </p:txEl>
                                          </p:spTgt>
                                        </p:tgtEl>
                                        <p:attrNameLst>
                                          <p:attrName>style.visibility</p:attrName>
                                        </p:attrNameLst>
                                      </p:cBhvr>
                                      <p:to>
                                        <p:strVal val="visible"/>
                                      </p:to>
                                    </p:set>
                                    <p:animEffect transition="in" filter="wipe(left)">
                                      <p:cBhvr>
                                        <p:cTn id="22" dur="500"/>
                                        <p:tgtEl>
                                          <p:spTgt spid="5939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9395">
                                            <p:txEl>
                                              <p:pRg st="3" end="3"/>
                                            </p:txEl>
                                          </p:spTgt>
                                        </p:tgtEl>
                                        <p:attrNameLst>
                                          <p:attrName>style.visibility</p:attrName>
                                        </p:attrNameLst>
                                      </p:cBhvr>
                                      <p:to>
                                        <p:strVal val="visible"/>
                                      </p:to>
                                    </p:set>
                                    <p:animEffect transition="in" filter="wipe(left)">
                                      <p:cBhvr>
                                        <p:cTn id="27" dur="500"/>
                                        <p:tgtEl>
                                          <p:spTgt spid="59395">
                                            <p:txEl>
                                              <p:pRg st="3" end="3"/>
                                            </p:txEl>
                                          </p:spTgt>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59395">
                                            <p:txEl>
                                              <p:pRg st="4" end="4"/>
                                            </p:txEl>
                                          </p:spTgt>
                                        </p:tgtEl>
                                        <p:attrNameLst>
                                          <p:attrName>style.visibility</p:attrName>
                                        </p:attrNameLst>
                                      </p:cBhvr>
                                      <p:to>
                                        <p:strVal val="visible"/>
                                      </p:to>
                                    </p:set>
                                    <p:animEffect transition="in" filter="wipe(left)">
                                      <p:cBhvr>
                                        <p:cTn id="30" dur="500"/>
                                        <p:tgtEl>
                                          <p:spTgt spid="593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utoUpdateAnimBg="0"/>
      <p:bldP spid="59397" grpId="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8600" y="381000"/>
            <a:ext cx="8458200" cy="762000"/>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61443" name="Rectangle 3"/>
          <p:cNvSpPr>
            <a:spLocks noGrp="1" noChangeArrowheads="1"/>
          </p:cNvSpPr>
          <p:nvPr>
            <p:ph type="body" idx="1"/>
          </p:nvPr>
        </p:nvSpPr>
        <p:spPr>
          <a:xfrm>
            <a:off x="457200" y="2743200"/>
            <a:ext cx="8229600" cy="3581400"/>
          </a:xfrm>
        </p:spPr>
        <p:txBody>
          <a:bodyPr/>
          <a:lstStyle/>
          <a:p>
            <a:pPr marL="457200" indent="-457200">
              <a:buFontTx/>
              <a:buAutoNum type="arabicPeriod" startAt="3"/>
            </a:pPr>
            <a:r>
              <a:rPr lang="en-US">
                <a:solidFill>
                  <a:srgbClr val="669900"/>
                </a:solidFill>
                <a:latin typeface="Times New Roman" pitchFamily="18" charset="0"/>
                <a:cs typeface="Times New Roman" pitchFamily="18" charset="0"/>
              </a:rPr>
              <a:t>For negatively charged ligands, an “o” is added to the root name of an anion (such as fluoro, bromo, chloro, etc.).</a:t>
            </a:r>
            <a:r>
              <a:rPr lang="en-US">
                <a:latin typeface="Times New Roman" pitchFamily="18" charset="0"/>
                <a:cs typeface="Times New Roman" pitchFamily="18" charset="0"/>
              </a:rPr>
              <a:t> </a:t>
            </a:r>
          </a:p>
          <a:p>
            <a:pPr marL="457200" indent="-457200">
              <a:buFontTx/>
              <a:buAutoNum type="arabicPeriod" startAt="4"/>
            </a:pPr>
            <a:r>
              <a:rPr lang="en-US">
                <a:solidFill>
                  <a:srgbClr val="669900"/>
                </a:solidFill>
                <a:latin typeface="Times New Roman" pitchFamily="18" charset="0"/>
                <a:cs typeface="Times New Roman" pitchFamily="18" charset="0"/>
              </a:rPr>
              <a:t>The prefixes mono-, di-, tri-, etc., are used to denote the number of simple ligands.</a:t>
            </a:r>
          </a:p>
          <a:p>
            <a:pPr marL="457200" indent="-457200" algn="ctr">
              <a:buFontTx/>
              <a:buNone/>
            </a:pPr>
            <a:r>
              <a:rPr lang="en-US">
                <a:solidFill>
                  <a:srgbClr val="3333FF"/>
                </a:solidFill>
                <a:latin typeface="Times New Roman" pitchFamily="18" charset="0"/>
                <a:cs typeface="Times New Roman" pitchFamily="18" charset="0"/>
              </a:rPr>
              <a:t>penta ammine</a:t>
            </a:r>
          </a:p>
        </p:txBody>
      </p:sp>
      <p:sp>
        <p:nvSpPr>
          <p:cNvPr id="6144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61445" name="Rectangle 5"/>
          <p:cNvSpPr>
            <a:spLocks noChangeArrowheads="1"/>
          </p:cNvSpPr>
          <p:nvPr/>
        </p:nvSpPr>
        <p:spPr bwMode="auto">
          <a:xfrm>
            <a:off x="2133600" y="16002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wipe(left)">
                                      <p:cBhvr>
                                        <p:cTn id="7" dur="500"/>
                                        <p:tgtEl>
                                          <p:spTgt spid="614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Effect transition="in" filter="wipe(left)">
                                      <p:cBhvr>
                                        <p:cTn id="12" dur="500"/>
                                        <p:tgtEl>
                                          <p:spTgt spid="614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43">
                                            <p:txEl>
                                              <p:pRg st="2" end="2"/>
                                            </p:txEl>
                                          </p:spTgt>
                                        </p:tgtEl>
                                        <p:attrNameLst>
                                          <p:attrName>style.visibility</p:attrName>
                                        </p:attrNameLst>
                                      </p:cBhvr>
                                      <p:to>
                                        <p:strVal val="visible"/>
                                      </p:to>
                                    </p:set>
                                    <p:animEffect transition="in" filter="wipe(left)">
                                      <p:cBhvr>
                                        <p:cTn id="17" dur="500"/>
                                        <p:tgtEl>
                                          <p:spTgt spid="614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uild="p"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28600" y="381000"/>
            <a:ext cx="8458200" cy="838200"/>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63491" name="Rectangle 3"/>
          <p:cNvSpPr>
            <a:spLocks noGrp="1" noChangeArrowheads="1"/>
          </p:cNvSpPr>
          <p:nvPr>
            <p:ph type="body" idx="1"/>
          </p:nvPr>
        </p:nvSpPr>
        <p:spPr>
          <a:xfrm>
            <a:off x="457200" y="2590800"/>
            <a:ext cx="8229600" cy="3505200"/>
          </a:xfrm>
        </p:spPr>
        <p:txBody>
          <a:bodyPr/>
          <a:lstStyle/>
          <a:p>
            <a:pPr marL="457200" indent="-457200">
              <a:buFontTx/>
              <a:buAutoNum type="arabicPeriod" startAt="5"/>
            </a:pPr>
            <a:r>
              <a:rPr lang="en-US" dirty="0">
                <a:solidFill>
                  <a:srgbClr val="669900"/>
                </a:solidFill>
                <a:latin typeface="Times New Roman" pitchFamily="18" charset="0"/>
                <a:cs typeface="Times New Roman" pitchFamily="18" charset="0"/>
              </a:rPr>
              <a:t>The oxidation state of the central metal ion is designated by a Roman numeral:</a:t>
            </a:r>
          </a:p>
          <a:p>
            <a:pPr marL="457200" indent="-457200" algn="ctr">
              <a:buFontTx/>
              <a:buNone/>
            </a:pPr>
            <a:r>
              <a:rPr lang="en-US" dirty="0">
                <a:solidFill>
                  <a:srgbClr val="3333FF"/>
                </a:solidFill>
                <a:latin typeface="Times New Roman" pitchFamily="18" charset="0"/>
                <a:cs typeface="Times New Roman" pitchFamily="18" charset="0"/>
              </a:rPr>
              <a:t>cobalt (III)</a:t>
            </a:r>
          </a:p>
          <a:p>
            <a:pPr marL="457200" indent="-457200">
              <a:buFontTx/>
              <a:buAutoNum type="arabicPeriod" startAt="6"/>
            </a:pPr>
            <a:r>
              <a:rPr lang="en-US" dirty="0">
                <a:solidFill>
                  <a:srgbClr val="669900"/>
                </a:solidFill>
                <a:latin typeface="Times New Roman" pitchFamily="18" charset="0"/>
                <a:cs typeface="Times New Roman" pitchFamily="18" charset="0"/>
              </a:rPr>
              <a:t>When more than one type of ligand is present, they are named alphabetically:</a:t>
            </a:r>
          </a:p>
          <a:p>
            <a:pPr marL="457200" indent="-457200" algn="ctr">
              <a:buFontTx/>
              <a:buNone/>
            </a:pPr>
            <a:r>
              <a:rPr lang="en-US" dirty="0" err="1" smtClean="0">
                <a:solidFill>
                  <a:srgbClr val="3333FF"/>
                </a:solidFill>
                <a:latin typeface="Times New Roman" pitchFamily="18" charset="0"/>
                <a:cs typeface="Times New Roman" pitchFamily="18" charset="0"/>
              </a:rPr>
              <a:t>pentaamminechlorido</a:t>
            </a:r>
            <a:endParaRPr lang="en-US" dirty="0">
              <a:solidFill>
                <a:srgbClr val="3333FF"/>
              </a:solidFill>
              <a:latin typeface="Times New Roman" pitchFamily="18" charset="0"/>
              <a:cs typeface="Times New Roman" pitchFamily="18" charset="0"/>
            </a:endParaRPr>
          </a:p>
        </p:txBody>
      </p:sp>
      <p:sp>
        <p:nvSpPr>
          <p:cNvPr id="63492"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63493" name="Rectangle 5"/>
          <p:cNvSpPr>
            <a:spLocks noChangeArrowheads="1"/>
          </p:cNvSpPr>
          <p:nvPr/>
        </p:nvSpPr>
        <p:spPr bwMode="auto">
          <a:xfrm>
            <a:off x="2057400" y="14478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
        <p:nvSpPr>
          <p:cNvPr id="2" name="Footer Placeholder 1"/>
          <p:cNvSpPr>
            <a:spLocks noGrp="1"/>
          </p:cNvSpPr>
          <p:nvPr>
            <p:ph type="ftr" sz="quarter" idx="11"/>
          </p:nvPr>
        </p:nvSpPr>
        <p:spPr/>
        <p:txBody>
          <a:bodyPr/>
          <a:lstStyle/>
          <a:p>
            <a:r>
              <a:rPr lang="en-US" dirty="0" smtClean="0"/>
              <a:t>AMH 2024</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animEffect transition="in" filter="wipe(left)">
                                      <p:cBhvr>
                                        <p:cTn id="7" dur="500"/>
                                        <p:tgtEl>
                                          <p:spTgt spid="634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3491">
                                            <p:txEl>
                                              <p:pRg st="1" end="1"/>
                                            </p:txEl>
                                          </p:spTgt>
                                        </p:tgtEl>
                                        <p:attrNameLst>
                                          <p:attrName>style.visibility</p:attrName>
                                        </p:attrNameLst>
                                      </p:cBhvr>
                                      <p:to>
                                        <p:strVal val="visible"/>
                                      </p:to>
                                    </p:set>
                                    <p:animEffect transition="in" filter="wipe(left)">
                                      <p:cBhvr>
                                        <p:cTn id="12" dur="500"/>
                                        <p:tgtEl>
                                          <p:spTgt spid="634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491">
                                            <p:txEl>
                                              <p:pRg st="2" end="2"/>
                                            </p:txEl>
                                          </p:spTgt>
                                        </p:tgtEl>
                                        <p:attrNameLst>
                                          <p:attrName>style.visibility</p:attrName>
                                        </p:attrNameLst>
                                      </p:cBhvr>
                                      <p:to>
                                        <p:strVal val="visible"/>
                                      </p:to>
                                    </p:set>
                                    <p:animEffect transition="in" filter="wipe(left)">
                                      <p:cBhvr>
                                        <p:cTn id="17" dur="500"/>
                                        <p:tgtEl>
                                          <p:spTgt spid="634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3491">
                                            <p:txEl>
                                              <p:pRg st="3" end="3"/>
                                            </p:txEl>
                                          </p:spTgt>
                                        </p:tgtEl>
                                        <p:attrNameLst>
                                          <p:attrName>style.visibility</p:attrName>
                                        </p:attrNameLst>
                                      </p:cBhvr>
                                      <p:to>
                                        <p:strVal val="visible"/>
                                      </p:to>
                                    </p:set>
                                    <p:animEffect transition="in" filter="wipe(left)">
                                      <p:cBhvr>
                                        <p:cTn id="22" dur="500"/>
                                        <p:tgtEl>
                                          <p:spTgt spid="634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28600" y="381000"/>
            <a:ext cx="8458200" cy="838200"/>
          </a:xfrm>
        </p:spPr>
        <p:txBody>
          <a:bodyPr/>
          <a:lstStyle/>
          <a:p>
            <a:pPr>
              <a:spcBef>
                <a:spcPct val="20000"/>
              </a:spcBef>
            </a:pPr>
            <a:r>
              <a:rPr lang="en-US" sz="3600">
                <a:latin typeface="Times New Roman" pitchFamily="18" charset="0"/>
                <a:cs typeface="Times New Roman" pitchFamily="18" charset="0"/>
              </a:rPr>
              <a:t>Rules for Naming Coordination Compounds</a:t>
            </a:r>
          </a:p>
        </p:txBody>
      </p:sp>
      <p:sp>
        <p:nvSpPr>
          <p:cNvPr id="65539" name="Rectangle 3"/>
          <p:cNvSpPr>
            <a:spLocks noGrp="1" noChangeArrowheads="1"/>
          </p:cNvSpPr>
          <p:nvPr>
            <p:ph type="body" idx="1"/>
          </p:nvPr>
        </p:nvSpPr>
        <p:spPr>
          <a:xfrm>
            <a:off x="457200" y="2819400"/>
            <a:ext cx="8229600" cy="3200400"/>
          </a:xfrm>
        </p:spPr>
        <p:txBody>
          <a:bodyPr/>
          <a:lstStyle/>
          <a:p>
            <a:pPr marL="457200" indent="-457200">
              <a:buFontTx/>
              <a:buAutoNum type="arabicPeriod" startAt="7"/>
            </a:pPr>
            <a:r>
              <a:rPr lang="en-US" dirty="0">
                <a:solidFill>
                  <a:srgbClr val="669900"/>
                </a:solidFill>
                <a:latin typeface="Times New Roman" pitchFamily="18" charset="0"/>
                <a:cs typeface="Times New Roman" pitchFamily="18" charset="0"/>
              </a:rPr>
              <a:t>If the complex ion has a negative charge, the suffix “ate” is added to the name of the metal.</a:t>
            </a:r>
          </a:p>
          <a:p>
            <a:pPr marL="457200" indent="-457200">
              <a:buFontTx/>
              <a:buNone/>
            </a:pPr>
            <a:r>
              <a:rPr lang="en-US" dirty="0">
                <a:latin typeface="Times New Roman" pitchFamily="18" charset="0"/>
                <a:cs typeface="Times New Roman" pitchFamily="18" charset="0"/>
              </a:rPr>
              <a:t>	</a:t>
            </a:r>
          </a:p>
          <a:p>
            <a:pPr marL="457200" indent="-457200">
              <a:buFontTx/>
              <a:buNone/>
            </a:pPr>
            <a:r>
              <a:rPr lang="en-US" dirty="0">
                <a:latin typeface="Times New Roman" pitchFamily="18" charset="0"/>
                <a:cs typeface="Times New Roman" pitchFamily="18" charset="0"/>
              </a:rPr>
              <a:t>	The correct name is:</a:t>
            </a:r>
          </a:p>
          <a:p>
            <a:pPr marL="457200" indent="-457200" algn="ctr">
              <a:buFontTx/>
              <a:buNone/>
            </a:pPr>
            <a:r>
              <a:rPr lang="en-US" dirty="0" err="1" smtClean="0">
                <a:solidFill>
                  <a:srgbClr val="3333FF"/>
                </a:solidFill>
                <a:latin typeface="Times New Roman" pitchFamily="18" charset="0"/>
                <a:cs typeface="Times New Roman" pitchFamily="18" charset="0"/>
              </a:rPr>
              <a:t>pentaamminechloridocobalt</a:t>
            </a:r>
            <a:r>
              <a:rPr lang="en-US" dirty="0" smtClean="0">
                <a:solidFill>
                  <a:srgbClr val="3333FF"/>
                </a:solidFill>
                <a:latin typeface="Times New Roman" pitchFamily="18" charset="0"/>
                <a:cs typeface="Times New Roman" pitchFamily="18" charset="0"/>
              </a:rPr>
              <a:t>(III</a:t>
            </a:r>
            <a:r>
              <a:rPr lang="en-US" dirty="0">
                <a:solidFill>
                  <a:srgbClr val="3333FF"/>
                </a:solidFill>
                <a:latin typeface="Times New Roman" pitchFamily="18" charset="0"/>
                <a:cs typeface="Times New Roman" pitchFamily="18" charset="0"/>
              </a:rPr>
              <a:t>) chloride</a:t>
            </a:r>
          </a:p>
        </p:txBody>
      </p:sp>
      <p:sp>
        <p:nvSpPr>
          <p:cNvPr id="6554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65541" name="Rectangle 5"/>
          <p:cNvSpPr>
            <a:spLocks noChangeArrowheads="1"/>
          </p:cNvSpPr>
          <p:nvPr/>
        </p:nvSpPr>
        <p:spPr bwMode="auto">
          <a:xfrm>
            <a:off x="2209800" y="1676400"/>
            <a:ext cx="3502025" cy="638175"/>
          </a:xfrm>
          <a:prstGeom prst="rect">
            <a:avLst/>
          </a:prstGeom>
          <a:noFill/>
          <a:ln w="12700">
            <a:noFill/>
            <a:miter lim="800000"/>
            <a:headEnd/>
            <a:tailEnd/>
          </a:ln>
          <a:effectLst/>
        </p:spPr>
        <p:txBody>
          <a:bodyPr lIns="90488" tIns="44450" rIns="90488" bIns="44450">
            <a:spAutoFit/>
          </a:bodyPr>
          <a:lstStyle/>
          <a:p>
            <a:pPr eaLnBrk="0" hangingPunct="0">
              <a:spcBef>
                <a:spcPct val="70000"/>
              </a:spcBef>
            </a:pPr>
            <a:r>
              <a:rPr lang="en-US" sz="3600">
                <a:solidFill>
                  <a:srgbClr val="3333FF"/>
                </a:solidFill>
                <a:latin typeface="Times New Roman" pitchFamily="18" charset="0"/>
                <a:cs typeface="Times New Roman" pitchFamily="18" charset="0"/>
              </a:rPr>
              <a:t>[Co(NH</a:t>
            </a:r>
            <a:r>
              <a:rPr lang="en-US" sz="3600" baseline="-25000">
                <a:solidFill>
                  <a:srgbClr val="3333FF"/>
                </a:solidFill>
                <a:latin typeface="Times New Roman" pitchFamily="18" charset="0"/>
                <a:cs typeface="Times New Roman" pitchFamily="18" charset="0"/>
              </a:rPr>
              <a:t>3</a:t>
            </a:r>
            <a:r>
              <a:rPr lang="en-US" sz="3600">
                <a:solidFill>
                  <a:srgbClr val="3333FF"/>
                </a:solidFill>
                <a:latin typeface="Times New Roman" pitchFamily="18" charset="0"/>
                <a:cs typeface="Times New Roman" pitchFamily="18" charset="0"/>
              </a:rPr>
              <a:t>)</a:t>
            </a:r>
            <a:r>
              <a:rPr lang="en-US" sz="3600" baseline="-25000">
                <a:solidFill>
                  <a:srgbClr val="3333FF"/>
                </a:solidFill>
                <a:latin typeface="Times New Roman" pitchFamily="18" charset="0"/>
                <a:cs typeface="Times New Roman" pitchFamily="18" charset="0"/>
              </a:rPr>
              <a:t>5</a:t>
            </a:r>
            <a:r>
              <a:rPr lang="en-US" sz="3600">
                <a:solidFill>
                  <a:srgbClr val="3333FF"/>
                </a:solidFill>
                <a:latin typeface="Times New Roman" pitchFamily="18" charset="0"/>
                <a:cs typeface="Times New Roman" pitchFamily="18" charset="0"/>
              </a:rPr>
              <a:t>Cl]Cl</a:t>
            </a:r>
            <a:r>
              <a:rPr lang="en-US" sz="3600" baseline="-25000">
                <a:solidFill>
                  <a:srgbClr val="3333FF"/>
                </a:solidFill>
                <a:latin typeface="Times New Roman" pitchFamily="18" charset="0"/>
                <a:cs typeface="Times New Roman" pitchFamily="18" charset="0"/>
              </a:rPr>
              <a:t>2</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5539">
                                            <p:txEl>
                                              <p:pRg st="0" end="0"/>
                                            </p:txEl>
                                          </p:spTgt>
                                        </p:tgtEl>
                                        <p:attrNameLst>
                                          <p:attrName>style.visibility</p:attrName>
                                        </p:attrNameLst>
                                      </p:cBhvr>
                                      <p:to>
                                        <p:strVal val="visible"/>
                                      </p:to>
                                    </p:set>
                                    <p:animEffect transition="in" filter="wipe(left)">
                                      <p:cBhvr>
                                        <p:cTn id="7" dur="500"/>
                                        <p:tgtEl>
                                          <p:spTgt spid="655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5539">
                                            <p:txEl>
                                              <p:pRg st="2" end="2"/>
                                            </p:txEl>
                                          </p:spTgt>
                                        </p:tgtEl>
                                        <p:attrNameLst>
                                          <p:attrName>style.visibility</p:attrName>
                                        </p:attrNameLst>
                                      </p:cBhvr>
                                      <p:to>
                                        <p:strVal val="visible"/>
                                      </p:to>
                                    </p:set>
                                    <p:animEffect transition="in" filter="wipe(left)">
                                      <p:cBhvr>
                                        <p:cTn id="12" dur="500"/>
                                        <p:tgtEl>
                                          <p:spTgt spid="6553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5539">
                                            <p:txEl>
                                              <p:pRg st="3" end="3"/>
                                            </p:txEl>
                                          </p:spTgt>
                                        </p:tgtEl>
                                        <p:attrNameLst>
                                          <p:attrName>style.visibility</p:attrName>
                                        </p:attrNameLst>
                                      </p:cBhvr>
                                      <p:to>
                                        <p:strVal val="visible"/>
                                      </p:to>
                                    </p:set>
                                    <p:animEffect transition="in" filter="wipe(left)">
                                      <p:cBhvr>
                                        <p:cTn id="17" dur="500"/>
                                        <p:tgtEl>
                                          <p:spTgt spid="6553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uild="p"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Naming coordination compounds (new)</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The following rules are used when naming coordination compounds:</a:t>
            </a:r>
          </a:p>
          <a:p>
            <a:r>
              <a:rPr lang="en-US" dirty="0" smtClean="0"/>
              <a:t>(</a:t>
            </a:r>
            <a:r>
              <a:rPr lang="en-US" dirty="0" err="1" smtClean="0"/>
              <a:t>i</a:t>
            </a:r>
            <a:r>
              <a:rPr lang="en-US" dirty="0" smtClean="0"/>
              <a:t>) </a:t>
            </a:r>
            <a:r>
              <a:rPr lang="en-US" dirty="0" err="1" smtClean="0"/>
              <a:t>ligand</a:t>
            </a:r>
            <a:r>
              <a:rPr lang="en-US" dirty="0" smtClean="0"/>
              <a:t> names are listed before the name of the central atom,</a:t>
            </a:r>
          </a:p>
          <a:p>
            <a:r>
              <a:rPr lang="en-US" dirty="0" smtClean="0"/>
              <a:t>(ii) no spaces are left between parts of the name that refer to the same coordination entity,</a:t>
            </a: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(iii) </a:t>
            </a:r>
            <a:r>
              <a:rPr lang="en-US" dirty="0" err="1" smtClean="0"/>
              <a:t>ligand</a:t>
            </a:r>
            <a:r>
              <a:rPr lang="en-US" dirty="0" smtClean="0"/>
              <a:t> names are listed in alphabetical order </a:t>
            </a:r>
          </a:p>
          <a:p>
            <a:r>
              <a:rPr lang="en-US" dirty="0" smtClean="0"/>
              <a:t>Note: (numerical prefixes indicating the  number of </a:t>
            </a:r>
            <a:r>
              <a:rPr lang="en-US" dirty="0" err="1" smtClean="0"/>
              <a:t>ligands</a:t>
            </a:r>
            <a:r>
              <a:rPr lang="en-US" dirty="0" smtClean="0"/>
              <a:t> are not considered in determining that order),</a:t>
            </a:r>
          </a:p>
          <a:p>
            <a:r>
              <a:rPr lang="en-US" dirty="0" smtClean="0"/>
              <a:t>(iv) the use of abbreviations in </a:t>
            </a:r>
            <a:r>
              <a:rPr lang="en-US" i="1" dirty="0" smtClean="0"/>
              <a:t>names is discouraged.</a:t>
            </a:r>
          </a:p>
          <a:p>
            <a:endParaRPr lang="en-US" i="1" dirty="0" smtClean="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0"/>
            <a:ext cx="8229600" cy="6202363"/>
          </a:xfrm>
        </p:spPr>
        <p:txBody>
          <a:bodyPr>
            <a:noAutofit/>
          </a:bodyPr>
          <a:lstStyle/>
          <a:p>
            <a:r>
              <a:rPr lang="en-US" sz="2400" i="1" dirty="0" smtClean="0"/>
              <a:t>Example:</a:t>
            </a:r>
          </a:p>
          <a:p>
            <a:pPr>
              <a:buNone/>
            </a:pPr>
            <a:r>
              <a:rPr lang="en-US" sz="2400" dirty="0" smtClean="0"/>
              <a:t>	1. [</a:t>
            </a:r>
            <a:r>
              <a:rPr lang="en-US" sz="2400" dirty="0" err="1" smtClean="0"/>
              <a:t>CoCl</a:t>
            </a:r>
            <a:r>
              <a:rPr lang="en-US" sz="2400" dirty="0" smtClean="0"/>
              <a:t>(NH</a:t>
            </a:r>
            <a:r>
              <a:rPr lang="en-US" sz="2400" baseline="-25000" dirty="0" smtClean="0"/>
              <a:t>3</a:t>
            </a:r>
            <a:r>
              <a:rPr lang="en-US" sz="2400" dirty="0" smtClean="0"/>
              <a:t>)</a:t>
            </a:r>
            <a:r>
              <a:rPr lang="en-US" sz="2400" baseline="-25000" dirty="0" smtClean="0"/>
              <a:t>5</a:t>
            </a:r>
            <a:r>
              <a:rPr lang="en-US" sz="2400" dirty="0" smtClean="0"/>
              <a:t>]Cl</a:t>
            </a:r>
            <a:r>
              <a:rPr lang="en-US" sz="2400" baseline="-25000" dirty="0" smtClean="0"/>
              <a:t>2</a:t>
            </a:r>
          </a:p>
          <a:p>
            <a:r>
              <a:rPr lang="en-US" sz="2400" dirty="0" err="1" smtClean="0"/>
              <a:t>penta</a:t>
            </a:r>
            <a:r>
              <a:rPr lang="en-US" sz="2400" i="1" dirty="0" err="1" smtClean="0"/>
              <a:t>amminechloridocobalt</a:t>
            </a:r>
            <a:r>
              <a:rPr lang="en-US" sz="2400" i="1" dirty="0" smtClean="0"/>
              <a:t>(</a:t>
            </a:r>
            <a:r>
              <a:rPr lang="en-US" sz="2400" i="1" dirty="0" err="1" smtClean="0"/>
              <a:t>ll</a:t>
            </a:r>
            <a:r>
              <a:rPr lang="en-US" sz="2400" i="1" dirty="0" smtClean="0"/>
              <a:t>) chloride</a:t>
            </a:r>
          </a:p>
          <a:p>
            <a:r>
              <a:rPr lang="en-US" sz="2400" dirty="0" err="1" smtClean="0"/>
              <a:t>penta</a:t>
            </a:r>
            <a:r>
              <a:rPr lang="en-US" sz="2400" i="1" dirty="0" err="1" smtClean="0"/>
              <a:t>amminechloridocobalt</a:t>
            </a:r>
            <a:r>
              <a:rPr lang="en-US" sz="2400" i="1" dirty="0" smtClean="0"/>
              <a:t>(2+) chloride</a:t>
            </a:r>
          </a:p>
          <a:p>
            <a:r>
              <a:rPr lang="en-US" sz="2400" dirty="0" smtClean="0"/>
              <a:t>2. [AuXe</a:t>
            </a:r>
            <a:r>
              <a:rPr lang="en-US" sz="2400" baseline="-25000" dirty="0" smtClean="0"/>
              <a:t>4</a:t>
            </a:r>
            <a:r>
              <a:rPr lang="en-US" sz="2400" dirty="0" smtClean="0"/>
              <a:t>]</a:t>
            </a:r>
            <a:r>
              <a:rPr lang="en-US" sz="2400" baseline="30000" dirty="0" smtClean="0"/>
              <a:t>2+</a:t>
            </a:r>
          </a:p>
          <a:p>
            <a:r>
              <a:rPr lang="en-US" sz="2400" dirty="0" err="1" smtClean="0"/>
              <a:t>tetraxenonidogold</a:t>
            </a:r>
            <a:r>
              <a:rPr lang="en-US" sz="2400" dirty="0" smtClean="0"/>
              <a:t>(</a:t>
            </a:r>
            <a:r>
              <a:rPr lang="en-US" sz="2400" dirty="0" err="1" smtClean="0"/>
              <a:t>ll</a:t>
            </a:r>
            <a:r>
              <a:rPr lang="en-US" sz="2400" dirty="0" smtClean="0"/>
              <a:t>)</a:t>
            </a:r>
          </a:p>
          <a:p>
            <a:endParaRPr lang="en-US" sz="2400" dirty="0" smtClean="0"/>
          </a:p>
          <a:p>
            <a:r>
              <a:rPr lang="en-US" sz="2400" dirty="0" smtClean="0"/>
              <a:t>(</a:t>
            </a:r>
            <a:r>
              <a:rPr lang="en-US" sz="2400" dirty="0" err="1" smtClean="0"/>
              <a:t>i</a:t>
            </a:r>
            <a:r>
              <a:rPr lang="en-US" sz="2400" dirty="0" smtClean="0"/>
              <a:t>) Prefixes </a:t>
            </a:r>
            <a:r>
              <a:rPr lang="en-US" sz="2400" dirty="0" err="1" smtClean="0"/>
              <a:t>di</a:t>
            </a:r>
            <a:r>
              <a:rPr lang="en-US" sz="2400" dirty="0" smtClean="0"/>
              <a:t>, tri, </a:t>
            </a:r>
            <a:r>
              <a:rPr lang="en-US" sz="2400" i="1" dirty="0" smtClean="0"/>
              <a:t>etc. are generally used for simple </a:t>
            </a:r>
            <a:r>
              <a:rPr lang="en-US" sz="2400" i="1" dirty="0" err="1" smtClean="0"/>
              <a:t>ligands</a:t>
            </a:r>
            <a:r>
              <a:rPr lang="en-US" sz="2400" i="1" dirty="0" smtClean="0"/>
              <a:t>. Enclosing marks are not </a:t>
            </a:r>
            <a:r>
              <a:rPr lang="en-US" sz="2400" dirty="0" smtClean="0"/>
              <a:t>required.</a:t>
            </a:r>
          </a:p>
          <a:p>
            <a:r>
              <a:rPr lang="en-US" sz="2400" dirty="0" smtClean="0"/>
              <a:t>(ii) Prefixes </a:t>
            </a:r>
            <a:r>
              <a:rPr lang="en-US" sz="2400" dirty="0" err="1" smtClean="0"/>
              <a:t>bis</a:t>
            </a:r>
            <a:r>
              <a:rPr lang="en-US" sz="2400" dirty="0" smtClean="0"/>
              <a:t>, </a:t>
            </a:r>
            <a:r>
              <a:rPr lang="en-US" sz="2400" dirty="0" err="1" smtClean="0"/>
              <a:t>tris</a:t>
            </a:r>
            <a:r>
              <a:rPr lang="en-US" sz="2400" dirty="0" smtClean="0"/>
              <a:t>, </a:t>
            </a:r>
            <a:r>
              <a:rPr lang="en-US" sz="2400" dirty="0" err="1" smtClean="0"/>
              <a:t>tetrakis</a:t>
            </a:r>
            <a:r>
              <a:rPr lang="en-US" sz="2400" dirty="0" smtClean="0"/>
              <a:t>, </a:t>
            </a:r>
            <a:r>
              <a:rPr lang="en-US" sz="2400" i="1" dirty="0" smtClean="0"/>
              <a:t>etc. are used with complex expressions and when required </a:t>
            </a:r>
            <a:r>
              <a:rPr lang="en-US" sz="2400" dirty="0" smtClean="0"/>
              <a:t>to avoid ambiguity. </a:t>
            </a:r>
          </a:p>
          <a:p>
            <a:r>
              <a:rPr lang="en-US" sz="2400" dirty="0" smtClean="0"/>
              <a:t>For example, one would use </a:t>
            </a:r>
            <a:r>
              <a:rPr lang="en-US" sz="2400" dirty="0" err="1" smtClean="0"/>
              <a:t>diammine</a:t>
            </a:r>
            <a:r>
              <a:rPr lang="en-US" sz="2400" dirty="0" smtClean="0"/>
              <a:t>, for (NH</a:t>
            </a:r>
            <a:r>
              <a:rPr lang="en-US" sz="2400" baseline="-25000" dirty="0" smtClean="0"/>
              <a:t>3</a:t>
            </a:r>
            <a:r>
              <a:rPr lang="en-US" sz="2400" dirty="0" smtClean="0"/>
              <a:t>)</a:t>
            </a:r>
            <a:r>
              <a:rPr lang="en-US" sz="2400" baseline="-25000" dirty="0" smtClean="0"/>
              <a:t>2</a:t>
            </a:r>
            <a:r>
              <a:rPr lang="en-US" sz="2400" dirty="0" smtClean="0"/>
              <a:t>, but </a:t>
            </a:r>
            <a:r>
              <a:rPr lang="en-US" sz="2400" dirty="0" err="1" smtClean="0"/>
              <a:t>bis</a:t>
            </a:r>
            <a:r>
              <a:rPr lang="en-US" sz="2400" dirty="0" smtClean="0"/>
              <a:t>(methylamine), for (NH</a:t>
            </a:r>
            <a:r>
              <a:rPr lang="en-US" sz="2400" baseline="-25000" dirty="0" smtClean="0"/>
              <a:t>2</a:t>
            </a:r>
            <a:r>
              <a:rPr lang="en-US" sz="2400" dirty="0" smtClean="0"/>
              <a:t>Me)</a:t>
            </a:r>
            <a:r>
              <a:rPr lang="en-US" sz="2400" baseline="-25000" dirty="0" smtClean="0"/>
              <a:t>2</a:t>
            </a:r>
            <a:r>
              <a:rPr lang="en-US" sz="2400" dirty="0" smtClean="0"/>
              <a:t>, to make a distinction from </a:t>
            </a:r>
            <a:r>
              <a:rPr lang="en-US" sz="2400" dirty="0" err="1" smtClean="0"/>
              <a:t>dimethylamine</a:t>
            </a:r>
            <a:r>
              <a:rPr lang="en-US" sz="2400" i="1" dirty="0" smtClean="0"/>
              <a:t>. </a:t>
            </a:r>
          </a:p>
          <a:p>
            <a:endParaRPr lang="en-US" sz="2400" dirty="0" smtClean="0"/>
          </a:p>
          <a:p>
            <a:endParaRPr lang="en-US" sz="2400"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box(in)">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box(in)">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box(in)">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smtClean="0"/>
              <a:t>Systematic and alternative names for some common </a:t>
            </a:r>
            <a:r>
              <a:rPr lang="en-US" dirty="0" err="1" smtClean="0"/>
              <a:t>ligands</a:t>
            </a:r>
            <a:r>
              <a:rPr lang="en-US" dirty="0" smtClean="0"/>
              <a:t>:</a:t>
            </a:r>
          </a:p>
          <a:p>
            <a:r>
              <a:rPr lang="en-US" dirty="0" smtClean="0"/>
              <a:t>(</a:t>
            </a:r>
            <a:r>
              <a:rPr lang="en-US" dirty="0" err="1" smtClean="0"/>
              <a:t>i</a:t>
            </a:r>
            <a:r>
              <a:rPr lang="en-US" dirty="0" smtClean="0"/>
              <a:t>) Names of anionic </a:t>
            </a:r>
            <a:r>
              <a:rPr lang="en-US" dirty="0" err="1" smtClean="0"/>
              <a:t>ligands</a:t>
            </a:r>
            <a:r>
              <a:rPr lang="en-US" dirty="0" smtClean="0"/>
              <a:t>, whether inorganic or organic, are modified to end in 'o‘</a:t>
            </a:r>
          </a:p>
          <a:p>
            <a:r>
              <a:rPr lang="en-US" dirty="0" smtClean="0"/>
              <a:t>In general, if the anion name ends in '</a:t>
            </a:r>
            <a:r>
              <a:rPr lang="en-US" dirty="0" err="1" smtClean="0"/>
              <a:t>ide</a:t>
            </a:r>
            <a:r>
              <a:rPr lang="en-US" dirty="0" smtClean="0"/>
              <a:t>', '</a:t>
            </a:r>
            <a:r>
              <a:rPr lang="en-US" dirty="0" err="1" smtClean="0"/>
              <a:t>ite</a:t>
            </a:r>
            <a:r>
              <a:rPr lang="en-US" dirty="0" smtClean="0"/>
              <a:t>' or 'ate', the final 'e' is replaced by 'o', giving '</a:t>
            </a:r>
            <a:r>
              <a:rPr lang="en-US" dirty="0" err="1" smtClean="0"/>
              <a:t>ido</a:t>
            </a:r>
            <a:r>
              <a:rPr lang="en-US" dirty="0" smtClean="0"/>
              <a:t>', '</a:t>
            </a:r>
            <a:r>
              <a:rPr lang="en-US" dirty="0" err="1" smtClean="0"/>
              <a:t>ito</a:t>
            </a:r>
            <a:r>
              <a:rPr lang="en-US" dirty="0" smtClean="0"/>
              <a:t>', and '</a:t>
            </a:r>
            <a:r>
              <a:rPr lang="en-US" dirty="0" err="1" smtClean="0"/>
              <a:t>ato</a:t>
            </a:r>
            <a:r>
              <a:rPr lang="en-US" dirty="0" smtClean="0"/>
              <a:t>', respectively. </a:t>
            </a:r>
          </a:p>
          <a:p>
            <a:r>
              <a:rPr lang="en-US" dirty="0" smtClean="0"/>
              <a:t>In particular, </a:t>
            </a:r>
            <a:r>
              <a:rPr lang="en-US" dirty="0" err="1" smtClean="0"/>
              <a:t>alcoholates</a:t>
            </a:r>
            <a:r>
              <a:rPr lang="en-US" dirty="0" smtClean="0"/>
              <a:t>, </a:t>
            </a:r>
            <a:r>
              <a:rPr lang="en-US" dirty="0" err="1" smtClean="0"/>
              <a:t>thiolates</a:t>
            </a:r>
            <a:r>
              <a:rPr lang="en-US" dirty="0" smtClean="0"/>
              <a:t>, </a:t>
            </a:r>
            <a:r>
              <a:rPr lang="en-US" dirty="0" err="1" smtClean="0"/>
              <a:t>phenolates</a:t>
            </a:r>
            <a:r>
              <a:rPr lang="en-US" dirty="0" smtClean="0"/>
              <a:t>, </a:t>
            </a:r>
            <a:r>
              <a:rPr lang="en-US" dirty="0" err="1" smtClean="0"/>
              <a:t>carboxylates</a:t>
            </a:r>
            <a:r>
              <a:rPr lang="en-US" dirty="0" smtClean="0"/>
              <a:t>, partially </a:t>
            </a:r>
            <a:r>
              <a:rPr lang="en-US" dirty="0" err="1" smtClean="0"/>
              <a:t>dehydronated</a:t>
            </a:r>
            <a:r>
              <a:rPr lang="en-US" dirty="0" smtClean="0"/>
              <a:t> amines, </a:t>
            </a:r>
            <a:r>
              <a:rPr lang="en-US" dirty="0" err="1" smtClean="0"/>
              <a:t>phosphanes</a:t>
            </a:r>
            <a:r>
              <a:rPr lang="en-US" dirty="0" smtClean="0"/>
              <a:t>, </a:t>
            </a:r>
            <a:r>
              <a:rPr lang="en-US" i="1" dirty="0" smtClean="0"/>
              <a:t>etc.</a:t>
            </a:r>
          </a:p>
          <a:p>
            <a:r>
              <a:rPr lang="en-US" dirty="0" smtClean="0"/>
              <a:t>In its complexes, hydrogen is always treated as anionic</a:t>
            </a:r>
            <a:r>
              <a:rPr lang="en-US" b="1" dirty="0" smtClean="0"/>
              <a:t>. '</a:t>
            </a:r>
            <a:r>
              <a:rPr lang="en-US" b="1" dirty="0" err="1" smtClean="0"/>
              <a:t>Hydrido</a:t>
            </a:r>
            <a:r>
              <a:rPr lang="en-US" b="1" dirty="0" smtClean="0"/>
              <a:t>' is used for </a:t>
            </a:r>
            <a:r>
              <a:rPr lang="en-US" dirty="0" smtClean="0"/>
              <a:t>hydrogen coordinating to all elements including boron.</a:t>
            </a:r>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i="1" dirty="0"/>
          </a:p>
        </p:txBody>
      </p:sp>
      <p:sp>
        <p:nvSpPr>
          <p:cNvPr id="3" name="Content Placeholder 2"/>
          <p:cNvSpPr>
            <a:spLocks noGrp="1"/>
          </p:cNvSpPr>
          <p:nvPr>
            <p:ph idx="1"/>
          </p:nvPr>
        </p:nvSpPr>
        <p:spPr/>
        <p:txBody>
          <a:bodyPr>
            <a:normAutofit fontScale="85000" lnSpcReduction="20000"/>
          </a:bodyPr>
          <a:lstStyle/>
          <a:p>
            <a:r>
              <a:rPr lang="en-US" dirty="0" smtClean="0"/>
              <a:t>(ii) Names of neutral and cationic </a:t>
            </a:r>
            <a:r>
              <a:rPr lang="en-US" dirty="0" err="1" smtClean="0"/>
              <a:t>ligand</a:t>
            </a:r>
            <a:r>
              <a:rPr lang="en-US" dirty="0" smtClean="0"/>
              <a:t> names, including organic </a:t>
            </a:r>
            <a:r>
              <a:rPr lang="en-US" dirty="0" err="1" smtClean="0"/>
              <a:t>ligands</a:t>
            </a:r>
            <a:r>
              <a:rPr lang="en-US" dirty="0" smtClean="0"/>
              <a:t>, are used without modification (even if they carry the endings '</a:t>
            </a:r>
            <a:r>
              <a:rPr lang="en-US" dirty="0" err="1" smtClean="0"/>
              <a:t>ide</a:t>
            </a:r>
            <a:r>
              <a:rPr lang="en-US" dirty="0" smtClean="0"/>
              <a:t>', '</a:t>
            </a:r>
            <a:r>
              <a:rPr lang="en-US" dirty="0" err="1" smtClean="0"/>
              <a:t>ite</a:t>
            </a:r>
            <a:r>
              <a:rPr lang="en-US" dirty="0" smtClean="0"/>
              <a:t>' or 'ate').</a:t>
            </a:r>
          </a:p>
          <a:p>
            <a:r>
              <a:rPr lang="en-US" dirty="0" smtClean="0"/>
              <a:t>(iii) Enclosing marks are required for neutral and cationic </a:t>
            </a:r>
            <a:r>
              <a:rPr lang="en-US" dirty="0" err="1" smtClean="0"/>
              <a:t>ligand</a:t>
            </a:r>
            <a:r>
              <a:rPr lang="en-US" dirty="0" smtClean="0"/>
              <a:t> names, for inorganic  anionic </a:t>
            </a:r>
            <a:r>
              <a:rPr lang="en-US" dirty="0" err="1" smtClean="0"/>
              <a:t>ligands</a:t>
            </a:r>
            <a:r>
              <a:rPr lang="en-US" dirty="0" smtClean="0"/>
              <a:t> containing numerical prefixes (such as </a:t>
            </a:r>
            <a:r>
              <a:rPr lang="en-US" dirty="0" err="1" smtClean="0"/>
              <a:t>triphosphato</a:t>
            </a:r>
            <a:r>
              <a:rPr lang="en-US" dirty="0" smtClean="0"/>
              <a:t>), for any compositional name (such as carbon disulfide), for any substituted organic </a:t>
            </a:r>
            <a:r>
              <a:rPr lang="en-US" dirty="0" err="1" smtClean="0"/>
              <a:t>ligand</a:t>
            </a:r>
            <a:r>
              <a:rPr lang="en-US" dirty="0" smtClean="0"/>
              <a:t>.</a:t>
            </a:r>
          </a:p>
          <a:p>
            <a:r>
              <a:rPr lang="en-US" dirty="0" smtClean="0"/>
              <a:t>However, common </a:t>
            </a:r>
            <a:r>
              <a:rPr lang="en-US" dirty="0" err="1" smtClean="0"/>
              <a:t>ligands</a:t>
            </a:r>
            <a:r>
              <a:rPr lang="en-US" dirty="0" smtClean="0"/>
              <a:t> such as aqua, ammine, carbonyl, </a:t>
            </a:r>
            <a:r>
              <a:rPr lang="en-US" dirty="0" err="1" smtClean="0"/>
              <a:t>nitrosyl</a:t>
            </a:r>
            <a:r>
              <a:rPr lang="en-US" dirty="0" smtClean="0"/>
              <a:t>, methyl, ethyl, etc., do not require enclosing marks, unless there is ambiguity.</a:t>
            </a: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55000" lnSpcReduction="20000"/>
          </a:bodyPr>
          <a:lstStyle/>
          <a:p>
            <a:r>
              <a:rPr lang="en-US" i="1" dirty="0" smtClean="0"/>
              <a:t>Examples:</a:t>
            </a:r>
          </a:p>
          <a:p>
            <a:r>
              <a:rPr lang="en-US" i="1" dirty="0" smtClean="0"/>
              <a:t>                       Formula                                               </a:t>
            </a:r>
            <a:r>
              <a:rPr lang="en-US" i="1" dirty="0" err="1" smtClean="0"/>
              <a:t>Ligand</a:t>
            </a:r>
            <a:r>
              <a:rPr lang="en-US" i="1" dirty="0" smtClean="0"/>
              <a:t> name</a:t>
            </a:r>
          </a:p>
          <a:p>
            <a:r>
              <a:rPr lang="en-US" dirty="0" smtClean="0"/>
              <a:t>1.                     </a:t>
            </a:r>
            <a:r>
              <a:rPr lang="en-US" dirty="0" err="1" smtClean="0"/>
              <a:t>Cl</a:t>
            </a:r>
            <a:r>
              <a:rPr lang="en-US" baseline="30000" dirty="0" smtClean="0"/>
              <a:t>_                                                                                         </a:t>
            </a:r>
            <a:r>
              <a:rPr lang="en-US" dirty="0" err="1" smtClean="0"/>
              <a:t>chlorido</a:t>
            </a:r>
            <a:endParaRPr lang="en-US" dirty="0" smtClean="0"/>
          </a:p>
          <a:p>
            <a:r>
              <a:rPr lang="en-US" dirty="0" smtClean="0"/>
              <a:t>2.                     CN</a:t>
            </a:r>
            <a:r>
              <a:rPr lang="en-US" baseline="30000" dirty="0" smtClean="0"/>
              <a:t>_                                                                                       </a:t>
            </a:r>
            <a:r>
              <a:rPr lang="en-US" dirty="0" err="1" smtClean="0"/>
              <a:t>cyanido</a:t>
            </a:r>
            <a:endParaRPr lang="en-US" dirty="0" smtClean="0"/>
          </a:p>
          <a:p>
            <a:r>
              <a:rPr lang="en-US" dirty="0" smtClean="0"/>
              <a:t>3.                      H</a:t>
            </a:r>
            <a:r>
              <a:rPr lang="en-US" baseline="30000" dirty="0" smtClean="0"/>
              <a:t>_                                                                                         </a:t>
            </a:r>
            <a:r>
              <a:rPr lang="en-US" dirty="0" err="1" smtClean="0"/>
              <a:t>hydrido</a:t>
            </a:r>
            <a:endParaRPr lang="en-US" dirty="0" smtClean="0"/>
          </a:p>
          <a:p>
            <a:r>
              <a:rPr lang="en-US" dirty="0" smtClean="0"/>
              <a:t>4.                      D</a:t>
            </a:r>
            <a:r>
              <a:rPr lang="en-US" baseline="30000" dirty="0" smtClean="0"/>
              <a:t>_  </a:t>
            </a:r>
            <a:r>
              <a:rPr lang="en-US" dirty="0" smtClean="0"/>
              <a:t>or  H</a:t>
            </a:r>
            <a:r>
              <a:rPr lang="en-US" baseline="30000" dirty="0" smtClean="0"/>
              <a:t>_                                                                       </a:t>
            </a:r>
            <a:r>
              <a:rPr lang="en-US" dirty="0" err="1" smtClean="0"/>
              <a:t>deuterido</a:t>
            </a:r>
            <a:r>
              <a:rPr lang="en-US" dirty="0" smtClean="0"/>
              <a:t> or [2H]</a:t>
            </a:r>
            <a:r>
              <a:rPr lang="en-US" dirty="0" err="1" smtClean="0"/>
              <a:t>hydrido</a:t>
            </a:r>
            <a:endParaRPr lang="en-US" dirty="0" smtClean="0"/>
          </a:p>
          <a:p>
            <a:r>
              <a:rPr lang="en-US" dirty="0" smtClean="0"/>
              <a:t>5.                       PhCH</a:t>
            </a:r>
            <a:r>
              <a:rPr lang="en-US" baseline="-25000" dirty="0" smtClean="0"/>
              <a:t>2</a:t>
            </a:r>
            <a:r>
              <a:rPr lang="en-US" dirty="0" smtClean="0"/>
              <a:t>CH</a:t>
            </a:r>
            <a:r>
              <a:rPr lang="en-US" baseline="-25000" dirty="0" smtClean="0"/>
              <a:t>2</a:t>
            </a:r>
            <a:r>
              <a:rPr lang="en-US" dirty="0" smtClean="0"/>
              <a:t>Se</a:t>
            </a:r>
            <a:r>
              <a:rPr lang="en-US" baseline="30000" dirty="0" smtClean="0"/>
              <a:t>_                                                          </a:t>
            </a:r>
            <a:r>
              <a:rPr lang="en-US" dirty="0" err="1" smtClean="0"/>
              <a:t>phenylethaneselanolato</a:t>
            </a:r>
            <a:endParaRPr lang="en-US" dirty="0" smtClean="0"/>
          </a:p>
          <a:p>
            <a:r>
              <a:rPr lang="en-US" dirty="0" smtClean="0"/>
              <a:t>6.                      </a:t>
            </a:r>
            <a:r>
              <a:rPr lang="en-US" dirty="0" err="1" smtClean="0"/>
              <a:t>MeCOO</a:t>
            </a:r>
            <a:r>
              <a:rPr lang="en-US" baseline="30000" dirty="0" smtClean="0"/>
              <a:t>_                                                                       </a:t>
            </a:r>
            <a:r>
              <a:rPr lang="en-US" dirty="0" err="1" smtClean="0"/>
              <a:t>acetato</a:t>
            </a:r>
            <a:r>
              <a:rPr lang="en-US" dirty="0" smtClean="0"/>
              <a:t> or </a:t>
            </a:r>
            <a:r>
              <a:rPr lang="en-US" dirty="0" err="1" smtClean="0"/>
              <a:t>ethanoato</a:t>
            </a:r>
            <a:endParaRPr lang="en-US" dirty="0" smtClean="0"/>
          </a:p>
          <a:p>
            <a:r>
              <a:rPr lang="en-US" dirty="0" smtClean="0"/>
              <a:t>7.                     Me</a:t>
            </a:r>
            <a:r>
              <a:rPr lang="en-US" baseline="-25000" dirty="0" smtClean="0"/>
              <a:t>2</a:t>
            </a:r>
            <a:r>
              <a:rPr lang="en-US" dirty="0" smtClean="0"/>
              <a:t>N                                                      </a:t>
            </a:r>
            <a:r>
              <a:rPr lang="en-US" dirty="0" err="1" smtClean="0"/>
              <a:t>dimethylazanido</a:t>
            </a:r>
            <a:r>
              <a:rPr lang="en-US" dirty="0" smtClean="0"/>
              <a:t> or 						        </a:t>
            </a:r>
            <a:r>
              <a:rPr lang="en-US" dirty="0" err="1" smtClean="0"/>
              <a:t>dimethylamido</a:t>
            </a:r>
            <a:endParaRPr lang="en-US" dirty="0" smtClean="0"/>
          </a:p>
          <a:p>
            <a:r>
              <a:rPr lang="en-US" dirty="0" smtClean="0"/>
              <a:t>8. 	            MeCONH</a:t>
            </a:r>
            <a:r>
              <a:rPr lang="en-US" baseline="-25000" dirty="0" smtClean="0"/>
              <a:t>2</a:t>
            </a:r>
            <a:r>
              <a:rPr lang="en-US" dirty="0" smtClean="0"/>
              <a:t>                                                 </a:t>
            </a:r>
            <a:r>
              <a:rPr lang="en-US" dirty="0" err="1" smtClean="0"/>
              <a:t>acetamide</a:t>
            </a:r>
            <a:r>
              <a:rPr lang="en-US" dirty="0" smtClean="0"/>
              <a:t> (not </a:t>
            </a:r>
            <a:r>
              <a:rPr lang="en-US" dirty="0" err="1" smtClean="0"/>
              <a:t>acetamido</a:t>
            </a:r>
            <a:r>
              <a:rPr lang="en-US" dirty="0" smtClean="0"/>
              <a:t>)</a:t>
            </a:r>
          </a:p>
          <a:p>
            <a:r>
              <a:rPr lang="en-US" dirty="0" smtClean="0"/>
              <a:t>9.                      </a:t>
            </a:r>
            <a:r>
              <a:rPr lang="en-US" dirty="0" err="1" smtClean="0"/>
              <a:t>MeCONH</a:t>
            </a:r>
            <a:r>
              <a:rPr lang="en-US" baseline="30000" dirty="0" smtClean="0"/>
              <a:t>_                                                                       </a:t>
            </a:r>
            <a:r>
              <a:rPr lang="en-US" dirty="0" err="1" smtClean="0"/>
              <a:t>acetylazanido</a:t>
            </a:r>
            <a:r>
              <a:rPr lang="en-US" dirty="0" smtClean="0"/>
              <a:t> or </a:t>
            </a:r>
            <a:r>
              <a:rPr lang="en-US" dirty="0" err="1" smtClean="0"/>
              <a:t>acetylamido</a:t>
            </a:r>
            <a:r>
              <a:rPr lang="en-US" dirty="0" smtClean="0"/>
              <a:t> 					         (not  </a:t>
            </a:r>
            <a:r>
              <a:rPr lang="en-US" dirty="0" err="1" smtClean="0"/>
              <a:t>acetamido</a:t>
            </a:r>
            <a:r>
              <a:rPr lang="en-US" dirty="0" smtClean="0"/>
              <a:t>)</a:t>
            </a:r>
          </a:p>
          <a:p>
            <a:r>
              <a:rPr lang="en-US" dirty="0" smtClean="0"/>
              <a:t>10.                    MeNH</a:t>
            </a:r>
            <a:r>
              <a:rPr lang="en-US" baseline="-25000" dirty="0" smtClean="0"/>
              <a:t>2</a:t>
            </a:r>
            <a:r>
              <a:rPr lang="en-US" dirty="0" smtClean="0"/>
              <a:t>                                                     </a:t>
            </a:r>
            <a:r>
              <a:rPr lang="en-US" dirty="0" err="1" smtClean="0"/>
              <a:t>methanamine</a:t>
            </a:r>
            <a:endParaRPr lang="en-US" dirty="0" smtClean="0"/>
          </a:p>
          <a:p>
            <a:r>
              <a:rPr lang="en-US" dirty="0" smtClean="0"/>
              <a:t>11.                    </a:t>
            </a:r>
            <a:r>
              <a:rPr lang="en-US" dirty="0" err="1" smtClean="0"/>
              <a:t>MeNH</a:t>
            </a:r>
            <a:r>
              <a:rPr lang="en-US" dirty="0" smtClean="0"/>
              <a:t>                                                       </a:t>
            </a:r>
            <a:r>
              <a:rPr lang="en-US" dirty="0" err="1" smtClean="0"/>
              <a:t>methylazanido</a:t>
            </a:r>
            <a:r>
              <a:rPr lang="en-US" dirty="0" smtClean="0"/>
              <a:t> or 						          </a:t>
            </a:r>
            <a:r>
              <a:rPr lang="en-US" dirty="0" err="1" smtClean="0"/>
              <a:t>methanaminido</a:t>
            </a:r>
            <a:endParaRPr lang="en-US" dirty="0" smtClean="0"/>
          </a:p>
          <a:p>
            <a:r>
              <a:rPr lang="en-US" dirty="0" smtClean="0"/>
              <a:t>12.                    MePH</a:t>
            </a:r>
            <a:r>
              <a:rPr lang="en-US" baseline="-25000" dirty="0" smtClean="0"/>
              <a:t>2</a:t>
            </a:r>
            <a:r>
              <a:rPr lang="en-US" dirty="0" smtClean="0"/>
              <a:t>                                                     </a:t>
            </a:r>
            <a:r>
              <a:rPr lang="en-US" dirty="0" err="1" smtClean="0"/>
              <a:t>methylphosphane</a:t>
            </a:r>
            <a:endParaRPr lang="en-US" dirty="0" smtClean="0"/>
          </a:p>
          <a:p>
            <a:r>
              <a:rPr lang="en-US" dirty="0" smtClean="0"/>
              <a:t>13.                     </a:t>
            </a:r>
            <a:r>
              <a:rPr lang="en-US" dirty="0" err="1" smtClean="0"/>
              <a:t>MePH</a:t>
            </a:r>
            <a:r>
              <a:rPr lang="en-US" baseline="30000" dirty="0" smtClean="0"/>
              <a:t>_                                                                             </a:t>
            </a:r>
            <a:r>
              <a:rPr lang="en-US" dirty="0" err="1" smtClean="0"/>
              <a:t>methylphosphanido</a:t>
            </a:r>
            <a:endParaRPr lang="en-US" dirty="0" smtClean="0"/>
          </a:p>
          <a:p>
            <a:r>
              <a:rPr lang="en-US" dirty="0" smtClean="0"/>
              <a:t>14.                     </a:t>
            </a:r>
            <a:r>
              <a:rPr lang="en-US" dirty="0" err="1" smtClean="0"/>
              <a:t>MeOS</a:t>
            </a:r>
            <a:r>
              <a:rPr lang="en-US" dirty="0" smtClean="0"/>
              <a:t>(O)OH                                           methyl hydrogen sulfite</a:t>
            </a:r>
          </a:p>
          <a:p>
            <a:r>
              <a:rPr lang="en-US" dirty="0" smtClean="0"/>
              <a:t>15.                     </a:t>
            </a:r>
            <a:r>
              <a:rPr lang="en-US" dirty="0" err="1" smtClean="0"/>
              <a:t>MeOS</a:t>
            </a:r>
            <a:r>
              <a:rPr lang="en-US" dirty="0" smtClean="0"/>
              <a:t>(O)O</a:t>
            </a:r>
            <a:r>
              <a:rPr lang="en-US" baseline="30000" dirty="0" smtClean="0"/>
              <a:t>_                                                             </a:t>
            </a:r>
            <a:r>
              <a:rPr lang="en-US" dirty="0" smtClean="0"/>
              <a:t>methyl </a:t>
            </a:r>
            <a:r>
              <a:rPr lang="en-US" dirty="0" err="1" smtClean="0"/>
              <a:t>sulfito</a:t>
            </a:r>
            <a:r>
              <a:rPr lang="en-US" dirty="0" smtClean="0"/>
              <a:t>, or   			                                                            </a:t>
            </a:r>
            <a:r>
              <a:rPr lang="en-US" dirty="0" err="1" smtClean="0"/>
              <a:t>methoxidodioxidosulfato</a:t>
            </a:r>
            <a:r>
              <a:rPr lang="en-US" dirty="0" smtClean="0"/>
              <a:t>(1-)</a:t>
            </a:r>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ox(i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ox(i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ox(i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ox(i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ox(in)">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box(in)">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box(in)">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box(in)">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4" presetClass="entr" presetSubtype="16"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box(in)">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box(in)">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4" presetClass="entr" presetSubtype="16"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box(in)">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box(in)">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4" presetClass="entr" presetSubtype="16"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box(in)">
                                      <p:cBhvr>
                                        <p:cTn id="77" dur="5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box(in)">
                                      <p:cBhvr>
                                        <p:cTn id="82" dur="5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4" presetClass="entr" presetSubtype="16"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box(in)">
                                      <p:cBhvr>
                                        <p:cTn id="87" dur="5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hlinkClick r:id="rId3" tooltip="slide1"/>
              </a:rPr>
              <a:t>Nomenclature of Coordination Complexes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Rule </a:t>
            </a:r>
            <a:r>
              <a:rPr lang="en-US" dirty="0"/>
              <a:t>1: The names of neutral coordination complexes are given without spaces. </a:t>
            </a:r>
            <a:endParaRPr lang="en-US" dirty="0" smtClean="0"/>
          </a:p>
          <a:p>
            <a:r>
              <a:rPr lang="en-US" dirty="0" smtClean="0"/>
              <a:t>For </a:t>
            </a:r>
            <a:r>
              <a:rPr lang="en-US" dirty="0"/>
              <a:t>coordination compounds that are ionic (i.e., the coordination complex is either an anion or anion of an ionic substance), the </a:t>
            </a:r>
            <a:r>
              <a:rPr lang="en-US" dirty="0" err="1"/>
              <a:t>cation</a:t>
            </a:r>
            <a:r>
              <a:rPr lang="en-US" dirty="0"/>
              <a:t> is named first and separated by a space from the anion, as is the case for all ionic compounds. </a:t>
            </a:r>
            <a:endParaRPr lang="en-US" dirty="0" smtClean="0"/>
          </a:p>
          <a:p>
            <a:r>
              <a:rPr lang="en-US" dirty="0" smtClean="0"/>
              <a:t>Na </a:t>
            </a:r>
            <a:r>
              <a:rPr lang="en-US" dirty="0"/>
              <a:t>[PtCl</a:t>
            </a:r>
            <a:r>
              <a:rPr lang="en-US" baseline="-25000" dirty="0"/>
              <a:t>3</a:t>
            </a:r>
            <a:r>
              <a:rPr lang="en-US" dirty="0"/>
              <a:t>(NH</a:t>
            </a:r>
            <a:r>
              <a:rPr lang="en-US" baseline="-25000" dirty="0"/>
              <a:t>3</a:t>
            </a:r>
            <a:r>
              <a:rPr lang="en-US" dirty="0"/>
              <a:t>)] </a:t>
            </a:r>
            <a:r>
              <a:rPr lang="en-US" dirty="0" smtClean="0"/>
              <a:t> </a:t>
            </a:r>
          </a:p>
          <a:p>
            <a:r>
              <a:rPr lang="en-US" dirty="0" smtClean="0"/>
              <a:t>Sodium </a:t>
            </a:r>
            <a:r>
              <a:rPr lang="en-US" dirty="0" err="1" smtClean="0"/>
              <a:t>amminetrichloridoplatinate</a:t>
            </a:r>
            <a:endParaRPr lang="en-US" dirty="0" smtClean="0"/>
          </a:p>
          <a:p>
            <a:r>
              <a:rPr lang="en-US" dirty="0" smtClean="0"/>
              <a:t>K</a:t>
            </a:r>
            <a:r>
              <a:rPr lang="en-US" baseline="-25000" dirty="0" smtClean="0"/>
              <a:t>2</a:t>
            </a:r>
            <a:r>
              <a:rPr lang="en-US" dirty="0" smtClean="0"/>
              <a:t>[CuBr</a:t>
            </a:r>
            <a:r>
              <a:rPr lang="en-US" baseline="-25000" dirty="0" smtClean="0"/>
              <a:t>4</a:t>
            </a:r>
            <a:r>
              <a:rPr lang="en-US" dirty="0"/>
              <a:t>] </a:t>
            </a:r>
            <a:endParaRPr lang="en-US" dirty="0" smtClean="0"/>
          </a:p>
          <a:p>
            <a:r>
              <a:rPr lang="en-US" dirty="0" smtClean="0"/>
              <a:t>Potassium </a:t>
            </a:r>
            <a:r>
              <a:rPr lang="en-US" dirty="0" err="1" smtClean="0"/>
              <a:t>tetrabromidocuprate</a:t>
            </a:r>
            <a:r>
              <a:rPr lang="en-US" dirty="0" smtClean="0"/>
              <a:t>(II</a:t>
            </a:r>
            <a:r>
              <a:rPr lang="en-US" dirty="0"/>
              <a:t>) </a:t>
            </a:r>
            <a:endParaRPr lang="en-US" dirty="0" smtClean="0"/>
          </a:p>
          <a:p>
            <a:r>
              <a:rPr lang="en-US" dirty="0" smtClean="0"/>
              <a:t>In </a:t>
            </a:r>
            <a:r>
              <a:rPr lang="en-US" dirty="0"/>
              <a:t>the above </a:t>
            </a:r>
            <a:r>
              <a:rPr lang="en-US" dirty="0" smtClean="0"/>
              <a:t>examples,</a:t>
            </a:r>
          </a:p>
          <a:p>
            <a:r>
              <a:rPr lang="en-US" dirty="0" smtClean="0"/>
              <a:t>the </a:t>
            </a:r>
            <a:r>
              <a:rPr lang="en-US" dirty="0" err="1"/>
              <a:t>cations</a:t>
            </a:r>
            <a:r>
              <a:rPr lang="en-US" dirty="0"/>
              <a:t> sodium and potassium are named first and then separated by a space from the names of the anions. </a:t>
            </a:r>
            <a:endParaRPr lang="en-US" dirty="0" smtClean="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3506013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trans-[Co(en)</a:t>
            </a:r>
            <a:r>
              <a:rPr lang="en-US" baseline="-25000" dirty="0"/>
              <a:t>2</a:t>
            </a:r>
            <a:r>
              <a:rPr lang="en-US" dirty="0"/>
              <a:t>I(H</a:t>
            </a:r>
            <a:r>
              <a:rPr lang="en-US" baseline="-25000" dirty="0"/>
              <a:t>2</a:t>
            </a:r>
            <a:r>
              <a:rPr lang="en-US" dirty="0"/>
              <a:t>O)](NO</a:t>
            </a:r>
            <a:r>
              <a:rPr lang="en-US" baseline="-25000" dirty="0"/>
              <a:t>3</a:t>
            </a:r>
            <a:r>
              <a:rPr lang="en-US" dirty="0"/>
              <a:t>)</a:t>
            </a:r>
            <a:r>
              <a:rPr lang="en-US" baseline="-25000" dirty="0"/>
              <a:t>2</a:t>
            </a:r>
            <a:r>
              <a:rPr lang="en-US" dirty="0"/>
              <a:t> </a:t>
            </a:r>
          </a:p>
          <a:p>
            <a:r>
              <a:rPr lang="en-US" dirty="0" smtClean="0"/>
              <a:t>trans-</a:t>
            </a:r>
            <a:r>
              <a:rPr lang="en-US" dirty="0" err="1" smtClean="0"/>
              <a:t>Aquabis</a:t>
            </a:r>
            <a:r>
              <a:rPr lang="en-US" dirty="0" smtClean="0"/>
              <a:t>(</a:t>
            </a:r>
            <a:r>
              <a:rPr lang="en-US" dirty="0" err="1" smtClean="0"/>
              <a:t>ethylenediamine</a:t>
            </a:r>
            <a:r>
              <a:rPr lang="en-US" dirty="0" smtClean="0"/>
              <a:t>)</a:t>
            </a:r>
            <a:r>
              <a:rPr lang="en-US" dirty="0" err="1" smtClean="0"/>
              <a:t>iodidocobalt</a:t>
            </a:r>
            <a:r>
              <a:rPr lang="en-US" dirty="0" smtClean="0"/>
              <a:t>(III</a:t>
            </a:r>
            <a:r>
              <a:rPr lang="en-US" dirty="0"/>
              <a:t>) nitrate In this example the coordination </a:t>
            </a:r>
            <a:r>
              <a:rPr lang="en-US" dirty="0" err="1"/>
              <a:t>cation</a:t>
            </a:r>
            <a:r>
              <a:rPr lang="en-US" dirty="0"/>
              <a:t> is written without spaces and then separated from the name of the anion. </a:t>
            </a:r>
          </a:p>
          <a:p>
            <a:r>
              <a:rPr lang="en-US" dirty="0" smtClean="0"/>
              <a:t>[</a:t>
            </a:r>
            <a:r>
              <a:rPr lang="en-US" dirty="0" err="1"/>
              <a:t>Ru</a:t>
            </a:r>
            <a:r>
              <a:rPr lang="en-US" dirty="0"/>
              <a:t>(PPh</a:t>
            </a:r>
            <a:r>
              <a:rPr lang="en-US" baseline="-25000" dirty="0"/>
              <a:t>3</a:t>
            </a:r>
            <a:r>
              <a:rPr lang="en-US" dirty="0"/>
              <a:t>)</a:t>
            </a:r>
            <a:r>
              <a:rPr lang="en-US" baseline="-25000" dirty="0"/>
              <a:t>3</a:t>
            </a:r>
            <a:r>
              <a:rPr lang="en-US" dirty="0"/>
              <a:t>Cl</a:t>
            </a:r>
            <a:r>
              <a:rPr lang="en-US" baseline="-25000" dirty="0"/>
              <a:t>3</a:t>
            </a:r>
            <a:r>
              <a:rPr lang="en-US" dirty="0"/>
              <a:t>] </a:t>
            </a:r>
            <a:endParaRPr lang="en-US" dirty="0" smtClean="0"/>
          </a:p>
          <a:p>
            <a:r>
              <a:rPr lang="en-US" dirty="0" err="1" smtClean="0"/>
              <a:t>Trichloridotris</a:t>
            </a:r>
            <a:r>
              <a:rPr lang="en-US" dirty="0" smtClean="0"/>
              <a:t>(</a:t>
            </a:r>
            <a:r>
              <a:rPr lang="en-US" dirty="0" err="1" smtClean="0"/>
              <a:t>triphenylphosphine</a:t>
            </a:r>
            <a:r>
              <a:rPr lang="en-US" dirty="0" smtClean="0"/>
              <a:t>)ruthenium(III</a:t>
            </a:r>
            <a:r>
              <a:rPr lang="en-US" dirty="0"/>
              <a:t>) </a:t>
            </a:r>
            <a:endParaRPr lang="en-US" dirty="0" smtClean="0"/>
          </a:p>
          <a:p>
            <a:r>
              <a:rPr lang="en-US" dirty="0" smtClean="0"/>
              <a:t>Here </a:t>
            </a:r>
            <a:r>
              <a:rPr lang="en-US" dirty="0"/>
              <a:t>the coordination complex is neutral, so no spaces are necessary.</a:t>
            </a:r>
          </a:p>
          <a:p>
            <a:endParaRPr lang="en-US" dirty="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328212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tooltip="slide2"/>
              </a:rPr>
              <a:t>Rule 2:</a:t>
            </a:r>
            <a:endParaRPr lang="en-US" dirty="0"/>
          </a:p>
        </p:txBody>
      </p:sp>
      <p:sp>
        <p:nvSpPr>
          <p:cNvPr id="3" name="Content Placeholder 2"/>
          <p:cNvSpPr>
            <a:spLocks noGrp="1"/>
          </p:cNvSpPr>
          <p:nvPr>
            <p:ph idx="1"/>
          </p:nvPr>
        </p:nvSpPr>
        <p:spPr/>
        <p:txBody>
          <a:bodyPr>
            <a:normAutofit/>
          </a:bodyPr>
          <a:lstStyle/>
          <a:p>
            <a:endParaRPr lang="en-US" dirty="0"/>
          </a:p>
          <a:p>
            <a:r>
              <a:rPr lang="en-US" b="1" dirty="0" smtClean="0">
                <a:hlinkClick r:id="rId2" tooltip="slide2"/>
              </a:rPr>
              <a:t>The name </a:t>
            </a:r>
            <a:r>
              <a:rPr lang="en-US" b="1" dirty="0">
                <a:hlinkClick r:id="rId2" tooltip="slide2"/>
              </a:rPr>
              <a:t>of the coordination compound (neutral,</a:t>
            </a:r>
            <a:r>
              <a:rPr lang="en-US" dirty="0"/>
              <a:t> cationic or anionic) begins with the names of the ligands. </a:t>
            </a:r>
            <a:endParaRPr lang="en-US" dirty="0" smtClean="0"/>
          </a:p>
          <a:p>
            <a:r>
              <a:rPr lang="en-US" dirty="0" smtClean="0"/>
              <a:t>The </a:t>
            </a:r>
            <a:r>
              <a:rPr lang="en-US" dirty="0"/>
              <a:t>metal is listed next, following in parentheses by the oxidation state of the metal. </a:t>
            </a:r>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394437636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 3:</a:t>
            </a:r>
          </a:p>
        </p:txBody>
      </p:sp>
      <p:sp>
        <p:nvSpPr>
          <p:cNvPr id="3" name="Content Placeholder 2"/>
          <p:cNvSpPr>
            <a:spLocks noGrp="1"/>
          </p:cNvSpPr>
          <p:nvPr>
            <p:ph idx="1"/>
          </p:nvPr>
        </p:nvSpPr>
        <p:spPr/>
        <p:txBody>
          <a:bodyPr>
            <a:normAutofit fontScale="92500" lnSpcReduction="10000"/>
          </a:bodyPr>
          <a:lstStyle/>
          <a:p>
            <a:r>
              <a:rPr lang="en-US" dirty="0" smtClean="0"/>
              <a:t>When </a:t>
            </a:r>
            <a:r>
              <a:rPr lang="en-US" dirty="0"/>
              <a:t>more than one of a given ligand is bound to the same metal atom or ion, the number of such ligands is designated by the following prefixes: 2 di 6 </a:t>
            </a:r>
            <a:r>
              <a:rPr lang="en-US" dirty="0" err="1"/>
              <a:t>hexa</a:t>
            </a:r>
            <a:r>
              <a:rPr lang="en-US" dirty="0"/>
              <a:t> 10 </a:t>
            </a:r>
            <a:r>
              <a:rPr lang="en-US" dirty="0" err="1"/>
              <a:t>deca</a:t>
            </a:r>
            <a:r>
              <a:rPr lang="en-US" dirty="0"/>
              <a:t> 3 tri 7 </a:t>
            </a:r>
            <a:r>
              <a:rPr lang="en-US" dirty="0" err="1"/>
              <a:t>hepta</a:t>
            </a:r>
            <a:r>
              <a:rPr lang="en-US" dirty="0"/>
              <a:t> 11 </a:t>
            </a:r>
            <a:r>
              <a:rPr lang="en-US" dirty="0" err="1"/>
              <a:t>undeca</a:t>
            </a:r>
            <a:r>
              <a:rPr lang="en-US" dirty="0"/>
              <a:t> 4 tetra 8 </a:t>
            </a:r>
            <a:r>
              <a:rPr lang="en-US" dirty="0" err="1"/>
              <a:t>octa</a:t>
            </a:r>
            <a:r>
              <a:rPr lang="en-US" dirty="0"/>
              <a:t> 12 </a:t>
            </a:r>
            <a:r>
              <a:rPr lang="en-US" dirty="0" err="1"/>
              <a:t>dodeca</a:t>
            </a:r>
            <a:r>
              <a:rPr lang="en-US" dirty="0"/>
              <a:t> 5 </a:t>
            </a:r>
            <a:r>
              <a:rPr lang="en-US" dirty="0" err="1"/>
              <a:t>penta</a:t>
            </a:r>
            <a:r>
              <a:rPr lang="en-US" dirty="0"/>
              <a:t> 9 </a:t>
            </a:r>
            <a:r>
              <a:rPr lang="en-US" dirty="0" err="1"/>
              <a:t>nona</a:t>
            </a:r>
            <a:r>
              <a:rPr lang="en-US" dirty="0"/>
              <a:t> </a:t>
            </a:r>
            <a:endParaRPr lang="en-US" dirty="0" smtClean="0"/>
          </a:p>
          <a:p>
            <a:r>
              <a:rPr lang="en-US" dirty="0" smtClean="0"/>
              <a:t>However</a:t>
            </a:r>
            <a:r>
              <a:rPr lang="en-US" dirty="0"/>
              <a:t>, when the name of the ligand in question already contains one of these prefixes </a:t>
            </a:r>
            <a:r>
              <a:rPr lang="en-US" dirty="0" smtClean="0"/>
              <a:t>then </a:t>
            </a:r>
            <a:r>
              <a:rPr lang="en-US" dirty="0"/>
              <a:t>a prefix from the following list is used instead: 2 </a:t>
            </a:r>
            <a:r>
              <a:rPr lang="en-US" dirty="0" err="1"/>
              <a:t>bis</a:t>
            </a:r>
            <a:r>
              <a:rPr lang="en-US" dirty="0"/>
              <a:t> 3 </a:t>
            </a:r>
            <a:r>
              <a:rPr lang="en-US" dirty="0" err="1"/>
              <a:t>tris</a:t>
            </a:r>
            <a:r>
              <a:rPr lang="en-US" dirty="0"/>
              <a:t> 4 </a:t>
            </a:r>
            <a:r>
              <a:rPr lang="en-US" dirty="0" err="1"/>
              <a:t>tetrakis</a:t>
            </a:r>
            <a:r>
              <a:rPr lang="en-US" dirty="0"/>
              <a:t> 5 </a:t>
            </a:r>
            <a:r>
              <a:rPr lang="en-US" dirty="0" err="1"/>
              <a:t>pentakis</a:t>
            </a:r>
            <a:r>
              <a:rPr lang="en-US" dirty="0"/>
              <a:t> 6 </a:t>
            </a:r>
            <a:r>
              <a:rPr lang="en-US" dirty="0" err="1"/>
              <a:t>hexakis</a:t>
            </a:r>
            <a:r>
              <a:rPr lang="en-US" dirty="0"/>
              <a:t> 7 </a:t>
            </a:r>
            <a:r>
              <a:rPr lang="en-US" dirty="0" err="1"/>
              <a:t>heptakis</a:t>
            </a:r>
            <a:r>
              <a:rPr lang="en-US" dirty="0"/>
              <a:t> 8 </a:t>
            </a:r>
            <a:r>
              <a:rPr lang="en-US" dirty="0" err="1"/>
              <a:t>octakis</a:t>
            </a:r>
            <a:r>
              <a:rPr lang="en-US" dirty="0"/>
              <a:t> 9 </a:t>
            </a:r>
            <a:r>
              <a:rPr lang="en-US" dirty="0" err="1"/>
              <a:t>ennea</a:t>
            </a:r>
            <a:endParaRPr lang="en-US" dirty="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159470995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tooltip="slide3"/>
              </a:rPr>
              <a:t>Rule 4:</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hlinkClick r:id="rId2" tooltip="slide3"/>
              </a:rPr>
              <a:t>Neutral </a:t>
            </a:r>
            <a:r>
              <a:rPr lang="en-US" b="1" dirty="0">
                <a:hlinkClick r:id="rId2" tooltip="slide3"/>
              </a:rPr>
              <a:t>ligands are given the same name as the</a:t>
            </a:r>
            <a:r>
              <a:rPr lang="en-US" dirty="0"/>
              <a:t> uncoordinated molecule, but with spaces omitted. </a:t>
            </a:r>
            <a:endParaRPr lang="en-US" dirty="0" smtClean="0"/>
          </a:p>
          <a:p>
            <a:r>
              <a:rPr lang="en-US" dirty="0" smtClean="0"/>
              <a:t>Some </a:t>
            </a:r>
            <a:r>
              <a:rPr lang="en-US" dirty="0"/>
              <a:t>examples are: </a:t>
            </a:r>
            <a:endParaRPr lang="en-US" dirty="0" smtClean="0"/>
          </a:p>
          <a:p>
            <a:r>
              <a:rPr lang="en-US" dirty="0" smtClean="0"/>
              <a:t>(</a:t>
            </a:r>
            <a:r>
              <a:rPr lang="en-US" dirty="0"/>
              <a:t>CH</a:t>
            </a:r>
            <a:r>
              <a:rPr lang="en-US" baseline="-25000" dirty="0"/>
              <a:t>3</a:t>
            </a:r>
            <a:r>
              <a:rPr lang="en-US" dirty="0"/>
              <a:t>)</a:t>
            </a:r>
            <a:r>
              <a:rPr lang="en-US" baseline="-25000" dirty="0"/>
              <a:t>3</a:t>
            </a:r>
            <a:r>
              <a:rPr lang="en-US" dirty="0"/>
              <a:t>SO </a:t>
            </a:r>
            <a:r>
              <a:rPr lang="en-US" dirty="0" err="1"/>
              <a:t>dimethylsulfoxide</a:t>
            </a:r>
            <a:r>
              <a:rPr lang="en-US" dirty="0"/>
              <a:t> (DMSO) </a:t>
            </a:r>
            <a:endParaRPr lang="en-US" dirty="0" smtClean="0"/>
          </a:p>
          <a:p>
            <a:r>
              <a:rPr lang="en-US" dirty="0" smtClean="0"/>
              <a:t>(</a:t>
            </a:r>
            <a:r>
              <a:rPr lang="en-US" dirty="0"/>
              <a:t>NH</a:t>
            </a:r>
            <a:r>
              <a:rPr lang="en-US" baseline="-25000" dirty="0"/>
              <a:t>2</a:t>
            </a:r>
            <a:r>
              <a:rPr lang="en-US" dirty="0"/>
              <a:t>)</a:t>
            </a:r>
            <a:r>
              <a:rPr lang="en-US" baseline="-25000" dirty="0"/>
              <a:t>2</a:t>
            </a:r>
            <a:r>
              <a:rPr lang="en-US" dirty="0"/>
              <a:t>CO urea </a:t>
            </a:r>
            <a:endParaRPr lang="en-US" dirty="0" smtClean="0"/>
          </a:p>
          <a:p>
            <a:r>
              <a:rPr lang="en-US" dirty="0" smtClean="0"/>
              <a:t>C</a:t>
            </a:r>
            <a:r>
              <a:rPr lang="en-US" baseline="-25000" dirty="0" smtClean="0"/>
              <a:t>5</a:t>
            </a:r>
            <a:r>
              <a:rPr lang="en-US" dirty="0" smtClean="0"/>
              <a:t>H</a:t>
            </a:r>
            <a:r>
              <a:rPr lang="en-US" baseline="-25000" dirty="0" smtClean="0"/>
              <a:t>5</a:t>
            </a:r>
            <a:r>
              <a:rPr lang="en-US" dirty="0" smtClean="0"/>
              <a:t>N </a:t>
            </a:r>
            <a:r>
              <a:rPr lang="en-US" dirty="0"/>
              <a:t>pyridine </a:t>
            </a:r>
            <a:endParaRPr lang="en-US" dirty="0" smtClean="0"/>
          </a:p>
          <a:p>
            <a:r>
              <a:rPr lang="en-US" dirty="0" err="1" smtClean="0"/>
              <a:t>terpy</a:t>
            </a:r>
            <a:r>
              <a:rPr lang="en-US" dirty="0" smtClean="0"/>
              <a:t> </a:t>
            </a:r>
            <a:r>
              <a:rPr lang="en-US" dirty="0" err="1"/>
              <a:t>terpyridine</a:t>
            </a:r>
            <a:r>
              <a:rPr lang="en-US" dirty="0"/>
              <a:t> </a:t>
            </a:r>
            <a:r>
              <a:rPr lang="en-US" dirty="0" err="1"/>
              <a:t>bpy</a:t>
            </a:r>
            <a:r>
              <a:rPr lang="en-US" dirty="0"/>
              <a:t> 2,2’- </a:t>
            </a:r>
            <a:r>
              <a:rPr lang="en-US" dirty="0" err="1"/>
              <a:t>bipyridine</a:t>
            </a:r>
            <a:r>
              <a:rPr lang="en-US" dirty="0"/>
              <a:t> en </a:t>
            </a:r>
            <a:r>
              <a:rPr lang="en-US" dirty="0" err="1"/>
              <a:t>ethylenediamine</a:t>
            </a:r>
            <a:r>
              <a:rPr lang="en-US" dirty="0"/>
              <a:t> </a:t>
            </a:r>
            <a:endParaRPr lang="en-US" dirty="0" smtClean="0"/>
          </a:p>
          <a:p>
            <a:r>
              <a:rPr lang="en-US" dirty="0" smtClean="0"/>
              <a:t>PCl</a:t>
            </a:r>
            <a:r>
              <a:rPr lang="en-US" baseline="-25000" dirty="0" smtClean="0"/>
              <a:t>3</a:t>
            </a:r>
            <a:r>
              <a:rPr lang="en-US" dirty="0" smtClean="0"/>
              <a:t> </a:t>
            </a:r>
            <a:r>
              <a:rPr lang="en-US" dirty="0" err="1"/>
              <a:t>trichlorophosphine</a:t>
            </a:r>
            <a:r>
              <a:rPr lang="en-US" dirty="0"/>
              <a:t> PPh</a:t>
            </a:r>
            <a:r>
              <a:rPr lang="en-US" baseline="-25000" dirty="0"/>
              <a:t>3</a:t>
            </a:r>
            <a:r>
              <a:rPr lang="en-US" dirty="0"/>
              <a:t> </a:t>
            </a:r>
            <a:r>
              <a:rPr lang="en-US" dirty="0" err="1" smtClean="0"/>
              <a:t>triphenylphopshine</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9083301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EXCEPTIONS: </a:t>
            </a:r>
            <a:endParaRPr lang="en-US" dirty="0" smtClean="0"/>
          </a:p>
          <a:p>
            <a:r>
              <a:rPr lang="en-US" dirty="0" smtClean="0"/>
              <a:t>Some </a:t>
            </a:r>
            <a:r>
              <a:rPr lang="en-US" dirty="0"/>
              <a:t>neutral molecules, when serving as ligands are given special names. </a:t>
            </a:r>
            <a:endParaRPr lang="en-US" dirty="0" smtClean="0"/>
          </a:p>
          <a:p>
            <a:r>
              <a:rPr lang="en-US" dirty="0" smtClean="0"/>
              <a:t>These </a:t>
            </a:r>
            <a:r>
              <a:rPr lang="en-US" dirty="0"/>
              <a:t>are: NH</a:t>
            </a:r>
            <a:r>
              <a:rPr lang="en-US" baseline="-25000" dirty="0"/>
              <a:t>3</a:t>
            </a:r>
            <a:r>
              <a:rPr lang="en-US" dirty="0"/>
              <a:t> ammine </a:t>
            </a:r>
            <a:endParaRPr lang="en-US" dirty="0" smtClean="0"/>
          </a:p>
          <a:p>
            <a:r>
              <a:rPr lang="en-US" dirty="0" smtClean="0"/>
              <a:t>H</a:t>
            </a:r>
            <a:r>
              <a:rPr lang="en-US" baseline="-25000" dirty="0" smtClean="0"/>
              <a:t>2</a:t>
            </a:r>
            <a:r>
              <a:rPr lang="en-US" dirty="0" smtClean="0"/>
              <a:t>O </a:t>
            </a:r>
            <a:r>
              <a:rPr lang="en-US" dirty="0"/>
              <a:t>aqua </a:t>
            </a:r>
            <a:endParaRPr lang="en-US" dirty="0" smtClean="0"/>
          </a:p>
          <a:p>
            <a:r>
              <a:rPr lang="en-US" dirty="0" smtClean="0"/>
              <a:t>NO </a:t>
            </a:r>
            <a:r>
              <a:rPr lang="en-US" dirty="0" err="1"/>
              <a:t>nitrosyl</a:t>
            </a:r>
            <a:r>
              <a:rPr lang="en-US" dirty="0"/>
              <a:t> </a:t>
            </a:r>
            <a:endParaRPr lang="en-US" dirty="0" smtClean="0"/>
          </a:p>
          <a:p>
            <a:r>
              <a:rPr lang="en-US" dirty="0" smtClean="0"/>
              <a:t>CO </a:t>
            </a:r>
            <a:r>
              <a:rPr lang="en-US" dirty="0"/>
              <a:t>carbonyl </a:t>
            </a:r>
            <a:endParaRPr lang="en-US" dirty="0" smtClean="0"/>
          </a:p>
          <a:p>
            <a:r>
              <a:rPr lang="en-US" dirty="0" smtClean="0"/>
              <a:t>CS </a:t>
            </a:r>
            <a:r>
              <a:rPr lang="en-US" dirty="0" err="1"/>
              <a:t>thiocarbonyl</a:t>
            </a:r>
            <a:endParaRPr lang="en-US" dirty="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2809380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tooltip="slide4"/>
              </a:rPr>
              <a:t>Rule 5:</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hlinkClick r:id="rId2" tooltip="slide4"/>
              </a:rPr>
              <a:t>Anionic </a:t>
            </a:r>
            <a:r>
              <a:rPr lang="en-US" b="1" dirty="0">
                <a:hlinkClick r:id="rId2" tooltip="slide4"/>
              </a:rPr>
              <a:t>ligands are given names that end in the</a:t>
            </a:r>
            <a:r>
              <a:rPr lang="en-US" dirty="0"/>
              <a:t> letter </a:t>
            </a:r>
            <a:r>
              <a:rPr lang="en-US" dirty="0" smtClean="0"/>
              <a:t>“</a:t>
            </a:r>
            <a:r>
              <a:rPr lang="en-US" dirty="0" err="1" smtClean="0"/>
              <a:t>ido</a:t>
            </a:r>
            <a:r>
              <a:rPr lang="en-US" dirty="0"/>
              <a:t>”. </a:t>
            </a:r>
            <a:endParaRPr lang="en-US" dirty="0" smtClean="0"/>
          </a:p>
          <a:p>
            <a:r>
              <a:rPr lang="en-US" dirty="0" smtClean="0"/>
              <a:t>When </a:t>
            </a:r>
            <a:r>
              <a:rPr lang="en-US" dirty="0"/>
              <a:t>the name of the free, uncoordinated anion ends in “ate”, the ligand name is changed to end in “</a:t>
            </a:r>
            <a:r>
              <a:rPr lang="en-US" dirty="0" err="1"/>
              <a:t>ato</a:t>
            </a:r>
            <a:r>
              <a:rPr lang="en-US" dirty="0"/>
              <a:t>”. </a:t>
            </a:r>
            <a:endParaRPr lang="en-US" dirty="0" smtClean="0"/>
          </a:p>
          <a:p>
            <a:r>
              <a:rPr lang="en-US" dirty="0" smtClean="0"/>
              <a:t>Some </a:t>
            </a:r>
            <a:r>
              <a:rPr lang="en-US" dirty="0"/>
              <a:t>examples are : </a:t>
            </a:r>
            <a:endParaRPr lang="en-US" dirty="0" smtClean="0"/>
          </a:p>
          <a:p>
            <a:r>
              <a:rPr lang="en-US" dirty="0" smtClean="0"/>
              <a:t>CH</a:t>
            </a:r>
            <a:r>
              <a:rPr lang="en-US" baseline="-25000" dirty="0" smtClean="0"/>
              <a:t>3</a:t>
            </a:r>
            <a:r>
              <a:rPr lang="en-US" dirty="0" smtClean="0"/>
              <a:t>CO</a:t>
            </a:r>
            <a:r>
              <a:rPr lang="en-US" baseline="30000" dirty="0" smtClean="0"/>
              <a:t>2-</a:t>
            </a:r>
            <a:r>
              <a:rPr lang="en-US" dirty="0" smtClean="0"/>
              <a:t> </a:t>
            </a:r>
            <a:r>
              <a:rPr lang="en-US" dirty="0"/>
              <a:t>(acetate) </a:t>
            </a:r>
            <a:r>
              <a:rPr lang="en-US" dirty="0" err="1"/>
              <a:t>acetato</a:t>
            </a:r>
            <a:r>
              <a:rPr lang="en-US" dirty="0"/>
              <a:t> </a:t>
            </a:r>
            <a:endParaRPr lang="en-US" dirty="0" smtClean="0"/>
          </a:p>
          <a:p>
            <a:r>
              <a:rPr lang="en-US" dirty="0" smtClean="0"/>
              <a:t>SO</a:t>
            </a:r>
            <a:r>
              <a:rPr lang="en-US" baseline="-25000" dirty="0" smtClean="0"/>
              <a:t>4</a:t>
            </a:r>
            <a:r>
              <a:rPr lang="en-US" baseline="30000" dirty="0" smtClean="0"/>
              <a:t>2-</a:t>
            </a:r>
            <a:r>
              <a:rPr lang="en-US" dirty="0" smtClean="0"/>
              <a:t> </a:t>
            </a:r>
            <a:r>
              <a:rPr lang="en-US" dirty="0"/>
              <a:t>(sulfate) </a:t>
            </a:r>
            <a:r>
              <a:rPr lang="en-US" dirty="0" err="1"/>
              <a:t>sulfato</a:t>
            </a:r>
            <a:r>
              <a:rPr lang="en-US" dirty="0"/>
              <a:t> </a:t>
            </a:r>
            <a:endParaRPr lang="en-US" dirty="0" smtClean="0"/>
          </a:p>
          <a:p>
            <a:r>
              <a:rPr lang="en-US" dirty="0" smtClean="0"/>
              <a:t>CO</a:t>
            </a:r>
            <a:r>
              <a:rPr lang="en-US" baseline="-25000" dirty="0" smtClean="0"/>
              <a:t>3</a:t>
            </a:r>
            <a:r>
              <a:rPr lang="en-US" baseline="30000" dirty="0" smtClean="0"/>
              <a:t>2-</a:t>
            </a:r>
            <a:r>
              <a:rPr lang="en-US" dirty="0" smtClean="0"/>
              <a:t> </a:t>
            </a:r>
            <a:r>
              <a:rPr lang="en-US" dirty="0"/>
              <a:t>(carbonate) </a:t>
            </a:r>
            <a:r>
              <a:rPr lang="en-US" dirty="0" err="1"/>
              <a:t>carbonato</a:t>
            </a:r>
            <a:r>
              <a:rPr lang="en-US" dirty="0"/>
              <a:t> </a:t>
            </a:r>
            <a:endParaRPr lang="en-US" dirty="0" smtClean="0"/>
          </a:p>
          <a:p>
            <a:r>
              <a:rPr lang="en-US" dirty="0" err="1" smtClean="0"/>
              <a:t>acac</a:t>
            </a:r>
            <a:r>
              <a:rPr lang="en-US" dirty="0" smtClean="0"/>
              <a:t> </a:t>
            </a:r>
            <a:r>
              <a:rPr lang="en-US" dirty="0" err="1"/>
              <a:t>acetylacetonato</a:t>
            </a:r>
            <a:r>
              <a:rPr lang="en-US" dirty="0"/>
              <a:t> When the name of the free, uncoordinated anion ends in “ide”, the ligand name is changed to end in “</a:t>
            </a:r>
            <a:r>
              <a:rPr lang="en-US" dirty="0" err="1"/>
              <a:t>ido</a:t>
            </a:r>
            <a:r>
              <a:rPr lang="en-US" dirty="0"/>
              <a:t>”. </a:t>
            </a:r>
            <a:endParaRPr lang="en-US" dirty="0" smtClean="0"/>
          </a:p>
          <a:p>
            <a:r>
              <a:rPr lang="en-US" dirty="0" smtClean="0"/>
              <a:t>Some </a:t>
            </a:r>
            <a:r>
              <a:rPr lang="en-US" dirty="0"/>
              <a:t>examples are: N</a:t>
            </a:r>
            <a:r>
              <a:rPr lang="en-US" baseline="30000" dirty="0"/>
              <a:t>3-</a:t>
            </a:r>
            <a:r>
              <a:rPr lang="en-US" dirty="0"/>
              <a:t> (nitride) </a:t>
            </a:r>
            <a:r>
              <a:rPr lang="en-US" dirty="0" err="1" smtClean="0"/>
              <a:t>nitrido</a:t>
            </a:r>
            <a:r>
              <a:rPr lang="en-US" dirty="0" smtClean="0"/>
              <a:t> </a:t>
            </a:r>
          </a:p>
          <a:p>
            <a:r>
              <a:rPr lang="en-US" dirty="0" smtClean="0"/>
              <a:t>N</a:t>
            </a:r>
            <a:r>
              <a:rPr lang="en-US" baseline="-25000" dirty="0" smtClean="0"/>
              <a:t>3</a:t>
            </a:r>
            <a:r>
              <a:rPr lang="en-US" baseline="30000" dirty="0" smtClean="0"/>
              <a:t>-</a:t>
            </a:r>
            <a:r>
              <a:rPr lang="en-US" dirty="0" smtClean="0"/>
              <a:t> </a:t>
            </a:r>
            <a:r>
              <a:rPr lang="en-US" dirty="0"/>
              <a:t>(</a:t>
            </a:r>
            <a:r>
              <a:rPr lang="en-US" dirty="0" err="1"/>
              <a:t>azide</a:t>
            </a:r>
            <a:r>
              <a:rPr lang="en-US" dirty="0"/>
              <a:t>) </a:t>
            </a:r>
            <a:r>
              <a:rPr lang="en-US" dirty="0" err="1"/>
              <a:t>azido</a:t>
            </a:r>
            <a:r>
              <a:rPr lang="en-US" dirty="0"/>
              <a:t> </a:t>
            </a:r>
            <a:endParaRPr lang="en-US" dirty="0" smtClean="0"/>
          </a:p>
          <a:p>
            <a:r>
              <a:rPr lang="en-US" dirty="0" smtClean="0"/>
              <a:t>NH</a:t>
            </a:r>
            <a:r>
              <a:rPr lang="en-US" baseline="-25000" dirty="0" smtClean="0"/>
              <a:t>2</a:t>
            </a:r>
            <a:r>
              <a:rPr lang="en-US" baseline="30000" dirty="0" smtClean="0"/>
              <a:t>-</a:t>
            </a:r>
            <a:r>
              <a:rPr lang="en-US" dirty="0" smtClean="0"/>
              <a:t> </a:t>
            </a:r>
            <a:r>
              <a:rPr lang="en-US" dirty="0"/>
              <a:t>(amide) </a:t>
            </a:r>
            <a:r>
              <a:rPr lang="en-US" dirty="0" err="1"/>
              <a:t>amido</a:t>
            </a:r>
            <a:r>
              <a:rPr lang="en-US" dirty="0"/>
              <a:t> </a:t>
            </a:r>
            <a:endParaRPr lang="en-US" dirty="0" smtClean="0"/>
          </a:p>
          <a:p>
            <a:r>
              <a:rPr lang="en-US" dirty="0" smtClean="0"/>
              <a:t>(</a:t>
            </a:r>
            <a:r>
              <a:rPr lang="en-US" dirty="0"/>
              <a:t>CH</a:t>
            </a:r>
            <a:r>
              <a:rPr lang="en-US" baseline="-25000" dirty="0"/>
              <a:t>3</a:t>
            </a:r>
            <a:r>
              <a:rPr lang="en-US" dirty="0"/>
              <a:t>)</a:t>
            </a:r>
            <a:r>
              <a:rPr lang="en-US" baseline="-25000" dirty="0"/>
              <a:t>2</a:t>
            </a:r>
            <a:r>
              <a:rPr lang="en-US" dirty="0"/>
              <a:t>N</a:t>
            </a:r>
            <a:r>
              <a:rPr lang="en-US" baseline="30000" dirty="0"/>
              <a:t>-</a:t>
            </a:r>
            <a:r>
              <a:rPr lang="en-US" dirty="0"/>
              <a:t> (</a:t>
            </a:r>
            <a:r>
              <a:rPr lang="en-US" dirty="0" err="1"/>
              <a:t>dimethylamide</a:t>
            </a:r>
            <a:r>
              <a:rPr lang="en-US" dirty="0"/>
              <a:t>) </a:t>
            </a:r>
            <a:r>
              <a:rPr lang="en-US" dirty="0" err="1"/>
              <a:t>dimethylamido</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394993656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62500" lnSpcReduction="20000"/>
          </a:bodyPr>
          <a:lstStyle/>
          <a:p>
            <a:r>
              <a:rPr lang="en-US" b="1" dirty="0">
                <a:hlinkClick r:id="rId2" tooltip="slide5"/>
              </a:rPr>
              <a:t>When the name of the free, uncoordinated anion ends in</a:t>
            </a:r>
            <a:r>
              <a:rPr lang="en-US" dirty="0"/>
              <a:t> “</a:t>
            </a:r>
            <a:r>
              <a:rPr lang="en-US" dirty="0" err="1"/>
              <a:t>ite</a:t>
            </a:r>
            <a:r>
              <a:rPr lang="en-US" dirty="0"/>
              <a:t>”, the ligand name is changed to end in “</a:t>
            </a:r>
            <a:r>
              <a:rPr lang="en-US" dirty="0" err="1"/>
              <a:t>ito</a:t>
            </a:r>
            <a:r>
              <a:rPr lang="en-US" dirty="0"/>
              <a:t>”. </a:t>
            </a:r>
            <a:endParaRPr lang="en-US" dirty="0" smtClean="0"/>
          </a:p>
          <a:p>
            <a:r>
              <a:rPr lang="en-US" dirty="0" smtClean="0"/>
              <a:t>Some </a:t>
            </a:r>
            <a:r>
              <a:rPr lang="en-US" dirty="0"/>
              <a:t>examples are: NO</a:t>
            </a:r>
            <a:r>
              <a:rPr lang="en-US" baseline="-25000" dirty="0"/>
              <a:t>2</a:t>
            </a:r>
            <a:r>
              <a:rPr lang="en-US" baseline="30000" dirty="0"/>
              <a:t>-</a:t>
            </a:r>
            <a:r>
              <a:rPr lang="en-US" dirty="0"/>
              <a:t> (nitrite) </a:t>
            </a:r>
            <a:r>
              <a:rPr lang="en-US" dirty="0" err="1" smtClean="0"/>
              <a:t>nitrito</a:t>
            </a:r>
            <a:endParaRPr lang="en-US" dirty="0" smtClean="0"/>
          </a:p>
          <a:p>
            <a:r>
              <a:rPr lang="en-US" dirty="0"/>
              <a:t>SO</a:t>
            </a:r>
            <a:r>
              <a:rPr lang="en-US" baseline="-25000" dirty="0"/>
              <a:t>3</a:t>
            </a:r>
            <a:r>
              <a:rPr lang="en-US" baseline="30000" dirty="0"/>
              <a:t>2-</a:t>
            </a:r>
            <a:r>
              <a:rPr lang="en-US" dirty="0"/>
              <a:t> (sulfite) </a:t>
            </a:r>
            <a:r>
              <a:rPr lang="en-US" dirty="0" err="1"/>
              <a:t>sulfito</a:t>
            </a:r>
            <a:r>
              <a:rPr lang="en-US" dirty="0"/>
              <a:t> </a:t>
            </a:r>
            <a:endParaRPr lang="en-US" dirty="0" smtClean="0"/>
          </a:p>
          <a:p>
            <a:r>
              <a:rPr lang="en-US" dirty="0" smtClean="0"/>
              <a:t>ClO</a:t>
            </a:r>
            <a:r>
              <a:rPr lang="en-US" baseline="-25000" dirty="0" smtClean="0"/>
              <a:t>2</a:t>
            </a:r>
            <a:r>
              <a:rPr lang="en-US" baseline="30000" dirty="0" smtClean="0"/>
              <a:t>-</a:t>
            </a:r>
            <a:r>
              <a:rPr lang="en-US" dirty="0" smtClean="0"/>
              <a:t> </a:t>
            </a:r>
            <a:r>
              <a:rPr lang="en-US" dirty="0"/>
              <a:t>(chlorite) </a:t>
            </a:r>
            <a:r>
              <a:rPr lang="en-US" dirty="0" err="1"/>
              <a:t>chlorito</a:t>
            </a:r>
            <a:r>
              <a:rPr lang="en-US" dirty="0"/>
              <a:t> </a:t>
            </a:r>
            <a:endParaRPr lang="en-US" dirty="0" smtClean="0"/>
          </a:p>
          <a:p>
            <a:r>
              <a:rPr lang="en-US" dirty="0" smtClean="0"/>
              <a:t>Certain </a:t>
            </a:r>
            <a:r>
              <a:rPr lang="en-US" dirty="0"/>
              <a:t>anionic ligands are given special names, all ending in </a:t>
            </a:r>
            <a:r>
              <a:rPr lang="en-US" dirty="0" smtClean="0"/>
              <a:t>“</a:t>
            </a:r>
            <a:r>
              <a:rPr lang="en-US" dirty="0" err="1" smtClean="0"/>
              <a:t>ido</a:t>
            </a:r>
            <a:r>
              <a:rPr lang="en-US" dirty="0"/>
              <a:t>”: CN- </a:t>
            </a:r>
            <a:r>
              <a:rPr lang="en-US" dirty="0" err="1" smtClean="0"/>
              <a:t>cyanido</a:t>
            </a:r>
            <a:r>
              <a:rPr lang="en-US" dirty="0" smtClean="0"/>
              <a:t> </a:t>
            </a:r>
            <a:r>
              <a:rPr lang="en-US" dirty="0"/>
              <a:t>F- </a:t>
            </a:r>
            <a:r>
              <a:rPr lang="en-US" dirty="0" err="1" smtClean="0"/>
              <a:t>fluorido</a:t>
            </a:r>
            <a:endParaRPr lang="en-US" dirty="0" smtClean="0"/>
          </a:p>
          <a:p>
            <a:r>
              <a:rPr lang="en-US" dirty="0" smtClean="0"/>
              <a:t> </a:t>
            </a:r>
            <a:r>
              <a:rPr lang="en-US" dirty="0" err="1"/>
              <a:t>Cl</a:t>
            </a:r>
            <a:r>
              <a:rPr lang="en-US" dirty="0"/>
              <a:t>- </a:t>
            </a:r>
            <a:r>
              <a:rPr lang="en-US" dirty="0" err="1" smtClean="0"/>
              <a:t>chlorido</a:t>
            </a:r>
            <a:r>
              <a:rPr lang="en-US" dirty="0" smtClean="0"/>
              <a:t> </a:t>
            </a:r>
          </a:p>
          <a:p>
            <a:r>
              <a:rPr lang="en-US" dirty="0" smtClean="0"/>
              <a:t>Br- </a:t>
            </a:r>
            <a:r>
              <a:rPr lang="en-US" dirty="0" err="1" smtClean="0"/>
              <a:t>bromdido</a:t>
            </a:r>
            <a:r>
              <a:rPr lang="en-US" dirty="0" smtClean="0"/>
              <a:t> </a:t>
            </a:r>
          </a:p>
          <a:p>
            <a:r>
              <a:rPr lang="en-US" dirty="0" smtClean="0"/>
              <a:t>I- </a:t>
            </a:r>
            <a:r>
              <a:rPr lang="en-US" dirty="0" err="1" smtClean="0"/>
              <a:t>iodido</a:t>
            </a:r>
            <a:endParaRPr lang="en-US" dirty="0" smtClean="0"/>
          </a:p>
          <a:p>
            <a:r>
              <a:rPr lang="en-US" dirty="0" smtClean="0"/>
              <a:t>O</a:t>
            </a:r>
            <a:r>
              <a:rPr lang="en-US" baseline="30000" dirty="0" smtClean="0"/>
              <a:t>2-</a:t>
            </a:r>
            <a:r>
              <a:rPr lang="en-US" dirty="0" smtClean="0"/>
              <a:t> </a:t>
            </a:r>
            <a:r>
              <a:rPr lang="en-US" dirty="0" err="1" smtClean="0"/>
              <a:t>oxido</a:t>
            </a:r>
            <a:r>
              <a:rPr lang="en-US" dirty="0" smtClean="0"/>
              <a:t> </a:t>
            </a:r>
          </a:p>
          <a:p>
            <a:r>
              <a:rPr lang="en-US" dirty="0" smtClean="0"/>
              <a:t>O</a:t>
            </a:r>
            <a:r>
              <a:rPr lang="en-US" baseline="-25000" dirty="0" smtClean="0"/>
              <a:t>2</a:t>
            </a:r>
            <a:r>
              <a:rPr lang="en-US" baseline="30000" dirty="0" smtClean="0"/>
              <a:t>-</a:t>
            </a:r>
            <a:r>
              <a:rPr lang="en-US" dirty="0" smtClean="0"/>
              <a:t> </a:t>
            </a:r>
            <a:r>
              <a:rPr lang="en-US" dirty="0" err="1" smtClean="0"/>
              <a:t>superoxodo</a:t>
            </a:r>
            <a:r>
              <a:rPr lang="en-US" dirty="0" smtClean="0"/>
              <a:t> </a:t>
            </a:r>
          </a:p>
          <a:p>
            <a:r>
              <a:rPr lang="en-US" dirty="0" smtClean="0"/>
              <a:t>OH- </a:t>
            </a:r>
            <a:r>
              <a:rPr lang="en-US" dirty="0" err="1"/>
              <a:t>hydroxo</a:t>
            </a:r>
            <a:r>
              <a:rPr lang="en-US" dirty="0"/>
              <a:t> </a:t>
            </a:r>
            <a:endParaRPr lang="en-US" dirty="0" smtClean="0"/>
          </a:p>
          <a:p>
            <a:r>
              <a:rPr lang="en-US" dirty="0" smtClean="0"/>
              <a:t>H- </a:t>
            </a:r>
            <a:r>
              <a:rPr lang="en-US" dirty="0" err="1" smtClean="0"/>
              <a:t>hydridido</a:t>
            </a:r>
            <a:r>
              <a:rPr lang="en-US" dirty="0" smtClean="0"/>
              <a:t> </a:t>
            </a:r>
          </a:p>
          <a:p>
            <a:r>
              <a:rPr lang="en-US" dirty="0" smtClean="0"/>
              <a:t>CH</a:t>
            </a:r>
            <a:r>
              <a:rPr lang="en-US" baseline="-25000" dirty="0" smtClean="0"/>
              <a:t>3</a:t>
            </a:r>
            <a:r>
              <a:rPr lang="en-US" dirty="0" smtClean="0"/>
              <a:t>O</a:t>
            </a:r>
            <a:r>
              <a:rPr lang="en-US" baseline="30000" dirty="0" smtClean="0"/>
              <a:t>-</a:t>
            </a:r>
            <a:r>
              <a:rPr lang="en-US" dirty="0" smtClean="0"/>
              <a:t> </a:t>
            </a:r>
            <a:r>
              <a:rPr lang="en-US" dirty="0" err="1" smtClean="0"/>
              <a:t>methoxido</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28447211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tooltip="slide6"/>
              </a:rPr>
              <a:t>Rule 6:</a:t>
            </a:r>
            <a:endParaRPr lang="en-US" dirty="0"/>
          </a:p>
        </p:txBody>
      </p:sp>
      <p:sp>
        <p:nvSpPr>
          <p:cNvPr id="3" name="Content Placeholder 2"/>
          <p:cNvSpPr>
            <a:spLocks noGrp="1"/>
          </p:cNvSpPr>
          <p:nvPr>
            <p:ph idx="1"/>
          </p:nvPr>
        </p:nvSpPr>
        <p:spPr/>
        <p:txBody>
          <a:bodyPr>
            <a:normAutofit/>
          </a:bodyPr>
          <a:lstStyle/>
          <a:p>
            <a:r>
              <a:rPr lang="en-US" b="1" dirty="0" smtClean="0">
                <a:hlinkClick r:id="rId2" tooltip="slide6"/>
              </a:rPr>
              <a:t>The </a:t>
            </a:r>
            <a:r>
              <a:rPr lang="en-US" b="1" dirty="0">
                <a:hlinkClick r:id="rId2" tooltip="slide6"/>
              </a:rPr>
              <a:t>ligands are named alphabetically, ignoring the</a:t>
            </a:r>
            <a:r>
              <a:rPr lang="en-US" dirty="0"/>
              <a:t> prefixes </a:t>
            </a:r>
            <a:r>
              <a:rPr lang="en-US" dirty="0" err="1"/>
              <a:t>bis</a:t>
            </a:r>
            <a:r>
              <a:rPr lang="en-US" dirty="0"/>
              <a:t>, </a:t>
            </a:r>
            <a:r>
              <a:rPr lang="en-US" dirty="0" err="1"/>
              <a:t>tris</a:t>
            </a:r>
            <a:r>
              <a:rPr lang="en-US" dirty="0"/>
              <a:t>, etc… </a:t>
            </a:r>
            <a:endParaRPr lang="en-US" dirty="0" smtClean="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257856402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Rule 7:</a:t>
            </a:r>
          </a:p>
        </p:txBody>
      </p:sp>
      <p:sp>
        <p:nvSpPr>
          <p:cNvPr id="3" name="Content Placeholder 2"/>
          <p:cNvSpPr>
            <a:spLocks noGrp="1"/>
          </p:cNvSpPr>
          <p:nvPr>
            <p:ph idx="1"/>
          </p:nvPr>
        </p:nvSpPr>
        <p:spPr/>
        <p:txBody>
          <a:bodyPr>
            <a:normAutofit fontScale="62500" lnSpcReduction="20000"/>
          </a:bodyPr>
          <a:lstStyle/>
          <a:p>
            <a:r>
              <a:rPr lang="en-US" dirty="0" smtClean="0"/>
              <a:t>When </a:t>
            </a:r>
            <a:r>
              <a:rPr lang="en-US" dirty="0"/>
              <a:t>the coordination entity is either neutral or cationic, the usual name of the metal is used, followed in parentheses by the oxidation state of the metal. </a:t>
            </a:r>
            <a:endParaRPr lang="en-US" dirty="0" smtClean="0"/>
          </a:p>
          <a:p>
            <a:r>
              <a:rPr lang="en-US" dirty="0" smtClean="0"/>
              <a:t>However</a:t>
            </a:r>
            <a:r>
              <a:rPr lang="en-US" dirty="0"/>
              <a:t>, when the coordination entity is an anion, the name of the metal is altered to end in “ate”. </a:t>
            </a:r>
            <a:endParaRPr lang="en-US" dirty="0" smtClean="0"/>
          </a:p>
          <a:p>
            <a:r>
              <a:rPr lang="en-US" dirty="0" smtClean="0"/>
              <a:t>This </a:t>
            </a:r>
            <a:r>
              <a:rPr lang="en-US" dirty="0"/>
              <a:t>is done for some metals by simply changing the ending “</a:t>
            </a:r>
            <a:r>
              <a:rPr lang="en-US" dirty="0" err="1"/>
              <a:t>ium</a:t>
            </a:r>
            <a:r>
              <a:rPr lang="en-US" dirty="0"/>
              <a:t>” to “ate”: </a:t>
            </a:r>
            <a:endParaRPr lang="en-US" dirty="0" smtClean="0"/>
          </a:p>
          <a:p>
            <a:r>
              <a:rPr lang="en-US" dirty="0" smtClean="0"/>
              <a:t>Scandium </a:t>
            </a:r>
            <a:r>
              <a:rPr lang="en-US" dirty="0" err="1"/>
              <a:t>scandate</a:t>
            </a:r>
            <a:r>
              <a:rPr lang="en-US" dirty="0"/>
              <a:t> </a:t>
            </a:r>
            <a:endParaRPr lang="en-US" dirty="0" smtClean="0"/>
          </a:p>
          <a:p>
            <a:r>
              <a:rPr lang="en-US" dirty="0" smtClean="0"/>
              <a:t>Titanium </a:t>
            </a:r>
            <a:r>
              <a:rPr lang="en-US" dirty="0" err="1"/>
              <a:t>titanate</a:t>
            </a:r>
            <a:r>
              <a:rPr lang="en-US" dirty="0"/>
              <a:t> </a:t>
            </a:r>
            <a:endParaRPr lang="en-US" dirty="0" smtClean="0"/>
          </a:p>
          <a:p>
            <a:r>
              <a:rPr lang="en-US" dirty="0" smtClean="0"/>
              <a:t>Chromium </a:t>
            </a:r>
            <a:r>
              <a:rPr lang="en-US" dirty="0"/>
              <a:t>chromate </a:t>
            </a:r>
            <a:endParaRPr lang="en-US" dirty="0" smtClean="0"/>
          </a:p>
          <a:p>
            <a:r>
              <a:rPr lang="en-US" dirty="0" smtClean="0"/>
              <a:t>Zirconium </a:t>
            </a:r>
            <a:r>
              <a:rPr lang="en-US" dirty="0" err="1"/>
              <a:t>zirconate</a:t>
            </a:r>
            <a:r>
              <a:rPr lang="en-US" dirty="0"/>
              <a:t> </a:t>
            </a:r>
            <a:endParaRPr lang="en-US" dirty="0" smtClean="0"/>
          </a:p>
          <a:p>
            <a:r>
              <a:rPr lang="en-US" dirty="0" smtClean="0"/>
              <a:t>Niobium </a:t>
            </a:r>
            <a:r>
              <a:rPr lang="en-US" dirty="0" err="1"/>
              <a:t>niobate</a:t>
            </a:r>
            <a:r>
              <a:rPr lang="en-US" dirty="0"/>
              <a:t> </a:t>
            </a:r>
            <a:endParaRPr lang="en-US" dirty="0" smtClean="0"/>
          </a:p>
          <a:p>
            <a:r>
              <a:rPr lang="en-US" dirty="0" smtClean="0"/>
              <a:t>Ruthenium </a:t>
            </a:r>
            <a:r>
              <a:rPr lang="en-US" dirty="0" err="1"/>
              <a:t>ruthenate</a:t>
            </a:r>
            <a:r>
              <a:rPr lang="en-US" dirty="0"/>
              <a:t> </a:t>
            </a:r>
            <a:endParaRPr lang="en-US" dirty="0" smtClean="0"/>
          </a:p>
          <a:p>
            <a:r>
              <a:rPr lang="en-US" dirty="0" smtClean="0"/>
              <a:t>Palladium </a:t>
            </a:r>
            <a:r>
              <a:rPr lang="en-US" dirty="0" err="1"/>
              <a:t>palladate</a:t>
            </a:r>
            <a:r>
              <a:rPr lang="en-US" dirty="0"/>
              <a:t> </a:t>
            </a:r>
            <a:endParaRPr lang="en-US" dirty="0" smtClean="0"/>
          </a:p>
          <a:p>
            <a:r>
              <a:rPr lang="en-US" dirty="0" smtClean="0"/>
              <a:t>Rhenium </a:t>
            </a:r>
            <a:r>
              <a:rPr lang="en-US" dirty="0" err="1"/>
              <a:t>rhenate</a:t>
            </a:r>
            <a:endParaRPr lang="en-US" dirty="0"/>
          </a:p>
          <a:p>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119346117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b="1" dirty="0">
                <a:hlinkClick r:id="rId2" tooltip="slide7"/>
              </a:rPr>
              <a:t>For other metals, the name is given the ending “ate”:</a:t>
            </a:r>
            <a:r>
              <a:rPr lang="en-US" dirty="0"/>
              <a:t> </a:t>
            </a:r>
            <a:endParaRPr lang="en-US" dirty="0" smtClean="0"/>
          </a:p>
          <a:p>
            <a:r>
              <a:rPr lang="en-US" dirty="0" smtClean="0"/>
              <a:t>Manganese </a:t>
            </a:r>
            <a:r>
              <a:rPr lang="en-US" dirty="0" err="1"/>
              <a:t>manganate</a:t>
            </a:r>
            <a:r>
              <a:rPr lang="en-US" dirty="0"/>
              <a:t> </a:t>
            </a:r>
            <a:endParaRPr lang="en-US" dirty="0" smtClean="0"/>
          </a:p>
          <a:p>
            <a:r>
              <a:rPr lang="en-US" dirty="0" smtClean="0"/>
              <a:t>Cobalt </a:t>
            </a:r>
            <a:r>
              <a:rPr lang="en-US" dirty="0" err="1"/>
              <a:t>cobaltate</a:t>
            </a:r>
            <a:r>
              <a:rPr lang="en-US" dirty="0"/>
              <a:t> </a:t>
            </a:r>
            <a:endParaRPr lang="en-US" dirty="0" smtClean="0"/>
          </a:p>
          <a:p>
            <a:r>
              <a:rPr lang="en-US" dirty="0" smtClean="0"/>
              <a:t>Nickel </a:t>
            </a:r>
            <a:r>
              <a:rPr lang="en-US" dirty="0" err="1"/>
              <a:t>nickelate</a:t>
            </a:r>
            <a:r>
              <a:rPr lang="en-US" dirty="0"/>
              <a:t> </a:t>
            </a:r>
            <a:endParaRPr lang="en-US" dirty="0" smtClean="0"/>
          </a:p>
          <a:p>
            <a:r>
              <a:rPr lang="en-US" dirty="0" smtClean="0"/>
              <a:t>Tantalum </a:t>
            </a:r>
            <a:r>
              <a:rPr lang="en-US" dirty="0" err="1"/>
              <a:t>tantalate</a:t>
            </a:r>
            <a:r>
              <a:rPr lang="en-US" dirty="0"/>
              <a:t> Tungsten tungstate Platinum </a:t>
            </a:r>
            <a:r>
              <a:rPr lang="en-US" dirty="0" err="1"/>
              <a:t>platinate</a:t>
            </a:r>
            <a:r>
              <a:rPr lang="en-US" dirty="0"/>
              <a:t> </a:t>
            </a:r>
            <a:endParaRPr lang="en-US" dirty="0" smtClean="0"/>
          </a:p>
          <a:p>
            <a:r>
              <a:rPr lang="en-US" dirty="0" smtClean="0"/>
              <a:t>Finally</a:t>
            </a:r>
            <a:r>
              <a:rPr lang="en-US" dirty="0"/>
              <a:t>, the names of some metals are based on the Latin name of the element</a:t>
            </a:r>
            <a:r>
              <a:rPr lang="en-US" dirty="0" smtClean="0"/>
              <a:t>:</a:t>
            </a:r>
          </a:p>
          <a:p>
            <a:r>
              <a:rPr lang="en-US" dirty="0" smtClean="0"/>
              <a:t> </a:t>
            </a:r>
            <a:r>
              <a:rPr lang="en-US" dirty="0"/>
              <a:t>Iron ferrate </a:t>
            </a:r>
            <a:endParaRPr lang="en-US" dirty="0" smtClean="0"/>
          </a:p>
          <a:p>
            <a:r>
              <a:rPr lang="en-US" dirty="0" smtClean="0"/>
              <a:t>Copper </a:t>
            </a:r>
            <a:r>
              <a:rPr lang="en-US" dirty="0" err="1"/>
              <a:t>cuprate</a:t>
            </a:r>
            <a:r>
              <a:rPr lang="en-US" dirty="0"/>
              <a:t> </a:t>
            </a:r>
            <a:endParaRPr lang="en-US" dirty="0" smtClean="0"/>
          </a:p>
          <a:p>
            <a:r>
              <a:rPr lang="en-US" dirty="0" smtClean="0"/>
              <a:t>Silver </a:t>
            </a:r>
            <a:r>
              <a:rPr lang="en-US" dirty="0" err="1"/>
              <a:t>argentate</a:t>
            </a:r>
            <a:r>
              <a:rPr lang="en-US" dirty="0"/>
              <a:t> </a:t>
            </a:r>
            <a:endParaRPr lang="en-US" dirty="0" smtClean="0"/>
          </a:p>
          <a:p>
            <a:r>
              <a:rPr lang="en-US" dirty="0" smtClean="0"/>
              <a:t>Gold </a:t>
            </a:r>
            <a:r>
              <a:rPr lang="en-US" dirty="0" err="1"/>
              <a:t>aurate</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168434870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hlinkClick r:id="rId2" tooltip="slide8"/>
              </a:rPr>
              <a:t>Rule 8:</a:t>
            </a:r>
            <a:endParaRPr lang="en-US" dirty="0"/>
          </a:p>
        </p:txBody>
      </p:sp>
      <p:sp>
        <p:nvSpPr>
          <p:cNvPr id="3" name="Content Placeholder 2"/>
          <p:cNvSpPr>
            <a:spLocks noGrp="1"/>
          </p:cNvSpPr>
          <p:nvPr>
            <p:ph idx="1"/>
          </p:nvPr>
        </p:nvSpPr>
        <p:spPr/>
        <p:txBody>
          <a:bodyPr>
            <a:normAutofit fontScale="92500"/>
          </a:bodyPr>
          <a:lstStyle/>
          <a:p>
            <a:endParaRPr lang="en-US" b="1" dirty="0" smtClean="0"/>
          </a:p>
          <a:p>
            <a:r>
              <a:rPr lang="en-US" dirty="0" smtClean="0"/>
              <a:t>Bridging </a:t>
            </a:r>
            <a:r>
              <a:rPr lang="en-US" dirty="0"/>
              <a:t>ligands are designated with the prefix - . When there are two bridging ligands of the same kind, the prefix </a:t>
            </a:r>
            <a:r>
              <a:rPr lang="en-US" dirty="0" smtClean="0"/>
              <a:t>di-µ- </a:t>
            </a:r>
            <a:r>
              <a:rPr lang="en-US" dirty="0"/>
              <a:t>is used. </a:t>
            </a:r>
            <a:endParaRPr lang="en-US" dirty="0" smtClean="0"/>
          </a:p>
          <a:p>
            <a:r>
              <a:rPr lang="en-US" dirty="0" smtClean="0"/>
              <a:t>Bridging </a:t>
            </a:r>
            <a:r>
              <a:rPr lang="en-US" dirty="0"/>
              <a:t>ligands are listed in order with other </a:t>
            </a:r>
            <a:r>
              <a:rPr lang="en-US" dirty="0" smtClean="0"/>
              <a:t>ligands, </a:t>
            </a:r>
            <a:r>
              <a:rPr lang="en-US" dirty="0"/>
              <a:t>and set off between </a:t>
            </a:r>
            <a:r>
              <a:rPr lang="en-US" dirty="0" err="1"/>
              <a:t>hypens</a:t>
            </a:r>
            <a:r>
              <a:rPr lang="en-US" dirty="0"/>
              <a:t>. </a:t>
            </a:r>
            <a:endParaRPr lang="en-US" dirty="0" smtClean="0"/>
          </a:p>
          <a:p>
            <a:r>
              <a:rPr lang="en-US" dirty="0" smtClean="0"/>
              <a:t>An </a:t>
            </a:r>
            <a:r>
              <a:rPr lang="en-US" dirty="0"/>
              <a:t>important exception arises when the molecule is symmetrical, and a more compact name can be given by listing the bridging ligand first. </a:t>
            </a:r>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347050397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612180" y="1600200"/>
            <a:ext cx="8229600" cy="4648200"/>
          </a:xfrm>
        </p:spPr>
        <p:txBody>
          <a:bodyPr/>
          <a:lstStyle/>
          <a:p>
            <a:r>
              <a:rPr lang="en-US" dirty="0" smtClean="0"/>
              <a:t>is </a:t>
            </a:r>
            <a:r>
              <a:rPr lang="en-US" dirty="0"/>
              <a:t>illustrated in the following examples: </a:t>
            </a:r>
            <a:r>
              <a:rPr lang="en-US" dirty="0" err="1"/>
              <a:t>Pentamminecobalt</a:t>
            </a:r>
            <a:r>
              <a:rPr lang="en-US" dirty="0"/>
              <a:t>(III</a:t>
            </a:r>
            <a:r>
              <a:rPr lang="en-US" dirty="0" smtClean="0"/>
              <a:t>)-µ-</a:t>
            </a:r>
            <a:r>
              <a:rPr lang="en-US" dirty="0" err="1" smtClean="0"/>
              <a:t>amididotetraammineaquacobalt</a:t>
            </a:r>
            <a:r>
              <a:rPr lang="en-US" dirty="0" smtClean="0"/>
              <a:t>(III</a:t>
            </a:r>
            <a:r>
              <a:rPr lang="en-US" dirty="0"/>
              <a:t>) </a:t>
            </a:r>
            <a:r>
              <a:rPr lang="en-US" dirty="0" smtClean="0"/>
              <a:t>chloride</a:t>
            </a:r>
            <a:endParaRPr lang="en-US" dirty="0"/>
          </a:p>
          <a:p>
            <a:endParaRPr lang="en-US" dirty="0"/>
          </a:p>
        </p:txBody>
      </p:sp>
      <p:sp>
        <p:nvSpPr>
          <p:cNvPr id="4" name="AutoShape 2" descr="https://image3.slideserve.com/5610440/slide8-l.jpg"/>
          <p:cNvSpPr>
            <a:spLocks noChangeAspect="1" noChangeArrowheads="1"/>
          </p:cNvSpPr>
          <p:nvPr/>
        </p:nvSpPr>
        <p:spPr bwMode="auto">
          <a:xfrm>
            <a:off x="155575" y="-3086100"/>
            <a:ext cx="8572500" cy="64293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https://image3.slideserve.com/5610440/slide9-l.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TextBox 25"/>
          <p:cNvSpPr txBox="1"/>
          <p:nvPr/>
        </p:nvSpPr>
        <p:spPr>
          <a:xfrm>
            <a:off x="1725326" y="4812268"/>
            <a:ext cx="429926" cy="369332"/>
          </a:xfrm>
          <a:prstGeom prst="rect">
            <a:avLst/>
          </a:prstGeom>
          <a:noFill/>
        </p:spPr>
        <p:txBody>
          <a:bodyPr wrap="none" rtlCol="0">
            <a:spAutoFit/>
          </a:bodyPr>
          <a:lstStyle/>
          <a:p>
            <a:r>
              <a:rPr lang="en-US" dirty="0" smtClean="0"/>
              <a:t>Co</a:t>
            </a:r>
            <a:endParaRPr lang="en-US" dirty="0"/>
          </a:p>
        </p:txBody>
      </p:sp>
      <p:sp>
        <p:nvSpPr>
          <p:cNvPr id="27" name="Freeform 26"/>
          <p:cNvSpPr/>
          <p:nvPr/>
        </p:nvSpPr>
        <p:spPr>
          <a:xfrm>
            <a:off x="1132340" y="5182397"/>
            <a:ext cx="527527" cy="503892"/>
          </a:xfrm>
          <a:custGeom>
            <a:avLst/>
            <a:gdLst>
              <a:gd name="connsiteX0" fmla="*/ 525979 w 527527"/>
              <a:gd name="connsiteY0" fmla="*/ 539 h 503892"/>
              <a:gd name="connsiteX1" fmla="*/ 14535 w 527527"/>
              <a:gd name="connsiteY1" fmla="*/ 387996 h 503892"/>
              <a:gd name="connsiteX2" fmla="*/ 169518 w 527527"/>
              <a:gd name="connsiteY2" fmla="*/ 480986 h 503892"/>
              <a:gd name="connsiteX3" fmla="*/ 525979 w 527527"/>
              <a:gd name="connsiteY3" fmla="*/ 539 h 503892"/>
            </a:gdLst>
            <a:ahLst/>
            <a:cxnLst>
              <a:cxn ang="0">
                <a:pos x="connsiteX0" y="connsiteY0"/>
              </a:cxn>
              <a:cxn ang="0">
                <a:pos x="connsiteX1" y="connsiteY1"/>
              </a:cxn>
              <a:cxn ang="0">
                <a:pos x="connsiteX2" y="connsiteY2"/>
              </a:cxn>
              <a:cxn ang="0">
                <a:pos x="connsiteX3" y="connsiteY3"/>
              </a:cxn>
            </a:cxnLst>
            <a:rect l="l" t="t" r="r" b="b"/>
            <a:pathLst>
              <a:path w="527527" h="503892">
                <a:moveTo>
                  <a:pt x="525979" y="539"/>
                </a:moveTo>
                <a:cubicBezTo>
                  <a:pt x="500149" y="-14959"/>
                  <a:pt x="73945" y="307922"/>
                  <a:pt x="14535" y="387996"/>
                </a:cubicBezTo>
                <a:cubicBezTo>
                  <a:pt x="-44875" y="468070"/>
                  <a:pt x="92027" y="542979"/>
                  <a:pt x="169518" y="480986"/>
                </a:cubicBezTo>
                <a:cubicBezTo>
                  <a:pt x="247009" y="418993"/>
                  <a:pt x="551809" y="16037"/>
                  <a:pt x="525979" y="539"/>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p:cNvSpPr/>
          <p:nvPr/>
        </p:nvSpPr>
        <p:spPr>
          <a:xfrm rot="16380273">
            <a:off x="1940289" y="5182397"/>
            <a:ext cx="527527" cy="503892"/>
          </a:xfrm>
          <a:custGeom>
            <a:avLst/>
            <a:gdLst>
              <a:gd name="connsiteX0" fmla="*/ 525979 w 527527"/>
              <a:gd name="connsiteY0" fmla="*/ 539 h 503892"/>
              <a:gd name="connsiteX1" fmla="*/ 14535 w 527527"/>
              <a:gd name="connsiteY1" fmla="*/ 387996 h 503892"/>
              <a:gd name="connsiteX2" fmla="*/ 169518 w 527527"/>
              <a:gd name="connsiteY2" fmla="*/ 480986 h 503892"/>
              <a:gd name="connsiteX3" fmla="*/ 525979 w 527527"/>
              <a:gd name="connsiteY3" fmla="*/ 539 h 503892"/>
            </a:gdLst>
            <a:ahLst/>
            <a:cxnLst>
              <a:cxn ang="0">
                <a:pos x="connsiteX0" y="connsiteY0"/>
              </a:cxn>
              <a:cxn ang="0">
                <a:pos x="connsiteX1" y="connsiteY1"/>
              </a:cxn>
              <a:cxn ang="0">
                <a:pos x="connsiteX2" y="connsiteY2"/>
              </a:cxn>
              <a:cxn ang="0">
                <a:pos x="connsiteX3" y="connsiteY3"/>
              </a:cxn>
            </a:cxnLst>
            <a:rect l="l" t="t" r="r" b="b"/>
            <a:pathLst>
              <a:path w="527527" h="503892">
                <a:moveTo>
                  <a:pt x="525979" y="539"/>
                </a:moveTo>
                <a:cubicBezTo>
                  <a:pt x="500149" y="-14959"/>
                  <a:pt x="73945" y="307922"/>
                  <a:pt x="14535" y="387996"/>
                </a:cubicBezTo>
                <a:cubicBezTo>
                  <a:pt x="-44875" y="468070"/>
                  <a:pt x="92027" y="542979"/>
                  <a:pt x="169518" y="480986"/>
                </a:cubicBezTo>
                <a:cubicBezTo>
                  <a:pt x="247009" y="418993"/>
                  <a:pt x="551809" y="16037"/>
                  <a:pt x="525979" y="539"/>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1845639" y="5221684"/>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908971" y="4278868"/>
            <a:ext cx="0" cy="53340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4191000" y="4191000"/>
            <a:ext cx="429926" cy="369332"/>
          </a:xfrm>
          <a:prstGeom prst="rect">
            <a:avLst/>
          </a:prstGeom>
          <a:noFill/>
        </p:spPr>
        <p:txBody>
          <a:bodyPr wrap="none" rtlCol="0">
            <a:spAutoFit/>
          </a:bodyPr>
          <a:lstStyle/>
          <a:p>
            <a:r>
              <a:rPr lang="en-US" dirty="0" smtClean="0"/>
              <a:t>Co</a:t>
            </a:r>
            <a:endParaRPr lang="en-US" dirty="0"/>
          </a:p>
        </p:txBody>
      </p:sp>
      <p:sp>
        <p:nvSpPr>
          <p:cNvPr id="33" name="TextBox 32"/>
          <p:cNvSpPr txBox="1"/>
          <p:nvPr/>
        </p:nvSpPr>
        <p:spPr>
          <a:xfrm>
            <a:off x="2469478" y="5755084"/>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sp>
        <p:nvSpPr>
          <p:cNvPr id="34" name="TextBox 33"/>
          <p:cNvSpPr txBox="1"/>
          <p:nvPr/>
        </p:nvSpPr>
        <p:spPr>
          <a:xfrm>
            <a:off x="1725326" y="3894016"/>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sp>
        <p:nvSpPr>
          <p:cNvPr id="35" name="TextBox 34"/>
          <p:cNvSpPr txBox="1"/>
          <p:nvPr/>
        </p:nvSpPr>
        <p:spPr>
          <a:xfrm>
            <a:off x="1676400" y="5879068"/>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sp>
        <p:nvSpPr>
          <p:cNvPr id="36" name="TextBox 35"/>
          <p:cNvSpPr txBox="1"/>
          <p:nvPr/>
        </p:nvSpPr>
        <p:spPr>
          <a:xfrm>
            <a:off x="631582" y="5585894"/>
            <a:ext cx="556563" cy="369332"/>
          </a:xfrm>
          <a:prstGeom prst="rect">
            <a:avLst/>
          </a:prstGeom>
          <a:noFill/>
        </p:spPr>
        <p:txBody>
          <a:bodyPr wrap="none" rtlCol="0">
            <a:spAutoFit/>
          </a:bodyPr>
          <a:lstStyle/>
          <a:p>
            <a:r>
              <a:rPr lang="en-US" dirty="0" smtClean="0"/>
              <a:t>H</a:t>
            </a:r>
            <a:r>
              <a:rPr lang="en-US" baseline="-25000" dirty="0" smtClean="0"/>
              <a:t>3</a:t>
            </a:r>
            <a:r>
              <a:rPr lang="en-US" dirty="0" smtClean="0"/>
              <a:t>N</a:t>
            </a:r>
            <a:endParaRPr lang="en-US" dirty="0"/>
          </a:p>
        </p:txBody>
      </p:sp>
      <p:sp>
        <p:nvSpPr>
          <p:cNvPr id="37" name="TextBox 36"/>
          <p:cNvSpPr txBox="1"/>
          <p:nvPr/>
        </p:nvSpPr>
        <p:spPr>
          <a:xfrm>
            <a:off x="839540" y="4360902"/>
            <a:ext cx="556563" cy="369332"/>
          </a:xfrm>
          <a:prstGeom prst="rect">
            <a:avLst/>
          </a:prstGeom>
          <a:noFill/>
        </p:spPr>
        <p:txBody>
          <a:bodyPr wrap="none" rtlCol="0">
            <a:spAutoFit/>
          </a:bodyPr>
          <a:lstStyle/>
          <a:p>
            <a:r>
              <a:rPr lang="en-US" dirty="0" smtClean="0"/>
              <a:t>H</a:t>
            </a:r>
            <a:r>
              <a:rPr lang="en-US" baseline="-25000" dirty="0" smtClean="0"/>
              <a:t>3</a:t>
            </a:r>
            <a:r>
              <a:rPr lang="en-US" dirty="0" smtClean="0"/>
              <a:t>N</a:t>
            </a:r>
            <a:endParaRPr lang="en-US" dirty="0"/>
          </a:p>
        </p:txBody>
      </p:sp>
      <p:cxnSp>
        <p:nvCxnSpPr>
          <p:cNvPr id="41" name="Straight Connector 40"/>
          <p:cNvCxnSpPr/>
          <p:nvPr/>
        </p:nvCxnSpPr>
        <p:spPr>
          <a:xfrm flipV="1">
            <a:off x="2281889" y="4712733"/>
            <a:ext cx="732292" cy="284201"/>
          </a:xfrm>
          <a:prstGeom prst="line">
            <a:avLst/>
          </a:prstGeom>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3026041" y="4485501"/>
            <a:ext cx="556563" cy="369332"/>
          </a:xfrm>
          <a:prstGeom prst="rect">
            <a:avLst/>
          </a:prstGeom>
          <a:noFill/>
        </p:spPr>
        <p:txBody>
          <a:bodyPr wrap="none" rtlCol="0">
            <a:spAutoFit/>
          </a:bodyPr>
          <a:lstStyle/>
          <a:p>
            <a:r>
              <a:rPr lang="en-US" dirty="0" smtClean="0"/>
              <a:t>NH</a:t>
            </a:r>
            <a:r>
              <a:rPr lang="en-US" baseline="-25000" dirty="0" smtClean="0"/>
              <a:t>2</a:t>
            </a:r>
            <a:endParaRPr lang="en-US" baseline="-25000" dirty="0"/>
          </a:p>
        </p:txBody>
      </p:sp>
      <p:cxnSp>
        <p:nvCxnSpPr>
          <p:cNvPr id="63" name="Straight Connector 62"/>
          <p:cNvCxnSpPr>
            <a:stCxn id="62" idx="3"/>
          </p:cNvCxnSpPr>
          <p:nvPr/>
        </p:nvCxnSpPr>
        <p:spPr>
          <a:xfrm flipV="1">
            <a:off x="3582604" y="4438652"/>
            <a:ext cx="455996" cy="23151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4343400" y="3657600"/>
            <a:ext cx="0" cy="533400"/>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4123756" y="3276600"/>
            <a:ext cx="556563" cy="369332"/>
          </a:xfrm>
          <a:prstGeom prst="rect">
            <a:avLst/>
          </a:prstGeom>
          <a:noFill/>
        </p:spPr>
        <p:txBody>
          <a:bodyPr wrap="none" rtlCol="0">
            <a:spAutoFit/>
          </a:bodyPr>
          <a:lstStyle/>
          <a:p>
            <a:r>
              <a:rPr lang="en-US" dirty="0" smtClean="0"/>
              <a:t>H</a:t>
            </a:r>
            <a:r>
              <a:rPr lang="en-US" baseline="-25000" dirty="0" smtClean="0"/>
              <a:t>2</a:t>
            </a:r>
            <a:r>
              <a:rPr lang="en-US" dirty="0" smtClean="0"/>
              <a:t>O</a:t>
            </a:r>
            <a:endParaRPr lang="en-US" dirty="0"/>
          </a:p>
        </p:txBody>
      </p:sp>
      <p:cxnSp>
        <p:nvCxnSpPr>
          <p:cNvPr id="70" name="Straight Connector 69"/>
          <p:cNvCxnSpPr>
            <a:endCxn id="26" idx="1"/>
          </p:cNvCxnSpPr>
          <p:nvPr/>
        </p:nvCxnSpPr>
        <p:spPr>
          <a:xfrm>
            <a:off x="1396103" y="4712733"/>
            <a:ext cx="329223" cy="284201"/>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a:off x="3645990" y="3881669"/>
            <a:ext cx="329223" cy="284201"/>
          </a:xfrm>
          <a:prstGeom prst="line">
            <a:avLst/>
          </a:prstGeom>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3101037" y="3516868"/>
            <a:ext cx="556563" cy="369332"/>
          </a:xfrm>
          <a:prstGeom prst="rect">
            <a:avLst/>
          </a:prstGeom>
          <a:noFill/>
        </p:spPr>
        <p:txBody>
          <a:bodyPr wrap="none" rtlCol="0">
            <a:spAutoFit/>
          </a:bodyPr>
          <a:lstStyle/>
          <a:p>
            <a:r>
              <a:rPr lang="en-US" dirty="0" smtClean="0"/>
              <a:t>H</a:t>
            </a:r>
            <a:r>
              <a:rPr lang="en-US" baseline="-25000" dirty="0" smtClean="0"/>
              <a:t>3</a:t>
            </a:r>
            <a:r>
              <a:rPr lang="en-US" dirty="0" smtClean="0"/>
              <a:t>N</a:t>
            </a:r>
            <a:endParaRPr lang="en-US" dirty="0"/>
          </a:p>
        </p:txBody>
      </p:sp>
      <p:cxnSp>
        <p:nvCxnSpPr>
          <p:cNvPr id="75" name="Straight Connector 74"/>
          <p:cNvCxnSpPr/>
          <p:nvPr/>
        </p:nvCxnSpPr>
        <p:spPr>
          <a:xfrm flipV="1">
            <a:off x="4669380" y="3986940"/>
            <a:ext cx="732292" cy="284201"/>
          </a:xfrm>
          <a:prstGeom prst="line">
            <a:avLst/>
          </a:prstGeom>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5410200" y="3745468"/>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sp>
        <p:nvSpPr>
          <p:cNvPr id="77" name="Freeform 76"/>
          <p:cNvSpPr/>
          <p:nvPr/>
        </p:nvSpPr>
        <p:spPr>
          <a:xfrm rot="15609894">
            <a:off x="4671041" y="4535597"/>
            <a:ext cx="527527" cy="503892"/>
          </a:xfrm>
          <a:custGeom>
            <a:avLst/>
            <a:gdLst>
              <a:gd name="connsiteX0" fmla="*/ 525979 w 527527"/>
              <a:gd name="connsiteY0" fmla="*/ 539 h 503892"/>
              <a:gd name="connsiteX1" fmla="*/ 14535 w 527527"/>
              <a:gd name="connsiteY1" fmla="*/ 387996 h 503892"/>
              <a:gd name="connsiteX2" fmla="*/ 169518 w 527527"/>
              <a:gd name="connsiteY2" fmla="*/ 480986 h 503892"/>
              <a:gd name="connsiteX3" fmla="*/ 525979 w 527527"/>
              <a:gd name="connsiteY3" fmla="*/ 539 h 503892"/>
            </a:gdLst>
            <a:ahLst/>
            <a:cxnLst>
              <a:cxn ang="0">
                <a:pos x="connsiteX0" y="connsiteY0"/>
              </a:cxn>
              <a:cxn ang="0">
                <a:pos x="connsiteX1" y="connsiteY1"/>
              </a:cxn>
              <a:cxn ang="0">
                <a:pos x="connsiteX2" y="connsiteY2"/>
              </a:cxn>
              <a:cxn ang="0">
                <a:pos x="connsiteX3" y="connsiteY3"/>
              </a:cxn>
            </a:cxnLst>
            <a:rect l="l" t="t" r="r" b="b"/>
            <a:pathLst>
              <a:path w="527527" h="503892">
                <a:moveTo>
                  <a:pt x="525979" y="539"/>
                </a:moveTo>
                <a:cubicBezTo>
                  <a:pt x="500149" y="-14959"/>
                  <a:pt x="73945" y="307922"/>
                  <a:pt x="14535" y="387996"/>
                </a:cubicBezTo>
                <a:cubicBezTo>
                  <a:pt x="-44875" y="468070"/>
                  <a:pt x="92027" y="542979"/>
                  <a:pt x="169518" y="480986"/>
                </a:cubicBezTo>
                <a:cubicBezTo>
                  <a:pt x="247009" y="418993"/>
                  <a:pt x="551809" y="16037"/>
                  <a:pt x="525979" y="539"/>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p:cNvSpPr txBox="1"/>
          <p:nvPr/>
        </p:nvSpPr>
        <p:spPr>
          <a:xfrm>
            <a:off x="5321008" y="4812268"/>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cxnSp>
        <p:nvCxnSpPr>
          <p:cNvPr id="79" name="Straight Connector 78"/>
          <p:cNvCxnSpPr/>
          <p:nvPr/>
        </p:nvCxnSpPr>
        <p:spPr>
          <a:xfrm>
            <a:off x="4344741" y="4648200"/>
            <a:ext cx="0" cy="533400"/>
          </a:xfrm>
          <a:prstGeom prst="line">
            <a:avLst/>
          </a:prstGeom>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4163543" y="5249677"/>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sp>
        <p:nvSpPr>
          <p:cNvPr id="81" name="TextBox 80"/>
          <p:cNvSpPr txBox="1"/>
          <p:nvPr/>
        </p:nvSpPr>
        <p:spPr>
          <a:xfrm>
            <a:off x="6858000" y="4463534"/>
            <a:ext cx="439544" cy="369332"/>
          </a:xfrm>
          <a:prstGeom prst="rect">
            <a:avLst/>
          </a:prstGeom>
          <a:noFill/>
        </p:spPr>
        <p:txBody>
          <a:bodyPr wrap="none" rtlCol="0">
            <a:spAutoFit/>
          </a:bodyPr>
          <a:lstStyle/>
          <a:p>
            <a:r>
              <a:rPr lang="en-US" dirty="0" smtClean="0"/>
              <a:t>Cl</a:t>
            </a:r>
            <a:r>
              <a:rPr lang="en-US" baseline="-25000" dirty="0" smtClean="0"/>
              <a:t>5</a:t>
            </a:r>
            <a:endParaRPr lang="en-US" baseline="-25000" dirty="0"/>
          </a:p>
        </p:txBody>
      </p:sp>
      <p:sp>
        <p:nvSpPr>
          <p:cNvPr id="82" name="Left Bracket 81"/>
          <p:cNvSpPr/>
          <p:nvPr/>
        </p:nvSpPr>
        <p:spPr>
          <a:xfrm>
            <a:off x="460376" y="3516868"/>
            <a:ext cx="657446" cy="2731532"/>
          </a:xfrm>
          <a:prstGeom prst="lef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Right Bracket 82"/>
          <p:cNvSpPr/>
          <p:nvPr/>
        </p:nvSpPr>
        <p:spPr>
          <a:xfrm>
            <a:off x="5877571" y="3516868"/>
            <a:ext cx="134911" cy="2546866"/>
          </a:xfrm>
          <a:prstGeom prst="rightBracket">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4" name="Footer Placeholder 8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2960968339"/>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500837" y="1828800"/>
            <a:ext cx="556563" cy="369332"/>
          </a:xfrm>
          <a:prstGeom prst="rect">
            <a:avLst/>
          </a:prstGeom>
          <a:noFill/>
        </p:spPr>
        <p:txBody>
          <a:bodyPr wrap="none" rtlCol="0">
            <a:spAutoFit/>
          </a:bodyPr>
          <a:lstStyle/>
          <a:p>
            <a:r>
              <a:rPr lang="en-US" dirty="0" smtClean="0"/>
              <a:t>H</a:t>
            </a:r>
            <a:r>
              <a:rPr lang="en-US" baseline="-25000" dirty="0" smtClean="0"/>
              <a:t>3</a:t>
            </a:r>
            <a:r>
              <a:rPr lang="en-US" dirty="0" smtClean="0"/>
              <a:t>N</a:t>
            </a:r>
            <a:endParaRPr lang="en-US" dirty="0"/>
          </a:p>
        </p:txBody>
      </p:sp>
      <p:sp>
        <p:nvSpPr>
          <p:cNvPr id="5" name="TextBox 4"/>
          <p:cNvSpPr txBox="1"/>
          <p:nvPr/>
        </p:nvSpPr>
        <p:spPr>
          <a:xfrm>
            <a:off x="2819400" y="2743200"/>
            <a:ext cx="381579" cy="369332"/>
          </a:xfrm>
          <a:prstGeom prst="rect">
            <a:avLst/>
          </a:prstGeom>
          <a:noFill/>
        </p:spPr>
        <p:txBody>
          <a:bodyPr wrap="none" rtlCol="0">
            <a:spAutoFit/>
          </a:bodyPr>
          <a:lstStyle/>
          <a:p>
            <a:r>
              <a:rPr lang="en-US" dirty="0" err="1" smtClean="0"/>
              <a:t>Pt</a:t>
            </a:r>
            <a:endParaRPr lang="en-US" dirty="0"/>
          </a:p>
        </p:txBody>
      </p:sp>
      <p:sp>
        <p:nvSpPr>
          <p:cNvPr id="6" name="TextBox 5"/>
          <p:cNvSpPr txBox="1"/>
          <p:nvPr/>
        </p:nvSpPr>
        <p:spPr>
          <a:xfrm>
            <a:off x="1500836" y="3657600"/>
            <a:ext cx="556563" cy="369332"/>
          </a:xfrm>
          <a:prstGeom prst="rect">
            <a:avLst/>
          </a:prstGeom>
          <a:noFill/>
        </p:spPr>
        <p:txBody>
          <a:bodyPr wrap="none" rtlCol="0">
            <a:spAutoFit/>
          </a:bodyPr>
          <a:lstStyle/>
          <a:p>
            <a:r>
              <a:rPr lang="en-US" dirty="0" smtClean="0"/>
              <a:t>H</a:t>
            </a:r>
            <a:r>
              <a:rPr lang="en-US" baseline="-25000" dirty="0" smtClean="0"/>
              <a:t>3</a:t>
            </a:r>
            <a:r>
              <a:rPr lang="en-US" dirty="0" smtClean="0"/>
              <a:t>N</a:t>
            </a:r>
            <a:endParaRPr lang="en-US" dirty="0"/>
          </a:p>
        </p:txBody>
      </p:sp>
      <p:sp>
        <p:nvSpPr>
          <p:cNvPr id="7" name="TextBox 6"/>
          <p:cNvSpPr txBox="1"/>
          <p:nvPr/>
        </p:nvSpPr>
        <p:spPr>
          <a:xfrm>
            <a:off x="3885262" y="1844254"/>
            <a:ext cx="360996" cy="369332"/>
          </a:xfrm>
          <a:prstGeom prst="rect">
            <a:avLst/>
          </a:prstGeom>
          <a:noFill/>
        </p:spPr>
        <p:txBody>
          <a:bodyPr wrap="none" rtlCol="0">
            <a:spAutoFit/>
          </a:bodyPr>
          <a:lstStyle/>
          <a:p>
            <a:r>
              <a:rPr lang="en-US" dirty="0" err="1" smtClean="0"/>
              <a:t>Cl</a:t>
            </a:r>
            <a:endParaRPr lang="en-US" dirty="0"/>
          </a:p>
        </p:txBody>
      </p:sp>
      <p:sp>
        <p:nvSpPr>
          <p:cNvPr id="8" name="TextBox 7"/>
          <p:cNvSpPr txBox="1"/>
          <p:nvPr/>
        </p:nvSpPr>
        <p:spPr>
          <a:xfrm>
            <a:off x="3885262" y="3657556"/>
            <a:ext cx="360996" cy="369332"/>
          </a:xfrm>
          <a:prstGeom prst="rect">
            <a:avLst/>
          </a:prstGeom>
          <a:noFill/>
        </p:spPr>
        <p:txBody>
          <a:bodyPr wrap="none" rtlCol="0">
            <a:spAutoFit/>
          </a:bodyPr>
          <a:lstStyle/>
          <a:p>
            <a:r>
              <a:rPr lang="en-US" dirty="0" err="1" smtClean="0"/>
              <a:t>Cl</a:t>
            </a:r>
            <a:endParaRPr lang="en-US" dirty="0"/>
          </a:p>
        </p:txBody>
      </p:sp>
      <p:sp>
        <p:nvSpPr>
          <p:cNvPr id="9" name="TextBox 8"/>
          <p:cNvSpPr txBox="1"/>
          <p:nvPr/>
        </p:nvSpPr>
        <p:spPr>
          <a:xfrm>
            <a:off x="5638800" y="2743200"/>
            <a:ext cx="381579" cy="369332"/>
          </a:xfrm>
          <a:prstGeom prst="rect">
            <a:avLst/>
          </a:prstGeom>
          <a:noFill/>
        </p:spPr>
        <p:txBody>
          <a:bodyPr wrap="none" rtlCol="0">
            <a:spAutoFit/>
          </a:bodyPr>
          <a:lstStyle/>
          <a:p>
            <a:r>
              <a:rPr lang="en-US" dirty="0" err="1" smtClean="0"/>
              <a:t>Pt</a:t>
            </a:r>
            <a:endParaRPr lang="en-US" dirty="0"/>
          </a:p>
        </p:txBody>
      </p:sp>
      <p:sp>
        <p:nvSpPr>
          <p:cNvPr id="10" name="TextBox 9"/>
          <p:cNvSpPr txBox="1"/>
          <p:nvPr/>
        </p:nvSpPr>
        <p:spPr>
          <a:xfrm>
            <a:off x="6934200" y="1828800"/>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sp>
        <p:nvSpPr>
          <p:cNvPr id="11" name="TextBox 10"/>
          <p:cNvSpPr txBox="1"/>
          <p:nvPr/>
        </p:nvSpPr>
        <p:spPr>
          <a:xfrm>
            <a:off x="6934200" y="3657556"/>
            <a:ext cx="556563" cy="369332"/>
          </a:xfrm>
          <a:prstGeom prst="rect">
            <a:avLst/>
          </a:prstGeom>
          <a:noFill/>
        </p:spPr>
        <p:txBody>
          <a:bodyPr wrap="none" rtlCol="0">
            <a:spAutoFit/>
          </a:bodyPr>
          <a:lstStyle/>
          <a:p>
            <a:r>
              <a:rPr lang="en-US" dirty="0" smtClean="0"/>
              <a:t>NH</a:t>
            </a:r>
            <a:r>
              <a:rPr lang="en-US" baseline="-25000" dirty="0" smtClean="0"/>
              <a:t>3</a:t>
            </a:r>
            <a:endParaRPr lang="en-US" baseline="-25000" dirty="0"/>
          </a:p>
        </p:txBody>
      </p:sp>
      <p:cxnSp>
        <p:nvCxnSpPr>
          <p:cNvPr id="12" name="Straight Connector 11"/>
          <p:cNvCxnSpPr/>
          <p:nvPr/>
        </p:nvCxnSpPr>
        <p:spPr>
          <a:xfrm>
            <a:off x="2057400" y="2213586"/>
            <a:ext cx="609600" cy="5296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6192973" y="2237970"/>
            <a:ext cx="588827" cy="527649"/>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48200" y="2237970"/>
            <a:ext cx="609600" cy="529614"/>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3296435" y="2239935"/>
            <a:ext cx="588827" cy="527649"/>
          </a:xfrm>
          <a:prstGeom prst="line">
            <a:avLst/>
          </a:prstGeom>
        </p:spPr>
        <p:style>
          <a:lnRef idx="1">
            <a:schemeClr val="accent1"/>
          </a:lnRef>
          <a:fillRef idx="0">
            <a:schemeClr val="accent1"/>
          </a:fillRef>
          <a:effectRef idx="0">
            <a:schemeClr val="accent1"/>
          </a:effectRef>
          <a:fontRef idx="minor">
            <a:schemeClr val="tx1"/>
          </a:fontRef>
        </p:style>
      </p:cxnSp>
      <p:sp>
        <p:nvSpPr>
          <p:cNvPr id="16" name="Freeform 15"/>
          <p:cNvSpPr/>
          <p:nvPr/>
        </p:nvSpPr>
        <p:spPr>
          <a:xfrm>
            <a:off x="2169763" y="3159071"/>
            <a:ext cx="619932" cy="542441"/>
          </a:xfrm>
          <a:custGeom>
            <a:avLst/>
            <a:gdLst>
              <a:gd name="connsiteX0" fmla="*/ 619932 w 619932"/>
              <a:gd name="connsiteY0" fmla="*/ 0 h 542441"/>
              <a:gd name="connsiteX1" fmla="*/ 0 w 619932"/>
              <a:gd name="connsiteY1" fmla="*/ 418454 h 542441"/>
              <a:gd name="connsiteX2" fmla="*/ 0 w 619932"/>
              <a:gd name="connsiteY2" fmla="*/ 418454 h 542441"/>
              <a:gd name="connsiteX3" fmla="*/ 139484 w 619932"/>
              <a:gd name="connsiteY3" fmla="*/ 542441 h 542441"/>
              <a:gd name="connsiteX4" fmla="*/ 139484 w 619932"/>
              <a:gd name="connsiteY4" fmla="*/ 542441 h 542441"/>
              <a:gd name="connsiteX5" fmla="*/ 619932 w 619932"/>
              <a:gd name="connsiteY5" fmla="*/ 0 h 54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32" h="542441">
                <a:moveTo>
                  <a:pt x="619932" y="0"/>
                </a:moveTo>
                <a:lnTo>
                  <a:pt x="0" y="418454"/>
                </a:lnTo>
                <a:lnTo>
                  <a:pt x="0" y="418454"/>
                </a:lnTo>
                <a:lnTo>
                  <a:pt x="139484" y="542441"/>
                </a:lnTo>
                <a:lnTo>
                  <a:pt x="139484" y="542441"/>
                </a:lnTo>
                <a:lnTo>
                  <a:pt x="619932"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16"/>
          <p:cNvSpPr/>
          <p:nvPr/>
        </p:nvSpPr>
        <p:spPr>
          <a:xfrm>
            <a:off x="4472822" y="3261035"/>
            <a:ext cx="619932" cy="542441"/>
          </a:xfrm>
          <a:custGeom>
            <a:avLst/>
            <a:gdLst>
              <a:gd name="connsiteX0" fmla="*/ 619932 w 619932"/>
              <a:gd name="connsiteY0" fmla="*/ 0 h 542441"/>
              <a:gd name="connsiteX1" fmla="*/ 0 w 619932"/>
              <a:gd name="connsiteY1" fmla="*/ 418454 h 542441"/>
              <a:gd name="connsiteX2" fmla="*/ 0 w 619932"/>
              <a:gd name="connsiteY2" fmla="*/ 418454 h 542441"/>
              <a:gd name="connsiteX3" fmla="*/ 139484 w 619932"/>
              <a:gd name="connsiteY3" fmla="*/ 542441 h 542441"/>
              <a:gd name="connsiteX4" fmla="*/ 139484 w 619932"/>
              <a:gd name="connsiteY4" fmla="*/ 542441 h 542441"/>
              <a:gd name="connsiteX5" fmla="*/ 619932 w 619932"/>
              <a:gd name="connsiteY5" fmla="*/ 0 h 54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32" h="542441">
                <a:moveTo>
                  <a:pt x="619932" y="0"/>
                </a:moveTo>
                <a:lnTo>
                  <a:pt x="0" y="418454"/>
                </a:lnTo>
                <a:lnTo>
                  <a:pt x="0" y="418454"/>
                </a:lnTo>
                <a:lnTo>
                  <a:pt x="139484" y="542441"/>
                </a:lnTo>
                <a:lnTo>
                  <a:pt x="139484" y="542441"/>
                </a:lnTo>
                <a:lnTo>
                  <a:pt x="619932"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p:cNvSpPr/>
          <p:nvPr/>
        </p:nvSpPr>
        <p:spPr>
          <a:xfrm rot="15613681">
            <a:off x="6118359" y="3261034"/>
            <a:ext cx="619932" cy="542441"/>
          </a:xfrm>
          <a:custGeom>
            <a:avLst/>
            <a:gdLst>
              <a:gd name="connsiteX0" fmla="*/ 619932 w 619932"/>
              <a:gd name="connsiteY0" fmla="*/ 0 h 542441"/>
              <a:gd name="connsiteX1" fmla="*/ 0 w 619932"/>
              <a:gd name="connsiteY1" fmla="*/ 418454 h 542441"/>
              <a:gd name="connsiteX2" fmla="*/ 0 w 619932"/>
              <a:gd name="connsiteY2" fmla="*/ 418454 h 542441"/>
              <a:gd name="connsiteX3" fmla="*/ 139484 w 619932"/>
              <a:gd name="connsiteY3" fmla="*/ 542441 h 542441"/>
              <a:gd name="connsiteX4" fmla="*/ 139484 w 619932"/>
              <a:gd name="connsiteY4" fmla="*/ 542441 h 542441"/>
              <a:gd name="connsiteX5" fmla="*/ 619932 w 619932"/>
              <a:gd name="connsiteY5" fmla="*/ 0 h 54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32" h="542441">
                <a:moveTo>
                  <a:pt x="619932" y="0"/>
                </a:moveTo>
                <a:lnTo>
                  <a:pt x="0" y="418454"/>
                </a:lnTo>
                <a:lnTo>
                  <a:pt x="0" y="418454"/>
                </a:lnTo>
                <a:lnTo>
                  <a:pt x="139484" y="542441"/>
                </a:lnTo>
                <a:lnTo>
                  <a:pt x="139484" y="542441"/>
                </a:lnTo>
                <a:lnTo>
                  <a:pt x="619932"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p:nvSpPr>
        <p:spPr>
          <a:xfrm rot="15985121">
            <a:off x="3244351" y="3261464"/>
            <a:ext cx="619932" cy="542441"/>
          </a:xfrm>
          <a:custGeom>
            <a:avLst/>
            <a:gdLst>
              <a:gd name="connsiteX0" fmla="*/ 619932 w 619932"/>
              <a:gd name="connsiteY0" fmla="*/ 0 h 542441"/>
              <a:gd name="connsiteX1" fmla="*/ 0 w 619932"/>
              <a:gd name="connsiteY1" fmla="*/ 418454 h 542441"/>
              <a:gd name="connsiteX2" fmla="*/ 0 w 619932"/>
              <a:gd name="connsiteY2" fmla="*/ 418454 h 542441"/>
              <a:gd name="connsiteX3" fmla="*/ 139484 w 619932"/>
              <a:gd name="connsiteY3" fmla="*/ 542441 h 542441"/>
              <a:gd name="connsiteX4" fmla="*/ 139484 w 619932"/>
              <a:gd name="connsiteY4" fmla="*/ 542441 h 542441"/>
              <a:gd name="connsiteX5" fmla="*/ 619932 w 619932"/>
              <a:gd name="connsiteY5" fmla="*/ 0 h 542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9932" h="542441">
                <a:moveTo>
                  <a:pt x="619932" y="0"/>
                </a:moveTo>
                <a:lnTo>
                  <a:pt x="0" y="418454"/>
                </a:lnTo>
                <a:lnTo>
                  <a:pt x="0" y="418454"/>
                </a:lnTo>
                <a:lnTo>
                  <a:pt x="139484" y="542441"/>
                </a:lnTo>
                <a:lnTo>
                  <a:pt x="139484" y="542441"/>
                </a:lnTo>
                <a:lnTo>
                  <a:pt x="619932" y="0"/>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2789695" y="5181600"/>
            <a:ext cx="4858510" cy="369332"/>
          </a:xfrm>
          <a:prstGeom prst="rect">
            <a:avLst/>
          </a:prstGeom>
          <a:noFill/>
        </p:spPr>
        <p:txBody>
          <a:bodyPr wrap="none" rtlCol="0">
            <a:spAutoFit/>
          </a:bodyPr>
          <a:lstStyle/>
          <a:p>
            <a:r>
              <a:rPr lang="en-US" dirty="0" smtClean="0"/>
              <a:t>Di-µ-</a:t>
            </a:r>
            <a:r>
              <a:rPr lang="en-US" dirty="0" err="1" smtClean="0"/>
              <a:t>dichloridobis</a:t>
            </a:r>
            <a:r>
              <a:rPr lang="en-US" dirty="0" smtClean="0"/>
              <a:t>[</a:t>
            </a:r>
            <a:r>
              <a:rPr lang="en-US" dirty="0" err="1" smtClean="0"/>
              <a:t>diammineplatinum</a:t>
            </a:r>
            <a:r>
              <a:rPr lang="en-US" dirty="0" smtClean="0"/>
              <a:t>(II)] chloride</a:t>
            </a:r>
            <a:endParaRPr lang="en-US" dirty="0"/>
          </a:p>
        </p:txBody>
      </p:sp>
      <p:sp>
        <p:nvSpPr>
          <p:cNvPr id="22" name="Footer Placeholder 21"/>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12086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500" fill="hold"/>
                                        <p:tgtEl>
                                          <p:spTgt spid="17"/>
                                        </p:tgtEl>
                                        <p:attrNameLst>
                                          <p:attrName>ppt_x</p:attrName>
                                        </p:attrNameLst>
                                      </p:cBhvr>
                                      <p:tavLst>
                                        <p:tav tm="0">
                                          <p:val>
                                            <p:strVal val="#ppt_x"/>
                                          </p:val>
                                        </p:tav>
                                        <p:tav tm="100000">
                                          <p:val>
                                            <p:strVal val="#ppt_x"/>
                                          </p:val>
                                        </p:tav>
                                      </p:tavLst>
                                    </p:anim>
                                    <p:anim calcmode="lin" valueType="num">
                                      <p:cBhvr additive="base">
                                        <p:cTn id="60" dur="500" fill="hold"/>
                                        <p:tgtEl>
                                          <p:spTgt spid="17"/>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 calcmode="lin" valueType="num">
                                      <p:cBhvr additive="base">
                                        <p:cTn id="63" dur="500" fill="hold"/>
                                        <p:tgtEl>
                                          <p:spTgt spid="18"/>
                                        </p:tgtEl>
                                        <p:attrNameLst>
                                          <p:attrName>ppt_x</p:attrName>
                                        </p:attrNameLst>
                                      </p:cBhvr>
                                      <p:tavLst>
                                        <p:tav tm="0">
                                          <p:val>
                                            <p:strVal val="#ppt_x"/>
                                          </p:val>
                                        </p:tav>
                                        <p:tav tm="100000">
                                          <p:val>
                                            <p:strVal val="#ppt_x"/>
                                          </p:val>
                                        </p:tav>
                                      </p:tavLst>
                                    </p:anim>
                                    <p:anim calcmode="lin" valueType="num">
                                      <p:cBhvr additive="base">
                                        <p:cTn id="64" dur="500" fill="hold"/>
                                        <p:tgtEl>
                                          <p:spTgt spid="18"/>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 calcmode="lin" valueType="num">
                                      <p:cBhvr additive="base">
                                        <p:cTn id="67" dur="500" fill="hold"/>
                                        <p:tgtEl>
                                          <p:spTgt spid="19"/>
                                        </p:tgtEl>
                                        <p:attrNameLst>
                                          <p:attrName>ppt_x</p:attrName>
                                        </p:attrNameLst>
                                      </p:cBhvr>
                                      <p:tavLst>
                                        <p:tav tm="0">
                                          <p:val>
                                            <p:strVal val="#ppt_x"/>
                                          </p:val>
                                        </p:tav>
                                        <p:tav tm="100000">
                                          <p:val>
                                            <p:strVal val="#ppt_x"/>
                                          </p:val>
                                        </p:tav>
                                      </p:tavLst>
                                    </p:anim>
                                    <p:anim calcmode="lin" valueType="num">
                                      <p:cBhvr additive="base">
                                        <p:cTn id="6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0" grpId="0"/>
      <p:bldP spid="11" grpId="0"/>
      <p:bldP spid="16" grpId="0" animBg="1"/>
      <p:bldP spid="17" grpId="0" animBg="1"/>
      <p:bldP spid="18" grpId="0" animBg="1"/>
      <p:bldP spid="19"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hlinkClick r:id="rId2" tooltip="slide9"/>
              </a:rPr>
              <a:t>Di-µ-</a:t>
            </a:r>
            <a:r>
              <a:rPr lang="en-US" b="1" dirty="0" err="1" smtClean="0">
                <a:hlinkClick r:id="rId2" tooltip="slide9"/>
              </a:rPr>
              <a:t>chloridobis</a:t>
            </a:r>
            <a:r>
              <a:rPr lang="en-US" b="1" dirty="0" smtClean="0">
                <a:hlinkClick r:id="rId2" tooltip="slide9"/>
              </a:rPr>
              <a:t>[</a:t>
            </a:r>
            <a:r>
              <a:rPr lang="en-US" b="1" dirty="0" err="1" smtClean="0">
                <a:hlinkClick r:id="rId2" tooltip="slide9"/>
              </a:rPr>
              <a:t>diammineplatinum</a:t>
            </a:r>
            <a:r>
              <a:rPr lang="en-US" b="1" dirty="0" smtClean="0">
                <a:hlinkClick r:id="rId2" tooltip="slide9"/>
              </a:rPr>
              <a:t>(II</a:t>
            </a:r>
            <a:r>
              <a:rPr lang="en-US" b="1" dirty="0">
                <a:hlinkClick r:id="rId2" tooltip="slide9"/>
              </a:rPr>
              <a:t>)] chloride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Rule 09: </a:t>
            </a:r>
          </a:p>
          <a:p>
            <a:r>
              <a:rPr lang="en-US" dirty="0" smtClean="0"/>
              <a:t>Ligands </a:t>
            </a:r>
            <a:r>
              <a:rPr lang="en-US" dirty="0"/>
              <a:t>that are capable of linkage isomerism are given specific names for each mode of attachment. </a:t>
            </a:r>
            <a:endParaRPr lang="en-US" dirty="0" smtClean="0"/>
          </a:p>
          <a:p>
            <a:r>
              <a:rPr lang="en-US" dirty="0" smtClean="0"/>
              <a:t> </a:t>
            </a:r>
            <a:r>
              <a:rPr lang="en-US" dirty="0"/>
              <a:t>SCN</a:t>
            </a:r>
            <a:r>
              <a:rPr lang="en-US" baseline="30000" dirty="0"/>
              <a:t>-</a:t>
            </a:r>
            <a:r>
              <a:rPr lang="en-US" dirty="0"/>
              <a:t> </a:t>
            </a:r>
            <a:r>
              <a:rPr lang="en-US" dirty="0" smtClean="0"/>
              <a:t>   </a:t>
            </a:r>
            <a:r>
              <a:rPr lang="en-US" dirty="0" err="1" smtClean="0"/>
              <a:t>thiocyanato</a:t>
            </a:r>
            <a:r>
              <a:rPr lang="en-US" dirty="0" smtClean="0"/>
              <a:t> </a:t>
            </a:r>
            <a:r>
              <a:rPr lang="en-US" dirty="0"/>
              <a:t>(S - </a:t>
            </a:r>
            <a:r>
              <a:rPr lang="en-US" dirty="0" err="1"/>
              <a:t>thiocyanato</a:t>
            </a:r>
            <a:r>
              <a:rPr lang="en-US" dirty="0"/>
              <a:t>) </a:t>
            </a:r>
            <a:endParaRPr lang="en-US" dirty="0" smtClean="0"/>
          </a:p>
          <a:p>
            <a:r>
              <a:rPr lang="en-US" dirty="0" smtClean="0"/>
              <a:t>NCS</a:t>
            </a:r>
            <a:r>
              <a:rPr lang="en-US" baseline="30000" dirty="0" smtClean="0"/>
              <a:t>-</a:t>
            </a:r>
            <a:r>
              <a:rPr lang="en-US" dirty="0" smtClean="0"/>
              <a:t>     </a:t>
            </a:r>
            <a:r>
              <a:rPr lang="en-US" dirty="0" err="1" smtClean="0"/>
              <a:t>isothiocyanto</a:t>
            </a:r>
            <a:r>
              <a:rPr lang="en-US" dirty="0" smtClean="0"/>
              <a:t> </a:t>
            </a:r>
            <a:r>
              <a:rPr lang="en-US" dirty="0"/>
              <a:t>(N - </a:t>
            </a:r>
            <a:r>
              <a:rPr lang="en-US" dirty="0" err="1"/>
              <a:t>thiocyanto</a:t>
            </a:r>
            <a:r>
              <a:rPr lang="en-US" dirty="0"/>
              <a:t>) </a:t>
            </a:r>
            <a:endParaRPr lang="en-US" dirty="0" smtClean="0"/>
          </a:p>
          <a:p>
            <a:r>
              <a:rPr lang="en-US" dirty="0" err="1" smtClean="0"/>
              <a:t>SeCN</a:t>
            </a:r>
            <a:r>
              <a:rPr lang="en-US" baseline="30000" dirty="0" smtClean="0"/>
              <a:t>-</a:t>
            </a:r>
            <a:r>
              <a:rPr lang="en-US" dirty="0" smtClean="0"/>
              <a:t>    </a:t>
            </a:r>
            <a:r>
              <a:rPr lang="en-US" dirty="0" err="1" smtClean="0"/>
              <a:t>selenocyanato</a:t>
            </a:r>
            <a:r>
              <a:rPr lang="en-US" dirty="0" smtClean="0"/>
              <a:t> </a:t>
            </a:r>
            <a:r>
              <a:rPr lang="en-US" dirty="0"/>
              <a:t>- </a:t>
            </a:r>
            <a:r>
              <a:rPr lang="en-US" dirty="0" err="1"/>
              <a:t>NCSe</a:t>
            </a:r>
            <a:r>
              <a:rPr lang="en-US" dirty="0"/>
              <a:t>- </a:t>
            </a:r>
            <a:r>
              <a:rPr lang="en-US" dirty="0" err="1"/>
              <a:t>isoselenocyanato</a:t>
            </a:r>
            <a:r>
              <a:rPr lang="en-US" dirty="0"/>
              <a:t> </a:t>
            </a:r>
            <a:endParaRPr lang="en-US" dirty="0" smtClean="0"/>
          </a:p>
          <a:p>
            <a:pPr marL="0" indent="0">
              <a:buNone/>
            </a:pPr>
            <a:r>
              <a:rPr lang="en-US" dirty="0"/>
              <a:t> </a:t>
            </a:r>
            <a:r>
              <a:rPr lang="en-US" dirty="0" smtClean="0"/>
              <a:t>                     (</a:t>
            </a:r>
            <a:r>
              <a:rPr lang="en-US" dirty="0"/>
              <a:t>N - </a:t>
            </a:r>
            <a:r>
              <a:rPr lang="en-US" dirty="0" err="1"/>
              <a:t>selenocyanato</a:t>
            </a:r>
            <a:r>
              <a:rPr lang="en-US" dirty="0"/>
              <a:t>) </a:t>
            </a:r>
            <a:endParaRPr lang="en-US" dirty="0" smtClean="0"/>
          </a:p>
          <a:p>
            <a:r>
              <a:rPr lang="en-US" dirty="0" smtClean="0"/>
              <a:t>NO</a:t>
            </a:r>
            <a:r>
              <a:rPr lang="en-US" baseline="-25000" dirty="0" smtClean="0"/>
              <a:t>2</a:t>
            </a:r>
            <a:r>
              <a:rPr lang="en-US" dirty="0" smtClean="0"/>
              <a:t>- nitro</a:t>
            </a:r>
          </a:p>
          <a:p>
            <a:r>
              <a:rPr lang="en-US" dirty="0" smtClean="0"/>
              <a:t>ONO- </a:t>
            </a:r>
            <a:r>
              <a:rPr lang="en-US" dirty="0" err="1" smtClean="0"/>
              <a:t>nitrito</a:t>
            </a:r>
            <a:endParaRPr lang="en-US" dirty="0"/>
          </a:p>
        </p:txBody>
      </p:sp>
      <p:sp>
        <p:nvSpPr>
          <p:cNvPr id="4" name="Footer Placeholder 3"/>
          <p:cNvSpPr>
            <a:spLocks noGrp="1"/>
          </p:cNvSpPr>
          <p:nvPr>
            <p:ph type="ftr" sz="quarter" idx="11"/>
          </p:nvPr>
        </p:nvSpPr>
        <p:spPr/>
        <p:txBody>
          <a:bodyPr/>
          <a:lstStyle/>
          <a:p>
            <a:r>
              <a:rPr lang="en-US" smtClean="0"/>
              <a:t>AMH 2024</a:t>
            </a:r>
            <a:endParaRPr lang="en-US"/>
          </a:p>
        </p:txBody>
      </p:sp>
    </p:spTree>
    <p:extLst>
      <p:ext uri="{BB962C8B-B14F-4D97-AF65-F5344CB8AC3E}">
        <p14:creationId xmlns:p14="http://schemas.microsoft.com/office/powerpoint/2010/main" val="368014092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1524000" y="457200"/>
            <a:ext cx="5715000" cy="990600"/>
          </a:xfrm>
        </p:spPr>
        <p:txBody>
          <a:bodyPr/>
          <a:lstStyle/>
          <a:p>
            <a:pPr>
              <a:spcBef>
                <a:spcPct val="20000"/>
              </a:spcBef>
            </a:pPr>
            <a:r>
              <a:rPr lang="en-US">
                <a:latin typeface="Times New Roman" pitchFamily="18" charset="0"/>
                <a:cs typeface="Times New Roman" pitchFamily="18" charset="0"/>
              </a:rPr>
              <a:t>Exercise</a:t>
            </a:r>
          </a:p>
        </p:txBody>
      </p:sp>
      <p:sp>
        <p:nvSpPr>
          <p:cNvPr id="67587" name="Rectangle 3"/>
          <p:cNvSpPr>
            <a:spLocks noGrp="1" noChangeArrowheads="1"/>
          </p:cNvSpPr>
          <p:nvPr>
            <p:ph type="body" sz="half" idx="1"/>
          </p:nvPr>
        </p:nvSpPr>
        <p:spPr>
          <a:xfrm>
            <a:off x="533400" y="1524000"/>
            <a:ext cx="7848600" cy="2438400"/>
          </a:xfrm>
        </p:spPr>
        <p:txBody>
          <a:bodyPr/>
          <a:lstStyle/>
          <a:p>
            <a:pPr marL="463550" indent="-463550">
              <a:buFontTx/>
              <a:buNone/>
            </a:pPr>
            <a:r>
              <a:rPr lang="en-US"/>
              <a:t>	</a:t>
            </a:r>
            <a:r>
              <a:rPr lang="en-US" sz="3200">
                <a:latin typeface="Times New Roman" pitchFamily="18" charset="0"/>
                <a:cs typeface="Times New Roman" pitchFamily="18" charset="0"/>
              </a:rPr>
              <a:t>Name the following coordination compounds.</a:t>
            </a:r>
          </a:p>
          <a:p>
            <a:pPr marL="900113" lvl="1" indent="-434975">
              <a:buFontTx/>
              <a:buNone/>
            </a:pPr>
            <a:endParaRPr lang="en-US" sz="2000">
              <a:latin typeface="Times New Roman" pitchFamily="18" charset="0"/>
              <a:cs typeface="Times New Roman" pitchFamily="18" charset="0"/>
            </a:endParaRPr>
          </a:p>
          <a:p>
            <a:pPr marL="900113" lvl="1" indent="-434975">
              <a:buFontTx/>
              <a:buNone/>
            </a:pPr>
            <a:r>
              <a:rPr lang="en-US" sz="3200">
                <a:latin typeface="Times New Roman" pitchFamily="18" charset="0"/>
                <a:cs typeface="Times New Roman" pitchFamily="18" charset="0"/>
              </a:rPr>
              <a:t>(a) [Co(H</a:t>
            </a:r>
            <a:r>
              <a:rPr lang="en-US" sz="3200" baseline="-12000">
                <a:latin typeface="Times New Roman" pitchFamily="18" charset="0"/>
                <a:cs typeface="Times New Roman" pitchFamily="18" charset="0"/>
              </a:rPr>
              <a:t>2</a:t>
            </a:r>
            <a:r>
              <a:rPr lang="en-US" sz="3200">
                <a:latin typeface="Times New Roman" pitchFamily="18" charset="0"/>
                <a:cs typeface="Times New Roman" pitchFamily="18" charset="0"/>
              </a:rPr>
              <a:t>O)</a:t>
            </a:r>
            <a:r>
              <a:rPr lang="en-US" sz="3200" baseline="-12000">
                <a:latin typeface="Times New Roman" pitchFamily="18" charset="0"/>
                <a:cs typeface="Times New Roman" pitchFamily="18" charset="0"/>
              </a:rPr>
              <a:t>6</a:t>
            </a:r>
            <a:r>
              <a:rPr lang="en-US" sz="3200">
                <a:latin typeface="Times New Roman" pitchFamily="18" charset="0"/>
                <a:cs typeface="Times New Roman" pitchFamily="18" charset="0"/>
              </a:rPr>
              <a:t>]Br</a:t>
            </a:r>
            <a:r>
              <a:rPr lang="en-US" sz="3200" baseline="-12000">
                <a:latin typeface="Times New Roman" pitchFamily="18" charset="0"/>
                <a:cs typeface="Times New Roman" pitchFamily="18" charset="0"/>
              </a:rPr>
              <a:t>3	</a:t>
            </a:r>
            <a:r>
              <a:rPr lang="en-US" sz="3200">
                <a:latin typeface="Times New Roman" pitchFamily="18" charset="0"/>
                <a:cs typeface="Times New Roman" pitchFamily="18" charset="0"/>
              </a:rPr>
              <a:t> 	(b) Na</a:t>
            </a:r>
            <a:r>
              <a:rPr lang="en-US" sz="3200" baseline="-12000">
                <a:latin typeface="Times New Roman" pitchFamily="18" charset="0"/>
                <a:cs typeface="Times New Roman" pitchFamily="18" charset="0"/>
              </a:rPr>
              <a:t>2</a:t>
            </a:r>
            <a:r>
              <a:rPr lang="en-US" sz="3200">
                <a:latin typeface="Times New Roman" pitchFamily="18" charset="0"/>
                <a:cs typeface="Times New Roman" pitchFamily="18" charset="0"/>
              </a:rPr>
              <a:t>[PtCl</a:t>
            </a:r>
            <a:r>
              <a:rPr lang="en-US" sz="3200" baseline="-12000">
                <a:latin typeface="Times New Roman" pitchFamily="18" charset="0"/>
                <a:cs typeface="Times New Roman" pitchFamily="18" charset="0"/>
              </a:rPr>
              <a:t>4</a:t>
            </a:r>
            <a:r>
              <a:rPr lang="en-US" sz="3200">
                <a:latin typeface="Times New Roman" pitchFamily="18" charset="0"/>
                <a:cs typeface="Times New Roman" pitchFamily="18" charset="0"/>
              </a:rPr>
              <a:t>]</a:t>
            </a:r>
          </a:p>
        </p:txBody>
      </p:sp>
      <p:sp>
        <p:nvSpPr>
          <p:cNvPr id="67588" name="Rectangle 4"/>
          <p:cNvSpPr>
            <a:spLocks noGrp="1" noChangeArrowheads="1"/>
          </p:cNvSpPr>
          <p:nvPr>
            <p:ph type="body" sz="half" idx="2"/>
          </p:nvPr>
        </p:nvSpPr>
        <p:spPr>
          <a:xfrm>
            <a:off x="838200" y="4724400"/>
            <a:ext cx="7924800" cy="1503363"/>
          </a:xfrm>
        </p:spPr>
        <p:txBody>
          <a:bodyPr/>
          <a:lstStyle/>
          <a:p>
            <a:pPr>
              <a:buFontTx/>
              <a:buNone/>
            </a:pPr>
            <a:r>
              <a:rPr lang="en-US" sz="3200">
                <a:solidFill>
                  <a:srgbClr val="009900"/>
                </a:solidFill>
                <a:latin typeface="Times New Roman" pitchFamily="18" charset="0"/>
                <a:cs typeface="Times New Roman" pitchFamily="18" charset="0"/>
              </a:rPr>
              <a:t>(a) Hexaaquacobalt(III) bromide</a:t>
            </a:r>
          </a:p>
          <a:p>
            <a:pPr>
              <a:buFontTx/>
              <a:buNone/>
            </a:pPr>
            <a:r>
              <a:rPr lang="en-US" sz="3200">
                <a:solidFill>
                  <a:srgbClr val="009900"/>
                </a:solidFill>
                <a:latin typeface="Times New Roman" pitchFamily="18" charset="0"/>
                <a:cs typeface="Times New Roman" pitchFamily="18" charset="0"/>
              </a:rPr>
              <a:t>(b) Sodium tetrachloroplatinate(II)</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left)">
                                      <p:cBhvr>
                                        <p:cTn id="7" dur="500"/>
                                        <p:tgtEl>
                                          <p:spTgt spid="675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7587">
                                            <p:txEl>
                                              <p:pRg st="0" end="0"/>
                                            </p:txEl>
                                          </p:spTgt>
                                        </p:tgtEl>
                                        <p:attrNameLst>
                                          <p:attrName>style.visibility</p:attrName>
                                        </p:attrNameLst>
                                      </p:cBhvr>
                                      <p:to>
                                        <p:strVal val="visible"/>
                                      </p:to>
                                    </p:set>
                                    <p:animEffect transition="in" filter="wipe(left)">
                                      <p:cBhvr>
                                        <p:cTn id="12" dur="500"/>
                                        <p:tgtEl>
                                          <p:spTgt spid="6758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587">
                                            <p:txEl>
                                              <p:pRg st="2" end="2"/>
                                            </p:txEl>
                                          </p:spTgt>
                                        </p:tgtEl>
                                        <p:attrNameLst>
                                          <p:attrName>style.visibility</p:attrName>
                                        </p:attrNameLst>
                                      </p:cBhvr>
                                      <p:to>
                                        <p:strVal val="visible"/>
                                      </p:to>
                                    </p:set>
                                    <p:animEffect transition="in" filter="wipe(left)">
                                      <p:cBhvr>
                                        <p:cTn id="17" dur="500"/>
                                        <p:tgtEl>
                                          <p:spTgt spid="675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7588">
                                            <p:txEl>
                                              <p:pRg st="0" end="0"/>
                                            </p:txEl>
                                          </p:spTgt>
                                        </p:tgtEl>
                                        <p:attrNameLst>
                                          <p:attrName>style.visibility</p:attrName>
                                        </p:attrNameLst>
                                      </p:cBhvr>
                                      <p:to>
                                        <p:strVal val="visible"/>
                                      </p:to>
                                    </p:set>
                                    <p:animEffect transition="in" filter="wipe(left)">
                                      <p:cBhvr>
                                        <p:cTn id="22" dur="2000"/>
                                        <p:tgtEl>
                                          <p:spTgt spid="6758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7588">
                                            <p:txEl>
                                              <p:pRg st="1" end="1"/>
                                            </p:txEl>
                                          </p:spTgt>
                                        </p:tgtEl>
                                        <p:attrNameLst>
                                          <p:attrName>style.visibility</p:attrName>
                                        </p:attrNameLst>
                                      </p:cBhvr>
                                      <p:to>
                                        <p:strVal val="visible"/>
                                      </p:to>
                                    </p:set>
                                    <p:animEffect transition="in" filter="wipe(left)">
                                      <p:cBhvr>
                                        <p:cTn id="27" dur="2000"/>
                                        <p:tgtEl>
                                          <p:spTgt spid="6758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animBg="1" autoUpdateAnimBg="0"/>
      <p:bldP spid="67587" grpId="0" build="p" autoUpdateAnimBg="0"/>
      <p:bldP spid="67588" grpId="0" build="p"/>
    </p:bldLst>
  </p:timing>
</p:sld>
</file>

<file path=ppt/slides/slide8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a:spcBef>
                <a:spcPct val="20000"/>
              </a:spcBef>
            </a:pPr>
            <a:r>
              <a:rPr lang="en-US" altLang="en-US" sz="4000">
                <a:latin typeface="Times New Roman" pitchFamily="18" charset="0"/>
                <a:cs typeface="Times New Roman" pitchFamily="18" charset="0"/>
              </a:rPr>
              <a:t>Some Classes of Isomers</a:t>
            </a:r>
            <a:endParaRPr lang="en-US" sz="4000">
              <a:latin typeface="Times New Roman" pitchFamily="18" charset="0"/>
              <a:cs typeface="Times New Roman" pitchFamily="18" charset="0"/>
            </a:endParaRPr>
          </a:p>
        </p:txBody>
      </p:sp>
      <p:sp>
        <p:nvSpPr>
          <p:cNvPr id="6963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69636" name="Picture 4" descr="ch21_27"/>
          <p:cNvPicPr>
            <a:picLocks noChangeAspect="1" noChangeArrowheads="1"/>
          </p:cNvPicPr>
          <p:nvPr/>
        </p:nvPicPr>
        <p:blipFill>
          <a:blip r:embed="rId3"/>
          <a:srcRect/>
          <a:stretch>
            <a:fillRect/>
          </a:stretch>
        </p:blipFill>
        <p:spPr bwMode="auto">
          <a:xfrm>
            <a:off x="990600" y="1676400"/>
            <a:ext cx="7239000" cy="4378325"/>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Structural Isomerism</a:t>
            </a:r>
          </a:p>
        </p:txBody>
      </p:sp>
      <p:sp>
        <p:nvSpPr>
          <p:cNvPr id="71683" name="Rectangle 3"/>
          <p:cNvSpPr>
            <a:spLocks noGrp="1" noChangeArrowheads="1"/>
          </p:cNvSpPr>
          <p:nvPr>
            <p:ph type="body" idx="1"/>
          </p:nvPr>
        </p:nvSpPr>
        <p:spPr>
          <a:xfrm>
            <a:off x="457200" y="1752600"/>
            <a:ext cx="8229600" cy="4343400"/>
          </a:xfrm>
        </p:spPr>
        <p:txBody>
          <a:bodyPr/>
          <a:lstStyle/>
          <a:p>
            <a:pPr marL="457200" indent="-457200"/>
            <a:r>
              <a:rPr lang="en-US" sz="3600">
                <a:latin typeface="Times New Roman" pitchFamily="18" charset="0"/>
                <a:cs typeface="Times New Roman" pitchFamily="18" charset="0"/>
              </a:rPr>
              <a:t>Coordination Isomerism:</a:t>
            </a:r>
          </a:p>
          <a:p>
            <a:pPr marL="914400" lvl="1" indent="-457200">
              <a:buFont typeface="Wingdings" pitchFamily="2" charset="2"/>
              <a:buChar char="§"/>
            </a:pPr>
            <a:r>
              <a:rPr lang="en-US" sz="3200">
                <a:latin typeface="Times New Roman" pitchFamily="18" charset="0"/>
                <a:cs typeface="Times New Roman" pitchFamily="18" charset="0"/>
              </a:rPr>
              <a:t>Composition of the complex ion varies.</a:t>
            </a:r>
          </a:p>
          <a:p>
            <a:pPr marL="914400" lvl="1" indent="-457200">
              <a:buFont typeface="Wingdings" pitchFamily="2" charset="2"/>
              <a:buChar char="§"/>
            </a:pPr>
            <a:r>
              <a:rPr lang="en-US" sz="3200">
                <a:latin typeface="Times New Roman" pitchFamily="18" charset="0"/>
                <a:cs typeface="Times New Roman" pitchFamily="18" charset="0"/>
              </a:rPr>
              <a:t>[Cr(NH</a:t>
            </a:r>
            <a:r>
              <a:rPr lang="en-US" sz="3200" baseline="-25000">
                <a:latin typeface="Times New Roman" pitchFamily="18" charset="0"/>
                <a:cs typeface="Times New Roman" pitchFamily="18" charset="0"/>
              </a:rPr>
              <a:t>3</a:t>
            </a:r>
            <a:r>
              <a:rPr lang="en-US" sz="3200">
                <a:latin typeface="Times New Roman" pitchFamily="18" charset="0"/>
                <a:cs typeface="Times New Roman" pitchFamily="18" charset="0"/>
              </a:rPr>
              <a:t>)</a:t>
            </a:r>
            <a:r>
              <a:rPr lang="en-US" sz="3200" baseline="-25000">
                <a:latin typeface="Times New Roman" pitchFamily="18" charset="0"/>
                <a:cs typeface="Times New Roman" pitchFamily="18" charset="0"/>
              </a:rPr>
              <a:t>5</a:t>
            </a:r>
            <a:r>
              <a:rPr lang="en-US" sz="3200">
                <a:latin typeface="Times New Roman" pitchFamily="18" charset="0"/>
                <a:cs typeface="Times New Roman" pitchFamily="18" charset="0"/>
              </a:rPr>
              <a:t>SO</a:t>
            </a:r>
            <a:r>
              <a:rPr lang="en-US" sz="3200" baseline="-25000">
                <a:latin typeface="Times New Roman" pitchFamily="18" charset="0"/>
                <a:cs typeface="Times New Roman" pitchFamily="18" charset="0"/>
              </a:rPr>
              <a:t>4</a:t>
            </a:r>
            <a:r>
              <a:rPr lang="en-US" sz="3200">
                <a:latin typeface="Times New Roman" pitchFamily="18" charset="0"/>
                <a:cs typeface="Times New Roman" pitchFamily="18" charset="0"/>
              </a:rPr>
              <a:t>]Br and [Cr(NH</a:t>
            </a:r>
            <a:r>
              <a:rPr lang="en-US" sz="3200" baseline="-25000">
                <a:latin typeface="Times New Roman" pitchFamily="18" charset="0"/>
                <a:cs typeface="Times New Roman" pitchFamily="18" charset="0"/>
              </a:rPr>
              <a:t>3</a:t>
            </a:r>
            <a:r>
              <a:rPr lang="en-US" sz="3200">
                <a:latin typeface="Times New Roman" pitchFamily="18" charset="0"/>
                <a:cs typeface="Times New Roman" pitchFamily="18" charset="0"/>
              </a:rPr>
              <a:t>)</a:t>
            </a:r>
            <a:r>
              <a:rPr lang="en-US" sz="3200" baseline="-25000">
                <a:latin typeface="Times New Roman" pitchFamily="18" charset="0"/>
                <a:cs typeface="Times New Roman" pitchFamily="18" charset="0"/>
              </a:rPr>
              <a:t>5</a:t>
            </a:r>
            <a:r>
              <a:rPr lang="en-US" sz="3200">
                <a:latin typeface="Times New Roman" pitchFamily="18" charset="0"/>
                <a:cs typeface="Times New Roman" pitchFamily="18" charset="0"/>
              </a:rPr>
              <a:t>Br]SO</a:t>
            </a:r>
            <a:r>
              <a:rPr lang="en-US" sz="3200" baseline="-25000">
                <a:latin typeface="Times New Roman" pitchFamily="18" charset="0"/>
                <a:cs typeface="Times New Roman" pitchFamily="18" charset="0"/>
              </a:rPr>
              <a:t>4</a:t>
            </a:r>
            <a:r>
              <a:rPr lang="en-US" sz="3200">
                <a:latin typeface="Times New Roman" pitchFamily="18" charset="0"/>
                <a:cs typeface="Times New Roman" pitchFamily="18" charset="0"/>
              </a:rPr>
              <a:t> </a:t>
            </a:r>
          </a:p>
          <a:p>
            <a:pPr marL="457200" indent="-457200"/>
            <a:r>
              <a:rPr lang="en-US" sz="3600">
                <a:latin typeface="Times New Roman" pitchFamily="18" charset="0"/>
                <a:cs typeface="Times New Roman" pitchFamily="18" charset="0"/>
              </a:rPr>
              <a:t>Linkage Isomerism:</a:t>
            </a:r>
          </a:p>
          <a:p>
            <a:pPr marL="914400" lvl="1" indent="-457200">
              <a:buFont typeface="Wingdings" pitchFamily="2" charset="2"/>
              <a:buChar char="§"/>
            </a:pPr>
            <a:r>
              <a:rPr lang="en-US" sz="3200">
                <a:latin typeface="Times New Roman" pitchFamily="18" charset="0"/>
                <a:cs typeface="Times New Roman" pitchFamily="18" charset="0"/>
              </a:rPr>
              <a:t>Composition of the complex ion is the same, but the point of attachment of at least one of the ligands differs.</a:t>
            </a:r>
          </a:p>
        </p:txBody>
      </p:sp>
      <p:sp>
        <p:nvSpPr>
          <p:cNvPr id="7168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wipe(left)">
                                      <p:cBhvr>
                                        <p:cTn id="7" dur="500"/>
                                        <p:tgtEl>
                                          <p:spTgt spid="716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683">
                                            <p:txEl>
                                              <p:pRg st="1" end="1"/>
                                            </p:txEl>
                                          </p:spTgt>
                                        </p:tgtEl>
                                        <p:attrNameLst>
                                          <p:attrName>style.visibility</p:attrName>
                                        </p:attrNameLst>
                                      </p:cBhvr>
                                      <p:to>
                                        <p:strVal val="visible"/>
                                      </p:to>
                                    </p:set>
                                    <p:animEffect transition="in" filter="wipe(left)">
                                      <p:cBhvr>
                                        <p:cTn id="12" dur="500"/>
                                        <p:tgtEl>
                                          <p:spTgt spid="716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683">
                                            <p:txEl>
                                              <p:pRg st="2" end="2"/>
                                            </p:txEl>
                                          </p:spTgt>
                                        </p:tgtEl>
                                        <p:attrNameLst>
                                          <p:attrName>style.visibility</p:attrName>
                                        </p:attrNameLst>
                                      </p:cBhvr>
                                      <p:to>
                                        <p:strVal val="visible"/>
                                      </p:to>
                                    </p:set>
                                    <p:animEffect transition="in" filter="wipe(left)">
                                      <p:cBhvr>
                                        <p:cTn id="17" dur="500"/>
                                        <p:tgtEl>
                                          <p:spTgt spid="716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683">
                                            <p:txEl>
                                              <p:pRg st="3" end="3"/>
                                            </p:txEl>
                                          </p:spTgt>
                                        </p:tgtEl>
                                        <p:attrNameLst>
                                          <p:attrName>style.visibility</p:attrName>
                                        </p:attrNameLst>
                                      </p:cBhvr>
                                      <p:to>
                                        <p:strVal val="visible"/>
                                      </p:to>
                                    </p:set>
                                    <p:animEffect transition="in" filter="wipe(left)">
                                      <p:cBhvr>
                                        <p:cTn id="22" dur="500"/>
                                        <p:tgtEl>
                                          <p:spTgt spid="7168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1683">
                                            <p:txEl>
                                              <p:pRg st="4" end="4"/>
                                            </p:txEl>
                                          </p:spTgt>
                                        </p:tgtEl>
                                        <p:attrNameLst>
                                          <p:attrName>style.visibility</p:attrName>
                                        </p:attrNameLst>
                                      </p:cBhvr>
                                      <p:to>
                                        <p:strVal val="visible"/>
                                      </p:to>
                                    </p:set>
                                    <p:animEffect transition="in" filter="wipe(left)">
                                      <p:cBhvr>
                                        <p:cTn id="27" dur="500"/>
                                        <p:tgtEl>
                                          <p:spTgt spid="7168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autoUpdateAnimBg="0"/>
    </p:bldLst>
  </p:timing>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533400"/>
            <a:ext cx="8077200" cy="685800"/>
          </a:xfrm>
        </p:spPr>
        <p:txBody>
          <a:bodyPr/>
          <a:lstStyle/>
          <a:p>
            <a:pPr>
              <a:spcBef>
                <a:spcPct val="20000"/>
              </a:spcBef>
            </a:pPr>
            <a:r>
              <a:rPr lang="en-US" sz="3600">
                <a:latin typeface="Times New Roman" pitchFamily="18" charset="0"/>
                <a:cs typeface="Times New Roman" pitchFamily="18" charset="0"/>
              </a:rPr>
              <a:t>Linkage Isomerism of NO</a:t>
            </a:r>
            <a:r>
              <a:rPr lang="en-US" sz="3600" baseline="-25000">
                <a:latin typeface="Times New Roman" pitchFamily="18" charset="0"/>
                <a:cs typeface="Times New Roman" pitchFamily="18" charset="0"/>
              </a:rPr>
              <a:t>2</a:t>
            </a:r>
            <a:r>
              <a:rPr lang="en-US" sz="3600" baseline="30000">
                <a:latin typeface="Times New Roman" pitchFamily="18" charset="0"/>
                <a:cs typeface="Times New Roman" pitchFamily="18" charset="0"/>
              </a:rPr>
              <a:t>–</a:t>
            </a:r>
          </a:p>
        </p:txBody>
      </p:sp>
      <p:sp>
        <p:nvSpPr>
          <p:cNvPr id="7373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73732" name="Picture 4" descr="ch21_28"/>
          <p:cNvPicPr>
            <a:picLocks noChangeAspect="1" noChangeArrowheads="1"/>
          </p:cNvPicPr>
          <p:nvPr/>
        </p:nvPicPr>
        <p:blipFill>
          <a:blip r:embed="rId3"/>
          <a:srcRect/>
          <a:stretch>
            <a:fillRect/>
          </a:stretch>
        </p:blipFill>
        <p:spPr bwMode="auto">
          <a:xfrm>
            <a:off x="2743200" y="1524000"/>
            <a:ext cx="3529013" cy="48768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Stereoisomerism</a:t>
            </a:r>
          </a:p>
        </p:txBody>
      </p:sp>
      <p:sp>
        <p:nvSpPr>
          <p:cNvPr id="75779" name="Rectangle 3"/>
          <p:cNvSpPr>
            <a:spLocks noGrp="1" noChangeArrowheads="1"/>
          </p:cNvSpPr>
          <p:nvPr>
            <p:ph type="body" idx="1"/>
          </p:nvPr>
        </p:nvSpPr>
        <p:spPr>
          <a:xfrm>
            <a:off x="457200" y="1752600"/>
            <a:ext cx="8229600" cy="4114800"/>
          </a:xfrm>
        </p:spPr>
        <p:txBody>
          <a:bodyPr/>
          <a:lstStyle/>
          <a:p>
            <a:pPr marL="457200" indent="-457200"/>
            <a:r>
              <a:rPr lang="en-US" sz="3600">
                <a:latin typeface="Times New Roman" pitchFamily="18" charset="0"/>
                <a:cs typeface="Times New Roman" pitchFamily="18" charset="0"/>
              </a:rPr>
              <a:t>Geometrical Isomerism (</a:t>
            </a:r>
            <a:r>
              <a:rPr lang="en-US" sz="3600" i="1">
                <a:latin typeface="Times New Roman" pitchFamily="18" charset="0"/>
                <a:cs typeface="Times New Roman" pitchFamily="18" charset="0"/>
              </a:rPr>
              <a:t>cis-trans</a:t>
            </a:r>
            <a:r>
              <a:rPr lang="en-US" sz="3600">
                <a:latin typeface="Times New Roman" pitchFamily="18" charset="0"/>
                <a:cs typeface="Times New Roman" pitchFamily="18" charset="0"/>
              </a:rPr>
              <a:t>):</a:t>
            </a:r>
          </a:p>
          <a:p>
            <a:pPr marL="915988" lvl="1" indent="-458788">
              <a:buFont typeface="Wingdings" pitchFamily="2" charset="2"/>
              <a:buChar char="§"/>
            </a:pPr>
            <a:r>
              <a:rPr lang="en-US" sz="3200">
                <a:latin typeface="Times New Roman" pitchFamily="18" charset="0"/>
                <a:cs typeface="Times New Roman" pitchFamily="18" charset="0"/>
              </a:rPr>
              <a:t>Atoms or groups of atoms can assume different positions around a rigid ring or bond.</a:t>
            </a:r>
          </a:p>
          <a:p>
            <a:pPr marL="915988" lvl="1" indent="-458788">
              <a:buFont typeface="Wingdings" pitchFamily="2" charset="2"/>
              <a:buChar char="§"/>
            </a:pPr>
            <a:r>
              <a:rPr lang="en-US" sz="3200" i="1">
                <a:latin typeface="Times New Roman" pitchFamily="18" charset="0"/>
                <a:cs typeface="Times New Roman" pitchFamily="18" charset="0"/>
              </a:rPr>
              <a:t>Cis</a:t>
            </a:r>
            <a:r>
              <a:rPr lang="en-US" sz="3200">
                <a:latin typeface="Times New Roman" pitchFamily="18" charset="0"/>
                <a:cs typeface="Times New Roman" pitchFamily="18" charset="0"/>
              </a:rPr>
              <a:t> – same side (next to each other)</a:t>
            </a:r>
          </a:p>
          <a:p>
            <a:pPr marL="915988" lvl="1" indent="-458788">
              <a:buFont typeface="Wingdings" pitchFamily="2" charset="2"/>
              <a:buChar char="§"/>
            </a:pPr>
            <a:r>
              <a:rPr lang="en-US" sz="3200" i="1">
                <a:latin typeface="Times New Roman" pitchFamily="18" charset="0"/>
                <a:cs typeface="Times New Roman" pitchFamily="18" charset="0"/>
              </a:rPr>
              <a:t>Trans</a:t>
            </a:r>
            <a:r>
              <a:rPr lang="en-US" sz="3200">
                <a:latin typeface="Times New Roman" pitchFamily="18" charset="0"/>
                <a:cs typeface="Times New Roman" pitchFamily="18" charset="0"/>
              </a:rPr>
              <a:t> – opposite sides (across from each other)</a:t>
            </a:r>
          </a:p>
        </p:txBody>
      </p:sp>
      <p:sp>
        <p:nvSpPr>
          <p:cNvPr id="7578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5779">
                                            <p:txEl>
                                              <p:pRg st="0" end="0"/>
                                            </p:txEl>
                                          </p:spTgt>
                                        </p:tgtEl>
                                        <p:attrNameLst>
                                          <p:attrName>style.visibility</p:attrName>
                                        </p:attrNameLst>
                                      </p:cBhvr>
                                      <p:to>
                                        <p:strVal val="visible"/>
                                      </p:to>
                                    </p:set>
                                    <p:animEffect transition="in" filter="wipe(left)">
                                      <p:cBhvr>
                                        <p:cTn id="7" dur="500"/>
                                        <p:tgtEl>
                                          <p:spTgt spid="757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5779">
                                            <p:txEl>
                                              <p:pRg st="1" end="1"/>
                                            </p:txEl>
                                          </p:spTgt>
                                        </p:tgtEl>
                                        <p:attrNameLst>
                                          <p:attrName>style.visibility</p:attrName>
                                        </p:attrNameLst>
                                      </p:cBhvr>
                                      <p:to>
                                        <p:strVal val="visible"/>
                                      </p:to>
                                    </p:set>
                                    <p:animEffect transition="in" filter="wipe(left)">
                                      <p:cBhvr>
                                        <p:cTn id="12" dur="500"/>
                                        <p:tgtEl>
                                          <p:spTgt spid="757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5779">
                                            <p:txEl>
                                              <p:pRg st="2" end="2"/>
                                            </p:txEl>
                                          </p:spTgt>
                                        </p:tgtEl>
                                        <p:attrNameLst>
                                          <p:attrName>style.visibility</p:attrName>
                                        </p:attrNameLst>
                                      </p:cBhvr>
                                      <p:to>
                                        <p:strVal val="visible"/>
                                      </p:to>
                                    </p:set>
                                    <p:animEffect transition="in" filter="wipe(left)">
                                      <p:cBhvr>
                                        <p:cTn id="17" dur="500"/>
                                        <p:tgtEl>
                                          <p:spTgt spid="757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5779">
                                            <p:txEl>
                                              <p:pRg st="3" end="3"/>
                                            </p:txEl>
                                          </p:spTgt>
                                        </p:tgtEl>
                                        <p:attrNameLst>
                                          <p:attrName>style.visibility</p:attrName>
                                        </p:attrNameLst>
                                      </p:cBhvr>
                                      <p:to>
                                        <p:strVal val="visible"/>
                                      </p:to>
                                    </p:set>
                                    <p:animEffect transition="in" filter="wipe(left)">
                                      <p:cBhvr>
                                        <p:cTn id="22" dur="500"/>
                                        <p:tgtEl>
                                          <p:spTgt spid="757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533400" y="304800"/>
            <a:ext cx="7848600" cy="1524000"/>
          </a:xfrm>
        </p:spPr>
        <p:txBody>
          <a:bodyPr>
            <a:normAutofit fontScale="90000"/>
          </a:bodyPr>
          <a:lstStyle/>
          <a:p>
            <a:pPr>
              <a:spcBef>
                <a:spcPct val="20000"/>
              </a:spcBef>
            </a:pPr>
            <a:r>
              <a:rPr lang="en-US" sz="3200">
                <a:latin typeface="Times New Roman" pitchFamily="18" charset="0"/>
                <a:cs typeface="Times New Roman" pitchFamily="18" charset="0"/>
              </a:rPr>
              <a:t>Geometrical (</a:t>
            </a:r>
            <a:r>
              <a:rPr lang="en-US" sz="3200" i="1">
                <a:latin typeface="Times New Roman" pitchFamily="18" charset="0"/>
                <a:cs typeface="Times New Roman" pitchFamily="18" charset="0"/>
              </a:rPr>
              <a:t>cis-trans</a:t>
            </a:r>
            <a:r>
              <a:rPr lang="en-US" sz="3200">
                <a:latin typeface="Times New Roman" pitchFamily="18" charset="0"/>
                <a:cs typeface="Times New Roman" pitchFamily="18" charset="0"/>
              </a:rPr>
              <a:t>) Isomerism for a Square Planar Compound</a:t>
            </a:r>
            <a:br>
              <a:rPr lang="en-US" sz="3200">
                <a:latin typeface="Times New Roman" pitchFamily="18" charset="0"/>
                <a:cs typeface="Times New Roman" pitchFamily="18" charset="0"/>
              </a:rPr>
            </a:br>
            <a:r>
              <a:rPr lang="en-US" sz="3200">
                <a:latin typeface="Times New Roman" pitchFamily="18" charset="0"/>
                <a:cs typeface="Times New Roman" pitchFamily="18" charset="0"/>
              </a:rPr>
              <a:t>  (a) </a:t>
            </a:r>
            <a:r>
              <a:rPr lang="en-US" sz="3200" i="1">
                <a:latin typeface="Times New Roman" pitchFamily="18" charset="0"/>
                <a:cs typeface="Times New Roman" pitchFamily="18" charset="0"/>
              </a:rPr>
              <a:t>cis</a:t>
            </a:r>
            <a:r>
              <a:rPr lang="en-US" sz="3200">
                <a:latin typeface="Times New Roman" pitchFamily="18" charset="0"/>
                <a:cs typeface="Times New Roman" pitchFamily="18" charset="0"/>
              </a:rPr>
              <a:t> isomer		(b) </a:t>
            </a:r>
            <a:r>
              <a:rPr lang="en-US" sz="3200" i="1">
                <a:latin typeface="Times New Roman" pitchFamily="18" charset="0"/>
                <a:cs typeface="Times New Roman" pitchFamily="18" charset="0"/>
              </a:rPr>
              <a:t>trans</a:t>
            </a:r>
            <a:r>
              <a:rPr lang="en-US" sz="3200">
                <a:latin typeface="Times New Roman" pitchFamily="18" charset="0"/>
                <a:cs typeface="Times New Roman" pitchFamily="18" charset="0"/>
              </a:rPr>
              <a:t> isomer</a:t>
            </a:r>
          </a:p>
        </p:txBody>
      </p:sp>
      <p:sp>
        <p:nvSpPr>
          <p:cNvPr id="7782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77828" name="Picture 4" descr="ch21_29"/>
          <p:cNvPicPr>
            <a:picLocks noChangeAspect="1" noChangeArrowheads="1"/>
          </p:cNvPicPr>
          <p:nvPr/>
        </p:nvPicPr>
        <p:blipFill>
          <a:blip r:embed="rId3"/>
          <a:srcRect/>
          <a:stretch>
            <a:fillRect/>
          </a:stretch>
        </p:blipFill>
        <p:spPr bwMode="auto">
          <a:xfrm>
            <a:off x="2743200" y="2133600"/>
            <a:ext cx="3784600" cy="44196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p:txBody>
          <a:bodyPr>
            <a:normAutofit fontScale="90000"/>
          </a:bodyPr>
          <a:lstStyle/>
          <a:p>
            <a:pPr>
              <a:spcBef>
                <a:spcPct val="20000"/>
              </a:spcBef>
            </a:pPr>
            <a:r>
              <a:rPr lang="en-US" sz="3600">
                <a:latin typeface="Times New Roman" pitchFamily="18" charset="0"/>
                <a:cs typeface="Times New Roman" pitchFamily="18" charset="0"/>
              </a:rPr>
              <a:t>Geometrical (</a:t>
            </a:r>
            <a:r>
              <a:rPr lang="en-US" sz="3600" i="1">
                <a:latin typeface="Times New Roman" pitchFamily="18" charset="0"/>
                <a:cs typeface="Times New Roman" pitchFamily="18" charset="0"/>
              </a:rPr>
              <a:t>cis-trans</a:t>
            </a:r>
            <a:r>
              <a:rPr lang="en-US" sz="3600">
                <a:latin typeface="Times New Roman" pitchFamily="18" charset="0"/>
                <a:cs typeface="Times New Roman" pitchFamily="18" charset="0"/>
              </a:rPr>
              <a:t>) Isomerism for an Octahedral Complex Ion</a:t>
            </a:r>
          </a:p>
        </p:txBody>
      </p:sp>
      <p:sp>
        <p:nvSpPr>
          <p:cNvPr id="7987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79876" name="Picture 4" descr="ch21_30"/>
          <p:cNvPicPr>
            <a:picLocks noChangeAspect="1" noChangeArrowheads="1"/>
          </p:cNvPicPr>
          <p:nvPr/>
        </p:nvPicPr>
        <p:blipFill>
          <a:blip r:embed="rId3"/>
          <a:srcRect/>
          <a:stretch>
            <a:fillRect/>
          </a:stretch>
        </p:blipFill>
        <p:spPr bwMode="auto">
          <a:xfrm>
            <a:off x="1651000" y="1752600"/>
            <a:ext cx="5842000" cy="4135438"/>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pPr>
              <a:spcBef>
                <a:spcPct val="20000"/>
              </a:spcBef>
            </a:pPr>
            <a:r>
              <a:rPr lang="en-US">
                <a:latin typeface="Times New Roman" pitchFamily="18" charset="0"/>
                <a:cs typeface="Times New Roman" pitchFamily="18" charset="0"/>
              </a:rPr>
              <a:t>Stereoisomerism</a:t>
            </a:r>
          </a:p>
        </p:txBody>
      </p:sp>
      <p:sp>
        <p:nvSpPr>
          <p:cNvPr id="81923" name="Rectangle 3"/>
          <p:cNvSpPr>
            <a:spLocks noGrp="1" noChangeArrowheads="1"/>
          </p:cNvSpPr>
          <p:nvPr>
            <p:ph type="body" idx="1"/>
          </p:nvPr>
        </p:nvSpPr>
        <p:spPr>
          <a:xfrm>
            <a:off x="457200" y="1752600"/>
            <a:ext cx="8229600" cy="1981200"/>
          </a:xfrm>
        </p:spPr>
        <p:txBody>
          <a:bodyPr/>
          <a:lstStyle/>
          <a:p>
            <a:pPr marL="457200" indent="-457200"/>
            <a:r>
              <a:rPr lang="en-US" sz="3600">
                <a:latin typeface="Times New Roman" pitchFamily="18" charset="0"/>
                <a:cs typeface="Times New Roman" pitchFamily="18" charset="0"/>
              </a:rPr>
              <a:t>Optical Isomerism:</a:t>
            </a:r>
          </a:p>
          <a:p>
            <a:pPr marL="901700" lvl="1" indent="-444500">
              <a:buFont typeface="Wingdings" pitchFamily="2" charset="2"/>
              <a:buChar char="§"/>
            </a:pPr>
            <a:r>
              <a:rPr lang="en-US" sz="3200">
                <a:latin typeface="Times New Roman" pitchFamily="18" charset="0"/>
                <a:cs typeface="Times New Roman" pitchFamily="18" charset="0"/>
              </a:rPr>
              <a:t>Isomers have opposite effects on plane-polarized light.</a:t>
            </a:r>
          </a:p>
        </p:txBody>
      </p:sp>
      <p:sp>
        <p:nvSpPr>
          <p:cNvPr id="8192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1923">
                                            <p:txEl>
                                              <p:pRg st="0" end="0"/>
                                            </p:txEl>
                                          </p:spTgt>
                                        </p:tgtEl>
                                        <p:attrNameLst>
                                          <p:attrName>style.visibility</p:attrName>
                                        </p:attrNameLst>
                                      </p:cBhvr>
                                      <p:to>
                                        <p:strVal val="visible"/>
                                      </p:to>
                                    </p:set>
                                    <p:animEffect transition="in" filter="wipe(left)">
                                      <p:cBhvr>
                                        <p:cTn id="7" dur="500"/>
                                        <p:tgtEl>
                                          <p:spTgt spid="819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923">
                                            <p:txEl>
                                              <p:pRg st="1" end="1"/>
                                            </p:txEl>
                                          </p:spTgt>
                                        </p:tgtEl>
                                        <p:attrNameLst>
                                          <p:attrName>style.visibility</p:attrName>
                                        </p:attrNameLst>
                                      </p:cBhvr>
                                      <p:to>
                                        <p:strVal val="visible"/>
                                      </p:to>
                                    </p:set>
                                    <p:animEffect transition="in" filter="wipe(left)">
                                      <p:cBhvr>
                                        <p:cTn id="12" dur="500"/>
                                        <p:tgtEl>
                                          <p:spTgt spid="819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3" grpId="0"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457200" y="457200"/>
            <a:ext cx="8229600" cy="1143000"/>
          </a:xfrm>
        </p:spPr>
        <p:txBody>
          <a:bodyPr>
            <a:normAutofit fontScale="90000"/>
          </a:bodyPr>
          <a:lstStyle/>
          <a:p>
            <a:pPr>
              <a:spcBef>
                <a:spcPct val="20000"/>
              </a:spcBef>
            </a:pPr>
            <a:r>
              <a:rPr lang="en-US" altLang="en-US" sz="3600">
                <a:latin typeface="Times New Roman" pitchFamily="18" charset="0"/>
                <a:cs typeface="Times New Roman" pitchFamily="18" charset="0"/>
              </a:rPr>
              <a:t>Unpolarized Light Consists of Waves Vibrating in Many Different Planes</a:t>
            </a:r>
            <a:endParaRPr lang="en-US" sz="3600">
              <a:latin typeface="Times New Roman" pitchFamily="18" charset="0"/>
              <a:cs typeface="Times New Roman" pitchFamily="18" charset="0"/>
            </a:endParaRPr>
          </a:p>
        </p:txBody>
      </p:sp>
      <p:sp>
        <p:nvSpPr>
          <p:cNvPr id="8397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83972" name="Picture 4" descr="ch21_31"/>
          <p:cNvPicPr>
            <a:picLocks noChangeAspect="1" noChangeArrowheads="1"/>
          </p:cNvPicPr>
          <p:nvPr/>
        </p:nvPicPr>
        <p:blipFill>
          <a:blip r:embed="rId3"/>
          <a:srcRect/>
          <a:stretch>
            <a:fillRect/>
          </a:stretch>
        </p:blipFill>
        <p:spPr bwMode="auto">
          <a:xfrm>
            <a:off x="952500" y="2209800"/>
            <a:ext cx="7239000" cy="346075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457200" y="381000"/>
            <a:ext cx="8229600" cy="1295400"/>
          </a:xfrm>
        </p:spPr>
        <p:txBody>
          <a:bodyPr/>
          <a:lstStyle/>
          <a:p>
            <a:pPr>
              <a:spcBef>
                <a:spcPct val="20000"/>
              </a:spcBef>
            </a:pPr>
            <a:r>
              <a:rPr lang="en-US" altLang="en-US" sz="3600">
                <a:latin typeface="Times New Roman" pitchFamily="18" charset="0"/>
                <a:cs typeface="Times New Roman" pitchFamily="18" charset="0"/>
              </a:rPr>
              <a:t>The Rotation of the Plane of Polarized Light by an Optically Active Substance</a:t>
            </a:r>
            <a:endParaRPr lang="en-US" sz="3600">
              <a:latin typeface="Times New Roman" pitchFamily="18" charset="0"/>
              <a:cs typeface="Times New Roman" pitchFamily="18" charset="0"/>
            </a:endParaRPr>
          </a:p>
        </p:txBody>
      </p:sp>
      <p:sp>
        <p:nvSpPr>
          <p:cNvPr id="8601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86020" name="Picture 4" descr="ch21_32"/>
          <p:cNvPicPr>
            <a:picLocks noChangeAspect="1" noChangeArrowheads="1"/>
          </p:cNvPicPr>
          <p:nvPr/>
        </p:nvPicPr>
        <p:blipFill>
          <a:blip r:embed="rId3"/>
          <a:srcRect/>
          <a:stretch>
            <a:fillRect/>
          </a:stretch>
        </p:blipFill>
        <p:spPr bwMode="auto">
          <a:xfrm>
            <a:off x="457200" y="2189163"/>
            <a:ext cx="8229600" cy="35306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457200" y="274638"/>
            <a:ext cx="7620000" cy="1143000"/>
          </a:xfrm>
        </p:spPr>
        <p:txBody>
          <a:bodyPr/>
          <a:lstStyle/>
          <a:p>
            <a:pPr>
              <a:spcBef>
                <a:spcPct val="20000"/>
              </a:spcBef>
            </a:pPr>
            <a:r>
              <a:rPr lang="en-US">
                <a:latin typeface="Times New Roman" pitchFamily="18" charset="0"/>
                <a:cs typeface="Times New Roman" pitchFamily="18" charset="0"/>
              </a:rPr>
              <a:t>Optical Activity</a:t>
            </a:r>
          </a:p>
        </p:txBody>
      </p:sp>
      <p:sp>
        <p:nvSpPr>
          <p:cNvPr id="88067" name="Rectangle 3"/>
          <p:cNvSpPr>
            <a:spLocks noGrp="1" noChangeArrowheads="1"/>
          </p:cNvSpPr>
          <p:nvPr>
            <p:ph type="body" idx="1"/>
          </p:nvPr>
        </p:nvSpPr>
        <p:spPr>
          <a:xfrm>
            <a:off x="457200" y="1752600"/>
            <a:ext cx="8229600" cy="3276600"/>
          </a:xfrm>
        </p:spPr>
        <p:txBody>
          <a:bodyPr/>
          <a:lstStyle/>
          <a:p>
            <a:pPr marL="457200" indent="-457200"/>
            <a:r>
              <a:rPr lang="en-US" sz="3600">
                <a:latin typeface="Times New Roman" pitchFamily="18" charset="0"/>
                <a:cs typeface="Times New Roman" pitchFamily="18" charset="0"/>
              </a:rPr>
              <a:t>Exhibited by molecules that have nonsuperimposable mirror images (chiral molecules).</a:t>
            </a:r>
          </a:p>
          <a:p>
            <a:pPr marL="457200" indent="-457200"/>
            <a:r>
              <a:rPr lang="en-US" sz="3600">
                <a:latin typeface="Times New Roman" pitchFamily="18" charset="0"/>
                <a:cs typeface="Times New Roman" pitchFamily="18" charset="0"/>
              </a:rPr>
              <a:t>Enantiomers – isomers of nonsuperimposable mirror images.</a:t>
            </a:r>
          </a:p>
        </p:txBody>
      </p:sp>
      <p:sp>
        <p:nvSpPr>
          <p:cNvPr id="8806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67">
                                            <p:txEl>
                                              <p:pRg st="0" end="0"/>
                                            </p:txEl>
                                          </p:spTgt>
                                        </p:tgtEl>
                                        <p:attrNameLst>
                                          <p:attrName>style.visibility</p:attrName>
                                        </p:attrNameLst>
                                      </p:cBhvr>
                                      <p:to>
                                        <p:strVal val="visible"/>
                                      </p:to>
                                    </p:set>
                                    <p:animEffect transition="in" filter="wipe(left)">
                                      <p:cBhvr>
                                        <p:cTn id="7" dur="500"/>
                                        <p:tgtEl>
                                          <p:spTgt spid="880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067">
                                            <p:txEl>
                                              <p:pRg st="1" end="1"/>
                                            </p:txEl>
                                          </p:spTgt>
                                        </p:tgtEl>
                                        <p:attrNameLst>
                                          <p:attrName>style.visibility</p:attrName>
                                        </p:attrNameLst>
                                      </p:cBhvr>
                                      <p:to>
                                        <p:strVal val="visible"/>
                                      </p:to>
                                    </p:set>
                                    <p:animEffect transition="in" filter="wipe(left)">
                                      <p:cBhvr>
                                        <p:cTn id="12" dur="500"/>
                                        <p:tgtEl>
                                          <p:spTgt spid="8806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build="p"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a:xfrm>
            <a:off x="457200" y="381000"/>
            <a:ext cx="8229600" cy="1143000"/>
          </a:xfrm>
        </p:spPr>
        <p:txBody>
          <a:bodyPr>
            <a:normAutofit fontScale="90000"/>
          </a:bodyPr>
          <a:lstStyle/>
          <a:p>
            <a:pPr>
              <a:spcBef>
                <a:spcPct val="20000"/>
              </a:spcBef>
            </a:pPr>
            <a:r>
              <a:rPr lang="en-US" altLang="en-US" sz="4000">
                <a:latin typeface="Times New Roman" pitchFamily="18" charset="0"/>
                <a:cs typeface="Times New Roman" pitchFamily="18" charset="0"/>
              </a:rPr>
              <a:t>A Human Hand Exhibits a Nonsuperimposable Mirror Image</a:t>
            </a:r>
            <a:endParaRPr lang="en-US" sz="4000">
              <a:latin typeface="Times New Roman" pitchFamily="18" charset="0"/>
              <a:cs typeface="Times New Roman" pitchFamily="18" charset="0"/>
            </a:endParaRPr>
          </a:p>
        </p:txBody>
      </p:sp>
      <p:sp>
        <p:nvSpPr>
          <p:cNvPr id="9011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90116" name="Picture 4" descr="figure_21_15"/>
          <p:cNvPicPr>
            <a:picLocks noChangeAspect="1" noChangeArrowheads="1"/>
          </p:cNvPicPr>
          <p:nvPr/>
        </p:nvPicPr>
        <p:blipFill>
          <a:blip r:embed="rId3"/>
          <a:srcRect/>
          <a:stretch>
            <a:fillRect/>
          </a:stretch>
        </p:blipFill>
        <p:spPr bwMode="auto">
          <a:xfrm>
            <a:off x="1830388" y="1981200"/>
            <a:ext cx="5484812" cy="3792538"/>
          </a:xfrm>
          <a:prstGeom prst="rect">
            <a:avLst/>
          </a:prstGeom>
          <a:noFill/>
          <a:ln w="12700">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63" name="Rectangle 3"/>
          <p:cNvSpPr>
            <a:spLocks noGrp="1" noChangeArrowheads="1"/>
          </p:cNvSpPr>
          <p:nvPr>
            <p:ph type="body" idx="1"/>
          </p:nvPr>
        </p:nvSpPr>
        <p:spPr>
          <a:xfrm>
            <a:off x="381000" y="1676400"/>
            <a:ext cx="8077200" cy="4800600"/>
          </a:xfrm>
        </p:spPr>
        <p:txBody>
          <a:bodyPr/>
          <a:lstStyle/>
          <a:p>
            <a:pPr marL="914400" indent="0">
              <a:buFontTx/>
              <a:buNone/>
              <a:tabLst>
                <a:tab pos="914400" algn="l"/>
                <a:tab pos="1308100" algn="l"/>
              </a:tabLst>
            </a:pPr>
            <a:r>
              <a:rPr lang="en-US" sz="3600" dirty="0">
                <a:latin typeface="Times New Roman" pitchFamily="18" charset="0"/>
                <a:cs typeface="Times New Roman" pitchFamily="18" charset="0"/>
              </a:rPr>
              <a:t>Does [Co(en)</a:t>
            </a:r>
            <a:r>
              <a:rPr lang="en-US" sz="3600" baseline="-25000" dirty="0">
                <a:latin typeface="Times New Roman" pitchFamily="18" charset="0"/>
                <a:cs typeface="Times New Roman" pitchFamily="18" charset="0"/>
              </a:rPr>
              <a:t>2</a:t>
            </a:r>
            <a:r>
              <a:rPr lang="en-US" sz="3600" dirty="0">
                <a:latin typeface="Times New Roman" pitchFamily="18" charset="0"/>
                <a:cs typeface="Times New Roman" pitchFamily="18" charset="0"/>
              </a:rPr>
              <a:t>Cl</a:t>
            </a:r>
            <a:r>
              <a:rPr lang="en-US" sz="3600" baseline="-25000" dirty="0">
                <a:latin typeface="Times New Roman" pitchFamily="18" charset="0"/>
                <a:cs typeface="Times New Roman" pitchFamily="18" charset="0"/>
              </a:rPr>
              <a:t>2</a:t>
            </a:r>
            <a:r>
              <a:rPr lang="en-US" sz="3600" dirty="0">
                <a:latin typeface="Times New Roman" pitchFamily="18" charset="0"/>
                <a:cs typeface="Times New Roman" pitchFamily="18" charset="0"/>
              </a:rPr>
              <a:t>]</a:t>
            </a:r>
            <a:r>
              <a:rPr lang="en-US" sz="3600" dirty="0" err="1">
                <a:latin typeface="Times New Roman" pitchFamily="18" charset="0"/>
                <a:cs typeface="Times New Roman" pitchFamily="18" charset="0"/>
              </a:rPr>
              <a:t>Cl</a:t>
            </a:r>
            <a:r>
              <a:rPr lang="en-US" sz="3600" dirty="0">
                <a:latin typeface="Times New Roman" pitchFamily="18" charset="0"/>
                <a:cs typeface="Times New Roman" pitchFamily="18" charset="0"/>
              </a:rPr>
              <a:t> exhibit geometrical isomerism?  </a:t>
            </a:r>
          </a:p>
          <a:p>
            <a:pPr marL="914400" indent="0">
              <a:buFontTx/>
              <a:buNone/>
              <a:tabLst>
                <a:tab pos="914400" algn="l"/>
                <a:tab pos="1308100" algn="l"/>
              </a:tabLst>
            </a:pPr>
            <a:r>
              <a:rPr lang="en-US" sz="3600" dirty="0">
                <a:latin typeface="Times New Roman" pitchFamily="18" charset="0"/>
                <a:cs typeface="Times New Roman" pitchFamily="18" charset="0"/>
              </a:rPr>
              <a:t>					</a:t>
            </a:r>
            <a:r>
              <a:rPr lang="en-US" dirty="0">
                <a:solidFill>
                  <a:srgbClr val="009900"/>
                </a:solidFill>
                <a:latin typeface="Times New Roman" pitchFamily="18" charset="0"/>
                <a:cs typeface="Times New Roman" pitchFamily="18" charset="0"/>
              </a:rPr>
              <a:t>Yes</a:t>
            </a:r>
            <a:endParaRPr lang="en-US" sz="3600" dirty="0">
              <a:latin typeface="Times New Roman" pitchFamily="18" charset="0"/>
              <a:cs typeface="Times New Roman" pitchFamily="18" charset="0"/>
            </a:endParaRPr>
          </a:p>
          <a:p>
            <a:pPr marL="914400" indent="0">
              <a:buFontTx/>
              <a:buNone/>
              <a:tabLst>
                <a:tab pos="914400" algn="l"/>
                <a:tab pos="1308100" algn="l"/>
              </a:tabLst>
            </a:pPr>
            <a:r>
              <a:rPr lang="en-US" sz="3600" dirty="0">
                <a:latin typeface="Times New Roman" pitchFamily="18" charset="0"/>
                <a:cs typeface="Times New Roman" pitchFamily="18" charset="0"/>
              </a:rPr>
              <a:t>Does it exhibit optical isomerism?</a:t>
            </a:r>
          </a:p>
          <a:p>
            <a:pPr marL="914400" indent="0">
              <a:buFontTx/>
              <a:buNone/>
              <a:tabLst>
                <a:tab pos="914400" algn="l"/>
                <a:tab pos="1308100" algn="l"/>
              </a:tabLst>
            </a:pPr>
            <a:r>
              <a:rPr lang="en-US" sz="3600" i="1" dirty="0">
                <a:solidFill>
                  <a:srgbClr val="009900"/>
                </a:solidFill>
                <a:latin typeface="Times New Roman" pitchFamily="18" charset="0"/>
                <a:cs typeface="Times New Roman" pitchFamily="18" charset="0"/>
              </a:rPr>
              <a:t>					</a:t>
            </a:r>
            <a:r>
              <a:rPr lang="en-US" i="1" dirty="0">
                <a:solidFill>
                  <a:srgbClr val="009900"/>
                </a:solidFill>
                <a:latin typeface="Times New Roman" pitchFamily="18" charset="0"/>
                <a:cs typeface="Times New Roman" pitchFamily="18" charset="0"/>
              </a:rPr>
              <a:t>Trans</a:t>
            </a:r>
            <a:r>
              <a:rPr lang="en-US" dirty="0">
                <a:solidFill>
                  <a:srgbClr val="009900"/>
                </a:solidFill>
                <a:latin typeface="Times New Roman" pitchFamily="18" charset="0"/>
                <a:cs typeface="Times New Roman" pitchFamily="18" charset="0"/>
              </a:rPr>
              <a:t> form – No</a:t>
            </a:r>
          </a:p>
          <a:p>
            <a:pPr marL="914400" indent="0">
              <a:buFontTx/>
              <a:buNone/>
              <a:tabLst>
                <a:tab pos="914400" algn="l"/>
                <a:tab pos="1308100" algn="l"/>
              </a:tabLst>
            </a:pPr>
            <a:r>
              <a:rPr lang="en-US" sz="3600" i="1" dirty="0">
                <a:solidFill>
                  <a:srgbClr val="009900"/>
                </a:solidFill>
                <a:latin typeface="Times New Roman" pitchFamily="18" charset="0"/>
                <a:cs typeface="Times New Roman" pitchFamily="18" charset="0"/>
              </a:rPr>
              <a:t>					</a:t>
            </a:r>
            <a:r>
              <a:rPr lang="en-US" i="1" dirty="0" err="1">
                <a:solidFill>
                  <a:srgbClr val="009900"/>
                </a:solidFill>
                <a:latin typeface="Times New Roman" pitchFamily="18" charset="0"/>
                <a:cs typeface="Times New Roman" pitchFamily="18" charset="0"/>
              </a:rPr>
              <a:t>Cis</a:t>
            </a:r>
            <a:r>
              <a:rPr lang="en-US" dirty="0">
                <a:solidFill>
                  <a:srgbClr val="009900"/>
                </a:solidFill>
                <a:latin typeface="Times New Roman" pitchFamily="18" charset="0"/>
                <a:cs typeface="Times New Roman" pitchFamily="18" charset="0"/>
              </a:rPr>
              <a:t> form – </a:t>
            </a:r>
            <a:r>
              <a:rPr lang="en-US" dirty="0" smtClean="0">
                <a:solidFill>
                  <a:srgbClr val="009900"/>
                </a:solidFill>
                <a:latin typeface="Times New Roman" pitchFamily="18" charset="0"/>
                <a:cs typeface="Times New Roman" pitchFamily="18" charset="0"/>
              </a:rPr>
              <a:t>Yes</a:t>
            </a:r>
            <a:endParaRPr lang="en-US" dirty="0">
              <a:solidFill>
                <a:srgbClr val="009900"/>
              </a:solidFill>
              <a:latin typeface="Times New Roman" pitchFamily="18" charset="0"/>
              <a:cs typeface="Times New Roman" pitchFamily="18" charset="0"/>
            </a:endParaRPr>
          </a:p>
        </p:txBody>
      </p:sp>
      <p:sp>
        <p:nvSpPr>
          <p:cNvPr id="5" name="Title 4"/>
          <p:cNvSpPr>
            <a:spLocks noGrp="1"/>
          </p:cNvSpPr>
          <p:nvPr>
            <p:ph type="title"/>
          </p:nvPr>
        </p:nvSpPr>
        <p:spPr/>
        <p:txBody>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3">
                                            <p:txEl>
                                              <p:pRg st="0" end="0"/>
                                            </p:txEl>
                                          </p:spTgt>
                                        </p:tgtEl>
                                        <p:attrNameLst>
                                          <p:attrName>style.visibility</p:attrName>
                                        </p:attrNameLst>
                                      </p:cBhvr>
                                      <p:to>
                                        <p:strVal val="visible"/>
                                      </p:to>
                                    </p:set>
                                    <p:animEffect transition="in" filter="wipe(left)">
                                      <p:cBhvr>
                                        <p:cTn id="7" dur="500"/>
                                        <p:tgtEl>
                                          <p:spTgt spid="921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2163">
                                            <p:txEl>
                                              <p:pRg st="1" end="1"/>
                                            </p:txEl>
                                          </p:spTgt>
                                        </p:tgtEl>
                                        <p:attrNameLst>
                                          <p:attrName>style.visibility</p:attrName>
                                        </p:attrNameLst>
                                      </p:cBhvr>
                                      <p:to>
                                        <p:strVal val="visible"/>
                                      </p:to>
                                    </p:set>
                                    <p:animEffect transition="in" filter="wipe(left)">
                                      <p:cBhvr>
                                        <p:cTn id="12" dur="500"/>
                                        <p:tgtEl>
                                          <p:spTgt spid="921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63">
                                            <p:txEl>
                                              <p:pRg st="2" end="2"/>
                                            </p:txEl>
                                          </p:spTgt>
                                        </p:tgtEl>
                                        <p:attrNameLst>
                                          <p:attrName>style.visibility</p:attrName>
                                        </p:attrNameLst>
                                      </p:cBhvr>
                                      <p:to>
                                        <p:strVal val="visible"/>
                                      </p:to>
                                    </p:set>
                                    <p:animEffect transition="in" filter="wipe(left)">
                                      <p:cBhvr>
                                        <p:cTn id="17" dur="500"/>
                                        <p:tgtEl>
                                          <p:spTgt spid="921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63">
                                            <p:txEl>
                                              <p:pRg st="3" end="3"/>
                                            </p:txEl>
                                          </p:spTgt>
                                        </p:tgtEl>
                                        <p:attrNameLst>
                                          <p:attrName>style.visibility</p:attrName>
                                        </p:attrNameLst>
                                      </p:cBhvr>
                                      <p:to>
                                        <p:strVal val="visible"/>
                                      </p:to>
                                    </p:set>
                                    <p:animEffect transition="in" filter="wipe(left)">
                                      <p:cBhvr>
                                        <p:cTn id="22" dur="500"/>
                                        <p:tgtEl>
                                          <p:spTgt spid="921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2163">
                                            <p:txEl>
                                              <p:pRg st="4" end="4"/>
                                            </p:txEl>
                                          </p:spTgt>
                                        </p:tgtEl>
                                        <p:attrNameLst>
                                          <p:attrName>style.visibility</p:attrName>
                                        </p:attrNameLst>
                                      </p:cBhvr>
                                      <p:to>
                                        <p:strVal val="visible"/>
                                      </p:to>
                                    </p:set>
                                    <p:animEffect transition="in" filter="wipe(left)">
                                      <p:cBhvr>
                                        <p:cTn id="27" dur="500"/>
                                        <p:tgtEl>
                                          <p:spTgt spid="921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3" grpId="0" build="p"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Bonding in Complex Ions</a:t>
            </a:r>
          </a:p>
        </p:txBody>
      </p:sp>
      <p:sp>
        <p:nvSpPr>
          <p:cNvPr id="94211" name="Rectangle 3"/>
          <p:cNvSpPr>
            <a:spLocks noGrp="1" noChangeArrowheads="1"/>
          </p:cNvSpPr>
          <p:nvPr>
            <p:ph type="body" idx="1"/>
          </p:nvPr>
        </p:nvSpPr>
        <p:spPr>
          <a:xfrm>
            <a:off x="457200" y="1524000"/>
            <a:ext cx="8229600" cy="4876800"/>
          </a:xfrm>
        </p:spPr>
        <p:txBody>
          <a:bodyPr/>
          <a:lstStyle/>
          <a:p>
            <a:pPr marL="457200" indent="-457200">
              <a:buFontTx/>
              <a:buAutoNum type="arabicPeriod"/>
            </a:pPr>
            <a:r>
              <a:rPr lang="en-US">
                <a:latin typeface="Times New Roman" pitchFamily="18" charset="0"/>
                <a:cs typeface="Times New Roman" pitchFamily="18" charset="0"/>
              </a:rPr>
              <a:t>The VSEPR model for predicting structure generally does not work for complex ions.</a:t>
            </a:r>
          </a:p>
          <a:p>
            <a:pPr marL="901700" lvl="1" indent="-444500">
              <a:buFont typeface="Wingdings" pitchFamily="2" charset="2"/>
              <a:buChar char="§"/>
            </a:pPr>
            <a:r>
              <a:rPr lang="en-US" sz="3000">
                <a:latin typeface="Times New Roman" pitchFamily="18" charset="0"/>
                <a:cs typeface="Times New Roman" pitchFamily="18" charset="0"/>
              </a:rPr>
              <a:t>However, assume a complex ion with a coordination number of 6 will have an octahedral arrangement of ligands.</a:t>
            </a:r>
          </a:p>
          <a:p>
            <a:pPr marL="901700" lvl="1" indent="-444500">
              <a:buFont typeface="Wingdings" pitchFamily="2" charset="2"/>
              <a:buChar char="§"/>
            </a:pPr>
            <a:r>
              <a:rPr lang="en-US" sz="3000">
                <a:latin typeface="Times New Roman" pitchFamily="18" charset="0"/>
                <a:cs typeface="Times New Roman" pitchFamily="18" charset="0"/>
              </a:rPr>
              <a:t>And, assume complexes with two ligands will be linear.</a:t>
            </a:r>
          </a:p>
          <a:p>
            <a:pPr marL="901700" lvl="1" indent="-444500">
              <a:buFont typeface="Wingdings" pitchFamily="2" charset="2"/>
              <a:buChar char="§"/>
            </a:pPr>
            <a:r>
              <a:rPr lang="en-US" sz="3000">
                <a:latin typeface="Times New Roman" pitchFamily="18" charset="0"/>
                <a:cs typeface="Times New Roman" pitchFamily="18" charset="0"/>
              </a:rPr>
              <a:t>But, complexes with a coordination number of 4 can be either tetrahedral or square planar.</a:t>
            </a:r>
          </a:p>
        </p:txBody>
      </p:sp>
      <p:sp>
        <p:nvSpPr>
          <p:cNvPr id="94212"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wipe(left)">
                                      <p:cBhvr>
                                        <p:cTn id="7" dur="500"/>
                                        <p:tgtEl>
                                          <p:spTgt spid="942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4211">
                                            <p:txEl>
                                              <p:pRg st="1" end="1"/>
                                            </p:txEl>
                                          </p:spTgt>
                                        </p:tgtEl>
                                        <p:attrNameLst>
                                          <p:attrName>style.visibility</p:attrName>
                                        </p:attrNameLst>
                                      </p:cBhvr>
                                      <p:to>
                                        <p:strVal val="visible"/>
                                      </p:to>
                                    </p:set>
                                    <p:animEffect transition="in" filter="wipe(left)">
                                      <p:cBhvr>
                                        <p:cTn id="12" dur="500"/>
                                        <p:tgtEl>
                                          <p:spTgt spid="942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4211">
                                            <p:txEl>
                                              <p:pRg st="2" end="2"/>
                                            </p:txEl>
                                          </p:spTgt>
                                        </p:tgtEl>
                                        <p:attrNameLst>
                                          <p:attrName>style.visibility</p:attrName>
                                        </p:attrNameLst>
                                      </p:cBhvr>
                                      <p:to>
                                        <p:strVal val="visible"/>
                                      </p:to>
                                    </p:set>
                                    <p:animEffect transition="in" filter="wipe(left)">
                                      <p:cBhvr>
                                        <p:cTn id="17" dur="500"/>
                                        <p:tgtEl>
                                          <p:spTgt spid="942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4211">
                                            <p:txEl>
                                              <p:pRg st="3" end="3"/>
                                            </p:txEl>
                                          </p:spTgt>
                                        </p:tgtEl>
                                        <p:attrNameLst>
                                          <p:attrName>style.visibility</p:attrName>
                                        </p:attrNameLst>
                                      </p:cBhvr>
                                      <p:to>
                                        <p:strVal val="visible"/>
                                      </p:to>
                                    </p:set>
                                    <p:animEffect transition="in" filter="wipe(left)">
                                      <p:cBhvr>
                                        <p:cTn id="22" dur="500"/>
                                        <p:tgtEl>
                                          <p:spTgt spid="942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build="p"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Bonding in Complex Ions</a:t>
            </a:r>
          </a:p>
        </p:txBody>
      </p:sp>
      <p:sp>
        <p:nvSpPr>
          <p:cNvPr id="96259" name="Rectangle 3"/>
          <p:cNvSpPr>
            <a:spLocks noGrp="1" noChangeArrowheads="1"/>
          </p:cNvSpPr>
          <p:nvPr>
            <p:ph type="body" idx="1"/>
          </p:nvPr>
        </p:nvSpPr>
        <p:spPr>
          <a:xfrm>
            <a:off x="457200" y="1752600"/>
            <a:ext cx="8229600" cy="2819400"/>
          </a:xfrm>
        </p:spPr>
        <p:txBody>
          <a:bodyPr/>
          <a:lstStyle/>
          <a:p>
            <a:pPr marL="457200" indent="-457200">
              <a:buFontTx/>
              <a:buNone/>
            </a:pPr>
            <a:r>
              <a:rPr lang="en-US">
                <a:latin typeface="Times New Roman" pitchFamily="18" charset="0"/>
                <a:cs typeface="Times New Roman" pitchFamily="18" charset="0"/>
              </a:rPr>
              <a:t>2.	The interaction between a metal ion and a ligand can be viewed as a Lewis acid–base reaction with the ligand donating a lone pair of electrons to an </a:t>
            </a:r>
            <a:r>
              <a:rPr lang="en-US" i="1">
                <a:latin typeface="Times New Roman" pitchFamily="18" charset="0"/>
                <a:cs typeface="Times New Roman" pitchFamily="18" charset="0"/>
              </a:rPr>
              <a:t>empty</a:t>
            </a:r>
            <a:r>
              <a:rPr lang="en-US">
                <a:latin typeface="Times New Roman" pitchFamily="18" charset="0"/>
                <a:cs typeface="Times New Roman" pitchFamily="18" charset="0"/>
              </a:rPr>
              <a:t> orbital of the metal ion to form a coordinate covalent bond.</a:t>
            </a:r>
          </a:p>
        </p:txBody>
      </p:sp>
      <p:sp>
        <p:nvSpPr>
          <p:cNvPr id="9626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9">
                                            <p:txEl>
                                              <p:pRg st="0" end="0"/>
                                            </p:txEl>
                                          </p:spTgt>
                                        </p:tgtEl>
                                        <p:attrNameLst>
                                          <p:attrName>style.visibility</p:attrName>
                                        </p:attrNameLst>
                                      </p:cBhvr>
                                      <p:to>
                                        <p:strVal val="visible"/>
                                      </p:to>
                                    </p:set>
                                    <p:animEffect transition="in" filter="wipe(left)">
                                      <p:cBhvr>
                                        <p:cTn id="7" dur="500"/>
                                        <p:tgtEl>
                                          <p:spTgt spid="9625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9" grpId="0" build="p"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228600" y="457200"/>
            <a:ext cx="8610600" cy="1600200"/>
          </a:xfrm>
        </p:spPr>
        <p:txBody>
          <a:bodyPr/>
          <a:lstStyle/>
          <a:p>
            <a:pPr>
              <a:spcBef>
                <a:spcPct val="20000"/>
              </a:spcBef>
            </a:pPr>
            <a:r>
              <a:rPr lang="en-US" altLang="en-US" sz="3200">
                <a:latin typeface="Times New Roman" pitchFamily="18" charset="0"/>
                <a:cs typeface="Times New Roman" pitchFamily="18" charset="0"/>
              </a:rPr>
              <a:t>The Interaction Between a Metal Ion and a Ligand Can Be Viewed as a Lewis Acid-Base Reaction</a:t>
            </a:r>
            <a:endParaRPr lang="en-US" sz="3200">
              <a:latin typeface="Times New Roman" pitchFamily="18" charset="0"/>
              <a:cs typeface="Times New Roman" pitchFamily="18" charset="0"/>
            </a:endParaRPr>
          </a:p>
        </p:txBody>
      </p:sp>
      <p:sp>
        <p:nvSpPr>
          <p:cNvPr id="9830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98308" name="Picture 4" descr="ch21_36"/>
          <p:cNvPicPr>
            <a:picLocks noChangeAspect="1" noChangeArrowheads="1"/>
          </p:cNvPicPr>
          <p:nvPr/>
        </p:nvPicPr>
        <p:blipFill>
          <a:blip r:embed="rId3"/>
          <a:srcRect/>
          <a:stretch>
            <a:fillRect/>
          </a:stretch>
        </p:blipFill>
        <p:spPr bwMode="auto">
          <a:xfrm>
            <a:off x="457200" y="2590800"/>
            <a:ext cx="8229600" cy="2435225"/>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normAutofit fontScale="90000"/>
          </a:bodyPr>
          <a:lstStyle/>
          <a:p>
            <a:pPr>
              <a:spcBef>
                <a:spcPct val="20000"/>
              </a:spcBef>
            </a:pPr>
            <a:r>
              <a:rPr lang="en-US" altLang="en-US" sz="3600">
                <a:latin typeface="Times New Roman" pitchFamily="18" charset="0"/>
                <a:cs typeface="Times New Roman" pitchFamily="18" charset="0"/>
              </a:rPr>
              <a:t>Hybrid Orbitals on Co</a:t>
            </a:r>
            <a:r>
              <a:rPr lang="en-US" altLang="en-US" sz="3600" baseline="30000">
                <a:latin typeface="Times New Roman" pitchFamily="18" charset="0"/>
                <a:cs typeface="Times New Roman" pitchFamily="18" charset="0"/>
              </a:rPr>
              <a:t>3+</a:t>
            </a:r>
            <a:r>
              <a:rPr lang="en-US" altLang="en-US" sz="3600">
                <a:latin typeface="Times New Roman" pitchFamily="18" charset="0"/>
                <a:cs typeface="Times New Roman" pitchFamily="18" charset="0"/>
              </a:rPr>
              <a:t> Can Accept an Electron Pair from Each NH</a:t>
            </a:r>
            <a:r>
              <a:rPr lang="en-US" altLang="en-US" sz="3600" baseline="-25000">
                <a:latin typeface="Times New Roman" pitchFamily="18" charset="0"/>
                <a:cs typeface="Times New Roman" pitchFamily="18" charset="0"/>
              </a:rPr>
              <a:t>3</a:t>
            </a:r>
            <a:r>
              <a:rPr lang="en-US" altLang="en-US" sz="3600">
                <a:latin typeface="Times New Roman" pitchFamily="18" charset="0"/>
                <a:cs typeface="Times New Roman" pitchFamily="18" charset="0"/>
              </a:rPr>
              <a:t> Ligand</a:t>
            </a:r>
            <a:endParaRPr lang="en-US" sz="3600">
              <a:latin typeface="Times New Roman" pitchFamily="18" charset="0"/>
              <a:cs typeface="Times New Roman" pitchFamily="18" charset="0"/>
            </a:endParaRPr>
          </a:p>
        </p:txBody>
      </p:sp>
      <p:sp>
        <p:nvSpPr>
          <p:cNvPr id="10035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0356" name="Picture 4" descr="ch21_37"/>
          <p:cNvPicPr>
            <a:picLocks noChangeAspect="1" noChangeArrowheads="1"/>
          </p:cNvPicPr>
          <p:nvPr/>
        </p:nvPicPr>
        <p:blipFill>
          <a:blip r:embed="rId3"/>
          <a:srcRect/>
          <a:stretch>
            <a:fillRect/>
          </a:stretch>
        </p:blipFill>
        <p:spPr bwMode="auto">
          <a:xfrm>
            <a:off x="2667000" y="1981200"/>
            <a:ext cx="3790950" cy="41148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457200" y="274638"/>
            <a:ext cx="8229600" cy="1401762"/>
          </a:xfrm>
        </p:spPr>
        <p:txBody>
          <a:bodyPr/>
          <a:lstStyle/>
          <a:p>
            <a:pPr>
              <a:spcBef>
                <a:spcPct val="20000"/>
              </a:spcBef>
            </a:pPr>
            <a:r>
              <a:rPr lang="en-US" altLang="en-US" sz="3200">
                <a:latin typeface="Times New Roman" pitchFamily="18" charset="0"/>
                <a:cs typeface="Times New Roman" pitchFamily="18" charset="0"/>
              </a:rPr>
              <a:t>The Hybrid Orbitals Required for Tetrahedral, Square Planar, and Linear Complex Ions</a:t>
            </a:r>
            <a:endParaRPr lang="en-US" sz="3200">
              <a:latin typeface="Times New Roman" pitchFamily="18" charset="0"/>
              <a:cs typeface="Times New Roman" pitchFamily="18" charset="0"/>
            </a:endParaRPr>
          </a:p>
        </p:txBody>
      </p:sp>
      <p:sp>
        <p:nvSpPr>
          <p:cNvPr id="10240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2404" name="Picture 4" descr="ch21_38"/>
          <p:cNvPicPr>
            <a:picLocks noChangeAspect="1" noChangeArrowheads="1"/>
          </p:cNvPicPr>
          <p:nvPr/>
        </p:nvPicPr>
        <p:blipFill>
          <a:blip r:embed="rId3"/>
          <a:srcRect/>
          <a:stretch>
            <a:fillRect/>
          </a:stretch>
        </p:blipFill>
        <p:spPr bwMode="auto">
          <a:xfrm>
            <a:off x="533400" y="2133600"/>
            <a:ext cx="8077200" cy="318135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a:xfrm>
            <a:off x="457200" y="1371600"/>
            <a:ext cx="8229600" cy="5029200"/>
          </a:xfrm>
        </p:spPr>
        <p:txBody>
          <a:bodyPr/>
          <a:lstStyle/>
          <a:p>
            <a:pPr marL="457200" indent="-457200"/>
            <a:r>
              <a:rPr lang="en-US">
                <a:latin typeface="Times New Roman" pitchFamily="18" charset="0"/>
                <a:cs typeface="Times New Roman" pitchFamily="18" charset="0"/>
              </a:rPr>
              <a:t>Focuses on the effect of ligands on the energies of the </a:t>
            </a:r>
            <a:r>
              <a:rPr lang="en-US" i="1">
                <a:latin typeface="Times New Roman" pitchFamily="18" charset="0"/>
                <a:cs typeface="Times New Roman" pitchFamily="18" charset="0"/>
              </a:rPr>
              <a:t>d </a:t>
            </a:r>
            <a:r>
              <a:rPr lang="en-US">
                <a:latin typeface="Times New Roman" pitchFamily="18" charset="0"/>
                <a:cs typeface="Times New Roman" pitchFamily="18" charset="0"/>
              </a:rPr>
              <a:t>orbitals of metals.</a:t>
            </a:r>
          </a:p>
          <a:p>
            <a:pPr marL="901700" lvl="1" indent="-444500">
              <a:buFontTx/>
              <a:buNone/>
            </a:pPr>
            <a:r>
              <a:rPr lang="en-US" sz="3200" u="sng">
                <a:latin typeface="Times New Roman" pitchFamily="18" charset="0"/>
                <a:cs typeface="Times New Roman" pitchFamily="18" charset="0"/>
              </a:rPr>
              <a:t>Assumptions</a:t>
            </a:r>
          </a:p>
          <a:p>
            <a:pPr marL="901700" lvl="1" indent="-444500">
              <a:buFontTx/>
              <a:buAutoNum type="arabicPeriod"/>
            </a:pPr>
            <a:r>
              <a:rPr lang="en-US" sz="3200">
                <a:latin typeface="Times New Roman" pitchFamily="18" charset="0"/>
                <a:cs typeface="Times New Roman" pitchFamily="18" charset="0"/>
              </a:rPr>
              <a:t>Ligands are negative point charges.</a:t>
            </a:r>
          </a:p>
          <a:p>
            <a:pPr marL="901700" lvl="1" indent="-444500">
              <a:buFontTx/>
              <a:buAutoNum type="arabicPeriod"/>
            </a:pPr>
            <a:r>
              <a:rPr lang="en-US" sz="3200">
                <a:latin typeface="Times New Roman" pitchFamily="18" charset="0"/>
                <a:cs typeface="Times New Roman" pitchFamily="18" charset="0"/>
              </a:rPr>
              <a:t>Metal–ligand bonding is entirely ionic:</a:t>
            </a:r>
          </a:p>
          <a:p>
            <a:pPr marL="1379538" lvl="2" indent="-476250"/>
            <a:r>
              <a:rPr lang="en-US" sz="2800">
                <a:latin typeface="Times New Roman" pitchFamily="18" charset="0"/>
                <a:cs typeface="Times New Roman" pitchFamily="18" charset="0"/>
              </a:rPr>
              <a:t>strong-field (low–spin):  </a:t>
            </a:r>
          </a:p>
          <a:p>
            <a:pPr marL="1379538" lvl="2" indent="-476250">
              <a:buFontTx/>
              <a:buNone/>
            </a:pPr>
            <a:r>
              <a:rPr lang="en-US" sz="2800">
                <a:latin typeface="Times New Roman" pitchFamily="18" charset="0"/>
                <a:cs typeface="Times New Roman" pitchFamily="18" charset="0"/>
              </a:rPr>
              <a:t>	large splitting of </a:t>
            </a:r>
            <a:r>
              <a:rPr lang="en-US" sz="2800" i="1">
                <a:latin typeface="Times New Roman" pitchFamily="18" charset="0"/>
                <a:cs typeface="Times New Roman" pitchFamily="18" charset="0"/>
              </a:rPr>
              <a:t>d</a:t>
            </a:r>
            <a:r>
              <a:rPr lang="en-US" sz="2800">
                <a:latin typeface="Times New Roman" pitchFamily="18" charset="0"/>
                <a:cs typeface="Times New Roman" pitchFamily="18" charset="0"/>
              </a:rPr>
              <a:t> orbitals</a:t>
            </a:r>
          </a:p>
          <a:p>
            <a:pPr marL="1379538" lvl="2" indent="-476250"/>
            <a:r>
              <a:rPr lang="en-US" sz="2800">
                <a:latin typeface="Times New Roman" pitchFamily="18" charset="0"/>
                <a:cs typeface="Times New Roman" pitchFamily="18" charset="0"/>
              </a:rPr>
              <a:t>weak-field (high–spin):  </a:t>
            </a:r>
          </a:p>
          <a:p>
            <a:pPr marL="1379538" lvl="2" indent="-476250">
              <a:buFontTx/>
              <a:buNone/>
            </a:pPr>
            <a:r>
              <a:rPr lang="en-US" sz="2800">
                <a:latin typeface="Times New Roman" pitchFamily="18" charset="0"/>
                <a:cs typeface="Times New Roman" pitchFamily="18" charset="0"/>
              </a:rPr>
              <a:t>	small splitting of </a:t>
            </a:r>
            <a:r>
              <a:rPr lang="en-US" sz="2800" i="1">
                <a:latin typeface="Times New Roman" pitchFamily="18" charset="0"/>
                <a:cs typeface="Times New Roman" pitchFamily="18" charset="0"/>
              </a:rPr>
              <a:t>d</a:t>
            </a:r>
            <a:r>
              <a:rPr lang="en-US" sz="2800">
                <a:latin typeface="Times New Roman" pitchFamily="18" charset="0"/>
                <a:cs typeface="Times New Roman" pitchFamily="18" charset="0"/>
              </a:rPr>
              <a:t> orbitals</a:t>
            </a:r>
          </a:p>
        </p:txBody>
      </p:sp>
      <p:sp>
        <p:nvSpPr>
          <p:cNvPr id="10445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104452" name="Rectangle 4"/>
          <p:cNvSpPr>
            <a:spLocks noGrp="1" noChangeArrowheads="1"/>
          </p:cNvSpPr>
          <p:nvPr>
            <p:ph type="title"/>
          </p:nvPr>
        </p:nvSpPr>
        <p:spPr>
          <a:xfrm>
            <a:off x="457200" y="274638"/>
            <a:ext cx="8229600" cy="944562"/>
          </a:xfrm>
        </p:spPr>
        <p:txBody>
          <a:bodyPr/>
          <a:lstStyle/>
          <a:p>
            <a:r>
              <a:rPr lang="en-US" sz="4000">
                <a:latin typeface="Times New Roman" pitchFamily="18" charset="0"/>
                <a:cs typeface="Times New Roman" pitchFamily="18" charset="0"/>
              </a:rPr>
              <a:t>Crystal Field Model</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4450">
                                            <p:txEl>
                                              <p:pRg st="0" end="0"/>
                                            </p:txEl>
                                          </p:spTgt>
                                        </p:tgtEl>
                                        <p:attrNameLst>
                                          <p:attrName>style.visibility</p:attrName>
                                        </p:attrNameLst>
                                      </p:cBhvr>
                                      <p:to>
                                        <p:strVal val="visible"/>
                                      </p:to>
                                    </p:set>
                                    <p:animEffect transition="in" filter="wipe(left)">
                                      <p:cBhvr>
                                        <p:cTn id="7" dur="500"/>
                                        <p:tgtEl>
                                          <p:spTgt spid="1044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4450">
                                            <p:txEl>
                                              <p:pRg st="1" end="1"/>
                                            </p:txEl>
                                          </p:spTgt>
                                        </p:tgtEl>
                                        <p:attrNameLst>
                                          <p:attrName>style.visibility</p:attrName>
                                        </p:attrNameLst>
                                      </p:cBhvr>
                                      <p:to>
                                        <p:strVal val="visible"/>
                                      </p:to>
                                    </p:set>
                                    <p:animEffect transition="in" filter="wipe(left)">
                                      <p:cBhvr>
                                        <p:cTn id="12" dur="500"/>
                                        <p:tgtEl>
                                          <p:spTgt spid="10445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4450">
                                            <p:txEl>
                                              <p:pRg st="2" end="2"/>
                                            </p:txEl>
                                          </p:spTgt>
                                        </p:tgtEl>
                                        <p:attrNameLst>
                                          <p:attrName>style.visibility</p:attrName>
                                        </p:attrNameLst>
                                      </p:cBhvr>
                                      <p:to>
                                        <p:strVal val="visible"/>
                                      </p:to>
                                    </p:set>
                                    <p:animEffect transition="in" filter="wipe(left)">
                                      <p:cBhvr>
                                        <p:cTn id="17" dur="500"/>
                                        <p:tgtEl>
                                          <p:spTgt spid="10445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4450">
                                            <p:txEl>
                                              <p:pRg st="3" end="3"/>
                                            </p:txEl>
                                          </p:spTgt>
                                        </p:tgtEl>
                                        <p:attrNameLst>
                                          <p:attrName>style.visibility</p:attrName>
                                        </p:attrNameLst>
                                      </p:cBhvr>
                                      <p:to>
                                        <p:strVal val="visible"/>
                                      </p:to>
                                    </p:set>
                                    <p:animEffect transition="in" filter="wipe(left)">
                                      <p:cBhvr>
                                        <p:cTn id="22" dur="500"/>
                                        <p:tgtEl>
                                          <p:spTgt spid="10445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04450">
                                            <p:txEl>
                                              <p:pRg st="4" end="4"/>
                                            </p:txEl>
                                          </p:spTgt>
                                        </p:tgtEl>
                                        <p:attrNameLst>
                                          <p:attrName>style.visibility</p:attrName>
                                        </p:attrNameLst>
                                      </p:cBhvr>
                                      <p:to>
                                        <p:strVal val="visible"/>
                                      </p:to>
                                    </p:set>
                                    <p:animEffect transition="in" filter="wipe(left)">
                                      <p:cBhvr>
                                        <p:cTn id="27" dur="500"/>
                                        <p:tgtEl>
                                          <p:spTgt spid="10445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4450">
                                            <p:txEl>
                                              <p:pRg st="5" end="5"/>
                                            </p:txEl>
                                          </p:spTgt>
                                        </p:tgtEl>
                                        <p:attrNameLst>
                                          <p:attrName>style.visibility</p:attrName>
                                        </p:attrNameLst>
                                      </p:cBhvr>
                                      <p:to>
                                        <p:strVal val="visible"/>
                                      </p:to>
                                    </p:set>
                                    <p:animEffect transition="in" filter="wipe(left)">
                                      <p:cBhvr>
                                        <p:cTn id="32" dur="500"/>
                                        <p:tgtEl>
                                          <p:spTgt spid="10445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04450">
                                            <p:txEl>
                                              <p:pRg st="6" end="6"/>
                                            </p:txEl>
                                          </p:spTgt>
                                        </p:tgtEl>
                                        <p:attrNameLst>
                                          <p:attrName>style.visibility</p:attrName>
                                        </p:attrNameLst>
                                      </p:cBhvr>
                                      <p:to>
                                        <p:strVal val="visible"/>
                                      </p:to>
                                    </p:set>
                                    <p:animEffect transition="in" filter="wipe(left)">
                                      <p:cBhvr>
                                        <p:cTn id="37" dur="500"/>
                                        <p:tgtEl>
                                          <p:spTgt spid="104450">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04450">
                                            <p:txEl>
                                              <p:pRg st="7" end="7"/>
                                            </p:txEl>
                                          </p:spTgt>
                                        </p:tgtEl>
                                        <p:attrNameLst>
                                          <p:attrName>style.visibility</p:attrName>
                                        </p:attrNameLst>
                                      </p:cBhvr>
                                      <p:to>
                                        <p:strVal val="visible"/>
                                      </p:to>
                                    </p:set>
                                    <p:animEffect transition="in" filter="wipe(left)">
                                      <p:cBhvr>
                                        <p:cTn id="42" dur="500"/>
                                        <p:tgtEl>
                                          <p:spTgt spid="10445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uild="p"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457200" y="381000"/>
            <a:ext cx="7543800" cy="1036638"/>
          </a:xfrm>
        </p:spPr>
        <p:txBody>
          <a:bodyPr/>
          <a:lstStyle/>
          <a:p>
            <a:pPr>
              <a:spcBef>
                <a:spcPct val="20000"/>
              </a:spcBef>
            </a:pPr>
            <a:r>
              <a:rPr lang="en-US" sz="4000">
                <a:latin typeface="Times New Roman" pitchFamily="18" charset="0"/>
                <a:cs typeface="Times New Roman" pitchFamily="18" charset="0"/>
              </a:rPr>
              <a:t>Octahedral Complexes</a:t>
            </a:r>
          </a:p>
        </p:txBody>
      </p:sp>
      <p:sp>
        <p:nvSpPr>
          <p:cNvPr id="106499" name="Rectangle 3"/>
          <p:cNvSpPr>
            <a:spLocks noGrp="1" noChangeArrowheads="1"/>
          </p:cNvSpPr>
          <p:nvPr>
            <p:ph type="body" idx="1"/>
          </p:nvPr>
        </p:nvSpPr>
        <p:spPr>
          <a:xfrm>
            <a:off x="457200" y="1752600"/>
            <a:ext cx="8229600" cy="2819400"/>
          </a:xfrm>
        </p:spPr>
        <p:txBody>
          <a:bodyPr/>
          <a:lstStyle/>
          <a:p>
            <a:pPr marL="457200" indent="-457200"/>
            <a:r>
              <a:rPr lang="en-US" sz="3600"/>
              <a:t>                 </a:t>
            </a:r>
            <a:r>
              <a:rPr lang="en-US" sz="3600">
                <a:latin typeface="Times New Roman" pitchFamily="18" charset="0"/>
                <a:cs typeface="Times New Roman" pitchFamily="18" charset="0"/>
              </a:rPr>
              <a:t>point their lobes </a:t>
            </a:r>
            <a:r>
              <a:rPr lang="en-US" sz="3600" i="1">
                <a:latin typeface="Times New Roman" pitchFamily="18" charset="0"/>
                <a:cs typeface="Times New Roman" pitchFamily="18" charset="0"/>
              </a:rPr>
              <a:t>directly</a:t>
            </a:r>
            <a:r>
              <a:rPr lang="en-US" sz="3600">
                <a:latin typeface="Times New Roman" pitchFamily="18" charset="0"/>
                <a:cs typeface="Times New Roman" pitchFamily="18" charset="0"/>
              </a:rPr>
              <a:t> at the point-charge ligands.</a:t>
            </a:r>
          </a:p>
          <a:p>
            <a:pPr marL="457200" indent="-457200"/>
            <a:r>
              <a:rPr lang="en-US" sz="3600">
                <a:latin typeface="Times New Roman" pitchFamily="18" charset="0"/>
                <a:cs typeface="Times New Roman" pitchFamily="18" charset="0"/>
              </a:rPr>
              <a:t>                      point their lobes </a:t>
            </a:r>
            <a:r>
              <a:rPr lang="en-US" sz="3600" i="1">
                <a:latin typeface="Times New Roman" pitchFamily="18" charset="0"/>
                <a:cs typeface="Times New Roman" pitchFamily="18" charset="0"/>
              </a:rPr>
              <a:t>between</a:t>
            </a:r>
            <a:r>
              <a:rPr lang="en-US" sz="3600">
                <a:latin typeface="Times New Roman" pitchFamily="18" charset="0"/>
                <a:cs typeface="Times New Roman" pitchFamily="18" charset="0"/>
              </a:rPr>
              <a:t> the point charges.</a:t>
            </a:r>
          </a:p>
        </p:txBody>
      </p:sp>
      <p:sp>
        <p:nvSpPr>
          <p:cNvPr id="106500" name="Rectangle 4"/>
          <p:cNvSpPr>
            <a:spLocks noChangeArrowheads="1"/>
          </p:cNvSpPr>
          <p:nvPr/>
        </p:nvSpPr>
        <p:spPr bwMode="auto">
          <a:xfrm>
            <a:off x="0" y="3276600"/>
            <a:ext cx="9144000" cy="0"/>
          </a:xfrm>
          <a:prstGeom prst="rect">
            <a:avLst/>
          </a:prstGeom>
          <a:noFill/>
          <a:ln w="9525">
            <a:noFill/>
            <a:miter lim="800000"/>
            <a:headEnd/>
            <a:tailEnd/>
          </a:ln>
          <a:effectLst/>
        </p:spPr>
        <p:txBody>
          <a:bodyPr wrap="none" anchor="ctr">
            <a:spAutoFit/>
          </a:bodyPr>
          <a:lstStyle/>
          <a:p>
            <a:endParaRPr lang="en-US"/>
          </a:p>
        </p:txBody>
      </p:sp>
      <p:sp>
        <p:nvSpPr>
          <p:cNvPr id="106501" name="Rectangle 5"/>
          <p:cNvSpPr>
            <a:spLocks noChangeArrowheads="1"/>
          </p:cNvSpPr>
          <p:nvPr/>
        </p:nvSpPr>
        <p:spPr bwMode="auto">
          <a:xfrm>
            <a:off x="0" y="3181350"/>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06502" name="Object 6"/>
          <p:cNvGraphicFramePr>
            <a:graphicFrameLocks noChangeAspect="1"/>
          </p:cNvGraphicFramePr>
          <p:nvPr/>
        </p:nvGraphicFramePr>
        <p:xfrm>
          <a:off x="990600" y="1905000"/>
          <a:ext cx="2009775" cy="495300"/>
        </p:xfrm>
        <a:graphic>
          <a:graphicData uri="http://schemas.openxmlformats.org/presentationml/2006/ole">
            <mc:AlternateContent xmlns:mc="http://schemas.openxmlformats.org/markup-compatibility/2006">
              <mc:Choice xmlns:v="urn:schemas-microsoft-com:vml" Requires="v">
                <p:oleObj spid="_x0000_s85016" name="Equation" r:id="rId4" imgW="2005729" imgH="495085" progId="">
                  <p:embed/>
                </p:oleObj>
              </mc:Choice>
              <mc:Fallback>
                <p:oleObj name="Equation" r:id="rId4" imgW="2005729" imgH="495085"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1905000"/>
                        <a:ext cx="20097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6503" name="Rectangle 7"/>
          <p:cNvSpPr>
            <a:spLocks noChangeArrowheads="1"/>
          </p:cNvSpPr>
          <p:nvPr/>
        </p:nvSpPr>
        <p:spPr bwMode="auto">
          <a:xfrm>
            <a:off x="0" y="3195638"/>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06504" name="Object 8"/>
          <p:cNvGraphicFramePr>
            <a:graphicFrameLocks noChangeAspect="1"/>
          </p:cNvGraphicFramePr>
          <p:nvPr/>
        </p:nvGraphicFramePr>
        <p:xfrm>
          <a:off x="1066800" y="3048000"/>
          <a:ext cx="2286000" cy="466725"/>
        </p:xfrm>
        <a:graphic>
          <a:graphicData uri="http://schemas.openxmlformats.org/presentationml/2006/ole">
            <mc:AlternateContent xmlns:mc="http://schemas.openxmlformats.org/markup-compatibility/2006">
              <mc:Choice xmlns:v="urn:schemas-microsoft-com:vml" Requires="v">
                <p:oleObj spid="_x0000_s85017" name="Equation" r:id="rId6" imgW="2286000" imgH="469900" progId="">
                  <p:embed/>
                </p:oleObj>
              </mc:Choice>
              <mc:Fallback>
                <p:oleObj name="Equation" r:id="rId6" imgW="2286000" imgH="469900" progId="">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3048000"/>
                        <a:ext cx="22860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wipe(left)">
                                      <p:cBhvr>
                                        <p:cTn id="7" dur="500"/>
                                        <p:tgtEl>
                                          <p:spTgt spid="106499">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06502"/>
                                        </p:tgtEl>
                                        <p:attrNameLst>
                                          <p:attrName>style.visibility</p:attrName>
                                        </p:attrNameLst>
                                      </p:cBhvr>
                                      <p:to>
                                        <p:strVal val="visible"/>
                                      </p:to>
                                    </p:set>
                                    <p:animEffect transition="in" filter="wipe(left)">
                                      <p:cBhvr>
                                        <p:cTn id="10" dur="500"/>
                                        <p:tgtEl>
                                          <p:spTgt spid="10650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6499">
                                            <p:txEl>
                                              <p:pRg st="1" end="1"/>
                                            </p:txEl>
                                          </p:spTgt>
                                        </p:tgtEl>
                                        <p:attrNameLst>
                                          <p:attrName>style.visibility</p:attrName>
                                        </p:attrNameLst>
                                      </p:cBhvr>
                                      <p:to>
                                        <p:strVal val="visible"/>
                                      </p:to>
                                    </p:set>
                                    <p:animEffect transition="in" filter="wipe(left)">
                                      <p:cBhvr>
                                        <p:cTn id="15" dur="500"/>
                                        <p:tgtEl>
                                          <p:spTgt spid="106499">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06504"/>
                                        </p:tgtEl>
                                        <p:attrNameLst>
                                          <p:attrName>style.visibility</p:attrName>
                                        </p:attrNameLst>
                                      </p:cBhvr>
                                      <p:to>
                                        <p:strVal val="visible"/>
                                      </p:to>
                                    </p:set>
                                    <p:animEffect transition="in" filter="wipe(left)">
                                      <p:cBhvr>
                                        <p:cTn id="18" dur="500"/>
                                        <p:tgtEl>
                                          <p:spTgt spid="1065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457200" y="381000"/>
            <a:ext cx="8229600" cy="1295400"/>
          </a:xfrm>
        </p:spPr>
        <p:txBody>
          <a:bodyPr/>
          <a:lstStyle/>
          <a:p>
            <a:pPr>
              <a:spcBef>
                <a:spcPct val="20000"/>
              </a:spcBef>
            </a:pPr>
            <a:r>
              <a:rPr lang="en-US" altLang="en-US" sz="3200">
                <a:latin typeface="Times New Roman" pitchFamily="18" charset="0"/>
                <a:cs typeface="Times New Roman" pitchFamily="18" charset="0"/>
              </a:rPr>
              <a:t>An Octahedral Arrangement of Point-Charge Ligands and the Orientation of the 3</a:t>
            </a:r>
            <a:r>
              <a:rPr lang="en-US" altLang="en-US" sz="3200" i="1">
                <a:latin typeface="Times New Roman" pitchFamily="18" charset="0"/>
                <a:cs typeface="Times New Roman" pitchFamily="18" charset="0"/>
              </a:rPr>
              <a:t>d</a:t>
            </a:r>
            <a:r>
              <a:rPr lang="en-US" altLang="en-US" sz="3200">
                <a:latin typeface="Times New Roman" pitchFamily="18" charset="0"/>
                <a:cs typeface="Times New Roman" pitchFamily="18" charset="0"/>
              </a:rPr>
              <a:t> Orbitals</a:t>
            </a:r>
            <a:endParaRPr lang="en-US" sz="3200">
              <a:latin typeface="Times New Roman" pitchFamily="18" charset="0"/>
              <a:cs typeface="Times New Roman" pitchFamily="18" charset="0"/>
            </a:endParaRPr>
          </a:p>
        </p:txBody>
      </p:sp>
      <p:sp>
        <p:nvSpPr>
          <p:cNvPr id="10854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08548" name="Picture 4" descr="ch21_41"/>
          <p:cNvPicPr>
            <a:picLocks noChangeAspect="1" noChangeArrowheads="1"/>
          </p:cNvPicPr>
          <p:nvPr/>
        </p:nvPicPr>
        <p:blipFill>
          <a:blip r:embed="rId3"/>
          <a:srcRect/>
          <a:stretch>
            <a:fillRect/>
          </a:stretch>
        </p:blipFill>
        <p:spPr bwMode="auto">
          <a:xfrm>
            <a:off x="1600200" y="1981200"/>
            <a:ext cx="5715000" cy="427355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457200" y="381000"/>
            <a:ext cx="8229600" cy="838200"/>
          </a:xfrm>
        </p:spPr>
        <p:txBody>
          <a:bodyPr/>
          <a:lstStyle/>
          <a:p>
            <a:pPr>
              <a:spcBef>
                <a:spcPct val="20000"/>
              </a:spcBef>
            </a:pPr>
            <a:r>
              <a:rPr lang="en-US" sz="3600">
                <a:latin typeface="Times New Roman" pitchFamily="18" charset="0"/>
                <a:cs typeface="Times New Roman" pitchFamily="18" charset="0"/>
              </a:rPr>
              <a:t>Which Type of Orbital is Lower in Energy?</a:t>
            </a:r>
          </a:p>
        </p:txBody>
      </p:sp>
      <p:sp>
        <p:nvSpPr>
          <p:cNvPr id="110595" name="Rectangle 3"/>
          <p:cNvSpPr>
            <a:spLocks noGrp="1" noChangeArrowheads="1"/>
          </p:cNvSpPr>
          <p:nvPr>
            <p:ph type="body" idx="1"/>
          </p:nvPr>
        </p:nvSpPr>
        <p:spPr>
          <a:xfrm>
            <a:off x="457200" y="1524000"/>
            <a:ext cx="8229600" cy="4724400"/>
          </a:xfrm>
        </p:spPr>
        <p:txBody>
          <a:bodyPr/>
          <a:lstStyle/>
          <a:p>
            <a:pPr marL="457200" indent="-457200"/>
            <a:r>
              <a:rPr lang="en-US">
                <a:latin typeface="Times New Roman" pitchFamily="18" charset="0"/>
                <a:cs typeface="Times New Roman" pitchFamily="18" charset="0"/>
              </a:rPr>
              <a:t>Because the negative point-charge ligands repel negatively charged electrons, the electrons will first fill the </a:t>
            </a:r>
            <a:r>
              <a:rPr lang="en-US" i="1">
                <a:latin typeface="Times New Roman" pitchFamily="18" charset="0"/>
                <a:cs typeface="Times New Roman" pitchFamily="18" charset="0"/>
              </a:rPr>
              <a:t>d</a:t>
            </a:r>
            <a:r>
              <a:rPr lang="en-US">
                <a:latin typeface="Times New Roman" pitchFamily="18" charset="0"/>
                <a:cs typeface="Times New Roman" pitchFamily="18" charset="0"/>
              </a:rPr>
              <a:t> orbitals farthest from the ligands to minimize repulsions.</a:t>
            </a:r>
          </a:p>
          <a:p>
            <a:pPr marL="457200" indent="-457200"/>
            <a:r>
              <a:rPr lang="en-US">
                <a:latin typeface="Times New Roman" pitchFamily="18" charset="0"/>
                <a:cs typeface="Times New Roman" pitchFamily="18" charset="0"/>
              </a:rPr>
              <a:t>The 			 orbitals are at a </a:t>
            </a:r>
            <a:r>
              <a:rPr lang="en-US" i="1">
                <a:latin typeface="Times New Roman" pitchFamily="18" charset="0"/>
                <a:cs typeface="Times New Roman" pitchFamily="18" charset="0"/>
              </a:rPr>
              <a:t>lower</a:t>
            </a:r>
            <a:r>
              <a:rPr lang="en-US">
                <a:latin typeface="Times New Roman" pitchFamily="18" charset="0"/>
                <a:cs typeface="Times New Roman" pitchFamily="18" charset="0"/>
              </a:rPr>
              <a:t> energy in the octahedral complex than are the 			orbitals.</a:t>
            </a:r>
          </a:p>
        </p:txBody>
      </p:sp>
      <p:sp>
        <p:nvSpPr>
          <p:cNvPr id="11059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110597" name="Rectangle 5"/>
          <p:cNvSpPr>
            <a:spLocks noChangeArrowheads="1"/>
          </p:cNvSpPr>
          <p:nvPr/>
        </p:nvSpPr>
        <p:spPr bwMode="auto">
          <a:xfrm>
            <a:off x="0" y="3181350"/>
            <a:ext cx="9144000" cy="0"/>
          </a:xfrm>
          <a:prstGeom prst="rect">
            <a:avLst/>
          </a:prstGeom>
          <a:noFill/>
          <a:ln w="9525">
            <a:noFill/>
            <a:miter lim="800000"/>
            <a:headEnd/>
            <a:tailEnd/>
          </a:ln>
          <a:effectLst/>
        </p:spPr>
        <p:txBody>
          <a:bodyPr wrap="none" anchor="ctr">
            <a:spAutoFit/>
          </a:bodyPr>
          <a:lstStyle/>
          <a:p>
            <a:endParaRPr lang="en-US"/>
          </a:p>
        </p:txBody>
      </p:sp>
      <p:sp>
        <p:nvSpPr>
          <p:cNvPr id="110598" name="Rectangle 6"/>
          <p:cNvSpPr>
            <a:spLocks noChangeArrowheads="1"/>
          </p:cNvSpPr>
          <p:nvPr/>
        </p:nvSpPr>
        <p:spPr bwMode="auto">
          <a:xfrm>
            <a:off x="0" y="3195638"/>
            <a:ext cx="9144000" cy="0"/>
          </a:xfrm>
          <a:prstGeom prst="rect">
            <a:avLst/>
          </a:prstGeom>
          <a:noFill/>
          <a:ln w="9525">
            <a:noFill/>
            <a:miter lim="800000"/>
            <a:headEnd/>
            <a:tailEnd/>
          </a:ln>
          <a:effectLst/>
        </p:spPr>
        <p:txBody>
          <a:bodyPr wrap="none" anchor="ctr">
            <a:spAutoFit/>
          </a:bodyPr>
          <a:lstStyle/>
          <a:p>
            <a:endParaRPr lang="en-US"/>
          </a:p>
        </p:txBody>
      </p:sp>
      <p:graphicFrame>
        <p:nvGraphicFramePr>
          <p:cNvPr id="110599" name="Object 7"/>
          <p:cNvGraphicFramePr>
            <a:graphicFrameLocks noChangeAspect="1"/>
          </p:cNvGraphicFramePr>
          <p:nvPr/>
        </p:nvGraphicFramePr>
        <p:xfrm>
          <a:off x="1066800" y="4724400"/>
          <a:ext cx="2009775" cy="495300"/>
        </p:xfrm>
        <a:graphic>
          <a:graphicData uri="http://schemas.openxmlformats.org/presentationml/2006/ole">
            <mc:AlternateContent xmlns:mc="http://schemas.openxmlformats.org/markup-compatibility/2006">
              <mc:Choice xmlns:v="urn:schemas-microsoft-com:vml" Requires="v">
                <p:oleObj spid="_x0000_s86040" name="Equation" r:id="rId4" imgW="2005729" imgH="495085" progId="">
                  <p:embed/>
                </p:oleObj>
              </mc:Choice>
              <mc:Fallback>
                <p:oleObj name="Equation" r:id="rId4" imgW="2005729" imgH="495085" progId="">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724400"/>
                        <a:ext cx="20097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0600" name="Object 8"/>
          <p:cNvGraphicFramePr>
            <a:graphicFrameLocks noChangeAspect="1"/>
          </p:cNvGraphicFramePr>
          <p:nvPr/>
        </p:nvGraphicFramePr>
        <p:xfrm>
          <a:off x="1905000" y="3733800"/>
          <a:ext cx="2286000" cy="466725"/>
        </p:xfrm>
        <a:graphic>
          <a:graphicData uri="http://schemas.openxmlformats.org/presentationml/2006/ole">
            <mc:AlternateContent xmlns:mc="http://schemas.openxmlformats.org/markup-compatibility/2006">
              <mc:Choice xmlns:v="urn:schemas-microsoft-com:vml" Requires="v">
                <p:oleObj spid="_x0000_s86041" name="Equation" r:id="rId6" imgW="2286000" imgH="469900" progId="">
                  <p:embed/>
                </p:oleObj>
              </mc:Choice>
              <mc:Fallback>
                <p:oleObj name="Equation" r:id="rId6" imgW="2286000" imgH="469900" progId="">
                  <p:embed/>
                  <p:pic>
                    <p:nvPicPr>
                      <p:cNvPr id="0"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3733800"/>
                        <a:ext cx="2286000"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0595">
                                            <p:txEl>
                                              <p:pRg st="0" end="0"/>
                                            </p:txEl>
                                          </p:spTgt>
                                        </p:tgtEl>
                                        <p:attrNameLst>
                                          <p:attrName>style.visibility</p:attrName>
                                        </p:attrNameLst>
                                      </p:cBhvr>
                                      <p:to>
                                        <p:strVal val="visible"/>
                                      </p:to>
                                    </p:set>
                                    <p:animEffect transition="in" filter="wipe(left)">
                                      <p:cBhvr>
                                        <p:cTn id="7" dur="500"/>
                                        <p:tgtEl>
                                          <p:spTgt spid="1105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5">
                                            <p:txEl>
                                              <p:pRg st="1" end="1"/>
                                            </p:txEl>
                                          </p:spTgt>
                                        </p:tgtEl>
                                        <p:attrNameLst>
                                          <p:attrName>style.visibility</p:attrName>
                                        </p:attrNameLst>
                                      </p:cBhvr>
                                      <p:to>
                                        <p:strVal val="visible"/>
                                      </p:to>
                                    </p:set>
                                    <p:animEffect transition="in" filter="wipe(left)">
                                      <p:cBhvr>
                                        <p:cTn id="12" dur="500"/>
                                        <p:tgtEl>
                                          <p:spTgt spid="110595">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10599"/>
                                        </p:tgtEl>
                                        <p:attrNameLst>
                                          <p:attrName>style.visibility</p:attrName>
                                        </p:attrNameLst>
                                      </p:cBhvr>
                                      <p:to>
                                        <p:strVal val="visible"/>
                                      </p:to>
                                    </p:set>
                                    <p:animEffect transition="in" filter="wipe(left)">
                                      <p:cBhvr>
                                        <p:cTn id="15" dur="500"/>
                                        <p:tgtEl>
                                          <p:spTgt spid="110599"/>
                                        </p:tgtEl>
                                      </p:cBhvr>
                                    </p:animEffect>
                                  </p:childTnLst>
                                </p:cTn>
                              </p:par>
                              <p:par>
                                <p:cTn id="16" presetID="22" presetClass="entr" presetSubtype="8" fill="hold" nodeType="withEffect">
                                  <p:stCondLst>
                                    <p:cond delay="0"/>
                                  </p:stCondLst>
                                  <p:childTnLst>
                                    <p:set>
                                      <p:cBhvr>
                                        <p:cTn id="17" dur="1" fill="hold">
                                          <p:stCondLst>
                                            <p:cond delay="0"/>
                                          </p:stCondLst>
                                        </p:cTn>
                                        <p:tgtEl>
                                          <p:spTgt spid="110600"/>
                                        </p:tgtEl>
                                        <p:attrNameLst>
                                          <p:attrName>style.visibility</p:attrName>
                                        </p:attrNameLst>
                                      </p:cBhvr>
                                      <p:to>
                                        <p:strVal val="visible"/>
                                      </p:to>
                                    </p:set>
                                    <p:animEffect transition="in" filter="wipe(left)">
                                      <p:cBhvr>
                                        <p:cTn id="18" dur="500"/>
                                        <p:tgtEl>
                                          <p:spTgt spid="110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5" grpId="0" build="p"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a:xfrm>
            <a:off x="457200" y="457200"/>
            <a:ext cx="8229600" cy="1371600"/>
          </a:xfrm>
        </p:spPr>
        <p:txBody>
          <a:bodyPr/>
          <a:lstStyle/>
          <a:p>
            <a:pPr>
              <a:spcBef>
                <a:spcPct val="20000"/>
              </a:spcBef>
            </a:pPr>
            <a:r>
              <a:rPr lang="en-US" altLang="en-US" sz="3600">
                <a:latin typeface="Times New Roman" pitchFamily="18" charset="0"/>
                <a:cs typeface="Times New Roman" pitchFamily="18" charset="0"/>
              </a:rPr>
              <a:t>The Energies of the 3</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Orbitals for a Metal Ion in an Octahedral Complex</a:t>
            </a:r>
            <a:endParaRPr lang="en-US" sz="3600">
              <a:latin typeface="Times New Roman" pitchFamily="18" charset="0"/>
              <a:cs typeface="Times New Roman" pitchFamily="18" charset="0"/>
            </a:endParaRPr>
          </a:p>
        </p:txBody>
      </p:sp>
      <p:sp>
        <p:nvSpPr>
          <p:cNvPr id="11264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12644" name="Picture 4" descr="ch21_42"/>
          <p:cNvPicPr>
            <a:picLocks noChangeAspect="1" noChangeArrowheads="1"/>
          </p:cNvPicPr>
          <p:nvPr/>
        </p:nvPicPr>
        <p:blipFill>
          <a:blip r:embed="rId3"/>
          <a:srcRect/>
          <a:stretch>
            <a:fillRect/>
          </a:stretch>
        </p:blipFill>
        <p:spPr bwMode="auto">
          <a:xfrm>
            <a:off x="1905000" y="2133600"/>
            <a:ext cx="4648200" cy="3995738"/>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a:xfrm>
            <a:off x="304800" y="304800"/>
            <a:ext cx="8458200" cy="1143000"/>
          </a:xfrm>
        </p:spPr>
        <p:txBody>
          <a:bodyPr/>
          <a:lstStyle/>
          <a:p>
            <a:pPr>
              <a:spcBef>
                <a:spcPct val="20000"/>
              </a:spcBef>
            </a:pPr>
            <a:r>
              <a:rPr lang="en-US" altLang="en-US" sz="3200">
                <a:latin typeface="Times New Roman" pitchFamily="18" charset="0"/>
                <a:cs typeface="Times New Roman" pitchFamily="18" charset="0"/>
              </a:rPr>
              <a:t>Possible Electron Arrangements in the Split 3</a:t>
            </a:r>
            <a:r>
              <a:rPr lang="en-US" altLang="en-US" sz="3200" i="1">
                <a:latin typeface="Times New Roman" pitchFamily="18" charset="0"/>
                <a:cs typeface="Times New Roman" pitchFamily="18" charset="0"/>
              </a:rPr>
              <a:t>d</a:t>
            </a:r>
            <a:r>
              <a:rPr lang="en-US" altLang="en-US" sz="3200">
                <a:latin typeface="Times New Roman" pitchFamily="18" charset="0"/>
                <a:cs typeface="Times New Roman" pitchFamily="18" charset="0"/>
              </a:rPr>
              <a:t> Orbitals in an Octahedral Complex of Co</a:t>
            </a:r>
            <a:r>
              <a:rPr lang="en-US" altLang="en-US" sz="3200" baseline="30000">
                <a:latin typeface="Times New Roman" pitchFamily="18" charset="0"/>
                <a:cs typeface="Times New Roman" pitchFamily="18" charset="0"/>
              </a:rPr>
              <a:t>3+</a:t>
            </a:r>
            <a:endParaRPr lang="en-US" sz="3200" baseline="30000">
              <a:latin typeface="Times New Roman" pitchFamily="18" charset="0"/>
              <a:cs typeface="Times New Roman" pitchFamily="18" charset="0"/>
            </a:endParaRPr>
          </a:p>
        </p:txBody>
      </p:sp>
      <p:sp>
        <p:nvSpPr>
          <p:cNvPr id="11469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14692" name="Picture 4" descr="ch21_43"/>
          <p:cNvPicPr>
            <a:picLocks noChangeAspect="1" noChangeArrowheads="1"/>
          </p:cNvPicPr>
          <p:nvPr/>
        </p:nvPicPr>
        <p:blipFill>
          <a:blip r:embed="rId3"/>
          <a:srcRect/>
          <a:stretch>
            <a:fillRect/>
          </a:stretch>
        </p:blipFill>
        <p:spPr bwMode="auto">
          <a:xfrm>
            <a:off x="2590800" y="1600200"/>
            <a:ext cx="3852863" cy="495300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457200" y="274638"/>
            <a:ext cx="7010400" cy="1143000"/>
          </a:xfrm>
        </p:spPr>
        <p:txBody>
          <a:bodyPr/>
          <a:lstStyle/>
          <a:p>
            <a:pPr>
              <a:spcBef>
                <a:spcPct val="20000"/>
              </a:spcBef>
            </a:pPr>
            <a:r>
              <a:rPr lang="en-US" sz="4000">
                <a:latin typeface="Times New Roman" pitchFamily="18" charset="0"/>
                <a:cs typeface="Times New Roman" pitchFamily="18" charset="0"/>
              </a:rPr>
              <a:t>Magnetic Properties</a:t>
            </a:r>
          </a:p>
        </p:txBody>
      </p:sp>
      <p:sp>
        <p:nvSpPr>
          <p:cNvPr id="116739" name="Rectangle 3"/>
          <p:cNvSpPr>
            <a:spLocks noGrp="1" noChangeArrowheads="1"/>
          </p:cNvSpPr>
          <p:nvPr>
            <p:ph type="body" idx="1"/>
          </p:nvPr>
        </p:nvSpPr>
        <p:spPr>
          <a:xfrm>
            <a:off x="685800" y="1752600"/>
            <a:ext cx="8001000" cy="4419600"/>
          </a:xfrm>
        </p:spPr>
        <p:txBody>
          <a:bodyPr/>
          <a:lstStyle/>
          <a:p>
            <a:pPr marL="457200" indent="-457200"/>
            <a:r>
              <a:rPr lang="en-US" sz="3600">
                <a:latin typeface="Times New Roman" pitchFamily="18" charset="0"/>
                <a:cs typeface="Times New Roman" pitchFamily="18" charset="0"/>
              </a:rPr>
              <a:t>Strong–field (low–spin):</a:t>
            </a:r>
          </a:p>
          <a:p>
            <a:pPr marL="914400" lvl="1" indent="-457200">
              <a:buFont typeface="Wingdings" pitchFamily="2" charset="2"/>
              <a:buChar char="§"/>
            </a:pPr>
            <a:r>
              <a:rPr lang="en-US" sz="3200">
                <a:latin typeface="Times New Roman" pitchFamily="18" charset="0"/>
                <a:cs typeface="Times New Roman" pitchFamily="18" charset="0"/>
              </a:rPr>
              <a:t>Yields the minimum number of unpaired electrons.</a:t>
            </a:r>
          </a:p>
          <a:p>
            <a:pPr marL="457200" indent="-457200"/>
            <a:r>
              <a:rPr lang="en-US" sz="3600">
                <a:latin typeface="Times New Roman" pitchFamily="18" charset="0"/>
                <a:cs typeface="Times New Roman" pitchFamily="18" charset="0"/>
              </a:rPr>
              <a:t>Weak–field (high–spin):</a:t>
            </a:r>
          </a:p>
          <a:p>
            <a:pPr marL="914400" lvl="1" indent="-457200">
              <a:buFont typeface="Wingdings" pitchFamily="2" charset="2"/>
              <a:buChar char="§"/>
            </a:pPr>
            <a:r>
              <a:rPr lang="en-US" sz="3200">
                <a:latin typeface="Times New Roman" pitchFamily="18" charset="0"/>
                <a:cs typeface="Times New Roman" pitchFamily="18" charset="0"/>
              </a:rPr>
              <a:t>Gives the maximum number of unpaired electrons.</a:t>
            </a:r>
          </a:p>
          <a:p>
            <a:pPr marL="457200" indent="-457200"/>
            <a:r>
              <a:rPr lang="en-US" sz="3600">
                <a:latin typeface="Times New Roman" pitchFamily="18" charset="0"/>
                <a:cs typeface="Times New Roman" pitchFamily="18" charset="0"/>
              </a:rPr>
              <a:t>Hund’s rule still applies.</a:t>
            </a:r>
          </a:p>
        </p:txBody>
      </p:sp>
      <p:sp>
        <p:nvSpPr>
          <p:cNvPr id="11674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6739">
                                            <p:txEl>
                                              <p:pRg st="0" end="0"/>
                                            </p:txEl>
                                          </p:spTgt>
                                        </p:tgtEl>
                                        <p:attrNameLst>
                                          <p:attrName>style.visibility</p:attrName>
                                        </p:attrNameLst>
                                      </p:cBhvr>
                                      <p:to>
                                        <p:strVal val="visible"/>
                                      </p:to>
                                    </p:set>
                                    <p:animEffect transition="in" filter="wipe(left)">
                                      <p:cBhvr>
                                        <p:cTn id="7" dur="500"/>
                                        <p:tgtEl>
                                          <p:spTgt spid="11673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6739">
                                            <p:txEl>
                                              <p:pRg st="1" end="1"/>
                                            </p:txEl>
                                          </p:spTgt>
                                        </p:tgtEl>
                                        <p:attrNameLst>
                                          <p:attrName>style.visibility</p:attrName>
                                        </p:attrNameLst>
                                      </p:cBhvr>
                                      <p:to>
                                        <p:strVal val="visible"/>
                                      </p:to>
                                    </p:set>
                                    <p:animEffect transition="in" filter="wipe(left)">
                                      <p:cBhvr>
                                        <p:cTn id="12" dur="500"/>
                                        <p:tgtEl>
                                          <p:spTgt spid="11673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6739">
                                            <p:txEl>
                                              <p:pRg st="2" end="2"/>
                                            </p:txEl>
                                          </p:spTgt>
                                        </p:tgtEl>
                                        <p:attrNameLst>
                                          <p:attrName>style.visibility</p:attrName>
                                        </p:attrNameLst>
                                      </p:cBhvr>
                                      <p:to>
                                        <p:strVal val="visible"/>
                                      </p:to>
                                    </p:set>
                                    <p:animEffect transition="in" filter="wipe(left)">
                                      <p:cBhvr>
                                        <p:cTn id="17" dur="500"/>
                                        <p:tgtEl>
                                          <p:spTgt spid="11673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6739">
                                            <p:txEl>
                                              <p:pRg st="3" end="3"/>
                                            </p:txEl>
                                          </p:spTgt>
                                        </p:tgtEl>
                                        <p:attrNameLst>
                                          <p:attrName>style.visibility</p:attrName>
                                        </p:attrNameLst>
                                      </p:cBhvr>
                                      <p:to>
                                        <p:strVal val="visible"/>
                                      </p:to>
                                    </p:set>
                                    <p:animEffect transition="in" filter="wipe(left)">
                                      <p:cBhvr>
                                        <p:cTn id="22" dur="500"/>
                                        <p:tgtEl>
                                          <p:spTgt spid="11673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6739">
                                            <p:txEl>
                                              <p:pRg st="4" end="4"/>
                                            </p:txEl>
                                          </p:spTgt>
                                        </p:tgtEl>
                                        <p:attrNameLst>
                                          <p:attrName>style.visibility</p:attrName>
                                        </p:attrNameLst>
                                      </p:cBhvr>
                                      <p:to>
                                        <p:strVal val="visible"/>
                                      </p:to>
                                    </p:set>
                                    <p:animEffect transition="in" filter="wipe(left)">
                                      <p:cBhvr>
                                        <p:cTn id="27" dur="500"/>
                                        <p:tgtEl>
                                          <p:spTgt spid="1167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9" grpId="0" build="p"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457200" y="274638"/>
            <a:ext cx="7239000" cy="1143000"/>
          </a:xfrm>
        </p:spPr>
        <p:txBody>
          <a:bodyPr/>
          <a:lstStyle/>
          <a:p>
            <a:pPr>
              <a:spcBef>
                <a:spcPct val="20000"/>
              </a:spcBef>
            </a:pPr>
            <a:r>
              <a:rPr lang="en-US" sz="4000">
                <a:latin typeface="Times New Roman" pitchFamily="18" charset="0"/>
                <a:cs typeface="Times New Roman" pitchFamily="18" charset="0"/>
              </a:rPr>
              <a:t>Spectrochemical Series</a:t>
            </a:r>
          </a:p>
        </p:txBody>
      </p:sp>
      <p:sp>
        <p:nvSpPr>
          <p:cNvPr id="118787" name="Rectangle 3"/>
          <p:cNvSpPr>
            <a:spLocks noGrp="1" noChangeArrowheads="1"/>
          </p:cNvSpPr>
          <p:nvPr>
            <p:ph type="body" idx="1"/>
          </p:nvPr>
        </p:nvSpPr>
        <p:spPr>
          <a:xfrm>
            <a:off x="228600" y="1752600"/>
            <a:ext cx="8686800" cy="3733800"/>
          </a:xfrm>
        </p:spPr>
        <p:txBody>
          <a:bodyPr/>
          <a:lstStyle/>
          <a:p>
            <a:pPr marL="457200" indent="-457200"/>
            <a:r>
              <a:rPr lang="en-US">
                <a:latin typeface="Times New Roman" pitchFamily="18" charset="0"/>
                <a:cs typeface="Times New Roman" pitchFamily="18" charset="0"/>
              </a:rPr>
              <a:t>Strong–field ligands to weak–field ligands.</a:t>
            </a:r>
          </a:p>
          <a:p>
            <a:pPr marL="457200" indent="-457200">
              <a:buFontTx/>
              <a:buNone/>
            </a:pPr>
            <a:r>
              <a:rPr lang="en-US" sz="2000"/>
              <a:t>	</a:t>
            </a:r>
          </a:p>
          <a:p>
            <a:pPr marL="457200" indent="-457200">
              <a:buFontTx/>
              <a:buNone/>
            </a:pPr>
            <a:r>
              <a:rPr lang="en-US" sz="2800">
                <a:solidFill>
                  <a:srgbClr val="FF0000"/>
                </a:solidFill>
                <a:latin typeface="Times New Roman" pitchFamily="18" charset="0"/>
                <a:cs typeface="Times New Roman" pitchFamily="18" charset="0"/>
              </a:rPr>
              <a:t>(large split)</a:t>
            </a:r>
            <a:r>
              <a:rPr lang="en-US" sz="2800">
                <a:latin typeface="Times New Roman" pitchFamily="18" charset="0"/>
                <a:cs typeface="Times New Roman" pitchFamily="18" charset="0"/>
              </a:rPr>
              <a:t>				  		   </a:t>
            </a:r>
            <a:r>
              <a:rPr lang="en-US" sz="2800">
                <a:solidFill>
                  <a:srgbClr val="FF0000"/>
                </a:solidFill>
                <a:latin typeface="Times New Roman" pitchFamily="18" charset="0"/>
                <a:cs typeface="Times New Roman" pitchFamily="18" charset="0"/>
              </a:rPr>
              <a:t>(small split)</a:t>
            </a:r>
          </a:p>
          <a:p>
            <a:pPr marL="457200" indent="-457200">
              <a:buFontTx/>
              <a:buNone/>
            </a:pPr>
            <a:r>
              <a:rPr lang="en-US" sz="2800">
                <a:solidFill>
                  <a:srgbClr val="0000FF"/>
                </a:solidFill>
                <a:latin typeface="Times New Roman" pitchFamily="18" charset="0"/>
                <a:cs typeface="Times New Roman" pitchFamily="18" charset="0"/>
              </a:rPr>
              <a:t>CN</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NO</a:t>
            </a:r>
            <a:r>
              <a:rPr lang="en-US" sz="2800" baseline="-25000">
                <a:solidFill>
                  <a:srgbClr val="0000FF"/>
                </a:solidFill>
                <a:latin typeface="Times New Roman" pitchFamily="18" charset="0"/>
                <a:cs typeface="Times New Roman" pitchFamily="18" charset="0"/>
              </a:rPr>
              <a:t>2</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en &gt; NH</a:t>
            </a:r>
            <a:r>
              <a:rPr lang="en-US" sz="2800" baseline="-25000">
                <a:solidFill>
                  <a:srgbClr val="0000FF"/>
                </a:solidFill>
                <a:latin typeface="Times New Roman" pitchFamily="18" charset="0"/>
                <a:cs typeface="Times New Roman" pitchFamily="18" charset="0"/>
              </a:rPr>
              <a:t>3</a:t>
            </a:r>
            <a:r>
              <a:rPr lang="en-US" sz="2800">
                <a:solidFill>
                  <a:srgbClr val="0000FF"/>
                </a:solidFill>
                <a:latin typeface="Times New Roman" pitchFamily="18" charset="0"/>
                <a:cs typeface="Times New Roman" pitchFamily="18" charset="0"/>
              </a:rPr>
              <a:t> &gt; H</a:t>
            </a:r>
            <a:r>
              <a:rPr lang="en-US" sz="2800" baseline="-25000">
                <a:solidFill>
                  <a:srgbClr val="0000FF"/>
                </a:solidFill>
                <a:latin typeface="Times New Roman" pitchFamily="18" charset="0"/>
                <a:cs typeface="Times New Roman" pitchFamily="18" charset="0"/>
              </a:rPr>
              <a:t>2</a:t>
            </a:r>
            <a:r>
              <a:rPr lang="en-US" sz="2800">
                <a:solidFill>
                  <a:srgbClr val="0000FF"/>
                </a:solidFill>
                <a:latin typeface="Times New Roman" pitchFamily="18" charset="0"/>
                <a:cs typeface="Times New Roman" pitchFamily="18" charset="0"/>
              </a:rPr>
              <a:t>O &gt; OH</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F</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Cl</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Br</a:t>
            </a:r>
            <a:r>
              <a:rPr lang="en-US" sz="2800" baseline="30000">
                <a:solidFill>
                  <a:srgbClr val="0000FF"/>
                </a:solidFill>
                <a:latin typeface="Times New Roman" pitchFamily="18" charset="0"/>
                <a:cs typeface="Times New Roman" pitchFamily="18" charset="0"/>
              </a:rPr>
              <a:t>–</a:t>
            </a:r>
            <a:r>
              <a:rPr lang="en-US" sz="2800">
                <a:solidFill>
                  <a:srgbClr val="0000FF"/>
                </a:solidFill>
                <a:latin typeface="Times New Roman" pitchFamily="18" charset="0"/>
                <a:cs typeface="Times New Roman" pitchFamily="18" charset="0"/>
              </a:rPr>
              <a:t> &gt; I</a:t>
            </a:r>
            <a:r>
              <a:rPr lang="en-US" sz="2800" baseline="30000">
                <a:solidFill>
                  <a:srgbClr val="0000FF"/>
                </a:solidFill>
                <a:latin typeface="Times New Roman" pitchFamily="18" charset="0"/>
                <a:cs typeface="Times New Roman" pitchFamily="18" charset="0"/>
              </a:rPr>
              <a:t>–</a:t>
            </a:r>
          </a:p>
          <a:p>
            <a:pPr marL="457200" indent="-457200">
              <a:buFontTx/>
              <a:buNone/>
            </a:pPr>
            <a:endParaRPr lang="en-US" sz="2800" baseline="30000">
              <a:solidFill>
                <a:srgbClr val="0000FF"/>
              </a:solidFill>
              <a:latin typeface="Times New Roman" pitchFamily="18" charset="0"/>
              <a:cs typeface="Times New Roman" pitchFamily="18" charset="0"/>
            </a:endParaRPr>
          </a:p>
          <a:p>
            <a:pPr marL="457200" indent="-457200"/>
            <a:r>
              <a:rPr lang="en-US">
                <a:latin typeface="Times New Roman" pitchFamily="18" charset="0"/>
                <a:cs typeface="Times New Roman" pitchFamily="18" charset="0"/>
              </a:rPr>
              <a:t>Magnitude of split for a given ligand increases as the charge on the metal ion increases.</a:t>
            </a:r>
          </a:p>
        </p:txBody>
      </p:sp>
      <p:sp>
        <p:nvSpPr>
          <p:cNvPr id="11878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8787">
                                            <p:txEl>
                                              <p:pRg st="0" end="0"/>
                                            </p:txEl>
                                          </p:spTgt>
                                        </p:tgtEl>
                                        <p:attrNameLst>
                                          <p:attrName>style.visibility</p:attrName>
                                        </p:attrNameLst>
                                      </p:cBhvr>
                                      <p:to>
                                        <p:strVal val="visible"/>
                                      </p:to>
                                    </p:set>
                                    <p:animEffect transition="in" filter="wipe(left)">
                                      <p:cBhvr>
                                        <p:cTn id="7" dur="500"/>
                                        <p:tgtEl>
                                          <p:spTgt spid="118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8787">
                                            <p:txEl>
                                              <p:pRg st="2" end="2"/>
                                            </p:txEl>
                                          </p:spTgt>
                                        </p:tgtEl>
                                        <p:attrNameLst>
                                          <p:attrName>style.visibility</p:attrName>
                                        </p:attrNameLst>
                                      </p:cBhvr>
                                      <p:to>
                                        <p:strVal val="visible"/>
                                      </p:to>
                                    </p:set>
                                    <p:animEffect transition="in" filter="wipe(left)">
                                      <p:cBhvr>
                                        <p:cTn id="12" dur="500"/>
                                        <p:tgtEl>
                                          <p:spTgt spid="118787">
                                            <p:txEl>
                                              <p:pRg st="2" end="2"/>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18787">
                                            <p:txEl>
                                              <p:pRg st="3" end="3"/>
                                            </p:txEl>
                                          </p:spTgt>
                                        </p:tgtEl>
                                        <p:attrNameLst>
                                          <p:attrName>style.visibility</p:attrName>
                                        </p:attrNameLst>
                                      </p:cBhvr>
                                      <p:to>
                                        <p:strVal val="visible"/>
                                      </p:to>
                                    </p:set>
                                    <p:animEffect transition="in" filter="wipe(left)">
                                      <p:cBhvr>
                                        <p:cTn id="15" dur="500"/>
                                        <p:tgtEl>
                                          <p:spTgt spid="118787">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8787">
                                            <p:txEl>
                                              <p:pRg st="5" end="5"/>
                                            </p:txEl>
                                          </p:spTgt>
                                        </p:tgtEl>
                                        <p:attrNameLst>
                                          <p:attrName>style.visibility</p:attrName>
                                        </p:attrNameLst>
                                      </p:cBhvr>
                                      <p:to>
                                        <p:strVal val="visible"/>
                                      </p:to>
                                    </p:set>
                                    <p:animEffect transition="in" filter="wipe(left)">
                                      <p:cBhvr>
                                        <p:cTn id="20" dur="500"/>
                                        <p:tgtEl>
                                          <p:spTgt spid="1187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7" grpId="0" build="p" autoUpdateAnimBg="0"/>
    </p:bld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a:xfrm>
            <a:off x="685800" y="274638"/>
            <a:ext cx="7239000" cy="1143000"/>
          </a:xfrm>
        </p:spPr>
        <p:txBody>
          <a:bodyPr/>
          <a:lstStyle/>
          <a:p>
            <a:pPr>
              <a:spcBef>
                <a:spcPct val="20000"/>
              </a:spcBef>
            </a:pPr>
            <a:r>
              <a:rPr lang="en-US" sz="4000" dirty="0">
                <a:latin typeface="Times New Roman" pitchFamily="18" charset="0"/>
                <a:cs typeface="Times New Roman" pitchFamily="18" charset="0"/>
              </a:rPr>
              <a:t>Complex Ion </a:t>
            </a:r>
            <a:r>
              <a:rPr lang="en-US" sz="4000" dirty="0" err="1" smtClean="0">
                <a:latin typeface="Times New Roman" pitchFamily="18" charset="0"/>
                <a:cs typeface="Times New Roman" pitchFamily="18" charset="0"/>
              </a:rPr>
              <a:t>Colours</a:t>
            </a:r>
            <a:endParaRPr lang="en-US" sz="4000" dirty="0">
              <a:latin typeface="Times New Roman" pitchFamily="18" charset="0"/>
              <a:cs typeface="Times New Roman" pitchFamily="18" charset="0"/>
            </a:endParaRPr>
          </a:p>
        </p:txBody>
      </p:sp>
      <p:sp>
        <p:nvSpPr>
          <p:cNvPr id="120835" name="Rectangle 3"/>
          <p:cNvSpPr>
            <a:spLocks noGrp="1" noChangeArrowheads="1"/>
          </p:cNvSpPr>
          <p:nvPr>
            <p:ph type="body" idx="1"/>
          </p:nvPr>
        </p:nvSpPr>
        <p:spPr>
          <a:xfrm>
            <a:off x="457200" y="1752600"/>
            <a:ext cx="8229600" cy="4267200"/>
          </a:xfrm>
        </p:spPr>
        <p:txBody>
          <a:bodyPr/>
          <a:lstStyle/>
          <a:p>
            <a:pPr marL="457200" indent="-457200"/>
            <a:r>
              <a:rPr lang="en-US" sz="3600" dirty="0">
                <a:latin typeface="Times New Roman" pitchFamily="18" charset="0"/>
                <a:cs typeface="Times New Roman" pitchFamily="18" charset="0"/>
              </a:rPr>
              <a:t>When a substance absorbs certain wavelengths of light in the visible region, the </a:t>
            </a:r>
            <a:r>
              <a:rPr lang="en-US" sz="3600" dirty="0" err="1" smtClean="0">
                <a:latin typeface="Times New Roman" pitchFamily="18" charset="0"/>
                <a:cs typeface="Times New Roman" pitchFamily="18" charset="0"/>
              </a:rPr>
              <a:t>colour</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of the substance is determined by the wavelengths of visible light that remain.</a:t>
            </a:r>
          </a:p>
          <a:p>
            <a:pPr marL="914400" lvl="1" indent="-457200">
              <a:buFont typeface="Wingdings" pitchFamily="2" charset="2"/>
              <a:buChar char="§"/>
            </a:pPr>
            <a:r>
              <a:rPr lang="en-US" sz="3200" dirty="0">
                <a:latin typeface="Times New Roman" pitchFamily="18" charset="0"/>
                <a:cs typeface="Times New Roman" pitchFamily="18" charset="0"/>
              </a:rPr>
              <a:t>Substance exhibits the </a:t>
            </a:r>
            <a:r>
              <a:rPr lang="en-US" sz="3200" dirty="0" err="1" smtClean="0">
                <a:latin typeface="Times New Roman" pitchFamily="18" charset="0"/>
                <a:cs typeface="Times New Roman" pitchFamily="18" charset="0"/>
              </a:rPr>
              <a:t>colour</a:t>
            </a:r>
            <a:r>
              <a:rPr lang="en-US" sz="3200" dirty="0" smtClean="0">
                <a:latin typeface="Times New Roman" pitchFamily="18" charset="0"/>
                <a:cs typeface="Times New Roman" pitchFamily="18" charset="0"/>
              </a:rPr>
              <a:t> </a:t>
            </a:r>
            <a:r>
              <a:rPr lang="en-US" sz="3200" dirty="0">
                <a:latin typeface="Times New Roman" pitchFamily="18" charset="0"/>
                <a:cs typeface="Times New Roman" pitchFamily="18" charset="0"/>
              </a:rPr>
              <a:t>complementary to those absorbed.</a:t>
            </a:r>
          </a:p>
        </p:txBody>
      </p:sp>
      <p:sp>
        <p:nvSpPr>
          <p:cNvPr id="120836"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xEl>
                                              <p:pRg st="0" end="0"/>
                                            </p:txEl>
                                          </p:spTgt>
                                        </p:tgtEl>
                                        <p:attrNameLst>
                                          <p:attrName>style.visibility</p:attrName>
                                        </p:attrNameLst>
                                      </p:cBhvr>
                                      <p:to>
                                        <p:strVal val="visible"/>
                                      </p:to>
                                    </p:set>
                                    <p:animEffect transition="in" filter="wipe(left)">
                                      <p:cBhvr>
                                        <p:cTn id="7" dur="500"/>
                                        <p:tgtEl>
                                          <p:spTgt spid="1208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0835">
                                            <p:txEl>
                                              <p:pRg st="1" end="1"/>
                                            </p:txEl>
                                          </p:spTgt>
                                        </p:tgtEl>
                                        <p:attrNameLst>
                                          <p:attrName>style.visibility</p:attrName>
                                        </p:attrNameLst>
                                      </p:cBhvr>
                                      <p:to>
                                        <p:strVal val="visible"/>
                                      </p:to>
                                    </p:set>
                                    <p:animEffect transition="in" filter="wipe(left)">
                                      <p:cBhvr>
                                        <p:cTn id="12" dur="500"/>
                                        <p:tgtEl>
                                          <p:spTgt spid="1208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build="p"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a:xfrm>
            <a:off x="685800" y="274638"/>
            <a:ext cx="7467600" cy="1143000"/>
          </a:xfrm>
        </p:spPr>
        <p:txBody>
          <a:bodyPr/>
          <a:lstStyle/>
          <a:p>
            <a:pPr>
              <a:spcBef>
                <a:spcPct val="20000"/>
              </a:spcBef>
            </a:pPr>
            <a:r>
              <a:rPr lang="en-US" sz="4000" dirty="0">
                <a:latin typeface="Times New Roman" pitchFamily="18" charset="0"/>
                <a:cs typeface="Times New Roman" pitchFamily="18" charset="0"/>
              </a:rPr>
              <a:t>Complex Ion </a:t>
            </a:r>
            <a:r>
              <a:rPr lang="en-US" sz="4000" dirty="0" err="1" smtClean="0">
                <a:latin typeface="Times New Roman" pitchFamily="18" charset="0"/>
                <a:cs typeface="Times New Roman" pitchFamily="18" charset="0"/>
              </a:rPr>
              <a:t>Colours</a:t>
            </a:r>
            <a:endParaRPr lang="en-US" sz="4000" dirty="0">
              <a:latin typeface="Times New Roman" pitchFamily="18" charset="0"/>
              <a:cs typeface="Times New Roman" pitchFamily="18" charset="0"/>
            </a:endParaRPr>
          </a:p>
        </p:txBody>
      </p:sp>
      <p:sp>
        <p:nvSpPr>
          <p:cNvPr id="122883" name="Rectangle 3"/>
          <p:cNvSpPr>
            <a:spLocks noGrp="1" noChangeArrowheads="1"/>
          </p:cNvSpPr>
          <p:nvPr>
            <p:ph type="body" idx="1"/>
          </p:nvPr>
        </p:nvSpPr>
        <p:spPr>
          <a:xfrm>
            <a:off x="457200" y="1828800"/>
            <a:ext cx="8229600" cy="4038600"/>
          </a:xfrm>
        </p:spPr>
        <p:txBody>
          <a:bodyPr/>
          <a:lstStyle/>
          <a:p>
            <a:pPr marL="457200" indent="-457200"/>
            <a:r>
              <a:rPr lang="en-US" dirty="0">
                <a:latin typeface="Times New Roman" pitchFamily="18" charset="0"/>
                <a:cs typeface="Times New Roman" pitchFamily="18" charset="0"/>
              </a:rPr>
              <a:t>The </a:t>
            </a:r>
            <a:r>
              <a:rPr lang="en-US" dirty="0" err="1">
                <a:latin typeface="Times New Roman" pitchFamily="18" charset="0"/>
                <a:cs typeface="Times New Roman" pitchFamily="18" charset="0"/>
              </a:rPr>
              <a:t>ligands</a:t>
            </a:r>
            <a:r>
              <a:rPr lang="en-US" dirty="0">
                <a:latin typeface="Times New Roman" pitchFamily="18" charset="0"/>
                <a:cs typeface="Times New Roman" pitchFamily="18" charset="0"/>
              </a:rPr>
              <a:t> coordinated to a given metal ion determine the size of the </a:t>
            </a:r>
            <a:r>
              <a:rPr lang="en-US" i="1" dirty="0">
                <a:latin typeface="Times New Roman" pitchFamily="18" charset="0"/>
                <a:cs typeface="Times New Roman" pitchFamily="18" charset="0"/>
              </a:rPr>
              <a:t>d</a:t>
            </a:r>
            <a:r>
              <a:rPr lang="en-US" dirty="0">
                <a:latin typeface="Times New Roman" pitchFamily="18" charset="0"/>
                <a:cs typeface="Times New Roman" pitchFamily="18" charset="0"/>
              </a:rPr>
              <a:t>–orbital splitting, thus the </a:t>
            </a:r>
            <a:r>
              <a:rPr lang="en-US" dirty="0" err="1" smtClean="0">
                <a:latin typeface="Times New Roman" pitchFamily="18" charset="0"/>
                <a:cs typeface="Times New Roman" pitchFamily="18" charset="0"/>
              </a:rPr>
              <a:t>colour</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changes as the </a:t>
            </a:r>
            <a:r>
              <a:rPr lang="en-US" dirty="0" err="1">
                <a:latin typeface="Times New Roman" pitchFamily="18" charset="0"/>
                <a:cs typeface="Times New Roman" pitchFamily="18" charset="0"/>
              </a:rPr>
              <a:t>ligands</a:t>
            </a:r>
            <a:r>
              <a:rPr lang="en-US" dirty="0">
                <a:latin typeface="Times New Roman" pitchFamily="18" charset="0"/>
                <a:cs typeface="Times New Roman" pitchFamily="18" charset="0"/>
              </a:rPr>
              <a:t> are changed.</a:t>
            </a:r>
          </a:p>
          <a:p>
            <a:pPr marL="457200" indent="-457200"/>
            <a:r>
              <a:rPr lang="en-US" dirty="0">
                <a:latin typeface="Times New Roman" pitchFamily="18" charset="0"/>
                <a:cs typeface="Times New Roman" pitchFamily="18" charset="0"/>
              </a:rPr>
              <a:t>A change in splitting means a change in the wavelength of light needed to transfer electrons between the </a:t>
            </a:r>
            <a:r>
              <a:rPr lang="en-US" i="1" dirty="0">
                <a:latin typeface="Times New Roman" pitchFamily="18" charset="0"/>
                <a:cs typeface="Times New Roman" pitchFamily="18" charset="0"/>
              </a:rPr>
              <a:t>t</a:t>
            </a:r>
            <a:r>
              <a:rPr lang="en-US" baseline="-12000" dirty="0">
                <a:latin typeface="Times New Roman" pitchFamily="18" charset="0"/>
                <a:cs typeface="Times New Roman" pitchFamily="18" charset="0"/>
              </a:rPr>
              <a:t>2</a:t>
            </a:r>
            <a:r>
              <a:rPr lang="en-US" i="1" baseline="-12000" dirty="0">
                <a:latin typeface="Times New Roman" pitchFamily="18" charset="0"/>
                <a:cs typeface="Times New Roman" pitchFamily="18" charset="0"/>
              </a:rPr>
              <a:t>g</a:t>
            </a:r>
            <a:r>
              <a:rPr lang="en-US" dirty="0">
                <a:latin typeface="Times New Roman" pitchFamily="18" charset="0"/>
                <a:cs typeface="Times New Roman" pitchFamily="18" charset="0"/>
              </a:rPr>
              <a:t> and </a:t>
            </a:r>
            <a:r>
              <a:rPr lang="en-US" i="1" dirty="0" err="1">
                <a:latin typeface="Times New Roman" pitchFamily="18" charset="0"/>
                <a:cs typeface="Times New Roman" pitchFamily="18" charset="0"/>
              </a:rPr>
              <a:t>e</a:t>
            </a:r>
            <a:r>
              <a:rPr lang="en-US" i="1" baseline="-12000" dirty="0" err="1">
                <a:latin typeface="Times New Roman" pitchFamily="18" charset="0"/>
                <a:cs typeface="Times New Roman" pitchFamily="18" charset="0"/>
              </a:rPr>
              <a:t>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orbitals</a:t>
            </a:r>
            <a:r>
              <a:rPr lang="en-US" dirty="0">
                <a:latin typeface="Times New Roman" pitchFamily="18" charset="0"/>
                <a:cs typeface="Times New Roman" pitchFamily="18" charset="0"/>
              </a:rPr>
              <a:t>.</a:t>
            </a:r>
          </a:p>
        </p:txBody>
      </p:sp>
      <p:sp>
        <p:nvSpPr>
          <p:cNvPr id="12288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3">
                                            <p:txEl>
                                              <p:pRg st="0" end="0"/>
                                            </p:txEl>
                                          </p:spTgt>
                                        </p:tgtEl>
                                        <p:attrNameLst>
                                          <p:attrName>style.visibility</p:attrName>
                                        </p:attrNameLst>
                                      </p:cBhvr>
                                      <p:to>
                                        <p:strVal val="visible"/>
                                      </p:to>
                                    </p:set>
                                    <p:animEffect transition="in" filter="wipe(left)">
                                      <p:cBhvr>
                                        <p:cTn id="7" dur="500"/>
                                        <p:tgtEl>
                                          <p:spTgt spid="1228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83">
                                            <p:txEl>
                                              <p:pRg st="1" end="1"/>
                                            </p:txEl>
                                          </p:spTgt>
                                        </p:tgtEl>
                                        <p:attrNameLst>
                                          <p:attrName>style.visibility</p:attrName>
                                        </p:attrNameLst>
                                      </p:cBhvr>
                                      <p:to>
                                        <p:strVal val="visible"/>
                                      </p:to>
                                    </p:set>
                                    <p:animEffect transition="in" filter="wipe(left)">
                                      <p:cBhvr>
                                        <p:cTn id="12" dur="500"/>
                                        <p:tgtEl>
                                          <p:spTgt spid="1228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3" grpId="0" build="p"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a:xfrm>
            <a:off x="457200" y="381000"/>
            <a:ext cx="8229600" cy="1371600"/>
          </a:xfrm>
        </p:spPr>
        <p:txBody>
          <a:bodyPr/>
          <a:lstStyle/>
          <a:p>
            <a:pPr>
              <a:spcBef>
                <a:spcPct val="20000"/>
              </a:spcBef>
            </a:pPr>
            <a:r>
              <a:rPr lang="en-US" altLang="en-US" sz="3600">
                <a:latin typeface="Times New Roman" pitchFamily="18" charset="0"/>
                <a:cs typeface="Times New Roman" pitchFamily="18" charset="0"/>
              </a:rPr>
              <a:t>Absorbtion of Visible Light by the Complex Ion Ti(H</a:t>
            </a:r>
            <a:r>
              <a:rPr lang="en-US" altLang="en-US" sz="3600" baseline="-25000">
                <a:latin typeface="Times New Roman" pitchFamily="18" charset="0"/>
                <a:cs typeface="Times New Roman" pitchFamily="18" charset="0"/>
              </a:rPr>
              <a:t>2</a:t>
            </a:r>
            <a:r>
              <a:rPr lang="en-US" altLang="en-US" sz="3600">
                <a:latin typeface="Times New Roman" pitchFamily="18" charset="0"/>
                <a:cs typeface="Times New Roman" pitchFamily="18" charset="0"/>
              </a:rPr>
              <a:t>O)</a:t>
            </a:r>
            <a:r>
              <a:rPr lang="en-US" altLang="en-US" sz="3600" baseline="-25000">
                <a:latin typeface="Times New Roman" pitchFamily="18" charset="0"/>
                <a:cs typeface="Times New Roman" pitchFamily="18" charset="0"/>
              </a:rPr>
              <a:t>6</a:t>
            </a:r>
            <a:r>
              <a:rPr lang="en-US" altLang="en-US" sz="3600" baseline="30000">
                <a:latin typeface="Times New Roman" pitchFamily="18" charset="0"/>
                <a:cs typeface="Times New Roman" pitchFamily="18" charset="0"/>
              </a:rPr>
              <a:t>3+</a:t>
            </a:r>
            <a:endParaRPr lang="en-US" sz="3600" baseline="30000">
              <a:latin typeface="Times New Roman" pitchFamily="18" charset="0"/>
              <a:cs typeface="Times New Roman" pitchFamily="18" charset="0"/>
            </a:endParaRPr>
          </a:p>
        </p:txBody>
      </p:sp>
      <p:sp>
        <p:nvSpPr>
          <p:cNvPr id="12493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24932" name="Picture 4" descr="ch21_44"/>
          <p:cNvPicPr>
            <a:picLocks noChangeAspect="1" noChangeArrowheads="1"/>
          </p:cNvPicPr>
          <p:nvPr/>
        </p:nvPicPr>
        <p:blipFill>
          <a:blip r:embed="rId3"/>
          <a:srcRect/>
          <a:stretch>
            <a:fillRect/>
          </a:stretch>
        </p:blipFill>
        <p:spPr bwMode="auto">
          <a:xfrm>
            <a:off x="457200" y="2133600"/>
            <a:ext cx="8229600" cy="363855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9" name="Rectangle 3"/>
          <p:cNvSpPr>
            <a:spLocks noGrp="1" noChangeArrowheads="1"/>
          </p:cNvSpPr>
          <p:nvPr>
            <p:ph type="body" idx="1"/>
          </p:nvPr>
        </p:nvSpPr>
        <p:spPr>
          <a:xfrm>
            <a:off x="609600" y="2133600"/>
            <a:ext cx="7696200" cy="3886200"/>
          </a:xfrm>
        </p:spPr>
        <p:txBody>
          <a:bodyPr/>
          <a:lstStyle/>
          <a:p>
            <a:pPr marL="914400" indent="-14288">
              <a:buFontTx/>
              <a:buNone/>
            </a:pPr>
            <a:r>
              <a:rPr lang="en-US" dirty="0">
                <a:latin typeface="Times New Roman" pitchFamily="18" charset="0"/>
                <a:cs typeface="Times New Roman" pitchFamily="18" charset="0"/>
              </a:rPr>
              <a:t>Which of the following are expected to form </a:t>
            </a:r>
            <a:r>
              <a:rPr lang="en-US" dirty="0" err="1" smtClean="0">
                <a:latin typeface="Times New Roman" pitchFamily="18" charset="0"/>
                <a:cs typeface="Times New Roman" pitchFamily="18" charset="0"/>
              </a:rPr>
              <a:t>colourless</a:t>
            </a: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octahedral compounds? </a:t>
            </a:r>
          </a:p>
          <a:p>
            <a:pPr marL="914400" indent="-14288">
              <a:buFontTx/>
              <a:buNone/>
            </a:pPr>
            <a:r>
              <a:rPr lang="en-US" sz="3600" dirty="0">
                <a:solidFill>
                  <a:srgbClr val="3333FF"/>
                </a:solidFill>
                <a:latin typeface="Times New Roman" pitchFamily="18" charset="0"/>
                <a:cs typeface="Times New Roman" pitchFamily="18" charset="0"/>
              </a:rPr>
              <a:t>Ti</a:t>
            </a:r>
            <a:r>
              <a:rPr lang="en-US" sz="3600" baseline="30000" dirty="0">
                <a:solidFill>
                  <a:srgbClr val="3333FF"/>
                </a:solidFill>
                <a:latin typeface="Times New Roman" pitchFamily="18" charset="0"/>
                <a:cs typeface="Times New Roman" pitchFamily="18" charset="0"/>
              </a:rPr>
              <a:t>4+		</a:t>
            </a:r>
            <a:r>
              <a:rPr lang="en-US" sz="3600" dirty="0">
                <a:solidFill>
                  <a:srgbClr val="3333FF"/>
                </a:solidFill>
                <a:latin typeface="Times New Roman" pitchFamily="18" charset="0"/>
                <a:cs typeface="Times New Roman" pitchFamily="18" charset="0"/>
              </a:rPr>
              <a:t>Cr</a:t>
            </a:r>
            <a:r>
              <a:rPr lang="en-US" sz="3600" baseline="30000" dirty="0">
                <a:solidFill>
                  <a:srgbClr val="3333FF"/>
                </a:solidFill>
                <a:latin typeface="Times New Roman" pitchFamily="18" charset="0"/>
                <a:cs typeface="Times New Roman" pitchFamily="18" charset="0"/>
              </a:rPr>
              <a:t>3+</a:t>
            </a:r>
            <a:r>
              <a:rPr lang="en-US" sz="3600" dirty="0">
                <a:solidFill>
                  <a:srgbClr val="3333FF"/>
                </a:solidFill>
                <a:latin typeface="Times New Roman" pitchFamily="18" charset="0"/>
                <a:cs typeface="Times New Roman" pitchFamily="18" charset="0"/>
              </a:rPr>
              <a:t>		Mn</a:t>
            </a:r>
            <a:r>
              <a:rPr lang="en-US" sz="3600" baseline="30000" dirty="0">
                <a:solidFill>
                  <a:srgbClr val="3333FF"/>
                </a:solidFill>
                <a:latin typeface="Times New Roman" pitchFamily="18" charset="0"/>
                <a:cs typeface="Times New Roman" pitchFamily="18" charset="0"/>
              </a:rPr>
              <a:t>2+</a:t>
            </a:r>
          </a:p>
          <a:p>
            <a:pPr marL="914400" indent="-14288">
              <a:buFontTx/>
              <a:buNone/>
            </a:pPr>
            <a:r>
              <a:rPr lang="en-US" sz="3600" dirty="0">
                <a:solidFill>
                  <a:srgbClr val="3333FF"/>
                </a:solidFill>
                <a:latin typeface="Times New Roman" pitchFamily="18" charset="0"/>
                <a:cs typeface="Times New Roman" pitchFamily="18" charset="0"/>
              </a:rPr>
              <a:t>Fe</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Fe</a:t>
            </a:r>
            <a:r>
              <a:rPr lang="en-US" sz="3600" baseline="30000" dirty="0">
                <a:solidFill>
                  <a:srgbClr val="3333FF"/>
                </a:solidFill>
                <a:latin typeface="Times New Roman" pitchFamily="18" charset="0"/>
                <a:cs typeface="Times New Roman" pitchFamily="18" charset="0"/>
              </a:rPr>
              <a:t>3+		</a:t>
            </a:r>
            <a:r>
              <a:rPr lang="en-US" sz="3600" dirty="0">
                <a:solidFill>
                  <a:srgbClr val="3333FF"/>
                </a:solidFill>
                <a:latin typeface="Times New Roman" pitchFamily="18" charset="0"/>
                <a:cs typeface="Times New Roman" pitchFamily="18" charset="0"/>
              </a:rPr>
              <a:t>Co</a:t>
            </a:r>
            <a:r>
              <a:rPr lang="en-US" sz="3600" baseline="34000" dirty="0">
                <a:solidFill>
                  <a:srgbClr val="3333FF"/>
                </a:solidFill>
                <a:latin typeface="Times New Roman" pitchFamily="18" charset="0"/>
                <a:cs typeface="Times New Roman" pitchFamily="18" charset="0"/>
              </a:rPr>
              <a:t>2+</a:t>
            </a:r>
            <a:r>
              <a:rPr lang="en-US" sz="3600" dirty="0">
                <a:solidFill>
                  <a:srgbClr val="3333FF"/>
                </a:solidFill>
                <a:latin typeface="Times New Roman" pitchFamily="18" charset="0"/>
                <a:cs typeface="Times New Roman" pitchFamily="18" charset="0"/>
              </a:rPr>
              <a:t>		</a:t>
            </a:r>
          </a:p>
          <a:p>
            <a:pPr marL="914400" indent="-14288">
              <a:buFontTx/>
              <a:buNone/>
            </a:pPr>
            <a:r>
              <a:rPr lang="en-US" sz="3600" dirty="0">
                <a:solidFill>
                  <a:srgbClr val="3333FF"/>
                </a:solidFill>
                <a:latin typeface="Times New Roman" pitchFamily="18" charset="0"/>
                <a:cs typeface="Times New Roman" pitchFamily="18" charset="0"/>
              </a:rPr>
              <a:t>	Co</a:t>
            </a:r>
            <a:r>
              <a:rPr lang="en-US" sz="3600" baseline="34000" dirty="0">
                <a:solidFill>
                  <a:srgbClr val="3333FF"/>
                </a:solidFill>
                <a:latin typeface="Times New Roman" pitchFamily="18" charset="0"/>
                <a:cs typeface="Times New Roman" pitchFamily="18" charset="0"/>
              </a:rPr>
              <a:t>3+</a:t>
            </a:r>
            <a:r>
              <a:rPr lang="en-US" sz="3600" dirty="0">
                <a:solidFill>
                  <a:srgbClr val="3333FF"/>
                </a:solidFill>
                <a:latin typeface="Times New Roman" pitchFamily="18" charset="0"/>
                <a:cs typeface="Times New Roman" pitchFamily="18" charset="0"/>
              </a:rPr>
              <a:t>		Ni</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Cu</a:t>
            </a:r>
            <a:r>
              <a:rPr lang="en-US" sz="3600" baseline="30000" dirty="0">
                <a:solidFill>
                  <a:srgbClr val="3333FF"/>
                </a:solidFill>
                <a:latin typeface="Times New Roman" pitchFamily="18" charset="0"/>
                <a:cs typeface="Times New Roman" pitchFamily="18" charset="0"/>
              </a:rPr>
              <a:t>+	</a:t>
            </a:r>
          </a:p>
          <a:p>
            <a:pPr marL="914400" indent="-14288">
              <a:buFontTx/>
              <a:buNone/>
            </a:pPr>
            <a:r>
              <a:rPr lang="en-US" sz="3600" dirty="0">
                <a:solidFill>
                  <a:srgbClr val="3333FF"/>
                </a:solidFill>
                <a:latin typeface="Times New Roman" pitchFamily="18" charset="0"/>
                <a:cs typeface="Times New Roman" pitchFamily="18" charset="0"/>
              </a:rPr>
              <a:t>Cu</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Zn</a:t>
            </a:r>
            <a:r>
              <a:rPr lang="en-US" sz="3600" baseline="30000" dirty="0">
                <a:solidFill>
                  <a:srgbClr val="3333FF"/>
                </a:solidFill>
                <a:latin typeface="Times New Roman" pitchFamily="18" charset="0"/>
                <a:cs typeface="Times New Roman" pitchFamily="18" charset="0"/>
              </a:rPr>
              <a:t>2+		 </a:t>
            </a:r>
            <a:r>
              <a:rPr lang="en-US" sz="3600" dirty="0">
                <a:solidFill>
                  <a:srgbClr val="3333FF"/>
                </a:solidFill>
                <a:latin typeface="Times New Roman" pitchFamily="18" charset="0"/>
                <a:cs typeface="Times New Roman" pitchFamily="18" charset="0"/>
              </a:rPr>
              <a:t>Ag</a:t>
            </a:r>
            <a:r>
              <a:rPr lang="en-US" sz="3600" baseline="30000" dirty="0">
                <a:solidFill>
                  <a:srgbClr val="3333FF"/>
                </a:solidFill>
                <a:latin typeface="Times New Roman" pitchFamily="18" charset="0"/>
                <a:cs typeface="Times New Roman" pitchFamily="18" charset="0"/>
              </a:rPr>
              <a:t>+			</a:t>
            </a:r>
          </a:p>
        </p:txBody>
      </p:sp>
      <p:sp>
        <p:nvSpPr>
          <p:cNvPr id="5" name="Title 4"/>
          <p:cNvSpPr>
            <a:spLocks noGrp="1"/>
          </p:cNvSpPr>
          <p:nvPr>
            <p:ph type="title"/>
          </p:nvPr>
        </p:nvSpPr>
        <p:spPr/>
        <p:txBody>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6979">
                                            <p:txEl>
                                              <p:pRg st="0" end="0"/>
                                            </p:txEl>
                                          </p:spTgt>
                                        </p:tgtEl>
                                        <p:attrNameLst>
                                          <p:attrName>style.visibility</p:attrName>
                                        </p:attrNameLst>
                                      </p:cBhvr>
                                      <p:to>
                                        <p:strVal val="visible"/>
                                      </p:to>
                                    </p:set>
                                    <p:animEffect transition="in" filter="wipe(left)">
                                      <p:cBhvr>
                                        <p:cTn id="7" dur="500"/>
                                        <p:tgtEl>
                                          <p:spTgt spid="1269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6979">
                                            <p:txEl>
                                              <p:pRg st="1" end="1"/>
                                            </p:txEl>
                                          </p:spTgt>
                                        </p:tgtEl>
                                        <p:attrNameLst>
                                          <p:attrName>style.visibility</p:attrName>
                                        </p:attrNameLst>
                                      </p:cBhvr>
                                      <p:to>
                                        <p:strVal val="visible"/>
                                      </p:to>
                                    </p:set>
                                    <p:animEffect transition="in" filter="wipe(left)">
                                      <p:cBhvr>
                                        <p:cTn id="12" dur="500"/>
                                        <p:tgtEl>
                                          <p:spTgt spid="12697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6979">
                                            <p:txEl>
                                              <p:pRg st="2" end="2"/>
                                            </p:txEl>
                                          </p:spTgt>
                                        </p:tgtEl>
                                        <p:attrNameLst>
                                          <p:attrName>style.visibility</p:attrName>
                                        </p:attrNameLst>
                                      </p:cBhvr>
                                      <p:to>
                                        <p:strVal val="visible"/>
                                      </p:to>
                                    </p:set>
                                    <p:animEffect transition="in" filter="wipe(left)">
                                      <p:cBhvr>
                                        <p:cTn id="17" dur="500"/>
                                        <p:tgtEl>
                                          <p:spTgt spid="1269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6979">
                                            <p:txEl>
                                              <p:pRg st="3" end="3"/>
                                            </p:txEl>
                                          </p:spTgt>
                                        </p:tgtEl>
                                        <p:attrNameLst>
                                          <p:attrName>style.visibility</p:attrName>
                                        </p:attrNameLst>
                                      </p:cBhvr>
                                      <p:to>
                                        <p:strVal val="visible"/>
                                      </p:to>
                                    </p:set>
                                    <p:animEffect transition="in" filter="wipe(left)">
                                      <p:cBhvr>
                                        <p:cTn id="22" dur="500"/>
                                        <p:tgtEl>
                                          <p:spTgt spid="12697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6979">
                                            <p:txEl>
                                              <p:pRg st="4" end="4"/>
                                            </p:txEl>
                                          </p:spTgt>
                                        </p:tgtEl>
                                        <p:attrNameLst>
                                          <p:attrName>style.visibility</p:attrName>
                                        </p:attrNameLst>
                                      </p:cBhvr>
                                      <p:to>
                                        <p:strVal val="visible"/>
                                      </p:to>
                                    </p:set>
                                    <p:animEffect transition="in" filter="wipe(left)">
                                      <p:cBhvr>
                                        <p:cTn id="27" dur="500"/>
                                        <p:tgtEl>
                                          <p:spTgt spid="1269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9" grpId="0" build="p"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Tetrahedral Arrangement</a:t>
            </a:r>
          </a:p>
        </p:txBody>
      </p:sp>
      <p:sp>
        <p:nvSpPr>
          <p:cNvPr id="129027" name="Rectangle 3"/>
          <p:cNvSpPr>
            <a:spLocks noGrp="1" noChangeArrowheads="1"/>
          </p:cNvSpPr>
          <p:nvPr>
            <p:ph type="body" idx="1"/>
          </p:nvPr>
        </p:nvSpPr>
        <p:spPr>
          <a:xfrm>
            <a:off x="457200" y="1752600"/>
            <a:ext cx="8229600" cy="3886200"/>
          </a:xfrm>
        </p:spPr>
        <p:txBody>
          <a:bodyPr/>
          <a:lstStyle/>
          <a:p>
            <a:pPr marL="457200" indent="-457200"/>
            <a:r>
              <a:rPr lang="en-US">
                <a:latin typeface="Times New Roman" pitchFamily="18" charset="0"/>
                <a:cs typeface="Times New Roman" pitchFamily="18" charset="0"/>
              </a:rPr>
              <a:t>None of the 3</a:t>
            </a:r>
            <a:r>
              <a:rPr lang="en-US" i="1">
                <a:latin typeface="Times New Roman" pitchFamily="18" charset="0"/>
                <a:cs typeface="Times New Roman" pitchFamily="18" charset="0"/>
              </a:rPr>
              <a:t>d</a:t>
            </a:r>
            <a:r>
              <a:rPr lang="en-US">
                <a:latin typeface="Times New Roman" pitchFamily="18" charset="0"/>
                <a:cs typeface="Times New Roman" pitchFamily="18" charset="0"/>
              </a:rPr>
              <a:t> orbitals “point at the ligands”.</a:t>
            </a:r>
          </a:p>
          <a:p>
            <a:pPr marL="914400" lvl="1" indent="-457200">
              <a:buFont typeface="Wingdings" pitchFamily="2" charset="2"/>
              <a:buChar char="§"/>
            </a:pPr>
            <a:r>
              <a:rPr lang="en-US">
                <a:latin typeface="Times New Roman" pitchFamily="18" charset="0"/>
                <a:cs typeface="Times New Roman" pitchFamily="18" charset="0"/>
              </a:rPr>
              <a:t>Difference in energy between the split </a:t>
            </a:r>
            <a:r>
              <a:rPr lang="en-US" i="1">
                <a:latin typeface="Times New Roman" pitchFamily="18" charset="0"/>
                <a:cs typeface="Times New Roman" pitchFamily="18" charset="0"/>
              </a:rPr>
              <a:t>d</a:t>
            </a:r>
            <a:r>
              <a:rPr lang="en-US">
                <a:latin typeface="Times New Roman" pitchFamily="18" charset="0"/>
                <a:cs typeface="Times New Roman" pitchFamily="18" charset="0"/>
              </a:rPr>
              <a:t> orbitals is significantly less.</a:t>
            </a:r>
          </a:p>
          <a:p>
            <a:pPr marL="914400" lvl="1" indent="-457200">
              <a:buFont typeface="Wingdings" pitchFamily="2" charset="2"/>
              <a:buNone/>
            </a:pPr>
            <a:endParaRPr lang="en-US">
              <a:latin typeface="Times New Roman" pitchFamily="18" charset="0"/>
              <a:cs typeface="Times New Roman" pitchFamily="18" charset="0"/>
            </a:endParaRPr>
          </a:p>
          <a:p>
            <a:pPr marL="457200" indent="-457200"/>
            <a:r>
              <a:rPr lang="en-US" i="1">
                <a:latin typeface="Times New Roman" pitchFamily="18" charset="0"/>
                <a:cs typeface="Times New Roman" pitchFamily="18" charset="0"/>
              </a:rPr>
              <a:t>d</a:t>
            </a:r>
            <a:r>
              <a:rPr lang="en-US">
                <a:latin typeface="Times New Roman" pitchFamily="18" charset="0"/>
                <a:cs typeface="Times New Roman" pitchFamily="18" charset="0"/>
              </a:rPr>
              <a:t>–orbital splitting will be opposite to that for the octahedral arrangement.</a:t>
            </a:r>
          </a:p>
          <a:p>
            <a:pPr marL="914400" lvl="1" indent="-457200">
              <a:buFont typeface="Wingdings" pitchFamily="2" charset="2"/>
              <a:buChar char="§"/>
            </a:pPr>
            <a:r>
              <a:rPr lang="en-US">
                <a:latin typeface="Times New Roman" pitchFamily="18" charset="0"/>
                <a:cs typeface="Times New Roman" pitchFamily="18" charset="0"/>
              </a:rPr>
              <a:t>Weak–field case (high–spin) always applies.</a:t>
            </a:r>
          </a:p>
        </p:txBody>
      </p:sp>
      <p:sp>
        <p:nvSpPr>
          <p:cNvPr id="129028"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animEffect transition="in" filter="wipe(left)">
                                      <p:cBhvr>
                                        <p:cTn id="7" dur="500"/>
                                        <p:tgtEl>
                                          <p:spTgt spid="1290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9027">
                                            <p:txEl>
                                              <p:pRg st="1" end="1"/>
                                            </p:txEl>
                                          </p:spTgt>
                                        </p:tgtEl>
                                        <p:attrNameLst>
                                          <p:attrName>style.visibility</p:attrName>
                                        </p:attrNameLst>
                                      </p:cBhvr>
                                      <p:to>
                                        <p:strVal val="visible"/>
                                      </p:to>
                                    </p:set>
                                    <p:animEffect transition="in" filter="wipe(left)">
                                      <p:cBhvr>
                                        <p:cTn id="12" dur="500"/>
                                        <p:tgtEl>
                                          <p:spTgt spid="1290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9027">
                                            <p:txEl>
                                              <p:pRg st="3" end="3"/>
                                            </p:txEl>
                                          </p:spTgt>
                                        </p:tgtEl>
                                        <p:attrNameLst>
                                          <p:attrName>style.visibility</p:attrName>
                                        </p:attrNameLst>
                                      </p:cBhvr>
                                      <p:to>
                                        <p:strVal val="visible"/>
                                      </p:to>
                                    </p:set>
                                    <p:animEffect transition="in" filter="wipe(left)">
                                      <p:cBhvr>
                                        <p:cTn id="17" dur="500"/>
                                        <p:tgtEl>
                                          <p:spTgt spid="12902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9027">
                                            <p:txEl>
                                              <p:pRg st="4" end="4"/>
                                            </p:txEl>
                                          </p:spTgt>
                                        </p:tgtEl>
                                        <p:attrNameLst>
                                          <p:attrName>style.visibility</p:attrName>
                                        </p:attrNameLst>
                                      </p:cBhvr>
                                      <p:to>
                                        <p:strVal val="visible"/>
                                      </p:to>
                                    </p:set>
                                    <p:animEffect transition="in" filter="wipe(left)">
                                      <p:cBhvr>
                                        <p:cTn id="22" dur="500"/>
                                        <p:tgtEl>
                                          <p:spTgt spid="129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a:xfrm>
            <a:off x="457200" y="274638"/>
            <a:ext cx="8229600" cy="1325562"/>
          </a:xfrm>
        </p:spPr>
        <p:txBody>
          <a:bodyPr/>
          <a:lstStyle/>
          <a:p>
            <a:pPr>
              <a:spcBef>
                <a:spcPct val="20000"/>
              </a:spcBef>
            </a:pPr>
            <a:r>
              <a:rPr lang="en-US" altLang="en-US" sz="3600">
                <a:latin typeface="Times New Roman" pitchFamily="18" charset="0"/>
                <a:cs typeface="Times New Roman" pitchFamily="18" charset="0"/>
              </a:rPr>
              <a:t>The </a:t>
            </a:r>
            <a:r>
              <a:rPr lang="en-US" altLang="en-US" sz="3600" i="1">
                <a:latin typeface="Times New Roman" pitchFamily="18" charset="0"/>
                <a:cs typeface="Times New Roman" pitchFamily="18" charset="0"/>
              </a:rPr>
              <a:t>d</a:t>
            </a:r>
            <a:r>
              <a:rPr lang="en-US" altLang="en-US" sz="3600">
                <a:latin typeface="Times New Roman" pitchFamily="18" charset="0"/>
                <a:cs typeface="Times New Roman" pitchFamily="18" charset="0"/>
              </a:rPr>
              <a:t> Orbitals in a Tetrahedral Arrangement of Point Charges</a:t>
            </a:r>
            <a:endParaRPr lang="en-US" sz="3600">
              <a:latin typeface="Times New Roman" pitchFamily="18" charset="0"/>
              <a:cs typeface="Times New Roman" pitchFamily="18" charset="0"/>
            </a:endParaRPr>
          </a:p>
        </p:txBody>
      </p:sp>
      <p:sp>
        <p:nvSpPr>
          <p:cNvPr id="13107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31076" name="Picture 4" descr="ch21_45"/>
          <p:cNvPicPr>
            <a:picLocks noChangeAspect="1" noChangeArrowheads="1"/>
          </p:cNvPicPr>
          <p:nvPr/>
        </p:nvPicPr>
        <p:blipFill>
          <a:blip r:embed="rId3"/>
          <a:srcRect/>
          <a:stretch>
            <a:fillRect/>
          </a:stretch>
        </p:blipFill>
        <p:spPr bwMode="auto">
          <a:xfrm>
            <a:off x="762000" y="1905000"/>
            <a:ext cx="7467600" cy="3651250"/>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457200" y="381000"/>
            <a:ext cx="8229600" cy="1219200"/>
          </a:xfrm>
        </p:spPr>
        <p:txBody>
          <a:bodyPr/>
          <a:lstStyle/>
          <a:p>
            <a:pPr>
              <a:spcBef>
                <a:spcPct val="20000"/>
              </a:spcBef>
            </a:pPr>
            <a:r>
              <a:rPr lang="en-US" altLang="en-US" sz="3600">
                <a:latin typeface="Times New Roman" pitchFamily="18" charset="0"/>
                <a:cs typeface="Times New Roman" pitchFamily="18" charset="0"/>
              </a:rPr>
              <a:t>The Crystal Field Diagrams for Octahedral and Tetrahedral Complexes</a:t>
            </a:r>
            <a:endParaRPr lang="en-US" sz="3600">
              <a:latin typeface="Times New Roman" pitchFamily="18" charset="0"/>
              <a:cs typeface="Times New Roman" pitchFamily="18" charset="0"/>
            </a:endParaRPr>
          </a:p>
        </p:txBody>
      </p:sp>
      <p:sp>
        <p:nvSpPr>
          <p:cNvPr id="133123"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33124" name="Picture 4" descr="ch21_46"/>
          <p:cNvPicPr>
            <a:picLocks noChangeAspect="1" noChangeArrowheads="1"/>
          </p:cNvPicPr>
          <p:nvPr/>
        </p:nvPicPr>
        <p:blipFill>
          <a:blip r:embed="rId3"/>
          <a:srcRect/>
          <a:stretch>
            <a:fillRect/>
          </a:stretch>
        </p:blipFill>
        <p:spPr bwMode="auto">
          <a:xfrm>
            <a:off x="609600" y="1981200"/>
            <a:ext cx="7848600" cy="3978275"/>
          </a:xfrm>
          <a:prstGeom prst="rect">
            <a:avLst/>
          </a:prstGeom>
          <a:noFill/>
          <a:ln w="12700">
            <a:solidFill>
              <a:schemeClr val="tx1"/>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1" name="Rectangle 3"/>
          <p:cNvSpPr>
            <a:spLocks noGrp="1" noChangeArrowheads="1"/>
          </p:cNvSpPr>
          <p:nvPr>
            <p:ph type="body" idx="1"/>
          </p:nvPr>
        </p:nvSpPr>
        <p:spPr>
          <a:xfrm>
            <a:off x="381000" y="1676400"/>
            <a:ext cx="8077200" cy="4648200"/>
          </a:xfrm>
        </p:spPr>
        <p:txBody>
          <a:bodyPr/>
          <a:lstStyle/>
          <a:p>
            <a:pPr marL="1379538" indent="-465138">
              <a:buFontTx/>
              <a:buNone/>
            </a:pPr>
            <a:r>
              <a:rPr lang="en-US" sz="3600">
                <a:latin typeface="Times New Roman" pitchFamily="18" charset="0"/>
                <a:cs typeface="Times New Roman" pitchFamily="18" charset="0"/>
              </a:rPr>
              <a:t>Consider the Crystal Field Model (CFM). </a:t>
            </a:r>
          </a:p>
          <a:p>
            <a:pPr marL="1379538" indent="-465138">
              <a:buFontTx/>
              <a:buNone/>
            </a:pPr>
            <a:endParaRPr lang="en-US" sz="3600">
              <a:latin typeface="Times New Roman" pitchFamily="18" charset="0"/>
              <a:cs typeface="Times New Roman" pitchFamily="18" charset="0"/>
            </a:endParaRPr>
          </a:p>
          <a:p>
            <a:pPr marL="1379538" indent="-465138">
              <a:buFontTx/>
              <a:buAutoNum type="alphaLcParenR"/>
            </a:pPr>
            <a:r>
              <a:rPr lang="en-US">
                <a:latin typeface="Times New Roman" pitchFamily="18" charset="0"/>
                <a:cs typeface="Times New Roman" pitchFamily="18" charset="0"/>
              </a:rPr>
              <a:t>Which is </a:t>
            </a:r>
            <a:r>
              <a:rPr lang="en-US">
                <a:solidFill>
                  <a:srgbClr val="3333FF"/>
                </a:solidFill>
                <a:latin typeface="Times New Roman" pitchFamily="18" charset="0"/>
                <a:cs typeface="Times New Roman" pitchFamily="18" charset="0"/>
              </a:rPr>
              <a:t>lower</a:t>
            </a:r>
            <a:r>
              <a:rPr lang="en-US">
                <a:latin typeface="Times New Roman" pitchFamily="18" charset="0"/>
                <a:cs typeface="Times New Roman" pitchFamily="18" charset="0"/>
              </a:rPr>
              <a:t> in energy, </a:t>
            </a:r>
            <a:r>
              <a:rPr lang="en-US" i="1">
                <a:latin typeface="Times New Roman" pitchFamily="18" charset="0"/>
                <a:cs typeface="Times New Roman" pitchFamily="18" charset="0"/>
              </a:rPr>
              <a:t>d</a:t>
            </a:r>
            <a:r>
              <a:rPr lang="en-US">
                <a:latin typeface="Times New Roman" pitchFamily="18" charset="0"/>
                <a:cs typeface="Times New Roman" pitchFamily="18" charset="0"/>
              </a:rPr>
              <a:t>–orbital lobes pointing toward ligands or between? Why?</a:t>
            </a:r>
          </a:p>
          <a:p>
            <a:pPr marL="1379538" indent="-465138">
              <a:buFontTx/>
              <a:buAutoNum type="alphaLcParenR"/>
            </a:pPr>
            <a:r>
              <a:rPr lang="en-US">
                <a:latin typeface="Times New Roman" pitchFamily="18" charset="0"/>
                <a:cs typeface="Times New Roman" pitchFamily="18" charset="0"/>
              </a:rPr>
              <a:t>The electrons in the </a:t>
            </a:r>
            <a:r>
              <a:rPr lang="en-US" i="1">
                <a:latin typeface="Times New Roman" pitchFamily="18" charset="0"/>
                <a:cs typeface="Times New Roman" pitchFamily="18" charset="0"/>
              </a:rPr>
              <a:t>d</a:t>
            </a:r>
            <a:r>
              <a:rPr lang="en-US">
                <a:latin typeface="Times New Roman" pitchFamily="18" charset="0"/>
                <a:cs typeface="Times New Roman" pitchFamily="18" charset="0"/>
              </a:rPr>
              <a:t>–orbitals – are they from the </a:t>
            </a:r>
            <a:r>
              <a:rPr lang="en-US">
                <a:solidFill>
                  <a:srgbClr val="3333FF"/>
                </a:solidFill>
                <a:latin typeface="Times New Roman" pitchFamily="18" charset="0"/>
                <a:cs typeface="Times New Roman" pitchFamily="18" charset="0"/>
              </a:rPr>
              <a:t>metal</a:t>
            </a:r>
            <a:r>
              <a:rPr lang="en-US">
                <a:latin typeface="Times New Roman" pitchFamily="18" charset="0"/>
                <a:cs typeface="Times New Roman" pitchFamily="18" charset="0"/>
              </a:rPr>
              <a:t> or the </a:t>
            </a:r>
            <a:r>
              <a:rPr lang="en-US">
                <a:solidFill>
                  <a:srgbClr val="3333FF"/>
                </a:solidFill>
                <a:latin typeface="Times New Roman" pitchFamily="18" charset="0"/>
                <a:cs typeface="Times New Roman" pitchFamily="18" charset="0"/>
              </a:rPr>
              <a:t>ligands</a:t>
            </a:r>
            <a:r>
              <a:rPr lang="en-US">
                <a:latin typeface="Times New Roman" pitchFamily="18" charset="0"/>
                <a:cs typeface="Times New Roman" pitchFamily="18" charset="0"/>
              </a:rPr>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5171">
                                            <p:txEl>
                                              <p:pRg st="0" end="0"/>
                                            </p:txEl>
                                          </p:spTgt>
                                        </p:tgtEl>
                                        <p:attrNameLst>
                                          <p:attrName>style.visibility</p:attrName>
                                        </p:attrNameLst>
                                      </p:cBhvr>
                                      <p:to>
                                        <p:strVal val="visible"/>
                                      </p:to>
                                    </p:set>
                                    <p:animEffect transition="in" filter="wipe(left)">
                                      <p:cBhvr>
                                        <p:cTn id="7" dur="500"/>
                                        <p:tgtEl>
                                          <p:spTgt spid="1351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5171">
                                            <p:txEl>
                                              <p:pRg st="2" end="2"/>
                                            </p:txEl>
                                          </p:spTgt>
                                        </p:tgtEl>
                                        <p:attrNameLst>
                                          <p:attrName>style.visibility</p:attrName>
                                        </p:attrNameLst>
                                      </p:cBhvr>
                                      <p:to>
                                        <p:strVal val="visible"/>
                                      </p:to>
                                    </p:set>
                                    <p:animEffect transition="in" filter="wipe(left)">
                                      <p:cBhvr>
                                        <p:cTn id="12" dur="500"/>
                                        <p:tgtEl>
                                          <p:spTgt spid="13517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5171">
                                            <p:txEl>
                                              <p:pRg st="3" end="3"/>
                                            </p:txEl>
                                          </p:spTgt>
                                        </p:tgtEl>
                                        <p:attrNameLst>
                                          <p:attrName>style.visibility</p:attrName>
                                        </p:attrNameLst>
                                      </p:cBhvr>
                                      <p:to>
                                        <p:strVal val="visible"/>
                                      </p:to>
                                    </p:set>
                                    <p:animEffect transition="in" filter="wipe(left)">
                                      <p:cBhvr>
                                        <p:cTn id="17" dur="500"/>
                                        <p:tgtEl>
                                          <p:spTgt spid="135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build="p"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9" name="Rectangle 3"/>
          <p:cNvSpPr>
            <a:spLocks noGrp="1" noChangeArrowheads="1"/>
          </p:cNvSpPr>
          <p:nvPr>
            <p:ph type="body" idx="1"/>
          </p:nvPr>
        </p:nvSpPr>
        <p:spPr>
          <a:xfrm>
            <a:off x="381000" y="1676400"/>
            <a:ext cx="8077200" cy="4800600"/>
          </a:xfrm>
        </p:spPr>
        <p:txBody>
          <a:bodyPr/>
          <a:lstStyle/>
          <a:p>
            <a:pPr marL="1371600" indent="-471488">
              <a:buFontTx/>
              <a:buNone/>
            </a:pPr>
            <a:r>
              <a:rPr lang="en-US" sz="3600">
                <a:latin typeface="Times New Roman" pitchFamily="18" charset="0"/>
                <a:cs typeface="Times New Roman" pitchFamily="18" charset="0"/>
              </a:rPr>
              <a:t>Consider the Crystal Field Model (CFM). </a:t>
            </a:r>
          </a:p>
          <a:p>
            <a:pPr marL="1371600" indent="-471488">
              <a:buFontTx/>
              <a:buNone/>
            </a:pPr>
            <a:endParaRPr lang="en-US" sz="2000">
              <a:latin typeface="Times New Roman" pitchFamily="18" charset="0"/>
              <a:cs typeface="Times New Roman" pitchFamily="18" charset="0"/>
            </a:endParaRPr>
          </a:p>
          <a:p>
            <a:pPr marL="1371600" indent="-471488">
              <a:buFontTx/>
              <a:buAutoNum type="alphaLcParenR" startAt="3"/>
            </a:pPr>
            <a:r>
              <a:rPr lang="en-US">
                <a:latin typeface="Times New Roman" pitchFamily="18" charset="0"/>
                <a:cs typeface="Times New Roman" pitchFamily="18" charset="0"/>
              </a:rPr>
              <a:t>Why would electrons choose to </a:t>
            </a:r>
            <a:r>
              <a:rPr lang="en-US">
                <a:solidFill>
                  <a:srgbClr val="3333FF"/>
                </a:solidFill>
                <a:latin typeface="Times New Roman" pitchFamily="18" charset="0"/>
                <a:cs typeface="Times New Roman" pitchFamily="18" charset="0"/>
              </a:rPr>
              <a:t>pair up</a:t>
            </a:r>
            <a:r>
              <a:rPr lang="en-US">
                <a:latin typeface="Times New Roman" pitchFamily="18" charset="0"/>
                <a:cs typeface="Times New Roman" pitchFamily="18" charset="0"/>
              </a:rPr>
              <a:t> in </a:t>
            </a:r>
            <a:r>
              <a:rPr lang="en-US" i="1">
                <a:latin typeface="Times New Roman" pitchFamily="18" charset="0"/>
                <a:cs typeface="Times New Roman" pitchFamily="18" charset="0"/>
              </a:rPr>
              <a:t>d</a:t>
            </a:r>
            <a:r>
              <a:rPr lang="en-US">
                <a:latin typeface="Times New Roman" pitchFamily="18" charset="0"/>
                <a:cs typeface="Times New Roman" pitchFamily="18" charset="0"/>
              </a:rPr>
              <a:t>–orbitals instead of being in separate orbitals?</a:t>
            </a:r>
          </a:p>
          <a:p>
            <a:pPr marL="1371600" indent="-471488">
              <a:buFontTx/>
              <a:buAutoNum type="alphaLcParenR" startAt="4"/>
            </a:pPr>
            <a:r>
              <a:rPr lang="en-US">
                <a:latin typeface="Times New Roman" pitchFamily="18" charset="0"/>
                <a:cs typeface="Times New Roman" pitchFamily="18" charset="0"/>
              </a:rPr>
              <a:t>Why is the predicted splitting in tetrahedral complexes </a:t>
            </a:r>
            <a:r>
              <a:rPr lang="en-US">
                <a:solidFill>
                  <a:srgbClr val="3333FF"/>
                </a:solidFill>
                <a:latin typeface="Times New Roman" pitchFamily="18" charset="0"/>
                <a:cs typeface="Times New Roman" pitchFamily="18" charset="0"/>
              </a:rPr>
              <a:t>smaller</a:t>
            </a:r>
            <a:r>
              <a:rPr lang="en-US">
                <a:latin typeface="Times New Roman" pitchFamily="18" charset="0"/>
                <a:cs typeface="Times New Roman" pitchFamily="18" charset="0"/>
              </a:rPr>
              <a:t> than in octahedral complexes?</a:t>
            </a:r>
          </a:p>
        </p:txBody>
      </p:sp>
      <p:sp>
        <p:nvSpPr>
          <p:cNvPr id="5" name="Title 4"/>
          <p:cNvSpPr>
            <a:spLocks noGrp="1"/>
          </p:cNvSpPr>
          <p:nvPr>
            <p:ph type="title"/>
          </p:nvPr>
        </p:nvSpPr>
        <p:spPr/>
        <p:txBody>
          <a:bodyPr/>
          <a:lstStyle/>
          <a:p>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7219">
                                            <p:txEl>
                                              <p:pRg st="2" end="2"/>
                                            </p:txEl>
                                          </p:spTgt>
                                        </p:tgtEl>
                                        <p:attrNameLst>
                                          <p:attrName>style.visibility</p:attrName>
                                        </p:attrNameLst>
                                      </p:cBhvr>
                                      <p:to>
                                        <p:strVal val="visible"/>
                                      </p:to>
                                    </p:set>
                                    <p:animEffect transition="in" filter="wipe(left)">
                                      <p:cBhvr>
                                        <p:cTn id="7" dur="500"/>
                                        <p:tgtEl>
                                          <p:spTgt spid="1372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7219">
                                            <p:txEl>
                                              <p:pRg st="3" end="3"/>
                                            </p:txEl>
                                          </p:spTgt>
                                        </p:tgtEl>
                                        <p:attrNameLst>
                                          <p:attrName>style.visibility</p:attrName>
                                        </p:attrNameLst>
                                      </p:cBhvr>
                                      <p:to>
                                        <p:strVal val="visible"/>
                                      </p:to>
                                    </p:set>
                                    <p:animEffect transition="in" filter="wipe(left)">
                                      <p:cBhvr>
                                        <p:cTn id="12" dur="500"/>
                                        <p:tgtEl>
                                          <p:spTgt spid="137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build="p"/>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3"/>
          <p:cNvSpPr>
            <a:spLocks noGrp="1" noChangeArrowheads="1"/>
          </p:cNvSpPr>
          <p:nvPr>
            <p:ph type="body" idx="1"/>
          </p:nvPr>
        </p:nvSpPr>
        <p:spPr>
          <a:xfrm>
            <a:off x="457200" y="1752600"/>
            <a:ext cx="8077200" cy="4191000"/>
          </a:xfrm>
        </p:spPr>
        <p:txBody>
          <a:bodyPr/>
          <a:lstStyle/>
          <a:p>
            <a:pPr marL="914400" indent="0">
              <a:buFontTx/>
              <a:buNone/>
            </a:pPr>
            <a:r>
              <a:rPr lang="en-US" dirty="0">
                <a:latin typeface="Times New Roman" pitchFamily="18" charset="0"/>
                <a:cs typeface="Times New Roman" pitchFamily="18" charset="0"/>
              </a:rPr>
              <a:t>Using the Crystal Field Model, sketch possible electron arrangements for the following.  Label one sketch as </a:t>
            </a:r>
            <a:r>
              <a:rPr lang="en-US" dirty="0">
                <a:solidFill>
                  <a:srgbClr val="3333FF"/>
                </a:solidFill>
                <a:latin typeface="Times New Roman" pitchFamily="18" charset="0"/>
                <a:cs typeface="Times New Roman" pitchFamily="18" charset="0"/>
              </a:rPr>
              <a:t>strong field </a:t>
            </a:r>
            <a:r>
              <a:rPr lang="en-US" dirty="0">
                <a:latin typeface="Times New Roman" pitchFamily="18" charset="0"/>
                <a:cs typeface="Times New Roman" pitchFamily="18" charset="0"/>
              </a:rPr>
              <a:t> and one sketch as </a:t>
            </a:r>
            <a:r>
              <a:rPr lang="en-US" dirty="0">
                <a:solidFill>
                  <a:srgbClr val="3333FF"/>
                </a:solidFill>
                <a:latin typeface="Times New Roman" pitchFamily="18" charset="0"/>
                <a:cs typeface="Times New Roman" pitchFamily="18" charset="0"/>
              </a:rPr>
              <a:t>weak</a:t>
            </a:r>
            <a:r>
              <a:rPr lang="en-US" dirty="0">
                <a:latin typeface="Times New Roman" pitchFamily="18" charset="0"/>
                <a:cs typeface="Times New Roman" pitchFamily="18" charset="0"/>
              </a:rPr>
              <a:t> </a:t>
            </a:r>
            <a:r>
              <a:rPr lang="en-US" dirty="0">
                <a:solidFill>
                  <a:srgbClr val="3333FF"/>
                </a:solidFill>
                <a:latin typeface="Times New Roman" pitchFamily="18" charset="0"/>
                <a:cs typeface="Times New Roman" pitchFamily="18" charset="0"/>
              </a:rPr>
              <a:t>field</a:t>
            </a:r>
            <a:r>
              <a:rPr lang="en-US" dirty="0">
                <a:latin typeface="Times New Roman" pitchFamily="18" charset="0"/>
                <a:cs typeface="Times New Roman" pitchFamily="18" charset="0"/>
              </a:rPr>
              <a:t>. </a:t>
            </a:r>
          </a:p>
          <a:p>
            <a:pPr marL="1827213" lvl="1" indent="-447675">
              <a:buFontTx/>
              <a:buAutoNum type="alphaLcParenR"/>
            </a:pPr>
            <a:r>
              <a:rPr lang="en-US" sz="3200" dirty="0">
                <a:latin typeface="Times New Roman" pitchFamily="18" charset="0"/>
                <a:cs typeface="Times New Roman" pitchFamily="18" charset="0"/>
              </a:rPr>
              <a:t>Ni(NH</a:t>
            </a:r>
            <a:r>
              <a:rPr lang="en-US" sz="3200" baseline="-12000" dirty="0">
                <a:latin typeface="Times New Roman" pitchFamily="18" charset="0"/>
                <a:cs typeface="Times New Roman" pitchFamily="18" charset="0"/>
              </a:rPr>
              <a:t>3</a:t>
            </a:r>
            <a:r>
              <a:rPr lang="en-US" sz="3200" dirty="0">
                <a:latin typeface="Times New Roman" pitchFamily="18" charset="0"/>
                <a:cs typeface="Times New Roman" pitchFamily="18" charset="0"/>
              </a:rPr>
              <a:t>)</a:t>
            </a:r>
            <a:r>
              <a:rPr lang="en-US" sz="3200" baseline="-12000" dirty="0">
                <a:latin typeface="Times New Roman" pitchFamily="18" charset="0"/>
                <a:cs typeface="Times New Roman" pitchFamily="18" charset="0"/>
              </a:rPr>
              <a:t>6</a:t>
            </a:r>
            <a:r>
              <a:rPr lang="en-US" sz="3200" baseline="34000" dirty="0">
                <a:latin typeface="Times New Roman" pitchFamily="18" charset="0"/>
                <a:cs typeface="Times New Roman" pitchFamily="18" charset="0"/>
              </a:rPr>
              <a:t>2+</a:t>
            </a:r>
            <a:r>
              <a:rPr lang="en-US" sz="3200" dirty="0">
                <a:latin typeface="Times New Roman" pitchFamily="18" charset="0"/>
                <a:cs typeface="Times New Roman" pitchFamily="18" charset="0"/>
              </a:rPr>
              <a:t> </a:t>
            </a:r>
          </a:p>
          <a:p>
            <a:pPr marL="1827213" lvl="1" indent="-447675">
              <a:buFontTx/>
              <a:buAutoNum type="alphaLcParenR"/>
            </a:pPr>
            <a:r>
              <a:rPr lang="en-US" sz="3200" dirty="0">
                <a:latin typeface="Times New Roman" pitchFamily="18" charset="0"/>
                <a:cs typeface="Times New Roman" pitchFamily="18" charset="0"/>
              </a:rPr>
              <a:t>Fe(CN)</a:t>
            </a:r>
            <a:r>
              <a:rPr lang="en-US" sz="3200" baseline="-12000" dirty="0">
                <a:latin typeface="Times New Roman" pitchFamily="18" charset="0"/>
                <a:cs typeface="Times New Roman" pitchFamily="18" charset="0"/>
              </a:rPr>
              <a:t>6</a:t>
            </a:r>
            <a:r>
              <a:rPr lang="en-US" sz="3200" baseline="30000" dirty="0">
                <a:latin typeface="Times New Roman" pitchFamily="18" charset="0"/>
                <a:cs typeface="Times New Roman" pitchFamily="18" charset="0"/>
              </a:rPr>
              <a:t>3–</a:t>
            </a:r>
            <a:r>
              <a:rPr lang="en-US" sz="3200" dirty="0">
                <a:latin typeface="Times New Roman" pitchFamily="18" charset="0"/>
                <a:cs typeface="Times New Roman" pitchFamily="18" charset="0"/>
              </a:rPr>
              <a:t>  </a:t>
            </a:r>
          </a:p>
          <a:p>
            <a:pPr marL="1827213" lvl="1" indent="-447675">
              <a:buFontTx/>
              <a:buAutoNum type="alphaLcParenR"/>
            </a:pPr>
            <a:r>
              <a:rPr lang="en-US" sz="3200" dirty="0">
                <a:latin typeface="Times New Roman" pitchFamily="18" charset="0"/>
                <a:cs typeface="Times New Roman" pitchFamily="18" charset="0"/>
              </a:rPr>
              <a:t>Co(NH</a:t>
            </a:r>
            <a:r>
              <a:rPr lang="en-US" sz="3200" baseline="-12000" dirty="0">
                <a:latin typeface="Times New Roman" pitchFamily="18" charset="0"/>
                <a:cs typeface="Times New Roman" pitchFamily="18" charset="0"/>
              </a:rPr>
              <a:t>3</a:t>
            </a:r>
            <a:r>
              <a:rPr lang="en-US" sz="3200" dirty="0">
                <a:latin typeface="Times New Roman" pitchFamily="18" charset="0"/>
                <a:cs typeface="Times New Roman" pitchFamily="18" charset="0"/>
              </a:rPr>
              <a:t>)</a:t>
            </a:r>
            <a:r>
              <a:rPr lang="en-US" sz="3200" baseline="-12000" dirty="0">
                <a:latin typeface="Times New Roman" pitchFamily="18" charset="0"/>
                <a:cs typeface="Times New Roman" pitchFamily="18" charset="0"/>
              </a:rPr>
              <a:t>6</a:t>
            </a:r>
            <a:r>
              <a:rPr lang="en-US" sz="3200" baseline="30000" dirty="0">
                <a:latin typeface="Times New Roman" pitchFamily="18" charset="0"/>
                <a:cs typeface="Times New Roman" pitchFamily="18" charset="0"/>
              </a:rPr>
              <a:t>3+</a:t>
            </a:r>
            <a:r>
              <a:rPr lang="en-US" sz="3200" dirty="0">
                <a:latin typeface="Times New Roman" pitchFamily="18" charset="0"/>
                <a:cs typeface="Times New Roman" pitchFamily="18" charset="0"/>
              </a:rPr>
              <a:t>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9267">
                                            <p:txEl>
                                              <p:pRg st="0" end="0"/>
                                            </p:txEl>
                                          </p:spTgt>
                                        </p:tgtEl>
                                        <p:attrNameLst>
                                          <p:attrName>style.visibility</p:attrName>
                                        </p:attrNameLst>
                                      </p:cBhvr>
                                      <p:to>
                                        <p:strVal val="visible"/>
                                      </p:to>
                                    </p:set>
                                    <p:animEffect transition="in" filter="wipe(left)">
                                      <p:cBhvr>
                                        <p:cTn id="7" dur="500"/>
                                        <p:tgtEl>
                                          <p:spTgt spid="1392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9267">
                                            <p:txEl>
                                              <p:pRg st="1" end="1"/>
                                            </p:txEl>
                                          </p:spTgt>
                                        </p:tgtEl>
                                        <p:attrNameLst>
                                          <p:attrName>style.visibility</p:attrName>
                                        </p:attrNameLst>
                                      </p:cBhvr>
                                      <p:to>
                                        <p:strVal val="visible"/>
                                      </p:to>
                                    </p:set>
                                    <p:animEffect transition="in" filter="wipe(left)">
                                      <p:cBhvr>
                                        <p:cTn id="12" dur="500"/>
                                        <p:tgtEl>
                                          <p:spTgt spid="13926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9267">
                                            <p:txEl>
                                              <p:pRg st="2" end="2"/>
                                            </p:txEl>
                                          </p:spTgt>
                                        </p:tgtEl>
                                        <p:attrNameLst>
                                          <p:attrName>style.visibility</p:attrName>
                                        </p:attrNameLst>
                                      </p:cBhvr>
                                      <p:to>
                                        <p:strVal val="visible"/>
                                      </p:to>
                                    </p:set>
                                    <p:animEffect transition="in" filter="wipe(left)">
                                      <p:cBhvr>
                                        <p:cTn id="17" dur="500"/>
                                        <p:tgtEl>
                                          <p:spTgt spid="13926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9267">
                                            <p:txEl>
                                              <p:pRg st="3" end="3"/>
                                            </p:txEl>
                                          </p:spTgt>
                                        </p:tgtEl>
                                        <p:attrNameLst>
                                          <p:attrName>style.visibility</p:attrName>
                                        </p:attrNameLst>
                                      </p:cBhvr>
                                      <p:to>
                                        <p:strVal val="visible"/>
                                      </p:to>
                                    </p:set>
                                    <p:animEffect transition="in" filter="wipe(left)">
                                      <p:cBhvr>
                                        <p:cTn id="22" dur="500"/>
                                        <p:tgtEl>
                                          <p:spTgt spid="1392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build="p"/>
    </p:bldLst>
  </p:timing>
</p:sld>
</file>

<file path=ppt/slides/slide1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3"/>
          <p:cNvSpPr>
            <a:spLocks noGrp="1" noChangeArrowheads="1"/>
          </p:cNvSpPr>
          <p:nvPr>
            <p:ph type="body" idx="1"/>
          </p:nvPr>
        </p:nvSpPr>
        <p:spPr>
          <a:xfrm>
            <a:off x="609600" y="914400"/>
            <a:ext cx="8001000" cy="5486400"/>
          </a:xfrm>
        </p:spPr>
        <p:txBody>
          <a:bodyPr/>
          <a:lstStyle/>
          <a:p>
            <a:pPr marL="914400" indent="0">
              <a:buFontTx/>
              <a:buNone/>
            </a:pPr>
            <a:r>
              <a:rPr lang="en-US" dirty="0">
                <a:latin typeface="Times New Roman" pitchFamily="18" charset="0"/>
                <a:cs typeface="Times New Roman" pitchFamily="18" charset="0"/>
              </a:rPr>
              <a:t>A metal ion in a high–spin octahedral complex has 2 more unpaired electrons than the same ion does in a low–spin octahedral complex.</a:t>
            </a:r>
            <a:r>
              <a:rPr lang="en-US" sz="3600" dirty="0">
                <a:latin typeface="Times New Roman" pitchFamily="18" charset="0"/>
                <a:cs typeface="Times New Roman" pitchFamily="18" charset="0"/>
              </a:rPr>
              <a:t>  </a:t>
            </a:r>
          </a:p>
          <a:p>
            <a:pPr marL="914400" indent="0">
              <a:buFontTx/>
              <a:buNone/>
            </a:pPr>
            <a:endParaRPr lang="en-US" sz="2400" dirty="0">
              <a:latin typeface="Times New Roman" pitchFamily="18" charset="0"/>
              <a:cs typeface="Times New Roman" pitchFamily="18" charset="0"/>
            </a:endParaRPr>
          </a:p>
          <a:p>
            <a:pPr marL="914400" indent="0">
              <a:buFontTx/>
              <a:buNone/>
            </a:pPr>
            <a:r>
              <a:rPr lang="en-US" dirty="0">
                <a:latin typeface="Times New Roman" pitchFamily="18" charset="0"/>
                <a:cs typeface="Times New Roman" pitchFamily="18" charset="0"/>
              </a:rPr>
              <a:t>What are some </a:t>
            </a:r>
            <a:r>
              <a:rPr lang="en-US" dirty="0">
                <a:solidFill>
                  <a:srgbClr val="3333FF"/>
                </a:solidFill>
                <a:latin typeface="Times New Roman" pitchFamily="18" charset="0"/>
                <a:cs typeface="Times New Roman" pitchFamily="18" charset="0"/>
              </a:rPr>
              <a:t>possible metal ions</a:t>
            </a:r>
            <a:r>
              <a:rPr lang="en-US" dirty="0">
                <a:latin typeface="Times New Roman" pitchFamily="18" charset="0"/>
                <a:cs typeface="Times New Roman" pitchFamily="18" charset="0"/>
              </a:rPr>
              <a:t> for which this would be true? </a:t>
            </a:r>
          </a:p>
          <a:p>
            <a:pPr marL="914400" indent="0">
              <a:buFontTx/>
              <a:buNone/>
            </a:pPr>
            <a:r>
              <a:rPr lang="en-US" sz="3000" dirty="0">
                <a:solidFill>
                  <a:srgbClr val="009900"/>
                </a:solidFill>
                <a:latin typeface="Times New Roman" pitchFamily="18" charset="0"/>
                <a:cs typeface="Times New Roman" pitchFamily="18" charset="0"/>
              </a:rPr>
              <a:t> Metal ions would need to be </a:t>
            </a:r>
            <a:r>
              <a:rPr lang="en-US" sz="3000" i="1" dirty="0">
                <a:solidFill>
                  <a:srgbClr val="009900"/>
                </a:solidFill>
                <a:latin typeface="Times New Roman" pitchFamily="18" charset="0"/>
                <a:cs typeface="Times New Roman" pitchFamily="18" charset="0"/>
              </a:rPr>
              <a:t>d</a:t>
            </a:r>
            <a:r>
              <a:rPr lang="en-US" sz="3000" baseline="30000" dirty="0">
                <a:solidFill>
                  <a:srgbClr val="009900"/>
                </a:solidFill>
                <a:latin typeface="Times New Roman" pitchFamily="18" charset="0"/>
                <a:cs typeface="Times New Roman" pitchFamily="18" charset="0"/>
              </a:rPr>
              <a:t>4</a:t>
            </a:r>
            <a:r>
              <a:rPr lang="en-US" sz="3000" dirty="0">
                <a:solidFill>
                  <a:srgbClr val="009900"/>
                </a:solidFill>
                <a:latin typeface="Times New Roman" pitchFamily="18" charset="0"/>
                <a:cs typeface="Times New Roman" pitchFamily="18" charset="0"/>
              </a:rPr>
              <a:t> or </a:t>
            </a:r>
            <a:r>
              <a:rPr lang="en-US" sz="3000" i="1" dirty="0">
                <a:solidFill>
                  <a:srgbClr val="009900"/>
                </a:solidFill>
                <a:latin typeface="Times New Roman" pitchFamily="18" charset="0"/>
                <a:cs typeface="Times New Roman" pitchFamily="18" charset="0"/>
              </a:rPr>
              <a:t>d</a:t>
            </a:r>
            <a:r>
              <a:rPr lang="en-US" sz="3000" baseline="30000" dirty="0">
                <a:solidFill>
                  <a:srgbClr val="009900"/>
                </a:solidFill>
                <a:latin typeface="Times New Roman" pitchFamily="18" charset="0"/>
                <a:cs typeface="Times New Roman" pitchFamily="18" charset="0"/>
              </a:rPr>
              <a:t>7</a:t>
            </a:r>
            <a:r>
              <a:rPr lang="en-US" sz="3000" dirty="0">
                <a:solidFill>
                  <a:srgbClr val="009900"/>
                </a:solidFill>
                <a:latin typeface="Times New Roman" pitchFamily="18" charset="0"/>
                <a:cs typeface="Times New Roman" pitchFamily="18" charset="0"/>
              </a:rPr>
              <a:t> ions.    Examples include Mn</a:t>
            </a:r>
            <a:r>
              <a:rPr lang="en-US" sz="3000" baseline="30000" dirty="0">
                <a:solidFill>
                  <a:srgbClr val="009900"/>
                </a:solidFill>
                <a:latin typeface="Times New Roman" pitchFamily="18" charset="0"/>
                <a:cs typeface="Times New Roman" pitchFamily="18" charset="0"/>
              </a:rPr>
              <a:t>3+</a:t>
            </a:r>
            <a:r>
              <a:rPr lang="en-US" sz="3000" dirty="0">
                <a:solidFill>
                  <a:srgbClr val="009900"/>
                </a:solidFill>
                <a:latin typeface="Times New Roman" pitchFamily="18" charset="0"/>
                <a:cs typeface="Times New Roman" pitchFamily="18" charset="0"/>
              </a:rPr>
              <a:t>, Co</a:t>
            </a:r>
            <a:r>
              <a:rPr lang="en-US" sz="3000" baseline="30000" dirty="0">
                <a:solidFill>
                  <a:srgbClr val="009900"/>
                </a:solidFill>
                <a:latin typeface="Times New Roman" pitchFamily="18" charset="0"/>
                <a:cs typeface="Times New Roman" pitchFamily="18" charset="0"/>
              </a:rPr>
              <a:t>2+</a:t>
            </a:r>
            <a:r>
              <a:rPr lang="en-US" sz="3000" dirty="0">
                <a:solidFill>
                  <a:srgbClr val="009900"/>
                </a:solidFill>
                <a:latin typeface="Times New Roman" pitchFamily="18" charset="0"/>
                <a:cs typeface="Times New Roman" pitchFamily="18" charset="0"/>
              </a:rPr>
              <a:t>, and Cr</a:t>
            </a:r>
            <a:r>
              <a:rPr lang="en-US" sz="3000" baseline="30000" dirty="0">
                <a:solidFill>
                  <a:srgbClr val="009900"/>
                </a:solidFill>
                <a:latin typeface="Times New Roman" pitchFamily="18" charset="0"/>
                <a:cs typeface="Times New Roman" pitchFamily="18" charset="0"/>
              </a:rPr>
              <a:t>2+</a:t>
            </a:r>
            <a:r>
              <a:rPr lang="en-US" sz="3000" dirty="0">
                <a:solidFill>
                  <a:srgbClr val="009900"/>
                </a:solidFill>
                <a:latin typeface="Times New Roman" pitchFamily="18" charset="0"/>
                <a:cs typeface="Times New Roman" pitchFamily="18" charset="0"/>
              </a:rPr>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animEffect transition="in" filter="wipe(left)">
                                      <p:cBhvr>
                                        <p:cTn id="7" dur="500"/>
                                        <p:tgtEl>
                                          <p:spTgt spid="141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15">
                                            <p:txEl>
                                              <p:pRg st="2" end="2"/>
                                            </p:txEl>
                                          </p:spTgt>
                                        </p:tgtEl>
                                        <p:attrNameLst>
                                          <p:attrName>style.visibility</p:attrName>
                                        </p:attrNameLst>
                                      </p:cBhvr>
                                      <p:to>
                                        <p:strVal val="visible"/>
                                      </p:to>
                                    </p:set>
                                    <p:animEffect transition="in" filter="wipe(left)">
                                      <p:cBhvr>
                                        <p:cTn id="12" dur="500"/>
                                        <p:tgtEl>
                                          <p:spTgt spid="14131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15">
                                            <p:txEl>
                                              <p:pRg st="3" end="3"/>
                                            </p:txEl>
                                          </p:spTgt>
                                        </p:tgtEl>
                                        <p:attrNameLst>
                                          <p:attrName>style.visibility</p:attrName>
                                        </p:attrNameLst>
                                      </p:cBhvr>
                                      <p:to>
                                        <p:strVal val="visible"/>
                                      </p:to>
                                    </p:set>
                                    <p:animEffect transition="in" filter="wipe(left)">
                                      <p:cBhvr>
                                        <p:cTn id="17" dur="2000"/>
                                        <p:tgtEl>
                                          <p:spTgt spid="1413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Lst>
  </p:timing>
</p:sld>
</file>

<file path=ppt/slides/slide1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3" name="Rectangle 3"/>
          <p:cNvSpPr>
            <a:spLocks noGrp="1" noChangeArrowheads="1"/>
          </p:cNvSpPr>
          <p:nvPr>
            <p:ph type="body" idx="1"/>
          </p:nvPr>
        </p:nvSpPr>
        <p:spPr>
          <a:xfrm>
            <a:off x="609600" y="2133600"/>
            <a:ext cx="7696200" cy="1905000"/>
          </a:xfrm>
        </p:spPr>
        <p:txBody>
          <a:bodyPr/>
          <a:lstStyle/>
          <a:p>
            <a:pPr marL="914400" indent="0">
              <a:buFontTx/>
              <a:buNone/>
            </a:pPr>
            <a:r>
              <a:rPr lang="en-US" sz="3600">
                <a:latin typeface="Times New Roman" pitchFamily="18" charset="0"/>
                <a:cs typeface="Times New Roman" pitchFamily="18" charset="0"/>
              </a:rPr>
              <a:t>Between [Mn(CN)</a:t>
            </a:r>
            <a:r>
              <a:rPr lang="en-US" sz="3600" baseline="-25000">
                <a:latin typeface="Times New Roman" pitchFamily="18" charset="0"/>
                <a:cs typeface="Times New Roman" pitchFamily="18" charset="0"/>
              </a:rPr>
              <a:t>6</a:t>
            </a:r>
            <a:r>
              <a:rPr lang="en-US" sz="3600">
                <a:latin typeface="Times New Roman" pitchFamily="18" charset="0"/>
                <a:cs typeface="Times New Roman" pitchFamily="18" charset="0"/>
              </a:rPr>
              <a:t>]</a:t>
            </a:r>
            <a:r>
              <a:rPr lang="en-US" sz="3600" baseline="30000">
                <a:latin typeface="Times New Roman" pitchFamily="18" charset="0"/>
                <a:cs typeface="Times New Roman" pitchFamily="18" charset="0"/>
              </a:rPr>
              <a:t>3–</a:t>
            </a:r>
            <a:r>
              <a:rPr lang="en-US" sz="3600">
                <a:latin typeface="Times New Roman" pitchFamily="18" charset="0"/>
                <a:cs typeface="Times New Roman" pitchFamily="18" charset="0"/>
              </a:rPr>
              <a:t> and [Mn(CN)</a:t>
            </a:r>
            <a:r>
              <a:rPr lang="en-US" sz="3600" baseline="-25000">
                <a:latin typeface="Times New Roman" pitchFamily="18" charset="0"/>
                <a:cs typeface="Times New Roman" pitchFamily="18" charset="0"/>
              </a:rPr>
              <a:t>6</a:t>
            </a:r>
            <a:r>
              <a:rPr lang="en-US" sz="3600">
                <a:latin typeface="Times New Roman" pitchFamily="18" charset="0"/>
                <a:cs typeface="Times New Roman" pitchFamily="18" charset="0"/>
              </a:rPr>
              <a:t>]</a:t>
            </a:r>
            <a:r>
              <a:rPr lang="en-US" sz="3600" baseline="30000">
                <a:latin typeface="Times New Roman" pitchFamily="18" charset="0"/>
                <a:cs typeface="Times New Roman" pitchFamily="18" charset="0"/>
              </a:rPr>
              <a:t>4–</a:t>
            </a:r>
            <a:r>
              <a:rPr lang="en-US" sz="3600">
                <a:latin typeface="Times New Roman" pitchFamily="18" charset="0"/>
                <a:cs typeface="Times New Roman" pitchFamily="18" charset="0"/>
              </a:rPr>
              <a:t> which is more likely to be </a:t>
            </a:r>
            <a:r>
              <a:rPr lang="en-US" sz="3600">
                <a:solidFill>
                  <a:srgbClr val="3333FF"/>
                </a:solidFill>
                <a:latin typeface="Times New Roman" pitchFamily="18" charset="0"/>
                <a:cs typeface="Times New Roman" pitchFamily="18" charset="0"/>
              </a:rPr>
              <a:t>high spin</a:t>
            </a:r>
            <a:r>
              <a:rPr lang="en-US" sz="3600">
                <a:latin typeface="Times New Roman" pitchFamily="18" charset="0"/>
                <a:cs typeface="Times New Roman" pitchFamily="18" charset="0"/>
              </a:rPr>
              <a:t>?  Why? </a:t>
            </a:r>
            <a:endParaRPr lang="en-US" sz="3600">
              <a:solidFill>
                <a:srgbClr val="009900"/>
              </a:solidFill>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63">
                                            <p:txEl>
                                              <p:pRg st="0" end="0"/>
                                            </p:txEl>
                                          </p:spTgt>
                                        </p:tgtEl>
                                        <p:attrNameLst>
                                          <p:attrName>style.visibility</p:attrName>
                                        </p:attrNameLst>
                                      </p:cBhvr>
                                      <p:to>
                                        <p:strVal val="visible"/>
                                      </p:to>
                                    </p:set>
                                    <p:animEffect transition="in" filter="wipe(left)">
                                      <p:cBhvr>
                                        <p:cTn id="7" dur="500"/>
                                        <p:tgtEl>
                                          <p:spTgt spid="14336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3" grpId="0" build="p"/>
    </p:bldLst>
  </p:timing>
</p:sld>
</file>

<file path=ppt/slides/slide1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228600" y="457200"/>
            <a:ext cx="8686800" cy="1066800"/>
          </a:xfrm>
        </p:spPr>
        <p:txBody>
          <a:bodyPr/>
          <a:lstStyle/>
          <a:p>
            <a:pPr>
              <a:spcBef>
                <a:spcPct val="20000"/>
              </a:spcBef>
            </a:pPr>
            <a:r>
              <a:rPr lang="en-US" altLang="en-US" sz="3200">
                <a:latin typeface="Times New Roman" pitchFamily="18" charset="0"/>
                <a:cs typeface="Times New Roman" pitchFamily="18" charset="0"/>
              </a:rPr>
              <a:t>The </a:t>
            </a:r>
            <a:r>
              <a:rPr lang="en-US" altLang="en-US" sz="3200" i="1">
                <a:latin typeface="Times New Roman" pitchFamily="18" charset="0"/>
                <a:cs typeface="Times New Roman" pitchFamily="18" charset="0"/>
              </a:rPr>
              <a:t>d </a:t>
            </a:r>
            <a:r>
              <a:rPr lang="en-US" altLang="en-US" sz="3200">
                <a:latin typeface="Times New Roman" pitchFamily="18" charset="0"/>
                <a:cs typeface="Times New Roman" pitchFamily="18" charset="0"/>
              </a:rPr>
              <a:t>Energy Diagrams for Square Planar Complexes</a:t>
            </a:r>
            <a:endParaRPr lang="en-US" sz="3200">
              <a:latin typeface="Times New Roman" pitchFamily="18" charset="0"/>
              <a:cs typeface="Times New Roman" pitchFamily="18" charset="0"/>
            </a:endParaRPr>
          </a:p>
        </p:txBody>
      </p:sp>
      <p:sp>
        <p:nvSpPr>
          <p:cNvPr id="14541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45412" name="Picture 4"/>
          <p:cNvPicPr>
            <a:picLocks noChangeAspect="1" noChangeArrowheads="1"/>
          </p:cNvPicPr>
          <p:nvPr/>
        </p:nvPicPr>
        <p:blipFill>
          <a:blip r:embed="rId3"/>
          <a:srcRect/>
          <a:stretch>
            <a:fillRect/>
          </a:stretch>
        </p:blipFill>
        <p:spPr bwMode="auto">
          <a:xfrm>
            <a:off x="2971800" y="1752600"/>
            <a:ext cx="3411538" cy="4419600"/>
          </a:xfrm>
          <a:prstGeom prst="rect">
            <a:avLst/>
          </a:prstGeom>
          <a:noFill/>
          <a:ln w="12700">
            <a:solidFill>
              <a:schemeClr val="tx1"/>
            </a:solidFill>
            <a:miter lim="800000"/>
            <a:headEnd/>
            <a:tailEnd/>
          </a:ln>
          <a:effectLst/>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228600" y="304800"/>
            <a:ext cx="8534400" cy="1371600"/>
          </a:xfrm>
        </p:spPr>
        <p:txBody>
          <a:bodyPr/>
          <a:lstStyle/>
          <a:p>
            <a:pPr>
              <a:spcBef>
                <a:spcPct val="20000"/>
              </a:spcBef>
            </a:pPr>
            <a:r>
              <a:rPr lang="en-US" altLang="en-US" sz="3200">
                <a:latin typeface="Times New Roman" pitchFamily="18" charset="0"/>
                <a:cs typeface="Times New Roman" pitchFamily="18" charset="0"/>
              </a:rPr>
              <a:t>The </a:t>
            </a:r>
            <a:r>
              <a:rPr lang="en-US" altLang="en-US" sz="3200" i="1">
                <a:latin typeface="Times New Roman" pitchFamily="18" charset="0"/>
                <a:cs typeface="Times New Roman" pitchFamily="18" charset="0"/>
              </a:rPr>
              <a:t>d </a:t>
            </a:r>
            <a:r>
              <a:rPr lang="en-US" altLang="en-US" sz="3200">
                <a:latin typeface="Times New Roman" pitchFamily="18" charset="0"/>
                <a:cs typeface="Times New Roman" pitchFamily="18" charset="0"/>
              </a:rPr>
              <a:t>Energy Diagrams for Linear Complexes Where the Ligands Lie Along the </a:t>
            </a:r>
            <a:r>
              <a:rPr lang="en-US" altLang="en-US" sz="3200" i="1">
                <a:latin typeface="Times New Roman" pitchFamily="18" charset="0"/>
                <a:cs typeface="Times New Roman" pitchFamily="18" charset="0"/>
              </a:rPr>
              <a:t>z</a:t>
            </a:r>
            <a:r>
              <a:rPr lang="en-US" altLang="en-US" sz="3200">
                <a:latin typeface="Times New Roman" pitchFamily="18" charset="0"/>
                <a:cs typeface="Times New Roman" pitchFamily="18" charset="0"/>
              </a:rPr>
              <a:t> Axis</a:t>
            </a:r>
            <a:endParaRPr lang="en-US" sz="3200">
              <a:latin typeface="Times New Roman" pitchFamily="18" charset="0"/>
              <a:cs typeface="Times New Roman" pitchFamily="18" charset="0"/>
            </a:endParaRPr>
          </a:p>
        </p:txBody>
      </p:sp>
      <p:sp>
        <p:nvSpPr>
          <p:cNvPr id="147459"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47460" name="Picture 4"/>
          <p:cNvPicPr>
            <a:picLocks noChangeAspect="1" noChangeArrowheads="1"/>
          </p:cNvPicPr>
          <p:nvPr/>
        </p:nvPicPr>
        <p:blipFill>
          <a:blip r:embed="rId3"/>
          <a:srcRect/>
          <a:stretch>
            <a:fillRect/>
          </a:stretch>
        </p:blipFill>
        <p:spPr bwMode="auto">
          <a:xfrm>
            <a:off x="2667000" y="1905000"/>
            <a:ext cx="3668713" cy="4267200"/>
          </a:xfrm>
          <a:prstGeom prst="rect">
            <a:avLst/>
          </a:prstGeom>
          <a:noFill/>
          <a:ln w="12700">
            <a:solidFill>
              <a:schemeClr val="tx1"/>
            </a:solidFill>
            <a:miter lim="800000"/>
            <a:headEnd/>
            <a:tailEnd/>
          </a:ln>
          <a:effectLst/>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6" name="Rectangle 2"/>
          <p:cNvSpPr>
            <a:spLocks noGrp="1" noChangeArrowheads="1"/>
          </p:cNvSpPr>
          <p:nvPr>
            <p:ph type="body" idx="1"/>
          </p:nvPr>
        </p:nvSpPr>
        <p:spPr>
          <a:xfrm>
            <a:off x="457200" y="2209800"/>
            <a:ext cx="8229600" cy="2757488"/>
          </a:xfrm>
        </p:spPr>
        <p:txBody>
          <a:bodyPr/>
          <a:lstStyle/>
          <a:p>
            <a:pPr marL="457200" indent="-457200"/>
            <a:r>
              <a:rPr lang="en-US" sz="3600">
                <a:latin typeface="Times New Roman" pitchFamily="18" charset="0"/>
                <a:cs typeface="Times New Roman" pitchFamily="18" charset="0"/>
              </a:rPr>
              <a:t>Metal ion complexes are used in humans for the transport and storage of oxygen, as electron-transfer agents, as catalysts, and as drugs.</a:t>
            </a:r>
          </a:p>
        </p:txBody>
      </p:sp>
      <p:sp>
        <p:nvSpPr>
          <p:cNvPr id="149507"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149508" name="Rectangle 4"/>
          <p:cNvSpPr>
            <a:spLocks noGrp="1" noChangeArrowheads="1"/>
          </p:cNvSpPr>
          <p:nvPr>
            <p:ph type="title"/>
          </p:nvPr>
        </p:nvSpPr>
        <p:spPr>
          <a:xfrm>
            <a:off x="457200" y="381000"/>
            <a:ext cx="8229600" cy="1371600"/>
          </a:xfrm>
        </p:spPr>
        <p:txBody>
          <a:bodyPr/>
          <a:lstStyle/>
          <a:p>
            <a:r>
              <a:rPr lang="en-US" sz="4000">
                <a:latin typeface="Times New Roman" pitchFamily="18" charset="0"/>
                <a:cs typeface="Times New Roman" pitchFamily="18" charset="0"/>
              </a:rPr>
              <a:t>Transition Metal Complexes in Biological Molecules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6">
                                            <p:txEl>
                                              <p:pRg st="0" end="0"/>
                                            </p:txEl>
                                          </p:spTgt>
                                        </p:tgtEl>
                                        <p:attrNameLst>
                                          <p:attrName>style.visibility</p:attrName>
                                        </p:attrNameLst>
                                      </p:cBhvr>
                                      <p:to>
                                        <p:strVal val="visible"/>
                                      </p:to>
                                    </p:set>
                                    <p:animEffect transition="in" filter="wipe(left)">
                                      <p:cBhvr>
                                        <p:cTn id="7" dur="500"/>
                                        <p:tgtEl>
                                          <p:spTgt spid="14950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build="p"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1554" name="Rectangle 2"/>
          <p:cNvSpPr>
            <a:spLocks noGrp="1" noChangeArrowheads="1"/>
          </p:cNvSpPr>
          <p:nvPr>
            <p:ph type="title"/>
          </p:nvPr>
        </p:nvSpPr>
        <p:spPr>
          <a:xfrm>
            <a:off x="457200" y="381000"/>
            <a:ext cx="8229600" cy="1295400"/>
          </a:xfrm>
        </p:spPr>
        <p:txBody>
          <a:bodyPr>
            <a:normAutofit fontScale="90000"/>
          </a:bodyPr>
          <a:lstStyle/>
          <a:p>
            <a:pPr>
              <a:spcBef>
                <a:spcPct val="20000"/>
              </a:spcBef>
            </a:pPr>
            <a:r>
              <a:rPr lang="en-US" sz="4000">
                <a:latin typeface="Times New Roman" pitchFamily="18" charset="0"/>
                <a:cs typeface="Times New Roman" pitchFamily="18" charset="0"/>
              </a:rPr>
              <a:t>First-Row Transition Metals and Their Biological Significance</a:t>
            </a:r>
          </a:p>
        </p:txBody>
      </p:sp>
      <p:sp>
        <p:nvSpPr>
          <p:cNvPr id="151555"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1556" name="Picture 4" descr="table_21_18"/>
          <p:cNvPicPr>
            <a:picLocks noChangeAspect="1" noChangeArrowheads="1"/>
          </p:cNvPicPr>
          <p:nvPr/>
        </p:nvPicPr>
        <p:blipFill>
          <a:blip r:embed="rId3"/>
          <a:srcRect/>
          <a:stretch>
            <a:fillRect/>
          </a:stretch>
        </p:blipFill>
        <p:spPr bwMode="auto">
          <a:xfrm>
            <a:off x="685800" y="2057400"/>
            <a:ext cx="7543800" cy="4389438"/>
          </a:xfrm>
          <a:prstGeom prst="rect">
            <a:avLst/>
          </a:prstGeom>
          <a:noFill/>
          <a:ln w="12700">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pPr>
              <a:spcBef>
                <a:spcPct val="20000"/>
              </a:spcBef>
            </a:pPr>
            <a:r>
              <a:rPr lang="en-US" sz="4000">
                <a:latin typeface="Times New Roman" pitchFamily="18" charset="0"/>
                <a:cs typeface="Times New Roman" pitchFamily="18" charset="0"/>
              </a:rPr>
              <a:t>Biological Importance of Iron</a:t>
            </a:r>
          </a:p>
        </p:txBody>
      </p:sp>
      <p:sp>
        <p:nvSpPr>
          <p:cNvPr id="153603" name="Rectangle 3"/>
          <p:cNvSpPr>
            <a:spLocks noGrp="1" noChangeArrowheads="1"/>
          </p:cNvSpPr>
          <p:nvPr>
            <p:ph type="body" idx="1"/>
          </p:nvPr>
        </p:nvSpPr>
        <p:spPr>
          <a:xfrm>
            <a:off x="457200" y="1752600"/>
            <a:ext cx="8229600" cy="3581400"/>
          </a:xfrm>
        </p:spPr>
        <p:txBody>
          <a:bodyPr/>
          <a:lstStyle/>
          <a:p>
            <a:pPr marL="457200" indent="-457200"/>
            <a:r>
              <a:rPr lang="en-US">
                <a:latin typeface="Times New Roman" pitchFamily="18" charset="0"/>
                <a:cs typeface="Times New Roman" pitchFamily="18" charset="0"/>
              </a:rPr>
              <a:t>Plays a central role in almost all living cells.</a:t>
            </a:r>
          </a:p>
          <a:p>
            <a:pPr marL="457200" indent="-457200"/>
            <a:r>
              <a:rPr lang="en-US">
                <a:latin typeface="Times New Roman" pitchFamily="18" charset="0"/>
                <a:cs typeface="Times New Roman" pitchFamily="18" charset="0"/>
              </a:rPr>
              <a:t>Component of hemoglobin and myoglobin.</a:t>
            </a:r>
          </a:p>
          <a:p>
            <a:pPr marL="457200" indent="-457200"/>
            <a:r>
              <a:rPr lang="en-US">
                <a:latin typeface="Times New Roman" pitchFamily="18" charset="0"/>
                <a:cs typeface="Times New Roman" pitchFamily="18" charset="0"/>
              </a:rPr>
              <a:t>Involved in the electron-transport chain.</a:t>
            </a:r>
          </a:p>
        </p:txBody>
      </p:sp>
      <p:sp>
        <p:nvSpPr>
          <p:cNvPr id="153604"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animEffect transition="in" filter="wipe(left)">
                                      <p:cBhvr>
                                        <p:cTn id="7" dur="500"/>
                                        <p:tgtEl>
                                          <p:spTgt spid="15360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3603">
                                            <p:txEl>
                                              <p:pRg st="1" end="1"/>
                                            </p:txEl>
                                          </p:spTgt>
                                        </p:tgtEl>
                                        <p:attrNameLst>
                                          <p:attrName>style.visibility</p:attrName>
                                        </p:attrNameLst>
                                      </p:cBhvr>
                                      <p:to>
                                        <p:strVal val="visible"/>
                                      </p:to>
                                    </p:set>
                                    <p:animEffect transition="in" filter="wipe(left)">
                                      <p:cBhvr>
                                        <p:cTn id="12" dur="500"/>
                                        <p:tgtEl>
                                          <p:spTgt spid="15360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603">
                                            <p:txEl>
                                              <p:pRg st="2" end="2"/>
                                            </p:txEl>
                                          </p:spTgt>
                                        </p:tgtEl>
                                        <p:attrNameLst>
                                          <p:attrName>style.visibility</p:attrName>
                                        </p:attrNameLst>
                                      </p:cBhvr>
                                      <p:to>
                                        <p:strVal val="visible"/>
                                      </p:to>
                                    </p:set>
                                    <p:animEffect transition="in" filter="wipe(left)">
                                      <p:cBhvr>
                                        <p:cTn id="17" dur="500"/>
                                        <p:tgtEl>
                                          <p:spTgt spid="15360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autoUpdateAnimBg="0"/>
    </p:bldLst>
  </p:timing>
</p:sld>
</file>

<file path=ppt/slides/slide1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685800" y="457200"/>
            <a:ext cx="7467600" cy="762000"/>
          </a:xfrm>
        </p:spPr>
        <p:txBody>
          <a:bodyPr/>
          <a:lstStyle/>
          <a:p>
            <a:pPr>
              <a:spcBef>
                <a:spcPct val="20000"/>
              </a:spcBef>
            </a:pPr>
            <a:r>
              <a:rPr lang="en-US" sz="3600">
                <a:latin typeface="Times New Roman" pitchFamily="18" charset="0"/>
                <a:cs typeface="Times New Roman" pitchFamily="18" charset="0"/>
              </a:rPr>
              <a:t>The Heme Complex</a:t>
            </a:r>
          </a:p>
        </p:txBody>
      </p:sp>
      <p:sp>
        <p:nvSpPr>
          <p:cNvPr id="155651" name="Rectangle 3"/>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5652" name="Picture 4" descr="ch21_58"/>
          <p:cNvPicPr>
            <a:picLocks noChangeAspect="1" noChangeArrowheads="1"/>
          </p:cNvPicPr>
          <p:nvPr/>
        </p:nvPicPr>
        <p:blipFill>
          <a:blip r:embed="rId3"/>
          <a:srcRect/>
          <a:stretch>
            <a:fillRect/>
          </a:stretch>
        </p:blipFill>
        <p:spPr bwMode="auto">
          <a:xfrm>
            <a:off x="2438400" y="1371600"/>
            <a:ext cx="4397375" cy="504825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457200" y="274638"/>
            <a:ext cx="7848600" cy="868362"/>
          </a:xfrm>
        </p:spPr>
        <p:txBody>
          <a:bodyPr/>
          <a:lstStyle/>
          <a:p>
            <a:pPr>
              <a:spcBef>
                <a:spcPct val="20000"/>
              </a:spcBef>
            </a:pPr>
            <a:r>
              <a:rPr lang="en-US">
                <a:latin typeface="Times New Roman" pitchFamily="18" charset="0"/>
                <a:cs typeface="Times New Roman" pitchFamily="18" charset="0"/>
              </a:rPr>
              <a:t>Myoglobin</a:t>
            </a:r>
          </a:p>
        </p:txBody>
      </p:sp>
      <p:sp>
        <p:nvSpPr>
          <p:cNvPr id="157699" name="Rectangle 3"/>
          <p:cNvSpPr>
            <a:spLocks noGrp="1" noChangeArrowheads="1"/>
          </p:cNvSpPr>
          <p:nvPr>
            <p:ph type="body" idx="1"/>
          </p:nvPr>
        </p:nvSpPr>
        <p:spPr>
          <a:xfrm>
            <a:off x="304800" y="1371600"/>
            <a:ext cx="3200400" cy="5105400"/>
          </a:xfrm>
        </p:spPr>
        <p:txBody>
          <a:bodyPr/>
          <a:lstStyle/>
          <a:p>
            <a:pPr marL="457200" indent="-457200"/>
            <a:r>
              <a:rPr lang="en-US" sz="2400">
                <a:latin typeface="Times New Roman" pitchFamily="18" charset="0"/>
                <a:cs typeface="Times New Roman" pitchFamily="18" charset="0"/>
              </a:rPr>
              <a:t>The Fe</a:t>
            </a:r>
            <a:r>
              <a:rPr lang="en-US" sz="2400" baseline="30000">
                <a:latin typeface="Times New Roman" pitchFamily="18" charset="0"/>
                <a:cs typeface="Times New Roman" pitchFamily="18" charset="0"/>
              </a:rPr>
              <a:t>2+</a:t>
            </a:r>
            <a:r>
              <a:rPr lang="en-US" sz="2400">
                <a:latin typeface="Times New Roman" pitchFamily="18" charset="0"/>
                <a:cs typeface="Times New Roman" pitchFamily="18" charset="0"/>
              </a:rPr>
              <a:t> ion is coordinated to four nitrogen atoms in the porphyrin of the heme (the disk in the figure) and on nitrogen from the protein chain.</a:t>
            </a:r>
          </a:p>
          <a:p>
            <a:pPr marL="457200" indent="-457200"/>
            <a:r>
              <a:rPr lang="en-US" sz="2400">
                <a:latin typeface="Times New Roman" pitchFamily="18" charset="0"/>
                <a:cs typeface="Times New Roman" pitchFamily="18" charset="0"/>
              </a:rPr>
              <a:t>This leaves a 6</a:t>
            </a:r>
            <a:r>
              <a:rPr lang="en-US" sz="2400" baseline="30000">
                <a:latin typeface="Times New Roman" pitchFamily="18" charset="0"/>
                <a:cs typeface="Times New Roman" pitchFamily="18" charset="0"/>
              </a:rPr>
              <a:t>th</a:t>
            </a:r>
            <a:r>
              <a:rPr lang="en-US" sz="2400">
                <a:latin typeface="Times New Roman" pitchFamily="18" charset="0"/>
                <a:cs typeface="Times New Roman" pitchFamily="18" charset="0"/>
              </a:rPr>
              <a:t> coordination position (the W) available for an oxygen molecule.</a:t>
            </a:r>
          </a:p>
        </p:txBody>
      </p:sp>
      <p:sp>
        <p:nvSpPr>
          <p:cNvPr id="157700" name="Rectangle 4"/>
          <p:cNvSpPr>
            <a:spLocks noChangeArrowheads="1"/>
          </p:cNvSpPr>
          <p:nvPr/>
        </p:nvSpPr>
        <p:spPr bwMode="auto">
          <a:xfrm>
            <a:off x="0" y="3271838"/>
            <a:ext cx="9144000" cy="0"/>
          </a:xfrm>
          <a:prstGeom prst="rect">
            <a:avLst/>
          </a:prstGeom>
          <a:noFill/>
          <a:ln w="9525">
            <a:noFill/>
            <a:miter lim="800000"/>
            <a:headEnd/>
            <a:tailEnd/>
          </a:ln>
          <a:effectLst/>
        </p:spPr>
        <p:txBody>
          <a:bodyPr wrap="none" anchor="ctr">
            <a:spAutoFit/>
          </a:bodyPr>
          <a:lstStyle/>
          <a:p>
            <a:endParaRPr lang="en-US"/>
          </a:p>
        </p:txBody>
      </p:sp>
      <p:pic>
        <p:nvPicPr>
          <p:cNvPr id="157701" name="Picture 5" descr="ch21_59"/>
          <p:cNvPicPr>
            <a:picLocks noChangeAspect="1" noChangeArrowheads="1"/>
          </p:cNvPicPr>
          <p:nvPr/>
        </p:nvPicPr>
        <p:blipFill>
          <a:blip r:embed="rId3"/>
          <a:srcRect/>
          <a:stretch>
            <a:fillRect/>
          </a:stretch>
        </p:blipFill>
        <p:spPr bwMode="auto">
          <a:xfrm>
            <a:off x="3810000" y="1371600"/>
            <a:ext cx="4548188" cy="4724400"/>
          </a:xfrm>
          <a:prstGeom prst="rect">
            <a:avLst/>
          </a:prstGeom>
          <a:noFill/>
          <a:ln w="12699">
            <a:solidFill>
              <a:srgbClr val="000000"/>
            </a:solid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7699">
                                            <p:txEl>
                                              <p:pRg st="0" end="0"/>
                                            </p:txEl>
                                          </p:spTgt>
                                        </p:tgtEl>
                                        <p:attrNameLst>
                                          <p:attrName>style.visibility</p:attrName>
                                        </p:attrNameLst>
                                      </p:cBhvr>
                                      <p:to>
                                        <p:strVal val="visible"/>
                                      </p:to>
                                    </p:set>
                                    <p:animEffect transition="in" filter="wipe(left)">
                                      <p:cBhvr>
                                        <p:cTn id="7" dur="500"/>
                                        <p:tgtEl>
                                          <p:spTgt spid="1576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7699">
                                            <p:txEl>
                                              <p:pRg st="1" end="1"/>
                                            </p:txEl>
                                          </p:spTgt>
                                        </p:tgtEl>
                                        <p:attrNameLst>
                                          <p:attrName>style.visibility</p:attrName>
                                        </p:attrNameLst>
                                      </p:cBhvr>
                                      <p:to>
                                        <p:strVal val="visible"/>
                                      </p:to>
                                    </p:set>
                                    <p:animEffect transition="in" filter="wipe(left)">
                                      <p:cBhvr>
                                        <p:cTn id="12" dur="500"/>
                                        <p:tgtEl>
                                          <p:spTgt spid="157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9" grpId="0" build="p"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0" y="-228600"/>
            <a:ext cx="9144000" cy="1143000"/>
          </a:xfrm>
        </p:spPr>
        <p:txBody>
          <a:bodyPr/>
          <a:lstStyle/>
          <a:p>
            <a:r>
              <a:rPr lang="en-US"/>
              <a:t>Polydentate Ligands</a:t>
            </a:r>
          </a:p>
        </p:txBody>
      </p:sp>
      <p:sp>
        <p:nvSpPr>
          <p:cNvPr id="33795" name="Rectangle 3"/>
          <p:cNvSpPr>
            <a:spLocks noGrp="1" noChangeArrowheads="1"/>
          </p:cNvSpPr>
          <p:nvPr>
            <p:ph type="body" sz="half" idx="1"/>
          </p:nvPr>
        </p:nvSpPr>
        <p:spPr>
          <a:xfrm>
            <a:off x="304800" y="5905500"/>
            <a:ext cx="8839200" cy="4114800"/>
          </a:xfrm>
        </p:spPr>
        <p:txBody>
          <a:bodyPr/>
          <a:lstStyle/>
          <a:p>
            <a:pPr marL="395288" lvl="1" indent="-280988">
              <a:buFontTx/>
              <a:buNone/>
              <a:tabLst>
                <a:tab pos="341313" algn="l"/>
              </a:tabLst>
            </a:pPr>
            <a:r>
              <a:rPr lang="en-US"/>
              <a:t>	Chelating agents generally form more stable complexes than do monodentate ligands.</a:t>
            </a:r>
          </a:p>
        </p:txBody>
      </p:sp>
      <p:pic>
        <p:nvPicPr>
          <p:cNvPr id="33797" name="Picture 5" descr="24_T02"/>
          <p:cNvPicPr>
            <a:picLocks noGrp="1" noChangeAspect="1" noChangeArrowheads="1"/>
          </p:cNvPicPr>
          <p:nvPr>
            <p:ph sz="half" idx="2"/>
          </p:nvPr>
        </p:nvPicPr>
        <p:blipFill>
          <a:blip r:embed="rId3"/>
          <a:srcRect t="5389" b="4398"/>
          <a:stretch>
            <a:fillRect/>
          </a:stretch>
        </p:blipFill>
        <p:spPr>
          <a:xfrm>
            <a:off x="304800" y="685800"/>
            <a:ext cx="7866063" cy="5278438"/>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0" y="-152400"/>
            <a:ext cx="9144000" cy="1143000"/>
          </a:xfrm>
        </p:spPr>
        <p:txBody>
          <a:bodyPr/>
          <a:lstStyle/>
          <a:p>
            <a:r>
              <a:rPr lang="en-US"/>
              <a:t>Chelating Agents</a:t>
            </a:r>
          </a:p>
        </p:txBody>
      </p:sp>
      <p:sp>
        <p:nvSpPr>
          <p:cNvPr id="34820" name="Rectangle 4"/>
          <p:cNvSpPr>
            <a:spLocks noGrp="1" noChangeArrowheads="1"/>
          </p:cNvSpPr>
          <p:nvPr>
            <p:ph type="body" sz="half" idx="2"/>
          </p:nvPr>
        </p:nvSpPr>
        <p:spPr>
          <a:xfrm>
            <a:off x="0" y="4343400"/>
            <a:ext cx="8610600" cy="2514600"/>
          </a:xfrm>
        </p:spPr>
        <p:txBody>
          <a:bodyPr/>
          <a:lstStyle/>
          <a:p>
            <a:r>
              <a:rPr lang="en-US" sz="2800"/>
              <a:t>Bind to metal ions removing them from solution.</a:t>
            </a:r>
          </a:p>
          <a:p>
            <a:r>
              <a:rPr lang="en-US" sz="2800"/>
              <a:t>Phosphates are used to tie up Ca</a:t>
            </a:r>
            <a:r>
              <a:rPr lang="en-US" sz="2800" baseline="30000"/>
              <a:t>2+</a:t>
            </a:r>
            <a:r>
              <a:rPr lang="en-US" sz="2800"/>
              <a:t> and Mg</a:t>
            </a:r>
            <a:r>
              <a:rPr lang="en-US" sz="2800" baseline="30000"/>
              <a:t>2+</a:t>
            </a:r>
            <a:r>
              <a:rPr lang="en-US" sz="2800"/>
              <a:t> in hard water to prevent them from interfering with detergents. </a:t>
            </a:r>
          </a:p>
        </p:txBody>
      </p:sp>
      <p:pic>
        <p:nvPicPr>
          <p:cNvPr id="34821" name="Picture 5" descr="24_06-01UN"/>
          <p:cNvPicPr>
            <a:picLocks noGrp="1" noChangeAspect="1" noChangeArrowheads="1"/>
          </p:cNvPicPr>
          <p:nvPr>
            <p:ph sz="half" idx="1"/>
          </p:nvPr>
        </p:nvPicPr>
        <p:blipFill>
          <a:blip r:embed="rId3" cstate="print"/>
          <a:srcRect b="8887"/>
          <a:stretch>
            <a:fillRect/>
          </a:stretch>
        </p:blipFill>
        <p:spPr>
          <a:xfrm>
            <a:off x="152400" y="1295400"/>
            <a:ext cx="6400800" cy="2270125"/>
          </a:xfrm>
        </p:spPr>
      </p:pic>
      <p:sp>
        <p:nvSpPr>
          <p:cNvPr id="34822" name="Text Box 6"/>
          <p:cNvSpPr txBox="1">
            <a:spLocks noChangeArrowheads="1"/>
          </p:cNvSpPr>
          <p:nvPr/>
        </p:nvSpPr>
        <p:spPr bwMode="auto">
          <a:xfrm>
            <a:off x="6454775" y="1143000"/>
            <a:ext cx="679450" cy="457200"/>
          </a:xfrm>
          <a:prstGeom prst="rect">
            <a:avLst/>
          </a:prstGeom>
          <a:noFill/>
          <a:ln w="9525">
            <a:noFill/>
            <a:miter lim="800000"/>
            <a:headEnd/>
            <a:tailEnd/>
          </a:ln>
          <a:effectLst/>
        </p:spPr>
        <p:txBody>
          <a:bodyPr>
            <a:spAutoFit/>
          </a:bodyPr>
          <a:lstStyle/>
          <a:p>
            <a:pPr>
              <a:spcBef>
                <a:spcPct val="50000"/>
              </a:spcBef>
            </a:pPr>
            <a:r>
              <a:rPr lang="en-US"/>
              <a:t>5-</a:t>
            </a:r>
          </a:p>
        </p:txBody>
      </p:sp>
      <p:sp>
        <p:nvSpPr>
          <p:cNvPr id="34823" name="Text Box 7"/>
          <p:cNvSpPr txBox="1">
            <a:spLocks noChangeArrowheads="1"/>
          </p:cNvSpPr>
          <p:nvPr/>
        </p:nvSpPr>
        <p:spPr bwMode="auto">
          <a:xfrm>
            <a:off x="6219825" y="2020888"/>
            <a:ext cx="285750" cy="457200"/>
          </a:xfrm>
          <a:prstGeom prst="rect">
            <a:avLst/>
          </a:prstGeom>
          <a:noFill/>
          <a:ln w="9525">
            <a:noFill/>
            <a:miter lim="800000"/>
            <a:headEnd/>
            <a:tailEnd/>
          </a:ln>
          <a:effectLst/>
        </p:spPr>
        <p:txBody>
          <a:bodyPr wrap="none">
            <a:spAutoFit/>
          </a:bodyPr>
          <a:lstStyle/>
          <a:p>
            <a:r>
              <a:rPr lang="en-US"/>
              <a:t>-</a:t>
            </a:r>
          </a:p>
        </p:txBody>
      </p:sp>
      <p:sp>
        <p:nvSpPr>
          <p:cNvPr id="34824" name="Text Box 8"/>
          <p:cNvSpPr txBox="1">
            <a:spLocks noChangeArrowheads="1"/>
          </p:cNvSpPr>
          <p:nvPr/>
        </p:nvSpPr>
        <p:spPr bwMode="auto">
          <a:xfrm>
            <a:off x="5470525" y="3379788"/>
            <a:ext cx="285750" cy="457200"/>
          </a:xfrm>
          <a:prstGeom prst="rect">
            <a:avLst/>
          </a:prstGeom>
          <a:noFill/>
          <a:ln w="9525">
            <a:noFill/>
            <a:miter lim="800000"/>
            <a:headEnd/>
            <a:tailEnd/>
          </a:ln>
          <a:effectLst/>
        </p:spPr>
        <p:txBody>
          <a:bodyPr wrap="none">
            <a:spAutoFit/>
          </a:bodyPr>
          <a:lstStyle/>
          <a:p>
            <a:r>
              <a:rPr lang="en-US"/>
              <a:t>-</a:t>
            </a:r>
          </a:p>
        </p:txBody>
      </p:sp>
      <p:sp>
        <p:nvSpPr>
          <p:cNvPr id="34825" name="Text Box 9"/>
          <p:cNvSpPr txBox="1">
            <a:spLocks noChangeArrowheads="1"/>
          </p:cNvSpPr>
          <p:nvPr/>
        </p:nvSpPr>
        <p:spPr bwMode="auto">
          <a:xfrm>
            <a:off x="3844925" y="3367088"/>
            <a:ext cx="285750" cy="457200"/>
          </a:xfrm>
          <a:prstGeom prst="rect">
            <a:avLst/>
          </a:prstGeom>
          <a:noFill/>
          <a:ln w="9525">
            <a:noFill/>
            <a:miter lim="800000"/>
            <a:headEnd/>
            <a:tailEnd/>
          </a:ln>
          <a:effectLst/>
        </p:spPr>
        <p:txBody>
          <a:bodyPr wrap="none">
            <a:spAutoFit/>
          </a:bodyPr>
          <a:lstStyle/>
          <a:p>
            <a:r>
              <a:rPr lang="en-US"/>
              <a:t>-</a:t>
            </a:r>
          </a:p>
        </p:txBody>
      </p:sp>
      <p:sp>
        <p:nvSpPr>
          <p:cNvPr id="34826" name="Text Box 10"/>
          <p:cNvSpPr txBox="1">
            <a:spLocks noChangeArrowheads="1"/>
          </p:cNvSpPr>
          <p:nvPr/>
        </p:nvSpPr>
        <p:spPr bwMode="auto">
          <a:xfrm>
            <a:off x="2219325" y="3405188"/>
            <a:ext cx="285750" cy="457200"/>
          </a:xfrm>
          <a:prstGeom prst="rect">
            <a:avLst/>
          </a:prstGeom>
          <a:noFill/>
          <a:ln w="9525">
            <a:noFill/>
            <a:miter lim="800000"/>
            <a:headEnd/>
            <a:tailEnd/>
          </a:ln>
          <a:effectLst/>
        </p:spPr>
        <p:txBody>
          <a:bodyPr wrap="none">
            <a:spAutoFit/>
          </a:bodyPr>
          <a:lstStyle/>
          <a:p>
            <a:r>
              <a:rPr lang="en-US"/>
              <a:t>-</a:t>
            </a:r>
          </a:p>
        </p:txBody>
      </p:sp>
      <p:sp>
        <p:nvSpPr>
          <p:cNvPr id="34827" name="Text Box 11"/>
          <p:cNvSpPr txBox="1">
            <a:spLocks noChangeArrowheads="1"/>
          </p:cNvSpPr>
          <p:nvPr/>
        </p:nvSpPr>
        <p:spPr bwMode="auto">
          <a:xfrm>
            <a:off x="1012825" y="1906588"/>
            <a:ext cx="285750" cy="457200"/>
          </a:xfrm>
          <a:prstGeom prst="rect">
            <a:avLst/>
          </a:prstGeom>
          <a:noFill/>
          <a:ln w="9525">
            <a:noFill/>
            <a:miter lim="800000"/>
            <a:headEnd/>
            <a:tailEnd/>
          </a:ln>
          <a:effectLst/>
        </p:spPr>
        <p:txBody>
          <a:bodyPr wrap="none">
            <a:spAutoFit/>
          </a:bodyPr>
          <a:lstStyle/>
          <a:p>
            <a:r>
              <a:rPr lang="en-US"/>
              <a:t>-</a:t>
            </a:r>
          </a:p>
        </p:txBody>
      </p:sp>
      <p:sp>
        <p:nvSpPr>
          <p:cNvPr id="34828" name="Text Box 12"/>
          <p:cNvSpPr txBox="1">
            <a:spLocks noChangeArrowheads="1"/>
          </p:cNvSpPr>
          <p:nvPr/>
        </p:nvSpPr>
        <p:spPr bwMode="auto">
          <a:xfrm>
            <a:off x="6007100" y="19177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29" name="Text Box 13"/>
          <p:cNvSpPr txBox="1">
            <a:spLocks noChangeArrowheads="1"/>
          </p:cNvSpPr>
          <p:nvPr/>
        </p:nvSpPr>
        <p:spPr bwMode="auto">
          <a:xfrm>
            <a:off x="6007100" y="23622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0" name="Text Box 14"/>
          <p:cNvSpPr txBox="1">
            <a:spLocks noChangeArrowheads="1"/>
          </p:cNvSpPr>
          <p:nvPr/>
        </p:nvSpPr>
        <p:spPr bwMode="auto">
          <a:xfrm>
            <a:off x="1193800" y="19177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1" name="Text Box 15"/>
          <p:cNvSpPr txBox="1">
            <a:spLocks noChangeArrowheads="1"/>
          </p:cNvSpPr>
          <p:nvPr/>
        </p:nvSpPr>
        <p:spPr bwMode="auto">
          <a:xfrm>
            <a:off x="1193800" y="23622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2" name="Text Box 16"/>
          <p:cNvSpPr txBox="1">
            <a:spLocks noChangeArrowheads="1"/>
          </p:cNvSpPr>
          <p:nvPr/>
        </p:nvSpPr>
        <p:spPr bwMode="auto">
          <a:xfrm>
            <a:off x="6235700" y="22050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3" name="Text Box 17"/>
          <p:cNvSpPr txBox="1">
            <a:spLocks noChangeArrowheads="1"/>
          </p:cNvSpPr>
          <p:nvPr/>
        </p:nvSpPr>
        <p:spPr bwMode="auto">
          <a:xfrm>
            <a:off x="1028700" y="21796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4" name="Text Box 18"/>
          <p:cNvSpPr txBox="1">
            <a:spLocks noChangeArrowheads="1"/>
          </p:cNvSpPr>
          <p:nvPr/>
        </p:nvSpPr>
        <p:spPr bwMode="auto">
          <a:xfrm>
            <a:off x="18161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5" name="Text Box 19"/>
          <p:cNvSpPr txBox="1">
            <a:spLocks noChangeArrowheads="1"/>
          </p:cNvSpPr>
          <p:nvPr/>
        </p:nvSpPr>
        <p:spPr bwMode="auto">
          <a:xfrm>
            <a:off x="22606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6" name="Text Box 20"/>
          <p:cNvSpPr txBox="1">
            <a:spLocks noChangeArrowheads="1"/>
          </p:cNvSpPr>
          <p:nvPr/>
        </p:nvSpPr>
        <p:spPr bwMode="auto">
          <a:xfrm>
            <a:off x="34163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7" name="Text Box 21"/>
          <p:cNvSpPr txBox="1">
            <a:spLocks noChangeArrowheads="1"/>
          </p:cNvSpPr>
          <p:nvPr/>
        </p:nvSpPr>
        <p:spPr bwMode="auto">
          <a:xfrm>
            <a:off x="38481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8" name="Text Box 22"/>
          <p:cNvSpPr txBox="1">
            <a:spLocks noChangeArrowheads="1"/>
          </p:cNvSpPr>
          <p:nvPr/>
        </p:nvSpPr>
        <p:spPr bwMode="auto">
          <a:xfrm>
            <a:off x="50038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39" name="Text Box 23"/>
          <p:cNvSpPr txBox="1">
            <a:spLocks noChangeArrowheads="1"/>
          </p:cNvSpPr>
          <p:nvPr/>
        </p:nvSpPr>
        <p:spPr bwMode="auto">
          <a:xfrm>
            <a:off x="5461000" y="3043238"/>
            <a:ext cx="1841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40" name="Text Box 24"/>
          <p:cNvSpPr txBox="1">
            <a:spLocks noChangeArrowheads="1"/>
          </p:cNvSpPr>
          <p:nvPr/>
        </p:nvSpPr>
        <p:spPr bwMode="auto">
          <a:xfrm>
            <a:off x="5181600" y="32258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41" name="Text Box 25"/>
          <p:cNvSpPr txBox="1">
            <a:spLocks noChangeArrowheads="1"/>
          </p:cNvSpPr>
          <p:nvPr/>
        </p:nvSpPr>
        <p:spPr bwMode="auto">
          <a:xfrm>
            <a:off x="3581400" y="32258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34842" name="Text Box 26"/>
          <p:cNvSpPr txBox="1">
            <a:spLocks noChangeArrowheads="1"/>
          </p:cNvSpPr>
          <p:nvPr/>
        </p:nvSpPr>
        <p:spPr bwMode="auto">
          <a:xfrm>
            <a:off x="1968500" y="3200400"/>
            <a:ext cx="463550" cy="457200"/>
          </a:xfrm>
          <a:prstGeom prst="rect">
            <a:avLst/>
          </a:prstGeom>
          <a:noFill/>
          <a:ln w="9525">
            <a:noFill/>
            <a:miter lim="800000"/>
            <a:headEnd/>
            <a:tailEnd/>
          </a:ln>
          <a:effectLst/>
        </p:spPr>
        <p:txBody>
          <a:bodyPr>
            <a:spAutoFit/>
          </a:bodyPr>
          <a:lstStyle/>
          <a:p>
            <a:pPr>
              <a:spcBef>
                <a:spcPct val="50000"/>
              </a:spcBef>
            </a:pPr>
            <a:r>
              <a:rPr lang="en-US"/>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4820">
                                            <p:txEl>
                                              <p:pRg st="1" end="1"/>
                                            </p:txEl>
                                          </p:spTgt>
                                        </p:tgtEl>
                                        <p:attrNameLst>
                                          <p:attrName>style.visibility</p:attrName>
                                        </p:attrNameLst>
                                      </p:cBhvr>
                                      <p:to>
                                        <p:strVal val="visible"/>
                                      </p:to>
                                    </p:set>
                                    <p:animEffect transition="in" filter="fade">
                                      <p:cBhvr>
                                        <p:cTn id="7" dur="2000"/>
                                        <p:tgtEl>
                                          <p:spTgt spid="348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US"/>
              <a:t>Chelating Agents</a:t>
            </a:r>
          </a:p>
        </p:txBody>
      </p:sp>
      <p:sp>
        <p:nvSpPr>
          <p:cNvPr id="35843" name="Rectangle 3"/>
          <p:cNvSpPr>
            <a:spLocks noGrp="1" noChangeArrowheads="1"/>
          </p:cNvSpPr>
          <p:nvPr>
            <p:ph type="body" sz="half" idx="1"/>
          </p:nvPr>
        </p:nvSpPr>
        <p:spPr>
          <a:xfrm>
            <a:off x="228600" y="1981200"/>
            <a:ext cx="4267200" cy="4114800"/>
          </a:xfrm>
        </p:spPr>
        <p:txBody>
          <a:bodyPr/>
          <a:lstStyle/>
          <a:p>
            <a:r>
              <a:rPr lang="en-US" sz="2800"/>
              <a:t>Porphyrins are complexes containing a form of the porphine molecule shown at right.</a:t>
            </a:r>
          </a:p>
          <a:p>
            <a:r>
              <a:rPr lang="en-US" sz="2800"/>
              <a:t>Important biomolecules like heme and chlorophyll are porphyrins.</a:t>
            </a:r>
          </a:p>
        </p:txBody>
      </p:sp>
      <p:pic>
        <p:nvPicPr>
          <p:cNvPr id="35845" name="Picture 5" descr="24_08"/>
          <p:cNvPicPr>
            <a:picLocks noGrp="1" noChangeAspect="1" noChangeArrowheads="1"/>
          </p:cNvPicPr>
          <p:nvPr>
            <p:ph sz="half" idx="2"/>
          </p:nvPr>
        </p:nvPicPr>
        <p:blipFill>
          <a:blip r:embed="rId3" cstate="print"/>
          <a:srcRect b="4086"/>
          <a:stretch>
            <a:fillRect/>
          </a:stretch>
        </p:blipFill>
        <p:spPr>
          <a:xfrm>
            <a:off x="4953000" y="2212975"/>
            <a:ext cx="3810000" cy="3502025"/>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843">
                                            <p:txEl>
                                              <p:pRg st="1" end="1"/>
                                            </p:txEl>
                                          </p:spTgt>
                                        </p:tgtEl>
                                        <p:attrNameLst>
                                          <p:attrName>style.visibility</p:attrName>
                                        </p:attrNameLst>
                                      </p:cBhvr>
                                      <p:to>
                                        <p:strVal val="visible"/>
                                      </p:to>
                                    </p:set>
                                    <p:animEffect transition="in" filter="fade">
                                      <p:cBhvr>
                                        <p:cTn id="7" dur="2000"/>
                                        <p:tgtEl>
                                          <p:spTgt spid="3584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US"/>
              <a:t>Chelating Agents</a:t>
            </a:r>
          </a:p>
        </p:txBody>
      </p:sp>
      <p:sp>
        <p:nvSpPr>
          <p:cNvPr id="36868" name="Rectangle 4"/>
          <p:cNvSpPr>
            <a:spLocks noGrp="1" noChangeArrowheads="1"/>
          </p:cNvSpPr>
          <p:nvPr>
            <p:ph type="body" sz="half" idx="2"/>
          </p:nvPr>
        </p:nvSpPr>
        <p:spPr/>
        <p:txBody>
          <a:bodyPr/>
          <a:lstStyle/>
          <a:p>
            <a:pPr>
              <a:buFontTx/>
              <a:buNone/>
            </a:pPr>
            <a:r>
              <a:rPr lang="en-US" sz="2800"/>
              <a:t>	Porphines (like chlorophyll </a:t>
            </a:r>
            <a:r>
              <a:rPr lang="en-US" sz="2800" i="1"/>
              <a:t>a</a:t>
            </a:r>
            <a:r>
              <a:rPr lang="en-US" sz="2800"/>
              <a:t>) are tetradentate ligands.</a:t>
            </a:r>
          </a:p>
        </p:txBody>
      </p:sp>
      <p:pic>
        <p:nvPicPr>
          <p:cNvPr id="36869" name="Picture 5" descr="24_12"/>
          <p:cNvPicPr>
            <a:picLocks noGrp="1" noChangeAspect="1" noChangeArrowheads="1"/>
          </p:cNvPicPr>
          <p:nvPr>
            <p:ph sz="half" idx="1"/>
          </p:nvPr>
        </p:nvPicPr>
        <p:blipFill>
          <a:blip r:embed="rId3" cstate="print"/>
          <a:srcRect b="3703"/>
          <a:stretch>
            <a:fillRect/>
          </a:stretch>
        </p:blipFill>
        <p:spPr>
          <a:xfrm>
            <a:off x="409575" y="1600200"/>
            <a:ext cx="3849688" cy="4572000"/>
          </a:xfrm>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spd="slow">
    <p:fade/>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2" descr="24_22"/>
          <p:cNvPicPr>
            <a:picLocks noChangeAspect="1" noChangeArrowheads="1"/>
          </p:cNvPicPr>
          <p:nvPr/>
        </p:nvPicPr>
        <p:blipFill>
          <a:blip r:embed="rId3" cstate="print"/>
          <a:srcRect/>
          <a:stretch>
            <a:fillRect/>
          </a:stretch>
        </p:blipFill>
        <p:spPr bwMode="auto">
          <a:xfrm>
            <a:off x="1233488" y="1760538"/>
            <a:ext cx="6564312" cy="4075112"/>
          </a:xfrm>
          <a:prstGeom prst="rect">
            <a:avLst/>
          </a:prstGeom>
          <a:noFill/>
          <a:ln w="9525">
            <a:noFill/>
            <a:miter lim="800000"/>
            <a:headEnd/>
            <a:tailEnd/>
          </a:ln>
        </p:spPr>
      </p:pic>
      <p:sp>
        <p:nvSpPr>
          <p:cNvPr id="101379" name="Text Box 3"/>
          <p:cNvSpPr txBox="1">
            <a:spLocks noChangeArrowheads="1"/>
          </p:cNvSpPr>
          <p:nvPr/>
        </p:nvSpPr>
        <p:spPr bwMode="auto">
          <a:xfrm>
            <a:off x="1927225" y="257175"/>
            <a:ext cx="5378450" cy="579438"/>
          </a:xfrm>
          <a:prstGeom prst="rect">
            <a:avLst/>
          </a:prstGeom>
          <a:noFill/>
          <a:ln w="9525">
            <a:noFill/>
            <a:miter lim="800000"/>
            <a:headEnd/>
            <a:tailEnd/>
          </a:ln>
          <a:effectLst/>
        </p:spPr>
        <p:txBody>
          <a:bodyPr wrap="none">
            <a:spAutoFit/>
          </a:bodyPr>
          <a:lstStyle/>
          <a:p>
            <a:r>
              <a:rPr lang="en-US" sz="3200" b="1">
                <a:solidFill>
                  <a:schemeClr val="hlink"/>
                </a:solidFill>
              </a:rPr>
              <a:t>Metal complexes and color</a:t>
            </a:r>
          </a:p>
        </p:txBody>
      </p:sp>
      <p:sp>
        <p:nvSpPr>
          <p:cNvPr id="101380" name="Text Box 4"/>
          <p:cNvSpPr txBox="1">
            <a:spLocks noChangeArrowheads="1"/>
          </p:cNvSpPr>
          <p:nvPr/>
        </p:nvSpPr>
        <p:spPr bwMode="auto">
          <a:xfrm>
            <a:off x="1165225" y="1220788"/>
            <a:ext cx="6959600" cy="457200"/>
          </a:xfrm>
          <a:prstGeom prst="rect">
            <a:avLst/>
          </a:prstGeom>
          <a:noFill/>
          <a:ln w="9525">
            <a:noFill/>
            <a:miter lim="800000"/>
            <a:headEnd/>
            <a:tailEnd/>
          </a:ln>
          <a:effectLst/>
        </p:spPr>
        <p:txBody>
          <a:bodyPr wrap="none">
            <a:spAutoFit/>
          </a:bodyPr>
          <a:lstStyle/>
          <a:p>
            <a:r>
              <a:rPr lang="en-US" b="1">
                <a:solidFill>
                  <a:srgbClr val="C82E32"/>
                </a:solidFill>
              </a:rPr>
              <a:t>The ligands of a metal complex effect its color </a:t>
            </a:r>
          </a:p>
        </p:txBody>
      </p:sp>
      <p:sp>
        <p:nvSpPr>
          <p:cNvPr id="101381" name="Text Box 5"/>
          <p:cNvSpPr txBox="1">
            <a:spLocks noChangeArrowheads="1"/>
          </p:cNvSpPr>
          <p:nvPr/>
        </p:nvSpPr>
        <p:spPr bwMode="auto">
          <a:xfrm>
            <a:off x="657225" y="6034088"/>
            <a:ext cx="7837488" cy="457200"/>
          </a:xfrm>
          <a:prstGeom prst="rect">
            <a:avLst/>
          </a:prstGeom>
          <a:solidFill>
            <a:schemeClr val="bg1"/>
          </a:solidFill>
          <a:ln w="9525">
            <a:noFill/>
            <a:miter lim="800000"/>
            <a:headEnd/>
            <a:tailEnd/>
          </a:ln>
          <a:effectLst/>
        </p:spPr>
        <p:txBody>
          <a:bodyPr wrap="none">
            <a:spAutoFit/>
          </a:bodyPr>
          <a:lstStyle/>
          <a:p>
            <a:r>
              <a:rPr lang="en-US" b="1">
                <a:solidFill>
                  <a:srgbClr val="8000FF"/>
                </a:solidFill>
              </a:rPr>
              <a:t>Addition of NH</a:t>
            </a:r>
            <a:r>
              <a:rPr lang="en-US" b="1" baseline="-25000">
                <a:solidFill>
                  <a:srgbClr val="8000FF"/>
                </a:solidFill>
              </a:rPr>
              <a:t>3</a:t>
            </a:r>
            <a:r>
              <a:rPr lang="en-US" b="1">
                <a:solidFill>
                  <a:srgbClr val="8000FF"/>
                </a:solidFill>
              </a:rPr>
              <a:t> ligand to Cu(H</a:t>
            </a:r>
            <a:r>
              <a:rPr lang="en-US" b="1" baseline="-25000">
                <a:solidFill>
                  <a:srgbClr val="8000FF"/>
                </a:solidFill>
              </a:rPr>
              <a:t>2</a:t>
            </a:r>
            <a:r>
              <a:rPr lang="en-US" b="1">
                <a:solidFill>
                  <a:srgbClr val="8000FF"/>
                </a:solidFill>
              </a:rPr>
              <a:t>O)</a:t>
            </a:r>
            <a:r>
              <a:rPr lang="en-US" b="1" baseline="-25000">
                <a:solidFill>
                  <a:srgbClr val="8000FF"/>
                </a:solidFill>
              </a:rPr>
              <a:t>4</a:t>
            </a:r>
            <a:r>
              <a:rPr lang="en-US" b="1">
                <a:solidFill>
                  <a:srgbClr val="8000FF"/>
                </a:solidFill>
              </a:rPr>
              <a:t> changes its color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2" descr="24_23"/>
          <p:cNvPicPr>
            <a:picLocks noChangeAspect="1" noChangeArrowheads="1"/>
          </p:cNvPicPr>
          <p:nvPr/>
        </p:nvPicPr>
        <p:blipFill>
          <a:blip r:embed="rId3"/>
          <a:srcRect/>
          <a:stretch>
            <a:fillRect/>
          </a:stretch>
        </p:blipFill>
        <p:spPr bwMode="auto">
          <a:xfrm>
            <a:off x="0" y="1943100"/>
            <a:ext cx="9142413" cy="1755775"/>
          </a:xfrm>
          <a:prstGeom prst="rect">
            <a:avLst/>
          </a:prstGeom>
          <a:noFill/>
          <a:ln w="9525">
            <a:noFill/>
            <a:miter lim="800000"/>
            <a:headEnd/>
            <a:tailEnd/>
          </a:ln>
        </p:spPr>
      </p:pic>
      <p:sp>
        <p:nvSpPr>
          <p:cNvPr id="103427" name="Text Box 3"/>
          <p:cNvSpPr txBox="1">
            <a:spLocks noChangeArrowheads="1"/>
          </p:cNvSpPr>
          <p:nvPr/>
        </p:nvSpPr>
        <p:spPr bwMode="auto">
          <a:xfrm>
            <a:off x="1482725" y="346075"/>
            <a:ext cx="6303963" cy="579438"/>
          </a:xfrm>
          <a:prstGeom prst="rect">
            <a:avLst/>
          </a:prstGeom>
          <a:noFill/>
          <a:ln w="9525">
            <a:noFill/>
            <a:miter lim="800000"/>
            <a:headEnd/>
            <a:tailEnd/>
          </a:ln>
          <a:effectLst/>
        </p:spPr>
        <p:txBody>
          <a:bodyPr wrap="none">
            <a:spAutoFit/>
          </a:bodyPr>
          <a:lstStyle/>
          <a:p>
            <a:r>
              <a:rPr lang="en-US" sz="3200" b="1">
                <a:solidFill>
                  <a:srgbClr val="FF8000"/>
                </a:solidFill>
              </a:rPr>
              <a:t>Why does anything have color?</a:t>
            </a:r>
          </a:p>
        </p:txBody>
      </p:sp>
      <p:sp>
        <p:nvSpPr>
          <p:cNvPr id="103428" name="Text Box 4"/>
          <p:cNvSpPr txBox="1">
            <a:spLocks noChangeArrowheads="1"/>
          </p:cNvSpPr>
          <p:nvPr/>
        </p:nvSpPr>
        <p:spPr bwMode="auto">
          <a:xfrm>
            <a:off x="558800" y="3771900"/>
            <a:ext cx="7753350" cy="3013075"/>
          </a:xfrm>
          <a:prstGeom prst="rect">
            <a:avLst/>
          </a:prstGeom>
          <a:noFill/>
          <a:ln w="9525">
            <a:noFill/>
            <a:miter lim="800000"/>
            <a:headEnd/>
            <a:tailEnd/>
          </a:ln>
          <a:effectLst/>
        </p:spPr>
        <p:txBody>
          <a:bodyPr>
            <a:spAutoFit/>
          </a:bodyPr>
          <a:lstStyle/>
          <a:p>
            <a:pPr>
              <a:spcBef>
                <a:spcPct val="50000"/>
              </a:spcBef>
            </a:pPr>
            <a:r>
              <a:rPr lang="en-US"/>
              <a:t>Light of different frequencies give different colors</a:t>
            </a:r>
          </a:p>
          <a:p>
            <a:pPr>
              <a:spcBef>
                <a:spcPct val="50000"/>
              </a:spcBef>
            </a:pPr>
            <a:r>
              <a:rPr lang="en-US"/>
              <a:t>We learned that elements can </a:t>
            </a:r>
            <a:r>
              <a:rPr lang="en-US" i="1">
                <a:solidFill>
                  <a:srgbClr val="0000FF"/>
                </a:solidFill>
              </a:rPr>
              <a:t>emit </a:t>
            </a:r>
            <a:r>
              <a:rPr lang="en-US"/>
              <a:t>light of different frequency or color.</a:t>
            </a:r>
          </a:p>
          <a:p>
            <a:pPr>
              <a:spcBef>
                <a:spcPct val="50000"/>
              </a:spcBef>
            </a:pPr>
            <a:r>
              <a:rPr lang="en-US"/>
              <a:t>But these coordination complexes are not emitting light</a:t>
            </a:r>
          </a:p>
          <a:p>
            <a:pPr>
              <a:spcBef>
                <a:spcPct val="50000"/>
              </a:spcBef>
            </a:pPr>
            <a:r>
              <a:rPr lang="en-US"/>
              <a:t>They </a:t>
            </a:r>
            <a:r>
              <a:rPr lang="en-US">
                <a:solidFill>
                  <a:srgbClr val="0000FF"/>
                </a:solidFill>
              </a:rPr>
              <a:t>absorb light.</a:t>
            </a:r>
          </a:p>
          <a:p>
            <a:pPr>
              <a:spcBef>
                <a:spcPct val="50000"/>
              </a:spcBef>
            </a:pPr>
            <a:r>
              <a:rPr lang="en-US">
                <a:solidFill>
                  <a:srgbClr val="0000FF"/>
                </a:solidFill>
              </a:rPr>
              <a:t>How does that give color?</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a:spLocks noChangeArrowheads="1"/>
          </p:cNvSpPr>
          <p:nvPr/>
        </p:nvSpPr>
        <p:spPr bwMode="auto">
          <a:xfrm>
            <a:off x="657225" y="331788"/>
            <a:ext cx="7775575" cy="457200"/>
          </a:xfrm>
          <a:prstGeom prst="rect">
            <a:avLst/>
          </a:prstGeom>
          <a:noFill/>
          <a:ln w="9525">
            <a:noFill/>
            <a:miter lim="800000"/>
            <a:headEnd/>
            <a:tailEnd/>
          </a:ln>
          <a:effectLst/>
        </p:spPr>
        <p:txBody>
          <a:bodyPr wrap="none">
            <a:spAutoFit/>
          </a:bodyPr>
          <a:lstStyle/>
          <a:p>
            <a:r>
              <a:rPr lang="en-US"/>
              <a:t>Light can bounce off an object or get absorbed by object</a:t>
            </a:r>
          </a:p>
        </p:txBody>
      </p:sp>
      <p:sp>
        <p:nvSpPr>
          <p:cNvPr id="156675" name="Text Box 3"/>
          <p:cNvSpPr txBox="1">
            <a:spLocks noChangeArrowheads="1"/>
          </p:cNvSpPr>
          <p:nvPr/>
        </p:nvSpPr>
        <p:spPr bwMode="auto">
          <a:xfrm>
            <a:off x="669925" y="2020888"/>
            <a:ext cx="7794625" cy="1373187"/>
          </a:xfrm>
          <a:prstGeom prst="rect">
            <a:avLst/>
          </a:prstGeom>
          <a:solidFill>
            <a:schemeClr val="hlink"/>
          </a:solidFill>
          <a:ln w="9525">
            <a:noFill/>
            <a:miter lim="800000"/>
            <a:headEnd/>
            <a:tailEnd/>
          </a:ln>
          <a:effectLst/>
        </p:spPr>
        <p:txBody>
          <a:bodyPr wrap="none">
            <a:spAutoFit/>
          </a:bodyPr>
          <a:lstStyle/>
          <a:p>
            <a:r>
              <a:rPr lang="en-US" sz="2800">
                <a:solidFill>
                  <a:srgbClr val="C82E32"/>
                </a:solidFill>
              </a:rPr>
              <a:t>No light absorbed, all reflected get</a:t>
            </a:r>
            <a:r>
              <a:rPr lang="en-US" sz="2800"/>
              <a:t> </a:t>
            </a:r>
            <a:r>
              <a:rPr lang="en-US" sz="2800">
                <a:solidFill>
                  <a:schemeClr val="bg1"/>
                </a:solidFill>
              </a:rPr>
              <a:t>white </a:t>
            </a:r>
            <a:r>
              <a:rPr lang="en-US" sz="2800">
                <a:solidFill>
                  <a:srgbClr val="C82E32"/>
                </a:solidFill>
              </a:rPr>
              <a:t>color</a:t>
            </a:r>
          </a:p>
          <a:p>
            <a:r>
              <a:rPr lang="en-US" sz="2800">
                <a:solidFill>
                  <a:srgbClr val="C82E32"/>
                </a:solidFill>
              </a:rPr>
              <a:t>All light absorbed, none reflected get </a:t>
            </a:r>
            <a:r>
              <a:rPr lang="en-US" sz="2800"/>
              <a:t>Black</a:t>
            </a:r>
            <a:r>
              <a:rPr lang="en-US" sz="2800">
                <a:solidFill>
                  <a:srgbClr val="C82E32"/>
                </a:solidFill>
              </a:rPr>
              <a:t> color</a:t>
            </a:r>
          </a:p>
          <a:p>
            <a:r>
              <a:rPr lang="en-US" sz="2800">
                <a:solidFill>
                  <a:srgbClr val="C82E32"/>
                </a:solidFill>
              </a:rPr>
              <a:t>What if only one color is absorbed?</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2" descr="24_24"/>
          <p:cNvPicPr>
            <a:picLocks noChangeAspect="1" noChangeArrowheads="1"/>
          </p:cNvPicPr>
          <p:nvPr/>
        </p:nvPicPr>
        <p:blipFill>
          <a:blip r:embed="rId3" cstate="print"/>
          <a:srcRect/>
          <a:stretch>
            <a:fillRect/>
          </a:stretch>
        </p:blipFill>
        <p:spPr bwMode="auto">
          <a:xfrm>
            <a:off x="3354388" y="2852738"/>
            <a:ext cx="5513387" cy="3709987"/>
          </a:xfrm>
          <a:prstGeom prst="rect">
            <a:avLst/>
          </a:prstGeom>
          <a:noFill/>
          <a:ln w="9525">
            <a:noFill/>
            <a:miter lim="800000"/>
            <a:headEnd/>
            <a:tailEnd/>
          </a:ln>
        </p:spPr>
      </p:pic>
      <p:sp>
        <p:nvSpPr>
          <p:cNvPr id="105475" name="Text Box 3"/>
          <p:cNvSpPr txBox="1">
            <a:spLocks noChangeArrowheads="1"/>
          </p:cNvSpPr>
          <p:nvPr/>
        </p:nvSpPr>
        <p:spPr bwMode="auto">
          <a:xfrm>
            <a:off x="2019300" y="419100"/>
            <a:ext cx="5873750" cy="579438"/>
          </a:xfrm>
          <a:prstGeom prst="rect">
            <a:avLst/>
          </a:prstGeom>
          <a:noFill/>
          <a:ln w="9525">
            <a:noFill/>
            <a:miter lim="800000"/>
            <a:headEnd/>
            <a:tailEnd/>
          </a:ln>
          <a:effectLst/>
        </p:spPr>
        <p:txBody>
          <a:bodyPr>
            <a:spAutoFit/>
          </a:bodyPr>
          <a:lstStyle/>
          <a:p>
            <a:pPr>
              <a:spcBef>
                <a:spcPct val="50000"/>
              </a:spcBef>
            </a:pPr>
            <a:r>
              <a:rPr lang="en-US" sz="3200" b="1">
                <a:solidFill>
                  <a:srgbClr val="00197D"/>
                </a:solidFill>
              </a:rPr>
              <a:t>Complimentary color wheel</a:t>
            </a:r>
          </a:p>
        </p:txBody>
      </p:sp>
      <p:sp>
        <p:nvSpPr>
          <p:cNvPr id="105476" name="Text Box 4"/>
          <p:cNvSpPr txBox="1">
            <a:spLocks noChangeArrowheads="1"/>
          </p:cNvSpPr>
          <p:nvPr/>
        </p:nvSpPr>
        <p:spPr bwMode="auto">
          <a:xfrm>
            <a:off x="517525" y="1538288"/>
            <a:ext cx="7418388" cy="457200"/>
          </a:xfrm>
          <a:prstGeom prst="rect">
            <a:avLst/>
          </a:prstGeom>
          <a:noFill/>
          <a:ln w="9525">
            <a:noFill/>
            <a:miter lim="800000"/>
            <a:headEnd/>
            <a:tailEnd/>
          </a:ln>
          <a:effectLst/>
        </p:spPr>
        <p:txBody>
          <a:bodyPr wrap="none">
            <a:spAutoFit/>
          </a:bodyPr>
          <a:lstStyle/>
          <a:p>
            <a:r>
              <a:rPr lang="en-US"/>
              <a:t>If one color absorbed, the color opposite is perceived.</a:t>
            </a:r>
          </a:p>
        </p:txBody>
      </p:sp>
      <p:sp>
        <p:nvSpPr>
          <p:cNvPr id="105477" name="Text Box 5"/>
          <p:cNvSpPr txBox="1">
            <a:spLocks noChangeArrowheads="1"/>
          </p:cNvSpPr>
          <p:nvPr/>
        </p:nvSpPr>
        <p:spPr bwMode="auto">
          <a:xfrm>
            <a:off x="474663" y="3043238"/>
            <a:ext cx="2838450" cy="2100262"/>
          </a:xfrm>
          <a:prstGeom prst="rect">
            <a:avLst/>
          </a:prstGeom>
          <a:noFill/>
          <a:ln w="9525">
            <a:noFill/>
            <a:miter lim="800000"/>
            <a:headEnd/>
            <a:tailEnd/>
          </a:ln>
          <a:effectLst/>
        </p:spPr>
        <p:txBody>
          <a:bodyPr>
            <a:spAutoFit/>
          </a:bodyPr>
          <a:lstStyle/>
          <a:p>
            <a:pPr>
              <a:spcBef>
                <a:spcPct val="50000"/>
              </a:spcBef>
            </a:pPr>
            <a:r>
              <a:rPr lang="en-US"/>
              <a:t>Absorb </a:t>
            </a:r>
            <a:r>
              <a:rPr lang="en-US" b="1">
                <a:solidFill>
                  <a:srgbClr val="FF8000"/>
                </a:solidFill>
              </a:rPr>
              <a:t>Orange</a:t>
            </a:r>
            <a:endParaRPr lang="en-US">
              <a:solidFill>
                <a:srgbClr val="FF8000"/>
              </a:solidFill>
            </a:endParaRPr>
          </a:p>
          <a:p>
            <a:pPr>
              <a:spcBef>
                <a:spcPct val="50000"/>
              </a:spcBef>
            </a:pPr>
            <a:r>
              <a:rPr lang="en-US"/>
              <a:t>See </a:t>
            </a:r>
            <a:r>
              <a:rPr lang="en-US" b="1">
                <a:solidFill>
                  <a:srgbClr val="0000FF"/>
                </a:solidFill>
              </a:rPr>
              <a:t>Blue</a:t>
            </a:r>
            <a:endParaRPr lang="en-US">
              <a:solidFill>
                <a:srgbClr val="0000FF"/>
              </a:solidFill>
            </a:endParaRPr>
          </a:p>
          <a:p>
            <a:pPr>
              <a:spcBef>
                <a:spcPct val="50000"/>
              </a:spcBef>
            </a:pPr>
            <a:r>
              <a:rPr lang="en-US"/>
              <a:t>Absorb </a:t>
            </a:r>
            <a:r>
              <a:rPr lang="en-US" b="1">
                <a:solidFill>
                  <a:srgbClr val="C82E32"/>
                </a:solidFill>
              </a:rPr>
              <a:t>Red</a:t>
            </a:r>
            <a:endParaRPr lang="en-US"/>
          </a:p>
          <a:p>
            <a:pPr>
              <a:spcBef>
                <a:spcPct val="50000"/>
              </a:spcBef>
            </a:pPr>
            <a:r>
              <a:rPr lang="en-US"/>
              <a:t>See </a:t>
            </a:r>
            <a:r>
              <a:rPr lang="en-US" b="1">
                <a:solidFill>
                  <a:srgbClr val="008000"/>
                </a:solidFill>
              </a:rPr>
              <a:t>Green</a:t>
            </a:r>
            <a:endParaRPr lang="en-US">
              <a:solidFill>
                <a:srgbClr val="0000FF"/>
              </a:solidFill>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0" name="Picture 2" descr="24_26"/>
          <p:cNvPicPr>
            <a:picLocks noChangeAspect="1" noChangeArrowheads="1"/>
          </p:cNvPicPr>
          <p:nvPr/>
        </p:nvPicPr>
        <p:blipFill>
          <a:blip r:embed="rId3"/>
          <a:srcRect/>
          <a:stretch>
            <a:fillRect/>
          </a:stretch>
        </p:blipFill>
        <p:spPr bwMode="auto">
          <a:xfrm>
            <a:off x="5562600" y="0"/>
            <a:ext cx="3429000" cy="6858000"/>
          </a:xfrm>
          <a:prstGeom prst="rect">
            <a:avLst/>
          </a:prstGeom>
          <a:noFill/>
          <a:ln w="9525">
            <a:noFill/>
            <a:miter lim="800000"/>
            <a:headEnd/>
            <a:tailEnd/>
          </a:ln>
        </p:spPr>
      </p:pic>
      <p:sp>
        <p:nvSpPr>
          <p:cNvPr id="109571" name="Text Box 3"/>
          <p:cNvSpPr txBox="1">
            <a:spLocks noChangeArrowheads="1"/>
          </p:cNvSpPr>
          <p:nvPr/>
        </p:nvSpPr>
        <p:spPr bwMode="auto">
          <a:xfrm>
            <a:off x="542925" y="2224088"/>
            <a:ext cx="5129213" cy="1552575"/>
          </a:xfrm>
          <a:prstGeom prst="rect">
            <a:avLst/>
          </a:prstGeom>
          <a:noFill/>
          <a:ln w="9525">
            <a:noFill/>
            <a:miter lim="800000"/>
            <a:headEnd/>
            <a:tailEnd/>
          </a:ln>
          <a:effectLst/>
        </p:spPr>
        <p:txBody>
          <a:bodyPr>
            <a:spAutoFit/>
          </a:bodyPr>
          <a:lstStyle/>
          <a:p>
            <a:r>
              <a:rPr lang="en-US"/>
              <a:t>[Ti(H</a:t>
            </a:r>
            <a:r>
              <a:rPr lang="en-US" baseline="-25000"/>
              <a:t>2</a:t>
            </a:r>
            <a:r>
              <a:rPr lang="en-US"/>
              <a:t>O)</a:t>
            </a:r>
            <a:r>
              <a:rPr lang="en-US" baseline="-25000"/>
              <a:t>6</a:t>
            </a:r>
            <a:r>
              <a:rPr lang="en-US"/>
              <a:t>]</a:t>
            </a:r>
            <a:r>
              <a:rPr lang="en-US" baseline="30000"/>
              <a:t>3+</a:t>
            </a:r>
          </a:p>
          <a:p>
            <a:r>
              <a:rPr lang="en-US"/>
              <a:t>Absorbs in green yellow.</a:t>
            </a:r>
          </a:p>
          <a:p>
            <a:r>
              <a:rPr lang="en-US"/>
              <a:t>Looks purple.</a:t>
            </a:r>
          </a:p>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2" name="Picture 2" descr="24_25"/>
          <p:cNvPicPr>
            <a:picLocks noChangeAspect="1" noChangeArrowheads="1"/>
          </p:cNvPicPr>
          <p:nvPr/>
        </p:nvPicPr>
        <p:blipFill>
          <a:blip r:embed="rId3"/>
          <a:srcRect/>
          <a:stretch>
            <a:fillRect/>
          </a:stretch>
        </p:blipFill>
        <p:spPr bwMode="auto">
          <a:xfrm>
            <a:off x="1588" y="2127250"/>
            <a:ext cx="9142412" cy="2605088"/>
          </a:xfrm>
          <a:prstGeom prst="rect">
            <a:avLst/>
          </a:prstGeom>
          <a:noFill/>
          <a:ln w="9525">
            <a:noFill/>
            <a:miter lim="800000"/>
            <a:headEnd/>
            <a:tailEnd/>
          </a:ln>
        </p:spPr>
      </p:pic>
      <p:sp>
        <p:nvSpPr>
          <p:cNvPr id="107523" name="Text Box 3"/>
          <p:cNvSpPr txBox="1">
            <a:spLocks noChangeArrowheads="1"/>
          </p:cNvSpPr>
          <p:nvPr/>
        </p:nvSpPr>
        <p:spPr bwMode="auto">
          <a:xfrm>
            <a:off x="339725" y="560388"/>
            <a:ext cx="8377238" cy="946150"/>
          </a:xfrm>
          <a:prstGeom prst="rect">
            <a:avLst/>
          </a:prstGeom>
          <a:noFill/>
          <a:ln w="9525">
            <a:noFill/>
            <a:miter lim="800000"/>
            <a:headEnd/>
            <a:tailEnd/>
          </a:ln>
          <a:effectLst/>
        </p:spPr>
        <p:txBody>
          <a:bodyPr>
            <a:spAutoFit/>
          </a:bodyPr>
          <a:lstStyle/>
          <a:p>
            <a:pPr algn="ctr"/>
            <a:r>
              <a:rPr lang="en-US" sz="2800" b="1">
                <a:solidFill>
                  <a:schemeClr val="hlink"/>
                </a:solidFill>
              </a:rPr>
              <a:t>A precise measurement of the absorption spectrum of Compounds is critical</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7698" name="Picture 2" descr="24_22"/>
          <p:cNvPicPr>
            <a:picLocks noChangeAspect="1" noChangeArrowheads="1"/>
          </p:cNvPicPr>
          <p:nvPr/>
        </p:nvPicPr>
        <p:blipFill>
          <a:blip r:embed="rId3" cstate="print"/>
          <a:srcRect/>
          <a:stretch>
            <a:fillRect/>
          </a:stretch>
        </p:blipFill>
        <p:spPr bwMode="auto">
          <a:xfrm>
            <a:off x="1233488" y="2052638"/>
            <a:ext cx="6564312" cy="4075112"/>
          </a:xfrm>
          <a:prstGeom prst="rect">
            <a:avLst/>
          </a:prstGeom>
          <a:noFill/>
          <a:ln w="9525">
            <a:noFill/>
            <a:miter lim="800000"/>
            <a:headEnd/>
            <a:tailEnd/>
          </a:ln>
        </p:spPr>
      </p:pic>
      <p:sp>
        <p:nvSpPr>
          <p:cNvPr id="157699" name="Text Box 3"/>
          <p:cNvSpPr txBox="1">
            <a:spLocks noChangeArrowheads="1"/>
          </p:cNvSpPr>
          <p:nvPr/>
        </p:nvSpPr>
        <p:spPr bwMode="auto">
          <a:xfrm>
            <a:off x="1927225" y="257175"/>
            <a:ext cx="5378450" cy="579438"/>
          </a:xfrm>
          <a:prstGeom prst="rect">
            <a:avLst/>
          </a:prstGeom>
          <a:noFill/>
          <a:ln w="9525">
            <a:noFill/>
            <a:miter lim="800000"/>
            <a:headEnd/>
            <a:tailEnd/>
          </a:ln>
          <a:effectLst/>
        </p:spPr>
        <p:txBody>
          <a:bodyPr wrap="none">
            <a:spAutoFit/>
          </a:bodyPr>
          <a:lstStyle/>
          <a:p>
            <a:r>
              <a:rPr lang="en-US" sz="3200" b="1">
                <a:solidFill>
                  <a:schemeClr val="hlink"/>
                </a:solidFill>
              </a:rPr>
              <a:t>Metal complexes and color</a:t>
            </a:r>
          </a:p>
        </p:txBody>
      </p:sp>
      <p:sp>
        <p:nvSpPr>
          <p:cNvPr id="157700" name="Text Box 4"/>
          <p:cNvSpPr txBox="1">
            <a:spLocks noChangeArrowheads="1"/>
          </p:cNvSpPr>
          <p:nvPr/>
        </p:nvSpPr>
        <p:spPr bwMode="auto">
          <a:xfrm>
            <a:off x="1190625" y="852488"/>
            <a:ext cx="7178675" cy="1187450"/>
          </a:xfrm>
          <a:prstGeom prst="rect">
            <a:avLst/>
          </a:prstGeom>
          <a:noFill/>
          <a:ln w="9525">
            <a:noFill/>
            <a:miter lim="800000"/>
            <a:headEnd/>
            <a:tailEnd/>
          </a:ln>
          <a:effectLst/>
        </p:spPr>
        <p:txBody>
          <a:bodyPr wrap="none">
            <a:spAutoFit/>
          </a:bodyPr>
          <a:lstStyle/>
          <a:p>
            <a:r>
              <a:rPr lang="en-US" b="1">
                <a:solidFill>
                  <a:srgbClr val="C82E32"/>
                </a:solidFill>
              </a:rPr>
              <a:t>But why do different ligands on same metal give</a:t>
            </a:r>
          </a:p>
          <a:p>
            <a:r>
              <a:rPr lang="en-US" b="1">
                <a:solidFill>
                  <a:srgbClr val="C82E32"/>
                </a:solidFill>
              </a:rPr>
              <a:t>Different colors?</a:t>
            </a:r>
          </a:p>
          <a:p>
            <a:r>
              <a:rPr lang="en-US" b="1">
                <a:solidFill>
                  <a:srgbClr val="C82E32"/>
                </a:solidFill>
              </a:rPr>
              <a:t>Why do different ligands change absorption? </a:t>
            </a:r>
          </a:p>
        </p:txBody>
      </p:sp>
      <p:sp>
        <p:nvSpPr>
          <p:cNvPr id="157701" name="Text Box 5"/>
          <p:cNvSpPr txBox="1">
            <a:spLocks noChangeArrowheads="1"/>
          </p:cNvSpPr>
          <p:nvPr/>
        </p:nvSpPr>
        <p:spPr bwMode="auto">
          <a:xfrm>
            <a:off x="657225" y="6034088"/>
            <a:ext cx="7837488" cy="457200"/>
          </a:xfrm>
          <a:prstGeom prst="rect">
            <a:avLst/>
          </a:prstGeom>
          <a:solidFill>
            <a:schemeClr val="bg1"/>
          </a:solidFill>
          <a:ln w="9525">
            <a:noFill/>
            <a:miter lim="800000"/>
            <a:headEnd/>
            <a:tailEnd/>
          </a:ln>
          <a:effectLst/>
        </p:spPr>
        <p:txBody>
          <a:bodyPr wrap="none">
            <a:spAutoFit/>
          </a:bodyPr>
          <a:lstStyle/>
          <a:p>
            <a:r>
              <a:rPr lang="en-US" b="1">
                <a:solidFill>
                  <a:srgbClr val="8000FF"/>
                </a:solidFill>
              </a:rPr>
              <a:t>Addition of NH</a:t>
            </a:r>
            <a:r>
              <a:rPr lang="en-US" b="1" baseline="-25000">
                <a:solidFill>
                  <a:srgbClr val="8000FF"/>
                </a:solidFill>
              </a:rPr>
              <a:t>3</a:t>
            </a:r>
            <a:r>
              <a:rPr lang="en-US" b="1">
                <a:solidFill>
                  <a:srgbClr val="8000FF"/>
                </a:solidFill>
              </a:rPr>
              <a:t> ligand to Cu(H</a:t>
            </a:r>
            <a:r>
              <a:rPr lang="en-US" b="1" baseline="-25000">
                <a:solidFill>
                  <a:srgbClr val="8000FF"/>
                </a:solidFill>
              </a:rPr>
              <a:t>2</a:t>
            </a:r>
            <a:r>
              <a:rPr lang="en-US" b="1">
                <a:solidFill>
                  <a:srgbClr val="8000FF"/>
                </a:solidFill>
              </a:rPr>
              <a:t>O)</a:t>
            </a:r>
            <a:r>
              <a:rPr lang="en-US" b="1" baseline="-25000">
                <a:solidFill>
                  <a:srgbClr val="8000FF"/>
                </a:solidFill>
              </a:rPr>
              <a:t>4</a:t>
            </a:r>
            <a:r>
              <a:rPr lang="en-US" b="1">
                <a:solidFill>
                  <a:srgbClr val="8000FF"/>
                </a:solidFill>
              </a:rPr>
              <a:t> changes its color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1618" name="Picture 2" descr="24_27"/>
          <p:cNvPicPr>
            <a:picLocks noChangeAspect="1" noChangeArrowheads="1"/>
          </p:cNvPicPr>
          <p:nvPr/>
        </p:nvPicPr>
        <p:blipFill>
          <a:blip r:embed="rId3"/>
          <a:srcRect/>
          <a:stretch>
            <a:fillRect/>
          </a:stretch>
        </p:blipFill>
        <p:spPr bwMode="auto">
          <a:xfrm>
            <a:off x="0" y="3032125"/>
            <a:ext cx="9142413" cy="2674938"/>
          </a:xfrm>
          <a:prstGeom prst="rect">
            <a:avLst/>
          </a:prstGeom>
          <a:noFill/>
          <a:ln w="9525">
            <a:noFill/>
            <a:miter lim="800000"/>
            <a:headEnd/>
            <a:tailEnd/>
          </a:ln>
        </p:spPr>
      </p:pic>
      <p:sp>
        <p:nvSpPr>
          <p:cNvPr id="111619" name="Text Box 3"/>
          <p:cNvSpPr txBox="1">
            <a:spLocks noChangeArrowheads="1"/>
          </p:cNvSpPr>
          <p:nvPr/>
        </p:nvSpPr>
        <p:spPr bwMode="auto">
          <a:xfrm>
            <a:off x="207963" y="554038"/>
            <a:ext cx="8682037" cy="2284412"/>
          </a:xfrm>
          <a:prstGeom prst="rect">
            <a:avLst/>
          </a:prstGeom>
          <a:noFill/>
          <a:ln w="9525">
            <a:noFill/>
            <a:miter lim="800000"/>
            <a:headEnd/>
            <a:tailEnd/>
          </a:ln>
          <a:effectLst/>
        </p:spPr>
        <p:txBody>
          <a:bodyPr>
            <a:spAutoFit/>
          </a:bodyPr>
          <a:lstStyle/>
          <a:p>
            <a:pPr>
              <a:spcBef>
                <a:spcPct val="50000"/>
              </a:spcBef>
            </a:pPr>
            <a:r>
              <a:rPr lang="en-US"/>
              <a:t>Model of ligand/metal bonding.</a:t>
            </a:r>
          </a:p>
          <a:p>
            <a:pPr>
              <a:spcBef>
                <a:spcPct val="50000"/>
              </a:spcBef>
            </a:pPr>
            <a:r>
              <a:rPr lang="en-US"/>
              <a:t>Electron pair comes from ligand</a:t>
            </a:r>
          </a:p>
          <a:p>
            <a:pPr>
              <a:spcBef>
                <a:spcPct val="50000"/>
              </a:spcBef>
            </a:pPr>
            <a:r>
              <a:rPr lang="en-US"/>
              <a:t>Bond very polarized.</a:t>
            </a:r>
          </a:p>
          <a:p>
            <a:pPr>
              <a:spcBef>
                <a:spcPct val="50000"/>
              </a:spcBef>
            </a:pPr>
            <a:r>
              <a:rPr lang="en-US" sz="3200" b="1">
                <a:solidFill>
                  <a:srgbClr val="C82E32"/>
                </a:solidFill>
              </a:rPr>
              <a:t>Assumption:  interaction pure electrostatic.</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2" descr="24_28"/>
          <p:cNvPicPr>
            <a:picLocks noChangeAspect="1" noChangeArrowheads="1"/>
          </p:cNvPicPr>
          <p:nvPr/>
        </p:nvPicPr>
        <p:blipFill>
          <a:blip r:embed="rId3"/>
          <a:srcRect/>
          <a:stretch>
            <a:fillRect/>
          </a:stretch>
        </p:blipFill>
        <p:spPr bwMode="auto">
          <a:xfrm>
            <a:off x="0" y="2425700"/>
            <a:ext cx="9142413" cy="4167188"/>
          </a:xfrm>
          <a:prstGeom prst="rect">
            <a:avLst/>
          </a:prstGeom>
          <a:noFill/>
          <a:ln w="9525">
            <a:noFill/>
            <a:miter lim="800000"/>
            <a:headEnd/>
            <a:tailEnd/>
          </a:ln>
        </p:spPr>
      </p:pic>
      <p:sp>
        <p:nvSpPr>
          <p:cNvPr id="113667" name="Text Box 3"/>
          <p:cNvSpPr txBox="1">
            <a:spLocks noChangeArrowheads="1"/>
          </p:cNvSpPr>
          <p:nvPr/>
        </p:nvSpPr>
        <p:spPr bwMode="auto">
          <a:xfrm>
            <a:off x="530225" y="217488"/>
            <a:ext cx="8266113" cy="822325"/>
          </a:xfrm>
          <a:prstGeom prst="rect">
            <a:avLst/>
          </a:prstGeom>
          <a:noFill/>
          <a:ln w="9525">
            <a:noFill/>
            <a:miter lim="800000"/>
            <a:headEnd/>
            <a:tailEnd/>
          </a:ln>
          <a:effectLst/>
        </p:spPr>
        <p:txBody>
          <a:bodyPr wrap="none">
            <a:spAutoFit/>
          </a:bodyPr>
          <a:lstStyle/>
          <a:p>
            <a:r>
              <a:rPr lang="en-US"/>
              <a:t>Now, think of point charges being attracted to metal nucleus</a:t>
            </a:r>
          </a:p>
          <a:p>
            <a:r>
              <a:rPr lang="en-US"/>
              <a:t>Positive charge.  What about electrons in d orbitals?</a:t>
            </a:r>
          </a:p>
        </p:txBody>
      </p:sp>
      <p:sp>
        <p:nvSpPr>
          <p:cNvPr id="113668" name="Text Box 4"/>
          <p:cNvSpPr txBox="1">
            <a:spLocks noChangeArrowheads="1"/>
          </p:cNvSpPr>
          <p:nvPr/>
        </p:nvSpPr>
        <p:spPr bwMode="auto">
          <a:xfrm>
            <a:off x="2689225" y="1423988"/>
            <a:ext cx="3797300" cy="1187450"/>
          </a:xfrm>
          <a:prstGeom prst="rect">
            <a:avLst/>
          </a:prstGeom>
          <a:noFill/>
          <a:ln w="9525">
            <a:noFill/>
            <a:miter lim="800000"/>
            <a:headEnd/>
            <a:tailEnd/>
          </a:ln>
          <a:effectLst/>
        </p:spPr>
        <p:txBody>
          <a:bodyPr>
            <a:spAutoFit/>
          </a:bodyPr>
          <a:lstStyle/>
          <a:p>
            <a:r>
              <a:rPr lang="en-US"/>
              <a:t>Ligand negative charge</a:t>
            </a:r>
          </a:p>
          <a:p>
            <a:r>
              <a:rPr lang="en-US"/>
              <a:t>Is repelled by d electrons, d orbital energy goes up</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4" name="Picture 2" descr="24_29abc"/>
          <p:cNvPicPr>
            <a:picLocks noChangeAspect="1" noChangeArrowheads="1"/>
          </p:cNvPicPr>
          <p:nvPr/>
        </p:nvPicPr>
        <p:blipFill>
          <a:blip r:embed="rId3"/>
          <a:srcRect/>
          <a:stretch>
            <a:fillRect/>
          </a:stretch>
        </p:blipFill>
        <p:spPr bwMode="auto">
          <a:xfrm>
            <a:off x="223838" y="2641600"/>
            <a:ext cx="8732837" cy="3951288"/>
          </a:xfrm>
          <a:prstGeom prst="rect">
            <a:avLst/>
          </a:prstGeom>
          <a:noFill/>
          <a:ln w="9525">
            <a:noFill/>
            <a:miter lim="800000"/>
            <a:headEnd/>
            <a:tailEnd/>
          </a:ln>
        </p:spPr>
      </p:pic>
      <p:sp>
        <p:nvSpPr>
          <p:cNvPr id="115715" name="Text Box 3"/>
          <p:cNvSpPr txBox="1">
            <a:spLocks noChangeArrowheads="1"/>
          </p:cNvSpPr>
          <p:nvPr/>
        </p:nvSpPr>
        <p:spPr bwMode="auto">
          <a:xfrm>
            <a:off x="339725" y="228600"/>
            <a:ext cx="8010525" cy="1187450"/>
          </a:xfrm>
          <a:prstGeom prst="rect">
            <a:avLst/>
          </a:prstGeom>
          <a:noFill/>
          <a:ln w="9525">
            <a:noFill/>
            <a:miter lim="800000"/>
            <a:headEnd/>
            <a:tailEnd/>
          </a:ln>
          <a:effectLst/>
        </p:spPr>
        <p:txBody>
          <a:bodyPr wrap="none">
            <a:spAutoFit/>
          </a:bodyPr>
          <a:lstStyle/>
          <a:p>
            <a:r>
              <a:rPr lang="en-US"/>
              <a:t>Ligands will interact with some d orbitals more than others</a:t>
            </a:r>
          </a:p>
          <a:p>
            <a:endParaRPr lang="en-US"/>
          </a:p>
          <a:p>
            <a:r>
              <a:rPr lang="en-US"/>
              <a:t>Depends on relative orientation of orbital and ligand </a:t>
            </a:r>
          </a:p>
        </p:txBody>
      </p:sp>
      <p:sp>
        <p:nvSpPr>
          <p:cNvPr id="115716" name="Text Box 4"/>
          <p:cNvSpPr txBox="1">
            <a:spLocks noChangeArrowheads="1"/>
          </p:cNvSpPr>
          <p:nvPr/>
        </p:nvSpPr>
        <p:spPr bwMode="auto">
          <a:xfrm>
            <a:off x="4391025" y="1627188"/>
            <a:ext cx="3827463" cy="457200"/>
          </a:xfrm>
          <a:prstGeom prst="rect">
            <a:avLst/>
          </a:prstGeom>
          <a:noFill/>
          <a:ln w="9525">
            <a:noFill/>
            <a:miter lim="800000"/>
            <a:headEnd/>
            <a:tailEnd/>
          </a:ln>
          <a:effectLst/>
        </p:spPr>
        <p:txBody>
          <a:bodyPr wrap="none">
            <a:spAutoFit/>
          </a:bodyPr>
          <a:lstStyle/>
          <a:p>
            <a:r>
              <a:rPr lang="en-US"/>
              <a:t>Ligands point right at lobes</a:t>
            </a:r>
          </a:p>
        </p:txBody>
      </p:sp>
      <p:sp>
        <p:nvSpPr>
          <p:cNvPr id="115717" name="Line 5"/>
          <p:cNvSpPr>
            <a:spLocks noChangeShapeType="1"/>
          </p:cNvSpPr>
          <p:nvPr/>
        </p:nvSpPr>
        <p:spPr bwMode="auto">
          <a:xfrm flipH="1">
            <a:off x="5118100" y="2311400"/>
            <a:ext cx="457200" cy="520700"/>
          </a:xfrm>
          <a:prstGeom prst="line">
            <a:avLst/>
          </a:prstGeom>
          <a:noFill/>
          <a:ln w="9525">
            <a:solidFill>
              <a:schemeClr val="tx1"/>
            </a:solidFill>
            <a:round/>
            <a:headEnd/>
            <a:tailEnd type="triangle" w="med" len="med"/>
          </a:ln>
          <a:effectLst/>
        </p:spPr>
        <p:txBody>
          <a:bodyPr wrap="none" anchor="ctr"/>
          <a:lstStyle/>
          <a:p>
            <a:endParaRPr lang="en-US"/>
          </a:p>
        </p:txBody>
      </p:sp>
      <p:sp>
        <p:nvSpPr>
          <p:cNvPr id="115718" name="Line 6"/>
          <p:cNvSpPr>
            <a:spLocks noChangeShapeType="1"/>
          </p:cNvSpPr>
          <p:nvPr/>
        </p:nvSpPr>
        <p:spPr bwMode="auto">
          <a:xfrm>
            <a:off x="6667500" y="2260600"/>
            <a:ext cx="635000" cy="533400"/>
          </a:xfrm>
          <a:prstGeom prst="line">
            <a:avLst/>
          </a:prstGeom>
          <a:noFill/>
          <a:ln w="9525">
            <a:solidFill>
              <a:schemeClr val="tx1"/>
            </a:solidFill>
            <a:round/>
            <a:headEnd/>
            <a:tailEnd type="triangle" w="med" len="med"/>
          </a:ln>
          <a:effec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24_29def"/>
          <p:cNvPicPr>
            <a:picLocks noChangeAspect="1" noChangeArrowheads="1"/>
          </p:cNvPicPr>
          <p:nvPr/>
        </p:nvPicPr>
        <p:blipFill>
          <a:blip r:embed="rId3"/>
          <a:srcRect/>
          <a:stretch>
            <a:fillRect/>
          </a:stretch>
        </p:blipFill>
        <p:spPr bwMode="auto">
          <a:xfrm>
            <a:off x="46038" y="1895475"/>
            <a:ext cx="9097962" cy="4110038"/>
          </a:xfrm>
          <a:prstGeom prst="rect">
            <a:avLst/>
          </a:prstGeom>
          <a:noFill/>
          <a:ln w="9525">
            <a:noFill/>
            <a:miter lim="800000"/>
            <a:headEnd/>
            <a:tailEnd/>
          </a:ln>
        </p:spPr>
      </p:pic>
      <p:sp>
        <p:nvSpPr>
          <p:cNvPr id="117763" name="Text Box 3"/>
          <p:cNvSpPr txBox="1">
            <a:spLocks noChangeArrowheads="1"/>
          </p:cNvSpPr>
          <p:nvPr/>
        </p:nvSpPr>
        <p:spPr bwMode="auto">
          <a:xfrm>
            <a:off x="381000" y="266700"/>
            <a:ext cx="8375650" cy="1004888"/>
          </a:xfrm>
          <a:prstGeom prst="rect">
            <a:avLst/>
          </a:prstGeom>
          <a:noFill/>
          <a:ln w="9525">
            <a:noFill/>
            <a:miter lim="800000"/>
            <a:headEnd/>
            <a:tailEnd/>
          </a:ln>
          <a:effectLst/>
        </p:spPr>
        <p:txBody>
          <a:bodyPr>
            <a:spAutoFit/>
          </a:bodyPr>
          <a:lstStyle/>
          <a:p>
            <a:pPr>
              <a:spcBef>
                <a:spcPct val="50000"/>
              </a:spcBef>
            </a:pPr>
            <a:r>
              <a:rPr lang="en-US"/>
              <a:t>In these orbitals, the ligands are between the lobes</a:t>
            </a:r>
          </a:p>
          <a:p>
            <a:pPr>
              <a:spcBef>
                <a:spcPct val="50000"/>
              </a:spcBef>
            </a:pPr>
            <a:r>
              <a:rPr lang="en-US"/>
              <a:t>Interact less strongly</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746" name="Picture 2" descr="24_28"/>
          <p:cNvPicPr>
            <a:picLocks noChangeAspect="1" noChangeArrowheads="1"/>
          </p:cNvPicPr>
          <p:nvPr/>
        </p:nvPicPr>
        <p:blipFill>
          <a:blip r:embed="rId2"/>
          <a:srcRect/>
          <a:stretch>
            <a:fillRect/>
          </a:stretch>
        </p:blipFill>
        <p:spPr bwMode="auto">
          <a:xfrm>
            <a:off x="0" y="2690813"/>
            <a:ext cx="9142413" cy="4167187"/>
          </a:xfrm>
          <a:prstGeom prst="rect">
            <a:avLst/>
          </a:prstGeom>
          <a:noFill/>
          <a:ln w="9525">
            <a:noFill/>
            <a:miter lim="800000"/>
            <a:headEnd/>
            <a:tailEnd/>
          </a:ln>
        </p:spPr>
      </p:pic>
      <p:sp>
        <p:nvSpPr>
          <p:cNvPr id="159747" name="Text Box 3"/>
          <p:cNvSpPr txBox="1">
            <a:spLocks noChangeArrowheads="1"/>
          </p:cNvSpPr>
          <p:nvPr/>
        </p:nvSpPr>
        <p:spPr bwMode="auto">
          <a:xfrm>
            <a:off x="4784725" y="801688"/>
            <a:ext cx="4178300" cy="822325"/>
          </a:xfrm>
          <a:prstGeom prst="rect">
            <a:avLst/>
          </a:prstGeom>
          <a:noFill/>
          <a:ln w="9525">
            <a:noFill/>
            <a:miter lim="800000"/>
            <a:headEnd/>
            <a:tailEnd/>
          </a:ln>
          <a:effectLst/>
        </p:spPr>
        <p:txBody>
          <a:bodyPr>
            <a:spAutoFit/>
          </a:bodyPr>
          <a:lstStyle/>
          <a:p>
            <a:r>
              <a:rPr lang="en-US"/>
              <a:t>Splitting due to ligand/orbirtal orientation.</a:t>
            </a:r>
          </a:p>
        </p:txBody>
      </p:sp>
      <p:sp>
        <p:nvSpPr>
          <p:cNvPr id="159748" name="Line 4"/>
          <p:cNvSpPr>
            <a:spLocks noChangeShapeType="1"/>
          </p:cNvSpPr>
          <p:nvPr/>
        </p:nvSpPr>
        <p:spPr bwMode="auto">
          <a:xfrm>
            <a:off x="5867400" y="1676400"/>
            <a:ext cx="304800" cy="1143000"/>
          </a:xfrm>
          <a:prstGeom prst="line">
            <a:avLst/>
          </a:prstGeom>
          <a:noFill/>
          <a:ln w="9525">
            <a:solidFill>
              <a:schemeClr val="tx1"/>
            </a:solidFill>
            <a:round/>
            <a:headEnd/>
            <a:tailEnd type="triangle" w="med" len="med"/>
          </a:ln>
          <a:effec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4" name="Picture 6" descr="24_30"/>
          <p:cNvPicPr>
            <a:picLocks noChangeAspect="1" noChangeArrowheads="1"/>
          </p:cNvPicPr>
          <p:nvPr/>
        </p:nvPicPr>
        <p:blipFill>
          <a:blip r:embed="rId3"/>
          <a:srcRect/>
          <a:stretch>
            <a:fillRect/>
          </a:stretch>
        </p:blipFill>
        <p:spPr bwMode="auto">
          <a:xfrm>
            <a:off x="0" y="1176338"/>
            <a:ext cx="9142413" cy="4532312"/>
          </a:xfrm>
          <a:prstGeom prst="rect">
            <a:avLst/>
          </a:prstGeom>
          <a:noFill/>
          <a:ln w="9525">
            <a:noFill/>
            <a:miter lim="800000"/>
            <a:headEnd/>
            <a:tailEnd/>
          </a:ln>
        </p:spPr>
      </p:pic>
      <p:sp>
        <p:nvSpPr>
          <p:cNvPr id="119815" name="AutoShape 7"/>
          <p:cNvSpPr>
            <a:spLocks noChangeArrowheads="1"/>
          </p:cNvSpPr>
          <p:nvPr/>
        </p:nvSpPr>
        <p:spPr bwMode="auto">
          <a:xfrm>
            <a:off x="2703513" y="30607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pic>
        <p:nvPicPr>
          <p:cNvPr id="119810" name="Picture 2" descr="24_30"/>
          <p:cNvPicPr>
            <a:picLocks noChangeAspect="1" noChangeArrowheads="1"/>
          </p:cNvPicPr>
          <p:nvPr/>
        </p:nvPicPr>
        <p:blipFill>
          <a:blip r:embed="rId3"/>
          <a:srcRect/>
          <a:stretch>
            <a:fillRect/>
          </a:stretch>
        </p:blipFill>
        <p:spPr bwMode="auto">
          <a:xfrm>
            <a:off x="0" y="1176338"/>
            <a:ext cx="9142413" cy="4532312"/>
          </a:xfrm>
          <a:prstGeom prst="rect">
            <a:avLst/>
          </a:prstGeom>
          <a:noFill/>
          <a:ln w="9525">
            <a:noFill/>
            <a:miter lim="800000"/>
            <a:headEnd/>
            <a:tailEnd/>
          </a:ln>
        </p:spPr>
      </p:pic>
      <p:sp>
        <p:nvSpPr>
          <p:cNvPr id="119811" name="Line 3"/>
          <p:cNvSpPr>
            <a:spLocks noChangeShapeType="1"/>
          </p:cNvSpPr>
          <p:nvPr/>
        </p:nvSpPr>
        <p:spPr bwMode="auto">
          <a:xfrm>
            <a:off x="2501900" y="2527300"/>
            <a:ext cx="0" cy="1651000"/>
          </a:xfrm>
          <a:prstGeom prst="line">
            <a:avLst/>
          </a:prstGeom>
          <a:noFill/>
          <a:ln w="57150">
            <a:solidFill>
              <a:schemeClr val="tx1"/>
            </a:solidFill>
            <a:round/>
            <a:headEnd type="triangle" w="med" len="med"/>
            <a:tailEnd type="triangle" w="med" len="med"/>
          </a:ln>
          <a:effectLst/>
        </p:spPr>
        <p:txBody>
          <a:bodyPr wrap="none" anchor="ctr"/>
          <a:lstStyle/>
          <a:p>
            <a:endParaRPr lang="en-US"/>
          </a:p>
        </p:txBody>
      </p:sp>
      <p:sp>
        <p:nvSpPr>
          <p:cNvPr id="119812" name="Text Box 4"/>
          <p:cNvSpPr txBox="1">
            <a:spLocks noChangeArrowheads="1"/>
          </p:cNvSpPr>
          <p:nvPr/>
        </p:nvSpPr>
        <p:spPr bwMode="auto">
          <a:xfrm>
            <a:off x="1554163" y="3462338"/>
            <a:ext cx="184150" cy="457200"/>
          </a:xfrm>
          <a:prstGeom prst="rect">
            <a:avLst/>
          </a:prstGeom>
          <a:noFill/>
          <a:ln w="9525">
            <a:noFill/>
            <a:miter lim="800000"/>
            <a:headEnd/>
            <a:tailEnd/>
          </a:ln>
          <a:effectLst/>
        </p:spPr>
        <p:txBody>
          <a:bodyPr>
            <a:spAutoFit/>
          </a:bodyPr>
          <a:lstStyle/>
          <a:p>
            <a:pPr>
              <a:spcBef>
                <a:spcPct val="50000"/>
              </a:spcBef>
            </a:pPr>
            <a:endParaRPr lang="en-US"/>
          </a:p>
        </p:txBody>
      </p:sp>
      <p:sp>
        <p:nvSpPr>
          <p:cNvPr id="119813" name="AutoShape 5"/>
          <p:cNvSpPr>
            <a:spLocks noChangeArrowheads="1"/>
          </p:cNvSpPr>
          <p:nvPr/>
        </p:nvSpPr>
        <p:spPr bwMode="auto">
          <a:xfrm>
            <a:off x="2705100" y="30607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pic>
        <p:nvPicPr>
          <p:cNvPr id="119816" name="Picture 8" descr="24_30"/>
          <p:cNvPicPr>
            <a:picLocks noChangeAspect="1" noChangeArrowheads="1"/>
          </p:cNvPicPr>
          <p:nvPr/>
        </p:nvPicPr>
        <p:blipFill>
          <a:blip r:embed="rId3"/>
          <a:srcRect/>
          <a:stretch>
            <a:fillRect/>
          </a:stretch>
        </p:blipFill>
        <p:spPr bwMode="auto">
          <a:xfrm>
            <a:off x="1588" y="1176338"/>
            <a:ext cx="9142412" cy="4532312"/>
          </a:xfrm>
          <a:prstGeom prst="rect">
            <a:avLst/>
          </a:prstGeom>
          <a:noFill/>
          <a:ln w="9525">
            <a:noFill/>
            <a:miter lim="800000"/>
            <a:headEnd/>
            <a:tailEnd/>
          </a:ln>
        </p:spPr>
      </p:pic>
      <p:sp>
        <p:nvSpPr>
          <p:cNvPr id="119817" name="Line 9"/>
          <p:cNvSpPr>
            <a:spLocks noChangeShapeType="1"/>
          </p:cNvSpPr>
          <p:nvPr/>
        </p:nvSpPr>
        <p:spPr bwMode="auto">
          <a:xfrm>
            <a:off x="2503488" y="2501900"/>
            <a:ext cx="0" cy="1651000"/>
          </a:xfrm>
          <a:prstGeom prst="line">
            <a:avLst/>
          </a:prstGeom>
          <a:noFill/>
          <a:ln w="57150">
            <a:solidFill>
              <a:schemeClr val="tx1"/>
            </a:solidFill>
            <a:round/>
            <a:headEnd type="triangle" w="med" len="med"/>
            <a:tailEnd type="triangle" w="med" len="med"/>
          </a:ln>
          <a:effectLst/>
        </p:spPr>
        <p:txBody>
          <a:bodyPr wrap="none" anchor="ctr"/>
          <a:lstStyle/>
          <a:p>
            <a:endParaRPr lang="en-US"/>
          </a:p>
        </p:txBody>
      </p:sp>
      <p:sp>
        <p:nvSpPr>
          <p:cNvPr id="119818" name="AutoShape 10"/>
          <p:cNvSpPr>
            <a:spLocks noChangeArrowheads="1"/>
          </p:cNvSpPr>
          <p:nvPr/>
        </p:nvSpPr>
        <p:spPr bwMode="auto">
          <a:xfrm>
            <a:off x="2706688" y="30353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sp>
        <p:nvSpPr>
          <p:cNvPr id="119819" name="Line 11"/>
          <p:cNvSpPr>
            <a:spLocks noChangeShapeType="1"/>
          </p:cNvSpPr>
          <p:nvPr/>
        </p:nvSpPr>
        <p:spPr bwMode="auto">
          <a:xfrm>
            <a:off x="7240588" y="2501900"/>
            <a:ext cx="0" cy="1651000"/>
          </a:xfrm>
          <a:prstGeom prst="line">
            <a:avLst/>
          </a:prstGeom>
          <a:noFill/>
          <a:ln w="57150">
            <a:solidFill>
              <a:schemeClr val="tx1"/>
            </a:solidFill>
            <a:round/>
            <a:headEnd type="triangle" w="med" len="med"/>
            <a:tailEnd type="triangle" w="med" len="med"/>
          </a:ln>
          <a:effectLst/>
        </p:spPr>
        <p:txBody>
          <a:bodyPr wrap="none" anchor="ctr"/>
          <a:lstStyle/>
          <a:p>
            <a:endParaRPr lang="en-US"/>
          </a:p>
        </p:txBody>
      </p:sp>
      <p:sp>
        <p:nvSpPr>
          <p:cNvPr id="119820" name="AutoShape 12"/>
          <p:cNvSpPr>
            <a:spLocks noChangeArrowheads="1"/>
          </p:cNvSpPr>
          <p:nvPr/>
        </p:nvSpPr>
        <p:spPr bwMode="auto">
          <a:xfrm>
            <a:off x="7367588" y="30353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sp>
        <p:nvSpPr>
          <p:cNvPr id="119821" name="AutoShape 13"/>
          <p:cNvSpPr>
            <a:spLocks noChangeArrowheads="1"/>
          </p:cNvSpPr>
          <p:nvPr/>
        </p:nvSpPr>
        <p:spPr bwMode="auto">
          <a:xfrm>
            <a:off x="2160588" y="5969000"/>
            <a:ext cx="460375" cy="368300"/>
          </a:xfrm>
          <a:prstGeom prst="triangle">
            <a:avLst>
              <a:gd name="adj" fmla="val 50000"/>
            </a:avLst>
          </a:prstGeom>
          <a:noFill/>
          <a:ln w="19050">
            <a:solidFill>
              <a:schemeClr val="tx1"/>
            </a:solidFill>
            <a:miter lim="800000"/>
            <a:headEnd/>
            <a:tailEnd/>
          </a:ln>
          <a:effectLst/>
        </p:spPr>
        <p:txBody>
          <a:bodyPr wrap="none" anchor="ctr"/>
          <a:lstStyle/>
          <a:p>
            <a:endParaRPr lang="en-US"/>
          </a:p>
        </p:txBody>
      </p:sp>
      <p:sp>
        <p:nvSpPr>
          <p:cNvPr id="119822" name="Text Box 14"/>
          <p:cNvSpPr txBox="1">
            <a:spLocks noChangeArrowheads="1"/>
          </p:cNvSpPr>
          <p:nvPr/>
        </p:nvSpPr>
        <p:spPr bwMode="auto">
          <a:xfrm>
            <a:off x="2582863" y="5938838"/>
            <a:ext cx="2762250" cy="457200"/>
          </a:xfrm>
          <a:prstGeom prst="rect">
            <a:avLst/>
          </a:prstGeom>
          <a:noFill/>
          <a:ln w="9525">
            <a:noFill/>
            <a:miter lim="800000"/>
            <a:headEnd/>
            <a:tailEnd/>
          </a:ln>
          <a:effectLst/>
        </p:spPr>
        <p:txBody>
          <a:bodyPr>
            <a:spAutoFit/>
          </a:bodyPr>
          <a:lstStyle/>
          <a:p>
            <a:pPr>
              <a:spcBef>
                <a:spcPct val="50000"/>
              </a:spcBef>
            </a:pPr>
            <a:r>
              <a:rPr lang="en-US"/>
              <a:t>= 495 nm</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58" name="Picture 2" descr="24_31"/>
          <p:cNvPicPr>
            <a:picLocks noChangeAspect="1" noChangeArrowheads="1"/>
          </p:cNvPicPr>
          <p:nvPr/>
        </p:nvPicPr>
        <p:blipFill>
          <a:blip r:embed="rId3"/>
          <a:srcRect/>
          <a:stretch>
            <a:fillRect/>
          </a:stretch>
        </p:blipFill>
        <p:spPr bwMode="auto">
          <a:xfrm>
            <a:off x="1588" y="1052513"/>
            <a:ext cx="9142412" cy="4754562"/>
          </a:xfrm>
          <a:prstGeom prst="rect">
            <a:avLst/>
          </a:prstGeom>
          <a:noFill/>
          <a:ln w="9525">
            <a:noFill/>
            <a:miter lim="800000"/>
            <a:headEnd/>
            <a:tailEnd/>
          </a:ln>
        </p:spPr>
      </p:pic>
      <p:sp>
        <p:nvSpPr>
          <p:cNvPr id="121859" name="Text Box 3"/>
          <p:cNvSpPr txBox="1">
            <a:spLocks noChangeArrowheads="1"/>
          </p:cNvSpPr>
          <p:nvPr/>
        </p:nvSpPr>
        <p:spPr bwMode="auto">
          <a:xfrm>
            <a:off x="720725" y="192088"/>
            <a:ext cx="7824788" cy="822325"/>
          </a:xfrm>
          <a:prstGeom prst="rect">
            <a:avLst/>
          </a:prstGeom>
          <a:noFill/>
          <a:ln w="9525">
            <a:noFill/>
            <a:miter lim="800000"/>
            <a:headEnd/>
            <a:tailEnd/>
          </a:ln>
          <a:effectLst/>
        </p:spPr>
        <p:txBody>
          <a:bodyPr wrap="none">
            <a:spAutoFit/>
          </a:bodyPr>
          <a:lstStyle/>
          <a:p>
            <a:r>
              <a:rPr lang="en-US"/>
              <a:t>Different ligands interact more or less, change E spacing</a:t>
            </a:r>
          </a:p>
          <a:p>
            <a:r>
              <a:rPr lang="en-US"/>
              <a:t>Of D orbitals.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ext Box 2"/>
          <p:cNvSpPr txBox="1">
            <a:spLocks noChangeArrowheads="1"/>
          </p:cNvSpPr>
          <p:nvPr/>
        </p:nvSpPr>
        <p:spPr bwMode="auto">
          <a:xfrm>
            <a:off x="754063" y="736600"/>
            <a:ext cx="7994650" cy="457200"/>
          </a:xfrm>
          <a:prstGeom prst="rect">
            <a:avLst/>
          </a:prstGeom>
          <a:noFill/>
          <a:ln w="9525">
            <a:noFill/>
            <a:miter lim="800000"/>
            <a:headEnd/>
            <a:tailEnd/>
          </a:ln>
          <a:effectLst/>
        </p:spPr>
        <p:txBody>
          <a:bodyPr>
            <a:spAutoFit/>
          </a:bodyPr>
          <a:lstStyle/>
          <a:p>
            <a:pPr>
              <a:spcBef>
                <a:spcPct val="50000"/>
              </a:spcBef>
            </a:pPr>
            <a:r>
              <a:rPr lang="en-US"/>
              <a:t>Spectrochemical series (strength of ligand interaction)</a:t>
            </a:r>
          </a:p>
        </p:txBody>
      </p:sp>
      <p:sp>
        <p:nvSpPr>
          <p:cNvPr id="160771" name="Text Box 3"/>
          <p:cNvSpPr txBox="1">
            <a:spLocks noChangeArrowheads="1"/>
          </p:cNvSpPr>
          <p:nvPr/>
        </p:nvSpPr>
        <p:spPr bwMode="auto">
          <a:xfrm>
            <a:off x="784225" y="1971675"/>
            <a:ext cx="7397750" cy="579438"/>
          </a:xfrm>
          <a:prstGeom prst="rect">
            <a:avLst/>
          </a:prstGeom>
          <a:noFill/>
          <a:ln w="9525">
            <a:noFill/>
            <a:miter lim="800000"/>
            <a:headEnd/>
            <a:tailEnd/>
          </a:ln>
          <a:effectLst/>
        </p:spPr>
        <p:txBody>
          <a:bodyPr wrap="none">
            <a:spAutoFit/>
          </a:bodyPr>
          <a:lstStyle/>
          <a:p>
            <a:r>
              <a:rPr lang="en-US" sz="3200" b="1">
                <a:solidFill>
                  <a:srgbClr val="008000"/>
                </a:solidFill>
              </a:rPr>
              <a:t>Cl</a:t>
            </a:r>
            <a:r>
              <a:rPr lang="en-US" sz="3200" b="1" baseline="30000">
                <a:solidFill>
                  <a:srgbClr val="008000"/>
                </a:solidFill>
              </a:rPr>
              <a:t>-</a:t>
            </a:r>
            <a:r>
              <a:rPr lang="en-US" sz="3200" b="1">
                <a:solidFill>
                  <a:srgbClr val="008000"/>
                </a:solidFill>
              </a:rPr>
              <a:t> &lt; F</a:t>
            </a:r>
            <a:r>
              <a:rPr lang="en-US" sz="3200" b="1" baseline="30000">
                <a:solidFill>
                  <a:srgbClr val="008000"/>
                </a:solidFill>
              </a:rPr>
              <a:t>-</a:t>
            </a:r>
            <a:r>
              <a:rPr lang="en-US" sz="3200" b="1">
                <a:solidFill>
                  <a:srgbClr val="008000"/>
                </a:solidFill>
              </a:rPr>
              <a:t> &lt; H</a:t>
            </a:r>
            <a:r>
              <a:rPr lang="en-US" sz="3200" b="1" baseline="-25000">
                <a:solidFill>
                  <a:srgbClr val="008000"/>
                </a:solidFill>
              </a:rPr>
              <a:t>2</a:t>
            </a:r>
            <a:r>
              <a:rPr lang="en-US" sz="3200" b="1">
                <a:solidFill>
                  <a:srgbClr val="008000"/>
                </a:solidFill>
              </a:rPr>
              <a:t>O &lt; NH</a:t>
            </a:r>
            <a:r>
              <a:rPr lang="en-US" sz="3200" b="1" baseline="-25000">
                <a:solidFill>
                  <a:srgbClr val="008000"/>
                </a:solidFill>
              </a:rPr>
              <a:t>3</a:t>
            </a:r>
            <a:r>
              <a:rPr lang="en-US" sz="3200" b="1">
                <a:solidFill>
                  <a:srgbClr val="008000"/>
                </a:solidFill>
              </a:rPr>
              <a:t> &lt; en &lt; NO</a:t>
            </a:r>
            <a:r>
              <a:rPr lang="en-US" sz="3200" b="1" baseline="-25000">
                <a:solidFill>
                  <a:srgbClr val="008000"/>
                </a:solidFill>
              </a:rPr>
              <a:t>2</a:t>
            </a:r>
            <a:r>
              <a:rPr lang="en-US" sz="3200" b="1" baseline="30000">
                <a:solidFill>
                  <a:srgbClr val="008000"/>
                </a:solidFill>
              </a:rPr>
              <a:t>-</a:t>
            </a:r>
            <a:r>
              <a:rPr lang="en-US" sz="3200" b="1">
                <a:solidFill>
                  <a:srgbClr val="008000"/>
                </a:solidFill>
              </a:rPr>
              <a:t> &lt; CN</a:t>
            </a:r>
            <a:r>
              <a:rPr lang="en-US" sz="3200" b="1" baseline="30000">
                <a:solidFill>
                  <a:srgbClr val="008000"/>
                </a:solidFill>
              </a:rPr>
              <a:t>-</a:t>
            </a:r>
            <a:r>
              <a:rPr lang="en-US" sz="3200" b="1">
                <a:solidFill>
                  <a:srgbClr val="008000"/>
                </a:solidFill>
              </a:rPr>
              <a:t> </a:t>
            </a:r>
          </a:p>
        </p:txBody>
      </p:sp>
      <p:sp>
        <p:nvSpPr>
          <p:cNvPr id="160772" name="Line 4"/>
          <p:cNvSpPr>
            <a:spLocks noChangeShapeType="1"/>
          </p:cNvSpPr>
          <p:nvPr/>
        </p:nvSpPr>
        <p:spPr bwMode="auto">
          <a:xfrm flipV="1">
            <a:off x="1003300" y="1816100"/>
            <a:ext cx="6870700" cy="25400"/>
          </a:xfrm>
          <a:prstGeom prst="line">
            <a:avLst/>
          </a:prstGeom>
          <a:noFill/>
          <a:ln w="38100">
            <a:solidFill>
              <a:schemeClr val="tx1"/>
            </a:solidFill>
            <a:round/>
            <a:headEnd/>
            <a:tailEnd type="triangle" w="med" len="med"/>
          </a:ln>
          <a:effectLst/>
        </p:spPr>
        <p:txBody>
          <a:bodyPr wrap="none" anchor="ctr"/>
          <a:lstStyle/>
          <a:p>
            <a:endParaRPr lang="en-US"/>
          </a:p>
        </p:txBody>
      </p:sp>
      <p:sp>
        <p:nvSpPr>
          <p:cNvPr id="160773" name="Text Box 5"/>
          <p:cNvSpPr txBox="1">
            <a:spLocks noChangeArrowheads="1"/>
          </p:cNvSpPr>
          <p:nvPr/>
        </p:nvSpPr>
        <p:spPr bwMode="auto">
          <a:xfrm>
            <a:off x="3082925" y="1343025"/>
            <a:ext cx="1862138" cy="457200"/>
          </a:xfrm>
          <a:prstGeom prst="rect">
            <a:avLst/>
          </a:prstGeom>
          <a:noFill/>
          <a:ln w="9525">
            <a:noFill/>
            <a:miter lim="800000"/>
            <a:headEnd/>
            <a:tailEnd/>
          </a:ln>
          <a:effectLst/>
        </p:spPr>
        <p:txBody>
          <a:bodyPr wrap="none">
            <a:spAutoFit/>
          </a:bodyPr>
          <a:lstStyle/>
          <a:p>
            <a:r>
              <a:rPr lang="en-US"/>
              <a:t>Increasing </a:t>
            </a:r>
            <a:r>
              <a:rPr lang="en-US">
                <a:latin typeface="Symbol" pitchFamily="18" charset="2"/>
              </a:rPr>
              <a:t></a:t>
            </a:r>
            <a:endParaRPr lang="en-US"/>
          </a:p>
        </p:txBody>
      </p:sp>
      <p:pic>
        <p:nvPicPr>
          <p:cNvPr id="160774" name="Picture 6" descr="24_31"/>
          <p:cNvPicPr>
            <a:picLocks noChangeAspect="1" noChangeArrowheads="1"/>
          </p:cNvPicPr>
          <p:nvPr/>
        </p:nvPicPr>
        <p:blipFill>
          <a:blip r:embed="rId2"/>
          <a:srcRect/>
          <a:stretch>
            <a:fillRect/>
          </a:stretch>
        </p:blipFill>
        <p:spPr bwMode="auto">
          <a:xfrm>
            <a:off x="687388" y="2868613"/>
            <a:ext cx="7224712" cy="3757612"/>
          </a:xfrm>
          <a:prstGeom prst="rect">
            <a:avLst/>
          </a:prstGeom>
          <a:noFill/>
          <a:ln w="9525">
            <a:noFill/>
            <a:miter lim="800000"/>
            <a:headEnd/>
            <a:tailEnd/>
          </a:ln>
        </p:spPr>
      </p:pic>
      <p:sp>
        <p:nvSpPr>
          <p:cNvPr id="160775" name="Line 7"/>
          <p:cNvSpPr>
            <a:spLocks noChangeShapeType="1"/>
          </p:cNvSpPr>
          <p:nvPr/>
        </p:nvSpPr>
        <p:spPr bwMode="auto">
          <a:xfrm flipV="1">
            <a:off x="1003300" y="4508500"/>
            <a:ext cx="6870700" cy="25400"/>
          </a:xfrm>
          <a:prstGeom prst="line">
            <a:avLst/>
          </a:prstGeom>
          <a:noFill/>
          <a:ln w="38100">
            <a:solidFill>
              <a:schemeClr val="tx1"/>
            </a:solidFill>
            <a:round/>
            <a:headEnd/>
            <a:tailEnd type="triangle" w="med" len="med"/>
          </a:ln>
          <a:effectLst/>
        </p:spPr>
        <p:txBody>
          <a:bodyPr wrap="none" anchor="ctr"/>
          <a:lstStyle/>
          <a:p>
            <a:endParaRPr lang="en-US"/>
          </a:p>
        </p:txBody>
      </p:sp>
      <p:sp>
        <p:nvSpPr>
          <p:cNvPr id="160776" name="Text Box 8"/>
          <p:cNvSpPr txBox="1">
            <a:spLocks noChangeArrowheads="1"/>
          </p:cNvSpPr>
          <p:nvPr/>
        </p:nvSpPr>
        <p:spPr bwMode="auto">
          <a:xfrm>
            <a:off x="3082925" y="4035425"/>
            <a:ext cx="1862138" cy="457200"/>
          </a:xfrm>
          <a:prstGeom prst="rect">
            <a:avLst/>
          </a:prstGeom>
          <a:noFill/>
          <a:ln w="9525">
            <a:noFill/>
            <a:miter lim="800000"/>
            <a:headEnd/>
            <a:tailEnd/>
          </a:ln>
          <a:effectLst/>
        </p:spPr>
        <p:txBody>
          <a:bodyPr wrap="none">
            <a:spAutoFit/>
          </a:bodyPr>
          <a:lstStyle/>
          <a:p>
            <a:r>
              <a:rPr lang="en-US"/>
              <a:t>Increasing </a:t>
            </a:r>
            <a:r>
              <a:rPr lang="en-US">
                <a:latin typeface="Symbol" pitchFamily="18" charset="2"/>
              </a:rPr>
              <a:t></a:t>
            </a:r>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6" name="Picture 2" descr="24_32"/>
          <p:cNvPicPr>
            <a:picLocks noChangeAspect="1" noChangeArrowheads="1"/>
          </p:cNvPicPr>
          <p:nvPr/>
        </p:nvPicPr>
        <p:blipFill>
          <a:blip r:embed="rId3"/>
          <a:srcRect/>
          <a:stretch>
            <a:fillRect/>
          </a:stretch>
        </p:blipFill>
        <p:spPr bwMode="auto">
          <a:xfrm>
            <a:off x="1588" y="2570163"/>
            <a:ext cx="9142412" cy="1720850"/>
          </a:xfrm>
          <a:prstGeom prst="rect">
            <a:avLst/>
          </a:prstGeom>
          <a:noFill/>
          <a:ln w="9525">
            <a:noFill/>
            <a:miter lim="800000"/>
            <a:headEnd/>
            <a:tailEnd/>
          </a:ln>
        </p:spPr>
      </p:pic>
      <p:sp>
        <p:nvSpPr>
          <p:cNvPr id="123907" name="Text Box 3"/>
          <p:cNvSpPr txBox="1">
            <a:spLocks noChangeArrowheads="1"/>
          </p:cNvSpPr>
          <p:nvPr/>
        </p:nvSpPr>
        <p:spPr bwMode="auto">
          <a:xfrm>
            <a:off x="581025" y="611188"/>
            <a:ext cx="7502525" cy="457200"/>
          </a:xfrm>
          <a:prstGeom prst="rect">
            <a:avLst/>
          </a:prstGeom>
          <a:noFill/>
          <a:ln w="9525">
            <a:noFill/>
            <a:miter lim="800000"/>
            <a:headEnd/>
            <a:tailEnd/>
          </a:ln>
          <a:effectLst/>
        </p:spPr>
        <p:txBody>
          <a:bodyPr wrap="none">
            <a:spAutoFit/>
          </a:bodyPr>
          <a:lstStyle/>
          <a:p>
            <a:r>
              <a:rPr lang="en-US"/>
              <a:t>Electron configurations of some octahedral complexes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954" name="Picture 2" descr="24_33"/>
          <p:cNvPicPr>
            <a:picLocks noChangeAspect="1" noChangeArrowheads="1"/>
          </p:cNvPicPr>
          <p:nvPr/>
        </p:nvPicPr>
        <p:blipFill>
          <a:blip r:embed="rId3"/>
          <a:srcRect/>
          <a:stretch>
            <a:fillRect/>
          </a:stretch>
        </p:blipFill>
        <p:spPr bwMode="auto">
          <a:xfrm>
            <a:off x="936625" y="965200"/>
            <a:ext cx="6751638" cy="5892800"/>
          </a:xfrm>
          <a:prstGeom prst="rect">
            <a:avLst/>
          </a:prstGeom>
          <a:noFill/>
          <a:ln w="9525">
            <a:noFill/>
            <a:miter lim="800000"/>
            <a:headEnd/>
            <a:tailEnd/>
          </a:ln>
        </p:spPr>
      </p:pic>
      <p:sp>
        <p:nvSpPr>
          <p:cNvPr id="125955" name="Text Box 3"/>
          <p:cNvSpPr txBox="1">
            <a:spLocks noChangeArrowheads="1"/>
          </p:cNvSpPr>
          <p:nvPr/>
        </p:nvSpPr>
        <p:spPr bwMode="auto">
          <a:xfrm>
            <a:off x="885825" y="128588"/>
            <a:ext cx="7486650" cy="822325"/>
          </a:xfrm>
          <a:prstGeom prst="rect">
            <a:avLst/>
          </a:prstGeom>
          <a:noFill/>
          <a:ln w="9525">
            <a:noFill/>
            <a:miter lim="800000"/>
            <a:headEnd/>
            <a:tailEnd/>
          </a:ln>
          <a:effectLst/>
        </p:spPr>
        <p:txBody>
          <a:bodyPr wrap="none">
            <a:spAutoFit/>
          </a:bodyPr>
          <a:lstStyle/>
          <a:p>
            <a:r>
              <a:rPr lang="en-US"/>
              <a:t>As Energy difference increases, electron configuration</a:t>
            </a:r>
          </a:p>
          <a:p>
            <a:r>
              <a:rPr lang="en-US"/>
              <a:t>changes</a:t>
            </a:r>
          </a:p>
        </p:txBody>
      </p:sp>
      <p:sp>
        <p:nvSpPr>
          <p:cNvPr id="125956" name="Text Box 4"/>
          <p:cNvSpPr txBox="1">
            <a:spLocks noChangeArrowheads="1"/>
          </p:cNvSpPr>
          <p:nvPr/>
        </p:nvSpPr>
        <p:spPr bwMode="auto">
          <a:xfrm>
            <a:off x="2044700" y="1144588"/>
            <a:ext cx="1878013" cy="457200"/>
          </a:xfrm>
          <a:prstGeom prst="rect">
            <a:avLst/>
          </a:prstGeom>
          <a:noFill/>
          <a:ln w="9525">
            <a:noFill/>
            <a:miter lim="800000"/>
            <a:headEnd/>
            <a:tailEnd/>
          </a:ln>
          <a:effectLst/>
        </p:spPr>
        <p:txBody>
          <a:bodyPr wrap="none">
            <a:spAutoFit/>
          </a:bodyPr>
          <a:lstStyle/>
          <a:p>
            <a:r>
              <a:rPr lang="en-US" b="1">
                <a:solidFill>
                  <a:srgbClr val="8000FF"/>
                </a:solidFill>
              </a:rPr>
              <a:t>“High spin”</a:t>
            </a:r>
          </a:p>
        </p:txBody>
      </p:sp>
      <p:sp>
        <p:nvSpPr>
          <p:cNvPr id="125957" name="Text Box 5"/>
          <p:cNvSpPr txBox="1">
            <a:spLocks noChangeArrowheads="1"/>
          </p:cNvSpPr>
          <p:nvPr/>
        </p:nvSpPr>
        <p:spPr bwMode="auto">
          <a:xfrm>
            <a:off x="5130800" y="776288"/>
            <a:ext cx="1809750" cy="457200"/>
          </a:xfrm>
          <a:prstGeom prst="rect">
            <a:avLst/>
          </a:prstGeom>
          <a:noFill/>
          <a:ln w="9525">
            <a:noFill/>
            <a:miter lim="800000"/>
            <a:headEnd/>
            <a:tailEnd/>
          </a:ln>
          <a:effectLst/>
        </p:spPr>
        <p:txBody>
          <a:bodyPr wrap="none">
            <a:spAutoFit/>
          </a:bodyPr>
          <a:lstStyle/>
          <a:p>
            <a:r>
              <a:rPr lang="en-US" b="1">
                <a:solidFill>
                  <a:srgbClr val="C82E32"/>
                </a:solidFill>
              </a:rPr>
              <a:t>“Low spin”</a:t>
            </a:r>
          </a:p>
        </p:txBody>
      </p:sp>
      <p:sp>
        <p:nvSpPr>
          <p:cNvPr id="125958" name="Text Box 6"/>
          <p:cNvSpPr txBox="1">
            <a:spLocks noChangeArrowheads="1"/>
          </p:cNvSpPr>
          <p:nvPr/>
        </p:nvSpPr>
        <p:spPr bwMode="auto">
          <a:xfrm>
            <a:off x="1600200" y="5765800"/>
            <a:ext cx="3435350" cy="457200"/>
          </a:xfrm>
          <a:prstGeom prst="rect">
            <a:avLst/>
          </a:prstGeom>
          <a:noFill/>
          <a:ln w="9525">
            <a:noFill/>
            <a:miter lim="800000"/>
            <a:headEnd/>
            <a:tailEnd/>
          </a:ln>
          <a:effectLst/>
        </p:spPr>
        <p:txBody>
          <a:bodyPr>
            <a:spAutoFit/>
          </a:bodyPr>
          <a:lstStyle/>
          <a:p>
            <a:pPr>
              <a:spcBef>
                <a:spcPct val="50000"/>
              </a:spcBef>
            </a:pPr>
            <a:r>
              <a:rPr lang="en-US" b="1">
                <a:solidFill>
                  <a:srgbClr val="C82E32"/>
                </a:solidFill>
              </a:rPr>
              <a:t>Co(III) is d</a:t>
            </a:r>
            <a:r>
              <a:rPr lang="en-US" b="1" baseline="30000">
                <a:solidFill>
                  <a:srgbClr val="C82E32"/>
                </a:solidFill>
              </a:rPr>
              <a:t>6</a:t>
            </a:r>
            <a:endParaRPr lang="en-US" b="1">
              <a:solidFill>
                <a:srgbClr val="C82E32"/>
              </a:solidFill>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24_33-01UN"/>
          <p:cNvPicPr>
            <a:picLocks noChangeAspect="1" noChangeArrowheads="1"/>
          </p:cNvPicPr>
          <p:nvPr/>
        </p:nvPicPr>
        <p:blipFill>
          <a:blip r:embed="rId3"/>
          <a:srcRect/>
          <a:stretch>
            <a:fillRect/>
          </a:stretch>
        </p:blipFill>
        <p:spPr bwMode="auto">
          <a:xfrm>
            <a:off x="1588" y="2103438"/>
            <a:ext cx="9142412" cy="2652712"/>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24_34"/>
          <p:cNvPicPr>
            <a:picLocks noChangeAspect="1" noChangeArrowheads="1"/>
          </p:cNvPicPr>
          <p:nvPr/>
        </p:nvPicPr>
        <p:blipFill>
          <a:blip r:embed="rId3"/>
          <a:srcRect/>
          <a:stretch>
            <a:fillRect/>
          </a:stretch>
        </p:blipFill>
        <p:spPr bwMode="auto">
          <a:xfrm>
            <a:off x="992188" y="3240088"/>
            <a:ext cx="7199312" cy="3259137"/>
          </a:xfrm>
          <a:prstGeom prst="rect">
            <a:avLst/>
          </a:prstGeom>
          <a:noFill/>
          <a:ln w="9525">
            <a:noFill/>
            <a:miter lim="800000"/>
            <a:headEnd/>
            <a:tailEnd/>
          </a:ln>
        </p:spPr>
      </p:pic>
      <p:sp>
        <p:nvSpPr>
          <p:cNvPr id="130052" name="Text Box 4"/>
          <p:cNvSpPr txBox="1">
            <a:spLocks noChangeArrowheads="1"/>
          </p:cNvSpPr>
          <p:nvPr/>
        </p:nvSpPr>
        <p:spPr bwMode="auto">
          <a:xfrm>
            <a:off x="1063625" y="1169988"/>
            <a:ext cx="7164388" cy="1552575"/>
          </a:xfrm>
          <a:prstGeom prst="rect">
            <a:avLst/>
          </a:prstGeom>
          <a:noFill/>
          <a:ln w="9525">
            <a:noFill/>
            <a:miter lim="800000"/>
            <a:headEnd/>
            <a:tailEnd/>
          </a:ln>
          <a:effectLst/>
        </p:spPr>
        <p:txBody>
          <a:bodyPr wrap="none">
            <a:spAutoFit/>
          </a:bodyPr>
          <a:lstStyle/>
          <a:p>
            <a:r>
              <a:rPr lang="en-US"/>
              <a:t>In tetrahedral complexes, orbitals are inverted.</a:t>
            </a:r>
          </a:p>
          <a:p>
            <a:r>
              <a:rPr lang="en-US"/>
              <a:t>Again because of orientation of orbitals and ligands</a:t>
            </a:r>
          </a:p>
          <a:p>
            <a:endParaRPr lang="en-US"/>
          </a:p>
          <a:p>
            <a:r>
              <a:rPr lang="en-US" b="1">
                <a:solidFill>
                  <a:srgbClr val="C82E32"/>
                </a:solidFill>
                <a:latin typeface="Symbol" pitchFamily="18" charset="2"/>
              </a:rPr>
              <a:t></a:t>
            </a:r>
            <a:r>
              <a:rPr lang="en-US" b="1">
                <a:solidFill>
                  <a:srgbClr val="C82E32"/>
                </a:solidFill>
              </a:rPr>
              <a:t> is always small, always low spin (less ligands)</a:t>
            </a:r>
            <a:endParaRPr lang="en-US"/>
          </a:p>
        </p:txBody>
      </p:sp>
      <p:sp>
        <p:nvSpPr>
          <p:cNvPr id="130053" name="Text Box 5"/>
          <p:cNvSpPr txBox="1">
            <a:spLocks noChangeArrowheads="1"/>
          </p:cNvSpPr>
          <p:nvPr/>
        </p:nvSpPr>
        <p:spPr bwMode="auto">
          <a:xfrm>
            <a:off x="2054225" y="257175"/>
            <a:ext cx="4678363" cy="579438"/>
          </a:xfrm>
          <a:prstGeom prst="rect">
            <a:avLst/>
          </a:prstGeom>
          <a:noFill/>
          <a:ln w="9525">
            <a:noFill/>
            <a:miter lim="800000"/>
            <a:headEnd/>
            <a:tailEnd/>
          </a:ln>
          <a:effectLst/>
        </p:spPr>
        <p:txBody>
          <a:bodyPr wrap="none">
            <a:spAutoFit/>
          </a:bodyPr>
          <a:lstStyle/>
          <a:p>
            <a:r>
              <a:rPr lang="en-US" sz="3200" b="1">
                <a:solidFill>
                  <a:srgbClr val="0000FF"/>
                </a:solidFill>
              </a:rPr>
              <a:t>Tetrahedral Complexes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24_35"/>
          <p:cNvPicPr>
            <a:picLocks noChangeAspect="1" noChangeArrowheads="1"/>
          </p:cNvPicPr>
          <p:nvPr/>
        </p:nvPicPr>
        <p:blipFill>
          <a:blip r:embed="rId3"/>
          <a:srcRect/>
          <a:stretch>
            <a:fillRect/>
          </a:stretch>
        </p:blipFill>
        <p:spPr bwMode="auto">
          <a:xfrm>
            <a:off x="2014538" y="920750"/>
            <a:ext cx="4670425" cy="5937250"/>
          </a:xfrm>
          <a:prstGeom prst="rect">
            <a:avLst/>
          </a:prstGeom>
          <a:noFill/>
          <a:ln w="9525">
            <a:noFill/>
            <a:miter lim="800000"/>
            <a:headEnd/>
            <a:tailEnd/>
          </a:ln>
        </p:spPr>
      </p:pic>
      <p:sp>
        <p:nvSpPr>
          <p:cNvPr id="132099" name="Text Box 3"/>
          <p:cNvSpPr txBox="1">
            <a:spLocks noChangeArrowheads="1"/>
          </p:cNvSpPr>
          <p:nvPr/>
        </p:nvSpPr>
        <p:spPr bwMode="auto">
          <a:xfrm>
            <a:off x="190500" y="165100"/>
            <a:ext cx="8383588" cy="579438"/>
          </a:xfrm>
          <a:prstGeom prst="rect">
            <a:avLst/>
          </a:prstGeom>
          <a:noFill/>
          <a:ln w="9525">
            <a:noFill/>
            <a:miter lim="800000"/>
            <a:headEnd/>
            <a:tailEnd/>
          </a:ln>
          <a:effectLst/>
        </p:spPr>
        <p:txBody>
          <a:bodyPr wrap="none">
            <a:spAutoFit/>
          </a:bodyPr>
          <a:lstStyle/>
          <a:p>
            <a:r>
              <a:rPr lang="en-US" sz="3200" b="1">
                <a:solidFill>
                  <a:srgbClr val="0000FF"/>
                </a:solidFill>
              </a:rPr>
              <a:t>Square planar complexes are different still</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4" name="Picture 2" descr="24_29def"/>
          <p:cNvPicPr>
            <a:picLocks noChangeAspect="1" noChangeArrowheads="1"/>
          </p:cNvPicPr>
          <p:nvPr/>
        </p:nvPicPr>
        <p:blipFill>
          <a:blip r:embed="rId2" cstate="print"/>
          <a:srcRect/>
          <a:stretch>
            <a:fillRect/>
          </a:stretch>
        </p:blipFill>
        <p:spPr bwMode="auto">
          <a:xfrm>
            <a:off x="2725738" y="3687763"/>
            <a:ext cx="6418262" cy="2898775"/>
          </a:xfrm>
          <a:prstGeom prst="rect">
            <a:avLst/>
          </a:prstGeom>
          <a:noFill/>
          <a:ln w="9525">
            <a:noFill/>
            <a:miter lim="800000"/>
            <a:headEnd/>
            <a:tailEnd/>
          </a:ln>
        </p:spPr>
      </p:pic>
      <p:pic>
        <p:nvPicPr>
          <p:cNvPr id="161796" name="Picture 4" descr="24_29abc"/>
          <p:cNvPicPr>
            <a:picLocks noChangeAspect="1" noChangeArrowheads="1"/>
          </p:cNvPicPr>
          <p:nvPr/>
        </p:nvPicPr>
        <p:blipFill>
          <a:blip r:embed="rId3" cstate="print"/>
          <a:srcRect/>
          <a:stretch>
            <a:fillRect/>
          </a:stretch>
        </p:blipFill>
        <p:spPr bwMode="auto">
          <a:xfrm>
            <a:off x="3268663" y="1003300"/>
            <a:ext cx="5875337" cy="2659063"/>
          </a:xfrm>
          <a:prstGeom prst="rect">
            <a:avLst/>
          </a:prstGeom>
          <a:noFill/>
          <a:ln w="9525">
            <a:noFill/>
            <a:miter lim="800000"/>
            <a:headEnd/>
            <a:tailEnd/>
          </a:ln>
        </p:spPr>
      </p:pic>
      <p:pic>
        <p:nvPicPr>
          <p:cNvPr id="161797" name="Picture 5" descr="24_35"/>
          <p:cNvPicPr>
            <a:picLocks noChangeAspect="1" noChangeArrowheads="1"/>
          </p:cNvPicPr>
          <p:nvPr/>
        </p:nvPicPr>
        <p:blipFill>
          <a:blip r:embed="rId4" cstate="print"/>
          <a:srcRect/>
          <a:stretch>
            <a:fillRect/>
          </a:stretch>
        </p:blipFill>
        <p:spPr bwMode="auto">
          <a:xfrm>
            <a:off x="0" y="552450"/>
            <a:ext cx="2811463" cy="3575050"/>
          </a:xfrm>
          <a:prstGeom prst="rect">
            <a:avLst/>
          </a:prstGeom>
          <a:noFill/>
          <a:ln w="9525">
            <a:noFill/>
            <a:miter lim="800000"/>
            <a:headEnd/>
            <a:tailEnd/>
          </a:ln>
        </p:spPr>
      </p:pic>
      <p:sp>
        <p:nvSpPr>
          <p:cNvPr id="161798" name="Rectangle 6"/>
          <p:cNvSpPr>
            <a:spLocks noChangeArrowheads="1"/>
          </p:cNvSpPr>
          <p:nvPr/>
        </p:nvSpPr>
        <p:spPr bwMode="auto">
          <a:xfrm>
            <a:off x="6057900" y="12827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799" name="Rectangle 7"/>
          <p:cNvSpPr>
            <a:spLocks noChangeArrowheads="1"/>
          </p:cNvSpPr>
          <p:nvPr/>
        </p:nvSpPr>
        <p:spPr bwMode="auto">
          <a:xfrm>
            <a:off x="6057900" y="27432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0" name="Rectangle 8"/>
          <p:cNvSpPr>
            <a:spLocks noChangeArrowheads="1"/>
          </p:cNvSpPr>
          <p:nvPr/>
        </p:nvSpPr>
        <p:spPr bwMode="auto">
          <a:xfrm>
            <a:off x="8166100" y="12827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1" name="Rectangle 9"/>
          <p:cNvSpPr>
            <a:spLocks noChangeArrowheads="1"/>
          </p:cNvSpPr>
          <p:nvPr/>
        </p:nvSpPr>
        <p:spPr bwMode="auto">
          <a:xfrm>
            <a:off x="8166100" y="27432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2" name="Rectangle 10"/>
          <p:cNvSpPr>
            <a:spLocks noChangeArrowheads="1"/>
          </p:cNvSpPr>
          <p:nvPr/>
        </p:nvSpPr>
        <p:spPr bwMode="auto">
          <a:xfrm>
            <a:off x="8089900" y="40259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3" name="Rectangle 11"/>
          <p:cNvSpPr>
            <a:spLocks noChangeArrowheads="1"/>
          </p:cNvSpPr>
          <p:nvPr/>
        </p:nvSpPr>
        <p:spPr bwMode="auto">
          <a:xfrm>
            <a:off x="8089900" y="55245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4" name="Rectangle 12"/>
          <p:cNvSpPr>
            <a:spLocks noChangeArrowheads="1"/>
          </p:cNvSpPr>
          <p:nvPr/>
        </p:nvSpPr>
        <p:spPr bwMode="auto">
          <a:xfrm>
            <a:off x="5803900" y="40259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161805" name="Rectangle 13"/>
          <p:cNvSpPr>
            <a:spLocks noChangeArrowheads="1"/>
          </p:cNvSpPr>
          <p:nvPr/>
        </p:nvSpPr>
        <p:spPr bwMode="auto">
          <a:xfrm>
            <a:off x="5803900" y="5537200"/>
            <a:ext cx="203200" cy="165100"/>
          </a:xfrm>
          <a:prstGeom prst="rect">
            <a:avLst/>
          </a:prstGeom>
          <a:solidFill>
            <a:schemeClr val="accent1"/>
          </a:solidFill>
          <a:ln w="9525">
            <a:noFill/>
            <a:miter lim="800000"/>
            <a:headEnd/>
            <a:tailEnd/>
          </a:ln>
          <a:effec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24_35-01UNEx10"/>
          <p:cNvPicPr>
            <a:picLocks noChangeAspect="1" noChangeArrowheads="1"/>
          </p:cNvPicPr>
          <p:nvPr/>
        </p:nvPicPr>
        <p:blipFill>
          <a:blip r:embed="rId3"/>
          <a:srcRect/>
          <a:stretch>
            <a:fillRect/>
          </a:stretch>
        </p:blipFill>
        <p:spPr bwMode="auto">
          <a:xfrm>
            <a:off x="0" y="215900"/>
            <a:ext cx="9142413" cy="66421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194" name="Picture 2" descr="24_36"/>
          <p:cNvPicPr>
            <a:picLocks noChangeAspect="1" noChangeArrowheads="1"/>
          </p:cNvPicPr>
          <p:nvPr/>
        </p:nvPicPr>
        <p:blipFill>
          <a:blip r:embed="rId3"/>
          <a:srcRect/>
          <a:stretch>
            <a:fillRect/>
          </a:stretch>
        </p:blipFill>
        <p:spPr bwMode="auto">
          <a:xfrm>
            <a:off x="1588" y="2301875"/>
            <a:ext cx="9142412" cy="2257425"/>
          </a:xfrm>
          <a:prstGeom prst="rect">
            <a:avLst/>
          </a:prstGeom>
          <a:noFill/>
          <a:ln w="9525">
            <a:noFill/>
            <a:miter lim="800000"/>
            <a:headEnd/>
            <a:tailEnd/>
          </a:ln>
        </p:spPr>
      </p:pic>
      <p:sp>
        <p:nvSpPr>
          <p:cNvPr id="136195" name="Text Box 3"/>
          <p:cNvSpPr txBox="1">
            <a:spLocks noChangeArrowheads="1"/>
          </p:cNvSpPr>
          <p:nvPr/>
        </p:nvSpPr>
        <p:spPr bwMode="auto">
          <a:xfrm>
            <a:off x="474663" y="1671638"/>
            <a:ext cx="2368550" cy="457200"/>
          </a:xfrm>
          <a:prstGeom prst="rect">
            <a:avLst/>
          </a:prstGeom>
          <a:noFill/>
          <a:ln w="9525">
            <a:noFill/>
            <a:miter lim="800000"/>
            <a:headEnd/>
            <a:tailEnd/>
          </a:ln>
          <a:effectLst/>
        </p:spPr>
        <p:txBody>
          <a:bodyPr>
            <a:spAutoFit/>
          </a:bodyPr>
          <a:lstStyle/>
          <a:p>
            <a:pPr>
              <a:spcBef>
                <a:spcPct val="50000"/>
              </a:spcBef>
            </a:pPr>
            <a:r>
              <a:rPr lang="en-US"/>
              <a:t>KMnO</a:t>
            </a:r>
            <a:r>
              <a:rPr lang="en-US" baseline="-25000"/>
              <a:t>4</a:t>
            </a:r>
            <a:endParaRPr lang="en-US"/>
          </a:p>
        </p:txBody>
      </p:sp>
      <p:sp>
        <p:nvSpPr>
          <p:cNvPr id="136196" name="Text Box 4"/>
          <p:cNvSpPr txBox="1">
            <a:spLocks noChangeArrowheads="1"/>
          </p:cNvSpPr>
          <p:nvPr/>
        </p:nvSpPr>
        <p:spPr bwMode="auto">
          <a:xfrm>
            <a:off x="3167063" y="1671638"/>
            <a:ext cx="2368550" cy="457200"/>
          </a:xfrm>
          <a:prstGeom prst="rect">
            <a:avLst/>
          </a:prstGeom>
          <a:noFill/>
          <a:ln w="9525">
            <a:noFill/>
            <a:miter lim="800000"/>
            <a:headEnd/>
            <a:tailEnd/>
          </a:ln>
          <a:effectLst/>
        </p:spPr>
        <p:txBody>
          <a:bodyPr>
            <a:spAutoFit/>
          </a:bodyPr>
          <a:lstStyle/>
          <a:p>
            <a:pPr>
              <a:spcBef>
                <a:spcPct val="50000"/>
              </a:spcBef>
            </a:pPr>
            <a:r>
              <a:rPr lang="en-US"/>
              <a:t>KCrO</a:t>
            </a:r>
            <a:r>
              <a:rPr lang="en-US" baseline="-25000"/>
              <a:t>4</a:t>
            </a:r>
            <a:endParaRPr lang="en-US"/>
          </a:p>
        </p:txBody>
      </p:sp>
      <p:sp>
        <p:nvSpPr>
          <p:cNvPr id="136197" name="Text Box 5"/>
          <p:cNvSpPr txBox="1">
            <a:spLocks noChangeArrowheads="1"/>
          </p:cNvSpPr>
          <p:nvPr/>
        </p:nvSpPr>
        <p:spPr bwMode="auto">
          <a:xfrm>
            <a:off x="6938963" y="1658938"/>
            <a:ext cx="2368550" cy="457200"/>
          </a:xfrm>
          <a:prstGeom prst="rect">
            <a:avLst/>
          </a:prstGeom>
          <a:noFill/>
          <a:ln w="9525">
            <a:noFill/>
            <a:miter lim="800000"/>
            <a:headEnd/>
            <a:tailEnd/>
          </a:ln>
          <a:effectLst/>
        </p:spPr>
        <p:txBody>
          <a:bodyPr>
            <a:spAutoFit/>
          </a:bodyPr>
          <a:lstStyle/>
          <a:p>
            <a:pPr>
              <a:spcBef>
                <a:spcPct val="50000"/>
              </a:spcBef>
            </a:pPr>
            <a:r>
              <a:rPr lang="en-US"/>
              <a:t>KClO</a:t>
            </a:r>
            <a:r>
              <a:rPr lang="en-US" baseline="-25000"/>
              <a:t>4</a:t>
            </a:r>
            <a:endParaRPr lang="en-US"/>
          </a:p>
        </p:txBody>
      </p:sp>
      <p:sp>
        <p:nvSpPr>
          <p:cNvPr id="136198" name="Text Box 6"/>
          <p:cNvSpPr txBox="1">
            <a:spLocks noChangeArrowheads="1"/>
          </p:cNvSpPr>
          <p:nvPr/>
        </p:nvSpPr>
        <p:spPr bwMode="auto">
          <a:xfrm>
            <a:off x="619125" y="420688"/>
            <a:ext cx="6367463" cy="822325"/>
          </a:xfrm>
          <a:prstGeom prst="rect">
            <a:avLst/>
          </a:prstGeom>
          <a:noFill/>
          <a:ln w="9525">
            <a:noFill/>
            <a:miter lim="800000"/>
            <a:headEnd/>
            <a:tailEnd/>
          </a:ln>
          <a:effectLst/>
        </p:spPr>
        <p:txBody>
          <a:bodyPr wrap="none">
            <a:spAutoFit/>
          </a:bodyPr>
          <a:lstStyle/>
          <a:p>
            <a:r>
              <a:rPr lang="en-US"/>
              <a:t>Intense color can come from “charge transfer”</a:t>
            </a:r>
          </a:p>
          <a:p>
            <a:r>
              <a:rPr lang="en-US"/>
              <a:t>Ligand electrons jump to metal orbitals</a:t>
            </a:r>
          </a:p>
        </p:txBody>
      </p:sp>
      <p:sp>
        <p:nvSpPr>
          <p:cNvPr id="136199" name="Text Box 7"/>
          <p:cNvSpPr txBox="1">
            <a:spLocks noChangeArrowheads="1"/>
          </p:cNvSpPr>
          <p:nvPr/>
        </p:nvSpPr>
        <p:spPr bwMode="auto">
          <a:xfrm>
            <a:off x="6435725" y="4573588"/>
            <a:ext cx="2555875" cy="1187450"/>
          </a:xfrm>
          <a:prstGeom prst="rect">
            <a:avLst/>
          </a:prstGeom>
          <a:noFill/>
          <a:ln w="9525">
            <a:noFill/>
            <a:miter lim="800000"/>
            <a:headEnd/>
            <a:tailEnd/>
          </a:ln>
          <a:effectLst/>
        </p:spPr>
        <p:txBody>
          <a:bodyPr wrap="none">
            <a:spAutoFit/>
          </a:bodyPr>
          <a:lstStyle/>
          <a:p>
            <a:r>
              <a:rPr lang="en-US"/>
              <a:t>No d orbitals in</a:t>
            </a:r>
          </a:p>
          <a:p>
            <a:r>
              <a:rPr lang="en-US"/>
              <a:t>Cl, orbitals higher</a:t>
            </a:r>
          </a:p>
          <a:p>
            <a:r>
              <a:rPr lang="en-US"/>
              <a:t>In energy</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8242" name="Picture 2" descr="24_37"/>
          <p:cNvPicPr>
            <a:picLocks noChangeAspect="1" noChangeArrowheads="1"/>
          </p:cNvPicPr>
          <p:nvPr/>
        </p:nvPicPr>
        <p:blipFill>
          <a:blip r:embed="rId3"/>
          <a:srcRect/>
          <a:stretch>
            <a:fillRect/>
          </a:stretch>
        </p:blipFill>
        <p:spPr bwMode="auto">
          <a:xfrm>
            <a:off x="1471613" y="1588"/>
            <a:ext cx="6200775" cy="68580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Text Box 2"/>
          <p:cNvSpPr txBox="1">
            <a:spLocks noChangeArrowheads="1"/>
          </p:cNvSpPr>
          <p:nvPr/>
        </p:nvSpPr>
        <p:spPr bwMode="auto">
          <a:xfrm>
            <a:off x="1089025" y="280988"/>
            <a:ext cx="6808788" cy="2282825"/>
          </a:xfrm>
          <a:prstGeom prst="rect">
            <a:avLst/>
          </a:prstGeom>
          <a:noFill/>
          <a:ln w="9525">
            <a:noFill/>
            <a:miter lim="800000"/>
            <a:headEnd/>
            <a:tailEnd/>
          </a:ln>
          <a:effectLst/>
        </p:spPr>
        <p:txBody>
          <a:bodyPr>
            <a:spAutoFit/>
          </a:bodyPr>
          <a:lstStyle/>
          <a:p>
            <a:r>
              <a:rPr lang="en-US"/>
              <a:t>Exam 4, MO theory and coordination compounds</a:t>
            </a:r>
          </a:p>
          <a:p>
            <a:r>
              <a:rPr lang="en-US"/>
              <a:t>Chapter 9, end and Chapter 24.</a:t>
            </a:r>
          </a:p>
          <a:p>
            <a:endParaRPr lang="en-US"/>
          </a:p>
          <a:p>
            <a:r>
              <a:rPr lang="en-US"/>
              <a:t>MO theory:  Rules:</a:t>
            </a:r>
          </a:p>
          <a:p>
            <a:endParaRPr lang="en-US"/>
          </a:p>
          <a:p>
            <a:endParaRPr lang="en-US"/>
          </a:p>
        </p:txBody>
      </p:sp>
      <p:sp>
        <p:nvSpPr>
          <p:cNvPr id="171012" name="Rectangle 4"/>
          <p:cNvSpPr>
            <a:spLocks noChangeArrowheads="1"/>
          </p:cNvSpPr>
          <p:nvPr/>
        </p:nvSpPr>
        <p:spPr bwMode="auto">
          <a:xfrm>
            <a:off x="571500" y="2171700"/>
            <a:ext cx="8026400" cy="4965700"/>
          </a:xfrm>
          <a:prstGeom prst="rect">
            <a:avLst/>
          </a:prstGeom>
          <a:noFill/>
          <a:ln w="9525">
            <a:noFill/>
            <a:miter lim="800000"/>
            <a:headEnd/>
            <a:tailEnd/>
          </a:ln>
          <a:effectLst/>
        </p:spPr>
        <p:txBody>
          <a:bodyPr/>
          <a:lstStyle/>
          <a:p>
            <a:pPr marL="342900" indent="-342900" eaLnBrk="1" hangingPunct="1">
              <a:spcBef>
                <a:spcPct val="20000"/>
              </a:spcBef>
              <a:buFontTx/>
              <a:buChar char="•"/>
            </a:pPr>
            <a:r>
              <a:rPr lang="en-US" sz="2000">
                <a:solidFill>
                  <a:srgbClr val="C82E32"/>
                </a:solidFill>
              </a:rPr>
              <a:t>1.  The number of MO’s equals the # of Atomic orbitals</a:t>
            </a:r>
          </a:p>
          <a:p>
            <a:pPr marL="342900" indent="-342900" eaLnBrk="1" hangingPunct="1">
              <a:spcBef>
                <a:spcPct val="20000"/>
              </a:spcBef>
              <a:buFontTx/>
              <a:buChar char="•"/>
            </a:pPr>
            <a:r>
              <a:rPr lang="en-US" sz="2000">
                <a:solidFill>
                  <a:srgbClr val="C82E32"/>
                </a:solidFill>
              </a:rPr>
              <a:t>2.  The overlap of two atomic orbitals gives two molecular orbitals, 1 bonding, one antibonding</a:t>
            </a:r>
          </a:p>
          <a:p>
            <a:pPr marL="342900" indent="-342900" eaLnBrk="1" hangingPunct="1">
              <a:spcBef>
                <a:spcPct val="20000"/>
              </a:spcBef>
              <a:buFontTx/>
              <a:buChar char="•"/>
            </a:pPr>
            <a:r>
              <a:rPr lang="en-US" sz="2000">
                <a:solidFill>
                  <a:srgbClr val="C82E32"/>
                </a:solidFill>
              </a:rPr>
              <a:t>3.  Atomic orbitals combine with other atomic orbitals of </a:t>
            </a:r>
            <a:r>
              <a:rPr lang="en-US" sz="2000" i="1">
                <a:solidFill>
                  <a:srgbClr val="C82E32"/>
                </a:solidFill>
              </a:rPr>
              <a:t>similar energy.</a:t>
            </a:r>
            <a:endParaRPr lang="en-US" sz="2000">
              <a:solidFill>
                <a:srgbClr val="C82E32"/>
              </a:solidFill>
            </a:endParaRPr>
          </a:p>
          <a:p>
            <a:pPr marL="342900" indent="-342900" eaLnBrk="1" hangingPunct="1">
              <a:spcBef>
                <a:spcPct val="20000"/>
              </a:spcBef>
              <a:buFontTx/>
              <a:buChar char="•"/>
            </a:pPr>
            <a:r>
              <a:rPr lang="en-US" sz="2000">
                <a:solidFill>
                  <a:srgbClr val="C82E32"/>
                </a:solidFill>
              </a:rPr>
              <a:t>4.  Degree of overlap matters.  More overlap means bonding orbital goes </a:t>
            </a:r>
            <a:r>
              <a:rPr lang="en-US" sz="2000" i="1">
                <a:solidFill>
                  <a:srgbClr val="C82E32"/>
                </a:solidFill>
              </a:rPr>
              <a:t>lower </a:t>
            </a:r>
            <a:r>
              <a:rPr lang="en-US" sz="2000">
                <a:solidFill>
                  <a:srgbClr val="C82E32"/>
                </a:solidFill>
              </a:rPr>
              <a:t>in E, antibonding orbital goes </a:t>
            </a:r>
            <a:r>
              <a:rPr lang="en-US" sz="2000" i="1">
                <a:solidFill>
                  <a:srgbClr val="C82E32"/>
                </a:solidFill>
              </a:rPr>
              <a:t>higher</a:t>
            </a:r>
            <a:r>
              <a:rPr lang="en-US" sz="2000">
                <a:solidFill>
                  <a:srgbClr val="C82E32"/>
                </a:solidFill>
              </a:rPr>
              <a:t> in E.</a:t>
            </a:r>
          </a:p>
          <a:p>
            <a:pPr marL="342900" indent="-342900" eaLnBrk="1" hangingPunct="1">
              <a:spcBef>
                <a:spcPct val="20000"/>
              </a:spcBef>
              <a:buFontTx/>
              <a:buChar char="•"/>
            </a:pPr>
            <a:r>
              <a:rPr lang="en-US" sz="2000">
                <a:solidFill>
                  <a:srgbClr val="C82E32"/>
                </a:solidFill>
              </a:rPr>
              <a:t>5.  Each MO gets two electrons</a:t>
            </a:r>
          </a:p>
          <a:p>
            <a:pPr marL="342900" indent="-342900" eaLnBrk="1" hangingPunct="1">
              <a:spcBef>
                <a:spcPct val="20000"/>
              </a:spcBef>
              <a:buFontTx/>
              <a:buChar char="•"/>
            </a:pPr>
            <a:r>
              <a:rPr lang="en-US" sz="2000">
                <a:solidFill>
                  <a:srgbClr val="C82E32"/>
                </a:solidFill>
              </a:rPr>
              <a:t>6.  Orbitals of the </a:t>
            </a:r>
            <a:r>
              <a:rPr lang="en-US" sz="2000" i="1">
                <a:solidFill>
                  <a:srgbClr val="C82E32"/>
                </a:solidFill>
              </a:rPr>
              <a:t>same energy</a:t>
            </a:r>
            <a:r>
              <a:rPr lang="en-US" sz="2000">
                <a:solidFill>
                  <a:srgbClr val="C82E32"/>
                </a:solidFill>
              </a:rPr>
              <a:t> get filled 1 electron at a time until they are filled.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2034" name="Picture 2" descr="09_38"/>
          <p:cNvPicPr>
            <a:picLocks noChangeAspect="1" noChangeArrowheads="1"/>
          </p:cNvPicPr>
          <p:nvPr/>
        </p:nvPicPr>
        <p:blipFill>
          <a:blip r:embed="rId2" cstate="print"/>
          <a:srcRect b="3720"/>
          <a:stretch>
            <a:fillRect/>
          </a:stretch>
        </p:blipFill>
        <p:spPr bwMode="auto">
          <a:xfrm>
            <a:off x="228600" y="1600200"/>
            <a:ext cx="4076700" cy="4576763"/>
          </a:xfrm>
          <a:prstGeom prst="rect">
            <a:avLst/>
          </a:prstGeom>
          <a:noFill/>
          <a:ln w="9525">
            <a:noFill/>
            <a:miter lim="800000"/>
            <a:headEnd/>
            <a:tailEnd/>
          </a:ln>
          <a:effectLst/>
        </p:spPr>
      </p:pic>
      <p:sp>
        <p:nvSpPr>
          <p:cNvPr id="172035" name="Text Box 3"/>
          <p:cNvSpPr txBox="1">
            <a:spLocks noChangeArrowheads="1"/>
          </p:cNvSpPr>
          <p:nvPr/>
        </p:nvSpPr>
        <p:spPr bwMode="auto">
          <a:xfrm>
            <a:off x="3225800" y="431800"/>
            <a:ext cx="5187950" cy="822325"/>
          </a:xfrm>
          <a:prstGeom prst="rect">
            <a:avLst/>
          </a:prstGeom>
          <a:noFill/>
          <a:ln w="9525">
            <a:noFill/>
            <a:miter lim="800000"/>
            <a:headEnd/>
            <a:tailEnd/>
          </a:ln>
          <a:effectLst/>
        </p:spPr>
        <p:txBody>
          <a:bodyPr>
            <a:spAutoFit/>
          </a:bodyPr>
          <a:lstStyle/>
          <a:p>
            <a:pPr>
              <a:spcBef>
                <a:spcPct val="50000"/>
              </a:spcBef>
            </a:pPr>
            <a:r>
              <a:rPr lang="en-US"/>
              <a:t>Difference between pi and sigma orbitals</a:t>
            </a:r>
          </a:p>
        </p:txBody>
      </p:sp>
      <p:sp>
        <p:nvSpPr>
          <p:cNvPr id="172036" name="Text Box 4"/>
          <p:cNvSpPr txBox="1">
            <a:spLocks noChangeArrowheads="1"/>
          </p:cNvSpPr>
          <p:nvPr/>
        </p:nvSpPr>
        <p:spPr bwMode="auto">
          <a:xfrm>
            <a:off x="5089525" y="1766888"/>
            <a:ext cx="1150938" cy="457200"/>
          </a:xfrm>
          <a:prstGeom prst="rect">
            <a:avLst/>
          </a:prstGeom>
          <a:noFill/>
          <a:ln w="9525">
            <a:noFill/>
            <a:miter lim="800000"/>
            <a:headEnd/>
            <a:tailEnd/>
          </a:ln>
          <a:effectLst/>
        </p:spPr>
        <p:txBody>
          <a:bodyPr wrap="none">
            <a:spAutoFit/>
          </a:bodyPr>
          <a:lstStyle/>
          <a:p>
            <a:r>
              <a:rPr lang="en-US"/>
              <a:t>End on</a:t>
            </a:r>
          </a:p>
        </p:txBody>
      </p:sp>
      <p:sp>
        <p:nvSpPr>
          <p:cNvPr id="172037" name="Text Box 5"/>
          <p:cNvSpPr txBox="1">
            <a:spLocks noChangeArrowheads="1"/>
          </p:cNvSpPr>
          <p:nvPr/>
        </p:nvSpPr>
        <p:spPr bwMode="auto">
          <a:xfrm>
            <a:off x="4873625" y="3392488"/>
            <a:ext cx="1862138" cy="457200"/>
          </a:xfrm>
          <a:prstGeom prst="rect">
            <a:avLst/>
          </a:prstGeom>
          <a:noFill/>
          <a:ln w="9525">
            <a:noFill/>
            <a:miter lim="800000"/>
            <a:headEnd/>
            <a:tailEnd/>
          </a:ln>
          <a:effectLst/>
        </p:spPr>
        <p:txBody>
          <a:bodyPr wrap="none">
            <a:spAutoFit/>
          </a:bodyPr>
          <a:lstStyle/>
          <a:p>
            <a:r>
              <a:rPr lang="en-US"/>
              <a:t>Side to side.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058" name="Picture 2" descr="09_42"/>
          <p:cNvPicPr>
            <a:picLocks noChangeAspect="1" noChangeArrowheads="1"/>
          </p:cNvPicPr>
          <p:nvPr/>
        </p:nvPicPr>
        <p:blipFill>
          <a:blip r:embed="rId2" cstate="print"/>
          <a:srcRect b="3481"/>
          <a:stretch>
            <a:fillRect/>
          </a:stretch>
        </p:blipFill>
        <p:spPr bwMode="auto">
          <a:xfrm>
            <a:off x="1570038" y="2070100"/>
            <a:ext cx="5224462" cy="4552950"/>
          </a:xfrm>
          <a:prstGeom prst="rect">
            <a:avLst/>
          </a:prstGeom>
          <a:noFill/>
          <a:ln w="9525">
            <a:noFill/>
            <a:miter lim="800000"/>
            <a:headEnd/>
            <a:tailEnd/>
          </a:ln>
          <a:effectLst/>
        </p:spPr>
      </p:pic>
      <p:sp>
        <p:nvSpPr>
          <p:cNvPr id="173059" name="Text Box 3"/>
          <p:cNvSpPr txBox="1">
            <a:spLocks noChangeArrowheads="1"/>
          </p:cNvSpPr>
          <p:nvPr/>
        </p:nvSpPr>
        <p:spPr bwMode="auto">
          <a:xfrm>
            <a:off x="1490663" y="871538"/>
            <a:ext cx="6965950" cy="822325"/>
          </a:xfrm>
          <a:prstGeom prst="rect">
            <a:avLst/>
          </a:prstGeom>
          <a:noFill/>
          <a:ln w="9525">
            <a:noFill/>
            <a:miter lim="800000"/>
            <a:headEnd/>
            <a:tailEnd/>
          </a:ln>
          <a:effectLst/>
        </p:spPr>
        <p:txBody>
          <a:bodyPr>
            <a:spAutoFit/>
          </a:bodyPr>
          <a:lstStyle/>
          <a:p>
            <a:pPr>
              <a:spcBef>
                <a:spcPct val="50000"/>
              </a:spcBef>
            </a:pPr>
            <a:r>
              <a:rPr lang="en-US"/>
              <a:t>A  typical MO diagram, like the one below. For 2p and 2s atomic orbital mixing.</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83" name="Picture 3" descr="09_47"/>
          <p:cNvPicPr>
            <a:picLocks noChangeAspect="1" noChangeArrowheads="1"/>
          </p:cNvPicPr>
          <p:nvPr/>
        </p:nvPicPr>
        <p:blipFill>
          <a:blip r:embed="rId2"/>
          <a:srcRect/>
          <a:stretch>
            <a:fillRect/>
          </a:stretch>
        </p:blipFill>
        <p:spPr bwMode="auto">
          <a:xfrm>
            <a:off x="0" y="1616075"/>
            <a:ext cx="9142413" cy="4692650"/>
          </a:xfrm>
          <a:prstGeom prst="rect">
            <a:avLst/>
          </a:prstGeom>
          <a:noFill/>
          <a:ln w="9525">
            <a:noFill/>
            <a:miter lim="800000"/>
            <a:headEnd/>
            <a:tailEnd/>
          </a:ln>
        </p:spPr>
      </p:pic>
      <p:sp>
        <p:nvSpPr>
          <p:cNvPr id="174084" name="Text Box 4"/>
          <p:cNvSpPr txBox="1">
            <a:spLocks noChangeArrowheads="1"/>
          </p:cNvSpPr>
          <p:nvPr/>
        </p:nvSpPr>
        <p:spPr bwMode="auto">
          <a:xfrm>
            <a:off x="1635125" y="255588"/>
            <a:ext cx="6746875" cy="579437"/>
          </a:xfrm>
          <a:prstGeom prst="rect">
            <a:avLst/>
          </a:prstGeom>
          <a:noFill/>
          <a:ln w="9525">
            <a:noFill/>
            <a:miter lim="800000"/>
            <a:headEnd/>
            <a:tailEnd/>
          </a:ln>
          <a:effectLst/>
        </p:spPr>
        <p:txBody>
          <a:bodyPr wrap="none">
            <a:spAutoFit/>
          </a:bodyPr>
          <a:lstStyle/>
          <a:p>
            <a:r>
              <a:rPr lang="en-US" sz="3200" b="1">
                <a:solidFill>
                  <a:srgbClr val="FF8000"/>
                </a:solidFill>
              </a:rPr>
              <a:t>Oxygen O</a:t>
            </a:r>
            <a:r>
              <a:rPr lang="en-US" sz="3200" b="1" baseline="-25000">
                <a:solidFill>
                  <a:srgbClr val="FF8000"/>
                </a:solidFill>
              </a:rPr>
              <a:t>2</a:t>
            </a:r>
            <a:r>
              <a:rPr lang="en-US" sz="3200" b="1">
                <a:solidFill>
                  <a:srgbClr val="FF8000"/>
                </a:solidFill>
              </a:rPr>
              <a:t> is Paramagnetic, why?</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6" name="Picture 2" descr="09_45"/>
          <p:cNvPicPr>
            <a:picLocks noChangeAspect="1" noChangeArrowheads="1"/>
          </p:cNvPicPr>
          <p:nvPr/>
        </p:nvPicPr>
        <p:blipFill>
          <a:blip r:embed="rId2"/>
          <a:srcRect b="6123"/>
          <a:stretch>
            <a:fillRect/>
          </a:stretch>
        </p:blipFill>
        <p:spPr bwMode="auto">
          <a:xfrm>
            <a:off x="0" y="1584325"/>
            <a:ext cx="8528050" cy="4117975"/>
          </a:xfrm>
          <a:prstGeom prst="rect">
            <a:avLst/>
          </a:prstGeom>
          <a:noFill/>
          <a:ln w="9525">
            <a:noFill/>
            <a:miter lim="800000"/>
            <a:headEnd/>
            <a:tailEnd/>
          </a:ln>
          <a:effectLst/>
        </p:spPr>
      </p:pic>
      <p:sp>
        <p:nvSpPr>
          <p:cNvPr id="175107" name="Text Box 3"/>
          <p:cNvSpPr txBox="1">
            <a:spLocks noChangeArrowheads="1"/>
          </p:cNvSpPr>
          <p:nvPr/>
        </p:nvSpPr>
        <p:spPr bwMode="auto">
          <a:xfrm>
            <a:off x="2278063" y="736600"/>
            <a:ext cx="5873750" cy="457200"/>
          </a:xfrm>
          <a:prstGeom prst="rect">
            <a:avLst/>
          </a:prstGeom>
          <a:noFill/>
          <a:ln w="9525">
            <a:noFill/>
            <a:miter lim="800000"/>
            <a:headEnd/>
            <a:tailEnd/>
          </a:ln>
          <a:effectLst/>
        </p:spPr>
        <p:txBody>
          <a:bodyPr>
            <a:spAutoFit/>
          </a:bodyPr>
          <a:lstStyle/>
          <a:p>
            <a:pPr>
              <a:spcBef>
                <a:spcPct val="50000"/>
              </a:spcBef>
            </a:pPr>
            <a:r>
              <a:rPr lang="en-US"/>
              <a:t>Show me why.</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86" name="Picture 2" descr="24_35-01UNEx10"/>
          <p:cNvPicPr>
            <a:picLocks noChangeAspect="1" noChangeArrowheads="1"/>
          </p:cNvPicPr>
          <p:nvPr/>
        </p:nvPicPr>
        <p:blipFill>
          <a:blip r:embed="rId2"/>
          <a:srcRect/>
          <a:stretch>
            <a:fillRect/>
          </a:stretch>
        </p:blipFill>
        <p:spPr bwMode="auto">
          <a:xfrm>
            <a:off x="0" y="215900"/>
            <a:ext cx="9142413" cy="6642100"/>
          </a:xfrm>
          <a:prstGeom prst="rect">
            <a:avLst/>
          </a:prstGeom>
          <a:noFill/>
          <a:ln w="9525">
            <a:noFill/>
            <a:miter lim="800000"/>
            <a:headEnd/>
            <a:tailEnd/>
          </a:ln>
        </p:spPr>
      </p:pic>
      <p:sp>
        <p:nvSpPr>
          <p:cNvPr id="169987" name="Text Box 3"/>
          <p:cNvSpPr txBox="1">
            <a:spLocks noChangeArrowheads="1"/>
          </p:cNvSpPr>
          <p:nvPr/>
        </p:nvSpPr>
        <p:spPr bwMode="auto">
          <a:xfrm>
            <a:off x="708025" y="128588"/>
            <a:ext cx="5562600" cy="1552575"/>
          </a:xfrm>
          <a:prstGeom prst="rect">
            <a:avLst/>
          </a:prstGeom>
          <a:noFill/>
          <a:ln w="9525">
            <a:noFill/>
            <a:miter lim="800000"/>
            <a:headEnd/>
            <a:tailEnd/>
          </a:ln>
          <a:effectLst/>
        </p:spPr>
        <p:txBody>
          <a:bodyPr>
            <a:spAutoFit/>
          </a:bodyPr>
          <a:lstStyle/>
          <a:p>
            <a:r>
              <a:rPr lang="en-US"/>
              <a:t>There is also splitting from tetrahedral</a:t>
            </a:r>
          </a:p>
          <a:p>
            <a:r>
              <a:rPr lang="en-US"/>
              <a:t>And square planar.  Know they are different, don’t remember exactly what they are like.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2" name="Picture 2" descr="0753"/>
          <p:cNvPicPr>
            <a:picLocks noChangeAspect="1" noChangeArrowheads="1"/>
          </p:cNvPicPr>
          <p:nvPr/>
        </p:nvPicPr>
        <p:blipFill>
          <a:blip r:embed="rId2"/>
          <a:srcRect/>
          <a:stretch>
            <a:fillRect/>
          </a:stretch>
        </p:blipFill>
        <p:spPr bwMode="auto">
          <a:xfrm>
            <a:off x="384175" y="198438"/>
            <a:ext cx="8607425" cy="6430962"/>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9026" name="Picture 2" descr="0754"/>
          <p:cNvPicPr>
            <a:picLocks noChangeAspect="1" noChangeArrowheads="1"/>
          </p:cNvPicPr>
          <p:nvPr/>
        </p:nvPicPr>
        <p:blipFill>
          <a:blip r:embed="rId2"/>
          <a:srcRect/>
          <a:stretch>
            <a:fillRect/>
          </a:stretch>
        </p:blipFill>
        <p:spPr bwMode="auto">
          <a:xfrm>
            <a:off x="155575" y="255588"/>
            <a:ext cx="8836025" cy="6602412"/>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0050" name="Picture 2" descr="0755"/>
          <p:cNvPicPr>
            <a:picLocks noChangeAspect="1" noChangeArrowheads="1"/>
          </p:cNvPicPr>
          <p:nvPr/>
        </p:nvPicPr>
        <p:blipFill>
          <a:blip r:embed="rId2"/>
          <a:srcRect/>
          <a:stretch>
            <a:fillRect/>
          </a:stretch>
        </p:blipFill>
        <p:spPr bwMode="auto">
          <a:xfrm>
            <a:off x="152400" y="46038"/>
            <a:ext cx="8912225" cy="6659562"/>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t>Crystal Field Theory</a:t>
            </a:r>
          </a:p>
        </p:txBody>
      </p:sp>
      <p:sp>
        <p:nvSpPr>
          <p:cNvPr id="15363" name="Rectangle 3"/>
          <p:cNvSpPr>
            <a:spLocks noGrp="1" noChangeArrowheads="1"/>
          </p:cNvSpPr>
          <p:nvPr>
            <p:ph type="body" idx="1"/>
          </p:nvPr>
        </p:nvSpPr>
        <p:spPr/>
        <p:txBody>
          <a:bodyPr>
            <a:normAutofit fontScale="92500" lnSpcReduction="10000"/>
          </a:bodyPr>
          <a:lstStyle/>
          <a:p>
            <a:r>
              <a:rPr lang="en-US"/>
              <a:t>Focus:	 </a:t>
            </a:r>
            <a:r>
              <a:rPr lang="en-US">
                <a:solidFill>
                  <a:srgbClr val="FAFD00"/>
                </a:solidFill>
              </a:rPr>
              <a:t>energies of the </a:t>
            </a:r>
            <a:r>
              <a:rPr lang="en-US" i="1">
                <a:solidFill>
                  <a:srgbClr val="FAFD00"/>
                </a:solidFill>
              </a:rPr>
              <a:t>d</a:t>
            </a:r>
            <a:r>
              <a:rPr lang="en-US">
                <a:solidFill>
                  <a:srgbClr val="FAFD00"/>
                </a:solidFill>
              </a:rPr>
              <a:t> orbitals</a:t>
            </a:r>
            <a:endParaRPr lang="en-US"/>
          </a:p>
          <a:p>
            <a:pPr>
              <a:spcBef>
                <a:spcPct val="100000"/>
              </a:spcBef>
            </a:pPr>
            <a:r>
              <a:rPr lang="en-US" u="sng"/>
              <a:t>Assumptions</a:t>
            </a:r>
            <a:endParaRPr lang="en-US"/>
          </a:p>
          <a:p>
            <a:pPr>
              <a:spcBef>
                <a:spcPct val="40000"/>
              </a:spcBef>
            </a:pPr>
            <a:r>
              <a:rPr lang="en-US">
                <a:solidFill>
                  <a:srgbClr val="99FF99"/>
                </a:solidFill>
              </a:rPr>
              <a:t>1.	Ligands:</a:t>
            </a:r>
            <a:r>
              <a:rPr lang="en-US"/>
              <a:t>				negative point charges</a:t>
            </a:r>
          </a:p>
          <a:p>
            <a:r>
              <a:rPr lang="en-US">
                <a:solidFill>
                  <a:srgbClr val="99FF99"/>
                </a:solidFill>
              </a:rPr>
              <a:t>2.	Metal-ligand bonding:</a:t>
            </a:r>
            <a:r>
              <a:rPr lang="en-US"/>
              <a:t>	entirely ionic</a:t>
            </a:r>
          </a:p>
          <a:p>
            <a:pPr>
              <a:spcBef>
                <a:spcPct val="100000"/>
              </a:spcBef>
            </a:pPr>
            <a:r>
              <a:rPr lang="en-US">
                <a:solidFill>
                  <a:srgbClr val="FFFF66"/>
                </a:solidFill>
              </a:rPr>
              <a:t>strong-field</a:t>
            </a:r>
            <a:r>
              <a:rPr lang="en-US"/>
              <a:t> (low-spin):  large splitting of </a:t>
            </a:r>
            <a:r>
              <a:rPr lang="en-US" i="1"/>
              <a:t>d</a:t>
            </a:r>
            <a:r>
              <a:rPr lang="en-US"/>
              <a:t> orbitals</a:t>
            </a:r>
          </a:p>
          <a:p>
            <a:r>
              <a:rPr lang="en-US">
                <a:solidFill>
                  <a:srgbClr val="FFFF66"/>
                </a:solidFill>
              </a:rPr>
              <a:t>weak-field</a:t>
            </a:r>
            <a:r>
              <a:rPr lang="en-US"/>
              <a:t> (high-spin):  small splitting of </a:t>
            </a:r>
            <a:r>
              <a:rPr lang="en-US" i="1"/>
              <a:t>d</a:t>
            </a:r>
            <a:r>
              <a:rPr lang="en-US"/>
              <a:t> orbitals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1074" name="Picture 2" descr="0758"/>
          <p:cNvPicPr>
            <a:picLocks noChangeAspect="1" noChangeArrowheads="1"/>
          </p:cNvPicPr>
          <p:nvPr/>
        </p:nvPicPr>
        <p:blipFill>
          <a:blip r:embed="rId2"/>
          <a:srcRect/>
          <a:stretch>
            <a:fillRect/>
          </a:stretch>
        </p:blipFill>
        <p:spPr bwMode="auto">
          <a:xfrm>
            <a:off x="231775" y="198438"/>
            <a:ext cx="8607425" cy="6430962"/>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0759"/>
          <p:cNvPicPr>
            <a:picLocks noChangeAspect="1" noChangeArrowheads="1"/>
          </p:cNvPicPr>
          <p:nvPr/>
        </p:nvPicPr>
        <p:blipFill>
          <a:blip r:embed="rId2"/>
          <a:srcRect/>
          <a:stretch>
            <a:fillRect/>
          </a:stretch>
        </p:blipFill>
        <p:spPr bwMode="auto">
          <a:xfrm>
            <a:off x="307975" y="160338"/>
            <a:ext cx="8455025" cy="6316662"/>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2" name="Picture 2"/>
          <p:cNvPicPr>
            <a:picLocks noChangeAspect="1" noChangeArrowheads="1"/>
          </p:cNvPicPr>
          <p:nvPr/>
        </p:nvPicPr>
        <p:blipFill>
          <a:blip r:embed="rId2"/>
          <a:srcRect/>
          <a:stretch>
            <a:fillRect/>
          </a:stretch>
        </p:blipFill>
        <p:spPr bwMode="auto">
          <a:xfrm>
            <a:off x="304800" y="228600"/>
            <a:ext cx="8534400" cy="6400800"/>
          </a:xfrm>
          <a:prstGeom prst="rect">
            <a:avLst/>
          </a:prstGeom>
          <a:noFill/>
        </p:spPr>
      </p:pic>
      <p:sp>
        <p:nvSpPr>
          <p:cNvPr id="133123" name="Text Box 3"/>
          <p:cNvSpPr txBox="1">
            <a:spLocks noChangeArrowheads="1"/>
          </p:cNvSpPr>
          <p:nvPr/>
        </p:nvSpPr>
        <p:spPr bwMode="auto">
          <a:xfrm>
            <a:off x="4343400" y="3581400"/>
            <a:ext cx="4495800" cy="579438"/>
          </a:xfrm>
          <a:prstGeom prst="rect">
            <a:avLst/>
          </a:prstGeom>
          <a:noFill/>
          <a:ln w="9525">
            <a:noFill/>
            <a:miter lim="800000"/>
            <a:headEnd/>
            <a:tailEnd/>
          </a:ln>
          <a:effectLst/>
        </p:spPr>
        <p:txBody>
          <a:bodyPr>
            <a:spAutoFit/>
          </a:bodyPr>
          <a:lstStyle/>
          <a:p>
            <a:pPr>
              <a:spcBef>
                <a:spcPct val="50000"/>
              </a:spcBef>
            </a:pPr>
            <a:r>
              <a:rPr lang="en-US" sz="3200" b="1">
                <a:solidFill>
                  <a:srgbClr val="FF0000"/>
                </a:solidFill>
                <a:latin typeface="Symbol" pitchFamily="18" charset="2"/>
              </a:rPr>
              <a:t>D</a:t>
            </a:r>
            <a:r>
              <a:rPr lang="en-US" sz="3200" b="1">
                <a:solidFill>
                  <a:srgbClr val="FF0000"/>
                </a:solidFill>
              </a:rPr>
              <a:t> = crystal field splitting</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4146" name="Picture 2" descr="0760"/>
          <p:cNvPicPr>
            <a:picLocks noChangeAspect="1" noChangeArrowheads="1"/>
          </p:cNvPicPr>
          <p:nvPr/>
        </p:nvPicPr>
        <p:blipFill>
          <a:blip r:embed="rId2"/>
          <a:srcRect/>
          <a:stretch>
            <a:fillRect/>
          </a:stretch>
        </p:blipFill>
        <p:spPr bwMode="auto">
          <a:xfrm>
            <a:off x="612775" y="76200"/>
            <a:ext cx="8074025" cy="6032500"/>
          </a:xfrm>
          <a:prstGeom prst="rect">
            <a:avLst/>
          </a:prstGeom>
          <a:noFill/>
        </p:spPr>
      </p:pic>
      <p:sp>
        <p:nvSpPr>
          <p:cNvPr id="134147" name="Text Box 3"/>
          <p:cNvSpPr txBox="1">
            <a:spLocks noChangeArrowheads="1"/>
          </p:cNvSpPr>
          <p:nvPr/>
        </p:nvSpPr>
        <p:spPr bwMode="auto">
          <a:xfrm>
            <a:off x="1600200" y="6049963"/>
            <a:ext cx="2743200" cy="579437"/>
          </a:xfrm>
          <a:prstGeom prst="rect">
            <a:avLst/>
          </a:prstGeom>
          <a:noFill/>
          <a:ln w="9525">
            <a:noFill/>
            <a:miter lim="800000"/>
            <a:headEnd/>
            <a:tailEnd/>
          </a:ln>
          <a:effectLst/>
        </p:spPr>
        <p:txBody>
          <a:bodyPr>
            <a:spAutoFit/>
          </a:bodyPr>
          <a:lstStyle/>
          <a:p>
            <a:pPr algn="ctr">
              <a:spcBef>
                <a:spcPct val="50000"/>
              </a:spcBef>
            </a:pPr>
            <a:r>
              <a:rPr lang="en-US" sz="3200" b="1">
                <a:solidFill>
                  <a:srgbClr val="99FF99"/>
                </a:solidFill>
              </a:rPr>
              <a:t>High spin</a:t>
            </a:r>
          </a:p>
        </p:txBody>
      </p:sp>
      <p:sp>
        <p:nvSpPr>
          <p:cNvPr id="134148" name="Text Box 4"/>
          <p:cNvSpPr txBox="1">
            <a:spLocks noChangeArrowheads="1"/>
          </p:cNvSpPr>
          <p:nvPr/>
        </p:nvSpPr>
        <p:spPr bwMode="auto">
          <a:xfrm>
            <a:off x="5410200" y="6049963"/>
            <a:ext cx="2743200" cy="579437"/>
          </a:xfrm>
          <a:prstGeom prst="rect">
            <a:avLst/>
          </a:prstGeom>
          <a:noFill/>
          <a:ln w="9525">
            <a:noFill/>
            <a:miter lim="800000"/>
            <a:headEnd/>
            <a:tailEnd/>
          </a:ln>
          <a:effectLst/>
        </p:spPr>
        <p:txBody>
          <a:bodyPr>
            <a:spAutoFit/>
          </a:bodyPr>
          <a:lstStyle/>
          <a:p>
            <a:pPr algn="ctr">
              <a:spcBef>
                <a:spcPct val="50000"/>
              </a:spcBef>
            </a:pPr>
            <a:r>
              <a:rPr lang="en-US" sz="3200" b="1">
                <a:solidFill>
                  <a:srgbClr val="99FF99"/>
                </a:solidFill>
              </a:rPr>
              <a:t>Low spin</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9" name="Text Box 151"/>
          <p:cNvSpPr txBox="1">
            <a:spLocks noChangeArrowheads="1"/>
          </p:cNvSpPr>
          <p:nvPr/>
        </p:nvSpPr>
        <p:spPr bwMode="auto">
          <a:xfrm>
            <a:off x="2586038" y="274638"/>
            <a:ext cx="3890962" cy="457200"/>
          </a:xfrm>
          <a:prstGeom prst="rect">
            <a:avLst/>
          </a:prstGeom>
          <a:noFill/>
          <a:ln w="9525">
            <a:noFill/>
            <a:miter lim="800000"/>
            <a:headEnd/>
            <a:tailEnd/>
          </a:ln>
          <a:effectLst/>
        </p:spPr>
        <p:txBody>
          <a:bodyPr wrap="none">
            <a:spAutoFit/>
          </a:bodyPr>
          <a:lstStyle/>
          <a:p>
            <a:r>
              <a:rPr lang="en-US" i="1">
                <a:solidFill>
                  <a:schemeClr val="accent2"/>
                </a:solidFill>
              </a:rPr>
              <a:t>Placing electrons in d orbitals</a:t>
            </a:r>
          </a:p>
        </p:txBody>
      </p:sp>
      <p:grpSp>
        <p:nvGrpSpPr>
          <p:cNvPr id="2" name="Group 153"/>
          <p:cNvGrpSpPr>
            <a:grpSpLocks/>
          </p:cNvGrpSpPr>
          <p:nvPr/>
        </p:nvGrpSpPr>
        <p:grpSpPr bwMode="auto">
          <a:xfrm>
            <a:off x="304800" y="1066800"/>
            <a:ext cx="2667000" cy="2362200"/>
            <a:chOff x="192" y="672"/>
            <a:chExt cx="1680" cy="1488"/>
          </a:xfrm>
        </p:grpSpPr>
        <p:grpSp>
          <p:nvGrpSpPr>
            <p:cNvPr id="3" name="Group 145"/>
            <p:cNvGrpSpPr>
              <a:grpSpLocks/>
            </p:cNvGrpSpPr>
            <p:nvPr/>
          </p:nvGrpSpPr>
          <p:grpSpPr bwMode="auto">
            <a:xfrm>
              <a:off x="192" y="672"/>
              <a:ext cx="1680" cy="1488"/>
              <a:chOff x="192" y="672"/>
              <a:chExt cx="1680" cy="1488"/>
            </a:xfrm>
          </p:grpSpPr>
          <p:sp>
            <p:nvSpPr>
              <p:cNvPr id="7175" name="Line 7"/>
              <p:cNvSpPr>
                <a:spLocks noChangeShapeType="1"/>
              </p:cNvSpPr>
              <p:nvPr/>
            </p:nvSpPr>
            <p:spPr bwMode="auto">
              <a:xfrm>
                <a:off x="384"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6" name="Line 8"/>
              <p:cNvSpPr>
                <a:spLocks noChangeShapeType="1"/>
              </p:cNvSpPr>
              <p:nvPr/>
            </p:nvSpPr>
            <p:spPr bwMode="auto">
              <a:xfrm>
                <a:off x="624"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7" name="Line 9"/>
              <p:cNvSpPr>
                <a:spLocks noChangeShapeType="1"/>
              </p:cNvSpPr>
              <p:nvPr/>
            </p:nvSpPr>
            <p:spPr bwMode="auto">
              <a:xfrm flipV="1">
                <a:off x="33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8" name="Line 10"/>
              <p:cNvSpPr>
                <a:spLocks noChangeShapeType="1"/>
              </p:cNvSpPr>
              <p:nvPr/>
            </p:nvSpPr>
            <p:spPr bwMode="auto">
              <a:xfrm flipV="1">
                <a:off x="57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79" name="Line 11"/>
              <p:cNvSpPr>
                <a:spLocks noChangeShapeType="1"/>
              </p:cNvSpPr>
              <p:nvPr/>
            </p:nvSpPr>
            <p:spPr bwMode="auto">
              <a:xfrm flipV="1">
                <a:off x="81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0" name="Line 12"/>
              <p:cNvSpPr>
                <a:spLocks noChangeShapeType="1"/>
              </p:cNvSpPr>
              <p:nvPr/>
            </p:nvSpPr>
            <p:spPr bwMode="auto">
              <a:xfrm flipV="1">
                <a:off x="1200"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1" name="Line 13"/>
              <p:cNvSpPr>
                <a:spLocks noChangeShapeType="1"/>
              </p:cNvSpPr>
              <p:nvPr/>
            </p:nvSpPr>
            <p:spPr bwMode="auto">
              <a:xfrm flipV="1">
                <a:off x="1440"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2" name="Line 14"/>
              <p:cNvSpPr>
                <a:spLocks noChangeShapeType="1"/>
              </p:cNvSpPr>
              <p:nvPr/>
            </p:nvSpPr>
            <p:spPr bwMode="auto">
              <a:xfrm flipV="1">
                <a:off x="1680"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3" name="Line 15"/>
              <p:cNvSpPr>
                <a:spLocks noChangeShapeType="1"/>
              </p:cNvSpPr>
              <p:nvPr/>
            </p:nvSpPr>
            <p:spPr bwMode="auto">
              <a:xfrm flipV="1">
                <a:off x="1248"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4" name="Line 16"/>
              <p:cNvSpPr>
                <a:spLocks noChangeShapeType="1"/>
              </p:cNvSpPr>
              <p:nvPr/>
            </p:nvSpPr>
            <p:spPr bwMode="auto">
              <a:xfrm flipV="1">
                <a:off x="1584"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70" name="Text Box 102"/>
              <p:cNvSpPr txBox="1">
                <a:spLocks noChangeArrowheads="1"/>
              </p:cNvSpPr>
              <p:nvPr/>
            </p:nvSpPr>
            <p:spPr bwMode="auto">
              <a:xfrm>
                <a:off x="384" y="1910"/>
                <a:ext cx="467" cy="250"/>
              </a:xfrm>
              <a:prstGeom prst="rect">
                <a:avLst/>
              </a:prstGeom>
              <a:noFill/>
              <a:ln w="9525">
                <a:noFill/>
                <a:miter lim="800000"/>
                <a:headEnd/>
                <a:tailEnd/>
              </a:ln>
              <a:effectLst/>
            </p:spPr>
            <p:txBody>
              <a:bodyPr wrap="none">
                <a:spAutoFit/>
              </a:bodyPr>
              <a:lstStyle/>
              <a:p>
                <a:r>
                  <a:rPr lang="en-US" sz="2000"/>
                  <a:t>1 u.e.</a:t>
                </a:r>
              </a:p>
            </p:txBody>
          </p:sp>
          <p:grpSp>
            <p:nvGrpSpPr>
              <p:cNvPr id="4" name="Group 106"/>
              <p:cNvGrpSpPr>
                <a:grpSpLocks/>
              </p:cNvGrpSpPr>
              <p:nvPr/>
            </p:nvGrpSpPr>
            <p:grpSpPr bwMode="auto">
              <a:xfrm>
                <a:off x="192" y="720"/>
                <a:ext cx="1680" cy="1200"/>
                <a:chOff x="240" y="720"/>
                <a:chExt cx="1680" cy="1200"/>
              </a:xfrm>
            </p:grpSpPr>
            <p:pic>
              <p:nvPicPr>
                <p:cNvPr id="7275" name="Picture 107"/>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76" name="Rectangle 108"/>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80" name="Rectangle 112"/>
              <p:cNvSpPr>
                <a:spLocks noChangeArrowheads="1"/>
              </p:cNvSpPr>
              <p:nvPr/>
            </p:nvSpPr>
            <p:spPr bwMode="auto">
              <a:xfrm>
                <a:off x="192" y="672"/>
                <a:ext cx="1680" cy="1488"/>
              </a:xfrm>
              <a:prstGeom prst="rect">
                <a:avLst/>
              </a:prstGeom>
              <a:noFill/>
              <a:ln w="38100">
                <a:solidFill>
                  <a:schemeClr val="hlink"/>
                </a:solidFill>
                <a:miter lim="800000"/>
                <a:headEnd/>
                <a:tailEnd/>
              </a:ln>
              <a:effectLst/>
            </p:spPr>
            <p:txBody>
              <a:bodyPr wrap="none" anchor="ctr"/>
              <a:lstStyle/>
              <a:p>
                <a:endParaRPr lang="en-US"/>
              </a:p>
            </p:txBody>
          </p:sp>
          <p:sp>
            <p:nvSpPr>
              <p:cNvPr id="7292" name="Text Box 124"/>
              <p:cNvSpPr txBox="1">
                <a:spLocks noChangeArrowheads="1"/>
              </p:cNvSpPr>
              <p:nvPr/>
            </p:nvSpPr>
            <p:spPr bwMode="auto">
              <a:xfrm>
                <a:off x="1213" y="1910"/>
                <a:ext cx="467" cy="250"/>
              </a:xfrm>
              <a:prstGeom prst="rect">
                <a:avLst/>
              </a:prstGeom>
              <a:noFill/>
              <a:ln w="9525">
                <a:noFill/>
                <a:miter lim="800000"/>
                <a:headEnd/>
                <a:tailEnd/>
              </a:ln>
              <a:effectLst/>
            </p:spPr>
            <p:txBody>
              <a:bodyPr wrap="none">
                <a:spAutoFit/>
              </a:bodyPr>
              <a:lstStyle/>
              <a:p>
                <a:r>
                  <a:rPr lang="en-US" sz="2000"/>
                  <a:t>5 u.e.</a:t>
                </a:r>
              </a:p>
            </p:txBody>
          </p:sp>
        </p:grpSp>
        <p:sp>
          <p:nvSpPr>
            <p:cNvPr id="7320" name="Text Box 152"/>
            <p:cNvSpPr txBox="1">
              <a:spLocks noChangeArrowheads="1"/>
            </p:cNvSpPr>
            <p:nvPr/>
          </p:nvSpPr>
          <p:spPr bwMode="auto">
            <a:xfrm>
              <a:off x="1584" y="672"/>
              <a:ext cx="276" cy="288"/>
            </a:xfrm>
            <a:prstGeom prst="rect">
              <a:avLst/>
            </a:prstGeom>
            <a:noFill/>
            <a:ln w="9525">
              <a:noFill/>
              <a:miter lim="800000"/>
              <a:headEnd/>
              <a:tailEnd/>
            </a:ln>
            <a:effectLst/>
          </p:spPr>
          <p:txBody>
            <a:bodyPr wrap="none">
              <a:spAutoFit/>
            </a:bodyPr>
            <a:lstStyle/>
            <a:p>
              <a:r>
                <a:rPr lang="en-US" i="1"/>
                <a:t>d</a:t>
              </a:r>
              <a:r>
                <a:rPr lang="en-US" i="1" baseline="30000"/>
                <a:t>5</a:t>
              </a:r>
              <a:endParaRPr lang="en-US" i="1"/>
            </a:p>
          </p:txBody>
        </p:sp>
      </p:grpSp>
      <p:grpSp>
        <p:nvGrpSpPr>
          <p:cNvPr id="5" name="Group 155"/>
          <p:cNvGrpSpPr>
            <a:grpSpLocks/>
          </p:cNvGrpSpPr>
          <p:nvPr/>
        </p:nvGrpSpPr>
        <p:grpSpPr bwMode="auto">
          <a:xfrm>
            <a:off x="3276600" y="1066800"/>
            <a:ext cx="2667000" cy="2378075"/>
            <a:chOff x="2064" y="672"/>
            <a:chExt cx="1680" cy="1498"/>
          </a:xfrm>
        </p:grpSpPr>
        <p:grpSp>
          <p:nvGrpSpPr>
            <p:cNvPr id="6" name="Group 146"/>
            <p:cNvGrpSpPr>
              <a:grpSpLocks/>
            </p:cNvGrpSpPr>
            <p:nvPr/>
          </p:nvGrpSpPr>
          <p:grpSpPr bwMode="auto">
            <a:xfrm>
              <a:off x="2064" y="672"/>
              <a:ext cx="1680" cy="1498"/>
              <a:chOff x="2064" y="672"/>
              <a:chExt cx="1680" cy="1498"/>
            </a:xfrm>
          </p:grpSpPr>
          <p:sp>
            <p:nvSpPr>
              <p:cNvPr id="7188" name="Line 20"/>
              <p:cNvSpPr>
                <a:spLocks noChangeShapeType="1"/>
              </p:cNvSpPr>
              <p:nvPr/>
            </p:nvSpPr>
            <p:spPr bwMode="auto">
              <a:xfrm>
                <a:off x="225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89" name="Line 21"/>
              <p:cNvSpPr>
                <a:spLocks noChangeShapeType="1"/>
              </p:cNvSpPr>
              <p:nvPr/>
            </p:nvSpPr>
            <p:spPr bwMode="auto">
              <a:xfrm>
                <a:off x="2496"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0" name="Line 22"/>
              <p:cNvSpPr>
                <a:spLocks noChangeShapeType="1"/>
              </p:cNvSpPr>
              <p:nvPr/>
            </p:nvSpPr>
            <p:spPr bwMode="auto">
              <a:xfrm flipV="1">
                <a:off x="2208"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1" name="Line 23"/>
              <p:cNvSpPr>
                <a:spLocks noChangeShapeType="1"/>
              </p:cNvSpPr>
              <p:nvPr/>
            </p:nvSpPr>
            <p:spPr bwMode="auto">
              <a:xfrm flipV="1">
                <a:off x="2448"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2" name="Line 24"/>
              <p:cNvSpPr>
                <a:spLocks noChangeShapeType="1"/>
              </p:cNvSpPr>
              <p:nvPr/>
            </p:nvSpPr>
            <p:spPr bwMode="auto">
              <a:xfrm flipV="1">
                <a:off x="2688"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3" name="Line 25"/>
              <p:cNvSpPr>
                <a:spLocks noChangeShapeType="1"/>
              </p:cNvSpPr>
              <p:nvPr/>
            </p:nvSpPr>
            <p:spPr bwMode="auto">
              <a:xfrm flipV="1">
                <a:off x="3072"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4" name="Line 26"/>
              <p:cNvSpPr>
                <a:spLocks noChangeShapeType="1"/>
              </p:cNvSpPr>
              <p:nvPr/>
            </p:nvSpPr>
            <p:spPr bwMode="auto">
              <a:xfrm flipV="1">
                <a:off x="3312"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5" name="Line 27"/>
              <p:cNvSpPr>
                <a:spLocks noChangeShapeType="1"/>
              </p:cNvSpPr>
              <p:nvPr/>
            </p:nvSpPr>
            <p:spPr bwMode="auto">
              <a:xfrm flipV="1">
                <a:off x="3552"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6" name="Line 28"/>
              <p:cNvSpPr>
                <a:spLocks noChangeShapeType="1"/>
              </p:cNvSpPr>
              <p:nvPr/>
            </p:nvSpPr>
            <p:spPr bwMode="auto">
              <a:xfrm flipV="1">
                <a:off x="3120"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197" name="Line 29"/>
              <p:cNvSpPr>
                <a:spLocks noChangeShapeType="1"/>
              </p:cNvSpPr>
              <p:nvPr/>
            </p:nvSpPr>
            <p:spPr bwMode="auto">
              <a:xfrm flipV="1">
                <a:off x="3456"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1" name="Line 43"/>
              <p:cNvSpPr>
                <a:spLocks noChangeShapeType="1"/>
              </p:cNvSpPr>
              <p:nvPr/>
            </p:nvSpPr>
            <p:spPr bwMode="auto">
              <a:xfrm>
                <a:off x="2640"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2" name="Line 44"/>
              <p:cNvSpPr>
                <a:spLocks noChangeShapeType="1"/>
              </p:cNvSpPr>
              <p:nvPr/>
            </p:nvSpPr>
            <p:spPr bwMode="auto">
              <a:xfrm>
                <a:off x="3024" y="1344"/>
                <a:ext cx="0" cy="240"/>
              </a:xfrm>
              <a:prstGeom prst="line">
                <a:avLst/>
              </a:prstGeom>
              <a:noFill/>
              <a:ln w="9525">
                <a:solidFill>
                  <a:schemeClr val="tx1"/>
                </a:solidFill>
                <a:round/>
                <a:headEnd/>
                <a:tailEnd type="triangle" w="med" len="med"/>
              </a:ln>
              <a:effectLst/>
            </p:spPr>
            <p:txBody>
              <a:bodyPr wrap="none" anchor="ctr"/>
              <a:lstStyle/>
              <a:p>
                <a:endParaRPr lang="en-US"/>
              </a:p>
            </p:txBody>
          </p:sp>
          <p:grpSp>
            <p:nvGrpSpPr>
              <p:cNvPr id="7" name="Group 109"/>
              <p:cNvGrpSpPr>
                <a:grpSpLocks/>
              </p:cNvGrpSpPr>
              <p:nvPr/>
            </p:nvGrpSpPr>
            <p:grpSpPr bwMode="auto">
              <a:xfrm>
                <a:off x="2064" y="720"/>
                <a:ext cx="1680" cy="1200"/>
                <a:chOff x="240" y="720"/>
                <a:chExt cx="1680" cy="1200"/>
              </a:xfrm>
            </p:grpSpPr>
            <p:pic>
              <p:nvPicPr>
                <p:cNvPr id="7278" name="Picture 110"/>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79" name="Rectangle 111"/>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81" name="Rectangle 113"/>
              <p:cNvSpPr>
                <a:spLocks noChangeArrowheads="1"/>
              </p:cNvSpPr>
              <p:nvPr/>
            </p:nvSpPr>
            <p:spPr bwMode="auto">
              <a:xfrm>
                <a:off x="2064" y="672"/>
                <a:ext cx="1680" cy="1488"/>
              </a:xfrm>
              <a:prstGeom prst="rect">
                <a:avLst/>
              </a:prstGeom>
              <a:noFill/>
              <a:ln w="38100">
                <a:solidFill>
                  <a:schemeClr val="hlink"/>
                </a:solidFill>
                <a:miter lim="800000"/>
                <a:headEnd/>
                <a:tailEnd/>
              </a:ln>
              <a:effectLst/>
            </p:spPr>
            <p:txBody>
              <a:bodyPr wrap="none" anchor="ctr"/>
              <a:lstStyle/>
              <a:p>
                <a:endParaRPr lang="en-US"/>
              </a:p>
            </p:txBody>
          </p:sp>
          <p:sp>
            <p:nvSpPr>
              <p:cNvPr id="7293" name="Text Box 125"/>
              <p:cNvSpPr txBox="1">
                <a:spLocks noChangeArrowheads="1"/>
              </p:cNvSpPr>
              <p:nvPr/>
            </p:nvSpPr>
            <p:spPr bwMode="auto">
              <a:xfrm>
                <a:off x="2221" y="1920"/>
                <a:ext cx="467" cy="250"/>
              </a:xfrm>
              <a:prstGeom prst="rect">
                <a:avLst/>
              </a:prstGeom>
              <a:noFill/>
              <a:ln w="9525">
                <a:noFill/>
                <a:miter lim="800000"/>
                <a:headEnd/>
                <a:tailEnd/>
              </a:ln>
              <a:effectLst/>
            </p:spPr>
            <p:txBody>
              <a:bodyPr wrap="none">
                <a:spAutoFit/>
              </a:bodyPr>
              <a:lstStyle/>
              <a:p>
                <a:r>
                  <a:rPr lang="en-US" sz="2000"/>
                  <a:t>0 u.e.</a:t>
                </a:r>
              </a:p>
            </p:txBody>
          </p:sp>
          <p:sp>
            <p:nvSpPr>
              <p:cNvPr id="7294" name="Text Box 126"/>
              <p:cNvSpPr txBox="1">
                <a:spLocks noChangeArrowheads="1"/>
              </p:cNvSpPr>
              <p:nvPr/>
            </p:nvSpPr>
            <p:spPr bwMode="auto">
              <a:xfrm>
                <a:off x="3072" y="1920"/>
                <a:ext cx="467" cy="250"/>
              </a:xfrm>
              <a:prstGeom prst="rect">
                <a:avLst/>
              </a:prstGeom>
              <a:noFill/>
              <a:ln w="9525">
                <a:noFill/>
                <a:miter lim="800000"/>
                <a:headEnd/>
                <a:tailEnd/>
              </a:ln>
              <a:effectLst/>
            </p:spPr>
            <p:txBody>
              <a:bodyPr wrap="none">
                <a:spAutoFit/>
              </a:bodyPr>
              <a:lstStyle/>
              <a:p>
                <a:r>
                  <a:rPr lang="en-US" sz="2000"/>
                  <a:t>4 u.e.</a:t>
                </a:r>
              </a:p>
            </p:txBody>
          </p:sp>
        </p:grpSp>
        <p:sp>
          <p:nvSpPr>
            <p:cNvPr id="7322" name="Text Box 154"/>
            <p:cNvSpPr txBox="1">
              <a:spLocks noChangeArrowheads="1"/>
            </p:cNvSpPr>
            <p:nvPr/>
          </p:nvSpPr>
          <p:spPr bwMode="auto">
            <a:xfrm>
              <a:off x="3456" y="672"/>
              <a:ext cx="276" cy="288"/>
            </a:xfrm>
            <a:prstGeom prst="rect">
              <a:avLst/>
            </a:prstGeom>
            <a:noFill/>
            <a:ln w="9525">
              <a:noFill/>
              <a:miter lim="800000"/>
              <a:headEnd/>
              <a:tailEnd/>
            </a:ln>
            <a:effectLst/>
          </p:spPr>
          <p:txBody>
            <a:bodyPr wrap="none">
              <a:spAutoFit/>
            </a:bodyPr>
            <a:lstStyle/>
            <a:p>
              <a:r>
                <a:rPr lang="en-US" i="1"/>
                <a:t>d</a:t>
              </a:r>
              <a:r>
                <a:rPr lang="en-US" i="1" baseline="30000"/>
                <a:t>6</a:t>
              </a:r>
              <a:endParaRPr lang="en-US" i="1"/>
            </a:p>
          </p:txBody>
        </p:sp>
      </p:grpSp>
      <p:grpSp>
        <p:nvGrpSpPr>
          <p:cNvPr id="8" name="Group 157"/>
          <p:cNvGrpSpPr>
            <a:grpSpLocks/>
          </p:cNvGrpSpPr>
          <p:nvPr/>
        </p:nvGrpSpPr>
        <p:grpSpPr bwMode="auto">
          <a:xfrm>
            <a:off x="6172200" y="1066800"/>
            <a:ext cx="2743200" cy="2378075"/>
            <a:chOff x="3888" y="672"/>
            <a:chExt cx="1728" cy="1498"/>
          </a:xfrm>
        </p:grpSpPr>
        <p:grpSp>
          <p:nvGrpSpPr>
            <p:cNvPr id="9" name="Group 147"/>
            <p:cNvGrpSpPr>
              <a:grpSpLocks/>
            </p:cNvGrpSpPr>
            <p:nvPr/>
          </p:nvGrpSpPr>
          <p:grpSpPr bwMode="auto">
            <a:xfrm>
              <a:off x="3888" y="672"/>
              <a:ext cx="1728" cy="1498"/>
              <a:chOff x="3888" y="672"/>
              <a:chExt cx="1728" cy="1498"/>
            </a:xfrm>
          </p:grpSpPr>
          <p:sp>
            <p:nvSpPr>
              <p:cNvPr id="7201" name="Line 33"/>
              <p:cNvSpPr>
                <a:spLocks noChangeShapeType="1"/>
              </p:cNvSpPr>
              <p:nvPr/>
            </p:nvSpPr>
            <p:spPr bwMode="auto">
              <a:xfrm>
                <a:off x="4080"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2" name="Line 34"/>
              <p:cNvSpPr>
                <a:spLocks noChangeShapeType="1"/>
              </p:cNvSpPr>
              <p:nvPr/>
            </p:nvSpPr>
            <p:spPr bwMode="auto">
              <a:xfrm>
                <a:off x="4320"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3" name="Line 35"/>
              <p:cNvSpPr>
                <a:spLocks noChangeShapeType="1"/>
              </p:cNvSpPr>
              <p:nvPr/>
            </p:nvSpPr>
            <p:spPr bwMode="auto">
              <a:xfrm flipV="1">
                <a:off x="4032"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4" name="Line 36"/>
              <p:cNvSpPr>
                <a:spLocks noChangeShapeType="1"/>
              </p:cNvSpPr>
              <p:nvPr/>
            </p:nvSpPr>
            <p:spPr bwMode="auto">
              <a:xfrm flipV="1">
                <a:off x="4272"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5" name="Line 37"/>
              <p:cNvSpPr>
                <a:spLocks noChangeShapeType="1"/>
              </p:cNvSpPr>
              <p:nvPr/>
            </p:nvSpPr>
            <p:spPr bwMode="auto">
              <a:xfrm flipV="1">
                <a:off x="4512"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6" name="Line 38"/>
              <p:cNvSpPr>
                <a:spLocks noChangeShapeType="1"/>
              </p:cNvSpPr>
              <p:nvPr/>
            </p:nvSpPr>
            <p:spPr bwMode="auto">
              <a:xfrm flipV="1">
                <a:off x="4896"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7" name="Line 39"/>
              <p:cNvSpPr>
                <a:spLocks noChangeShapeType="1"/>
              </p:cNvSpPr>
              <p:nvPr/>
            </p:nvSpPr>
            <p:spPr bwMode="auto">
              <a:xfrm flipV="1">
                <a:off x="5184"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8" name="Line 40"/>
              <p:cNvSpPr>
                <a:spLocks noChangeShapeType="1"/>
              </p:cNvSpPr>
              <p:nvPr/>
            </p:nvSpPr>
            <p:spPr bwMode="auto">
              <a:xfrm flipV="1">
                <a:off x="5376"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09" name="Line 41"/>
              <p:cNvSpPr>
                <a:spLocks noChangeShapeType="1"/>
              </p:cNvSpPr>
              <p:nvPr/>
            </p:nvSpPr>
            <p:spPr bwMode="auto">
              <a:xfrm flipV="1">
                <a:off x="4944"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0" name="Line 42"/>
              <p:cNvSpPr>
                <a:spLocks noChangeShapeType="1"/>
              </p:cNvSpPr>
              <p:nvPr/>
            </p:nvSpPr>
            <p:spPr bwMode="auto">
              <a:xfrm flipV="1">
                <a:off x="5280" y="100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3" name="Line 45"/>
              <p:cNvSpPr>
                <a:spLocks noChangeShapeType="1"/>
              </p:cNvSpPr>
              <p:nvPr/>
            </p:nvSpPr>
            <p:spPr bwMode="auto">
              <a:xfrm>
                <a:off x="4464" y="163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4" name="Line 46"/>
              <p:cNvSpPr>
                <a:spLocks noChangeShapeType="1"/>
              </p:cNvSpPr>
              <p:nvPr/>
            </p:nvSpPr>
            <p:spPr bwMode="auto">
              <a:xfrm>
                <a:off x="4848"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5" name="Line 47"/>
              <p:cNvSpPr>
                <a:spLocks noChangeShapeType="1"/>
              </p:cNvSpPr>
              <p:nvPr/>
            </p:nvSpPr>
            <p:spPr bwMode="auto">
              <a:xfrm>
                <a:off x="5136" y="13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16" name="Line 48"/>
              <p:cNvSpPr>
                <a:spLocks noChangeShapeType="1"/>
              </p:cNvSpPr>
              <p:nvPr/>
            </p:nvSpPr>
            <p:spPr bwMode="auto">
              <a:xfrm flipV="1">
                <a:off x="4080" y="768"/>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82" name="Rectangle 114"/>
              <p:cNvSpPr>
                <a:spLocks noChangeArrowheads="1"/>
              </p:cNvSpPr>
              <p:nvPr/>
            </p:nvSpPr>
            <p:spPr bwMode="auto">
              <a:xfrm>
                <a:off x="3936" y="672"/>
                <a:ext cx="1680" cy="1488"/>
              </a:xfrm>
              <a:prstGeom prst="rect">
                <a:avLst/>
              </a:prstGeom>
              <a:noFill/>
              <a:ln w="38100">
                <a:solidFill>
                  <a:schemeClr val="hlink"/>
                </a:solidFill>
                <a:miter lim="800000"/>
                <a:headEnd/>
                <a:tailEnd/>
              </a:ln>
              <a:effectLst/>
            </p:spPr>
            <p:txBody>
              <a:bodyPr wrap="none" anchor="ctr"/>
              <a:lstStyle/>
              <a:p>
                <a:endParaRPr lang="en-US"/>
              </a:p>
            </p:txBody>
          </p:sp>
          <p:grpSp>
            <p:nvGrpSpPr>
              <p:cNvPr id="10" name="Group 115"/>
              <p:cNvGrpSpPr>
                <a:grpSpLocks/>
              </p:cNvGrpSpPr>
              <p:nvPr/>
            </p:nvGrpSpPr>
            <p:grpSpPr bwMode="auto">
              <a:xfrm>
                <a:off x="3888" y="720"/>
                <a:ext cx="1680" cy="1200"/>
                <a:chOff x="240" y="720"/>
                <a:chExt cx="1680" cy="1200"/>
              </a:xfrm>
            </p:grpSpPr>
            <p:pic>
              <p:nvPicPr>
                <p:cNvPr id="7284" name="Picture 116"/>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85" name="Rectangle 117"/>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95" name="Text Box 127"/>
              <p:cNvSpPr txBox="1">
                <a:spLocks noChangeArrowheads="1"/>
              </p:cNvSpPr>
              <p:nvPr/>
            </p:nvSpPr>
            <p:spPr bwMode="auto">
              <a:xfrm>
                <a:off x="4032" y="1920"/>
                <a:ext cx="467" cy="250"/>
              </a:xfrm>
              <a:prstGeom prst="rect">
                <a:avLst/>
              </a:prstGeom>
              <a:noFill/>
              <a:ln w="9525">
                <a:noFill/>
                <a:miter lim="800000"/>
                <a:headEnd/>
                <a:tailEnd/>
              </a:ln>
              <a:effectLst/>
            </p:spPr>
            <p:txBody>
              <a:bodyPr wrap="none">
                <a:spAutoFit/>
              </a:bodyPr>
              <a:lstStyle/>
              <a:p>
                <a:r>
                  <a:rPr lang="en-US" sz="2000"/>
                  <a:t>1 u.e.</a:t>
                </a:r>
              </a:p>
            </p:txBody>
          </p:sp>
          <p:sp>
            <p:nvSpPr>
              <p:cNvPr id="7296" name="Text Box 128"/>
              <p:cNvSpPr txBox="1">
                <a:spLocks noChangeArrowheads="1"/>
              </p:cNvSpPr>
              <p:nvPr/>
            </p:nvSpPr>
            <p:spPr bwMode="auto">
              <a:xfrm>
                <a:off x="4944" y="1920"/>
                <a:ext cx="467" cy="250"/>
              </a:xfrm>
              <a:prstGeom prst="rect">
                <a:avLst/>
              </a:prstGeom>
              <a:noFill/>
              <a:ln w="9525">
                <a:noFill/>
                <a:miter lim="800000"/>
                <a:headEnd/>
                <a:tailEnd/>
              </a:ln>
              <a:effectLst/>
            </p:spPr>
            <p:txBody>
              <a:bodyPr wrap="none">
                <a:spAutoFit/>
              </a:bodyPr>
              <a:lstStyle/>
              <a:p>
                <a:r>
                  <a:rPr lang="en-US" sz="2000"/>
                  <a:t>3 u.e.</a:t>
                </a:r>
              </a:p>
            </p:txBody>
          </p:sp>
        </p:grpSp>
        <p:sp>
          <p:nvSpPr>
            <p:cNvPr id="7324" name="Text Box 156"/>
            <p:cNvSpPr txBox="1">
              <a:spLocks noChangeArrowheads="1"/>
            </p:cNvSpPr>
            <p:nvPr/>
          </p:nvSpPr>
          <p:spPr bwMode="auto">
            <a:xfrm>
              <a:off x="5328" y="672"/>
              <a:ext cx="276" cy="288"/>
            </a:xfrm>
            <a:prstGeom prst="rect">
              <a:avLst/>
            </a:prstGeom>
            <a:noFill/>
            <a:ln w="9525">
              <a:noFill/>
              <a:miter lim="800000"/>
              <a:headEnd/>
              <a:tailEnd/>
            </a:ln>
            <a:effectLst/>
          </p:spPr>
          <p:txBody>
            <a:bodyPr wrap="none">
              <a:spAutoFit/>
            </a:bodyPr>
            <a:lstStyle/>
            <a:p>
              <a:r>
                <a:rPr lang="en-US" i="1"/>
                <a:t>d</a:t>
              </a:r>
              <a:r>
                <a:rPr lang="en-US" i="1" baseline="30000"/>
                <a:t>7</a:t>
              </a:r>
              <a:endParaRPr lang="en-US" i="1"/>
            </a:p>
          </p:txBody>
        </p:sp>
      </p:grpSp>
      <p:grpSp>
        <p:nvGrpSpPr>
          <p:cNvPr id="11" name="Group 159"/>
          <p:cNvGrpSpPr>
            <a:grpSpLocks/>
          </p:cNvGrpSpPr>
          <p:nvPr/>
        </p:nvGrpSpPr>
        <p:grpSpPr bwMode="auto">
          <a:xfrm>
            <a:off x="304800" y="3886200"/>
            <a:ext cx="2819400" cy="2378075"/>
            <a:chOff x="192" y="2448"/>
            <a:chExt cx="1776" cy="1498"/>
          </a:xfrm>
        </p:grpSpPr>
        <p:grpSp>
          <p:nvGrpSpPr>
            <p:cNvPr id="12" name="Group 148"/>
            <p:cNvGrpSpPr>
              <a:grpSpLocks/>
            </p:cNvGrpSpPr>
            <p:nvPr/>
          </p:nvGrpSpPr>
          <p:grpSpPr bwMode="auto">
            <a:xfrm>
              <a:off x="192" y="2448"/>
              <a:ext cx="1776" cy="1498"/>
              <a:chOff x="192" y="2448"/>
              <a:chExt cx="1776" cy="1498"/>
            </a:xfrm>
          </p:grpSpPr>
          <p:grpSp>
            <p:nvGrpSpPr>
              <p:cNvPr id="13" name="Group 49"/>
              <p:cNvGrpSpPr>
                <a:grpSpLocks/>
              </p:cNvGrpSpPr>
              <p:nvPr/>
            </p:nvGrpSpPr>
            <p:grpSpPr bwMode="auto">
              <a:xfrm>
                <a:off x="288" y="2448"/>
                <a:ext cx="1680" cy="1200"/>
                <a:chOff x="240" y="720"/>
                <a:chExt cx="1680" cy="1200"/>
              </a:xfrm>
            </p:grpSpPr>
            <p:pic>
              <p:nvPicPr>
                <p:cNvPr id="7218" name="Picture 50"/>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19" name="Rectangle 51"/>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20" name="Line 52"/>
              <p:cNvSpPr>
                <a:spLocks noChangeShapeType="1"/>
              </p:cNvSpPr>
              <p:nvPr/>
            </p:nvSpPr>
            <p:spPr bwMode="auto">
              <a:xfrm>
                <a:off x="48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1" name="Line 53"/>
              <p:cNvSpPr>
                <a:spLocks noChangeShapeType="1"/>
              </p:cNvSpPr>
              <p:nvPr/>
            </p:nvSpPr>
            <p:spPr bwMode="auto">
              <a:xfrm>
                <a:off x="72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2" name="Line 54"/>
              <p:cNvSpPr>
                <a:spLocks noChangeShapeType="1"/>
              </p:cNvSpPr>
              <p:nvPr/>
            </p:nvSpPr>
            <p:spPr bwMode="auto">
              <a:xfrm flipV="1">
                <a:off x="43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3" name="Line 55"/>
              <p:cNvSpPr>
                <a:spLocks noChangeShapeType="1"/>
              </p:cNvSpPr>
              <p:nvPr/>
            </p:nvSpPr>
            <p:spPr bwMode="auto">
              <a:xfrm flipV="1">
                <a:off x="67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4" name="Line 56"/>
              <p:cNvSpPr>
                <a:spLocks noChangeShapeType="1"/>
              </p:cNvSpPr>
              <p:nvPr/>
            </p:nvSpPr>
            <p:spPr bwMode="auto">
              <a:xfrm flipV="1">
                <a:off x="91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5" name="Line 57"/>
              <p:cNvSpPr>
                <a:spLocks noChangeShapeType="1"/>
              </p:cNvSpPr>
              <p:nvPr/>
            </p:nvSpPr>
            <p:spPr bwMode="auto">
              <a:xfrm flipV="1">
                <a:off x="129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6" name="Line 58"/>
              <p:cNvSpPr>
                <a:spLocks noChangeShapeType="1"/>
              </p:cNvSpPr>
              <p:nvPr/>
            </p:nvSpPr>
            <p:spPr bwMode="auto">
              <a:xfrm flipV="1">
                <a:off x="1584"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7" name="Line 59"/>
              <p:cNvSpPr>
                <a:spLocks noChangeShapeType="1"/>
              </p:cNvSpPr>
              <p:nvPr/>
            </p:nvSpPr>
            <p:spPr bwMode="auto">
              <a:xfrm flipV="1">
                <a:off x="177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8" name="Line 60"/>
              <p:cNvSpPr>
                <a:spLocks noChangeShapeType="1"/>
              </p:cNvSpPr>
              <p:nvPr/>
            </p:nvSpPr>
            <p:spPr bwMode="auto">
              <a:xfrm flipV="1">
                <a:off x="139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29" name="Line 61"/>
              <p:cNvSpPr>
                <a:spLocks noChangeShapeType="1"/>
              </p:cNvSpPr>
              <p:nvPr/>
            </p:nvSpPr>
            <p:spPr bwMode="auto">
              <a:xfrm flipV="1">
                <a:off x="1680"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0" name="Line 62"/>
              <p:cNvSpPr>
                <a:spLocks noChangeShapeType="1"/>
              </p:cNvSpPr>
              <p:nvPr/>
            </p:nvSpPr>
            <p:spPr bwMode="auto">
              <a:xfrm>
                <a:off x="864"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1" name="Line 63"/>
              <p:cNvSpPr>
                <a:spLocks noChangeShapeType="1"/>
              </p:cNvSpPr>
              <p:nvPr/>
            </p:nvSpPr>
            <p:spPr bwMode="auto">
              <a:xfrm>
                <a:off x="1248"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2" name="Line 64"/>
              <p:cNvSpPr>
                <a:spLocks noChangeShapeType="1"/>
              </p:cNvSpPr>
              <p:nvPr/>
            </p:nvSpPr>
            <p:spPr bwMode="auto">
              <a:xfrm>
                <a:off x="153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3" name="Line 65"/>
              <p:cNvSpPr>
                <a:spLocks noChangeShapeType="1"/>
              </p:cNvSpPr>
              <p:nvPr/>
            </p:nvSpPr>
            <p:spPr bwMode="auto">
              <a:xfrm flipV="1">
                <a:off x="480"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8" name="Line 100"/>
              <p:cNvSpPr>
                <a:spLocks noChangeShapeType="1"/>
              </p:cNvSpPr>
              <p:nvPr/>
            </p:nvSpPr>
            <p:spPr bwMode="auto">
              <a:xfrm flipV="1">
                <a:off x="816"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9" name="Line 101"/>
              <p:cNvSpPr>
                <a:spLocks noChangeShapeType="1"/>
              </p:cNvSpPr>
              <p:nvPr/>
            </p:nvSpPr>
            <p:spPr bwMode="auto">
              <a:xfrm>
                <a:off x="1728"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89" name="Rectangle 121"/>
              <p:cNvSpPr>
                <a:spLocks noChangeArrowheads="1"/>
              </p:cNvSpPr>
              <p:nvPr/>
            </p:nvSpPr>
            <p:spPr bwMode="auto">
              <a:xfrm>
                <a:off x="192" y="2448"/>
                <a:ext cx="1680" cy="1488"/>
              </a:xfrm>
              <a:prstGeom prst="rect">
                <a:avLst/>
              </a:prstGeom>
              <a:noFill/>
              <a:ln w="9525">
                <a:solidFill>
                  <a:schemeClr val="tx1"/>
                </a:solidFill>
                <a:miter lim="800000"/>
                <a:headEnd/>
                <a:tailEnd/>
              </a:ln>
              <a:effectLst/>
            </p:spPr>
            <p:txBody>
              <a:bodyPr wrap="none" anchor="ctr"/>
              <a:lstStyle/>
              <a:p>
                <a:endParaRPr lang="en-US"/>
              </a:p>
            </p:txBody>
          </p:sp>
          <p:sp>
            <p:nvSpPr>
              <p:cNvPr id="7297" name="Text Box 129"/>
              <p:cNvSpPr txBox="1">
                <a:spLocks noChangeArrowheads="1"/>
              </p:cNvSpPr>
              <p:nvPr/>
            </p:nvSpPr>
            <p:spPr bwMode="auto">
              <a:xfrm>
                <a:off x="432" y="3696"/>
                <a:ext cx="467" cy="250"/>
              </a:xfrm>
              <a:prstGeom prst="rect">
                <a:avLst/>
              </a:prstGeom>
              <a:noFill/>
              <a:ln w="9525">
                <a:noFill/>
                <a:miter lim="800000"/>
                <a:headEnd/>
                <a:tailEnd/>
              </a:ln>
              <a:effectLst/>
            </p:spPr>
            <p:txBody>
              <a:bodyPr wrap="none">
                <a:spAutoFit/>
              </a:bodyPr>
              <a:lstStyle/>
              <a:p>
                <a:r>
                  <a:rPr lang="en-US" sz="2000"/>
                  <a:t>2 u.e.</a:t>
                </a:r>
              </a:p>
            </p:txBody>
          </p:sp>
          <p:sp>
            <p:nvSpPr>
              <p:cNvPr id="7298" name="Text Box 130"/>
              <p:cNvSpPr txBox="1">
                <a:spLocks noChangeArrowheads="1"/>
              </p:cNvSpPr>
              <p:nvPr/>
            </p:nvSpPr>
            <p:spPr bwMode="auto">
              <a:xfrm>
                <a:off x="1296" y="3686"/>
                <a:ext cx="467" cy="250"/>
              </a:xfrm>
              <a:prstGeom prst="rect">
                <a:avLst/>
              </a:prstGeom>
              <a:noFill/>
              <a:ln w="9525">
                <a:noFill/>
                <a:miter lim="800000"/>
                <a:headEnd/>
                <a:tailEnd/>
              </a:ln>
              <a:effectLst/>
            </p:spPr>
            <p:txBody>
              <a:bodyPr wrap="none">
                <a:spAutoFit/>
              </a:bodyPr>
              <a:lstStyle/>
              <a:p>
                <a:r>
                  <a:rPr lang="en-US" sz="2000"/>
                  <a:t>2 u.e.</a:t>
                </a:r>
              </a:p>
            </p:txBody>
          </p:sp>
        </p:grpSp>
        <p:sp>
          <p:nvSpPr>
            <p:cNvPr id="7326" name="Text Box 158"/>
            <p:cNvSpPr txBox="1">
              <a:spLocks noChangeArrowheads="1"/>
            </p:cNvSpPr>
            <p:nvPr/>
          </p:nvSpPr>
          <p:spPr bwMode="auto">
            <a:xfrm>
              <a:off x="1584" y="2448"/>
              <a:ext cx="276" cy="288"/>
            </a:xfrm>
            <a:prstGeom prst="rect">
              <a:avLst/>
            </a:prstGeom>
            <a:noFill/>
            <a:ln w="9525">
              <a:noFill/>
              <a:miter lim="800000"/>
              <a:headEnd/>
              <a:tailEnd/>
            </a:ln>
            <a:effectLst/>
          </p:spPr>
          <p:txBody>
            <a:bodyPr wrap="none">
              <a:spAutoFit/>
            </a:bodyPr>
            <a:lstStyle/>
            <a:p>
              <a:r>
                <a:rPr lang="en-US" i="1"/>
                <a:t>d</a:t>
              </a:r>
              <a:r>
                <a:rPr lang="en-US" i="1" baseline="30000"/>
                <a:t>8</a:t>
              </a:r>
              <a:endParaRPr lang="en-US" i="1"/>
            </a:p>
          </p:txBody>
        </p:sp>
      </p:grpSp>
      <p:grpSp>
        <p:nvGrpSpPr>
          <p:cNvPr id="14" name="Group 161"/>
          <p:cNvGrpSpPr>
            <a:grpSpLocks/>
          </p:cNvGrpSpPr>
          <p:nvPr/>
        </p:nvGrpSpPr>
        <p:grpSpPr bwMode="auto">
          <a:xfrm>
            <a:off x="3276600" y="3886200"/>
            <a:ext cx="2667000" cy="2362200"/>
            <a:chOff x="2064" y="2448"/>
            <a:chExt cx="1680" cy="1488"/>
          </a:xfrm>
        </p:grpSpPr>
        <p:grpSp>
          <p:nvGrpSpPr>
            <p:cNvPr id="15" name="Group 149"/>
            <p:cNvGrpSpPr>
              <a:grpSpLocks/>
            </p:cNvGrpSpPr>
            <p:nvPr/>
          </p:nvGrpSpPr>
          <p:grpSpPr bwMode="auto">
            <a:xfrm>
              <a:off x="2064" y="2448"/>
              <a:ext cx="1680" cy="1488"/>
              <a:chOff x="2064" y="2448"/>
              <a:chExt cx="1680" cy="1488"/>
            </a:xfrm>
          </p:grpSpPr>
          <p:grpSp>
            <p:nvGrpSpPr>
              <p:cNvPr id="16" name="Group 66"/>
              <p:cNvGrpSpPr>
                <a:grpSpLocks/>
              </p:cNvGrpSpPr>
              <p:nvPr/>
            </p:nvGrpSpPr>
            <p:grpSpPr bwMode="auto">
              <a:xfrm>
                <a:off x="2064" y="2448"/>
                <a:ext cx="1680" cy="1200"/>
                <a:chOff x="240" y="720"/>
                <a:chExt cx="1680" cy="1200"/>
              </a:xfrm>
            </p:grpSpPr>
            <p:pic>
              <p:nvPicPr>
                <p:cNvPr id="7235" name="Picture 67"/>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36" name="Rectangle 68"/>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37" name="Line 69"/>
              <p:cNvSpPr>
                <a:spLocks noChangeShapeType="1"/>
              </p:cNvSpPr>
              <p:nvPr/>
            </p:nvSpPr>
            <p:spPr bwMode="auto">
              <a:xfrm>
                <a:off x="2256"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8" name="Line 70"/>
              <p:cNvSpPr>
                <a:spLocks noChangeShapeType="1"/>
              </p:cNvSpPr>
              <p:nvPr/>
            </p:nvSpPr>
            <p:spPr bwMode="auto">
              <a:xfrm>
                <a:off x="2496"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39" name="Line 71"/>
              <p:cNvSpPr>
                <a:spLocks noChangeShapeType="1"/>
              </p:cNvSpPr>
              <p:nvPr/>
            </p:nvSpPr>
            <p:spPr bwMode="auto">
              <a:xfrm flipV="1">
                <a:off x="2208"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0" name="Line 72"/>
              <p:cNvSpPr>
                <a:spLocks noChangeShapeType="1"/>
              </p:cNvSpPr>
              <p:nvPr/>
            </p:nvSpPr>
            <p:spPr bwMode="auto">
              <a:xfrm flipV="1">
                <a:off x="2448"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1" name="Line 73"/>
              <p:cNvSpPr>
                <a:spLocks noChangeShapeType="1"/>
              </p:cNvSpPr>
              <p:nvPr/>
            </p:nvSpPr>
            <p:spPr bwMode="auto">
              <a:xfrm flipV="1">
                <a:off x="2688"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2" name="Line 74"/>
              <p:cNvSpPr>
                <a:spLocks noChangeShapeType="1"/>
              </p:cNvSpPr>
              <p:nvPr/>
            </p:nvSpPr>
            <p:spPr bwMode="auto">
              <a:xfrm flipV="1">
                <a:off x="3072"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3" name="Line 75"/>
              <p:cNvSpPr>
                <a:spLocks noChangeShapeType="1"/>
              </p:cNvSpPr>
              <p:nvPr/>
            </p:nvSpPr>
            <p:spPr bwMode="auto">
              <a:xfrm flipV="1">
                <a:off x="3360"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4" name="Line 76"/>
              <p:cNvSpPr>
                <a:spLocks noChangeShapeType="1"/>
              </p:cNvSpPr>
              <p:nvPr/>
            </p:nvSpPr>
            <p:spPr bwMode="auto">
              <a:xfrm flipV="1">
                <a:off x="3552"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5" name="Line 77"/>
              <p:cNvSpPr>
                <a:spLocks noChangeShapeType="1"/>
              </p:cNvSpPr>
              <p:nvPr/>
            </p:nvSpPr>
            <p:spPr bwMode="auto">
              <a:xfrm flipV="1">
                <a:off x="307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6" name="Line 78"/>
              <p:cNvSpPr>
                <a:spLocks noChangeShapeType="1"/>
              </p:cNvSpPr>
              <p:nvPr/>
            </p:nvSpPr>
            <p:spPr bwMode="auto">
              <a:xfrm flipV="1">
                <a:off x="3456"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7" name="Line 79"/>
              <p:cNvSpPr>
                <a:spLocks noChangeShapeType="1"/>
              </p:cNvSpPr>
              <p:nvPr/>
            </p:nvSpPr>
            <p:spPr bwMode="auto">
              <a:xfrm>
                <a:off x="264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8" name="Line 80"/>
              <p:cNvSpPr>
                <a:spLocks noChangeShapeType="1"/>
              </p:cNvSpPr>
              <p:nvPr/>
            </p:nvSpPr>
            <p:spPr bwMode="auto">
              <a:xfrm>
                <a:off x="3024"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49" name="Line 81"/>
              <p:cNvSpPr>
                <a:spLocks noChangeShapeType="1"/>
              </p:cNvSpPr>
              <p:nvPr/>
            </p:nvSpPr>
            <p:spPr bwMode="auto">
              <a:xfrm>
                <a:off x="3312"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0" name="Line 82"/>
              <p:cNvSpPr>
                <a:spLocks noChangeShapeType="1"/>
              </p:cNvSpPr>
              <p:nvPr/>
            </p:nvSpPr>
            <p:spPr bwMode="auto">
              <a:xfrm flipV="1">
                <a:off x="2256"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90" name="Rectangle 122"/>
              <p:cNvSpPr>
                <a:spLocks noChangeArrowheads="1"/>
              </p:cNvSpPr>
              <p:nvPr/>
            </p:nvSpPr>
            <p:spPr bwMode="auto">
              <a:xfrm>
                <a:off x="2064" y="2448"/>
                <a:ext cx="1680" cy="1488"/>
              </a:xfrm>
              <a:prstGeom prst="rect">
                <a:avLst/>
              </a:prstGeom>
              <a:noFill/>
              <a:ln w="9525">
                <a:solidFill>
                  <a:schemeClr val="tx1"/>
                </a:solidFill>
                <a:miter lim="800000"/>
                <a:headEnd/>
                <a:tailEnd/>
              </a:ln>
              <a:effectLst/>
            </p:spPr>
            <p:txBody>
              <a:bodyPr wrap="none" anchor="ctr"/>
              <a:lstStyle/>
              <a:p>
                <a:endParaRPr lang="en-US"/>
              </a:p>
            </p:txBody>
          </p:sp>
          <p:sp>
            <p:nvSpPr>
              <p:cNvPr id="7299" name="Text Box 131"/>
              <p:cNvSpPr txBox="1">
                <a:spLocks noChangeArrowheads="1"/>
              </p:cNvSpPr>
              <p:nvPr/>
            </p:nvSpPr>
            <p:spPr bwMode="auto">
              <a:xfrm>
                <a:off x="2208" y="3648"/>
                <a:ext cx="467" cy="250"/>
              </a:xfrm>
              <a:prstGeom prst="rect">
                <a:avLst/>
              </a:prstGeom>
              <a:noFill/>
              <a:ln w="9525">
                <a:noFill/>
                <a:miter lim="800000"/>
                <a:headEnd/>
                <a:tailEnd/>
              </a:ln>
              <a:effectLst/>
            </p:spPr>
            <p:txBody>
              <a:bodyPr wrap="none">
                <a:spAutoFit/>
              </a:bodyPr>
              <a:lstStyle/>
              <a:p>
                <a:r>
                  <a:rPr lang="en-US" sz="2000"/>
                  <a:t>1 u.e.</a:t>
                </a:r>
              </a:p>
            </p:txBody>
          </p:sp>
          <p:sp>
            <p:nvSpPr>
              <p:cNvPr id="7300" name="Line 132"/>
              <p:cNvSpPr>
                <a:spLocks noChangeShapeType="1"/>
              </p:cNvSpPr>
              <p:nvPr/>
            </p:nvSpPr>
            <p:spPr bwMode="auto">
              <a:xfrm flipV="1">
                <a:off x="2592"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1" name="Line 133"/>
              <p:cNvSpPr>
                <a:spLocks noChangeShapeType="1"/>
              </p:cNvSpPr>
              <p:nvPr/>
            </p:nvSpPr>
            <p:spPr bwMode="auto">
              <a:xfrm>
                <a:off x="2304"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2" name="Line 134"/>
              <p:cNvSpPr>
                <a:spLocks noChangeShapeType="1"/>
              </p:cNvSpPr>
              <p:nvPr/>
            </p:nvSpPr>
            <p:spPr bwMode="auto">
              <a:xfrm>
                <a:off x="3504" y="312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3" name="Line 135"/>
              <p:cNvSpPr>
                <a:spLocks noChangeShapeType="1"/>
              </p:cNvSpPr>
              <p:nvPr/>
            </p:nvSpPr>
            <p:spPr bwMode="auto">
              <a:xfrm>
                <a:off x="3168"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4" name="Text Box 136"/>
              <p:cNvSpPr txBox="1">
                <a:spLocks noChangeArrowheads="1"/>
              </p:cNvSpPr>
              <p:nvPr/>
            </p:nvSpPr>
            <p:spPr bwMode="auto">
              <a:xfrm>
                <a:off x="3085" y="3648"/>
                <a:ext cx="467" cy="250"/>
              </a:xfrm>
              <a:prstGeom prst="rect">
                <a:avLst/>
              </a:prstGeom>
              <a:noFill/>
              <a:ln w="9525">
                <a:noFill/>
                <a:miter lim="800000"/>
                <a:headEnd/>
                <a:tailEnd/>
              </a:ln>
              <a:effectLst/>
            </p:spPr>
            <p:txBody>
              <a:bodyPr wrap="none">
                <a:spAutoFit/>
              </a:bodyPr>
              <a:lstStyle/>
              <a:p>
                <a:r>
                  <a:rPr lang="en-US" sz="2000"/>
                  <a:t>1 u.e.</a:t>
                </a:r>
              </a:p>
            </p:txBody>
          </p:sp>
        </p:grpSp>
        <p:sp>
          <p:nvSpPr>
            <p:cNvPr id="7328" name="Text Box 160"/>
            <p:cNvSpPr txBox="1">
              <a:spLocks noChangeArrowheads="1"/>
            </p:cNvSpPr>
            <p:nvPr/>
          </p:nvSpPr>
          <p:spPr bwMode="auto">
            <a:xfrm>
              <a:off x="3456" y="2448"/>
              <a:ext cx="276" cy="288"/>
            </a:xfrm>
            <a:prstGeom prst="rect">
              <a:avLst/>
            </a:prstGeom>
            <a:noFill/>
            <a:ln w="9525">
              <a:noFill/>
              <a:miter lim="800000"/>
              <a:headEnd/>
              <a:tailEnd/>
            </a:ln>
            <a:effectLst/>
          </p:spPr>
          <p:txBody>
            <a:bodyPr wrap="none">
              <a:spAutoFit/>
            </a:bodyPr>
            <a:lstStyle/>
            <a:p>
              <a:r>
                <a:rPr lang="en-US" i="1"/>
                <a:t>d</a:t>
              </a:r>
              <a:r>
                <a:rPr lang="en-US" i="1" baseline="30000"/>
                <a:t>9</a:t>
              </a:r>
              <a:endParaRPr lang="en-US" i="1"/>
            </a:p>
          </p:txBody>
        </p:sp>
      </p:grpSp>
      <p:grpSp>
        <p:nvGrpSpPr>
          <p:cNvPr id="17" name="Group 163"/>
          <p:cNvGrpSpPr>
            <a:grpSpLocks/>
          </p:cNvGrpSpPr>
          <p:nvPr/>
        </p:nvGrpSpPr>
        <p:grpSpPr bwMode="auto">
          <a:xfrm>
            <a:off x="6172200" y="3886200"/>
            <a:ext cx="2825750" cy="2362200"/>
            <a:chOff x="3888" y="2448"/>
            <a:chExt cx="1780" cy="1488"/>
          </a:xfrm>
        </p:grpSpPr>
        <p:grpSp>
          <p:nvGrpSpPr>
            <p:cNvPr id="18" name="Group 150"/>
            <p:cNvGrpSpPr>
              <a:grpSpLocks/>
            </p:cNvGrpSpPr>
            <p:nvPr/>
          </p:nvGrpSpPr>
          <p:grpSpPr bwMode="auto">
            <a:xfrm>
              <a:off x="3888" y="2448"/>
              <a:ext cx="1728" cy="1488"/>
              <a:chOff x="3888" y="2448"/>
              <a:chExt cx="1728" cy="1488"/>
            </a:xfrm>
          </p:grpSpPr>
          <p:grpSp>
            <p:nvGrpSpPr>
              <p:cNvPr id="19" name="Group 83"/>
              <p:cNvGrpSpPr>
                <a:grpSpLocks/>
              </p:cNvGrpSpPr>
              <p:nvPr/>
            </p:nvGrpSpPr>
            <p:grpSpPr bwMode="auto">
              <a:xfrm>
                <a:off x="3888" y="2496"/>
                <a:ext cx="1680" cy="1200"/>
                <a:chOff x="240" y="720"/>
                <a:chExt cx="1680" cy="1200"/>
              </a:xfrm>
            </p:grpSpPr>
            <p:pic>
              <p:nvPicPr>
                <p:cNvPr id="7252" name="Picture 84"/>
                <p:cNvPicPr>
                  <a:picLocks noChangeAspect="1" noChangeArrowheads="1"/>
                </p:cNvPicPr>
                <p:nvPr/>
              </p:nvPicPr>
              <p:blipFill>
                <a:blip r:embed="rId3"/>
                <a:srcRect/>
                <a:stretch>
                  <a:fillRect/>
                </a:stretch>
              </p:blipFill>
              <p:spPr bwMode="auto">
                <a:xfrm>
                  <a:off x="288" y="864"/>
                  <a:ext cx="1536" cy="922"/>
                </a:xfrm>
                <a:prstGeom prst="rect">
                  <a:avLst/>
                </a:prstGeom>
                <a:noFill/>
                <a:ln w="9525">
                  <a:noFill/>
                  <a:miter lim="800000"/>
                  <a:headEnd/>
                  <a:tailEnd/>
                </a:ln>
                <a:effectLst/>
              </p:spPr>
            </p:pic>
            <p:sp>
              <p:nvSpPr>
                <p:cNvPr id="7253" name="Rectangle 85"/>
                <p:cNvSpPr>
                  <a:spLocks noChangeArrowheads="1"/>
                </p:cNvSpPr>
                <p:nvPr/>
              </p:nvSpPr>
              <p:spPr bwMode="auto">
                <a:xfrm>
                  <a:off x="240" y="720"/>
                  <a:ext cx="1680" cy="1200"/>
                </a:xfrm>
                <a:prstGeom prst="rect">
                  <a:avLst/>
                </a:prstGeom>
                <a:noFill/>
                <a:ln w="9525">
                  <a:noFill/>
                  <a:miter lim="800000"/>
                  <a:headEnd/>
                  <a:tailEnd/>
                </a:ln>
                <a:effectLst/>
              </p:spPr>
              <p:txBody>
                <a:bodyPr wrap="none" anchor="ctr"/>
                <a:lstStyle/>
                <a:p>
                  <a:endParaRPr lang="en-US"/>
                </a:p>
              </p:txBody>
            </p:sp>
          </p:grpSp>
          <p:sp>
            <p:nvSpPr>
              <p:cNvPr id="7254" name="Line 86"/>
              <p:cNvSpPr>
                <a:spLocks noChangeShapeType="1"/>
              </p:cNvSpPr>
              <p:nvPr/>
            </p:nvSpPr>
            <p:spPr bwMode="auto">
              <a:xfrm>
                <a:off x="408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5" name="Line 87"/>
              <p:cNvSpPr>
                <a:spLocks noChangeShapeType="1"/>
              </p:cNvSpPr>
              <p:nvPr/>
            </p:nvSpPr>
            <p:spPr bwMode="auto">
              <a:xfrm>
                <a:off x="4320"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6" name="Line 88"/>
              <p:cNvSpPr>
                <a:spLocks noChangeShapeType="1"/>
              </p:cNvSpPr>
              <p:nvPr/>
            </p:nvSpPr>
            <p:spPr bwMode="auto">
              <a:xfrm flipV="1">
                <a:off x="403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7" name="Line 89"/>
              <p:cNvSpPr>
                <a:spLocks noChangeShapeType="1"/>
              </p:cNvSpPr>
              <p:nvPr/>
            </p:nvSpPr>
            <p:spPr bwMode="auto">
              <a:xfrm flipV="1">
                <a:off x="427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8" name="Line 90"/>
              <p:cNvSpPr>
                <a:spLocks noChangeShapeType="1"/>
              </p:cNvSpPr>
              <p:nvPr/>
            </p:nvSpPr>
            <p:spPr bwMode="auto">
              <a:xfrm flipV="1">
                <a:off x="4512"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59" name="Line 91"/>
              <p:cNvSpPr>
                <a:spLocks noChangeShapeType="1"/>
              </p:cNvSpPr>
              <p:nvPr/>
            </p:nvSpPr>
            <p:spPr bwMode="auto">
              <a:xfrm flipV="1">
                <a:off x="489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0" name="Line 92"/>
              <p:cNvSpPr>
                <a:spLocks noChangeShapeType="1"/>
              </p:cNvSpPr>
              <p:nvPr/>
            </p:nvSpPr>
            <p:spPr bwMode="auto">
              <a:xfrm flipV="1">
                <a:off x="5184"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1" name="Line 93"/>
              <p:cNvSpPr>
                <a:spLocks noChangeShapeType="1"/>
              </p:cNvSpPr>
              <p:nvPr/>
            </p:nvSpPr>
            <p:spPr bwMode="auto">
              <a:xfrm flipV="1">
                <a:off x="537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2" name="Line 94"/>
              <p:cNvSpPr>
                <a:spLocks noChangeShapeType="1"/>
              </p:cNvSpPr>
              <p:nvPr/>
            </p:nvSpPr>
            <p:spPr bwMode="auto">
              <a:xfrm flipV="1">
                <a:off x="4944"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3" name="Line 95"/>
              <p:cNvSpPr>
                <a:spLocks noChangeShapeType="1"/>
              </p:cNvSpPr>
              <p:nvPr/>
            </p:nvSpPr>
            <p:spPr bwMode="auto">
              <a:xfrm flipV="1">
                <a:off x="5280"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4" name="Line 96"/>
              <p:cNvSpPr>
                <a:spLocks noChangeShapeType="1"/>
              </p:cNvSpPr>
              <p:nvPr/>
            </p:nvSpPr>
            <p:spPr bwMode="auto">
              <a:xfrm>
                <a:off x="4464" y="3360"/>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5" name="Line 97"/>
              <p:cNvSpPr>
                <a:spLocks noChangeShapeType="1"/>
              </p:cNvSpPr>
              <p:nvPr/>
            </p:nvSpPr>
            <p:spPr bwMode="auto">
              <a:xfrm>
                <a:off x="4848"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6" name="Line 98"/>
              <p:cNvSpPr>
                <a:spLocks noChangeShapeType="1"/>
              </p:cNvSpPr>
              <p:nvPr/>
            </p:nvSpPr>
            <p:spPr bwMode="auto">
              <a:xfrm>
                <a:off x="5136" y="3072"/>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67" name="Line 99"/>
              <p:cNvSpPr>
                <a:spLocks noChangeShapeType="1"/>
              </p:cNvSpPr>
              <p:nvPr/>
            </p:nvSpPr>
            <p:spPr bwMode="auto">
              <a:xfrm flipV="1">
                <a:off x="4080"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291" name="Rectangle 123"/>
              <p:cNvSpPr>
                <a:spLocks noChangeArrowheads="1"/>
              </p:cNvSpPr>
              <p:nvPr/>
            </p:nvSpPr>
            <p:spPr bwMode="auto">
              <a:xfrm>
                <a:off x="3936" y="2448"/>
                <a:ext cx="1680" cy="1488"/>
              </a:xfrm>
              <a:prstGeom prst="rect">
                <a:avLst/>
              </a:prstGeom>
              <a:noFill/>
              <a:ln w="9525">
                <a:solidFill>
                  <a:schemeClr val="tx1"/>
                </a:solidFill>
                <a:miter lim="800000"/>
                <a:headEnd/>
                <a:tailEnd/>
              </a:ln>
              <a:effectLst/>
            </p:spPr>
            <p:txBody>
              <a:bodyPr wrap="none" anchor="ctr"/>
              <a:lstStyle/>
              <a:p>
                <a:endParaRPr lang="en-US"/>
              </a:p>
            </p:txBody>
          </p:sp>
          <p:sp>
            <p:nvSpPr>
              <p:cNvPr id="7305" name="Line 137"/>
              <p:cNvSpPr>
                <a:spLocks noChangeShapeType="1"/>
              </p:cNvSpPr>
              <p:nvPr/>
            </p:nvSpPr>
            <p:spPr bwMode="auto">
              <a:xfrm>
                <a:off x="4128" y="25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6" name="Line 138"/>
              <p:cNvSpPr>
                <a:spLocks noChangeShapeType="1"/>
              </p:cNvSpPr>
              <p:nvPr/>
            </p:nvSpPr>
            <p:spPr bwMode="auto">
              <a:xfrm>
                <a:off x="499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7" name="Line 139"/>
              <p:cNvSpPr>
                <a:spLocks noChangeShapeType="1"/>
              </p:cNvSpPr>
              <p:nvPr/>
            </p:nvSpPr>
            <p:spPr bwMode="auto">
              <a:xfrm>
                <a:off x="5232" y="273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8" name="Line 140"/>
              <p:cNvSpPr>
                <a:spLocks noChangeShapeType="1"/>
              </p:cNvSpPr>
              <p:nvPr/>
            </p:nvSpPr>
            <p:spPr bwMode="auto">
              <a:xfrm flipV="1">
                <a:off x="4368" y="2496"/>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09" name="Line 141"/>
              <p:cNvSpPr>
                <a:spLocks noChangeShapeType="1"/>
              </p:cNvSpPr>
              <p:nvPr/>
            </p:nvSpPr>
            <p:spPr bwMode="auto">
              <a:xfrm>
                <a:off x="4416" y="2544"/>
                <a:ext cx="0" cy="240"/>
              </a:xfrm>
              <a:prstGeom prst="line">
                <a:avLst/>
              </a:prstGeom>
              <a:noFill/>
              <a:ln w="9525">
                <a:solidFill>
                  <a:schemeClr val="tx1"/>
                </a:solidFill>
                <a:round/>
                <a:headEnd/>
                <a:tailEnd type="triangle" w="med" len="med"/>
              </a:ln>
              <a:effectLst/>
            </p:spPr>
            <p:txBody>
              <a:bodyPr wrap="none" anchor="ctr"/>
              <a:lstStyle/>
              <a:p>
                <a:endParaRPr lang="en-US"/>
              </a:p>
            </p:txBody>
          </p:sp>
          <p:sp>
            <p:nvSpPr>
              <p:cNvPr id="7310" name="Text Box 142"/>
              <p:cNvSpPr txBox="1">
                <a:spLocks noChangeArrowheads="1"/>
              </p:cNvSpPr>
              <p:nvPr/>
            </p:nvSpPr>
            <p:spPr bwMode="auto">
              <a:xfrm>
                <a:off x="4045" y="3686"/>
                <a:ext cx="467" cy="250"/>
              </a:xfrm>
              <a:prstGeom prst="rect">
                <a:avLst/>
              </a:prstGeom>
              <a:noFill/>
              <a:ln w="9525">
                <a:noFill/>
                <a:miter lim="800000"/>
                <a:headEnd/>
                <a:tailEnd/>
              </a:ln>
              <a:effectLst/>
            </p:spPr>
            <p:txBody>
              <a:bodyPr wrap="none">
                <a:spAutoFit/>
              </a:bodyPr>
              <a:lstStyle/>
              <a:p>
                <a:r>
                  <a:rPr lang="en-US" sz="2000"/>
                  <a:t>0 u.e.</a:t>
                </a:r>
              </a:p>
            </p:txBody>
          </p:sp>
          <p:sp>
            <p:nvSpPr>
              <p:cNvPr id="7311" name="Text Box 143"/>
              <p:cNvSpPr txBox="1">
                <a:spLocks noChangeArrowheads="1"/>
              </p:cNvSpPr>
              <p:nvPr/>
            </p:nvSpPr>
            <p:spPr bwMode="auto">
              <a:xfrm>
                <a:off x="4957" y="3686"/>
                <a:ext cx="467" cy="250"/>
              </a:xfrm>
              <a:prstGeom prst="rect">
                <a:avLst/>
              </a:prstGeom>
              <a:noFill/>
              <a:ln w="9525">
                <a:noFill/>
                <a:miter lim="800000"/>
                <a:headEnd/>
                <a:tailEnd/>
              </a:ln>
              <a:effectLst/>
            </p:spPr>
            <p:txBody>
              <a:bodyPr wrap="none">
                <a:spAutoFit/>
              </a:bodyPr>
              <a:lstStyle/>
              <a:p>
                <a:r>
                  <a:rPr lang="en-US" sz="2000"/>
                  <a:t>0 u.e.</a:t>
                </a:r>
              </a:p>
            </p:txBody>
          </p:sp>
        </p:grpSp>
        <p:sp>
          <p:nvSpPr>
            <p:cNvPr id="7330" name="Text Box 162"/>
            <p:cNvSpPr txBox="1">
              <a:spLocks noChangeArrowheads="1"/>
            </p:cNvSpPr>
            <p:nvPr/>
          </p:nvSpPr>
          <p:spPr bwMode="auto">
            <a:xfrm>
              <a:off x="5328" y="2448"/>
              <a:ext cx="340" cy="288"/>
            </a:xfrm>
            <a:prstGeom prst="rect">
              <a:avLst/>
            </a:prstGeom>
            <a:noFill/>
            <a:ln w="9525">
              <a:noFill/>
              <a:miter lim="800000"/>
              <a:headEnd/>
              <a:tailEnd/>
            </a:ln>
            <a:effectLst/>
          </p:spPr>
          <p:txBody>
            <a:bodyPr wrap="none">
              <a:spAutoFit/>
            </a:bodyPr>
            <a:lstStyle/>
            <a:p>
              <a:r>
                <a:rPr lang="en-US" i="1"/>
                <a:t>d</a:t>
              </a:r>
              <a:r>
                <a:rPr lang="en-US" i="1" baseline="30000"/>
                <a:t>10</a:t>
              </a:r>
              <a:endParaRPr lang="en-US" i="1"/>
            </a:p>
          </p:txBody>
        </p:sp>
      </p:grpSp>
      <p:sp>
        <p:nvSpPr>
          <p:cNvPr id="20" name="Footer Placeholder 19"/>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3"/>
          <a:srcRect/>
          <a:stretch>
            <a:fillRect/>
          </a:stretch>
        </p:blipFill>
        <p:spPr bwMode="auto">
          <a:xfrm>
            <a:off x="609600" y="0"/>
            <a:ext cx="8153400" cy="6808788"/>
          </a:xfrm>
          <a:prstGeom prst="rect">
            <a:avLst/>
          </a:prstGeom>
          <a:noFill/>
          <a:ln w="9525">
            <a:noFill/>
            <a:miter lim="800000"/>
            <a:headEnd/>
            <a:tailEnd/>
          </a:ln>
          <a:effectLst/>
        </p:spPr>
      </p:pic>
      <p:sp>
        <p:nvSpPr>
          <p:cNvPr id="14339" name="Rectangle 3"/>
          <p:cNvSpPr>
            <a:spLocks noChangeArrowheads="1"/>
          </p:cNvSpPr>
          <p:nvPr/>
        </p:nvSpPr>
        <p:spPr bwMode="auto">
          <a:xfrm>
            <a:off x="914400" y="1752600"/>
            <a:ext cx="4343400" cy="914400"/>
          </a:xfrm>
          <a:prstGeom prst="rect">
            <a:avLst/>
          </a:prstGeom>
          <a:noFill/>
          <a:ln w="9525">
            <a:solidFill>
              <a:srgbClr val="FF0000"/>
            </a:solidFill>
            <a:miter lim="800000"/>
            <a:headEnd/>
            <a:tailEnd/>
          </a:ln>
          <a:effectLst/>
        </p:spPr>
        <p:txBody>
          <a:bodyPr wrap="none" anchor="ctr"/>
          <a:lstStyle/>
          <a:p>
            <a:endParaRPr lang="en-US"/>
          </a:p>
        </p:txBody>
      </p:sp>
      <p:sp>
        <p:nvSpPr>
          <p:cNvPr id="14340" name="Rectangle 4"/>
          <p:cNvSpPr>
            <a:spLocks noChangeArrowheads="1"/>
          </p:cNvSpPr>
          <p:nvPr/>
        </p:nvSpPr>
        <p:spPr bwMode="auto">
          <a:xfrm>
            <a:off x="914400" y="4648200"/>
            <a:ext cx="4343400" cy="914400"/>
          </a:xfrm>
          <a:prstGeom prst="rect">
            <a:avLst/>
          </a:prstGeom>
          <a:noFill/>
          <a:ln w="9525">
            <a:solidFill>
              <a:srgbClr val="FF0000"/>
            </a:solidFill>
            <a:miter lim="800000"/>
            <a:headEnd/>
            <a:tailEnd/>
          </a:ln>
          <a:effectLst/>
        </p:spPr>
        <p:txBody>
          <a:bodyPr wrap="none" anchor="ctr"/>
          <a:lstStyle/>
          <a:p>
            <a:endParaRPr lang="en-US"/>
          </a:p>
        </p:txBody>
      </p:sp>
      <p:sp>
        <p:nvSpPr>
          <p:cNvPr id="14341" name="Rectangle 5"/>
          <p:cNvSpPr>
            <a:spLocks noChangeArrowheads="1"/>
          </p:cNvSpPr>
          <p:nvPr/>
        </p:nvSpPr>
        <p:spPr bwMode="auto">
          <a:xfrm>
            <a:off x="7315200" y="4648200"/>
            <a:ext cx="1295400" cy="914400"/>
          </a:xfrm>
          <a:prstGeom prst="rect">
            <a:avLst/>
          </a:prstGeom>
          <a:noFill/>
          <a:ln w="9525">
            <a:solidFill>
              <a:srgbClr val="FF0000"/>
            </a:solidFill>
            <a:miter lim="800000"/>
            <a:headEnd/>
            <a:tailEnd/>
          </a:ln>
          <a:effectLst/>
        </p:spPr>
        <p:txBody>
          <a:bodyPr wrap="none" anchor="ctr"/>
          <a:lstStyle/>
          <a:p>
            <a:endParaRPr lang="en-US"/>
          </a:p>
        </p:txBody>
      </p:sp>
      <p:grpSp>
        <p:nvGrpSpPr>
          <p:cNvPr id="2" name="Group 11"/>
          <p:cNvGrpSpPr>
            <a:grpSpLocks/>
          </p:cNvGrpSpPr>
          <p:nvPr/>
        </p:nvGrpSpPr>
        <p:grpSpPr bwMode="auto">
          <a:xfrm>
            <a:off x="7010400" y="1219200"/>
            <a:ext cx="1981200" cy="2819400"/>
            <a:chOff x="4416" y="768"/>
            <a:chExt cx="1248" cy="1776"/>
          </a:xfrm>
        </p:grpSpPr>
        <p:sp>
          <p:nvSpPr>
            <p:cNvPr id="14345" name="Text Box 9"/>
            <p:cNvSpPr txBox="1">
              <a:spLocks noChangeArrowheads="1"/>
            </p:cNvSpPr>
            <p:nvPr/>
          </p:nvSpPr>
          <p:spPr bwMode="auto">
            <a:xfrm>
              <a:off x="4416" y="768"/>
              <a:ext cx="1248" cy="1214"/>
            </a:xfrm>
            <a:prstGeom prst="rect">
              <a:avLst/>
            </a:prstGeom>
            <a:solidFill>
              <a:srgbClr val="FFFF99"/>
            </a:solidFill>
            <a:ln w="9525">
              <a:solidFill>
                <a:srgbClr val="FFCC00"/>
              </a:solidFill>
              <a:miter lim="800000"/>
              <a:headEnd/>
              <a:tailEnd/>
            </a:ln>
            <a:effectLst/>
          </p:spPr>
          <p:txBody>
            <a:bodyPr>
              <a:spAutoFit/>
            </a:bodyPr>
            <a:lstStyle/>
            <a:p>
              <a:pPr>
                <a:spcBef>
                  <a:spcPct val="50000"/>
                </a:spcBef>
              </a:pPr>
              <a:r>
                <a:rPr lang="en-US"/>
                <a:t>Positive favors high spin. Neg favors low spin.</a:t>
              </a:r>
            </a:p>
          </p:txBody>
        </p:sp>
        <p:sp>
          <p:nvSpPr>
            <p:cNvPr id="14346" name="Line 10"/>
            <p:cNvSpPr>
              <a:spLocks noChangeShapeType="1"/>
            </p:cNvSpPr>
            <p:nvPr/>
          </p:nvSpPr>
          <p:spPr bwMode="auto">
            <a:xfrm flipH="1">
              <a:off x="5088" y="2016"/>
              <a:ext cx="336" cy="528"/>
            </a:xfrm>
            <a:prstGeom prst="line">
              <a:avLst/>
            </a:prstGeom>
            <a:noFill/>
            <a:ln w="57150">
              <a:solidFill>
                <a:srgbClr val="F30B08"/>
              </a:solidFill>
              <a:round/>
              <a:headEnd/>
              <a:tailEnd type="triangle" w="med" len="med"/>
            </a:ln>
            <a:effectLst/>
          </p:spPr>
          <p:txBody>
            <a:bodyPr/>
            <a:lstStyle/>
            <a:p>
              <a:endParaRPr lang="en-US"/>
            </a:p>
          </p:txBody>
        </p:sp>
      </p:gr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8" name="Picture 6"/>
          <p:cNvPicPr>
            <a:picLocks noChangeAspect="1" noChangeArrowheads="1"/>
          </p:cNvPicPr>
          <p:nvPr/>
        </p:nvPicPr>
        <p:blipFill>
          <a:blip r:embed="rId3"/>
          <a:srcRect/>
          <a:stretch>
            <a:fillRect/>
          </a:stretch>
        </p:blipFill>
        <p:spPr bwMode="auto">
          <a:xfrm>
            <a:off x="1981200" y="1584325"/>
            <a:ext cx="3943350" cy="2809875"/>
          </a:xfrm>
          <a:prstGeom prst="rect">
            <a:avLst/>
          </a:prstGeom>
          <a:noFill/>
          <a:ln w="9525">
            <a:noFill/>
            <a:miter lim="800000"/>
            <a:headEnd/>
            <a:tailEnd/>
          </a:ln>
          <a:effectLst/>
        </p:spPr>
      </p:pic>
      <p:sp>
        <p:nvSpPr>
          <p:cNvPr id="115719" name="Text Box 7"/>
          <p:cNvSpPr txBox="1">
            <a:spLocks noChangeArrowheads="1"/>
          </p:cNvSpPr>
          <p:nvPr/>
        </p:nvSpPr>
        <p:spPr bwMode="auto">
          <a:xfrm>
            <a:off x="457200" y="609600"/>
            <a:ext cx="8305800" cy="457200"/>
          </a:xfrm>
          <a:prstGeom prst="rect">
            <a:avLst/>
          </a:prstGeom>
          <a:noFill/>
          <a:ln w="9525">
            <a:noFill/>
            <a:miter lim="800000"/>
            <a:headEnd/>
            <a:tailEnd/>
          </a:ln>
          <a:effectLst/>
        </p:spPr>
        <p:txBody>
          <a:bodyPr>
            <a:spAutoFit/>
          </a:bodyPr>
          <a:lstStyle/>
          <a:p>
            <a:pPr>
              <a:spcBef>
                <a:spcPct val="50000"/>
              </a:spcBef>
            </a:pPr>
            <a:r>
              <a:rPr lang="en-US"/>
              <a:t>Enthalpy of Hydration of hexahydrate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3"/>
          <a:srcRect/>
          <a:stretch>
            <a:fillRect/>
          </a:stretch>
        </p:blipFill>
        <p:spPr bwMode="auto">
          <a:xfrm>
            <a:off x="2057400" y="1828800"/>
            <a:ext cx="4686300" cy="1930400"/>
          </a:xfrm>
          <a:prstGeom prst="rect">
            <a:avLst/>
          </a:prstGeom>
          <a:noFill/>
          <a:ln w="9525">
            <a:noFill/>
            <a:miter lim="800000"/>
            <a:headEnd/>
            <a:tailEnd/>
          </a:ln>
          <a:effectLst/>
        </p:spPr>
      </p:pic>
      <p:sp>
        <p:nvSpPr>
          <p:cNvPr id="10243" name="Text Box 3"/>
          <p:cNvSpPr txBox="1">
            <a:spLocks noChangeArrowheads="1"/>
          </p:cNvSpPr>
          <p:nvPr/>
        </p:nvSpPr>
        <p:spPr bwMode="auto">
          <a:xfrm>
            <a:off x="1241425" y="533400"/>
            <a:ext cx="6530975" cy="519113"/>
          </a:xfrm>
          <a:prstGeom prst="rect">
            <a:avLst/>
          </a:prstGeom>
          <a:noFill/>
          <a:ln w="9525">
            <a:noFill/>
            <a:miter lim="800000"/>
            <a:headEnd/>
            <a:tailEnd/>
          </a:ln>
          <a:effectLst/>
        </p:spPr>
        <p:txBody>
          <a:bodyPr>
            <a:spAutoFit/>
          </a:bodyPr>
          <a:lstStyle/>
          <a:p>
            <a:pPr>
              <a:spcBef>
                <a:spcPct val="50000"/>
              </a:spcBef>
            </a:pPr>
            <a:r>
              <a:rPr lang="en-US" sz="2800" i="1">
                <a:solidFill>
                  <a:schemeClr val="accent2"/>
                </a:solidFill>
              </a:rPr>
              <a:t>Splitting of d orbitals in a tetrahedral field</a:t>
            </a:r>
          </a:p>
        </p:txBody>
      </p:sp>
      <p:sp>
        <p:nvSpPr>
          <p:cNvPr id="10244" name="Text Box 4"/>
          <p:cNvSpPr txBox="1">
            <a:spLocks noChangeArrowheads="1"/>
          </p:cNvSpPr>
          <p:nvPr/>
        </p:nvSpPr>
        <p:spPr bwMode="auto">
          <a:xfrm>
            <a:off x="6689725" y="1660525"/>
            <a:ext cx="369888" cy="457200"/>
          </a:xfrm>
          <a:prstGeom prst="rect">
            <a:avLst/>
          </a:prstGeom>
          <a:noFill/>
          <a:ln w="9525">
            <a:noFill/>
            <a:miter lim="800000"/>
            <a:headEnd/>
            <a:tailEnd/>
          </a:ln>
          <a:effectLst/>
        </p:spPr>
        <p:txBody>
          <a:bodyPr wrap="none">
            <a:spAutoFit/>
          </a:bodyPr>
          <a:lstStyle/>
          <a:p>
            <a:r>
              <a:rPr lang="en-US" i="1">
                <a:solidFill>
                  <a:schemeClr val="accent2"/>
                </a:solidFill>
              </a:rPr>
              <a:t>t</a:t>
            </a:r>
            <a:r>
              <a:rPr lang="en-US" i="1" baseline="-25000">
                <a:solidFill>
                  <a:schemeClr val="accent2"/>
                </a:solidFill>
              </a:rPr>
              <a:t>2</a:t>
            </a:r>
            <a:endParaRPr lang="en-US" i="1"/>
          </a:p>
        </p:txBody>
      </p:sp>
      <p:sp>
        <p:nvSpPr>
          <p:cNvPr id="10245" name="Text Box 5"/>
          <p:cNvSpPr txBox="1">
            <a:spLocks noChangeArrowheads="1"/>
          </p:cNvSpPr>
          <p:nvPr/>
        </p:nvSpPr>
        <p:spPr bwMode="auto">
          <a:xfrm>
            <a:off x="6613525" y="3413125"/>
            <a:ext cx="319088" cy="457200"/>
          </a:xfrm>
          <a:prstGeom prst="rect">
            <a:avLst/>
          </a:prstGeom>
          <a:noFill/>
          <a:ln w="9525">
            <a:noFill/>
            <a:miter lim="800000"/>
            <a:headEnd/>
            <a:tailEnd/>
          </a:ln>
          <a:effectLst/>
        </p:spPr>
        <p:txBody>
          <a:bodyPr wrap="none">
            <a:spAutoFit/>
          </a:bodyPr>
          <a:lstStyle/>
          <a:p>
            <a:r>
              <a:rPr lang="en-US">
                <a:solidFill>
                  <a:srgbClr val="F30B08"/>
                </a:solidFill>
              </a:rPr>
              <a:t>e</a:t>
            </a:r>
            <a:endParaRPr lang="en-US"/>
          </a:p>
        </p:txBody>
      </p:sp>
      <p:sp>
        <p:nvSpPr>
          <p:cNvPr id="10246" name="Line 6"/>
          <p:cNvSpPr>
            <a:spLocks noChangeShapeType="1"/>
          </p:cNvSpPr>
          <p:nvPr/>
        </p:nvSpPr>
        <p:spPr bwMode="auto">
          <a:xfrm>
            <a:off x="7467600" y="1905000"/>
            <a:ext cx="0" cy="1752600"/>
          </a:xfrm>
          <a:prstGeom prst="line">
            <a:avLst/>
          </a:prstGeom>
          <a:noFill/>
          <a:ln w="38100">
            <a:solidFill>
              <a:schemeClr val="tx1"/>
            </a:solidFill>
            <a:round/>
            <a:headEnd type="triangle" w="med" len="med"/>
            <a:tailEnd type="triangle" w="med" len="med"/>
          </a:ln>
          <a:effectLst/>
        </p:spPr>
        <p:txBody>
          <a:bodyPr wrap="none" anchor="ctr"/>
          <a:lstStyle/>
          <a:p>
            <a:endParaRPr lang="en-US"/>
          </a:p>
        </p:txBody>
      </p:sp>
      <p:sp>
        <p:nvSpPr>
          <p:cNvPr id="10247" name="Text Box 7"/>
          <p:cNvSpPr txBox="1">
            <a:spLocks noChangeArrowheads="1"/>
          </p:cNvSpPr>
          <p:nvPr/>
        </p:nvSpPr>
        <p:spPr bwMode="auto">
          <a:xfrm>
            <a:off x="7680325" y="2392363"/>
            <a:ext cx="500063" cy="519112"/>
          </a:xfrm>
          <a:prstGeom prst="rect">
            <a:avLst/>
          </a:prstGeom>
          <a:noFill/>
          <a:ln w="9525">
            <a:noFill/>
            <a:miter lim="800000"/>
            <a:headEnd/>
            <a:tailEnd/>
          </a:ln>
          <a:effectLst/>
        </p:spPr>
        <p:txBody>
          <a:bodyPr wrap="none">
            <a:spAutoFit/>
          </a:bodyPr>
          <a:lstStyle/>
          <a:p>
            <a:r>
              <a:rPr lang="en-US" sz="2800">
                <a:latin typeface="Symbol" pitchFamily="18" charset="2"/>
              </a:rPr>
              <a:t>D</a:t>
            </a:r>
            <a:r>
              <a:rPr lang="en-US" sz="2800"/>
              <a:t>t</a:t>
            </a:r>
          </a:p>
        </p:txBody>
      </p:sp>
      <p:sp>
        <p:nvSpPr>
          <p:cNvPr id="10248" name="Text Box 8"/>
          <p:cNvSpPr txBox="1">
            <a:spLocks noChangeArrowheads="1"/>
          </p:cNvSpPr>
          <p:nvPr/>
        </p:nvSpPr>
        <p:spPr bwMode="auto">
          <a:xfrm>
            <a:off x="3448050" y="4800600"/>
            <a:ext cx="1463675" cy="466725"/>
          </a:xfrm>
          <a:prstGeom prst="rect">
            <a:avLst/>
          </a:prstGeom>
          <a:noFill/>
          <a:ln w="9525">
            <a:solidFill>
              <a:schemeClr val="tx1"/>
            </a:solidFill>
            <a:miter lim="800000"/>
            <a:headEnd/>
            <a:tailEnd/>
          </a:ln>
          <a:effectLst/>
        </p:spPr>
        <p:txBody>
          <a:bodyPr>
            <a:spAutoFit/>
          </a:bodyPr>
          <a:lstStyle/>
          <a:p>
            <a:r>
              <a:rPr lang="en-US">
                <a:latin typeface="Symbol" pitchFamily="18" charset="2"/>
              </a:rPr>
              <a:t>D</a:t>
            </a:r>
            <a:r>
              <a:rPr lang="en-US" baseline="-25000"/>
              <a:t>t</a:t>
            </a:r>
            <a:r>
              <a:rPr lang="en-US"/>
              <a:t> = 4/9</a:t>
            </a:r>
            <a:r>
              <a:rPr lang="en-US">
                <a:latin typeface="Symbol" pitchFamily="18" charset="2"/>
              </a:rPr>
              <a:t>D</a:t>
            </a:r>
            <a:r>
              <a:rPr lang="en-US" baseline="-25000"/>
              <a:t>o</a:t>
            </a:r>
          </a:p>
        </p:txBody>
      </p:sp>
      <p:sp>
        <p:nvSpPr>
          <p:cNvPr id="10249" name="Text Box 9"/>
          <p:cNvSpPr txBox="1">
            <a:spLocks noChangeArrowheads="1"/>
          </p:cNvSpPr>
          <p:nvPr/>
        </p:nvSpPr>
        <p:spPr bwMode="auto">
          <a:xfrm>
            <a:off x="2451100" y="5699125"/>
            <a:ext cx="3786188" cy="457200"/>
          </a:xfrm>
          <a:prstGeom prst="rect">
            <a:avLst/>
          </a:prstGeom>
          <a:noFill/>
          <a:ln w="9525">
            <a:noFill/>
            <a:miter lim="800000"/>
            <a:headEnd/>
            <a:tailEnd/>
          </a:ln>
          <a:effectLst/>
        </p:spPr>
        <p:txBody>
          <a:bodyPr wrap="none">
            <a:spAutoFit/>
          </a:bodyPr>
          <a:lstStyle/>
          <a:p>
            <a:r>
              <a:rPr lang="en-US" i="1">
                <a:solidFill>
                  <a:srgbClr val="F30B08"/>
                </a:solidFill>
              </a:rPr>
              <a:t>Always weak field (high spin)</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p:cNvSpPr txBox="1">
            <a:spLocks noChangeArrowheads="1"/>
          </p:cNvSpPr>
          <p:nvPr/>
        </p:nvSpPr>
        <p:spPr bwMode="auto">
          <a:xfrm>
            <a:off x="1524000" y="471488"/>
            <a:ext cx="5883275" cy="519112"/>
          </a:xfrm>
          <a:prstGeom prst="rect">
            <a:avLst/>
          </a:prstGeom>
          <a:noFill/>
          <a:ln w="9525">
            <a:noFill/>
            <a:miter lim="800000"/>
            <a:headEnd/>
            <a:tailEnd/>
          </a:ln>
          <a:effectLst/>
        </p:spPr>
        <p:txBody>
          <a:bodyPr wrap="none">
            <a:spAutoFit/>
          </a:bodyPr>
          <a:lstStyle/>
          <a:p>
            <a:r>
              <a:rPr lang="en-US" sz="2800" i="1">
                <a:solidFill>
                  <a:schemeClr val="accent2"/>
                </a:solidFill>
              </a:rPr>
              <a:t>Magnetic properties of metal complexes</a:t>
            </a:r>
          </a:p>
        </p:txBody>
      </p:sp>
      <p:sp>
        <p:nvSpPr>
          <p:cNvPr id="8195" name="Text Box 3"/>
          <p:cNvSpPr txBox="1">
            <a:spLocks noChangeArrowheads="1"/>
          </p:cNvSpPr>
          <p:nvPr/>
        </p:nvSpPr>
        <p:spPr bwMode="auto">
          <a:xfrm>
            <a:off x="2590800" y="1501775"/>
            <a:ext cx="3863975" cy="1927225"/>
          </a:xfrm>
          <a:prstGeom prst="rect">
            <a:avLst/>
          </a:prstGeom>
          <a:noFill/>
          <a:ln w="9525">
            <a:solidFill>
              <a:schemeClr val="accent2"/>
            </a:solidFill>
            <a:miter lim="800000"/>
            <a:headEnd/>
            <a:tailEnd/>
          </a:ln>
          <a:effectLst/>
        </p:spPr>
        <p:txBody>
          <a:bodyPr>
            <a:spAutoFit/>
          </a:bodyPr>
          <a:lstStyle/>
          <a:p>
            <a:pPr algn="ctr"/>
            <a:r>
              <a:rPr lang="en-US"/>
              <a:t>Diamagnetic complexes</a:t>
            </a:r>
          </a:p>
          <a:p>
            <a:pPr algn="ctr"/>
            <a:r>
              <a:rPr lang="en-US"/>
              <a:t>very small repulsive interaction with external magnetic field</a:t>
            </a:r>
          </a:p>
          <a:p>
            <a:pPr algn="ctr"/>
            <a:r>
              <a:rPr lang="en-US" i="1"/>
              <a:t>no unpaired electrons</a:t>
            </a:r>
            <a:endParaRPr lang="en-US"/>
          </a:p>
        </p:txBody>
      </p:sp>
      <p:sp>
        <p:nvSpPr>
          <p:cNvPr id="8196" name="Text Box 4"/>
          <p:cNvSpPr txBox="1">
            <a:spLocks noChangeArrowheads="1"/>
          </p:cNvSpPr>
          <p:nvPr/>
        </p:nvSpPr>
        <p:spPr bwMode="auto">
          <a:xfrm>
            <a:off x="1600200" y="4114800"/>
            <a:ext cx="3863975" cy="1562100"/>
          </a:xfrm>
          <a:prstGeom prst="rect">
            <a:avLst/>
          </a:prstGeom>
          <a:noFill/>
          <a:ln w="9525">
            <a:solidFill>
              <a:srgbClr val="F30B08"/>
            </a:solidFill>
            <a:miter lim="800000"/>
            <a:headEnd/>
            <a:tailEnd/>
          </a:ln>
          <a:effectLst/>
        </p:spPr>
        <p:txBody>
          <a:bodyPr>
            <a:spAutoFit/>
          </a:bodyPr>
          <a:lstStyle/>
          <a:p>
            <a:pPr algn="ctr"/>
            <a:r>
              <a:rPr lang="en-US"/>
              <a:t>Paramagnetic complexes</a:t>
            </a:r>
          </a:p>
          <a:p>
            <a:pPr algn="ctr"/>
            <a:r>
              <a:rPr lang="en-US"/>
              <a:t>attractive interaction with external magnetic field</a:t>
            </a:r>
          </a:p>
          <a:p>
            <a:pPr algn="ctr"/>
            <a:r>
              <a:rPr lang="en-US" i="1"/>
              <a:t>some unpaired electrons</a:t>
            </a:r>
            <a:endParaRPr lang="en-US"/>
          </a:p>
        </p:txBody>
      </p:sp>
      <p:graphicFrame>
        <p:nvGraphicFramePr>
          <p:cNvPr id="8198" name="Object 6"/>
          <p:cNvGraphicFramePr>
            <a:graphicFrameLocks noChangeAspect="1"/>
          </p:cNvGraphicFramePr>
          <p:nvPr/>
        </p:nvGraphicFramePr>
        <p:xfrm>
          <a:off x="6067425" y="4495800"/>
          <a:ext cx="2466975" cy="673100"/>
        </p:xfrm>
        <a:graphic>
          <a:graphicData uri="http://schemas.openxmlformats.org/presentationml/2006/ole">
            <mc:AlternateContent xmlns:mc="http://schemas.openxmlformats.org/markup-compatibility/2006">
              <mc:Choice xmlns:v="urn:schemas-microsoft-com:vml" Requires="v">
                <p:oleObj spid="_x0000_s1168397" name="Equation" r:id="rId4" imgW="939392" imgH="253890" progId="Equation.3">
                  <p:embed/>
                </p:oleObj>
              </mc:Choice>
              <mc:Fallback>
                <p:oleObj name="Equation" r:id="rId4" imgW="939392" imgH="253890" progId="Equation.3">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67425" y="4495800"/>
                        <a:ext cx="2466975" cy="6731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srcRect/>
          <a:stretch>
            <a:fillRect/>
          </a:stretch>
        </p:blipFill>
        <p:spPr bwMode="auto">
          <a:xfrm>
            <a:off x="304800" y="1676400"/>
            <a:ext cx="8839200" cy="4360863"/>
          </a:xfrm>
          <a:prstGeom prst="rect">
            <a:avLst/>
          </a:prstGeom>
          <a:noFill/>
          <a:ln w="9525">
            <a:noFill/>
            <a:miter lim="800000"/>
            <a:headEnd/>
            <a:tailEnd/>
          </a:ln>
          <a:effectLst/>
        </p:spPr>
      </p:pic>
      <p:sp>
        <p:nvSpPr>
          <p:cNvPr id="16387" name="Text Box 3"/>
          <p:cNvSpPr txBox="1">
            <a:spLocks noChangeArrowheads="1"/>
          </p:cNvSpPr>
          <p:nvPr/>
        </p:nvSpPr>
        <p:spPr bwMode="auto">
          <a:xfrm>
            <a:off x="609600" y="304800"/>
            <a:ext cx="8229600" cy="1187450"/>
          </a:xfrm>
          <a:prstGeom prst="rect">
            <a:avLst/>
          </a:prstGeom>
          <a:noFill/>
          <a:ln w="9525">
            <a:noFill/>
            <a:miter lim="800000"/>
            <a:headEnd/>
            <a:tailEnd/>
          </a:ln>
          <a:effectLst/>
        </p:spPr>
        <p:txBody>
          <a:bodyPr>
            <a:spAutoFit/>
          </a:bodyPr>
          <a:lstStyle/>
          <a:p>
            <a:pPr>
              <a:spcBef>
                <a:spcPct val="50000"/>
              </a:spcBef>
            </a:pPr>
            <a:r>
              <a:rPr lang="en-US"/>
              <a:t>Measured magnetic moments include contributions from both spin and orbital spin.  In the first transition series complexes the orbital contribution is small and usually ignored.</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 Box 2"/>
          <p:cNvSpPr txBox="1">
            <a:spLocks noChangeArrowheads="1"/>
          </p:cNvSpPr>
          <p:nvPr/>
        </p:nvSpPr>
        <p:spPr bwMode="auto">
          <a:xfrm>
            <a:off x="1822450" y="2744788"/>
            <a:ext cx="5805488" cy="946150"/>
          </a:xfrm>
          <a:prstGeom prst="rect">
            <a:avLst/>
          </a:prstGeom>
          <a:noFill/>
          <a:ln w="9525">
            <a:noFill/>
            <a:miter lim="800000"/>
            <a:headEnd/>
            <a:tailEnd/>
          </a:ln>
          <a:effectLst/>
        </p:spPr>
        <p:txBody>
          <a:bodyPr wrap="none">
            <a:spAutoFit/>
          </a:bodyPr>
          <a:lstStyle/>
          <a:p>
            <a:pPr algn="ctr" eaLnBrk="1" hangingPunct="1"/>
            <a:r>
              <a:rPr lang="en-US" sz="2800" i="1">
                <a:solidFill>
                  <a:schemeClr val="accent2"/>
                </a:solidFill>
                <a:latin typeface="Times New Roman" pitchFamily="18" charset="0"/>
                <a:cs typeface="Arial" charset="0"/>
              </a:rPr>
              <a:t>Coordination Chemistry:</a:t>
            </a:r>
          </a:p>
          <a:p>
            <a:pPr algn="ctr" eaLnBrk="1" hangingPunct="1"/>
            <a:r>
              <a:rPr lang="en-US" sz="2800" i="1">
                <a:solidFill>
                  <a:schemeClr val="accent2"/>
                </a:solidFill>
                <a:latin typeface="Times New Roman" pitchFamily="18" charset="0"/>
                <a:cs typeface="Arial" charset="0"/>
              </a:rPr>
              <a:t>Molecular orbitals for metal complexes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3"/>
          <a:srcRect/>
          <a:stretch>
            <a:fillRect/>
          </a:stretch>
        </p:blipFill>
        <p:spPr bwMode="auto">
          <a:xfrm>
            <a:off x="5334000" y="1447800"/>
            <a:ext cx="2524125" cy="2057400"/>
          </a:xfrm>
          <a:prstGeom prst="rect">
            <a:avLst/>
          </a:prstGeom>
          <a:noFill/>
          <a:ln w="9525">
            <a:noFill/>
            <a:miter lim="800000"/>
            <a:headEnd/>
            <a:tailEnd/>
          </a:ln>
          <a:effectLst/>
        </p:spPr>
      </p:pic>
      <p:pic>
        <p:nvPicPr>
          <p:cNvPr id="30723" name="Picture 3"/>
          <p:cNvPicPr>
            <a:picLocks noChangeAspect="1" noChangeArrowheads="1"/>
          </p:cNvPicPr>
          <p:nvPr/>
        </p:nvPicPr>
        <p:blipFill>
          <a:blip r:embed="rId4"/>
          <a:srcRect/>
          <a:stretch>
            <a:fillRect/>
          </a:stretch>
        </p:blipFill>
        <p:spPr bwMode="auto">
          <a:xfrm>
            <a:off x="1190625" y="990600"/>
            <a:ext cx="3305175" cy="2735263"/>
          </a:xfrm>
          <a:prstGeom prst="rect">
            <a:avLst/>
          </a:prstGeom>
          <a:noFill/>
          <a:ln w="9525">
            <a:noFill/>
            <a:miter lim="800000"/>
            <a:headEnd/>
            <a:tailEnd/>
          </a:ln>
          <a:effectLst/>
        </p:spPr>
      </p:pic>
      <p:pic>
        <p:nvPicPr>
          <p:cNvPr id="30724" name="Picture 4"/>
          <p:cNvPicPr>
            <a:picLocks noChangeAspect="1" noChangeArrowheads="1"/>
          </p:cNvPicPr>
          <p:nvPr/>
        </p:nvPicPr>
        <p:blipFill>
          <a:blip r:embed="rId5"/>
          <a:srcRect/>
          <a:stretch>
            <a:fillRect/>
          </a:stretch>
        </p:blipFill>
        <p:spPr bwMode="auto">
          <a:xfrm>
            <a:off x="1066800" y="4343400"/>
            <a:ext cx="6464300" cy="1782763"/>
          </a:xfrm>
          <a:prstGeom prst="rect">
            <a:avLst/>
          </a:prstGeom>
          <a:noFill/>
          <a:ln w="9525">
            <a:noFill/>
            <a:miter lim="800000"/>
            <a:headEnd/>
            <a:tailEnd/>
          </a:ln>
          <a:effectLst/>
        </p:spPr>
      </p:pic>
      <p:sp>
        <p:nvSpPr>
          <p:cNvPr id="30725" name="Text Box 5"/>
          <p:cNvSpPr txBox="1">
            <a:spLocks noChangeArrowheads="1"/>
          </p:cNvSpPr>
          <p:nvPr/>
        </p:nvSpPr>
        <p:spPr bwMode="auto">
          <a:xfrm>
            <a:off x="914400" y="228600"/>
            <a:ext cx="766286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symmetry of metal orbitals in an octahedral environment</a:t>
            </a:r>
          </a:p>
        </p:txBody>
      </p:sp>
      <p:sp>
        <p:nvSpPr>
          <p:cNvPr id="30726" name="Text Box 6"/>
          <p:cNvSpPr txBox="1">
            <a:spLocks noChangeArrowheads="1"/>
          </p:cNvSpPr>
          <p:nvPr/>
        </p:nvSpPr>
        <p:spPr bwMode="auto">
          <a:xfrm>
            <a:off x="7848600" y="2438400"/>
            <a:ext cx="506413" cy="366713"/>
          </a:xfrm>
          <a:prstGeom prst="rect">
            <a:avLst/>
          </a:prstGeom>
          <a:noFill/>
          <a:ln w="9525">
            <a:noFill/>
            <a:miter lim="800000"/>
            <a:headEnd/>
            <a:tailEnd/>
          </a:ln>
          <a:effectLst/>
        </p:spPr>
        <p:txBody>
          <a:bodyPr>
            <a:spAutoFit/>
          </a:bodyPr>
          <a:lstStyle/>
          <a:p>
            <a:pPr eaLnBrk="1" hangingPunct="1"/>
            <a:r>
              <a:rPr lang="en-US" sz="1800" i="1">
                <a:solidFill>
                  <a:schemeClr val="accent2"/>
                </a:solidFill>
                <a:latin typeface="Times New Roman" pitchFamily="18" charset="0"/>
                <a:cs typeface="Arial" charset="0"/>
              </a:rPr>
              <a:t>A</a:t>
            </a:r>
            <a:r>
              <a:rPr lang="en-US" sz="1800" i="1" baseline="-25000">
                <a:solidFill>
                  <a:schemeClr val="accent2"/>
                </a:solidFill>
                <a:latin typeface="Times New Roman" pitchFamily="18" charset="0"/>
                <a:cs typeface="Arial" charset="0"/>
              </a:rPr>
              <a:t>1g</a:t>
            </a:r>
            <a:endParaRPr lang="en-US" sz="1800" i="1">
              <a:solidFill>
                <a:schemeClr val="accent2"/>
              </a:solidFill>
              <a:latin typeface="Times New Roman" pitchFamily="18" charset="0"/>
              <a:cs typeface="Arial" charset="0"/>
            </a:endParaRPr>
          </a:p>
        </p:txBody>
      </p:sp>
      <p:sp>
        <p:nvSpPr>
          <p:cNvPr id="30727" name="Text Box 7"/>
          <p:cNvSpPr txBox="1">
            <a:spLocks noChangeArrowheads="1"/>
          </p:cNvSpPr>
          <p:nvPr/>
        </p:nvSpPr>
        <p:spPr bwMode="auto">
          <a:xfrm>
            <a:off x="7848600" y="5181600"/>
            <a:ext cx="506413" cy="366713"/>
          </a:xfrm>
          <a:prstGeom prst="rect">
            <a:avLst/>
          </a:prstGeom>
          <a:noFill/>
          <a:ln w="9525">
            <a:noFill/>
            <a:miter lim="800000"/>
            <a:headEnd/>
            <a:tailEnd/>
          </a:ln>
          <a:effectLst/>
        </p:spPr>
        <p:txBody>
          <a:bodyPr>
            <a:spAutoFit/>
          </a:bodyPr>
          <a:lstStyle/>
          <a:p>
            <a:pPr eaLnBrk="1" hangingPunct="1"/>
            <a:r>
              <a:rPr lang="en-US" sz="1800" i="1">
                <a:solidFill>
                  <a:schemeClr val="accent2"/>
                </a:solidFill>
                <a:latin typeface="Times New Roman" pitchFamily="18" charset="0"/>
                <a:cs typeface="Arial" charset="0"/>
              </a:rPr>
              <a:t>T</a:t>
            </a:r>
            <a:r>
              <a:rPr lang="en-US" sz="1800" i="1" baseline="-25000">
                <a:solidFill>
                  <a:schemeClr val="accent2"/>
                </a:solidFill>
                <a:latin typeface="Times New Roman" pitchFamily="18" charset="0"/>
                <a:cs typeface="Arial" charset="0"/>
              </a:rPr>
              <a:t>1u</a:t>
            </a:r>
            <a:endParaRPr lang="en-US" sz="1800" i="1">
              <a:solidFill>
                <a:schemeClr val="accent2"/>
              </a:solidFill>
              <a:latin typeface="Times New Roman" pitchFamily="18" charset="0"/>
              <a:cs typeface="Arial"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307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07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07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307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autoUpdateAnimBg="0"/>
      <p:bldP spid="30727" grpId="0" autoUpdateAnimBg="0"/>
    </p:bld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srcRect/>
          <a:stretch>
            <a:fillRect/>
          </a:stretch>
        </p:blipFill>
        <p:spPr bwMode="auto">
          <a:xfrm>
            <a:off x="609600" y="1219200"/>
            <a:ext cx="6286500" cy="4160838"/>
          </a:xfrm>
          <a:prstGeom prst="rect">
            <a:avLst/>
          </a:prstGeom>
          <a:noFill/>
          <a:ln w="9525">
            <a:noFill/>
            <a:miter lim="800000"/>
            <a:headEnd/>
            <a:tailEnd/>
          </a:ln>
          <a:effectLst/>
        </p:spPr>
      </p:pic>
      <p:pic>
        <p:nvPicPr>
          <p:cNvPr id="31747" name="Picture 3"/>
          <p:cNvPicPr>
            <a:picLocks noChangeAspect="1" noChangeArrowheads="1"/>
          </p:cNvPicPr>
          <p:nvPr/>
        </p:nvPicPr>
        <p:blipFill>
          <a:blip r:embed="rId4"/>
          <a:srcRect/>
          <a:stretch>
            <a:fillRect/>
          </a:stretch>
        </p:blipFill>
        <p:spPr bwMode="auto">
          <a:xfrm>
            <a:off x="5229225" y="3436938"/>
            <a:ext cx="3305175" cy="2735262"/>
          </a:xfrm>
          <a:prstGeom prst="rect">
            <a:avLst/>
          </a:prstGeom>
          <a:noFill/>
          <a:ln w="9525">
            <a:noFill/>
            <a:miter lim="800000"/>
            <a:headEnd/>
            <a:tailEnd/>
          </a:ln>
          <a:effectLst/>
        </p:spPr>
      </p:pic>
      <p:sp>
        <p:nvSpPr>
          <p:cNvPr id="31748" name="Text Box 4"/>
          <p:cNvSpPr txBox="1">
            <a:spLocks noChangeArrowheads="1"/>
          </p:cNvSpPr>
          <p:nvPr/>
        </p:nvSpPr>
        <p:spPr bwMode="auto">
          <a:xfrm>
            <a:off x="7391400" y="2133600"/>
            <a:ext cx="506413" cy="366713"/>
          </a:xfrm>
          <a:prstGeom prst="rect">
            <a:avLst/>
          </a:prstGeom>
          <a:noFill/>
          <a:ln w="9525">
            <a:noFill/>
            <a:miter lim="800000"/>
            <a:headEnd/>
            <a:tailEnd/>
          </a:ln>
          <a:effectLst/>
        </p:spPr>
        <p:txBody>
          <a:bodyPr>
            <a:spAutoFit/>
          </a:bodyPr>
          <a:lstStyle/>
          <a:p>
            <a:pPr eaLnBrk="1" hangingPunct="1"/>
            <a:r>
              <a:rPr lang="en-US" sz="1800" i="1">
                <a:solidFill>
                  <a:schemeClr val="accent2"/>
                </a:solidFill>
                <a:latin typeface="Times New Roman" pitchFamily="18" charset="0"/>
                <a:cs typeface="Arial" charset="0"/>
              </a:rPr>
              <a:t>T</a:t>
            </a:r>
            <a:r>
              <a:rPr lang="en-US" sz="1800" i="1" baseline="-25000">
                <a:solidFill>
                  <a:schemeClr val="accent2"/>
                </a:solidFill>
                <a:latin typeface="Times New Roman" pitchFamily="18" charset="0"/>
                <a:cs typeface="Arial" charset="0"/>
              </a:rPr>
              <a:t>2g</a:t>
            </a:r>
            <a:endParaRPr lang="en-US" sz="1800" i="1">
              <a:solidFill>
                <a:schemeClr val="accent2"/>
              </a:solidFill>
              <a:latin typeface="Times New Roman" pitchFamily="18" charset="0"/>
              <a:cs typeface="Arial" charset="0"/>
            </a:endParaRPr>
          </a:p>
        </p:txBody>
      </p:sp>
      <p:sp>
        <p:nvSpPr>
          <p:cNvPr id="31749" name="Text Box 5"/>
          <p:cNvSpPr txBox="1">
            <a:spLocks noChangeArrowheads="1"/>
          </p:cNvSpPr>
          <p:nvPr/>
        </p:nvSpPr>
        <p:spPr bwMode="auto">
          <a:xfrm>
            <a:off x="228600" y="4343400"/>
            <a:ext cx="506413" cy="366713"/>
          </a:xfrm>
          <a:prstGeom prst="rect">
            <a:avLst/>
          </a:prstGeom>
          <a:noFill/>
          <a:ln w="9525">
            <a:noFill/>
            <a:miter lim="800000"/>
            <a:headEnd/>
            <a:tailEnd/>
          </a:ln>
          <a:effectLst/>
        </p:spPr>
        <p:txBody>
          <a:bodyPr>
            <a:spAutoFit/>
          </a:bodyPr>
          <a:lstStyle/>
          <a:p>
            <a:r>
              <a:rPr lang="en-US" sz="1800" i="1">
                <a:solidFill>
                  <a:schemeClr val="accent2"/>
                </a:solidFill>
                <a:latin typeface="Times New Roman" pitchFamily="18" charset="0"/>
                <a:cs typeface="Arial" charset="0"/>
              </a:rPr>
              <a:t>E</a:t>
            </a:r>
            <a:r>
              <a:rPr lang="en-US" sz="1800" i="1" baseline="-25000">
                <a:solidFill>
                  <a:schemeClr val="accent2"/>
                </a:solidFill>
                <a:latin typeface="Times New Roman" pitchFamily="18" charset="0"/>
                <a:cs typeface="Arial" charset="0"/>
              </a:rPr>
              <a:t>g</a:t>
            </a:r>
            <a:endParaRPr lang="en-US" sz="1800" i="1">
              <a:solidFill>
                <a:schemeClr val="accent2"/>
              </a:solidFill>
              <a:latin typeface="Times New Roman" pitchFamily="18" charset="0"/>
              <a:cs typeface="Arial" charset="0"/>
            </a:endParaRPr>
          </a:p>
        </p:txBody>
      </p:sp>
      <p:sp>
        <p:nvSpPr>
          <p:cNvPr id="31750" name="Text Box 6"/>
          <p:cNvSpPr txBox="1">
            <a:spLocks noChangeArrowheads="1"/>
          </p:cNvSpPr>
          <p:nvPr/>
        </p:nvSpPr>
        <p:spPr bwMode="auto">
          <a:xfrm>
            <a:off x="914400" y="228600"/>
            <a:ext cx="766286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symmetry of metal orbitals in an octahedral environment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174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317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8" grpId="0" autoUpdateAnimBg="0"/>
      <p:bldP spid="31749" grpId="0" autoUpdateAnimBg="0"/>
    </p:bld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srcRect/>
          <a:stretch>
            <a:fillRect/>
          </a:stretch>
        </p:blipFill>
        <p:spPr bwMode="auto">
          <a:xfrm>
            <a:off x="152400" y="1817688"/>
            <a:ext cx="8839200" cy="3516312"/>
          </a:xfrm>
          <a:prstGeom prst="rect">
            <a:avLst/>
          </a:prstGeom>
          <a:noFill/>
          <a:ln w="9525">
            <a:noFill/>
            <a:miter lim="800000"/>
            <a:headEnd/>
            <a:tailEnd/>
          </a:ln>
          <a:effectLst/>
        </p:spPr>
      </p:pic>
      <p:sp>
        <p:nvSpPr>
          <p:cNvPr id="32771" name="Text Box 3"/>
          <p:cNvSpPr txBox="1">
            <a:spLocks noChangeArrowheads="1"/>
          </p:cNvSpPr>
          <p:nvPr/>
        </p:nvSpPr>
        <p:spPr bwMode="auto">
          <a:xfrm>
            <a:off x="914400" y="685800"/>
            <a:ext cx="766286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symmetry of metal orbitals in an octahedral environment</a:t>
            </a:r>
          </a:p>
        </p:txBody>
      </p:sp>
      <p:grpSp>
        <p:nvGrpSpPr>
          <p:cNvPr id="2" name="Group 4"/>
          <p:cNvGrpSpPr>
            <a:grpSpLocks/>
          </p:cNvGrpSpPr>
          <p:nvPr/>
        </p:nvGrpSpPr>
        <p:grpSpPr bwMode="auto">
          <a:xfrm>
            <a:off x="152400" y="2590800"/>
            <a:ext cx="7124700" cy="381000"/>
            <a:chOff x="96" y="1632"/>
            <a:chExt cx="4488" cy="240"/>
          </a:xfrm>
        </p:grpSpPr>
        <p:sp>
          <p:nvSpPr>
            <p:cNvPr id="32773" name="Text Box 5"/>
            <p:cNvSpPr txBox="1">
              <a:spLocks noChangeArrowheads="1"/>
            </p:cNvSpPr>
            <p:nvPr/>
          </p:nvSpPr>
          <p:spPr bwMode="auto">
            <a:xfrm>
              <a:off x="4406" y="1632"/>
              <a:ext cx="178" cy="237"/>
            </a:xfrm>
            <a:prstGeom prst="rect">
              <a:avLst/>
            </a:prstGeom>
            <a:noFill/>
            <a:ln w="9525">
              <a:solidFill>
                <a:srgbClr val="FF0000"/>
              </a:solidFill>
              <a:miter lim="800000"/>
              <a:headEnd/>
              <a:tailEnd/>
            </a:ln>
            <a:effectLst/>
          </p:spPr>
          <p:txBody>
            <a:bodyPr wrap="none">
              <a:spAutoFit/>
            </a:bodyPr>
            <a:lstStyle/>
            <a:p>
              <a:pPr eaLnBrk="1" hangingPunct="1"/>
              <a:r>
                <a:rPr lang="en-US" sz="1800" i="1">
                  <a:solidFill>
                    <a:srgbClr val="FF0000"/>
                  </a:solidFill>
                  <a:latin typeface="Times New Roman" pitchFamily="18" charset="0"/>
                  <a:cs typeface="Arial" charset="0"/>
                </a:rPr>
                <a:t>s</a:t>
              </a:r>
            </a:p>
          </p:txBody>
        </p:sp>
        <p:sp>
          <p:nvSpPr>
            <p:cNvPr id="32774" name="Oval 6"/>
            <p:cNvSpPr>
              <a:spLocks noChangeArrowheads="1"/>
            </p:cNvSpPr>
            <p:nvPr/>
          </p:nvSpPr>
          <p:spPr bwMode="auto">
            <a:xfrm>
              <a:off x="96" y="1680"/>
              <a:ext cx="336" cy="192"/>
            </a:xfrm>
            <a:prstGeom prst="ellipse">
              <a:avLst/>
            </a:prstGeom>
            <a:noFill/>
            <a:ln w="9525">
              <a:solidFill>
                <a:srgbClr val="FF0000"/>
              </a:solidFill>
              <a:round/>
              <a:headEnd/>
              <a:tailEnd/>
            </a:ln>
            <a:effectLst/>
          </p:spPr>
          <p:txBody>
            <a:bodyPr wrap="none" anchor="ctr"/>
            <a:lstStyle/>
            <a:p>
              <a:endParaRPr lang="en-US"/>
            </a:p>
          </p:txBody>
        </p:sp>
      </p:grpSp>
      <p:grpSp>
        <p:nvGrpSpPr>
          <p:cNvPr id="3" name="Group 7"/>
          <p:cNvGrpSpPr>
            <a:grpSpLocks/>
          </p:cNvGrpSpPr>
          <p:nvPr/>
        </p:nvGrpSpPr>
        <p:grpSpPr bwMode="auto">
          <a:xfrm>
            <a:off x="152400" y="4724400"/>
            <a:ext cx="7391400" cy="381000"/>
            <a:chOff x="96" y="2976"/>
            <a:chExt cx="4656" cy="240"/>
          </a:xfrm>
        </p:grpSpPr>
        <p:sp>
          <p:nvSpPr>
            <p:cNvPr id="32776" name="Rectangle 8"/>
            <p:cNvSpPr>
              <a:spLocks noChangeArrowheads="1"/>
            </p:cNvSpPr>
            <p:nvPr/>
          </p:nvSpPr>
          <p:spPr bwMode="auto">
            <a:xfrm>
              <a:off x="4320" y="2976"/>
              <a:ext cx="432" cy="240"/>
            </a:xfrm>
            <a:prstGeom prst="rect">
              <a:avLst/>
            </a:prstGeom>
            <a:noFill/>
            <a:ln w="9525">
              <a:solidFill>
                <a:srgbClr val="FF0000"/>
              </a:solidFill>
              <a:miter lim="800000"/>
              <a:headEnd/>
              <a:tailEnd/>
            </a:ln>
            <a:effectLst/>
          </p:spPr>
          <p:txBody>
            <a:bodyPr wrap="none" anchor="ctr"/>
            <a:lstStyle/>
            <a:p>
              <a:endParaRPr lang="en-US"/>
            </a:p>
          </p:txBody>
        </p:sp>
        <p:sp>
          <p:nvSpPr>
            <p:cNvPr id="32777" name="Oval 9"/>
            <p:cNvSpPr>
              <a:spLocks noChangeArrowheads="1"/>
            </p:cNvSpPr>
            <p:nvPr/>
          </p:nvSpPr>
          <p:spPr bwMode="auto">
            <a:xfrm>
              <a:off x="96" y="2976"/>
              <a:ext cx="336" cy="192"/>
            </a:xfrm>
            <a:prstGeom prst="ellipse">
              <a:avLst/>
            </a:prstGeom>
            <a:noFill/>
            <a:ln w="9525">
              <a:solidFill>
                <a:srgbClr val="FF0000"/>
              </a:solidFill>
              <a:round/>
              <a:headEnd/>
              <a:tailEnd/>
            </a:ln>
            <a:effectLst/>
          </p:spPr>
          <p:txBody>
            <a:bodyPr wrap="none" anchor="ctr"/>
            <a:lstStyle/>
            <a:p>
              <a:endParaRPr lang="en-US"/>
            </a:p>
          </p:txBody>
        </p:sp>
      </p:grpSp>
      <p:grpSp>
        <p:nvGrpSpPr>
          <p:cNvPr id="4" name="Group 10"/>
          <p:cNvGrpSpPr>
            <a:grpSpLocks/>
          </p:cNvGrpSpPr>
          <p:nvPr/>
        </p:nvGrpSpPr>
        <p:grpSpPr bwMode="auto">
          <a:xfrm>
            <a:off x="152400" y="3733800"/>
            <a:ext cx="8610600" cy="457200"/>
            <a:chOff x="96" y="2352"/>
            <a:chExt cx="5424" cy="288"/>
          </a:xfrm>
        </p:grpSpPr>
        <p:sp>
          <p:nvSpPr>
            <p:cNvPr id="32779" name="Rectangle 11"/>
            <p:cNvSpPr>
              <a:spLocks noChangeArrowheads="1"/>
            </p:cNvSpPr>
            <p:nvPr/>
          </p:nvSpPr>
          <p:spPr bwMode="auto">
            <a:xfrm>
              <a:off x="5040" y="2352"/>
              <a:ext cx="480" cy="288"/>
            </a:xfrm>
            <a:prstGeom prst="rect">
              <a:avLst/>
            </a:prstGeom>
            <a:noFill/>
            <a:ln w="9525">
              <a:solidFill>
                <a:srgbClr val="FF0000"/>
              </a:solidFill>
              <a:miter lim="800000"/>
              <a:headEnd/>
              <a:tailEnd/>
            </a:ln>
            <a:effectLst/>
          </p:spPr>
          <p:txBody>
            <a:bodyPr wrap="none" anchor="ctr"/>
            <a:lstStyle/>
            <a:p>
              <a:endParaRPr lang="en-US"/>
            </a:p>
          </p:txBody>
        </p:sp>
        <p:sp>
          <p:nvSpPr>
            <p:cNvPr id="32780" name="Oval 12"/>
            <p:cNvSpPr>
              <a:spLocks noChangeArrowheads="1"/>
            </p:cNvSpPr>
            <p:nvPr/>
          </p:nvSpPr>
          <p:spPr bwMode="auto">
            <a:xfrm>
              <a:off x="96" y="2400"/>
              <a:ext cx="336" cy="192"/>
            </a:xfrm>
            <a:prstGeom prst="ellipse">
              <a:avLst/>
            </a:prstGeom>
            <a:noFill/>
            <a:ln w="9525">
              <a:solidFill>
                <a:srgbClr val="FF0000"/>
              </a:solidFill>
              <a:round/>
              <a:headEnd/>
              <a:tailEnd/>
            </a:ln>
            <a:effectLst/>
          </p:spPr>
          <p:txBody>
            <a:bodyPr wrap="none" anchor="ctr"/>
            <a:lstStyle/>
            <a:p>
              <a:endParaRPr lang="en-US"/>
            </a:p>
          </p:txBody>
        </p:sp>
      </p:grpSp>
      <p:grpSp>
        <p:nvGrpSpPr>
          <p:cNvPr id="5" name="Group 13"/>
          <p:cNvGrpSpPr>
            <a:grpSpLocks/>
          </p:cNvGrpSpPr>
          <p:nvPr/>
        </p:nvGrpSpPr>
        <p:grpSpPr bwMode="auto">
          <a:xfrm>
            <a:off x="152400" y="3048000"/>
            <a:ext cx="8763000" cy="609600"/>
            <a:chOff x="96" y="1920"/>
            <a:chExt cx="5520" cy="384"/>
          </a:xfrm>
        </p:grpSpPr>
        <p:sp>
          <p:nvSpPr>
            <p:cNvPr id="32782" name="Rectangle 14"/>
            <p:cNvSpPr>
              <a:spLocks noChangeArrowheads="1"/>
            </p:cNvSpPr>
            <p:nvPr/>
          </p:nvSpPr>
          <p:spPr bwMode="auto">
            <a:xfrm>
              <a:off x="4896" y="1920"/>
              <a:ext cx="720" cy="384"/>
            </a:xfrm>
            <a:prstGeom prst="rect">
              <a:avLst/>
            </a:prstGeom>
            <a:noFill/>
            <a:ln w="9525">
              <a:solidFill>
                <a:srgbClr val="FF0000"/>
              </a:solidFill>
              <a:miter lim="800000"/>
              <a:headEnd/>
              <a:tailEnd/>
            </a:ln>
            <a:effectLst/>
          </p:spPr>
          <p:txBody>
            <a:bodyPr wrap="none" anchor="ctr"/>
            <a:lstStyle/>
            <a:p>
              <a:endParaRPr lang="en-US"/>
            </a:p>
          </p:txBody>
        </p:sp>
        <p:sp>
          <p:nvSpPr>
            <p:cNvPr id="32783" name="Oval 15"/>
            <p:cNvSpPr>
              <a:spLocks noChangeArrowheads="1"/>
            </p:cNvSpPr>
            <p:nvPr/>
          </p:nvSpPr>
          <p:spPr bwMode="auto">
            <a:xfrm>
              <a:off x="96" y="1968"/>
              <a:ext cx="336" cy="192"/>
            </a:xfrm>
            <a:prstGeom prst="ellipse">
              <a:avLst/>
            </a:prstGeom>
            <a:noFill/>
            <a:ln w="9525">
              <a:solidFill>
                <a:srgbClr val="FF0000"/>
              </a:solidFill>
              <a:round/>
              <a:headEnd/>
              <a:tailEnd/>
            </a:ln>
            <a:effectLst/>
          </p:spPr>
          <p:txBody>
            <a:bodyPr wrap="none" anchor="ctr"/>
            <a:lstStyle/>
            <a:p>
              <a:endParaRPr lang="en-US"/>
            </a:p>
          </p:txBody>
        </p:sp>
      </p:grpSp>
      <p:sp>
        <p:nvSpPr>
          <p:cNvPr id="6" name="Footer Placeholder 5"/>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3"/>
          <a:srcRect/>
          <a:stretch>
            <a:fillRect/>
          </a:stretch>
        </p:blipFill>
        <p:spPr bwMode="auto">
          <a:xfrm>
            <a:off x="3397250" y="2006600"/>
            <a:ext cx="2349500" cy="3098800"/>
          </a:xfrm>
          <a:prstGeom prst="rect">
            <a:avLst/>
          </a:prstGeom>
          <a:noFill/>
          <a:ln w="9525">
            <a:noFill/>
            <a:miter lim="800000"/>
            <a:headEnd/>
            <a:tailEnd/>
          </a:ln>
          <a:effectLst/>
        </p:spPr>
      </p:pic>
      <p:sp>
        <p:nvSpPr>
          <p:cNvPr id="33795" name="Text Box 3"/>
          <p:cNvSpPr txBox="1">
            <a:spLocks noChangeArrowheads="1"/>
          </p:cNvSpPr>
          <p:nvPr/>
        </p:nvSpPr>
        <p:spPr bwMode="auto">
          <a:xfrm>
            <a:off x="914400" y="685800"/>
            <a:ext cx="7251700"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Metal-ligand </a:t>
            </a:r>
            <a:r>
              <a:rPr lang="en-US" i="1">
                <a:solidFill>
                  <a:schemeClr val="accent2"/>
                </a:solidFill>
                <a:latin typeface="Symbol" pitchFamily="18" charset="2"/>
                <a:cs typeface="Arial" charset="0"/>
              </a:rPr>
              <a:t>s</a:t>
            </a:r>
            <a:r>
              <a:rPr lang="en-US" i="1">
                <a:solidFill>
                  <a:schemeClr val="accent2"/>
                </a:solidFill>
                <a:latin typeface="Times New Roman" pitchFamily="18" charset="0"/>
                <a:cs typeface="Arial" charset="0"/>
              </a:rPr>
              <a:t> interactions in an octahedral environment</a:t>
            </a:r>
          </a:p>
        </p:txBody>
      </p:sp>
      <p:sp>
        <p:nvSpPr>
          <p:cNvPr id="33796" name="Text Box 4"/>
          <p:cNvSpPr txBox="1">
            <a:spLocks noChangeArrowheads="1"/>
          </p:cNvSpPr>
          <p:nvPr/>
        </p:nvSpPr>
        <p:spPr bwMode="auto">
          <a:xfrm>
            <a:off x="304800" y="1219200"/>
            <a:ext cx="8359775" cy="396875"/>
          </a:xfrm>
          <a:prstGeom prst="rect">
            <a:avLst/>
          </a:prstGeom>
          <a:noFill/>
          <a:ln w="9525">
            <a:noFill/>
            <a:miter lim="800000"/>
            <a:headEnd/>
            <a:tailEnd/>
          </a:ln>
          <a:effectLst/>
        </p:spPr>
        <p:txBody>
          <a:bodyPr wrap="none">
            <a:spAutoFit/>
          </a:bodyPr>
          <a:lstStyle/>
          <a:p>
            <a:pPr eaLnBrk="1" hangingPunct="1"/>
            <a:r>
              <a:rPr lang="en-US" sz="2000" i="1">
                <a:solidFill>
                  <a:srgbClr val="FF0000"/>
                </a:solidFill>
                <a:latin typeface="Times New Roman" pitchFamily="18" charset="0"/>
                <a:cs typeface="Arial" charset="0"/>
              </a:rPr>
              <a:t>Six ligand orbitals of </a:t>
            </a:r>
            <a:r>
              <a:rPr lang="en-US" sz="2000" i="1">
                <a:solidFill>
                  <a:srgbClr val="FF0000"/>
                </a:solidFill>
                <a:latin typeface="Symbol" pitchFamily="18" charset="2"/>
                <a:cs typeface="Arial" charset="0"/>
              </a:rPr>
              <a:t>s</a:t>
            </a:r>
            <a:r>
              <a:rPr lang="en-US" sz="2000" i="1">
                <a:solidFill>
                  <a:srgbClr val="FF0000"/>
                </a:solidFill>
                <a:latin typeface="Times New Roman" pitchFamily="18" charset="0"/>
                <a:cs typeface="Arial" charset="0"/>
              </a:rPr>
              <a:t> symmetry approaching the metal ion along the x,y,z axes</a:t>
            </a:r>
          </a:p>
        </p:txBody>
      </p:sp>
      <p:sp>
        <p:nvSpPr>
          <p:cNvPr id="33797" name="Text Box 5"/>
          <p:cNvSpPr txBox="1">
            <a:spLocks noChangeArrowheads="1"/>
          </p:cNvSpPr>
          <p:nvPr/>
        </p:nvSpPr>
        <p:spPr bwMode="auto">
          <a:xfrm>
            <a:off x="1679575" y="5622925"/>
            <a:ext cx="5746750" cy="701675"/>
          </a:xfrm>
          <a:prstGeom prst="rect">
            <a:avLst/>
          </a:prstGeom>
          <a:noFill/>
          <a:ln w="9525">
            <a:noFill/>
            <a:miter lim="800000"/>
            <a:headEnd/>
            <a:tailEnd/>
          </a:ln>
          <a:effectLst/>
        </p:spPr>
        <p:txBody>
          <a:bodyPr wrap="none">
            <a:spAutoFit/>
          </a:bodyPr>
          <a:lstStyle/>
          <a:p>
            <a:pPr algn="ctr" eaLnBrk="1" hangingPunct="1"/>
            <a:r>
              <a:rPr lang="en-US" sz="2000" i="1">
                <a:latin typeface="Times New Roman" pitchFamily="18" charset="0"/>
                <a:cs typeface="Arial" charset="0"/>
              </a:rPr>
              <a:t>We can build 6 </a:t>
            </a:r>
            <a:r>
              <a:rPr lang="en-US" sz="2000" i="1" u="sng">
                <a:latin typeface="Times New Roman" pitchFamily="18" charset="0"/>
                <a:cs typeface="Arial" charset="0"/>
              </a:rPr>
              <a:t>group orbitals</a:t>
            </a:r>
            <a:r>
              <a:rPr lang="en-US" sz="2000" i="1">
                <a:latin typeface="Times New Roman" pitchFamily="18" charset="0"/>
                <a:cs typeface="Arial" charset="0"/>
              </a:rPr>
              <a:t> of </a:t>
            </a:r>
            <a:r>
              <a:rPr lang="en-US" sz="2000" i="1">
                <a:latin typeface="Symbol" pitchFamily="18" charset="2"/>
                <a:cs typeface="Arial" charset="0"/>
              </a:rPr>
              <a:t>s</a:t>
            </a:r>
            <a:r>
              <a:rPr lang="en-US" sz="2000" i="1">
                <a:latin typeface="Times New Roman" pitchFamily="18" charset="0"/>
                <a:cs typeface="Arial" charset="0"/>
              </a:rPr>
              <a:t> symmetry as before</a:t>
            </a:r>
          </a:p>
          <a:p>
            <a:pPr algn="ctr" eaLnBrk="1" hangingPunct="1"/>
            <a:r>
              <a:rPr lang="en-US" sz="2000" i="1">
                <a:latin typeface="Times New Roman" pitchFamily="18" charset="0"/>
                <a:cs typeface="Arial" charset="0"/>
              </a:rPr>
              <a:t>and work out the reducible representation</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3"/>
          <a:srcRect/>
          <a:stretch>
            <a:fillRect/>
          </a:stretch>
        </p:blipFill>
        <p:spPr bwMode="auto">
          <a:xfrm>
            <a:off x="228600" y="533400"/>
            <a:ext cx="8915400" cy="4900613"/>
          </a:xfrm>
          <a:prstGeom prst="rect">
            <a:avLst/>
          </a:prstGeom>
          <a:noFill/>
          <a:ln w="9525">
            <a:noFill/>
            <a:miter lim="800000"/>
            <a:headEnd/>
            <a:tailEnd/>
          </a:ln>
          <a:effectLst/>
        </p:spPr>
      </p:pic>
      <p:sp>
        <p:nvSpPr>
          <p:cNvPr id="34819" name="Rectangle 3"/>
          <p:cNvSpPr>
            <a:spLocks noChangeArrowheads="1"/>
          </p:cNvSpPr>
          <p:nvPr/>
        </p:nvSpPr>
        <p:spPr bwMode="auto">
          <a:xfrm>
            <a:off x="152400" y="3886200"/>
            <a:ext cx="8763000" cy="1295400"/>
          </a:xfrm>
          <a:prstGeom prst="rect">
            <a:avLst/>
          </a:prstGeom>
          <a:noFill/>
          <a:ln w="28575">
            <a:solidFill>
              <a:schemeClr val="accent2"/>
            </a:solidFill>
            <a:miter lim="800000"/>
            <a:headEnd/>
            <a:tailEnd/>
          </a:ln>
          <a:effectLst/>
        </p:spPr>
        <p:txBody>
          <a:bodyPr wrap="none" anchor="ctr"/>
          <a:lstStyle/>
          <a:p>
            <a:pPr algn="ctr" eaLnBrk="1" hangingPunct="1"/>
            <a:endParaRPr lang="en-US" sz="1800">
              <a:solidFill>
                <a:srgbClr val="FF0000"/>
              </a:solidFill>
              <a:latin typeface="Arial" charset="0"/>
              <a:cs typeface="Arial" charset="0"/>
            </a:endParaRPr>
          </a:p>
        </p:txBody>
      </p:sp>
      <p:sp>
        <p:nvSpPr>
          <p:cNvPr id="34820" name="Text Box 4"/>
          <p:cNvSpPr txBox="1">
            <a:spLocks noChangeArrowheads="1"/>
          </p:cNvSpPr>
          <p:nvPr/>
        </p:nvSpPr>
        <p:spPr bwMode="auto">
          <a:xfrm>
            <a:off x="6994525" y="1219200"/>
            <a:ext cx="273050" cy="366713"/>
          </a:xfrm>
          <a:prstGeom prst="rect">
            <a:avLst/>
          </a:prstGeom>
          <a:noFill/>
          <a:ln w="9525">
            <a:noFill/>
            <a:miter lim="800000"/>
            <a:headEnd/>
            <a:tailEnd/>
          </a:ln>
          <a:effectLst/>
        </p:spPr>
        <p:txBody>
          <a:bodyPr wrap="none">
            <a:spAutoFit/>
          </a:bodyPr>
          <a:lstStyle/>
          <a:p>
            <a:pPr eaLnBrk="1" hangingPunct="1"/>
            <a:r>
              <a:rPr lang="en-US" sz="1800" i="1">
                <a:latin typeface="Times New Roman" pitchFamily="18" charset="0"/>
                <a:cs typeface="Arial" charset="0"/>
              </a:rPr>
              <a:t>s</a:t>
            </a:r>
          </a:p>
        </p:txBody>
      </p:sp>
      <p:sp>
        <p:nvSpPr>
          <p:cNvPr id="34821" name="Text Box 5"/>
          <p:cNvSpPr txBox="1">
            <a:spLocks noChangeArrowheads="1"/>
          </p:cNvSpPr>
          <p:nvPr/>
        </p:nvSpPr>
        <p:spPr bwMode="auto">
          <a:xfrm>
            <a:off x="788988" y="5562600"/>
            <a:ext cx="7440612" cy="915988"/>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If you are given </a:t>
            </a:r>
            <a:r>
              <a:rPr lang="en-US" sz="1800">
                <a:solidFill>
                  <a:srgbClr val="FF0000"/>
                </a:solidFill>
                <a:latin typeface="Symbol" pitchFamily="18" charset="2"/>
                <a:cs typeface="Arial" charset="0"/>
              </a:rPr>
              <a:t>G</a:t>
            </a:r>
            <a:r>
              <a:rPr lang="en-US" sz="1800">
                <a:solidFill>
                  <a:srgbClr val="FF0000"/>
                </a:solidFill>
                <a:latin typeface="Times New Roman" pitchFamily="18" charset="0"/>
                <a:cs typeface="Arial" charset="0"/>
              </a:rPr>
              <a:t>, you know by now how to get the </a:t>
            </a:r>
            <a:r>
              <a:rPr lang="en-US" sz="1800" u="sng">
                <a:solidFill>
                  <a:srgbClr val="FF0000"/>
                </a:solidFill>
                <a:latin typeface="Times New Roman" pitchFamily="18" charset="0"/>
                <a:cs typeface="Arial" charset="0"/>
              </a:rPr>
              <a:t>irreducible</a:t>
            </a:r>
            <a:r>
              <a:rPr lang="en-US" sz="1800">
                <a:solidFill>
                  <a:srgbClr val="FF0000"/>
                </a:solidFill>
                <a:latin typeface="Times New Roman" pitchFamily="18" charset="0"/>
                <a:cs typeface="Arial" charset="0"/>
              </a:rPr>
              <a:t> representations</a:t>
            </a:r>
          </a:p>
          <a:p>
            <a:pPr eaLnBrk="1" hangingPunct="1"/>
            <a:endParaRPr lang="en-US" sz="1800">
              <a:solidFill>
                <a:srgbClr val="FF0000"/>
              </a:solidFill>
              <a:latin typeface="Times New Roman" pitchFamily="18" charset="0"/>
              <a:cs typeface="Arial" charset="0"/>
            </a:endParaRPr>
          </a:p>
          <a:p>
            <a:pPr eaLnBrk="1" hangingPunct="1"/>
            <a:r>
              <a:rPr lang="en-US" sz="1800">
                <a:solidFill>
                  <a:srgbClr val="FF0000"/>
                </a:solidFill>
                <a:latin typeface="Symbol" pitchFamily="18" charset="2"/>
                <a:cs typeface="Arial" charset="0"/>
              </a:rPr>
              <a:t>G</a:t>
            </a:r>
            <a:r>
              <a:rPr lang="en-US" sz="1800">
                <a:solidFill>
                  <a:srgbClr val="FF0000"/>
                </a:solidFill>
                <a:latin typeface="Times New Roman" pitchFamily="18" charset="0"/>
                <a:cs typeface="Arial" charset="0"/>
              </a:rPr>
              <a:t> = </a:t>
            </a:r>
            <a:r>
              <a:rPr lang="en-US" sz="1800" i="1">
                <a:solidFill>
                  <a:srgbClr val="FF0000"/>
                </a:solidFill>
                <a:latin typeface="Times New Roman" pitchFamily="18" charset="0"/>
                <a:cs typeface="Arial" charset="0"/>
              </a:rPr>
              <a:t>A</a:t>
            </a:r>
            <a:r>
              <a:rPr lang="en-US" sz="1800" i="1" baseline="-25000">
                <a:solidFill>
                  <a:srgbClr val="FF0000"/>
                </a:solidFill>
                <a:latin typeface="Times New Roman" pitchFamily="18" charset="0"/>
                <a:cs typeface="Arial" charset="0"/>
              </a:rPr>
              <a:t>1g</a:t>
            </a:r>
            <a:r>
              <a:rPr lang="en-US" sz="1800" i="1">
                <a:solidFill>
                  <a:srgbClr val="FF0000"/>
                </a:solidFill>
                <a:latin typeface="Times New Roman" pitchFamily="18" charset="0"/>
                <a:cs typeface="Arial" charset="0"/>
              </a:rPr>
              <a:t> + T</a:t>
            </a:r>
            <a:r>
              <a:rPr lang="en-US" sz="1800" i="1" baseline="-25000">
                <a:solidFill>
                  <a:srgbClr val="FF0000"/>
                </a:solidFill>
                <a:latin typeface="Times New Roman" pitchFamily="18" charset="0"/>
                <a:cs typeface="Arial" charset="0"/>
              </a:rPr>
              <a:t>1u</a:t>
            </a:r>
            <a:r>
              <a:rPr lang="en-US" sz="1800" i="1">
                <a:solidFill>
                  <a:srgbClr val="FF0000"/>
                </a:solidFill>
                <a:latin typeface="Times New Roman" pitchFamily="18" charset="0"/>
                <a:cs typeface="Arial" charset="0"/>
              </a:rPr>
              <a:t> + E</a:t>
            </a:r>
            <a:r>
              <a:rPr lang="en-US" sz="1800" i="1" baseline="-25000">
                <a:solidFill>
                  <a:srgbClr val="FF0000"/>
                </a:solidFill>
                <a:latin typeface="Times New Roman" pitchFamily="18" charset="0"/>
                <a:cs typeface="Arial" charset="0"/>
              </a:rPr>
              <a:t>g</a:t>
            </a:r>
            <a:endParaRPr lang="en-US" sz="1800">
              <a:solidFill>
                <a:srgbClr val="FF0000"/>
              </a:solidFill>
              <a:latin typeface="Times New Roman" pitchFamily="18" charset="0"/>
              <a:cs typeface="Arial"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a:srcRect/>
          <a:stretch>
            <a:fillRect/>
          </a:stretch>
        </p:blipFill>
        <p:spPr bwMode="auto">
          <a:xfrm>
            <a:off x="228600" y="1371600"/>
            <a:ext cx="8915400" cy="4900613"/>
          </a:xfrm>
          <a:prstGeom prst="rect">
            <a:avLst/>
          </a:prstGeom>
          <a:noFill/>
          <a:ln w="28575">
            <a:noFill/>
            <a:miter lim="800000"/>
            <a:headEnd/>
            <a:tailEnd/>
          </a:ln>
          <a:effectLst/>
        </p:spPr>
      </p:pic>
      <p:sp>
        <p:nvSpPr>
          <p:cNvPr id="35843" name="Rectangle 3"/>
          <p:cNvSpPr>
            <a:spLocks noChangeArrowheads="1"/>
          </p:cNvSpPr>
          <p:nvPr/>
        </p:nvSpPr>
        <p:spPr bwMode="auto">
          <a:xfrm>
            <a:off x="152400" y="4724400"/>
            <a:ext cx="8763000" cy="1295400"/>
          </a:xfrm>
          <a:prstGeom prst="rect">
            <a:avLst/>
          </a:prstGeom>
          <a:noFill/>
          <a:ln w="28575">
            <a:solidFill>
              <a:schemeClr val="accent2"/>
            </a:solidFill>
            <a:miter lim="800000"/>
            <a:headEnd/>
            <a:tailEnd/>
          </a:ln>
          <a:effectLst/>
        </p:spPr>
        <p:txBody>
          <a:bodyPr wrap="none" anchor="ctr"/>
          <a:lstStyle/>
          <a:p>
            <a:pPr algn="ctr" eaLnBrk="1" hangingPunct="1"/>
            <a:endParaRPr lang="en-US" sz="1800">
              <a:solidFill>
                <a:srgbClr val="FF0000"/>
              </a:solidFill>
              <a:latin typeface="Arial" charset="0"/>
              <a:cs typeface="Arial" charset="0"/>
            </a:endParaRPr>
          </a:p>
        </p:txBody>
      </p:sp>
      <p:sp>
        <p:nvSpPr>
          <p:cNvPr id="35844" name="Text Box 4"/>
          <p:cNvSpPr txBox="1">
            <a:spLocks noChangeArrowheads="1"/>
          </p:cNvSpPr>
          <p:nvPr/>
        </p:nvSpPr>
        <p:spPr bwMode="auto">
          <a:xfrm>
            <a:off x="6994525" y="2057400"/>
            <a:ext cx="273050" cy="366713"/>
          </a:xfrm>
          <a:prstGeom prst="rect">
            <a:avLst/>
          </a:prstGeom>
          <a:noFill/>
          <a:ln w="28575">
            <a:noFill/>
            <a:miter lim="800000"/>
            <a:headEnd/>
            <a:tailEnd/>
          </a:ln>
          <a:effectLst/>
        </p:spPr>
        <p:txBody>
          <a:bodyPr wrap="none">
            <a:spAutoFit/>
          </a:bodyPr>
          <a:lstStyle/>
          <a:p>
            <a:pPr eaLnBrk="1" hangingPunct="1"/>
            <a:r>
              <a:rPr lang="en-US" sz="1800" i="1">
                <a:latin typeface="Times New Roman" pitchFamily="18" charset="0"/>
                <a:cs typeface="Arial" charset="0"/>
              </a:rPr>
              <a:t>s</a:t>
            </a:r>
          </a:p>
        </p:txBody>
      </p:sp>
      <p:grpSp>
        <p:nvGrpSpPr>
          <p:cNvPr id="2" name="Group 5"/>
          <p:cNvGrpSpPr>
            <a:grpSpLocks/>
          </p:cNvGrpSpPr>
          <p:nvPr/>
        </p:nvGrpSpPr>
        <p:grpSpPr bwMode="auto">
          <a:xfrm>
            <a:off x="457200" y="2133600"/>
            <a:ext cx="6781800" cy="3200400"/>
            <a:chOff x="288" y="1056"/>
            <a:chExt cx="4272" cy="2016"/>
          </a:xfrm>
        </p:grpSpPr>
        <p:sp>
          <p:nvSpPr>
            <p:cNvPr id="35846" name="Rectangle 6"/>
            <p:cNvSpPr>
              <a:spLocks noChangeArrowheads="1"/>
            </p:cNvSpPr>
            <p:nvPr/>
          </p:nvSpPr>
          <p:spPr bwMode="auto">
            <a:xfrm>
              <a:off x="4416" y="1056"/>
              <a:ext cx="144" cy="192"/>
            </a:xfrm>
            <a:prstGeom prst="rect">
              <a:avLst/>
            </a:prstGeom>
            <a:noFill/>
            <a:ln w="28575">
              <a:solidFill>
                <a:schemeClr val="accent2"/>
              </a:solidFill>
              <a:miter lim="800000"/>
              <a:headEnd/>
              <a:tailEnd/>
            </a:ln>
            <a:effectLst/>
          </p:spPr>
          <p:txBody>
            <a:bodyPr wrap="none" anchor="ctr"/>
            <a:lstStyle/>
            <a:p>
              <a:endParaRPr lang="en-US"/>
            </a:p>
          </p:txBody>
        </p:sp>
        <p:sp>
          <p:nvSpPr>
            <p:cNvPr id="35847" name="Oval 7"/>
            <p:cNvSpPr>
              <a:spLocks noChangeArrowheads="1"/>
            </p:cNvSpPr>
            <p:nvPr/>
          </p:nvSpPr>
          <p:spPr bwMode="auto">
            <a:xfrm>
              <a:off x="288" y="1056"/>
              <a:ext cx="192" cy="192"/>
            </a:xfrm>
            <a:prstGeom prst="ellipse">
              <a:avLst/>
            </a:prstGeom>
            <a:noFill/>
            <a:ln w="28575">
              <a:solidFill>
                <a:schemeClr val="accent2"/>
              </a:solidFill>
              <a:round/>
              <a:headEnd/>
              <a:tailEnd/>
            </a:ln>
            <a:effectLst/>
          </p:spPr>
          <p:txBody>
            <a:bodyPr wrap="none" anchor="ctr"/>
            <a:lstStyle/>
            <a:p>
              <a:endParaRPr lang="en-US"/>
            </a:p>
          </p:txBody>
        </p:sp>
        <p:sp>
          <p:nvSpPr>
            <p:cNvPr id="35848" name="Oval 8"/>
            <p:cNvSpPr>
              <a:spLocks noChangeArrowheads="1"/>
            </p:cNvSpPr>
            <p:nvPr/>
          </p:nvSpPr>
          <p:spPr bwMode="auto">
            <a:xfrm>
              <a:off x="288" y="2880"/>
              <a:ext cx="192" cy="192"/>
            </a:xfrm>
            <a:prstGeom prst="ellipse">
              <a:avLst/>
            </a:prstGeom>
            <a:noFill/>
            <a:ln w="28575">
              <a:solidFill>
                <a:schemeClr val="accent2"/>
              </a:solidFill>
              <a:round/>
              <a:headEnd/>
              <a:tailEnd/>
            </a:ln>
            <a:effectLst/>
          </p:spPr>
          <p:txBody>
            <a:bodyPr wrap="none" anchor="ctr"/>
            <a:lstStyle/>
            <a:p>
              <a:endParaRPr lang="en-US"/>
            </a:p>
          </p:txBody>
        </p:sp>
      </p:grpSp>
      <p:grpSp>
        <p:nvGrpSpPr>
          <p:cNvPr id="3" name="Group 9"/>
          <p:cNvGrpSpPr>
            <a:grpSpLocks/>
          </p:cNvGrpSpPr>
          <p:nvPr/>
        </p:nvGrpSpPr>
        <p:grpSpPr bwMode="auto">
          <a:xfrm>
            <a:off x="381000" y="2590800"/>
            <a:ext cx="8458200" cy="3276600"/>
            <a:chOff x="240" y="1344"/>
            <a:chExt cx="5328" cy="2064"/>
          </a:xfrm>
        </p:grpSpPr>
        <p:sp>
          <p:nvSpPr>
            <p:cNvPr id="35850" name="Rectangle 10"/>
            <p:cNvSpPr>
              <a:spLocks noChangeArrowheads="1"/>
            </p:cNvSpPr>
            <p:nvPr/>
          </p:nvSpPr>
          <p:spPr bwMode="auto">
            <a:xfrm>
              <a:off x="4896" y="1344"/>
              <a:ext cx="672" cy="336"/>
            </a:xfrm>
            <a:prstGeom prst="rect">
              <a:avLst/>
            </a:prstGeom>
            <a:noFill/>
            <a:ln w="28575">
              <a:solidFill>
                <a:schemeClr val="tx1"/>
              </a:solidFill>
              <a:miter lim="800000"/>
              <a:headEnd/>
              <a:tailEnd/>
            </a:ln>
            <a:effectLst/>
          </p:spPr>
          <p:txBody>
            <a:bodyPr wrap="none" anchor="ctr"/>
            <a:lstStyle/>
            <a:p>
              <a:endParaRPr lang="en-US"/>
            </a:p>
          </p:txBody>
        </p:sp>
        <p:sp>
          <p:nvSpPr>
            <p:cNvPr id="35851" name="Oval 11"/>
            <p:cNvSpPr>
              <a:spLocks noChangeArrowheads="1"/>
            </p:cNvSpPr>
            <p:nvPr/>
          </p:nvSpPr>
          <p:spPr bwMode="auto">
            <a:xfrm>
              <a:off x="240" y="1344"/>
              <a:ext cx="192" cy="192"/>
            </a:xfrm>
            <a:prstGeom prst="ellipse">
              <a:avLst/>
            </a:prstGeom>
            <a:noFill/>
            <a:ln w="28575">
              <a:solidFill>
                <a:schemeClr val="tx1"/>
              </a:solidFill>
              <a:round/>
              <a:headEnd/>
              <a:tailEnd/>
            </a:ln>
            <a:effectLst/>
          </p:spPr>
          <p:txBody>
            <a:bodyPr wrap="none" anchor="ctr"/>
            <a:lstStyle/>
            <a:p>
              <a:endParaRPr lang="en-US"/>
            </a:p>
          </p:txBody>
        </p:sp>
        <p:sp>
          <p:nvSpPr>
            <p:cNvPr id="35852" name="Oval 12"/>
            <p:cNvSpPr>
              <a:spLocks noChangeArrowheads="1"/>
            </p:cNvSpPr>
            <p:nvPr/>
          </p:nvSpPr>
          <p:spPr bwMode="auto">
            <a:xfrm>
              <a:off x="240" y="3216"/>
              <a:ext cx="192" cy="192"/>
            </a:xfrm>
            <a:prstGeom prst="ellipse">
              <a:avLst/>
            </a:prstGeom>
            <a:noFill/>
            <a:ln w="28575">
              <a:solidFill>
                <a:schemeClr val="tx1"/>
              </a:solidFill>
              <a:round/>
              <a:headEnd/>
              <a:tailEnd/>
            </a:ln>
            <a:effectLst/>
          </p:spPr>
          <p:txBody>
            <a:bodyPr wrap="none" anchor="ctr"/>
            <a:lstStyle/>
            <a:p>
              <a:endParaRPr lang="en-US"/>
            </a:p>
          </p:txBody>
        </p:sp>
      </p:grpSp>
      <p:grpSp>
        <p:nvGrpSpPr>
          <p:cNvPr id="4" name="Group 13"/>
          <p:cNvGrpSpPr>
            <a:grpSpLocks/>
          </p:cNvGrpSpPr>
          <p:nvPr/>
        </p:nvGrpSpPr>
        <p:grpSpPr bwMode="auto">
          <a:xfrm>
            <a:off x="381000" y="4191000"/>
            <a:ext cx="7162800" cy="1447800"/>
            <a:chOff x="240" y="2352"/>
            <a:chExt cx="4512" cy="912"/>
          </a:xfrm>
        </p:grpSpPr>
        <p:sp>
          <p:nvSpPr>
            <p:cNvPr id="35854" name="Rectangle 14"/>
            <p:cNvSpPr>
              <a:spLocks noChangeArrowheads="1"/>
            </p:cNvSpPr>
            <p:nvPr/>
          </p:nvSpPr>
          <p:spPr bwMode="auto">
            <a:xfrm>
              <a:off x="4368" y="2352"/>
              <a:ext cx="384" cy="240"/>
            </a:xfrm>
            <a:prstGeom prst="rect">
              <a:avLst/>
            </a:prstGeom>
            <a:noFill/>
            <a:ln w="28575">
              <a:solidFill>
                <a:schemeClr val="hlink"/>
              </a:solidFill>
              <a:miter lim="800000"/>
              <a:headEnd/>
              <a:tailEnd/>
            </a:ln>
            <a:effectLst/>
          </p:spPr>
          <p:txBody>
            <a:bodyPr wrap="none" anchor="ctr"/>
            <a:lstStyle/>
            <a:p>
              <a:endParaRPr lang="en-US"/>
            </a:p>
          </p:txBody>
        </p:sp>
        <p:sp>
          <p:nvSpPr>
            <p:cNvPr id="35855" name="Oval 15"/>
            <p:cNvSpPr>
              <a:spLocks noChangeArrowheads="1"/>
            </p:cNvSpPr>
            <p:nvPr/>
          </p:nvSpPr>
          <p:spPr bwMode="auto">
            <a:xfrm>
              <a:off x="240" y="2352"/>
              <a:ext cx="192" cy="192"/>
            </a:xfrm>
            <a:prstGeom prst="ellipse">
              <a:avLst/>
            </a:prstGeom>
            <a:noFill/>
            <a:ln w="28575">
              <a:solidFill>
                <a:schemeClr val="hlink"/>
              </a:solidFill>
              <a:round/>
              <a:headEnd/>
              <a:tailEnd/>
            </a:ln>
            <a:effectLst/>
          </p:spPr>
          <p:txBody>
            <a:bodyPr wrap="none" anchor="ctr"/>
            <a:lstStyle/>
            <a:p>
              <a:endParaRPr lang="en-US"/>
            </a:p>
          </p:txBody>
        </p:sp>
        <p:sp>
          <p:nvSpPr>
            <p:cNvPr id="35856" name="Oval 16"/>
            <p:cNvSpPr>
              <a:spLocks noChangeArrowheads="1"/>
            </p:cNvSpPr>
            <p:nvPr/>
          </p:nvSpPr>
          <p:spPr bwMode="auto">
            <a:xfrm>
              <a:off x="240" y="3072"/>
              <a:ext cx="192" cy="192"/>
            </a:xfrm>
            <a:prstGeom prst="ellipse">
              <a:avLst/>
            </a:prstGeom>
            <a:noFill/>
            <a:ln w="28575">
              <a:solidFill>
                <a:schemeClr val="hlink"/>
              </a:solidFill>
              <a:round/>
              <a:headEnd/>
              <a:tailEnd/>
            </a:ln>
            <a:effectLst/>
          </p:spPr>
          <p:txBody>
            <a:bodyPr wrap="none" anchor="ctr"/>
            <a:lstStyle/>
            <a:p>
              <a:endParaRPr lang="en-US"/>
            </a:p>
          </p:txBody>
        </p:sp>
      </p:grpSp>
      <p:grpSp>
        <p:nvGrpSpPr>
          <p:cNvPr id="5" name="Group 17"/>
          <p:cNvGrpSpPr>
            <a:grpSpLocks/>
          </p:cNvGrpSpPr>
          <p:nvPr/>
        </p:nvGrpSpPr>
        <p:grpSpPr bwMode="auto">
          <a:xfrm>
            <a:off x="381000" y="3276600"/>
            <a:ext cx="8382000" cy="381000"/>
            <a:chOff x="240" y="1776"/>
            <a:chExt cx="5280" cy="240"/>
          </a:xfrm>
        </p:grpSpPr>
        <p:sp>
          <p:nvSpPr>
            <p:cNvPr id="35858" name="Rectangle 18"/>
            <p:cNvSpPr>
              <a:spLocks noChangeArrowheads="1"/>
            </p:cNvSpPr>
            <p:nvPr/>
          </p:nvSpPr>
          <p:spPr bwMode="auto">
            <a:xfrm>
              <a:off x="4944" y="1776"/>
              <a:ext cx="576" cy="240"/>
            </a:xfrm>
            <a:prstGeom prst="rect">
              <a:avLst/>
            </a:prstGeom>
            <a:noFill/>
            <a:ln w="28575">
              <a:solidFill>
                <a:srgbClr val="FF0000"/>
              </a:solidFill>
              <a:miter lim="800000"/>
              <a:headEnd/>
              <a:tailEnd/>
            </a:ln>
            <a:effectLst/>
          </p:spPr>
          <p:txBody>
            <a:bodyPr wrap="none" anchor="ctr"/>
            <a:lstStyle/>
            <a:p>
              <a:endParaRPr lang="en-US"/>
            </a:p>
          </p:txBody>
        </p:sp>
        <p:sp>
          <p:nvSpPr>
            <p:cNvPr id="35859" name="Oval 19"/>
            <p:cNvSpPr>
              <a:spLocks noChangeArrowheads="1"/>
            </p:cNvSpPr>
            <p:nvPr/>
          </p:nvSpPr>
          <p:spPr bwMode="auto">
            <a:xfrm>
              <a:off x="240" y="1776"/>
              <a:ext cx="192" cy="192"/>
            </a:xfrm>
            <a:prstGeom prst="ellipse">
              <a:avLst/>
            </a:prstGeom>
            <a:noFill/>
            <a:ln w="28575">
              <a:solidFill>
                <a:srgbClr val="FF0000"/>
              </a:solidFill>
              <a:round/>
              <a:headEnd/>
              <a:tailEnd/>
            </a:ln>
            <a:effectLst/>
          </p:spPr>
          <p:txBody>
            <a:bodyPr wrap="none" anchor="ctr"/>
            <a:lstStyle/>
            <a:p>
              <a:endParaRPr lang="en-US"/>
            </a:p>
          </p:txBody>
        </p:sp>
      </p:grpSp>
      <p:sp>
        <p:nvSpPr>
          <p:cNvPr id="35860" name="Text Box 20"/>
          <p:cNvSpPr txBox="1">
            <a:spLocks noChangeArrowheads="1"/>
          </p:cNvSpPr>
          <p:nvPr/>
        </p:nvSpPr>
        <p:spPr bwMode="auto">
          <a:xfrm>
            <a:off x="2133600" y="457200"/>
            <a:ext cx="5294313"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Now we just match the orbital symmetries</a:t>
            </a:r>
          </a:p>
        </p:txBody>
      </p:sp>
      <p:sp>
        <p:nvSpPr>
          <p:cNvPr id="6" name="Footer Placeholder 5"/>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3"/>
          <a:srcRect/>
          <a:stretch>
            <a:fillRect/>
          </a:stretch>
        </p:blipFill>
        <p:spPr bwMode="auto">
          <a:xfrm>
            <a:off x="2295525" y="420688"/>
            <a:ext cx="4552950" cy="6016625"/>
          </a:xfrm>
          <a:prstGeom prst="rect">
            <a:avLst/>
          </a:prstGeom>
          <a:noFill/>
          <a:ln w="9525">
            <a:noFill/>
            <a:miter lim="800000"/>
            <a:headEnd/>
            <a:tailEnd/>
          </a:ln>
          <a:effectLst/>
        </p:spPr>
      </p:pic>
      <p:sp>
        <p:nvSpPr>
          <p:cNvPr id="36867" name="Text Box 3"/>
          <p:cNvSpPr txBox="1">
            <a:spLocks noChangeArrowheads="1"/>
          </p:cNvSpPr>
          <p:nvPr/>
        </p:nvSpPr>
        <p:spPr bwMode="auto">
          <a:xfrm>
            <a:off x="6769100" y="4297363"/>
            <a:ext cx="2132013" cy="366712"/>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6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ligands x 2e each</a:t>
            </a:r>
          </a:p>
        </p:txBody>
      </p:sp>
      <p:grpSp>
        <p:nvGrpSpPr>
          <p:cNvPr id="2" name="Group 4"/>
          <p:cNvGrpSpPr>
            <a:grpSpLocks/>
          </p:cNvGrpSpPr>
          <p:nvPr/>
        </p:nvGrpSpPr>
        <p:grpSpPr bwMode="auto">
          <a:xfrm>
            <a:off x="2033588" y="4495800"/>
            <a:ext cx="3071812" cy="1600200"/>
            <a:chOff x="1281" y="2832"/>
            <a:chExt cx="1935" cy="1008"/>
          </a:xfrm>
        </p:grpSpPr>
        <p:sp>
          <p:nvSpPr>
            <p:cNvPr id="36869" name="Rectangle 5"/>
            <p:cNvSpPr>
              <a:spLocks noChangeArrowheads="1"/>
            </p:cNvSpPr>
            <p:nvPr/>
          </p:nvSpPr>
          <p:spPr bwMode="auto">
            <a:xfrm>
              <a:off x="2544" y="2832"/>
              <a:ext cx="672" cy="1008"/>
            </a:xfrm>
            <a:prstGeom prst="rect">
              <a:avLst/>
            </a:prstGeom>
            <a:noFill/>
            <a:ln w="28575">
              <a:solidFill>
                <a:srgbClr val="FF0000"/>
              </a:solidFill>
              <a:miter lim="800000"/>
              <a:headEnd/>
              <a:tailEnd/>
            </a:ln>
            <a:effectLst/>
          </p:spPr>
          <p:txBody>
            <a:bodyPr wrap="none" anchor="ctr"/>
            <a:lstStyle/>
            <a:p>
              <a:endParaRPr lang="en-US"/>
            </a:p>
          </p:txBody>
        </p:sp>
        <p:sp>
          <p:nvSpPr>
            <p:cNvPr id="36870" name="Text Box 6"/>
            <p:cNvSpPr txBox="1">
              <a:spLocks noChangeArrowheads="1"/>
            </p:cNvSpPr>
            <p:nvPr/>
          </p:nvSpPr>
          <p:spPr bwMode="auto">
            <a:xfrm>
              <a:off x="1281" y="3206"/>
              <a:ext cx="1168" cy="404"/>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Times New Roman" pitchFamily="18" charset="0"/>
                  <a:cs typeface="Arial" charset="0"/>
                </a:rPr>
                <a:t>12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bonding e</a:t>
              </a:r>
            </a:p>
            <a:p>
              <a:pPr algn="ctr" eaLnBrk="1" hangingPunct="1"/>
              <a:r>
                <a:rPr lang="en-US" sz="1800">
                  <a:solidFill>
                    <a:srgbClr val="FF0000"/>
                  </a:solidFill>
                  <a:latin typeface="Times New Roman" pitchFamily="18" charset="0"/>
                  <a:cs typeface="Arial" charset="0"/>
                </a:rPr>
                <a:t>“ligand character”</a:t>
              </a:r>
            </a:p>
          </p:txBody>
        </p:sp>
      </p:grpSp>
      <p:sp>
        <p:nvSpPr>
          <p:cNvPr id="36871" name="Text Box 7"/>
          <p:cNvSpPr txBox="1">
            <a:spLocks noChangeArrowheads="1"/>
          </p:cNvSpPr>
          <p:nvPr/>
        </p:nvSpPr>
        <p:spPr bwMode="auto">
          <a:xfrm>
            <a:off x="457200" y="1676400"/>
            <a:ext cx="1803400" cy="366713"/>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0</a:t>
            </a:r>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10</a:t>
            </a:r>
            <a:r>
              <a:rPr lang="en-US" sz="1800">
                <a:solidFill>
                  <a:schemeClr val="accent2"/>
                </a:solidFill>
                <a:latin typeface="Times New Roman" pitchFamily="18" charset="0"/>
                <a:cs typeface="Arial" charset="0"/>
              </a:rPr>
              <a:t> electrons”</a:t>
            </a:r>
          </a:p>
        </p:txBody>
      </p:sp>
      <p:grpSp>
        <p:nvGrpSpPr>
          <p:cNvPr id="3" name="Group 8"/>
          <p:cNvGrpSpPr>
            <a:grpSpLocks/>
          </p:cNvGrpSpPr>
          <p:nvPr/>
        </p:nvGrpSpPr>
        <p:grpSpPr bwMode="auto">
          <a:xfrm>
            <a:off x="4267200" y="1524000"/>
            <a:ext cx="4914900" cy="1524000"/>
            <a:chOff x="2688" y="960"/>
            <a:chExt cx="3096" cy="960"/>
          </a:xfrm>
        </p:grpSpPr>
        <p:sp>
          <p:nvSpPr>
            <p:cNvPr id="36873" name="Rectangle 9"/>
            <p:cNvSpPr>
              <a:spLocks noChangeArrowheads="1"/>
            </p:cNvSpPr>
            <p:nvPr/>
          </p:nvSpPr>
          <p:spPr bwMode="auto">
            <a:xfrm>
              <a:off x="2688" y="1008"/>
              <a:ext cx="624" cy="912"/>
            </a:xfrm>
            <a:prstGeom prst="rect">
              <a:avLst/>
            </a:prstGeom>
            <a:noFill/>
            <a:ln w="28575">
              <a:solidFill>
                <a:schemeClr val="accent2"/>
              </a:solidFill>
              <a:miter lim="800000"/>
              <a:headEnd/>
              <a:tailEnd/>
            </a:ln>
            <a:effectLst/>
          </p:spPr>
          <p:txBody>
            <a:bodyPr wrap="none" anchor="ctr"/>
            <a:lstStyle/>
            <a:p>
              <a:endParaRPr lang="en-US"/>
            </a:p>
          </p:txBody>
        </p:sp>
        <p:sp>
          <p:nvSpPr>
            <p:cNvPr id="36874" name="Line 10"/>
            <p:cNvSpPr>
              <a:spLocks noChangeShapeType="1"/>
            </p:cNvSpPr>
            <p:nvPr/>
          </p:nvSpPr>
          <p:spPr bwMode="auto">
            <a:xfrm flipH="1">
              <a:off x="3216" y="1680"/>
              <a:ext cx="528" cy="0"/>
            </a:xfrm>
            <a:prstGeom prst="line">
              <a:avLst/>
            </a:prstGeom>
            <a:noFill/>
            <a:ln w="9525">
              <a:solidFill>
                <a:schemeClr val="accent2"/>
              </a:solidFill>
              <a:round/>
              <a:headEnd/>
              <a:tailEnd type="triangle" w="med" len="med"/>
            </a:ln>
            <a:effectLst/>
          </p:spPr>
          <p:txBody>
            <a:bodyPr/>
            <a:lstStyle/>
            <a:p>
              <a:endParaRPr lang="en-US"/>
            </a:p>
          </p:txBody>
        </p:sp>
        <p:sp>
          <p:nvSpPr>
            <p:cNvPr id="36875" name="Text Box 11"/>
            <p:cNvSpPr txBox="1">
              <a:spLocks noChangeArrowheads="1"/>
            </p:cNvSpPr>
            <p:nvPr/>
          </p:nvSpPr>
          <p:spPr bwMode="auto">
            <a:xfrm>
              <a:off x="3734" y="1560"/>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non bonding</a:t>
              </a:r>
            </a:p>
          </p:txBody>
        </p:sp>
        <p:sp>
          <p:nvSpPr>
            <p:cNvPr id="36876" name="Line 12"/>
            <p:cNvSpPr>
              <a:spLocks noChangeShapeType="1"/>
            </p:cNvSpPr>
            <p:nvPr/>
          </p:nvSpPr>
          <p:spPr bwMode="auto">
            <a:xfrm flipH="1">
              <a:off x="3312" y="1128"/>
              <a:ext cx="528" cy="0"/>
            </a:xfrm>
            <a:prstGeom prst="line">
              <a:avLst/>
            </a:prstGeom>
            <a:noFill/>
            <a:ln w="9525">
              <a:solidFill>
                <a:schemeClr val="accent2"/>
              </a:solidFill>
              <a:round/>
              <a:headEnd/>
              <a:tailEnd type="triangle" w="med" len="med"/>
            </a:ln>
            <a:effectLst/>
          </p:spPr>
          <p:txBody>
            <a:bodyPr/>
            <a:lstStyle/>
            <a:p>
              <a:endParaRPr lang="en-US"/>
            </a:p>
          </p:txBody>
        </p:sp>
        <p:sp>
          <p:nvSpPr>
            <p:cNvPr id="36877" name="Text Box 13"/>
            <p:cNvSpPr txBox="1">
              <a:spLocks noChangeArrowheads="1"/>
            </p:cNvSpPr>
            <p:nvPr/>
          </p:nvSpPr>
          <p:spPr bwMode="auto">
            <a:xfrm>
              <a:off x="3830" y="1008"/>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anti bonding</a:t>
              </a:r>
            </a:p>
          </p:txBody>
        </p:sp>
        <p:sp>
          <p:nvSpPr>
            <p:cNvPr id="36878" name="AutoShape 14"/>
            <p:cNvSpPr>
              <a:spLocks/>
            </p:cNvSpPr>
            <p:nvPr/>
          </p:nvSpPr>
          <p:spPr bwMode="auto">
            <a:xfrm>
              <a:off x="4608" y="960"/>
              <a:ext cx="96" cy="864"/>
            </a:xfrm>
            <a:prstGeom prst="rightBrace">
              <a:avLst>
                <a:gd name="adj1" fmla="val 75000"/>
                <a:gd name="adj2" fmla="val 50000"/>
              </a:avLst>
            </a:prstGeom>
            <a:noFill/>
            <a:ln w="28575">
              <a:solidFill>
                <a:schemeClr val="accent2"/>
              </a:solidFill>
              <a:round/>
              <a:headEnd/>
              <a:tailEnd/>
            </a:ln>
            <a:effectLst/>
          </p:spPr>
          <p:txBody>
            <a:bodyPr wrap="none" anchor="ctr"/>
            <a:lstStyle/>
            <a:p>
              <a:pPr algn="ctr" eaLnBrk="1" hangingPunct="1"/>
              <a:endParaRPr lang="en-US" sz="1800">
                <a:solidFill>
                  <a:schemeClr val="accent2"/>
                </a:solidFill>
                <a:latin typeface="Arial" charset="0"/>
                <a:cs typeface="Arial" charset="0"/>
              </a:endParaRPr>
            </a:p>
          </p:txBody>
        </p:sp>
        <p:sp>
          <p:nvSpPr>
            <p:cNvPr id="36879" name="Text Box 15"/>
            <p:cNvSpPr txBox="1">
              <a:spLocks noChangeArrowheads="1"/>
            </p:cNvSpPr>
            <p:nvPr/>
          </p:nvSpPr>
          <p:spPr bwMode="auto">
            <a:xfrm>
              <a:off x="4656" y="1272"/>
              <a:ext cx="1128"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“metal character”</a:t>
              </a:r>
            </a:p>
          </p:txBody>
        </p:sp>
      </p:gr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ChangeAspect="1" noChangeArrowheads="1"/>
          </p:cNvPicPr>
          <p:nvPr/>
        </p:nvPicPr>
        <p:blipFill>
          <a:blip r:embed="rId3"/>
          <a:srcRect/>
          <a:stretch>
            <a:fillRect/>
          </a:stretch>
        </p:blipFill>
        <p:spPr bwMode="auto">
          <a:xfrm>
            <a:off x="1414463" y="2100263"/>
            <a:ext cx="2166937" cy="2166937"/>
          </a:xfrm>
          <a:prstGeom prst="rect">
            <a:avLst/>
          </a:prstGeom>
          <a:noFill/>
          <a:ln w="9525">
            <a:noFill/>
            <a:miter lim="800000"/>
            <a:headEnd/>
            <a:tailEnd/>
          </a:ln>
          <a:effectLst/>
        </p:spPr>
      </p:pic>
      <p:pic>
        <p:nvPicPr>
          <p:cNvPr id="37891" name="Picture 3"/>
          <p:cNvPicPr>
            <a:picLocks noChangeAspect="1" noChangeArrowheads="1"/>
          </p:cNvPicPr>
          <p:nvPr/>
        </p:nvPicPr>
        <p:blipFill>
          <a:blip r:embed="rId4"/>
          <a:srcRect/>
          <a:stretch>
            <a:fillRect/>
          </a:stretch>
        </p:blipFill>
        <p:spPr bwMode="auto">
          <a:xfrm>
            <a:off x="4572000" y="1676400"/>
            <a:ext cx="3173413" cy="3602038"/>
          </a:xfrm>
          <a:prstGeom prst="rect">
            <a:avLst/>
          </a:prstGeom>
          <a:noFill/>
          <a:ln w="9525">
            <a:noFill/>
            <a:miter lim="800000"/>
            <a:headEnd/>
            <a:tailEnd/>
          </a:ln>
          <a:effectLst/>
        </p:spPr>
      </p:pic>
      <p:sp>
        <p:nvSpPr>
          <p:cNvPr id="37892" name="Text Box 4"/>
          <p:cNvSpPr txBox="1">
            <a:spLocks noChangeArrowheads="1"/>
          </p:cNvSpPr>
          <p:nvPr/>
        </p:nvSpPr>
        <p:spPr bwMode="auto">
          <a:xfrm>
            <a:off x="2971800" y="471488"/>
            <a:ext cx="3430588" cy="519112"/>
          </a:xfrm>
          <a:prstGeom prst="rect">
            <a:avLst/>
          </a:prstGeom>
          <a:noFill/>
          <a:ln w="9525">
            <a:noFill/>
            <a:miter lim="800000"/>
            <a:headEnd/>
            <a:tailEnd/>
          </a:ln>
          <a:effectLst/>
        </p:spPr>
        <p:txBody>
          <a:bodyPr wrap="none">
            <a:spAutoFit/>
          </a:bodyPr>
          <a:lstStyle/>
          <a:p>
            <a:pPr eaLnBrk="1" hangingPunct="1"/>
            <a:r>
              <a:rPr lang="en-US" sz="2800" i="1">
                <a:solidFill>
                  <a:schemeClr val="accent2"/>
                </a:solidFill>
                <a:latin typeface="Times New Roman" pitchFamily="18" charset="0"/>
                <a:cs typeface="Arial" charset="0"/>
              </a:rPr>
              <a:t>Introducing π-bonding</a:t>
            </a:r>
          </a:p>
        </p:txBody>
      </p:sp>
      <p:sp>
        <p:nvSpPr>
          <p:cNvPr id="37893" name="Text Box 5"/>
          <p:cNvSpPr txBox="1">
            <a:spLocks noChangeArrowheads="1"/>
          </p:cNvSpPr>
          <p:nvPr/>
        </p:nvSpPr>
        <p:spPr bwMode="auto">
          <a:xfrm>
            <a:off x="1220788" y="4837113"/>
            <a:ext cx="2436812" cy="641350"/>
          </a:xfrm>
          <a:prstGeom prst="rect">
            <a:avLst/>
          </a:prstGeom>
          <a:noFill/>
          <a:ln w="9525">
            <a:noFill/>
            <a:miter lim="800000"/>
            <a:headEnd/>
            <a:tailEnd/>
          </a:ln>
          <a:effectLst/>
        </p:spPr>
        <p:txBody>
          <a:bodyPr wrap="none">
            <a:spAutoFit/>
          </a:bodyPr>
          <a:lstStyle/>
          <a:p>
            <a:pPr algn="ctr" eaLnBrk="1" hangingPunct="1"/>
            <a:r>
              <a:rPr lang="en-US" sz="1800" i="1">
                <a:solidFill>
                  <a:srgbClr val="FF0000"/>
                </a:solidFill>
                <a:latin typeface="Times New Roman" pitchFamily="18" charset="0"/>
                <a:cs typeface="Arial" charset="0"/>
              </a:rPr>
              <a:t>2 orbitals of π-symmetry</a:t>
            </a:r>
          </a:p>
          <a:p>
            <a:pPr algn="ctr" eaLnBrk="1" hangingPunct="1"/>
            <a:r>
              <a:rPr lang="en-US" sz="1800" i="1">
                <a:solidFill>
                  <a:srgbClr val="FF0000"/>
                </a:solidFill>
                <a:latin typeface="Times New Roman" pitchFamily="18" charset="0"/>
                <a:cs typeface="Arial" charset="0"/>
              </a:rPr>
              <a:t>on each ligand</a:t>
            </a:r>
          </a:p>
        </p:txBody>
      </p:sp>
      <p:sp>
        <p:nvSpPr>
          <p:cNvPr id="37894" name="Text Box 6"/>
          <p:cNvSpPr txBox="1">
            <a:spLocks noChangeArrowheads="1"/>
          </p:cNvSpPr>
          <p:nvPr/>
        </p:nvSpPr>
        <p:spPr bwMode="auto">
          <a:xfrm>
            <a:off x="4606925" y="5411788"/>
            <a:ext cx="3048000" cy="641350"/>
          </a:xfrm>
          <a:prstGeom prst="rect">
            <a:avLst/>
          </a:prstGeom>
          <a:noFill/>
          <a:ln w="9525">
            <a:noFill/>
            <a:miter lim="800000"/>
            <a:headEnd/>
            <a:tailEnd/>
          </a:ln>
          <a:effectLst/>
        </p:spPr>
        <p:txBody>
          <a:bodyPr wrap="none">
            <a:spAutoFit/>
          </a:bodyPr>
          <a:lstStyle/>
          <a:p>
            <a:pPr algn="ctr" eaLnBrk="1" hangingPunct="1"/>
            <a:r>
              <a:rPr lang="en-US" sz="1800" i="1">
                <a:latin typeface="Times New Roman" pitchFamily="18" charset="0"/>
                <a:cs typeface="Arial" charset="0"/>
              </a:rPr>
              <a:t>We can build 12 group orbitals</a:t>
            </a:r>
          </a:p>
          <a:p>
            <a:pPr algn="ctr" eaLnBrk="1" hangingPunct="1"/>
            <a:r>
              <a:rPr lang="en-US" sz="1800" i="1">
                <a:latin typeface="Times New Roman" pitchFamily="18" charset="0"/>
                <a:cs typeface="Arial" charset="0"/>
              </a:rPr>
              <a:t>of π-symmetry</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3"/>
          <a:srcRect/>
          <a:stretch>
            <a:fillRect/>
          </a:stretch>
        </p:blipFill>
        <p:spPr bwMode="auto">
          <a:xfrm>
            <a:off x="152400" y="1524000"/>
            <a:ext cx="8839200" cy="2493963"/>
          </a:xfrm>
          <a:prstGeom prst="rect">
            <a:avLst/>
          </a:prstGeom>
          <a:noFill/>
          <a:ln w="9525">
            <a:noFill/>
            <a:miter lim="800000"/>
            <a:headEnd/>
            <a:tailEnd/>
          </a:ln>
          <a:effectLst/>
        </p:spPr>
      </p:pic>
      <p:sp>
        <p:nvSpPr>
          <p:cNvPr id="38915" name="Rectangle 3"/>
          <p:cNvSpPr>
            <a:spLocks noChangeArrowheads="1"/>
          </p:cNvSpPr>
          <p:nvPr/>
        </p:nvSpPr>
        <p:spPr bwMode="auto">
          <a:xfrm>
            <a:off x="2438400" y="4267200"/>
            <a:ext cx="3886200" cy="1066800"/>
          </a:xfrm>
          <a:prstGeom prst="rect">
            <a:avLst/>
          </a:prstGeom>
          <a:solidFill>
            <a:schemeClr val="accent1"/>
          </a:solidFill>
          <a:ln w="9525">
            <a:solidFill>
              <a:schemeClr val="tx1"/>
            </a:solidFill>
            <a:miter lim="800000"/>
            <a:headEnd/>
            <a:tailEnd/>
          </a:ln>
          <a:effectLst/>
        </p:spPr>
        <p:txBody>
          <a:bodyPr wrap="none" anchor="ctr"/>
          <a:lstStyle/>
          <a:p>
            <a:endParaRPr lang="en-US"/>
          </a:p>
        </p:txBody>
      </p:sp>
      <p:sp>
        <p:nvSpPr>
          <p:cNvPr id="38916" name="Text Box 4"/>
          <p:cNvSpPr txBox="1">
            <a:spLocks noChangeArrowheads="1"/>
          </p:cNvSpPr>
          <p:nvPr/>
        </p:nvSpPr>
        <p:spPr bwMode="auto">
          <a:xfrm>
            <a:off x="2728913" y="4572000"/>
            <a:ext cx="3371850" cy="457200"/>
          </a:xfrm>
          <a:prstGeom prst="rect">
            <a:avLst/>
          </a:prstGeom>
          <a:noFill/>
          <a:ln w="9525">
            <a:noFill/>
            <a:miter lim="800000"/>
            <a:headEnd/>
            <a:tailEnd/>
          </a:ln>
          <a:effectLst/>
        </p:spPr>
        <p:txBody>
          <a:bodyPr wrap="none">
            <a:spAutoFit/>
          </a:bodyPr>
          <a:lstStyle/>
          <a:p>
            <a:pPr eaLnBrk="1" hangingPunct="1"/>
            <a:r>
              <a:rPr lang="en-US">
                <a:latin typeface="Symbol" pitchFamily="18" charset="2"/>
                <a:cs typeface="Arial" charset="0"/>
              </a:rPr>
              <a:t>G</a:t>
            </a:r>
            <a:r>
              <a:rPr lang="en-US" baseline="-25000">
                <a:latin typeface="Times New Roman" pitchFamily="18" charset="0"/>
                <a:cs typeface="Arial" charset="0"/>
              </a:rPr>
              <a:t>π</a:t>
            </a:r>
            <a:r>
              <a:rPr lang="en-US">
                <a:latin typeface="Times New Roman" pitchFamily="18" charset="0"/>
                <a:cs typeface="Arial" charset="0"/>
              </a:rPr>
              <a:t> = </a:t>
            </a:r>
            <a:r>
              <a:rPr lang="en-US" i="1">
                <a:latin typeface="Times New Roman" pitchFamily="18" charset="0"/>
                <a:cs typeface="Arial" charset="0"/>
              </a:rPr>
              <a:t>T</a:t>
            </a:r>
            <a:r>
              <a:rPr lang="en-US" i="1" baseline="-25000">
                <a:latin typeface="Times New Roman" pitchFamily="18" charset="0"/>
                <a:cs typeface="Arial" charset="0"/>
              </a:rPr>
              <a:t>1g</a:t>
            </a:r>
            <a:r>
              <a:rPr lang="en-US" i="1">
                <a:latin typeface="Times New Roman" pitchFamily="18" charset="0"/>
                <a:cs typeface="Arial" charset="0"/>
              </a:rPr>
              <a:t> + T</a:t>
            </a:r>
            <a:r>
              <a:rPr lang="en-US" i="1" baseline="-25000">
                <a:latin typeface="Times New Roman" pitchFamily="18" charset="0"/>
                <a:cs typeface="Arial" charset="0"/>
              </a:rPr>
              <a:t>2g</a:t>
            </a:r>
            <a:r>
              <a:rPr lang="en-US" i="1">
                <a:latin typeface="Times New Roman" pitchFamily="18" charset="0"/>
                <a:cs typeface="Arial" charset="0"/>
              </a:rPr>
              <a:t> + T</a:t>
            </a:r>
            <a:r>
              <a:rPr lang="en-US" i="1" baseline="-25000">
                <a:latin typeface="Times New Roman" pitchFamily="18" charset="0"/>
                <a:cs typeface="Arial" charset="0"/>
              </a:rPr>
              <a:t>1u</a:t>
            </a:r>
            <a:r>
              <a:rPr lang="en-US" i="1">
                <a:latin typeface="Times New Roman" pitchFamily="18" charset="0"/>
                <a:cs typeface="Arial" charset="0"/>
              </a:rPr>
              <a:t> + T</a:t>
            </a:r>
            <a:r>
              <a:rPr lang="en-US" i="1" baseline="-25000">
                <a:latin typeface="Times New Roman" pitchFamily="18" charset="0"/>
                <a:cs typeface="Arial" charset="0"/>
              </a:rPr>
              <a:t>2u</a:t>
            </a:r>
            <a:endParaRPr lang="en-US">
              <a:latin typeface="Times New Roman" pitchFamily="18" charset="0"/>
              <a:cs typeface="Arial" charset="0"/>
            </a:endParaRPr>
          </a:p>
        </p:txBody>
      </p:sp>
      <p:sp>
        <p:nvSpPr>
          <p:cNvPr id="38917" name="Oval 5"/>
          <p:cNvSpPr>
            <a:spLocks noChangeArrowheads="1"/>
          </p:cNvSpPr>
          <p:nvPr/>
        </p:nvSpPr>
        <p:spPr bwMode="auto">
          <a:xfrm>
            <a:off x="4114800" y="4495800"/>
            <a:ext cx="609600" cy="609600"/>
          </a:xfrm>
          <a:prstGeom prst="ellipse">
            <a:avLst/>
          </a:prstGeom>
          <a:noFill/>
          <a:ln w="9525">
            <a:solidFill>
              <a:srgbClr val="FF0000"/>
            </a:solidFill>
            <a:round/>
            <a:headEnd/>
            <a:tailEnd/>
          </a:ln>
          <a:effec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89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7"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a:srcRect/>
          <a:stretch>
            <a:fillRect/>
          </a:stretch>
        </p:blipFill>
        <p:spPr bwMode="auto">
          <a:xfrm>
            <a:off x="3814763" y="76200"/>
            <a:ext cx="4102100" cy="6477000"/>
          </a:xfrm>
          <a:prstGeom prst="rect">
            <a:avLst/>
          </a:prstGeom>
          <a:noFill/>
          <a:ln w="9525">
            <a:noFill/>
            <a:miter lim="800000"/>
            <a:headEnd/>
            <a:tailEnd/>
          </a:ln>
          <a:effectLst/>
        </p:spPr>
      </p:pic>
      <p:sp>
        <p:nvSpPr>
          <p:cNvPr id="39939" name="Rectangle 3"/>
          <p:cNvSpPr>
            <a:spLocks noChangeArrowheads="1"/>
          </p:cNvSpPr>
          <p:nvPr/>
        </p:nvSpPr>
        <p:spPr bwMode="auto">
          <a:xfrm>
            <a:off x="5029200" y="685800"/>
            <a:ext cx="1168400" cy="2878138"/>
          </a:xfrm>
          <a:prstGeom prst="rect">
            <a:avLst/>
          </a:prstGeom>
          <a:noFill/>
          <a:ln w="28575">
            <a:solidFill>
              <a:srgbClr val="FF0000"/>
            </a:solidFill>
            <a:miter lim="800000"/>
            <a:headEnd/>
            <a:tailEnd/>
          </a:ln>
          <a:effectLst/>
        </p:spPr>
        <p:txBody>
          <a:bodyPr wrap="none" anchor="ctr"/>
          <a:lstStyle/>
          <a:p>
            <a:endParaRPr lang="en-US"/>
          </a:p>
        </p:txBody>
      </p:sp>
      <p:sp>
        <p:nvSpPr>
          <p:cNvPr id="39940" name="Text Box 4"/>
          <p:cNvSpPr txBox="1">
            <a:spLocks noChangeArrowheads="1"/>
          </p:cNvSpPr>
          <p:nvPr/>
        </p:nvSpPr>
        <p:spPr bwMode="auto">
          <a:xfrm>
            <a:off x="6237288" y="776288"/>
            <a:ext cx="2373312" cy="366712"/>
          </a:xfrm>
          <a:prstGeom prst="rect">
            <a:avLst/>
          </a:prstGeom>
          <a:noFill/>
          <a:ln w="9525">
            <a:noFill/>
            <a:miter lim="800000"/>
            <a:headEnd/>
            <a:tailEnd/>
          </a:ln>
          <a:effectLst/>
        </p:spPr>
        <p:txBody>
          <a:bodyPr wrap="none">
            <a:spAutoFit/>
          </a:bodyPr>
          <a:lstStyle/>
          <a:p>
            <a:pPr eaLnBrk="1" hangingPunct="1"/>
            <a:r>
              <a:rPr lang="en-US" sz="1800" i="1">
                <a:solidFill>
                  <a:srgbClr val="FF0000"/>
                </a:solidFill>
                <a:latin typeface="Times New Roman" pitchFamily="18" charset="0"/>
                <a:cs typeface="Arial" charset="0"/>
              </a:rPr>
              <a:t>Anti-bonding LUMO(π)</a:t>
            </a:r>
          </a:p>
        </p:txBody>
      </p:sp>
      <p:sp>
        <p:nvSpPr>
          <p:cNvPr id="39941" name="Text Box 5"/>
          <p:cNvSpPr txBox="1">
            <a:spLocks noChangeArrowheads="1"/>
          </p:cNvSpPr>
          <p:nvPr/>
        </p:nvSpPr>
        <p:spPr bwMode="auto">
          <a:xfrm>
            <a:off x="304800" y="1600200"/>
            <a:ext cx="2155825"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The CN- ligand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srcRect/>
          <a:stretch>
            <a:fillRect/>
          </a:stretch>
        </p:blipFill>
        <p:spPr bwMode="auto">
          <a:xfrm>
            <a:off x="1219200" y="1447800"/>
            <a:ext cx="7010400" cy="5343525"/>
          </a:xfrm>
          <a:prstGeom prst="rect">
            <a:avLst/>
          </a:prstGeom>
          <a:noFill/>
          <a:ln w="9525">
            <a:noFill/>
            <a:miter lim="800000"/>
            <a:headEnd/>
            <a:tailEnd/>
          </a:ln>
          <a:effectLst/>
        </p:spPr>
      </p:pic>
      <p:sp>
        <p:nvSpPr>
          <p:cNvPr id="40963" name="Text Box 3"/>
          <p:cNvSpPr txBox="1">
            <a:spLocks noChangeArrowheads="1"/>
          </p:cNvSpPr>
          <p:nvPr/>
        </p:nvSpPr>
        <p:spPr bwMode="auto">
          <a:xfrm>
            <a:off x="914400" y="228600"/>
            <a:ext cx="7467600" cy="1187450"/>
          </a:xfrm>
          <a:prstGeom prst="rect">
            <a:avLst/>
          </a:prstGeom>
          <a:noFill/>
          <a:ln w="9525">
            <a:noFill/>
            <a:miter lim="800000"/>
            <a:headEnd/>
            <a:tailEnd/>
          </a:ln>
          <a:effectLst/>
        </p:spPr>
        <p:txBody>
          <a:bodyPr>
            <a:spAutoFit/>
          </a:bodyPr>
          <a:lstStyle/>
          <a:p>
            <a:pPr>
              <a:spcBef>
                <a:spcPct val="50000"/>
              </a:spcBef>
            </a:pPr>
            <a:r>
              <a:rPr lang="en-US"/>
              <a:t>Some schematic diagrams showing how p bonding occurs with a ligand having a d orbital (P), a </a:t>
            </a:r>
            <a:r>
              <a:rPr lang="en-US">
                <a:latin typeface="Symbol" pitchFamily="18" charset="2"/>
              </a:rPr>
              <a:t>p</a:t>
            </a:r>
            <a:r>
              <a:rPr lang="en-US" baseline="30000"/>
              <a:t>*</a:t>
            </a:r>
            <a:r>
              <a:rPr lang="en-US"/>
              <a:t> orbital, and a vacant p orbital.</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3"/>
          <a:srcRect/>
          <a:stretch>
            <a:fillRect/>
          </a:stretch>
        </p:blipFill>
        <p:spPr bwMode="auto">
          <a:xfrm>
            <a:off x="2295525" y="420688"/>
            <a:ext cx="4552950" cy="6016625"/>
          </a:xfrm>
          <a:prstGeom prst="rect">
            <a:avLst/>
          </a:prstGeom>
          <a:noFill/>
          <a:ln w="9525">
            <a:noFill/>
            <a:miter lim="800000"/>
            <a:headEnd/>
            <a:tailEnd/>
          </a:ln>
          <a:effectLst/>
        </p:spPr>
      </p:pic>
      <p:sp>
        <p:nvSpPr>
          <p:cNvPr id="41987" name="Text Box 3"/>
          <p:cNvSpPr txBox="1">
            <a:spLocks noChangeArrowheads="1"/>
          </p:cNvSpPr>
          <p:nvPr/>
        </p:nvSpPr>
        <p:spPr bwMode="auto">
          <a:xfrm>
            <a:off x="6769100" y="4297363"/>
            <a:ext cx="2132013" cy="366712"/>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6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ligands x 2e each</a:t>
            </a:r>
          </a:p>
        </p:txBody>
      </p:sp>
      <p:grpSp>
        <p:nvGrpSpPr>
          <p:cNvPr id="2" name="Group 4"/>
          <p:cNvGrpSpPr>
            <a:grpSpLocks/>
          </p:cNvGrpSpPr>
          <p:nvPr/>
        </p:nvGrpSpPr>
        <p:grpSpPr bwMode="auto">
          <a:xfrm>
            <a:off x="2033588" y="4495800"/>
            <a:ext cx="3071812" cy="1600200"/>
            <a:chOff x="1281" y="2832"/>
            <a:chExt cx="1935" cy="1008"/>
          </a:xfrm>
        </p:grpSpPr>
        <p:sp>
          <p:nvSpPr>
            <p:cNvPr id="41989" name="Rectangle 5"/>
            <p:cNvSpPr>
              <a:spLocks noChangeArrowheads="1"/>
            </p:cNvSpPr>
            <p:nvPr/>
          </p:nvSpPr>
          <p:spPr bwMode="auto">
            <a:xfrm>
              <a:off x="2544" y="2832"/>
              <a:ext cx="672" cy="1008"/>
            </a:xfrm>
            <a:prstGeom prst="rect">
              <a:avLst/>
            </a:prstGeom>
            <a:noFill/>
            <a:ln w="28575">
              <a:solidFill>
                <a:srgbClr val="FF0000"/>
              </a:solidFill>
              <a:miter lim="800000"/>
              <a:headEnd/>
              <a:tailEnd/>
            </a:ln>
            <a:effectLst/>
          </p:spPr>
          <p:txBody>
            <a:bodyPr wrap="none" anchor="ctr"/>
            <a:lstStyle/>
            <a:p>
              <a:endParaRPr lang="en-US"/>
            </a:p>
          </p:txBody>
        </p:sp>
        <p:sp>
          <p:nvSpPr>
            <p:cNvPr id="41990" name="Text Box 6"/>
            <p:cNvSpPr txBox="1">
              <a:spLocks noChangeArrowheads="1"/>
            </p:cNvSpPr>
            <p:nvPr/>
          </p:nvSpPr>
          <p:spPr bwMode="auto">
            <a:xfrm>
              <a:off x="1281" y="3206"/>
              <a:ext cx="1168" cy="404"/>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Times New Roman" pitchFamily="18" charset="0"/>
                  <a:cs typeface="Arial" charset="0"/>
                </a:rPr>
                <a:t>12 </a:t>
              </a:r>
              <a:r>
                <a:rPr lang="en-US" sz="1800">
                  <a:solidFill>
                    <a:srgbClr val="FF0000"/>
                  </a:solidFill>
                  <a:latin typeface="Symbol" pitchFamily="18" charset="2"/>
                  <a:cs typeface="Arial" charset="0"/>
                </a:rPr>
                <a:t>s</a:t>
              </a:r>
              <a:r>
                <a:rPr lang="en-US" sz="1800">
                  <a:solidFill>
                    <a:srgbClr val="FF0000"/>
                  </a:solidFill>
                  <a:latin typeface="Times New Roman" pitchFamily="18" charset="0"/>
                  <a:cs typeface="Arial" charset="0"/>
                </a:rPr>
                <a:t> bonding e</a:t>
              </a:r>
            </a:p>
            <a:p>
              <a:pPr algn="ctr" eaLnBrk="1" hangingPunct="1"/>
              <a:r>
                <a:rPr lang="en-US" sz="1800">
                  <a:solidFill>
                    <a:srgbClr val="FF0000"/>
                  </a:solidFill>
                  <a:latin typeface="Times New Roman" pitchFamily="18" charset="0"/>
                  <a:cs typeface="Arial" charset="0"/>
                </a:rPr>
                <a:t>“ligand character”</a:t>
              </a:r>
            </a:p>
          </p:txBody>
        </p:sp>
      </p:grpSp>
      <p:sp>
        <p:nvSpPr>
          <p:cNvPr id="41991" name="Text Box 7"/>
          <p:cNvSpPr txBox="1">
            <a:spLocks noChangeArrowheads="1"/>
          </p:cNvSpPr>
          <p:nvPr/>
        </p:nvSpPr>
        <p:spPr bwMode="auto">
          <a:xfrm>
            <a:off x="457200" y="1676400"/>
            <a:ext cx="1803400" cy="366713"/>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0</a:t>
            </a:r>
            <a:r>
              <a:rPr lang="en-US" sz="1800">
                <a:solidFill>
                  <a:schemeClr val="accent2"/>
                </a:solidFill>
                <a:latin typeface="Times New Roman" pitchFamily="18" charset="0"/>
                <a:cs typeface="Arial" charset="0"/>
              </a:rPr>
              <a:t>-d</a:t>
            </a:r>
            <a:r>
              <a:rPr lang="en-US" sz="1800" baseline="30000">
                <a:solidFill>
                  <a:schemeClr val="accent2"/>
                </a:solidFill>
                <a:latin typeface="Times New Roman" pitchFamily="18" charset="0"/>
                <a:cs typeface="Arial" charset="0"/>
              </a:rPr>
              <a:t>10</a:t>
            </a:r>
            <a:r>
              <a:rPr lang="en-US" sz="1800">
                <a:solidFill>
                  <a:schemeClr val="accent2"/>
                </a:solidFill>
                <a:latin typeface="Times New Roman" pitchFamily="18" charset="0"/>
                <a:cs typeface="Arial" charset="0"/>
              </a:rPr>
              <a:t> electrons”</a:t>
            </a:r>
          </a:p>
        </p:txBody>
      </p:sp>
      <p:grpSp>
        <p:nvGrpSpPr>
          <p:cNvPr id="3" name="Group 8"/>
          <p:cNvGrpSpPr>
            <a:grpSpLocks/>
          </p:cNvGrpSpPr>
          <p:nvPr/>
        </p:nvGrpSpPr>
        <p:grpSpPr bwMode="auto">
          <a:xfrm>
            <a:off x="4267200" y="1524000"/>
            <a:ext cx="4914900" cy="1524000"/>
            <a:chOff x="2688" y="960"/>
            <a:chExt cx="3096" cy="960"/>
          </a:xfrm>
        </p:grpSpPr>
        <p:sp>
          <p:nvSpPr>
            <p:cNvPr id="41993" name="Rectangle 9"/>
            <p:cNvSpPr>
              <a:spLocks noChangeArrowheads="1"/>
            </p:cNvSpPr>
            <p:nvPr/>
          </p:nvSpPr>
          <p:spPr bwMode="auto">
            <a:xfrm>
              <a:off x="2688" y="1008"/>
              <a:ext cx="624" cy="912"/>
            </a:xfrm>
            <a:prstGeom prst="rect">
              <a:avLst/>
            </a:prstGeom>
            <a:noFill/>
            <a:ln w="28575">
              <a:solidFill>
                <a:schemeClr val="accent2"/>
              </a:solidFill>
              <a:miter lim="800000"/>
              <a:headEnd/>
              <a:tailEnd/>
            </a:ln>
            <a:effectLst/>
          </p:spPr>
          <p:txBody>
            <a:bodyPr wrap="none" anchor="ctr"/>
            <a:lstStyle/>
            <a:p>
              <a:endParaRPr lang="en-US"/>
            </a:p>
          </p:txBody>
        </p:sp>
        <p:sp>
          <p:nvSpPr>
            <p:cNvPr id="41994" name="Line 10"/>
            <p:cNvSpPr>
              <a:spLocks noChangeShapeType="1"/>
            </p:cNvSpPr>
            <p:nvPr/>
          </p:nvSpPr>
          <p:spPr bwMode="auto">
            <a:xfrm flipH="1">
              <a:off x="3216" y="1680"/>
              <a:ext cx="528" cy="0"/>
            </a:xfrm>
            <a:prstGeom prst="line">
              <a:avLst/>
            </a:prstGeom>
            <a:noFill/>
            <a:ln w="9525">
              <a:solidFill>
                <a:schemeClr val="accent2"/>
              </a:solidFill>
              <a:round/>
              <a:headEnd/>
              <a:tailEnd type="triangle" w="med" len="med"/>
            </a:ln>
            <a:effectLst/>
          </p:spPr>
          <p:txBody>
            <a:bodyPr/>
            <a:lstStyle/>
            <a:p>
              <a:endParaRPr lang="en-US"/>
            </a:p>
          </p:txBody>
        </p:sp>
        <p:sp>
          <p:nvSpPr>
            <p:cNvPr id="41995" name="Text Box 11"/>
            <p:cNvSpPr txBox="1">
              <a:spLocks noChangeArrowheads="1"/>
            </p:cNvSpPr>
            <p:nvPr/>
          </p:nvSpPr>
          <p:spPr bwMode="auto">
            <a:xfrm>
              <a:off x="3734" y="1560"/>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non bonding</a:t>
              </a:r>
            </a:p>
          </p:txBody>
        </p:sp>
        <p:sp>
          <p:nvSpPr>
            <p:cNvPr id="41996" name="Line 12"/>
            <p:cNvSpPr>
              <a:spLocks noChangeShapeType="1"/>
            </p:cNvSpPr>
            <p:nvPr/>
          </p:nvSpPr>
          <p:spPr bwMode="auto">
            <a:xfrm flipH="1">
              <a:off x="3312" y="1128"/>
              <a:ext cx="528" cy="0"/>
            </a:xfrm>
            <a:prstGeom prst="line">
              <a:avLst/>
            </a:prstGeom>
            <a:noFill/>
            <a:ln w="9525">
              <a:solidFill>
                <a:schemeClr val="accent2"/>
              </a:solidFill>
              <a:round/>
              <a:headEnd/>
              <a:tailEnd type="triangle" w="med" len="med"/>
            </a:ln>
            <a:effectLst/>
          </p:spPr>
          <p:txBody>
            <a:bodyPr/>
            <a:lstStyle/>
            <a:p>
              <a:endParaRPr lang="en-US"/>
            </a:p>
          </p:txBody>
        </p:sp>
        <p:sp>
          <p:nvSpPr>
            <p:cNvPr id="41997" name="Text Box 13"/>
            <p:cNvSpPr txBox="1">
              <a:spLocks noChangeArrowheads="1"/>
            </p:cNvSpPr>
            <p:nvPr/>
          </p:nvSpPr>
          <p:spPr bwMode="auto">
            <a:xfrm>
              <a:off x="3830" y="1008"/>
              <a:ext cx="840"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anti bonding</a:t>
              </a:r>
            </a:p>
          </p:txBody>
        </p:sp>
        <p:sp>
          <p:nvSpPr>
            <p:cNvPr id="41998" name="AutoShape 14"/>
            <p:cNvSpPr>
              <a:spLocks/>
            </p:cNvSpPr>
            <p:nvPr/>
          </p:nvSpPr>
          <p:spPr bwMode="auto">
            <a:xfrm>
              <a:off x="4608" y="960"/>
              <a:ext cx="96" cy="864"/>
            </a:xfrm>
            <a:prstGeom prst="rightBrace">
              <a:avLst>
                <a:gd name="adj1" fmla="val 75000"/>
                <a:gd name="adj2" fmla="val 50000"/>
              </a:avLst>
            </a:prstGeom>
            <a:noFill/>
            <a:ln w="28575">
              <a:solidFill>
                <a:schemeClr val="accent2"/>
              </a:solidFill>
              <a:round/>
              <a:headEnd/>
              <a:tailEnd/>
            </a:ln>
            <a:effectLst/>
          </p:spPr>
          <p:txBody>
            <a:bodyPr wrap="none" anchor="ctr"/>
            <a:lstStyle/>
            <a:p>
              <a:pPr algn="ctr" eaLnBrk="1" hangingPunct="1"/>
              <a:endParaRPr lang="en-US" sz="1800">
                <a:solidFill>
                  <a:schemeClr val="accent2"/>
                </a:solidFill>
                <a:latin typeface="Arial" charset="0"/>
                <a:cs typeface="Arial" charset="0"/>
              </a:endParaRPr>
            </a:p>
          </p:txBody>
        </p:sp>
        <p:sp>
          <p:nvSpPr>
            <p:cNvPr id="41999" name="Text Box 15"/>
            <p:cNvSpPr txBox="1">
              <a:spLocks noChangeArrowheads="1"/>
            </p:cNvSpPr>
            <p:nvPr/>
          </p:nvSpPr>
          <p:spPr bwMode="auto">
            <a:xfrm>
              <a:off x="4656" y="1272"/>
              <a:ext cx="1128"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“metal character”</a:t>
              </a:r>
            </a:p>
          </p:txBody>
        </p:sp>
      </p:grpSp>
      <p:sp>
        <p:nvSpPr>
          <p:cNvPr id="42000" name="Text Box 16"/>
          <p:cNvSpPr txBox="1">
            <a:spLocks noChangeArrowheads="1"/>
          </p:cNvSpPr>
          <p:nvPr/>
        </p:nvSpPr>
        <p:spPr bwMode="auto">
          <a:xfrm>
            <a:off x="306388" y="236538"/>
            <a:ext cx="2679700" cy="466725"/>
          </a:xfrm>
          <a:prstGeom prst="rect">
            <a:avLst/>
          </a:prstGeom>
          <a:noFill/>
          <a:ln w="9525">
            <a:solidFill>
              <a:schemeClr val="accent2"/>
            </a:solid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ML</a:t>
            </a:r>
            <a:r>
              <a:rPr lang="en-US" i="1" baseline="-25000">
                <a:solidFill>
                  <a:schemeClr val="accent2"/>
                </a:solidFill>
                <a:latin typeface="Times New Roman" pitchFamily="18" charset="0"/>
                <a:cs typeface="Arial" charset="0"/>
              </a:rPr>
              <a:t>6</a:t>
            </a:r>
            <a:r>
              <a:rPr lang="en-US" i="1">
                <a:solidFill>
                  <a:schemeClr val="accent2"/>
                </a:solidFill>
                <a:latin typeface="Times New Roman" pitchFamily="18" charset="0"/>
                <a:cs typeface="Arial" charset="0"/>
              </a:rPr>
              <a:t> </a:t>
            </a:r>
            <a:r>
              <a:rPr lang="en-US" i="1">
                <a:solidFill>
                  <a:schemeClr val="accent2"/>
                </a:solidFill>
                <a:latin typeface="Symbol" pitchFamily="18" charset="2"/>
                <a:cs typeface="Arial" charset="0"/>
              </a:rPr>
              <a:t>s</a:t>
            </a:r>
            <a:r>
              <a:rPr lang="en-US" i="1">
                <a:solidFill>
                  <a:schemeClr val="accent2"/>
                </a:solidFill>
                <a:latin typeface="Times New Roman" pitchFamily="18" charset="0"/>
                <a:cs typeface="Arial" charset="0"/>
              </a:rPr>
              <a:t>-only bonding</a:t>
            </a:r>
          </a:p>
        </p:txBody>
      </p:sp>
      <p:sp>
        <p:nvSpPr>
          <p:cNvPr id="42001" name="Rectangle 17"/>
          <p:cNvSpPr>
            <a:spLocks noChangeArrowheads="1"/>
          </p:cNvSpPr>
          <p:nvPr/>
        </p:nvSpPr>
        <p:spPr bwMode="auto">
          <a:xfrm>
            <a:off x="1905000" y="3810000"/>
            <a:ext cx="6934200" cy="2514600"/>
          </a:xfrm>
          <a:prstGeom prst="rect">
            <a:avLst/>
          </a:prstGeom>
          <a:solidFill>
            <a:schemeClr val="bg1"/>
          </a:solidFill>
          <a:ln w="9525">
            <a:noFill/>
            <a:miter lim="800000"/>
            <a:headEnd/>
            <a:tailEnd/>
          </a:ln>
          <a:effectLst/>
        </p:spPr>
        <p:txBody>
          <a:bodyPr wrap="none" anchor="ctr"/>
          <a:lstStyle/>
          <a:p>
            <a:pPr algn="ctr" eaLnBrk="1" hangingPunct="1"/>
            <a:r>
              <a:rPr lang="en-US" i="1">
                <a:latin typeface="Times New Roman" pitchFamily="18" charset="0"/>
                <a:cs typeface="Arial" charset="0"/>
              </a:rPr>
              <a:t>The bonding orbitals, essentially the ligand lone pairs,</a:t>
            </a:r>
          </a:p>
          <a:p>
            <a:pPr algn="ctr" eaLnBrk="1" hangingPunct="1"/>
            <a:r>
              <a:rPr lang="en-US" i="1">
                <a:latin typeface="Times New Roman" pitchFamily="18" charset="0"/>
                <a:cs typeface="Arial" charset="0"/>
              </a:rPr>
              <a:t> will not be worked with further.</a:t>
            </a:r>
            <a:endParaRPr lang="en-US" sz="1800">
              <a:latin typeface="Arial" charset="0"/>
              <a:cs typeface="Arial" charset="0"/>
            </a:endParaRP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20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01" grpId="0" animBg="1" autoUpdateAnimBg="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1947863" y="4572000"/>
            <a:ext cx="471487"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a:t>
            </a:r>
            <a:r>
              <a:rPr lang="en-US" i="1" baseline="-25000">
                <a:solidFill>
                  <a:schemeClr val="accent2"/>
                </a:solidFill>
                <a:latin typeface="Times New Roman" pitchFamily="18" charset="0"/>
                <a:cs typeface="Arial" charset="0"/>
              </a:rPr>
              <a:t>2g</a:t>
            </a:r>
            <a:endParaRPr lang="en-US" i="1">
              <a:solidFill>
                <a:schemeClr val="accent2"/>
              </a:solidFill>
              <a:latin typeface="Times New Roman" pitchFamily="18" charset="0"/>
              <a:cs typeface="Arial" charset="0"/>
            </a:endParaRPr>
          </a:p>
        </p:txBody>
      </p:sp>
      <p:sp>
        <p:nvSpPr>
          <p:cNvPr id="43011" name="Text Box 3"/>
          <p:cNvSpPr txBox="1">
            <a:spLocks noChangeArrowheads="1"/>
          </p:cNvSpPr>
          <p:nvPr/>
        </p:nvSpPr>
        <p:spPr bwMode="auto">
          <a:xfrm>
            <a:off x="1947863" y="2971800"/>
            <a:ext cx="420687"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pic>
        <p:nvPicPr>
          <p:cNvPr id="43012" name="Picture 4"/>
          <p:cNvPicPr>
            <a:picLocks noChangeAspect="1" noChangeArrowheads="1"/>
          </p:cNvPicPr>
          <p:nvPr/>
        </p:nvPicPr>
        <p:blipFill>
          <a:blip r:embed="rId3"/>
          <a:srcRect/>
          <a:stretch>
            <a:fillRect/>
          </a:stretch>
        </p:blipFill>
        <p:spPr bwMode="auto">
          <a:xfrm>
            <a:off x="2557463" y="638175"/>
            <a:ext cx="5006975" cy="5305425"/>
          </a:xfrm>
          <a:prstGeom prst="rect">
            <a:avLst/>
          </a:prstGeom>
          <a:noFill/>
          <a:ln w="9525">
            <a:noFill/>
            <a:miter lim="800000"/>
            <a:headEnd/>
            <a:tailEnd/>
          </a:ln>
          <a:effectLst/>
        </p:spPr>
      </p:pic>
      <p:sp>
        <p:nvSpPr>
          <p:cNvPr id="43013" name="Text Box 5"/>
          <p:cNvSpPr txBox="1">
            <a:spLocks noChangeArrowheads="1"/>
          </p:cNvSpPr>
          <p:nvPr/>
        </p:nvSpPr>
        <p:spPr bwMode="auto">
          <a:xfrm>
            <a:off x="7662863" y="2057400"/>
            <a:ext cx="471487" cy="457200"/>
          </a:xfrm>
          <a:prstGeom prst="rect">
            <a:avLst/>
          </a:prstGeom>
          <a:noFill/>
          <a:ln w="9525">
            <a:noFill/>
            <a:miter lim="800000"/>
            <a:headEnd/>
            <a:tailEnd/>
          </a:ln>
          <a:effectLst/>
        </p:spPr>
        <p:txBody>
          <a:bodyPr wrap="none">
            <a:spAutoFit/>
          </a:bodyPr>
          <a:lstStyle/>
          <a:p>
            <a:pPr eaLnBrk="1" hangingPunct="1"/>
            <a:r>
              <a:rPr lang="en-US" i="1">
                <a:solidFill>
                  <a:srgbClr val="D017B5"/>
                </a:solidFill>
                <a:latin typeface="Times New Roman" pitchFamily="18" charset="0"/>
                <a:cs typeface="Arial" charset="0"/>
              </a:rPr>
              <a:t>t</a:t>
            </a:r>
            <a:r>
              <a:rPr lang="en-US" i="1" baseline="-25000">
                <a:solidFill>
                  <a:srgbClr val="D017B5"/>
                </a:solidFill>
                <a:latin typeface="Times New Roman" pitchFamily="18" charset="0"/>
                <a:cs typeface="Arial" charset="0"/>
              </a:rPr>
              <a:t>2g</a:t>
            </a:r>
            <a:endParaRPr lang="en-US" sz="1800" i="1">
              <a:solidFill>
                <a:srgbClr val="D017B5"/>
              </a:solidFill>
              <a:latin typeface="Times New Roman" pitchFamily="18" charset="0"/>
              <a:cs typeface="Arial" charset="0"/>
            </a:endParaRPr>
          </a:p>
        </p:txBody>
      </p:sp>
      <p:sp>
        <p:nvSpPr>
          <p:cNvPr id="43014" name="Text Box 6"/>
          <p:cNvSpPr txBox="1">
            <a:spLocks noChangeArrowheads="1"/>
          </p:cNvSpPr>
          <p:nvPr/>
        </p:nvSpPr>
        <p:spPr bwMode="auto">
          <a:xfrm>
            <a:off x="2720975" y="6019800"/>
            <a:ext cx="827088"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a:t>
            </a:r>
            <a:r>
              <a:rPr lang="en-US" sz="1800">
                <a:latin typeface="Arial" charset="0"/>
                <a:cs typeface="Arial" charset="0"/>
              </a:rPr>
              <a:t>-only</a:t>
            </a:r>
          </a:p>
        </p:txBody>
      </p:sp>
      <p:sp>
        <p:nvSpPr>
          <p:cNvPr id="43015" name="Text Box 7"/>
          <p:cNvSpPr txBox="1">
            <a:spLocks noChangeArrowheads="1"/>
          </p:cNvSpPr>
          <p:nvPr/>
        </p:nvSpPr>
        <p:spPr bwMode="auto">
          <a:xfrm>
            <a:off x="4683125" y="6019800"/>
            <a:ext cx="711200"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 </a:t>
            </a:r>
            <a:r>
              <a:rPr lang="en-US" sz="1800">
                <a:latin typeface="Arial" charset="0"/>
                <a:cs typeface="Arial" charset="0"/>
              </a:rPr>
              <a:t>+ π</a:t>
            </a:r>
          </a:p>
        </p:txBody>
      </p:sp>
      <p:grpSp>
        <p:nvGrpSpPr>
          <p:cNvPr id="2" name="Group 8"/>
          <p:cNvGrpSpPr>
            <a:grpSpLocks/>
          </p:cNvGrpSpPr>
          <p:nvPr/>
        </p:nvGrpSpPr>
        <p:grpSpPr bwMode="auto">
          <a:xfrm>
            <a:off x="3902075" y="4800600"/>
            <a:ext cx="4144963" cy="838200"/>
            <a:chOff x="2458" y="3024"/>
            <a:chExt cx="2611" cy="528"/>
          </a:xfrm>
        </p:grpSpPr>
        <p:sp>
          <p:nvSpPr>
            <p:cNvPr id="43017" name="Line 9"/>
            <p:cNvSpPr>
              <a:spLocks noChangeShapeType="1"/>
            </p:cNvSpPr>
            <p:nvPr/>
          </p:nvSpPr>
          <p:spPr bwMode="auto">
            <a:xfrm>
              <a:off x="2458" y="3024"/>
              <a:ext cx="1440" cy="0"/>
            </a:xfrm>
            <a:prstGeom prst="line">
              <a:avLst/>
            </a:prstGeom>
            <a:noFill/>
            <a:ln w="9525">
              <a:solidFill>
                <a:schemeClr val="accent2"/>
              </a:solidFill>
              <a:prstDash val="lgDashDot"/>
              <a:round/>
              <a:headEnd/>
              <a:tailEnd/>
            </a:ln>
            <a:effectLst/>
          </p:spPr>
          <p:txBody>
            <a:bodyPr wrap="none" anchor="ctr"/>
            <a:lstStyle/>
            <a:p>
              <a:endParaRPr lang="en-US"/>
            </a:p>
          </p:txBody>
        </p:sp>
        <p:sp>
          <p:nvSpPr>
            <p:cNvPr id="43018" name="Line 10"/>
            <p:cNvSpPr>
              <a:spLocks noChangeShapeType="1"/>
            </p:cNvSpPr>
            <p:nvPr/>
          </p:nvSpPr>
          <p:spPr bwMode="auto">
            <a:xfrm>
              <a:off x="3850" y="3024"/>
              <a:ext cx="0" cy="528"/>
            </a:xfrm>
            <a:prstGeom prst="line">
              <a:avLst/>
            </a:prstGeom>
            <a:noFill/>
            <a:ln w="9525">
              <a:solidFill>
                <a:schemeClr val="accent2"/>
              </a:solidFill>
              <a:round/>
              <a:headEnd type="triangle" w="med" len="med"/>
              <a:tailEnd type="triangle" w="med" len="med"/>
            </a:ln>
            <a:effectLst/>
          </p:spPr>
          <p:txBody>
            <a:bodyPr wrap="none" anchor="ctr"/>
            <a:lstStyle/>
            <a:p>
              <a:endParaRPr lang="en-US"/>
            </a:p>
          </p:txBody>
        </p:sp>
        <p:sp>
          <p:nvSpPr>
            <p:cNvPr id="43019" name="Text Box 11"/>
            <p:cNvSpPr txBox="1">
              <a:spLocks noChangeArrowheads="1"/>
            </p:cNvSpPr>
            <p:nvPr/>
          </p:nvSpPr>
          <p:spPr bwMode="auto">
            <a:xfrm>
              <a:off x="3984" y="3098"/>
              <a:ext cx="1085" cy="288"/>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Stabilization</a:t>
              </a:r>
            </a:p>
          </p:txBody>
        </p:sp>
      </p:grpSp>
      <p:sp>
        <p:nvSpPr>
          <p:cNvPr id="43020" name="Rectangle 12"/>
          <p:cNvSpPr>
            <a:spLocks noChangeArrowheads="1"/>
          </p:cNvSpPr>
          <p:nvPr/>
        </p:nvSpPr>
        <p:spPr bwMode="auto">
          <a:xfrm>
            <a:off x="6291263" y="6172200"/>
            <a:ext cx="2905125" cy="376238"/>
          </a:xfrm>
          <a:prstGeom prst="rect">
            <a:avLst/>
          </a:prstGeom>
          <a:noFill/>
          <a:ln w="9525">
            <a:solidFill>
              <a:srgbClr val="D017B5"/>
            </a:solidFill>
            <a:miter lim="800000"/>
            <a:headEnd/>
            <a:tailEnd/>
          </a:ln>
          <a:effectLst/>
        </p:spPr>
        <p:txBody>
          <a:bodyPr wrap="none">
            <a:spAutoFit/>
          </a:bodyPr>
          <a:lstStyle/>
          <a:p>
            <a:pPr eaLnBrk="1" hangingPunct="1"/>
            <a:r>
              <a:rPr lang="en-US" sz="1800" i="1">
                <a:solidFill>
                  <a:srgbClr val="D017B5"/>
                </a:solidFill>
                <a:latin typeface="Times New Roman" pitchFamily="18" charset="0"/>
                <a:cs typeface="Arial" charset="0"/>
              </a:rPr>
              <a:t>(empty π-orbitals on ligands)</a:t>
            </a:r>
          </a:p>
        </p:txBody>
      </p:sp>
      <p:sp>
        <p:nvSpPr>
          <p:cNvPr id="43021" name="Text Box 13"/>
          <p:cNvSpPr txBox="1">
            <a:spLocks noChangeArrowheads="1"/>
          </p:cNvSpPr>
          <p:nvPr/>
        </p:nvSpPr>
        <p:spPr bwMode="auto">
          <a:xfrm>
            <a:off x="5280025" y="4183063"/>
            <a:ext cx="184150" cy="366712"/>
          </a:xfrm>
          <a:prstGeom prst="rect">
            <a:avLst/>
          </a:prstGeom>
          <a:noFill/>
          <a:ln w="9525">
            <a:noFill/>
            <a:miter lim="800000"/>
            <a:headEnd/>
            <a:tailEnd/>
          </a:ln>
          <a:effectLst/>
        </p:spPr>
        <p:txBody>
          <a:bodyPr>
            <a:spAutoFit/>
          </a:bodyPr>
          <a:lstStyle/>
          <a:p>
            <a:pPr eaLnBrk="1" hangingPunct="1">
              <a:spcBef>
                <a:spcPct val="50000"/>
              </a:spcBef>
            </a:pPr>
            <a:endParaRPr lang="en-US" sz="1800">
              <a:latin typeface="Arial" charset="0"/>
              <a:cs typeface="Arial" charset="0"/>
            </a:endParaRPr>
          </a:p>
        </p:txBody>
      </p:sp>
      <p:grpSp>
        <p:nvGrpSpPr>
          <p:cNvPr id="3" name="Group 14"/>
          <p:cNvGrpSpPr>
            <a:grpSpLocks/>
          </p:cNvGrpSpPr>
          <p:nvPr/>
        </p:nvGrpSpPr>
        <p:grpSpPr bwMode="auto">
          <a:xfrm>
            <a:off x="3336925" y="3200400"/>
            <a:ext cx="4875213" cy="2438400"/>
            <a:chOff x="2102" y="2016"/>
            <a:chExt cx="3071" cy="1536"/>
          </a:xfrm>
        </p:grpSpPr>
        <p:grpSp>
          <p:nvGrpSpPr>
            <p:cNvPr id="4" name="Group 15"/>
            <p:cNvGrpSpPr>
              <a:grpSpLocks/>
            </p:cNvGrpSpPr>
            <p:nvPr/>
          </p:nvGrpSpPr>
          <p:grpSpPr bwMode="auto">
            <a:xfrm>
              <a:off x="2102" y="2016"/>
              <a:ext cx="1500" cy="1536"/>
              <a:chOff x="2102" y="2016"/>
              <a:chExt cx="1500" cy="1536"/>
            </a:xfrm>
          </p:grpSpPr>
          <p:sp>
            <p:nvSpPr>
              <p:cNvPr id="43024" name="Line 16"/>
              <p:cNvSpPr>
                <a:spLocks noChangeShapeType="1"/>
              </p:cNvSpPr>
              <p:nvPr/>
            </p:nvSpPr>
            <p:spPr bwMode="auto">
              <a:xfrm>
                <a:off x="2400" y="2016"/>
                <a:ext cx="0" cy="960"/>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3025" name="Line 17"/>
              <p:cNvSpPr>
                <a:spLocks noChangeShapeType="1"/>
              </p:cNvSpPr>
              <p:nvPr/>
            </p:nvSpPr>
            <p:spPr bwMode="auto">
              <a:xfrm flipV="1">
                <a:off x="3600" y="2016"/>
                <a:ext cx="0" cy="1536"/>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3026" name="Text Box 18"/>
              <p:cNvSpPr txBox="1">
                <a:spLocks noChangeArrowheads="1"/>
              </p:cNvSpPr>
              <p:nvPr/>
            </p:nvSpPr>
            <p:spPr bwMode="auto">
              <a:xfrm>
                <a:off x="2102" y="2337"/>
                <a:ext cx="290"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a:latin typeface="Arial" charset="0"/>
                    <a:cs typeface="Arial" charset="0"/>
                  </a:rPr>
                  <a:t>o</a:t>
                </a:r>
              </a:p>
            </p:txBody>
          </p:sp>
          <p:sp>
            <p:nvSpPr>
              <p:cNvPr id="43027" name="Text Box 19"/>
              <p:cNvSpPr txBox="1">
                <a:spLocks noChangeArrowheads="1"/>
              </p:cNvSpPr>
              <p:nvPr/>
            </p:nvSpPr>
            <p:spPr bwMode="auto">
              <a:xfrm>
                <a:off x="3264" y="2505"/>
                <a:ext cx="338"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a:latin typeface="Times New Roman" pitchFamily="18" charset="0"/>
                    <a:cs typeface="Arial" charset="0"/>
                  </a:rPr>
                  <a:t>’</a:t>
                </a:r>
                <a:r>
                  <a:rPr lang="en-US" sz="1800">
                    <a:latin typeface="Arial" charset="0"/>
                    <a:cs typeface="Arial" charset="0"/>
                  </a:rPr>
                  <a:t>o</a:t>
                </a:r>
              </a:p>
            </p:txBody>
          </p:sp>
        </p:grpSp>
        <p:sp>
          <p:nvSpPr>
            <p:cNvPr id="43028" name="Text Box 20"/>
            <p:cNvSpPr txBox="1">
              <a:spLocks noChangeArrowheads="1"/>
            </p:cNvSpPr>
            <p:nvPr/>
          </p:nvSpPr>
          <p:spPr bwMode="auto">
            <a:xfrm>
              <a:off x="3974" y="2481"/>
              <a:ext cx="1199"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baseline="-25000">
                  <a:latin typeface="Arial" charset="0"/>
                  <a:cs typeface="Arial" charset="0"/>
                </a:rPr>
                <a:t>o</a:t>
              </a:r>
              <a:r>
                <a:rPr lang="en-US" sz="1800">
                  <a:latin typeface="Arial" charset="0"/>
                  <a:cs typeface="Arial" charset="0"/>
                </a:rPr>
                <a:t> has increased</a:t>
              </a:r>
              <a:endParaRPr lang="en-US" sz="1800" baseline="-25000">
                <a:latin typeface="Arial" charset="0"/>
                <a:cs typeface="Arial" charset="0"/>
              </a:endParaRPr>
            </a:p>
          </p:txBody>
        </p:sp>
      </p:grpSp>
      <p:sp>
        <p:nvSpPr>
          <p:cNvPr id="43029" name="Text Box 21"/>
          <p:cNvSpPr txBox="1">
            <a:spLocks noChangeArrowheads="1"/>
          </p:cNvSpPr>
          <p:nvPr/>
        </p:nvSpPr>
        <p:spPr bwMode="auto">
          <a:xfrm>
            <a:off x="222250" y="228600"/>
            <a:ext cx="3746500" cy="1625600"/>
          </a:xfrm>
          <a:prstGeom prst="rect">
            <a:avLst/>
          </a:prstGeom>
          <a:noFill/>
          <a:ln w="9525">
            <a:solidFill>
              <a:schemeClr val="accent2"/>
            </a:solidFill>
            <a:miter lim="800000"/>
            <a:headEnd/>
            <a:tailEnd/>
          </a:ln>
          <a:effectLst/>
        </p:spPr>
        <p:txBody>
          <a:bodyPr wrap="none">
            <a:spAutoFit/>
          </a:bodyPr>
          <a:lstStyle/>
          <a:p>
            <a:pPr algn="ctr" eaLnBrk="1" hangingPunct="1"/>
            <a:r>
              <a:rPr lang="en-US" sz="2000" i="1">
                <a:solidFill>
                  <a:schemeClr val="accent2"/>
                </a:solidFill>
                <a:latin typeface="Times New Roman" pitchFamily="18" charset="0"/>
                <a:cs typeface="Arial" charset="0"/>
              </a:rPr>
              <a:t>π-bonding may be introduced</a:t>
            </a:r>
          </a:p>
          <a:p>
            <a:pPr algn="ctr" eaLnBrk="1" hangingPunct="1"/>
            <a:r>
              <a:rPr lang="en-US" sz="2000" i="1">
                <a:solidFill>
                  <a:schemeClr val="accent2"/>
                </a:solidFill>
                <a:latin typeface="Times New Roman" pitchFamily="18" charset="0"/>
                <a:cs typeface="Arial" charset="0"/>
              </a:rPr>
              <a:t>as a perturbation of the t</a:t>
            </a:r>
            <a:r>
              <a:rPr lang="en-US" sz="2000" i="1" baseline="-25000">
                <a:solidFill>
                  <a:schemeClr val="accent2"/>
                </a:solidFill>
                <a:latin typeface="Times New Roman" pitchFamily="18" charset="0"/>
                <a:cs typeface="Arial" charset="0"/>
              </a:rPr>
              <a:t>2g</a:t>
            </a:r>
            <a:r>
              <a:rPr lang="en-US" sz="2000" i="1">
                <a:solidFill>
                  <a:schemeClr val="accent2"/>
                </a:solidFill>
                <a:latin typeface="Times New Roman" pitchFamily="18" charset="0"/>
                <a:cs typeface="Arial" charset="0"/>
              </a:rPr>
              <a:t>/e</a:t>
            </a:r>
            <a:r>
              <a:rPr lang="en-US" sz="2000" i="1" baseline="-25000">
                <a:solidFill>
                  <a:schemeClr val="accent2"/>
                </a:solidFill>
                <a:latin typeface="Times New Roman" pitchFamily="18" charset="0"/>
                <a:cs typeface="Arial" charset="0"/>
              </a:rPr>
              <a:t>g</a:t>
            </a:r>
            <a:r>
              <a:rPr lang="en-US" sz="2000" i="1">
                <a:solidFill>
                  <a:schemeClr val="accent2"/>
                </a:solidFill>
                <a:latin typeface="Times New Roman" pitchFamily="18" charset="0"/>
                <a:cs typeface="Arial" charset="0"/>
              </a:rPr>
              <a:t> set:</a:t>
            </a:r>
          </a:p>
          <a:p>
            <a:pPr algn="ctr" eaLnBrk="1" hangingPunct="1"/>
            <a:r>
              <a:rPr lang="en-US" sz="2000" i="1">
                <a:solidFill>
                  <a:schemeClr val="accent2"/>
                </a:solidFill>
                <a:latin typeface="Times New Roman" pitchFamily="18" charset="0"/>
                <a:cs typeface="Arial" charset="0"/>
              </a:rPr>
              <a:t>Case 1 (CN</a:t>
            </a:r>
            <a:r>
              <a:rPr lang="en-US" sz="2000" i="1" baseline="30000">
                <a:solidFill>
                  <a:schemeClr val="accent2"/>
                </a:solidFill>
                <a:latin typeface="Times New Roman" pitchFamily="18" charset="0"/>
                <a:cs typeface="Arial" charset="0"/>
              </a:rPr>
              <a:t>-</a:t>
            </a:r>
            <a:r>
              <a:rPr lang="en-US" sz="2000" i="1">
                <a:solidFill>
                  <a:schemeClr val="accent2"/>
                </a:solidFill>
                <a:latin typeface="Times New Roman" pitchFamily="18" charset="0"/>
                <a:cs typeface="Arial" charset="0"/>
              </a:rPr>
              <a:t>, CO, C</a:t>
            </a:r>
            <a:r>
              <a:rPr lang="en-US" sz="2000" i="1" baseline="-25000">
                <a:solidFill>
                  <a:schemeClr val="accent2"/>
                </a:solidFill>
                <a:latin typeface="Times New Roman" pitchFamily="18" charset="0"/>
                <a:cs typeface="Arial" charset="0"/>
              </a:rPr>
              <a:t>2</a:t>
            </a:r>
            <a:r>
              <a:rPr lang="en-US" sz="2000" i="1">
                <a:solidFill>
                  <a:schemeClr val="accent2"/>
                </a:solidFill>
                <a:latin typeface="Times New Roman" pitchFamily="18" charset="0"/>
                <a:cs typeface="Arial" charset="0"/>
              </a:rPr>
              <a:t>H</a:t>
            </a:r>
            <a:r>
              <a:rPr lang="en-US" sz="2000" i="1" baseline="-25000">
                <a:solidFill>
                  <a:schemeClr val="accent2"/>
                </a:solidFill>
                <a:latin typeface="Times New Roman" pitchFamily="18" charset="0"/>
                <a:cs typeface="Arial" charset="0"/>
              </a:rPr>
              <a:t>4</a:t>
            </a:r>
            <a:r>
              <a:rPr lang="en-US" sz="2000" i="1">
                <a:solidFill>
                  <a:schemeClr val="accent2"/>
                </a:solidFill>
                <a:latin typeface="Times New Roman" pitchFamily="18" charset="0"/>
                <a:cs typeface="Arial" charset="0"/>
              </a:rPr>
              <a:t>)</a:t>
            </a:r>
          </a:p>
          <a:p>
            <a:pPr algn="ctr" eaLnBrk="1" hangingPunct="1"/>
            <a:r>
              <a:rPr lang="en-US" sz="2000" i="1">
                <a:solidFill>
                  <a:schemeClr val="accent2"/>
                </a:solidFill>
                <a:latin typeface="Times New Roman" pitchFamily="18" charset="0"/>
                <a:cs typeface="Arial" charset="0"/>
              </a:rPr>
              <a:t>empty π-orbitals on the ligands</a:t>
            </a:r>
          </a:p>
          <a:p>
            <a:pPr algn="ctr" eaLnBrk="1" hangingPunct="1"/>
            <a:r>
              <a:rPr lang="en-US" sz="2000" i="1">
                <a:solidFill>
                  <a:schemeClr val="accent2"/>
                </a:solidFill>
                <a:latin typeface="Times New Roman" pitchFamily="18" charset="0"/>
                <a:cs typeface="Arial" charset="0"/>
              </a:rPr>
              <a:t>M</a:t>
            </a:r>
            <a:r>
              <a:rPr lang="en-US" sz="2000" i="1">
                <a:solidFill>
                  <a:schemeClr val="accent2"/>
                </a:solidFill>
                <a:latin typeface="Times New Roman" pitchFamily="18" charset="0"/>
                <a:cs typeface="Arial" charset="0"/>
                <a:sym typeface="Symbol" pitchFamily="18" charset="2"/>
              </a:rPr>
              <a:t>L π-bonding (π-back bonding)</a:t>
            </a:r>
            <a:endParaRPr lang="en-US" sz="2000" i="1">
              <a:solidFill>
                <a:schemeClr val="accent2"/>
              </a:solidFill>
              <a:latin typeface="Times New Roman" pitchFamily="18" charset="0"/>
              <a:cs typeface="Arial" charset="0"/>
            </a:endParaRPr>
          </a:p>
        </p:txBody>
      </p:sp>
      <p:sp>
        <p:nvSpPr>
          <p:cNvPr id="43030" name="Text Box 22"/>
          <p:cNvSpPr txBox="1">
            <a:spLocks noChangeArrowheads="1"/>
          </p:cNvSpPr>
          <p:nvPr/>
        </p:nvSpPr>
        <p:spPr bwMode="auto">
          <a:xfrm>
            <a:off x="3705225" y="5381625"/>
            <a:ext cx="790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3031" name="Text Box 23"/>
          <p:cNvSpPr txBox="1">
            <a:spLocks noChangeArrowheads="1"/>
          </p:cNvSpPr>
          <p:nvPr/>
        </p:nvSpPr>
        <p:spPr bwMode="auto">
          <a:xfrm>
            <a:off x="4724400" y="762000"/>
            <a:ext cx="917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3032" name="Text Box 24"/>
          <p:cNvSpPr txBox="1">
            <a:spLocks noChangeArrowheads="1"/>
          </p:cNvSpPr>
          <p:nvPr/>
        </p:nvSpPr>
        <p:spPr bwMode="auto">
          <a:xfrm>
            <a:off x="4800600" y="2667000"/>
            <a:ext cx="420688"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sp>
        <p:nvSpPr>
          <p:cNvPr id="5" name="Footer Placeholder 4"/>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2667000" y="3581400"/>
            <a:ext cx="471488"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t</a:t>
            </a:r>
            <a:r>
              <a:rPr lang="en-US" i="1" baseline="-25000">
                <a:solidFill>
                  <a:schemeClr val="accent2"/>
                </a:solidFill>
                <a:latin typeface="Times New Roman" pitchFamily="18" charset="0"/>
                <a:cs typeface="Arial" charset="0"/>
              </a:rPr>
              <a:t>2g</a:t>
            </a:r>
            <a:endParaRPr lang="en-US" i="1">
              <a:solidFill>
                <a:schemeClr val="accent2"/>
              </a:solidFill>
              <a:latin typeface="Times New Roman" pitchFamily="18" charset="0"/>
              <a:cs typeface="Arial" charset="0"/>
            </a:endParaRPr>
          </a:p>
        </p:txBody>
      </p:sp>
      <p:sp>
        <p:nvSpPr>
          <p:cNvPr id="44035" name="Text Box 3"/>
          <p:cNvSpPr txBox="1">
            <a:spLocks noChangeArrowheads="1"/>
          </p:cNvSpPr>
          <p:nvPr/>
        </p:nvSpPr>
        <p:spPr bwMode="auto">
          <a:xfrm>
            <a:off x="2971800" y="1524000"/>
            <a:ext cx="420688"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sp>
        <p:nvSpPr>
          <p:cNvPr id="44036" name="Text Box 4"/>
          <p:cNvSpPr txBox="1">
            <a:spLocks noChangeArrowheads="1"/>
          </p:cNvSpPr>
          <p:nvPr/>
        </p:nvSpPr>
        <p:spPr bwMode="auto">
          <a:xfrm>
            <a:off x="8610600" y="4419600"/>
            <a:ext cx="471488" cy="457200"/>
          </a:xfrm>
          <a:prstGeom prst="rect">
            <a:avLst/>
          </a:prstGeom>
          <a:noFill/>
          <a:ln w="9525">
            <a:noFill/>
            <a:miter lim="800000"/>
            <a:headEnd/>
            <a:tailEnd/>
          </a:ln>
          <a:effectLst/>
        </p:spPr>
        <p:txBody>
          <a:bodyPr wrap="none">
            <a:spAutoFit/>
          </a:bodyPr>
          <a:lstStyle/>
          <a:p>
            <a:pPr eaLnBrk="1" hangingPunct="1"/>
            <a:r>
              <a:rPr lang="en-US" i="1">
                <a:solidFill>
                  <a:srgbClr val="D017B5"/>
                </a:solidFill>
                <a:latin typeface="Times New Roman" pitchFamily="18" charset="0"/>
                <a:cs typeface="Arial" charset="0"/>
              </a:rPr>
              <a:t>t</a:t>
            </a:r>
            <a:r>
              <a:rPr lang="en-US" i="1" baseline="-25000">
                <a:solidFill>
                  <a:srgbClr val="D017B5"/>
                </a:solidFill>
                <a:latin typeface="Times New Roman" pitchFamily="18" charset="0"/>
                <a:cs typeface="Arial" charset="0"/>
              </a:rPr>
              <a:t>2g</a:t>
            </a:r>
            <a:endParaRPr lang="en-US" sz="1800" i="1">
              <a:solidFill>
                <a:srgbClr val="D017B5"/>
              </a:solidFill>
              <a:latin typeface="Times New Roman" pitchFamily="18" charset="0"/>
              <a:cs typeface="Arial" charset="0"/>
            </a:endParaRPr>
          </a:p>
        </p:txBody>
      </p:sp>
      <p:sp>
        <p:nvSpPr>
          <p:cNvPr id="44037" name="Text Box 5"/>
          <p:cNvSpPr txBox="1">
            <a:spLocks noChangeArrowheads="1"/>
          </p:cNvSpPr>
          <p:nvPr/>
        </p:nvSpPr>
        <p:spPr bwMode="auto">
          <a:xfrm>
            <a:off x="3559175" y="6019800"/>
            <a:ext cx="827088"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a:t>
            </a:r>
            <a:r>
              <a:rPr lang="en-US" sz="1800">
                <a:latin typeface="Arial" charset="0"/>
                <a:cs typeface="Arial" charset="0"/>
              </a:rPr>
              <a:t>-only</a:t>
            </a:r>
          </a:p>
        </p:txBody>
      </p:sp>
      <p:sp>
        <p:nvSpPr>
          <p:cNvPr id="44038" name="Text Box 6"/>
          <p:cNvSpPr txBox="1">
            <a:spLocks noChangeArrowheads="1"/>
          </p:cNvSpPr>
          <p:nvPr/>
        </p:nvSpPr>
        <p:spPr bwMode="auto">
          <a:xfrm>
            <a:off x="5521325" y="6019800"/>
            <a:ext cx="711200" cy="650875"/>
          </a:xfrm>
          <a:prstGeom prst="rect">
            <a:avLst/>
          </a:prstGeom>
          <a:noFill/>
          <a:ln w="9525">
            <a:solidFill>
              <a:schemeClr val="tx1"/>
            </a:solidFill>
            <a:miter lim="800000"/>
            <a:headEnd/>
            <a:tailEnd/>
          </a:ln>
          <a:effectLst/>
        </p:spPr>
        <p:txBody>
          <a:bodyPr wrap="none">
            <a:spAutoFit/>
          </a:bodyPr>
          <a:lstStyle/>
          <a:p>
            <a:pPr algn="ctr" eaLnBrk="1" hangingPunct="1"/>
            <a:r>
              <a:rPr lang="en-US" sz="1800">
                <a:latin typeface="Times New Roman" pitchFamily="18" charset="0"/>
                <a:cs typeface="Arial" charset="0"/>
              </a:rPr>
              <a:t>ML</a:t>
            </a:r>
            <a:r>
              <a:rPr lang="en-US" sz="1800" baseline="-25000">
                <a:latin typeface="Times New Roman" pitchFamily="18" charset="0"/>
                <a:cs typeface="Arial" charset="0"/>
              </a:rPr>
              <a:t>6</a:t>
            </a:r>
            <a:endParaRPr lang="en-US" sz="1800">
              <a:latin typeface="Times New Roman" pitchFamily="18" charset="0"/>
              <a:cs typeface="Arial" charset="0"/>
            </a:endParaRPr>
          </a:p>
          <a:p>
            <a:pPr algn="ctr" eaLnBrk="1" hangingPunct="1"/>
            <a:r>
              <a:rPr lang="en-US" sz="1800">
                <a:latin typeface="Symbol" pitchFamily="18" charset="2"/>
                <a:cs typeface="Arial" charset="0"/>
              </a:rPr>
              <a:t>s </a:t>
            </a:r>
            <a:r>
              <a:rPr lang="en-US" sz="1800">
                <a:latin typeface="Arial" charset="0"/>
                <a:cs typeface="Arial" charset="0"/>
              </a:rPr>
              <a:t>+ π</a:t>
            </a:r>
          </a:p>
        </p:txBody>
      </p:sp>
      <p:sp>
        <p:nvSpPr>
          <p:cNvPr id="44039" name="Text Box 7"/>
          <p:cNvSpPr txBox="1">
            <a:spLocks noChangeArrowheads="1"/>
          </p:cNvSpPr>
          <p:nvPr/>
        </p:nvSpPr>
        <p:spPr bwMode="auto">
          <a:xfrm>
            <a:off x="314325" y="100013"/>
            <a:ext cx="3235325" cy="1474787"/>
          </a:xfrm>
          <a:prstGeom prst="rect">
            <a:avLst/>
          </a:prstGeom>
          <a:noFill/>
          <a:ln w="9525">
            <a:solidFill>
              <a:schemeClr val="accent2"/>
            </a:solidFill>
            <a:miter lim="800000"/>
            <a:headEnd/>
            <a:tailEnd/>
          </a:ln>
          <a:effectLst/>
        </p:spPr>
        <p:txBody>
          <a:bodyPr wrap="none">
            <a:spAutoFit/>
          </a:bodyPr>
          <a:lstStyle/>
          <a:p>
            <a:pPr algn="ctr" eaLnBrk="1" hangingPunct="1"/>
            <a:r>
              <a:rPr lang="en-US" sz="1800" i="1">
                <a:solidFill>
                  <a:schemeClr val="accent2"/>
                </a:solidFill>
                <a:latin typeface="Times New Roman" pitchFamily="18" charset="0"/>
                <a:cs typeface="Arial" charset="0"/>
              </a:rPr>
              <a:t>π-bonding may be introduced</a:t>
            </a:r>
          </a:p>
          <a:p>
            <a:pPr algn="ctr" eaLnBrk="1" hangingPunct="1"/>
            <a:r>
              <a:rPr lang="en-US" sz="1800" i="1">
                <a:solidFill>
                  <a:schemeClr val="accent2"/>
                </a:solidFill>
                <a:latin typeface="Times New Roman" pitchFamily="18" charset="0"/>
                <a:cs typeface="Arial" charset="0"/>
              </a:rPr>
              <a:t>as a perturbation of the t</a:t>
            </a:r>
            <a:r>
              <a:rPr lang="en-US" sz="1800" i="1" baseline="-25000">
                <a:solidFill>
                  <a:schemeClr val="accent2"/>
                </a:solidFill>
                <a:latin typeface="Times New Roman" pitchFamily="18" charset="0"/>
                <a:cs typeface="Arial" charset="0"/>
              </a:rPr>
              <a:t>2g</a:t>
            </a:r>
            <a:r>
              <a:rPr lang="en-US" sz="1800" i="1">
                <a:solidFill>
                  <a:schemeClr val="accent2"/>
                </a:solidFill>
                <a:latin typeface="Times New Roman" pitchFamily="18" charset="0"/>
                <a:cs typeface="Arial" charset="0"/>
              </a:rPr>
              <a:t>/e</a:t>
            </a:r>
            <a:r>
              <a:rPr lang="en-US" sz="1800" i="1" baseline="-25000">
                <a:solidFill>
                  <a:schemeClr val="accent2"/>
                </a:solidFill>
                <a:latin typeface="Times New Roman" pitchFamily="18" charset="0"/>
                <a:cs typeface="Arial" charset="0"/>
              </a:rPr>
              <a:t>g</a:t>
            </a:r>
            <a:r>
              <a:rPr lang="en-US" sz="1800" i="1">
                <a:solidFill>
                  <a:schemeClr val="accent2"/>
                </a:solidFill>
                <a:latin typeface="Times New Roman" pitchFamily="18" charset="0"/>
                <a:cs typeface="Arial" charset="0"/>
              </a:rPr>
              <a:t> set.</a:t>
            </a:r>
          </a:p>
          <a:p>
            <a:pPr algn="ctr" eaLnBrk="1" hangingPunct="1"/>
            <a:r>
              <a:rPr lang="en-US" sz="1800" i="1">
                <a:solidFill>
                  <a:schemeClr val="accent2"/>
                </a:solidFill>
                <a:latin typeface="Times New Roman" pitchFamily="18" charset="0"/>
                <a:cs typeface="Arial" charset="0"/>
              </a:rPr>
              <a:t>Case 2 (Cl</a:t>
            </a:r>
            <a:r>
              <a:rPr lang="en-US" sz="1800" i="1" baseline="30000">
                <a:solidFill>
                  <a:schemeClr val="accent2"/>
                </a:solidFill>
                <a:latin typeface="Times New Roman" pitchFamily="18" charset="0"/>
                <a:cs typeface="Arial" charset="0"/>
              </a:rPr>
              <a:t>-</a:t>
            </a:r>
            <a:r>
              <a:rPr lang="en-US" sz="1800" i="1">
                <a:solidFill>
                  <a:schemeClr val="accent2"/>
                </a:solidFill>
                <a:latin typeface="Times New Roman" pitchFamily="18" charset="0"/>
                <a:cs typeface="Arial" charset="0"/>
              </a:rPr>
              <a:t>, F</a:t>
            </a:r>
            <a:r>
              <a:rPr lang="en-US" sz="1800" i="1" baseline="30000">
                <a:solidFill>
                  <a:schemeClr val="accent2"/>
                </a:solidFill>
                <a:latin typeface="Times New Roman" pitchFamily="18" charset="0"/>
                <a:cs typeface="Arial" charset="0"/>
              </a:rPr>
              <a:t>-</a:t>
            </a:r>
            <a:r>
              <a:rPr lang="en-US" sz="1800" i="1">
                <a:solidFill>
                  <a:schemeClr val="accent2"/>
                </a:solidFill>
                <a:latin typeface="Times New Roman" pitchFamily="18" charset="0"/>
                <a:cs typeface="Arial" charset="0"/>
              </a:rPr>
              <a:t>)</a:t>
            </a:r>
          </a:p>
          <a:p>
            <a:pPr algn="ctr" eaLnBrk="1" hangingPunct="1"/>
            <a:r>
              <a:rPr lang="en-US" sz="1800" i="1">
                <a:solidFill>
                  <a:schemeClr val="accent2"/>
                </a:solidFill>
                <a:latin typeface="Times New Roman" pitchFamily="18" charset="0"/>
                <a:cs typeface="Arial" charset="0"/>
              </a:rPr>
              <a:t> filled π-orbitals on the ligands</a:t>
            </a:r>
          </a:p>
          <a:p>
            <a:pPr algn="ctr" eaLnBrk="1" hangingPunct="1"/>
            <a:r>
              <a:rPr lang="en-US" sz="1800" i="1">
                <a:solidFill>
                  <a:schemeClr val="accent2"/>
                </a:solidFill>
                <a:latin typeface="Times New Roman" pitchFamily="18" charset="0"/>
                <a:cs typeface="Arial" charset="0"/>
              </a:rPr>
              <a:t>L</a:t>
            </a:r>
            <a:r>
              <a:rPr lang="en-US" sz="1800" i="1">
                <a:solidFill>
                  <a:schemeClr val="accent2"/>
                </a:solidFill>
                <a:latin typeface="Times New Roman" pitchFamily="18" charset="0"/>
                <a:cs typeface="Arial" charset="0"/>
                <a:sym typeface="Symbol" pitchFamily="18" charset="2"/>
              </a:rPr>
              <a:t>M π-bonding</a:t>
            </a:r>
            <a:endParaRPr lang="en-US" sz="1800" i="1">
              <a:solidFill>
                <a:schemeClr val="accent2"/>
              </a:solidFill>
              <a:latin typeface="Times New Roman" pitchFamily="18" charset="0"/>
              <a:cs typeface="Arial" charset="0"/>
            </a:endParaRPr>
          </a:p>
        </p:txBody>
      </p:sp>
      <p:sp>
        <p:nvSpPr>
          <p:cNvPr id="44040" name="Rectangle 8"/>
          <p:cNvSpPr>
            <a:spLocks noChangeArrowheads="1"/>
          </p:cNvSpPr>
          <p:nvPr/>
        </p:nvSpPr>
        <p:spPr bwMode="auto">
          <a:xfrm>
            <a:off x="7129463" y="6172200"/>
            <a:ext cx="1785937" cy="376238"/>
          </a:xfrm>
          <a:prstGeom prst="rect">
            <a:avLst/>
          </a:prstGeom>
          <a:noFill/>
          <a:ln w="9525">
            <a:solidFill>
              <a:srgbClr val="D017B5"/>
            </a:solidFill>
            <a:miter lim="800000"/>
            <a:headEnd/>
            <a:tailEnd/>
          </a:ln>
          <a:effectLst/>
        </p:spPr>
        <p:txBody>
          <a:bodyPr wrap="none">
            <a:spAutoFit/>
          </a:bodyPr>
          <a:lstStyle/>
          <a:p>
            <a:pPr eaLnBrk="1" hangingPunct="1"/>
            <a:r>
              <a:rPr lang="en-US" sz="1800" i="1">
                <a:solidFill>
                  <a:srgbClr val="D017B5"/>
                </a:solidFill>
                <a:latin typeface="Times New Roman" pitchFamily="18" charset="0"/>
                <a:cs typeface="Arial" charset="0"/>
              </a:rPr>
              <a:t>(filled π-orbitals)</a:t>
            </a:r>
          </a:p>
        </p:txBody>
      </p:sp>
      <p:sp>
        <p:nvSpPr>
          <p:cNvPr id="44041" name="Text Box 9"/>
          <p:cNvSpPr txBox="1">
            <a:spLocks noChangeArrowheads="1"/>
          </p:cNvSpPr>
          <p:nvPr/>
        </p:nvSpPr>
        <p:spPr bwMode="auto">
          <a:xfrm>
            <a:off x="6118225" y="4183063"/>
            <a:ext cx="184150" cy="366712"/>
          </a:xfrm>
          <a:prstGeom prst="rect">
            <a:avLst/>
          </a:prstGeom>
          <a:noFill/>
          <a:ln w="9525">
            <a:noFill/>
            <a:miter lim="800000"/>
            <a:headEnd/>
            <a:tailEnd/>
          </a:ln>
          <a:effectLst/>
        </p:spPr>
        <p:txBody>
          <a:bodyPr>
            <a:spAutoFit/>
          </a:bodyPr>
          <a:lstStyle/>
          <a:p>
            <a:pPr eaLnBrk="1" hangingPunct="1">
              <a:spcBef>
                <a:spcPct val="50000"/>
              </a:spcBef>
            </a:pPr>
            <a:endParaRPr lang="en-US" sz="1800">
              <a:latin typeface="Arial" charset="0"/>
              <a:cs typeface="Arial" charset="0"/>
            </a:endParaRPr>
          </a:p>
        </p:txBody>
      </p:sp>
      <p:pic>
        <p:nvPicPr>
          <p:cNvPr id="44042" name="Picture 10"/>
          <p:cNvPicPr>
            <a:picLocks noChangeAspect="1" noChangeArrowheads="1"/>
          </p:cNvPicPr>
          <p:nvPr/>
        </p:nvPicPr>
        <p:blipFill>
          <a:blip r:embed="rId3"/>
          <a:srcRect/>
          <a:stretch>
            <a:fillRect/>
          </a:stretch>
        </p:blipFill>
        <p:spPr bwMode="auto">
          <a:xfrm>
            <a:off x="3136900" y="1600200"/>
            <a:ext cx="5549900" cy="4356100"/>
          </a:xfrm>
          <a:prstGeom prst="rect">
            <a:avLst/>
          </a:prstGeom>
          <a:noFill/>
          <a:ln w="9525">
            <a:noFill/>
            <a:miter lim="800000"/>
            <a:headEnd/>
            <a:tailEnd/>
          </a:ln>
          <a:effectLst/>
        </p:spPr>
      </p:pic>
      <p:grpSp>
        <p:nvGrpSpPr>
          <p:cNvPr id="2" name="Group 11"/>
          <p:cNvGrpSpPr>
            <a:grpSpLocks/>
          </p:cNvGrpSpPr>
          <p:nvPr/>
        </p:nvGrpSpPr>
        <p:grpSpPr bwMode="auto">
          <a:xfrm>
            <a:off x="3124200" y="4724400"/>
            <a:ext cx="4038600" cy="914400"/>
            <a:chOff x="1968" y="2976"/>
            <a:chExt cx="2544" cy="576"/>
          </a:xfrm>
        </p:grpSpPr>
        <p:sp>
          <p:nvSpPr>
            <p:cNvPr id="44044" name="Line 12"/>
            <p:cNvSpPr>
              <a:spLocks noChangeShapeType="1"/>
            </p:cNvSpPr>
            <p:nvPr/>
          </p:nvSpPr>
          <p:spPr bwMode="auto">
            <a:xfrm>
              <a:off x="2784" y="2976"/>
              <a:ext cx="1728" cy="0"/>
            </a:xfrm>
            <a:prstGeom prst="line">
              <a:avLst/>
            </a:prstGeom>
            <a:noFill/>
            <a:ln w="9525">
              <a:solidFill>
                <a:schemeClr val="tx1"/>
              </a:solidFill>
              <a:prstDash val="lgDashDot"/>
              <a:round/>
              <a:headEnd/>
              <a:tailEnd/>
            </a:ln>
            <a:effectLst/>
          </p:spPr>
          <p:txBody>
            <a:bodyPr wrap="none" anchor="ctr"/>
            <a:lstStyle/>
            <a:p>
              <a:endParaRPr lang="en-US"/>
            </a:p>
          </p:txBody>
        </p:sp>
        <p:sp>
          <p:nvSpPr>
            <p:cNvPr id="44045" name="Line 13"/>
            <p:cNvSpPr>
              <a:spLocks noChangeShapeType="1"/>
            </p:cNvSpPr>
            <p:nvPr/>
          </p:nvSpPr>
          <p:spPr bwMode="auto">
            <a:xfrm>
              <a:off x="2880" y="2976"/>
              <a:ext cx="0" cy="576"/>
            </a:xfrm>
            <a:prstGeom prst="line">
              <a:avLst/>
            </a:prstGeom>
            <a:noFill/>
            <a:ln w="9525">
              <a:solidFill>
                <a:schemeClr val="tx1"/>
              </a:solidFill>
              <a:round/>
              <a:headEnd/>
              <a:tailEnd type="triangle" w="med" len="med"/>
            </a:ln>
            <a:effectLst/>
          </p:spPr>
          <p:txBody>
            <a:bodyPr wrap="none" anchor="ctr"/>
            <a:lstStyle/>
            <a:p>
              <a:endParaRPr lang="en-US"/>
            </a:p>
          </p:txBody>
        </p:sp>
        <p:sp>
          <p:nvSpPr>
            <p:cNvPr id="44046" name="Text Box 14"/>
            <p:cNvSpPr txBox="1">
              <a:spLocks noChangeArrowheads="1"/>
            </p:cNvSpPr>
            <p:nvPr/>
          </p:nvSpPr>
          <p:spPr bwMode="auto">
            <a:xfrm>
              <a:off x="1968" y="3120"/>
              <a:ext cx="864" cy="231"/>
            </a:xfrm>
            <a:prstGeom prst="rect">
              <a:avLst/>
            </a:prstGeom>
            <a:noFill/>
            <a:ln w="9525">
              <a:noFill/>
              <a:miter lim="800000"/>
              <a:headEnd/>
              <a:tailEnd/>
            </a:ln>
            <a:effectLst/>
          </p:spPr>
          <p:txBody>
            <a:bodyPr>
              <a:spAutoFit/>
            </a:bodyPr>
            <a:lstStyle/>
            <a:p>
              <a:pPr eaLnBrk="1" hangingPunct="1">
                <a:spcBef>
                  <a:spcPct val="50000"/>
                </a:spcBef>
              </a:pPr>
              <a:r>
                <a:rPr lang="en-US" sz="1800" i="1">
                  <a:solidFill>
                    <a:schemeClr val="accent2"/>
                  </a:solidFill>
                  <a:latin typeface="Times New Roman" pitchFamily="18" charset="0"/>
                  <a:cs typeface="Arial" charset="0"/>
                </a:rPr>
                <a:t>Stabilization</a:t>
              </a:r>
            </a:p>
          </p:txBody>
        </p:sp>
      </p:grpSp>
      <p:grpSp>
        <p:nvGrpSpPr>
          <p:cNvPr id="3" name="Group 28"/>
          <p:cNvGrpSpPr>
            <a:grpSpLocks/>
          </p:cNvGrpSpPr>
          <p:nvPr/>
        </p:nvGrpSpPr>
        <p:grpSpPr bwMode="auto">
          <a:xfrm>
            <a:off x="3886200" y="2590800"/>
            <a:ext cx="5010150" cy="1144588"/>
            <a:chOff x="2460" y="1584"/>
            <a:chExt cx="3156" cy="721"/>
          </a:xfrm>
        </p:grpSpPr>
        <p:sp>
          <p:nvSpPr>
            <p:cNvPr id="44048" name="Line 16"/>
            <p:cNvSpPr>
              <a:spLocks noChangeShapeType="1"/>
            </p:cNvSpPr>
            <p:nvPr/>
          </p:nvSpPr>
          <p:spPr bwMode="auto">
            <a:xfrm>
              <a:off x="2460" y="2304"/>
              <a:ext cx="2207" cy="1"/>
            </a:xfrm>
            <a:prstGeom prst="line">
              <a:avLst/>
            </a:prstGeom>
            <a:noFill/>
            <a:ln w="9525">
              <a:solidFill>
                <a:schemeClr val="tx1"/>
              </a:solidFill>
              <a:prstDash val="lgDashDot"/>
              <a:round/>
              <a:headEnd/>
              <a:tailEnd/>
            </a:ln>
            <a:effectLst/>
          </p:spPr>
          <p:txBody>
            <a:bodyPr wrap="none" anchor="ctr"/>
            <a:lstStyle/>
            <a:p>
              <a:endParaRPr lang="en-US"/>
            </a:p>
          </p:txBody>
        </p:sp>
        <p:sp>
          <p:nvSpPr>
            <p:cNvPr id="44049" name="Line 17"/>
            <p:cNvSpPr>
              <a:spLocks noChangeShapeType="1"/>
            </p:cNvSpPr>
            <p:nvPr/>
          </p:nvSpPr>
          <p:spPr bwMode="auto">
            <a:xfrm flipV="1">
              <a:off x="4506" y="1584"/>
              <a:ext cx="0" cy="720"/>
            </a:xfrm>
            <a:prstGeom prst="line">
              <a:avLst/>
            </a:prstGeom>
            <a:noFill/>
            <a:ln w="9525">
              <a:solidFill>
                <a:schemeClr val="tx1"/>
              </a:solidFill>
              <a:round/>
              <a:headEnd/>
              <a:tailEnd type="triangle" w="med" len="med"/>
            </a:ln>
            <a:effectLst/>
          </p:spPr>
          <p:txBody>
            <a:bodyPr wrap="none" anchor="ctr"/>
            <a:lstStyle/>
            <a:p>
              <a:endParaRPr lang="en-US"/>
            </a:p>
          </p:txBody>
        </p:sp>
        <p:sp>
          <p:nvSpPr>
            <p:cNvPr id="44050" name="Text Box 18"/>
            <p:cNvSpPr txBox="1">
              <a:spLocks noChangeArrowheads="1"/>
            </p:cNvSpPr>
            <p:nvPr/>
          </p:nvSpPr>
          <p:spPr bwMode="auto">
            <a:xfrm>
              <a:off x="4512" y="1872"/>
              <a:ext cx="1104" cy="231"/>
            </a:xfrm>
            <a:prstGeom prst="rect">
              <a:avLst/>
            </a:prstGeom>
            <a:noFill/>
            <a:ln w="9525">
              <a:noFill/>
              <a:miter lim="800000"/>
              <a:headEnd/>
              <a:tailEnd/>
            </a:ln>
            <a:effectLst/>
          </p:spPr>
          <p:txBody>
            <a:bodyPr>
              <a:spAutoFit/>
            </a:bodyPr>
            <a:lstStyle/>
            <a:p>
              <a:pPr eaLnBrk="1" hangingPunct="1">
                <a:spcBef>
                  <a:spcPct val="50000"/>
                </a:spcBef>
              </a:pPr>
              <a:r>
                <a:rPr lang="en-US" sz="1800" i="1">
                  <a:solidFill>
                    <a:srgbClr val="FF0000"/>
                  </a:solidFill>
                  <a:latin typeface="Times New Roman" pitchFamily="18" charset="0"/>
                  <a:cs typeface="Arial" charset="0"/>
                </a:rPr>
                <a:t>Destabilization</a:t>
              </a:r>
            </a:p>
          </p:txBody>
        </p:sp>
      </p:grpSp>
      <p:sp>
        <p:nvSpPr>
          <p:cNvPr id="44051" name="Text Box 19"/>
          <p:cNvSpPr txBox="1">
            <a:spLocks noChangeArrowheads="1"/>
          </p:cNvSpPr>
          <p:nvPr/>
        </p:nvSpPr>
        <p:spPr bwMode="auto">
          <a:xfrm>
            <a:off x="4543425" y="5381625"/>
            <a:ext cx="790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4052" name="Text Box 20"/>
          <p:cNvSpPr txBox="1">
            <a:spLocks noChangeArrowheads="1"/>
          </p:cNvSpPr>
          <p:nvPr/>
        </p:nvSpPr>
        <p:spPr bwMode="auto">
          <a:xfrm>
            <a:off x="6172200" y="2133600"/>
            <a:ext cx="917575" cy="396875"/>
          </a:xfrm>
          <a:prstGeom prst="rect">
            <a:avLst/>
          </a:prstGeom>
          <a:noFill/>
          <a:ln w="9525">
            <a:noFill/>
            <a:miter lim="800000"/>
            <a:headEnd/>
            <a:tailEnd/>
          </a:ln>
          <a:effectLst/>
        </p:spPr>
        <p:txBody>
          <a:bodyPr wrap="none">
            <a:spAutoFit/>
          </a:bodyPr>
          <a:lstStyle/>
          <a:p>
            <a:pPr eaLnBrk="1" hangingPunct="1"/>
            <a:r>
              <a:rPr lang="en-US" sz="2000" i="1">
                <a:latin typeface="Times New Roman" pitchFamily="18" charset="0"/>
                <a:cs typeface="Arial" charset="0"/>
              </a:rPr>
              <a:t>t</a:t>
            </a:r>
            <a:r>
              <a:rPr lang="en-US" sz="2000" i="1" baseline="-25000">
                <a:latin typeface="Times New Roman" pitchFamily="18" charset="0"/>
                <a:cs typeface="Arial" charset="0"/>
              </a:rPr>
              <a:t>2g</a:t>
            </a:r>
            <a:r>
              <a:rPr lang="en-US" sz="2000" i="1">
                <a:latin typeface="Times New Roman" pitchFamily="18" charset="0"/>
                <a:cs typeface="Arial" charset="0"/>
              </a:rPr>
              <a:t> (π*)</a:t>
            </a:r>
          </a:p>
        </p:txBody>
      </p:sp>
      <p:sp>
        <p:nvSpPr>
          <p:cNvPr id="44053" name="Text Box 21"/>
          <p:cNvSpPr txBox="1">
            <a:spLocks noChangeArrowheads="1"/>
          </p:cNvSpPr>
          <p:nvPr/>
        </p:nvSpPr>
        <p:spPr bwMode="auto">
          <a:xfrm>
            <a:off x="6477000" y="1447800"/>
            <a:ext cx="420688" cy="457200"/>
          </a:xfrm>
          <a:prstGeom prst="rect">
            <a:avLst/>
          </a:prstGeom>
          <a:noFill/>
          <a:ln w="9525">
            <a:noFill/>
            <a:miter lim="800000"/>
            <a:headEnd/>
            <a:tailEnd/>
          </a:ln>
          <a:effectLst/>
        </p:spPr>
        <p:txBody>
          <a:bodyPr wrap="none">
            <a:spAutoFit/>
          </a:bodyPr>
          <a:lstStyle/>
          <a:p>
            <a:pPr eaLnBrk="1" hangingPunct="1"/>
            <a:r>
              <a:rPr lang="en-US" i="1">
                <a:solidFill>
                  <a:srgbClr val="FF0000"/>
                </a:solidFill>
                <a:latin typeface="Times New Roman" pitchFamily="18" charset="0"/>
                <a:cs typeface="Arial" charset="0"/>
              </a:rPr>
              <a:t>e</a:t>
            </a:r>
            <a:r>
              <a:rPr lang="en-US" i="1" baseline="-25000">
                <a:solidFill>
                  <a:srgbClr val="FF0000"/>
                </a:solidFill>
                <a:latin typeface="Times New Roman" pitchFamily="18" charset="0"/>
                <a:cs typeface="Arial" charset="0"/>
              </a:rPr>
              <a:t>g</a:t>
            </a:r>
            <a:endParaRPr lang="en-US" i="1">
              <a:solidFill>
                <a:schemeClr val="accent2"/>
              </a:solidFill>
              <a:latin typeface="Times New Roman" pitchFamily="18" charset="0"/>
              <a:cs typeface="Arial" charset="0"/>
            </a:endParaRPr>
          </a:p>
        </p:txBody>
      </p:sp>
      <p:grpSp>
        <p:nvGrpSpPr>
          <p:cNvPr id="4" name="Group 22"/>
          <p:cNvGrpSpPr>
            <a:grpSpLocks/>
          </p:cNvGrpSpPr>
          <p:nvPr/>
        </p:nvGrpSpPr>
        <p:grpSpPr bwMode="auto">
          <a:xfrm>
            <a:off x="1295400" y="1676400"/>
            <a:ext cx="4397375" cy="2057400"/>
            <a:chOff x="816" y="1056"/>
            <a:chExt cx="2770" cy="1296"/>
          </a:xfrm>
        </p:grpSpPr>
        <p:sp>
          <p:nvSpPr>
            <p:cNvPr id="44055" name="Line 23"/>
            <p:cNvSpPr>
              <a:spLocks noChangeShapeType="1"/>
            </p:cNvSpPr>
            <p:nvPr/>
          </p:nvSpPr>
          <p:spPr bwMode="auto">
            <a:xfrm flipV="1">
              <a:off x="2722" y="1056"/>
              <a:ext cx="0" cy="1296"/>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4056" name="Line 24"/>
            <p:cNvSpPr>
              <a:spLocks noChangeShapeType="1"/>
            </p:cNvSpPr>
            <p:nvPr/>
          </p:nvSpPr>
          <p:spPr bwMode="auto">
            <a:xfrm flipV="1">
              <a:off x="3250" y="1056"/>
              <a:ext cx="0" cy="576"/>
            </a:xfrm>
            <a:prstGeom prst="line">
              <a:avLst/>
            </a:prstGeom>
            <a:noFill/>
            <a:ln w="9525">
              <a:solidFill>
                <a:schemeClr val="tx1"/>
              </a:solidFill>
              <a:round/>
              <a:headEnd type="triangle" w="med" len="med"/>
              <a:tailEnd type="triangle" w="med" len="med"/>
            </a:ln>
            <a:effectLst/>
          </p:spPr>
          <p:txBody>
            <a:bodyPr wrap="none" anchor="ctr"/>
            <a:lstStyle/>
            <a:p>
              <a:endParaRPr lang="en-US"/>
            </a:p>
          </p:txBody>
        </p:sp>
        <p:sp>
          <p:nvSpPr>
            <p:cNvPr id="44057" name="Rectangle 25"/>
            <p:cNvSpPr>
              <a:spLocks noChangeArrowheads="1"/>
            </p:cNvSpPr>
            <p:nvPr/>
          </p:nvSpPr>
          <p:spPr bwMode="auto">
            <a:xfrm>
              <a:off x="3264" y="1161"/>
              <a:ext cx="322" cy="237"/>
            </a:xfrm>
            <a:prstGeom prst="rect">
              <a:avLst/>
            </a:prstGeom>
            <a:solidFill>
              <a:schemeClr val="bg1"/>
            </a:solid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a:latin typeface="Arial" charset="0"/>
                  <a:cs typeface="Arial" charset="0"/>
                </a:rPr>
                <a:t>’o</a:t>
              </a:r>
            </a:p>
          </p:txBody>
        </p:sp>
        <p:sp>
          <p:nvSpPr>
            <p:cNvPr id="44058" name="Text Box 26"/>
            <p:cNvSpPr txBox="1">
              <a:spLocks noChangeArrowheads="1"/>
            </p:cNvSpPr>
            <p:nvPr/>
          </p:nvSpPr>
          <p:spPr bwMode="auto">
            <a:xfrm>
              <a:off x="2352" y="1584"/>
              <a:ext cx="322" cy="237"/>
            </a:xfrm>
            <a:prstGeom prst="rect">
              <a:avLst/>
            </a:prstGeom>
            <a:noFill/>
            <a:ln w="9525">
              <a:solidFill>
                <a:schemeClr val="tx1"/>
              </a:solidFill>
              <a:miter lim="800000"/>
              <a:headEnd/>
              <a:tailEnd/>
            </a:ln>
            <a:effectLst/>
          </p:spPr>
          <p:txBody>
            <a:bodyPr>
              <a:spAutoFit/>
            </a:bodyPr>
            <a:lstStyle/>
            <a:p>
              <a:pPr eaLnBrk="1" hangingPunct="1"/>
              <a:r>
                <a:rPr lang="en-US" sz="1800">
                  <a:latin typeface="Symbol" pitchFamily="18" charset="2"/>
                  <a:cs typeface="Arial" charset="0"/>
                </a:rPr>
                <a:t>D</a:t>
              </a:r>
              <a:r>
                <a:rPr lang="en-US" sz="1800">
                  <a:latin typeface="Arial" charset="0"/>
                  <a:cs typeface="Arial" charset="0"/>
                </a:rPr>
                <a:t>o</a:t>
              </a:r>
            </a:p>
          </p:txBody>
        </p:sp>
        <p:sp>
          <p:nvSpPr>
            <p:cNvPr id="44059" name="Rectangle 27"/>
            <p:cNvSpPr>
              <a:spLocks noChangeArrowheads="1"/>
            </p:cNvSpPr>
            <p:nvPr/>
          </p:nvSpPr>
          <p:spPr bwMode="auto">
            <a:xfrm>
              <a:off x="816" y="1488"/>
              <a:ext cx="1234" cy="237"/>
            </a:xfrm>
            <a:prstGeom prst="rect">
              <a:avLst/>
            </a:prstGeom>
            <a:noFill/>
            <a:ln w="9525">
              <a:solidFill>
                <a:schemeClr val="tx1"/>
              </a:solidFill>
              <a:miter lim="800000"/>
              <a:headEnd/>
              <a:tailEnd/>
            </a:ln>
            <a:effectLst/>
          </p:spPr>
          <p:txBody>
            <a:bodyPr wrap="none">
              <a:spAutoFit/>
            </a:bodyPr>
            <a:lstStyle/>
            <a:p>
              <a:pPr eaLnBrk="1" hangingPunct="1"/>
              <a:r>
                <a:rPr lang="en-US" sz="1800">
                  <a:latin typeface="Symbol" pitchFamily="18" charset="2"/>
                  <a:cs typeface="Arial" charset="0"/>
                </a:rPr>
                <a:t>D</a:t>
              </a:r>
              <a:r>
                <a:rPr lang="en-US" sz="1800" baseline="-25000">
                  <a:latin typeface="Arial" charset="0"/>
                  <a:cs typeface="Arial" charset="0"/>
                </a:rPr>
                <a:t>o </a:t>
              </a:r>
              <a:r>
                <a:rPr lang="en-US" sz="1800">
                  <a:latin typeface="Arial" charset="0"/>
                  <a:cs typeface="Arial" charset="0"/>
                </a:rPr>
                <a:t>has decreased</a:t>
              </a:r>
              <a:endParaRPr lang="en-US" sz="1800" baseline="-25000">
                <a:latin typeface="Arial" charset="0"/>
                <a:cs typeface="Arial" charset="0"/>
              </a:endParaRPr>
            </a:p>
          </p:txBody>
        </p:sp>
      </p:grpSp>
      <p:sp>
        <p:nvSpPr>
          <p:cNvPr id="5" name="Footer Placeholder 4"/>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p:cNvPicPr>
            <a:picLocks noChangeAspect="1" noChangeArrowheads="1"/>
          </p:cNvPicPr>
          <p:nvPr/>
        </p:nvPicPr>
        <p:blipFill>
          <a:blip r:embed="rId3"/>
          <a:srcRect/>
          <a:stretch>
            <a:fillRect/>
          </a:stretch>
        </p:blipFill>
        <p:spPr bwMode="auto">
          <a:xfrm>
            <a:off x="1981200" y="228600"/>
            <a:ext cx="5999163" cy="6324600"/>
          </a:xfrm>
          <a:prstGeom prst="rect">
            <a:avLst/>
          </a:prstGeom>
          <a:noFill/>
          <a:ln w="9525">
            <a:noFill/>
            <a:miter lim="800000"/>
            <a:headEnd/>
            <a:tailEnd/>
          </a:ln>
          <a:effectLst/>
        </p:spPr>
      </p:pic>
      <p:grpSp>
        <p:nvGrpSpPr>
          <p:cNvPr id="2" name="Group 3"/>
          <p:cNvGrpSpPr>
            <a:grpSpLocks/>
          </p:cNvGrpSpPr>
          <p:nvPr/>
        </p:nvGrpSpPr>
        <p:grpSpPr bwMode="auto">
          <a:xfrm>
            <a:off x="2286000" y="6415088"/>
            <a:ext cx="5568950" cy="366712"/>
            <a:chOff x="1440" y="4041"/>
            <a:chExt cx="3508" cy="231"/>
          </a:xfrm>
        </p:grpSpPr>
        <p:sp>
          <p:nvSpPr>
            <p:cNvPr id="45060" name="Text Box 4"/>
            <p:cNvSpPr txBox="1">
              <a:spLocks noChangeArrowheads="1"/>
            </p:cNvSpPr>
            <p:nvPr/>
          </p:nvSpPr>
          <p:spPr bwMode="auto">
            <a:xfrm>
              <a:off x="1440" y="4041"/>
              <a:ext cx="1404" cy="231"/>
            </a:xfrm>
            <a:prstGeom prst="rect">
              <a:avLst/>
            </a:prstGeom>
            <a:noFill/>
            <a:ln w="9525">
              <a:noFill/>
              <a:miter lim="800000"/>
              <a:headEnd/>
              <a:tailEnd/>
            </a:ln>
            <a:effectLst/>
          </p:spPr>
          <p:txBody>
            <a:bodyPr wrap="none">
              <a:spAutoFit/>
            </a:bodyPr>
            <a:lstStyle/>
            <a:p>
              <a:pPr eaLnBrk="1" hangingPunct="1"/>
              <a:r>
                <a:rPr lang="en-US" sz="1800">
                  <a:solidFill>
                    <a:schemeClr val="accent2"/>
                  </a:solidFill>
                  <a:latin typeface="Times New Roman" pitchFamily="18" charset="0"/>
                  <a:cs typeface="Arial" charset="0"/>
                </a:rPr>
                <a:t>Strong field / low spin</a:t>
              </a:r>
            </a:p>
          </p:txBody>
        </p:sp>
        <p:sp>
          <p:nvSpPr>
            <p:cNvPr id="45061" name="Text Box 5"/>
            <p:cNvSpPr txBox="1">
              <a:spLocks noChangeArrowheads="1"/>
            </p:cNvSpPr>
            <p:nvPr/>
          </p:nvSpPr>
          <p:spPr bwMode="auto">
            <a:xfrm>
              <a:off x="3552" y="4041"/>
              <a:ext cx="1396" cy="231"/>
            </a:xfrm>
            <a:prstGeom prst="rect">
              <a:avLst/>
            </a:prstGeom>
            <a:noFill/>
            <a:ln w="9525">
              <a:noFill/>
              <a:miter lim="800000"/>
              <a:headEnd/>
              <a:tailEnd/>
            </a:ln>
            <a:effectLst/>
          </p:spPr>
          <p:txBody>
            <a:bodyPr wrap="none">
              <a:spAutoFit/>
            </a:bodyPr>
            <a:lstStyle/>
            <a:p>
              <a:pPr eaLnBrk="1" hangingPunct="1"/>
              <a:r>
                <a:rPr lang="en-US" sz="1800">
                  <a:solidFill>
                    <a:srgbClr val="FF0000"/>
                  </a:solidFill>
                  <a:latin typeface="Times New Roman" pitchFamily="18" charset="0"/>
                  <a:cs typeface="Arial" charset="0"/>
                </a:rPr>
                <a:t>Weak field / high spin</a:t>
              </a:r>
            </a:p>
          </p:txBody>
        </p:sp>
      </p:grpSp>
      <p:sp>
        <p:nvSpPr>
          <p:cNvPr id="45062" name="Text Box 6"/>
          <p:cNvSpPr txBox="1">
            <a:spLocks noChangeArrowheads="1"/>
          </p:cNvSpPr>
          <p:nvPr/>
        </p:nvSpPr>
        <p:spPr bwMode="auto">
          <a:xfrm>
            <a:off x="4572000" y="457200"/>
            <a:ext cx="3581400" cy="822325"/>
          </a:xfrm>
          <a:prstGeom prst="rect">
            <a:avLst/>
          </a:prstGeom>
          <a:noFill/>
          <a:ln w="9525">
            <a:noFill/>
            <a:miter lim="800000"/>
            <a:headEnd/>
            <a:tailEnd/>
          </a:ln>
          <a:effectLst/>
        </p:spPr>
        <p:txBody>
          <a:bodyPr>
            <a:spAutoFit/>
          </a:bodyPr>
          <a:lstStyle/>
          <a:p>
            <a:pPr>
              <a:spcBef>
                <a:spcPct val="50000"/>
              </a:spcBef>
            </a:pPr>
            <a:r>
              <a:rPr lang="en-US"/>
              <a:t>Putting it all on one diagram.</a:t>
            </a:r>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a:t>Spectrochemical Series</a:t>
            </a:r>
          </a:p>
        </p:txBody>
      </p:sp>
      <p:sp>
        <p:nvSpPr>
          <p:cNvPr id="109572" name="Text Box 4"/>
          <p:cNvSpPr txBox="1">
            <a:spLocks noChangeArrowheads="1"/>
          </p:cNvSpPr>
          <p:nvPr/>
        </p:nvSpPr>
        <p:spPr bwMode="auto">
          <a:xfrm>
            <a:off x="990600" y="1905000"/>
            <a:ext cx="7924800" cy="1004888"/>
          </a:xfrm>
          <a:prstGeom prst="rect">
            <a:avLst/>
          </a:prstGeom>
          <a:noFill/>
          <a:ln w="9525">
            <a:noFill/>
            <a:miter lim="800000"/>
            <a:headEnd/>
            <a:tailEnd/>
          </a:ln>
          <a:effectLst/>
        </p:spPr>
        <p:txBody>
          <a:bodyPr>
            <a:spAutoFit/>
          </a:bodyPr>
          <a:lstStyle/>
          <a:p>
            <a:pPr>
              <a:spcBef>
                <a:spcPct val="50000"/>
              </a:spcBef>
            </a:pPr>
            <a:r>
              <a:rPr lang="en-US"/>
              <a:t>Purely </a:t>
            </a:r>
            <a:r>
              <a:rPr lang="en-US">
                <a:latin typeface="Symbol" pitchFamily="18" charset="2"/>
              </a:rPr>
              <a:t>s</a:t>
            </a:r>
            <a:r>
              <a:rPr lang="en-US"/>
              <a:t> ligands:  </a:t>
            </a:r>
          </a:p>
          <a:p>
            <a:pPr>
              <a:spcBef>
                <a:spcPct val="50000"/>
              </a:spcBef>
            </a:pPr>
            <a:r>
              <a:rPr lang="en-US">
                <a:latin typeface="Symbol" pitchFamily="18" charset="2"/>
              </a:rPr>
              <a:t>D:</a:t>
            </a:r>
            <a:r>
              <a:rPr lang="en-US"/>
              <a:t> en &gt; NH</a:t>
            </a:r>
            <a:r>
              <a:rPr lang="en-US" baseline="-25000"/>
              <a:t>3 </a:t>
            </a:r>
            <a:r>
              <a:rPr lang="en-US"/>
              <a:t>(order of proton basicity)</a:t>
            </a:r>
          </a:p>
        </p:txBody>
      </p:sp>
      <p:sp>
        <p:nvSpPr>
          <p:cNvPr id="109573" name="Text Box 5"/>
          <p:cNvSpPr txBox="1">
            <a:spLocks noChangeArrowheads="1"/>
          </p:cNvSpPr>
          <p:nvPr/>
        </p:nvSpPr>
        <p:spPr bwMode="auto">
          <a:xfrm>
            <a:off x="914400" y="2971800"/>
            <a:ext cx="7924800" cy="822325"/>
          </a:xfrm>
          <a:prstGeom prst="rect">
            <a:avLst/>
          </a:prstGeom>
          <a:noFill/>
          <a:ln w="9525">
            <a:noFill/>
            <a:miter lim="800000"/>
            <a:headEnd/>
            <a:tailEnd/>
          </a:ln>
          <a:effectLst/>
        </p:spPr>
        <p:txBody>
          <a:bodyPr>
            <a:spAutoFit/>
          </a:bodyPr>
          <a:lstStyle/>
          <a:p>
            <a:pPr>
              <a:spcBef>
                <a:spcPct val="50000"/>
              </a:spcBef>
              <a:buFont typeface="Symbol" pitchFamily="18" charset="2"/>
              <a:buChar char="p"/>
            </a:pPr>
            <a:r>
              <a:rPr lang="en-US"/>
              <a:t> donating which decreases splitting and causes high spin:</a:t>
            </a:r>
          </a:p>
          <a:p>
            <a:r>
              <a:rPr lang="en-US">
                <a:latin typeface="Symbol" pitchFamily="18" charset="2"/>
              </a:rPr>
              <a:t>D</a:t>
            </a:r>
            <a:r>
              <a:rPr lang="en-US"/>
              <a:t>: H</a:t>
            </a:r>
            <a:r>
              <a:rPr lang="en-US" baseline="-25000"/>
              <a:t>2</a:t>
            </a:r>
            <a:r>
              <a:rPr lang="en-US"/>
              <a:t>O &gt; F &gt; RCO</a:t>
            </a:r>
            <a:r>
              <a:rPr lang="en-US" baseline="-25000"/>
              <a:t>2</a:t>
            </a:r>
            <a:r>
              <a:rPr lang="en-US"/>
              <a:t> &gt; OH &gt; Cl &gt; Br &gt; I (also proton basicity)</a:t>
            </a:r>
          </a:p>
        </p:txBody>
      </p:sp>
      <p:sp>
        <p:nvSpPr>
          <p:cNvPr id="109574" name="Text Box 6"/>
          <p:cNvSpPr txBox="1">
            <a:spLocks noChangeArrowheads="1"/>
          </p:cNvSpPr>
          <p:nvPr/>
        </p:nvSpPr>
        <p:spPr bwMode="auto">
          <a:xfrm>
            <a:off x="914400" y="4114800"/>
            <a:ext cx="7848600" cy="457200"/>
          </a:xfrm>
          <a:prstGeom prst="rect">
            <a:avLst/>
          </a:prstGeom>
          <a:noFill/>
          <a:ln w="9525">
            <a:noFill/>
            <a:miter lim="800000"/>
            <a:headEnd/>
            <a:tailEnd/>
          </a:ln>
          <a:effectLst/>
        </p:spPr>
        <p:txBody>
          <a:bodyPr>
            <a:spAutoFit/>
          </a:bodyPr>
          <a:lstStyle/>
          <a:p>
            <a:pPr>
              <a:spcBef>
                <a:spcPct val="50000"/>
              </a:spcBef>
            </a:pPr>
            <a:r>
              <a:rPr lang="en-US"/>
              <a:t>Adding in water, hydroxide and carboxylate</a:t>
            </a:r>
          </a:p>
        </p:txBody>
      </p:sp>
      <p:sp>
        <p:nvSpPr>
          <p:cNvPr id="109575" name="Rectangle 7"/>
          <p:cNvSpPr>
            <a:spLocks noChangeArrowheads="1"/>
          </p:cNvSpPr>
          <p:nvPr/>
        </p:nvSpPr>
        <p:spPr bwMode="auto">
          <a:xfrm>
            <a:off x="990600" y="4572000"/>
            <a:ext cx="5049838" cy="457200"/>
          </a:xfrm>
          <a:prstGeom prst="rect">
            <a:avLst/>
          </a:prstGeom>
          <a:noFill/>
          <a:ln w="9525">
            <a:noFill/>
            <a:miter lim="800000"/>
            <a:headEnd/>
            <a:tailEnd/>
          </a:ln>
          <a:effectLst/>
        </p:spPr>
        <p:txBody>
          <a:bodyPr wrap="none">
            <a:spAutoFit/>
          </a:bodyPr>
          <a:lstStyle/>
          <a:p>
            <a:r>
              <a:rPr lang="en-US">
                <a:latin typeface="Symbol" pitchFamily="18" charset="2"/>
              </a:rPr>
              <a:t>D</a:t>
            </a:r>
            <a:r>
              <a:rPr lang="en-US"/>
              <a:t>: H</a:t>
            </a:r>
            <a:r>
              <a:rPr lang="en-US" baseline="-25000"/>
              <a:t>2</a:t>
            </a:r>
            <a:r>
              <a:rPr lang="en-US"/>
              <a:t>O &gt; F &gt; RCO</a:t>
            </a:r>
            <a:r>
              <a:rPr lang="en-US" baseline="-25000"/>
              <a:t>2</a:t>
            </a:r>
            <a:r>
              <a:rPr lang="en-US"/>
              <a:t> &gt; OH &gt; Cl &gt; Br &gt; I</a:t>
            </a:r>
          </a:p>
        </p:txBody>
      </p:sp>
      <p:sp>
        <p:nvSpPr>
          <p:cNvPr id="109576" name="Text Box 8"/>
          <p:cNvSpPr txBox="1">
            <a:spLocks noChangeArrowheads="1"/>
          </p:cNvSpPr>
          <p:nvPr/>
        </p:nvSpPr>
        <p:spPr bwMode="auto">
          <a:xfrm>
            <a:off x="990600" y="5257800"/>
            <a:ext cx="80010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p</a:t>
            </a:r>
            <a:r>
              <a:rPr lang="en-US"/>
              <a:t> accepting ligands increase splitting and may be low spin</a:t>
            </a:r>
          </a:p>
        </p:txBody>
      </p:sp>
      <p:sp>
        <p:nvSpPr>
          <p:cNvPr id="109577" name="Text Box 9"/>
          <p:cNvSpPr txBox="1">
            <a:spLocks noChangeArrowheads="1"/>
          </p:cNvSpPr>
          <p:nvPr/>
        </p:nvSpPr>
        <p:spPr bwMode="auto">
          <a:xfrm>
            <a:off x="990600" y="5791200"/>
            <a:ext cx="76200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D</a:t>
            </a:r>
            <a:r>
              <a:rPr lang="en-US"/>
              <a:t>: CO, CN</a:t>
            </a:r>
            <a:r>
              <a:rPr lang="en-US" baseline="30000"/>
              <a:t>-</a:t>
            </a:r>
            <a:r>
              <a:rPr lang="en-US"/>
              <a:t>, &gt; phenanthroline &gt; NO</a:t>
            </a:r>
            <a:r>
              <a:rPr lang="en-US" baseline="-25000"/>
              <a:t>2</a:t>
            </a:r>
            <a:r>
              <a:rPr lang="en-US" baseline="30000"/>
              <a:t>-</a:t>
            </a:r>
            <a:r>
              <a:rPr lang="en-US"/>
              <a:t> &gt; NCS</a:t>
            </a:r>
            <a:r>
              <a:rPr lang="en-US" baseline="30000"/>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sz="3600"/>
              <a:t>Merging to get spectrochemical series</a:t>
            </a:r>
          </a:p>
        </p:txBody>
      </p:sp>
      <p:sp>
        <p:nvSpPr>
          <p:cNvPr id="111620" name="Text Box 4"/>
          <p:cNvSpPr txBox="1">
            <a:spLocks noChangeArrowheads="1"/>
          </p:cNvSpPr>
          <p:nvPr/>
        </p:nvSpPr>
        <p:spPr bwMode="auto">
          <a:xfrm>
            <a:off x="152400" y="3200400"/>
            <a:ext cx="8763000" cy="396875"/>
          </a:xfrm>
          <a:prstGeom prst="rect">
            <a:avLst/>
          </a:prstGeom>
          <a:solidFill>
            <a:srgbClr val="FFFF99"/>
          </a:solidFill>
          <a:ln w="9525">
            <a:noFill/>
            <a:miter lim="800000"/>
            <a:headEnd/>
            <a:tailEnd/>
          </a:ln>
          <a:effectLst/>
        </p:spPr>
        <p:txBody>
          <a:bodyPr>
            <a:spAutoFit/>
          </a:bodyPr>
          <a:lstStyle/>
          <a:p>
            <a:pPr>
              <a:spcBef>
                <a:spcPct val="50000"/>
              </a:spcBef>
            </a:pPr>
            <a:r>
              <a:rPr lang="en-US" sz="2000"/>
              <a:t>CO, CN</a:t>
            </a:r>
            <a:r>
              <a:rPr lang="en-US" sz="2000" baseline="30000"/>
              <a:t>-</a:t>
            </a:r>
            <a:r>
              <a:rPr lang="en-US" sz="2000"/>
              <a:t> &gt; phen &gt; en &gt; NH</a:t>
            </a:r>
            <a:r>
              <a:rPr lang="en-US" sz="2000" baseline="-25000"/>
              <a:t>3</a:t>
            </a:r>
            <a:r>
              <a:rPr lang="en-US" sz="2000"/>
              <a:t> &gt; NCS</a:t>
            </a:r>
            <a:r>
              <a:rPr lang="en-US" sz="2000" baseline="30000"/>
              <a:t>-</a:t>
            </a:r>
            <a:r>
              <a:rPr lang="en-US" sz="2000"/>
              <a:t> &gt; H</a:t>
            </a:r>
            <a:r>
              <a:rPr lang="en-US" sz="2000" baseline="-25000"/>
              <a:t>2</a:t>
            </a:r>
            <a:r>
              <a:rPr lang="en-US" sz="2000"/>
              <a:t>O &gt; F</a:t>
            </a:r>
            <a:r>
              <a:rPr lang="en-US" sz="2000" baseline="30000"/>
              <a:t>-</a:t>
            </a:r>
            <a:r>
              <a:rPr lang="en-US" sz="2000"/>
              <a:t> &gt; RCO</a:t>
            </a:r>
            <a:r>
              <a:rPr lang="en-US" sz="2000" baseline="-25000"/>
              <a:t>2</a:t>
            </a:r>
            <a:r>
              <a:rPr lang="en-US" sz="2000" baseline="30000"/>
              <a:t>-</a:t>
            </a:r>
            <a:r>
              <a:rPr lang="en-US" sz="2000"/>
              <a:t> &gt; OH</a:t>
            </a:r>
            <a:r>
              <a:rPr lang="en-US" sz="2000" baseline="30000"/>
              <a:t>-</a:t>
            </a:r>
            <a:r>
              <a:rPr lang="en-US" sz="2000"/>
              <a:t> &gt; Cl</a:t>
            </a:r>
            <a:r>
              <a:rPr lang="en-US" sz="2000" baseline="30000"/>
              <a:t>-</a:t>
            </a:r>
            <a:r>
              <a:rPr lang="en-US" sz="2000"/>
              <a:t> &gt; Br</a:t>
            </a:r>
            <a:r>
              <a:rPr lang="en-US" sz="2000" baseline="30000"/>
              <a:t>-</a:t>
            </a:r>
            <a:r>
              <a:rPr lang="en-US" sz="2000"/>
              <a:t> &gt; I</a:t>
            </a:r>
            <a:r>
              <a:rPr lang="en-US" sz="2000" baseline="30000"/>
              <a:t>-</a:t>
            </a:r>
          </a:p>
        </p:txBody>
      </p:sp>
      <p:sp>
        <p:nvSpPr>
          <p:cNvPr id="111621" name="Text Box 5"/>
          <p:cNvSpPr txBox="1">
            <a:spLocks noChangeArrowheads="1"/>
          </p:cNvSpPr>
          <p:nvPr/>
        </p:nvSpPr>
        <p:spPr bwMode="auto">
          <a:xfrm>
            <a:off x="228600" y="4038600"/>
            <a:ext cx="1752600" cy="1552575"/>
          </a:xfrm>
          <a:prstGeom prst="rect">
            <a:avLst/>
          </a:prstGeom>
          <a:noFill/>
          <a:ln w="9525">
            <a:noFill/>
            <a:miter lim="800000"/>
            <a:headEnd/>
            <a:tailEnd/>
          </a:ln>
          <a:effectLst/>
        </p:spPr>
        <p:txBody>
          <a:bodyPr>
            <a:spAutoFit/>
          </a:bodyPr>
          <a:lstStyle/>
          <a:p>
            <a:pPr>
              <a:spcBef>
                <a:spcPct val="50000"/>
              </a:spcBef>
            </a:pPr>
            <a:r>
              <a:rPr lang="en-US"/>
              <a:t>Strong field, </a:t>
            </a:r>
            <a:r>
              <a:rPr lang="en-US">
                <a:latin typeface="Symbol" pitchFamily="18" charset="2"/>
              </a:rPr>
              <a:t>p</a:t>
            </a:r>
            <a:r>
              <a:rPr lang="en-US"/>
              <a:t> acceptors large </a:t>
            </a:r>
            <a:r>
              <a:rPr lang="en-US">
                <a:latin typeface="Symbol" pitchFamily="18" charset="2"/>
              </a:rPr>
              <a:t>D</a:t>
            </a:r>
            <a:r>
              <a:rPr lang="en-US"/>
              <a:t>          low spin</a:t>
            </a:r>
          </a:p>
        </p:txBody>
      </p:sp>
      <p:sp>
        <p:nvSpPr>
          <p:cNvPr id="111622" name="Text Box 6"/>
          <p:cNvSpPr txBox="1">
            <a:spLocks noChangeArrowheads="1"/>
          </p:cNvSpPr>
          <p:nvPr/>
        </p:nvSpPr>
        <p:spPr bwMode="auto">
          <a:xfrm>
            <a:off x="2209800" y="4114800"/>
            <a:ext cx="990600" cy="457200"/>
          </a:xfrm>
          <a:prstGeom prst="rect">
            <a:avLst/>
          </a:prstGeom>
          <a:noFill/>
          <a:ln w="9525">
            <a:noFill/>
            <a:miter lim="800000"/>
            <a:headEnd/>
            <a:tailEnd/>
          </a:ln>
          <a:effectLst/>
        </p:spPr>
        <p:txBody>
          <a:bodyPr>
            <a:spAutoFit/>
          </a:bodyPr>
          <a:lstStyle/>
          <a:p>
            <a:pPr>
              <a:spcBef>
                <a:spcPct val="50000"/>
              </a:spcBef>
            </a:pPr>
            <a:r>
              <a:rPr lang="en-US">
                <a:latin typeface="Symbol" pitchFamily="18" charset="2"/>
              </a:rPr>
              <a:t>s</a:t>
            </a:r>
            <a:r>
              <a:rPr lang="en-US"/>
              <a:t> only</a:t>
            </a:r>
          </a:p>
        </p:txBody>
      </p:sp>
      <p:sp>
        <p:nvSpPr>
          <p:cNvPr id="111623" name="Text Box 7"/>
          <p:cNvSpPr txBox="1">
            <a:spLocks noChangeArrowheads="1"/>
          </p:cNvSpPr>
          <p:nvPr/>
        </p:nvSpPr>
        <p:spPr bwMode="auto">
          <a:xfrm>
            <a:off x="6553200" y="3886200"/>
            <a:ext cx="1752600" cy="1552575"/>
          </a:xfrm>
          <a:prstGeom prst="rect">
            <a:avLst/>
          </a:prstGeom>
          <a:noFill/>
          <a:ln w="9525">
            <a:noFill/>
            <a:miter lim="800000"/>
            <a:headEnd/>
            <a:tailEnd/>
          </a:ln>
          <a:effectLst/>
        </p:spPr>
        <p:txBody>
          <a:bodyPr>
            <a:spAutoFit/>
          </a:bodyPr>
          <a:lstStyle/>
          <a:p>
            <a:pPr>
              <a:spcBef>
                <a:spcPct val="50000"/>
              </a:spcBef>
            </a:pPr>
            <a:r>
              <a:rPr lang="en-US"/>
              <a:t>Weak field, </a:t>
            </a:r>
            <a:r>
              <a:rPr lang="en-US">
                <a:latin typeface="Symbol" pitchFamily="18" charset="2"/>
              </a:rPr>
              <a:t>p</a:t>
            </a:r>
            <a:r>
              <a:rPr lang="en-US"/>
              <a:t> donors small </a:t>
            </a:r>
            <a:r>
              <a:rPr lang="en-US">
                <a:latin typeface="Symbol" pitchFamily="18" charset="2"/>
              </a:rPr>
              <a:t>D</a:t>
            </a:r>
            <a:r>
              <a:rPr lang="en-US"/>
              <a:t>          high spin</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sz="4000"/>
              <a:t>Turning to Square Planar Complexes</a:t>
            </a:r>
          </a:p>
        </p:txBody>
      </p:sp>
      <p:graphicFrame>
        <p:nvGraphicFramePr>
          <p:cNvPr id="97284" name="Object 4"/>
          <p:cNvGraphicFramePr>
            <a:graphicFrameLocks noChangeAspect="1"/>
          </p:cNvGraphicFramePr>
          <p:nvPr/>
        </p:nvGraphicFramePr>
        <p:xfrm>
          <a:off x="1524000" y="2209800"/>
          <a:ext cx="1308100" cy="955675"/>
        </p:xfrm>
        <a:graphic>
          <a:graphicData uri="http://schemas.openxmlformats.org/presentationml/2006/ole">
            <mc:AlternateContent xmlns:mc="http://schemas.openxmlformats.org/markup-compatibility/2006">
              <mc:Choice xmlns:v="urn:schemas-microsoft-com:vml" Requires="v">
                <p:oleObj spid="_x0000_s1169421" name="CS ChemDraw Drawing" r:id="rId4" imgW="1308735" imgH="955834" progId="ChemDraw.Document.6.0">
                  <p:embed/>
                </p:oleObj>
              </mc:Choice>
              <mc:Fallback>
                <p:oleObj name="CS ChemDraw Drawing" r:id="rId4" imgW="1308735" imgH="955834" progId="ChemDraw.Document.6.0">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2209800"/>
                        <a:ext cx="1308100" cy="95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7285" name="Text Box 5"/>
          <p:cNvSpPr txBox="1">
            <a:spLocks noChangeArrowheads="1"/>
          </p:cNvSpPr>
          <p:nvPr/>
        </p:nvSpPr>
        <p:spPr bwMode="auto">
          <a:xfrm>
            <a:off x="3048000" y="2133600"/>
            <a:ext cx="6019800" cy="3925888"/>
          </a:xfrm>
          <a:prstGeom prst="rect">
            <a:avLst/>
          </a:prstGeom>
          <a:noFill/>
          <a:ln w="9525">
            <a:noFill/>
            <a:miter lim="800000"/>
            <a:headEnd/>
            <a:tailEnd/>
          </a:ln>
          <a:effectLst/>
        </p:spPr>
        <p:txBody>
          <a:bodyPr>
            <a:spAutoFit/>
          </a:bodyPr>
          <a:lstStyle/>
          <a:p>
            <a:pPr>
              <a:spcBef>
                <a:spcPct val="50000"/>
              </a:spcBef>
            </a:pPr>
            <a:r>
              <a:rPr lang="en-US"/>
              <a:t>Most convenient to use a local coordinate system on each ligand with </a:t>
            </a:r>
          </a:p>
          <a:p>
            <a:pPr>
              <a:spcBef>
                <a:spcPct val="50000"/>
              </a:spcBef>
            </a:pPr>
            <a:r>
              <a:rPr lang="en-US"/>
              <a:t>y pointing in towards the metal. p</a:t>
            </a:r>
            <a:r>
              <a:rPr lang="en-US" baseline="-25000"/>
              <a:t>y</a:t>
            </a:r>
            <a:r>
              <a:rPr lang="en-US"/>
              <a:t> to be used for </a:t>
            </a:r>
            <a:r>
              <a:rPr lang="en-US">
                <a:latin typeface="Symbol" pitchFamily="18" charset="2"/>
              </a:rPr>
              <a:t>s</a:t>
            </a:r>
            <a:r>
              <a:rPr lang="en-US"/>
              <a:t> bonding.</a:t>
            </a:r>
          </a:p>
          <a:p>
            <a:pPr>
              <a:spcBef>
                <a:spcPct val="50000"/>
              </a:spcBef>
            </a:pPr>
            <a:r>
              <a:rPr lang="en-US"/>
              <a:t>z being perpendicular to the molecular plane. p</a:t>
            </a:r>
            <a:r>
              <a:rPr lang="en-US" baseline="-25000"/>
              <a:t>z</a:t>
            </a:r>
            <a:r>
              <a:rPr lang="en-US"/>
              <a:t> to be used for </a:t>
            </a:r>
            <a:r>
              <a:rPr lang="en-US">
                <a:latin typeface="Symbol" pitchFamily="18" charset="2"/>
              </a:rPr>
              <a:t>p</a:t>
            </a:r>
            <a:r>
              <a:rPr lang="en-US"/>
              <a:t> bonding perpendicular to the plane, </a:t>
            </a:r>
            <a:r>
              <a:rPr lang="en-US">
                <a:latin typeface="Symbol" pitchFamily="18" charset="2"/>
              </a:rPr>
              <a:t>p</a:t>
            </a:r>
            <a:r>
              <a:rPr lang="en-US" baseline="-25000">
                <a:latin typeface="Symbol" pitchFamily="18" charset="2"/>
              </a:rPr>
              <a:t>^</a:t>
            </a:r>
            <a:r>
              <a:rPr lang="en-US"/>
              <a:t>. </a:t>
            </a:r>
          </a:p>
          <a:p>
            <a:pPr>
              <a:spcBef>
                <a:spcPct val="50000"/>
              </a:spcBef>
            </a:pPr>
            <a:r>
              <a:rPr lang="en-US"/>
              <a:t>x lying in the molecular plane. p</a:t>
            </a:r>
            <a:r>
              <a:rPr lang="en-US" baseline="-25000"/>
              <a:t>x</a:t>
            </a:r>
            <a:r>
              <a:rPr lang="en-US"/>
              <a:t>  to be used for </a:t>
            </a:r>
            <a:r>
              <a:rPr lang="en-US">
                <a:latin typeface="Symbol" pitchFamily="18" charset="2"/>
              </a:rPr>
              <a:t>p</a:t>
            </a:r>
            <a:r>
              <a:rPr lang="en-US"/>
              <a:t> bonding in the molecular plane, </a:t>
            </a:r>
            <a:r>
              <a:rPr lang="en-US">
                <a:latin typeface="Symbol" pitchFamily="18" charset="2"/>
              </a:rPr>
              <a:t>p</a:t>
            </a:r>
            <a:r>
              <a:rPr lang="en-US" baseline="-25000"/>
              <a:t>|</a:t>
            </a:r>
            <a:r>
              <a:rPr lang="en-US"/>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3"/>
          <a:srcRect/>
          <a:stretch>
            <a:fillRect/>
          </a:stretch>
        </p:blipFill>
        <p:spPr bwMode="auto">
          <a:xfrm>
            <a:off x="838200" y="1066800"/>
            <a:ext cx="7785100" cy="5083175"/>
          </a:xfrm>
          <a:prstGeom prst="rect">
            <a:avLst/>
          </a:prstGeom>
          <a:noFill/>
          <a:ln w="9525">
            <a:noFill/>
            <a:miter lim="800000"/>
            <a:headEnd/>
            <a:tailEnd/>
          </a:ln>
          <a:effectLst/>
        </p:spPr>
      </p:pic>
      <p:sp>
        <p:nvSpPr>
          <p:cNvPr id="46083" name="Text Box 3"/>
          <p:cNvSpPr txBox="1">
            <a:spLocks noChangeArrowheads="1"/>
          </p:cNvSpPr>
          <p:nvPr/>
        </p:nvSpPr>
        <p:spPr bwMode="auto">
          <a:xfrm>
            <a:off x="2189163" y="228600"/>
            <a:ext cx="5283200" cy="701675"/>
          </a:xfrm>
          <a:prstGeom prst="rect">
            <a:avLst/>
          </a:prstGeom>
          <a:solidFill>
            <a:srgbClr val="FFFF99"/>
          </a:solidFill>
          <a:ln w="9525">
            <a:noFill/>
            <a:miter lim="800000"/>
            <a:headEnd/>
            <a:tailEnd/>
          </a:ln>
          <a:effectLst/>
        </p:spPr>
        <p:txBody>
          <a:bodyPr wrap="none">
            <a:spAutoFit/>
          </a:bodyPr>
          <a:lstStyle/>
          <a:p>
            <a:pPr algn="ctr" eaLnBrk="1" hangingPunct="1"/>
            <a:r>
              <a:rPr lang="en-US" sz="2000" i="1">
                <a:solidFill>
                  <a:schemeClr val="accent2"/>
                </a:solidFill>
                <a:latin typeface="Times New Roman" pitchFamily="18" charset="0"/>
                <a:cs typeface="Arial" charset="0"/>
              </a:rPr>
              <a:t>ML</a:t>
            </a:r>
            <a:r>
              <a:rPr lang="en-US" sz="2000" i="1" baseline="-25000">
                <a:solidFill>
                  <a:schemeClr val="accent2"/>
                </a:solidFill>
                <a:latin typeface="Times New Roman" pitchFamily="18" charset="0"/>
                <a:cs typeface="Arial" charset="0"/>
              </a:rPr>
              <a:t>4</a:t>
            </a:r>
            <a:r>
              <a:rPr lang="en-US" sz="2000" i="1">
                <a:solidFill>
                  <a:schemeClr val="accent2"/>
                </a:solidFill>
                <a:latin typeface="Times New Roman" pitchFamily="18" charset="0"/>
                <a:cs typeface="Arial" charset="0"/>
              </a:rPr>
              <a:t> square planar complexes</a:t>
            </a:r>
          </a:p>
          <a:p>
            <a:pPr algn="ctr" eaLnBrk="1" hangingPunct="1"/>
            <a:r>
              <a:rPr lang="en-US" sz="2000" i="1">
                <a:solidFill>
                  <a:schemeClr val="accent2"/>
                </a:solidFill>
                <a:latin typeface="Times New Roman" pitchFamily="18" charset="0"/>
                <a:cs typeface="Arial" charset="0"/>
              </a:rPr>
              <a:t>ligand group orbitals and matching metal orbitals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3"/>
          <a:srcRect/>
          <a:stretch>
            <a:fillRect/>
          </a:stretch>
        </p:blipFill>
        <p:spPr bwMode="auto">
          <a:xfrm>
            <a:off x="609600" y="304800"/>
            <a:ext cx="4568825" cy="5978525"/>
          </a:xfrm>
          <a:prstGeom prst="rect">
            <a:avLst/>
          </a:prstGeom>
          <a:noFill/>
          <a:ln w="9525">
            <a:noFill/>
            <a:miter lim="800000"/>
            <a:headEnd/>
            <a:tailEnd/>
          </a:ln>
          <a:effectLst/>
        </p:spPr>
      </p:pic>
      <p:sp>
        <p:nvSpPr>
          <p:cNvPr id="47107" name="Rectangle 3"/>
          <p:cNvSpPr>
            <a:spLocks noChangeArrowheads="1"/>
          </p:cNvSpPr>
          <p:nvPr/>
        </p:nvSpPr>
        <p:spPr bwMode="auto">
          <a:xfrm>
            <a:off x="609600" y="3200400"/>
            <a:ext cx="1828800" cy="914400"/>
          </a:xfrm>
          <a:prstGeom prst="rect">
            <a:avLst/>
          </a:prstGeom>
          <a:noFill/>
          <a:ln w="28575">
            <a:solidFill>
              <a:srgbClr val="FF0000"/>
            </a:solidFill>
            <a:miter lim="800000"/>
            <a:headEnd/>
            <a:tailEnd/>
          </a:ln>
          <a:effectLst/>
        </p:spPr>
        <p:txBody>
          <a:bodyPr wrap="none" anchor="ctr"/>
          <a:lstStyle/>
          <a:p>
            <a:endParaRPr lang="en-US"/>
          </a:p>
        </p:txBody>
      </p:sp>
      <p:sp>
        <p:nvSpPr>
          <p:cNvPr id="47108" name="Text Box 4"/>
          <p:cNvSpPr txBox="1">
            <a:spLocks noChangeArrowheads="1"/>
          </p:cNvSpPr>
          <p:nvPr/>
        </p:nvSpPr>
        <p:spPr bwMode="auto">
          <a:xfrm>
            <a:off x="4960938" y="228600"/>
            <a:ext cx="3233737" cy="701675"/>
          </a:xfrm>
          <a:prstGeom prst="rect">
            <a:avLst/>
          </a:prstGeom>
          <a:noFill/>
          <a:ln w="9525">
            <a:noFill/>
            <a:miter lim="800000"/>
            <a:headEnd/>
            <a:tailEnd/>
          </a:ln>
          <a:effectLst/>
        </p:spPr>
        <p:txBody>
          <a:bodyPr wrap="none">
            <a:spAutoFit/>
          </a:bodyPr>
          <a:lstStyle/>
          <a:p>
            <a:pPr algn="ctr" eaLnBrk="1" hangingPunct="1"/>
            <a:r>
              <a:rPr lang="en-US" sz="2000" i="1">
                <a:solidFill>
                  <a:schemeClr val="accent2"/>
                </a:solidFill>
                <a:latin typeface="Times New Roman" pitchFamily="18" charset="0"/>
                <a:cs typeface="Arial" charset="0"/>
              </a:rPr>
              <a:t>ML</a:t>
            </a:r>
            <a:r>
              <a:rPr lang="en-US" sz="2000" i="1" baseline="-25000">
                <a:solidFill>
                  <a:schemeClr val="accent2"/>
                </a:solidFill>
                <a:latin typeface="Times New Roman" pitchFamily="18" charset="0"/>
                <a:cs typeface="Arial" charset="0"/>
              </a:rPr>
              <a:t>4</a:t>
            </a:r>
            <a:r>
              <a:rPr lang="en-US" sz="2000" i="1">
                <a:solidFill>
                  <a:schemeClr val="accent2"/>
                </a:solidFill>
                <a:latin typeface="Times New Roman" pitchFamily="18" charset="0"/>
                <a:cs typeface="Arial" charset="0"/>
              </a:rPr>
              <a:t> square planar complexes</a:t>
            </a:r>
          </a:p>
          <a:p>
            <a:pPr algn="ctr" eaLnBrk="1" hangingPunct="1"/>
            <a:r>
              <a:rPr lang="en-US" sz="2000" i="1">
                <a:solidFill>
                  <a:schemeClr val="accent2"/>
                </a:solidFill>
                <a:latin typeface="Times New Roman" pitchFamily="18" charset="0"/>
                <a:cs typeface="Arial" charset="0"/>
              </a:rPr>
              <a:t>MO diagram</a:t>
            </a:r>
          </a:p>
        </p:txBody>
      </p:sp>
      <p:sp>
        <p:nvSpPr>
          <p:cNvPr id="47109" name="Text Box 5"/>
          <p:cNvSpPr txBox="1">
            <a:spLocks noChangeArrowheads="1"/>
          </p:cNvSpPr>
          <p:nvPr/>
        </p:nvSpPr>
        <p:spPr bwMode="auto">
          <a:xfrm>
            <a:off x="2232025" y="6248400"/>
            <a:ext cx="1654175" cy="376238"/>
          </a:xfrm>
          <a:prstGeom prst="rect">
            <a:avLst/>
          </a:prstGeom>
          <a:noFill/>
          <a:ln w="9525">
            <a:solidFill>
              <a:schemeClr val="accent2"/>
            </a:solidFill>
            <a:miter lim="800000"/>
            <a:headEnd/>
            <a:tailEnd/>
          </a:ln>
          <a:effectLst/>
        </p:spPr>
        <p:txBody>
          <a:bodyPr>
            <a:spAutoFit/>
          </a:bodyPr>
          <a:lstStyle/>
          <a:p>
            <a:pPr eaLnBrk="1" hangingPunct="1">
              <a:spcBef>
                <a:spcPct val="50000"/>
              </a:spcBef>
            </a:pPr>
            <a:r>
              <a:rPr lang="en-US" sz="1800" i="1">
                <a:solidFill>
                  <a:schemeClr val="accent2"/>
                </a:solidFill>
                <a:latin typeface="Symbol" pitchFamily="18" charset="2"/>
                <a:cs typeface="Arial" charset="0"/>
              </a:rPr>
              <a:t>s</a:t>
            </a:r>
            <a:r>
              <a:rPr lang="en-US" sz="1800" i="1">
                <a:solidFill>
                  <a:schemeClr val="accent2"/>
                </a:solidFill>
                <a:latin typeface="Times New Roman" pitchFamily="18" charset="0"/>
                <a:cs typeface="Arial" charset="0"/>
              </a:rPr>
              <a:t>-only bonding</a:t>
            </a:r>
          </a:p>
        </p:txBody>
      </p:sp>
      <p:grpSp>
        <p:nvGrpSpPr>
          <p:cNvPr id="2" name="Group 6"/>
          <p:cNvGrpSpPr>
            <a:grpSpLocks/>
          </p:cNvGrpSpPr>
          <p:nvPr/>
        </p:nvGrpSpPr>
        <p:grpSpPr bwMode="auto">
          <a:xfrm>
            <a:off x="5929313" y="1143000"/>
            <a:ext cx="1762125" cy="5486400"/>
            <a:chOff x="3735" y="720"/>
            <a:chExt cx="1110" cy="3456"/>
          </a:xfrm>
        </p:grpSpPr>
        <p:pic>
          <p:nvPicPr>
            <p:cNvPr id="47111" name="Picture 7"/>
            <p:cNvPicPr>
              <a:picLocks noChangeAspect="1" noChangeArrowheads="1"/>
            </p:cNvPicPr>
            <p:nvPr/>
          </p:nvPicPr>
          <p:blipFill>
            <a:blip r:embed="rId4"/>
            <a:srcRect/>
            <a:stretch>
              <a:fillRect/>
            </a:stretch>
          </p:blipFill>
          <p:spPr bwMode="auto">
            <a:xfrm>
              <a:off x="3735" y="720"/>
              <a:ext cx="1017" cy="1045"/>
            </a:xfrm>
            <a:prstGeom prst="rect">
              <a:avLst/>
            </a:prstGeom>
            <a:noFill/>
            <a:ln w="9525">
              <a:noFill/>
              <a:miter lim="800000"/>
              <a:headEnd/>
              <a:tailEnd/>
            </a:ln>
            <a:effectLst/>
          </p:spPr>
        </p:pic>
        <p:pic>
          <p:nvPicPr>
            <p:cNvPr id="47112" name="Picture 8"/>
            <p:cNvPicPr>
              <a:picLocks noChangeAspect="1" noChangeArrowheads="1"/>
            </p:cNvPicPr>
            <p:nvPr/>
          </p:nvPicPr>
          <p:blipFill>
            <a:blip r:embed="rId5"/>
            <a:srcRect/>
            <a:stretch>
              <a:fillRect/>
            </a:stretch>
          </p:blipFill>
          <p:spPr bwMode="auto">
            <a:xfrm>
              <a:off x="3840" y="1728"/>
              <a:ext cx="1005" cy="1045"/>
            </a:xfrm>
            <a:prstGeom prst="rect">
              <a:avLst/>
            </a:prstGeom>
            <a:noFill/>
            <a:ln w="9525">
              <a:noFill/>
              <a:miter lim="800000"/>
              <a:headEnd/>
              <a:tailEnd/>
            </a:ln>
            <a:effectLst/>
          </p:spPr>
        </p:pic>
        <p:pic>
          <p:nvPicPr>
            <p:cNvPr id="47113" name="Picture 9"/>
            <p:cNvPicPr>
              <a:picLocks noChangeAspect="1" noChangeArrowheads="1"/>
            </p:cNvPicPr>
            <p:nvPr/>
          </p:nvPicPr>
          <p:blipFill>
            <a:blip r:embed="rId6"/>
            <a:srcRect/>
            <a:stretch>
              <a:fillRect/>
            </a:stretch>
          </p:blipFill>
          <p:spPr bwMode="auto">
            <a:xfrm>
              <a:off x="3744" y="2736"/>
              <a:ext cx="1008" cy="1045"/>
            </a:xfrm>
            <a:prstGeom prst="rect">
              <a:avLst/>
            </a:prstGeom>
            <a:noFill/>
            <a:ln w="9525">
              <a:noFill/>
              <a:miter lim="800000"/>
              <a:headEnd/>
              <a:tailEnd/>
            </a:ln>
            <a:effectLst/>
          </p:spPr>
        </p:pic>
        <p:sp>
          <p:nvSpPr>
            <p:cNvPr id="47114" name="Text Box 10"/>
            <p:cNvSpPr txBox="1">
              <a:spLocks noChangeArrowheads="1"/>
            </p:cNvSpPr>
            <p:nvPr/>
          </p:nvSpPr>
          <p:spPr bwMode="auto">
            <a:xfrm>
              <a:off x="3902" y="3939"/>
              <a:ext cx="850" cy="237"/>
            </a:xfrm>
            <a:prstGeom prst="rect">
              <a:avLst/>
            </a:prstGeom>
            <a:noFill/>
            <a:ln w="9525">
              <a:solidFill>
                <a:schemeClr val="accent2"/>
              </a:solidFill>
              <a:miter lim="800000"/>
              <a:headEnd/>
              <a:tailEnd/>
            </a:ln>
            <a:effectLst/>
          </p:spPr>
          <p:txBody>
            <a:bodyPr>
              <a:spAutoFit/>
            </a:bodyPr>
            <a:lstStyle/>
            <a:p>
              <a:pPr eaLnBrk="1" hangingPunct="1">
                <a:spcBef>
                  <a:spcPct val="50000"/>
                </a:spcBef>
              </a:pPr>
              <a:r>
                <a:rPr lang="en-US" sz="1800" i="1">
                  <a:solidFill>
                    <a:schemeClr val="accent2"/>
                  </a:solidFill>
                  <a:latin typeface="Symbol" pitchFamily="18" charset="2"/>
                  <a:cs typeface="Arial" charset="0"/>
                </a:rPr>
                <a:t>π</a:t>
              </a:r>
              <a:r>
                <a:rPr lang="en-US" sz="1800" i="1">
                  <a:solidFill>
                    <a:schemeClr val="accent2"/>
                  </a:solidFill>
                  <a:latin typeface="Times New Roman" pitchFamily="18" charset="0"/>
                  <a:cs typeface="Arial" charset="0"/>
                </a:rPr>
                <a:t>- bonding</a:t>
              </a:r>
            </a:p>
          </p:txBody>
        </p:sp>
      </p:gr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p:cNvPicPr>
            <a:picLocks noChangeAspect="1" noChangeArrowheads="1"/>
          </p:cNvPicPr>
          <p:nvPr/>
        </p:nvPicPr>
        <p:blipFill>
          <a:blip r:embed="rId3"/>
          <a:srcRect/>
          <a:stretch>
            <a:fillRect/>
          </a:stretch>
        </p:blipFill>
        <p:spPr bwMode="auto">
          <a:xfrm>
            <a:off x="4419600" y="1905000"/>
            <a:ext cx="4068763" cy="3081338"/>
          </a:xfrm>
          <a:prstGeom prst="rect">
            <a:avLst/>
          </a:prstGeom>
          <a:noFill/>
          <a:ln w="9525">
            <a:noFill/>
            <a:miter lim="800000"/>
            <a:headEnd/>
            <a:tailEnd/>
          </a:ln>
          <a:effectLst/>
        </p:spPr>
      </p:pic>
      <p:sp>
        <p:nvSpPr>
          <p:cNvPr id="48131" name="Text Box 3"/>
          <p:cNvSpPr txBox="1">
            <a:spLocks noChangeArrowheads="1"/>
          </p:cNvSpPr>
          <p:nvPr/>
        </p:nvSpPr>
        <p:spPr bwMode="auto">
          <a:xfrm>
            <a:off x="1295400" y="533400"/>
            <a:ext cx="6916738"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A crystal-field aproach: from octahedral to tetrahedral</a:t>
            </a:r>
          </a:p>
        </p:txBody>
      </p:sp>
      <p:pic>
        <p:nvPicPr>
          <p:cNvPr id="48132" name="Picture 4"/>
          <p:cNvPicPr>
            <a:picLocks noChangeAspect="1" noChangeArrowheads="1"/>
          </p:cNvPicPr>
          <p:nvPr/>
        </p:nvPicPr>
        <p:blipFill>
          <a:blip r:embed="rId4"/>
          <a:srcRect/>
          <a:stretch>
            <a:fillRect/>
          </a:stretch>
        </p:blipFill>
        <p:spPr bwMode="auto">
          <a:xfrm>
            <a:off x="381000" y="1898650"/>
            <a:ext cx="3886200" cy="3060700"/>
          </a:xfrm>
          <a:prstGeom prst="rect">
            <a:avLst/>
          </a:prstGeom>
          <a:noFill/>
          <a:ln w="9525">
            <a:noFill/>
            <a:miter lim="800000"/>
            <a:headEnd/>
            <a:tailEnd/>
          </a:ln>
          <a:effectLst/>
        </p:spPr>
      </p:pic>
      <p:sp>
        <p:nvSpPr>
          <p:cNvPr id="48133" name="Oval 5"/>
          <p:cNvSpPr>
            <a:spLocks noChangeArrowheads="1"/>
          </p:cNvSpPr>
          <p:nvPr/>
        </p:nvSpPr>
        <p:spPr bwMode="auto">
          <a:xfrm>
            <a:off x="7086600" y="2209800"/>
            <a:ext cx="1066800" cy="457200"/>
          </a:xfrm>
          <a:prstGeom prst="ellipse">
            <a:avLst/>
          </a:prstGeom>
          <a:noFill/>
          <a:ln w="9525">
            <a:solidFill>
              <a:srgbClr val="FF0000"/>
            </a:solidFill>
            <a:round/>
            <a:headEnd/>
            <a:tailEnd/>
          </a:ln>
          <a:effectLst/>
        </p:spPr>
        <p:txBody>
          <a:bodyPr wrap="none" anchor="ctr"/>
          <a:lstStyle/>
          <a:p>
            <a:endParaRPr lang="en-US"/>
          </a:p>
        </p:txBody>
      </p:sp>
      <p:sp>
        <p:nvSpPr>
          <p:cNvPr id="48134" name="Oval 6"/>
          <p:cNvSpPr>
            <a:spLocks noChangeArrowheads="1"/>
          </p:cNvSpPr>
          <p:nvPr/>
        </p:nvSpPr>
        <p:spPr bwMode="auto">
          <a:xfrm>
            <a:off x="7086600" y="4191000"/>
            <a:ext cx="1066800" cy="457200"/>
          </a:xfrm>
          <a:prstGeom prst="ellipse">
            <a:avLst/>
          </a:prstGeom>
          <a:noFill/>
          <a:ln w="9525">
            <a:solidFill>
              <a:srgbClr val="FF0000"/>
            </a:solidFill>
            <a:round/>
            <a:headEnd/>
            <a:tailEnd/>
          </a:ln>
          <a:effectLst/>
        </p:spPr>
        <p:txBody>
          <a:bodyPr wrap="none" anchor="ctr"/>
          <a:lstStyle/>
          <a:p>
            <a:endParaRPr lang="en-US"/>
          </a:p>
        </p:txBody>
      </p:sp>
      <p:sp>
        <p:nvSpPr>
          <p:cNvPr id="48135" name="Text Box 7"/>
          <p:cNvSpPr txBox="1">
            <a:spLocks noChangeArrowheads="1"/>
          </p:cNvSpPr>
          <p:nvPr/>
        </p:nvSpPr>
        <p:spPr bwMode="auto">
          <a:xfrm>
            <a:off x="5470525" y="5522913"/>
            <a:ext cx="3321050" cy="641350"/>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Arial" charset="0"/>
                <a:cs typeface="Arial" charset="0"/>
              </a:rPr>
              <a:t>Less repulsions along the axes</a:t>
            </a:r>
          </a:p>
          <a:p>
            <a:pPr algn="ctr" eaLnBrk="1" hangingPunct="1"/>
            <a:r>
              <a:rPr lang="en-US" sz="1800">
                <a:solidFill>
                  <a:srgbClr val="FF0000"/>
                </a:solidFill>
                <a:latin typeface="Arial" charset="0"/>
                <a:cs typeface="Arial" charset="0"/>
              </a:rPr>
              <a:t>where ligands are missing</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a:srcRect/>
          <a:stretch>
            <a:fillRect/>
          </a:stretch>
        </p:blipFill>
        <p:spPr bwMode="auto">
          <a:xfrm>
            <a:off x="533400" y="1965325"/>
            <a:ext cx="4068763" cy="3081338"/>
          </a:xfrm>
          <a:prstGeom prst="rect">
            <a:avLst/>
          </a:prstGeom>
          <a:noFill/>
          <a:ln w="9525">
            <a:noFill/>
            <a:miter lim="800000"/>
            <a:headEnd/>
            <a:tailEnd/>
          </a:ln>
          <a:effectLst/>
        </p:spPr>
      </p:pic>
      <p:sp>
        <p:nvSpPr>
          <p:cNvPr id="49155" name="Text Box 3"/>
          <p:cNvSpPr txBox="1">
            <a:spLocks noChangeArrowheads="1"/>
          </p:cNvSpPr>
          <p:nvPr/>
        </p:nvSpPr>
        <p:spPr bwMode="auto">
          <a:xfrm>
            <a:off x="1295400" y="533400"/>
            <a:ext cx="6916738" cy="457200"/>
          </a:xfrm>
          <a:prstGeom prst="rect">
            <a:avLst/>
          </a:prstGeom>
          <a:noFill/>
          <a:ln w="9525">
            <a:noFill/>
            <a:miter lim="800000"/>
            <a:headEnd/>
            <a:tailEnd/>
          </a:ln>
          <a:effectLst/>
        </p:spPr>
        <p:txBody>
          <a:bodyPr wrap="none">
            <a:spAutoFit/>
          </a:bodyPr>
          <a:lstStyle/>
          <a:p>
            <a:pPr eaLnBrk="1" hangingPunct="1"/>
            <a:r>
              <a:rPr lang="en-US" i="1">
                <a:solidFill>
                  <a:schemeClr val="accent2"/>
                </a:solidFill>
                <a:latin typeface="Times New Roman" pitchFamily="18" charset="0"/>
                <a:cs typeface="Arial" charset="0"/>
              </a:rPr>
              <a:t>A crystal-field aproach: from octahedral to tetrahedral</a:t>
            </a:r>
          </a:p>
        </p:txBody>
      </p:sp>
      <p:grpSp>
        <p:nvGrpSpPr>
          <p:cNvPr id="2" name="Group 4"/>
          <p:cNvGrpSpPr>
            <a:grpSpLocks/>
          </p:cNvGrpSpPr>
          <p:nvPr/>
        </p:nvGrpSpPr>
        <p:grpSpPr bwMode="auto">
          <a:xfrm>
            <a:off x="4648200" y="1752600"/>
            <a:ext cx="4000500" cy="4259263"/>
            <a:chOff x="2928" y="1104"/>
            <a:chExt cx="2520" cy="2683"/>
          </a:xfrm>
        </p:grpSpPr>
        <p:pic>
          <p:nvPicPr>
            <p:cNvPr id="49157" name="Picture 5"/>
            <p:cNvPicPr>
              <a:picLocks noChangeAspect="1" noChangeArrowheads="1"/>
            </p:cNvPicPr>
            <p:nvPr/>
          </p:nvPicPr>
          <p:blipFill>
            <a:blip r:embed="rId4"/>
            <a:srcRect/>
            <a:stretch>
              <a:fillRect/>
            </a:stretch>
          </p:blipFill>
          <p:spPr bwMode="auto">
            <a:xfrm>
              <a:off x="2928" y="1104"/>
              <a:ext cx="2520" cy="1941"/>
            </a:xfrm>
            <a:prstGeom prst="rect">
              <a:avLst/>
            </a:prstGeom>
            <a:noFill/>
            <a:ln w="9525">
              <a:noFill/>
              <a:miter lim="800000"/>
              <a:headEnd/>
              <a:tailEnd/>
            </a:ln>
            <a:effectLst/>
          </p:spPr>
        </p:pic>
        <p:sp>
          <p:nvSpPr>
            <p:cNvPr id="49158" name="Text Box 6"/>
            <p:cNvSpPr txBox="1">
              <a:spLocks noChangeArrowheads="1"/>
            </p:cNvSpPr>
            <p:nvPr/>
          </p:nvSpPr>
          <p:spPr bwMode="auto">
            <a:xfrm>
              <a:off x="3732" y="3383"/>
              <a:ext cx="1644" cy="404"/>
            </a:xfrm>
            <a:prstGeom prst="rect">
              <a:avLst/>
            </a:prstGeom>
            <a:noFill/>
            <a:ln w="9525">
              <a:noFill/>
              <a:miter lim="800000"/>
              <a:headEnd/>
              <a:tailEnd/>
            </a:ln>
            <a:effectLst/>
          </p:spPr>
          <p:txBody>
            <a:bodyPr wrap="none">
              <a:spAutoFit/>
            </a:bodyPr>
            <a:lstStyle/>
            <a:p>
              <a:pPr algn="ctr" eaLnBrk="1" hangingPunct="1"/>
              <a:r>
                <a:rPr lang="en-US" sz="1800">
                  <a:solidFill>
                    <a:srgbClr val="FF0000"/>
                  </a:solidFill>
                  <a:latin typeface="Arial" charset="0"/>
                  <a:cs typeface="Arial" charset="0"/>
                </a:rPr>
                <a:t>A correction to preserve</a:t>
              </a:r>
            </a:p>
            <a:p>
              <a:pPr algn="ctr" eaLnBrk="1" hangingPunct="1"/>
              <a:r>
                <a:rPr lang="en-US" sz="1800">
                  <a:solidFill>
                    <a:srgbClr val="FF0000"/>
                  </a:solidFill>
                  <a:latin typeface="Arial" charset="0"/>
                  <a:cs typeface="Arial" charset="0"/>
                </a:rPr>
                <a:t>center of gravity</a:t>
              </a:r>
            </a:p>
          </p:txBody>
        </p:sp>
      </p:gr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819400" y="381000"/>
            <a:ext cx="3775075" cy="579438"/>
          </a:xfrm>
          <a:prstGeom prst="rect">
            <a:avLst/>
          </a:prstGeom>
          <a:noFill/>
          <a:ln w="9525">
            <a:noFill/>
            <a:miter lim="800000"/>
            <a:headEnd/>
            <a:tailEnd/>
          </a:ln>
          <a:effectLst/>
        </p:spPr>
        <p:txBody>
          <a:bodyPr wrap="none">
            <a:spAutoFit/>
          </a:bodyPr>
          <a:lstStyle/>
          <a:p>
            <a:pPr eaLnBrk="1" hangingPunct="1"/>
            <a:r>
              <a:rPr lang="en-US" sz="3200" i="1">
                <a:solidFill>
                  <a:schemeClr val="accent2"/>
                </a:solidFill>
                <a:latin typeface="Times New Roman" pitchFamily="18" charset="0"/>
                <a:cs typeface="Arial" charset="0"/>
              </a:rPr>
              <a:t>The Jahn-Teller effect</a:t>
            </a:r>
          </a:p>
        </p:txBody>
      </p:sp>
      <p:sp>
        <p:nvSpPr>
          <p:cNvPr id="50179" name="Text Box 3"/>
          <p:cNvSpPr txBox="1">
            <a:spLocks noChangeArrowheads="1"/>
          </p:cNvSpPr>
          <p:nvPr/>
        </p:nvSpPr>
        <p:spPr bwMode="auto">
          <a:xfrm>
            <a:off x="39688" y="2149475"/>
            <a:ext cx="8961437" cy="822325"/>
          </a:xfrm>
          <a:prstGeom prst="rect">
            <a:avLst/>
          </a:prstGeom>
          <a:noFill/>
          <a:ln w="9525">
            <a:noFill/>
            <a:miter lim="800000"/>
            <a:headEnd/>
            <a:tailEnd/>
          </a:ln>
          <a:effectLst/>
        </p:spPr>
        <p:txBody>
          <a:bodyPr wrap="none">
            <a:spAutoFit/>
          </a:bodyPr>
          <a:lstStyle/>
          <a:p>
            <a:pPr algn="ctr" eaLnBrk="1" hangingPunct="1"/>
            <a:r>
              <a:rPr lang="en-US" i="1">
                <a:latin typeface="Times New Roman" pitchFamily="18" charset="0"/>
                <a:cs typeface="Arial" charset="0"/>
              </a:rPr>
              <a:t>Jahn-Teller theorem:</a:t>
            </a:r>
          </a:p>
          <a:p>
            <a:pPr algn="ctr" eaLnBrk="1" hangingPunct="1"/>
            <a:r>
              <a:rPr lang="en-US" i="1">
                <a:latin typeface="Times New Roman" pitchFamily="18" charset="0"/>
                <a:cs typeface="Arial" charset="0"/>
              </a:rPr>
              <a:t> “there cannot be unequal occupation of orbitals with identical energy”</a:t>
            </a:r>
          </a:p>
        </p:txBody>
      </p:sp>
      <p:sp>
        <p:nvSpPr>
          <p:cNvPr id="50180" name="Text Box 4"/>
          <p:cNvSpPr txBox="1">
            <a:spLocks noChangeArrowheads="1"/>
          </p:cNvSpPr>
          <p:nvPr/>
        </p:nvSpPr>
        <p:spPr bwMode="auto">
          <a:xfrm>
            <a:off x="1219200" y="3810000"/>
            <a:ext cx="6286500" cy="457200"/>
          </a:xfrm>
          <a:prstGeom prst="rect">
            <a:avLst/>
          </a:prstGeom>
          <a:noFill/>
          <a:ln w="9525">
            <a:noFill/>
            <a:miter lim="800000"/>
            <a:headEnd/>
            <a:tailEnd/>
          </a:ln>
          <a:effectLst/>
        </p:spPr>
        <p:txBody>
          <a:bodyPr wrap="none">
            <a:spAutoFit/>
          </a:bodyPr>
          <a:lstStyle/>
          <a:p>
            <a:pPr eaLnBrk="1" hangingPunct="1"/>
            <a:r>
              <a:rPr lang="en-US" i="1">
                <a:latin typeface="Times New Roman" pitchFamily="18" charset="0"/>
                <a:cs typeface="Arial" charset="0"/>
              </a:rPr>
              <a:t>Molecules will distort to eliminate the degeneracy</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3"/>
          <a:srcRect/>
          <a:stretch>
            <a:fillRect/>
          </a:stretch>
        </p:blipFill>
        <p:spPr bwMode="auto">
          <a:xfrm>
            <a:off x="0" y="4492625"/>
            <a:ext cx="9144000" cy="2060575"/>
          </a:xfrm>
          <a:prstGeom prst="rect">
            <a:avLst/>
          </a:prstGeom>
          <a:noFill/>
          <a:ln w="9525">
            <a:noFill/>
            <a:miter lim="800000"/>
            <a:headEnd/>
            <a:tailEnd/>
          </a:ln>
          <a:effectLst/>
        </p:spPr>
      </p:pic>
      <p:pic>
        <p:nvPicPr>
          <p:cNvPr id="51203" name="Picture 3"/>
          <p:cNvPicPr>
            <a:picLocks noChangeAspect="1" noChangeArrowheads="1"/>
          </p:cNvPicPr>
          <p:nvPr/>
        </p:nvPicPr>
        <p:blipFill>
          <a:blip r:embed="rId4"/>
          <a:srcRect/>
          <a:stretch>
            <a:fillRect/>
          </a:stretch>
        </p:blipFill>
        <p:spPr bwMode="auto">
          <a:xfrm>
            <a:off x="1219200" y="609600"/>
            <a:ext cx="7162800" cy="3684588"/>
          </a:xfrm>
          <a:prstGeom prst="rect">
            <a:avLst/>
          </a:prstGeom>
          <a:noFill/>
          <a:ln w="9525">
            <a:noFill/>
            <a:miter lim="800000"/>
            <a:headEnd/>
            <a:tailEnd/>
          </a:ln>
          <a:effectLst/>
        </p:spPr>
      </p:pic>
      <p:sp>
        <p:nvSpPr>
          <p:cNvPr id="51204" name="Oval 4"/>
          <p:cNvSpPr>
            <a:spLocks noChangeArrowheads="1"/>
          </p:cNvSpPr>
          <p:nvPr/>
        </p:nvSpPr>
        <p:spPr bwMode="auto">
          <a:xfrm>
            <a:off x="1143000" y="2971800"/>
            <a:ext cx="1219200" cy="533400"/>
          </a:xfrm>
          <a:prstGeom prst="ellipse">
            <a:avLst/>
          </a:prstGeom>
          <a:noFill/>
          <a:ln w="9525">
            <a:solidFill>
              <a:srgbClr val="FF0000"/>
            </a:solidFill>
            <a:round/>
            <a:headEnd/>
            <a:tailEnd/>
          </a:ln>
          <a:effectLst/>
        </p:spPr>
        <p:txBody>
          <a:bodyPr wrap="none" anchor="ctr"/>
          <a:lstStyle/>
          <a:p>
            <a:endParaRPr lang="en-US"/>
          </a:p>
        </p:txBody>
      </p:sp>
      <p:sp>
        <p:nvSpPr>
          <p:cNvPr id="51205" name="Oval 5"/>
          <p:cNvSpPr>
            <a:spLocks noChangeArrowheads="1"/>
          </p:cNvSpPr>
          <p:nvPr/>
        </p:nvSpPr>
        <p:spPr bwMode="auto">
          <a:xfrm>
            <a:off x="4419600" y="50292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51206" name="Oval 6"/>
          <p:cNvSpPr>
            <a:spLocks noChangeArrowheads="1"/>
          </p:cNvSpPr>
          <p:nvPr/>
        </p:nvSpPr>
        <p:spPr bwMode="auto">
          <a:xfrm>
            <a:off x="6248400" y="53340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51207" name="Oval 7"/>
          <p:cNvSpPr>
            <a:spLocks noChangeArrowheads="1"/>
          </p:cNvSpPr>
          <p:nvPr/>
        </p:nvSpPr>
        <p:spPr bwMode="auto">
          <a:xfrm>
            <a:off x="7467600" y="50292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51208" name="Oval 8"/>
          <p:cNvSpPr>
            <a:spLocks noChangeArrowheads="1"/>
          </p:cNvSpPr>
          <p:nvPr/>
        </p:nvSpPr>
        <p:spPr bwMode="auto">
          <a:xfrm>
            <a:off x="7467600" y="5334000"/>
            <a:ext cx="304800" cy="304800"/>
          </a:xfrm>
          <a:prstGeom prst="ellipse">
            <a:avLst/>
          </a:prstGeom>
          <a:noFill/>
          <a:ln w="9525">
            <a:solidFill>
              <a:srgbClr val="FF0000"/>
            </a:solidFill>
            <a:round/>
            <a:headEnd/>
            <a:tailEnd/>
          </a:ln>
          <a:effec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t>Angular Overlap Method</a:t>
            </a:r>
          </a:p>
        </p:txBody>
      </p:sp>
      <p:sp>
        <p:nvSpPr>
          <p:cNvPr id="99332" name="Text Box 4"/>
          <p:cNvSpPr txBox="1">
            <a:spLocks noChangeArrowheads="1"/>
          </p:cNvSpPr>
          <p:nvPr/>
        </p:nvSpPr>
        <p:spPr bwMode="auto">
          <a:xfrm>
            <a:off x="685800" y="2125663"/>
            <a:ext cx="7924800" cy="457200"/>
          </a:xfrm>
          <a:prstGeom prst="rect">
            <a:avLst/>
          </a:prstGeom>
          <a:noFill/>
          <a:ln w="9525">
            <a:noFill/>
            <a:miter lim="800000"/>
            <a:headEnd/>
            <a:tailEnd/>
          </a:ln>
          <a:effectLst/>
        </p:spPr>
        <p:txBody>
          <a:bodyPr>
            <a:spAutoFit/>
          </a:bodyPr>
          <a:lstStyle/>
          <a:p>
            <a:pPr>
              <a:spcBef>
                <a:spcPct val="50000"/>
              </a:spcBef>
            </a:pPr>
            <a:r>
              <a:rPr lang="en-US"/>
              <a:t>An attempt to systematize the interactions for all geometries.</a:t>
            </a:r>
          </a:p>
        </p:txBody>
      </p:sp>
      <p:graphicFrame>
        <p:nvGraphicFramePr>
          <p:cNvPr id="99333" name="Object 5"/>
          <p:cNvGraphicFramePr>
            <a:graphicFrameLocks noChangeAspect="1"/>
          </p:cNvGraphicFramePr>
          <p:nvPr/>
        </p:nvGraphicFramePr>
        <p:xfrm>
          <a:off x="2768600" y="2933700"/>
          <a:ext cx="3606800" cy="990600"/>
        </p:xfrm>
        <a:graphic>
          <a:graphicData uri="http://schemas.openxmlformats.org/presentationml/2006/ole">
            <mc:AlternateContent xmlns:mc="http://schemas.openxmlformats.org/markup-compatibility/2006">
              <mc:Choice xmlns:v="urn:schemas-microsoft-com:vml" Requires="v">
                <p:oleObj spid="_x0000_s1170445" name="CS ChemDraw Drawing" r:id="rId4" imgW="3606737" imgH="990600" progId="ChemDraw.Document.6.0">
                  <p:embed/>
                </p:oleObj>
              </mc:Choice>
              <mc:Fallback>
                <p:oleObj name="CS ChemDraw Drawing" r:id="rId4" imgW="3606737" imgH="990600" progId="ChemDraw.Document.6.0">
                  <p:embed/>
                  <p:pic>
                    <p:nvPicPr>
                      <p:cNvPr id="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8600" y="2933700"/>
                        <a:ext cx="3606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34" name="Text Box 6"/>
          <p:cNvSpPr txBox="1">
            <a:spLocks noChangeArrowheads="1"/>
          </p:cNvSpPr>
          <p:nvPr/>
        </p:nvSpPr>
        <p:spPr bwMode="auto">
          <a:xfrm>
            <a:off x="685800" y="3962400"/>
            <a:ext cx="7924800" cy="822325"/>
          </a:xfrm>
          <a:prstGeom prst="rect">
            <a:avLst/>
          </a:prstGeom>
          <a:noFill/>
          <a:ln w="9525">
            <a:noFill/>
            <a:miter lim="800000"/>
            <a:headEnd/>
            <a:tailEnd/>
          </a:ln>
          <a:effectLst/>
        </p:spPr>
        <p:txBody>
          <a:bodyPr>
            <a:spAutoFit/>
          </a:bodyPr>
          <a:lstStyle/>
          <a:p>
            <a:pPr>
              <a:spcBef>
                <a:spcPct val="50000"/>
              </a:spcBef>
            </a:pPr>
            <a:r>
              <a:rPr lang="en-US"/>
              <a:t>The various complexes may be fashioned out of the ligands above</a:t>
            </a:r>
          </a:p>
        </p:txBody>
      </p:sp>
      <p:sp>
        <p:nvSpPr>
          <p:cNvPr id="99336" name="Text Box 8"/>
          <p:cNvSpPr txBox="1">
            <a:spLocks noChangeArrowheads="1"/>
          </p:cNvSpPr>
          <p:nvPr/>
        </p:nvSpPr>
        <p:spPr bwMode="auto">
          <a:xfrm>
            <a:off x="228600" y="4953000"/>
            <a:ext cx="2362200" cy="1311275"/>
          </a:xfrm>
          <a:prstGeom prst="rect">
            <a:avLst/>
          </a:prstGeom>
          <a:noFill/>
          <a:ln w="9525">
            <a:noFill/>
            <a:miter lim="800000"/>
            <a:headEnd/>
            <a:tailEnd/>
          </a:ln>
          <a:effectLst/>
        </p:spPr>
        <p:txBody>
          <a:bodyPr>
            <a:spAutoFit/>
          </a:bodyPr>
          <a:lstStyle/>
          <a:p>
            <a:pPr>
              <a:spcBef>
                <a:spcPct val="50000"/>
              </a:spcBef>
            </a:pPr>
            <a:r>
              <a:rPr lang="en-US" sz="2000"/>
              <a:t>Linear: 1,6</a:t>
            </a:r>
          </a:p>
          <a:p>
            <a:pPr>
              <a:spcBef>
                <a:spcPct val="50000"/>
              </a:spcBef>
            </a:pPr>
            <a:r>
              <a:rPr lang="en-US" sz="2000"/>
              <a:t>Trigonal: 2,11,12</a:t>
            </a:r>
          </a:p>
          <a:p>
            <a:pPr>
              <a:spcBef>
                <a:spcPct val="50000"/>
              </a:spcBef>
            </a:pPr>
            <a:r>
              <a:rPr lang="en-US" sz="2000"/>
              <a:t>T-shape: 1,3,5</a:t>
            </a:r>
          </a:p>
        </p:txBody>
      </p:sp>
      <p:sp>
        <p:nvSpPr>
          <p:cNvPr id="99337" name="Text Box 9"/>
          <p:cNvSpPr txBox="1">
            <a:spLocks noChangeArrowheads="1"/>
          </p:cNvSpPr>
          <p:nvPr/>
        </p:nvSpPr>
        <p:spPr bwMode="auto">
          <a:xfrm>
            <a:off x="2133600" y="4999038"/>
            <a:ext cx="4343400" cy="1858962"/>
          </a:xfrm>
          <a:prstGeom prst="rect">
            <a:avLst/>
          </a:prstGeom>
          <a:noFill/>
          <a:ln w="9525">
            <a:noFill/>
            <a:miter lim="800000"/>
            <a:headEnd/>
            <a:tailEnd/>
          </a:ln>
          <a:effectLst/>
        </p:spPr>
        <p:txBody>
          <a:bodyPr>
            <a:spAutoFit/>
          </a:bodyPr>
          <a:lstStyle/>
          <a:p>
            <a:pPr>
              <a:spcBef>
                <a:spcPct val="50000"/>
              </a:spcBef>
            </a:pPr>
            <a:r>
              <a:rPr lang="en-US" sz="2000"/>
              <a:t>Tetrahedral: 7,8,9,10</a:t>
            </a:r>
          </a:p>
          <a:p>
            <a:pPr>
              <a:spcBef>
                <a:spcPct val="50000"/>
              </a:spcBef>
            </a:pPr>
            <a:r>
              <a:rPr lang="en-US" sz="2000"/>
              <a:t>Square planar: 2,3,4,5</a:t>
            </a:r>
          </a:p>
          <a:p>
            <a:pPr>
              <a:spcBef>
                <a:spcPct val="50000"/>
              </a:spcBef>
            </a:pPr>
            <a:r>
              <a:rPr lang="en-US" sz="2000"/>
              <a:t>Trigonal bipyramid: 1,2,6,11,12</a:t>
            </a:r>
          </a:p>
          <a:p>
            <a:pPr>
              <a:spcBef>
                <a:spcPct val="50000"/>
              </a:spcBef>
            </a:pPr>
            <a:endParaRPr lang="en-US"/>
          </a:p>
        </p:txBody>
      </p:sp>
      <p:sp>
        <p:nvSpPr>
          <p:cNvPr id="99338" name="Text Box 10"/>
          <p:cNvSpPr txBox="1">
            <a:spLocks noChangeArrowheads="1"/>
          </p:cNvSpPr>
          <p:nvPr/>
        </p:nvSpPr>
        <p:spPr bwMode="auto">
          <a:xfrm>
            <a:off x="5638800" y="4953000"/>
            <a:ext cx="3352800" cy="854075"/>
          </a:xfrm>
          <a:prstGeom prst="rect">
            <a:avLst/>
          </a:prstGeom>
          <a:noFill/>
          <a:ln w="9525">
            <a:noFill/>
            <a:miter lim="800000"/>
            <a:headEnd/>
            <a:tailEnd/>
          </a:ln>
          <a:effectLst/>
        </p:spPr>
        <p:txBody>
          <a:bodyPr>
            <a:spAutoFit/>
          </a:bodyPr>
          <a:lstStyle/>
          <a:p>
            <a:pPr>
              <a:spcBef>
                <a:spcPct val="50000"/>
              </a:spcBef>
            </a:pPr>
            <a:r>
              <a:rPr lang="en-US" sz="2000"/>
              <a:t>Square pyramid: 1,2,3,4,5</a:t>
            </a:r>
          </a:p>
          <a:p>
            <a:pPr>
              <a:spcBef>
                <a:spcPct val="50000"/>
              </a:spcBef>
            </a:pPr>
            <a:r>
              <a:rPr lang="en-US" sz="2000"/>
              <a:t>Octahedral: 1,2,3,4,5,6</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a:t>Cont’d</a:t>
            </a:r>
          </a:p>
        </p:txBody>
      </p:sp>
      <p:sp>
        <p:nvSpPr>
          <p:cNvPr id="101380" name="Text Box 4"/>
          <p:cNvSpPr txBox="1">
            <a:spLocks noChangeArrowheads="1"/>
          </p:cNvSpPr>
          <p:nvPr/>
        </p:nvSpPr>
        <p:spPr bwMode="auto">
          <a:xfrm>
            <a:off x="762000" y="1600200"/>
            <a:ext cx="7848600" cy="4108450"/>
          </a:xfrm>
          <a:prstGeom prst="rect">
            <a:avLst/>
          </a:prstGeom>
          <a:noFill/>
          <a:ln w="9525">
            <a:noFill/>
            <a:miter lim="800000"/>
            <a:headEnd/>
            <a:tailEnd/>
          </a:ln>
          <a:effectLst/>
        </p:spPr>
        <p:txBody>
          <a:bodyPr>
            <a:spAutoFit/>
          </a:bodyPr>
          <a:lstStyle/>
          <a:p>
            <a:pPr>
              <a:spcBef>
                <a:spcPct val="50000"/>
              </a:spcBef>
            </a:pPr>
            <a:r>
              <a:rPr lang="en-US"/>
              <a:t>All </a:t>
            </a:r>
            <a:r>
              <a:rPr lang="en-US">
                <a:latin typeface="Symbol" pitchFamily="18" charset="2"/>
              </a:rPr>
              <a:t>s</a:t>
            </a:r>
            <a:r>
              <a:rPr lang="en-US"/>
              <a:t> interactions with the ligands are stabilizing to the ligands and destabilizing to the d orbitals.  The interaction of a ligand with a d orbital depends on their  orientation with respect to each other, estimated by their overlap which can be calculated.</a:t>
            </a:r>
          </a:p>
          <a:p>
            <a:pPr>
              <a:spcBef>
                <a:spcPct val="50000"/>
              </a:spcBef>
            </a:pPr>
            <a:r>
              <a:rPr lang="en-US"/>
              <a:t>The total destabilization of a d orbital comes from all the interactions with the set of ligands.</a:t>
            </a:r>
          </a:p>
          <a:p>
            <a:pPr>
              <a:spcBef>
                <a:spcPct val="50000"/>
              </a:spcBef>
            </a:pPr>
            <a:r>
              <a:rPr lang="en-US"/>
              <a:t>For any particular complex geometry we can obtain the overlaps of a particular d orbital with all the various ligands and thus the destabilization.</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138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138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3537" name="Group 113"/>
          <p:cNvGraphicFramePr>
            <a:graphicFrameLocks noGrp="1"/>
          </p:cNvGraphicFramePr>
          <p:nvPr/>
        </p:nvGraphicFramePr>
        <p:xfrm>
          <a:off x="1447800" y="381000"/>
          <a:ext cx="6096000" cy="4785360"/>
        </p:xfrm>
        <a:graphic>
          <a:graphicData uri="http://schemas.openxmlformats.org/drawingml/2006/table">
            <a:tbl>
              <a:tblPr/>
              <a:tblGrid>
                <a:gridCol w="1016000"/>
                <a:gridCol w="1016000"/>
                <a:gridCol w="1016000"/>
                <a:gridCol w="1016000"/>
                <a:gridCol w="1016000"/>
                <a:gridCol w="1016000"/>
              </a:tblGrid>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ligand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d</a:t>
                      </a:r>
                      <a:r>
                        <a:rPr kumimoji="0" lang="en-US" sz="1800" b="0" i="0" u="none" strike="noStrike" cap="none" normalizeH="0" baseline="-25000" smtClean="0">
                          <a:ln>
                            <a:noFill/>
                          </a:ln>
                          <a:solidFill>
                            <a:schemeClr val="tx1"/>
                          </a:solidFill>
                          <a:effectLst/>
                          <a:latin typeface="Times"/>
                        </a:rPr>
                        <a:t>z</a:t>
                      </a:r>
                      <a:r>
                        <a:rPr kumimoji="0" lang="en-US" sz="2000" b="0" i="0" u="none" strike="noStrike" cap="none" normalizeH="0" baseline="-25000" smtClean="0">
                          <a:ln>
                            <a:noFill/>
                          </a:ln>
                          <a:solidFill>
                            <a:schemeClr val="tx1"/>
                          </a:solidFill>
                          <a:effectLst/>
                          <a:latin typeface="Times"/>
                        </a:rPr>
                        <a:t>2</a:t>
                      </a:r>
                      <a:endParaRPr kumimoji="0" lang="en-US" sz="1800" b="0" i="0" u="none" strike="noStrike" cap="none" normalizeH="0" baseline="0" smtClean="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d</a:t>
                      </a:r>
                      <a:r>
                        <a:rPr kumimoji="0" lang="en-US" sz="1800" b="0" i="0" u="none" strike="noStrike" cap="none" normalizeH="0" baseline="-25000" smtClean="0">
                          <a:ln>
                            <a:noFill/>
                          </a:ln>
                          <a:solidFill>
                            <a:schemeClr val="tx1"/>
                          </a:solidFill>
                          <a:effectLst/>
                          <a:latin typeface="Times"/>
                        </a:rPr>
                        <a:t>x</a:t>
                      </a:r>
                      <a:r>
                        <a:rPr kumimoji="0" lang="en-US" sz="2000" b="0" i="0" u="none" strike="noStrike" cap="none" normalizeH="0" baseline="-25000" smtClean="0">
                          <a:ln>
                            <a:noFill/>
                          </a:ln>
                          <a:solidFill>
                            <a:schemeClr val="tx1"/>
                          </a:solidFill>
                          <a:effectLst/>
                          <a:latin typeface="Times"/>
                        </a:rPr>
                        <a:t>2</a:t>
                      </a:r>
                      <a:r>
                        <a:rPr kumimoji="0" lang="en-US" sz="1800" b="0" i="0" u="none" strike="noStrike" cap="none" normalizeH="0" baseline="-25000" smtClean="0">
                          <a:ln>
                            <a:noFill/>
                          </a:ln>
                          <a:solidFill>
                            <a:schemeClr val="tx1"/>
                          </a:solidFill>
                          <a:effectLst/>
                          <a:latin typeface="Times"/>
                        </a:rPr>
                        <a:t>-y</a:t>
                      </a:r>
                      <a:r>
                        <a:rPr kumimoji="0" lang="en-US" sz="2000" b="0" i="0" u="none" strike="noStrike" cap="none" normalizeH="0" baseline="-25000" smtClean="0">
                          <a:ln>
                            <a:noFill/>
                          </a:ln>
                          <a:solidFill>
                            <a:schemeClr val="tx1"/>
                          </a:solidFill>
                          <a:effectLst/>
                          <a:latin typeface="Times"/>
                        </a:rPr>
                        <a:t>2</a:t>
                      </a:r>
                      <a:endParaRPr kumimoji="0" lang="en-US" sz="1800" b="0" i="0" u="none" strike="noStrike" cap="none" normalizeH="0" baseline="0" smtClean="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d</a:t>
                      </a:r>
                      <a:r>
                        <a:rPr kumimoji="0" lang="en-US" sz="1800" b="0" i="0" u="none" strike="noStrike" cap="none" normalizeH="0" baseline="-25000" smtClean="0">
                          <a:ln>
                            <a:noFill/>
                          </a:ln>
                          <a:solidFill>
                            <a:schemeClr val="tx1"/>
                          </a:solidFill>
                          <a:effectLst/>
                          <a:latin typeface="Times"/>
                        </a:rPr>
                        <a:t>xy</a:t>
                      </a:r>
                      <a:endParaRPr kumimoji="0" lang="en-US" sz="1800" b="0" i="0" u="none" strike="noStrike" cap="none" normalizeH="0" baseline="0" smtClean="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d</a:t>
                      </a:r>
                      <a:r>
                        <a:rPr kumimoji="0" lang="en-US" sz="1800" b="0" i="0" u="none" strike="noStrike" cap="none" normalizeH="0" baseline="-25000" smtClean="0">
                          <a:ln>
                            <a:noFill/>
                          </a:ln>
                          <a:solidFill>
                            <a:schemeClr val="tx1"/>
                          </a:solidFill>
                          <a:effectLst/>
                          <a:latin typeface="Times"/>
                        </a:rPr>
                        <a:t>xz</a:t>
                      </a:r>
                      <a:endParaRPr kumimoji="0" lang="en-US" sz="1800" b="0" i="0" u="none" strike="noStrike" cap="none" normalizeH="0" baseline="0" smtClean="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d</a:t>
                      </a:r>
                      <a:r>
                        <a:rPr kumimoji="0" lang="en-US" sz="1800" b="0" i="0" u="none" strike="noStrike" cap="none" normalizeH="0" baseline="-25000" smtClean="0">
                          <a:ln>
                            <a:noFill/>
                          </a:ln>
                          <a:solidFill>
                            <a:schemeClr val="tx1"/>
                          </a:solidFill>
                          <a:effectLst/>
                          <a:latin typeface="Times"/>
                        </a:rPr>
                        <a:t>yz</a:t>
                      </a:r>
                      <a:endParaRPr kumimoji="0" lang="en-US" sz="1800" b="0" i="0" u="none" strike="noStrike" cap="none" normalizeH="0" baseline="0" smtClean="0">
                        <a:ln>
                          <a:noFill/>
                        </a:ln>
                        <a:solidFill>
                          <a:schemeClr val="tx1"/>
                        </a:solidFill>
                        <a:effectLst/>
                        <a:latin typeface="Times"/>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 e</a:t>
                      </a:r>
                      <a:r>
                        <a:rPr kumimoji="0" lang="en-US" sz="1800" b="0" i="0" u="none" strike="noStrike" cap="none" normalizeH="0" baseline="-25000" smtClean="0">
                          <a:ln>
                            <a:noFill/>
                          </a:ln>
                          <a:solidFill>
                            <a:schemeClr val="tx1"/>
                          </a:solidFill>
                          <a:effectLst/>
                          <a:latin typeface="Symbol" pitchFamily="18" charset="2"/>
                        </a:rPr>
                        <a:t>s</a:t>
                      </a:r>
                      <a:endParaRPr kumimoji="0" lang="en-US" sz="1800" b="0" i="0" u="none" strike="noStrike" cap="none" normalizeH="0" baseline="0" smtClean="0">
                        <a:ln>
                          <a:noFill/>
                        </a:ln>
                        <a:solidFill>
                          <a:schemeClr val="tx1"/>
                        </a:solidFill>
                        <a:effectLst/>
                        <a:latin typeface="Symbol" pitchFamily="18"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¾</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972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¼</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9/16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9/16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latin typeface="Times"/>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3538" name="Text Box 114"/>
          <p:cNvSpPr txBox="1">
            <a:spLocks noChangeArrowheads="1"/>
          </p:cNvSpPr>
          <p:nvPr/>
        </p:nvSpPr>
        <p:spPr bwMode="auto">
          <a:xfrm>
            <a:off x="381000" y="5181600"/>
            <a:ext cx="8382000" cy="1552575"/>
          </a:xfrm>
          <a:prstGeom prst="rect">
            <a:avLst/>
          </a:prstGeom>
          <a:noFill/>
          <a:ln w="9525">
            <a:noFill/>
            <a:miter lim="800000"/>
            <a:headEnd/>
            <a:tailEnd/>
          </a:ln>
          <a:effectLst/>
        </p:spPr>
        <p:txBody>
          <a:bodyPr>
            <a:spAutoFit/>
          </a:bodyPr>
          <a:lstStyle/>
          <a:p>
            <a:pPr>
              <a:spcBef>
                <a:spcPct val="50000"/>
              </a:spcBef>
            </a:pPr>
            <a:r>
              <a:rPr lang="en-US"/>
              <a:t>Thus, for example a d</a:t>
            </a:r>
            <a:r>
              <a:rPr lang="en-US" baseline="-25000"/>
              <a:t>x</a:t>
            </a:r>
            <a:r>
              <a:rPr lang="en-US" sz="2800" baseline="-25000"/>
              <a:t>2</a:t>
            </a:r>
            <a:r>
              <a:rPr lang="en-US" sz="3200" baseline="-25000"/>
              <a:t>-</a:t>
            </a:r>
            <a:r>
              <a:rPr lang="en-US" sz="2800" baseline="-25000"/>
              <a:t>y</a:t>
            </a:r>
            <a:r>
              <a:rPr lang="en-US" sz="3200" baseline="-25000"/>
              <a:t>2</a:t>
            </a:r>
            <a:r>
              <a:rPr lang="en-US"/>
              <a:t> orbital is destabilized by (3/4 +6/16) e</a:t>
            </a:r>
            <a:r>
              <a:rPr lang="en-US" baseline="-25000">
                <a:latin typeface="Symbol" pitchFamily="18" charset="2"/>
              </a:rPr>
              <a:t>s</a:t>
            </a:r>
            <a:r>
              <a:rPr lang="en-US"/>
              <a:t> = 18/16 e</a:t>
            </a:r>
            <a:r>
              <a:rPr lang="en-US" baseline="-25000">
                <a:latin typeface="Symbol" pitchFamily="18" charset="2"/>
              </a:rPr>
              <a:t>s</a:t>
            </a:r>
            <a:r>
              <a:rPr lang="en-US"/>
              <a:t> in a trigonal bipyramid complex due to </a:t>
            </a:r>
            <a:r>
              <a:rPr lang="en-US">
                <a:latin typeface="Symbol" pitchFamily="18" charset="2"/>
              </a:rPr>
              <a:t>s</a:t>
            </a:r>
            <a:r>
              <a:rPr lang="en-US"/>
              <a:t> interaction. The d</a:t>
            </a:r>
            <a:r>
              <a:rPr lang="en-US" baseline="-25000"/>
              <a:t>xy</a:t>
            </a:r>
            <a:r>
              <a:rPr lang="en-US"/>
              <a:t>, equivalent by symmetry, is destabilized by the same amount.  The d</a:t>
            </a:r>
            <a:r>
              <a:rPr lang="en-US" baseline="-25000"/>
              <a:t>z</a:t>
            </a:r>
            <a:r>
              <a:rPr lang="en-US" sz="2800" baseline="-25000"/>
              <a:t>2</a:t>
            </a:r>
            <a:r>
              <a:rPr lang="en-US"/>
              <a:t> is destabililzed by 11/4 e</a:t>
            </a:r>
            <a:r>
              <a:rPr lang="en-US" baseline="-25000">
                <a:latin typeface="Symbol" pitchFamily="18" charset="2"/>
              </a:rPr>
              <a:t>s</a:t>
            </a:r>
            <a:r>
              <a:rPr lang="en-US"/>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Solid State (10 h)</a:t>
            </a:r>
            <a:endParaRPr lang="en-US" dirty="0"/>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1219200" y="652463"/>
            <a:ext cx="6705600" cy="2677656"/>
          </a:xfrm>
          <a:prstGeom prst="rect">
            <a:avLst/>
          </a:prstGeom>
          <a:solidFill>
            <a:srgbClr val="000080">
              <a:alpha val="50000"/>
            </a:srgbClr>
          </a:solidFill>
          <a:ln w="9525" algn="ctr">
            <a:noFill/>
            <a:miter lim="800000"/>
            <a:headEnd/>
            <a:tailEnd/>
          </a:ln>
          <a:effectLst/>
        </p:spPr>
        <p:txBody>
          <a:bodyPr>
            <a:spAutoFit/>
          </a:bodyPr>
          <a:lstStyle/>
          <a:p>
            <a:pPr algn="ctr"/>
            <a:endParaRPr lang="en-US" sz="2800" b="1" dirty="0">
              <a:latin typeface="Tahoma" pitchFamily="34" charset="0"/>
            </a:endParaRPr>
          </a:p>
          <a:p>
            <a:pPr algn="ctr"/>
            <a:r>
              <a:rPr lang="en-US" sz="2800" b="1" dirty="0">
                <a:latin typeface="Tahoma" pitchFamily="34" charset="0"/>
              </a:rPr>
              <a:t>The Solid State</a:t>
            </a:r>
          </a:p>
          <a:p>
            <a:pPr algn="ctr"/>
            <a:endParaRPr lang="en-US" sz="2800" dirty="0">
              <a:latin typeface="Tahoma" pitchFamily="34" charset="0"/>
            </a:endParaRPr>
          </a:p>
          <a:p>
            <a:pPr algn="ctr"/>
            <a:r>
              <a:rPr lang="en-US" sz="2800" dirty="0">
                <a:latin typeface="Tahoma" pitchFamily="34" charset="0"/>
              </a:rPr>
              <a:t>Crystalline and Amorphous Solids</a:t>
            </a:r>
          </a:p>
          <a:p>
            <a:pPr algn="ctr"/>
            <a:endParaRPr lang="en-US" sz="2800" dirty="0">
              <a:latin typeface="Tahoma" pitchFamily="34" charset="0"/>
            </a:endParaRPr>
          </a:p>
          <a:p>
            <a:pPr algn="ctr"/>
            <a:endParaRPr lang="en-US" sz="2800" dirty="0">
              <a:latin typeface="Tahoma"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ChangeArrowheads="1"/>
          </p:cNvSpPr>
          <p:nvPr/>
        </p:nvSpPr>
        <p:spPr bwMode="auto">
          <a:xfrm>
            <a:off x="228600" y="1538288"/>
            <a:ext cx="8610600" cy="519112"/>
          </a:xfrm>
          <a:prstGeom prst="rect">
            <a:avLst/>
          </a:prstGeom>
          <a:solidFill>
            <a:srgbClr val="000080">
              <a:alpha val="50000"/>
            </a:srgbClr>
          </a:solidFill>
          <a:ln w="9525">
            <a:noFill/>
            <a:miter lim="800000"/>
            <a:headEnd/>
            <a:tailEnd/>
          </a:ln>
          <a:effectLst/>
        </p:spPr>
        <p:txBody>
          <a:bodyPr>
            <a:spAutoFit/>
          </a:bodyPr>
          <a:lstStyle/>
          <a:p>
            <a:r>
              <a:rPr lang="en-US" sz="2800" dirty="0" smtClean="0">
                <a:latin typeface="Tahoma" pitchFamily="34" charset="0"/>
              </a:rPr>
              <a:t>Crystalline </a:t>
            </a:r>
            <a:r>
              <a:rPr lang="en-US" sz="2800" dirty="0">
                <a:latin typeface="Tahoma" pitchFamily="34" charset="0"/>
              </a:rPr>
              <a:t>and Amorphous Solids </a:t>
            </a:r>
          </a:p>
        </p:txBody>
      </p:sp>
      <p:sp>
        <p:nvSpPr>
          <p:cNvPr id="9220" name="Text Box 4"/>
          <p:cNvSpPr txBox="1">
            <a:spLocks noChangeArrowheads="1"/>
          </p:cNvSpPr>
          <p:nvPr/>
        </p:nvSpPr>
        <p:spPr bwMode="auto">
          <a:xfrm>
            <a:off x="152400" y="2286000"/>
            <a:ext cx="8839200" cy="822325"/>
          </a:xfrm>
          <a:prstGeom prst="rect">
            <a:avLst/>
          </a:prstGeom>
          <a:noFill/>
          <a:ln w="9525" algn="ctr">
            <a:noFill/>
            <a:miter lim="800000"/>
            <a:headEnd/>
            <a:tailEnd/>
          </a:ln>
          <a:effectLst/>
        </p:spPr>
        <p:txBody>
          <a:bodyPr>
            <a:spAutoFit/>
          </a:bodyPr>
          <a:lstStyle/>
          <a:p>
            <a:r>
              <a:rPr lang="en-US" dirty="0">
                <a:latin typeface="Tahoma" pitchFamily="34" charset="0"/>
              </a:rPr>
              <a:t>Crystalline and amorphous are the two major categories into which solids are divided.  </a:t>
            </a:r>
          </a:p>
        </p:txBody>
      </p:sp>
      <p:sp>
        <p:nvSpPr>
          <p:cNvPr id="9221" name="Text Box 5"/>
          <p:cNvSpPr txBox="1">
            <a:spLocks noChangeArrowheads="1"/>
          </p:cNvSpPr>
          <p:nvPr/>
        </p:nvSpPr>
        <p:spPr bwMode="auto">
          <a:xfrm>
            <a:off x="152400" y="3460750"/>
            <a:ext cx="4495800" cy="1187450"/>
          </a:xfrm>
          <a:prstGeom prst="rect">
            <a:avLst/>
          </a:prstGeom>
          <a:noFill/>
          <a:ln w="9525" algn="ctr">
            <a:noFill/>
            <a:miter lim="800000"/>
            <a:headEnd/>
            <a:tailEnd/>
          </a:ln>
          <a:effectLst/>
        </p:spPr>
        <p:txBody>
          <a:bodyPr>
            <a:spAutoFit/>
          </a:bodyPr>
          <a:lstStyle/>
          <a:p>
            <a:r>
              <a:rPr lang="en-US">
                <a:latin typeface="Tahoma" pitchFamily="34" charset="0"/>
              </a:rPr>
              <a:t>Crystalline solids exhibit long-range order in their atomic arrangements.  </a:t>
            </a:r>
          </a:p>
        </p:txBody>
      </p:sp>
      <p:pic>
        <p:nvPicPr>
          <p:cNvPr id="9224" name="Picture 8" descr="silicon_surface"/>
          <p:cNvPicPr>
            <a:picLocks noChangeAspect="1" noChangeArrowheads="1"/>
          </p:cNvPicPr>
          <p:nvPr/>
        </p:nvPicPr>
        <p:blipFill>
          <a:blip r:embed="rId2"/>
          <a:srcRect/>
          <a:stretch>
            <a:fillRect/>
          </a:stretch>
        </p:blipFill>
        <p:spPr bwMode="auto">
          <a:xfrm>
            <a:off x="4876800" y="3378200"/>
            <a:ext cx="3886200" cy="3098800"/>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8" name="Text Box 4"/>
          <p:cNvSpPr txBox="1">
            <a:spLocks noChangeArrowheads="1"/>
          </p:cNvSpPr>
          <p:nvPr/>
        </p:nvSpPr>
        <p:spPr bwMode="auto">
          <a:xfrm>
            <a:off x="685800" y="320675"/>
            <a:ext cx="7924800" cy="822325"/>
          </a:xfrm>
          <a:prstGeom prst="rect">
            <a:avLst/>
          </a:prstGeom>
          <a:noFill/>
          <a:ln w="9525" algn="ctr">
            <a:noFill/>
            <a:miter lim="800000"/>
            <a:headEnd/>
            <a:tailEnd/>
          </a:ln>
          <a:effectLst/>
        </p:spPr>
        <p:txBody>
          <a:bodyPr>
            <a:spAutoFit/>
          </a:bodyPr>
          <a:lstStyle/>
          <a:p>
            <a:r>
              <a:rPr lang="en-US">
                <a:latin typeface="Tahoma" pitchFamily="34" charset="0"/>
              </a:rPr>
              <a:t>The order in crystals is usually three dimensional, but lower dimensionality order is possible. </a:t>
            </a:r>
          </a:p>
        </p:txBody>
      </p:sp>
      <p:sp>
        <p:nvSpPr>
          <p:cNvPr id="67589" name="Text Box 5"/>
          <p:cNvSpPr txBox="1">
            <a:spLocks noChangeArrowheads="1"/>
          </p:cNvSpPr>
          <p:nvPr/>
        </p:nvSpPr>
        <p:spPr bwMode="auto">
          <a:xfrm>
            <a:off x="685800" y="1479550"/>
            <a:ext cx="7924800" cy="1187450"/>
          </a:xfrm>
          <a:prstGeom prst="rect">
            <a:avLst/>
          </a:prstGeom>
          <a:noFill/>
          <a:ln w="9525" algn="ctr">
            <a:noFill/>
            <a:miter lim="800000"/>
            <a:headEnd/>
            <a:tailEnd/>
          </a:ln>
          <a:effectLst/>
        </p:spPr>
        <p:txBody>
          <a:bodyPr>
            <a:spAutoFit/>
          </a:bodyPr>
          <a:lstStyle/>
          <a:p>
            <a:r>
              <a:rPr lang="en-US">
                <a:latin typeface="Tahoma" pitchFamily="34" charset="0"/>
              </a:rPr>
              <a:t>Bonds in crystalline solids are more or less the same in energy, and crystalline solids have distinct melting temperature. </a:t>
            </a:r>
          </a:p>
        </p:txBody>
      </p:sp>
      <p:pic>
        <p:nvPicPr>
          <p:cNvPr id="67590" name="Picture 6" descr="merc34a"/>
          <p:cNvPicPr>
            <a:picLocks noChangeAspect="1" noChangeArrowheads="1"/>
          </p:cNvPicPr>
          <p:nvPr/>
        </p:nvPicPr>
        <p:blipFill>
          <a:blip r:embed="rId2"/>
          <a:srcRect/>
          <a:stretch>
            <a:fillRect/>
          </a:stretch>
        </p:blipFill>
        <p:spPr bwMode="auto">
          <a:xfrm>
            <a:off x="2946400" y="2693988"/>
            <a:ext cx="5892800" cy="3859212"/>
          </a:xfrm>
          <a:prstGeom prst="rect">
            <a:avLst/>
          </a:prstGeom>
          <a:noFill/>
        </p:spPr>
      </p:pic>
      <p:sp>
        <p:nvSpPr>
          <p:cNvPr id="67591" name="Text Box 7"/>
          <p:cNvSpPr txBox="1">
            <a:spLocks noChangeArrowheads="1"/>
          </p:cNvSpPr>
          <p:nvPr/>
        </p:nvSpPr>
        <p:spPr bwMode="auto">
          <a:xfrm>
            <a:off x="685800" y="3505200"/>
            <a:ext cx="1905000" cy="457200"/>
          </a:xfrm>
          <a:prstGeom prst="rect">
            <a:avLst/>
          </a:prstGeom>
          <a:noFill/>
          <a:ln w="9525" algn="ctr">
            <a:noFill/>
            <a:miter lim="800000"/>
            <a:headEnd/>
            <a:tailEnd/>
          </a:ln>
          <a:effectLst/>
        </p:spPr>
        <p:txBody>
          <a:bodyPr>
            <a:spAutoFit/>
          </a:bodyPr>
          <a:lstStyle/>
          <a:p>
            <a:pPr algn="ctr"/>
            <a:r>
              <a:rPr lang="en-US">
                <a:latin typeface="Tahoma" pitchFamily="34" charset="0"/>
              </a:rPr>
              <a:t>mercury</a:t>
            </a:r>
          </a:p>
        </p:txBody>
      </p:sp>
      <p:sp>
        <p:nvSpPr>
          <p:cNvPr id="67593" name="Line 9"/>
          <p:cNvSpPr>
            <a:spLocks noChangeShapeType="1"/>
          </p:cNvSpPr>
          <p:nvPr/>
        </p:nvSpPr>
        <p:spPr bwMode="auto">
          <a:xfrm>
            <a:off x="2286000" y="3810000"/>
            <a:ext cx="4267200" cy="457200"/>
          </a:xfrm>
          <a:prstGeom prst="line">
            <a:avLst/>
          </a:prstGeom>
          <a:noFill/>
          <a:ln w="57150">
            <a:solidFill>
              <a:schemeClr val="folHlink"/>
            </a:solidFill>
            <a:round/>
            <a:headEnd/>
            <a:tailEnd type="triangle" w="med" len="med"/>
          </a:ln>
          <a:effectLst/>
        </p:spPr>
        <p:txBody>
          <a:bodyPr>
            <a:spAutoFit/>
          </a:bodyPr>
          <a:lstStyle/>
          <a:p>
            <a:endParaRPr lang="en-US"/>
          </a:p>
        </p:txBody>
      </p:sp>
      <p:sp>
        <p:nvSpPr>
          <p:cNvPr id="67594" name="Line 10"/>
          <p:cNvSpPr>
            <a:spLocks noChangeShapeType="1"/>
          </p:cNvSpPr>
          <p:nvPr/>
        </p:nvSpPr>
        <p:spPr bwMode="auto">
          <a:xfrm>
            <a:off x="2286000" y="3810000"/>
            <a:ext cx="3886200" cy="1600200"/>
          </a:xfrm>
          <a:prstGeom prst="line">
            <a:avLst/>
          </a:prstGeom>
          <a:noFill/>
          <a:ln w="57150">
            <a:solidFill>
              <a:schemeClr val="folHlink"/>
            </a:solidFill>
            <a:round/>
            <a:headEnd/>
            <a:tailEnd type="triangle" w="med" len="med"/>
          </a:ln>
          <a:effectLst/>
        </p:spPr>
        <p:txBody>
          <a:bodyP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Text Box 4"/>
          <p:cNvSpPr txBox="1">
            <a:spLocks noChangeArrowheads="1"/>
          </p:cNvSpPr>
          <p:nvPr/>
        </p:nvSpPr>
        <p:spPr bwMode="auto">
          <a:xfrm>
            <a:off x="152400" y="228600"/>
            <a:ext cx="8839200" cy="822325"/>
          </a:xfrm>
          <a:prstGeom prst="rect">
            <a:avLst/>
          </a:prstGeom>
          <a:noFill/>
          <a:ln w="9525" algn="ctr">
            <a:noFill/>
            <a:miter lim="800000"/>
            <a:headEnd/>
            <a:tailEnd/>
          </a:ln>
          <a:effectLst/>
        </p:spPr>
        <p:txBody>
          <a:bodyPr>
            <a:spAutoFit/>
          </a:bodyPr>
          <a:lstStyle/>
          <a:p>
            <a:r>
              <a:rPr lang="en-US">
                <a:latin typeface="Tahoma" pitchFamily="34" charset="0"/>
              </a:rPr>
              <a:t>Amorphous solids exhibit only short-range order in their atomic arrangements.  They lack long-range order.  </a:t>
            </a:r>
          </a:p>
        </p:txBody>
      </p:sp>
      <p:sp>
        <p:nvSpPr>
          <p:cNvPr id="11269" name="Text Box 5"/>
          <p:cNvSpPr txBox="1">
            <a:spLocks noChangeArrowheads="1"/>
          </p:cNvSpPr>
          <p:nvPr/>
        </p:nvSpPr>
        <p:spPr bwMode="auto">
          <a:xfrm>
            <a:off x="914400" y="1219200"/>
            <a:ext cx="7924800" cy="822325"/>
          </a:xfrm>
          <a:prstGeom prst="rect">
            <a:avLst/>
          </a:prstGeom>
          <a:noFill/>
          <a:ln w="9525" algn="ctr">
            <a:noFill/>
            <a:miter lim="800000"/>
            <a:headEnd/>
            <a:tailEnd/>
          </a:ln>
          <a:effectLst/>
        </p:spPr>
        <p:txBody>
          <a:bodyPr>
            <a:spAutoFit/>
          </a:bodyPr>
          <a:lstStyle/>
          <a:p>
            <a:r>
              <a:rPr lang="en-US">
                <a:latin typeface="Tahoma" pitchFamily="34" charset="0"/>
              </a:rPr>
              <a:t>Their bonds vary in energy and are weaker; they have no distinct melting temperature.  </a:t>
            </a:r>
          </a:p>
        </p:txBody>
      </p:sp>
      <p:sp>
        <p:nvSpPr>
          <p:cNvPr id="11271" name="Text Box 7"/>
          <p:cNvSpPr txBox="1">
            <a:spLocks noChangeArrowheads="1"/>
          </p:cNvSpPr>
          <p:nvPr/>
        </p:nvSpPr>
        <p:spPr bwMode="auto">
          <a:xfrm>
            <a:off x="152400" y="2209800"/>
            <a:ext cx="8839200" cy="369332"/>
          </a:xfrm>
          <a:prstGeom prst="rect">
            <a:avLst/>
          </a:prstGeom>
          <a:noFill/>
          <a:ln w="9525" algn="ctr">
            <a:noFill/>
            <a:miter lim="800000"/>
            <a:headEnd/>
            <a:tailEnd/>
          </a:ln>
          <a:effectLst/>
        </p:spPr>
        <p:txBody>
          <a:bodyPr>
            <a:spAutoFit/>
          </a:bodyPr>
          <a:lstStyle/>
          <a:p>
            <a:r>
              <a:rPr lang="en-US" dirty="0">
                <a:latin typeface="Tahoma" pitchFamily="34" charset="0"/>
              </a:rPr>
              <a:t>A good example is B</a:t>
            </a:r>
            <a:r>
              <a:rPr lang="en-US" baseline="-25000" dirty="0">
                <a:latin typeface="Tahoma" pitchFamily="34" charset="0"/>
              </a:rPr>
              <a:t>2</a:t>
            </a:r>
            <a:r>
              <a:rPr lang="en-US" dirty="0">
                <a:latin typeface="Tahoma" pitchFamily="34" charset="0"/>
              </a:rPr>
              <a:t>O</a:t>
            </a:r>
            <a:r>
              <a:rPr lang="en-US" baseline="-25000" dirty="0">
                <a:latin typeface="Tahoma" pitchFamily="34" charset="0"/>
              </a:rPr>
              <a:t>3</a:t>
            </a:r>
            <a:r>
              <a:rPr lang="en-US" dirty="0">
                <a:latin typeface="Tahoma" pitchFamily="34" charset="0"/>
              </a:rPr>
              <a:t>. </a:t>
            </a:r>
            <a:r>
              <a:rPr lang="en-US" dirty="0" smtClean="0">
                <a:latin typeface="Tahoma" pitchFamily="34" charset="0"/>
              </a:rPr>
              <a:t> For crystalline </a:t>
            </a:r>
            <a:r>
              <a:rPr lang="en-US" dirty="0">
                <a:latin typeface="Tahoma" pitchFamily="34" charset="0"/>
              </a:rPr>
              <a:t>B</a:t>
            </a:r>
            <a:r>
              <a:rPr lang="en-US" baseline="-25000" dirty="0">
                <a:latin typeface="Tahoma" pitchFamily="34" charset="0"/>
              </a:rPr>
              <a:t>2</a:t>
            </a:r>
            <a:r>
              <a:rPr lang="en-US" dirty="0">
                <a:latin typeface="Tahoma" pitchFamily="34" charset="0"/>
              </a:rPr>
              <a:t>0</a:t>
            </a:r>
            <a:r>
              <a:rPr lang="en-US" baseline="-25000" dirty="0">
                <a:latin typeface="Tahoma" pitchFamily="34" charset="0"/>
              </a:rPr>
              <a:t>3</a:t>
            </a:r>
            <a:r>
              <a:rPr lang="en-US" dirty="0">
                <a:latin typeface="Tahoma" pitchFamily="34" charset="0"/>
              </a:rPr>
              <a:t>. </a:t>
            </a:r>
          </a:p>
        </p:txBody>
      </p:sp>
      <p:pic>
        <p:nvPicPr>
          <p:cNvPr id="11273" name="Picture 9" descr="b2o3_crystalline"/>
          <p:cNvPicPr>
            <a:picLocks noChangeAspect="1" noChangeArrowheads="1"/>
          </p:cNvPicPr>
          <p:nvPr/>
        </p:nvPicPr>
        <p:blipFill>
          <a:blip r:embed="rId2"/>
          <a:srcRect/>
          <a:stretch>
            <a:fillRect/>
          </a:stretch>
        </p:blipFill>
        <p:spPr bwMode="auto">
          <a:xfrm>
            <a:off x="5410200" y="3048000"/>
            <a:ext cx="3067050" cy="3362325"/>
          </a:xfrm>
          <a:prstGeom prst="rect">
            <a:avLst/>
          </a:prstGeom>
          <a:noFill/>
        </p:spPr>
      </p:pic>
      <p:sp>
        <p:nvSpPr>
          <p:cNvPr id="11274" name="Text Box 10"/>
          <p:cNvSpPr txBox="1">
            <a:spLocks noChangeArrowheads="1"/>
          </p:cNvSpPr>
          <p:nvPr/>
        </p:nvSpPr>
        <p:spPr bwMode="auto">
          <a:xfrm>
            <a:off x="152400" y="3216275"/>
            <a:ext cx="5181600" cy="1187450"/>
          </a:xfrm>
          <a:prstGeom prst="rect">
            <a:avLst/>
          </a:prstGeom>
          <a:noFill/>
          <a:ln w="9525" algn="ctr">
            <a:noFill/>
            <a:miter lim="800000"/>
            <a:headEnd/>
            <a:tailEnd/>
          </a:ln>
          <a:effectLst/>
        </p:spPr>
        <p:txBody>
          <a:bodyPr>
            <a:spAutoFit/>
          </a:bodyPr>
          <a:lstStyle/>
          <a:p>
            <a:r>
              <a:rPr lang="en-US" dirty="0">
                <a:latin typeface="Tahoma" pitchFamily="34" charset="0"/>
              </a:rPr>
              <a:t>All crystals have atoms which are “equivalent;” the symmetry of all equivalent atoms is the same. </a:t>
            </a:r>
          </a:p>
        </p:txBody>
      </p:sp>
      <p:sp>
        <p:nvSpPr>
          <p:cNvPr id="11275" name="Text Box 11"/>
          <p:cNvSpPr txBox="1">
            <a:spLocks noChangeArrowheads="1"/>
          </p:cNvSpPr>
          <p:nvPr/>
        </p:nvSpPr>
        <p:spPr bwMode="auto">
          <a:xfrm>
            <a:off x="152400" y="4924425"/>
            <a:ext cx="5181600" cy="1187450"/>
          </a:xfrm>
          <a:prstGeom prst="rect">
            <a:avLst/>
          </a:prstGeom>
          <a:noFill/>
          <a:ln w="9525" algn="ctr">
            <a:noFill/>
            <a:miter lim="800000"/>
            <a:headEnd/>
            <a:tailEnd/>
          </a:ln>
          <a:effectLst/>
        </p:spPr>
        <p:txBody>
          <a:bodyPr>
            <a:spAutoFit/>
          </a:bodyPr>
          <a:lstStyle/>
          <a:p>
            <a:r>
              <a:rPr lang="en-US">
                <a:latin typeface="Tahoma" pitchFamily="34" charset="0"/>
              </a:rPr>
              <a:t>For example, these two boron atoms are equivalent; everything around them looks the same.</a:t>
            </a:r>
          </a:p>
        </p:txBody>
      </p:sp>
      <p:sp>
        <p:nvSpPr>
          <p:cNvPr id="11276" name="Freeform 12"/>
          <p:cNvSpPr>
            <a:spLocks/>
          </p:cNvSpPr>
          <p:nvPr/>
        </p:nvSpPr>
        <p:spPr bwMode="auto">
          <a:xfrm>
            <a:off x="2755900" y="4724400"/>
            <a:ext cx="3429000" cy="304800"/>
          </a:xfrm>
          <a:custGeom>
            <a:avLst/>
            <a:gdLst/>
            <a:ahLst/>
            <a:cxnLst>
              <a:cxn ang="0">
                <a:pos x="0" y="192"/>
              </a:cxn>
              <a:cxn ang="0">
                <a:pos x="0" y="0"/>
              </a:cxn>
              <a:cxn ang="0">
                <a:pos x="2160" y="0"/>
              </a:cxn>
              <a:cxn ang="0">
                <a:pos x="2160" y="144"/>
              </a:cxn>
            </a:cxnLst>
            <a:rect l="0" t="0" r="r" b="b"/>
            <a:pathLst>
              <a:path w="2160" h="192">
                <a:moveTo>
                  <a:pt x="0" y="192"/>
                </a:moveTo>
                <a:lnTo>
                  <a:pt x="0" y="0"/>
                </a:lnTo>
                <a:lnTo>
                  <a:pt x="2160" y="0"/>
                </a:lnTo>
                <a:lnTo>
                  <a:pt x="2160" y="144"/>
                </a:lnTo>
              </a:path>
            </a:pathLst>
          </a:custGeom>
          <a:noFill/>
          <a:ln w="50800" cap="flat" cmpd="sng">
            <a:solidFill>
              <a:schemeClr val="tx1"/>
            </a:solidFill>
            <a:prstDash val="solid"/>
            <a:round/>
            <a:headEnd/>
            <a:tailEnd type="triangle" w="med" len="med"/>
          </a:ln>
          <a:effectLst/>
        </p:spPr>
        <p:txBody>
          <a:bodyPr>
            <a:spAutoFit/>
          </a:bodyPr>
          <a:lstStyle/>
          <a:p>
            <a:endParaRPr lang="en-US"/>
          </a:p>
        </p:txBody>
      </p:sp>
      <p:sp>
        <p:nvSpPr>
          <p:cNvPr id="11277" name="Freeform 13"/>
          <p:cNvSpPr>
            <a:spLocks/>
          </p:cNvSpPr>
          <p:nvPr/>
        </p:nvSpPr>
        <p:spPr bwMode="auto">
          <a:xfrm>
            <a:off x="6153150" y="4724400"/>
            <a:ext cx="762000" cy="228600"/>
          </a:xfrm>
          <a:custGeom>
            <a:avLst/>
            <a:gdLst/>
            <a:ahLst/>
            <a:cxnLst>
              <a:cxn ang="0">
                <a:pos x="0" y="0"/>
              </a:cxn>
              <a:cxn ang="0">
                <a:pos x="480" y="0"/>
              </a:cxn>
              <a:cxn ang="0">
                <a:pos x="480" y="96"/>
              </a:cxn>
            </a:cxnLst>
            <a:rect l="0" t="0" r="r" b="b"/>
            <a:pathLst>
              <a:path w="480" h="96">
                <a:moveTo>
                  <a:pt x="0" y="0"/>
                </a:moveTo>
                <a:lnTo>
                  <a:pt x="480" y="0"/>
                </a:lnTo>
                <a:lnTo>
                  <a:pt x="480" y="96"/>
                </a:lnTo>
              </a:path>
            </a:pathLst>
          </a:custGeom>
          <a:noFill/>
          <a:ln w="50800" cap="flat" cmpd="sng">
            <a:solidFill>
              <a:schemeClr val="tx1"/>
            </a:solidFill>
            <a:prstDash val="solid"/>
            <a:round/>
            <a:headEnd/>
            <a:tailEnd type="triangle" w="med" len="med"/>
          </a:ln>
          <a:effectLst/>
        </p:spPr>
        <p:txBody>
          <a:bodyP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7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7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2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2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2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1" grpId="0"/>
      <p:bldP spid="11274" grpId="0"/>
      <p:bldP spid="11275" grpId="0"/>
      <p:bldP spid="11276" grpId="0" animBg="1"/>
      <p:bldP spid="11277" grpId="0" animBg="1"/>
    </p:bld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Text Box 4"/>
          <p:cNvSpPr txBox="1">
            <a:spLocks noChangeArrowheads="1"/>
          </p:cNvSpPr>
          <p:nvPr/>
        </p:nvSpPr>
        <p:spPr bwMode="auto">
          <a:xfrm>
            <a:off x="152400" y="847725"/>
            <a:ext cx="8839200" cy="822325"/>
          </a:xfrm>
          <a:prstGeom prst="rect">
            <a:avLst/>
          </a:prstGeom>
          <a:noFill/>
          <a:ln w="9525" algn="ctr">
            <a:noFill/>
            <a:miter lim="800000"/>
            <a:headEnd/>
            <a:tailEnd/>
          </a:ln>
          <a:effectLst/>
        </p:spPr>
        <p:txBody>
          <a:bodyPr>
            <a:spAutoFit/>
          </a:bodyPr>
          <a:lstStyle/>
          <a:p>
            <a:r>
              <a:rPr lang="en-US">
                <a:latin typeface="Tahoma" pitchFamily="34" charset="0"/>
              </a:rPr>
              <a:t>Imagine you are a nanohuman.  If you build a house on some boron atom and look out any window in some direction… </a:t>
            </a:r>
          </a:p>
        </p:txBody>
      </p:sp>
      <p:pic>
        <p:nvPicPr>
          <p:cNvPr id="35845" name="Picture 5" descr="b2o3_crystalline"/>
          <p:cNvPicPr>
            <a:picLocks noChangeAspect="1" noChangeArrowheads="1"/>
          </p:cNvPicPr>
          <p:nvPr/>
        </p:nvPicPr>
        <p:blipFill>
          <a:blip r:embed="rId2"/>
          <a:srcRect/>
          <a:stretch>
            <a:fillRect/>
          </a:stretch>
        </p:blipFill>
        <p:spPr bwMode="auto">
          <a:xfrm>
            <a:off x="4857750" y="1990725"/>
            <a:ext cx="3675063" cy="4029075"/>
          </a:xfrm>
          <a:prstGeom prst="rect">
            <a:avLst/>
          </a:prstGeom>
          <a:noFill/>
        </p:spPr>
      </p:pic>
      <p:sp>
        <p:nvSpPr>
          <p:cNvPr id="35846" name="Line 6"/>
          <p:cNvSpPr>
            <a:spLocks noChangeShapeType="1"/>
          </p:cNvSpPr>
          <p:nvPr/>
        </p:nvSpPr>
        <p:spPr bwMode="auto">
          <a:xfrm>
            <a:off x="5791200" y="4362450"/>
            <a:ext cx="1143000" cy="1600200"/>
          </a:xfrm>
          <a:prstGeom prst="line">
            <a:avLst/>
          </a:prstGeom>
          <a:noFill/>
          <a:ln w="57150">
            <a:solidFill>
              <a:srgbClr val="FF6600"/>
            </a:solidFill>
            <a:round/>
            <a:headEnd/>
            <a:tailEnd type="triangle" w="med" len="med"/>
          </a:ln>
          <a:effectLst/>
        </p:spPr>
        <p:txBody>
          <a:bodyPr>
            <a:spAutoFit/>
          </a:bodyPr>
          <a:lstStyle/>
          <a:p>
            <a:endParaRPr lang="en-US"/>
          </a:p>
        </p:txBody>
      </p:sp>
      <p:sp>
        <p:nvSpPr>
          <p:cNvPr id="35847" name="Text Box 7"/>
          <p:cNvSpPr txBox="1">
            <a:spLocks noChangeArrowheads="1"/>
          </p:cNvSpPr>
          <p:nvPr/>
        </p:nvSpPr>
        <p:spPr bwMode="auto">
          <a:xfrm>
            <a:off x="152400" y="2197100"/>
            <a:ext cx="4648200" cy="1917700"/>
          </a:xfrm>
          <a:prstGeom prst="rect">
            <a:avLst/>
          </a:prstGeom>
          <a:noFill/>
          <a:ln w="9525" algn="ctr">
            <a:noFill/>
            <a:miter lim="800000"/>
            <a:headEnd/>
            <a:tailEnd/>
          </a:ln>
          <a:effectLst/>
        </p:spPr>
        <p:txBody>
          <a:bodyPr>
            <a:spAutoFit/>
          </a:bodyPr>
          <a:lstStyle/>
          <a:p>
            <a:r>
              <a:rPr lang="en-US">
                <a:latin typeface="Tahoma" pitchFamily="34" charset="0"/>
              </a:rPr>
              <a:t>You’ll have exactly the same view if you build your house on an equivalent boron atom and look out in an equivalent direction.</a:t>
            </a:r>
          </a:p>
        </p:txBody>
      </p:sp>
      <p:sp>
        <p:nvSpPr>
          <p:cNvPr id="35849" name="Text Box 9"/>
          <p:cNvSpPr txBox="1">
            <a:spLocks noChangeArrowheads="1"/>
          </p:cNvSpPr>
          <p:nvPr/>
        </p:nvSpPr>
        <p:spPr bwMode="auto">
          <a:xfrm>
            <a:off x="152400" y="4267200"/>
            <a:ext cx="4648200" cy="1187450"/>
          </a:xfrm>
          <a:prstGeom prst="rect">
            <a:avLst/>
          </a:prstGeom>
          <a:noFill/>
          <a:ln w="9525" algn="ctr">
            <a:noFill/>
            <a:miter lim="800000"/>
            <a:headEnd/>
            <a:tailEnd/>
          </a:ln>
          <a:effectLst/>
        </p:spPr>
        <p:txBody>
          <a:bodyPr>
            <a:spAutoFit/>
          </a:bodyPr>
          <a:lstStyle/>
          <a:p>
            <a:r>
              <a:rPr lang="en-US">
                <a:latin typeface="Tahoma" pitchFamily="34" charset="0"/>
              </a:rPr>
              <a:t>Note that “equivalent direction” does not mean “the same direction.”</a:t>
            </a:r>
          </a:p>
        </p:txBody>
      </p:sp>
      <p:sp>
        <p:nvSpPr>
          <p:cNvPr id="35850" name="Text Box 10"/>
          <p:cNvSpPr txBox="1">
            <a:spLocks noChangeArrowheads="1"/>
          </p:cNvSpPr>
          <p:nvPr/>
        </p:nvSpPr>
        <p:spPr bwMode="auto">
          <a:xfrm>
            <a:off x="152400" y="228600"/>
            <a:ext cx="8839200" cy="457200"/>
          </a:xfrm>
          <a:prstGeom prst="rect">
            <a:avLst/>
          </a:prstGeom>
          <a:noFill/>
          <a:ln w="9525" algn="ctr">
            <a:noFill/>
            <a:miter lim="800000"/>
            <a:headEnd/>
            <a:tailEnd/>
          </a:ln>
          <a:effectLst/>
        </p:spPr>
        <p:txBody>
          <a:bodyPr>
            <a:spAutoFit/>
          </a:bodyPr>
          <a:lstStyle/>
          <a:p>
            <a:r>
              <a:rPr lang="en-US">
                <a:latin typeface="Tahoma" pitchFamily="34" charset="0"/>
              </a:rPr>
              <a:t>Here’s how you tell if a solid is crystalline:</a:t>
            </a:r>
          </a:p>
        </p:txBody>
      </p:sp>
      <p:sp>
        <p:nvSpPr>
          <p:cNvPr id="35854" name="Line 14"/>
          <p:cNvSpPr>
            <a:spLocks noChangeShapeType="1"/>
          </p:cNvSpPr>
          <p:nvPr/>
        </p:nvSpPr>
        <p:spPr bwMode="auto">
          <a:xfrm rot="15008862" flipH="1">
            <a:off x="5550694" y="3485357"/>
            <a:ext cx="1958975" cy="446087"/>
          </a:xfrm>
          <a:prstGeom prst="line">
            <a:avLst/>
          </a:prstGeom>
          <a:noFill/>
          <a:ln w="57150">
            <a:solidFill>
              <a:srgbClr val="800000"/>
            </a:solidFill>
            <a:round/>
            <a:headEnd type="triangle" w="med" len="med"/>
            <a:tailEnd/>
          </a:ln>
          <a:effectLst/>
        </p:spPr>
        <p:txBody>
          <a:bodyPr>
            <a:spAutoFit/>
          </a:bodyPr>
          <a:lstStyle/>
          <a:p>
            <a:endParaRPr lang="en-US"/>
          </a:p>
        </p:txBody>
      </p:sp>
      <p:sp>
        <p:nvSpPr>
          <p:cNvPr id="35857" name="Line 17"/>
          <p:cNvSpPr>
            <a:spLocks noChangeShapeType="1"/>
          </p:cNvSpPr>
          <p:nvPr/>
        </p:nvSpPr>
        <p:spPr bwMode="auto">
          <a:xfrm>
            <a:off x="6667500" y="4356100"/>
            <a:ext cx="1143000" cy="1600200"/>
          </a:xfrm>
          <a:prstGeom prst="line">
            <a:avLst/>
          </a:prstGeom>
          <a:noFill/>
          <a:ln w="57150">
            <a:solidFill>
              <a:srgbClr val="FF6600"/>
            </a:solidFill>
            <a:round/>
            <a:headEnd/>
            <a:tailEnd type="triangle" w="med" len="med"/>
          </a:ln>
          <a:effectLst/>
        </p:spPr>
        <p:txBody>
          <a:bodyPr>
            <a:spAutoFit/>
          </a:bodyPr>
          <a:lstStyle/>
          <a:p>
            <a:endParaRPr lang="en-US"/>
          </a:p>
        </p:txBody>
      </p:sp>
      <p:sp>
        <p:nvSpPr>
          <p:cNvPr id="35858" name="Oval 18"/>
          <p:cNvSpPr>
            <a:spLocks noChangeArrowheads="1"/>
          </p:cNvSpPr>
          <p:nvPr/>
        </p:nvSpPr>
        <p:spPr bwMode="auto">
          <a:xfrm>
            <a:off x="6434138" y="5381625"/>
            <a:ext cx="457200" cy="457200"/>
          </a:xfrm>
          <a:prstGeom prst="ellipse">
            <a:avLst/>
          </a:prstGeom>
          <a:solidFill>
            <a:srgbClr val="FF99CC">
              <a:alpha val="25000"/>
            </a:srgbClr>
          </a:solidFill>
          <a:ln w="19050" algn="ctr">
            <a:solidFill>
              <a:srgbClr val="800000"/>
            </a:solidFill>
            <a:round/>
            <a:headEnd/>
            <a:tailEnd/>
          </a:ln>
          <a:effectLst/>
        </p:spPr>
        <p:txBody>
          <a:bodyPr wrap="none" anchor="ctr">
            <a:spAutoFit/>
          </a:bodyPr>
          <a:lstStyle/>
          <a:p>
            <a:endParaRPr lang="en-US"/>
          </a:p>
        </p:txBody>
      </p:sp>
      <p:sp>
        <p:nvSpPr>
          <p:cNvPr id="35859" name="Oval 19"/>
          <p:cNvSpPr>
            <a:spLocks noChangeArrowheads="1"/>
          </p:cNvSpPr>
          <p:nvPr/>
        </p:nvSpPr>
        <p:spPr bwMode="auto">
          <a:xfrm>
            <a:off x="7329488" y="5381625"/>
            <a:ext cx="457200" cy="457200"/>
          </a:xfrm>
          <a:prstGeom prst="ellipse">
            <a:avLst/>
          </a:prstGeom>
          <a:solidFill>
            <a:srgbClr val="FF99CC">
              <a:alpha val="25000"/>
            </a:srgbClr>
          </a:solidFill>
          <a:ln w="19050" algn="ctr">
            <a:solidFill>
              <a:srgbClr val="800000"/>
            </a:solidFill>
            <a:round/>
            <a:headEnd/>
            <a:tailEnd/>
          </a:ln>
          <a:effectLst/>
        </p:spPr>
        <p:txBody>
          <a:bodyPr wrap="none" anchor="ctr">
            <a:spAutoFit/>
          </a:bodyPr>
          <a:lstStyle/>
          <a:p>
            <a:endParaRPr lang="en-US"/>
          </a:p>
        </p:txBody>
      </p:sp>
      <p:sp>
        <p:nvSpPr>
          <p:cNvPr id="35860" name="Oval 20"/>
          <p:cNvSpPr>
            <a:spLocks noChangeArrowheads="1"/>
          </p:cNvSpPr>
          <p:nvPr/>
        </p:nvSpPr>
        <p:spPr bwMode="auto">
          <a:xfrm>
            <a:off x="5986463" y="3062288"/>
            <a:ext cx="457200" cy="457200"/>
          </a:xfrm>
          <a:prstGeom prst="ellipse">
            <a:avLst/>
          </a:prstGeom>
          <a:solidFill>
            <a:srgbClr val="FF99CC">
              <a:alpha val="25000"/>
            </a:srgbClr>
          </a:solidFill>
          <a:ln w="19050" algn="ctr">
            <a:solidFill>
              <a:srgbClr val="800000"/>
            </a:solidFill>
            <a:round/>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par>
                                <p:cTn id="7" presetID="23" presetClass="entr" presetSubtype="16" fill="hold" grpId="0" nodeType="withEffect">
                                  <p:stCondLst>
                                    <p:cond delay="0"/>
                                  </p:stCondLst>
                                  <p:childTnLst>
                                    <p:set>
                                      <p:cBhvr>
                                        <p:cTn id="8" dur="1" fill="hold">
                                          <p:stCondLst>
                                            <p:cond delay="0"/>
                                          </p:stCondLst>
                                        </p:cTn>
                                        <p:tgtEl>
                                          <p:spTgt spid="35846"/>
                                        </p:tgtEl>
                                        <p:attrNameLst>
                                          <p:attrName>style.visibility</p:attrName>
                                        </p:attrNameLst>
                                      </p:cBhvr>
                                      <p:to>
                                        <p:strVal val="visible"/>
                                      </p:to>
                                    </p:set>
                                    <p:anim calcmode="lin" valueType="num">
                                      <p:cBhvr>
                                        <p:cTn id="9" dur="500" fill="hold"/>
                                        <p:tgtEl>
                                          <p:spTgt spid="35846"/>
                                        </p:tgtEl>
                                        <p:attrNameLst>
                                          <p:attrName>ppt_w</p:attrName>
                                        </p:attrNameLst>
                                      </p:cBhvr>
                                      <p:tavLst>
                                        <p:tav tm="0">
                                          <p:val>
                                            <p:fltVal val="0"/>
                                          </p:val>
                                        </p:tav>
                                        <p:tav tm="100000">
                                          <p:val>
                                            <p:strVal val="#ppt_w"/>
                                          </p:val>
                                        </p:tav>
                                      </p:tavLst>
                                    </p:anim>
                                    <p:anim calcmode="lin" valueType="num">
                                      <p:cBhvr>
                                        <p:cTn id="10" dur="500" fill="hold"/>
                                        <p:tgtEl>
                                          <p:spTgt spid="35846"/>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847"/>
                                        </p:tgtEl>
                                        <p:attrNameLst>
                                          <p:attrName>style.visibility</p:attrName>
                                        </p:attrNameLst>
                                      </p:cBhvr>
                                      <p:to>
                                        <p:strVal val="visible"/>
                                      </p:to>
                                    </p:set>
                                  </p:childTnLst>
                                </p:cTn>
                              </p:par>
                              <p:par>
                                <p:cTn id="15" presetID="23" presetClass="entr" presetSubtype="16" fill="hold" grpId="0" nodeType="withEffect">
                                  <p:stCondLst>
                                    <p:cond delay="0"/>
                                  </p:stCondLst>
                                  <p:childTnLst>
                                    <p:set>
                                      <p:cBhvr>
                                        <p:cTn id="16" dur="1" fill="hold">
                                          <p:stCondLst>
                                            <p:cond delay="0"/>
                                          </p:stCondLst>
                                        </p:cTn>
                                        <p:tgtEl>
                                          <p:spTgt spid="35857"/>
                                        </p:tgtEl>
                                        <p:attrNameLst>
                                          <p:attrName>style.visibility</p:attrName>
                                        </p:attrNameLst>
                                      </p:cBhvr>
                                      <p:to>
                                        <p:strVal val="visible"/>
                                      </p:to>
                                    </p:set>
                                    <p:anim calcmode="lin" valueType="num">
                                      <p:cBhvr>
                                        <p:cTn id="17" dur="500" fill="hold"/>
                                        <p:tgtEl>
                                          <p:spTgt spid="35857"/>
                                        </p:tgtEl>
                                        <p:attrNameLst>
                                          <p:attrName>ppt_w</p:attrName>
                                        </p:attrNameLst>
                                      </p:cBhvr>
                                      <p:tavLst>
                                        <p:tav tm="0">
                                          <p:val>
                                            <p:fltVal val="0"/>
                                          </p:val>
                                        </p:tav>
                                        <p:tav tm="100000">
                                          <p:val>
                                            <p:strVal val="#ppt_w"/>
                                          </p:val>
                                        </p:tav>
                                      </p:tavLst>
                                    </p:anim>
                                    <p:anim calcmode="lin" valueType="num">
                                      <p:cBhvr>
                                        <p:cTn id="18" dur="500" fill="hold"/>
                                        <p:tgtEl>
                                          <p:spTgt spid="35857"/>
                                        </p:tgtEl>
                                        <p:attrNameLst>
                                          <p:attrName>ppt_h</p:attrName>
                                        </p:attrNameLst>
                                      </p:cBhvr>
                                      <p:tavLst>
                                        <p:tav tm="0">
                                          <p:val>
                                            <p:fltVal val="0"/>
                                          </p:val>
                                        </p:tav>
                                        <p:tav tm="100000">
                                          <p:val>
                                            <p:strVal val="#ppt_h"/>
                                          </p:val>
                                        </p:tav>
                                      </p:tavLst>
                                    </p:anim>
                                  </p:childTnLst>
                                </p:cTn>
                              </p:par>
                              <p:par>
                                <p:cTn id="19" presetID="23" presetClass="entr" presetSubtype="16" fill="hold" grpId="0" nodeType="withEffect">
                                  <p:stCondLst>
                                    <p:cond delay="0"/>
                                  </p:stCondLst>
                                  <p:childTnLst>
                                    <p:set>
                                      <p:cBhvr>
                                        <p:cTn id="20" dur="1" fill="hold">
                                          <p:stCondLst>
                                            <p:cond delay="0"/>
                                          </p:stCondLst>
                                        </p:cTn>
                                        <p:tgtEl>
                                          <p:spTgt spid="35858"/>
                                        </p:tgtEl>
                                        <p:attrNameLst>
                                          <p:attrName>style.visibility</p:attrName>
                                        </p:attrNameLst>
                                      </p:cBhvr>
                                      <p:to>
                                        <p:strVal val="visible"/>
                                      </p:to>
                                    </p:set>
                                    <p:anim calcmode="lin" valueType="num">
                                      <p:cBhvr>
                                        <p:cTn id="21" dur="500" fill="hold"/>
                                        <p:tgtEl>
                                          <p:spTgt spid="35858"/>
                                        </p:tgtEl>
                                        <p:attrNameLst>
                                          <p:attrName>ppt_w</p:attrName>
                                        </p:attrNameLst>
                                      </p:cBhvr>
                                      <p:tavLst>
                                        <p:tav tm="0">
                                          <p:val>
                                            <p:fltVal val="0"/>
                                          </p:val>
                                        </p:tav>
                                        <p:tav tm="100000">
                                          <p:val>
                                            <p:strVal val="#ppt_w"/>
                                          </p:val>
                                        </p:tav>
                                      </p:tavLst>
                                    </p:anim>
                                    <p:anim calcmode="lin" valueType="num">
                                      <p:cBhvr>
                                        <p:cTn id="22" dur="500" fill="hold"/>
                                        <p:tgtEl>
                                          <p:spTgt spid="35858"/>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35859"/>
                                        </p:tgtEl>
                                        <p:attrNameLst>
                                          <p:attrName>style.visibility</p:attrName>
                                        </p:attrNameLst>
                                      </p:cBhvr>
                                      <p:to>
                                        <p:strVal val="visible"/>
                                      </p:to>
                                    </p:set>
                                    <p:anim calcmode="lin" valueType="num">
                                      <p:cBhvr>
                                        <p:cTn id="25" dur="500" fill="hold"/>
                                        <p:tgtEl>
                                          <p:spTgt spid="35859"/>
                                        </p:tgtEl>
                                        <p:attrNameLst>
                                          <p:attrName>ppt_w</p:attrName>
                                        </p:attrNameLst>
                                      </p:cBhvr>
                                      <p:tavLst>
                                        <p:tav tm="0">
                                          <p:val>
                                            <p:fltVal val="0"/>
                                          </p:val>
                                        </p:tav>
                                        <p:tav tm="100000">
                                          <p:val>
                                            <p:strVal val="#ppt_w"/>
                                          </p:val>
                                        </p:tav>
                                      </p:tavLst>
                                    </p:anim>
                                    <p:anim calcmode="lin" valueType="num">
                                      <p:cBhvr>
                                        <p:cTn id="26" dur="500" fill="hold"/>
                                        <p:tgtEl>
                                          <p:spTgt spid="35859"/>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849"/>
                                        </p:tgtEl>
                                        <p:attrNameLst>
                                          <p:attrName>style.visibility</p:attrName>
                                        </p:attrNameLst>
                                      </p:cBhvr>
                                      <p:to>
                                        <p:strVal val="visible"/>
                                      </p:to>
                                    </p:set>
                                  </p:childTnLst>
                                </p:cTn>
                              </p:par>
                              <p:par>
                                <p:cTn id="31" presetID="23" presetClass="entr" presetSubtype="16" fill="hold" grpId="0" nodeType="withEffect">
                                  <p:stCondLst>
                                    <p:cond delay="0"/>
                                  </p:stCondLst>
                                  <p:childTnLst>
                                    <p:set>
                                      <p:cBhvr>
                                        <p:cTn id="32" dur="1" fill="hold">
                                          <p:stCondLst>
                                            <p:cond delay="0"/>
                                          </p:stCondLst>
                                        </p:cTn>
                                        <p:tgtEl>
                                          <p:spTgt spid="35854"/>
                                        </p:tgtEl>
                                        <p:attrNameLst>
                                          <p:attrName>style.visibility</p:attrName>
                                        </p:attrNameLst>
                                      </p:cBhvr>
                                      <p:to>
                                        <p:strVal val="visible"/>
                                      </p:to>
                                    </p:set>
                                    <p:anim calcmode="lin" valueType="num">
                                      <p:cBhvr>
                                        <p:cTn id="33" dur="500" fill="hold"/>
                                        <p:tgtEl>
                                          <p:spTgt spid="35854"/>
                                        </p:tgtEl>
                                        <p:attrNameLst>
                                          <p:attrName>ppt_w</p:attrName>
                                        </p:attrNameLst>
                                      </p:cBhvr>
                                      <p:tavLst>
                                        <p:tav tm="0">
                                          <p:val>
                                            <p:fltVal val="0"/>
                                          </p:val>
                                        </p:tav>
                                        <p:tav tm="100000">
                                          <p:val>
                                            <p:strVal val="#ppt_w"/>
                                          </p:val>
                                        </p:tav>
                                      </p:tavLst>
                                    </p:anim>
                                    <p:anim calcmode="lin" valueType="num">
                                      <p:cBhvr>
                                        <p:cTn id="34" dur="500" fill="hold"/>
                                        <p:tgtEl>
                                          <p:spTgt spid="35854"/>
                                        </p:tgtEl>
                                        <p:attrNameLst>
                                          <p:attrName>ppt_h</p:attrName>
                                        </p:attrNameLst>
                                      </p:cBhvr>
                                      <p:tavLst>
                                        <p:tav tm="0">
                                          <p:val>
                                            <p:fltVal val="0"/>
                                          </p:val>
                                        </p:tav>
                                        <p:tav tm="100000">
                                          <p:val>
                                            <p:strVal val="#ppt_h"/>
                                          </p:val>
                                        </p:tav>
                                      </p:tavLst>
                                    </p:anim>
                                  </p:childTnLst>
                                </p:cTn>
                              </p:par>
                              <p:par>
                                <p:cTn id="35" presetID="23" presetClass="entr" presetSubtype="16" fill="hold" grpId="0" nodeType="withEffect">
                                  <p:stCondLst>
                                    <p:cond delay="0"/>
                                  </p:stCondLst>
                                  <p:childTnLst>
                                    <p:set>
                                      <p:cBhvr>
                                        <p:cTn id="36" dur="1" fill="hold">
                                          <p:stCondLst>
                                            <p:cond delay="0"/>
                                          </p:stCondLst>
                                        </p:cTn>
                                        <p:tgtEl>
                                          <p:spTgt spid="35860"/>
                                        </p:tgtEl>
                                        <p:attrNameLst>
                                          <p:attrName>style.visibility</p:attrName>
                                        </p:attrNameLst>
                                      </p:cBhvr>
                                      <p:to>
                                        <p:strVal val="visible"/>
                                      </p:to>
                                    </p:set>
                                    <p:anim calcmode="lin" valueType="num">
                                      <p:cBhvr>
                                        <p:cTn id="37" dur="500" fill="hold"/>
                                        <p:tgtEl>
                                          <p:spTgt spid="35860"/>
                                        </p:tgtEl>
                                        <p:attrNameLst>
                                          <p:attrName>ppt_w</p:attrName>
                                        </p:attrNameLst>
                                      </p:cBhvr>
                                      <p:tavLst>
                                        <p:tav tm="0">
                                          <p:val>
                                            <p:fltVal val="0"/>
                                          </p:val>
                                        </p:tav>
                                        <p:tav tm="100000">
                                          <p:val>
                                            <p:strVal val="#ppt_w"/>
                                          </p:val>
                                        </p:tav>
                                      </p:tavLst>
                                    </p:anim>
                                    <p:anim calcmode="lin" valueType="num">
                                      <p:cBhvr>
                                        <p:cTn id="38" dur="500" fill="hold"/>
                                        <p:tgtEl>
                                          <p:spTgt spid="3586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p:bldP spid="35846" grpId="0" animBg="1"/>
      <p:bldP spid="35847" grpId="0"/>
      <p:bldP spid="35849" grpId="0"/>
      <p:bldP spid="35854" grpId="0" animBg="1"/>
      <p:bldP spid="35857" grpId="0" animBg="1"/>
      <p:bldP spid="35858" grpId="0" animBg="1"/>
      <p:bldP spid="35859" grpId="0" animBg="1"/>
      <p:bldP spid="35860" grpId="0" animBg="1"/>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Box 4"/>
          <p:cNvSpPr txBox="1">
            <a:spLocks noChangeArrowheads="1"/>
          </p:cNvSpPr>
          <p:nvPr/>
        </p:nvSpPr>
        <p:spPr bwMode="auto">
          <a:xfrm>
            <a:off x="152400" y="228600"/>
            <a:ext cx="8839200" cy="369332"/>
          </a:xfrm>
          <a:prstGeom prst="rect">
            <a:avLst/>
          </a:prstGeom>
          <a:noFill/>
          <a:ln w="9525" algn="ctr">
            <a:noFill/>
            <a:miter lim="800000"/>
            <a:headEnd/>
            <a:tailEnd/>
          </a:ln>
          <a:effectLst/>
        </p:spPr>
        <p:txBody>
          <a:bodyPr>
            <a:spAutoFit/>
          </a:bodyPr>
          <a:lstStyle/>
          <a:p>
            <a:r>
              <a:rPr lang="en-US" dirty="0" smtClean="0"/>
              <a:t>for </a:t>
            </a:r>
            <a:r>
              <a:rPr lang="en-US" dirty="0"/>
              <a:t>amorphous B</a:t>
            </a:r>
            <a:r>
              <a:rPr lang="en-US" baseline="-25000" dirty="0"/>
              <a:t>2</a:t>
            </a:r>
            <a:r>
              <a:rPr lang="en-US" dirty="0"/>
              <a:t>O</a:t>
            </a:r>
            <a:r>
              <a:rPr lang="en-US" baseline="-25000" dirty="0"/>
              <a:t>3</a:t>
            </a:r>
            <a:r>
              <a:rPr lang="en-US" dirty="0"/>
              <a:t>.   </a:t>
            </a:r>
          </a:p>
        </p:txBody>
      </p:sp>
      <p:pic>
        <p:nvPicPr>
          <p:cNvPr id="12296" name="Picture 8" descr="b2o3_amorphous"/>
          <p:cNvPicPr>
            <a:picLocks noChangeAspect="1" noChangeArrowheads="1"/>
          </p:cNvPicPr>
          <p:nvPr/>
        </p:nvPicPr>
        <p:blipFill>
          <a:blip r:embed="rId2"/>
          <a:srcRect/>
          <a:stretch>
            <a:fillRect/>
          </a:stretch>
        </p:blipFill>
        <p:spPr bwMode="auto">
          <a:xfrm>
            <a:off x="5094288" y="838200"/>
            <a:ext cx="3592512" cy="3867150"/>
          </a:xfrm>
          <a:prstGeom prst="rect">
            <a:avLst/>
          </a:prstGeom>
          <a:noFill/>
        </p:spPr>
      </p:pic>
      <p:sp>
        <p:nvSpPr>
          <p:cNvPr id="12297" name="Text Box 9"/>
          <p:cNvSpPr txBox="1">
            <a:spLocks noChangeArrowheads="1"/>
          </p:cNvSpPr>
          <p:nvPr/>
        </p:nvSpPr>
        <p:spPr bwMode="auto">
          <a:xfrm>
            <a:off x="152400" y="914400"/>
            <a:ext cx="4648200" cy="1187450"/>
          </a:xfrm>
          <a:prstGeom prst="rect">
            <a:avLst/>
          </a:prstGeom>
          <a:noFill/>
          <a:ln w="9525" algn="ctr">
            <a:noFill/>
            <a:miter lim="800000"/>
            <a:headEnd/>
            <a:tailEnd/>
          </a:ln>
          <a:effectLst/>
        </p:spPr>
        <p:txBody>
          <a:bodyPr>
            <a:spAutoFit/>
          </a:bodyPr>
          <a:lstStyle/>
          <a:p>
            <a:r>
              <a:rPr lang="en-US">
                <a:latin typeface="Tahoma" pitchFamily="34" charset="0"/>
              </a:rPr>
              <a:t>Every B is surrounded by a “triangle” of 3 O’s, just as for crystalline B</a:t>
            </a:r>
            <a:r>
              <a:rPr lang="en-US" baseline="-25000">
                <a:latin typeface="Tahoma" pitchFamily="34" charset="0"/>
              </a:rPr>
              <a:t>2</a:t>
            </a:r>
            <a:r>
              <a:rPr lang="en-US">
                <a:latin typeface="Tahoma" pitchFamily="34" charset="0"/>
              </a:rPr>
              <a:t>O</a:t>
            </a:r>
            <a:r>
              <a:rPr lang="en-US" baseline="-25000">
                <a:latin typeface="Tahoma" pitchFamily="34" charset="0"/>
              </a:rPr>
              <a:t>3</a:t>
            </a:r>
            <a:r>
              <a:rPr lang="en-US">
                <a:latin typeface="Tahoma" pitchFamily="34" charset="0"/>
              </a:rPr>
              <a:t>.</a:t>
            </a:r>
          </a:p>
        </p:txBody>
      </p:sp>
      <p:sp>
        <p:nvSpPr>
          <p:cNvPr id="12298" name="Line 10"/>
          <p:cNvSpPr>
            <a:spLocks noChangeShapeType="1"/>
          </p:cNvSpPr>
          <p:nvPr/>
        </p:nvSpPr>
        <p:spPr bwMode="auto">
          <a:xfrm>
            <a:off x="6462713" y="2771775"/>
            <a:ext cx="1143000" cy="1600200"/>
          </a:xfrm>
          <a:prstGeom prst="line">
            <a:avLst/>
          </a:prstGeom>
          <a:noFill/>
          <a:ln w="57150">
            <a:solidFill>
              <a:schemeClr val="tx1"/>
            </a:solidFill>
            <a:round/>
            <a:headEnd/>
            <a:tailEnd type="triangle" w="med" len="med"/>
          </a:ln>
          <a:effectLst/>
        </p:spPr>
        <p:txBody>
          <a:bodyPr>
            <a:spAutoFit/>
          </a:bodyPr>
          <a:lstStyle/>
          <a:p>
            <a:endParaRPr lang="en-US"/>
          </a:p>
        </p:txBody>
      </p:sp>
      <p:sp>
        <p:nvSpPr>
          <p:cNvPr id="12299" name="Line 11"/>
          <p:cNvSpPr>
            <a:spLocks noChangeShapeType="1"/>
          </p:cNvSpPr>
          <p:nvPr/>
        </p:nvSpPr>
        <p:spPr bwMode="auto">
          <a:xfrm>
            <a:off x="7605713" y="2867025"/>
            <a:ext cx="1143000" cy="1600200"/>
          </a:xfrm>
          <a:prstGeom prst="line">
            <a:avLst/>
          </a:prstGeom>
          <a:noFill/>
          <a:ln w="57150">
            <a:solidFill>
              <a:schemeClr val="tx1"/>
            </a:solidFill>
            <a:round/>
            <a:headEnd/>
            <a:tailEnd type="triangle" w="med" len="med"/>
          </a:ln>
          <a:effectLst/>
        </p:spPr>
        <p:txBody>
          <a:bodyPr>
            <a:spAutoFit/>
          </a:bodyPr>
          <a:lstStyle/>
          <a:p>
            <a:endParaRPr lang="en-US"/>
          </a:p>
        </p:txBody>
      </p:sp>
      <p:sp>
        <p:nvSpPr>
          <p:cNvPr id="12300" name="Text Box 12"/>
          <p:cNvSpPr txBox="1">
            <a:spLocks noChangeArrowheads="1"/>
          </p:cNvSpPr>
          <p:nvPr/>
        </p:nvSpPr>
        <p:spPr bwMode="auto">
          <a:xfrm>
            <a:off x="152400" y="2501900"/>
            <a:ext cx="4648200" cy="1917700"/>
          </a:xfrm>
          <a:prstGeom prst="rect">
            <a:avLst/>
          </a:prstGeom>
          <a:noFill/>
          <a:ln w="9525" algn="ctr">
            <a:noFill/>
            <a:miter lim="800000"/>
            <a:headEnd/>
            <a:tailEnd/>
          </a:ln>
          <a:effectLst/>
        </p:spPr>
        <p:txBody>
          <a:bodyPr>
            <a:spAutoFit/>
          </a:bodyPr>
          <a:lstStyle/>
          <a:p>
            <a:r>
              <a:rPr lang="en-US">
                <a:latin typeface="Tahoma" pitchFamily="34" charset="0"/>
              </a:rPr>
              <a:t>But you can’t find two B atoms that give you an identical “view.”  Eventually the short-range order breaks down, and every “view” is different.</a:t>
            </a:r>
          </a:p>
        </p:txBody>
      </p:sp>
      <p:sp>
        <p:nvSpPr>
          <p:cNvPr id="12301" name="Text Box 13"/>
          <p:cNvSpPr txBox="1">
            <a:spLocks noChangeArrowheads="1"/>
          </p:cNvSpPr>
          <p:nvPr/>
        </p:nvSpPr>
        <p:spPr bwMode="auto">
          <a:xfrm>
            <a:off x="152400" y="4953000"/>
            <a:ext cx="8839200" cy="923330"/>
          </a:xfrm>
          <a:prstGeom prst="rect">
            <a:avLst/>
          </a:prstGeom>
          <a:noFill/>
          <a:ln w="9525" algn="ctr">
            <a:noFill/>
            <a:miter lim="800000"/>
            <a:headEnd/>
            <a:tailEnd/>
          </a:ln>
          <a:effectLst/>
        </p:spPr>
        <p:txBody>
          <a:bodyPr>
            <a:spAutoFit/>
          </a:bodyPr>
          <a:lstStyle/>
          <a:p>
            <a:r>
              <a:rPr lang="en-US" dirty="0">
                <a:latin typeface="Tahoma" pitchFamily="34" charset="0"/>
              </a:rPr>
              <a:t>“Amorphous” means “formless” or “shapeless” but amorphous materials still have short-range order.  The appropriate definition of “amorphous” for us is “lacking a distinct crystalline structure.” </a:t>
            </a:r>
          </a:p>
        </p:txBody>
      </p:sp>
      <p:sp>
        <p:nvSpPr>
          <p:cNvPr id="12302" name="Oval 14"/>
          <p:cNvSpPr>
            <a:spLocks noChangeArrowheads="1"/>
          </p:cNvSpPr>
          <p:nvPr/>
        </p:nvSpPr>
        <p:spPr bwMode="auto">
          <a:xfrm>
            <a:off x="6781800" y="3238500"/>
            <a:ext cx="457200" cy="457200"/>
          </a:xfrm>
          <a:prstGeom prst="ellipse">
            <a:avLst/>
          </a:prstGeom>
          <a:solidFill>
            <a:srgbClr val="FF99CC">
              <a:alpha val="25000"/>
            </a:srgbClr>
          </a:solidFill>
          <a:ln w="19050" algn="ctr">
            <a:solidFill>
              <a:srgbClr val="800000"/>
            </a:solidFill>
            <a:round/>
            <a:headEnd/>
            <a:tailEnd/>
          </a:ln>
          <a:effectLst/>
        </p:spPr>
        <p:txBody>
          <a:bodyPr wrap="none" anchor="ctr">
            <a:spAutoFit/>
          </a:bodyPr>
          <a:lstStyle/>
          <a:p>
            <a:endParaRPr lang="en-US"/>
          </a:p>
        </p:txBody>
      </p:sp>
      <p:sp>
        <p:nvSpPr>
          <p:cNvPr id="12303" name="Oval 15"/>
          <p:cNvSpPr>
            <a:spLocks noChangeArrowheads="1"/>
          </p:cNvSpPr>
          <p:nvPr/>
        </p:nvSpPr>
        <p:spPr bwMode="auto">
          <a:xfrm>
            <a:off x="7683500" y="3213100"/>
            <a:ext cx="457200" cy="457200"/>
          </a:xfrm>
          <a:prstGeom prst="ellipse">
            <a:avLst/>
          </a:prstGeom>
          <a:solidFill>
            <a:srgbClr val="FF99CC">
              <a:alpha val="25000"/>
            </a:srgbClr>
          </a:solidFill>
          <a:ln w="19050" algn="ctr">
            <a:solidFill>
              <a:srgbClr val="800000"/>
            </a:solidFill>
            <a:round/>
            <a:headEnd/>
            <a:tailEnd/>
          </a:ln>
          <a:effectLst/>
        </p:spPr>
        <p:txBody>
          <a:bodyPr wrap="none" anchor="ctr">
            <a:spAutoFit/>
          </a:bodyPr>
          <a:lstStyle/>
          <a:p>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0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9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2303"/>
                                        </p:tgtEl>
                                        <p:attrNameLst>
                                          <p:attrName>style.visibility</p:attrName>
                                        </p:attrNameLst>
                                      </p:cBhvr>
                                      <p:to>
                                        <p:strVal val="visible"/>
                                      </p:to>
                                    </p:set>
                                    <p:anim calcmode="lin" valueType="num">
                                      <p:cBhvr>
                                        <p:cTn id="19" dur="500" fill="hold"/>
                                        <p:tgtEl>
                                          <p:spTgt spid="12303"/>
                                        </p:tgtEl>
                                        <p:attrNameLst>
                                          <p:attrName>ppt_w</p:attrName>
                                        </p:attrNameLst>
                                      </p:cBhvr>
                                      <p:tavLst>
                                        <p:tav tm="0">
                                          <p:val>
                                            <p:fltVal val="0"/>
                                          </p:val>
                                        </p:tav>
                                        <p:tav tm="100000">
                                          <p:val>
                                            <p:strVal val="#ppt_w"/>
                                          </p:val>
                                        </p:tav>
                                      </p:tavLst>
                                    </p:anim>
                                    <p:anim calcmode="lin" valueType="num">
                                      <p:cBhvr>
                                        <p:cTn id="20" dur="500" fill="hold"/>
                                        <p:tgtEl>
                                          <p:spTgt spid="12303"/>
                                        </p:tgtEl>
                                        <p:attrNameLst>
                                          <p:attrName>ppt_h</p:attrName>
                                        </p:attrNameLst>
                                      </p:cBhvr>
                                      <p:tavLst>
                                        <p:tav tm="0">
                                          <p:val>
                                            <p:fltVal val="0"/>
                                          </p:val>
                                        </p:tav>
                                        <p:tav tm="100000">
                                          <p:val>
                                            <p:strVal val="#ppt_h"/>
                                          </p:val>
                                        </p:tav>
                                      </p:tavLst>
                                    </p:anim>
                                  </p:childTnLst>
                                </p:cTn>
                              </p:par>
                              <p:par>
                                <p:cTn id="21" presetID="23" presetClass="entr" presetSubtype="16" fill="hold" grpId="0" nodeType="withEffect">
                                  <p:stCondLst>
                                    <p:cond delay="0"/>
                                  </p:stCondLst>
                                  <p:childTnLst>
                                    <p:set>
                                      <p:cBhvr>
                                        <p:cTn id="22" dur="1" fill="hold">
                                          <p:stCondLst>
                                            <p:cond delay="0"/>
                                          </p:stCondLst>
                                        </p:cTn>
                                        <p:tgtEl>
                                          <p:spTgt spid="12302"/>
                                        </p:tgtEl>
                                        <p:attrNameLst>
                                          <p:attrName>style.visibility</p:attrName>
                                        </p:attrNameLst>
                                      </p:cBhvr>
                                      <p:to>
                                        <p:strVal val="visible"/>
                                      </p:to>
                                    </p:set>
                                    <p:anim calcmode="lin" valueType="num">
                                      <p:cBhvr>
                                        <p:cTn id="23" dur="500" fill="hold"/>
                                        <p:tgtEl>
                                          <p:spTgt spid="12302"/>
                                        </p:tgtEl>
                                        <p:attrNameLst>
                                          <p:attrName>ppt_w</p:attrName>
                                        </p:attrNameLst>
                                      </p:cBhvr>
                                      <p:tavLst>
                                        <p:tav tm="0">
                                          <p:val>
                                            <p:fltVal val="0"/>
                                          </p:val>
                                        </p:tav>
                                        <p:tav tm="100000">
                                          <p:val>
                                            <p:strVal val="#ppt_w"/>
                                          </p:val>
                                        </p:tav>
                                      </p:tavLst>
                                    </p:anim>
                                    <p:anim calcmode="lin" valueType="num">
                                      <p:cBhvr>
                                        <p:cTn id="24" dur="500" fill="hold"/>
                                        <p:tgtEl>
                                          <p:spTgt spid="12302"/>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3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7" grpId="0"/>
      <p:bldP spid="12298" grpId="0" animBg="1"/>
      <p:bldP spid="12299" grpId="0" animBg="1"/>
      <p:bldP spid="12300" grpId="0"/>
      <p:bldP spid="12301" grpId="0"/>
      <p:bldP spid="12302" grpId="0" animBg="1"/>
      <p:bldP spid="12303" grpId="0" animBg="1"/>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2" name="Picture 4"/>
          <p:cNvPicPr>
            <a:picLocks noChangeAspect="1" noChangeArrowheads="1"/>
          </p:cNvPicPr>
          <p:nvPr/>
        </p:nvPicPr>
        <p:blipFill>
          <a:blip r:embed="rId2"/>
          <a:srcRect/>
          <a:stretch>
            <a:fillRect/>
          </a:stretch>
        </p:blipFill>
        <p:spPr bwMode="auto">
          <a:xfrm>
            <a:off x="1828800" y="1397000"/>
            <a:ext cx="5638800" cy="3860800"/>
          </a:xfrm>
          <a:prstGeom prst="rect">
            <a:avLst/>
          </a:prstGeom>
          <a:noFill/>
        </p:spPr>
      </p:pic>
      <p:sp>
        <p:nvSpPr>
          <p:cNvPr id="68613" name="Text Box 5"/>
          <p:cNvSpPr txBox="1">
            <a:spLocks noChangeArrowheads="1"/>
          </p:cNvSpPr>
          <p:nvPr/>
        </p:nvSpPr>
        <p:spPr bwMode="auto">
          <a:xfrm>
            <a:off x="152400" y="457200"/>
            <a:ext cx="8839200" cy="495300"/>
          </a:xfrm>
          <a:prstGeom prst="rect">
            <a:avLst/>
          </a:prstGeom>
          <a:solidFill>
            <a:srgbClr val="99CCFF"/>
          </a:solidFill>
          <a:ln w="38100" algn="ctr">
            <a:solidFill>
              <a:srgbClr val="0000FF"/>
            </a:solidFill>
            <a:miter lim="800000"/>
            <a:headEnd/>
            <a:tailEnd/>
          </a:ln>
          <a:effectLst/>
        </p:spPr>
        <p:txBody>
          <a:bodyPr>
            <a:spAutoFit/>
          </a:bodyPr>
          <a:lstStyle/>
          <a:p>
            <a:pPr algn="ctr"/>
            <a:r>
              <a:rPr lang="en-US">
                <a:solidFill>
                  <a:srgbClr val="0000CC"/>
                </a:solidFill>
              </a:rPr>
              <a:t>Defects in Crystals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Text Box 4"/>
          <p:cNvSpPr txBox="1">
            <a:spLocks noChangeArrowheads="1"/>
          </p:cNvSpPr>
          <p:nvPr/>
        </p:nvSpPr>
        <p:spPr bwMode="auto">
          <a:xfrm>
            <a:off x="152400" y="381000"/>
            <a:ext cx="8839200" cy="822325"/>
          </a:xfrm>
          <a:prstGeom prst="rect">
            <a:avLst/>
          </a:prstGeom>
          <a:noFill/>
          <a:ln w="9525" algn="ctr">
            <a:noFill/>
            <a:miter lim="800000"/>
            <a:headEnd/>
            <a:tailEnd/>
          </a:ln>
          <a:effectLst/>
        </p:spPr>
        <p:txBody>
          <a:bodyPr>
            <a:spAutoFit/>
          </a:bodyPr>
          <a:lstStyle/>
          <a:p>
            <a:r>
              <a:rPr lang="en-US">
                <a:latin typeface="Tahoma" pitchFamily="34" charset="0"/>
              </a:rPr>
              <a:t>It's easy to think of real crystals as having these ideal structures.   </a:t>
            </a:r>
          </a:p>
        </p:txBody>
      </p:sp>
      <p:sp>
        <p:nvSpPr>
          <p:cNvPr id="13317" name="Text Box 5"/>
          <p:cNvSpPr txBox="1">
            <a:spLocks noChangeArrowheads="1"/>
          </p:cNvSpPr>
          <p:nvPr/>
        </p:nvSpPr>
        <p:spPr bwMode="auto">
          <a:xfrm>
            <a:off x="152400" y="1524000"/>
            <a:ext cx="8839200" cy="822325"/>
          </a:xfrm>
          <a:prstGeom prst="rect">
            <a:avLst/>
          </a:prstGeom>
          <a:noFill/>
          <a:ln w="9525" algn="ctr">
            <a:noFill/>
            <a:miter lim="800000"/>
            <a:headEnd/>
            <a:tailEnd/>
          </a:ln>
          <a:effectLst/>
        </p:spPr>
        <p:txBody>
          <a:bodyPr>
            <a:spAutoFit/>
          </a:bodyPr>
          <a:lstStyle/>
          <a:p>
            <a:r>
              <a:rPr lang="en-US">
                <a:latin typeface="Tahoma" pitchFamily="34" charset="0"/>
              </a:rPr>
              <a:t>In fact, no crystals are perfect; all crystals have defects.  Crystals can have:  </a:t>
            </a:r>
          </a:p>
        </p:txBody>
      </p:sp>
      <p:sp>
        <p:nvSpPr>
          <p:cNvPr id="13318" name="Text Box 6"/>
          <p:cNvSpPr txBox="1">
            <a:spLocks noChangeArrowheads="1"/>
          </p:cNvSpPr>
          <p:nvPr/>
        </p:nvSpPr>
        <p:spPr bwMode="auto">
          <a:xfrm>
            <a:off x="914400" y="2590800"/>
            <a:ext cx="79248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The "right" atoms in "wrong" places.  </a:t>
            </a:r>
          </a:p>
        </p:txBody>
      </p:sp>
      <p:sp>
        <p:nvSpPr>
          <p:cNvPr id="13319" name="Text Box 7"/>
          <p:cNvSpPr txBox="1">
            <a:spLocks noChangeArrowheads="1"/>
          </p:cNvSpPr>
          <p:nvPr/>
        </p:nvSpPr>
        <p:spPr bwMode="auto">
          <a:xfrm>
            <a:off x="914400" y="3200400"/>
            <a:ext cx="79248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"Wrong" atoms in "right" or "wrong" places. </a:t>
            </a:r>
          </a:p>
        </p:txBody>
      </p:sp>
      <p:sp>
        <p:nvSpPr>
          <p:cNvPr id="13320" name="Text Box 8"/>
          <p:cNvSpPr txBox="1">
            <a:spLocks noChangeArrowheads="1"/>
          </p:cNvSpPr>
          <p:nvPr/>
        </p:nvSpPr>
        <p:spPr bwMode="auto">
          <a:xfrm>
            <a:off x="914400" y="3810000"/>
            <a:ext cx="79248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Missing atoms.</a:t>
            </a:r>
          </a:p>
        </p:txBody>
      </p:sp>
      <p:sp>
        <p:nvSpPr>
          <p:cNvPr id="13321" name="Text Box 9"/>
          <p:cNvSpPr txBox="1">
            <a:spLocks noChangeArrowheads="1"/>
          </p:cNvSpPr>
          <p:nvPr/>
        </p:nvSpPr>
        <p:spPr bwMode="auto">
          <a:xfrm>
            <a:off x="914400" y="4419600"/>
            <a:ext cx="79248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Etc.</a:t>
            </a:r>
          </a:p>
        </p:txBody>
      </p:sp>
      <p:sp>
        <p:nvSpPr>
          <p:cNvPr id="13322" name="Text Box 10"/>
          <p:cNvSpPr txBox="1">
            <a:spLocks noChangeArrowheads="1"/>
          </p:cNvSpPr>
          <p:nvPr/>
        </p:nvSpPr>
        <p:spPr bwMode="auto">
          <a:xfrm>
            <a:off x="152400" y="5181600"/>
            <a:ext cx="8839200" cy="457200"/>
          </a:xfrm>
          <a:prstGeom prst="rect">
            <a:avLst/>
          </a:prstGeom>
          <a:noFill/>
          <a:ln w="9525" algn="ctr">
            <a:noFill/>
            <a:miter lim="800000"/>
            <a:headEnd/>
            <a:tailEnd/>
          </a:ln>
          <a:effectLst/>
        </p:spPr>
        <p:txBody>
          <a:bodyPr>
            <a:spAutoFit/>
          </a:bodyPr>
          <a:lstStyle/>
          <a:p>
            <a:r>
              <a:rPr lang="en-US">
                <a:latin typeface="Tahoma" pitchFamily="34" charset="0"/>
              </a:rPr>
              <a:t>One type of defect is the </a:t>
            </a:r>
            <a:r>
              <a:rPr lang="en-US" b="1" i="1">
                <a:latin typeface="Tahoma" pitchFamily="34" charset="0"/>
              </a:rPr>
              <a:t>point defect</a:t>
            </a:r>
            <a:r>
              <a:rPr lang="en-US">
                <a:latin typeface="Tahoma" pitchFamily="34" charset="0"/>
              </a:rPr>
              <a:t>.  </a:t>
            </a:r>
          </a:p>
        </p:txBody>
      </p:sp>
      <p:grpSp>
        <p:nvGrpSpPr>
          <p:cNvPr id="2" name="Group 49"/>
          <p:cNvGrpSpPr>
            <a:grpSpLocks/>
          </p:cNvGrpSpPr>
          <p:nvPr/>
        </p:nvGrpSpPr>
        <p:grpSpPr bwMode="auto">
          <a:xfrm>
            <a:off x="6248400" y="2565400"/>
            <a:ext cx="609600" cy="609600"/>
            <a:chOff x="4080" y="1584"/>
            <a:chExt cx="384" cy="384"/>
          </a:xfrm>
        </p:grpSpPr>
        <p:sp>
          <p:nvSpPr>
            <p:cNvPr id="13341" name="Rectangle 29"/>
            <p:cNvSpPr>
              <a:spLocks noChangeArrowheads="1"/>
            </p:cNvSpPr>
            <p:nvPr/>
          </p:nvSpPr>
          <p:spPr bwMode="auto">
            <a:xfrm>
              <a:off x="4080" y="1584"/>
              <a:ext cx="384" cy="384"/>
            </a:xfrm>
            <a:prstGeom prst="rect">
              <a:avLst/>
            </a:prstGeom>
            <a:solidFill>
              <a:srgbClr val="CCECFF"/>
            </a:solidFill>
            <a:ln w="9525" algn="ctr">
              <a:noFill/>
              <a:miter lim="800000"/>
              <a:headEnd/>
              <a:tailEnd/>
            </a:ln>
            <a:effectLst/>
          </p:spPr>
          <p:txBody>
            <a:bodyPr wrap="none" anchor="ctr">
              <a:spAutoFit/>
            </a:bodyPr>
            <a:lstStyle/>
            <a:p>
              <a:endParaRPr lang="en-US"/>
            </a:p>
          </p:txBody>
        </p:sp>
        <p:grpSp>
          <p:nvGrpSpPr>
            <p:cNvPr id="3" name="Group 11"/>
            <p:cNvGrpSpPr>
              <a:grpSpLocks noChangeAspect="1"/>
            </p:cNvGrpSpPr>
            <p:nvPr/>
          </p:nvGrpSpPr>
          <p:grpSpPr bwMode="auto">
            <a:xfrm>
              <a:off x="4080" y="1584"/>
              <a:ext cx="374" cy="374"/>
              <a:chOff x="2496" y="2448"/>
              <a:chExt cx="1488" cy="1488"/>
            </a:xfrm>
          </p:grpSpPr>
          <p:sp>
            <p:nvSpPr>
              <p:cNvPr id="13324" name="Oval 12"/>
              <p:cNvSpPr>
                <a:spLocks noChangeAspect="1" noChangeArrowheads="1"/>
              </p:cNvSpPr>
              <p:nvPr/>
            </p:nvSpPr>
            <p:spPr bwMode="auto">
              <a:xfrm>
                <a:off x="2496"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25" name="Oval 13"/>
              <p:cNvSpPr>
                <a:spLocks noChangeAspect="1" noChangeArrowheads="1"/>
              </p:cNvSpPr>
              <p:nvPr/>
            </p:nvSpPr>
            <p:spPr bwMode="auto">
              <a:xfrm>
                <a:off x="2880"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26" name="Oval 14"/>
              <p:cNvSpPr>
                <a:spLocks noChangeAspect="1" noChangeArrowheads="1"/>
              </p:cNvSpPr>
              <p:nvPr/>
            </p:nvSpPr>
            <p:spPr bwMode="auto">
              <a:xfrm>
                <a:off x="3264"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27" name="Oval 15"/>
              <p:cNvSpPr>
                <a:spLocks noChangeAspect="1" noChangeArrowheads="1"/>
              </p:cNvSpPr>
              <p:nvPr/>
            </p:nvSpPr>
            <p:spPr bwMode="auto">
              <a:xfrm>
                <a:off x="3648"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28" name="Oval 16"/>
              <p:cNvSpPr>
                <a:spLocks noChangeAspect="1" noChangeArrowheads="1"/>
              </p:cNvSpPr>
              <p:nvPr/>
            </p:nvSpPr>
            <p:spPr bwMode="auto">
              <a:xfrm>
                <a:off x="2496"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29" name="Oval 17"/>
              <p:cNvSpPr>
                <a:spLocks noChangeAspect="1" noChangeArrowheads="1"/>
              </p:cNvSpPr>
              <p:nvPr/>
            </p:nvSpPr>
            <p:spPr bwMode="auto">
              <a:xfrm>
                <a:off x="3264"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0" name="Oval 18"/>
              <p:cNvSpPr>
                <a:spLocks noChangeAspect="1" noChangeArrowheads="1"/>
              </p:cNvSpPr>
              <p:nvPr/>
            </p:nvSpPr>
            <p:spPr bwMode="auto">
              <a:xfrm>
                <a:off x="3648"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1" name="Oval 19"/>
              <p:cNvSpPr>
                <a:spLocks noChangeAspect="1" noChangeArrowheads="1"/>
              </p:cNvSpPr>
              <p:nvPr/>
            </p:nvSpPr>
            <p:spPr bwMode="auto">
              <a:xfrm>
                <a:off x="2496" y="321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2" name="Oval 20"/>
              <p:cNvSpPr>
                <a:spLocks noChangeAspect="1" noChangeArrowheads="1"/>
              </p:cNvSpPr>
              <p:nvPr/>
            </p:nvSpPr>
            <p:spPr bwMode="auto">
              <a:xfrm>
                <a:off x="2880" y="321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3" name="Oval 21"/>
              <p:cNvSpPr>
                <a:spLocks noChangeAspect="1" noChangeArrowheads="1"/>
              </p:cNvSpPr>
              <p:nvPr/>
            </p:nvSpPr>
            <p:spPr bwMode="auto">
              <a:xfrm>
                <a:off x="3216" y="316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4" name="Oval 22"/>
              <p:cNvSpPr>
                <a:spLocks noChangeAspect="1" noChangeArrowheads="1"/>
              </p:cNvSpPr>
              <p:nvPr/>
            </p:nvSpPr>
            <p:spPr bwMode="auto">
              <a:xfrm>
                <a:off x="3696" y="316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5" name="Oval 23"/>
              <p:cNvSpPr>
                <a:spLocks noChangeAspect="1" noChangeArrowheads="1"/>
              </p:cNvSpPr>
              <p:nvPr/>
            </p:nvSpPr>
            <p:spPr bwMode="auto">
              <a:xfrm>
                <a:off x="2496" y="360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6" name="Oval 24"/>
              <p:cNvSpPr>
                <a:spLocks noChangeAspect="1" noChangeArrowheads="1"/>
              </p:cNvSpPr>
              <p:nvPr/>
            </p:nvSpPr>
            <p:spPr bwMode="auto">
              <a:xfrm>
                <a:off x="2880" y="360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7" name="Oval 25"/>
              <p:cNvSpPr>
                <a:spLocks noChangeAspect="1" noChangeArrowheads="1"/>
              </p:cNvSpPr>
              <p:nvPr/>
            </p:nvSpPr>
            <p:spPr bwMode="auto">
              <a:xfrm>
                <a:off x="3216" y="36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8" name="Oval 26"/>
              <p:cNvSpPr>
                <a:spLocks noChangeAspect="1" noChangeArrowheads="1"/>
              </p:cNvSpPr>
              <p:nvPr/>
            </p:nvSpPr>
            <p:spPr bwMode="auto">
              <a:xfrm>
                <a:off x="3696" y="36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39" name="Oval 27"/>
              <p:cNvSpPr>
                <a:spLocks noChangeAspect="1" noChangeArrowheads="1"/>
              </p:cNvSpPr>
              <p:nvPr/>
            </p:nvSpPr>
            <p:spPr bwMode="auto">
              <a:xfrm>
                <a:off x="2880"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0" name="Oval 28"/>
              <p:cNvSpPr>
                <a:spLocks noChangeAspect="1" noChangeArrowheads="1"/>
              </p:cNvSpPr>
              <p:nvPr/>
            </p:nvSpPr>
            <p:spPr bwMode="auto">
              <a:xfrm>
                <a:off x="3456" y="34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grpSp>
      <p:grpSp>
        <p:nvGrpSpPr>
          <p:cNvPr id="4" name="Group 50"/>
          <p:cNvGrpSpPr>
            <a:grpSpLocks/>
          </p:cNvGrpSpPr>
          <p:nvPr/>
        </p:nvGrpSpPr>
        <p:grpSpPr bwMode="auto">
          <a:xfrm>
            <a:off x="7226300" y="3149600"/>
            <a:ext cx="609600" cy="609600"/>
            <a:chOff x="4664" y="1968"/>
            <a:chExt cx="384" cy="384"/>
          </a:xfrm>
        </p:grpSpPr>
        <p:sp>
          <p:nvSpPr>
            <p:cNvPr id="13360" name="Rectangle 48"/>
            <p:cNvSpPr>
              <a:spLocks noChangeArrowheads="1"/>
            </p:cNvSpPr>
            <p:nvPr/>
          </p:nvSpPr>
          <p:spPr bwMode="auto">
            <a:xfrm>
              <a:off x="4664" y="1968"/>
              <a:ext cx="384" cy="384"/>
            </a:xfrm>
            <a:prstGeom prst="rect">
              <a:avLst/>
            </a:prstGeom>
            <a:solidFill>
              <a:srgbClr val="CCECFF"/>
            </a:solidFill>
            <a:ln w="9525" algn="ctr">
              <a:noFill/>
              <a:miter lim="800000"/>
              <a:headEnd/>
              <a:tailEnd/>
            </a:ln>
            <a:effectLst/>
          </p:spPr>
          <p:txBody>
            <a:bodyPr wrap="none" anchor="ctr">
              <a:spAutoFit/>
            </a:bodyPr>
            <a:lstStyle/>
            <a:p>
              <a:endParaRPr lang="en-US"/>
            </a:p>
          </p:txBody>
        </p:sp>
        <p:grpSp>
          <p:nvGrpSpPr>
            <p:cNvPr id="5" name="Group 30"/>
            <p:cNvGrpSpPr>
              <a:grpSpLocks noChangeAspect="1"/>
            </p:cNvGrpSpPr>
            <p:nvPr/>
          </p:nvGrpSpPr>
          <p:grpSpPr bwMode="auto">
            <a:xfrm>
              <a:off x="4666" y="1968"/>
              <a:ext cx="374" cy="374"/>
              <a:chOff x="3408" y="1440"/>
              <a:chExt cx="1488" cy="1488"/>
            </a:xfrm>
          </p:grpSpPr>
          <p:sp>
            <p:nvSpPr>
              <p:cNvPr id="13343" name="Oval 31"/>
              <p:cNvSpPr>
                <a:spLocks noChangeAspect="1" noChangeArrowheads="1"/>
              </p:cNvSpPr>
              <p:nvPr/>
            </p:nvSpPr>
            <p:spPr bwMode="auto">
              <a:xfrm>
                <a:off x="3408"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4" name="Oval 32"/>
              <p:cNvSpPr>
                <a:spLocks noChangeAspect="1" noChangeArrowheads="1"/>
              </p:cNvSpPr>
              <p:nvPr/>
            </p:nvSpPr>
            <p:spPr bwMode="auto">
              <a:xfrm>
                <a:off x="3792"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5" name="Oval 33"/>
              <p:cNvSpPr>
                <a:spLocks noChangeAspect="1" noChangeArrowheads="1"/>
              </p:cNvSpPr>
              <p:nvPr/>
            </p:nvSpPr>
            <p:spPr bwMode="auto">
              <a:xfrm>
                <a:off x="4176"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6" name="Oval 34"/>
              <p:cNvSpPr>
                <a:spLocks noChangeAspect="1" noChangeArrowheads="1"/>
              </p:cNvSpPr>
              <p:nvPr/>
            </p:nvSpPr>
            <p:spPr bwMode="auto">
              <a:xfrm>
                <a:off x="4560"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7" name="Oval 35"/>
              <p:cNvSpPr>
                <a:spLocks noChangeAspect="1" noChangeArrowheads="1"/>
              </p:cNvSpPr>
              <p:nvPr/>
            </p:nvSpPr>
            <p:spPr bwMode="auto">
              <a:xfrm>
                <a:off x="3408"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8" name="Oval 36"/>
              <p:cNvSpPr>
                <a:spLocks noChangeAspect="1" noChangeArrowheads="1"/>
              </p:cNvSpPr>
              <p:nvPr/>
            </p:nvSpPr>
            <p:spPr bwMode="auto">
              <a:xfrm>
                <a:off x="4176"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49" name="Oval 37"/>
              <p:cNvSpPr>
                <a:spLocks noChangeAspect="1" noChangeArrowheads="1"/>
              </p:cNvSpPr>
              <p:nvPr/>
            </p:nvSpPr>
            <p:spPr bwMode="auto">
              <a:xfrm>
                <a:off x="4560"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0" name="Oval 38"/>
              <p:cNvSpPr>
                <a:spLocks noChangeAspect="1" noChangeArrowheads="1"/>
              </p:cNvSpPr>
              <p:nvPr/>
            </p:nvSpPr>
            <p:spPr bwMode="auto">
              <a:xfrm>
                <a:off x="3408"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1" name="Oval 39"/>
              <p:cNvSpPr>
                <a:spLocks noChangeAspect="1" noChangeArrowheads="1"/>
              </p:cNvSpPr>
              <p:nvPr/>
            </p:nvSpPr>
            <p:spPr bwMode="auto">
              <a:xfrm>
                <a:off x="3792"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2" name="Oval 40"/>
              <p:cNvSpPr>
                <a:spLocks noChangeAspect="1" noChangeArrowheads="1"/>
              </p:cNvSpPr>
              <p:nvPr/>
            </p:nvSpPr>
            <p:spPr bwMode="auto">
              <a:xfrm>
                <a:off x="4128" y="216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3" name="Oval 41"/>
              <p:cNvSpPr>
                <a:spLocks noChangeAspect="1" noChangeArrowheads="1"/>
              </p:cNvSpPr>
              <p:nvPr/>
            </p:nvSpPr>
            <p:spPr bwMode="auto">
              <a:xfrm>
                <a:off x="4608" y="216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4" name="Oval 42"/>
              <p:cNvSpPr>
                <a:spLocks noChangeAspect="1" noChangeArrowheads="1"/>
              </p:cNvSpPr>
              <p:nvPr/>
            </p:nvSpPr>
            <p:spPr bwMode="auto">
              <a:xfrm>
                <a:off x="3408"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5" name="Oval 43"/>
              <p:cNvSpPr>
                <a:spLocks noChangeAspect="1" noChangeArrowheads="1"/>
              </p:cNvSpPr>
              <p:nvPr/>
            </p:nvSpPr>
            <p:spPr bwMode="auto">
              <a:xfrm>
                <a:off x="3792"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6" name="Oval 44"/>
              <p:cNvSpPr>
                <a:spLocks noChangeAspect="1" noChangeArrowheads="1"/>
              </p:cNvSpPr>
              <p:nvPr/>
            </p:nvSpPr>
            <p:spPr bwMode="auto">
              <a:xfrm>
                <a:off x="4128" y="26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7" name="Oval 45"/>
              <p:cNvSpPr>
                <a:spLocks noChangeAspect="1" noChangeArrowheads="1"/>
              </p:cNvSpPr>
              <p:nvPr/>
            </p:nvSpPr>
            <p:spPr bwMode="auto">
              <a:xfrm>
                <a:off x="4608" y="26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8" name="Oval 46"/>
              <p:cNvSpPr>
                <a:spLocks noChangeAspect="1" noChangeArrowheads="1"/>
              </p:cNvSpPr>
              <p:nvPr/>
            </p:nvSpPr>
            <p:spPr bwMode="auto">
              <a:xfrm>
                <a:off x="3792"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59" name="Oval 47"/>
              <p:cNvSpPr>
                <a:spLocks noChangeAspect="1" noChangeArrowheads="1"/>
              </p:cNvSpPr>
              <p:nvPr/>
            </p:nvSpPr>
            <p:spPr bwMode="auto">
              <a:xfrm>
                <a:off x="4368" y="2400"/>
                <a:ext cx="288" cy="288"/>
              </a:xfrm>
              <a:prstGeom prst="ellipse">
                <a:avLst/>
              </a:prstGeom>
              <a:gradFill rotWithShape="1">
                <a:gsLst>
                  <a:gs pos="0">
                    <a:srgbClr val="CC0099"/>
                  </a:gs>
                  <a:gs pos="100000">
                    <a:srgbClr val="CC0099">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grpSp>
      <p:grpSp>
        <p:nvGrpSpPr>
          <p:cNvPr id="6" name="Group 87"/>
          <p:cNvGrpSpPr>
            <a:grpSpLocks/>
          </p:cNvGrpSpPr>
          <p:nvPr/>
        </p:nvGrpSpPr>
        <p:grpSpPr bwMode="auto">
          <a:xfrm>
            <a:off x="3352800" y="3771900"/>
            <a:ext cx="609600" cy="609600"/>
            <a:chOff x="2784" y="2640"/>
            <a:chExt cx="384" cy="384"/>
          </a:xfrm>
        </p:grpSpPr>
        <p:sp>
          <p:nvSpPr>
            <p:cNvPr id="13380" name="Rectangle 68"/>
            <p:cNvSpPr>
              <a:spLocks noChangeArrowheads="1"/>
            </p:cNvSpPr>
            <p:nvPr/>
          </p:nvSpPr>
          <p:spPr bwMode="auto">
            <a:xfrm>
              <a:off x="2784" y="2640"/>
              <a:ext cx="384" cy="384"/>
            </a:xfrm>
            <a:prstGeom prst="rect">
              <a:avLst/>
            </a:prstGeom>
            <a:solidFill>
              <a:srgbClr val="CCECFF"/>
            </a:solidFill>
            <a:ln w="9525" algn="ctr">
              <a:noFill/>
              <a:miter lim="800000"/>
              <a:headEnd/>
              <a:tailEnd/>
            </a:ln>
            <a:effectLst/>
          </p:spPr>
          <p:txBody>
            <a:bodyPr wrap="none" anchor="ctr">
              <a:spAutoFit/>
            </a:bodyPr>
            <a:lstStyle/>
            <a:p>
              <a:endParaRPr lang="en-US"/>
            </a:p>
          </p:txBody>
        </p:sp>
        <p:grpSp>
          <p:nvGrpSpPr>
            <p:cNvPr id="7" name="Group 51"/>
            <p:cNvGrpSpPr>
              <a:grpSpLocks noChangeAspect="1"/>
            </p:cNvGrpSpPr>
            <p:nvPr/>
          </p:nvGrpSpPr>
          <p:grpSpPr bwMode="auto">
            <a:xfrm>
              <a:off x="2784" y="2640"/>
              <a:ext cx="363" cy="363"/>
              <a:chOff x="2496" y="2640"/>
              <a:chExt cx="1440" cy="1440"/>
            </a:xfrm>
          </p:grpSpPr>
          <p:sp>
            <p:nvSpPr>
              <p:cNvPr id="13364" name="Oval 52"/>
              <p:cNvSpPr>
                <a:spLocks noChangeAspect="1" noChangeArrowheads="1"/>
              </p:cNvSpPr>
              <p:nvPr/>
            </p:nvSpPr>
            <p:spPr bwMode="auto">
              <a:xfrm>
                <a:off x="2532" y="267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65" name="Oval 53"/>
              <p:cNvSpPr>
                <a:spLocks noChangeAspect="1" noChangeArrowheads="1"/>
              </p:cNvSpPr>
              <p:nvPr/>
            </p:nvSpPr>
            <p:spPr bwMode="auto">
              <a:xfrm>
                <a:off x="2880" y="273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66" name="Oval 54"/>
              <p:cNvSpPr>
                <a:spLocks noChangeAspect="1" noChangeArrowheads="1"/>
              </p:cNvSpPr>
              <p:nvPr/>
            </p:nvSpPr>
            <p:spPr bwMode="auto">
              <a:xfrm>
                <a:off x="3228" y="267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67" name="Oval 55"/>
              <p:cNvSpPr>
                <a:spLocks noChangeAspect="1" noChangeArrowheads="1"/>
              </p:cNvSpPr>
              <p:nvPr/>
            </p:nvSpPr>
            <p:spPr bwMode="auto">
              <a:xfrm>
                <a:off x="3648" y="26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68" name="Oval 56"/>
              <p:cNvSpPr>
                <a:spLocks noChangeAspect="1" noChangeArrowheads="1"/>
              </p:cNvSpPr>
              <p:nvPr/>
            </p:nvSpPr>
            <p:spPr bwMode="auto">
              <a:xfrm>
                <a:off x="2592" y="30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69" name="Oval 57"/>
              <p:cNvSpPr>
                <a:spLocks noChangeAspect="1" noChangeArrowheads="1"/>
              </p:cNvSpPr>
              <p:nvPr/>
            </p:nvSpPr>
            <p:spPr bwMode="auto">
              <a:xfrm>
                <a:off x="3168" y="30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0" name="Oval 58"/>
              <p:cNvSpPr>
                <a:spLocks noChangeAspect="1" noChangeArrowheads="1"/>
              </p:cNvSpPr>
              <p:nvPr/>
            </p:nvSpPr>
            <p:spPr bwMode="auto">
              <a:xfrm>
                <a:off x="3648" y="30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1" name="Oval 59"/>
              <p:cNvSpPr>
                <a:spLocks noChangeAspect="1" noChangeArrowheads="1"/>
              </p:cNvSpPr>
              <p:nvPr/>
            </p:nvSpPr>
            <p:spPr bwMode="auto">
              <a:xfrm>
                <a:off x="2532" y="33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2" name="Oval 60"/>
              <p:cNvSpPr>
                <a:spLocks noChangeAspect="1" noChangeArrowheads="1"/>
              </p:cNvSpPr>
              <p:nvPr/>
            </p:nvSpPr>
            <p:spPr bwMode="auto">
              <a:xfrm>
                <a:off x="2880" y="331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3" name="Oval 61"/>
              <p:cNvSpPr>
                <a:spLocks noChangeAspect="1" noChangeArrowheads="1"/>
              </p:cNvSpPr>
              <p:nvPr/>
            </p:nvSpPr>
            <p:spPr bwMode="auto">
              <a:xfrm>
                <a:off x="3228" y="33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4" name="Oval 62"/>
              <p:cNvSpPr>
                <a:spLocks noChangeAspect="1" noChangeArrowheads="1"/>
              </p:cNvSpPr>
              <p:nvPr/>
            </p:nvSpPr>
            <p:spPr bwMode="auto">
              <a:xfrm>
                <a:off x="3648" y="34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5" name="Oval 63"/>
              <p:cNvSpPr>
                <a:spLocks noChangeAspect="1" noChangeArrowheads="1"/>
              </p:cNvSpPr>
              <p:nvPr/>
            </p:nvSpPr>
            <p:spPr bwMode="auto">
              <a:xfrm>
                <a:off x="2496"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6" name="Oval 64"/>
              <p:cNvSpPr>
                <a:spLocks noChangeAspect="1" noChangeArrowheads="1"/>
              </p:cNvSpPr>
              <p:nvPr/>
            </p:nvSpPr>
            <p:spPr bwMode="auto">
              <a:xfrm>
                <a:off x="2880"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7" name="Oval 65"/>
              <p:cNvSpPr>
                <a:spLocks noChangeAspect="1" noChangeArrowheads="1"/>
              </p:cNvSpPr>
              <p:nvPr/>
            </p:nvSpPr>
            <p:spPr bwMode="auto">
              <a:xfrm>
                <a:off x="3264"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3378" name="Oval 66"/>
              <p:cNvSpPr>
                <a:spLocks noChangeAspect="1" noChangeArrowheads="1"/>
              </p:cNvSpPr>
              <p:nvPr/>
            </p:nvSpPr>
            <p:spPr bwMode="auto">
              <a:xfrm>
                <a:off x="3648"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grpSp>
      <p:sp>
        <p:nvSpPr>
          <p:cNvPr id="8" name="Footer Placeholder 7"/>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8"/>
                                        </p:tgtEl>
                                        <p:attrNameLst>
                                          <p:attrName>style.visibility</p:attrName>
                                        </p:attrNameLst>
                                      </p:cBhvr>
                                      <p:to>
                                        <p:strVal val="visible"/>
                                      </p:to>
                                    </p:set>
                                  </p:childTnLst>
                                </p:cTn>
                              </p:par>
                              <p:par>
                                <p:cTn id="11" presetID="23" presetClass="entr" presetSubtype="16"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9"/>
                                        </p:tgtEl>
                                        <p:attrNameLst>
                                          <p:attrName>style.visibility</p:attrName>
                                        </p:attrNameLst>
                                      </p:cBhvr>
                                      <p:to>
                                        <p:strVal val="visible"/>
                                      </p:to>
                                    </p:set>
                                  </p:childTnLst>
                                </p:cTn>
                              </p:par>
                              <p:par>
                                <p:cTn id="19" presetID="23" presetClass="entr" presetSubtype="16" fill="hold"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20"/>
                                        </p:tgtEl>
                                        <p:attrNameLst>
                                          <p:attrName>style.visibility</p:attrName>
                                        </p:attrNameLst>
                                      </p:cBhvr>
                                      <p:to>
                                        <p:strVal val="visible"/>
                                      </p:to>
                                    </p:set>
                                  </p:childTnLst>
                                </p:cTn>
                              </p:par>
                              <p:par>
                                <p:cTn id="27" presetID="23" presetClass="entr" presetSubtype="16" fill="hold"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500" fill="hold"/>
                                        <p:tgtEl>
                                          <p:spTgt spid="6"/>
                                        </p:tgtEl>
                                        <p:attrNameLst>
                                          <p:attrName>ppt_w</p:attrName>
                                        </p:attrNameLst>
                                      </p:cBhvr>
                                      <p:tavLst>
                                        <p:tav tm="0">
                                          <p:val>
                                            <p:fltVal val="0"/>
                                          </p:val>
                                        </p:tav>
                                        <p:tav tm="100000">
                                          <p:val>
                                            <p:strVal val="#ppt_w"/>
                                          </p:val>
                                        </p:tav>
                                      </p:tavLst>
                                    </p:anim>
                                    <p:anim calcmode="lin" valueType="num">
                                      <p:cBhvr>
                                        <p:cTn id="30"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3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3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7" grpId="0"/>
      <p:bldP spid="13318" grpId="0"/>
      <p:bldP spid="13319" grpId="0"/>
      <p:bldP spid="13320" grpId="0"/>
      <p:bldP spid="13321" grpId="0"/>
      <p:bldP spid="13322" grpId="0"/>
    </p:bld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8" name="Rectangle 62"/>
          <p:cNvSpPr>
            <a:spLocks noChangeArrowheads="1"/>
          </p:cNvSpPr>
          <p:nvPr/>
        </p:nvSpPr>
        <p:spPr bwMode="auto">
          <a:xfrm>
            <a:off x="4343400" y="4114800"/>
            <a:ext cx="2438400" cy="2438400"/>
          </a:xfrm>
          <a:prstGeom prst="rect">
            <a:avLst/>
          </a:prstGeom>
          <a:solidFill>
            <a:srgbClr val="CCECFF"/>
          </a:solidFill>
          <a:ln w="9525" algn="ctr">
            <a:noFill/>
            <a:miter lim="800000"/>
            <a:headEnd/>
            <a:tailEnd/>
          </a:ln>
          <a:effectLst/>
        </p:spPr>
        <p:txBody>
          <a:bodyPr wrap="none" anchor="ctr">
            <a:spAutoFit/>
          </a:bodyPr>
          <a:lstStyle/>
          <a:p>
            <a:endParaRPr lang="en-US"/>
          </a:p>
        </p:txBody>
      </p:sp>
      <p:sp>
        <p:nvSpPr>
          <p:cNvPr id="14397" name="Rectangle 61"/>
          <p:cNvSpPr>
            <a:spLocks noChangeArrowheads="1"/>
          </p:cNvSpPr>
          <p:nvPr/>
        </p:nvSpPr>
        <p:spPr bwMode="auto">
          <a:xfrm>
            <a:off x="4343400" y="914400"/>
            <a:ext cx="2438400" cy="2438400"/>
          </a:xfrm>
          <a:prstGeom prst="rect">
            <a:avLst/>
          </a:prstGeom>
          <a:solidFill>
            <a:srgbClr val="CCECFF"/>
          </a:solidFill>
          <a:ln w="9525" algn="ctr">
            <a:noFill/>
            <a:miter lim="800000"/>
            <a:headEnd/>
            <a:tailEnd/>
          </a:ln>
          <a:effectLst/>
        </p:spPr>
        <p:txBody>
          <a:bodyPr wrap="none" anchor="ctr">
            <a:spAutoFit/>
          </a:bodyPr>
          <a:lstStyle/>
          <a:p>
            <a:endParaRPr lang="en-US"/>
          </a:p>
        </p:txBody>
      </p:sp>
      <p:sp>
        <p:nvSpPr>
          <p:cNvPr id="14340" name="Text Box 4"/>
          <p:cNvSpPr txBox="1">
            <a:spLocks noChangeArrowheads="1"/>
          </p:cNvSpPr>
          <p:nvPr/>
        </p:nvSpPr>
        <p:spPr bwMode="auto">
          <a:xfrm>
            <a:off x="152400" y="228600"/>
            <a:ext cx="8839200" cy="457200"/>
          </a:xfrm>
          <a:prstGeom prst="rect">
            <a:avLst/>
          </a:prstGeom>
          <a:noFill/>
          <a:ln w="9525" algn="ctr">
            <a:noFill/>
            <a:miter lim="800000"/>
            <a:headEnd/>
            <a:tailEnd/>
          </a:ln>
          <a:effectLst/>
        </p:spPr>
        <p:txBody>
          <a:bodyPr>
            <a:spAutoFit/>
          </a:bodyPr>
          <a:lstStyle/>
          <a:p>
            <a:r>
              <a:rPr lang="en-US">
                <a:latin typeface="Tahoma" pitchFamily="34" charset="0"/>
              </a:rPr>
              <a:t>There are three basic kinds of point defects.  </a:t>
            </a:r>
          </a:p>
        </p:txBody>
      </p:sp>
      <p:sp>
        <p:nvSpPr>
          <p:cNvPr id="14341" name="Text Box 5"/>
          <p:cNvSpPr txBox="1">
            <a:spLocks noChangeArrowheads="1"/>
          </p:cNvSpPr>
          <p:nvPr/>
        </p:nvSpPr>
        <p:spPr bwMode="auto">
          <a:xfrm>
            <a:off x="914400" y="1905000"/>
            <a:ext cx="28194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(1) A vacancy. </a:t>
            </a:r>
          </a:p>
        </p:txBody>
      </p:sp>
      <p:grpSp>
        <p:nvGrpSpPr>
          <p:cNvPr id="2" name="Group 22"/>
          <p:cNvGrpSpPr>
            <a:grpSpLocks/>
          </p:cNvGrpSpPr>
          <p:nvPr/>
        </p:nvGrpSpPr>
        <p:grpSpPr bwMode="auto">
          <a:xfrm>
            <a:off x="4419600" y="990600"/>
            <a:ext cx="2286000" cy="2286000"/>
            <a:chOff x="2496" y="720"/>
            <a:chExt cx="1440" cy="1440"/>
          </a:xfrm>
        </p:grpSpPr>
        <p:sp>
          <p:nvSpPr>
            <p:cNvPr id="14342" name="Oval 6"/>
            <p:cNvSpPr>
              <a:spLocks noChangeArrowheads="1"/>
            </p:cNvSpPr>
            <p:nvPr/>
          </p:nvSpPr>
          <p:spPr bwMode="auto">
            <a:xfrm>
              <a:off x="2496" y="72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43" name="Oval 7"/>
            <p:cNvSpPr>
              <a:spLocks noChangeArrowheads="1"/>
            </p:cNvSpPr>
            <p:nvPr/>
          </p:nvSpPr>
          <p:spPr bwMode="auto">
            <a:xfrm>
              <a:off x="2880" y="72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44" name="Oval 8"/>
            <p:cNvSpPr>
              <a:spLocks noChangeArrowheads="1"/>
            </p:cNvSpPr>
            <p:nvPr/>
          </p:nvSpPr>
          <p:spPr bwMode="auto">
            <a:xfrm>
              <a:off x="3264" y="72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45" name="Oval 9"/>
            <p:cNvSpPr>
              <a:spLocks noChangeArrowheads="1"/>
            </p:cNvSpPr>
            <p:nvPr/>
          </p:nvSpPr>
          <p:spPr bwMode="auto">
            <a:xfrm>
              <a:off x="3648" y="72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46" name="Oval 10"/>
            <p:cNvSpPr>
              <a:spLocks noChangeArrowheads="1"/>
            </p:cNvSpPr>
            <p:nvPr/>
          </p:nvSpPr>
          <p:spPr bwMode="auto">
            <a:xfrm>
              <a:off x="2496" y="110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48" name="Oval 12"/>
            <p:cNvSpPr>
              <a:spLocks noChangeArrowheads="1"/>
            </p:cNvSpPr>
            <p:nvPr/>
          </p:nvSpPr>
          <p:spPr bwMode="auto">
            <a:xfrm>
              <a:off x="3264" y="110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49" name="Oval 13"/>
            <p:cNvSpPr>
              <a:spLocks noChangeArrowheads="1"/>
            </p:cNvSpPr>
            <p:nvPr/>
          </p:nvSpPr>
          <p:spPr bwMode="auto">
            <a:xfrm>
              <a:off x="3648" y="110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0" name="Oval 14"/>
            <p:cNvSpPr>
              <a:spLocks noChangeArrowheads="1"/>
            </p:cNvSpPr>
            <p:nvPr/>
          </p:nvSpPr>
          <p:spPr bwMode="auto">
            <a:xfrm>
              <a:off x="2496" y="148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1" name="Oval 15"/>
            <p:cNvSpPr>
              <a:spLocks noChangeArrowheads="1"/>
            </p:cNvSpPr>
            <p:nvPr/>
          </p:nvSpPr>
          <p:spPr bwMode="auto">
            <a:xfrm>
              <a:off x="2880" y="148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2" name="Oval 16"/>
            <p:cNvSpPr>
              <a:spLocks noChangeArrowheads="1"/>
            </p:cNvSpPr>
            <p:nvPr/>
          </p:nvSpPr>
          <p:spPr bwMode="auto">
            <a:xfrm>
              <a:off x="3264" y="148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3" name="Oval 17"/>
            <p:cNvSpPr>
              <a:spLocks noChangeArrowheads="1"/>
            </p:cNvSpPr>
            <p:nvPr/>
          </p:nvSpPr>
          <p:spPr bwMode="auto">
            <a:xfrm>
              <a:off x="3648" y="148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4" name="Oval 18"/>
            <p:cNvSpPr>
              <a:spLocks noChangeArrowheads="1"/>
            </p:cNvSpPr>
            <p:nvPr/>
          </p:nvSpPr>
          <p:spPr bwMode="auto">
            <a:xfrm>
              <a:off x="2496" y="18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5" name="Oval 19"/>
            <p:cNvSpPr>
              <a:spLocks noChangeArrowheads="1"/>
            </p:cNvSpPr>
            <p:nvPr/>
          </p:nvSpPr>
          <p:spPr bwMode="auto">
            <a:xfrm>
              <a:off x="2880" y="18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6" name="Oval 20"/>
            <p:cNvSpPr>
              <a:spLocks noChangeArrowheads="1"/>
            </p:cNvSpPr>
            <p:nvPr/>
          </p:nvSpPr>
          <p:spPr bwMode="auto">
            <a:xfrm>
              <a:off x="3264" y="18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57" name="Oval 21"/>
            <p:cNvSpPr>
              <a:spLocks noChangeArrowheads="1"/>
            </p:cNvSpPr>
            <p:nvPr/>
          </p:nvSpPr>
          <p:spPr bwMode="auto">
            <a:xfrm>
              <a:off x="3648" y="18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sp>
        <p:nvSpPr>
          <p:cNvPr id="14379" name="Text Box 43"/>
          <p:cNvSpPr txBox="1">
            <a:spLocks noChangeArrowheads="1"/>
          </p:cNvSpPr>
          <p:nvPr/>
        </p:nvSpPr>
        <p:spPr bwMode="auto">
          <a:xfrm>
            <a:off x="152400" y="3581400"/>
            <a:ext cx="8839200" cy="457200"/>
          </a:xfrm>
          <a:prstGeom prst="rect">
            <a:avLst/>
          </a:prstGeom>
          <a:noFill/>
          <a:ln w="9525" algn="ctr">
            <a:noFill/>
            <a:miter lim="800000"/>
            <a:headEnd/>
            <a:tailEnd/>
          </a:ln>
          <a:effectLst/>
        </p:spPr>
        <p:txBody>
          <a:bodyPr>
            <a:spAutoFit/>
          </a:bodyPr>
          <a:lstStyle/>
          <a:p>
            <a:r>
              <a:rPr lang="en-US">
                <a:latin typeface="Tahoma" pitchFamily="34" charset="0"/>
              </a:rPr>
              <a:t>Actually, a vacancy would probably look more like this:  </a:t>
            </a:r>
          </a:p>
        </p:txBody>
      </p:sp>
      <p:grpSp>
        <p:nvGrpSpPr>
          <p:cNvPr id="3" name="Group 60"/>
          <p:cNvGrpSpPr>
            <a:grpSpLocks/>
          </p:cNvGrpSpPr>
          <p:nvPr/>
        </p:nvGrpSpPr>
        <p:grpSpPr bwMode="auto">
          <a:xfrm>
            <a:off x="4419600" y="4191000"/>
            <a:ext cx="2286000" cy="2286000"/>
            <a:chOff x="2496" y="2640"/>
            <a:chExt cx="1440" cy="1440"/>
          </a:xfrm>
        </p:grpSpPr>
        <p:sp>
          <p:nvSpPr>
            <p:cNvPr id="14381" name="Oval 45"/>
            <p:cNvSpPr>
              <a:spLocks noChangeArrowheads="1"/>
            </p:cNvSpPr>
            <p:nvPr/>
          </p:nvSpPr>
          <p:spPr bwMode="auto">
            <a:xfrm>
              <a:off x="2532" y="267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2" name="Oval 46"/>
            <p:cNvSpPr>
              <a:spLocks noChangeArrowheads="1"/>
            </p:cNvSpPr>
            <p:nvPr/>
          </p:nvSpPr>
          <p:spPr bwMode="auto">
            <a:xfrm>
              <a:off x="2880" y="273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3" name="Oval 47"/>
            <p:cNvSpPr>
              <a:spLocks noChangeArrowheads="1"/>
            </p:cNvSpPr>
            <p:nvPr/>
          </p:nvSpPr>
          <p:spPr bwMode="auto">
            <a:xfrm>
              <a:off x="3228" y="267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4" name="Oval 48"/>
            <p:cNvSpPr>
              <a:spLocks noChangeArrowheads="1"/>
            </p:cNvSpPr>
            <p:nvPr/>
          </p:nvSpPr>
          <p:spPr bwMode="auto">
            <a:xfrm>
              <a:off x="3648" y="26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5" name="Oval 49"/>
            <p:cNvSpPr>
              <a:spLocks noChangeArrowheads="1"/>
            </p:cNvSpPr>
            <p:nvPr/>
          </p:nvSpPr>
          <p:spPr bwMode="auto">
            <a:xfrm>
              <a:off x="2592" y="30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6" name="Oval 50"/>
            <p:cNvSpPr>
              <a:spLocks noChangeArrowheads="1"/>
            </p:cNvSpPr>
            <p:nvPr/>
          </p:nvSpPr>
          <p:spPr bwMode="auto">
            <a:xfrm>
              <a:off x="3168" y="30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7" name="Oval 51"/>
            <p:cNvSpPr>
              <a:spLocks noChangeArrowheads="1"/>
            </p:cNvSpPr>
            <p:nvPr/>
          </p:nvSpPr>
          <p:spPr bwMode="auto">
            <a:xfrm>
              <a:off x="3648" y="30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8" name="Oval 52"/>
            <p:cNvSpPr>
              <a:spLocks noChangeArrowheads="1"/>
            </p:cNvSpPr>
            <p:nvPr/>
          </p:nvSpPr>
          <p:spPr bwMode="auto">
            <a:xfrm>
              <a:off x="2532" y="33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89" name="Oval 53"/>
            <p:cNvSpPr>
              <a:spLocks noChangeArrowheads="1"/>
            </p:cNvSpPr>
            <p:nvPr/>
          </p:nvSpPr>
          <p:spPr bwMode="auto">
            <a:xfrm>
              <a:off x="2880" y="331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90" name="Oval 54"/>
            <p:cNvSpPr>
              <a:spLocks noChangeArrowheads="1"/>
            </p:cNvSpPr>
            <p:nvPr/>
          </p:nvSpPr>
          <p:spPr bwMode="auto">
            <a:xfrm>
              <a:off x="3228" y="337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91" name="Oval 55"/>
            <p:cNvSpPr>
              <a:spLocks noChangeArrowheads="1"/>
            </p:cNvSpPr>
            <p:nvPr/>
          </p:nvSpPr>
          <p:spPr bwMode="auto">
            <a:xfrm>
              <a:off x="3648" y="34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92" name="Oval 56"/>
            <p:cNvSpPr>
              <a:spLocks noChangeArrowheads="1"/>
            </p:cNvSpPr>
            <p:nvPr/>
          </p:nvSpPr>
          <p:spPr bwMode="auto">
            <a:xfrm>
              <a:off x="2496"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93" name="Oval 57"/>
            <p:cNvSpPr>
              <a:spLocks noChangeArrowheads="1"/>
            </p:cNvSpPr>
            <p:nvPr/>
          </p:nvSpPr>
          <p:spPr bwMode="auto">
            <a:xfrm>
              <a:off x="2880"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94" name="Oval 58"/>
            <p:cNvSpPr>
              <a:spLocks noChangeArrowheads="1"/>
            </p:cNvSpPr>
            <p:nvPr/>
          </p:nvSpPr>
          <p:spPr bwMode="auto">
            <a:xfrm>
              <a:off x="3264"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4395" name="Oval 59"/>
            <p:cNvSpPr>
              <a:spLocks noChangeArrowheads="1"/>
            </p:cNvSpPr>
            <p:nvPr/>
          </p:nvSpPr>
          <p:spPr bwMode="auto">
            <a:xfrm>
              <a:off x="3648" y="37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39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39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3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98" grpId="0" animBg="1"/>
      <p:bldP spid="14397" grpId="0" animBg="1"/>
      <p:bldP spid="14379" grpId="0"/>
    </p:bld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84" name="Rectangle 24"/>
          <p:cNvSpPr>
            <a:spLocks noChangeArrowheads="1"/>
          </p:cNvSpPr>
          <p:nvPr/>
        </p:nvSpPr>
        <p:spPr bwMode="auto">
          <a:xfrm>
            <a:off x="4386263" y="642938"/>
            <a:ext cx="2438400" cy="2438400"/>
          </a:xfrm>
          <a:prstGeom prst="rect">
            <a:avLst/>
          </a:prstGeom>
          <a:solidFill>
            <a:srgbClr val="CCECFF"/>
          </a:solidFill>
          <a:ln w="9525" algn="ctr">
            <a:noFill/>
            <a:miter lim="800000"/>
            <a:headEnd/>
            <a:tailEnd/>
          </a:ln>
          <a:effectLst/>
        </p:spPr>
        <p:txBody>
          <a:bodyPr wrap="none" anchor="ctr">
            <a:spAutoFit/>
          </a:bodyPr>
          <a:lstStyle/>
          <a:p>
            <a:endParaRPr lang="en-US"/>
          </a:p>
        </p:txBody>
      </p:sp>
      <p:sp>
        <p:nvSpPr>
          <p:cNvPr id="15364" name="Text Box 4"/>
          <p:cNvSpPr txBox="1">
            <a:spLocks noChangeArrowheads="1"/>
          </p:cNvSpPr>
          <p:nvPr/>
        </p:nvSpPr>
        <p:spPr bwMode="auto">
          <a:xfrm>
            <a:off x="914400" y="1600200"/>
            <a:ext cx="32766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(2) An interstitial. </a:t>
            </a:r>
          </a:p>
        </p:txBody>
      </p:sp>
      <p:grpSp>
        <p:nvGrpSpPr>
          <p:cNvPr id="2" name="Group 5"/>
          <p:cNvGrpSpPr>
            <a:grpSpLocks/>
          </p:cNvGrpSpPr>
          <p:nvPr/>
        </p:nvGrpSpPr>
        <p:grpSpPr bwMode="auto">
          <a:xfrm>
            <a:off x="4419600" y="685800"/>
            <a:ext cx="2362200" cy="2362200"/>
            <a:chOff x="2496" y="2448"/>
            <a:chExt cx="1488" cy="1488"/>
          </a:xfrm>
        </p:grpSpPr>
        <p:sp>
          <p:nvSpPr>
            <p:cNvPr id="15366" name="Oval 6"/>
            <p:cNvSpPr>
              <a:spLocks noChangeArrowheads="1"/>
            </p:cNvSpPr>
            <p:nvPr/>
          </p:nvSpPr>
          <p:spPr bwMode="auto">
            <a:xfrm>
              <a:off x="2496"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67" name="Oval 7"/>
            <p:cNvSpPr>
              <a:spLocks noChangeArrowheads="1"/>
            </p:cNvSpPr>
            <p:nvPr/>
          </p:nvSpPr>
          <p:spPr bwMode="auto">
            <a:xfrm>
              <a:off x="2880"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68" name="Oval 8"/>
            <p:cNvSpPr>
              <a:spLocks noChangeArrowheads="1"/>
            </p:cNvSpPr>
            <p:nvPr/>
          </p:nvSpPr>
          <p:spPr bwMode="auto">
            <a:xfrm>
              <a:off x="3264"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69" name="Oval 9"/>
            <p:cNvSpPr>
              <a:spLocks noChangeArrowheads="1"/>
            </p:cNvSpPr>
            <p:nvPr/>
          </p:nvSpPr>
          <p:spPr bwMode="auto">
            <a:xfrm>
              <a:off x="3648" y="24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0" name="Oval 10"/>
            <p:cNvSpPr>
              <a:spLocks noChangeArrowheads="1"/>
            </p:cNvSpPr>
            <p:nvPr/>
          </p:nvSpPr>
          <p:spPr bwMode="auto">
            <a:xfrm>
              <a:off x="2496"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1" name="Oval 11"/>
            <p:cNvSpPr>
              <a:spLocks noChangeArrowheads="1"/>
            </p:cNvSpPr>
            <p:nvPr/>
          </p:nvSpPr>
          <p:spPr bwMode="auto">
            <a:xfrm>
              <a:off x="3264"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2" name="Oval 12"/>
            <p:cNvSpPr>
              <a:spLocks noChangeArrowheads="1"/>
            </p:cNvSpPr>
            <p:nvPr/>
          </p:nvSpPr>
          <p:spPr bwMode="auto">
            <a:xfrm>
              <a:off x="3648"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3" name="Oval 13"/>
            <p:cNvSpPr>
              <a:spLocks noChangeArrowheads="1"/>
            </p:cNvSpPr>
            <p:nvPr/>
          </p:nvSpPr>
          <p:spPr bwMode="auto">
            <a:xfrm>
              <a:off x="2496" y="321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4" name="Oval 14"/>
            <p:cNvSpPr>
              <a:spLocks noChangeArrowheads="1"/>
            </p:cNvSpPr>
            <p:nvPr/>
          </p:nvSpPr>
          <p:spPr bwMode="auto">
            <a:xfrm>
              <a:off x="2880" y="3216"/>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5" name="Oval 15"/>
            <p:cNvSpPr>
              <a:spLocks noChangeArrowheads="1"/>
            </p:cNvSpPr>
            <p:nvPr/>
          </p:nvSpPr>
          <p:spPr bwMode="auto">
            <a:xfrm>
              <a:off x="3216" y="316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6" name="Oval 16"/>
            <p:cNvSpPr>
              <a:spLocks noChangeArrowheads="1"/>
            </p:cNvSpPr>
            <p:nvPr/>
          </p:nvSpPr>
          <p:spPr bwMode="auto">
            <a:xfrm>
              <a:off x="3696" y="316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7" name="Oval 17"/>
            <p:cNvSpPr>
              <a:spLocks noChangeArrowheads="1"/>
            </p:cNvSpPr>
            <p:nvPr/>
          </p:nvSpPr>
          <p:spPr bwMode="auto">
            <a:xfrm>
              <a:off x="2496" y="360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8" name="Oval 18"/>
            <p:cNvSpPr>
              <a:spLocks noChangeArrowheads="1"/>
            </p:cNvSpPr>
            <p:nvPr/>
          </p:nvSpPr>
          <p:spPr bwMode="auto">
            <a:xfrm>
              <a:off x="2880" y="360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79" name="Oval 19"/>
            <p:cNvSpPr>
              <a:spLocks noChangeArrowheads="1"/>
            </p:cNvSpPr>
            <p:nvPr/>
          </p:nvSpPr>
          <p:spPr bwMode="auto">
            <a:xfrm>
              <a:off x="3216" y="36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80" name="Oval 20"/>
            <p:cNvSpPr>
              <a:spLocks noChangeArrowheads="1"/>
            </p:cNvSpPr>
            <p:nvPr/>
          </p:nvSpPr>
          <p:spPr bwMode="auto">
            <a:xfrm>
              <a:off x="3696" y="364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81" name="Oval 21"/>
            <p:cNvSpPr>
              <a:spLocks noChangeArrowheads="1"/>
            </p:cNvSpPr>
            <p:nvPr/>
          </p:nvSpPr>
          <p:spPr bwMode="auto">
            <a:xfrm>
              <a:off x="2880" y="283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5382" name="Oval 22"/>
            <p:cNvSpPr>
              <a:spLocks noChangeArrowheads="1"/>
            </p:cNvSpPr>
            <p:nvPr/>
          </p:nvSpPr>
          <p:spPr bwMode="auto">
            <a:xfrm>
              <a:off x="3456" y="34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sp>
        <p:nvSpPr>
          <p:cNvPr id="15383" name="Text Box 23"/>
          <p:cNvSpPr txBox="1">
            <a:spLocks noChangeArrowheads="1"/>
          </p:cNvSpPr>
          <p:nvPr/>
        </p:nvSpPr>
        <p:spPr bwMode="auto">
          <a:xfrm>
            <a:off x="152400" y="3886200"/>
            <a:ext cx="8839200" cy="822325"/>
          </a:xfrm>
          <a:prstGeom prst="rect">
            <a:avLst/>
          </a:prstGeom>
          <a:noFill/>
          <a:ln w="9525" algn="ctr">
            <a:noFill/>
            <a:miter lim="800000"/>
            <a:headEnd/>
            <a:tailEnd/>
          </a:ln>
          <a:effectLst/>
        </p:spPr>
        <p:txBody>
          <a:bodyPr>
            <a:spAutoFit/>
          </a:bodyPr>
          <a:lstStyle/>
          <a:p>
            <a:r>
              <a:rPr lang="en-US">
                <a:latin typeface="Tahoma" pitchFamily="34" charset="0"/>
              </a:rPr>
              <a:t>There is likely a vacancy somewhere else in the crystal, which supplied the interstitial atom.  </a:t>
            </a:r>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48" name="Rectangle 64"/>
          <p:cNvSpPr>
            <a:spLocks noChangeArrowheads="1"/>
          </p:cNvSpPr>
          <p:nvPr/>
        </p:nvSpPr>
        <p:spPr bwMode="auto">
          <a:xfrm>
            <a:off x="5376863" y="2243138"/>
            <a:ext cx="2438400" cy="2438400"/>
          </a:xfrm>
          <a:prstGeom prst="rect">
            <a:avLst/>
          </a:prstGeom>
          <a:solidFill>
            <a:srgbClr val="CCECFF"/>
          </a:solidFill>
          <a:ln w="9525" algn="ctr">
            <a:noFill/>
            <a:miter lim="800000"/>
            <a:headEnd/>
            <a:tailEnd/>
          </a:ln>
          <a:effectLst/>
        </p:spPr>
        <p:txBody>
          <a:bodyPr wrap="none" anchor="ctr">
            <a:spAutoFit/>
          </a:bodyPr>
          <a:lstStyle/>
          <a:p>
            <a:endParaRPr lang="en-US"/>
          </a:p>
        </p:txBody>
      </p:sp>
      <p:sp>
        <p:nvSpPr>
          <p:cNvPr id="16447" name="Rectangle 63"/>
          <p:cNvSpPr>
            <a:spLocks noChangeArrowheads="1"/>
          </p:cNvSpPr>
          <p:nvPr/>
        </p:nvSpPr>
        <p:spPr bwMode="auto">
          <a:xfrm>
            <a:off x="1023938" y="2238375"/>
            <a:ext cx="2438400" cy="2438400"/>
          </a:xfrm>
          <a:prstGeom prst="rect">
            <a:avLst/>
          </a:prstGeom>
          <a:solidFill>
            <a:srgbClr val="CCECFF"/>
          </a:solidFill>
          <a:ln w="9525" algn="ctr">
            <a:noFill/>
            <a:miter lim="800000"/>
            <a:headEnd/>
            <a:tailEnd/>
          </a:ln>
          <a:effectLst/>
        </p:spPr>
        <p:txBody>
          <a:bodyPr wrap="none" anchor="ctr">
            <a:spAutoFit/>
          </a:bodyPr>
          <a:lstStyle/>
          <a:p>
            <a:endParaRPr lang="en-US"/>
          </a:p>
        </p:txBody>
      </p:sp>
      <p:sp>
        <p:nvSpPr>
          <p:cNvPr id="16420" name="Text Box 36"/>
          <p:cNvSpPr txBox="1">
            <a:spLocks noChangeArrowheads="1"/>
          </p:cNvSpPr>
          <p:nvPr/>
        </p:nvSpPr>
        <p:spPr bwMode="auto">
          <a:xfrm>
            <a:off x="914400" y="914400"/>
            <a:ext cx="77724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(3) An impurity, </a:t>
            </a:r>
          </a:p>
        </p:txBody>
      </p:sp>
      <p:grpSp>
        <p:nvGrpSpPr>
          <p:cNvPr id="2" name="Group 58"/>
          <p:cNvGrpSpPr>
            <a:grpSpLocks/>
          </p:cNvGrpSpPr>
          <p:nvPr/>
        </p:nvGrpSpPr>
        <p:grpSpPr bwMode="auto">
          <a:xfrm>
            <a:off x="1066800" y="2286000"/>
            <a:ext cx="2286000" cy="2286000"/>
            <a:chOff x="672" y="1440"/>
            <a:chExt cx="1440" cy="1440"/>
          </a:xfrm>
        </p:grpSpPr>
        <p:sp>
          <p:nvSpPr>
            <p:cNvPr id="16389" name="Oval 5"/>
            <p:cNvSpPr>
              <a:spLocks noChangeArrowheads="1"/>
            </p:cNvSpPr>
            <p:nvPr/>
          </p:nvSpPr>
          <p:spPr bwMode="auto">
            <a:xfrm>
              <a:off x="672"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0" name="Oval 6"/>
            <p:cNvSpPr>
              <a:spLocks noChangeArrowheads="1"/>
            </p:cNvSpPr>
            <p:nvPr/>
          </p:nvSpPr>
          <p:spPr bwMode="auto">
            <a:xfrm>
              <a:off x="1056"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1" name="Oval 7"/>
            <p:cNvSpPr>
              <a:spLocks noChangeArrowheads="1"/>
            </p:cNvSpPr>
            <p:nvPr/>
          </p:nvSpPr>
          <p:spPr bwMode="auto">
            <a:xfrm>
              <a:off x="1440"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2" name="Oval 8"/>
            <p:cNvSpPr>
              <a:spLocks noChangeArrowheads="1"/>
            </p:cNvSpPr>
            <p:nvPr/>
          </p:nvSpPr>
          <p:spPr bwMode="auto">
            <a:xfrm>
              <a:off x="1824"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3" name="Oval 9"/>
            <p:cNvSpPr>
              <a:spLocks noChangeArrowheads="1"/>
            </p:cNvSpPr>
            <p:nvPr/>
          </p:nvSpPr>
          <p:spPr bwMode="auto">
            <a:xfrm>
              <a:off x="672"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4" name="Oval 10"/>
            <p:cNvSpPr>
              <a:spLocks noChangeArrowheads="1"/>
            </p:cNvSpPr>
            <p:nvPr/>
          </p:nvSpPr>
          <p:spPr bwMode="auto">
            <a:xfrm>
              <a:off x="1440"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5" name="Oval 11"/>
            <p:cNvSpPr>
              <a:spLocks noChangeArrowheads="1"/>
            </p:cNvSpPr>
            <p:nvPr/>
          </p:nvSpPr>
          <p:spPr bwMode="auto">
            <a:xfrm>
              <a:off x="1824"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6" name="Oval 12"/>
            <p:cNvSpPr>
              <a:spLocks noChangeArrowheads="1"/>
            </p:cNvSpPr>
            <p:nvPr/>
          </p:nvSpPr>
          <p:spPr bwMode="auto">
            <a:xfrm>
              <a:off x="672"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7" name="Oval 13"/>
            <p:cNvSpPr>
              <a:spLocks noChangeArrowheads="1"/>
            </p:cNvSpPr>
            <p:nvPr/>
          </p:nvSpPr>
          <p:spPr bwMode="auto">
            <a:xfrm>
              <a:off x="1056"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8" name="Oval 14"/>
            <p:cNvSpPr>
              <a:spLocks noChangeArrowheads="1"/>
            </p:cNvSpPr>
            <p:nvPr/>
          </p:nvSpPr>
          <p:spPr bwMode="auto">
            <a:xfrm>
              <a:off x="1440"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399" name="Oval 15"/>
            <p:cNvSpPr>
              <a:spLocks noChangeArrowheads="1"/>
            </p:cNvSpPr>
            <p:nvPr/>
          </p:nvSpPr>
          <p:spPr bwMode="auto">
            <a:xfrm>
              <a:off x="1824"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00" name="Oval 16"/>
            <p:cNvSpPr>
              <a:spLocks noChangeArrowheads="1"/>
            </p:cNvSpPr>
            <p:nvPr/>
          </p:nvSpPr>
          <p:spPr bwMode="auto">
            <a:xfrm>
              <a:off x="672"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01" name="Oval 17"/>
            <p:cNvSpPr>
              <a:spLocks noChangeArrowheads="1"/>
            </p:cNvSpPr>
            <p:nvPr/>
          </p:nvSpPr>
          <p:spPr bwMode="auto">
            <a:xfrm>
              <a:off x="1056"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02" name="Oval 18"/>
            <p:cNvSpPr>
              <a:spLocks noChangeArrowheads="1"/>
            </p:cNvSpPr>
            <p:nvPr/>
          </p:nvSpPr>
          <p:spPr bwMode="auto">
            <a:xfrm>
              <a:off x="1440"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03" name="Oval 19"/>
            <p:cNvSpPr>
              <a:spLocks noChangeArrowheads="1"/>
            </p:cNvSpPr>
            <p:nvPr/>
          </p:nvSpPr>
          <p:spPr bwMode="auto">
            <a:xfrm>
              <a:off x="1824"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1" name="Oval 37"/>
            <p:cNvSpPr>
              <a:spLocks noChangeArrowheads="1"/>
            </p:cNvSpPr>
            <p:nvPr/>
          </p:nvSpPr>
          <p:spPr bwMode="auto">
            <a:xfrm>
              <a:off x="1056" y="1824"/>
              <a:ext cx="288" cy="288"/>
            </a:xfrm>
            <a:prstGeom prst="ellipse">
              <a:avLst/>
            </a:prstGeom>
            <a:gradFill rotWithShape="1">
              <a:gsLst>
                <a:gs pos="0">
                  <a:srgbClr val="CC0099"/>
                </a:gs>
                <a:gs pos="100000">
                  <a:srgbClr val="CC0099">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grpSp>
        <p:nvGrpSpPr>
          <p:cNvPr id="3" name="Group 59"/>
          <p:cNvGrpSpPr>
            <a:grpSpLocks/>
          </p:cNvGrpSpPr>
          <p:nvPr/>
        </p:nvGrpSpPr>
        <p:grpSpPr bwMode="auto">
          <a:xfrm>
            <a:off x="5410200" y="2286000"/>
            <a:ext cx="2362200" cy="2362200"/>
            <a:chOff x="3408" y="1440"/>
            <a:chExt cx="1488" cy="1488"/>
          </a:xfrm>
        </p:grpSpPr>
        <p:sp>
          <p:nvSpPr>
            <p:cNvPr id="16423" name="Oval 39"/>
            <p:cNvSpPr>
              <a:spLocks noChangeArrowheads="1"/>
            </p:cNvSpPr>
            <p:nvPr/>
          </p:nvSpPr>
          <p:spPr bwMode="auto">
            <a:xfrm>
              <a:off x="3408"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4" name="Oval 40"/>
            <p:cNvSpPr>
              <a:spLocks noChangeArrowheads="1"/>
            </p:cNvSpPr>
            <p:nvPr/>
          </p:nvSpPr>
          <p:spPr bwMode="auto">
            <a:xfrm>
              <a:off x="3792"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5" name="Oval 41"/>
            <p:cNvSpPr>
              <a:spLocks noChangeArrowheads="1"/>
            </p:cNvSpPr>
            <p:nvPr/>
          </p:nvSpPr>
          <p:spPr bwMode="auto">
            <a:xfrm>
              <a:off x="4176"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6" name="Oval 42"/>
            <p:cNvSpPr>
              <a:spLocks noChangeArrowheads="1"/>
            </p:cNvSpPr>
            <p:nvPr/>
          </p:nvSpPr>
          <p:spPr bwMode="auto">
            <a:xfrm>
              <a:off x="4560" y="14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7" name="Oval 43"/>
            <p:cNvSpPr>
              <a:spLocks noChangeArrowheads="1"/>
            </p:cNvSpPr>
            <p:nvPr/>
          </p:nvSpPr>
          <p:spPr bwMode="auto">
            <a:xfrm>
              <a:off x="3408"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8" name="Oval 44"/>
            <p:cNvSpPr>
              <a:spLocks noChangeArrowheads="1"/>
            </p:cNvSpPr>
            <p:nvPr/>
          </p:nvSpPr>
          <p:spPr bwMode="auto">
            <a:xfrm>
              <a:off x="4176"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29" name="Oval 45"/>
            <p:cNvSpPr>
              <a:spLocks noChangeArrowheads="1"/>
            </p:cNvSpPr>
            <p:nvPr/>
          </p:nvSpPr>
          <p:spPr bwMode="auto">
            <a:xfrm>
              <a:off x="4560"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0" name="Oval 46"/>
            <p:cNvSpPr>
              <a:spLocks noChangeArrowheads="1"/>
            </p:cNvSpPr>
            <p:nvPr/>
          </p:nvSpPr>
          <p:spPr bwMode="auto">
            <a:xfrm>
              <a:off x="3408"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1" name="Oval 47"/>
            <p:cNvSpPr>
              <a:spLocks noChangeArrowheads="1"/>
            </p:cNvSpPr>
            <p:nvPr/>
          </p:nvSpPr>
          <p:spPr bwMode="auto">
            <a:xfrm>
              <a:off x="3792" y="2208"/>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2" name="Oval 48"/>
            <p:cNvSpPr>
              <a:spLocks noChangeArrowheads="1"/>
            </p:cNvSpPr>
            <p:nvPr/>
          </p:nvSpPr>
          <p:spPr bwMode="auto">
            <a:xfrm>
              <a:off x="4128" y="216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3" name="Oval 49"/>
            <p:cNvSpPr>
              <a:spLocks noChangeArrowheads="1"/>
            </p:cNvSpPr>
            <p:nvPr/>
          </p:nvSpPr>
          <p:spPr bwMode="auto">
            <a:xfrm>
              <a:off x="4608" y="216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4" name="Oval 50"/>
            <p:cNvSpPr>
              <a:spLocks noChangeArrowheads="1"/>
            </p:cNvSpPr>
            <p:nvPr/>
          </p:nvSpPr>
          <p:spPr bwMode="auto">
            <a:xfrm>
              <a:off x="3408"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5" name="Oval 51"/>
            <p:cNvSpPr>
              <a:spLocks noChangeArrowheads="1"/>
            </p:cNvSpPr>
            <p:nvPr/>
          </p:nvSpPr>
          <p:spPr bwMode="auto">
            <a:xfrm>
              <a:off x="3792" y="2592"/>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6" name="Oval 52"/>
            <p:cNvSpPr>
              <a:spLocks noChangeArrowheads="1"/>
            </p:cNvSpPr>
            <p:nvPr/>
          </p:nvSpPr>
          <p:spPr bwMode="auto">
            <a:xfrm>
              <a:off x="4128" y="26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7" name="Oval 53"/>
            <p:cNvSpPr>
              <a:spLocks noChangeArrowheads="1"/>
            </p:cNvSpPr>
            <p:nvPr/>
          </p:nvSpPr>
          <p:spPr bwMode="auto">
            <a:xfrm>
              <a:off x="4608" y="2640"/>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8" name="Oval 54"/>
            <p:cNvSpPr>
              <a:spLocks noChangeArrowheads="1"/>
            </p:cNvSpPr>
            <p:nvPr/>
          </p:nvSpPr>
          <p:spPr bwMode="auto">
            <a:xfrm>
              <a:off x="3792" y="1824"/>
              <a:ext cx="288" cy="288"/>
            </a:xfrm>
            <a:prstGeom prst="ellipse">
              <a:avLst/>
            </a:prstGeom>
            <a:gradFill rotWithShape="1">
              <a:gsLst>
                <a:gs pos="0">
                  <a:srgbClr val="33CC33"/>
                </a:gs>
                <a:gs pos="100000">
                  <a:srgbClr val="33CC33">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16439" name="Oval 55"/>
            <p:cNvSpPr>
              <a:spLocks noChangeArrowheads="1"/>
            </p:cNvSpPr>
            <p:nvPr/>
          </p:nvSpPr>
          <p:spPr bwMode="auto">
            <a:xfrm>
              <a:off x="4368" y="2400"/>
              <a:ext cx="288" cy="288"/>
            </a:xfrm>
            <a:prstGeom prst="ellipse">
              <a:avLst/>
            </a:prstGeom>
            <a:gradFill rotWithShape="1">
              <a:gsLst>
                <a:gs pos="0">
                  <a:srgbClr val="CC0099"/>
                </a:gs>
                <a:gs pos="100000">
                  <a:srgbClr val="CC0099">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sp>
        <p:nvSpPr>
          <p:cNvPr id="16440" name="Rectangle 56"/>
          <p:cNvSpPr>
            <a:spLocks noChangeArrowheads="1"/>
          </p:cNvSpPr>
          <p:nvPr/>
        </p:nvSpPr>
        <p:spPr bwMode="auto">
          <a:xfrm>
            <a:off x="1096963" y="4878388"/>
            <a:ext cx="1974850" cy="457200"/>
          </a:xfrm>
          <a:prstGeom prst="rect">
            <a:avLst/>
          </a:prstGeom>
          <a:noFill/>
          <a:ln w="9525" algn="ctr">
            <a:noFill/>
            <a:miter lim="800000"/>
            <a:headEnd/>
            <a:tailEnd/>
          </a:ln>
          <a:effectLst/>
        </p:spPr>
        <p:txBody>
          <a:bodyPr wrap="none">
            <a:spAutoFit/>
          </a:bodyPr>
          <a:lstStyle/>
          <a:p>
            <a:r>
              <a:rPr lang="en-US">
                <a:latin typeface="Tahoma" pitchFamily="34" charset="0"/>
              </a:rPr>
              <a:t>substitutional</a:t>
            </a:r>
          </a:p>
        </p:txBody>
      </p:sp>
      <p:sp>
        <p:nvSpPr>
          <p:cNvPr id="16441" name="Rectangle 57"/>
          <p:cNvSpPr>
            <a:spLocks noChangeArrowheads="1"/>
          </p:cNvSpPr>
          <p:nvPr/>
        </p:nvSpPr>
        <p:spPr bwMode="auto">
          <a:xfrm>
            <a:off x="5738813" y="4878388"/>
            <a:ext cx="1504950" cy="457200"/>
          </a:xfrm>
          <a:prstGeom prst="rect">
            <a:avLst/>
          </a:prstGeom>
          <a:noFill/>
          <a:ln w="9525" algn="ctr">
            <a:noFill/>
            <a:miter lim="800000"/>
            <a:headEnd/>
            <a:tailEnd/>
          </a:ln>
          <a:effectLst/>
        </p:spPr>
        <p:txBody>
          <a:bodyPr wrap="none">
            <a:spAutoFit/>
          </a:bodyPr>
          <a:lstStyle/>
          <a:p>
            <a:r>
              <a:rPr lang="en-US">
                <a:latin typeface="Tahoma" pitchFamily="34" charset="0"/>
              </a:rPr>
              <a:t>interstitial</a:t>
            </a:r>
          </a:p>
        </p:txBody>
      </p:sp>
      <p:sp>
        <p:nvSpPr>
          <p:cNvPr id="16445" name="Text Box 61"/>
          <p:cNvSpPr txBox="1">
            <a:spLocks noChangeArrowheads="1"/>
          </p:cNvSpPr>
          <p:nvPr/>
        </p:nvSpPr>
        <p:spPr bwMode="auto">
          <a:xfrm>
            <a:off x="914400" y="914400"/>
            <a:ext cx="7772400" cy="457200"/>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(3) An impurity, which could be either substitutional</a:t>
            </a:r>
          </a:p>
        </p:txBody>
      </p:sp>
      <p:sp>
        <p:nvSpPr>
          <p:cNvPr id="16446" name="Text Box 62"/>
          <p:cNvSpPr txBox="1">
            <a:spLocks noChangeArrowheads="1"/>
          </p:cNvSpPr>
          <p:nvPr/>
        </p:nvSpPr>
        <p:spPr bwMode="auto">
          <a:xfrm>
            <a:off x="914400" y="914400"/>
            <a:ext cx="7772400" cy="822325"/>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(3) An impurity, which could be either substitutional or interstitial. </a:t>
            </a: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4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4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4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44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48" grpId="0" animBg="1"/>
      <p:bldP spid="16447" grpId="0" animBg="1"/>
      <p:bldP spid="16440" grpId="0"/>
      <p:bldP spid="16441" grpId="0"/>
      <p:bldP spid="16445" grpId="0"/>
      <p:bldP spid="16446" grpId="0"/>
    </p:bld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ext Box 4"/>
          <p:cNvSpPr txBox="1">
            <a:spLocks noChangeArrowheads="1"/>
          </p:cNvSpPr>
          <p:nvPr/>
        </p:nvSpPr>
        <p:spPr bwMode="auto">
          <a:xfrm>
            <a:off x="152400" y="457200"/>
            <a:ext cx="8839200" cy="457200"/>
          </a:xfrm>
          <a:prstGeom prst="rect">
            <a:avLst/>
          </a:prstGeom>
          <a:noFill/>
          <a:ln w="9525" algn="ctr">
            <a:noFill/>
            <a:miter lim="800000"/>
            <a:headEnd/>
            <a:tailEnd/>
          </a:ln>
          <a:effectLst/>
        </p:spPr>
        <p:txBody>
          <a:bodyPr>
            <a:spAutoFit/>
          </a:bodyPr>
          <a:lstStyle/>
          <a:p>
            <a:r>
              <a:rPr lang="en-US">
                <a:latin typeface="Tahoma" pitchFamily="34" charset="0"/>
              </a:rPr>
              <a:t>Point defects makes diffusion in solids possible.   </a:t>
            </a:r>
          </a:p>
        </p:txBody>
      </p:sp>
      <p:sp>
        <p:nvSpPr>
          <p:cNvPr id="17415" name="Text Box 7"/>
          <p:cNvSpPr txBox="1">
            <a:spLocks noChangeArrowheads="1"/>
          </p:cNvSpPr>
          <p:nvPr/>
        </p:nvSpPr>
        <p:spPr bwMode="auto">
          <a:xfrm>
            <a:off x="914400" y="1143000"/>
            <a:ext cx="7772400" cy="822325"/>
          </a:xfrm>
          <a:prstGeom prst="rect">
            <a:avLst/>
          </a:prstGeom>
          <a:noFill/>
          <a:ln w="9525" algn="ctr">
            <a:noFill/>
            <a:miter lim="800000"/>
            <a:headEnd/>
            <a:tailEnd/>
          </a:ln>
          <a:effectLst/>
        </p:spPr>
        <p:txBody>
          <a:bodyPr>
            <a:spAutoFit/>
          </a:bodyPr>
          <a:lstStyle/>
          <a:p>
            <a:r>
              <a:rPr lang="en-US">
                <a:latin typeface="Tahoma" pitchFamily="34" charset="0"/>
              </a:rPr>
              <a:t>Either vacancies or interstitial atoms can migrate through a crystal.   </a:t>
            </a:r>
          </a:p>
        </p:txBody>
      </p:sp>
      <p:sp>
        <p:nvSpPr>
          <p:cNvPr id="17416" name="Text Box 8"/>
          <p:cNvSpPr txBox="1">
            <a:spLocks noChangeArrowheads="1"/>
          </p:cNvSpPr>
          <p:nvPr/>
        </p:nvSpPr>
        <p:spPr bwMode="auto">
          <a:xfrm>
            <a:off x="914400" y="2209800"/>
            <a:ext cx="7772400" cy="457200"/>
          </a:xfrm>
          <a:prstGeom prst="rect">
            <a:avLst/>
          </a:prstGeom>
          <a:noFill/>
          <a:ln w="9525" algn="ctr">
            <a:noFill/>
            <a:miter lim="800000"/>
            <a:headEnd/>
            <a:tailEnd/>
          </a:ln>
          <a:effectLst/>
        </p:spPr>
        <p:txBody>
          <a:bodyPr>
            <a:spAutoFit/>
          </a:bodyPr>
          <a:lstStyle/>
          <a:p>
            <a:r>
              <a:rPr lang="en-US">
                <a:latin typeface="Tahoma" pitchFamily="34" charset="0"/>
              </a:rPr>
              <a:t>Diffusion is strongly temperature dependent.   </a:t>
            </a:r>
          </a:p>
        </p:txBody>
      </p:sp>
      <p:sp>
        <p:nvSpPr>
          <p:cNvPr id="17417" name="Text Box 9"/>
          <p:cNvSpPr txBox="1">
            <a:spLocks noChangeArrowheads="1"/>
          </p:cNvSpPr>
          <p:nvPr/>
        </p:nvSpPr>
        <p:spPr bwMode="auto">
          <a:xfrm>
            <a:off x="152400" y="3292475"/>
            <a:ext cx="8839200" cy="822325"/>
          </a:xfrm>
          <a:prstGeom prst="rect">
            <a:avLst/>
          </a:prstGeom>
          <a:noFill/>
          <a:ln w="9525" algn="ctr">
            <a:noFill/>
            <a:miter lim="800000"/>
            <a:headEnd/>
            <a:tailEnd/>
          </a:ln>
          <a:effectLst/>
        </p:spPr>
        <p:txBody>
          <a:bodyPr>
            <a:spAutoFit/>
          </a:bodyPr>
          <a:lstStyle/>
          <a:p>
            <a:r>
              <a:rPr lang="en-US">
                <a:latin typeface="Tahoma" pitchFamily="34" charset="0"/>
              </a:rPr>
              <a:t>Higher dimensional defects include edge and screw dislocations.  A dislocation occurs when a line of atoms is in the wrong place.   </a:t>
            </a:r>
          </a:p>
        </p:txBody>
      </p:sp>
      <p:sp>
        <p:nvSpPr>
          <p:cNvPr id="17418" name="Text Box 10"/>
          <p:cNvSpPr txBox="1">
            <a:spLocks noChangeArrowheads="1"/>
          </p:cNvSpPr>
          <p:nvPr/>
        </p:nvSpPr>
        <p:spPr bwMode="auto">
          <a:xfrm>
            <a:off x="914400" y="4435475"/>
            <a:ext cx="7772400" cy="822325"/>
          </a:xfrm>
          <a:prstGeom prst="rect">
            <a:avLst/>
          </a:prstGeom>
          <a:noFill/>
          <a:ln w="9525" algn="ctr">
            <a:noFill/>
            <a:miter lim="800000"/>
            <a:headEnd/>
            <a:tailEnd/>
          </a:ln>
          <a:effectLst/>
        </p:spPr>
        <p:txBody>
          <a:bodyPr>
            <a:spAutoFit/>
          </a:bodyPr>
          <a:lstStyle/>
          <a:p>
            <a:r>
              <a:rPr lang="en-US">
                <a:latin typeface="Tahoma" pitchFamily="34" charset="0"/>
              </a:rPr>
              <a:t>Dislocations are important but more difficult to deal with than point defects.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p:bldP spid="17416" grpId="0"/>
      <p:bldP spid="17417" grpId="0"/>
      <p:bldP spid="17418" grpId="0"/>
    </p:bld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ext Box 4"/>
          <p:cNvSpPr txBox="1">
            <a:spLocks noChangeArrowheads="1"/>
          </p:cNvSpPr>
          <p:nvPr/>
        </p:nvSpPr>
        <p:spPr bwMode="auto">
          <a:xfrm>
            <a:off x="152400" y="152400"/>
            <a:ext cx="8839200" cy="369332"/>
          </a:xfrm>
          <a:prstGeom prst="rect">
            <a:avLst/>
          </a:prstGeom>
          <a:noFill/>
          <a:ln w="9525" algn="ctr">
            <a:noFill/>
            <a:miter lim="800000"/>
            <a:headEnd/>
            <a:tailEnd/>
          </a:ln>
          <a:effectLst/>
        </p:spPr>
        <p:txBody>
          <a:bodyPr>
            <a:spAutoFit/>
          </a:bodyPr>
          <a:lstStyle/>
          <a:p>
            <a:r>
              <a:rPr lang="en-US" dirty="0">
                <a:latin typeface="Tahoma" pitchFamily="34" charset="0"/>
              </a:rPr>
              <a:t>Edge dislocation are relatively easy to draw and visualize.  </a:t>
            </a:r>
          </a:p>
        </p:txBody>
      </p:sp>
      <p:pic>
        <p:nvPicPr>
          <p:cNvPr id="18438" name="Picture 6" descr="EdgeDislocation_no_anim"/>
          <p:cNvPicPr>
            <a:picLocks noChangeAspect="1" noChangeArrowheads="1"/>
          </p:cNvPicPr>
          <p:nvPr/>
        </p:nvPicPr>
        <p:blipFill>
          <a:blip r:embed="rId2"/>
          <a:srcRect/>
          <a:stretch>
            <a:fillRect/>
          </a:stretch>
        </p:blipFill>
        <p:spPr bwMode="auto">
          <a:xfrm>
            <a:off x="609600" y="609600"/>
            <a:ext cx="7620000" cy="5715000"/>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3" name="Picture 5" descr="511burg1_no_anim_no_transparent"/>
          <p:cNvPicPr>
            <a:picLocks noChangeAspect="1" noChangeArrowheads="1"/>
          </p:cNvPicPr>
          <p:nvPr/>
        </p:nvPicPr>
        <p:blipFill>
          <a:blip r:embed="rId2"/>
          <a:srcRect/>
          <a:stretch>
            <a:fillRect/>
          </a:stretch>
        </p:blipFill>
        <p:spPr bwMode="auto">
          <a:xfrm>
            <a:off x="2195513" y="1219200"/>
            <a:ext cx="4662487" cy="3860800"/>
          </a:xfrm>
          <a:prstGeom prst="rect">
            <a:avLst/>
          </a:prstGeom>
          <a:noFill/>
        </p:spPr>
      </p:pic>
      <p:sp>
        <p:nvSpPr>
          <p:cNvPr id="22534" name="Text Box 6"/>
          <p:cNvSpPr txBox="1">
            <a:spLocks noChangeArrowheads="1"/>
          </p:cNvSpPr>
          <p:nvPr/>
        </p:nvSpPr>
        <p:spPr bwMode="auto">
          <a:xfrm>
            <a:off x="152400" y="5867400"/>
            <a:ext cx="8839200" cy="457200"/>
          </a:xfrm>
          <a:prstGeom prst="rect">
            <a:avLst/>
          </a:prstGeom>
          <a:noFill/>
          <a:ln w="9525" algn="ctr">
            <a:noFill/>
            <a:miter lim="800000"/>
            <a:headEnd/>
            <a:tailEnd/>
          </a:ln>
          <a:effectLst/>
        </p:spPr>
        <p:txBody>
          <a:bodyPr>
            <a:spAutoFit/>
          </a:bodyPr>
          <a:lstStyle/>
          <a:p>
            <a:r>
              <a:rPr lang="en-US">
                <a:latin typeface="Tahoma" pitchFamily="34" charset="0"/>
              </a:rPr>
              <a:t>Atoms in crystals are not static, and neither are dislocations. </a:t>
            </a:r>
          </a:p>
        </p:txBody>
      </p:sp>
      <p:sp>
        <p:nvSpPr>
          <p:cNvPr id="22535" name="Text Box 7"/>
          <p:cNvSpPr txBox="1">
            <a:spLocks noChangeArrowheads="1"/>
          </p:cNvSpPr>
          <p:nvPr/>
        </p:nvSpPr>
        <p:spPr bwMode="auto">
          <a:xfrm>
            <a:off x="152400" y="304800"/>
            <a:ext cx="8839200" cy="369332"/>
          </a:xfrm>
          <a:prstGeom prst="rect">
            <a:avLst/>
          </a:prstGeom>
          <a:noFill/>
          <a:ln w="9525" algn="ctr">
            <a:noFill/>
            <a:miter lim="800000"/>
            <a:headEnd/>
            <a:tailEnd/>
          </a:ln>
          <a:effectLst/>
        </p:spPr>
        <p:txBody>
          <a:bodyPr>
            <a:spAutoFit/>
          </a:bodyPr>
          <a:lstStyle/>
          <a:p>
            <a:r>
              <a:rPr lang="en-US" dirty="0">
                <a:latin typeface="Tahoma" pitchFamily="34" charset="0"/>
              </a:rPr>
              <a:t>Screw dislocation are more difficult to draw.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4" grpId="0"/>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4" descr="EdgeDislocation"/>
          <p:cNvPicPr>
            <a:picLocks noChangeAspect="1" noChangeArrowheads="1" noCrop="1"/>
          </p:cNvPicPr>
          <p:nvPr/>
        </p:nvPicPr>
        <p:blipFill>
          <a:blip r:embed="rId2"/>
          <a:srcRect/>
          <a:stretch>
            <a:fillRect/>
          </a:stretch>
        </p:blipFill>
        <p:spPr bwMode="auto">
          <a:xfrm>
            <a:off x="762000" y="838200"/>
            <a:ext cx="7620000" cy="5715000"/>
          </a:xfrm>
          <a:prstGeom prst="rect">
            <a:avLst/>
          </a:prstGeom>
          <a:noFill/>
        </p:spPr>
      </p:pic>
      <p:sp>
        <p:nvSpPr>
          <p:cNvPr id="23557" name="Text Box 5"/>
          <p:cNvSpPr txBox="1">
            <a:spLocks noChangeArrowheads="1"/>
          </p:cNvSpPr>
          <p:nvPr/>
        </p:nvSpPr>
        <p:spPr bwMode="auto">
          <a:xfrm>
            <a:off x="152400" y="304800"/>
            <a:ext cx="8839200" cy="457200"/>
          </a:xfrm>
          <a:prstGeom prst="rect">
            <a:avLst/>
          </a:prstGeom>
          <a:noFill/>
          <a:ln w="9525" algn="ctr">
            <a:noFill/>
            <a:miter lim="800000"/>
            <a:headEnd/>
            <a:tailEnd/>
          </a:ln>
          <a:effectLst/>
        </p:spPr>
        <p:txBody>
          <a:bodyPr>
            <a:spAutoFit/>
          </a:bodyPr>
          <a:lstStyle/>
          <a:p>
            <a:pPr algn="ctr"/>
            <a:r>
              <a:rPr lang="en-US">
                <a:latin typeface="Tahoma" pitchFamily="34" charset="0"/>
              </a:rPr>
              <a:t>edge dislocation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81" name="Picture 5" descr="verstz_a"/>
          <p:cNvPicPr>
            <a:picLocks noChangeAspect="1" noChangeArrowheads="1" noCrop="1"/>
          </p:cNvPicPr>
          <p:nvPr/>
        </p:nvPicPr>
        <p:blipFill>
          <a:blip r:embed="rId2"/>
          <a:srcRect/>
          <a:stretch>
            <a:fillRect/>
          </a:stretch>
        </p:blipFill>
        <p:spPr bwMode="auto">
          <a:xfrm>
            <a:off x="2133600" y="1295400"/>
            <a:ext cx="5219700" cy="3905250"/>
          </a:xfrm>
          <a:prstGeom prst="rect">
            <a:avLst/>
          </a:prstGeom>
          <a:noFill/>
        </p:spPr>
      </p:pic>
      <p:sp>
        <p:nvSpPr>
          <p:cNvPr id="24582" name="Text Box 6"/>
          <p:cNvSpPr txBox="1">
            <a:spLocks noChangeArrowheads="1"/>
          </p:cNvSpPr>
          <p:nvPr/>
        </p:nvSpPr>
        <p:spPr bwMode="auto">
          <a:xfrm>
            <a:off x="152400" y="381000"/>
            <a:ext cx="8839200" cy="457200"/>
          </a:xfrm>
          <a:prstGeom prst="rect">
            <a:avLst/>
          </a:prstGeom>
          <a:noFill/>
          <a:ln w="9525" algn="ctr">
            <a:noFill/>
            <a:miter lim="800000"/>
            <a:headEnd/>
            <a:tailEnd/>
          </a:ln>
          <a:effectLst/>
        </p:spPr>
        <p:txBody>
          <a:bodyPr>
            <a:spAutoFit/>
          </a:bodyPr>
          <a:lstStyle/>
          <a:p>
            <a:pPr algn="ctr"/>
            <a:r>
              <a:rPr lang="en-US">
                <a:latin typeface="Tahoma" pitchFamily="34" charset="0"/>
              </a:rPr>
              <a:t>edge dislocation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Text Box 5"/>
          <p:cNvSpPr txBox="1">
            <a:spLocks noChangeArrowheads="1"/>
          </p:cNvSpPr>
          <p:nvPr/>
        </p:nvSpPr>
        <p:spPr bwMode="auto">
          <a:xfrm>
            <a:off x="152400" y="152400"/>
            <a:ext cx="8839200" cy="457200"/>
          </a:xfrm>
          <a:prstGeom prst="rect">
            <a:avLst/>
          </a:prstGeom>
          <a:noFill/>
          <a:ln w="9525" algn="ctr">
            <a:noFill/>
            <a:miter lim="800000"/>
            <a:headEnd/>
            <a:tailEnd/>
          </a:ln>
          <a:effectLst/>
        </p:spPr>
        <p:txBody>
          <a:bodyPr>
            <a:spAutoFit/>
          </a:bodyPr>
          <a:lstStyle/>
          <a:p>
            <a:pPr algn="ctr"/>
            <a:r>
              <a:rPr lang="en-US">
                <a:latin typeface="Tahoma" pitchFamily="34" charset="0"/>
              </a:rPr>
              <a:t>screw dislocation </a:t>
            </a:r>
          </a:p>
        </p:txBody>
      </p:sp>
      <p:pic>
        <p:nvPicPr>
          <p:cNvPr id="19463" name="Picture 7" descr="ScrewDislocation"/>
          <p:cNvPicPr>
            <a:picLocks noChangeAspect="1" noChangeArrowheads="1" noCrop="1"/>
          </p:cNvPicPr>
          <p:nvPr/>
        </p:nvPicPr>
        <p:blipFill>
          <a:blip r:embed="rId2"/>
          <a:srcRect/>
          <a:stretch>
            <a:fillRect/>
          </a:stretch>
        </p:blipFill>
        <p:spPr bwMode="auto">
          <a:xfrm>
            <a:off x="1136650" y="795338"/>
            <a:ext cx="6864350" cy="5148262"/>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Text Box 4"/>
          <p:cNvSpPr txBox="1">
            <a:spLocks noChangeArrowheads="1"/>
          </p:cNvSpPr>
          <p:nvPr/>
        </p:nvSpPr>
        <p:spPr bwMode="auto">
          <a:xfrm>
            <a:off x="152400" y="244475"/>
            <a:ext cx="8839200" cy="369332"/>
          </a:xfrm>
          <a:prstGeom prst="rect">
            <a:avLst/>
          </a:prstGeom>
          <a:noFill/>
          <a:ln w="9525" algn="ctr">
            <a:noFill/>
            <a:miter lim="800000"/>
            <a:headEnd/>
            <a:tailEnd/>
          </a:ln>
          <a:effectLst/>
        </p:spPr>
        <p:txBody>
          <a:bodyPr>
            <a:spAutoFit/>
          </a:bodyPr>
          <a:lstStyle/>
          <a:p>
            <a:r>
              <a:rPr lang="en-US" b="1" dirty="0">
                <a:latin typeface="Tahoma" pitchFamily="34" charset="0"/>
              </a:rPr>
              <a:t>Work </a:t>
            </a:r>
            <a:r>
              <a:rPr lang="en-US" b="1" dirty="0" smtClean="0">
                <a:latin typeface="Tahoma" pitchFamily="34" charset="0"/>
              </a:rPr>
              <a:t>hardening.</a:t>
            </a:r>
            <a:r>
              <a:rPr lang="en-US" dirty="0" smtClean="0">
                <a:latin typeface="Tahoma" pitchFamily="34" charset="0"/>
              </a:rPr>
              <a:t>    </a:t>
            </a:r>
            <a:endParaRPr lang="en-US" dirty="0">
              <a:latin typeface="Tahoma" pitchFamily="34" charset="0"/>
            </a:endParaRPr>
          </a:p>
        </p:txBody>
      </p:sp>
      <p:sp>
        <p:nvSpPr>
          <p:cNvPr id="25605" name="Text Box 5"/>
          <p:cNvSpPr txBox="1">
            <a:spLocks noChangeArrowheads="1"/>
          </p:cNvSpPr>
          <p:nvPr/>
        </p:nvSpPr>
        <p:spPr bwMode="auto">
          <a:xfrm>
            <a:off x="914400" y="930275"/>
            <a:ext cx="7772400" cy="1187450"/>
          </a:xfrm>
          <a:prstGeom prst="rect">
            <a:avLst/>
          </a:prstGeom>
          <a:noFill/>
          <a:ln w="9525" algn="ctr">
            <a:noFill/>
            <a:miter lim="800000"/>
            <a:headEnd/>
            <a:tailEnd/>
          </a:ln>
          <a:effectLst/>
        </p:spPr>
        <p:txBody>
          <a:bodyPr>
            <a:spAutoFit/>
          </a:bodyPr>
          <a:lstStyle/>
          <a:p>
            <a:r>
              <a:rPr lang="en-US">
                <a:latin typeface="Tahoma" pitchFamily="34" charset="0"/>
              </a:rPr>
              <a:t>Work hardening occurs when so many dislocations are formed in a material that they impede each others' motion.   </a:t>
            </a:r>
          </a:p>
        </p:txBody>
      </p:sp>
      <p:sp>
        <p:nvSpPr>
          <p:cNvPr id="25606" name="Text Box 6"/>
          <p:cNvSpPr txBox="1">
            <a:spLocks noChangeArrowheads="1"/>
          </p:cNvSpPr>
          <p:nvPr/>
        </p:nvSpPr>
        <p:spPr bwMode="auto">
          <a:xfrm>
            <a:off x="914400" y="2301875"/>
            <a:ext cx="7772400" cy="457200"/>
          </a:xfrm>
          <a:prstGeom prst="rect">
            <a:avLst/>
          </a:prstGeom>
          <a:noFill/>
          <a:ln w="9525" algn="ctr">
            <a:noFill/>
            <a:miter lim="800000"/>
            <a:headEnd/>
            <a:tailEnd/>
          </a:ln>
          <a:effectLst/>
        </p:spPr>
        <p:txBody>
          <a:bodyPr>
            <a:spAutoFit/>
          </a:bodyPr>
          <a:lstStyle/>
          <a:p>
            <a:r>
              <a:rPr lang="en-US" dirty="0">
                <a:latin typeface="Tahoma" pitchFamily="34" charset="0"/>
              </a:rPr>
              <a:t>Hard materials are usually brittle.    </a:t>
            </a:r>
          </a:p>
        </p:txBody>
      </p:sp>
      <p:sp>
        <p:nvSpPr>
          <p:cNvPr id="25607" name="Text Box 7"/>
          <p:cNvSpPr txBox="1">
            <a:spLocks noChangeArrowheads="1"/>
          </p:cNvSpPr>
          <p:nvPr/>
        </p:nvSpPr>
        <p:spPr bwMode="auto">
          <a:xfrm>
            <a:off x="152400" y="2971800"/>
            <a:ext cx="8839200" cy="457200"/>
          </a:xfrm>
          <a:prstGeom prst="rect">
            <a:avLst/>
          </a:prstGeom>
          <a:noFill/>
          <a:ln w="9525" algn="ctr">
            <a:noFill/>
            <a:miter lim="800000"/>
            <a:headEnd/>
            <a:tailEnd/>
          </a:ln>
          <a:effectLst/>
        </p:spPr>
        <p:txBody>
          <a:bodyPr>
            <a:spAutoFit/>
          </a:bodyPr>
          <a:lstStyle/>
          <a:p>
            <a:r>
              <a:rPr lang="en-US" b="1">
                <a:latin typeface="Tahoma" pitchFamily="34" charset="0"/>
              </a:rPr>
              <a:t>Annealing</a:t>
            </a:r>
            <a:r>
              <a:rPr lang="en-US">
                <a:latin typeface="Tahoma" pitchFamily="34" charset="0"/>
              </a:rPr>
              <a:t>.   </a:t>
            </a:r>
          </a:p>
        </p:txBody>
      </p:sp>
      <p:sp>
        <p:nvSpPr>
          <p:cNvPr id="25608" name="Text Box 8"/>
          <p:cNvSpPr txBox="1">
            <a:spLocks noChangeArrowheads="1"/>
          </p:cNvSpPr>
          <p:nvPr/>
        </p:nvSpPr>
        <p:spPr bwMode="auto">
          <a:xfrm>
            <a:off x="914400" y="3597275"/>
            <a:ext cx="6705600" cy="1552575"/>
          </a:xfrm>
          <a:prstGeom prst="rect">
            <a:avLst/>
          </a:prstGeom>
          <a:noFill/>
          <a:ln w="9525" algn="ctr">
            <a:noFill/>
            <a:miter lim="800000"/>
            <a:headEnd/>
            <a:tailEnd/>
          </a:ln>
          <a:effectLst/>
        </p:spPr>
        <p:txBody>
          <a:bodyPr>
            <a:spAutoFit/>
          </a:bodyPr>
          <a:lstStyle/>
          <a:p>
            <a:r>
              <a:rPr lang="en-US">
                <a:latin typeface="Tahoma" pitchFamily="34" charset="0"/>
              </a:rPr>
              <a:t>Heating (annealing) a crystal can remove dislocations. The edge dislocation animation from Germany we saw showed an edge dislocation being annealed out.</a:t>
            </a:r>
          </a:p>
        </p:txBody>
      </p:sp>
      <p:sp>
        <p:nvSpPr>
          <p:cNvPr id="25609" name="Text Box 9"/>
          <p:cNvSpPr txBox="1">
            <a:spLocks noChangeArrowheads="1"/>
          </p:cNvSpPr>
          <p:nvPr/>
        </p:nvSpPr>
        <p:spPr bwMode="auto">
          <a:xfrm>
            <a:off x="914400" y="5410200"/>
            <a:ext cx="7772400" cy="822325"/>
          </a:xfrm>
          <a:prstGeom prst="rect">
            <a:avLst/>
          </a:prstGeom>
          <a:noFill/>
          <a:ln w="9525" algn="ctr">
            <a:noFill/>
            <a:miter lim="800000"/>
            <a:headEnd/>
            <a:tailEnd/>
          </a:ln>
          <a:effectLst/>
        </p:spPr>
        <p:txBody>
          <a:bodyPr>
            <a:spAutoFit/>
          </a:bodyPr>
          <a:lstStyle/>
          <a:p>
            <a:r>
              <a:rPr lang="en-US">
                <a:latin typeface="Tahoma" pitchFamily="34" charset="0"/>
              </a:rPr>
              <a:t>Annealing makes metals more ductile, and can be used to remove secondary phases in crystals.     </a:t>
            </a:r>
          </a:p>
        </p:txBody>
      </p:sp>
      <p:pic>
        <p:nvPicPr>
          <p:cNvPr id="25610" name="Picture 10" descr="verstz_a"/>
          <p:cNvPicPr>
            <a:picLocks noChangeAspect="1" noChangeArrowheads="1" noCrop="1"/>
          </p:cNvPicPr>
          <p:nvPr/>
        </p:nvPicPr>
        <p:blipFill>
          <a:blip r:embed="rId2"/>
          <a:srcRect/>
          <a:stretch>
            <a:fillRect/>
          </a:stretch>
        </p:blipFill>
        <p:spPr bwMode="auto">
          <a:xfrm>
            <a:off x="7543800" y="4051300"/>
            <a:ext cx="1306513" cy="977900"/>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560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6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5" grpId="0"/>
      <p:bldP spid="25606" grpId="0"/>
      <p:bldP spid="25607" grpId="0"/>
      <p:bldP spid="25608" grpId="0"/>
      <p:bldP spid="25609" grpId="0"/>
    </p:bld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ChangeArrowheads="1"/>
          </p:cNvSpPr>
          <p:nvPr/>
        </p:nvSpPr>
        <p:spPr bwMode="auto">
          <a:xfrm>
            <a:off x="228600" y="228600"/>
            <a:ext cx="8610600" cy="519113"/>
          </a:xfrm>
          <a:prstGeom prst="rect">
            <a:avLst/>
          </a:prstGeom>
          <a:solidFill>
            <a:srgbClr val="000080">
              <a:alpha val="50000"/>
            </a:srgbClr>
          </a:solidFill>
          <a:ln w="9525">
            <a:noFill/>
            <a:miter lim="800000"/>
            <a:headEnd/>
            <a:tailEnd/>
          </a:ln>
          <a:effectLst/>
        </p:spPr>
        <p:txBody>
          <a:bodyPr>
            <a:spAutoFit/>
          </a:bodyPr>
          <a:lstStyle/>
          <a:p>
            <a:r>
              <a:rPr lang="en-US" sz="2800" dirty="0" smtClean="0">
                <a:latin typeface="Tahoma" pitchFamily="34" charset="0"/>
              </a:rPr>
              <a:t>Note:  </a:t>
            </a:r>
            <a:r>
              <a:rPr lang="en-US" sz="2800" dirty="0">
                <a:latin typeface="Tahoma" pitchFamily="34" charset="0"/>
              </a:rPr>
              <a:t>Ionic Crystals</a:t>
            </a:r>
            <a:r>
              <a:rPr lang="en-US" dirty="0">
                <a:latin typeface="Tahoma" pitchFamily="34" charset="0"/>
              </a:rPr>
              <a:t> </a:t>
            </a:r>
            <a:r>
              <a:rPr lang="en-US" sz="2800" dirty="0">
                <a:latin typeface="Tahoma" pitchFamily="34" charset="0"/>
              </a:rPr>
              <a:t> </a:t>
            </a:r>
          </a:p>
        </p:txBody>
      </p:sp>
      <p:sp>
        <p:nvSpPr>
          <p:cNvPr id="26629" name="Text Box 5"/>
          <p:cNvSpPr txBox="1">
            <a:spLocks noChangeArrowheads="1"/>
          </p:cNvSpPr>
          <p:nvPr/>
        </p:nvSpPr>
        <p:spPr bwMode="auto">
          <a:xfrm>
            <a:off x="152400" y="838200"/>
            <a:ext cx="8839200" cy="1187450"/>
          </a:xfrm>
          <a:prstGeom prst="rect">
            <a:avLst/>
          </a:prstGeom>
          <a:noFill/>
          <a:ln w="9525" algn="ctr">
            <a:noFill/>
            <a:miter lim="800000"/>
            <a:headEnd/>
            <a:tailEnd/>
          </a:ln>
          <a:effectLst/>
        </p:spPr>
        <p:txBody>
          <a:bodyPr>
            <a:spAutoFit/>
          </a:bodyPr>
          <a:lstStyle/>
          <a:p>
            <a:r>
              <a:rPr lang="en-US">
                <a:latin typeface="Tahoma" pitchFamily="34" charset="0"/>
              </a:rPr>
              <a:t>An atom with a low ionization energy can give up an electron to another atom with a high electron affinity.  The result is an ionic crystal.  </a:t>
            </a:r>
          </a:p>
        </p:txBody>
      </p:sp>
      <p:sp>
        <p:nvSpPr>
          <p:cNvPr id="26630" name="Text Box 6"/>
          <p:cNvSpPr txBox="1">
            <a:spLocks noChangeArrowheads="1"/>
          </p:cNvSpPr>
          <p:nvPr/>
        </p:nvSpPr>
        <p:spPr bwMode="auto">
          <a:xfrm>
            <a:off x="152400" y="2133600"/>
            <a:ext cx="8839200" cy="822325"/>
          </a:xfrm>
          <a:prstGeom prst="rect">
            <a:avLst/>
          </a:prstGeom>
          <a:noFill/>
          <a:ln w="9525" algn="ctr">
            <a:noFill/>
            <a:miter lim="800000"/>
            <a:headEnd/>
            <a:tailEnd/>
          </a:ln>
          <a:effectLst/>
        </p:spPr>
        <p:txBody>
          <a:bodyPr>
            <a:spAutoFit/>
          </a:bodyPr>
          <a:lstStyle/>
          <a:p>
            <a:r>
              <a:rPr lang="en-US">
                <a:latin typeface="Tahoma" pitchFamily="34" charset="0"/>
              </a:rPr>
              <a:t>To calculate the stability of an ionic crystal, we need to consider all of the energies involved in its formation.  </a:t>
            </a:r>
          </a:p>
        </p:txBody>
      </p:sp>
      <p:sp>
        <p:nvSpPr>
          <p:cNvPr id="26632" name="Text Box 8"/>
          <p:cNvSpPr txBox="1">
            <a:spLocks noChangeArrowheads="1"/>
          </p:cNvSpPr>
          <p:nvPr/>
        </p:nvSpPr>
        <p:spPr bwMode="auto">
          <a:xfrm>
            <a:off x="914400" y="3036888"/>
            <a:ext cx="7924800" cy="495300"/>
          </a:xfrm>
          <a:prstGeom prst="rect">
            <a:avLst/>
          </a:prstGeom>
          <a:noFill/>
          <a:ln w="38100" algn="ctr">
            <a:solidFill>
              <a:schemeClr val="tx1"/>
            </a:solidFill>
            <a:miter lim="800000"/>
            <a:headEnd/>
            <a:tailEnd/>
          </a:ln>
          <a:effectLst/>
        </p:spPr>
        <p:txBody>
          <a:bodyPr>
            <a:spAutoFit/>
          </a:bodyPr>
          <a:lstStyle/>
          <a:p>
            <a:r>
              <a:rPr lang="en-US">
                <a:latin typeface="Tahoma" pitchFamily="34" charset="0"/>
              </a:rPr>
              <a:t>Positive energy is required to ionize an atom.   </a:t>
            </a:r>
          </a:p>
        </p:txBody>
      </p:sp>
      <p:sp>
        <p:nvSpPr>
          <p:cNvPr id="26633" name="Text Box 9"/>
          <p:cNvSpPr txBox="1">
            <a:spLocks noChangeArrowheads="1"/>
          </p:cNvSpPr>
          <p:nvPr/>
        </p:nvSpPr>
        <p:spPr bwMode="auto">
          <a:xfrm>
            <a:off x="914400" y="3581400"/>
            <a:ext cx="7924800" cy="860425"/>
          </a:xfrm>
          <a:prstGeom prst="rect">
            <a:avLst/>
          </a:prstGeom>
          <a:noFill/>
          <a:ln w="38100" algn="ctr">
            <a:solidFill>
              <a:schemeClr val="tx1"/>
            </a:solidFill>
            <a:miter lim="800000"/>
            <a:headEnd/>
            <a:tailEnd/>
          </a:ln>
          <a:effectLst/>
        </p:spPr>
        <p:txBody>
          <a:bodyPr>
            <a:spAutoFit/>
          </a:bodyPr>
          <a:lstStyle/>
          <a:p>
            <a:r>
              <a:rPr lang="en-US">
                <a:latin typeface="Tahoma" pitchFamily="34" charset="0"/>
              </a:rPr>
              <a:t>Energy is released when a highly electronegative atom gains an electron (energy becomes more -).    </a:t>
            </a:r>
          </a:p>
        </p:txBody>
      </p:sp>
      <p:sp>
        <p:nvSpPr>
          <p:cNvPr id="26634" name="Text Box 10"/>
          <p:cNvSpPr txBox="1">
            <a:spLocks noChangeArrowheads="1"/>
          </p:cNvSpPr>
          <p:nvPr/>
        </p:nvSpPr>
        <p:spPr bwMode="auto">
          <a:xfrm>
            <a:off x="914400" y="4495800"/>
            <a:ext cx="7924800" cy="860425"/>
          </a:xfrm>
          <a:prstGeom prst="rect">
            <a:avLst/>
          </a:prstGeom>
          <a:noFill/>
          <a:ln w="38100" algn="ctr">
            <a:solidFill>
              <a:schemeClr val="tx1"/>
            </a:solidFill>
            <a:miter lim="800000"/>
            <a:headEnd/>
            <a:tailEnd/>
          </a:ln>
          <a:effectLst/>
        </p:spPr>
        <p:txBody>
          <a:bodyPr>
            <a:spAutoFit/>
          </a:bodyPr>
          <a:lstStyle/>
          <a:p>
            <a:r>
              <a:rPr lang="en-US">
                <a:latin typeface="Tahoma" pitchFamily="34" charset="0"/>
              </a:rPr>
              <a:t>There are </a:t>
            </a:r>
            <a:r>
              <a:rPr lang="en-US">
                <a:latin typeface="Tahoma" pitchFamily="34" charset="0"/>
                <a:sym typeface="Symbol" pitchFamily="18" charset="2"/>
              </a:rPr>
              <a:t></a:t>
            </a:r>
            <a:r>
              <a:rPr lang="en-US">
                <a:latin typeface="Tahoma" pitchFamily="34" charset="0"/>
              </a:rPr>
              <a:t> contributions to the energy from the Coulomb force between charged ions.    </a:t>
            </a:r>
          </a:p>
        </p:txBody>
      </p:sp>
      <p:sp>
        <p:nvSpPr>
          <p:cNvPr id="26635" name="Text Box 11"/>
          <p:cNvSpPr txBox="1">
            <a:spLocks noChangeArrowheads="1"/>
          </p:cNvSpPr>
          <p:nvPr/>
        </p:nvSpPr>
        <p:spPr bwMode="auto">
          <a:xfrm>
            <a:off x="914400" y="5410200"/>
            <a:ext cx="7924800" cy="1225550"/>
          </a:xfrm>
          <a:prstGeom prst="rect">
            <a:avLst/>
          </a:prstGeom>
          <a:noFill/>
          <a:ln w="38100" algn="ctr">
            <a:solidFill>
              <a:schemeClr val="tx1"/>
            </a:solidFill>
            <a:miter lim="800000"/>
            <a:headEnd/>
            <a:tailEnd/>
          </a:ln>
          <a:effectLst/>
        </p:spPr>
        <p:txBody>
          <a:bodyPr>
            <a:spAutoFit/>
          </a:bodyPr>
          <a:lstStyle/>
          <a:p>
            <a:r>
              <a:rPr lang="en-US">
                <a:latin typeface="Tahoma" pitchFamily="34" charset="0"/>
              </a:rPr>
              <a:t>There is a + contribution to the energy from the overlap of core atomic electrons (the Pauli exclusion principle at work).</a:t>
            </a:r>
          </a:p>
        </p:txBody>
      </p:sp>
      <p:sp>
        <p:nvSpPr>
          <p:cNvPr id="26636" name="Rectangle 12"/>
          <p:cNvSpPr>
            <a:spLocks noChangeArrowheads="1"/>
          </p:cNvSpPr>
          <p:nvPr/>
        </p:nvSpPr>
        <p:spPr bwMode="auto">
          <a:xfrm>
            <a:off x="304800" y="2997200"/>
            <a:ext cx="474663" cy="519113"/>
          </a:xfrm>
          <a:prstGeom prst="rect">
            <a:avLst/>
          </a:prstGeom>
          <a:noFill/>
          <a:ln w="9525" algn="ctr">
            <a:noFill/>
            <a:miter lim="800000"/>
            <a:headEnd/>
            <a:tailEnd/>
          </a:ln>
          <a:effectLst/>
        </p:spPr>
        <p:txBody>
          <a:bodyPr wrap="none">
            <a:spAutoFit/>
          </a:bodyPr>
          <a:lstStyle/>
          <a:p>
            <a:r>
              <a:rPr lang="en-US" sz="2800" b="1">
                <a:solidFill>
                  <a:srgbClr val="FFFF00"/>
                </a:solidFill>
                <a:latin typeface="Tahoma" pitchFamily="34" charset="0"/>
              </a:rPr>
              <a:t>+</a:t>
            </a:r>
          </a:p>
        </p:txBody>
      </p:sp>
      <p:sp>
        <p:nvSpPr>
          <p:cNvPr id="26637" name="Rectangle 13"/>
          <p:cNvSpPr>
            <a:spLocks noChangeArrowheads="1"/>
          </p:cNvSpPr>
          <p:nvPr/>
        </p:nvSpPr>
        <p:spPr bwMode="auto">
          <a:xfrm>
            <a:off x="309563" y="5715000"/>
            <a:ext cx="474662" cy="519113"/>
          </a:xfrm>
          <a:prstGeom prst="rect">
            <a:avLst/>
          </a:prstGeom>
          <a:noFill/>
          <a:ln w="9525" algn="ctr">
            <a:noFill/>
            <a:miter lim="800000"/>
            <a:headEnd/>
            <a:tailEnd/>
          </a:ln>
          <a:effectLst/>
        </p:spPr>
        <p:txBody>
          <a:bodyPr wrap="none">
            <a:spAutoFit/>
          </a:bodyPr>
          <a:lstStyle/>
          <a:p>
            <a:r>
              <a:rPr lang="en-US" sz="2800" b="1">
                <a:solidFill>
                  <a:srgbClr val="FFFF00"/>
                </a:solidFill>
                <a:latin typeface="Tahoma" pitchFamily="34" charset="0"/>
              </a:rPr>
              <a:t>+</a:t>
            </a:r>
          </a:p>
        </p:txBody>
      </p:sp>
      <p:sp>
        <p:nvSpPr>
          <p:cNvPr id="26638" name="Rectangle 14"/>
          <p:cNvSpPr>
            <a:spLocks noChangeArrowheads="1"/>
          </p:cNvSpPr>
          <p:nvPr/>
        </p:nvSpPr>
        <p:spPr bwMode="auto">
          <a:xfrm>
            <a:off x="357188" y="4586288"/>
            <a:ext cx="379412" cy="519112"/>
          </a:xfrm>
          <a:prstGeom prst="rect">
            <a:avLst/>
          </a:prstGeom>
          <a:noFill/>
          <a:ln w="9525" algn="ctr">
            <a:noFill/>
            <a:miter lim="800000"/>
            <a:headEnd/>
            <a:tailEnd/>
          </a:ln>
          <a:effectLst/>
        </p:spPr>
        <p:txBody>
          <a:bodyPr wrap="none">
            <a:spAutoFit/>
          </a:bodyPr>
          <a:lstStyle/>
          <a:p>
            <a:r>
              <a:rPr lang="en-US" sz="2800" b="1">
                <a:solidFill>
                  <a:srgbClr val="FFFF00"/>
                </a:solidFill>
                <a:latin typeface="Tahoma" pitchFamily="34" charset="0"/>
                <a:sym typeface="Symbol" pitchFamily="18" charset="2"/>
              </a:rPr>
              <a:t></a:t>
            </a:r>
          </a:p>
        </p:txBody>
      </p:sp>
      <p:sp>
        <p:nvSpPr>
          <p:cNvPr id="26639" name="Rectangle 15"/>
          <p:cNvSpPr>
            <a:spLocks noChangeArrowheads="1"/>
          </p:cNvSpPr>
          <p:nvPr/>
        </p:nvSpPr>
        <p:spPr bwMode="auto">
          <a:xfrm>
            <a:off x="369888" y="3748088"/>
            <a:ext cx="338137" cy="519112"/>
          </a:xfrm>
          <a:prstGeom prst="rect">
            <a:avLst/>
          </a:prstGeom>
          <a:noFill/>
          <a:ln w="9525" algn="ctr">
            <a:noFill/>
            <a:miter lim="800000"/>
            <a:headEnd/>
            <a:tailEnd/>
          </a:ln>
          <a:effectLst/>
        </p:spPr>
        <p:txBody>
          <a:bodyPr wrap="none">
            <a:spAutoFit/>
          </a:bodyPr>
          <a:lstStyle/>
          <a:p>
            <a:r>
              <a:rPr lang="en-US" sz="2800" b="1">
                <a:solidFill>
                  <a:srgbClr val="FFFF00"/>
                </a:solidFill>
                <a:latin typeface="Tahoma" pitchFamily="34" charset="0"/>
              </a:rPr>
              <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6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6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3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6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6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6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3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6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6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0" grpId="0"/>
      <p:bldP spid="26632" grpId="0" animBg="1"/>
      <p:bldP spid="26633" grpId="0" animBg="1"/>
      <p:bldP spid="26634" grpId="0" animBg="1"/>
      <p:bldP spid="26635" grpId="0" animBg="1"/>
      <p:bldP spid="26636" grpId="0"/>
      <p:bldP spid="26637" grpId="0"/>
      <p:bldP spid="26638" grpId="0"/>
      <p:bldP spid="26639" grpId="0"/>
    </p:bld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Text Box 4"/>
          <p:cNvSpPr txBox="1">
            <a:spLocks noChangeArrowheads="1"/>
          </p:cNvSpPr>
          <p:nvPr/>
        </p:nvSpPr>
        <p:spPr bwMode="auto">
          <a:xfrm>
            <a:off x="152400" y="352425"/>
            <a:ext cx="8839200" cy="1552575"/>
          </a:xfrm>
          <a:prstGeom prst="rect">
            <a:avLst/>
          </a:prstGeom>
          <a:noFill/>
          <a:ln w="9525" algn="ctr">
            <a:noFill/>
            <a:miter lim="800000"/>
            <a:headEnd/>
            <a:tailEnd/>
          </a:ln>
          <a:effectLst/>
        </p:spPr>
        <p:txBody>
          <a:bodyPr>
            <a:spAutoFit/>
          </a:bodyPr>
          <a:lstStyle/>
          <a:p>
            <a:r>
              <a:rPr lang="en-US">
                <a:latin typeface="Tahoma" pitchFamily="34" charset="0"/>
              </a:rPr>
              <a:t>Remember that negative energies mean stable systems.  If you add up all the above energies and get a more negative energy than for the separate, isolated atoms, then the ionic crystal is stable.  </a:t>
            </a:r>
          </a:p>
        </p:txBody>
      </p:sp>
      <p:sp>
        <p:nvSpPr>
          <p:cNvPr id="27653" name="Text Box 5"/>
          <p:cNvSpPr txBox="1">
            <a:spLocks noChangeArrowheads="1"/>
          </p:cNvSpPr>
          <p:nvPr/>
        </p:nvSpPr>
        <p:spPr bwMode="auto">
          <a:xfrm>
            <a:off x="914400" y="2073275"/>
            <a:ext cx="7772400" cy="457200"/>
          </a:xfrm>
          <a:prstGeom prst="rect">
            <a:avLst/>
          </a:prstGeom>
          <a:noFill/>
          <a:ln w="9525" algn="ctr">
            <a:noFill/>
            <a:miter lim="800000"/>
            <a:headEnd/>
            <a:tailEnd/>
          </a:ln>
          <a:effectLst/>
        </p:spPr>
        <p:txBody>
          <a:bodyPr>
            <a:spAutoFit/>
          </a:bodyPr>
          <a:lstStyle/>
          <a:p>
            <a:r>
              <a:rPr lang="en-US">
                <a:latin typeface="Tahoma" pitchFamily="34" charset="0"/>
              </a:rPr>
              <a:t>We’ll go through that exercise soon.   </a:t>
            </a:r>
          </a:p>
        </p:txBody>
      </p:sp>
      <p:sp>
        <p:nvSpPr>
          <p:cNvPr id="27654" name="Text Box 6"/>
          <p:cNvSpPr txBox="1">
            <a:spLocks noChangeArrowheads="1"/>
          </p:cNvSpPr>
          <p:nvPr/>
        </p:nvSpPr>
        <p:spPr bwMode="auto">
          <a:xfrm>
            <a:off x="152400" y="3079750"/>
            <a:ext cx="8839200" cy="1187450"/>
          </a:xfrm>
          <a:prstGeom prst="rect">
            <a:avLst/>
          </a:prstGeom>
          <a:noFill/>
          <a:ln w="9525" algn="ctr">
            <a:noFill/>
            <a:miter lim="800000"/>
            <a:headEnd/>
            <a:tailEnd/>
          </a:ln>
          <a:effectLst/>
        </p:spPr>
        <p:txBody>
          <a:bodyPr>
            <a:spAutoFit/>
          </a:bodyPr>
          <a:lstStyle/>
          <a:p>
            <a:r>
              <a:rPr lang="en-US">
                <a:latin typeface="Tahoma" pitchFamily="34" charset="0"/>
              </a:rPr>
              <a:t>Ionic crystals are generally close-packed, because nature "wants" as many ions of different charge squeezed together as possible.  </a:t>
            </a:r>
          </a:p>
        </p:txBody>
      </p:sp>
      <p:sp>
        <p:nvSpPr>
          <p:cNvPr id="27655" name="Text Box 7"/>
          <p:cNvSpPr txBox="1">
            <a:spLocks noChangeArrowheads="1"/>
          </p:cNvSpPr>
          <p:nvPr/>
        </p:nvSpPr>
        <p:spPr bwMode="auto">
          <a:xfrm>
            <a:off x="914400" y="4495800"/>
            <a:ext cx="7772400" cy="457200"/>
          </a:xfrm>
          <a:prstGeom prst="rect">
            <a:avLst/>
          </a:prstGeom>
          <a:noFill/>
          <a:ln w="9525" algn="ctr">
            <a:noFill/>
            <a:miter lim="800000"/>
            <a:headEnd/>
            <a:tailEnd/>
          </a:ln>
          <a:effectLst/>
        </p:spPr>
        <p:txBody>
          <a:bodyPr>
            <a:spAutoFit/>
          </a:bodyPr>
          <a:lstStyle/>
          <a:p>
            <a:r>
              <a:rPr lang="en-US">
                <a:latin typeface="Tahoma" pitchFamily="34" charset="0"/>
              </a:rPr>
              <a:t>Like-charged ions never come in contact.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65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6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4" grpId="0"/>
      <p:bldP spid="27655" grpId="0"/>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9" name="Rectangle 7"/>
          <p:cNvSpPr>
            <a:spLocks noChangeArrowheads="1"/>
          </p:cNvSpPr>
          <p:nvPr/>
        </p:nvSpPr>
        <p:spPr bwMode="auto">
          <a:xfrm>
            <a:off x="3105150" y="2590800"/>
            <a:ext cx="2362200" cy="2133600"/>
          </a:xfrm>
          <a:prstGeom prst="rect">
            <a:avLst/>
          </a:prstGeom>
          <a:solidFill>
            <a:schemeClr val="bg1"/>
          </a:solidFill>
          <a:ln w="9525" algn="ctr">
            <a:noFill/>
            <a:miter lim="800000"/>
            <a:headEnd/>
            <a:tailEnd/>
          </a:ln>
          <a:effectLst/>
        </p:spPr>
        <p:txBody>
          <a:bodyPr wrap="none" anchor="ctr">
            <a:spAutoFit/>
          </a:bodyPr>
          <a:lstStyle/>
          <a:p>
            <a:endParaRPr lang="en-US"/>
          </a:p>
        </p:txBody>
      </p:sp>
      <p:sp>
        <p:nvSpPr>
          <p:cNvPr id="28676" name="Text Box 4"/>
          <p:cNvSpPr txBox="1">
            <a:spLocks noChangeArrowheads="1"/>
          </p:cNvSpPr>
          <p:nvPr/>
        </p:nvSpPr>
        <p:spPr bwMode="auto">
          <a:xfrm>
            <a:off x="152400" y="352425"/>
            <a:ext cx="8839200" cy="457200"/>
          </a:xfrm>
          <a:prstGeom prst="rect">
            <a:avLst/>
          </a:prstGeom>
          <a:noFill/>
          <a:ln w="9525" algn="ctr">
            <a:noFill/>
            <a:miter lim="800000"/>
            <a:headEnd/>
            <a:tailEnd/>
          </a:ln>
          <a:effectLst/>
        </p:spPr>
        <p:txBody>
          <a:bodyPr>
            <a:spAutoFit/>
          </a:bodyPr>
          <a:lstStyle/>
          <a:p>
            <a:r>
              <a:rPr lang="en-US">
                <a:latin typeface="Tahoma" pitchFamily="34" charset="0"/>
              </a:rPr>
              <a:t>There are two primary structures for ionic crystals.  </a:t>
            </a:r>
          </a:p>
        </p:txBody>
      </p:sp>
      <p:pic>
        <p:nvPicPr>
          <p:cNvPr id="28677" name="Picture 5" descr="fcc1"/>
          <p:cNvPicPr>
            <a:picLocks noChangeAspect="1" noChangeArrowheads="1"/>
          </p:cNvPicPr>
          <p:nvPr/>
        </p:nvPicPr>
        <p:blipFill>
          <a:blip r:embed="rId2"/>
          <a:srcRect/>
          <a:stretch>
            <a:fillRect/>
          </a:stretch>
        </p:blipFill>
        <p:spPr bwMode="auto">
          <a:xfrm>
            <a:off x="1828800" y="2057400"/>
            <a:ext cx="5067300" cy="4000500"/>
          </a:xfrm>
          <a:prstGeom prst="rect">
            <a:avLst/>
          </a:prstGeom>
          <a:noFill/>
        </p:spPr>
      </p:pic>
      <p:sp>
        <p:nvSpPr>
          <p:cNvPr id="28678" name="Text Box 6"/>
          <p:cNvSpPr txBox="1">
            <a:spLocks noChangeArrowheads="1"/>
          </p:cNvSpPr>
          <p:nvPr/>
        </p:nvSpPr>
        <p:spPr bwMode="auto">
          <a:xfrm>
            <a:off x="152400" y="1219200"/>
            <a:ext cx="8839200" cy="457200"/>
          </a:xfrm>
          <a:prstGeom prst="rect">
            <a:avLst/>
          </a:prstGeom>
          <a:noFill/>
          <a:ln w="9525" algn="ctr">
            <a:noFill/>
            <a:miter lim="800000"/>
            <a:headEnd/>
            <a:tailEnd/>
          </a:ln>
          <a:effectLst/>
        </p:spPr>
        <p:txBody>
          <a:bodyPr>
            <a:spAutoFit/>
          </a:bodyPr>
          <a:lstStyle/>
          <a:p>
            <a:r>
              <a:rPr lang="en-US">
                <a:latin typeface="Tahoma" pitchFamily="34" charset="0"/>
              </a:rPr>
              <a:t>Face-centered cubic (fcc).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animBg="1"/>
    </p:bld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0" name="Picture 4" descr="fcc01t"/>
          <p:cNvPicPr>
            <a:picLocks noChangeAspect="1" noChangeArrowheads="1"/>
          </p:cNvPicPr>
          <p:nvPr/>
        </p:nvPicPr>
        <p:blipFill>
          <a:blip r:embed="rId2"/>
          <a:srcRect/>
          <a:stretch>
            <a:fillRect/>
          </a:stretch>
        </p:blipFill>
        <p:spPr bwMode="auto">
          <a:xfrm>
            <a:off x="1828800" y="228600"/>
            <a:ext cx="4991100" cy="4533900"/>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Text Box 4"/>
          <p:cNvSpPr txBox="1">
            <a:spLocks noChangeArrowheads="1"/>
          </p:cNvSpPr>
          <p:nvPr/>
        </p:nvSpPr>
        <p:spPr bwMode="auto">
          <a:xfrm>
            <a:off x="152400" y="352425"/>
            <a:ext cx="8839200" cy="457200"/>
          </a:xfrm>
          <a:prstGeom prst="rect">
            <a:avLst/>
          </a:prstGeom>
          <a:noFill/>
          <a:ln w="9525" algn="ctr">
            <a:noFill/>
            <a:miter lim="800000"/>
            <a:headEnd/>
            <a:tailEnd/>
          </a:ln>
          <a:effectLst/>
        </p:spPr>
        <p:txBody>
          <a:bodyPr>
            <a:spAutoFit/>
          </a:bodyPr>
          <a:lstStyle/>
          <a:p>
            <a:r>
              <a:rPr lang="en-US">
                <a:latin typeface="Tahoma" pitchFamily="34" charset="0"/>
              </a:rPr>
              <a:t>An example of the fcc structure is sodium chloride (NaCl).  </a:t>
            </a:r>
          </a:p>
        </p:txBody>
      </p:sp>
      <p:pic>
        <p:nvPicPr>
          <p:cNvPr id="30726" name="Picture 6" descr="nacl1t"/>
          <p:cNvPicPr>
            <a:picLocks noChangeAspect="1" noChangeArrowheads="1"/>
          </p:cNvPicPr>
          <p:nvPr/>
        </p:nvPicPr>
        <p:blipFill>
          <a:blip r:embed="rId2"/>
          <a:srcRect/>
          <a:stretch>
            <a:fillRect/>
          </a:stretch>
        </p:blipFill>
        <p:spPr bwMode="auto">
          <a:xfrm>
            <a:off x="990600" y="1581150"/>
            <a:ext cx="2857500" cy="2857500"/>
          </a:xfrm>
          <a:prstGeom prst="rect">
            <a:avLst/>
          </a:prstGeom>
          <a:noFill/>
        </p:spPr>
      </p:pic>
      <p:pic>
        <p:nvPicPr>
          <p:cNvPr id="30727" name="Picture 7" descr="nacl2t"/>
          <p:cNvPicPr>
            <a:picLocks noChangeAspect="1" noChangeArrowheads="1"/>
          </p:cNvPicPr>
          <p:nvPr/>
        </p:nvPicPr>
        <p:blipFill>
          <a:blip r:embed="rId3"/>
          <a:srcRect/>
          <a:stretch>
            <a:fillRect/>
          </a:stretch>
        </p:blipFill>
        <p:spPr bwMode="auto">
          <a:xfrm>
            <a:off x="5067300" y="1524000"/>
            <a:ext cx="2857500" cy="2857500"/>
          </a:xfrm>
          <a:prstGeom prst="rect">
            <a:avLst/>
          </a:prstGeom>
          <a:noFill/>
        </p:spPr>
      </p:pic>
      <p:sp>
        <p:nvSpPr>
          <p:cNvPr id="30728" name="Rectangle 8"/>
          <p:cNvSpPr>
            <a:spLocks noChangeArrowheads="1"/>
          </p:cNvSpPr>
          <p:nvPr/>
        </p:nvSpPr>
        <p:spPr bwMode="auto">
          <a:xfrm>
            <a:off x="1851025" y="4344988"/>
            <a:ext cx="800100" cy="457200"/>
          </a:xfrm>
          <a:prstGeom prst="rect">
            <a:avLst/>
          </a:prstGeom>
          <a:noFill/>
          <a:ln w="9525" algn="ctr">
            <a:noFill/>
            <a:miter lim="800000"/>
            <a:headEnd/>
            <a:tailEnd/>
          </a:ln>
          <a:effectLst/>
        </p:spPr>
        <p:txBody>
          <a:bodyPr wrap="none">
            <a:spAutoFit/>
          </a:bodyPr>
          <a:lstStyle/>
          <a:p>
            <a:r>
              <a:rPr lang="en-US">
                <a:latin typeface="Tahoma" pitchFamily="34" charset="0"/>
              </a:rPr>
              <a:t>NaCl</a:t>
            </a:r>
          </a:p>
        </p:txBody>
      </p:sp>
      <p:sp>
        <p:nvSpPr>
          <p:cNvPr id="30730" name="Rectangle 10"/>
          <p:cNvSpPr>
            <a:spLocks noChangeArrowheads="1"/>
          </p:cNvSpPr>
          <p:nvPr/>
        </p:nvSpPr>
        <p:spPr bwMode="auto">
          <a:xfrm>
            <a:off x="5470525" y="4344988"/>
            <a:ext cx="2122488" cy="1187450"/>
          </a:xfrm>
          <a:prstGeom prst="rect">
            <a:avLst/>
          </a:prstGeom>
          <a:noFill/>
          <a:ln w="9525" algn="ctr">
            <a:noFill/>
            <a:miter lim="800000"/>
            <a:headEnd/>
            <a:tailEnd/>
          </a:ln>
          <a:effectLst/>
        </p:spPr>
        <p:txBody>
          <a:bodyPr wrap="none">
            <a:spAutoFit/>
          </a:bodyPr>
          <a:lstStyle/>
          <a:p>
            <a:pPr algn="ctr"/>
            <a:r>
              <a:rPr lang="en-US">
                <a:latin typeface="Tahoma" pitchFamily="34" charset="0"/>
              </a:rPr>
              <a:t>NaCl</a:t>
            </a:r>
          </a:p>
          <a:p>
            <a:pPr algn="ctr"/>
            <a:r>
              <a:rPr lang="en-US">
                <a:latin typeface="Tahoma" pitchFamily="34" charset="0"/>
              </a:rPr>
              <a:t>a bit of the</a:t>
            </a:r>
          </a:p>
          <a:p>
            <a:pPr algn="ctr"/>
            <a:r>
              <a:rPr lang="en-US">
                <a:latin typeface="Tahoma" pitchFamily="34" charset="0"/>
              </a:rPr>
              <a:t>front sliced off</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30" grpId="0"/>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0" name="Rectangle 6"/>
          <p:cNvSpPr>
            <a:spLocks noChangeArrowheads="1"/>
          </p:cNvSpPr>
          <p:nvPr/>
        </p:nvSpPr>
        <p:spPr bwMode="auto">
          <a:xfrm>
            <a:off x="3171825" y="2133600"/>
            <a:ext cx="2133600" cy="1981200"/>
          </a:xfrm>
          <a:prstGeom prst="rect">
            <a:avLst/>
          </a:prstGeom>
          <a:solidFill>
            <a:schemeClr val="bg1"/>
          </a:solidFill>
          <a:ln w="9525" algn="ctr">
            <a:noFill/>
            <a:miter lim="800000"/>
            <a:headEnd/>
            <a:tailEnd/>
          </a:ln>
          <a:effectLst/>
        </p:spPr>
        <p:txBody>
          <a:bodyPr wrap="none" anchor="ctr">
            <a:spAutoFit/>
          </a:bodyPr>
          <a:lstStyle/>
          <a:p>
            <a:endParaRPr lang="en-US"/>
          </a:p>
        </p:txBody>
      </p:sp>
      <p:sp>
        <p:nvSpPr>
          <p:cNvPr id="31748" name="Text Box 4"/>
          <p:cNvSpPr txBox="1">
            <a:spLocks noChangeArrowheads="1"/>
          </p:cNvSpPr>
          <p:nvPr/>
        </p:nvSpPr>
        <p:spPr bwMode="auto">
          <a:xfrm>
            <a:off x="152400" y="457200"/>
            <a:ext cx="8839200" cy="822325"/>
          </a:xfrm>
          <a:prstGeom prst="rect">
            <a:avLst/>
          </a:prstGeom>
          <a:noFill/>
          <a:ln w="9525" algn="ctr">
            <a:noFill/>
            <a:miter lim="800000"/>
            <a:headEnd/>
            <a:tailEnd/>
          </a:ln>
          <a:effectLst/>
        </p:spPr>
        <p:txBody>
          <a:bodyPr>
            <a:spAutoFit/>
          </a:bodyPr>
          <a:lstStyle/>
          <a:p>
            <a:r>
              <a:rPr lang="en-US">
                <a:latin typeface="Tahoma" pitchFamily="34" charset="0"/>
              </a:rPr>
              <a:t>The other main ionic crystal structure is body-centered cubic (bcc). </a:t>
            </a:r>
          </a:p>
        </p:txBody>
      </p:sp>
      <p:pic>
        <p:nvPicPr>
          <p:cNvPr id="31749" name="Picture 5" descr="bcc1"/>
          <p:cNvPicPr>
            <a:picLocks noChangeAspect="1" noChangeArrowheads="1"/>
          </p:cNvPicPr>
          <p:nvPr/>
        </p:nvPicPr>
        <p:blipFill>
          <a:blip r:embed="rId2"/>
          <a:srcRect/>
          <a:stretch>
            <a:fillRect/>
          </a:stretch>
        </p:blipFill>
        <p:spPr bwMode="auto">
          <a:xfrm>
            <a:off x="2038350" y="1733550"/>
            <a:ext cx="5067300" cy="3981450"/>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4" descr="bcc2"/>
          <p:cNvPicPr>
            <a:picLocks noChangeAspect="1" noChangeArrowheads="1"/>
          </p:cNvPicPr>
          <p:nvPr/>
        </p:nvPicPr>
        <p:blipFill>
          <a:blip r:embed="rId2"/>
          <a:srcRect/>
          <a:stretch>
            <a:fillRect/>
          </a:stretch>
        </p:blipFill>
        <p:spPr bwMode="auto">
          <a:xfrm>
            <a:off x="2590800" y="228600"/>
            <a:ext cx="3765550" cy="3233738"/>
          </a:xfrm>
          <a:prstGeom prst="rect">
            <a:avLst/>
          </a:prstGeom>
          <a:noFill/>
        </p:spPr>
      </p:pic>
      <p:pic>
        <p:nvPicPr>
          <p:cNvPr id="32774" name="Picture 6" descr="bcc"/>
          <p:cNvPicPr>
            <a:picLocks noChangeAspect="1" noChangeArrowheads="1"/>
          </p:cNvPicPr>
          <p:nvPr/>
        </p:nvPicPr>
        <p:blipFill>
          <a:blip r:embed="rId3"/>
          <a:srcRect/>
          <a:stretch>
            <a:fillRect/>
          </a:stretch>
        </p:blipFill>
        <p:spPr bwMode="auto">
          <a:xfrm>
            <a:off x="2895600" y="3810000"/>
            <a:ext cx="3035300" cy="2276475"/>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152400" y="228600"/>
            <a:ext cx="8839200" cy="369332"/>
          </a:xfrm>
          <a:prstGeom prst="rect">
            <a:avLst/>
          </a:prstGeom>
          <a:noFill/>
          <a:ln w="9525" algn="ctr">
            <a:noFill/>
            <a:miter lim="800000"/>
            <a:headEnd/>
            <a:tailEnd/>
          </a:ln>
          <a:effectLst/>
        </p:spPr>
        <p:txBody>
          <a:bodyPr>
            <a:spAutoFit/>
          </a:bodyPr>
          <a:lstStyle/>
          <a:p>
            <a:r>
              <a:rPr lang="en-US" dirty="0">
                <a:latin typeface="Tahoma" pitchFamily="34" charset="0"/>
              </a:rPr>
              <a:t>An example of the bcc structure is cesium chloride (</a:t>
            </a:r>
            <a:r>
              <a:rPr lang="en-US" dirty="0" err="1">
                <a:latin typeface="Tahoma" pitchFamily="34" charset="0"/>
              </a:rPr>
              <a:t>CsCl</a:t>
            </a:r>
            <a:r>
              <a:rPr lang="en-US" dirty="0">
                <a:latin typeface="Tahoma" pitchFamily="34" charset="0"/>
              </a:rPr>
              <a:t>).  </a:t>
            </a:r>
          </a:p>
        </p:txBody>
      </p:sp>
      <p:sp>
        <p:nvSpPr>
          <p:cNvPr id="33797" name="Text Box 5"/>
          <p:cNvSpPr txBox="1">
            <a:spLocks noChangeArrowheads="1"/>
          </p:cNvSpPr>
          <p:nvPr/>
        </p:nvSpPr>
        <p:spPr bwMode="auto">
          <a:xfrm>
            <a:off x="152400" y="1295400"/>
            <a:ext cx="8839200" cy="822325"/>
          </a:xfrm>
          <a:prstGeom prst="rect">
            <a:avLst/>
          </a:prstGeom>
          <a:noFill/>
          <a:ln w="9525" algn="ctr">
            <a:noFill/>
            <a:miter lim="800000"/>
            <a:headEnd/>
            <a:tailEnd/>
          </a:ln>
          <a:effectLst/>
        </p:spPr>
        <p:txBody>
          <a:bodyPr>
            <a:spAutoFit/>
          </a:bodyPr>
          <a:lstStyle/>
          <a:p>
            <a:r>
              <a:rPr lang="en-US">
                <a:latin typeface="Tahoma" pitchFamily="34" charset="0"/>
              </a:rPr>
              <a:t>It is not too difficult to calculate the energies involved in ionic bonding, so let’s do it. </a:t>
            </a:r>
          </a:p>
        </p:txBody>
      </p:sp>
      <p:sp>
        <p:nvSpPr>
          <p:cNvPr id="33798" name="Text Box 6"/>
          <p:cNvSpPr txBox="1">
            <a:spLocks noChangeArrowheads="1"/>
          </p:cNvSpPr>
          <p:nvPr/>
        </p:nvSpPr>
        <p:spPr bwMode="auto">
          <a:xfrm>
            <a:off x="152400" y="2409825"/>
            <a:ext cx="8839200" cy="923330"/>
          </a:xfrm>
          <a:prstGeom prst="rect">
            <a:avLst/>
          </a:prstGeom>
          <a:noFill/>
          <a:ln w="9525" algn="ctr">
            <a:noFill/>
            <a:miter lim="800000"/>
            <a:headEnd/>
            <a:tailEnd/>
          </a:ln>
          <a:effectLst/>
        </p:spPr>
        <p:txBody>
          <a:bodyPr>
            <a:spAutoFit/>
          </a:bodyPr>
          <a:lstStyle/>
          <a:p>
            <a:r>
              <a:rPr lang="en-US" dirty="0">
                <a:latin typeface="Tahoma" pitchFamily="34" charset="0"/>
              </a:rPr>
              <a:t>We begin by defining the </a:t>
            </a:r>
            <a:r>
              <a:rPr lang="en-US" b="1" i="1" dirty="0">
                <a:latin typeface="Tahoma" pitchFamily="34" charset="0"/>
              </a:rPr>
              <a:t>cohesive energy</a:t>
            </a:r>
            <a:r>
              <a:rPr lang="en-US" dirty="0">
                <a:latin typeface="Tahoma" pitchFamily="34" charset="0"/>
              </a:rPr>
              <a:t> of an ionic crystal as “the reduction in the energy per ion of the ionic crystal relative to the neutral atoms,” or “the energy per ion needed to break the crystal up into individual atoms.”</a:t>
            </a:r>
          </a:p>
        </p:txBody>
      </p:sp>
      <p:sp>
        <p:nvSpPr>
          <p:cNvPr id="33800" name="Text Box 8"/>
          <p:cNvSpPr txBox="1">
            <a:spLocks noChangeArrowheads="1"/>
          </p:cNvSpPr>
          <p:nvPr/>
        </p:nvSpPr>
        <p:spPr bwMode="auto">
          <a:xfrm>
            <a:off x="304800" y="4419600"/>
            <a:ext cx="8839200" cy="1187450"/>
          </a:xfrm>
          <a:prstGeom prst="rect">
            <a:avLst/>
          </a:prstGeom>
          <a:noFill/>
          <a:ln w="9525" algn="ctr">
            <a:noFill/>
            <a:miter lim="800000"/>
            <a:headEnd/>
            <a:tailEnd/>
          </a:ln>
          <a:effectLst/>
        </p:spPr>
        <p:txBody>
          <a:bodyPr>
            <a:spAutoFit/>
          </a:bodyPr>
          <a:lstStyle/>
          <a:p>
            <a:r>
              <a:rPr lang="en-US" dirty="0">
                <a:latin typeface="Tahoma" pitchFamily="34" charset="0"/>
              </a:rPr>
              <a:t>Let's calculate the contribution to the cohesive energy from the Coulomb potential energy.  Let's do it for an </a:t>
            </a:r>
            <a:r>
              <a:rPr lang="en-US" dirty="0" err="1">
                <a:latin typeface="Tahoma" pitchFamily="34" charset="0"/>
              </a:rPr>
              <a:t>fcc</a:t>
            </a:r>
            <a:r>
              <a:rPr lang="en-US" dirty="0">
                <a:latin typeface="Tahoma" pitchFamily="34" charset="0"/>
              </a:rPr>
              <a:t> structure, </a:t>
            </a:r>
            <a:r>
              <a:rPr lang="en-US" dirty="0" err="1">
                <a:latin typeface="Tahoma" pitchFamily="34" charset="0"/>
              </a:rPr>
              <a:t>NaCl</a:t>
            </a:r>
            <a:r>
              <a:rPr lang="en-US" dirty="0">
                <a:latin typeface="Tahoma" pitchFamily="34" charset="0"/>
              </a:rPr>
              <a:t> for example.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80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p:bldP spid="33798" grpId="0"/>
    </p:bld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p:cNvSpPr txBox="1">
            <a:spLocks noChangeArrowheads="1"/>
          </p:cNvSpPr>
          <p:nvPr/>
        </p:nvSpPr>
        <p:spPr bwMode="auto">
          <a:xfrm>
            <a:off x="152400" y="381000"/>
            <a:ext cx="8839200" cy="1552575"/>
          </a:xfrm>
          <a:prstGeom prst="rect">
            <a:avLst/>
          </a:prstGeom>
          <a:noFill/>
          <a:ln w="9525" algn="ctr">
            <a:noFill/>
            <a:miter lim="800000"/>
            <a:headEnd/>
            <a:tailEnd/>
          </a:ln>
          <a:effectLst/>
        </p:spPr>
        <p:txBody>
          <a:bodyPr>
            <a:spAutoFit/>
          </a:bodyPr>
          <a:lstStyle/>
          <a:p>
            <a:r>
              <a:rPr lang="en-US">
                <a:latin typeface="Tahoma" pitchFamily="34" charset="0"/>
              </a:rPr>
              <a:t>Let’s add up all contributions to the Coulomb energy from ion-ion interactions. Let's take a Na</a:t>
            </a:r>
            <a:r>
              <a:rPr lang="en-US" baseline="30000">
                <a:latin typeface="Tahoma" pitchFamily="34" charset="0"/>
              </a:rPr>
              <a:t>+</a:t>
            </a:r>
            <a:r>
              <a:rPr lang="en-US">
                <a:latin typeface="Tahoma" pitchFamily="34" charset="0"/>
              </a:rPr>
              <a:t> ion as the reference</a:t>
            </a:r>
            <a:r>
              <a:rPr lang="en-US">
                <a:solidFill>
                  <a:srgbClr val="FFFF00"/>
                </a:solidFill>
                <a:latin typeface="Tahoma" pitchFamily="34" charset="0"/>
              </a:rPr>
              <a:t>*</a:t>
            </a:r>
            <a:r>
              <a:rPr lang="en-US">
                <a:latin typeface="Tahoma" pitchFamily="34" charset="0"/>
              </a:rPr>
              <a:t> ion (NaCl is made of Na</a:t>
            </a:r>
            <a:r>
              <a:rPr lang="en-US" baseline="30000">
                <a:latin typeface="Tahoma" pitchFamily="34" charset="0"/>
              </a:rPr>
              <a:t>+</a:t>
            </a:r>
            <a:r>
              <a:rPr lang="en-US">
                <a:latin typeface="Tahoma" pitchFamily="34" charset="0"/>
              </a:rPr>
              <a:t>Cl</a:t>
            </a:r>
            <a:r>
              <a:rPr lang="en-US" baseline="30000">
                <a:latin typeface="Tahoma" pitchFamily="34" charset="0"/>
              </a:rPr>
              <a:t>-</a:t>
            </a:r>
            <a:r>
              <a:rPr lang="en-US">
                <a:latin typeface="Tahoma" pitchFamily="34" charset="0"/>
              </a:rPr>
              <a:t> ions).  We get the same result if we take a Cl</a:t>
            </a:r>
            <a:r>
              <a:rPr lang="en-US" baseline="30000">
                <a:latin typeface="Tahoma" pitchFamily="34" charset="0"/>
              </a:rPr>
              <a:t>-</a:t>
            </a:r>
            <a:r>
              <a:rPr lang="en-US">
                <a:latin typeface="Tahoma" pitchFamily="34" charset="0"/>
              </a:rPr>
              <a:t> as the reference. </a:t>
            </a:r>
          </a:p>
        </p:txBody>
      </p:sp>
      <p:sp>
        <p:nvSpPr>
          <p:cNvPr id="34821" name="Oval 5"/>
          <p:cNvSpPr>
            <a:spLocks noChangeArrowheads="1"/>
          </p:cNvSpPr>
          <p:nvPr/>
        </p:nvSpPr>
        <p:spPr bwMode="auto">
          <a:xfrm>
            <a:off x="6705600" y="2971800"/>
            <a:ext cx="457200" cy="457200"/>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24" name="Oval 8"/>
          <p:cNvSpPr>
            <a:spLocks noChangeArrowheads="1"/>
          </p:cNvSpPr>
          <p:nvPr/>
        </p:nvSpPr>
        <p:spPr bwMode="auto">
          <a:xfrm>
            <a:off x="6096000" y="2362200"/>
            <a:ext cx="457200" cy="457200"/>
          </a:xfrm>
          <a:prstGeom prst="ellipse">
            <a:avLst/>
          </a:prstGeom>
          <a:gradFill rotWithShape="1">
            <a:gsLst>
              <a:gs pos="0">
                <a:srgbClr val="FF0000">
                  <a:alpha val="50000"/>
                </a:srgbClr>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26" name="Oval 10"/>
          <p:cNvSpPr>
            <a:spLocks noChangeAspect="1" noChangeArrowheads="1"/>
          </p:cNvSpPr>
          <p:nvPr/>
        </p:nvSpPr>
        <p:spPr bwMode="auto">
          <a:xfrm>
            <a:off x="6016625" y="2895600"/>
            <a:ext cx="612775" cy="612775"/>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27" name="Oval 11"/>
          <p:cNvSpPr>
            <a:spLocks noChangeAspect="1" noChangeArrowheads="1"/>
          </p:cNvSpPr>
          <p:nvPr/>
        </p:nvSpPr>
        <p:spPr bwMode="auto">
          <a:xfrm>
            <a:off x="7235825" y="2895600"/>
            <a:ext cx="612775" cy="612775"/>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28" name="Oval 12"/>
          <p:cNvSpPr>
            <a:spLocks noChangeAspect="1" noChangeArrowheads="1"/>
          </p:cNvSpPr>
          <p:nvPr/>
        </p:nvSpPr>
        <p:spPr bwMode="auto">
          <a:xfrm>
            <a:off x="6629400" y="3502025"/>
            <a:ext cx="612775" cy="612775"/>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29" name="Oval 13"/>
          <p:cNvSpPr>
            <a:spLocks noChangeAspect="1" noChangeArrowheads="1"/>
          </p:cNvSpPr>
          <p:nvPr/>
        </p:nvSpPr>
        <p:spPr bwMode="auto">
          <a:xfrm>
            <a:off x="6629400" y="2286000"/>
            <a:ext cx="612775" cy="612775"/>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30" name="Text Box 14"/>
          <p:cNvSpPr txBox="1">
            <a:spLocks noChangeArrowheads="1"/>
          </p:cNvSpPr>
          <p:nvPr/>
        </p:nvSpPr>
        <p:spPr bwMode="auto">
          <a:xfrm>
            <a:off x="152400" y="2133600"/>
            <a:ext cx="8839200" cy="457200"/>
          </a:xfrm>
          <a:prstGeom prst="rect">
            <a:avLst/>
          </a:prstGeom>
          <a:noFill/>
          <a:ln w="9525" algn="ctr">
            <a:noFill/>
            <a:miter lim="800000"/>
            <a:headEnd/>
            <a:tailEnd/>
          </a:ln>
          <a:effectLst/>
        </p:spPr>
        <p:txBody>
          <a:bodyPr>
            <a:spAutoFit/>
          </a:bodyPr>
          <a:lstStyle/>
          <a:p>
            <a:r>
              <a:rPr lang="en-US">
                <a:latin typeface="Tahoma" pitchFamily="34" charset="0"/>
              </a:rPr>
              <a:t>Here’s the reference ion.</a:t>
            </a:r>
          </a:p>
        </p:txBody>
      </p:sp>
      <p:sp>
        <p:nvSpPr>
          <p:cNvPr id="34831" name="Text Box 15"/>
          <p:cNvSpPr txBox="1">
            <a:spLocks noChangeArrowheads="1"/>
          </p:cNvSpPr>
          <p:nvPr/>
        </p:nvSpPr>
        <p:spPr bwMode="auto">
          <a:xfrm>
            <a:off x="152400" y="2743200"/>
            <a:ext cx="5486400" cy="1187450"/>
          </a:xfrm>
          <a:prstGeom prst="rect">
            <a:avLst/>
          </a:prstGeom>
          <a:noFill/>
          <a:ln w="9525" algn="ctr">
            <a:noFill/>
            <a:miter lim="800000"/>
            <a:headEnd/>
            <a:tailEnd/>
          </a:ln>
          <a:effectLst/>
        </p:spPr>
        <p:txBody>
          <a:bodyPr>
            <a:spAutoFit/>
          </a:bodyPr>
          <a:lstStyle/>
          <a:p>
            <a:r>
              <a:rPr lang="en-US">
                <a:latin typeface="Tahoma" pitchFamily="34" charset="0"/>
              </a:rPr>
              <a:t>Each Na+ ion has six Cl</a:t>
            </a:r>
            <a:r>
              <a:rPr lang="en-US" baseline="30000">
                <a:latin typeface="Tahoma" pitchFamily="34" charset="0"/>
              </a:rPr>
              <a:t>-</a:t>
            </a:r>
            <a:r>
              <a:rPr lang="en-US">
                <a:latin typeface="Tahoma" pitchFamily="34" charset="0"/>
              </a:rPr>
              <a:t> nearest neighbors a distance r away.  Here are four of them.</a:t>
            </a:r>
          </a:p>
        </p:txBody>
      </p:sp>
      <p:sp>
        <p:nvSpPr>
          <p:cNvPr id="34832" name="Text Box 16"/>
          <p:cNvSpPr txBox="1">
            <a:spLocks noChangeArrowheads="1"/>
          </p:cNvSpPr>
          <p:nvPr/>
        </p:nvSpPr>
        <p:spPr bwMode="auto">
          <a:xfrm>
            <a:off x="304800" y="4114800"/>
            <a:ext cx="8839200" cy="457200"/>
          </a:xfrm>
          <a:prstGeom prst="rect">
            <a:avLst/>
          </a:prstGeom>
          <a:noFill/>
          <a:ln w="9525" algn="ctr">
            <a:noFill/>
            <a:miter lim="800000"/>
            <a:headEnd/>
            <a:tailEnd/>
          </a:ln>
          <a:effectLst/>
        </p:spPr>
        <p:txBody>
          <a:bodyPr>
            <a:spAutoFit/>
          </a:bodyPr>
          <a:lstStyle/>
          <a:p>
            <a:r>
              <a:rPr lang="en-US">
                <a:latin typeface="Tahoma" pitchFamily="34" charset="0"/>
              </a:rPr>
              <a:t>Where are the other two Cl’s?  </a:t>
            </a:r>
          </a:p>
        </p:txBody>
      </p:sp>
      <p:sp>
        <p:nvSpPr>
          <p:cNvPr id="34833" name="Oval 17"/>
          <p:cNvSpPr>
            <a:spLocks noChangeArrowheads="1"/>
          </p:cNvSpPr>
          <p:nvPr/>
        </p:nvSpPr>
        <p:spPr bwMode="auto">
          <a:xfrm>
            <a:off x="7315200" y="2362200"/>
            <a:ext cx="457200" cy="457200"/>
          </a:xfrm>
          <a:prstGeom prst="ellipse">
            <a:avLst/>
          </a:prstGeom>
          <a:gradFill rotWithShape="1">
            <a:gsLst>
              <a:gs pos="0">
                <a:srgbClr val="FF0000">
                  <a:alpha val="50000"/>
                </a:srgbClr>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34" name="Oval 18"/>
          <p:cNvSpPr>
            <a:spLocks noChangeArrowheads="1"/>
          </p:cNvSpPr>
          <p:nvPr/>
        </p:nvSpPr>
        <p:spPr bwMode="auto">
          <a:xfrm>
            <a:off x="7315200" y="3657600"/>
            <a:ext cx="457200" cy="457200"/>
          </a:xfrm>
          <a:prstGeom prst="ellipse">
            <a:avLst/>
          </a:prstGeom>
          <a:gradFill rotWithShape="1">
            <a:gsLst>
              <a:gs pos="0">
                <a:srgbClr val="FF0000">
                  <a:alpha val="50000"/>
                </a:srgbClr>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35" name="Oval 19"/>
          <p:cNvSpPr>
            <a:spLocks noChangeArrowheads="1"/>
          </p:cNvSpPr>
          <p:nvPr/>
        </p:nvSpPr>
        <p:spPr bwMode="auto">
          <a:xfrm>
            <a:off x="6096000" y="3657600"/>
            <a:ext cx="457200" cy="457200"/>
          </a:xfrm>
          <a:prstGeom prst="ellipse">
            <a:avLst/>
          </a:prstGeom>
          <a:gradFill rotWithShape="1">
            <a:gsLst>
              <a:gs pos="0">
                <a:srgbClr val="FF0000">
                  <a:alpha val="50000"/>
                </a:srgbClr>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4836" name="Line 20"/>
          <p:cNvSpPr>
            <a:spLocks noChangeShapeType="1"/>
          </p:cNvSpPr>
          <p:nvPr/>
        </p:nvSpPr>
        <p:spPr bwMode="auto">
          <a:xfrm>
            <a:off x="6934200" y="2590800"/>
            <a:ext cx="0" cy="609600"/>
          </a:xfrm>
          <a:prstGeom prst="line">
            <a:avLst/>
          </a:prstGeom>
          <a:noFill/>
          <a:ln w="38100">
            <a:solidFill>
              <a:srgbClr val="FFFF00"/>
            </a:solidFill>
            <a:round/>
            <a:headEnd type="arrow" w="med" len="med"/>
            <a:tailEnd type="arrow" w="med" len="med"/>
          </a:ln>
          <a:effectLst/>
        </p:spPr>
        <p:txBody>
          <a:bodyPr>
            <a:spAutoFit/>
          </a:bodyPr>
          <a:lstStyle/>
          <a:p>
            <a:endParaRPr lang="en-US"/>
          </a:p>
        </p:txBody>
      </p:sp>
      <p:sp>
        <p:nvSpPr>
          <p:cNvPr id="34839" name="Line 23"/>
          <p:cNvSpPr>
            <a:spLocks noChangeShapeType="1"/>
          </p:cNvSpPr>
          <p:nvPr/>
        </p:nvSpPr>
        <p:spPr bwMode="auto">
          <a:xfrm>
            <a:off x="8305800" y="2590800"/>
            <a:ext cx="0" cy="609600"/>
          </a:xfrm>
          <a:prstGeom prst="line">
            <a:avLst/>
          </a:prstGeom>
          <a:noFill/>
          <a:ln w="38100">
            <a:solidFill>
              <a:srgbClr val="FFFF00"/>
            </a:solidFill>
            <a:round/>
            <a:headEnd type="arrow" w="med" len="med"/>
            <a:tailEnd type="arrow" w="med" len="med"/>
          </a:ln>
          <a:effectLst/>
        </p:spPr>
        <p:txBody>
          <a:bodyPr>
            <a:spAutoFit/>
          </a:bodyPr>
          <a:lstStyle/>
          <a:p>
            <a:endParaRPr lang="en-US"/>
          </a:p>
        </p:txBody>
      </p:sp>
      <p:sp>
        <p:nvSpPr>
          <p:cNvPr id="34840" name="Text Box 24"/>
          <p:cNvSpPr txBox="1">
            <a:spLocks noChangeArrowheads="1"/>
          </p:cNvSpPr>
          <p:nvPr/>
        </p:nvSpPr>
        <p:spPr bwMode="auto">
          <a:xfrm>
            <a:off x="8382000" y="2668588"/>
            <a:ext cx="293688" cy="457200"/>
          </a:xfrm>
          <a:prstGeom prst="rect">
            <a:avLst/>
          </a:prstGeom>
          <a:noFill/>
          <a:ln w="9525" algn="ctr">
            <a:noFill/>
            <a:miter lim="800000"/>
            <a:headEnd/>
            <a:tailEnd/>
          </a:ln>
          <a:effectLst/>
        </p:spPr>
        <p:txBody>
          <a:bodyPr wrap="none">
            <a:spAutoFit/>
          </a:bodyPr>
          <a:lstStyle/>
          <a:p>
            <a:r>
              <a:rPr lang="en-US">
                <a:solidFill>
                  <a:srgbClr val="FFFF00"/>
                </a:solidFill>
                <a:latin typeface="Tahoma" pitchFamily="34" charset="0"/>
              </a:rPr>
              <a:t>r</a:t>
            </a:r>
          </a:p>
        </p:txBody>
      </p:sp>
      <p:pic>
        <p:nvPicPr>
          <p:cNvPr id="34841" name="Picture 25" descr="nacl-1"/>
          <p:cNvPicPr>
            <a:picLocks noChangeAspect="1" noChangeArrowheads="1"/>
          </p:cNvPicPr>
          <p:nvPr/>
        </p:nvPicPr>
        <p:blipFill>
          <a:blip r:embed="rId2"/>
          <a:srcRect/>
          <a:stretch>
            <a:fillRect/>
          </a:stretch>
        </p:blipFill>
        <p:spPr bwMode="auto">
          <a:xfrm>
            <a:off x="533400" y="4724400"/>
            <a:ext cx="1819275" cy="1719263"/>
          </a:xfrm>
          <a:prstGeom prst="rect">
            <a:avLst/>
          </a:prstGeom>
          <a:noFill/>
        </p:spPr>
      </p:pic>
      <p:sp>
        <p:nvSpPr>
          <p:cNvPr id="34842" name="Text Box 26"/>
          <p:cNvSpPr txBox="1">
            <a:spLocks noChangeArrowheads="1"/>
          </p:cNvSpPr>
          <p:nvPr/>
        </p:nvSpPr>
        <p:spPr bwMode="auto">
          <a:xfrm>
            <a:off x="5394325" y="4464050"/>
            <a:ext cx="3521075" cy="641350"/>
          </a:xfrm>
          <a:prstGeom prst="rect">
            <a:avLst/>
          </a:prstGeom>
          <a:noFill/>
          <a:ln w="9525" algn="ctr">
            <a:noFill/>
            <a:miter lim="800000"/>
            <a:headEnd/>
            <a:tailEnd/>
          </a:ln>
          <a:effectLst/>
        </p:spPr>
        <p:txBody>
          <a:bodyPr>
            <a:spAutoFit/>
          </a:bodyPr>
          <a:lstStyle/>
          <a:p>
            <a:r>
              <a:rPr lang="en-US" sz="1800" dirty="0">
                <a:latin typeface="Tahoma" pitchFamily="34" charset="0"/>
              </a:rPr>
              <a:t>showing these 4 Na’s just to help you get your bearings</a:t>
            </a:r>
          </a:p>
        </p:txBody>
      </p:sp>
      <p:sp>
        <p:nvSpPr>
          <p:cNvPr id="34843" name="Rectangle 27"/>
          <p:cNvSpPr>
            <a:spLocks noChangeArrowheads="1"/>
          </p:cNvSpPr>
          <p:nvPr/>
        </p:nvSpPr>
        <p:spPr bwMode="auto">
          <a:xfrm>
            <a:off x="2514600" y="4954588"/>
            <a:ext cx="1694695" cy="646331"/>
          </a:xfrm>
          <a:prstGeom prst="rect">
            <a:avLst/>
          </a:prstGeom>
          <a:noFill/>
          <a:ln w="9525" algn="ctr">
            <a:noFill/>
            <a:miter lim="800000"/>
            <a:headEnd/>
            <a:tailEnd/>
          </a:ln>
          <a:effectLst/>
        </p:spPr>
        <p:txBody>
          <a:bodyPr wrap="none">
            <a:spAutoFit/>
          </a:bodyPr>
          <a:lstStyle/>
          <a:p>
            <a:r>
              <a:rPr lang="en-US" dirty="0" smtClean="0">
                <a:latin typeface="Tahoma" pitchFamily="34" charset="0"/>
              </a:rPr>
              <a:t>The other two </a:t>
            </a:r>
            <a:endParaRPr lang="en-US" dirty="0">
              <a:latin typeface="Tahoma" pitchFamily="34" charset="0"/>
            </a:endParaRPr>
          </a:p>
          <a:p>
            <a:endParaRPr lang="en-US" dirty="0">
              <a:latin typeface="Tahoma" pitchFamily="34" charset="0"/>
            </a:endParaRPr>
          </a:p>
        </p:txBody>
      </p:sp>
      <p:sp>
        <p:nvSpPr>
          <p:cNvPr id="34844" name="Freeform 28"/>
          <p:cNvSpPr>
            <a:spLocks/>
          </p:cNvSpPr>
          <p:nvPr/>
        </p:nvSpPr>
        <p:spPr bwMode="auto">
          <a:xfrm>
            <a:off x="6324600" y="3886200"/>
            <a:ext cx="457200" cy="609600"/>
          </a:xfrm>
          <a:custGeom>
            <a:avLst/>
            <a:gdLst/>
            <a:ahLst/>
            <a:cxnLst>
              <a:cxn ang="0">
                <a:pos x="288" y="384"/>
              </a:cxn>
              <a:cxn ang="0">
                <a:pos x="48" y="240"/>
              </a:cxn>
              <a:cxn ang="0">
                <a:pos x="0" y="0"/>
              </a:cxn>
            </a:cxnLst>
            <a:rect l="0" t="0" r="r" b="b"/>
            <a:pathLst>
              <a:path w="288" h="384">
                <a:moveTo>
                  <a:pt x="288" y="384"/>
                </a:moveTo>
                <a:cubicBezTo>
                  <a:pt x="192" y="344"/>
                  <a:pt x="96" y="304"/>
                  <a:pt x="48" y="240"/>
                </a:cubicBezTo>
                <a:cubicBezTo>
                  <a:pt x="0" y="176"/>
                  <a:pt x="0" y="88"/>
                  <a:pt x="0" y="0"/>
                </a:cubicBezTo>
              </a:path>
            </a:pathLst>
          </a:custGeom>
          <a:noFill/>
          <a:ln w="38100" cap="flat" cmpd="sng">
            <a:solidFill>
              <a:srgbClr val="FFFF00"/>
            </a:solidFill>
            <a:prstDash val="solid"/>
            <a:round/>
            <a:headEnd/>
            <a:tailEnd type="triangle" w="med" len="med"/>
          </a:ln>
          <a:effectLst/>
        </p:spPr>
        <p:txBody>
          <a:bodyPr>
            <a:spAutoFit/>
          </a:bodyPr>
          <a:lstStyle/>
          <a:p>
            <a:endParaRPr lang="en-US"/>
          </a:p>
        </p:txBody>
      </p:sp>
      <p:sp>
        <p:nvSpPr>
          <p:cNvPr id="34845" name="Text Box 29"/>
          <p:cNvSpPr txBox="1">
            <a:spLocks noChangeArrowheads="1"/>
          </p:cNvSpPr>
          <p:nvPr/>
        </p:nvSpPr>
        <p:spPr bwMode="auto">
          <a:xfrm>
            <a:off x="5410200" y="5607050"/>
            <a:ext cx="3521075" cy="641350"/>
          </a:xfrm>
          <a:prstGeom prst="rect">
            <a:avLst/>
          </a:prstGeom>
          <a:noFill/>
          <a:ln w="9525" algn="ctr">
            <a:noFill/>
            <a:miter lim="800000"/>
            <a:headEnd/>
            <a:tailEnd/>
          </a:ln>
          <a:effectLst/>
        </p:spPr>
        <p:txBody>
          <a:bodyPr>
            <a:spAutoFit/>
          </a:bodyPr>
          <a:lstStyle/>
          <a:p>
            <a:r>
              <a:rPr lang="en-US" sz="1800" dirty="0">
                <a:latin typeface="Tahoma" pitchFamily="34" charset="0"/>
              </a:rPr>
              <a:t>*Remember, the energy is calculated </a:t>
            </a:r>
            <a:r>
              <a:rPr lang="en-US" sz="1800" b="1" i="1" dirty="0">
                <a:latin typeface="Tahoma" pitchFamily="34" charset="0"/>
              </a:rPr>
              <a:t>per ion</a:t>
            </a:r>
            <a:r>
              <a:rPr lang="en-US" sz="1800" dirty="0">
                <a:latin typeface="Tahoma" pitchFamily="34" charset="0"/>
              </a:rPr>
              <a:t>.</a:t>
            </a:r>
          </a:p>
        </p:txBody>
      </p:sp>
      <p:sp>
        <p:nvSpPr>
          <p:cNvPr id="34846" name="Freeform 30"/>
          <p:cNvSpPr>
            <a:spLocks/>
          </p:cNvSpPr>
          <p:nvPr/>
        </p:nvSpPr>
        <p:spPr bwMode="auto">
          <a:xfrm>
            <a:off x="1524000" y="4724400"/>
            <a:ext cx="1371600" cy="304800"/>
          </a:xfrm>
          <a:custGeom>
            <a:avLst/>
            <a:gdLst/>
            <a:ahLst/>
            <a:cxnLst>
              <a:cxn ang="0">
                <a:pos x="864" y="192"/>
              </a:cxn>
              <a:cxn ang="0">
                <a:pos x="864" y="0"/>
              </a:cxn>
              <a:cxn ang="0">
                <a:pos x="0" y="0"/>
              </a:cxn>
              <a:cxn ang="0">
                <a:pos x="0" y="192"/>
              </a:cxn>
            </a:cxnLst>
            <a:rect l="0" t="0" r="r" b="b"/>
            <a:pathLst>
              <a:path w="864" h="192">
                <a:moveTo>
                  <a:pt x="864" y="192"/>
                </a:moveTo>
                <a:lnTo>
                  <a:pt x="864" y="0"/>
                </a:lnTo>
                <a:lnTo>
                  <a:pt x="0" y="0"/>
                </a:lnTo>
                <a:lnTo>
                  <a:pt x="0" y="192"/>
                </a:lnTo>
              </a:path>
            </a:pathLst>
          </a:custGeom>
          <a:noFill/>
          <a:ln w="38100" cap="flat" cmpd="sng">
            <a:solidFill>
              <a:schemeClr val="bg1"/>
            </a:solidFill>
            <a:prstDash val="solid"/>
            <a:round/>
            <a:headEnd/>
            <a:tailEnd type="triangle" w="med" len="med"/>
          </a:ln>
          <a:effectLst/>
        </p:spPr>
        <p:txBody>
          <a:bodyPr>
            <a:spAutoFit/>
          </a:bodyPr>
          <a:lstStyle/>
          <a:p>
            <a:endParaRPr lang="en-US"/>
          </a:p>
        </p:txBody>
      </p:sp>
      <p:sp>
        <p:nvSpPr>
          <p:cNvPr id="34847" name="Freeform 31"/>
          <p:cNvSpPr>
            <a:spLocks/>
          </p:cNvSpPr>
          <p:nvPr/>
        </p:nvSpPr>
        <p:spPr bwMode="auto">
          <a:xfrm flipV="1">
            <a:off x="1447800" y="6096000"/>
            <a:ext cx="1371600" cy="457200"/>
          </a:xfrm>
          <a:custGeom>
            <a:avLst/>
            <a:gdLst/>
            <a:ahLst/>
            <a:cxnLst>
              <a:cxn ang="0">
                <a:pos x="864" y="192"/>
              </a:cxn>
              <a:cxn ang="0">
                <a:pos x="864" y="0"/>
              </a:cxn>
              <a:cxn ang="0">
                <a:pos x="0" y="0"/>
              </a:cxn>
              <a:cxn ang="0">
                <a:pos x="0" y="192"/>
              </a:cxn>
            </a:cxnLst>
            <a:rect l="0" t="0" r="r" b="b"/>
            <a:pathLst>
              <a:path w="864" h="192">
                <a:moveTo>
                  <a:pt x="864" y="192"/>
                </a:moveTo>
                <a:lnTo>
                  <a:pt x="864" y="0"/>
                </a:lnTo>
                <a:lnTo>
                  <a:pt x="0" y="0"/>
                </a:lnTo>
                <a:lnTo>
                  <a:pt x="0" y="192"/>
                </a:lnTo>
              </a:path>
            </a:pathLst>
          </a:custGeom>
          <a:noFill/>
          <a:ln w="38100" cap="flat" cmpd="sng">
            <a:solidFill>
              <a:schemeClr val="bg1"/>
            </a:solidFill>
            <a:prstDash val="solid"/>
            <a:round/>
            <a:headEnd/>
            <a:tailEnd type="triangle" w="med" len="med"/>
          </a:ln>
          <a:effectLst/>
        </p:spPr>
        <p:txBody>
          <a:bodyPr>
            <a:spAutoFit/>
          </a:bodyPr>
          <a:lstStyle/>
          <a:p>
            <a:endParaRPr lang="en-US"/>
          </a:p>
        </p:txBody>
      </p:sp>
      <p:sp>
        <p:nvSpPr>
          <p:cNvPr id="25" name="Freeform 24"/>
          <p:cNvSpPr/>
          <p:nvPr/>
        </p:nvSpPr>
        <p:spPr>
          <a:xfrm>
            <a:off x="1488831" y="4586067"/>
            <a:ext cx="649458" cy="393896"/>
          </a:xfrm>
          <a:custGeom>
            <a:avLst/>
            <a:gdLst>
              <a:gd name="connsiteX0" fmla="*/ 649458 w 649458"/>
              <a:gd name="connsiteY0" fmla="*/ 56271 h 393896"/>
              <a:gd name="connsiteX1" fmla="*/ 100818 w 649458"/>
              <a:gd name="connsiteY1" fmla="*/ 56271 h 393896"/>
              <a:gd name="connsiteX2" fmla="*/ 44547 w 649458"/>
              <a:gd name="connsiteY2" fmla="*/ 393896 h 393896"/>
              <a:gd name="connsiteX3" fmla="*/ 44547 w 649458"/>
              <a:gd name="connsiteY3" fmla="*/ 393896 h 393896"/>
            </a:gdLst>
            <a:ahLst/>
            <a:cxnLst>
              <a:cxn ang="0">
                <a:pos x="connsiteX0" y="connsiteY0"/>
              </a:cxn>
              <a:cxn ang="0">
                <a:pos x="connsiteX1" y="connsiteY1"/>
              </a:cxn>
              <a:cxn ang="0">
                <a:pos x="connsiteX2" y="connsiteY2"/>
              </a:cxn>
              <a:cxn ang="0">
                <a:pos x="connsiteX3" y="connsiteY3"/>
              </a:cxn>
            </a:cxnLst>
            <a:rect l="l" t="t" r="r" b="b"/>
            <a:pathLst>
              <a:path w="649458" h="393896">
                <a:moveTo>
                  <a:pt x="649458" y="56271"/>
                </a:moveTo>
                <a:cubicBezTo>
                  <a:pt x="425547" y="28135"/>
                  <a:pt x="201636" y="0"/>
                  <a:pt x="100818" y="56271"/>
                </a:cubicBezTo>
                <a:cubicBezTo>
                  <a:pt x="0" y="112542"/>
                  <a:pt x="44547" y="393896"/>
                  <a:pt x="44547" y="393896"/>
                </a:cubicBezTo>
                <a:lnTo>
                  <a:pt x="44547" y="393896"/>
                </a:ln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Freeform 25"/>
          <p:cNvSpPr/>
          <p:nvPr/>
        </p:nvSpPr>
        <p:spPr>
          <a:xfrm>
            <a:off x="1436074" y="6037385"/>
            <a:ext cx="965982" cy="478301"/>
          </a:xfrm>
          <a:custGeom>
            <a:avLst/>
            <a:gdLst>
              <a:gd name="connsiteX0" fmla="*/ 965982 w 965982"/>
              <a:gd name="connsiteY0" fmla="*/ 405618 h 478301"/>
              <a:gd name="connsiteX1" fmla="*/ 150055 w 965982"/>
              <a:gd name="connsiteY1" fmla="*/ 419686 h 478301"/>
              <a:gd name="connsiteX2" fmla="*/ 65649 w 965982"/>
              <a:gd name="connsiteY2" fmla="*/ 53926 h 478301"/>
              <a:gd name="connsiteX3" fmla="*/ 65649 w 965982"/>
              <a:gd name="connsiteY3" fmla="*/ 96129 h 478301"/>
              <a:gd name="connsiteX4" fmla="*/ 51582 w 965982"/>
              <a:gd name="connsiteY4" fmla="*/ 152400 h 4783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5982" h="478301">
                <a:moveTo>
                  <a:pt x="965982" y="405618"/>
                </a:moveTo>
                <a:cubicBezTo>
                  <a:pt x="633046" y="441959"/>
                  <a:pt x="300110" y="478301"/>
                  <a:pt x="150055" y="419686"/>
                </a:cubicBezTo>
                <a:cubicBezTo>
                  <a:pt x="0" y="361071"/>
                  <a:pt x="79717" y="107852"/>
                  <a:pt x="65649" y="53926"/>
                </a:cubicBezTo>
                <a:cubicBezTo>
                  <a:pt x="51581" y="0"/>
                  <a:pt x="67994" y="79717"/>
                  <a:pt x="65649" y="96129"/>
                </a:cubicBezTo>
                <a:cubicBezTo>
                  <a:pt x="63305" y="112541"/>
                  <a:pt x="57443" y="132470"/>
                  <a:pt x="51582" y="15240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8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8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8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48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484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48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83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82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48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8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48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8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83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482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8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48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483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48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4843"/>
                                        </p:tgtEl>
                                        <p:attrNameLst>
                                          <p:attrName>style.visibility</p:attrName>
                                        </p:attrNameLst>
                                      </p:cBhvr>
                                      <p:to>
                                        <p:strVal val="visible"/>
                                      </p:to>
                                    </p:set>
                                  </p:childTnLst>
                                </p:cTn>
                              </p:par>
                              <p:par>
                                <p:cTn id="53" presetID="23" presetClass="entr" presetSubtype="16" fill="hold" grpId="0" nodeType="withEffect">
                                  <p:stCondLst>
                                    <p:cond delay="0"/>
                                  </p:stCondLst>
                                  <p:childTnLst>
                                    <p:set>
                                      <p:cBhvr>
                                        <p:cTn id="54" dur="1" fill="hold">
                                          <p:stCondLst>
                                            <p:cond delay="0"/>
                                          </p:stCondLst>
                                        </p:cTn>
                                        <p:tgtEl>
                                          <p:spTgt spid="34846"/>
                                        </p:tgtEl>
                                        <p:attrNameLst>
                                          <p:attrName>style.visibility</p:attrName>
                                        </p:attrNameLst>
                                      </p:cBhvr>
                                      <p:to>
                                        <p:strVal val="visible"/>
                                      </p:to>
                                    </p:set>
                                    <p:anim calcmode="lin" valueType="num">
                                      <p:cBhvr>
                                        <p:cTn id="55" dur="500" fill="hold"/>
                                        <p:tgtEl>
                                          <p:spTgt spid="34846"/>
                                        </p:tgtEl>
                                        <p:attrNameLst>
                                          <p:attrName>ppt_w</p:attrName>
                                        </p:attrNameLst>
                                      </p:cBhvr>
                                      <p:tavLst>
                                        <p:tav tm="0">
                                          <p:val>
                                            <p:fltVal val="0"/>
                                          </p:val>
                                        </p:tav>
                                        <p:tav tm="100000">
                                          <p:val>
                                            <p:strVal val="#ppt_w"/>
                                          </p:val>
                                        </p:tav>
                                      </p:tavLst>
                                    </p:anim>
                                    <p:anim calcmode="lin" valueType="num">
                                      <p:cBhvr>
                                        <p:cTn id="56" dur="500" fill="hold"/>
                                        <p:tgtEl>
                                          <p:spTgt spid="34846"/>
                                        </p:tgtEl>
                                        <p:attrNameLst>
                                          <p:attrName>ppt_h</p:attrName>
                                        </p:attrNameLst>
                                      </p:cBhvr>
                                      <p:tavLst>
                                        <p:tav tm="0">
                                          <p:val>
                                            <p:fltVal val="0"/>
                                          </p:val>
                                        </p:tav>
                                        <p:tav tm="100000">
                                          <p:val>
                                            <p:strVal val="#ppt_h"/>
                                          </p:val>
                                        </p:tav>
                                      </p:tavLst>
                                    </p:anim>
                                  </p:childTnLst>
                                </p:cTn>
                              </p:par>
                              <p:par>
                                <p:cTn id="57" presetID="23" presetClass="entr" presetSubtype="16" fill="hold" grpId="0" nodeType="withEffect">
                                  <p:stCondLst>
                                    <p:cond delay="0"/>
                                  </p:stCondLst>
                                  <p:childTnLst>
                                    <p:set>
                                      <p:cBhvr>
                                        <p:cTn id="58" dur="1" fill="hold">
                                          <p:stCondLst>
                                            <p:cond delay="0"/>
                                          </p:stCondLst>
                                        </p:cTn>
                                        <p:tgtEl>
                                          <p:spTgt spid="34847"/>
                                        </p:tgtEl>
                                        <p:attrNameLst>
                                          <p:attrName>style.visibility</p:attrName>
                                        </p:attrNameLst>
                                      </p:cBhvr>
                                      <p:to>
                                        <p:strVal val="visible"/>
                                      </p:to>
                                    </p:set>
                                    <p:anim calcmode="lin" valueType="num">
                                      <p:cBhvr>
                                        <p:cTn id="59" dur="500" fill="hold"/>
                                        <p:tgtEl>
                                          <p:spTgt spid="34847"/>
                                        </p:tgtEl>
                                        <p:attrNameLst>
                                          <p:attrName>ppt_w</p:attrName>
                                        </p:attrNameLst>
                                      </p:cBhvr>
                                      <p:tavLst>
                                        <p:tav tm="0">
                                          <p:val>
                                            <p:fltVal val="0"/>
                                          </p:val>
                                        </p:tav>
                                        <p:tav tm="100000">
                                          <p:val>
                                            <p:strVal val="#ppt_w"/>
                                          </p:val>
                                        </p:tav>
                                      </p:tavLst>
                                    </p:anim>
                                    <p:anim calcmode="lin" valueType="num">
                                      <p:cBhvr>
                                        <p:cTn id="60" dur="500" fill="hold"/>
                                        <p:tgtEl>
                                          <p:spTgt spid="3484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1" grpId="0" animBg="1"/>
      <p:bldP spid="34824" grpId="0" animBg="1"/>
      <p:bldP spid="34826" grpId="0" animBg="1"/>
      <p:bldP spid="34827" grpId="0" animBg="1"/>
      <p:bldP spid="34828" grpId="0" animBg="1"/>
      <p:bldP spid="34829" grpId="0" animBg="1"/>
      <p:bldP spid="34830" grpId="0"/>
      <p:bldP spid="34831" grpId="0"/>
      <p:bldP spid="34832" grpId="0"/>
      <p:bldP spid="34833" grpId="0" animBg="1"/>
      <p:bldP spid="34834" grpId="0" animBg="1"/>
      <p:bldP spid="34835" grpId="0" animBg="1"/>
      <p:bldP spid="34836" grpId="0" animBg="1"/>
      <p:bldP spid="34839" grpId="0" animBg="1"/>
      <p:bldP spid="34840" grpId="0"/>
      <p:bldP spid="34842" grpId="0"/>
      <p:bldP spid="34843" grpId="0"/>
      <p:bldP spid="34844" grpId="0" animBg="1"/>
      <p:bldP spid="34846" grpId="0" animBg="1"/>
      <p:bldP spid="34847" grpId="0" animBg="1"/>
    </p:bld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Text Box 4"/>
          <p:cNvSpPr txBox="1">
            <a:spLocks noChangeArrowheads="1"/>
          </p:cNvSpPr>
          <p:nvPr/>
        </p:nvSpPr>
        <p:spPr bwMode="auto">
          <a:xfrm>
            <a:off x="152400" y="381000"/>
            <a:ext cx="8839200" cy="822325"/>
          </a:xfrm>
          <a:prstGeom prst="rect">
            <a:avLst/>
          </a:prstGeom>
          <a:noFill/>
          <a:ln w="9525" algn="ctr">
            <a:noFill/>
            <a:miter lim="800000"/>
            <a:headEnd/>
            <a:tailEnd/>
          </a:ln>
          <a:effectLst/>
        </p:spPr>
        <p:txBody>
          <a:bodyPr>
            <a:spAutoFit/>
          </a:bodyPr>
          <a:lstStyle/>
          <a:p>
            <a:r>
              <a:rPr lang="en-US">
                <a:latin typeface="Tahoma" pitchFamily="34" charset="0"/>
              </a:rPr>
              <a:t>The contribution to the Coulomb potential from these six nearest neighbors is </a:t>
            </a:r>
          </a:p>
        </p:txBody>
      </p:sp>
      <p:graphicFrame>
        <p:nvGraphicFramePr>
          <p:cNvPr id="37893" name="Object 5"/>
          <p:cNvGraphicFramePr>
            <a:graphicFrameLocks noChangeAspect="1"/>
          </p:cNvGraphicFramePr>
          <p:nvPr/>
        </p:nvGraphicFramePr>
        <p:xfrm>
          <a:off x="1981200" y="1371600"/>
          <a:ext cx="4968875" cy="1179513"/>
        </p:xfrm>
        <a:graphic>
          <a:graphicData uri="http://schemas.openxmlformats.org/presentationml/2006/ole">
            <mc:AlternateContent xmlns:mc="http://schemas.openxmlformats.org/markup-compatibility/2006">
              <mc:Choice xmlns:v="urn:schemas-microsoft-com:vml" Requires="v">
                <p:oleObj spid="_x0000_s1048" name="Equation" r:id="rId3" imgW="1981080" imgH="469800" progId="">
                  <p:embed/>
                </p:oleObj>
              </mc:Choice>
              <mc:Fallback>
                <p:oleObj name="Equation" r:id="rId3" imgW="1981080" imgH="469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371600"/>
                        <a:ext cx="4968875" cy="1179513"/>
                      </a:xfrm>
                      <a:prstGeom prst="rect">
                        <a:avLst/>
                      </a:prstGeom>
                      <a:solidFill>
                        <a:srgbClr val="CCECFF"/>
                      </a:solidFill>
                    </p:spPr>
                  </p:pic>
                </p:oleObj>
              </mc:Fallback>
            </mc:AlternateContent>
          </a:graphicData>
        </a:graphic>
      </p:graphicFrame>
      <p:sp>
        <p:nvSpPr>
          <p:cNvPr id="37895" name="Text Box 7"/>
          <p:cNvSpPr txBox="1">
            <a:spLocks noChangeArrowheads="1"/>
          </p:cNvSpPr>
          <p:nvPr/>
        </p:nvSpPr>
        <p:spPr bwMode="auto">
          <a:xfrm>
            <a:off x="152400" y="2759075"/>
            <a:ext cx="8839200" cy="822325"/>
          </a:xfrm>
          <a:prstGeom prst="rect">
            <a:avLst/>
          </a:prstGeom>
          <a:noFill/>
          <a:ln w="9525" algn="ctr">
            <a:noFill/>
            <a:miter lim="800000"/>
            <a:headEnd/>
            <a:tailEnd/>
          </a:ln>
          <a:effectLst/>
        </p:spPr>
        <p:txBody>
          <a:bodyPr>
            <a:spAutoFit/>
          </a:bodyPr>
          <a:lstStyle/>
          <a:p>
            <a:r>
              <a:rPr lang="en-US">
                <a:latin typeface="Tahoma" pitchFamily="34" charset="0"/>
              </a:rPr>
              <a:t>This represents a negative (more stable) contribution to the total energy. </a:t>
            </a:r>
          </a:p>
        </p:txBody>
      </p:sp>
      <p:sp>
        <p:nvSpPr>
          <p:cNvPr id="37896" name="Line 8"/>
          <p:cNvSpPr>
            <a:spLocks noChangeShapeType="1"/>
          </p:cNvSpPr>
          <p:nvPr/>
        </p:nvSpPr>
        <p:spPr bwMode="auto">
          <a:xfrm flipV="1">
            <a:off x="4430713" y="2057400"/>
            <a:ext cx="914400" cy="762000"/>
          </a:xfrm>
          <a:prstGeom prst="line">
            <a:avLst/>
          </a:prstGeom>
          <a:noFill/>
          <a:ln w="57150">
            <a:solidFill>
              <a:schemeClr val="tx1"/>
            </a:solidFill>
            <a:round/>
            <a:headEnd/>
            <a:tailEnd type="triangle" w="med" len="med"/>
          </a:ln>
          <a:effectLst/>
        </p:spPr>
        <p:txBody>
          <a:bodyPr>
            <a:spAutoFit/>
          </a:bodyPr>
          <a:lstStyle/>
          <a:p>
            <a:endParaRPr lang="en-US"/>
          </a:p>
        </p:txBody>
      </p:sp>
      <p:grpSp>
        <p:nvGrpSpPr>
          <p:cNvPr id="2" name="Group 34"/>
          <p:cNvGrpSpPr>
            <a:grpSpLocks/>
          </p:cNvGrpSpPr>
          <p:nvPr/>
        </p:nvGrpSpPr>
        <p:grpSpPr bwMode="auto">
          <a:xfrm>
            <a:off x="6016625" y="4114800"/>
            <a:ext cx="1831975" cy="1828800"/>
            <a:chOff x="3790" y="2352"/>
            <a:chExt cx="1154" cy="1152"/>
          </a:xfrm>
        </p:grpSpPr>
        <p:sp>
          <p:nvSpPr>
            <p:cNvPr id="37897" name="Oval 9"/>
            <p:cNvSpPr>
              <a:spLocks noChangeArrowheads="1"/>
            </p:cNvSpPr>
            <p:nvPr/>
          </p:nvSpPr>
          <p:spPr bwMode="auto">
            <a:xfrm>
              <a:off x="4224" y="2784"/>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899" name="Oval 11"/>
            <p:cNvSpPr>
              <a:spLocks noChangeAspect="1" noChangeArrowheads="1"/>
            </p:cNvSpPr>
            <p:nvPr/>
          </p:nvSpPr>
          <p:spPr bwMode="auto">
            <a:xfrm>
              <a:off x="3790" y="2736"/>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00" name="Oval 12"/>
            <p:cNvSpPr>
              <a:spLocks noChangeAspect="1" noChangeArrowheads="1"/>
            </p:cNvSpPr>
            <p:nvPr/>
          </p:nvSpPr>
          <p:spPr bwMode="auto">
            <a:xfrm>
              <a:off x="4558" y="2736"/>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01" name="Oval 13"/>
            <p:cNvSpPr>
              <a:spLocks noChangeAspect="1" noChangeArrowheads="1"/>
            </p:cNvSpPr>
            <p:nvPr/>
          </p:nvSpPr>
          <p:spPr bwMode="auto">
            <a:xfrm>
              <a:off x="4176" y="3118"/>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02" name="Oval 14"/>
            <p:cNvSpPr>
              <a:spLocks noChangeAspect="1" noChangeArrowheads="1"/>
            </p:cNvSpPr>
            <p:nvPr/>
          </p:nvSpPr>
          <p:spPr bwMode="auto">
            <a:xfrm>
              <a:off x="4176" y="2352"/>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06" name="Line 18"/>
            <p:cNvSpPr>
              <a:spLocks noChangeShapeType="1"/>
            </p:cNvSpPr>
            <p:nvPr/>
          </p:nvSpPr>
          <p:spPr bwMode="auto">
            <a:xfrm>
              <a:off x="4368" y="2544"/>
              <a:ext cx="0" cy="384"/>
            </a:xfrm>
            <a:prstGeom prst="line">
              <a:avLst/>
            </a:prstGeom>
            <a:noFill/>
            <a:ln w="38100">
              <a:solidFill>
                <a:srgbClr val="FFFF00"/>
              </a:solidFill>
              <a:round/>
              <a:headEnd/>
              <a:tailEnd/>
            </a:ln>
            <a:effectLst/>
          </p:spPr>
          <p:txBody>
            <a:bodyPr>
              <a:spAutoFit/>
            </a:bodyPr>
            <a:lstStyle/>
            <a:p>
              <a:endParaRPr lang="en-US"/>
            </a:p>
          </p:txBody>
        </p:sp>
        <p:sp>
          <p:nvSpPr>
            <p:cNvPr id="37913" name="Line 25"/>
            <p:cNvSpPr>
              <a:spLocks noChangeShapeType="1"/>
            </p:cNvSpPr>
            <p:nvPr/>
          </p:nvSpPr>
          <p:spPr bwMode="auto">
            <a:xfrm rot="-5400000">
              <a:off x="4176" y="2736"/>
              <a:ext cx="0" cy="384"/>
            </a:xfrm>
            <a:prstGeom prst="line">
              <a:avLst/>
            </a:prstGeom>
            <a:noFill/>
            <a:ln w="38100">
              <a:solidFill>
                <a:srgbClr val="FFFF00"/>
              </a:solidFill>
              <a:round/>
              <a:headEnd/>
              <a:tailEnd/>
            </a:ln>
            <a:effectLst/>
          </p:spPr>
          <p:txBody>
            <a:bodyPr>
              <a:spAutoFit/>
            </a:bodyPr>
            <a:lstStyle/>
            <a:p>
              <a:endParaRPr lang="en-US"/>
            </a:p>
          </p:txBody>
        </p:sp>
      </p:grpSp>
      <p:grpSp>
        <p:nvGrpSpPr>
          <p:cNvPr id="3" name="Group 35"/>
          <p:cNvGrpSpPr>
            <a:grpSpLocks/>
          </p:cNvGrpSpPr>
          <p:nvPr/>
        </p:nvGrpSpPr>
        <p:grpSpPr bwMode="auto">
          <a:xfrm>
            <a:off x="6096000" y="4191000"/>
            <a:ext cx="2819400" cy="1676400"/>
            <a:chOff x="3840" y="2400"/>
            <a:chExt cx="1776" cy="1056"/>
          </a:xfrm>
        </p:grpSpPr>
        <p:sp>
          <p:nvSpPr>
            <p:cNvPr id="37909" name="Oval 21"/>
            <p:cNvSpPr>
              <a:spLocks noChangeArrowheads="1"/>
            </p:cNvSpPr>
            <p:nvPr/>
          </p:nvSpPr>
          <p:spPr bwMode="auto">
            <a:xfrm>
              <a:off x="3840" y="3168"/>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10" name="Oval 22"/>
            <p:cNvSpPr>
              <a:spLocks noChangeArrowheads="1"/>
            </p:cNvSpPr>
            <p:nvPr/>
          </p:nvSpPr>
          <p:spPr bwMode="auto">
            <a:xfrm>
              <a:off x="4608" y="3168"/>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11" name="Oval 23"/>
            <p:cNvSpPr>
              <a:spLocks noChangeArrowheads="1"/>
            </p:cNvSpPr>
            <p:nvPr/>
          </p:nvSpPr>
          <p:spPr bwMode="auto">
            <a:xfrm>
              <a:off x="4608" y="2400"/>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12" name="Oval 24"/>
            <p:cNvSpPr>
              <a:spLocks noChangeArrowheads="1"/>
            </p:cNvSpPr>
            <p:nvPr/>
          </p:nvSpPr>
          <p:spPr bwMode="auto">
            <a:xfrm>
              <a:off x="3840" y="2400"/>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7915" name="Line 27"/>
            <p:cNvSpPr>
              <a:spLocks noChangeShapeType="1"/>
            </p:cNvSpPr>
            <p:nvPr/>
          </p:nvSpPr>
          <p:spPr bwMode="auto">
            <a:xfrm rot="18761957" flipV="1">
              <a:off x="4166" y="2476"/>
              <a:ext cx="17" cy="528"/>
            </a:xfrm>
            <a:prstGeom prst="line">
              <a:avLst/>
            </a:prstGeom>
            <a:noFill/>
            <a:ln w="38100">
              <a:solidFill>
                <a:srgbClr val="FFFF00"/>
              </a:solidFill>
              <a:round/>
              <a:headEnd type="arrow" w="med" len="med"/>
              <a:tailEnd type="arrow" w="med" len="med"/>
            </a:ln>
            <a:effectLst/>
          </p:spPr>
          <p:txBody>
            <a:bodyPr>
              <a:spAutoFit/>
            </a:bodyPr>
            <a:lstStyle/>
            <a:p>
              <a:endParaRPr lang="en-US"/>
            </a:p>
          </p:txBody>
        </p:sp>
        <p:graphicFrame>
          <p:nvGraphicFramePr>
            <p:cNvPr id="37917" name="Object 29"/>
            <p:cNvGraphicFramePr>
              <a:graphicFrameLocks noChangeAspect="1"/>
            </p:cNvGraphicFramePr>
            <p:nvPr/>
          </p:nvGraphicFramePr>
          <p:xfrm>
            <a:off x="5232" y="2448"/>
            <a:ext cx="384" cy="272"/>
          </p:xfrm>
          <a:graphic>
            <a:graphicData uri="http://schemas.openxmlformats.org/presentationml/2006/ole">
              <mc:AlternateContent xmlns:mc="http://schemas.openxmlformats.org/markup-compatibility/2006">
                <mc:Choice xmlns:v="urn:schemas-microsoft-com:vml" Requires="v">
                  <p:oleObj spid="_x0000_s1049" name="Equation" r:id="rId5" imgW="304560" imgH="215640" progId="">
                    <p:embed/>
                  </p:oleObj>
                </mc:Choice>
                <mc:Fallback>
                  <p:oleObj name="Equation" r:id="rId5" imgW="304560" imgH="21564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2" y="2448"/>
                          <a:ext cx="384"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20" name="Line 32"/>
            <p:cNvSpPr>
              <a:spLocks noChangeShapeType="1"/>
            </p:cNvSpPr>
            <p:nvPr/>
          </p:nvSpPr>
          <p:spPr bwMode="auto">
            <a:xfrm rot="18761957" flipV="1">
              <a:off x="5247" y="2481"/>
              <a:ext cx="17" cy="528"/>
            </a:xfrm>
            <a:prstGeom prst="line">
              <a:avLst/>
            </a:prstGeom>
            <a:noFill/>
            <a:ln w="38100">
              <a:solidFill>
                <a:srgbClr val="FFFF00"/>
              </a:solidFill>
              <a:round/>
              <a:headEnd type="arrow" w="med" len="med"/>
              <a:tailEnd type="arrow" w="med" len="med"/>
            </a:ln>
            <a:effectLst/>
          </p:spPr>
          <p:txBody>
            <a:bodyPr>
              <a:spAutoFit/>
            </a:bodyPr>
            <a:lstStyle/>
            <a:p>
              <a:endParaRPr lang="en-US"/>
            </a:p>
          </p:txBody>
        </p:sp>
      </p:grpSp>
      <p:sp>
        <p:nvSpPr>
          <p:cNvPr id="37921" name="Text Box 33"/>
          <p:cNvSpPr txBox="1">
            <a:spLocks noChangeArrowheads="1"/>
          </p:cNvSpPr>
          <p:nvPr/>
        </p:nvSpPr>
        <p:spPr bwMode="auto">
          <a:xfrm>
            <a:off x="152400" y="3752850"/>
            <a:ext cx="5715000" cy="822325"/>
          </a:xfrm>
          <a:prstGeom prst="rect">
            <a:avLst/>
          </a:prstGeom>
          <a:noFill/>
          <a:ln w="9525" algn="ctr">
            <a:noFill/>
            <a:miter lim="800000"/>
            <a:headEnd/>
            <a:tailEnd/>
          </a:ln>
          <a:effectLst/>
        </p:spPr>
        <p:txBody>
          <a:bodyPr>
            <a:spAutoFit/>
          </a:bodyPr>
          <a:lstStyle/>
          <a:p>
            <a:r>
              <a:rPr lang="en-US">
                <a:latin typeface="Tahoma" pitchFamily="34" charset="0"/>
              </a:rPr>
              <a:t>Each Na</a:t>
            </a:r>
            <a:r>
              <a:rPr lang="en-US" baseline="30000">
                <a:latin typeface="Tahoma" pitchFamily="34" charset="0"/>
              </a:rPr>
              <a:t>+</a:t>
            </a:r>
            <a:r>
              <a:rPr lang="en-US">
                <a:latin typeface="Tahoma" pitchFamily="34" charset="0"/>
              </a:rPr>
              <a:t> has 12 Na</a:t>
            </a:r>
            <a:r>
              <a:rPr lang="en-US" baseline="30000">
                <a:latin typeface="Tahoma" pitchFamily="34" charset="0"/>
              </a:rPr>
              <a:t>+</a:t>
            </a:r>
            <a:r>
              <a:rPr lang="en-US">
                <a:latin typeface="Tahoma" pitchFamily="34" charset="0"/>
              </a:rPr>
              <a:t> next-nearest neighbors at a distance of 2</a:t>
            </a:r>
            <a:r>
              <a:rPr lang="en-US" baseline="30000">
                <a:latin typeface="Tahoma" pitchFamily="34" charset="0"/>
              </a:rPr>
              <a:t>1/2</a:t>
            </a:r>
            <a:r>
              <a:rPr lang="en-US">
                <a:latin typeface="Tahoma" pitchFamily="34" charset="0"/>
              </a:rPr>
              <a:t>r. </a:t>
            </a:r>
          </a:p>
        </p:txBody>
      </p:sp>
      <p:sp>
        <p:nvSpPr>
          <p:cNvPr id="37932" name="Text Box 44"/>
          <p:cNvSpPr txBox="1">
            <a:spLocks noChangeArrowheads="1"/>
          </p:cNvSpPr>
          <p:nvPr/>
        </p:nvSpPr>
        <p:spPr bwMode="auto">
          <a:xfrm>
            <a:off x="152400" y="3752850"/>
            <a:ext cx="5715000" cy="2647950"/>
          </a:xfrm>
          <a:prstGeom prst="rect">
            <a:avLst/>
          </a:prstGeom>
          <a:noFill/>
          <a:ln w="9525" algn="ctr">
            <a:noFill/>
            <a:miter lim="800000"/>
            <a:headEnd/>
            <a:tailEnd/>
          </a:ln>
          <a:effectLst/>
        </p:spPr>
        <p:txBody>
          <a:bodyPr>
            <a:spAutoFit/>
          </a:bodyPr>
          <a:lstStyle/>
          <a:p>
            <a:r>
              <a:rPr lang="en-US">
                <a:latin typeface="Tahoma" pitchFamily="34" charset="0"/>
              </a:rPr>
              <a:t>Each Na</a:t>
            </a:r>
            <a:r>
              <a:rPr lang="en-US" baseline="30000">
                <a:latin typeface="Tahoma" pitchFamily="34" charset="0"/>
              </a:rPr>
              <a:t>+</a:t>
            </a:r>
            <a:r>
              <a:rPr lang="en-US">
                <a:latin typeface="Tahoma" pitchFamily="34" charset="0"/>
              </a:rPr>
              <a:t> has 12 Na</a:t>
            </a:r>
            <a:r>
              <a:rPr lang="en-US" baseline="30000">
                <a:latin typeface="Tahoma" pitchFamily="34" charset="0"/>
              </a:rPr>
              <a:t>+</a:t>
            </a:r>
            <a:r>
              <a:rPr lang="en-US">
                <a:latin typeface="Tahoma" pitchFamily="34" charset="0"/>
              </a:rPr>
              <a:t> next-nearest neighbors at a distance of 2</a:t>
            </a:r>
            <a:r>
              <a:rPr lang="en-US" baseline="30000">
                <a:latin typeface="Tahoma" pitchFamily="34" charset="0"/>
              </a:rPr>
              <a:t>1/2</a:t>
            </a:r>
            <a:r>
              <a:rPr lang="en-US">
                <a:latin typeface="Tahoma" pitchFamily="34" charset="0"/>
              </a:rPr>
              <a:t>r.  These are + ions, so the interaction is repulsive, and the contribution to the total energy is positive. This figure shows four of the next-nearest neighbors.   </a:t>
            </a: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895"/>
                                        </p:tgtEl>
                                        <p:attrNameLst>
                                          <p:attrName>style.visibility</p:attrName>
                                        </p:attrNameLst>
                                      </p:cBhvr>
                                      <p:to>
                                        <p:strVal val="visible"/>
                                      </p:to>
                                    </p:set>
                                  </p:childTnLst>
                                </p:cTn>
                              </p:par>
                              <p:par>
                                <p:cTn id="7" presetID="23" presetClass="entr" presetSubtype="16" fill="hold" grpId="0" nodeType="withEffect">
                                  <p:stCondLst>
                                    <p:cond delay="0"/>
                                  </p:stCondLst>
                                  <p:childTnLst>
                                    <p:set>
                                      <p:cBhvr>
                                        <p:cTn id="8" dur="1" fill="hold">
                                          <p:stCondLst>
                                            <p:cond delay="0"/>
                                          </p:stCondLst>
                                        </p:cTn>
                                        <p:tgtEl>
                                          <p:spTgt spid="37896"/>
                                        </p:tgtEl>
                                        <p:attrNameLst>
                                          <p:attrName>style.visibility</p:attrName>
                                        </p:attrNameLst>
                                      </p:cBhvr>
                                      <p:to>
                                        <p:strVal val="visible"/>
                                      </p:to>
                                    </p:set>
                                    <p:anim calcmode="lin" valueType="num">
                                      <p:cBhvr>
                                        <p:cTn id="9" dur="500" fill="hold"/>
                                        <p:tgtEl>
                                          <p:spTgt spid="37896"/>
                                        </p:tgtEl>
                                        <p:attrNameLst>
                                          <p:attrName>ppt_w</p:attrName>
                                        </p:attrNameLst>
                                      </p:cBhvr>
                                      <p:tavLst>
                                        <p:tav tm="0">
                                          <p:val>
                                            <p:fltVal val="0"/>
                                          </p:val>
                                        </p:tav>
                                        <p:tav tm="100000">
                                          <p:val>
                                            <p:strVal val="#ppt_w"/>
                                          </p:val>
                                        </p:tav>
                                      </p:tavLst>
                                    </p:anim>
                                    <p:anim calcmode="lin" valueType="num">
                                      <p:cBhvr>
                                        <p:cTn id="10" dur="500" fill="hold"/>
                                        <p:tgtEl>
                                          <p:spTgt spid="37896"/>
                                        </p:tgtEl>
                                        <p:attrNameLst>
                                          <p:attrName>ppt_h</p:attrName>
                                        </p:attrNameLst>
                                      </p:cBhvr>
                                      <p:tavLst>
                                        <p:tav tm="0">
                                          <p:val>
                                            <p:fltVal val="0"/>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9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793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5" grpId="0"/>
      <p:bldP spid="37896" grpId="0" animBg="1"/>
      <p:bldP spid="37921" grpId="0"/>
      <p:bldP spid="37932" grpId="0"/>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0"/>
          <p:cNvGrpSpPr>
            <a:grpSpLocks/>
          </p:cNvGrpSpPr>
          <p:nvPr/>
        </p:nvGrpSpPr>
        <p:grpSpPr bwMode="auto">
          <a:xfrm>
            <a:off x="3425825" y="2819400"/>
            <a:ext cx="1831975" cy="1828800"/>
            <a:chOff x="2158" y="1776"/>
            <a:chExt cx="1154" cy="1152"/>
          </a:xfrm>
        </p:grpSpPr>
        <p:sp>
          <p:nvSpPr>
            <p:cNvPr id="38916" name="Oval 4"/>
            <p:cNvSpPr>
              <a:spLocks noChangeArrowheads="1"/>
            </p:cNvSpPr>
            <p:nvPr/>
          </p:nvSpPr>
          <p:spPr bwMode="auto">
            <a:xfrm>
              <a:off x="2592" y="2208"/>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17" name="Oval 5"/>
            <p:cNvSpPr>
              <a:spLocks noChangeAspect="1" noChangeArrowheads="1"/>
            </p:cNvSpPr>
            <p:nvPr/>
          </p:nvSpPr>
          <p:spPr bwMode="auto">
            <a:xfrm>
              <a:off x="2158" y="2160"/>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18" name="Oval 6"/>
            <p:cNvSpPr>
              <a:spLocks noChangeAspect="1" noChangeArrowheads="1"/>
            </p:cNvSpPr>
            <p:nvPr/>
          </p:nvSpPr>
          <p:spPr bwMode="auto">
            <a:xfrm>
              <a:off x="2926" y="2160"/>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19" name="Oval 7"/>
            <p:cNvSpPr>
              <a:spLocks noChangeAspect="1" noChangeArrowheads="1"/>
            </p:cNvSpPr>
            <p:nvPr/>
          </p:nvSpPr>
          <p:spPr bwMode="auto">
            <a:xfrm>
              <a:off x="2544" y="2542"/>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20" name="Oval 8"/>
            <p:cNvSpPr>
              <a:spLocks noChangeAspect="1" noChangeArrowheads="1"/>
            </p:cNvSpPr>
            <p:nvPr/>
          </p:nvSpPr>
          <p:spPr bwMode="auto">
            <a:xfrm>
              <a:off x="2544" y="1776"/>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22" name="Oval 10"/>
            <p:cNvSpPr>
              <a:spLocks noChangeArrowheads="1"/>
            </p:cNvSpPr>
            <p:nvPr/>
          </p:nvSpPr>
          <p:spPr bwMode="auto">
            <a:xfrm>
              <a:off x="2208" y="2592"/>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23" name="Oval 11"/>
            <p:cNvSpPr>
              <a:spLocks noChangeArrowheads="1"/>
            </p:cNvSpPr>
            <p:nvPr/>
          </p:nvSpPr>
          <p:spPr bwMode="auto">
            <a:xfrm>
              <a:off x="2976" y="2592"/>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24" name="Oval 12"/>
            <p:cNvSpPr>
              <a:spLocks noChangeArrowheads="1"/>
            </p:cNvSpPr>
            <p:nvPr/>
          </p:nvSpPr>
          <p:spPr bwMode="auto">
            <a:xfrm>
              <a:off x="2976" y="1824"/>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25" name="Oval 13"/>
            <p:cNvSpPr>
              <a:spLocks noChangeArrowheads="1"/>
            </p:cNvSpPr>
            <p:nvPr/>
          </p:nvSpPr>
          <p:spPr bwMode="auto">
            <a:xfrm>
              <a:off x="2208" y="1824"/>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sp>
        <p:nvSpPr>
          <p:cNvPr id="38931" name="Text Box 19"/>
          <p:cNvSpPr txBox="1">
            <a:spLocks noChangeArrowheads="1"/>
          </p:cNvSpPr>
          <p:nvPr/>
        </p:nvSpPr>
        <p:spPr bwMode="auto">
          <a:xfrm>
            <a:off x="152400" y="228600"/>
            <a:ext cx="8839200" cy="457200"/>
          </a:xfrm>
          <a:prstGeom prst="rect">
            <a:avLst/>
          </a:prstGeom>
          <a:noFill/>
          <a:ln w="9525" algn="ctr">
            <a:noFill/>
            <a:miter lim="800000"/>
            <a:headEnd/>
            <a:tailEnd/>
          </a:ln>
          <a:effectLst/>
        </p:spPr>
        <p:txBody>
          <a:bodyPr>
            <a:spAutoFit/>
          </a:bodyPr>
          <a:lstStyle/>
          <a:p>
            <a:r>
              <a:rPr lang="en-US">
                <a:latin typeface="Tahoma" pitchFamily="34" charset="0"/>
              </a:rPr>
              <a:t>There are four more (red) in the plane above</a:t>
            </a:r>
          </a:p>
        </p:txBody>
      </p:sp>
      <p:grpSp>
        <p:nvGrpSpPr>
          <p:cNvPr id="3" name="Group 49"/>
          <p:cNvGrpSpPr>
            <a:grpSpLocks/>
          </p:cNvGrpSpPr>
          <p:nvPr/>
        </p:nvGrpSpPr>
        <p:grpSpPr bwMode="auto">
          <a:xfrm>
            <a:off x="5257800" y="990600"/>
            <a:ext cx="1828800" cy="1831975"/>
            <a:chOff x="3312" y="624"/>
            <a:chExt cx="1152" cy="1154"/>
          </a:xfrm>
        </p:grpSpPr>
        <p:sp>
          <p:nvSpPr>
            <p:cNvPr id="38933" name="Oval 21"/>
            <p:cNvSpPr>
              <a:spLocks noChangeAspect="1" noChangeArrowheads="1"/>
            </p:cNvSpPr>
            <p:nvPr/>
          </p:nvSpPr>
          <p:spPr bwMode="auto">
            <a:xfrm>
              <a:off x="3312" y="624"/>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34" name="Oval 22"/>
            <p:cNvSpPr>
              <a:spLocks noChangeAspect="1" noChangeArrowheads="1"/>
            </p:cNvSpPr>
            <p:nvPr/>
          </p:nvSpPr>
          <p:spPr bwMode="auto">
            <a:xfrm>
              <a:off x="3696" y="1008"/>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36" name="Oval 24"/>
            <p:cNvSpPr>
              <a:spLocks noChangeAspect="1" noChangeArrowheads="1"/>
            </p:cNvSpPr>
            <p:nvPr/>
          </p:nvSpPr>
          <p:spPr bwMode="auto">
            <a:xfrm>
              <a:off x="4078" y="624"/>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37" name="Oval 25"/>
            <p:cNvSpPr>
              <a:spLocks noChangeArrowheads="1"/>
            </p:cNvSpPr>
            <p:nvPr/>
          </p:nvSpPr>
          <p:spPr bwMode="auto">
            <a:xfrm>
              <a:off x="3744" y="1440"/>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38" name="Oval 26"/>
            <p:cNvSpPr>
              <a:spLocks noChangeArrowheads="1"/>
            </p:cNvSpPr>
            <p:nvPr/>
          </p:nvSpPr>
          <p:spPr bwMode="auto">
            <a:xfrm>
              <a:off x="4130" y="1056"/>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39" name="Oval 27"/>
            <p:cNvSpPr>
              <a:spLocks noChangeArrowheads="1"/>
            </p:cNvSpPr>
            <p:nvPr/>
          </p:nvSpPr>
          <p:spPr bwMode="auto">
            <a:xfrm>
              <a:off x="3744" y="672"/>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40" name="Oval 28"/>
            <p:cNvSpPr>
              <a:spLocks noChangeArrowheads="1"/>
            </p:cNvSpPr>
            <p:nvPr/>
          </p:nvSpPr>
          <p:spPr bwMode="auto">
            <a:xfrm>
              <a:off x="3362" y="1056"/>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51" name="Oval 39"/>
            <p:cNvSpPr>
              <a:spLocks noChangeAspect="1" noChangeArrowheads="1"/>
            </p:cNvSpPr>
            <p:nvPr/>
          </p:nvSpPr>
          <p:spPr bwMode="auto">
            <a:xfrm>
              <a:off x="3312" y="1390"/>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52" name="Oval 40"/>
            <p:cNvSpPr>
              <a:spLocks noChangeAspect="1" noChangeArrowheads="1"/>
            </p:cNvSpPr>
            <p:nvPr/>
          </p:nvSpPr>
          <p:spPr bwMode="auto">
            <a:xfrm>
              <a:off x="4078" y="1392"/>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grpSp>
        <p:nvGrpSpPr>
          <p:cNvPr id="4" name="Group 51"/>
          <p:cNvGrpSpPr>
            <a:grpSpLocks/>
          </p:cNvGrpSpPr>
          <p:nvPr/>
        </p:nvGrpSpPr>
        <p:grpSpPr bwMode="auto">
          <a:xfrm>
            <a:off x="1600200" y="4648200"/>
            <a:ext cx="1828800" cy="1828800"/>
            <a:chOff x="1008" y="2928"/>
            <a:chExt cx="1152" cy="1152"/>
          </a:xfrm>
        </p:grpSpPr>
        <p:sp>
          <p:nvSpPr>
            <p:cNvPr id="38941" name="Oval 29"/>
            <p:cNvSpPr>
              <a:spLocks noChangeArrowheads="1"/>
            </p:cNvSpPr>
            <p:nvPr/>
          </p:nvSpPr>
          <p:spPr bwMode="auto">
            <a:xfrm>
              <a:off x="1056" y="3360"/>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42" name="Oval 30"/>
            <p:cNvSpPr>
              <a:spLocks noChangeAspect="1" noChangeArrowheads="1"/>
            </p:cNvSpPr>
            <p:nvPr/>
          </p:nvSpPr>
          <p:spPr bwMode="auto">
            <a:xfrm>
              <a:off x="1008" y="2928"/>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43" name="Oval 31"/>
            <p:cNvSpPr>
              <a:spLocks noChangeAspect="1" noChangeArrowheads="1"/>
            </p:cNvSpPr>
            <p:nvPr/>
          </p:nvSpPr>
          <p:spPr bwMode="auto">
            <a:xfrm>
              <a:off x="1774" y="3694"/>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44" name="Oval 32"/>
            <p:cNvSpPr>
              <a:spLocks noChangeAspect="1" noChangeArrowheads="1"/>
            </p:cNvSpPr>
            <p:nvPr/>
          </p:nvSpPr>
          <p:spPr bwMode="auto">
            <a:xfrm>
              <a:off x="1008" y="3694"/>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45" name="Oval 33"/>
            <p:cNvSpPr>
              <a:spLocks noChangeAspect="1" noChangeArrowheads="1"/>
            </p:cNvSpPr>
            <p:nvPr/>
          </p:nvSpPr>
          <p:spPr bwMode="auto">
            <a:xfrm>
              <a:off x="1774" y="2928"/>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53" name="Oval 41"/>
            <p:cNvSpPr>
              <a:spLocks noChangeArrowheads="1"/>
            </p:cNvSpPr>
            <p:nvPr/>
          </p:nvSpPr>
          <p:spPr bwMode="auto">
            <a:xfrm>
              <a:off x="1824" y="3360"/>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54" name="Oval 42"/>
            <p:cNvSpPr>
              <a:spLocks noChangeArrowheads="1"/>
            </p:cNvSpPr>
            <p:nvPr/>
          </p:nvSpPr>
          <p:spPr bwMode="auto">
            <a:xfrm>
              <a:off x="1440" y="3744"/>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55" name="Oval 43"/>
            <p:cNvSpPr>
              <a:spLocks noChangeArrowheads="1"/>
            </p:cNvSpPr>
            <p:nvPr/>
          </p:nvSpPr>
          <p:spPr bwMode="auto">
            <a:xfrm>
              <a:off x="1440" y="2976"/>
              <a:ext cx="288" cy="288"/>
            </a:xfrm>
            <a:prstGeom prst="ellipse">
              <a:avLst/>
            </a:prstGeom>
            <a:gradFill rotWithShape="1">
              <a:gsLst>
                <a:gs pos="0">
                  <a:srgbClr val="FF0000"/>
                </a:gs>
                <a:gs pos="100000">
                  <a:srgbClr val="FF0000">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sp>
          <p:nvSpPr>
            <p:cNvPr id="38956" name="Oval 44"/>
            <p:cNvSpPr>
              <a:spLocks noChangeAspect="1" noChangeArrowheads="1"/>
            </p:cNvSpPr>
            <p:nvPr/>
          </p:nvSpPr>
          <p:spPr bwMode="auto">
            <a:xfrm>
              <a:off x="1390" y="3310"/>
              <a:ext cx="386" cy="386"/>
            </a:xfrm>
            <a:prstGeom prst="ellipse">
              <a:avLst/>
            </a:prstGeom>
            <a:gradFill rotWithShape="1">
              <a:gsLst>
                <a:gs pos="0">
                  <a:srgbClr val="0000FF"/>
                </a:gs>
                <a:gs pos="100000">
                  <a:srgbClr val="0000FF">
                    <a:gamma/>
                    <a:shade val="46275"/>
                    <a:invGamma/>
                  </a:srgbClr>
                </a:gs>
              </a:gsLst>
              <a:path path="shape">
                <a:fillToRect l="50000" t="50000" r="50000" b="50000"/>
              </a:path>
            </a:gradFill>
            <a:ln w="9525" algn="ctr">
              <a:noFill/>
              <a:round/>
              <a:headEnd/>
              <a:tailEnd/>
            </a:ln>
            <a:effectLst/>
          </p:spPr>
          <p:txBody>
            <a:bodyPr wrap="none" anchor="ctr">
              <a:spAutoFit/>
            </a:bodyPr>
            <a:lstStyle/>
            <a:p>
              <a:endParaRPr lang="en-US"/>
            </a:p>
          </p:txBody>
        </p:sp>
      </p:grpSp>
      <p:sp>
        <p:nvSpPr>
          <p:cNvPr id="38957" name="Text Box 45"/>
          <p:cNvSpPr txBox="1">
            <a:spLocks noChangeArrowheads="1"/>
          </p:cNvSpPr>
          <p:nvPr/>
        </p:nvSpPr>
        <p:spPr bwMode="auto">
          <a:xfrm>
            <a:off x="152400" y="228600"/>
            <a:ext cx="8839200" cy="822325"/>
          </a:xfrm>
          <a:prstGeom prst="rect">
            <a:avLst/>
          </a:prstGeom>
          <a:noFill/>
          <a:ln w="9525" algn="ctr">
            <a:noFill/>
            <a:miter lim="800000"/>
            <a:headEnd/>
            <a:tailEnd/>
          </a:ln>
          <a:effectLst/>
        </p:spPr>
        <p:txBody>
          <a:bodyPr>
            <a:spAutoFit/>
          </a:bodyPr>
          <a:lstStyle/>
          <a:p>
            <a:r>
              <a:rPr lang="en-US">
                <a:latin typeface="Tahoma" pitchFamily="34" charset="0"/>
              </a:rPr>
              <a:t>There are four more (red) in the plane above and four more in the plane below.</a:t>
            </a:r>
          </a:p>
        </p:txBody>
      </p:sp>
      <p:sp>
        <p:nvSpPr>
          <p:cNvPr id="38958" name="Text Box 46"/>
          <p:cNvSpPr txBox="1">
            <a:spLocks noChangeArrowheads="1"/>
          </p:cNvSpPr>
          <p:nvPr/>
        </p:nvSpPr>
        <p:spPr bwMode="auto">
          <a:xfrm>
            <a:off x="5562600" y="3506788"/>
            <a:ext cx="2235200" cy="457200"/>
          </a:xfrm>
          <a:prstGeom prst="rect">
            <a:avLst/>
          </a:prstGeom>
          <a:noFill/>
          <a:ln w="9525" algn="ctr">
            <a:noFill/>
            <a:miter lim="800000"/>
            <a:headEnd/>
            <a:tailEnd/>
          </a:ln>
          <a:effectLst/>
        </p:spPr>
        <p:txBody>
          <a:bodyPr wrap="none">
            <a:spAutoFit/>
          </a:bodyPr>
          <a:lstStyle/>
          <a:p>
            <a:r>
              <a:rPr lang="en-US">
                <a:latin typeface="Tahoma" pitchFamily="34" charset="0"/>
              </a:rPr>
              <a:t>“original” plane</a:t>
            </a:r>
          </a:p>
        </p:txBody>
      </p:sp>
      <p:sp>
        <p:nvSpPr>
          <p:cNvPr id="38959" name="Text Box 47"/>
          <p:cNvSpPr txBox="1">
            <a:spLocks noChangeArrowheads="1"/>
          </p:cNvSpPr>
          <p:nvPr/>
        </p:nvSpPr>
        <p:spPr bwMode="auto">
          <a:xfrm>
            <a:off x="7302500" y="1677988"/>
            <a:ext cx="1235075" cy="457200"/>
          </a:xfrm>
          <a:prstGeom prst="rect">
            <a:avLst/>
          </a:prstGeom>
          <a:noFill/>
          <a:ln w="9525" algn="ctr">
            <a:noFill/>
            <a:miter lim="800000"/>
            <a:headEnd/>
            <a:tailEnd/>
          </a:ln>
          <a:effectLst/>
        </p:spPr>
        <p:txBody>
          <a:bodyPr wrap="none">
            <a:spAutoFit/>
          </a:bodyPr>
          <a:lstStyle/>
          <a:p>
            <a:r>
              <a:rPr lang="en-US">
                <a:latin typeface="Tahoma" pitchFamily="34" charset="0"/>
              </a:rPr>
              <a:t>“above”</a:t>
            </a:r>
          </a:p>
        </p:txBody>
      </p:sp>
      <p:sp>
        <p:nvSpPr>
          <p:cNvPr id="38960" name="Text Box 48"/>
          <p:cNvSpPr txBox="1">
            <a:spLocks noChangeArrowheads="1"/>
          </p:cNvSpPr>
          <p:nvPr/>
        </p:nvSpPr>
        <p:spPr bwMode="auto">
          <a:xfrm>
            <a:off x="3568700" y="5335588"/>
            <a:ext cx="1219200" cy="457200"/>
          </a:xfrm>
          <a:prstGeom prst="rect">
            <a:avLst/>
          </a:prstGeom>
          <a:noFill/>
          <a:ln w="9525" algn="ctr">
            <a:noFill/>
            <a:miter lim="800000"/>
            <a:headEnd/>
            <a:tailEnd/>
          </a:ln>
          <a:effectLst/>
        </p:spPr>
        <p:txBody>
          <a:bodyPr wrap="none">
            <a:spAutoFit/>
          </a:bodyPr>
          <a:lstStyle/>
          <a:p>
            <a:r>
              <a:rPr lang="en-US">
                <a:latin typeface="Tahoma" pitchFamily="34" charset="0"/>
              </a:rPr>
              <a:t>“below”</a:t>
            </a:r>
          </a:p>
        </p:txBody>
      </p:sp>
      <p:sp>
        <p:nvSpPr>
          <p:cNvPr id="5" name="Footer Placeholder 4"/>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895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89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89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89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31" grpId="0"/>
      <p:bldP spid="38957" grpId="0"/>
      <p:bldP spid="38959" grpId="0"/>
      <p:bldP spid="38960" grpId="0"/>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4"/>
          <p:cNvSpPr txBox="1">
            <a:spLocks noChangeArrowheads="1"/>
          </p:cNvSpPr>
          <p:nvPr/>
        </p:nvSpPr>
        <p:spPr bwMode="auto">
          <a:xfrm>
            <a:off x="152400" y="381000"/>
            <a:ext cx="8839200" cy="457200"/>
          </a:xfrm>
          <a:prstGeom prst="rect">
            <a:avLst/>
          </a:prstGeom>
          <a:noFill/>
          <a:ln w="9525" algn="ctr">
            <a:noFill/>
            <a:miter lim="800000"/>
            <a:headEnd/>
            <a:tailEnd/>
          </a:ln>
          <a:effectLst/>
        </p:spPr>
        <p:txBody>
          <a:bodyPr>
            <a:spAutoFit/>
          </a:bodyPr>
          <a:lstStyle/>
          <a:p>
            <a:r>
              <a:rPr lang="en-US">
                <a:latin typeface="Tahoma" pitchFamily="34" charset="0"/>
              </a:rPr>
              <a:t>The contribution from the twelve next-nearest neighbors is  </a:t>
            </a:r>
          </a:p>
        </p:txBody>
      </p:sp>
      <p:graphicFrame>
        <p:nvGraphicFramePr>
          <p:cNvPr id="39941" name="Object 5"/>
          <p:cNvGraphicFramePr>
            <a:graphicFrameLocks noChangeAspect="1"/>
          </p:cNvGraphicFramePr>
          <p:nvPr/>
        </p:nvGraphicFramePr>
        <p:xfrm>
          <a:off x="2898775" y="990600"/>
          <a:ext cx="3186113" cy="1177925"/>
        </p:xfrm>
        <a:graphic>
          <a:graphicData uri="http://schemas.openxmlformats.org/presentationml/2006/ole">
            <mc:AlternateContent xmlns:mc="http://schemas.openxmlformats.org/markup-compatibility/2006">
              <mc:Choice xmlns:v="urn:schemas-microsoft-com:vml" Requires="v">
                <p:oleObj spid="_x0000_s2083" name="Equation" r:id="rId3" imgW="1269720" imgH="469800" progId="">
                  <p:embed/>
                </p:oleObj>
              </mc:Choice>
              <mc:Fallback>
                <p:oleObj name="Equation" r:id="rId3" imgW="1269720" imgH="4698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8775" y="990600"/>
                        <a:ext cx="3186113" cy="1177925"/>
                      </a:xfrm>
                      <a:prstGeom prst="rect">
                        <a:avLst/>
                      </a:prstGeom>
                      <a:solidFill>
                        <a:srgbClr val="CCECFF"/>
                      </a:solidFill>
                    </p:spPr>
                  </p:pic>
                </p:oleObj>
              </mc:Fallback>
            </mc:AlternateContent>
          </a:graphicData>
        </a:graphic>
      </p:graphicFrame>
      <p:sp>
        <p:nvSpPr>
          <p:cNvPr id="39942" name="Text Box 6"/>
          <p:cNvSpPr txBox="1">
            <a:spLocks noChangeArrowheads="1"/>
          </p:cNvSpPr>
          <p:nvPr/>
        </p:nvSpPr>
        <p:spPr bwMode="auto">
          <a:xfrm>
            <a:off x="152400" y="2225675"/>
            <a:ext cx="8839200" cy="822325"/>
          </a:xfrm>
          <a:prstGeom prst="rect">
            <a:avLst/>
          </a:prstGeom>
          <a:noFill/>
          <a:ln w="9525" algn="ctr">
            <a:noFill/>
            <a:miter lim="800000"/>
            <a:headEnd/>
            <a:tailEnd/>
          </a:ln>
          <a:effectLst/>
        </p:spPr>
        <p:txBody>
          <a:bodyPr>
            <a:spAutoFit/>
          </a:bodyPr>
          <a:lstStyle/>
          <a:p>
            <a:r>
              <a:rPr lang="en-US">
                <a:latin typeface="Tahoma" pitchFamily="34" charset="0"/>
              </a:rPr>
              <a:t>This represents a positive (less stable) contribution to the total energy. </a:t>
            </a:r>
          </a:p>
        </p:txBody>
      </p:sp>
      <p:sp>
        <p:nvSpPr>
          <p:cNvPr id="39944" name="Line 8"/>
          <p:cNvSpPr>
            <a:spLocks noChangeShapeType="1"/>
          </p:cNvSpPr>
          <p:nvPr/>
        </p:nvSpPr>
        <p:spPr bwMode="auto">
          <a:xfrm flipV="1">
            <a:off x="3657600" y="1676400"/>
            <a:ext cx="228600" cy="685800"/>
          </a:xfrm>
          <a:prstGeom prst="line">
            <a:avLst/>
          </a:prstGeom>
          <a:noFill/>
          <a:ln w="57150">
            <a:solidFill>
              <a:schemeClr val="tx1"/>
            </a:solidFill>
            <a:round/>
            <a:headEnd/>
            <a:tailEnd type="triangle" w="med" len="med"/>
          </a:ln>
          <a:effectLst/>
        </p:spPr>
        <p:txBody>
          <a:bodyPr>
            <a:spAutoFit/>
          </a:bodyPr>
          <a:lstStyle/>
          <a:p>
            <a:endParaRPr lang="en-US"/>
          </a:p>
        </p:txBody>
      </p:sp>
      <p:sp>
        <p:nvSpPr>
          <p:cNvPr id="39945" name="Text Box 9"/>
          <p:cNvSpPr txBox="1">
            <a:spLocks noChangeArrowheads="1"/>
          </p:cNvSpPr>
          <p:nvPr/>
        </p:nvSpPr>
        <p:spPr bwMode="auto">
          <a:xfrm>
            <a:off x="152400" y="3368675"/>
            <a:ext cx="8839200" cy="822325"/>
          </a:xfrm>
          <a:prstGeom prst="rect">
            <a:avLst/>
          </a:prstGeom>
          <a:noFill/>
          <a:ln w="9525" algn="ctr">
            <a:noFill/>
            <a:miter lim="800000"/>
            <a:headEnd/>
            <a:tailEnd/>
          </a:ln>
          <a:effectLst/>
        </p:spPr>
        <p:txBody>
          <a:bodyPr>
            <a:spAutoFit/>
          </a:bodyPr>
          <a:lstStyle/>
          <a:p>
            <a:r>
              <a:rPr lang="en-US">
                <a:latin typeface="Tahoma" pitchFamily="34" charset="0"/>
              </a:rPr>
              <a:t>You could keep on like this for shell after shell.  Pretty soon a pattern would emerge.  After “many” shells, you get</a:t>
            </a:r>
          </a:p>
        </p:txBody>
      </p:sp>
      <p:graphicFrame>
        <p:nvGraphicFramePr>
          <p:cNvPr id="39948" name="Object 12"/>
          <p:cNvGraphicFramePr>
            <a:graphicFrameLocks noChangeAspect="1"/>
          </p:cNvGraphicFramePr>
          <p:nvPr/>
        </p:nvGraphicFramePr>
        <p:xfrm>
          <a:off x="1020763" y="4343400"/>
          <a:ext cx="7678737" cy="1143000"/>
        </p:xfrm>
        <a:graphic>
          <a:graphicData uri="http://schemas.openxmlformats.org/presentationml/2006/ole">
            <mc:AlternateContent xmlns:mc="http://schemas.openxmlformats.org/markup-compatibility/2006">
              <mc:Choice xmlns:v="urn:schemas-microsoft-com:vml" Requires="v">
                <p:oleObj spid="_x0000_s2084" name="Equation" r:id="rId5" imgW="3073320" imgH="457200" progId="">
                  <p:embed/>
                </p:oleObj>
              </mc:Choice>
              <mc:Fallback>
                <p:oleObj name="Equation" r:id="rId5" imgW="3073320" imgH="457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0763" y="4343400"/>
                        <a:ext cx="7678737" cy="1143000"/>
                      </a:xfrm>
                      <a:prstGeom prst="rect">
                        <a:avLst/>
                      </a:prstGeom>
                      <a:solidFill>
                        <a:srgbClr val="CCECFF"/>
                      </a:solidFill>
                    </p:spPr>
                  </p:pic>
                </p:oleObj>
              </mc:Fallback>
            </mc:AlternateContent>
          </a:graphicData>
        </a:graphic>
      </p:graphicFrame>
      <p:graphicFrame>
        <p:nvGraphicFramePr>
          <p:cNvPr id="39949" name="Object 13"/>
          <p:cNvGraphicFramePr>
            <a:graphicFrameLocks noChangeAspect="1"/>
          </p:cNvGraphicFramePr>
          <p:nvPr/>
        </p:nvGraphicFramePr>
        <p:xfrm>
          <a:off x="962025" y="5638800"/>
          <a:ext cx="2536825" cy="1141413"/>
        </p:xfrm>
        <a:graphic>
          <a:graphicData uri="http://schemas.openxmlformats.org/presentationml/2006/ole">
            <mc:AlternateContent xmlns:mc="http://schemas.openxmlformats.org/markup-compatibility/2006">
              <mc:Choice xmlns:v="urn:schemas-microsoft-com:vml" Requires="v">
                <p:oleObj spid="_x0000_s2085" name="Equation" r:id="rId7" imgW="1015920" imgH="457200" progId="">
                  <p:embed/>
                </p:oleObj>
              </mc:Choice>
              <mc:Fallback>
                <p:oleObj name="Equation" r:id="rId7" imgW="1015920" imgH="45720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2025" y="5638800"/>
                        <a:ext cx="2536825" cy="1141413"/>
                      </a:xfrm>
                      <a:prstGeom prst="rect">
                        <a:avLst/>
                      </a:prstGeom>
                      <a:solidFill>
                        <a:srgbClr val="CCECFF"/>
                      </a:solidFill>
                    </p:spPr>
                  </p:pic>
                </p:oleObj>
              </mc:Fallback>
            </mc:AlternateContent>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94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94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994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9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9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2" grpId="0"/>
      <p:bldP spid="39944" grpId="0" animBg="1"/>
      <p:bldP spid="39945"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 Box 4"/>
          <p:cNvSpPr txBox="1">
            <a:spLocks noChangeArrowheads="1"/>
          </p:cNvSpPr>
          <p:nvPr/>
        </p:nvSpPr>
        <p:spPr bwMode="auto">
          <a:xfrm>
            <a:off x="152400" y="152400"/>
            <a:ext cx="8839200" cy="1187450"/>
          </a:xfrm>
          <a:prstGeom prst="rect">
            <a:avLst/>
          </a:prstGeom>
          <a:noFill/>
          <a:ln w="9525" algn="ctr">
            <a:noFill/>
            <a:miter lim="800000"/>
            <a:headEnd/>
            <a:tailEnd/>
          </a:ln>
          <a:effectLst/>
        </p:spPr>
        <p:txBody>
          <a:bodyPr>
            <a:spAutoFit/>
          </a:bodyPr>
          <a:lstStyle/>
          <a:p>
            <a:r>
              <a:rPr lang="en-US">
                <a:latin typeface="Tahoma" pitchFamily="34" charset="0"/>
              </a:rPr>
              <a:t>The constant </a:t>
            </a:r>
            <a:r>
              <a:rPr lang="en-US">
                <a:latin typeface="Tahoma" pitchFamily="34" charset="0"/>
                <a:sym typeface="Symbol" pitchFamily="18" charset="2"/>
              </a:rPr>
              <a:t></a:t>
            </a:r>
            <a:r>
              <a:rPr lang="en-US">
                <a:latin typeface="Tahoma" pitchFamily="34" charset="0"/>
              </a:rPr>
              <a:t> (which is constant only for a given type of structure) is known as the </a:t>
            </a:r>
            <a:r>
              <a:rPr lang="en-US" b="1" i="1">
                <a:latin typeface="Tahoma" pitchFamily="34" charset="0"/>
              </a:rPr>
              <a:t>Madelung constant</a:t>
            </a:r>
            <a:r>
              <a:rPr lang="en-US">
                <a:latin typeface="Tahoma" pitchFamily="34" charset="0"/>
              </a:rPr>
              <a:t>.  Beiser gives values of </a:t>
            </a:r>
            <a:r>
              <a:rPr lang="en-US">
                <a:latin typeface="Tahoma" pitchFamily="34" charset="0"/>
                <a:sym typeface="Symbol" pitchFamily="18" charset="2"/>
              </a:rPr>
              <a:t> for a couple of other structure types</a:t>
            </a:r>
            <a:r>
              <a:rPr lang="en-US">
                <a:latin typeface="Tahoma" pitchFamily="34" charset="0"/>
              </a:rPr>
              <a:t>. </a:t>
            </a:r>
          </a:p>
        </p:txBody>
      </p:sp>
      <p:graphicFrame>
        <p:nvGraphicFramePr>
          <p:cNvPr id="40965" name="Object 5"/>
          <p:cNvGraphicFramePr>
            <a:graphicFrameLocks noChangeAspect="1"/>
          </p:cNvGraphicFramePr>
          <p:nvPr/>
        </p:nvGraphicFramePr>
        <p:xfrm>
          <a:off x="1255713" y="1600200"/>
          <a:ext cx="7431087" cy="1143000"/>
        </p:xfrm>
        <a:graphic>
          <a:graphicData uri="http://schemas.openxmlformats.org/presentationml/2006/ole">
            <mc:AlternateContent xmlns:mc="http://schemas.openxmlformats.org/markup-compatibility/2006">
              <mc:Choice xmlns:v="urn:schemas-microsoft-com:vml" Requires="v">
                <p:oleObj spid="_x0000_s3096" name="Equation" r:id="rId3" imgW="2971800" imgH="457200" progId="">
                  <p:embed/>
                </p:oleObj>
              </mc:Choice>
              <mc:Fallback>
                <p:oleObj name="Equation" r:id="rId3" imgW="297180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5713" y="1600200"/>
                        <a:ext cx="7431087" cy="1143000"/>
                      </a:xfrm>
                      <a:prstGeom prst="rect">
                        <a:avLst/>
                      </a:prstGeom>
                      <a:solidFill>
                        <a:srgbClr val="CCECFF"/>
                      </a:solidFill>
                    </p:spPr>
                  </p:pic>
                </p:oleObj>
              </mc:Fallback>
            </mc:AlternateContent>
          </a:graphicData>
        </a:graphic>
      </p:graphicFrame>
      <p:sp>
        <p:nvSpPr>
          <p:cNvPr id="40966" name="Text Box 6"/>
          <p:cNvSpPr txBox="1">
            <a:spLocks noChangeArrowheads="1"/>
          </p:cNvSpPr>
          <p:nvPr/>
        </p:nvSpPr>
        <p:spPr bwMode="auto">
          <a:xfrm>
            <a:off x="152400" y="2743200"/>
            <a:ext cx="8839200" cy="1187450"/>
          </a:xfrm>
          <a:prstGeom prst="rect">
            <a:avLst/>
          </a:prstGeom>
          <a:noFill/>
          <a:ln w="9525" algn="ctr">
            <a:noFill/>
            <a:miter lim="800000"/>
            <a:headEnd/>
            <a:tailEnd/>
          </a:ln>
          <a:effectLst/>
        </p:spPr>
        <p:txBody>
          <a:bodyPr>
            <a:spAutoFit/>
          </a:bodyPr>
          <a:lstStyle/>
          <a:p>
            <a:r>
              <a:rPr lang="en-US">
                <a:latin typeface="Tahoma" pitchFamily="34" charset="0"/>
              </a:rPr>
              <a:t>The convergence of this series is very poor.  You have to find a clever way to do this series if you want to calculate </a:t>
            </a:r>
            <a:r>
              <a:rPr lang="en-US">
                <a:latin typeface="Tahoma" pitchFamily="34" charset="0"/>
                <a:sym typeface="Symbol" pitchFamily="18" charset="2"/>
              </a:rPr>
              <a:t></a:t>
            </a:r>
            <a:r>
              <a:rPr lang="en-US">
                <a:latin typeface="Tahoma" pitchFamily="34" charset="0"/>
              </a:rPr>
              <a:t> with a reasonable amount of effort. </a:t>
            </a:r>
          </a:p>
        </p:txBody>
      </p:sp>
      <p:sp>
        <p:nvSpPr>
          <p:cNvPr id="40967" name="Text Box 7"/>
          <p:cNvSpPr txBox="1">
            <a:spLocks noChangeArrowheads="1"/>
          </p:cNvSpPr>
          <p:nvPr/>
        </p:nvSpPr>
        <p:spPr bwMode="auto">
          <a:xfrm>
            <a:off x="152400" y="4191000"/>
            <a:ext cx="8839200" cy="1187450"/>
          </a:xfrm>
          <a:prstGeom prst="rect">
            <a:avLst/>
          </a:prstGeom>
          <a:noFill/>
          <a:ln w="9525" algn="ctr">
            <a:noFill/>
            <a:miter lim="800000"/>
            <a:headEnd/>
            <a:tailEnd/>
          </a:ln>
          <a:effectLst/>
        </p:spPr>
        <p:txBody>
          <a:bodyPr>
            <a:spAutoFit/>
          </a:bodyPr>
          <a:lstStyle/>
          <a:p>
            <a:r>
              <a:rPr lang="en-US">
                <a:latin typeface="Tahoma" pitchFamily="34" charset="0"/>
              </a:rPr>
              <a:t>We've accounted for the Coulomb attraction.  Beiser calls this U</a:t>
            </a:r>
            <a:r>
              <a:rPr lang="en-US" baseline="-25000">
                <a:latin typeface="Tahoma" pitchFamily="34" charset="0"/>
              </a:rPr>
              <a:t>coulomb</a:t>
            </a:r>
            <a:r>
              <a:rPr lang="en-US">
                <a:latin typeface="Tahoma" pitchFamily="34" charset="0"/>
              </a:rPr>
              <a:t> (using U instead of V as in the previous edition) so let’s make it official:</a:t>
            </a:r>
          </a:p>
        </p:txBody>
      </p:sp>
      <p:graphicFrame>
        <p:nvGraphicFramePr>
          <p:cNvPr id="40968" name="Object 8"/>
          <p:cNvGraphicFramePr>
            <a:graphicFrameLocks noChangeAspect="1"/>
          </p:cNvGraphicFramePr>
          <p:nvPr/>
        </p:nvGraphicFramePr>
        <p:xfrm>
          <a:off x="2851150" y="5410200"/>
          <a:ext cx="3529013" cy="1144588"/>
        </p:xfrm>
        <a:graphic>
          <a:graphicData uri="http://schemas.openxmlformats.org/presentationml/2006/ole">
            <mc:AlternateContent xmlns:mc="http://schemas.openxmlformats.org/markup-compatibility/2006">
              <mc:Choice xmlns:v="urn:schemas-microsoft-com:vml" Requires="v">
                <p:oleObj spid="_x0000_s3097" name="Equation" r:id="rId5" imgW="1409400" imgH="457200" progId="">
                  <p:embed/>
                </p:oleObj>
              </mc:Choice>
              <mc:Fallback>
                <p:oleObj name="Equation" r:id="rId5" imgW="1409400" imgH="457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51150" y="5410200"/>
                        <a:ext cx="3529013" cy="1144588"/>
                      </a:xfrm>
                      <a:prstGeom prst="rect">
                        <a:avLst/>
                      </a:prstGeom>
                      <a:solidFill>
                        <a:srgbClr val="CCECFF"/>
                      </a:solidFill>
                      <a:ln w="57150">
                        <a:solidFill>
                          <a:schemeClr val="tx1"/>
                        </a:solidFill>
                        <a:miter lim="800000"/>
                        <a:headEnd/>
                        <a:tailEnd/>
                      </a:ln>
                    </p:spPr>
                  </p:pic>
                </p:oleObj>
              </mc:Fallback>
            </mc:AlternateContent>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p:bldP spid="40967" grpId="0"/>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auto">
          <a:xfrm>
            <a:off x="152400" y="379413"/>
            <a:ext cx="8839200" cy="457200"/>
          </a:xfrm>
          <a:prstGeom prst="rect">
            <a:avLst/>
          </a:prstGeom>
          <a:noFill/>
          <a:ln w="9525" algn="ctr">
            <a:noFill/>
            <a:miter lim="800000"/>
            <a:headEnd/>
            <a:tailEnd/>
          </a:ln>
          <a:effectLst/>
        </p:spPr>
        <p:txBody>
          <a:bodyPr>
            <a:spAutoFit/>
          </a:bodyPr>
          <a:lstStyle/>
          <a:p>
            <a:r>
              <a:rPr lang="en-US">
                <a:latin typeface="Tahoma" pitchFamily="34" charset="0"/>
              </a:rPr>
              <a:t>This isn’t the whole story!</a:t>
            </a:r>
          </a:p>
        </p:txBody>
      </p:sp>
      <p:graphicFrame>
        <p:nvGraphicFramePr>
          <p:cNvPr id="41989" name="Object 5"/>
          <p:cNvGraphicFramePr>
            <a:graphicFrameLocks noChangeAspect="1"/>
          </p:cNvGraphicFramePr>
          <p:nvPr/>
        </p:nvGraphicFramePr>
        <p:xfrm>
          <a:off x="2590800" y="811213"/>
          <a:ext cx="3529013" cy="1144587"/>
        </p:xfrm>
        <a:graphic>
          <a:graphicData uri="http://schemas.openxmlformats.org/presentationml/2006/ole">
            <mc:AlternateContent xmlns:mc="http://schemas.openxmlformats.org/markup-compatibility/2006">
              <mc:Choice xmlns:v="urn:schemas-microsoft-com:vml" Requires="v">
                <p:oleObj spid="_x0000_s4109" name="Equation" r:id="rId3" imgW="1409400" imgH="457200" progId="">
                  <p:embed/>
                </p:oleObj>
              </mc:Choice>
              <mc:Fallback>
                <p:oleObj name="Equation" r:id="rId3" imgW="140940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811213"/>
                        <a:ext cx="3529013" cy="1144587"/>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41990" name="Text Box 6"/>
          <p:cNvSpPr txBox="1">
            <a:spLocks noChangeArrowheads="1"/>
          </p:cNvSpPr>
          <p:nvPr/>
        </p:nvSpPr>
        <p:spPr bwMode="auto">
          <a:xfrm>
            <a:off x="152400" y="1920875"/>
            <a:ext cx="8839200" cy="822325"/>
          </a:xfrm>
          <a:prstGeom prst="rect">
            <a:avLst/>
          </a:prstGeom>
          <a:noFill/>
          <a:ln w="9525" algn="ctr">
            <a:noFill/>
            <a:miter lim="800000"/>
            <a:headEnd/>
            <a:tailEnd/>
          </a:ln>
          <a:effectLst/>
        </p:spPr>
        <p:txBody>
          <a:bodyPr>
            <a:spAutoFit/>
          </a:bodyPr>
          <a:lstStyle/>
          <a:p>
            <a:r>
              <a:rPr lang="en-US">
                <a:latin typeface="Tahoma" pitchFamily="34" charset="0"/>
              </a:rPr>
              <a:t>Note the - sign in the equation for U.  The net coulomb interaction is attractive.</a:t>
            </a:r>
          </a:p>
        </p:txBody>
      </p:sp>
      <p:sp>
        <p:nvSpPr>
          <p:cNvPr id="41991" name="Text Box 7"/>
          <p:cNvSpPr txBox="1">
            <a:spLocks noChangeArrowheads="1"/>
          </p:cNvSpPr>
          <p:nvPr/>
        </p:nvSpPr>
        <p:spPr bwMode="auto">
          <a:xfrm>
            <a:off x="152400" y="2927350"/>
            <a:ext cx="8839200" cy="1187450"/>
          </a:xfrm>
          <a:prstGeom prst="rect">
            <a:avLst/>
          </a:prstGeom>
          <a:noFill/>
          <a:ln w="9525" algn="ctr">
            <a:noFill/>
            <a:miter lim="800000"/>
            <a:headEnd/>
            <a:tailEnd/>
          </a:ln>
          <a:effectLst/>
        </p:spPr>
        <p:txBody>
          <a:bodyPr>
            <a:spAutoFit/>
          </a:bodyPr>
          <a:lstStyle/>
          <a:p>
            <a:r>
              <a:rPr lang="en-US">
                <a:latin typeface="Tahoma" pitchFamily="34" charset="0"/>
              </a:rPr>
              <a:t>In fact, the closer the ions, the more negative the energy.  The more negative, the more stable.  What is the logical conclusion from this observation?</a:t>
            </a:r>
          </a:p>
        </p:txBody>
      </p:sp>
      <p:sp>
        <p:nvSpPr>
          <p:cNvPr id="41992" name="Text Box 8"/>
          <p:cNvSpPr txBox="1">
            <a:spLocks noChangeArrowheads="1"/>
          </p:cNvSpPr>
          <p:nvPr/>
        </p:nvSpPr>
        <p:spPr bwMode="auto">
          <a:xfrm>
            <a:off x="152400" y="4298950"/>
            <a:ext cx="8839200" cy="822325"/>
          </a:xfrm>
          <a:prstGeom prst="rect">
            <a:avLst/>
          </a:prstGeom>
          <a:noFill/>
          <a:ln w="9525" algn="ctr">
            <a:noFill/>
            <a:miter lim="800000"/>
            <a:headEnd/>
            <a:tailEnd/>
          </a:ln>
          <a:effectLst/>
        </p:spPr>
        <p:txBody>
          <a:bodyPr>
            <a:spAutoFit/>
          </a:bodyPr>
          <a:lstStyle/>
          <a:p>
            <a:r>
              <a:rPr lang="en-US">
                <a:latin typeface="Tahoma" pitchFamily="34" charset="0"/>
              </a:rPr>
              <a:t>As r gets smaller and smaller, electron shells start to overlap, and electrons from different atoms share the same potential.</a:t>
            </a:r>
          </a:p>
        </p:txBody>
      </p:sp>
      <p:sp>
        <p:nvSpPr>
          <p:cNvPr id="41993" name="Text Box 9"/>
          <p:cNvSpPr txBox="1">
            <a:spLocks noChangeArrowheads="1"/>
          </p:cNvSpPr>
          <p:nvPr/>
        </p:nvSpPr>
        <p:spPr bwMode="auto">
          <a:xfrm>
            <a:off x="152400" y="5486400"/>
            <a:ext cx="8839200" cy="457200"/>
          </a:xfrm>
          <a:prstGeom prst="rect">
            <a:avLst/>
          </a:prstGeom>
          <a:noFill/>
          <a:ln w="9525" algn="ctr">
            <a:noFill/>
            <a:miter lim="800000"/>
            <a:headEnd/>
            <a:tailEnd/>
          </a:ln>
          <a:effectLst/>
        </p:spPr>
        <p:txBody>
          <a:bodyPr>
            <a:spAutoFit/>
          </a:bodyPr>
          <a:lstStyle/>
          <a:p>
            <a:r>
              <a:rPr lang="en-US">
                <a:latin typeface="Tahoma" pitchFamily="34" charset="0"/>
              </a:rPr>
              <a:t>What does Pauli have to say about that?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9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1" grpId="0"/>
      <p:bldP spid="41993" grpId="0"/>
    </p:bld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Text Box 4"/>
          <p:cNvSpPr txBox="1">
            <a:spLocks noChangeArrowheads="1"/>
          </p:cNvSpPr>
          <p:nvPr/>
        </p:nvSpPr>
        <p:spPr bwMode="auto">
          <a:xfrm>
            <a:off x="152400" y="381000"/>
            <a:ext cx="8839200" cy="1187450"/>
          </a:xfrm>
          <a:prstGeom prst="rect">
            <a:avLst/>
          </a:prstGeom>
          <a:noFill/>
          <a:ln w="9525" algn="ctr">
            <a:noFill/>
            <a:miter lim="800000"/>
            <a:headEnd/>
            <a:tailEnd/>
          </a:ln>
          <a:effectLst/>
        </p:spPr>
        <p:txBody>
          <a:bodyPr>
            <a:spAutoFit/>
          </a:bodyPr>
          <a:lstStyle/>
          <a:p>
            <a:r>
              <a:rPr lang="en-US">
                <a:latin typeface="Tahoma" pitchFamily="34" charset="0"/>
              </a:rPr>
              <a:t>Electrons would have to be promoted to higher energies to allow atoms to come closer together.  The result is a more positive energy, i.e., a less stable crystal. </a:t>
            </a:r>
          </a:p>
        </p:txBody>
      </p:sp>
      <p:sp>
        <p:nvSpPr>
          <p:cNvPr id="43014" name="Text Box 6"/>
          <p:cNvSpPr txBox="1">
            <a:spLocks noChangeArrowheads="1"/>
          </p:cNvSpPr>
          <p:nvPr/>
        </p:nvSpPr>
        <p:spPr bwMode="auto">
          <a:xfrm>
            <a:off x="152400" y="1905000"/>
            <a:ext cx="8839200" cy="1187450"/>
          </a:xfrm>
          <a:prstGeom prst="rect">
            <a:avLst/>
          </a:prstGeom>
          <a:noFill/>
          <a:ln w="9525" algn="ctr">
            <a:noFill/>
            <a:miter lim="800000"/>
            <a:headEnd/>
            <a:tailEnd/>
          </a:ln>
          <a:effectLst/>
        </p:spPr>
        <p:txBody>
          <a:bodyPr>
            <a:spAutoFit/>
          </a:bodyPr>
          <a:lstStyle/>
          <a:p>
            <a:r>
              <a:rPr lang="en-US">
                <a:latin typeface="Tahoma" pitchFamily="34" charset="0"/>
              </a:rPr>
              <a:t>So we need to account for the repulsive forces that take over when electron shells start to overlap, and different electrons share the same set of quantum numbers.</a:t>
            </a:r>
          </a:p>
        </p:txBody>
      </p:sp>
      <p:sp>
        <p:nvSpPr>
          <p:cNvPr id="43015" name="Text Box 7"/>
          <p:cNvSpPr txBox="1">
            <a:spLocks noChangeArrowheads="1"/>
          </p:cNvSpPr>
          <p:nvPr/>
        </p:nvSpPr>
        <p:spPr bwMode="auto">
          <a:xfrm>
            <a:off x="152400" y="3705225"/>
            <a:ext cx="8839200" cy="457200"/>
          </a:xfrm>
          <a:prstGeom prst="rect">
            <a:avLst/>
          </a:prstGeom>
          <a:noFill/>
          <a:ln w="9525" algn="ctr">
            <a:noFill/>
            <a:miter lim="800000"/>
            <a:headEnd/>
            <a:tailEnd/>
          </a:ln>
          <a:effectLst/>
        </p:spPr>
        <p:txBody>
          <a:bodyPr>
            <a:spAutoFit/>
          </a:bodyPr>
          <a:lstStyle/>
          <a:p>
            <a:r>
              <a:rPr lang="en-US">
                <a:latin typeface="Tahoma" pitchFamily="34" charset="0"/>
              </a:rPr>
              <a:t>We </a:t>
            </a:r>
            <a:r>
              <a:rPr lang="en-US" b="1" i="1">
                <a:latin typeface="Tahoma" pitchFamily="34" charset="0"/>
              </a:rPr>
              <a:t>model</a:t>
            </a:r>
            <a:r>
              <a:rPr lang="en-US">
                <a:latin typeface="Tahoma" pitchFamily="34" charset="0"/>
              </a:rPr>
              <a:t> this repulsive force with a potential of the form </a:t>
            </a:r>
          </a:p>
        </p:txBody>
      </p:sp>
      <p:graphicFrame>
        <p:nvGraphicFramePr>
          <p:cNvPr id="43016" name="Object 8"/>
          <p:cNvGraphicFramePr>
            <a:graphicFrameLocks noChangeAspect="1"/>
          </p:cNvGraphicFramePr>
          <p:nvPr/>
        </p:nvGraphicFramePr>
        <p:xfrm>
          <a:off x="2852738" y="4343400"/>
          <a:ext cx="2774950" cy="977900"/>
        </p:xfrm>
        <a:graphic>
          <a:graphicData uri="http://schemas.openxmlformats.org/presentationml/2006/ole">
            <mc:AlternateContent xmlns:mc="http://schemas.openxmlformats.org/markup-compatibility/2006">
              <mc:Choice xmlns:v="urn:schemas-microsoft-com:vml" Requires="v">
                <p:oleObj spid="_x0000_s5133" name="Equation" r:id="rId3" imgW="1117440" imgH="393480" progId="">
                  <p:embed/>
                </p:oleObj>
              </mc:Choice>
              <mc:Fallback>
                <p:oleObj name="Equation" r:id="rId3" imgW="1117440" imgH="3934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2738" y="4343400"/>
                        <a:ext cx="2774950" cy="977900"/>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43017" name="Text Box 9"/>
          <p:cNvSpPr txBox="1">
            <a:spLocks noChangeArrowheads="1"/>
          </p:cNvSpPr>
          <p:nvPr/>
        </p:nvSpPr>
        <p:spPr bwMode="auto">
          <a:xfrm>
            <a:off x="152400" y="5562600"/>
            <a:ext cx="8839200" cy="822325"/>
          </a:xfrm>
          <a:prstGeom prst="rect">
            <a:avLst/>
          </a:prstGeom>
          <a:noFill/>
          <a:ln w="9525" algn="ctr">
            <a:noFill/>
            <a:miter lim="800000"/>
            <a:headEnd/>
            <a:tailEnd/>
          </a:ln>
          <a:effectLst/>
        </p:spPr>
        <p:txBody>
          <a:bodyPr>
            <a:spAutoFit/>
          </a:bodyPr>
          <a:lstStyle/>
          <a:p>
            <a:r>
              <a:rPr lang="en-US">
                <a:latin typeface="Tahoma" pitchFamily="34" charset="0"/>
              </a:rPr>
              <a:t>where n is some exponent.  The exact value of n isn't too critical (see the figure on the next page).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0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4" grpId="0"/>
      <p:bldP spid="43015" grpId="0"/>
      <p:bldP spid="43017" grpId="0"/>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6" name="Picture 4" descr="u9u10"/>
          <p:cNvPicPr>
            <a:picLocks noChangeAspect="1" noChangeArrowheads="1"/>
          </p:cNvPicPr>
          <p:nvPr/>
        </p:nvPicPr>
        <p:blipFill>
          <a:blip r:embed="rId2"/>
          <a:srcRect/>
          <a:stretch>
            <a:fillRect/>
          </a:stretch>
        </p:blipFill>
        <p:spPr bwMode="auto">
          <a:xfrm>
            <a:off x="919163" y="1447800"/>
            <a:ext cx="7386637" cy="4891088"/>
          </a:xfrm>
          <a:prstGeom prst="rect">
            <a:avLst/>
          </a:prstGeom>
          <a:noFill/>
        </p:spPr>
      </p:pic>
      <p:sp>
        <p:nvSpPr>
          <p:cNvPr id="44037" name="Text Box 5"/>
          <p:cNvSpPr txBox="1">
            <a:spLocks noChangeArrowheads="1"/>
          </p:cNvSpPr>
          <p:nvPr/>
        </p:nvSpPr>
        <p:spPr bwMode="auto">
          <a:xfrm>
            <a:off x="152400" y="381000"/>
            <a:ext cx="8839200" cy="822325"/>
          </a:xfrm>
          <a:prstGeom prst="rect">
            <a:avLst/>
          </a:prstGeom>
          <a:noFill/>
          <a:ln w="9525" algn="ctr">
            <a:noFill/>
            <a:miter lim="800000"/>
            <a:headEnd/>
            <a:tailEnd/>
          </a:ln>
          <a:effectLst/>
        </p:spPr>
        <p:txBody>
          <a:bodyPr>
            <a:spAutoFit/>
          </a:bodyPr>
          <a:lstStyle/>
          <a:p>
            <a:r>
              <a:rPr lang="en-US">
                <a:latin typeface="Tahoma" pitchFamily="34" charset="0"/>
              </a:rPr>
              <a:t>A simple scale factor change could make 1/r</a:t>
            </a:r>
            <a:r>
              <a:rPr lang="en-US" baseline="30000">
                <a:latin typeface="Tahoma" pitchFamily="34" charset="0"/>
              </a:rPr>
              <a:t>9</a:t>
            </a:r>
            <a:r>
              <a:rPr lang="en-US">
                <a:latin typeface="Tahoma" pitchFamily="34" charset="0"/>
              </a:rPr>
              <a:t> and 1/r</a:t>
            </a:r>
            <a:r>
              <a:rPr lang="en-US" baseline="30000">
                <a:latin typeface="Tahoma" pitchFamily="34" charset="0"/>
              </a:rPr>
              <a:t>10</a:t>
            </a:r>
            <a:r>
              <a:rPr lang="en-US">
                <a:latin typeface="Tahoma" pitchFamily="34" charset="0"/>
              </a:rPr>
              <a:t> look nearly the same.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Text Box 4"/>
          <p:cNvSpPr txBox="1">
            <a:spLocks noChangeArrowheads="1"/>
          </p:cNvSpPr>
          <p:nvPr/>
        </p:nvSpPr>
        <p:spPr bwMode="auto">
          <a:xfrm>
            <a:off x="152400" y="76200"/>
            <a:ext cx="8839200" cy="1187450"/>
          </a:xfrm>
          <a:prstGeom prst="rect">
            <a:avLst/>
          </a:prstGeom>
          <a:noFill/>
          <a:ln w="9525" algn="ctr">
            <a:noFill/>
            <a:miter lim="800000"/>
            <a:headEnd/>
            <a:tailEnd/>
          </a:ln>
          <a:effectLst/>
        </p:spPr>
        <p:txBody>
          <a:bodyPr>
            <a:spAutoFit/>
          </a:bodyPr>
          <a:lstStyle/>
          <a:p>
            <a:r>
              <a:rPr lang="en-US">
                <a:latin typeface="Tahoma" pitchFamily="34" charset="0"/>
              </a:rPr>
              <a:t>With the electron overlap repulsive energy accounted for, the potential energy of interaction of our Na</a:t>
            </a:r>
            <a:r>
              <a:rPr lang="en-US" baseline="30000">
                <a:latin typeface="Tahoma" pitchFamily="34" charset="0"/>
              </a:rPr>
              <a:t>+</a:t>
            </a:r>
            <a:r>
              <a:rPr lang="en-US">
                <a:latin typeface="Tahoma" pitchFamily="34" charset="0"/>
              </a:rPr>
              <a:t> reference ion with all the other ions is </a:t>
            </a:r>
          </a:p>
        </p:txBody>
      </p:sp>
      <p:graphicFrame>
        <p:nvGraphicFramePr>
          <p:cNvPr id="45061" name="Object 5"/>
          <p:cNvGraphicFramePr>
            <a:graphicFrameLocks noChangeAspect="1"/>
          </p:cNvGraphicFramePr>
          <p:nvPr/>
        </p:nvGraphicFramePr>
        <p:xfrm>
          <a:off x="769938" y="1271588"/>
          <a:ext cx="7459662" cy="1141412"/>
        </p:xfrm>
        <a:graphic>
          <a:graphicData uri="http://schemas.openxmlformats.org/presentationml/2006/ole">
            <mc:AlternateContent xmlns:mc="http://schemas.openxmlformats.org/markup-compatibility/2006">
              <mc:Choice xmlns:v="urn:schemas-microsoft-com:vml" Requires="v">
                <p:oleObj spid="_x0000_s6157" name="Equation" r:id="rId3" imgW="2984400" imgH="457200" progId="">
                  <p:embed/>
                </p:oleObj>
              </mc:Choice>
              <mc:Fallback>
                <p:oleObj name="Equation" r:id="rId3" imgW="298440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938" y="1271588"/>
                        <a:ext cx="7459662" cy="1141412"/>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45062" name="Text Box 6"/>
          <p:cNvSpPr txBox="1">
            <a:spLocks noChangeArrowheads="1"/>
          </p:cNvSpPr>
          <p:nvPr/>
        </p:nvSpPr>
        <p:spPr bwMode="auto">
          <a:xfrm>
            <a:off x="152400" y="2438400"/>
            <a:ext cx="8839200" cy="822325"/>
          </a:xfrm>
          <a:prstGeom prst="rect">
            <a:avLst/>
          </a:prstGeom>
          <a:noFill/>
          <a:ln w="9525" algn="ctr">
            <a:noFill/>
            <a:miter lim="800000"/>
            <a:headEnd/>
            <a:tailEnd/>
          </a:ln>
          <a:effectLst/>
        </p:spPr>
        <p:txBody>
          <a:bodyPr>
            <a:spAutoFit/>
          </a:bodyPr>
          <a:lstStyle/>
          <a:p>
            <a:r>
              <a:rPr lang="en-US">
                <a:latin typeface="Tahoma" pitchFamily="34" charset="0"/>
              </a:rPr>
              <a:t>Even though this says U</a:t>
            </a:r>
            <a:r>
              <a:rPr lang="en-US" baseline="-25000">
                <a:latin typeface="Tahoma" pitchFamily="34" charset="0"/>
              </a:rPr>
              <a:t>total</a:t>
            </a:r>
            <a:r>
              <a:rPr lang="en-US">
                <a:latin typeface="Tahoma" pitchFamily="34" charset="0"/>
              </a:rPr>
              <a:t>, we are not done!  Do not use this equation in a test/quiz problem!</a:t>
            </a:r>
          </a:p>
        </p:txBody>
      </p:sp>
      <p:sp>
        <p:nvSpPr>
          <p:cNvPr id="45063" name="Text Box 7"/>
          <p:cNvSpPr txBox="1">
            <a:spLocks noChangeArrowheads="1"/>
          </p:cNvSpPr>
          <p:nvPr/>
        </p:nvSpPr>
        <p:spPr bwMode="auto">
          <a:xfrm>
            <a:off x="152400" y="3429000"/>
            <a:ext cx="8839200" cy="1552575"/>
          </a:xfrm>
          <a:prstGeom prst="rect">
            <a:avLst/>
          </a:prstGeom>
          <a:noFill/>
          <a:ln w="9525" algn="ctr">
            <a:noFill/>
            <a:miter lim="800000"/>
            <a:headEnd/>
            <a:tailEnd/>
          </a:ln>
          <a:effectLst/>
        </p:spPr>
        <p:txBody>
          <a:bodyPr>
            <a:spAutoFit/>
          </a:bodyPr>
          <a:lstStyle/>
          <a:p>
            <a:r>
              <a:rPr lang="en-US">
                <a:latin typeface="Tahoma" pitchFamily="34" charset="0"/>
              </a:rPr>
              <a:t>For one thing, we have accounted for the total energy of interaction of the ions (that’s what “total” means), but we haven’t accounted for the energy required to ionize the neutral atoms.</a:t>
            </a:r>
          </a:p>
        </p:txBody>
      </p:sp>
      <p:sp>
        <p:nvSpPr>
          <p:cNvPr id="45064" name="Text Box 8"/>
          <p:cNvSpPr txBox="1">
            <a:spLocks noChangeArrowheads="1"/>
          </p:cNvSpPr>
          <p:nvPr/>
        </p:nvSpPr>
        <p:spPr bwMode="auto">
          <a:xfrm>
            <a:off x="152400" y="5105400"/>
            <a:ext cx="8839200" cy="822325"/>
          </a:xfrm>
          <a:prstGeom prst="rect">
            <a:avLst/>
          </a:prstGeom>
          <a:noFill/>
          <a:ln w="9525" algn="ctr">
            <a:noFill/>
            <a:miter lim="800000"/>
            <a:headEnd/>
            <a:tailEnd/>
          </a:ln>
          <a:effectLst/>
        </p:spPr>
        <p:txBody>
          <a:bodyPr>
            <a:spAutoFit/>
          </a:bodyPr>
          <a:lstStyle/>
          <a:p>
            <a:r>
              <a:rPr lang="en-US">
                <a:latin typeface="Tahoma" pitchFamily="34" charset="0"/>
              </a:rPr>
              <a:t>For another thing, we have this adjustable parameter, B.  (You do remember adjustable parameters?)</a:t>
            </a:r>
          </a:p>
        </p:txBody>
      </p:sp>
      <p:sp>
        <p:nvSpPr>
          <p:cNvPr id="45065" name="Text Box 9"/>
          <p:cNvSpPr txBox="1">
            <a:spLocks noChangeArrowheads="1"/>
          </p:cNvSpPr>
          <p:nvPr/>
        </p:nvSpPr>
        <p:spPr bwMode="auto">
          <a:xfrm>
            <a:off x="152400" y="6096000"/>
            <a:ext cx="8839200" cy="641350"/>
          </a:xfrm>
          <a:prstGeom prst="rect">
            <a:avLst/>
          </a:prstGeom>
          <a:noFill/>
          <a:ln w="9525" algn="ctr">
            <a:noFill/>
            <a:miter lim="800000"/>
            <a:headEnd/>
            <a:tailEnd/>
          </a:ln>
          <a:effectLst/>
        </p:spPr>
        <p:txBody>
          <a:bodyPr>
            <a:spAutoFit/>
          </a:bodyPr>
          <a:lstStyle/>
          <a:p>
            <a:r>
              <a:rPr lang="en-US" sz="1800">
                <a:solidFill>
                  <a:schemeClr val="hlink"/>
                </a:solidFill>
                <a:latin typeface="Tahoma" pitchFamily="34" charset="0"/>
              </a:rPr>
              <a:t>U</a:t>
            </a:r>
            <a:r>
              <a:rPr lang="en-US" sz="1800" baseline="-25000">
                <a:solidFill>
                  <a:schemeClr val="hlink"/>
                </a:solidFill>
                <a:latin typeface="Tahoma" pitchFamily="34" charset="0"/>
              </a:rPr>
              <a:t>coulomb</a:t>
            </a:r>
            <a:r>
              <a:rPr lang="en-US" sz="1800">
                <a:solidFill>
                  <a:schemeClr val="hlink"/>
                </a:solidFill>
                <a:latin typeface="Tahoma" pitchFamily="34" charset="0"/>
              </a:rPr>
              <a:t> was called V</a:t>
            </a:r>
            <a:r>
              <a:rPr lang="en-US" sz="1800" baseline="-25000">
                <a:solidFill>
                  <a:schemeClr val="hlink"/>
                </a:solidFill>
                <a:latin typeface="Tahoma" pitchFamily="34" charset="0"/>
              </a:rPr>
              <a:t>lattice </a:t>
            </a:r>
            <a:r>
              <a:rPr lang="en-US" sz="1800">
                <a:solidFill>
                  <a:schemeClr val="hlink"/>
                </a:solidFill>
                <a:latin typeface="Tahoma" pitchFamily="34" charset="0"/>
              </a:rPr>
              <a:t>in the previous text edition, so you’ll see that terminology in homework solutions and prior exams.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2" grpId="0"/>
      <p:bldP spid="45063" grpId="0"/>
      <p:bldP spid="45064" grpId="0"/>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Text Box 4"/>
          <p:cNvSpPr txBox="1">
            <a:spLocks noChangeArrowheads="1"/>
          </p:cNvSpPr>
          <p:nvPr/>
        </p:nvSpPr>
        <p:spPr bwMode="auto">
          <a:xfrm>
            <a:off x="174625" y="303213"/>
            <a:ext cx="8839200" cy="822325"/>
          </a:xfrm>
          <a:prstGeom prst="rect">
            <a:avLst/>
          </a:prstGeom>
          <a:noFill/>
          <a:ln w="9525" algn="ctr">
            <a:noFill/>
            <a:miter lim="800000"/>
            <a:headEnd/>
            <a:tailEnd/>
          </a:ln>
          <a:effectLst/>
        </p:spPr>
        <p:txBody>
          <a:bodyPr>
            <a:spAutoFit/>
          </a:bodyPr>
          <a:lstStyle/>
          <a:p>
            <a:r>
              <a:rPr lang="en-US">
                <a:latin typeface="Tahoma" pitchFamily="34" charset="0"/>
              </a:rPr>
              <a:t>At equilibrium the energy is minimized, which allows us to find B in terms of </a:t>
            </a:r>
            <a:r>
              <a:rPr lang="en-US">
                <a:latin typeface="Tahoma" pitchFamily="34" charset="0"/>
                <a:sym typeface="Symbol" pitchFamily="18" charset="2"/>
              </a:rPr>
              <a:t></a:t>
            </a:r>
            <a:r>
              <a:rPr lang="en-US">
                <a:latin typeface="Tahoma" pitchFamily="34" charset="0"/>
              </a:rPr>
              <a:t> and the equilibrium near-neighbor separation r</a:t>
            </a:r>
            <a:r>
              <a:rPr lang="en-US" baseline="-25000">
                <a:latin typeface="Tahoma" pitchFamily="34" charset="0"/>
              </a:rPr>
              <a:t>0</a:t>
            </a:r>
            <a:r>
              <a:rPr lang="en-US">
                <a:latin typeface="Tahoma" pitchFamily="34" charset="0"/>
              </a:rPr>
              <a:t>. </a:t>
            </a:r>
          </a:p>
        </p:txBody>
      </p:sp>
      <p:graphicFrame>
        <p:nvGraphicFramePr>
          <p:cNvPr id="46087" name="Object 7"/>
          <p:cNvGraphicFramePr>
            <a:graphicFrameLocks noChangeAspect="1"/>
          </p:cNvGraphicFramePr>
          <p:nvPr/>
        </p:nvGraphicFramePr>
        <p:xfrm>
          <a:off x="1844675" y="1409700"/>
          <a:ext cx="5205413" cy="1236663"/>
        </p:xfrm>
        <a:graphic>
          <a:graphicData uri="http://schemas.openxmlformats.org/presentationml/2006/ole">
            <mc:AlternateContent xmlns:mc="http://schemas.openxmlformats.org/markup-compatibility/2006">
              <mc:Choice xmlns:v="urn:schemas-microsoft-com:vml" Requires="v">
                <p:oleObj spid="_x0000_s7203" name="Equation" r:id="rId3" imgW="2082600" imgH="495000" progId="">
                  <p:embed/>
                </p:oleObj>
              </mc:Choice>
              <mc:Fallback>
                <p:oleObj name="Equation" r:id="rId3" imgW="2082600" imgH="4950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4675" y="1409700"/>
                        <a:ext cx="5205413" cy="1236663"/>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graphicFrame>
        <p:nvGraphicFramePr>
          <p:cNvPr id="46090" name="Object 10"/>
          <p:cNvGraphicFramePr>
            <a:graphicFrameLocks noChangeAspect="1"/>
          </p:cNvGraphicFramePr>
          <p:nvPr/>
        </p:nvGraphicFramePr>
        <p:xfrm>
          <a:off x="3114675" y="2895600"/>
          <a:ext cx="2665413" cy="1141413"/>
        </p:xfrm>
        <a:graphic>
          <a:graphicData uri="http://schemas.openxmlformats.org/presentationml/2006/ole">
            <mc:AlternateContent xmlns:mc="http://schemas.openxmlformats.org/markup-compatibility/2006">
              <mc:Choice xmlns:v="urn:schemas-microsoft-com:vml" Requires="v">
                <p:oleObj spid="_x0000_s7204" name="Equation" r:id="rId5" imgW="1066680" imgH="457200" progId="">
                  <p:embed/>
                </p:oleObj>
              </mc:Choice>
              <mc:Fallback>
                <p:oleObj name="Equation" r:id="rId5" imgW="1066680" imgH="45720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4675" y="2895600"/>
                        <a:ext cx="2665413" cy="1141413"/>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46092" name="Rectangle 12"/>
          <p:cNvSpPr>
            <a:spLocks noChangeArrowheads="1"/>
          </p:cNvSpPr>
          <p:nvPr/>
        </p:nvSpPr>
        <p:spPr bwMode="auto">
          <a:xfrm>
            <a:off x="0" y="3086100"/>
            <a:ext cx="9144000" cy="0"/>
          </a:xfrm>
          <a:prstGeom prst="rect">
            <a:avLst/>
          </a:prstGeom>
          <a:noFill/>
          <a:ln w="9525" algn="ctr">
            <a:noFill/>
            <a:miter lim="800000"/>
            <a:headEnd/>
            <a:tailEnd/>
          </a:ln>
          <a:effectLst/>
        </p:spPr>
        <p:txBody>
          <a:bodyPr wrap="none" anchor="ctr">
            <a:spAutoFit/>
          </a:bodyPr>
          <a:lstStyle/>
          <a:p>
            <a:endParaRPr lang="en-US"/>
          </a:p>
        </p:txBody>
      </p:sp>
      <p:graphicFrame>
        <p:nvGraphicFramePr>
          <p:cNvPr id="46093" name="Object 13"/>
          <p:cNvGraphicFramePr>
            <a:graphicFrameLocks noChangeAspect="1"/>
          </p:cNvGraphicFramePr>
          <p:nvPr/>
        </p:nvGraphicFramePr>
        <p:xfrm>
          <a:off x="3121025" y="4343400"/>
          <a:ext cx="2697163" cy="1141413"/>
        </p:xfrm>
        <a:graphic>
          <a:graphicData uri="http://schemas.openxmlformats.org/presentationml/2006/ole">
            <mc:AlternateContent xmlns:mc="http://schemas.openxmlformats.org/markup-compatibility/2006">
              <mc:Choice xmlns:v="urn:schemas-microsoft-com:vml" Requires="v">
                <p:oleObj spid="_x0000_s7205" name="Equation" r:id="rId7" imgW="1079280" imgH="457200" progId="">
                  <p:embed/>
                </p:oleObj>
              </mc:Choice>
              <mc:Fallback>
                <p:oleObj name="Equation" r:id="rId7" imgW="1079280" imgH="45720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21025" y="4343400"/>
                        <a:ext cx="2697163" cy="1141413"/>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46094" name="Text Box 14"/>
          <p:cNvSpPr txBox="1">
            <a:spLocks noChangeArrowheads="1"/>
          </p:cNvSpPr>
          <p:nvPr/>
        </p:nvSpPr>
        <p:spPr bwMode="auto">
          <a:xfrm>
            <a:off x="174625" y="5653088"/>
            <a:ext cx="8839200" cy="822325"/>
          </a:xfrm>
          <a:prstGeom prst="rect">
            <a:avLst/>
          </a:prstGeom>
          <a:noFill/>
          <a:ln w="9525" algn="ctr">
            <a:noFill/>
            <a:miter lim="800000"/>
            <a:headEnd/>
            <a:tailEnd/>
          </a:ln>
          <a:effectLst/>
        </p:spPr>
        <p:txBody>
          <a:bodyPr>
            <a:spAutoFit/>
          </a:bodyPr>
          <a:lstStyle/>
          <a:p>
            <a:r>
              <a:rPr lang="en-US">
                <a:latin typeface="Tahoma" pitchFamily="34" charset="0"/>
              </a:rPr>
              <a:t>In a sense, we have “adjusted” B to get the right answer (energy minimum at equilibrium).</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0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4" grpId="0"/>
    </p:bld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 Box 4"/>
          <p:cNvSpPr txBox="1">
            <a:spLocks noChangeArrowheads="1"/>
          </p:cNvSpPr>
          <p:nvPr/>
        </p:nvSpPr>
        <p:spPr bwMode="auto">
          <a:xfrm>
            <a:off x="152400" y="304800"/>
            <a:ext cx="8839200" cy="1187450"/>
          </a:xfrm>
          <a:prstGeom prst="rect">
            <a:avLst/>
          </a:prstGeom>
          <a:noFill/>
          <a:ln w="9525" algn="ctr">
            <a:noFill/>
            <a:miter lim="800000"/>
            <a:headEnd/>
            <a:tailEnd/>
          </a:ln>
          <a:effectLst/>
        </p:spPr>
        <p:txBody>
          <a:bodyPr>
            <a:spAutoFit/>
          </a:bodyPr>
          <a:lstStyle/>
          <a:p>
            <a:r>
              <a:rPr lang="en-US">
                <a:latin typeface="Tahoma" pitchFamily="34" charset="0"/>
              </a:rPr>
              <a:t>Plugging B back into the expression for U gives the total potential energy at equilibrium separation.  Beiser used to call it the lattice energy, V</a:t>
            </a:r>
            <a:r>
              <a:rPr lang="en-US" baseline="-25000">
                <a:latin typeface="Tahoma" pitchFamily="34" charset="0"/>
              </a:rPr>
              <a:t>lat</a:t>
            </a:r>
            <a:r>
              <a:rPr lang="en-US">
                <a:latin typeface="Tahoma" pitchFamily="34" charset="0"/>
              </a:rPr>
              <a:t>.  Now he calls it U</a:t>
            </a:r>
            <a:r>
              <a:rPr lang="en-US" baseline="-25000">
                <a:latin typeface="Tahoma" pitchFamily="34" charset="0"/>
              </a:rPr>
              <a:t>0</a:t>
            </a:r>
            <a:r>
              <a:rPr lang="en-US">
                <a:latin typeface="Tahoma" pitchFamily="34" charset="0"/>
              </a:rPr>
              <a:t>. </a:t>
            </a:r>
          </a:p>
        </p:txBody>
      </p:sp>
      <p:graphicFrame>
        <p:nvGraphicFramePr>
          <p:cNvPr id="47109" name="Object 5"/>
          <p:cNvGraphicFramePr>
            <a:graphicFrameLocks noChangeAspect="1"/>
          </p:cNvGraphicFramePr>
          <p:nvPr/>
        </p:nvGraphicFramePr>
        <p:xfrm>
          <a:off x="2197100" y="1905000"/>
          <a:ext cx="4318000" cy="1141413"/>
        </p:xfrm>
        <a:graphic>
          <a:graphicData uri="http://schemas.openxmlformats.org/presentationml/2006/ole">
            <mc:AlternateContent xmlns:mc="http://schemas.openxmlformats.org/markup-compatibility/2006">
              <mc:Choice xmlns:v="urn:schemas-microsoft-com:vml" Requires="v">
                <p:oleObj spid="_x0000_s8205" name="Equation" r:id="rId3" imgW="1726920" imgH="457200" progId="">
                  <p:embed/>
                </p:oleObj>
              </mc:Choice>
              <mc:Fallback>
                <p:oleObj name="Equation" r:id="rId3" imgW="172692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7100" y="1905000"/>
                        <a:ext cx="4318000" cy="1141413"/>
                      </a:xfrm>
                      <a:prstGeom prst="rect">
                        <a:avLst/>
                      </a:prstGeom>
                      <a:solidFill>
                        <a:srgbClr val="CCECFF"/>
                      </a:solidFill>
                      <a:ln w="57150">
                        <a:solidFill>
                          <a:schemeClr val="tx1"/>
                        </a:solidFill>
                        <a:miter lim="800000"/>
                        <a:headEnd/>
                        <a:tailEnd/>
                      </a:ln>
                    </p:spPr>
                  </p:pic>
                </p:oleObj>
              </mc:Fallback>
            </mc:AlternateContent>
          </a:graphicData>
        </a:graphic>
      </p:graphicFrame>
      <p:sp>
        <p:nvSpPr>
          <p:cNvPr id="47110" name="Text Box 6"/>
          <p:cNvSpPr txBox="1">
            <a:spLocks noChangeArrowheads="1"/>
          </p:cNvSpPr>
          <p:nvPr/>
        </p:nvSpPr>
        <p:spPr bwMode="auto">
          <a:xfrm>
            <a:off x="152400" y="3429000"/>
            <a:ext cx="8839200" cy="822325"/>
          </a:xfrm>
          <a:prstGeom prst="rect">
            <a:avLst/>
          </a:prstGeom>
          <a:noFill/>
          <a:ln w="9525" algn="ctr">
            <a:noFill/>
            <a:miter lim="800000"/>
            <a:headEnd/>
            <a:tailEnd/>
          </a:ln>
          <a:effectLst/>
        </p:spPr>
        <p:txBody>
          <a:bodyPr>
            <a:spAutoFit/>
          </a:bodyPr>
          <a:lstStyle/>
          <a:p>
            <a:r>
              <a:rPr lang="en-US">
                <a:latin typeface="Tahoma" pitchFamily="34" charset="0"/>
              </a:rPr>
              <a:t>U</a:t>
            </a:r>
            <a:r>
              <a:rPr lang="en-US" baseline="-25000">
                <a:latin typeface="Tahoma" pitchFamily="34" charset="0"/>
              </a:rPr>
              <a:t>0</a:t>
            </a:r>
            <a:r>
              <a:rPr lang="en-US">
                <a:latin typeface="Tahoma" pitchFamily="34" charset="0"/>
              </a:rPr>
              <a:t> is the reduction in the energy of the ionic crystal relative to the ions at infinite separation. </a:t>
            </a:r>
          </a:p>
        </p:txBody>
      </p:sp>
      <p:sp>
        <p:nvSpPr>
          <p:cNvPr id="47111" name="Text Box 7"/>
          <p:cNvSpPr txBox="1">
            <a:spLocks noChangeArrowheads="1"/>
          </p:cNvSpPr>
          <p:nvPr/>
        </p:nvSpPr>
        <p:spPr bwMode="auto">
          <a:xfrm>
            <a:off x="152400" y="4435475"/>
            <a:ext cx="8839200" cy="822325"/>
          </a:xfrm>
          <a:prstGeom prst="rect">
            <a:avLst/>
          </a:prstGeom>
          <a:noFill/>
          <a:ln w="9525" algn="ctr">
            <a:noFill/>
            <a:miter lim="800000"/>
            <a:headEnd/>
            <a:tailEnd/>
          </a:ln>
          <a:effectLst/>
        </p:spPr>
        <p:txBody>
          <a:bodyPr>
            <a:spAutoFit/>
          </a:bodyPr>
          <a:lstStyle/>
          <a:p>
            <a:r>
              <a:rPr lang="en-US">
                <a:latin typeface="Tahoma" pitchFamily="34" charset="0"/>
              </a:rPr>
              <a:t>We set out to calculate the cohesive energy, so we are </a:t>
            </a:r>
            <a:r>
              <a:rPr lang="en-US" b="1">
                <a:solidFill>
                  <a:schemeClr val="folHlink"/>
                </a:solidFill>
                <a:latin typeface="Tahoma" pitchFamily="34" charset="0"/>
              </a:rPr>
              <a:t>still</a:t>
            </a:r>
            <a:r>
              <a:rPr lang="en-US">
                <a:latin typeface="Tahoma" pitchFamily="34" charset="0"/>
              </a:rPr>
              <a:t> not done yet.</a:t>
            </a:r>
          </a:p>
        </p:txBody>
      </p:sp>
      <p:sp>
        <p:nvSpPr>
          <p:cNvPr id="47112" name="Text Box 8"/>
          <p:cNvSpPr txBox="1">
            <a:spLocks noChangeArrowheads="1"/>
          </p:cNvSpPr>
          <p:nvPr/>
        </p:nvSpPr>
        <p:spPr bwMode="auto">
          <a:xfrm>
            <a:off x="152400" y="5426075"/>
            <a:ext cx="8839200" cy="822325"/>
          </a:xfrm>
          <a:prstGeom prst="rect">
            <a:avLst/>
          </a:prstGeom>
          <a:noFill/>
          <a:ln w="9525" algn="ctr">
            <a:noFill/>
            <a:miter lim="800000"/>
            <a:headEnd/>
            <a:tailEnd/>
          </a:ln>
          <a:effectLst/>
        </p:spPr>
        <p:txBody>
          <a:bodyPr>
            <a:spAutoFit/>
          </a:bodyPr>
          <a:lstStyle/>
          <a:p>
            <a:r>
              <a:rPr lang="en-US">
                <a:latin typeface="Tahoma" pitchFamily="34" charset="0"/>
              </a:rPr>
              <a:t>The cohesive energy, E</a:t>
            </a:r>
            <a:r>
              <a:rPr lang="en-US" baseline="-25000">
                <a:latin typeface="Tahoma" pitchFamily="34" charset="0"/>
              </a:rPr>
              <a:t>cohesive</a:t>
            </a:r>
            <a:r>
              <a:rPr lang="en-US">
                <a:latin typeface="Tahoma" pitchFamily="34" charset="0"/>
              </a:rPr>
              <a:t>, takes into account the energy needed to create the ions.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0" grpId="0"/>
      <p:bldP spid="47111" grpId="0"/>
      <p:bldP spid="47112" grpId="0"/>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4"/>
          <p:cNvSpPr txBox="1">
            <a:spLocks noChangeArrowheads="1"/>
          </p:cNvSpPr>
          <p:nvPr/>
        </p:nvSpPr>
        <p:spPr bwMode="auto">
          <a:xfrm>
            <a:off x="152400" y="228600"/>
            <a:ext cx="8839200" cy="1187450"/>
          </a:xfrm>
          <a:prstGeom prst="rect">
            <a:avLst/>
          </a:prstGeom>
          <a:noFill/>
          <a:ln w="9525" algn="ctr">
            <a:noFill/>
            <a:miter lim="800000"/>
            <a:headEnd/>
            <a:tailEnd/>
          </a:ln>
          <a:effectLst/>
        </p:spPr>
        <p:txBody>
          <a:bodyPr>
            <a:spAutoFit/>
          </a:bodyPr>
          <a:lstStyle/>
          <a:p>
            <a:r>
              <a:rPr lang="en-US">
                <a:latin typeface="Tahoma" pitchFamily="34" charset="0"/>
              </a:rPr>
              <a:t>Beiser doesn’t give an equation for the cohesive energy, so I’ll make one up.  The energy of the ions is U</a:t>
            </a:r>
            <a:r>
              <a:rPr lang="en-US" baseline="-25000">
                <a:latin typeface="Tahoma" pitchFamily="34" charset="0"/>
              </a:rPr>
              <a:t>0</a:t>
            </a:r>
            <a:r>
              <a:rPr lang="en-US">
                <a:latin typeface="Tahoma" pitchFamily="34" charset="0"/>
              </a:rPr>
              <a:t>.  The energy to create a Na</a:t>
            </a:r>
            <a:r>
              <a:rPr lang="en-US" baseline="30000">
                <a:latin typeface="Tahoma" pitchFamily="34" charset="0"/>
              </a:rPr>
              <a:t>+</a:t>
            </a:r>
            <a:r>
              <a:rPr lang="en-US">
                <a:latin typeface="Tahoma" pitchFamily="34" charset="0"/>
              </a:rPr>
              <a:t> ion is the ionization energy of Na.  I’ll call that U</a:t>
            </a:r>
            <a:r>
              <a:rPr lang="en-US" baseline="-25000">
                <a:latin typeface="Tahoma" pitchFamily="34" charset="0"/>
              </a:rPr>
              <a:t>ion</a:t>
            </a:r>
            <a:r>
              <a:rPr lang="en-US">
                <a:latin typeface="Tahoma" pitchFamily="34" charset="0"/>
              </a:rPr>
              <a:t>.</a:t>
            </a:r>
            <a:endParaRPr lang="en-US" baseline="-25000">
              <a:latin typeface="Tahoma" pitchFamily="34" charset="0"/>
            </a:endParaRPr>
          </a:p>
        </p:txBody>
      </p:sp>
      <p:sp>
        <p:nvSpPr>
          <p:cNvPr id="49157" name="Text Box 5"/>
          <p:cNvSpPr txBox="1">
            <a:spLocks noChangeArrowheads="1"/>
          </p:cNvSpPr>
          <p:nvPr/>
        </p:nvSpPr>
        <p:spPr bwMode="auto">
          <a:xfrm>
            <a:off x="152400" y="1828800"/>
            <a:ext cx="8839200" cy="1187450"/>
          </a:xfrm>
          <a:prstGeom prst="rect">
            <a:avLst/>
          </a:prstGeom>
          <a:noFill/>
          <a:ln w="9525" algn="ctr">
            <a:noFill/>
            <a:miter lim="800000"/>
            <a:headEnd/>
            <a:tailEnd/>
          </a:ln>
          <a:effectLst/>
        </p:spPr>
        <p:txBody>
          <a:bodyPr>
            <a:spAutoFit/>
          </a:bodyPr>
          <a:lstStyle/>
          <a:p>
            <a:r>
              <a:rPr lang="en-US">
                <a:latin typeface="Tahoma" pitchFamily="34" charset="0"/>
              </a:rPr>
              <a:t>When a Cl atom combines with an electron to form Cl</a:t>
            </a:r>
            <a:r>
              <a:rPr lang="en-US" baseline="30000">
                <a:latin typeface="Tahoma" pitchFamily="34" charset="0"/>
              </a:rPr>
              <a:t>-</a:t>
            </a:r>
            <a:r>
              <a:rPr lang="en-US">
                <a:latin typeface="Tahoma" pitchFamily="34" charset="0"/>
              </a:rPr>
              <a:t>, energy is actually released.  Chemists call this energy the electron affinity.  I’ll write that U</a:t>
            </a:r>
            <a:r>
              <a:rPr lang="en-US" baseline="-25000">
                <a:latin typeface="Tahoma" pitchFamily="34" charset="0"/>
              </a:rPr>
              <a:t>ea</a:t>
            </a:r>
            <a:r>
              <a:rPr lang="en-US">
                <a:latin typeface="Tahoma" pitchFamily="34" charset="0"/>
              </a:rPr>
              <a:t>.</a:t>
            </a:r>
            <a:endParaRPr lang="en-US" baseline="-25000">
              <a:latin typeface="Tahoma" pitchFamily="34" charset="0"/>
            </a:endParaRPr>
          </a:p>
        </p:txBody>
      </p:sp>
      <p:graphicFrame>
        <p:nvGraphicFramePr>
          <p:cNvPr id="49158" name="Object 6"/>
          <p:cNvGraphicFramePr>
            <a:graphicFrameLocks noChangeAspect="1"/>
          </p:cNvGraphicFramePr>
          <p:nvPr/>
        </p:nvGraphicFramePr>
        <p:xfrm>
          <a:off x="2051050" y="3276600"/>
          <a:ext cx="4730750" cy="601663"/>
        </p:xfrm>
        <a:graphic>
          <a:graphicData uri="http://schemas.openxmlformats.org/presentationml/2006/ole">
            <mc:AlternateContent xmlns:mc="http://schemas.openxmlformats.org/markup-compatibility/2006">
              <mc:Choice xmlns:v="urn:schemas-microsoft-com:vml" Requires="v">
                <p:oleObj spid="_x0000_s9229" name="Equation" r:id="rId3" imgW="1892160" imgH="241200" progId="">
                  <p:embed/>
                </p:oleObj>
              </mc:Choice>
              <mc:Fallback>
                <p:oleObj name="Equation" r:id="rId3" imgW="1892160" imgH="241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3276600"/>
                        <a:ext cx="4730750" cy="601663"/>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49159" name="Text Box 7"/>
          <p:cNvSpPr txBox="1">
            <a:spLocks noChangeArrowheads="1"/>
          </p:cNvSpPr>
          <p:nvPr/>
        </p:nvSpPr>
        <p:spPr bwMode="auto">
          <a:xfrm>
            <a:off x="152400" y="4191000"/>
            <a:ext cx="8839200" cy="822325"/>
          </a:xfrm>
          <a:prstGeom prst="rect">
            <a:avLst/>
          </a:prstGeom>
          <a:noFill/>
          <a:ln w="9525" algn="ctr">
            <a:noFill/>
            <a:miter lim="800000"/>
            <a:headEnd/>
            <a:tailEnd/>
          </a:ln>
          <a:effectLst/>
        </p:spPr>
        <p:txBody>
          <a:bodyPr>
            <a:spAutoFit/>
          </a:bodyPr>
          <a:lstStyle/>
          <a:p>
            <a:r>
              <a:rPr lang="en-US">
                <a:latin typeface="Tahoma" pitchFamily="34" charset="0"/>
              </a:rPr>
              <a:t>You’ll see what “pair” means in a minute.  Also, the numerical value of E</a:t>
            </a:r>
            <a:r>
              <a:rPr lang="en-US" baseline="-25000">
                <a:latin typeface="Tahoma" pitchFamily="34" charset="0"/>
              </a:rPr>
              <a:t>coh</a:t>
            </a:r>
            <a:r>
              <a:rPr lang="en-US">
                <a:latin typeface="Tahoma" pitchFamily="34" charset="0"/>
              </a:rPr>
              <a:t> had better be negative, right?</a:t>
            </a:r>
            <a:endParaRPr lang="en-US" baseline="-25000">
              <a:latin typeface="Tahoma" pitchFamily="34" charset="0"/>
            </a:endParaRPr>
          </a:p>
        </p:txBody>
      </p:sp>
      <p:sp>
        <p:nvSpPr>
          <p:cNvPr id="49160" name="Text Box 8"/>
          <p:cNvSpPr txBox="1">
            <a:spLocks noChangeArrowheads="1"/>
          </p:cNvSpPr>
          <p:nvPr/>
        </p:nvSpPr>
        <p:spPr bwMode="auto">
          <a:xfrm>
            <a:off x="152400" y="5365750"/>
            <a:ext cx="8839200" cy="822325"/>
          </a:xfrm>
          <a:prstGeom prst="rect">
            <a:avLst/>
          </a:prstGeom>
          <a:noFill/>
          <a:ln w="9525" algn="ctr">
            <a:noFill/>
            <a:miter lim="800000"/>
            <a:headEnd/>
            <a:tailEnd/>
          </a:ln>
          <a:effectLst/>
        </p:spPr>
        <p:txBody>
          <a:bodyPr>
            <a:spAutoFit/>
          </a:bodyPr>
          <a:lstStyle/>
          <a:p>
            <a:r>
              <a:rPr lang="en-US">
                <a:latin typeface="Tahoma" pitchFamily="34" charset="0"/>
              </a:rPr>
              <a:t>U</a:t>
            </a:r>
            <a:r>
              <a:rPr lang="en-US" baseline="-25000">
                <a:latin typeface="Tahoma" pitchFamily="34" charset="0"/>
              </a:rPr>
              <a:t>ion</a:t>
            </a:r>
            <a:r>
              <a:rPr lang="en-US">
                <a:latin typeface="Tahoma" pitchFamily="34" charset="0"/>
              </a:rPr>
              <a:t> is positive, because it is energy put into the crystal.  U</a:t>
            </a:r>
            <a:r>
              <a:rPr lang="en-US" baseline="-25000">
                <a:latin typeface="Tahoma" pitchFamily="34" charset="0"/>
              </a:rPr>
              <a:t>ea</a:t>
            </a:r>
            <a:r>
              <a:rPr lang="en-US">
                <a:latin typeface="Tahoma" pitchFamily="34" charset="0"/>
              </a:rPr>
              <a:t> is negative, because it is energy released from the crystal.</a:t>
            </a:r>
            <a:endParaRPr lang="en-US" baseline="-25000">
              <a:latin typeface="Tahoma"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1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1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91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7" grpId="0"/>
      <p:bldP spid="49159" grpId="0"/>
      <p:bldP spid="49160" grpId="0"/>
    </p:bld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Text Box 4"/>
          <p:cNvSpPr txBox="1">
            <a:spLocks noChangeArrowheads="1"/>
          </p:cNvSpPr>
          <p:nvPr/>
        </p:nvSpPr>
        <p:spPr bwMode="auto">
          <a:xfrm>
            <a:off x="152400" y="228600"/>
            <a:ext cx="8839200" cy="822325"/>
          </a:xfrm>
          <a:prstGeom prst="rect">
            <a:avLst/>
          </a:prstGeom>
          <a:noFill/>
          <a:ln w="9525" algn="ctr">
            <a:noFill/>
            <a:miter lim="800000"/>
            <a:headEnd/>
            <a:tailEnd/>
          </a:ln>
          <a:effectLst/>
        </p:spPr>
        <p:txBody>
          <a:bodyPr>
            <a:spAutoFit/>
          </a:bodyPr>
          <a:lstStyle/>
          <a:p>
            <a:r>
              <a:rPr lang="en-US">
                <a:latin typeface="Tahoma" pitchFamily="34" charset="0"/>
              </a:rPr>
              <a:t>Part of your homework/quiz/exam responsibility is to get the right signs on these energies!</a:t>
            </a:r>
            <a:endParaRPr lang="en-US" baseline="-25000">
              <a:latin typeface="Tahoma" pitchFamily="34" charset="0"/>
            </a:endParaRPr>
          </a:p>
        </p:txBody>
      </p:sp>
      <p:sp>
        <p:nvSpPr>
          <p:cNvPr id="48133" name="Text Box 5"/>
          <p:cNvSpPr txBox="1">
            <a:spLocks noChangeArrowheads="1"/>
          </p:cNvSpPr>
          <p:nvPr/>
        </p:nvSpPr>
        <p:spPr bwMode="auto">
          <a:xfrm>
            <a:off x="152400" y="1387475"/>
            <a:ext cx="8839200" cy="1187450"/>
          </a:xfrm>
          <a:prstGeom prst="rect">
            <a:avLst/>
          </a:prstGeom>
          <a:noFill/>
          <a:ln w="9525" algn="ctr">
            <a:noFill/>
            <a:miter lim="800000"/>
            <a:headEnd/>
            <a:tailEnd/>
          </a:ln>
          <a:effectLst/>
        </p:spPr>
        <p:txBody>
          <a:bodyPr>
            <a:spAutoFit/>
          </a:bodyPr>
          <a:lstStyle/>
          <a:p>
            <a:r>
              <a:rPr lang="en-US">
                <a:latin typeface="Tahoma" pitchFamily="34" charset="0"/>
              </a:rPr>
              <a:t>Oh, and one more thing.  We’ve calculated the coulomb energy for our reference Na</a:t>
            </a:r>
            <a:r>
              <a:rPr lang="en-US" baseline="30000">
                <a:latin typeface="Tahoma" pitchFamily="34" charset="0"/>
              </a:rPr>
              <a:t>+</a:t>
            </a:r>
            <a:r>
              <a:rPr lang="en-US">
                <a:latin typeface="Tahoma" pitchFamily="34" charset="0"/>
              </a:rPr>
              <a:t> with all other ions in the crystal, one pair at a time.  Thus, U</a:t>
            </a:r>
            <a:r>
              <a:rPr lang="en-US" baseline="-25000">
                <a:latin typeface="Tahoma" pitchFamily="34" charset="0"/>
              </a:rPr>
              <a:t>0</a:t>
            </a:r>
            <a:r>
              <a:rPr lang="en-US">
                <a:latin typeface="Tahoma" pitchFamily="34" charset="0"/>
              </a:rPr>
              <a:t> is the energy per ion pair.</a:t>
            </a:r>
            <a:endParaRPr lang="en-US" baseline="-25000">
              <a:latin typeface="Tahoma" pitchFamily="34" charset="0"/>
            </a:endParaRPr>
          </a:p>
        </p:txBody>
      </p:sp>
      <p:sp>
        <p:nvSpPr>
          <p:cNvPr id="48134" name="Text Box 6"/>
          <p:cNvSpPr txBox="1">
            <a:spLocks noChangeArrowheads="1"/>
          </p:cNvSpPr>
          <p:nvPr/>
        </p:nvSpPr>
        <p:spPr bwMode="auto">
          <a:xfrm>
            <a:off x="152400" y="2895600"/>
            <a:ext cx="8839200" cy="1187450"/>
          </a:xfrm>
          <a:prstGeom prst="rect">
            <a:avLst/>
          </a:prstGeom>
          <a:noFill/>
          <a:ln w="9525" algn="ctr">
            <a:noFill/>
            <a:miter lim="800000"/>
            <a:headEnd/>
            <a:tailEnd/>
          </a:ln>
          <a:effectLst/>
        </p:spPr>
        <p:txBody>
          <a:bodyPr>
            <a:spAutoFit/>
          </a:bodyPr>
          <a:lstStyle/>
          <a:p>
            <a:r>
              <a:rPr lang="en-US">
                <a:latin typeface="Tahoma" pitchFamily="34" charset="0"/>
              </a:rPr>
              <a:t>Also, U</a:t>
            </a:r>
            <a:r>
              <a:rPr lang="en-US" baseline="-25000">
                <a:latin typeface="Tahoma" pitchFamily="34" charset="0"/>
              </a:rPr>
              <a:t>ion</a:t>
            </a:r>
            <a:r>
              <a:rPr lang="en-US">
                <a:latin typeface="Tahoma" pitchFamily="34" charset="0"/>
              </a:rPr>
              <a:t> is the energy to make Na</a:t>
            </a:r>
            <a:r>
              <a:rPr lang="en-US" baseline="30000">
                <a:latin typeface="Tahoma" pitchFamily="34" charset="0"/>
              </a:rPr>
              <a:t>+</a:t>
            </a:r>
            <a:r>
              <a:rPr lang="en-US">
                <a:latin typeface="Tahoma" pitchFamily="34" charset="0"/>
              </a:rPr>
              <a:t> and U</a:t>
            </a:r>
            <a:r>
              <a:rPr lang="en-US" baseline="-25000">
                <a:latin typeface="Tahoma" pitchFamily="34" charset="0"/>
              </a:rPr>
              <a:t>ea</a:t>
            </a:r>
            <a:r>
              <a:rPr lang="en-US">
                <a:latin typeface="Tahoma" pitchFamily="34" charset="0"/>
              </a:rPr>
              <a:t> is the energy released on making Cl</a:t>
            </a:r>
            <a:r>
              <a:rPr lang="en-US" baseline="30000">
                <a:latin typeface="Tahoma" pitchFamily="34" charset="0"/>
              </a:rPr>
              <a:t>-</a:t>
            </a:r>
            <a:r>
              <a:rPr lang="en-US">
                <a:latin typeface="Tahoma" pitchFamily="34" charset="0"/>
              </a:rPr>
              <a:t>.  Thus U</a:t>
            </a:r>
            <a:r>
              <a:rPr lang="en-US" baseline="-25000">
                <a:latin typeface="Tahoma" pitchFamily="34" charset="0"/>
              </a:rPr>
              <a:t>ion</a:t>
            </a:r>
            <a:r>
              <a:rPr lang="en-US">
                <a:latin typeface="Tahoma" pitchFamily="34" charset="0"/>
              </a:rPr>
              <a:t> + U</a:t>
            </a:r>
            <a:r>
              <a:rPr lang="en-US" baseline="-25000">
                <a:latin typeface="Tahoma" pitchFamily="34" charset="0"/>
              </a:rPr>
              <a:t>ea</a:t>
            </a:r>
            <a:r>
              <a:rPr lang="en-US">
                <a:latin typeface="Tahoma" pitchFamily="34" charset="0"/>
              </a:rPr>
              <a:t> represents the energy needed to make a Na</a:t>
            </a:r>
            <a:r>
              <a:rPr lang="en-US" baseline="30000">
                <a:latin typeface="Tahoma" pitchFamily="34" charset="0"/>
              </a:rPr>
              <a:t>+</a:t>
            </a:r>
            <a:r>
              <a:rPr lang="en-US">
                <a:latin typeface="Tahoma" pitchFamily="34" charset="0"/>
              </a:rPr>
              <a:t>Cl</a:t>
            </a:r>
            <a:r>
              <a:rPr lang="en-US" baseline="30000">
                <a:latin typeface="Tahoma" pitchFamily="34" charset="0"/>
              </a:rPr>
              <a:t>-</a:t>
            </a:r>
            <a:r>
              <a:rPr lang="en-US">
                <a:latin typeface="Tahoma" pitchFamily="34" charset="0"/>
              </a:rPr>
              <a:t> pair.</a:t>
            </a:r>
            <a:endParaRPr lang="en-US" baseline="-25000">
              <a:latin typeface="Tahoma" pitchFamily="34" charset="0"/>
            </a:endParaRPr>
          </a:p>
        </p:txBody>
      </p:sp>
      <p:sp>
        <p:nvSpPr>
          <p:cNvPr id="48135" name="Text Box 7"/>
          <p:cNvSpPr txBox="1">
            <a:spLocks noChangeArrowheads="1"/>
          </p:cNvSpPr>
          <p:nvPr/>
        </p:nvSpPr>
        <p:spPr bwMode="auto">
          <a:xfrm>
            <a:off x="152400" y="4327525"/>
            <a:ext cx="8839200" cy="822325"/>
          </a:xfrm>
          <a:prstGeom prst="rect">
            <a:avLst/>
          </a:prstGeom>
          <a:noFill/>
          <a:ln w="9525" algn="ctr">
            <a:noFill/>
            <a:miter lim="800000"/>
            <a:headEnd/>
            <a:tailEnd/>
          </a:ln>
          <a:effectLst/>
        </p:spPr>
        <p:txBody>
          <a:bodyPr>
            <a:spAutoFit/>
          </a:bodyPr>
          <a:lstStyle/>
          <a:p>
            <a:r>
              <a:rPr lang="en-US">
                <a:latin typeface="Tahoma" pitchFamily="34" charset="0"/>
              </a:rPr>
              <a:t>Beiser defines the cohesive energy as “per ion.”  Thus finally (and officially):</a:t>
            </a:r>
            <a:endParaRPr lang="en-US" baseline="-25000">
              <a:latin typeface="Tahoma" pitchFamily="34" charset="0"/>
            </a:endParaRPr>
          </a:p>
        </p:txBody>
      </p:sp>
      <p:graphicFrame>
        <p:nvGraphicFramePr>
          <p:cNvPr id="48136" name="Object 8"/>
          <p:cNvGraphicFramePr>
            <a:graphicFrameLocks noChangeAspect="1"/>
          </p:cNvGraphicFramePr>
          <p:nvPr/>
        </p:nvGraphicFramePr>
        <p:xfrm>
          <a:off x="2406650" y="5334000"/>
          <a:ext cx="4222750" cy="1012825"/>
        </p:xfrm>
        <a:graphic>
          <a:graphicData uri="http://schemas.openxmlformats.org/presentationml/2006/ole">
            <mc:AlternateContent xmlns:mc="http://schemas.openxmlformats.org/markup-compatibility/2006">
              <mc:Choice xmlns:v="urn:schemas-microsoft-com:vml" Requires="v">
                <p:oleObj spid="_x0000_s10253" name="Equation" r:id="rId3" imgW="1688760" imgH="406080" progId="">
                  <p:embed/>
                </p:oleObj>
              </mc:Choice>
              <mc:Fallback>
                <p:oleObj name="Equation" r:id="rId3" imgW="1688760" imgH="406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6650" y="5334000"/>
                        <a:ext cx="4222750" cy="1012825"/>
                      </a:xfrm>
                      <a:prstGeom prst="rect">
                        <a:avLst/>
                      </a:prstGeom>
                      <a:solidFill>
                        <a:srgbClr val="CCECFF"/>
                      </a:solidFill>
                      <a:ln w="57150">
                        <a:solidFill>
                          <a:schemeClr val="tx1"/>
                        </a:solidFill>
                        <a:miter lim="800000"/>
                        <a:headEnd/>
                        <a:tailEnd/>
                      </a:ln>
                    </p:spPr>
                  </p:pic>
                </p:oleObj>
              </mc:Fallback>
            </mc:AlternateContent>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8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3" grpId="0"/>
      <p:bldP spid="48134" grpId="0"/>
      <p:bldP spid="48135" grpId="0"/>
    </p:bld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Text Box 5"/>
          <p:cNvSpPr txBox="1">
            <a:spLocks noChangeArrowheads="1"/>
          </p:cNvSpPr>
          <p:nvPr/>
        </p:nvSpPr>
        <p:spPr bwMode="auto">
          <a:xfrm>
            <a:off x="152400" y="1311275"/>
            <a:ext cx="8839200" cy="822325"/>
          </a:xfrm>
          <a:prstGeom prst="rect">
            <a:avLst/>
          </a:prstGeom>
          <a:noFill/>
          <a:ln w="9525" algn="ctr">
            <a:noFill/>
            <a:miter lim="800000"/>
            <a:headEnd/>
            <a:tailEnd/>
          </a:ln>
          <a:effectLst/>
        </p:spPr>
        <p:txBody>
          <a:bodyPr>
            <a:spAutoFit/>
          </a:bodyPr>
          <a:lstStyle/>
          <a:p>
            <a:r>
              <a:rPr lang="en-US">
                <a:latin typeface="Tahoma" pitchFamily="34" charset="0"/>
              </a:rPr>
              <a:t>A “typical” value for n is 9.  The equilibrium distance r</a:t>
            </a:r>
            <a:r>
              <a:rPr lang="en-US" baseline="-25000">
                <a:latin typeface="Tahoma" pitchFamily="34" charset="0"/>
              </a:rPr>
              <a:t>0</a:t>
            </a:r>
            <a:r>
              <a:rPr lang="en-US">
                <a:latin typeface="Tahoma" pitchFamily="34" charset="0"/>
              </a:rPr>
              <a:t> between Na</a:t>
            </a:r>
            <a:r>
              <a:rPr lang="en-US" baseline="30000">
                <a:latin typeface="Tahoma" pitchFamily="34" charset="0"/>
              </a:rPr>
              <a:t>+</a:t>
            </a:r>
            <a:r>
              <a:rPr lang="en-US">
                <a:latin typeface="Tahoma" pitchFamily="34" charset="0"/>
              </a:rPr>
              <a:t> and Cl</a:t>
            </a:r>
            <a:r>
              <a:rPr lang="en-US" baseline="30000">
                <a:latin typeface="Tahoma" pitchFamily="34" charset="0"/>
              </a:rPr>
              <a:t>-</a:t>
            </a:r>
            <a:r>
              <a:rPr lang="en-US">
                <a:latin typeface="Tahoma" pitchFamily="34" charset="0"/>
              </a:rPr>
              <a:t> ions is 0.281 nm.</a:t>
            </a:r>
          </a:p>
        </p:txBody>
      </p:sp>
      <p:sp>
        <p:nvSpPr>
          <p:cNvPr id="50182" name="Text Box 6"/>
          <p:cNvSpPr txBox="1">
            <a:spLocks noChangeArrowheads="1"/>
          </p:cNvSpPr>
          <p:nvPr/>
        </p:nvSpPr>
        <p:spPr bwMode="auto">
          <a:xfrm>
            <a:off x="152400" y="2378075"/>
            <a:ext cx="8839200" cy="822325"/>
          </a:xfrm>
          <a:prstGeom prst="rect">
            <a:avLst/>
          </a:prstGeom>
          <a:noFill/>
          <a:ln w="9525" algn="ctr">
            <a:noFill/>
            <a:miter lim="800000"/>
            <a:headEnd/>
            <a:tailEnd/>
          </a:ln>
          <a:effectLst/>
        </p:spPr>
        <p:txBody>
          <a:bodyPr>
            <a:spAutoFit/>
          </a:bodyPr>
          <a:lstStyle/>
          <a:p>
            <a:r>
              <a:rPr lang="en-US">
                <a:latin typeface="Tahoma" pitchFamily="34" charset="0"/>
              </a:rPr>
              <a:t>Beiser calculates numerical values for the different energies, and then combines them to get the cohesive energy.</a:t>
            </a:r>
          </a:p>
        </p:txBody>
      </p:sp>
      <p:sp>
        <p:nvSpPr>
          <p:cNvPr id="50183" name="Text Box 7"/>
          <p:cNvSpPr txBox="1">
            <a:spLocks noChangeArrowheads="1"/>
          </p:cNvSpPr>
          <p:nvPr/>
        </p:nvSpPr>
        <p:spPr bwMode="auto">
          <a:xfrm>
            <a:off x="152400" y="3841750"/>
            <a:ext cx="8839200" cy="822325"/>
          </a:xfrm>
          <a:prstGeom prst="rect">
            <a:avLst/>
          </a:prstGeom>
          <a:noFill/>
          <a:ln w="9525" algn="ctr">
            <a:noFill/>
            <a:miter lim="800000"/>
            <a:headEnd/>
            <a:tailEnd/>
          </a:ln>
          <a:effectLst/>
        </p:spPr>
        <p:txBody>
          <a:bodyPr>
            <a:spAutoFit/>
          </a:bodyPr>
          <a:lstStyle/>
          <a:p>
            <a:r>
              <a:rPr lang="en-US">
                <a:latin typeface="Tahoma" pitchFamily="34" charset="0"/>
              </a:rPr>
              <a:t>We know it’s better to do the problem algebraically first, and get numerical results only at the very end.</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p:bldP spid="50182" grpId="0"/>
      <p:bldP spid="50183" grpId="0"/>
    </p:bld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04" name="Object 4"/>
          <p:cNvGraphicFramePr>
            <a:graphicFrameLocks noChangeAspect="1"/>
          </p:cNvGraphicFramePr>
          <p:nvPr/>
        </p:nvGraphicFramePr>
        <p:xfrm>
          <a:off x="2247900" y="215900"/>
          <a:ext cx="4127500" cy="1141413"/>
        </p:xfrm>
        <a:graphic>
          <a:graphicData uri="http://schemas.openxmlformats.org/presentationml/2006/ole">
            <mc:AlternateContent xmlns:mc="http://schemas.openxmlformats.org/markup-compatibility/2006">
              <mc:Choice xmlns:v="urn:schemas-microsoft-com:vml" Requires="v">
                <p:oleObj spid="_x0000_s11299" name="Equation" r:id="rId3" imgW="1650960" imgH="457200" progId="">
                  <p:embed/>
                </p:oleObj>
              </mc:Choice>
              <mc:Fallback>
                <p:oleObj name="Equation" r:id="rId3" imgW="1650960" imgH="45720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7900" y="215900"/>
                        <a:ext cx="4127500" cy="1141413"/>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graphicFrame>
        <p:nvGraphicFramePr>
          <p:cNvPr id="51205" name="Object 5"/>
          <p:cNvGraphicFramePr>
            <a:graphicFrameLocks noChangeAspect="1"/>
          </p:cNvGraphicFramePr>
          <p:nvPr/>
        </p:nvGraphicFramePr>
        <p:xfrm>
          <a:off x="850900" y="1773238"/>
          <a:ext cx="7580313" cy="1198562"/>
        </p:xfrm>
        <a:graphic>
          <a:graphicData uri="http://schemas.openxmlformats.org/presentationml/2006/ole">
            <mc:AlternateContent xmlns:mc="http://schemas.openxmlformats.org/markup-compatibility/2006">
              <mc:Choice xmlns:v="urn:schemas-microsoft-com:vml" Requires="v">
                <p:oleObj spid="_x0000_s11300" name="Equation" r:id="rId5" imgW="3771720" imgH="596880" progId="">
                  <p:embed/>
                </p:oleObj>
              </mc:Choice>
              <mc:Fallback>
                <p:oleObj name="Equation" r:id="rId5" imgW="3771720" imgH="59688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0900" y="1773238"/>
                        <a:ext cx="7580313" cy="1198562"/>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graphicFrame>
        <p:nvGraphicFramePr>
          <p:cNvPr id="51206" name="Object 6"/>
          <p:cNvGraphicFramePr>
            <a:graphicFrameLocks noChangeAspect="1"/>
          </p:cNvGraphicFramePr>
          <p:nvPr/>
        </p:nvGraphicFramePr>
        <p:xfrm>
          <a:off x="1795463" y="3502025"/>
          <a:ext cx="5691187" cy="484188"/>
        </p:xfrm>
        <a:graphic>
          <a:graphicData uri="http://schemas.openxmlformats.org/presentationml/2006/ole">
            <mc:AlternateContent xmlns:mc="http://schemas.openxmlformats.org/markup-compatibility/2006">
              <mc:Choice xmlns:v="urn:schemas-microsoft-com:vml" Requires="v">
                <p:oleObj spid="_x0000_s11301" name="Equation" r:id="rId7" imgW="2831760" imgH="241200" progId="">
                  <p:embed/>
                </p:oleObj>
              </mc:Choice>
              <mc:Fallback>
                <p:oleObj name="Equation" r:id="rId7" imgW="2831760" imgH="24120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463" y="3502025"/>
                        <a:ext cx="5691187" cy="484188"/>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51207" name="Text Box 7"/>
          <p:cNvSpPr txBox="1">
            <a:spLocks noChangeArrowheads="1"/>
          </p:cNvSpPr>
          <p:nvPr/>
        </p:nvSpPr>
        <p:spPr bwMode="auto">
          <a:xfrm>
            <a:off x="228600" y="1143000"/>
            <a:ext cx="1905000" cy="701675"/>
          </a:xfrm>
          <a:prstGeom prst="rect">
            <a:avLst/>
          </a:prstGeom>
          <a:noFill/>
          <a:ln w="9525" algn="ctr">
            <a:noFill/>
            <a:miter lim="800000"/>
            <a:headEnd/>
            <a:tailEnd/>
          </a:ln>
          <a:effectLst/>
        </p:spPr>
        <p:txBody>
          <a:bodyPr>
            <a:spAutoFit/>
          </a:bodyPr>
          <a:lstStyle/>
          <a:p>
            <a:r>
              <a:rPr lang="en-US" sz="2000">
                <a:solidFill>
                  <a:schemeClr val="folHlink"/>
                </a:solidFill>
                <a:latin typeface="Tahoma" pitchFamily="34" charset="0"/>
              </a:rPr>
              <a:t>only for NaCl structure!</a:t>
            </a:r>
          </a:p>
        </p:txBody>
      </p:sp>
      <p:sp>
        <p:nvSpPr>
          <p:cNvPr id="51208" name="Line 8"/>
          <p:cNvSpPr>
            <a:spLocks noChangeShapeType="1"/>
          </p:cNvSpPr>
          <p:nvPr/>
        </p:nvSpPr>
        <p:spPr bwMode="auto">
          <a:xfrm>
            <a:off x="1752600" y="1600200"/>
            <a:ext cx="609600" cy="533400"/>
          </a:xfrm>
          <a:prstGeom prst="line">
            <a:avLst/>
          </a:prstGeom>
          <a:noFill/>
          <a:ln w="57150">
            <a:solidFill>
              <a:schemeClr val="folHlink"/>
            </a:solidFill>
            <a:round/>
            <a:headEnd/>
            <a:tailEnd type="triangle" w="med" len="med"/>
          </a:ln>
          <a:effectLst/>
        </p:spPr>
        <p:txBody>
          <a:bodyPr>
            <a:spAutoFit/>
          </a:bodyPr>
          <a:lstStyle/>
          <a:p>
            <a:endParaRPr lang="en-US"/>
          </a:p>
        </p:txBody>
      </p:sp>
      <p:sp>
        <p:nvSpPr>
          <p:cNvPr id="51209" name="Text Box 9"/>
          <p:cNvSpPr txBox="1">
            <a:spLocks noChangeArrowheads="1"/>
          </p:cNvSpPr>
          <p:nvPr/>
        </p:nvSpPr>
        <p:spPr bwMode="auto">
          <a:xfrm>
            <a:off x="152400" y="4343400"/>
            <a:ext cx="8839200" cy="1552575"/>
          </a:xfrm>
          <a:prstGeom prst="rect">
            <a:avLst/>
          </a:prstGeom>
          <a:noFill/>
          <a:ln w="9525" algn="ctr">
            <a:noFill/>
            <a:miter lim="800000"/>
            <a:headEnd/>
            <a:tailEnd/>
          </a:ln>
          <a:effectLst/>
        </p:spPr>
        <p:txBody>
          <a:bodyPr>
            <a:spAutoFit/>
          </a:bodyPr>
          <a:lstStyle/>
          <a:p>
            <a:r>
              <a:rPr lang="en-US">
                <a:latin typeface="Tahoma" pitchFamily="34" charset="0"/>
              </a:rPr>
              <a:t>The ionization energy of Na is 5.14 eV and the electron affinity of Cl is 3.61 eV.  With the correct signs, the energies are +5.14 eV and -3.61 eV.  Make sure you understand why!  Many of you will lose several points because of sign errors.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20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12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51208" grpId="0" animBg="1"/>
      <p:bldP spid="51209" grpId="0"/>
    </p:bld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2228" name="Object 4"/>
          <p:cNvGraphicFramePr>
            <a:graphicFrameLocks noChangeAspect="1"/>
          </p:cNvGraphicFramePr>
          <p:nvPr/>
        </p:nvGraphicFramePr>
        <p:xfrm>
          <a:off x="2203450" y="457200"/>
          <a:ext cx="4191000" cy="1012825"/>
        </p:xfrm>
        <a:graphic>
          <a:graphicData uri="http://schemas.openxmlformats.org/presentationml/2006/ole">
            <mc:AlternateContent xmlns:mc="http://schemas.openxmlformats.org/markup-compatibility/2006">
              <mc:Choice xmlns:v="urn:schemas-microsoft-com:vml" Requires="v">
                <p:oleObj spid="_x0000_s12323" name="Equation" r:id="rId3" imgW="1676160" imgH="406080" progId="">
                  <p:embed/>
                </p:oleObj>
              </mc:Choice>
              <mc:Fallback>
                <p:oleObj name="Equation" r:id="rId3" imgW="1676160" imgH="406080" progId="">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3450" y="457200"/>
                        <a:ext cx="4191000" cy="1012825"/>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graphicFrame>
        <p:nvGraphicFramePr>
          <p:cNvPr id="52229" name="Object 5"/>
          <p:cNvGraphicFramePr>
            <a:graphicFrameLocks noChangeAspect="1"/>
          </p:cNvGraphicFramePr>
          <p:nvPr/>
        </p:nvGraphicFramePr>
        <p:xfrm>
          <a:off x="1035050" y="1898650"/>
          <a:ext cx="6985000" cy="981075"/>
        </p:xfrm>
        <a:graphic>
          <a:graphicData uri="http://schemas.openxmlformats.org/presentationml/2006/ole">
            <mc:AlternateContent xmlns:mc="http://schemas.openxmlformats.org/markup-compatibility/2006">
              <mc:Choice xmlns:v="urn:schemas-microsoft-com:vml" Requires="v">
                <p:oleObj spid="_x0000_s12324" name="Equation" r:id="rId5" imgW="2793960" imgH="393480" progId="">
                  <p:embed/>
                </p:oleObj>
              </mc:Choice>
              <mc:Fallback>
                <p:oleObj name="Equation" r:id="rId5" imgW="2793960" imgH="393480" progId="">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5050" y="1898650"/>
                        <a:ext cx="6985000" cy="981075"/>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graphicFrame>
        <p:nvGraphicFramePr>
          <p:cNvPr id="52230" name="Object 6"/>
          <p:cNvGraphicFramePr>
            <a:graphicFrameLocks noChangeAspect="1"/>
          </p:cNvGraphicFramePr>
          <p:nvPr/>
        </p:nvGraphicFramePr>
        <p:xfrm>
          <a:off x="2676525" y="3262313"/>
          <a:ext cx="3270250" cy="569912"/>
        </p:xfrm>
        <a:graphic>
          <a:graphicData uri="http://schemas.openxmlformats.org/presentationml/2006/ole">
            <mc:AlternateContent xmlns:mc="http://schemas.openxmlformats.org/markup-compatibility/2006">
              <mc:Choice xmlns:v="urn:schemas-microsoft-com:vml" Requires="v">
                <p:oleObj spid="_x0000_s12325" name="Equation" r:id="rId7" imgW="1307880" imgH="228600" progId="">
                  <p:embed/>
                </p:oleObj>
              </mc:Choice>
              <mc:Fallback>
                <p:oleObj name="Equation" r:id="rId7" imgW="1307880" imgH="228600" progId="">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6525" y="3262313"/>
                        <a:ext cx="3270250" cy="569912"/>
                      </a:xfrm>
                      <a:prstGeom prst="rect">
                        <a:avLst/>
                      </a:prstGeom>
                      <a:solidFill>
                        <a:srgbClr val="CCECFF"/>
                      </a:solidFill>
                      <a:ln>
                        <a:noFill/>
                      </a:ln>
                      <a:extLst>
                        <a:ext uri="{91240B29-F687-4F45-9708-019B960494DF}">
                          <a14:hiddenLine xmlns:a14="http://schemas.microsoft.com/office/drawing/2010/main" w="57150">
                            <a:solidFill>
                              <a:srgbClr val="FF6600"/>
                            </a:solidFill>
                            <a:miter lim="800000"/>
                            <a:headEnd/>
                            <a:tailEnd/>
                          </a14:hiddenLine>
                        </a:ext>
                      </a:extLst>
                    </p:spPr>
                  </p:pic>
                </p:oleObj>
              </mc:Fallback>
            </mc:AlternateContent>
          </a:graphicData>
        </a:graphic>
      </p:graphicFrame>
      <p:sp>
        <p:nvSpPr>
          <p:cNvPr id="52231" name="Text Box 7"/>
          <p:cNvSpPr txBox="1">
            <a:spLocks noChangeArrowheads="1"/>
          </p:cNvSpPr>
          <p:nvPr/>
        </p:nvSpPr>
        <p:spPr bwMode="auto">
          <a:xfrm>
            <a:off x="152400" y="4191000"/>
            <a:ext cx="8839200" cy="822325"/>
          </a:xfrm>
          <a:prstGeom prst="rect">
            <a:avLst/>
          </a:prstGeom>
          <a:noFill/>
          <a:ln w="9525" algn="ctr">
            <a:noFill/>
            <a:miter lim="800000"/>
            <a:headEnd/>
            <a:tailEnd/>
          </a:ln>
          <a:effectLst/>
        </p:spPr>
        <p:txBody>
          <a:bodyPr>
            <a:spAutoFit/>
          </a:bodyPr>
          <a:lstStyle/>
          <a:p>
            <a:r>
              <a:rPr lang="en-US">
                <a:latin typeface="Tahoma" pitchFamily="34" charset="0"/>
              </a:rPr>
              <a:t>Great news!  We got a – sign for the cohesive energy.  You can sleep well at night knowing that NaCl is stable.</a:t>
            </a:r>
          </a:p>
        </p:txBody>
      </p:sp>
      <p:sp>
        <p:nvSpPr>
          <p:cNvPr id="52232" name="Text Box 8"/>
          <p:cNvSpPr txBox="1">
            <a:spLocks noChangeArrowheads="1"/>
          </p:cNvSpPr>
          <p:nvPr/>
        </p:nvSpPr>
        <p:spPr bwMode="auto">
          <a:xfrm>
            <a:off x="152400" y="5257800"/>
            <a:ext cx="8839200" cy="1187450"/>
          </a:xfrm>
          <a:prstGeom prst="rect">
            <a:avLst/>
          </a:prstGeom>
          <a:noFill/>
          <a:ln w="9525" algn="ctr">
            <a:noFill/>
            <a:miter lim="800000"/>
            <a:headEnd/>
            <a:tailEnd/>
          </a:ln>
          <a:effectLst/>
        </p:spPr>
        <p:txBody>
          <a:bodyPr>
            <a:spAutoFit/>
          </a:bodyPr>
          <a:lstStyle/>
          <a:p>
            <a:r>
              <a:rPr lang="en-US">
                <a:latin typeface="Tahoma" pitchFamily="34" charset="0"/>
              </a:rPr>
              <a:t>Wonder how it compares with experiment?  The measured value is -3.28 eV.  That’s a 2% error.  For this kind of calculation, the agreement is good.</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2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2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22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2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1" grpId="0"/>
      <p:bldP spid="52232" grpId="0"/>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Text Box 4"/>
          <p:cNvSpPr txBox="1">
            <a:spLocks noChangeArrowheads="1"/>
          </p:cNvSpPr>
          <p:nvPr/>
        </p:nvSpPr>
        <p:spPr bwMode="auto">
          <a:xfrm>
            <a:off x="152400" y="473075"/>
            <a:ext cx="8839200" cy="369332"/>
          </a:xfrm>
          <a:prstGeom prst="rect">
            <a:avLst/>
          </a:prstGeom>
          <a:noFill/>
          <a:ln w="9525" algn="ctr">
            <a:noFill/>
            <a:miter lim="800000"/>
            <a:headEnd/>
            <a:tailEnd/>
          </a:ln>
          <a:effectLst/>
        </p:spPr>
        <p:txBody>
          <a:bodyPr>
            <a:spAutoFit/>
          </a:bodyPr>
          <a:lstStyle/>
          <a:p>
            <a:r>
              <a:rPr lang="en-US" dirty="0">
                <a:latin typeface="Tahoma" pitchFamily="34" charset="0"/>
              </a:rPr>
              <a:t>Some properties of ionic crystals, </a:t>
            </a:r>
          </a:p>
        </p:txBody>
      </p:sp>
      <p:sp>
        <p:nvSpPr>
          <p:cNvPr id="53253" name="Text Box 5"/>
          <p:cNvSpPr txBox="1">
            <a:spLocks noChangeArrowheads="1"/>
          </p:cNvSpPr>
          <p:nvPr/>
        </p:nvSpPr>
        <p:spPr bwMode="auto">
          <a:xfrm>
            <a:off x="990600" y="1295400"/>
            <a:ext cx="4267200" cy="822325"/>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They have moderately high melting points. </a:t>
            </a:r>
          </a:p>
        </p:txBody>
      </p:sp>
      <p:sp>
        <p:nvSpPr>
          <p:cNvPr id="53254" name="Text Box 6"/>
          <p:cNvSpPr txBox="1">
            <a:spLocks noChangeArrowheads="1"/>
          </p:cNvSpPr>
          <p:nvPr/>
        </p:nvSpPr>
        <p:spPr bwMode="auto">
          <a:xfrm>
            <a:off x="990600" y="2530475"/>
            <a:ext cx="4191000" cy="822325"/>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They are brittle due to charge ordering in planes.</a:t>
            </a:r>
          </a:p>
        </p:txBody>
      </p:sp>
      <p:sp>
        <p:nvSpPr>
          <p:cNvPr id="53255" name="Text Box 7"/>
          <p:cNvSpPr txBox="1">
            <a:spLocks noChangeArrowheads="1"/>
          </p:cNvSpPr>
          <p:nvPr/>
        </p:nvSpPr>
        <p:spPr bwMode="auto">
          <a:xfrm>
            <a:off x="990600" y="3733800"/>
            <a:ext cx="4191000" cy="822325"/>
          </a:xfrm>
          <a:prstGeom prst="rect">
            <a:avLst/>
          </a:prstGeom>
          <a:noFill/>
          <a:ln w="9525" algn="ctr">
            <a:noFill/>
            <a:miter lim="800000"/>
            <a:headEnd/>
            <a:tailEnd/>
          </a:ln>
          <a:effectLst/>
        </p:spPr>
        <p:txBody>
          <a:bodyPr>
            <a:spAutoFit/>
          </a:bodyPr>
          <a:lstStyle/>
          <a:p>
            <a:r>
              <a:rPr lang="en-US">
                <a:latin typeface="Tahoma" pitchFamily="34" charset="0"/>
                <a:sym typeface="Symbol" pitchFamily="18" charset="2"/>
              </a:rPr>
              <a:t>•</a:t>
            </a:r>
            <a:r>
              <a:rPr lang="en-US">
                <a:latin typeface="Tahoma" pitchFamily="34" charset="0"/>
              </a:rPr>
              <a:t> They are soluble in polar fluids.</a:t>
            </a:r>
          </a:p>
        </p:txBody>
      </p:sp>
      <p:pic>
        <p:nvPicPr>
          <p:cNvPr id="53256" name="Picture 8" descr="Halite">
            <a:hlinkClick r:id="rId2"/>
          </p:cNvPr>
          <p:cNvPicPr>
            <a:picLocks noChangeAspect="1" noChangeArrowheads="1"/>
          </p:cNvPicPr>
          <p:nvPr/>
        </p:nvPicPr>
        <p:blipFill>
          <a:blip r:embed="rId3"/>
          <a:srcRect/>
          <a:stretch>
            <a:fillRect/>
          </a:stretch>
        </p:blipFill>
        <p:spPr bwMode="auto">
          <a:xfrm>
            <a:off x="5334000" y="1476375"/>
            <a:ext cx="3429000" cy="2943225"/>
          </a:xfrm>
          <a:prstGeom prst="rect">
            <a:avLst/>
          </a:prstGeom>
          <a:noFill/>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25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2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3" grpId="0"/>
      <p:bldP spid="53254" grpId="0"/>
      <p:bldP spid="53255" grpId="0"/>
    </p:bld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1"/>
          <p:cNvSpPr>
            <a:spLocks noGrp="1"/>
          </p:cNvSpPr>
          <p:nvPr>
            <p:ph idx="1"/>
          </p:nvPr>
        </p:nvSpPr>
        <p:spPr/>
        <p:txBody>
          <a:bodyPr/>
          <a:lstStyle/>
          <a:p>
            <a:r>
              <a:rPr lang="en-US" smtClean="0"/>
              <a:t>Solids are a state of matter that are usually highly ordered.  The chemical and physical properties of the solid depend on the detail of this ordering. </a:t>
            </a:r>
          </a:p>
          <a:p>
            <a:r>
              <a:rPr lang="en-US" smtClean="0"/>
              <a:t>Elemental carbon can have two different solid phases with differing spatial (position) ordering and vastly different solid properties. </a:t>
            </a:r>
          </a:p>
        </p:txBody>
      </p:sp>
      <p:sp>
        <p:nvSpPr>
          <p:cNvPr id="3" name="Title 2"/>
          <p:cNvSpPr>
            <a:spLocks noGrp="1"/>
          </p:cNvSpPr>
          <p:nvPr>
            <p:ph type="title"/>
          </p:nvPr>
        </p:nvSpPr>
        <p:spPr/>
        <p:txBody>
          <a:bodyPr/>
          <a:lstStyle/>
          <a:p>
            <a:pPr>
              <a:defRPr/>
            </a:pPr>
            <a:r>
              <a:rPr lang="en-US" dirty="0" smtClean="0"/>
              <a:t>Solid State Chemistry</a:t>
            </a:r>
            <a:endParaRPr lang="en-US" dirty="0"/>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838200"/>
            <a:ext cx="8229600" cy="4525963"/>
          </a:xfrm>
        </p:spPr>
        <p:txBody>
          <a:bodyPr>
            <a:normAutofit fontScale="85000" lnSpcReduction="10000"/>
          </a:bodyPr>
          <a:lstStyle/>
          <a:p>
            <a:pPr>
              <a:defRPr/>
            </a:pPr>
            <a:r>
              <a:rPr lang="en-US" dirty="0" smtClean="0"/>
              <a:t>Two such allotropes of Carbon are Diamond and Graphite (sp3 and sp2)</a:t>
            </a:r>
          </a:p>
          <a:p>
            <a:pPr>
              <a:defRPr/>
            </a:pPr>
            <a:endParaRPr lang="en-US" dirty="0"/>
          </a:p>
          <a:p>
            <a:pPr>
              <a:defRPr/>
            </a:pPr>
            <a:endParaRPr lang="en-US" dirty="0" smtClean="0"/>
          </a:p>
          <a:p>
            <a:pPr>
              <a:defRPr/>
            </a:pPr>
            <a:endParaRPr lang="en-US" dirty="0"/>
          </a:p>
          <a:p>
            <a:pPr>
              <a:defRPr/>
            </a:pPr>
            <a:endParaRPr lang="en-US" dirty="0" smtClean="0"/>
          </a:p>
          <a:p>
            <a:pPr>
              <a:defRPr/>
            </a:pPr>
            <a:endParaRPr lang="en-US" dirty="0" smtClean="0"/>
          </a:p>
          <a:p>
            <a:pPr>
              <a:defRPr/>
            </a:pPr>
            <a:endParaRPr lang="en-US" dirty="0" smtClean="0"/>
          </a:p>
          <a:p>
            <a:pPr marL="109537" indent="0">
              <a:buFont typeface="Wingdings 3" pitchFamily="18" charset="2"/>
              <a:buNone/>
              <a:defRPr/>
            </a:pPr>
            <a:r>
              <a:rPr lang="en-US" sz="2400" dirty="0" smtClean="0"/>
              <a:t>In </a:t>
            </a:r>
            <a:r>
              <a:rPr lang="en-US" sz="2400" dirty="0"/>
              <a:t>carbon, the bonding in the solid forms is highly directional and dictates the long ranges order. In metals, the bonding is non-directional and often the solid structure is determined by atomic 'packing'. </a:t>
            </a:r>
          </a:p>
          <a:p>
            <a:pPr>
              <a:defRPr/>
            </a:pPr>
            <a:endParaRPr lang="en-US" dirty="0" smtClean="0"/>
          </a:p>
          <a:p>
            <a:pPr>
              <a:defRPr/>
            </a:pPr>
            <a:endParaRPr lang="en-US" dirty="0"/>
          </a:p>
        </p:txBody>
      </p:sp>
      <p:sp>
        <p:nvSpPr>
          <p:cNvPr id="3" name="Title 2"/>
          <p:cNvSpPr>
            <a:spLocks noGrp="1"/>
          </p:cNvSpPr>
          <p:nvPr>
            <p:ph type="title"/>
          </p:nvPr>
        </p:nvSpPr>
        <p:spPr>
          <a:xfrm>
            <a:off x="0" y="0"/>
            <a:ext cx="8229600" cy="1143000"/>
          </a:xfrm>
        </p:spPr>
        <p:txBody>
          <a:bodyPr/>
          <a:lstStyle/>
          <a:p>
            <a:pPr>
              <a:defRPr/>
            </a:pPr>
            <a:r>
              <a:rPr lang="en-US" dirty="0" smtClean="0"/>
              <a:t>Diamond </a:t>
            </a:r>
            <a:r>
              <a:rPr lang="en-US" dirty="0" err="1" smtClean="0"/>
              <a:t>vs</a:t>
            </a:r>
            <a:r>
              <a:rPr lang="en-US" dirty="0" smtClean="0"/>
              <a:t> Graphite</a:t>
            </a:r>
            <a:endParaRPr lang="en-US" dirty="0"/>
          </a:p>
        </p:txBody>
      </p:sp>
      <p:pic>
        <p:nvPicPr>
          <p:cNvPr id="11268" name="Picture 2"/>
          <p:cNvPicPr>
            <a:picLocks noChangeAspect="1" noChangeArrowheads="1"/>
          </p:cNvPicPr>
          <p:nvPr/>
        </p:nvPicPr>
        <p:blipFill>
          <a:blip r:embed="rId2"/>
          <a:srcRect l="6415" t="11247" r="4002" b="13792"/>
          <a:stretch>
            <a:fillRect/>
          </a:stretch>
        </p:blipFill>
        <p:spPr bwMode="auto">
          <a:xfrm>
            <a:off x="2252663" y="1855788"/>
            <a:ext cx="4757737" cy="2681287"/>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Solids</a:t>
            </a:r>
            <a:endParaRPr lang="en-US" dirty="0"/>
          </a:p>
        </p:txBody>
      </p:sp>
      <p:sp>
        <p:nvSpPr>
          <p:cNvPr id="3" name="Rectangle 2"/>
          <p:cNvSpPr/>
          <p:nvPr/>
        </p:nvSpPr>
        <p:spPr>
          <a:xfrm>
            <a:off x="381000" y="1447800"/>
            <a:ext cx="4572000" cy="1200150"/>
          </a:xfrm>
          <a:prstGeom prst="rect">
            <a:avLst/>
          </a:prstGeom>
        </p:spPr>
        <p:txBody>
          <a:bodyPr>
            <a:spAutoFit/>
          </a:bodyPr>
          <a:lstStyle/>
          <a:p>
            <a:pPr fontAlgn="auto">
              <a:spcBef>
                <a:spcPts val="0"/>
              </a:spcBef>
              <a:spcAft>
                <a:spcPts val="0"/>
              </a:spcAft>
              <a:buFont typeface="Wingdings" pitchFamily="2" charset="2"/>
              <a:buChar char="Ø"/>
              <a:defRPr/>
            </a:pPr>
            <a:r>
              <a:rPr lang="en-US" sz="3600" dirty="0">
                <a:solidFill>
                  <a:schemeClr val="accent1">
                    <a:lumMod val="75000"/>
                  </a:schemeClr>
                </a:solidFill>
                <a:latin typeface="+mn-lt"/>
              </a:rPr>
              <a:t> Crystalline </a:t>
            </a:r>
          </a:p>
          <a:p>
            <a:pPr fontAlgn="auto">
              <a:spcBef>
                <a:spcPts val="0"/>
              </a:spcBef>
              <a:spcAft>
                <a:spcPts val="0"/>
              </a:spcAft>
              <a:buFont typeface="Wingdings" pitchFamily="2" charset="2"/>
              <a:buChar char="Ø"/>
              <a:defRPr/>
            </a:pPr>
            <a:r>
              <a:rPr lang="en-US" sz="3600" dirty="0">
                <a:solidFill>
                  <a:schemeClr val="accent1">
                    <a:lumMod val="75000"/>
                  </a:schemeClr>
                </a:solidFill>
                <a:latin typeface="+mn-lt"/>
              </a:rPr>
              <a:t> Amorphous</a:t>
            </a:r>
          </a:p>
        </p:txBody>
      </p:sp>
      <p:graphicFrame>
        <p:nvGraphicFramePr>
          <p:cNvPr id="1026" name="Object 2"/>
          <p:cNvGraphicFramePr>
            <a:graphicFrameLocks noChangeAspect="1"/>
          </p:cNvGraphicFramePr>
          <p:nvPr/>
        </p:nvGraphicFramePr>
        <p:xfrm>
          <a:off x="533400" y="3295650"/>
          <a:ext cx="1724025" cy="1962150"/>
        </p:xfrm>
        <a:graphic>
          <a:graphicData uri="http://schemas.openxmlformats.org/presentationml/2006/ole">
            <mc:AlternateContent xmlns:mc="http://schemas.openxmlformats.org/markup-compatibility/2006">
              <mc:Choice xmlns:v="urn:schemas-microsoft-com:vml" Requires="v">
                <p:oleObj spid="_x0000_s67597" name="Bitmap Image" r:id="rId3" imgW="1724266" imgH="1961905" progId="PBrush">
                  <p:embed/>
                </p:oleObj>
              </mc:Choice>
              <mc:Fallback>
                <p:oleObj name="Bitmap Image" r:id="rId3" imgW="1724266" imgH="1961905"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295650"/>
                        <a:ext cx="1724025"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 Box 5"/>
          <p:cNvSpPr txBox="1">
            <a:spLocks noChangeArrowheads="1"/>
          </p:cNvSpPr>
          <p:nvPr/>
        </p:nvSpPr>
        <p:spPr bwMode="auto">
          <a:xfrm>
            <a:off x="2362200" y="3276600"/>
            <a:ext cx="4343400" cy="830263"/>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dirty="0">
                <a:solidFill>
                  <a:schemeClr val="accent1">
                    <a:lumMod val="75000"/>
                  </a:schemeClr>
                </a:solidFill>
                <a:latin typeface="+mn-lt"/>
              </a:rPr>
              <a:t>Crystalline has long range order</a:t>
            </a:r>
          </a:p>
        </p:txBody>
      </p:sp>
      <p:sp>
        <p:nvSpPr>
          <p:cNvPr id="6" name="Text Box 6"/>
          <p:cNvSpPr txBox="1">
            <a:spLocks noChangeArrowheads="1"/>
          </p:cNvSpPr>
          <p:nvPr/>
        </p:nvSpPr>
        <p:spPr bwMode="auto">
          <a:xfrm>
            <a:off x="2362200" y="4419600"/>
            <a:ext cx="5715000" cy="830263"/>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dirty="0">
                <a:solidFill>
                  <a:schemeClr val="accent1">
                    <a:lumMod val="75000"/>
                  </a:schemeClr>
                </a:solidFill>
                <a:latin typeface="+mn-lt"/>
              </a:rPr>
              <a:t>Amorphous materials have short range order</a:t>
            </a:r>
          </a:p>
        </p:txBody>
      </p:sp>
      <p:sp>
        <p:nvSpPr>
          <p:cNvPr id="12295" name="Rectangle 7"/>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solidFill>
                  <a:schemeClr val="bg1"/>
                </a:solidFill>
                <a:latin typeface="Lucida Sans Unicode" pitchFamily="34" charset="0"/>
              </a:rPr>
              <a:t>203.199.213.48/834/1/</a:t>
            </a:r>
            <a:r>
              <a:rPr lang="en-US" sz="1000" b="1" i="1">
                <a:solidFill>
                  <a:schemeClr val="bg1"/>
                </a:solidFill>
                <a:latin typeface="Lucida Sans Unicode" pitchFamily="34" charset="0"/>
              </a:rPr>
              <a:t>Structuresofsolids</a:t>
            </a:r>
            <a:r>
              <a:rPr lang="en-US" sz="1000" i="1">
                <a:solidFill>
                  <a:schemeClr val="bg1"/>
                </a:solidFill>
                <a:latin typeface="Lucida Sans Unicode" pitchFamily="34" charset="0"/>
              </a:rPr>
              <a:t>.</a:t>
            </a:r>
            <a:r>
              <a:rPr lang="en-US" sz="1000" b="1" i="1">
                <a:solidFill>
                  <a:schemeClr val="bg1"/>
                </a:solidFill>
                <a:latin typeface="Lucida Sans Unicode" pitchFamily="34" charset="0"/>
              </a:rPr>
              <a:t>ppt</a:t>
            </a:r>
            <a:endParaRPr lang="en-US" sz="1000">
              <a:solidFill>
                <a:schemeClr val="bg1"/>
              </a:solidFill>
              <a:latin typeface="Lucida Sans Unicode" pitchFamily="34" charset="0"/>
            </a:endParaRP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linds(horizontal)">
                                      <p:cBhvr>
                                        <p:cTn id="12" dur="500"/>
                                        <p:tgtEl>
                                          <p:spTgt spid="10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71"/>
          <p:cNvGraphicFramePr>
            <a:graphicFrameLocks noGrp="1"/>
          </p:cNvGraphicFramePr>
          <p:nvPr/>
        </p:nvGraphicFramePr>
        <p:xfrm>
          <a:off x="0" y="0"/>
          <a:ext cx="9144000" cy="6577584"/>
        </p:xfrm>
        <a:graphic>
          <a:graphicData uri="http://schemas.openxmlformats.org/drawingml/2006/table">
            <a:tbl>
              <a:tblPr>
                <a:tableStyleId>{3C2FFA5D-87B4-456A-9821-1D502468CF0F}</a:tableStyleId>
              </a:tblPr>
              <a:tblGrid>
                <a:gridCol w="1426128"/>
                <a:gridCol w="1240872"/>
                <a:gridCol w="1695276"/>
                <a:gridCol w="3299669"/>
                <a:gridCol w="1482055"/>
              </a:tblGrid>
              <a:tr h="60959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Crystal Type</a:t>
                      </a:r>
                      <a:endParaRPr kumimoji="0" lang="en-US" sz="1800" b="0" i="0" u="none" strike="noStrike" cap="none" normalizeH="0" baseline="0" dirty="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Particles</a:t>
                      </a:r>
                      <a:endParaRPr kumimoji="0" lang="en-US" sz="1800" b="0" i="0" u="none" strike="noStrike" cap="none" normalizeH="0" baseline="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Interparticle Forces</a:t>
                      </a:r>
                      <a:endParaRPr kumimoji="0" lang="en-US" sz="1800" b="0" i="0" u="none" strike="noStrike" cap="none" normalizeH="0" baseline="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smtClean="0">
                          <a:ln>
                            <a:noFill/>
                          </a:ln>
                          <a:effectLst/>
                        </a:rPr>
                        <a:t>Physical Behaviour</a:t>
                      </a:r>
                      <a:endParaRPr kumimoji="0" lang="en-US" sz="1800" b="0" i="0" u="none" strike="noStrike" cap="none" normalizeH="0" baseline="0" smtClean="0">
                        <a:ln>
                          <a:noFill/>
                        </a:ln>
                        <a:solidFill>
                          <a:srgbClr val="CC0000"/>
                        </a:solidFill>
                        <a:effectLst/>
                        <a:latin typeface="Times New Roman" pitchFamily="18" charset="0"/>
                      </a:endParaRPr>
                    </a:p>
                  </a:txBody>
                  <a:tcPr horzOverflow="overflow">
                    <a:solidFill>
                      <a:srgbClr val="FFFF00"/>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u="none" strike="noStrike" cap="none" normalizeH="0" baseline="0" dirty="0" smtClean="0">
                          <a:ln>
                            <a:noFill/>
                          </a:ln>
                          <a:effectLst/>
                        </a:rPr>
                        <a:t>Examples</a:t>
                      </a:r>
                      <a:endParaRPr kumimoji="0" lang="en-US" sz="1800" b="0" i="0" u="none" strike="noStrike" cap="none" normalizeH="0" baseline="0" dirty="0" smtClean="0">
                        <a:ln>
                          <a:noFill/>
                        </a:ln>
                        <a:solidFill>
                          <a:srgbClr val="CC0000"/>
                        </a:solidFill>
                        <a:effectLst/>
                        <a:latin typeface="Times New Roman" pitchFamily="18" charset="0"/>
                      </a:endParaRPr>
                    </a:p>
                  </a:txBody>
                  <a:tcPr horzOverflow="overflow">
                    <a:solidFill>
                      <a:srgbClr val="FFFF00"/>
                    </a:solidFill>
                  </a:tcPr>
                </a:tc>
              </a:tr>
              <a:tr h="51577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Atomic</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Molecular</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Metallic</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Ionic</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Network</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dirty="0" smtClean="0">
                        <a:ln>
                          <a:noFill/>
                        </a:ln>
                        <a:solidFill>
                          <a:srgbClr val="CC3300"/>
                        </a:solidFill>
                        <a:effectLst/>
                        <a:latin typeface="Times New Roman"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Molecules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Positive and negative ions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Atoms</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Dispersion</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Dispersion</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Dipole-dipole</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H-bonds</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Metallic bond</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Ion-ion attraction</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Covalent</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c>
                  <a:txBody>
                    <a:bodyPr/>
                    <a:lstStyle/>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Soft</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Very low mp</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Poor thermal and electrical   conductors</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r>
                        <a:rPr kumimoji="0" lang="en-US" sz="1400" u="none" strike="noStrike" cap="none" normalizeH="0" baseline="0" dirty="0" smtClean="0">
                          <a:ln>
                            <a:noFill/>
                          </a:ln>
                          <a:effectLst/>
                        </a:rPr>
                        <a:t> Fairly soft</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r>
                        <a:rPr kumimoji="0" lang="en-US" sz="1400" u="none" strike="noStrike" cap="none" normalizeH="0" baseline="0" dirty="0" smtClean="0">
                          <a:ln>
                            <a:noFill/>
                          </a:ln>
                          <a:effectLst/>
                        </a:rPr>
                        <a:t> Low to moderate mp</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r>
                        <a:rPr kumimoji="0" lang="en-US" sz="1400" u="none" strike="noStrike" cap="none" normalizeH="0" baseline="0" dirty="0" smtClean="0">
                          <a:ln>
                            <a:noFill/>
                          </a:ln>
                          <a:effectLst/>
                        </a:rPr>
                        <a:t> Poor thermal and electrical conductors</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Ø"/>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Soft to hard</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Low to very high mp</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a:t>
                      </a:r>
                      <a:r>
                        <a:rPr kumimoji="0" lang="en-US" sz="1400" u="none" strike="noStrike" cap="none" normalizeH="0" baseline="0" dirty="0" err="1" smtClean="0">
                          <a:ln>
                            <a:noFill/>
                          </a:ln>
                          <a:effectLst/>
                        </a:rPr>
                        <a:t>Mellable</a:t>
                      </a:r>
                      <a:r>
                        <a:rPr kumimoji="0" lang="en-US" sz="1400" u="none" strike="noStrike" cap="none" normalizeH="0" baseline="0" dirty="0" smtClean="0">
                          <a:ln>
                            <a:noFill/>
                          </a:ln>
                          <a:effectLst/>
                        </a:rPr>
                        <a:t> and ductile</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q"/>
                        <a:tabLst/>
                      </a:pPr>
                      <a:r>
                        <a:rPr kumimoji="0" lang="en-US" sz="1400" u="none" strike="noStrike" cap="none" normalizeH="0" baseline="0" dirty="0" smtClean="0">
                          <a:ln>
                            <a:noFill/>
                          </a:ln>
                          <a:effectLst/>
                        </a:rPr>
                        <a:t> Excellent thermal and electrical conductors</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r>
                        <a:rPr kumimoji="0" lang="en-US" sz="1400" u="none" strike="noStrike" cap="none" normalizeH="0" baseline="0" dirty="0" smtClean="0">
                          <a:ln>
                            <a:noFill/>
                          </a:ln>
                          <a:effectLst/>
                        </a:rPr>
                        <a:t> Hard and brittle </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r>
                        <a:rPr kumimoji="0" lang="en-US" sz="1400" u="none" strike="noStrike" cap="none" normalizeH="0" baseline="0" dirty="0" smtClean="0">
                          <a:ln>
                            <a:noFill/>
                          </a:ln>
                          <a:effectLst/>
                        </a:rPr>
                        <a:t> High mp</a:t>
                      </a:r>
                    </a:p>
                    <a:p>
                      <a:pPr marL="0" marR="0" lvl="0" indent="0" algn="just" defTabSz="914400" rtl="0" eaLnBrk="1" fontAlgn="base" latinLnBrk="0" hangingPunct="1">
                        <a:lnSpc>
                          <a:spcPct val="100000"/>
                        </a:lnSpc>
                        <a:spcBef>
                          <a:spcPct val="20000"/>
                        </a:spcBef>
                        <a:spcAft>
                          <a:spcPct val="0"/>
                        </a:spcAft>
                        <a:buClrTx/>
                        <a:buSzTx/>
                        <a:buFont typeface="Wingdings" pitchFamily="2" charset="2"/>
                        <a:buChar char="v"/>
                        <a:tabLst/>
                      </a:pPr>
                      <a:r>
                        <a:rPr kumimoji="0" lang="en-US" sz="1400" u="none" strike="noStrike" cap="none" normalizeH="0" baseline="0" dirty="0" smtClean="0">
                          <a:ln>
                            <a:noFill/>
                          </a:ln>
                          <a:effectLst/>
                        </a:rPr>
                        <a:t> Good thermal and electrical conductors in molten condition</a:t>
                      </a:r>
                    </a:p>
                    <a:p>
                      <a:pPr marL="0" marR="0" lvl="0" indent="0" algn="just" defTabSz="914400" rtl="0" eaLnBrk="1" fontAlgn="base" latinLnBrk="0" hangingPunct="1">
                        <a:lnSpc>
                          <a:spcPct val="100000"/>
                        </a:lnSpc>
                        <a:spcBef>
                          <a:spcPct val="20000"/>
                        </a:spcBef>
                        <a:spcAft>
                          <a:spcPct val="0"/>
                        </a:spcAft>
                        <a:buClrTx/>
                        <a:buSzTx/>
                        <a:buFontTx/>
                        <a:buChar char="•"/>
                        <a:tabLst/>
                      </a:pPr>
                      <a:endParaRPr kumimoji="0" lang="en-US" sz="1400" u="none" strike="noStrike" cap="none" normalizeH="0" baseline="0" dirty="0" smtClean="0">
                        <a:ln>
                          <a:noFill/>
                        </a:ln>
                        <a:effectLst/>
                      </a:endParaRP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Very hard</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Very high mp</a:t>
                      </a:r>
                    </a:p>
                    <a:p>
                      <a:pPr marL="0" marR="0" lvl="0" indent="0" algn="just" defTabSz="914400" rtl="0" eaLnBrk="1" fontAlgn="base" latinLnBrk="0" hangingPunct="1">
                        <a:lnSpc>
                          <a:spcPct val="100000"/>
                        </a:lnSpc>
                        <a:spcBef>
                          <a:spcPct val="20000"/>
                        </a:spcBef>
                        <a:spcAft>
                          <a:spcPct val="0"/>
                        </a:spcAft>
                        <a:buClrTx/>
                        <a:buSzTx/>
                        <a:buFontTx/>
                        <a:buChar char="•"/>
                        <a:tabLst/>
                      </a:pPr>
                      <a:r>
                        <a:rPr kumimoji="0" lang="en-US" sz="1400" u="none" strike="noStrike" cap="none" normalizeH="0" baseline="0" dirty="0" smtClean="0">
                          <a:ln>
                            <a:noFill/>
                          </a:ln>
                          <a:effectLst/>
                        </a:rPr>
                        <a:t> Poor thermal and electrical conductors</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Group 8A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Ne to </a:t>
                      </a:r>
                      <a:r>
                        <a:rPr kumimoji="0" lang="en-US" sz="1400" u="none" strike="noStrike" cap="none" normalizeH="0" baseline="0" dirty="0" err="1" smtClean="0">
                          <a:ln>
                            <a:noFill/>
                          </a:ln>
                          <a:effectLst/>
                        </a:rPr>
                        <a:t>Rn</a:t>
                      </a: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O</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 P</a:t>
                      </a:r>
                      <a:r>
                        <a:rPr kumimoji="0" lang="en-US" sz="1400" u="none" strike="noStrike" cap="none" normalizeH="0" baseline="-25000" dirty="0" smtClean="0">
                          <a:ln>
                            <a:noFill/>
                          </a:ln>
                          <a:effectLst/>
                        </a:rPr>
                        <a:t>4</a:t>
                      </a:r>
                      <a:r>
                        <a:rPr kumimoji="0" lang="en-US" sz="1400" u="none" strike="noStrike" cap="none" normalizeH="0" baseline="0" dirty="0" smtClean="0">
                          <a:ln>
                            <a:noFill/>
                          </a:ln>
                          <a:effectLst/>
                        </a:rPr>
                        <a:t>, H</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O, Sucrose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Na, Cu, Fe</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err="1" smtClean="0">
                          <a:ln>
                            <a:noFill/>
                          </a:ln>
                          <a:effectLst/>
                        </a:rPr>
                        <a:t>NaCl</a:t>
                      </a:r>
                      <a:r>
                        <a:rPr kumimoji="0" lang="en-US" sz="1400" u="none" strike="noStrike" cap="none" normalizeH="0" baseline="0" dirty="0" smtClean="0">
                          <a:ln>
                            <a:noFill/>
                          </a:ln>
                          <a:effectLst/>
                        </a:rPr>
                        <a:t>, CaF</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 </a:t>
                      </a:r>
                      <a:r>
                        <a:rPr kumimoji="0" lang="en-US" sz="1400" u="none" strike="noStrike" cap="none" normalizeH="0" baseline="0" dirty="0" err="1" smtClean="0">
                          <a:ln>
                            <a:noFill/>
                          </a:ln>
                          <a:effectLst/>
                        </a:rPr>
                        <a:t>MgO</a:t>
                      </a: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400" u="none" strike="noStrike" cap="none" normalizeH="0" baseline="0" dirty="0" smtClean="0">
                        <a:ln>
                          <a:noFill/>
                        </a:ln>
                        <a:effectLst/>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SiO</a:t>
                      </a:r>
                      <a:r>
                        <a:rPr kumimoji="0" lang="en-US" sz="1400" u="none" strike="noStrike" cap="none" normalizeH="0" baseline="-25000" dirty="0" smtClean="0">
                          <a:ln>
                            <a:noFill/>
                          </a:ln>
                          <a:effectLst/>
                        </a:rPr>
                        <a:t>2</a:t>
                      </a:r>
                      <a:r>
                        <a:rPr kumimoji="0" lang="en-US" sz="1400" u="none" strike="noStrike" cap="none" normalizeH="0" baseline="0" dirty="0" smtClean="0">
                          <a:ln>
                            <a:noFill/>
                          </a:ln>
                          <a:effectLst/>
                        </a:rPr>
                        <a:t>(Quartz)</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u="none" strike="noStrike" cap="none" normalizeH="0" baseline="0" dirty="0" smtClean="0">
                          <a:ln>
                            <a:noFill/>
                          </a:ln>
                          <a:effectLst/>
                        </a:rPr>
                        <a:t>C (Diamond)</a:t>
                      </a:r>
                      <a:endParaRPr kumimoji="0" lang="en-US" sz="1400" b="0" i="0" u="none" strike="noStrike" cap="none" normalizeH="0" baseline="0" dirty="0" smtClean="0">
                        <a:ln>
                          <a:noFill/>
                        </a:ln>
                        <a:solidFill>
                          <a:srgbClr val="333399"/>
                        </a:solidFill>
                        <a:effectLst/>
                        <a:latin typeface="Times New Roman" pitchFamily="18" charset="0"/>
                      </a:endParaRPr>
                    </a:p>
                  </a:txBody>
                  <a:tcPr horzOverflow="overflow"/>
                </a:tc>
              </a:tr>
            </a:tbl>
          </a:graphicData>
        </a:graphic>
      </p:graphicFrame>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3"/>
          <p:cNvSpPr txBox="1">
            <a:spLocks noGrp="1" noChangeArrowheads="1"/>
          </p:cNvSpPr>
          <p:nvPr>
            <p:ph type="title"/>
          </p:nvPr>
        </p:nvSpPr>
        <p:spPr bwMode="auto">
          <a:xfrm>
            <a:off x="0" y="228600"/>
            <a:ext cx="8229600" cy="523220"/>
          </a:xfrm>
          <a:ln>
            <a:miter lim="800000"/>
            <a:headEnd/>
            <a:tailEnd/>
          </a:ln>
        </p:spPr>
        <p:txBody>
          <a:bodyPr>
            <a:spAutoFit/>
          </a:bodyPr>
          <a:lstStyle/>
          <a:p>
            <a:pPr eaLnBrk="1" fontAlgn="auto" hangingPunct="1">
              <a:spcBef>
                <a:spcPct val="50000"/>
              </a:spcBef>
              <a:spcAft>
                <a:spcPts val="0"/>
              </a:spcAft>
              <a:defRPr/>
            </a:pPr>
            <a:r>
              <a:rPr lang="en-US" sz="2800">
                <a:solidFill>
                  <a:srgbClr val="FF6600"/>
                </a:solidFill>
              </a:rPr>
              <a:t>STRUCTURES OF CRYSTALLINE SOLID TYPES</a:t>
            </a:r>
          </a:p>
        </p:txBody>
      </p:sp>
      <p:grpSp>
        <p:nvGrpSpPr>
          <p:cNvPr id="2" name="Group 2"/>
          <p:cNvGrpSpPr>
            <a:grpSpLocks/>
          </p:cNvGrpSpPr>
          <p:nvPr/>
        </p:nvGrpSpPr>
        <p:grpSpPr bwMode="auto">
          <a:xfrm>
            <a:off x="381000" y="838200"/>
            <a:ext cx="8763000" cy="5486400"/>
            <a:chOff x="240" y="336"/>
            <a:chExt cx="5520" cy="3456"/>
          </a:xfrm>
        </p:grpSpPr>
        <p:pic>
          <p:nvPicPr>
            <p:cNvPr id="14341" name="Picture 3"/>
            <p:cNvPicPr>
              <a:picLocks noChangeAspect="1" noChangeArrowheads="1"/>
            </p:cNvPicPr>
            <p:nvPr/>
          </p:nvPicPr>
          <p:blipFill>
            <a:blip r:embed="rId3"/>
            <a:srcRect/>
            <a:stretch>
              <a:fillRect/>
            </a:stretch>
          </p:blipFill>
          <p:spPr bwMode="auto">
            <a:xfrm>
              <a:off x="432" y="336"/>
              <a:ext cx="1248" cy="1536"/>
            </a:xfrm>
            <a:prstGeom prst="rect">
              <a:avLst/>
            </a:prstGeom>
            <a:noFill/>
            <a:ln w="9525">
              <a:noFill/>
              <a:miter lim="800000"/>
              <a:headEnd/>
              <a:tailEnd/>
            </a:ln>
          </p:spPr>
        </p:pic>
        <p:pic>
          <p:nvPicPr>
            <p:cNvPr id="14342" name="Picture 4"/>
            <p:cNvPicPr>
              <a:picLocks noChangeAspect="1" noChangeArrowheads="1"/>
            </p:cNvPicPr>
            <p:nvPr/>
          </p:nvPicPr>
          <p:blipFill>
            <a:blip r:embed="rId4"/>
            <a:srcRect/>
            <a:stretch>
              <a:fillRect/>
            </a:stretch>
          </p:blipFill>
          <p:spPr bwMode="auto">
            <a:xfrm>
              <a:off x="2016" y="546"/>
              <a:ext cx="1488" cy="1278"/>
            </a:xfrm>
            <a:prstGeom prst="rect">
              <a:avLst/>
            </a:prstGeom>
            <a:noFill/>
            <a:ln w="9525">
              <a:noFill/>
              <a:miter lim="800000"/>
              <a:headEnd/>
              <a:tailEnd/>
            </a:ln>
          </p:spPr>
        </p:pic>
        <p:pic>
          <p:nvPicPr>
            <p:cNvPr id="14343" name="Picture 5"/>
            <p:cNvPicPr>
              <a:picLocks noChangeAspect="1" noChangeArrowheads="1"/>
            </p:cNvPicPr>
            <p:nvPr/>
          </p:nvPicPr>
          <p:blipFill>
            <a:blip r:embed="rId5"/>
            <a:srcRect/>
            <a:stretch>
              <a:fillRect/>
            </a:stretch>
          </p:blipFill>
          <p:spPr bwMode="auto">
            <a:xfrm>
              <a:off x="2160" y="2220"/>
              <a:ext cx="1267" cy="1284"/>
            </a:xfrm>
            <a:prstGeom prst="rect">
              <a:avLst/>
            </a:prstGeom>
            <a:noFill/>
            <a:ln w="9525">
              <a:noFill/>
              <a:miter lim="800000"/>
              <a:headEnd/>
              <a:tailEnd/>
            </a:ln>
          </p:spPr>
        </p:pic>
        <p:sp>
          <p:nvSpPr>
            <p:cNvPr id="42" name="Text Box 6"/>
            <p:cNvSpPr txBox="1">
              <a:spLocks noChangeArrowheads="1"/>
            </p:cNvSpPr>
            <p:nvPr/>
          </p:nvSpPr>
          <p:spPr bwMode="auto">
            <a:xfrm>
              <a:off x="240" y="1834"/>
              <a:ext cx="1536" cy="288"/>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b="1" kern="0">
                  <a:solidFill>
                    <a:srgbClr val="3333CC"/>
                  </a:solidFill>
                  <a:latin typeface="+mn-lt"/>
                </a:rPr>
                <a:t>Molecular Solids</a:t>
              </a:r>
            </a:p>
          </p:txBody>
        </p:sp>
        <p:sp>
          <p:nvSpPr>
            <p:cNvPr id="43" name="Text Box 7"/>
            <p:cNvSpPr txBox="1">
              <a:spLocks noChangeArrowheads="1"/>
            </p:cNvSpPr>
            <p:nvPr/>
          </p:nvSpPr>
          <p:spPr bwMode="auto">
            <a:xfrm>
              <a:off x="2112" y="1824"/>
              <a:ext cx="1728" cy="288"/>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b="1" kern="0">
                  <a:solidFill>
                    <a:srgbClr val="3333CC"/>
                  </a:solidFill>
                  <a:latin typeface="+mn-lt"/>
                </a:rPr>
                <a:t>Covalent Solids</a:t>
              </a:r>
            </a:p>
          </p:txBody>
        </p:sp>
        <p:sp>
          <p:nvSpPr>
            <p:cNvPr id="44" name="Text Box 8"/>
            <p:cNvSpPr txBox="1">
              <a:spLocks noChangeArrowheads="1"/>
            </p:cNvSpPr>
            <p:nvPr/>
          </p:nvSpPr>
          <p:spPr bwMode="auto">
            <a:xfrm>
              <a:off x="4080" y="1776"/>
              <a:ext cx="1248" cy="288"/>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sz="2400" b="1" kern="0">
                  <a:solidFill>
                    <a:srgbClr val="3333CC"/>
                  </a:solidFill>
                  <a:latin typeface="+mn-lt"/>
                </a:rPr>
                <a:t>Ionic solids</a:t>
              </a:r>
            </a:p>
          </p:txBody>
        </p:sp>
        <p:sp>
          <p:nvSpPr>
            <p:cNvPr id="45" name="Text Box 9"/>
            <p:cNvSpPr txBox="1">
              <a:spLocks noChangeArrowheads="1"/>
            </p:cNvSpPr>
            <p:nvPr/>
          </p:nvSpPr>
          <p:spPr bwMode="auto">
            <a:xfrm>
              <a:off x="2256" y="3504"/>
              <a:ext cx="1402" cy="288"/>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b="1" kern="0">
                  <a:solidFill>
                    <a:srgbClr val="3333CC"/>
                  </a:solidFill>
                  <a:latin typeface="+mn-lt"/>
                </a:rPr>
                <a:t>Metallic solids</a:t>
              </a:r>
            </a:p>
          </p:txBody>
        </p:sp>
        <p:sp>
          <p:nvSpPr>
            <p:cNvPr id="46" name="Text Box 10"/>
            <p:cNvSpPr txBox="1">
              <a:spLocks noChangeArrowheads="1"/>
            </p:cNvSpPr>
            <p:nvPr/>
          </p:nvSpPr>
          <p:spPr bwMode="auto">
            <a:xfrm>
              <a:off x="5376" y="921"/>
              <a:ext cx="384" cy="231"/>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b="1" kern="0">
                  <a:solidFill>
                    <a:srgbClr val="3333CC"/>
                  </a:solidFill>
                  <a:latin typeface="+mn-lt"/>
                </a:rPr>
                <a:t>Na</a:t>
              </a:r>
              <a:r>
                <a:rPr lang="en-US" b="1" kern="0" baseline="30000">
                  <a:solidFill>
                    <a:srgbClr val="3333CC"/>
                  </a:solidFill>
                  <a:latin typeface="+mn-lt"/>
                </a:rPr>
                <a:t>+</a:t>
              </a:r>
            </a:p>
          </p:txBody>
        </p:sp>
        <p:sp>
          <p:nvSpPr>
            <p:cNvPr id="47" name="Text Box 11"/>
            <p:cNvSpPr txBox="1">
              <a:spLocks noChangeArrowheads="1"/>
            </p:cNvSpPr>
            <p:nvPr/>
          </p:nvSpPr>
          <p:spPr bwMode="auto">
            <a:xfrm>
              <a:off x="5376" y="1152"/>
              <a:ext cx="384" cy="231"/>
            </a:xfrm>
            <a:prstGeom prst="rect">
              <a:avLst/>
            </a:prstGeom>
            <a:noFill/>
            <a:ln w="9525">
              <a:noFill/>
              <a:miter lim="800000"/>
              <a:headEnd/>
              <a:tailEnd/>
            </a:ln>
            <a:effectLst/>
          </p:spPr>
          <p:txBody>
            <a:bodyPr>
              <a:spAutoFit/>
            </a:bodyPr>
            <a:lstStyle/>
            <a:p>
              <a:pPr fontAlgn="auto">
                <a:spcBef>
                  <a:spcPct val="50000"/>
                </a:spcBef>
                <a:spcAft>
                  <a:spcPts val="0"/>
                </a:spcAft>
                <a:defRPr/>
              </a:pPr>
              <a:r>
                <a:rPr lang="en-US" b="1" kern="0">
                  <a:solidFill>
                    <a:srgbClr val="3333CC"/>
                  </a:solidFill>
                  <a:latin typeface="+mn-lt"/>
                </a:rPr>
                <a:t>Cl</a:t>
              </a:r>
              <a:r>
                <a:rPr lang="en-US" b="1" kern="0" baseline="30000">
                  <a:solidFill>
                    <a:srgbClr val="3333CC"/>
                  </a:solidFill>
                  <a:latin typeface="+mn-lt"/>
                </a:rPr>
                <a:t>-</a:t>
              </a:r>
            </a:p>
          </p:txBody>
        </p:sp>
        <p:graphicFrame>
          <p:nvGraphicFramePr>
            <p:cNvPr id="14350" name="Object 5"/>
            <p:cNvGraphicFramePr>
              <a:graphicFrameLocks noChangeAspect="1"/>
            </p:cNvGraphicFramePr>
            <p:nvPr/>
          </p:nvGraphicFramePr>
          <p:xfrm>
            <a:off x="3888" y="664"/>
            <a:ext cx="1488" cy="1034"/>
          </p:xfrm>
          <a:graphic>
            <a:graphicData uri="http://schemas.openxmlformats.org/presentationml/2006/ole">
              <mc:AlternateContent xmlns:mc="http://schemas.openxmlformats.org/markup-compatibility/2006">
                <mc:Choice xmlns:v="urn:schemas-microsoft-com:vml" Requires="v">
                  <p:oleObj spid="_x0000_s68621" name="Bitmap Image" r:id="rId6" imgW="1905266" imgH="1324160" progId="PBrush">
                    <p:embed/>
                  </p:oleObj>
                </mc:Choice>
                <mc:Fallback>
                  <p:oleObj name="Bitmap Image" r:id="rId6" imgW="1905266" imgH="1324160" progId="PBrush">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8" y="664"/>
                          <a:ext cx="1488" cy="1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4340" name="Rectangle 48"/>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solidFill>
                  <a:schemeClr val="bg1"/>
                </a:solidFill>
                <a:latin typeface="Lucida Sans Unicode" pitchFamily="34" charset="0"/>
              </a:rPr>
              <a:t>203.199.213.48/834/1/</a:t>
            </a:r>
            <a:r>
              <a:rPr lang="en-US" sz="1000" b="1" i="1">
                <a:solidFill>
                  <a:schemeClr val="bg1"/>
                </a:solidFill>
                <a:latin typeface="Lucida Sans Unicode" pitchFamily="34" charset="0"/>
              </a:rPr>
              <a:t>Structuresofsolids</a:t>
            </a:r>
            <a:r>
              <a:rPr lang="en-US" sz="1000" i="1">
                <a:solidFill>
                  <a:schemeClr val="bg1"/>
                </a:solidFill>
                <a:latin typeface="Lucida Sans Unicode" pitchFamily="34" charset="0"/>
              </a:rPr>
              <a:t>.</a:t>
            </a:r>
            <a:r>
              <a:rPr lang="en-US" sz="1000" b="1" i="1">
                <a:solidFill>
                  <a:schemeClr val="bg1"/>
                </a:solidFill>
                <a:latin typeface="Lucida Sans Unicode" pitchFamily="34" charset="0"/>
              </a:rPr>
              <a:t>ppt</a:t>
            </a:r>
            <a:endParaRPr lang="en-US" sz="1000">
              <a:solidFill>
                <a:schemeClr val="bg1"/>
              </a:solidFill>
              <a:latin typeface="Lucida Sans Unicode" pitchFamily="34" charset="0"/>
            </a:endParaRPr>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iamond"/>
          <p:cNvPicPr>
            <a:picLocks noChangeAspect="1" noChangeArrowheads="1"/>
          </p:cNvPicPr>
          <p:nvPr/>
        </p:nvPicPr>
        <p:blipFill>
          <a:blip r:embed="rId2"/>
          <a:srcRect/>
          <a:stretch>
            <a:fillRect/>
          </a:stretch>
        </p:blipFill>
        <p:spPr bwMode="auto">
          <a:xfrm>
            <a:off x="533400" y="0"/>
            <a:ext cx="3429000" cy="3051175"/>
          </a:xfrm>
          <a:prstGeom prst="rect">
            <a:avLst/>
          </a:prstGeom>
          <a:noFill/>
          <a:ln w="9525">
            <a:noFill/>
            <a:miter lim="800000"/>
            <a:headEnd/>
            <a:tailEnd/>
          </a:ln>
        </p:spPr>
      </p:pic>
      <p:sp>
        <p:nvSpPr>
          <p:cNvPr id="4" name="Text Box 3"/>
          <p:cNvSpPr txBox="1">
            <a:spLocks noChangeArrowheads="1"/>
          </p:cNvSpPr>
          <p:nvPr/>
        </p:nvSpPr>
        <p:spPr bwMode="auto">
          <a:xfrm>
            <a:off x="1584325" y="3048000"/>
            <a:ext cx="2378075" cy="457200"/>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a:solidFill>
                  <a:schemeClr val="accent1">
                    <a:lumMod val="75000"/>
                  </a:schemeClr>
                </a:solidFill>
                <a:latin typeface="+mn-lt"/>
              </a:rPr>
              <a:t>DIAMOND</a:t>
            </a:r>
          </a:p>
        </p:txBody>
      </p:sp>
      <p:pic>
        <p:nvPicPr>
          <p:cNvPr id="15364" name="Picture 4" descr="Quartz"/>
          <p:cNvPicPr>
            <a:picLocks noChangeAspect="1" noChangeArrowheads="1"/>
          </p:cNvPicPr>
          <p:nvPr/>
        </p:nvPicPr>
        <p:blipFill>
          <a:blip r:embed="rId3"/>
          <a:srcRect/>
          <a:stretch>
            <a:fillRect/>
          </a:stretch>
        </p:blipFill>
        <p:spPr bwMode="auto">
          <a:xfrm>
            <a:off x="4937125" y="-58738"/>
            <a:ext cx="3444875" cy="3049588"/>
          </a:xfrm>
          <a:prstGeom prst="rect">
            <a:avLst/>
          </a:prstGeom>
          <a:noFill/>
          <a:ln w="9525">
            <a:noFill/>
            <a:miter lim="800000"/>
            <a:headEnd/>
            <a:tailEnd/>
          </a:ln>
        </p:spPr>
      </p:pic>
      <p:sp>
        <p:nvSpPr>
          <p:cNvPr id="6" name="Text Box 5"/>
          <p:cNvSpPr txBox="1">
            <a:spLocks noChangeArrowheads="1"/>
          </p:cNvSpPr>
          <p:nvPr/>
        </p:nvSpPr>
        <p:spPr bwMode="auto">
          <a:xfrm>
            <a:off x="6003925" y="2971800"/>
            <a:ext cx="2073275" cy="457200"/>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a:solidFill>
                  <a:schemeClr val="accent1">
                    <a:lumMod val="75000"/>
                  </a:schemeClr>
                </a:solidFill>
                <a:latin typeface="+mn-lt"/>
              </a:rPr>
              <a:t>QUARTZ</a:t>
            </a:r>
          </a:p>
        </p:txBody>
      </p:sp>
      <p:pic>
        <p:nvPicPr>
          <p:cNvPr id="15366" name="Picture 6" descr="Graphite"/>
          <p:cNvPicPr>
            <a:picLocks noChangeAspect="1" noChangeArrowheads="1"/>
          </p:cNvPicPr>
          <p:nvPr/>
        </p:nvPicPr>
        <p:blipFill>
          <a:blip r:embed="rId4"/>
          <a:srcRect/>
          <a:stretch>
            <a:fillRect/>
          </a:stretch>
        </p:blipFill>
        <p:spPr bwMode="auto">
          <a:xfrm>
            <a:off x="2895600" y="3535363"/>
            <a:ext cx="3429000" cy="3017837"/>
          </a:xfrm>
          <a:prstGeom prst="rect">
            <a:avLst/>
          </a:prstGeom>
          <a:noFill/>
          <a:ln w="9525">
            <a:noFill/>
            <a:miter lim="800000"/>
            <a:headEnd/>
            <a:tailEnd/>
          </a:ln>
        </p:spPr>
      </p:pic>
      <p:sp>
        <p:nvSpPr>
          <p:cNvPr id="8" name="Text Box 7"/>
          <p:cNvSpPr txBox="1">
            <a:spLocks noChangeArrowheads="1"/>
          </p:cNvSpPr>
          <p:nvPr/>
        </p:nvSpPr>
        <p:spPr bwMode="auto">
          <a:xfrm>
            <a:off x="6400800" y="4613275"/>
            <a:ext cx="1997075" cy="457200"/>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2400">
                <a:solidFill>
                  <a:schemeClr val="accent1">
                    <a:lumMod val="75000"/>
                  </a:schemeClr>
                </a:solidFill>
                <a:latin typeface="+mn-lt"/>
              </a:rPr>
              <a:t>GRAPHITE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eaLnBrk="1" fontAlgn="auto" hangingPunct="1">
              <a:spcAft>
                <a:spcPts val="0"/>
              </a:spcAft>
              <a:defRPr/>
            </a:pPr>
            <a:r>
              <a:rPr lang="en-US" sz="4400" dirty="0" smtClean="0">
                <a:solidFill>
                  <a:schemeClr val="accent2"/>
                </a:solidFill>
              </a:rPr>
              <a:t>CRYSTAL STRUCTURE</a:t>
            </a:r>
            <a:br>
              <a:rPr lang="en-US" sz="4400" dirty="0" smtClean="0">
                <a:solidFill>
                  <a:schemeClr val="accent2"/>
                </a:solidFill>
              </a:rPr>
            </a:br>
            <a:endParaRPr lang="en-US" dirty="0"/>
          </a:p>
        </p:txBody>
      </p:sp>
      <p:sp>
        <p:nvSpPr>
          <p:cNvPr id="3" name="Rectangle 2"/>
          <p:cNvSpPr/>
          <p:nvPr/>
        </p:nvSpPr>
        <p:spPr>
          <a:xfrm>
            <a:off x="0" y="1066800"/>
            <a:ext cx="9144000" cy="1920875"/>
          </a:xfrm>
          <a:prstGeom prst="rect">
            <a:avLst/>
          </a:prstGeom>
        </p:spPr>
        <p:txBody>
          <a:bodyPr>
            <a:spAutoFit/>
          </a:bodyPr>
          <a:lstStyle/>
          <a:p>
            <a:pPr algn="just" fontAlgn="auto">
              <a:spcBef>
                <a:spcPts val="0"/>
              </a:spcBef>
              <a:spcAft>
                <a:spcPts val="0"/>
              </a:spcAft>
              <a:defRPr/>
            </a:pPr>
            <a:r>
              <a:rPr lang="en-US" b="1" dirty="0">
                <a:solidFill>
                  <a:schemeClr val="accent1">
                    <a:lumMod val="75000"/>
                  </a:schemeClr>
                </a:solidFill>
                <a:latin typeface="+mn-lt"/>
              </a:rPr>
              <a:t>Crystal structure</a:t>
            </a:r>
            <a:r>
              <a:rPr lang="en-US" dirty="0">
                <a:solidFill>
                  <a:schemeClr val="accent1">
                    <a:lumMod val="75000"/>
                  </a:schemeClr>
                </a:solidFill>
                <a:latin typeface="+mn-lt"/>
              </a:rPr>
              <a:t> is the </a:t>
            </a:r>
            <a:r>
              <a:rPr lang="en-US" b="1" dirty="0">
                <a:solidFill>
                  <a:schemeClr val="accent1">
                    <a:lumMod val="75000"/>
                  </a:schemeClr>
                </a:solidFill>
                <a:latin typeface="+mn-lt"/>
              </a:rPr>
              <a:t>periodic arrangement of atoms</a:t>
            </a:r>
            <a:r>
              <a:rPr lang="en-US" dirty="0">
                <a:solidFill>
                  <a:schemeClr val="accent1">
                    <a:lumMod val="75000"/>
                  </a:schemeClr>
                </a:solidFill>
                <a:latin typeface="+mn-lt"/>
              </a:rPr>
              <a:t> in the crystal. Association of each </a:t>
            </a:r>
            <a:r>
              <a:rPr lang="en-US" b="1" dirty="0">
                <a:solidFill>
                  <a:schemeClr val="accent1">
                    <a:lumMod val="75000"/>
                  </a:schemeClr>
                </a:solidFill>
                <a:latin typeface="+mn-lt"/>
              </a:rPr>
              <a:t>lattice point</a:t>
            </a:r>
            <a:r>
              <a:rPr lang="en-US" dirty="0">
                <a:solidFill>
                  <a:schemeClr val="accent1">
                    <a:lumMod val="75000"/>
                  </a:schemeClr>
                </a:solidFill>
                <a:latin typeface="+mn-lt"/>
              </a:rPr>
              <a:t> with a group of atoms(Basis or Motif).</a:t>
            </a:r>
          </a:p>
          <a:p>
            <a:pPr algn="just" fontAlgn="auto">
              <a:lnSpc>
                <a:spcPct val="30000"/>
              </a:lnSpc>
              <a:spcBef>
                <a:spcPts val="0"/>
              </a:spcBef>
              <a:spcAft>
                <a:spcPts val="0"/>
              </a:spcAft>
              <a:defRPr/>
            </a:pPr>
            <a:endParaRPr lang="en-US" dirty="0">
              <a:solidFill>
                <a:srgbClr val="FF3300"/>
              </a:solidFill>
              <a:latin typeface="+mn-lt"/>
            </a:endParaRPr>
          </a:p>
          <a:p>
            <a:pPr algn="just" fontAlgn="auto">
              <a:spcBef>
                <a:spcPts val="0"/>
              </a:spcBef>
              <a:spcAft>
                <a:spcPts val="0"/>
              </a:spcAft>
              <a:defRPr/>
            </a:pPr>
            <a:r>
              <a:rPr lang="en-US" b="1" dirty="0">
                <a:solidFill>
                  <a:schemeClr val="accent1">
                    <a:lumMod val="75000"/>
                  </a:schemeClr>
                </a:solidFill>
                <a:latin typeface="+mn-lt"/>
              </a:rPr>
              <a:t>Lattice</a:t>
            </a:r>
            <a:r>
              <a:rPr lang="en-US" dirty="0">
                <a:solidFill>
                  <a:schemeClr val="accent1">
                    <a:lumMod val="75000"/>
                  </a:schemeClr>
                </a:solidFill>
                <a:latin typeface="+mn-lt"/>
              </a:rPr>
              <a:t>: Infinite array of points in space, in which each point has identical surroundings to all others.</a:t>
            </a:r>
          </a:p>
          <a:p>
            <a:pPr algn="just" fontAlgn="auto">
              <a:lnSpc>
                <a:spcPct val="30000"/>
              </a:lnSpc>
              <a:spcBef>
                <a:spcPts val="0"/>
              </a:spcBef>
              <a:spcAft>
                <a:spcPts val="0"/>
              </a:spcAft>
              <a:defRPr/>
            </a:pPr>
            <a:endParaRPr lang="en-US" dirty="0">
              <a:solidFill>
                <a:srgbClr val="009400"/>
              </a:solidFill>
              <a:latin typeface="+mn-lt"/>
            </a:endParaRPr>
          </a:p>
          <a:p>
            <a:pPr algn="just" fontAlgn="auto">
              <a:spcBef>
                <a:spcPts val="0"/>
              </a:spcBef>
              <a:spcAft>
                <a:spcPts val="0"/>
              </a:spcAft>
              <a:defRPr/>
            </a:pPr>
            <a:r>
              <a:rPr lang="en-US" b="1" dirty="0">
                <a:solidFill>
                  <a:srgbClr val="CC9900"/>
                </a:solidFill>
                <a:latin typeface="+mn-lt"/>
              </a:rPr>
              <a:t>Space Lattice</a:t>
            </a:r>
            <a:r>
              <a:rPr lang="en-US" dirty="0">
                <a:solidFill>
                  <a:srgbClr val="CC9900"/>
                </a:solidFill>
                <a:latin typeface="+mn-lt"/>
              </a:rPr>
              <a:t>  </a:t>
            </a:r>
            <a:r>
              <a:rPr lang="en-US" dirty="0">
                <a:solidFill>
                  <a:srgbClr val="CC9900"/>
                </a:solidFill>
                <a:latin typeface="+mn-lt"/>
                <a:sym typeface="Symbol" pitchFamily="18" charset="2"/>
              </a:rPr>
              <a:t> Arrangements of atoms</a:t>
            </a:r>
          </a:p>
          <a:p>
            <a:pPr algn="just" fontAlgn="auto">
              <a:spcBef>
                <a:spcPts val="0"/>
              </a:spcBef>
              <a:spcAft>
                <a:spcPts val="0"/>
              </a:spcAft>
              <a:defRPr/>
            </a:pPr>
            <a:r>
              <a:rPr lang="en-US" dirty="0">
                <a:solidFill>
                  <a:srgbClr val="CC9900"/>
                </a:solidFill>
                <a:latin typeface="+mn-lt"/>
                <a:sym typeface="Symbol" pitchFamily="18" charset="2"/>
              </a:rPr>
              <a:t>	             </a:t>
            </a:r>
            <a:r>
              <a:rPr lang="en-US" dirty="0">
                <a:solidFill>
                  <a:srgbClr val="CC9900"/>
                </a:solidFill>
                <a:latin typeface="+mn-lt"/>
                <a:cs typeface="Times New Roman" pitchFamily="18" charset="0"/>
                <a:sym typeface="Symbol" pitchFamily="18" charset="2"/>
              </a:rPr>
              <a:t>=  Lattice of points onto which the atoms are hung</a:t>
            </a:r>
            <a:endParaRPr lang="en-US" dirty="0">
              <a:latin typeface="+mn-lt"/>
            </a:endParaRPr>
          </a:p>
        </p:txBody>
      </p:sp>
      <p:sp>
        <p:nvSpPr>
          <p:cNvPr id="3079" name="Text Box 3"/>
          <p:cNvSpPr txBox="1">
            <a:spLocks noChangeArrowheads="1"/>
          </p:cNvSpPr>
          <p:nvPr/>
        </p:nvSpPr>
        <p:spPr bwMode="auto">
          <a:xfrm>
            <a:off x="228600" y="5410200"/>
            <a:ext cx="9280525" cy="1200150"/>
          </a:xfrm>
          <a:prstGeom prst="rect">
            <a:avLst/>
          </a:prstGeom>
          <a:noFill/>
          <a:ln w="9525">
            <a:noFill/>
            <a:miter lim="800000"/>
            <a:headEnd/>
            <a:tailEnd/>
          </a:ln>
        </p:spPr>
        <p:txBody>
          <a:bodyPr>
            <a:spAutoFit/>
          </a:bodyPr>
          <a:lstStyle/>
          <a:p>
            <a:r>
              <a:rPr lang="en-US" sz="2400">
                <a:solidFill>
                  <a:srgbClr val="FF3300"/>
                </a:solidFill>
                <a:latin typeface="Lucida Sans Unicode" pitchFamily="34" charset="0"/>
                <a:cs typeface="Times New Roman" pitchFamily="18" charset="0"/>
                <a:sym typeface="Symbol" pitchFamily="18" charset="2"/>
              </a:rPr>
              <a:t>Elemental solids (Argon): </a:t>
            </a:r>
            <a:r>
              <a:rPr lang="en-US" sz="2400" b="1">
                <a:solidFill>
                  <a:srgbClr val="CC0099"/>
                </a:solidFill>
                <a:latin typeface="Lucida Sans Unicode" pitchFamily="34" charset="0"/>
                <a:cs typeface="Times New Roman" pitchFamily="18" charset="0"/>
                <a:sym typeface="Symbol" pitchFamily="18" charset="2"/>
              </a:rPr>
              <a:t>Basis</a:t>
            </a:r>
            <a:r>
              <a:rPr lang="en-US" sz="2400">
                <a:solidFill>
                  <a:srgbClr val="CC0099"/>
                </a:solidFill>
                <a:latin typeface="Lucida Sans Unicode" pitchFamily="34" charset="0"/>
                <a:cs typeface="Times New Roman" pitchFamily="18" charset="0"/>
                <a:sym typeface="Symbol" pitchFamily="18" charset="2"/>
              </a:rPr>
              <a:t> = </a:t>
            </a:r>
            <a:r>
              <a:rPr lang="en-US" sz="2400" b="1">
                <a:solidFill>
                  <a:srgbClr val="CC0099"/>
                </a:solidFill>
                <a:latin typeface="Lucida Sans Unicode" pitchFamily="34" charset="0"/>
                <a:cs typeface="Times New Roman" pitchFamily="18" charset="0"/>
                <a:sym typeface="Symbol" pitchFamily="18" charset="2"/>
              </a:rPr>
              <a:t>single atom.</a:t>
            </a:r>
          </a:p>
          <a:p>
            <a:r>
              <a:rPr lang="en-US" sz="2400">
                <a:solidFill>
                  <a:srgbClr val="FF3300"/>
                </a:solidFill>
                <a:latin typeface="Lucida Sans Unicode" pitchFamily="34" charset="0"/>
                <a:cs typeface="Times New Roman" pitchFamily="18" charset="0"/>
                <a:sym typeface="Symbol" pitchFamily="18" charset="2"/>
              </a:rPr>
              <a:t>Polyatomic Elements: </a:t>
            </a:r>
            <a:r>
              <a:rPr lang="en-US" sz="2400" b="1">
                <a:solidFill>
                  <a:srgbClr val="CC0099"/>
                </a:solidFill>
                <a:latin typeface="Lucida Sans Unicode" pitchFamily="34" charset="0"/>
                <a:cs typeface="Times New Roman" pitchFamily="18" charset="0"/>
                <a:sym typeface="Symbol" pitchFamily="18" charset="2"/>
              </a:rPr>
              <a:t>Basis</a:t>
            </a:r>
            <a:r>
              <a:rPr lang="en-US" sz="2400">
                <a:solidFill>
                  <a:srgbClr val="CC0099"/>
                </a:solidFill>
                <a:latin typeface="Lucida Sans Unicode" pitchFamily="34" charset="0"/>
                <a:cs typeface="Times New Roman" pitchFamily="18" charset="0"/>
                <a:sym typeface="Symbol" pitchFamily="18" charset="2"/>
              </a:rPr>
              <a:t> = </a:t>
            </a:r>
            <a:r>
              <a:rPr lang="en-US" sz="2400" b="1">
                <a:solidFill>
                  <a:srgbClr val="CC0099"/>
                </a:solidFill>
                <a:latin typeface="Lucida Sans Unicode" pitchFamily="34" charset="0"/>
                <a:cs typeface="Times New Roman" pitchFamily="18" charset="0"/>
                <a:sym typeface="Symbol" pitchFamily="18" charset="2"/>
              </a:rPr>
              <a:t>two or four atoms.</a:t>
            </a:r>
            <a:r>
              <a:rPr lang="en-US" sz="2400">
                <a:latin typeface="Lucida Sans Unicode" pitchFamily="34" charset="0"/>
                <a:cs typeface="Times New Roman" pitchFamily="18" charset="0"/>
                <a:sym typeface="Symbol" pitchFamily="18" charset="2"/>
              </a:rPr>
              <a:t>.</a:t>
            </a:r>
          </a:p>
          <a:p>
            <a:r>
              <a:rPr lang="en-US" sz="2400">
                <a:solidFill>
                  <a:srgbClr val="FF3300"/>
                </a:solidFill>
                <a:latin typeface="Lucida Sans Unicode" pitchFamily="34" charset="0"/>
              </a:rPr>
              <a:t>Complex organic compounds:</a:t>
            </a:r>
            <a:r>
              <a:rPr lang="en-US" sz="2400">
                <a:latin typeface="Lucida Sans Unicode" pitchFamily="34" charset="0"/>
              </a:rPr>
              <a:t> </a:t>
            </a:r>
            <a:r>
              <a:rPr lang="en-US" sz="2400" b="1">
                <a:solidFill>
                  <a:srgbClr val="CC0099"/>
                </a:solidFill>
                <a:latin typeface="Lucida Sans Unicode" pitchFamily="34" charset="0"/>
              </a:rPr>
              <a:t>Basis</a:t>
            </a:r>
            <a:r>
              <a:rPr lang="en-US" sz="2400">
                <a:solidFill>
                  <a:srgbClr val="CC0099"/>
                </a:solidFill>
                <a:latin typeface="Lucida Sans Unicode" pitchFamily="34" charset="0"/>
              </a:rPr>
              <a:t> = </a:t>
            </a:r>
            <a:r>
              <a:rPr lang="en-US" sz="2400" b="1">
                <a:solidFill>
                  <a:srgbClr val="CC0099"/>
                </a:solidFill>
                <a:latin typeface="Lucida Sans Unicode" pitchFamily="34" charset="0"/>
              </a:rPr>
              <a:t>thousands of atoms</a:t>
            </a:r>
            <a:r>
              <a:rPr lang="en-US" sz="2400">
                <a:solidFill>
                  <a:srgbClr val="CC0099"/>
                </a:solidFill>
                <a:latin typeface="Lucida Sans Unicode" pitchFamily="34" charset="0"/>
              </a:rPr>
              <a:t>.</a:t>
            </a:r>
          </a:p>
        </p:txBody>
      </p:sp>
      <p:sp>
        <p:nvSpPr>
          <p:cNvPr id="16390" name="Text Box 22"/>
          <p:cNvSpPr txBox="1">
            <a:spLocks noChangeArrowheads="1"/>
          </p:cNvSpPr>
          <p:nvPr/>
        </p:nvSpPr>
        <p:spPr bwMode="auto">
          <a:xfrm>
            <a:off x="2792413" y="3859213"/>
            <a:ext cx="407987" cy="457200"/>
          </a:xfrm>
          <a:prstGeom prst="rect">
            <a:avLst/>
          </a:prstGeom>
          <a:noFill/>
          <a:ln w="9525">
            <a:noFill/>
            <a:miter lim="800000"/>
            <a:headEnd/>
            <a:tailEnd/>
          </a:ln>
        </p:spPr>
        <p:txBody>
          <a:bodyPr>
            <a:spAutoFit/>
          </a:bodyPr>
          <a:lstStyle/>
          <a:p>
            <a:r>
              <a:rPr lang="en-US" sz="2400" b="1">
                <a:solidFill>
                  <a:srgbClr val="CC0099"/>
                </a:solidFill>
                <a:latin typeface="Lucida Sans Unicode" pitchFamily="34" charset="0"/>
                <a:cs typeface="Times New Roman" pitchFamily="18" charset="0"/>
              </a:rPr>
              <a:t>+</a:t>
            </a:r>
            <a:endParaRPr lang="en-US" sz="2400" b="1">
              <a:solidFill>
                <a:srgbClr val="CC0099"/>
              </a:solidFill>
              <a:latin typeface="Lucida Sans Unicode" pitchFamily="34" charset="0"/>
            </a:endParaRPr>
          </a:p>
        </p:txBody>
      </p:sp>
      <p:grpSp>
        <p:nvGrpSpPr>
          <p:cNvPr id="4" name="Group 47"/>
          <p:cNvGrpSpPr>
            <a:grpSpLocks/>
          </p:cNvGrpSpPr>
          <p:nvPr/>
        </p:nvGrpSpPr>
        <p:grpSpPr bwMode="auto">
          <a:xfrm>
            <a:off x="685800" y="3276600"/>
            <a:ext cx="7810500" cy="1909763"/>
            <a:chOff x="1046" y="2205"/>
            <a:chExt cx="4282" cy="1203"/>
          </a:xfrm>
        </p:grpSpPr>
        <p:sp>
          <p:nvSpPr>
            <p:cNvPr id="16393" name="Text Box 7"/>
            <p:cNvSpPr txBox="1">
              <a:spLocks noChangeArrowheads="1"/>
            </p:cNvSpPr>
            <p:nvPr/>
          </p:nvSpPr>
          <p:spPr bwMode="auto">
            <a:xfrm>
              <a:off x="1046" y="3120"/>
              <a:ext cx="4282" cy="288"/>
            </a:xfrm>
            <a:prstGeom prst="rect">
              <a:avLst/>
            </a:prstGeom>
            <a:noFill/>
            <a:ln w="9525">
              <a:noFill/>
              <a:miter lim="800000"/>
              <a:headEnd/>
              <a:tailEnd/>
            </a:ln>
          </p:spPr>
          <p:txBody>
            <a:bodyPr>
              <a:spAutoFit/>
            </a:bodyPr>
            <a:lstStyle/>
            <a:p>
              <a:r>
                <a:rPr lang="en-US" sz="2400">
                  <a:solidFill>
                    <a:srgbClr val="800080"/>
                  </a:solidFill>
                  <a:latin typeface="Lucida Sans Unicode" pitchFamily="34" charset="0"/>
                </a:rPr>
                <a:t>Space Lattice  </a:t>
              </a:r>
              <a:r>
                <a:rPr lang="en-US" sz="2400" b="1">
                  <a:solidFill>
                    <a:srgbClr val="800080"/>
                  </a:solidFill>
                  <a:latin typeface="Lucida Sans Unicode" pitchFamily="34" charset="0"/>
                </a:rPr>
                <a:t>+</a:t>
              </a:r>
              <a:r>
                <a:rPr lang="en-US" sz="2400">
                  <a:solidFill>
                    <a:srgbClr val="800080"/>
                  </a:solidFill>
                  <a:latin typeface="Lucida Sans Unicode" pitchFamily="34" charset="0"/>
                </a:rPr>
                <a:t>   Basis  </a:t>
              </a:r>
              <a:r>
                <a:rPr lang="en-US" sz="2400" b="1">
                  <a:solidFill>
                    <a:srgbClr val="800080"/>
                  </a:solidFill>
                  <a:latin typeface="Lucida Sans Unicode" pitchFamily="34" charset="0"/>
                </a:rPr>
                <a:t>=  </a:t>
              </a:r>
              <a:r>
                <a:rPr lang="en-US" sz="2400">
                  <a:solidFill>
                    <a:srgbClr val="800080"/>
                  </a:solidFill>
                  <a:latin typeface="Lucida Sans Unicode" pitchFamily="34" charset="0"/>
                </a:rPr>
                <a:t>Crystal Structure</a:t>
              </a:r>
            </a:p>
          </p:txBody>
        </p:sp>
        <p:graphicFrame>
          <p:nvGraphicFramePr>
            <p:cNvPr id="16394" name="Object 4"/>
            <p:cNvGraphicFramePr>
              <a:graphicFrameLocks noChangeAspect="1"/>
            </p:cNvGraphicFramePr>
            <p:nvPr/>
          </p:nvGraphicFramePr>
          <p:xfrm>
            <a:off x="3306" y="2352"/>
            <a:ext cx="534" cy="612"/>
          </p:xfrm>
          <a:graphic>
            <a:graphicData uri="http://schemas.openxmlformats.org/presentationml/2006/ole">
              <mc:AlternateContent xmlns:mc="http://schemas.openxmlformats.org/markup-compatibility/2006">
                <mc:Choice xmlns:v="urn:schemas-microsoft-com:vml" Requires="v">
                  <p:oleObj spid="_x0000_s69656" name="Bitmap Image" r:id="rId3" imgW="847843" imgH="971686" progId="PBrush">
                    <p:embed/>
                  </p:oleObj>
                </mc:Choice>
                <mc:Fallback>
                  <p:oleObj name="Bitmap Image" r:id="rId3" imgW="847843" imgH="971686" progId="PBrush">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6" y="2352"/>
                          <a:ext cx="534" cy="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395" name="Object 5"/>
            <p:cNvGraphicFramePr>
              <a:graphicFrameLocks noChangeAspect="1"/>
            </p:cNvGraphicFramePr>
            <p:nvPr/>
          </p:nvGraphicFramePr>
          <p:xfrm>
            <a:off x="2613" y="2592"/>
            <a:ext cx="192" cy="228"/>
          </p:xfrm>
          <a:graphic>
            <a:graphicData uri="http://schemas.openxmlformats.org/presentationml/2006/ole">
              <mc:AlternateContent xmlns:mc="http://schemas.openxmlformats.org/markup-compatibility/2006">
                <mc:Choice xmlns:v="urn:schemas-microsoft-com:vml" Requires="v">
                  <p:oleObj spid="_x0000_s69657" name="Bitmap Image" r:id="rId5" imgW="304923" imgH="361809" progId="PBrush">
                    <p:embed/>
                  </p:oleObj>
                </mc:Choice>
                <mc:Fallback>
                  <p:oleObj name="Bitmap Image" r:id="rId5" imgW="304923" imgH="361809" progId="PBrush">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3" y="2592"/>
                          <a:ext cx="19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6" name="Text Box 11"/>
            <p:cNvSpPr txBox="1">
              <a:spLocks noChangeArrowheads="1"/>
            </p:cNvSpPr>
            <p:nvPr/>
          </p:nvSpPr>
          <p:spPr bwMode="auto">
            <a:xfrm>
              <a:off x="2939" y="2522"/>
              <a:ext cx="224" cy="288"/>
            </a:xfrm>
            <a:prstGeom prst="rect">
              <a:avLst/>
            </a:prstGeom>
            <a:noFill/>
            <a:ln w="9525">
              <a:noFill/>
              <a:miter lim="800000"/>
              <a:headEnd/>
              <a:tailEnd/>
            </a:ln>
          </p:spPr>
          <p:txBody>
            <a:bodyPr wrap="none">
              <a:spAutoFit/>
            </a:bodyPr>
            <a:lstStyle/>
            <a:p>
              <a:r>
                <a:rPr lang="en-US" sz="2400" b="1">
                  <a:solidFill>
                    <a:srgbClr val="CC0099"/>
                  </a:solidFill>
                  <a:latin typeface="Lucida Sans Unicode" pitchFamily="34" charset="0"/>
                  <a:cs typeface="Times New Roman" pitchFamily="18" charset="0"/>
                </a:rPr>
                <a:t>=</a:t>
              </a:r>
              <a:endParaRPr lang="en-US" sz="2400" b="1">
                <a:solidFill>
                  <a:srgbClr val="CC0099"/>
                </a:solidFill>
                <a:latin typeface="Lucida Sans Unicode" pitchFamily="34" charset="0"/>
              </a:endParaRPr>
            </a:p>
          </p:txBody>
        </p:sp>
        <p:sp>
          <p:nvSpPr>
            <p:cNvPr id="16397" name="Text Box 46"/>
            <p:cNvSpPr txBox="1">
              <a:spLocks noChangeArrowheads="1"/>
            </p:cNvSpPr>
            <p:nvPr/>
          </p:nvSpPr>
          <p:spPr bwMode="auto">
            <a:xfrm>
              <a:off x="1104" y="2205"/>
              <a:ext cx="1152" cy="892"/>
            </a:xfrm>
            <a:prstGeom prst="rect">
              <a:avLst/>
            </a:prstGeom>
            <a:noFill/>
            <a:ln w="9525">
              <a:noFill/>
              <a:miter lim="800000"/>
              <a:headEnd/>
              <a:tailEnd/>
            </a:ln>
          </p:spPr>
          <p:txBody>
            <a:bodyPr>
              <a:spAutoFit/>
            </a:bodyPr>
            <a:lstStyle/>
            <a:p>
              <a:pPr>
                <a:lnSpc>
                  <a:spcPct val="70000"/>
                </a:lnSpc>
                <a:spcBef>
                  <a:spcPct val="50000"/>
                </a:spcBef>
              </a:pPr>
              <a:r>
                <a:rPr lang="en-US" sz="2800">
                  <a:latin typeface="Lucida Sans Unicode" pitchFamily="34" charset="0"/>
                  <a:cs typeface="Times New Roman" pitchFamily="18" charset="0"/>
                </a:rPr>
                <a:t>•     •     •</a:t>
              </a:r>
            </a:p>
            <a:p>
              <a:pPr>
                <a:lnSpc>
                  <a:spcPct val="70000"/>
                </a:lnSpc>
                <a:spcBef>
                  <a:spcPct val="50000"/>
                </a:spcBef>
              </a:pPr>
              <a:r>
                <a:rPr lang="en-US" sz="2800">
                  <a:latin typeface="Lucida Sans Unicode" pitchFamily="34" charset="0"/>
                  <a:cs typeface="Times New Roman" pitchFamily="18" charset="0"/>
                </a:rPr>
                <a:t>•     •     •</a:t>
              </a:r>
            </a:p>
            <a:p>
              <a:pPr>
                <a:lnSpc>
                  <a:spcPct val="70000"/>
                </a:lnSpc>
                <a:spcBef>
                  <a:spcPct val="50000"/>
                </a:spcBef>
              </a:pPr>
              <a:r>
                <a:rPr lang="en-US" sz="2800">
                  <a:latin typeface="Lucida Sans Unicode" pitchFamily="34" charset="0"/>
                  <a:cs typeface="Times New Roman" pitchFamily="18" charset="0"/>
                </a:rPr>
                <a:t>•     •     •</a:t>
              </a:r>
              <a:endParaRPr lang="en-US" sz="2800">
                <a:latin typeface="Lucida Sans Unicode" pitchFamily="34" charset="0"/>
              </a:endParaRPr>
            </a:p>
          </p:txBody>
        </p:sp>
      </p:grpSp>
      <p:sp>
        <p:nvSpPr>
          <p:cNvPr id="16392" name="Text Box 46"/>
          <p:cNvSpPr txBox="1">
            <a:spLocks noChangeArrowheads="1"/>
          </p:cNvSpPr>
          <p:nvPr/>
        </p:nvSpPr>
        <p:spPr bwMode="auto">
          <a:xfrm>
            <a:off x="609600" y="3344863"/>
            <a:ext cx="2514600" cy="1428750"/>
          </a:xfrm>
          <a:prstGeom prst="rect">
            <a:avLst/>
          </a:prstGeom>
          <a:noFill/>
          <a:ln w="9525">
            <a:noFill/>
            <a:miter lim="800000"/>
            <a:headEnd/>
            <a:tailEnd/>
          </a:ln>
        </p:spPr>
        <p:txBody>
          <a:bodyPr>
            <a:spAutoFit/>
          </a:bodyPr>
          <a:lstStyle/>
          <a:p>
            <a:pPr>
              <a:lnSpc>
                <a:spcPct val="70000"/>
              </a:lnSpc>
              <a:spcBef>
                <a:spcPct val="50000"/>
              </a:spcBef>
            </a:pPr>
            <a:r>
              <a:rPr lang="en-US" sz="2800">
                <a:solidFill>
                  <a:schemeClr val="bg1"/>
                </a:solidFill>
                <a:latin typeface="Lucida Sans Unicode" pitchFamily="34" charset="0"/>
                <a:cs typeface="Times New Roman" pitchFamily="18" charset="0"/>
              </a:rPr>
              <a:t>•     •     •</a:t>
            </a:r>
          </a:p>
          <a:p>
            <a:pPr>
              <a:lnSpc>
                <a:spcPct val="70000"/>
              </a:lnSpc>
              <a:spcBef>
                <a:spcPct val="50000"/>
              </a:spcBef>
            </a:pPr>
            <a:r>
              <a:rPr lang="en-US" sz="2800">
                <a:solidFill>
                  <a:schemeClr val="bg1"/>
                </a:solidFill>
                <a:latin typeface="Lucida Sans Unicode" pitchFamily="34" charset="0"/>
                <a:cs typeface="Times New Roman" pitchFamily="18" charset="0"/>
              </a:rPr>
              <a:t>•     •     •</a:t>
            </a:r>
          </a:p>
          <a:p>
            <a:pPr>
              <a:lnSpc>
                <a:spcPct val="70000"/>
              </a:lnSpc>
              <a:spcBef>
                <a:spcPct val="50000"/>
              </a:spcBef>
            </a:pPr>
            <a:r>
              <a:rPr lang="en-US" sz="2800">
                <a:solidFill>
                  <a:schemeClr val="bg1"/>
                </a:solidFill>
                <a:latin typeface="Lucida Sans Unicode" pitchFamily="34" charset="0"/>
                <a:cs typeface="Times New Roman" pitchFamily="18" charset="0"/>
              </a:rPr>
              <a:t>•     •     •</a:t>
            </a:r>
            <a:endParaRPr lang="en-US" sz="2800">
              <a:solidFill>
                <a:schemeClr val="bg1"/>
              </a:solidFill>
              <a:latin typeface="Lucida Sans Unicode" pitchFamily="34" charset="0"/>
            </a:endParaRPr>
          </a:p>
        </p:txBody>
      </p:sp>
      <p:sp>
        <p:nvSpPr>
          <p:cNvPr id="5" name="Footer Placeholder 4"/>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79"/>
                                        </p:tgtEl>
                                        <p:attrNameLst>
                                          <p:attrName>style.visibility</p:attrName>
                                        </p:attrNameLst>
                                      </p:cBhvr>
                                      <p:to>
                                        <p:strVal val="visible"/>
                                      </p:to>
                                    </p:set>
                                    <p:animEffect transition="in" filter="blinds(horizontal)">
                                      <p:cBhvr>
                                        <p:cTn id="17" dur="500"/>
                                        <p:tgtEl>
                                          <p:spTgt spid="30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079" grpId="0"/>
    </p:bld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4"/>
          <p:cNvPicPr>
            <a:picLocks noChangeAspect="1" noChangeArrowheads="1"/>
          </p:cNvPicPr>
          <p:nvPr/>
        </p:nvPicPr>
        <p:blipFill>
          <a:blip r:embed="rId2"/>
          <a:srcRect t="30710"/>
          <a:stretch>
            <a:fillRect/>
          </a:stretch>
        </p:blipFill>
        <p:spPr bwMode="auto">
          <a:xfrm>
            <a:off x="609600" y="1981200"/>
            <a:ext cx="7516813" cy="4556125"/>
          </a:xfrm>
          <a:prstGeom prst="rect">
            <a:avLst/>
          </a:prstGeom>
          <a:noFill/>
          <a:ln w="9525">
            <a:noFill/>
            <a:miter lim="800000"/>
            <a:headEnd/>
            <a:tailEnd/>
          </a:ln>
        </p:spPr>
      </p:pic>
      <p:sp>
        <p:nvSpPr>
          <p:cNvPr id="17411" name="Rectangle 83"/>
          <p:cNvSpPr>
            <a:spLocks noChangeArrowheads="1"/>
          </p:cNvSpPr>
          <p:nvPr/>
        </p:nvSpPr>
        <p:spPr bwMode="auto">
          <a:xfrm>
            <a:off x="6019800" y="6459538"/>
            <a:ext cx="5638800" cy="246062"/>
          </a:xfrm>
          <a:prstGeom prst="rect">
            <a:avLst/>
          </a:prstGeom>
          <a:noFill/>
          <a:ln w="9525">
            <a:noFill/>
            <a:miter lim="800000"/>
            <a:headEnd/>
            <a:tailEnd/>
          </a:ln>
        </p:spPr>
        <p:txBody>
          <a:bodyPr>
            <a:spAutoFit/>
          </a:bodyPr>
          <a:lstStyle/>
          <a:p>
            <a:r>
              <a:rPr lang="en-US" sz="1000" i="1">
                <a:solidFill>
                  <a:schemeClr val="bg1"/>
                </a:solidFill>
                <a:latin typeface="Lucida Sans Unicode" pitchFamily="34" charset="0"/>
              </a:rPr>
              <a:t>203.199.213.48/834/1/</a:t>
            </a:r>
            <a:r>
              <a:rPr lang="en-US" sz="1000" b="1" i="1">
                <a:solidFill>
                  <a:schemeClr val="bg1"/>
                </a:solidFill>
                <a:latin typeface="Lucida Sans Unicode" pitchFamily="34" charset="0"/>
              </a:rPr>
              <a:t>Structuresofsolids</a:t>
            </a:r>
            <a:r>
              <a:rPr lang="en-US" sz="1000" i="1">
                <a:solidFill>
                  <a:schemeClr val="bg1"/>
                </a:solidFill>
                <a:latin typeface="Lucida Sans Unicode" pitchFamily="34" charset="0"/>
              </a:rPr>
              <a:t>.</a:t>
            </a:r>
            <a:r>
              <a:rPr lang="en-US" sz="1000" b="1" i="1">
                <a:solidFill>
                  <a:schemeClr val="bg1"/>
                </a:solidFill>
                <a:latin typeface="Lucida Sans Unicode" pitchFamily="34" charset="0"/>
              </a:rPr>
              <a:t>ppt</a:t>
            </a:r>
            <a:endParaRPr lang="en-US" sz="1000">
              <a:solidFill>
                <a:schemeClr val="bg1"/>
              </a:solidFill>
              <a:latin typeface="Lucida Sans Unicode" pitchFamily="34" charset="0"/>
            </a:endParaRPr>
          </a:p>
        </p:txBody>
      </p:sp>
      <p:pic>
        <p:nvPicPr>
          <p:cNvPr id="4" name="Picture 14"/>
          <p:cNvPicPr>
            <a:picLocks noChangeAspect="1" noChangeArrowheads="1"/>
          </p:cNvPicPr>
          <p:nvPr/>
        </p:nvPicPr>
        <p:blipFill>
          <a:blip r:embed="rId2"/>
          <a:srcRect b="72186"/>
          <a:stretch>
            <a:fillRect/>
          </a:stretch>
        </p:blipFill>
        <p:spPr bwMode="auto">
          <a:xfrm>
            <a:off x="1066800" y="0"/>
            <a:ext cx="7516813" cy="18288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4818"/>
                                        </p:tgtEl>
                                        <p:attrNameLst>
                                          <p:attrName>style.visibility</p:attrName>
                                        </p:attrNameLst>
                                      </p:cBhvr>
                                      <p:to>
                                        <p:strVal val="visible"/>
                                      </p:to>
                                    </p:set>
                                    <p:animEffect transition="in" filter="blinds(horizontal)">
                                      <p:cBhvr>
                                        <p:cTn id="12" dur="500"/>
                                        <p:tgtEl>
                                          <p:spTgt spid="34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13"/>
          <p:cNvSpPr txBox="1">
            <a:spLocks noChangeArrowheads="1"/>
          </p:cNvSpPr>
          <p:nvPr/>
        </p:nvSpPr>
        <p:spPr bwMode="auto">
          <a:xfrm>
            <a:off x="838200" y="5305425"/>
            <a:ext cx="7869238" cy="1552575"/>
          </a:xfrm>
          <a:prstGeom prst="rect">
            <a:avLst/>
          </a:prstGeom>
          <a:noFill/>
          <a:ln w="9525">
            <a:noFill/>
            <a:miter lim="800000"/>
            <a:headEnd/>
            <a:tailEnd/>
          </a:ln>
        </p:spPr>
        <p:txBody>
          <a:bodyPr>
            <a:spAutoFit/>
          </a:bodyPr>
          <a:lstStyle/>
          <a:p>
            <a:r>
              <a:rPr lang="en-US">
                <a:latin typeface="Lucida Sans Unicode" pitchFamily="34" charset="0"/>
              </a:rPr>
              <a:t>A crystal’s unit cell dimensions are defined by six numbers, the lengths of the 3 axes, a, b, and c, and the three interaxial angles, </a:t>
            </a:r>
            <a:r>
              <a:rPr lang="en-US">
                <a:latin typeface="Lucida Sans Unicode" pitchFamily="34" charset="0"/>
                <a:sym typeface="Symbol" pitchFamily="18" charset="2"/>
              </a:rPr>
              <a:t>,  and .</a:t>
            </a:r>
            <a:endParaRPr lang="en-US">
              <a:latin typeface="Lucida Sans Unicode" pitchFamily="34" charset="0"/>
            </a:endParaRPr>
          </a:p>
          <a:p>
            <a:endParaRPr lang="en-US">
              <a:latin typeface="Lucida Sans Unicode" pitchFamily="34" charset="0"/>
            </a:endParaRPr>
          </a:p>
        </p:txBody>
      </p:sp>
      <p:pic>
        <p:nvPicPr>
          <p:cNvPr id="35843" name="Picture 14"/>
          <p:cNvPicPr>
            <a:picLocks noChangeAspect="1" noChangeArrowheads="1"/>
          </p:cNvPicPr>
          <p:nvPr/>
        </p:nvPicPr>
        <p:blipFill>
          <a:blip r:embed="rId2"/>
          <a:srcRect/>
          <a:stretch>
            <a:fillRect/>
          </a:stretch>
        </p:blipFill>
        <p:spPr bwMode="auto">
          <a:xfrm>
            <a:off x="1295400" y="2286000"/>
            <a:ext cx="5638800" cy="2981325"/>
          </a:xfrm>
          <a:prstGeom prst="rect">
            <a:avLst/>
          </a:prstGeom>
          <a:noFill/>
          <a:ln w="9525">
            <a:noFill/>
            <a:miter lim="800000"/>
            <a:headEnd/>
            <a:tailEnd/>
          </a:ln>
        </p:spPr>
      </p:pic>
      <p:sp>
        <p:nvSpPr>
          <p:cNvPr id="35844" name="Rectangle 8"/>
          <p:cNvSpPr>
            <a:spLocks noChangeArrowheads="1"/>
          </p:cNvSpPr>
          <p:nvPr/>
        </p:nvSpPr>
        <p:spPr bwMode="auto">
          <a:xfrm>
            <a:off x="914400" y="1219200"/>
            <a:ext cx="7086600" cy="822325"/>
          </a:xfrm>
          <a:prstGeom prst="rect">
            <a:avLst/>
          </a:prstGeom>
          <a:noFill/>
          <a:ln w="9525">
            <a:noFill/>
            <a:miter lim="800000"/>
            <a:headEnd/>
            <a:tailEnd/>
          </a:ln>
        </p:spPr>
        <p:txBody>
          <a:bodyPr anchor="ctr">
            <a:spAutoFit/>
          </a:bodyPr>
          <a:lstStyle/>
          <a:p>
            <a:r>
              <a:rPr lang="en-US">
                <a:latin typeface="Lucida Sans Unicode" pitchFamily="34" charset="0"/>
              </a:rPr>
              <a:t>Unit cell is the smallest unit of a crystal, which, if repeated, could generate the whole crystal. </a:t>
            </a:r>
          </a:p>
        </p:txBody>
      </p:sp>
      <p:sp>
        <p:nvSpPr>
          <p:cNvPr id="7177" name="Text Box 9"/>
          <p:cNvSpPr txBox="1">
            <a:spLocks noChangeArrowheads="1"/>
          </p:cNvSpPr>
          <p:nvPr/>
        </p:nvSpPr>
        <p:spPr bwMode="auto">
          <a:xfrm>
            <a:off x="381000" y="152400"/>
            <a:ext cx="8305800" cy="1077913"/>
          </a:xfrm>
          <a:prstGeom prst="rect">
            <a:avLst/>
          </a:prstGeom>
          <a:noFill/>
          <a:ln w="9525">
            <a:noFill/>
            <a:miter lim="800000"/>
            <a:headEnd/>
            <a:tailEnd/>
          </a:ln>
          <a:effectLst/>
        </p:spPr>
        <p:txBody>
          <a:bodyPr>
            <a:spAutoFit/>
          </a:bodyPr>
          <a:lstStyle/>
          <a:p>
            <a:pPr algn="ctr" fontAlgn="auto">
              <a:spcBef>
                <a:spcPts val="0"/>
              </a:spcBef>
              <a:spcAft>
                <a:spcPts val="0"/>
              </a:spcAft>
              <a:defRPr/>
            </a:pPr>
            <a:r>
              <a:rPr lang="en-US" sz="3200" dirty="0">
                <a:solidFill>
                  <a:schemeClr val="bg2">
                    <a:lumMod val="50000"/>
                  </a:schemeClr>
                </a:solidFill>
                <a:latin typeface="+mn-lt"/>
              </a:rPr>
              <a:t>Crystals are made of infinite number of unit cells</a:t>
            </a:r>
          </a:p>
        </p:txBody>
      </p:sp>
      <p:sp>
        <p:nvSpPr>
          <p:cNvPr id="18438" name="Rectangle 5"/>
          <p:cNvSpPr>
            <a:spLocks noChangeArrowheads="1"/>
          </p:cNvSpPr>
          <p:nvPr/>
        </p:nvSpPr>
        <p:spPr bwMode="auto">
          <a:xfrm>
            <a:off x="6019800" y="66119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blinds(horizontal)">
                                      <p:cBhvr>
                                        <p:cTn id="7" dur="500"/>
                                        <p:tgtEl>
                                          <p:spTgt spid="35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5843"/>
                                        </p:tgtEl>
                                        <p:attrNameLst>
                                          <p:attrName>style.visibility</p:attrName>
                                        </p:attrNameLst>
                                      </p:cBhvr>
                                      <p:to>
                                        <p:strVal val="visible"/>
                                      </p:to>
                                    </p:set>
                                    <p:animEffect transition="in" filter="blinds(horizontal)">
                                      <p:cBhvr>
                                        <p:cTn id="12" dur="500"/>
                                        <p:tgtEl>
                                          <p:spTgt spid="3584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5842"/>
                                        </p:tgtEl>
                                        <p:attrNameLst>
                                          <p:attrName>style.visibility</p:attrName>
                                        </p:attrNameLst>
                                      </p:cBhvr>
                                      <p:to>
                                        <p:strVal val="visible"/>
                                      </p:to>
                                    </p:set>
                                    <p:animEffect transition="in" filter="blinds(horizontal)">
                                      <p:cBhvr>
                                        <p:cTn id="17" dur="500"/>
                                        <p:tgtEl>
                                          <p:spTgt spid="35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4" grpId="0"/>
    </p:bld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ChangeAspect="1" noChangeArrowheads="1"/>
          </p:cNvPicPr>
          <p:nvPr/>
        </p:nvPicPr>
        <p:blipFill>
          <a:blip r:embed="rId2"/>
          <a:srcRect/>
          <a:stretch>
            <a:fillRect/>
          </a:stretch>
        </p:blipFill>
        <p:spPr bwMode="auto">
          <a:xfrm>
            <a:off x="442913" y="4724400"/>
            <a:ext cx="7710487" cy="774700"/>
          </a:xfrm>
          <a:prstGeom prst="rect">
            <a:avLst/>
          </a:prstGeom>
          <a:noFill/>
          <a:ln w="9525">
            <a:noFill/>
            <a:miter lim="800000"/>
            <a:headEnd/>
            <a:tailEnd/>
          </a:ln>
        </p:spPr>
      </p:pic>
      <p:pic>
        <p:nvPicPr>
          <p:cNvPr id="19459" name="Picture 2"/>
          <p:cNvPicPr>
            <a:picLocks noChangeAspect="1" noChangeArrowheads="1"/>
          </p:cNvPicPr>
          <p:nvPr/>
        </p:nvPicPr>
        <p:blipFill>
          <a:blip r:embed="rId3"/>
          <a:srcRect/>
          <a:stretch>
            <a:fillRect/>
          </a:stretch>
        </p:blipFill>
        <p:spPr bwMode="auto">
          <a:xfrm>
            <a:off x="304800" y="457200"/>
            <a:ext cx="8839200" cy="1003300"/>
          </a:xfrm>
          <a:prstGeom prst="rect">
            <a:avLst/>
          </a:prstGeom>
          <a:noFill/>
          <a:ln w="9525">
            <a:noFill/>
            <a:miter lim="800000"/>
            <a:headEnd/>
            <a:tailEnd/>
          </a:ln>
        </p:spPr>
      </p:pic>
      <p:sp>
        <p:nvSpPr>
          <p:cNvPr id="3" name="Rectangle 3"/>
          <p:cNvSpPr>
            <a:spLocks noChangeArrowheads="1"/>
          </p:cNvSpPr>
          <p:nvPr/>
        </p:nvSpPr>
        <p:spPr bwMode="auto">
          <a:xfrm>
            <a:off x="1600200" y="0"/>
            <a:ext cx="6400800" cy="854075"/>
          </a:xfrm>
          <a:prstGeom prst="rect">
            <a:avLst/>
          </a:prstGeom>
          <a:noFill/>
          <a:ln w="9525">
            <a:noFill/>
            <a:miter lim="800000"/>
            <a:headEnd/>
            <a:tailEnd/>
          </a:ln>
          <a:effectLst/>
        </p:spPr>
        <p:txBody>
          <a:bodyPr>
            <a:spAutoFit/>
          </a:bodyPr>
          <a:lstStyle/>
          <a:p>
            <a:pPr algn="ctr" fontAlgn="auto">
              <a:spcBef>
                <a:spcPts val="0"/>
              </a:spcBef>
              <a:spcAft>
                <a:spcPts val="0"/>
              </a:spcAft>
              <a:defRPr/>
            </a:pPr>
            <a:r>
              <a:rPr lang="en-US" sz="2600" b="1" dirty="0">
                <a:solidFill>
                  <a:schemeClr val="bg2">
                    <a:lumMod val="50000"/>
                  </a:schemeClr>
                </a:solidFill>
                <a:latin typeface="+mn-lt"/>
              </a:rPr>
              <a:t>Unit Cell Concept</a:t>
            </a:r>
          </a:p>
          <a:p>
            <a:pPr algn="ctr" eaLnBrk="0" fontAlgn="auto" hangingPunct="0">
              <a:spcBef>
                <a:spcPts val="0"/>
              </a:spcBef>
              <a:spcAft>
                <a:spcPts val="0"/>
              </a:spcAft>
              <a:defRPr/>
            </a:pPr>
            <a:endParaRPr lang="en-US" sz="2400" dirty="0">
              <a:solidFill>
                <a:schemeClr val="bg2">
                  <a:lumMod val="50000"/>
                </a:schemeClr>
              </a:solidFill>
              <a:latin typeface="+mn-lt"/>
            </a:endParaRPr>
          </a:p>
        </p:txBody>
      </p:sp>
      <p:pic>
        <p:nvPicPr>
          <p:cNvPr id="36869" name="Picture 3"/>
          <p:cNvPicPr>
            <a:picLocks noChangeAspect="1" noChangeArrowheads="1"/>
          </p:cNvPicPr>
          <p:nvPr/>
        </p:nvPicPr>
        <p:blipFill>
          <a:blip r:embed="rId4"/>
          <a:srcRect b="24138"/>
          <a:stretch>
            <a:fillRect/>
          </a:stretch>
        </p:blipFill>
        <p:spPr bwMode="auto">
          <a:xfrm>
            <a:off x="11113" y="1524000"/>
            <a:ext cx="9132887" cy="3352800"/>
          </a:xfrm>
          <a:prstGeom prst="rect">
            <a:avLst/>
          </a:prstGeom>
          <a:noFill/>
          <a:ln w="9525">
            <a:noFill/>
            <a:miter lim="800000"/>
            <a:headEnd/>
            <a:tailEnd/>
          </a:ln>
        </p:spPr>
      </p:pic>
      <p:pic>
        <p:nvPicPr>
          <p:cNvPr id="36870" name="Picture 5"/>
          <p:cNvPicPr>
            <a:picLocks noChangeAspect="1" noChangeArrowheads="1"/>
          </p:cNvPicPr>
          <p:nvPr/>
        </p:nvPicPr>
        <p:blipFill>
          <a:blip r:embed="rId5"/>
          <a:srcRect/>
          <a:stretch>
            <a:fillRect/>
          </a:stretch>
        </p:blipFill>
        <p:spPr bwMode="auto">
          <a:xfrm>
            <a:off x="381000" y="5562600"/>
            <a:ext cx="8534400" cy="639763"/>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6869"/>
                                        </p:tgtEl>
                                        <p:attrNameLst>
                                          <p:attrName>style.visibility</p:attrName>
                                        </p:attrNameLst>
                                      </p:cBhvr>
                                      <p:to>
                                        <p:strVal val="visible"/>
                                      </p:to>
                                    </p:set>
                                    <p:anim calcmode="lin" valueType="num">
                                      <p:cBhvr additive="base">
                                        <p:cTn id="7" dur="500" fill="hold"/>
                                        <p:tgtEl>
                                          <p:spTgt spid="36869"/>
                                        </p:tgtEl>
                                        <p:attrNameLst>
                                          <p:attrName>ppt_x</p:attrName>
                                        </p:attrNameLst>
                                      </p:cBhvr>
                                      <p:tavLst>
                                        <p:tav tm="0">
                                          <p:val>
                                            <p:strVal val="#ppt_x"/>
                                          </p:val>
                                        </p:tav>
                                        <p:tav tm="100000">
                                          <p:val>
                                            <p:strVal val="#ppt_x"/>
                                          </p:val>
                                        </p:tav>
                                      </p:tavLst>
                                    </p:anim>
                                    <p:anim calcmode="lin" valueType="num">
                                      <p:cBhvr additive="base">
                                        <p:cTn id="8" dur="500" fill="hold"/>
                                        <p:tgtEl>
                                          <p:spTgt spid="3686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6870"/>
                                        </p:tgtEl>
                                        <p:attrNameLst>
                                          <p:attrName>style.visibility</p:attrName>
                                        </p:attrNameLst>
                                      </p:cBhvr>
                                      <p:to>
                                        <p:strVal val="visible"/>
                                      </p:to>
                                    </p:set>
                                    <p:animEffect transition="in" filter="blinds(horizontal)">
                                      <p:cBhvr>
                                        <p:cTn id="13" dur="500"/>
                                        <p:tgtEl>
                                          <p:spTgt spid="368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srcRect b="5746"/>
          <a:stretch>
            <a:fillRect/>
          </a:stretch>
        </p:blipFill>
        <p:spPr bwMode="auto">
          <a:xfrm>
            <a:off x="0" y="0"/>
            <a:ext cx="9166225" cy="6248400"/>
          </a:xfrm>
          <a:prstGeom prst="rect">
            <a:avLst/>
          </a:prstGeom>
          <a:noFill/>
          <a:ln w="9525">
            <a:noFill/>
            <a:miter lim="800000"/>
            <a:headEnd/>
            <a:tailEnd/>
          </a:ln>
        </p:spPr>
      </p:pic>
      <p:sp>
        <p:nvSpPr>
          <p:cNvPr id="20483" name="Rectangle 2"/>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0" name="Rectangle 4"/>
          <p:cNvSpPr>
            <a:spLocks noChangeArrowheads="1"/>
          </p:cNvSpPr>
          <p:nvPr/>
        </p:nvSpPr>
        <p:spPr bwMode="auto">
          <a:xfrm>
            <a:off x="457200" y="0"/>
            <a:ext cx="8229600" cy="1143000"/>
          </a:xfrm>
          <a:prstGeom prst="rect">
            <a:avLst/>
          </a:prstGeom>
          <a:noFill/>
          <a:ln w="9525">
            <a:noFill/>
            <a:miter lim="800000"/>
            <a:headEnd/>
            <a:tailEnd/>
          </a:ln>
          <a:effectLst/>
        </p:spPr>
        <p:txBody>
          <a:bodyPr anchor="ctr"/>
          <a:lstStyle/>
          <a:p>
            <a:pPr algn="ctr" fontAlgn="auto">
              <a:spcBef>
                <a:spcPts val="0"/>
              </a:spcBef>
              <a:spcAft>
                <a:spcPts val="0"/>
              </a:spcAft>
              <a:defRPr/>
            </a:pPr>
            <a:r>
              <a:rPr lang="en-US" sz="3200" dirty="0">
                <a:solidFill>
                  <a:schemeClr val="bg2">
                    <a:lumMod val="50000"/>
                  </a:schemeClr>
                </a:solidFill>
                <a:latin typeface="+mn-lt"/>
              </a:rPr>
              <a:t>A crystal lattice is a 3-D stack of unit cells</a:t>
            </a:r>
          </a:p>
        </p:txBody>
      </p:sp>
      <p:graphicFrame>
        <p:nvGraphicFramePr>
          <p:cNvPr id="4098" name="Object 2"/>
          <p:cNvGraphicFramePr>
            <a:graphicFrameLocks noChangeAspect="1"/>
          </p:cNvGraphicFramePr>
          <p:nvPr/>
        </p:nvGraphicFramePr>
        <p:xfrm>
          <a:off x="1828800" y="1397000"/>
          <a:ext cx="4953000" cy="3556000"/>
        </p:xfrm>
        <a:graphic>
          <a:graphicData uri="http://schemas.openxmlformats.org/presentationml/2006/ole">
            <mc:AlternateContent xmlns:mc="http://schemas.openxmlformats.org/markup-compatibility/2006">
              <mc:Choice xmlns:v="urn:schemas-microsoft-com:vml" Requires="v">
                <p:oleObj spid="_x0000_s70669" name="Image" r:id="rId3" imgW="2892313" imgH="2121053" progId="">
                  <p:embed/>
                </p:oleObj>
              </mc:Choice>
              <mc:Fallback>
                <p:oleObj name="Image" r:id="rId3" imgW="2892313" imgH="2121053"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397000"/>
                        <a:ext cx="4953000" cy="355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01" name="Rectangle 9"/>
          <p:cNvSpPr>
            <a:spLocks noChangeArrowheads="1"/>
          </p:cNvSpPr>
          <p:nvPr/>
        </p:nvSpPr>
        <p:spPr bwMode="auto">
          <a:xfrm>
            <a:off x="0" y="4953000"/>
            <a:ext cx="9296400" cy="1311275"/>
          </a:xfrm>
          <a:prstGeom prst="rect">
            <a:avLst/>
          </a:prstGeom>
          <a:noFill/>
          <a:ln w="9525">
            <a:noFill/>
            <a:miter lim="800000"/>
            <a:headEnd/>
            <a:tailEnd/>
          </a:ln>
        </p:spPr>
        <p:txBody>
          <a:bodyPr anchor="ctr">
            <a:spAutoFit/>
          </a:bodyPr>
          <a:lstStyle/>
          <a:p>
            <a:r>
              <a:rPr lang="en-US" sz="2000">
                <a:latin typeface="Lucida Sans Unicode" pitchFamily="34" charset="0"/>
              </a:rPr>
              <a:t>Crystal lattice is an imaginative grid system in three dimensions in which every point (or node) has an environment that is identical to that of any other point or node.</a:t>
            </a:r>
            <a:br>
              <a:rPr lang="en-US" sz="2000">
                <a:latin typeface="Lucida Sans Unicode" pitchFamily="34" charset="0"/>
              </a:rPr>
            </a:br>
            <a:endParaRPr lang="en-US" sz="2000">
              <a:latin typeface="Lucida Sans Unicode" pitchFamily="34" charset="0"/>
            </a:endParaRPr>
          </a:p>
        </p:txBody>
      </p:sp>
      <p:sp>
        <p:nvSpPr>
          <p:cNvPr id="21509" name="Rectangle 4"/>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101"/>
                                        </p:tgtEl>
                                        <p:attrNameLst>
                                          <p:attrName>style.visibility</p:attrName>
                                        </p:attrNameLst>
                                      </p:cBhvr>
                                      <p:to>
                                        <p:strVal val="visible"/>
                                      </p:to>
                                    </p:set>
                                    <p:anim calcmode="lin" valueType="num">
                                      <p:cBhvr additive="base">
                                        <p:cTn id="13" dur="500" fill="hold"/>
                                        <p:tgtEl>
                                          <p:spTgt spid="4101"/>
                                        </p:tgtEl>
                                        <p:attrNameLst>
                                          <p:attrName>ppt_x</p:attrName>
                                        </p:attrNameLst>
                                      </p:cBhvr>
                                      <p:tavLst>
                                        <p:tav tm="0">
                                          <p:val>
                                            <p:strVal val="#ppt_x"/>
                                          </p:val>
                                        </p:tav>
                                        <p:tav tm="100000">
                                          <p:val>
                                            <p:strVal val="#ppt_x"/>
                                          </p:val>
                                        </p:tav>
                                      </p:tavLst>
                                    </p:anim>
                                    <p:anim calcmode="lin" valueType="num">
                                      <p:cBhvr additive="base">
                                        <p:cTn id="14" dur="500" fill="hold"/>
                                        <p:tgtEl>
                                          <p:spTgt spid="41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1" grpId="0"/>
    </p:bld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0" y="0"/>
            <a:ext cx="8229600" cy="1143000"/>
          </a:xfrm>
        </p:spPr>
        <p:txBody>
          <a:bodyPr/>
          <a:lstStyle/>
          <a:p>
            <a:pPr eaLnBrk="1" fontAlgn="auto" hangingPunct="1">
              <a:spcAft>
                <a:spcPts val="0"/>
              </a:spcAft>
              <a:defRPr/>
            </a:pPr>
            <a:r>
              <a:rPr lang="en-US" dirty="0">
                <a:solidFill>
                  <a:schemeClr val="bg2">
                    <a:lumMod val="50000"/>
                  </a:schemeClr>
                </a:solidFill>
              </a:rPr>
              <a:t>Miller indices</a:t>
            </a:r>
          </a:p>
        </p:txBody>
      </p:sp>
      <p:sp>
        <p:nvSpPr>
          <p:cNvPr id="38915" name="Rectangle 4"/>
          <p:cNvSpPr>
            <a:spLocks noChangeArrowheads="1"/>
          </p:cNvSpPr>
          <p:nvPr/>
        </p:nvSpPr>
        <p:spPr bwMode="auto">
          <a:xfrm>
            <a:off x="0" y="1250950"/>
            <a:ext cx="8915400" cy="4156075"/>
          </a:xfrm>
          <a:prstGeom prst="rect">
            <a:avLst/>
          </a:prstGeom>
          <a:noFill/>
          <a:ln w="9525">
            <a:noFill/>
            <a:miter lim="800000"/>
            <a:headEnd/>
            <a:tailEnd/>
          </a:ln>
        </p:spPr>
        <p:txBody>
          <a:bodyPr anchor="ctr">
            <a:spAutoFit/>
          </a:bodyPr>
          <a:lstStyle/>
          <a:p>
            <a:pPr>
              <a:buFont typeface="Wingdings" pitchFamily="2" charset="2"/>
              <a:buChar char="Ø"/>
            </a:pPr>
            <a:r>
              <a:rPr lang="en-US" sz="2400">
                <a:latin typeface="Lucida Sans Unicode" pitchFamily="34" charset="0"/>
              </a:rPr>
              <a:t> A Miller index is a series of coprime integers that are inversely proportional to the intercepts of the crystal face or crystallographic planes with the edges of the unit cell.  </a:t>
            </a:r>
          </a:p>
          <a:p>
            <a:endParaRPr lang="en-US" sz="2400">
              <a:latin typeface="Lucida Sans Unicode" pitchFamily="34" charset="0"/>
            </a:endParaRPr>
          </a:p>
          <a:p>
            <a:pPr>
              <a:buFont typeface="Wingdings" pitchFamily="2" charset="2"/>
              <a:buChar char="Ø"/>
            </a:pPr>
            <a:r>
              <a:rPr lang="en-US" sz="2400">
                <a:latin typeface="Lucida Sans Unicode" pitchFamily="34" charset="0"/>
              </a:rPr>
              <a:t> It describes the orientation of a plane in the 3-D lattice with respect to the axes.</a:t>
            </a:r>
          </a:p>
          <a:p>
            <a:endParaRPr lang="en-US" sz="2400">
              <a:latin typeface="Lucida Sans Unicode" pitchFamily="34" charset="0"/>
            </a:endParaRPr>
          </a:p>
          <a:p>
            <a:pPr>
              <a:buFont typeface="Wingdings" pitchFamily="2" charset="2"/>
              <a:buChar char="Ø"/>
            </a:pPr>
            <a:r>
              <a:rPr lang="en-US" sz="2400">
                <a:latin typeface="Lucida Sans Unicode" pitchFamily="34" charset="0"/>
              </a:rPr>
              <a:t>The general form of the Miller index is (h, k, l) where h, k, and l are integers related to the unit cell along the a, b, c crystal axes.</a:t>
            </a:r>
            <a:br>
              <a:rPr lang="en-US" sz="2400">
                <a:latin typeface="Lucida Sans Unicode" pitchFamily="34" charset="0"/>
              </a:rPr>
            </a:br>
            <a:endParaRPr lang="en-US" sz="2400">
              <a:latin typeface="Lucida Sans Unicode" pitchFamily="34" charset="0"/>
            </a:endParaRPr>
          </a:p>
        </p:txBody>
      </p:sp>
      <p:sp>
        <p:nvSpPr>
          <p:cNvPr id="22532" name="Rectangle 3"/>
          <p:cNvSpPr>
            <a:spLocks noChangeArrowheads="1"/>
          </p:cNvSpPr>
          <p:nvPr/>
        </p:nvSpPr>
        <p:spPr bwMode="auto">
          <a:xfrm>
            <a:off x="6019800" y="65357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8915">
                                            <p:txEl>
                                              <p:pRg st="0" end="0"/>
                                            </p:txEl>
                                          </p:spTgt>
                                        </p:tgtEl>
                                        <p:attrNameLst>
                                          <p:attrName>style.visibility</p:attrName>
                                        </p:attrNameLst>
                                      </p:cBhvr>
                                      <p:to>
                                        <p:strVal val="visible"/>
                                      </p:to>
                                    </p:set>
                                    <p:animEffect transition="in" filter="blinds(horizontal)">
                                      <p:cBhvr>
                                        <p:cTn id="7" dur="500"/>
                                        <p:tgtEl>
                                          <p:spTgt spid="3891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8915">
                                            <p:txEl>
                                              <p:pRg st="2" end="2"/>
                                            </p:txEl>
                                          </p:spTgt>
                                        </p:tgtEl>
                                        <p:attrNameLst>
                                          <p:attrName>style.visibility</p:attrName>
                                        </p:attrNameLst>
                                      </p:cBhvr>
                                      <p:to>
                                        <p:strVal val="visible"/>
                                      </p:to>
                                    </p:set>
                                    <p:animEffect transition="in" filter="blinds(horizontal)">
                                      <p:cBhvr>
                                        <p:cTn id="12" dur="500"/>
                                        <p:tgtEl>
                                          <p:spTgt spid="3891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8915">
                                            <p:txEl>
                                              <p:pRg st="4" end="4"/>
                                            </p:txEl>
                                          </p:spTgt>
                                        </p:tgtEl>
                                        <p:attrNameLst>
                                          <p:attrName>style.visibility</p:attrName>
                                        </p:attrNameLst>
                                      </p:cBhvr>
                                      <p:to>
                                        <p:strVal val="visible"/>
                                      </p:to>
                                    </p:set>
                                    <p:animEffect transition="in" filter="blinds(horizontal)">
                                      <p:cBhvr>
                                        <p:cTn id="17" dur="500"/>
                                        <p:tgtEl>
                                          <p:spTgt spid="3891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ext Box 4"/>
          <p:cNvSpPr txBox="1">
            <a:spLocks noChangeArrowheads="1"/>
          </p:cNvSpPr>
          <p:nvPr/>
        </p:nvSpPr>
        <p:spPr bwMode="auto">
          <a:xfrm>
            <a:off x="228600" y="0"/>
            <a:ext cx="4343400" cy="5786438"/>
          </a:xfrm>
          <a:prstGeom prst="rect">
            <a:avLst/>
          </a:prstGeom>
          <a:noFill/>
          <a:ln w="9525">
            <a:noFill/>
            <a:miter lim="800000"/>
            <a:headEnd/>
            <a:tailEnd/>
          </a:ln>
          <a:effectLst/>
        </p:spPr>
        <p:txBody>
          <a:bodyPr>
            <a:spAutoFit/>
          </a:bodyPr>
          <a:lstStyle/>
          <a:p>
            <a:pPr fontAlgn="auto">
              <a:spcBef>
                <a:spcPts val="0"/>
              </a:spcBef>
              <a:spcAft>
                <a:spcPts val="0"/>
              </a:spcAft>
              <a:defRPr/>
            </a:pPr>
            <a:r>
              <a:rPr lang="en-US" sz="3200" dirty="0">
                <a:solidFill>
                  <a:schemeClr val="bg2">
                    <a:lumMod val="50000"/>
                  </a:schemeClr>
                </a:solidFill>
                <a:latin typeface="+mj-lt"/>
              </a:rPr>
              <a:t>Miller Indices</a:t>
            </a:r>
          </a:p>
          <a:p>
            <a:pPr fontAlgn="auto">
              <a:spcBef>
                <a:spcPts val="0"/>
              </a:spcBef>
              <a:spcAft>
                <a:spcPts val="0"/>
              </a:spcAft>
              <a:defRPr/>
            </a:pPr>
            <a:endParaRPr lang="en-US" dirty="0">
              <a:latin typeface="+mj-lt"/>
            </a:endParaRPr>
          </a:p>
          <a:p>
            <a:pPr fontAlgn="auto">
              <a:spcBef>
                <a:spcPts val="0"/>
              </a:spcBef>
              <a:spcAft>
                <a:spcPts val="0"/>
              </a:spcAft>
              <a:defRPr/>
            </a:pPr>
            <a:r>
              <a:rPr lang="en-US" sz="2000" b="1" dirty="0">
                <a:latin typeface="+mj-lt"/>
              </a:rPr>
              <a:t>Rules for determining Miller Indices:</a:t>
            </a:r>
          </a:p>
          <a:p>
            <a:pPr fontAlgn="auto">
              <a:spcBef>
                <a:spcPts val="0"/>
              </a:spcBef>
              <a:spcAft>
                <a:spcPts val="0"/>
              </a:spcAft>
              <a:defRPr/>
            </a:pPr>
            <a:r>
              <a:rPr lang="en-US" sz="2000" dirty="0">
                <a:latin typeface="+mj-lt"/>
              </a:rPr>
              <a:t> </a:t>
            </a:r>
          </a:p>
          <a:p>
            <a:pPr marL="457200" indent="-457200" fontAlgn="auto">
              <a:spcBef>
                <a:spcPts val="0"/>
              </a:spcBef>
              <a:spcAft>
                <a:spcPts val="0"/>
              </a:spcAft>
              <a:buFontTx/>
              <a:buAutoNum type="arabicPeriod"/>
              <a:defRPr/>
            </a:pPr>
            <a:r>
              <a:rPr lang="en-US" sz="2000" dirty="0">
                <a:latin typeface="+mj-lt"/>
              </a:rPr>
              <a:t>Determine the intercepts of the face along the crystallographic axes, </a:t>
            </a:r>
            <a:r>
              <a:rPr lang="en-US" sz="2000" i="1" dirty="0">
                <a:latin typeface="+mj-lt"/>
              </a:rPr>
              <a:t>in terms of unit cell dimensions.</a:t>
            </a:r>
          </a:p>
          <a:p>
            <a:pPr marL="457200" indent="-457200" fontAlgn="auto">
              <a:spcBef>
                <a:spcPts val="0"/>
              </a:spcBef>
              <a:spcAft>
                <a:spcPts val="0"/>
              </a:spcAft>
              <a:defRPr/>
            </a:pPr>
            <a:endParaRPr lang="en-US" sz="2000" dirty="0">
              <a:latin typeface="+mj-lt"/>
            </a:endParaRPr>
          </a:p>
          <a:p>
            <a:pPr fontAlgn="auto">
              <a:spcBef>
                <a:spcPts val="0"/>
              </a:spcBef>
              <a:spcAft>
                <a:spcPts val="0"/>
              </a:spcAft>
              <a:defRPr/>
            </a:pPr>
            <a:r>
              <a:rPr lang="en-US" sz="2000" dirty="0">
                <a:latin typeface="+mj-lt"/>
              </a:rPr>
              <a:t>2. Take the reciprocals</a:t>
            </a:r>
          </a:p>
          <a:p>
            <a:pPr fontAlgn="auto">
              <a:spcBef>
                <a:spcPts val="0"/>
              </a:spcBef>
              <a:spcAft>
                <a:spcPts val="0"/>
              </a:spcAft>
              <a:defRPr/>
            </a:pPr>
            <a:endParaRPr lang="en-US" sz="2000" dirty="0">
              <a:latin typeface="+mj-lt"/>
            </a:endParaRPr>
          </a:p>
          <a:p>
            <a:pPr fontAlgn="auto">
              <a:spcBef>
                <a:spcPts val="0"/>
              </a:spcBef>
              <a:spcAft>
                <a:spcPts val="0"/>
              </a:spcAft>
              <a:defRPr/>
            </a:pPr>
            <a:r>
              <a:rPr lang="en-US" sz="2000" dirty="0">
                <a:latin typeface="+mj-lt"/>
              </a:rPr>
              <a:t>3. Clear fractions</a:t>
            </a:r>
          </a:p>
          <a:p>
            <a:pPr fontAlgn="auto">
              <a:spcBef>
                <a:spcPts val="0"/>
              </a:spcBef>
              <a:spcAft>
                <a:spcPts val="0"/>
              </a:spcAft>
              <a:defRPr/>
            </a:pPr>
            <a:endParaRPr lang="en-US" sz="2000" dirty="0">
              <a:latin typeface="+mj-lt"/>
            </a:endParaRPr>
          </a:p>
          <a:p>
            <a:pPr fontAlgn="auto">
              <a:spcBef>
                <a:spcPts val="0"/>
              </a:spcBef>
              <a:spcAft>
                <a:spcPts val="0"/>
              </a:spcAft>
              <a:defRPr/>
            </a:pPr>
            <a:r>
              <a:rPr lang="en-US" sz="2000" dirty="0">
                <a:latin typeface="+mj-lt"/>
              </a:rPr>
              <a:t>4. Reduce to lowest terms</a:t>
            </a:r>
          </a:p>
          <a:p>
            <a:pPr fontAlgn="auto">
              <a:spcBef>
                <a:spcPts val="0"/>
              </a:spcBef>
              <a:spcAft>
                <a:spcPts val="0"/>
              </a:spcAft>
              <a:defRPr/>
            </a:pPr>
            <a:endParaRPr lang="en-US" sz="2000" b="1" dirty="0">
              <a:latin typeface="Times New Roman" pitchFamily="18" charset="0"/>
            </a:endParaRPr>
          </a:p>
          <a:p>
            <a:pPr fontAlgn="auto">
              <a:spcBef>
                <a:spcPts val="0"/>
              </a:spcBef>
              <a:spcAft>
                <a:spcPts val="0"/>
              </a:spcAft>
              <a:defRPr/>
            </a:pPr>
            <a:r>
              <a:rPr lang="en-US" sz="2000" b="1" dirty="0">
                <a:latin typeface="Times New Roman" pitchFamily="18" charset="0"/>
              </a:rPr>
              <a:t>An example of the (111) plane (h=1, k=1, l=1) is shown on the right.</a:t>
            </a:r>
          </a:p>
        </p:txBody>
      </p:sp>
      <p:pic>
        <p:nvPicPr>
          <p:cNvPr id="39939" name="Picture 6"/>
          <p:cNvPicPr>
            <a:picLocks noChangeAspect="1" noChangeArrowheads="1"/>
          </p:cNvPicPr>
          <p:nvPr/>
        </p:nvPicPr>
        <p:blipFill>
          <a:blip r:embed="rId2"/>
          <a:srcRect/>
          <a:stretch>
            <a:fillRect/>
          </a:stretch>
        </p:blipFill>
        <p:spPr bwMode="auto">
          <a:xfrm>
            <a:off x="4648200" y="633413"/>
            <a:ext cx="4114800" cy="5386387"/>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9939"/>
                                        </p:tgtEl>
                                        <p:attrNameLst>
                                          <p:attrName>style.visibility</p:attrName>
                                        </p:attrNameLst>
                                      </p:cBhvr>
                                      <p:to>
                                        <p:strVal val="visible"/>
                                      </p:to>
                                    </p:set>
                                    <p:animEffect transition="in" filter="blinds(horizontal)">
                                      <p:cBhvr>
                                        <p:cTn id="7"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srcRect/>
          <a:stretch>
            <a:fillRect/>
          </a:stretch>
        </p:blipFill>
        <p:spPr bwMode="auto">
          <a:xfrm>
            <a:off x="4724400" y="715963"/>
            <a:ext cx="3937000" cy="5424487"/>
          </a:xfrm>
          <a:prstGeom prst="rect">
            <a:avLst/>
          </a:prstGeom>
          <a:noFill/>
          <a:ln w="9525">
            <a:noFill/>
            <a:miter lim="800000"/>
            <a:headEnd/>
            <a:tailEnd/>
          </a:ln>
        </p:spPr>
      </p:pic>
      <p:sp>
        <p:nvSpPr>
          <p:cNvPr id="58374" name="Text Box 6"/>
          <p:cNvSpPr txBox="1">
            <a:spLocks noChangeArrowheads="1"/>
          </p:cNvSpPr>
          <p:nvPr/>
        </p:nvSpPr>
        <p:spPr bwMode="auto">
          <a:xfrm>
            <a:off x="228600" y="228600"/>
            <a:ext cx="3736975" cy="584200"/>
          </a:xfrm>
          <a:prstGeom prst="rect">
            <a:avLst/>
          </a:prstGeom>
          <a:noFill/>
          <a:ln w="9525">
            <a:noFill/>
            <a:miter lim="800000"/>
            <a:headEnd/>
            <a:tailEnd/>
          </a:ln>
          <a:effectLst/>
        </p:spPr>
        <p:txBody>
          <a:bodyPr wrap="none">
            <a:spAutoFit/>
          </a:bodyPr>
          <a:lstStyle/>
          <a:p>
            <a:pPr fontAlgn="auto">
              <a:spcBef>
                <a:spcPts val="0"/>
              </a:spcBef>
              <a:spcAft>
                <a:spcPts val="0"/>
              </a:spcAft>
              <a:defRPr/>
            </a:pPr>
            <a:r>
              <a:rPr lang="en-US" sz="3200" dirty="0">
                <a:solidFill>
                  <a:schemeClr val="bg2">
                    <a:lumMod val="50000"/>
                  </a:schemeClr>
                </a:solidFill>
                <a:latin typeface="+mn-lt"/>
              </a:rPr>
              <a:t>Another example:</a:t>
            </a:r>
          </a:p>
        </p:txBody>
      </p:sp>
      <p:sp>
        <p:nvSpPr>
          <p:cNvPr id="24580" name="Rectangle 4"/>
          <p:cNvSpPr>
            <a:spLocks noChangeArrowheads="1"/>
          </p:cNvSpPr>
          <p:nvPr/>
        </p:nvSpPr>
        <p:spPr bwMode="auto">
          <a:xfrm>
            <a:off x="6019800" y="65357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Rectangle 1"/>
          <p:cNvSpPr/>
          <p:nvPr/>
        </p:nvSpPr>
        <p:spPr>
          <a:xfrm>
            <a:off x="119063" y="1524000"/>
            <a:ext cx="4572000" cy="4094163"/>
          </a:xfrm>
          <a:prstGeom prst="rect">
            <a:avLst/>
          </a:prstGeom>
        </p:spPr>
        <p:txBody>
          <a:bodyPr>
            <a:spAutoFit/>
          </a:bodyPr>
          <a:lstStyle/>
          <a:p>
            <a:pPr>
              <a:defRPr/>
            </a:pPr>
            <a:r>
              <a:rPr lang="en-US" sz="2000" dirty="0">
                <a:latin typeface="+mn-lt"/>
              </a:rPr>
              <a:t>In this case the plane intercepts the a axis at one unit length and also the c axis at one unit length. The plane however, never intersects the b axis. In other words, it can be said that the intercept to the b axis is infinity. The intercepts are then designated as 1,infinity,1. The reciprocals are then 1/2, 1/infinity, 1/1. Knowing 1/infinity = 0 then the indices become (101).</a:t>
            </a:r>
          </a:p>
          <a:p>
            <a:pPr>
              <a:defRPr/>
            </a:pPr>
            <a:endParaRPr lang="en-US" sz="2000" dirty="0">
              <a:latin typeface="+mn-lt"/>
            </a:endParaRPr>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srcRect t="15457" r="45114"/>
          <a:stretch>
            <a:fillRect/>
          </a:stretch>
        </p:blipFill>
        <p:spPr bwMode="auto">
          <a:xfrm>
            <a:off x="0" y="1439863"/>
            <a:ext cx="5029200" cy="5418137"/>
          </a:xfrm>
          <a:prstGeom prst="rect">
            <a:avLst/>
          </a:prstGeom>
          <a:noFill/>
          <a:ln w="9525">
            <a:noFill/>
            <a:miter lim="800000"/>
            <a:headEnd/>
            <a:tailEnd/>
          </a:ln>
        </p:spPr>
      </p:pic>
      <p:sp>
        <p:nvSpPr>
          <p:cNvPr id="3" name="Rectangle 2"/>
          <p:cNvSpPr/>
          <p:nvPr/>
        </p:nvSpPr>
        <p:spPr>
          <a:xfrm>
            <a:off x="2667000" y="5334000"/>
            <a:ext cx="1219200" cy="1143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2"/>
          <p:cNvPicPr>
            <a:picLocks noChangeAspect="1" noChangeArrowheads="1"/>
          </p:cNvPicPr>
          <p:nvPr/>
        </p:nvPicPr>
        <p:blipFill>
          <a:blip r:embed="rId2"/>
          <a:srcRect l="54886" t="19148" b="42804"/>
          <a:stretch>
            <a:fillRect/>
          </a:stretch>
        </p:blipFill>
        <p:spPr bwMode="auto">
          <a:xfrm>
            <a:off x="5010150" y="1219200"/>
            <a:ext cx="4133850" cy="2438400"/>
          </a:xfrm>
          <a:prstGeom prst="rect">
            <a:avLst/>
          </a:prstGeom>
          <a:noFill/>
          <a:ln w="9525">
            <a:noFill/>
            <a:miter lim="800000"/>
            <a:headEnd/>
            <a:tailEnd/>
          </a:ln>
        </p:spPr>
      </p:pic>
      <p:pic>
        <p:nvPicPr>
          <p:cNvPr id="5" name="Picture 2"/>
          <p:cNvPicPr>
            <a:picLocks noChangeAspect="1" noChangeArrowheads="1"/>
          </p:cNvPicPr>
          <p:nvPr/>
        </p:nvPicPr>
        <p:blipFill>
          <a:blip r:embed="rId2"/>
          <a:srcRect l="54886" t="58385"/>
          <a:stretch>
            <a:fillRect/>
          </a:stretch>
        </p:blipFill>
        <p:spPr bwMode="auto">
          <a:xfrm>
            <a:off x="5010150" y="3886200"/>
            <a:ext cx="4133850" cy="2667000"/>
          </a:xfrm>
          <a:prstGeom prst="rect">
            <a:avLst/>
          </a:prstGeom>
          <a:noFill/>
          <a:ln w="9525">
            <a:noFill/>
            <a:miter lim="800000"/>
            <a:headEnd/>
            <a:tailEnd/>
          </a:ln>
        </p:spPr>
      </p:pic>
      <p:pic>
        <p:nvPicPr>
          <p:cNvPr id="25606" name="Picture 2"/>
          <p:cNvPicPr>
            <a:picLocks noChangeAspect="1" noChangeArrowheads="1"/>
          </p:cNvPicPr>
          <p:nvPr/>
        </p:nvPicPr>
        <p:blipFill>
          <a:blip r:embed="rId2"/>
          <a:srcRect b="90364"/>
          <a:stretch>
            <a:fillRect/>
          </a:stretch>
        </p:blipFill>
        <p:spPr bwMode="auto">
          <a:xfrm>
            <a:off x="-19050" y="0"/>
            <a:ext cx="9163050" cy="617538"/>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srcRect/>
          <a:stretch>
            <a:fillRect/>
          </a:stretch>
        </p:blipFill>
        <p:spPr bwMode="auto">
          <a:xfrm>
            <a:off x="-152400" y="0"/>
            <a:ext cx="9448800" cy="762000"/>
          </a:xfrm>
          <a:prstGeom prst="rect">
            <a:avLst/>
          </a:prstGeom>
          <a:noFill/>
          <a:ln w="9525">
            <a:noFill/>
            <a:miter lim="800000"/>
            <a:headEnd/>
            <a:tailEnd/>
          </a:ln>
        </p:spPr>
      </p:pic>
      <p:pic>
        <p:nvPicPr>
          <p:cNvPr id="26627" name="Picture 3"/>
          <p:cNvPicPr>
            <a:picLocks noChangeAspect="1" noChangeArrowheads="1"/>
          </p:cNvPicPr>
          <p:nvPr/>
        </p:nvPicPr>
        <p:blipFill>
          <a:blip r:embed="rId3"/>
          <a:srcRect/>
          <a:stretch>
            <a:fillRect/>
          </a:stretch>
        </p:blipFill>
        <p:spPr bwMode="auto">
          <a:xfrm>
            <a:off x="1143000" y="838200"/>
            <a:ext cx="7086600" cy="5702300"/>
          </a:xfrm>
          <a:prstGeom prst="rect">
            <a:avLst/>
          </a:prstGeom>
          <a:noFill/>
          <a:ln w="9525">
            <a:noFill/>
            <a:miter lim="800000"/>
            <a:headEnd/>
            <a:tailEnd/>
          </a:ln>
        </p:spPr>
      </p:pic>
      <p:sp>
        <p:nvSpPr>
          <p:cNvPr id="4" name="TextBox 3"/>
          <p:cNvSpPr txBox="1"/>
          <p:nvPr/>
        </p:nvSpPr>
        <p:spPr>
          <a:xfrm>
            <a:off x="6629400" y="3276600"/>
            <a:ext cx="2149475" cy="369888"/>
          </a:xfrm>
          <a:prstGeom prst="rect">
            <a:avLst/>
          </a:prstGeom>
          <a:noFill/>
        </p:spPr>
        <p:txBody>
          <a:bodyPr wrap="none">
            <a:spAutoFit/>
          </a:bodyPr>
          <a:lstStyle/>
          <a:p>
            <a:pPr fontAlgn="auto">
              <a:spcBef>
                <a:spcPts val="0"/>
              </a:spcBef>
              <a:spcAft>
                <a:spcPts val="0"/>
              </a:spcAft>
              <a:defRPr/>
            </a:pPr>
            <a:r>
              <a:rPr lang="en-US" dirty="0">
                <a:solidFill>
                  <a:schemeClr val="bg2">
                    <a:lumMod val="50000"/>
                  </a:schemeClr>
                </a:solidFill>
                <a:latin typeface="+mn-lt"/>
              </a:rPr>
              <a:t>Crystalline Planes</a:t>
            </a:r>
          </a:p>
        </p:txBody>
      </p:sp>
      <p:sp>
        <p:nvSpPr>
          <p:cNvPr id="5" name="TextBox 4"/>
          <p:cNvSpPr txBox="1"/>
          <p:nvPr/>
        </p:nvSpPr>
        <p:spPr>
          <a:xfrm>
            <a:off x="6629400" y="6248400"/>
            <a:ext cx="2114550" cy="369888"/>
          </a:xfrm>
          <a:prstGeom prst="rect">
            <a:avLst/>
          </a:prstGeom>
          <a:noFill/>
        </p:spPr>
        <p:txBody>
          <a:bodyPr wrap="none">
            <a:spAutoFit/>
          </a:bodyPr>
          <a:lstStyle/>
          <a:p>
            <a:pPr fontAlgn="auto">
              <a:spcBef>
                <a:spcPts val="0"/>
              </a:spcBef>
              <a:spcAft>
                <a:spcPts val="0"/>
              </a:spcAft>
              <a:defRPr/>
            </a:pPr>
            <a:r>
              <a:rPr lang="en-US" dirty="0">
                <a:solidFill>
                  <a:schemeClr val="bg2">
                    <a:lumMod val="50000"/>
                  </a:schemeClr>
                </a:solidFill>
                <a:latin typeface="+mn-lt"/>
              </a:rPr>
              <a:t>Direction Vectors</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3"/>
          <p:cNvSpPr txBox="1">
            <a:spLocks noChangeArrowheads="1"/>
          </p:cNvSpPr>
          <p:nvPr/>
        </p:nvSpPr>
        <p:spPr bwMode="auto">
          <a:xfrm>
            <a:off x="0" y="0"/>
            <a:ext cx="7848600" cy="954088"/>
          </a:xfrm>
          <a:prstGeom prst="rect">
            <a:avLst/>
          </a:prstGeom>
          <a:noFill/>
          <a:ln w="9525">
            <a:noFill/>
            <a:miter lim="800000"/>
            <a:headEnd/>
            <a:tailEnd/>
          </a:ln>
        </p:spPr>
        <p:txBody>
          <a:bodyPr>
            <a:spAutoFit/>
          </a:bodyPr>
          <a:lstStyle/>
          <a:p>
            <a:pPr>
              <a:defRPr/>
            </a:pPr>
            <a:r>
              <a:rPr lang="en-US" sz="2800" b="1" dirty="0">
                <a:solidFill>
                  <a:schemeClr val="bg1">
                    <a:lumMod val="50000"/>
                  </a:schemeClr>
                </a:solidFill>
                <a:latin typeface="Lucida Sans Unicode" pitchFamily="34" charset="0"/>
              </a:rPr>
              <a:t>Where does a protein crystallographer see the Miller indices?</a:t>
            </a:r>
          </a:p>
        </p:txBody>
      </p:sp>
      <p:sp>
        <p:nvSpPr>
          <p:cNvPr id="59396" name="Text Box 4"/>
          <p:cNvSpPr txBox="1">
            <a:spLocks noChangeArrowheads="1"/>
          </p:cNvSpPr>
          <p:nvPr/>
        </p:nvSpPr>
        <p:spPr bwMode="auto">
          <a:xfrm>
            <a:off x="609600" y="1524000"/>
            <a:ext cx="4267200" cy="4473575"/>
          </a:xfrm>
          <a:prstGeom prst="rect">
            <a:avLst/>
          </a:prstGeom>
          <a:noFill/>
          <a:ln w="9525">
            <a:noFill/>
            <a:miter lim="800000"/>
            <a:headEnd/>
            <a:tailEnd/>
          </a:ln>
        </p:spPr>
        <p:txBody>
          <a:bodyPr>
            <a:spAutoFit/>
          </a:bodyPr>
          <a:lstStyle/>
          <a:p>
            <a:pPr>
              <a:buFontTx/>
              <a:buChar char="•"/>
            </a:pPr>
            <a:r>
              <a:rPr lang="en-US" b="1">
                <a:latin typeface="Lucida Sans Unicode" pitchFamily="34" charset="0"/>
              </a:rPr>
              <a:t> Common crystal faces are parallel to lattice planes</a:t>
            </a:r>
            <a:r>
              <a:rPr lang="en-US">
                <a:latin typeface="Lucida Sans Unicode" pitchFamily="34" charset="0"/>
              </a:rPr>
              <a:t> </a:t>
            </a: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endParaRPr lang="en-US">
              <a:latin typeface="Lucida Sans Unicode" pitchFamily="34" charset="0"/>
            </a:endParaRPr>
          </a:p>
          <a:p>
            <a:pPr>
              <a:buFontTx/>
              <a:buChar char="•"/>
            </a:pPr>
            <a:r>
              <a:rPr lang="en-US" sz="2000" b="1">
                <a:latin typeface="Lucida Sans Unicode" pitchFamily="34" charset="0"/>
              </a:rPr>
              <a:t> </a:t>
            </a:r>
            <a:r>
              <a:rPr lang="en-US" b="1">
                <a:latin typeface="Lucida Sans Unicode" pitchFamily="34" charset="0"/>
              </a:rPr>
              <a:t>Each diffraction spot can be regarded as a X-ray beam reflected from a lattice plane, and therefore has a unique Miller index. </a:t>
            </a:r>
          </a:p>
        </p:txBody>
      </p:sp>
      <p:graphicFrame>
        <p:nvGraphicFramePr>
          <p:cNvPr id="27652" name="Object 2"/>
          <p:cNvGraphicFramePr>
            <a:graphicFrameLocks noChangeAspect="1"/>
          </p:cNvGraphicFramePr>
          <p:nvPr/>
        </p:nvGraphicFramePr>
        <p:xfrm>
          <a:off x="5410200" y="914400"/>
          <a:ext cx="2560638" cy="2590800"/>
        </p:xfrm>
        <a:graphic>
          <a:graphicData uri="http://schemas.openxmlformats.org/presentationml/2006/ole">
            <mc:AlternateContent xmlns:mc="http://schemas.openxmlformats.org/markup-compatibility/2006">
              <mc:Choice xmlns:v="urn:schemas-microsoft-com:vml" Requires="v">
                <p:oleObj spid="_x0000_s71693" name="Image" r:id="rId3" imgW="2688114" imgH="2718821" progId="">
                  <p:embed/>
                </p:oleObj>
              </mc:Choice>
              <mc:Fallback>
                <p:oleObj name="Image" r:id="rId3" imgW="2688114" imgH="2718821"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0200" y="914400"/>
                        <a:ext cx="2560638"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7653" name="Picture 7" descr="scan_ed1"/>
          <p:cNvPicPr>
            <a:picLocks noChangeAspect="1" noChangeArrowheads="1"/>
          </p:cNvPicPr>
          <p:nvPr/>
        </p:nvPicPr>
        <p:blipFill>
          <a:blip r:embed="rId5"/>
          <a:srcRect/>
          <a:stretch>
            <a:fillRect/>
          </a:stretch>
        </p:blipFill>
        <p:spPr bwMode="auto">
          <a:xfrm>
            <a:off x="5638800" y="3810000"/>
            <a:ext cx="2286000" cy="2111375"/>
          </a:xfrm>
          <a:prstGeom prst="rect">
            <a:avLst/>
          </a:prstGeom>
          <a:noFill/>
          <a:ln w="9525">
            <a:noFill/>
            <a:miter lim="800000"/>
            <a:headEnd/>
            <a:tailEnd/>
          </a:ln>
        </p:spPr>
      </p:pic>
      <p:sp>
        <p:nvSpPr>
          <p:cNvPr id="27654" name="Rectangle 5"/>
          <p:cNvSpPr>
            <a:spLocks noChangeArrowheads="1"/>
          </p:cNvSpPr>
          <p:nvPr/>
        </p:nvSpPr>
        <p:spPr bwMode="auto">
          <a:xfrm>
            <a:off x="6019800" y="64595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9396">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93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6" grpId="0" build="p" autoUpdateAnimBg="0"/>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305800" cy="1077913"/>
          </a:xfrm>
          <a:prstGeom prst="rect">
            <a:avLst/>
          </a:prstGeom>
        </p:spPr>
        <p:txBody>
          <a:bodyPr>
            <a:spAutoFit/>
          </a:bodyPr>
          <a:lstStyle/>
          <a:p>
            <a:pPr>
              <a:defRPr/>
            </a:pPr>
            <a:r>
              <a:rPr lang="en-US" sz="3200" dirty="0">
                <a:latin typeface="+mn-lt"/>
              </a:rPr>
              <a:t>How many different lattice types exist for crystalline material?</a:t>
            </a:r>
          </a:p>
        </p:txBody>
      </p:sp>
      <p:sp>
        <p:nvSpPr>
          <p:cNvPr id="3" name="Rectangle 2"/>
          <p:cNvSpPr/>
          <p:nvPr/>
        </p:nvSpPr>
        <p:spPr>
          <a:xfrm>
            <a:off x="414338" y="1676400"/>
            <a:ext cx="6858000" cy="3046413"/>
          </a:xfrm>
          <a:prstGeom prst="rect">
            <a:avLst/>
          </a:prstGeom>
        </p:spPr>
        <p:txBody>
          <a:bodyPr>
            <a:spAutoFit/>
          </a:bodyPr>
          <a:lstStyle/>
          <a:p>
            <a:pPr>
              <a:defRPr/>
            </a:pPr>
            <a:r>
              <a:rPr lang="en-US" sz="3200" b="1" dirty="0">
                <a:latin typeface="+mn-lt"/>
              </a:rPr>
              <a:t>There are four types of lattices: </a:t>
            </a:r>
          </a:p>
          <a:p>
            <a:pPr>
              <a:defRPr/>
            </a:pPr>
            <a:endParaRPr lang="en-US" sz="3200" dirty="0">
              <a:latin typeface="+mn-lt"/>
            </a:endParaRPr>
          </a:p>
          <a:p>
            <a:pPr>
              <a:defRPr/>
            </a:pPr>
            <a:r>
              <a:rPr lang="en-US" sz="3200" dirty="0">
                <a:latin typeface="+mn-lt"/>
              </a:rPr>
              <a:t>1)	Primitive cubic</a:t>
            </a:r>
          </a:p>
          <a:p>
            <a:pPr>
              <a:defRPr/>
            </a:pPr>
            <a:r>
              <a:rPr lang="en-US" sz="3200" dirty="0">
                <a:latin typeface="+mn-lt"/>
              </a:rPr>
              <a:t>2)	Body centered cubic</a:t>
            </a:r>
          </a:p>
          <a:p>
            <a:pPr>
              <a:defRPr/>
            </a:pPr>
            <a:r>
              <a:rPr lang="en-US" sz="3200" dirty="0">
                <a:latin typeface="+mn-lt"/>
              </a:rPr>
              <a:t>3)	Face centered cubic</a:t>
            </a:r>
          </a:p>
          <a:p>
            <a:pPr>
              <a:defRPr/>
            </a:pPr>
            <a:r>
              <a:rPr lang="en-US" sz="3200" dirty="0">
                <a:latin typeface="+mn-lt"/>
              </a:rPr>
              <a:t>4)	C-centered cubic</a:t>
            </a:r>
          </a:p>
        </p:txBody>
      </p:sp>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9" name="Object 2"/>
          <p:cNvGraphicFramePr>
            <a:graphicFrameLocks noChangeAspect="1"/>
          </p:cNvGraphicFramePr>
          <p:nvPr/>
        </p:nvGraphicFramePr>
        <p:xfrm>
          <a:off x="1981200" y="1111250"/>
          <a:ext cx="1576388" cy="1403350"/>
        </p:xfrm>
        <a:graphic>
          <a:graphicData uri="http://schemas.openxmlformats.org/presentationml/2006/ole">
            <mc:AlternateContent xmlns:mc="http://schemas.openxmlformats.org/markup-compatibility/2006">
              <mc:Choice xmlns:v="urn:schemas-microsoft-com:vml" Requires="v">
                <p:oleObj spid="_x0000_s72750" name="Bitmap Image" r:id="rId3" imgW="866896" imgH="771429" progId="PBrush">
                  <p:embed/>
                </p:oleObj>
              </mc:Choice>
              <mc:Fallback>
                <p:oleObj name="Bitmap Image" r:id="rId3" imgW="866896" imgH="771429"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111250"/>
                        <a:ext cx="1576388" cy="140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0" name="Object 3"/>
          <p:cNvGraphicFramePr>
            <a:graphicFrameLocks noChangeAspect="1"/>
          </p:cNvGraphicFramePr>
          <p:nvPr/>
        </p:nvGraphicFramePr>
        <p:xfrm>
          <a:off x="4905375" y="1077913"/>
          <a:ext cx="1724025" cy="1436687"/>
        </p:xfrm>
        <a:graphic>
          <a:graphicData uri="http://schemas.openxmlformats.org/presentationml/2006/ole">
            <mc:AlternateContent xmlns:mc="http://schemas.openxmlformats.org/markup-compatibility/2006">
              <mc:Choice xmlns:v="urn:schemas-microsoft-com:vml" Requires="v">
                <p:oleObj spid="_x0000_s72751" name="Bitmap Image" r:id="rId5" imgW="857143" imgH="714286" progId="PBrush">
                  <p:embed/>
                </p:oleObj>
              </mc:Choice>
              <mc:Fallback>
                <p:oleObj name="Bitmap Image" r:id="rId5" imgW="857143" imgH="714286" progId="PBrush">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05375" y="1077913"/>
                        <a:ext cx="1724025" cy="1436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1" name="Object 4"/>
          <p:cNvGraphicFramePr>
            <a:graphicFrameLocks noChangeAspect="1"/>
          </p:cNvGraphicFramePr>
          <p:nvPr/>
        </p:nvGraphicFramePr>
        <p:xfrm>
          <a:off x="1919288" y="3724275"/>
          <a:ext cx="1738312" cy="1457325"/>
        </p:xfrm>
        <a:graphic>
          <a:graphicData uri="http://schemas.openxmlformats.org/presentationml/2006/ole">
            <mc:AlternateContent xmlns:mc="http://schemas.openxmlformats.org/markup-compatibility/2006">
              <mc:Choice xmlns:v="urn:schemas-microsoft-com:vml" Requires="v">
                <p:oleObj spid="_x0000_s72752" name="Bitmap Image" r:id="rId7" imgW="885949" imgH="743054" progId="PBrush">
                  <p:embed/>
                </p:oleObj>
              </mc:Choice>
              <mc:Fallback>
                <p:oleObj name="Bitmap Image" r:id="rId7" imgW="885949" imgH="743054" progId="PBrush">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19288" y="3724275"/>
                        <a:ext cx="1738312"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2" name="Object 5"/>
          <p:cNvGraphicFramePr>
            <a:graphicFrameLocks noChangeAspect="1"/>
          </p:cNvGraphicFramePr>
          <p:nvPr/>
        </p:nvGraphicFramePr>
        <p:xfrm>
          <a:off x="4876800" y="3584575"/>
          <a:ext cx="1905000" cy="1597025"/>
        </p:xfrm>
        <a:graphic>
          <a:graphicData uri="http://schemas.openxmlformats.org/presentationml/2006/ole">
            <mc:AlternateContent xmlns:mc="http://schemas.openxmlformats.org/markup-compatibility/2006">
              <mc:Choice xmlns:v="urn:schemas-microsoft-com:vml" Requires="v">
                <p:oleObj spid="_x0000_s72753" name="Bitmap Image" r:id="rId9" imgW="1000000" imgH="838095" progId="PBrush">
                  <p:embed/>
                </p:oleObj>
              </mc:Choice>
              <mc:Fallback>
                <p:oleObj name="Bitmap Image" r:id="rId9" imgW="1000000" imgH="838095" progId="PBrush">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76800" y="3584575"/>
                        <a:ext cx="1905000"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3" name="Text Box 9"/>
          <p:cNvSpPr txBox="1">
            <a:spLocks noChangeArrowheads="1"/>
          </p:cNvSpPr>
          <p:nvPr/>
        </p:nvSpPr>
        <p:spPr bwMode="auto">
          <a:xfrm>
            <a:off x="1676400" y="2667000"/>
            <a:ext cx="2362200" cy="457200"/>
          </a:xfrm>
          <a:prstGeom prst="rect">
            <a:avLst/>
          </a:prstGeom>
          <a:noFill/>
          <a:ln w="9525">
            <a:noFill/>
            <a:miter lim="800000"/>
            <a:headEnd/>
            <a:tailEnd/>
          </a:ln>
        </p:spPr>
        <p:txBody>
          <a:bodyPr>
            <a:spAutoFit/>
          </a:bodyPr>
          <a:lstStyle/>
          <a:p>
            <a:pPr>
              <a:spcBef>
                <a:spcPct val="50000"/>
              </a:spcBef>
            </a:pPr>
            <a:r>
              <a:rPr lang="en-US" sz="2400">
                <a:latin typeface="Lucida Sans Unicode" pitchFamily="34" charset="0"/>
              </a:rPr>
              <a:t>Primitive ( </a:t>
            </a:r>
            <a:r>
              <a:rPr lang="en-US" sz="2400" b="1">
                <a:solidFill>
                  <a:srgbClr val="CC0000"/>
                </a:solidFill>
                <a:latin typeface="Lucida Sans Unicode" pitchFamily="34" charset="0"/>
              </a:rPr>
              <a:t>P </a:t>
            </a:r>
            <a:r>
              <a:rPr lang="en-US" sz="2400">
                <a:latin typeface="Lucida Sans Unicode" pitchFamily="34" charset="0"/>
              </a:rPr>
              <a:t>)</a:t>
            </a:r>
          </a:p>
        </p:txBody>
      </p:sp>
      <p:sp>
        <p:nvSpPr>
          <p:cNvPr id="29704" name="Text Box 10"/>
          <p:cNvSpPr txBox="1">
            <a:spLocks noChangeArrowheads="1"/>
          </p:cNvSpPr>
          <p:nvPr/>
        </p:nvSpPr>
        <p:spPr bwMode="auto">
          <a:xfrm>
            <a:off x="4495800" y="2667000"/>
            <a:ext cx="3200400" cy="457200"/>
          </a:xfrm>
          <a:prstGeom prst="rect">
            <a:avLst/>
          </a:prstGeom>
          <a:noFill/>
          <a:ln w="9525">
            <a:noFill/>
            <a:miter lim="800000"/>
            <a:headEnd/>
            <a:tailEnd/>
          </a:ln>
        </p:spPr>
        <p:txBody>
          <a:bodyPr>
            <a:spAutoFit/>
          </a:bodyPr>
          <a:lstStyle/>
          <a:p>
            <a:pPr>
              <a:spcBef>
                <a:spcPct val="50000"/>
              </a:spcBef>
            </a:pPr>
            <a:r>
              <a:rPr lang="en-US" sz="2400">
                <a:latin typeface="Lucida Sans Unicode" pitchFamily="34" charset="0"/>
              </a:rPr>
              <a:t>Body Centered ( </a:t>
            </a:r>
            <a:r>
              <a:rPr lang="en-US" sz="2400" b="1">
                <a:solidFill>
                  <a:srgbClr val="CC0000"/>
                </a:solidFill>
                <a:latin typeface="Lucida Sans Unicode" pitchFamily="34" charset="0"/>
              </a:rPr>
              <a:t>I </a:t>
            </a:r>
            <a:r>
              <a:rPr lang="en-US" sz="2400">
                <a:latin typeface="Lucida Sans Unicode" pitchFamily="34" charset="0"/>
              </a:rPr>
              <a:t>)</a:t>
            </a:r>
          </a:p>
        </p:txBody>
      </p:sp>
      <p:sp>
        <p:nvSpPr>
          <p:cNvPr id="29705" name="Text Box 11"/>
          <p:cNvSpPr txBox="1">
            <a:spLocks noChangeArrowheads="1"/>
          </p:cNvSpPr>
          <p:nvPr/>
        </p:nvSpPr>
        <p:spPr bwMode="auto">
          <a:xfrm>
            <a:off x="1295400" y="5334000"/>
            <a:ext cx="3124200" cy="457200"/>
          </a:xfrm>
          <a:prstGeom prst="rect">
            <a:avLst/>
          </a:prstGeom>
          <a:noFill/>
          <a:ln w="9525">
            <a:noFill/>
            <a:miter lim="800000"/>
            <a:headEnd/>
            <a:tailEnd/>
          </a:ln>
        </p:spPr>
        <p:txBody>
          <a:bodyPr>
            <a:spAutoFit/>
          </a:bodyPr>
          <a:lstStyle/>
          <a:p>
            <a:pPr>
              <a:spcBef>
                <a:spcPct val="50000"/>
              </a:spcBef>
            </a:pPr>
            <a:r>
              <a:rPr lang="en-US" sz="2400">
                <a:latin typeface="Lucida Sans Unicode" pitchFamily="34" charset="0"/>
              </a:rPr>
              <a:t>Face Centered ( </a:t>
            </a:r>
            <a:r>
              <a:rPr lang="en-US" sz="2400" b="1">
                <a:solidFill>
                  <a:srgbClr val="CC0000"/>
                </a:solidFill>
                <a:latin typeface="Lucida Sans Unicode" pitchFamily="34" charset="0"/>
              </a:rPr>
              <a:t>F </a:t>
            </a:r>
            <a:r>
              <a:rPr lang="en-US" sz="2400">
                <a:latin typeface="Lucida Sans Unicode" pitchFamily="34" charset="0"/>
              </a:rPr>
              <a:t>)</a:t>
            </a:r>
          </a:p>
        </p:txBody>
      </p:sp>
      <p:sp>
        <p:nvSpPr>
          <p:cNvPr id="29706" name="Text Box 12"/>
          <p:cNvSpPr txBox="1">
            <a:spLocks noChangeArrowheads="1"/>
          </p:cNvSpPr>
          <p:nvPr/>
        </p:nvSpPr>
        <p:spPr bwMode="auto">
          <a:xfrm>
            <a:off x="4800600" y="5334000"/>
            <a:ext cx="3048000" cy="457200"/>
          </a:xfrm>
          <a:prstGeom prst="rect">
            <a:avLst/>
          </a:prstGeom>
          <a:noFill/>
          <a:ln w="9525">
            <a:noFill/>
            <a:miter lim="800000"/>
            <a:headEnd/>
            <a:tailEnd/>
          </a:ln>
        </p:spPr>
        <p:txBody>
          <a:bodyPr>
            <a:spAutoFit/>
          </a:bodyPr>
          <a:lstStyle/>
          <a:p>
            <a:r>
              <a:rPr lang="en-US" sz="2400">
                <a:latin typeface="Lucida Sans Unicode" pitchFamily="34" charset="0"/>
              </a:rPr>
              <a:t>C-Centered (</a:t>
            </a:r>
            <a:r>
              <a:rPr lang="en-US" sz="2400" b="1">
                <a:solidFill>
                  <a:srgbClr val="CC0000"/>
                </a:solidFill>
                <a:latin typeface="Lucida Sans Unicode" pitchFamily="34" charset="0"/>
              </a:rPr>
              <a:t>C </a:t>
            </a:r>
            <a:r>
              <a:rPr lang="en-US" sz="2400">
                <a:latin typeface="Lucida Sans Unicode" pitchFamily="34" charset="0"/>
              </a:rPr>
              <a:t>) </a:t>
            </a:r>
          </a:p>
        </p:txBody>
      </p:sp>
      <p:sp>
        <p:nvSpPr>
          <p:cNvPr id="29707" name="Text Box 13"/>
          <p:cNvSpPr txBox="1">
            <a:spLocks noChangeArrowheads="1"/>
          </p:cNvSpPr>
          <p:nvPr/>
        </p:nvSpPr>
        <p:spPr bwMode="auto">
          <a:xfrm>
            <a:off x="1905000" y="228600"/>
            <a:ext cx="4816475" cy="457200"/>
          </a:xfrm>
          <a:prstGeom prst="rect">
            <a:avLst/>
          </a:prstGeom>
          <a:noFill/>
          <a:ln w="9525">
            <a:noFill/>
            <a:miter lim="800000"/>
            <a:headEnd/>
            <a:tailEnd/>
          </a:ln>
        </p:spPr>
        <p:txBody>
          <a:bodyPr>
            <a:spAutoFit/>
          </a:bodyPr>
          <a:lstStyle/>
          <a:p>
            <a:pPr algn="ctr"/>
            <a:r>
              <a:rPr lang="en-US" sz="2400" b="1">
                <a:solidFill>
                  <a:schemeClr val="accent2"/>
                </a:solidFill>
                <a:latin typeface="Lucida Sans Unicode" pitchFamily="34" charset="0"/>
              </a:rPr>
              <a:t>LATTICE TYPES</a:t>
            </a:r>
          </a:p>
        </p:txBody>
      </p:sp>
      <p:sp>
        <p:nvSpPr>
          <p:cNvPr id="29708" name="Rectangle 11"/>
          <p:cNvSpPr>
            <a:spLocks noChangeArrowheads="1"/>
          </p:cNvSpPr>
          <p:nvPr/>
        </p:nvSpPr>
        <p:spPr bwMode="auto">
          <a:xfrm>
            <a:off x="6019800" y="64595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ChangeArrowheads="1"/>
          </p:cNvSpPr>
          <p:nvPr/>
        </p:nvSpPr>
        <p:spPr bwMode="auto">
          <a:xfrm>
            <a:off x="2667000" y="128588"/>
            <a:ext cx="3671888" cy="519112"/>
          </a:xfrm>
          <a:prstGeom prst="rect">
            <a:avLst/>
          </a:prstGeom>
          <a:noFill/>
          <a:ln w="9525">
            <a:noFill/>
            <a:miter lim="800000"/>
            <a:headEnd/>
            <a:tailEnd/>
          </a:ln>
        </p:spPr>
        <p:txBody>
          <a:bodyPr wrap="none">
            <a:spAutoFit/>
          </a:bodyPr>
          <a:lstStyle/>
          <a:p>
            <a:r>
              <a:rPr lang="en-US" sz="2800" b="1">
                <a:solidFill>
                  <a:srgbClr val="CC0099"/>
                </a:solidFill>
                <a:latin typeface="Lucida Sans Unicode" pitchFamily="34" charset="0"/>
              </a:rPr>
              <a:t>BRAVAIS LATTICES</a:t>
            </a:r>
          </a:p>
        </p:txBody>
      </p:sp>
      <p:graphicFrame>
        <p:nvGraphicFramePr>
          <p:cNvPr id="30723" name="Object 2"/>
          <p:cNvGraphicFramePr>
            <a:graphicFrameLocks noChangeAspect="1"/>
          </p:cNvGraphicFramePr>
          <p:nvPr/>
        </p:nvGraphicFramePr>
        <p:xfrm>
          <a:off x="0" y="1054100"/>
          <a:ext cx="8534400" cy="5803900"/>
        </p:xfrm>
        <a:graphic>
          <a:graphicData uri="http://schemas.openxmlformats.org/presentationml/2006/ole">
            <mc:AlternateContent xmlns:mc="http://schemas.openxmlformats.org/markup-compatibility/2006">
              <mc:Choice xmlns:v="urn:schemas-microsoft-com:vml" Requires="v">
                <p:oleObj spid="_x0000_s73741" name="Bitmap Image" r:id="rId3" imgW="5095238" imgH="4219048" progId="PBrush">
                  <p:embed/>
                </p:oleObj>
              </mc:Choice>
              <mc:Fallback>
                <p:oleObj name="Bitmap Image" r:id="rId3" imgW="5095238" imgH="4219048" progId="PBrush">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54100"/>
                        <a:ext cx="8534400" cy="580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24" name="Rectangle 4"/>
          <p:cNvSpPr>
            <a:spLocks noChangeArrowheads="1"/>
          </p:cNvSpPr>
          <p:nvPr/>
        </p:nvSpPr>
        <p:spPr bwMode="auto">
          <a:xfrm>
            <a:off x="6019800" y="65357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
          <p:cNvSpPr>
            <a:spLocks noChangeArrowheads="1"/>
          </p:cNvSpPr>
          <p:nvPr/>
        </p:nvSpPr>
        <p:spPr bwMode="auto">
          <a:xfrm>
            <a:off x="17463" y="0"/>
            <a:ext cx="8763000" cy="2000250"/>
          </a:xfrm>
          <a:prstGeom prst="rect">
            <a:avLst/>
          </a:prstGeom>
          <a:noFill/>
          <a:ln w="9525">
            <a:noFill/>
            <a:miter lim="800000"/>
            <a:headEnd/>
            <a:tailEnd/>
          </a:ln>
        </p:spPr>
        <p:txBody>
          <a:bodyPr>
            <a:spAutoFit/>
          </a:bodyPr>
          <a:lstStyle/>
          <a:p>
            <a:r>
              <a:rPr lang="en-US" sz="2800" b="1"/>
              <a:t>Close Packing of Spheres</a:t>
            </a:r>
          </a:p>
          <a:p>
            <a:r>
              <a:rPr lang="en-US" sz="2400"/>
              <a:t>The description of the ordering of atoms in a solid comes from simple concepts of how identical objects stack in an array. If atoms are round and they pack as close as possible, they should look like this: </a:t>
            </a:r>
          </a:p>
        </p:txBody>
      </p:sp>
      <p:pic>
        <p:nvPicPr>
          <p:cNvPr id="31747" name="Picture 2"/>
          <p:cNvPicPr>
            <a:picLocks noChangeAspect="1" noChangeArrowheads="1"/>
          </p:cNvPicPr>
          <p:nvPr/>
        </p:nvPicPr>
        <p:blipFill>
          <a:blip r:embed="rId2"/>
          <a:srcRect/>
          <a:stretch>
            <a:fillRect/>
          </a:stretch>
        </p:blipFill>
        <p:spPr bwMode="auto">
          <a:xfrm>
            <a:off x="3514725" y="1627188"/>
            <a:ext cx="3457575" cy="2590800"/>
          </a:xfrm>
          <a:prstGeom prst="rect">
            <a:avLst/>
          </a:prstGeom>
          <a:noFill/>
          <a:ln w="9525">
            <a:noFill/>
            <a:miter lim="800000"/>
            <a:headEnd/>
            <a:tailEnd/>
          </a:ln>
          <a:effectLst/>
        </p:spPr>
      </p:pic>
      <p:sp>
        <p:nvSpPr>
          <p:cNvPr id="31748" name="Rectangle 2"/>
          <p:cNvSpPr>
            <a:spLocks noChangeArrowheads="1"/>
          </p:cNvSpPr>
          <p:nvPr/>
        </p:nvSpPr>
        <p:spPr bwMode="auto">
          <a:xfrm>
            <a:off x="3657600" y="6400800"/>
            <a:ext cx="6629400" cy="369888"/>
          </a:xfrm>
          <a:prstGeom prst="rect">
            <a:avLst/>
          </a:prstGeom>
          <a:noFill/>
          <a:ln w="9525">
            <a:noFill/>
            <a:miter lim="800000"/>
            <a:headEnd/>
            <a:tailEnd/>
          </a:ln>
        </p:spPr>
        <p:txBody>
          <a:bodyPr>
            <a:spAutoFit/>
          </a:bodyPr>
          <a:lstStyle/>
          <a:p>
            <a:r>
              <a:rPr lang="en-US"/>
              <a:t>http://www.chem.ufl.edu/~itl/2045/lectures/lec_h.html</a:t>
            </a:r>
          </a:p>
        </p:txBody>
      </p:sp>
      <p:sp>
        <p:nvSpPr>
          <p:cNvPr id="31749" name="Rectangle 3"/>
          <p:cNvSpPr>
            <a:spLocks noChangeArrowheads="1"/>
          </p:cNvSpPr>
          <p:nvPr/>
        </p:nvSpPr>
        <p:spPr bwMode="auto">
          <a:xfrm>
            <a:off x="30163" y="4430713"/>
            <a:ext cx="9113837" cy="1939925"/>
          </a:xfrm>
          <a:prstGeom prst="rect">
            <a:avLst/>
          </a:prstGeom>
          <a:noFill/>
          <a:ln w="9525">
            <a:noFill/>
            <a:miter lim="800000"/>
            <a:headEnd/>
            <a:tailEnd/>
          </a:ln>
        </p:spPr>
        <p:txBody>
          <a:bodyPr>
            <a:spAutoFit/>
          </a:bodyPr>
          <a:lstStyle/>
          <a:p>
            <a:r>
              <a:rPr lang="en-US" sz="2400">
                <a:cs typeface="Arial" charset="0"/>
              </a:rPr>
              <a:t>The close packing of spheres in a plane leads to a repeat unit (parallelpiped) that has each edge equal in length to the diameter (twice the radius) of the spheres. The angles, edge length, and atomic positions of the repeat unit are sufficient for the visualization of the entire infinite array in the solid. </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163" y="34925"/>
            <a:ext cx="9144000" cy="1476375"/>
          </a:xfrm>
          <a:prstGeom prst="rect">
            <a:avLst/>
          </a:prstGeom>
        </p:spPr>
        <p:txBody>
          <a:bodyPr>
            <a:spAutoFit/>
          </a:bodyPr>
          <a:lstStyle/>
          <a:p>
            <a:pPr>
              <a:defRPr/>
            </a:pPr>
            <a:r>
              <a:rPr lang="en-US" dirty="0">
                <a:latin typeface="+mn-lt"/>
              </a:rPr>
              <a:t>In three dimensions the repeat unit is a 3D shape called the Unit Cell. The unit cell has three </a:t>
            </a:r>
            <a:r>
              <a:rPr lang="en-US" dirty="0" err="1">
                <a:latin typeface="+mn-lt"/>
              </a:rPr>
              <a:t>uniques</a:t>
            </a:r>
            <a:r>
              <a:rPr lang="en-US" dirty="0">
                <a:latin typeface="+mn-lt"/>
              </a:rPr>
              <a:t> crystallographic </a:t>
            </a:r>
            <a:r>
              <a:rPr lang="en-US" dirty="0" err="1">
                <a:latin typeface="+mn-lt"/>
              </a:rPr>
              <a:t>axies</a:t>
            </a:r>
            <a:r>
              <a:rPr lang="en-US" dirty="0">
                <a:latin typeface="+mn-lt"/>
              </a:rPr>
              <a:t> and, in general, three edge lengths. The angles of the edges of the unit cell need not be 90 or 120 degrees. (The figure below shows a possible crystal structure and its unit cell, but it is not a closest-packed structure, like the 2D structure above) </a:t>
            </a:r>
          </a:p>
        </p:txBody>
      </p:sp>
      <p:pic>
        <p:nvPicPr>
          <p:cNvPr id="32771" name="Picture 2"/>
          <p:cNvPicPr>
            <a:picLocks noChangeAspect="1" noChangeArrowheads="1"/>
          </p:cNvPicPr>
          <p:nvPr/>
        </p:nvPicPr>
        <p:blipFill>
          <a:blip r:embed="rId2"/>
          <a:srcRect/>
          <a:stretch>
            <a:fillRect/>
          </a:stretch>
        </p:blipFill>
        <p:spPr bwMode="auto">
          <a:xfrm>
            <a:off x="1676400" y="2362200"/>
            <a:ext cx="6096000" cy="3832225"/>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175"/>
            <a:ext cx="9144000" cy="1938338"/>
          </a:xfrm>
          <a:prstGeom prst="rect">
            <a:avLst/>
          </a:prstGeom>
        </p:spPr>
        <p:txBody>
          <a:bodyPr>
            <a:spAutoFit/>
          </a:bodyPr>
          <a:lstStyle/>
          <a:p>
            <a:pPr>
              <a:defRPr/>
            </a:pPr>
            <a:r>
              <a:rPr lang="en-US" sz="2000" dirty="0">
                <a:latin typeface="+mn-lt"/>
              </a:rPr>
              <a:t>Close packed spheres of the same size in 3D is a little complicated. This packing leads to possibility of two unique structures, depending on how planes of 2D closest packed spheres are layered. If every other layer is exactly the same then we has a so called ABABA... structure. If not, then the structure is ABCABCABC...The figures below shows the difference between these two structures</a:t>
            </a:r>
          </a:p>
        </p:txBody>
      </p:sp>
      <p:pic>
        <p:nvPicPr>
          <p:cNvPr id="33795" name="Picture 2"/>
          <p:cNvPicPr>
            <a:picLocks noChangeAspect="1" noChangeArrowheads="1"/>
          </p:cNvPicPr>
          <p:nvPr/>
        </p:nvPicPr>
        <p:blipFill>
          <a:blip r:embed="rId2"/>
          <a:srcRect/>
          <a:stretch>
            <a:fillRect/>
          </a:stretch>
        </p:blipFill>
        <p:spPr bwMode="auto">
          <a:xfrm>
            <a:off x="1524000" y="1930400"/>
            <a:ext cx="5724525" cy="3819525"/>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 y="17463"/>
            <a:ext cx="8991600" cy="2676525"/>
          </a:xfrm>
          <a:prstGeom prst="rect">
            <a:avLst/>
          </a:prstGeom>
        </p:spPr>
        <p:txBody>
          <a:bodyPr>
            <a:spAutoFit/>
          </a:bodyPr>
          <a:lstStyle/>
          <a:p>
            <a:pPr>
              <a:defRPr/>
            </a:pPr>
            <a:r>
              <a:rPr lang="en-US" sz="2400" dirty="0">
                <a:latin typeface="+mn-lt"/>
              </a:rPr>
              <a:t>The ABABAB structure (panel (b) in the figures above) is called the Hexagonal Closest Packed (</a:t>
            </a:r>
            <a:r>
              <a:rPr lang="en-US" sz="2400" dirty="0" err="1">
                <a:latin typeface="+mn-lt"/>
              </a:rPr>
              <a:t>hcp</a:t>
            </a:r>
            <a:r>
              <a:rPr lang="en-US" sz="2400" dirty="0">
                <a:latin typeface="+mn-lt"/>
              </a:rPr>
              <a:t>) structure. In this structure, each atom has 12 nearest neighbors and the volume of the spheres fills the maximum possible space: 74.04%.</a:t>
            </a:r>
          </a:p>
          <a:p>
            <a:pPr>
              <a:defRPr/>
            </a:pPr>
            <a:endParaRPr lang="en-US" sz="2400" dirty="0">
              <a:latin typeface="+mn-lt"/>
            </a:endParaRPr>
          </a:p>
          <a:p>
            <a:pPr>
              <a:defRPr/>
            </a:pPr>
            <a:r>
              <a:rPr lang="en-US" sz="2400" dirty="0">
                <a:latin typeface="+mn-lt"/>
              </a:rPr>
              <a:t> </a:t>
            </a:r>
          </a:p>
        </p:txBody>
      </p:sp>
      <p:pic>
        <p:nvPicPr>
          <p:cNvPr id="34819" name="Picture 3"/>
          <p:cNvPicPr>
            <a:picLocks noChangeAspect="1" noChangeArrowheads="1"/>
          </p:cNvPicPr>
          <p:nvPr/>
        </p:nvPicPr>
        <p:blipFill>
          <a:blip r:embed="rId2"/>
          <a:srcRect/>
          <a:stretch>
            <a:fillRect/>
          </a:stretch>
        </p:blipFill>
        <p:spPr bwMode="auto">
          <a:xfrm>
            <a:off x="1295400" y="2362200"/>
            <a:ext cx="6938963" cy="3263900"/>
          </a:xfrm>
          <a:prstGeom prst="rect">
            <a:avLst/>
          </a:prstGeom>
          <a:noFill/>
          <a:ln w="9525">
            <a:noFill/>
            <a:miter lim="800000"/>
            <a:headEnd/>
            <a:tailEnd/>
          </a:ln>
          <a:effectLst/>
        </p:spPr>
      </p:pic>
      <p:pic>
        <p:nvPicPr>
          <p:cNvPr id="34820" name="Picture 4"/>
          <p:cNvPicPr>
            <a:picLocks noChangeAspect="1" noChangeArrowheads="1"/>
          </p:cNvPicPr>
          <p:nvPr/>
        </p:nvPicPr>
        <p:blipFill>
          <a:blip r:embed="rId3"/>
          <a:srcRect/>
          <a:stretch>
            <a:fillRect/>
          </a:stretch>
        </p:blipFill>
        <p:spPr bwMode="auto">
          <a:xfrm>
            <a:off x="4343400" y="6300788"/>
            <a:ext cx="5919788" cy="493712"/>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
          <p:cNvSpPr>
            <a:spLocks noChangeArrowheads="1"/>
          </p:cNvSpPr>
          <p:nvPr/>
        </p:nvSpPr>
        <p:spPr bwMode="auto">
          <a:xfrm>
            <a:off x="-26988" y="26988"/>
            <a:ext cx="9067801" cy="1570037"/>
          </a:xfrm>
          <a:prstGeom prst="rect">
            <a:avLst/>
          </a:prstGeom>
          <a:noFill/>
          <a:ln w="9525">
            <a:noFill/>
            <a:miter lim="800000"/>
            <a:headEnd/>
            <a:tailEnd/>
          </a:ln>
        </p:spPr>
        <p:txBody>
          <a:bodyPr>
            <a:spAutoFit/>
          </a:bodyPr>
          <a:lstStyle/>
          <a:p>
            <a:r>
              <a:rPr lang="en-US" sz="2400"/>
              <a:t>The ABCABC structure is called Face Centered Cubic (fcc). It also has each atom with 12 nearest neighbors and the atoms fill 74.04% of the available space. The difference in the structure is in the different long ranged order and the unit cell.</a:t>
            </a:r>
          </a:p>
        </p:txBody>
      </p:sp>
      <p:pic>
        <p:nvPicPr>
          <p:cNvPr id="35843" name="Picture 2"/>
          <p:cNvPicPr>
            <a:picLocks noChangeAspect="1" noChangeArrowheads="1"/>
          </p:cNvPicPr>
          <p:nvPr/>
        </p:nvPicPr>
        <p:blipFill>
          <a:blip r:embed="rId2"/>
          <a:srcRect/>
          <a:stretch>
            <a:fillRect/>
          </a:stretch>
        </p:blipFill>
        <p:spPr bwMode="auto">
          <a:xfrm>
            <a:off x="1066800" y="2032000"/>
            <a:ext cx="7343775" cy="3454400"/>
          </a:xfrm>
          <a:prstGeom prst="rect">
            <a:avLst/>
          </a:prstGeom>
          <a:noFill/>
          <a:ln w="9525">
            <a:noFill/>
            <a:miter lim="800000"/>
            <a:headEnd/>
            <a:tailEnd/>
          </a:ln>
          <a:effectLst/>
        </p:spPr>
      </p:pic>
      <p:sp>
        <p:nvSpPr>
          <p:cNvPr id="35844" name="Rectangle 2"/>
          <p:cNvSpPr>
            <a:spLocks noChangeArrowheads="1"/>
          </p:cNvSpPr>
          <p:nvPr/>
        </p:nvSpPr>
        <p:spPr bwMode="auto">
          <a:xfrm>
            <a:off x="4038600" y="6400800"/>
            <a:ext cx="5867400" cy="369888"/>
          </a:xfrm>
          <a:prstGeom prst="rect">
            <a:avLst/>
          </a:prstGeom>
          <a:noFill/>
          <a:ln w="9525">
            <a:noFill/>
            <a:miter lim="800000"/>
            <a:headEnd/>
            <a:tailEnd/>
          </a:ln>
        </p:spPr>
        <p:txBody>
          <a:bodyPr>
            <a:spAutoFit/>
          </a:bodyPr>
          <a:lstStyle/>
          <a:p>
            <a:r>
              <a:rPr lang="en-US"/>
              <a:t>203.199.213.48/834/1/Structuresofsolids.ppt</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7" name="Picture 2" descr="h12_28"/>
          <p:cNvPicPr>
            <a:picLocks noChangeAspect="1" noChangeArrowheads="1"/>
          </p:cNvPicPr>
          <p:nvPr/>
        </p:nvPicPr>
        <p:blipFill>
          <a:blip r:embed="rId2"/>
          <a:srcRect/>
          <a:stretch>
            <a:fillRect/>
          </a:stretch>
        </p:blipFill>
        <p:spPr bwMode="auto">
          <a:xfrm>
            <a:off x="228600" y="685800"/>
            <a:ext cx="8763000" cy="5616575"/>
          </a:xfrm>
          <a:prstGeom prst="rect">
            <a:avLst/>
          </a:prstGeom>
          <a:noFill/>
          <a:ln w="9525">
            <a:noFill/>
            <a:miter lim="800000"/>
            <a:headEnd/>
            <a:tailEnd/>
          </a:ln>
        </p:spPr>
      </p:pic>
      <p:sp>
        <p:nvSpPr>
          <p:cNvPr id="36868" name="Rectangle 3"/>
          <p:cNvSpPr>
            <a:spLocks noChangeArrowheads="1"/>
          </p:cNvSpPr>
          <p:nvPr/>
        </p:nvSpPr>
        <p:spPr bwMode="auto">
          <a:xfrm>
            <a:off x="6019800" y="6383338"/>
            <a:ext cx="5638800" cy="246062"/>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36869" name="Rectangle 1"/>
          <p:cNvSpPr>
            <a:spLocks noChangeArrowheads="1"/>
          </p:cNvSpPr>
          <p:nvPr/>
        </p:nvSpPr>
        <p:spPr bwMode="auto">
          <a:xfrm>
            <a:off x="228600" y="0"/>
            <a:ext cx="8763000" cy="830263"/>
          </a:xfrm>
          <a:prstGeom prst="rect">
            <a:avLst/>
          </a:prstGeom>
          <a:noFill/>
          <a:ln w="9525">
            <a:noFill/>
            <a:miter lim="800000"/>
            <a:headEnd/>
            <a:tailEnd/>
          </a:ln>
        </p:spPr>
        <p:txBody>
          <a:bodyPr>
            <a:spAutoFit/>
          </a:bodyPr>
          <a:lstStyle/>
          <a:p>
            <a:r>
              <a:rPr lang="en-US" sz="2400"/>
              <a:t>Let us examine the difference between Closed-cubic Packing and Hexagonal-Cubic Packing:</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5"/>
          <p:cNvGrpSpPr>
            <a:grpSpLocks/>
          </p:cNvGrpSpPr>
          <p:nvPr/>
        </p:nvGrpSpPr>
        <p:grpSpPr bwMode="auto">
          <a:xfrm>
            <a:off x="746125" y="381000"/>
            <a:ext cx="3444875" cy="5724525"/>
            <a:chOff x="470" y="240"/>
            <a:chExt cx="2170" cy="3606"/>
          </a:xfrm>
        </p:grpSpPr>
        <p:grpSp>
          <p:nvGrpSpPr>
            <p:cNvPr id="3" name="Group 13"/>
            <p:cNvGrpSpPr>
              <a:grpSpLocks/>
            </p:cNvGrpSpPr>
            <p:nvPr/>
          </p:nvGrpSpPr>
          <p:grpSpPr bwMode="auto">
            <a:xfrm>
              <a:off x="470" y="240"/>
              <a:ext cx="2170" cy="2074"/>
              <a:chOff x="470" y="240"/>
              <a:chExt cx="2170" cy="2074"/>
            </a:xfrm>
          </p:grpSpPr>
          <p:graphicFrame>
            <p:nvGraphicFramePr>
              <p:cNvPr id="37899" name="Object 5"/>
              <p:cNvGraphicFramePr>
                <a:graphicFrameLocks noChangeAspect="1"/>
              </p:cNvGraphicFramePr>
              <p:nvPr/>
            </p:nvGraphicFramePr>
            <p:xfrm>
              <a:off x="520" y="240"/>
              <a:ext cx="1810" cy="1820"/>
            </p:xfrm>
            <a:graphic>
              <a:graphicData uri="http://schemas.openxmlformats.org/presentationml/2006/ole">
                <mc:AlternateContent xmlns:mc="http://schemas.openxmlformats.org/markup-compatibility/2006">
                  <mc:Choice xmlns:v="urn:schemas-microsoft-com:vml" Requires="v">
                    <p:oleObj spid="_x0000_s74798" name="Bitmap Image" r:id="rId3" imgW="1476190" imgH="1580952" progId="PBrush">
                      <p:embed/>
                    </p:oleObj>
                  </mc:Choice>
                  <mc:Fallback>
                    <p:oleObj name="Bitmap Image" r:id="rId3" imgW="1476190" imgH="1580952" progId="PBrush">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 y="240"/>
                            <a:ext cx="1810" cy="1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900" name="Text Box 6"/>
              <p:cNvSpPr txBox="1">
                <a:spLocks noChangeArrowheads="1"/>
              </p:cNvSpPr>
              <p:nvPr/>
            </p:nvSpPr>
            <p:spPr bwMode="auto">
              <a:xfrm>
                <a:off x="470" y="2026"/>
                <a:ext cx="2170" cy="288"/>
              </a:xfrm>
              <a:prstGeom prst="rect">
                <a:avLst/>
              </a:prstGeom>
              <a:noFill/>
              <a:ln w="9525">
                <a:noFill/>
                <a:miter lim="800000"/>
                <a:headEnd/>
                <a:tailEnd/>
              </a:ln>
            </p:spPr>
            <p:txBody>
              <a:bodyPr>
                <a:spAutoFit/>
              </a:bodyPr>
              <a:lstStyle/>
              <a:p>
                <a:r>
                  <a:rPr lang="en-US" sz="2400" b="1">
                    <a:latin typeface="Lucida Sans Unicode" pitchFamily="34" charset="0"/>
                  </a:rPr>
                  <a:t>Hexagonal close packing</a:t>
                </a:r>
              </a:p>
            </p:txBody>
          </p:sp>
        </p:grpSp>
        <p:graphicFrame>
          <p:nvGraphicFramePr>
            <p:cNvPr id="37898" name="Object 4"/>
            <p:cNvGraphicFramePr>
              <a:graphicFrameLocks noChangeAspect="1"/>
            </p:cNvGraphicFramePr>
            <p:nvPr/>
          </p:nvGraphicFramePr>
          <p:xfrm>
            <a:off x="996" y="2640"/>
            <a:ext cx="924" cy="1206"/>
          </p:xfrm>
          <a:graphic>
            <a:graphicData uri="http://schemas.openxmlformats.org/presentationml/2006/ole">
              <mc:AlternateContent xmlns:mc="http://schemas.openxmlformats.org/markup-compatibility/2006">
                <mc:Choice xmlns:v="urn:schemas-microsoft-com:vml" Requires="v">
                  <p:oleObj spid="_x0000_s74799" name="Bitmap Image" r:id="rId5" imgW="1467055" imgH="1914286" progId="PBrush">
                    <p:embed/>
                  </p:oleObj>
                </mc:Choice>
                <mc:Fallback>
                  <p:oleObj name="Bitmap Image" r:id="rId5" imgW="1467055" imgH="1914286" progId="PBrush">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6" y="2640"/>
                          <a:ext cx="924" cy="1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4" name="Group 14"/>
          <p:cNvGrpSpPr>
            <a:grpSpLocks/>
          </p:cNvGrpSpPr>
          <p:nvPr/>
        </p:nvGrpSpPr>
        <p:grpSpPr bwMode="auto">
          <a:xfrm>
            <a:off x="4648200" y="387350"/>
            <a:ext cx="3200400" cy="5651500"/>
            <a:chOff x="2928" y="244"/>
            <a:chExt cx="2016" cy="3560"/>
          </a:xfrm>
        </p:grpSpPr>
        <p:graphicFrame>
          <p:nvGraphicFramePr>
            <p:cNvPr id="37894" name="Object 2"/>
            <p:cNvGraphicFramePr>
              <a:graphicFrameLocks noChangeAspect="1"/>
            </p:cNvGraphicFramePr>
            <p:nvPr/>
          </p:nvGraphicFramePr>
          <p:xfrm>
            <a:off x="2928" y="244"/>
            <a:ext cx="1955" cy="1676"/>
          </p:xfrm>
          <a:graphic>
            <a:graphicData uri="http://schemas.openxmlformats.org/presentationml/2006/ole">
              <mc:AlternateContent xmlns:mc="http://schemas.openxmlformats.org/markup-compatibility/2006">
                <mc:Choice xmlns:v="urn:schemas-microsoft-com:vml" Requires="v">
                  <p:oleObj spid="_x0000_s74800" name="Bitmap Image" r:id="rId7" imgW="1561905" imgH="1571844" progId="PBrush">
                    <p:embed/>
                  </p:oleObj>
                </mc:Choice>
                <mc:Fallback>
                  <p:oleObj name="Bitmap Image" r:id="rId7" imgW="1561905" imgH="1571844" progId="PBrush">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28" y="244"/>
                          <a:ext cx="1955" cy="16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895" name="Text Box 7"/>
            <p:cNvSpPr txBox="1">
              <a:spLocks noChangeArrowheads="1"/>
            </p:cNvSpPr>
            <p:nvPr/>
          </p:nvSpPr>
          <p:spPr bwMode="auto">
            <a:xfrm>
              <a:off x="3107" y="2016"/>
              <a:ext cx="1837" cy="288"/>
            </a:xfrm>
            <a:prstGeom prst="rect">
              <a:avLst/>
            </a:prstGeom>
            <a:noFill/>
            <a:ln w="9525">
              <a:noFill/>
              <a:miter lim="800000"/>
              <a:headEnd/>
              <a:tailEnd/>
            </a:ln>
          </p:spPr>
          <p:txBody>
            <a:bodyPr>
              <a:spAutoFit/>
            </a:bodyPr>
            <a:lstStyle/>
            <a:p>
              <a:r>
                <a:rPr lang="en-US" sz="2400" b="1">
                  <a:latin typeface="Lucida Sans Unicode" pitchFamily="34" charset="0"/>
                </a:rPr>
                <a:t>Cubic close packing</a:t>
              </a:r>
            </a:p>
          </p:txBody>
        </p:sp>
        <p:graphicFrame>
          <p:nvGraphicFramePr>
            <p:cNvPr id="37896" name="Object 3"/>
            <p:cNvGraphicFramePr>
              <a:graphicFrameLocks noChangeAspect="1"/>
            </p:cNvGraphicFramePr>
            <p:nvPr/>
          </p:nvGraphicFramePr>
          <p:xfrm>
            <a:off x="3402" y="2592"/>
            <a:ext cx="966" cy="1212"/>
          </p:xfrm>
          <a:graphic>
            <a:graphicData uri="http://schemas.openxmlformats.org/presentationml/2006/ole">
              <mc:AlternateContent xmlns:mc="http://schemas.openxmlformats.org/markup-compatibility/2006">
                <mc:Choice xmlns:v="urn:schemas-microsoft-com:vml" Requires="v">
                  <p:oleObj spid="_x0000_s74801" name="Bitmap Image" r:id="rId9" imgW="1533739" imgH="1924319" progId="PBrush">
                    <p:embed/>
                  </p:oleObj>
                </mc:Choice>
                <mc:Fallback>
                  <p:oleObj name="Bitmap Image" r:id="rId9" imgW="1533739" imgH="1924319" progId="PBrush">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02" y="2592"/>
                          <a:ext cx="966" cy="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7893" name="Rectangle 11"/>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5" name="Footer Placeholder 4"/>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Box 1"/>
          <p:cNvSpPr txBox="1">
            <a:spLocks noChangeArrowheads="1"/>
          </p:cNvSpPr>
          <p:nvPr/>
        </p:nvSpPr>
        <p:spPr bwMode="auto">
          <a:xfrm>
            <a:off x="1752600" y="914400"/>
            <a:ext cx="6681788" cy="769938"/>
          </a:xfrm>
          <a:prstGeom prst="rect">
            <a:avLst/>
          </a:prstGeom>
          <a:noFill/>
          <a:ln w="9525">
            <a:noFill/>
            <a:miter lim="800000"/>
            <a:headEnd/>
            <a:tailEnd/>
          </a:ln>
        </p:spPr>
        <p:txBody>
          <a:bodyPr wrap="none">
            <a:spAutoFit/>
          </a:bodyPr>
          <a:lstStyle/>
          <a:p>
            <a:r>
              <a:rPr lang="en-US" sz="4400">
                <a:solidFill>
                  <a:schemeClr val="bg1"/>
                </a:solidFill>
              </a:rPr>
              <a:t>Let us watch this movie!!!!</a:t>
            </a:r>
          </a:p>
        </p:txBody>
      </p:sp>
      <p:sp>
        <p:nvSpPr>
          <p:cNvPr id="38915" name="TextBox 2"/>
          <p:cNvSpPr txBox="1">
            <a:spLocks noChangeArrowheads="1"/>
          </p:cNvSpPr>
          <p:nvPr/>
        </p:nvSpPr>
        <p:spPr bwMode="auto">
          <a:xfrm>
            <a:off x="1828800" y="2590800"/>
            <a:ext cx="5564188" cy="369888"/>
          </a:xfrm>
          <a:prstGeom prst="rect">
            <a:avLst/>
          </a:prstGeom>
          <a:noFill/>
          <a:ln w="9525">
            <a:noFill/>
            <a:miter lim="800000"/>
            <a:headEnd/>
            <a:tailEnd/>
          </a:ln>
        </p:spPr>
        <p:txBody>
          <a:bodyPr wrap="none">
            <a:spAutoFit/>
          </a:bodyPr>
          <a:lstStyle/>
          <a:p>
            <a:r>
              <a:rPr lang="en-US">
                <a:solidFill>
                  <a:schemeClr val="bg1"/>
                </a:solidFill>
              </a:rPr>
              <a:t>http://www.chem.ufl.edu/~itl/2045/lectures/lec_h.html</a:t>
            </a:r>
          </a:p>
        </p:txBody>
      </p:sp>
      <p:sp>
        <p:nvSpPr>
          <p:cNvPr id="2" name="Rectangle 1"/>
          <p:cNvSpPr/>
          <p:nvPr/>
        </p:nvSpPr>
        <p:spPr>
          <a:xfrm>
            <a:off x="152400" y="0"/>
            <a:ext cx="8610600" cy="2308225"/>
          </a:xfrm>
          <a:prstGeom prst="rect">
            <a:avLst/>
          </a:prstGeom>
        </p:spPr>
        <p:txBody>
          <a:bodyPr>
            <a:spAutoFit/>
          </a:bodyPr>
          <a:lstStyle/>
          <a:p>
            <a:pPr>
              <a:defRPr/>
            </a:pPr>
            <a:r>
              <a:rPr lang="en-US" sz="2400" dirty="0">
                <a:latin typeface="+mn-lt"/>
              </a:rPr>
              <a:t>The (</a:t>
            </a:r>
            <a:r>
              <a:rPr lang="en-US" sz="2400" dirty="0" err="1">
                <a:latin typeface="+mn-lt"/>
              </a:rPr>
              <a:t>fcc</a:t>
            </a:r>
            <a:r>
              <a:rPr lang="en-US" sz="2400" dirty="0">
                <a:latin typeface="+mn-lt"/>
              </a:rPr>
              <a:t>) structure is just one of the structures that is derived from a cubic unit cell (right angles, equal length edges). (If we allow the edge lengths to be different, but keep the right angles, we create the orthorhombic cells) The Cubic cells are shown below: </a:t>
            </a:r>
          </a:p>
          <a:p>
            <a:pPr>
              <a:defRPr/>
            </a:pPr>
            <a:r>
              <a:rPr lang="en-US" sz="2400" dirty="0">
                <a:latin typeface="+mn-lt"/>
              </a:rPr>
              <a:t> </a:t>
            </a:r>
          </a:p>
        </p:txBody>
      </p:sp>
      <p:pic>
        <p:nvPicPr>
          <p:cNvPr id="38917" name="Picture 4"/>
          <p:cNvPicPr>
            <a:picLocks noChangeAspect="1" noChangeArrowheads="1"/>
          </p:cNvPicPr>
          <p:nvPr/>
        </p:nvPicPr>
        <p:blipFill>
          <a:blip r:embed="rId2"/>
          <a:srcRect/>
          <a:stretch>
            <a:fillRect/>
          </a:stretch>
        </p:blipFill>
        <p:spPr bwMode="auto">
          <a:xfrm>
            <a:off x="1422400" y="1857375"/>
            <a:ext cx="6376988" cy="5000625"/>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6988"/>
            <a:ext cx="8991600" cy="2030412"/>
          </a:xfrm>
          <a:prstGeom prst="rect">
            <a:avLst/>
          </a:prstGeom>
        </p:spPr>
        <p:txBody>
          <a:bodyPr>
            <a:spAutoFit/>
          </a:bodyPr>
          <a:lstStyle/>
          <a:p>
            <a:pPr>
              <a:defRPr/>
            </a:pPr>
            <a:r>
              <a:rPr lang="en-US" dirty="0">
                <a:latin typeface="+mn-lt"/>
              </a:rPr>
              <a:t>The number of atoms in the unit cell is not the same as the coordination number (number of nearest neighbors). In the Body Centered Cubic (bcc) structure above the number of atoms in the unit cell is 2 but the number of nearest </a:t>
            </a:r>
            <a:r>
              <a:rPr lang="en-US" dirty="0" err="1">
                <a:latin typeface="+mn-lt"/>
              </a:rPr>
              <a:t>neightbors</a:t>
            </a:r>
            <a:r>
              <a:rPr lang="en-US" dirty="0">
                <a:latin typeface="+mn-lt"/>
              </a:rPr>
              <a:t> is 8. (The number of gray atoms in the above gives the number of atoms in the unit cell) The (bcc) structure is not as tightly packed as the (</a:t>
            </a:r>
            <a:r>
              <a:rPr lang="en-US" dirty="0" err="1">
                <a:latin typeface="+mn-lt"/>
              </a:rPr>
              <a:t>hcp</a:t>
            </a:r>
            <a:r>
              <a:rPr lang="en-US" dirty="0">
                <a:latin typeface="+mn-lt"/>
              </a:rPr>
              <a:t>) or (</a:t>
            </a:r>
            <a:r>
              <a:rPr lang="en-US" dirty="0" err="1">
                <a:latin typeface="+mn-lt"/>
              </a:rPr>
              <a:t>fcc</a:t>
            </a:r>
            <a:r>
              <a:rPr lang="en-US" dirty="0">
                <a:latin typeface="+mn-lt"/>
              </a:rPr>
              <a:t>) structures, with the atoms occupying only 68.02% of the available space.</a:t>
            </a:r>
          </a:p>
        </p:txBody>
      </p:sp>
      <p:pic>
        <p:nvPicPr>
          <p:cNvPr id="39939" name="Picture 2"/>
          <p:cNvPicPr>
            <a:picLocks noChangeAspect="1" noChangeArrowheads="1"/>
          </p:cNvPicPr>
          <p:nvPr/>
        </p:nvPicPr>
        <p:blipFill>
          <a:blip r:embed="rId2"/>
          <a:srcRect/>
          <a:stretch>
            <a:fillRect/>
          </a:stretch>
        </p:blipFill>
        <p:spPr bwMode="auto">
          <a:xfrm>
            <a:off x="609600" y="2312988"/>
            <a:ext cx="7342188" cy="2682875"/>
          </a:xfrm>
          <a:prstGeom prst="rect">
            <a:avLst/>
          </a:prstGeom>
          <a:noFill/>
          <a:ln w="9525">
            <a:noFill/>
            <a:miter lim="800000"/>
            <a:headEnd/>
            <a:tailEnd/>
          </a:ln>
          <a:effectLst/>
        </p:spPr>
      </p:pic>
      <p:sp>
        <p:nvSpPr>
          <p:cNvPr id="39940" name="Rectangle 2"/>
          <p:cNvSpPr>
            <a:spLocks noChangeArrowheads="1"/>
          </p:cNvSpPr>
          <p:nvPr/>
        </p:nvSpPr>
        <p:spPr bwMode="auto">
          <a:xfrm>
            <a:off x="2971800" y="5715000"/>
            <a:ext cx="6019800" cy="369888"/>
          </a:xfrm>
          <a:prstGeom prst="rect">
            <a:avLst/>
          </a:prstGeom>
          <a:noFill/>
          <a:ln w="9525">
            <a:noFill/>
            <a:miter lim="800000"/>
            <a:headEnd/>
            <a:tailEnd/>
          </a:ln>
        </p:spPr>
        <p:txBody>
          <a:bodyPr>
            <a:spAutoFit/>
          </a:bodyPr>
          <a:lstStyle/>
          <a:p>
            <a:r>
              <a:rPr lang="en-US"/>
              <a:t>http://www.chem.ufl.edu/~itl/2045/lectures/lec_h.html</a:t>
            </a:r>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www.chem.ufl.edu/~itl/2045/lectures/h_figs/h12_27.jpg"/>
          <p:cNvPicPr>
            <a:picLocks noChangeAspect="1" noChangeArrowheads="1"/>
          </p:cNvPicPr>
          <p:nvPr/>
        </p:nvPicPr>
        <p:blipFill>
          <a:blip r:embed="rId2"/>
          <a:srcRect/>
          <a:stretch>
            <a:fillRect/>
          </a:stretch>
        </p:blipFill>
        <p:spPr bwMode="auto">
          <a:xfrm>
            <a:off x="0" y="-152400"/>
            <a:ext cx="9144000" cy="7010400"/>
          </a:xfrm>
          <a:prstGeom prst="rect">
            <a:avLst/>
          </a:prstGeom>
          <a:noFill/>
          <a:ln w="9525">
            <a:noFill/>
            <a:miter lim="800000"/>
            <a:headEnd/>
            <a:tailEnd/>
          </a:ln>
        </p:spPr>
      </p:pic>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4"/>
          <p:cNvSpPr>
            <a:spLocks noChangeArrowheads="1"/>
          </p:cNvSpPr>
          <p:nvPr/>
        </p:nvSpPr>
        <p:spPr bwMode="auto">
          <a:xfrm>
            <a:off x="4013200" y="1227138"/>
            <a:ext cx="2260600" cy="979487"/>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6</a:t>
            </a:r>
          </a:p>
        </p:txBody>
      </p:sp>
      <p:sp>
        <p:nvSpPr>
          <p:cNvPr id="43012" name="Line 45"/>
          <p:cNvSpPr>
            <a:spLocks noChangeShapeType="1"/>
          </p:cNvSpPr>
          <p:nvPr/>
        </p:nvSpPr>
        <p:spPr bwMode="auto">
          <a:xfrm>
            <a:off x="1752600" y="228600"/>
            <a:ext cx="6781800" cy="0"/>
          </a:xfrm>
          <a:prstGeom prst="line">
            <a:avLst/>
          </a:prstGeom>
          <a:noFill/>
          <a:ln w="28575" cap="sq">
            <a:solidFill>
              <a:schemeClr val="tx1"/>
            </a:solidFill>
            <a:round/>
            <a:headEnd/>
            <a:tailEnd/>
          </a:ln>
        </p:spPr>
        <p:txBody>
          <a:bodyPr/>
          <a:lstStyle/>
          <a:p>
            <a:endParaRPr lang="en-US"/>
          </a:p>
        </p:txBody>
      </p:sp>
      <p:sp>
        <p:nvSpPr>
          <p:cNvPr id="43013" name="Line 46"/>
          <p:cNvSpPr>
            <a:spLocks noChangeShapeType="1"/>
          </p:cNvSpPr>
          <p:nvPr/>
        </p:nvSpPr>
        <p:spPr bwMode="auto">
          <a:xfrm>
            <a:off x="1752600" y="1227138"/>
            <a:ext cx="6781800" cy="0"/>
          </a:xfrm>
          <a:prstGeom prst="line">
            <a:avLst/>
          </a:prstGeom>
          <a:noFill/>
          <a:ln w="12700">
            <a:solidFill>
              <a:schemeClr val="tx1"/>
            </a:solidFill>
            <a:round/>
            <a:headEnd/>
            <a:tailEnd/>
          </a:ln>
        </p:spPr>
        <p:txBody>
          <a:bodyPr/>
          <a:lstStyle/>
          <a:p>
            <a:endParaRPr lang="en-US"/>
          </a:p>
        </p:txBody>
      </p:sp>
      <p:sp>
        <p:nvSpPr>
          <p:cNvPr id="43014" name="Line 47"/>
          <p:cNvSpPr>
            <a:spLocks noChangeShapeType="1"/>
          </p:cNvSpPr>
          <p:nvPr/>
        </p:nvSpPr>
        <p:spPr bwMode="auto">
          <a:xfrm>
            <a:off x="1752600" y="2206625"/>
            <a:ext cx="6781800" cy="0"/>
          </a:xfrm>
          <a:prstGeom prst="line">
            <a:avLst/>
          </a:prstGeom>
          <a:noFill/>
          <a:ln w="12700">
            <a:solidFill>
              <a:schemeClr val="tx1"/>
            </a:solidFill>
            <a:round/>
            <a:headEnd/>
            <a:tailEnd/>
          </a:ln>
        </p:spPr>
        <p:txBody>
          <a:bodyPr/>
          <a:lstStyle/>
          <a:p>
            <a:endParaRPr lang="en-US"/>
          </a:p>
        </p:txBody>
      </p:sp>
      <p:sp>
        <p:nvSpPr>
          <p:cNvPr id="43015" name="Line 48"/>
          <p:cNvSpPr>
            <a:spLocks noChangeShapeType="1"/>
          </p:cNvSpPr>
          <p:nvPr/>
        </p:nvSpPr>
        <p:spPr bwMode="auto">
          <a:xfrm>
            <a:off x="1752600" y="3630613"/>
            <a:ext cx="6781800" cy="0"/>
          </a:xfrm>
          <a:prstGeom prst="line">
            <a:avLst/>
          </a:prstGeom>
          <a:noFill/>
          <a:ln w="12700">
            <a:solidFill>
              <a:schemeClr val="tx1"/>
            </a:solidFill>
            <a:round/>
            <a:headEnd/>
            <a:tailEnd/>
          </a:ln>
        </p:spPr>
        <p:txBody>
          <a:bodyPr/>
          <a:lstStyle/>
          <a:p>
            <a:endParaRPr lang="en-US"/>
          </a:p>
        </p:txBody>
      </p:sp>
      <p:sp>
        <p:nvSpPr>
          <p:cNvPr id="43016" name="Line 49"/>
          <p:cNvSpPr>
            <a:spLocks noChangeShapeType="1"/>
          </p:cNvSpPr>
          <p:nvPr/>
        </p:nvSpPr>
        <p:spPr bwMode="auto">
          <a:xfrm>
            <a:off x="1752600" y="4611688"/>
            <a:ext cx="6781800" cy="0"/>
          </a:xfrm>
          <a:prstGeom prst="line">
            <a:avLst/>
          </a:prstGeom>
          <a:noFill/>
          <a:ln w="12700">
            <a:solidFill>
              <a:schemeClr val="tx1"/>
            </a:solidFill>
            <a:round/>
            <a:headEnd/>
            <a:tailEnd/>
          </a:ln>
        </p:spPr>
        <p:txBody>
          <a:bodyPr/>
          <a:lstStyle/>
          <a:p>
            <a:endParaRPr lang="en-US"/>
          </a:p>
        </p:txBody>
      </p:sp>
      <p:sp>
        <p:nvSpPr>
          <p:cNvPr id="43017" name="Line 50"/>
          <p:cNvSpPr>
            <a:spLocks noChangeShapeType="1"/>
          </p:cNvSpPr>
          <p:nvPr/>
        </p:nvSpPr>
        <p:spPr bwMode="auto">
          <a:xfrm>
            <a:off x="1752600" y="5562600"/>
            <a:ext cx="6781800" cy="0"/>
          </a:xfrm>
          <a:prstGeom prst="line">
            <a:avLst/>
          </a:prstGeom>
          <a:noFill/>
          <a:ln w="28575" cap="sq">
            <a:solidFill>
              <a:schemeClr val="tx1"/>
            </a:solidFill>
            <a:round/>
            <a:headEnd/>
            <a:tailEnd/>
          </a:ln>
        </p:spPr>
        <p:txBody>
          <a:bodyPr/>
          <a:lstStyle/>
          <a:p>
            <a:endParaRPr lang="en-US"/>
          </a:p>
        </p:txBody>
      </p:sp>
      <p:sp>
        <p:nvSpPr>
          <p:cNvPr id="43018" name="Line 52"/>
          <p:cNvSpPr>
            <a:spLocks noChangeShapeType="1"/>
          </p:cNvSpPr>
          <p:nvPr/>
        </p:nvSpPr>
        <p:spPr bwMode="auto">
          <a:xfrm>
            <a:off x="4013200" y="228600"/>
            <a:ext cx="0" cy="5334000"/>
          </a:xfrm>
          <a:prstGeom prst="line">
            <a:avLst/>
          </a:prstGeom>
          <a:noFill/>
          <a:ln w="12700">
            <a:solidFill>
              <a:schemeClr val="tx1"/>
            </a:solidFill>
            <a:round/>
            <a:headEnd/>
            <a:tailEnd/>
          </a:ln>
        </p:spPr>
        <p:txBody>
          <a:bodyPr/>
          <a:lstStyle/>
          <a:p>
            <a:endParaRPr lang="en-US"/>
          </a:p>
        </p:txBody>
      </p:sp>
      <p:sp>
        <p:nvSpPr>
          <p:cNvPr id="43019" name="Line 53"/>
          <p:cNvSpPr>
            <a:spLocks noChangeShapeType="1"/>
          </p:cNvSpPr>
          <p:nvPr/>
        </p:nvSpPr>
        <p:spPr bwMode="auto">
          <a:xfrm>
            <a:off x="6273800" y="228600"/>
            <a:ext cx="0" cy="5334000"/>
          </a:xfrm>
          <a:prstGeom prst="line">
            <a:avLst/>
          </a:prstGeom>
          <a:noFill/>
          <a:ln w="12700">
            <a:solidFill>
              <a:schemeClr val="tx1"/>
            </a:solidFill>
            <a:round/>
            <a:headEnd/>
            <a:tailEnd/>
          </a:ln>
        </p:spPr>
        <p:txBody>
          <a:bodyPr/>
          <a:lstStyle/>
          <a:p>
            <a:endParaRPr lang="en-US"/>
          </a:p>
        </p:txBody>
      </p:sp>
      <p:sp>
        <p:nvSpPr>
          <p:cNvPr id="43020" name="Line 54"/>
          <p:cNvSpPr>
            <a:spLocks noChangeShapeType="1"/>
          </p:cNvSpPr>
          <p:nvPr/>
        </p:nvSpPr>
        <p:spPr bwMode="auto">
          <a:xfrm>
            <a:off x="8534400" y="228600"/>
            <a:ext cx="0" cy="5334000"/>
          </a:xfrm>
          <a:prstGeom prst="line">
            <a:avLst/>
          </a:prstGeom>
          <a:noFill/>
          <a:ln w="28575" cap="sq">
            <a:solidFill>
              <a:schemeClr val="tx1"/>
            </a:solidFill>
            <a:round/>
            <a:headEnd/>
            <a:tailEnd/>
          </a:ln>
        </p:spPr>
        <p:txBody>
          <a:bodyPr/>
          <a:lstStyle/>
          <a:p>
            <a:endParaRPr lang="en-US"/>
          </a:p>
        </p:txBody>
      </p:sp>
      <p:grpSp>
        <p:nvGrpSpPr>
          <p:cNvPr id="2" name="Group 70"/>
          <p:cNvGrpSpPr>
            <a:grpSpLocks/>
          </p:cNvGrpSpPr>
          <p:nvPr/>
        </p:nvGrpSpPr>
        <p:grpSpPr bwMode="auto">
          <a:xfrm>
            <a:off x="381000" y="228600"/>
            <a:ext cx="8153400" cy="5334000"/>
            <a:chOff x="480" y="384"/>
            <a:chExt cx="5136" cy="3360"/>
          </a:xfrm>
        </p:grpSpPr>
        <p:sp>
          <p:nvSpPr>
            <p:cNvPr id="43023" name="Rectangle 44"/>
            <p:cNvSpPr>
              <a:spLocks noChangeArrowheads="1"/>
            </p:cNvSpPr>
            <p:nvPr/>
          </p:nvSpPr>
          <p:spPr bwMode="auto">
            <a:xfrm>
              <a:off x="4192" y="3145"/>
              <a:ext cx="1424" cy="599"/>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ABCABC…</a:t>
              </a:r>
            </a:p>
          </p:txBody>
        </p:sp>
        <p:sp>
          <p:nvSpPr>
            <p:cNvPr id="43024" name="Rectangle 43"/>
            <p:cNvSpPr>
              <a:spLocks noChangeArrowheads="1"/>
            </p:cNvSpPr>
            <p:nvPr/>
          </p:nvSpPr>
          <p:spPr bwMode="auto">
            <a:xfrm>
              <a:off x="2768" y="3145"/>
              <a:ext cx="1424" cy="599"/>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12</a:t>
              </a:r>
            </a:p>
          </p:txBody>
        </p:sp>
        <p:sp>
          <p:nvSpPr>
            <p:cNvPr id="43025" name="Rectangle 42"/>
            <p:cNvSpPr>
              <a:spLocks noChangeArrowheads="1"/>
            </p:cNvSpPr>
            <p:nvPr/>
          </p:nvSpPr>
          <p:spPr bwMode="auto">
            <a:xfrm>
              <a:off x="1344" y="3145"/>
              <a:ext cx="1424" cy="599"/>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Cubic close packed</a:t>
              </a:r>
            </a:p>
          </p:txBody>
        </p:sp>
        <p:sp>
          <p:nvSpPr>
            <p:cNvPr id="43026" name="Rectangle 41"/>
            <p:cNvSpPr>
              <a:spLocks noChangeArrowheads="1"/>
            </p:cNvSpPr>
            <p:nvPr/>
          </p:nvSpPr>
          <p:spPr bwMode="auto">
            <a:xfrm>
              <a:off x="4192" y="2527"/>
              <a:ext cx="1424" cy="618"/>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ABABAB…</a:t>
              </a:r>
            </a:p>
          </p:txBody>
        </p:sp>
        <p:sp>
          <p:nvSpPr>
            <p:cNvPr id="43027" name="Rectangle 40"/>
            <p:cNvSpPr>
              <a:spLocks noChangeArrowheads="1"/>
            </p:cNvSpPr>
            <p:nvPr/>
          </p:nvSpPr>
          <p:spPr bwMode="auto">
            <a:xfrm>
              <a:off x="2768" y="2527"/>
              <a:ext cx="1424" cy="618"/>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12</a:t>
              </a:r>
            </a:p>
          </p:txBody>
        </p:sp>
        <p:sp>
          <p:nvSpPr>
            <p:cNvPr id="43028" name="Rectangle 39"/>
            <p:cNvSpPr>
              <a:spLocks noChangeArrowheads="1"/>
            </p:cNvSpPr>
            <p:nvPr/>
          </p:nvSpPr>
          <p:spPr bwMode="auto">
            <a:xfrm>
              <a:off x="1344" y="2527"/>
              <a:ext cx="1424" cy="618"/>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Hexagonal close packed</a:t>
              </a:r>
            </a:p>
          </p:txBody>
        </p:sp>
        <p:sp>
          <p:nvSpPr>
            <p:cNvPr id="43029" name="Rectangle 38"/>
            <p:cNvSpPr>
              <a:spLocks noChangeArrowheads="1"/>
            </p:cNvSpPr>
            <p:nvPr/>
          </p:nvSpPr>
          <p:spPr bwMode="auto">
            <a:xfrm>
              <a:off x="4192" y="1630"/>
              <a:ext cx="1424" cy="897"/>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ABABAB…</a:t>
              </a:r>
            </a:p>
          </p:txBody>
        </p:sp>
        <p:sp>
          <p:nvSpPr>
            <p:cNvPr id="43030" name="Rectangle 37"/>
            <p:cNvSpPr>
              <a:spLocks noChangeArrowheads="1"/>
            </p:cNvSpPr>
            <p:nvPr/>
          </p:nvSpPr>
          <p:spPr bwMode="auto">
            <a:xfrm>
              <a:off x="2768" y="1630"/>
              <a:ext cx="1424" cy="897"/>
            </a:xfrm>
            <a:prstGeom prst="rect">
              <a:avLst/>
            </a:prstGeom>
            <a:noFill/>
            <a:ln w="9525">
              <a:noFill/>
              <a:miter lim="800000"/>
              <a:headEnd/>
              <a:tailEnd/>
            </a:ln>
          </p:spPr>
          <p:txBody>
            <a:bodyPr/>
            <a:lstStyle/>
            <a:p>
              <a:pPr algn="ctr">
                <a:spcBef>
                  <a:spcPct val="20000"/>
                </a:spcBef>
              </a:pPr>
              <a:r>
                <a:rPr lang="en-US" sz="2800">
                  <a:solidFill>
                    <a:srgbClr val="CC0099"/>
                  </a:solidFill>
                  <a:latin typeface="Lucida Sans Unicode" pitchFamily="34" charset="0"/>
                </a:rPr>
                <a:t>8</a:t>
              </a:r>
            </a:p>
          </p:txBody>
        </p:sp>
        <p:sp>
          <p:nvSpPr>
            <p:cNvPr id="43031" name="Rectangle 36"/>
            <p:cNvSpPr>
              <a:spLocks noChangeArrowheads="1"/>
            </p:cNvSpPr>
            <p:nvPr/>
          </p:nvSpPr>
          <p:spPr bwMode="auto">
            <a:xfrm>
              <a:off x="1344" y="1630"/>
              <a:ext cx="1424" cy="897"/>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Body-centered Cubic</a:t>
              </a:r>
            </a:p>
          </p:txBody>
        </p:sp>
        <p:sp>
          <p:nvSpPr>
            <p:cNvPr id="43032" name="Rectangle 35"/>
            <p:cNvSpPr>
              <a:spLocks noChangeArrowheads="1"/>
            </p:cNvSpPr>
            <p:nvPr/>
          </p:nvSpPr>
          <p:spPr bwMode="auto">
            <a:xfrm>
              <a:off x="4192" y="1013"/>
              <a:ext cx="1424" cy="617"/>
            </a:xfrm>
            <a:prstGeom prst="rect">
              <a:avLst/>
            </a:prstGeom>
            <a:noFill/>
            <a:ln w="9525">
              <a:noFill/>
              <a:miter lim="800000"/>
              <a:headEnd/>
              <a:tailEnd/>
            </a:ln>
          </p:spPr>
          <p:txBody>
            <a:bodyPr/>
            <a:lstStyle/>
            <a:p>
              <a:pPr>
                <a:spcBef>
                  <a:spcPct val="20000"/>
                </a:spcBef>
              </a:pPr>
              <a:r>
                <a:rPr lang="en-US" sz="2800" b="1" i="1">
                  <a:solidFill>
                    <a:srgbClr val="CC3300"/>
                  </a:solidFill>
                  <a:latin typeface="Lucida Sans Unicode" pitchFamily="34" charset="0"/>
                </a:rPr>
                <a:t>AAAAA…</a:t>
              </a:r>
            </a:p>
          </p:txBody>
        </p:sp>
        <p:sp>
          <p:nvSpPr>
            <p:cNvPr id="43033" name="Rectangle 33"/>
            <p:cNvSpPr>
              <a:spLocks noChangeArrowheads="1"/>
            </p:cNvSpPr>
            <p:nvPr/>
          </p:nvSpPr>
          <p:spPr bwMode="auto">
            <a:xfrm>
              <a:off x="1344" y="1013"/>
              <a:ext cx="1424" cy="617"/>
            </a:xfrm>
            <a:prstGeom prst="rect">
              <a:avLst/>
            </a:prstGeom>
            <a:noFill/>
            <a:ln w="9525">
              <a:noFill/>
              <a:miter lim="800000"/>
              <a:headEnd/>
              <a:tailEnd/>
            </a:ln>
          </p:spPr>
          <p:txBody>
            <a:bodyPr/>
            <a:lstStyle/>
            <a:p>
              <a:pPr algn="ctr">
                <a:spcBef>
                  <a:spcPct val="20000"/>
                </a:spcBef>
              </a:pPr>
              <a:r>
                <a:rPr lang="en-US" sz="2400">
                  <a:solidFill>
                    <a:schemeClr val="accent2"/>
                  </a:solidFill>
                  <a:latin typeface="Lucida Sans Unicode" pitchFamily="34" charset="0"/>
                </a:rPr>
                <a:t>Primitive Cubic</a:t>
              </a:r>
              <a:r>
                <a:rPr lang="en-US" sz="2800">
                  <a:solidFill>
                    <a:schemeClr val="accent2"/>
                  </a:solidFill>
                  <a:latin typeface="Lucida Sans Unicode" pitchFamily="34" charset="0"/>
                </a:rPr>
                <a:t> </a:t>
              </a:r>
            </a:p>
          </p:txBody>
        </p:sp>
        <p:sp>
          <p:nvSpPr>
            <p:cNvPr id="43034" name="Rectangle 32"/>
            <p:cNvSpPr>
              <a:spLocks noChangeArrowheads="1"/>
            </p:cNvSpPr>
            <p:nvPr/>
          </p:nvSpPr>
          <p:spPr bwMode="auto">
            <a:xfrm>
              <a:off x="4192" y="384"/>
              <a:ext cx="1424" cy="629"/>
            </a:xfrm>
            <a:prstGeom prst="rect">
              <a:avLst/>
            </a:prstGeom>
            <a:noFill/>
            <a:ln w="9525">
              <a:noFill/>
              <a:miter lim="800000"/>
              <a:headEnd/>
              <a:tailEnd/>
            </a:ln>
          </p:spPr>
          <p:txBody>
            <a:bodyPr/>
            <a:lstStyle/>
            <a:p>
              <a:pPr algn="ctr">
                <a:spcBef>
                  <a:spcPct val="20000"/>
                </a:spcBef>
              </a:pPr>
              <a:r>
                <a:rPr lang="en-US" sz="2800">
                  <a:solidFill>
                    <a:srgbClr val="009400"/>
                  </a:solidFill>
                  <a:latin typeface="Lucida Sans Unicode" pitchFamily="34" charset="0"/>
                </a:rPr>
                <a:t>Stacking pattern</a:t>
              </a:r>
            </a:p>
          </p:txBody>
        </p:sp>
        <p:sp>
          <p:nvSpPr>
            <p:cNvPr id="43035" name="Rectangle 31"/>
            <p:cNvSpPr>
              <a:spLocks noChangeArrowheads="1"/>
            </p:cNvSpPr>
            <p:nvPr/>
          </p:nvSpPr>
          <p:spPr bwMode="auto">
            <a:xfrm>
              <a:off x="2768" y="384"/>
              <a:ext cx="1424" cy="629"/>
            </a:xfrm>
            <a:prstGeom prst="rect">
              <a:avLst/>
            </a:prstGeom>
            <a:noFill/>
            <a:ln w="9525">
              <a:noFill/>
              <a:miter lim="800000"/>
              <a:headEnd/>
              <a:tailEnd/>
            </a:ln>
          </p:spPr>
          <p:txBody>
            <a:bodyPr/>
            <a:lstStyle/>
            <a:p>
              <a:pPr algn="ctr">
                <a:spcBef>
                  <a:spcPct val="20000"/>
                </a:spcBef>
              </a:pPr>
              <a:r>
                <a:rPr lang="en-US" sz="2800">
                  <a:solidFill>
                    <a:srgbClr val="009400"/>
                  </a:solidFill>
                  <a:latin typeface="Lucida Sans Unicode" pitchFamily="34" charset="0"/>
                </a:rPr>
                <a:t>Coordination number</a:t>
              </a:r>
            </a:p>
          </p:txBody>
        </p:sp>
        <p:sp>
          <p:nvSpPr>
            <p:cNvPr id="43036" name="Rectangle 30"/>
            <p:cNvSpPr>
              <a:spLocks noChangeArrowheads="1"/>
            </p:cNvSpPr>
            <p:nvPr/>
          </p:nvSpPr>
          <p:spPr bwMode="auto">
            <a:xfrm>
              <a:off x="1344" y="384"/>
              <a:ext cx="1424" cy="629"/>
            </a:xfrm>
            <a:prstGeom prst="rect">
              <a:avLst/>
            </a:prstGeom>
            <a:noFill/>
            <a:ln w="9525">
              <a:noFill/>
              <a:miter lim="800000"/>
              <a:headEnd/>
              <a:tailEnd/>
            </a:ln>
          </p:spPr>
          <p:txBody>
            <a:bodyPr/>
            <a:lstStyle/>
            <a:p>
              <a:pPr algn="ctr">
                <a:spcBef>
                  <a:spcPct val="20000"/>
                </a:spcBef>
              </a:pPr>
              <a:r>
                <a:rPr lang="en-US" sz="2800">
                  <a:solidFill>
                    <a:srgbClr val="009400"/>
                  </a:solidFill>
                  <a:latin typeface="Lucida Sans Unicode" pitchFamily="34" charset="0"/>
                </a:rPr>
                <a:t>Structure</a:t>
              </a:r>
            </a:p>
          </p:txBody>
        </p:sp>
        <p:sp>
          <p:nvSpPr>
            <p:cNvPr id="43037" name="Line 51"/>
            <p:cNvSpPr>
              <a:spLocks noChangeShapeType="1"/>
            </p:cNvSpPr>
            <p:nvPr/>
          </p:nvSpPr>
          <p:spPr bwMode="auto">
            <a:xfrm>
              <a:off x="1344" y="384"/>
              <a:ext cx="0" cy="3360"/>
            </a:xfrm>
            <a:prstGeom prst="line">
              <a:avLst/>
            </a:prstGeom>
            <a:noFill/>
            <a:ln w="28575" cap="sq">
              <a:solidFill>
                <a:schemeClr val="tx1"/>
              </a:solidFill>
              <a:round/>
              <a:headEnd/>
              <a:tailEnd/>
            </a:ln>
          </p:spPr>
          <p:txBody>
            <a:bodyPr/>
            <a:lstStyle/>
            <a:p>
              <a:endParaRPr lang="en-US"/>
            </a:p>
          </p:txBody>
        </p:sp>
        <p:sp>
          <p:nvSpPr>
            <p:cNvPr id="43038" name="Text Box 66"/>
            <p:cNvSpPr txBox="1">
              <a:spLocks noChangeArrowheads="1"/>
            </p:cNvSpPr>
            <p:nvPr/>
          </p:nvSpPr>
          <p:spPr bwMode="auto">
            <a:xfrm>
              <a:off x="480" y="1430"/>
              <a:ext cx="768" cy="634"/>
            </a:xfrm>
            <a:prstGeom prst="rect">
              <a:avLst/>
            </a:prstGeom>
            <a:noFill/>
            <a:ln w="9525">
              <a:noFill/>
              <a:miter lim="800000"/>
              <a:headEnd/>
              <a:tailEnd/>
            </a:ln>
          </p:spPr>
          <p:txBody>
            <a:bodyPr>
              <a:spAutoFit/>
            </a:bodyPr>
            <a:lstStyle/>
            <a:p>
              <a:pPr>
                <a:spcBef>
                  <a:spcPct val="50000"/>
                </a:spcBef>
              </a:pPr>
              <a:r>
                <a:rPr lang="en-US" sz="2000" b="1">
                  <a:solidFill>
                    <a:srgbClr val="CC0099"/>
                  </a:solidFill>
                  <a:latin typeface="Lucida Sans Unicode" pitchFamily="34" charset="0"/>
                </a:rPr>
                <a:t>Non-close packing</a:t>
              </a:r>
            </a:p>
          </p:txBody>
        </p:sp>
        <p:sp>
          <p:nvSpPr>
            <p:cNvPr id="43039" name="Text Box 67"/>
            <p:cNvSpPr txBox="1">
              <a:spLocks noChangeArrowheads="1"/>
            </p:cNvSpPr>
            <p:nvPr/>
          </p:nvSpPr>
          <p:spPr bwMode="auto">
            <a:xfrm>
              <a:off x="480" y="2956"/>
              <a:ext cx="768" cy="442"/>
            </a:xfrm>
            <a:prstGeom prst="rect">
              <a:avLst/>
            </a:prstGeom>
            <a:noFill/>
            <a:ln w="9525">
              <a:noFill/>
              <a:miter lim="800000"/>
              <a:headEnd/>
              <a:tailEnd/>
            </a:ln>
          </p:spPr>
          <p:txBody>
            <a:bodyPr>
              <a:spAutoFit/>
            </a:bodyPr>
            <a:lstStyle/>
            <a:p>
              <a:pPr>
                <a:spcBef>
                  <a:spcPct val="50000"/>
                </a:spcBef>
              </a:pPr>
              <a:r>
                <a:rPr lang="en-US" sz="2000" b="1">
                  <a:solidFill>
                    <a:srgbClr val="CC0099"/>
                  </a:solidFill>
                  <a:latin typeface="Lucida Sans Unicode" pitchFamily="34" charset="0"/>
                </a:rPr>
                <a:t>Close packing</a:t>
              </a:r>
            </a:p>
          </p:txBody>
        </p:sp>
        <p:sp>
          <p:nvSpPr>
            <p:cNvPr id="43040" name="AutoShape 68"/>
            <p:cNvSpPr>
              <a:spLocks/>
            </p:cNvSpPr>
            <p:nvPr/>
          </p:nvSpPr>
          <p:spPr bwMode="auto">
            <a:xfrm>
              <a:off x="1104" y="2544"/>
              <a:ext cx="96" cy="1200"/>
            </a:xfrm>
            <a:prstGeom prst="leftBrace">
              <a:avLst>
                <a:gd name="adj1" fmla="val 104167"/>
                <a:gd name="adj2" fmla="val 50000"/>
              </a:avLst>
            </a:prstGeom>
            <a:noFill/>
            <a:ln w="9525">
              <a:solidFill>
                <a:srgbClr val="FF9900"/>
              </a:solidFill>
              <a:round/>
              <a:headEnd/>
              <a:tailEnd/>
            </a:ln>
          </p:spPr>
          <p:txBody>
            <a:bodyPr wrap="none" anchor="ctr"/>
            <a:lstStyle/>
            <a:p>
              <a:pPr algn="ctr"/>
              <a:endParaRPr lang="en-US">
                <a:solidFill>
                  <a:srgbClr val="FF9900"/>
                </a:solidFill>
                <a:latin typeface="Lucida Sans Unicode" pitchFamily="34" charset="0"/>
              </a:endParaRPr>
            </a:p>
          </p:txBody>
        </p:sp>
        <p:sp>
          <p:nvSpPr>
            <p:cNvPr id="43041" name="AutoShape 69"/>
            <p:cNvSpPr>
              <a:spLocks/>
            </p:cNvSpPr>
            <p:nvPr/>
          </p:nvSpPr>
          <p:spPr bwMode="auto">
            <a:xfrm>
              <a:off x="1152" y="1008"/>
              <a:ext cx="48" cy="1536"/>
            </a:xfrm>
            <a:prstGeom prst="leftBrace">
              <a:avLst>
                <a:gd name="adj1" fmla="val 266667"/>
                <a:gd name="adj2" fmla="val 50000"/>
              </a:avLst>
            </a:prstGeom>
            <a:noFill/>
            <a:ln w="9525">
              <a:solidFill>
                <a:srgbClr val="FF9900"/>
              </a:solidFill>
              <a:round/>
              <a:headEnd/>
              <a:tailEnd/>
            </a:ln>
          </p:spPr>
          <p:txBody>
            <a:bodyPr wrap="none" anchor="ctr"/>
            <a:lstStyle/>
            <a:p>
              <a:pPr algn="ctr"/>
              <a:endParaRPr lang="en-US">
                <a:solidFill>
                  <a:srgbClr val="FF9900"/>
                </a:solidFill>
                <a:latin typeface="Lucida Sans Unicode" pitchFamily="34" charset="0"/>
              </a:endParaRPr>
            </a:p>
          </p:txBody>
        </p:sp>
      </p:grpSp>
      <p:sp>
        <p:nvSpPr>
          <p:cNvPr id="43022" name="Rectangle 32"/>
          <p:cNvSpPr>
            <a:spLocks noChangeArrowheads="1"/>
          </p:cNvSpPr>
          <p:nvPr/>
        </p:nvSpPr>
        <p:spPr bwMode="auto">
          <a:xfrm>
            <a:off x="6019800" y="6172200"/>
            <a:ext cx="5638800" cy="246063"/>
          </a:xfrm>
          <a:prstGeom prst="rect">
            <a:avLst/>
          </a:prstGeom>
          <a:noFill/>
          <a:ln w="9525">
            <a:noFill/>
            <a:miter lim="800000"/>
            <a:headEnd/>
            <a:tailEnd/>
          </a:ln>
        </p:spPr>
        <p:txBody>
          <a:bodyPr>
            <a:spAutoFit/>
          </a:bodyPr>
          <a:lstStyle/>
          <a:p>
            <a:r>
              <a:rPr lang="en-US" sz="1000" i="1">
                <a:latin typeface="Lucida Sans Unicode" pitchFamily="34" charset="0"/>
              </a:rPr>
              <a:t>203.199.213.48/834/1/</a:t>
            </a:r>
            <a:r>
              <a:rPr lang="en-US" sz="1000" b="1" i="1">
                <a:latin typeface="Lucida Sans Unicode" pitchFamily="34" charset="0"/>
              </a:rPr>
              <a:t>Structuresofsolids</a:t>
            </a:r>
            <a:r>
              <a:rPr lang="en-US" sz="1000" i="1">
                <a:latin typeface="Lucida Sans Unicode" pitchFamily="34" charset="0"/>
              </a:rPr>
              <a:t>.</a:t>
            </a:r>
            <a:r>
              <a:rPr lang="en-US" sz="1000" b="1" i="1">
                <a:latin typeface="Lucida Sans Unicode" pitchFamily="34" charset="0"/>
              </a:rPr>
              <a:t>ppt</a:t>
            </a:r>
            <a:endParaRPr lang="en-US" sz="1000">
              <a:latin typeface="Lucida Sans Unicode" pitchFamily="34" charset="0"/>
            </a:endParaRPr>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49"/>
            <a:ext cx="8686800" cy="1143000"/>
          </a:xfrm>
        </p:spPr>
        <p:txBody>
          <a:bodyPr>
            <a:noAutofit/>
          </a:bodyPr>
          <a:lstStyle/>
          <a:p>
            <a:pPr>
              <a:defRPr/>
            </a:pPr>
            <a:r>
              <a:rPr lang="en-US" sz="2800" dirty="0" smtClean="0"/>
              <a:t>The figure below compares the X-ray diffraction patterns from 3 different forms of SiO</a:t>
            </a:r>
            <a:r>
              <a:rPr lang="en-US" sz="2800" baseline="-25000" dirty="0" smtClean="0"/>
              <a:t>2</a:t>
            </a:r>
            <a:endParaRPr lang="en-US" sz="2800" dirty="0"/>
          </a:p>
        </p:txBody>
      </p:sp>
      <p:sp>
        <p:nvSpPr>
          <p:cNvPr id="52227" name="Content Placeholder 2"/>
          <p:cNvSpPr>
            <a:spLocks noGrp="1"/>
          </p:cNvSpPr>
          <p:nvPr>
            <p:ph idx="1"/>
          </p:nvPr>
        </p:nvSpPr>
        <p:spPr>
          <a:xfrm>
            <a:off x="457200" y="4572000"/>
            <a:ext cx="8229600" cy="1554163"/>
          </a:xfrm>
        </p:spPr>
        <p:txBody>
          <a:bodyPr>
            <a:normAutofit fontScale="85000" lnSpcReduction="10000"/>
          </a:bodyPr>
          <a:lstStyle/>
          <a:p>
            <a:r>
              <a:rPr lang="en-US" sz="1600" smtClean="0"/>
              <a:t>These three phases of SiO</a:t>
            </a:r>
            <a:r>
              <a:rPr lang="en-US" sz="1600" baseline="-25000" smtClean="0"/>
              <a:t>2</a:t>
            </a:r>
            <a:r>
              <a:rPr lang="en-US" sz="1600" smtClean="0"/>
              <a:t> are chemically identical</a:t>
            </a:r>
          </a:p>
          <a:p>
            <a:r>
              <a:rPr lang="en-US" sz="1600" smtClean="0"/>
              <a:t>Quartz and cristobalite have two different crystal structures</a:t>
            </a:r>
          </a:p>
          <a:p>
            <a:pPr lvl="1"/>
            <a:r>
              <a:rPr lang="en-US" sz="1600" smtClean="0"/>
              <a:t>The Si and O atoms are arranged differently, but both have structures with long-range atomic order</a:t>
            </a:r>
          </a:p>
          <a:p>
            <a:pPr lvl="1"/>
            <a:r>
              <a:rPr lang="en-US" sz="1600" smtClean="0"/>
              <a:t>The difference in their crystal structure is reflected in their different diffraction patterns</a:t>
            </a:r>
          </a:p>
          <a:p>
            <a:r>
              <a:rPr lang="en-US" sz="1600" smtClean="0"/>
              <a:t>The amorphous glass does not have long-range atomic order and therefore produces only broad scattering peaks</a:t>
            </a:r>
          </a:p>
        </p:txBody>
      </p:sp>
      <p:pic>
        <p:nvPicPr>
          <p:cNvPr id="52228" name="Picture 4"/>
          <p:cNvPicPr>
            <a:picLocks noChangeAspect="1" noChangeArrowheads="1"/>
          </p:cNvPicPr>
          <p:nvPr/>
        </p:nvPicPr>
        <p:blipFill>
          <a:blip r:embed="rId2"/>
          <a:srcRect b="16238"/>
          <a:stretch>
            <a:fillRect/>
          </a:stretch>
        </p:blipFill>
        <p:spPr bwMode="auto">
          <a:xfrm>
            <a:off x="838200" y="1143000"/>
            <a:ext cx="7315200" cy="3446463"/>
          </a:xfrm>
          <a:prstGeom prst="rect">
            <a:avLst/>
          </a:prstGeom>
          <a:noFill/>
          <a:ln w="9525">
            <a:noFill/>
            <a:miter lim="800000"/>
            <a:headEnd/>
            <a:tailEnd/>
          </a:ln>
          <a:effectLst/>
        </p:spPr>
      </p:pic>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fontScale="90000"/>
          </a:bodyPr>
          <a:lstStyle/>
          <a:p>
            <a:pPr>
              <a:defRPr/>
            </a:pPr>
            <a:r>
              <a:rPr lang="en-US" dirty="0" smtClean="0"/>
              <a:t>The diffraction pattern is a product of the unique crystal structure of a material </a:t>
            </a:r>
          </a:p>
        </p:txBody>
      </p:sp>
      <p:sp>
        <p:nvSpPr>
          <p:cNvPr id="53251" name="Rectangle 3"/>
          <p:cNvSpPr>
            <a:spLocks noGrp="1" noChangeArrowheads="1"/>
          </p:cNvSpPr>
          <p:nvPr>
            <p:ph type="body" idx="1"/>
          </p:nvPr>
        </p:nvSpPr>
        <p:spPr>
          <a:xfrm>
            <a:off x="457200" y="4495800"/>
            <a:ext cx="8229600" cy="1828800"/>
          </a:xfrm>
        </p:spPr>
        <p:txBody>
          <a:bodyPr/>
          <a:lstStyle/>
          <a:p>
            <a:r>
              <a:rPr lang="en-US" sz="2000" smtClean="0"/>
              <a:t>The crystal structure describes the atomic arrangement of a material.</a:t>
            </a:r>
          </a:p>
          <a:p>
            <a:endParaRPr lang="en-US" sz="2000" smtClean="0"/>
          </a:p>
          <a:p>
            <a:r>
              <a:rPr lang="en-US" sz="2000" smtClean="0"/>
              <a:t>When the atoms are arranged differently, a different diffraction pattern is produced (ie quartz vs cristobalite)</a:t>
            </a:r>
          </a:p>
          <a:p>
            <a:endParaRPr lang="en-US" sz="2000" smtClean="0"/>
          </a:p>
        </p:txBody>
      </p:sp>
      <p:pic>
        <p:nvPicPr>
          <p:cNvPr id="53252" name="Picture 3"/>
          <p:cNvPicPr>
            <a:picLocks noChangeAspect="1" noChangeArrowheads="1"/>
          </p:cNvPicPr>
          <p:nvPr/>
        </p:nvPicPr>
        <p:blipFill>
          <a:blip r:embed="rId2"/>
          <a:srcRect l="29655" r="31895"/>
          <a:stretch>
            <a:fillRect/>
          </a:stretch>
        </p:blipFill>
        <p:spPr bwMode="auto">
          <a:xfrm>
            <a:off x="1831975" y="1635125"/>
            <a:ext cx="2511425" cy="2970213"/>
          </a:xfrm>
          <a:prstGeom prst="rect">
            <a:avLst/>
          </a:prstGeom>
          <a:noFill/>
          <a:ln w="9525">
            <a:noFill/>
            <a:miter lim="800000"/>
            <a:headEnd/>
            <a:tailEnd/>
          </a:ln>
          <a:effectLst/>
        </p:spPr>
      </p:pic>
      <p:pic>
        <p:nvPicPr>
          <p:cNvPr id="53253" name="Picture 4"/>
          <p:cNvPicPr>
            <a:picLocks noChangeAspect="1" noChangeArrowheads="1"/>
          </p:cNvPicPr>
          <p:nvPr/>
        </p:nvPicPr>
        <p:blipFill>
          <a:blip r:embed="rId3"/>
          <a:srcRect l="37379" t="10915" r="36378" b="17622"/>
          <a:stretch>
            <a:fillRect/>
          </a:stretch>
        </p:blipFill>
        <p:spPr bwMode="auto">
          <a:xfrm>
            <a:off x="4800600" y="1790700"/>
            <a:ext cx="2146300" cy="2660650"/>
          </a:xfrm>
          <a:prstGeom prst="rect">
            <a:avLst/>
          </a:prstGeom>
          <a:noFill/>
          <a:ln w="9525">
            <a:noFill/>
            <a:miter lim="800000"/>
            <a:headEnd/>
            <a:tailEnd/>
          </a:ln>
          <a:effectLst/>
        </p:spPr>
      </p:pic>
      <p:sp>
        <p:nvSpPr>
          <p:cNvPr id="53254" name="TextBox 1"/>
          <p:cNvSpPr txBox="1">
            <a:spLocks noChangeArrowheads="1"/>
          </p:cNvSpPr>
          <p:nvPr/>
        </p:nvSpPr>
        <p:spPr bwMode="auto">
          <a:xfrm>
            <a:off x="1676400" y="1820863"/>
            <a:ext cx="820738" cy="368300"/>
          </a:xfrm>
          <a:prstGeom prst="rect">
            <a:avLst/>
          </a:prstGeom>
          <a:noFill/>
          <a:ln w="9525">
            <a:noFill/>
            <a:miter lim="800000"/>
            <a:headEnd/>
            <a:tailEnd/>
          </a:ln>
        </p:spPr>
        <p:txBody>
          <a:bodyPr wrap="none">
            <a:spAutoFit/>
          </a:bodyPr>
          <a:lstStyle/>
          <a:p>
            <a:r>
              <a:rPr lang="en-US"/>
              <a:t>Quartz</a:t>
            </a:r>
          </a:p>
        </p:txBody>
      </p:sp>
      <p:sp>
        <p:nvSpPr>
          <p:cNvPr id="53255" name="TextBox 2"/>
          <p:cNvSpPr txBox="1">
            <a:spLocks noChangeArrowheads="1"/>
          </p:cNvSpPr>
          <p:nvPr/>
        </p:nvSpPr>
        <p:spPr bwMode="auto">
          <a:xfrm>
            <a:off x="6932613" y="1993900"/>
            <a:ext cx="1252537" cy="369888"/>
          </a:xfrm>
          <a:prstGeom prst="rect">
            <a:avLst/>
          </a:prstGeom>
          <a:noFill/>
          <a:ln w="9525">
            <a:noFill/>
            <a:miter lim="800000"/>
            <a:headEnd/>
            <a:tailEnd/>
          </a:ln>
        </p:spPr>
        <p:txBody>
          <a:bodyPr wrap="none">
            <a:spAutoFit/>
          </a:bodyPr>
          <a:lstStyle/>
          <a:p>
            <a:r>
              <a:rPr lang="en-US"/>
              <a:t>Cristobalite</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smtClean="0"/>
              <a:t>Diffraction peaks are associated with planes of atoms</a:t>
            </a:r>
            <a:endParaRPr lang="en-US" dirty="0"/>
          </a:p>
        </p:txBody>
      </p:sp>
      <p:sp>
        <p:nvSpPr>
          <p:cNvPr id="3" name="Content Placeholder 2"/>
          <p:cNvSpPr>
            <a:spLocks noGrp="1"/>
          </p:cNvSpPr>
          <p:nvPr>
            <p:ph idx="1"/>
          </p:nvPr>
        </p:nvSpPr>
        <p:spPr>
          <a:xfrm>
            <a:off x="457200" y="4410075"/>
            <a:ext cx="8153400" cy="1716088"/>
          </a:xfrm>
        </p:spPr>
        <p:txBody>
          <a:bodyPr>
            <a:normAutofit fontScale="77500" lnSpcReduction="20000"/>
          </a:bodyPr>
          <a:lstStyle/>
          <a:p>
            <a:pPr>
              <a:defRPr/>
            </a:pPr>
            <a:r>
              <a:rPr lang="en-US" dirty="0" smtClean="0"/>
              <a:t>Miller indices </a:t>
            </a:r>
            <a:r>
              <a:rPr lang="en-US" dirty="0" smtClean="0">
                <a:solidFill>
                  <a:srgbClr val="FF0000"/>
                </a:solidFill>
              </a:rPr>
              <a:t>(</a:t>
            </a:r>
            <a:r>
              <a:rPr lang="en-US" dirty="0" err="1" smtClean="0">
                <a:solidFill>
                  <a:srgbClr val="FF0000"/>
                </a:solidFill>
              </a:rPr>
              <a:t>hkl</a:t>
            </a:r>
            <a:r>
              <a:rPr lang="en-US" dirty="0" smtClean="0">
                <a:solidFill>
                  <a:srgbClr val="FF0000"/>
                </a:solidFill>
              </a:rPr>
              <a:t>)</a:t>
            </a:r>
            <a:r>
              <a:rPr lang="en-US" dirty="0" smtClean="0"/>
              <a:t> are used to identify different planes of atoms</a:t>
            </a:r>
          </a:p>
          <a:p>
            <a:pPr>
              <a:defRPr/>
            </a:pPr>
            <a:r>
              <a:rPr lang="en-US" dirty="0" smtClean="0"/>
              <a:t>Observed diffraction peaks can be related to planes of atoms to assist in analyzing the atomic structure and microstructure of a sample</a:t>
            </a:r>
            <a:endParaRPr lang="en-US" dirty="0"/>
          </a:p>
        </p:txBody>
      </p:sp>
      <p:pic>
        <p:nvPicPr>
          <p:cNvPr id="54276" name="Picture 5"/>
          <p:cNvPicPr>
            <a:picLocks noChangeAspect="1" noChangeArrowheads="1"/>
          </p:cNvPicPr>
          <p:nvPr/>
        </p:nvPicPr>
        <p:blipFill>
          <a:blip r:embed="rId2"/>
          <a:srcRect l="6503" b="19325"/>
          <a:stretch>
            <a:fillRect/>
          </a:stretch>
        </p:blipFill>
        <p:spPr bwMode="auto">
          <a:xfrm>
            <a:off x="838200" y="990600"/>
            <a:ext cx="7194550" cy="3492500"/>
          </a:xfrm>
          <a:prstGeom prst="rect">
            <a:avLst/>
          </a:prstGeom>
          <a:noFill/>
          <a:ln w="9525">
            <a:noFill/>
            <a:miter lim="800000"/>
            <a:headEnd/>
            <a:tailEnd/>
          </a:ln>
          <a:effectLst/>
        </p:spPr>
      </p:pic>
      <p:sp>
        <p:nvSpPr>
          <p:cNvPr id="4" name="Footer Placeholder 3"/>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04800" y="152400"/>
            <a:ext cx="8229600" cy="1143000"/>
          </a:xfrm>
        </p:spPr>
        <p:txBody>
          <a:bodyPr/>
          <a:lstStyle/>
          <a:p>
            <a:pPr>
              <a:defRPr/>
            </a:pPr>
            <a:r>
              <a:rPr lang="en-US" sz="2000" dirty="0" smtClean="0"/>
              <a:t>Parallel </a:t>
            </a:r>
            <a:r>
              <a:rPr lang="en-US" sz="2000" dirty="0" smtClean="0">
                <a:solidFill>
                  <a:srgbClr val="993333"/>
                </a:solidFill>
              </a:rPr>
              <a:t>planes of atoms</a:t>
            </a:r>
            <a:r>
              <a:rPr lang="en-US" sz="2000" dirty="0" smtClean="0"/>
              <a:t> intersecting the unit cell define directions and distances in the crystal.</a:t>
            </a:r>
          </a:p>
        </p:txBody>
      </p:sp>
      <p:sp>
        <p:nvSpPr>
          <p:cNvPr id="9219" name="Rectangle 3"/>
          <p:cNvSpPr>
            <a:spLocks noGrp="1" noChangeArrowheads="1"/>
          </p:cNvSpPr>
          <p:nvPr>
            <p:ph type="body" idx="1"/>
          </p:nvPr>
        </p:nvSpPr>
        <p:spPr>
          <a:xfrm>
            <a:off x="457200" y="4572000"/>
            <a:ext cx="8229600" cy="1828800"/>
          </a:xfrm>
        </p:spPr>
        <p:txBody>
          <a:bodyPr>
            <a:normAutofit fontScale="92500" lnSpcReduction="10000"/>
          </a:bodyPr>
          <a:lstStyle/>
          <a:p>
            <a:pPr>
              <a:defRPr/>
            </a:pPr>
            <a:r>
              <a:rPr lang="en-US" sz="2000" dirty="0" smtClean="0"/>
              <a:t>The Miller indices (</a:t>
            </a:r>
            <a:r>
              <a:rPr lang="en-US" sz="2000" dirty="0" err="1" smtClean="0"/>
              <a:t>hkl</a:t>
            </a:r>
            <a:r>
              <a:rPr lang="en-US" sz="2000" dirty="0" smtClean="0"/>
              <a:t>) define the reciprocal of the axial intercepts</a:t>
            </a:r>
          </a:p>
          <a:p>
            <a:pPr>
              <a:defRPr/>
            </a:pPr>
            <a:r>
              <a:rPr lang="en-US" sz="2000" dirty="0" smtClean="0"/>
              <a:t>The crystallographic direction, [</a:t>
            </a:r>
            <a:r>
              <a:rPr lang="en-US" sz="2000" dirty="0" err="1" smtClean="0"/>
              <a:t>hkl</a:t>
            </a:r>
            <a:r>
              <a:rPr lang="en-US" sz="2000" dirty="0" smtClean="0"/>
              <a:t>], is the vector normal to (</a:t>
            </a:r>
            <a:r>
              <a:rPr lang="en-US" sz="2000" dirty="0" err="1" smtClean="0"/>
              <a:t>hkl</a:t>
            </a:r>
            <a:r>
              <a:rPr lang="en-US" sz="2000" dirty="0" smtClean="0"/>
              <a:t>)</a:t>
            </a:r>
          </a:p>
          <a:p>
            <a:pPr>
              <a:defRPr/>
            </a:pPr>
            <a:r>
              <a:rPr lang="en-US" sz="2000" dirty="0" err="1" smtClean="0"/>
              <a:t>d</a:t>
            </a:r>
            <a:r>
              <a:rPr lang="en-US" sz="2000" baseline="-25000" dirty="0" err="1" smtClean="0"/>
              <a:t>hkl</a:t>
            </a:r>
            <a:r>
              <a:rPr lang="en-US" sz="2000" dirty="0" smtClean="0"/>
              <a:t> is the vector extending from the origin to the plane (</a:t>
            </a:r>
            <a:r>
              <a:rPr lang="en-US" sz="2000" dirty="0" err="1" smtClean="0"/>
              <a:t>hkl</a:t>
            </a:r>
            <a:r>
              <a:rPr lang="en-US" sz="2000" dirty="0" smtClean="0"/>
              <a:t>) and is normal to (</a:t>
            </a:r>
            <a:r>
              <a:rPr lang="en-US" sz="2000" dirty="0" err="1" smtClean="0"/>
              <a:t>hkl</a:t>
            </a:r>
            <a:r>
              <a:rPr lang="en-US" sz="2000" dirty="0" smtClean="0"/>
              <a:t>)</a:t>
            </a:r>
          </a:p>
          <a:p>
            <a:pPr>
              <a:defRPr/>
            </a:pPr>
            <a:r>
              <a:rPr lang="en-US" sz="2000" dirty="0" smtClean="0"/>
              <a:t>The vector </a:t>
            </a:r>
            <a:r>
              <a:rPr lang="en-US" sz="2000" dirty="0" err="1" smtClean="0"/>
              <a:t>d</a:t>
            </a:r>
            <a:r>
              <a:rPr lang="en-US" sz="2000" baseline="-25000" dirty="0" err="1" smtClean="0"/>
              <a:t>hkl</a:t>
            </a:r>
            <a:r>
              <a:rPr lang="en-US" sz="2000" dirty="0"/>
              <a:t> </a:t>
            </a:r>
            <a:r>
              <a:rPr lang="en-US" sz="2000" dirty="0" smtClean="0"/>
              <a:t>is used in Bragg’s law to determine where diffraction peaks will be observed</a:t>
            </a:r>
          </a:p>
        </p:txBody>
      </p:sp>
      <p:pic>
        <p:nvPicPr>
          <p:cNvPr id="55300" name="Picture 6"/>
          <p:cNvPicPr>
            <a:picLocks noChangeAspect="1" noChangeArrowheads="1"/>
          </p:cNvPicPr>
          <p:nvPr/>
        </p:nvPicPr>
        <p:blipFill>
          <a:blip r:embed="rId2"/>
          <a:srcRect l="10799" t="4637" r="14398" b="4637"/>
          <a:stretch>
            <a:fillRect/>
          </a:stretch>
        </p:blipFill>
        <p:spPr bwMode="auto">
          <a:xfrm>
            <a:off x="1295400" y="1447800"/>
            <a:ext cx="3248025" cy="3059113"/>
          </a:xfrm>
          <a:prstGeom prst="rect">
            <a:avLst/>
          </a:prstGeom>
          <a:noFill/>
          <a:ln w="9525" algn="ctr">
            <a:noFill/>
            <a:miter lim="800000"/>
            <a:headEnd/>
            <a:tailEnd/>
          </a:ln>
        </p:spPr>
      </p:pic>
      <p:pic>
        <p:nvPicPr>
          <p:cNvPr id="55301" name="Picture 7"/>
          <p:cNvPicPr>
            <a:picLocks noChangeAspect="1" noChangeArrowheads="1"/>
          </p:cNvPicPr>
          <p:nvPr/>
        </p:nvPicPr>
        <p:blipFill>
          <a:blip r:embed="rId3"/>
          <a:srcRect l="9599" t="4637" r="14398" b="4637"/>
          <a:stretch>
            <a:fillRect/>
          </a:stretch>
        </p:blipFill>
        <p:spPr bwMode="auto">
          <a:xfrm>
            <a:off x="4572000" y="1447800"/>
            <a:ext cx="3116263" cy="2886075"/>
          </a:xfrm>
          <a:prstGeom prst="rect">
            <a:avLst/>
          </a:prstGeom>
          <a:noFill/>
          <a:ln w="9525" algn="ctr">
            <a:noFill/>
            <a:miter lim="800000"/>
            <a:headEnd/>
            <a:tailEnd/>
          </a:ln>
        </p:spPr>
      </p:pic>
      <p:sp>
        <p:nvSpPr>
          <p:cNvPr id="55302" name="Text Box 8"/>
          <p:cNvSpPr txBox="1">
            <a:spLocks noChangeArrowheads="1"/>
          </p:cNvSpPr>
          <p:nvPr/>
        </p:nvSpPr>
        <p:spPr bwMode="auto">
          <a:xfrm>
            <a:off x="457200" y="1447800"/>
            <a:ext cx="1676400" cy="488950"/>
          </a:xfrm>
          <a:prstGeom prst="rect">
            <a:avLst/>
          </a:prstGeom>
          <a:noFill/>
          <a:ln w="9525" algn="ctr">
            <a:noFill/>
            <a:miter lim="800000"/>
            <a:headEnd/>
            <a:tailEnd/>
          </a:ln>
        </p:spPr>
        <p:txBody>
          <a:bodyPr lIns="0" tIns="0" rIns="0" bIns="0">
            <a:spAutoFit/>
          </a:bodyPr>
          <a:lstStyle/>
          <a:p>
            <a:r>
              <a:rPr lang="en-US" sz="1600"/>
              <a:t>The (200) planes of atoms in NaCl</a:t>
            </a:r>
          </a:p>
        </p:txBody>
      </p:sp>
      <p:sp>
        <p:nvSpPr>
          <p:cNvPr id="55303" name="Text Box 9"/>
          <p:cNvSpPr txBox="1">
            <a:spLocks noChangeArrowheads="1"/>
          </p:cNvSpPr>
          <p:nvPr/>
        </p:nvSpPr>
        <p:spPr bwMode="auto">
          <a:xfrm>
            <a:off x="7162800" y="1524000"/>
            <a:ext cx="1676400" cy="488950"/>
          </a:xfrm>
          <a:prstGeom prst="rect">
            <a:avLst/>
          </a:prstGeom>
          <a:noFill/>
          <a:ln w="9525" algn="ctr">
            <a:noFill/>
            <a:miter lim="800000"/>
            <a:headEnd/>
            <a:tailEnd/>
          </a:ln>
        </p:spPr>
        <p:txBody>
          <a:bodyPr lIns="0" tIns="0" rIns="0" bIns="0">
            <a:spAutoFit/>
          </a:bodyPr>
          <a:lstStyle/>
          <a:p>
            <a:r>
              <a:rPr lang="en-US" sz="1600"/>
              <a:t>The (220) planes of atoms in NaCl</a:t>
            </a:r>
          </a:p>
        </p:txBody>
      </p:sp>
      <p:sp>
        <p:nvSpPr>
          <p:cNvPr id="55304" name="Rectangle 8"/>
          <p:cNvSpPr>
            <a:spLocks noChangeArrowheads="1"/>
          </p:cNvSpPr>
          <p:nvPr/>
        </p:nvSpPr>
        <p:spPr bwMode="auto">
          <a:xfrm>
            <a:off x="2819400" y="6396038"/>
            <a:ext cx="6400800" cy="461962"/>
          </a:xfrm>
          <a:prstGeom prst="rect">
            <a:avLst/>
          </a:prstGeom>
          <a:noFill/>
          <a:ln w="9525">
            <a:noFill/>
            <a:miter lim="800000"/>
            <a:headEnd/>
            <a:tailEnd/>
          </a:ln>
        </p:spPr>
        <p:txBody>
          <a:bodyPr>
            <a:spAutoFit/>
          </a:bodyPr>
          <a:lstStyle/>
          <a:p>
            <a:r>
              <a:rPr lang="en-US" sz="800"/>
              <a:t>http://www.google.com/url?sa=t&amp;rct=j&amp;q=&amp;esrc=s&amp;frm=1&amp;source=web&amp;cd=4&amp;sqi=2&amp;ved=0CDcQFjAD&amp;url=http%3A%2F%2Fprism.mit.edu%2Fxray%2FBasics%2520of%2520XRay%2520Powder%2520Diffraction.pptx&amp;ei=ZmpaUIXQHYi10AG89IFg&amp;usg=AFQjCNFO1d1X0r4MEIBE86TvgvIFah9J5g</a:t>
            </a:r>
          </a:p>
        </p:txBody>
      </p:sp>
      <p:sp>
        <p:nvSpPr>
          <p:cNvPr id="2" name="Footer Placeholder 1"/>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8229600" cy="1143000"/>
          </a:xfrm>
        </p:spPr>
        <p:txBody>
          <a:bodyPr/>
          <a:lstStyle/>
          <a:p>
            <a:pPr>
              <a:defRPr/>
            </a:pPr>
            <a:r>
              <a:rPr lang="en-US" sz="2000" dirty="0" smtClean="0"/>
              <a:t>The position of the diffraction peaks are determined by the </a:t>
            </a:r>
            <a:r>
              <a:rPr lang="en-US" sz="2000" dirty="0"/>
              <a:t>distance between parallel planes of atoms. </a:t>
            </a:r>
          </a:p>
        </p:txBody>
      </p:sp>
      <p:sp>
        <p:nvSpPr>
          <p:cNvPr id="56323" name="Content Placeholder 2"/>
          <p:cNvSpPr>
            <a:spLocks noGrp="1"/>
          </p:cNvSpPr>
          <p:nvPr>
            <p:ph idx="1"/>
          </p:nvPr>
        </p:nvSpPr>
        <p:spPr>
          <a:xfrm>
            <a:off x="0" y="3810000"/>
            <a:ext cx="9144000" cy="2743200"/>
          </a:xfrm>
        </p:spPr>
        <p:txBody>
          <a:bodyPr/>
          <a:lstStyle/>
          <a:p>
            <a:pPr>
              <a:lnSpc>
                <a:spcPct val="90000"/>
              </a:lnSpc>
            </a:pPr>
            <a:r>
              <a:rPr lang="en-US" sz="1600" smtClean="0"/>
              <a:t>Bragg’s law calculates the angle where constructive interference from X-rays scattered by parallel planes of atoms will produce a diffraction peak.</a:t>
            </a:r>
          </a:p>
          <a:p>
            <a:pPr lvl="1">
              <a:lnSpc>
                <a:spcPct val="90000"/>
              </a:lnSpc>
            </a:pPr>
            <a:r>
              <a:rPr lang="en-US" sz="1600" smtClean="0"/>
              <a:t>In most diffractometers, the X-ray wavelength l is fixed.</a:t>
            </a:r>
          </a:p>
          <a:p>
            <a:pPr lvl="1">
              <a:lnSpc>
                <a:spcPct val="90000"/>
              </a:lnSpc>
            </a:pPr>
            <a:r>
              <a:rPr lang="en-US" sz="1600" smtClean="0"/>
              <a:t>Consequently, a family of planes produces a diffraction peak only at a specific angle 2</a:t>
            </a:r>
            <a:r>
              <a:rPr lang="en-US" sz="1600" smtClean="0">
                <a:sym typeface="Symbol" pitchFamily="18" charset="2"/>
              </a:rPr>
              <a:t></a:t>
            </a:r>
            <a:r>
              <a:rPr lang="en-US" sz="1600" smtClean="0"/>
              <a:t>.</a:t>
            </a:r>
          </a:p>
          <a:p>
            <a:r>
              <a:rPr lang="en-US" sz="1600" b="1" smtClean="0"/>
              <a:t>d</a:t>
            </a:r>
            <a:r>
              <a:rPr lang="en-US" sz="1600" b="1" baseline="-25000" smtClean="0"/>
              <a:t>hkl</a:t>
            </a:r>
            <a:r>
              <a:rPr lang="en-US" sz="1600" smtClean="0"/>
              <a:t> is the vector drawn from the origin of the unit cell to intersect the crystallographic plane (hkl) at a 90</a:t>
            </a:r>
            <a:r>
              <a:rPr lang="en-US" sz="1600" smtClean="0">
                <a:cs typeface="Arial" charset="0"/>
              </a:rPr>
              <a:t>° angle</a:t>
            </a:r>
            <a:r>
              <a:rPr lang="en-US" sz="1600" smtClean="0"/>
              <a:t>. </a:t>
            </a:r>
          </a:p>
          <a:p>
            <a:pPr lvl="1"/>
            <a:r>
              <a:rPr lang="en-US" sz="1600" i="1" smtClean="0"/>
              <a:t>d</a:t>
            </a:r>
            <a:r>
              <a:rPr lang="en-US" sz="1600" i="1" baseline="-25000" smtClean="0"/>
              <a:t>hkl</a:t>
            </a:r>
            <a:r>
              <a:rPr lang="en-US" sz="1600" smtClean="0"/>
              <a:t>, the vector magnitude, is the distance between parallel planes of atoms in the family (hkl)</a:t>
            </a:r>
          </a:p>
          <a:p>
            <a:pPr lvl="1"/>
            <a:r>
              <a:rPr lang="en-US" sz="1600" i="1" smtClean="0">
                <a:solidFill>
                  <a:srgbClr val="CC0000"/>
                </a:solidFill>
              </a:rPr>
              <a:t>d</a:t>
            </a:r>
            <a:r>
              <a:rPr lang="en-US" sz="1600" i="1" baseline="-25000" smtClean="0">
                <a:solidFill>
                  <a:srgbClr val="CC0000"/>
                </a:solidFill>
              </a:rPr>
              <a:t>hkl</a:t>
            </a:r>
            <a:r>
              <a:rPr lang="en-US" sz="1600" smtClean="0">
                <a:solidFill>
                  <a:srgbClr val="CC0000"/>
                </a:solidFill>
              </a:rPr>
              <a:t> is a geometric function of the size and shape of the unit cell</a:t>
            </a:r>
          </a:p>
        </p:txBody>
      </p:sp>
      <p:graphicFrame>
        <p:nvGraphicFramePr>
          <p:cNvPr id="56324" name="Object 8"/>
          <p:cNvGraphicFramePr>
            <a:graphicFrameLocks noChangeAspect="1"/>
          </p:cNvGraphicFramePr>
          <p:nvPr/>
        </p:nvGraphicFramePr>
        <p:xfrm>
          <a:off x="1600200" y="2513013"/>
          <a:ext cx="2514600" cy="646112"/>
        </p:xfrm>
        <a:graphic>
          <a:graphicData uri="http://schemas.openxmlformats.org/presentationml/2006/ole">
            <mc:AlternateContent xmlns:mc="http://schemas.openxmlformats.org/markup-compatibility/2006">
              <mc:Choice xmlns:v="urn:schemas-microsoft-com:vml" Requires="v">
                <p:oleObj spid="_x0000_s75789" name="Equation" r:id="rId3" imgW="889000" imgH="228600" progId="Equation.3">
                  <p:embed/>
                </p:oleObj>
              </mc:Choice>
              <mc:Fallback>
                <p:oleObj name="Equation" r:id="rId3" imgW="889000" imgH="228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2513013"/>
                        <a:ext cx="2514600" cy="64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56325" name="Picture 4"/>
          <p:cNvPicPr>
            <a:picLocks noChangeAspect="1" noChangeArrowheads="1"/>
          </p:cNvPicPr>
          <p:nvPr/>
        </p:nvPicPr>
        <p:blipFill>
          <a:blip r:embed="rId5"/>
          <a:srcRect l="28752" t="18085" r="26314" b="21484"/>
          <a:stretch>
            <a:fillRect/>
          </a:stretch>
        </p:blipFill>
        <p:spPr bwMode="auto">
          <a:xfrm>
            <a:off x="5181600" y="1201738"/>
            <a:ext cx="2898775" cy="2560637"/>
          </a:xfrm>
          <a:prstGeom prst="rect">
            <a:avLst/>
          </a:prstGeom>
          <a:noFill/>
          <a:ln w="38100">
            <a:noFill/>
            <a:miter lim="800000"/>
            <a:headEnd/>
            <a:tailEnd/>
          </a:ln>
          <a:effectLst/>
        </p:spPr>
      </p:pic>
      <p:sp>
        <p:nvSpPr>
          <p:cNvPr id="56326" name="Line 10"/>
          <p:cNvSpPr>
            <a:spLocks noChangeShapeType="1"/>
          </p:cNvSpPr>
          <p:nvPr/>
        </p:nvSpPr>
        <p:spPr bwMode="auto">
          <a:xfrm flipV="1">
            <a:off x="5867400" y="2497138"/>
            <a:ext cx="1066800" cy="1066800"/>
          </a:xfrm>
          <a:prstGeom prst="line">
            <a:avLst/>
          </a:prstGeom>
          <a:noFill/>
          <a:ln w="38100">
            <a:solidFill>
              <a:schemeClr val="tx1"/>
            </a:solidFill>
            <a:round/>
            <a:headEnd/>
            <a:tailEnd type="triangle" w="med" len="lg"/>
          </a:ln>
          <a:effectLst/>
        </p:spPr>
        <p:txBody>
          <a:bodyPr/>
          <a:lstStyle/>
          <a:p>
            <a:endParaRPr lang="en-US"/>
          </a:p>
        </p:txBody>
      </p:sp>
      <p:sp>
        <p:nvSpPr>
          <p:cNvPr id="56327" name="Text Box 11"/>
          <p:cNvSpPr txBox="1">
            <a:spLocks noChangeArrowheads="1"/>
          </p:cNvSpPr>
          <p:nvPr/>
        </p:nvSpPr>
        <p:spPr bwMode="auto">
          <a:xfrm rot="-2961767">
            <a:off x="6248401" y="2954337"/>
            <a:ext cx="576262" cy="366713"/>
          </a:xfrm>
          <a:prstGeom prst="rect">
            <a:avLst/>
          </a:prstGeom>
          <a:noFill/>
          <a:ln w="38100">
            <a:noFill/>
            <a:miter lim="800000"/>
            <a:headEnd/>
            <a:tailEnd/>
          </a:ln>
          <a:effectLst/>
        </p:spPr>
        <p:txBody>
          <a:bodyPr wrap="none">
            <a:spAutoFit/>
          </a:bodyPr>
          <a:lstStyle/>
          <a:p>
            <a:r>
              <a:rPr lang="en-US"/>
              <a:t>d</a:t>
            </a:r>
            <a:r>
              <a:rPr lang="en-US" baseline="-25000"/>
              <a:t>110</a:t>
            </a:r>
            <a:endParaRPr lang="en-US"/>
          </a:p>
        </p:txBody>
      </p:sp>
      <p:sp>
        <p:nvSpPr>
          <p:cNvPr id="56328" name="TextBox 8"/>
          <p:cNvSpPr txBox="1">
            <a:spLocks noChangeArrowheads="1"/>
          </p:cNvSpPr>
          <p:nvPr/>
        </p:nvSpPr>
        <p:spPr bwMode="auto">
          <a:xfrm>
            <a:off x="1981200" y="2090738"/>
            <a:ext cx="1681163" cy="461962"/>
          </a:xfrm>
          <a:prstGeom prst="rect">
            <a:avLst/>
          </a:prstGeom>
          <a:noFill/>
          <a:ln w="9525">
            <a:noFill/>
            <a:miter lim="800000"/>
            <a:headEnd/>
            <a:tailEnd/>
          </a:ln>
        </p:spPr>
        <p:txBody>
          <a:bodyPr wrap="none">
            <a:spAutoFit/>
          </a:bodyPr>
          <a:lstStyle/>
          <a:p>
            <a:r>
              <a:rPr lang="en-US" sz="2400" b="1"/>
              <a:t>Bragg’s Law</a:t>
            </a:r>
          </a:p>
        </p:txBody>
      </p:sp>
      <p:sp>
        <p:nvSpPr>
          <p:cNvPr id="10" name="Rectangle 9"/>
          <p:cNvSpPr/>
          <p:nvPr/>
        </p:nvSpPr>
        <p:spPr>
          <a:xfrm>
            <a:off x="1371600" y="2090738"/>
            <a:ext cx="2819400" cy="10477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Footer Placeholder 2"/>
          <p:cNvSpPr>
            <a:spLocks noGrp="1"/>
          </p:cNvSpPr>
          <p:nvPr>
            <p:ph type="ftr" sz="quarter" idx="11"/>
          </p:nvPr>
        </p:nvSpPr>
        <p:spPr/>
        <p:txBody>
          <a:bodyPr/>
          <a:lstStyle/>
          <a:p>
            <a:r>
              <a:rPr lang="en-US" smtClean="0"/>
              <a:t>AMH 2024</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1467</TotalTime>
  <Words>11551</Words>
  <Application>Microsoft Office PowerPoint</Application>
  <PresentationFormat>On-screen Show (4:3)</PresentationFormat>
  <Paragraphs>1932</Paragraphs>
  <Slides>282</Slides>
  <Notes>141</Notes>
  <HiddenSlides>0</HiddenSlides>
  <MMClips>0</MMClips>
  <ScaleCrop>false</ScaleCrop>
  <HeadingPairs>
    <vt:vector size="6" baseType="variant">
      <vt:variant>
        <vt:lpstr>Theme</vt:lpstr>
      </vt:variant>
      <vt:variant>
        <vt:i4>1</vt:i4>
      </vt:variant>
      <vt:variant>
        <vt:lpstr>Embedded OLE Servers</vt:lpstr>
      </vt:variant>
      <vt:variant>
        <vt:i4>5</vt:i4>
      </vt:variant>
      <vt:variant>
        <vt:lpstr>Slide Titles</vt:lpstr>
      </vt:variant>
      <vt:variant>
        <vt:i4>282</vt:i4>
      </vt:variant>
    </vt:vector>
  </HeadingPairs>
  <TitlesOfParts>
    <vt:vector size="288" baseType="lpstr">
      <vt:lpstr>Office Theme</vt:lpstr>
      <vt:lpstr>Chemistry 4-D Draw</vt:lpstr>
      <vt:lpstr>Equation</vt:lpstr>
      <vt:lpstr>CS ChemDraw Drawing</vt:lpstr>
      <vt:lpstr>Bitmap Image</vt:lpstr>
      <vt:lpstr>Image</vt:lpstr>
      <vt:lpstr>Inorganic Chemistry</vt:lpstr>
      <vt:lpstr>Course aims</vt:lpstr>
      <vt:lpstr>Course ILOs:</vt:lpstr>
      <vt:lpstr>PowerPoint Presentation</vt:lpstr>
      <vt:lpstr>Course capsule:</vt:lpstr>
      <vt:lpstr>PowerPoint Presentation</vt:lpstr>
      <vt:lpstr>PowerPoint Presentation</vt:lpstr>
      <vt:lpstr>Teaching methods:</vt:lpstr>
      <vt:lpstr>Course evaluation</vt:lpstr>
      <vt:lpstr>Recommended Texts:</vt:lpstr>
      <vt:lpstr>IUPAC nomenclature of transition metal complexes</vt:lpstr>
      <vt:lpstr>The Position of the Transition Elements on the Periodic Table</vt:lpstr>
      <vt:lpstr>Forming Ionic Compounds</vt:lpstr>
      <vt:lpstr>The Complex Ion Co(NH3)63+</vt:lpstr>
      <vt:lpstr>Ionic Compounds with Transition Metals</vt:lpstr>
      <vt:lpstr>Ionic Compounds with Transition Metals</vt:lpstr>
      <vt:lpstr>Electron Configurations</vt:lpstr>
      <vt:lpstr>Electron Configurations</vt:lpstr>
      <vt:lpstr>Plots of the First (Red Dots) and Third (Blue Dots) Ionization Energies for the First-Row Transition Metals</vt:lpstr>
      <vt:lpstr>Atomic Radii of the 3d, 4d, and 5d Transition Series</vt:lpstr>
      <vt:lpstr>3d Transition Metals</vt:lpstr>
      <vt:lpstr>Oxidation States and Species for Vanadium in Aqueous Solution</vt:lpstr>
      <vt:lpstr>Typical Chromium Compounds</vt:lpstr>
      <vt:lpstr>Some Compounds of Manganese in Its Most Common Oxidation States</vt:lpstr>
      <vt:lpstr>Typical Compounds of Iron</vt:lpstr>
      <vt:lpstr>Typical Compounds of Cobalt</vt:lpstr>
      <vt:lpstr>Typical Compounds of Nickel</vt:lpstr>
      <vt:lpstr>Typical Compounds of Copper</vt:lpstr>
      <vt:lpstr>Alloys Containing Copper</vt:lpstr>
      <vt:lpstr>A Coordination Compound</vt:lpstr>
      <vt:lpstr>Coordination Number</vt:lpstr>
      <vt:lpstr>Ligands</vt:lpstr>
      <vt:lpstr>Complexes</vt:lpstr>
      <vt:lpstr>Metal-Ligand Bond</vt:lpstr>
      <vt:lpstr>Metal-Ligand Bond</vt:lpstr>
      <vt:lpstr>Oxidation Numbers</vt:lpstr>
      <vt:lpstr>Oxidation Numbers</vt:lpstr>
      <vt:lpstr>Coordination Number</vt:lpstr>
      <vt:lpstr>Coordination Number</vt:lpstr>
      <vt:lpstr>Coordinate Covalent Bond</vt:lpstr>
      <vt:lpstr>The Bidentate Ligand Ethylenediamine and the Monodentate Ligand Ammonia</vt:lpstr>
      <vt:lpstr>Coordination Chemistry</vt:lpstr>
      <vt:lpstr>Ligands</vt:lpstr>
      <vt:lpstr>Ligands</vt:lpstr>
      <vt:lpstr>Ligands</vt:lpstr>
      <vt:lpstr>Ligands</vt:lpstr>
      <vt:lpstr>Ligands</vt:lpstr>
      <vt:lpstr>Ligands</vt:lpstr>
      <vt:lpstr>Ligands</vt:lpstr>
      <vt:lpstr>Ligands</vt:lpstr>
      <vt:lpstr>Ligands</vt:lpstr>
      <vt:lpstr>PowerPoint Presentation</vt:lpstr>
      <vt:lpstr>PowerPoint Presentation</vt:lpstr>
      <vt:lpstr>PowerPoint Presentation</vt:lpstr>
      <vt:lpstr>The Coordination of EDTA with a 2+ Metal Ion</vt:lpstr>
      <vt:lpstr>Rules for Naming Coordination Compounds</vt:lpstr>
      <vt:lpstr>Rules for Naming Coordination Compounds</vt:lpstr>
      <vt:lpstr>Rules for Naming Coordination Compounds</vt:lpstr>
      <vt:lpstr>Rules for Naming Coordination Compounds</vt:lpstr>
      <vt:lpstr>Naming coordination compounds (new) </vt:lpstr>
      <vt:lpstr>PowerPoint Presentation</vt:lpstr>
      <vt:lpstr>PowerPoint Presentation</vt:lpstr>
      <vt:lpstr>PowerPoint Presentation</vt:lpstr>
      <vt:lpstr>PowerPoint Presentation</vt:lpstr>
      <vt:lpstr>PowerPoint Presentation</vt:lpstr>
      <vt:lpstr>Nomenclature of Coordination Complexes</vt:lpstr>
      <vt:lpstr>PowerPoint Presentation</vt:lpstr>
      <vt:lpstr>Rule 2:</vt:lpstr>
      <vt:lpstr>Rule 3:</vt:lpstr>
      <vt:lpstr>Rule 4:</vt:lpstr>
      <vt:lpstr>PowerPoint Presentation</vt:lpstr>
      <vt:lpstr>Rule 5:</vt:lpstr>
      <vt:lpstr>PowerPoint Presentation</vt:lpstr>
      <vt:lpstr>Rule 6:</vt:lpstr>
      <vt:lpstr>Rule 7:</vt:lpstr>
      <vt:lpstr>PowerPoint Presentation</vt:lpstr>
      <vt:lpstr>Rule 8:</vt:lpstr>
      <vt:lpstr>PowerPoint Presentation</vt:lpstr>
      <vt:lpstr>PowerPoint Presentation</vt:lpstr>
      <vt:lpstr>Di-µ-chloridobis[diammineplatinum(II)] chloride</vt:lpstr>
      <vt:lpstr>Exercise</vt:lpstr>
      <vt:lpstr>Some Classes of Isomers</vt:lpstr>
      <vt:lpstr>Structural Isomerism</vt:lpstr>
      <vt:lpstr>Linkage Isomerism of NO2–</vt:lpstr>
      <vt:lpstr>Stereoisomerism</vt:lpstr>
      <vt:lpstr>Geometrical (cis-trans) Isomerism for a Square Planar Compound   (a) cis isomer  (b) trans isomer</vt:lpstr>
      <vt:lpstr>Geometrical (cis-trans) Isomerism for an Octahedral Complex Ion</vt:lpstr>
      <vt:lpstr>Stereoisomerism</vt:lpstr>
      <vt:lpstr>Unpolarized Light Consists of Waves Vibrating in Many Different Planes</vt:lpstr>
      <vt:lpstr>The Rotation of the Plane of Polarized Light by an Optically Active Substance</vt:lpstr>
      <vt:lpstr>Optical Activity</vt:lpstr>
      <vt:lpstr>A Human Hand Exhibits a Nonsuperimposable Mirror Image</vt:lpstr>
      <vt:lpstr>PowerPoint Presentation</vt:lpstr>
      <vt:lpstr>Bonding in Complex Ions</vt:lpstr>
      <vt:lpstr>Bonding in Complex Ions</vt:lpstr>
      <vt:lpstr>The Interaction Between a Metal Ion and a Ligand Can Be Viewed as a Lewis Acid-Base Reaction</vt:lpstr>
      <vt:lpstr>Hybrid Orbitals on Co3+ Can Accept an Electron Pair from Each NH3 Ligand</vt:lpstr>
      <vt:lpstr>The Hybrid Orbitals Required for Tetrahedral, Square Planar, and Linear Complex Ions</vt:lpstr>
      <vt:lpstr>Crystal Field Model</vt:lpstr>
      <vt:lpstr>Octahedral Complexes</vt:lpstr>
      <vt:lpstr>An Octahedral Arrangement of Point-Charge Ligands and the Orientation of the 3d Orbitals</vt:lpstr>
      <vt:lpstr>Which Type of Orbital is Lower in Energy?</vt:lpstr>
      <vt:lpstr>The Energies of the 3d Orbitals for a Metal Ion in an Octahedral Complex</vt:lpstr>
      <vt:lpstr>Possible Electron Arrangements in the Split 3d Orbitals in an Octahedral Complex of Co3+</vt:lpstr>
      <vt:lpstr>Magnetic Properties</vt:lpstr>
      <vt:lpstr>Spectrochemical Series</vt:lpstr>
      <vt:lpstr>Complex Ion Colours</vt:lpstr>
      <vt:lpstr>Complex Ion Colours</vt:lpstr>
      <vt:lpstr>Absorbtion of Visible Light by the Complex Ion Ti(H2O)63+</vt:lpstr>
      <vt:lpstr>PowerPoint Presentation</vt:lpstr>
      <vt:lpstr>Tetrahedral Arrangement</vt:lpstr>
      <vt:lpstr>The d Orbitals in a Tetrahedral Arrangement of Point Charges</vt:lpstr>
      <vt:lpstr>The Crystal Field Diagrams for Octahedral and Tetrahedral Complexes</vt:lpstr>
      <vt:lpstr>PowerPoint Presentation</vt:lpstr>
      <vt:lpstr>PowerPoint Presentation</vt:lpstr>
      <vt:lpstr>PowerPoint Presentation</vt:lpstr>
      <vt:lpstr>PowerPoint Presentation</vt:lpstr>
      <vt:lpstr>PowerPoint Presentation</vt:lpstr>
      <vt:lpstr>The d Energy Diagrams for Square Planar Complexes</vt:lpstr>
      <vt:lpstr>The d Energy Diagrams for Linear Complexes Where the Ligands Lie Along the z Axis</vt:lpstr>
      <vt:lpstr>Transition Metal Complexes in Biological Molecules</vt:lpstr>
      <vt:lpstr>First-Row Transition Metals and Their Biological Significance</vt:lpstr>
      <vt:lpstr>Biological Importance of Iron</vt:lpstr>
      <vt:lpstr>The Heme Complex</vt:lpstr>
      <vt:lpstr>Myoglobin</vt:lpstr>
      <vt:lpstr>Polydentate Ligands</vt:lpstr>
      <vt:lpstr>Chelating Agents</vt:lpstr>
      <vt:lpstr>Chelating Agents</vt:lpstr>
      <vt:lpstr>Chelating Agents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Crystal Field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Spectrochemical Series</vt:lpstr>
      <vt:lpstr>Merging to get spectrochemical series</vt:lpstr>
      <vt:lpstr>Turning to Square Planar Complexes</vt:lpstr>
      <vt:lpstr>PowerPoint Presentation</vt:lpstr>
      <vt:lpstr>PowerPoint Presentation</vt:lpstr>
      <vt:lpstr>PowerPoint Presentation</vt:lpstr>
      <vt:lpstr>PowerPoint Presentation</vt:lpstr>
      <vt:lpstr>PowerPoint Presentation</vt:lpstr>
      <vt:lpstr>PowerPoint Presentation</vt:lpstr>
      <vt:lpstr>Angular Overlap Method</vt:lpstr>
      <vt:lpstr>Cont’d</vt:lpstr>
      <vt:lpstr>PowerPoint Presentation</vt:lpstr>
      <vt:lpstr>Solid State (10 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Solid State Chemistry</vt:lpstr>
      <vt:lpstr>Diamond vs Graphite</vt:lpstr>
      <vt:lpstr>Solids</vt:lpstr>
      <vt:lpstr>PowerPoint Presentation</vt:lpstr>
      <vt:lpstr>STRUCTURES OF CRYSTALLINE SOLID TYPES</vt:lpstr>
      <vt:lpstr>PowerPoint Presentation</vt:lpstr>
      <vt:lpstr>CRYSTAL STRUCTURE </vt:lpstr>
      <vt:lpstr>PowerPoint Presentation</vt:lpstr>
      <vt:lpstr>PowerPoint Presentation</vt:lpstr>
      <vt:lpstr>PowerPoint Presentation</vt:lpstr>
      <vt:lpstr>PowerPoint Presentation</vt:lpstr>
      <vt:lpstr>PowerPoint Presentation</vt:lpstr>
      <vt:lpstr>Miller indices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figure below compares the X-ray diffraction patterns from 3 different forms of SiO2</vt:lpstr>
      <vt:lpstr>The diffraction pattern is a product of the unique crystal structure of a material </vt:lpstr>
      <vt:lpstr>Diffraction peaks are associated with planes of atoms</vt:lpstr>
      <vt:lpstr>Parallel planes of atoms intersecting the unit cell define directions and distances in the crystal.</vt:lpstr>
      <vt:lpstr>The position of the diffraction peaks are determined by the distance between parallel planes of atoms.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Inorganic Chemistry</dc:title>
  <dc:creator>user</dc:creator>
  <cp:lastModifiedBy>User</cp:lastModifiedBy>
  <cp:revision>29</cp:revision>
  <dcterms:created xsi:type="dcterms:W3CDTF">2016-12-08T04:40:25Z</dcterms:created>
  <dcterms:modified xsi:type="dcterms:W3CDTF">2025-01-21T10:56:08Z</dcterms:modified>
</cp:coreProperties>
</file>