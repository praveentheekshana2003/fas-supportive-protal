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9"/>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256" r:id="rId9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110"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image" Target="NULL"/><Relationship Id="rId6" Type="http://schemas.openxmlformats.org/officeDocument/2006/relationships/image" Target="../media/image5.wmf"/><Relationship Id="rId5" Type="http://schemas.openxmlformats.org/officeDocument/2006/relationships/image" Target="../media/image4.wmf"/><Relationship Id="rId4"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4"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 Id="rId4" Type="http://schemas.openxmlformats.org/officeDocument/2006/relationships/image" Target="../media/image28.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0.wmf"/></Relationships>
</file>

<file path=ppt/ink/ink1.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5-03-04T03:07:23.514"/>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1 2</inkml:trace>
</inkml:ink>
</file>

<file path=ppt/ink/ink2.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5-03-04T03:07:23.764"/>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74,'0'-24,"0"24,0 0,25 0,-25 0,25 0,0 0,24 24,-24 1,0-25,24 25,1 25,0-50,-1 24,1 1,0 0,24 25,0-26,-49 1,25 25,0-50,-1 49,1-24,24 0,1 25,-1-26,25 26,-49 0,24-26,-24 51,0-50,-1 24,-24 26,0-50,-25-1,25-24,-25 25,0-25,25 50,-25-50,0 25,0-25,0 24,0 1,0-25,0 25,0-25</inkml:trace>
  <inkml:trace contextRef="#ctx0" brushRef="#br0" timeOffset="1710">2308 74,'0'0,"0"-24,-25 24,25 0,0-25,-25 25,0 0,25 0,0-25,-24 25,24 0,-25 0,0 0,25 0,-25 0,25 0,-25 0,25 0,0 0,-25 0,1 0,24 25,0 0,0-25,0 24,0 1,0-25,0 25,0 0,24-25,1 25,-25-25,25 0,0 0,-25 0,25 0,-25 0,25 0,-25 0,24 0,-24-25,0 25,0-25,0 0,0 25,0 0,25 25,-25 0,0 24,0 26,0-1,0-24,0 24,0-24,0 24,0 1,0-26,0 26,0-50,0-1,0 1,0-25,0 0,0 0,-25 0,-24-25,24-24,-50 24,51-25,-26 50,50-25,0 25</inkml:trace>
  <inkml:trace contextRef="#ctx0" brushRef="#br0" timeOffset="4150">1911 2084,'0'0,"25"0,-1 0,26 0,24 0,1 24,-25 1,49 0,-50 0,1 24,-25 1,0-25,-25 24,0-49,0 25,24 0,-24-25,50 25,-25 0,25-1,24 1,-24-25,-26 25,1 0,0-25,-25 25,25-25,-25 0,0 24,25-24,-25 0</inkml:trace>
  <inkml:trace contextRef="#ctx0" brushRef="#br0" timeOffset="5790">2705 1563,'-25'-25,"0"25,25 0,0 0,-25 0,25 0,-24 0,24 0,0 0,-25 0,25 25,-25-1,25 26,-25-25,25 0,-25 24,25-49,0 50,0-50,0 25,0-25,0 0,25 0,0 0,-25 0,0-25,25 0,-25 25,0-25,25 25,-25 0,0-25,24 1,-24 24,0-25,25 25,-25-25,0 25,0-50,25 50,-25-24,0 24,0 0,0 0,0 49,0-24,0 0,25 24,0 1,-25 0,24-1,-24 1,0 24,0-24,0-25,0 24,0-24,0 0,0-25,0 25,0-25,0 0,0 0,-24 0,-1 0,0 0,25 0,-50 0,50 0,-24 0,24 0,-25 0,0 0</inkml:trace>
  <inkml:trace contextRef="#ctx0" brushRef="#br0" timeOffset="8300">3772 1910,'0'0,"0"-25,0 25,0-25,0 25,0 0,0 0,25 0,-1 0,-24 0,25 0,0 0,0 0,0 0,-1 0,26 0,-25 25,0-25,24 25,-24 0,25-25,-25 25,24-25,26 24,-26 1,26 0,-1 25,75-1,0-24,0 0,-75 0,1 24,-26-24,1 0,-1 0,1 24,-25-24,-25 0,25 24,-25-49,25 0,-1-24,1-1,25 25,24 0,50 0,-49 0,-1 0,-49 0,0 25,24-25,-49 24,50 1,-50-25,50 25,-26 0,1-25,-25 25,0-25,25 0,0 24,0 1,24-25,-49 25,0-25</inkml:trace>
</inkml:ink>
</file>

<file path=ppt/ink/ink3.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5-03-04T03:38:21.357"/>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0F674A-9F92-4657-8609-B52F97631C76}" type="datetimeFigureOut">
              <a:rPr lang="en-US" smtClean="0"/>
              <a:t>5/6/2021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F4B6CD0-80E5-49C1-94A2-0BAE47C10255}" type="slidenum">
              <a:rPr lang="en-US" smtClean="0"/>
              <a:t>‹#›</a:t>
            </a:fld>
            <a:endParaRPr lang="en-US"/>
          </a:p>
        </p:txBody>
      </p:sp>
    </p:spTree>
    <p:extLst>
      <p:ext uri="{BB962C8B-B14F-4D97-AF65-F5344CB8AC3E}">
        <p14:creationId xmlns:p14="http://schemas.microsoft.com/office/powerpoint/2010/main" val="3176216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1218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9F6A9E97-8113-4817-AFA1-8A5F5F8BC6E1}" type="slidenum">
              <a:rPr lang="en-US" sz="1200" smtClean="0"/>
              <a:pPr eaLnBrk="1" hangingPunct="1"/>
              <a:t>95</a:t>
            </a:fld>
            <a:endParaRPr lang="en-US" sz="120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EA11DB7-7289-4360-952B-37ED75B54A98}" type="datetimeFigureOut">
              <a:rPr lang="en-US" smtClean="0"/>
              <a:t>5/6/2021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03A48-B27D-486C-BCFE-E852ECC3E171}" type="slidenum">
              <a:rPr lang="en-US" smtClean="0"/>
              <a:t>‹#›</a:t>
            </a:fld>
            <a:endParaRPr lang="en-US"/>
          </a:p>
        </p:txBody>
      </p:sp>
    </p:spTree>
    <p:extLst>
      <p:ext uri="{BB962C8B-B14F-4D97-AF65-F5344CB8AC3E}">
        <p14:creationId xmlns:p14="http://schemas.microsoft.com/office/powerpoint/2010/main" val="2935829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A11DB7-7289-4360-952B-37ED75B54A98}" type="datetimeFigureOut">
              <a:rPr lang="en-US" smtClean="0"/>
              <a:t>5/6/2021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03A48-B27D-486C-BCFE-E852ECC3E171}" type="slidenum">
              <a:rPr lang="en-US" smtClean="0"/>
              <a:t>‹#›</a:t>
            </a:fld>
            <a:endParaRPr lang="en-US"/>
          </a:p>
        </p:txBody>
      </p:sp>
    </p:spTree>
    <p:extLst>
      <p:ext uri="{BB962C8B-B14F-4D97-AF65-F5344CB8AC3E}">
        <p14:creationId xmlns:p14="http://schemas.microsoft.com/office/powerpoint/2010/main" val="1575880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EA11DB7-7289-4360-952B-37ED75B54A98}" type="datetimeFigureOut">
              <a:rPr lang="en-US" smtClean="0"/>
              <a:t>5/6/2021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03A48-B27D-486C-BCFE-E852ECC3E171}" type="slidenum">
              <a:rPr lang="en-US" smtClean="0"/>
              <a:t>‹#›</a:t>
            </a:fld>
            <a:endParaRPr lang="en-US"/>
          </a:p>
        </p:txBody>
      </p:sp>
    </p:spTree>
    <p:extLst>
      <p:ext uri="{BB962C8B-B14F-4D97-AF65-F5344CB8AC3E}">
        <p14:creationId xmlns:p14="http://schemas.microsoft.com/office/powerpoint/2010/main" val="272170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EA11DB7-7289-4360-952B-37ED75B54A98}" type="datetimeFigureOut">
              <a:rPr lang="en-US" smtClean="0"/>
              <a:t>5/6/2021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03A48-B27D-486C-BCFE-E852ECC3E171}" type="slidenum">
              <a:rPr lang="en-US" smtClean="0"/>
              <a:t>‹#›</a:t>
            </a:fld>
            <a:endParaRPr lang="en-US"/>
          </a:p>
        </p:txBody>
      </p:sp>
    </p:spTree>
    <p:extLst>
      <p:ext uri="{BB962C8B-B14F-4D97-AF65-F5344CB8AC3E}">
        <p14:creationId xmlns:p14="http://schemas.microsoft.com/office/powerpoint/2010/main" val="324569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EA11DB7-7289-4360-952B-37ED75B54A98}" type="datetimeFigureOut">
              <a:rPr lang="en-US" smtClean="0"/>
              <a:t>5/6/2021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03A48-B27D-486C-BCFE-E852ECC3E171}" type="slidenum">
              <a:rPr lang="en-US" smtClean="0"/>
              <a:t>‹#›</a:t>
            </a:fld>
            <a:endParaRPr lang="en-US"/>
          </a:p>
        </p:txBody>
      </p:sp>
    </p:spTree>
    <p:extLst>
      <p:ext uri="{BB962C8B-B14F-4D97-AF65-F5344CB8AC3E}">
        <p14:creationId xmlns:p14="http://schemas.microsoft.com/office/powerpoint/2010/main" val="3774942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EA11DB7-7289-4360-952B-37ED75B54A98}" type="datetimeFigureOut">
              <a:rPr lang="en-US" smtClean="0"/>
              <a:t>5/6/2021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03A48-B27D-486C-BCFE-E852ECC3E171}" type="slidenum">
              <a:rPr lang="en-US" smtClean="0"/>
              <a:t>‹#›</a:t>
            </a:fld>
            <a:endParaRPr lang="en-US"/>
          </a:p>
        </p:txBody>
      </p:sp>
    </p:spTree>
    <p:extLst>
      <p:ext uri="{BB962C8B-B14F-4D97-AF65-F5344CB8AC3E}">
        <p14:creationId xmlns:p14="http://schemas.microsoft.com/office/powerpoint/2010/main" val="2338241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A11DB7-7289-4360-952B-37ED75B54A98}" type="datetimeFigureOut">
              <a:rPr lang="en-US" smtClean="0"/>
              <a:t>5/6/2021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03A48-B27D-486C-BCFE-E852ECC3E171}" type="slidenum">
              <a:rPr lang="en-US" smtClean="0"/>
              <a:t>‹#›</a:t>
            </a:fld>
            <a:endParaRPr lang="en-US"/>
          </a:p>
        </p:txBody>
      </p:sp>
    </p:spTree>
    <p:extLst>
      <p:ext uri="{BB962C8B-B14F-4D97-AF65-F5344CB8AC3E}">
        <p14:creationId xmlns:p14="http://schemas.microsoft.com/office/powerpoint/2010/main" val="2283292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A11DB7-7289-4360-952B-37ED75B54A98}" type="datetimeFigureOut">
              <a:rPr lang="en-US" smtClean="0"/>
              <a:t>5/6/2021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03A48-B27D-486C-BCFE-E852ECC3E171}" type="slidenum">
              <a:rPr lang="en-US" smtClean="0"/>
              <a:t>‹#›</a:t>
            </a:fld>
            <a:endParaRPr lang="en-US"/>
          </a:p>
        </p:txBody>
      </p:sp>
    </p:spTree>
    <p:extLst>
      <p:ext uri="{BB962C8B-B14F-4D97-AF65-F5344CB8AC3E}">
        <p14:creationId xmlns:p14="http://schemas.microsoft.com/office/powerpoint/2010/main" val="572760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A11DB7-7289-4360-952B-37ED75B54A98}" type="datetimeFigureOut">
              <a:rPr lang="en-US" smtClean="0"/>
              <a:t>5/6/2021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03A48-B27D-486C-BCFE-E852ECC3E171}" type="slidenum">
              <a:rPr lang="en-US" smtClean="0"/>
              <a:t>‹#›</a:t>
            </a:fld>
            <a:endParaRPr lang="en-US"/>
          </a:p>
        </p:txBody>
      </p:sp>
    </p:spTree>
    <p:extLst>
      <p:ext uri="{BB962C8B-B14F-4D97-AF65-F5344CB8AC3E}">
        <p14:creationId xmlns:p14="http://schemas.microsoft.com/office/powerpoint/2010/main" val="3229019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A11DB7-7289-4360-952B-37ED75B54A98}" type="datetimeFigureOut">
              <a:rPr lang="en-US" smtClean="0"/>
              <a:t>5/6/2021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03A48-B27D-486C-BCFE-E852ECC3E171}" type="slidenum">
              <a:rPr lang="en-US" smtClean="0"/>
              <a:t>‹#›</a:t>
            </a:fld>
            <a:endParaRPr lang="en-US"/>
          </a:p>
        </p:txBody>
      </p:sp>
    </p:spTree>
    <p:extLst>
      <p:ext uri="{BB962C8B-B14F-4D97-AF65-F5344CB8AC3E}">
        <p14:creationId xmlns:p14="http://schemas.microsoft.com/office/powerpoint/2010/main" val="2290058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A11DB7-7289-4360-952B-37ED75B54A98}" type="datetimeFigureOut">
              <a:rPr lang="en-US" smtClean="0"/>
              <a:t>5/6/2021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03A48-B27D-486C-BCFE-E852ECC3E171}" type="slidenum">
              <a:rPr lang="en-US" smtClean="0"/>
              <a:t>‹#›</a:t>
            </a:fld>
            <a:endParaRPr lang="en-US"/>
          </a:p>
        </p:txBody>
      </p:sp>
    </p:spTree>
    <p:extLst>
      <p:ext uri="{BB962C8B-B14F-4D97-AF65-F5344CB8AC3E}">
        <p14:creationId xmlns:p14="http://schemas.microsoft.com/office/powerpoint/2010/main" val="32537225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عنوان، ونص، ومحتوى">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274638"/>
            <a:ext cx="8229600" cy="1143000"/>
          </a:xfrm>
        </p:spPr>
        <p:txBody>
          <a:bodyPr/>
          <a:lstStyle/>
          <a:p>
            <a:r>
              <a:rPr lang="ar-SA" smtClean="0"/>
              <a:t>انقر لتحرير نمط العنوان الرئيسي</a:t>
            </a:r>
            <a:endParaRPr lang="ar-SA"/>
          </a:p>
        </p:txBody>
      </p:sp>
      <p:sp>
        <p:nvSpPr>
          <p:cNvPr id="3" name="عنصر نائب للنص 2"/>
          <p:cNvSpPr>
            <a:spLocks noGrp="1"/>
          </p:cNvSpPr>
          <p:nvPr>
            <p:ph type="body" sz="half" idx="1"/>
          </p:nvPr>
        </p:nvSpPr>
        <p:spPr>
          <a:xfrm>
            <a:off x="457200" y="1600200"/>
            <a:ext cx="4038600" cy="4525963"/>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محتوى 3"/>
          <p:cNvSpPr>
            <a:spLocks noGrp="1"/>
          </p:cNvSpPr>
          <p:nvPr>
            <p:ph sz="half" idx="2"/>
          </p:nvPr>
        </p:nvSpPr>
        <p:spPr>
          <a:xfrm>
            <a:off x="4648200" y="1600200"/>
            <a:ext cx="4038600" cy="4525963"/>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5" name="Rectangle 4"/>
          <p:cNvSpPr>
            <a:spLocks noGrp="1" noChangeArrowheads="1"/>
          </p:cNvSpPr>
          <p:nvPr>
            <p:ph type="dt" sz="half" idx="10"/>
          </p:nvPr>
        </p:nvSpPr>
        <p:spPr/>
        <p:txBody>
          <a:bodyPr/>
          <a:lstStyle>
            <a:lvl1pPr>
              <a:defRPr/>
            </a:lvl1pPr>
          </a:lstStyle>
          <a:p>
            <a:pPr>
              <a:defRPr/>
            </a:pPr>
            <a:fld id="{CC553BE4-D0F0-423D-8BDE-5073526350C8}" type="datetime1">
              <a:rPr lang="en-US"/>
              <a:pPr>
                <a:defRPr/>
              </a:pPr>
              <a:t>5/6/2021</a:t>
            </a:fld>
            <a:endParaRPr lang="en-US"/>
          </a:p>
        </p:txBody>
      </p:sp>
      <p:sp>
        <p:nvSpPr>
          <p:cNvPr id="6" name="Rectangle 5"/>
          <p:cNvSpPr>
            <a:spLocks noGrp="1" noChangeArrowheads="1"/>
          </p:cNvSpPr>
          <p:nvPr>
            <p:ph type="ftr" sz="quarter" idx="11"/>
          </p:nvPr>
        </p:nvSpPr>
        <p:spPr/>
        <p:txBody>
          <a:bodyPr/>
          <a:lstStyle>
            <a:lvl1pPr>
              <a:defRPr/>
            </a:lvl1pPr>
          </a:lstStyle>
          <a:p>
            <a:pPr>
              <a:defRPr/>
            </a:pPr>
            <a:r>
              <a:rPr lang="en-US"/>
              <a:t>AMH</a:t>
            </a:r>
          </a:p>
        </p:txBody>
      </p:sp>
      <p:sp>
        <p:nvSpPr>
          <p:cNvPr id="7" name="Rectangle 6"/>
          <p:cNvSpPr>
            <a:spLocks noGrp="1" noChangeArrowheads="1"/>
          </p:cNvSpPr>
          <p:nvPr>
            <p:ph type="sldNum" sz="quarter" idx="12"/>
          </p:nvPr>
        </p:nvSpPr>
        <p:spPr/>
        <p:txBody>
          <a:bodyPr/>
          <a:lstStyle>
            <a:lvl1pPr>
              <a:defRPr/>
            </a:lvl1pPr>
          </a:lstStyle>
          <a:p>
            <a:pPr>
              <a:defRPr/>
            </a:pPr>
            <a:fld id="{6646413E-BA9D-4AF7-9E42-E8F0E50F64AE}" type="slidenum">
              <a:rPr lang="ar-SA"/>
              <a:pPr>
                <a:defRPr/>
              </a:pPr>
              <a:t>‹#›</a:t>
            </a:fld>
            <a:endParaRPr lang="en-US"/>
          </a:p>
        </p:txBody>
      </p:sp>
    </p:spTree>
    <p:extLst>
      <p:ext uri="{BB962C8B-B14F-4D97-AF65-F5344CB8AC3E}">
        <p14:creationId xmlns:p14="http://schemas.microsoft.com/office/powerpoint/2010/main" val="7562882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عنوان، ونص، واثنان من المحتوى">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274638"/>
            <a:ext cx="8229600" cy="1143000"/>
          </a:xfrm>
        </p:spPr>
        <p:txBody>
          <a:bodyPr/>
          <a:lstStyle/>
          <a:p>
            <a:r>
              <a:rPr lang="ar-SA" smtClean="0"/>
              <a:t>انقر لتحرير نمط العنوان الرئيسي</a:t>
            </a:r>
            <a:endParaRPr lang="ar-SA"/>
          </a:p>
        </p:txBody>
      </p:sp>
      <p:sp>
        <p:nvSpPr>
          <p:cNvPr id="3" name="عنصر نائب للنص 2"/>
          <p:cNvSpPr>
            <a:spLocks noGrp="1"/>
          </p:cNvSpPr>
          <p:nvPr>
            <p:ph type="body" sz="half" idx="1"/>
          </p:nvPr>
        </p:nvSpPr>
        <p:spPr>
          <a:xfrm>
            <a:off x="457200" y="1600200"/>
            <a:ext cx="4038600" cy="4525963"/>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محتوى 3"/>
          <p:cNvSpPr>
            <a:spLocks noGrp="1"/>
          </p:cNvSpPr>
          <p:nvPr>
            <p:ph sz="quarter" idx="2"/>
          </p:nvPr>
        </p:nvSpPr>
        <p:spPr>
          <a:xfrm>
            <a:off x="4648200" y="1600200"/>
            <a:ext cx="4038600" cy="2185988"/>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5" name="عنصر نائب للمحتوى 4"/>
          <p:cNvSpPr>
            <a:spLocks noGrp="1"/>
          </p:cNvSpPr>
          <p:nvPr>
            <p:ph sz="quarter" idx="3"/>
          </p:nvPr>
        </p:nvSpPr>
        <p:spPr>
          <a:xfrm>
            <a:off x="4648200" y="3938588"/>
            <a:ext cx="4038600" cy="2187575"/>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6" name="Rectangle 4"/>
          <p:cNvSpPr>
            <a:spLocks noGrp="1" noChangeArrowheads="1"/>
          </p:cNvSpPr>
          <p:nvPr>
            <p:ph type="dt" sz="half" idx="10"/>
          </p:nvPr>
        </p:nvSpPr>
        <p:spPr/>
        <p:txBody>
          <a:bodyPr/>
          <a:lstStyle>
            <a:lvl1pPr>
              <a:defRPr/>
            </a:lvl1pPr>
          </a:lstStyle>
          <a:p>
            <a:pPr>
              <a:defRPr/>
            </a:pPr>
            <a:fld id="{8ECC63E4-BC18-4165-A94F-33D506EBDE62}" type="datetime1">
              <a:rPr lang="en-US"/>
              <a:pPr>
                <a:defRPr/>
              </a:pPr>
              <a:t>5/6/2021</a:t>
            </a:fld>
            <a:endParaRPr lang="en-US"/>
          </a:p>
        </p:txBody>
      </p:sp>
      <p:sp>
        <p:nvSpPr>
          <p:cNvPr id="7" name="Rectangle 5"/>
          <p:cNvSpPr>
            <a:spLocks noGrp="1" noChangeArrowheads="1"/>
          </p:cNvSpPr>
          <p:nvPr>
            <p:ph type="ftr" sz="quarter" idx="11"/>
          </p:nvPr>
        </p:nvSpPr>
        <p:spPr/>
        <p:txBody>
          <a:bodyPr/>
          <a:lstStyle>
            <a:lvl1pPr>
              <a:defRPr/>
            </a:lvl1pPr>
          </a:lstStyle>
          <a:p>
            <a:pPr>
              <a:defRPr/>
            </a:pPr>
            <a:r>
              <a:rPr lang="en-US"/>
              <a:t>AMH</a:t>
            </a:r>
          </a:p>
        </p:txBody>
      </p:sp>
      <p:sp>
        <p:nvSpPr>
          <p:cNvPr id="8" name="Rectangle 6"/>
          <p:cNvSpPr>
            <a:spLocks noGrp="1" noChangeArrowheads="1"/>
          </p:cNvSpPr>
          <p:nvPr>
            <p:ph type="sldNum" sz="quarter" idx="12"/>
          </p:nvPr>
        </p:nvSpPr>
        <p:spPr/>
        <p:txBody>
          <a:bodyPr/>
          <a:lstStyle>
            <a:lvl1pPr>
              <a:defRPr/>
            </a:lvl1pPr>
          </a:lstStyle>
          <a:p>
            <a:pPr>
              <a:defRPr/>
            </a:pPr>
            <a:fld id="{66F68EAA-044D-46F0-8071-E8766225AA27}" type="slidenum">
              <a:rPr lang="ar-SA"/>
              <a:pPr>
                <a:defRPr/>
              </a:pPr>
              <a:t>‹#›</a:t>
            </a:fld>
            <a:endParaRPr lang="en-US"/>
          </a:p>
        </p:txBody>
      </p:sp>
    </p:spTree>
    <p:extLst>
      <p:ext uri="{BB962C8B-B14F-4D97-AF65-F5344CB8AC3E}">
        <p14:creationId xmlns:p14="http://schemas.microsoft.com/office/powerpoint/2010/main" val="2054378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A11DB7-7289-4360-952B-37ED75B54A98}" type="datetimeFigureOut">
              <a:rPr lang="en-US" smtClean="0"/>
              <a:t>5/6/2021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303A48-B27D-486C-BCFE-E852ECC3E171}" type="slidenum">
              <a:rPr lang="en-US" smtClean="0"/>
              <a:t>‹#›</a:t>
            </a:fld>
            <a:endParaRPr lang="en-US"/>
          </a:p>
        </p:txBody>
      </p:sp>
    </p:spTree>
    <p:extLst>
      <p:ext uri="{BB962C8B-B14F-4D97-AF65-F5344CB8AC3E}">
        <p14:creationId xmlns:p14="http://schemas.microsoft.com/office/powerpoint/2010/main" val="37939672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image" Target="../media/image2.wmf"/><Relationship Id="rId12"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3.bin"/><Relationship Id="rId11" Type="http://schemas.openxmlformats.org/officeDocument/2006/relationships/image" Target="../media/image4.wmf"/><Relationship Id="rId5" Type="http://schemas.openxmlformats.org/officeDocument/2006/relationships/image" Target="../media/image1.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3.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7.wmf"/><Relationship Id="rId5" Type="http://schemas.openxmlformats.org/officeDocument/2006/relationships/oleObject" Target="../embeddings/oleObject8.bin"/><Relationship Id="rId4" Type="http://schemas.openxmlformats.org/officeDocument/2006/relationships/image" Target="../media/image6.wmf"/></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3.xml"/><Relationship Id="rId1" Type="http://schemas.openxmlformats.org/officeDocument/2006/relationships/vmlDrawing" Target="../drawings/vmlDrawing3.vml"/><Relationship Id="rId6" Type="http://schemas.openxmlformats.org/officeDocument/2006/relationships/image" Target="../media/image16.wmf"/><Relationship Id="rId5" Type="http://schemas.openxmlformats.org/officeDocument/2006/relationships/oleObject" Target="../embeddings/oleObject10.bin"/><Relationship Id="rId4" Type="http://schemas.openxmlformats.org/officeDocument/2006/relationships/image" Target="../media/image15.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18.wmf"/><Relationship Id="rId5" Type="http://schemas.openxmlformats.org/officeDocument/2006/relationships/oleObject" Target="../embeddings/oleObject12.bin"/><Relationship Id="rId4" Type="http://schemas.openxmlformats.org/officeDocument/2006/relationships/image" Target="../media/image17.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20.wmf"/><Relationship Id="rId5" Type="http://schemas.openxmlformats.org/officeDocument/2006/relationships/oleObject" Target="../embeddings/oleObject14.bin"/><Relationship Id="rId4" Type="http://schemas.openxmlformats.org/officeDocument/2006/relationships/image" Target="../media/image19.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12.xml"/><Relationship Id="rId1" Type="http://schemas.openxmlformats.org/officeDocument/2006/relationships/vmlDrawing" Target="../drawings/vmlDrawing6.vml"/><Relationship Id="rId6" Type="http://schemas.openxmlformats.org/officeDocument/2006/relationships/image" Target="../media/image22.wmf"/><Relationship Id="rId5" Type="http://schemas.openxmlformats.org/officeDocument/2006/relationships/oleObject" Target="../embeddings/oleObject16.bin"/><Relationship Id="rId10" Type="http://schemas.openxmlformats.org/officeDocument/2006/relationships/image" Target="../media/image24.wmf"/><Relationship Id="rId4" Type="http://schemas.openxmlformats.org/officeDocument/2006/relationships/image" Target="../media/image21.wmf"/><Relationship Id="rId9" Type="http://schemas.openxmlformats.org/officeDocument/2006/relationships/oleObject" Target="../embeddings/oleObject18.bin"/></Relationships>
</file>

<file path=ppt/slides/_rels/slide48.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slideLayout" Target="../slideLayouts/slideLayout12.xml"/><Relationship Id="rId1" Type="http://schemas.openxmlformats.org/officeDocument/2006/relationships/vmlDrawing" Target="../drawings/vmlDrawing7.vml"/><Relationship Id="rId6" Type="http://schemas.openxmlformats.org/officeDocument/2006/relationships/image" Target="../media/image26.wmf"/><Relationship Id="rId5" Type="http://schemas.openxmlformats.org/officeDocument/2006/relationships/oleObject" Target="../embeddings/oleObject20.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22.bin"/></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30.wmf"/><Relationship Id="rId5" Type="http://schemas.openxmlformats.org/officeDocument/2006/relationships/oleObject" Target="../embeddings/oleObject24.bin"/><Relationship Id="rId4" Type="http://schemas.openxmlformats.org/officeDocument/2006/relationships/image" Target="../media/image29.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33.wmf"/><Relationship Id="rId13" Type="http://schemas.openxmlformats.org/officeDocument/2006/relationships/oleObject" Target="../embeddings/oleObject30.bin"/><Relationship Id="rId18" Type="http://schemas.openxmlformats.org/officeDocument/2006/relationships/image" Target="../media/image38.emf"/><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35.wmf"/><Relationship Id="rId17" Type="http://schemas.openxmlformats.org/officeDocument/2006/relationships/customXml" Target="../ink/ink2.xml"/><Relationship Id="rId2" Type="http://schemas.openxmlformats.org/officeDocument/2006/relationships/slideLayout" Target="../slideLayouts/slideLayout12.xml"/><Relationship Id="rId16" Type="http://schemas.openxmlformats.org/officeDocument/2006/relationships/image" Target="../media/image37.emf"/><Relationship Id="rId1" Type="http://schemas.openxmlformats.org/officeDocument/2006/relationships/vmlDrawing" Target="../drawings/vmlDrawing9.vml"/><Relationship Id="rId6" Type="http://schemas.openxmlformats.org/officeDocument/2006/relationships/image" Target="../media/image32.wmf"/><Relationship Id="rId11" Type="http://schemas.openxmlformats.org/officeDocument/2006/relationships/oleObject" Target="../embeddings/oleObject29.bin"/><Relationship Id="rId5" Type="http://schemas.openxmlformats.org/officeDocument/2006/relationships/oleObject" Target="../embeddings/oleObject26.bin"/><Relationship Id="rId15" Type="http://schemas.openxmlformats.org/officeDocument/2006/relationships/customXml" Target="../ink/ink1.xml"/><Relationship Id="rId10" Type="http://schemas.openxmlformats.org/officeDocument/2006/relationships/image" Target="../media/image34.wmf"/><Relationship Id="rId4" Type="http://schemas.openxmlformats.org/officeDocument/2006/relationships/image" Target="../media/image31.wmf"/><Relationship Id="rId9" Type="http://schemas.openxmlformats.org/officeDocument/2006/relationships/oleObject" Target="../embeddings/oleObject28.bin"/><Relationship Id="rId14" Type="http://schemas.openxmlformats.org/officeDocument/2006/relationships/image" Target="../media/image36.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2.xml"/><Relationship Id="rId1" Type="http://schemas.openxmlformats.org/officeDocument/2006/relationships/vmlDrawing" Target="../drawings/vmlDrawing10.vml"/><Relationship Id="rId4" Type="http://schemas.openxmlformats.org/officeDocument/2006/relationships/image" Target="../media/image39.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40.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customXml" Target="../ink/ink3.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Grp="1" noChangeArrowheads="1"/>
          </p:cNvSpPr>
          <p:nvPr>
            <p:ph type="subTitle" idx="1"/>
          </p:nvPr>
        </p:nvSpPr>
        <p:spPr>
          <a:xfrm>
            <a:off x="1295400" y="1905000"/>
            <a:ext cx="6400800" cy="1371600"/>
          </a:xfrm>
        </p:spPr>
        <p:txBody>
          <a:bodyPr/>
          <a:lstStyle/>
          <a:p>
            <a:pPr eaLnBrk="1" hangingPunct="1"/>
            <a:r>
              <a:rPr lang="en-US" b="1" smtClean="0"/>
              <a:t>Gravimetric Calculations</a:t>
            </a:r>
          </a:p>
          <a:p>
            <a:pPr eaLnBrk="1" hangingPunct="1"/>
            <a:r>
              <a:rPr lang="en-US" b="1" smtClean="0"/>
              <a:t>(CHE 2103)</a:t>
            </a:r>
          </a:p>
        </p:txBody>
      </p:sp>
      <p:sp>
        <p:nvSpPr>
          <p:cNvPr id="4099"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E7E94848-C8B0-4899-BA8F-3D0F47AC675D}" type="datetime1">
              <a:rPr lang="en-US" sz="1400" smtClean="0"/>
              <a:pPr eaLnBrk="1" hangingPunct="1"/>
              <a:t>5/6/2021</a:t>
            </a:fld>
            <a:endParaRPr lang="en-US" sz="1400" smtClean="0"/>
          </a:p>
        </p:txBody>
      </p:sp>
      <p:sp>
        <p:nvSpPr>
          <p:cNvPr id="4100"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55B0D299-0A93-4D62-8788-31CA717E9816}" type="slidenum">
              <a:rPr lang="en-US" sz="1400" smtClean="0"/>
              <a:pPr eaLnBrk="1" hangingPunct="1"/>
              <a:t>1</a:t>
            </a:fld>
            <a:endParaRPr lang="en-US" sz="1400" smtClean="0"/>
          </a:p>
        </p:txBody>
      </p:sp>
      <p:sp>
        <p:nvSpPr>
          <p:cNvPr id="4101"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3750826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subTitle" idx="1"/>
          </p:nvPr>
        </p:nvSpPr>
        <p:spPr>
          <a:xfrm>
            <a:off x="1219200" y="2209800"/>
            <a:ext cx="6400800" cy="1752600"/>
          </a:xfrm>
        </p:spPr>
        <p:txBody>
          <a:bodyPr/>
          <a:lstStyle/>
          <a:p>
            <a:pPr eaLnBrk="1" hangingPunct="1"/>
            <a:r>
              <a:rPr lang="en-US" sz="3600" b="1" smtClean="0"/>
              <a:t>Gravimetric Calculations</a:t>
            </a:r>
          </a:p>
        </p:txBody>
      </p:sp>
      <p:sp>
        <p:nvSpPr>
          <p:cNvPr id="5123"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8AF3C108-0ADE-4AAA-9C2C-E0BA42D7AFC0}" type="datetime1">
              <a:rPr lang="en-US" sz="1400" smtClean="0"/>
              <a:pPr eaLnBrk="1" hangingPunct="1"/>
              <a:t>5/6/2021</a:t>
            </a:fld>
            <a:endParaRPr lang="en-US" sz="1400" smtClean="0"/>
          </a:p>
        </p:txBody>
      </p:sp>
      <p:sp>
        <p:nvSpPr>
          <p:cNvPr id="5124"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91C9764A-F7D7-4CC0-9AB8-06D3D8B5E202}" type="slidenum">
              <a:rPr lang="en-US" sz="1400" smtClean="0"/>
              <a:pPr eaLnBrk="1" hangingPunct="1"/>
              <a:t>2</a:t>
            </a:fld>
            <a:endParaRPr lang="en-US" sz="1400" smtClean="0"/>
          </a:p>
        </p:txBody>
      </p:sp>
      <p:sp>
        <p:nvSpPr>
          <p:cNvPr id="5125"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8123756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ox(in)">
                                      <p:cBhvr>
                                        <p:cTn id="7" dur="500"/>
                                        <p:tgtEl>
                                          <p:spTgt spid="102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85800" y="0"/>
            <a:ext cx="7772400" cy="1524000"/>
          </a:xfrm>
        </p:spPr>
        <p:txBody>
          <a:bodyPr/>
          <a:lstStyle/>
          <a:p>
            <a:pPr eaLnBrk="1" hangingPunct="1"/>
            <a:r>
              <a:rPr lang="en-US" sz="4000" smtClean="0"/>
              <a:t>How to Perform a Successful Gravimetric Analysis</a:t>
            </a:r>
          </a:p>
        </p:txBody>
      </p:sp>
      <p:sp>
        <p:nvSpPr>
          <p:cNvPr id="12291" name="Rectangle 3"/>
          <p:cNvSpPr>
            <a:spLocks noGrp="1" noChangeArrowheads="1"/>
          </p:cNvSpPr>
          <p:nvPr>
            <p:ph type="body" idx="1"/>
          </p:nvPr>
        </p:nvSpPr>
        <p:spPr>
          <a:xfrm>
            <a:off x="685800" y="1447800"/>
            <a:ext cx="7772400" cy="4648200"/>
          </a:xfrm>
        </p:spPr>
        <p:txBody>
          <a:bodyPr/>
          <a:lstStyle/>
          <a:p>
            <a:pPr marL="609600" indent="-609600" eaLnBrk="1" hangingPunct="1">
              <a:lnSpc>
                <a:spcPct val="90000"/>
              </a:lnSpc>
            </a:pPr>
            <a:r>
              <a:rPr lang="en-US" sz="3600" b="1" smtClean="0"/>
              <a:t>What steps are needed?</a:t>
            </a:r>
          </a:p>
          <a:p>
            <a:pPr marL="609600" indent="-609600" eaLnBrk="1" hangingPunct="1">
              <a:lnSpc>
                <a:spcPct val="90000"/>
              </a:lnSpc>
              <a:buFontTx/>
              <a:buAutoNum type="arabicPeriod"/>
            </a:pPr>
            <a:r>
              <a:rPr lang="en-US" sz="2800" smtClean="0"/>
              <a:t>Sampled dried, triplicate portions weighed</a:t>
            </a:r>
          </a:p>
          <a:p>
            <a:pPr marL="609600" indent="-609600" eaLnBrk="1" hangingPunct="1">
              <a:lnSpc>
                <a:spcPct val="90000"/>
              </a:lnSpc>
              <a:buFontTx/>
              <a:buAutoNum type="arabicPeriod"/>
            </a:pPr>
            <a:r>
              <a:rPr lang="en-US" sz="2800" smtClean="0">
                <a:solidFill>
                  <a:schemeClr val="accent2"/>
                </a:solidFill>
              </a:rPr>
              <a:t>Preparation of the solution</a:t>
            </a:r>
          </a:p>
          <a:p>
            <a:pPr marL="609600" indent="-609600" eaLnBrk="1" hangingPunct="1">
              <a:lnSpc>
                <a:spcPct val="90000"/>
              </a:lnSpc>
              <a:buFontTx/>
              <a:buAutoNum type="arabicPeriod"/>
            </a:pPr>
            <a:r>
              <a:rPr lang="en-US" sz="2800" smtClean="0"/>
              <a:t>Precipitation</a:t>
            </a:r>
          </a:p>
          <a:p>
            <a:pPr marL="609600" indent="-609600" eaLnBrk="1" hangingPunct="1">
              <a:lnSpc>
                <a:spcPct val="90000"/>
              </a:lnSpc>
              <a:buFontTx/>
              <a:buAutoNum type="arabicPeriod"/>
            </a:pPr>
            <a:r>
              <a:rPr lang="en-US" sz="2800" smtClean="0">
                <a:solidFill>
                  <a:schemeClr val="accent2"/>
                </a:solidFill>
              </a:rPr>
              <a:t>Digestion</a:t>
            </a:r>
          </a:p>
          <a:p>
            <a:pPr marL="609600" indent="-609600" eaLnBrk="1" hangingPunct="1">
              <a:lnSpc>
                <a:spcPct val="90000"/>
              </a:lnSpc>
              <a:buFontTx/>
              <a:buAutoNum type="arabicPeriod"/>
            </a:pPr>
            <a:r>
              <a:rPr lang="en-US" sz="2800" smtClean="0"/>
              <a:t>Filtration</a:t>
            </a:r>
          </a:p>
          <a:p>
            <a:pPr marL="609600" indent="-609600" eaLnBrk="1" hangingPunct="1">
              <a:lnSpc>
                <a:spcPct val="90000"/>
              </a:lnSpc>
              <a:buFontTx/>
              <a:buAutoNum type="arabicPeriod"/>
            </a:pPr>
            <a:r>
              <a:rPr lang="en-US" sz="2800" smtClean="0">
                <a:solidFill>
                  <a:schemeClr val="accent2"/>
                </a:solidFill>
              </a:rPr>
              <a:t>Washing</a:t>
            </a:r>
          </a:p>
          <a:p>
            <a:pPr marL="609600" indent="-609600" eaLnBrk="1" hangingPunct="1">
              <a:lnSpc>
                <a:spcPct val="90000"/>
              </a:lnSpc>
              <a:buFontTx/>
              <a:buAutoNum type="arabicPeriod"/>
            </a:pPr>
            <a:r>
              <a:rPr lang="en-US" sz="2800" smtClean="0"/>
              <a:t>Drying or igniting</a:t>
            </a:r>
          </a:p>
          <a:p>
            <a:pPr marL="609600" indent="-609600" eaLnBrk="1" hangingPunct="1">
              <a:lnSpc>
                <a:spcPct val="90000"/>
              </a:lnSpc>
              <a:buFontTx/>
              <a:buAutoNum type="arabicPeriod"/>
            </a:pPr>
            <a:r>
              <a:rPr lang="en-US" sz="2800" smtClean="0">
                <a:solidFill>
                  <a:schemeClr val="accent2"/>
                </a:solidFill>
              </a:rPr>
              <a:t>Weighing</a:t>
            </a:r>
          </a:p>
          <a:p>
            <a:pPr marL="609600" indent="-609600" eaLnBrk="1" hangingPunct="1">
              <a:lnSpc>
                <a:spcPct val="90000"/>
              </a:lnSpc>
              <a:buFontTx/>
              <a:buAutoNum type="arabicPeriod"/>
            </a:pPr>
            <a:r>
              <a:rPr lang="en-US" sz="2800" smtClean="0"/>
              <a:t>Calculation</a:t>
            </a:r>
          </a:p>
        </p:txBody>
      </p:sp>
      <p:sp>
        <p:nvSpPr>
          <p:cNvPr id="6148" name="Oval 4"/>
          <p:cNvSpPr>
            <a:spLocks noChangeArrowheads="1"/>
          </p:cNvSpPr>
          <p:nvPr/>
        </p:nvSpPr>
        <p:spPr bwMode="auto">
          <a:xfrm>
            <a:off x="1066800" y="5734050"/>
            <a:ext cx="22860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49" name="Line 5"/>
          <p:cNvSpPr>
            <a:spLocks noChangeShapeType="1"/>
          </p:cNvSpPr>
          <p:nvPr/>
        </p:nvSpPr>
        <p:spPr bwMode="auto">
          <a:xfrm>
            <a:off x="3352800" y="6019800"/>
            <a:ext cx="1295400"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50" name="Date Placeholder 8"/>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0BF9DD94-024A-4875-9FD0-4B4829DF981B}" type="datetime1">
              <a:rPr lang="en-US" sz="1400" smtClean="0"/>
              <a:pPr eaLnBrk="1" hangingPunct="1"/>
              <a:t>5/6/2021</a:t>
            </a:fld>
            <a:endParaRPr lang="en-US" sz="1400" smtClean="0"/>
          </a:p>
        </p:txBody>
      </p:sp>
      <p:sp>
        <p:nvSpPr>
          <p:cNvPr id="6151"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91889246-38BA-432D-A317-6DDE9A54820C}" type="slidenum">
              <a:rPr lang="en-US" sz="1400" smtClean="0"/>
              <a:pPr eaLnBrk="1" hangingPunct="1"/>
              <a:t>3</a:t>
            </a:fld>
            <a:endParaRPr lang="en-US" sz="1400" smtClean="0"/>
          </a:p>
        </p:txBody>
      </p:sp>
      <p:sp>
        <p:nvSpPr>
          <p:cNvPr id="6152" name="Footer Placeholder 10"/>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191666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2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29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29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229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229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229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2291">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2291">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2291">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229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5800" y="0"/>
            <a:ext cx="7772400" cy="1295400"/>
          </a:xfrm>
        </p:spPr>
        <p:txBody>
          <a:bodyPr/>
          <a:lstStyle/>
          <a:p>
            <a:pPr eaLnBrk="1" hangingPunct="1"/>
            <a:r>
              <a:rPr lang="en-US" sz="4000" b="1" smtClean="0"/>
              <a:t>Gravimetric Analysis</a:t>
            </a:r>
            <a:r>
              <a:rPr lang="en-US" b="1" smtClean="0"/>
              <a:t> </a:t>
            </a:r>
          </a:p>
        </p:txBody>
      </p:sp>
      <p:sp>
        <p:nvSpPr>
          <p:cNvPr id="11267" name="Rectangle 3"/>
          <p:cNvSpPr>
            <a:spLocks noGrp="1" noChangeArrowheads="1"/>
          </p:cNvSpPr>
          <p:nvPr>
            <p:ph type="body" idx="1"/>
          </p:nvPr>
        </p:nvSpPr>
        <p:spPr>
          <a:xfrm>
            <a:off x="685800" y="1219200"/>
            <a:ext cx="7772400" cy="4876800"/>
          </a:xfrm>
        </p:spPr>
        <p:txBody>
          <a:bodyPr/>
          <a:lstStyle/>
          <a:p>
            <a:pPr eaLnBrk="1" hangingPunct="1"/>
            <a:r>
              <a:rPr lang="en-US" smtClean="0">
                <a:solidFill>
                  <a:schemeClr val="accent2"/>
                </a:solidFill>
              </a:rPr>
              <a:t>Gravimetric Analysis – one of the most accurate and precise methods of macro-quantitative analysis.</a:t>
            </a:r>
          </a:p>
          <a:p>
            <a:pPr eaLnBrk="1" hangingPunct="1"/>
            <a:r>
              <a:rPr lang="en-US" smtClean="0"/>
              <a:t>Analyte selectively converted to an insoluble form.</a:t>
            </a:r>
          </a:p>
          <a:p>
            <a:pPr eaLnBrk="1" hangingPunct="1"/>
            <a:r>
              <a:rPr lang="en-US" smtClean="0">
                <a:solidFill>
                  <a:schemeClr val="accent2"/>
                </a:solidFill>
              </a:rPr>
              <a:t>Measurement of mass of material.</a:t>
            </a:r>
            <a:r>
              <a:rPr lang="en-US" smtClean="0"/>
              <a:t> </a:t>
            </a:r>
          </a:p>
          <a:p>
            <a:pPr eaLnBrk="1" hangingPunct="1"/>
            <a:r>
              <a:rPr lang="en-US" smtClean="0"/>
              <a:t>Correlate with chemical composition</a:t>
            </a:r>
          </a:p>
          <a:p>
            <a:pPr eaLnBrk="1" hangingPunct="1">
              <a:buFontTx/>
              <a:buNone/>
            </a:pPr>
            <a:endParaRPr lang="en-US" smtClean="0"/>
          </a:p>
        </p:txBody>
      </p:sp>
      <p:sp>
        <p:nvSpPr>
          <p:cNvPr id="7172"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F980A772-803D-4E97-BE59-8FEACB50B4DC}" type="datetime1">
              <a:rPr lang="en-US" sz="1400" smtClean="0"/>
              <a:pPr eaLnBrk="1" hangingPunct="1"/>
              <a:t>5/6/2021</a:t>
            </a:fld>
            <a:endParaRPr lang="en-US" sz="1400" smtClean="0"/>
          </a:p>
        </p:txBody>
      </p:sp>
      <p:sp>
        <p:nvSpPr>
          <p:cNvPr id="7173"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114E0E2C-CF04-457B-878D-0FECDBFDECEB}" type="slidenum">
              <a:rPr lang="en-US" sz="1400" smtClean="0"/>
              <a:pPr eaLnBrk="1" hangingPunct="1"/>
              <a:t>4</a:t>
            </a:fld>
            <a:endParaRPr lang="en-US" sz="1400" smtClean="0"/>
          </a:p>
        </p:txBody>
      </p:sp>
      <p:sp>
        <p:nvSpPr>
          <p:cNvPr id="7174"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170107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2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26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2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85800" y="0"/>
            <a:ext cx="7772400" cy="1143000"/>
          </a:xfrm>
        </p:spPr>
        <p:txBody>
          <a:bodyPr/>
          <a:lstStyle/>
          <a:p>
            <a:pPr eaLnBrk="1" hangingPunct="1"/>
            <a:r>
              <a:rPr lang="en-US" sz="4000" b="1" smtClean="0"/>
              <a:t>Gravimetric Analysis…..</a:t>
            </a:r>
          </a:p>
        </p:txBody>
      </p:sp>
      <p:sp>
        <p:nvSpPr>
          <p:cNvPr id="14339" name="Rectangle 3"/>
          <p:cNvSpPr>
            <a:spLocks noGrp="1" noChangeArrowheads="1"/>
          </p:cNvSpPr>
          <p:nvPr>
            <p:ph type="body" idx="1"/>
          </p:nvPr>
        </p:nvSpPr>
        <p:spPr>
          <a:xfrm>
            <a:off x="685800" y="1143000"/>
            <a:ext cx="7772400" cy="4953000"/>
          </a:xfrm>
        </p:spPr>
        <p:txBody>
          <a:bodyPr/>
          <a:lstStyle/>
          <a:p>
            <a:pPr eaLnBrk="1" hangingPunct="1">
              <a:lnSpc>
                <a:spcPct val="90000"/>
              </a:lnSpc>
            </a:pPr>
            <a:r>
              <a:rPr lang="en-US" sz="2800" smtClean="0">
                <a:solidFill>
                  <a:srgbClr val="FF0066"/>
                </a:solidFill>
              </a:rPr>
              <a:t>Precipitation Techniques</a:t>
            </a:r>
          </a:p>
          <a:p>
            <a:pPr lvl="1" eaLnBrk="1" hangingPunct="1">
              <a:lnSpc>
                <a:spcPct val="90000"/>
              </a:lnSpc>
            </a:pPr>
            <a:r>
              <a:rPr lang="en-US" sz="2400" smtClean="0"/>
              <a:t>Add precipitating reagent to sample solution</a:t>
            </a:r>
          </a:p>
          <a:p>
            <a:pPr lvl="1" eaLnBrk="1" hangingPunct="1">
              <a:lnSpc>
                <a:spcPct val="90000"/>
              </a:lnSpc>
            </a:pPr>
            <a:r>
              <a:rPr lang="en-US" sz="2400" smtClean="0"/>
              <a:t>Reacts with analyte to form insoluble material</a:t>
            </a:r>
          </a:p>
          <a:p>
            <a:pPr lvl="1" eaLnBrk="1" hangingPunct="1">
              <a:lnSpc>
                <a:spcPct val="90000"/>
              </a:lnSpc>
            </a:pPr>
            <a:r>
              <a:rPr lang="en-US" sz="2400" smtClean="0"/>
              <a:t>Precipitate has known composition or can be converted to known composition</a:t>
            </a:r>
          </a:p>
          <a:p>
            <a:pPr eaLnBrk="1" hangingPunct="1">
              <a:lnSpc>
                <a:spcPct val="90000"/>
              </a:lnSpc>
            </a:pPr>
            <a:r>
              <a:rPr lang="en-US" sz="2800" smtClean="0">
                <a:solidFill>
                  <a:srgbClr val="FF0066"/>
                </a:solidFill>
              </a:rPr>
              <a:t>Precipitate handling involves</a:t>
            </a:r>
          </a:p>
          <a:p>
            <a:pPr lvl="1" eaLnBrk="1" hangingPunct="1">
              <a:lnSpc>
                <a:spcPct val="90000"/>
              </a:lnSpc>
            </a:pPr>
            <a:r>
              <a:rPr lang="en-US" sz="2400" smtClean="0"/>
              <a:t>Quantitative collection (no losses)</a:t>
            </a:r>
          </a:p>
          <a:p>
            <a:pPr lvl="1" eaLnBrk="1" hangingPunct="1">
              <a:lnSpc>
                <a:spcPct val="90000"/>
              </a:lnSpc>
            </a:pPr>
            <a:r>
              <a:rPr lang="en-US" sz="2400" smtClean="0"/>
              <a:t>Isolation of pure product</a:t>
            </a:r>
          </a:p>
          <a:p>
            <a:pPr eaLnBrk="1" hangingPunct="1">
              <a:lnSpc>
                <a:spcPct val="90000"/>
              </a:lnSpc>
            </a:pPr>
            <a:r>
              <a:rPr lang="en-US" sz="2800" smtClean="0">
                <a:solidFill>
                  <a:srgbClr val="FF0066"/>
                </a:solidFill>
              </a:rPr>
              <a:t>Measure mass of precipitate</a:t>
            </a:r>
          </a:p>
          <a:p>
            <a:pPr eaLnBrk="1" hangingPunct="1">
              <a:lnSpc>
                <a:spcPct val="90000"/>
              </a:lnSpc>
            </a:pPr>
            <a:r>
              <a:rPr lang="en-US" sz="2800" smtClean="0">
                <a:solidFill>
                  <a:srgbClr val="FF0066"/>
                </a:solidFill>
              </a:rPr>
              <a:t>Calculation of original analyte content (concentration)</a:t>
            </a:r>
          </a:p>
          <a:p>
            <a:pPr eaLnBrk="1" hangingPunct="1">
              <a:lnSpc>
                <a:spcPct val="90000"/>
              </a:lnSpc>
            </a:pPr>
            <a:endParaRPr lang="en-US" sz="2800" smtClean="0"/>
          </a:p>
        </p:txBody>
      </p:sp>
      <p:sp>
        <p:nvSpPr>
          <p:cNvPr id="8196"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98A553B-588F-4A7B-A3A1-1D01A5C6C7D6}" type="datetime1">
              <a:rPr lang="en-US" sz="1400" smtClean="0"/>
              <a:pPr eaLnBrk="1" hangingPunct="1"/>
              <a:t>5/6/2021</a:t>
            </a:fld>
            <a:endParaRPr lang="en-US" sz="1400" smtClean="0"/>
          </a:p>
        </p:txBody>
      </p:sp>
      <p:sp>
        <p:nvSpPr>
          <p:cNvPr id="8197"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AD037A3E-7388-4F62-B637-D9C8EA0EFD01}" type="slidenum">
              <a:rPr lang="en-US" sz="1400" smtClean="0"/>
              <a:pPr eaLnBrk="1" hangingPunct="1"/>
              <a:t>5</a:t>
            </a:fld>
            <a:endParaRPr lang="en-US" sz="1400" smtClean="0"/>
          </a:p>
        </p:txBody>
      </p:sp>
      <p:sp>
        <p:nvSpPr>
          <p:cNvPr id="8198"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625095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33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433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433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4339">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433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433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4339">
                                            <p:txEl>
                                              <p:pRg st="6" end="6"/>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4339">
                                            <p:txEl>
                                              <p:pRg st="7" end="7"/>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433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85800" y="0"/>
            <a:ext cx="7772400" cy="1066800"/>
          </a:xfrm>
        </p:spPr>
        <p:txBody>
          <a:bodyPr/>
          <a:lstStyle/>
          <a:p>
            <a:pPr eaLnBrk="1" hangingPunct="1"/>
            <a:r>
              <a:rPr lang="en-US" sz="4000" b="1" smtClean="0"/>
              <a:t>Gravimetric Analysis…..</a:t>
            </a:r>
          </a:p>
        </p:txBody>
      </p:sp>
      <p:sp>
        <p:nvSpPr>
          <p:cNvPr id="15363" name="Rectangle 3"/>
          <p:cNvSpPr>
            <a:spLocks noGrp="1" noChangeArrowheads="1"/>
          </p:cNvSpPr>
          <p:nvPr>
            <p:ph type="body" idx="1"/>
          </p:nvPr>
        </p:nvSpPr>
        <p:spPr>
          <a:xfrm>
            <a:off x="685800" y="990600"/>
            <a:ext cx="7772400" cy="5105400"/>
          </a:xfrm>
        </p:spPr>
        <p:txBody>
          <a:bodyPr/>
          <a:lstStyle/>
          <a:p>
            <a:pPr eaLnBrk="1" hangingPunct="1"/>
            <a:r>
              <a:rPr lang="en-US" smtClean="0">
                <a:solidFill>
                  <a:srgbClr val="FF0066"/>
                </a:solidFill>
              </a:rPr>
              <a:t>Desirable properties of analytical precipitates:</a:t>
            </a:r>
          </a:p>
          <a:p>
            <a:pPr lvl="1" eaLnBrk="1" hangingPunct="1"/>
            <a:r>
              <a:rPr lang="en-US" smtClean="0"/>
              <a:t>Readily filtered and purified</a:t>
            </a:r>
          </a:p>
          <a:p>
            <a:pPr lvl="1" eaLnBrk="1" hangingPunct="1"/>
            <a:r>
              <a:rPr lang="en-US" smtClean="0">
                <a:solidFill>
                  <a:schemeClr val="accent2"/>
                </a:solidFill>
              </a:rPr>
              <a:t>Low solubility, preventing losses during filtration and washing</a:t>
            </a:r>
          </a:p>
          <a:p>
            <a:pPr lvl="1" eaLnBrk="1" hangingPunct="1"/>
            <a:r>
              <a:rPr lang="en-US" smtClean="0"/>
              <a:t>Stable final form (unreactive)</a:t>
            </a:r>
          </a:p>
          <a:p>
            <a:pPr lvl="1" eaLnBrk="1" hangingPunct="1"/>
            <a:r>
              <a:rPr lang="en-US" smtClean="0">
                <a:solidFill>
                  <a:schemeClr val="accent2"/>
                </a:solidFill>
              </a:rPr>
              <a:t>Known composition after drying or ignition</a:t>
            </a:r>
          </a:p>
          <a:p>
            <a:pPr eaLnBrk="1" hangingPunct="1"/>
            <a:endParaRPr lang="en-US" smtClean="0">
              <a:solidFill>
                <a:schemeClr val="accent2"/>
              </a:solidFill>
            </a:endParaRPr>
          </a:p>
        </p:txBody>
      </p:sp>
      <p:sp>
        <p:nvSpPr>
          <p:cNvPr id="9220"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32BA630D-AE82-43A3-B10C-AA1F7236E607}" type="datetime1">
              <a:rPr lang="en-US" sz="1400" smtClean="0"/>
              <a:pPr eaLnBrk="1" hangingPunct="1"/>
              <a:t>5/6/2021</a:t>
            </a:fld>
            <a:endParaRPr lang="en-US" sz="1400" smtClean="0"/>
          </a:p>
        </p:txBody>
      </p:sp>
      <p:sp>
        <p:nvSpPr>
          <p:cNvPr id="9221"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52100330-0521-4AF6-881D-EEF66ECD3327}" type="slidenum">
              <a:rPr lang="en-US" sz="1400" smtClean="0"/>
              <a:pPr eaLnBrk="1" hangingPunct="1"/>
              <a:t>6</a:t>
            </a:fld>
            <a:endParaRPr lang="en-US" sz="1400" smtClean="0"/>
          </a:p>
        </p:txBody>
      </p:sp>
      <p:sp>
        <p:nvSpPr>
          <p:cNvPr id="9222"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6889831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3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536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536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536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536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85800" y="0"/>
            <a:ext cx="7772400" cy="838200"/>
          </a:xfrm>
        </p:spPr>
        <p:txBody>
          <a:bodyPr/>
          <a:lstStyle/>
          <a:p>
            <a:pPr eaLnBrk="1" hangingPunct="1"/>
            <a:r>
              <a:rPr lang="en-US" sz="4000" b="1" smtClean="0"/>
              <a:t>Gravimetric Analysis…..</a:t>
            </a:r>
          </a:p>
        </p:txBody>
      </p:sp>
      <p:sp>
        <p:nvSpPr>
          <p:cNvPr id="16387" name="Rectangle 3"/>
          <p:cNvSpPr>
            <a:spLocks noGrp="1" noChangeArrowheads="1"/>
          </p:cNvSpPr>
          <p:nvPr>
            <p:ph type="body" idx="1"/>
          </p:nvPr>
        </p:nvSpPr>
        <p:spPr>
          <a:xfrm>
            <a:off x="685800" y="990600"/>
            <a:ext cx="7772400" cy="5105400"/>
          </a:xfrm>
        </p:spPr>
        <p:txBody>
          <a:bodyPr/>
          <a:lstStyle/>
          <a:p>
            <a:pPr eaLnBrk="1" hangingPunct="1"/>
            <a:r>
              <a:rPr lang="en-US" smtClean="0">
                <a:solidFill>
                  <a:schemeClr val="accent2"/>
                </a:solidFill>
              </a:rPr>
              <a:t>Precipitating reagents:</a:t>
            </a:r>
          </a:p>
          <a:p>
            <a:pPr eaLnBrk="1" hangingPunct="1"/>
            <a:r>
              <a:rPr lang="en-US" b="1" u="sng" smtClean="0"/>
              <a:t>Selective</a:t>
            </a:r>
            <a:r>
              <a:rPr lang="en-US" smtClean="0"/>
              <a:t> </a:t>
            </a:r>
          </a:p>
          <a:p>
            <a:pPr eaLnBrk="1" hangingPunct="1"/>
            <a:r>
              <a:rPr lang="en-US" smtClean="0"/>
              <a:t>Ag</a:t>
            </a:r>
            <a:r>
              <a:rPr lang="en-US" baseline="30000" smtClean="0"/>
              <a:t>+</a:t>
            </a:r>
            <a:r>
              <a:rPr lang="en-US" smtClean="0"/>
              <a:t> + Halides (X</a:t>
            </a:r>
            <a:r>
              <a:rPr lang="en-US" baseline="30000" smtClean="0"/>
              <a:t>-</a:t>
            </a:r>
            <a:r>
              <a:rPr lang="en-US" smtClean="0"/>
              <a:t>) </a:t>
            </a:r>
            <a:r>
              <a:rPr lang="en-US" smtClean="0">
                <a:sym typeface="Wingdings" pitchFamily="2" charset="2"/>
              </a:rPr>
              <a:t> AgX</a:t>
            </a:r>
            <a:r>
              <a:rPr lang="en-US" baseline="-25000" smtClean="0">
                <a:sym typeface="Wingdings" pitchFamily="2" charset="2"/>
              </a:rPr>
              <a:t>(s) </a:t>
            </a:r>
          </a:p>
          <a:p>
            <a:pPr eaLnBrk="1" hangingPunct="1"/>
            <a:r>
              <a:rPr lang="en-US" smtClean="0">
                <a:sym typeface="Wingdings" pitchFamily="2" charset="2"/>
              </a:rPr>
              <a:t>Ag</a:t>
            </a:r>
            <a:r>
              <a:rPr lang="en-US" baseline="30000" smtClean="0">
                <a:sym typeface="Wingdings" pitchFamily="2" charset="2"/>
              </a:rPr>
              <a:t>+</a:t>
            </a:r>
            <a:r>
              <a:rPr lang="en-US" smtClean="0">
                <a:sym typeface="Wingdings" pitchFamily="2" charset="2"/>
              </a:rPr>
              <a:t> + CNS</a:t>
            </a:r>
            <a:r>
              <a:rPr lang="en-US" baseline="30000" smtClean="0">
                <a:sym typeface="Wingdings" pitchFamily="2" charset="2"/>
              </a:rPr>
              <a:t>- </a:t>
            </a:r>
            <a:r>
              <a:rPr lang="en-US" smtClean="0">
                <a:sym typeface="Wingdings" pitchFamily="2" charset="2"/>
              </a:rPr>
              <a:t> AgCNS</a:t>
            </a:r>
            <a:r>
              <a:rPr lang="en-US" baseline="-25000" smtClean="0">
                <a:sym typeface="Wingdings" pitchFamily="2" charset="2"/>
              </a:rPr>
              <a:t>(s)</a:t>
            </a:r>
          </a:p>
          <a:p>
            <a:pPr eaLnBrk="1" hangingPunct="1"/>
            <a:r>
              <a:rPr lang="en-US" b="1" u="sng" smtClean="0">
                <a:sym typeface="Wingdings" pitchFamily="2" charset="2"/>
              </a:rPr>
              <a:t>Specific</a:t>
            </a:r>
          </a:p>
          <a:p>
            <a:pPr eaLnBrk="1" hangingPunct="1"/>
            <a:r>
              <a:rPr lang="en-US" smtClean="0">
                <a:sym typeface="Wingdings" pitchFamily="2" charset="2"/>
              </a:rPr>
              <a:t>Dimethylglyoxime (DMG)</a:t>
            </a:r>
          </a:p>
          <a:p>
            <a:pPr eaLnBrk="1" hangingPunct="1"/>
            <a:r>
              <a:rPr lang="en-US" smtClean="0">
                <a:sym typeface="Wingdings" pitchFamily="2" charset="2"/>
              </a:rPr>
              <a:t>2 DMG + Ni</a:t>
            </a:r>
            <a:r>
              <a:rPr lang="en-US" baseline="30000" smtClean="0">
                <a:sym typeface="Wingdings" pitchFamily="2" charset="2"/>
              </a:rPr>
              <a:t>2+</a:t>
            </a:r>
            <a:r>
              <a:rPr lang="en-US" smtClean="0">
                <a:sym typeface="Wingdings" pitchFamily="2" charset="2"/>
              </a:rPr>
              <a:t>  Ni(DMG)</a:t>
            </a:r>
            <a:r>
              <a:rPr lang="en-US" baseline="-25000" smtClean="0">
                <a:sym typeface="Wingdings" pitchFamily="2" charset="2"/>
              </a:rPr>
              <a:t>2(s) </a:t>
            </a:r>
            <a:r>
              <a:rPr lang="en-US" smtClean="0">
                <a:sym typeface="Wingdings" pitchFamily="2" charset="2"/>
              </a:rPr>
              <a:t>+ 2 H</a:t>
            </a:r>
            <a:r>
              <a:rPr lang="en-US" baseline="30000" smtClean="0">
                <a:sym typeface="Wingdings" pitchFamily="2" charset="2"/>
              </a:rPr>
              <a:t>+</a:t>
            </a:r>
            <a:endParaRPr lang="en-US" smtClean="0">
              <a:sym typeface="Wingdings" pitchFamily="2" charset="2"/>
            </a:endParaRPr>
          </a:p>
        </p:txBody>
      </p:sp>
      <p:sp>
        <p:nvSpPr>
          <p:cNvPr id="10244"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94252D0F-8C21-46EC-90C0-B02E7A768F4D}" type="datetime1">
              <a:rPr lang="en-US" sz="1400" smtClean="0"/>
              <a:pPr eaLnBrk="1" hangingPunct="1"/>
              <a:t>5/6/2021</a:t>
            </a:fld>
            <a:endParaRPr lang="en-US" sz="1400" smtClean="0"/>
          </a:p>
        </p:txBody>
      </p:sp>
      <p:sp>
        <p:nvSpPr>
          <p:cNvPr id="10245"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3544A7D4-A517-4692-9F1D-6BB58ECA3C38}" type="slidenum">
              <a:rPr lang="en-US" sz="1400" smtClean="0"/>
              <a:pPr eaLnBrk="1" hangingPunct="1"/>
              <a:t>7</a:t>
            </a:fld>
            <a:endParaRPr lang="en-US" sz="1400" smtClean="0"/>
          </a:p>
        </p:txBody>
      </p:sp>
      <p:sp>
        <p:nvSpPr>
          <p:cNvPr id="10246"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0205788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3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3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638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38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6387">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6387">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63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85800" y="0"/>
            <a:ext cx="7772400" cy="1295400"/>
          </a:xfrm>
        </p:spPr>
        <p:txBody>
          <a:bodyPr/>
          <a:lstStyle/>
          <a:p>
            <a:pPr eaLnBrk="1" hangingPunct="1"/>
            <a:r>
              <a:rPr lang="en-US" sz="4000" b="1" smtClean="0"/>
              <a:t>Gravimetric Analysis</a:t>
            </a:r>
          </a:p>
        </p:txBody>
      </p:sp>
      <p:sp>
        <p:nvSpPr>
          <p:cNvPr id="22531" name="Rectangle 3"/>
          <p:cNvSpPr>
            <a:spLocks noGrp="1" noChangeArrowheads="1"/>
          </p:cNvSpPr>
          <p:nvPr>
            <p:ph type="body" idx="1"/>
          </p:nvPr>
        </p:nvSpPr>
        <p:spPr/>
        <p:txBody>
          <a:bodyPr/>
          <a:lstStyle/>
          <a:p>
            <a:pPr eaLnBrk="1" hangingPunct="1"/>
            <a:r>
              <a:rPr lang="en-US" smtClean="0"/>
              <a:t>Calculations of analyte content requires knowledge of :</a:t>
            </a:r>
          </a:p>
          <a:p>
            <a:pPr eaLnBrk="1" hangingPunct="1"/>
            <a:r>
              <a:rPr lang="en-US" smtClean="0"/>
              <a:t>Chemistry</a:t>
            </a:r>
          </a:p>
          <a:p>
            <a:pPr eaLnBrk="1" hangingPunct="1"/>
            <a:r>
              <a:rPr lang="en-US" smtClean="0"/>
              <a:t>Stoichiometry</a:t>
            </a:r>
          </a:p>
          <a:p>
            <a:pPr eaLnBrk="1" hangingPunct="1"/>
            <a:r>
              <a:rPr lang="en-US" smtClean="0"/>
              <a:t>Composition of precipitate</a:t>
            </a:r>
          </a:p>
          <a:p>
            <a:pPr eaLnBrk="1" hangingPunct="1">
              <a:buFontTx/>
              <a:buNone/>
            </a:pPr>
            <a:endParaRPr lang="en-US" smtClean="0"/>
          </a:p>
        </p:txBody>
      </p:sp>
      <p:sp>
        <p:nvSpPr>
          <p:cNvPr id="11268"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4D659B97-690E-4470-9E24-A04D3D18AE30}" type="datetime1">
              <a:rPr lang="en-US" sz="1400" smtClean="0"/>
              <a:pPr eaLnBrk="1" hangingPunct="1"/>
              <a:t>5/6/2021</a:t>
            </a:fld>
            <a:endParaRPr lang="en-US" sz="1400" smtClean="0"/>
          </a:p>
        </p:txBody>
      </p:sp>
      <p:sp>
        <p:nvSpPr>
          <p:cNvPr id="11269"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35DC1811-5F2C-4882-80BF-95E439BB9EDE}" type="slidenum">
              <a:rPr lang="en-US" sz="1400" smtClean="0"/>
              <a:pPr eaLnBrk="1" hangingPunct="1"/>
              <a:t>8</a:t>
            </a:fld>
            <a:endParaRPr lang="en-US" sz="1400" smtClean="0"/>
          </a:p>
        </p:txBody>
      </p:sp>
      <p:sp>
        <p:nvSpPr>
          <p:cNvPr id="11270"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6280378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5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253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253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25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85800" y="0"/>
            <a:ext cx="7772400" cy="1143000"/>
          </a:xfrm>
        </p:spPr>
        <p:txBody>
          <a:bodyPr/>
          <a:lstStyle/>
          <a:p>
            <a:pPr eaLnBrk="1" hangingPunct="1"/>
            <a:r>
              <a:rPr lang="en-US" sz="4000" b="1" smtClean="0"/>
              <a:t>Gravimetry and Solution Equiliria</a:t>
            </a:r>
          </a:p>
        </p:txBody>
      </p:sp>
      <p:sp>
        <p:nvSpPr>
          <p:cNvPr id="23555" name="Rectangle 3"/>
          <p:cNvSpPr>
            <a:spLocks noGrp="1" noChangeArrowheads="1"/>
          </p:cNvSpPr>
          <p:nvPr>
            <p:ph type="body" idx="1"/>
          </p:nvPr>
        </p:nvSpPr>
        <p:spPr>
          <a:xfrm>
            <a:off x="304800" y="1143000"/>
            <a:ext cx="8839200" cy="4953000"/>
          </a:xfrm>
        </p:spPr>
        <p:txBody>
          <a:bodyPr/>
          <a:lstStyle/>
          <a:p>
            <a:pPr eaLnBrk="1" hangingPunct="1"/>
            <a:r>
              <a:rPr lang="en-US" smtClean="0"/>
              <a:t>Thermal Conversion to Measurable Form</a:t>
            </a:r>
          </a:p>
          <a:p>
            <a:pPr eaLnBrk="1" hangingPunct="1"/>
            <a:r>
              <a:rPr lang="en-US" smtClean="0"/>
              <a:t>Removal of volatile reagents &amp; solvent</a:t>
            </a:r>
          </a:p>
          <a:p>
            <a:pPr eaLnBrk="1" hangingPunct="1"/>
            <a:r>
              <a:rPr lang="en-US" smtClean="0"/>
              <a:t>Extended heating at 110 to 115 </a:t>
            </a:r>
            <a:r>
              <a:rPr lang="en-US" baseline="30000" smtClean="0"/>
              <a:t>O</a:t>
            </a:r>
            <a:r>
              <a:rPr lang="en-US" smtClean="0"/>
              <a:t>C</a:t>
            </a:r>
          </a:p>
          <a:p>
            <a:pPr eaLnBrk="1" hangingPunct="1"/>
            <a:r>
              <a:rPr lang="en-US" smtClean="0"/>
              <a:t>Chemical conversion to known stable form</a:t>
            </a:r>
          </a:p>
          <a:p>
            <a:pPr eaLnBrk="1" hangingPunct="1"/>
            <a:r>
              <a:rPr lang="en-US" smtClean="0"/>
              <a:t>  CaC</a:t>
            </a:r>
            <a:r>
              <a:rPr lang="en-US" baseline="-25000" smtClean="0"/>
              <a:t>2</a:t>
            </a:r>
            <a:r>
              <a:rPr lang="en-US" smtClean="0"/>
              <a:t>O</a:t>
            </a:r>
            <a:r>
              <a:rPr lang="en-US" baseline="-25000" smtClean="0"/>
              <a:t>4(s)</a:t>
            </a:r>
            <a:r>
              <a:rPr lang="en-US" smtClean="0">
                <a:sym typeface="Wingdings" pitchFamily="2" charset="2"/>
              </a:rPr>
              <a:t> CaO</a:t>
            </a:r>
            <a:r>
              <a:rPr lang="en-US" baseline="-25000" smtClean="0">
                <a:sym typeface="Wingdings" pitchFamily="2" charset="2"/>
              </a:rPr>
              <a:t>(s)</a:t>
            </a:r>
            <a:r>
              <a:rPr lang="en-US" smtClean="0">
                <a:sym typeface="Wingdings" pitchFamily="2" charset="2"/>
              </a:rPr>
              <a:t> + CO</a:t>
            </a:r>
            <a:r>
              <a:rPr lang="en-US" baseline="-25000" smtClean="0">
                <a:sym typeface="Wingdings" pitchFamily="2" charset="2"/>
              </a:rPr>
              <a:t>(g)</a:t>
            </a:r>
            <a:r>
              <a:rPr lang="en-US" smtClean="0">
                <a:sym typeface="Wingdings" pitchFamily="2" charset="2"/>
              </a:rPr>
              <a:t> + CO</a:t>
            </a:r>
            <a:r>
              <a:rPr lang="en-US" baseline="-25000" smtClean="0">
                <a:sym typeface="Wingdings" pitchFamily="2" charset="2"/>
              </a:rPr>
              <a:t>2(g)</a:t>
            </a:r>
            <a:endParaRPr lang="en-US" smtClean="0">
              <a:sym typeface="Wingdings" pitchFamily="2" charset="2"/>
            </a:endParaRPr>
          </a:p>
          <a:p>
            <a:pPr eaLnBrk="1" hangingPunct="1"/>
            <a:r>
              <a:rPr lang="en-US" smtClean="0">
                <a:sym typeface="Wingdings" pitchFamily="2" charset="2"/>
              </a:rPr>
              <a:t>Volatilization &amp; trapping of component</a:t>
            </a:r>
          </a:p>
          <a:p>
            <a:pPr eaLnBrk="1" hangingPunct="1"/>
            <a:r>
              <a:rPr lang="en-US" smtClean="0">
                <a:sym typeface="Wingdings" pitchFamily="2" charset="2"/>
              </a:rPr>
              <a:t>NaHCO</a:t>
            </a:r>
            <a:r>
              <a:rPr lang="en-US" baseline="-25000" smtClean="0">
                <a:sym typeface="Wingdings" pitchFamily="2" charset="2"/>
              </a:rPr>
              <a:t>3(aq)</a:t>
            </a:r>
            <a:r>
              <a:rPr lang="en-US" smtClean="0">
                <a:sym typeface="Wingdings" pitchFamily="2" charset="2"/>
              </a:rPr>
              <a:t>+ H</a:t>
            </a:r>
            <a:r>
              <a:rPr lang="en-US" baseline="-25000" smtClean="0">
                <a:sym typeface="Wingdings" pitchFamily="2" charset="2"/>
              </a:rPr>
              <a:t>2</a:t>
            </a:r>
            <a:r>
              <a:rPr lang="en-US" smtClean="0">
                <a:sym typeface="Wingdings" pitchFamily="2" charset="2"/>
              </a:rPr>
              <a:t>SO</a:t>
            </a:r>
            <a:r>
              <a:rPr lang="en-US" baseline="-25000" smtClean="0">
                <a:sym typeface="Wingdings" pitchFamily="2" charset="2"/>
              </a:rPr>
              <a:t>4(aq) </a:t>
            </a:r>
            <a:r>
              <a:rPr lang="en-US" smtClean="0">
                <a:sym typeface="Wingdings" pitchFamily="2" charset="2"/>
              </a:rPr>
              <a:t> CO</a:t>
            </a:r>
            <a:r>
              <a:rPr lang="en-US" baseline="-25000" smtClean="0">
                <a:sym typeface="Wingdings" pitchFamily="2" charset="2"/>
              </a:rPr>
              <a:t>2(g)</a:t>
            </a:r>
            <a:r>
              <a:rPr lang="en-US" smtClean="0">
                <a:sym typeface="Wingdings" pitchFamily="2" charset="2"/>
              </a:rPr>
              <a:t>+ H</a:t>
            </a:r>
            <a:r>
              <a:rPr lang="en-US" baseline="-25000" smtClean="0">
                <a:sym typeface="Wingdings" pitchFamily="2" charset="2"/>
              </a:rPr>
              <a:t>2</a:t>
            </a:r>
            <a:r>
              <a:rPr lang="en-US" smtClean="0">
                <a:sym typeface="Wingdings" pitchFamily="2" charset="2"/>
              </a:rPr>
              <a:t>O + NaHSO</a:t>
            </a:r>
            <a:r>
              <a:rPr lang="en-US" baseline="-25000" smtClean="0">
                <a:sym typeface="Wingdings" pitchFamily="2" charset="2"/>
              </a:rPr>
              <a:t>4(aq)</a:t>
            </a:r>
            <a:endParaRPr lang="en-US" smtClean="0"/>
          </a:p>
        </p:txBody>
      </p:sp>
      <p:sp>
        <p:nvSpPr>
          <p:cNvPr id="12292"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072F079E-01E7-400B-A307-CB29A2E2CBF4}" type="datetime1">
              <a:rPr lang="en-US" sz="1400" smtClean="0"/>
              <a:pPr eaLnBrk="1" hangingPunct="1"/>
              <a:t>5/6/2021</a:t>
            </a:fld>
            <a:endParaRPr lang="en-US" sz="1400" smtClean="0"/>
          </a:p>
        </p:txBody>
      </p:sp>
      <p:sp>
        <p:nvSpPr>
          <p:cNvPr id="12293"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E10C096D-3216-4DF8-8AE7-E300E550C96E}" type="slidenum">
              <a:rPr lang="en-US" sz="1400" smtClean="0"/>
              <a:pPr eaLnBrk="1" hangingPunct="1"/>
              <a:t>9</a:t>
            </a:fld>
            <a:endParaRPr lang="en-US" sz="1400" smtClean="0"/>
          </a:p>
        </p:txBody>
      </p:sp>
      <p:sp>
        <p:nvSpPr>
          <p:cNvPr id="12294"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9958746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35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355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355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355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355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355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355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b="1" smtClean="0">
                <a:solidFill>
                  <a:srgbClr val="800000"/>
                </a:solidFill>
              </a:rPr>
              <a:t>Gravimetric Calculations</a:t>
            </a:r>
            <a:endParaRPr lang="en-US" smtClean="0"/>
          </a:p>
        </p:txBody>
      </p:sp>
      <p:sp>
        <p:nvSpPr>
          <p:cNvPr id="13315" name="Content Placeholder 2"/>
          <p:cNvSpPr>
            <a:spLocks noGrp="1"/>
          </p:cNvSpPr>
          <p:nvPr>
            <p:ph idx="1"/>
          </p:nvPr>
        </p:nvSpPr>
        <p:spPr/>
        <p:txBody>
          <a:bodyPr/>
          <a:lstStyle/>
          <a:p>
            <a:pPr eaLnBrk="1" hangingPunct="1">
              <a:lnSpc>
                <a:spcPct val="90000"/>
              </a:lnSpc>
              <a:buFont typeface="Wingdings" pitchFamily="2" charset="2"/>
              <a:buChar char="§"/>
            </a:pPr>
            <a:r>
              <a:rPr lang="en-US" b="1" smtClean="0"/>
              <a:t>The point here is to find the weight of analyte from the weight of precipitate.</a:t>
            </a:r>
          </a:p>
          <a:p>
            <a:pPr eaLnBrk="1" hangingPunct="1">
              <a:lnSpc>
                <a:spcPct val="90000"/>
              </a:lnSpc>
              <a:buFont typeface="Wingdings" pitchFamily="2" charset="2"/>
              <a:buChar char="§"/>
            </a:pPr>
            <a:r>
              <a:rPr lang="en-US" b="1" smtClean="0"/>
              <a:t>Assume Cl</a:t>
            </a:r>
            <a:r>
              <a:rPr lang="en-US" b="1" baseline="-25000" smtClean="0"/>
              <a:t>2</a:t>
            </a:r>
            <a:r>
              <a:rPr lang="en-US" b="1" smtClean="0"/>
              <a:t> is to be precipitated as AgCl, then we can write a stoichiometric factor reading as follows: </a:t>
            </a:r>
          </a:p>
          <a:p>
            <a:pPr eaLnBrk="1" hangingPunct="1">
              <a:lnSpc>
                <a:spcPct val="90000"/>
              </a:lnSpc>
              <a:buFont typeface="Wingdings" pitchFamily="2" charset="2"/>
              <a:buChar char="§"/>
            </a:pPr>
            <a:r>
              <a:rPr lang="en-US" b="1" smtClean="0"/>
              <a:t>One mole of Cl</a:t>
            </a:r>
            <a:r>
              <a:rPr lang="en-US" b="1" baseline="-25000" smtClean="0"/>
              <a:t>2</a:t>
            </a:r>
            <a:r>
              <a:rPr lang="en-US" b="1" smtClean="0"/>
              <a:t> gives 2 moles of AgCl. We can define a quantity called the gravimetric factor (GF) where:</a:t>
            </a:r>
          </a:p>
        </p:txBody>
      </p:sp>
      <p:sp>
        <p:nvSpPr>
          <p:cNvPr id="13316"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5CE80A87-0335-4E18-A0F0-42D442DA0633}" type="datetime1">
              <a:rPr lang="en-US" sz="1400" smtClean="0"/>
              <a:pPr eaLnBrk="1" hangingPunct="1"/>
              <a:t>5/6/2021</a:t>
            </a:fld>
            <a:endParaRPr lang="en-US" sz="1400" smtClean="0"/>
          </a:p>
        </p:txBody>
      </p:sp>
      <p:sp>
        <p:nvSpPr>
          <p:cNvPr id="13317"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F7E0558B-602B-41C6-AA88-8A1FDDC8A7CB}" type="slidenum">
              <a:rPr lang="en-US" sz="1400" smtClean="0"/>
              <a:pPr eaLnBrk="1" hangingPunct="1"/>
              <a:t>10</a:t>
            </a:fld>
            <a:endParaRPr lang="en-US" sz="1400" smtClean="0"/>
          </a:p>
        </p:txBody>
      </p:sp>
      <p:sp>
        <p:nvSpPr>
          <p:cNvPr id="13318"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1629109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685800" y="0"/>
            <a:ext cx="7772400" cy="1143000"/>
          </a:xfrm>
        </p:spPr>
        <p:txBody>
          <a:bodyPr/>
          <a:lstStyle/>
          <a:p>
            <a:pPr eaLnBrk="1" hangingPunct="1"/>
            <a:r>
              <a:rPr lang="en-US" smtClean="0"/>
              <a:t> </a:t>
            </a:r>
            <a:r>
              <a:rPr lang="en-US" sz="4000" b="1" smtClean="0"/>
              <a:t>Gravimetric Calculations</a:t>
            </a:r>
          </a:p>
        </p:txBody>
      </p:sp>
      <p:sp>
        <p:nvSpPr>
          <p:cNvPr id="28675" name="Rectangle 3"/>
          <p:cNvSpPr>
            <a:spLocks noGrp="1" noChangeArrowheads="1"/>
          </p:cNvSpPr>
          <p:nvPr>
            <p:ph type="body" idx="1"/>
          </p:nvPr>
        </p:nvSpPr>
        <p:spPr>
          <a:xfrm>
            <a:off x="304800" y="1143000"/>
            <a:ext cx="8610600" cy="5410200"/>
          </a:xfrm>
        </p:spPr>
        <p:txBody>
          <a:bodyPr/>
          <a:lstStyle/>
          <a:p>
            <a:pPr eaLnBrk="1" hangingPunct="1"/>
            <a:r>
              <a:rPr lang="en-US" smtClean="0"/>
              <a:t>Gravimetric Factor (GF):</a:t>
            </a:r>
          </a:p>
          <a:p>
            <a:pPr eaLnBrk="1" hangingPunct="1"/>
            <a:endParaRPr lang="en-US" smtClean="0"/>
          </a:p>
          <a:p>
            <a:pPr eaLnBrk="1" hangingPunct="1"/>
            <a:endParaRPr lang="en-US" smtClean="0"/>
          </a:p>
          <a:p>
            <a:pPr eaLnBrk="1" hangingPunct="1"/>
            <a:endParaRPr lang="en-US" smtClean="0"/>
          </a:p>
          <a:p>
            <a:pPr eaLnBrk="1" hangingPunct="1"/>
            <a:endParaRPr lang="en-US" smtClean="0"/>
          </a:p>
          <a:p>
            <a:pPr eaLnBrk="1" hangingPunct="1"/>
            <a:endParaRPr lang="en-US" smtClean="0"/>
          </a:p>
          <a:p>
            <a:pPr eaLnBrk="1" hangingPunct="1"/>
            <a:endParaRPr lang="en-US" smtClean="0"/>
          </a:p>
        </p:txBody>
      </p:sp>
      <p:graphicFrame>
        <p:nvGraphicFramePr>
          <p:cNvPr id="14340" name="Rectangle 2"/>
          <p:cNvGraphicFramePr>
            <a:graphicFrameLocks/>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spid="_x0000_s1026" name="Equation" r:id="rId3" imgW="0" imgH="0" progId="Equation.3">
                  <p:embed/>
                </p:oleObj>
              </mc:Choice>
              <mc:Fallback>
                <p:oleObj name="Equation" r:id="rId3" imgW="0" imgH="0" progId="Equation.3">
                  <p:embed/>
                  <p:pic>
                    <p:nvPicPr>
                      <p:cNvPr id="0" name=""/>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0" y="1397000"/>
                        <a:ext cx="6096000" cy="406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67" name="Object 3"/>
          <p:cNvGraphicFramePr>
            <a:graphicFrameLocks noChangeAspect="1"/>
          </p:cNvGraphicFramePr>
          <p:nvPr/>
        </p:nvGraphicFramePr>
        <p:xfrm>
          <a:off x="838200" y="1981200"/>
          <a:ext cx="7385050" cy="990600"/>
        </p:xfrm>
        <a:graphic>
          <a:graphicData uri="http://schemas.openxmlformats.org/presentationml/2006/ole">
            <mc:AlternateContent xmlns:mc="http://schemas.openxmlformats.org/markup-compatibility/2006">
              <mc:Choice xmlns:v="urn:schemas-microsoft-com:vml" Requires="v">
                <p:oleObj spid="_x0000_s1027" name="Equation" r:id="rId4" imgW="3124200" imgH="419100" progId="Equation.3">
                  <p:embed/>
                </p:oleObj>
              </mc:Choice>
              <mc:Fallback>
                <p:oleObj name="Equation" r:id="rId4" imgW="3124200" imgH="4191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981200"/>
                        <a:ext cx="738505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3669" name="Object 5"/>
          <p:cNvGraphicFramePr>
            <a:graphicFrameLocks noChangeAspect="1"/>
          </p:cNvGraphicFramePr>
          <p:nvPr/>
        </p:nvGraphicFramePr>
        <p:xfrm>
          <a:off x="1066800" y="3200400"/>
          <a:ext cx="2590800" cy="901700"/>
        </p:xfrm>
        <a:graphic>
          <a:graphicData uri="http://schemas.openxmlformats.org/presentationml/2006/ole">
            <mc:AlternateContent xmlns:mc="http://schemas.openxmlformats.org/markup-compatibility/2006">
              <mc:Choice xmlns:v="urn:schemas-microsoft-com:vml" Requires="v">
                <p:oleObj spid="_x0000_s1028" name="Equation" r:id="rId6" imgW="1168400" imgH="419100" progId="Equation.3">
                  <p:embed/>
                </p:oleObj>
              </mc:Choice>
              <mc:Fallback>
                <p:oleObj name="Equation" r:id="rId6" imgW="1168400" imgH="4191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800" y="3200400"/>
                        <a:ext cx="2590800" cy="90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3670" name="Object 6"/>
          <p:cNvGraphicFramePr>
            <a:graphicFrameLocks noChangeAspect="1"/>
          </p:cNvGraphicFramePr>
          <p:nvPr/>
        </p:nvGraphicFramePr>
        <p:xfrm>
          <a:off x="1066800" y="4343400"/>
          <a:ext cx="4387850" cy="762000"/>
        </p:xfrm>
        <a:graphic>
          <a:graphicData uri="http://schemas.openxmlformats.org/presentationml/2006/ole">
            <mc:AlternateContent xmlns:mc="http://schemas.openxmlformats.org/markup-compatibility/2006">
              <mc:Choice xmlns:v="urn:schemas-microsoft-com:vml" Requires="v">
                <p:oleObj spid="_x0000_s1029" name="Equation" r:id="rId8" imgW="2413000" imgH="419100" progId="Equation.3">
                  <p:embed/>
                </p:oleObj>
              </mc:Choice>
              <mc:Fallback>
                <p:oleObj name="Equation" r:id="rId8" imgW="2413000" imgH="4191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6800" y="4343400"/>
                        <a:ext cx="43878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44" name="Object 7"/>
          <p:cNvGraphicFramePr>
            <a:graphicFrameLocks noChangeAspect="1"/>
          </p:cNvGraphicFramePr>
          <p:nvPr/>
        </p:nvGraphicFramePr>
        <p:xfrm>
          <a:off x="3149600" y="3219450"/>
          <a:ext cx="2844800" cy="419100"/>
        </p:xfrm>
        <a:graphic>
          <a:graphicData uri="http://schemas.openxmlformats.org/presentationml/2006/ole">
            <mc:AlternateContent xmlns:mc="http://schemas.openxmlformats.org/markup-compatibility/2006">
              <mc:Choice xmlns:v="urn:schemas-microsoft-com:vml" Requires="v">
                <p:oleObj spid="_x0000_s1030" name="Equation" r:id="rId10" imgW="2844800" imgH="419100" progId="Equation.3">
                  <p:embed/>
                </p:oleObj>
              </mc:Choice>
              <mc:Fallback>
                <p:oleObj name="Equation" r:id="rId10" imgW="2844800" imgH="4191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49600" y="3219450"/>
                        <a:ext cx="28448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72" name="Object 8"/>
          <p:cNvGraphicFramePr>
            <a:graphicFrameLocks noChangeAspect="1"/>
          </p:cNvGraphicFramePr>
          <p:nvPr/>
        </p:nvGraphicFramePr>
        <p:xfrm>
          <a:off x="1219200" y="5562600"/>
          <a:ext cx="6207125" cy="914400"/>
        </p:xfrm>
        <a:graphic>
          <a:graphicData uri="http://schemas.openxmlformats.org/presentationml/2006/ole">
            <mc:AlternateContent xmlns:mc="http://schemas.openxmlformats.org/markup-compatibility/2006">
              <mc:Choice xmlns:v="urn:schemas-microsoft-com:vml" Requires="v">
                <p:oleObj spid="_x0000_s1031" name="Equation" r:id="rId12" imgW="2844800" imgH="419100" progId="Equation.3">
                  <p:embed/>
                </p:oleObj>
              </mc:Choice>
              <mc:Fallback>
                <p:oleObj name="Equation" r:id="rId12" imgW="2844800" imgH="4191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19200" y="5562600"/>
                        <a:ext cx="62071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46" name="Date Placeholder 12"/>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E55CFE3D-3F2B-4AAD-85A1-4F4BC1954E69}" type="datetime1">
              <a:rPr lang="en-US" sz="1400" smtClean="0"/>
              <a:pPr eaLnBrk="1" hangingPunct="1"/>
              <a:t>5/6/2021</a:t>
            </a:fld>
            <a:endParaRPr lang="en-US" sz="1400" smtClean="0"/>
          </a:p>
        </p:txBody>
      </p:sp>
      <p:sp>
        <p:nvSpPr>
          <p:cNvPr id="14347" name="Slide Number Placeholder 1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A43A3AA5-BC6F-43D5-A4BC-C21A75973564}" type="slidenum">
              <a:rPr lang="en-US" sz="1400" smtClean="0"/>
              <a:pPr eaLnBrk="1" hangingPunct="1"/>
              <a:t>11</a:t>
            </a:fld>
            <a:endParaRPr lang="en-US" sz="1400" smtClean="0"/>
          </a:p>
        </p:txBody>
      </p:sp>
      <p:sp>
        <p:nvSpPr>
          <p:cNvPr id="14348" name="Footer Placeholder 1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6014227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650"/>
                                        </p:tgtEl>
                                        <p:attrNameLst>
                                          <p:attrName>style.visibility</p:attrName>
                                        </p:attrNameLst>
                                      </p:cBhvr>
                                      <p:to>
                                        <p:strVal val="visible"/>
                                      </p:to>
                                    </p:set>
                                    <p:animEffect transition="in" filter="box(in)">
                                      <p:cBhvr>
                                        <p:cTn id="7" dur="500"/>
                                        <p:tgtEl>
                                          <p:spTgt spid="276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8675">
                                            <p:txEl>
                                              <p:pRg st="0" end="0"/>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16" fill="hold" nodeType="clickEffect">
                                  <p:stCondLst>
                                    <p:cond delay="0"/>
                                  </p:stCondLst>
                                  <p:childTnLst>
                                    <p:set>
                                      <p:cBhvr>
                                        <p:cTn id="15" dur="1" fill="hold">
                                          <p:stCondLst>
                                            <p:cond delay="0"/>
                                          </p:stCondLst>
                                        </p:cTn>
                                        <p:tgtEl>
                                          <p:spTgt spid="113667"/>
                                        </p:tgtEl>
                                        <p:attrNameLst>
                                          <p:attrName>style.visibility</p:attrName>
                                        </p:attrNameLst>
                                      </p:cBhvr>
                                      <p:to>
                                        <p:strVal val="visible"/>
                                      </p:to>
                                    </p:set>
                                    <p:animEffect transition="in" filter="box(in)">
                                      <p:cBhvr>
                                        <p:cTn id="16" dur="500"/>
                                        <p:tgtEl>
                                          <p:spTgt spid="11366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nodeType="clickEffect">
                                  <p:stCondLst>
                                    <p:cond delay="0"/>
                                  </p:stCondLst>
                                  <p:childTnLst>
                                    <p:set>
                                      <p:cBhvr>
                                        <p:cTn id="20" dur="1" fill="hold">
                                          <p:stCondLst>
                                            <p:cond delay="0"/>
                                          </p:stCondLst>
                                        </p:cTn>
                                        <p:tgtEl>
                                          <p:spTgt spid="113669"/>
                                        </p:tgtEl>
                                        <p:attrNameLst>
                                          <p:attrName>style.visibility</p:attrName>
                                        </p:attrNameLst>
                                      </p:cBhvr>
                                      <p:to>
                                        <p:strVal val="visible"/>
                                      </p:to>
                                    </p:set>
                                    <p:animEffect transition="in" filter="box(in)">
                                      <p:cBhvr>
                                        <p:cTn id="21" dur="500"/>
                                        <p:tgtEl>
                                          <p:spTgt spid="11366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 presetClass="entr" presetSubtype="16" fill="hold" nodeType="clickEffect">
                                  <p:stCondLst>
                                    <p:cond delay="0"/>
                                  </p:stCondLst>
                                  <p:childTnLst>
                                    <p:set>
                                      <p:cBhvr>
                                        <p:cTn id="25" dur="1" fill="hold">
                                          <p:stCondLst>
                                            <p:cond delay="0"/>
                                          </p:stCondLst>
                                        </p:cTn>
                                        <p:tgtEl>
                                          <p:spTgt spid="113670"/>
                                        </p:tgtEl>
                                        <p:attrNameLst>
                                          <p:attrName>style.visibility</p:attrName>
                                        </p:attrNameLst>
                                      </p:cBhvr>
                                      <p:to>
                                        <p:strVal val="visible"/>
                                      </p:to>
                                    </p:set>
                                    <p:animEffect transition="in" filter="box(in)">
                                      <p:cBhvr>
                                        <p:cTn id="26" dur="500"/>
                                        <p:tgtEl>
                                          <p:spTgt spid="11367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16" fill="hold" nodeType="clickEffect">
                                  <p:stCondLst>
                                    <p:cond delay="0"/>
                                  </p:stCondLst>
                                  <p:childTnLst>
                                    <p:set>
                                      <p:cBhvr>
                                        <p:cTn id="30" dur="1" fill="hold">
                                          <p:stCondLst>
                                            <p:cond delay="0"/>
                                          </p:stCondLst>
                                        </p:cTn>
                                        <p:tgtEl>
                                          <p:spTgt spid="113672"/>
                                        </p:tgtEl>
                                        <p:attrNameLst>
                                          <p:attrName>style.visibility</p:attrName>
                                        </p:attrNameLst>
                                      </p:cBhvr>
                                      <p:to>
                                        <p:strVal val="visible"/>
                                      </p:to>
                                    </p:set>
                                    <p:animEffect transition="in" filter="box(in)">
                                      <p:cBhvr>
                                        <p:cTn id="31" dur="500"/>
                                        <p:tgtEl>
                                          <p:spTgt spid="1136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P spid="28675"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85800" y="0"/>
            <a:ext cx="7772400" cy="1066800"/>
          </a:xfrm>
        </p:spPr>
        <p:txBody>
          <a:bodyPr/>
          <a:lstStyle/>
          <a:p>
            <a:pPr eaLnBrk="1" hangingPunct="1"/>
            <a:r>
              <a:rPr lang="en-US" sz="4000" b="1" smtClean="0"/>
              <a:t>Gravimetric Errors</a:t>
            </a:r>
          </a:p>
        </p:txBody>
      </p:sp>
      <p:sp>
        <p:nvSpPr>
          <p:cNvPr id="24579" name="Rectangle 3"/>
          <p:cNvSpPr>
            <a:spLocks noGrp="1" noChangeArrowheads="1"/>
          </p:cNvSpPr>
          <p:nvPr>
            <p:ph type="body" idx="1"/>
          </p:nvPr>
        </p:nvSpPr>
        <p:spPr>
          <a:xfrm>
            <a:off x="685800" y="1066800"/>
            <a:ext cx="7772400" cy="5029200"/>
          </a:xfrm>
        </p:spPr>
        <p:txBody>
          <a:bodyPr/>
          <a:lstStyle/>
          <a:p>
            <a:pPr eaLnBrk="1" hangingPunct="1"/>
            <a:r>
              <a:rPr lang="en-US" smtClean="0"/>
              <a:t>Unknown Stoichiometry:</a:t>
            </a:r>
          </a:p>
          <a:p>
            <a:pPr eaLnBrk="1" hangingPunct="1"/>
            <a:r>
              <a:rPr lang="en-US" smtClean="0"/>
              <a:t>Consider Cl</a:t>
            </a:r>
            <a:r>
              <a:rPr lang="en-US" baseline="30000" smtClean="0"/>
              <a:t>-</a:t>
            </a:r>
            <a:r>
              <a:rPr lang="en-US" smtClean="0"/>
              <a:t> determination with AgNO</a:t>
            </a:r>
            <a:r>
              <a:rPr lang="en-US" baseline="-25000" smtClean="0"/>
              <a:t>3</a:t>
            </a:r>
            <a:endParaRPr lang="en-US" smtClean="0"/>
          </a:p>
          <a:p>
            <a:pPr eaLnBrk="1" hangingPunct="1"/>
            <a:r>
              <a:rPr lang="en-US" smtClean="0"/>
              <a:t>Ag</a:t>
            </a:r>
            <a:r>
              <a:rPr lang="en-US" baseline="30000" smtClean="0"/>
              <a:t>+</a:t>
            </a:r>
            <a:r>
              <a:rPr lang="en-US" smtClean="0"/>
              <a:t> + Cl</a:t>
            </a:r>
            <a:r>
              <a:rPr lang="en-US" baseline="30000" smtClean="0"/>
              <a:t>-</a:t>
            </a:r>
            <a:r>
              <a:rPr lang="en-US" smtClean="0"/>
              <a:t> </a:t>
            </a:r>
            <a:r>
              <a:rPr lang="en-US" smtClean="0">
                <a:sym typeface="Wingdings" pitchFamily="2" charset="2"/>
              </a:rPr>
              <a:t> AgCl</a:t>
            </a:r>
          </a:p>
          <a:p>
            <a:pPr eaLnBrk="1" hangingPunct="1"/>
            <a:r>
              <a:rPr lang="en-US" smtClean="0">
                <a:sym typeface="Wingdings" pitchFamily="2" charset="2"/>
              </a:rPr>
              <a:t>Ag</a:t>
            </a:r>
            <a:r>
              <a:rPr lang="en-US" baseline="30000" smtClean="0">
                <a:sym typeface="Wingdings" pitchFamily="2" charset="2"/>
              </a:rPr>
              <a:t>+</a:t>
            </a:r>
            <a:r>
              <a:rPr lang="en-US" smtClean="0">
                <a:sym typeface="Wingdings" pitchFamily="2" charset="2"/>
              </a:rPr>
              <a:t> + 2 Cl</a:t>
            </a:r>
            <a:r>
              <a:rPr lang="en-US" baseline="30000" smtClean="0">
                <a:sym typeface="Wingdings" pitchFamily="2" charset="2"/>
              </a:rPr>
              <a:t>-</a:t>
            </a:r>
            <a:r>
              <a:rPr lang="en-US" smtClean="0">
                <a:sym typeface="Wingdings" pitchFamily="2" charset="2"/>
              </a:rPr>
              <a:t>  AgCl</a:t>
            </a:r>
            <a:r>
              <a:rPr lang="en-US" baseline="-25000" smtClean="0">
                <a:sym typeface="Wingdings" pitchFamily="2" charset="2"/>
              </a:rPr>
              <a:t>2</a:t>
            </a:r>
          </a:p>
          <a:p>
            <a:pPr eaLnBrk="1" hangingPunct="1"/>
            <a:r>
              <a:rPr lang="en-US" u="sng" smtClean="0">
                <a:sym typeface="Wingdings" pitchFamily="2" charset="2"/>
              </a:rPr>
              <a:t>Gravimetric Factor:</a:t>
            </a:r>
            <a:r>
              <a:rPr lang="en-US" smtClean="0">
                <a:sym typeface="Wingdings" pitchFamily="2" charset="2"/>
              </a:rPr>
              <a:t> </a:t>
            </a:r>
          </a:p>
          <a:p>
            <a:pPr eaLnBrk="1" hangingPunct="1"/>
            <a:endParaRPr lang="en-US" smtClean="0">
              <a:sym typeface="Wingdings" pitchFamily="2" charset="2"/>
            </a:endParaRPr>
          </a:p>
          <a:p>
            <a:pPr eaLnBrk="1" hangingPunct="1"/>
            <a:endParaRPr lang="en-US" smtClean="0">
              <a:sym typeface="Wingdings" pitchFamily="2" charset="2"/>
            </a:endParaRPr>
          </a:p>
          <a:p>
            <a:pPr eaLnBrk="1" hangingPunct="1"/>
            <a:r>
              <a:rPr lang="en-US" u="sng" smtClean="0"/>
              <a:t>Calculation for Cl</a:t>
            </a:r>
            <a:r>
              <a:rPr lang="en-US" u="sng" baseline="30000" smtClean="0"/>
              <a:t>-</a:t>
            </a:r>
            <a:r>
              <a:rPr lang="en-US" smtClean="0"/>
              <a:t> = wt. ppt * GF</a:t>
            </a:r>
            <a:endParaRPr lang="en-US" u="sng" smtClean="0"/>
          </a:p>
        </p:txBody>
      </p:sp>
      <p:graphicFrame>
        <p:nvGraphicFramePr>
          <p:cNvPr id="15364"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2050" name="Equation" r:id="rId3" imgW="114151" imgH="215619" progId="Equation.3">
                  <p:embed/>
                </p:oleObj>
              </mc:Choice>
              <mc:Fallback>
                <p:oleObj name="Equation" r:id="rId3" imgW="114151"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691" name="Object 3"/>
          <p:cNvGraphicFramePr>
            <a:graphicFrameLocks noChangeAspect="1"/>
          </p:cNvGraphicFramePr>
          <p:nvPr/>
        </p:nvGraphicFramePr>
        <p:xfrm>
          <a:off x="762000" y="3962400"/>
          <a:ext cx="7696200" cy="1228725"/>
        </p:xfrm>
        <a:graphic>
          <a:graphicData uri="http://schemas.openxmlformats.org/presentationml/2006/ole">
            <mc:AlternateContent xmlns:mc="http://schemas.openxmlformats.org/markup-compatibility/2006">
              <mc:Choice xmlns:v="urn:schemas-microsoft-com:vml" Requires="v">
                <p:oleObj spid="_x0000_s2051" name="Equation" r:id="rId5" imgW="2527300" imgH="419100" progId="Equation.3">
                  <p:embed/>
                </p:oleObj>
              </mc:Choice>
              <mc:Fallback>
                <p:oleObj name="Equation" r:id="rId5" imgW="2527300" imgH="4191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 y="3962400"/>
                        <a:ext cx="7696200" cy="122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66" name="Date Placeholder 8"/>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FDB84A6C-2044-4BA4-8EF2-5805AE711433}" type="datetime1">
              <a:rPr lang="en-US" sz="1400" smtClean="0"/>
              <a:pPr eaLnBrk="1" hangingPunct="1"/>
              <a:t>5/6/2021</a:t>
            </a:fld>
            <a:endParaRPr lang="en-US" sz="1400" smtClean="0"/>
          </a:p>
        </p:txBody>
      </p:sp>
      <p:sp>
        <p:nvSpPr>
          <p:cNvPr id="15367"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49F16C2-26B1-48DE-8B2F-B68716235556}" type="slidenum">
              <a:rPr lang="en-US" sz="1400" smtClean="0"/>
              <a:pPr eaLnBrk="1" hangingPunct="1"/>
              <a:t>12</a:t>
            </a:fld>
            <a:endParaRPr lang="en-US" sz="1400" smtClean="0"/>
          </a:p>
        </p:txBody>
      </p:sp>
      <p:sp>
        <p:nvSpPr>
          <p:cNvPr id="15368" name="Footer Placeholder 10"/>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706978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14691"/>
                                        </p:tgtEl>
                                        <p:attrNameLst>
                                          <p:attrName>style.visibility</p:attrName>
                                        </p:attrNameLst>
                                      </p:cBhvr>
                                      <p:to>
                                        <p:strVal val="visible"/>
                                      </p:to>
                                    </p:set>
                                    <p:animEffect transition="in" filter="box(in)">
                                      <p:cBhvr>
                                        <p:cTn id="7" dur="500"/>
                                        <p:tgtEl>
                                          <p:spTgt spid="1146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4579">
                                            <p:txEl>
                                              <p:pRg st="0" end="0"/>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24579">
                                            <p:txEl>
                                              <p:pRg st="1" end="1"/>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24579">
                                            <p:txEl>
                                              <p:pRg st="2" end="2"/>
                                            </p:txEl>
                                          </p:spTgt>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24579">
                                            <p:txEl>
                                              <p:pRg st="3" end="3"/>
                                            </p:txEl>
                                          </p:spTgt>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24579">
                                            <p:txEl>
                                              <p:pRg st="4" end="4"/>
                                            </p:txEl>
                                          </p:spTgt>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2457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body" sz="half" idx="1"/>
          </p:nvPr>
        </p:nvSpPr>
        <p:spPr>
          <a:xfrm>
            <a:off x="228600" y="685800"/>
            <a:ext cx="8382000" cy="5562600"/>
          </a:xfrm>
        </p:spPr>
        <p:txBody>
          <a:bodyPr/>
          <a:lstStyle/>
          <a:p>
            <a:pPr eaLnBrk="1" hangingPunct="1"/>
            <a:r>
              <a:rPr lang="en-US" sz="2800" b="1" smtClean="0"/>
              <a:t>For example, if you were looking for SO</a:t>
            </a:r>
            <a:r>
              <a:rPr lang="en-US" sz="2800" b="1" baseline="-25000" smtClean="0"/>
              <a:t>3</a:t>
            </a:r>
            <a:r>
              <a:rPr lang="en-US" sz="2800" b="1" smtClean="0"/>
              <a:t> and your precipitate was BaSO</a:t>
            </a:r>
            <a:r>
              <a:rPr lang="en-US" sz="2800" b="1" baseline="-25000" smtClean="0"/>
              <a:t>4</a:t>
            </a:r>
            <a:r>
              <a:rPr lang="en-US" sz="2800" b="1" smtClean="0"/>
              <a:t>, the gravimetric factor would be:</a:t>
            </a:r>
            <a:r>
              <a:rPr lang="en-US" sz="2800" smtClean="0"/>
              <a:t> </a:t>
            </a:r>
          </a:p>
        </p:txBody>
      </p:sp>
      <p:pic>
        <p:nvPicPr>
          <p:cNvPr id="30723" name="Picture 3" descr="4-gf2.gif (3391 bytes)"/>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609600" y="4191000"/>
            <a:ext cx="6172200" cy="1247775"/>
          </a:xfrm>
          <a:noFill/>
        </p:spPr>
      </p:pic>
      <p:sp>
        <p:nvSpPr>
          <p:cNvPr id="30724" name="Rectangle 4"/>
          <p:cNvSpPr>
            <a:spLocks noChangeArrowheads="1"/>
          </p:cNvSpPr>
          <p:nvPr/>
        </p:nvSpPr>
        <p:spPr bwMode="auto">
          <a:xfrm>
            <a:off x="457200" y="5638800"/>
            <a:ext cx="8382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sz="1800" b="1">
                <a:latin typeface="Arial" charset="0"/>
              </a:rPr>
              <a:t>The numbers, 80.064 and 233.391, are the formula weights of SO</a:t>
            </a:r>
            <a:r>
              <a:rPr lang="en-US" sz="1800" b="1" baseline="-25000">
                <a:latin typeface="Arial" charset="0"/>
              </a:rPr>
              <a:t>3</a:t>
            </a:r>
            <a:r>
              <a:rPr lang="en-US" sz="1800" b="1">
                <a:latin typeface="Arial" charset="0"/>
              </a:rPr>
              <a:t> and BaSO</a:t>
            </a:r>
            <a:r>
              <a:rPr lang="en-US" sz="1800" b="1" baseline="-25000">
                <a:latin typeface="Arial" charset="0"/>
              </a:rPr>
              <a:t>4</a:t>
            </a:r>
            <a:r>
              <a:rPr lang="en-US" sz="1800" b="1">
                <a:latin typeface="Arial" charset="0"/>
              </a:rPr>
              <a:t>, respectively.</a:t>
            </a:r>
            <a:r>
              <a:rPr lang="en-US" sz="1800">
                <a:latin typeface="Arial" charset="0"/>
              </a:rPr>
              <a:t> </a:t>
            </a:r>
          </a:p>
        </p:txBody>
      </p:sp>
      <p:sp>
        <p:nvSpPr>
          <p:cNvPr id="5" name="TextBox 4"/>
          <p:cNvSpPr txBox="1">
            <a:spLocks noChangeArrowheads="1"/>
          </p:cNvSpPr>
          <p:nvPr/>
        </p:nvSpPr>
        <p:spPr bwMode="auto">
          <a:xfrm>
            <a:off x="2667000" y="1828800"/>
            <a:ext cx="914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b="1"/>
              <a:t>SO</a:t>
            </a:r>
            <a:r>
              <a:rPr lang="en-US" b="1" baseline="-25000"/>
              <a:t>3</a:t>
            </a:r>
            <a:endParaRPr lang="en-US"/>
          </a:p>
        </p:txBody>
      </p:sp>
      <p:sp>
        <p:nvSpPr>
          <p:cNvPr id="6" name="TextBox 5"/>
          <p:cNvSpPr txBox="1">
            <a:spLocks noChangeArrowheads="1"/>
          </p:cNvSpPr>
          <p:nvPr/>
        </p:nvSpPr>
        <p:spPr bwMode="auto">
          <a:xfrm>
            <a:off x="5638800" y="1752600"/>
            <a:ext cx="1219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b="1"/>
              <a:t>BaSO</a:t>
            </a:r>
            <a:r>
              <a:rPr lang="en-US" b="1" baseline="-25000"/>
              <a:t>4</a:t>
            </a:r>
            <a:endParaRPr lang="en-US"/>
          </a:p>
        </p:txBody>
      </p:sp>
      <p:sp>
        <p:nvSpPr>
          <p:cNvPr id="7" name="TextBox 6"/>
          <p:cNvSpPr txBox="1">
            <a:spLocks noChangeArrowheads="1"/>
          </p:cNvSpPr>
          <p:nvPr/>
        </p:nvSpPr>
        <p:spPr bwMode="auto">
          <a:xfrm>
            <a:off x="2438400" y="2514600"/>
            <a:ext cx="1219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b="1"/>
              <a:t>analyte</a:t>
            </a:r>
            <a:endParaRPr lang="en-US"/>
          </a:p>
        </p:txBody>
      </p:sp>
      <p:sp>
        <p:nvSpPr>
          <p:cNvPr id="8" name="TextBox 7"/>
          <p:cNvSpPr txBox="1">
            <a:spLocks noChangeArrowheads="1"/>
          </p:cNvSpPr>
          <p:nvPr/>
        </p:nvSpPr>
        <p:spPr bwMode="auto">
          <a:xfrm>
            <a:off x="5486400" y="2514600"/>
            <a:ext cx="1752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b="1"/>
              <a:t>precipitate</a:t>
            </a:r>
            <a:endParaRPr lang="en-US"/>
          </a:p>
        </p:txBody>
      </p:sp>
      <p:sp>
        <p:nvSpPr>
          <p:cNvPr id="9" name="TextBox 8"/>
          <p:cNvSpPr txBox="1">
            <a:spLocks noChangeArrowheads="1"/>
          </p:cNvSpPr>
          <p:nvPr/>
        </p:nvSpPr>
        <p:spPr bwMode="auto">
          <a:xfrm>
            <a:off x="533400" y="3505200"/>
            <a:ext cx="2133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b="1"/>
              <a:t>stoicheometry</a:t>
            </a:r>
            <a:endParaRPr lang="en-US"/>
          </a:p>
        </p:txBody>
      </p:sp>
      <p:sp>
        <p:nvSpPr>
          <p:cNvPr id="10" name="TextBox 9"/>
          <p:cNvSpPr txBox="1">
            <a:spLocks noChangeArrowheads="1"/>
          </p:cNvSpPr>
          <p:nvPr/>
        </p:nvSpPr>
        <p:spPr bwMode="auto">
          <a:xfrm>
            <a:off x="2895600" y="3505200"/>
            <a:ext cx="914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b="1"/>
              <a:t>a = 1</a:t>
            </a:r>
            <a:endParaRPr lang="en-US"/>
          </a:p>
        </p:txBody>
      </p:sp>
      <p:sp>
        <p:nvSpPr>
          <p:cNvPr id="11" name="TextBox 10"/>
          <p:cNvSpPr txBox="1">
            <a:spLocks noChangeArrowheads="1"/>
          </p:cNvSpPr>
          <p:nvPr/>
        </p:nvSpPr>
        <p:spPr bwMode="auto">
          <a:xfrm>
            <a:off x="5410200" y="3505200"/>
            <a:ext cx="914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b="1"/>
              <a:t>b = 1</a:t>
            </a:r>
            <a:endParaRPr lang="en-US"/>
          </a:p>
        </p:txBody>
      </p:sp>
      <p:sp>
        <p:nvSpPr>
          <p:cNvPr id="16396" name="Date Placeholder 14"/>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BA02850E-8732-48AC-A5E0-6A6443E85032}" type="datetime1">
              <a:rPr lang="en-US" sz="1400" smtClean="0"/>
              <a:pPr eaLnBrk="1" hangingPunct="1"/>
              <a:t>5/6/2021</a:t>
            </a:fld>
            <a:endParaRPr lang="en-US" sz="1400" smtClean="0"/>
          </a:p>
        </p:txBody>
      </p:sp>
      <p:sp>
        <p:nvSpPr>
          <p:cNvPr id="16397" name="Slide Number Placeholder 1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45267AE1-FDC4-418A-B740-A9DA9D256B29}" type="slidenum">
              <a:rPr lang="ar-SA" sz="1400" smtClean="0"/>
              <a:pPr eaLnBrk="1" hangingPunct="1"/>
              <a:t>13</a:t>
            </a:fld>
            <a:endParaRPr lang="en-US" sz="1400" smtClean="0"/>
          </a:p>
        </p:txBody>
      </p:sp>
      <p:sp>
        <p:nvSpPr>
          <p:cNvPr id="16398" name="Footer Placeholder 1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42191183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0722">
                                            <p:txEl>
                                              <p:pRg st="0" end="0"/>
                                            </p:txEl>
                                          </p:spTgt>
                                        </p:tgtEl>
                                        <p:attrNameLst>
                                          <p:attrName>style.visibility</p:attrName>
                                        </p:attrNameLst>
                                      </p:cBhvr>
                                      <p:to>
                                        <p:strVal val="visible"/>
                                      </p:to>
                                    </p:set>
                                    <p:animEffect transition="in" filter="box(in)">
                                      <p:cBhvr>
                                        <p:cTn id="7" dur="500"/>
                                        <p:tgtEl>
                                          <p:spTgt spid="3072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ox(in)">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ox(in)">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ox(in)">
                                      <p:cBhvr>
                                        <p:cTn id="27" dur="5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ox(in)">
                                      <p:cBhvr>
                                        <p:cTn id="32" dur="500"/>
                                        <p:tgtEl>
                                          <p:spTgt spid="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box(in)">
                                      <p:cBhvr>
                                        <p:cTn id="37" dur="500"/>
                                        <p:tgtEl>
                                          <p:spTgt spid="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box(in)">
                                      <p:cBhvr>
                                        <p:cTn id="42" dur="500"/>
                                        <p:tgtEl>
                                          <p:spTgt spid="1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nodeType="clickEffect">
                                  <p:stCondLst>
                                    <p:cond delay="0"/>
                                  </p:stCondLst>
                                  <p:childTnLst>
                                    <p:set>
                                      <p:cBhvr>
                                        <p:cTn id="46" dur="1" fill="hold">
                                          <p:stCondLst>
                                            <p:cond delay="0"/>
                                          </p:stCondLst>
                                        </p:cTn>
                                        <p:tgtEl>
                                          <p:spTgt spid="30723"/>
                                        </p:tgtEl>
                                        <p:attrNameLst>
                                          <p:attrName>style.visibility</p:attrName>
                                        </p:attrNameLst>
                                      </p:cBhvr>
                                      <p:to>
                                        <p:strVal val="visible"/>
                                      </p:to>
                                    </p:set>
                                    <p:animEffect transition="in" filter="box(in)">
                                      <p:cBhvr>
                                        <p:cTn id="47" dur="500"/>
                                        <p:tgtEl>
                                          <p:spTgt spid="3072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30724"/>
                                        </p:tgtEl>
                                        <p:attrNameLst>
                                          <p:attrName>style.visibility</p:attrName>
                                        </p:attrNameLst>
                                      </p:cBhvr>
                                      <p:to>
                                        <p:strVal val="visible"/>
                                      </p:to>
                                    </p:set>
                                    <p:animEffect transition="in" filter="box(in)">
                                      <p:cBhvr>
                                        <p:cTn id="52" dur="500"/>
                                        <p:tgtEl>
                                          <p:spTgt spid="30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P spid="5" grpId="0"/>
      <p:bldP spid="6" grpId="0"/>
      <p:bldP spid="7" grpId="0"/>
      <p:bldP spid="8" grpId="0"/>
      <p:bldP spid="9"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Grp="1" noChangeArrowheads="1"/>
          </p:cNvSpPr>
          <p:nvPr>
            <p:ph type="body" sz="half" idx="1"/>
          </p:nvPr>
        </p:nvSpPr>
        <p:spPr>
          <a:xfrm>
            <a:off x="685800" y="762000"/>
            <a:ext cx="7772400" cy="5334000"/>
          </a:xfrm>
          <a:noFill/>
        </p:spPr>
        <p:txBody>
          <a:bodyPr/>
          <a:lstStyle/>
          <a:p>
            <a:pPr eaLnBrk="1" hangingPunct="1"/>
            <a:endParaRPr lang="en-US" sz="2800" b="1" smtClean="0"/>
          </a:p>
          <a:p>
            <a:pPr eaLnBrk="1" hangingPunct="1"/>
            <a:endParaRPr lang="en-US" sz="2800" b="1" smtClean="0"/>
          </a:p>
          <a:p>
            <a:pPr eaLnBrk="1" hangingPunct="1"/>
            <a:endParaRPr lang="en-US" sz="2800" b="1" smtClean="0"/>
          </a:p>
          <a:p>
            <a:pPr eaLnBrk="1" hangingPunct="1"/>
            <a:endParaRPr lang="en-US" sz="2800" b="1" smtClean="0"/>
          </a:p>
          <a:p>
            <a:pPr eaLnBrk="1" hangingPunct="1"/>
            <a:r>
              <a:rPr lang="en-US" sz="2800" b="1" smtClean="0"/>
              <a:t>There is only one sulfur in each term and the sulfurs are balanced.  In other words, the mole ratio is 1.</a:t>
            </a:r>
            <a:r>
              <a:rPr lang="en-US" sz="2800" smtClean="0"/>
              <a:t> </a:t>
            </a:r>
          </a:p>
        </p:txBody>
      </p:sp>
      <p:pic>
        <p:nvPicPr>
          <p:cNvPr id="31747" name="Picture 5" descr="4-gf1.gif (2271 bytes)"/>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752600" y="1447800"/>
            <a:ext cx="3886200" cy="1028700"/>
          </a:xfrm>
          <a:noFill/>
        </p:spPr>
      </p:pic>
      <p:sp>
        <p:nvSpPr>
          <p:cNvPr id="17412"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F4A5D0B8-8303-4A56-A180-1FBA109FC8B8}" type="datetime1">
              <a:rPr lang="en-US" sz="1400" smtClean="0"/>
              <a:pPr eaLnBrk="1" hangingPunct="1"/>
              <a:t>5/6/2021</a:t>
            </a:fld>
            <a:endParaRPr lang="en-US" sz="1400" smtClean="0"/>
          </a:p>
        </p:txBody>
      </p:sp>
      <p:sp>
        <p:nvSpPr>
          <p:cNvPr id="17413"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7E248921-AE2A-4153-98AE-51CDA1C576DA}" type="slidenum">
              <a:rPr lang="ar-SA" sz="1400" smtClean="0"/>
              <a:pPr eaLnBrk="1" hangingPunct="1"/>
              <a:t>14</a:t>
            </a:fld>
            <a:endParaRPr lang="en-US" sz="1400" smtClean="0"/>
          </a:p>
        </p:txBody>
      </p:sp>
      <p:sp>
        <p:nvSpPr>
          <p:cNvPr id="17414"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0532643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1747"/>
                                        </p:tgtEl>
                                        <p:attrNameLst>
                                          <p:attrName>style.visibility</p:attrName>
                                        </p:attrNameLst>
                                      </p:cBhvr>
                                      <p:to>
                                        <p:strVal val="visible"/>
                                      </p:to>
                                    </p:set>
                                    <p:animEffect transition="in" filter="box(in)">
                                      <p:cBhvr>
                                        <p:cTn id="7" dur="500"/>
                                        <p:tgtEl>
                                          <p:spTgt spid="317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1746">
                                            <p:txEl>
                                              <p:pRg st="4" end="4"/>
                                            </p:txEl>
                                          </p:spTgt>
                                        </p:tgtEl>
                                        <p:attrNameLst>
                                          <p:attrName>style.visibility</p:attrName>
                                        </p:attrNameLst>
                                      </p:cBhvr>
                                      <p:to>
                                        <p:strVal val="visible"/>
                                      </p:to>
                                    </p:set>
                                    <p:animEffect transition="in" filter="box(in)">
                                      <p:cBhvr>
                                        <p:cTn id="12" dur="500"/>
                                        <p:tgtEl>
                                          <p:spTgt spid="3174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Grp="1" noChangeArrowheads="1"/>
          </p:cNvSpPr>
          <p:nvPr>
            <p:ph type="body" idx="1"/>
          </p:nvPr>
        </p:nvSpPr>
        <p:spPr>
          <a:xfrm>
            <a:off x="685800" y="990600"/>
            <a:ext cx="7772400" cy="5105400"/>
          </a:xfrm>
          <a:noFill/>
        </p:spPr>
        <p:txBody>
          <a:bodyPr/>
          <a:lstStyle/>
          <a:p>
            <a:pPr eaLnBrk="1" hangingPunct="1"/>
            <a:r>
              <a:rPr lang="en-US" b="1" smtClean="0"/>
              <a:t>Consider the following GF:</a:t>
            </a:r>
            <a:endParaRPr lang="en-US" smtClean="0"/>
          </a:p>
          <a:p>
            <a:pPr eaLnBrk="1" hangingPunct="1"/>
            <a:r>
              <a:rPr lang="en-US" smtClean="0"/>
              <a:t> </a:t>
            </a:r>
          </a:p>
          <a:p>
            <a:pPr eaLnBrk="1" hangingPunct="1"/>
            <a:endParaRPr lang="en-US" b="1" smtClean="0"/>
          </a:p>
          <a:p>
            <a:pPr eaLnBrk="1" hangingPunct="1"/>
            <a:r>
              <a:rPr lang="en-US" b="1" smtClean="0"/>
              <a:t>The common element is silver, Ag.</a:t>
            </a:r>
          </a:p>
          <a:p>
            <a:pPr eaLnBrk="1" hangingPunct="1"/>
            <a:endParaRPr lang="en-US" smtClean="0"/>
          </a:p>
          <a:p>
            <a:pPr eaLnBrk="1" hangingPunct="1"/>
            <a:r>
              <a:rPr lang="en-US" b="1" smtClean="0"/>
              <a:t> </a:t>
            </a:r>
            <a:r>
              <a:rPr lang="en-US" smtClean="0"/>
              <a:t> </a:t>
            </a:r>
          </a:p>
        </p:txBody>
      </p:sp>
      <p:pic>
        <p:nvPicPr>
          <p:cNvPr id="32771" name="Picture 5" descr="4-gf3.gif (2856 by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828800"/>
            <a:ext cx="355282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2" name="Picture 6" descr="4-gf4.gif (2303 byt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886200"/>
            <a:ext cx="267652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838200" y="4800600"/>
            <a:ext cx="7162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b="1">
                <a:latin typeface="Arial" charset="0"/>
              </a:rPr>
              <a:t>The numbers, 231.7385 and 143.321, are the formula weights of Ag</a:t>
            </a:r>
            <a:r>
              <a:rPr lang="en-US" b="1" baseline="-25000">
                <a:latin typeface="Arial" charset="0"/>
              </a:rPr>
              <a:t>2</a:t>
            </a:r>
            <a:r>
              <a:rPr lang="en-US" b="1">
                <a:latin typeface="Arial" charset="0"/>
              </a:rPr>
              <a:t>O and AgCl, respectively.</a:t>
            </a:r>
            <a:r>
              <a:rPr lang="en-US">
                <a:latin typeface="Arial" charset="0"/>
              </a:rPr>
              <a:t> </a:t>
            </a:r>
          </a:p>
        </p:txBody>
      </p:sp>
      <p:sp>
        <p:nvSpPr>
          <p:cNvPr id="18438" name="Date Placeholder 8"/>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B8612F27-D43B-47E3-9F1A-9770E4828AF8}" type="datetime1">
              <a:rPr lang="en-US" sz="1400" smtClean="0"/>
              <a:pPr eaLnBrk="1" hangingPunct="1"/>
              <a:t>5/6/2021</a:t>
            </a:fld>
            <a:endParaRPr lang="en-US" sz="1400" smtClean="0"/>
          </a:p>
        </p:txBody>
      </p:sp>
      <p:sp>
        <p:nvSpPr>
          <p:cNvPr id="18439"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F03FDE16-3B6C-41F4-B5E4-6DF161E7E382}" type="slidenum">
              <a:rPr lang="en-US" sz="1400" smtClean="0"/>
              <a:pPr eaLnBrk="1" hangingPunct="1"/>
              <a:t>15</a:t>
            </a:fld>
            <a:endParaRPr lang="en-US" sz="1400" smtClean="0"/>
          </a:p>
        </p:txBody>
      </p:sp>
      <p:sp>
        <p:nvSpPr>
          <p:cNvPr id="18440" name="Footer Placeholder 10"/>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6479782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2770">
                                            <p:txEl>
                                              <p:pRg st="0" end="0"/>
                                            </p:txEl>
                                          </p:spTgt>
                                        </p:tgtEl>
                                        <p:attrNameLst>
                                          <p:attrName>style.visibility</p:attrName>
                                        </p:attrNameLst>
                                      </p:cBhvr>
                                      <p:to>
                                        <p:strVal val="visible"/>
                                      </p:to>
                                    </p:set>
                                    <p:animEffect transition="in" filter="box(in)">
                                      <p:cBhvr>
                                        <p:cTn id="7" dur="500"/>
                                        <p:tgtEl>
                                          <p:spTgt spid="3277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2771"/>
                                        </p:tgtEl>
                                        <p:attrNameLst>
                                          <p:attrName>style.visibility</p:attrName>
                                        </p:attrNameLst>
                                      </p:cBhvr>
                                      <p:to>
                                        <p:strVal val="visible"/>
                                      </p:to>
                                    </p:set>
                                    <p:animEffect transition="in" filter="box(in)">
                                      <p:cBhvr>
                                        <p:cTn id="12" dur="500"/>
                                        <p:tgtEl>
                                          <p:spTgt spid="327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2770">
                                            <p:txEl>
                                              <p:pRg st="3" end="3"/>
                                            </p:txEl>
                                          </p:spTgt>
                                        </p:tgtEl>
                                        <p:attrNameLst>
                                          <p:attrName>style.visibility</p:attrName>
                                        </p:attrNameLst>
                                      </p:cBhvr>
                                      <p:to>
                                        <p:strVal val="visible"/>
                                      </p:to>
                                    </p:set>
                                    <p:animEffect transition="in" filter="box(in)">
                                      <p:cBhvr>
                                        <p:cTn id="17" dur="500"/>
                                        <p:tgtEl>
                                          <p:spTgt spid="32770">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2772"/>
                                        </p:tgtEl>
                                        <p:attrNameLst>
                                          <p:attrName>style.visibility</p:attrName>
                                        </p:attrNameLst>
                                      </p:cBhvr>
                                      <p:to>
                                        <p:strVal val="visible"/>
                                      </p:to>
                                    </p:set>
                                    <p:animEffect transition="in" filter="box(in)">
                                      <p:cBhvr>
                                        <p:cTn id="22" dur="500"/>
                                        <p:tgtEl>
                                          <p:spTgt spid="327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ox(in)">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p:cNvSpPr>
            <a:spLocks noGrp="1" noChangeArrowheads="1"/>
          </p:cNvSpPr>
          <p:nvPr>
            <p:ph type="body" sz="half" idx="1"/>
          </p:nvPr>
        </p:nvSpPr>
        <p:spPr>
          <a:xfrm>
            <a:off x="685800" y="685800"/>
            <a:ext cx="7924800" cy="4114800"/>
          </a:xfrm>
          <a:noFill/>
        </p:spPr>
        <p:txBody>
          <a:bodyPr/>
          <a:lstStyle/>
          <a:p>
            <a:pPr eaLnBrk="1" hangingPunct="1"/>
            <a:endParaRPr lang="en-US" sz="2800" smtClean="0"/>
          </a:p>
          <a:p>
            <a:pPr eaLnBrk="1" hangingPunct="1"/>
            <a:r>
              <a:rPr lang="en-US" sz="2800" b="1" smtClean="0"/>
              <a:t>However, there are two silver atoms represented in the upper term and only one in the lower term.</a:t>
            </a:r>
          </a:p>
        </p:txBody>
      </p:sp>
      <p:pic>
        <p:nvPicPr>
          <p:cNvPr id="33795" name="Picture 5" descr="4-gf5.gif (2188 bytes)"/>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2362200" y="3352800"/>
            <a:ext cx="3962400" cy="1066800"/>
          </a:xfrm>
          <a:noFill/>
        </p:spPr>
      </p:pic>
      <p:sp>
        <p:nvSpPr>
          <p:cNvPr id="19460"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68466D2-D71A-4BE0-BB84-C3E2481524BE}" type="datetime1">
              <a:rPr lang="en-US" sz="1400" smtClean="0"/>
              <a:pPr eaLnBrk="1" hangingPunct="1"/>
              <a:t>5/6/2021</a:t>
            </a:fld>
            <a:endParaRPr lang="en-US" sz="1400" smtClean="0"/>
          </a:p>
        </p:txBody>
      </p:sp>
      <p:sp>
        <p:nvSpPr>
          <p:cNvPr id="19461"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5EFCBF1C-F367-4BF1-941B-E734F295776A}" type="slidenum">
              <a:rPr lang="ar-SA" sz="1400" smtClean="0"/>
              <a:pPr eaLnBrk="1" hangingPunct="1"/>
              <a:t>16</a:t>
            </a:fld>
            <a:endParaRPr lang="en-US" sz="1400" smtClean="0"/>
          </a:p>
        </p:txBody>
      </p:sp>
      <p:sp>
        <p:nvSpPr>
          <p:cNvPr id="19462"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8126141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3794">
                                            <p:txEl>
                                              <p:pRg st="1" end="1"/>
                                            </p:txEl>
                                          </p:spTgt>
                                        </p:tgtEl>
                                        <p:attrNameLst>
                                          <p:attrName>style.visibility</p:attrName>
                                        </p:attrNameLst>
                                      </p:cBhvr>
                                      <p:to>
                                        <p:strVal val="visible"/>
                                      </p:to>
                                    </p:set>
                                    <p:animEffect transition="in" filter="box(in)">
                                      <p:cBhvr>
                                        <p:cTn id="7" dur="500"/>
                                        <p:tgtEl>
                                          <p:spTgt spid="3379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3795"/>
                                        </p:tgtEl>
                                        <p:attrNameLst>
                                          <p:attrName>style.visibility</p:attrName>
                                        </p:attrNameLst>
                                      </p:cBhvr>
                                      <p:to>
                                        <p:strVal val="visible"/>
                                      </p:to>
                                    </p:set>
                                    <p:animEffect transition="in" filter="box(in)">
                                      <p:cBhvr>
                                        <p:cTn id="12"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p:cNvSpPr>
            <a:spLocks noGrp="1" noChangeArrowheads="1"/>
          </p:cNvSpPr>
          <p:nvPr>
            <p:ph type="body" sz="half" idx="1"/>
          </p:nvPr>
        </p:nvSpPr>
        <p:spPr>
          <a:xfrm>
            <a:off x="685800" y="1981200"/>
            <a:ext cx="8077200" cy="4114800"/>
          </a:xfrm>
          <a:noFill/>
        </p:spPr>
        <p:txBody>
          <a:bodyPr/>
          <a:lstStyle/>
          <a:p>
            <a:pPr eaLnBrk="1" hangingPunct="1"/>
            <a:r>
              <a:rPr lang="en-US" sz="2800" b="1" smtClean="0">
                <a:solidFill>
                  <a:srgbClr val="FF0000"/>
                </a:solidFill>
              </a:rPr>
              <a:t>To "balance" the silver atoms, a 2 is placed in front of the substance in the lower term.</a:t>
            </a:r>
            <a:r>
              <a:rPr lang="en-US" sz="2800" smtClean="0">
                <a:solidFill>
                  <a:srgbClr val="FF0000"/>
                </a:solidFill>
              </a:rPr>
              <a:t> </a:t>
            </a:r>
          </a:p>
        </p:txBody>
      </p:sp>
      <p:pic>
        <p:nvPicPr>
          <p:cNvPr id="34819" name="Picture 5" descr="4-gf6.gif (2245 bytes)"/>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600200" y="3581400"/>
            <a:ext cx="5105400" cy="1182688"/>
          </a:xfrm>
          <a:noFill/>
        </p:spPr>
      </p:pic>
      <p:sp>
        <p:nvSpPr>
          <p:cNvPr id="20484"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334E32FD-A36E-4C5F-B90F-A9C7BCAFD238}" type="datetime1">
              <a:rPr lang="en-US" sz="1400" smtClean="0"/>
              <a:pPr eaLnBrk="1" hangingPunct="1"/>
              <a:t>5/6/2021</a:t>
            </a:fld>
            <a:endParaRPr lang="en-US" sz="1400" smtClean="0"/>
          </a:p>
        </p:txBody>
      </p:sp>
      <p:sp>
        <p:nvSpPr>
          <p:cNvPr id="20485"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4B9EB966-0CCB-4B9C-ABD8-2409167DBC11}" type="slidenum">
              <a:rPr lang="ar-SA" sz="1400" smtClean="0"/>
              <a:pPr eaLnBrk="1" hangingPunct="1"/>
              <a:t>17</a:t>
            </a:fld>
            <a:endParaRPr lang="en-US" sz="1400" smtClean="0"/>
          </a:p>
        </p:txBody>
      </p:sp>
      <p:sp>
        <p:nvSpPr>
          <p:cNvPr id="20486"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7669281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4818">
                                            <p:txEl>
                                              <p:pRg st="0" end="0"/>
                                            </p:txEl>
                                          </p:spTgt>
                                        </p:tgtEl>
                                        <p:attrNameLst>
                                          <p:attrName>style.visibility</p:attrName>
                                        </p:attrNameLst>
                                      </p:cBhvr>
                                      <p:to>
                                        <p:strVal val="visible"/>
                                      </p:to>
                                    </p:set>
                                    <p:animEffect transition="in" filter="box(in)">
                                      <p:cBhvr>
                                        <p:cTn id="7" dur="500"/>
                                        <p:tgtEl>
                                          <p:spTgt spid="3481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4819"/>
                                        </p:tgtEl>
                                        <p:attrNameLst>
                                          <p:attrName>style.visibility</p:attrName>
                                        </p:attrNameLst>
                                      </p:cBhvr>
                                      <p:to>
                                        <p:strVal val="visible"/>
                                      </p:to>
                                    </p:set>
                                    <p:animEffect transition="in" filter="box(in)">
                                      <p:cBhvr>
                                        <p:cTn id="12" dur="500"/>
                                        <p:tgtEl>
                                          <p:spTgt spid="34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p:cNvSpPr>
            <a:spLocks noGrp="1" noChangeArrowheads="1"/>
          </p:cNvSpPr>
          <p:nvPr>
            <p:ph type="body" sz="half" idx="1"/>
          </p:nvPr>
        </p:nvSpPr>
        <p:spPr>
          <a:xfrm>
            <a:off x="685800" y="1981200"/>
            <a:ext cx="8077200" cy="4114800"/>
          </a:xfrm>
          <a:noFill/>
        </p:spPr>
        <p:txBody>
          <a:bodyPr/>
          <a:lstStyle/>
          <a:p>
            <a:pPr eaLnBrk="1" hangingPunct="1"/>
            <a:r>
              <a:rPr lang="en-US" sz="2800" b="1" smtClean="0">
                <a:solidFill>
                  <a:srgbClr val="FF0000"/>
                </a:solidFill>
              </a:rPr>
              <a:t>The calculation set-up for this gravimetric factor would be:</a:t>
            </a:r>
            <a:r>
              <a:rPr lang="en-US" sz="2800" smtClean="0">
                <a:solidFill>
                  <a:srgbClr val="FF0000"/>
                </a:solidFill>
              </a:rPr>
              <a:t> </a:t>
            </a:r>
          </a:p>
        </p:txBody>
      </p:sp>
      <p:pic>
        <p:nvPicPr>
          <p:cNvPr id="35843" name="Picture 5" descr="4-gf7.gif (3293 bytes)"/>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228600" y="3886200"/>
            <a:ext cx="8229600" cy="1100138"/>
          </a:xfrm>
          <a:noFill/>
        </p:spPr>
      </p:pic>
      <p:sp>
        <p:nvSpPr>
          <p:cNvPr id="21508"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2E1F0A23-8094-42D2-9B73-8CC6F23333CD}" type="datetime1">
              <a:rPr lang="en-US" sz="1400" smtClean="0"/>
              <a:pPr eaLnBrk="1" hangingPunct="1"/>
              <a:t>5/6/2021</a:t>
            </a:fld>
            <a:endParaRPr lang="en-US" sz="1400" smtClean="0"/>
          </a:p>
        </p:txBody>
      </p:sp>
      <p:sp>
        <p:nvSpPr>
          <p:cNvPr id="21509"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4633B943-AFF8-4354-BB0F-26B9484B8552}" type="slidenum">
              <a:rPr lang="ar-SA" sz="1400" smtClean="0"/>
              <a:pPr eaLnBrk="1" hangingPunct="1"/>
              <a:t>18</a:t>
            </a:fld>
            <a:endParaRPr lang="en-US" sz="1400" smtClean="0"/>
          </a:p>
        </p:txBody>
      </p:sp>
      <p:sp>
        <p:nvSpPr>
          <p:cNvPr id="21510"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7386570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842">
                                            <p:txEl>
                                              <p:pRg st="0" end="0"/>
                                            </p:txEl>
                                          </p:spTgt>
                                        </p:tgtEl>
                                        <p:attrNameLst>
                                          <p:attrName>style.visibility</p:attrName>
                                        </p:attrNameLst>
                                      </p:cBhvr>
                                      <p:to>
                                        <p:strVal val="visible"/>
                                      </p:to>
                                    </p:set>
                                    <p:animEffect transition="in" filter="box(in)">
                                      <p:cBhvr>
                                        <p:cTn id="7" dur="500"/>
                                        <p:tgtEl>
                                          <p:spTgt spid="3584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843"/>
                                        </p:tgtEl>
                                        <p:attrNameLst>
                                          <p:attrName>style.visibility</p:attrName>
                                        </p:attrNameLst>
                                      </p:cBhvr>
                                      <p:to>
                                        <p:strVal val="visible"/>
                                      </p:to>
                                    </p:set>
                                    <p:animEffect transition="in" filter="box(in)">
                                      <p:cBhvr>
                                        <p:cTn id="12" dur="500"/>
                                        <p:tgtEl>
                                          <p:spTgt spid="35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981200"/>
            <a:ext cx="8382000" cy="4114800"/>
          </a:xfrm>
        </p:spPr>
        <p:txBody>
          <a:bodyPr/>
          <a:lstStyle/>
          <a:p>
            <a:r>
              <a:rPr lang="en-US" b="1" smtClean="0">
                <a:solidFill>
                  <a:srgbClr val="000000"/>
                </a:solidFill>
                <a:cs typeface="Times New Roman" pitchFamily="18" charset="0"/>
              </a:rPr>
              <a:t>Example</a:t>
            </a:r>
          </a:p>
          <a:p>
            <a:r>
              <a:rPr lang="en-US" b="1" smtClean="0">
                <a:solidFill>
                  <a:srgbClr val="0000FF"/>
                </a:solidFill>
                <a:cs typeface="Times New Roman" pitchFamily="18" charset="0"/>
              </a:rPr>
              <a:t>Calculate the mg analyte to mg precipitate for the following: P (at wt =30.97) in Ag</a:t>
            </a:r>
            <a:r>
              <a:rPr lang="en-US" b="1" baseline="-30000" smtClean="0">
                <a:solidFill>
                  <a:srgbClr val="0000FF"/>
                </a:solidFill>
                <a:cs typeface="Times New Roman" pitchFamily="18" charset="0"/>
              </a:rPr>
              <a:t>3</a:t>
            </a:r>
            <a:r>
              <a:rPr lang="en-US" b="1" smtClean="0">
                <a:solidFill>
                  <a:srgbClr val="0000FF"/>
                </a:solidFill>
                <a:cs typeface="Times New Roman" pitchFamily="18" charset="0"/>
              </a:rPr>
              <a:t>PO</a:t>
            </a:r>
            <a:r>
              <a:rPr lang="en-US" b="1" baseline="-30000" smtClean="0">
                <a:solidFill>
                  <a:srgbClr val="0000FF"/>
                </a:solidFill>
                <a:cs typeface="Times New Roman" pitchFamily="18" charset="0"/>
              </a:rPr>
              <a:t>4</a:t>
            </a:r>
            <a:r>
              <a:rPr lang="en-US" b="1" smtClean="0">
                <a:solidFill>
                  <a:srgbClr val="0000FF"/>
                </a:solidFill>
                <a:cs typeface="Times New Roman" pitchFamily="18" charset="0"/>
              </a:rPr>
              <a:t> (FW = 711.22), </a:t>
            </a:r>
          </a:p>
          <a:p>
            <a:r>
              <a:rPr lang="en-US" b="1" smtClean="0">
                <a:solidFill>
                  <a:srgbClr val="0000FF"/>
                </a:solidFill>
                <a:cs typeface="Times New Roman" pitchFamily="18" charset="0"/>
              </a:rPr>
              <a:t>Bi</a:t>
            </a:r>
            <a:r>
              <a:rPr lang="en-US" b="1" baseline="-30000" smtClean="0">
                <a:solidFill>
                  <a:srgbClr val="0000FF"/>
                </a:solidFill>
                <a:cs typeface="Times New Roman" pitchFamily="18" charset="0"/>
              </a:rPr>
              <a:t>2</a:t>
            </a:r>
            <a:r>
              <a:rPr lang="en-US" b="1" smtClean="0">
                <a:solidFill>
                  <a:srgbClr val="0000FF"/>
                </a:solidFill>
                <a:cs typeface="Times New Roman" pitchFamily="18" charset="0"/>
              </a:rPr>
              <a:t>S</a:t>
            </a:r>
            <a:r>
              <a:rPr lang="en-US" b="1" baseline="-30000" smtClean="0">
                <a:solidFill>
                  <a:srgbClr val="0000FF"/>
                </a:solidFill>
                <a:cs typeface="Times New Roman" pitchFamily="18" charset="0"/>
              </a:rPr>
              <a:t>3</a:t>
            </a:r>
            <a:r>
              <a:rPr lang="en-US" b="1" smtClean="0">
                <a:solidFill>
                  <a:srgbClr val="0000FF"/>
                </a:solidFill>
                <a:cs typeface="Times New Roman" pitchFamily="18" charset="0"/>
              </a:rPr>
              <a:t> (FW 514.15) in BaSO</a:t>
            </a:r>
            <a:r>
              <a:rPr lang="en-US" b="1" baseline="-30000" smtClean="0">
                <a:solidFill>
                  <a:srgbClr val="0000FF"/>
                </a:solidFill>
                <a:cs typeface="Times New Roman" pitchFamily="18" charset="0"/>
              </a:rPr>
              <a:t>4</a:t>
            </a:r>
            <a:r>
              <a:rPr lang="en-US" b="1" smtClean="0">
                <a:solidFill>
                  <a:srgbClr val="0000FF"/>
                </a:solidFill>
                <a:cs typeface="Times New Roman" pitchFamily="18" charset="0"/>
              </a:rPr>
              <a:t> (FW = 233.40)</a:t>
            </a:r>
          </a:p>
          <a:p>
            <a:endParaRPr lang="en-US" smtClean="0"/>
          </a:p>
        </p:txBody>
      </p:sp>
      <p:sp>
        <p:nvSpPr>
          <p:cNvPr id="22531"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A0AE8A29-A8F2-425A-A366-EBBAED8601C7}" type="datetime1">
              <a:rPr lang="en-US" sz="1400" smtClean="0"/>
              <a:pPr eaLnBrk="1" hangingPunct="1"/>
              <a:t>5/6/2021</a:t>
            </a:fld>
            <a:endParaRPr lang="en-US" sz="1400" smtClean="0"/>
          </a:p>
        </p:txBody>
      </p:sp>
      <p:sp>
        <p:nvSpPr>
          <p:cNvPr id="22532"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8CD9D691-CEB6-43D5-A250-B71C45B29C3B}" type="slidenum">
              <a:rPr lang="en-US" sz="1400" smtClean="0"/>
              <a:pPr eaLnBrk="1" hangingPunct="1"/>
              <a:t>19</a:t>
            </a:fld>
            <a:endParaRPr lang="en-US" sz="1400" smtClean="0"/>
          </a:p>
        </p:txBody>
      </p:sp>
      <p:sp>
        <p:nvSpPr>
          <p:cNvPr id="22533"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8789729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endParaRPr lang="en-US" smtClean="0"/>
          </a:p>
        </p:txBody>
      </p:sp>
      <p:sp>
        <p:nvSpPr>
          <p:cNvPr id="3" name="Content Placeholder 2"/>
          <p:cNvSpPr>
            <a:spLocks noGrp="1"/>
          </p:cNvSpPr>
          <p:nvPr>
            <p:ph idx="1"/>
          </p:nvPr>
        </p:nvSpPr>
        <p:spPr>
          <a:xfrm>
            <a:off x="685800" y="1981200"/>
            <a:ext cx="8077200" cy="4114800"/>
          </a:xfrm>
        </p:spPr>
        <p:txBody>
          <a:bodyPr/>
          <a:lstStyle/>
          <a:p>
            <a:pPr algn="justLow" eaLnBrk="1" hangingPunct="1">
              <a:buFont typeface="Wingdings" pitchFamily="2" charset="2"/>
              <a:buChar char="§"/>
            </a:pPr>
            <a:r>
              <a:rPr lang="en-US" b="1" smtClean="0">
                <a:solidFill>
                  <a:srgbClr val="000000"/>
                </a:solidFill>
                <a:cs typeface="Times New Roman" pitchFamily="18" charset="0"/>
              </a:rPr>
              <a:t>Answer</a:t>
            </a:r>
            <a:endParaRPr lang="en-US" smtClean="0">
              <a:solidFill>
                <a:srgbClr val="000000"/>
              </a:solidFill>
              <a:cs typeface="Times New Roman" pitchFamily="18" charset="0"/>
            </a:endParaRPr>
          </a:p>
          <a:p>
            <a:pPr algn="justLow" eaLnBrk="1" hangingPunct="1">
              <a:buFontTx/>
              <a:buNone/>
            </a:pPr>
            <a:r>
              <a:rPr lang="en-US" smtClean="0">
                <a:solidFill>
                  <a:srgbClr val="000000"/>
                </a:solidFill>
                <a:cs typeface="Times New Roman" pitchFamily="18" charset="0"/>
              </a:rPr>
              <a:t> </a:t>
            </a:r>
            <a:endParaRPr lang="en-US" b="1" smtClean="0">
              <a:solidFill>
                <a:srgbClr val="000000"/>
              </a:solidFill>
              <a:cs typeface="Times New Roman" pitchFamily="18" charset="0"/>
            </a:endParaRPr>
          </a:p>
          <a:p>
            <a:pPr algn="ctr" eaLnBrk="1" hangingPunct="1">
              <a:buFont typeface="Wingdings" pitchFamily="2" charset="2"/>
              <a:buChar char="§"/>
            </a:pPr>
            <a:r>
              <a:rPr lang="en-US" b="1" smtClean="0">
                <a:solidFill>
                  <a:srgbClr val="800000"/>
                </a:solidFill>
                <a:cs typeface="Times New Roman" pitchFamily="18" charset="0"/>
              </a:rPr>
              <a:t>P </a:t>
            </a:r>
            <a:r>
              <a:rPr lang="en-US" b="1" smtClean="0">
                <a:solidFill>
                  <a:srgbClr val="800000"/>
                </a:solidFill>
                <a:latin typeface="Wingdings 3" pitchFamily="18" charset="2"/>
                <a:cs typeface="Times New Roman" pitchFamily="18" charset="0"/>
              </a:rPr>
              <a:t>D</a:t>
            </a:r>
            <a:r>
              <a:rPr lang="en-US" b="1" smtClean="0">
                <a:solidFill>
                  <a:srgbClr val="800000"/>
                </a:solidFill>
                <a:cs typeface="Times New Roman" pitchFamily="18" charset="0"/>
              </a:rPr>
              <a:t> Ag</a:t>
            </a:r>
            <a:r>
              <a:rPr lang="en-US" b="1" baseline="-30000" smtClean="0">
                <a:solidFill>
                  <a:srgbClr val="800000"/>
                </a:solidFill>
                <a:cs typeface="Times New Roman" pitchFamily="18" charset="0"/>
              </a:rPr>
              <a:t>3</a:t>
            </a:r>
            <a:r>
              <a:rPr lang="en-US" b="1" smtClean="0">
                <a:solidFill>
                  <a:srgbClr val="800000"/>
                </a:solidFill>
                <a:cs typeface="Times New Roman" pitchFamily="18" charset="0"/>
              </a:rPr>
              <a:t>PO</a:t>
            </a:r>
            <a:r>
              <a:rPr lang="en-US" b="1" baseline="-30000" smtClean="0">
                <a:solidFill>
                  <a:srgbClr val="800000"/>
                </a:solidFill>
                <a:cs typeface="Times New Roman" pitchFamily="18" charset="0"/>
              </a:rPr>
              <a:t>4</a:t>
            </a:r>
            <a:endParaRPr lang="en-US" smtClean="0">
              <a:solidFill>
                <a:srgbClr val="800000"/>
              </a:solidFill>
              <a:cs typeface="Times New Roman" pitchFamily="18" charset="0"/>
            </a:endParaRPr>
          </a:p>
          <a:p>
            <a:pPr eaLnBrk="1" hangingPunct="1">
              <a:buFont typeface="Wingdings" pitchFamily="2" charset="2"/>
              <a:buChar char="§"/>
            </a:pPr>
            <a:r>
              <a:rPr lang="en-US" b="1" smtClean="0">
                <a:solidFill>
                  <a:srgbClr val="000000"/>
                </a:solidFill>
                <a:cs typeface="Times New Roman" pitchFamily="18" charset="0"/>
              </a:rPr>
              <a:t>mmol P = mmol Ag</a:t>
            </a:r>
            <a:r>
              <a:rPr lang="en-US" b="1" baseline="-30000" smtClean="0">
                <a:solidFill>
                  <a:srgbClr val="000000"/>
                </a:solidFill>
                <a:cs typeface="Times New Roman" pitchFamily="18" charset="0"/>
              </a:rPr>
              <a:t>3</a:t>
            </a:r>
            <a:r>
              <a:rPr lang="en-US" b="1" smtClean="0">
                <a:solidFill>
                  <a:srgbClr val="000000"/>
                </a:solidFill>
                <a:cs typeface="Times New Roman" pitchFamily="18" charset="0"/>
              </a:rPr>
              <a:t>PO</a:t>
            </a:r>
            <a:r>
              <a:rPr lang="en-US" b="1" baseline="-30000" smtClean="0">
                <a:solidFill>
                  <a:srgbClr val="000000"/>
                </a:solidFill>
                <a:cs typeface="Times New Roman" pitchFamily="18" charset="0"/>
              </a:rPr>
              <a:t>4</a:t>
            </a:r>
            <a:endParaRPr lang="en-US" b="1" smtClean="0">
              <a:solidFill>
                <a:srgbClr val="000000"/>
              </a:solidFill>
              <a:cs typeface="Times New Roman" pitchFamily="18" charset="0"/>
            </a:endParaRPr>
          </a:p>
          <a:p>
            <a:pPr eaLnBrk="1" hangingPunct="1">
              <a:buFont typeface="Wingdings" pitchFamily="2" charset="2"/>
              <a:buChar char="§"/>
            </a:pPr>
            <a:r>
              <a:rPr lang="en-US" b="1" smtClean="0">
                <a:solidFill>
                  <a:srgbClr val="000000"/>
                </a:solidFill>
                <a:cs typeface="Times New Roman" pitchFamily="18" charset="0"/>
              </a:rPr>
              <a:t> Mg P/30.97 = mg Ag</a:t>
            </a:r>
            <a:r>
              <a:rPr lang="en-US" b="1" baseline="-30000" smtClean="0">
                <a:solidFill>
                  <a:srgbClr val="000000"/>
                </a:solidFill>
                <a:cs typeface="Times New Roman" pitchFamily="18" charset="0"/>
              </a:rPr>
              <a:t>3</a:t>
            </a:r>
            <a:r>
              <a:rPr lang="en-US" b="1" smtClean="0">
                <a:solidFill>
                  <a:srgbClr val="000000"/>
                </a:solidFill>
                <a:cs typeface="Times New Roman" pitchFamily="18" charset="0"/>
              </a:rPr>
              <a:t>PO</a:t>
            </a:r>
            <a:r>
              <a:rPr lang="en-US" b="1" baseline="-30000" smtClean="0">
                <a:solidFill>
                  <a:srgbClr val="000000"/>
                </a:solidFill>
                <a:cs typeface="Times New Roman" pitchFamily="18" charset="0"/>
              </a:rPr>
              <a:t>4</a:t>
            </a:r>
            <a:r>
              <a:rPr lang="en-US" b="1" smtClean="0">
                <a:solidFill>
                  <a:srgbClr val="000000"/>
                </a:solidFill>
                <a:cs typeface="Times New Roman" pitchFamily="18" charset="0"/>
              </a:rPr>
              <a:t>/711.22</a:t>
            </a:r>
          </a:p>
          <a:p>
            <a:pPr eaLnBrk="1" hangingPunct="1">
              <a:buFont typeface="Wingdings" pitchFamily="2" charset="2"/>
              <a:buChar char="§"/>
            </a:pPr>
            <a:r>
              <a:rPr lang="en-US" b="1" smtClean="0">
                <a:solidFill>
                  <a:srgbClr val="000000"/>
                </a:solidFill>
                <a:cs typeface="Times New Roman" pitchFamily="18" charset="0"/>
              </a:rPr>
              <a:t>Mg P/mg Ag</a:t>
            </a:r>
            <a:r>
              <a:rPr lang="en-US" b="1" baseline="-30000" smtClean="0">
                <a:solidFill>
                  <a:srgbClr val="000000"/>
                </a:solidFill>
                <a:cs typeface="Times New Roman" pitchFamily="18" charset="0"/>
              </a:rPr>
              <a:t>3</a:t>
            </a:r>
            <a:r>
              <a:rPr lang="en-US" b="1" smtClean="0">
                <a:solidFill>
                  <a:srgbClr val="000000"/>
                </a:solidFill>
                <a:cs typeface="Times New Roman" pitchFamily="18" charset="0"/>
              </a:rPr>
              <a:t>PO</a:t>
            </a:r>
            <a:r>
              <a:rPr lang="en-US" b="1" baseline="-30000" smtClean="0">
                <a:solidFill>
                  <a:srgbClr val="000000"/>
                </a:solidFill>
                <a:cs typeface="Times New Roman" pitchFamily="18" charset="0"/>
              </a:rPr>
              <a:t>4</a:t>
            </a:r>
            <a:r>
              <a:rPr lang="en-US" b="1" smtClean="0">
                <a:solidFill>
                  <a:srgbClr val="000000"/>
                </a:solidFill>
                <a:cs typeface="Times New Roman" pitchFamily="18" charset="0"/>
              </a:rPr>
              <a:t> = 30.97/711.22 = 0.04354</a:t>
            </a:r>
          </a:p>
          <a:p>
            <a:endParaRPr lang="en-US" smtClean="0"/>
          </a:p>
        </p:txBody>
      </p:sp>
      <p:sp>
        <p:nvSpPr>
          <p:cNvPr id="23556"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EB37B26-B8C2-4B8A-9215-35BA7D41358B}" type="datetime1">
              <a:rPr lang="en-US" sz="1400" smtClean="0"/>
              <a:pPr eaLnBrk="1" hangingPunct="1"/>
              <a:t>5/6/2021</a:t>
            </a:fld>
            <a:endParaRPr lang="en-US" sz="1400" smtClean="0"/>
          </a:p>
        </p:txBody>
      </p:sp>
      <p:sp>
        <p:nvSpPr>
          <p:cNvPr id="23557"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9CD15590-5C37-4B0B-A1FF-8FC06BA039B8}" type="slidenum">
              <a:rPr lang="en-US" sz="1400" smtClean="0"/>
              <a:pPr eaLnBrk="1" hangingPunct="1"/>
              <a:t>20</a:t>
            </a:fld>
            <a:endParaRPr lang="en-US" sz="1400" smtClean="0"/>
          </a:p>
        </p:txBody>
      </p:sp>
      <p:sp>
        <p:nvSpPr>
          <p:cNvPr id="23558"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2320718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ox(in)">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ox(i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D353AB13-AFD0-4B1A-828F-D5BBA81D4525}" type="slidenum">
              <a:rPr lang="ar-SA" sz="1400" smtClean="0">
                <a:latin typeface="Arial" charset="0"/>
                <a:cs typeface="Arial" charset="0"/>
              </a:rPr>
              <a:pPr eaLnBrk="1" hangingPunct="1"/>
              <a:t>21</a:t>
            </a:fld>
            <a:endParaRPr lang="en-US" sz="1400" smtClean="0">
              <a:latin typeface="Arial" charset="0"/>
              <a:cs typeface="Arial" charset="0"/>
            </a:endParaRPr>
          </a:p>
        </p:txBody>
      </p:sp>
      <p:sp>
        <p:nvSpPr>
          <p:cNvPr id="44035" name="Rectangle 2"/>
          <p:cNvSpPr>
            <a:spLocks noGrp="1" noChangeArrowheads="1"/>
          </p:cNvSpPr>
          <p:nvPr>
            <p:ph type="body" idx="1"/>
          </p:nvPr>
        </p:nvSpPr>
        <p:spPr>
          <a:xfrm>
            <a:off x="457200" y="836613"/>
            <a:ext cx="8229600" cy="5289550"/>
          </a:xfrm>
        </p:spPr>
        <p:txBody>
          <a:bodyPr/>
          <a:lstStyle/>
          <a:p>
            <a:pPr marL="609600" indent="-609600" algn="ctr" eaLnBrk="1" hangingPunct="1">
              <a:buFont typeface="Wingdings" pitchFamily="2" charset="2"/>
              <a:buChar char="§"/>
            </a:pPr>
            <a:r>
              <a:rPr lang="en-US" sz="2800" b="1" smtClean="0">
                <a:solidFill>
                  <a:srgbClr val="800000"/>
                </a:solidFill>
                <a:cs typeface="Times New Roman" pitchFamily="18" charset="0"/>
              </a:rPr>
              <a:t>Bi</a:t>
            </a:r>
            <a:r>
              <a:rPr lang="en-US" sz="2800" b="1" baseline="-30000" smtClean="0">
                <a:solidFill>
                  <a:srgbClr val="800000"/>
                </a:solidFill>
                <a:cs typeface="Times New Roman" pitchFamily="18" charset="0"/>
              </a:rPr>
              <a:t>2</a:t>
            </a:r>
            <a:r>
              <a:rPr lang="en-US" sz="2800" b="1" smtClean="0">
                <a:solidFill>
                  <a:srgbClr val="800000"/>
                </a:solidFill>
                <a:cs typeface="Times New Roman" pitchFamily="18" charset="0"/>
              </a:rPr>
              <a:t>S</a:t>
            </a:r>
            <a:r>
              <a:rPr lang="en-US" sz="2800" b="1" baseline="-30000" smtClean="0">
                <a:solidFill>
                  <a:srgbClr val="800000"/>
                </a:solidFill>
                <a:cs typeface="Times New Roman" pitchFamily="18" charset="0"/>
              </a:rPr>
              <a:t>3</a:t>
            </a:r>
            <a:r>
              <a:rPr lang="en-US" sz="2800" b="1" smtClean="0">
                <a:solidFill>
                  <a:srgbClr val="800000"/>
                </a:solidFill>
                <a:cs typeface="Times New Roman" pitchFamily="18" charset="0"/>
              </a:rPr>
              <a:t> </a:t>
            </a:r>
            <a:r>
              <a:rPr lang="en-US" sz="2800" b="1" smtClean="0">
                <a:solidFill>
                  <a:srgbClr val="800000"/>
                </a:solidFill>
                <a:latin typeface="Wingdings 3" pitchFamily="18" charset="2"/>
                <a:cs typeface="Times New Roman" pitchFamily="18" charset="0"/>
              </a:rPr>
              <a:t>D</a:t>
            </a:r>
            <a:r>
              <a:rPr lang="en-US" sz="2800" b="1" smtClean="0">
                <a:solidFill>
                  <a:srgbClr val="800000"/>
                </a:solidFill>
                <a:cs typeface="Times New Roman" pitchFamily="18" charset="0"/>
              </a:rPr>
              <a:t> 3 BaSO</a:t>
            </a:r>
            <a:r>
              <a:rPr lang="en-US" sz="2800" b="1" baseline="-30000" smtClean="0">
                <a:solidFill>
                  <a:srgbClr val="800000"/>
                </a:solidFill>
                <a:cs typeface="Times New Roman" pitchFamily="18" charset="0"/>
              </a:rPr>
              <a:t>4</a:t>
            </a:r>
            <a:endParaRPr lang="en-US" sz="2800" smtClean="0">
              <a:solidFill>
                <a:srgbClr val="800000"/>
              </a:solidFill>
              <a:cs typeface="Times New Roman" pitchFamily="18" charset="0"/>
            </a:endParaRPr>
          </a:p>
          <a:p>
            <a:pPr marL="609600" indent="-609600" algn="justLow" eaLnBrk="1" hangingPunct="1">
              <a:buFont typeface="Wingdings" pitchFamily="2" charset="2"/>
              <a:buChar char="§"/>
            </a:pPr>
            <a:r>
              <a:rPr lang="en-US" sz="2800" smtClean="0">
                <a:solidFill>
                  <a:srgbClr val="000000"/>
                </a:solidFill>
                <a:cs typeface="Times New Roman" pitchFamily="18" charset="0"/>
              </a:rPr>
              <a:t>mmol Bi</a:t>
            </a:r>
            <a:r>
              <a:rPr lang="en-US" sz="2800" baseline="-30000" smtClean="0">
                <a:solidFill>
                  <a:srgbClr val="000000"/>
                </a:solidFill>
                <a:cs typeface="Times New Roman" pitchFamily="18" charset="0"/>
              </a:rPr>
              <a:t>2</a:t>
            </a:r>
            <a:r>
              <a:rPr lang="en-US" sz="2800" smtClean="0">
                <a:solidFill>
                  <a:srgbClr val="000000"/>
                </a:solidFill>
                <a:cs typeface="Times New Roman" pitchFamily="18" charset="0"/>
              </a:rPr>
              <a:t>S</a:t>
            </a:r>
            <a:r>
              <a:rPr lang="en-US" sz="2800" baseline="-30000" smtClean="0">
                <a:solidFill>
                  <a:srgbClr val="000000"/>
                </a:solidFill>
                <a:cs typeface="Times New Roman" pitchFamily="18" charset="0"/>
              </a:rPr>
              <a:t>3</a:t>
            </a:r>
            <a:r>
              <a:rPr lang="en-US" sz="2800" smtClean="0">
                <a:solidFill>
                  <a:srgbClr val="000000"/>
                </a:solidFill>
                <a:cs typeface="Times New Roman" pitchFamily="18" charset="0"/>
              </a:rPr>
              <a:t> = </a:t>
            </a:r>
            <a:r>
              <a:rPr lang="en-US" sz="2800" b="1" smtClean="0">
                <a:solidFill>
                  <a:srgbClr val="000000"/>
                </a:solidFill>
                <a:cs typeface="Times New Roman" pitchFamily="18" charset="0"/>
              </a:rPr>
              <a:t>1/3</a:t>
            </a:r>
            <a:r>
              <a:rPr lang="en-US" sz="2800" smtClean="0">
                <a:solidFill>
                  <a:srgbClr val="000000"/>
                </a:solidFill>
                <a:cs typeface="Times New Roman" pitchFamily="18" charset="0"/>
              </a:rPr>
              <a:t> mmol BaSO</a:t>
            </a:r>
            <a:r>
              <a:rPr lang="en-US" sz="2800" baseline="-30000" smtClean="0">
                <a:solidFill>
                  <a:srgbClr val="000000"/>
                </a:solidFill>
                <a:cs typeface="Times New Roman" pitchFamily="18" charset="0"/>
              </a:rPr>
              <a:t>4</a:t>
            </a:r>
            <a:endParaRPr lang="en-US" sz="2800" smtClean="0">
              <a:solidFill>
                <a:srgbClr val="000000"/>
              </a:solidFill>
              <a:cs typeface="Times New Roman" pitchFamily="18" charset="0"/>
            </a:endParaRPr>
          </a:p>
          <a:p>
            <a:pPr marL="609600" indent="-609600" algn="justLow" eaLnBrk="1" hangingPunct="1">
              <a:buFontTx/>
              <a:buNone/>
            </a:pPr>
            <a:endParaRPr lang="en-US" sz="2800" smtClean="0">
              <a:solidFill>
                <a:srgbClr val="000000"/>
              </a:solidFill>
              <a:cs typeface="Times New Roman" pitchFamily="18" charset="0"/>
            </a:endParaRPr>
          </a:p>
          <a:p>
            <a:pPr marL="609600" indent="-609600" algn="justLow" eaLnBrk="1" hangingPunct="1">
              <a:buFont typeface="Wingdings" pitchFamily="2" charset="2"/>
              <a:buChar char="§"/>
            </a:pPr>
            <a:r>
              <a:rPr lang="en-US" sz="2800" smtClean="0">
                <a:solidFill>
                  <a:srgbClr val="000000"/>
                </a:solidFill>
                <a:cs typeface="Times New Roman" pitchFamily="18" charset="0"/>
              </a:rPr>
              <a:t>mg Bi</a:t>
            </a:r>
            <a:r>
              <a:rPr lang="en-US" sz="2800" baseline="-30000" smtClean="0">
                <a:solidFill>
                  <a:srgbClr val="000000"/>
                </a:solidFill>
                <a:cs typeface="Times New Roman" pitchFamily="18" charset="0"/>
              </a:rPr>
              <a:t>2</a:t>
            </a:r>
            <a:r>
              <a:rPr lang="en-US" sz="2800" smtClean="0">
                <a:solidFill>
                  <a:srgbClr val="000000"/>
                </a:solidFill>
                <a:cs typeface="Times New Roman" pitchFamily="18" charset="0"/>
              </a:rPr>
              <a:t>S</a:t>
            </a:r>
            <a:r>
              <a:rPr lang="en-US" sz="2800" baseline="-30000" smtClean="0">
                <a:solidFill>
                  <a:srgbClr val="000000"/>
                </a:solidFill>
                <a:cs typeface="Times New Roman" pitchFamily="18" charset="0"/>
              </a:rPr>
              <a:t>3</a:t>
            </a:r>
            <a:r>
              <a:rPr lang="en-US" sz="2800" smtClean="0">
                <a:solidFill>
                  <a:srgbClr val="000000"/>
                </a:solidFill>
                <a:cs typeface="Times New Roman" pitchFamily="18" charset="0"/>
              </a:rPr>
              <a:t>/FW Bi</a:t>
            </a:r>
            <a:r>
              <a:rPr lang="en-US" sz="2800" baseline="-30000" smtClean="0">
                <a:solidFill>
                  <a:srgbClr val="000000"/>
                </a:solidFill>
                <a:cs typeface="Times New Roman" pitchFamily="18" charset="0"/>
              </a:rPr>
              <a:t>2</a:t>
            </a:r>
            <a:r>
              <a:rPr lang="en-US" sz="2800" smtClean="0">
                <a:solidFill>
                  <a:srgbClr val="000000"/>
                </a:solidFill>
                <a:cs typeface="Times New Roman" pitchFamily="18" charset="0"/>
              </a:rPr>
              <a:t>S</a:t>
            </a:r>
            <a:r>
              <a:rPr lang="en-US" sz="2800" baseline="-30000" smtClean="0">
                <a:solidFill>
                  <a:srgbClr val="000000"/>
                </a:solidFill>
                <a:cs typeface="Times New Roman" pitchFamily="18" charset="0"/>
              </a:rPr>
              <a:t>3</a:t>
            </a:r>
            <a:r>
              <a:rPr lang="en-US" sz="2800" smtClean="0">
                <a:solidFill>
                  <a:srgbClr val="000000"/>
                </a:solidFill>
                <a:cs typeface="Times New Roman" pitchFamily="18" charset="0"/>
              </a:rPr>
              <a:t> = </a:t>
            </a:r>
            <a:r>
              <a:rPr lang="en-US" sz="2800" b="1" smtClean="0">
                <a:solidFill>
                  <a:srgbClr val="000000"/>
                </a:solidFill>
                <a:cs typeface="Times New Roman" pitchFamily="18" charset="0"/>
              </a:rPr>
              <a:t>1/3</a:t>
            </a:r>
            <a:r>
              <a:rPr lang="en-US" sz="2800" smtClean="0">
                <a:solidFill>
                  <a:srgbClr val="000000"/>
                </a:solidFill>
                <a:cs typeface="Times New Roman" pitchFamily="18" charset="0"/>
              </a:rPr>
              <a:t> mg BaSO</a:t>
            </a:r>
            <a:r>
              <a:rPr lang="en-US" sz="2800" baseline="-30000" smtClean="0">
                <a:solidFill>
                  <a:srgbClr val="000000"/>
                </a:solidFill>
                <a:cs typeface="Times New Roman" pitchFamily="18" charset="0"/>
              </a:rPr>
              <a:t>4</a:t>
            </a:r>
            <a:r>
              <a:rPr lang="en-US" sz="2800" smtClean="0">
                <a:solidFill>
                  <a:srgbClr val="000000"/>
                </a:solidFill>
                <a:cs typeface="Times New Roman" pitchFamily="18" charset="0"/>
              </a:rPr>
              <a:t>/FW BaSO</a:t>
            </a:r>
            <a:r>
              <a:rPr lang="en-US" sz="2800" baseline="-30000" smtClean="0">
                <a:solidFill>
                  <a:srgbClr val="000000"/>
                </a:solidFill>
                <a:cs typeface="Times New Roman" pitchFamily="18" charset="0"/>
              </a:rPr>
              <a:t>4</a:t>
            </a:r>
            <a:endParaRPr lang="en-US" sz="2800" smtClean="0">
              <a:solidFill>
                <a:srgbClr val="000000"/>
              </a:solidFill>
              <a:cs typeface="Times New Roman" pitchFamily="18" charset="0"/>
            </a:endParaRPr>
          </a:p>
          <a:p>
            <a:pPr marL="609600" indent="-609600" algn="justLow" eaLnBrk="1" hangingPunct="1">
              <a:buFontTx/>
              <a:buNone/>
            </a:pPr>
            <a:endParaRPr lang="en-US" sz="2800" smtClean="0">
              <a:solidFill>
                <a:srgbClr val="000000"/>
              </a:solidFill>
              <a:cs typeface="Times New Roman" pitchFamily="18" charset="0"/>
            </a:endParaRPr>
          </a:p>
          <a:p>
            <a:pPr marL="609600" indent="-609600" algn="justLow" eaLnBrk="1" hangingPunct="1">
              <a:buFont typeface="Wingdings" pitchFamily="2" charset="2"/>
              <a:buChar char="§"/>
            </a:pPr>
            <a:r>
              <a:rPr lang="en-US" sz="2800" smtClean="0">
                <a:solidFill>
                  <a:srgbClr val="000000"/>
                </a:solidFill>
                <a:cs typeface="Times New Roman" pitchFamily="18" charset="0"/>
              </a:rPr>
              <a:t>mg Bi</a:t>
            </a:r>
            <a:r>
              <a:rPr lang="en-US" sz="2800" baseline="-30000" smtClean="0">
                <a:solidFill>
                  <a:srgbClr val="000000"/>
                </a:solidFill>
                <a:cs typeface="Times New Roman" pitchFamily="18" charset="0"/>
              </a:rPr>
              <a:t>2</a:t>
            </a:r>
            <a:r>
              <a:rPr lang="en-US" sz="2800" smtClean="0">
                <a:solidFill>
                  <a:srgbClr val="000000"/>
                </a:solidFill>
                <a:cs typeface="Times New Roman" pitchFamily="18" charset="0"/>
              </a:rPr>
              <a:t>S</a:t>
            </a:r>
            <a:r>
              <a:rPr lang="en-US" sz="2800" baseline="-30000" smtClean="0">
                <a:solidFill>
                  <a:srgbClr val="000000"/>
                </a:solidFill>
                <a:cs typeface="Times New Roman" pitchFamily="18" charset="0"/>
              </a:rPr>
              <a:t>3</a:t>
            </a:r>
            <a:r>
              <a:rPr lang="en-US" sz="2800" smtClean="0">
                <a:solidFill>
                  <a:srgbClr val="000000"/>
                </a:solidFill>
                <a:cs typeface="Times New Roman" pitchFamily="18" charset="0"/>
              </a:rPr>
              <a:t>/514.15 = </a:t>
            </a:r>
            <a:r>
              <a:rPr lang="en-US" sz="2800" b="1" smtClean="0">
                <a:solidFill>
                  <a:srgbClr val="000000"/>
                </a:solidFill>
                <a:cs typeface="Times New Roman" pitchFamily="18" charset="0"/>
              </a:rPr>
              <a:t>1/3</a:t>
            </a:r>
            <a:r>
              <a:rPr lang="en-US" sz="2800" smtClean="0">
                <a:solidFill>
                  <a:srgbClr val="000000"/>
                </a:solidFill>
                <a:cs typeface="Times New Roman" pitchFamily="18" charset="0"/>
              </a:rPr>
              <a:t> mg BaSO</a:t>
            </a:r>
            <a:r>
              <a:rPr lang="en-US" sz="2800" baseline="-30000" smtClean="0">
                <a:solidFill>
                  <a:srgbClr val="000000"/>
                </a:solidFill>
                <a:cs typeface="Times New Roman" pitchFamily="18" charset="0"/>
              </a:rPr>
              <a:t>4</a:t>
            </a:r>
            <a:r>
              <a:rPr lang="en-US" sz="2800" smtClean="0">
                <a:solidFill>
                  <a:srgbClr val="000000"/>
                </a:solidFill>
                <a:cs typeface="Times New Roman" pitchFamily="18" charset="0"/>
              </a:rPr>
              <a:t>/233.40</a:t>
            </a:r>
          </a:p>
          <a:p>
            <a:pPr marL="609600" indent="-609600" algn="justLow" eaLnBrk="1" hangingPunct="1">
              <a:buFontTx/>
              <a:buNone/>
            </a:pPr>
            <a:endParaRPr lang="en-US" sz="2800" smtClean="0">
              <a:solidFill>
                <a:srgbClr val="000000"/>
              </a:solidFill>
              <a:cs typeface="Times New Roman" pitchFamily="18" charset="0"/>
            </a:endParaRPr>
          </a:p>
          <a:p>
            <a:pPr marL="609600" indent="-609600" algn="justLow" eaLnBrk="1" hangingPunct="1">
              <a:buFont typeface="Wingdings" pitchFamily="2" charset="2"/>
              <a:buChar char="§"/>
            </a:pPr>
            <a:r>
              <a:rPr lang="en-US" sz="2800" smtClean="0">
                <a:solidFill>
                  <a:srgbClr val="000000"/>
                </a:solidFill>
                <a:cs typeface="Times New Roman" pitchFamily="18" charset="0"/>
              </a:rPr>
              <a:t>mg Bi</a:t>
            </a:r>
            <a:r>
              <a:rPr lang="en-US" sz="2800" baseline="-30000" smtClean="0">
                <a:solidFill>
                  <a:srgbClr val="000000"/>
                </a:solidFill>
                <a:cs typeface="Times New Roman" pitchFamily="18" charset="0"/>
              </a:rPr>
              <a:t>2</a:t>
            </a:r>
            <a:r>
              <a:rPr lang="en-US" sz="2800" smtClean="0">
                <a:solidFill>
                  <a:srgbClr val="000000"/>
                </a:solidFill>
                <a:cs typeface="Times New Roman" pitchFamily="18" charset="0"/>
              </a:rPr>
              <a:t>S</a:t>
            </a:r>
            <a:r>
              <a:rPr lang="en-US" sz="2800" baseline="-30000" smtClean="0">
                <a:solidFill>
                  <a:srgbClr val="000000"/>
                </a:solidFill>
                <a:cs typeface="Times New Roman" pitchFamily="18" charset="0"/>
              </a:rPr>
              <a:t>3</a:t>
            </a:r>
            <a:r>
              <a:rPr lang="en-US" sz="2800" smtClean="0">
                <a:solidFill>
                  <a:srgbClr val="000000"/>
                </a:solidFill>
                <a:cs typeface="Times New Roman" pitchFamily="18" charset="0"/>
              </a:rPr>
              <a:t>/ BaSO</a:t>
            </a:r>
            <a:r>
              <a:rPr lang="en-US" sz="2800" baseline="-30000" smtClean="0">
                <a:solidFill>
                  <a:srgbClr val="000000"/>
                </a:solidFill>
                <a:cs typeface="Times New Roman" pitchFamily="18" charset="0"/>
              </a:rPr>
              <a:t>4</a:t>
            </a:r>
            <a:r>
              <a:rPr lang="en-US" sz="2800" smtClean="0">
                <a:solidFill>
                  <a:srgbClr val="000000"/>
                </a:solidFill>
                <a:cs typeface="Times New Roman" pitchFamily="18" charset="0"/>
              </a:rPr>
              <a:t> = </a:t>
            </a:r>
            <a:r>
              <a:rPr lang="en-US" sz="2800" b="1" smtClean="0">
                <a:solidFill>
                  <a:srgbClr val="000000"/>
                </a:solidFill>
                <a:cs typeface="Times New Roman" pitchFamily="18" charset="0"/>
              </a:rPr>
              <a:t>1/3</a:t>
            </a:r>
            <a:r>
              <a:rPr lang="en-US" sz="2800" smtClean="0">
                <a:solidFill>
                  <a:srgbClr val="000000"/>
                </a:solidFill>
                <a:cs typeface="Times New Roman" pitchFamily="18" charset="0"/>
              </a:rPr>
              <a:t> (514.15/ 233.40) =  0.73429</a:t>
            </a:r>
          </a:p>
        </p:txBody>
      </p:sp>
      <p:sp>
        <p:nvSpPr>
          <p:cNvPr id="24580"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19D19BF6-C33C-4BBD-A500-F0CE9E77197E}" type="datetime1">
              <a:rPr lang="en-US" sz="1400" smtClean="0"/>
              <a:pPr eaLnBrk="1" hangingPunct="1"/>
              <a:t>5/6/2021</a:t>
            </a:fld>
            <a:endParaRPr lang="en-US" sz="1400" smtClean="0"/>
          </a:p>
        </p:txBody>
      </p:sp>
      <p:sp>
        <p:nvSpPr>
          <p:cNvPr id="24581"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7721266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box(in)">
                                      <p:cBhvr>
                                        <p:cTn id="7" dur="500"/>
                                        <p:tgtEl>
                                          <p:spTgt spid="440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4035">
                                            <p:txEl>
                                              <p:pRg st="1" end="1"/>
                                            </p:txEl>
                                          </p:spTgt>
                                        </p:tgtEl>
                                        <p:attrNameLst>
                                          <p:attrName>style.visibility</p:attrName>
                                        </p:attrNameLst>
                                      </p:cBhvr>
                                      <p:to>
                                        <p:strVal val="visible"/>
                                      </p:to>
                                    </p:set>
                                    <p:animEffect transition="in" filter="box(in)">
                                      <p:cBhvr>
                                        <p:cTn id="12" dur="500"/>
                                        <p:tgtEl>
                                          <p:spTgt spid="440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4035">
                                            <p:txEl>
                                              <p:pRg st="3" end="3"/>
                                            </p:txEl>
                                          </p:spTgt>
                                        </p:tgtEl>
                                        <p:attrNameLst>
                                          <p:attrName>style.visibility</p:attrName>
                                        </p:attrNameLst>
                                      </p:cBhvr>
                                      <p:to>
                                        <p:strVal val="visible"/>
                                      </p:to>
                                    </p:set>
                                    <p:animEffect transition="in" filter="box(in)">
                                      <p:cBhvr>
                                        <p:cTn id="17" dur="500"/>
                                        <p:tgtEl>
                                          <p:spTgt spid="4403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4035">
                                            <p:txEl>
                                              <p:pRg st="5" end="5"/>
                                            </p:txEl>
                                          </p:spTgt>
                                        </p:tgtEl>
                                        <p:attrNameLst>
                                          <p:attrName>style.visibility</p:attrName>
                                        </p:attrNameLst>
                                      </p:cBhvr>
                                      <p:to>
                                        <p:strVal val="visible"/>
                                      </p:to>
                                    </p:set>
                                    <p:animEffect transition="in" filter="box(in)">
                                      <p:cBhvr>
                                        <p:cTn id="22" dur="500"/>
                                        <p:tgtEl>
                                          <p:spTgt spid="44035">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4035">
                                            <p:txEl>
                                              <p:pRg st="7" end="7"/>
                                            </p:txEl>
                                          </p:spTgt>
                                        </p:tgtEl>
                                        <p:attrNameLst>
                                          <p:attrName>style.visibility</p:attrName>
                                        </p:attrNameLst>
                                      </p:cBhvr>
                                      <p:to>
                                        <p:strVal val="visible"/>
                                      </p:to>
                                    </p:set>
                                    <p:animEffect transition="in" filter="box(in)">
                                      <p:cBhvr>
                                        <p:cTn id="27" dur="500"/>
                                        <p:tgtEl>
                                          <p:spTgt spid="4403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endParaRPr lang="en-US" smtClean="0"/>
          </a:p>
        </p:txBody>
      </p:sp>
      <p:sp>
        <p:nvSpPr>
          <p:cNvPr id="25603" name="Content Placeholder 2"/>
          <p:cNvSpPr>
            <a:spLocks noGrp="1"/>
          </p:cNvSpPr>
          <p:nvPr>
            <p:ph idx="1"/>
          </p:nvPr>
        </p:nvSpPr>
        <p:spPr/>
        <p:txBody>
          <a:bodyPr/>
          <a:lstStyle/>
          <a:p>
            <a:r>
              <a:rPr lang="en-US" smtClean="0"/>
              <a:t>Example:- </a:t>
            </a:r>
            <a:r>
              <a:rPr lang="en-US" b="1" smtClean="0">
                <a:solidFill>
                  <a:srgbClr val="0000FF"/>
                </a:solidFill>
                <a:cs typeface="Times New Roman" pitchFamily="18" charset="0"/>
              </a:rPr>
              <a:t>Phosphate in a 0.2711 g sample was precipitated giving 1.1682 g of (NH</a:t>
            </a:r>
            <a:r>
              <a:rPr lang="en-US" b="1" baseline="-30000" smtClean="0">
                <a:solidFill>
                  <a:srgbClr val="0000FF"/>
                </a:solidFill>
                <a:cs typeface="Times New Roman" pitchFamily="18" charset="0"/>
              </a:rPr>
              <a:t>4</a:t>
            </a:r>
            <a:r>
              <a:rPr lang="en-US" b="1" smtClean="0">
                <a:solidFill>
                  <a:srgbClr val="0000FF"/>
                </a:solidFill>
                <a:cs typeface="Times New Roman" pitchFamily="18" charset="0"/>
              </a:rPr>
              <a:t>)</a:t>
            </a:r>
            <a:r>
              <a:rPr lang="en-US" b="1" baseline="-30000" smtClean="0">
                <a:solidFill>
                  <a:srgbClr val="0000FF"/>
                </a:solidFill>
                <a:cs typeface="Times New Roman" pitchFamily="18" charset="0"/>
              </a:rPr>
              <a:t>2</a:t>
            </a:r>
            <a:r>
              <a:rPr lang="en-US" b="1" smtClean="0">
                <a:solidFill>
                  <a:srgbClr val="0000FF"/>
                </a:solidFill>
                <a:cs typeface="Times New Roman" pitchFamily="18" charset="0"/>
              </a:rPr>
              <a:t>PO</a:t>
            </a:r>
            <a:r>
              <a:rPr lang="en-US" b="1" baseline="-30000" smtClean="0">
                <a:solidFill>
                  <a:srgbClr val="0000FF"/>
                </a:solidFill>
                <a:cs typeface="Times New Roman" pitchFamily="18" charset="0"/>
              </a:rPr>
              <a:t>4</a:t>
            </a:r>
            <a:r>
              <a:rPr lang="en-US" b="1" smtClean="0">
                <a:solidFill>
                  <a:srgbClr val="0000FF"/>
                </a:solidFill>
                <a:cs typeface="Times New Roman" pitchFamily="18" charset="0"/>
              </a:rPr>
              <a:t>.12 MoO</a:t>
            </a:r>
            <a:r>
              <a:rPr lang="en-US" b="1" baseline="-30000" smtClean="0">
                <a:solidFill>
                  <a:srgbClr val="0000FF"/>
                </a:solidFill>
                <a:cs typeface="Times New Roman" pitchFamily="18" charset="0"/>
              </a:rPr>
              <a:t>3</a:t>
            </a:r>
            <a:r>
              <a:rPr lang="en-US" b="1" smtClean="0">
                <a:solidFill>
                  <a:srgbClr val="0000FF"/>
                </a:solidFill>
                <a:cs typeface="Times New Roman" pitchFamily="18" charset="0"/>
              </a:rPr>
              <a:t> (FW = 1876.5). Find percentage P (at wt = 30.97) and percentage P</a:t>
            </a:r>
            <a:r>
              <a:rPr lang="en-US" b="1" baseline="-30000" smtClean="0">
                <a:solidFill>
                  <a:srgbClr val="0000FF"/>
                </a:solidFill>
                <a:cs typeface="Times New Roman" pitchFamily="18" charset="0"/>
              </a:rPr>
              <a:t>2</a:t>
            </a:r>
            <a:r>
              <a:rPr lang="en-US" b="1" smtClean="0">
                <a:solidFill>
                  <a:srgbClr val="0000FF"/>
                </a:solidFill>
                <a:cs typeface="Times New Roman" pitchFamily="18" charset="0"/>
              </a:rPr>
              <a:t>O</a:t>
            </a:r>
            <a:r>
              <a:rPr lang="en-US" b="1" baseline="-30000" smtClean="0">
                <a:solidFill>
                  <a:srgbClr val="0000FF"/>
                </a:solidFill>
                <a:cs typeface="Times New Roman" pitchFamily="18" charset="0"/>
              </a:rPr>
              <a:t>5</a:t>
            </a:r>
            <a:r>
              <a:rPr lang="en-US" b="1" smtClean="0">
                <a:solidFill>
                  <a:srgbClr val="0000FF"/>
                </a:solidFill>
                <a:cs typeface="Times New Roman" pitchFamily="18" charset="0"/>
              </a:rPr>
              <a:t> (FW = 141.95) in the sample. </a:t>
            </a:r>
            <a:endParaRPr lang="en-US" smtClean="0"/>
          </a:p>
        </p:txBody>
      </p:sp>
      <p:sp>
        <p:nvSpPr>
          <p:cNvPr id="25604"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DE65DC63-AF4F-4815-8EBB-F3C1F91D1A58}" type="datetime1">
              <a:rPr lang="en-US" sz="1400" smtClean="0"/>
              <a:pPr eaLnBrk="1" hangingPunct="1"/>
              <a:t>5/6/2021</a:t>
            </a:fld>
            <a:endParaRPr lang="en-US" sz="1400" smtClean="0"/>
          </a:p>
        </p:txBody>
      </p:sp>
      <p:sp>
        <p:nvSpPr>
          <p:cNvPr id="25605"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7E1A6616-3066-44D0-A5DB-037DA2CB9C92}" type="slidenum">
              <a:rPr lang="en-US" sz="1400" smtClean="0"/>
              <a:pPr eaLnBrk="1" hangingPunct="1"/>
              <a:t>22</a:t>
            </a:fld>
            <a:endParaRPr lang="en-US" sz="1400" smtClean="0"/>
          </a:p>
        </p:txBody>
      </p:sp>
      <p:sp>
        <p:nvSpPr>
          <p:cNvPr id="25606"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0125488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2"/>
          <p:cNvSpPr>
            <a:spLocks noGrp="1"/>
          </p:cNvSpPr>
          <p:nvPr>
            <p:ph idx="1"/>
          </p:nvPr>
        </p:nvSpPr>
        <p:spPr>
          <a:xfrm>
            <a:off x="685800" y="457200"/>
            <a:ext cx="7772400" cy="5638800"/>
          </a:xfrm>
        </p:spPr>
        <p:txBody>
          <a:bodyPr/>
          <a:lstStyle/>
          <a:p>
            <a:pPr algn="justLow" eaLnBrk="1" hangingPunct="1">
              <a:buFont typeface="Wingdings" pitchFamily="2" charset="2"/>
              <a:buChar char="§"/>
            </a:pPr>
            <a:r>
              <a:rPr lang="en-US" b="1" smtClean="0">
                <a:solidFill>
                  <a:srgbClr val="000000"/>
                </a:solidFill>
                <a:cs typeface="Times New Roman" pitchFamily="18" charset="0"/>
              </a:rPr>
              <a:t>Answer</a:t>
            </a:r>
            <a:endParaRPr lang="en-US" smtClean="0">
              <a:solidFill>
                <a:srgbClr val="000000"/>
              </a:solidFill>
              <a:cs typeface="Times New Roman" pitchFamily="18" charset="0"/>
            </a:endParaRPr>
          </a:p>
          <a:p>
            <a:pPr algn="justLow" eaLnBrk="1" hangingPunct="1">
              <a:buFontTx/>
              <a:buNone/>
            </a:pPr>
            <a:r>
              <a:rPr lang="en-US" sz="1100" smtClean="0">
                <a:solidFill>
                  <a:srgbClr val="000000"/>
                </a:solidFill>
                <a:cs typeface="Times New Roman" pitchFamily="18" charset="0"/>
              </a:rPr>
              <a:t> </a:t>
            </a:r>
          </a:p>
          <a:p>
            <a:pPr algn="justLow" eaLnBrk="1" hangingPunct="1">
              <a:buFont typeface="Wingdings" pitchFamily="2" charset="2"/>
              <a:buChar char="§"/>
            </a:pPr>
            <a:r>
              <a:rPr lang="en-US" sz="2000" smtClean="0">
                <a:solidFill>
                  <a:srgbClr val="000000"/>
                </a:solidFill>
                <a:cs typeface="Times New Roman" pitchFamily="18" charset="0"/>
              </a:rPr>
              <a:t>First we set the mol relationship between analyte and precipitate</a:t>
            </a:r>
          </a:p>
          <a:p>
            <a:pPr algn="justLow" eaLnBrk="1" hangingPunct="1">
              <a:buFontTx/>
              <a:buNone/>
            </a:pPr>
            <a:r>
              <a:rPr lang="en-US" sz="2000" smtClean="0">
                <a:solidFill>
                  <a:srgbClr val="000000"/>
                </a:solidFill>
                <a:cs typeface="Times New Roman" pitchFamily="18" charset="0"/>
              </a:rPr>
              <a:t> </a:t>
            </a:r>
            <a:endParaRPr lang="en-US" sz="2000" b="1" smtClean="0">
              <a:solidFill>
                <a:srgbClr val="000000"/>
              </a:solidFill>
              <a:cs typeface="Times New Roman" pitchFamily="18" charset="0"/>
            </a:endParaRPr>
          </a:p>
          <a:p>
            <a:pPr algn="ctr" eaLnBrk="1" hangingPunct="1">
              <a:buFont typeface="Wingdings" pitchFamily="2" charset="2"/>
              <a:buChar char="§"/>
            </a:pPr>
            <a:r>
              <a:rPr lang="en-US" sz="2000" b="1" smtClean="0">
                <a:solidFill>
                  <a:srgbClr val="800000"/>
                </a:solidFill>
                <a:cs typeface="Times New Roman" pitchFamily="18" charset="0"/>
              </a:rPr>
              <a:t>P  </a:t>
            </a:r>
            <a:r>
              <a:rPr lang="en-US" sz="2000" b="1" smtClean="0">
                <a:solidFill>
                  <a:srgbClr val="800000"/>
                </a:solidFill>
                <a:latin typeface="Wingdings 3" pitchFamily="18" charset="2"/>
                <a:cs typeface="Times New Roman" pitchFamily="18" charset="0"/>
              </a:rPr>
              <a:t>D</a:t>
            </a:r>
            <a:r>
              <a:rPr lang="en-US" sz="2000" b="1" smtClean="0">
                <a:solidFill>
                  <a:srgbClr val="800000"/>
                </a:solidFill>
                <a:cs typeface="Times New Roman" pitchFamily="18" charset="0"/>
              </a:rPr>
              <a:t>  (NH</a:t>
            </a:r>
            <a:r>
              <a:rPr lang="en-US" sz="2000" b="1" baseline="-30000" smtClean="0">
                <a:solidFill>
                  <a:srgbClr val="800000"/>
                </a:solidFill>
                <a:cs typeface="Times New Roman" pitchFamily="18" charset="0"/>
              </a:rPr>
              <a:t>4</a:t>
            </a:r>
            <a:r>
              <a:rPr lang="en-US" sz="2000" b="1" smtClean="0">
                <a:solidFill>
                  <a:srgbClr val="800000"/>
                </a:solidFill>
                <a:cs typeface="Times New Roman" pitchFamily="18" charset="0"/>
              </a:rPr>
              <a:t>)</a:t>
            </a:r>
            <a:r>
              <a:rPr lang="en-US" sz="2000" b="1" baseline="-30000" smtClean="0">
                <a:solidFill>
                  <a:srgbClr val="800000"/>
                </a:solidFill>
                <a:cs typeface="Times New Roman" pitchFamily="18" charset="0"/>
              </a:rPr>
              <a:t>2</a:t>
            </a:r>
            <a:r>
              <a:rPr lang="en-US" sz="2000" b="1" smtClean="0">
                <a:solidFill>
                  <a:srgbClr val="800000"/>
                </a:solidFill>
                <a:cs typeface="Times New Roman" pitchFamily="18" charset="0"/>
              </a:rPr>
              <a:t>PO</a:t>
            </a:r>
            <a:r>
              <a:rPr lang="en-US" sz="2000" b="1" baseline="-30000" smtClean="0">
                <a:solidFill>
                  <a:srgbClr val="800000"/>
                </a:solidFill>
                <a:cs typeface="Times New Roman" pitchFamily="18" charset="0"/>
              </a:rPr>
              <a:t>4</a:t>
            </a:r>
            <a:r>
              <a:rPr lang="en-US" sz="2000" b="1" smtClean="0">
                <a:solidFill>
                  <a:srgbClr val="800000"/>
                </a:solidFill>
                <a:cs typeface="Times New Roman" pitchFamily="18" charset="0"/>
              </a:rPr>
              <a:t>.12 MoO</a:t>
            </a:r>
            <a:r>
              <a:rPr lang="en-US" sz="2000" b="1" baseline="-30000" smtClean="0">
                <a:solidFill>
                  <a:srgbClr val="800000"/>
                </a:solidFill>
                <a:cs typeface="Times New Roman" pitchFamily="18" charset="0"/>
              </a:rPr>
              <a:t>3</a:t>
            </a:r>
            <a:endParaRPr lang="en-US" sz="2000" smtClean="0">
              <a:solidFill>
                <a:srgbClr val="800000"/>
              </a:solidFill>
              <a:cs typeface="Times New Roman" pitchFamily="18" charset="0"/>
            </a:endParaRPr>
          </a:p>
          <a:p>
            <a:pPr algn="justLow" eaLnBrk="1" hangingPunct="1">
              <a:buFontTx/>
              <a:buNone/>
            </a:pPr>
            <a:r>
              <a:rPr lang="en-US" sz="2000" smtClean="0">
                <a:solidFill>
                  <a:srgbClr val="000000"/>
                </a:solidFill>
                <a:cs typeface="Times New Roman" pitchFamily="18" charset="0"/>
              </a:rPr>
              <a:t> </a:t>
            </a:r>
          </a:p>
          <a:p>
            <a:pPr algn="justLow" eaLnBrk="1" hangingPunct="1">
              <a:buFont typeface="Wingdings" pitchFamily="2" charset="2"/>
              <a:buChar char="§"/>
            </a:pPr>
            <a:r>
              <a:rPr lang="en-US" sz="2000" b="1" smtClean="0">
                <a:solidFill>
                  <a:srgbClr val="000000"/>
                </a:solidFill>
                <a:cs typeface="Times New Roman" pitchFamily="18" charset="0"/>
              </a:rPr>
              <a:t>mmol P = mmol (NH</a:t>
            </a:r>
            <a:r>
              <a:rPr lang="en-US" sz="2000" b="1" baseline="-30000" smtClean="0">
                <a:solidFill>
                  <a:srgbClr val="000000"/>
                </a:solidFill>
                <a:cs typeface="Times New Roman" pitchFamily="18" charset="0"/>
              </a:rPr>
              <a:t>4</a:t>
            </a:r>
            <a:r>
              <a:rPr lang="en-US" sz="2000" b="1" smtClean="0">
                <a:solidFill>
                  <a:srgbClr val="000000"/>
                </a:solidFill>
                <a:cs typeface="Times New Roman" pitchFamily="18" charset="0"/>
              </a:rPr>
              <a:t>)</a:t>
            </a:r>
            <a:r>
              <a:rPr lang="en-US" sz="2000" b="1" baseline="-30000" smtClean="0">
                <a:solidFill>
                  <a:srgbClr val="000000"/>
                </a:solidFill>
                <a:cs typeface="Times New Roman" pitchFamily="18" charset="0"/>
              </a:rPr>
              <a:t>2</a:t>
            </a:r>
            <a:r>
              <a:rPr lang="en-US" sz="2000" b="1" smtClean="0">
                <a:solidFill>
                  <a:srgbClr val="000000"/>
                </a:solidFill>
                <a:cs typeface="Times New Roman" pitchFamily="18" charset="0"/>
              </a:rPr>
              <a:t>PO</a:t>
            </a:r>
            <a:r>
              <a:rPr lang="en-US" sz="2000" b="1" baseline="-30000" smtClean="0">
                <a:solidFill>
                  <a:srgbClr val="000000"/>
                </a:solidFill>
                <a:cs typeface="Times New Roman" pitchFamily="18" charset="0"/>
              </a:rPr>
              <a:t>4</a:t>
            </a:r>
            <a:r>
              <a:rPr lang="en-US" sz="2000" b="1" smtClean="0">
                <a:solidFill>
                  <a:srgbClr val="000000"/>
                </a:solidFill>
                <a:cs typeface="Times New Roman" pitchFamily="18" charset="0"/>
              </a:rPr>
              <a:t>.12 MoO</a:t>
            </a:r>
            <a:r>
              <a:rPr lang="en-US" sz="2000" b="1" baseline="-30000" smtClean="0">
                <a:solidFill>
                  <a:srgbClr val="000000"/>
                </a:solidFill>
                <a:cs typeface="Times New Roman" pitchFamily="18" charset="0"/>
              </a:rPr>
              <a:t>3</a:t>
            </a:r>
            <a:endParaRPr lang="en-US" sz="2000" b="1" smtClean="0">
              <a:solidFill>
                <a:srgbClr val="000000"/>
              </a:solidFill>
              <a:cs typeface="Times New Roman" pitchFamily="18" charset="0"/>
            </a:endParaRPr>
          </a:p>
          <a:p>
            <a:pPr algn="justLow" eaLnBrk="1" hangingPunct="1">
              <a:buFontTx/>
              <a:buNone/>
            </a:pPr>
            <a:r>
              <a:rPr lang="en-US" sz="2000" b="1" smtClean="0">
                <a:solidFill>
                  <a:srgbClr val="000000"/>
                </a:solidFill>
                <a:cs typeface="Times New Roman" pitchFamily="18" charset="0"/>
              </a:rPr>
              <a:t> </a:t>
            </a:r>
          </a:p>
          <a:p>
            <a:pPr algn="justLow" eaLnBrk="1" hangingPunct="1">
              <a:buFont typeface="Wingdings" pitchFamily="2" charset="2"/>
              <a:buChar char="§"/>
            </a:pPr>
            <a:r>
              <a:rPr lang="en-US" sz="2000" b="1" smtClean="0">
                <a:solidFill>
                  <a:srgbClr val="000000"/>
                </a:solidFill>
                <a:cs typeface="Times New Roman" pitchFamily="18" charset="0"/>
              </a:rPr>
              <a:t>mg P/at wt P = mg (NH</a:t>
            </a:r>
            <a:r>
              <a:rPr lang="en-US" sz="2000" b="1" baseline="-30000" smtClean="0">
                <a:solidFill>
                  <a:srgbClr val="000000"/>
                </a:solidFill>
                <a:cs typeface="Times New Roman" pitchFamily="18" charset="0"/>
              </a:rPr>
              <a:t>4</a:t>
            </a:r>
            <a:r>
              <a:rPr lang="en-US" sz="2000" b="1" smtClean="0">
                <a:solidFill>
                  <a:srgbClr val="000000"/>
                </a:solidFill>
                <a:cs typeface="Times New Roman" pitchFamily="18" charset="0"/>
              </a:rPr>
              <a:t>)</a:t>
            </a:r>
            <a:r>
              <a:rPr lang="en-US" sz="2000" b="1" baseline="-30000" smtClean="0">
                <a:solidFill>
                  <a:srgbClr val="000000"/>
                </a:solidFill>
                <a:cs typeface="Times New Roman" pitchFamily="18" charset="0"/>
              </a:rPr>
              <a:t>2</a:t>
            </a:r>
            <a:r>
              <a:rPr lang="en-US" sz="2000" b="1" smtClean="0">
                <a:solidFill>
                  <a:srgbClr val="000000"/>
                </a:solidFill>
                <a:cs typeface="Times New Roman" pitchFamily="18" charset="0"/>
              </a:rPr>
              <a:t>PO</a:t>
            </a:r>
            <a:r>
              <a:rPr lang="en-US" sz="2000" b="1" baseline="-30000" smtClean="0">
                <a:solidFill>
                  <a:srgbClr val="000000"/>
                </a:solidFill>
                <a:cs typeface="Times New Roman" pitchFamily="18" charset="0"/>
              </a:rPr>
              <a:t>4</a:t>
            </a:r>
            <a:r>
              <a:rPr lang="en-US" sz="2000" b="1" smtClean="0">
                <a:solidFill>
                  <a:srgbClr val="000000"/>
                </a:solidFill>
                <a:cs typeface="Times New Roman" pitchFamily="18" charset="0"/>
              </a:rPr>
              <a:t>.12 MoO</a:t>
            </a:r>
            <a:r>
              <a:rPr lang="en-US" sz="2000" b="1" baseline="-30000" smtClean="0">
                <a:solidFill>
                  <a:srgbClr val="000000"/>
                </a:solidFill>
                <a:cs typeface="Times New Roman" pitchFamily="18" charset="0"/>
              </a:rPr>
              <a:t>3</a:t>
            </a:r>
            <a:r>
              <a:rPr lang="en-US" sz="2000" b="1" smtClean="0">
                <a:solidFill>
                  <a:srgbClr val="000000"/>
                </a:solidFill>
                <a:cs typeface="Times New Roman" pitchFamily="18" charset="0"/>
              </a:rPr>
              <a:t>/ FW (NH</a:t>
            </a:r>
            <a:r>
              <a:rPr lang="en-US" sz="2000" b="1" baseline="-30000" smtClean="0">
                <a:solidFill>
                  <a:srgbClr val="000000"/>
                </a:solidFill>
                <a:cs typeface="Times New Roman" pitchFamily="18" charset="0"/>
              </a:rPr>
              <a:t>4</a:t>
            </a:r>
            <a:r>
              <a:rPr lang="en-US" sz="2000" b="1" smtClean="0">
                <a:solidFill>
                  <a:srgbClr val="000000"/>
                </a:solidFill>
                <a:cs typeface="Times New Roman" pitchFamily="18" charset="0"/>
              </a:rPr>
              <a:t>)</a:t>
            </a:r>
            <a:r>
              <a:rPr lang="en-US" sz="2000" b="1" baseline="-30000" smtClean="0">
                <a:solidFill>
                  <a:srgbClr val="000000"/>
                </a:solidFill>
                <a:cs typeface="Times New Roman" pitchFamily="18" charset="0"/>
              </a:rPr>
              <a:t>2</a:t>
            </a:r>
            <a:r>
              <a:rPr lang="en-US" sz="2000" b="1" smtClean="0">
                <a:solidFill>
                  <a:srgbClr val="000000"/>
                </a:solidFill>
                <a:cs typeface="Times New Roman" pitchFamily="18" charset="0"/>
              </a:rPr>
              <a:t>PO</a:t>
            </a:r>
            <a:r>
              <a:rPr lang="en-US" sz="2000" b="1" baseline="-30000" smtClean="0">
                <a:solidFill>
                  <a:srgbClr val="000000"/>
                </a:solidFill>
                <a:cs typeface="Times New Roman" pitchFamily="18" charset="0"/>
              </a:rPr>
              <a:t>4</a:t>
            </a:r>
            <a:r>
              <a:rPr lang="en-US" sz="2000" b="1" smtClean="0">
                <a:solidFill>
                  <a:srgbClr val="000000"/>
                </a:solidFill>
                <a:cs typeface="Times New Roman" pitchFamily="18" charset="0"/>
              </a:rPr>
              <a:t>.12 MoO</a:t>
            </a:r>
            <a:r>
              <a:rPr lang="en-US" sz="2000" b="1" baseline="-30000" smtClean="0">
                <a:solidFill>
                  <a:srgbClr val="000000"/>
                </a:solidFill>
                <a:cs typeface="Times New Roman" pitchFamily="18" charset="0"/>
              </a:rPr>
              <a:t>3</a:t>
            </a:r>
            <a:endParaRPr lang="en-US" sz="2000" b="1" smtClean="0">
              <a:solidFill>
                <a:srgbClr val="000000"/>
              </a:solidFill>
              <a:cs typeface="Times New Roman" pitchFamily="18" charset="0"/>
            </a:endParaRPr>
          </a:p>
          <a:p>
            <a:pPr algn="justLow" eaLnBrk="1" hangingPunct="1">
              <a:buFont typeface="Wingdings" pitchFamily="2" charset="2"/>
              <a:buChar char="§"/>
            </a:pPr>
            <a:r>
              <a:rPr lang="en-US" sz="2000" b="1" smtClean="0">
                <a:solidFill>
                  <a:srgbClr val="000000"/>
                </a:solidFill>
                <a:cs typeface="Times New Roman" pitchFamily="18" charset="0"/>
              </a:rPr>
              <a:t>mg P = at wt P x (mg (NH</a:t>
            </a:r>
            <a:r>
              <a:rPr lang="en-US" sz="2000" b="1" baseline="-30000" smtClean="0">
                <a:solidFill>
                  <a:srgbClr val="000000"/>
                </a:solidFill>
                <a:cs typeface="Times New Roman" pitchFamily="18" charset="0"/>
              </a:rPr>
              <a:t>4</a:t>
            </a:r>
            <a:r>
              <a:rPr lang="en-US" sz="2000" b="1" smtClean="0">
                <a:solidFill>
                  <a:srgbClr val="000000"/>
                </a:solidFill>
                <a:cs typeface="Times New Roman" pitchFamily="18" charset="0"/>
              </a:rPr>
              <a:t>)</a:t>
            </a:r>
            <a:r>
              <a:rPr lang="en-US" sz="2000" b="1" baseline="-30000" smtClean="0">
                <a:solidFill>
                  <a:srgbClr val="000000"/>
                </a:solidFill>
                <a:cs typeface="Times New Roman" pitchFamily="18" charset="0"/>
              </a:rPr>
              <a:t>2</a:t>
            </a:r>
            <a:r>
              <a:rPr lang="en-US" sz="2000" b="1" smtClean="0">
                <a:solidFill>
                  <a:srgbClr val="000000"/>
                </a:solidFill>
                <a:cs typeface="Times New Roman" pitchFamily="18" charset="0"/>
              </a:rPr>
              <a:t>PO</a:t>
            </a:r>
            <a:r>
              <a:rPr lang="en-US" sz="2000" b="1" baseline="-30000" smtClean="0">
                <a:solidFill>
                  <a:srgbClr val="000000"/>
                </a:solidFill>
                <a:cs typeface="Times New Roman" pitchFamily="18" charset="0"/>
              </a:rPr>
              <a:t>4</a:t>
            </a:r>
            <a:r>
              <a:rPr lang="en-US" sz="2000" b="1" smtClean="0">
                <a:solidFill>
                  <a:srgbClr val="000000"/>
                </a:solidFill>
                <a:cs typeface="Times New Roman" pitchFamily="18" charset="0"/>
              </a:rPr>
              <a:t>.12 MoO</a:t>
            </a:r>
            <a:r>
              <a:rPr lang="en-US" sz="2000" b="1" baseline="-30000" smtClean="0">
                <a:solidFill>
                  <a:srgbClr val="000000"/>
                </a:solidFill>
                <a:cs typeface="Times New Roman" pitchFamily="18" charset="0"/>
              </a:rPr>
              <a:t>3</a:t>
            </a:r>
            <a:r>
              <a:rPr lang="en-US" sz="2000" b="1" smtClean="0">
                <a:solidFill>
                  <a:srgbClr val="000000"/>
                </a:solidFill>
                <a:cs typeface="Times New Roman" pitchFamily="18" charset="0"/>
              </a:rPr>
              <a:t>/ FW (NH</a:t>
            </a:r>
            <a:r>
              <a:rPr lang="en-US" sz="2000" b="1" baseline="-30000" smtClean="0">
                <a:solidFill>
                  <a:srgbClr val="000000"/>
                </a:solidFill>
                <a:cs typeface="Times New Roman" pitchFamily="18" charset="0"/>
              </a:rPr>
              <a:t>4</a:t>
            </a:r>
            <a:r>
              <a:rPr lang="en-US" sz="2000" b="1" smtClean="0">
                <a:solidFill>
                  <a:srgbClr val="000000"/>
                </a:solidFill>
                <a:cs typeface="Times New Roman" pitchFamily="18" charset="0"/>
              </a:rPr>
              <a:t>)</a:t>
            </a:r>
            <a:r>
              <a:rPr lang="en-US" sz="2000" b="1" baseline="-30000" smtClean="0">
                <a:solidFill>
                  <a:srgbClr val="000000"/>
                </a:solidFill>
                <a:cs typeface="Times New Roman" pitchFamily="18" charset="0"/>
              </a:rPr>
              <a:t>2</a:t>
            </a:r>
            <a:r>
              <a:rPr lang="en-US" sz="2000" b="1" smtClean="0">
                <a:solidFill>
                  <a:srgbClr val="000000"/>
                </a:solidFill>
                <a:cs typeface="Times New Roman" pitchFamily="18" charset="0"/>
              </a:rPr>
              <a:t>PO</a:t>
            </a:r>
            <a:r>
              <a:rPr lang="en-US" sz="2000" b="1" baseline="-30000" smtClean="0">
                <a:solidFill>
                  <a:srgbClr val="000000"/>
                </a:solidFill>
                <a:cs typeface="Times New Roman" pitchFamily="18" charset="0"/>
              </a:rPr>
              <a:t>4</a:t>
            </a:r>
            <a:r>
              <a:rPr lang="en-US" sz="2000" b="1" smtClean="0">
                <a:solidFill>
                  <a:srgbClr val="000000"/>
                </a:solidFill>
                <a:cs typeface="Times New Roman" pitchFamily="18" charset="0"/>
              </a:rPr>
              <a:t>.12 MoO</a:t>
            </a:r>
            <a:r>
              <a:rPr lang="en-US" sz="2000" b="1" baseline="-30000" smtClean="0">
                <a:solidFill>
                  <a:srgbClr val="000000"/>
                </a:solidFill>
                <a:cs typeface="Times New Roman" pitchFamily="18" charset="0"/>
              </a:rPr>
              <a:t>3</a:t>
            </a:r>
            <a:r>
              <a:rPr lang="en-US" sz="2000" b="1" smtClean="0">
                <a:solidFill>
                  <a:srgbClr val="000000"/>
                </a:solidFill>
                <a:cs typeface="Times New Roman" pitchFamily="18" charset="0"/>
              </a:rPr>
              <a:t>)</a:t>
            </a:r>
          </a:p>
          <a:p>
            <a:pPr algn="justLow" eaLnBrk="1" hangingPunct="1">
              <a:buFontTx/>
              <a:buNone/>
            </a:pPr>
            <a:r>
              <a:rPr lang="en-US" sz="2000" b="1" smtClean="0">
                <a:solidFill>
                  <a:srgbClr val="000000"/>
                </a:solidFill>
                <a:cs typeface="Times New Roman" pitchFamily="18" charset="0"/>
              </a:rPr>
              <a:t> </a:t>
            </a:r>
          </a:p>
          <a:p>
            <a:pPr algn="justLow" eaLnBrk="1" hangingPunct="1">
              <a:buFont typeface="Wingdings" pitchFamily="2" charset="2"/>
              <a:buChar char="§"/>
            </a:pPr>
            <a:r>
              <a:rPr lang="en-US" sz="2000" b="1" smtClean="0">
                <a:solidFill>
                  <a:srgbClr val="000000"/>
                </a:solidFill>
                <a:cs typeface="Times New Roman" pitchFamily="18" charset="0"/>
              </a:rPr>
              <a:t>mg P = 30.97 (1.1682x10</a:t>
            </a:r>
            <a:r>
              <a:rPr lang="en-US" sz="2000" b="1" baseline="30000" smtClean="0">
                <a:solidFill>
                  <a:srgbClr val="000000"/>
                </a:solidFill>
                <a:cs typeface="Times New Roman" pitchFamily="18" charset="0"/>
              </a:rPr>
              <a:t>3</a:t>
            </a:r>
            <a:r>
              <a:rPr lang="en-US" sz="2000" b="1" smtClean="0">
                <a:solidFill>
                  <a:srgbClr val="000000"/>
                </a:solidFill>
                <a:cs typeface="Times New Roman" pitchFamily="18" charset="0"/>
              </a:rPr>
              <a:t> / 1876.5) = 19.280 mg</a:t>
            </a:r>
          </a:p>
          <a:p>
            <a:pPr algn="justLow" eaLnBrk="1" hangingPunct="1">
              <a:buFont typeface="Wingdings" pitchFamily="2" charset="2"/>
              <a:buChar char="§"/>
            </a:pPr>
            <a:r>
              <a:rPr lang="en-US" sz="2000" b="1" smtClean="0">
                <a:solidFill>
                  <a:srgbClr val="000000"/>
                </a:solidFill>
                <a:cs typeface="Times New Roman" pitchFamily="18" charset="0"/>
              </a:rPr>
              <a:t>% P = (19.280/271.1) x 100 = 7.111%</a:t>
            </a:r>
          </a:p>
          <a:p>
            <a:endParaRPr lang="en-US" smtClean="0"/>
          </a:p>
        </p:txBody>
      </p:sp>
      <p:sp>
        <p:nvSpPr>
          <p:cNvPr id="26627"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1F1FEBD-6A88-4D0A-A449-F992EFAF1007}" type="datetime1">
              <a:rPr lang="en-US" sz="1400" smtClean="0"/>
              <a:pPr eaLnBrk="1" hangingPunct="1"/>
              <a:t>5/6/2021</a:t>
            </a:fld>
            <a:endParaRPr lang="en-US" sz="1400" smtClean="0"/>
          </a:p>
        </p:txBody>
      </p:sp>
      <p:sp>
        <p:nvSpPr>
          <p:cNvPr id="26628"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9348C5ED-F29B-4E61-8CB7-A150F766074B}" type="slidenum">
              <a:rPr lang="en-US" sz="1400" smtClean="0"/>
              <a:pPr eaLnBrk="1" hangingPunct="1"/>
              <a:t>23</a:t>
            </a:fld>
            <a:endParaRPr lang="en-US" sz="1400" smtClean="0"/>
          </a:p>
        </p:txBody>
      </p:sp>
      <p:sp>
        <p:nvSpPr>
          <p:cNvPr id="26629"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17512389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306F23C6-0CEE-4476-8A61-5659D4C578FE}" type="slidenum">
              <a:rPr lang="ar-SA" sz="1400" smtClean="0">
                <a:latin typeface="Arial" charset="0"/>
                <a:cs typeface="Arial" charset="0"/>
              </a:rPr>
              <a:pPr eaLnBrk="1" hangingPunct="1"/>
              <a:t>24</a:t>
            </a:fld>
            <a:endParaRPr lang="en-US" sz="1400" smtClean="0">
              <a:latin typeface="Arial" charset="0"/>
              <a:cs typeface="Arial" charset="0"/>
            </a:endParaRPr>
          </a:p>
        </p:txBody>
      </p:sp>
      <p:sp>
        <p:nvSpPr>
          <p:cNvPr id="27651" name="Rectangle 2"/>
          <p:cNvSpPr>
            <a:spLocks noGrp="1" noChangeArrowheads="1"/>
          </p:cNvSpPr>
          <p:nvPr>
            <p:ph type="body" idx="1"/>
          </p:nvPr>
        </p:nvSpPr>
        <p:spPr>
          <a:xfrm>
            <a:off x="457200" y="620713"/>
            <a:ext cx="8229600" cy="5505450"/>
          </a:xfrm>
        </p:spPr>
        <p:txBody>
          <a:bodyPr/>
          <a:lstStyle/>
          <a:p>
            <a:pPr algn="justLow" eaLnBrk="1" hangingPunct="1">
              <a:buFontTx/>
              <a:buNone/>
            </a:pPr>
            <a:r>
              <a:rPr lang="en-US" sz="2400" b="1" smtClean="0">
                <a:solidFill>
                  <a:srgbClr val="000000"/>
                </a:solidFill>
                <a:cs typeface="Times New Roman" pitchFamily="18" charset="0"/>
              </a:rPr>
              <a:t>The same procedure is applied for finding the percentage of P</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5</a:t>
            </a:r>
            <a:endParaRPr lang="en-US" sz="2400" b="1" smtClean="0">
              <a:solidFill>
                <a:srgbClr val="000000"/>
              </a:solidFill>
              <a:cs typeface="Times New Roman" pitchFamily="18" charset="0"/>
            </a:endParaRPr>
          </a:p>
          <a:p>
            <a:pPr algn="justLow" eaLnBrk="1" hangingPunct="1">
              <a:buFontTx/>
              <a:buNone/>
            </a:pPr>
            <a:r>
              <a:rPr lang="en-US" sz="2400" smtClean="0">
                <a:solidFill>
                  <a:srgbClr val="000000"/>
                </a:solidFill>
                <a:cs typeface="Times New Roman" pitchFamily="18" charset="0"/>
              </a:rPr>
              <a:t> </a:t>
            </a:r>
            <a:endParaRPr lang="en-US" sz="2400" b="1" smtClean="0">
              <a:solidFill>
                <a:srgbClr val="000000"/>
              </a:solidFill>
              <a:cs typeface="Times New Roman" pitchFamily="18" charset="0"/>
            </a:endParaRPr>
          </a:p>
          <a:p>
            <a:pPr algn="ctr" eaLnBrk="1" hangingPunct="1">
              <a:buFontTx/>
              <a:buNone/>
            </a:pPr>
            <a:r>
              <a:rPr lang="en-US" sz="2400" b="1" smtClean="0">
                <a:solidFill>
                  <a:srgbClr val="000000"/>
                </a:solidFill>
                <a:cs typeface="Times New Roman" pitchFamily="18" charset="0"/>
              </a:rPr>
              <a:t> </a:t>
            </a:r>
            <a:r>
              <a:rPr lang="en-US" sz="2400" b="1" smtClean="0">
                <a:solidFill>
                  <a:srgbClr val="800000"/>
                </a:solidFill>
                <a:cs typeface="Times New Roman" pitchFamily="18" charset="0"/>
              </a:rPr>
              <a:t>P</a:t>
            </a:r>
            <a:r>
              <a:rPr lang="en-US" sz="2400" b="1" baseline="-30000" smtClean="0">
                <a:solidFill>
                  <a:srgbClr val="800000"/>
                </a:solidFill>
                <a:cs typeface="Times New Roman" pitchFamily="18" charset="0"/>
              </a:rPr>
              <a:t>2</a:t>
            </a:r>
            <a:r>
              <a:rPr lang="en-US" sz="2400" b="1" smtClean="0">
                <a:solidFill>
                  <a:srgbClr val="800000"/>
                </a:solidFill>
                <a:cs typeface="Times New Roman" pitchFamily="18" charset="0"/>
              </a:rPr>
              <a:t>O</a:t>
            </a:r>
            <a:r>
              <a:rPr lang="en-US" sz="2400" b="1" baseline="-30000" smtClean="0">
                <a:solidFill>
                  <a:srgbClr val="800000"/>
                </a:solidFill>
                <a:cs typeface="Times New Roman" pitchFamily="18" charset="0"/>
              </a:rPr>
              <a:t>5</a:t>
            </a:r>
            <a:r>
              <a:rPr lang="en-US" sz="2400" b="1" smtClean="0">
                <a:solidFill>
                  <a:srgbClr val="800000"/>
                </a:solidFill>
                <a:cs typeface="Times New Roman" pitchFamily="18" charset="0"/>
              </a:rPr>
              <a:t> </a:t>
            </a:r>
            <a:r>
              <a:rPr lang="en-US" sz="2400" b="1" smtClean="0">
                <a:solidFill>
                  <a:srgbClr val="800000"/>
                </a:solidFill>
                <a:latin typeface="Wingdings 3" pitchFamily="18" charset="2"/>
                <a:cs typeface="Times New Roman" pitchFamily="18" charset="0"/>
              </a:rPr>
              <a:t>D</a:t>
            </a:r>
            <a:r>
              <a:rPr lang="en-US" sz="2400" b="1" smtClean="0">
                <a:solidFill>
                  <a:srgbClr val="800000"/>
                </a:solidFill>
                <a:cs typeface="Times New Roman" pitchFamily="18" charset="0"/>
              </a:rPr>
              <a:t> 2 (NH</a:t>
            </a:r>
            <a:r>
              <a:rPr lang="en-US" sz="2400" b="1" baseline="-30000" smtClean="0">
                <a:solidFill>
                  <a:srgbClr val="800000"/>
                </a:solidFill>
                <a:cs typeface="Times New Roman" pitchFamily="18" charset="0"/>
              </a:rPr>
              <a:t>4</a:t>
            </a:r>
            <a:r>
              <a:rPr lang="en-US" sz="2400" b="1" smtClean="0">
                <a:solidFill>
                  <a:srgbClr val="800000"/>
                </a:solidFill>
                <a:cs typeface="Times New Roman" pitchFamily="18" charset="0"/>
              </a:rPr>
              <a:t>)</a:t>
            </a:r>
            <a:r>
              <a:rPr lang="en-US" sz="2400" b="1" baseline="-30000" smtClean="0">
                <a:solidFill>
                  <a:srgbClr val="800000"/>
                </a:solidFill>
                <a:cs typeface="Times New Roman" pitchFamily="18" charset="0"/>
              </a:rPr>
              <a:t>2</a:t>
            </a:r>
            <a:r>
              <a:rPr lang="en-US" sz="2400" b="1" smtClean="0">
                <a:solidFill>
                  <a:srgbClr val="800000"/>
                </a:solidFill>
                <a:cs typeface="Times New Roman" pitchFamily="18" charset="0"/>
              </a:rPr>
              <a:t>PO</a:t>
            </a:r>
            <a:r>
              <a:rPr lang="en-US" sz="2400" b="1" baseline="-30000" smtClean="0">
                <a:solidFill>
                  <a:srgbClr val="800000"/>
                </a:solidFill>
                <a:cs typeface="Times New Roman" pitchFamily="18" charset="0"/>
              </a:rPr>
              <a:t>4</a:t>
            </a:r>
            <a:r>
              <a:rPr lang="en-US" sz="2400" b="1" smtClean="0">
                <a:solidFill>
                  <a:srgbClr val="800000"/>
                </a:solidFill>
                <a:cs typeface="Times New Roman" pitchFamily="18" charset="0"/>
              </a:rPr>
              <a:t>.12 MoO</a:t>
            </a:r>
            <a:r>
              <a:rPr lang="en-US" sz="2400" b="1" baseline="-30000" smtClean="0">
                <a:solidFill>
                  <a:srgbClr val="800000"/>
                </a:solidFill>
                <a:cs typeface="Times New Roman" pitchFamily="18" charset="0"/>
              </a:rPr>
              <a:t>3</a:t>
            </a:r>
            <a:endParaRPr lang="en-US" sz="2400" smtClean="0">
              <a:solidFill>
                <a:srgbClr val="800000"/>
              </a:solidFill>
              <a:cs typeface="Times New Roman" pitchFamily="18" charset="0"/>
            </a:endParaRPr>
          </a:p>
          <a:p>
            <a:pPr algn="justLow" eaLnBrk="1" hangingPunct="1">
              <a:buFontTx/>
              <a:buNone/>
            </a:pPr>
            <a:r>
              <a:rPr lang="en-US" sz="2400" b="1" smtClean="0">
                <a:solidFill>
                  <a:srgbClr val="000000"/>
                </a:solidFill>
                <a:cs typeface="Times New Roman" pitchFamily="18" charset="0"/>
              </a:rPr>
              <a:t>mmol P</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5</a:t>
            </a:r>
            <a:r>
              <a:rPr lang="en-US" sz="2400" b="1" smtClean="0">
                <a:solidFill>
                  <a:srgbClr val="000000"/>
                </a:solidFill>
                <a:cs typeface="Times New Roman" pitchFamily="18" charset="0"/>
              </a:rPr>
              <a:t> = 1/2 (NH</a:t>
            </a:r>
            <a:r>
              <a:rPr lang="en-US" sz="2400" b="1" baseline="-30000" smtClean="0">
                <a:solidFill>
                  <a:srgbClr val="000000"/>
                </a:solidFill>
                <a:cs typeface="Times New Roman" pitchFamily="18" charset="0"/>
              </a:rPr>
              <a:t>4</a:t>
            </a:r>
            <a:r>
              <a:rPr lang="en-US" sz="2400" b="1" smtClean="0">
                <a:solidFill>
                  <a:srgbClr val="000000"/>
                </a:solidFill>
                <a:cs typeface="Times New Roman" pitchFamily="18" charset="0"/>
              </a:rPr>
              <a:t>)</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PO</a:t>
            </a:r>
            <a:r>
              <a:rPr lang="en-US" sz="2400" b="1" baseline="-30000" smtClean="0">
                <a:solidFill>
                  <a:srgbClr val="000000"/>
                </a:solidFill>
                <a:cs typeface="Times New Roman" pitchFamily="18" charset="0"/>
              </a:rPr>
              <a:t>4</a:t>
            </a:r>
            <a:r>
              <a:rPr lang="en-US" sz="2400" b="1" smtClean="0">
                <a:solidFill>
                  <a:srgbClr val="000000"/>
                </a:solidFill>
                <a:cs typeface="Times New Roman" pitchFamily="18" charset="0"/>
              </a:rPr>
              <a:t>.12 MoO</a:t>
            </a:r>
            <a:r>
              <a:rPr lang="en-US" sz="2400" b="1" baseline="-30000" smtClean="0">
                <a:solidFill>
                  <a:srgbClr val="000000"/>
                </a:solidFill>
                <a:cs typeface="Times New Roman" pitchFamily="18" charset="0"/>
              </a:rPr>
              <a:t>3</a:t>
            </a:r>
            <a:endParaRPr lang="en-US" sz="2400" b="1" smtClean="0">
              <a:solidFill>
                <a:srgbClr val="000000"/>
              </a:solidFill>
              <a:cs typeface="Times New Roman" pitchFamily="18" charset="0"/>
            </a:endParaRPr>
          </a:p>
          <a:p>
            <a:pPr algn="justLow" eaLnBrk="1" hangingPunct="1">
              <a:buFontTx/>
              <a:buNone/>
            </a:pPr>
            <a:r>
              <a:rPr lang="en-US" sz="2400" b="1" smtClean="0">
                <a:solidFill>
                  <a:srgbClr val="000000"/>
                </a:solidFill>
                <a:cs typeface="Times New Roman" pitchFamily="18" charset="0"/>
              </a:rPr>
              <a:t>mg P</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5</a:t>
            </a:r>
            <a:r>
              <a:rPr lang="en-US" sz="2400" b="1" smtClean="0">
                <a:solidFill>
                  <a:srgbClr val="000000"/>
                </a:solidFill>
                <a:cs typeface="Times New Roman" pitchFamily="18" charset="0"/>
              </a:rPr>
              <a:t>/FW P</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5</a:t>
            </a:r>
            <a:r>
              <a:rPr lang="en-US" sz="2400" b="1" smtClean="0">
                <a:solidFill>
                  <a:srgbClr val="000000"/>
                </a:solidFill>
                <a:cs typeface="Times New Roman" pitchFamily="18" charset="0"/>
              </a:rPr>
              <a:t> = 1/2 (mg (NH</a:t>
            </a:r>
            <a:r>
              <a:rPr lang="en-US" sz="2400" b="1" baseline="-30000" smtClean="0">
                <a:solidFill>
                  <a:srgbClr val="000000"/>
                </a:solidFill>
                <a:cs typeface="Times New Roman" pitchFamily="18" charset="0"/>
              </a:rPr>
              <a:t>4</a:t>
            </a:r>
            <a:r>
              <a:rPr lang="en-US" sz="2400" b="1" smtClean="0">
                <a:solidFill>
                  <a:srgbClr val="000000"/>
                </a:solidFill>
                <a:cs typeface="Times New Roman" pitchFamily="18" charset="0"/>
              </a:rPr>
              <a:t>)</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PO</a:t>
            </a:r>
            <a:r>
              <a:rPr lang="en-US" sz="2400" b="1" baseline="-30000" smtClean="0">
                <a:solidFill>
                  <a:srgbClr val="000000"/>
                </a:solidFill>
                <a:cs typeface="Times New Roman" pitchFamily="18" charset="0"/>
              </a:rPr>
              <a:t>4</a:t>
            </a:r>
            <a:r>
              <a:rPr lang="en-US" sz="2400" b="1" smtClean="0">
                <a:solidFill>
                  <a:srgbClr val="000000"/>
                </a:solidFill>
                <a:cs typeface="Times New Roman" pitchFamily="18" charset="0"/>
              </a:rPr>
              <a:t>.12 MoO</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 FW (NH</a:t>
            </a:r>
            <a:r>
              <a:rPr lang="en-US" sz="2400" b="1" baseline="-30000" smtClean="0">
                <a:solidFill>
                  <a:srgbClr val="000000"/>
                </a:solidFill>
                <a:cs typeface="Times New Roman" pitchFamily="18" charset="0"/>
              </a:rPr>
              <a:t>4</a:t>
            </a:r>
            <a:r>
              <a:rPr lang="en-US" sz="2400" b="1" smtClean="0">
                <a:solidFill>
                  <a:srgbClr val="000000"/>
                </a:solidFill>
                <a:cs typeface="Times New Roman" pitchFamily="18" charset="0"/>
              </a:rPr>
              <a:t>)</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PO</a:t>
            </a:r>
            <a:r>
              <a:rPr lang="en-US" sz="2400" b="1" baseline="-30000" smtClean="0">
                <a:solidFill>
                  <a:srgbClr val="000000"/>
                </a:solidFill>
                <a:cs typeface="Times New Roman" pitchFamily="18" charset="0"/>
              </a:rPr>
              <a:t>4</a:t>
            </a:r>
            <a:r>
              <a:rPr lang="en-US" sz="2400" b="1" smtClean="0">
                <a:solidFill>
                  <a:srgbClr val="000000"/>
                </a:solidFill>
                <a:cs typeface="Times New Roman" pitchFamily="18" charset="0"/>
              </a:rPr>
              <a:t>.12 MoO</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a:t>
            </a:r>
          </a:p>
          <a:p>
            <a:pPr algn="justLow" eaLnBrk="1" hangingPunct="1">
              <a:buFontTx/>
              <a:buNone/>
            </a:pPr>
            <a:r>
              <a:rPr lang="en-US" sz="2400" b="1" smtClean="0">
                <a:solidFill>
                  <a:srgbClr val="000000"/>
                </a:solidFill>
                <a:cs typeface="Times New Roman" pitchFamily="18" charset="0"/>
              </a:rPr>
              <a:t>mg P</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5</a:t>
            </a:r>
            <a:r>
              <a:rPr lang="en-US" sz="2400" b="1" smtClean="0">
                <a:solidFill>
                  <a:srgbClr val="000000"/>
                </a:solidFill>
                <a:cs typeface="Times New Roman" pitchFamily="18" charset="0"/>
              </a:rPr>
              <a:t> = 1/2 x FW P</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5</a:t>
            </a:r>
            <a:r>
              <a:rPr lang="en-US" sz="2400" b="1" smtClean="0">
                <a:solidFill>
                  <a:srgbClr val="000000"/>
                </a:solidFill>
                <a:cs typeface="Times New Roman" pitchFamily="18" charset="0"/>
              </a:rPr>
              <a:t> x (mg (NH</a:t>
            </a:r>
            <a:r>
              <a:rPr lang="en-US" sz="2400" b="1" baseline="-30000" smtClean="0">
                <a:solidFill>
                  <a:srgbClr val="000000"/>
                </a:solidFill>
                <a:cs typeface="Times New Roman" pitchFamily="18" charset="0"/>
              </a:rPr>
              <a:t>4</a:t>
            </a:r>
            <a:r>
              <a:rPr lang="en-US" sz="2400" b="1" smtClean="0">
                <a:solidFill>
                  <a:srgbClr val="000000"/>
                </a:solidFill>
                <a:cs typeface="Times New Roman" pitchFamily="18" charset="0"/>
              </a:rPr>
              <a:t>)</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PO</a:t>
            </a:r>
            <a:r>
              <a:rPr lang="en-US" sz="2400" b="1" baseline="-30000" smtClean="0">
                <a:solidFill>
                  <a:srgbClr val="000000"/>
                </a:solidFill>
                <a:cs typeface="Times New Roman" pitchFamily="18" charset="0"/>
              </a:rPr>
              <a:t>4</a:t>
            </a:r>
            <a:r>
              <a:rPr lang="en-US" sz="2400" b="1" smtClean="0">
                <a:solidFill>
                  <a:srgbClr val="000000"/>
                </a:solidFill>
                <a:cs typeface="Times New Roman" pitchFamily="18" charset="0"/>
              </a:rPr>
              <a:t>.12 MoO</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 FW (NH</a:t>
            </a:r>
            <a:r>
              <a:rPr lang="en-US" sz="2400" b="1" baseline="-30000" smtClean="0">
                <a:solidFill>
                  <a:srgbClr val="000000"/>
                </a:solidFill>
                <a:cs typeface="Times New Roman" pitchFamily="18" charset="0"/>
              </a:rPr>
              <a:t>4</a:t>
            </a:r>
            <a:r>
              <a:rPr lang="en-US" sz="2400" b="1" smtClean="0">
                <a:solidFill>
                  <a:srgbClr val="000000"/>
                </a:solidFill>
                <a:cs typeface="Times New Roman" pitchFamily="18" charset="0"/>
              </a:rPr>
              <a:t>)</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PO</a:t>
            </a:r>
            <a:r>
              <a:rPr lang="en-US" sz="2400" b="1" baseline="-30000" smtClean="0">
                <a:solidFill>
                  <a:srgbClr val="000000"/>
                </a:solidFill>
                <a:cs typeface="Times New Roman" pitchFamily="18" charset="0"/>
              </a:rPr>
              <a:t>4</a:t>
            </a:r>
            <a:r>
              <a:rPr lang="en-US" sz="2400" b="1" smtClean="0">
                <a:solidFill>
                  <a:srgbClr val="000000"/>
                </a:solidFill>
                <a:cs typeface="Times New Roman" pitchFamily="18" charset="0"/>
              </a:rPr>
              <a:t>.12 MoO</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a:t>
            </a:r>
          </a:p>
          <a:p>
            <a:pPr algn="justLow" eaLnBrk="1" hangingPunct="1">
              <a:buFontTx/>
              <a:buNone/>
            </a:pPr>
            <a:r>
              <a:rPr lang="en-US" sz="2400" b="1" smtClean="0">
                <a:solidFill>
                  <a:srgbClr val="000000"/>
                </a:solidFill>
                <a:cs typeface="Times New Roman" pitchFamily="18" charset="0"/>
              </a:rPr>
              <a:t>mg P</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5</a:t>
            </a:r>
            <a:r>
              <a:rPr lang="en-US" sz="2400" b="1" smtClean="0">
                <a:solidFill>
                  <a:srgbClr val="000000"/>
                </a:solidFill>
                <a:cs typeface="Times New Roman" pitchFamily="18" charset="0"/>
              </a:rPr>
              <a:t> = 1/2 x 141.95 (1.1682x10</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/1876.5) = 44.185 mg</a:t>
            </a:r>
          </a:p>
          <a:p>
            <a:pPr algn="justLow" eaLnBrk="1" hangingPunct="1">
              <a:buFontTx/>
              <a:buNone/>
            </a:pPr>
            <a:r>
              <a:rPr lang="en-US" sz="2400" b="1" smtClean="0">
                <a:solidFill>
                  <a:srgbClr val="000000"/>
                </a:solidFill>
                <a:cs typeface="Times New Roman" pitchFamily="18" charset="0"/>
              </a:rPr>
              <a:t>% P</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5</a:t>
            </a:r>
            <a:r>
              <a:rPr lang="en-US" sz="2400" b="1" smtClean="0">
                <a:solidFill>
                  <a:srgbClr val="000000"/>
                </a:solidFill>
                <a:cs typeface="Times New Roman" pitchFamily="18" charset="0"/>
              </a:rPr>
              <a:t> = (44.185/271.1) x 100 = 16.30%</a:t>
            </a:r>
          </a:p>
        </p:txBody>
      </p:sp>
      <p:sp>
        <p:nvSpPr>
          <p:cNvPr id="27652"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15742260-0A8B-4176-A294-FCB0FA87F24B}" type="datetime1">
              <a:rPr lang="en-US" sz="1400" smtClean="0"/>
              <a:pPr eaLnBrk="1" hangingPunct="1"/>
              <a:t>5/6/2021</a:t>
            </a:fld>
            <a:endParaRPr lang="en-US" sz="1400" smtClean="0"/>
          </a:p>
        </p:txBody>
      </p:sp>
      <p:sp>
        <p:nvSpPr>
          <p:cNvPr id="27653"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42001618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CB575C1-E5EF-4770-9C11-89C3394BD088}" type="slidenum">
              <a:rPr lang="ar-SA" sz="1400" smtClean="0">
                <a:latin typeface="Arial" charset="0"/>
                <a:cs typeface="Arial" charset="0"/>
              </a:rPr>
              <a:pPr eaLnBrk="1" hangingPunct="1"/>
              <a:t>25</a:t>
            </a:fld>
            <a:endParaRPr lang="en-US" sz="1400" smtClean="0">
              <a:latin typeface="Arial" charset="0"/>
              <a:cs typeface="Arial" charset="0"/>
            </a:endParaRPr>
          </a:p>
        </p:txBody>
      </p:sp>
      <p:sp>
        <p:nvSpPr>
          <p:cNvPr id="28675" name="Rectangle 2"/>
          <p:cNvSpPr>
            <a:spLocks noGrp="1" noChangeArrowheads="1"/>
          </p:cNvSpPr>
          <p:nvPr>
            <p:ph type="body" idx="1"/>
          </p:nvPr>
        </p:nvSpPr>
        <p:spPr>
          <a:xfrm>
            <a:off x="457200" y="692150"/>
            <a:ext cx="8229600" cy="5434013"/>
          </a:xfrm>
        </p:spPr>
        <p:txBody>
          <a:bodyPr/>
          <a:lstStyle/>
          <a:p>
            <a:pPr algn="justLow" eaLnBrk="1" hangingPunct="1">
              <a:buFontTx/>
              <a:buNone/>
            </a:pPr>
            <a:r>
              <a:rPr lang="en-US" sz="2600" b="1" smtClean="0">
                <a:solidFill>
                  <a:srgbClr val="800000"/>
                </a:solidFill>
                <a:cs typeface="Times New Roman" pitchFamily="18" charset="0"/>
              </a:rPr>
              <a:t>Weight of substance sought = weight of precipitate x GF</a:t>
            </a:r>
          </a:p>
          <a:p>
            <a:pPr algn="justLow" eaLnBrk="1" hangingPunct="1">
              <a:buFontTx/>
              <a:buNone/>
            </a:pPr>
            <a:r>
              <a:rPr lang="en-US" sz="2600" b="1" smtClean="0">
                <a:solidFill>
                  <a:srgbClr val="000000"/>
                </a:solidFill>
                <a:cs typeface="Times New Roman" pitchFamily="18" charset="0"/>
              </a:rPr>
              <a:t> </a:t>
            </a:r>
            <a:endParaRPr lang="en-US" sz="2600" smtClean="0">
              <a:solidFill>
                <a:srgbClr val="000000"/>
              </a:solidFill>
              <a:cs typeface="Times New Roman" pitchFamily="18" charset="0"/>
            </a:endParaRPr>
          </a:p>
          <a:p>
            <a:pPr algn="justLow" eaLnBrk="1" hangingPunct="1">
              <a:buFontTx/>
              <a:buNone/>
            </a:pPr>
            <a:r>
              <a:rPr lang="en-US" sz="2800" smtClean="0">
                <a:solidFill>
                  <a:srgbClr val="000000"/>
                </a:solidFill>
                <a:cs typeface="Times New Roman" pitchFamily="18" charset="0"/>
              </a:rPr>
              <a:t>One can also consider the problem by looking at the number of mmoles of analyte in terms of the mmoles of the precipitate where for the precipitation of Cl</a:t>
            </a:r>
            <a:r>
              <a:rPr lang="en-US" sz="2800" baseline="-30000" smtClean="0">
                <a:solidFill>
                  <a:srgbClr val="000000"/>
                </a:solidFill>
                <a:cs typeface="Times New Roman" pitchFamily="18" charset="0"/>
              </a:rPr>
              <a:t>2</a:t>
            </a:r>
            <a:r>
              <a:rPr lang="en-US" sz="2800" smtClean="0">
                <a:solidFill>
                  <a:srgbClr val="000000"/>
                </a:solidFill>
                <a:cs typeface="Times New Roman" pitchFamily="18" charset="0"/>
              </a:rPr>
              <a:t> as AgCl, we can write</a:t>
            </a:r>
          </a:p>
          <a:p>
            <a:pPr algn="justLow" eaLnBrk="1" hangingPunct="1">
              <a:buFontTx/>
              <a:buNone/>
            </a:pPr>
            <a:r>
              <a:rPr lang="en-US" sz="2800" smtClean="0">
                <a:solidFill>
                  <a:srgbClr val="000000"/>
                </a:solidFill>
                <a:cs typeface="Times New Roman" pitchFamily="18" charset="0"/>
              </a:rPr>
              <a:t> </a:t>
            </a:r>
            <a:endParaRPr lang="en-US" sz="2800" b="1" smtClean="0">
              <a:solidFill>
                <a:srgbClr val="000000"/>
              </a:solidFill>
              <a:cs typeface="Times New Roman" pitchFamily="18" charset="0"/>
            </a:endParaRPr>
          </a:p>
          <a:p>
            <a:pPr algn="ctr" eaLnBrk="1" hangingPunct="1">
              <a:buFontTx/>
              <a:buNone/>
            </a:pPr>
            <a:r>
              <a:rPr lang="en-US" sz="2800" b="1" smtClean="0">
                <a:solidFill>
                  <a:srgbClr val="0000FF"/>
                </a:solidFill>
                <a:cs typeface="Times New Roman" pitchFamily="18" charset="0"/>
              </a:rPr>
              <a:t>Cl</a:t>
            </a:r>
            <a:r>
              <a:rPr lang="en-US" sz="2800" b="1" baseline="-30000" smtClean="0">
                <a:solidFill>
                  <a:srgbClr val="0000FF"/>
                </a:solidFill>
                <a:cs typeface="Times New Roman" pitchFamily="18" charset="0"/>
              </a:rPr>
              <a:t>2</a:t>
            </a:r>
            <a:r>
              <a:rPr lang="en-US" sz="2800" b="1" smtClean="0">
                <a:solidFill>
                  <a:srgbClr val="0000FF"/>
                </a:solidFill>
                <a:cs typeface="Times New Roman" pitchFamily="18" charset="0"/>
              </a:rPr>
              <a:t> </a:t>
            </a:r>
            <a:r>
              <a:rPr lang="en-US" sz="2800" b="1" smtClean="0">
                <a:solidFill>
                  <a:srgbClr val="0000FF"/>
                </a:solidFill>
                <a:latin typeface="Wingdings 3" pitchFamily="18" charset="2"/>
                <a:cs typeface="Times New Roman" pitchFamily="18" charset="0"/>
              </a:rPr>
              <a:t>D</a:t>
            </a:r>
            <a:r>
              <a:rPr lang="en-US" sz="2800" b="1" smtClean="0">
                <a:solidFill>
                  <a:srgbClr val="0000FF"/>
                </a:solidFill>
                <a:cs typeface="Times New Roman" pitchFamily="18" charset="0"/>
              </a:rPr>
              <a:t> 2 AgCl</a:t>
            </a:r>
          </a:p>
          <a:p>
            <a:pPr algn="justLow" eaLnBrk="1" hangingPunct="1">
              <a:buFontTx/>
              <a:buNone/>
            </a:pPr>
            <a:r>
              <a:rPr lang="en-US" sz="2800" b="1" smtClean="0">
                <a:solidFill>
                  <a:srgbClr val="000000"/>
                </a:solidFill>
                <a:cs typeface="Times New Roman" pitchFamily="18" charset="0"/>
              </a:rPr>
              <a:t>mmol Cl</a:t>
            </a:r>
            <a:r>
              <a:rPr lang="en-US" sz="2800" b="1" baseline="-30000" smtClean="0">
                <a:solidFill>
                  <a:srgbClr val="000000"/>
                </a:solidFill>
                <a:cs typeface="Times New Roman" pitchFamily="18" charset="0"/>
              </a:rPr>
              <a:t>2</a:t>
            </a:r>
            <a:r>
              <a:rPr lang="en-US" sz="2800" b="1" smtClean="0">
                <a:solidFill>
                  <a:srgbClr val="000000"/>
                </a:solidFill>
                <a:cs typeface="Times New Roman" pitchFamily="18" charset="0"/>
              </a:rPr>
              <a:t> = 1/2 mmol AgCl</a:t>
            </a:r>
          </a:p>
          <a:p>
            <a:pPr algn="justLow" eaLnBrk="1" hangingPunct="1">
              <a:buFontTx/>
              <a:buNone/>
            </a:pPr>
            <a:r>
              <a:rPr lang="en-US" sz="2800" b="1" smtClean="0">
                <a:solidFill>
                  <a:srgbClr val="000000"/>
                </a:solidFill>
                <a:cs typeface="Times New Roman" pitchFamily="18" charset="0"/>
              </a:rPr>
              <a:t>(mg Cl</a:t>
            </a:r>
            <a:r>
              <a:rPr lang="en-US" sz="2800" b="1" baseline="-30000" smtClean="0">
                <a:solidFill>
                  <a:srgbClr val="000000"/>
                </a:solidFill>
                <a:cs typeface="Times New Roman" pitchFamily="18" charset="0"/>
              </a:rPr>
              <a:t>2</a:t>
            </a:r>
            <a:r>
              <a:rPr lang="en-US" sz="2800" b="1" smtClean="0">
                <a:solidFill>
                  <a:srgbClr val="000000"/>
                </a:solidFill>
                <a:cs typeface="Times New Roman" pitchFamily="18" charset="0"/>
              </a:rPr>
              <a:t>/FW Cl</a:t>
            </a:r>
            <a:r>
              <a:rPr lang="en-US" sz="2800" b="1" baseline="-30000" smtClean="0">
                <a:solidFill>
                  <a:srgbClr val="000000"/>
                </a:solidFill>
                <a:cs typeface="Times New Roman" pitchFamily="18" charset="0"/>
              </a:rPr>
              <a:t>2</a:t>
            </a:r>
            <a:r>
              <a:rPr lang="en-US" sz="2800" b="1" smtClean="0">
                <a:solidFill>
                  <a:srgbClr val="000000"/>
                </a:solidFill>
                <a:cs typeface="Times New Roman" pitchFamily="18" charset="0"/>
              </a:rPr>
              <a:t>) = 1/2 (mg AgCl/FW AgCl)</a:t>
            </a:r>
          </a:p>
        </p:txBody>
      </p:sp>
      <p:sp>
        <p:nvSpPr>
          <p:cNvPr id="28676"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23F11F15-1667-47E5-B36F-D3C76FBEAAB9}" type="datetime1">
              <a:rPr lang="en-US" sz="1400" smtClean="0"/>
              <a:pPr eaLnBrk="1" hangingPunct="1"/>
              <a:t>5/6/2021</a:t>
            </a:fld>
            <a:endParaRPr lang="en-US" sz="1400" smtClean="0"/>
          </a:p>
        </p:txBody>
      </p:sp>
      <p:sp>
        <p:nvSpPr>
          <p:cNvPr id="28677"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1949584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244E9B46-D79D-4B56-A380-4A63C1863234}" type="slidenum">
              <a:rPr lang="ar-SA" sz="1400" smtClean="0">
                <a:latin typeface="Arial" charset="0"/>
                <a:cs typeface="Arial" charset="0"/>
              </a:rPr>
              <a:pPr eaLnBrk="1" hangingPunct="1"/>
              <a:t>26</a:t>
            </a:fld>
            <a:endParaRPr lang="en-US" sz="1400" smtClean="0">
              <a:latin typeface="Arial" charset="0"/>
              <a:cs typeface="Arial" charset="0"/>
            </a:endParaRPr>
          </a:p>
        </p:txBody>
      </p:sp>
      <p:sp>
        <p:nvSpPr>
          <p:cNvPr id="29699" name="Rectangle 2"/>
          <p:cNvSpPr>
            <a:spLocks noGrp="1" noChangeArrowheads="1"/>
          </p:cNvSpPr>
          <p:nvPr>
            <p:ph type="body" idx="1"/>
          </p:nvPr>
        </p:nvSpPr>
        <p:spPr>
          <a:xfrm>
            <a:off x="457200" y="549275"/>
            <a:ext cx="8229600" cy="5576888"/>
          </a:xfrm>
        </p:spPr>
        <p:txBody>
          <a:bodyPr/>
          <a:lstStyle/>
          <a:p>
            <a:pPr algn="justLow" eaLnBrk="1" hangingPunct="1">
              <a:buFontTx/>
              <a:buNone/>
            </a:pPr>
            <a:r>
              <a:rPr lang="en-US" sz="2400" b="1" smtClean="0">
                <a:solidFill>
                  <a:srgbClr val="0000FF"/>
                </a:solidFill>
                <a:cs typeface="Times New Roman" pitchFamily="18" charset="0"/>
              </a:rPr>
              <a:t>Manganese in a 1.52 g sample was precipitated as Mn</a:t>
            </a:r>
            <a:r>
              <a:rPr lang="en-US" sz="2400" b="1" baseline="-30000" smtClean="0">
                <a:solidFill>
                  <a:srgbClr val="0000FF"/>
                </a:solidFill>
                <a:cs typeface="Times New Roman" pitchFamily="18" charset="0"/>
              </a:rPr>
              <a:t>3</a:t>
            </a:r>
            <a:r>
              <a:rPr lang="en-US" sz="2400" b="1" smtClean="0">
                <a:solidFill>
                  <a:srgbClr val="0000FF"/>
                </a:solidFill>
                <a:cs typeface="Times New Roman" pitchFamily="18" charset="0"/>
              </a:rPr>
              <a:t>O</a:t>
            </a:r>
            <a:r>
              <a:rPr lang="en-US" sz="2400" b="1" baseline="-30000" smtClean="0">
                <a:solidFill>
                  <a:srgbClr val="0000FF"/>
                </a:solidFill>
                <a:cs typeface="Times New Roman" pitchFamily="18" charset="0"/>
              </a:rPr>
              <a:t>4</a:t>
            </a:r>
            <a:r>
              <a:rPr lang="en-US" sz="2400" b="1" smtClean="0">
                <a:solidFill>
                  <a:srgbClr val="0000FF"/>
                </a:solidFill>
                <a:cs typeface="Times New Roman" pitchFamily="18" charset="0"/>
              </a:rPr>
              <a:t> (FW = 228.8) weighing 0.126 g. Find percentage Mn</a:t>
            </a:r>
            <a:r>
              <a:rPr lang="en-US" sz="2400" b="1" baseline="-30000" smtClean="0">
                <a:solidFill>
                  <a:srgbClr val="0000FF"/>
                </a:solidFill>
                <a:cs typeface="Times New Roman" pitchFamily="18" charset="0"/>
              </a:rPr>
              <a:t>2</a:t>
            </a:r>
            <a:r>
              <a:rPr lang="en-US" sz="2400" b="1" smtClean="0">
                <a:solidFill>
                  <a:srgbClr val="0000FF"/>
                </a:solidFill>
                <a:cs typeface="Times New Roman" pitchFamily="18" charset="0"/>
              </a:rPr>
              <a:t>O</a:t>
            </a:r>
            <a:r>
              <a:rPr lang="en-US" sz="2400" b="1" baseline="-30000" smtClean="0">
                <a:solidFill>
                  <a:srgbClr val="0000FF"/>
                </a:solidFill>
                <a:cs typeface="Times New Roman" pitchFamily="18" charset="0"/>
              </a:rPr>
              <a:t>3</a:t>
            </a:r>
            <a:r>
              <a:rPr lang="en-US" sz="2400" b="1" smtClean="0">
                <a:solidFill>
                  <a:srgbClr val="0000FF"/>
                </a:solidFill>
                <a:cs typeface="Times New Roman" pitchFamily="18" charset="0"/>
              </a:rPr>
              <a:t> (FW = 157.9) and Mn (at wt = 54.94) in the sample.</a:t>
            </a:r>
          </a:p>
          <a:p>
            <a:pPr algn="justLow" eaLnBrk="1" hangingPunct="1">
              <a:buFontTx/>
              <a:buNone/>
            </a:pPr>
            <a:r>
              <a:rPr lang="en-US" sz="1000" smtClean="0">
                <a:solidFill>
                  <a:srgbClr val="000000"/>
                </a:solidFill>
                <a:cs typeface="Times New Roman" pitchFamily="18" charset="0"/>
              </a:rPr>
              <a:t> </a:t>
            </a:r>
            <a:endParaRPr lang="en-US" sz="1000" b="1" smtClean="0">
              <a:solidFill>
                <a:srgbClr val="000000"/>
              </a:solidFill>
              <a:cs typeface="Times New Roman" pitchFamily="18" charset="0"/>
            </a:endParaRPr>
          </a:p>
          <a:p>
            <a:pPr algn="justLow" eaLnBrk="1" hangingPunct="1">
              <a:buFontTx/>
              <a:buNone/>
            </a:pPr>
            <a:r>
              <a:rPr lang="en-US" sz="2400" b="1" smtClean="0">
                <a:solidFill>
                  <a:srgbClr val="000000"/>
                </a:solidFill>
                <a:cs typeface="Times New Roman" pitchFamily="18" charset="0"/>
              </a:rPr>
              <a:t>Solution</a:t>
            </a:r>
            <a:endParaRPr lang="en-US" sz="2400" smtClean="0">
              <a:solidFill>
                <a:srgbClr val="000000"/>
              </a:solidFill>
              <a:cs typeface="Times New Roman" pitchFamily="18" charset="0"/>
            </a:endParaRPr>
          </a:p>
          <a:p>
            <a:pPr algn="justLow" eaLnBrk="1" hangingPunct="1">
              <a:buFontTx/>
              <a:buNone/>
            </a:pPr>
            <a:r>
              <a:rPr lang="en-US" sz="1000" smtClean="0">
                <a:solidFill>
                  <a:srgbClr val="000000"/>
                </a:solidFill>
                <a:cs typeface="Times New Roman" pitchFamily="18" charset="0"/>
              </a:rPr>
              <a:t> </a:t>
            </a:r>
            <a:endParaRPr lang="en-US" sz="1000" b="1" smtClean="0">
              <a:solidFill>
                <a:srgbClr val="000000"/>
              </a:solidFill>
              <a:cs typeface="Times New Roman" pitchFamily="18" charset="0"/>
            </a:endParaRPr>
          </a:p>
          <a:p>
            <a:pPr algn="ctr" eaLnBrk="1" hangingPunct="1">
              <a:buFontTx/>
              <a:buNone/>
            </a:pPr>
            <a:r>
              <a:rPr lang="en-US" sz="2400" b="1" smtClean="0">
                <a:solidFill>
                  <a:srgbClr val="800000"/>
                </a:solidFill>
                <a:cs typeface="Times New Roman" pitchFamily="18" charset="0"/>
              </a:rPr>
              <a:t>3 Mn</a:t>
            </a:r>
            <a:r>
              <a:rPr lang="en-US" sz="2400" b="1" baseline="-30000" smtClean="0">
                <a:solidFill>
                  <a:srgbClr val="800000"/>
                </a:solidFill>
                <a:cs typeface="Times New Roman" pitchFamily="18" charset="0"/>
              </a:rPr>
              <a:t>2</a:t>
            </a:r>
            <a:r>
              <a:rPr lang="en-US" sz="2400" b="1" smtClean="0">
                <a:solidFill>
                  <a:srgbClr val="800000"/>
                </a:solidFill>
                <a:cs typeface="Times New Roman" pitchFamily="18" charset="0"/>
              </a:rPr>
              <a:t>O</a:t>
            </a:r>
            <a:r>
              <a:rPr lang="en-US" sz="2400" b="1" baseline="-30000" smtClean="0">
                <a:solidFill>
                  <a:srgbClr val="800000"/>
                </a:solidFill>
                <a:cs typeface="Times New Roman" pitchFamily="18" charset="0"/>
              </a:rPr>
              <a:t>3</a:t>
            </a:r>
            <a:r>
              <a:rPr lang="en-US" sz="2400" b="1" smtClean="0">
                <a:solidFill>
                  <a:srgbClr val="800000"/>
                </a:solidFill>
                <a:cs typeface="Times New Roman" pitchFamily="18" charset="0"/>
              </a:rPr>
              <a:t> </a:t>
            </a:r>
            <a:r>
              <a:rPr lang="en-US" sz="2400" b="1" smtClean="0">
                <a:solidFill>
                  <a:srgbClr val="800000"/>
                </a:solidFill>
                <a:latin typeface="Wingdings 3" pitchFamily="18" charset="2"/>
                <a:cs typeface="Times New Roman" pitchFamily="18" charset="0"/>
              </a:rPr>
              <a:t>D</a:t>
            </a:r>
            <a:r>
              <a:rPr lang="en-US" sz="2400" b="1" smtClean="0">
                <a:solidFill>
                  <a:srgbClr val="800000"/>
                </a:solidFill>
                <a:cs typeface="Times New Roman" pitchFamily="18" charset="0"/>
              </a:rPr>
              <a:t> 2 Mn</a:t>
            </a:r>
            <a:r>
              <a:rPr lang="en-US" sz="2400" b="1" baseline="-30000" smtClean="0">
                <a:solidFill>
                  <a:srgbClr val="800000"/>
                </a:solidFill>
                <a:cs typeface="Times New Roman" pitchFamily="18" charset="0"/>
              </a:rPr>
              <a:t>3</a:t>
            </a:r>
            <a:r>
              <a:rPr lang="en-US" sz="2400" b="1" smtClean="0">
                <a:solidFill>
                  <a:srgbClr val="800000"/>
                </a:solidFill>
                <a:cs typeface="Times New Roman" pitchFamily="18" charset="0"/>
              </a:rPr>
              <a:t>O</a:t>
            </a:r>
            <a:r>
              <a:rPr lang="en-US" sz="2400" b="1" baseline="-30000" smtClean="0">
                <a:solidFill>
                  <a:srgbClr val="800000"/>
                </a:solidFill>
                <a:cs typeface="Times New Roman" pitchFamily="18" charset="0"/>
              </a:rPr>
              <a:t>4</a:t>
            </a:r>
            <a:endParaRPr lang="en-US" sz="2400" b="1" smtClean="0">
              <a:solidFill>
                <a:srgbClr val="800000"/>
              </a:solidFill>
              <a:cs typeface="Times New Roman" pitchFamily="18" charset="0"/>
            </a:endParaRPr>
          </a:p>
          <a:p>
            <a:pPr algn="justLow" eaLnBrk="1" hangingPunct="1">
              <a:buFontTx/>
              <a:buNone/>
            </a:pPr>
            <a:r>
              <a:rPr lang="en-US" sz="2400" b="1" smtClean="0">
                <a:solidFill>
                  <a:srgbClr val="000000"/>
                </a:solidFill>
                <a:cs typeface="Times New Roman" pitchFamily="18" charset="0"/>
              </a:rPr>
              <a:t>mmol Mn</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 = 3/2 mmol Mn</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4</a:t>
            </a:r>
            <a:endParaRPr lang="en-US" sz="2400" b="1" smtClean="0">
              <a:solidFill>
                <a:srgbClr val="000000"/>
              </a:solidFill>
              <a:cs typeface="Times New Roman" pitchFamily="18" charset="0"/>
            </a:endParaRPr>
          </a:p>
          <a:p>
            <a:pPr algn="justLow" eaLnBrk="1" hangingPunct="1">
              <a:buFontTx/>
              <a:buNone/>
            </a:pPr>
            <a:r>
              <a:rPr lang="en-US" sz="2400" b="1" smtClean="0">
                <a:solidFill>
                  <a:srgbClr val="000000"/>
                </a:solidFill>
                <a:cs typeface="Times New Roman" pitchFamily="18" charset="0"/>
              </a:rPr>
              <a:t>mg Mn</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 / FW Mn</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 = 3/2 (mg Mn</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4</a:t>
            </a:r>
            <a:r>
              <a:rPr lang="en-US" sz="2400" b="1" smtClean="0">
                <a:solidFill>
                  <a:srgbClr val="000000"/>
                </a:solidFill>
                <a:cs typeface="Times New Roman" pitchFamily="18" charset="0"/>
              </a:rPr>
              <a:t>/FW Mn</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4</a:t>
            </a:r>
            <a:r>
              <a:rPr lang="en-US" sz="2400" b="1" smtClean="0">
                <a:solidFill>
                  <a:srgbClr val="000000"/>
                </a:solidFill>
                <a:cs typeface="Times New Roman" pitchFamily="18" charset="0"/>
              </a:rPr>
              <a:t>)</a:t>
            </a:r>
          </a:p>
          <a:p>
            <a:pPr algn="justLow" eaLnBrk="1" hangingPunct="1">
              <a:buFontTx/>
              <a:buNone/>
            </a:pPr>
            <a:r>
              <a:rPr lang="en-US" sz="2400" b="1" smtClean="0">
                <a:solidFill>
                  <a:srgbClr val="000000"/>
                </a:solidFill>
                <a:cs typeface="Times New Roman" pitchFamily="18" charset="0"/>
              </a:rPr>
              <a:t>mg Mn</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 = 3/2 FW Mn</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 (mg Mn</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4</a:t>
            </a:r>
            <a:r>
              <a:rPr lang="en-US" sz="2400" b="1" smtClean="0">
                <a:solidFill>
                  <a:srgbClr val="000000"/>
                </a:solidFill>
                <a:cs typeface="Times New Roman" pitchFamily="18" charset="0"/>
              </a:rPr>
              <a:t>/FW Mn</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4</a:t>
            </a:r>
            <a:r>
              <a:rPr lang="en-US" sz="2400" b="1" smtClean="0">
                <a:solidFill>
                  <a:srgbClr val="000000"/>
                </a:solidFill>
                <a:cs typeface="Times New Roman" pitchFamily="18" charset="0"/>
              </a:rPr>
              <a:t>)</a:t>
            </a:r>
            <a:endParaRPr lang="en-US" sz="2400" smtClean="0">
              <a:solidFill>
                <a:srgbClr val="000000"/>
              </a:solidFill>
              <a:cs typeface="Times New Roman" pitchFamily="18" charset="0"/>
            </a:endParaRPr>
          </a:p>
          <a:p>
            <a:pPr algn="justLow" eaLnBrk="1" hangingPunct="1">
              <a:buFontTx/>
              <a:buNone/>
            </a:pPr>
            <a:r>
              <a:rPr lang="en-US" sz="2400" b="1" smtClean="0">
                <a:solidFill>
                  <a:srgbClr val="000000"/>
                </a:solidFill>
                <a:cs typeface="Times New Roman" pitchFamily="18" charset="0"/>
              </a:rPr>
              <a:t>mg Mn</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 = 3/2 x 157.9 ( 126/228.8) = 130 mg</a:t>
            </a:r>
          </a:p>
          <a:p>
            <a:pPr algn="justLow" eaLnBrk="1" hangingPunct="1">
              <a:buFontTx/>
              <a:buNone/>
            </a:pPr>
            <a:r>
              <a:rPr lang="en-US" sz="1000" b="1" smtClean="0">
                <a:solidFill>
                  <a:srgbClr val="000000"/>
                </a:solidFill>
                <a:cs typeface="Times New Roman" pitchFamily="18" charset="0"/>
              </a:rPr>
              <a:t> </a:t>
            </a:r>
          </a:p>
          <a:p>
            <a:pPr algn="justLow" eaLnBrk="1" hangingPunct="1">
              <a:buFontTx/>
              <a:buNone/>
            </a:pPr>
            <a:r>
              <a:rPr lang="en-US" sz="2400" b="1" smtClean="0">
                <a:solidFill>
                  <a:srgbClr val="000000"/>
                </a:solidFill>
                <a:cs typeface="Times New Roman" pitchFamily="18" charset="0"/>
              </a:rPr>
              <a:t>% Mn</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 = (130/1520) x 100 = 8.58%</a:t>
            </a:r>
          </a:p>
        </p:txBody>
      </p:sp>
      <p:sp>
        <p:nvSpPr>
          <p:cNvPr id="29700"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50E6CEB9-2BC4-484A-A3A3-5DE247B322EF}" type="datetime1">
              <a:rPr lang="en-US" sz="1400" smtClean="0"/>
              <a:pPr eaLnBrk="1" hangingPunct="1"/>
              <a:t>5/6/2021</a:t>
            </a:fld>
            <a:endParaRPr lang="en-US" sz="1400" smtClean="0"/>
          </a:p>
        </p:txBody>
      </p:sp>
      <p:sp>
        <p:nvSpPr>
          <p:cNvPr id="29701"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410379987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FFFE910F-8D24-4F8C-87CC-0C2B8EBCB1F8}" type="slidenum">
              <a:rPr lang="ar-SA" sz="1400" smtClean="0">
                <a:latin typeface="Arial" charset="0"/>
                <a:cs typeface="Arial" charset="0"/>
              </a:rPr>
              <a:pPr eaLnBrk="1" hangingPunct="1"/>
              <a:t>27</a:t>
            </a:fld>
            <a:endParaRPr lang="en-US" sz="1400" smtClean="0">
              <a:latin typeface="Arial" charset="0"/>
              <a:cs typeface="Arial" charset="0"/>
            </a:endParaRPr>
          </a:p>
        </p:txBody>
      </p:sp>
      <p:sp>
        <p:nvSpPr>
          <p:cNvPr id="30723" name="Rectangle 2"/>
          <p:cNvSpPr>
            <a:spLocks noGrp="1" noChangeArrowheads="1"/>
          </p:cNvSpPr>
          <p:nvPr>
            <p:ph type="body" idx="1"/>
          </p:nvPr>
        </p:nvSpPr>
        <p:spPr>
          <a:xfrm>
            <a:off x="457200" y="692150"/>
            <a:ext cx="8229600" cy="5434013"/>
          </a:xfrm>
        </p:spPr>
        <p:txBody>
          <a:bodyPr/>
          <a:lstStyle/>
          <a:p>
            <a:pPr algn="justLow" eaLnBrk="1" hangingPunct="1">
              <a:buFontTx/>
              <a:buNone/>
            </a:pPr>
            <a:r>
              <a:rPr lang="en-US" sz="2400" b="1" smtClean="0">
                <a:solidFill>
                  <a:srgbClr val="000000"/>
                </a:solidFill>
                <a:cs typeface="Times New Roman" pitchFamily="18" charset="0"/>
              </a:rPr>
              <a:t>The same idea is applied for the determination of Mn in the sample</a:t>
            </a:r>
          </a:p>
          <a:p>
            <a:pPr algn="ctr" eaLnBrk="1" hangingPunct="1">
              <a:buFontTx/>
              <a:buNone/>
            </a:pPr>
            <a:r>
              <a:rPr lang="en-US" sz="2400" b="1" smtClean="0">
                <a:solidFill>
                  <a:srgbClr val="800000"/>
                </a:solidFill>
                <a:cs typeface="Times New Roman" pitchFamily="18" charset="0"/>
              </a:rPr>
              <a:t>3 Mn </a:t>
            </a:r>
            <a:r>
              <a:rPr lang="en-US" sz="2400" b="1" smtClean="0">
                <a:solidFill>
                  <a:srgbClr val="800000"/>
                </a:solidFill>
                <a:latin typeface="Wingdings 3" pitchFamily="18" charset="2"/>
                <a:cs typeface="Times New Roman" pitchFamily="18" charset="0"/>
              </a:rPr>
              <a:t>D</a:t>
            </a:r>
            <a:r>
              <a:rPr lang="en-US" sz="2400" b="1" smtClean="0">
                <a:solidFill>
                  <a:srgbClr val="800000"/>
                </a:solidFill>
                <a:cs typeface="Times New Roman" pitchFamily="18" charset="0"/>
              </a:rPr>
              <a:t> Mn</a:t>
            </a:r>
            <a:r>
              <a:rPr lang="en-US" sz="2400" b="1" baseline="-30000" smtClean="0">
                <a:solidFill>
                  <a:srgbClr val="800000"/>
                </a:solidFill>
                <a:cs typeface="Times New Roman" pitchFamily="18" charset="0"/>
              </a:rPr>
              <a:t>3</a:t>
            </a:r>
            <a:r>
              <a:rPr lang="en-US" sz="2400" b="1" smtClean="0">
                <a:solidFill>
                  <a:srgbClr val="800000"/>
                </a:solidFill>
                <a:cs typeface="Times New Roman" pitchFamily="18" charset="0"/>
              </a:rPr>
              <a:t>O</a:t>
            </a:r>
            <a:r>
              <a:rPr lang="en-US" sz="2400" b="1" baseline="-30000" smtClean="0">
                <a:solidFill>
                  <a:srgbClr val="800000"/>
                </a:solidFill>
                <a:cs typeface="Times New Roman" pitchFamily="18" charset="0"/>
              </a:rPr>
              <a:t>4</a:t>
            </a:r>
            <a:endParaRPr lang="en-US" sz="2400" b="1" smtClean="0">
              <a:solidFill>
                <a:srgbClr val="800000"/>
              </a:solidFill>
              <a:cs typeface="Times New Roman" pitchFamily="18" charset="0"/>
            </a:endParaRPr>
          </a:p>
          <a:p>
            <a:pPr algn="justLow" eaLnBrk="1" hangingPunct="1">
              <a:buFontTx/>
              <a:buNone/>
            </a:pPr>
            <a:r>
              <a:rPr lang="en-US" sz="2400" b="1" smtClean="0">
                <a:solidFill>
                  <a:srgbClr val="000000"/>
                </a:solidFill>
                <a:cs typeface="Times New Roman" pitchFamily="18" charset="0"/>
              </a:rPr>
              <a:t>mmol Mn = 3 mmol Mn</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4</a:t>
            </a:r>
            <a:endParaRPr lang="en-US" sz="2400" b="1" smtClean="0">
              <a:solidFill>
                <a:srgbClr val="000000"/>
              </a:solidFill>
              <a:cs typeface="Times New Roman" pitchFamily="18" charset="0"/>
            </a:endParaRPr>
          </a:p>
          <a:p>
            <a:pPr algn="justLow" eaLnBrk="1" hangingPunct="1">
              <a:buFontTx/>
              <a:buNone/>
            </a:pPr>
            <a:r>
              <a:rPr lang="en-US" sz="2400" b="1" smtClean="0">
                <a:solidFill>
                  <a:srgbClr val="000000"/>
                </a:solidFill>
                <a:cs typeface="Times New Roman" pitchFamily="18" charset="0"/>
              </a:rPr>
              <a:t>mg Mn</a:t>
            </a:r>
            <a:r>
              <a:rPr lang="en-US" sz="2400" b="1" baseline="-30000" smtClean="0">
                <a:solidFill>
                  <a:srgbClr val="000000"/>
                </a:solidFill>
                <a:cs typeface="Times New Roman" pitchFamily="18" charset="0"/>
              </a:rPr>
              <a:t> </a:t>
            </a:r>
            <a:r>
              <a:rPr lang="en-US" sz="2400" b="1" smtClean="0">
                <a:solidFill>
                  <a:srgbClr val="000000"/>
                </a:solidFill>
                <a:cs typeface="Times New Roman" pitchFamily="18" charset="0"/>
              </a:rPr>
              <a:t>/ at wt Mn = 3 (mg Mn</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4</a:t>
            </a:r>
            <a:r>
              <a:rPr lang="en-US" sz="2400" b="1" smtClean="0">
                <a:solidFill>
                  <a:srgbClr val="000000"/>
                </a:solidFill>
                <a:cs typeface="Times New Roman" pitchFamily="18" charset="0"/>
              </a:rPr>
              <a:t>/FW Mn</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4</a:t>
            </a:r>
            <a:r>
              <a:rPr lang="en-US" sz="2400" b="1" smtClean="0">
                <a:solidFill>
                  <a:srgbClr val="000000"/>
                </a:solidFill>
                <a:cs typeface="Times New Roman" pitchFamily="18" charset="0"/>
              </a:rPr>
              <a:t>)</a:t>
            </a:r>
          </a:p>
          <a:p>
            <a:pPr algn="justLow" eaLnBrk="1" hangingPunct="1">
              <a:buFontTx/>
              <a:buNone/>
            </a:pPr>
            <a:r>
              <a:rPr lang="en-US" sz="2400" b="1" smtClean="0">
                <a:solidFill>
                  <a:srgbClr val="000000"/>
                </a:solidFill>
                <a:cs typeface="Times New Roman" pitchFamily="18" charset="0"/>
              </a:rPr>
              <a:t>mg Mn = 3 at wt Mn (mg Mn</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4</a:t>
            </a:r>
            <a:r>
              <a:rPr lang="en-US" sz="2400" b="1" smtClean="0">
                <a:solidFill>
                  <a:srgbClr val="000000"/>
                </a:solidFill>
                <a:cs typeface="Times New Roman" pitchFamily="18" charset="0"/>
              </a:rPr>
              <a:t>/FW Mn</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4</a:t>
            </a:r>
            <a:r>
              <a:rPr lang="en-US" sz="2400" b="1" smtClean="0">
                <a:solidFill>
                  <a:srgbClr val="000000"/>
                </a:solidFill>
                <a:cs typeface="Times New Roman" pitchFamily="18" charset="0"/>
              </a:rPr>
              <a:t>)</a:t>
            </a:r>
            <a:endParaRPr lang="en-US" sz="2400" smtClean="0">
              <a:solidFill>
                <a:srgbClr val="000000"/>
              </a:solidFill>
              <a:cs typeface="Times New Roman" pitchFamily="18" charset="0"/>
            </a:endParaRPr>
          </a:p>
          <a:p>
            <a:pPr algn="justLow" eaLnBrk="1" hangingPunct="1">
              <a:buFontTx/>
              <a:buNone/>
            </a:pPr>
            <a:r>
              <a:rPr lang="en-US" sz="2400" b="1" smtClean="0">
                <a:solidFill>
                  <a:srgbClr val="000000"/>
                </a:solidFill>
                <a:cs typeface="Times New Roman" pitchFamily="18" charset="0"/>
              </a:rPr>
              <a:t>mg Mn = 3 x 54.94 ( 126/228.8) = 90.8 mg</a:t>
            </a:r>
          </a:p>
          <a:p>
            <a:pPr algn="justLow" eaLnBrk="1" hangingPunct="1">
              <a:buFontTx/>
              <a:buNone/>
            </a:pPr>
            <a:r>
              <a:rPr lang="en-US" sz="2400" b="1" smtClean="0">
                <a:solidFill>
                  <a:srgbClr val="000000"/>
                </a:solidFill>
                <a:cs typeface="Times New Roman" pitchFamily="18" charset="0"/>
              </a:rPr>
              <a:t> </a:t>
            </a:r>
          </a:p>
          <a:p>
            <a:pPr algn="justLow" eaLnBrk="1" hangingPunct="1">
              <a:buFontTx/>
              <a:buNone/>
            </a:pPr>
            <a:r>
              <a:rPr lang="en-US" sz="2400" b="1" smtClean="0">
                <a:solidFill>
                  <a:srgbClr val="000000"/>
                </a:solidFill>
                <a:cs typeface="Times New Roman" pitchFamily="18" charset="0"/>
              </a:rPr>
              <a:t>% Mn = (90.8/1520) x 100 = 5.97%</a:t>
            </a:r>
          </a:p>
        </p:txBody>
      </p:sp>
      <p:sp>
        <p:nvSpPr>
          <p:cNvPr id="30724"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F6B7A8FE-E0A6-4478-A4E5-1FB5A73EE5FD}" type="datetime1">
              <a:rPr lang="en-US" sz="1400" smtClean="0"/>
              <a:pPr eaLnBrk="1" hangingPunct="1"/>
              <a:t>5/6/2021</a:t>
            </a:fld>
            <a:endParaRPr lang="en-US" sz="1400" smtClean="0"/>
          </a:p>
        </p:txBody>
      </p:sp>
      <p:sp>
        <p:nvSpPr>
          <p:cNvPr id="30725"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34572832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7338AEDD-DDE4-4799-A2EC-D6377F0D6008}" type="slidenum">
              <a:rPr lang="ar-SA" sz="1400" smtClean="0">
                <a:latin typeface="Arial" charset="0"/>
                <a:cs typeface="Arial" charset="0"/>
              </a:rPr>
              <a:pPr eaLnBrk="1" hangingPunct="1"/>
              <a:t>28</a:t>
            </a:fld>
            <a:endParaRPr lang="en-US" sz="1400" smtClean="0">
              <a:latin typeface="Arial" charset="0"/>
              <a:cs typeface="Arial" charset="0"/>
            </a:endParaRPr>
          </a:p>
        </p:txBody>
      </p:sp>
      <p:sp>
        <p:nvSpPr>
          <p:cNvPr id="31747" name="Rectangle 2"/>
          <p:cNvSpPr>
            <a:spLocks noGrp="1" noChangeArrowheads="1"/>
          </p:cNvSpPr>
          <p:nvPr>
            <p:ph type="body" idx="1"/>
          </p:nvPr>
        </p:nvSpPr>
        <p:spPr>
          <a:xfrm>
            <a:off x="457200" y="404813"/>
            <a:ext cx="8229600" cy="5721350"/>
          </a:xfrm>
        </p:spPr>
        <p:txBody>
          <a:bodyPr/>
          <a:lstStyle/>
          <a:p>
            <a:pPr algn="justLow" eaLnBrk="1" hangingPunct="1">
              <a:buFontTx/>
              <a:buNone/>
            </a:pPr>
            <a:r>
              <a:rPr lang="en-US" sz="2000" b="1" smtClean="0">
                <a:solidFill>
                  <a:srgbClr val="0000FF"/>
                </a:solidFill>
                <a:cs typeface="Times New Roman" pitchFamily="18" charset="0"/>
              </a:rPr>
              <a:t>What weight of sulfur (FW = 32.064) ore which should be taken so that the weight of BaSO</a:t>
            </a:r>
            <a:r>
              <a:rPr lang="en-US" sz="2000" b="1" baseline="-30000" smtClean="0">
                <a:solidFill>
                  <a:srgbClr val="0000FF"/>
                </a:solidFill>
                <a:cs typeface="Times New Roman" pitchFamily="18" charset="0"/>
              </a:rPr>
              <a:t>4</a:t>
            </a:r>
            <a:r>
              <a:rPr lang="en-US" sz="2000" b="1" smtClean="0">
                <a:solidFill>
                  <a:srgbClr val="0000FF"/>
                </a:solidFill>
                <a:cs typeface="Times New Roman" pitchFamily="18" charset="0"/>
              </a:rPr>
              <a:t> (FW = 233.40) precipitate will be equal to half of the percentage sulfur in the sample.</a:t>
            </a:r>
          </a:p>
          <a:p>
            <a:pPr algn="justLow" eaLnBrk="1" hangingPunct="1">
              <a:buFontTx/>
              <a:buNone/>
            </a:pPr>
            <a:r>
              <a:rPr lang="en-US" sz="800" smtClean="0">
                <a:solidFill>
                  <a:srgbClr val="000000"/>
                </a:solidFill>
                <a:cs typeface="Times New Roman" pitchFamily="18" charset="0"/>
              </a:rPr>
              <a:t> </a:t>
            </a:r>
            <a:endParaRPr lang="en-US" sz="800" b="1" smtClean="0">
              <a:solidFill>
                <a:srgbClr val="000000"/>
              </a:solidFill>
              <a:cs typeface="Times New Roman" pitchFamily="18" charset="0"/>
            </a:endParaRPr>
          </a:p>
          <a:p>
            <a:pPr algn="justLow" eaLnBrk="1" hangingPunct="1">
              <a:buFontTx/>
              <a:buNone/>
            </a:pPr>
            <a:r>
              <a:rPr lang="en-US" sz="2000" b="1" smtClean="0">
                <a:solidFill>
                  <a:srgbClr val="000000"/>
                </a:solidFill>
                <a:cs typeface="Times New Roman" pitchFamily="18" charset="0"/>
              </a:rPr>
              <a:t>Solution</a:t>
            </a:r>
            <a:endParaRPr lang="en-US" sz="2000" smtClean="0">
              <a:solidFill>
                <a:srgbClr val="000000"/>
              </a:solidFill>
              <a:cs typeface="Times New Roman" pitchFamily="18" charset="0"/>
            </a:endParaRPr>
          </a:p>
          <a:p>
            <a:pPr algn="justLow" eaLnBrk="1" hangingPunct="1">
              <a:buFontTx/>
              <a:buNone/>
            </a:pPr>
            <a:r>
              <a:rPr lang="en-US" sz="800" smtClean="0">
                <a:solidFill>
                  <a:srgbClr val="000000"/>
                </a:solidFill>
                <a:cs typeface="Times New Roman" pitchFamily="18" charset="0"/>
              </a:rPr>
              <a:t> </a:t>
            </a:r>
            <a:endParaRPr lang="en-US" sz="800" b="1" smtClean="0">
              <a:solidFill>
                <a:srgbClr val="000000"/>
              </a:solidFill>
              <a:cs typeface="Times New Roman" pitchFamily="18" charset="0"/>
            </a:endParaRPr>
          </a:p>
          <a:p>
            <a:pPr algn="ctr" eaLnBrk="1" hangingPunct="1">
              <a:buFontTx/>
              <a:buNone/>
            </a:pPr>
            <a:r>
              <a:rPr lang="en-US" sz="2000" b="1" smtClean="0">
                <a:solidFill>
                  <a:srgbClr val="800000"/>
                </a:solidFill>
                <a:cs typeface="Times New Roman" pitchFamily="18" charset="0"/>
              </a:rPr>
              <a:t>S </a:t>
            </a:r>
            <a:r>
              <a:rPr lang="en-US" sz="2000" b="1" smtClean="0">
                <a:solidFill>
                  <a:srgbClr val="800000"/>
                </a:solidFill>
                <a:latin typeface="Wingdings 3" pitchFamily="18" charset="2"/>
                <a:cs typeface="Times New Roman" pitchFamily="18" charset="0"/>
              </a:rPr>
              <a:t>D</a:t>
            </a:r>
            <a:r>
              <a:rPr lang="en-US" sz="2000" b="1" smtClean="0">
                <a:solidFill>
                  <a:srgbClr val="800000"/>
                </a:solidFill>
                <a:cs typeface="Times New Roman" pitchFamily="18" charset="0"/>
              </a:rPr>
              <a:t> BaSO</a:t>
            </a:r>
            <a:r>
              <a:rPr lang="en-US" sz="2000" b="1" baseline="-30000" smtClean="0">
                <a:solidFill>
                  <a:srgbClr val="800000"/>
                </a:solidFill>
                <a:cs typeface="Times New Roman" pitchFamily="18" charset="0"/>
              </a:rPr>
              <a:t>4</a:t>
            </a:r>
            <a:endParaRPr lang="en-US" sz="2000" b="1" smtClean="0">
              <a:solidFill>
                <a:srgbClr val="800000"/>
              </a:solidFill>
              <a:cs typeface="Times New Roman" pitchFamily="18" charset="0"/>
            </a:endParaRPr>
          </a:p>
          <a:p>
            <a:pPr algn="justLow" eaLnBrk="1" hangingPunct="1">
              <a:buFontTx/>
              <a:buNone/>
            </a:pPr>
            <a:r>
              <a:rPr lang="en-US" sz="2000" b="1" smtClean="0">
                <a:solidFill>
                  <a:srgbClr val="000000"/>
                </a:solidFill>
                <a:cs typeface="Times New Roman" pitchFamily="18" charset="0"/>
              </a:rPr>
              <a:t>mmol S = mmol BaSO</a:t>
            </a:r>
            <a:r>
              <a:rPr lang="en-US" sz="2000" b="1" baseline="-30000" smtClean="0">
                <a:solidFill>
                  <a:srgbClr val="000000"/>
                </a:solidFill>
                <a:cs typeface="Times New Roman" pitchFamily="18" charset="0"/>
              </a:rPr>
              <a:t>4</a:t>
            </a:r>
            <a:endParaRPr lang="en-US" sz="2000" b="1" smtClean="0">
              <a:solidFill>
                <a:srgbClr val="000000"/>
              </a:solidFill>
              <a:cs typeface="Times New Roman" pitchFamily="18" charset="0"/>
            </a:endParaRPr>
          </a:p>
          <a:p>
            <a:pPr algn="justLow" eaLnBrk="1" hangingPunct="1">
              <a:buFontTx/>
              <a:buNone/>
            </a:pPr>
            <a:r>
              <a:rPr lang="en-US" sz="2000" b="1" smtClean="0">
                <a:solidFill>
                  <a:srgbClr val="000000"/>
                </a:solidFill>
                <a:cs typeface="Times New Roman" pitchFamily="18" charset="0"/>
              </a:rPr>
              <a:t>mg S/at wt S = mg BaSO</a:t>
            </a:r>
            <a:r>
              <a:rPr lang="en-US" sz="2000" b="1" baseline="-30000" smtClean="0">
                <a:solidFill>
                  <a:srgbClr val="000000"/>
                </a:solidFill>
                <a:cs typeface="Times New Roman" pitchFamily="18" charset="0"/>
              </a:rPr>
              <a:t>4</a:t>
            </a:r>
            <a:r>
              <a:rPr lang="en-US" sz="2000" b="1" smtClean="0">
                <a:solidFill>
                  <a:srgbClr val="000000"/>
                </a:solidFill>
                <a:cs typeface="Times New Roman" pitchFamily="18" charset="0"/>
              </a:rPr>
              <a:t>/FW BaSO</a:t>
            </a:r>
            <a:r>
              <a:rPr lang="en-US" sz="2000" b="1" baseline="-30000" smtClean="0">
                <a:solidFill>
                  <a:srgbClr val="000000"/>
                </a:solidFill>
                <a:cs typeface="Times New Roman" pitchFamily="18" charset="0"/>
              </a:rPr>
              <a:t>4</a:t>
            </a:r>
            <a:endParaRPr lang="en-US" sz="2000" b="1" smtClean="0">
              <a:solidFill>
                <a:srgbClr val="000000"/>
              </a:solidFill>
              <a:cs typeface="Times New Roman" pitchFamily="18" charset="0"/>
            </a:endParaRPr>
          </a:p>
          <a:p>
            <a:pPr algn="justLow" eaLnBrk="1" hangingPunct="1">
              <a:buFontTx/>
              <a:buNone/>
            </a:pPr>
            <a:r>
              <a:rPr lang="en-US" sz="2000" b="1" smtClean="0">
                <a:solidFill>
                  <a:srgbClr val="000000"/>
                </a:solidFill>
                <a:cs typeface="Times New Roman" pitchFamily="18" charset="0"/>
              </a:rPr>
              <a:t>mg S = at wt S x ( mg BaSO</a:t>
            </a:r>
            <a:r>
              <a:rPr lang="en-US" sz="2000" b="1" baseline="-30000" smtClean="0">
                <a:solidFill>
                  <a:srgbClr val="000000"/>
                </a:solidFill>
                <a:cs typeface="Times New Roman" pitchFamily="18" charset="0"/>
              </a:rPr>
              <a:t>4</a:t>
            </a:r>
            <a:r>
              <a:rPr lang="en-US" sz="2000" b="1" smtClean="0">
                <a:solidFill>
                  <a:srgbClr val="000000"/>
                </a:solidFill>
                <a:cs typeface="Times New Roman" pitchFamily="18" charset="0"/>
              </a:rPr>
              <a:t> / FW BaSO</a:t>
            </a:r>
            <a:r>
              <a:rPr lang="en-US" sz="2000" b="1" baseline="-30000" smtClean="0">
                <a:solidFill>
                  <a:srgbClr val="000000"/>
                </a:solidFill>
                <a:cs typeface="Times New Roman" pitchFamily="18" charset="0"/>
              </a:rPr>
              <a:t>4</a:t>
            </a:r>
            <a:r>
              <a:rPr lang="en-US" sz="2000" b="1" smtClean="0">
                <a:solidFill>
                  <a:srgbClr val="000000"/>
                </a:solidFill>
                <a:cs typeface="Times New Roman" pitchFamily="18" charset="0"/>
              </a:rPr>
              <a:t>)</a:t>
            </a:r>
            <a:endParaRPr lang="en-US" sz="2000" smtClean="0">
              <a:solidFill>
                <a:srgbClr val="000000"/>
              </a:solidFill>
              <a:cs typeface="Times New Roman" pitchFamily="18" charset="0"/>
            </a:endParaRPr>
          </a:p>
          <a:p>
            <a:pPr algn="justLow" eaLnBrk="1" hangingPunct="1">
              <a:buFontTx/>
              <a:buNone/>
            </a:pPr>
            <a:r>
              <a:rPr lang="en-US" sz="2000" b="1" smtClean="0">
                <a:solidFill>
                  <a:srgbClr val="000000"/>
                </a:solidFill>
                <a:cs typeface="Times New Roman" pitchFamily="18" charset="0"/>
              </a:rPr>
              <a:t>mg S = 32.064 x (1/2 %S/233.40)</a:t>
            </a:r>
          </a:p>
          <a:p>
            <a:pPr algn="justLow" eaLnBrk="1" hangingPunct="1">
              <a:buFontTx/>
              <a:buNone/>
            </a:pPr>
            <a:r>
              <a:rPr lang="en-US" sz="2000" b="1" smtClean="0">
                <a:solidFill>
                  <a:srgbClr val="000000"/>
                </a:solidFill>
                <a:cs typeface="Times New Roman" pitchFamily="18" charset="0"/>
              </a:rPr>
              <a:t>mg S = 0.068689 %S</a:t>
            </a:r>
          </a:p>
          <a:p>
            <a:pPr algn="justLow" eaLnBrk="1" hangingPunct="1">
              <a:buFontTx/>
              <a:buNone/>
            </a:pPr>
            <a:r>
              <a:rPr lang="en-US" sz="900" b="1" smtClean="0">
                <a:solidFill>
                  <a:srgbClr val="000000"/>
                </a:solidFill>
                <a:cs typeface="Times New Roman" pitchFamily="18" charset="0"/>
              </a:rPr>
              <a:t> </a:t>
            </a:r>
          </a:p>
          <a:p>
            <a:pPr algn="justLow" eaLnBrk="1" hangingPunct="1">
              <a:buFontTx/>
              <a:buNone/>
            </a:pPr>
            <a:r>
              <a:rPr lang="en-US" sz="2000" b="1" smtClean="0">
                <a:solidFill>
                  <a:srgbClr val="000000"/>
                </a:solidFill>
                <a:cs typeface="Times New Roman" pitchFamily="18" charset="0"/>
              </a:rPr>
              <a:t>%S = (mg S/mg sample) x 100</a:t>
            </a:r>
          </a:p>
          <a:p>
            <a:pPr algn="justLow" eaLnBrk="1" hangingPunct="1">
              <a:buFontTx/>
              <a:buNone/>
            </a:pPr>
            <a:r>
              <a:rPr lang="en-US" sz="2000" b="1" smtClean="0">
                <a:solidFill>
                  <a:srgbClr val="000000"/>
                </a:solidFill>
                <a:cs typeface="Times New Roman" pitchFamily="18" charset="0"/>
              </a:rPr>
              <a:t>%S = 0.068689 %S/mg sample) x 100 </a:t>
            </a:r>
          </a:p>
          <a:p>
            <a:pPr algn="justLow" eaLnBrk="1" hangingPunct="1">
              <a:buFontTx/>
              <a:buNone/>
            </a:pPr>
            <a:r>
              <a:rPr lang="en-US" sz="2000" b="1" smtClean="0">
                <a:solidFill>
                  <a:srgbClr val="000000"/>
                </a:solidFill>
                <a:cs typeface="Times New Roman" pitchFamily="18" charset="0"/>
              </a:rPr>
              <a:t>mg sample = 0.068689 %S x 100 /%S = 6.869 mg</a:t>
            </a:r>
          </a:p>
        </p:txBody>
      </p:sp>
      <p:sp>
        <p:nvSpPr>
          <p:cNvPr id="31748"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91750B5C-7F91-4AC5-B8C4-8968C9116E30}" type="datetime1">
              <a:rPr lang="en-US" sz="1400" smtClean="0"/>
              <a:pPr eaLnBrk="1" hangingPunct="1"/>
              <a:t>5/6/2021</a:t>
            </a:fld>
            <a:endParaRPr lang="en-US" sz="1400" smtClean="0"/>
          </a:p>
        </p:txBody>
      </p:sp>
      <p:sp>
        <p:nvSpPr>
          <p:cNvPr id="31749"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06217886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27A071B8-697B-43D5-B00D-A8EC65669FA9}" type="slidenum">
              <a:rPr lang="ar-SA" sz="1400" smtClean="0">
                <a:latin typeface="Arial" charset="0"/>
                <a:cs typeface="Arial" charset="0"/>
              </a:rPr>
              <a:pPr eaLnBrk="1" hangingPunct="1"/>
              <a:t>29</a:t>
            </a:fld>
            <a:endParaRPr lang="en-US" sz="1400" smtClean="0">
              <a:latin typeface="Arial" charset="0"/>
              <a:cs typeface="Arial" charset="0"/>
            </a:endParaRPr>
          </a:p>
        </p:txBody>
      </p:sp>
      <p:sp>
        <p:nvSpPr>
          <p:cNvPr id="32771" name="Rectangle 2"/>
          <p:cNvSpPr>
            <a:spLocks noGrp="1" noChangeArrowheads="1"/>
          </p:cNvSpPr>
          <p:nvPr>
            <p:ph type="body" idx="1"/>
          </p:nvPr>
        </p:nvSpPr>
        <p:spPr>
          <a:xfrm>
            <a:off x="457200" y="549275"/>
            <a:ext cx="8229600" cy="5576888"/>
          </a:xfrm>
        </p:spPr>
        <p:txBody>
          <a:bodyPr/>
          <a:lstStyle/>
          <a:p>
            <a:pPr algn="justLow" eaLnBrk="1" hangingPunct="1">
              <a:lnSpc>
                <a:spcPct val="90000"/>
              </a:lnSpc>
              <a:buFontTx/>
              <a:buNone/>
            </a:pPr>
            <a:r>
              <a:rPr lang="en-US" b="1" smtClean="0">
                <a:solidFill>
                  <a:srgbClr val="0000FF"/>
                </a:solidFill>
                <a:cs typeface="Times New Roman" pitchFamily="18" charset="0"/>
              </a:rPr>
              <a:t>A mixture containing only FeCl</a:t>
            </a:r>
            <a:r>
              <a:rPr lang="en-US" b="1" baseline="-30000" smtClean="0">
                <a:solidFill>
                  <a:srgbClr val="0000FF"/>
                </a:solidFill>
                <a:cs typeface="Times New Roman" pitchFamily="18" charset="0"/>
              </a:rPr>
              <a:t>3</a:t>
            </a:r>
            <a:r>
              <a:rPr lang="en-US" b="1" smtClean="0">
                <a:solidFill>
                  <a:srgbClr val="0000FF"/>
                </a:solidFill>
                <a:cs typeface="Times New Roman" pitchFamily="18" charset="0"/>
              </a:rPr>
              <a:t> (FW = 162.2) and AlCl</a:t>
            </a:r>
            <a:r>
              <a:rPr lang="en-US" b="1" baseline="-30000" smtClean="0">
                <a:solidFill>
                  <a:srgbClr val="0000FF"/>
                </a:solidFill>
                <a:cs typeface="Times New Roman" pitchFamily="18" charset="0"/>
              </a:rPr>
              <a:t>3</a:t>
            </a:r>
            <a:r>
              <a:rPr lang="en-US" b="1" smtClean="0">
                <a:solidFill>
                  <a:srgbClr val="0000FF"/>
                </a:solidFill>
                <a:cs typeface="Times New Roman" pitchFamily="18" charset="0"/>
              </a:rPr>
              <a:t> (FW = 133.34) weighs 5.95 g. The chlorides are converted to hydroxides and ignited to Fe</a:t>
            </a:r>
            <a:r>
              <a:rPr lang="en-US" b="1" baseline="-30000" smtClean="0">
                <a:solidFill>
                  <a:srgbClr val="0000FF"/>
                </a:solidFill>
                <a:cs typeface="Times New Roman" pitchFamily="18" charset="0"/>
              </a:rPr>
              <a:t>2</a:t>
            </a:r>
            <a:r>
              <a:rPr lang="en-US" b="1" smtClean="0">
                <a:solidFill>
                  <a:srgbClr val="0000FF"/>
                </a:solidFill>
                <a:cs typeface="Times New Roman" pitchFamily="18" charset="0"/>
              </a:rPr>
              <a:t>O</a:t>
            </a:r>
            <a:r>
              <a:rPr lang="en-US" b="1" baseline="-30000" smtClean="0">
                <a:solidFill>
                  <a:srgbClr val="0000FF"/>
                </a:solidFill>
                <a:cs typeface="Times New Roman" pitchFamily="18" charset="0"/>
              </a:rPr>
              <a:t>3</a:t>
            </a:r>
            <a:r>
              <a:rPr lang="en-US" b="1" smtClean="0">
                <a:solidFill>
                  <a:srgbClr val="0000FF"/>
                </a:solidFill>
                <a:cs typeface="Times New Roman" pitchFamily="18" charset="0"/>
              </a:rPr>
              <a:t> (FW = 159.7) and Al</a:t>
            </a:r>
            <a:r>
              <a:rPr lang="en-US" b="1" baseline="-30000" smtClean="0">
                <a:solidFill>
                  <a:srgbClr val="0000FF"/>
                </a:solidFill>
                <a:cs typeface="Times New Roman" pitchFamily="18" charset="0"/>
              </a:rPr>
              <a:t>2</a:t>
            </a:r>
            <a:r>
              <a:rPr lang="en-US" b="1" smtClean="0">
                <a:solidFill>
                  <a:srgbClr val="0000FF"/>
                </a:solidFill>
                <a:cs typeface="Times New Roman" pitchFamily="18" charset="0"/>
              </a:rPr>
              <a:t>O</a:t>
            </a:r>
            <a:r>
              <a:rPr lang="en-US" b="1" baseline="-30000" smtClean="0">
                <a:solidFill>
                  <a:srgbClr val="0000FF"/>
                </a:solidFill>
                <a:cs typeface="Times New Roman" pitchFamily="18" charset="0"/>
              </a:rPr>
              <a:t>3</a:t>
            </a:r>
            <a:r>
              <a:rPr lang="en-US" b="1" smtClean="0">
                <a:solidFill>
                  <a:srgbClr val="0000FF"/>
                </a:solidFill>
                <a:cs typeface="Times New Roman" pitchFamily="18" charset="0"/>
              </a:rPr>
              <a:t> (FW = 101.96). The oxide mixture weighs 2.62 g. Calculate the percentage Fe (at wt = 55.85) and Al (at wt = 26.98) in the sample.</a:t>
            </a:r>
          </a:p>
          <a:p>
            <a:pPr algn="justLow" eaLnBrk="1" hangingPunct="1">
              <a:lnSpc>
                <a:spcPct val="90000"/>
              </a:lnSpc>
              <a:buFontTx/>
              <a:buNone/>
            </a:pPr>
            <a:r>
              <a:rPr lang="en-US" sz="1200" smtClean="0">
                <a:solidFill>
                  <a:srgbClr val="000000"/>
                </a:solidFill>
                <a:cs typeface="Times New Roman" pitchFamily="18" charset="0"/>
              </a:rPr>
              <a:t> </a:t>
            </a:r>
            <a:endParaRPr lang="en-US" sz="1200" b="1" smtClean="0">
              <a:solidFill>
                <a:srgbClr val="000000"/>
              </a:solidFill>
              <a:cs typeface="Times New Roman" pitchFamily="18" charset="0"/>
            </a:endParaRPr>
          </a:p>
          <a:p>
            <a:pPr algn="justLow" eaLnBrk="1" hangingPunct="1">
              <a:lnSpc>
                <a:spcPct val="90000"/>
              </a:lnSpc>
              <a:buFontTx/>
              <a:buNone/>
            </a:pPr>
            <a:r>
              <a:rPr lang="en-US" b="1" smtClean="0">
                <a:solidFill>
                  <a:srgbClr val="000000"/>
                </a:solidFill>
                <a:cs typeface="Times New Roman" pitchFamily="18" charset="0"/>
              </a:rPr>
              <a:t>Solution</a:t>
            </a:r>
          </a:p>
          <a:p>
            <a:pPr algn="justLow" eaLnBrk="1" hangingPunct="1">
              <a:lnSpc>
                <a:spcPct val="90000"/>
              </a:lnSpc>
              <a:buFontTx/>
              <a:buNone/>
            </a:pPr>
            <a:r>
              <a:rPr lang="en-US" b="1" smtClean="0">
                <a:solidFill>
                  <a:srgbClr val="000000"/>
                </a:solidFill>
                <a:cs typeface="Times New Roman" pitchFamily="18" charset="0"/>
              </a:rPr>
              <a:t> </a:t>
            </a:r>
            <a:r>
              <a:rPr lang="en-US" smtClean="0">
                <a:solidFill>
                  <a:srgbClr val="800000"/>
                </a:solidFill>
                <a:cs typeface="Times New Roman" pitchFamily="18" charset="0"/>
              </a:rPr>
              <a:t>g FeCl</a:t>
            </a:r>
            <a:r>
              <a:rPr lang="en-US" baseline="-30000" smtClean="0">
                <a:solidFill>
                  <a:srgbClr val="800000"/>
                </a:solidFill>
                <a:cs typeface="Times New Roman" pitchFamily="18" charset="0"/>
              </a:rPr>
              <a:t>3</a:t>
            </a:r>
            <a:r>
              <a:rPr lang="en-US" smtClean="0">
                <a:solidFill>
                  <a:srgbClr val="000000"/>
                </a:solidFill>
                <a:cs typeface="Times New Roman" pitchFamily="18" charset="0"/>
              </a:rPr>
              <a:t> + </a:t>
            </a:r>
            <a:r>
              <a:rPr lang="en-US" smtClean="0">
                <a:solidFill>
                  <a:srgbClr val="800000"/>
                </a:solidFill>
                <a:cs typeface="Times New Roman" pitchFamily="18" charset="0"/>
              </a:rPr>
              <a:t>g AlCl</a:t>
            </a:r>
            <a:r>
              <a:rPr lang="en-US" baseline="-30000" smtClean="0">
                <a:solidFill>
                  <a:srgbClr val="800000"/>
                </a:solidFill>
                <a:cs typeface="Times New Roman" pitchFamily="18" charset="0"/>
              </a:rPr>
              <a:t>3</a:t>
            </a:r>
            <a:r>
              <a:rPr lang="en-US" smtClean="0">
                <a:solidFill>
                  <a:srgbClr val="000000"/>
                </a:solidFill>
                <a:cs typeface="Times New Roman" pitchFamily="18" charset="0"/>
              </a:rPr>
              <a:t> = 5.95</a:t>
            </a:r>
            <a:endParaRPr lang="en-US" b="1" smtClean="0">
              <a:solidFill>
                <a:srgbClr val="000000"/>
              </a:solidFill>
              <a:cs typeface="Times New Roman" pitchFamily="18" charset="0"/>
            </a:endParaRPr>
          </a:p>
          <a:p>
            <a:pPr algn="justLow" eaLnBrk="1" hangingPunct="1">
              <a:lnSpc>
                <a:spcPct val="90000"/>
              </a:lnSpc>
              <a:buFontTx/>
              <a:buNone/>
            </a:pPr>
            <a:r>
              <a:rPr lang="en-US" b="1" smtClean="0">
                <a:solidFill>
                  <a:srgbClr val="800000"/>
                </a:solidFill>
                <a:cs typeface="Times New Roman" pitchFamily="18" charset="0"/>
              </a:rPr>
              <a:t>g Fe</a:t>
            </a:r>
            <a:r>
              <a:rPr lang="en-US" b="1" baseline="-30000" smtClean="0">
                <a:solidFill>
                  <a:srgbClr val="800000"/>
                </a:solidFill>
                <a:cs typeface="Times New Roman" pitchFamily="18" charset="0"/>
              </a:rPr>
              <a:t>2</a:t>
            </a:r>
            <a:r>
              <a:rPr lang="en-US" b="1" smtClean="0">
                <a:solidFill>
                  <a:srgbClr val="800000"/>
                </a:solidFill>
                <a:cs typeface="Times New Roman" pitchFamily="18" charset="0"/>
              </a:rPr>
              <a:t>O</a:t>
            </a:r>
            <a:r>
              <a:rPr lang="en-US" b="1" baseline="-30000" smtClean="0">
                <a:solidFill>
                  <a:srgbClr val="800000"/>
                </a:solidFill>
                <a:cs typeface="Times New Roman" pitchFamily="18" charset="0"/>
              </a:rPr>
              <a:t>3</a:t>
            </a:r>
            <a:r>
              <a:rPr lang="en-US" b="1" smtClean="0">
                <a:solidFill>
                  <a:srgbClr val="000000"/>
                </a:solidFill>
                <a:cs typeface="Times New Roman" pitchFamily="18" charset="0"/>
              </a:rPr>
              <a:t> + </a:t>
            </a:r>
            <a:r>
              <a:rPr lang="en-US" b="1" smtClean="0">
                <a:solidFill>
                  <a:srgbClr val="800000"/>
                </a:solidFill>
                <a:cs typeface="Times New Roman" pitchFamily="18" charset="0"/>
              </a:rPr>
              <a:t>g Al</a:t>
            </a:r>
            <a:r>
              <a:rPr lang="en-US" b="1" baseline="-30000" smtClean="0">
                <a:solidFill>
                  <a:srgbClr val="800000"/>
                </a:solidFill>
                <a:cs typeface="Times New Roman" pitchFamily="18" charset="0"/>
              </a:rPr>
              <a:t>2</a:t>
            </a:r>
            <a:r>
              <a:rPr lang="en-US" b="1" smtClean="0">
                <a:solidFill>
                  <a:srgbClr val="800000"/>
                </a:solidFill>
                <a:cs typeface="Times New Roman" pitchFamily="18" charset="0"/>
              </a:rPr>
              <a:t>O</a:t>
            </a:r>
            <a:r>
              <a:rPr lang="en-US" b="1" baseline="-30000" smtClean="0">
                <a:solidFill>
                  <a:srgbClr val="800000"/>
                </a:solidFill>
                <a:cs typeface="Times New Roman" pitchFamily="18" charset="0"/>
              </a:rPr>
              <a:t>3</a:t>
            </a:r>
            <a:r>
              <a:rPr lang="en-US" b="1" smtClean="0">
                <a:solidFill>
                  <a:srgbClr val="000000"/>
                </a:solidFill>
                <a:cs typeface="Times New Roman" pitchFamily="18" charset="0"/>
              </a:rPr>
              <a:t> = 2.62</a:t>
            </a:r>
          </a:p>
          <a:p>
            <a:pPr algn="justLow" eaLnBrk="1" hangingPunct="1">
              <a:lnSpc>
                <a:spcPct val="90000"/>
              </a:lnSpc>
              <a:buFontTx/>
              <a:buNone/>
            </a:pPr>
            <a:endParaRPr lang="en-US" b="1" smtClean="0">
              <a:solidFill>
                <a:srgbClr val="000000"/>
              </a:solidFill>
              <a:cs typeface="Times New Roman" pitchFamily="18" charset="0"/>
            </a:endParaRPr>
          </a:p>
        </p:txBody>
      </p:sp>
      <p:sp>
        <p:nvSpPr>
          <p:cNvPr id="32772"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7CC86DE1-D12C-44E6-9B68-CFF1BC90B3AB}" type="datetime1">
              <a:rPr lang="en-US" sz="1400" smtClean="0"/>
              <a:pPr eaLnBrk="1" hangingPunct="1"/>
              <a:t>5/6/2021</a:t>
            </a:fld>
            <a:endParaRPr lang="en-US" sz="1400" smtClean="0"/>
          </a:p>
        </p:txBody>
      </p:sp>
      <p:sp>
        <p:nvSpPr>
          <p:cNvPr id="32773"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97029749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B5CD340-5E3F-442D-9B10-BF4551E687C2}" type="slidenum">
              <a:rPr lang="ar-SA" sz="1400" smtClean="0">
                <a:latin typeface="Arial" charset="0"/>
                <a:cs typeface="Arial" charset="0"/>
              </a:rPr>
              <a:pPr eaLnBrk="1" hangingPunct="1"/>
              <a:t>30</a:t>
            </a:fld>
            <a:endParaRPr lang="en-US" sz="1400" smtClean="0">
              <a:latin typeface="Arial" charset="0"/>
              <a:cs typeface="Arial" charset="0"/>
            </a:endParaRPr>
          </a:p>
        </p:txBody>
      </p:sp>
      <p:sp>
        <p:nvSpPr>
          <p:cNvPr id="33795" name="Rectangle 3"/>
          <p:cNvSpPr>
            <a:spLocks noGrp="1" noChangeArrowheads="1"/>
          </p:cNvSpPr>
          <p:nvPr>
            <p:ph type="body" idx="1"/>
          </p:nvPr>
        </p:nvSpPr>
        <p:spPr>
          <a:xfrm>
            <a:off x="457200" y="981075"/>
            <a:ext cx="8229600" cy="5145088"/>
          </a:xfrm>
        </p:spPr>
        <p:txBody>
          <a:bodyPr/>
          <a:lstStyle/>
          <a:p>
            <a:pPr algn="ctr" eaLnBrk="1" hangingPunct="1">
              <a:buFontTx/>
              <a:buNone/>
            </a:pPr>
            <a:r>
              <a:rPr lang="en-US" b="1" smtClean="0">
                <a:solidFill>
                  <a:srgbClr val="800000"/>
                </a:solidFill>
                <a:cs typeface="Times New Roman" pitchFamily="18" charset="0"/>
              </a:rPr>
              <a:t>Fe </a:t>
            </a:r>
            <a:r>
              <a:rPr lang="en-US" b="1" smtClean="0">
                <a:solidFill>
                  <a:srgbClr val="800000"/>
                </a:solidFill>
                <a:latin typeface="Wingdings 3" pitchFamily="18" charset="2"/>
                <a:cs typeface="Times New Roman" pitchFamily="18" charset="0"/>
              </a:rPr>
              <a:t>D</a:t>
            </a:r>
            <a:r>
              <a:rPr lang="en-US" b="1" smtClean="0">
                <a:solidFill>
                  <a:srgbClr val="800000"/>
                </a:solidFill>
                <a:cs typeface="Times New Roman" pitchFamily="18" charset="0"/>
              </a:rPr>
              <a:t> FeCl</a:t>
            </a:r>
            <a:r>
              <a:rPr lang="en-US" b="1" baseline="-30000" smtClean="0">
                <a:solidFill>
                  <a:srgbClr val="800000"/>
                </a:solidFill>
                <a:cs typeface="Times New Roman" pitchFamily="18" charset="0"/>
              </a:rPr>
              <a:t>3</a:t>
            </a:r>
            <a:endParaRPr lang="en-US" b="1" smtClean="0">
              <a:solidFill>
                <a:srgbClr val="800000"/>
              </a:solidFill>
              <a:cs typeface="Times New Roman" pitchFamily="18" charset="0"/>
            </a:endParaRPr>
          </a:p>
          <a:p>
            <a:pPr algn="justLow" eaLnBrk="1" hangingPunct="1">
              <a:buFontTx/>
              <a:buNone/>
            </a:pPr>
            <a:r>
              <a:rPr lang="en-US" b="1" smtClean="0">
                <a:solidFill>
                  <a:srgbClr val="000000"/>
                </a:solidFill>
                <a:cs typeface="Times New Roman" pitchFamily="18" charset="0"/>
              </a:rPr>
              <a:t>1 mol Fe = 1 mol FeCl</a:t>
            </a:r>
            <a:r>
              <a:rPr lang="en-US" b="1" baseline="-30000" smtClean="0">
                <a:solidFill>
                  <a:srgbClr val="000000"/>
                </a:solidFill>
                <a:cs typeface="Times New Roman" pitchFamily="18" charset="0"/>
              </a:rPr>
              <a:t>3</a:t>
            </a:r>
            <a:endParaRPr lang="en-US" b="1" smtClean="0">
              <a:solidFill>
                <a:srgbClr val="000000"/>
              </a:solidFill>
              <a:cs typeface="Times New Roman" pitchFamily="18" charset="0"/>
            </a:endParaRPr>
          </a:p>
          <a:p>
            <a:pPr algn="justLow" eaLnBrk="1" hangingPunct="1">
              <a:buFontTx/>
              <a:buNone/>
            </a:pPr>
            <a:r>
              <a:rPr lang="en-US" b="1" smtClean="0">
                <a:solidFill>
                  <a:srgbClr val="000000"/>
                </a:solidFill>
                <a:cs typeface="Times New Roman" pitchFamily="18" charset="0"/>
              </a:rPr>
              <a:t>g Fe/at wt Fe = </a:t>
            </a:r>
            <a:r>
              <a:rPr lang="en-US" b="1" smtClean="0">
                <a:solidFill>
                  <a:srgbClr val="800000"/>
                </a:solidFill>
                <a:cs typeface="Times New Roman" pitchFamily="18" charset="0"/>
              </a:rPr>
              <a:t>g FeCl</a:t>
            </a:r>
            <a:r>
              <a:rPr lang="en-US" b="1" baseline="-30000" smtClean="0">
                <a:solidFill>
                  <a:srgbClr val="800000"/>
                </a:solidFill>
                <a:cs typeface="Times New Roman" pitchFamily="18" charset="0"/>
              </a:rPr>
              <a:t>3</a:t>
            </a:r>
            <a:r>
              <a:rPr lang="en-US" b="1" smtClean="0">
                <a:solidFill>
                  <a:srgbClr val="000000"/>
                </a:solidFill>
                <a:cs typeface="Times New Roman" pitchFamily="18" charset="0"/>
              </a:rPr>
              <a:t>/ FW FeCl</a:t>
            </a:r>
            <a:r>
              <a:rPr lang="en-US" b="1" baseline="-30000" smtClean="0">
                <a:solidFill>
                  <a:srgbClr val="000000"/>
                </a:solidFill>
                <a:cs typeface="Times New Roman" pitchFamily="18" charset="0"/>
              </a:rPr>
              <a:t>3</a:t>
            </a:r>
            <a:endParaRPr lang="en-US" b="1" smtClean="0">
              <a:solidFill>
                <a:srgbClr val="000000"/>
              </a:solidFill>
              <a:cs typeface="Times New Roman" pitchFamily="18" charset="0"/>
            </a:endParaRPr>
          </a:p>
          <a:p>
            <a:pPr algn="justLow" eaLnBrk="1" hangingPunct="1">
              <a:buFontTx/>
              <a:buNone/>
            </a:pPr>
            <a:r>
              <a:rPr lang="en-US" b="1" smtClean="0">
                <a:solidFill>
                  <a:srgbClr val="000000"/>
                </a:solidFill>
                <a:cs typeface="Times New Roman" pitchFamily="18" charset="0"/>
              </a:rPr>
              <a:t>Rearrangement gives</a:t>
            </a:r>
          </a:p>
          <a:p>
            <a:pPr algn="justLow" eaLnBrk="1" hangingPunct="1">
              <a:buFontTx/>
              <a:buNone/>
            </a:pPr>
            <a:r>
              <a:rPr lang="en-US" b="1" smtClean="0">
                <a:solidFill>
                  <a:srgbClr val="800000"/>
                </a:solidFill>
                <a:cs typeface="Times New Roman" pitchFamily="18" charset="0"/>
              </a:rPr>
              <a:t>g FeCl</a:t>
            </a:r>
            <a:r>
              <a:rPr lang="en-US" b="1" baseline="-30000" smtClean="0">
                <a:solidFill>
                  <a:srgbClr val="800000"/>
                </a:solidFill>
                <a:cs typeface="Times New Roman" pitchFamily="18" charset="0"/>
              </a:rPr>
              <a:t>3</a:t>
            </a:r>
            <a:r>
              <a:rPr lang="en-US" b="1" smtClean="0">
                <a:solidFill>
                  <a:srgbClr val="000000"/>
                </a:solidFill>
                <a:cs typeface="Times New Roman" pitchFamily="18" charset="0"/>
              </a:rPr>
              <a:t> = g Fe (FW FeCl</a:t>
            </a:r>
            <a:r>
              <a:rPr lang="en-US" b="1" baseline="-30000" smtClean="0">
                <a:solidFill>
                  <a:srgbClr val="000000"/>
                </a:solidFill>
                <a:cs typeface="Times New Roman" pitchFamily="18" charset="0"/>
              </a:rPr>
              <a:t>3</a:t>
            </a:r>
            <a:r>
              <a:rPr lang="en-US" b="1" smtClean="0">
                <a:solidFill>
                  <a:srgbClr val="000000"/>
                </a:solidFill>
                <a:cs typeface="Times New Roman" pitchFamily="18" charset="0"/>
              </a:rPr>
              <a:t>/at wt Fe)</a:t>
            </a:r>
          </a:p>
          <a:p>
            <a:pPr algn="justLow" eaLnBrk="1" hangingPunct="1">
              <a:buFontTx/>
              <a:buNone/>
            </a:pPr>
            <a:r>
              <a:rPr lang="en-US" smtClean="0">
                <a:solidFill>
                  <a:srgbClr val="000000"/>
                </a:solidFill>
                <a:cs typeface="Times New Roman" pitchFamily="18" charset="0"/>
              </a:rPr>
              <a:t>In the same manner</a:t>
            </a:r>
            <a:endParaRPr lang="en-US" b="1" smtClean="0">
              <a:solidFill>
                <a:srgbClr val="000000"/>
              </a:solidFill>
              <a:cs typeface="Times New Roman" pitchFamily="18" charset="0"/>
            </a:endParaRPr>
          </a:p>
          <a:p>
            <a:pPr algn="justLow" eaLnBrk="1" hangingPunct="1">
              <a:buFontTx/>
              <a:buNone/>
            </a:pPr>
            <a:r>
              <a:rPr lang="en-US" b="1" smtClean="0">
                <a:solidFill>
                  <a:srgbClr val="800000"/>
                </a:solidFill>
                <a:cs typeface="Times New Roman" pitchFamily="18" charset="0"/>
              </a:rPr>
              <a:t>g AlCl</a:t>
            </a:r>
            <a:r>
              <a:rPr lang="en-US" b="1" baseline="-30000" smtClean="0">
                <a:solidFill>
                  <a:srgbClr val="800000"/>
                </a:solidFill>
                <a:cs typeface="Times New Roman" pitchFamily="18" charset="0"/>
              </a:rPr>
              <a:t>3</a:t>
            </a:r>
            <a:r>
              <a:rPr lang="en-US" b="1" baseline="-30000" smtClean="0">
                <a:solidFill>
                  <a:srgbClr val="000000"/>
                </a:solidFill>
                <a:cs typeface="Times New Roman" pitchFamily="18" charset="0"/>
              </a:rPr>
              <a:t> </a:t>
            </a:r>
            <a:r>
              <a:rPr lang="en-US" b="1" smtClean="0">
                <a:solidFill>
                  <a:srgbClr val="000000"/>
                </a:solidFill>
                <a:cs typeface="Times New Roman" pitchFamily="18" charset="0"/>
              </a:rPr>
              <a:t>= g Al ( FW AlCl</a:t>
            </a:r>
            <a:r>
              <a:rPr lang="en-US" b="1" baseline="-30000" smtClean="0">
                <a:solidFill>
                  <a:srgbClr val="000000"/>
                </a:solidFill>
                <a:cs typeface="Times New Roman" pitchFamily="18" charset="0"/>
              </a:rPr>
              <a:t>3</a:t>
            </a:r>
            <a:r>
              <a:rPr lang="en-US" b="1" smtClean="0">
                <a:solidFill>
                  <a:srgbClr val="000000"/>
                </a:solidFill>
                <a:cs typeface="Times New Roman" pitchFamily="18" charset="0"/>
              </a:rPr>
              <a:t>/at wt Al)</a:t>
            </a:r>
            <a:endParaRPr lang="en-US" smtClean="0">
              <a:solidFill>
                <a:srgbClr val="000000"/>
              </a:solidFill>
              <a:cs typeface="Times New Roman" pitchFamily="18" charset="0"/>
            </a:endParaRPr>
          </a:p>
          <a:p>
            <a:pPr eaLnBrk="1" hangingPunct="1">
              <a:buFontTx/>
              <a:buNone/>
            </a:pPr>
            <a:endParaRPr lang="en-US" smtClean="0"/>
          </a:p>
        </p:txBody>
      </p:sp>
      <p:sp>
        <p:nvSpPr>
          <p:cNvPr id="33796"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5C0C68F-565D-4C21-BB77-25D731802459}" type="datetime1">
              <a:rPr lang="en-US" sz="1400" smtClean="0"/>
              <a:pPr eaLnBrk="1" hangingPunct="1"/>
              <a:t>5/6/2021</a:t>
            </a:fld>
            <a:endParaRPr lang="en-US" sz="1400" smtClean="0"/>
          </a:p>
        </p:txBody>
      </p:sp>
      <p:sp>
        <p:nvSpPr>
          <p:cNvPr id="33797"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428250423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BE7A48DF-DD88-44F3-AA25-D4EC3A3EC76E}" type="slidenum">
              <a:rPr lang="ar-SA" sz="1400" smtClean="0">
                <a:latin typeface="Arial" charset="0"/>
                <a:cs typeface="Arial" charset="0"/>
              </a:rPr>
              <a:pPr eaLnBrk="1" hangingPunct="1"/>
              <a:t>31</a:t>
            </a:fld>
            <a:endParaRPr lang="en-US" sz="1400" smtClean="0">
              <a:latin typeface="Arial" charset="0"/>
              <a:cs typeface="Arial" charset="0"/>
            </a:endParaRPr>
          </a:p>
        </p:txBody>
      </p:sp>
      <p:sp>
        <p:nvSpPr>
          <p:cNvPr id="34819" name="Rectangle 2"/>
          <p:cNvSpPr>
            <a:spLocks noGrp="1" noChangeArrowheads="1"/>
          </p:cNvSpPr>
          <p:nvPr>
            <p:ph type="body" idx="1"/>
          </p:nvPr>
        </p:nvSpPr>
        <p:spPr>
          <a:xfrm>
            <a:off x="457200" y="836613"/>
            <a:ext cx="8229600" cy="5289550"/>
          </a:xfrm>
        </p:spPr>
        <p:txBody>
          <a:bodyPr/>
          <a:lstStyle/>
          <a:p>
            <a:pPr algn="justLow" eaLnBrk="1" hangingPunct="1">
              <a:buFontTx/>
              <a:buNone/>
            </a:pPr>
            <a:r>
              <a:rPr lang="en-US" smtClean="0">
                <a:solidFill>
                  <a:srgbClr val="800000"/>
                </a:solidFill>
                <a:cs typeface="Times New Roman" pitchFamily="18" charset="0"/>
              </a:rPr>
              <a:t>g FeCl</a:t>
            </a:r>
            <a:r>
              <a:rPr lang="en-US" baseline="-30000" smtClean="0">
                <a:solidFill>
                  <a:srgbClr val="800000"/>
                </a:solidFill>
                <a:cs typeface="Times New Roman" pitchFamily="18" charset="0"/>
              </a:rPr>
              <a:t>3</a:t>
            </a:r>
            <a:r>
              <a:rPr lang="en-US" smtClean="0">
                <a:solidFill>
                  <a:srgbClr val="000000"/>
                </a:solidFill>
                <a:cs typeface="Times New Roman" pitchFamily="18" charset="0"/>
              </a:rPr>
              <a:t> + </a:t>
            </a:r>
            <a:r>
              <a:rPr lang="en-US" smtClean="0">
                <a:solidFill>
                  <a:srgbClr val="800000"/>
                </a:solidFill>
                <a:cs typeface="Times New Roman" pitchFamily="18" charset="0"/>
              </a:rPr>
              <a:t>g AlCl</a:t>
            </a:r>
            <a:r>
              <a:rPr lang="en-US" baseline="-30000" smtClean="0">
                <a:solidFill>
                  <a:srgbClr val="800000"/>
                </a:solidFill>
                <a:cs typeface="Times New Roman" pitchFamily="18" charset="0"/>
              </a:rPr>
              <a:t>3</a:t>
            </a:r>
            <a:r>
              <a:rPr lang="en-US" smtClean="0">
                <a:solidFill>
                  <a:srgbClr val="000000"/>
                </a:solidFill>
                <a:cs typeface="Times New Roman" pitchFamily="18" charset="0"/>
              </a:rPr>
              <a:t> = 5.95</a:t>
            </a:r>
            <a:endParaRPr lang="en-US" b="1" smtClean="0">
              <a:solidFill>
                <a:srgbClr val="000000"/>
              </a:solidFill>
              <a:cs typeface="Times New Roman" pitchFamily="18" charset="0"/>
            </a:endParaRPr>
          </a:p>
          <a:p>
            <a:pPr algn="justLow" eaLnBrk="1" hangingPunct="1">
              <a:buFontTx/>
              <a:buNone/>
            </a:pPr>
            <a:r>
              <a:rPr lang="en-US" b="1" smtClean="0">
                <a:solidFill>
                  <a:srgbClr val="000000"/>
                </a:solidFill>
                <a:cs typeface="Times New Roman" pitchFamily="18" charset="0"/>
              </a:rPr>
              <a:t>g Fe (FW FeCl</a:t>
            </a:r>
            <a:r>
              <a:rPr lang="en-US" b="1" baseline="-30000" smtClean="0">
                <a:solidFill>
                  <a:srgbClr val="000000"/>
                </a:solidFill>
                <a:cs typeface="Times New Roman" pitchFamily="18" charset="0"/>
              </a:rPr>
              <a:t>3</a:t>
            </a:r>
            <a:r>
              <a:rPr lang="en-US" b="1" smtClean="0">
                <a:solidFill>
                  <a:srgbClr val="000000"/>
                </a:solidFill>
                <a:cs typeface="Times New Roman" pitchFamily="18" charset="0"/>
              </a:rPr>
              <a:t>/at wt Fe) + g Al ( FW AlCl</a:t>
            </a:r>
            <a:r>
              <a:rPr lang="en-US" b="1" baseline="-30000" smtClean="0">
                <a:solidFill>
                  <a:srgbClr val="000000"/>
                </a:solidFill>
                <a:cs typeface="Times New Roman" pitchFamily="18" charset="0"/>
              </a:rPr>
              <a:t>3</a:t>
            </a:r>
            <a:r>
              <a:rPr lang="en-US" b="1" smtClean="0">
                <a:solidFill>
                  <a:srgbClr val="000000"/>
                </a:solidFill>
                <a:cs typeface="Times New Roman" pitchFamily="18" charset="0"/>
              </a:rPr>
              <a:t>/at wt Al) = 5.95</a:t>
            </a:r>
            <a:endParaRPr lang="en-US" smtClean="0">
              <a:solidFill>
                <a:srgbClr val="000000"/>
              </a:solidFill>
              <a:cs typeface="Times New Roman" pitchFamily="18" charset="0"/>
            </a:endParaRPr>
          </a:p>
          <a:p>
            <a:pPr algn="justLow" eaLnBrk="1" hangingPunct="1">
              <a:buFontTx/>
              <a:buNone/>
            </a:pPr>
            <a:r>
              <a:rPr lang="en-US" b="1" smtClean="0">
                <a:solidFill>
                  <a:srgbClr val="000000"/>
                </a:solidFill>
                <a:cs typeface="Times New Roman" pitchFamily="18" charset="0"/>
              </a:rPr>
              <a:t>assume g Fe = </a:t>
            </a:r>
            <a:r>
              <a:rPr lang="en-US" b="1" i="1" smtClean="0">
                <a:solidFill>
                  <a:srgbClr val="000000"/>
                </a:solidFill>
                <a:cs typeface="Times New Roman" pitchFamily="18" charset="0"/>
              </a:rPr>
              <a:t>x</a:t>
            </a:r>
            <a:r>
              <a:rPr lang="en-US" b="1" smtClean="0">
                <a:solidFill>
                  <a:srgbClr val="000000"/>
                </a:solidFill>
                <a:cs typeface="Times New Roman" pitchFamily="18" charset="0"/>
              </a:rPr>
              <a:t>, g Al = </a:t>
            </a:r>
            <a:r>
              <a:rPr lang="en-US" b="1" smtClean="0">
                <a:solidFill>
                  <a:srgbClr val="000000"/>
                </a:solidFill>
              </a:rPr>
              <a:t>y</a:t>
            </a:r>
            <a:r>
              <a:rPr lang="en-US" b="1" smtClean="0">
                <a:solidFill>
                  <a:srgbClr val="000000"/>
                </a:solidFill>
                <a:cs typeface="Times New Roman" pitchFamily="18" charset="0"/>
              </a:rPr>
              <a:t> then:</a:t>
            </a:r>
            <a:endParaRPr lang="en-US" b="1" i="1" smtClean="0">
              <a:solidFill>
                <a:srgbClr val="000000"/>
              </a:solidFill>
              <a:cs typeface="Times New Roman" pitchFamily="18" charset="0"/>
            </a:endParaRPr>
          </a:p>
          <a:p>
            <a:pPr algn="justLow" eaLnBrk="1" hangingPunct="1">
              <a:buFontTx/>
              <a:buNone/>
            </a:pPr>
            <a:r>
              <a:rPr lang="en-US" b="1" i="1" smtClean="0">
                <a:solidFill>
                  <a:srgbClr val="000000"/>
                </a:solidFill>
                <a:cs typeface="Times New Roman" pitchFamily="18" charset="0"/>
              </a:rPr>
              <a:t>x </a:t>
            </a:r>
            <a:r>
              <a:rPr lang="en-US" b="1" smtClean="0">
                <a:solidFill>
                  <a:srgbClr val="000000"/>
                </a:solidFill>
                <a:cs typeface="Times New Roman" pitchFamily="18" charset="0"/>
              </a:rPr>
              <a:t>(FW FeCl</a:t>
            </a:r>
            <a:r>
              <a:rPr lang="en-US" b="1" baseline="-30000" smtClean="0">
                <a:solidFill>
                  <a:srgbClr val="000000"/>
                </a:solidFill>
                <a:cs typeface="Times New Roman" pitchFamily="18" charset="0"/>
              </a:rPr>
              <a:t>3</a:t>
            </a:r>
            <a:r>
              <a:rPr lang="en-US" b="1" smtClean="0">
                <a:solidFill>
                  <a:srgbClr val="000000"/>
                </a:solidFill>
                <a:cs typeface="Times New Roman" pitchFamily="18" charset="0"/>
              </a:rPr>
              <a:t>/at wt Fe) + y ( FW AlCl</a:t>
            </a:r>
            <a:r>
              <a:rPr lang="en-US" b="1" baseline="-30000" smtClean="0">
                <a:solidFill>
                  <a:srgbClr val="000000"/>
                </a:solidFill>
                <a:cs typeface="Times New Roman" pitchFamily="18" charset="0"/>
              </a:rPr>
              <a:t>3</a:t>
            </a:r>
            <a:r>
              <a:rPr lang="en-US" b="1" smtClean="0">
                <a:solidFill>
                  <a:srgbClr val="000000"/>
                </a:solidFill>
                <a:cs typeface="Times New Roman" pitchFamily="18" charset="0"/>
              </a:rPr>
              <a:t>/at wt Al) = 5.95</a:t>
            </a:r>
            <a:endParaRPr lang="fr-FR" b="1" smtClean="0">
              <a:solidFill>
                <a:srgbClr val="000000"/>
              </a:solidFill>
              <a:cs typeface="Times New Roman" pitchFamily="18" charset="0"/>
            </a:endParaRPr>
          </a:p>
          <a:p>
            <a:pPr algn="justLow" eaLnBrk="1" hangingPunct="1">
              <a:buFontTx/>
              <a:buNone/>
            </a:pPr>
            <a:r>
              <a:rPr lang="en-US" b="1" i="1" smtClean="0">
                <a:solidFill>
                  <a:srgbClr val="000000"/>
                </a:solidFill>
                <a:cs typeface="Times New Roman" pitchFamily="18" charset="0"/>
              </a:rPr>
              <a:t>x</a:t>
            </a:r>
            <a:r>
              <a:rPr lang="fr-FR" b="1" smtClean="0">
                <a:solidFill>
                  <a:srgbClr val="000000"/>
                </a:solidFill>
                <a:cs typeface="Times New Roman" pitchFamily="18" charset="0"/>
              </a:rPr>
              <a:t> (162.2/55.85) + y (133.34/26.98) = 5.95</a:t>
            </a:r>
          </a:p>
          <a:p>
            <a:pPr algn="justLow" eaLnBrk="1" hangingPunct="1">
              <a:buFontTx/>
              <a:buNone/>
            </a:pPr>
            <a:r>
              <a:rPr lang="fr-FR" b="1" smtClean="0">
                <a:solidFill>
                  <a:srgbClr val="000000"/>
                </a:solidFill>
                <a:cs typeface="Times New Roman" pitchFamily="18" charset="0"/>
              </a:rPr>
              <a:t>2.90 </a:t>
            </a:r>
            <a:r>
              <a:rPr lang="en-US" b="1" i="1" smtClean="0">
                <a:solidFill>
                  <a:srgbClr val="000000"/>
                </a:solidFill>
                <a:cs typeface="Times New Roman" pitchFamily="18" charset="0"/>
              </a:rPr>
              <a:t>x</a:t>
            </a:r>
            <a:r>
              <a:rPr lang="fr-FR" b="1" smtClean="0">
                <a:solidFill>
                  <a:srgbClr val="000000"/>
                </a:solidFill>
                <a:cs typeface="Times New Roman" pitchFamily="18" charset="0"/>
              </a:rPr>
              <a:t> + 4.94 y = 5.95</a:t>
            </a:r>
            <a:r>
              <a:rPr lang="fr-FR" sz="2400" b="1" smtClean="0">
                <a:solidFill>
                  <a:srgbClr val="000000"/>
                </a:solidFill>
                <a:cs typeface="Times New Roman" pitchFamily="18" charset="0"/>
              </a:rPr>
              <a:t>	                                          (1)</a:t>
            </a:r>
            <a:endParaRPr lang="en-US" sz="2400" b="1" smtClean="0">
              <a:solidFill>
                <a:srgbClr val="000000"/>
              </a:solidFill>
              <a:cs typeface="Times New Roman" pitchFamily="18" charset="0"/>
            </a:endParaRPr>
          </a:p>
        </p:txBody>
      </p:sp>
      <p:sp>
        <p:nvSpPr>
          <p:cNvPr id="34820"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1EB418D5-C357-4A6D-9AF6-1F0D6390F9E6}" type="datetime1">
              <a:rPr lang="en-US" sz="1400" smtClean="0"/>
              <a:pPr eaLnBrk="1" hangingPunct="1"/>
              <a:t>5/6/2021</a:t>
            </a:fld>
            <a:endParaRPr lang="en-US" sz="1400" smtClean="0"/>
          </a:p>
        </p:txBody>
      </p:sp>
      <p:sp>
        <p:nvSpPr>
          <p:cNvPr id="34821"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50898647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F74BB880-86E1-4FC7-827D-DB893CF5F842}" type="slidenum">
              <a:rPr lang="ar-SA" sz="1400" smtClean="0">
                <a:latin typeface="Arial" charset="0"/>
                <a:cs typeface="Arial" charset="0"/>
              </a:rPr>
              <a:pPr eaLnBrk="1" hangingPunct="1"/>
              <a:t>32</a:t>
            </a:fld>
            <a:endParaRPr lang="en-US" sz="1400" smtClean="0">
              <a:latin typeface="Arial" charset="0"/>
              <a:cs typeface="Arial" charset="0"/>
            </a:endParaRPr>
          </a:p>
        </p:txBody>
      </p:sp>
      <p:sp>
        <p:nvSpPr>
          <p:cNvPr id="35843" name="Rectangle 2"/>
          <p:cNvSpPr>
            <a:spLocks noGrp="1" noChangeArrowheads="1"/>
          </p:cNvSpPr>
          <p:nvPr>
            <p:ph type="body" idx="1"/>
          </p:nvPr>
        </p:nvSpPr>
        <p:spPr>
          <a:xfrm>
            <a:off x="457200" y="620713"/>
            <a:ext cx="8229600" cy="5505450"/>
          </a:xfrm>
        </p:spPr>
        <p:txBody>
          <a:bodyPr/>
          <a:lstStyle/>
          <a:p>
            <a:pPr algn="justLow" eaLnBrk="1" hangingPunct="1">
              <a:buFontTx/>
              <a:buNone/>
            </a:pPr>
            <a:r>
              <a:rPr lang="en-US" sz="2400" smtClean="0">
                <a:solidFill>
                  <a:srgbClr val="000000"/>
                </a:solidFill>
                <a:cs typeface="Times New Roman" pitchFamily="18" charset="0"/>
              </a:rPr>
              <a:t>The same treatment with the oxides gives</a:t>
            </a:r>
            <a:endParaRPr lang="en-US" sz="2400" b="1" smtClean="0">
              <a:solidFill>
                <a:srgbClr val="000000"/>
              </a:solidFill>
              <a:cs typeface="Times New Roman" pitchFamily="18" charset="0"/>
            </a:endParaRPr>
          </a:p>
          <a:p>
            <a:pPr algn="ctr" eaLnBrk="1" hangingPunct="1">
              <a:buFontTx/>
              <a:buNone/>
            </a:pPr>
            <a:r>
              <a:rPr lang="en-US" sz="2400" b="1" smtClean="0">
                <a:solidFill>
                  <a:srgbClr val="800000"/>
                </a:solidFill>
                <a:cs typeface="Times New Roman" pitchFamily="18" charset="0"/>
              </a:rPr>
              <a:t>2 Fe </a:t>
            </a:r>
            <a:r>
              <a:rPr lang="en-US" sz="2400" b="1" smtClean="0">
                <a:solidFill>
                  <a:srgbClr val="800000"/>
                </a:solidFill>
                <a:latin typeface="Wingdings 3" pitchFamily="18" charset="2"/>
                <a:cs typeface="Times New Roman" pitchFamily="18" charset="0"/>
              </a:rPr>
              <a:t>D</a:t>
            </a:r>
            <a:r>
              <a:rPr lang="en-US" sz="2400" b="1" smtClean="0">
                <a:solidFill>
                  <a:srgbClr val="800000"/>
                </a:solidFill>
                <a:cs typeface="Times New Roman" pitchFamily="18" charset="0"/>
              </a:rPr>
              <a:t> Fe</a:t>
            </a:r>
            <a:r>
              <a:rPr lang="en-US" sz="2400" b="1" baseline="-30000" smtClean="0">
                <a:solidFill>
                  <a:srgbClr val="800000"/>
                </a:solidFill>
                <a:cs typeface="Times New Roman" pitchFamily="18" charset="0"/>
              </a:rPr>
              <a:t>2</a:t>
            </a:r>
            <a:r>
              <a:rPr lang="en-US" sz="2400" b="1" smtClean="0">
                <a:solidFill>
                  <a:srgbClr val="800000"/>
                </a:solidFill>
                <a:cs typeface="Times New Roman" pitchFamily="18" charset="0"/>
              </a:rPr>
              <a:t>O</a:t>
            </a:r>
            <a:r>
              <a:rPr lang="en-US" sz="2400" b="1" baseline="-30000" smtClean="0">
                <a:solidFill>
                  <a:srgbClr val="800000"/>
                </a:solidFill>
                <a:cs typeface="Times New Roman" pitchFamily="18" charset="0"/>
              </a:rPr>
              <a:t>3</a:t>
            </a:r>
            <a:endParaRPr lang="en-US" sz="2400" b="1" smtClean="0">
              <a:solidFill>
                <a:srgbClr val="800000"/>
              </a:solidFill>
              <a:cs typeface="Times New Roman" pitchFamily="18" charset="0"/>
            </a:endParaRPr>
          </a:p>
          <a:p>
            <a:pPr algn="justLow" eaLnBrk="1" hangingPunct="1">
              <a:buFontTx/>
              <a:buNone/>
            </a:pPr>
            <a:r>
              <a:rPr lang="en-US" sz="2400" b="1" smtClean="0">
                <a:solidFill>
                  <a:srgbClr val="000000"/>
                </a:solidFill>
                <a:cs typeface="Times New Roman" pitchFamily="18" charset="0"/>
              </a:rPr>
              <a:t>mol Fe = 2 mol Fe</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3</a:t>
            </a:r>
            <a:endParaRPr lang="en-US" sz="2400" b="1" smtClean="0">
              <a:solidFill>
                <a:srgbClr val="000000"/>
              </a:solidFill>
              <a:cs typeface="Times New Roman" pitchFamily="18" charset="0"/>
            </a:endParaRPr>
          </a:p>
          <a:p>
            <a:pPr algn="justLow" eaLnBrk="1" hangingPunct="1">
              <a:buFontTx/>
              <a:buNone/>
            </a:pPr>
            <a:r>
              <a:rPr lang="en-US" sz="2400" b="1" smtClean="0">
                <a:solidFill>
                  <a:srgbClr val="000000"/>
                </a:solidFill>
                <a:cs typeface="Times New Roman" pitchFamily="18" charset="0"/>
              </a:rPr>
              <a:t>g Fe/at wt Fe = 2 (</a:t>
            </a:r>
            <a:r>
              <a:rPr lang="en-US" sz="2400" b="1" smtClean="0">
                <a:solidFill>
                  <a:srgbClr val="800000"/>
                </a:solidFill>
                <a:cs typeface="Times New Roman" pitchFamily="18" charset="0"/>
              </a:rPr>
              <a:t>g</a:t>
            </a:r>
            <a:r>
              <a:rPr lang="en-US" sz="2400" b="1" smtClean="0">
                <a:solidFill>
                  <a:srgbClr val="000000"/>
                </a:solidFill>
                <a:cs typeface="Times New Roman" pitchFamily="18" charset="0"/>
              </a:rPr>
              <a:t> </a:t>
            </a:r>
            <a:r>
              <a:rPr lang="en-US" sz="2400" b="1" smtClean="0">
                <a:solidFill>
                  <a:srgbClr val="800000"/>
                </a:solidFill>
                <a:cs typeface="Times New Roman" pitchFamily="18" charset="0"/>
              </a:rPr>
              <a:t>Fe</a:t>
            </a:r>
            <a:r>
              <a:rPr lang="en-US" sz="2400" b="1" baseline="-30000" smtClean="0">
                <a:solidFill>
                  <a:srgbClr val="800000"/>
                </a:solidFill>
                <a:cs typeface="Times New Roman" pitchFamily="18" charset="0"/>
              </a:rPr>
              <a:t>2</a:t>
            </a:r>
            <a:r>
              <a:rPr lang="en-US" sz="2400" b="1" smtClean="0">
                <a:solidFill>
                  <a:srgbClr val="800000"/>
                </a:solidFill>
                <a:cs typeface="Times New Roman" pitchFamily="18" charset="0"/>
              </a:rPr>
              <a:t>O</a:t>
            </a:r>
            <a:r>
              <a:rPr lang="en-US" sz="2400" b="1" baseline="-30000" smtClean="0">
                <a:solidFill>
                  <a:srgbClr val="800000"/>
                </a:solidFill>
                <a:cs typeface="Times New Roman" pitchFamily="18" charset="0"/>
              </a:rPr>
              <a:t>3</a:t>
            </a:r>
            <a:r>
              <a:rPr lang="en-US" sz="2400" b="1" smtClean="0">
                <a:solidFill>
                  <a:srgbClr val="000000"/>
                </a:solidFill>
                <a:cs typeface="Times New Roman" pitchFamily="18" charset="0"/>
              </a:rPr>
              <a:t>/FW Fe</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a:t>
            </a:r>
          </a:p>
          <a:p>
            <a:pPr algn="justLow" eaLnBrk="1" hangingPunct="1">
              <a:buFontTx/>
              <a:buNone/>
            </a:pPr>
            <a:r>
              <a:rPr lang="en-US" sz="2400" b="1" smtClean="0">
                <a:solidFill>
                  <a:srgbClr val="000000"/>
                </a:solidFill>
                <a:cs typeface="Times New Roman" pitchFamily="18" charset="0"/>
              </a:rPr>
              <a:t>g Fe</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 = 1/2 g Fe (FW Fe</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/at wt Fe)</a:t>
            </a:r>
            <a:endParaRPr lang="en-US" sz="2400" smtClean="0">
              <a:solidFill>
                <a:srgbClr val="000000"/>
              </a:solidFill>
              <a:cs typeface="Times New Roman" pitchFamily="18" charset="0"/>
            </a:endParaRPr>
          </a:p>
          <a:p>
            <a:pPr algn="justLow" eaLnBrk="1" hangingPunct="1">
              <a:buFontTx/>
              <a:buNone/>
            </a:pPr>
            <a:r>
              <a:rPr lang="en-US" sz="2400" b="1" smtClean="0">
                <a:solidFill>
                  <a:srgbClr val="000000"/>
                </a:solidFill>
                <a:cs typeface="Times New Roman" pitchFamily="18" charset="0"/>
              </a:rPr>
              <a:t>In the same manner</a:t>
            </a:r>
          </a:p>
          <a:p>
            <a:pPr algn="justLow" eaLnBrk="1" hangingPunct="1">
              <a:buFontTx/>
              <a:buNone/>
            </a:pPr>
            <a:r>
              <a:rPr lang="en-US" sz="2400" b="1" smtClean="0">
                <a:solidFill>
                  <a:srgbClr val="800000"/>
                </a:solidFill>
                <a:cs typeface="Times New Roman" pitchFamily="18" charset="0"/>
              </a:rPr>
              <a:t>g Al</a:t>
            </a:r>
            <a:r>
              <a:rPr lang="en-US" sz="2400" b="1" baseline="-30000" smtClean="0">
                <a:solidFill>
                  <a:srgbClr val="800000"/>
                </a:solidFill>
                <a:cs typeface="Times New Roman" pitchFamily="18" charset="0"/>
              </a:rPr>
              <a:t>2</a:t>
            </a:r>
            <a:r>
              <a:rPr lang="en-US" sz="2400" b="1" smtClean="0">
                <a:solidFill>
                  <a:srgbClr val="800000"/>
                </a:solidFill>
                <a:cs typeface="Times New Roman" pitchFamily="18" charset="0"/>
              </a:rPr>
              <a:t>O</a:t>
            </a:r>
            <a:r>
              <a:rPr lang="en-US" sz="2400" b="1" baseline="-30000" smtClean="0">
                <a:solidFill>
                  <a:srgbClr val="800000"/>
                </a:solidFill>
                <a:cs typeface="Times New Roman" pitchFamily="18" charset="0"/>
              </a:rPr>
              <a:t>3</a:t>
            </a:r>
            <a:r>
              <a:rPr lang="en-US" sz="2400" b="1" smtClean="0">
                <a:solidFill>
                  <a:srgbClr val="000000"/>
                </a:solidFill>
                <a:cs typeface="Times New Roman" pitchFamily="18" charset="0"/>
              </a:rPr>
              <a:t> = 1/2 g Al (FW Al</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/at wt Al)</a:t>
            </a:r>
          </a:p>
          <a:p>
            <a:pPr algn="justLow" eaLnBrk="1" hangingPunct="1">
              <a:buFontTx/>
              <a:buNone/>
            </a:pPr>
            <a:r>
              <a:rPr lang="en-US" sz="2400" b="1" smtClean="0">
                <a:solidFill>
                  <a:srgbClr val="800000"/>
                </a:solidFill>
                <a:cs typeface="Times New Roman" pitchFamily="18" charset="0"/>
              </a:rPr>
              <a:t>g Fe</a:t>
            </a:r>
            <a:r>
              <a:rPr lang="en-US" sz="2400" b="1" baseline="-30000" smtClean="0">
                <a:solidFill>
                  <a:srgbClr val="800000"/>
                </a:solidFill>
                <a:cs typeface="Times New Roman" pitchFamily="18" charset="0"/>
              </a:rPr>
              <a:t>2</a:t>
            </a:r>
            <a:r>
              <a:rPr lang="en-US" sz="2400" b="1" smtClean="0">
                <a:solidFill>
                  <a:srgbClr val="800000"/>
                </a:solidFill>
                <a:cs typeface="Times New Roman" pitchFamily="18" charset="0"/>
              </a:rPr>
              <a:t>O</a:t>
            </a:r>
            <a:r>
              <a:rPr lang="en-US" sz="2400" b="1" baseline="-30000" smtClean="0">
                <a:solidFill>
                  <a:srgbClr val="800000"/>
                </a:solidFill>
                <a:cs typeface="Times New Roman" pitchFamily="18" charset="0"/>
              </a:rPr>
              <a:t>3</a:t>
            </a:r>
            <a:r>
              <a:rPr lang="en-US" sz="2400" b="1" smtClean="0">
                <a:solidFill>
                  <a:srgbClr val="000000"/>
                </a:solidFill>
                <a:cs typeface="Times New Roman" pitchFamily="18" charset="0"/>
              </a:rPr>
              <a:t> + </a:t>
            </a:r>
            <a:r>
              <a:rPr lang="en-US" sz="2400" b="1" smtClean="0">
                <a:solidFill>
                  <a:srgbClr val="800000"/>
                </a:solidFill>
                <a:cs typeface="Times New Roman" pitchFamily="18" charset="0"/>
              </a:rPr>
              <a:t>g Al</a:t>
            </a:r>
            <a:r>
              <a:rPr lang="en-US" sz="2400" b="1" baseline="-30000" smtClean="0">
                <a:solidFill>
                  <a:srgbClr val="800000"/>
                </a:solidFill>
                <a:cs typeface="Times New Roman" pitchFamily="18" charset="0"/>
              </a:rPr>
              <a:t>2</a:t>
            </a:r>
            <a:r>
              <a:rPr lang="en-US" sz="2400" b="1" smtClean="0">
                <a:solidFill>
                  <a:srgbClr val="800000"/>
                </a:solidFill>
                <a:cs typeface="Times New Roman" pitchFamily="18" charset="0"/>
              </a:rPr>
              <a:t>O</a:t>
            </a:r>
            <a:r>
              <a:rPr lang="en-US" sz="2400" b="1" baseline="-30000" smtClean="0">
                <a:solidFill>
                  <a:srgbClr val="800000"/>
                </a:solidFill>
                <a:cs typeface="Times New Roman" pitchFamily="18" charset="0"/>
              </a:rPr>
              <a:t>3</a:t>
            </a:r>
            <a:r>
              <a:rPr lang="en-US" sz="2400" b="1" smtClean="0">
                <a:solidFill>
                  <a:srgbClr val="000000"/>
                </a:solidFill>
                <a:cs typeface="Times New Roman" pitchFamily="18" charset="0"/>
              </a:rPr>
              <a:t> = 2.62</a:t>
            </a:r>
          </a:p>
          <a:p>
            <a:pPr algn="justLow" eaLnBrk="1" hangingPunct="1">
              <a:buFontTx/>
              <a:buNone/>
            </a:pPr>
            <a:r>
              <a:rPr lang="en-US" sz="2400" b="1" smtClean="0">
                <a:solidFill>
                  <a:srgbClr val="000000"/>
                </a:solidFill>
                <a:cs typeface="Times New Roman" pitchFamily="18" charset="0"/>
              </a:rPr>
              <a:t>1/2 g Fe (FW Fe</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/at wt Fe) + 1/2 g Al (FW Al</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O</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/at wt Al) = 2.62</a:t>
            </a:r>
            <a:endParaRPr lang="fr-FR" sz="2400" b="1" smtClean="0">
              <a:solidFill>
                <a:srgbClr val="000000"/>
              </a:solidFill>
              <a:cs typeface="Times New Roman" pitchFamily="18" charset="0"/>
            </a:endParaRPr>
          </a:p>
          <a:p>
            <a:pPr algn="justLow" eaLnBrk="1" hangingPunct="1">
              <a:buFontTx/>
              <a:buNone/>
            </a:pPr>
            <a:r>
              <a:rPr lang="fr-FR" sz="2400" b="1" smtClean="0">
                <a:solidFill>
                  <a:srgbClr val="000000"/>
                </a:solidFill>
                <a:cs typeface="Times New Roman" pitchFamily="18" charset="0"/>
              </a:rPr>
              <a:t>1/2 </a:t>
            </a:r>
            <a:r>
              <a:rPr lang="en-US" sz="2400" b="1" i="1" smtClean="0">
                <a:solidFill>
                  <a:srgbClr val="000000"/>
                </a:solidFill>
                <a:cs typeface="Times New Roman" pitchFamily="18" charset="0"/>
              </a:rPr>
              <a:t>x</a:t>
            </a:r>
            <a:r>
              <a:rPr lang="fr-FR" sz="2400" b="1" smtClean="0">
                <a:solidFill>
                  <a:srgbClr val="000000"/>
                </a:solidFill>
                <a:cs typeface="Times New Roman" pitchFamily="18" charset="0"/>
              </a:rPr>
              <a:t> (159.7/55.85) + 1/2 y (101.96/26.98) = 2.62</a:t>
            </a:r>
          </a:p>
          <a:p>
            <a:pPr algn="justLow" eaLnBrk="1" hangingPunct="1">
              <a:buFontTx/>
              <a:buNone/>
            </a:pPr>
            <a:r>
              <a:rPr lang="fr-FR" sz="2400" b="1" smtClean="0">
                <a:solidFill>
                  <a:srgbClr val="000000"/>
                </a:solidFill>
                <a:cs typeface="Times New Roman" pitchFamily="18" charset="0"/>
              </a:rPr>
              <a:t>1.43 </a:t>
            </a:r>
            <a:r>
              <a:rPr lang="en-US" sz="2400" b="1" i="1" smtClean="0">
                <a:solidFill>
                  <a:srgbClr val="000000"/>
                </a:solidFill>
                <a:cs typeface="Times New Roman" pitchFamily="18" charset="0"/>
              </a:rPr>
              <a:t>x</a:t>
            </a:r>
            <a:r>
              <a:rPr lang="fr-FR" sz="2400" b="1" smtClean="0">
                <a:solidFill>
                  <a:srgbClr val="000000"/>
                </a:solidFill>
                <a:cs typeface="Times New Roman" pitchFamily="18" charset="0"/>
              </a:rPr>
              <a:t> + 1.89 y = 2.62	                                              (2)</a:t>
            </a:r>
            <a:endParaRPr lang="en-US" sz="2400" b="1" smtClean="0">
              <a:solidFill>
                <a:srgbClr val="000000"/>
              </a:solidFill>
              <a:cs typeface="Times New Roman" pitchFamily="18" charset="0"/>
            </a:endParaRPr>
          </a:p>
        </p:txBody>
      </p:sp>
      <p:sp>
        <p:nvSpPr>
          <p:cNvPr id="35844"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50345C38-7FF7-4BCA-AE50-AD2AE8EBD175}" type="datetime1">
              <a:rPr lang="en-US" sz="1400" smtClean="0"/>
              <a:pPr eaLnBrk="1" hangingPunct="1"/>
              <a:t>5/6/2021</a:t>
            </a:fld>
            <a:endParaRPr lang="en-US" sz="1400" smtClean="0"/>
          </a:p>
        </p:txBody>
      </p:sp>
      <p:sp>
        <p:nvSpPr>
          <p:cNvPr id="35845"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65512700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7440C29F-9E8D-4BA7-9E92-54601767D3FC}" type="slidenum">
              <a:rPr lang="ar-SA" sz="1400" smtClean="0">
                <a:latin typeface="Arial" charset="0"/>
                <a:cs typeface="Arial" charset="0"/>
              </a:rPr>
              <a:pPr eaLnBrk="1" hangingPunct="1"/>
              <a:t>33</a:t>
            </a:fld>
            <a:endParaRPr lang="en-US" sz="1400" smtClean="0">
              <a:latin typeface="Arial" charset="0"/>
              <a:cs typeface="Arial" charset="0"/>
            </a:endParaRPr>
          </a:p>
        </p:txBody>
      </p:sp>
      <p:sp>
        <p:nvSpPr>
          <p:cNvPr id="36867" name="Rectangle 2"/>
          <p:cNvSpPr>
            <a:spLocks noGrp="1" noChangeArrowheads="1"/>
          </p:cNvSpPr>
          <p:nvPr>
            <p:ph type="body" idx="1"/>
          </p:nvPr>
        </p:nvSpPr>
        <p:spPr>
          <a:xfrm>
            <a:off x="457200" y="765175"/>
            <a:ext cx="8229600" cy="5360988"/>
          </a:xfrm>
        </p:spPr>
        <p:txBody>
          <a:bodyPr/>
          <a:lstStyle/>
          <a:p>
            <a:pPr algn="justLow" eaLnBrk="1" hangingPunct="1">
              <a:buFontTx/>
              <a:buNone/>
            </a:pPr>
            <a:r>
              <a:rPr lang="fr-FR" sz="2400" b="1" smtClean="0">
                <a:solidFill>
                  <a:srgbClr val="000000"/>
                </a:solidFill>
                <a:cs typeface="Times New Roman" pitchFamily="18" charset="0"/>
              </a:rPr>
              <a:t>2.90 </a:t>
            </a:r>
            <a:r>
              <a:rPr lang="fr-FR" sz="2400" b="1" i="1" smtClean="0">
                <a:solidFill>
                  <a:srgbClr val="000000"/>
                </a:solidFill>
                <a:cs typeface="Times New Roman" pitchFamily="18" charset="0"/>
              </a:rPr>
              <a:t>x</a:t>
            </a:r>
            <a:r>
              <a:rPr lang="fr-FR" sz="2400" b="1" smtClean="0">
                <a:solidFill>
                  <a:srgbClr val="000000"/>
                </a:solidFill>
                <a:cs typeface="Times New Roman" pitchFamily="18" charset="0"/>
              </a:rPr>
              <a:t> + 4.94 y = 5.95	                                              (1)</a:t>
            </a:r>
            <a:endParaRPr lang="en-US" sz="2400" smtClean="0">
              <a:solidFill>
                <a:srgbClr val="000000"/>
              </a:solidFill>
              <a:cs typeface="Times New Roman" pitchFamily="18" charset="0"/>
            </a:endParaRPr>
          </a:p>
          <a:p>
            <a:pPr algn="justLow" eaLnBrk="1" hangingPunct="1">
              <a:buFontTx/>
              <a:buNone/>
            </a:pPr>
            <a:r>
              <a:rPr lang="fr-FR" sz="2400" b="1" smtClean="0">
                <a:solidFill>
                  <a:srgbClr val="000000"/>
                </a:solidFill>
                <a:cs typeface="Times New Roman" pitchFamily="18" charset="0"/>
              </a:rPr>
              <a:t>1.43 x + 1.89 y = 2.62	                                              (2)</a:t>
            </a:r>
            <a:endParaRPr lang="en-US" sz="2400" smtClean="0">
              <a:solidFill>
                <a:srgbClr val="000000"/>
              </a:solidFill>
              <a:cs typeface="Times New Roman" pitchFamily="18" charset="0"/>
            </a:endParaRPr>
          </a:p>
          <a:p>
            <a:pPr algn="justLow" eaLnBrk="1" hangingPunct="1">
              <a:buFontTx/>
              <a:buNone/>
            </a:pPr>
            <a:r>
              <a:rPr lang="en-US" sz="2400" b="1" smtClean="0">
                <a:solidFill>
                  <a:srgbClr val="000000"/>
                </a:solidFill>
                <a:cs typeface="Times New Roman" pitchFamily="18" charset="0"/>
              </a:rPr>
              <a:t>from (1) and (2) we get</a:t>
            </a:r>
          </a:p>
          <a:p>
            <a:pPr algn="justLow" eaLnBrk="1" hangingPunct="1">
              <a:buFontTx/>
              <a:buNone/>
            </a:pPr>
            <a:r>
              <a:rPr lang="en-US" sz="2400" b="1" smtClean="0">
                <a:solidFill>
                  <a:srgbClr val="000000"/>
                </a:solidFill>
                <a:cs typeface="Times New Roman" pitchFamily="18" charset="0"/>
              </a:rPr>
              <a:t> </a:t>
            </a:r>
            <a:r>
              <a:rPr lang="fr-FR" sz="2400" b="1" i="1" smtClean="0">
                <a:solidFill>
                  <a:srgbClr val="000000"/>
                </a:solidFill>
                <a:cs typeface="Times New Roman" pitchFamily="18" charset="0"/>
              </a:rPr>
              <a:t>x</a:t>
            </a:r>
            <a:r>
              <a:rPr lang="fr-FR" sz="2400" b="1" smtClean="0">
                <a:solidFill>
                  <a:srgbClr val="000000"/>
                </a:solidFill>
                <a:cs typeface="Times New Roman" pitchFamily="18" charset="0"/>
              </a:rPr>
              <a:t> = 1.07</a:t>
            </a:r>
          </a:p>
          <a:p>
            <a:pPr algn="justLow" eaLnBrk="1" hangingPunct="1">
              <a:buFontTx/>
              <a:buNone/>
            </a:pPr>
            <a:r>
              <a:rPr lang="fr-FR" sz="2400" b="1" smtClean="0">
                <a:solidFill>
                  <a:srgbClr val="000000"/>
                </a:solidFill>
                <a:cs typeface="Times New Roman" pitchFamily="18" charset="0"/>
              </a:rPr>
              <a:t>y = 0.58</a:t>
            </a:r>
          </a:p>
          <a:p>
            <a:pPr algn="justLow" eaLnBrk="1" hangingPunct="1">
              <a:buFontTx/>
              <a:buNone/>
            </a:pPr>
            <a:r>
              <a:rPr lang="fr-FR" sz="2400" b="1" smtClean="0">
                <a:solidFill>
                  <a:srgbClr val="000000"/>
                </a:solidFill>
                <a:cs typeface="Times New Roman" pitchFamily="18" charset="0"/>
              </a:rPr>
              <a:t>% Fe = (1.07/5.95) x 100 = 18.0%</a:t>
            </a:r>
            <a:endParaRPr lang="en-US" sz="2400" b="1" smtClean="0">
              <a:solidFill>
                <a:srgbClr val="000000"/>
              </a:solidFill>
              <a:cs typeface="Times New Roman" pitchFamily="18" charset="0"/>
            </a:endParaRPr>
          </a:p>
          <a:p>
            <a:pPr algn="justLow" eaLnBrk="1" hangingPunct="1">
              <a:buFontTx/>
              <a:buNone/>
            </a:pPr>
            <a:r>
              <a:rPr lang="en-US" sz="2400" b="1" smtClean="0">
                <a:solidFill>
                  <a:srgbClr val="000000"/>
                </a:solidFill>
                <a:cs typeface="Times New Roman" pitchFamily="18" charset="0"/>
              </a:rPr>
              <a:t>% Al = (0.58/5.95) x 100 = 9.8%	</a:t>
            </a:r>
          </a:p>
          <a:p>
            <a:pPr algn="justLow" eaLnBrk="1" hangingPunct="1"/>
            <a:r>
              <a:rPr lang="en-US" sz="1200" smtClean="0">
                <a:solidFill>
                  <a:srgbClr val="000000"/>
                </a:solidFill>
                <a:cs typeface="Times New Roman" pitchFamily="18" charset="0"/>
              </a:rPr>
              <a:t> </a:t>
            </a:r>
          </a:p>
        </p:txBody>
      </p:sp>
      <p:sp>
        <p:nvSpPr>
          <p:cNvPr id="36868"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92FD45B-2610-44DC-87B2-1CA4F5734CC2}" type="datetime1">
              <a:rPr lang="en-US" sz="1400" smtClean="0"/>
              <a:pPr eaLnBrk="1" hangingPunct="1"/>
              <a:t>5/6/2021</a:t>
            </a:fld>
            <a:endParaRPr lang="en-US" sz="1400" smtClean="0"/>
          </a:p>
        </p:txBody>
      </p:sp>
      <p:sp>
        <p:nvSpPr>
          <p:cNvPr id="36869"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77922839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7E83E19B-2DE8-4D25-B4A8-7509F9645EC0}" type="slidenum">
              <a:rPr lang="ar-SA" sz="1400" smtClean="0">
                <a:latin typeface="Arial" charset="0"/>
                <a:cs typeface="Arial" charset="0"/>
              </a:rPr>
              <a:pPr eaLnBrk="1" hangingPunct="1"/>
              <a:t>34</a:t>
            </a:fld>
            <a:endParaRPr lang="en-US" sz="1400" smtClean="0">
              <a:latin typeface="Arial" charset="0"/>
              <a:cs typeface="Arial" charset="0"/>
            </a:endParaRPr>
          </a:p>
        </p:txBody>
      </p:sp>
      <p:sp>
        <p:nvSpPr>
          <p:cNvPr id="37891" name="Rectangle 2"/>
          <p:cNvSpPr>
            <a:spLocks noGrp="1" noChangeArrowheads="1"/>
          </p:cNvSpPr>
          <p:nvPr>
            <p:ph type="title"/>
          </p:nvPr>
        </p:nvSpPr>
        <p:spPr/>
        <p:txBody>
          <a:bodyPr/>
          <a:lstStyle/>
          <a:p>
            <a:pPr eaLnBrk="1" hangingPunct="1"/>
            <a:r>
              <a:rPr lang="en-US" smtClean="0"/>
              <a:t>Problem</a:t>
            </a:r>
          </a:p>
        </p:txBody>
      </p:sp>
      <p:sp>
        <p:nvSpPr>
          <p:cNvPr id="37892" name="Rectangle 3"/>
          <p:cNvSpPr>
            <a:spLocks noGrp="1" noChangeArrowheads="1"/>
          </p:cNvSpPr>
          <p:nvPr>
            <p:ph type="body" idx="1"/>
          </p:nvPr>
        </p:nvSpPr>
        <p:spPr/>
        <p:txBody>
          <a:bodyPr/>
          <a:lstStyle/>
          <a:p>
            <a:pPr eaLnBrk="1" hangingPunct="1">
              <a:lnSpc>
                <a:spcPct val="90000"/>
              </a:lnSpc>
              <a:buFontTx/>
              <a:buNone/>
            </a:pPr>
            <a:r>
              <a:rPr lang="en-US" b="1" smtClean="0">
                <a:solidFill>
                  <a:srgbClr val="0000FF"/>
                </a:solidFill>
              </a:rPr>
              <a:t>Consider a 1.0000 g sample containing 75% potassium sulfate (FW 174.25) and 25% MSO</a:t>
            </a:r>
            <a:r>
              <a:rPr lang="en-US" b="1" baseline="-25000" smtClean="0">
                <a:solidFill>
                  <a:srgbClr val="0000FF"/>
                </a:solidFill>
              </a:rPr>
              <a:t>4</a:t>
            </a:r>
            <a:r>
              <a:rPr lang="en-US" b="1" smtClean="0">
                <a:solidFill>
                  <a:srgbClr val="0000FF"/>
                </a:solidFill>
              </a:rPr>
              <a:t>.  The sample is dissolved and the sulfate is precipated as BaSO</a:t>
            </a:r>
            <a:r>
              <a:rPr lang="en-US" b="1" baseline="-25000" smtClean="0">
                <a:solidFill>
                  <a:srgbClr val="0000FF"/>
                </a:solidFill>
              </a:rPr>
              <a:t>4</a:t>
            </a:r>
            <a:r>
              <a:rPr lang="en-US" b="1" smtClean="0">
                <a:solidFill>
                  <a:srgbClr val="0000FF"/>
                </a:solidFill>
              </a:rPr>
              <a:t> (FW 233.39).  If the BaSO</a:t>
            </a:r>
            <a:r>
              <a:rPr lang="en-US" b="1" baseline="-25000" smtClean="0">
                <a:solidFill>
                  <a:srgbClr val="0000FF"/>
                </a:solidFill>
              </a:rPr>
              <a:t>4</a:t>
            </a:r>
            <a:r>
              <a:rPr lang="en-US" b="1" smtClean="0">
                <a:solidFill>
                  <a:srgbClr val="0000FF"/>
                </a:solidFill>
              </a:rPr>
              <a:t> ppt weighs 1.4900g, what is the atomic weight of M</a:t>
            </a:r>
            <a:r>
              <a:rPr lang="en-US" b="1" baseline="30000" smtClean="0">
                <a:solidFill>
                  <a:srgbClr val="0000FF"/>
                </a:solidFill>
              </a:rPr>
              <a:t>2+</a:t>
            </a:r>
            <a:r>
              <a:rPr lang="en-US" b="1" smtClean="0">
                <a:solidFill>
                  <a:srgbClr val="0000FF"/>
                </a:solidFill>
              </a:rPr>
              <a:t> in MSO</a:t>
            </a:r>
            <a:r>
              <a:rPr lang="en-US" b="1" baseline="-25000" smtClean="0">
                <a:solidFill>
                  <a:srgbClr val="0000FF"/>
                </a:solidFill>
              </a:rPr>
              <a:t>4</a:t>
            </a:r>
            <a:r>
              <a:rPr lang="en-US" b="1" smtClean="0">
                <a:solidFill>
                  <a:srgbClr val="0000FF"/>
                </a:solidFill>
              </a:rPr>
              <a:t>?</a:t>
            </a:r>
            <a:r>
              <a:rPr lang="en-US" smtClean="0"/>
              <a:t> </a:t>
            </a:r>
          </a:p>
          <a:p>
            <a:pPr algn="ctr" eaLnBrk="1" hangingPunct="1">
              <a:lnSpc>
                <a:spcPct val="90000"/>
              </a:lnSpc>
              <a:buFontTx/>
              <a:buNone/>
            </a:pPr>
            <a:r>
              <a:rPr lang="en-US" sz="2800" smtClean="0">
                <a:solidFill>
                  <a:srgbClr val="800000"/>
                </a:solidFill>
              </a:rPr>
              <a:t>K</a:t>
            </a:r>
            <a:r>
              <a:rPr lang="en-US" sz="2800" baseline="-25000" smtClean="0">
                <a:solidFill>
                  <a:srgbClr val="800000"/>
                </a:solidFill>
              </a:rPr>
              <a:t>2</a:t>
            </a:r>
            <a:r>
              <a:rPr lang="en-US" sz="2800" smtClean="0">
                <a:solidFill>
                  <a:srgbClr val="800000"/>
                </a:solidFill>
              </a:rPr>
              <a:t>SO</a:t>
            </a:r>
            <a:r>
              <a:rPr lang="en-US" sz="2800" baseline="-25000" smtClean="0">
                <a:solidFill>
                  <a:srgbClr val="800000"/>
                </a:solidFill>
              </a:rPr>
              <a:t>4</a:t>
            </a:r>
            <a:r>
              <a:rPr lang="en-US" sz="2800" smtClean="0">
                <a:solidFill>
                  <a:srgbClr val="800000"/>
                </a:solidFill>
              </a:rPr>
              <a:t> </a:t>
            </a:r>
            <a:r>
              <a:rPr lang="en-US" sz="2800" smtClean="0">
                <a:solidFill>
                  <a:srgbClr val="800000"/>
                </a:solidFill>
                <a:latin typeface="Wingdings 3" pitchFamily="18" charset="2"/>
              </a:rPr>
              <a:t>g</a:t>
            </a:r>
            <a:r>
              <a:rPr lang="en-US" sz="2800" smtClean="0">
                <a:solidFill>
                  <a:srgbClr val="800000"/>
                </a:solidFill>
              </a:rPr>
              <a:t> BaSO</a:t>
            </a:r>
            <a:r>
              <a:rPr lang="en-US" sz="2800" baseline="-25000" smtClean="0">
                <a:solidFill>
                  <a:srgbClr val="800000"/>
                </a:solidFill>
              </a:rPr>
              <a:t>4</a:t>
            </a:r>
          </a:p>
          <a:p>
            <a:pPr algn="ctr" eaLnBrk="1" hangingPunct="1">
              <a:lnSpc>
                <a:spcPct val="90000"/>
              </a:lnSpc>
              <a:buFontTx/>
              <a:buNone/>
            </a:pPr>
            <a:r>
              <a:rPr lang="en-US" sz="2800" smtClean="0">
                <a:solidFill>
                  <a:srgbClr val="800000"/>
                </a:solidFill>
              </a:rPr>
              <a:t>MSO</a:t>
            </a:r>
            <a:r>
              <a:rPr lang="en-US" sz="2800" baseline="-25000" smtClean="0">
                <a:solidFill>
                  <a:srgbClr val="800000"/>
                </a:solidFill>
              </a:rPr>
              <a:t>4</a:t>
            </a:r>
            <a:r>
              <a:rPr lang="en-US" sz="2800" smtClean="0">
                <a:solidFill>
                  <a:srgbClr val="800000"/>
                </a:solidFill>
              </a:rPr>
              <a:t> </a:t>
            </a:r>
            <a:r>
              <a:rPr lang="en-US" sz="2800" smtClean="0">
                <a:solidFill>
                  <a:srgbClr val="800000"/>
                </a:solidFill>
                <a:latin typeface="Wingdings 3" pitchFamily="18" charset="2"/>
              </a:rPr>
              <a:t>g</a:t>
            </a:r>
            <a:r>
              <a:rPr lang="en-US" sz="2800" smtClean="0">
                <a:solidFill>
                  <a:srgbClr val="800000"/>
                </a:solidFill>
              </a:rPr>
              <a:t> BaSO</a:t>
            </a:r>
            <a:r>
              <a:rPr lang="en-US" sz="2800" baseline="-25000" smtClean="0">
                <a:solidFill>
                  <a:srgbClr val="800000"/>
                </a:solidFill>
              </a:rPr>
              <a:t>4</a:t>
            </a:r>
          </a:p>
          <a:p>
            <a:pPr algn="ctr" eaLnBrk="1" hangingPunct="1">
              <a:lnSpc>
                <a:spcPct val="90000"/>
              </a:lnSpc>
              <a:buFontTx/>
              <a:buNone/>
            </a:pPr>
            <a:endParaRPr lang="en-US" sz="2800" baseline="-25000" smtClean="0">
              <a:solidFill>
                <a:srgbClr val="800000"/>
              </a:solidFill>
            </a:endParaRPr>
          </a:p>
        </p:txBody>
      </p:sp>
      <p:sp>
        <p:nvSpPr>
          <p:cNvPr id="37893"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52D77D1F-70C6-4839-BBA3-43D634584CE5}" type="datetime1">
              <a:rPr lang="en-US" sz="1400" smtClean="0"/>
              <a:pPr eaLnBrk="1" hangingPunct="1"/>
              <a:t>5/6/2021</a:t>
            </a:fld>
            <a:endParaRPr lang="en-US" sz="1400" smtClean="0"/>
          </a:p>
        </p:txBody>
      </p:sp>
      <p:sp>
        <p:nvSpPr>
          <p:cNvPr id="37894"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85494546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عنصر نائب لرقم الشريحة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8D6455B4-8444-4549-9216-118BD095F278}" type="slidenum">
              <a:rPr lang="ar-SA" sz="1400" smtClean="0">
                <a:latin typeface="Arial" charset="0"/>
                <a:cs typeface="Arial" charset="0"/>
              </a:rPr>
              <a:pPr eaLnBrk="1" hangingPunct="1"/>
              <a:t>35</a:t>
            </a:fld>
            <a:endParaRPr lang="en-US" sz="1400" smtClean="0">
              <a:latin typeface="Arial" charset="0"/>
              <a:cs typeface="Arial" charset="0"/>
            </a:endParaRPr>
          </a:p>
        </p:txBody>
      </p:sp>
      <p:sp>
        <p:nvSpPr>
          <p:cNvPr id="38915" name="Rectangle 2"/>
          <p:cNvSpPr>
            <a:spLocks noGrp="1" noChangeArrowheads="1"/>
          </p:cNvSpPr>
          <p:nvPr>
            <p:ph type="body" sz="half" idx="1"/>
          </p:nvPr>
        </p:nvSpPr>
        <p:spPr>
          <a:xfrm>
            <a:off x="457200" y="692150"/>
            <a:ext cx="8218488" cy="5434013"/>
          </a:xfrm>
        </p:spPr>
        <p:txBody>
          <a:bodyPr/>
          <a:lstStyle/>
          <a:p>
            <a:pPr eaLnBrk="1" hangingPunct="1">
              <a:buFontTx/>
              <a:buNone/>
            </a:pPr>
            <a:r>
              <a:rPr lang="en-US" sz="2800" smtClean="0"/>
              <a:t>mmol BaSO</a:t>
            </a:r>
            <a:r>
              <a:rPr lang="en-US" sz="2800" baseline="-25000" smtClean="0"/>
              <a:t>4</a:t>
            </a:r>
            <a:r>
              <a:rPr lang="en-US" sz="2800" smtClean="0"/>
              <a:t> = mmol K</a:t>
            </a:r>
            <a:r>
              <a:rPr lang="en-US" sz="2800" baseline="-25000" smtClean="0"/>
              <a:t>2</a:t>
            </a:r>
            <a:r>
              <a:rPr lang="en-US" sz="2800" smtClean="0"/>
              <a:t>SO</a:t>
            </a:r>
            <a:r>
              <a:rPr lang="en-US" sz="2800" baseline="-25000" smtClean="0"/>
              <a:t>4</a:t>
            </a:r>
            <a:r>
              <a:rPr lang="en-US" sz="2800" smtClean="0"/>
              <a:t> + mmol MSO</a:t>
            </a:r>
            <a:r>
              <a:rPr lang="en-US" sz="2800" baseline="-25000" smtClean="0"/>
              <a:t>4</a:t>
            </a:r>
            <a:r>
              <a:rPr lang="en-US" sz="2800" smtClean="0"/>
              <a:t> </a:t>
            </a:r>
          </a:p>
          <a:p>
            <a:pPr eaLnBrk="1" hangingPunct="1">
              <a:buFontTx/>
              <a:buNone/>
            </a:pPr>
            <a:endParaRPr lang="en-US" sz="2000" smtClean="0"/>
          </a:p>
          <a:p>
            <a:pPr eaLnBrk="1" hangingPunct="1">
              <a:buFontTx/>
              <a:buNone/>
            </a:pPr>
            <a:endParaRPr lang="en-US" smtClean="0"/>
          </a:p>
          <a:p>
            <a:pPr eaLnBrk="1" hangingPunct="1">
              <a:buFontTx/>
              <a:buNone/>
            </a:pPr>
            <a:endParaRPr lang="en-US" smtClean="0"/>
          </a:p>
          <a:p>
            <a:pPr eaLnBrk="1" hangingPunct="1">
              <a:buFontTx/>
              <a:buNone/>
            </a:pPr>
            <a:endParaRPr lang="en-US" smtClean="0"/>
          </a:p>
          <a:p>
            <a:pPr eaLnBrk="1" hangingPunct="1">
              <a:buFontTx/>
              <a:buNone/>
            </a:pPr>
            <a:r>
              <a:rPr lang="en-US" smtClean="0"/>
              <a:t>Rearranging and solving:</a:t>
            </a:r>
          </a:p>
          <a:p>
            <a:pPr eaLnBrk="1" hangingPunct="1">
              <a:buFontTx/>
              <a:buNone/>
            </a:pPr>
            <a:endParaRPr lang="en-US" smtClean="0"/>
          </a:p>
        </p:txBody>
      </p:sp>
      <p:graphicFrame>
        <p:nvGraphicFramePr>
          <p:cNvPr id="38916" name="Object 3"/>
          <p:cNvGraphicFramePr>
            <a:graphicFrameLocks noChangeAspect="1"/>
          </p:cNvGraphicFramePr>
          <p:nvPr>
            <p:ph sz="quarter" idx="2"/>
          </p:nvPr>
        </p:nvGraphicFramePr>
        <p:xfrm>
          <a:off x="971550" y="1628775"/>
          <a:ext cx="4824413" cy="981075"/>
        </p:xfrm>
        <a:graphic>
          <a:graphicData uri="http://schemas.openxmlformats.org/presentationml/2006/ole">
            <mc:AlternateContent xmlns:mc="http://schemas.openxmlformats.org/markup-compatibility/2006">
              <mc:Choice xmlns:v="urn:schemas-microsoft-com:vml" Requires="v">
                <p:oleObj spid="_x0000_s3074" name="Equation" r:id="rId3" imgW="1586811" imgH="393529" progId="Equation.3">
                  <p:embed/>
                </p:oleObj>
              </mc:Choice>
              <mc:Fallback>
                <p:oleObj name="Equation" r:id="rId3" imgW="1586811" imgH="39352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628775"/>
                        <a:ext cx="4824413" cy="98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17" name="Object 4"/>
          <p:cNvGraphicFramePr>
            <a:graphicFrameLocks noChangeAspect="1"/>
          </p:cNvGraphicFramePr>
          <p:nvPr>
            <p:ph sz="quarter" idx="3"/>
          </p:nvPr>
        </p:nvGraphicFramePr>
        <p:xfrm>
          <a:off x="684213" y="4221163"/>
          <a:ext cx="4752975" cy="1016000"/>
        </p:xfrm>
        <a:graphic>
          <a:graphicData uri="http://schemas.openxmlformats.org/presentationml/2006/ole">
            <mc:AlternateContent xmlns:mc="http://schemas.openxmlformats.org/markup-compatibility/2006">
              <mc:Choice xmlns:v="urn:schemas-microsoft-com:vml" Requires="v">
                <p:oleObj spid="_x0000_s3075" name="Equation" r:id="rId5" imgW="1841500" imgH="393700" progId="Equation.3">
                  <p:embed/>
                </p:oleObj>
              </mc:Choice>
              <mc:Fallback>
                <p:oleObj name="Equation" r:id="rId5" imgW="1841500" imgH="393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4221163"/>
                        <a:ext cx="4752975"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918" name="Date Placeholder 7"/>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424AD302-3DA9-4A22-A34A-F685C8FC611F}" type="datetime1">
              <a:rPr lang="en-US" sz="1400" smtClean="0"/>
              <a:pPr eaLnBrk="1" hangingPunct="1"/>
              <a:t>5/6/2021</a:t>
            </a:fld>
            <a:endParaRPr lang="en-US" sz="1400" smtClean="0"/>
          </a:p>
        </p:txBody>
      </p:sp>
      <p:sp>
        <p:nvSpPr>
          <p:cNvPr id="38919"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6383923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F5AF475E-645F-497E-8239-6364A117E08F}" type="slidenum">
              <a:rPr lang="ar-SA" sz="1400" smtClean="0">
                <a:latin typeface="Arial" charset="0"/>
                <a:cs typeface="Arial" charset="0"/>
              </a:rPr>
              <a:pPr eaLnBrk="1" hangingPunct="1"/>
              <a:t>36</a:t>
            </a:fld>
            <a:endParaRPr lang="en-US" sz="1400" smtClean="0">
              <a:latin typeface="Arial" charset="0"/>
              <a:cs typeface="Arial" charset="0"/>
            </a:endParaRPr>
          </a:p>
        </p:txBody>
      </p:sp>
      <p:sp>
        <p:nvSpPr>
          <p:cNvPr id="39939" name="Rectangle 2"/>
          <p:cNvSpPr>
            <a:spLocks noGrp="1" noChangeArrowheads="1"/>
          </p:cNvSpPr>
          <p:nvPr>
            <p:ph type="body" idx="1"/>
          </p:nvPr>
        </p:nvSpPr>
        <p:spPr>
          <a:xfrm>
            <a:off x="457200" y="692150"/>
            <a:ext cx="8229600" cy="5434013"/>
          </a:xfrm>
        </p:spPr>
        <p:txBody>
          <a:bodyPr/>
          <a:lstStyle/>
          <a:p>
            <a:pPr eaLnBrk="1" hangingPunct="1">
              <a:buFontTx/>
              <a:buNone/>
            </a:pPr>
            <a:r>
              <a:rPr lang="en-US" smtClean="0">
                <a:solidFill>
                  <a:srgbClr val="0000FF"/>
                </a:solidFill>
              </a:rPr>
              <a:t>A mixture of mercurous chloride (FW 472.09) and mercurous bromide (FW 560.99) weighs 2.00 g.  The mixture is quantitatively reduced to mercury metal (At wt 200.59) which weighs 1.50 g.  Calculate the % mercurous chloride and mercurous bromide in the original mixture.</a:t>
            </a:r>
          </a:p>
          <a:p>
            <a:pPr eaLnBrk="1" hangingPunct="1">
              <a:buFontTx/>
              <a:buNone/>
            </a:pPr>
            <a:r>
              <a:rPr lang="en-US" smtClean="0">
                <a:solidFill>
                  <a:srgbClr val="800000"/>
                </a:solidFill>
              </a:rPr>
              <a:t>Hg</a:t>
            </a:r>
            <a:r>
              <a:rPr lang="en-US" baseline="-25000" smtClean="0">
                <a:solidFill>
                  <a:srgbClr val="800000"/>
                </a:solidFill>
              </a:rPr>
              <a:t>2</a:t>
            </a:r>
            <a:r>
              <a:rPr lang="en-US" smtClean="0">
                <a:solidFill>
                  <a:srgbClr val="800000"/>
                </a:solidFill>
              </a:rPr>
              <a:t>Cl</a:t>
            </a:r>
            <a:r>
              <a:rPr lang="en-US" baseline="-25000" smtClean="0">
                <a:solidFill>
                  <a:srgbClr val="800000"/>
                </a:solidFill>
              </a:rPr>
              <a:t>2</a:t>
            </a:r>
            <a:r>
              <a:rPr lang="en-US" smtClean="0">
                <a:solidFill>
                  <a:srgbClr val="800000"/>
                </a:solidFill>
              </a:rPr>
              <a:t> </a:t>
            </a:r>
            <a:r>
              <a:rPr lang="en-US" smtClean="0">
                <a:solidFill>
                  <a:srgbClr val="800000"/>
                </a:solidFill>
                <a:latin typeface="Wingdings 3" pitchFamily="18" charset="2"/>
              </a:rPr>
              <a:t>g</a:t>
            </a:r>
            <a:r>
              <a:rPr lang="en-US" smtClean="0">
                <a:solidFill>
                  <a:srgbClr val="800000"/>
                </a:solidFill>
              </a:rPr>
              <a:t> 2Hg</a:t>
            </a:r>
          </a:p>
          <a:p>
            <a:pPr eaLnBrk="1" hangingPunct="1">
              <a:buFontTx/>
              <a:buNone/>
            </a:pPr>
            <a:r>
              <a:rPr lang="en-US" smtClean="0">
                <a:solidFill>
                  <a:srgbClr val="800000"/>
                </a:solidFill>
              </a:rPr>
              <a:t>Hg</a:t>
            </a:r>
            <a:r>
              <a:rPr lang="en-US" baseline="-25000" smtClean="0">
                <a:solidFill>
                  <a:srgbClr val="800000"/>
                </a:solidFill>
              </a:rPr>
              <a:t>2</a:t>
            </a:r>
            <a:r>
              <a:rPr lang="en-US" smtClean="0">
                <a:solidFill>
                  <a:srgbClr val="800000"/>
                </a:solidFill>
              </a:rPr>
              <a:t>Br</a:t>
            </a:r>
            <a:r>
              <a:rPr lang="en-US" baseline="-25000" smtClean="0">
                <a:solidFill>
                  <a:srgbClr val="800000"/>
                </a:solidFill>
              </a:rPr>
              <a:t>2 </a:t>
            </a:r>
            <a:r>
              <a:rPr lang="en-US" smtClean="0">
                <a:solidFill>
                  <a:srgbClr val="800000"/>
                </a:solidFill>
                <a:latin typeface="Wingdings 3" pitchFamily="18" charset="2"/>
              </a:rPr>
              <a:t>g</a:t>
            </a:r>
            <a:r>
              <a:rPr lang="en-US" smtClean="0">
                <a:solidFill>
                  <a:srgbClr val="800000"/>
                </a:solidFill>
              </a:rPr>
              <a:t> 2Hg</a:t>
            </a:r>
          </a:p>
        </p:txBody>
      </p:sp>
      <p:sp>
        <p:nvSpPr>
          <p:cNvPr id="39940"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4EFE8DED-9125-4AEF-ABB3-7114E91E9ECD}" type="datetime1">
              <a:rPr lang="en-US" sz="1400" smtClean="0"/>
              <a:pPr eaLnBrk="1" hangingPunct="1"/>
              <a:t>5/6/2021</a:t>
            </a:fld>
            <a:endParaRPr lang="en-US" sz="1400" smtClean="0"/>
          </a:p>
        </p:txBody>
      </p:sp>
      <p:sp>
        <p:nvSpPr>
          <p:cNvPr id="39941"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53972425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عنصر نائب لرقم الشريحة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A0744FC-E065-42A0-BE3B-BDA05941C75C}" type="slidenum">
              <a:rPr lang="ar-SA" sz="1400" smtClean="0">
                <a:latin typeface="Arial" charset="0"/>
                <a:cs typeface="Arial" charset="0"/>
              </a:rPr>
              <a:pPr eaLnBrk="1" hangingPunct="1"/>
              <a:t>37</a:t>
            </a:fld>
            <a:endParaRPr lang="en-US" sz="1400" smtClean="0">
              <a:latin typeface="Arial" charset="0"/>
              <a:cs typeface="Arial" charset="0"/>
            </a:endParaRPr>
          </a:p>
        </p:txBody>
      </p:sp>
      <p:sp>
        <p:nvSpPr>
          <p:cNvPr id="40963" name="Rectangle 2"/>
          <p:cNvSpPr>
            <a:spLocks noGrp="1" noChangeArrowheads="1"/>
          </p:cNvSpPr>
          <p:nvPr>
            <p:ph type="title"/>
          </p:nvPr>
        </p:nvSpPr>
        <p:spPr/>
        <p:txBody>
          <a:bodyPr/>
          <a:lstStyle/>
          <a:p>
            <a:pPr algn="l" eaLnBrk="1" hangingPunct="1"/>
            <a:r>
              <a:rPr lang="en-US" smtClean="0"/>
              <a:t>Answer</a:t>
            </a:r>
          </a:p>
        </p:txBody>
      </p:sp>
      <p:sp>
        <p:nvSpPr>
          <p:cNvPr id="40964" name="Rectangle 3"/>
          <p:cNvSpPr>
            <a:spLocks noGrp="1" noChangeArrowheads="1"/>
          </p:cNvSpPr>
          <p:nvPr>
            <p:ph type="body" sz="half" idx="1"/>
          </p:nvPr>
        </p:nvSpPr>
        <p:spPr>
          <a:xfrm>
            <a:off x="457200" y="1600200"/>
            <a:ext cx="8362950" cy="4525963"/>
          </a:xfrm>
        </p:spPr>
        <p:txBody>
          <a:bodyPr/>
          <a:lstStyle/>
          <a:p>
            <a:pPr eaLnBrk="1" hangingPunct="1">
              <a:buFontTx/>
              <a:buNone/>
            </a:pPr>
            <a:r>
              <a:rPr lang="en-US" sz="2800" smtClean="0">
                <a:solidFill>
                  <a:srgbClr val="800000"/>
                </a:solidFill>
              </a:rPr>
              <a:t>mmol Hg = 2 mmol Hg</a:t>
            </a:r>
            <a:r>
              <a:rPr lang="en-US" sz="2800" baseline="-25000" smtClean="0">
                <a:solidFill>
                  <a:srgbClr val="800000"/>
                </a:solidFill>
              </a:rPr>
              <a:t>2</a:t>
            </a:r>
            <a:r>
              <a:rPr lang="en-US" sz="2800" smtClean="0">
                <a:solidFill>
                  <a:srgbClr val="800000"/>
                </a:solidFill>
              </a:rPr>
              <a:t>Cl</a:t>
            </a:r>
            <a:r>
              <a:rPr lang="en-US" sz="2800" baseline="-25000" smtClean="0">
                <a:solidFill>
                  <a:srgbClr val="800000"/>
                </a:solidFill>
              </a:rPr>
              <a:t>2</a:t>
            </a:r>
            <a:r>
              <a:rPr lang="en-US" sz="2800" smtClean="0">
                <a:solidFill>
                  <a:srgbClr val="800000"/>
                </a:solidFill>
              </a:rPr>
              <a:t> + 2 mmol Hg</a:t>
            </a:r>
            <a:r>
              <a:rPr lang="en-US" sz="2800" baseline="-25000" smtClean="0">
                <a:solidFill>
                  <a:srgbClr val="800000"/>
                </a:solidFill>
              </a:rPr>
              <a:t>2</a:t>
            </a:r>
            <a:r>
              <a:rPr lang="en-US" sz="2800" smtClean="0">
                <a:solidFill>
                  <a:srgbClr val="800000"/>
                </a:solidFill>
              </a:rPr>
              <a:t>Br</a:t>
            </a:r>
            <a:r>
              <a:rPr lang="en-US" sz="2800" baseline="-25000" smtClean="0">
                <a:solidFill>
                  <a:srgbClr val="800000"/>
                </a:solidFill>
              </a:rPr>
              <a:t>2</a:t>
            </a:r>
            <a:endParaRPr lang="en-US" sz="2800" smtClean="0">
              <a:solidFill>
                <a:srgbClr val="800000"/>
              </a:solidFill>
            </a:endParaRPr>
          </a:p>
          <a:p>
            <a:pPr eaLnBrk="1" hangingPunct="1">
              <a:buFontTx/>
              <a:buNone/>
            </a:pPr>
            <a:endParaRPr lang="en-US" sz="2800" smtClean="0"/>
          </a:p>
          <a:p>
            <a:pPr eaLnBrk="1" hangingPunct="1">
              <a:buFontTx/>
              <a:buNone/>
            </a:pPr>
            <a:endParaRPr lang="en-US" sz="2800" smtClean="0"/>
          </a:p>
          <a:p>
            <a:pPr eaLnBrk="1" hangingPunct="1">
              <a:buFontTx/>
              <a:buNone/>
            </a:pPr>
            <a:endParaRPr lang="en-US" sz="2800" smtClean="0"/>
          </a:p>
          <a:p>
            <a:pPr eaLnBrk="1" hangingPunct="1">
              <a:buFontTx/>
              <a:buNone/>
            </a:pPr>
            <a:r>
              <a:rPr lang="en-US" sz="2800" smtClean="0"/>
              <a:t>Rearranging and solving:</a:t>
            </a:r>
          </a:p>
          <a:p>
            <a:pPr eaLnBrk="1" hangingPunct="1">
              <a:buFontTx/>
              <a:buNone/>
            </a:pPr>
            <a:endParaRPr lang="en-US" sz="2800" smtClean="0"/>
          </a:p>
        </p:txBody>
      </p:sp>
      <p:graphicFrame>
        <p:nvGraphicFramePr>
          <p:cNvPr id="40965" name="Object 4"/>
          <p:cNvGraphicFramePr>
            <a:graphicFrameLocks noChangeAspect="1"/>
          </p:cNvGraphicFramePr>
          <p:nvPr/>
        </p:nvGraphicFramePr>
        <p:xfrm>
          <a:off x="1692275" y="4581525"/>
          <a:ext cx="4724400" cy="1127125"/>
        </p:xfrm>
        <a:graphic>
          <a:graphicData uri="http://schemas.openxmlformats.org/presentationml/2006/ole">
            <mc:AlternateContent xmlns:mc="http://schemas.openxmlformats.org/markup-compatibility/2006">
              <mc:Choice xmlns:v="urn:schemas-microsoft-com:vml" Requires="v">
                <p:oleObj spid="_x0000_s4098" name="Equation" r:id="rId3" imgW="1803400" imgH="431800" progId="Equation.3">
                  <p:embed/>
                </p:oleObj>
              </mc:Choice>
              <mc:Fallback>
                <p:oleObj name="Equation" r:id="rId3" imgW="1803400" imgH="431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4581525"/>
                        <a:ext cx="4724400" cy="1127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6" name="Object 4"/>
          <p:cNvGraphicFramePr>
            <a:graphicFrameLocks noChangeAspect="1"/>
          </p:cNvGraphicFramePr>
          <p:nvPr/>
        </p:nvGraphicFramePr>
        <p:xfrm>
          <a:off x="1219200" y="2362200"/>
          <a:ext cx="4697413" cy="990600"/>
        </p:xfrm>
        <a:graphic>
          <a:graphicData uri="http://schemas.openxmlformats.org/presentationml/2006/ole">
            <mc:AlternateContent xmlns:mc="http://schemas.openxmlformats.org/markup-compatibility/2006">
              <mc:Choice xmlns:v="urn:schemas-microsoft-com:vml" Requires="v">
                <p:oleObj spid="_x0000_s4099" name="Equation" r:id="rId5" imgW="1866090" imgH="393529" progId="Equation.3">
                  <p:embed/>
                </p:oleObj>
              </mc:Choice>
              <mc:Fallback>
                <p:oleObj name="Equation" r:id="rId5" imgW="1866090" imgH="393529"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2362200"/>
                        <a:ext cx="4697413"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67" name="Date Placeholder 8"/>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A20B3E45-ADB1-457C-B38D-32AB82D845CF}" type="datetime1">
              <a:rPr lang="en-US" sz="1400" smtClean="0"/>
              <a:pPr eaLnBrk="1" hangingPunct="1"/>
              <a:t>5/6/2021</a:t>
            </a:fld>
            <a:endParaRPr lang="en-US" sz="1400" smtClean="0"/>
          </a:p>
        </p:txBody>
      </p:sp>
      <p:sp>
        <p:nvSpPr>
          <p:cNvPr id="40968" name="Footer Placeholder 9"/>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64656739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عنصر نائب لرقم الشريحة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7F4F099E-E6E6-4350-A6CB-5925B18B6AC0}" type="slidenum">
              <a:rPr lang="ar-SA" sz="1400" smtClean="0">
                <a:latin typeface="Arial" charset="0"/>
                <a:cs typeface="Arial" charset="0"/>
              </a:rPr>
              <a:pPr eaLnBrk="1" hangingPunct="1"/>
              <a:t>38</a:t>
            </a:fld>
            <a:endParaRPr lang="en-US" sz="1400" smtClean="0">
              <a:latin typeface="Arial" charset="0"/>
              <a:cs typeface="Arial" charset="0"/>
            </a:endParaRPr>
          </a:p>
        </p:txBody>
      </p:sp>
      <p:sp>
        <p:nvSpPr>
          <p:cNvPr id="41987" name="Text Box 3"/>
          <p:cNvSpPr txBox="1">
            <a:spLocks noChangeArrowheads="1"/>
          </p:cNvSpPr>
          <p:nvPr/>
        </p:nvSpPr>
        <p:spPr bwMode="auto">
          <a:xfrm>
            <a:off x="457200" y="1143000"/>
            <a:ext cx="8229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800">
                <a:solidFill>
                  <a:srgbClr val="0000FF"/>
                </a:solidFill>
              </a:rPr>
              <a:t>A 10.0 mL solution containing Cl</a:t>
            </a:r>
            <a:r>
              <a:rPr lang="en-US" sz="2800" baseline="30000">
                <a:solidFill>
                  <a:srgbClr val="0000FF"/>
                </a:solidFill>
              </a:rPr>
              <a:t>-</a:t>
            </a:r>
            <a:r>
              <a:rPr lang="en-US" sz="2800">
                <a:solidFill>
                  <a:srgbClr val="0000FF"/>
                </a:solidFill>
              </a:rPr>
              <a:t> was treated with excess AgNO</a:t>
            </a:r>
            <a:r>
              <a:rPr lang="en-US" sz="2800" baseline="-25000">
                <a:solidFill>
                  <a:srgbClr val="0000FF"/>
                </a:solidFill>
              </a:rPr>
              <a:t>3</a:t>
            </a:r>
            <a:r>
              <a:rPr lang="en-US" sz="2800">
                <a:solidFill>
                  <a:srgbClr val="0000FF"/>
                </a:solidFill>
              </a:rPr>
              <a:t> to precipitate 0.4368 g of AgCl. What was the concentration of Cl</a:t>
            </a:r>
            <a:r>
              <a:rPr lang="en-US" sz="2800" baseline="30000">
                <a:solidFill>
                  <a:srgbClr val="0000FF"/>
                </a:solidFill>
              </a:rPr>
              <a:t>-</a:t>
            </a:r>
            <a:r>
              <a:rPr lang="en-US" sz="2800">
                <a:solidFill>
                  <a:srgbClr val="0000FF"/>
                </a:solidFill>
              </a:rPr>
              <a:t> in the unknown? (AgCl = 143.321 g/mol)</a:t>
            </a:r>
          </a:p>
        </p:txBody>
      </p:sp>
      <p:sp>
        <p:nvSpPr>
          <p:cNvPr id="41988" name="Text Box 4"/>
          <p:cNvSpPr txBox="1">
            <a:spLocks noChangeArrowheads="1"/>
          </p:cNvSpPr>
          <p:nvPr/>
        </p:nvSpPr>
        <p:spPr bwMode="auto">
          <a:xfrm>
            <a:off x="685800" y="3200400"/>
            <a:ext cx="762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b="1">
                <a:solidFill>
                  <a:srgbClr val="800000"/>
                </a:solidFill>
              </a:rPr>
              <a:t>mmol Cl</a:t>
            </a:r>
            <a:r>
              <a:rPr lang="en-US" b="1" baseline="30000">
                <a:solidFill>
                  <a:srgbClr val="800000"/>
                </a:solidFill>
              </a:rPr>
              <a:t>-</a:t>
            </a:r>
            <a:r>
              <a:rPr lang="en-US" b="1">
                <a:solidFill>
                  <a:srgbClr val="800000"/>
                </a:solidFill>
              </a:rPr>
              <a:t> = mmol AgCl</a:t>
            </a:r>
            <a:r>
              <a:rPr lang="en-US">
                <a:solidFill>
                  <a:srgbClr val="000000"/>
                </a:solidFill>
              </a:rPr>
              <a:t> </a:t>
            </a:r>
          </a:p>
        </p:txBody>
      </p:sp>
      <p:sp>
        <p:nvSpPr>
          <p:cNvPr id="41989" name="Text Box 6"/>
          <p:cNvSpPr txBox="1">
            <a:spLocks noChangeArrowheads="1"/>
          </p:cNvSpPr>
          <p:nvPr/>
        </p:nvSpPr>
        <p:spPr bwMode="auto">
          <a:xfrm>
            <a:off x="250825" y="5589588"/>
            <a:ext cx="3078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b="1">
                <a:solidFill>
                  <a:srgbClr val="000000"/>
                </a:solidFill>
              </a:rPr>
              <a:t>Concentration of Cl</a:t>
            </a:r>
            <a:r>
              <a:rPr lang="en-US" b="1" baseline="30000">
                <a:solidFill>
                  <a:srgbClr val="000000"/>
                </a:solidFill>
              </a:rPr>
              <a:t>-</a:t>
            </a:r>
          </a:p>
        </p:txBody>
      </p:sp>
      <p:graphicFrame>
        <p:nvGraphicFramePr>
          <p:cNvPr id="41990" name="Object 5"/>
          <p:cNvGraphicFramePr>
            <a:graphicFrameLocks noChangeAspect="1"/>
          </p:cNvGraphicFramePr>
          <p:nvPr/>
        </p:nvGraphicFramePr>
        <p:xfrm>
          <a:off x="3995738" y="3860800"/>
          <a:ext cx="4321175" cy="1046163"/>
        </p:xfrm>
        <a:graphic>
          <a:graphicData uri="http://schemas.openxmlformats.org/presentationml/2006/ole">
            <mc:AlternateContent xmlns:mc="http://schemas.openxmlformats.org/markup-compatibility/2006">
              <mc:Choice xmlns:v="urn:schemas-microsoft-com:vml" Requires="v">
                <p:oleObj spid="_x0000_s5122" name="Equation" r:id="rId3" imgW="1625600" imgH="393700" progId="Equation.3">
                  <p:embed/>
                </p:oleObj>
              </mc:Choice>
              <mc:Fallback>
                <p:oleObj name="Equation" r:id="rId3" imgW="1625600" imgH="3937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738" y="3860800"/>
                        <a:ext cx="4321175" cy="1046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991" name="Object 6"/>
          <p:cNvGraphicFramePr>
            <a:graphicFrameLocks noChangeAspect="1"/>
          </p:cNvGraphicFramePr>
          <p:nvPr/>
        </p:nvGraphicFramePr>
        <p:xfrm>
          <a:off x="3276600" y="5300663"/>
          <a:ext cx="4105275" cy="985837"/>
        </p:xfrm>
        <a:graphic>
          <a:graphicData uri="http://schemas.openxmlformats.org/presentationml/2006/ole">
            <mc:AlternateContent xmlns:mc="http://schemas.openxmlformats.org/markup-compatibility/2006">
              <mc:Choice xmlns:v="urn:schemas-microsoft-com:vml" Requires="v">
                <p:oleObj spid="_x0000_s5123" name="Equation" r:id="rId5" imgW="1637589" imgH="393529" progId="Equation.3">
                  <p:embed/>
                </p:oleObj>
              </mc:Choice>
              <mc:Fallback>
                <p:oleObj name="Equation" r:id="rId5" imgW="1637589" imgH="393529"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5300663"/>
                        <a:ext cx="4105275" cy="985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92" name="Date Placeholder 9"/>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12863921-207F-424F-AB0D-C3693D905F7E}" type="datetime1">
              <a:rPr lang="en-US" sz="1400" smtClean="0"/>
              <a:pPr eaLnBrk="1" hangingPunct="1"/>
              <a:t>5/6/2021</a:t>
            </a:fld>
            <a:endParaRPr lang="en-US" sz="1400" smtClean="0"/>
          </a:p>
        </p:txBody>
      </p:sp>
      <p:sp>
        <p:nvSpPr>
          <p:cNvPr id="41993" name="Footer Placeholder 10"/>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77715944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0" y="0"/>
            <a:ext cx="8915400" cy="1371600"/>
          </a:xfrm>
        </p:spPr>
        <p:txBody>
          <a:bodyPr/>
          <a:lstStyle/>
          <a:p>
            <a:pPr eaLnBrk="1" hangingPunct="1"/>
            <a:r>
              <a:rPr lang="en-US" sz="3600" b="1" smtClean="0"/>
              <a:t>Calculating Results from Gravimetric Data</a:t>
            </a:r>
          </a:p>
        </p:txBody>
      </p:sp>
      <p:sp>
        <p:nvSpPr>
          <p:cNvPr id="29699" name="Rectangle 3"/>
          <p:cNvSpPr>
            <a:spLocks noGrp="1" noChangeArrowheads="1"/>
          </p:cNvSpPr>
          <p:nvPr>
            <p:ph type="body" idx="1"/>
          </p:nvPr>
        </p:nvSpPr>
        <p:spPr>
          <a:xfrm>
            <a:off x="685800" y="1295400"/>
            <a:ext cx="7772400" cy="4800600"/>
          </a:xfrm>
        </p:spPr>
        <p:txBody>
          <a:bodyPr/>
          <a:lstStyle/>
          <a:p>
            <a:pPr eaLnBrk="1" hangingPunct="1"/>
            <a:r>
              <a:rPr lang="en-US" smtClean="0"/>
              <a:t>The calcium in a 200.0 mL sample of a natural water was determined by precipitating the cation as CaC</a:t>
            </a:r>
            <a:r>
              <a:rPr lang="en-US" baseline="-25000" smtClean="0"/>
              <a:t>2</a:t>
            </a:r>
            <a:r>
              <a:rPr lang="en-US" smtClean="0"/>
              <a:t>O</a:t>
            </a:r>
            <a:r>
              <a:rPr lang="en-US" baseline="-25000" smtClean="0"/>
              <a:t>4</a:t>
            </a:r>
            <a:r>
              <a:rPr lang="en-US" smtClean="0"/>
              <a:t>.  The precipitate was filtered, washed, and ignited in a crucible with an empty mass of 26.6002 g.  The mass of the crucible plus CaO (fwt 56.077 g/mol) was 26.7134 g.  Calculate the concentration of Ca (fwt 40.078 g/mol) in the water in units of grams per 100 mL.</a:t>
            </a:r>
          </a:p>
        </p:txBody>
      </p:sp>
      <p:sp>
        <p:nvSpPr>
          <p:cNvPr id="43012"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1E82CAD6-E334-43DE-889A-2622A36072A7}" type="datetime1">
              <a:rPr lang="en-US" sz="1400" smtClean="0"/>
              <a:pPr eaLnBrk="1" hangingPunct="1"/>
              <a:t>5/6/2021</a:t>
            </a:fld>
            <a:endParaRPr lang="en-US" sz="1400" smtClean="0"/>
          </a:p>
        </p:txBody>
      </p:sp>
      <p:sp>
        <p:nvSpPr>
          <p:cNvPr id="43013"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239C160D-CDD6-49AF-9E61-59F737071184}" type="slidenum">
              <a:rPr lang="en-US" sz="1400" smtClean="0"/>
              <a:pPr eaLnBrk="1" hangingPunct="1"/>
              <a:t>39</a:t>
            </a:fld>
            <a:endParaRPr lang="en-US" sz="1400" smtClean="0"/>
          </a:p>
        </p:txBody>
      </p:sp>
      <p:sp>
        <p:nvSpPr>
          <p:cNvPr id="43014"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4812961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969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228600" y="0"/>
            <a:ext cx="8915400" cy="1066800"/>
          </a:xfrm>
        </p:spPr>
        <p:txBody>
          <a:bodyPr/>
          <a:lstStyle/>
          <a:p>
            <a:pPr eaLnBrk="1" hangingPunct="1"/>
            <a:r>
              <a:rPr lang="en-US" sz="3600" b="1" smtClean="0"/>
              <a:t>Calculating Results from Gravimetric Data</a:t>
            </a:r>
          </a:p>
        </p:txBody>
      </p:sp>
      <p:sp>
        <p:nvSpPr>
          <p:cNvPr id="31747" name="Rectangle 3"/>
          <p:cNvSpPr>
            <a:spLocks noGrp="1" noChangeArrowheads="1"/>
          </p:cNvSpPr>
          <p:nvPr>
            <p:ph type="body" idx="1"/>
          </p:nvPr>
        </p:nvSpPr>
        <p:spPr>
          <a:xfrm>
            <a:off x="685800" y="990600"/>
            <a:ext cx="7772400" cy="5105400"/>
          </a:xfrm>
        </p:spPr>
        <p:txBody>
          <a:bodyPr/>
          <a:lstStyle/>
          <a:p>
            <a:pPr eaLnBrk="1" hangingPunct="1">
              <a:lnSpc>
                <a:spcPct val="90000"/>
              </a:lnSpc>
            </a:pPr>
            <a:r>
              <a:rPr lang="en-US" smtClean="0"/>
              <a:t>An iron ore was analyzed by dissolving a 1.1324 g sample in concentrated HCl.  The resulting solution was diluted with water, and the iron(III) was precipitated as the hydrous oxide Fe</a:t>
            </a:r>
            <a:r>
              <a:rPr lang="en-US" baseline="-25000" smtClean="0"/>
              <a:t>2</a:t>
            </a:r>
            <a:r>
              <a:rPr lang="en-US" smtClean="0"/>
              <a:t>O</a:t>
            </a:r>
            <a:r>
              <a:rPr lang="en-US" baseline="-25000" smtClean="0"/>
              <a:t>3</a:t>
            </a:r>
            <a:r>
              <a:rPr lang="en-US" baseline="30000" smtClean="0"/>
              <a:t>.</a:t>
            </a:r>
            <a:r>
              <a:rPr lang="en-US" smtClean="0"/>
              <a:t>xH</a:t>
            </a:r>
            <a:r>
              <a:rPr lang="en-US" baseline="-25000" smtClean="0"/>
              <a:t>2</a:t>
            </a:r>
            <a:r>
              <a:rPr lang="en-US" smtClean="0"/>
              <a:t>O by addition of NH</a:t>
            </a:r>
            <a:r>
              <a:rPr lang="en-US" baseline="-25000" smtClean="0"/>
              <a:t>3</a:t>
            </a:r>
            <a:r>
              <a:rPr lang="en-US" smtClean="0"/>
              <a:t>.  After filtration and washing, the residue was ignited at high temperature to give 0.5394 g pure Fe</a:t>
            </a:r>
            <a:r>
              <a:rPr lang="en-US" baseline="-25000" smtClean="0"/>
              <a:t>2</a:t>
            </a:r>
            <a:r>
              <a:rPr lang="en-US" smtClean="0"/>
              <a:t>O</a:t>
            </a:r>
            <a:r>
              <a:rPr lang="en-US" baseline="-25000" smtClean="0"/>
              <a:t>3</a:t>
            </a:r>
            <a:r>
              <a:rPr lang="en-US" smtClean="0"/>
              <a:t> (fwt 159.69 g/mol).  Calculate (a) the % Fe (fwt 55.847 g/mol) and (b) % Fe</a:t>
            </a:r>
            <a:r>
              <a:rPr lang="en-US" baseline="-25000" smtClean="0"/>
              <a:t>3</a:t>
            </a:r>
            <a:r>
              <a:rPr lang="en-US" smtClean="0"/>
              <a:t>O</a:t>
            </a:r>
            <a:r>
              <a:rPr lang="en-US" baseline="-25000" smtClean="0"/>
              <a:t>4 </a:t>
            </a:r>
            <a:r>
              <a:rPr lang="en-US" smtClean="0"/>
              <a:t>(fwt 231.54 g/mol) in the sample.</a:t>
            </a:r>
          </a:p>
        </p:txBody>
      </p:sp>
      <p:sp>
        <p:nvSpPr>
          <p:cNvPr id="44036"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310AEB2E-459E-4D19-B95F-0A42D0F056FB}" type="datetime1">
              <a:rPr lang="en-US" sz="1400" smtClean="0"/>
              <a:pPr eaLnBrk="1" hangingPunct="1"/>
              <a:t>5/6/2021</a:t>
            </a:fld>
            <a:endParaRPr lang="en-US" sz="1400" smtClean="0"/>
          </a:p>
        </p:txBody>
      </p:sp>
      <p:sp>
        <p:nvSpPr>
          <p:cNvPr id="44037"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7AA1C16C-4053-486C-B9B7-5F97338D5DDB}" type="slidenum">
              <a:rPr lang="en-US" sz="1400" smtClean="0"/>
              <a:pPr eaLnBrk="1" hangingPunct="1"/>
              <a:t>40</a:t>
            </a:fld>
            <a:endParaRPr lang="en-US" sz="1400" smtClean="0"/>
          </a:p>
        </p:txBody>
      </p:sp>
      <p:sp>
        <p:nvSpPr>
          <p:cNvPr id="44038"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8266550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174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0" y="0"/>
            <a:ext cx="8915400" cy="990600"/>
          </a:xfrm>
        </p:spPr>
        <p:txBody>
          <a:bodyPr/>
          <a:lstStyle/>
          <a:p>
            <a:pPr eaLnBrk="1" hangingPunct="1"/>
            <a:r>
              <a:rPr lang="en-US" sz="3600" b="1" smtClean="0"/>
              <a:t>Calculating Results from Gravimetric Data  </a:t>
            </a:r>
          </a:p>
        </p:txBody>
      </p:sp>
      <p:sp>
        <p:nvSpPr>
          <p:cNvPr id="30723" name="Rectangle 3"/>
          <p:cNvSpPr>
            <a:spLocks noGrp="1" noChangeArrowheads="1"/>
          </p:cNvSpPr>
          <p:nvPr>
            <p:ph type="body" idx="1"/>
          </p:nvPr>
        </p:nvSpPr>
        <p:spPr>
          <a:xfrm>
            <a:off x="685800" y="990600"/>
            <a:ext cx="7772400" cy="5105400"/>
          </a:xfrm>
        </p:spPr>
        <p:txBody>
          <a:bodyPr/>
          <a:lstStyle/>
          <a:p>
            <a:pPr eaLnBrk="1" hangingPunct="1"/>
            <a:r>
              <a:rPr lang="en-US" smtClean="0"/>
              <a:t>A 0.2356 g sample containing only NaCl (fwt 58.44 g/mol) and BaCl</a:t>
            </a:r>
            <a:r>
              <a:rPr lang="en-US" baseline="-25000" smtClean="0"/>
              <a:t>2</a:t>
            </a:r>
            <a:r>
              <a:rPr lang="en-US" smtClean="0"/>
              <a:t> (fwt 208.23 g/mol) yielded 0.4637 g of dried AgCl (fwt 143.32 g/mol).  Calculate the percent of each halogen compound in the sample.</a:t>
            </a:r>
          </a:p>
        </p:txBody>
      </p:sp>
      <p:sp>
        <p:nvSpPr>
          <p:cNvPr id="45060"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DC044EF8-D9AA-4BBD-A655-9ECDA3FD97E0}" type="datetime1">
              <a:rPr lang="en-US" sz="1400" smtClean="0"/>
              <a:pPr eaLnBrk="1" hangingPunct="1"/>
              <a:t>5/6/2021</a:t>
            </a:fld>
            <a:endParaRPr lang="en-US" sz="1400" smtClean="0"/>
          </a:p>
        </p:txBody>
      </p:sp>
      <p:sp>
        <p:nvSpPr>
          <p:cNvPr id="45061"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E31F71FF-95E2-4745-BC61-09B32F9DBCF8}" type="slidenum">
              <a:rPr lang="en-US" sz="1400" smtClean="0"/>
              <a:pPr eaLnBrk="1" hangingPunct="1"/>
              <a:t>41</a:t>
            </a:fld>
            <a:endParaRPr lang="en-US" sz="1400" smtClean="0"/>
          </a:p>
        </p:txBody>
      </p:sp>
      <p:sp>
        <p:nvSpPr>
          <p:cNvPr id="45062"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920139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72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0"/>
            <a:ext cx="7772400" cy="1295400"/>
          </a:xfrm>
        </p:spPr>
        <p:txBody>
          <a:bodyPr/>
          <a:lstStyle/>
          <a:p>
            <a:pPr eaLnBrk="1" hangingPunct="1"/>
            <a:r>
              <a:rPr lang="en-US" sz="4000" b="1" smtClean="0"/>
              <a:t>Precipitation Equilibria:</a:t>
            </a:r>
            <a:br>
              <a:rPr lang="en-US" sz="4000" b="1" smtClean="0"/>
            </a:br>
            <a:r>
              <a:rPr lang="en-US" sz="4000" b="1" smtClean="0"/>
              <a:t>The Solubility Product</a:t>
            </a:r>
          </a:p>
        </p:txBody>
      </p:sp>
      <p:sp>
        <p:nvSpPr>
          <p:cNvPr id="32771" name="Rectangle 3"/>
          <p:cNvSpPr>
            <a:spLocks noGrp="1" noChangeArrowheads="1"/>
          </p:cNvSpPr>
          <p:nvPr>
            <p:ph type="body" idx="1"/>
          </p:nvPr>
        </p:nvSpPr>
        <p:spPr>
          <a:xfrm>
            <a:off x="685800" y="1447800"/>
            <a:ext cx="7772400" cy="4648200"/>
          </a:xfrm>
        </p:spPr>
        <p:txBody>
          <a:bodyPr/>
          <a:lstStyle/>
          <a:p>
            <a:pPr eaLnBrk="1" hangingPunct="1"/>
            <a:r>
              <a:rPr lang="en-US" smtClean="0"/>
              <a:t>Solubility of Slightly Soluble Salts:</a:t>
            </a:r>
          </a:p>
          <a:p>
            <a:pPr eaLnBrk="1" hangingPunct="1"/>
            <a:r>
              <a:rPr lang="en-US" smtClean="0">
                <a:solidFill>
                  <a:schemeClr val="accent2"/>
                </a:solidFill>
              </a:rPr>
              <a:t>AgCl</a:t>
            </a:r>
            <a:r>
              <a:rPr lang="en-US" baseline="-25000" smtClean="0">
                <a:solidFill>
                  <a:schemeClr val="accent2"/>
                </a:solidFill>
              </a:rPr>
              <a:t>(s)</a:t>
            </a:r>
            <a:r>
              <a:rPr lang="en-US" smtClean="0">
                <a:solidFill>
                  <a:schemeClr val="accent2"/>
                </a:solidFill>
                <a:sym typeface="Wingdings" pitchFamily="2" charset="2"/>
              </a:rPr>
              <a:t>(AgCl)</a:t>
            </a:r>
            <a:r>
              <a:rPr lang="en-US" baseline="-25000" smtClean="0">
                <a:solidFill>
                  <a:schemeClr val="accent2"/>
                </a:solidFill>
                <a:sym typeface="Wingdings" pitchFamily="2" charset="2"/>
              </a:rPr>
              <a:t>(aq)</a:t>
            </a:r>
            <a:r>
              <a:rPr lang="en-US" smtClean="0">
                <a:solidFill>
                  <a:schemeClr val="accent2"/>
                </a:solidFill>
                <a:sym typeface="Wingdings" pitchFamily="2" charset="2"/>
              </a:rPr>
              <a:t> Ag</a:t>
            </a:r>
            <a:r>
              <a:rPr lang="en-US" baseline="30000" smtClean="0">
                <a:solidFill>
                  <a:schemeClr val="accent2"/>
                </a:solidFill>
                <a:sym typeface="Wingdings" pitchFamily="2" charset="2"/>
              </a:rPr>
              <a:t>+</a:t>
            </a:r>
            <a:r>
              <a:rPr lang="en-US" smtClean="0">
                <a:solidFill>
                  <a:schemeClr val="accent2"/>
                </a:solidFill>
                <a:sym typeface="Wingdings" pitchFamily="2" charset="2"/>
              </a:rPr>
              <a:t> + Cl</a:t>
            </a:r>
            <a:r>
              <a:rPr lang="en-US" baseline="30000" smtClean="0">
                <a:solidFill>
                  <a:schemeClr val="accent2"/>
                </a:solidFill>
                <a:sym typeface="Wingdings" pitchFamily="2" charset="2"/>
              </a:rPr>
              <a:t>-</a:t>
            </a:r>
            <a:endParaRPr lang="en-US" smtClean="0">
              <a:solidFill>
                <a:schemeClr val="accent2"/>
              </a:solidFill>
              <a:sym typeface="Wingdings" pitchFamily="2" charset="2"/>
            </a:endParaRPr>
          </a:p>
          <a:p>
            <a:pPr eaLnBrk="1" hangingPunct="1"/>
            <a:r>
              <a:rPr lang="en-US" smtClean="0">
                <a:sym typeface="Wingdings" pitchFamily="2" charset="2"/>
              </a:rPr>
              <a:t>Solubility Product K</a:t>
            </a:r>
            <a:r>
              <a:rPr lang="en-US" baseline="-25000" smtClean="0">
                <a:sym typeface="Wingdings" pitchFamily="2" charset="2"/>
              </a:rPr>
              <a:t>SP </a:t>
            </a:r>
            <a:r>
              <a:rPr lang="en-US" smtClean="0">
                <a:sym typeface="Wingdings" pitchFamily="2" charset="2"/>
              </a:rPr>
              <a:t>= ion product</a:t>
            </a:r>
            <a:endParaRPr lang="en-US" baseline="-25000" smtClean="0">
              <a:sym typeface="Wingdings" pitchFamily="2" charset="2"/>
            </a:endParaRPr>
          </a:p>
          <a:p>
            <a:pPr eaLnBrk="1" hangingPunct="1"/>
            <a:r>
              <a:rPr lang="en-US" smtClean="0">
                <a:solidFill>
                  <a:schemeClr val="accent2"/>
                </a:solidFill>
                <a:sym typeface="Wingdings" pitchFamily="2" charset="2"/>
              </a:rPr>
              <a:t>K</a:t>
            </a:r>
            <a:r>
              <a:rPr lang="en-US" baseline="-25000" smtClean="0">
                <a:solidFill>
                  <a:schemeClr val="accent2"/>
                </a:solidFill>
                <a:sym typeface="Wingdings" pitchFamily="2" charset="2"/>
              </a:rPr>
              <a:t>SP</a:t>
            </a:r>
            <a:r>
              <a:rPr lang="en-US" smtClean="0">
                <a:solidFill>
                  <a:schemeClr val="accent2"/>
                </a:solidFill>
                <a:sym typeface="Wingdings" pitchFamily="2" charset="2"/>
              </a:rPr>
              <a:t> = [Ag</a:t>
            </a:r>
            <a:r>
              <a:rPr lang="en-US" baseline="30000" smtClean="0">
                <a:solidFill>
                  <a:schemeClr val="accent2"/>
                </a:solidFill>
                <a:sym typeface="Wingdings" pitchFamily="2" charset="2"/>
              </a:rPr>
              <a:t>+</a:t>
            </a:r>
            <a:r>
              <a:rPr lang="en-US" smtClean="0">
                <a:solidFill>
                  <a:schemeClr val="accent2"/>
                </a:solidFill>
                <a:sym typeface="Wingdings" pitchFamily="2" charset="2"/>
              </a:rPr>
              <a:t>][Cl</a:t>
            </a:r>
            <a:r>
              <a:rPr lang="en-US" baseline="30000" smtClean="0">
                <a:solidFill>
                  <a:schemeClr val="accent2"/>
                </a:solidFill>
                <a:sym typeface="Wingdings" pitchFamily="2" charset="2"/>
              </a:rPr>
              <a:t>-</a:t>
            </a:r>
            <a:r>
              <a:rPr lang="en-US" smtClean="0">
                <a:solidFill>
                  <a:schemeClr val="accent2"/>
                </a:solidFill>
                <a:sym typeface="Wingdings" pitchFamily="2" charset="2"/>
              </a:rPr>
              <a:t>]</a:t>
            </a:r>
            <a:r>
              <a:rPr lang="en-US" smtClean="0">
                <a:sym typeface="Wingdings" pitchFamily="2" charset="2"/>
              </a:rPr>
              <a:t> </a:t>
            </a:r>
          </a:p>
          <a:p>
            <a:pPr eaLnBrk="1" hangingPunct="1"/>
            <a:r>
              <a:rPr lang="en-US" smtClean="0">
                <a:sym typeface="Wingdings" pitchFamily="2" charset="2"/>
              </a:rPr>
              <a:t>Ag</a:t>
            </a:r>
            <a:r>
              <a:rPr lang="en-US" baseline="-25000" smtClean="0">
                <a:sym typeface="Wingdings" pitchFamily="2" charset="2"/>
              </a:rPr>
              <a:t>2</a:t>
            </a:r>
            <a:r>
              <a:rPr lang="en-US" smtClean="0">
                <a:sym typeface="Wingdings" pitchFamily="2" charset="2"/>
              </a:rPr>
              <a:t>CrO</a:t>
            </a:r>
            <a:r>
              <a:rPr lang="en-US" baseline="-25000" smtClean="0">
                <a:sym typeface="Wingdings" pitchFamily="2" charset="2"/>
              </a:rPr>
              <a:t>4(s)</a:t>
            </a:r>
            <a:r>
              <a:rPr lang="en-US" smtClean="0">
                <a:sym typeface="Wingdings" pitchFamily="2" charset="2"/>
              </a:rPr>
              <a:t>  2 Ag</a:t>
            </a:r>
            <a:r>
              <a:rPr lang="en-US" baseline="30000" smtClean="0">
                <a:sym typeface="Wingdings" pitchFamily="2" charset="2"/>
              </a:rPr>
              <a:t>+</a:t>
            </a:r>
            <a:r>
              <a:rPr lang="en-US" smtClean="0">
                <a:sym typeface="Wingdings" pitchFamily="2" charset="2"/>
              </a:rPr>
              <a:t> + CrO</a:t>
            </a:r>
            <a:r>
              <a:rPr lang="en-US" baseline="-25000" smtClean="0">
                <a:sym typeface="Wingdings" pitchFamily="2" charset="2"/>
              </a:rPr>
              <a:t>4</a:t>
            </a:r>
            <a:r>
              <a:rPr lang="en-US" baseline="30000" smtClean="0">
                <a:sym typeface="Wingdings" pitchFamily="2" charset="2"/>
              </a:rPr>
              <a:t>2-</a:t>
            </a:r>
          </a:p>
          <a:p>
            <a:pPr eaLnBrk="1" hangingPunct="1"/>
            <a:r>
              <a:rPr lang="en-US" smtClean="0">
                <a:sym typeface="Wingdings" pitchFamily="2" charset="2"/>
              </a:rPr>
              <a:t>K</a:t>
            </a:r>
            <a:r>
              <a:rPr lang="en-US" baseline="-25000" smtClean="0">
                <a:sym typeface="Wingdings" pitchFamily="2" charset="2"/>
              </a:rPr>
              <a:t>SP </a:t>
            </a:r>
            <a:r>
              <a:rPr lang="en-US" smtClean="0">
                <a:sym typeface="Wingdings" pitchFamily="2" charset="2"/>
              </a:rPr>
              <a:t>= [Ag</a:t>
            </a:r>
            <a:r>
              <a:rPr lang="en-US" baseline="30000" smtClean="0">
                <a:sym typeface="Wingdings" pitchFamily="2" charset="2"/>
              </a:rPr>
              <a:t>+</a:t>
            </a:r>
            <a:r>
              <a:rPr lang="en-US" smtClean="0">
                <a:sym typeface="Wingdings" pitchFamily="2" charset="2"/>
              </a:rPr>
              <a:t>]</a:t>
            </a:r>
            <a:r>
              <a:rPr lang="en-US" baseline="30000" smtClean="0">
                <a:sym typeface="Wingdings" pitchFamily="2" charset="2"/>
              </a:rPr>
              <a:t>2</a:t>
            </a:r>
            <a:r>
              <a:rPr lang="en-US" smtClean="0">
                <a:sym typeface="Wingdings" pitchFamily="2" charset="2"/>
              </a:rPr>
              <a:t>[CrO</a:t>
            </a:r>
            <a:r>
              <a:rPr lang="en-US" baseline="-25000" smtClean="0">
                <a:sym typeface="Wingdings" pitchFamily="2" charset="2"/>
              </a:rPr>
              <a:t>4</a:t>
            </a:r>
            <a:r>
              <a:rPr lang="en-US" baseline="30000" smtClean="0">
                <a:sym typeface="Wingdings" pitchFamily="2" charset="2"/>
              </a:rPr>
              <a:t>2-</a:t>
            </a:r>
            <a:r>
              <a:rPr lang="en-US" smtClean="0">
                <a:sym typeface="Wingdings" pitchFamily="2" charset="2"/>
              </a:rPr>
              <a:t>]	 </a:t>
            </a:r>
          </a:p>
          <a:p>
            <a:pPr eaLnBrk="1" hangingPunct="1"/>
            <a:endParaRPr lang="en-US" smtClean="0">
              <a:sym typeface="Wingdings" pitchFamily="2" charset="2"/>
            </a:endParaRPr>
          </a:p>
        </p:txBody>
      </p:sp>
      <p:sp>
        <p:nvSpPr>
          <p:cNvPr id="46084"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03E4CD62-6E49-4A09-81B3-29793762E030}" type="datetime1">
              <a:rPr lang="en-US" sz="1400" smtClean="0"/>
              <a:pPr eaLnBrk="1" hangingPunct="1"/>
              <a:t>5/6/2021</a:t>
            </a:fld>
            <a:endParaRPr lang="en-US" sz="1400" smtClean="0"/>
          </a:p>
        </p:txBody>
      </p:sp>
      <p:sp>
        <p:nvSpPr>
          <p:cNvPr id="46085"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B3A7FFAE-82ED-4F0F-B837-36A7CAF04C44}" type="slidenum">
              <a:rPr lang="en-US" sz="1400" smtClean="0"/>
              <a:pPr eaLnBrk="1" hangingPunct="1"/>
              <a:t>42</a:t>
            </a:fld>
            <a:endParaRPr lang="en-US" sz="1400" smtClean="0"/>
          </a:p>
        </p:txBody>
      </p:sp>
      <p:sp>
        <p:nvSpPr>
          <p:cNvPr id="46086"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2991679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27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27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277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277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277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27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685800" y="0"/>
            <a:ext cx="7772400" cy="1371600"/>
          </a:xfrm>
        </p:spPr>
        <p:txBody>
          <a:bodyPr/>
          <a:lstStyle/>
          <a:p>
            <a:pPr eaLnBrk="1" hangingPunct="1"/>
            <a:r>
              <a:rPr lang="en-US" sz="4000" b="1" smtClean="0"/>
              <a:t>Precipitation Equilibria:</a:t>
            </a:r>
            <a:br>
              <a:rPr lang="en-US" sz="4000" b="1" smtClean="0"/>
            </a:br>
            <a:r>
              <a:rPr lang="en-US" sz="4000" b="1" smtClean="0"/>
              <a:t>The Common Ion Effect</a:t>
            </a:r>
          </a:p>
        </p:txBody>
      </p:sp>
      <p:sp>
        <p:nvSpPr>
          <p:cNvPr id="35843" name="Rectangle 3"/>
          <p:cNvSpPr>
            <a:spLocks noGrp="1" noChangeArrowheads="1"/>
          </p:cNvSpPr>
          <p:nvPr>
            <p:ph type="body" idx="1"/>
          </p:nvPr>
        </p:nvSpPr>
        <p:spPr>
          <a:xfrm>
            <a:off x="685800" y="2057400"/>
            <a:ext cx="7772400" cy="4038600"/>
          </a:xfrm>
        </p:spPr>
        <p:txBody>
          <a:bodyPr/>
          <a:lstStyle/>
          <a:p>
            <a:pPr eaLnBrk="1" hangingPunct="1"/>
            <a:r>
              <a:rPr lang="en-US" smtClean="0"/>
              <a:t>Common Ion Effect</a:t>
            </a:r>
          </a:p>
          <a:p>
            <a:pPr eaLnBrk="1" hangingPunct="1"/>
            <a:r>
              <a:rPr lang="en-US" smtClean="0">
                <a:solidFill>
                  <a:schemeClr val="accent1"/>
                </a:solidFill>
              </a:rPr>
              <a:t>Will decrease the solubility of a slightly soluble salt.</a:t>
            </a:r>
          </a:p>
        </p:txBody>
      </p:sp>
      <p:sp>
        <p:nvSpPr>
          <p:cNvPr id="47108"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13796E4E-E8CF-44D3-A4D6-4380A883DC47}" type="datetime1">
              <a:rPr lang="en-US" sz="1400" smtClean="0"/>
              <a:pPr eaLnBrk="1" hangingPunct="1"/>
              <a:t>5/6/2021</a:t>
            </a:fld>
            <a:endParaRPr lang="en-US" sz="1400" smtClean="0"/>
          </a:p>
        </p:txBody>
      </p:sp>
      <p:sp>
        <p:nvSpPr>
          <p:cNvPr id="47109"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E258346-988D-4ABF-AE0F-5941EE7508A5}" type="slidenum">
              <a:rPr lang="en-US" sz="1400" smtClean="0"/>
              <a:pPr eaLnBrk="1" hangingPunct="1"/>
              <a:t>43</a:t>
            </a:fld>
            <a:endParaRPr lang="en-US" sz="1400" smtClean="0"/>
          </a:p>
        </p:txBody>
      </p:sp>
      <p:sp>
        <p:nvSpPr>
          <p:cNvPr id="47110"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306495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8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584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0" y="0"/>
            <a:ext cx="8915400" cy="1371600"/>
          </a:xfrm>
        </p:spPr>
        <p:txBody>
          <a:bodyPr/>
          <a:lstStyle/>
          <a:p>
            <a:pPr eaLnBrk="1" hangingPunct="1"/>
            <a:r>
              <a:rPr lang="en-US" sz="3600" b="1" smtClean="0"/>
              <a:t>Calculating Results from Gravimetric Data</a:t>
            </a:r>
          </a:p>
        </p:txBody>
      </p:sp>
      <p:sp>
        <p:nvSpPr>
          <p:cNvPr id="29699" name="Rectangle 3"/>
          <p:cNvSpPr>
            <a:spLocks noGrp="1" noChangeArrowheads="1"/>
          </p:cNvSpPr>
          <p:nvPr>
            <p:ph type="body" idx="1"/>
          </p:nvPr>
        </p:nvSpPr>
        <p:spPr>
          <a:xfrm>
            <a:off x="685800" y="1295400"/>
            <a:ext cx="7772400" cy="4800600"/>
          </a:xfrm>
        </p:spPr>
        <p:txBody>
          <a:bodyPr/>
          <a:lstStyle/>
          <a:p>
            <a:pPr eaLnBrk="1" hangingPunct="1"/>
            <a:r>
              <a:rPr lang="en-US" smtClean="0"/>
              <a:t>The calcium in a 200.0 mL sample of a natural water was determined by precipitating the cation as CaC</a:t>
            </a:r>
            <a:r>
              <a:rPr lang="en-US" baseline="-25000" smtClean="0"/>
              <a:t>2</a:t>
            </a:r>
            <a:r>
              <a:rPr lang="en-US" smtClean="0"/>
              <a:t>O</a:t>
            </a:r>
            <a:r>
              <a:rPr lang="en-US" baseline="-25000" smtClean="0"/>
              <a:t>4</a:t>
            </a:r>
            <a:r>
              <a:rPr lang="en-US" smtClean="0"/>
              <a:t>.  The precipitate was filtered, washed, and ignited in a crucible with an empty mass of 26.6002 g.  The mass of the crucible plus CaO (fwt 56.077 g/mol) was 26.7134 g.  Calculate the concentration of Ca (fwt 40.078 g/mol) in the water in units of grams per 100 mL.</a:t>
            </a:r>
          </a:p>
        </p:txBody>
      </p:sp>
      <p:sp>
        <p:nvSpPr>
          <p:cNvPr id="48132"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46F1BECC-825F-4BEB-8BA3-7187262FD6F9}" type="datetime1">
              <a:rPr lang="en-US" sz="1400" smtClean="0"/>
              <a:pPr eaLnBrk="1" hangingPunct="1"/>
              <a:t>5/6/2021</a:t>
            </a:fld>
            <a:endParaRPr lang="en-US" sz="1400" smtClean="0"/>
          </a:p>
        </p:txBody>
      </p:sp>
      <p:sp>
        <p:nvSpPr>
          <p:cNvPr id="48133"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E49993E5-5765-4754-B06F-9EA6FABE9906}" type="slidenum">
              <a:rPr lang="en-US" sz="1400" smtClean="0"/>
              <a:pPr eaLnBrk="1" hangingPunct="1"/>
              <a:t>44</a:t>
            </a:fld>
            <a:endParaRPr lang="en-US" sz="1400" smtClean="0"/>
          </a:p>
        </p:txBody>
      </p:sp>
      <p:sp>
        <p:nvSpPr>
          <p:cNvPr id="48134"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2802324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969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228600" y="0"/>
            <a:ext cx="8915400" cy="1066800"/>
          </a:xfrm>
        </p:spPr>
        <p:txBody>
          <a:bodyPr/>
          <a:lstStyle/>
          <a:p>
            <a:pPr eaLnBrk="1" hangingPunct="1"/>
            <a:r>
              <a:rPr lang="en-US" sz="3600" b="1" smtClean="0"/>
              <a:t>Calculating Results from Gravimetric Data</a:t>
            </a:r>
          </a:p>
        </p:txBody>
      </p:sp>
      <p:sp>
        <p:nvSpPr>
          <p:cNvPr id="31747" name="Rectangle 3"/>
          <p:cNvSpPr>
            <a:spLocks noGrp="1" noChangeArrowheads="1"/>
          </p:cNvSpPr>
          <p:nvPr>
            <p:ph type="body" idx="1"/>
          </p:nvPr>
        </p:nvSpPr>
        <p:spPr>
          <a:xfrm>
            <a:off x="685800" y="990600"/>
            <a:ext cx="7772400" cy="5105400"/>
          </a:xfrm>
        </p:spPr>
        <p:txBody>
          <a:bodyPr/>
          <a:lstStyle/>
          <a:p>
            <a:pPr eaLnBrk="1" hangingPunct="1">
              <a:lnSpc>
                <a:spcPct val="90000"/>
              </a:lnSpc>
            </a:pPr>
            <a:r>
              <a:rPr lang="en-US" smtClean="0"/>
              <a:t>An iron ore was analyzed by dissolving a 1.1324 g sample in concentrated HCl.  The resulting solution was diluted with water, and the iron(III) was precipitated as the hydrous oxide Fe</a:t>
            </a:r>
            <a:r>
              <a:rPr lang="en-US" baseline="-25000" smtClean="0"/>
              <a:t>2</a:t>
            </a:r>
            <a:r>
              <a:rPr lang="en-US" smtClean="0"/>
              <a:t>O</a:t>
            </a:r>
            <a:r>
              <a:rPr lang="en-US" baseline="-25000" smtClean="0"/>
              <a:t>3</a:t>
            </a:r>
            <a:r>
              <a:rPr lang="en-US" baseline="30000" smtClean="0"/>
              <a:t>.</a:t>
            </a:r>
            <a:r>
              <a:rPr lang="en-US" smtClean="0"/>
              <a:t>xH</a:t>
            </a:r>
            <a:r>
              <a:rPr lang="en-US" baseline="-25000" smtClean="0"/>
              <a:t>2</a:t>
            </a:r>
            <a:r>
              <a:rPr lang="en-US" smtClean="0"/>
              <a:t>O by addition of NH</a:t>
            </a:r>
            <a:r>
              <a:rPr lang="en-US" baseline="-25000" smtClean="0"/>
              <a:t>3</a:t>
            </a:r>
            <a:r>
              <a:rPr lang="en-US" smtClean="0"/>
              <a:t>.  After filtration and washing, the residue was ignited at high temperature to give 0.5394 g pure Fe</a:t>
            </a:r>
            <a:r>
              <a:rPr lang="en-US" baseline="-25000" smtClean="0"/>
              <a:t>2</a:t>
            </a:r>
            <a:r>
              <a:rPr lang="en-US" smtClean="0"/>
              <a:t>O</a:t>
            </a:r>
            <a:r>
              <a:rPr lang="en-US" baseline="-25000" smtClean="0"/>
              <a:t>3</a:t>
            </a:r>
            <a:r>
              <a:rPr lang="en-US" smtClean="0"/>
              <a:t> (fwt 159.69 g/mol).  Calculate (a) the % Fe (fwt 55.847 g/mol) and (b) % Fe</a:t>
            </a:r>
            <a:r>
              <a:rPr lang="en-US" baseline="-25000" smtClean="0"/>
              <a:t>3</a:t>
            </a:r>
            <a:r>
              <a:rPr lang="en-US" smtClean="0"/>
              <a:t>O</a:t>
            </a:r>
            <a:r>
              <a:rPr lang="en-US" baseline="-25000" smtClean="0"/>
              <a:t>4 </a:t>
            </a:r>
            <a:r>
              <a:rPr lang="en-US" smtClean="0"/>
              <a:t>(fwt 231.54 g/mol) in the sample.</a:t>
            </a:r>
          </a:p>
        </p:txBody>
      </p:sp>
      <p:sp>
        <p:nvSpPr>
          <p:cNvPr id="49156"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238A3E9-EC1E-418F-8766-B0805FB72AC9}" type="datetime1">
              <a:rPr lang="en-US" sz="1400" smtClean="0"/>
              <a:pPr eaLnBrk="1" hangingPunct="1"/>
              <a:t>5/6/2021</a:t>
            </a:fld>
            <a:endParaRPr lang="en-US" sz="1400" smtClean="0"/>
          </a:p>
        </p:txBody>
      </p:sp>
      <p:sp>
        <p:nvSpPr>
          <p:cNvPr id="49157"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94D7A277-BF97-4F90-9852-4B7B2462F2EB}" type="slidenum">
              <a:rPr lang="en-US" sz="1400" smtClean="0"/>
              <a:pPr eaLnBrk="1" hangingPunct="1"/>
              <a:t>45</a:t>
            </a:fld>
            <a:endParaRPr lang="en-US" sz="1400" smtClean="0"/>
          </a:p>
        </p:txBody>
      </p:sp>
      <p:sp>
        <p:nvSpPr>
          <p:cNvPr id="49158"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8446967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174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0" y="0"/>
            <a:ext cx="8915400" cy="990600"/>
          </a:xfrm>
        </p:spPr>
        <p:txBody>
          <a:bodyPr/>
          <a:lstStyle/>
          <a:p>
            <a:pPr eaLnBrk="1" hangingPunct="1"/>
            <a:r>
              <a:rPr lang="en-US" sz="3600" b="1" smtClean="0"/>
              <a:t>Calculating Results from Gravimetric Data  </a:t>
            </a:r>
          </a:p>
        </p:txBody>
      </p:sp>
      <p:sp>
        <p:nvSpPr>
          <p:cNvPr id="30723" name="Rectangle 3"/>
          <p:cNvSpPr>
            <a:spLocks noGrp="1" noChangeArrowheads="1"/>
          </p:cNvSpPr>
          <p:nvPr>
            <p:ph type="body" idx="1"/>
          </p:nvPr>
        </p:nvSpPr>
        <p:spPr>
          <a:xfrm>
            <a:off x="685800" y="990600"/>
            <a:ext cx="7772400" cy="5105400"/>
          </a:xfrm>
        </p:spPr>
        <p:txBody>
          <a:bodyPr/>
          <a:lstStyle/>
          <a:p>
            <a:pPr eaLnBrk="1" hangingPunct="1"/>
            <a:r>
              <a:rPr lang="en-US" smtClean="0"/>
              <a:t>A 0.2356 g sample containing only NaCl (fwt 58.44 g/mol) and BaCl</a:t>
            </a:r>
            <a:r>
              <a:rPr lang="en-US" baseline="-25000" smtClean="0"/>
              <a:t>2</a:t>
            </a:r>
            <a:r>
              <a:rPr lang="en-US" smtClean="0"/>
              <a:t> (fwt 208.23 g/mol) yielded 0.4637 g of dried AgCl (fwt 143.32 g/mol).  Calculate the percent of each halogen compound in the sample.</a:t>
            </a:r>
          </a:p>
        </p:txBody>
      </p:sp>
      <p:sp>
        <p:nvSpPr>
          <p:cNvPr id="50180"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BF7D6FF3-5502-4D71-BB2D-EC1AD2D17800}" type="datetime1">
              <a:rPr lang="en-US" sz="1400" smtClean="0"/>
              <a:pPr eaLnBrk="1" hangingPunct="1"/>
              <a:t>5/6/2021</a:t>
            </a:fld>
            <a:endParaRPr lang="en-US" sz="1400" smtClean="0"/>
          </a:p>
        </p:txBody>
      </p:sp>
      <p:sp>
        <p:nvSpPr>
          <p:cNvPr id="50181"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D47CA551-B1B5-4923-9993-A9C64313904F}" type="slidenum">
              <a:rPr lang="en-US" sz="1400" smtClean="0"/>
              <a:pPr eaLnBrk="1" hangingPunct="1"/>
              <a:t>46</a:t>
            </a:fld>
            <a:endParaRPr lang="en-US" sz="1400" smtClean="0"/>
          </a:p>
        </p:txBody>
      </p:sp>
      <p:sp>
        <p:nvSpPr>
          <p:cNvPr id="50182"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9317797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72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body" sz="half" idx="1"/>
          </p:nvPr>
        </p:nvSpPr>
        <p:spPr>
          <a:xfrm>
            <a:off x="457200" y="762000"/>
            <a:ext cx="8305800" cy="5592763"/>
          </a:xfrm>
        </p:spPr>
        <p:txBody>
          <a:bodyPr/>
          <a:lstStyle/>
          <a:p>
            <a:pPr eaLnBrk="1" hangingPunct="1"/>
            <a:r>
              <a:rPr lang="en-US" sz="2800" smtClean="0"/>
              <a:t>Calculate the weight of Ba and the weight of Cl present  in 25.0 g BaCl</a:t>
            </a:r>
            <a:r>
              <a:rPr lang="en-US" sz="2800" baseline="-25000" smtClean="0"/>
              <a:t>2</a:t>
            </a:r>
            <a:r>
              <a:rPr lang="en-US" sz="2800" smtClean="0"/>
              <a:t>.</a:t>
            </a:r>
          </a:p>
          <a:p>
            <a:pPr eaLnBrk="1" hangingPunct="1"/>
            <a:r>
              <a:rPr lang="en-US" sz="2800" smtClean="0"/>
              <a:t>(a)	</a:t>
            </a:r>
          </a:p>
          <a:p>
            <a:pPr eaLnBrk="1" hangingPunct="1"/>
            <a:endParaRPr lang="en-US" sz="2800" smtClean="0"/>
          </a:p>
        </p:txBody>
      </p:sp>
      <p:graphicFrame>
        <p:nvGraphicFramePr>
          <p:cNvPr id="109571" name="Object 3"/>
          <p:cNvGraphicFramePr>
            <a:graphicFrameLocks noChangeAspect="1"/>
          </p:cNvGraphicFramePr>
          <p:nvPr/>
        </p:nvGraphicFramePr>
        <p:xfrm>
          <a:off x="914400" y="2362200"/>
          <a:ext cx="3657600" cy="685800"/>
        </p:xfrm>
        <a:graphic>
          <a:graphicData uri="http://schemas.openxmlformats.org/presentationml/2006/ole">
            <mc:AlternateContent xmlns:mc="http://schemas.openxmlformats.org/markup-compatibility/2006">
              <mc:Choice xmlns:v="urn:schemas-microsoft-com:vml" Requires="v">
                <p:oleObj spid="_x0000_s6146" name="Equation" r:id="rId3" imgW="1828800" imgH="431800" progId="Equation.3">
                  <p:embed/>
                </p:oleObj>
              </mc:Choice>
              <mc:Fallback>
                <p:oleObj name="Equation" r:id="rId3" imgW="1828800" imgH="431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362200"/>
                        <a:ext cx="3657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9572" name="Object 4"/>
          <p:cNvGraphicFramePr>
            <a:graphicFrameLocks noChangeAspect="1"/>
          </p:cNvGraphicFramePr>
          <p:nvPr/>
        </p:nvGraphicFramePr>
        <p:xfrm>
          <a:off x="1447800" y="3352800"/>
          <a:ext cx="3352800" cy="838200"/>
        </p:xfrm>
        <a:graphic>
          <a:graphicData uri="http://schemas.openxmlformats.org/presentationml/2006/ole">
            <mc:AlternateContent xmlns:mc="http://schemas.openxmlformats.org/markup-compatibility/2006">
              <mc:Choice xmlns:v="urn:schemas-microsoft-com:vml" Requires="v">
                <p:oleObj spid="_x0000_s6147" name="Equation" r:id="rId5" imgW="1536033" imgH="393529" progId="Equation.3">
                  <p:embed/>
                </p:oleObj>
              </mc:Choice>
              <mc:Fallback>
                <p:oleObj name="Equation" r:id="rId5" imgW="1536033" imgH="393529"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3352800"/>
                        <a:ext cx="33528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9573" name="Object 5"/>
          <p:cNvGraphicFramePr>
            <a:graphicFrameLocks noChangeAspect="1"/>
          </p:cNvGraphicFramePr>
          <p:nvPr/>
        </p:nvGraphicFramePr>
        <p:xfrm>
          <a:off x="914400" y="4572000"/>
          <a:ext cx="3200400" cy="762000"/>
        </p:xfrm>
        <a:graphic>
          <a:graphicData uri="http://schemas.openxmlformats.org/presentationml/2006/ole">
            <mc:AlternateContent xmlns:mc="http://schemas.openxmlformats.org/markup-compatibility/2006">
              <mc:Choice xmlns:v="urn:schemas-microsoft-com:vml" Requires="v">
                <p:oleObj spid="_x0000_s6148" name="Equation" r:id="rId7" imgW="1345616" imgH="393529" progId="Equation.3">
                  <p:embed/>
                </p:oleObj>
              </mc:Choice>
              <mc:Fallback>
                <p:oleObj name="Equation" r:id="rId7" imgW="1345616" imgH="393529"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4400" y="4572000"/>
                        <a:ext cx="3200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9575" name="Object 7"/>
          <p:cNvGraphicFramePr>
            <a:graphicFrameLocks noChangeAspect="1"/>
          </p:cNvGraphicFramePr>
          <p:nvPr/>
        </p:nvGraphicFramePr>
        <p:xfrm>
          <a:off x="1295400" y="5562600"/>
          <a:ext cx="1905000" cy="544513"/>
        </p:xfrm>
        <a:graphic>
          <a:graphicData uri="http://schemas.openxmlformats.org/presentationml/2006/ole">
            <mc:AlternateContent xmlns:mc="http://schemas.openxmlformats.org/markup-compatibility/2006">
              <mc:Choice xmlns:v="urn:schemas-microsoft-com:vml" Requires="v">
                <p:oleObj spid="_x0000_s6149" name="Equation" r:id="rId9" imgW="710891" imgH="203112" progId="Equation.3">
                  <p:embed/>
                </p:oleObj>
              </mc:Choice>
              <mc:Fallback>
                <p:oleObj name="Equation" r:id="rId9" imgW="710891" imgH="203112"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95400" y="5562600"/>
                        <a:ext cx="1905000" cy="5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07" name="Date Placeholder 9"/>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E82D07B3-4B2C-4EF5-AF6F-EC950C7EEE3A}" type="datetime1">
              <a:rPr lang="en-US" sz="1400" smtClean="0"/>
              <a:pPr eaLnBrk="1" hangingPunct="1"/>
              <a:t>5/6/2021</a:t>
            </a:fld>
            <a:endParaRPr lang="en-US" sz="1400" smtClean="0"/>
          </a:p>
        </p:txBody>
      </p:sp>
      <p:sp>
        <p:nvSpPr>
          <p:cNvPr id="51208" name="Slide Number Placeholder 1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0F4FE83F-DB77-472C-B83E-87D32E28E6D0}" type="slidenum">
              <a:rPr lang="ar-SA" sz="1400" smtClean="0"/>
              <a:pPr eaLnBrk="1" hangingPunct="1"/>
              <a:t>47</a:t>
            </a:fld>
            <a:endParaRPr lang="en-US" sz="1400" smtClean="0"/>
          </a:p>
        </p:txBody>
      </p:sp>
      <p:sp>
        <p:nvSpPr>
          <p:cNvPr id="51209" name="Footer Placeholder 1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2944138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ox(in)">
                                      <p:cBhvr>
                                        <p:cTn id="7" dur="500"/>
                                        <p:tgtEl>
                                          <p:spTgt spid="8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09571"/>
                                        </p:tgtEl>
                                        <p:attrNameLst>
                                          <p:attrName>style.visibility</p:attrName>
                                        </p:attrNameLst>
                                      </p:cBhvr>
                                      <p:to>
                                        <p:strVal val="visible"/>
                                      </p:to>
                                    </p:set>
                                    <p:animEffect transition="in" filter="box(in)">
                                      <p:cBhvr>
                                        <p:cTn id="12" dur="500"/>
                                        <p:tgtEl>
                                          <p:spTgt spid="1095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09572"/>
                                        </p:tgtEl>
                                        <p:attrNameLst>
                                          <p:attrName>style.visibility</p:attrName>
                                        </p:attrNameLst>
                                      </p:cBhvr>
                                      <p:to>
                                        <p:strVal val="visible"/>
                                      </p:to>
                                    </p:set>
                                    <p:animEffect transition="in" filter="box(in)">
                                      <p:cBhvr>
                                        <p:cTn id="17" dur="500"/>
                                        <p:tgtEl>
                                          <p:spTgt spid="10957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09573"/>
                                        </p:tgtEl>
                                        <p:attrNameLst>
                                          <p:attrName>style.visibility</p:attrName>
                                        </p:attrNameLst>
                                      </p:cBhvr>
                                      <p:to>
                                        <p:strVal val="visible"/>
                                      </p:to>
                                    </p:set>
                                    <p:animEffect transition="in" filter="box(in)">
                                      <p:cBhvr>
                                        <p:cTn id="22" dur="500"/>
                                        <p:tgtEl>
                                          <p:spTgt spid="10957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09575"/>
                                        </p:tgtEl>
                                        <p:attrNameLst>
                                          <p:attrName>style.visibility</p:attrName>
                                        </p:attrNameLst>
                                      </p:cBhvr>
                                      <p:to>
                                        <p:strVal val="visible"/>
                                      </p:to>
                                    </p:set>
                                    <p:animEffect transition="in" filter="box(in)">
                                      <p:cBhvr>
                                        <p:cTn id="27" dur="500"/>
                                        <p:tgtEl>
                                          <p:spTgt spid="1095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2226" name="Object 3"/>
          <p:cNvGraphicFramePr>
            <a:graphicFrameLocks noChangeAspect="1"/>
          </p:cNvGraphicFramePr>
          <p:nvPr/>
        </p:nvGraphicFramePr>
        <p:xfrm>
          <a:off x="1219200" y="304800"/>
          <a:ext cx="3962400" cy="990600"/>
        </p:xfrm>
        <a:graphic>
          <a:graphicData uri="http://schemas.openxmlformats.org/presentationml/2006/ole">
            <mc:AlternateContent xmlns:mc="http://schemas.openxmlformats.org/markup-compatibility/2006">
              <mc:Choice xmlns:v="urn:schemas-microsoft-com:vml" Requires="v">
                <p:oleObj spid="_x0000_s7170" name="Equation" r:id="rId3" imgW="1727200" imgH="431800" progId="Equation.3">
                  <p:embed/>
                </p:oleObj>
              </mc:Choice>
              <mc:Fallback>
                <p:oleObj name="Equation" r:id="rId3" imgW="1727200" imgH="431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304800"/>
                        <a:ext cx="39624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27" name="Object 4"/>
          <p:cNvGraphicFramePr>
            <a:graphicFrameLocks noChangeAspect="1"/>
          </p:cNvGraphicFramePr>
          <p:nvPr/>
        </p:nvGraphicFramePr>
        <p:xfrm>
          <a:off x="1676400" y="1524000"/>
          <a:ext cx="3276600" cy="839788"/>
        </p:xfrm>
        <a:graphic>
          <a:graphicData uri="http://schemas.openxmlformats.org/presentationml/2006/ole">
            <mc:AlternateContent xmlns:mc="http://schemas.openxmlformats.org/markup-compatibility/2006">
              <mc:Choice xmlns:v="urn:schemas-microsoft-com:vml" Requires="v">
                <p:oleObj spid="_x0000_s7171" name="Equation" r:id="rId5" imgW="1536033" imgH="393529" progId="Equation.3">
                  <p:embed/>
                </p:oleObj>
              </mc:Choice>
              <mc:Fallback>
                <p:oleObj name="Equation" r:id="rId5" imgW="1536033" imgH="393529"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1524000"/>
                        <a:ext cx="3276600" cy="839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28" name="Object 5"/>
          <p:cNvGraphicFramePr>
            <a:graphicFrameLocks noChangeAspect="1"/>
          </p:cNvGraphicFramePr>
          <p:nvPr/>
        </p:nvGraphicFramePr>
        <p:xfrm>
          <a:off x="1676400" y="2743200"/>
          <a:ext cx="2209800" cy="639763"/>
        </p:xfrm>
        <a:graphic>
          <a:graphicData uri="http://schemas.openxmlformats.org/presentationml/2006/ole">
            <mc:AlternateContent xmlns:mc="http://schemas.openxmlformats.org/markup-compatibility/2006">
              <mc:Choice xmlns:v="urn:schemas-microsoft-com:vml" Requires="v">
                <p:oleObj spid="_x0000_s7172" name="Equation" r:id="rId7" imgW="1358310" imgH="393529" progId="Equation.3">
                  <p:embed/>
                </p:oleObj>
              </mc:Choice>
              <mc:Fallback>
                <p:oleObj name="Equation" r:id="rId7" imgW="1358310" imgH="393529"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400" y="2743200"/>
                        <a:ext cx="220980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29" name="Object 6"/>
          <p:cNvGraphicFramePr>
            <a:graphicFrameLocks noChangeAspect="1"/>
          </p:cNvGraphicFramePr>
          <p:nvPr/>
        </p:nvGraphicFramePr>
        <p:xfrm>
          <a:off x="2286000" y="3886200"/>
          <a:ext cx="1828800" cy="457200"/>
        </p:xfrm>
        <a:graphic>
          <a:graphicData uri="http://schemas.openxmlformats.org/presentationml/2006/ole">
            <mc:AlternateContent xmlns:mc="http://schemas.openxmlformats.org/markup-compatibility/2006">
              <mc:Choice xmlns:v="urn:schemas-microsoft-com:vml" Requires="v">
                <p:oleObj spid="_x0000_s7173" name="Equation" r:id="rId9" imgW="812447" imgH="203112" progId="Equation.3">
                  <p:embed/>
                </p:oleObj>
              </mc:Choice>
              <mc:Fallback>
                <p:oleObj name="Equation" r:id="rId9" imgW="812447" imgH="203112"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6000" y="3886200"/>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230" name="Date Placeholder 8"/>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AAF68046-87B9-4B6F-9154-7C1ACD0C438D}" type="datetime1">
              <a:rPr lang="en-US" sz="1400" smtClean="0"/>
              <a:pPr eaLnBrk="1" hangingPunct="1"/>
              <a:t>5/6/2021</a:t>
            </a:fld>
            <a:endParaRPr lang="en-US" sz="1400" smtClean="0"/>
          </a:p>
        </p:txBody>
      </p:sp>
      <p:sp>
        <p:nvSpPr>
          <p:cNvPr id="52231"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DFA65844-DA56-4B4A-8338-EAADF73DA71D}" type="slidenum">
              <a:rPr lang="ar-SA" sz="1400" smtClean="0"/>
              <a:pPr eaLnBrk="1" hangingPunct="1"/>
              <a:t>48</a:t>
            </a:fld>
            <a:endParaRPr lang="en-US" sz="1400" smtClean="0"/>
          </a:p>
        </p:txBody>
      </p:sp>
      <p:sp>
        <p:nvSpPr>
          <p:cNvPr id="52232" name="Footer Placeholder 10"/>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154119547"/>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8547" name="Object 3"/>
          <p:cNvGraphicFramePr>
            <a:graphicFrameLocks noChangeAspect="1"/>
          </p:cNvGraphicFramePr>
          <p:nvPr/>
        </p:nvGraphicFramePr>
        <p:xfrm>
          <a:off x="1905000" y="1447800"/>
          <a:ext cx="3579813" cy="952500"/>
        </p:xfrm>
        <a:graphic>
          <a:graphicData uri="http://schemas.openxmlformats.org/presentationml/2006/ole">
            <mc:AlternateContent xmlns:mc="http://schemas.openxmlformats.org/markup-compatibility/2006">
              <mc:Choice xmlns:v="urn:schemas-microsoft-com:vml" Requires="v">
                <p:oleObj spid="_x0000_s8194" name="Equation" r:id="rId3" imgW="1574800" imgH="419100" progId="Equation.3">
                  <p:embed/>
                </p:oleObj>
              </mc:Choice>
              <mc:Fallback>
                <p:oleObj name="Equation" r:id="rId3" imgW="1574800" imgH="4191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447800"/>
                        <a:ext cx="3579813"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8548" name="Object 4"/>
          <p:cNvGraphicFramePr>
            <a:graphicFrameLocks noChangeAspect="1"/>
          </p:cNvGraphicFramePr>
          <p:nvPr/>
        </p:nvGraphicFramePr>
        <p:xfrm>
          <a:off x="1905000" y="3429000"/>
          <a:ext cx="3962400" cy="796925"/>
        </p:xfrm>
        <a:graphic>
          <a:graphicData uri="http://schemas.openxmlformats.org/presentationml/2006/ole">
            <mc:AlternateContent xmlns:mc="http://schemas.openxmlformats.org/markup-compatibility/2006">
              <mc:Choice xmlns:v="urn:schemas-microsoft-com:vml" Requires="v">
                <p:oleObj spid="_x0000_s8195" name="Equation" r:id="rId5" imgW="2146300" imgH="431800" progId="Equation.3">
                  <p:embed/>
                </p:oleObj>
              </mc:Choice>
              <mc:Fallback>
                <p:oleObj name="Equation" r:id="rId5" imgW="2146300" imgH="431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3429000"/>
                        <a:ext cx="3962400" cy="79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252"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BDD3DE1-01C3-407A-BBB8-04A4C08AA83B}" type="datetime1">
              <a:rPr lang="en-US" sz="1400" smtClean="0"/>
              <a:pPr eaLnBrk="1" hangingPunct="1"/>
              <a:t>5/6/2021</a:t>
            </a:fld>
            <a:endParaRPr lang="en-US" sz="1400" smtClean="0"/>
          </a:p>
        </p:txBody>
      </p:sp>
      <p:sp>
        <p:nvSpPr>
          <p:cNvPr id="53253"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1B212D55-F2BD-4B14-9CFC-475BC1C08667}" type="slidenum">
              <a:rPr lang="en-US" sz="1400" smtClean="0"/>
              <a:pPr eaLnBrk="1" hangingPunct="1"/>
              <a:t>49</a:t>
            </a:fld>
            <a:endParaRPr lang="en-US" sz="1400" smtClean="0"/>
          </a:p>
        </p:txBody>
      </p:sp>
      <p:sp>
        <p:nvSpPr>
          <p:cNvPr id="53254"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6716088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08547"/>
                                        </p:tgtEl>
                                        <p:attrNameLst>
                                          <p:attrName>style.visibility</p:attrName>
                                        </p:attrNameLst>
                                      </p:cBhvr>
                                      <p:to>
                                        <p:strVal val="visible"/>
                                      </p:to>
                                    </p:set>
                                    <p:animEffect transition="in" filter="box(in)">
                                      <p:cBhvr>
                                        <p:cTn id="7" dur="500"/>
                                        <p:tgtEl>
                                          <p:spTgt spid="1085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08548"/>
                                        </p:tgtEl>
                                        <p:attrNameLst>
                                          <p:attrName>style.visibility</p:attrName>
                                        </p:attrNameLst>
                                      </p:cBhvr>
                                      <p:to>
                                        <p:strVal val="visible"/>
                                      </p:to>
                                    </p:set>
                                    <p:animEffect transition="in" filter="box(in)">
                                      <p:cBhvr>
                                        <p:cTn id="12" dur="500"/>
                                        <p:tgtEl>
                                          <p:spTgt spid="108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body" idx="1"/>
          </p:nvPr>
        </p:nvSpPr>
        <p:spPr>
          <a:xfrm>
            <a:off x="457200" y="533400"/>
            <a:ext cx="8229600" cy="5592763"/>
          </a:xfrm>
        </p:spPr>
        <p:txBody>
          <a:bodyPr/>
          <a:lstStyle/>
          <a:p>
            <a:pPr eaLnBrk="1" hangingPunct="1"/>
            <a:r>
              <a:rPr lang="en-US" smtClean="0"/>
              <a:t>Q).		Al in an ore is determined by dissolving it and then participating with base as Al(OH)</a:t>
            </a:r>
            <a:r>
              <a:rPr lang="en-US" baseline="-25000" smtClean="0"/>
              <a:t>3</a:t>
            </a:r>
            <a:r>
              <a:rPr lang="en-US" smtClean="0"/>
              <a:t> and igniting to Al</a:t>
            </a:r>
            <a:r>
              <a:rPr lang="en-US" baseline="-25000" smtClean="0"/>
              <a:t>2</a:t>
            </a:r>
            <a:r>
              <a:rPr lang="en-US" smtClean="0"/>
              <a:t>O</a:t>
            </a:r>
            <a:r>
              <a:rPr lang="en-US" baseline="-25000" smtClean="0"/>
              <a:t>3</a:t>
            </a:r>
            <a:r>
              <a:rPr lang="en-US" smtClean="0"/>
              <a:t>, which is weighed. What weight of Al was I the sample if the ignited precipitate weighed 0.2385 g?</a:t>
            </a:r>
          </a:p>
          <a:p>
            <a:pPr eaLnBrk="1" hangingPunct="1"/>
            <a:r>
              <a:rPr lang="en-US" smtClean="0"/>
              <a:t> </a:t>
            </a:r>
          </a:p>
        </p:txBody>
      </p:sp>
      <p:sp>
        <p:nvSpPr>
          <p:cNvPr id="54275"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420A7E31-DD26-40FF-B4BE-AE5AE08FA132}" type="datetime1">
              <a:rPr lang="en-US" sz="1400" smtClean="0"/>
              <a:pPr eaLnBrk="1" hangingPunct="1"/>
              <a:t>5/6/2021</a:t>
            </a:fld>
            <a:endParaRPr lang="en-US" sz="1400" smtClean="0"/>
          </a:p>
        </p:txBody>
      </p:sp>
      <p:sp>
        <p:nvSpPr>
          <p:cNvPr id="5427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13120529-44EA-4546-B88F-4640E77DDF70}" type="slidenum">
              <a:rPr lang="en-US" sz="1400" smtClean="0"/>
              <a:pPr eaLnBrk="1" hangingPunct="1"/>
              <a:t>50</a:t>
            </a:fld>
            <a:endParaRPr lang="en-US" sz="1400" smtClean="0"/>
          </a:p>
        </p:txBody>
      </p:sp>
      <p:sp>
        <p:nvSpPr>
          <p:cNvPr id="54277"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61537027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body" sz="half" idx="1"/>
          </p:nvPr>
        </p:nvSpPr>
        <p:spPr>
          <a:xfrm>
            <a:off x="457200" y="762000"/>
            <a:ext cx="8305800" cy="5364163"/>
          </a:xfrm>
        </p:spPr>
        <p:txBody>
          <a:bodyPr/>
          <a:lstStyle/>
          <a:p>
            <a:pPr eaLnBrk="1" hangingPunct="1"/>
            <a:r>
              <a:rPr lang="en-US" sz="2800" smtClean="0"/>
              <a:t>Q).	The mass of CaO =  26.7134 –26.6002 g  = 						0.1132 g. </a:t>
            </a:r>
          </a:p>
          <a:p>
            <a:pPr eaLnBrk="1" hangingPunct="1"/>
            <a:r>
              <a:rPr lang="en-US" sz="2800" smtClean="0"/>
              <a:t>g Ca = ?</a:t>
            </a:r>
          </a:p>
        </p:txBody>
      </p:sp>
      <p:graphicFrame>
        <p:nvGraphicFramePr>
          <p:cNvPr id="111619" name="Object 3"/>
          <p:cNvGraphicFramePr>
            <a:graphicFrameLocks noChangeAspect="1"/>
          </p:cNvGraphicFramePr>
          <p:nvPr/>
        </p:nvGraphicFramePr>
        <p:xfrm>
          <a:off x="3505200" y="2133600"/>
          <a:ext cx="2590800" cy="712788"/>
        </p:xfrm>
        <a:graphic>
          <a:graphicData uri="http://schemas.openxmlformats.org/presentationml/2006/ole">
            <mc:AlternateContent xmlns:mc="http://schemas.openxmlformats.org/markup-compatibility/2006">
              <mc:Choice xmlns:v="urn:schemas-microsoft-com:vml" Requires="v">
                <p:oleObj spid="_x0000_s9218" name="Equation" r:id="rId3" imgW="1524000" imgH="419100" progId="Equation.3">
                  <p:embed/>
                </p:oleObj>
              </mc:Choice>
              <mc:Fallback>
                <p:oleObj name="Equation" r:id="rId3" imgW="1524000" imgH="4191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2133600"/>
                        <a:ext cx="2590800"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1620" name="Object 4"/>
          <p:cNvGraphicFramePr>
            <a:graphicFrameLocks noChangeAspect="1"/>
          </p:cNvGraphicFramePr>
          <p:nvPr/>
        </p:nvGraphicFramePr>
        <p:xfrm>
          <a:off x="3581400" y="2971800"/>
          <a:ext cx="2743200" cy="817563"/>
        </p:xfrm>
        <a:graphic>
          <a:graphicData uri="http://schemas.openxmlformats.org/presentationml/2006/ole">
            <mc:AlternateContent xmlns:mc="http://schemas.openxmlformats.org/markup-compatibility/2006">
              <mc:Choice xmlns:v="urn:schemas-microsoft-com:vml" Requires="v">
                <p:oleObj spid="_x0000_s9219" name="Equation" r:id="rId5" imgW="1320227" imgH="393529" progId="Equation.3">
                  <p:embed/>
                </p:oleObj>
              </mc:Choice>
              <mc:Fallback>
                <p:oleObj name="Equation" r:id="rId5" imgW="1320227" imgH="393529"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1400" y="2971800"/>
                        <a:ext cx="2743200" cy="817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1621" name="Object 5"/>
          <p:cNvGraphicFramePr>
            <a:graphicFrameLocks noChangeAspect="1"/>
          </p:cNvGraphicFramePr>
          <p:nvPr/>
        </p:nvGraphicFramePr>
        <p:xfrm>
          <a:off x="3581400" y="3962400"/>
          <a:ext cx="2438400" cy="733425"/>
        </p:xfrm>
        <a:graphic>
          <a:graphicData uri="http://schemas.openxmlformats.org/presentationml/2006/ole">
            <mc:AlternateContent xmlns:mc="http://schemas.openxmlformats.org/markup-compatibility/2006">
              <mc:Choice xmlns:v="urn:schemas-microsoft-com:vml" Requires="v">
                <p:oleObj spid="_x0000_s9220" name="Equation" r:id="rId7" imgW="1307532" imgH="393529" progId="Equation.3">
                  <p:embed/>
                </p:oleObj>
              </mc:Choice>
              <mc:Fallback>
                <p:oleObj name="Equation" r:id="rId7" imgW="1307532" imgH="393529"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1400" y="3962400"/>
                        <a:ext cx="2438400"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1622" name="Object 6"/>
          <p:cNvGraphicFramePr>
            <a:graphicFrameLocks noChangeAspect="1"/>
          </p:cNvGraphicFramePr>
          <p:nvPr/>
        </p:nvGraphicFramePr>
        <p:xfrm>
          <a:off x="3124200" y="4800600"/>
          <a:ext cx="3141663" cy="533400"/>
        </p:xfrm>
        <a:graphic>
          <a:graphicData uri="http://schemas.openxmlformats.org/presentationml/2006/ole">
            <mc:AlternateContent xmlns:mc="http://schemas.openxmlformats.org/markup-compatibility/2006">
              <mc:Choice xmlns:v="urn:schemas-microsoft-com:vml" Requires="v">
                <p:oleObj spid="_x0000_s9221" name="Equation" r:id="rId9" imgW="1346200" imgH="228600" progId="Equation.3">
                  <p:embed/>
                </p:oleObj>
              </mc:Choice>
              <mc:Fallback>
                <p:oleObj name="Equation" r:id="rId9" imgW="1346200" imgH="228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200" y="4800600"/>
                        <a:ext cx="314166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1623" name="Object 7"/>
          <p:cNvGraphicFramePr>
            <a:graphicFrameLocks noChangeAspect="1"/>
          </p:cNvGraphicFramePr>
          <p:nvPr/>
        </p:nvGraphicFramePr>
        <p:xfrm>
          <a:off x="2743200" y="5486400"/>
          <a:ext cx="6303963" cy="762000"/>
        </p:xfrm>
        <a:graphic>
          <a:graphicData uri="http://schemas.openxmlformats.org/presentationml/2006/ole">
            <mc:AlternateContent xmlns:mc="http://schemas.openxmlformats.org/markup-compatibility/2006">
              <mc:Choice xmlns:v="urn:schemas-microsoft-com:vml" Requires="v">
                <p:oleObj spid="_x0000_s9222" name="Equation" r:id="rId11" imgW="3467100" imgH="419100" progId="Equation.3">
                  <p:embed/>
                </p:oleObj>
              </mc:Choice>
              <mc:Fallback>
                <p:oleObj name="Equation" r:id="rId11" imgW="3467100" imgH="4191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43200" y="5486400"/>
                        <a:ext cx="63039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1624" name="Object 8"/>
          <p:cNvGraphicFramePr>
            <a:graphicFrameLocks noChangeAspect="1"/>
          </p:cNvGraphicFramePr>
          <p:nvPr/>
        </p:nvGraphicFramePr>
        <p:xfrm>
          <a:off x="3352800" y="6248400"/>
          <a:ext cx="3162300" cy="609600"/>
        </p:xfrm>
        <a:graphic>
          <a:graphicData uri="http://schemas.openxmlformats.org/presentationml/2006/ole">
            <mc:AlternateContent xmlns:mc="http://schemas.openxmlformats.org/markup-compatibility/2006">
              <mc:Choice xmlns:v="urn:schemas-microsoft-com:vml" Requires="v">
                <p:oleObj spid="_x0000_s9223" name="Equation" r:id="rId13" imgW="1054100" imgH="203200" progId="Equation.3">
                  <p:embed/>
                </p:oleObj>
              </mc:Choice>
              <mc:Fallback>
                <p:oleObj name="Equation" r:id="rId13" imgW="1054100" imgH="2032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52800" y="6248400"/>
                        <a:ext cx="31623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305" name="Date Placeholder 11"/>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A6D0B9AD-200D-43F8-8119-6F0E979FA16B}" type="datetime1">
              <a:rPr lang="en-US" sz="1400" smtClean="0"/>
              <a:pPr eaLnBrk="1" hangingPunct="1"/>
              <a:t>5/6/2021</a:t>
            </a:fld>
            <a:endParaRPr lang="en-US" sz="1400" smtClean="0"/>
          </a:p>
        </p:txBody>
      </p:sp>
      <p:sp>
        <p:nvSpPr>
          <p:cNvPr id="55306" name="Slide Number Placeholder 1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1B67A60B-4448-4885-A7A5-F701B0E89E08}" type="slidenum">
              <a:rPr lang="ar-SA" sz="1400" smtClean="0"/>
              <a:pPr eaLnBrk="1" hangingPunct="1"/>
              <a:t>51</a:t>
            </a:fld>
            <a:endParaRPr lang="en-US" sz="1400" smtClean="0"/>
          </a:p>
        </p:txBody>
      </p:sp>
      <p:sp>
        <p:nvSpPr>
          <p:cNvPr id="55307" name="Footer Placeholder 1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mc:AlternateContent xmlns:mc="http://schemas.openxmlformats.org/markup-compatibility/2006">
        <mc:Choice xmlns:p14="http://schemas.microsoft.com/office/powerpoint/2010/main" Requires="p14">
          <p:contentPart p14:bwMode="auto" r:id="rId15">
            <p14:nvContentPartPr>
              <p14:cNvPr id="9224" name="Ink 9"/>
              <p14:cNvContentPartPr>
                <a14:cpLocks xmlns:a14="http://schemas.microsoft.com/office/drawing/2010/main" noRot="1" noChangeAspect="1" noEditPoints="1" noChangeArrowheads="1" noChangeShapeType="1"/>
              </p14:cNvContentPartPr>
              <p14:nvPr/>
            </p14:nvContentPartPr>
            <p14:xfrm>
              <a:off x="5661025" y="4919663"/>
              <a:ext cx="1588" cy="1587"/>
            </p14:xfrm>
          </p:contentPart>
        </mc:Choice>
        <mc:Fallback>
          <p:pic>
            <p:nvPicPr>
              <p:cNvPr id="9224" name="Ink 9"/>
              <p:cNvPicPr>
                <a:picLocks noRot="1" noChangeAspect="1" noEditPoints="1" noChangeArrowheads="1" noChangeShapeType="1"/>
              </p:cNvPicPr>
              <p:nvPr/>
            </p:nvPicPr>
            <p:blipFill>
              <a:blip r:embed="rId16"/>
              <a:stretch>
                <a:fillRect/>
              </a:stretch>
            </p:blipFill>
            <p:spPr>
              <a:xfrm>
                <a:off x="5632441" y="4891097"/>
                <a:ext cx="58756" cy="58719"/>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9225" name="Ink 10"/>
              <p14:cNvContentPartPr>
                <a14:cpLocks xmlns:a14="http://schemas.microsoft.com/office/drawing/2010/main" noRot="1" noChangeAspect="1" noEditPoints="1" noChangeArrowheads="1" noChangeShapeType="1"/>
              </p14:cNvContentPartPr>
              <p14:nvPr/>
            </p14:nvContentPartPr>
            <p14:xfrm>
              <a:off x="5661025" y="4894263"/>
              <a:ext cx="2233613" cy="955675"/>
            </p14:xfrm>
          </p:contentPart>
        </mc:Choice>
        <mc:Fallback>
          <p:pic>
            <p:nvPicPr>
              <p:cNvPr id="9225" name="Ink 10"/>
              <p:cNvPicPr>
                <a:picLocks noRot="1" noChangeAspect="1" noEditPoints="1" noChangeArrowheads="1" noChangeShapeType="1"/>
              </p:cNvPicPr>
              <p:nvPr/>
            </p:nvPicPr>
            <p:blipFill>
              <a:blip r:embed="rId18"/>
              <a:stretch>
                <a:fillRect/>
              </a:stretch>
            </p:blipFill>
            <p:spPr>
              <a:xfrm>
                <a:off x="5654544" y="4887784"/>
                <a:ext cx="2246574" cy="968633"/>
              </a:xfrm>
              <a:prstGeom prst="rect">
                <a:avLst/>
              </a:prstGeom>
            </p:spPr>
          </p:pic>
        </mc:Fallback>
      </mc:AlternateContent>
    </p:spTree>
    <p:extLst>
      <p:ext uri="{BB962C8B-B14F-4D97-AF65-F5344CB8AC3E}">
        <p14:creationId xmlns:p14="http://schemas.microsoft.com/office/powerpoint/2010/main" val="31010872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ox(in)">
                                      <p:cBhvr>
                                        <p:cTn id="7" dur="500"/>
                                        <p:tgtEl>
                                          <p:spTgt spid="10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box(in)">
                                      <p:cBhvr>
                                        <p:cTn id="12" dur="500"/>
                                        <p:tgtEl>
                                          <p:spTgt spid="102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11619"/>
                                        </p:tgtEl>
                                        <p:attrNameLst>
                                          <p:attrName>style.visibility</p:attrName>
                                        </p:attrNameLst>
                                      </p:cBhvr>
                                      <p:to>
                                        <p:strVal val="visible"/>
                                      </p:to>
                                    </p:set>
                                    <p:animEffect transition="in" filter="box(in)">
                                      <p:cBhvr>
                                        <p:cTn id="17" dur="500"/>
                                        <p:tgtEl>
                                          <p:spTgt spid="1116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11620"/>
                                        </p:tgtEl>
                                        <p:attrNameLst>
                                          <p:attrName>style.visibility</p:attrName>
                                        </p:attrNameLst>
                                      </p:cBhvr>
                                      <p:to>
                                        <p:strVal val="visible"/>
                                      </p:to>
                                    </p:set>
                                    <p:animEffect transition="in" filter="box(in)">
                                      <p:cBhvr>
                                        <p:cTn id="22" dur="500"/>
                                        <p:tgtEl>
                                          <p:spTgt spid="1116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11621"/>
                                        </p:tgtEl>
                                        <p:attrNameLst>
                                          <p:attrName>style.visibility</p:attrName>
                                        </p:attrNameLst>
                                      </p:cBhvr>
                                      <p:to>
                                        <p:strVal val="visible"/>
                                      </p:to>
                                    </p:set>
                                    <p:animEffect transition="in" filter="box(in)">
                                      <p:cBhvr>
                                        <p:cTn id="27" dur="500"/>
                                        <p:tgtEl>
                                          <p:spTgt spid="1116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111622"/>
                                        </p:tgtEl>
                                        <p:attrNameLst>
                                          <p:attrName>style.visibility</p:attrName>
                                        </p:attrNameLst>
                                      </p:cBhvr>
                                      <p:to>
                                        <p:strVal val="visible"/>
                                      </p:to>
                                    </p:set>
                                    <p:animEffect transition="in" filter="box(in)">
                                      <p:cBhvr>
                                        <p:cTn id="32" dur="500"/>
                                        <p:tgtEl>
                                          <p:spTgt spid="11162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111623"/>
                                        </p:tgtEl>
                                        <p:attrNameLst>
                                          <p:attrName>style.visibility</p:attrName>
                                        </p:attrNameLst>
                                      </p:cBhvr>
                                      <p:to>
                                        <p:strVal val="visible"/>
                                      </p:to>
                                    </p:set>
                                    <p:animEffect transition="in" filter="box(in)">
                                      <p:cBhvr>
                                        <p:cTn id="37" dur="500"/>
                                        <p:tgtEl>
                                          <p:spTgt spid="11162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111624"/>
                                        </p:tgtEl>
                                        <p:attrNameLst>
                                          <p:attrName>style.visibility</p:attrName>
                                        </p:attrNameLst>
                                      </p:cBhvr>
                                      <p:to>
                                        <p:strVal val="visible"/>
                                      </p:to>
                                    </p:set>
                                    <p:animEffect transition="in" filter="box(in)">
                                      <p:cBhvr>
                                        <p:cTn id="42" dur="500"/>
                                        <p:tgtEl>
                                          <p:spTgt spid="1116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body" idx="1"/>
          </p:nvPr>
        </p:nvSpPr>
        <p:spPr>
          <a:xfrm>
            <a:off x="457200" y="533400"/>
            <a:ext cx="8229600" cy="5592763"/>
          </a:xfrm>
        </p:spPr>
        <p:txBody>
          <a:bodyPr/>
          <a:lstStyle/>
          <a:p>
            <a:pPr eaLnBrk="1" hangingPunct="1"/>
            <a:r>
              <a:rPr lang="en-US" smtClean="0"/>
              <a:t>Q).		A 0.2356 g sample containing only NaCl (58.44 g/mol) and BaCl</a:t>
            </a:r>
            <a:r>
              <a:rPr lang="en-US" baseline="-25000" smtClean="0"/>
              <a:t>2</a:t>
            </a:r>
            <a:r>
              <a:rPr lang="en-US" smtClean="0"/>
              <a:t> (208 g/mol) yielded 0.4637 g of dried AgCl(143.32 g/mol). Calculate the percentage of each halogen compound in the sample.</a:t>
            </a:r>
          </a:p>
          <a:p>
            <a:pPr eaLnBrk="1" hangingPunct="1"/>
            <a:endParaRPr lang="en-US" smtClean="0"/>
          </a:p>
          <a:p>
            <a:pPr eaLnBrk="1" hangingPunct="1"/>
            <a:endParaRPr lang="en-US" smtClean="0"/>
          </a:p>
          <a:p>
            <a:pPr eaLnBrk="1" hangingPunct="1"/>
            <a:endParaRPr lang="en-US" smtClean="0"/>
          </a:p>
        </p:txBody>
      </p:sp>
      <p:sp>
        <p:nvSpPr>
          <p:cNvPr id="56323"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97E124B5-7636-4A7A-B227-22CBCD04322F}" type="datetime1">
              <a:rPr lang="en-US" sz="1400" smtClean="0"/>
              <a:pPr eaLnBrk="1" hangingPunct="1"/>
              <a:t>5/6/2021</a:t>
            </a:fld>
            <a:endParaRPr lang="en-US" sz="1400" smtClean="0"/>
          </a:p>
        </p:txBody>
      </p:sp>
      <p:sp>
        <p:nvSpPr>
          <p:cNvPr id="56324"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EB7F4D0A-9259-4213-A35C-4364AD99F05F}" type="slidenum">
              <a:rPr lang="en-US" sz="1400" smtClean="0"/>
              <a:pPr eaLnBrk="1" hangingPunct="1"/>
              <a:t>52</a:t>
            </a:fld>
            <a:endParaRPr lang="en-US" sz="1400" smtClean="0"/>
          </a:p>
        </p:txBody>
      </p:sp>
      <p:sp>
        <p:nvSpPr>
          <p:cNvPr id="56325"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56615300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body" sz="half" idx="1"/>
          </p:nvPr>
        </p:nvSpPr>
        <p:spPr>
          <a:xfrm>
            <a:off x="609600" y="1066800"/>
            <a:ext cx="8382000" cy="5592763"/>
          </a:xfrm>
        </p:spPr>
        <p:txBody>
          <a:bodyPr/>
          <a:lstStyle/>
          <a:p>
            <a:pPr eaLnBrk="1" hangingPunct="1"/>
            <a:r>
              <a:rPr lang="en-US" sz="2800" smtClean="0"/>
              <a:t>(ans):-	</a:t>
            </a:r>
          </a:p>
          <a:p>
            <a:pPr eaLnBrk="1" hangingPunct="1"/>
            <a:r>
              <a:rPr lang="en-US" sz="2800" smtClean="0"/>
              <a:t>x +y = 0.2356 g.</a:t>
            </a:r>
          </a:p>
          <a:p>
            <a:pPr eaLnBrk="1" hangingPunct="1"/>
            <a:r>
              <a:rPr lang="en-US" sz="2800" smtClean="0"/>
              <a:t>Where x = mass of NaCl and y is the mass of BaCl</a:t>
            </a:r>
            <a:r>
              <a:rPr lang="en-US" sz="2800" baseline="-25000" smtClean="0"/>
              <a:t>2</a:t>
            </a:r>
            <a:r>
              <a:rPr lang="en-US" sz="2800" smtClean="0"/>
              <a:t>.</a:t>
            </a:r>
          </a:p>
          <a:p>
            <a:pPr eaLnBrk="1" hangingPunct="1"/>
            <a:r>
              <a:rPr lang="en-US" sz="2800" smtClean="0"/>
              <a:t>Amount of </a:t>
            </a:r>
          </a:p>
        </p:txBody>
      </p:sp>
      <p:graphicFrame>
        <p:nvGraphicFramePr>
          <p:cNvPr id="112643" name="Object 3"/>
          <p:cNvGraphicFramePr>
            <a:graphicFrameLocks noChangeAspect="1"/>
          </p:cNvGraphicFramePr>
          <p:nvPr/>
        </p:nvGraphicFramePr>
        <p:xfrm>
          <a:off x="2133600" y="3429000"/>
          <a:ext cx="3886200" cy="2530475"/>
        </p:xfrm>
        <a:graphic>
          <a:graphicData uri="http://schemas.openxmlformats.org/presentationml/2006/ole">
            <mc:AlternateContent xmlns:mc="http://schemas.openxmlformats.org/markup-compatibility/2006">
              <mc:Choice xmlns:v="urn:schemas-microsoft-com:vml" Requires="v">
                <p:oleObj spid="_x0000_s10242" name="Equation" r:id="rId3" imgW="1638300" imgH="1066800" progId="Equation.3">
                  <p:embed/>
                </p:oleObj>
              </mc:Choice>
              <mc:Fallback>
                <p:oleObj name="Equation" r:id="rId3" imgW="1638300" imgH="1066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3429000"/>
                        <a:ext cx="388620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348"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B6B9A2C3-1388-489A-8F43-11C81DE73228}" type="datetime1">
              <a:rPr lang="en-US" sz="1400" smtClean="0"/>
              <a:pPr eaLnBrk="1" hangingPunct="1"/>
              <a:t>5/6/2021</a:t>
            </a:fld>
            <a:endParaRPr lang="en-US" sz="1400" smtClean="0"/>
          </a:p>
        </p:txBody>
      </p:sp>
      <p:sp>
        <p:nvSpPr>
          <p:cNvPr id="57349"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F1301455-0EE1-49FE-AE62-4980F3FCE0B9}" type="slidenum">
              <a:rPr lang="ar-SA" sz="1400" smtClean="0"/>
              <a:pPr eaLnBrk="1" hangingPunct="1"/>
              <a:t>53</a:t>
            </a:fld>
            <a:endParaRPr lang="en-US" sz="1400" smtClean="0"/>
          </a:p>
        </p:txBody>
      </p:sp>
      <p:sp>
        <p:nvSpPr>
          <p:cNvPr id="57350"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1651049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box(in)">
                                      <p:cBhvr>
                                        <p:cTn id="7" dur="500"/>
                                        <p:tgtEl>
                                          <p:spTgt spid="11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box(in)">
                                      <p:cBhvr>
                                        <p:cTn id="12" dur="500"/>
                                        <p:tgtEl>
                                          <p:spTgt spid="112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1267">
                                            <p:txEl>
                                              <p:pRg st="2" end="2"/>
                                            </p:txEl>
                                          </p:spTgt>
                                        </p:tgtEl>
                                        <p:attrNameLst>
                                          <p:attrName>style.visibility</p:attrName>
                                        </p:attrNameLst>
                                      </p:cBhvr>
                                      <p:to>
                                        <p:strVal val="visible"/>
                                      </p:to>
                                    </p:set>
                                    <p:animEffect transition="in" filter="box(in)">
                                      <p:cBhvr>
                                        <p:cTn id="17" dur="500"/>
                                        <p:tgtEl>
                                          <p:spTgt spid="112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1267">
                                            <p:txEl>
                                              <p:pRg st="3" end="3"/>
                                            </p:txEl>
                                          </p:spTgt>
                                        </p:tgtEl>
                                        <p:attrNameLst>
                                          <p:attrName>style.visibility</p:attrName>
                                        </p:attrNameLst>
                                      </p:cBhvr>
                                      <p:to>
                                        <p:strVal val="visible"/>
                                      </p:to>
                                    </p:set>
                                    <p:animEffect transition="in" filter="box(in)">
                                      <p:cBhvr>
                                        <p:cTn id="22" dur="500"/>
                                        <p:tgtEl>
                                          <p:spTgt spid="1126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12643"/>
                                        </p:tgtEl>
                                        <p:attrNameLst>
                                          <p:attrName>style.visibility</p:attrName>
                                        </p:attrNameLst>
                                      </p:cBhvr>
                                      <p:to>
                                        <p:strVal val="visible"/>
                                      </p:to>
                                    </p:set>
                                    <p:animEffect transition="in" filter="box(in)">
                                      <p:cBhvr>
                                        <p:cTn id="27" dur="500"/>
                                        <p:tgtEl>
                                          <p:spTgt spid="112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3906" name="Object 2"/>
          <p:cNvGraphicFramePr>
            <a:graphicFrameLocks noChangeAspect="1"/>
          </p:cNvGraphicFramePr>
          <p:nvPr/>
        </p:nvGraphicFramePr>
        <p:xfrm>
          <a:off x="1600200" y="1066800"/>
          <a:ext cx="3160713" cy="2286000"/>
        </p:xfrm>
        <a:graphic>
          <a:graphicData uri="http://schemas.openxmlformats.org/presentationml/2006/ole">
            <mc:AlternateContent xmlns:mc="http://schemas.openxmlformats.org/markup-compatibility/2006">
              <mc:Choice xmlns:v="urn:schemas-microsoft-com:vml" Requires="v">
                <p:oleObj spid="_x0000_s11266" name="Equation" r:id="rId3" imgW="1790700" imgH="1295400" progId="Equation.3">
                  <p:embed/>
                </p:oleObj>
              </mc:Choice>
              <mc:Fallback>
                <p:oleObj name="Equation" r:id="rId3" imgW="1790700" imgH="1295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1066800"/>
                        <a:ext cx="3160713"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8371"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5D2632C2-106F-496D-A995-3E915EF988E4}" type="datetime1">
              <a:rPr lang="en-US" sz="1400" smtClean="0"/>
              <a:pPr eaLnBrk="1" hangingPunct="1"/>
              <a:t>5/6/2021</a:t>
            </a:fld>
            <a:endParaRPr lang="en-US" sz="1400" smtClean="0"/>
          </a:p>
        </p:txBody>
      </p:sp>
      <p:sp>
        <p:nvSpPr>
          <p:cNvPr id="58372"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84547DC4-D163-45BE-BABC-D3A187A66D83}" type="slidenum">
              <a:rPr lang="en-US" sz="1400" smtClean="0"/>
              <a:pPr eaLnBrk="1" hangingPunct="1"/>
              <a:t>54</a:t>
            </a:fld>
            <a:endParaRPr lang="en-US" sz="1400" smtClean="0"/>
          </a:p>
        </p:txBody>
      </p:sp>
      <p:sp>
        <p:nvSpPr>
          <p:cNvPr id="58373"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320581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23906"/>
                                        </p:tgtEl>
                                        <p:attrNameLst>
                                          <p:attrName>style.visibility</p:attrName>
                                        </p:attrNameLst>
                                      </p:cBhvr>
                                      <p:to>
                                        <p:strVal val="visible"/>
                                      </p:to>
                                    </p:set>
                                    <p:animEffect transition="in" filter="box(in)">
                                      <p:cBhvr>
                                        <p:cTn id="7" dur="500"/>
                                        <p:tgtEl>
                                          <p:spTgt spid="1239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0CA15C1F-649E-417F-9722-A2FB4DAE2B4C}" type="slidenum">
              <a:rPr lang="ar-SA" sz="1400" smtClean="0">
                <a:latin typeface="Arial" charset="0"/>
                <a:cs typeface="Arial" charset="0"/>
              </a:rPr>
              <a:pPr eaLnBrk="1" hangingPunct="1"/>
              <a:t>55</a:t>
            </a:fld>
            <a:endParaRPr lang="en-US" sz="1400" smtClean="0">
              <a:latin typeface="Arial" charset="0"/>
              <a:cs typeface="Arial" charset="0"/>
            </a:endParaRPr>
          </a:p>
        </p:txBody>
      </p:sp>
      <p:sp>
        <p:nvSpPr>
          <p:cNvPr id="59395" name="Rectangle 2"/>
          <p:cNvSpPr>
            <a:spLocks noGrp="1" noChangeArrowheads="1"/>
          </p:cNvSpPr>
          <p:nvPr>
            <p:ph type="title"/>
          </p:nvPr>
        </p:nvSpPr>
        <p:spPr/>
        <p:txBody>
          <a:bodyPr/>
          <a:lstStyle/>
          <a:p>
            <a:pPr eaLnBrk="1" hangingPunct="1"/>
            <a:r>
              <a:rPr lang="en-US" sz="3200" b="1" smtClean="0">
                <a:cs typeface="Times New Roman" pitchFamily="18" charset="0"/>
              </a:rPr>
              <a:t>Precipitation Equilibria</a:t>
            </a:r>
            <a:endParaRPr lang="en-US" sz="3200" smtClean="0">
              <a:solidFill>
                <a:srgbClr val="000000"/>
              </a:solidFill>
              <a:cs typeface="Times New Roman" pitchFamily="18" charset="0"/>
            </a:endParaRPr>
          </a:p>
        </p:txBody>
      </p:sp>
      <p:sp>
        <p:nvSpPr>
          <p:cNvPr id="59396" name="Rectangle 3"/>
          <p:cNvSpPr>
            <a:spLocks noGrp="1" noChangeArrowheads="1"/>
          </p:cNvSpPr>
          <p:nvPr>
            <p:ph type="body" idx="1"/>
          </p:nvPr>
        </p:nvSpPr>
        <p:spPr/>
        <p:txBody>
          <a:bodyPr/>
          <a:lstStyle/>
          <a:p>
            <a:pPr algn="justLow" eaLnBrk="1" hangingPunct="1">
              <a:buFont typeface="Wingdings" pitchFamily="2" charset="2"/>
              <a:buChar char="§"/>
            </a:pPr>
            <a:r>
              <a:rPr lang="en-US" sz="2000" smtClean="0">
                <a:solidFill>
                  <a:srgbClr val="000000"/>
                </a:solidFill>
                <a:cs typeface="Times New Roman" pitchFamily="18" charset="0"/>
              </a:rPr>
              <a:t>Inorganic solids which have limited water solubility show an equilibrium in solution represented by the so called solubility product. For example, AgCl slightly dissolve in water giving Cl</a:t>
            </a:r>
            <a:r>
              <a:rPr lang="en-US" sz="2000" baseline="30000" smtClean="0">
                <a:solidFill>
                  <a:srgbClr val="000000"/>
                </a:solidFill>
                <a:cs typeface="Times New Roman" pitchFamily="18" charset="0"/>
              </a:rPr>
              <a:t>-</a:t>
            </a:r>
            <a:r>
              <a:rPr lang="en-US" sz="2000" smtClean="0">
                <a:solidFill>
                  <a:srgbClr val="000000"/>
                </a:solidFill>
                <a:cs typeface="Times New Roman" pitchFamily="18" charset="0"/>
              </a:rPr>
              <a:t> and Ag</a:t>
            </a:r>
            <a:r>
              <a:rPr lang="en-US" sz="2000" baseline="30000" smtClean="0">
                <a:solidFill>
                  <a:srgbClr val="000000"/>
                </a:solidFill>
                <a:cs typeface="Times New Roman" pitchFamily="18" charset="0"/>
              </a:rPr>
              <a:t>+</a:t>
            </a:r>
            <a:r>
              <a:rPr lang="en-US" sz="2000" smtClean="0">
                <a:solidFill>
                  <a:srgbClr val="000000"/>
                </a:solidFill>
                <a:cs typeface="Times New Roman" pitchFamily="18" charset="0"/>
              </a:rPr>
              <a:t> where</a:t>
            </a:r>
          </a:p>
          <a:p>
            <a:pPr algn="justLow" eaLnBrk="1" hangingPunct="1">
              <a:buFont typeface="Wingdings" pitchFamily="2" charset="2"/>
              <a:buChar char="§"/>
            </a:pPr>
            <a:r>
              <a:rPr lang="en-US" sz="2000" smtClean="0">
                <a:solidFill>
                  <a:srgbClr val="000000"/>
                </a:solidFill>
                <a:cs typeface="Times New Roman" pitchFamily="18" charset="0"/>
              </a:rPr>
              <a:t> </a:t>
            </a:r>
            <a:endParaRPr lang="en-US" sz="2000" b="1" smtClean="0">
              <a:solidFill>
                <a:srgbClr val="000000"/>
              </a:solidFill>
              <a:cs typeface="Times New Roman" pitchFamily="18" charset="0"/>
            </a:endParaRPr>
          </a:p>
          <a:p>
            <a:pPr algn="justLow" eaLnBrk="1" hangingPunct="1">
              <a:buFont typeface="Wingdings" pitchFamily="2" charset="2"/>
              <a:buChar char="§"/>
            </a:pPr>
            <a:r>
              <a:rPr lang="en-US" sz="2000" b="1" smtClean="0">
                <a:solidFill>
                  <a:srgbClr val="000000"/>
                </a:solidFill>
                <a:cs typeface="Times New Roman" pitchFamily="18" charset="0"/>
              </a:rPr>
              <a:t>AgCl </a:t>
            </a:r>
            <a:r>
              <a:rPr lang="en-US" sz="2000" b="1" baseline="-30000" smtClean="0">
                <a:solidFill>
                  <a:srgbClr val="000000"/>
                </a:solidFill>
                <a:cs typeface="Times New Roman" pitchFamily="18" charset="0"/>
              </a:rPr>
              <a:t>(s)</a:t>
            </a:r>
            <a:r>
              <a:rPr lang="en-US" sz="2000" b="1" smtClean="0">
                <a:solidFill>
                  <a:srgbClr val="000000"/>
                </a:solidFill>
                <a:cs typeface="Times New Roman" pitchFamily="18" charset="0"/>
              </a:rPr>
              <a:t> </a:t>
            </a:r>
            <a:r>
              <a:rPr lang="en-US" sz="2000" b="1" smtClean="0">
                <a:solidFill>
                  <a:srgbClr val="000000"/>
                </a:solidFill>
                <a:latin typeface="Wingdings 3" pitchFamily="18" charset="2"/>
                <a:cs typeface="Times New Roman" pitchFamily="18" charset="0"/>
              </a:rPr>
              <a:t>D</a:t>
            </a:r>
            <a:r>
              <a:rPr lang="en-US" sz="2000" b="1" smtClean="0">
                <a:solidFill>
                  <a:srgbClr val="000000"/>
                </a:solidFill>
                <a:cs typeface="Times New Roman" pitchFamily="18" charset="0"/>
              </a:rPr>
              <a:t> Ag</a:t>
            </a:r>
            <a:r>
              <a:rPr lang="en-US" sz="2000" b="1" baseline="30000" smtClean="0">
                <a:solidFill>
                  <a:srgbClr val="000000"/>
                </a:solidFill>
                <a:cs typeface="Times New Roman" pitchFamily="18" charset="0"/>
              </a:rPr>
              <a:t>+</a:t>
            </a:r>
            <a:r>
              <a:rPr lang="en-US" sz="2000" b="1" smtClean="0">
                <a:solidFill>
                  <a:srgbClr val="000000"/>
                </a:solidFill>
                <a:cs typeface="Times New Roman" pitchFamily="18" charset="0"/>
              </a:rPr>
              <a:t> + Cl</a:t>
            </a:r>
            <a:r>
              <a:rPr lang="en-US" sz="2000" b="1" baseline="30000" smtClean="0">
                <a:solidFill>
                  <a:srgbClr val="000000"/>
                </a:solidFill>
                <a:cs typeface="Times New Roman" pitchFamily="18" charset="0"/>
              </a:rPr>
              <a:t>-</a:t>
            </a:r>
            <a:endParaRPr lang="en-US" sz="2000" b="1" smtClean="0">
              <a:solidFill>
                <a:srgbClr val="000000"/>
              </a:solidFill>
              <a:cs typeface="Times New Roman" pitchFamily="18" charset="0"/>
            </a:endParaRPr>
          </a:p>
          <a:p>
            <a:pPr algn="justLow" eaLnBrk="1" hangingPunct="1">
              <a:buFont typeface="Wingdings" pitchFamily="2" charset="2"/>
              <a:buChar char="§"/>
            </a:pPr>
            <a:r>
              <a:rPr lang="en-US" sz="2000" b="1" smtClean="0">
                <a:solidFill>
                  <a:srgbClr val="000000"/>
                </a:solidFill>
                <a:cs typeface="Times New Roman" pitchFamily="18" charset="0"/>
              </a:rPr>
              <a:t>K = [Ag</a:t>
            </a:r>
            <a:r>
              <a:rPr lang="en-US" sz="2000" b="1" baseline="30000" smtClean="0">
                <a:solidFill>
                  <a:srgbClr val="000000"/>
                </a:solidFill>
                <a:cs typeface="Times New Roman" pitchFamily="18" charset="0"/>
              </a:rPr>
              <a:t>+</a:t>
            </a:r>
            <a:r>
              <a:rPr lang="en-US" sz="2000" b="1" smtClean="0">
                <a:solidFill>
                  <a:srgbClr val="000000"/>
                </a:solidFill>
                <a:cs typeface="Times New Roman" pitchFamily="18" charset="0"/>
              </a:rPr>
              <a:t>][Cl</a:t>
            </a:r>
            <a:r>
              <a:rPr lang="en-US" sz="2000" b="1" baseline="30000" smtClean="0">
                <a:solidFill>
                  <a:srgbClr val="000000"/>
                </a:solidFill>
                <a:cs typeface="Times New Roman" pitchFamily="18" charset="0"/>
              </a:rPr>
              <a:t>-</a:t>
            </a:r>
            <a:r>
              <a:rPr lang="en-US" sz="2000" b="1" smtClean="0">
                <a:solidFill>
                  <a:srgbClr val="000000"/>
                </a:solidFill>
                <a:cs typeface="Times New Roman" pitchFamily="18" charset="0"/>
              </a:rPr>
              <a:t>]/[AgCl</a:t>
            </a:r>
            <a:r>
              <a:rPr lang="en-US" sz="2000" b="1" baseline="-30000" smtClean="0">
                <a:solidFill>
                  <a:srgbClr val="000000"/>
                </a:solidFill>
                <a:cs typeface="Times New Roman" pitchFamily="18" charset="0"/>
              </a:rPr>
              <a:t>(s)</a:t>
            </a:r>
            <a:r>
              <a:rPr lang="en-US" sz="2000" b="1" smtClean="0">
                <a:solidFill>
                  <a:srgbClr val="000000"/>
                </a:solidFill>
                <a:cs typeface="Times New Roman" pitchFamily="18" charset="0"/>
              </a:rPr>
              <a:t>]</a:t>
            </a:r>
            <a:endParaRPr lang="en-US" sz="2000" smtClean="0">
              <a:solidFill>
                <a:srgbClr val="000000"/>
              </a:solidFill>
              <a:cs typeface="Times New Roman" pitchFamily="18" charset="0"/>
            </a:endParaRPr>
          </a:p>
          <a:p>
            <a:pPr algn="justLow" eaLnBrk="1" hangingPunct="1">
              <a:buFont typeface="Wingdings" pitchFamily="2" charset="2"/>
              <a:buChar char="§"/>
            </a:pPr>
            <a:r>
              <a:rPr lang="en-US" sz="2000" smtClean="0">
                <a:solidFill>
                  <a:srgbClr val="000000"/>
                </a:solidFill>
                <a:cs typeface="Times New Roman" pitchFamily="18" charset="0"/>
              </a:rPr>
              <a:t> </a:t>
            </a:r>
          </a:p>
          <a:p>
            <a:pPr algn="justLow" eaLnBrk="1" hangingPunct="1">
              <a:buFont typeface="Wingdings" pitchFamily="2" charset="2"/>
              <a:buChar char="§"/>
            </a:pPr>
            <a:r>
              <a:rPr lang="en-US" sz="2000" smtClean="0">
                <a:solidFill>
                  <a:srgbClr val="000000"/>
                </a:solidFill>
                <a:cs typeface="Times New Roman" pitchFamily="18" charset="0"/>
              </a:rPr>
              <a:t>However, the concentration of a solid is constant and the equilibrium constant can include the concentration of the solid and thus is referred to, in this case, as the solubility product, k</a:t>
            </a:r>
            <a:r>
              <a:rPr lang="en-US" sz="2000" baseline="-30000" smtClean="0">
                <a:solidFill>
                  <a:srgbClr val="000000"/>
                </a:solidFill>
                <a:cs typeface="Times New Roman" pitchFamily="18" charset="0"/>
              </a:rPr>
              <a:t>sp</a:t>
            </a:r>
            <a:r>
              <a:rPr lang="en-US" sz="2000" smtClean="0">
                <a:solidFill>
                  <a:srgbClr val="000000"/>
                </a:solidFill>
                <a:cs typeface="Times New Roman" pitchFamily="18" charset="0"/>
              </a:rPr>
              <a:t> where</a:t>
            </a:r>
          </a:p>
          <a:p>
            <a:pPr algn="justLow" eaLnBrk="1" hangingPunct="1">
              <a:buFont typeface="Wingdings" pitchFamily="2" charset="2"/>
              <a:buChar char="§"/>
            </a:pPr>
            <a:r>
              <a:rPr lang="en-US" sz="2000" smtClean="0">
                <a:solidFill>
                  <a:srgbClr val="000000"/>
                </a:solidFill>
                <a:cs typeface="Times New Roman" pitchFamily="18" charset="0"/>
              </a:rPr>
              <a:t> </a:t>
            </a:r>
            <a:endParaRPr lang="en-US" sz="2000" b="1" smtClean="0">
              <a:solidFill>
                <a:srgbClr val="000000"/>
              </a:solidFill>
              <a:cs typeface="Times New Roman" pitchFamily="18" charset="0"/>
            </a:endParaRPr>
          </a:p>
          <a:p>
            <a:pPr algn="justLow" eaLnBrk="1" hangingPunct="1">
              <a:buFont typeface="Wingdings" pitchFamily="2" charset="2"/>
              <a:buChar char="§"/>
            </a:pPr>
            <a:r>
              <a:rPr lang="en-US" sz="2000" b="1" smtClean="0">
                <a:solidFill>
                  <a:srgbClr val="000000"/>
                </a:solidFill>
                <a:cs typeface="Times New Roman" pitchFamily="18" charset="0"/>
              </a:rPr>
              <a:t>K</a:t>
            </a:r>
            <a:r>
              <a:rPr lang="en-US" sz="2000" b="1" baseline="-30000" smtClean="0">
                <a:solidFill>
                  <a:srgbClr val="000000"/>
                </a:solidFill>
                <a:cs typeface="Times New Roman" pitchFamily="18" charset="0"/>
              </a:rPr>
              <a:t>sp</a:t>
            </a:r>
            <a:r>
              <a:rPr lang="en-US" sz="2000" b="1" smtClean="0">
                <a:solidFill>
                  <a:srgbClr val="000000"/>
                </a:solidFill>
                <a:cs typeface="Times New Roman" pitchFamily="18" charset="0"/>
              </a:rPr>
              <a:t> = [Ag</a:t>
            </a:r>
            <a:r>
              <a:rPr lang="en-US" sz="2000" b="1" baseline="30000" smtClean="0">
                <a:solidFill>
                  <a:srgbClr val="000000"/>
                </a:solidFill>
                <a:cs typeface="Times New Roman" pitchFamily="18" charset="0"/>
              </a:rPr>
              <a:t>+</a:t>
            </a:r>
            <a:r>
              <a:rPr lang="en-US" sz="2000" b="1" smtClean="0">
                <a:solidFill>
                  <a:srgbClr val="000000"/>
                </a:solidFill>
                <a:cs typeface="Times New Roman" pitchFamily="18" charset="0"/>
              </a:rPr>
              <a:t>][Cl</a:t>
            </a:r>
            <a:r>
              <a:rPr lang="en-US" sz="2000" b="1" baseline="30000" smtClean="0">
                <a:solidFill>
                  <a:srgbClr val="000000"/>
                </a:solidFill>
                <a:cs typeface="Times New Roman" pitchFamily="18" charset="0"/>
              </a:rPr>
              <a:t>-</a:t>
            </a:r>
            <a:r>
              <a:rPr lang="en-US" sz="2000" b="1" smtClean="0">
                <a:solidFill>
                  <a:srgbClr val="000000"/>
                </a:solidFill>
                <a:cs typeface="Times New Roman" pitchFamily="18" charset="0"/>
              </a:rPr>
              <a:t>]</a:t>
            </a:r>
            <a:endParaRPr lang="en-US" sz="2000" smtClean="0">
              <a:solidFill>
                <a:srgbClr val="000000"/>
              </a:solidFill>
              <a:cs typeface="Times New Roman" pitchFamily="18" charset="0"/>
            </a:endParaRPr>
          </a:p>
          <a:p>
            <a:pPr algn="justLow" eaLnBrk="1" hangingPunct="1">
              <a:buFont typeface="Wingdings" pitchFamily="2" charset="2"/>
              <a:buChar char="§"/>
            </a:pPr>
            <a:r>
              <a:rPr lang="en-US" sz="1000" smtClean="0">
                <a:solidFill>
                  <a:srgbClr val="000000"/>
                </a:solidFill>
                <a:cs typeface="Times New Roman" pitchFamily="18" charset="0"/>
              </a:rPr>
              <a:t> </a:t>
            </a:r>
          </a:p>
        </p:txBody>
      </p:sp>
      <p:sp>
        <p:nvSpPr>
          <p:cNvPr id="59397"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75207DE2-7097-49D3-8E15-EC5F6BBF493C}" type="datetime1">
              <a:rPr lang="en-US" sz="1400" smtClean="0"/>
              <a:pPr eaLnBrk="1" hangingPunct="1"/>
              <a:t>5/6/2021</a:t>
            </a:fld>
            <a:endParaRPr lang="en-US" sz="1400" smtClean="0"/>
          </a:p>
        </p:txBody>
      </p:sp>
      <p:sp>
        <p:nvSpPr>
          <p:cNvPr id="59398"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42437813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9395"/>
                                        </p:tgtEl>
                                        <p:attrNameLst>
                                          <p:attrName>style.visibility</p:attrName>
                                        </p:attrNameLst>
                                      </p:cBhvr>
                                      <p:to>
                                        <p:strVal val="visible"/>
                                      </p:to>
                                    </p:set>
                                    <p:animEffect transition="in" filter="box(in)">
                                      <p:cBhvr>
                                        <p:cTn id="7" dur="500"/>
                                        <p:tgtEl>
                                          <p:spTgt spid="593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9396">
                                            <p:txEl>
                                              <p:pRg st="0" end="0"/>
                                            </p:txEl>
                                          </p:spTgt>
                                        </p:tgtEl>
                                        <p:attrNameLst>
                                          <p:attrName>style.visibility</p:attrName>
                                        </p:attrNameLst>
                                      </p:cBhvr>
                                      <p:to>
                                        <p:strVal val="visible"/>
                                      </p:to>
                                    </p:set>
                                    <p:animEffect transition="in" filter="box(in)">
                                      <p:cBhvr>
                                        <p:cTn id="12" dur="500"/>
                                        <p:tgtEl>
                                          <p:spTgt spid="5939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9396">
                                            <p:txEl>
                                              <p:pRg st="1" end="1"/>
                                            </p:txEl>
                                          </p:spTgt>
                                        </p:tgtEl>
                                        <p:attrNameLst>
                                          <p:attrName>style.visibility</p:attrName>
                                        </p:attrNameLst>
                                      </p:cBhvr>
                                      <p:to>
                                        <p:strVal val="visible"/>
                                      </p:to>
                                    </p:set>
                                    <p:animEffect transition="in" filter="box(in)">
                                      <p:cBhvr>
                                        <p:cTn id="17" dur="500"/>
                                        <p:tgtEl>
                                          <p:spTgt spid="5939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59396">
                                            <p:txEl>
                                              <p:pRg st="2" end="2"/>
                                            </p:txEl>
                                          </p:spTgt>
                                        </p:tgtEl>
                                        <p:attrNameLst>
                                          <p:attrName>style.visibility</p:attrName>
                                        </p:attrNameLst>
                                      </p:cBhvr>
                                      <p:to>
                                        <p:strVal val="visible"/>
                                      </p:to>
                                    </p:set>
                                    <p:animEffect transition="in" filter="box(in)">
                                      <p:cBhvr>
                                        <p:cTn id="22" dur="500"/>
                                        <p:tgtEl>
                                          <p:spTgt spid="5939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59396">
                                            <p:txEl>
                                              <p:pRg st="3" end="3"/>
                                            </p:txEl>
                                          </p:spTgt>
                                        </p:tgtEl>
                                        <p:attrNameLst>
                                          <p:attrName>style.visibility</p:attrName>
                                        </p:attrNameLst>
                                      </p:cBhvr>
                                      <p:to>
                                        <p:strVal val="visible"/>
                                      </p:to>
                                    </p:set>
                                    <p:animEffect transition="in" filter="box(in)">
                                      <p:cBhvr>
                                        <p:cTn id="27" dur="500"/>
                                        <p:tgtEl>
                                          <p:spTgt spid="59396">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59396">
                                            <p:txEl>
                                              <p:pRg st="4" end="4"/>
                                            </p:txEl>
                                          </p:spTgt>
                                        </p:tgtEl>
                                        <p:attrNameLst>
                                          <p:attrName>style.visibility</p:attrName>
                                        </p:attrNameLst>
                                      </p:cBhvr>
                                      <p:to>
                                        <p:strVal val="visible"/>
                                      </p:to>
                                    </p:set>
                                    <p:animEffect transition="in" filter="box(in)">
                                      <p:cBhvr>
                                        <p:cTn id="32" dur="500"/>
                                        <p:tgtEl>
                                          <p:spTgt spid="59396">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59396">
                                            <p:txEl>
                                              <p:pRg st="5" end="5"/>
                                            </p:txEl>
                                          </p:spTgt>
                                        </p:tgtEl>
                                        <p:attrNameLst>
                                          <p:attrName>style.visibility</p:attrName>
                                        </p:attrNameLst>
                                      </p:cBhvr>
                                      <p:to>
                                        <p:strVal val="visible"/>
                                      </p:to>
                                    </p:set>
                                    <p:animEffect transition="in" filter="box(in)">
                                      <p:cBhvr>
                                        <p:cTn id="37" dur="500"/>
                                        <p:tgtEl>
                                          <p:spTgt spid="59396">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59396">
                                            <p:txEl>
                                              <p:pRg st="6" end="6"/>
                                            </p:txEl>
                                          </p:spTgt>
                                        </p:tgtEl>
                                        <p:attrNameLst>
                                          <p:attrName>style.visibility</p:attrName>
                                        </p:attrNameLst>
                                      </p:cBhvr>
                                      <p:to>
                                        <p:strVal val="visible"/>
                                      </p:to>
                                    </p:set>
                                    <p:animEffect transition="in" filter="box(in)">
                                      <p:cBhvr>
                                        <p:cTn id="42" dur="500"/>
                                        <p:tgtEl>
                                          <p:spTgt spid="59396">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59396">
                                            <p:txEl>
                                              <p:pRg st="7" end="7"/>
                                            </p:txEl>
                                          </p:spTgt>
                                        </p:tgtEl>
                                        <p:attrNameLst>
                                          <p:attrName>style.visibility</p:attrName>
                                        </p:attrNameLst>
                                      </p:cBhvr>
                                      <p:to>
                                        <p:strVal val="visible"/>
                                      </p:to>
                                    </p:set>
                                    <p:animEffect transition="in" filter="box(in)">
                                      <p:cBhvr>
                                        <p:cTn id="47" dur="500"/>
                                        <p:tgtEl>
                                          <p:spTgt spid="59396">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59396">
                                            <p:txEl>
                                              <p:pRg st="8" end="8"/>
                                            </p:txEl>
                                          </p:spTgt>
                                        </p:tgtEl>
                                        <p:attrNameLst>
                                          <p:attrName>style.visibility</p:attrName>
                                        </p:attrNameLst>
                                      </p:cBhvr>
                                      <p:to>
                                        <p:strVal val="visible"/>
                                      </p:to>
                                    </p:set>
                                    <p:animEffect transition="in" filter="box(in)">
                                      <p:cBhvr>
                                        <p:cTn id="52" dur="500"/>
                                        <p:tgtEl>
                                          <p:spTgt spid="5939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p:bldP spid="59396"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563F0DA0-B1FF-45C0-B0C3-701EADAE3A78}" type="slidenum">
              <a:rPr lang="ar-SA" sz="1400" smtClean="0">
                <a:latin typeface="Arial" charset="0"/>
                <a:cs typeface="Arial" charset="0"/>
              </a:rPr>
              <a:pPr eaLnBrk="1" hangingPunct="1"/>
              <a:t>56</a:t>
            </a:fld>
            <a:endParaRPr lang="en-US" sz="1400" smtClean="0">
              <a:latin typeface="Arial" charset="0"/>
              <a:cs typeface="Arial" charset="0"/>
            </a:endParaRPr>
          </a:p>
        </p:txBody>
      </p:sp>
      <p:sp>
        <p:nvSpPr>
          <p:cNvPr id="60419" name="Rectangle 2"/>
          <p:cNvSpPr>
            <a:spLocks noGrp="1" noChangeArrowheads="1"/>
          </p:cNvSpPr>
          <p:nvPr>
            <p:ph type="body" idx="1"/>
          </p:nvPr>
        </p:nvSpPr>
        <p:spPr>
          <a:xfrm>
            <a:off x="457200" y="692150"/>
            <a:ext cx="8229600" cy="5434013"/>
          </a:xfrm>
        </p:spPr>
        <p:txBody>
          <a:bodyPr/>
          <a:lstStyle/>
          <a:p>
            <a:pPr eaLnBrk="1" hangingPunct="1">
              <a:lnSpc>
                <a:spcPct val="80000"/>
              </a:lnSpc>
              <a:buFont typeface="Wingdings" pitchFamily="2" charset="2"/>
              <a:buChar char="§"/>
            </a:pPr>
            <a:r>
              <a:rPr lang="en-US" sz="2400" smtClean="0">
                <a:solidFill>
                  <a:srgbClr val="000000"/>
                </a:solidFill>
                <a:cs typeface="Times New Roman" pitchFamily="18" charset="0"/>
              </a:rPr>
              <a:t>It should be clear that the product of the ions raised to appropriate power as the number of moles will fit in one of three cases:</a:t>
            </a:r>
          </a:p>
          <a:p>
            <a:pPr eaLnBrk="1" hangingPunct="1">
              <a:lnSpc>
                <a:spcPct val="80000"/>
              </a:lnSpc>
              <a:buFont typeface="Wingdings" pitchFamily="2" charset="2"/>
              <a:buChar char="§"/>
            </a:pPr>
            <a:r>
              <a:rPr lang="en-US" sz="2400" smtClean="0">
                <a:solidFill>
                  <a:srgbClr val="000000"/>
                </a:solidFill>
                <a:cs typeface="Times New Roman" pitchFamily="18" charset="0"/>
              </a:rPr>
              <a:t> 1. </a:t>
            </a:r>
            <a:r>
              <a:rPr lang="en-US" sz="2400" b="1" smtClean="0">
                <a:solidFill>
                  <a:srgbClr val="000000"/>
                </a:solidFill>
                <a:cs typeface="Times New Roman" pitchFamily="18" charset="0"/>
              </a:rPr>
              <a:t>When the product is less than K</a:t>
            </a:r>
            <a:r>
              <a:rPr lang="en-US" sz="2400" b="1" baseline="-30000" smtClean="0">
                <a:solidFill>
                  <a:srgbClr val="000000"/>
                </a:solidFill>
                <a:cs typeface="Times New Roman" pitchFamily="18" charset="0"/>
              </a:rPr>
              <a:t>sp</a:t>
            </a:r>
            <a:r>
              <a:rPr lang="en-US" sz="2400" smtClean="0">
                <a:solidFill>
                  <a:srgbClr val="000000"/>
                </a:solidFill>
                <a:cs typeface="Times New Roman" pitchFamily="18" charset="0"/>
              </a:rPr>
              <a:t>: No precipitate is formed and we have a clear solution</a:t>
            </a:r>
          </a:p>
          <a:p>
            <a:pPr eaLnBrk="1" hangingPunct="1">
              <a:lnSpc>
                <a:spcPct val="80000"/>
              </a:lnSpc>
              <a:buFont typeface="Wingdings" pitchFamily="2" charset="2"/>
              <a:buChar char="§"/>
            </a:pPr>
            <a:r>
              <a:rPr lang="en-US" sz="2400" smtClean="0">
                <a:solidFill>
                  <a:srgbClr val="000000"/>
                </a:solidFill>
                <a:cs typeface="Times New Roman" pitchFamily="18" charset="0"/>
              </a:rPr>
              <a:t>2.</a:t>
            </a:r>
            <a:r>
              <a:rPr lang="en-US" sz="2400" b="1" smtClean="0">
                <a:solidFill>
                  <a:srgbClr val="000000"/>
                </a:solidFill>
                <a:cs typeface="Times New Roman" pitchFamily="18" charset="0"/>
              </a:rPr>
              <a:t> When the product is equal to k</a:t>
            </a:r>
            <a:r>
              <a:rPr lang="en-US" sz="2400" b="1" baseline="-30000" smtClean="0">
                <a:solidFill>
                  <a:srgbClr val="000000"/>
                </a:solidFill>
                <a:cs typeface="Times New Roman" pitchFamily="18" charset="0"/>
              </a:rPr>
              <a:t>sp</a:t>
            </a:r>
            <a:r>
              <a:rPr lang="en-US" sz="2400" b="1" smtClean="0">
                <a:solidFill>
                  <a:srgbClr val="000000"/>
                </a:solidFill>
                <a:cs typeface="Times New Roman" pitchFamily="18" charset="0"/>
              </a:rPr>
              <a:t> </a:t>
            </a:r>
            <a:r>
              <a:rPr lang="en-US" sz="2400" smtClean="0">
                <a:solidFill>
                  <a:srgbClr val="000000"/>
                </a:solidFill>
                <a:cs typeface="Times New Roman" pitchFamily="18" charset="0"/>
              </a:rPr>
              <a:t>: We have a saturated solution</a:t>
            </a:r>
          </a:p>
          <a:p>
            <a:pPr eaLnBrk="1" hangingPunct="1">
              <a:lnSpc>
                <a:spcPct val="80000"/>
              </a:lnSpc>
              <a:buFont typeface="Wingdings" pitchFamily="2" charset="2"/>
              <a:buChar char="§"/>
            </a:pPr>
            <a:r>
              <a:rPr lang="en-US" sz="2400" smtClean="0">
                <a:solidFill>
                  <a:srgbClr val="000000"/>
                </a:solidFill>
                <a:cs typeface="Times New Roman" pitchFamily="18" charset="0"/>
              </a:rPr>
              <a:t>3. </a:t>
            </a:r>
            <a:r>
              <a:rPr lang="en-US" sz="2400" b="1" smtClean="0">
                <a:solidFill>
                  <a:srgbClr val="000000"/>
                </a:solidFill>
                <a:cs typeface="Times New Roman" pitchFamily="18" charset="0"/>
              </a:rPr>
              <a:t>When the product exceeds the k</a:t>
            </a:r>
            <a:r>
              <a:rPr lang="en-US" sz="2400" b="1" baseline="-30000" smtClean="0">
                <a:solidFill>
                  <a:srgbClr val="000000"/>
                </a:solidFill>
                <a:cs typeface="Times New Roman" pitchFamily="18" charset="0"/>
              </a:rPr>
              <a:t>sp</a:t>
            </a:r>
            <a:r>
              <a:rPr lang="en-US" sz="2400" smtClean="0">
                <a:solidFill>
                  <a:srgbClr val="000000"/>
                </a:solidFill>
                <a:cs typeface="Times New Roman" pitchFamily="18" charset="0"/>
              </a:rPr>
              <a:t> : A precipitate will form</a:t>
            </a:r>
          </a:p>
          <a:p>
            <a:pPr eaLnBrk="1" hangingPunct="1">
              <a:lnSpc>
                <a:spcPct val="80000"/>
              </a:lnSpc>
              <a:buFont typeface="Wingdings" pitchFamily="2" charset="2"/>
              <a:buChar char="§"/>
            </a:pPr>
            <a:r>
              <a:rPr lang="en-US" sz="2400" smtClean="0">
                <a:solidFill>
                  <a:srgbClr val="000000"/>
                </a:solidFill>
                <a:cs typeface="Times New Roman" pitchFamily="18" charset="0"/>
              </a:rPr>
              <a:t> </a:t>
            </a:r>
          </a:p>
          <a:p>
            <a:pPr eaLnBrk="1" hangingPunct="1">
              <a:lnSpc>
                <a:spcPct val="80000"/>
              </a:lnSpc>
              <a:buFont typeface="Wingdings" pitchFamily="2" charset="2"/>
              <a:buChar char="§"/>
            </a:pPr>
            <a:r>
              <a:rPr lang="en-US" sz="2400" smtClean="0">
                <a:solidFill>
                  <a:srgbClr val="000000"/>
                </a:solidFill>
                <a:cs typeface="Times New Roman" pitchFamily="18" charset="0"/>
              </a:rPr>
              <a:t>It should also be clear that at equilibrium of the solid with its ions, the concentration of each ion is constant and the precipitation of ions in solution does occur but at the same rate as the solubility of precipitate in solution. Therefore, the concentration of the ions remains constant at equilibrium.</a:t>
            </a:r>
            <a:r>
              <a:rPr lang="en-US" sz="1000" smtClean="0">
                <a:solidFill>
                  <a:srgbClr val="000000"/>
                </a:solidFill>
                <a:cs typeface="Times New Roman" pitchFamily="18" charset="0"/>
              </a:rPr>
              <a:t> </a:t>
            </a:r>
          </a:p>
        </p:txBody>
      </p:sp>
      <p:sp>
        <p:nvSpPr>
          <p:cNvPr id="60420"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03F95277-97D4-40AD-B82F-B67B741E6408}" type="datetime1">
              <a:rPr lang="en-US" sz="1400" smtClean="0"/>
              <a:pPr eaLnBrk="1" hangingPunct="1"/>
              <a:t>5/6/2021</a:t>
            </a:fld>
            <a:endParaRPr lang="en-US" sz="1400" smtClean="0"/>
          </a:p>
        </p:txBody>
      </p:sp>
      <p:sp>
        <p:nvSpPr>
          <p:cNvPr id="60421"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4079773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box(in)">
                                      <p:cBhvr>
                                        <p:cTn id="7" dur="500"/>
                                        <p:tgtEl>
                                          <p:spTgt spid="604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0419">
                                            <p:txEl>
                                              <p:pRg st="1" end="1"/>
                                            </p:txEl>
                                          </p:spTgt>
                                        </p:tgtEl>
                                        <p:attrNameLst>
                                          <p:attrName>style.visibility</p:attrName>
                                        </p:attrNameLst>
                                      </p:cBhvr>
                                      <p:to>
                                        <p:strVal val="visible"/>
                                      </p:to>
                                    </p:set>
                                    <p:animEffect transition="in" filter="box(in)">
                                      <p:cBhvr>
                                        <p:cTn id="12" dur="500"/>
                                        <p:tgtEl>
                                          <p:spTgt spid="604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0419">
                                            <p:txEl>
                                              <p:pRg st="2" end="2"/>
                                            </p:txEl>
                                          </p:spTgt>
                                        </p:tgtEl>
                                        <p:attrNameLst>
                                          <p:attrName>style.visibility</p:attrName>
                                        </p:attrNameLst>
                                      </p:cBhvr>
                                      <p:to>
                                        <p:strVal val="visible"/>
                                      </p:to>
                                    </p:set>
                                    <p:animEffect transition="in" filter="box(in)">
                                      <p:cBhvr>
                                        <p:cTn id="17" dur="500"/>
                                        <p:tgtEl>
                                          <p:spTgt spid="604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0419">
                                            <p:txEl>
                                              <p:pRg st="3" end="3"/>
                                            </p:txEl>
                                          </p:spTgt>
                                        </p:tgtEl>
                                        <p:attrNameLst>
                                          <p:attrName>style.visibility</p:attrName>
                                        </p:attrNameLst>
                                      </p:cBhvr>
                                      <p:to>
                                        <p:strVal val="visible"/>
                                      </p:to>
                                    </p:set>
                                    <p:animEffect transition="in" filter="box(in)">
                                      <p:cBhvr>
                                        <p:cTn id="22" dur="500"/>
                                        <p:tgtEl>
                                          <p:spTgt spid="6041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0419">
                                            <p:txEl>
                                              <p:pRg st="4" end="4"/>
                                            </p:txEl>
                                          </p:spTgt>
                                        </p:tgtEl>
                                        <p:attrNameLst>
                                          <p:attrName>style.visibility</p:attrName>
                                        </p:attrNameLst>
                                      </p:cBhvr>
                                      <p:to>
                                        <p:strVal val="visible"/>
                                      </p:to>
                                    </p:set>
                                    <p:animEffect transition="in" filter="box(in)">
                                      <p:cBhvr>
                                        <p:cTn id="27" dur="500"/>
                                        <p:tgtEl>
                                          <p:spTgt spid="6041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60419">
                                            <p:txEl>
                                              <p:pRg st="5" end="5"/>
                                            </p:txEl>
                                          </p:spTgt>
                                        </p:tgtEl>
                                        <p:attrNameLst>
                                          <p:attrName>style.visibility</p:attrName>
                                        </p:attrNameLst>
                                      </p:cBhvr>
                                      <p:to>
                                        <p:strVal val="visible"/>
                                      </p:to>
                                    </p:set>
                                    <p:animEffect transition="in" filter="box(in)">
                                      <p:cBhvr>
                                        <p:cTn id="32" dur="500"/>
                                        <p:tgtEl>
                                          <p:spTgt spid="604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5D39F436-F651-43D8-AE61-BC831298A8F7}" type="slidenum">
              <a:rPr lang="ar-SA" sz="1400" smtClean="0">
                <a:latin typeface="Arial" charset="0"/>
                <a:cs typeface="Arial" charset="0"/>
              </a:rPr>
              <a:pPr eaLnBrk="1" hangingPunct="1"/>
              <a:t>57</a:t>
            </a:fld>
            <a:endParaRPr lang="en-US" sz="1400" smtClean="0">
              <a:latin typeface="Arial" charset="0"/>
              <a:cs typeface="Arial" charset="0"/>
            </a:endParaRPr>
          </a:p>
        </p:txBody>
      </p:sp>
      <p:sp>
        <p:nvSpPr>
          <p:cNvPr id="62467" name="Rectangle 2"/>
          <p:cNvSpPr>
            <a:spLocks noGrp="1" noChangeArrowheads="1"/>
          </p:cNvSpPr>
          <p:nvPr>
            <p:ph type="body" idx="1"/>
          </p:nvPr>
        </p:nvSpPr>
        <p:spPr>
          <a:xfrm>
            <a:off x="457200" y="620713"/>
            <a:ext cx="8229600" cy="5505450"/>
          </a:xfrm>
        </p:spPr>
        <p:txBody>
          <a:bodyPr/>
          <a:lstStyle/>
          <a:p>
            <a:pPr marL="609600" indent="-609600" algn="justLow" eaLnBrk="1" hangingPunct="1">
              <a:buFont typeface="Wingdings" pitchFamily="2" charset="2"/>
              <a:buChar char="§"/>
            </a:pPr>
            <a:r>
              <a:rPr lang="en-US" sz="2800" smtClean="0">
                <a:solidFill>
                  <a:srgbClr val="000000"/>
                </a:solidFill>
                <a:cs typeface="Times New Roman" pitchFamily="18" charset="0"/>
              </a:rPr>
              <a:t>Three situations will be studied: </a:t>
            </a:r>
            <a:endParaRPr lang="en-US" sz="2800" b="1" smtClean="0">
              <a:solidFill>
                <a:srgbClr val="000000"/>
              </a:solidFill>
              <a:cs typeface="Times New Roman" pitchFamily="18" charset="0"/>
            </a:endParaRPr>
          </a:p>
          <a:p>
            <a:pPr marL="609600" indent="-609600" algn="justLow" eaLnBrk="1" hangingPunct="1">
              <a:buFont typeface="Wingdings" pitchFamily="2" charset="2"/>
              <a:buChar char="§"/>
            </a:pPr>
            <a:r>
              <a:rPr lang="en-US" sz="2800" b="1" smtClean="0">
                <a:solidFill>
                  <a:srgbClr val="000000"/>
                </a:solidFill>
                <a:cs typeface="Times New Roman" pitchFamily="18" charset="0"/>
              </a:rPr>
              <a:t>a. Solubility in pure water</a:t>
            </a:r>
          </a:p>
          <a:p>
            <a:pPr marL="609600" indent="-609600" algn="justLow" eaLnBrk="1" hangingPunct="1">
              <a:buFont typeface="Wingdings" pitchFamily="2" charset="2"/>
              <a:buChar char="§"/>
            </a:pPr>
            <a:r>
              <a:rPr lang="en-US" sz="2800" b="1" smtClean="0">
                <a:solidFill>
                  <a:srgbClr val="000000"/>
                </a:solidFill>
                <a:cs typeface="Times New Roman" pitchFamily="18" charset="0"/>
              </a:rPr>
              <a:t>b. Solubility in presence of a common ion</a:t>
            </a:r>
          </a:p>
          <a:p>
            <a:pPr marL="609600" indent="-609600" algn="justLow" eaLnBrk="1" hangingPunct="1">
              <a:buFont typeface="Wingdings" pitchFamily="2" charset="2"/>
              <a:buChar char="§"/>
            </a:pPr>
            <a:r>
              <a:rPr lang="en-US" sz="2800" b="1" smtClean="0">
                <a:solidFill>
                  <a:srgbClr val="000000"/>
                </a:solidFill>
                <a:cs typeface="Times New Roman" pitchFamily="18" charset="0"/>
              </a:rPr>
              <a:t>c. Solubility in presence of diverse ions</a:t>
            </a:r>
          </a:p>
          <a:p>
            <a:pPr marL="609600" indent="-609600" algn="justLow" eaLnBrk="1" hangingPunct="1">
              <a:buFont typeface="Wingdings" pitchFamily="2" charset="2"/>
              <a:buChar char="§"/>
            </a:pPr>
            <a:endParaRPr lang="en-US" sz="2800" b="1" smtClean="0">
              <a:solidFill>
                <a:srgbClr val="000000"/>
              </a:solidFill>
              <a:cs typeface="Times New Roman" pitchFamily="18" charset="0"/>
            </a:endParaRPr>
          </a:p>
          <a:p>
            <a:pPr marL="609600" indent="-609600" algn="justLow" eaLnBrk="1" hangingPunct="1">
              <a:buFont typeface="Wingdings" pitchFamily="2" charset="2"/>
              <a:buChar char="§"/>
            </a:pPr>
            <a:r>
              <a:rPr lang="en-US" sz="2800" b="1" smtClean="0">
                <a:solidFill>
                  <a:srgbClr val="000000"/>
                </a:solidFill>
                <a:cs typeface="Times New Roman" pitchFamily="18" charset="0"/>
              </a:rPr>
              <a:t>Two other situations will be discussed in later chapters</a:t>
            </a:r>
          </a:p>
          <a:p>
            <a:pPr marL="609600" indent="-609600" algn="justLow" eaLnBrk="1" hangingPunct="1">
              <a:buFont typeface="Wingdings" pitchFamily="2" charset="2"/>
              <a:buChar char="§"/>
            </a:pPr>
            <a:r>
              <a:rPr lang="en-US" sz="2800" b="1" smtClean="0">
                <a:solidFill>
                  <a:srgbClr val="000000"/>
                </a:solidFill>
                <a:cs typeface="Times New Roman" pitchFamily="18" charset="0"/>
              </a:rPr>
              <a:t>Solubility in acidic solutions</a:t>
            </a:r>
          </a:p>
          <a:p>
            <a:pPr marL="609600" indent="-609600" algn="justLow" eaLnBrk="1" hangingPunct="1">
              <a:buFont typeface="Wingdings" pitchFamily="2" charset="2"/>
              <a:buChar char="§"/>
            </a:pPr>
            <a:r>
              <a:rPr lang="en-US" sz="2800" b="1" smtClean="0">
                <a:solidFill>
                  <a:srgbClr val="000000"/>
                </a:solidFill>
                <a:cs typeface="Times New Roman" pitchFamily="18" charset="0"/>
              </a:rPr>
              <a:t>solubility in presence of a complexing agent </a:t>
            </a:r>
            <a:r>
              <a:rPr lang="en-US" sz="2800" smtClean="0">
                <a:solidFill>
                  <a:srgbClr val="000000"/>
                </a:solidFill>
                <a:cs typeface="Times New Roman" pitchFamily="18" charset="0"/>
              </a:rPr>
              <a:t> </a:t>
            </a:r>
            <a:endParaRPr lang="en-US" sz="2800" smtClean="0">
              <a:cs typeface="Times New Roman" pitchFamily="18" charset="0"/>
            </a:endParaRPr>
          </a:p>
        </p:txBody>
      </p:sp>
      <p:sp>
        <p:nvSpPr>
          <p:cNvPr id="61444"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7F1D095-BA3B-4AFC-9D31-E093DFDBD469}" type="datetime1">
              <a:rPr lang="en-US" sz="1400" smtClean="0"/>
              <a:pPr eaLnBrk="1" hangingPunct="1"/>
              <a:t>5/6/2021</a:t>
            </a:fld>
            <a:endParaRPr lang="en-US" sz="1400" smtClean="0"/>
          </a:p>
        </p:txBody>
      </p:sp>
      <p:sp>
        <p:nvSpPr>
          <p:cNvPr id="61445"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4299523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Effect transition="in" filter="box(in)">
                                      <p:cBhvr>
                                        <p:cTn id="7" dur="500"/>
                                        <p:tgtEl>
                                          <p:spTgt spid="624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2467">
                                            <p:txEl>
                                              <p:pRg st="1" end="1"/>
                                            </p:txEl>
                                          </p:spTgt>
                                        </p:tgtEl>
                                        <p:attrNameLst>
                                          <p:attrName>style.visibility</p:attrName>
                                        </p:attrNameLst>
                                      </p:cBhvr>
                                      <p:to>
                                        <p:strVal val="visible"/>
                                      </p:to>
                                    </p:set>
                                    <p:animEffect transition="in" filter="box(in)">
                                      <p:cBhvr>
                                        <p:cTn id="12" dur="500"/>
                                        <p:tgtEl>
                                          <p:spTgt spid="624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2467">
                                            <p:txEl>
                                              <p:pRg st="2" end="2"/>
                                            </p:txEl>
                                          </p:spTgt>
                                        </p:tgtEl>
                                        <p:attrNameLst>
                                          <p:attrName>style.visibility</p:attrName>
                                        </p:attrNameLst>
                                      </p:cBhvr>
                                      <p:to>
                                        <p:strVal val="visible"/>
                                      </p:to>
                                    </p:set>
                                    <p:animEffect transition="in" filter="box(in)">
                                      <p:cBhvr>
                                        <p:cTn id="17" dur="500"/>
                                        <p:tgtEl>
                                          <p:spTgt spid="624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2467">
                                            <p:txEl>
                                              <p:pRg st="3" end="3"/>
                                            </p:txEl>
                                          </p:spTgt>
                                        </p:tgtEl>
                                        <p:attrNameLst>
                                          <p:attrName>style.visibility</p:attrName>
                                        </p:attrNameLst>
                                      </p:cBhvr>
                                      <p:to>
                                        <p:strVal val="visible"/>
                                      </p:to>
                                    </p:set>
                                    <p:animEffect transition="in" filter="box(in)">
                                      <p:cBhvr>
                                        <p:cTn id="22" dur="500"/>
                                        <p:tgtEl>
                                          <p:spTgt spid="6246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2467">
                                            <p:txEl>
                                              <p:pRg st="5" end="5"/>
                                            </p:txEl>
                                          </p:spTgt>
                                        </p:tgtEl>
                                        <p:attrNameLst>
                                          <p:attrName>style.visibility</p:attrName>
                                        </p:attrNameLst>
                                      </p:cBhvr>
                                      <p:to>
                                        <p:strVal val="visible"/>
                                      </p:to>
                                    </p:set>
                                    <p:animEffect transition="in" filter="box(in)">
                                      <p:cBhvr>
                                        <p:cTn id="27" dur="500"/>
                                        <p:tgtEl>
                                          <p:spTgt spid="62467">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62467">
                                            <p:txEl>
                                              <p:pRg st="6" end="6"/>
                                            </p:txEl>
                                          </p:spTgt>
                                        </p:tgtEl>
                                        <p:attrNameLst>
                                          <p:attrName>style.visibility</p:attrName>
                                        </p:attrNameLst>
                                      </p:cBhvr>
                                      <p:to>
                                        <p:strVal val="visible"/>
                                      </p:to>
                                    </p:set>
                                    <p:animEffect transition="in" filter="box(in)">
                                      <p:cBhvr>
                                        <p:cTn id="32" dur="500"/>
                                        <p:tgtEl>
                                          <p:spTgt spid="62467">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2467">
                                            <p:txEl>
                                              <p:pRg st="7" end="7"/>
                                            </p:txEl>
                                          </p:spTgt>
                                        </p:tgtEl>
                                        <p:attrNameLst>
                                          <p:attrName>style.visibility</p:attrName>
                                        </p:attrNameLst>
                                      </p:cBhvr>
                                      <p:to>
                                        <p:strVal val="visible"/>
                                      </p:to>
                                    </p:set>
                                    <p:animEffect transition="in" filter="box(in)">
                                      <p:cBhvr>
                                        <p:cTn id="37" dur="500"/>
                                        <p:tgtEl>
                                          <p:spTgt spid="624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BE57F18E-84DE-44E1-B2BB-8AD9CBD51BAB}" type="slidenum">
              <a:rPr lang="ar-SA" sz="1400" smtClean="0">
                <a:latin typeface="Arial" charset="0"/>
                <a:cs typeface="Arial" charset="0"/>
              </a:rPr>
              <a:pPr eaLnBrk="1" hangingPunct="1"/>
              <a:t>58</a:t>
            </a:fld>
            <a:endParaRPr lang="en-US" sz="1400" smtClean="0">
              <a:latin typeface="Arial" charset="0"/>
              <a:cs typeface="Arial" charset="0"/>
            </a:endParaRPr>
          </a:p>
        </p:txBody>
      </p:sp>
      <p:sp>
        <p:nvSpPr>
          <p:cNvPr id="63491" name="Rectangle 2"/>
          <p:cNvSpPr>
            <a:spLocks noGrp="1" noChangeArrowheads="1"/>
          </p:cNvSpPr>
          <p:nvPr>
            <p:ph type="title"/>
          </p:nvPr>
        </p:nvSpPr>
        <p:spPr/>
        <p:txBody>
          <a:bodyPr/>
          <a:lstStyle/>
          <a:p>
            <a:pPr eaLnBrk="1" hangingPunct="1"/>
            <a:r>
              <a:rPr lang="en-US" sz="4000" b="1" smtClean="0">
                <a:cs typeface="Times New Roman" pitchFamily="18" charset="0"/>
              </a:rPr>
              <a:t>Solubility in Pure Water</a:t>
            </a:r>
            <a:endParaRPr lang="en-US" sz="4000" smtClean="0">
              <a:cs typeface="Times New Roman" pitchFamily="18" charset="0"/>
            </a:endParaRPr>
          </a:p>
        </p:txBody>
      </p:sp>
      <p:sp>
        <p:nvSpPr>
          <p:cNvPr id="63492" name="Rectangle 3"/>
          <p:cNvSpPr>
            <a:spLocks noGrp="1" noChangeArrowheads="1"/>
          </p:cNvSpPr>
          <p:nvPr>
            <p:ph type="body" idx="1"/>
          </p:nvPr>
        </p:nvSpPr>
        <p:spPr/>
        <p:txBody>
          <a:bodyPr/>
          <a:lstStyle/>
          <a:p>
            <a:pPr algn="justLow" eaLnBrk="1" hangingPunct="1">
              <a:buFontTx/>
              <a:buNone/>
            </a:pPr>
            <a:r>
              <a:rPr lang="en-US" sz="2400" b="1" smtClean="0">
                <a:solidFill>
                  <a:srgbClr val="000000"/>
                </a:solidFill>
                <a:cs typeface="Times New Roman" pitchFamily="18" charset="0"/>
              </a:rPr>
              <a:t>Example</a:t>
            </a:r>
            <a:endParaRPr lang="en-US" sz="2400" smtClean="0">
              <a:solidFill>
                <a:srgbClr val="000000"/>
              </a:solidFill>
              <a:cs typeface="Times New Roman" pitchFamily="18" charset="0"/>
            </a:endParaRPr>
          </a:p>
          <a:p>
            <a:pPr algn="justLow" eaLnBrk="1" hangingPunct="1">
              <a:buFontTx/>
              <a:buNone/>
            </a:pPr>
            <a:r>
              <a:rPr lang="en-US" sz="900" smtClean="0">
                <a:solidFill>
                  <a:srgbClr val="000000"/>
                </a:solidFill>
                <a:cs typeface="Times New Roman" pitchFamily="18" charset="0"/>
              </a:rPr>
              <a:t> </a:t>
            </a:r>
          </a:p>
          <a:p>
            <a:pPr algn="justLow" eaLnBrk="1" hangingPunct="1">
              <a:buFontTx/>
              <a:buNone/>
            </a:pPr>
            <a:r>
              <a:rPr lang="en-US" sz="2400" smtClean="0">
                <a:solidFill>
                  <a:srgbClr val="000000"/>
                </a:solidFill>
                <a:cs typeface="Times New Roman" pitchFamily="18" charset="0"/>
              </a:rPr>
              <a:t>Calculate the concentration of Ag</a:t>
            </a:r>
            <a:r>
              <a:rPr lang="en-US" sz="2400" baseline="30000" smtClean="0">
                <a:solidFill>
                  <a:srgbClr val="000000"/>
                </a:solidFill>
                <a:cs typeface="Times New Roman" pitchFamily="18" charset="0"/>
              </a:rPr>
              <a:t>+ </a:t>
            </a:r>
            <a:r>
              <a:rPr lang="en-US" sz="2400" smtClean="0">
                <a:solidFill>
                  <a:srgbClr val="000000"/>
                </a:solidFill>
                <a:cs typeface="Times New Roman" pitchFamily="18" charset="0"/>
              </a:rPr>
              <a:t>and Cl</a:t>
            </a:r>
            <a:r>
              <a:rPr lang="en-US" sz="2400" baseline="30000" smtClean="0">
                <a:solidFill>
                  <a:srgbClr val="000000"/>
                </a:solidFill>
                <a:cs typeface="Times New Roman" pitchFamily="18" charset="0"/>
              </a:rPr>
              <a:t>-</a:t>
            </a:r>
            <a:r>
              <a:rPr lang="en-US" sz="2400" smtClean="0">
                <a:solidFill>
                  <a:srgbClr val="000000"/>
                </a:solidFill>
                <a:cs typeface="Times New Roman" pitchFamily="18" charset="0"/>
              </a:rPr>
              <a:t> in pure water containing solid AgCl if the solubility product is 1.0x10</a:t>
            </a:r>
            <a:r>
              <a:rPr lang="en-US" sz="2400" baseline="30000" smtClean="0">
                <a:solidFill>
                  <a:srgbClr val="000000"/>
                </a:solidFill>
                <a:cs typeface="Times New Roman" pitchFamily="18" charset="0"/>
              </a:rPr>
              <a:t>-10</a:t>
            </a:r>
            <a:r>
              <a:rPr lang="en-US" sz="2400" smtClean="0">
                <a:solidFill>
                  <a:srgbClr val="000000"/>
                </a:solidFill>
                <a:cs typeface="Times New Roman" pitchFamily="18" charset="0"/>
              </a:rPr>
              <a:t>.</a:t>
            </a:r>
          </a:p>
          <a:p>
            <a:pPr algn="justLow" eaLnBrk="1" hangingPunct="1">
              <a:buFontTx/>
              <a:buNone/>
            </a:pPr>
            <a:r>
              <a:rPr lang="en-US" sz="1000" smtClean="0">
                <a:solidFill>
                  <a:srgbClr val="000000"/>
                </a:solidFill>
                <a:cs typeface="Times New Roman" pitchFamily="18" charset="0"/>
              </a:rPr>
              <a:t> </a:t>
            </a:r>
            <a:endParaRPr lang="en-US" sz="1000" b="1" smtClean="0">
              <a:solidFill>
                <a:srgbClr val="000000"/>
              </a:solidFill>
              <a:cs typeface="Times New Roman" pitchFamily="18" charset="0"/>
            </a:endParaRPr>
          </a:p>
          <a:p>
            <a:pPr algn="justLow" eaLnBrk="1" hangingPunct="1">
              <a:buFontTx/>
              <a:buNone/>
            </a:pPr>
            <a:r>
              <a:rPr lang="en-US" sz="2400" b="1" smtClean="0">
                <a:solidFill>
                  <a:srgbClr val="000000"/>
                </a:solidFill>
                <a:cs typeface="Times New Roman" pitchFamily="18" charset="0"/>
              </a:rPr>
              <a:t>Solution</a:t>
            </a:r>
            <a:endParaRPr lang="en-US" sz="2400" smtClean="0">
              <a:solidFill>
                <a:srgbClr val="000000"/>
              </a:solidFill>
              <a:cs typeface="Times New Roman" pitchFamily="18" charset="0"/>
            </a:endParaRPr>
          </a:p>
          <a:p>
            <a:pPr algn="justLow" eaLnBrk="1" hangingPunct="1">
              <a:buFontTx/>
              <a:buNone/>
            </a:pPr>
            <a:r>
              <a:rPr lang="en-US" sz="900" smtClean="0">
                <a:solidFill>
                  <a:srgbClr val="000000"/>
                </a:solidFill>
                <a:cs typeface="Times New Roman" pitchFamily="18" charset="0"/>
              </a:rPr>
              <a:t> </a:t>
            </a:r>
          </a:p>
          <a:p>
            <a:pPr algn="justLow" eaLnBrk="1" hangingPunct="1">
              <a:buFontTx/>
              <a:buNone/>
            </a:pPr>
            <a:r>
              <a:rPr lang="en-US" sz="2400" smtClean="0">
                <a:solidFill>
                  <a:srgbClr val="000000"/>
                </a:solidFill>
                <a:cs typeface="Times New Roman" pitchFamily="18" charset="0"/>
              </a:rPr>
              <a:t>First, we set the stoichiometric equation and assume that the molar solubility of AgCl is s.</a:t>
            </a:r>
          </a:p>
          <a:p>
            <a:pPr algn="justLow" eaLnBrk="1" hangingPunct="1">
              <a:buFontTx/>
              <a:buNone/>
            </a:pPr>
            <a:r>
              <a:rPr lang="en-US" sz="800" smtClean="0">
                <a:solidFill>
                  <a:srgbClr val="000000"/>
                </a:solidFill>
                <a:cs typeface="Times New Roman" pitchFamily="18" charset="0"/>
              </a:rPr>
              <a:t> </a:t>
            </a:r>
            <a:endParaRPr lang="en-US" sz="800" b="1" smtClean="0">
              <a:solidFill>
                <a:srgbClr val="000000"/>
              </a:solidFill>
              <a:cs typeface="Times New Roman" pitchFamily="18" charset="0"/>
            </a:endParaRPr>
          </a:p>
          <a:p>
            <a:pPr algn="justLow" eaLnBrk="1" hangingPunct="1">
              <a:buFontTx/>
              <a:buNone/>
            </a:pPr>
            <a:r>
              <a:rPr lang="en-US" sz="2400" b="1" smtClean="0">
                <a:solidFill>
                  <a:srgbClr val="000000"/>
                </a:solidFill>
                <a:cs typeface="Times New Roman" pitchFamily="18" charset="0"/>
              </a:rPr>
              <a:t>AgCl</a:t>
            </a:r>
            <a:r>
              <a:rPr lang="en-US" sz="2400" b="1" baseline="-30000" smtClean="0">
                <a:solidFill>
                  <a:srgbClr val="000000"/>
                </a:solidFill>
                <a:cs typeface="Times New Roman" pitchFamily="18" charset="0"/>
              </a:rPr>
              <a:t>(s)</a:t>
            </a:r>
            <a:r>
              <a:rPr lang="en-US" sz="2400" b="1" smtClean="0">
                <a:solidFill>
                  <a:srgbClr val="000000"/>
                </a:solidFill>
                <a:cs typeface="Times New Roman" pitchFamily="18" charset="0"/>
              </a:rPr>
              <a:t> </a:t>
            </a:r>
            <a:r>
              <a:rPr lang="en-US" sz="2400" b="1" smtClean="0">
                <a:solidFill>
                  <a:srgbClr val="000000"/>
                </a:solidFill>
                <a:latin typeface="Wingdings 3" pitchFamily="18" charset="2"/>
                <a:cs typeface="Times New Roman" pitchFamily="18" charset="0"/>
              </a:rPr>
              <a:t>D</a:t>
            </a:r>
            <a:r>
              <a:rPr lang="en-US" sz="2400" b="1" smtClean="0">
                <a:solidFill>
                  <a:srgbClr val="000000"/>
                </a:solidFill>
                <a:cs typeface="Times New Roman" pitchFamily="18" charset="0"/>
              </a:rPr>
              <a:t> Ag</a:t>
            </a:r>
            <a:r>
              <a:rPr lang="en-US" sz="2400" b="1" baseline="30000" smtClean="0">
                <a:solidFill>
                  <a:srgbClr val="000000"/>
                </a:solidFill>
                <a:cs typeface="Times New Roman" pitchFamily="18" charset="0"/>
              </a:rPr>
              <a:t>+</a:t>
            </a:r>
            <a:r>
              <a:rPr lang="en-US" sz="2400" b="1" smtClean="0">
                <a:solidFill>
                  <a:srgbClr val="000000"/>
                </a:solidFill>
                <a:cs typeface="Times New Roman" pitchFamily="18" charset="0"/>
              </a:rPr>
              <a:t> + Cl</a:t>
            </a:r>
            <a:r>
              <a:rPr lang="en-US" sz="2400" b="1" baseline="30000" smtClean="0">
                <a:solidFill>
                  <a:srgbClr val="000000"/>
                </a:solidFill>
                <a:cs typeface="Times New Roman" pitchFamily="18" charset="0"/>
              </a:rPr>
              <a:t>-</a:t>
            </a:r>
          </a:p>
        </p:txBody>
      </p:sp>
      <p:sp>
        <p:nvSpPr>
          <p:cNvPr id="62469"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2ADAA804-4C8F-444B-86A0-9414E670333F}" type="datetime1">
              <a:rPr lang="en-US" sz="1400" smtClean="0"/>
              <a:pPr eaLnBrk="1" hangingPunct="1"/>
              <a:t>5/6/2021</a:t>
            </a:fld>
            <a:endParaRPr lang="en-US" sz="1400" smtClean="0"/>
          </a:p>
        </p:txBody>
      </p:sp>
      <p:sp>
        <p:nvSpPr>
          <p:cNvPr id="62470"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8370016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3491"/>
                                        </p:tgtEl>
                                        <p:attrNameLst>
                                          <p:attrName>style.visibility</p:attrName>
                                        </p:attrNameLst>
                                      </p:cBhvr>
                                      <p:to>
                                        <p:strVal val="visible"/>
                                      </p:to>
                                    </p:set>
                                    <p:animEffect transition="in" filter="box(in)">
                                      <p:cBhvr>
                                        <p:cTn id="7" dur="500"/>
                                        <p:tgtEl>
                                          <p:spTgt spid="634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3492">
                                            <p:txEl>
                                              <p:pRg st="0" end="0"/>
                                            </p:txEl>
                                          </p:spTgt>
                                        </p:tgtEl>
                                        <p:attrNameLst>
                                          <p:attrName>style.visibility</p:attrName>
                                        </p:attrNameLst>
                                      </p:cBhvr>
                                      <p:to>
                                        <p:strVal val="visible"/>
                                      </p:to>
                                    </p:set>
                                    <p:animEffect transition="in" filter="box(in)">
                                      <p:cBhvr>
                                        <p:cTn id="12" dur="500"/>
                                        <p:tgtEl>
                                          <p:spTgt spid="6349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3492">
                                            <p:txEl>
                                              <p:pRg st="1" end="1"/>
                                            </p:txEl>
                                          </p:spTgt>
                                        </p:tgtEl>
                                        <p:attrNameLst>
                                          <p:attrName>style.visibility</p:attrName>
                                        </p:attrNameLst>
                                      </p:cBhvr>
                                      <p:to>
                                        <p:strVal val="visible"/>
                                      </p:to>
                                    </p:set>
                                    <p:animEffect transition="in" filter="box(in)">
                                      <p:cBhvr>
                                        <p:cTn id="17" dur="500"/>
                                        <p:tgtEl>
                                          <p:spTgt spid="63492">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3492">
                                            <p:txEl>
                                              <p:pRg st="2" end="2"/>
                                            </p:txEl>
                                          </p:spTgt>
                                        </p:tgtEl>
                                        <p:attrNameLst>
                                          <p:attrName>style.visibility</p:attrName>
                                        </p:attrNameLst>
                                      </p:cBhvr>
                                      <p:to>
                                        <p:strVal val="visible"/>
                                      </p:to>
                                    </p:set>
                                    <p:animEffect transition="in" filter="box(in)">
                                      <p:cBhvr>
                                        <p:cTn id="22" dur="500"/>
                                        <p:tgtEl>
                                          <p:spTgt spid="63492">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3492">
                                            <p:txEl>
                                              <p:pRg st="3" end="3"/>
                                            </p:txEl>
                                          </p:spTgt>
                                        </p:tgtEl>
                                        <p:attrNameLst>
                                          <p:attrName>style.visibility</p:attrName>
                                        </p:attrNameLst>
                                      </p:cBhvr>
                                      <p:to>
                                        <p:strVal val="visible"/>
                                      </p:to>
                                    </p:set>
                                    <p:animEffect transition="in" filter="box(in)">
                                      <p:cBhvr>
                                        <p:cTn id="27" dur="500"/>
                                        <p:tgtEl>
                                          <p:spTgt spid="63492">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63492">
                                            <p:txEl>
                                              <p:pRg st="4" end="4"/>
                                            </p:txEl>
                                          </p:spTgt>
                                        </p:tgtEl>
                                        <p:attrNameLst>
                                          <p:attrName>style.visibility</p:attrName>
                                        </p:attrNameLst>
                                      </p:cBhvr>
                                      <p:to>
                                        <p:strVal val="visible"/>
                                      </p:to>
                                    </p:set>
                                    <p:animEffect transition="in" filter="box(in)">
                                      <p:cBhvr>
                                        <p:cTn id="32" dur="500"/>
                                        <p:tgtEl>
                                          <p:spTgt spid="63492">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3492">
                                            <p:txEl>
                                              <p:pRg st="5" end="5"/>
                                            </p:txEl>
                                          </p:spTgt>
                                        </p:tgtEl>
                                        <p:attrNameLst>
                                          <p:attrName>style.visibility</p:attrName>
                                        </p:attrNameLst>
                                      </p:cBhvr>
                                      <p:to>
                                        <p:strVal val="visible"/>
                                      </p:to>
                                    </p:set>
                                    <p:animEffect transition="in" filter="box(in)">
                                      <p:cBhvr>
                                        <p:cTn id="37" dur="500"/>
                                        <p:tgtEl>
                                          <p:spTgt spid="63492">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63492">
                                            <p:txEl>
                                              <p:pRg st="6" end="6"/>
                                            </p:txEl>
                                          </p:spTgt>
                                        </p:tgtEl>
                                        <p:attrNameLst>
                                          <p:attrName>style.visibility</p:attrName>
                                        </p:attrNameLst>
                                      </p:cBhvr>
                                      <p:to>
                                        <p:strVal val="visible"/>
                                      </p:to>
                                    </p:set>
                                    <p:animEffect transition="in" filter="box(in)">
                                      <p:cBhvr>
                                        <p:cTn id="42" dur="500"/>
                                        <p:tgtEl>
                                          <p:spTgt spid="63492">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63492">
                                            <p:txEl>
                                              <p:pRg st="7" end="7"/>
                                            </p:txEl>
                                          </p:spTgt>
                                        </p:tgtEl>
                                        <p:attrNameLst>
                                          <p:attrName>style.visibility</p:attrName>
                                        </p:attrNameLst>
                                      </p:cBhvr>
                                      <p:to>
                                        <p:strVal val="visible"/>
                                      </p:to>
                                    </p:set>
                                    <p:animEffect transition="in" filter="box(in)">
                                      <p:cBhvr>
                                        <p:cTn id="47" dur="500"/>
                                        <p:tgtEl>
                                          <p:spTgt spid="63492">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63492">
                                            <p:txEl>
                                              <p:pRg st="8" end="8"/>
                                            </p:txEl>
                                          </p:spTgt>
                                        </p:tgtEl>
                                        <p:attrNameLst>
                                          <p:attrName>style.visibility</p:attrName>
                                        </p:attrNameLst>
                                      </p:cBhvr>
                                      <p:to>
                                        <p:strVal val="visible"/>
                                      </p:to>
                                    </p:set>
                                    <p:animEffect transition="in" filter="box(in)">
                                      <p:cBhvr>
                                        <p:cTn id="52" dur="500"/>
                                        <p:tgtEl>
                                          <p:spTgt spid="6349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p:bldP spid="63492"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000F0C53-3D69-4F59-A3E3-F72BE796398B}" type="slidenum">
              <a:rPr lang="ar-SA" sz="1400" smtClean="0">
                <a:latin typeface="Arial" charset="0"/>
                <a:cs typeface="Arial" charset="0"/>
              </a:rPr>
              <a:pPr eaLnBrk="1" hangingPunct="1"/>
              <a:t>59</a:t>
            </a:fld>
            <a:endParaRPr lang="en-US" sz="1400" smtClean="0">
              <a:latin typeface="Arial" charset="0"/>
              <a:cs typeface="Arial" charset="0"/>
            </a:endParaRPr>
          </a:p>
        </p:txBody>
      </p:sp>
      <p:sp>
        <p:nvSpPr>
          <p:cNvPr id="63491" name="AutoShape 2"/>
          <p:cNvSpPr>
            <a:spLocks noChangeAspect="1" noChangeArrowheads="1"/>
          </p:cNvSpPr>
          <p:nvPr>
            <p:ph type="body" idx="1"/>
          </p:nvPr>
        </p:nvSpPr>
        <p:spPr>
          <a:xfrm>
            <a:off x="914400" y="609600"/>
            <a:ext cx="8229600" cy="5434013"/>
          </a:xfrm>
        </p:spPr>
        <p:txBody>
          <a:bodyPr/>
          <a:lstStyle/>
          <a:p>
            <a:pPr eaLnBrk="1" hangingPunct="1">
              <a:buFontTx/>
              <a:buNone/>
            </a:pPr>
            <a:endParaRPr lang="en-US" smtClean="0"/>
          </a:p>
          <a:p>
            <a:pPr eaLnBrk="1" hangingPunct="1">
              <a:buFontTx/>
              <a:buNone/>
            </a:pPr>
            <a:endParaRPr lang="en-US" smtClean="0"/>
          </a:p>
          <a:p>
            <a:pPr eaLnBrk="1" hangingPunct="1">
              <a:buFontTx/>
              <a:buNone/>
            </a:pPr>
            <a:endParaRPr lang="en-US" smtClean="0"/>
          </a:p>
          <a:p>
            <a:pPr eaLnBrk="1" hangingPunct="1">
              <a:buFontTx/>
              <a:buNone/>
            </a:pPr>
            <a:endParaRPr lang="en-US" smtClean="0"/>
          </a:p>
          <a:p>
            <a:pPr eaLnBrk="1" hangingPunct="1">
              <a:buFontTx/>
              <a:buNone/>
            </a:pPr>
            <a:endParaRPr lang="en-US" smtClean="0"/>
          </a:p>
          <a:p>
            <a:pPr algn="justLow" eaLnBrk="1" hangingPunct="1">
              <a:buFontTx/>
              <a:buNone/>
            </a:pPr>
            <a:r>
              <a:rPr lang="en-US" sz="2800" smtClean="0">
                <a:solidFill>
                  <a:srgbClr val="000000"/>
                </a:solidFill>
                <a:cs typeface="Times New Roman" pitchFamily="18" charset="0"/>
              </a:rPr>
              <a:t>K</a:t>
            </a:r>
            <a:r>
              <a:rPr lang="en-US" sz="2800" baseline="-30000" smtClean="0">
                <a:solidFill>
                  <a:srgbClr val="000000"/>
                </a:solidFill>
                <a:cs typeface="Times New Roman" pitchFamily="18" charset="0"/>
              </a:rPr>
              <a:t>sp</a:t>
            </a:r>
            <a:r>
              <a:rPr lang="en-US" sz="2800" smtClean="0">
                <a:solidFill>
                  <a:srgbClr val="000000"/>
                </a:solidFill>
                <a:cs typeface="Times New Roman" pitchFamily="18" charset="0"/>
              </a:rPr>
              <a:t> = [Ag</a:t>
            </a:r>
            <a:r>
              <a:rPr lang="en-US" sz="2800" baseline="30000" smtClean="0">
                <a:solidFill>
                  <a:srgbClr val="000000"/>
                </a:solidFill>
                <a:cs typeface="Times New Roman" pitchFamily="18" charset="0"/>
              </a:rPr>
              <a:t>+</a:t>
            </a:r>
            <a:r>
              <a:rPr lang="en-US" sz="2800" smtClean="0">
                <a:solidFill>
                  <a:srgbClr val="000000"/>
                </a:solidFill>
                <a:cs typeface="Times New Roman" pitchFamily="18" charset="0"/>
              </a:rPr>
              <a:t>][Cl</a:t>
            </a:r>
            <a:r>
              <a:rPr lang="en-US" sz="2800" baseline="30000" smtClean="0">
                <a:solidFill>
                  <a:srgbClr val="000000"/>
                </a:solidFill>
                <a:cs typeface="Times New Roman" pitchFamily="18" charset="0"/>
              </a:rPr>
              <a:t>-</a:t>
            </a:r>
            <a:r>
              <a:rPr lang="en-US" sz="2800" smtClean="0">
                <a:solidFill>
                  <a:srgbClr val="000000"/>
                </a:solidFill>
                <a:cs typeface="Times New Roman" pitchFamily="18" charset="0"/>
              </a:rPr>
              <a:t>]</a:t>
            </a:r>
          </a:p>
          <a:p>
            <a:pPr algn="justLow" eaLnBrk="1" hangingPunct="1">
              <a:buFontTx/>
              <a:buNone/>
            </a:pPr>
            <a:r>
              <a:rPr lang="en-US" sz="2800" smtClean="0">
                <a:solidFill>
                  <a:srgbClr val="000000"/>
                </a:solidFill>
                <a:cs typeface="Times New Roman" pitchFamily="18" charset="0"/>
              </a:rPr>
              <a:t>1.0x10</a:t>
            </a:r>
            <a:r>
              <a:rPr lang="en-US" sz="2800" baseline="30000" smtClean="0">
                <a:solidFill>
                  <a:srgbClr val="000000"/>
                </a:solidFill>
                <a:cs typeface="Times New Roman" pitchFamily="18" charset="0"/>
              </a:rPr>
              <a:t>-10</a:t>
            </a:r>
            <a:r>
              <a:rPr lang="en-US" sz="2800" smtClean="0">
                <a:solidFill>
                  <a:srgbClr val="000000"/>
                </a:solidFill>
                <a:cs typeface="Times New Roman" pitchFamily="18" charset="0"/>
              </a:rPr>
              <a:t> = s x s = s</a:t>
            </a:r>
            <a:r>
              <a:rPr lang="en-US" sz="2800" baseline="30000" smtClean="0">
                <a:solidFill>
                  <a:srgbClr val="000000"/>
                </a:solidFill>
                <a:cs typeface="Times New Roman" pitchFamily="18" charset="0"/>
              </a:rPr>
              <a:t>2</a:t>
            </a:r>
            <a:endParaRPr lang="en-US" sz="2800" smtClean="0">
              <a:solidFill>
                <a:srgbClr val="000000"/>
              </a:solidFill>
              <a:cs typeface="Times New Roman" pitchFamily="18" charset="0"/>
            </a:endParaRPr>
          </a:p>
          <a:p>
            <a:pPr algn="justLow" eaLnBrk="1" hangingPunct="1">
              <a:buFontTx/>
              <a:buNone/>
            </a:pPr>
            <a:r>
              <a:rPr lang="en-US" sz="2800" smtClean="0">
                <a:solidFill>
                  <a:srgbClr val="000000"/>
                </a:solidFill>
                <a:cs typeface="Times New Roman" pitchFamily="18" charset="0"/>
              </a:rPr>
              <a:t>s = 1.0 x 10</a:t>
            </a:r>
            <a:r>
              <a:rPr lang="en-US" sz="2800" baseline="30000" smtClean="0">
                <a:solidFill>
                  <a:srgbClr val="000000"/>
                </a:solidFill>
                <a:cs typeface="Times New Roman" pitchFamily="18" charset="0"/>
              </a:rPr>
              <a:t>-5 </a:t>
            </a:r>
            <a:r>
              <a:rPr lang="en-US" sz="2800" smtClean="0">
                <a:solidFill>
                  <a:srgbClr val="000000"/>
                </a:solidFill>
                <a:cs typeface="Times New Roman" pitchFamily="18" charset="0"/>
              </a:rPr>
              <a:t>M</a:t>
            </a:r>
          </a:p>
          <a:p>
            <a:pPr algn="justLow" eaLnBrk="1" hangingPunct="1">
              <a:buFontTx/>
              <a:buNone/>
            </a:pPr>
            <a:r>
              <a:rPr lang="en-US" sz="2800" smtClean="0">
                <a:solidFill>
                  <a:srgbClr val="000000"/>
                </a:solidFill>
                <a:cs typeface="Times New Roman" pitchFamily="18" charset="0"/>
              </a:rPr>
              <a:t>[Ag</a:t>
            </a:r>
            <a:r>
              <a:rPr lang="en-US" sz="2800" baseline="30000" smtClean="0">
                <a:solidFill>
                  <a:srgbClr val="000000"/>
                </a:solidFill>
                <a:cs typeface="Times New Roman" pitchFamily="18" charset="0"/>
              </a:rPr>
              <a:t>+</a:t>
            </a:r>
            <a:r>
              <a:rPr lang="en-US" sz="2800" smtClean="0">
                <a:solidFill>
                  <a:srgbClr val="000000"/>
                </a:solidFill>
                <a:cs typeface="Times New Roman" pitchFamily="18" charset="0"/>
              </a:rPr>
              <a:t>] = [Cl</a:t>
            </a:r>
            <a:r>
              <a:rPr lang="en-US" sz="2800" baseline="30000" smtClean="0">
                <a:solidFill>
                  <a:srgbClr val="000000"/>
                </a:solidFill>
                <a:cs typeface="Times New Roman" pitchFamily="18" charset="0"/>
              </a:rPr>
              <a:t>-</a:t>
            </a:r>
            <a:r>
              <a:rPr lang="en-US" sz="2800" smtClean="0">
                <a:solidFill>
                  <a:srgbClr val="000000"/>
                </a:solidFill>
                <a:cs typeface="Times New Roman" pitchFamily="18" charset="0"/>
              </a:rPr>
              <a:t>] = 1.0 x 10</a:t>
            </a:r>
            <a:r>
              <a:rPr lang="en-US" sz="2800" baseline="30000" smtClean="0">
                <a:solidFill>
                  <a:srgbClr val="000000"/>
                </a:solidFill>
                <a:cs typeface="Times New Roman" pitchFamily="18" charset="0"/>
              </a:rPr>
              <a:t>-5 </a:t>
            </a:r>
            <a:r>
              <a:rPr lang="en-US" sz="2800" smtClean="0">
                <a:solidFill>
                  <a:srgbClr val="000000"/>
                </a:solidFill>
                <a:cs typeface="Times New Roman" pitchFamily="18" charset="0"/>
              </a:rPr>
              <a:t>M </a:t>
            </a:r>
          </a:p>
          <a:p>
            <a:pPr algn="justLow" eaLnBrk="1" hangingPunct="1">
              <a:buFontTx/>
              <a:buNone/>
            </a:pPr>
            <a:r>
              <a:rPr lang="en-US" sz="1200" smtClean="0">
                <a:solidFill>
                  <a:srgbClr val="000000"/>
                </a:solidFill>
                <a:cs typeface="Times New Roman" pitchFamily="18" charset="0"/>
              </a:rPr>
              <a:t> </a:t>
            </a:r>
          </a:p>
        </p:txBody>
      </p:sp>
      <p:pic>
        <p:nvPicPr>
          <p:cNvPr id="6451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981075"/>
            <a:ext cx="72771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3"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7366540E-D949-4D55-B0F8-0B4CF87DED4C}" type="datetime1">
              <a:rPr lang="en-US" sz="1400" smtClean="0"/>
              <a:pPr eaLnBrk="1" hangingPunct="1"/>
              <a:t>5/6/2021</a:t>
            </a:fld>
            <a:endParaRPr lang="en-US" sz="1400" smtClean="0"/>
          </a:p>
        </p:txBody>
      </p:sp>
      <p:sp>
        <p:nvSpPr>
          <p:cNvPr id="63494"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7994605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4516"/>
                                        </p:tgtEl>
                                        <p:attrNameLst>
                                          <p:attrName>style.visibility</p:attrName>
                                        </p:attrNameLst>
                                      </p:cBhvr>
                                      <p:to>
                                        <p:strVal val="visible"/>
                                      </p:to>
                                    </p:set>
                                    <p:animEffect transition="in" filter="box(in)">
                                      <p:cBhvr>
                                        <p:cTn id="7" dur="500"/>
                                        <p:tgtEl>
                                          <p:spTgt spid="64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FF2F6B8F-F144-4F61-BF2F-C1F0203644F3}" type="slidenum">
              <a:rPr lang="ar-SA" sz="1400" smtClean="0">
                <a:latin typeface="Arial" charset="0"/>
                <a:cs typeface="Arial" charset="0"/>
              </a:rPr>
              <a:pPr eaLnBrk="1" hangingPunct="1"/>
              <a:t>60</a:t>
            </a:fld>
            <a:endParaRPr lang="en-US" sz="1400" smtClean="0">
              <a:latin typeface="Arial" charset="0"/>
              <a:cs typeface="Arial" charset="0"/>
            </a:endParaRPr>
          </a:p>
        </p:txBody>
      </p:sp>
      <p:sp>
        <p:nvSpPr>
          <p:cNvPr id="65539" name="Rectangle 2"/>
          <p:cNvSpPr>
            <a:spLocks noGrp="1" noChangeArrowheads="1"/>
          </p:cNvSpPr>
          <p:nvPr>
            <p:ph type="body" idx="1"/>
          </p:nvPr>
        </p:nvSpPr>
        <p:spPr>
          <a:xfrm>
            <a:off x="457200" y="549275"/>
            <a:ext cx="8229600" cy="5576888"/>
          </a:xfrm>
        </p:spPr>
        <p:txBody>
          <a:bodyPr/>
          <a:lstStyle/>
          <a:p>
            <a:pPr eaLnBrk="1" hangingPunct="1">
              <a:buFontTx/>
              <a:buNone/>
            </a:pPr>
            <a:r>
              <a:rPr lang="en-US" sz="2000" b="1" smtClean="0"/>
              <a:t>Example</a:t>
            </a:r>
            <a:endParaRPr lang="en-US" sz="2000" smtClean="0"/>
          </a:p>
          <a:p>
            <a:pPr eaLnBrk="1" hangingPunct="1">
              <a:buFontTx/>
              <a:buNone/>
            </a:pPr>
            <a:r>
              <a:rPr lang="en-US" sz="2800" smtClean="0"/>
              <a:t> </a:t>
            </a:r>
            <a:r>
              <a:rPr lang="en-US" sz="2000" smtClean="0">
                <a:solidFill>
                  <a:srgbClr val="000000"/>
                </a:solidFill>
                <a:cs typeface="Times New Roman" pitchFamily="18" charset="0"/>
              </a:rPr>
              <a:t>Calculate the molar solubility of PbSO</a:t>
            </a:r>
            <a:r>
              <a:rPr lang="en-US" sz="2000" baseline="-30000" smtClean="0">
                <a:solidFill>
                  <a:srgbClr val="000000"/>
                </a:solidFill>
                <a:cs typeface="Times New Roman" pitchFamily="18" charset="0"/>
              </a:rPr>
              <a:t>4</a:t>
            </a:r>
            <a:r>
              <a:rPr lang="en-US" sz="2000" smtClean="0">
                <a:solidFill>
                  <a:srgbClr val="000000"/>
                </a:solidFill>
                <a:cs typeface="Times New Roman" pitchFamily="18" charset="0"/>
              </a:rPr>
              <a:t> in pure water if the solubility product is 1.6 x 10</a:t>
            </a:r>
            <a:r>
              <a:rPr lang="en-US" sz="2000" baseline="30000" smtClean="0">
                <a:solidFill>
                  <a:srgbClr val="000000"/>
                </a:solidFill>
                <a:cs typeface="Times New Roman" pitchFamily="18" charset="0"/>
              </a:rPr>
              <a:t>-8</a:t>
            </a:r>
            <a:endParaRPr lang="en-US" sz="2000" b="1" smtClean="0">
              <a:solidFill>
                <a:srgbClr val="000000"/>
              </a:solidFill>
              <a:cs typeface="Times New Roman" pitchFamily="18" charset="0"/>
            </a:endParaRPr>
          </a:p>
          <a:p>
            <a:pPr algn="justLow" eaLnBrk="1" hangingPunct="1">
              <a:buFontTx/>
              <a:buNone/>
            </a:pPr>
            <a:endParaRPr lang="en-US" sz="2000" b="1" smtClean="0">
              <a:solidFill>
                <a:srgbClr val="000000"/>
              </a:solidFill>
              <a:cs typeface="Times New Roman" pitchFamily="18" charset="0"/>
            </a:endParaRPr>
          </a:p>
          <a:p>
            <a:pPr algn="justLow" eaLnBrk="1" hangingPunct="1">
              <a:buFontTx/>
              <a:buNone/>
            </a:pPr>
            <a:r>
              <a:rPr lang="en-US" sz="2000" b="1" smtClean="0">
                <a:solidFill>
                  <a:srgbClr val="000000"/>
                </a:solidFill>
                <a:cs typeface="Times New Roman" pitchFamily="18" charset="0"/>
              </a:rPr>
              <a:t>Solution</a:t>
            </a:r>
          </a:p>
          <a:p>
            <a:pPr algn="justLow" eaLnBrk="1" hangingPunct="1">
              <a:buFontTx/>
              <a:buNone/>
            </a:pPr>
            <a:endParaRPr lang="en-US" sz="2000" b="1" smtClean="0">
              <a:solidFill>
                <a:srgbClr val="000000"/>
              </a:solidFill>
              <a:cs typeface="Times New Roman" pitchFamily="18" charset="0"/>
            </a:endParaRPr>
          </a:p>
          <a:p>
            <a:pPr algn="justLow" eaLnBrk="1" hangingPunct="1">
              <a:buFontTx/>
              <a:buNone/>
            </a:pPr>
            <a:endParaRPr lang="en-US" sz="2000" b="1" smtClean="0">
              <a:solidFill>
                <a:srgbClr val="000000"/>
              </a:solidFill>
              <a:cs typeface="Times New Roman" pitchFamily="18" charset="0"/>
            </a:endParaRPr>
          </a:p>
          <a:p>
            <a:pPr algn="justLow" eaLnBrk="1" hangingPunct="1">
              <a:buFontTx/>
              <a:buNone/>
            </a:pPr>
            <a:endParaRPr lang="en-US" sz="2000" b="1" smtClean="0">
              <a:solidFill>
                <a:srgbClr val="000000"/>
              </a:solidFill>
              <a:cs typeface="Times New Roman" pitchFamily="18" charset="0"/>
            </a:endParaRPr>
          </a:p>
          <a:p>
            <a:pPr algn="justLow" eaLnBrk="1" hangingPunct="1">
              <a:buFontTx/>
              <a:buNone/>
            </a:pPr>
            <a:endParaRPr lang="en-US" sz="2000" b="1" smtClean="0">
              <a:solidFill>
                <a:srgbClr val="000000"/>
              </a:solidFill>
              <a:cs typeface="Times New Roman" pitchFamily="18" charset="0"/>
            </a:endParaRPr>
          </a:p>
          <a:p>
            <a:pPr algn="justLow" eaLnBrk="1" hangingPunct="1">
              <a:buFontTx/>
              <a:buNone/>
            </a:pPr>
            <a:endParaRPr lang="en-US" sz="2000" b="1" smtClean="0">
              <a:solidFill>
                <a:srgbClr val="000000"/>
              </a:solidFill>
              <a:cs typeface="Times New Roman" pitchFamily="18" charset="0"/>
            </a:endParaRPr>
          </a:p>
          <a:p>
            <a:pPr algn="justLow" eaLnBrk="1" hangingPunct="1">
              <a:buFontTx/>
              <a:buNone/>
            </a:pPr>
            <a:endParaRPr lang="en-US" sz="2000" b="1" smtClean="0">
              <a:solidFill>
                <a:srgbClr val="000000"/>
              </a:solidFill>
              <a:cs typeface="Times New Roman" pitchFamily="18" charset="0"/>
            </a:endParaRPr>
          </a:p>
          <a:p>
            <a:pPr algn="justLow" eaLnBrk="1" hangingPunct="1">
              <a:buFontTx/>
              <a:buNone/>
            </a:pPr>
            <a:r>
              <a:rPr lang="en-US" sz="2000" b="1" smtClean="0">
                <a:solidFill>
                  <a:srgbClr val="000000"/>
                </a:solidFill>
                <a:cs typeface="Times New Roman" pitchFamily="18" charset="0"/>
              </a:rPr>
              <a:t>K</a:t>
            </a:r>
            <a:r>
              <a:rPr lang="en-US" sz="2000" b="1" baseline="-30000" smtClean="0">
                <a:solidFill>
                  <a:srgbClr val="000000"/>
                </a:solidFill>
                <a:cs typeface="Times New Roman" pitchFamily="18" charset="0"/>
              </a:rPr>
              <a:t>sp</a:t>
            </a:r>
            <a:r>
              <a:rPr lang="en-US" sz="2000" b="1" smtClean="0">
                <a:solidFill>
                  <a:srgbClr val="000000"/>
                </a:solidFill>
                <a:cs typeface="Times New Roman" pitchFamily="18" charset="0"/>
              </a:rPr>
              <a:t> = [Pb</a:t>
            </a:r>
            <a:r>
              <a:rPr lang="en-US" sz="2000" b="1" baseline="30000" smtClean="0">
                <a:solidFill>
                  <a:srgbClr val="000000"/>
                </a:solidFill>
                <a:cs typeface="Times New Roman" pitchFamily="18" charset="0"/>
              </a:rPr>
              <a:t>2+</a:t>
            </a:r>
            <a:r>
              <a:rPr lang="en-US" sz="2000" b="1" smtClean="0">
                <a:solidFill>
                  <a:srgbClr val="000000"/>
                </a:solidFill>
                <a:cs typeface="Times New Roman" pitchFamily="18" charset="0"/>
              </a:rPr>
              <a:t>][SO</a:t>
            </a:r>
            <a:r>
              <a:rPr lang="en-US" sz="2000" b="1" baseline="-30000" smtClean="0">
                <a:solidFill>
                  <a:srgbClr val="000000"/>
                </a:solidFill>
                <a:cs typeface="Times New Roman" pitchFamily="18" charset="0"/>
              </a:rPr>
              <a:t>4</a:t>
            </a:r>
            <a:r>
              <a:rPr lang="en-US" sz="2000" b="1" baseline="30000" smtClean="0">
                <a:solidFill>
                  <a:srgbClr val="000000"/>
                </a:solidFill>
                <a:cs typeface="Times New Roman" pitchFamily="18" charset="0"/>
              </a:rPr>
              <a:t>2-</a:t>
            </a:r>
            <a:r>
              <a:rPr lang="en-US" sz="2000" b="1" smtClean="0">
                <a:solidFill>
                  <a:srgbClr val="000000"/>
                </a:solidFill>
                <a:cs typeface="Times New Roman" pitchFamily="18" charset="0"/>
              </a:rPr>
              <a:t>]</a:t>
            </a:r>
          </a:p>
          <a:p>
            <a:pPr algn="justLow" eaLnBrk="1" hangingPunct="1">
              <a:buFontTx/>
              <a:buNone/>
            </a:pPr>
            <a:r>
              <a:rPr lang="en-US" sz="2000" b="1" smtClean="0">
                <a:solidFill>
                  <a:srgbClr val="000000"/>
                </a:solidFill>
                <a:cs typeface="Times New Roman" pitchFamily="18" charset="0"/>
              </a:rPr>
              <a:t>1.6 x 10</a:t>
            </a:r>
            <a:r>
              <a:rPr lang="en-US" sz="2000" b="1" baseline="30000" smtClean="0">
                <a:solidFill>
                  <a:srgbClr val="000000"/>
                </a:solidFill>
                <a:cs typeface="Times New Roman" pitchFamily="18" charset="0"/>
              </a:rPr>
              <a:t>-8 </a:t>
            </a:r>
            <a:r>
              <a:rPr lang="en-US" sz="2000" b="1" smtClean="0">
                <a:solidFill>
                  <a:srgbClr val="000000"/>
                </a:solidFill>
                <a:cs typeface="Times New Roman" pitchFamily="18" charset="0"/>
              </a:rPr>
              <a:t>= s x s = s</a:t>
            </a:r>
            <a:r>
              <a:rPr lang="en-US" sz="2000" b="1" baseline="30000" smtClean="0">
                <a:solidFill>
                  <a:srgbClr val="000000"/>
                </a:solidFill>
                <a:cs typeface="Times New Roman" pitchFamily="18" charset="0"/>
              </a:rPr>
              <a:t>2</a:t>
            </a:r>
            <a:endParaRPr lang="en-US" sz="2000" b="1" smtClean="0">
              <a:solidFill>
                <a:srgbClr val="000000"/>
              </a:solidFill>
              <a:cs typeface="Times New Roman" pitchFamily="18" charset="0"/>
            </a:endParaRPr>
          </a:p>
          <a:p>
            <a:pPr algn="justLow" eaLnBrk="1" hangingPunct="1">
              <a:buFontTx/>
              <a:buNone/>
            </a:pPr>
            <a:r>
              <a:rPr lang="en-US" sz="2000" b="1" smtClean="0">
                <a:solidFill>
                  <a:srgbClr val="000000"/>
                </a:solidFill>
                <a:cs typeface="Times New Roman" pitchFamily="18" charset="0"/>
              </a:rPr>
              <a:t>s = 1.3x10</a:t>
            </a:r>
            <a:r>
              <a:rPr lang="en-US" sz="2000" b="1" baseline="30000" smtClean="0">
                <a:solidFill>
                  <a:srgbClr val="000000"/>
                </a:solidFill>
                <a:cs typeface="Times New Roman" pitchFamily="18" charset="0"/>
              </a:rPr>
              <a:t>-4</a:t>
            </a:r>
            <a:r>
              <a:rPr lang="en-US" sz="2000" b="1" smtClean="0">
                <a:solidFill>
                  <a:srgbClr val="000000"/>
                </a:solidFill>
                <a:cs typeface="Times New Roman" pitchFamily="18" charset="0"/>
              </a:rPr>
              <a:t> M</a:t>
            </a:r>
          </a:p>
        </p:txBody>
      </p:sp>
      <p:pic>
        <p:nvPicPr>
          <p:cNvPr id="6451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2565400"/>
            <a:ext cx="7105650" cy="201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FAE5376-7BCE-4239-9F6D-FC09F4D2F62C}" type="datetime1">
              <a:rPr lang="en-US" sz="1400" smtClean="0"/>
              <a:pPr eaLnBrk="1" hangingPunct="1"/>
              <a:t>5/6/2021</a:t>
            </a:fld>
            <a:endParaRPr lang="en-US" sz="1400" smtClean="0"/>
          </a:p>
        </p:txBody>
      </p:sp>
      <p:sp>
        <p:nvSpPr>
          <p:cNvPr id="64518"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0717803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Effect transition="in" filter="box(in)">
                                      <p:cBhvr>
                                        <p:cTn id="7" dur="500"/>
                                        <p:tgtEl>
                                          <p:spTgt spid="655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5539">
                                            <p:txEl>
                                              <p:pRg st="1" end="1"/>
                                            </p:txEl>
                                          </p:spTgt>
                                        </p:tgtEl>
                                        <p:attrNameLst>
                                          <p:attrName>style.visibility</p:attrName>
                                        </p:attrNameLst>
                                      </p:cBhvr>
                                      <p:to>
                                        <p:strVal val="visible"/>
                                      </p:to>
                                    </p:set>
                                    <p:animEffect transition="in" filter="box(in)">
                                      <p:cBhvr>
                                        <p:cTn id="12" dur="500"/>
                                        <p:tgtEl>
                                          <p:spTgt spid="655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5539">
                                            <p:txEl>
                                              <p:pRg st="3" end="3"/>
                                            </p:txEl>
                                          </p:spTgt>
                                        </p:tgtEl>
                                        <p:attrNameLst>
                                          <p:attrName>style.visibility</p:attrName>
                                        </p:attrNameLst>
                                      </p:cBhvr>
                                      <p:to>
                                        <p:strVal val="visible"/>
                                      </p:to>
                                    </p:set>
                                    <p:animEffect transition="in" filter="box(in)">
                                      <p:cBhvr>
                                        <p:cTn id="17" dur="500"/>
                                        <p:tgtEl>
                                          <p:spTgt spid="6553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5539">
                                            <p:txEl>
                                              <p:pRg st="10" end="10"/>
                                            </p:txEl>
                                          </p:spTgt>
                                        </p:tgtEl>
                                        <p:attrNameLst>
                                          <p:attrName>style.visibility</p:attrName>
                                        </p:attrNameLst>
                                      </p:cBhvr>
                                      <p:to>
                                        <p:strVal val="visible"/>
                                      </p:to>
                                    </p:set>
                                    <p:animEffect transition="in" filter="box(in)">
                                      <p:cBhvr>
                                        <p:cTn id="22" dur="500"/>
                                        <p:tgtEl>
                                          <p:spTgt spid="65539">
                                            <p:txEl>
                                              <p:pRg st="10" end="1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5539">
                                            <p:txEl>
                                              <p:pRg st="11" end="11"/>
                                            </p:txEl>
                                          </p:spTgt>
                                        </p:tgtEl>
                                        <p:attrNameLst>
                                          <p:attrName>style.visibility</p:attrName>
                                        </p:attrNameLst>
                                      </p:cBhvr>
                                      <p:to>
                                        <p:strVal val="visible"/>
                                      </p:to>
                                    </p:set>
                                    <p:animEffect transition="in" filter="box(in)">
                                      <p:cBhvr>
                                        <p:cTn id="27" dur="500"/>
                                        <p:tgtEl>
                                          <p:spTgt spid="65539">
                                            <p:txEl>
                                              <p:pRg st="11" end="1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65539">
                                            <p:txEl>
                                              <p:pRg st="12" end="12"/>
                                            </p:txEl>
                                          </p:spTgt>
                                        </p:tgtEl>
                                        <p:attrNameLst>
                                          <p:attrName>style.visibility</p:attrName>
                                        </p:attrNameLst>
                                      </p:cBhvr>
                                      <p:to>
                                        <p:strVal val="visible"/>
                                      </p:to>
                                    </p:set>
                                    <p:animEffect transition="in" filter="box(in)">
                                      <p:cBhvr>
                                        <p:cTn id="32" dur="500"/>
                                        <p:tgtEl>
                                          <p:spTgt spid="65539">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2B45F0D6-B9E1-4604-A865-0879A6FFE68A}" type="slidenum">
              <a:rPr lang="ar-SA" sz="1400" smtClean="0">
                <a:latin typeface="Arial" charset="0"/>
                <a:cs typeface="Arial" charset="0"/>
              </a:rPr>
              <a:pPr eaLnBrk="1" hangingPunct="1"/>
              <a:t>61</a:t>
            </a:fld>
            <a:endParaRPr lang="en-US" sz="1400" smtClean="0">
              <a:latin typeface="Arial" charset="0"/>
              <a:cs typeface="Arial" charset="0"/>
            </a:endParaRPr>
          </a:p>
        </p:txBody>
      </p:sp>
      <p:sp>
        <p:nvSpPr>
          <p:cNvPr id="66563" name="Rectangle 2"/>
          <p:cNvSpPr>
            <a:spLocks noGrp="1" noChangeArrowheads="1"/>
          </p:cNvSpPr>
          <p:nvPr>
            <p:ph type="body" idx="1"/>
          </p:nvPr>
        </p:nvSpPr>
        <p:spPr>
          <a:xfrm>
            <a:off x="457200" y="692150"/>
            <a:ext cx="8229600" cy="5434013"/>
          </a:xfrm>
        </p:spPr>
        <p:txBody>
          <a:bodyPr/>
          <a:lstStyle/>
          <a:p>
            <a:pPr algn="justLow" eaLnBrk="1" hangingPunct="1">
              <a:lnSpc>
                <a:spcPct val="90000"/>
              </a:lnSpc>
              <a:buFontTx/>
              <a:buNone/>
            </a:pPr>
            <a:r>
              <a:rPr lang="en-US" sz="2000" smtClean="0">
                <a:solidFill>
                  <a:srgbClr val="000000"/>
                </a:solidFill>
                <a:cs typeface="Times New Roman" pitchFamily="18" charset="0"/>
              </a:rPr>
              <a:t>Calculate the molar solubility of PbI</a:t>
            </a:r>
            <a:r>
              <a:rPr lang="en-US" sz="2000" baseline="-30000" smtClean="0">
                <a:solidFill>
                  <a:srgbClr val="000000"/>
                </a:solidFill>
                <a:cs typeface="Times New Roman" pitchFamily="18" charset="0"/>
              </a:rPr>
              <a:t>2</a:t>
            </a:r>
            <a:r>
              <a:rPr lang="en-US" sz="2000" smtClean="0">
                <a:solidFill>
                  <a:srgbClr val="000000"/>
                </a:solidFill>
                <a:cs typeface="Times New Roman" pitchFamily="18" charset="0"/>
              </a:rPr>
              <a:t> in pure water if the solubility product is 7.1 x 10</a:t>
            </a:r>
            <a:r>
              <a:rPr lang="en-US" sz="2000" baseline="30000" smtClean="0">
                <a:solidFill>
                  <a:srgbClr val="000000"/>
                </a:solidFill>
                <a:cs typeface="Times New Roman" pitchFamily="18" charset="0"/>
              </a:rPr>
              <a:t>-9</a:t>
            </a:r>
            <a:r>
              <a:rPr lang="en-US" sz="2000" smtClean="0">
                <a:solidFill>
                  <a:srgbClr val="000000"/>
                </a:solidFill>
                <a:cs typeface="Times New Roman" pitchFamily="18" charset="0"/>
              </a:rPr>
              <a:t>.</a:t>
            </a:r>
          </a:p>
          <a:p>
            <a:pPr algn="justLow" eaLnBrk="1" hangingPunct="1">
              <a:lnSpc>
                <a:spcPct val="90000"/>
              </a:lnSpc>
              <a:buFontTx/>
              <a:buNone/>
            </a:pPr>
            <a:r>
              <a:rPr lang="en-US" sz="800" smtClean="0">
                <a:solidFill>
                  <a:srgbClr val="000000"/>
                </a:solidFill>
                <a:cs typeface="Times New Roman" pitchFamily="18" charset="0"/>
              </a:rPr>
              <a:t> </a:t>
            </a:r>
            <a:endParaRPr lang="en-US" sz="800" b="1" smtClean="0">
              <a:solidFill>
                <a:srgbClr val="000000"/>
              </a:solidFill>
              <a:cs typeface="Times New Roman" pitchFamily="18" charset="0"/>
            </a:endParaRPr>
          </a:p>
          <a:p>
            <a:pPr algn="justLow" eaLnBrk="1" hangingPunct="1">
              <a:lnSpc>
                <a:spcPct val="90000"/>
              </a:lnSpc>
              <a:buFontTx/>
              <a:buNone/>
            </a:pPr>
            <a:r>
              <a:rPr lang="en-US" sz="2000" b="1" smtClean="0">
                <a:solidFill>
                  <a:srgbClr val="000000"/>
                </a:solidFill>
                <a:cs typeface="Times New Roman" pitchFamily="18" charset="0"/>
              </a:rPr>
              <a:t>Solution</a:t>
            </a:r>
            <a:endParaRPr lang="en-US" sz="2000" smtClean="0">
              <a:solidFill>
                <a:srgbClr val="000000"/>
              </a:solidFill>
              <a:cs typeface="Times New Roman" pitchFamily="18" charset="0"/>
            </a:endParaRPr>
          </a:p>
          <a:p>
            <a:pPr algn="justLow" eaLnBrk="1" hangingPunct="1">
              <a:lnSpc>
                <a:spcPct val="90000"/>
              </a:lnSpc>
              <a:buFontTx/>
              <a:buNone/>
            </a:pPr>
            <a:endParaRPr lang="en-US" sz="900" smtClean="0">
              <a:solidFill>
                <a:srgbClr val="000000"/>
              </a:solidFill>
              <a:cs typeface="Times New Roman" pitchFamily="18" charset="0"/>
            </a:endParaRPr>
          </a:p>
          <a:p>
            <a:pPr algn="justLow" eaLnBrk="1" hangingPunct="1">
              <a:lnSpc>
                <a:spcPct val="90000"/>
              </a:lnSpc>
              <a:buFontTx/>
              <a:buNone/>
            </a:pPr>
            <a:endParaRPr lang="ar-SA" sz="2000" smtClean="0">
              <a:solidFill>
                <a:srgbClr val="000000"/>
              </a:solidFill>
              <a:cs typeface="Times New Roman" pitchFamily="18" charset="0"/>
            </a:endParaRPr>
          </a:p>
          <a:p>
            <a:pPr algn="justLow" eaLnBrk="1" hangingPunct="1">
              <a:lnSpc>
                <a:spcPct val="90000"/>
              </a:lnSpc>
              <a:buFontTx/>
              <a:buNone/>
            </a:pPr>
            <a:endParaRPr lang="ar-SA" sz="2000" smtClean="0">
              <a:solidFill>
                <a:srgbClr val="000000"/>
              </a:solidFill>
              <a:cs typeface="Times New Roman" pitchFamily="18" charset="0"/>
            </a:endParaRPr>
          </a:p>
          <a:p>
            <a:pPr algn="justLow" eaLnBrk="1" hangingPunct="1">
              <a:lnSpc>
                <a:spcPct val="90000"/>
              </a:lnSpc>
              <a:buFontTx/>
              <a:buNone/>
            </a:pPr>
            <a:endParaRPr lang="ar-SA" sz="2000" smtClean="0">
              <a:solidFill>
                <a:srgbClr val="000000"/>
              </a:solidFill>
              <a:cs typeface="Times New Roman" pitchFamily="18" charset="0"/>
            </a:endParaRPr>
          </a:p>
          <a:p>
            <a:pPr algn="justLow" eaLnBrk="1" hangingPunct="1">
              <a:lnSpc>
                <a:spcPct val="90000"/>
              </a:lnSpc>
              <a:buFontTx/>
              <a:buNone/>
            </a:pPr>
            <a:endParaRPr lang="ar-SA" sz="2000" smtClean="0">
              <a:solidFill>
                <a:srgbClr val="000000"/>
              </a:solidFill>
              <a:cs typeface="Times New Roman" pitchFamily="18" charset="0"/>
            </a:endParaRPr>
          </a:p>
          <a:p>
            <a:pPr algn="justLow" eaLnBrk="1" hangingPunct="1">
              <a:lnSpc>
                <a:spcPct val="90000"/>
              </a:lnSpc>
              <a:buFontTx/>
              <a:buNone/>
            </a:pPr>
            <a:endParaRPr lang="ar-SA" sz="2000" smtClean="0">
              <a:solidFill>
                <a:srgbClr val="000000"/>
              </a:solidFill>
              <a:cs typeface="Times New Roman" pitchFamily="18" charset="0"/>
            </a:endParaRPr>
          </a:p>
          <a:p>
            <a:pPr algn="justLow" eaLnBrk="1" hangingPunct="1">
              <a:lnSpc>
                <a:spcPct val="90000"/>
              </a:lnSpc>
              <a:buFontTx/>
              <a:buNone/>
            </a:pPr>
            <a:endParaRPr lang="ar-SA" sz="2000" smtClean="0">
              <a:solidFill>
                <a:srgbClr val="000000"/>
              </a:solidFill>
              <a:cs typeface="Times New Roman" pitchFamily="18" charset="0"/>
            </a:endParaRPr>
          </a:p>
          <a:p>
            <a:pPr algn="justLow" eaLnBrk="1" hangingPunct="1">
              <a:lnSpc>
                <a:spcPct val="90000"/>
              </a:lnSpc>
              <a:buFontTx/>
              <a:buNone/>
            </a:pPr>
            <a:r>
              <a:rPr lang="en-US" sz="2000" smtClean="0">
                <a:solidFill>
                  <a:srgbClr val="000000"/>
                </a:solidFill>
                <a:cs typeface="Times New Roman" pitchFamily="18" charset="0"/>
              </a:rPr>
              <a:t> </a:t>
            </a:r>
          </a:p>
          <a:p>
            <a:pPr algn="justLow" eaLnBrk="1" hangingPunct="1">
              <a:lnSpc>
                <a:spcPct val="90000"/>
              </a:lnSpc>
              <a:buFontTx/>
              <a:buNone/>
            </a:pPr>
            <a:r>
              <a:rPr lang="en-US" sz="2400" smtClean="0">
                <a:solidFill>
                  <a:srgbClr val="000000"/>
                </a:solidFill>
                <a:cs typeface="Times New Roman" pitchFamily="18" charset="0"/>
              </a:rPr>
              <a:t>K</a:t>
            </a:r>
            <a:r>
              <a:rPr lang="en-US" sz="2400" baseline="-30000" smtClean="0">
                <a:solidFill>
                  <a:srgbClr val="000000"/>
                </a:solidFill>
                <a:cs typeface="Times New Roman" pitchFamily="18" charset="0"/>
              </a:rPr>
              <a:t>sp</a:t>
            </a:r>
            <a:r>
              <a:rPr lang="en-US" sz="2400" smtClean="0">
                <a:solidFill>
                  <a:srgbClr val="000000"/>
                </a:solidFill>
                <a:cs typeface="Times New Roman" pitchFamily="18" charset="0"/>
              </a:rPr>
              <a:t> = [Pb</a:t>
            </a:r>
            <a:r>
              <a:rPr lang="en-US" sz="2400" baseline="30000" smtClean="0">
                <a:solidFill>
                  <a:srgbClr val="000000"/>
                </a:solidFill>
                <a:cs typeface="Times New Roman" pitchFamily="18" charset="0"/>
              </a:rPr>
              <a:t>2+</a:t>
            </a:r>
            <a:r>
              <a:rPr lang="en-US" sz="2400" smtClean="0">
                <a:solidFill>
                  <a:srgbClr val="000000"/>
                </a:solidFill>
                <a:cs typeface="Times New Roman" pitchFamily="18" charset="0"/>
              </a:rPr>
              <a:t>][I</a:t>
            </a:r>
            <a:r>
              <a:rPr lang="en-US" sz="2400" baseline="30000" smtClean="0">
                <a:solidFill>
                  <a:srgbClr val="000000"/>
                </a:solidFill>
                <a:cs typeface="Times New Roman" pitchFamily="18" charset="0"/>
              </a:rPr>
              <a:t>-</a:t>
            </a:r>
            <a:r>
              <a:rPr lang="en-US" sz="2400" smtClean="0">
                <a:solidFill>
                  <a:srgbClr val="000000"/>
                </a:solidFill>
                <a:cs typeface="Times New Roman" pitchFamily="18" charset="0"/>
              </a:rPr>
              <a:t>]</a:t>
            </a:r>
            <a:r>
              <a:rPr lang="en-US" sz="2400" baseline="30000" smtClean="0">
                <a:solidFill>
                  <a:srgbClr val="000000"/>
                </a:solidFill>
                <a:cs typeface="Times New Roman" pitchFamily="18" charset="0"/>
              </a:rPr>
              <a:t>2</a:t>
            </a:r>
            <a:endParaRPr lang="en-US" sz="2400" smtClean="0">
              <a:solidFill>
                <a:srgbClr val="000000"/>
              </a:solidFill>
              <a:cs typeface="Times New Roman" pitchFamily="18" charset="0"/>
            </a:endParaRPr>
          </a:p>
          <a:p>
            <a:pPr algn="justLow" eaLnBrk="1" hangingPunct="1">
              <a:lnSpc>
                <a:spcPct val="90000"/>
              </a:lnSpc>
              <a:buFontTx/>
              <a:buNone/>
            </a:pPr>
            <a:r>
              <a:rPr lang="en-US" sz="2400" smtClean="0">
                <a:solidFill>
                  <a:srgbClr val="000000"/>
                </a:solidFill>
                <a:cs typeface="Times New Roman" pitchFamily="18" charset="0"/>
              </a:rPr>
              <a:t>7.1x10</a:t>
            </a:r>
            <a:r>
              <a:rPr lang="en-US" sz="2400" baseline="30000" smtClean="0">
                <a:solidFill>
                  <a:srgbClr val="000000"/>
                </a:solidFill>
                <a:cs typeface="Times New Roman" pitchFamily="18" charset="0"/>
              </a:rPr>
              <a:t>-9</a:t>
            </a:r>
            <a:r>
              <a:rPr lang="en-US" sz="2400" smtClean="0">
                <a:solidFill>
                  <a:srgbClr val="000000"/>
                </a:solidFill>
                <a:cs typeface="Times New Roman" pitchFamily="18" charset="0"/>
              </a:rPr>
              <a:t> = s x (2s)</a:t>
            </a:r>
            <a:r>
              <a:rPr lang="en-US" sz="2400" baseline="30000" smtClean="0">
                <a:solidFill>
                  <a:srgbClr val="000000"/>
                </a:solidFill>
                <a:cs typeface="Times New Roman" pitchFamily="18" charset="0"/>
              </a:rPr>
              <a:t>2</a:t>
            </a:r>
            <a:endParaRPr lang="en-US" sz="2400" smtClean="0">
              <a:solidFill>
                <a:srgbClr val="000000"/>
              </a:solidFill>
              <a:cs typeface="Times New Roman" pitchFamily="18" charset="0"/>
            </a:endParaRPr>
          </a:p>
          <a:p>
            <a:pPr algn="justLow" eaLnBrk="1" hangingPunct="1">
              <a:lnSpc>
                <a:spcPct val="90000"/>
              </a:lnSpc>
              <a:buFontTx/>
              <a:buNone/>
            </a:pPr>
            <a:r>
              <a:rPr lang="en-US" sz="2400" smtClean="0">
                <a:solidFill>
                  <a:srgbClr val="000000"/>
                </a:solidFill>
                <a:cs typeface="Times New Roman" pitchFamily="18" charset="0"/>
              </a:rPr>
              <a:t>7.1x10</a:t>
            </a:r>
            <a:r>
              <a:rPr lang="en-US" sz="2400" baseline="30000" smtClean="0">
                <a:solidFill>
                  <a:srgbClr val="000000"/>
                </a:solidFill>
                <a:cs typeface="Times New Roman" pitchFamily="18" charset="0"/>
              </a:rPr>
              <a:t>-9</a:t>
            </a:r>
            <a:r>
              <a:rPr lang="en-US" sz="2400" smtClean="0">
                <a:solidFill>
                  <a:srgbClr val="000000"/>
                </a:solidFill>
                <a:cs typeface="Times New Roman" pitchFamily="18" charset="0"/>
              </a:rPr>
              <a:t> = 4s</a:t>
            </a:r>
            <a:r>
              <a:rPr lang="en-US" sz="2400" baseline="30000" smtClean="0">
                <a:solidFill>
                  <a:srgbClr val="000000"/>
                </a:solidFill>
                <a:cs typeface="Times New Roman" pitchFamily="18" charset="0"/>
              </a:rPr>
              <a:t>3</a:t>
            </a:r>
            <a:r>
              <a:rPr lang="en-US" sz="2400" smtClean="0">
                <a:solidFill>
                  <a:srgbClr val="000000"/>
                </a:solidFill>
                <a:cs typeface="Times New Roman" pitchFamily="18" charset="0"/>
              </a:rPr>
              <a:t> </a:t>
            </a:r>
          </a:p>
          <a:p>
            <a:pPr algn="justLow" eaLnBrk="1" hangingPunct="1">
              <a:lnSpc>
                <a:spcPct val="90000"/>
              </a:lnSpc>
              <a:buFontTx/>
              <a:buNone/>
            </a:pPr>
            <a:r>
              <a:rPr lang="en-US" sz="2400" smtClean="0">
                <a:solidFill>
                  <a:srgbClr val="000000"/>
                </a:solidFill>
                <a:cs typeface="Times New Roman" pitchFamily="18" charset="0"/>
              </a:rPr>
              <a:t>s = 1.2x10</a:t>
            </a:r>
            <a:r>
              <a:rPr lang="en-US" sz="2400" baseline="30000" smtClean="0">
                <a:solidFill>
                  <a:srgbClr val="000000"/>
                </a:solidFill>
                <a:cs typeface="Times New Roman" pitchFamily="18" charset="0"/>
              </a:rPr>
              <a:t>-3</a:t>
            </a:r>
            <a:r>
              <a:rPr lang="en-US" sz="2400" smtClean="0">
                <a:solidFill>
                  <a:srgbClr val="000000"/>
                </a:solidFill>
                <a:cs typeface="Times New Roman" pitchFamily="18" charset="0"/>
              </a:rPr>
              <a:t> M</a:t>
            </a:r>
            <a:r>
              <a:rPr lang="en-US" sz="2400" b="1" smtClean="0">
                <a:solidFill>
                  <a:srgbClr val="000000"/>
                </a:solidFill>
                <a:cs typeface="Times New Roman" pitchFamily="18" charset="0"/>
              </a:rPr>
              <a:t> </a:t>
            </a:r>
          </a:p>
        </p:txBody>
      </p:sp>
      <p:pic>
        <p:nvPicPr>
          <p:cNvPr id="6554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060575"/>
            <a:ext cx="7086600" cy="202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1"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12D13804-EC1E-4DCC-9A01-58F0A3B8C87D}" type="datetime1">
              <a:rPr lang="en-US" sz="1400" smtClean="0"/>
              <a:pPr eaLnBrk="1" hangingPunct="1"/>
              <a:t>5/6/2021</a:t>
            </a:fld>
            <a:endParaRPr lang="en-US" sz="1400" smtClean="0"/>
          </a:p>
        </p:txBody>
      </p:sp>
      <p:sp>
        <p:nvSpPr>
          <p:cNvPr id="65542"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9623558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Effect transition="in" filter="box(in)">
                                      <p:cBhvr>
                                        <p:cTn id="7" dur="500"/>
                                        <p:tgtEl>
                                          <p:spTgt spid="665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6563">
                                            <p:txEl>
                                              <p:pRg st="1" end="1"/>
                                            </p:txEl>
                                          </p:spTgt>
                                        </p:tgtEl>
                                        <p:attrNameLst>
                                          <p:attrName>style.visibility</p:attrName>
                                        </p:attrNameLst>
                                      </p:cBhvr>
                                      <p:to>
                                        <p:strVal val="visible"/>
                                      </p:to>
                                    </p:set>
                                    <p:animEffect transition="in" filter="box(in)">
                                      <p:cBhvr>
                                        <p:cTn id="12" dur="500"/>
                                        <p:tgtEl>
                                          <p:spTgt spid="665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6563">
                                            <p:txEl>
                                              <p:pRg st="2" end="2"/>
                                            </p:txEl>
                                          </p:spTgt>
                                        </p:tgtEl>
                                        <p:attrNameLst>
                                          <p:attrName>style.visibility</p:attrName>
                                        </p:attrNameLst>
                                      </p:cBhvr>
                                      <p:to>
                                        <p:strVal val="visible"/>
                                      </p:to>
                                    </p:set>
                                    <p:animEffect transition="in" filter="box(in)">
                                      <p:cBhvr>
                                        <p:cTn id="17" dur="500"/>
                                        <p:tgtEl>
                                          <p:spTgt spid="665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6563">
                                            <p:txEl>
                                              <p:pRg st="10" end="10"/>
                                            </p:txEl>
                                          </p:spTgt>
                                        </p:tgtEl>
                                        <p:attrNameLst>
                                          <p:attrName>style.visibility</p:attrName>
                                        </p:attrNameLst>
                                      </p:cBhvr>
                                      <p:to>
                                        <p:strVal val="visible"/>
                                      </p:to>
                                    </p:set>
                                    <p:animEffect transition="in" filter="box(in)">
                                      <p:cBhvr>
                                        <p:cTn id="22" dur="500"/>
                                        <p:tgtEl>
                                          <p:spTgt spid="66563">
                                            <p:txEl>
                                              <p:pRg st="10" end="1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6563">
                                            <p:txEl>
                                              <p:pRg st="11" end="11"/>
                                            </p:txEl>
                                          </p:spTgt>
                                        </p:tgtEl>
                                        <p:attrNameLst>
                                          <p:attrName>style.visibility</p:attrName>
                                        </p:attrNameLst>
                                      </p:cBhvr>
                                      <p:to>
                                        <p:strVal val="visible"/>
                                      </p:to>
                                    </p:set>
                                    <p:animEffect transition="in" filter="box(in)">
                                      <p:cBhvr>
                                        <p:cTn id="27" dur="500"/>
                                        <p:tgtEl>
                                          <p:spTgt spid="66563">
                                            <p:txEl>
                                              <p:pRg st="11" end="1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66563">
                                            <p:txEl>
                                              <p:pRg st="12" end="12"/>
                                            </p:txEl>
                                          </p:spTgt>
                                        </p:tgtEl>
                                        <p:attrNameLst>
                                          <p:attrName>style.visibility</p:attrName>
                                        </p:attrNameLst>
                                      </p:cBhvr>
                                      <p:to>
                                        <p:strVal val="visible"/>
                                      </p:to>
                                    </p:set>
                                    <p:animEffect transition="in" filter="box(in)">
                                      <p:cBhvr>
                                        <p:cTn id="32" dur="500"/>
                                        <p:tgtEl>
                                          <p:spTgt spid="66563">
                                            <p:txEl>
                                              <p:pRg st="12" end="1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6563">
                                            <p:txEl>
                                              <p:pRg st="13" end="13"/>
                                            </p:txEl>
                                          </p:spTgt>
                                        </p:tgtEl>
                                        <p:attrNameLst>
                                          <p:attrName>style.visibility</p:attrName>
                                        </p:attrNameLst>
                                      </p:cBhvr>
                                      <p:to>
                                        <p:strVal val="visible"/>
                                      </p:to>
                                    </p:set>
                                    <p:animEffect transition="in" filter="box(in)">
                                      <p:cBhvr>
                                        <p:cTn id="37" dur="500"/>
                                        <p:tgtEl>
                                          <p:spTgt spid="66563">
                                            <p:txEl>
                                              <p:pRg st="13" end="13"/>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66563">
                                            <p:txEl>
                                              <p:pRg st="14" end="14"/>
                                            </p:txEl>
                                          </p:spTgt>
                                        </p:tgtEl>
                                        <p:attrNameLst>
                                          <p:attrName>style.visibility</p:attrName>
                                        </p:attrNameLst>
                                      </p:cBhvr>
                                      <p:to>
                                        <p:strVal val="visible"/>
                                      </p:to>
                                    </p:set>
                                    <p:animEffect transition="in" filter="box(in)">
                                      <p:cBhvr>
                                        <p:cTn id="42" dur="500"/>
                                        <p:tgtEl>
                                          <p:spTgt spid="6656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273B115D-6795-4ACF-9496-FFCF9A34F374}" type="slidenum">
              <a:rPr lang="ar-SA" sz="1400" smtClean="0">
                <a:latin typeface="Arial" charset="0"/>
                <a:cs typeface="Arial" charset="0"/>
              </a:rPr>
              <a:pPr eaLnBrk="1" hangingPunct="1"/>
              <a:t>62</a:t>
            </a:fld>
            <a:endParaRPr lang="en-US" sz="1400" smtClean="0">
              <a:latin typeface="Arial" charset="0"/>
              <a:cs typeface="Arial" charset="0"/>
            </a:endParaRPr>
          </a:p>
        </p:txBody>
      </p:sp>
      <p:sp>
        <p:nvSpPr>
          <p:cNvPr id="67587" name="Rectangle 2"/>
          <p:cNvSpPr>
            <a:spLocks noGrp="1" noChangeArrowheads="1"/>
          </p:cNvSpPr>
          <p:nvPr>
            <p:ph type="body" idx="1"/>
          </p:nvPr>
        </p:nvSpPr>
        <p:spPr>
          <a:xfrm>
            <a:off x="457200" y="620713"/>
            <a:ext cx="8229600" cy="5505450"/>
          </a:xfrm>
        </p:spPr>
        <p:txBody>
          <a:bodyPr/>
          <a:lstStyle/>
          <a:p>
            <a:pPr eaLnBrk="1" hangingPunct="1">
              <a:buFont typeface="Wingdings" pitchFamily="2" charset="2"/>
              <a:buChar char="§"/>
            </a:pPr>
            <a:r>
              <a:rPr lang="en-US" b="1" smtClean="0">
                <a:solidFill>
                  <a:srgbClr val="000000"/>
                </a:solidFill>
                <a:cs typeface="Times New Roman" pitchFamily="18" charset="0"/>
              </a:rPr>
              <a:t>If we compare the molar solubilities of PbSO</a:t>
            </a:r>
            <a:r>
              <a:rPr lang="en-US" b="1" baseline="-30000" smtClean="0">
                <a:solidFill>
                  <a:srgbClr val="000000"/>
                </a:solidFill>
                <a:cs typeface="Times New Roman" pitchFamily="18" charset="0"/>
              </a:rPr>
              <a:t>4</a:t>
            </a:r>
            <a:r>
              <a:rPr lang="en-US" b="1" smtClean="0">
                <a:solidFill>
                  <a:srgbClr val="000000"/>
                </a:solidFill>
                <a:cs typeface="Times New Roman" pitchFamily="18" charset="0"/>
              </a:rPr>
              <a:t> and PbI</a:t>
            </a:r>
            <a:r>
              <a:rPr lang="en-US" b="1" baseline="-30000" smtClean="0">
                <a:solidFill>
                  <a:srgbClr val="000000"/>
                </a:solidFill>
                <a:cs typeface="Times New Roman" pitchFamily="18" charset="0"/>
              </a:rPr>
              <a:t>2</a:t>
            </a:r>
            <a:r>
              <a:rPr lang="en-US" b="1" smtClean="0">
                <a:solidFill>
                  <a:srgbClr val="000000"/>
                </a:solidFill>
                <a:cs typeface="Times New Roman" pitchFamily="18" charset="0"/>
              </a:rPr>
              <a:t> we find that the solubility of lead iodide is larger than that of lead sulfate although lead iodide has smaller k</a:t>
            </a:r>
            <a:r>
              <a:rPr lang="en-US" b="1" baseline="-30000" smtClean="0">
                <a:solidFill>
                  <a:srgbClr val="000000"/>
                </a:solidFill>
                <a:cs typeface="Times New Roman" pitchFamily="18" charset="0"/>
              </a:rPr>
              <a:t>sp</a:t>
            </a:r>
            <a:r>
              <a:rPr lang="en-US" b="1" smtClean="0">
                <a:solidFill>
                  <a:srgbClr val="000000"/>
                </a:solidFill>
                <a:cs typeface="Times New Roman" pitchFamily="18" charset="0"/>
              </a:rPr>
              <a:t>.</a:t>
            </a:r>
          </a:p>
          <a:p>
            <a:pPr eaLnBrk="1" hangingPunct="1">
              <a:buFont typeface="Wingdings" pitchFamily="2" charset="2"/>
              <a:buChar char="§"/>
            </a:pPr>
            <a:r>
              <a:rPr lang="en-US" b="1" smtClean="0">
                <a:solidFill>
                  <a:srgbClr val="000000"/>
                </a:solidFill>
                <a:cs typeface="Times New Roman" pitchFamily="18" charset="0"/>
              </a:rPr>
              <a:t> You should calculate solubilities rather than comparing solubility products to check which substance gives a higher solubility. </a:t>
            </a:r>
          </a:p>
          <a:p>
            <a:pPr eaLnBrk="1" hangingPunct="1">
              <a:buFont typeface="Wingdings" pitchFamily="2" charset="2"/>
              <a:buChar char="§"/>
            </a:pPr>
            <a:r>
              <a:rPr lang="en-US" b="1" smtClean="0">
                <a:solidFill>
                  <a:srgbClr val="000000"/>
                </a:solidFill>
                <a:cs typeface="Times New Roman" pitchFamily="18" charset="0"/>
              </a:rPr>
              <a:t>In presence of a precipitating agent, the substance with the least solubility will be precipitated first.</a:t>
            </a:r>
          </a:p>
        </p:txBody>
      </p:sp>
      <p:sp>
        <p:nvSpPr>
          <p:cNvPr id="66564"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7AE68C5-01F5-40EF-B9F3-09E94F68E587}" type="datetime1">
              <a:rPr lang="en-US" sz="1400" smtClean="0"/>
              <a:pPr eaLnBrk="1" hangingPunct="1"/>
              <a:t>5/6/2021</a:t>
            </a:fld>
            <a:endParaRPr lang="en-US" sz="1400" smtClean="0"/>
          </a:p>
        </p:txBody>
      </p:sp>
      <p:sp>
        <p:nvSpPr>
          <p:cNvPr id="66565"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7660382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animEffect transition="in" filter="box(in)">
                                      <p:cBhvr>
                                        <p:cTn id="7" dur="500"/>
                                        <p:tgtEl>
                                          <p:spTgt spid="675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7587">
                                            <p:txEl>
                                              <p:pRg st="1" end="1"/>
                                            </p:txEl>
                                          </p:spTgt>
                                        </p:tgtEl>
                                        <p:attrNameLst>
                                          <p:attrName>style.visibility</p:attrName>
                                        </p:attrNameLst>
                                      </p:cBhvr>
                                      <p:to>
                                        <p:strVal val="visible"/>
                                      </p:to>
                                    </p:set>
                                    <p:animEffect transition="in" filter="box(in)">
                                      <p:cBhvr>
                                        <p:cTn id="12" dur="500"/>
                                        <p:tgtEl>
                                          <p:spTgt spid="675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7587">
                                            <p:txEl>
                                              <p:pRg st="2" end="2"/>
                                            </p:txEl>
                                          </p:spTgt>
                                        </p:tgtEl>
                                        <p:attrNameLst>
                                          <p:attrName>style.visibility</p:attrName>
                                        </p:attrNameLst>
                                      </p:cBhvr>
                                      <p:to>
                                        <p:strVal val="visible"/>
                                      </p:to>
                                    </p:set>
                                    <p:animEffect transition="in" filter="box(in)">
                                      <p:cBhvr>
                                        <p:cTn id="17" dur="500"/>
                                        <p:tgtEl>
                                          <p:spTgt spid="675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2D264C17-BEAF-44EC-9BA3-43CA553FE589}" type="slidenum">
              <a:rPr lang="ar-SA" sz="1400" smtClean="0">
                <a:latin typeface="Arial" charset="0"/>
                <a:cs typeface="Arial" charset="0"/>
              </a:rPr>
              <a:pPr eaLnBrk="1" hangingPunct="1"/>
              <a:t>63</a:t>
            </a:fld>
            <a:endParaRPr lang="en-US" sz="1400" smtClean="0">
              <a:latin typeface="Arial" charset="0"/>
              <a:cs typeface="Arial" charset="0"/>
            </a:endParaRPr>
          </a:p>
        </p:txBody>
      </p:sp>
      <p:sp>
        <p:nvSpPr>
          <p:cNvPr id="69635" name="Rectangle 2"/>
          <p:cNvSpPr>
            <a:spLocks noGrp="1" noChangeArrowheads="1"/>
          </p:cNvSpPr>
          <p:nvPr>
            <p:ph type="body" idx="1"/>
          </p:nvPr>
        </p:nvSpPr>
        <p:spPr>
          <a:xfrm>
            <a:off x="457200" y="620713"/>
            <a:ext cx="8229600" cy="5505450"/>
          </a:xfrm>
        </p:spPr>
        <p:txBody>
          <a:bodyPr/>
          <a:lstStyle/>
          <a:p>
            <a:pPr algn="justLow" eaLnBrk="1" hangingPunct="1">
              <a:buFont typeface="Wingdings" pitchFamily="2" charset="2"/>
              <a:buChar char="§"/>
            </a:pPr>
            <a:r>
              <a:rPr lang="en-US" sz="2800" b="1" smtClean="0">
                <a:solidFill>
                  <a:srgbClr val="800000"/>
                </a:solidFill>
                <a:cs typeface="Times New Roman" pitchFamily="18" charset="0"/>
              </a:rPr>
              <a:t>What must be the concentration of Ag</a:t>
            </a:r>
            <a:r>
              <a:rPr lang="en-US" sz="2800" b="1" baseline="30000" smtClean="0">
                <a:solidFill>
                  <a:srgbClr val="800000"/>
                </a:solidFill>
                <a:cs typeface="Times New Roman" pitchFamily="18" charset="0"/>
              </a:rPr>
              <a:t>+</a:t>
            </a:r>
            <a:r>
              <a:rPr lang="en-US" sz="2800" b="1" smtClean="0">
                <a:solidFill>
                  <a:srgbClr val="800000"/>
                </a:solidFill>
                <a:cs typeface="Times New Roman" pitchFamily="18" charset="0"/>
              </a:rPr>
              <a:t> to just start precipitation of AgCl in a 1.0x10</a:t>
            </a:r>
            <a:r>
              <a:rPr lang="en-US" sz="2800" b="1" baseline="30000" smtClean="0">
                <a:solidFill>
                  <a:srgbClr val="800000"/>
                </a:solidFill>
                <a:cs typeface="Times New Roman" pitchFamily="18" charset="0"/>
              </a:rPr>
              <a:t>-3</a:t>
            </a:r>
            <a:r>
              <a:rPr lang="en-US" sz="2800" b="1" smtClean="0">
                <a:solidFill>
                  <a:srgbClr val="800000"/>
                </a:solidFill>
                <a:cs typeface="Times New Roman" pitchFamily="18" charset="0"/>
              </a:rPr>
              <a:t> M NaCl solution.</a:t>
            </a:r>
          </a:p>
          <a:p>
            <a:pPr algn="justLow" eaLnBrk="1" hangingPunct="1">
              <a:buFont typeface="Wingdings" pitchFamily="2" charset="2"/>
              <a:buChar char="§"/>
            </a:pPr>
            <a:r>
              <a:rPr lang="en-US" sz="2800" b="1" smtClean="0">
                <a:solidFill>
                  <a:srgbClr val="000000"/>
                </a:solidFill>
                <a:cs typeface="Times New Roman" pitchFamily="18" charset="0"/>
              </a:rPr>
              <a:t> </a:t>
            </a:r>
          </a:p>
          <a:p>
            <a:pPr algn="justLow" eaLnBrk="1" hangingPunct="1">
              <a:buFont typeface="Wingdings" pitchFamily="2" charset="2"/>
              <a:buChar char="§"/>
            </a:pPr>
            <a:r>
              <a:rPr lang="en-US" sz="2800" b="1" smtClean="0">
                <a:solidFill>
                  <a:srgbClr val="000000"/>
                </a:solidFill>
                <a:cs typeface="Times New Roman" pitchFamily="18" charset="0"/>
              </a:rPr>
              <a:t>Solution</a:t>
            </a:r>
          </a:p>
          <a:p>
            <a:pPr algn="justLow" eaLnBrk="1" hangingPunct="1">
              <a:buFont typeface="Wingdings" pitchFamily="2" charset="2"/>
              <a:buChar char="§"/>
            </a:pPr>
            <a:r>
              <a:rPr lang="en-US" sz="2800" b="1" smtClean="0">
                <a:solidFill>
                  <a:srgbClr val="000000"/>
                </a:solidFill>
                <a:cs typeface="Times New Roman" pitchFamily="18" charset="0"/>
              </a:rPr>
              <a:t> </a:t>
            </a:r>
          </a:p>
          <a:p>
            <a:pPr algn="justLow" eaLnBrk="1" hangingPunct="1">
              <a:buFont typeface="Wingdings" pitchFamily="2" charset="2"/>
              <a:buChar char="§"/>
            </a:pPr>
            <a:r>
              <a:rPr lang="en-US" sz="2800" b="1" smtClean="0">
                <a:solidFill>
                  <a:srgbClr val="000000"/>
                </a:solidFill>
                <a:cs typeface="Times New Roman" pitchFamily="18" charset="0"/>
              </a:rPr>
              <a:t>AgCl just starts to precipitate when the ion product just exceeds k</a:t>
            </a:r>
            <a:r>
              <a:rPr lang="en-US" sz="2800" b="1" baseline="-30000" smtClean="0">
                <a:solidFill>
                  <a:srgbClr val="000000"/>
                </a:solidFill>
                <a:cs typeface="Times New Roman" pitchFamily="18" charset="0"/>
              </a:rPr>
              <a:t>sp</a:t>
            </a:r>
            <a:endParaRPr lang="en-US" sz="2800" b="1" smtClean="0">
              <a:solidFill>
                <a:srgbClr val="000000"/>
              </a:solidFill>
              <a:cs typeface="Times New Roman" pitchFamily="18" charset="0"/>
            </a:endParaRPr>
          </a:p>
          <a:p>
            <a:pPr algn="justLow" eaLnBrk="1" hangingPunct="1">
              <a:buFont typeface="Wingdings" pitchFamily="2" charset="2"/>
              <a:buChar char="§"/>
            </a:pPr>
            <a:r>
              <a:rPr lang="en-US" sz="2800" b="1" smtClean="0">
                <a:solidFill>
                  <a:srgbClr val="000000"/>
                </a:solidFill>
                <a:cs typeface="Times New Roman" pitchFamily="18" charset="0"/>
              </a:rPr>
              <a:t>   K</a:t>
            </a:r>
            <a:r>
              <a:rPr lang="en-US" sz="2800" b="1" baseline="-30000" smtClean="0">
                <a:solidFill>
                  <a:srgbClr val="000000"/>
                </a:solidFill>
                <a:cs typeface="Times New Roman" pitchFamily="18" charset="0"/>
              </a:rPr>
              <a:t>sp</a:t>
            </a:r>
            <a:r>
              <a:rPr lang="en-US" sz="2800" b="1" smtClean="0">
                <a:solidFill>
                  <a:srgbClr val="000000"/>
                </a:solidFill>
                <a:cs typeface="Times New Roman" pitchFamily="18" charset="0"/>
              </a:rPr>
              <a:t> = [Ag</a:t>
            </a:r>
            <a:r>
              <a:rPr lang="en-US" sz="2800" b="1" baseline="30000" smtClean="0">
                <a:solidFill>
                  <a:srgbClr val="000000"/>
                </a:solidFill>
                <a:cs typeface="Times New Roman" pitchFamily="18" charset="0"/>
              </a:rPr>
              <a:t>+</a:t>
            </a:r>
            <a:r>
              <a:rPr lang="en-US" sz="2800" b="1" smtClean="0">
                <a:solidFill>
                  <a:srgbClr val="000000"/>
                </a:solidFill>
                <a:cs typeface="Times New Roman" pitchFamily="18" charset="0"/>
              </a:rPr>
              <a:t>][Cl</a:t>
            </a:r>
            <a:r>
              <a:rPr lang="en-US" sz="2800" b="1" baseline="30000" smtClean="0">
                <a:solidFill>
                  <a:srgbClr val="000000"/>
                </a:solidFill>
                <a:cs typeface="Times New Roman" pitchFamily="18" charset="0"/>
              </a:rPr>
              <a:t>-</a:t>
            </a:r>
            <a:r>
              <a:rPr lang="en-US" sz="2800" b="1" smtClean="0">
                <a:solidFill>
                  <a:srgbClr val="000000"/>
                </a:solidFill>
                <a:cs typeface="Times New Roman" pitchFamily="18" charset="0"/>
              </a:rPr>
              <a:t>]</a:t>
            </a:r>
          </a:p>
          <a:p>
            <a:pPr algn="justLow" eaLnBrk="1" hangingPunct="1">
              <a:buFont typeface="Wingdings" pitchFamily="2" charset="2"/>
              <a:buChar char="§"/>
            </a:pPr>
            <a:r>
              <a:rPr lang="en-US" sz="2800" b="1" smtClean="0">
                <a:solidFill>
                  <a:srgbClr val="000000"/>
                </a:solidFill>
                <a:cs typeface="Times New Roman" pitchFamily="18" charset="0"/>
              </a:rPr>
              <a:t>1.0x10</a:t>
            </a:r>
            <a:r>
              <a:rPr lang="en-US" sz="2800" b="1" baseline="30000" smtClean="0">
                <a:solidFill>
                  <a:srgbClr val="000000"/>
                </a:solidFill>
                <a:cs typeface="Times New Roman" pitchFamily="18" charset="0"/>
              </a:rPr>
              <a:t>-10</a:t>
            </a:r>
            <a:r>
              <a:rPr lang="en-US" sz="2800" b="1" smtClean="0">
                <a:solidFill>
                  <a:srgbClr val="000000"/>
                </a:solidFill>
                <a:cs typeface="Times New Roman" pitchFamily="18" charset="0"/>
              </a:rPr>
              <a:t> = [Ag</a:t>
            </a:r>
            <a:r>
              <a:rPr lang="en-US" sz="2800" b="1" baseline="30000" smtClean="0">
                <a:solidFill>
                  <a:srgbClr val="000000"/>
                </a:solidFill>
                <a:cs typeface="Times New Roman" pitchFamily="18" charset="0"/>
              </a:rPr>
              <a:t>+</a:t>
            </a:r>
            <a:r>
              <a:rPr lang="en-US" sz="2800" b="1" smtClean="0">
                <a:solidFill>
                  <a:srgbClr val="000000"/>
                </a:solidFill>
                <a:cs typeface="Times New Roman" pitchFamily="18" charset="0"/>
              </a:rPr>
              <a:t>] x 1.0 x 10</a:t>
            </a:r>
            <a:r>
              <a:rPr lang="en-US" sz="2800" b="1" baseline="30000" smtClean="0">
                <a:solidFill>
                  <a:srgbClr val="000000"/>
                </a:solidFill>
                <a:cs typeface="Times New Roman" pitchFamily="18" charset="0"/>
              </a:rPr>
              <a:t>-3</a:t>
            </a:r>
            <a:endParaRPr lang="en-US" sz="2800" b="1" smtClean="0">
              <a:solidFill>
                <a:srgbClr val="000000"/>
              </a:solidFill>
              <a:cs typeface="Times New Roman" pitchFamily="18" charset="0"/>
            </a:endParaRPr>
          </a:p>
          <a:p>
            <a:pPr algn="justLow" eaLnBrk="1" hangingPunct="1">
              <a:buFont typeface="Wingdings" pitchFamily="2" charset="2"/>
              <a:buChar char="§"/>
            </a:pPr>
            <a:r>
              <a:rPr lang="en-US" sz="2800" b="1" smtClean="0">
                <a:solidFill>
                  <a:srgbClr val="000000"/>
                </a:solidFill>
                <a:cs typeface="Times New Roman" pitchFamily="18" charset="0"/>
              </a:rPr>
              <a:t>[Ag</a:t>
            </a:r>
            <a:r>
              <a:rPr lang="en-US" sz="2800" b="1" baseline="30000" smtClean="0">
                <a:solidFill>
                  <a:srgbClr val="000000"/>
                </a:solidFill>
                <a:cs typeface="Times New Roman" pitchFamily="18" charset="0"/>
              </a:rPr>
              <a:t>+</a:t>
            </a:r>
            <a:r>
              <a:rPr lang="en-US" sz="2800" b="1" smtClean="0">
                <a:solidFill>
                  <a:srgbClr val="000000"/>
                </a:solidFill>
                <a:cs typeface="Times New Roman" pitchFamily="18" charset="0"/>
              </a:rPr>
              <a:t>] = 1.0x10</a:t>
            </a:r>
            <a:r>
              <a:rPr lang="en-US" sz="2800" b="1" baseline="30000" smtClean="0">
                <a:solidFill>
                  <a:srgbClr val="000000"/>
                </a:solidFill>
                <a:cs typeface="Times New Roman" pitchFamily="18" charset="0"/>
              </a:rPr>
              <a:t>-7</a:t>
            </a:r>
            <a:r>
              <a:rPr lang="en-US" sz="2800" b="1" smtClean="0">
                <a:solidFill>
                  <a:srgbClr val="000000"/>
                </a:solidFill>
                <a:cs typeface="Times New Roman" pitchFamily="18" charset="0"/>
              </a:rPr>
              <a:t> M</a:t>
            </a:r>
          </a:p>
        </p:txBody>
      </p:sp>
      <p:sp>
        <p:nvSpPr>
          <p:cNvPr id="67588"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212893C4-D4E7-4492-B515-26860253EF88}" type="datetime1">
              <a:rPr lang="en-US" sz="1400" smtClean="0"/>
              <a:pPr eaLnBrk="1" hangingPunct="1"/>
              <a:t>5/6/2021</a:t>
            </a:fld>
            <a:endParaRPr lang="en-US" sz="1400" smtClean="0"/>
          </a:p>
        </p:txBody>
      </p:sp>
      <p:sp>
        <p:nvSpPr>
          <p:cNvPr id="67589"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2005001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animEffect transition="in" filter="box(in)">
                                      <p:cBhvr>
                                        <p:cTn id="7" dur="500"/>
                                        <p:tgtEl>
                                          <p:spTgt spid="696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9635">
                                            <p:txEl>
                                              <p:pRg st="1" end="1"/>
                                            </p:txEl>
                                          </p:spTgt>
                                        </p:tgtEl>
                                        <p:attrNameLst>
                                          <p:attrName>style.visibility</p:attrName>
                                        </p:attrNameLst>
                                      </p:cBhvr>
                                      <p:to>
                                        <p:strVal val="visible"/>
                                      </p:to>
                                    </p:set>
                                    <p:animEffect transition="in" filter="box(in)">
                                      <p:cBhvr>
                                        <p:cTn id="12" dur="500"/>
                                        <p:tgtEl>
                                          <p:spTgt spid="696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9635">
                                            <p:txEl>
                                              <p:pRg st="2" end="2"/>
                                            </p:txEl>
                                          </p:spTgt>
                                        </p:tgtEl>
                                        <p:attrNameLst>
                                          <p:attrName>style.visibility</p:attrName>
                                        </p:attrNameLst>
                                      </p:cBhvr>
                                      <p:to>
                                        <p:strVal val="visible"/>
                                      </p:to>
                                    </p:set>
                                    <p:animEffect transition="in" filter="box(in)">
                                      <p:cBhvr>
                                        <p:cTn id="17" dur="500"/>
                                        <p:tgtEl>
                                          <p:spTgt spid="696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9635">
                                            <p:txEl>
                                              <p:pRg st="3" end="3"/>
                                            </p:txEl>
                                          </p:spTgt>
                                        </p:tgtEl>
                                        <p:attrNameLst>
                                          <p:attrName>style.visibility</p:attrName>
                                        </p:attrNameLst>
                                      </p:cBhvr>
                                      <p:to>
                                        <p:strVal val="visible"/>
                                      </p:to>
                                    </p:set>
                                    <p:animEffect transition="in" filter="box(in)">
                                      <p:cBhvr>
                                        <p:cTn id="22" dur="500"/>
                                        <p:tgtEl>
                                          <p:spTgt spid="6963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9635">
                                            <p:txEl>
                                              <p:pRg st="4" end="4"/>
                                            </p:txEl>
                                          </p:spTgt>
                                        </p:tgtEl>
                                        <p:attrNameLst>
                                          <p:attrName>style.visibility</p:attrName>
                                        </p:attrNameLst>
                                      </p:cBhvr>
                                      <p:to>
                                        <p:strVal val="visible"/>
                                      </p:to>
                                    </p:set>
                                    <p:animEffect transition="in" filter="box(in)">
                                      <p:cBhvr>
                                        <p:cTn id="27" dur="500"/>
                                        <p:tgtEl>
                                          <p:spTgt spid="6963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69635">
                                            <p:txEl>
                                              <p:pRg st="5" end="5"/>
                                            </p:txEl>
                                          </p:spTgt>
                                        </p:tgtEl>
                                        <p:attrNameLst>
                                          <p:attrName>style.visibility</p:attrName>
                                        </p:attrNameLst>
                                      </p:cBhvr>
                                      <p:to>
                                        <p:strVal val="visible"/>
                                      </p:to>
                                    </p:set>
                                    <p:animEffect transition="in" filter="box(in)">
                                      <p:cBhvr>
                                        <p:cTn id="32" dur="500"/>
                                        <p:tgtEl>
                                          <p:spTgt spid="6963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9635">
                                            <p:txEl>
                                              <p:pRg st="6" end="6"/>
                                            </p:txEl>
                                          </p:spTgt>
                                        </p:tgtEl>
                                        <p:attrNameLst>
                                          <p:attrName>style.visibility</p:attrName>
                                        </p:attrNameLst>
                                      </p:cBhvr>
                                      <p:to>
                                        <p:strVal val="visible"/>
                                      </p:to>
                                    </p:set>
                                    <p:animEffect transition="in" filter="box(in)">
                                      <p:cBhvr>
                                        <p:cTn id="37" dur="500"/>
                                        <p:tgtEl>
                                          <p:spTgt spid="6963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69635">
                                            <p:txEl>
                                              <p:pRg st="7" end="7"/>
                                            </p:txEl>
                                          </p:spTgt>
                                        </p:tgtEl>
                                        <p:attrNameLst>
                                          <p:attrName>style.visibility</p:attrName>
                                        </p:attrNameLst>
                                      </p:cBhvr>
                                      <p:to>
                                        <p:strVal val="visible"/>
                                      </p:to>
                                    </p:set>
                                    <p:animEffect transition="in" filter="box(in)">
                                      <p:cBhvr>
                                        <p:cTn id="42" dur="500"/>
                                        <p:tgtEl>
                                          <p:spTgt spid="6963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77A77D33-B009-4C7A-97B9-411234B59260}" type="slidenum">
              <a:rPr lang="ar-SA" sz="1400" smtClean="0">
                <a:latin typeface="Arial" charset="0"/>
                <a:cs typeface="Arial" charset="0"/>
              </a:rPr>
              <a:pPr eaLnBrk="1" hangingPunct="1"/>
              <a:t>64</a:t>
            </a:fld>
            <a:endParaRPr lang="en-US" sz="1400" smtClean="0">
              <a:latin typeface="Arial" charset="0"/>
              <a:cs typeface="Arial" charset="0"/>
            </a:endParaRPr>
          </a:p>
        </p:txBody>
      </p:sp>
      <p:sp>
        <p:nvSpPr>
          <p:cNvPr id="70659" name="Rectangle 2"/>
          <p:cNvSpPr>
            <a:spLocks noGrp="1" noChangeArrowheads="1"/>
          </p:cNvSpPr>
          <p:nvPr>
            <p:ph type="body" idx="1"/>
          </p:nvPr>
        </p:nvSpPr>
        <p:spPr>
          <a:xfrm>
            <a:off x="457200" y="620713"/>
            <a:ext cx="8229600" cy="5505450"/>
          </a:xfrm>
        </p:spPr>
        <p:txBody>
          <a:bodyPr/>
          <a:lstStyle/>
          <a:p>
            <a:pPr algn="justLow" eaLnBrk="1" hangingPunct="1">
              <a:buFont typeface="Wingdings" pitchFamily="2" charset="2"/>
              <a:buChar char="§"/>
            </a:pPr>
            <a:r>
              <a:rPr lang="en-US" sz="2400" b="1" smtClean="0">
                <a:solidFill>
                  <a:srgbClr val="0000FF"/>
                </a:solidFill>
                <a:cs typeface="Times New Roman" pitchFamily="18" charset="0"/>
              </a:rPr>
              <a:t>What pH is required to just start precipitation of Fe(III) hydroxide from a 0.1 M FeCl</a:t>
            </a:r>
            <a:r>
              <a:rPr lang="en-US" sz="2400" b="1" baseline="-30000" smtClean="0">
                <a:solidFill>
                  <a:srgbClr val="0000FF"/>
                </a:solidFill>
                <a:cs typeface="Times New Roman" pitchFamily="18" charset="0"/>
              </a:rPr>
              <a:t>3</a:t>
            </a:r>
            <a:r>
              <a:rPr lang="en-US" sz="2400" b="1" smtClean="0">
                <a:solidFill>
                  <a:srgbClr val="0000FF"/>
                </a:solidFill>
                <a:cs typeface="Times New Roman" pitchFamily="18" charset="0"/>
              </a:rPr>
              <a:t> solution. K</a:t>
            </a:r>
            <a:r>
              <a:rPr lang="en-US" sz="2400" b="1" baseline="-30000" smtClean="0">
                <a:solidFill>
                  <a:srgbClr val="0000FF"/>
                </a:solidFill>
                <a:cs typeface="Times New Roman" pitchFamily="18" charset="0"/>
              </a:rPr>
              <a:t>sp</a:t>
            </a:r>
            <a:r>
              <a:rPr lang="en-US" sz="2400" b="1" smtClean="0">
                <a:solidFill>
                  <a:srgbClr val="0000FF"/>
                </a:solidFill>
                <a:cs typeface="Times New Roman" pitchFamily="18" charset="0"/>
              </a:rPr>
              <a:t> = 4x10</a:t>
            </a:r>
            <a:r>
              <a:rPr lang="en-US" sz="2400" b="1" baseline="30000" smtClean="0">
                <a:solidFill>
                  <a:srgbClr val="0000FF"/>
                </a:solidFill>
                <a:cs typeface="Times New Roman" pitchFamily="18" charset="0"/>
              </a:rPr>
              <a:t>-38</a:t>
            </a:r>
            <a:r>
              <a:rPr lang="en-US" sz="2400" b="1" smtClean="0">
                <a:solidFill>
                  <a:srgbClr val="0000FF"/>
                </a:solidFill>
                <a:cs typeface="Times New Roman" pitchFamily="18" charset="0"/>
              </a:rPr>
              <a:t>.</a:t>
            </a:r>
          </a:p>
          <a:p>
            <a:pPr algn="justLow" eaLnBrk="1" hangingPunct="1">
              <a:buFontTx/>
              <a:buNone/>
            </a:pPr>
            <a:r>
              <a:rPr lang="en-US" sz="2400" b="1" smtClean="0">
                <a:solidFill>
                  <a:srgbClr val="000000"/>
                </a:solidFill>
                <a:cs typeface="Times New Roman" pitchFamily="18" charset="0"/>
              </a:rPr>
              <a:t> </a:t>
            </a:r>
          </a:p>
          <a:p>
            <a:pPr algn="justLow" eaLnBrk="1" hangingPunct="1">
              <a:buFont typeface="Wingdings" pitchFamily="2" charset="2"/>
              <a:buChar char="§"/>
            </a:pPr>
            <a:r>
              <a:rPr lang="en-US" sz="2400" b="1" smtClean="0">
                <a:solidFill>
                  <a:srgbClr val="000000"/>
                </a:solidFill>
                <a:cs typeface="Times New Roman" pitchFamily="18" charset="0"/>
              </a:rPr>
              <a:t>Solution</a:t>
            </a:r>
          </a:p>
          <a:p>
            <a:pPr algn="justLow" eaLnBrk="1" hangingPunct="1">
              <a:buFontTx/>
              <a:buNone/>
            </a:pPr>
            <a:r>
              <a:rPr lang="en-US" sz="2400" b="1" smtClean="0">
                <a:solidFill>
                  <a:srgbClr val="000000"/>
                </a:solidFill>
                <a:cs typeface="Times New Roman" pitchFamily="18" charset="0"/>
              </a:rPr>
              <a:t> </a:t>
            </a:r>
          </a:p>
          <a:p>
            <a:pPr algn="justLow" eaLnBrk="1" hangingPunct="1">
              <a:buFont typeface="Wingdings" pitchFamily="2" charset="2"/>
              <a:buChar char="§"/>
            </a:pPr>
            <a:r>
              <a:rPr lang="en-US" sz="2400" b="1" smtClean="0">
                <a:solidFill>
                  <a:srgbClr val="000000"/>
                </a:solidFill>
                <a:cs typeface="Times New Roman" pitchFamily="18" charset="0"/>
              </a:rPr>
              <a:t>Fe(OH)</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 </a:t>
            </a:r>
            <a:r>
              <a:rPr lang="en-US" sz="2400" b="1" smtClean="0">
                <a:solidFill>
                  <a:srgbClr val="000000"/>
                </a:solidFill>
                <a:latin typeface="Wingdings 3" pitchFamily="18" charset="2"/>
                <a:cs typeface="Times New Roman" pitchFamily="18" charset="0"/>
              </a:rPr>
              <a:t>D</a:t>
            </a:r>
            <a:r>
              <a:rPr lang="en-US" sz="2400" b="1" smtClean="0">
                <a:solidFill>
                  <a:srgbClr val="000000"/>
                </a:solidFill>
                <a:cs typeface="Times New Roman" pitchFamily="18" charset="0"/>
              </a:rPr>
              <a:t> Fe</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 + 3 OH</a:t>
            </a:r>
            <a:r>
              <a:rPr lang="en-US" sz="2400" b="1" baseline="30000" smtClean="0">
                <a:solidFill>
                  <a:srgbClr val="000000"/>
                </a:solidFill>
                <a:cs typeface="Times New Roman" pitchFamily="18" charset="0"/>
              </a:rPr>
              <a:t>-</a:t>
            </a:r>
            <a:endParaRPr lang="en-US" sz="2400" b="1" smtClean="0">
              <a:solidFill>
                <a:srgbClr val="000000"/>
              </a:solidFill>
              <a:cs typeface="Times New Roman" pitchFamily="18" charset="0"/>
            </a:endParaRPr>
          </a:p>
          <a:p>
            <a:pPr algn="justLow" eaLnBrk="1" hangingPunct="1">
              <a:buFont typeface="Wingdings" pitchFamily="2" charset="2"/>
              <a:buChar char="§"/>
            </a:pPr>
            <a:r>
              <a:rPr lang="en-US" sz="2400" b="1" smtClean="0">
                <a:solidFill>
                  <a:srgbClr val="000000"/>
                </a:solidFill>
                <a:cs typeface="Times New Roman" pitchFamily="18" charset="0"/>
              </a:rPr>
              <a:t>K</a:t>
            </a:r>
            <a:r>
              <a:rPr lang="en-US" sz="2400" b="1" baseline="-30000" smtClean="0">
                <a:solidFill>
                  <a:srgbClr val="000000"/>
                </a:solidFill>
                <a:cs typeface="Times New Roman" pitchFamily="18" charset="0"/>
              </a:rPr>
              <a:t>sp</a:t>
            </a:r>
            <a:r>
              <a:rPr lang="en-US" sz="2400" b="1" smtClean="0">
                <a:solidFill>
                  <a:srgbClr val="000000"/>
                </a:solidFill>
                <a:cs typeface="Times New Roman" pitchFamily="18" charset="0"/>
              </a:rPr>
              <a:t> = [Fe</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][OH</a:t>
            </a:r>
            <a:r>
              <a:rPr lang="en-US" sz="2400" b="1" baseline="30000" smtClean="0">
                <a:solidFill>
                  <a:srgbClr val="000000"/>
                </a:solidFill>
                <a:cs typeface="Times New Roman" pitchFamily="18" charset="0"/>
              </a:rPr>
              <a:t>-</a:t>
            </a:r>
            <a:r>
              <a:rPr lang="en-US" sz="2400" b="1" smtClean="0">
                <a:solidFill>
                  <a:srgbClr val="000000"/>
                </a:solidFill>
                <a:cs typeface="Times New Roman" pitchFamily="18" charset="0"/>
              </a:rPr>
              <a:t>]</a:t>
            </a:r>
            <a:r>
              <a:rPr lang="en-US" sz="2400" b="1" baseline="30000" smtClean="0">
                <a:solidFill>
                  <a:srgbClr val="000000"/>
                </a:solidFill>
                <a:cs typeface="Times New Roman" pitchFamily="18" charset="0"/>
              </a:rPr>
              <a:t>3</a:t>
            </a:r>
            <a:endParaRPr lang="en-US" sz="2400" b="1" smtClean="0">
              <a:solidFill>
                <a:srgbClr val="000000"/>
              </a:solidFill>
              <a:cs typeface="Times New Roman" pitchFamily="18" charset="0"/>
            </a:endParaRPr>
          </a:p>
          <a:p>
            <a:pPr algn="justLow" eaLnBrk="1" hangingPunct="1">
              <a:buFont typeface="Wingdings" pitchFamily="2" charset="2"/>
              <a:buChar char="§"/>
            </a:pPr>
            <a:r>
              <a:rPr lang="en-US" sz="2400" b="1" smtClean="0">
                <a:solidFill>
                  <a:srgbClr val="000000"/>
                </a:solidFill>
                <a:cs typeface="Times New Roman" pitchFamily="18" charset="0"/>
              </a:rPr>
              <a:t>4x10</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 = 0.1 x [OH</a:t>
            </a:r>
            <a:r>
              <a:rPr lang="en-US" sz="2400" b="1" baseline="30000" smtClean="0">
                <a:solidFill>
                  <a:srgbClr val="000000"/>
                </a:solidFill>
                <a:cs typeface="Times New Roman" pitchFamily="18" charset="0"/>
              </a:rPr>
              <a:t>-</a:t>
            </a:r>
            <a:r>
              <a:rPr lang="en-US" sz="2400" b="1" smtClean="0">
                <a:solidFill>
                  <a:srgbClr val="000000"/>
                </a:solidFill>
                <a:cs typeface="Times New Roman" pitchFamily="18" charset="0"/>
              </a:rPr>
              <a:t>]</a:t>
            </a:r>
            <a:r>
              <a:rPr lang="en-US" sz="2400" b="1" baseline="30000" smtClean="0">
                <a:solidFill>
                  <a:srgbClr val="000000"/>
                </a:solidFill>
                <a:cs typeface="Times New Roman" pitchFamily="18" charset="0"/>
              </a:rPr>
              <a:t>3</a:t>
            </a:r>
            <a:endParaRPr lang="en-US" sz="2400" b="1" smtClean="0">
              <a:solidFill>
                <a:srgbClr val="000000"/>
              </a:solidFill>
              <a:cs typeface="Times New Roman" pitchFamily="18" charset="0"/>
            </a:endParaRPr>
          </a:p>
          <a:p>
            <a:pPr algn="justLow" eaLnBrk="1" hangingPunct="1">
              <a:buFont typeface="Wingdings" pitchFamily="2" charset="2"/>
              <a:buChar char="§"/>
            </a:pPr>
            <a:r>
              <a:rPr lang="en-US" sz="2400" b="1" smtClean="0">
                <a:solidFill>
                  <a:srgbClr val="000000"/>
                </a:solidFill>
                <a:cs typeface="Times New Roman" pitchFamily="18" charset="0"/>
              </a:rPr>
              <a:t>[OH</a:t>
            </a:r>
            <a:r>
              <a:rPr lang="en-US" sz="2400" b="1" baseline="30000" smtClean="0">
                <a:solidFill>
                  <a:srgbClr val="000000"/>
                </a:solidFill>
                <a:cs typeface="Times New Roman" pitchFamily="18" charset="0"/>
              </a:rPr>
              <a:t>-</a:t>
            </a:r>
            <a:r>
              <a:rPr lang="en-US" sz="2400" b="1" smtClean="0">
                <a:solidFill>
                  <a:srgbClr val="000000"/>
                </a:solidFill>
                <a:cs typeface="Times New Roman" pitchFamily="18" charset="0"/>
              </a:rPr>
              <a:t>] = 7x10</a:t>
            </a:r>
            <a:r>
              <a:rPr lang="en-US" sz="2400" b="1" baseline="30000" smtClean="0">
                <a:solidFill>
                  <a:srgbClr val="000000"/>
                </a:solidFill>
                <a:cs typeface="Times New Roman" pitchFamily="18" charset="0"/>
              </a:rPr>
              <a:t>-13</a:t>
            </a:r>
            <a:r>
              <a:rPr lang="en-US" sz="2400" b="1" smtClean="0">
                <a:solidFill>
                  <a:srgbClr val="000000"/>
                </a:solidFill>
                <a:cs typeface="Times New Roman" pitchFamily="18" charset="0"/>
              </a:rPr>
              <a:t> M</a:t>
            </a:r>
          </a:p>
          <a:p>
            <a:pPr algn="justLow" eaLnBrk="1" hangingPunct="1">
              <a:buFont typeface="Wingdings" pitchFamily="2" charset="2"/>
              <a:buChar char="§"/>
            </a:pPr>
            <a:r>
              <a:rPr lang="en-US" sz="2400" b="1" smtClean="0">
                <a:solidFill>
                  <a:srgbClr val="000000"/>
                </a:solidFill>
                <a:cs typeface="Times New Roman" pitchFamily="18" charset="0"/>
              </a:rPr>
              <a:t>pH = 14 – pOH</a:t>
            </a:r>
          </a:p>
          <a:p>
            <a:pPr algn="justLow" eaLnBrk="1" hangingPunct="1">
              <a:buFont typeface="Wingdings" pitchFamily="2" charset="2"/>
              <a:buChar char="§"/>
            </a:pPr>
            <a:r>
              <a:rPr lang="en-US" sz="2400" b="1" smtClean="0">
                <a:solidFill>
                  <a:srgbClr val="000000"/>
                </a:solidFill>
                <a:cs typeface="Times New Roman" pitchFamily="18" charset="0"/>
              </a:rPr>
              <a:t>pH = 14 – 12.2 = 1.8</a:t>
            </a:r>
          </a:p>
        </p:txBody>
      </p:sp>
      <p:sp>
        <p:nvSpPr>
          <p:cNvPr id="68612"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48B778D5-242B-477D-A134-6576F257C684}" type="datetime1">
              <a:rPr lang="en-US" sz="1400" smtClean="0"/>
              <a:pPr eaLnBrk="1" hangingPunct="1"/>
              <a:t>5/6/2021</a:t>
            </a:fld>
            <a:endParaRPr lang="en-US" sz="1400" smtClean="0"/>
          </a:p>
        </p:txBody>
      </p:sp>
      <p:sp>
        <p:nvSpPr>
          <p:cNvPr id="68613"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40935578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Effect transition="in" filter="box(in)">
                                      <p:cBhvr>
                                        <p:cTn id="7" dur="500"/>
                                        <p:tgtEl>
                                          <p:spTgt spid="706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0659">
                                            <p:txEl>
                                              <p:pRg st="1" end="1"/>
                                            </p:txEl>
                                          </p:spTgt>
                                        </p:tgtEl>
                                        <p:attrNameLst>
                                          <p:attrName>style.visibility</p:attrName>
                                        </p:attrNameLst>
                                      </p:cBhvr>
                                      <p:to>
                                        <p:strVal val="visible"/>
                                      </p:to>
                                    </p:set>
                                    <p:animEffect transition="in" filter="box(in)">
                                      <p:cBhvr>
                                        <p:cTn id="12" dur="500"/>
                                        <p:tgtEl>
                                          <p:spTgt spid="706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0659">
                                            <p:txEl>
                                              <p:pRg st="2" end="2"/>
                                            </p:txEl>
                                          </p:spTgt>
                                        </p:tgtEl>
                                        <p:attrNameLst>
                                          <p:attrName>style.visibility</p:attrName>
                                        </p:attrNameLst>
                                      </p:cBhvr>
                                      <p:to>
                                        <p:strVal val="visible"/>
                                      </p:to>
                                    </p:set>
                                    <p:animEffect transition="in" filter="box(in)">
                                      <p:cBhvr>
                                        <p:cTn id="17" dur="500"/>
                                        <p:tgtEl>
                                          <p:spTgt spid="706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0659">
                                            <p:txEl>
                                              <p:pRg st="3" end="3"/>
                                            </p:txEl>
                                          </p:spTgt>
                                        </p:tgtEl>
                                        <p:attrNameLst>
                                          <p:attrName>style.visibility</p:attrName>
                                        </p:attrNameLst>
                                      </p:cBhvr>
                                      <p:to>
                                        <p:strVal val="visible"/>
                                      </p:to>
                                    </p:set>
                                    <p:animEffect transition="in" filter="box(in)">
                                      <p:cBhvr>
                                        <p:cTn id="22" dur="500"/>
                                        <p:tgtEl>
                                          <p:spTgt spid="7065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70659">
                                            <p:txEl>
                                              <p:pRg st="4" end="4"/>
                                            </p:txEl>
                                          </p:spTgt>
                                        </p:tgtEl>
                                        <p:attrNameLst>
                                          <p:attrName>style.visibility</p:attrName>
                                        </p:attrNameLst>
                                      </p:cBhvr>
                                      <p:to>
                                        <p:strVal val="visible"/>
                                      </p:to>
                                    </p:set>
                                    <p:animEffect transition="in" filter="box(in)">
                                      <p:cBhvr>
                                        <p:cTn id="27" dur="500"/>
                                        <p:tgtEl>
                                          <p:spTgt spid="7065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70659">
                                            <p:txEl>
                                              <p:pRg st="5" end="5"/>
                                            </p:txEl>
                                          </p:spTgt>
                                        </p:tgtEl>
                                        <p:attrNameLst>
                                          <p:attrName>style.visibility</p:attrName>
                                        </p:attrNameLst>
                                      </p:cBhvr>
                                      <p:to>
                                        <p:strVal val="visible"/>
                                      </p:to>
                                    </p:set>
                                    <p:animEffect transition="in" filter="box(in)">
                                      <p:cBhvr>
                                        <p:cTn id="32" dur="500"/>
                                        <p:tgtEl>
                                          <p:spTgt spid="7065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70659">
                                            <p:txEl>
                                              <p:pRg st="6" end="6"/>
                                            </p:txEl>
                                          </p:spTgt>
                                        </p:tgtEl>
                                        <p:attrNameLst>
                                          <p:attrName>style.visibility</p:attrName>
                                        </p:attrNameLst>
                                      </p:cBhvr>
                                      <p:to>
                                        <p:strVal val="visible"/>
                                      </p:to>
                                    </p:set>
                                    <p:animEffect transition="in" filter="box(in)">
                                      <p:cBhvr>
                                        <p:cTn id="37" dur="500"/>
                                        <p:tgtEl>
                                          <p:spTgt spid="7065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70659">
                                            <p:txEl>
                                              <p:pRg st="7" end="7"/>
                                            </p:txEl>
                                          </p:spTgt>
                                        </p:tgtEl>
                                        <p:attrNameLst>
                                          <p:attrName>style.visibility</p:attrName>
                                        </p:attrNameLst>
                                      </p:cBhvr>
                                      <p:to>
                                        <p:strVal val="visible"/>
                                      </p:to>
                                    </p:set>
                                    <p:animEffect transition="in" filter="box(in)">
                                      <p:cBhvr>
                                        <p:cTn id="42" dur="500"/>
                                        <p:tgtEl>
                                          <p:spTgt spid="70659">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70659">
                                            <p:txEl>
                                              <p:pRg st="8" end="8"/>
                                            </p:txEl>
                                          </p:spTgt>
                                        </p:tgtEl>
                                        <p:attrNameLst>
                                          <p:attrName>style.visibility</p:attrName>
                                        </p:attrNameLst>
                                      </p:cBhvr>
                                      <p:to>
                                        <p:strVal val="visible"/>
                                      </p:to>
                                    </p:set>
                                    <p:animEffect transition="in" filter="box(in)">
                                      <p:cBhvr>
                                        <p:cTn id="47" dur="500"/>
                                        <p:tgtEl>
                                          <p:spTgt spid="70659">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70659">
                                            <p:txEl>
                                              <p:pRg st="9" end="9"/>
                                            </p:txEl>
                                          </p:spTgt>
                                        </p:tgtEl>
                                        <p:attrNameLst>
                                          <p:attrName>style.visibility</p:attrName>
                                        </p:attrNameLst>
                                      </p:cBhvr>
                                      <p:to>
                                        <p:strVal val="visible"/>
                                      </p:to>
                                    </p:set>
                                    <p:animEffect transition="in" filter="box(in)">
                                      <p:cBhvr>
                                        <p:cTn id="52" dur="500"/>
                                        <p:tgtEl>
                                          <p:spTgt spid="7065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3324DE34-54BC-4ECD-B386-A2610DB46EF6}" type="slidenum">
              <a:rPr lang="ar-SA" sz="1400" smtClean="0">
                <a:latin typeface="Arial" charset="0"/>
                <a:cs typeface="Arial" charset="0"/>
              </a:rPr>
              <a:pPr eaLnBrk="1" hangingPunct="1"/>
              <a:t>65</a:t>
            </a:fld>
            <a:endParaRPr lang="en-US" sz="1400" smtClean="0">
              <a:latin typeface="Arial" charset="0"/>
              <a:cs typeface="Arial" charset="0"/>
            </a:endParaRPr>
          </a:p>
        </p:txBody>
      </p:sp>
      <p:sp>
        <p:nvSpPr>
          <p:cNvPr id="71683" name="Rectangle 2"/>
          <p:cNvSpPr>
            <a:spLocks noGrp="1" noChangeArrowheads="1"/>
          </p:cNvSpPr>
          <p:nvPr>
            <p:ph type="title"/>
          </p:nvPr>
        </p:nvSpPr>
        <p:spPr>
          <a:xfrm>
            <a:off x="457200" y="549275"/>
            <a:ext cx="8229600" cy="503238"/>
          </a:xfrm>
        </p:spPr>
        <p:txBody>
          <a:bodyPr/>
          <a:lstStyle/>
          <a:p>
            <a:pPr eaLnBrk="1" hangingPunct="1"/>
            <a:r>
              <a:rPr lang="en-US" sz="2400" b="1" smtClean="0">
                <a:solidFill>
                  <a:srgbClr val="800000"/>
                </a:solidFill>
                <a:cs typeface="Times New Roman" pitchFamily="18" charset="0"/>
              </a:rPr>
              <a:t>Solubility in Presence of a Common Ion</a:t>
            </a:r>
          </a:p>
        </p:txBody>
      </p:sp>
      <p:sp>
        <p:nvSpPr>
          <p:cNvPr id="71684" name="Rectangle 3"/>
          <p:cNvSpPr>
            <a:spLocks noGrp="1" noChangeArrowheads="1"/>
          </p:cNvSpPr>
          <p:nvPr>
            <p:ph type="body" idx="1"/>
          </p:nvPr>
        </p:nvSpPr>
        <p:spPr>
          <a:xfrm>
            <a:off x="457200" y="1125538"/>
            <a:ext cx="8229600" cy="5000625"/>
          </a:xfrm>
        </p:spPr>
        <p:txBody>
          <a:bodyPr/>
          <a:lstStyle/>
          <a:p>
            <a:pPr eaLnBrk="1" hangingPunct="1">
              <a:buFont typeface="Wingdings" pitchFamily="2" charset="2"/>
              <a:buChar char="§"/>
            </a:pPr>
            <a:r>
              <a:rPr lang="en-US" sz="2400" b="1" smtClean="0">
                <a:solidFill>
                  <a:srgbClr val="0000FF"/>
                </a:solidFill>
                <a:cs typeface="Times New Roman" pitchFamily="18" charset="0"/>
              </a:rPr>
              <a:t>10 mL of 0.2 M AgNO</a:t>
            </a:r>
            <a:r>
              <a:rPr lang="en-US" sz="2400" b="1" baseline="-30000" smtClean="0">
                <a:solidFill>
                  <a:srgbClr val="0000FF"/>
                </a:solidFill>
                <a:cs typeface="Times New Roman" pitchFamily="18" charset="0"/>
              </a:rPr>
              <a:t>3</a:t>
            </a:r>
            <a:r>
              <a:rPr lang="en-US" sz="2400" b="1" smtClean="0">
                <a:solidFill>
                  <a:srgbClr val="0000FF"/>
                </a:solidFill>
                <a:cs typeface="Times New Roman" pitchFamily="18" charset="0"/>
              </a:rPr>
              <a:t> is added to 10 mL of 0.1 M NaCl. Find the concentration of all ions in solution and the solubility of AgCl formed.</a:t>
            </a:r>
          </a:p>
          <a:p>
            <a:pPr eaLnBrk="1" hangingPunct="1">
              <a:buFont typeface="Wingdings" pitchFamily="2" charset="2"/>
              <a:buChar char="§"/>
            </a:pPr>
            <a:endParaRPr lang="en-US" sz="1000" b="1" smtClean="0">
              <a:solidFill>
                <a:srgbClr val="000000"/>
              </a:solidFill>
              <a:cs typeface="Times New Roman" pitchFamily="18" charset="0"/>
            </a:endParaRPr>
          </a:p>
          <a:p>
            <a:pPr eaLnBrk="1" hangingPunct="1">
              <a:buFont typeface="Wingdings" pitchFamily="2" charset="2"/>
              <a:buChar char="§"/>
            </a:pPr>
            <a:r>
              <a:rPr lang="en-US" sz="2400" b="1" smtClean="0">
                <a:solidFill>
                  <a:srgbClr val="000000"/>
                </a:solidFill>
                <a:cs typeface="Times New Roman" pitchFamily="18" charset="0"/>
              </a:rPr>
              <a:t>First we find mmol AgNO</a:t>
            </a:r>
            <a:r>
              <a:rPr lang="en-US" sz="2400" b="1" baseline="-30000" smtClean="0">
                <a:solidFill>
                  <a:srgbClr val="000000"/>
                </a:solidFill>
                <a:cs typeface="Times New Roman" pitchFamily="18" charset="0"/>
              </a:rPr>
              <a:t>3</a:t>
            </a:r>
            <a:r>
              <a:rPr lang="en-US" sz="2400" b="1" smtClean="0">
                <a:solidFill>
                  <a:srgbClr val="000000"/>
                </a:solidFill>
                <a:cs typeface="Times New Roman" pitchFamily="18" charset="0"/>
              </a:rPr>
              <a:t> and mmol NaCl then determine the excess concentration</a:t>
            </a:r>
          </a:p>
          <a:p>
            <a:pPr eaLnBrk="1" hangingPunct="1">
              <a:buFont typeface="Wingdings" pitchFamily="2" charset="2"/>
              <a:buChar char="§"/>
            </a:pPr>
            <a:r>
              <a:rPr lang="en-US" sz="1000" b="1" smtClean="0">
                <a:solidFill>
                  <a:srgbClr val="000000"/>
                </a:solidFill>
                <a:cs typeface="Times New Roman" pitchFamily="18" charset="0"/>
              </a:rPr>
              <a:t> </a:t>
            </a:r>
          </a:p>
          <a:p>
            <a:pPr eaLnBrk="1" hangingPunct="1">
              <a:buFont typeface="Wingdings" pitchFamily="2" charset="2"/>
              <a:buChar char="§"/>
            </a:pPr>
            <a:r>
              <a:rPr lang="en-US" sz="2000" b="1" smtClean="0">
                <a:solidFill>
                  <a:srgbClr val="000000"/>
                </a:solidFill>
                <a:cs typeface="Times New Roman" pitchFamily="18" charset="0"/>
              </a:rPr>
              <a:t>mmol Ag</a:t>
            </a:r>
            <a:r>
              <a:rPr lang="en-US" sz="2000" b="1" baseline="30000" smtClean="0">
                <a:solidFill>
                  <a:srgbClr val="000000"/>
                </a:solidFill>
                <a:cs typeface="Times New Roman" pitchFamily="18" charset="0"/>
              </a:rPr>
              <a:t>+</a:t>
            </a:r>
            <a:r>
              <a:rPr lang="en-US" sz="2000" b="1" smtClean="0">
                <a:solidFill>
                  <a:srgbClr val="000000"/>
                </a:solidFill>
                <a:cs typeface="Times New Roman" pitchFamily="18" charset="0"/>
              </a:rPr>
              <a:t> = 0.2 x 10 = 2</a:t>
            </a:r>
            <a:endParaRPr lang="fr-FR" sz="2000" b="1" smtClean="0">
              <a:solidFill>
                <a:srgbClr val="000000"/>
              </a:solidFill>
              <a:cs typeface="Times New Roman" pitchFamily="18" charset="0"/>
            </a:endParaRPr>
          </a:p>
          <a:p>
            <a:pPr eaLnBrk="1" hangingPunct="1">
              <a:buFont typeface="Wingdings" pitchFamily="2" charset="2"/>
              <a:buChar char="§"/>
            </a:pPr>
            <a:r>
              <a:rPr lang="fr-FR" sz="2000" b="1" smtClean="0">
                <a:solidFill>
                  <a:srgbClr val="000000"/>
                </a:solidFill>
                <a:cs typeface="Times New Roman" pitchFamily="18" charset="0"/>
              </a:rPr>
              <a:t>mmol Cl</a:t>
            </a:r>
            <a:r>
              <a:rPr lang="fr-FR" sz="2000" b="1" baseline="30000" smtClean="0">
                <a:solidFill>
                  <a:srgbClr val="000000"/>
                </a:solidFill>
                <a:cs typeface="Times New Roman" pitchFamily="18" charset="0"/>
              </a:rPr>
              <a:t>-</a:t>
            </a:r>
            <a:r>
              <a:rPr lang="fr-FR" sz="2000" b="1" smtClean="0">
                <a:solidFill>
                  <a:srgbClr val="000000"/>
                </a:solidFill>
                <a:cs typeface="Times New Roman" pitchFamily="18" charset="0"/>
              </a:rPr>
              <a:t> = 0.1 x 10 = 1</a:t>
            </a:r>
            <a:endParaRPr lang="en-US" sz="2000" b="1" smtClean="0">
              <a:solidFill>
                <a:srgbClr val="000000"/>
              </a:solidFill>
              <a:cs typeface="Times New Roman" pitchFamily="18" charset="0"/>
            </a:endParaRPr>
          </a:p>
          <a:p>
            <a:pPr eaLnBrk="1" hangingPunct="1">
              <a:buFont typeface="Wingdings" pitchFamily="2" charset="2"/>
              <a:buChar char="§"/>
            </a:pPr>
            <a:r>
              <a:rPr lang="en-US" sz="2000" b="1" smtClean="0">
                <a:solidFill>
                  <a:srgbClr val="000000"/>
                </a:solidFill>
                <a:cs typeface="Times New Roman" pitchFamily="18" charset="0"/>
              </a:rPr>
              <a:t>mmol AgCl formed = 1 mmol</a:t>
            </a:r>
          </a:p>
          <a:p>
            <a:pPr eaLnBrk="1" hangingPunct="1">
              <a:buFont typeface="Wingdings" pitchFamily="2" charset="2"/>
              <a:buChar char="§"/>
            </a:pPr>
            <a:r>
              <a:rPr lang="en-US" sz="2000" b="1" smtClean="0">
                <a:solidFill>
                  <a:srgbClr val="000000"/>
                </a:solidFill>
                <a:cs typeface="Times New Roman" pitchFamily="18" charset="0"/>
              </a:rPr>
              <a:t>mmol Ag</a:t>
            </a:r>
            <a:r>
              <a:rPr lang="en-US" sz="2000" b="1" baseline="30000" smtClean="0">
                <a:solidFill>
                  <a:srgbClr val="000000"/>
                </a:solidFill>
                <a:cs typeface="Times New Roman" pitchFamily="18" charset="0"/>
              </a:rPr>
              <a:t>+ </a:t>
            </a:r>
            <a:r>
              <a:rPr lang="en-US" sz="2000" b="1" smtClean="0">
                <a:solidFill>
                  <a:srgbClr val="000000"/>
                </a:solidFill>
                <a:cs typeface="Times New Roman" pitchFamily="18" charset="0"/>
              </a:rPr>
              <a:t>excess = 2 – 1 = 1</a:t>
            </a:r>
          </a:p>
          <a:p>
            <a:pPr eaLnBrk="1" hangingPunct="1">
              <a:buFont typeface="Wingdings" pitchFamily="2" charset="2"/>
              <a:buChar char="§"/>
            </a:pPr>
            <a:r>
              <a:rPr lang="en-US" sz="2000" b="1" smtClean="0">
                <a:solidFill>
                  <a:srgbClr val="000000"/>
                </a:solidFill>
                <a:cs typeface="Times New Roman" pitchFamily="18" charset="0"/>
              </a:rPr>
              <a:t>[Ag</a:t>
            </a:r>
            <a:r>
              <a:rPr lang="en-US" sz="2000" b="1" baseline="30000" smtClean="0">
                <a:solidFill>
                  <a:srgbClr val="000000"/>
                </a:solidFill>
                <a:cs typeface="Times New Roman" pitchFamily="18" charset="0"/>
              </a:rPr>
              <a:t>+</a:t>
            </a:r>
            <a:r>
              <a:rPr lang="en-US" sz="2000" b="1" smtClean="0">
                <a:solidFill>
                  <a:srgbClr val="000000"/>
                </a:solidFill>
                <a:cs typeface="Times New Roman" pitchFamily="18" charset="0"/>
              </a:rPr>
              <a:t>]</a:t>
            </a:r>
            <a:r>
              <a:rPr lang="en-US" sz="2000" b="1" baseline="-30000" smtClean="0">
                <a:solidFill>
                  <a:srgbClr val="000000"/>
                </a:solidFill>
                <a:cs typeface="Times New Roman" pitchFamily="18" charset="0"/>
              </a:rPr>
              <a:t>excess</a:t>
            </a:r>
            <a:r>
              <a:rPr lang="en-US" sz="2000" b="1" smtClean="0">
                <a:solidFill>
                  <a:srgbClr val="000000"/>
                </a:solidFill>
                <a:cs typeface="Times New Roman" pitchFamily="18" charset="0"/>
              </a:rPr>
              <a:t> = mmol/mL = 1/20 = 0.05 M</a:t>
            </a:r>
          </a:p>
        </p:txBody>
      </p:sp>
      <p:sp>
        <p:nvSpPr>
          <p:cNvPr id="69637"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E08A7E71-8A26-4F2E-AC81-8E949FD22E6F}" type="datetime1">
              <a:rPr lang="en-US" sz="1400" smtClean="0"/>
              <a:pPr eaLnBrk="1" hangingPunct="1"/>
              <a:t>5/6/2021</a:t>
            </a:fld>
            <a:endParaRPr lang="en-US" sz="1400" smtClean="0"/>
          </a:p>
        </p:txBody>
      </p:sp>
      <p:sp>
        <p:nvSpPr>
          <p:cNvPr id="69638"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0981780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1683"/>
                                        </p:tgtEl>
                                        <p:attrNameLst>
                                          <p:attrName>style.visibility</p:attrName>
                                        </p:attrNameLst>
                                      </p:cBhvr>
                                      <p:to>
                                        <p:strVal val="visible"/>
                                      </p:to>
                                    </p:set>
                                    <p:animEffect transition="in" filter="box(in)">
                                      <p:cBhvr>
                                        <p:cTn id="7" dur="500"/>
                                        <p:tgtEl>
                                          <p:spTgt spid="716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1684">
                                            <p:txEl>
                                              <p:pRg st="0" end="0"/>
                                            </p:txEl>
                                          </p:spTgt>
                                        </p:tgtEl>
                                        <p:attrNameLst>
                                          <p:attrName>style.visibility</p:attrName>
                                        </p:attrNameLst>
                                      </p:cBhvr>
                                      <p:to>
                                        <p:strVal val="visible"/>
                                      </p:to>
                                    </p:set>
                                    <p:animEffect transition="in" filter="box(in)">
                                      <p:cBhvr>
                                        <p:cTn id="12" dur="500"/>
                                        <p:tgtEl>
                                          <p:spTgt spid="7168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1684">
                                            <p:txEl>
                                              <p:pRg st="2" end="2"/>
                                            </p:txEl>
                                          </p:spTgt>
                                        </p:tgtEl>
                                        <p:attrNameLst>
                                          <p:attrName>style.visibility</p:attrName>
                                        </p:attrNameLst>
                                      </p:cBhvr>
                                      <p:to>
                                        <p:strVal val="visible"/>
                                      </p:to>
                                    </p:set>
                                    <p:animEffect transition="in" filter="box(in)">
                                      <p:cBhvr>
                                        <p:cTn id="17" dur="500"/>
                                        <p:tgtEl>
                                          <p:spTgt spid="7168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1684">
                                            <p:txEl>
                                              <p:pRg st="3" end="3"/>
                                            </p:txEl>
                                          </p:spTgt>
                                        </p:tgtEl>
                                        <p:attrNameLst>
                                          <p:attrName>style.visibility</p:attrName>
                                        </p:attrNameLst>
                                      </p:cBhvr>
                                      <p:to>
                                        <p:strVal val="visible"/>
                                      </p:to>
                                    </p:set>
                                    <p:animEffect transition="in" filter="box(in)">
                                      <p:cBhvr>
                                        <p:cTn id="22" dur="500"/>
                                        <p:tgtEl>
                                          <p:spTgt spid="7168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71684">
                                            <p:txEl>
                                              <p:pRg st="4" end="4"/>
                                            </p:txEl>
                                          </p:spTgt>
                                        </p:tgtEl>
                                        <p:attrNameLst>
                                          <p:attrName>style.visibility</p:attrName>
                                        </p:attrNameLst>
                                      </p:cBhvr>
                                      <p:to>
                                        <p:strVal val="visible"/>
                                      </p:to>
                                    </p:set>
                                    <p:animEffect transition="in" filter="box(in)">
                                      <p:cBhvr>
                                        <p:cTn id="27" dur="500"/>
                                        <p:tgtEl>
                                          <p:spTgt spid="71684">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71684">
                                            <p:txEl>
                                              <p:pRg st="5" end="5"/>
                                            </p:txEl>
                                          </p:spTgt>
                                        </p:tgtEl>
                                        <p:attrNameLst>
                                          <p:attrName>style.visibility</p:attrName>
                                        </p:attrNameLst>
                                      </p:cBhvr>
                                      <p:to>
                                        <p:strVal val="visible"/>
                                      </p:to>
                                    </p:set>
                                    <p:animEffect transition="in" filter="box(in)">
                                      <p:cBhvr>
                                        <p:cTn id="32" dur="500"/>
                                        <p:tgtEl>
                                          <p:spTgt spid="71684">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71684">
                                            <p:txEl>
                                              <p:pRg st="6" end="6"/>
                                            </p:txEl>
                                          </p:spTgt>
                                        </p:tgtEl>
                                        <p:attrNameLst>
                                          <p:attrName>style.visibility</p:attrName>
                                        </p:attrNameLst>
                                      </p:cBhvr>
                                      <p:to>
                                        <p:strVal val="visible"/>
                                      </p:to>
                                    </p:set>
                                    <p:animEffect transition="in" filter="box(in)">
                                      <p:cBhvr>
                                        <p:cTn id="37" dur="500"/>
                                        <p:tgtEl>
                                          <p:spTgt spid="71684">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71684">
                                            <p:txEl>
                                              <p:pRg st="7" end="7"/>
                                            </p:txEl>
                                          </p:spTgt>
                                        </p:tgtEl>
                                        <p:attrNameLst>
                                          <p:attrName>style.visibility</p:attrName>
                                        </p:attrNameLst>
                                      </p:cBhvr>
                                      <p:to>
                                        <p:strVal val="visible"/>
                                      </p:to>
                                    </p:set>
                                    <p:animEffect transition="in" filter="box(in)">
                                      <p:cBhvr>
                                        <p:cTn id="42" dur="500"/>
                                        <p:tgtEl>
                                          <p:spTgt spid="71684">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71684">
                                            <p:txEl>
                                              <p:pRg st="8" end="8"/>
                                            </p:txEl>
                                          </p:spTgt>
                                        </p:tgtEl>
                                        <p:attrNameLst>
                                          <p:attrName>style.visibility</p:attrName>
                                        </p:attrNameLst>
                                      </p:cBhvr>
                                      <p:to>
                                        <p:strVal val="visible"/>
                                      </p:to>
                                    </p:set>
                                    <p:animEffect transition="in" filter="box(in)">
                                      <p:cBhvr>
                                        <p:cTn id="47" dur="500"/>
                                        <p:tgtEl>
                                          <p:spTgt spid="7168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p:bldP spid="71684"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E95D6115-EC25-4054-ACB2-BD6CCB3A2F88}" type="slidenum">
              <a:rPr lang="ar-SA" sz="1400" smtClean="0">
                <a:latin typeface="Arial" charset="0"/>
                <a:cs typeface="Arial" charset="0"/>
              </a:rPr>
              <a:pPr eaLnBrk="1" hangingPunct="1"/>
              <a:t>66</a:t>
            </a:fld>
            <a:endParaRPr lang="en-US" sz="1400" smtClean="0">
              <a:latin typeface="Arial" charset="0"/>
              <a:cs typeface="Arial" charset="0"/>
            </a:endParaRPr>
          </a:p>
        </p:txBody>
      </p:sp>
      <p:sp>
        <p:nvSpPr>
          <p:cNvPr id="72707" name="Rectangle 2"/>
          <p:cNvSpPr>
            <a:spLocks noGrp="1" noChangeArrowheads="1"/>
          </p:cNvSpPr>
          <p:nvPr>
            <p:ph type="body" idx="1"/>
          </p:nvPr>
        </p:nvSpPr>
        <p:spPr>
          <a:xfrm>
            <a:off x="457200" y="620713"/>
            <a:ext cx="8229600" cy="5505450"/>
          </a:xfrm>
        </p:spPr>
        <p:txBody>
          <a:bodyPr/>
          <a:lstStyle/>
          <a:p>
            <a:pPr algn="justLow" eaLnBrk="1" hangingPunct="1">
              <a:buFont typeface="Wingdings" pitchFamily="2" charset="2"/>
              <a:buChar char="§"/>
            </a:pPr>
            <a:r>
              <a:rPr lang="en-US" sz="2400" b="1" smtClean="0">
                <a:solidFill>
                  <a:srgbClr val="000000"/>
                </a:solidFill>
                <a:cs typeface="Times New Roman" pitchFamily="18" charset="0"/>
              </a:rPr>
              <a:t>We can find the concentrations of NO</a:t>
            </a:r>
            <a:r>
              <a:rPr lang="en-US" sz="2400" b="1" baseline="-30000" smtClean="0">
                <a:solidFill>
                  <a:srgbClr val="000000"/>
                </a:solidFill>
                <a:cs typeface="Times New Roman" pitchFamily="18" charset="0"/>
              </a:rPr>
              <a:t>3</a:t>
            </a:r>
            <a:r>
              <a:rPr lang="en-US" sz="2400" b="1" baseline="30000" smtClean="0">
                <a:solidFill>
                  <a:srgbClr val="000000"/>
                </a:solidFill>
                <a:cs typeface="Times New Roman" pitchFamily="18" charset="0"/>
              </a:rPr>
              <a:t>- </a:t>
            </a:r>
            <a:r>
              <a:rPr lang="en-US" sz="2400" b="1" smtClean="0">
                <a:solidFill>
                  <a:srgbClr val="000000"/>
                </a:solidFill>
                <a:cs typeface="Times New Roman" pitchFamily="18" charset="0"/>
              </a:rPr>
              <a:t> = 0.2 x 10/20 = 0.1 M</a:t>
            </a:r>
          </a:p>
          <a:p>
            <a:pPr algn="justLow" eaLnBrk="1" hangingPunct="1">
              <a:buFont typeface="Wingdings" pitchFamily="2" charset="2"/>
              <a:buChar char="§"/>
            </a:pPr>
            <a:r>
              <a:rPr lang="en-US" sz="2400" b="1" smtClean="0">
                <a:solidFill>
                  <a:srgbClr val="000000"/>
                </a:solidFill>
                <a:cs typeface="Times New Roman" pitchFamily="18" charset="0"/>
              </a:rPr>
              <a:t>[Na</a:t>
            </a:r>
            <a:r>
              <a:rPr lang="en-US" sz="2400" b="1" baseline="30000" smtClean="0">
                <a:solidFill>
                  <a:srgbClr val="000000"/>
                </a:solidFill>
                <a:cs typeface="Times New Roman" pitchFamily="18" charset="0"/>
              </a:rPr>
              <a:t>+</a:t>
            </a:r>
            <a:r>
              <a:rPr lang="en-US" sz="2400" b="1" smtClean="0">
                <a:solidFill>
                  <a:srgbClr val="000000"/>
                </a:solidFill>
                <a:cs typeface="Times New Roman" pitchFamily="18" charset="0"/>
              </a:rPr>
              <a:t>] = 0.1*10/20 = 0.05 M</a:t>
            </a:r>
          </a:p>
          <a:p>
            <a:pPr algn="justLow" eaLnBrk="1" hangingPunct="1">
              <a:buFont typeface="Wingdings" pitchFamily="2" charset="2"/>
              <a:buChar char="§"/>
            </a:pPr>
            <a:r>
              <a:rPr lang="en-US" sz="2400" b="1" smtClean="0">
                <a:solidFill>
                  <a:srgbClr val="000000"/>
                </a:solidFill>
                <a:cs typeface="Times New Roman" pitchFamily="18" charset="0"/>
              </a:rPr>
              <a:t>Chloride ions react to form AgCl, therefore the only source for Cl</a:t>
            </a:r>
            <a:r>
              <a:rPr lang="en-US" sz="2400" b="1" baseline="30000" smtClean="0">
                <a:solidFill>
                  <a:srgbClr val="000000"/>
                </a:solidFill>
                <a:cs typeface="Times New Roman" pitchFamily="18" charset="0"/>
              </a:rPr>
              <a:t>-</a:t>
            </a:r>
            <a:r>
              <a:rPr lang="en-US" sz="2400" b="1" smtClean="0">
                <a:solidFill>
                  <a:srgbClr val="000000"/>
                </a:solidFill>
                <a:cs typeface="Times New Roman" pitchFamily="18" charset="0"/>
              </a:rPr>
              <a:t> is the solubility of AgCl; but now in presence of  0.05 M excess Ag</a:t>
            </a:r>
            <a:r>
              <a:rPr lang="en-US" sz="2400" b="1" baseline="30000" smtClean="0">
                <a:solidFill>
                  <a:srgbClr val="000000"/>
                </a:solidFill>
                <a:cs typeface="Times New Roman" pitchFamily="18" charset="0"/>
              </a:rPr>
              <a:t>+</a:t>
            </a:r>
          </a:p>
        </p:txBody>
      </p:sp>
      <p:pic>
        <p:nvPicPr>
          <p:cNvPr id="7270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3500438"/>
            <a:ext cx="7496175" cy="201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1"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D91C2EE-6CFE-484F-8C25-6FAAAD55DDA8}" type="datetime1">
              <a:rPr lang="en-US" sz="1400" smtClean="0"/>
              <a:pPr eaLnBrk="1" hangingPunct="1"/>
              <a:t>5/6/2021</a:t>
            </a:fld>
            <a:endParaRPr lang="en-US" sz="1400" smtClean="0"/>
          </a:p>
        </p:txBody>
      </p:sp>
      <p:sp>
        <p:nvSpPr>
          <p:cNvPr id="70662"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8028145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2707">
                                            <p:txEl>
                                              <p:pRg st="0" end="0"/>
                                            </p:txEl>
                                          </p:spTgt>
                                        </p:tgtEl>
                                        <p:attrNameLst>
                                          <p:attrName>style.visibility</p:attrName>
                                        </p:attrNameLst>
                                      </p:cBhvr>
                                      <p:to>
                                        <p:strVal val="visible"/>
                                      </p:to>
                                    </p:set>
                                    <p:animEffect transition="in" filter="box(in)">
                                      <p:cBhvr>
                                        <p:cTn id="7" dur="500"/>
                                        <p:tgtEl>
                                          <p:spTgt spid="727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2707">
                                            <p:txEl>
                                              <p:pRg st="1" end="1"/>
                                            </p:txEl>
                                          </p:spTgt>
                                        </p:tgtEl>
                                        <p:attrNameLst>
                                          <p:attrName>style.visibility</p:attrName>
                                        </p:attrNameLst>
                                      </p:cBhvr>
                                      <p:to>
                                        <p:strVal val="visible"/>
                                      </p:to>
                                    </p:set>
                                    <p:animEffect transition="in" filter="box(in)">
                                      <p:cBhvr>
                                        <p:cTn id="12" dur="500"/>
                                        <p:tgtEl>
                                          <p:spTgt spid="727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2707">
                                            <p:txEl>
                                              <p:pRg st="2" end="2"/>
                                            </p:txEl>
                                          </p:spTgt>
                                        </p:tgtEl>
                                        <p:attrNameLst>
                                          <p:attrName>style.visibility</p:attrName>
                                        </p:attrNameLst>
                                      </p:cBhvr>
                                      <p:to>
                                        <p:strVal val="visible"/>
                                      </p:to>
                                    </p:set>
                                    <p:animEffect transition="in" filter="box(in)">
                                      <p:cBhvr>
                                        <p:cTn id="17" dur="500"/>
                                        <p:tgtEl>
                                          <p:spTgt spid="727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72708"/>
                                        </p:tgtEl>
                                        <p:attrNameLst>
                                          <p:attrName>style.visibility</p:attrName>
                                        </p:attrNameLst>
                                      </p:cBhvr>
                                      <p:to>
                                        <p:strVal val="visible"/>
                                      </p:to>
                                    </p:set>
                                    <p:animEffect transition="in" filter="box(in)">
                                      <p:cBhvr>
                                        <p:cTn id="22" dur="500"/>
                                        <p:tgtEl>
                                          <p:spTgt spid="72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E84F1E6A-77E0-4870-B9FC-9A25381BE985}" type="slidenum">
              <a:rPr lang="ar-SA" sz="1400" smtClean="0">
                <a:latin typeface="Arial" charset="0"/>
                <a:cs typeface="Arial" charset="0"/>
              </a:rPr>
              <a:pPr eaLnBrk="1" hangingPunct="1"/>
              <a:t>67</a:t>
            </a:fld>
            <a:endParaRPr lang="en-US" sz="1400" smtClean="0">
              <a:latin typeface="Arial" charset="0"/>
              <a:cs typeface="Arial" charset="0"/>
            </a:endParaRPr>
          </a:p>
        </p:txBody>
      </p:sp>
      <p:sp>
        <p:nvSpPr>
          <p:cNvPr id="73731" name="Rectangle 2"/>
          <p:cNvSpPr>
            <a:spLocks noGrp="1" noChangeArrowheads="1"/>
          </p:cNvSpPr>
          <p:nvPr>
            <p:ph type="body" idx="1"/>
          </p:nvPr>
        </p:nvSpPr>
        <p:spPr>
          <a:xfrm>
            <a:off x="457200" y="533400"/>
            <a:ext cx="8229600" cy="5576888"/>
          </a:xfrm>
        </p:spPr>
        <p:txBody>
          <a:bodyPr/>
          <a:lstStyle/>
          <a:p>
            <a:pPr algn="justLow" eaLnBrk="1" hangingPunct="1">
              <a:buFont typeface="Wingdings" pitchFamily="2" charset="2"/>
              <a:buChar char="§"/>
            </a:pPr>
            <a:r>
              <a:rPr lang="en-US" sz="2400" b="1" smtClean="0">
                <a:solidFill>
                  <a:srgbClr val="000000"/>
                </a:solidFill>
                <a:cs typeface="Times New Roman" pitchFamily="18" charset="0"/>
              </a:rPr>
              <a:t>K</a:t>
            </a:r>
            <a:r>
              <a:rPr lang="en-US" sz="2400" b="1" baseline="-30000" smtClean="0">
                <a:solidFill>
                  <a:srgbClr val="000000"/>
                </a:solidFill>
                <a:cs typeface="Times New Roman" pitchFamily="18" charset="0"/>
              </a:rPr>
              <a:t>sp </a:t>
            </a:r>
            <a:r>
              <a:rPr lang="en-US" sz="2400" b="1" smtClean="0">
                <a:solidFill>
                  <a:srgbClr val="000000"/>
                </a:solidFill>
                <a:cs typeface="Times New Roman" pitchFamily="18" charset="0"/>
              </a:rPr>
              <a:t>= [Ag</a:t>
            </a:r>
            <a:r>
              <a:rPr lang="en-US" sz="2400" b="1" baseline="30000" smtClean="0">
                <a:solidFill>
                  <a:srgbClr val="000000"/>
                </a:solidFill>
                <a:cs typeface="Times New Roman" pitchFamily="18" charset="0"/>
              </a:rPr>
              <a:t>+</a:t>
            </a:r>
            <a:r>
              <a:rPr lang="en-US" sz="2400" b="1" smtClean="0">
                <a:solidFill>
                  <a:srgbClr val="000000"/>
                </a:solidFill>
                <a:cs typeface="Times New Roman" pitchFamily="18" charset="0"/>
              </a:rPr>
              <a:t>][Cl</a:t>
            </a:r>
            <a:r>
              <a:rPr lang="en-US" sz="2400" b="1" baseline="30000" smtClean="0">
                <a:solidFill>
                  <a:srgbClr val="000000"/>
                </a:solidFill>
                <a:cs typeface="Times New Roman" pitchFamily="18" charset="0"/>
              </a:rPr>
              <a:t>-</a:t>
            </a:r>
            <a:r>
              <a:rPr lang="en-US" sz="2400" b="1" smtClean="0">
                <a:solidFill>
                  <a:srgbClr val="000000"/>
                </a:solidFill>
                <a:cs typeface="Times New Roman" pitchFamily="18" charset="0"/>
              </a:rPr>
              <a:t>]</a:t>
            </a:r>
          </a:p>
          <a:p>
            <a:pPr algn="justLow" eaLnBrk="1" hangingPunct="1">
              <a:buFont typeface="Wingdings" pitchFamily="2" charset="2"/>
              <a:buChar char="§"/>
            </a:pPr>
            <a:r>
              <a:rPr lang="en-US" sz="2400" b="1" smtClean="0">
                <a:solidFill>
                  <a:srgbClr val="000000"/>
                </a:solidFill>
                <a:cs typeface="Times New Roman" pitchFamily="18" charset="0"/>
              </a:rPr>
              <a:t>1.0x10</a:t>
            </a:r>
            <a:r>
              <a:rPr lang="en-US" sz="2400" b="1" baseline="30000" smtClean="0">
                <a:solidFill>
                  <a:srgbClr val="000000"/>
                </a:solidFill>
                <a:cs typeface="Times New Roman" pitchFamily="18" charset="0"/>
              </a:rPr>
              <a:t>-10</a:t>
            </a:r>
            <a:r>
              <a:rPr lang="en-US" sz="2400" b="1" smtClean="0">
                <a:solidFill>
                  <a:srgbClr val="000000"/>
                </a:solidFill>
                <a:cs typeface="Times New Roman" pitchFamily="18" charset="0"/>
              </a:rPr>
              <a:t> = (0.05 + s) (s)</a:t>
            </a:r>
          </a:p>
          <a:p>
            <a:pPr algn="justLow" eaLnBrk="1" hangingPunct="1">
              <a:buFont typeface="Wingdings" pitchFamily="2" charset="2"/>
              <a:buChar char="§"/>
            </a:pPr>
            <a:r>
              <a:rPr lang="en-US" sz="2400" b="1" smtClean="0">
                <a:solidFill>
                  <a:srgbClr val="000000"/>
                </a:solidFill>
                <a:cs typeface="Times New Roman" pitchFamily="18" charset="0"/>
              </a:rPr>
              <a:t>Since the solubility product is very small, we can assume 0.05&gt;&gt;s</a:t>
            </a:r>
          </a:p>
          <a:p>
            <a:pPr algn="justLow" eaLnBrk="1" hangingPunct="1">
              <a:buFont typeface="Wingdings" pitchFamily="2" charset="2"/>
              <a:buChar char="§"/>
            </a:pPr>
            <a:r>
              <a:rPr lang="en-US" sz="2400" b="1" smtClean="0">
                <a:solidFill>
                  <a:srgbClr val="000000"/>
                </a:solidFill>
                <a:cs typeface="Times New Roman" pitchFamily="18" charset="0"/>
              </a:rPr>
              <a:t>1.0x10</a:t>
            </a:r>
            <a:r>
              <a:rPr lang="en-US" sz="2400" b="1" baseline="30000" smtClean="0">
                <a:solidFill>
                  <a:srgbClr val="000000"/>
                </a:solidFill>
                <a:cs typeface="Times New Roman" pitchFamily="18" charset="0"/>
              </a:rPr>
              <a:t>-10</a:t>
            </a:r>
            <a:r>
              <a:rPr lang="en-US" sz="2400" b="1" smtClean="0">
                <a:solidFill>
                  <a:srgbClr val="000000"/>
                </a:solidFill>
                <a:cs typeface="Times New Roman" pitchFamily="18" charset="0"/>
              </a:rPr>
              <a:t> = 0.05 (s)</a:t>
            </a:r>
          </a:p>
          <a:p>
            <a:pPr algn="justLow" eaLnBrk="1" hangingPunct="1">
              <a:buFont typeface="Wingdings" pitchFamily="2" charset="2"/>
              <a:buChar char="§"/>
            </a:pPr>
            <a:r>
              <a:rPr lang="en-US" sz="2400" b="1" smtClean="0">
                <a:solidFill>
                  <a:srgbClr val="000000"/>
                </a:solidFill>
                <a:cs typeface="Times New Roman" pitchFamily="18" charset="0"/>
              </a:rPr>
              <a:t>s = 2.0x10</a:t>
            </a:r>
            <a:r>
              <a:rPr lang="en-US" sz="2400" b="1" baseline="30000" smtClean="0">
                <a:solidFill>
                  <a:srgbClr val="000000"/>
                </a:solidFill>
                <a:cs typeface="Times New Roman" pitchFamily="18" charset="0"/>
              </a:rPr>
              <a:t>-9</a:t>
            </a:r>
            <a:r>
              <a:rPr lang="en-US" sz="2400" b="1" smtClean="0">
                <a:solidFill>
                  <a:srgbClr val="000000"/>
                </a:solidFill>
                <a:cs typeface="Times New Roman" pitchFamily="18" charset="0"/>
              </a:rPr>
              <a:t> M</a:t>
            </a:r>
          </a:p>
          <a:p>
            <a:pPr algn="justLow" eaLnBrk="1" hangingPunct="1">
              <a:buFont typeface="Wingdings" pitchFamily="2" charset="2"/>
              <a:buChar char="§"/>
            </a:pPr>
            <a:r>
              <a:rPr lang="en-US" sz="2400" b="1" smtClean="0">
                <a:solidFill>
                  <a:srgbClr val="000000"/>
                </a:solidFill>
                <a:cs typeface="Times New Roman" pitchFamily="18" charset="0"/>
              </a:rPr>
              <a:t>Relative error = ( 2.0x10</a:t>
            </a:r>
            <a:r>
              <a:rPr lang="en-US" sz="2400" b="1" baseline="30000" smtClean="0">
                <a:solidFill>
                  <a:srgbClr val="000000"/>
                </a:solidFill>
                <a:cs typeface="Times New Roman" pitchFamily="18" charset="0"/>
              </a:rPr>
              <a:t>-9</a:t>
            </a:r>
            <a:r>
              <a:rPr lang="en-US" sz="2400" b="1" smtClean="0">
                <a:solidFill>
                  <a:srgbClr val="000000"/>
                </a:solidFill>
                <a:cs typeface="Times New Roman" pitchFamily="18" charset="0"/>
              </a:rPr>
              <a:t> / 0.05) x 100 = 4x10</a:t>
            </a:r>
            <a:r>
              <a:rPr lang="en-US" sz="2400" b="1" baseline="30000" smtClean="0">
                <a:solidFill>
                  <a:srgbClr val="000000"/>
                </a:solidFill>
                <a:cs typeface="Times New Roman" pitchFamily="18" charset="0"/>
              </a:rPr>
              <a:t>-6</a:t>
            </a:r>
            <a:r>
              <a:rPr lang="en-US" sz="2400" b="1" smtClean="0">
                <a:solidFill>
                  <a:srgbClr val="000000"/>
                </a:solidFill>
                <a:cs typeface="Times New Roman" pitchFamily="18" charset="0"/>
              </a:rPr>
              <a:t>% which is extremely small, therefore:</a:t>
            </a:r>
          </a:p>
          <a:p>
            <a:pPr algn="justLow" eaLnBrk="1" hangingPunct="1">
              <a:buFont typeface="Wingdings" pitchFamily="2" charset="2"/>
              <a:buChar char="§"/>
            </a:pPr>
            <a:r>
              <a:rPr lang="en-US" sz="2400" b="1" smtClean="0">
                <a:solidFill>
                  <a:srgbClr val="000000"/>
                </a:solidFill>
                <a:cs typeface="Times New Roman" pitchFamily="18" charset="0"/>
              </a:rPr>
              <a:t>[Cl</a:t>
            </a:r>
            <a:r>
              <a:rPr lang="en-US" sz="2400" b="1" baseline="30000" smtClean="0">
                <a:solidFill>
                  <a:srgbClr val="000000"/>
                </a:solidFill>
                <a:cs typeface="Times New Roman" pitchFamily="18" charset="0"/>
              </a:rPr>
              <a:t>-</a:t>
            </a:r>
            <a:r>
              <a:rPr lang="en-US" sz="2400" b="1" smtClean="0">
                <a:solidFill>
                  <a:srgbClr val="000000"/>
                </a:solidFill>
                <a:cs typeface="Times New Roman" pitchFamily="18" charset="0"/>
              </a:rPr>
              <a:t>] = 2.0x10</a:t>
            </a:r>
            <a:r>
              <a:rPr lang="en-US" sz="2400" b="1" baseline="30000" smtClean="0">
                <a:solidFill>
                  <a:srgbClr val="000000"/>
                </a:solidFill>
                <a:cs typeface="Times New Roman" pitchFamily="18" charset="0"/>
              </a:rPr>
              <a:t>-9</a:t>
            </a:r>
            <a:r>
              <a:rPr lang="en-US" sz="2400" b="1" smtClean="0">
                <a:solidFill>
                  <a:srgbClr val="000000"/>
                </a:solidFill>
                <a:cs typeface="Times New Roman" pitchFamily="18" charset="0"/>
              </a:rPr>
              <a:t> M</a:t>
            </a:r>
          </a:p>
          <a:p>
            <a:pPr algn="justLow" eaLnBrk="1" hangingPunct="1">
              <a:buFont typeface="Wingdings" pitchFamily="2" charset="2"/>
              <a:buChar char="§"/>
            </a:pPr>
            <a:r>
              <a:rPr lang="en-US" sz="2400" b="1" smtClean="0">
                <a:solidFill>
                  <a:srgbClr val="000000"/>
                </a:solidFill>
                <a:cs typeface="Times New Roman" pitchFamily="18" charset="0"/>
              </a:rPr>
              <a:t>[Ag</a:t>
            </a:r>
            <a:r>
              <a:rPr lang="en-US" sz="2400" b="1" baseline="30000" smtClean="0">
                <a:solidFill>
                  <a:srgbClr val="000000"/>
                </a:solidFill>
                <a:cs typeface="Times New Roman" pitchFamily="18" charset="0"/>
              </a:rPr>
              <a:t>+</a:t>
            </a:r>
            <a:r>
              <a:rPr lang="en-US" sz="2400" b="1" smtClean="0">
                <a:solidFill>
                  <a:srgbClr val="000000"/>
                </a:solidFill>
                <a:cs typeface="Times New Roman" pitchFamily="18" charset="0"/>
              </a:rPr>
              <a:t>] = 0.05 + 2.0x10</a:t>
            </a:r>
            <a:r>
              <a:rPr lang="en-US" sz="2400" b="1" baseline="30000" smtClean="0">
                <a:solidFill>
                  <a:srgbClr val="000000"/>
                </a:solidFill>
                <a:cs typeface="Times New Roman" pitchFamily="18" charset="0"/>
              </a:rPr>
              <a:t>-9</a:t>
            </a:r>
            <a:r>
              <a:rPr lang="en-US" sz="2400" b="1" smtClean="0">
                <a:solidFill>
                  <a:srgbClr val="000000"/>
                </a:solidFill>
                <a:cs typeface="Times New Roman" pitchFamily="18" charset="0"/>
              </a:rPr>
              <a:t> = 0.05 M</a:t>
            </a:r>
          </a:p>
          <a:p>
            <a:pPr algn="justLow" eaLnBrk="1" hangingPunct="1">
              <a:buFont typeface="Wingdings" pitchFamily="2" charset="2"/>
              <a:buChar char="§"/>
            </a:pPr>
            <a:r>
              <a:rPr lang="en-US" sz="2400" b="1" smtClean="0">
                <a:solidFill>
                  <a:srgbClr val="000000"/>
                </a:solidFill>
                <a:cs typeface="Times New Roman" pitchFamily="18" charset="0"/>
              </a:rPr>
              <a:t> </a:t>
            </a:r>
          </a:p>
          <a:p>
            <a:pPr algn="justLow" eaLnBrk="1" hangingPunct="1">
              <a:buFont typeface="Wingdings" pitchFamily="2" charset="2"/>
              <a:buChar char="§"/>
            </a:pPr>
            <a:r>
              <a:rPr lang="en-US" sz="2400" b="1" smtClean="0">
                <a:solidFill>
                  <a:srgbClr val="000000"/>
                </a:solidFill>
                <a:cs typeface="Times New Roman" pitchFamily="18" charset="0"/>
              </a:rPr>
              <a:t>Look at how the solubility is decreased in presence of the common ion.</a:t>
            </a:r>
          </a:p>
        </p:txBody>
      </p:sp>
      <p:sp>
        <p:nvSpPr>
          <p:cNvPr id="71684"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0DAAF1E-76B7-4F49-833D-9AA75A17AC74}" type="datetime1">
              <a:rPr lang="en-US" sz="1400" smtClean="0"/>
              <a:pPr eaLnBrk="1" hangingPunct="1"/>
              <a:t>5/6/2021</a:t>
            </a:fld>
            <a:endParaRPr lang="en-US" sz="1400" smtClean="0"/>
          </a:p>
        </p:txBody>
      </p:sp>
      <p:sp>
        <p:nvSpPr>
          <p:cNvPr id="71685"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0920468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Effect transition="in" filter="box(in)">
                                      <p:cBhvr>
                                        <p:cTn id="7" dur="500"/>
                                        <p:tgtEl>
                                          <p:spTgt spid="737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3731">
                                            <p:txEl>
                                              <p:pRg st="1" end="1"/>
                                            </p:txEl>
                                          </p:spTgt>
                                        </p:tgtEl>
                                        <p:attrNameLst>
                                          <p:attrName>style.visibility</p:attrName>
                                        </p:attrNameLst>
                                      </p:cBhvr>
                                      <p:to>
                                        <p:strVal val="visible"/>
                                      </p:to>
                                    </p:set>
                                    <p:animEffect transition="in" filter="box(in)">
                                      <p:cBhvr>
                                        <p:cTn id="12" dur="500"/>
                                        <p:tgtEl>
                                          <p:spTgt spid="737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3731">
                                            <p:txEl>
                                              <p:pRg st="2" end="2"/>
                                            </p:txEl>
                                          </p:spTgt>
                                        </p:tgtEl>
                                        <p:attrNameLst>
                                          <p:attrName>style.visibility</p:attrName>
                                        </p:attrNameLst>
                                      </p:cBhvr>
                                      <p:to>
                                        <p:strVal val="visible"/>
                                      </p:to>
                                    </p:set>
                                    <p:animEffect transition="in" filter="box(in)">
                                      <p:cBhvr>
                                        <p:cTn id="17" dur="500"/>
                                        <p:tgtEl>
                                          <p:spTgt spid="7373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3731">
                                            <p:txEl>
                                              <p:pRg st="3" end="3"/>
                                            </p:txEl>
                                          </p:spTgt>
                                        </p:tgtEl>
                                        <p:attrNameLst>
                                          <p:attrName>style.visibility</p:attrName>
                                        </p:attrNameLst>
                                      </p:cBhvr>
                                      <p:to>
                                        <p:strVal val="visible"/>
                                      </p:to>
                                    </p:set>
                                    <p:animEffect transition="in" filter="box(in)">
                                      <p:cBhvr>
                                        <p:cTn id="22" dur="500"/>
                                        <p:tgtEl>
                                          <p:spTgt spid="7373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73731">
                                            <p:txEl>
                                              <p:pRg st="4" end="4"/>
                                            </p:txEl>
                                          </p:spTgt>
                                        </p:tgtEl>
                                        <p:attrNameLst>
                                          <p:attrName>style.visibility</p:attrName>
                                        </p:attrNameLst>
                                      </p:cBhvr>
                                      <p:to>
                                        <p:strVal val="visible"/>
                                      </p:to>
                                    </p:set>
                                    <p:animEffect transition="in" filter="box(in)">
                                      <p:cBhvr>
                                        <p:cTn id="27" dur="500"/>
                                        <p:tgtEl>
                                          <p:spTgt spid="7373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73731">
                                            <p:txEl>
                                              <p:pRg st="5" end="5"/>
                                            </p:txEl>
                                          </p:spTgt>
                                        </p:tgtEl>
                                        <p:attrNameLst>
                                          <p:attrName>style.visibility</p:attrName>
                                        </p:attrNameLst>
                                      </p:cBhvr>
                                      <p:to>
                                        <p:strVal val="visible"/>
                                      </p:to>
                                    </p:set>
                                    <p:animEffect transition="in" filter="box(in)">
                                      <p:cBhvr>
                                        <p:cTn id="32" dur="500"/>
                                        <p:tgtEl>
                                          <p:spTgt spid="7373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73731">
                                            <p:txEl>
                                              <p:pRg st="6" end="6"/>
                                            </p:txEl>
                                          </p:spTgt>
                                        </p:tgtEl>
                                        <p:attrNameLst>
                                          <p:attrName>style.visibility</p:attrName>
                                        </p:attrNameLst>
                                      </p:cBhvr>
                                      <p:to>
                                        <p:strVal val="visible"/>
                                      </p:to>
                                    </p:set>
                                    <p:animEffect transition="in" filter="box(in)">
                                      <p:cBhvr>
                                        <p:cTn id="37" dur="500"/>
                                        <p:tgtEl>
                                          <p:spTgt spid="7373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73731">
                                            <p:txEl>
                                              <p:pRg st="7" end="7"/>
                                            </p:txEl>
                                          </p:spTgt>
                                        </p:tgtEl>
                                        <p:attrNameLst>
                                          <p:attrName>style.visibility</p:attrName>
                                        </p:attrNameLst>
                                      </p:cBhvr>
                                      <p:to>
                                        <p:strVal val="visible"/>
                                      </p:to>
                                    </p:set>
                                    <p:animEffect transition="in" filter="box(in)">
                                      <p:cBhvr>
                                        <p:cTn id="42" dur="500"/>
                                        <p:tgtEl>
                                          <p:spTgt spid="7373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73731">
                                            <p:txEl>
                                              <p:pRg st="8" end="8"/>
                                            </p:txEl>
                                          </p:spTgt>
                                        </p:tgtEl>
                                        <p:attrNameLst>
                                          <p:attrName>style.visibility</p:attrName>
                                        </p:attrNameLst>
                                      </p:cBhvr>
                                      <p:to>
                                        <p:strVal val="visible"/>
                                      </p:to>
                                    </p:set>
                                    <p:animEffect transition="in" filter="box(in)">
                                      <p:cBhvr>
                                        <p:cTn id="47" dur="500"/>
                                        <p:tgtEl>
                                          <p:spTgt spid="73731">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73731">
                                            <p:txEl>
                                              <p:pRg st="9" end="9"/>
                                            </p:txEl>
                                          </p:spTgt>
                                        </p:tgtEl>
                                        <p:attrNameLst>
                                          <p:attrName>style.visibility</p:attrName>
                                        </p:attrNameLst>
                                      </p:cBhvr>
                                      <p:to>
                                        <p:strVal val="visible"/>
                                      </p:to>
                                    </p:set>
                                    <p:animEffect transition="in" filter="box(in)">
                                      <p:cBhvr>
                                        <p:cTn id="52" dur="500"/>
                                        <p:tgtEl>
                                          <p:spTgt spid="7373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929F61E-2CDB-41DD-82E5-53EC444417EC}" type="slidenum">
              <a:rPr lang="ar-SA" sz="1400" smtClean="0">
                <a:latin typeface="Arial" charset="0"/>
                <a:cs typeface="Arial" charset="0"/>
              </a:rPr>
              <a:pPr eaLnBrk="1" hangingPunct="1"/>
              <a:t>68</a:t>
            </a:fld>
            <a:endParaRPr lang="en-US" sz="1400" smtClean="0">
              <a:latin typeface="Arial" charset="0"/>
              <a:cs typeface="Arial" charset="0"/>
            </a:endParaRPr>
          </a:p>
        </p:txBody>
      </p:sp>
      <p:sp>
        <p:nvSpPr>
          <p:cNvPr id="74755" name="Rectangle 2"/>
          <p:cNvSpPr>
            <a:spLocks noGrp="1" noChangeArrowheads="1"/>
          </p:cNvSpPr>
          <p:nvPr>
            <p:ph type="body" idx="1"/>
          </p:nvPr>
        </p:nvSpPr>
        <p:spPr>
          <a:xfrm>
            <a:off x="457200" y="476250"/>
            <a:ext cx="8229600" cy="5649913"/>
          </a:xfrm>
        </p:spPr>
        <p:txBody>
          <a:bodyPr/>
          <a:lstStyle/>
          <a:p>
            <a:pPr algn="justLow" eaLnBrk="1" hangingPunct="1">
              <a:buFont typeface="Wingdings" pitchFamily="2" charset="2"/>
              <a:buChar char="§"/>
            </a:pPr>
            <a:r>
              <a:rPr lang="en-US" sz="2400" b="1" smtClean="0">
                <a:solidFill>
                  <a:srgbClr val="0000FF"/>
                </a:solidFill>
                <a:cs typeface="Times New Roman" pitchFamily="18" charset="0"/>
              </a:rPr>
              <a:t>25 mL of 0.100 M AgNO</a:t>
            </a:r>
            <a:r>
              <a:rPr lang="en-US" sz="2400" b="1" baseline="-30000" smtClean="0">
                <a:solidFill>
                  <a:srgbClr val="0000FF"/>
                </a:solidFill>
                <a:cs typeface="Times New Roman" pitchFamily="18" charset="0"/>
              </a:rPr>
              <a:t>3</a:t>
            </a:r>
            <a:r>
              <a:rPr lang="en-US" sz="2400" b="1" smtClean="0">
                <a:solidFill>
                  <a:srgbClr val="0000FF"/>
                </a:solidFill>
                <a:cs typeface="Times New Roman" pitchFamily="18" charset="0"/>
              </a:rPr>
              <a:t> are mixed with 35 mL of 0.050 M K</a:t>
            </a:r>
            <a:r>
              <a:rPr lang="en-US" sz="2400" b="1" baseline="-30000" smtClean="0">
                <a:solidFill>
                  <a:srgbClr val="0000FF"/>
                </a:solidFill>
                <a:cs typeface="Times New Roman" pitchFamily="18" charset="0"/>
              </a:rPr>
              <a:t>2</a:t>
            </a:r>
            <a:r>
              <a:rPr lang="en-US" sz="2400" b="1" smtClean="0">
                <a:solidFill>
                  <a:srgbClr val="0000FF"/>
                </a:solidFill>
                <a:cs typeface="Times New Roman" pitchFamily="18" charset="0"/>
              </a:rPr>
              <a:t>CrO</a:t>
            </a:r>
            <a:r>
              <a:rPr lang="en-US" sz="2400" b="1" baseline="-30000" smtClean="0">
                <a:solidFill>
                  <a:srgbClr val="0000FF"/>
                </a:solidFill>
                <a:cs typeface="Times New Roman" pitchFamily="18" charset="0"/>
              </a:rPr>
              <a:t>4</a:t>
            </a:r>
            <a:r>
              <a:rPr lang="en-US" sz="2400" b="1" smtClean="0">
                <a:solidFill>
                  <a:srgbClr val="0000FF"/>
                </a:solidFill>
                <a:cs typeface="Times New Roman" pitchFamily="18" charset="0"/>
              </a:rPr>
              <a:t>. Find the concentration of each ion in solution at equilibrium if k</a:t>
            </a:r>
            <a:r>
              <a:rPr lang="en-US" sz="2400" b="1" baseline="-30000" smtClean="0">
                <a:solidFill>
                  <a:srgbClr val="0000FF"/>
                </a:solidFill>
                <a:cs typeface="Times New Roman" pitchFamily="18" charset="0"/>
              </a:rPr>
              <a:t>sp</a:t>
            </a:r>
            <a:r>
              <a:rPr lang="en-US" sz="2400" b="1" smtClean="0">
                <a:solidFill>
                  <a:srgbClr val="0000FF"/>
                </a:solidFill>
                <a:cs typeface="Times New Roman" pitchFamily="18" charset="0"/>
              </a:rPr>
              <a:t> of Ag</a:t>
            </a:r>
            <a:r>
              <a:rPr lang="en-US" sz="2400" b="1" baseline="-30000" smtClean="0">
                <a:solidFill>
                  <a:srgbClr val="0000FF"/>
                </a:solidFill>
                <a:cs typeface="Times New Roman" pitchFamily="18" charset="0"/>
              </a:rPr>
              <a:t>2</a:t>
            </a:r>
            <a:r>
              <a:rPr lang="en-US" sz="2400" b="1" smtClean="0">
                <a:solidFill>
                  <a:srgbClr val="0000FF"/>
                </a:solidFill>
                <a:cs typeface="Times New Roman" pitchFamily="18" charset="0"/>
              </a:rPr>
              <a:t>CrO</a:t>
            </a:r>
            <a:r>
              <a:rPr lang="en-US" sz="2400" b="1" baseline="-30000" smtClean="0">
                <a:solidFill>
                  <a:srgbClr val="0000FF"/>
                </a:solidFill>
                <a:cs typeface="Times New Roman" pitchFamily="18" charset="0"/>
              </a:rPr>
              <a:t>4</a:t>
            </a:r>
            <a:r>
              <a:rPr lang="en-US" sz="2400" b="1" smtClean="0">
                <a:solidFill>
                  <a:srgbClr val="0000FF"/>
                </a:solidFill>
                <a:cs typeface="Times New Roman" pitchFamily="18" charset="0"/>
              </a:rPr>
              <a:t> = 1.1x10</a:t>
            </a:r>
            <a:r>
              <a:rPr lang="en-US" sz="2400" b="1" baseline="30000" smtClean="0">
                <a:solidFill>
                  <a:srgbClr val="0000FF"/>
                </a:solidFill>
                <a:cs typeface="Times New Roman" pitchFamily="18" charset="0"/>
              </a:rPr>
              <a:t>-12</a:t>
            </a:r>
            <a:r>
              <a:rPr lang="en-US" sz="2400" b="1" smtClean="0">
                <a:solidFill>
                  <a:srgbClr val="0000FF"/>
                </a:solidFill>
                <a:cs typeface="Times New Roman" pitchFamily="18" charset="0"/>
              </a:rPr>
              <a:t>.</a:t>
            </a:r>
          </a:p>
          <a:p>
            <a:pPr algn="justLow" eaLnBrk="1" hangingPunct="1">
              <a:buFont typeface="Wingdings" pitchFamily="2" charset="2"/>
              <a:buChar char="§"/>
            </a:pPr>
            <a:r>
              <a:rPr lang="en-US" sz="1000" b="1" smtClean="0">
                <a:solidFill>
                  <a:srgbClr val="000000"/>
                </a:solidFill>
                <a:cs typeface="Times New Roman" pitchFamily="18" charset="0"/>
              </a:rPr>
              <a:t> </a:t>
            </a:r>
          </a:p>
          <a:p>
            <a:pPr algn="justLow" eaLnBrk="1" hangingPunct="1">
              <a:buFont typeface="Wingdings" pitchFamily="2" charset="2"/>
              <a:buChar char="§"/>
            </a:pPr>
            <a:r>
              <a:rPr lang="en-US" sz="2400" b="1" smtClean="0">
                <a:solidFill>
                  <a:srgbClr val="000000"/>
                </a:solidFill>
                <a:cs typeface="Times New Roman" pitchFamily="18" charset="0"/>
              </a:rPr>
              <a:t>Solution</a:t>
            </a:r>
          </a:p>
          <a:p>
            <a:pPr algn="justLow" eaLnBrk="1" hangingPunct="1">
              <a:buFont typeface="Wingdings" pitchFamily="2" charset="2"/>
              <a:buChar char="§"/>
            </a:pPr>
            <a:r>
              <a:rPr lang="en-US" sz="1000" b="1" smtClean="0">
                <a:solidFill>
                  <a:srgbClr val="000000"/>
                </a:solidFill>
                <a:cs typeface="Times New Roman" pitchFamily="18" charset="0"/>
              </a:rPr>
              <a:t> </a:t>
            </a:r>
          </a:p>
          <a:p>
            <a:pPr algn="justLow" eaLnBrk="1" hangingPunct="1">
              <a:buFont typeface="Wingdings" pitchFamily="2" charset="2"/>
              <a:buChar char="§"/>
            </a:pPr>
            <a:r>
              <a:rPr lang="en-US" sz="2400" b="1" smtClean="0">
                <a:solidFill>
                  <a:srgbClr val="000000"/>
                </a:solidFill>
                <a:cs typeface="Times New Roman" pitchFamily="18" charset="0"/>
              </a:rPr>
              <a:t>2 Ag</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 + CrO</a:t>
            </a:r>
            <a:r>
              <a:rPr lang="en-US" sz="2400" b="1" baseline="-30000" smtClean="0">
                <a:solidFill>
                  <a:srgbClr val="000000"/>
                </a:solidFill>
                <a:cs typeface="Times New Roman" pitchFamily="18" charset="0"/>
              </a:rPr>
              <a:t>4</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 </a:t>
            </a:r>
            <a:r>
              <a:rPr lang="en-US" sz="2400" b="1" smtClean="0">
                <a:solidFill>
                  <a:srgbClr val="000000"/>
                </a:solidFill>
                <a:latin typeface="Wingdings 3" pitchFamily="18" charset="2"/>
                <a:cs typeface="Times New Roman" pitchFamily="18" charset="0"/>
              </a:rPr>
              <a:t>g</a:t>
            </a:r>
            <a:r>
              <a:rPr lang="en-US" sz="2400" b="1" smtClean="0">
                <a:solidFill>
                  <a:srgbClr val="000000"/>
                </a:solidFill>
                <a:cs typeface="Times New Roman" pitchFamily="18" charset="0"/>
              </a:rPr>
              <a:t> Ag</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CrO</a:t>
            </a:r>
            <a:r>
              <a:rPr lang="en-US" sz="2400" b="1" baseline="-30000" smtClean="0">
                <a:solidFill>
                  <a:srgbClr val="000000"/>
                </a:solidFill>
                <a:cs typeface="Times New Roman" pitchFamily="18" charset="0"/>
              </a:rPr>
              <a:t>4(s)</a:t>
            </a:r>
            <a:endParaRPr lang="en-US" sz="2400" b="1" smtClean="0">
              <a:solidFill>
                <a:srgbClr val="000000"/>
              </a:solidFill>
              <a:cs typeface="Times New Roman" pitchFamily="18" charset="0"/>
            </a:endParaRPr>
          </a:p>
          <a:p>
            <a:pPr algn="justLow" eaLnBrk="1" hangingPunct="1">
              <a:buFont typeface="Wingdings" pitchFamily="2" charset="2"/>
              <a:buChar char="§"/>
            </a:pPr>
            <a:r>
              <a:rPr lang="en-US" sz="900" b="1" smtClean="0">
                <a:solidFill>
                  <a:srgbClr val="000000"/>
                </a:solidFill>
                <a:cs typeface="Times New Roman" pitchFamily="18" charset="0"/>
              </a:rPr>
              <a:t> </a:t>
            </a:r>
          </a:p>
          <a:p>
            <a:pPr algn="justLow" eaLnBrk="1" hangingPunct="1">
              <a:buFont typeface="Wingdings" pitchFamily="2" charset="2"/>
              <a:buChar char="§"/>
            </a:pPr>
            <a:r>
              <a:rPr lang="en-US" sz="2400" b="1" smtClean="0">
                <a:solidFill>
                  <a:srgbClr val="000000"/>
                </a:solidFill>
                <a:cs typeface="Times New Roman" pitchFamily="18" charset="0"/>
              </a:rPr>
              <a:t>mmol Ag</a:t>
            </a:r>
            <a:r>
              <a:rPr lang="en-US" sz="2400" b="1" baseline="30000" smtClean="0">
                <a:solidFill>
                  <a:srgbClr val="000000"/>
                </a:solidFill>
                <a:cs typeface="Times New Roman" pitchFamily="18" charset="0"/>
              </a:rPr>
              <a:t>+</a:t>
            </a:r>
            <a:r>
              <a:rPr lang="en-US" sz="2400" b="1" smtClean="0">
                <a:solidFill>
                  <a:srgbClr val="000000"/>
                </a:solidFill>
                <a:cs typeface="Times New Roman" pitchFamily="18" charset="0"/>
              </a:rPr>
              <a:t> = 0.100 x 25 = 2.5</a:t>
            </a:r>
          </a:p>
          <a:p>
            <a:pPr algn="justLow" eaLnBrk="1" hangingPunct="1">
              <a:buFont typeface="Wingdings" pitchFamily="2" charset="2"/>
              <a:buChar char="§"/>
            </a:pPr>
            <a:r>
              <a:rPr lang="en-US" sz="2400" b="1" smtClean="0">
                <a:solidFill>
                  <a:srgbClr val="000000"/>
                </a:solidFill>
                <a:cs typeface="Times New Roman" pitchFamily="18" charset="0"/>
              </a:rPr>
              <a:t>mmol CrO</a:t>
            </a:r>
            <a:r>
              <a:rPr lang="en-US" sz="2400" b="1" baseline="-30000" smtClean="0">
                <a:solidFill>
                  <a:srgbClr val="000000"/>
                </a:solidFill>
                <a:cs typeface="Times New Roman" pitchFamily="18" charset="0"/>
              </a:rPr>
              <a:t>4</a:t>
            </a:r>
            <a:r>
              <a:rPr lang="en-US" sz="2400" b="1" baseline="30000" smtClean="0">
                <a:solidFill>
                  <a:srgbClr val="000000"/>
                </a:solidFill>
                <a:cs typeface="Times New Roman" pitchFamily="18" charset="0"/>
              </a:rPr>
              <a:t>2-</a:t>
            </a:r>
            <a:r>
              <a:rPr lang="en-US" sz="2400" b="1" smtClean="0">
                <a:solidFill>
                  <a:srgbClr val="000000"/>
                </a:solidFill>
                <a:cs typeface="Times New Roman" pitchFamily="18" charset="0"/>
              </a:rPr>
              <a:t> = 0.050 x 35 = 1.75</a:t>
            </a:r>
          </a:p>
          <a:p>
            <a:pPr algn="justLow" eaLnBrk="1" hangingPunct="1">
              <a:buFont typeface="Wingdings" pitchFamily="2" charset="2"/>
              <a:buChar char="§"/>
            </a:pPr>
            <a:r>
              <a:rPr lang="en-US" sz="2400" b="1" smtClean="0">
                <a:solidFill>
                  <a:srgbClr val="000000"/>
                </a:solidFill>
                <a:cs typeface="Times New Roman" pitchFamily="18" charset="0"/>
              </a:rPr>
              <a:t>From the stoichiometry we know that two moles of silver react with one mole of chromate, and chromate will be  in excess, therefore:</a:t>
            </a:r>
          </a:p>
        </p:txBody>
      </p:sp>
      <p:sp>
        <p:nvSpPr>
          <p:cNvPr id="72708"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8D94EE39-E55E-47E3-9FB1-613DADF284D7}" type="datetime1">
              <a:rPr lang="en-US" sz="1400" smtClean="0"/>
              <a:pPr eaLnBrk="1" hangingPunct="1"/>
              <a:t>5/6/2021</a:t>
            </a:fld>
            <a:endParaRPr lang="en-US" sz="1400" smtClean="0"/>
          </a:p>
        </p:txBody>
      </p:sp>
      <p:sp>
        <p:nvSpPr>
          <p:cNvPr id="72709"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1673211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Effect transition="in" filter="box(in)">
                                      <p:cBhvr>
                                        <p:cTn id="7" dur="500"/>
                                        <p:tgtEl>
                                          <p:spTgt spid="747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4755">
                                            <p:txEl>
                                              <p:pRg st="1" end="1"/>
                                            </p:txEl>
                                          </p:spTgt>
                                        </p:tgtEl>
                                        <p:attrNameLst>
                                          <p:attrName>style.visibility</p:attrName>
                                        </p:attrNameLst>
                                      </p:cBhvr>
                                      <p:to>
                                        <p:strVal val="visible"/>
                                      </p:to>
                                    </p:set>
                                    <p:animEffect transition="in" filter="box(in)">
                                      <p:cBhvr>
                                        <p:cTn id="12" dur="500"/>
                                        <p:tgtEl>
                                          <p:spTgt spid="747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4755">
                                            <p:txEl>
                                              <p:pRg st="2" end="2"/>
                                            </p:txEl>
                                          </p:spTgt>
                                        </p:tgtEl>
                                        <p:attrNameLst>
                                          <p:attrName>style.visibility</p:attrName>
                                        </p:attrNameLst>
                                      </p:cBhvr>
                                      <p:to>
                                        <p:strVal val="visible"/>
                                      </p:to>
                                    </p:set>
                                    <p:animEffect transition="in" filter="box(in)">
                                      <p:cBhvr>
                                        <p:cTn id="17" dur="500"/>
                                        <p:tgtEl>
                                          <p:spTgt spid="747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4755">
                                            <p:txEl>
                                              <p:pRg st="3" end="3"/>
                                            </p:txEl>
                                          </p:spTgt>
                                        </p:tgtEl>
                                        <p:attrNameLst>
                                          <p:attrName>style.visibility</p:attrName>
                                        </p:attrNameLst>
                                      </p:cBhvr>
                                      <p:to>
                                        <p:strVal val="visible"/>
                                      </p:to>
                                    </p:set>
                                    <p:animEffect transition="in" filter="box(in)">
                                      <p:cBhvr>
                                        <p:cTn id="22" dur="500"/>
                                        <p:tgtEl>
                                          <p:spTgt spid="7475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74755">
                                            <p:txEl>
                                              <p:pRg st="4" end="4"/>
                                            </p:txEl>
                                          </p:spTgt>
                                        </p:tgtEl>
                                        <p:attrNameLst>
                                          <p:attrName>style.visibility</p:attrName>
                                        </p:attrNameLst>
                                      </p:cBhvr>
                                      <p:to>
                                        <p:strVal val="visible"/>
                                      </p:to>
                                    </p:set>
                                    <p:animEffect transition="in" filter="box(in)">
                                      <p:cBhvr>
                                        <p:cTn id="27" dur="500"/>
                                        <p:tgtEl>
                                          <p:spTgt spid="7475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74755">
                                            <p:txEl>
                                              <p:pRg st="5" end="5"/>
                                            </p:txEl>
                                          </p:spTgt>
                                        </p:tgtEl>
                                        <p:attrNameLst>
                                          <p:attrName>style.visibility</p:attrName>
                                        </p:attrNameLst>
                                      </p:cBhvr>
                                      <p:to>
                                        <p:strVal val="visible"/>
                                      </p:to>
                                    </p:set>
                                    <p:animEffect transition="in" filter="box(in)">
                                      <p:cBhvr>
                                        <p:cTn id="32" dur="500"/>
                                        <p:tgtEl>
                                          <p:spTgt spid="7475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74755">
                                            <p:txEl>
                                              <p:pRg st="6" end="6"/>
                                            </p:txEl>
                                          </p:spTgt>
                                        </p:tgtEl>
                                        <p:attrNameLst>
                                          <p:attrName>style.visibility</p:attrName>
                                        </p:attrNameLst>
                                      </p:cBhvr>
                                      <p:to>
                                        <p:strVal val="visible"/>
                                      </p:to>
                                    </p:set>
                                    <p:animEffect transition="in" filter="box(in)">
                                      <p:cBhvr>
                                        <p:cTn id="37" dur="500"/>
                                        <p:tgtEl>
                                          <p:spTgt spid="7475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74755">
                                            <p:txEl>
                                              <p:pRg st="7" end="7"/>
                                            </p:txEl>
                                          </p:spTgt>
                                        </p:tgtEl>
                                        <p:attrNameLst>
                                          <p:attrName>style.visibility</p:attrName>
                                        </p:attrNameLst>
                                      </p:cBhvr>
                                      <p:to>
                                        <p:strVal val="visible"/>
                                      </p:to>
                                    </p:set>
                                    <p:animEffect transition="in" filter="box(in)">
                                      <p:cBhvr>
                                        <p:cTn id="42" dur="500"/>
                                        <p:tgtEl>
                                          <p:spTgt spid="74755">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74755">
                                            <p:txEl>
                                              <p:pRg st="8" end="8"/>
                                            </p:txEl>
                                          </p:spTgt>
                                        </p:tgtEl>
                                        <p:attrNameLst>
                                          <p:attrName>style.visibility</p:attrName>
                                        </p:attrNameLst>
                                      </p:cBhvr>
                                      <p:to>
                                        <p:strVal val="visible"/>
                                      </p:to>
                                    </p:set>
                                    <p:animEffect transition="in" filter="box(in)">
                                      <p:cBhvr>
                                        <p:cTn id="47" dur="500"/>
                                        <p:tgtEl>
                                          <p:spTgt spid="7475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1B98C678-E581-4FF1-9B14-0BA67D9F41F3}" type="slidenum">
              <a:rPr lang="ar-SA" sz="1400" smtClean="0">
                <a:latin typeface="Arial" charset="0"/>
                <a:cs typeface="Arial" charset="0"/>
              </a:rPr>
              <a:pPr eaLnBrk="1" hangingPunct="1"/>
              <a:t>69</a:t>
            </a:fld>
            <a:endParaRPr lang="en-US" sz="1400" smtClean="0">
              <a:latin typeface="Arial" charset="0"/>
              <a:cs typeface="Arial" charset="0"/>
            </a:endParaRPr>
          </a:p>
        </p:txBody>
      </p:sp>
      <p:sp>
        <p:nvSpPr>
          <p:cNvPr id="75779" name="Rectangle 2"/>
          <p:cNvSpPr>
            <a:spLocks noGrp="1" noChangeArrowheads="1"/>
          </p:cNvSpPr>
          <p:nvPr>
            <p:ph type="body" idx="1"/>
          </p:nvPr>
        </p:nvSpPr>
        <p:spPr>
          <a:xfrm>
            <a:off x="457200" y="692150"/>
            <a:ext cx="8229600" cy="5434013"/>
          </a:xfrm>
        </p:spPr>
        <p:txBody>
          <a:bodyPr/>
          <a:lstStyle/>
          <a:p>
            <a:pPr eaLnBrk="1" hangingPunct="1">
              <a:buFont typeface="Wingdings" pitchFamily="2" charset="2"/>
              <a:buChar char="§"/>
            </a:pPr>
            <a:r>
              <a:rPr lang="en-US" smtClean="0"/>
              <a:t>The concentration of chromate left in as follows:</a:t>
            </a:r>
          </a:p>
          <a:p>
            <a:pPr eaLnBrk="1" hangingPunct="1">
              <a:buFont typeface="Wingdings" pitchFamily="2" charset="2"/>
              <a:buChar char="§"/>
            </a:pPr>
            <a:endParaRPr lang="en-US" smtClean="0"/>
          </a:p>
          <a:p>
            <a:pPr eaLnBrk="1" hangingPunct="1">
              <a:buFont typeface="Wingdings" pitchFamily="2" charset="2"/>
              <a:buChar char="§"/>
            </a:pPr>
            <a:r>
              <a:rPr lang="en-US" smtClean="0"/>
              <a:t>mmol CrO</a:t>
            </a:r>
            <a:r>
              <a:rPr lang="en-US" baseline="-25000" smtClean="0"/>
              <a:t>4</a:t>
            </a:r>
            <a:r>
              <a:rPr lang="en-US" baseline="30000" smtClean="0"/>
              <a:t>2- </a:t>
            </a:r>
            <a:r>
              <a:rPr lang="en-US" smtClean="0"/>
              <a:t>left = initial mmol CrO</a:t>
            </a:r>
            <a:r>
              <a:rPr lang="en-US" baseline="-25000" smtClean="0"/>
              <a:t>4</a:t>
            </a:r>
            <a:r>
              <a:rPr lang="en-US" baseline="30000" smtClean="0"/>
              <a:t>2-</a:t>
            </a:r>
            <a:r>
              <a:rPr lang="en-US" smtClean="0"/>
              <a:t> - </a:t>
            </a:r>
            <a:r>
              <a:rPr lang="en-US" smtClean="0">
                <a:solidFill>
                  <a:srgbClr val="0000FF"/>
                </a:solidFill>
              </a:rPr>
              <a:t>mmol CrO</a:t>
            </a:r>
            <a:r>
              <a:rPr lang="en-US" baseline="-25000" smtClean="0">
                <a:solidFill>
                  <a:srgbClr val="0000FF"/>
                </a:solidFill>
              </a:rPr>
              <a:t>4</a:t>
            </a:r>
            <a:r>
              <a:rPr lang="en-US" baseline="30000" smtClean="0">
                <a:solidFill>
                  <a:srgbClr val="0000FF"/>
                </a:solidFill>
              </a:rPr>
              <a:t>2-</a:t>
            </a:r>
            <a:r>
              <a:rPr lang="en-US" smtClean="0">
                <a:solidFill>
                  <a:srgbClr val="0000FF"/>
                </a:solidFill>
              </a:rPr>
              <a:t> reacted</a:t>
            </a:r>
          </a:p>
          <a:p>
            <a:pPr eaLnBrk="1" hangingPunct="1">
              <a:buFont typeface="Wingdings" pitchFamily="2" charset="2"/>
              <a:buChar char="§"/>
            </a:pPr>
            <a:r>
              <a:rPr lang="en-US" smtClean="0"/>
              <a:t>mmol CrO</a:t>
            </a:r>
            <a:r>
              <a:rPr lang="en-US" baseline="-30000" smtClean="0"/>
              <a:t>4</a:t>
            </a:r>
            <a:r>
              <a:rPr lang="en-US" baseline="30000" smtClean="0"/>
              <a:t>2- </a:t>
            </a:r>
            <a:r>
              <a:rPr lang="en-US" smtClean="0"/>
              <a:t>left = initial mmol CrO</a:t>
            </a:r>
            <a:r>
              <a:rPr lang="en-US" baseline="-30000" smtClean="0"/>
              <a:t>4</a:t>
            </a:r>
            <a:r>
              <a:rPr lang="en-US" baseline="30000" smtClean="0"/>
              <a:t>2-</a:t>
            </a:r>
            <a:r>
              <a:rPr lang="en-US" smtClean="0"/>
              <a:t> - </a:t>
            </a:r>
            <a:r>
              <a:rPr lang="en-US" smtClean="0">
                <a:solidFill>
                  <a:srgbClr val="0000FF"/>
                </a:solidFill>
              </a:rPr>
              <a:t>½ mmol Ag</a:t>
            </a:r>
            <a:r>
              <a:rPr lang="en-US" baseline="30000" smtClean="0">
                <a:solidFill>
                  <a:srgbClr val="0000FF"/>
                </a:solidFill>
              </a:rPr>
              <a:t>+</a:t>
            </a:r>
            <a:endParaRPr lang="en-US" smtClean="0">
              <a:solidFill>
                <a:srgbClr val="0000FF"/>
              </a:solidFill>
            </a:endParaRPr>
          </a:p>
          <a:p>
            <a:pPr eaLnBrk="1" hangingPunct="1">
              <a:buFont typeface="Wingdings" pitchFamily="2" charset="2"/>
              <a:buChar char="§"/>
            </a:pPr>
            <a:r>
              <a:rPr lang="en-US" smtClean="0"/>
              <a:t>mmol CrO</a:t>
            </a:r>
            <a:r>
              <a:rPr lang="en-US" baseline="-30000" smtClean="0"/>
              <a:t>4</a:t>
            </a:r>
            <a:r>
              <a:rPr lang="en-US" baseline="30000" smtClean="0"/>
              <a:t>2- </a:t>
            </a:r>
            <a:r>
              <a:rPr lang="en-US" smtClean="0"/>
              <a:t>left = 0.05 x 35 – ½ x 0.1 x 25 = 0.5</a:t>
            </a:r>
          </a:p>
        </p:txBody>
      </p:sp>
      <p:sp>
        <p:nvSpPr>
          <p:cNvPr id="73732"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5A660369-0FE4-43E4-A5DE-ADAF7C22A697}" type="datetime1">
              <a:rPr lang="en-US" sz="1400" smtClean="0"/>
              <a:pPr eaLnBrk="1" hangingPunct="1"/>
              <a:t>5/6/2021</a:t>
            </a:fld>
            <a:endParaRPr lang="en-US" sz="1400" smtClean="0"/>
          </a:p>
        </p:txBody>
      </p:sp>
      <p:sp>
        <p:nvSpPr>
          <p:cNvPr id="73733"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0913975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Effect transition="in" filter="box(in)">
                                      <p:cBhvr>
                                        <p:cTn id="7" dur="500"/>
                                        <p:tgtEl>
                                          <p:spTgt spid="757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5779">
                                            <p:txEl>
                                              <p:pRg st="2" end="2"/>
                                            </p:txEl>
                                          </p:spTgt>
                                        </p:tgtEl>
                                        <p:attrNameLst>
                                          <p:attrName>style.visibility</p:attrName>
                                        </p:attrNameLst>
                                      </p:cBhvr>
                                      <p:to>
                                        <p:strVal val="visible"/>
                                      </p:to>
                                    </p:set>
                                    <p:animEffect transition="in" filter="box(in)">
                                      <p:cBhvr>
                                        <p:cTn id="12" dur="500"/>
                                        <p:tgtEl>
                                          <p:spTgt spid="7577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5779">
                                            <p:txEl>
                                              <p:pRg st="3" end="3"/>
                                            </p:txEl>
                                          </p:spTgt>
                                        </p:tgtEl>
                                        <p:attrNameLst>
                                          <p:attrName>style.visibility</p:attrName>
                                        </p:attrNameLst>
                                      </p:cBhvr>
                                      <p:to>
                                        <p:strVal val="visible"/>
                                      </p:to>
                                    </p:set>
                                    <p:animEffect transition="in" filter="box(in)">
                                      <p:cBhvr>
                                        <p:cTn id="17" dur="500"/>
                                        <p:tgtEl>
                                          <p:spTgt spid="7577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5779">
                                            <p:txEl>
                                              <p:pRg st="4" end="4"/>
                                            </p:txEl>
                                          </p:spTgt>
                                        </p:tgtEl>
                                        <p:attrNameLst>
                                          <p:attrName>style.visibility</p:attrName>
                                        </p:attrNameLst>
                                      </p:cBhvr>
                                      <p:to>
                                        <p:strVal val="visible"/>
                                      </p:to>
                                    </p:set>
                                    <p:animEffect transition="in" filter="box(in)">
                                      <p:cBhvr>
                                        <p:cTn id="22" dur="500"/>
                                        <p:tgtEl>
                                          <p:spTgt spid="757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F055A63-DDC0-4273-8088-A7FB137A6317}" type="slidenum">
              <a:rPr lang="ar-SA" sz="1400" smtClean="0">
                <a:latin typeface="Arial" charset="0"/>
                <a:cs typeface="Arial" charset="0"/>
              </a:rPr>
              <a:pPr eaLnBrk="1" hangingPunct="1"/>
              <a:t>70</a:t>
            </a:fld>
            <a:endParaRPr lang="en-US" sz="1400" smtClean="0">
              <a:latin typeface="Arial" charset="0"/>
              <a:cs typeface="Arial" charset="0"/>
            </a:endParaRPr>
          </a:p>
        </p:txBody>
      </p:sp>
      <p:sp>
        <p:nvSpPr>
          <p:cNvPr id="76803" name="Rectangle 2"/>
          <p:cNvSpPr>
            <a:spLocks noGrp="1" noChangeArrowheads="1"/>
          </p:cNvSpPr>
          <p:nvPr>
            <p:ph type="body" idx="1"/>
          </p:nvPr>
        </p:nvSpPr>
        <p:spPr>
          <a:xfrm>
            <a:off x="457200" y="549275"/>
            <a:ext cx="8229600" cy="5576888"/>
          </a:xfrm>
        </p:spPr>
        <p:txBody>
          <a:bodyPr/>
          <a:lstStyle/>
          <a:p>
            <a:pPr algn="justLow" eaLnBrk="1" hangingPunct="1">
              <a:buFont typeface="Wingdings" pitchFamily="2" charset="2"/>
              <a:buChar char="§"/>
            </a:pPr>
            <a:r>
              <a:rPr lang="en-US" sz="2400" b="1" smtClean="0">
                <a:cs typeface="Times New Roman" pitchFamily="18" charset="0"/>
              </a:rPr>
              <a:t>mmol CrO</a:t>
            </a:r>
            <a:r>
              <a:rPr lang="en-US" sz="2400" b="1" baseline="-30000" smtClean="0">
                <a:cs typeface="Times New Roman" pitchFamily="18" charset="0"/>
              </a:rPr>
              <a:t>4</a:t>
            </a:r>
            <a:r>
              <a:rPr lang="en-US" sz="2400" b="1" baseline="30000" smtClean="0">
                <a:cs typeface="Times New Roman" pitchFamily="18" charset="0"/>
              </a:rPr>
              <a:t>2-</a:t>
            </a:r>
            <a:r>
              <a:rPr lang="en-US" sz="2400" b="1" smtClean="0">
                <a:cs typeface="Times New Roman" pitchFamily="18" charset="0"/>
              </a:rPr>
              <a:t> excess = 1.75 – 1.25 = 0.50</a:t>
            </a:r>
          </a:p>
          <a:p>
            <a:pPr algn="justLow" eaLnBrk="1" hangingPunct="1">
              <a:buFont typeface="Wingdings" pitchFamily="2" charset="2"/>
              <a:buChar char="§"/>
            </a:pPr>
            <a:r>
              <a:rPr lang="en-US" sz="2400" b="1" smtClean="0">
                <a:cs typeface="Times New Roman" pitchFamily="18" charset="0"/>
              </a:rPr>
              <a:t>[CrO</a:t>
            </a:r>
            <a:r>
              <a:rPr lang="en-US" sz="2400" b="1" baseline="-30000" smtClean="0">
                <a:cs typeface="Times New Roman" pitchFamily="18" charset="0"/>
              </a:rPr>
              <a:t>4</a:t>
            </a:r>
            <a:r>
              <a:rPr lang="en-US" sz="2400" b="1" baseline="30000" smtClean="0">
                <a:cs typeface="Times New Roman" pitchFamily="18" charset="0"/>
              </a:rPr>
              <a:t>2-</a:t>
            </a:r>
            <a:r>
              <a:rPr lang="en-US" sz="2400" b="1" smtClean="0">
                <a:cs typeface="Times New Roman" pitchFamily="18" charset="0"/>
              </a:rPr>
              <a:t>] excess = mmol/mL = 0.5/60 = 0.0083 M</a:t>
            </a:r>
          </a:p>
          <a:p>
            <a:pPr algn="justLow" eaLnBrk="1" hangingPunct="1">
              <a:buFont typeface="Wingdings" pitchFamily="2" charset="2"/>
              <a:buChar char="§"/>
            </a:pPr>
            <a:r>
              <a:rPr lang="en-US" sz="2400" b="1" smtClean="0">
                <a:cs typeface="Times New Roman" pitchFamily="18" charset="0"/>
              </a:rPr>
              <a:t>[NO</a:t>
            </a:r>
            <a:r>
              <a:rPr lang="en-US" sz="2400" b="1" baseline="-30000" smtClean="0">
                <a:cs typeface="Times New Roman" pitchFamily="18" charset="0"/>
              </a:rPr>
              <a:t>3</a:t>
            </a:r>
            <a:r>
              <a:rPr lang="en-US" sz="2400" b="1" baseline="30000" smtClean="0">
                <a:cs typeface="Times New Roman" pitchFamily="18" charset="0"/>
              </a:rPr>
              <a:t>-</a:t>
            </a:r>
            <a:r>
              <a:rPr lang="en-US" sz="2400" b="1" smtClean="0">
                <a:cs typeface="Times New Roman" pitchFamily="18" charset="0"/>
              </a:rPr>
              <a:t>] = mmol/mL = 0.100 x 25/60 = 0.0417 M</a:t>
            </a:r>
          </a:p>
          <a:p>
            <a:pPr algn="justLow" eaLnBrk="1" hangingPunct="1">
              <a:buFont typeface="Wingdings" pitchFamily="2" charset="2"/>
              <a:buChar char="§"/>
            </a:pPr>
            <a:r>
              <a:rPr lang="en-US" sz="2400" b="1" smtClean="0">
                <a:cs typeface="Times New Roman" pitchFamily="18" charset="0"/>
              </a:rPr>
              <a:t>[K</a:t>
            </a:r>
            <a:r>
              <a:rPr lang="en-US" sz="2400" b="1" baseline="30000" smtClean="0">
                <a:cs typeface="Times New Roman" pitchFamily="18" charset="0"/>
              </a:rPr>
              <a:t>+</a:t>
            </a:r>
            <a:r>
              <a:rPr lang="en-US" sz="2400" b="1" smtClean="0">
                <a:cs typeface="Times New Roman" pitchFamily="18" charset="0"/>
              </a:rPr>
              <a:t>] = mmol/mL = 2 x 0.050 x 35/60 = 0.0583 M</a:t>
            </a:r>
          </a:p>
          <a:p>
            <a:pPr algn="justLow" eaLnBrk="1" hangingPunct="1">
              <a:buFont typeface="Wingdings" pitchFamily="2" charset="2"/>
              <a:buChar char="§"/>
            </a:pPr>
            <a:r>
              <a:rPr lang="en-US" sz="2400" b="1" smtClean="0">
                <a:cs typeface="Times New Roman" pitchFamily="18" charset="0"/>
              </a:rPr>
              <a:t>The silver was consumed in the reaction and the only way to calculate its concentration is through the solubility product:</a:t>
            </a:r>
          </a:p>
        </p:txBody>
      </p:sp>
      <p:pic>
        <p:nvPicPr>
          <p:cNvPr id="7680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3644900"/>
            <a:ext cx="7439025"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7"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14D49B2-B9A1-470B-BEAA-EE09ADF920C1}" type="datetime1">
              <a:rPr lang="en-US" sz="1400" smtClean="0"/>
              <a:pPr eaLnBrk="1" hangingPunct="1"/>
              <a:t>5/6/2021</a:t>
            </a:fld>
            <a:endParaRPr lang="en-US" sz="1400" smtClean="0"/>
          </a:p>
        </p:txBody>
      </p:sp>
      <p:sp>
        <p:nvSpPr>
          <p:cNvPr id="74758"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5599931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Effect transition="in" filter="box(in)">
                                      <p:cBhvr>
                                        <p:cTn id="7" dur="500"/>
                                        <p:tgtEl>
                                          <p:spTgt spid="768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6803">
                                            <p:txEl>
                                              <p:pRg st="1" end="1"/>
                                            </p:txEl>
                                          </p:spTgt>
                                        </p:tgtEl>
                                        <p:attrNameLst>
                                          <p:attrName>style.visibility</p:attrName>
                                        </p:attrNameLst>
                                      </p:cBhvr>
                                      <p:to>
                                        <p:strVal val="visible"/>
                                      </p:to>
                                    </p:set>
                                    <p:animEffect transition="in" filter="box(in)">
                                      <p:cBhvr>
                                        <p:cTn id="12" dur="500"/>
                                        <p:tgtEl>
                                          <p:spTgt spid="768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6803">
                                            <p:txEl>
                                              <p:pRg st="2" end="2"/>
                                            </p:txEl>
                                          </p:spTgt>
                                        </p:tgtEl>
                                        <p:attrNameLst>
                                          <p:attrName>style.visibility</p:attrName>
                                        </p:attrNameLst>
                                      </p:cBhvr>
                                      <p:to>
                                        <p:strVal val="visible"/>
                                      </p:to>
                                    </p:set>
                                    <p:animEffect transition="in" filter="box(in)">
                                      <p:cBhvr>
                                        <p:cTn id="17" dur="500"/>
                                        <p:tgtEl>
                                          <p:spTgt spid="7680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6803">
                                            <p:txEl>
                                              <p:pRg st="3" end="3"/>
                                            </p:txEl>
                                          </p:spTgt>
                                        </p:tgtEl>
                                        <p:attrNameLst>
                                          <p:attrName>style.visibility</p:attrName>
                                        </p:attrNameLst>
                                      </p:cBhvr>
                                      <p:to>
                                        <p:strVal val="visible"/>
                                      </p:to>
                                    </p:set>
                                    <p:animEffect transition="in" filter="box(in)">
                                      <p:cBhvr>
                                        <p:cTn id="22" dur="500"/>
                                        <p:tgtEl>
                                          <p:spTgt spid="7680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76803">
                                            <p:txEl>
                                              <p:pRg st="4" end="4"/>
                                            </p:txEl>
                                          </p:spTgt>
                                        </p:tgtEl>
                                        <p:attrNameLst>
                                          <p:attrName>style.visibility</p:attrName>
                                        </p:attrNameLst>
                                      </p:cBhvr>
                                      <p:to>
                                        <p:strVal val="visible"/>
                                      </p:to>
                                    </p:set>
                                    <p:animEffect transition="in" filter="box(in)">
                                      <p:cBhvr>
                                        <p:cTn id="27" dur="500"/>
                                        <p:tgtEl>
                                          <p:spTgt spid="7680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76804"/>
                                        </p:tgtEl>
                                        <p:attrNameLst>
                                          <p:attrName>style.visibility</p:attrName>
                                        </p:attrNameLst>
                                      </p:cBhvr>
                                      <p:to>
                                        <p:strVal val="visible"/>
                                      </p:to>
                                    </p:set>
                                    <p:animEffect transition="in" filter="box(in)">
                                      <p:cBhvr>
                                        <p:cTn id="32" dur="500"/>
                                        <p:tgtEl>
                                          <p:spTgt spid="76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97D2C4B-2E69-4D2A-82BA-EE6D2910C6B0}" type="slidenum">
              <a:rPr lang="ar-SA" sz="1400" smtClean="0">
                <a:latin typeface="Arial" charset="0"/>
                <a:cs typeface="Arial" charset="0"/>
              </a:rPr>
              <a:pPr eaLnBrk="1" hangingPunct="1"/>
              <a:t>71</a:t>
            </a:fld>
            <a:endParaRPr lang="en-US" sz="1400" smtClean="0">
              <a:latin typeface="Arial" charset="0"/>
              <a:cs typeface="Arial" charset="0"/>
            </a:endParaRPr>
          </a:p>
        </p:txBody>
      </p:sp>
      <p:sp>
        <p:nvSpPr>
          <p:cNvPr id="77827" name="Rectangle 2"/>
          <p:cNvSpPr>
            <a:spLocks noGrp="1" noChangeArrowheads="1"/>
          </p:cNvSpPr>
          <p:nvPr>
            <p:ph type="body" idx="1"/>
          </p:nvPr>
        </p:nvSpPr>
        <p:spPr>
          <a:xfrm>
            <a:off x="457200" y="692150"/>
            <a:ext cx="8229600" cy="5434013"/>
          </a:xfrm>
        </p:spPr>
        <p:txBody>
          <a:bodyPr/>
          <a:lstStyle/>
          <a:p>
            <a:pPr algn="justLow" eaLnBrk="1" hangingPunct="1">
              <a:buFont typeface="Wingdings" pitchFamily="2" charset="2"/>
              <a:buChar char="§"/>
            </a:pPr>
            <a:r>
              <a:rPr lang="en-US" sz="2600" b="1" smtClean="0">
                <a:solidFill>
                  <a:srgbClr val="000000"/>
                </a:solidFill>
                <a:cs typeface="Times New Roman" pitchFamily="18" charset="0"/>
              </a:rPr>
              <a:t>K</a:t>
            </a:r>
            <a:r>
              <a:rPr lang="en-US" sz="2600" b="1" baseline="-30000" smtClean="0">
                <a:solidFill>
                  <a:srgbClr val="000000"/>
                </a:solidFill>
                <a:cs typeface="Times New Roman" pitchFamily="18" charset="0"/>
              </a:rPr>
              <a:t>sp</a:t>
            </a:r>
            <a:r>
              <a:rPr lang="en-US" sz="2600" b="1" smtClean="0">
                <a:solidFill>
                  <a:srgbClr val="000000"/>
                </a:solidFill>
                <a:cs typeface="Times New Roman" pitchFamily="18" charset="0"/>
              </a:rPr>
              <a:t> = [Ag</a:t>
            </a:r>
            <a:r>
              <a:rPr lang="en-US" sz="2600" b="1" baseline="30000" smtClean="0">
                <a:solidFill>
                  <a:srgbClr val="000000"/>
                </a:solidFill>
                <a:cs typeface="Times New Roman" pitchFamily="18" charset="0"/>
              </a:rPr>
              <a:t>+</a:t>
            </a:r>
            <a:r>
              <a:rPr lang="en-US" sz="2600" b="1" smtClean="0">
                <a:solidFill>
                  <a:srgbClr val="000000"/>
                </a:solidFill>
                <a:cs typeface="Times New Roman" pitchFamily="18" charset="0"/>
              </a:rPr>
              <a:t>]</a:t>
            </a:r>
            <a:r>
              <a:rPr lang="en-US" sz="2600" b="1" baseline="30000" smtClean="0">
                <a:solidFill>
                  <a:srgbClr val="000000"/>
                </a:solidFill>
                <a:cs typeface="Times New Roman" pitchFamily="18" charset="0"/>
              </a:rPr>
              <a:t>2</a:t>
            </a:r>
            <a:r>
              <a:rPr lang="en-US" sz="2600" b="1" smtClean="0">
                <a:solidFill>
                  <a:srgbClr val="000000"/>
                </a:solidFill>
                <a:cs typeface="Times New Roman" pitchFamily="18" charset="0"/>
              </a:rPr>
              <a:t> [CrO</a:t>
            </a:r>
            <a:r>
              <a:rPr lang="en-US" sz="2600" b="1" baseline="-30000" smtClean="0">
                <a:solidFill>
                  <a:srgbClr val="000000"/>
                </a:solidFill>
                <a:cs typeface="Times New Roman" pitchFamily="18" charset="0"/>
              </a:rPr>
              <a:t>4</a:t>
            </a:r>
            <a:r>
              <a:rPr lang="en-US" sz="2600" b="1" baseline="30000" smtClean="0">
                <a:solidFill>
                  <a:srgbClr val="000000"/>
                </a:solidFill>
                <a:cs typeface="Times New Roman" pitchFamily="18" charset="0"/>
              </a:rPr>
              <a:t>2-</a:t>
            </a:r>
            <a:r>
              <a:rPr lang="en-US" sz="2600" b="1" smtClean="0">
                <a:solidFill>
                  <a:srgbClr val="000000"/>
                </a:solidFill>
                <a:cs typeface="Times New Roman" pitchFamily="18" charset="0"/>
              </a:rPr>
              <a:t>]</a:t>
            </a:r>
          </a:p>
          <a:p>
            <a:pPr algn="justLow" eaLnBrk="1" hangingPunct="1">
              <a:buFont typeface="Wingdings" pitchFamily="2" charset="2"/>
              <a:buChar char="§"/>
            </a:pPr>
            <a:r>
              <a:rPr lang="en-US" sz="2600" b="1" smtClean="0">
                <a:solidFill>
                  <a:srgbClr val="000000"/>
                </a:solidFill>
                <a:cs typeface="Times New Roman" pitchFamily="18" charset="0"/>
              </a:rPr>
              <a:t>1.1x10</a:t>
            </a:r>
            <a:r>
              <a:rPr lang="en-US" sz="2600" b="1" baseline="30000" smtClean="0">
                <a:solidFill>
                  <a:srgbClr val="000000"/>
                </a:solidFill>
                <a:cs typeface="Times New Roman" pitchFamily="18" charset="0"/>
              </a:rPr>
              <a:t>-12</a:t>
            </a:r>
            <a:r>
              <a:rPr lang="en-US" sz="2600" b="1" smtClean="0">
                <a:solidFill>
                  <a:srgbClr val="000000"/>
                </a:solidFill>
                <a:cs typeface="Times New Roman" pitchFamily="18" charset="0"/>
              </a:rPr>
              <a:t> = (2s)</a:t>
            </a:r>
            <a:r>
              <a:rPr lang="en-US" sz="2600" b="1" baseline="30000" smtClean="0">
                <a:solidFill>
                  <a:srgbClr val="000000"/>
                </a:solidFill>
                <a:cs typeface="Times New Roman" pitchFamily="18" charset="0"/>
              </a:rPr>
              <a:t>2</a:t>
            </a:r>
            <a:r>
              <a:rPr lang="en-US" sz="2600" b="1" smtClean="0">
                <a:solidFill>
                  <a:srgbClr val="000000"/>
                </a:solidFill>
                <a:cs typeface="Times New Roman" pitchFamily="18" charset="0"/>
              </a:rPr>
              <a:t> * (0.0083 + s)</a:t>
            </a:r>
          </a:p>
          <a:p>
            <a:pPr algn="justLow" eaLnBrk="1" hangingPunct="1">
              <a:buFont typeface="Wingdings" pitchFamily="2" charset="2"/>
              <a:buChar char="§"/>
            </a:pPr>
            <a:r>
              <a:rPr lang="en-US" sz="2600" b="1" smtClean="0">
                <a:solidFill>
                  <a:srgbClr val="000000"/>
                </a:solidFill>
                <a:cs typeface="Times New Roman" pitchFamily="18" charset="0"/>
              </a:rPr>
              <a:t>However, s is very small since the equilibrium constant is very small. Therefore, assume 0.0083&gt;&gt;s</a:t>
            </a:r>
          </a:p>
          <a:p>
            <a:pPr algn="justLow" eaLnBrk="1" hangingPunct="1">
              <a:buFont typeface="Wingdings" pitchFamily="2" charset="2"/>
              <a:buChar char="§"/>
            </a:pPr>
            <a:r>
              <a:rPr lang="en-US" sz="2600" b="1" smtClean="0">
                <a:solidFill>
                  <a:srgbClr val="000000"/>
                </a:solidFill>
                <a:cs typeface="Times New Roman" pitchFamily="18" charset="0"/>
              </a:rPr>
              <a:t>1.1x10</a:t>
            </a:r>
            <a:r>
              <a:rPr lang="en-US" sz="2600" b="1" baseline="30000" smtClean="0">
                <a:solidFill>
                  <a:srgbClr val="000000"/>
                </a:solidFill>
                <a:cs typeface="Times New Roman" pitchFamily="18" charset="0"/>
              </a:rPr>
              <a:t>-12</a:t>
            </a:r>
            <a:r>
              <a:rPr lang="en-US" sz="2600" b="1" smtClean="0">
                <a:solidFill>
                  <a:srgbClr val="000000"/>
                </a:solidFill>
                <a:cs typeface="Times New Roman" pitchFamily="18" charset="0"/>
              </a:rPr>
              <a:t> = (2s)</a:t>
            </a:r>
            <a:r>
              <a:rPr lang="en-US" sz="2600" b="1" baseline="30000" smtClean="0">
                <a:solidFill>
                  <a:srgbClr val="000000"/>
                </a:solidFill>
                <a:cs typeface="Times New Roman" pitchFamily="18" charset="0"/>
              </a:rPr>
              <a:t>2</a:t>
            </a:r>
            <a:r>
              <a:rPr lang="en-US" sz="2600" b="1" smtClean="0">
                <a:solidFill>
                  <a:srgbClr val="000000"/>
                </a:solidFill>
                <a:cs typeface="Times New Roman" pitchFamily="18" charset="0"/>
              </a:rPr>
              <a:t> x 0.0083</a:t>
            </a:r>
          </a:p>
          <a:p>
            <a:pPr algn="justLow" eaLnBrk="1" hangingPunct="1">
              <a:buFont typeface="Wingdings" pitchFamily="2" charset="2"/>
              <a:buChar char="§"/>
            </a:pPr>
            <a:r>
              <a:rPr lang="en-US" sz="2600" b="1" smtClean="0">
                <a:solidFill>
                  <a:srgbClr val="000000"/>
                </a:solidFill>
                <a:cs typeface="Times New Roman" pitchFamily="18" charset="0"/>
              </a:rPr>
              <a:t>s  = 5.7</a:t>
            </a:r>
            <a:r>
              <a:rPr lang="en-US" sz="2600" b="1" baseline="-30000" smtClean="0">
                <a:solidFill>
                  <a:srgbClr val="000000"/>
                </a:solidFill>
                <a:cs typeface="Times New Roman" pitchFamily="18" charset="0"/>
              </a:rPr>
              <a:t>6</a:t>
            </a:r>
            <a:r>
              <a:rPr lang="en-US" sz="2600" b="1" smtClean="0">
                <a:solidFill>
                  <a:srgbClr val="000000"/>
                </a:solidFill>
                <a:cs typeface="Times New Roman" pitchFamily="18" charset="0"/>
              </a:rPr>
              <a:t>x10</a:t>
            </a:r>
            <a:r>
              <a:rPr lang="en-US" sz="2600" b="1" baseline="30000" smtClean="0">
                <a:solidFill>
                  <a:srgbClr val="000000"/>
                </a:solidFill>
                <a:cs typeface="Times New Roman" pitchFamily="18" charset="0"/>
              </a:rPr>
              <a:t>-6</a:t>
            </a:r>
            <a:r>
              <a:rPr lang="en-US" sz="2600" b="1" smtClean="0">
                <a:solidFill>
                  <a:srgbClr val="000000"/>
                </a:solidFill>
                <a:cs typeface="Times New Roman" pitchFamily="18" charset="0"/>
              </a:rPr>
              <a:t> M</a:t>
            </a:r>
          </a:p>
          <a:p>
            <a:pPr algn="justLow" eaLnBrk="1" hangingPunct="1">
              <a:buFont typeface="Wingdings" pitchFamily="2" charset="2"/>
              <a:buChar char="§"/>
            </a:pPr>
            <a:endParaRPr lang="en-US" sz="2600" b="1" smtClean="0">
              <a:solidFill>
                <a:srgbClr val="000000"/>
              </a:solidFill>
              <a:cs typeface="Times New Roman" pitchFamily="18" charset="0"/>
            </a:endParaRPr>
          </a:p>
          <a:p>
            <a:pPr algn="justLow" eaLnBrk="1" hangingPunct="1">
              <a:buFont typeface="Wingdings" pitchFamily="2" charset="2"/>
              <a:buChar char="§"/>
            </a:pPr>
            <a:r>
              <a:rPr lang="en-US" sz="2600" b="1" smtClean="0">
                <a:solidFill>
                  <a:srgbClr val="000000"/>
                </a:solidFill>
                <a:cs typeface="Times New Roman" pitchFamily="18" charset="0"/>
              </a:rPr>
              <a:t>Relative error = (5.7</a:t>
            </a:r>
            <a:r>
              <a:rPr lang="en-US" sz="2600" b="1" baseline="-30000" smtClean="0">
                <a:solidFill>
                  <a:srgbClr val="000000"/>
                </a:solidFill>
                <a:cs typeface="Times New Roman" pitchFamily="18" charset="0"/>
              </a:rPr>
              <a:t>6</a:t>
            </a:r>
            <a:r>
              <a:rPr lang="en-US" sz="2600" b="1" smtClean="0">
                <a:solidFill>
                  <a:srgbClr val="000000"/>
                </a:solidFill>
                <a:cs typeface="Times New Roman" pitchFamily="18" charset="0"/>
              </a:rPr>
              <a:t>x10</a:t>
            </a:r>
            <a:r>
              <a:rPr lang="en-US" sz="2600" b="1" baseline="30000" smtClean="0">
                <a:solidFill>
                  <a:srgbClr val="000000"/>
                </a:solidFill>
                <a:cs typeface="Times New Roman" pitchFamily="18" charset="0"/>
              </a:rPr>
              <a:t>-6</a:t>
            </a:r>
            <a:r>
              <a:rPr lang="en-US" sz="2600" b="1" smtClean="0">
                <a:solidFill>
                  <a:srgbClr val="000000"/>
                </a:solidFill>
                <a:cs typeface="Times New Roman" pitchFamily="18" charset="0"/>
              </a:rPr>
              <a:t>/0.0083) x 100 = 0.07%</a:t>
            </a:r>
          </a:p>
          <a:p>
            <a:pPr algn="justLow" eaLnBrk="1" hangingPunct="1">
              <a:buFont typeface="Wingdings" pitchFamily="2" charset="2"/>
              <a:buChar char="§"/>
            </a:pPr>
            <a:r>
              <a:rPr lang="en-US" sz="2600" b="1" smtClean="0">
                <a:solidFill>
                  <a:srgbClr val="000000"/>
                </a:solidFill>
                <a:cs typeface="Times New Roman" pitchFamily="18" charset="0"/>
              </a:rPr>
              <a:t>[Ag</a:t>
            </a:r>
            <a:r>
              <a:rPr lang="en-US" sz="2600" b="1" baseline="30000" smtClean="0">
                <a:solidFill>
                  <a:srgbClr val="000000"/>
                </a:solidFill>
                <a:cs typeface="Times New Roman" pitchFamily="18" charset="0"/>
              </a:rPr>
              <a:t>+</a:t>
            </a:r>
            <a:r>
              <a:rPr lang="en-US" sz="2600" b="1" smtClean="0">
                <a:solidFill>
                  <a:srgbClr val="000000"/>
                </a:solidFill>
                <a:cs typeface="Times New Roman" pitchFamily="18" charset="0"/>
              </a:rPr>
              <a:t>] = 2s = 2x5.7</a:t>
            </a:r>
            <a:r>
              <a:rPr lang="en-US" sz="2600" b="1" baseline="-30000" smtClean="0">
                <a:solidFill>
                  <a:srgbClr val="000000"/>
                </a:solidFill>
                <a:cs typeface="Times New Roman" pitchFamily="18" charset="0"/>
              </a:rPr>
              <a:t>6</a:t>
            </a:r>
            <a:r>
              <a:rPr lang="en-US" sz="2600" b="1" smtClean="0">
                <a:solidFill>
                  <a:srgbClr val="000000"/>
                </a:solidFill>
                <a:cs typeface="Times New Roman" pitchFamily="18" charset="0"/>
              </a:rPr>
              <a:t>x10</a:t>
            </a:r>
            <a:r>
              <a:rPr lang="en-US" sz="2600" b="1" baseline="30000" smtClean="0">
                <a:solidFill>
                  <a:srgbClr val="000000"/>
                </a:solidFill>
                <a:cs typeface="Times New Roman" pitchFamily="18" charset="0"/>
              </a:rPr>
              <a:t>-6</a:t>
            </a:r>
            <a:r>
              <a:rPr lang="en-US" sz="2600" b="1" smtClean="0">
                <a:solidFill>
                  <a:srgbClr val="000000"/>
                </a:solidFill>
                <a:cs typeface="Times New Roman" pitchFamily="18" charset="0"/>
              </a:rPr>
              <a:t> = 1.1</a:t>
            </a:r>
            <a:r>
              <a:rPr lang="en-US" sz="2600" b="1" baseline="-30000" smtClean="0">
                <a:solidFill>
                  <a:srgbClr val="000000"/>
                </a:solidFill>
                <a:cs typeface="Times New Roman" pitchFamily="18" charset="0"/>
              </a:rPr>
              <a:t>5</a:t>
            </a:r>
            <a:r>
              <a:rPr lang="en-US" sz="2600" b="1" smtClean="0">
                <a:solidFill>
                  <a:srgbClr val="000000"/>
                </a:solidFill>
                <a:cs typeface="Times New Roman" pitchFamily="18" charset="0"/>
              </a:rPr>
              <a:t>x10</a:t>
            </a:r>
            <a:r>
              <a:rPr lang="en-US" sz="2600" b="1" baseline="30000" smtClean="0">
                <a:solidFill>
                  <a:srgbClr val="000000"/>
                </a:solidFill>
                <a:cs typeface="Times New Roman" pitchFamily="18" charset="0"/>
              </a:rPr>
              <a:t>-5</a:t>
            </a:r>
            <a:r>
              <a:rPr lang="en-US" sz="2600" b="1" smtClean="0">
                <a:solidFill>
                  <a:srgbClr val="000000"/>
                </a:solidFill>
                <a:cs typeface="Times New Roman" pitchFamily="18" charset="0"/>
              </a:rPr>
              <a:t> M</a:t>
            </a:r>
          </a:p>
          <a:p>
            <a:pPr algn="justLow" eaLnBrk="1" hangingPunct="1">
              <a:buFont typeface="Wingdings" pitchFamily="2" charset="2"/>
              <a:buChar char="§"/>
            </a:pPr>
            <a:r>
              <a:rPr lang="en-US" sz="2600" b="1" smtClean="0">
                <a:solidFill>
                  <a:srgbClr val="000000"/>
                </a:solidFill>
                <a:cs typeface="Times New Roman" pitchFamily="18" charset="0"/>
              </a:rPr>
              <a:t>[CrO</a:t>
            </a:r>
            <a:r>
              <a:rPr lang="en-US" sz="2600" b="1" baseline="-30000" smtClean="0">
                <a:solidFill>
                  <a:srgbClr val="000000"/>
                </a:solidFill>
                <a:cs typeface="Times New Roman" pitchFamily="18" charset="0"/>
              </a:rPr>
              <a:t>4</a:t>
            </a:r>
            <a:r>
              <a:rPr lang="en-US" sz="2600" b="1" baseline="30000" smtClean="0">
                <a:solidFill>
                  <a:srgbClr val="000000"/>
                </a:solidFill>
                <a:cs typeface="Times New Roman" pitchFamily="18" charset="0"/>
              </a:rPr>
              <a:t>2-</a:t>
            </a:r>
            <a:r>
              <a:rPr lang="en-US" sz="2600" b="1" smtClean="0">
                <a:solidFill>
                  <a:srgbClr val="000000"/>
                </a:solidFill>
                <a:cs typeface="Times New Roman" pitchFamily="18" charset="0"/>
              </a:rPr>
              <a:t>] = 0.0083 + s = 0.0083 + 5.7</a:t>
            </a:r>
            <a:r>
              <a:rPr lang="en-US" sz="2600" b="1" baseline="-30000" smtClean="0">
                <a:solidFill>
                  <a:srgbClr val="000000"/>
                </a:solidFill>
                <a:cs typeface="Times New Roman" pitchFamily="18" charset="0"/>
              </a:rPr>
              <a:t>6</a:t>
            </a:r>
            <a:r>
              <a:rPr lang="en-US" sz="2600" b="1" smtClean="0">
                <a:solidFill>
                  <a:srgbClr val="000000"/>
                </a:solidFill>
                <a:cs typeface="Times New Roman" pitchFamily="18" charset="0"/>
              </a:rPr>
              <a:t>x10</a:t>
            </a:r>
            <a:r>
              <a:rPr lang="en-US" sz="2600" b="1" baseline="30000" smtClean="0">
                <a:solidFill>
                  <a:srgbClr val="000000"/>
                </a:solidFill>
                <a:cs typeface="Times New Roman" pitchFamily="18" charset="0"/>
              </a:rPr>
              <a:t>-6</a:t>
            </a:r>
            <a:r>
              <a:rPr lang="en-US" sz="2600" b="1" smtClean="0">
                <a:solidFill>
                  <a:srgbClr val="000000"/>
                </a:solidFill>
                <a:cs typeface="Times New Roman" pitchFamily="18" charset="0"/>
              </a:rPr>
              <a:t> = 0.0083 M</a:t>
            </a:r>
          </a:p>
          <a:p>
            <a:pPr algn="justLow" eaLnBrk="1" hangingPunct="1">
              <a:buFont typeface="Wingdings" pitchFamily="2" charset="2"/>
              <a:buChar char="§"/>
            </a:pPr>
            <a:r>
              <a:rPr lang="en-US" sz="1200" smtClean="0">
                <a:solidFill>
                  <a:srgbClr val="000000"/>
                </a:solidFill>
                <a:cs typeface="Times New Roman" pitchFamily="18" charset="0"/>
              </a:rPr>
              <a:t> </a:t>
            </a:r>
          </a:p>
        </p:txBody>
      </p:sp>
      <p:sp>
        <p:nvSpPr>
          <p:cNvPr id="75780"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1944A0CC-EC3A-471D-ACC4-BBF1FDA8E6E1}" type="datetime1">
              <a:rPr lang="en-US" sz="1400" smtClean="0"/>
              <a:pPr eaLnBrk="1" hangingPunct="1"/>
              <a:t>5/6/2021</a:t>
            </a:fld>
            <a:endParaRPr lang="en-US" sz="1400" smtClean="0"/>
          </a:p>
        </p:txBody>
      </p:sp>
      <p:sp>
        <p:nvSpPr>
          <p:cNvPr id="75781"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978302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animEffect transition="in" filter="box(in)">
                                      <p:cBhvr>
                                        <p:cTn id="7" dur="500"/>
                                        <p:tgtEl>
                                          <p:spTgt spid="778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7827">
                                            <p:txEl>
                                              <p:pRg st="1" end="1"/>
                                            </p:txEl>
                                          </p:spTgt>
                                        </p:tgtEl>
                                        <p:attrNameLst>
                                          <p:attrName>style.visibility</p:attrName>
                                        </p:attrNameLst>
                                      </p:cBhvr>
                                      <p:to>
                                        <p:strVal val="visible"/>
                                      </p:to>
                                    </p:set>
                                    <p:animEffect transition="in" filter="box(in)">
                                      <p:cBhvr>
                                        <p:cTn id="12" dur="500"/>
                                        <p:tgtEl>
                                          <p:spTgt spid="778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7827">
                                            <p:txEl>
                                              <p:pRg st="2" end="2"/>
                                            </p:txEl>
                                          </p:spTgt>
                                        </p:tgtEl>
                                        <p:attrNameLst>
                                          <p:attrName>style.visibility</p:attrName>
                                        </p:attrNameLst>
                                      </p:cBhvr>
                                      <p:to>
                                        <p:strVal val="visible"/>
                                      </p:to>
                                    </p:set>
                                    <p:animEffect transition="in" filter="box(in)">
                                      <p:cBhvr>
                                        <p:cTn id="17" dur="500"/>
                                        <p:tgtEl>
                                          <p:spTgt spid="778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7827">
                                            <p:txEl>
                                              <p:pRg st="3" end="3"/>
                                            </p:txEl>
                                          </p:spTgt>
                                        </p:tgtEl>
                                        <p:attrNameLst>
                                          <p:attrName>style.visibility</p:attrName>
                                        </p:attrNameLst>
                                      </p:cBhvr>
                                      <p:to>
                                        <p:strVal val="visible"/>
                                      </p:to>
                                    </p:set>
                                    <p:animEffect transition="in" filter="box(in)">
                                      <p:cBhvr>
                                        <p:cTn id="22" dur="500"/>
                                        <p:tgtEl>
                                          <p:spTgt spid="7782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77827">
                                            <p:txEl>
                                              <p:pRg st="4" end="4"/>
                                            </p:txEl>
                                          </p:spTgt>
                                        </p:tgtEl>
                                        <p:attrNameLst>
                                          <p:attrName>style.visibility</p:attrName>
                                        </p:attrNameLst>
                                      </p:cBhvr>
                                      <p:to>
                                        <p:strVal val="visible"/>
                                      </p:to>
                                    </p:set>
                                    <p:animEffect transition="in" filter="box(in)">
                                      <p:cBhvr>
                                        <p:cTn id="27" dur="500"/>
                                        <p:tgtEl>
                                          <p:spTgt spid="7782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77827">
                                            <p:txEl>
                                              <p:pRg st="6" end="6"/>
                                            </p:txEl>
                                          </p:spTgt>
                                        </p:tgtEl>
                                        <p:attrNameLst>
                                          <p:attrName>style.visibility</p:attrName>
                                        </p:attrNameLst>
                                      </p:cBhvr>
                                      <p:to>
                                        <p:strVal val="visible"/>
                                      </p:to>
                                    </p:set>
                                    <p:animEffect transition="in" filter="box(in)">
                                      <p:cBhvr>
                                        <p:cTn id="32" dur="500"/>
                                        <p:tgtEl>
                                          <p:spTgt spid="77827">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77827">
                                            <p:txEl>
                                              <p:pRg st="7" end="7"/>
                                            </p:txEl>
                                          </p:spTgt>
                                        </p:tgtEl>
                                        <p:attrNameLst>
                                          <p:attrName>style.visibility</p:attrName>
                                        </p:attrNameLst>
                                      </p:cBhvr>
                                      <p:to>
                                        <p:strVal val="visible"/>
                                      </p:to>
                                    </p:set>
                                    <p:animEffect transition="in" filter="box(in)">
                                      <p:cBhvr>
                                        <p:cTn id="37" dur="500"/>
                                        <p:tgtEl>
                                          <p:spTgt spid="77827">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77827">
                                            <p:txEl>
                                              <p:pRg st="8" end="8"/>
                                            </p:txEl>
                                          </p:spTgt>
                                        </p:tgtEl>
                                        <p:attrNameLst>
                                          <p:attrName>style.visibility</p:attrName>
                                        </p:attrNameLst>
                                      </p:cBhvr>
                                      <p:to>
                                        <p:strVal val="visible"/>
                                      </p:to>
                                    </p:set>
                                    <p:animEffect transition="in" filter="box(in)">
                                      <p:cBhvr>
                                        <p:cTn id="42" dur="500"/>
                                        <p:tgtEl>
                                          <p:spTgt spid="77827">
                                            <p:txEl>
                                              <p:pRg st="8" end="8"/>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77827">
                                            <p:txEl>
                                              <p:pRg st="9" end="9"/>
                                            </p:txEl>
                                          </p:spTgt>
                                        </p:tgtEl>
                                        <p:attrNameLst>
                                          <p:attrName>style.visibility</p:attrName>
                                        </p:attrNameLst>
                                      </p:cBhvr>
                                      <p:to>
                                        <p:strVal val="visible"/>
                                      </p:to>
                                    </p:set>
                                    <p:animEffect transition="in" filter="box(in)">
                                      <p:cBhvr>
                                        <p:cTn id="47" dur="500"/>
                                        <p:tgtEl>
                                          <p:spTgt spid="7782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D266EA90-3D09-4527-9864-47953991BD03}" type="slidenum">
              <a:rPr lang="ar-SA" sz="1400" smtClean="0">
                <a:latin typeface="Arial" charset="0"/>
                <a:cs typeface="Arial" charset="0"/>
              </a:rPr>
              <a:pPr eaLnBrk="1" hangingPunct="1"/>
              <a:t>72</a:t>
            </a:fld>
            <a:endParaRPr lang="en-US" sz="1400" smtClean="0">
              <a:latin typeface="Arial" charset="0"/>
              <a:cs typeface="Arial" charset="0"/>
            </a:endParaRPr>
          </a:p>
        </p:txBody>
      </p:sp>
      <p:sp>
        <p:nvSpPr>
          <p:cNvPr id="78851" name="Rectangle 2"/>
          <p:cNvSpPr>
            <a:spLocks noGrp="1" noChangeArrowheads="1"/>
          </p:cNvSpPr>
          <p:nvPr>
            <p:ph type="body" idx="1"/>
          </p:nvPr>
        </p:nvSpPr>
        <p:spPr>
          <a:xfrm>
            <a:off x="457200" y="549275"/>
            <a:ext cx="8229600" cy="5576888"/>
          </a:xfrm>
        </p:spPr>
        <p:txBody>
          <a:bodyPr/>
          <a:lstStyle/>
          <a:p>
            <a:pPr algn="ctr" eaLnBrk="1" hangingPunct="1">
              <a:buFont typeface="Wingdings" pitchFamily="2" charset="2"/>
              <a:buChar char="§"/>
            </a:pPr>
            <a:r>
              <a:rPr lang="en-US" sz="2400" b="1" smtClean="0">
                <a:solidFill>
                  <a:srgbClr val="800000"/>
                </a:solidFill>
                <a:cs typeface="Times New Roman" pitchFamily="18" charset="0"/>
              </a:rPr>
              <a:t>Solubility in Presence of Diverse Ions</a:t>
            </a:r>
          </a:p>
          <a:p>
            <a:pPr eaLnBrk="1" hangingPunct="1">
              <a:buFontTx/>
              <a:buNone/>
            </a:pPr>
            <a:r>
              <a:rPr lang="en-US" sz="2400" b="1" smtClean="0">
                <a:solidFill>
                  <a:srgbClr val="000000"/>
                </a:solidFill>
                <a:cs typeface="Times New Roman" pitchFamily="18" charset="0"/>
              </a:rPr>
              <a:t> </a:t>
            </a:r>
          </a:p>
          <a:p>
            <a:pPr eaLnBrk="1" hangingPunct="1">
              <a:buFont typeface="Wingdings" pitchFamily="2" charset="2"/>
              <a:buChar char="§"/>
            </a:pPr>
            <a:r>
              <a:rPr lang="en-US" sz="2400" b="1" smtClean="0">
                <a:solidFill>
                  <a:srgbClr val="000000"/>
                </a:solidFill>
                <a:cs typeface="Times New Roman" pitchFamily="18" charset="0"/>
              </a:rPr>
              <a:t>As expected from previous information, diverse ions have a screening effect on dissociated ions which leads to extra dissociation. </a:t>
            </a:r>
          </a:p>
          <a:p>
            <a:pPr eaLnBrk="1" hangingPunct="1">
              <a:buFont typeface="Wingdings" pitchFamily="2" charset="2"/>
              <a:buChar char="§"/>
            </a:pPr>
            <a:r>
              <a:rPr lang="en-US" sz="2400" b="1" smtClean="0">
                <a:solidFill>
                  <a:srgbClr val="000000"/>
                </a:solidFill>
                <a:cs typeface="Times New Roman" pitchFamily="18" charset="0"/>
              </a:rPr>
              <a:t>Solubility will show a clear increase in presence of diverse ions as the solubility product will increase. Look at the following example:</a:t>
            </a:r>
            <a:endParaRPr lang="en-US" sz="2400" smtClean="0">
              <a:solidFill>
                <a:srgbClr val="000000"/>
              </a:solidFill>
              <a:cs typeface="Times New Roman" pitchFamily="18" charset="0"/>
            </a:endParaRPr>
          </a:p>
          <a:p>
            <a:pPr eaLnBrk="1" hangingPunct="1">
              <a:buFontTx/>
              <a:buNone/>
            </a:pPr>
            <a:r>
              <a:rPr lang="en-US" sz="1000" smtClean="0">
                <a:solidFill>
                  <a:srgbClr val="000000"/>
                </a:solidFill>
                <a:cs typeface="Times New Roman" pitchFamily="18" charset="0"/>
              </a:rPr>
              <a:t> </a:t>
            </a:r>
            <a:endParaRPr lang="en-US" sz="1000" b="1" smtClean="0">
              <a:solidFill>
                <a:srgbClr val="000000"/>
              </a:solidFill>
              <a:cs typeface="Times New Roman" pitchFamily="18" charset="0"/>
            </a:endParaRPr>
          </a:p>
          <a:p>
            <a:pPr eaLnBrk="1" hangingPunct="1">
              <a:buFont typeface="Wingdings" pitchFamily="2" charset="2"/>
              <a:buChar char="§"/>
            </a:pPr>
            <a:r>
              <a:rPr lang="en-US" sz="2400" b="1" smtClean="0">
                <a:solidFill>
                  <a:srgbClr val="000000"/>
                </a:solidFill>
                <a:cs typeface="Times New Roman" pitchFamily="18" charset="0"/>
              </a:rPr>
              <a:t>Example</a:t>
            </a:r>
            <a:endParaRPr lang="en-US" sz="2400" smtClean="0">
              <a:solidFill>
                <a:srgbClr val="000000"/>
              </a:solidFill>
              <a:cs typeface="Times New Roman" pitchFamily="18" charset="0"/>
            </a:endParaRPr>
          </a:p>
          <a:p>
            <a:pPr eaLnBrk="1" hangingPunct="1">
              <a:buFontTx/>
              <a:buNone/>
            </a:pPr>
            <a:r>
              <a:rPr lang="en-US" sz="1000" b="1" smtClean="0">
                <a:solidFill>
                  <a:srgbClr val="0000FF"/>
                </a:solidFill>
                <a:cs typeface="Times New Roman" pitchFamily="18" charset="0"/>
              </a:rPr>
              <a:t> </a:t>
            </a:r>
          </a:p>
          <a:p>
            <a:pPr eaLnBrk="1" hangingPunct="1">
              <a:buFont typeface="Wingdings" pitchFamily="2" charset="2"/>
              <a:buChar char="§"/>
            </a:pPr>
            <a:r>
              <a:rPr lang="en-US" sz="2400" b="1" smtClean="0">
                <a:solidFill>
                  <a:srgbClr val="0000FF"/>
                </a:solidFill>
                <a:cs typeface="Times New Roman" pitchFamily="18" charset="0"/>
              </a:rPr>
              <a:t>Find the solubility of AgCl (k</a:t>
            </a:r>
            <a:r>
              <a:rPr lang="en-US" sz="2400" b="1" baseline="-30000" smtClean="0">
                <a:solidFill>
                  <a:srgbClr val="0000FF"/>
                </a:solidFill>
                <a:cs typeface="Times New Roman" pitchFamily="18" charset="0"/>
              </a:rPr>
              <a:t>sp</a:t>
            </a:r>
            <a:r>
              <a:rPr lang="en-US" sz="2400" b="1" smtClean="0">
                <a:solidFill>
                  <a:srgbClr val="0000FF"/>
                </a:solidFill>
                <a:cs typeface="Times New Roman" pitchFamily="18" charset="0"/>
              </a:rPr>
              <a:t> = 1.0 x 10</a:t>
            </a:r>
            <a:r>
              <a:rPr lang="en-US" sz="2400" b="1" baseline="30000" smtClean="0">
                <a:solidFill>
                  <a:srgbClr val="0000FF"/>
                </a:solidFill>
                <a:cs typeface="Times New Roman" pitchFamily="18" charset="0"/>
              </a:rPr>
              <a:t>-10</a:t>
            </a:r>
            <a:r>
              <a:rPr lang="en-US" sz="2400" b="1" smtClean="0">
                <a:solidFill>
                  <a:srgbClr val="0000FF"/>
                </a:solidFill>
                <a:cs typeface="Times New Roman" pitchFamily="18" charset="0"/>
              </a:rPr>
              <a:t>) in 0.1 M NaNO</a:t>
            </a:r>
            <a:r>
              <a:rPr lang="en-US" sz="2400" b="1" baseline="-30000" smtClean="0">
                <a:solidFill>
                  <a:srgbClr val="0000FF"/>
                </a:solidFill>
                <a:cs typeface="Times New Roman" pitchFamily="18" charset="0"/>
              </a:rPr>
              <a:t>3</a:t>
            </a:r>
            <a:r>
              <a:rPr lang="en-US" sz="2400" b="1" smtClean="0">
                <a:solidFill>
                  <a:srgbClr val="0000FF"/>
                </a:solidFill>
                <a:cs typeface="Times New Roman" pitchFamily="18" charset="0"/>
              </a:rPr>
              <a:t>. The activity coefficients for silver and chloride are 0.75 and 0.76, respectively.</a:t>
            </a:r>
          </a:p>
          <a:p>
            <a:pPr eaLnBrk="1" hangingPunct="1">
              <a:buFontTx/>
              <a:buNone/>
            </a:pPr>
            <a:r>
              <a:rPr lang="en-US" sz="2400" smtClean="0">
                <a:solidFill>
                  <a:srgbClr val="000000"/>
                </a:solidFill>
                <a:cs typeface="Times New Roman" pitchFamily="18" charset="0"/>
              </a:rPr>
              <a:t> </a:t>
            </a:r>
          </a:p>
        </p:txBody>
      </p:sp>
      <p:sp>
        <p:nvSpPr>
          <p:cNvPr id="76804"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738AE01-72AA-4C17-BB3B-19A8955C8314}" type="datetime1">
              <a:rPr lang="en-US" sz="1400" smtClean="0"/>
              <a:pPr eaLnBrk="1" hangingPunct="1"/>
              <a:t>5/6/2021</a:t>
            </a:fld>
            <a:endParaRPr lang="en-US" sz="1400" smtClean="0"/>
          </a:p>
        </p:txBody>
      </p:sp>
      <p:sp>
        <p:nvSpPr>
          <p:cNvPr id="76805"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9084529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8851">
                                            <p:txEl>
                                              <p:pRg st="0" end="0"/>
                                            </p:txEl>
                                          </p:spTgt>
                                        </p:tgtEl>
                                        <p:attrNameLst>
                                          <p:attrName>style.visibility</p:attrName>
                                        </p:attrNameLst>
                                      </p:cBhvr>
                                      <p:to>
                                        <p:strVal val="visible"/>
                                      </p:to>
                                    </p:set>
                                    <p:animEffect transition="in" filter="box(in)">
                                      <p:cBhvr>
                                        <p:cTn id="7" dur="500"/>
                                        <p:tgtEl>
                                          <p:spTgt spid="788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8851">
                                            <p:txEl>
                                              <p:pRg st="1" end="1"/>
                                            </p:txEl>
                                          </p:spTgt>
                                        </p:tgtEl>
                                        <p:attrNameLst>
                                          <p:attrName>style.visibility</p:attrName>
                                        </p:attrNameLst>
                                      </p:cBhvr>
                                      <p:to>
                                        <p:strVal val="visible"/>
                                      </p:to>
                                    </p:set>
                                    <p:animEffect transition="in" filter="box(in)">
                                      <p:cBhvr>
                                        <p:cTn id="12" dur="500"/>
                                        <p:tgtEl>
                                          <p:spTgt spid="788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8851">
                                            <p:txEl>
                                              <p:pRg st="2" end="2"/>
                                            </p:txEl>
                                          </p:spTgt>
                                        </p:tgtEl>
                                        <p:attrNameLst>
                                          <p:attrName>style.visibility</p:attrName>
                                        </p:attrNameLst>
                                      </p:cBhvr>
                                      <p:to>
                                        <p:strVal val="visible"/>
                                      </p:to>
                                    </p:set>
                                    <p:animEffect transition="in" filter="box(in)">
                                      <p:cBhvr>
                                        <p:cTn id="17" dur="500"/>
                                        <p:tgtEl>
                                          <p:spTgt spid="788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8851">
                                            <p:txEl>
                                              <p:pRg st="3" end="3"/>
                                            </p:txEl>
                                          </p:spTgt>
                                        </p:tgtEl>
                                        <p:attrNameLst>
                                          <p:attrName>style.visibility</p:attrName>
                                        </p:attrNameLst>
                                      </p:cBhvr>
                                      <p:to>
                                        <p:strVal val="visible"/>
                                      </p:to>
                                    </p:set>
                                    <p:animEffect transition="in" filter="box(in)">
                                      <p:cBhvr>
                                        <p:cTn id="22" dur="500"/>
                                        <p:tgtEl>
                                          <p:spTgt spid="7885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78851">
                                            <p:txEl>
                                              <p:pRg st="4" end="4"/>
                                            </p:txEl>
                                          </p:spTgt>
                                        </p:tgtEl>
                                        <p:attrNameLst>
                                          <p:attrName>style.visibility</p:attrName>
                                        </p:attrNameLst>
                                      </p:cBhvr>
                                      <p:to>
                                        <p:strVal val="visible"/>
                                      </p:to>
                                    </p:set>
                                    <p:animEffect transition="in" filter="box(in)">
                                      <p:cBhvr>
                                        <p:cTn id="27" dur="500"/>
                                        <p:tgtEl>
                                          <p:spTgt spid="7885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78851">
                                            <p:txEl>
                                              <p:pRg st="5" end="5"/>
                                            </p:txEl>
                                          </p:spTgt>
                                        </p:tgtEl>
                                        <p:attrNameLst>
                                          <p:attrName>style.visibility</p:attrName>
                                        </p:attrNameLst>
                                      </p:cBhvr>
                                      <p:to>
                                        <p:strVal val="visible"/>
                                      </p:to>
                                    </p:set>
                                    <p:animEffect transition="in" filter="box(in)">
                                      <p:cBhvr>
                                        <p:cTn id="32" dur="500"/>
                                        <p:tgtEl>
                                          <p:spTgt spid="7885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78851">
                                            <p:txEl>
                                              <p:pRg st="6" end="6"/>
                                            </p:txEl>
                                          </p:spTgt>
                                        </p:tgtEl>
                                        <p:attrNameLst>
                                          <p:attrName>style.visibility</p:attrName>
                                        </p:attrNameLst>
                                      </p:cBhvr>
                                      <p:to>
                                        <p:strVal val="visible"/>
                                      </p:to>
                                    </p:set>
                                    <p:animEffect transition="in" filter="box(in)">
                                      <p:cBhvr>
                                        <p:cTn id="37" dur="500"/>
                                        <p:tgtEl>
                                          <p:spTgt spid="7885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78851">
                                            <p:txEl>
                                              <p:pRg st="7" end="7"/>
                                            </p:txEl>
                                          </p:spTgt>
                                        </p:tgtEl>
                                        <p:attrNameLst>
                                          <p:attrName>style.visibility</p:attrName>
                                        </p:attrNameLst>
                                      </p:cBhvr>
                                      <p:to>
                                        <p:strVal val="visible"/>
                                      </p:to>
                                    </p:set>
                                    <p:animEffect transition="in" filter="box(in)">
                                      <p:cBhvr>
                                        <p:cTn id="42" dur="500"/>
                                        <p:tgtEl>
                                          <p:spTgt spid="7885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78851">
                                            <p:txEl>
                                              <p:pRg st="8" end="8"/>
                                            </p:txEl>
                                          </p:spTgt>
                                        </p:tgtEl>
                                        <p:attrNameLst>
                                          <p:attrName>style.visibility</p:attrName>
                                        </p:attrNameLst>
                                      </p:cBhvr>
                                      <p:to>
                                        <p:strVal val="visible"/>
                                      </p:to>
                                    </p:set>
                                    <p:animEffect transition="in" filter="box(in)">
                                      <p:cBhvr>
                                        <p:cTn id="47" dur="500"/>
                                        <p:tgtEl>
                                          <p:spTgt spid="7885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8FA2FCB3-78BF-4998-8D7A-17C52DED3F96}" type="slidenum">
              <a:rPr lang="ar-SA" sz="1400" smtClean="0">
                <a:latin typeface="Arial" charset="0"/>
                <a:cs typeface="Arial" charset="0"/>
              </a:rPr>
              <a:pPr eaLnBrk="1" hangingPunct="1"/>
              <a:t>73</a:t>
            </a:fld>
            <a:endParaRPr lang="en-US" sz="1400" smtClean="0">
              <a:latin typeface="Arial" charset="0"/>
              <a:cs typeface="Arial" charset="0"/>
            </a:endParaRPr>
          </a:p>
        </p:txBody>
      </p:sp>
      <p:sp>
        <p:nvSpPr>
          <p:cNvPr id="79875" name="Rectangle 2"/>
          <p:cNvSpPr>
            <a:spLocks noGrp="1" noChangeArrowheads="1"/>
          </p:cNvSpPr>
          <p:nvPr>
            <p:ph type="body" idx="1"/>
          </p:nvPr>
        </p:nvSpPr>
        <p:spPr>
          <a:xfrm>
            <a:off x="457200" y="533400"/>
            <a:ext cx="8229600" cy="5576888"/>
          </a:xfrm>
        </p:spPr>
        <p:txBody>
          <a:bodyPr/>
          <a:lstStyle/>
          <a:p>
            <a:pPr algn="justLow" eaLnBrk="1" hangingPunct="1">
              <a:lnSpc>
                <a:spcPct val="90000"/>
              </a:lnSpc>
              <a:buFont typeface="Wingdings" pitchFamily="2" charset="2"/>
              <a:buChar char="§"/>
            </a:pPr>
            <a:r>
              <a:rPr lang="en-US" b="1" smtClean="0">
                <a:solidFill>
                  <a:srgbClr val="000000"/>
                </a:solidFill>
                <a:cs typeface="Times New Roman" pitchFamily="18" charset="0"/>
              </a:rPr>
              <a:t>Answer</a:t>
            </a:r>
          </a:p>
          <a:p>
            <a:pPr algn="justLow" eaLnBrk="1" hangingPunct="1">
              <a:lnSpc>
                <a:spcPct val="90000"/>
              </a:lnSpc>
              <a:buFont typeface="Wingdings" pitchFamily="2" charset="2"/>
              <a:buChar char="§"/>
            </a:pPr>
            <a:r>
              <a:rPr lang="en-US" b="1" smtClean="0">
                <a:solidFill>
                  <a:srgbClr val="000000"/>
                </a:solidFill>
                <a:cs typeface="Times New Roman" pitchFamily="18" charset="0"/>
              </a:rPr>
              <a:t>AgCl</a:t>
            </a:r>
            <a:r>
              <a:rPr lang="en-US" b="1" baseline="-30000" smtClean="0">
                <a:solidFill>
                  <a:srgbClr val="000000"/>
                </a:solidFill>
                <a:cs typeface="Times New Roman" pitchFamily="18" charset="0"/>
              </a:rPr>
              <a:t>(s)</a:t>
            </a:r>
            <a:r>
              <a:rPr lang="en-US" b="1" smtClean="0">
                <a:solidFill>
                  <a:srgbClr val="000000"/>
                </a:solidFill>
                <a:cs typeface="Times New Roman" pitchFamily="18" charset="0"/>
              </a:rPr>
              <a:t> </a:t>
            </a:r>
            <a:r>
              <a:rPr lang="en-US" b="1" smtClean="0">
                <a:solidFill>
                  <a:srgbClr val="000000"/>
                </a:solidFill>
                <a:latin typeface="Wingdings 3" pitchFamily="18" charset="2"/>
                <a:cs typeface="Times New Roman" pitchFamily="18" charset="0"/>
              </a:rPr>
              <a:t>D</a:t>
            </a:r>
            <a:r>
              <a:rPr lang="en-US" b="1" smtClean="0">
                <a:solidFill>
                  <a:srgbClr val="000000"/>
                </a:solidFill>
                <a:cs typeface="Times New Roman" pitchFamily="18" charset="0"/>
              </a:rPr>
              <a:t> Ag</a:t>
            </a:r>
            <a:r>
              <a:rPr lang="en-US" b="1" baseline="30000" smtClean="0">
                <a:solidFill>
                  <a:srgbClr val="000000"/>
                </a:solidFill>
                <a:cs typeface="Times New Roman" pitchFamily="18" charset="0"/>
              </a:rPr>
              <a:t>+</a:t>
            </a:r>
            <a:r>
              <a:rPr lang="en-US" b="1" smtClean="0">
                <a:solidFill>
                  <a:srgbClr val="000000"/>
                </a:solidFill>
                <a:cs typeface="Times New Roman" pitchFamily="18" charset="0"/>
              </a:rPr>
              <a:t> + Cl</a:t>
            </a:r>
            <a:r>
              <a:rPr lang="en-US" b="1" baseline="30000" smtClean="0">
                <a:solidFill>
                  <a:srgbClr val="000000"/>
                </a:solidFill>
                <a:cs typeface="Times New Roman" pitchFamily="18" charset="0"/>
              </a:rPr>
              <a:t>-</a:t>
            </a:r>
            <a:endParaRPr lang="en-US" b="1" smtClean="0">
              <a:solidFill>
                <a:srgbClr val="000000"/>
              </a:solidFill>
              <a:cs typeface="Times New Roman" pitchFamily="18" charset="0"/>
            </a:endParaRPr>
          </a:p>
          <a:p>
            <a:pPr algn="justLow" eaLnBrk="1" hangingPunct="1">
              <a:lnSpc>
                <a:spcPct val="90000"/>
              </a:lnSpc>
              <a:buFontTx/>
              <a:buNone/>
            </a:pPr>
            <a:r>
              <a:rPr lang="en-US" b="1" smtClean="0">
                <a:solidFill>
                  <a:srgbClr val="000000"/>
                </a:solidFill>
                <a:cs typeface="Times New Roman" pitchFamily="18" charset="0"/>
              </a:rPr>
              <a:t> </a:t>
            </a:r>
            <a:endParaRPr lang="en-US" smtClean="0">
              <a:solidFill>
                <a:srgbClr val="000000"/>
              </a:solidFill>
              <a:cs typeface="Times New Roman" pitchFamily="18" charset="0"/>
            </a:endParaRPr>
          </a:p>
          <a:p>
            <a:pPr algn="justLow" eaLnBrk="1" hangingPunct="1">
              <a:lnSpc>
                <a:spcPct val="90000"/>
              </a:lnSpc>
              <a:buFont typeface="Wingdings" pitchFamily="2" charset="2"/>
              <a:buChar char="§"/>
            </a:pPr>
            <a:r>
              <a:rPr lang="en-US" smtClean="0">
                <a:solidFill>
                  <a:srgbClr val="000000"/>
                </a:solidFill>
                <a:cs typeface="Times New Roman" pitchFamily="18" charset="0"/>
              </a:rPr>
              <a:t>We use activities instead of concentrations since the solution contains diverse ions where we have:</a:t>
            </a:r>
          </a:p>
          <a:p>
            <a:pPr algn="justLow" eaLnBrk="1" hangingPunct="1">
              <a:lnSpc>
                <a:spcPct val="90000"/>
              </a:lnSpc>
              <a:buFont typeface="Wingdings" pitchFamily="2" charset="2"/>
              <a:buChar char="§"/>
            </a:pPr>
            <a:r>
              <a:rPr lang="en-US" smtClean="0">
                <a:solidFill>
                  <a:srgbClr val="000000"/>
                </a:solidFill>
                <a:cs typeface="Times New Roman" pitchFamily="18" charset="0"/>
              </a:rPr>
              <a:t>K</a:t>
            </a:r>
            <a:r>
              <a:rPr lang="en-US" baseline="-30000" smtClean="0">
                <a:solidFill>
                  <a:srgbClr val="000000"/>
                </a:solidFill>
                <a:cs typeface="Times New Roman" pitchFamily="18" charset="0"/>
              </a:rPr>
              <a:t>sp, Th </a:t>
            </a:r>
            <a:r>
              <a:rPr lang="en-US" smtClean="0">
                <a:solidFill>
                  <a:srgbClr val="000000"/>
                </a:solidFill>
                <a:cs typeface="Times New Roman" pitchFamily="18" charset="0"/>
              </a:rPr>
              <a:t>= a</a:t>
            </a:r>
            <a:r>
              <a:rPr lang="en-US" baseline="-30000" smtClean="0">
                <a:solidFill>
                  <a:srgbClr val="000000"/>
                </a:solidFill>
                <a:cs typeface="Times New Roman" pitchFamily="18" charset="0"/>
              </a:rPr>
              <a:t>Ag</a:t>
            </a:r>
            <a:r>
              <a:rPr lang="en-US" baseline="30000" smtClean="0">
                <a:solidFill>
                  <a:srgbClr val="000000"/>
                </a:solidFill>
                <a:cs typeface="Times New Roman" pitchFamily="18" charset="0"/>
              </a:rPr>
              <a:t>+</a:t>
            </a:r>
            <a:r>
              <a:rPr lang="en-US" smtClean="0">
                <a:solidFill>
                  <a:srgbClr val="000000"/>
                </a:solidFill>
                <a:cs typeface="Times New Roman" pitchFamily="18" charset="0"/>
              </a:rPr>
              <a:t> a</a:t>
            </a:r>
            <a:r>
              <a:rPr lang="en-US" baseline="-30000" smtClean="0">
                <a:solidFill>
                  <a:srgbClr val="000000"/>
                </a:solidFill>
                <a:cs typeface="Times New Roman" pitchFamily="18" charset="0"/>
              </a:rPr>
              <a:t>Cl</a:t>
            </a:r>
            <a:r>
              <a:rPr lang="en-US" baseline="30000" smtClean="0">
                <a:solidFill>
                  <a:srgbClr val="000000"/>
                </a:solidFill>
                <a:cs typeface="Times New Roman" pitchFamily="18" charset="0"/>
              </a:rPr>
              <a:t>-</a:t>
            </a:r>
            <a:r>
              <a:rPr lang="en-US" smtClean="0">
                <a:solidFill>
                  <a:srgbClr val="000000"/>
                </a:solidFill>
                <a:cs typeface="Times New Roman" pitchFamily="18" charset="0"/>
              </a:rPr>
              <a:t> </a:t>
            </a:r>
          </a:p>
          <a:p>
            <a:pPr algn="justLow" eaLnBrk="1" hangingPunct="1">
              <a:lnSpc>
                <a:spcPct val="90000"/>
              </a:lnSpc>
              <a:buFont typeface="Wingdings" pitchFamily="2" charset="2"/>
              <a:buChar char="§"/>
            </a:pPr>
            <a:r>
              <a:rPr lang="en-US" smtClean="0">
                <a:solidFill>
                  <a:srgbClr val="000000"/>
                </a:solidFill>
                <a:cs typeface="Times New Roman" pitchFamily="18" charset="0"/>
              </a:rPr>
              <a:t>K</a:t>
            </a:r>
            <a:r>
              <a:rPr lang="en-US" baseline="-30000" smtClean="0">
                <a:solidFill>
                  <a:srgbClr val="000000"/>
                </a:solidFill>
                <a:cs typeface="Times New Roman" pitchFamily="18" charset="0"/>
              </a:rPr>
              <a:t>sp, Th </a:t>
            </a:r>
            <a:r>
              <a:rPr lang="en-US" smtClean="0">
                <a:solidFill>
                  <a:srgbClr val="000000"/>
                </a:solidFill>
                <a:cs typeface="Times New Roman" pitchFamily="18" charset="0"/>
              </a:rPr>
              <a:t>= [Ag</a:t>
            </a:r>
            <a:r>
              <a:rPr lang="en-US" baseline="30000" smtClean="0">
                <a:solidFill>
                  <a:srgbClr val="000000"/>
                </a:solidFill>
                <a:cs typeface="Times New Roman" pitchFamily="18" charset="0"/>
              </a:rPr>
              <a:t>+</a:t>
            </a:r>
            <a:r>
              <a:rPr lang="en-US" smtClean="0">
                <a:solidFill>
                  <a:srgbClr val="000000"/>
                </a:solidFill>
                <a:cs typeface="Times New Roman" pitchFamily="18" charset="0"/>
              </a:rPr>
              <a:t>] </a:t>
            </a:r>
            <a:r>
              <a:rPr lang="en-US" i="1" smtClean="0">
                <a:solidFill>
                  <a:srgbClr val="000000"/>
                </a:solidFill>
                <a:cs typeface="Times New Roman" pitchFamily="18" charset="0"/>
              </a:rPr>
              <a:t>f</a:t>
            </a:r>
            <a:r>
              <a:rPr lang="en-US" i="1" baseline="-30000" smtClean="0">
                <a:solidFill>
                  <a:srgbClr val="000000"/>
                </a:solidFill>
                <a:cs typeface="Times New Roman" pitchFamily="18" charset="0"/>
              </a:rPr>
              <a:t>Ag</a:t>
            </a:r>
            <a:r>
              <a:rPr lang="en-US" i="1" baseline="30000" smtClean="0">
                <a:solidFill>
                  <a:srgbClr val="000000"/>
                </a:solidFill>
                <a:cs typeface="Times New Roman" pitchFamily="18" charset="0"/>
              </a:rPr>
              <a:t>+</a:t>
            </a:r>
            <a:r>
              <a:rPr lang="en-US" smtClean="0">
                <a:solidFill>
                  <a:srgbClr val="000000"/>
                </a:solidFill>
                <a:cs typeface="Times New Roman" pitchFamily="18" charset="0"/>
              </a:rPr>
              <a:t> * [Cl</a:t>
            </a:r>
            <a:r>
              <a:rPr lang="en-US" baseline="30000" smtClean="0">
                <a:solidFill>
                  <a:srgbClr val="000000"/>
                </a:solidFill>
                <a:cs typeface="Times New Roman" pitchFamily="18" charset="0"/>
              </a:rPr>
              <a:t>-</a:t>
            </a:r>
            <a:r>
              <a:rPr lang="en-US" smtClean="0">
                <a:solidFill>
                  <a:srgbClr val="000000"/>
                </a:solidFill>
                <a:cs typeface="Times New Roman" pitchFamily="18" charset="0"/>
              </a:rPr>
              <a:t>] </a:t>
            </a:r>
            <a:r>
              <a:rPr lang="en-US" i="1" smtClean="0">
                <a:solidFill>
                  <a:srgbClr val="000000"/>
                </a:solidFill>
                <a:cs typeface="Times New Roman" pitchFamily="18" charset="0"/>
              </a:rPr>
              <a:t>f</a:t>
            </a:r>
            <a:r>
              <a:rPr lang="en-US" i="1" baseline="-30000" smtClean="0">
                <a:solidFill>
                  <a:srgbClr val="000000"/>
                </a:solidFill>
                <a:cs typeface="Times New Roman" pitchFamily="18" charset="0"/>
              </a:rPr>
              <a:t>Cl</a:t>
            </a:r>
            <a:r>
              <a:rPr lang="en-US" i="1" baseline="30000" smtClean="0">
                <a:solidFill>
                  <a:srgbClr val="000000"/>
                </a:solidFill>
                <a:cs typeface="Times New Roman" pitchFamily="18" charset="0"/>
              </a:rPr>
              <a:t>-</a:t>
            </a:r>
            <a:endParaRPr lang="en-US" i="1" smtClean="0">
              <a:solidFill>
                <a:srgbClr val="000000"/>
              </a:solidFill>
              <a:cs typeface="Times New Roman" pitchFamily="18" charset="0"/>
            </a:endParaRPr>
          </a:p>
          <a:p>
            <a:pPr algn="justLow" eaLnBrk="1" hangingPunct="1">
              <a:lnSpc>
                <a:spcPct val="90000"/>
              </a:lnSpc>
              <a:buFont typeface="Wingdings" pitchFamily="2" charset="2"/>
              <a:buChar char="§"/>
            </a:pPr>
            <a:r>
              <a:rPr lang="en-US" smtClean="0">
                <a:solidFill>
                  <a:srgbClr val="000000"/>
                </a:solidFill>
                <a:cs typeface="Times New Roman" pitchFamily="18" charset="0"/>
              </a:rPr>
              <a:t>1.0x10</a:t>
            </a:r>
            <a:r>
              <a:rPr lang="en-US" baseline="30000" smtClean="0">
                <a:solidFill>
                  <a:srgbClr val="000000"/>
                </a:solidFill>
                <a:cs typeface="Times New Roman" pitchFamily="18" charset="0"/>
              </a:rPr>
              <a:t>-10</a:t>
            </a:r>
            <a:r>
              <a:rPr lang="en-US" smtClean="0">
                <a:solidFill>
                  <a:srgbClr val="000000"/>
                </a:solidFill>
                <a:cs typeface="Times New Roman" pitchFamily="18" charset="0"/>
              </a:rPr>
              <a:t> = s x 0.75 x s x 0.76</a:t>
            </a:r>
          </a:p>
          <a:p>
            <a:pPr algn="justLow" eaLnBrk="1" hangingPunct="1">
              <a:lnSpc>
                <a:spcPct val="90000"/>
              </a:lnSpc>
              <a:buFont typeface="Wingdings" pitchFamily="2" charset="2"/>
              <a:buChar char="§"/>
            </a:pPr>
            <a:r>
              <a:rPr lang="en-US" smtClean="0">
                <a:solidFill>
                  <a:srgbClr val="000000"/>
                </a:solidFill>
                <a:cs typeface="Times New Roman" pitchFamily="18" charset="0"/>
              </a:rPr>
              <a:t>s = 1.3x10</a:t>
            </a:r>
            <a:r>
              <a:rPr lang="en-US" baseline="30000" smtClean="0">
                <a:solidFill>
                  <a:srgbClr val="000000"/>
                </a:solidFill>
                <a:cs typeface="Times New Roman" pitchFamily="18" charset="0"/>
              </a:rPr>
              <a:t>-5</a:t>
            </a:r>
            <a:r>
              <a:rPr lang="en-US" smtClean="0">
                <a:solidFill>
                  <a:srgbClr val="000000"/>
                </a:solidFill>
                <a:cs typeface="Times New Roman" pitchFamily="18" charset="0"/>
              </a:rPr>
              <a:t> M</a:t>
            </a:r>
          </a:p>
        </p:txBody>
      </p:sp>
      <p:sp>
        <p:nvSpPr>
          <p:cNvPr id="77828"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A4B7E1A-A62F-4CC7-B57C-B1786BADA743}" type="datetime1">
              <a:rPr lang="en-US" sz="1400" smtClean="0"/>
              <a:pPr eaLnBrk="1" hangingPunct="1"/>
              <a:t>5/6/2021</a:t>
            </a:fld>
            <a:endParaRPr lang="en-US" sz="1400" smtClean="0"/>
          </a:p>
        </p:txBody>
      </p:sp>
      <p:sp>
        <p:nvSpPr>
          <p:cNvPr id="77829"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5026006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animEffect transition="in" filter="box(in)">
                                      <p:cBhvr>
                                        <p:cTn id="7" dur="500"/>
                                        <p:tgtEl>
                                          <p:spTgt spid="798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9875">
                                            <p:txEl>
                                              <p:pRg st="1" end="1"/>
                                            </p:txEl>
                                          </p:spTgt>
                                        </p:tgtEl>
                                        <p:attrNameLst>
                                          <p:attrName>style.visibility</p:attrName>
                                        </p:attrNameLst>
                                      </p:cBhvr>
                                      <p:to>
                                        <p:strVal val="visible"/>
                                      </p:to>
                                    </p:set>
                                    <p:animEffect transition="in" filter="box(in)">
                                      <p:cBhvr>
                                        <p:cTn id="12" dur="500"/>
                                        <p:tgtEl>
                                          <p:spTgt spid="798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9875">
                                            <p:txEl>
                                              <p:pRg st="2" end="2"/>
                                            </p:txEl>
                                          </p:spTgt>
                                        </p:tgtEl>
                                        <p:attrNameLst>
                                          <p:attrName>style.visibility</p:attrName>
                                        </p:attrNameLst>
                                      </p:cBhvr>
                                      <p:to>
                                        <p:strVal val="visible"/>
                                      </p:to>
                                    </p:set>
                                    <p:animEffect transition="in" filter="box(in)">
                                      <p:cBhvr>
                                        <p:cTn id="17" dur="500"/>
                                        <p:tgtEl>
                                          <p:spTgt spid="798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9875">
                                            <p:txEl>
                                              <p:pRg st="3" end="3"/>
                                            </p:txEl>
                                          </p:spTgt>
                                        </p:tgtEl>
                                        <p:attrNameLst>
                                          <p:attrName>style.visibility</p:attrName>
                                        </p:attrNameLst>
                                      </p:cBhvr>
                                      <p:to>
                                        <p:strVal val="visible"/>
                                      </p:to>
                                    </p:set>
                                    <p:animEffect transition="in" filter="box(in)">
                                      <p:cBhvr>
                                        <p:cTn id="22" dur="500"/>
                                        <p:tgtEl>
                                          <p:spTgt spid="7987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79875">
                                            <p:txEl>
                                              <p:pRg st="4" end="4"/>
                                            </p:txEl>
                                          </p:spTgt>
                                        </p:tgtEl>
                                        <p:attrNameLst>
                                          <p:attrName>style.visibility</p:attrName>
                                        </p:attrNameLst>
                                      </p:cBhvr>
                                      <p:to>
                                        <p:strVal val="visible"/>
                                      </p:to>
                                    </p:set>
                                    <p:animEffect transition="in" filter="box(in)">
                                      <p:cBhvr>
                                        <p:cTn id="27" dur="500"/>
                                        <p:tgtEl>
                                          <p:spTgt spid="7987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79875">
                                            <p:txEl>
                                              <p:pRg st="5" end="5"/>
                                            </p:txEl>
                                          </p:spTgt>
                                        </p:tgtEl>
                                        <p:attrNameLst>
                                          <p:attrName>style.visibility</p:attrName>
                                        </p:attrNameLst>
                                      </p:cBhvr>
                                      <p:to>
                                        <p:strVal val="visible"/>
                                      </p:to>
                                    </p:set>
                                    <p:animEffect transition="in" filter="box(in)">
                                      <p:cBhvr>
                                        <p:cTn id="32" dur="500"/>
                                        <p:tgtEl>
                                          <p:spTgt spid="7987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79875">
                                            <p:txEl>
                                              <p:pRg st="6" end="6"/>
                                            </p:txEl>
                                          </p:spTgt>
                                        </p:tgtEl>
                                        <p:attrNameLst>
                                          <p:attrName>style.visibility</p:attrName>
                                        </p:attrNameLst>
                                      </p:cBhvr>
                                      <p:to>
                                        <p:strVal val="visible"/>
                                      </p:to>
                                    </p:set>
                                    <p:animEffect transition="in" filter="box(in)">
                                      <p:cBhvr>
                                        <p:cTn id="37" dur="500"/>
                                        <p:tgtEl>
                                          <p:spTgt spid="7987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79875">
                                            <p:txEl>
                                              <p:pRg st="7" end="7"/>
                                            </p:txEl>
                                          </p:spTgt>
                                        </p:tgtEl>
                                        <p:attrNameLst>
                                          <p:attrName>style.visibility</p:attrName>
                                        </p:attrNameLst>
                                      </p:cBhvr>
                                      <p:to>
                                        <p:strVal val="visible"/>
                                      </p:to>
                                    </p:set>
                                    <p:animEffect transition="in" filter="box(in)">
                                      <p:cBhvr>
                                        <p:cTn id="42" dur="500"/>
                                        <p:tgtEl>
                                          <p:spTgt spid="7987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عنصر نائب لرقم الشريحة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9987DAB6-ABD1-42BF-9B1A-96460C28E9FA}" type="slidenum">
              <a:rPr lang="ar-SA" sz="1400" smtClean="0">
                <a:latin typeface="Arial" charset="0"/>
                <a:cs typeface="Arial" charset="0"/>
              </a:rPr>
              <a:pPr eaLnBrk="1" hangingPunct="1"/>
              <a:t>74</a:t>
            </a:fld>
            <a:endParaRPr lang="en-US" sz="1400" smtClean="0">
              <a:latin typeface="Arial" charset="0"/>
              <a:cs typeface="Arial" charset="0"/>
            </a:endParaRPr>
          </a:p>
        </p:txBody>
      </p:sp>
      <p:sp>
        <p:nvSpPr>
          <p:cNvPr id="80899" name="Rectangle 2"/>
          <p:cNvSpPr>
            <a:spLocks noGrp="1" noChangeArrowheads="1"/>
          </p:cNvSpPr>
          <p:nvPr>
            <p:ph type="body" idx="1"/>
          </p:nvPr>
        </p:nvSpPr>
        <p:spPr>
          <a:xfrm>
            <a:off x="457200" y="836613"/>
            <a:ext cx="8229600" cy="5289550"/>
          </a:xfrm>
        </p:spPr>
        <p:txBody>
          <a:bodyPr/>
          <a:lstStyle/>
          <a:p>
            <a:pPr eaLnBrk="1" hangingPunct="1">
              <a:buFont typeface="Wingdings" pitchFamily="2" charset="2"/>
              <a:buChar char="§"/>
            </a:pPr>
            <a:r>
              <a:rPr lang="en-US" sz="2400" b="1" smtClean="0">
                <a:solidFill>
                  <a:srgbClr val="000000"/>
                </a:solidFill>
                <a:cs typeface="Times New Roman" pitchFamily="18" charset="0"/>
              </a:rPr>
              <a:t>The solubility of AgCl in pure water can be calculated to be 1.0x10</a:t>
            </a:r>
            <a:r>
              <a:rPr lang="en-US" sz="2400" b="1" baseline="30000" smtClean="0">
                <a:solidFill>
                  <a:srgbClr val="000000"/>
                </a:solidFill>
                <a:cs typeface="Times New Roman" pitchFamily="18" charset="0"/>
              </a:rPr>
              <a:t>-5</a:t>
            </a:r>
            <a:r>
              <a:rPr lang="en-US" sz="2400" b="1" smtClean="0">
                <a:solidFill>
                  <a:srgbClr val="000000"/>
                </a:solidFill>
                <a:cs typeface="Times New Roman" pitchFamily="18" charset="0"/>
              </a:rPr>
              <a:t> M. If we compare this value to that obtained in presence of diverse ions we see</a:t>
            </a:r>
          </a:p>
          <a:p>
            <a:pPr eaLnBrk="1" hangingPunct="1">
              <a:buFontTx/>
              <a:buNone/>
            </a:pPr>
            <a:endParaRPr lang="en-US" sz="2400" b="1" smtClean="0">
              <a:solidFill>
                <a:srgbClr val="000000"/>
              </a:solidFill>
              <a:cs typeface="Times New Roman" pitchFamily="18" charset="0"/>
            </a:endParaRPr>
          </a:p>
          <a:p>
            <a:pPr eaLnBrk="1" hangingPunct="1">
              <a:buFont typeface="Wingdings" pitchFamily="2" charset="2"/>
              <a:buChar char="§"/>
            </a:pPr>
            <a:r>
              <a:rPr lang="en-US" sz="2400" b="1" smtClean="0">
                <a:solidFill>
                  <a:srgbClr val="000000"/>
                </a:solidFill>
                <a:cs typeface="Times New Roman" pitchFamily="18" charset="0"/>
              </a:rPr>
              <a:t>%increase in solubility = {(1.3x10</a:t>
            </a:r>
            <a:r>
              <a:rPr lang="en-US" sz="2400" b="1" baseline="30000" smtClean="0">
                <a:solidFill>
                  <a:srgbClr val="000000"/>
                </a:solidFill>
                <a:cs typeface="Times New Roman" pitchFamily="18" charset="0"/>
              </a:rPr>
              <a:t>-5</a:t>
            </a:r>
            <a:r>
              <a:rPr lang="en-US" sz="2400" b="1" smtClean="0">
                <a:solidFill>
                  <a:srgbClr val="000000"/>
                </a:solidFill>
                <a:cs typeface="Times New Roman" pitchFamily="18" charset="0"/>
              </a:rPr>
              <a:t> – 1.0x10</a:t>
            </a:r>
            <a:r>
              <a:rPr lang="en-US" sz="2400" b="1" baseline="30000" smtClean="0">
                <a:solidFill>
                  <a:srgbClr val="000000"/>
                </a:solidFill>
                <a:cs typeface="Times New Roman" pitchFamily="18" charset="0"/>
              </a:rPr>
              <a:t>-5</a:t>
            </a:r>
            <a:r>
              <a:rPr lang="en-US" sz="2400" b="1" smtClean="0">
                <a:solidFill>
                  <a:srgbClr val="000000"/>
                </a:solidFill>
                <a:cs typeface="Times New Roman" pitchFamily="18" charset="0"/>
              </a:rPr>
              <a:t>)/1.0x10</a:t>
            </a:r>
            <a:r>
              <a:rPr lang="en-US" sz="2400" b="1" baseline="30000" smtClean="0">
                <a:solidFill>
                  <a:srgbClr val="000000"/>
                </a:solidFill>
                <a:cs typeface="Times New Roman" pitchFamily="18" charset="0"/>
              </a:rPr>
              <a:t>-5</a:t>
            </a:r>
            <a:r>
              <a:rPr lang="en-US" sz="2400" b="1" smtClean="0">
                <a:solidFill>
                  <a:srgbClr val="000000"/>
                </a:solidFill>
                <a:cs typeface="Times New Roman" pitchFamily="18" charset="0"/>
              </a:rPr>
              <a:t>}x 100 = 30% </a:t>
            </a:r>
          </a:p>
          <a:p>
            <a:pPr eaLnBrk="1" hangingPunct="1">
              <a:buFontTx/>
              <a:buNone/>
            </a:pPr>
            <a:endParaRPr lang="en-US" sz="2400" b="1" smtClean="0">
              <a:solidFill>
                <a:srgbClr val="000000"/>
              </a:solidFill>
              <a:cs typeface="Times New Roman" pitchFamily="18" charset="0"/>
            </a:endParaRPr>
          </a:p>
          <a:p>
            <a:pPr eaLnBrk="1" hangingPunct="1">
              <a:buFont typeface="Wingdings" pitchFamily="2" charset="2"/>
              <a:buChar char="§"/>
            </a:pPr>
            <a:r>
              <a:rPr lang="en-US" sz="2400" b="1" smtClean="0">
                <a:solidFill>
                  <a:srgbClr val="000000"/>
                </a:solidFill>
                <a:cs typeface="Times New Roman" pitchFamily="18" charset="0"/>
              </a:rPr>
              <a:t>Therefore, once again we have an evidence for an increase in dissociation or a shift of equilibrium to right in presence of diverse ions.</a:t>
            </a:r>
            <a:endParaRPr lang="en-US" sz="2400" smtClean="0">
              <a:solidFill>
                <a:srgbClr val="000000"/>
              </a:solidFill>
              <a:cs typeface="Times New Roman" pitchFamily="18" charset="0"/>
            </a:endParaRPr>
          </a:p>
          <a:p>
            <a:pPr eaLnBrk="1" hangingPunct="1">
              <a:buFontTx/>
              <a:buNone/>
            </a:pPr>
            <a:r>
              <a:rPr lang="en-US" sz="2400" smtClean="0">
                <a:solidFill>
                  <a:srgbClr val="000000"/>
                </a:solidFill>
                <a:cs typeface="Times New Roman" pitchFamily="18" charset="0"/>
              </a:rPr>
              <a:t/>
            </a:r>
            <a:br>
              <a:rPr lang="en-US" sz="2400" smtClean="0">
                <a:solidFill>
                  <a:srgbClr val="000000"/>
                </a:solidFill>
                <a:cs typeface="Times New Roman" pitchFamily="18" charset="0"/>
              </a:rPr>
            </a:br>
            <a:endParaRPr lang="en-US" sz="2400" smtClean="0">
              <a:solidFill>
                <a:srgbClr val="000000"/>
              </a:solidFill>
              <a:cs typeface="Times New Roman" pitchFamily="18" charset="0"/>
            </a:endParaRPr>
          </a:p>
        </p:txBody>
      </p:sp>
      <p:sp>
        <p:nvSpPr>
          <p:cNvPr id="78852" name="Date Placeholder 5"/>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9FFC84C6-B5CB-47FF-9778-38B2125CC760}" type="datetime1">
              <a:rPr lang="en-US" sz="1400" smtClean="0"/>
              <a:pPr eaLnBrk="1" hangingPunct="1"/>
              <a:t>5/6/2021</a:t>
            </a:fld>
            <a:endParaRPr lang="en-US" sz="1400" smtClean="0"/>
          </a:p>
        </p:txBody>
      </p:sp>
      <p:sp>
        <p:nvSpPr>
          <p:cNvPr id="78853"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1013238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0899">
                                            <p:txEl>
                                              <p:pRg st="0" end="0"/>
                                            </p:txEl>
                                          </p:spTgt>
                                        </p:tgtEl>
                                        <p:attrNameLst>
                                          <p:attrName>style.visibility</p:attrName>
                                        </p:attrNameLst>
                                      </p:cBhvr>
                                      <p:to>
                                        <p:strVal val="visible"/>
                                      </p:to>
                                    </p:set>
                                    <p:animEffect transition="in" filter="box(in)">
                                      <p:cBhvr>
                                        <p:cTn id="7" dur="500"/>
                                        <p:tgtEl>
                                          <p:spTgt spid="808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0899">
                                            <p:txEl>
                                              <p:pRg st="2" end="2"/>
                                            </p:txEl>
                                          </p:spTgt>
                                        </p:tgtEl>
                                        <p:attrNameLst>
                                          <p:attrName>style.visibility</p:attrName>
                                        </p:attrNameLst>
                                      </p:cBhvr>
                                      <p:to>
                                        <p:strVal val="visible"/>
                                      </p:to>
                                    </p:set>
                                    <p:animEffect transition="in" filter="box(in)">
                                      <p:cBhvr>
                                        <p:cTn id="12" dur="500"/>
                                        <p:tgtEl>
                                          <p:spTgt spid="8089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0899">
                                            <p:txEl>
                                              <p:pRg st="4" end="4"/>
                                            </p:txEl>
                                          </p:spTgt>
                                        </p:tgtEl>
                                        <p:attrNameLst>
                                          <p:attrName>style.visibility</p:attrName>
                                        </p:attrNameLst>
                                      </p:cBhvr>
                                      <p:to>
                                        <p:strVal val="visible"/>
                                      </p:to>
                                    </p:set>
                                    <p:animEffect transition="in" filter="box(in)">
                                      <p:cBhvr>
                                        <p:cTn id="17" dur="500"/>
                                        <p:tgtEl>
                                          <p:spTgt spid="80899">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80899">
                                            <p:txEl>
                                              <p:pRg st="5" end="5"/>
                                            </p:txEl>
                                          </p:spTgt>
                                        </p:tgtEl>
                                        <p:attrNameLst>
                                          <p:attrName>style.visibility</p:attrName>
                                        </p:attrNameLst>
                                      </p:cBhvr>
                                      <p:to>
                                        <p:strVal val="visible"/>
                                      </p:to>
                                    </p:set>
                                    <p:animEffect transition="in" filter="box(in)">
                                      <p:cBhvr>
                                        <p:cTn id="22" dur="500"/>
                                        <p:tgtEl>
                                          <p:spTgt spid="808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685800" y="0"/>
            <a:ext cx="7772400" cy="1447800"/>
          </a:xfrm>
        </p:spPr>
        <p:txBody>
          <a:bodyPr/>
          <a:lstStyle/>
          <a:p>
            <a:pPr eaLnBrk="1" hangingPunct="1"/>
            <a:r>
              <a:rPr lang="en-US" sz="4000" b="1" smtClean="0">
                <a:solidFill>
                  <a:srgbClr val="0070C0"/>
                </a:solidFill>
              </a:rPr>
              <a:t>Systematic Approach to Equilibrium Calculations</a:t>
            </a:r>
          </a:p>
        </p:txBody>
      </p:sp>
      <p:sp>
        <p:nvSpPr>
          <p:cNvPr id="88067" name="Rectangle 3"/>
          <p:cNvSpPr>
            <a:spLocks noGrp="1" noChangeArrowheads="1"/>
          </p:cNvSpPr>
          <p:nvPr>
            <p:ph type="body" idx="1"/>
          </p:nvPr>
        </p:nvSpPr>
        <p:spPr>
          <a:xfrm>
            <a:off x="685800" y="1371600"/>
            <a:ext cx="7772400" cy="4724400"/>
          </a:xfrm>
        </p:spPr>
        <p:txBody>
          <a:bodyPr/>
          <a:lstStyle/>
          <a:p>
            <a:pPr eaLnBrk="1" hangingPunct="1"/>
            <a:r>
              <a:rPr lang="en-US" sz="2800" smtClean="0"/>
              <a:t>How to Solve Any Equilibrium Problem</a:t>
            </a:r>
          </a:p>
          <a:p>
            <a:pPr eaLnBrk="1" hangingPunct="1"/>
            <a:r>
              <a:rPr lang="en-US" sz="2800" smtClean="0">
                <a:solidFill>
                  <a:srgbClr val="00B050"/>
                </a:solidFill>
              </a:rPr>
              <a:t>1. Write balanced chemical reactions</a:t>
            </a:r>
          </a:p>
          <a:p>
            <a:pPr eaLnBrk="1" hangingPunct="1"/>
            <a:r>
              <a:rPr lang="en-US" sz="2800" smtClean="0"/>
              <a:t>2. Write equilibrium constant expressions</a:t>
            </a:r>
          </a:p>
          <a:p>
            <a:pPr eaLnBrk="1" hangingPunct="1"/>
            <a:r>
              <a:rPr lang="en-US" sz="2800" smtClean="0">
                <a:solidFill>
                  <a:srgbClr val="00B050"/>
                </a:solidFill>
              </a:rPr>
              <a:t>3. Write all mass balance expressions</a:t>
            </a:r>
          </a:p>
          <a:p>
            <a:pPr eaLnBrk="1" hangingPunct="1"/>
            <a:r>
              <a:rPr lang="en-US" sz="2800" smtClean="0"/>
              <a:t>4. Write the charge balance expression</a:t>
            </a:r>
          </a:p>
          <a:p>
            <a:pPr eaLnBrk="1" hangingPunct="1"/>
            <a:r>
              <a:rPr lang="en-US" sz="2800" smtClean="0">
                <a:solidFill>
                  <a:srgbClr val="00B050"/>
                </a:solidFill>
              </a:rPr>
              <a:t>5. Equations &gt;= Chemical Species sol possible</a:t>
            </a:r>
          </a:p>
          <a:p>
            <a:pPr eaLnBrk="1" hangingPunct="1"/>
            <a:r>
              <a:rPr lang="en-US" sz="2800" smtClean="0"/>
              <a:t>6. Make assumptions where possible</a:t>
            </a:r>
          </a:p>
          <a:p>
            <a:pPr eaLnBrk="1" hangingPunct="1"/>
            <a:r>
              <a:rPr lang="en-US" sz="2800" smtClean="0">
                <a:solidFill>
                  <a:srgbClr val="00B050"/>
                </a:solidFill>
              </a:rPr>
              <a:t>7. Calculate answer</a:t>
            </a:r>
          </a:p>
          <a:p>
            <a:pPr eaLnBrk="1" hangingPunct="1"/>
            <a:r>
              <a:rPr lang="en-US" sz="2800" smtClean="0"/>
              <a:t>8. Check validity of assumptions </a:t>
            </a:r>
          </a:p>
        </p:txBody>
      </p:sp>
      <p:sp>
        <p:nvSpPr>
          <p:cNvPr id="79876"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8A409230-57BE-4E50-8950-B7134E88692E}" type="datetime1">
              <a:rPr lang="en-US" sz="1400" smtClean="0"/>
              <a:pPr eaLnBrk="1" hangingPunct="1"/>
              <a:t>5/6/2021</a:t>
            </a:fld>
            <a:endParaRPr lang="en-US" sz="1400" smtClean="0"/>
          </a:p>
        </p:txBody>
      </p:sp>
      <p:sp>
        <p:nvSpPr>
          <p:cNvPr id="79877"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35507146-6A95-4A9B-8527-224E51CDD8D7}" type="slidenum">
              <a:rPr lang="en-US" sz="1400" smtClean="0"/>
              <a:pPr eaLnBrk="1" hangingPunct="1"/>
              <a:t>75</a:t>
            </a:fld>
            <a:endParaRPr lang="en-US" sz="1400" smtClean="0"/>
          </a:p>
        </p:txBody>
      </p:sp>
      <p:sp>
        <p:nvSpPr>
          <p:cNvPr id="79878"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8665116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8066"/>
                                        </p:tgtEl>
                                        <p:attrNameLst>
                                          <p:attrName>style.visibility</p:attrName>
                                        </p:attrNameLst>
                                      </p:cBhvr>
                                      <p:to>
                                        <p:strVal val="visible"/>
                                      </p:to>
                                    </p:set>
                                    <p:animEffect transition="in" filter="box(in)">
                                      <p:cBhvr>
                                        <p:cTn id="7" dur="500"/>
                                        <p:tgtEl>
                                          <p:spTgt spid="880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8067">
                                            <p:txEl>
                                              <p:pRg st="0" end="0"/>
                                            </p:txEl>
                                          </p:spTgt>
                                        </p:tgtEl>
                                        <p:attrNameLst>
                                          <p:attrName>style.visibility</p:attrName>
                                        </p:attrNameLst>
                                      </p:cBhvr>
                                      <p:to>
                                        <p:strVal val="visible"/>
                                      </p:to>
                                    </p:set>
                                    <p:animEffect transition="in" filter="box(in)">
                                      <p:cBhvr>
                                        <p:cTn id="12" dur="500"/>
                                        <p:tgtEl>
                                          <p:spTgt spid="8806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8067">
                                            <p:txEl>
                                              <p:pRg st="1" end="1"/>
                                            </p:txEl>
                                          </p:spTgt>
                                        </p:tgtEl>
                                        <p:attrNameLst>
                                          <p:attrName>style.visibility</p:attrName>
                                        </p:attrNameLst>
                                      </p:cBhvr>
                                      <p:to>
                                        <p:strVal val="visible"/>
                                      </p:to>
                                    </p:set>
                                    <p:animEffect transition="in" filter="box(in)">
                                      <p:cBhvr>
                                        <p:cTn id="17" dur="500"/>
                                        <p:tgtEl>
                                          <p:spTgt spid="8806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88067">
                                            <p:txEl>
                                              <p:pRg st="2" end="2"/>
                                            </p:txEl>
                                          </p:spTgt>
                                        </p:tgtEl>
                                        <p:attrNameLst>
                                          <p:attrName>style.visibility</p:attrName>
                                        </p:attrNameLst>
                                      </p:cBhvr>
                                      <p:to>
                                        <p:strVal val="visible"/>
                                      </p:to>
                                    </p:set>
                                    <p:animEffect transition="in" filter="box(in)">
                                      <p:cBhvr>
                                        <p:cTn id="22" dur="500"/>
                                        <p:tgtEl>
                                          <p:spTgt spid="88067">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88067">
                                            <p:txEl>
                                              <p:pRg st="3" end="3"/>
                                            </p:txEl>
                                          </p:spTgt>
                                        </p:tgtEl>
                                        <p:attrNameLst>
                                          <p:attrName>style.visibility</p:attrName>
                                        </p:attrNameLst>
                                      </p:cBhvr>
                                      <p:to>
                                        <p:strVal val="visible"/>
                                      </p:to>
                                    </p:set>
                                    <p:animEffect transition="in" filter="box(in)">
                                      <p:cBhvr>
                                        <p:cTn id="27" dur="500"/>
                                        <p:tgtEl>
                                          <p:spTgt spid="88067">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88067">
                                            <p:txEl>
                                              <p:pRg st="4" end="4"/>
                                            </p:txEl>
                                          </p:spTgt>
                                        </p:tgtEl>
                                        <p:attrNameLst>
                                          <p:attrName>style.visibility</p:attrName>
                                        </p:attrNameLst>
                                      </p:cBhvr>
                                      <p:to>
                                        <p:strVal val="visible"/>
                                      </p:to>
                                    </p:set>
                                    <p:animEffect transition="in" filter="box(in)">
                                      <p:cBhvr>
                                        <p:cTn id="32" dur="500"/>
                                        <p:tgtEl>
                                          <p:spTgt spid="88067">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88067">
                                            <p:txEl>
                                              <p:pRg st="5" end="5"/>
                                            </p:txEl>
                                          </p:spTgt>
                                        </p:tgtEl>
                                        <p:attrNameLst>
                                          <p:attrName>style.visibility</p:attrName>
                                        </p:attrNameLst>
                                      </p:cBhvr>
                                      <p:to>
                                        <p:strVal val="visible"/>
                                      </p:to>
                                    </p:set>
                                    <p:animEffect transition="in" filter="box(in)">
                                      <p:cBhvr>
                                        <p:cTn id="37" dur="500"/>
                                        <p:tgtEl>
                                          <p:spTgt spid="88067">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88067">
                                            <p:txEl>
                                              <p:pRg st="6" end="6"/>
                                            </p:txEl>
                                          </p:spTgt>
                                        </p:tgtEl>
                                        <p:attrNameLst>
                                          <p:attrName>style.visibility</p:attrName>
                                        </p:attrNameLst>
                                      </p:cBhvr>
                                      <p:to>
                                        <p:strVal val="visible"/>
                                      </p:to>
                                    </p:set>
                                    <p:animEffect transition="in" filter="box(in)">
                                      <p:cBhvr>
                                        <p:cTn id="42" dur="500"/>
                                        <p:tgtEl>
                                          <p:spTgt spid="88067">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88067">
                                            <p:txEl>
                                              <p:pRg st="7" end="7"/>
                                            </p:txEl>
                                          </p:spTgt>
                                        </p:tgtEl>
                                        <p:attrNameLst>
                                          <p:attrName>style.visibility</p:attrName>
                                        </p:attrNameLst>
                                      </p:cBhvr>
                                      <p:to>
                                        <p:strVal val="visible"/>
                                      </p:to>
                                    </p:set>
                                    <p:animEffect transition="in" filter="box(in)">
                                      <p:cBhvr>
                                        <p:cTn id="47" dur="500"/>
                                        <p:tgtEl>
                                          <p:spTgt spid="88067">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88067">
                                            <p:txEl>
                                              <p:pRg st="8" end="8"/>
                                            </p:txEl>
                                          </p:spTgt>
                                        </p:tgtEl>
                                        <p:attrNameLst>
                                          <p:attrName>style.visibility</p:attrName>
                                        </p:attrNameLst>
                                      </p:cBhvr>
                                      <p:to>
                                        <p:strVal val="visible"/>
                                      </p:to>
                                    </p:set>
                                    <p:animEffect transition="in" filter="box(in)">
                                      <p:cBhvr>
                                        <p:cTn id="52" dur="500"/>
                                        <p:tgtEl>
                                          <p:spTgt spid="8806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p:bldP spid="88067"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endParaRPr lang="en-US" smtClean="0"/>
          </a:p>
        </p:txBody>
      </p:sp>
      <p:sp>
        <p:nvSpPr>
          <p:cNvPr id="3" name="Content Placeholder 2"/>
          <p:cNvSpPr>
            <a:spLocks noGrp="1"/>
          </p:cNvSpPr>
          <p:nvPr>
            <p:ph idx="1"/>
          </p:nvPr>
        </p:nvSpPr>
        <p:spPr/>
        <p:txBody>
          <a:bodyPr/>
          <a:lstStyle/>
          <a:p>
            <a:r>
              <a:rPr lang="en-US" smtClean="0"/>
              <a:t>Flow chart for </a:t>
            </a:r>
            <a:r>
              <a:rPr lang="en-US" smtClean="0">
                <a:solidFill>
                  <a:srgbClr val="00B050"/>
                </a:solidFill>
              </a:rPr>
              <a:t>systematic approach </a:t>
            </a:r>
            <a:r>
              <a:rPr lang="en-US" smtClean="0"/>
              <a:t>to multiple equilibria calculations</a:t>
            </a:r>
          </a:p>
        </p:txBody>
      </p:sp>
      <p:sp>
        <p:nvSpPr>
          <p:cNvPr id="80900"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4E97D983-CC5A-40D4-8547-4F4CBC930EB7}" type="datetime1">
              <a:rPr lang="en-US" sz="1400" smtClean="0"/>
              <a:pPr eaLnBrk="1" hangingPunct="1"/>
              <a:t>5/6/2021</a:t>
            </a:fld>
            <a:endParaRPr lang="en-US" sz="1400" smtClean="0"/>
          </a:p>
        </p:txBody>
      </p:sp>
      <p:sp>
        <p:nvSpPr>
          <p:cNvPr id="80901"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AA900A0-0CDD-460C-A176-364BF37015B4}" type="slidenum">
              <a:rPr lang="en-US" sz="1400" smtClean="0"/>
              <a:pPr eaLnBrk="1" hangingPunct="1"/>
              <a:t>76</a:t>
            </a:fld>
            <a:endParaRPr lang="en-US" sz="1400" smtClean="0"/>
          </a:p>
        </p:txBody>
      </p:sp>
      <p:sp>
        <p:nvSpPr>
          <p:cNvPr id="80902"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7854440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0" y="228600"/>
            <a:ext cx="1752600" cy="584200"/>
          </a:xfrm>
          <a:prstGeom prst="rect">
            <a:avLst/>
          </a:prstGeom>
          <a:noFill/>
          <a:ln>
            <a:solidFill>
              <a:schemeClr val="accent1">
                <a:shade val="50000"/>
              </a:schemeClr>
            </a:solidFill>
          </a:ln>
        </p:spPr>
        <p:txBody>
          <a:bodyPr>
            <a:spAutoFit/>
          </a:bodyPr>
          <a:lstStyle/>
          <a:p>
            <a:pPr algn="ctr">
              <a:defRPr/>
            </a:pPr>
            <a:r>
              <a:rPr lang="en-US" sz="1600" dirty="0"/>
              <a:t>Write balanced chemical equations</a:t>
            </a:r>
          </a:p>
        </p:txBody>
      </p:sp>
      <p:sp>
        <p:nvSpPr>
          <p:cNvPr id="3" name="TextBox 2"/>
          <p:cNvSpPr txBox="1"/>
          <p:nvPr/>
        </p:nvSpPr>
        <p:spPr>
          <a:xfrm>
            <a:off x="2514600" y="1066800"/>
            <a:ext cx="1752600" cy="584200"/>
          </a:xfrm>
          <a:prstGeom prst="rect">
            <a:avLst/>
          </a:prstGeom>
          <a:noFill/>
          <a:ln>
            <a:solidFill>
              <a:schemeClr val="accent1">
                <a:shade val="50000"/>
              </a:schemeClr>
            </a:solidFill>
          </a:ln>
        </p:spPr>
        <p:txBody>
          <a:bodyPr>
            <a:spAutoFit/>
          </a:bodyPr>
          <a:lstStyle/>
          <a:p>
            <a:pPr algn="ctr">
              <a:defRPr/>
            </a:pPr>
            <a:r>
              <a:rPr lang="en-US" sz="1600" dirty="0"/>
              <a:t>Set up equation for unknown quantity</a:t>
            </a:r>
          </a:p>
        </p:txBody>
      </p:sp>
      <p:sp>
        <p:nvSpPr>
          <p:cNvPr id="4" name="TextBox 3"/>
          <p:cNvSpPr txBox="1"/>
          <p:nvPr/>
        </p:nvSpPr>
        <p:spPr>
          <a:xfrm>
            <a:off x="2344738" y="2028825"/>
            <a:ext cx="2057400" cy="584200"/>
          </a:xfrm>
          <a:prstGeom prst="rect">
            <a:avLst/>
          </a:prstGeom>
          <a:noFill/>
          <a:ln>
            <a:solidFill>
              <a:schemeClr val="accent1">
                <a:shade val="50000"/>
              </a:schemeClr>
            </a:solidFill>
          </a:ln>
        </p:spPr>
        <p:txBody>
          <a:bodyPr>
            <a:spAutoFit/>
          </a:bodyPr>
          <a:lstStyle/>
          <a:p>
            <a:pPr algn="ctr">
              <a:defRPr/>
            </a:pPr>
            <a:r>
              <a:rPr lang="en-US" sz="1600" dirty="0"/>
              <a:t>Write equilibrium constants expressions</a:t>
            </a:r>
          </a:p>
        </p:txBody>
      </p:sp>
      <p:sp>
        <p:nvSpPr>
          <p:cNvPr id="5" name="TextBox 4"/>
          <p:cNvSpPr txBox="1"/>
          <p:nvPr/>
        </p:nvSpPr>
        <p:spPr>
          <a:xfrm>
            <a:off x="2362200" y="2895600"/>
            <a:ext cx="2057400" cy="584200"/>
          </a:xfrm>
          <a:prstGeom prst="rect">
            <a:avLst/>
          </a:prstGeom>
          <a:noFill/>
          <a:ln>
            <a:solidFill>
              <a:schemeClr val="accent1">
                <a:shade val="50000"/>
              </a:schemeClr>
            </a:solidFill>
          </a:ln>
        </p:spPr>
        <p:txBody>
          <a:bodyPr>
            <a:spAutoFit/>
          </a:bodyPr>
          <a:lstStyle/>
          <a:p>
            <a:pPr algn="ctr">
              <a:defRPr/>
            </a:pPr>
            <a:r>
              <a:rPr lang="en-US" sz="1600" dirty="0"/>
              <a:t>Write  mass balanced expressions equations</a:t>
            </a:r>
          </a:p>
        </p:txBody>
      </p:sp>
      <p:sp>
        <p:nvSpPr>
          <p:cNvPr id="6" name="TextBox 5"/>
          <p:cNvSpPr txBox="1"/>
          <p:nvPr/>
        </p:nvSpPr>
        <p:spPr>
          <a:xfrm>
            <a:off x="2514600" y="3733800"/>
            <a:ext cx="1752600" cy="830263"/>
          </a:xfrm>
          <a:prstGeom prst="rect">
            <a:avLst/>
          </a:prstGeom>
          <a:noFill/>
          <a:ln>
            <a:solidFill>
              <a:schemeClr val="accent1">
                <a:shade val="50000"/>
              </a:schemeClr>
            </a:solidFill>
          </a:ln>
        </p:spPr>
        <p:txBody>
          <a:bodyPr>
            <a:spAutoFit/>
          </a:bodyPr>
          <a:lstStyle/>
          <a:p>
            <a:pPr algn="ctr">
              <a:defRPr/>
            </a:pPr>
            <a:r>
              <a:rPr lang="en-US" sz="1600" dirty="0"/>
              <a:t>Count no. of equations and </a:t>
            </a:r>
            <a:r>
              <a:rPr lang="en-US" sz="1600" dirty="0" err="1"/>
              <a:t>no.of</a:t>
            </a:r>
            <a:r>
              <a:rPr lang="en-US" sz="1600" dirty="0"/>
              <a:t>  unknowns</a:t>
            </a:r>
          </a:p>
        </p:txBody>
      </p:sp>
      <p:sp>
        <p:nvSpPr>
          <p:cNvPr id="7" name="Flowchart: Decision 6"/>
          <p:cNvSpPr/>
          <p:nvPr/>
        </p:nvSpPr>
        <p:spPr>
          <a:xfrm>
            <a:off x="1905000" y="4800600"/>
            <a:ext cx="3200400" cy="990600"/>
          </a:xfrm>
          <a:prstGeom prst="flowChartDecision">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TextBox 7"/>
          <p:cNvSpPr txBox="1"/>
          <p:nvPr/>
        </p:nvSpPr>
        <p:spPr>
          <a:xfrm>
            <a:off x="5943600" y="4953000"/>
            <a:ext cx="1752600" cy="584200"/>
          </a:xfrm>
          <a:prstGeom prst="rect">
            <a:avLst/>
          </a:prstGeom>
          <a:noFill/>
          <a:ln>
            <a:solidFill>
              <a:schemeClr val="accent1">
                <a:shade val="50000"/>
              </a:schemeClr>
            </a:solidFill>
          </a:ln>
        </p:spPr>
        <p:txBody>
          <a:bodyPr>
            <a:spAutoFit/>
          </a:bodyPr>
          <a:lstStyle/>
          <a:p>
            <a:pPr algn="ctr">
              <a:defRPr/>
            </a:pPr>
            <a:r>
              <a:rPr lang="en-US" sz="1600" dirty="0"/>
              <a:t>Make suitable approximation</a:t>
            </a:r>
          </a:p>
        </p:txBody>
      </p:sp>
      <p:sp>
        <p:nvSpPr>
          <p:cNvPr id="9" name="TextBox 8"/>
          <p:cNvSpPr txBox="1">
            <a:spLocks noChangeArrowheads="1"/>
          </p:cNvSpPr>
          <p:nvPr/>
        </p:nvSpPr>
        <p:spPr bwMode="auto">
          <a:xfrm>
            <a:off x="2667000" y="4953000"/>
            <a:ext cx="1752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sz="1600"/>
              <a:t>Is no. of equations ≥ no. of unknowns?</a:t>
            </a:r>
          </a:p>
        </p:txBody>
      </p:sp>
      <p:sp>
        <p:nvSpPr>
          <p:cNvPr id="10" name="Flowchart: Terminator 9"/>
          <p:cNvSpPr/>
          <p:nvPr/>
        </p:nvSpPr>
        <p:spPr>
          <a:xfrm>
            <a:off x="2286000" y="6096000"/>
            <a:ext cx="2362200" cy="457200"/>
          </a:xfrm>
          <a:prstGeom prst="flowChartTerminator">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TextBox 10"/>
          <p:cNvSpPr txBox="1">
            <a:spLocks noChangeArrowheads="1"/>
          </p:cNvSpPr>
          <p:nvPr/>
        </p:nvSpPr>
        <p:spPr bwMode="auto">
          <a:xfrm>
            <a:off x="2590800" y="6019800"/>
            <a:ext cx="1752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sz="1600"/>
              <a:t>Stop . problem unsolved</a:t>
            </a:r>
          </a:p>
        </p:txBody>
      </p:sp>
      <p:sp>
        <p:nvSpPr>
          <p:cNvPr id="12" name="TextBox 11"/>
          <p:cNvSpPr txBox="1"/>
          <p:nvPr/>
        </p:nvSpPr>
        <p:spPr>
          <a:xfrm>
            <a:off x="6019800" y="3810000"/>
            <a:ext cx="1752600" cy="584200"/>
          </a:xfrm>
          <a:prstGeom prst="rect">
            <a:avLst/>
          </a:prstGeom>
          <a:noFill/>
          <a:ln>
            <a:solidFill>
              <a:schemeClr val="accent1">
                <a:shade val="50000"/>
              </a:schemeClr>
            </a:solidFill>
          </a:ln>
        </p:spPr>
        <p:txBody>
          <a:bodyPr>
            <a:spAutoFit/>
          </a:bodyPr>
          <a:lstStyle/>
          <a:p>
            <a:pPr algn="ctr">
              <a:defRPr/>
            </a:pPr>
            <a:r>
              <a:rPr lang="en-US" sz="1600" dirty="0"/>
              <a:t>Solve equations for unknown </a:t>
            </a:r>
          </a:p>
        </p:txBody>
      </p:sp>
      <p:sp>
        <p:nvSpPr>
          <p:cNvPr id="13" name="TextBox 12"/>
          <p:cNvSpPr txBox="1">
            <a:spLocks noChangeArrowheads="1"/>
          </p:cNvSpPr>
          <p:nvPr/>
        </p:nvSpPr>
        <p:spPr bwMode="auto">
          <a:xfrm>
            <a:off x="6019800" y="2667000"/>
            <a:ext cx="2057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sz="1600"/>
              <a:t>Were approximation valid?</a:t>
            </a:r>
          </a:p>
        </p:txBody>
      </p:sp>
      <p:sp>
        <p:nvSpPr>
          <p:cNvPr id="14" name="Flowchart: Decision 13"/>
          <p:cNvSpPr/>
          <p:nvPr/>
        </p:nvSpPr>
        <p:spPr>
          <a:xfrm>
            <a:off x="5334000" y="2438400"/>
            <a:ext cx="3124200" cy="914400"/>
          </a:xfrm>
          <a:prstGeom prst="flowChartDecision">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Flowchart: Terminator 14"/>
          <p:cNvSpPr/>
          <p:nvPr/>
        </p:nvSpPr>
        <p:spPr>
          <a:xfrm>
            <a:off x="5638800" y="1447800"/>
            <a:ext cx="2362200" cy="457200"/>
          </a:xfrm>
          <a:prstGeom prst="flowChartTerminator">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TextBox 15"/>
          <p:cNvSpPr txBox="1">
            <a:spLocks noChangeArrowheads="1"/>
          </p:cNvSpPr>
          <p:nvPr/>
        </p:nvSpPr>
        <p:spPr bwMode="auto">
          <a:xfrm>
            <a:off x="5943600" y="1473200"/>
            <a:ext cx="1752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sz="1600"/>
              <a:t>Problem solved</a:t>
            </a:r>
          </a:p>
        </p:txBody>
      </p:sp>
      <p:cxnSp>
        <p:nvCxnSpPr>
          <p:cNvPr id="18" name="Straight Arrow Connector 17"/>
          <p:cNvCxnSpPr>
            <a:stCxn id="2" idx="2"/>
            <a:endCxn id="3" idx="0"/>
          </p:cNvCxnSpPr>
          <p:nvPr/>
        </p:nvCxnSpPr>
        <p:spPr>
          <a:xfrm rot="5400000">
            <a:off x="3265488" y="939800"/>
            <a:ext cx="25241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3" idx="2"/>
            <a:endCxn id="4" idx="0"/>
          </p:cNvCxnSpPr>
          <p:nvPr/>
        </p:nvCxnSpPr>
        <p:spPr>
          <a:xfrm rot="5400000">
            <a:off x="3193256" y="1831182"/>
            <a:ext cx="377825" cy="174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4" idx="2"/>
            <a:endCxn id="5" idx="0"/>
          </p:cNvCxnSpPr>
          <p:nvPr/>
        </p:nvCxnSpPr>
        <p:spPr>
          <a:xfrm rot="16200000" flipH="1">
            <a:off x="3240881" y="2745582"/>
            <a:ext cx="282575" cy="174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5" idx="2"/>
            <a:endCxn id="6" idx="0"/>
          </p:cNvCxnSpPr>
          <p:nvPr/>
        </p:nvCxnSpPr>
        <p:spPr>
          <a:xfrm rot="5400000">
            <a:off x="3265488" y="3606800"/>
            <a:ext cx="25241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7" idx="0"/>
          </p:cNvCxnSpPr>
          <p:nvPr/>
        </p:nvCxnSpPr>
        <p:spPr>
          <a:xfrm rot="5400000">
            <a:off x="3392488" y="4686300"/>
            <a:ext cx="22701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7" idx="2"/>
          </p:cNvCxnSpPr>
          <p:nvPr/>
        </p:nvCxnSpPr>
        <p:spPr>
          <a:xfrm rot="16200000" flipH="1">
            <a:off x="3390900" y="5905500"/>
            <a:ext cx="3048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5105400" y="5305425"/>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8" idx="0"/>
            <a:endCxn id="12" idx="2"/>
          </p:cNvCxnSpPr>
          <p:nvPr/>
        </p:nvCxnSpPr>
        <p:spPr>
          <a:xfrm rot="5400000" flipH="1" flipV="1">
            <a:off x="6578600" y="4635500"/>
            <a:ext cx="5588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2" idx="0"/>
            <a:endCxn id="14" idx="2"/>
          </p:cNvCxnSpPr>
          <p:nvPr/>
        </p:nvCxnSpPr>
        <p:spPr>
          <a:xfrm rot="5400000" flipH="1" flipV="1">
            <a:off x="6667501" y="3581400"/>
            <a:ext cx="457200" cy="3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4" idx="0"/>
            <a:endCxn id="15" idx="2"/>
          </p:cNvCxnSpPr>
          <p:nvPr/>
        </p:nvCxnSpPr>
        <p:spPr>
          <a:xfrm rot="16200000" flipV="1">
            <a:off x="6591300" y="2133600"/>
            <a:ext cx="5334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Elbow Connector 39"/>
          <p:cNvCxnSpPr>
            <a:stCxn id="14" idx="3"/>
            <a:endCxn id="8" idx="3"/>
          </p:cNvCxnSpPr>
          <p:nvPr/>
        </p:nvCxnSpPr>
        <p:spPr>
          <a:xfrm flipH="1">
            <a:off x="7696200" y="2895600"/>
            <a:ext cx="762000" cy="2349500"/>
          </a:xfrm>
          <a:prstGeom prst="bentConnector3">
            <a:avLst>
              <a:gd name="adj1" fmla="val -30000"/>
            </a:avLst>
          </a:prstGeom>
          <a:ln>
            <a:tailEnd type="arrow"/>
          </a:ln>
        </p:spPr>
        <p:style>
          <a:lnRef idx="1">
            <a:schemeClr val="accent1"/>
          </a:lnRef>
          <a:fillRef idx="0">
            <a:schemeClr val="accent1"/>
          </a:fillRef>
          <a:effectRef idx="0">
            <a:schemeClr val="accent1"/>
          </a:effectRef>
          <a:fontRef idx="minor">
            <a:schemeClr val="tx1"/>
          </a:fontRef>
        </p:style>
      </p:cxnSp>
      <p:sp>
        <p:nvSpPr>
          <p:cNvPr id="48" name="TextBox 47"/>
          <p:cNvSpPr txBox="1">
            <a:spLocks noChangeArrowheads="1"/>
          </p:cNvSpPr>
          <p:nvPr/>
        </p:nvSpPr>
        <p:spPr bwMode="auto">
          <a:xfrm>
            <a:off x="5105400" y="4876800"/>
            <a:ext cx="457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sz="1600"/>
              <a:t>yes</a:t>
            </a:r>
          </a:p>
        </p:txBody>
      </p:sp>
      <p:sp>
        <p:nvSpPr>
          <p:cNvPr id="49" name="TextBox 48"/>
          <p:cNvSpPr txBox="1">
            <a:spLocks noChangeArrowheads="1"/>
          </p:cNvSpPr>
          <p:nvPr/>
        </p:nvSpPr>
        <p:spPr bwMode="auto">
          <a:xfrm>
            <a:off x="3810000" y="5715000"/>
            <a:ext cx="457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sz="1600"/>
              <a:t>no</a:t>
            </a:r>
          </a:p>
        </p:txBody>
      </p:sp>
      <p:sp>
        <p:nvSpPr>
          <p:cNvPr id="50" name="TextBox 49"/>
          <p:cNvSpPr txBox="1">
            <a:spLocks noChangeArrowheads="1"/>
          </p:cNvSpPr>
          <p:nvPr/>
        </p:nvSpPr>
        <p:spPr bwMode="auto">
          <a:xfrm>
            <a:off x="6324600" y="1981200"/>
            <a:ext cx="457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sz="1600"/>
              <a:t>yes</a:t>
            </a:r>
          </a:p>
        </p:txBody>
      </p:sp>
      <p:sp>
        <p:nvSpPr>
          <p:cNvPr id="51" name="TextBox 50"/>
          <p:cNvSpPr txBox="1">
            <a:spLocks noChangeArrowheads="1"/>
          </p:cNvSpPr>
          <p:nvPr/>
        </p:nvSpPr>
        <p:spPr bwMode="auto">
          <a:xfrm>
            <a:off x="8382000" y="2514600"/>
            <a:ext cx="457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sz="1600"/>
              <a:t>no</a:t>
            </a:r>
          </a:p>
        </p:txBody>
      </p:sp>
      <p:sp>
        <p:nvSpPr>
          <p:cNvPr id="52" name="TextBox 51"/>
          <p:cNvSpPr txBox="1">
            <a:spLocks noChangeArrowheads="1"/>
          </p:cNvSpPr>
          <p:nvPr/>
        </p:nvSpPr>
        <p:spPr bwMode="auto">
          <a:xfrm>
            <a:off x="8077200" y="4495800"/>
            <a:ext cx="838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sz="1600"/>
              <a:t>Try again</a:t>
            </a:r>
          </a:p>
        </p:txBody>
      </p:sp>
      <p:sp>
        <p:nvSpPr>
          <p:cNvPr id="81953" name="Date Placeholder 44"/>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4FECBB79-162E-4BC6-AD5B-85A6042D3BB4}" type="datetime1">
              <a:rPr lang="en-US" sz="1400" smtClean="0"/>
              <a:pPr eaLnBrk="1" hangingPunct="1"/>
              <a:t>5/6/2021</a:t>
            </a:fld>
            <a:endParaRPr lang="en-US" sz="1400" smtClean="0"/>
          </a:p>
        </p:txBody>
      </p:sp>
      <p:sp>
        <p:nvSpPr>
          <p:cNvPr id="81954" name="Slide Number Placeholder 4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07A1CD6-511B-45C2-9130-32C10FC9A815}" type="slidenum">
              <a:rPr lang="en-US" sz="1400" smtClean="0"/>
              <a:pPr eaLnBrk="1" hangingPunct="1"/>
              <a:t>77</a:t>
            </a:fld>
            <a:endParaRPr lang="en-US" sz="1400" smtClean="0"/>
          </a:p>
        </p:txBody>
      </p:sp>
      <p:sp>
        <p:nvSpPr>
          <p:cNvPr id="81955" name="Footer Placeholder 4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mc:AlternateContent xmlns:mc="http://schemas.openxmlformats.org/markup-compatibility/2006">
        <mc:Choice xmlns:p14="http://schemas.microsoft.com/office/powerpoint/2010/main" Requires="p14">
          <p:contentPart p14:bwMode="auto" r:id="rId2">
            <p14:nvContentPartPr>
              <p14:cNvPr id="12290" name="Ink 33"/>
              <p14:cNvContentPartPr>
                <a14:cpLocks xmlns:a14="http://schemas.microsoft.com/office/drawing/2010/main" noRot="1" noChangeAspect="1" noEditPoints="1" noChangeArrowheads="1" noChangeShapeType="1"/>
              </p14:cNvContentPartPr>
              <p14:nvPr/>
            </p14:nvContentPartPr>
            <p14:xfrm>
              <a:off x="7161213" y="5768975"/>
              <a:ext cx="1587" cy="1588"/>
            </p14:xfrm>
          </p:contentPart>
        </mc:Choice>
        <mc:Fallback>
          <p:pic>
            <p:nvPicPr>
              <p:cNvPr id="12290" name="Ink 33"/>
              <p:cNvPicPr>
                <a:picLocks noRot="1" noChangeAspect="1" noEditPoints="1" noChangeArrowheads="1" noChangeShapeType="1"/>
              </p:cNvPicPr>
              <p:nvPr/>
            </p:nvPicPr>
            <p:blipFill>
              <a:blip r:embed="rId3"/>
              <a:stretch>
                <a:fillRect/>
              </a:stretch>
            </p:blipFill>
            <p:spPr>
              <a:xfrm>
                <a:off x="7132647" y="5740391"/>
                <a:ext cx="58719" cy="58756"/>
              </a:xfrm>
              <a:prstGeom prst="rect">
                <a:avLst/>
              </a:prstGeom>
            </p:spPr>
          </p:pic>
        </mc:Fallback>
      </mc:AlternateContent>
    </p:spTree>
    <p:extLst>
      <p:ext uri="{BB962C8B-B14F-4D97-AF65-F5344CB8AC3E}">
        <p14:creationId xmlns:p14="http://schemas.microsoft.com/office/powerpoint/2010/main" val="1457654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ox(in)">
                                      <p:cBhvr>
                                        <p:cTn id="12" dur="500"/>
                                        <p:tgtEl>
                                          <p:spTgt spid="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in)">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box(in)">
                                      <p:cBhvr>
                                        <p:cTn id="22" dur="500"/>
                                        <p:tgtEl>
                                          <p:spTgt spid="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box(in)">
                                      <p:cBhvr>
                                        <p:cTn id="27" dur="500"/>
                                        <p:tgtEl>
                                          <p:spTgt spid="4">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
                                            <p:bg/>
                                          </p:spTgt>
                                        </p:tgtEl>
                                        <p:attrNameLst>
                                          <p:attrName>style.visibility</p:attrName>
                                        </p:attrNameLst>
                                      </p:cBhvr>
                                      <p:to>
                                        <p:strVal val="visible"/>
                                      </p:to>
                                    </p:set>
                                    <p:animEffect transition="in" filter="box(in)">
                                      <p:cBhvr>
                                        <p:cTn id="32" dur="500"/>
                                        <p:tgtEl>
                                          <p:spTgt spid="4">
                                            <p:bg/>
                                          </p:spTgt>
                                        </p:tgtEl>
                                      </p:cBhvr>
                                    </p:animEffect>
                                  </p:childTnLst>
                                </p:cTn>
                              </p:par>
                              <p:par>
                                <p:cTn id="33" presetID="4" presetClass="entr" presetSubtype="16" fill="hold" grpId="0" nodeType="withEffect">
                                  <p:stCondLst>
                                    <p:cond delay="0"/>
                                  </p:stCondLst>
                                  <p:childTnLst>
                                    <p:set>
                                      <p:cBhvr>
                                        <p:cTn id="34" dur="1" fill="hold">
                                          <p:stCondLst>
                                            <p:cond delay="0"/>
                                          </p:stCondLst>
                                        </p:cTn>
                                        <p:tgtEl>
                                          <p:spTgt spid="4">
                                            <p:txEl>
                                              <p:pRg st="0" end="0"/>
                                            </p:txEl>
                                          </p:spTgt>
                                        </p:tgtEl>
                                        <p:attrNameLst>
                                          <p:attrName>style.visibility</p:attrName>
                                        </p:attrNameLst>
                                      </p:cBhvr>
                                      <p:to>
                                        <p:strVal val="visible"/>
                                      </p:to>
                                    </p:set>
                                    <p:animEffect transition="in" filter="box(in)">
                                      <p:cBhvr>
                                        <p:cTn id="35" dur="500"/>
                                        <p:tgtEl>
                                          <p:spTgt spid="4">
                                            <p:txEl>
                                              <p:pRg st="0" end="0"/>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16" fill="hold"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box(in)">
                                      <p:cBhvr>
                                        <p:cTn id="40" dur="500"/>
                                        <p:tgtEl>
                                          <p:spTgt spid="2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box(in)">
                                      <p:cBhvr>
                                        <p:cTn id="45" dur="500"/>
                                        <p:tgtEl>
                                          <p:spTgt spid="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16" fill="hold"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box(in)">
                                      <p:cBhvr>
                                        <p:cTn id="50" dur="500"/>
                                        <p:tgtEl>
                                          <p:spTgt spid="2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16"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box(in)">
                                      <p:cBhvr>
                                        <p:cTn id="55" dur="500"/>
                                        <p:tgtEl>
                                          <p:spTgt spid="6"/>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16" fill="hold" nodeType="click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box(in)">
                                      <p:cBhvr>
                                        <p:cTn id="60" dur="500"/>
                                        <p:tgtEl>
                                          <p:spTgt spid="2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4" presetClass="entr" presetSubtype="16" fill="hold" grpId="0" nodeType="clickEffect">
                                  <p:stCondLst>
                                    <p:cond delay="0"/>
                                  </p:stCondLst>
                                  <p:childTnLst>
                                    <p:set>
                                      <p:cBhvr>
                                        <p:cTn id="64" dur="1" fill="hold">
                                          <p:stCondLst>
                                            <p:cond delay="0"/>
                                          </p:stCondLst>
                                        </p:cTn>
                                        <p:tgtEl>
                                          <p:spTgt spid="7"/>
                                        </p:tgtEl>
                                        <p:attrNameLst>
                                          <p:attrName>style.visibility</p:attrName>
                                        </p:attrNameLst>
                                      </p:cBhvr>
                                      <p:to>
                                        <p:strVal val="visible"/>
                                      </p:to>
                                    </p:set>
                                    <p:animEffect transition="in" filter="box(in)">
                                      <p:cBhvr>
                                        <p:cTn id="65" dur="500"/>
                                        <p:tgtEl>
                                          <p:spTgt spid="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4" presetClass="entr" presetSubtype="16" fill="hold" grpId="0" nodeType="clickEffect">
                                  <p:stCondLst>
                                    <p:cond delay="0"/>
                                  </p:stCondLst>
                                  <p:childTnLst>
                                    <p:set>
                                      <p:cBhvr>
                                        <p:cTn id="69" dur="1" fill="hold">
                                          <p:stCondLst>
                                            <p:cond delay="0"/>
                                          </p:stCondLst>
                                        </p:cTn>
                                        <p:tgtEl>
                                          <p:spTgt spid="9"/>
                                        </p:tgtEl>
                                        <p:attrNameLst>
                                          <p:attrName>style.visibility</p:attrName>
                                        </p:attrNameLst>
                                      </p:cBhvr>
                                      <p:to>
                                        <p:strVal val="visible"/>
                                      </p:to>
                                    </p:set>
                                    <p:animEffect transition="in" filter="box(in)">
                                      <p:cBhvr>
                                        <p:cTn id="70" dur="500"/>
                                        <p:tgtEl>
                                          <p:spTgt spid="9"/>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4" presetClass="entr" presetSubtype="16" fill="hold" grpId="0" nodeType="clickEffect">
                                  <p:stCondLst>
                                    <p:cond delay="0"/>
                                  </p:stCondLst>
                                  <p:childTnLst>
                                    <p:set>
                                      <p:cBhvr>
                                        <p:cTn id="74" dur="1" fill="hold">
                                          <p:stCondLst>
                                            <p:cond delay="0"/>
                                          </p:stCondLst>
                                        </p:cTn>
                                        <p:tgtEl>
                                          <p:spTgt spid="49"/>
                                        </p:tgtEl>
                                        <p:attrNameLst>
                                          <p:attrName>style.visibility</p:attrName>
                                        </p:attrNameLst>
                                      </p:cBhvr>
                                      <p:to>
                                        <p:strVal val="visible"/>
                                      </p:to>
                                    </p:set>
                                    <p:animEffect transition="in" filter="box(in)">
                                      <p:cBhvr>
                                        <p:cTn id="75" dur="500"/>
                                        <p:tgtEl>
                                          <p:spTgt spid="49"/>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4" presetClass="entr" presetSubtype="16" fill="hold" nodeType="click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box(in)">
                                      <p:cBhvr>
                                        <p:cTn id="80" dur="500"/>
                                        <p:tgtEl>
                                          <p:spTgt spid="30"/>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4" presetClass="entr" presetSubtype="16" fill="hold" grpId="0" nodeType="clickEffect">
                                  <p:stCondLst>
                                    <p:cond delay="0"/>
                                  </p:stCondLst>
                                  <p:childTnLst>
                                    <p:set>
                                      <p:cBhvr>
                                        <p:cTn id="84" dur="1" fill="hold">
                                          <p:stCondLst>
                                            <p:cond delay="0"/>
                                          </p:stCondLst>
                                        </p:cTn>
                                        <p:tgtEl>
                                          <p:spTgt spid="10"/>
                                        </p:tgtEl>
                                        <p:attrNameLst>
                                          <p:attrName>style.visibility</p:attrName>
                                        </p:attrNameLst>
                                      </p:cBhvr>
                                      <p:to>
                                        <p:strVal val="visible"/>
                                      </p:to>
                                    </p:set>
                                    <p:animEffect transition="in" filter="box(in)">
                                      <p:cBhvr>
                                        <p:cTn id="85" dur="500"/>
                                        <p:tgtEl>
                                          <p:spTgt spid="10"/>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4" presetClass="entr" presetSubtype="16" fill="hold" grpId="0" nodeType="clickEffect">
                                  <p:stCondLst>
                                    <p:cond delay="0"/>
                                  </p:stCondLst>
                                  <p:childTnLst>
                                    <p:set>
                                      <p:cBhvr>
                                        <p:cTn id="89" dur="1" fill="hold">
                                          <p:stCondLst>
                                            <p:cond delay="0"/>
                                          </p:stCondLst>
                                        </p:cTn>
                                        <p:tgtEl>
                                          <p:spTgt spid="11"/>
                                        </p:tgtEl>
                                        <p:attrNameLst>
                                          <p:attrName>style.visibility</p:attrName>
                                        </p:attrNameLst>
                                      </p:cBhvr>
                                      <p:to>
                                        <p:strVal val="visible"/>
                                      </p:to>
                                    </p:set>
                                    <p:animEffect transition="in" filter="box(in)">
                                      <p:cBhvr>
                                        <p:cTn id="90" dur="500"/>
                                        <p:tgtEl>
                                          <p:spTgt spid="11"/>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4" presetClass="entr" presetSubtype="16" fill="hold" grpId="0" nodeType="clickEffect">
                                  <p:stCondLst>
                                    <p:cond delay="0"/>
                                  </p:stCondLst>
                                  <p:childTnLst>
                                    <p:set>
                                      <p:cBhvr>
                                        <p:cTn id="94" dur="1" fill="hold">
                                          <p:stCondLst>
                                            <p:cond delay="0"/>
                                          </p:stCondLst>
                                        </p:cTn>
                                        <p:tgtEl>
                                          <p:spTgt spid="48"/>
                                        </p:tgtEl>
                                        <p:attrNameLst>
                                          <p:attrName>style.visibility</p:attrName>
                                        </p:attrNameLst>
                                      </p:cBhvr>
                                      <p:to>
                                        <p:strVal val="visible"/>
                                      </p:to>
                                    </p:set>
                                    <p:animEffect transition="in" filter="box(in)">
                                      <p:cBhvr>
                                        <p:cTn id="95" dur="500"/>
                                        <p:tgtEl>
                                          <p:spTgt spid="48"/>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4" presetClass="entr" presetSubtype="16" fill="hold" nodeType="clickEffect">
                                  <p:stCondLst>
                                    <p:cond delay="0"/>
                                  </p:stCondLst>
                                  <p:childTnLst>
                                    <p:set>
                                      <p:cBhvr>
                                        <p:cTn id="99" dur="1" fill="hold">
                                          <p:stCondLst>
                                            <p:cond delay="0"/>
                                          </p:stCondLst>
                                        </p:cTn>
                                        <p:tgtEl>
                                          <p:spTgt spid="32"/>
                                        </p:tgtEl>
                                        <p:attrNameLst>
                                          <p:attrName>style.visibility</p:attrName>
                                        </p:attrNameLst>
                                      </p:cBhvr>
                                      <p:to>
                                        <p:strVal val="visible"/>
                                      </p:to>
                                    </p:set>
                                    <p:animEffect transition="in" filter="box(in)">
                                      <p:cBhvr>
                                        <p:cTn id="100" dur="500"/>
                                        <p:tgtEl>
                                          <p:spTgt spid="32"/>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4" presetClass="entr" presetSubtype="16" fill="hold" grpId="0" nodeType="clickEffect">
                                  <p:stCondLst>
                                    <p:cond delay="0"/>
                                  </p:stCondLst>
                                  <p:childTnLst>
                                    <p:set>
                                      <p:cBhvr>
                                        <p:cTn id="104" dur="1" fill="hold">
                                          <p:stCondLst>
                                            <p:cond delay="0"/>
                                          </p:stCondLst>
                                        </p:cTn>
                                        <p:tgtEl>
                                          <p:spTgt spid="8"/>
                                        </p:tgtEl>
                                        <p:attrNameLst>
                                          <p:attrName>style.visibility</p:attrName>
                                        </p:attrNameLst>
                                      </p:cBhvr>
                                      <p:to>
                                        <p:strVal val="visible"/>
                                      </p:to>
                                    </p:set>
                                    <p:animEffect transition="in" filter="box(in)">
                                      <p:cBhvr>
                                        <p:cTn id="105" dur="500"/>
                                        <p:tgtEl>
                                          <p:spTgt spid="8"/>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4" presetClass="entr" presetSubtype="16" fill="hold" nodeType="clickEffect">
                                  <p:stCondLst>
                                    <p:cond delay="0"/>
                                  </p:stCondLst>
                                  <p:childTnLst>
                                    <p:set>
                                      <p:cBhvr>
                                        <p:cTn id="109" dur="1" fill="hold">
                                          <p:stCondLst>
                                            <p:cond delay="0"/>
                                          </p:stCondLst>
                                        </p:cTn>
                                        <p:tgtEl>
                                          <p:spTgt spid="34"/>
                                        </p:tgtEl>
                                        <p:attrNameLst>
                                          <p:attrName>style.visibility</p:attrName>
                                        </p:attrNameLst>
                                      </p:cBhvr>
                                      <p:to>
                                        <p:strVal val="visible"/>
                                      </p:to>
                                    </p:set>
                                    <p:animEffect transition="in" filter="box(in)">
                                      <p:cBhvr>
                                        <p:cTn id="110" dur="500"/>
                                        <p:tgtEl>
                                          <p:spTgt spid="34"/>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4" presetClass="entr" presetSubtype="16" fill="hold" grpId="0" nodeType="clickEffect">
                                  <p:stCondLst>
                                    <p:cond delay="0"/>
                                  </p:stCondLst>
                                  <p:childTnLst>
                                    <p:set>
                                      <p:cBhvr>
                                        <p:cTn id="114" dur="1" fill="hold">
                                          <p:stCondLst>
                                            <p:cond delay="0"/>
                                          </p:stCondLst>
                                        </p:cTn>
                                        <p:tgtEl>
                                          <p:spTgt spid="12"/>
                                        </p:tgtEl>
                                        <p:attrNameLst>
                                          <p:attrName>style.visibility</p:attrName>
                                        </p:attrNameLst>
                                      </p:cBhvr>
                                      <p:to>
                                        <p:strVal val="visible"/>
                                      </p:to>
                                    </p:set>
                                    <p:animEffect transition="in" filter="box(in)">
                                      <p:cBhvr>
                                        <p:cTn id="115" dur="500"/>
                                        <p:tgtEl>
                                          <p:spTgt spid="12"/>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4" presetClass="entr" presetSubtype="16" fill="hold" grpId="0" nodeType="clickEffect">
                                  <p:stCondLst>
                                    <p:cond delay="0"/>
                                  </p:stCondLst>
                                  <p:childTnLst>
                                    <p:set>
                                      <p:cBhvr>
                                        <p:cTn id="119" dur="1" fill="hold">
                                          <p:stCondLst>
                                            <p:cond delay="0"/>
                                          </p:stCondLst>
                                        </p:cTn>
                                        <p:tgtEl>
                                          <p:spTgt spid="13"/>
                                        </p:tgtEl>
                                        <p:attrNameLst>
                                          <p:attrName>style.visibility</p:attrName>
                                        </p:attrNameLst>
                                      </p:cBhvr>
                                      <p:to>
                                        <p:strVal val="visible"/>
                                      </p:to>
                                    </p:set>
                                    <p:animEffect transition="in" filter="box(in)">
                                      <p:cBhvr>
                                        <p:cTn id="120" dur="500"/>
                                        <p:tgtEl>
                                          <p:spTgt spid="13"/>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4" presetClass="entr" presetSubtype="16" fill="hold" nodeType="clickEffect">
                                  <p:stCondLst>
                                    <p:cond delay="0"/>
                                  </p:stCondLst>
                                  <p:childTnLst>
                                    <p:set>
                                      <p:cBhvr>
                                        <p:cTn id="124" dur="1" fill="hold">
                                          <p:stCondLst>
                                            <p:cond delay="0"/>
                                          </p:stCondLst>
                                        </p:cTn>
                                        <p:tgtEl>
                                          <p:spTgt spid="36"/>
                                        </p:tgtEl>
                                        <p:attrNameLst>
                                          <p:attrName>style.visibility</p:attrName>
                                        </p:attrNameLst>
                                      </p:cBhvr>
                                      <p:to>
                                        <p:strVal val="visible"/>
                                      </p:to>
                                    </p:set>
                                    <p:animEffect transition="in" filter="box(in)">
                                      <p:cBhvr>
                                        <p:cTn id="125" dur="500"/>
                                        <p:tgtEl>
                                          <p:spTgt spid="36"/>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4" presetClass="entr" presetSubtype="16" fill="hold" grpId="0" nodeType="clickEffect">
                                  <p:stCondLst>
                                    <p:cond delay="0"/>
                                  </p:stCondLst>
                                  <p:childTnLst>
                                    <p:set>
                                      <p:cBhvr>
                                        <p:cTn id="129" dur="1" fill="hold">
                                          <p:stCondLst>
                                            <p:cond delay="0"/>
                                          </p:stCondLst>
                                        </p:cTn>
                                        <p:tgtEl>
                                          <p:spTgt spid="14"/>
                                        </p:tgtEl>
                                        <p:attrNameLst>
                                          <p:attrName>style.visibility</p:attrName>
                                        </p:attrNameLst>
                                      </p:cBhvr>
                                      <p:to>
                                        <p:strVal val="visible"/>
                                      </p:to>
                                    </p:set>
                                    <p:animEffect transition="in" filter="box(in)">
                                      <p:cBhvr>
                                        <p:cTn id="130" dur="500"/>
                                        <p:tgtEl>
                                          <p:spTgt spid="14"/>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4" presetClass="entr" presetSubtype="16" fill="hold" nodeType="clickEffect">
                                  <p:stCondLst>
                                    <p:cond delay="0"/>
                                  </p:stCondLst>
                                  <p:childTnLst>
                                    <p:set>
                                      <p:cBhvr>
                                        <p:cTn id="134" dur="1" fill="hold">
                                          <p:stCondLst>
                                            <p:cond delay="0"/>
                                          </p:stCondLst>
                                        </p:cTn>
                                        <p:tgtEl>
                                          <p:spTgt spid="40"/>
                                        </p:tgtEl>
                                        <p:attrNameLst>
                                          <p:attrName>style.visibility</p:attrName>
                                        </p:attrNameLst>
                                      </p:cBhvr>
                                      <p:to>
                                        <p:strVal val="visible"/>
                                      </p:to>
                                    </p:set>
                                    <p:animEffect transition="in" filter="box(in)">
                                      <p:cBhvr>
                                        <p:cTn id="135" dur="500"/>
                                        <p:tgtEl>
                                          <p:spTgt spid="40"/>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4" presetClass="entr" presetSubtype="16" fill="hold" grpId="0" nodeType="clickEffect">
                                  <p:stCondLst>
                                    <p:cond delay="0"/>
                                  </p:stCondLst>
                                  <p:childTnLst>
                                    <p:set>
                                      <p:cBhvr>
                                        <p:cTn id="139" dur="1" fill="hold">
                                          <p:stCondLst>
                                            <p:cond delay="0"/>
                                          </p:stCondLst>
                                        </p:cTn>
                                        <p:tgtEl>
                                          <p:spTgt spid="51"/>
                                        </p:tgtEl>
                                        <p:attrNameLst>
                                          <p:attrName>style.visibility</p:attrName>
                                        </p:attrNameLst>
                                      </p:cBhvr>
                                      <p:to>
                                        <p:strVal val="visible"/>
                                      </p:to>
                                    </p:set>
                                    <p:animEffect transition="in" filter="box(in)">
                                      <p:cBhvr>
                                        <p:cTn id="140" dur="500"/>
                                        <p:tgtEl>
                                          <p:spTgt spid="51"/>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4" presetClass="entr" presetSubtype="16" fill="hold" grpId="0" nodeType="clickEffect">
                                  <p:stCondLst>
                                    <p:cond delay="0"/>
                                  </p:stCondLst>
                                  <p:childTnLst>
                                    <p:set>
                                      <p:cBhvr>
                                        <p:cTn id="144" dur="1" fill="hold">
                                          <p:stCondLst>
                                            <p:cond delay="0"/>
                                          </p:stCondLst>
                                        </p:cTn>
                                        <p:tgtEl>
                                          <p:spTgt spid="52"/>
                                        </p:tgtEl>
                                        <p:attrNameLst>
                                          <p:attrName>style.visibility</p:attrName>
                                        </p:attrNameLst>
                                      </p:cBhvr>
                                      <p:to>
                                        <p:strVal val="visible"/>
                                      </p:to>
                                    </p:set>
                                    <p:animEffect transition="in" filter="box(in)">
                                      <p:cBhvr>
                                        <p:cTn id="145" dur="500"/>
                                        <p:tgtEl>
                                          <p:spTgt spid="52"/>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4" presetClass="entr" presetSubtype="16" fill="hold" nodeType="clickEffect">
                                  <p:stCondLst>
                                    <p:cond delay="0"/>
                                  </p:stCondLst>
                                  <p:childTnLst>
                                    <p:set>
                                      <p:cBhvr>
                                        <p:cTn id="149" dur="1" fill="hold">
                                          <p:stCondLst>
                                            <p:cond delay="0"/>
                                          </p:stCondLst>
                                        </p:cTn>
                                        <p:tgtEl>
                                          <p:spTgt spid="38"/>
                                        </p:tgtEl>
                                        <p:attrNameLst>
                                          <p:attrName>style.visibility</p:attrName>
                                        </p:attrNameLst>
                                      </p:cBhvr>
                                      <p:to>
                                        <p:strVal val="visible"/>
                                      </p:to>
                                    </p:set>
                                    <p:animEffect transition="in" filter="box(in)">
                                      <p:cBhvr>
                                        <p:cTn id="150" dur="500"/>
                                        <p:tgtEl>
                                          <p:spTgt spid="38"/>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4" presetClass="entr" presetSubtype="16" fill="hold" grpId="0" nodeType="clickEffect">
                                  <p:stCondLst>
                                    <p:cond delay="0"/>
                                  </p:stCondLst>
                                  <p:childTnLst>
                                    <p:set>
                                      <p:cBhvr>
                                        <p:cTn id="154" dur="1" fill="hold">
                                          <p:stCondLst>
                                            <p:cond delay="0"/>
                                          </p:stCondLst>
                                        </p:cTn>
                                        <p:tgtEl>
                                          <p:spTgt spid="50"/>
                                        </p:tgtEl>
                                        <p:attrNameLst>
                                          <p:attrName>style.visibility</p:attrName>
                                        </p:attrNameLst>
                                      </p:cBhvr>
                                      <p:to>
                                        <p:strVal val="visible"/>
                                      </p:to>
                                    </p:set>
                                    <p:animEffect transition="in" filter="box(in)">
                                      <p:cBhvr>
                                        <p:cTn id="155" dur="500"/>
                                        <p:tgtEl>
                                          <p:spTgt spid="50"/>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4" presetClass="entr" presetSubtype="16" fill="hold" grpId="0" nodeType="clickEffect">
                                  <p:stCondLst>
                                    <p:cond delay="0"/>
                                  </p:stCondLst>
                                  <p:childTnLst>
                                    <p:set>
                                      <p:cBhvr>
                                        <p:cTn id="159" dur="1" fill="hold">
                                          <p:stCondLst>
                                            <p:cond delay="0"/>
                                          </p:stCondLst>
                                        </p:cTn>
                                        <p:tgtEl>
                                          <p:spTgt spid="15"/>
                                        </p:tgtEl>
                                        <p:attrNameLst>
                                          <p:attrName>style.visibility</p:attrName>
                                        </p:attrNameLst>
                                      </p:cBhvr>
                                      <p:to>
                                        <p:strVal val="visible"/>
                                      </p:to>
                                    </p:set>
                                    <p:animEffect transition="in" filter="box(in)">
                                      <p:cBhvr>
                                        <p:cTn id="160" dur="500"/>
                                        <p:tgtEl>
                                          <p:spTgt spid="15"/>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4" presetClass="entr" presetSubtype="16" fill="hold" grpId="0" nodeType="clickEffect">
                                  <p:stCondLst>
                                    <p:cond delay="0"/>
                                  </p:stCondLst>
                                  <p:childTnLst>
                                    <p:set>
                                      <p:cBhvr>
                                        <p:cTn id="164" dur="1" fill="hold">
                                          <p:stCondLst>
                                            <p:cond delay="0"/>
                                          </p:stCondLst>
                                        </p:cTn>
                                        <p:tgtEl>
                                          <p:spTgt spid="16"/>
                                        </p:tgtEl>
                                        <p:attrNameLst>
                                          <p:attrName>style.visibility</p:attrName>
                                        </p:attrNameLst>
                                      </p:cBhvr>
                                      <p:to>
                                        <p:strVal val="visible"/>
                                      </p:to>
                                    </p:set>
                                    <p:animEffect transition="in" filter="box(in)">
                                      <p:cBhvr>
                                        <p:cTn id="16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build="allAtOnce" animBg="1"/>
      <p:bldP spid="5" grpId="0" animBg="1"/>
      <p:bldP spid="6" grpId="0" animBg="1"/>
      <p:bldP spid="7" grpId="0" animBg="1"/>
      <p:bldP spid="8" grpId="0" animBg="1"/>
      <p:bldP spid="9" grpId="0"/>
      <p:bldP spid="10" grpId="0" animBg="1"/>
      <p:bldP spid="11" grpId="0"/>
      <p:bldP spid="12" grpId="0" animBg="1"/>
      <p:bldP spid="13" grpId="0"/>
      <p:bldP spid="14" grpId="0" animBg="1"/>
      <p:bldP spid="15" grpId="0" animBg="1"/>
      <p:bldP spid="16" grpId="0"/>
      <p:bldP spid="48" grpId="0"/>
      <p:bldP spid="49" grpId="0"/>
      <p:bldP spid="50" grpId="0"/>
      <p:bldP spid="51" grpId="0"/>
      <p:bldP spid="5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Mass Balance Equations</a:t>
            </a:r>
          </a:p>
        </p:txBody>
      </p:sp>
      <p:sp>
        <p:nvSpPr>
          <p:cNvPr id="3" name="Content Placeholder 2"/>
          <p:cNvSpPr>
            <a:spLocks noGrp="1"/>
          </p:cNvSpPr>
          <p:nvPr>
            <p:ph idx="1"/>
          </p:nvPr>
        </p:nvSpPr>
        <p:spPr/>
        <p:txBody>
          <a:bodyPr/>
          <a:lstStyle/>
          <a:p>
            <a:r>
              <a:rPr lang="en-US" smtClean="0">
                <a:solidFill>
                  <a:srgbClr val="FF0000"/>
                </a:solidFill>
              </a:rPr>
              <a:t>In a mass balance, the analytical concentration is equal to the sum of the concentrations of the equilibrium species derived from the parent compound.</a:t>
            </a:r>
          </a:p>
          <a:p>
            <a:r>
              <a:rPr lang="en-US" smtClean="0"/>
              <a:t>The equations for all the pertinent chemical equilibria are written from which appropriate relations between species concentrations are written.</a:t>
            </a:r>
          </a:p>
        </p:txBody>
      </p:sp>
      <p:sp>
        <p:nvSpPr>
          <p:cNvPr id="82948"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AE1F772A-3B55-4627-A709-BC038D45FB88}" type="datetime1">
              <a:rPr lang="en-US" sz="1400" smtClean="0"/>
              <a:pPr eaLnBrk="1" hangingPunct="1"/>
              <a:t>5/6/2021</a:t>
            </a:fld>
            <a:endParaRPr lang="en-US" sz="1400" smtClean="0"/>
          </a:p>
        </p:txBody>
      </p:sp>
      <p:sp>
        <p:nvSpPr>
          <p:cNvPr id="82949"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A18556BB-E636-4985-8621-F05031F2E87F}" type="slidenum">
              <a:rPr lang="en-US" sz="1400" smtClean="0"/>
              <a:pPr eaLnBrk="1" hangingPunct="1"/>
              <a:t>78</a:t>
            </a:fld>
            <a:endParaRPr lang="en-US" sz="1400" smtClean="0"/>
          </a:p>
        </p:txBody>
      </p:sp>
      <p:sp>
        <p:nvSpPr>
          <p:cNvPr id="82950"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5644385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ox(in)">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ox(in)">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381000"/>
            <a:ext cx="7772400" cy="5715000"/>
          </a:xfrm>
        </p:spPr>
        <p:txBody>
          <a:bodyPr/>
          <a:lstStyle/>
          <a:p>
            <a:r>
              <a:rPr lang="en-US" smtClean="0"/>
              <a:t>Write the equation of mass balance for a 0.100 M solution of acetic acid (HOAc)</a:t>
            </a:r>
          </a:p>
          <a:p>
            <a:r>
              <a:rPr lang="en-US" smtClean="0"/>
              <a:t>The equilibria are:</a:t>
            </a:r>
          </a:p>
          <a:p>
            <a:r>
              <a:rPr lang="en-US" smtClean="0"/>
              <a:t>              HOAc              H</a:t>
            </a:r>
            <a:r>
              <a:rPr lang="en-US" baseline="30000" smtClean="0"/>
              <a:t>+</a:t>
            </a:r>
            <a:r>
              <a:rPr lang="en-US" smtClean="0"/>
              <a:t>    + OAc</a:t>
            </a:r>
            <a:r>
              <a:rPr lang="en-US" baseline="30000" smtClean="0"/>
              <a:t>-</a:t>
            </a:r>
          </a:p>
          <a:p>
            <a:r>
              <a:rPr lang="en-US" smtClean="0"/>
              <a:t>                  H</a:t>
            </a:r>
            <a:r>
              <a:rPr lang="en-US" baseline="-25000" smtClean="0"/>
              <a:t>2</a:t>
            </a:r>
            <a:r>
              <a:rPr lang="en-US" smtClean="0"/>
              <a:t>O          H</a:t>
            </a:r>
            <a:r>
              <a:rPr lang="en-US" baseline="30000" smtClean="0"/>
              <a:t>+</a:t>
            </a:r>
            <a:r>
              <a:rPr lang="en-US" smtClean="0"/>
              <a:t>   +   OH</a:t>
            </a:r>
            <a:r>
              <a:rPr lang="en-US" baseline="30000" smtClean="0"/>
              <a:t>- </a:t>
            </a:r>
          </a:p>
          <a:p>
            <a:r>
              <a:rPr lang="en-US" smtClean="0"/>
              <a:t>We know that the analytical  concentration of HOAc is equal to the sum of the equilibrium concentrations of all its species.</a:t>
            </a:r>
          </a:p>
          <a:p>
            <a:r>
              <a:rPr lang="en-US" smtClean="0"/>
              <a:t>C</a:t>
            </a:r>
            <a:r>
              <a:rPr lang="en-US" baseline="-25000" smtClean="0"/>
              <a:t>HOAc</a:t>
            </a:r>
            <a:r>
              <a:rPr lang="en-US" smtClean="0"/>
              <a:t>    = [HOAc]   +   [OAc</a:t>
            </a:r>
            <a:r>
              <a:rPr lang="en-US" baseline="30000" smtClean="0"/>
              <a:t>-</a:t>
            </a:r>
            <a:r>
              <a:rPr lang="en-US" smtClean="0"/>
              <a:t>]  = 0.100 M</a:t>
            </a:r>
          </a:p>
          <a:p>
            <a:pPr>
              <a:buFontTx/>
              <a:buNone/>
            </a:pPr>
            <a:endParaRPr lang="en-US" baseline="-25000" smtClean="0"/>
          </a:p>
        </p:txBody>
      </p:sp>
      <p:cxnSp>
        <p:nvCxnSpPr>
          <p:cNvPr id="9" name="Straight Arrow Connector 8"/>
          <p:cNvCxnSpPr/>
          <p:nvPr/>
        </p:nvCxnSpPr>
        <p:spPr>
          <a:xfrm>
            <a:off x="4114800" y="2286000"/>
            <a:ext cx="609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0800000">
            <a:off x="4100513" y="2405063"/>
            <a:ext cx="6096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886200" y="2895600"/>
            <a:ext cx="609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0800000">
            <a:off x="3886200" y="3048000"/>
            <a:ext cx="609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3975" name="Date Placeholder 10"/>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EC61819F-0618-4C9F-85F7-5C15DFFCDC95}" type="datetime1">
              <a:rPr lang="en-US" sz="1400" smtClean="0"/>
              <a:pPr eaLnBrk="1" hangingPunct="1"/>
              <a:t>5/6/2021</a:t>
            </a:fld>
            <a:endParaRPr lang="en-US" sz="1400" smtClean="0"/>
          </a:p>
        </p:txBody>
      </p:sp>
      <p:sp>
        <p:nvSpPr>
          <p:cNvPr id="83976" name="Slide Number Placeholder 1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0E9FFEAC-F7DA-44B3-827C-0BB4C36CEABF}" type="slidenum">
              <a:rPr lang="en-US" sz="1400" smtClean="0"/>
              <a:pPr eaLnBrk="1" hangingPunct="1"/>
              <a:t>79</a:t>
            </a:fld>
            <a:endParaRPr lang="en-US" sz="1400" smtClean="0"/>
          </a:p>
        </p:txBody>
      </p:sp>
      <p:sp>
        <p:nvSpPr>
          <p:cNvPr id="83977" name="Footer Placeholder 1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40949620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ox(in)">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ox(i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304800"/>
            <a:ext cx="7772400" cy="5791200"/>
          </a:xfrm>
        </p:spPr>
        <p:txBody>
          <a:bodyPr/>
          <a:lstStyle/>
          <a:p>
            <a:r>
              <a:rPr lang="en-US" smtClean="0"/>
              <a:t>A second mass balance expression may be written for the equilibrium concentration of H</a:t>
            </a:r>
            <a:r>
              <a:rPr lang="en-US" baseline="30000" smtClean="0"/>
              <a:t>+</a:t>
            </a:r>
            <a:r>
              <a:rPr lang="en-US" smtClean="0"/>
              <a:t>.</a:t>
            </a:r>
          </a:p>
          <a:p>
            <a:r>
              <a:rPr lang="en-US" smtClean="0"/>
              <a:t>Which is derived from both HOAc and H</a:t>
            </a:r>
            <a:r>
              <a:rPr lang="en-US" baseline="-25000" smtClean="0"/>
              <a:t>2</a:t>
            </a:r>
            <a:r>
              <a:rPr lang="en-US" smtClean="0"/>
              <a:t>O.</a:t>
            </a:r>
          </a:p>
          <a:p>
            <a:r>
              <a:rPr lang="en-US" smtClean="0"/>
              <a:t>          [H</a:t>
            </a:r>
            <a:r>
              <a:rPr lang="en-US" baseline="30000" smtClean="0"/>
              <a:t>+</a:t>
            </a:r>
            <a:r>
              <a:rPr lang="en-US" smtClean="0"/>
              <a:t>]   =     [OAc</a:t>
            </a:r>
            <a:r>
              <a:rPr lang="en-US" baseline="30000" smtClean="0"/>
              <a:t>-</a:t>
            </a:r>
            <a:r>
              <a:rPr lang="en-US" smtClean="0"/>
              <a:t>]    +   [OH</a:t>
            </a:r>
            <a:r>
              <a:rPr lang="en-US" baseline="30000" smtClean="0"/>
              <a:t>-</a:t>
            </a:r>
            <a:r>
              <a:rPr lang="en-US" smtClean="0"/>
              <a:t>] </a:t>
            </a:r>
          </a:p>
          <a:p>
            <a:r>
              <a:rPr lang="en-US" smtClean="0"/>
              <a:t>Eg (02):-</a:t>
            </a:r>
          </a:p>
          <a:p>
            <a:r>
              <a:rPr lang="en-US" smtClean="0"/>
              <a:t>Write the equation of mass balance for a 1.00 x 10</a:t>
            </a:r>
            <a:r>
              <a:rPr lang="en-US" baseline="30000" smtClean="0"/>
              <a:t>-5</a:t>
            </a:r>
            <a:r>
              <a:rPr lang="en-US" smtClean="0"/>
              <a:t> M , [Ag(NH</a:t>
            </a:r>
            <a:r>
              <a:rPr lang="en-US" baseline="-25000" smtClean="0"/>
              <a:t>3</a:t>
            </a:r>
            <a:r>
              <a:rPr lang="en-US" smtClean="0"/>
              <a:t>)</a:t>
            </a:r>
            <a:r>
              <a:rPr lang="en-US" baseline="-25000" smtClean="0"/>
              <a:t>2</a:t>
            </a:r>
            <a:r>
              <a:rPr lang="en-US" smtClean="0"/>
              <a:t>]Cl solution.</a:t>
            </a:r>
          </a:p>
          <a:p>
            <a:endParaRPr lang="en-US" smtClean="0"/>
          </a:p>
        </p:txBody>
      </p:sp>
      <p:sp>
        <p:nvSpPr>
          <p:cNvPr id="84995"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09D9654E-56B7-4EF5-8AA2-B76AE4C69C9A}" type="datetime1">
              <a:rPr lang="en-US" sz="1400" smtClean="0"/>
              <a:pPr eaLnBrk="1" hangingPunct="1"/>
              <a:t>5/6/2021</a:t>
            </a:fld>
            <a:endParaRPr lang="en-US" sz="1400" smtClean="0"/>
          </a:p>
        </p:txBody>
      </p:sp>
      <p:sp>
        <p:nvSpPr>
          <p:cNvPr id="84996"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0E8066E-14A8-4E91-A0DA-E89F291F058C}" type="slidenum">
              <a:rPr lang="en-US" sz="1400" smtClean="0"/>
              <a:pPr eaLnBrk="1" hangingPunct="1"/>
              <a:t>80</a:t>
            </a:fld>
            <a:endParaRPr lang="en-US" sz="1400" smtClean="0"/>
          </a:p>
        </p:txBody>
      </p:sp>
      <p:sp>
        <p:nvSpPr>
          <p:cNvPr id="84997"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6893560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ox(i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381000"/>
            <a:ext cx="7848600" cy="6248400"/>
          </a:xfrm>
        </p:spPr>
        <p:txBody>
          <a:bodyPr/>
          <a:lstStyle/>
          <a:p>
            <a:r>
              <a:rPr lang="en-US" smtClean="0"/>
              <a:t>[Ag(NH</a:t>
            </a:r>
            <a:r>
              <a:rPr lang="en-US" baseline="-25000" smtClean="0"/>
              <a:t>3</a:t>
            </a:r>
            <a:r>
              <a:rPr lang="en-US" smtClean="0"/>
              <a:t>)</a:t>
            </a:r>
            <a:r>
              <a:rPr lang="en-US" baseline="-25000" smtClean="0"/>
              <a:t>2</a:t>
            </a:r>
            <a:r>
              <a:rPr lang="en-US" smtClean="0"/>
              <a:t>]Cl      </a:t>
            </a:r>
            <a:r>
              <a:rPr lang="en-US" smtClean="0">
                <a:sym typeface="Wingdings" pitchFamily="2" charset="2"/>
              </a:rPr>
              <a:t>      Ag(NH</a:t>
            </a:r>
            <a:r>
              <a:rPr lang="en-US" baseline="-25000" smtClean="0">
                <a:sym typeface="Wingdings" pitchFamily="2" charset="2"/>
              </a:rPr>
              <a:t>3</a:t>
            </a:r>
            <a:r>
              <a:rPr lang="en-US" smtClean="0">
                <a:sym typeface="Wingdings" pitchFamily="2" charset="2"/>
              </a:rPr>
              <a:t>)</a:t>
            </a:r>
            <a:r>
              <a:rPr lang="en-US" baseline="30000" smtClean="0">
                <a:sym typeface="Wingdings" pitchFamily="2" charset="2"/>
              </a:rPr>
              <a:t>2+   </a:t>
            </a:r>
            <a:r>
              <a:rPr lang="en-US" smtClean="0">
                <a:sym typeface="Wingdings" pitchFamily="2" charset="2"/>
              </a:rPr>
              <a:t>+  Cl</a:t>
            </a:r>
            <a:r>
              <a:rPr lang="en-US" baseline="30000" smtClean="0">
                <a:sym typeface="Wingdings" pitchFamily="2" charset="2"/>
              </a:rPr>
              <a:t>-</a:t>
            </a:r>
          </a:p>
          <a:p>
            <a:r>
              <a:rPr lang="en-US" smtClean="0">
                <a:sym typeface="Wingdings" pitchFamily="2" charset="2"/>
              </a:rPr>
              <a:t>Ag(NH</a:t>
            </a:r>
            <a:r>
              <a:rPr lang="en-US" baseline="-25000" smtClean="0">
                <a:sym typeface="Wingdings" pitchFamily="2" charset="2"/>
              </a:rPr>
              <a:t>3</a:t>
            </a:r>
            <a:r>
              <a:rPr lang="en-US" smtClean="0">
                <a:sym typeface="Wingdings" pitchFamily="2" charset="2"/>
              </a:rPr>
              <a:t>)</a:t>
            </a:r>
            <a:r>
              <a:rPr lang="en-US" baseline="30000" smtClean="0">
                <a:sym typeface="Wingdings" pitchFamily="2" charset="2"/>
              </a:rPr>
              <a:t>2+                       </a:t>
            </a:r>
            <a:r>
              <a:rPr lang="en-US" smtClean="0">
                <a:sym typeface="Wingdings" pitchFamily="2" charset="2"/>
              </a:rPr>
              <a:t>Ag(NH</a:t>
            </a:r>
            <a:r>
              <a:rPr lang="en-US" baseline="-25000" smtClean="0">
                <a:sym typeface="Wingdings" pitchFamily="2" charset="2"/>
              </a:rPr>
              <a:t>3</a:t>
            </a:r>
            <a:r>
              <a:rPr lang="en-US" smtClean="0">
                <a:sym typeface="Wingdings" pitchFamily="2" charset="2"/>
              </a:rPr>
              <a:t>)</a:t>
            </a:r>
            <a:r>
              <a:rPr lang="en-US" baseline="30000" smtClean="0">
                <a:sym typeface="Wingdings" pitchFamily="2" charset="2"/>
              </a:rPr>
              <a:t>+     </a:t>
            </a:r>
            <a:r>
              <a:rPr lang="en-US" smtClean="0">
                <a:sym typeface="Wingdings" pitchFamily="2" charset="2"/>
              </a:rPr>
              <a:t>+   NH</a:t>
            </a:r>
            <a:r>
              <a:rPr lang="en-US" baseline="-25000" smtClean="0">
                <a:sym typeface="Wingdings" pitchFamily="2" charset="2"/>
              </a:rPr>
              <a:t>3</a:t>
            </a:r>
            <a:r>
              <a:rPr lang="en-US" smtClean="0">
                <a:sym typeface="Wingdings" pitchFamily="2" charset="2"/>
              </a:rPr>
              <a:t> </a:t>
            </a:r>
          </a:p>
          <a:p>
            <a:r>
              <a:rPr lang="en-US" smtClean="0">
                <a:sym typeface="Wingdings" pitchFamily="2" charset="2"/>
              </a:rPr>
              <a:t> Ag(NH</a:t>
            </a:r>
            <a:r>
              <a:rPr lang="en-US" baseline="-25000" smtClean="0">
                <a:sym typeface="Wingdings" pitchFamily="2" charset="2"/>
              </a:rPr>
              <a:t>3</a:t>
            </a:r>
            <a:r>
              <a:rPr lang="en-US" smtClean="0">
                <a:sym typeface="Wingdings" pitchFamily="2" charset="2"/>
              </a:rPr>
              <a:t>)</a:t>
            </a:r>
            <a:r>
              <a:rPr lang="en-US" baseline="30000" smtClean="0">
                <a:sym typeface="Wingdings" pitchFamily="2" charset="2"/>
              </a:rPr>
              <a:t>+</a:t>
            </a:r>
            <a:r>
              <a:rPr lang="en-US" smtClean="0">
                <a:sym typeface="Wingdings" pitchFamily="2" charset="2"/>
              </a:rPr>
              <a:t>                    Ag+  +   NH</a:t>
            </a:r>
            <a:r>
              <a:rPr lang="en-US" baseline="-25000" smtClean="0">
                <a:sym typeface="Wingdings" pitchFamily="2" charset="2"/>
              </a:rPr>
              <a:t>3       </a:t>
            </a:r>
          </a:p>
          <a:p>
            <a:r>
              <a:rPr lang="en-US" smtClean="0">
                <a:sym typeface="Wingdings" pitchFamily="2" charset="2"/>
              </a:rPr>
              <a:t>NH</a:t>
            </a:r>
            <a:r>
              <a:rPr lang="en-US" baseline="-25000" smtClean="0">
                <a:sym typeface="Wingdings" pitchFamily="2" charset="2"/>
              </a:rPr>
              <a:t>3</a:t>
            </a:r>
            <a:r>
              <a:rPr lang="en-US" smtClean="0">
                <a:sym typeface="Wingdings" pitchFamily="2" charset="2"/>
              </a:rPr>
              <a:t>  +  H</a:t>
            </a:r>
            <a:r>
              <a:rPr lang="en-US" baseline="-25000" smtClean="0">
                <a:sym typeface="Wingdings" pitchFamily="2" charset="2"/>
              </a:rPr>
              <a:t>2</a:t>
            </a:r>
            <a:r>
              <a:rPr lang="en-US" smtClean="0">
                <a:sym typeface="Wingdings" pitchFamily="2" charset="2"/>
              </a:rPr>
              <a:t>O            NH</a:t>
            </a:r>
            <a:r>
              <a:rPr lang="en-US" baseline="-25000" smtClean="0">
                <a:sym typeface="Wingdings" pitchFamily="2" charset="2"/>
              </a:rPr>
              <a:t>4</a:t>
            </a:r>
            <a:r>
              <a:rPr lang="en-US" baseline="30000" smtClean="0">
                <a:sym typeface="Wingdings" pitchFamily="2" charset="2"/>
              </a:rPr>
              <a:t>+</a:t>
            </a:r>
            <a:r>
              <a:rPr lang="en-US" smtClean="0">
                <a:sym typeface="Wingdings" pitchFamily="2" charset="2"/>
              </a:rPr>
              <a:t>     +   OH</a:t>
            </a:r>
            <a:r>
              <a:rPr lang="en-US" baseline="30000" smtClean="0">
                <a:sym typeface="Wingdings" pitchFamily="2" charset="2"/>
              </a:rPr>
              <a:t>- </a:t>
            </a:r>
          </a:p>
          <a:p>
            <a:r>
              <a:rPr lang="en-US" smtClean="0">
                <a:sym typeface="Wingdings" pitchFamily="2" charset="2"/>
              </a:rPr>
              <a:t>         H</a:t>
            </a:r>
            <a:r>
              <a:rPr lang="en-US" baseline="-25000" smtClean="0">
                <a:sym typeface="Wingdings" pitchFamily="2" charset="2"/>
              </a:rPr>
              <a:t>2</a:t>
            </a:r>
            <a:r>
              <a:rPr lang="en-US" smtClean="0">
                <a:sym typeface="Wingdings" pitchFamily="2" charset="2"/>
              </a:rPr>
              <a:t>O                        H</a:t>
            </a:r>
            <a:r>
              <a:rPr lang="en-US" baseline="30000" smtClean="0">
                <a:sym typeface="Wingdings" pitchFamily="2" charset="2"/>
              </a:rPr>
              <a:t>+</a:t>
            </a:r>
            <a:r>
              <a:rPr lang="en-US" smtClean="0">
                <a:sym typeface="Wingdings" pitchFamily="2" charset="2"/>
              </a:rPr>
              <a:t>   +    OH</a:t>
            </a:r>
            <a:r>
              <a:rPr lang="en-US" baseline="30000" smtClean="0">
                <a:sym typeface="Wingdings" pitchFamily="2" charset="2"/>
              </a:rPr>
              <a:t>-</a:t>
            </a:r>
          </a:p>
          <a:p>
            <a:r>
              <a:rPr lang="en-US" smtClean="0">
                <a:sym typeface="Wingdings" pitchFamily="2" charset="2"/>
              </a:rPr>
              <a:t>C</a:t>
            </a:r>
            <a:r>
              <a:rPr lang="en-US" baseline="-25000" smtClean="0">
                <a:sym typeface="Wingdings" pitchFamily="2" charset="2"/>
              </a:rPr>
              <a:t>Ag</a:t>
            </a:r>
            <a:r>
              <a:rPr lang="en-US" smtClean="0">
                <a:sym typeface="Wingdings" pitchFamily="2" charset="2"/>
              </a:rPr>
              <a:t> = [Ag</a:t>
            </a:r>
            <a:r>
              <a:rPr lang="en-US" baseline="30000" smtClean="0">
                <a:sym typeface="Wingdings" pitchFamily="2" charset="2"/>
              </a:rPr>
              <a:t>+</a:t>
            </a:r>
            <a:r>
              <a:rPr lang="en-US" smtClean="0">
                <a:sym typeface="Wingdings" pitchFamily="2" charset="2"/>
              </a:rPr>
              <a:t>]  + [Ag(NH</a:t>
            </a:r>
            <a:r>
              <a:rPr lang="en-US" baseline="-25000" smtClean="0">
                <a:sym typeface="Wingdings" pitchFamily="2" charset="2"/>
              </a:rPr>
              <a:t>3</a:t>
            </a:r>
            <a:r>
              <a:rPr lang="en-US" smtClean="0">
                <a:sym typeface="Wingdings" pitchFamily="2" charset="2"/>
              </a:rPr>
              <a:t>)</a:t>
            </a:r>
            <a:r>
              <a:rPr lang="en-US" baseline="30000" smtClean="0">
                <a:sym typeface="Wingdings" pitchFamily="2" charset="2"/>
              </a:rPr>
              <a:t>+</a:t>
            </a:r>
            <a:r>
              <a:rPr lang="en-US" smtClean="0">
                <a:sym typeface="Wingdings" pitchFamily="2" charset="2"/>
              </a:rPr>
              <a:t>]  + [Ag(NH</a:t>
            </a:r>
            <a:r>
              <a:rPr lang="en-US" baseline="-25000" smtClean="0">
                <a:sym typeface="Wingdings" pitchFamily="2" charset="2"/>
              </a:rPr>
              <a:t>3</a:t>
            </a:r>
            <a:r>
              <a:rPr lang="en-US" smtClean="0">
                <a:sym typeface="Wingdings" pitchFamily="2" charset="2"/>
              </a:rPr>
              <a:t>)</a:t>
            </a:r>
            <a:r>
              <a:rPr lang="en-US" baseline="30000" smtClean="0">
                <a:sym typeface="Wingdings" pitchFamily="2" charset="2"/>
              </a:rPr>
              <a:t>2+</a:t>
            </a:r>
            <a:r>
              <a:rPr lang="en-US" smtClean="0">
                <a:sym typeface="Wingdings" pitchFamily="2" charset="2"/>
              </a:rPr>
              <a:t>]       </a:t>
            </a:r>
          </a:p>
          <a:p>
            <a:pPr>
              <a:buFontTx/>
              <a:buNone/>
            </a:pPr>
            <a:r>
              <a:rPr lang="en-US" smtClean="0">
                <a:sym typeface="Wingdings" pitchFamily="2" charset="2"/>
              </a:rPr>
              <a:t>                  =  [Cl</a:t>
            </a:r>
            <a:r>
              <a:rPr lang="en-US" baseline="30000" smtClean="0">
                <a:sym typeface="Wingdings" pitchFamily="2" charset="2"/>
              </a:rPr>
              <a:t>-</a:t>
            </a:r>
            <a:r>
              <a:rPr lang="en-US" smtClean="0">
                <a:sym typeface="Wingdings" pitchFamily="2" charset="2"/>
              </a:rPr>
              <a:t>]  =   1.00 x 10</a:t>
            </a:r>
            <a:r>
              <a:rPr lang="en-US" baseline="30000" smtClean="0">
                <a:sym typeface="Wingdings" pitchFamily="2" charset="2"/>
              </a:rPr>
              <a:t>-5</a:t>
            </a:r>
            <a:r>
              <a:rPr lang="en-US" smtClean="0">
                <a:sym typeface="Wingdings" pitchFamily="2" charset="2"/>
              </a:rPr>
              <a:t> M</a:t>
            </a:r>
          </a:p>
          <a:p>
            <a:r>
              <a:rPr lang="en-US" smtClean="0">
                <a:sym typeface="Wingdings" pitchFamily="2" charset="2"/>
              </a:rPr>
              <a:t>Further, for N – containing species:</a:t>
            </a:r>
          </a:p>
          <a:p>
            <a:r>
              <a:rPr lang="en-US" smtClean="0">
                <a:sym typeface="Wingdings" pitchFamily="2" charset="2"/>
              </a:rPr>
              <a:t>The mass balance equation is:</a:t>
            </a:r>
          </a:p>
          <a:p>
            <a:endParaRPr lang="en-US" smtClean="0">
              <a:sym typeface="Wingdings" pitchFamily="2" charset="2"/>
            </a:endParaRPr>
          </a:p>
          <a:p>
            <a:endParaRPr lang="en-US" baseline="-25000" smtClean="0"/>
          </a:p>
        </p:txBody>
      </p:sp>
      <p:cxnSp>
        <p:nvCxnSpPr>
          <p:cNvPr id="5" name="Straight Arrow Connector 4"/>
          <p:cNvCxnSpPr/>
          <p:nvPr/>
        </p:nvCxnSpPr>
        <p:spPr>
          <a:xfrm>
            <a:off x="3581400" y="2971800"/>
            <a:ext cx="6858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3429000" y="1219200"/>
            <a:ext cx="6858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rot="10800000">
            <a:off x="3352800" y="2533650"/>
            <a:ext cx="7620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10800000">
            <a:off x="3429000" y="1357313"/>
            <a:ext cx="6858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10800000">
            <a:off x="3352800" y="1952625"/>
            <a:ext cx="6858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367088" y="1843088"/>
            <a:ext cx="6858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0800000">
            <a:off x="3581400" y="3124200"/>
            <a:ext cx="6858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429000" y="2405063"/>
            <a:ext cx="6858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6027" name="Date Placeholder 17"/>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4B5E8D66-ADF6-4EC9-89B6-4585EDF70807}" type="datetime1">
              <a:rPr lang="en-US" sz="1400" smtClean="0"/>
              <a:pPr eaLnBrk="1" hangingPunct="1"/>
              <a:t>5/6/2021</a:t>
            </a:fld>
            <a:endParaRPr lang="en-US" sz="1400" smtClean="0"/>
          </a:p>
        </p:txBody>
      </p:sp>
      <p:sp>
        <p:nvSpPr>
          <p:cNvPr id="86028" name="Slide Number Placeholder 18"/>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51018C08-1D49-4BA8-8B61-DC2FBA11CD70}" type="slidenum">
              <a:rPr lang="en-US" sz="1400" smtClean="0"/>
              <a:pPr eaLnBrk="1" hangingPunct="1"/>
              <a:t>81</a:t>
            </a:fld>
            <a:endParaRPr lang="en-US" sz="1400" smtClean="0"/>
          </a:p>
        </p:txBody>
      </p:sp>
      <p:sp>
        <p:nvSpPr>
          <p:cNvPr id="86029" name="Footer Placeholder 19"/>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6045938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ox(in)">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ox(in)">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ox(in)">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ox(in)">
                                      <p:cBhvr>
                                        <p:cTn id="42" dur="500"/>
                                        <p:tgtEl>
                                          <p:spTgt spid="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ox(in)">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304800"/>
            <a:ext cx="7772400" cy="5791200"/>
          </a:xfrm>
        </p:spPr>
        <p:txBody>
          <a:bodyPr/>
          <a:lstStyle/>
          <a:p>
            <a:r>
              <a:rPr lang="en-US" smtClean="0">
                <a:sym typeface="Wingdings" pitchFamily="2" charset="2"/>
              </a:rPr>
              <a:t>C</a:t>
            </a:r>
            <a:r>
              <a:rPr lang="en-US" baseline="-25000" smtClean="0">
                <a:sym typeface="Wingdings" pitchFamily="2" charset="2"/>
              </a:rPr>
              <a:t>NH</a:t>
            </a:r>
            <a:r>
              <a:rPr lang="en-US" baseline="-48000" smtClean="0">
                <a:sym typeface="Wingdings" pitchFamily="2" charset="2"/>
              </a:rPr>
              <a:t>3</a:t>
            </a:r>
            <a:r>
              <a:rPr lang="en-US" smtClean="0">
                <a:sym typeface="Wingdings" pitchFamily="2" charset="2"/>
              </a:rPr>
              <a:t> = [NH</a:t>
            </a:r>
            <a:r>
              <a:rPr lang="en-US" baseline="-25000" smtClean="0">
                <a:sym typeface="Wingdings" pitchFamily="2" charset="2"/>
              </a:rPr>
              <a:t>4</a:t>
            </a:r>
            <a:r>
              <a:rPr lang="en-US" baseline="30000" smtClean="0">
                <a:sym typeface="Wingdings" pitchFamily="2" charset="2"/>
              </a:rPr>
              <a:t>+</a:t>
            </a:r>
            <a:r>
              <a:rPr lang="en-US" smtClean="0">
                <a:sym typeface="Wingdings" pitchFamily="2" charset="2"/>
              </a:rPr>
              <a:t>] + [NH</a:t>
            </a:r>
            <a:r>
              <a:rPr lang="en-US" baseline="-25000" smtClean="0">
                <a:sym typeface="Wingdings" pitchFamily="2" charset="2"/>
              </a:rPr>
              <a:t>3</a:t>
            </a:r>
            <a:r>
              <a:rPr lang="en-US" smtClean="0">
                <a:sym typeface="Wingdings" pitchFamily="2" charset="2"/>
              </a:rPr>
              <a:t>] + [Ag(NH</a:t>
            </a:r>
            <a:r>
              <a:rPr lang="en-US" baseline="-25000" smtClean="0">
                <a:sym typeface="Wingdings" pitchFamily="2" charset="2"/>
              </a:rPr>
              <a:t>3</a:t>
            </a:r>
            <a:r>
              <a:rPr lang="en-US" smtClean="0">
                <a:sym typeface="Wingdings" pitchFamily="2" charset="2"/>
              </a:rPr>
              <a:t>)</a:t>
            </a:r>
            <a:r>
              <a:rPr lang="en-US" baseline="30000" smtClean="0">
                <a:sym typeface="Wingdings" pitchFamily="2" charset="2"/>
              </a:rPr>
              <a:t>+</a:t>
            </a:r>
            <a:r>
              <a:rPr lang="en-US" smtClean="0">
                <a:sym typeface="Wingdings" pitchFamily="2" charset="2"/>
              </a:rPr>
              <a:t>] + 2[Ag(NH</a:t>
            </a:r>
            <a:r>
              <a:rPr lang="en-US" baseline="-25000" smtClean="0">
                <a:sym typeface="Wingdings" pitchFamily="2" charset="2"/>
              </a:rPr>
              <a:t>3</a:t>
            </a:r>
            <a:r>
              <a:rPr lang="en-US" smtClean="0">
                <a:sym typeface="Wingdings" pitchFamily="2" charset="2"/>
              </a:rPr>
              <a:t>)</a:t>
            </a:r>
            <a:r>
              <a:rPr lang="en-US" baseline="30000" smtClean="0">
                <a:sym typeface="Wingdings" pitchFamily="2" charset="2"/>
              </a:rPr>
              <a:t>2+</a:t>
            </a:r>
            <a:r>
              <a:rPr lang="en-US" smtClean="0">
                <a:sym typeface="Wingdings" pitchFamily="2" charset="2"/>
              </a:rPr>
              <a:t>] = 2 x 1.00 x 10</a:t>
            </a:r>
            <a:r>
              <a:rPr lang="en-US" baseline="30000" smtClean="0">
                <a:sym typeface="Wingdings" pitchFamily="2" charset="2"/>
              </a:rPr>
              <a:t>-5</a:t>
            </a:r>
            <a:r>
              <a:rPr lang="en-US" smtClean="0">
                <a:sym typeface="Wingdings" pitchFamily="2" charset="2"/>
              </a:rPr>
              <a:t> M = 2.00 x 10</a:t>
            </a:r>
            <a:r>
              <a:rPr lang="en-US" baseline="30000" smtClean="0">
                <a:sym typeface="Wingdings" pitchFamily="2" charset="2"/>
              </a:rPr>
              <a:t>-5</a:t>
            </a:r>
            <a:r>
              <a:rPr lang="en-US" smtClean="0">
                <a:sym typeface="Wingdings" pitchFamily="2" charset="2"/>
              </a:rPr>
              <a:t> M.</a:t>
            </a:r>
          </a:p>
          <a:p>
            <a:r>
              <a:rPr lang="en-US" smtClean="0">
                <a:sym typeface="Wingdings" pitchFamily="2" charset="2"/>
              </a:rPr>
              <a:t>Eg (03)</a:t>
            </a:r>
          </a:p>
          <a:p>
            <a:r>
              <a:rPr lang="en-US" smtClean="0">
                <a:sym typeface="Wingdings" pitchFamily="2" charset="2"/>
              </a:rPr>
              <a:t> Write mass balance expressions for a 0.0100 M solution of HCl that is in equilibrium with an excess of solid BaSO</a:t>
            </a:r>
            <a:r>
              <a:rPr lang="en-US" baseline="-25000" smtClean="0">
                <a:sym typeface="Wingdings" pitchFamily="2" charset="2"/>
              </a:rPr>
              <a:t>4</a:t>
            </a:r>
            <a:r>
              <a:rPr lang="en-US" smtClean="0">
                <a:sym typeface="Wingdings" pitchFamily="2" charset="2"/>
              </a:rPr>
              <a:t>.</a:t>
            </a:r>
          </a:p>
          <a:p>
            <a:r>
              <a:rPr lang="en-US" smtClean="0">
                <a:sym typeface="Wingdings" pitchFamily="2" charset="2"/>
              </a:rPr>
              <a:t>         BaSO</a:t>
            </a:r>
            <a:r>
              <a:rPr lang="en-US" baseline="-25000" smtClean="0">
                <a:sym typeface="Wingdings" pitchFamily="2" charset="2"/>
              </a:rPr>
              <a:t>4</a:t>
            </a:r>
            <a:r>
              <a:rPr lang="en-US" smtClean="0">
                <a:sym typeface="Wingdings" pitchFamily="2" charset="2"/>
              </a:rPr>
              <a:t>              Ba</a:t>
            </a:r>
            <a:r>
              <a:rPr lang="en-US" baseline="30000" smtClean="0">
                <a:sym typeface="Wingdings" pitchFamily="2" charset="2"/>
              </a:rPr>
              <a:t>2+</a:t>
            </a:r>
            <a:r>
              <a:rPr lang="en-US" smtClean="0">
                <a:sym typeface="Wingdings" pitchFamily="2" charset="2"/>
              </a:rPr>
              <a:t>    +  SO</a:t>
            </a:r>
            <a:r>
              <a:rPr lang="en-US" baseline="-25000" smtClean="0">
                <a:sym typeface="Wingdings" pitchFamily="2" charset="2"/>
              </a:rPr>
              <a:t>4</a:t>
            </a:r>
            <a:r>
              <a:rPr lang="en-US" baseline="30000" smtClean="0">
                <a:sym typeface="Wingdings" pitchFamily="2" charset="2"/>
              </a:rPr>
              <a:t>2-</a:t>
            </a:r>
          </a:p>
          <a:p>
            <a:r>
              <a:rPr lang="en-US" smtClean="0">
                <a:sym typeface="Wingdings" pitchFamily="2" charset="2"/>
              </a:rPr>
              <a:t>   SO</a:t>
            </a:r>
            <a:r>
              <a:rPr lang="en-US" baseline="-25000" smtClean="0">
                <a:sym typeface="Wingdings" pitchFamily="2" charset="2"/>
              </a:rPr>
              <a:t>4</a:t>
            </a:r>
            <a:r>
              <a:rPr lang="en-US" baseline="30000" smtClean="0">
                <a:sym typeface="Wingdings" pitchFamily="2" charset="2"/>
              </a:rPr>
              <a:t>2-</a:t>
            </a:r>
            <a:r>
              <a:rPr lang="en-US" smtClean="0">
                <a:sym typeface="Wingdings" pitchFamily="2" charset="2"/>
              </a:rPr>
              <a:t>  +  H</a:t>
            </a:r>
            <a:r>
              <a:rPr lang="en-US" baseline="-25000" smtClean="0">
                <a:sym typeface="Wingdings" pitchFamily="2" charset="2"/>
              </a:rPr>
              <a:t>2</a:t>
            </a:r>
            <a:r>
              <a:rPr lang="en-US" smtClean="0">
                <a:sym typeface="Wingdings" pitchFamily="2" charset="2"/>
              </a:rPr>
              <a:t>O            HSO</a:t>
            </a:r>
            <a:r>
              <a:rPr lang="en-US" baseline="-25000" smtClean="0">
                <a:sym typeface="Wingdings" pitchFamily="2" charset="2"/>
              </a:rPr>
              <a:t>4</a:t>
            </a:r>
            <a:r>
              <a:rPr lang="en-US" baseline="30000" smtClean="0">
                <a:sym typeface="Wingdings" pitchFamily="2" charset="2"/>
              </a:rPr>
              <a:t>-</a:t>
            </a:r>
            <a:r>
              <a:rPr lang="en-US" smtClean="0">
                <a:sym typeface="Wingdings" pitchFamily="2" charset="2"/>
              </a:rPr>
              <a:t>   +    H</a:t>
            </a:r>
            <a:r>
              <a:rPr lang="en-US" baseline="-25000" smtClean="0">
                <a:sym typeface="Wingdings" pitchFamily="2" charset="2"/>
              </a:rPr>
              <a:t>2</a:t>
            </a:r>
            <a:r>
              <a:rPr lang="en-US" smtClean="0">
                <a:sym typeface="Wingdings" pitchFamily="2" charset="2"/>
              </a:rPr>
              <a:t>O</a:t>
            </a:r>
          </a:p>
          <a:p>
            <a:r>
              <a:rPr lang="en-US" smtClean="0">
                <a:sym typeface="Wingdings" pitchFamily="2" charset="2"/>
              </a:rPr>
              <a:t>                2H</a:t>
            </a:r>
            <a:r>
              <a:rPr lang="en-US" baseline="-25000" smtClean="0">
                <a:sym typeface="Wingdings" pitchFamily="2" charset="2"/>
              </a:rPr>
              <a:t>2</a:t>
            </a:r>
            <a:r>
              <a:rPr lang="en-US" smtClean="0">
                <a:sym typeface="Wingdings" pitchFamily="2" charset="2"/>
              </a:rPr>
              <a:t>O        H</a:t>
            </a:r>
            <a:r>
              <a:rPr lang="en-US" baseline="-25000" smtClean="0">
                <a:sym typeface="Wingdings" pitchFamily="2" charset="2"/>
              </a:rPr>
              <a:t>3</a:t>
            </a:r>
            <a:r>
              <a:rPr lang="en-US" smtClean="0">
                <a:sym typeface="Wingdings" pitchFamily="2" charset="2"/>
              </a:rPr>
              <a:t>O</a:t>
            </a:r>
            <a:r>
              <a:rPr lang="en-US" baseline="30000" smtClean="0">
                <a:sym typeface="Wingdings" pitchFamily="2" charset="2"/>
              </a:rPr>
              <a:t>+</a:t>
            </a:r>
            <a:r>
              <a:rPr lang="en-US" smtClean="0">
                <a:sym typeface="Wingdings" pitchFamily="2" charset="2"/>
              </a:rPr>
              <a:t>    +   OH</a:t>
            </a:r>
            <a:r>
              <a:rPr lang="en-US" baseline="30000" smtClean="0">
                <a:sym typeface="Wingdings" pitchFamily="2" charset="2"/>
              </a:rPr>
              <a:t>-</a:t>
            </a:r>
          </a:p>
          <a:p>
            <a:endParaRPr lang="en-US" smtClean="0">
              <a:sym typeface="Wingdings" pitchFamily="2" charset="2"/>
            </a:endParaRPr>
          </a:p>
          <a:p>
            <a:endParaRPr lang="en-US" smtClean="0">
              <a:sym typeface="Wingdings" pitchFamily="2" charset="2"/>
            </a:endParaRPr>
          </a:p>
          <a:p>
            <a:pPr>
              <a:buFontTx/>
              <a:buNone/>
            </a:pPr>
            <a:endParaRPr lang="en-US" smtClean="0"/>
          </a:p>
        </p:txBody>
      </p:sp>
      <p:cxnSp>
        <p:nvCxnSpPr>
          <p:cNvPr id="5" name="Straight Arrow Connector 4"/>
          <p:cNvCxnSpPr/>
          <p:nvPr/>
        </p:nvCxnSpPr>
        <p:spPr>
          <a:xfrm>
            <a:off x="3733800" y="5410200"/>
            <a:ext cx="6858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rot="10800000">
            <a:off x="3733800" y="5562600"/>
            <a:ext cx="609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10800000">
            <a:off x="3581400" y="4419600"/>
            <a:ext cx="609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3581400" y="4267200"/>
            <a:ext cx="6858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962400" y="4876800"/>
            <a:ext cx="6858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10800000">
            <a:off x="3962400" y="5029200"/>
            <a:ext cx="609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7049" name="Date Placeholder 14"/>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D506AEF-09C5-4E96-9C9C-20969F8CA122}" type="datetime1">
              <a:rPr lang="en-US" sz="1400" smtClean="0"/>
              <a:pPr eaLnBrk="1" hangingPunct="1"/>
              <a:t>5/6/2021</a:t>
            </a:fld>
            <a:endParaRPr lang="en-US" sz="1400" smtClean="0"/>
          </a:p>
        </p:txBody>
      </p:sp>
      <p:sp>
        <p:nvSpPr>
          <p:cNvPr id="87050" name="Slide Number Placeholder 1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862EDAD0-9146-4E8F-ADBC-415488C126A1}" type="slidenum">
              <a:rPr lang="en-US" sz="1400" smtClean="0"/>
              <a:pPr eaLnBrk="1" hangingPunct="1"/>
              <a:t>82</a:t>
            </a:fld>
            <a:endParaRPr lang="en-US" sz="1400" smtClean="0"/>
          </a:p>
        </p:txBody>
      </p:sp>
      <p:sp>
        <p:nvSpPr>
          <p:cNvPr id="87051" name="Footer Placeholder 1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6293025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ox(in)">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ox(i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457200"/>
            <a:ext cx="7772400" cy="5638800"/>
          </a:xfrm>
        </p:spPr>
        <p:txBody>
          <a:bodyPr/>
          <a:lstStyle/>
          <a:p>
            <a:r>
              <a:rPr lang="en-US" smtClean="0"/>
              <a:t>      [Ba</a:t>
            </a:r>
            <a:r>
              <a:rPr lang="en-US" baseline="30000" smtClean="0"/>
              <a:t>2+</a:t>
            </a:r>
            <a:r>
              <a:rPr lang="en-US" smtClean="0"/>
              <a:t>]    =     [SO</a:t>
            </a:r>
            <a:r>
              <a:rPr lang="en-US" baseline="-25000" smtClean="0"/>
              <a:t>4</a:t>
            </a:r>
            <a:r>
              <a:rPr lang="en-US" baseline="30000" smtClean="0"/>
              <a:t>2-</a:t>
            </a:r>
            <a:r>
              <a:rPr lang="en-US" smtClean="0"/>
              <a:t>]      +     [HSO</a:t>
            </a:r>
            <a:r>
              <a:rPr lang="en-US" baseline="-25000" smtClean="0"/>
              <a:t>4</a:t>
            </a:r>
            <a:r>
              <a:rPr lang="en-US" baseline="30000" smtClean="0"/>
              <a:t>-</a:t>
            </a:r>
            <a:r>
              <a:rPr lang="en-US" smtClean="0"/>
              <a:t>]</a:t>
            </a:r>
          </a:p>
          <a:p>
            <a:r>
              <a:rPr lang="en-US" smtClean="0"/>
              <a:t>The H</a:t>
            </a:r>
            <a:r>
              <a:rPr lang="en-US" baseline="-25000" smtClean="0"/>
              <a:t>3</a:t>
            </a:r>
            <a:r>
              <a:rPr lang="en-US" smtClean="0"/>
              <a:t>O</a:t>
            </a:r>
            <a:r>
              <a:rPr lang="en-US" baseline="30000" smtClean="0"/>
              <a:t>+</a:t>
            </a:r>
            <a:r>
              <a:rPr lang="en-US" smtClean="0"/>
              <a:t> in the solution can exist either as free H</a:t>
            </a:r>
            <a:r>
              <a:rPr lang="en-US" baseline="-25000" smtClean="0"/>
              <a:t>3</a:t>
            </a:r>
            <a:r>
              <a:rPr lang="en-US" smtClean="0"/>
              <a:t>O</a:t>
            </a:r>
            <a:r>
              <a:rPr lang="en-US" baseline="30000" smtClean="0"/>
              <a:t>+</a:t>
            </a:r>
            <a:r>
              <a:rPr lang="en-US" smtClean="0"/>
              <a:t> ions or combined with SO</a:t>
            </a:r>
            <a:r>
              <a:rPr lang="en-US" baseline="-25000" smtClean="0"/>
              <a:t>4</a:t>
            </a:r>
            <a:r>
              <a:rPr lang="en-US" baseline="30000" smtClean="0"/>
              <a:t>2-</a:t>
            </a:r>
            <a:r>
              <a:rPr lang="en-US" smtClean="0"/>
              <a:t> to form HSO</a:t>
            </a:r>
            <a:r>
              <a:rPr lang="en-US" baseline="-25000" smtClean="0"/>
              <a:t>4</a:t>
            </a:r>
            <a:r>
              <a:rPr lang="en-US" baseline="30000" smtClean="0"/>
              <a:t>-</a:t>
            </a:r>
            <a:r>
              <a:rPr lang="en-US" smtClean="0"/>
              <a:t>.</a:t>
            </a:r>
          </a:p>
          <a:p>
            <a:r>
              <a:rPr lang="en-US" smtClean="0"/>
              <a:t>H</a:t>
            </a:r>
            <a:r>
              <a:rPr lang="en-US" baseline="-25000" smtClean="0"/>
              <a:t>3</a:t>
            </a:r>
            <a:r>
              <a:rPr lang="en-US" smtClean="0"/>
              <a:t>O</a:t>
            </a:r>
            <a:r>
              <a:rPr lang="en-US" baseline="30000" smtClean="0"/>
              <a:t>+</a:t>
            </a:r>
            <a:r>
              <a:rPr lang="en-US" smtClean="0"/>
              <a:t> ions have two sources. From HCl and the dissociation of water.</a:t>
            </a:r>
          </a:p>
          <a:p>
            <a:r>
              <a:rPr lang="en-US" smtClean="0"/>
              <a:t>[H</a:t>
            </a:r>
            <a:r>
              <a:rPr lang="en-US" baseline="-25000" smtClean="0"/>
              <a:t>3</a:t>
            </a:r>
            <a:r>
              <a:rPr lang="en-US" smtClean="0"/>
              <a:t>O</a:t>
            </a:r>
            <a:r>
              <a:rPr lang="en-US" baseline="30000" smtClean="0"/>
              <a:t>+</a:t>
            </a:r>
            <a:r>
              <a:rPr lang="en-US" smtClean="0"/>
              <a:t>] + [HSO</a:t>
            </a:r>
            <a:r>
              <a:rPr lang="en-US" baseline="-25000" smtClean="0"/>
              <a:t>4</a:t>
            </a:r>
            <a:r>
              <a:rPr lang="en-US" baseline="30000" smtClean="0"/>
              <a:t>-</a:t>
            </a:r>
            <a:r>
              <a:rPr lang="en-US" smtClean="0"/>
              <a:t>]  = C</a:t>
            </a:r>
            <a:r>
              <a:rPr lang="en-US" baseline="-25000" smtClean="0"/>
              <a:t>HCl</a:t>
            </a:r>
            <a:r>
              <a:rPr lang="en-US" smtClean="0"/>
              <a:t>  +  [OH</a:t>
            </a:r>
            <a:r>
              <a:rPr lang="en-US" baseline="30000" smtClean="0"/>
              <a:t>-</a:t>
            </a:r>
            <a:r>
              <a:rPr lang="en-US" smtClean="0"/>
              <a:t>] = 0.0100 +  [OH</a:t>
            </a:r>
            <a:r>
              <a:rPr lang="en-US" baseline="30000" smtClean="0"/>
              <a:t>-</a:t>
            </a:r>
            <a:r>
              <a:rPr lang="en-US" smtClean="0"/>
              <a:t>]</a:t>
            </a:r>
          </a:p>
          <a:p>
            <a:endParaRPr lang="en-US" smtClean="0"/>
          </a:p>
          <a:p>
            <a:endParaRPr lang="en-US" smtClean="0"/>
          </a:p>
        </p:txBody>
      </p:sp>
      <p:sp>
        <p:nvSpPr>
          <p:cNvPr id="88067"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B089D791-781A-42DF-8990-A6F16F11241E}" type="datetime1">
              <a:rPr lang="en-US" sz="1400" smtClean="0"/>
              <a:pPr eaLnBrk="1" hangingPunct="1"/>
              <a:t>5/6/2021</a:t>
            </a:fld>
            <a:endParaRPr lang="en-US" sz="1400" smtClean="0"/>
          </a:p>
        </p:txBody>
      </p:sp>
      <p:sp>
        <p:nvSpPr>
          <p:cNvPr id="88068"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E8826B30-99CD-422E-91CE-EB630BF336F0}" type="slidenum">
              <a:rPr lang="en-US" sz="1400" smtClean="0"/>
              <a:pPr eaLnBrk="1" hangingPunct="1"/>
              <a:t>83</a:t>
            </a:fld>
            <a:endParaRPr lang="en-US" sz="1400" smtClean="0"/>
          </a:p>
        </p:txBody>
      </p:sp>
      <p:sp>
        <p:nvSpPr>
          <p:cNvPr id="88069"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1266645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457200"/>
            <a:ext cx="7772400" cy="1143000"/>
          </a:xfrm>
        </p:spPr>
        <p:txBody>
          <a:bodyPr/>
          <a:lstStyle/>
          <a:p>
            <a:r>
              <a:rPr lang="en-US" smtClean="0"/>
              <a:t>Charge Balance Equation</a:t>
            </a:r>
          </a:p>
        </p:txBody>
      </p:sp>
      <p:sp>
        <p:nvSpPr>
          <p:cNvPr id="4" name="Content Placeholder 3"/>
          <p:cNvSpPr>
            <a:spLocks noGrp="1"/>
          </p:cNvSpPr>
          <p:nvPr>
            <p:ph idx="1"/>
          </p:nvPr>
        </p:nvSpPr>
        <p:spPr/>
        <p:txBody>
          <a:bodyPr/>
          <a:lstStyle/>
          <a:p>
            <a:r>
              <a:rPr lang="en-US" smtClean="0"/>
              <a:t>There is no solution containing a detectable excess of positive or negative charge.</a:t>
            </a:r>
          </a:p>
          <a:p>
            <a:r>
              <a:rPr lang="en-US" smtClean="0"/>
              <a:t>The sum of the positive charges equals to sum of the negative charges.</a:t>
            </a:r>
          </a:p>
          <a:p>
            <a:r>
              <a:rPr lang="en-US" smtClean="0"/>
              <a:t>We  may write single charge balance equation for a given set of equilibria.</a:t>
            </a:r>
          </a:p>
          <a:p>
            <a:pPr>
              <a:buFontTx/>
              <a:buNone/>
            </a:pPr>
            <a:r>
              <a:rPr lang="en-US" smtClean="0"/>
              <a:t> </a:t>
            </a:r>
          </a:p>
        </p:txBody>
      </p:sp>
      <p:sp>
        <p:nvSpPr>
          <p:cNvPr id="89092" name="Date Placeholder 7"/>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99800C7E-3D61-4344-ADE2-1D252FD00A0D}" type="datetime1">
              <a:rPr lang="en-US" sz="1400" smtClean="0"/>
              <a:pPr eaLnBrk="1" hangingPunct="1"/>
              <a:t>5/6/2021</a:t>
            </a:fld>
            <a:endParaRPr lang="en-US" sz="1400" smtClean="0"/>
          </a:p>
        </p:txBody>
      </p:sp>
      <p:sp>
        <p:nvSpPr>
          <p:cNvPr id="89093" name="Slide Number Placeholder 8"/>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9A2D142-D841-46EF-B80A-3375E19A44F3}" type="slidenum">
              <a:rPr lang="en-US" sz="1400" smtClean="0"/>
              <a:pPr eaLnBrk="1" hangingPunct="1"/>
              <a:t>84</a:t>
            </a:fld>
            <a:endParaRPr lang="en-US" sz="1400" smtClean="0"/>
          </a:p>
        </p:txBody>
      </p:sp>
      <p:sp>
        <p:nvSpPr>
          <p:cNvPr id="89094" name="Footer Placeholder 9"/>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0371805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box(in)">
                                      <p:cBhvr>
                                        <p:cTn id="12" dur="500"/>
                                        <p:tgtEl>
                                          <p:spTgt spid="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box(in)">
                                      <p:cBhvr>
                                        <p:cTn id="17" dur="500"/>
                                        <p:tgtEl>
                                          <p:spTgt spid="4">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box(in)">
                                      <p:cBhvr>
                                        <p:cTn id="22" dur="500"/>
                                        <p:tgtEl>
                                          <p:spTgt spid="4">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box(in)">
                                      <p:cBhvr>
                                        <p:cTn id="2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533400"/>
            <a:ext cx="7772400" cy="5638800"/>
          </a:xfrm>
        </p:spPr>
        <p:txBody>
          <a:bodyPr/>
          <a:lstStyle/>
          <a:p>
            <a:r>
              <a:rPr lang="en-US" smtClean="0"/>
              <a:t>Consider for a 0.100 M solution of NaCl.</a:t>
            </a:r>
          </a:p>
          <a:p>
            <a:r>
              <a:rPr lang="en-US" smtClean="0"/>
              <a:t>             NaCl               Na</a:t>
            </a:r>
            <a:r>
              <a:rPr lang="en-US" baseline="30000" smtClean="0"/>
              <a:t>+</a:t>
            </a:r>
            <a:r>
              <a:rPr lang="en-US" smtClean="0"/>
              <a:t>   +  Cl</a:t>
            </a:r>
            <a:r>
              <a:rPr lang="en-US" baseline="30000" smtClean="0"/>
              <a:t>-</a:t>
            </a:r>
          </a:p>
          <a:p>
            <a:r>
              <a:rPr lang="en-US" smtClean="0"/>
              <a:t>             2H</a:t>
            </a:r>
            <a:r>
              <a:rPr lang="en-US" baseline="-25000" smtClean="0"/>
              <a:t>2</a:t>
            </a:r>
            <a:r>
              <a:rPr lang="en-US" smtClean="0"/>
              <a:t>O          H</a:t>
            </a:r>
            <a:r>
              <a:rPr lang="en-US" baseline="-25000" smtClean="0"/>
              <a:t>3</a:t>
            </a:r>
            <a:r>
              <a:rPr lang="en-US" smtClean="0"/>
              <a:t>O</a:t>
            </a:r>
            <a:r>
              <a:rPr lang="en-US" baseline="30000" smtClean="0"/>
              <a:t>+</a:t>
            </a:r>
            <a:r>
              <a:rPr lang="en-US" smtClean="0"/>
              <a:t>  +     OH</a:t>
            </a:r>
            <a:r>
              <a:rPr lang="en-US" baseline="30000" smtClean="0"/>
              <a:t>-</a:t>
            </a:r>
          </a:p>
          <a:p>
            <a:r>
              <a:rPr lang="en-US" smtClean="0"/>
              <a:t>[Na</a:t>
            </a:r>
            <a:r>
              <a:rPr lang="en-US" baseline="30000" smtClean="0"/>
              <a:t>+</a:t>
            </a:r>
            <a:r>
              <a:rPr lang="en-US" smtClean="0"/>
              <a:t> ] +    [H</a:t>
            </a:r>
            <a:r>
              <a:rPr lang="en-US" baseline="-25000" smtClean="0"/>
              <a:t>3</a:t>
            </a:r>
            <a:r>
              <a:rPr lang="en-US" smtClean="0"/>
              <a:t>O</a:t>
            </a:r>
            <a:r>
              <a:rPr lang="en-US" baseline="30000" smtClean="0"/>
              <a:t>+</a:t>
            </a:r>
            <a:r>
              <a:rPr lang="en-US" smtClean="0"/>
              <a:t> ]   =      [Cl</a:t>
            </a:r>
            <a:r>
              <a:rPr lang="en-US" baseline="30000" smtClean="0"/>
              <a:t>-</a:t>
            </a:r>
            <a:r>
              <a:rPr lang="en-US" smtClean="0"/>
              <a:t> ]   +    [OH</a:t>
            </a:r>
            <a:r>
              <a:rPr lang="en-US" baseline="30000" smtClean="0"/>
              <a:t>-</a:t>
            </a:r>
            <a:r>
              <a:rPr lang="en-US" smtClean="0"/>
              <a:t>]</a:t>
            </a:r>
          </a:p>
          <a:p>
            <a:endParaRPr lang="en-US" baseline="30000" smtClean="0"/>
          </a:p>
          <a:p>
            <a:r>
              <a:rPr lang="en-US" smtClean="0"/>
              <a:t>Write a charge balance equation for a solution of H</a:t>
            </a:r>
            <a:r>
              <a:rPr lang="en-US" baseline="-25000" smtClean="0"/>
              <a:t>2</a:t>
            </a:r>
            <a:r>
              <a:rPr lang="en-US" smtClean="0"/>
              <a:t>S.  </a:t>
            </a:r>
          </a:p>
          <a:p>
            <a:r>
              <a:rPr lang="en-US" smtClean="0"/>
              <a:t>H</a:t>
            </a:r>
            <a:r>
              <a:rPr lang="en-US" baseline="-25000" smtClean="0"/>
              <a:t>2</a:t>
            </a:r>
            <a:r>
              <a:rPr lang="en-US" smtClean="0"/>
              <a:t>S                      H</a:t>
            </a:r>
            <a:r>
              <a:rPr lang="en-US" baseline="30000" smtClean="0"/>
              <a:t>+</a:t>
            </a:r>
            <a:r>
              <a:rPr lang="en-US" smtClean="0"/>
              <a:t>    +      HS</a:t>
            </a:r>
            <a:r>
              <a:rPr lang="en-US" baseline="30000" smtClean="0"/>
              <a:t>-</a:t>
            </a:r>
          </a:p>
          <a:p>
            <a:r>
              <a:rPr lang="en-US" smtClean="0"/>
              <a:t>HS</a:t>
            </a:r>
            <a:r>
              <a:rPr lang="en-US" baseline="30000" smtClean="0"/>
              <a:t>-</a:t>
            </a:r>
            <a:r>
              <a:rPr lang="en-US" smtClean="0"/>
              <a:t>                  H</a:t>
            </a:r>
            <a:r>
              <a:rPr lang="en-US" baseline="30000" smtClean="0"/>
              <a:t>+</a:t>
            </a:r>
            <a:r>
              <a:rPr lang="en-US" smtClean="0"/>
              <a:t>    +     S</a:t>
            </a:r>
            <a:r>
              <a:rPr lang="en-US" baseline="30000" smtClean="0"/>
              <a:t>--</a:t>
            </a:r>
          </a:p>
          <a:p>
            <a:r>
              <a:rPr lang="en-US" smtClean="0"/>
              <a:t>H</a:t>
            </a:r>
            <a:r>
              <a:rPr lang="en-US" baseline="-25000" smtClean="0"/>
              <a:t>2</a:t>
            </a:r>
            <a:r>
              <a:rPr lang="en-US" smtClean="0"/>
              <a:t>O                    H</a:t>
            </a:r>
            <a:r>
              <a:rPr lang="en-US" baseline="30000" smtClean="0"/>
              <a:t>+</a:t>
            </a:r>
            <a:r>
              <a:rPr lang="en-US" smtClean="0"/>
              <a:t>  +     OH</a:t>
            </a:r>
            <a:r>
              <a:rPr lang="en-US" baseline="30000" smtClean="0"/>
              <a:t>-</a:t>
            </a:r>
            <a:endParaRPr lang="en-US" smtClean="0"/>
          </a:p>
        </p:txBody>
      </p:sp>
      <p:cxnSp>
        <p:nvCxnSpPr>
          <p:cNvPr id="5" name="Straight Arrow Connector 4"/>
          <p:cNvCxnSpPr/>
          <p:nvPr/>
        </p:nvCxnSpPr>
        <p:spPr>
          <a:xfrm>
            <a:off x="3733800" y="13716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3505200" y="19050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10800000">
            <a:off x="3719513" y="1495425"/>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10800000">
            <a:off x="3490913" y="2028825"/>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2695575" y="4632325"/>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466975" y="5165725"/>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0800000">
            <a:off x="2681288" y="475615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0800000">
            <a:off x="2452688" y="528955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2619375" y="5743575"/>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10800000">
            <a:off x="2605088" y="58674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0125" name="Date Placeholder 19"/>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FF4303CA-5B1B-4244-BCD9-12912B4B0721}" type="datetime1">
              <a:rPr lang="en-US" sz="1400" smtClean="0"/>
              <a:pPr eaLnBrk="1" hangingPunct="1"/>
              <a:t>5/6/2021</a:t>
            </a:fld>
            <a:endParaRPr lang="en-US" sz="1400" smtClean="0"/>
          </a:p>
        </p:txBody>
      </p:sp>
      <p:sp>
        <p:nvSpPr>
          <p:cNvPr id="90126" name="Slide Number Placeholder 2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AF1D36FF-8229-4F57-9824-AD66569968F6}" type="slidenum">
              <a:rPr lang="en-US" sz="1400" smtClean="0"/>
              <a:pPr eaLnBrk="1" hangingPunct="1"/>
              <a:t>85</a:t>
            </a:fld>
            <a:endParaRPr lang="en-US" sz="1400" smtClean="0"/>
          </a:p>
        </p:txBody>
      </p:sp>
      <p:sp>
        <p:nvSpPr>
          <p:cNvPr id="90127" name="Footer Placeholder 2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4102471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ox(in)">
                                      <p:cBhvr>
                                        <p:cTn id="27" dur="500"/>
                                        <p:tgtEl>
                                          <p:spTgt spid="3">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ox(in)">
                                      <p:cBhvr>
                                        <p:cTn id="32" dur="500"/>
                                        <p:tgtEl>
                                          <p:spTgt spid="3">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ox(in)">
                                      <p:cBhvr>
                                        <p:cTn id="37" dur="500"/>
                                        <p:tgtEl>
                                          <p:spTgt spid="3">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ox(in)">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381000"/>
            <a:ext cx="7772400" cy="5715000"/>
          </a:xfrm>
        </p:spPr>
        <p:txBody>
          <a:bodyPr/>
          <a:lstStyle/>
          <a:p>
            <a:r>
              <a:rPr lang="en-US" smtClean="0"/>
              <a:t>For a singly charged species, the charge concentration is identical to the concentration of the species.</a:t>
            </a:r>
          </a:p>
          <a:p>
            <a:r>
              <a:rPr lang="en-US" smtClean="0"/>
              <a:t>But for S</a:t>
            </a:r>
            <a:r>
              <a:rPr lang="en-US" baseline="30000" smtClean="0"/>
              <a:t>-- </a:t>
            </a:r>
            <a:r>
              <a:rPr lang="en-US" smtClean="0"/>
              <a:t>the charge concentration is twice tat of the species. </a:t>
            </a:r>
          </a:p>
          <a:p>
            <a:r>
              <a:rPr lang="en-US" smtClean="0"/>
              <a:t>         [H</a:t>
            </a:r>
            <a:r>
              <a:rPr lang="en-US" baseline="30000" smtClean="0"/>
              <a:t>+</a:t>
            </a:r>
            <a:r>
              <a:rPr lang="en-US" smtClean="0"/>
              <a:t>] = 2[S</a:t>
            </a:r>
            <a:r>
              <a:rPr lang="en-US" baseline="30000" smtClean="0"/>
              <a:t>--</a:t>
            </a:r>
            <a:r>
              <a:rPr lang="en-US" smtClean="0"/>
              <a:t>] +  [HS</a:t>
            </a:r>
            <a:r>
              <a:rPr lang="en-US" baseline="30000" smtClean="0"/>
              <a:t>-</a:t>
            </a:r>
            <a:r>
              <a:rPr lang="en-US" smtClean="0"/>
              <a:t>]  +  [OH</a:t>
            </a:r>
            <a:r>
              <a:rPr lang="en-US" baseline="30000" smtClean="0"/>
              <a:t>-</a:t>
            </a:r>
            <a:r>
              <a:rPr lang="en-US" smtClean="0"/>
              <a:t>]</a:t>
            </a:r>
          </a:p>
          <a:p>
            <a:r>
              <a:rPr lang="en-US" smtClean="0"/>
              <a:t>Write a charge balance expression for a solution containing KCl,Al</a:t>
            </a:r>
            <a:r>
              <a:rPr lang="en-US" baseline="-25000" smtClean="0"/>
              <a:t>2</a:t>
            </a:r>
            <a:r>
              <a:rPr lang="en-US" smtClean="0"/>
              <a:t>(SO</a:t>
            </a:r>
            <a:r>
              <a:rPr lang="en-US" baseline="-25000" smtClean="0"/>
              <a:t>4</a:t>
            </a:r>
            <a:r>
              <a:rPr lang="en-US" smtClean="0"/>
              <a:t>)</a:t>
            </a:r>
            <a:r>
              <a:rPr lang="en-US" baseline="-25000" smtClean="0"/>
              <a:t>3</a:t>
            </a:r>
            <a:r>
              <a:rPr lang="en-US" smtClean="0"/>
              <a:t>, and KNO</a:t>
            </a:r>
            <a:r>
              <a:rPr lang="en-US" baseline="-25000" smtClean="0"/>
              <a:t>3</a:t>
            </a:r>
            <a:r>
              <a:rPr lang="en-US" smtClean="0"/>
              <a:t>. Neglect the dissociation of water.</a:t>
            </a:r>
          </a:p>
          <a:p>
            <a:endParaRPr lang="en-US" smtClean="0"/>
          </a:p>
        </p:txBody>
      </p:sp>
      <p:sp>
        <p:nvSpPr>
          <p:cNvPr id="91139"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8CC2A5B3-136E-43B0-A44D-FE71D0FC0B00}" type="datetime1">
              <a:rPr lang="en-US" sz="1400" smtClean="0"/>
              <a:pPr eaLnBrk="1" hangingPunct="1"/>
              <a:t>5/6/2021</a:t>
            </a:fld>
            <a:endParaRPr lang="en-US" sz="1400" smtClean="0"/>
          </a:p>
        </p:txBody>
      </p:sp>
      <p:sp>
        <p:nvSpPr>
          <p:cNvPr id="91140"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12F7AFDC-842D-489E-A932-93403299B8DF}" type="slidenum">
              <a:rPr lang="en-US" sz="1400" smtClean="0"/>
              <a:pPr eaLnBrk="1" hangingPunct="1"/>
              <a:t>86</a:t>
            </a:fld>
            <a:endParaRPr lang="en-US" sz="1400" smtClean="0"/>
          </a:p>
        </p:txBody>
      </p:sp>
      <p:sp>
        <p:nvSpPr>
          <p:cNvPr id="91141"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947926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762000"/>
            <a:ext cx="7772400" cy="5486400"/>
          </a:xfrm>
        </p:spPr>
        <p:txBody>
          <a:bodyPr/>
          <a:lstStyle/>
          <a:p>
            <a:r>
              <a:rPr lang="en-US" smtClean="0"/>
              <a:t>           KCl   </a:t>
            </a:r>
            <a:r>
              <a:rPr lang="en-US" smtClean="0">
                <a:sym typeface="Wingdings" pitchFamily="2" charset="2"/>
              </a:rPr>
              <a:t>   K</a:t>
            </a:r>
            <a:r>
              <a:rPr lang="en-US" baseline="30000" smtClean="0">
                <a:sym typeface="Wingdings" pitchFamily="2" charset="2"/>
              </a:rPr>
              <a:t>+</a:t>
            </a:r>
            <a:r>
              <a:rPr lang="en-US" smtClean="0">
                <a:sym typeface="Wingdings" pitchFamily="2" charset="2"/>
              </a:rPr>
              <a:t>   +   Cl</a:t>
            </a:r>
            <a:r>
              <a:rPr lang="en-US" baseline="30000" smtClean="0">
                <a:sym typeface="Wingdings" pitchFamily="2" charset="2"/>
              </a:rPr>
              <a:t>-</a:t>
            </a:r>
          </a:p>
          <a:p>
            <a:r>
              <a:rPr lang="en-US" smtClean="0">
                <a:sym typeface="Wingdings" pitchFamily="2" charset="2"/>
              </a:rPr>
              <a:t>         Al</a:t>
            </a:r>
            <a:r>
              <a:rPr lang="en-US" baseline="-25000" smtClean="0">
                <a:sym typeface="Wingdings" pitchFamily="2" charset="2"/>
              </a:rPr>
              <a:t>2</a:t>
            </a:r>
            <a:r>
              <a:rPr lang="en-US" smtClean="0">
                <a:sym typeface="Wingdings" pitchFamily="2" charset="2"/>
              </a:rPr>
              <a:t>(SO</a:t>
            </a:r>
            <a:r>
              <a:rPr lang="en-US" baseline="-25000" smtClean="0">
                <a:sym typeface="Wingdings" pitchFamily="2" charset="2"/>
              </a:rPr>
              <a:t>4</a:t>
            </a:r>
            <a:r>
              <a:rPr lang="en-US" smtClean="0">
                <a:sym typeface="Wingdings" pitchFamily="2" charset="2"/>
              </a:rPr>
              <a:t>)</a:t>
            </a:r>
            <a:r>
              <a:rPr lang="en-US" baseline="-25000" smtClean="0">
                <a:sym typeface="Wingdings" pitchFamily="2" charset="2"/>
              </a:rPr>
              <a:t>3</a:t>
            </a:r>
            <a:r>
              <a:rPr lang="en-US" smtClean="0">
                <a:sym typeface="Wingdings" pitchFamily="2" charset="2"/>
              </a:rPr>
              <a:t>     2Al</a:t>
            </a:r>
            <a:r>
              <a:rPr lang="en-US" baseline="30000" smtClean="0">
                <a:sym typeface="Wingdings" pitchFamily="2" charset="2"/>
              </a:rPr>
              <a:t>3+</a:t>
            </a:r>
            <a:r>
              <a:rPr lang="en-US" smtClean="0">
                <a:sym typeface="Wingdings" pitchFamily="2" charset="2"/>
              </a:rPr>
              <a:t>   +   3SO</a:t>
            </a:r>
            <a:r>
              <a:rPr lang="en-US" baseline="-25000" smtClean="0">
                <a:sym typeface="Wingdings" pitchFamily="2" charset="2"/>
              </a:rPr>
              <a:t>4</a:t>
            </a:r>
            <a:r>
              <a:rPr lang="en-US" baseline="30000" smtClean="0">
                <a:sym typeface="Wingdings" pitchFamily="2" charset="2"/>
              </a:rPr>
              <a:t>--</a:t>
            </a:r>
          </a:p>
          <a:p>
            <a:r>
              <a:rPr lang="en-US" smtClean="0">
                <a:sym typeface="Wingdings" pitchFamily="2" charset="2"/>
              </a:rPr>
              <a:t>          KNO</a:t>
            </a:r>
            <a:r>
              <a:rPr lang="en-US" baseline="-25000" smtClean="0">
                <a:sym typeface="Wingdings" pitchFamily="2" charset="2"/>
              </a:rPr>
              <a:t>3</a:t>
            </a:r>
            <a:r>
              <a:rPr lang="en-US" smtClean="0">
                <a:sym typeface="Wingdings" pitchFamily="2" charset="2"/>
              </a:rPr>
              <a:t>        K</a:t>
            </a:r>
            <a:r>
              <a:rPr lang="en-US" baseline="30000" smtClean="0">
                <a:sym typeface="Wingdings" pitchFamily="2" charset="2"/>
              </a:rPr>
              <a:t>+</a:t>
            </a:r>
            <a:r>
              <a:rPr lang="en-US" smtClean="0">
                <a:sym typeface="Wingdings" pitchFamily="2" charset="2"/>
              </a:rPr>
              <a:t>   +   NO</a:t>
            </a:r>
            <a:r>
              <a:rPr lang="en-US" baseline="-25000" smtClean="0">
                <a:sym typeface="Wingdings" pitchFamily="2" charset="2"/>
              </a:rPr>
              <a:t>3</a:t>
            </a:r>
            <a:r>
              <a:rPr lang="en-US" baseline="30000" smtClean="0">
                <a:sym typeface="Wingdings" pitchFamily="2" charset="2"/>
              </a:rPr>
              <a:t>-       </a:t>
            </a:r>
            <a:endParaRPr lang="en-US" smtClean="0">
              <a:sym typeface="Wingdings" pitchFamily="2" charset="2"/>
            </a:endParaRPr>
          </a:p>
          <a:p>
            <a:r>
              <a:rPr lang="en-US" smtClean="0">
                <a:solidFill>
                  <a:srgbClr val="FF0000"/>
                </a:solidFill>
                <a:sym typeface="Wingdings" pitchFamily="2" charset="2"/>
              </a:rPr>
              <a:t>[K</a:t>
            </a:r>
            <a:r>
              <a:rPr lang="en-US" baseline="30000" smtClean="0">
                <a:solidFill>
                  <a:srgbClr val="FF0000"/>
                </a:solidFill>
                <a:sym typeface="Wingdings" pitchFamily="2" charset="2"/>
              </a:rPr>
              <a:t>+</a:t>
            </a:r>
            <a:r>
              <a:rPr lang="en-US" smtClean="0">
                <a:solidFill>
                  <a:srgbClr val="FF0000"/>
                </a:solidFill>
                <a:sym typeface="Wingdings" pitchFamily="2" charset="2"/>
              </a:rPr>
              <a:t>]  +  [Al</a:t>
            </a:r>
            <a:r>
              <a:rPr lang="en-US" baseline="30000" smtClean="0">
                <a:solidFill>
                  <a:srgbClr val="FF0000"/>
                </a:solidFill>
                <a:sym typeface="Wingdings" pitchFamily="2" charset="2"/>
              </a:rPr>
              <a:t>3+</a:t>
            </a:r>
            <a:r>
              <a:rPr lang="en-US" smtClean="0">
                <a:solidFill>
                  <a:srgbClr val="FF0000"/>
                </a:solidFill>
                <a:sym typeface="Wingdings" pitchFamily="2" charset="2"/>
              </a:rPr>
              <a:t>]   =   [Cl</a:t>
            </a:r>
            <a:r>
              <a:rPr lang="en-US" baseline="30000" smtClean="0">
                <a:solidFill>
                  <a:srgbClr val="FF0000"/>
                </a:solidFill>
                <a:sym typeface="Wingdings" pitchFamily="2" charset="2"/>
              </a:rPr>
              <a:t>-</a:t>
            </a:r>
            <a:r>
              <a:rPr lang="en-US" smtClean="0">
                <a:solidFill>
                  <a:srgbClr val="FF0000"/>
                </a:solidFill>
                <a:sym typeface="Wingdings" pitchFamily="2" charset="2"/>
              </a:rPr>
              <a:t>]  +   [SO</a:t>
            </a:r>
            <a:r>
              <a:rPr lang="en-US" baseline="-25000" smtClean="0">
                <a:solidFill>
                  <a:srgbClr val="FF0000"/>
                </a:solidFill>
                <a:sym typeface="Wingdings" pitchFamily="2" charset="2"/>
              </a:rPr>
              <a:t>4</a:t>
            </a:r>
            <a:r>
              <a:rPr lang="en-US" baseline="30000" smtClean="0">
                <a:solidFill>
                  <a:srgbClr val="FF0000"/>
                </a:solidFill>
                <a:sym typeface="Wingdings" pitchFamily="2" charset="2"/>
              </a:rPr>
              <a:t>--</a:t>
            </a:r>
            <a:r>
              <a:rPr lang="en-US" smtClean="0">
                <a:solidFill>
                  <a:srgbClr val="FF0000"/>
                </a:solidFill>
                <a:sym typeface="Wingdings" pitchFamily="2" charset="2"/>
              </a:rPr>
              <a:t>] +   [NO</a:t>
            </a:r>
            <a:r>
              <a:rPr lang="en-US" baseline="-25000" smtClean="0">
                <a:solidFill>
                  <a:srgbClr val="FF0000"/>
                </a:solidFill>
                <a:sym typeface="Wingdings" pitchFamily="2" charset="2"/>
              </a:rPr>
              <a:t>3</a:t>
            </a:r>
            <a:r>
              <a:rPr lang="en-US" baseline="30000" smtClean="0">
                <a:solidFill>
                  <a:srgbClr val="FF0000"/>
                </a:solidFill>
                <a:sym typeface="Wingdings" pitchFamily="2" charset="2"/>
              </a:rPr>
              <a:t>-</a:t>
            </a:r>
            <a:r>
              <a:rPr lang="en-US" smtClean="0">
                <a:solidFill>
                  <a:srgbClr val="FF0000"/>
                </a:solidFill>
                <a:sym typeface="Wingdings" pitchFamily="2" charset="2"/>
              </a:rPr>
              <a:t>]</a:t>
            </a:r>
          </a:p>
          <a:p>
            <a:r>
              <a:rPr lang="en-US" smtClean="0">
                <a:sym typeface="Wingdings" pitchFamily="2" charset="2"/>
              </a:rPr>
              <a:t>But correctly, the charge balance equation as:</a:t>
            </a:r>
          </a:p>
          <a:p>
            <a:r>
              <a:rPr lang="en-US" smtClean="0">
                <a:sym typeface="Wingdings" pitchFamily="2" charset="2"/>
              </a:rPr>
              <a:t>[K</a:t>
            </a:r>
            <a:r>
              <a:rPr lang="en-US" baseline="30000" smtClean="0">
                <a:sym typeface="Wingdings" pitchFamily="2" charset="2"/>
              </a:rPr>
              <a:t>+</a:t>
            </a:r>
            <a:r>
              <a:rPr lang="en-US" smtClean="0">
                <a:sym typeface="Wingdings" pitchFamily="2" charset="2"/>
              </a:rPr>
              <a:t>]  +  3[Al</a:t>
            </a:r>
            <a:r>
              <a:rPr lang="en-US" baseline="30000" smtClean="0">
                <a:sym typeface="Wingdings" pitchFamily="2" charset="2"/>
              </a:rPr>
              <a:t>3+</a:t>
            </a:r>
            <a:r>
              <a:rPr lang="en-US" smtClean="0">
                <a:sym typeface="Wingdings" pitchFamily="2" charset="2"/>
              </a:rPr>
              <a:t>]   =   [Cl</a:t>
            </a:r>
            <a:r>
              <a:rPr lang="en-US" baseline="30000" smtClean="0">
                <a:sym typeface="Wingdings" pitchFamily="2" charset="2"/>
              </a:rPr>
              <a:t>-</a:t>
            </a:r>
            <a:r>
              <a:rPr lang="en-US" smtClean="0">
                <a:sym typeface="Wingdings" pitchFamily="2" charset="2"/>
              </a:rPr>
              <a:t>]  +  2[SO</a:t>
            </a:r>
            <a:r>
              <a:rPr lang="en-US" baseline="-25000" smtClean="0">
                <a:sym typeface="Wingdings" pitchFamily="2" charset="2"/>
              </a:rPr>
              <a:t>4</a:t>
            </a:r>
            <a:r>
              <a:rPr lang="en-US" baseline="30000" smtClean="0">
                <a:sym typeface="Wingdings" pitchFamily="2" charset="2"/>
              </a:rPr>
              <a:t>--</a:t>
            </a:r>
            <a:r>
              <a:rPr lang="en-US" smtClean="0">
                <a:sym typeface="Wingdings" pitchFamily="2" charset="2"/>
              </a:rPr>
              <a:t>] +   [NO</a:t>
            </a:r>
            <a:r>
              <a:rPr lang="en-US" baseline="-25000" smtClean="0">
                <a:sym typeface="Wingdings" pitchFamily="2" charset="2"/>
              </a:rPr>
              <a:t>3</a:t>
            </a:r>
            <a:r>
              <a:rPr lang="en-US" baseline="30000" smtClean="0">
                <a:sym typeface="Wingdings" pitchFamily="2" charset="2"/>
              </a:rPr>
              <a:t>-</a:t>
            </a:r>
            <a:r>
              <a:rPr lang="en-US" smtClean="0">
                <a:sym typeface="Wingdings" pitchFamily="2" charset="2"/>
              </a:rPr>
              <a:t>]</a:t>
            </a:r>
            <a:endParaRPr lang="en-US" smtClean="0"/>
          </a:p>
          <a:p>
            <a:endParaRPr lang="en-US" smtClean="0"/>
          </a:p>
        </p:txBody>
      </p:sp>
      <p:sp>
        <p:nvSpPr>
          <p:cNvPr id="92163"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F13C130-1B98-4E16-85EF-BE9C5D354157}" type="datetime1">
              <a:rPr lang="en-US" sz="1400" smtClean="0"/>
              <a:pPr eaLnBrk="1" hangingPunct="1"/>
              <a:t>5/6/2021</a:t>
            </a:fld>
            <a:endParaRPr lang="en-US" sz="1400" smtClean="0"/>
          </a:p>
        </p:txBody>
      </p:sp>
      <p:sp>
        <p:nvSpPr>
          <p:cNvPr id="92164"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F6724711-F3B6-4868-AA29-24C8A3295EF9}" type="slidenum">
              <a:rPr lang="en-US" sz="1400" smtClean="0"/>
              <a:pPr eaLnBrk="1" hangingPunct="1"/>
              <a:t>87</a:t>
            </a:fld>
            <a:endParaRPr lang="en-US" sz="1400" smtClean="0"/>
          </a:p>
        </p:txBody>
      </p:sp>
      <p:sp>
        <p:nvSpPr>
          <p:cNvPr id="92165"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5040108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ox(in)">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ox(i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685800" y="0"/>
            <a:ext cx="7772400" cy="609600"/>
          </a:xfrm>
        </p:spPr>
        <p:txBody>
          <a:bodyPr/>
          <a:lstStyle/>
          <a:p>
            <a:pPr eaLnBrk="1" hangingPunct="1"/>
            <a:r>
              <a:rPr lang="en-US" sz="4000" smtClean="0">
                <a:solidFill>
                  <a:srgbClr val="0070C0"/>
                </a:solidFill>
              </a:rPr>
              <a:t>Multiple Chemical Equilibria</a:t>
            </a:r>
          </a:p>
        </p:txBody>
      </p:sp>
      <p:sp>
        <p:nvSpPr>
          <p:cNvPr id="82947" name="Rectangle 3"/>
          <p:cNvSpPr>
            <a:spLocks noGrp="1" noChangeArrowheads="1"/>
          </p:cNvSpPr>
          <p:nvPr>
            <p:ph type="body" idx="1"/>
          </p:nvPr>
        </p:nvSpPr>
        <p:spPr>
          <a:xfrm>
            <a:off x="228600" y="685800"/>
            <a:ext cx="8915400" cy="6172200"/>
          </a:xfrm>
        </p:spPr>
        <p:txBody>
          <a:bodyPr/>
          <a:lstStyle/>
          <a:p>
            <a:pPr eaLnBrk="1" hangingPunct="1"/>
            <a:r>
              <a:rPr lang="en-US" sz="2800" smtClean="0"/>
              <a:t>Dissolve NaHCO</a:t>
            </a:r>
            <a:r>
              <a:rPr lang="en-US" sz="2800" baseline="-25000" smtClean="0"/>
              <a:t>3</a:t>
            </a:r>
            <a:r>
              <a:rPr lang="en-US" sz="2800" smtClean="0"/>
              <a:t> in water:</a:t>
            </a:r>
          </a:p>
          <a:p>
            <a:pPr lvl="1" eaLnBrk="1" hangingPunct="1"/>
            <a:r>
              <a:rPr lang="en-US" sz="2400" smtClean="0"/>
              <a:t>NaHCO</a:t>
            </a:r>
            <a:r>
              <a:rPr lang="en-US" sz="2400" baseline="-25000" smtClean="0"/>
              <a:t>3</a:t>
            </a:r>
            <a:r>
              <a:rPr lang="en-US" sz="2400" smtClean="0"/>
              <a:t> </a:t>
            </a:r>
            <a:r>
              <a:rPr lang="en-US" sz="2400" smtClean="0">
                <a:sym typeface="Wingdings" pitchFamily="2" charset="2"/>
              </a:rPr>
              <a:t> Na</a:t>
            </a:r>
            <a:r>
              <a:rPr lang="en-US" sz="2400" baseline="30000" smtClean="0">
                <a:sym typeface="Wingdings" pitchFamily="2" charset="2"/>
              </a:rPr>
              <a:t>+</a:t>
            </a:r>
            <a:r>
              <a:rPr lang="en-US" sz="2400" smtClean="0">
                <a:sym typeface="Wingdings" pitchFamily="2" charset="2"/>
              </a:rPr>
              <a:t> + HCO</a:t>
            </a:r>
            <a:r>
              <a:rPr lang="en-US" sz="2400" baseline="-25000" smtClean="0">
                <a:sym typeface="Wingdings" pitchFamily="2" charset="2"/>
              </a:rPr>
              <a:t>3</a:t>
            </a:r>
            <a:r>
              <a:rPr lang="en-US" sz="2400" baseline="30000" smtClean="0">
                <a:sym typeface="Wingdings" pitchFamily="2" charset="2"/>
              </a:rPr>
              <a:t>-</a:t>
            </a:r>
            <a:endParaRPr lang="en-US" sz="2400" smtClean="0">
              <a:sym typeface="Wingdings" pitchFamily="2" charset="2"/>
            </a:endParaRPr>
          </a:p>
          <a:p>
            <a:pPr eaLnBrk="1" hangingPunct="1"/>
            <a:r>
              <a:rPr lang="en-US" sz="2400" smtClean="0">
                <a:sym typeface="Wingdings" pitchFamily="2" charset="2"/>
              </a:rPr>
              <a:t>HCO</a:t>
            </a:r>
            <a:r>
              <a:rPr lang="en-US" sz="2400" baseline="-25000" smtClean="0">
                <a:sym typeface="Wingdings" pitchFamily="2" charset="2"/>
              </a:rPr>
              <a:t>3</a:t>
            </a:r>
            <a:r>
              <a:rPr lang="en-US" sz="2400" baseline="30000" smtClean="0">
                <a:sym typeface="Wingdings" pitchFamily="2" charset="2"/>
              </a:rPr>
              <a:t>-</a:t>
            </a:r>
            <a:r>
              <a:rPr lang="en-US" sz="2400" smtClean="0">
                <a:sym typeface="Wingdings" pitchFamily="2" charset="2"/>
              </a:rPr>
              <a:t> + HOH  H</a:t>
            </a:r>
            <a:r>
              <a:rPr lang="en-US" sz="2400" baseline="-25000" smtClean="0">
                <a:sym typeface="Wingdings" pitchFamily="2" charset="2"/>
              </a:rPr>
              <a:t>2</a:t>
            </a:r>
            <a:r>
              <a:rPr lang="en-US" sz="2400" smtClean="0">
                <a:sym typeface="Wingdings" pitchFamily="2" charset="2"/>
              </a:rPr>
              <a:t>CO</a:t>
            </a:r>
            <a:r>
              <a:rPr lang="en-US" sz="2400" baseline="-25000" smtClean="0">
                <a:sym typeface="Wingdings" pitchFamily="2" charset="2"/>
              </a:rPr>
              <a:t>3</a:t>
            </a:r>
            <a:r>
              <a:rPr lang="en-US" sz="2400" smtClean="0">
                <a:sym typeface="Wingdings" pitchFamily="2" charset="2"/>
              </a:rPr>
              <a:t> + OH</a:t>
            </a:r>
            <a:r>
              <a:rPr lang="en-US" sz="2400" baseline="30000" smtClean="0">
                <a:sym typeface="Wingdings" pitchFamily="2" charset="2"/>
              </a:rPr>
              <a:t>-  	</a:t>
            </a:r>
            <a:r>
              <a:rPr lang="en-US" sz="2400" smtClean="0">
                <a:sym typeface="Wingdings" pitchFamily="2" charset="2"/>
              </a:rPr>
              <a:t>K</a:t>
            </a:r>
            <a:r>
              <a:rPr lang="en-US" sz="2400" baseline="-25000" smtClean="0">
                <a:sym typeface="Wingdings" pitchFamily="2" charset="2"/>
              </a:rPr>
              <a:t>e </a:t>
            </a:r>
            <a:r>
              <a:rPr lang="en-US" sz="2400" smtClean="0">
                <a:sym typeface="Wingdings" pitchFamily="2" charset="2"/>
              </a:rPr>
              <a:t>= Kb = Kw/K</a:t>
            </a:r>
            <a:r>
              <a:rPr lang="en-US" sz="2400" baseline="-25000" smtClean="0">
                <a:sym typeface="Wingdings" pitchFamily="2" charset="2"/>
              </a:rPr>
              <a:t>a1</a:t>
            </a:r>
          </a:p>
          <a:p>
            <a:pPr eaLnBrk="1" hangingPunct="1"/>
            <a:r>
              <a:rPr lang="en-US" sz="2400" smtClean="0">
                <a:sym typeface="Wingdings" pitchFamily="2" charset="2"/>
              </a:rPr>
              <a:t>HCO</a:t>
            </a:r>
            <a:r>
              <a:rPr lang="en-US" sz="2400" baseline="-25000" smtClean="0">
                <a:sym typeface="Wingdings" pitchFamily="2" charset="2"/>
              </a:rPr>
              <a:t>3</a:t>
            </a:r>
            <a:r>
              <a:rPr lang="en-US" sz="2400" baseline="30000" smtClean="0">
                <a:sym typeface="Wingdings" pitchFamily="2" charset="2"/>
              </a:rPr>
              <a:t>-</a:t>
            </a:r>
            <a:r>
              <a:rPr lang="en-US" sz="2400" smtClean="0">
                <a:sym typeface="Wingdings" pitchFamily="2" charset="2"/>
              </a:rPr>
              <a:t> + HOH  H</a:t>
            </a:r>
            <a:r>
              <a:rPr lang="en-US" sz="2400" baseline="-25000" smtClean="0">
                <a:sym typeface="Wingdings" pitchFamily="2" charset="2"/>
              </a:rPr>
              <a:t>3</a:t>
            </a:r>
            <a:r>
              <a:rPr lang="en-US" sz="2400" smtClean="0">
                <a:sym typeface="Wingdings" pitchFamily="2" charset="2"/>
              </a:rPr>
              <a:t>O</a:t>
            </a:r>
            <a:r>
              <a:rPr lang="en-US" sz="2400" baseline="30000" smtClean="0">
                <a:sym typeface="Wingdings" pitchFamily="2" charset="2"/>
              </a:rPr>
              <a:t>+</a:t>
            </a:r>
            <a:r>
              <a:rPr lang="en-US" sz="2400" smtClean="0">
                <a:sym typeface="Wingdings" pitchFamily="2" charset="2"/>
              </a:rPr>
              <a:t>   + CO</a:t>
            </a:r>
            <a:r>
              <a:rPr lang="en-US" sz="2400" baseline="-25000" smtClean="0">
                <a:sym typeface="Wingdings" pitchFamily="2" charset="2"/>
              </a:rPr>
              <a:t>3</a:t>
            </a:r>
            <a:r>
              <a:rPr lang="en-US" sz="2400" baseline="30000" smtClean="0">
                <a:sym typeface="Wingdings" pitchFamily="2" charset="2"/>
              </a:rPr>
              <a:t>2-</a:t>
            </a:r>
            <a:r>
              <a:rPr lang="en-US" sz="2400" smtClean="0">
                <a:sym typeface="Wingdings" pitchFamily="2" charset="2"/>
              </a:rPr>
              <a:t>  </a:t>
            </a:r>
            <a:r>
              <a:rPr lang="en-US" sz="2400" baseline="30000" smtClean="0">
                <a:sym typeface="Wingdings" pitchFamily="2" charset="2"/>
              </a:rPr>
              <a:t>  	</a:t>
            </a:r>
            <a:r>
              <a:rPr lang="en-US" sz="2400" smtClean="0">
                <a:sym typeface="Wingdings" pitchFamily="2" charset="2"/>
              </a:rPr>
              <a:t>K</a:t>
            </a:r>
            <a:r>
              <a:rPr lang="en-US" sz="2400" baseline="-25000" smtClean="0">
                <a:sym typeface="Wingdings" pitchFamily="2" charset="2"/>
              </a:rPr>
              <a:t>e </a:t>
            </a:r>
            <a:r>
              <a:rPr lang="en-US" sz="2400" smtClean="0">
                <a:sym typeface="Wingdings" pitchFamily="2" charset="2"/>
              </a:rPr>
              <a:t>= K</a:t>
            </a:r>
            <a:r>
              <a:rPr lang="en-US" sz="2400" baseline="-25000" smtClean="0">
                <a:sym typeface="Wingdings" pitchFamily="2" charset="2"/>
              </a:rPr>
              <a:t>a2</a:t>
            </a:r>
            <a:endParaRPr lang="en-US" sz="2400" smtClean="0">
              <a:sym typeface="Wingdings" pitchFamily="2" charset="2"/>
            </a:endParaRPr>
          </a:p>
          <a:p>
            <a:pPr eaLnBrk="1" hangingPunct="1"/>
            <a:r>
              <a:rPr lang="en-US" sz="2400" smtClean="0">
                <a:sym typeface="Wingdings" pitchFamily="2" charset="2"/>
              </a:rPr>
              <a:t>HOH   + HOH  H</a:t>
            </a:r>
            <a:r>
              <a:rPr lang="en-US" sz="2400" baseline="-25000" smtClean="0">
                <a:sym typeface="Wingdings" pitchFamily="2" charset="2"/>
              </a:rPr>
              <a:t>3</a:t>
            </a:r>
            <a:r>
              <a:rPr lang="en-US" sz="2400" smtClean="0">
                <a:sym typeface="Wingdings" pitchFamily="2" charset="2"/>
              </a:rPr>
              <a:t>O</a:t>
            </a:r>
            <a:r>
              <a:rPr lang="en-US" sz="2400" baseline="30000" smtClean="0">
                <a:sym typeface="Wingdings" pitchFamily="2" charset="2"/>
              </a:rPr>
              <a:t>+</a:t>
            </a:r>
            <a:r>
              <a:rPr lang="en-US" sz="2400" smtClean="0">
                <a:sym typeface="Wingdings" pitchFamily="2" charset="2"/>
              </a:rPr>
              <a:t>   + OH</a:t>
            </a:r>
            <a:r>
              <a:rPr lang="en-US" sz="2400" baseline="30000" smtClean="0">
                <a:sym typeface="Wingdings" pitchFamily="2" charset="2"/>
              </a:rPr>
              <a:t>- 	</a:t>
            </a:r>
            <a:r>
              <a:rPr lang="en-US" sz="2400" smtClean="0">
                <a:sym typeface="Wingdings" pitchFamily="2" charset="2"/>
              </a:rPr>
              <a:t>K</a:t>
            </a:r>
            <a:r>
              <a:rPr lang="en-US" sz="2400" baseline="-25000" smtClean="0">
                <a:sym typeface="Wingdings" pitchFamily="2" charset="2"/>
              </a:rPr>
              <a:t>e</a:t>
            </a:r>
            <a:r>
              <a:rPr lang="en-US" sz="2400" smtClean="0">
                <a:sym typeface="Wingdings" pitchFamily="2" charset="2"/>
              </a:rPr>
              <a:t> = K</a:t>
            </a:r>
            <a:r>
              <a:rPr lang="en-US" sz="2400" baseline="-25000" smtClean="0">
                <a:sym typeface="Wingdings" pitchFamily="2" charset="2"/>
              </a:rPr>
              <a:t>w</a:t>
            </a:r>
          </a:p>
          <a:p>
            <a:pPr eaLnBrk="1" hangingPunct="1"/>
            <a:r>
              <a:rPr lang="en-US" sz="2400" smtClean="0">
                <a:sym typeface="Wingdings" pitchFamily="2" charset="2"/>
              </a:rPr>
              <a:t>5 chemical species affected by 3 equilibria</a:t>
            </a:r>
          </a:p>
          <a:p>
            <a:pPr eaLnBrk="1" hangingPunct="1"/>
            <a:r>
              <a:rPr lang="en-US" sz="2400" smtClean="0">
                <a:sym typeface="Wingdings" pitchFamily="2" charset="2"/>
              </a:rPr>
              <a:t>Equilibrium constants do NOT change with chemical additions/ deletions</a:t>
            </a:r>
          </a:p>
          <a:p>
            <a:pPr lvl="1" eaLnBrk="1" hangingPunct="1"/>
            <a:r>
              <a:rPr lang="en-US" sz="2000" smtClean="0">
                <a:sym typeface="Wingdings" pitchFamily="2" charset="2"/>
              </a:rPr>
              <a:t>Add Ba</a:t>
            </a:r>
            <a:r>
              <a:rPr lang="en-US" sz="2000" baseline="30000" smtClean="0">
                <a:sym typeface="Wingdings" pitchFamily="2" charset="2"/>
              </a:rPr>
              <a:t>2+</a:t>
            </a:r>
            <a:r>
              <a:rPr lang="en-US" sz="2000" smtClean="0">
                <a:sym typeface="Wingdings" pitchFamily="2" charset="2"/>
              </a:rPr>
              <a:t>:  Ba</a:t>
            </a:r>
            <a:r>
              <a:rPr lang="en-US" sz="2000" baseline="30000" smtClean="0">
                <a:sym typeface="Wingdings" pitchFamily="2" charset="2"/>
              </a:rPr>
              <a:t>2+</a:t>
            </a:r>
            <a:r>
              <a:rPr lang="en-US" sz="2000" smtClean="0">
                <a:sym typeface="Wingdings" pitchFamily="2" charset="2"/>
              </a:rPr>
              <a:t>  +  CO</a:t>
            </a:r>
            <a:r>
              <a:rPr lang="en-US" sz="2000" baseline="-25000" smtClean="0">
                <a:sym typeface="Wingdings" pitchFamily="2" charset="2"/>
              </a:rPr>
              <a:t>3</a:t>
            </a:r>
            <a:r>
              <a:rPr lang="en-US" sz="2000" baseline="30000" smtClean="0">
                <a:sym typeface="Wingdings" pitchFamily="2" charset="2"/>
              </a:rPr>
              <a:t>2-</a:t>
            </a:r>
            <a:r>
              <a:rPr lang="en-US" sz="2000" smtClean="0">
                <a:sym typeface="Wingdings" pitchFamily="2" charset="2"/>
              </a:rPr>
              <a:t>  BaCO</a:t>
            </a:r>
            <a:r>
              <a:rPr lang="en-US" sz="2000" baseline="-25000" smtClean="0">
                <a:sym typeface="Wingdings" pitchFamily="2" charset="2"/>
              </a:rPr>
              <a:t>3(s)	</a:t>
            </a:r>
            <a:r>
              <a:rPr lang="en-US" sz="2000" smtClean="0">
                <a:sym typeface="Wingdings" pitchFamily="2" charset="2"/>
              </a:rPr>
              <a:t>K</a:t>
            </a:r>
            <a:r>
              <a:rPr lang="en-US" sz="2000" baseline="-25000" smtClean="0">
                <a:sym typeface="Wingdings" pitchFamily="2" charset="2"/>
              </a:rPr>
              <a:t>e</a:t>
            </a:r>
            <a:r>
              <a:rPr lang="en-US" sz="2000" smtClean="0">
                <a:sym typeface="Wingdings" pitchFamily="2" charset="2"/>
              </a:rPr>
              <a:t> = K</a:t>
            </a:r>
            <a:r>
              <a:rPr lang="en-US" sz="2000" baseline="-25000" smtClean="0">
                <a:sym typeface="Wingdings" pitchFamily="2" charset="2"/>
              </a:rPr>
              <a:t>sp</a:t>
            </a:r>
          </a:p>
          <a:p>
            <a:pPr lvl="1" eaLnBrk="1" hangingPunct="1"/>
            <a:r>
              <a:rPr lang="en-US" sz="2000" smtClean="0">
                <a:sym typeface="Wingdings" pitchFamily="2" charset="2"/>
              </a:rPr>
              <a:t>(Now there are 6 species affected by 4 equilibria)</a:t>
            </a:r>
          </a:p>
          <a:p>
            <a:pPr eaLnBrk="1" hangingPunct="1"/>
            <a:r>
              <a:rPr lang="en-US" sz="2400" b="1" smtClean="0">
                <a:sym typeface="Wingdings" pitchFamily="2" charset="2"/>
              </a:rPr>
              <a:t>Note: For Polyprotic Acids (H</a:t>
            </a:r>
            <a:r>
              <a:rPr lang="en-US" sz="2400" b="1" baseline="-25000" smtClean="0">
                <a:sym typeface="Wingdings" pitchFamily="2" charset="2"/>
              </a:rPr>
              <a:t>N</a:t>
            </a:r>
            <a:r>
              <a:rPr lang="en-US" sz="2400" b="1" smtClean="0">
                <a:sym typeface="Wingdings" pitchFamily="2" charset="2"/>
              </a:rPr>
              <a:t>A): K</a:t>
            </a:r>
            <a:r>
              <a:rPr lang="en-US" sz="2400" b="1" baseline="-25000" smtClean="0">
                <a:sym typeface="Wingdings" pitchFamily="2" charset="2"/>
              </a:rPr>
              <a:t>(step) </a:t>
            </a:r>
            <a:r>
              <a:rPr lang="en-US" sz="2400" b="1" smtClean="0">
                <a:sym typeface="Wingdings" pitchFamily="2" charset="2"/>
              </a:rPr>
              <a:t>= K</a:t>
            </a:r>
            <a:r>
              <a:rPr lang="en-US" sz="2400" b="1" baseline="-25000" smtClean="0">
                <a:sym typeface="Wingdings" pitchFamily="2" charset="2"/>
              </a:rPr>
              <a:t>a1</a:t>
            </a:r>
            <a:r>
              <a:rPr lang="en-US" sz="2400" b="1" smtClean="0">
                <a:sym typeface="Wingdings" pitchFamily="2" charset="2"/>
              </a:rPr>
              <a:t>, K</a:t>
            </a:r>
            <a:r>
              <a:rPr lang="en-US" sz="2400" b="1" baseline="-25000" smtClean="0">
                <a:sym typeface="Wingdings" pitchFamily="2" charset="2"/>
              </a:rPr>
              <a:t>a2</a:t>
            </a:r>
            <a:r>
              <a:rPr lang="en-US" sz="2400" b="1" smtClean="0">
                <a:sym typeface="Wingdings" pitchFamily="2" charset="2"/>
              </a:rPr>
              <a:t>,-- K</a:t>
            </a:r>
            <a:r>
              <a:rPr lang="en-US" sz="2400" b="1" baseline="-25000" smtClean="0">
                <a:sym typeface="Wingdings" pitchFamily="2" charset="2"/>
              </a:rPr>
              <a:t>aN</a:t>
            </a:r>
          </a:p>
          <a:p>
            <a:pPr eaLnBrk="1" hangingPunct="1"/>
            <a:r>
              <a:rPr lang="en-US" sz="2400" smtClean="0">
                <a:sym typeface="Wingdings" pitchFamily="2" charset="2"/>
              </a:rPr>
              <a:t>H</a:t>
            </a:r>
            <a:r>
              <a:rPr lang="en-US" sz="2400" baseline="-25000" smtClean="0">
                <a:sym typeface="Wingdings" pitchFamily="2" charset="2"/>
              </a:rPr>
              <a:t>2</a:t>
            </a:r>
            <a:r>
              <a:rPr lang="en-US" sz="2400" smtClean="0">
                <a:sym typeface="Wingdings" pitchFamily="2" charset="2"/>
              </a:rPr>
              <a:t>A + HOH  H</a:t>
            </a:r>
            <a:r>
              <a:rPr lang="en-US" sz="2400" baseline="-25000" smtClean="0">
                <a:sym typeface="Wingdings" pitchFamily="2" charset="2"/>
              </a:rPr>
              <a:t>3</a:t>
            </a:r>
            <a:r>
              <a:rPr lang="en-US" sz="2400" smtClean="0">
                <a:sym typeface="Wingdings" pitchFamily="2" charset="2"/>
              </a:rPr>
              <a:t>O</a:t>
            </a:r>
            <a:r>
              <a:rPr lang="en-US" sz="2400" baseline="30000" smtClean="0">
                <a:sym typeface="Wingdings" pitchFamily="2" charset="2"/>
              </a:rPr>
              <a:t>+</a:t>
            </a:r>
            <a:r>
              <a:rPr lang="en-US" sz="2400" smtClean="0">
                <a:sym typeface="Wingdings" pitchFamily="2" charset="2"/>
              </a:rPr>
              <a:t> + HA</a:t>
            </a:r>
            <a:r>
              <a:rPr lang="en-US" sz="2400" baseline="30000" smtClean="0">
                <a:sym typeface="Wingdings" pitchFamily="2" charset="2"/>
              </a:rPr>
              <a:t>-</a:t>
            </a:r>
            <a:r>
              <a:rPr lang="en-US" sz="2400" smtClean="0">
                <a:sym typeface="Wingdings" pitchFamily="2" charset="2"/>
              </a:rPr>
              <a:t>		K</a:t>
            </a:r>
            <a:r>
              <a:rPr lang="en-US" sz="2400" baseline="-25000" smtClean="0">
                <a:sym typeface="Wingdings" pitchFamily="2" charset="2"/>
              </a:rPr>
              <a:t>e</a:t>
            </a:r>
            <a:r>
              <a:rPr lang="en-US" sz="2400" smtClean="0">
                <a:sym typeface="Wingdings" pitchFamily="2" charset="2"/>
              </a:rPr>
              <a:t> = K</a:t>
            </a:r>
            <a:r>
              <a:rPr lang="en-US" sz="2400" baseline="-25000" smtClean="0">
                <a:sym typeface="Wingdings" pitchFamily="2" charset="2"/>
              </a:rPr>
              <a:t>a1</a:t>
            </a:r>
          </a:p>
          <a:p>
            <a:pPr eaLnBrk="1" hangingPunct="1"/>
            <a:r>
              <a:rPr lang="en-US" sz="2400" smtClean="0">
                <a:sym typeface="Wingdings" pitchFamily="2" charset="2"/>
              </a:rPr>
              <a:t>HA</a:t>
            </a:r>
            <a:r>
              <a:rPr lang="en-US" sz="2400" baseline="30000" smtClean="0">
                <a:sym typeface="Wingdings" pitchFamily="2" charset="2"/>
              </a:rPr>
              <a:t>-</a:t>
            </a:r>
            <a:r>
              <a:rPr lang="en-US" sz="2400" smtClean="0">
                <a:sym typeface="Wingdings" pitchFamily="2" charset="2"/>
              </a:rPr>
              <a:t>  + HOH  H</a:t>
            </a:r>
            <a:r>
              <a:rPr lang="en-US" sz="2400" baseline="-25000" smtClean="0">
                <a:sym typeface="Wingdings" pitchFamily="2" charset="2"/>
              </a:rPr>
              <a:t>3</a:t>
            </a:r>
            <a:r>
              <a:rPr lang="en-US" sz="2400" smtClean="0">
                <a:sym typeface="Wingdings" pitchFamily="2" charset="2"/>
              </a:rPr>
              <a:t>O</a:t>
            </a:r>
            <a:r>
              <a:rPr lang="en-US" sz="2400" baseline="30000" smtClean="0">
                <a:sym typeface="Wingdings" pitchFamily="2" charset="2"/>
              </a:rPr>
              <a:t>+</a:t>
            </a:r>
            <a:r>
              <a:rPr lang="en-US" sz="2400" smtClean="0">
                <a:sym typeface="Wingdings" pitchFamily="2" charset="2"/>
              </a:rPr>
              <a:t> + A</a:t>
            </a:r>
            <a:r>
              <a:rPr lang="en-US" sz="2400" baseline="30000" smtClean="0">
                <a:sym typeface="Wingdings" pitchFamily="2" charset="2"/>
              </a:rPr>
              <a:t>2-</a:t>
            </a:r>
            <a:r>
              <a:rPr lang="en-US" sz="2400" smtClean="0">
                <a:sym typeface="Wingdings" pitchFamily="2" charset="2"/>
              </a:rPr>
              <a:t>       		K</a:t>
            </a:r>
            <a:r>
              <a:rPr lang="en-US" sz="2400" baseline="-25000" smtClean="0">
                <a:sym typeface="Wingdings" pitchFamily="2" charset="2"/>
              </a:rPr>
              <a:t>e</a:t>
            </a:r>
            <a:r>
              <a:rPr lang="en-US" sz="2400" smtClean="0">
                <a:sym typeface="Wingdings" pitchFamily="2" charset="2"/>
              </a:rPr>
              <a:t> = K</a:t>
            </a:r>
            <a:r>
              <a:rPr lang="en-US" sz="2400" baseline="-25000" smtClean="0">
                <a:sym typeface="Wingdings" pitchFamily="2" charset="2"/>
              </a:rPr>
              <a:t>a2</a:t>
            </a:r>
            <a:r>
              <a:rPr lang="en-US" sz="2400" smtClean="0">
                <a:sym typeface="Wingdings" pitchFamily="2" charset="2"/>
              </a:rPr>
              <a:t> </a:t>
            </a:r>
            <a:endParaRPr lang="en-US" sz="2400" smtClean="0"/>
          </a:p>
        </p:txBody>
      </p:sp>
      <p:sp>
        <p:nvSpPr>
          <p:cNvPr id="93188"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F26F5FE4-0292-447D-8193-519EDBB1789F}" type="datetime1">
              <a:rPr lang="en-US" sz="1400" smtClean="0"/>
              <a:pPr eaLnBrk="1" hangingPunct="1"/>
              <a:t>5/6/2021</a:t>
            </a:fld>
            <a:endParaRPr lang="en-US" sz="1400" smtClean="0"/>
          </a:p>
        </p:txBody>
      </p:sp>
      <p:sp>
        <p:nvSpPr>
          <p:cNvPr id="93189"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DEFB6C18-9DB7-4DA6-B735-00B8296DA69B}" type="slidenum">
              <a:rPr lang="en-US" sz="1400" smtClean="0"/>
              <a:pPr eaLnBrk="1" hangingPunct="1"/>
              <a:t>88</a:t>
            </a:fld>
            <a:endParaRPr lang="en-US" sz="1400" smtClean="0"/>
          </a:p>
        </p:txBody>
      </p:sp>
      <p:sp>
        <p:nvSpPr>
          <p:cNvPr id="93190"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8646283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2946"/>
                                        </p:tgtEl>
                                        <p:attrNameLst>
                                          <p:attrName>style.visibility</p:attrName>
                                        </p:attrNameLst>
                                      </p:cBhvr>
                                      <p:to>
                                        <p:strVal val="visible"/>
                                      </p:to>
                                    </p:set>
                                    <p:animEffect transition="in" filter="box(in)">
                                      <p:cBhvr>
                                        <p:cTn id="7" dur="500"/>
                                        <p:tgtEl>
                                          <p:spTgt spid="829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2947">
                                            <p:txEl>
                                              <p:pRg st="0" end="0"/>
                                            </p:txEl>
                                          </p:spTgt>
                                        </p:tgtEl>
                                        <p:attrNameLst>
                                          <p:attrName>style.visibility</p:attrName>
                                        </p:attrNameLst>
                                      </p:cBhvr>
                                      <p:to>
                                        <p:strVal val="visible"/>
                                      </p:to>
                                    </p:set>
                                    <p:animEffect transition="in" filter="box(in)">
                                      <p:cBhvr>
                                        <p:cTn id="12" dur="500"/>
                                        <p:tgtEl>
                                          <p:spTgt spid="82947">
                                            <p:txEl>
                                              <p:pRg st="0" end="0"/>
                                            </p:txEl>
                                          </p:spTgt>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82947">
                                            <p:txEl>
                                              <p:pRg st="1" end="1"/>
                                            </p:txEl>
                                          </p:spTgt>
                                        </p:tgtEl>
                                        <p:attrNameLst>
                                          <p:attrName>style.visibility</p:attrName>
                                        </p:attrNameLst>
                                      </p:cBhvr>
                                      <p:to>
                                        <p:strVal val="visible"/>
                                      </p:to>
                                    </p:set>
                                    <p:animEffect transition="in" filter="box(in)">
                                      <p:cBhvr>
                                        <p:cTn id="15" dur="500"/>
                                        <p:tgtEl>
                                          <p:spTgt spid="82947">
                                            <p:txEl>
                                              <p:pRg st="1" end="1"/>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82947">
                                            <p:txEl>
                                              <p:pRg st="2" end="2"/>
                                            </p:txEl>
                                          </p:spTgt>
                                        </p:tgtEl>
                                        <p:attrNameLst>
                                          <p:attrName>style.visibility</p:attrName>
                                        </p:attrNameLst>
                                      </p:cBhvr>
                                      <p:to>
                                        <p:strVal val="visible"/>
                                      </p:to>
                                    </p:set>
                                    <p:animEffect transition="in" filter="box(in)">
                                      <p:cBhvr>
                                        <p:cTn id="20" dur="500"/>
                                        <p:tgtEl>
                                          <p:spTgt spid="82947">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82947">
                                            <p:txEl>
                                              <p:pRg st="3" end="3"/>
                                            </p:txEl>
                                          </p:spTgt>
                                        </p:tgtEl>
                                        <p:attrNameLst>
                                          <p:attrName>style.visibility</p:attrName>
                                        </p:attrNameLst>
                                      </p:cBhvr>
                                      <p:to>
                                        <p:strVal val="visible"/>
                                      </p:to>
                                    </p:set>
                                    <p:animEffect transition="in" filter="box(in)">
                                      <p:cBhvr>
                                        <p:cTn id="25" dur="500"/>
                                        <p:tgtEl>
                                          <p:spTgt spid="82947">
                                            <p:txEl>
                                              <p:pRg st="3" end="3"/>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82947">
                                            <p:txEl>
                                              <p:pRg st="4" end="4"/>
                                            </p:txEl>
                                          </p:spTgt>
                                        </p:tgtEl>
                                        <p:attrNameLst>
                                          <p:attrName>style.visibility</p:attrName>
                                        </p:attrNameLst>
                                      </p:cBhvr>
                                      <p:to>
                                        <p:strVal val="visible"/>
                                      </p:to>
                                    </p:set>
                                    <p:animEffect transition="in" filter="box(in)">
                                      <p:cBhvr>
                                        <p:cTn id="30" dur="500"/>
                                        <p:tgtEl>
                                          <p:spTgt spid="82947">
                                            <p:txEl>
                                              <p:pRg st="4" end="4"/>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82947">
                                            <p:txEl>
                                              <p:pRg st="5" end="5"/>
                                            </p:txEl>
                                          </p:spTgt>
                                        </p:tgtEl>
                                        <p:attrNameLst>
                                          <p:attrName>style.visibility</p:attrName>
                                        </p:attrNameLst>
                                      </p:cBhvr>
                                      <p:to>
                                        <p:strVal val="visible"/>
                                      </p:to>
                                    </p:set>
                                    <p:animEffect transition="in" filter="box(in)">
                                      <p:cBhvr>
                                        <p:cTn id="35" dur="500"/>
                                        <p:tgtEl>
                                          <p:spTgt spid="82947">
                                            <p:txEl>
                                              <p:pRg st="5" end="5"/>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82947">
                                            <p:txEl>
                                              <p:pRg st="6" end="6"/>
                                            </p:txEl>
                                          </p:spTgt>
                                        </p:tgtEl>
                                        <p:attrNameLst>
                                          <p:attrName>style.visibility</p:attrName>
                                        </p:attrNameLst>
                                      </p:cBhvr>
                                      <p:to>
                                        <p:strVal val="visible"/>
                                      </p:to>
                                    </p:set>
                                    <p:animEffect transition="in" filter="box(in)">
                                      <p:cBhvr>
                                        <p:cTn id="40" dur="500"/>
                                        <p:tgtEl>
                                          <p:spTgt spid="82947">
                                            <p:txEl>
                                              <p:pRg st="6" end="6"/>
                                            </p:txEl>
                                          </p:spTgt>
                                        </p:tgtEl>
                                      </p:cBhvr>
                                    </p:animEffect>
                                  </p:childTnLst>
                                </p:cTn>
                              </p:par>
                              <p:par>
                                <p:cTn id="41" presetID="4" presetClass="entr" presetSubtype="16" fill="hold" grpId="0" nodeType="withEffect">
                                  <p:stCondLst>
                                    <p:cond delay="0"/>
                                  </p:stCondLst>
                                  <p:childTnLst>
                                    <p:set>
                                      <p:cBhvr>
                                        <p:cTn id="42" dur="1" fill="hold">
                                          <p:stCondLst>
                                            <p:cond delay="0"/>
                                          </p:stCondLst>
                                        </p:cTn>
                                        <p:tgtEl>
                                          <p:spTgt spid="82947">
                                            <p:txEl>
                                              <p:pRg st="7" end="7"/>
                                            </p:txEl>
                                          </p:spTgt>
                                        </p:tgtEl>
                                        <p:attrNameLst>
                                          <p:attrName>style.visibility</p:attrName>
                                        </p:attrNameLst>
                                      </p:cBhvr>
                                      <p:to>
                                        <p:strVal val="visible"/>
                                      </p:to>
                                    </p:set>
                                    <p:animEffect transition="in" filter="box(in)">
                                      <p:cBhvr>
                                        <p:cTn id="43" dur="500"/>
                                        <p:tgtEl>
                                          <p:spTgt spid="82947">
                                            <p:txEl>
                                              <p:pRg st="7" end="7"/>
                                            </p:txEl>
                                          </p:spTgt>
                                        </p:tgtEl>
                                      </p:cBhvr>
                                    </p:animEffect>
                                  </p:childTnLst>
                                </p:cTn>
                              </p:par>
                              <p:par>
                                <p:cTn id="44" presetID="4" presetClass="entr" presetSubtype="16" fill="hold" grpId="0" nodeType="withEffect">
                                  <p:stCondLst>
                                    <p:cond delay="0"/>
                                  </p:stCondLst>
                                  <p:childTnLst>
                                    <p:set>
                                      <p:cBhvr>
                                        <p:cTn id="45" dur="1" fill="hold">
                                          <p:stCondLst>
                                            <p:cond delay="0"/>
                                          </p:stCondLst>
                                        </p:cTn>
                                        <p:tgtEl>
                                          <p:spTgt spid="82947">
                                            <p:txEl>
                                              <p:pRg st="8" end="8"/>
                                            </p:txEl>
                                          </p:spTgt>
                                        </p:tgtEl>
                                        <p:attrNameLst>
                                          <p:attrName>style.visibility</p:attrName>
                                        </p:attrNameLst>
                                      </p:cBhvr>
                                      <p:to>
                                        <p:strVal val="visible"/>
                                      </p:to>
                                    </p:set>
                                    <p:animEffect transition="in" filter="box(in)">
                                      <p:cBhvr>
                                        <p:cTn id="46" dur="500"/>
                                        <p:tgtEl>
                                          <p:spTgt spid="82947">
                                            <p:txEl>
                                              <p:pRg st="8" end="8"/>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4" presetClass="entr" presetSubtype="16" fill="hold" grpId="0" nodeType="clickEffect">
                                  <p:stCondLst>
                                    <p:cond delay="0"/>
                                  </p:stCondLst>
                                  <p:childTnLst>
                                    <p:set>
                                      <p:cBhvr>
                                        <p:cTn id="50" dur="1" fill="hold">
                                          <p:stCondLst>
                                            <p:cond delay="0"/>
                                          </p:stCondLst>
                                        </p:cTn>
                                        <p:tgtEl>
                                          <p:spTgt spid="82947">
                                            <p:txEl>
                                              <p:pRg st="9" end="9"/>
                                            </p:txEl>
                                          </p:spTgt>
                                        </p:tgtEl>
                                        <p:attrNameLst>
                                          <p:attrName>style.visibility</p:attrName>
                                        </p:attrNameLst>
                                      </p:cBhvr>
                                      <p:to>
                                        <p:strVal val="visible"/>
                                      </p:to>
                                    </p:set>
                                    <p:animEffect transition="in" filter="box(in)">
                                      <p:cBhvr>
                                        <p:cTn id="51" dur="500"/>
                                        <p:tgtEl>
                                          <p:spTgt spid="82947">
                                            <p:txEl>
                                              <p:pRg st="9" end="9"/>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4" presetClass="entr" presetSubtype="16" fill="hold" grpId="0" nodeType="clickEffect">
                                  <p:stCondLst>
                                    <p:cond delay="0"/>
                                  </p:stCondLst>
                                  <p:childTnLst>
                                    <p:set>
                                      <p:cBhvr>
                                        <p:cTn id="55" dur="1" fill="hold">
                                          <p:stCondLst>
                                            <p:cond delay="0"/>
                                          </p:stCondLst>
                                        </p:cTn>
                                        <p:tgtEl>
                                          <p:spTgt spid="82947">
                                            <p:txEl>
                                              <p:pRg st="10" end="10"/>
                                            </p:txEl>
                                          </p:spTgt>
                                        </p:tgtEl>
                                        <p:attrNameLst>
                                          <p:attrName>style.visibility</p:attrName>
                                        </p:attrNameLst>
                                      </p:cBhvr>
                                      <p:to>
                                        <p:strVal val="visible"/>
                                      </p:to>
                                    </p:set>
                                    <p:animEffect transition="in" filter="box(in)">
                                      <p:cBhvr>
                                        <p:cTn id="56" dur="500"/>
                                        <p:tgtEl>
                                          <p:spTgt spid="82947">
                                            <p:txEl>
                                              <p:pRg st="10" end="10"/>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4" presetClass="entr" presetSubtype="16" fill="hold" grpId="0" nodeType="clickEffect">
                                  <p:stCondLst>
                                    <p:cond delay="0"/>
                                  </p:stCondLst>
                                  <p:childTnLst>
                                    <p:set>
                                      <p:cBhvr>
                                        <p:cTn id="60" dur="1" fill="hold">
                                          <p:stCondLst>
                                            <p:cond delay="0"/>
                                          </p:stCondLst>
                                        </p:cTn>
                                        <p:tgtEl>
                                          <p:spTgt spid="82947">
                                            <p:txEl>
                                              <p:pRg st="11" end="11"/>
                                            </p:txEl>
                                          </p:spTgt>
                                        </p:tgtEl>
                                        <p:attrNameLst>
                                          <p:attrName>style.visibility</p:attrName>
                                        </p:attrNameLst>
                                      </p:cBhvr>
                                      <p:to>
                                        <p:strVal val="visible"/>
                                      </p:to>
                                    </p:set>
                                    <p:animEffect transition="in" filter="box(in)">
                                      <p:cBhvr>
                                        <p:cTn id="61" dur="500"/>
                                        <p:tgtEl>
                                          <p:spTgt spid="8294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p:bldP spid="82947"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685800" y="0"/>
            <a:ext cx="7772400" cy="1295400"/>
          </a:xfrm>
        </p:spPr>
        <p:txBody>
          <a:bodyPr/>
          <a:lstStyle/>
          <a:p>
            <a:pPr eaLnBrk="1" hangingPunct="1"/>
            <a:r>
              <a:rPr lang="en-US" sz="4000" b="1" smtClean="0">
                <a:solidFill>
                  <a:srgbClr val="FF0000"/>
                </a:solidFill>
              </a:rPr>
              <a:t>Multiple Chemical Equilibria</a:t>
            </a:r>
            <a:br>
              <a:rPr lang="en-US" sz="4000" b="1" smtClean="0">
                <a:solidFill>
                  <a:srgbClr val="FF0000"/>
                </a:solidFill>
              </a:rPr>
            </a:br>
            <a:r>
              <a:rPr lang="en-US" sz="4000" b="1" smtClean="0">
                <a:solidFill>
                  <a:srgbClr val="FF0000"/>
                </a:solidFill>
              </a:rPr>
              <a:t>Compositional Calculations</a:t>
            </a:r>
          </a:p>
        </p:txBody>
      </p:sp>
      <p:sp>
        <p:nvSpPr>
          <p:cNvPr id="83971" name="Rectangle 3"/>
          <p:cNvSpPr>
            <a:spLocks noGrp="1" noChangeArrowheads="1"/>
          </p:cNvSpPr>
          <p:nvPr>
            <p:ph type="body" idx="1"/>
          </p:nvPr>
        </p:nvSpPr>
        <p:spPr>
          <a:xfrm>
            <a:off x="0" y="1371600"/>
            <a:ext cx="9144000" cy="4724400"/>
          </a:xfrm>
        </p:spPr>
        <p:txBody>
          <a:bodyPr/>
          <a:lstStyle/>
          <a:p>
            <a:pPr eaLnBrk="1" hangingPunct="1"/>
            <a:r>
              <a:rPr lang="en-US" b="1" u="sng" smtClean="0"/>
              <a:t>What are concentrations of individual species?</a:t>
            </a:r>
          </a:p>
          <a:p>
            <a:pPr eaLnBrk="1" hangingPunct="1"/>
            <a:r>
              <a:rPr lang="en-US" smtClean="0"/>
              <a:t>For N species, M equilibria</a:t>
            </a:r>
          </a:p>
          <a:p>
            <a:pPr eaLnBrk="1" hangingPunct="1"/>
            <a:r>
              <a:rPr lang="en-US" smtClean="0">
                <a:solidFill>
                  <a:srgbClr val="00B050"/>
                </a:solidFill>
              </a:rPr>
              <a:t>Need, N independent algebraic expressions</a:t>
            </a:r>
            <a:r>
              <a:rPr lang="en-US" smtClean="0"/>
              <a:t>:</a:t>
            </a:r>
          </a:p>
          <a:p>
            <a:pPr eaLnBrk="1" hangingPunct="1"/>
            <a:r>
              <a:rPr lang="en-US" smtClean="0"/>
              <a:t>Equilibrium expressions (M &lt; N)</a:t>
            </a:r>
          </a:p>
          <a:p>
            <a:pPr eaLnBrk="1" hangingPunct="1"/>
            <a:r>
              <a:rPr lang="en-US" smtClean="0">
                <a:solidFill>
                  <a:srgbClr val="00B050"/>
                </a:solidFill>
              </a:rPr>
              <a:t>Mass balance statements</a:t>
            </a:r>
          </a:p>
          <a:p>
            <a:pPr eaLnBrk="1" hangingPunct="1"/>
            <a:r>
              <a:rPr lang="en-US" smtClean="0"/>
              <a:t>Charge Balance statements</a:t>
            </a:r>
          </a:p>
        </p:txBody>
      </p:sp>
      <p:sp>
        <p:nvSpPr>
          <p:cNvPr id="94212"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D8E4629-EA9E-4ACE-AF15-CF9FEAC5DCDB}" type="datetime1">
              <a:rPr lang="en-US" sz="1400" smtClean="0"/>
              <a:pPr eaLnBrk="1" hangingPunct="1"/>
              <a:t>5/6/2021</a:t>
            </a:fld>
            <a:endParaRPr lang="en-US" sz="1400" smtClean="0"/>
          </a:p>
        </p:txBody>
      </p:sp>
      <p:sp>
        <p:nvSpPr>
          <p:cNvPr id="94213"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9912B0FF-51E2-488F-845F-E1C963CD95E1}" type="slidenum">
              <a:rPr lang="en-US" sz="1400" smtClean="0"/>
              <a:pPr eaLnBrk="1" hangingPunct="1"/>
              <a:t>89</a:t>
            </a:fld>
            <a:endParaRPr lang="en-US" sz="1400" smtClean="0"/>
          </a:p>
        </p:txBody>
      </p:sp>
      <p:sp>
        <p:nvSpPr>
          <p:cNvPr id="94214"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9600696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3970"/>
                                        </p:tgtEl>
                                        <p:attrNameLst>
                                          <p:attrName>style.visibility</p:attrName>
                                        </p:attrNameLst>
                                      </p:cBhvr>
                                      <p:to>
                                        <p:strVal val="visible"/>
                                      </p:to>
                                    </p:set>
                                    <p:animEffect transition="in" filter="box(in)">
                                      <p:cBhvr>
                                        <p:cTn id="7" dur="500"/>
                                        <p:tgtEl>
                                          <p:spTgt spid="839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3971">
                                            <p:txEl>
                                              <p:pRg st="0" end="0"/>
                                            </p:txEl>
                                          </p:spTgt>
                                        </p:tgtEl>
                                        <p:attrNameLst>
                                          <p:attrName>style.visibility</p:attrName>
                                        </p:attrNameLst>
                                      </p:cBhvr>
                                      <p:to>
                                        <p:strVal val="visible"/>
                                      </p:to>
                                    </p:set>
                                    <p:animEffect transition="in" filter="box(in)">
                                      <p:cBhvr>
                                        <p:cTn id="12" dur="500"/>
                                        <p:tgtEl>
                                          <p:spTgt spid="8397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3971">
                                            <p:txEl>
                                              <p:pRg st="1" end="1"/>
                                            </p:txEl>
                                          </p:spTgt>
                                        </p:tgtEl>
                                        <p:attrNameLst>
                                          <p:attrName>style.visibility</p:attrName>
                                        </p:attrNameLst>
                                      </p:cBhvr>
                                      <p:to>
                                        <p:strVal val="visible"/>
                                      </p:to>
                                    </p:set>
                                    <p:animEffect transition="in" filter="box(in)">
                                      <p:cBhvr>
                                        <p:cTn id="17" dur="500"/>
                                        <p:tgtEl>
                                          <p:spTgt spid="8397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83971">
                                            <p:txEl>
                                              <p:pRg st="2" end="2"/>
                                            </p:txEl>
                                          </p:spTgt>
                                        </p:tgtEl>
                                        <p:attrNameLst>
                                          <p:attrName>style.visibility</p:attrName>
                                        </p:attrNameLst>
                                      </p:cBhvr>
                                      <p:to>
                                        <p:strVal val="visible"/>
                                      </p:to>
                                    </p:set>
                                    <p:animEffect transition="in" filter="box(in)">
                                      <p:cBhvr>
                                        <p:cTn id="22" dur="500"/>
                                        <p:tgtEl>
                                          <p:spTgt spid="83971">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83971">
                                            <p:txEl>
                                              <p:pRg st="3" end="3"/>
                                            </p:txEl>
                                          </p:spTgt>
                                        </p:tgtEl>
                                        <p:attrNameLst>
                                          <p:attrName>style.visibility</p:attrName>
                                        </p:attrNameLst>
                                      </p:cBhvr>
                                      <p:to>
                                        <p:strVal val="visible"/>
                                      </p:to>
                                    </p:set>
                                    <p:animEffect transition="in" filter="box(in)">
                                      <p:cBhvr>
                                        <p:cTn id="27" dur="500"/>
                                        <p:tgtEl>
                                          <p:spTgt spid="83971">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83971">
                                            <p:txEl>
                                              <p:pRg st="4" end="4"/>
                                            </p:txEl>
                                          </p:spTgt>
                                        </p:tgtEl>
                                        <p:attrNameLst>
                                          <p:attrName>style.visibility</p:attrName>
                                        </p:attrNameLst>
                                      </p:cBhvr>
                                      <p:to>
                                        <p:strVal val="visible"/>
                                      </p:to>
                                    </p:set>
                                    <p:animEffect transition="in" filter="box(in)">
                                      <p:cBhvr>
                                        <p:cTn id="32" dur="500"/>
                                        <p:tgtEl>
                                          <p:spTgt spid="83971">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83971">
                                            <p:txEl>
                                              <p:pRg st="5" end="5"/>
                                            </p:txEl>
                                          </p:spTgt>
                                        </p:tgtEl>
                                        <p:attrNameLst>
                                          <p:attrName>style.visibility</p:attrName>
                                        </p:attrNameLst>
                                      </p:cBhvr>
                                      <p:to>
                                        <p:strVal val="visible"/>
                                      </p:to>
                                    </p:set>
                                    <p:animEffect transition="in" filter="box(in)">
                                      <p:cBhvr>
                                        <p:cTn id="37" dur="500"/>
                                        <p:tgtEl>
                                          <p:spTgt spid="839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p:bldP spid="83971"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685800" y="0"/>
            <a:ext cx="7772400" cy="1143000"/>
          </a:xfrm>
        </p:spPr>
        <p:txBody>
          <a:bodyPr/>
          <a:lstStyle/>
          <a:p>
            <a:pPr eaLnBrk="1" hangingPunct="1"/>
            <a:r>
              <a:rPr lang="en-US" sz="4000" b="1" smtClean="0">
                <a:solidFill>
                  <a:srgbClr val="FF0000"/>
                </a:solidFill>
              </a:rPr>
              <a:t>Multiple </a:t>
            </a:r>
            <a:r>
              <a:rPr lang="en-US" sz="3600" b="1" smtClean="0">
                <a:solidFill>
                  <a:srgbClr val="FF0000"/>
                </a:solidFill>
              </a:rPr>
              <a:t>Chemical</a:t>
            </a:r>
            <a:r>
              <a:rPr lang="en-US" sz="4000" b="1" smtClean="0">
                <a:solidFill>
                  <a:srgbClr val="FF0000"/>
                </a:solidFill>
              </a:rPr>
              <a:t> Equilibria</a:t>
            </a:r>
            <a:br>
              <a:rPr lang="en-US" sz="4000" b="1" smtClean="0">
                <a:solidFill>
                  <a:srgbClr val="FF0000"/>
                </a:solidFill>
              </a:rPr>
            </a:br>
            <a:r>
              <a:rPr lang="en-US" sz="3600" b="1" smtClean="0">
                <a:solidFill>
                  <a:srgbClr val="FF0000"/>
                </a:solidFill>
              </a:rPr>
              <a:t>Compositional</a:t>
            </a:r>
            <a:r>
              <a:rPr lang="en-US" sz="4000" b="1" smtClean="0">
                <a:solidFill>
                  <a:srgbClr val="FF0000"/>
                </a:solidFill>
              </a:rPr>
              <a:t> Calculations</a:t>
            </a:r>
          </a:p>
        </p:txBody>
      </p:sp>
      <p:sp>
        <p:nvSpPr>
          <p:cNvPr id="84995" name="Rectangle 3"/>
          <p:cNvSpPr>
            <a:spLocks noGrp="1" noChangeArrowheads="1"/>
          </p:cNvSpPr>
          <p:nvPr>
            <p:ph type="body" idx="1"/>
          </p:nvPr>
        </p:nvSpPr>
        <p:spPr>
          <a:xfrm>
            <a:off x="0" y="1143000"/>
            <a:ext cx="9144000" cy="5715000"/>
          </a:xfrm>
        </p:spPr>
        <p:txBody>
          <a:bodyPr/>
          <a:lstStyle/>
          <a:p>
            <a:pPr eaLnBrk="1" hangingPunct="1">
              <a:lnSpc>
                <a:spcPct val="90000"/>
              </a:lnSpc>
            </a:pPr>
            <a:r>
              <a:rPr lang="en-US" sz="2800" b="1" u="sng" smtClean="0">
                <a:solidFill>
                  <a:srgbClr val="0070C0"/>
                </a:solidFill>
              </a:rPr>
              <a:t>Mass Balance Equations</a:t>
            </a:r>
            <a:r>
              <a:rPr lang="en-US" sz="2800" smtClean="0"/>
              <a:t>:</a:t>
            </a:r>
          </a:p>
          <a:p>
            <a:pPr eaLnBrk="1" hangingPunct="1">
              <a:lnSpc>
                <a:spcPct val="90000"/>
              </a:lnSpc>
            </a:pPr>
            <a:r>
              <a:rPr lang="en-US" sz="2800" smtClean="0"/>
              <a:t>Relate equilibrium concentrations of species</a:t>
            </a:r>
          </a:p>
          <a:p>
            <a:pPr lvl="1" eaLnBrk="1" hangingPunct="1">
              <a:lnSpc>
                <a:spcPct val="90000"/>
              </a:lnSpc>
            </a:pPr>
            <a:r>
              <a:rPr lang="en-US" sz="2400" smtClean="0"/>
              <a:t>Stoichiometric relationships</a:t>
            </a:r>
          </a:p>
          <a:p>
            <a:pPr lvl="1" eaLnBrk="1" hangingPunct="1">
              <a:lnSpc>
                <a:spcPct val="90000"/>
              </a:lnSpc>
            </a:pPr>
            <a:r>
              <a:rPr lang="en-US" sz="2400" smtClean="0"/>
              <a:t>How the solution was prepared</a:t>
            </a:r>
          </a:p>
          <a:p>
            <a:pPr lvl="1" eaLnBrk="1" hangingPunct="1">
              <a:lnSpc>
                <a:spcPct val="90000"/>
              </a:lnSpc>
            </a:pPr>
            <a:r>
              <a:rPr lang="en-US" sz="2400" smtClean="0"/>
              <a:t>What kinds of equilibria exist</a:t>
            </a:r>
          </a:p>
          <a:p>
            <a:pPr eaLnBrk="1" hangingPunct="1">
              <a:lnSpc>
                <a:spcPct val="90000"/>
              </a:lnSpc>
            </a:pPr>
            <a:r>
              <a:rPr lang="en-US" sz="2800" smtClean="0"/>
              <a:t>E.g. 0.1 M HNO</a:t>
            </a:r>
            <a:r>
              <a:rPr lang="en-US" sz="2800" baseline="-25000" smtClean="0"/>
              <a:t>2</a:t>
            </a:r>
            <a:r>
              <a:rPr lang="en-US" sz="2800" baseline="30000" smtClean="0"/>
              <a:t>  </a:t>
            </a:r>
            <a:r>
              <a:rPr lang="en-US" sz="2800" smtClean="0"/>
              <a:t>(C</a:t>
            </a:r>
            <a:r>
              <a:rPr lang="en-US" sz="2800" baseline="-25000" smtClean="0"/>
              <a:t>HA</a:t>
            </a:r>
            <a:r>
              <a:rPr lang="en-US" sz="2800" smtClean="0"/>
              <a:t> = 0.1 M)</a:t>
            </a:r>
          </a:p>
          <a:p>
            <a:pPr eaLnBrk="1" hangingPunct="1">
              <a:lnSpc>
                <a:spcPct val="90000"/>
              </a:lnSpc>
            </a:pPr>
            <a:r>
              <a:rPr lang="en-US" sz="2800" smtClean="0"/>
              <a:t>HNO</a:t>
            </a:r>
            <a:r>
              <a:rPr lang="en-US" sz="2800" baseline="-25000" smtClean="0"/>
              <a:t>2 </a:t>
            </a:r>
            <a:r>
              <a:rPr lang="en-US" sz="2800" smtClean="0"/>
              <a:t>+ HOH </a:t>
            </a:r>
            <a:r>
              <a:rPr lang="en-US" sz="2800" smtClean="0">
                <a:sym typeface="Wingdings" pitchFamily="2" charset="2"/>
              </a:rPr>
              <a:t> H</a:t>
            </a:r>
            <a:r>
              <a:rPr lang="en-US" sz="2800" baseline="-25000" smtClean="0">
                <a:sym typeface="Wingdings" pitchFamily="2" charset="2"/>
              </a:rPr>
              <a:t>3</a:t>
            </a:r>
            <a:r>
              <a:rPr lang="en-US" sz="2800" smtClean="0">
                <a:sym typeface="Wingdings" pitchFamily="2" charset="2"/>
              </a:rPr>
              <a:t>O</a:t>
            </a:r>
            <a:r>
              <a:rPr lang="en-US" sz="2800" baseline="30000" smtClean="0">
                <a:sym typeface="Wingdings" pitchFamily="2" charset="2"/>
              </a:rPr>
              <a:t>+</a:t>
            </a:r>
            <a:r>
              <a:rPr lang="en-US" sz="2800" smtClean="0">
                <a:sym typeface="Wingdings" pitchFamily="2" charset="2"/>
              </a:rPr>
              <a:t>  + NO</a:t>
            </a:r>
            <a:r>
              <a:rPr lang="en-US" sz="2800" baseline="-25000" smtClean="0">
                <a:sym typeface="Wingdings" pitchFamily="2" charset="2"/>
              </a:rPr>
              <a:t>2</a:t>
            </a:r>
            <a:r>
              <a:rPr lang="en-US" sz="2800" baseline="30000" smtClean="0">
                <a:sym typeface="Wingdings" pitchFamily="2" charset="2"/>
              </a:rPr>
              <a:t>-	</a:t>
            </a:r>
            <a:r>
              <a:rPr lang="en-US" sz="2800" smtClean="0">
                <a:sym typeface="Wingdings" pitchFamily="2" charset="2"/>
              </a:rPr>
              <a:t>K</a:t>
            </a:r>
            <a:r>
              <a:rPr lang="en-US" sz="2800" baseline="-25000" smtClean="0">
                <a:sym typeface="Wingdings" pitchFamily="2" charset="2"/>
              </a:rPr>
              <a:t>e</a:t>
            </a:r>
            <a:r>
              <a:rPr lang="en-US" sz="2800" smtClean="0">
                <a:sym typeface="Wingdings" pitchFamily="2" charset="2"/>
              </a:rPr>
              <a:t> = K</a:t>
            </a:r>
            <a:r>
              <a:rPr lang="en-US" sz="2800" baseline="-25000" smtClean="0">
                <a:sym typeface="Wingdings" pitchFamily="2" charset="2"/>
              </a:rPr>
              <a:t>a</a:t>
            </a:r>
            <a:endParaRPr lang="en-US" sz="2800" baseline="30000" smtClean="0">
              <a:sym typeface="Wingdings" pitchFamily="2" charset="2"/>
            </a:endParaRPr>
          </a:p>
          <a:p>
            <a:pPr eaLnBrk="1" hangingPunct="1">
              <a:lnSpc>
                <a:spcPct val="90000"/>
              </a:lnSpc>
            </a:pPr>
            <a:r>
              <a:rPr lang="en-US" sz="2800" smtClean="0">
                <a:sym typeface="Wingdings" pitchFamily="2" charset="2"/>
              </a:rPr>
              <a:t>C</a:t>
            </a:r>
            <a:r>
              <a:rPr lang="en-US" sz="2800" baseline="-25000" smtClean="0">
                <a:sym typeface="Wingdings" pitchFamily="2" charset="2"/>
              </a:rPr>
              <a:t>HA		        </a:t>
            </a:r>
            <a:r>
              <a:rPr lang="en-US" sz="2800" smtClean="0">
                <a:sym typeface="Wingdings" pitchFamily="2" charset="2"/>
              </a:rPr>
              <a:t>(x)		(x)</a:t>
            </a:r>
          </a:p>
          <a:p>
            <a:pPr eaLnBrk="1" hangingPunct="1">
              <a:lnSpc>
                <a:spcPct val="90000"/>
              </a:lnSpc>
            </a:pPr>
            <a:r>
              <a:rPr lang="en-US" sz="2800" smtClean="0">
                <a:sym typeface="Wingdings" pitchFamily="2" charset="2"/>
              </a:rPr>
              <a:t>HOH  + HOH  H</a:t>
            </a:r>
            <a:r>
              <a:rPr lang="en-US" sz="2800" baseline="-25000" smtClean="0">
                <a:sym typeface="Wingdings" pitchFamily="2" charset="2"/>
              </a:rPr>
              <a:t>3</a:t>
            </a:r>
            <a:r>
              <a:rPr lang="en-US" sz="2800" smtClean="0">
                <a:sym typeface="Wingdings" pitchFamily="2" charset="2"/>
              </a:rPr>
              <a:t>O</a:t>
            </a:r>
            <a:r>
              <a:rPr lang="en-US" sz="2800" baseline="30000" smtClean="0">
                <a:sym typeface="Wingdings" pitchFamily="2" charset="2"/>
              </a:rPr>
              <a:t>+</a:t>
            </a:r>
            <a:r>
              <a:rPr lang="en-US" sz="2800" smtClean="0">
                <a:sym typeface="Wingdings" pitchFamily="2" charset="2"/>
              </a:rPr>
              <a:t>  + OH</a:t>
            </a:r>
            <a:r>
              <a:rPr lang="en-US" sz="2800" baseline="30000" smtClean="0">
                <a:sym typeface="Wingdings" pitchFamily="2" charset="2"/>
              </a:rPr>
              <a:t>-	</a:t>
            </a:r>
            <a:r>
              <a:rPr lang="en-US" sz="2800" smtClean="0">
                <a:sym typeface="Wingdings" pitchFamily="2" charset="2"/>
              </a:rPr>
              <a:t>K</a:t>
            </a:r>
            <a:r>
              <a:rPr lang="en-US" sz="2800" baseline="-25000" smtClean="0">
                <a:sym typeface="Wingdings" pitchFamily="2" charset="2"/>
              </a:rPr>
              <a:t>e</a:t>
            </a:r>
            <a:r>
              <a:rPr lang="en-US" sz="2800" smtClean="0">
                <a:sym typeface="Wingdings" pitchFamily="2" charset="2"/>
              </a:rPr>
              <a:t> = K</a:t>
            </a:r>
            <a:r>
              <a:rPr lang="en-US" sz="2800" baseline="-25000" smtClean="0">
                <a:sym typeface="Wingdings" pitchFamily="2" charset="2"/>
              </a:rPr>
              <a:t>w</a:t>
            </a:r>
            <a:endParaRPr lang="en-US" sz="2800" baseline="30000" smtClean="0">
              <a:sym typeface="Wingdings" pitchFamily="2" charset="2"/>
            </a:endParaRPr>
          </a:p>
          <a:p>
            <a:pPr eaLnBrk="1" hangingPunct="1">
              <a:lnSpc>
                <a:spcPct val="90000"/>
              </a:lnSpc>
            </a:pPr>
            <a:r>
              <a:rPr lang="en-US" sz="2800" smtClean="0">
                <a:sym typeface="Wingdings" pitchFamily="2" charset="2"/>
              </a:rPr>
              <a:t>   			     (w)	(w)</a:t>
            </a:r>
          </a:p>
          <a:p>
            <a:pPr eaLnBrk="1" hangingPunct="1">
              <a:lnSpc>
                <a:spcPct val="90000"/>
              </a:lnSpc>
            </a:pPr>
            <a:r>
              <a:rPr lang="en-US" sz="2800" smtClean="0">
                <a:sym typeface="Wingdings" pitchFamily="2" charset="2"/>
              </a:rPr>
              <a:t>C</a:t>
            </a:r>
            <a:r>
              <a:rPr lang="en-US" sz="2800" baseline="-25000" smtClean="0">
                <a:sym typeface="Wingdings" pitchFamily="2" charset="2"/>
              </a:rPr>
              <a:t>HA </a:t>
            </a:r>
            <a:r>
              <a:rPr lang="en-US" sz="2800" smtClean="0">
                <a:sym typeface="Wingdings" pitchFamily="2" charset="2"/>
              </a:rPr>
              <a:t>= [HNO</a:t>
            </a:r>
            <a:r>
              <a:rPr lang="en-US" sz="2800" baseline="-25000" smtClean="0">
                <a:sym typeface="Wingdings" pitchFamily="2" charset="2"/>
              </a:rPr>
              <a:t>2</a:t>
            </a:r>
            <a:r>
              <a:rPr lang="en-US" sz="2800" smtClean="0">
                <a:sym typeface="Wingdings" pitchFamily="2" charset="2"/>
              </a:rPr>
              <a:t>] + [NO</a:t>
            </a:r>
            <a:r>
              <a:rPr lang="en-US" sz="2800" baseline="-25000" smtClean="0">
                <a:sym typeface="Wingdings" pitchFamily="2" charset="2"/>
              </a:rPr>
              <a:t>2</a:t>
            </a:r>
            <a:r>
              <a:rPr lang="en-US" sz="2800" baseline="30000" smtClean="0">
                <a:sym typeface="Wingdings" pitchFamily="2" charset="2"/>
              </a:rPr>
              <a:t>-</a:t>
            </a:r>
            <a:r>
              <a:rPr lang="en-US" sz="2800" smtClean="0">
                <a:sym typeface="Wingdings" pitchFamily="2" charset="2"/>
              </a:rPr>
              <a:t>]		all forms of “HNO</a:t>
            </a:r>
            <a:r>
              <a:rPr lang="en-US" sz="2800" baseline="-25000" smtClean="0">
                <a:sym typeface="Wingdings" pitchFamily="2" charset="2"/>
              </a:rPr>
              <a:t>2</a:t>
            </a:r>
            <a:r>
              <a:rPr lang="en-US" sz="2800" smtClean="0">
                <a:sym typeface="Wingdings" pitchFamily="2" charset="2"/>
              </a:rPr>
              <a:t>”</a:t>
            </a:r>
          </a:p>
          <a:p>
            <a:pPr eaLnBrk="1" hangingPunct="1">
              <a:lnSpc>
                <a:spcPct val="90000"/>
              </a:lnSpc>
            </a:pPr>
            <a:r>
              <a:rPr lang="en-US" sz="2800" smtClean="0">
                <a:sym typeface="Wingdings" pitchFamily="2" charset="2"/>
              </a:rPr>
              <a:t>[H</a:t>
            </a:r>
            <a:r>
              <a:rPr lang="en-US" sz="2800" baseline="-25000" smtClean="0">
                <a:sym typeface="Wingdings" pitchFamily="2" charset="2"/>
              </a:rPr>
              <a:t>3</a:t>
            </a:r>
            <a:r>
              <a:rPr lang="en-US" sz="2800" smtClean="0">
                <a:sym typeface="Wingdings" pitchFamily="2" charset="2"/>
              </a:rPr>
              <a:t>O</a:t>
            </a:r>
            <a:r>
              <a:rPr lang="en-US" sz="2800" baseline="30000" smtClean="0">
                <a:sym typeface="Wingdings" pitchFamily="2" charset="2"/>
              </a:rPr>
              <a:t>+</a:t>
            </a:r>
            <a:r>
              <a:rPr lang="en-US" sz="2800" smtClean="0">
                <a:sym typeface="Wingdings" pitchFamily="2" charset="2"/>
              </a:rPr>
              <a:t>] = [OH</a:t>
            </a:r>
            <a:r>
              <a:rPr lang="en-US" sz="2800" baseline="30000" smtClean="0">
                <a:sym typeface="Wingdings" pitchFamily="2" charset="2"/>
              </a:rPr>
              <a:t>-</a:t>
            </a:r>
            <a:r>
              <a:rPr lang="en-US" sz="2800" smtClean="0">
                <a:sym typeface="Wingdings" pitchFamily="2" charset="2"/>
              </a:rPr>
              <a:t>] + [NO</a:t>
            </a:r>
            <a:r>
              <a:rPr lang="en-US" sz="2800" baseline="-25000" smtClean="0">
                <a:sym typeface="Wingdings" pitchFamily="2" charset="2"/>
              </a:rPr>
              <a:t>2</a:t>
            </a:r>
            <a:r>
              <a:rPr lang="en-US" sz="2800" baseline="30000" smtClean="0">
                <a:sym typeface="Wingdings" pitchFamily="2" charset="2"/>
              </a:rPr>
              <a:t>-</a:t>
            </a:r>
            <a:r>
              <a:rPr lang="en-US" sz="2800" smtClean="0">
                <a:sym typeface="Wingdings" pitchFamily="2" charset="2"/>
              </a:rPr>
              <a:t>] = w + x  [H</a:t>
            </a:r>
            <a:r>
              <a:rPr lang="en-US" sz="2800" baseline="-25000" smtClean="0">
                <a:sym typeface="Wingdings" pitchFamily="2" charset="2"/>
              </a:rPr>
              <a:t>3</a:t>
            </a:r>
            <a:r>
              <a:rPr lang="en-US" sz="2800" smtClean="0">
                <a:sym typeface="Wingdings" pitchFamily="2" charset="2"/>
              </a:rPr>
              <a:t>O</a:t>
            </a:r>
            <a:r>
              <a:rPr lang="en-US" sz="2800" baseline="30000" smtClean="0">
                <a:sym typeface="Wingdings" pitchFamily="2" charset="2"/>
              </a:rPr>
              <a:t>+</a:t>
            </a:r>
            <a:r>
              <a:rPr lang="en-US" sz="2800" smtClean="0">
                <a:sym typeface="Wingdings" pitchFamily="2" charset="2"/>
              </a:rPr>
              <a:t>] 	from 2 sources</a:t>
            </a:r>
          </a:p>
        </p:txBody>
      </p:sp>
      <p:sp>
        <p:nvSpPr>
          <p:cNvPr id="95236"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9D44F0E1-1193-43FD-A5D9-0E7A04F31CC0}" type="datetime1">
              <a:rPr lang="en-US" sz="1400" smtClean="0"/>
              <a:pPr eaLnBrk="1" hangingPunct="1"/>
              <a:t>5/6/2021</a:t>
            </a:fld>
            <a:endParaRPr lang="en-US" sz="1400" smtClean="0"/>
          </a:p>
        </p:txBody>
      </p:sp>
      <p:sp>
        <p:nvSpPr>
          <p:cNvPr id="95237"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2CDE1C79-9C54-4485-8C41-B995CDD31AF6}" type="slidenum">
              <a:rPr lang="en-US" sz="1400" smtClean="0"/>
              <a:pPr eaLnBrk="1" hangingPunct="1"/>
              <a:t>90</a:t>
            </a:fld>
            <a:endParaRPr lang="en-US" sz="1400" smtClean="0"/>
          </a:p>
        </p:txBody>
      </p:sp>
      <p:sp>
        <p:nvSpPr>
          <p:cNvPr id="95238"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37846565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4994"/>
                                        </p:tgtEl>
                                        <p:attrNameLst>
                                          <p:attrName>style.visibility</p:attrName>
                                        </p:attrNameLst>
                                      </p:cBhvr>
                                      <p:to>
                                        <p:strVal val="visible"/>
                                      </p:to>
                                    </p:set>
                                    <p:animEffect transition="in" filter="box(in)">
                                      <p:cBhvr>
                                        <p:cTn id="7" dur="500"/>
                                        <p:tgtEl>
                                          <p:spTgt spid="849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4995">
                                            <p:txEl>
                                              <p:pRg st="0" end="0"/>
                                            </p:txEl>
                                          </p:spTgt>
                                        </p:tgtEl>
                                        <p:attrNameLst>
                                          <p:attrName>style.visibility</p:attrName>
                                        </p:attrNameLst>
                                      </p:cBhvr>
                                      <p:to>
                                        <p:strVal val="visible"/>
                                      </p:to>
                                    </p:set>
                                    <p:animEffect transition="in" filter="box(in)">
                                      <p:cBhvr>
                                        <p:cTn id="12" dur="500"/>
                                        <p:tgtEl>
                                          <p:spTgt spid="8499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4995">
                                            <p:txEl>
                                              <p:pRg st="1" end="1"/>
                                            </p:txEl>
                                          </p:spTgt>
                                        </p:tgtEl>
                                        <p:attrNameLst>
                                          <p:attrName>style.visibility</p:attrName>
                                        </p:attrNameLst>
                                      </p:cBhvr>
                                      <p:to>
                                        <p:strVal val="visible"/>
                                      </p:to>
                                    </p:set>
                                    <p:animEffect transition="in" filter="box(in)">
                                      <p:cBhvr>
                                        <p:cTn id="17" dur="500"/>
                                        <p:tgtEl>
                                          <p:spTgt spid="84995">
                                            <p:txEl>
                                              <p:pRg st="1" end="1"/>
                                            </p:txEl>
                                          </p:spTgt>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84995">
                                            <p:txEl>
                                              <p:pRg st="2" end="2"/>
                                            </p:txEl>
                                          </p:spTgt>
                                        </p:tgtEl>
                                        <p:attrNameLst>
                                          <p:attrName>style.visibility</p:attrName>
                                        </p:attrNameLst>
                                      </p:cBhvr>
                                      <p:to>
                                        <p:strVal val="visible"/>
                                      </p:to>
                                    </p:set>
                                    <p:animEffect transition="in" filter="box(in)">
                                      <p:cBhvr>
                                        <p:cTn id="20" dur="500"/>
                                        <p:tgtEl>
                                          <p:spTgt spid="84995">
                                            <p:txEl>
                                              <p:pRg st="2" end="2"/>
                                            </p:txEl>
                                          </p:spTgt>
                                        </p:tgtEl>
                                      </p:cBhvr>
                                    </p:animEffect>
                                  </p:childTnLst>
                                </p:cTn>
                              </p:par>
                              <p:par>
                                <p:cTn id="21" presetID="4" presetClass="entr" presetSubtype="16" fill="hold" grpId="0" nodeType="withEffect">
                                  <p:stCondLst>
                                    <p:cond delay="0"/>
                                  </p:stCondLst>
                                  <p:childTnLst>
                                    <p:set>
                                      <p:cBhvr>
                                        <p:cTn id="22" dur="1" fill="hold">
                                          <p:stCondLst>
                                            <p:cond delay="0"/>
                                          </p:stCondLst>
                                        </p:cTn>
                                        <p:tgtEl>
                                          <p:spTgt spid="84995">
                                            <p:txEl>
                                              <p:pRg st="3" end="3"/>
                                            </p:txEl>
                                          </p:spTgt>
                                        </p:tgtEl>
                                        <p:attrNameLst>
                                          <p:attrName>style.visibility</p:attrName>
                                        </p:attrNameLst>
                                      </p:cBhvr>
                                      <p:to>
                                        <p:strVal val="visible"/>
                                      </p:to>
                                    </p:set>
                                    <p:animEffect transition="in" filter="box(in)">
                                      <p:cBhvr>
                                        <p:cTn id="23" dur="500"/>
                                        <p:tgtEl>
                                          <p:spTgt spid="84995">
                                            <p:txEl>
                                              <p:pRg st="3" end="3"/>
                                            </p:txEl>
                                          </p:spTgt>
                                        </p:tgtEl>
                                      </p:cBhvr>
                                    </p:animEffect>
                                  </p:childTnLst>
                                </p:cTn>
                              </p:par>
                              <p:par>
                                <p:cTn id="24" presetID="4" presetClass="entr" presetSubtype="16" fill="hold" grpId="0" nodeType="withEffect">
                                  <p:stCondLst>
                                    <p:cond delay="0"/>
                                  </p:stCondLst>
                                  <p:childTnLst>
                                    <p:set>
                                      <p:cBhvr>
                                        <p:cTn id="25" dur="1" fill="hold">
                                          <p:stCondLst>
                                            <p:cond delay="0"/>
                                          </p:stCondLst>
                                        </p:cTn>
                                        <p:tgtEl>
                                          <p:spTgt spid="84995">
                                            <p:txEl>
                                              <p:pRg st="4" end="4"/>
                                            </p:txEl>
                                          </p:spTgt>
                                        </p:tgtEl>
                                        <p:attrNameLst>
                                          <p:attrName>style.visibility</p:attrName>
                                        </p:attrNameLst>
                                      </p:cBhvr>
                                      <p:to>
                                        <p:strVal val="visible"/>
                                      </p:to>
                                    </p:set>
                                    <p:animEffect transition="in" filter="box(in)">
                                      <p:cBhvr>
                                        <p:cTn id="26" dur="500"/>
                                        <p:tgtEl>
                                          <p:spTgt spid="84995">
                                            <p:txEl>
                                              <p:pRg st="4" end="4"/>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84995">
                                            <p:txEl>
                                              <p:pRg st="5" end="5"/>
                                            </p:txEl>
                                          </p:spTgt>
                                        </p:tgtEl>
                                        <p:attrNameLst>
                                          <p:attrName>style.visibility</p:attrName>
                                        </p:attrNameLst>
                                      </p:cBhvr>
                                      <p:to>
                                        <p:strVal val="visible"/>
                                      </p:to>
                                    </p:set>
                                    <p:animEffect transition="in" filter="box(in)">
                                      <p:cBhvr>
                                        <p:cTn id="31" dur="500"/>
                                        <p:tgtEl>
                                          <p:spTgt spid="84995">
                                            <p:txEl>
                                              <p:pRg st="5" end="5"/>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16" fill="hold" grpId="0" nodeType="clickEffect">
                                  <p:stCondLst>
                                    <p:cond delay="0"/>
                                  </p:stCondLst>
                                  <p:childTnLst>
                                    <p:set>
                                      <p:cBhvr>
                                        <p:cTn id="35" dur="1" fill="hold">
                                          <p:stCondLst>
                                            <p:cond delay="0"/>
                                          </p:stCondLst>
                                        </p:cTn>
                                        <p:tgtEl>
                                          <p:spTgt spid="84995">
                                            <p:txEl>
                                              <p:pRg st="6" end="6"/>
                                            </p:txEl>
                                          </p:spTgt>
                                        </p:tgtEl>
                                        <p:attrNameLst>
                                          <p:attrName>style.visibility</p:attrName>
                                        </p:attrNameLst>
                                      </p:cBhvr>
                                      <p:to>
                                        <p:strVal val="visible"/>
                                      </p:to>
                                    </p:set>
                                    <p:animEffect transition="in" filter="box(in)">
                                      <p:cBhvr>
                                        <p:cTn id="36" dur="500"/>
                                        <p:tgtEl>
                                          <p:spTgt spid="84995">
                                            <p:txEl>
                                              <p:pRg st="6" end="6"/>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84995">
                                            <p:txEl>
                                              <p:pRg st="7" end="7"/>
                                            </p:txEl>
                                          </p:spTgt>
                                        </p:tgtEl>
                                        <p:attrNameLst>
                                          <p:attrName>style.visibility</p:attrName>
                                        </p:attrNameLst>
                                      </p:cBhvr>
                                      <p:to>
                                        <p:strVal val="visible"/>
                                      </p:to>
                                    </p:set>
                                    <p:animEffect transition="in" filter="box(in)">
                                      <p:cBhvr>
                                        <p:cTn id="41" dur="500"/>
                                        <p:tgtEl>
                                          <p:spTgt spid="84995">
                                            <p:txEl>
                                              <p:pRg st="7" end="7"/>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4" presetClass="entr" presetSubtype="16" fill="hold" grpId="0" nodeType="clickEffect">
                                  <p:stCondLst>
                                    <p:cond delay="0"/>
                                  </p:stCondLst>
                                  <p:childTnLst>
                                    <p:set>
                                      <p:cBhvr>
                                        <p:cTn id="45" dur="1" fill="hold">
                                          <p:stCondLst>
                                            <p:cond delay="0"/>
                                          </p:stCondLst>
                                        </p:cTn>
                                        <p:tgtEl>
                                          <p:spTgt spid="84995">
                                            <p:txEl>
                                              <p:pRg st="8" end="8"/>
                                            </p:txEl>
                                          </p:spTgt>
                                        </p:tgtEl>
                                        <p:attrNameLst>
                                          <p:attrName>style.visibility</p:attrName>
                                        </p:attrNameLst>
                                      </p:cBhvr>
                                      <p:to>
                                        <p:strVal val="visible"/>
                                      </p:to>
                                    </p:set>
                                    <p:animEffect transition="in" filter="box(in)">
                                      <p:cBhvr>
                                        <p:cTn id="46" dur="500"/>
                                        <p:tgtEl>
                                          <p:spTgt spid="84995">
                                            <p:txEl>
                                              <p:pRg st="8" end="8"/>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4" presetClass="entr" presetSubtype="16" fill="hold" grpId="0" nodeType="clickEffect">
                                  <p:stCondLst>
                                    <p:cond delay="0"/>
                                  </p:stCondLst>
                                  <p:childTnLst>
                                    <p:set>
                                      <p:cBhvr>
                                        <p:cTn id="50" dur="1" fill="hold">
                                          <p:stCondLst>
                                            <p:cond delay="0"/>
                                          </p:stCondLst>
                                        </p:cTn>
                                        <p:tgtEl>
                                          <p:spTgt spid="84995">
                                            <p:txEl>
                                              <p:pRg st="9" end="9"/>
                                            </p:txEl>
                                          </p:spTgt>
                                        </p:tgtEl>
                                        <p:attrNameLst>
                                          <p:attrName>style.visibility</p:attrName>
                                        </p:attrNameLst>
                                      </p:cBhvr>
                                      <p:to>
                                        <p:strVal val="visible"/>
                                      </p:to>
                                    </p:set>
                                    <p:animEffect transition="in" filter="box(in)">
                                      <p:cBhvr>
                                        <p:cTn id="51" dur="500"/>
                                        <p:tgtEl>
                                          <p:spTgt spid="84995">
                                            <p:txEl>
                                              <p:pRg st="9" end="9"/>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4" presetClass="entr" presetSubtype="16" fill="hold" grpId="0" nodeType="clickEffect">
                                  <p:stCondLst>
                                    <p:cond delay="0"/>
                                  </p:stCondLst>
                                  <p:childTnLst>
                                    <p:set>
                                      <p:cBhvr>
                                        <p:cTn id="55" dur="1" fill="hold">
                                          <p:stCondLst>
                                            <p:cond delay="0"/>
                                          </p:stCondLst>
                                        </p:cTn>
                                        <p:tgtEl>
                                          <p:spTgt spid="84995">
                                            <p:txEl>
                                              <p:pRg st="10" end="10"/>
                                            </p:txEl>
                                          </p:spTgt>
                                        </p:tgtEl>
                                        <p:attrNameLst>
                                          <p:attrName>style.visibility</p:attrName>
                                        </p:attrNameLst>
                                      </p:cBhvr>
                                      <p:to>
                                        <p:strVal val="visible"/>
                                      </p:to>
                                    </p:set>
                                    <p:animEffect transition="in" filter="box(in)">
                                      <p:cBhvr>
                                        <p:cTn id="56" dur="500"/>
                                        <p:tgtEl>
                                          <p:spTgt spid="84995">
                                            <p:txEl>
                                              <p:pRg st="10" end="10"/>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4" presetClass="entr" presetSubtype="16" fill="hold" grpId="0" nodeType="clickEffect">
                                  <p:stCondLst>
                                    <p:cond delay="0"/>
                                  </p:stCondLst>
                                  <p:childTnLst>
                                    <p:set>
                                      <p:cBhvr>
                                        <p:cTn id="60" dur="1" fill="hold">
                                          <p:stCondLst>
                                            <p:cond delay="0"/>
                                          </p:stCondLst>
                                        </p:cTn>
                                        <p:tgtEl>
                                          <p:spTgt spid="84995">
                                            <p:txEl>
                                              <p:pRg st="11" end="11"/>
                                            </p:txEl>
                                          </p:spTgt>
                                        </p:tgtEl>
                                        <p:attrNameLst>
                                          <p:attrName>style.visibility</p:attrName>
                                        </p:attrNameLst>
                                      </p:cBhvr>
                                      <p:to>
                                        <p:strVal val="visible"/>
                                      </p:to>
                                    </p:set>
                                    <p:animEffect transition="in" filter="box(in)">
                                      <p:cBhvr>
                                        <p:cTn id="61" dur="500"/>
                                        <p:tgtEl>
                                          <p:spTgt spid="8499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4" grpId="0"/>
      <p:bldP spid="84995"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685800" y="0"/>
            <a:ext cx="7772400" cy="1219200"/>
          </a:xfrm>
        </p:spPr>
        <p:txBody>
          <a:bodyPr/>
          <a:lstStyle/>
          <a:p>
            <a:pPr eaLnBrk="1" hangingPunct="1"/>
            <a:r>
              <a:rPr lang="en-US" sz="4000" b="1" smtClean="0"/>
              <a:t>Multiple </a:t>
            </a:r>
            <a:r>
              <a:rPr lang="en-US" sz="3600" b="1" smtClean="0"/>
              <a:t>Chemical</a:t>
            </a:r>
            <a:r>
              <a:rPr lang="en-US" sz="4000" b="1" smtClean="0"/>
              <a:t> Equilibria</a:t>
            </a:r>
            <a:br>
              <a:rPr lang="en-US" sz="4000" b="1" smtClean="0"/>
            </a:br>
            <a:r>
              <a:rPr lang="en-US" sz="3600" b="1" smtClean="0"/>
              <a:t>Compositional</a:t>
            </a:r>
            <a:r>
              <a:rPr lang="en-US" sz="4000" b="1" smtClean="0"/>
              <a:t> Calculations</a:t>
            </a:r>
          </a:p>
        </p:txBody>
      </p:sp>
      <p:sp>
        <p:nvSpPr>
          <p:cNvPr id="86019" name="Rectangle 3"/>
          <p:cNvSpPr>
            <a:spLocks noGrp="1" noChangeArrowheads="1"/>
          </p:cNvSpPr>
          <p:nvPr>
            <p:ph type="body" idx="1"/>
          </p:nvPr>
        </p:nvSpPr>
        <p:spPr>
          <a:xfrm>
            <a:off x="304800" y="1219200"/>
            <a:ext cx="8610600" cy="4876800"/>
          </a:xfrm>
        </p:spPr>
        <p:txBody>
          <a:bodyPr/>
          <a:lstStyle/>
          <a:p>
            <a:pPr eaLnBrk="1" hangingPunct="1">
              <a:lnSpc>
                <a:spcPct val="90000"/>
              </a:lnSpc>
            </a:pPr>
            <a:r>
              <a:rPr lang="en-US" sz="2800" b="1" u="sng" smtClean="0"/>
              <a:t>Charge Balance Equations:</a:t>
            </a:r>
            <a:endParaRPr lang="en-US" sz="2800" smtClean="0"/>
          </a:p>
          <a:p>
            <a:pPr eaLnBrk="1" hangingPunct="1">
              <a:lnSpc>
                <a:spcPct val="90000"/>
              </a:lnSpc>
            </a:pPr>
            <a:r>
              <a:rPr lang="en-US" sz="2800" smtClean="0"/>
              <a:t>In any electrolyte solution,</a:t>
            </a:r>
          </a:p>
          <a:p>
            <a:pPr eaLnBrk="1" hangingPunct="1">
              <a:lnSpc>
                <a:spcPct val="90000"/>
              </a:lnSpc>
            </a:pPr>
            <a:r>
              <a:rPr lang="en-US" sz="2800" smtClean="0"/>
              <a:t>amt. of </a:t>
            </a:r>
            <a:r>
              <a:rPr lang="en-US" sz="2800" u="sng" smtClean="0"/>
              <a:t>positive</a:t>
            </a:r>
            <a:r>
              <a:rPr lang="en-US" sz="2800" smtClean="0"/>
              <a:t> charge = amt. of </a:t>
            </a:r>
            <a:r>
              <a:rPr lang="en-US" sz="2800" u="sng" smtClean="0"/>
              <a:t>negative</a:t>
            </a:r>
            <a:r>
              <a:rPr lang="en-US" sz="2800" smtClean="0"/>
              <a:t> charge</a:t>
            </a:r>
          </a:p>
          <a:p>
            <a:pPr eaLnBrk="1" hangingPunct="1">
              <a:lnSpc>
                <a:spcPct val="90000"/>
              </a:lnSpc>
            </a:pPr>
            <a:r>
              <a:rPr lang="en-US" sz="2800" smtClean="0"/>
              <a:t>solution charge for each species = [conc.][charge/ion]</a:t>
            </a:r>
          </a:p>
          <a:p>
            <a:pPr eaLnBrk="1" hangingPunct="1">
              <a:lnSpc>
                <a:spcPct val="90000"/>
              </a:lnSpc>
            </a:pPr>
            <a:r>
              <a:rPr lang="en-US" sz="2800" smtClean="0"/>
              <a:t>E.g. for solution MgCO</a:t>
            </a:r>
            <a:r>
              <a:rPr lang="en-US" sz="2800" baseline="-25000" smtClean="0"/>
              <a:t>3</a:t>
            </a:r>
            <a:endParaRPr lang="en-US" sz="2800" smtClean="0"/>
          </a:p>
          <a:p>
            <a:pPr eaLnBrk="1" hangingPunct="1">
              <a:lnSpc>
                <a:spcPct val="90000"/>
              </a:lnSpc>
            </a:pPr>
            <a:r>
              <a:rPr lang="en-US" sz="2800" smtClean="0"/>
              <a:t>MgCO</a:t>
            </a:r>
            <a:r>
              <a:rPr lang="en-US" sz="2800" baseline="-25000" smtClean="0"/>
              <a:t>3 _</a:t>
            </a:r>
            <a:r>
              <a:rPr lang="en-US" sz="2800" smtClean="0">
                <a:sym typeface="Wingdings" pitchFamily="2" charset="2"/>
              </a:rPr>
              <a:t> Mg</a:t>
            </a:r>
            <a:r>
              <a:rPr lang="en-US" sz="2800" baseline="30000" smtClean="0">
                <a:sym typeface="Wingdings" pitchFamily="2" charset="2"/>
              </a:rPr>
              <a:t>2+</a:t>
            </a:r>
            <a:r>
              <a:rPr lang="en-US" sz="2800" smtClean="0">
                <a:sym typeface="Wingdings" pitchFamily="2" charset="2"/>
              </a:rPr>
              <a:t> + CO</a:t>
            </a:r>
            <a:r>
              <a:rPr lang="en-US" sz="2800" baseline="-25000" smtClean="0">
                <a:sym typeface="Wingdings" pitchFamily="2" charset="2"/>
              </a:rPr>
              <a:t>3</a:t>
            </a:r>
            <a:r>
              <a:rPr lang="en-US" sz="2800" baseline="30000" smtClean="0">
                <a:sym typeface="Wingdings" pitchFamily="2" charset="2"/>
              </a:rPr>
              <a:t>2-</a:t>
            </a:r>
            <a:r>
              <a:rPr lang="en-US" sz="2800" smtClean="0">
                <a:sym typeface="Wingdings" pitchFamily="2" charset="2"/>
              </a:rPr>
              <a:t> leads to equilibria:</a:t>
            </a:r>
          </a:p>
          <a:p>
            <a:pPr eaLnBrk="1" hangingPunct="1">
              <a:lnSpc>
                <a:spcPct val="90000"/>
              </a:lnSpc>
            </a:pPr>
            <a:r>
              <a:rPr lang="en-US" sz="2800" smtClean="0">
                <a:sym typeface="Wingdings" pitchFamily="2" charset="2"/>
              </a:rPr>
              <a:t>CO</a:t>
            </a:r>
            <a:r>
              <a:rPr lang="en-US" sz="2800" baseline="-25000" smtClean="0">
                <a:sym typeface="Wingdings" pitchFamily="2" charset="2"/>
              </a:rPr>
              <a:t>3</a:t>
            </a:r>
            <a:r>
              <a:rPr lang="en-US" sz="2800" baseline="30000" smtClean="0">
                <a:sym typeface="Wingdings" pitchFamily="2" charset="2"/>
              </a:rPr>
              <a:t>2-</a:t>
            </a:r>
            <a:r>
              <a:rPr lang="en-US" sz="2800" smtClean="0">
                <a:sym typeface="Wingdings" pitchFamily="2" charset="2"/>
              </a:rPr>
              <a:t>  + HOH  HCO</a:t>
            </a:r>
            <a:r>
              <a:rPr lang="en-US" sz="2800" baseline="-25000" smtClean="0">
                <a:sym typeface="Wingdings" pitchFamily="2" charset="2"/>
              </a:rPr>
              <a:t>3</a:t>
            </a:r>
            <a:r>
              <a:rPr lang="en-US" sz="2800" baseline="30000" smtClean="0">
                <a:sym typeface="Wingdings" pitchFamily="2" charset="2"/>
              </a:rPr>
              <a:t>-</a:t>
            </a:r>
            <a:r>
              <a:rPr lang="en-US" sz="2800" smtClean="0">
                <a:sym typeface="Wingdings" pitchFamily="2" charset="2"/>
              </a:rPr>
              <a:t> + OH</a:t>
            </a:r>
            <a:r>
              <a:rPr lang="en-US" sz="2800" baseline="30000" smtClean="0">
                <a:sym typeface="Wingdings" pitchFamily="2" charset="2"/>
              </a:rPr>
              <a:t>-</a:t>
            </a:r>
            <a:endParaRPr lang="en-US" sz="2800" smtClean="0">
              <a:sym typeface="Wingdings" pitchFamily="2" charset="2"/>
            </a:endParaRPr>
          </a:p>
          <a:p>
            <a:pPr eaLnBrk="1" hangingPunct="1">
              <a:lnSpc>
                <a:spcPct val="90000"/>
              </a:lnSpc>
            </a:pPr>
            <a:r>
              <a:rPr lang="en-US" sz="2800" smtClean="0">
                <a:sym typeface="Wingdings" pitchFamily="2" charset="2"/>
              </a:rPr>
              <a:t>HCO</a:t>
            </a:r>
            <a:r>
              <a:rPr lang="en-US" sz="2800" baseline="-25000" smtClean="0">
                <a:sym typeface="Wingdings" pitchFamily="2" charset="2"/>
              </a:rPr>
              <a:t>3</a:t>
            </a:r>
            <a:r>
              <a:rPr lang="en-US" sz="2800" baseline="30000" smtClean="0">
                <a:sym typeface="Wingdings" pitchFamily="2" charset="2"/>
              </a:rPr>
              <a:t>- </a:t>
            </a:r>
            <a:r>
              <a:rPr lang="en-US" sz="2800" smtClean="0">
                <a:sym typeface="Wingdings" pitchFamily="2" charset="2"/>
              </a:rPr>
              <a:t>+ HOH  H</a:t>
            </a:r>
            <a:r>
              <a:rPr lang="en-US" sz="2800" baseline="-25000" smtClean="0">
                <a:sym typeface="Wingdings" pitchFamily="2" charset="2"/>
              </a:rPr>
              <a:t>2</a:t>
            </a:r>
            <a:r>
              <a:rPr lang="en-US" sz="2800" smtClean="0">
                <a:sym typeface="Wingdings" pitchFamily="2" charset="2"/>
              </a:rPr>
              <a:t>CO</a:t>
            </a:r>
            <a:r>
              <a:rPr lang="en-US" sz="2800" baseline="-25000" smtClean="0">
                <a:sym typeface="Wingdings" pitchFamily="2" charset="2"/>
              </a:rPr>
              <a:t>3 </a:t>
            </a:r>
            <a:r>
              <a:rPr lang="en-US" sz="2800" smtClean="0">
                <a:sym typeface="Wingdings" pitchFamily="2" charset="2"/>
              </a:rPr>
              <a:t>+ OH</a:t>
            </a:r>
            <a:r>
              <a:rPr lang="en-US" sz="2800" baseline="30000" smtClean="0">
                <a:sym typeface="Wingdings" pitchFamily="2" charset="2"/>
              </a:rPr>
              <a:t>-</a:t>
            </a:r>
          </a:p>
          <a:p>
            <a:pPr eaLnBrk="1" hangingPunct="1">
              <a:lnSpc>
                <a:spcPct val="90000"/>
              </a:lnSpc>
            </a:pPr>
            <a:r>
              <a:rPr lang="en-US" sz="2800" b="1" u="sng" smtClean="0">
                <a:sym typeface="Wingdings" pitchFamily="2" charset="2"/>
              </a:rPr>
              <a:t>Charge Balance</a:t>
            </a:r>
            <a:r>
              <a:rPr lang="en-US" sz="2800" smtClean="0">
                <a:sym typeface="Wingdings" pitchFamily="2" charset="2"/>
              </a:rPr>
              <a:t>:</a:t>
            </a:r>
          </a:p>
          <a:p>
            <a:pPr eaLnBrk="1" hangingPunct="1">
              <a:lnSpc>
                <a:spcPct val="90000"/>
              </a:lnSpc>
            </a:pPr>
            <a:r>
              <a:rPr lang="en-US" sz="2800" smtClean="0">
                <a:sym typeface="Wingdings" pitchFamily="2" charset="2"/>
              </a:rPr>
              <a:t>2[Mg</a:t>
            </a:r>
            <a:r>
              <a:rPr lang="en-US" sz="2800" baseline="30000" smtClean="0">
                <a:sym typeface="Wingdings" pitchFamily="2" charset="2"/>
              </a:rPr>
              <a:t>2+</a:t>
            </a:r>
            <a:r>
              <a:rPr lang="en-US" sz="2800" smtClean="0">
                <a:sym typeface="Wingdings" pitchFamily="2" charset="2"/>
              </a:rPr>
              <a:t>]  + [H</a:t>
            </a:r>
            <a:r>
              <a:rPr lang="en-US" sz="2800" baseline="-25000" smtClean="0">
                <a:sym typeface="Wingdings" pitchFamily="2" charset="2"/>
              </a:rPr>
              <a:t>3</a:t>
            </a:r>
            <a:r>
              <a:rPr lang="en-US" sz="2800" smtClean="0">
                <a:sym typeface="Wingdings" pitchFamily="2" charset="2"/>
              </a:rPr>
              <a:t>O</a:t>
            </a:r>
            <a:r>
              <a:rPr lang="en-US" sz="2800" baseline="30000" smtClean="0">
                <a:sym typeface="Wingdings" pitchFamily="2" charset="2"/>
              </a:rPr>
              <a:t>+</a:t>
            </a:r>
            <a:r>
              <a:rPr lang="en-US" sz="2800" smtClean="0">
                <a:sym typeface="Wingdings" pitchFamily="2" charset="2"/>
              </a:rPr>
              <a:t>] = 2[CO</a:t>
            </a:r>
            <a:r>
              <a:rPr lang="en-US" sz="2800" baseline="-25000" smtClean="0">
                <a:sym typeface="Wingdings" pitchFamily="2" charset="2"/>
              </a:rPr>
              <a:t>3</a:t>
            </a:r>
            <a:r>
              <a:rPr lang="en-US" sz="2800" baseline="30000" smtClean="0">
                <a:sym typeface="Wingdings" pitchFamily="2" charset="2"/>
              </a:rPr>
              <a:t>2-</a:t>
            </a:r>
            <a:r>
              <a:rPr lang="en-US" sz="2800" smtClean="0">
                <a:sym typeface="Wingdings" pitchFamily="2" charset="2"/>
              </a:rPr>
              <a:t>] + [HCO</a:t>
            </a:r>
            <a:r>
              <a:rPr lang="en-US" sz="2800" baseline="-25000" smtClean="0">
                <a:sym typeface="Wingdings" pitchFamily="2" charset="2"/>
              </a:rPr>
              <a:t>3</a:t>
            </a:r>
            <a:r>
              <a:rPr lang="en-US" sz="2800" baseline="30000" smtClean="0">
                <a:sym typeface="Wingdings" pitchFamily="2" charset="2"/>
              </a:rPr>
              <a:t>-</a:t>
            </a:r>
            <a:r>
              <a:rPr lang="en-US" sz="2800" smtClean="0">
                <a:sym typeface="Wingdings" pitchFamily="2" charset="2"/>
              </a:rPr>
              <a:t>] + [OH</a:t>
            </a:r>
            <a:r>
              <a:rPr lang="en-US" sz="2800" baseline="30000" smtClean="0">
                <a:sym typeface="Wingdings" pitchFamily="2" charset="2"/>
              </a:rPr>
              <a:t>-</a:t>
            </a:r>
            <a:r>
              <a:rPr lang="en-US" sz="2800" smtClean="0">
                <a:sym typeface="Wingdings" pitchFamily="2" charset="2"/>
              </a:rPr>
              <a:t>] </a:t>
            </a:r>
            <a:endParaRPr lang="en-US" sz="2800" smtClean="0"/>
          </a:p>
          <a:p>
            <a:pPr eaLnBrk="1" hangingPunct="1">
              <a:lnSpc>
                <a:spcPct val="90000"/>
              </a:lnSpc>
            </a:pPr>
            <a:endParaRPr lang="en-US" sz="2800" b="1" u="sng" smtClean="0"/>
          </a:p>
        </p:txBody>
      </p:sp>
      <p:sp>
        <p:nvSpPr>
          <p:cNvPr id="96260"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9456F1E9-01C5-4D3B-94E3-8C52F5BB0B46}" type="datetime1">
              <a:rPr lang="en-US" sz="1400" smtClean="0"/>
              <a:pPr eaLnBrk="1" hangingPunct="1"/>
              <a:t>5/6/2021</a:t>
            </a:fld>
            <a:endParaRPr lang="en-US" sz="1400" smtClean="0"/>
          </a:p>
        </p:txBody>
      </p:sp>
      <p:sp>
        <p:nvSpPr>
          <p:cNvPr id="96261"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90EDA764-F2EA-4CDE-ACE7-8A842EF4F078}" type="slidenum">
              <a:rPr lang="en-US" sz="1400" smtClean="0"/>
              <a:pPr eaLnBrk="1" hangingPunct="1"/>
              <a:t>91</a:t>
            </a:fld>
            <a:endParaRPr lang="en-US" sz="1400" smtClean="0"/>
          </a:p>
        </p:txBody>
      </p:sp>
      <p:sp>
        <p:nvSpPr>
          <p:cNvPr id="96262"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497819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6018"/>
                                        </p:tgtEl>
                                        <p:attrNameLst>
                                          <p:attrName>style.visibility</p:attrName>
                                        </p:attrNameLst>
                                      </p:cBhvr>
                                      <p:to>
                                        <p:strVal val="visible"/>
                                      </p:to>
                                    </p:set>
                                    <p:animEffect transition="in" filter="box(in)">
                                      <p:cBhvr>
                                        <p:cTn id="7" dur="500"/>
                                        <p:tgtEl>
                                          <p:spTgt spid="860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6019">
                                            <p:txEl>
                                              <p:pRg st="0" end="0"/>
                                            </p:txEl>
                                          </p:spTgt>
                                        </p:tgtEl>
                                        <p:attrNameLst>
                                          <p:attrName>style.visibility</p:attrName>
                                        </p:attrNameLst>
                                      </p:cBhvr>
                                      <p:to>
                                        <p:strVal val="visible"/>
                                      </p:to>
                                    </p:set>
                                    <p:animEffect transition="in" filter="box(in)">
                                      <p:cBhvr>
                                        <p:cTn id="12" dur="500"/>
                                        <p:tgtEl>
                                          <p:spTgt spid="8601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6019">
                                            <p:txEl>
                                              <p:pRg st="1" end="1"/>
                                            </p:txEl>
                                          </p:spTgt>
                                        </p:tgtEl>
                                        <p:attrNameLst>
                                          <p:attrName>style.visibility</p:attrName>
                                        </p:attrNameLst>
                                      </p:cBhvr>
                                      <p:to>
                                        <p:strVal val="visible"/>
                                      </p:to>
                                    </p:set>
                                    <p:animEffect transition="in" filter="box(in)">
                                      <p:cBhvr>
                                        <p:cTn id="17" dur="500"/>
                                        <p:tgtEl>
                                          <p:spTgt spid="8601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86019">
                                            <p:txEl>
                                              <p:pRg st="2" end="2"/>
                                            </p:txEl>
                                          </p:spTgt>
                                        </p:tgtEl>
                                        <p:attrNameLst>
                                          <p:attrName>style.visibility</p:attrName>
                                        </p:attrNameLst>
                                      </p:cBhvr>
                                      <p:to>
                                        <p:strVal val="visible"/>
                                      </p:to>
                                    </p:set>
                                    <p:animEffect transition="in" filter="box(in)">
                                      <p:cBhvr>
                                        <p:cTn id="22" dur="500"/>
                                        <p:tgtEl>
                                          <p:spTgt spid="86019">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86019">
                                            <p:txEl>
                                              <p:pRg st="3" end="3"/>
                                            </p:txEl>
                                          </p:spTgt>
                                        </p:tgtEl>
                                        <p:attrNameLst>
                                          <p:attrName>style.visibility</p:attrName>
                                        </p:attrNameLst>
                                      </p:cBhvr>
                                      <p:to>
                                        <p:strVal val="visible"/>
                                      </p:to>
                                    </p:set>
                                    <p:animEffect transition="in" filter="box(in)">
                                      <p:cBhvr>
                                        <p:cTn id="27" dur="500"/>
                                        <p:tgtEl>
                                          <p:spTgt spid="86019">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86019">
                                            <p:txEl>
                                              <p:pRg st="4" end="4"/>
                                            </p:txEl>
                                          </p:spTgt>
                                        </p:tgtEl>
                                        <p:attrNameLst>
                                          <p:attrName>style.visibility</p:attrName>
                                        </p:attrNameLst>
                                      </p:cBhvr>
                                      <p:to>
                                        <p:strVal val="visible"/>
                                      </p:to>
                                    </p:set>
                                    <p:animEffect transition="in" filter="box(in)">
                                      <p:cBhvr>
                                        <p:cTn id="32" dur="500"/>
                                        <p:tgtEl>
                                          <p:spTgt spid="86019">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86019">
                                            <p:txEl>
                                              <p:pRg st="5" end="5"/>
                                            </p:txEl>
                                          </p:spTgt>
                                        </p:tgtEl>
                                        <p:attrNameLst>
                                          <p:attrName>style.visibility</p:attrName>
                                        </p:attrNameLst>
                                      </p:cBhvr>
                                      <p:to>
                                        <p:strVal val="visible"/>
                                      </p:to>
                                    </p:set>
                                    <p:animEffect transition="in" filter="box(in)">
                                      <p:cBhvr>
                                        <p:cTn id="37" dur="500"/>
                                        <p:tgtEl>
                                          <p:spTgt spid="86019">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86019">
                                            <p:txEl>
                                              <p:pRg st="6" end="6"/>
                                            </p:txEl>
                                          </p:spTgt>
                                        </p:tgtEl>
                                        <p:attrNameLst>
                                          <p:attrName>style.visibility</p:attrName>
                                        </p:attrNameLst>
                                      </p:cBhvr>
                                      <p:to>
                                        <p:strVal val="visible"/>
                                      </p:to>
                                    </p:set>
                                    <p:animEffect transition="in" filter="box(in)">
                                      <p:cBhvr>
                                        <p:cTn id="42" dur="500"/>
                                        <p:tgtEl>
                                          <p:spTgt spid="86019">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86019">
                                            <p:txEl>
                                              <p:pRg st="7" end="7"/>
                                            </p:txEl>
                                          </p:spTgt>
                                        </p:tgtEl>
                                        <p:attrNameLst>
                                          <p:attrName>style.visibility</p:attrName>
                                        </p:attrNameLst>
                                      </p:cBhvr>
                                      <p:to>
                                        <p:strVal val="visible"/>
                                      </p:to>
                                    </p:set>
                                    <p:animEffect transition="in" filter="box(in)">
                                      <p:cBhvr>
                                        <p:cTn id="47" dur="500"/>
                                        <p:tgtEl>
                                          <p:spTgt spid="86019">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86019">
                                            <p:txEl>
                                              <p:pRg st="8" end="8"/>
                                            </p:txEl>
                                          </p:spTgt>
                                        </p:tgtEl>
                                        <p:attrNameLst>
                                          <p:attrName>style.visibility</p:attrName>
                                        </p:attrNameLst>
                                      </p:cBhvr>
                                      <p:to>
                                        <p:strVal val="visible"/>
                                      </p:to>
                                    </p:set>
                                    <p:animEffect transition="in" filter="box(in)">
                                      <p:cBhvr>
                                        <p:cTn id="52" dur="500"/>
                                        <p:tgtEl>
                                          <p:spTgt spid="86019">
                                            <p:txEl>
                                              <p:pRg st="8" end="8"/>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86019">
                                            <p:txEl>
                                              <p:pRg st="9" end="9"/>
                                            </p:txEl>
                                          </p:spTgt>
                                        </p:tgtEl>
                                        <p:attrNameLst>
                                          <p:attrName>style.visibility</p:attrName>
                                        </p:attrNameLst>
                                      </p:cBhvr>
                                      <p:to>
                                        <p:strVal val="visible"/>
                                      </p:to>
                                    </p:set>
                                    <p:animEffect transition="in" filter="box(in)">
                                      <p:cBhvr>
                                        <p:cTn id="57" dur="500"/>
                                        <p:tgtEl>
                                          <p:spTgt spid="8601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p:bldP spid="86019"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685800" y="0"/>
            <a:ext cx="7772400" cy="1143000"/>
          </a:xfrm>
        </p:spPr>
        <p:txBody>
          <a:bodyPr/>
          <a:lstStyle/>
          <a:p>
            <a:pPr eaLnBrk="1" hangingPunct="1"/>
            <a:r>
              <a:rPr lang="en-US" sz="3600" b="1" smtClean="0"/>
              <a:t>Multiple Chemical Equilibria</a:t>
            </a:r>
            <a:br>
              <a:rPr lang="en-US" sz="3600" b="1" smtClean="0"/>
            </a:br>
            <a:r>
              <a:rPr lang="en-US" sz="3600" b="1" smtClean="0"/>
              <a:t>Example Problem  (1)</a:t>
            </a:r>
          </a:p>
        </p:txBody>
      </p:sp>
      <p:sp>
        <p:nvSpPr>
          <p:cNvPr id="89091" name="Rectangle 3"/>
          <p:cNvSpPr>
            <a:spLocks noGrp="1" noChangeArrowheads="1"/>
          </p:cNvSpPr>
          <p:nvPr>
            <p:ph type="body" idx="1"/>
          </p:nvPr>
        </p:nvSpPr>
        <p:spPr>
          <a:xfrm>
            <a:off x="228600" y="1447800"/>
            <a:ext cx="8686800" cy="4648200"/>
          </a:xfrm>
        </p:spPr>
        <p:txBody>
          <a:bodyPr/>
          <a:lstStyle/>
          <a:p>
            <a:pPr eaLnBrk="1" hangingPunct="1"/>
            <a:r>
              <a:rPr lang="en-US" sz="2800" b="1" u="sng" smtClean="0"/>
              <a:t>What is pH of Mg(OH)</a:t>
            </a:r>
            <a:r>
              <a:rPr lang="en-US" sz="2800" b="1" u="sng" baseline="-25000" smtClean="0"/>
              <a:t>2</a:t>
            </a:r>
            <a:r>
              <a:rPr lang="en-US" sz="2800" b="1" u="sng" smtClean="0"/>
              <a:t> solution ?</a:t>
            </a:r>
            <a:r>
              <a:rPr lang="en-US" sz="2800" b="1" smtClean="0"/>
              <a:t>  (assume a</a:t>
            </a:r>
            <a:r>
              <a:rPr lang="en-US" sz="2800" b="1" baseline="-25000" smtClean="0"/>
              <a:t>x</a:t>
            </a:r>
            <a:r>
              <a:rPr lang="en-US" sz="2800" b="1" smtClean="0"/>
              <a:t>= [X])</a:t>
            </a:r>
          </a:p>
          <a:p>
            <a:pPr eaLnBrk="1" hangingPunct="1"/>
            <a:r>
              <a:rPr lang="en-US" sz="2800" b="1" u="sng" smtClean="0"/>
              <a:t>Equilibria:</a:t>
            </a:r>
            <a:r>
              <a:rPr lang="en-US" sz="2800" b="1" smtClean="0"/>
              <a:t>  </a:t>
            </a:r>
          </a:p>
          <a:p>
            <a:pPr eaLnBrk="1" hangingPunct="1"/>
            <a:r>
              <a:rPr lang="en-US" sz="2400" b="1" smtClean="0"/>
              <a:t>Mg(OH)</a:t>
            </a:r>
            <a:r>
              <a:rPr lang="en-US" sz="2400" b="1" baseline="-25000" smtClean="0"/>
              <a:t>2(s)</a:t>
            </a:r>
            <a:r>
              <a:rPr lang="en-US" sz="2400" b="1" smtClean="0"/>
              <a:t> </a:t>
            </a:r>
            <a:r>
              <a:rPr lang="en-US" sz="2400" b="1" smtClean="0">
                <a:sym typeface="Wingdings" pitchFamily="2" charset="2"/>
              </a:rPr>
              <a:t> Mg</a:t>
            </a:r>
            <a:r>
              <a:rPr lang="en-US" sz="2400" b="1" baseline="30000" smtClean="0">
                <a:sym typeface="Wingdings" pitchFamily="2" charset="2"/>
              </a:rPr>
              <a:t>2+</a:t>
            </a:r>
            <a:r>
              <a:rPr lang="en-US" sz="2400" b="1" smtClean="0">
                <a:sym typeface="Wingdings" pitchFamily="2" charset="2"/>
              </a:rPr>
              <a:t>  + 2 OH</a:t>
            </a:r>
            <a:r>
              <a:rPr lang="en-US" sz="2400" b="1" baseline="30000" smtClean="0">
                <a:sym typeface="Wingdings" pitchFamily="2" charset="2"/>
              </a:rPr>
              <a:t>-    </a:t>
            </a:r>
            <a:r>
              <a:rPr lang="en-US" sz="2400" b="1" smtClean="0">
                <a:sym typeface="Wingdings" pitchFamily="2" charset="2"/>
              </a:rPr>
              <a:t>K</a:t>
            </a:r>
            <a:r>
              <a:rPr lang="en-US" sz="2400" b="1" baseline="-25000" smtClean="0">
                <a:sym typeface="Wingdings" pitchFamily="2" charset="2"/>
              </a:rPr>
              <a:t>sp</a:t>
            </a:r>
            <a:r>
              <a:rPr lang="en-US" sz="2400" b="1" baseline="30000" smtClean="0">
                <a:sym typeface="Wingdings" pitchFamily="2" charset="2"/>
              </a:rPr>
              <a:t> </a:t>
            </a:r>
            <a:r>
              <a:rPr lang="en-US" sz="2400" b="1" smtClean="0">
                <a:sym typeface="Wingdings" pitchFamily="2" charset="2"/>
              </a:rPr>
              <a:t>= [Mg</a:t>
            </a:r>
            <a:r>
              <a:rPr lang="en-US" sz="2400" b="1" baseline="30000" smtClean="0">
                <a:sym typeface="Wingdings" pitchFamily="2" charset="2"/>
              </a:rPr>
              <a:t>2+</a:t>
            </a:r>
            <a:r>
              <a:rPr lang="en-US" sz="2400" b="1" smtClean="0">
                <a:sym typeface="Wingdings" pitchFamily="2" charset="2"/>
              </a:rPr>
              <a:t>][OH</a:t>
            </a:r>
            <a:r>
              <a:rPr lang="en-US" sz="2400" b="1" baseline="30000" smtClean="0">
                <a:sym typeface="Wingdings" pitchFamily="2" charset="2"/>
              </a:rPr>
              <a:t>-</a:t>
            </a:r>
            <a:r>
              <a:rPr lang="en-US" sz="2400" b="1" smtClean="0">
                <a:sym typeface="Wingdings" pitchFamily="2" charset="2"/>
              </a:rPr>
              <a:t>] = 1.8 x 10</a:t>
            </a:r>
            <a:r>
              <a:rPr lang="en-US" sz="2400" b="1" baseline="30000" smtClean="0">
                <a:sym typeface="Wingdings" pitchFamily="2" charset="2"/>
              </a:rPr>
              <a:t>-11</a:t>
            </a:r>
            <a:endParaRPr lang="en-US" sz="2800" b="1" smtClean="0">
              <a:sym typeface="Wingdings" pitchFamily="2" charset="2"/>
            </a:endParaRPr>
          </a:p>
          <a:p>
            <a:pPr eaLnBrk="1" hangingPunct="1"/>
            <a:r>
              <a:rPr lang="en-US" sz="2800" smtClean="0">
                <a:sym typeface="Wingdings" pitchFamily="2" charset="2"/>
              </a:rPr>
              <a:t>HOH + HOH  H</a:t>
            </a:r>
            <a:r>
              <a:rPr lang="en-US" sz="2800" baseline="-25000" smtClean="0">
                <a:sym typeface="Wingdings" pitchFamily="2" charset="2"/>
              </a:rPr>
              <a:t>3</a:t>
            </a:r>
            <a:r>
              <a:rPr lang="en-US" sz="2800" smtClean="0">
                <a:sym typeface="Wingdings" pitchFamily="2" charset="2"/>
              </a:rPr>
              <a:t>O</a:t>
            </a:r>
            <a:r>
              <a:rPr lang="en-US" sz="2800" baseline="30000" smtClean="0">
                <a:sym typeface="Wingdings" pitchFamily="2" charset="2"/>
              </a:rPr>
              <a:t>+</a:t>
            </a:r>
            <a:r>
              <a:rPr lang="en-US" sz="2800" smtClean="0">
                <a:sym typeface="Wingdings" pitchFamily="2" charset="2"/>
              </a:rPr>
              <a:t>  + OH</a:t>
            </a:r>
            <a:r>
              <a:rPr lang="en-US" sz="2800" baseline="30000" smtClean="0">
                <a:sym typeface="Wingdings" pitchFamily="2" charset="2"/>
              </a:rPr>
              <a:t>-</a:t>
            </a:r>
            <a:r>
              <a:rPr lang="en-US" sz="2800" smtClean="0">
                <a:sym typeface="Wingdings" pitchFamily="2" charset="2"/>
              </a:rPr>
              <a:t>  K</a:t>
            </a:r>
            <a:r>
              <a:rPr lang="en-US" sz="2800" baseline="-25000" smtClean="0">
                <a:sym typeface="Wingdings" pitchFamily="2" charset="2"/>
              </a:rPr>
              <a:t>e</a:t>
            </a:r>
            <a:r>
              <a:rPr lang="en-US" sz="2800" smtClean="0">
                <a:sym typeface="Wingdings" pitchFamily="2" charset="2"/>
              </a:rPr>
              <a:t> = K</a:t>
            </a:r>
            <a:r>
              <a:rPr lang="en-US" sz="2800" baseline="-25000" smtClean="0">
                <a:sym typeface="Wingdings" pitchFamily="2" charset="2"/>
              </a:rPr>
              <a:t>w</a:t>
            </a:r>
            <a:r>
              <a:rPr lang="en-US" sz="2800" smtClean="0">
                <a:sym typeface="Wingdings" pitchFamily="2" charset="2"/>
              </a:rPr>
              <a:t> = 1.0 x 10</a:t>
            </a:r>
            <a:r>
              <a:rPr lang="en-US" sz="2800" baseline="30000" smtClean="0">
                <a:sym typeface="Wingdings" pitchFamily="2" charset="2"/>
              </a:rPr>
              <a:t>-14</a:t>
            </a:r>
            <a:endParaRPr lang="en-US" sz="2800" smtClean="0">
              <a:sym typeface="Wingdings" pitchFamily="2" charset="2"/>
            </a:endParaRPr>
          </a:p>
          <a:p>
            <a:pPr eaLnBrk="1" hangingPunct="1"/>
            <a:r>
              <a:rPr lang="en-US" sz="2800" b="1" u="sng" smtClean="0">
                <a:sym typeface="Wingdings" pitchFamily="2" charset="2"/>
              </a:rPr>
              <a:t>Mass Balance:</a:t>
            </a:r>
            <a:r>
              <a:rPr lang="en-US" sz="2800" smtClean="0">
                <a:sym typeface="Wingdings" pitchFamily="2" charset="2"/>
              </a:rPr>
              <a:t>      [OH</a:t>
            </a:r>
            <a:r>
              <a:rPr lang="en-US" sz="2800" baseline="30000" smtClean="0">
                <a:sym typeface="Wingdings" pitchFamily="2" charset="2"/>
              </a:rPr>
              <a:t>-</a:t>
            </a:r>
            <a:r>
              <a:rPr lang="en-US" sz="2800" smtClean="0">
                <a:sym typeface="Wingdings" pitchFamily="2" charset="2"/>
              </a:rPr>
              <a:t>] = [H</a:t>
            </a:r>
            <a:r>
              <a:rPr lang="en-US" sz="2800" baseline="-25000" smtClean="0">
                <a:sym typeface="Wingdings" pitchFamily="2" charset="2"/>
              </a:rPr>
              <a:t>3</a:t>
            </a:r>
            <a:r>
              <a:rPr lang="en-US" sz="2800" smtClean="0">
                <a:sym typeface="Wingdings" pitchFamily="2" charset="2"/>
              </a:rPr>
              <a:t>O</a:t>
            </a:r>
            <a:r>
              <a:rPr lang="en-US" sz="2800" baseline="30000" smtClean="0">
                <a:sym typeface="Wingdings" pitchFamily="2" charset="2"/>
              </a:rPr>
              <a:t>+</a:t>
            </a:r>
            <a:r>
              <a:rPr lang="en-US" sz="2800" smtClean="0">
                <a:sym typeface="Wingdings" pitchFamily="2" charset="2"/>
              </a:rPr>
              <a:t>] + 2 [Mg</a:t>
            </a:r>
            <a:r>
              <a:rPr lang="en-US" sz="2800" baseline="30000" smtClean="0">
                <a:sym typeface="Wingdings" pitchFamily="2" charset="2"/>
              </a:rPr>
              <a:t>2+</a:t>
            </a:r>
            <a:r>
              <a:rPr lang="en-US" sz="2800" smtClean="0">
                <a:sym typeface="Wingdings" pitchFamily="2" charset="2"/>
              </a:rPr>
              <a:t>] </a:t>
            </a:r>
          </a:p>
          <a:p>
            <a:pPr eaLnBrk="1" hangingPunct="1"/>
            <a:r>
              <a:rPr lang="en-US" sz="2800" b="1" u="sng" smtClean="0">
                <a:sym typeface="Wingdings" pitchFamily="2" charset="2"/>
              </a:rPr>
              <a:t>Charge Balance: </a:t>
            </a:r>
            <a:r>
              <a:rPr lang="en-US" sz="2800" smtClean="0">
                <a:sym typeface="Wingdings" pitchFamily="2" charset="2"/>
              </a:rPr>
              <a:t>  [OH</a:t>
            </a:r>
            <a:r>
              <a:rPr lang="en-US" sz="2800" baseline="30000" smtClean="0">
                <a:sym typeface="Wingdings" pitchFamily="2" charset="2"/>
              </a:rPr>
              <a:t>-</a:t>
            </a:r>
            <a:r>
              <a:rPr lang="en-US" sz="2800" smtClean="0">
                <a:sym typeface="Wingdings" pitchFamily="2" charset="2"/>
              </a:rPr>
              <a:t>] = [H</a:t>
            </a:r>
            <a:r>
              <a:rPr lang="en-US" sz="2800" baseline="-25000" smtClean="0">
                <a:sym typeface="Wingdings" pitchFamily="2" charset="2"/>
              </a:rPr>
              <a:t>3</a:t>
            </a:r>
            <a:r>
              <a:rPr lang="en-US" sz="2800" smtClean="0">
                <a:sym typeface="Wingdings" pitchFamily="2" charset="2"/>
              </a:rPr>
              <a:t>O</a:t>
            </a:r>
            <a:r>
              <a:rPr lang="en-US" sz="2800" baseline="30000" smtClean="0">
                <a:sym typeface="Wingdings" pitchFamily="2" charset="2"/>
              </a:rPr>
              <a:t>+</a:t>
            </a:r>
            <a:r>
              <a:rPr lang="en-US" sz="2800" smtClean="0">
                <a:sym typeface="Wingdings" pitchFamily="2" charset="2"/>
              </a:rPr>
              <a:t>] + 2 [Mg</a:t>
            </a:r>
            <a:r>
              <a:rPr lang="en-US" sz="2800" baseline="30000" smtClean="0">
                <a:sym typeface="Wingdings" pitchFamily="2" charset="2"/>
              </a:rPr>
              <a:t>2+</a:t>
            </a:r>
            <a:r>
              <a:rPr lang="en-US" sz="2800" smtClean="0">
                <a:sym typeface="Wingdings" pitchFamily="2" charset="2"/>
              </a:rPr>
              <a:t>] </a:t>
            </a:r>
          </a:p>
          <a:p>
            <a:pPr eaLnBrk="1" hangingPunct="1"/>
            <a:r>
              <a:rPr lang="en-US" sz="2800" b="1" u="sng" smtClean="0">
                <a:sym typeface="Wingdings" pitchFamily="2" charset="2"/>
              </a:rPr>
              <a:t>Expression for unknown :</a:t>
            </a:r>
            <a:r>
              <a:rPr lang="en-US" sz="2800" smtClean="0">
                <a:sym typeface="Wingdings" pitchFamily="2" charset="2"/>
              </a:rPr>
              <a:t> [H</a:t>
            </a:r>
            <a:r>
              <a:rPr lang="en-US" sz="2800" baseline="-25000" smtClean="0">
                <a:sym typeface="Wingdings" pitchFamily="2" charset="2"/>
              </a:rPr>
              <a:t>3</a:t>
            </a:r>
            <a:r>
              <a:rPr lang="en-US" sz="2800" smtClean="0">
                <a:sym typeface="Wingdings" pitchFamily="2" charset="2"/>
              </a:rPr>
              <a:t>O</a:t>
            </a:r>
            <a:r>
              <a:rPr lang="en-US" sz="2800" baseline="30000" smtClean="0">
                <a:sym typeface="Wingdings" pitchFamily="2" charset="2"/>
              </a:rPr>
              <a:t>+</a:t>
            </a:r>
            <a:r>
              <a:rPr lang="en-US" sz="2800" smtClean="0">
                <a:sym typeface="Wingdings" pitchFamily="2" charset="2"/>
              </a:rPr>
              <a:t>] = K</a:t>
            </a:r>
            <a:r>
              <a:rPr lang="en-US" sz="2800" baseline="-25000" smtClean="0">
                <a:sym typeface="Wingdings" pitchFamily="2" charset="2"/>
              </a:rPr>
              <a:t>w</a:t>
            </a:r>
            <a:r>
              <a:rPr lang="en-US" sz="2800" smtClean="0">
                <a:sym typeface="Wingdings" pitchFamily="2" charset="2"/>
              </a:rPr>
              <a:t>/ [OH</a:t>
            </a:r>
            <a:r>
              <a:rPr lang="en-US" sz="2800" baseline="30000" smtClean="0">
                <a:sym typeface="Wingdings" pitchFamily="2" charset="2"/>
              </a:rPr>
              <a:t>-</a:t>
            </a:r>
            <a:r>
              <a:rPr lang="en-US" sz="2800" smtClean="0">
                <a:sym typeface="Wingdings" pitchFamily="2" charset="2"/>
              </a:rPr>
              <a:t>]</a:t>
            </a:r>
          </a:p>
        </p:txBody>
      </p:sp>
      <p:sp>
        <p:nvSpPr>
          <p:cNvPr id="97284"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D4E3E4F-FCDA-416B-BD11-822FB41B8BCE}" type="datetime1">
              <a:rPr lang="en-US" sz="1400" smtClean="0"/>
              <a:pPr eaLnBrk="1" hangingPunct="1"/>
              <a:t>5/6/2021</a:t>
            </a:fld>
            <a:endParaRPr lang="en-US" sz="1400" smtClean="0"/>
          </a:p>
        </p:txBody>
      </p:sp>
      <p:sp>
        <p:nvSpPr>
          <p:cNvPr id="97285"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B0398163-DF98-47C5-B93B-D6B93C224A27}" type="slidenum">
              <a:rPr lang="en-US" sz="1400" smtClean="0"/>
              <a:pPr eaLnBrk="1" hangingPunct="1"/>
              <a:t>92</a:t>
            </a:fld>
            <a:endParaRPr lang="en-US" sz="1400" smtClean="0"/>
          </a:p>
        </p:txBody>
      </p:sp>
      <p:sp>
        <p:nvSpPr>
          <p:cNvPr id="97286"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0652457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9090"/>
                                        </p:tgtEl>
                                        <p:attrNameLst>
                                          <p:attrName>style.visibility</p:attrName>
                                        </p:attrNameLst>
                                      </p:cBhvr>
                                      <p:to>
                                        <p:strVal val="visible"/>
                                      </p:to>
                                    </p:set>
                                    <p:animEffect transition="in" filter="box(in)">
                                      <p:cBhvr>
                                        <p:cTn id="7" dur="500"/>
                                        <p:tgtEl>
                                          <p:spTgt spid="890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9091">
                                            <p:txEl>
                                              <p:pRg st="0" end="0"/>
                                            </p:txEl>
                                          </p:spTgt>
                                        </p:tgtEl>
                                        <p:attrNameLst>
                                          <p:attrName>style.visibility</p:attrName>
                                        </p:attrNameLst>
                                      </p:cBhvr>
                                      <p:to>
                                        <p:strVal val="visible"/>
                                      </p:to>
                                    </p:set>
                                    <p:animEffect transition="in" filter="box(in)">
                                      <p:cBhvr>
                                        <p:cTn id="12" dur="500"/>
                                        <p:tgtEl>
                                          <p:spTgt spid="8909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9091">
                                            <p:txEl>
                                              <p:pRg st="1" end="1"/>
                                            </p:txEl>
                                          </p:spTgt>
                                        </p:tgtEl>
                                        <p:attrNameLst>
                                          <p:attrName>style.visibility</p:attrName>
                                        </p:attrNameLst>
                                      </p:cBhvr>
                                      <p:to>
                                        <p:strVal val="visible"/>
                                      </p:to>
                                    </p:set>
                                    <p:animEffect transition="in" filter="box(in)">
                                      <p:cBhvr>
                                        <p:cTn id="17" dur="500"/>
                                        <p:tgtEl>
                                          <p:spTgt spid="8909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89091">
                                            <p:txEl>
                                              <p:pRg st="2" end="2"/>
                                            </p:txEl>
                                          </p:spTgt>
                                        </p:tgtEl>
                                        <p:attrNameLst>
                                          <p:attrName>style.visibility</p:attrName>
                                        </p:attrNameLst>
                                      </p:cBhvr>
                                      <p:to>
                                        <p:strVal val="visible"/>
                                      </p:to>
                                    </p:set>
                                    <p:animEffect transition="in" filter="box(in)">
                                      <p:cBhvr>
                                        <p:cTn id="22" dur="500"/>
                                        <p:tgtEl>
                                          <p:spTgt spid="89091">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89091">
                                            <p:txEl>
                                              <p:pRg st="3" end="3"/>
                                            </p:txEl>
                                          </p:spTgt>
                                        </p:tgtEl>
                                        <p:attrNameLst>
                                          <p:attrName>style.visibility</p:attrName>
                                        </p:attrNameLst>
                                      </p:cBhvr>
                                      <p:to>
                                        <p:strVal val="visible"/>
                                      </p:to>
                                    </p:set>
                                    <p:animEffect transition="in" filter="box(in)">
                                      <p:cBhvr>
                                        <p:cTn id="27" dur="500"/>
                                        <p:tgtEl>
                                          <p:spTgt spid="89091">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89091">
                                            <p:txEl>
                                              <p:pRg st="4" end="4"/>
                                            </p:txEl>
                                          </p:spTgt>
                                        </p:tgtEl>
                                        <p:attrNameLst>
                                          <p:attrName>style.visibility</p:attrName>
                                        </p:attrNameLst>
                                      </p:cBhvr>
                                      <p:to>
                                        <p:strVal val="visible"/>
                                      </p:to>
                                    </p:set>
                                    <p:animEffect transition="in" filter="box(in)">
                                      <p:cBhvr>
                                        <p:cTn id="32" dur="500"/>
                                        <p:tgtEl>
                                          <p:spTgt spid="89091">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89091">
                                            <p:txEl>
                                              <p:pRg st="5" end="5"/>
                                            </p:txEl>
                                          </p:spTgt>
                                        </p:tgtEl>
                                        <p:attrNameLst>
                                          <p:attrName>style.visibility</p:attrName>
                                        </p:attrNameLst>
                                      </p:cBhvr>
                                      <p:to>
                                        <p:strVal val="visible"/>
                                      </p:to>
                                    </p:set>
                                    <p:animEffect transition="in" filter="box(in)">
                                      <p:cBhvr>
                                        <p:cTn id="37" dur="500"/>
                                        <p:tgtEl>
                                          <p:spTgt spid="89091">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89091">
                                            <p:txEl>
                                              <p:pRg st="6" end="6"/>
                                            </p:txEl>
                                          </p:spTgt>
                                        </p:tgtEl>
                                        <p:attrNameLst>
                                          <p:attrName>style.visibility</p:attrName>
                                        </p:attrNameLst>
                                      </p:cBhvr>
                                      <p:to>
                                        <p:strVal val="visible"/>
                                      </p:to>
                                    </p:set>
                                    <p:animEffect transition="in" filter="box(in)">
                                      <p:cBhvr>
                                        <p:cTn id="42" dur="500"/>
                                        <p:tgtEl>
                                          <p:spTgt spid="890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p:bldP spid="89091"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685800" y="0"/>
            <a:ext cx="7772400" cy="990600"/>
          </a:xfrm>
        </p:spPr>
        <p:txBody>
          <a:bodyPr/>
          <a:lstStyle/>
          <a:p>
            <a:pPr eaLnBrk="1" hangingPunct="1"/>
            <a:r>
              <a:rPr lang="en-US" sz="3600" b="1" smtClean="0"/>
              <a:t>Multiple Chemical Equilibria</a:t>
            </a:r>
            <a:br>
              <a:rPr lang="en-US" sz="3600" b="1" smtClean="0"/>
            </a:br>
            <a:r>
              <a:rPr lang="en-US" sz="3600" b="1" smtClean="0"/>
              <a:t>Example Problem  (1)</a:t>
            </a:r>
          </a:p>
        </p:txBody>
      </p:sp>
      <p:sp>
        <p:nvSpPr>
          <p:cNvPr id="90115" name="Rectangle 3"/>
          <p:cNvSpPr>
            <a:spLocks noGrp="1" noChangeArrowheads="1"/>
          </p:cNvSpPr>
          <p:nvPr>
            <p:ph type="body" idx="1"/>
          </p:nvPr>
        </p:nvSpPr>
        <p:spPr>
          <a:xfrm>
            <a:off x="228600" y="1143000"/>
            <a:ext cx="8915400" cy="5334000"/>
          </a:xfrm>
        </p:spPr>
        <p:txBody>
          <a:bodyPr/>
          <a:lstStyle/>
          <a:p>
            <a:pPr eaLnBrk="1" hangingPunct="1">
              <a:lnSpc>
                <a:spcPct val="90000"/>
              </a:lnSpc>
            </a:pPr>
            <a:r>
              <a:rPr lang="en-US" sz="2800" b="1" u="sng" smtClean="0"/>
              <a:t>What is pH of Mg(OH)</a:t>
            </a:r>
            <a:r>
              <a:rPr lang="en-US" sz="2800" b="1" u="sng" baseline="-25000" smtClean="0"/>
              <a:t>2</a:t>
            </a:r>
            <a:r>
              <a:rPr lang="en-US" sz="2800" b="1" u="sng" smtClean="0"/>
              <a:t> solution ?</a:t>
            </a:r>
            <a:r>
              <a:rPr lang="en-US" sz="2800" b="1" smtClean="0"/>
              <a:t>  (assume a</a:t>
            </a:r>
            <a:r>
              <a:rPr lang="en-US" sz="2800" b="1" baseline="-25000" smtClean="0"/>
              <a:t>x</a:t>
            </a:r>
            <a:r>
              <a:rPr lang="en-US" sz="2800" b="1" smtClean="0"/>
              <a:t>= [X])</a:t>
            </a:r>
          </a:p>
          <a:p>
            <a:pPr eaLnBrk="1" hangingPunct="1">
              <a:lnSpc>
                <a:spcPct val="90000"/>
              </a:lnSpc>
            </a:pPr>
            <a:r>
              <a:rPr lang="en-US" sz="2800" b="1" u="sng" smtClean="0">
                <a:sym typeface="Wingdings" pitchFamily="2" charset="2"/>
              </a:rPr>
              <a:t>Expression for unknown :</a:t>
            </a:r>
            <a:r>
              <a:rPr lang="en-US" sz="2800" smtClean="0">
                <a:sym typeface="Wingdings" pitchFamily="2" charset="2"/>
              </a:rPr>
              <a:t> [H</a:t>
            </a:r>
            <a:r>
              <a:rPr lang="en-US" sz="2800" baseline="-25000" smtClean="0">
                <a:sym typeface="Wingdings" pitchFamily="2" charset="2"/>
              </a:rPr>
              <a:t>3</a:t>
            </a:r>
            <a:r>
              <a:rPr lang="en-US" sz="2800" smtClean="0">
                <a:sym typeface="Wingdings" pitchFamily="2" charset="2"/>
              </a:rPr>
              <a:t>O</a:t>
            </a:r>
            <a:r>
              <a:rPr lang="en-US" sz="2800" baseline="30000" smtClean="0">
                <a:sym typeface="Wingdings" pitchFamily="2" charset="2"/>
              </a:rPr>
              <a:t>+</a:t>
            </a:r>
            <a:r>
              <a:rPr lang="en-US" sz="2800" smtClean="0">
                <a:sym typeface="Wingdings" pitchFamily="2" charset="2"/>
              </a:rPr>
              <a:t>] = K</a:t>
            </a:r>
            <a:r>
              <a:rPr lang="en-US" sz="2800" baseline="-25000" smtClean="0">
                <a:sym typeface="Wingdings" pitchFamily="2" charset="2"/>
              </a:rPr>
              <a:t>w</a:t>
            </a:r>
            <a:r>
              <a:rPr lang="en-US" sz="2800" smtClean="0">
                <a:sym typeface="Wingdings" pitchFamily="2" charset="2"/>
              </a:rPr>
              <a:t>/ [OH</a:t>
            </a:r>
            <a:r>
              <a:rPr lang="en-US" sz="2800" baseline="30000" smtClean="0">
                <a:sym typeface="Wingdings" pitchFamily="2" charset="2"/>
              </a:rPr>
              <a:t>-</a:t>
            </a:r>
            <a:r>
              <a:rPr lang="en-US" sz="2800" smtClean="0">
                <a:sym typeface="Wingdings" pitchFamily="2" charset="2"/>
              </a:rPr>
              <a:t>]</a:t>
            </a:r>
          </a:p>
          <a:p>
            <a:pPr eaLnBrk="1" hangingPunct="1">
              <a:lnSpc>
                <a:spcPct val="90000"/>
              </a:lnSpc>
            </a:pPr>
            <a:r>
              <a:rPr lang="en-US" sz="2800" b="1" u="sng" smtClean="0">
                <a:sym typeface="Wingdings" pitchFamily="2" charset="2"/>
              </a:rPr>
              <a:t>Solution:</a:t>
            </a:r>
            <a:r>
              <a:rPr lang="en-US" sz="2800" smtClean="0">
                <a:sym typeface="Wingdings" pitchFamily="2" charset="2"/>
              </a:rPr>
              <a:t> Assume [H</a:t>
            </a:r>
            <a:r>
              <a:rPr lang="en-US" sz="2800" baseline="-25000" smtClean="0">
                <a:sym typeface="Wingdings" pitchFamily="2" charset="2"/>
              </a:rPr>
              <a:t>3</a:t>
            </a:r>
            <a:r>
              <a:rPr lang="en-US" sz="2800" smtClean="0">
                <a:sym typeface="Wingdings" pitchFamily="2" charset="2"/>
              </a:rPr>
              <a:t>O</a:t>
            </a:r>
            <a:r>
              <a:rPr lang="en-US" sz="2800" baseline="30000" smtClean="0">
                <a:sym typeface="Wingdings" pitchFamily="2" charset="2"/>
              </a:rPr>
              <a:t>+</a:t>
            </a:r>
            <a:r>
              <a:rPr lang="en-US" sz="2800" smtClean="0">
                <a:sym typeface="Wingdings" pitchFamily="2" charset="2"/>
              </a:rPr>
              <a:t>] &lt;&lt; 2 [Mg</a:t>
            </a:r>
            <a:r>
              <a:rPr lang="en-US" sz="2800" baseline="30000" smtClean="0">
                <a:sym typeface="Wingdings" pitchFamily="2" charset="2"/>
              </a:rPr>
              <a:t>2+</a:t>
            </a:r>
            <a:r>
              <a:rPr lang="en-US" sz="2800" smtClean="0">
                <a:sym typeface="Wingdings" pitchFamily="2" charset="2"/>
              </a:rPr>
              <a:t>] ; [OH</a:t>
            </a:r>
            <a:r>
              <a:rPr lang="en-US" sz="2800" baseline="30000" smtClean="0">
                <a:sym typeface="Wingdings" pitchFamily="2" charset="2"/>
              </a:rPr>
              <a:t>-</a:t>
            </a:r>
            <a:r>
              <a:rPr lang="en-US" sz="2800" smtClean="0">
                <a:sym typeface="Wingdings" pitchFamily="2" charset="2"/>
              </a:rPr>
              <a:t>] = 2 [Mg</a:t>
            </a:r>
            <a:r>
              <a:rPr lang="en-US" sz="2800" baseline="30000" smtClean="0">
                <a:sym typeface="Wingdings" pitchFamily="2" charset="2"/>
              </a:rPr>
              <a:t>2+</a:t>
            </a:r>
            <a:r>
              <a:rPr lang="en-US" sz="2800" smtClean="0">
                <a:sym typeface="Wingdings" pitchFamily="2" charset="2"/>
              </a:rPr>
              <a:t>] </a:t>
            </a:r>
          </a:p>
          <a:p>
            <a:pPr eaLnBrk="1" hangingPunct="1">
              <a:lnSpc>
                <a:spcPct val="90000"/>
              </a:lnSpc>
            </a:pPr>
            <a:r>
              <a:rPr lang="en-US" sz="2800" smtClean="0">
                <a:sym typeface="Wingdings" pitchFamily="2" charset="2"/>
              </a:rPr>
              <a:t>Substitute into K</a:t>
            </a:r>
            <a:r>
              <a:rPr lang="en-US" sz="2800" baseline="-25000" smtClean="0">
                <a:sym typeface="Wingdings" pitchFamily="2" charset="2"/>
              </a:rPr>
              <a:t>sp</a:t>
            </a:r>
            <a:r>
              <a:rPr lang="en-US" sz="2800" smtClean="0">
                <a:sym typeface="Wingdings" pitchFamily="2" charset="2"/>
              </a:rPr>
              <a:t>,  K</a:t>
            </a:r>
            <a:r>
              <a:rPr lang="en-US" sz="2800" baseline="-25000" smtClean="0">
                <a:sym typeface="Wingdings" pitchFamily="2" charset="2"/>
              </a:rPr>
              <a:t>sp </a:t>
            </a:r>
            <a:r>
              <a:rPr lang="en-US" sz="2800" smtClean="0">
                <a:sym typeface="Wingdings" pitchFamily="2" charset="2"/>
              </a:rPr>
              <a:t>= ([OH</a:t>
            </a:r>
            <a:r>
              <a:rPr lang="en-US" sz="2800" baseline="30000" smtClean="0">
                <a:sym typeface="Wingdings" pitchFamily="2" charset="2"/>
              </a:rPr>
              <a:t>-</a:t>
            </a:r>
            <a:r>
              <a:rPr lang="en-US" sz="2800" smtClean="0">
                <a:sym typeface="Wingdings" pitchFamily="2" charset="2"/>
              </a:rPr>
              <a:t>] /2)([OH</a:t>
            </a:r>
            <a:r>
              <a:rPr lang="en-US" sz="2800" baseline="30000" smtClean="0">
                <a:sym typeface="Wingdings" pitchFamily="2" charset="2"/>
              </a:rPr>
              <a:t>-</a:t>
            </a:r>
            <a:r>
              <a:rPr lang="en-US" sz="2800" smtClean="0">
                <a:sym typeface="Wingdings" pitchFamily="2" charset="2"/>
              </a:rPr>
              <a:t>])</a:t>
            </a:r>
            <a:r>
              <a:rPr lang="en-US" sz="2800" baseline="30000" smtClean="0">
                <a:sym typeface="Wingdings" pitchFamily="2" charset="2"/>
              </a:rPr>
              <a:t>2</a:t>
            </a:r>
            <a:endParaRPr lang="en-US" sz="2800" smtClean="0">
              <a:sym typeface="Wingdings" pitchFamily="2" charset="2"/>
            </a:endParaRPr>
          </a:p>
          <a:p>
            <a:pPr eaLnBrk="1" hangingPunct="1">
              <a:lnSpc>
                <a:spcPct val="90000"/>
              </a:lnSpc>
            </a:pPr>
            <a:r>
              <a:rPr lang="en-US" sz="2800" smtClean="0">
                <a:sym typeface="Wingdings" pitchFamily="2" charset="2"/>
              </a:rPr>
              <a:t>[OH</a:t>
            </a:r>
            <a:r>
              <a:rPr lang="en-US" sz="2800" baseline="30000" smtClean="0">
                <a:sym typeface="Wingdings" pitchFamily="2" charset="2"/>
              </a:rPr>
              <a:t>-</a:t>
            </a:r>
            <a:r>
              <a:rPr lang="en-US" sz="2800" smtClean="0">
                <a:sym typeface="Wingdings" pitchFamily="2" charset="2"/>
              </a:rPr>
              <a:t>]</a:t>
            </a:r>
            <a:r>
              <a:rPr lang="en-US" sz="2800" baseline="30000" smtClean="0">
                <a:sym typeface="Wingdings" pitchFamily="2" charset="2"/>
              </a:rPr>
              <a:t>3</a:t>
            </a:r>
            <a:r>
              <a:rPr lang="en-US" sz="2800" smtClean="0">
                <a:sym typeface="Wingdings" pitchFamily="2" charset="2"/>
              </a:rPr>
              <a:t> = 2 K</a:t>
            </a:r>
            <a:r>
              <a:rPr lang="en-US" sz="2800" baseline="-25000" smtClean="0">
                <a:sym typeface="Wingdings" pitchFamily="2" charset="2"/>
              </a:rPr>
              <a:t>sp</a:t>
            </a:r>
            <a:r>
              <a:rPr lang="en-US" sz="2800" baseline="30000" smtClean="0">
                <a:sym typeface="Wingdings" pitchFamily="2" charset="2"/>
              </a:rPr>
              <a:t> ;  	</a:t>
            </a:r>
            <a:r>
              <a:rPr lang="en-US" sz="2800" smtClean="0">
                <a:sym typeface="Wingdings" pitchFamily="2" charset="2"/>
              </a:rPr>
              <a:t>[OH</a:t>
            </a:r>
            <a:r>
              <a:rPr lang="en-US" sz="2800" baseline="30000" smtClean="0">
                <a:sym typeface="Wingdings" pitchFamily="2" charset="2"/>
              </a:rPr>
              <a:t>-</a:t>
            </a:r>
            <a:r>
              <a:rPr lang="en-US" sz="2800" smtClean="0">
                <a:sym typeface="Wingdings" pitchFamily="2" charset="2"/>
              </a:rPr>
              <a:t>] = (2 K</a:t>
            </a:r>
            <a:r>
              <a:rPr lang="en-US" sz="2800" baseline="-25000" smtClean="0">
                <a:sym typeface="Wingdings" pitchFamily="2" charset="2"/>
              </a:rPr>
              <a:t>sp</a:t>
            </a:r>
            <a:r>
              <a:rPr lang="en-US" sz="2800" smtClean="0">
                <a:sym typeface="Wingdings" pitchFamily="2" charset="2"/>
              </a:rPr>
              <a:t>)</a:t>
            </a:r>
            <a:r>
              <a:rPr lang="en-US" sz="2800" baseline="30000" smtClean="0">
                <a:sym typeface="Wingdings" pitchFamily="2" charset="2"/>
              </a:rPr>
              <a:t>1/3 </a:t>
            </a:r>
            <a:r>
              <a:rPr lang="en-US" sz="2800" smtClean="0">
                <a:sym typeface="Wingdings" pitchFamily="2" charset="2"/>
              </a:rPr>
              <a:t>= 3.3 x 10</a:t>
            </a:r>
            <a:r>
              <a:rPr lang="en-US" sz="2800" baseline="30000" smtClean="0">
                <a:sym typeface="Wingdings" pitchFamily="2" charset="2"/>
              </a:rPr>
              <a:t>-4 </a:t>
            </a:r>
            <a:r>
              <a:rPr lang="en-US" sz="2800" smtClean="0">
                <a:sym typeface="Wingdings" pitchFamily="2" charset="2"/>
              </a:rPr>
              <a:t>M</a:t>
            </a:r>
          </a:p>
          <a:p>
            <a:pPr eaLnBrk="1" hangingPunct="1">
              <a:lnSpc>
                <a:spcPct val="90000"/>
              </a:lnSpc>
            </a:pPr>
            <a:r>
              <a:rPr lang="en-US" sz="2800" smtClean="0">
                <a:sym typeface="Wingdings" pitchFamily="2" charset="2"/>
              </a:rPr>
              <a:t>[H</a:t>
            </a:r>
            <a:r>
              <a:rPr lang="en-US" sz="2800" baseline="-25000" smtClean="0">
                <a:sym typeface="Wingdings" pitchFamily="2" charset="2"/>
              </a:rPr>
              <a:t>3</a:t>
            </a:r>
            <a:r>
              <a:rPr lang="en-US" sz="2800" smtClean="0">
                <a:sym typeface="Wingdings" pitchFamily="2" charset="2"/>
              </a:rPr>
              <a:t>O</a:t>
            </a:r>
            <a:r>
              <a:rPr lang="en-US" sz="2800" baseline="30000" smtClean="0">
                <a:sym typeface="Wingdings" pitchFamily="2" charset="2"/>
              </a:rPr>
              <a:t>+</a:t>
            </a:r>
            <a:r>
              <a:rPr lang="en-US" sz="2800" smtClean="0">
                <a:sym typeface="Wingdings" pitchFamily="2" charset="2"/>
              </a:rPr>
              <a:t>] = K</a:t>
            </a:r>
            <a:r>
              <a:rPr lang="en-US" sz="2800" baseline="-25000" smtClean="0">
                <a:sym typeface="Wingdings" pitchFamily="2" charset="2"/>
              </a:rPr>
              <a:t>w</a:t>
            </a:r>
            <a:r>
              <a:rPr lang="en-US" sz="2800" smtClean="0">
                <a:sym typeface="Wingdings" pitchFamily="2" charset="2"/>
              </a:rPr>
              <a:t>/(3.3 x 10</a:t>
            </a:r>
            <a:r>
              <a:rPr lang="en-US" sz="2800" baseline="30000" smtClean="0">
                <a:sym typeface="Wingdings" pitchFamily="2" charset="2"/>
              </a:rPr>
              <a:t>-4</a:t>
            </a:r>
            <a:r>
              <a:rPr lang="en-US" sz="2800" smtClean="0">
                <a:sym typeface="Wingdings" pitchFamily="2" charset="2"/>
              </a:rPr>
              <a:t>) = 3.0 x 10</a:t>
            </a:r>
            <a:r>
              <a:rPr lang="en-US" sz="2800" baseline="30000" smtClean="0">
                <a:sym typeface="Wingdings" pitchFamily="2" charset="2"/>
              </a:rPr>
              <a:t>-11</a:t>
            </a:r>
            <a:r>
              <a:rPr lang="en-US" sz="2800" smtClean="0">
                <a:sym typeface="Wingdings" pitchFamily="2" charset="2"/>
              </a:rPr>
              <a:t> M</a:t>
            </a:r>
          </a:p>
          <a:p>
            <a:pPr eaLnBrk="1" hangingPunct="1">
              <a:lnSpc>
                <a:spcPct val="90000"/>
              </a:lnSpc>
            </a:pPr>
            <a:r>
              <a:rPr lang="en-US" sz="2800" smtClean="0">
                <a:sym typeface="Wingdings" pitchFamily="2" charset="2"/>
              </a:rPr>
              <a:t>pH = -log [H</a:t>
            </a:r>
            <a:r>
              <a:rPr lang="en-US" sz="2800" baseline="-25000" smtClean="0">
                <a:sym typeface="Wingdings" pitchFamily="2" charset="2"/>
              </a:rPr>
              <a:t>3</a:t>
            </a:r>
            <a:r>
              <a:rPr lang="en-US" sz="2800" smtClean="0">
                <a:sym typeface="Wingdings" pitchFamily="2" charset="2"/>
              </a:rPr>
              <a:t>O</a:t>
            </a:r>
            <a:r>
              <a:rPr lang="en-US" sz="2800" baseline="30000" smtClean="0">
                <a:sym typeface="Wingdings" pitchFamily="2" charset="2"/>
              </a:rPr>
              <a:t>+</a:t>
            </a:r>
            <a:r>
              <a:rPr lang="en-US" sz="2800" smtClean="0">
                <a:sym typeface="Wingdings" pitchFamily="2" charset="2"/>
              </a:rPr>
              <a:t>] = 10.52  (2 sig figs)</a:t>
            </a:r>
          </a:p>
          <a:p>
            <a:pPr eaLnBrk="1" hangingPunct="1">
              <a:lnSpc>
                <a:spcPct val="90000"/>
              </a:lnSpc>
            </a:pPr>
            <a:r>
              <a:rPr lang="en-US" sz="2800" smtClean="0">
                <a:sym typeface="Wingdings" pitchFamily="2" charset="2"/>
              </a:rPr>
              <a:t>Note: original approximation was OK!</a:t>
            </a:r>
          </a:p>
          <a:p>
            <a:pPr eaLnBrk="1" hangingPunct="1">
              <a:lnSpc>
                <a:spcPct val="90000"/>
              </a:lnSpc>
            </a:pPr>
            <a:r>
              <a:rPr lang="en-US" sz="2800" smtClean="0">
                <a:sym typeface="Wingdings" pitchFamily="2" charset="2"/>
              </a:rPr>
              <a:t>i.e. [H</a:t>
            </a:r>
            <a:r>
              <a:rPr lang="en-US" sz="2800" baseline="-25000" smtClean="0">
                <a:sym typeface="Wingdings" pitchFamily="2" charset="2"/>
              </a:rPr>
              <a:t>3</a:t>
            </a:r>
            <a:r>
              <a:rPr lang="en-US" sz="2800" smtClean="0">
                <a:sym typeface="Wingdings" pitchFamily="2" charset="2"/>
              </a:rPr>
              <a:t>O</a:t>
            </a:r>
            <a:r>
              <a:rPr lang="en-US" sz="2800" baseline="30000" smtClean="0">
                <a:sym typeface="Wingdings" pitchFamily="2" charset="2"/>
              </a:rPr>
              <a:t>+</a:t>
            </a:r>
            <a:r>
              <a:rPr lang="en-US" sz="2800" smtClean="0">
                <a:sym typeface="Wingdings" pitchFamily="2" charset="2"/>
              </a:rPr>
              <a:t>] &lt;&lt; [OH</a:t>
            </a:r>
            <a:r>
              <a:rPr lang="en-US" sz="2800" baseline="30000" smtClean="0">
                <a:sym typeface="Wingdings" pitchFamily="2" charset="2"/>
              </a:rPr>
              <a:t>-</a:t>
            </a:r>
            <a:r>
              <a:rPr lang="en-US" sz="2800" smtClean="0">
                <a:sym typeface="Wingdings" pitchFamily="2" charset="2"/>
              </a:rPr>
              <a:t>] 	(3.0 x 10</a:t>
            </a:r>
            <a:r>
              <a:rPr lang="en-US" sz="2800" baseline="30000" smtClean="0">
                <a:sym typeface="Wingdings" pitchFamily="2" charset="2"/>
              </a:rPr>
              <a:t>-11 </a:t>
            </a:r>
            <a:r>
              <a:rPr lang="en-US" sz="2800" smtClean="0">
                <a:sym typeface="Wingdings" pitchFamily="2" charset="2"/>
              </a:rPr>
              <a:t>&lt;&lt; 3.3 x 10</a:t>
            </a:r>
            <a:r>
              <a:rPr lang="en-US" sz="2800" baseline="30000" smtClean="0">
                <a:sym typeface="Wingdings" pitchFamily="2" charset="2"/>
              </a:rPr>
              <a:t>-4</a:t>
            </a:r>
            <a:r>
              <a:rPr lang="en-US" sz="2800" smtClean="0">
                <a:sym typeface="Wingdings" pitchFamily="2" charset="2"/>
              </a:rPr>
              <a:t>)</a:t>
            </a:r>
          </a:p>
          <a:p>
            <a:pPr eaLnBrk="1" hangingPunct="1">
              <a:lnSpc>
                <a:spcPct val="90000"/>
              </a:lnSpc>
            </a:pPr>
            <a:r>
              <a:rPr lang="en-US" sz="2800" smtClean="0">
                <a:sym typeface="Wingdings" pitchFamily="2" charset="2"/>
              </a:rPr>
              <a:t>Assumed [OH</a:t>
            </a:r>
            <a:r>
              <a:rPr lang="en-US" sz="2800" baseline="30000" smtClean="0">
                <a:sym typeface="Wingdings" pitchFamily="2" charset="2"/>
              </a:rPr>
              <a:t>-</a:t>
            </a:r>
            <a:r>
              <a:rPr lang="en-US" sz="2800" smtClean="0">
                <a:sym typeface="Wingdings" pitchFamily="2" charset="2"/>
              </a:rPr>
              <a:t>] = 2 [Mg</a:t>
            </a:r>
            <a:r>
              <a:rPr lang="en-US" sz="2800" baseline="30000" smtClean="0">
                <a:sym typeface="Wingdings" pitchFamily="2" charset="2"/>
              </a:rPr>
              <a:t>2+</a:t>
            </a:r>
            <a:r>
              <a:rPr lang="en-US" sz="2800" smtClean="0">
                <a:sym typeface="Wingdings" pitchFamily="2" charset="2"/>
              </a:rPr>
              <a:t>] ; 	[H</a:t>
            </a:r>
            <a:r>
              <a:rPr lang="en-US" sz="2800" baseline="-25000" smtClean="0">
                <a:sym typeface="Wingdings" pitchFamily="2" charset="2"/>
              </a:rPr>
              <a:t>3</a:t>
            </a:r>
            <a:r>
              <a:rPr lang="en-US" sz="2800" smtClean="0">
                <a:sym typeface="Wingdings" pitchFamily="2" charset="2"/>
              </a:rPr>
              <a:t>O</a:t>
            </a:r>
            <a:r>
              <a:rPr lang="en-US" sz="2800" baseline="30000" smtClean="0">
                <a:sym typeface="Wingdings" pitchFamily="2" charset="2"/>
              </a:rPr>
              <a:t>+</a:t>
            </a:r>
            <a:r>
              <a:rPr lang="en-US" sz="2800" smtClean="0">
                <a:sym typeface="Wingdings" pitchFamily="2" charset="2"/>
              </a:rPr>
              <a:t>] &lt;&lt; 2 [Mg</a:t>
            </a:r>
            <a:r>
              <a:rPr lang="en-US" sz="2800" baseline="30000" smtClean="0">
                <a:sym typeface="Wingdings" pitchFamily="2" charset="2"/>
              </a:rPr>
              <a:t>2+</a:t>
            </a:r>
            <a:r>
              <a:rPr lang="en-US" sz="2800" smtClean="0">
                <a:sym typeface="Wingdings" pitchFamily="2" charset="2"/>
              </a:rPr>
              <a:t>] </a:t>
            </a:r>
          </a:p>
          <a:p>
            <a:pPr eaLnBrk="1" hangingPunct="1">
              <a:lnSpc>
                <a:spcPct val="90000"/>
              </a:lnSpc>
            </a:pPr>
            <a:r>
              <a:rPr lang="en-US" sz="2800" smtClean="0">
                <a:sym typeface="Wingdings" pitchFamily="2" charset="2"/>
              </a:rPr>
              <a:t>Assumed [H</a:t>
            </a:r>
            <a:r>
              <a:rPr lang="en-US" sz="2800" baseline="-25000" smtClean="0">
                <a:sym typeface="Wingdings" pitchFamily="2" charset="2"/>
              </a:rPr>
              <a:t>3</a:t>
            </a:r>
            <a:r>
              <a:rPr lang="en-US" sz="2800" smtClean="0">
                <a:sym typeface="Wingdings" pitchFamily="2" charset="2"/>
              </a:rPr>
              <a:t>O</a:t>
            </a:r>
            <a:r>
              <a:rPr lang="en-US" sz="2800" baseline="30000" smtClean="0">
                <a:sym typeface="Wingdings" pitchFamily="2" charset="2"/>
              </a:rPr>
              <a:t>+</a:t>
            </a:r>
            <a:r>
              <a:rPr lang="en-US" sz="2800" smtClean="0">
                <a:sym typeface="Wingdings" pitchFamily="2" charset="2"/>
              </a:rPr>
              <a:t>] &lt;&lt; [OH</a:t>
            </a:r>
            <a:r>
              <a:rPr lang="en-US" sz="2800" baseline="30000" smtClean="0">
                <a:sym typeface="Wingdings" pitchFamily="2" charset="2"/>
              </a:rPr>
              <a:t>-</a:t>
            </a:r>
            <a:r>
              <a:rPr lang="en-US" sz="2800" smtClean="0">
                <a:sym typeface="Wingdings" pitchFamily="2" charset="2"/>
              </a:rPr>
              <a:t>]   </a:t>
            </a:r>
            <a:r>
              <a:rPr lang="en-US" sz="2800" b="1" u="sng" smtClean="0">
                <a:sym typeface="Wingdings" pitchFamily="2" charset="2"/>
              </a:rPr>
              <a:t>OK</a:t>
            </a:r>
            <a:r>
              <a:rPr lang="en-US" sz="2800" smtClean="0">
                <a:sym typeface="Wingdings" pitchFamily="2" charset="2"/>
              </a:rPr>
              <a:t>!</a:t>
            </a:r>
          </a:p>
        </p:txBody>
      </p:sp>
      <p:sp>
        <p:nvSpPr>
          <p:cNvPr id="98308"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FF5DB178-77B0-4CA2-B9B2-A79E3653328B}" type="datetime1">
              <a:rPr lang="en-US" sz="1400" smtClean="0"/>
              <a:pPr eaLnBrk="1" hangingPunct="1"/>
              <a:t>5/6/2021</a:t>
            </a:fld>
            <a:endParaRPr lang="en-US" sz="1400" smtClean="0"/>
          </a:p>
        </p:txBody>
      </p:sp>
      <p:sp>
        <p:nvSpPr>
          <p:cNvPr id="98309"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D01646CF-B80E-4248-ACEE-B471130BE252}" type="slidenum">
              <a:rPr lang="en-US" sz="1400" smtClean="0"/>
              <a:pPr eaLnBrk="1" hangingPunct="1"/>
              <a:t>93</a:t>
            </a:fld>
            <a:endParaRPr lang="en-US" sz="1400" smtClean="0"/>
          </a:p>
        </p:txBody>
      </p:sp>
      <p:sp>
        <p:nvSpPr>
          <p:cNvPr id="98310"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5615644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0114"/>
                                        </p:tgtEl>
                                        <p:attrNameLst>
                                          <p:attrName>style.visibility</p:attrName>
                                        </p:attrNameLst>
                                      </p:cBhvr>
                                      <p:to>
                                        <p:strVal val="visible"/>
                                      </p:to>
                                    </p:set>
                                    <p:animEffect transition="in" filter="box(in)">
                                      <p:cBhvr>
                                        <p:cTn id="7" dur="500"/>
                                        <p:tgtEl>
                                          <p:spTgt spid="901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0115">
                                            <p:txEl>
                                              <p:pRg st="0" end="0"/>
                                            </p:txEl>
                                          </p:spTgt>
                                        </p:tgtEl>
                                        <p:attrNameLst>
                                          <p:attrName>style.visibility</p:attrName>
                                        </p:attrNameLst>
                                      </p:cBhvr>
                                      <p:to>
                                        <p:strVal val="visible"/>
                                      </p:to>
                                    </p:set>
                                    <p:animEffect transition="in" filter="box(in)">
                                      <p:cBhvr>
                                        <p:cTn id="12" dur="500"/>
                                        <p:tgtEl>
                                          <p:spTgt spid="9011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90115">
                                            <p:txEl>
                                              <p:pRg st="1" end="1"/>
                                            </p:txEl>
                                          </p:spTgt>
                                        </p:tgtEl>
                                        <p:attrNameLst>
                                          <p:attrName>style.visibility</p:attrName>
                                        </p:attrNameLst>
                                      </p:cBhvr>
                                      <p:to>
                                        <p:strVal val="visible"/>
                                      </p:to>
                                    </p:set>
                                    <p:animEffect transition="in" filter="box(in)">
                                      <p:cBhvr>
                                        <p:cTn id="17" dur="500"/>
                                        <p:tgtEl>
                                          <p:spTgt spid="9011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90115">
                                            <p:txEl>
                                              <p:pRg st="2" end="2"/>
                                            </p:txEl>
                                          </p:spTgt>
                                        </p:tgtEl>
                                        <p:attrNameLst>
                                          <p:attrName>style.visibility</p:attrName>
                                        </p:attrNameLst>
                                      </p:cBhvr>
                                      <p:to>
                                        <p:strVal val="visible"/>
                                      </p:to>
                                    </p:set>
                                    <p:animEffect transition="in" filter="box(in)">
                                      <p:cBhvr>
                                        <p:cTn id="22" dur="500"/>
                                        <p:tgtEl>
                                          <p:spTgt spid="90115">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90115">
                                            <p:txEl>
                                              <p:pRg st="3" end="3"/>
                                            </p:txEl>
                                          </p:spTgt>
                                        </p:tgtEl>
                                        <p:attrNameLst>
                                          <p:attrName>style.visibility</p:attrName>
                                        </p:attrNameLst>
                                      </p:cBhvr>
                                      <p:to>
                                        <p:strVal val="visible"/>
                                      </p:to>
                                    </p:set>
                                    <p:animEffect transition="in" filter="box(in)">
                                      <p:cBhvr>
                                        <p:cTn id="27" dur="500"/>
                                        <p:tgtEl>
                                          <p:spTgt spid="90115">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90115">
                                            <p:txEl>
                                              <p:pRg st="4" end="4"/>
                                            </p:txEl>
                                          </p:spTgt>
                                        </p:tgtEl>
                                        <p:attrNameLst>
                                          <p:attrName>style.visibility</p:attrName>
                                        </p:attrNameLst>
                                      </p:cBhvr>
                                      <p:to>
                                        <p:strVal val="visible"/>
                                      </p:to>
                                    </p:set>
                                    <p:animEffect transition="in" filter="box(in)">
                                      <p:cBhvr>
                                        <p:cTn id="32" dur="500"/>
                                        <p:tgtEl>
                                          <p:spTgt spid="90115">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90115">
                                            <p:txEl>
                                              <p:pRg st="5" end="5"/>
                                            </p:txEl>
                                          </p:spTgt>
                                        </p:tgtEl>
                                        <p:attrNameLst>
                                          <p:attrName>style.visibility</p:attrName>
                                        </p:attrNameLst>
                                      </p:cBhvr>
                                      <p:to>
                                        <p:strVal val="visible"/>
                                      </p:to>
                                    </p:set>
                                    <p:animEffect transition="in" filter="box(in)">
                                      <p:cBhvr>
                                        <p:cTn id="37" dur="500"/>
                                        <p:tgtEl>
                                          <p:spTgt spid="90115">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90115">
                                            <p:txEl>
                                              <p:pRg st="6" end="6"/>
                                            </p:txEl>
                                          </p:spTgt>
                                        </p:tgtEl>
                                        <p:attrNameLst>
                                          <p:attrName>style.visibility</p:attrName>
                                        </p:attrNameLst>
                                      </p:cBhvr>
                                      <p:to>
                                        <p:strVal val="visible"/>
                                      </p:to>
                                    </p:set>
                                    <p:animEffect transition="in" filter="box(in)">
                                      <p:cBhvr>
                                        <p:cTn id="42" dur="500"/>
                                        <p:tgtEl>
                                          <p:spTgt spid="90115">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90115">
                                            <p:txEl>
                                              <p:pRg st="7" end="7"/>
                                            </p:txEl>
                                          </p:spTgt>
                                        </p:tgtEl>
                                        <p:attrNameLst>
                                          <p:attrName>style.visibility</p:attrName>
                                        </p:attrNameLst>
                                      </p:cBhvr>
                                      <p:to>
                                        <p:strVal val="visible"/>
                                      </p:to>
                                    </p:set>
                                    <p:animEffect transition="in" filter="box(in)">
                                      <p:cBhvr>
                                        <p:cTn id="47" dur="500"/>
                                        <p:tgtEl>
                                          <p:spTgt spid="90115">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90115">
                                            <p:txEl>
                                              <p:pRg st="8" end="8"/>
                                            </p:txEl>
                                          </p:spTgt>
                                        </p:tgtEl>
                                        <p:attrNameLst>
                                          <p:attrName>style.visibility</p:attrName>
                                        </p:attrNameLst>
                                      </p:cBhvr>
                                      <p:to>
                                        <p:strVal val="visible"/>
                                      </p:to>
                                    </p:set>
                                    <p:animEffect transition="in" filter="box(in)">
                                      <p:cBhvr>
                                        <p:cTn id="52" dur="500"/>
                                        <p:tgtEl>
                                          <p:spTgt spid="90115">
                                            <p:txEl>
                                              <p:pRg st="8" end="8"/>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90115">
                                            <p:txEl>
                                              <p:pRg st="9" end="9"/>
                                            </p:txEl>
                                          </p:spTgt>
                                        </p:tgtEl>
                                        <p:attrNameLst>
                                          <p:attrName>style.visibility</p:attrName>
                                        </p:attrNameLst>
                                      </p:cBhvr>
                                      <p:to>
                                        <p:strVal val="visible"/>
                                      </p:to>
                                    </p:set>
                                    <p:animEffect transition="in" filter="box(in)">
                                      <p:cBhvr>
                                        <p:cTn id="57" dur="500"/>
                                        <p:tgtEl>
                                          <p:spTgt spid="90115">
                                            <p:txEl>
                                              <p:pRg st="9" end="9"/>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90115">
                                            <p:txEl>
                                              <p:pRg st="10" end="10"/>
                                            </p:txEl>
                                          </p:spTgt>
                                        </p:tgtEl>
                                        <p:attrNameLst>
                                          <p:attrName>style.visibility</p:attrName>
                                        </p:attrNameLst>
                                      </p:cBhvr>
                                      <p:to>
                                        <p:strVal val="visible"/>
                                      </p:to>
                                    </p:set>
                                    <p:animEffect transition="in" filter="box(in)">
                                      <p:cBhvr>
                                        <p:cTn id="62" dur="500"/>
                                        <p:tgtEl>
                                          <p:spTgt spid="9011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p:bldP spid="90115"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685800" y="0"/>
            <a:ext cx="7772400" cy="1219200"/>
          </a:xfrm>
        </p:spPr>
        <p:txBody>
          <a:bodyPr/>
          <a:lstStyle/>
          <a:p>
            <a:pPr eaLnBrk="1" hangingPunct="1"/>
            <a:r>
              <a:rPr lang="en-US" sz="3600" b="1" smtClean="0"/>
              <a:t>Multiple Chemical Equilibria</a:t>
            </a:r>
            <a:br>
              <a:rPr lang="en-US" sz="3600" b="1" smtClean="0"/>
            </a:br>
            <a:r>
              <a:rPr lang="en-US" sz="3600" b="1" smtClean="0"/>
              <a:t>Example Problem  (2)</a:t>
            </a:r>
          </a:p>
        </p:txBody>
      </p:sp>
      <p:sp>
        <p:nvSpPr>
          <p:cNvPr id="91139" name="Rectangle 3"/>
          <p:cNvSpPr>
            <a:spLocks noGrp="1" noChangeArrowheads="1"/>
          </p:cNvSpPr>
          <p:nvPr>
            <p:ph type="body" idx="1"/>
          </p:nvPr>
        </p:nvSpPr>
        <p:spPr>
          <a:xfrm>
            <a:off x="0" y="1219200"/>
            <a:ext cx="9144000" cy="5638800"/>
          </a:xfrm>
        </p:spPr>
        <p:txBody>
          <a:bodyPr/>
          <a:lstStyle/>
          <a:p>
            <a:pPr eaLnBrk="1" hangingPunct="1"/>
            <a:r>
              <a:rPr lang="en-US" sz="2800" b="1" u="sng" smtClean="0"/>
              <a:t>What is pH of 0.1 M Na</a:t>
            </a:r>
            <a:r>
              <a:rPr lang="en-US" sz="2800" b="1" u="sng" baseline="-25000" smtClean="0"/>
              <a:t>3</a:t>
            </a:r>
            <a:r>
              <a:rPr lang="en-US" sz="2800" b="1" u="sng" smtClean="0"/>
              <a:t>PO</a:t>
            </a:r>
            <a:r>
              <a:rPr lang="en-US" sz="2800" b="1" u="sng" baseline="-25000" smtClean="0"/>
              <a:t>4 </a:t>
            </a:r>
            <a:r>
              <a:rPr lang="en-US" sz="2800" b="1" u="sng" smtClean="0"/>
              <a:t>solution?</a:t>
            </a:r>
            <a:r>
              <a:rPr lang="en-US" sz="2800" b="1" smtClean="0"/>
              <a:t> 	(C</a:t>
            </a:r>
            <a:r>
              <a:rPr lang="en-US" sz="2800" b="1" baseline="-25000" smtClean="0"/>
              <a:t>s</a:t>
            </a:r>
            <a:r>
              <a:rPr lang="en-US" sz="2800" b="1" smtClean="0"/>
              <a:t> = 0.1 M)</a:t>
            </a:r>
            <a:endParaRPr lang="en-US" sz="2800" smtClean="0"/>
          </a:p>
          <a:p>
            <a:pPr eaLnBrk="1" hangingPunct="1"/>
            <a:r>
              <a:rPr lang="en-US" sz="2800" smtClean="0"/>
              <a:t>Na</a:t>
            </a:r>
            <a:r>
              <a:rPr lang="en-US" sz="2800" baseline="-25000" smtClean="0"/>
              <a:t>3</a:t>
            </a:r>
            <a:r>
              <a:rPr lang="en-US" sz="2800" smtClean="0"/>
              <a:t>PO</a:t>
            </a:r>
            <a:r>
              <a:rPr lang="en-US" sz="2800" baseline="-25000" smtClean="0"/>
              <a:t>4(s) </a:t>
            </a:r>
            <a:r>
              <a:rPr lang="en-US" sz="2800" smtClean="0">
                <a:sym typeface="Wingdings" pitchFamily="2" charset="2"/>
              </a:rPr>
              <a:t> 3Na</a:t>
            </a:r>
            <a:r>
              <a:rPr lang="en-US" sz="2800" baseline="30000" smtClean="0">
                <a:sym typeface="Wingdings" pitchFamily="2" charset="2"/>
              </a:rPr>
              <a:t>+</a:t>
            </a:r>
            <a:r>
              <a:rPr lang="en-US" sz="2800" smtClean="0">
                <a:sym typeface="Wingdings" pitchFamily="2" charset="2"/>
              </a:rPr>
              <a:t>  +  </a:t>
            </a:r>
            <a:r>
              <a:rPr lang="en-US" sz="2800" smtClean="0"/>
              <a:t>PO</a:t>
            </a:r>
            <a:r>
              <a:rPr lang="en-US" sz="2800" baseline="-25000" smtClean="0"/>
              <a:t>4</a:t>
            </a:r>
            <a:r>
              <a:rPr lang="en-US" sz="2800" baseline="30000" smtClean="0"/>
              <a:t>3-</a:t>
            </a:r>
            <a:endParaRPr lang="en-US" sz="2800" smtClean="0"/>
          </a:p>
          <a:p>
            <a:pPr eaLnBrk="1" hangingPunct="1"/>
            <a:r>
              <a:rPr lang="en-US" sz="2400" b="1" u="sng" smtClean="0">
                <a:solidFill>
                  <a:srgbClr val="0070C0"/>
                </a:solidFill>
              </a:rPr>
              <a:t>Equilibria:</a:t>
            </a:r>
            <a:r>
              <a:rPr lang="en-US" sz="2800" smtClean="0">
                <a:solidFill>
                  <a:srgbClr val="0070C0"/>
                </a:solidFill>
              </a:rPr>
              <a:t>  </a:t>
            </a:r>
          </a:p>
          <a:p>
            <a:pPr eaLnBrk="1" hangingPunct="1"/>
            <a:r>
              <a:rPr lang="en-US" sz="2800" smtClean="0"/>
              <a:t>(1)	 </a:t>
            </a:r>
            <a:r>
              <a:rPr lang="en-US" sz="2400" smtClean="0"/>
              <a:t>PO</a:t>
            </a:r>
            <a:r>
              <a:rPr lang="en-US" sz="2400" baseline="-25000" smtClean="0"/>
              <a:t>4</a:t>
            </a:r>
            <a:r>
              <a:rPr lang="en-US" sz="2400" baseline="30000" smtClean="0"/>
              <a:t>3-  </a:t>
            </a:r>
            <a:r>
              <a:rPr lang="en-US" sz="2400" smtClean="0"/>
              <a:t>+ HOH  </a:t>
            </a:r>
            <a:r>
              <a:rPr lang="en-US" sz="2400" smtClean="0">
                <a:sym typeface="Wingdings" pitchFamily="2" charset="2"/>
              </a:rPr>
              <a:t> HPO</a:t>
            </a:r>
            <a:r>
              <a:rPr lang="en-US" sz="2400" baseline="-25000" smtClean="0">
                <a:sym typeface="Wingdings" pitchFamily="2" charset="2"/>
              </a:rPr>
              <a:t>4</a:t>
            </a:r>
            <a:r>
              <a:rPr lang="en-US" sz="2400" baseline="30000" smtClean="0">
                <a:sym typeface="Wingdings" pitchFamily="2" charset="2"/>
              </a:rPr>
              <a:t>2-</a:t>
            </a:r>
            <a:r>
              <a:rPr lang="en-US" sz="2400" smtClean="0">
                <a:sym typeface="Wingdings" pitchFamily="2" charset="2"/>
              </a:rPr>
              <a:t> + OH</a:t>
            </a:r>
            <a:r>
              <a:rPr lang="en-US" sz="2400" baseline="30000" smtClean="0">
                <a:sym typeface="Wingdings" pitchFamily="2" charset="2"/>
              </a:rPr>
              <a:t>-</a:t>
            </a:r>
            <a:r>
              <a:rPr lang="en-US" sz="2400" smtClean="0">
                <a:sym typeface="Wingdings" pitchFamily="2" charset="2"/>
              </a:rPr>
              <a:t>  	K</a:t>
            </a:r>
            <a:r>
              <a:rPr lang="en-US" sz="2400" baseline="-25000" smtClean="0">
                <a:sym typeface="Wingdings" pitchFamily="2" charset="2"/>
              </a:rPr>
              <a:t>w</a:t>
            </a:r>
            <a:r>
              <a:rPr lang="en-US" sz="2400" smtClean="0">
                <a:sym typeface="Wingdings" pitchFamily="2" charset="2"/>
              </a:rPr>
              <a:t>/K</a:t>
            </a:r>
            <a:r>
              <a:rPr lang="en-US" sz="2400" baseline="-25000" smtClean="0">
                <a:sym typeface="Wingdings" pitchFamily="2" charset="2"/>
              </a:rPr>
              <a:t>a3</a:t>
            </a:r>
            <a:r>
              <a:rPr lang="en-US" sz="2400" smtClean="0">
                <a:sym typeface="Wingdings" pitchFamily="2" charset="2"/>
              </a:rPr>
              <a:t> = 2.38 x 10</a:t>
            </a:r>
            <a:r>
              <a:rPr lang="en-US" sz="2400" baseline="30000" smtClean="0">
                <a:sym typeface="Wingdings" pitchFamily="2" charset="2"/>
              </a:rPr>
              <a:t>-2</a:t>
            </a:r>
            <a:endParaRPr lang="en-US" sz="2400" baseline="30000" smtClean="0"/>
          </a:p>
          <a:p>
            <a:pPr eaLnBrk="1" hangingPunct="1"/>
            <a:r>
              <a:rPr lang="en-US" sz="2800" smtClean="0"/>
              <a:t>(2) </a:t>
            </a:r>
            <a:r>
              <a:rPr lang="en-US" sz="2400" smtClean="0">
                <a:sym typeface="Wingdings" pitchFamily="2" charset="2"/>
              </a:rPr>
              <a:t>HPO</a:t>
            </a:r>
            <a:r>
              <a:rPr lang="en-US" sz="2400" baseline="-25000" smtClean="0">
                <a:sym typeface="Wingdings" pitchFamily="2" charset="2"/>
              </a:rPr>
              <a:t>4</a:t>
            </a:r>
            <a:r>
              <a:rPr lang="en-US" sz="2400" baseline="30000" smtClean="0">
                <a:sym typeface="Wingdings" pitchFamily="2" charset="2"/>
              </a:rPr>
              <a:t>2-</a:t>
            </a:r>
            <a:r>
              <a:rPr lang="en-US" sz="2400" smtClean="0">
                <a:sym typeface="Wingdings" pitchFamily="2" charset="2"/>
              </a:rPr>
              <a:t> + HOH  H</a:t>
            </a:r>
            <a:r>
              <a:rPr lang="en-US" sz="2400" baseline="-25000" smtClean="0">
                <a:sym typeface="Wingdings" pitchFamily="2" charset="2"/>
              </a:rPr>
              <a:t>2</a:t>
            </a:r>
            <a:r>
              <a:rPr lang="en-US" sz="2400" smtClean="0">
                <a:sym typeface="Wingdings" pitchFamily="2" charset="2"/>
              </a:rPr>
              <a:t>PO</a:t>
            </a:r>
            <a:r>
              <a:rPr lang="en-US" sz="2400" baseline="-25000" smtClean="0">
                <a:sym typeface="Wingdings" pitchFamily="2" charset="2"/>
              </a:rPr>
              <a:t>4</a:t>
            </a:r>
            <a:r>
              <a:rPr lang="en-US" sz="2400" baseline="30000" smtClean="0">
                <a:sym typeface="Wingdings" pitchFamily="2" charset="2"/>
              </a:rPr>
              <a:t>-</a:t>
            </a:r>
            <a:r>
              <a:rPr lang="en-US" sz="2400" smtClean="0">
                <a:sym typeface="Wingdings" pitchFamily="2" charset="2"/>
              </a:rPr>
              <a:t> + OH</a:t>
            </a:r>
            <a:r>
              <a:rPr lang="en-US" sz="2400" baseline="30000" smtClean="0">
                <a:sym typeface="Wingdings" pitchFamily="2" charset="2"/>
              </a:rPr>
              <a:t>-</a:t>
            </a:r>
            <a:r>
              <a:rPr lang="en-US" sz="2400" smtClean="0">
                <a:sym typeface="Wingdings" pitchFamily="2" charset="2"/>
              </a:rPr>
              <a:t> 	K</a:t>
            </a:r>
            <a:r>
              <a:rPr lang="en-US" sz="2400" baseline="-25000" smtClean="0">
                <a:sym typeface="Wingdings" pitchFamily="2" charset="2"/>
              </a:rPr>
              <a:t>w</a:t>
            </a:r>
            <a:r>
              <a:rPr lang="en-US" sz="2400" smtClean="0">
                <a:sym typeface="Wingdings" pitchFamily="2" charset="2"/>
              </a:rPr>
              <a:t>/K</a:t>
            </a:r>
            <a:r>
              <a:rPr lang="en-US" sz="2400" baseline="-25000" smtClean="0">
                <a:sym typeface="Wingdings" pitchFamily="2" charset="2"/>
              </a:rPr>
              <a:t>a2</a:t>
            </a:r>
            <a:r>
              <a:rPr lang="en-US" sz="2400" smtClean="0">
                <a:sym typeface="Wingdings" pitchFamily="2" charset="2"/>
              </a:rPr>
              <a:t> = 1.6 x 10</a:t>
            </a:r>
            <a:r>
              <a:rPr lang="en-US" sz="2400" baseline="30000" smtClean="0">
                <a:sym typeface="Wingdings" pitchFamily="2" charset="2"/>
              </a:rPr>
              <a:t>-9</a:t>
            </a:r>
          </a:p>
          <a:p>
            <a:pPr eaLnBrk="1" hangingPunct="1"/>
            <a:r>
              <a:rPr lang="en-US" sz="2800" b="1" smtClean="0">
                <a:sym typeface="Wingdings" pitchFamily="2" charset="2"/>
              </a:rPr>
              <a:t>(3)</a:t>
            </a:r>
            <a:r>
              <a:rPr lang="en-US" sz="2400" smtClean="0">
                <a:sym typeface="Wingdings" pitchFamily="2" charset="2"/>
              </a:rPr>
              <a:t> H</a:t>
            </a:r>
            <a:r>
              <a:rPr lang="en-US" sz="2400" baseline="-25000" smtClean="0">
                <a:sym typeface="Wingdings" pitchFamily="2" charset="2"/>
              </a:rPr>
              <a:t>2</a:t>
            </a:r>
            <a:r>
              <a:rPr lang="en-US" sz="2400" smtClean="0">
                <a:sym typeface="Wingdings" pitchFamily="2" charset="2"/>
              </a:rPr>
              <a:t>PO</a:t>
            </a:r>
            <a:r>
              <a:rPr lang="en-US" sz="2400" baseline="-25000" smtClean="0">
                <a:sym typeface="Wingdings" pitchFamily="2" charset="2"/>
              </a:rPr>
              <a:t>4</a:t>
            </a:r>
            <a:r>
              <a:rPr lang="en-US" sz="2400" baseline="30000" smtClean="0">
                <a:sym typeface="Wingdings" pitchFamily="2" charset="2"/>
              </a:rPr>
              <a:t>-</a:t>
            </a:r>
            <a:r>
              <a:rPr lang="en-US" sz="2400" smtClean="0">
                <a:sym typeface="Wingdings" pitchFamily="2" charset="2"/>
              </a:rPr>
              <a:t> + HOH  H</a:t>
            </a:r>
            <a:r>
              <a:rPr lang="en-US" sz="2400" baseline="-25000" smtClean="0">
                <a:sym typeface="Wingdings" pitchFamily="2" charset="2"/>
              </a:rPr>
              <a:t>3</a:t>
            </a:r>
            <a:r>
              <a:rPr lang="en-US" sz="2400" smtClean="0">
                <a:sym typeface="Wingdings" pitchFamily="2" charset="2"/>
              </a:rPr>
              <a:t>PO</a:t>
            </a:r>
            <a:r>
              <a:rPr lang="en-US" sz="2400" baseline="-25000" smtClean="0">
                <a:sym typeface="Wingdings" pitchFamily="2" charset="2"/>
              </a:rPr>
              <a:t>4</a:t>
            </a:r>
            <a:r>
              <a:rPr lang="en-US" sz="2400" smtClean="0">
                <a:sym typeface="Wingdings" pitchFamily="2" charset="2"/>
              </a:rPr>
              <a:t>  + OH</a:t>
            </a:r>
            <a:r>
              <a:rPr lang="en-US" sz="2400" baseline="30000" smtClean="0">
                <a:sym typeface="Wingdings" pitchFamily="2" charset="2"/>
              </a:rPr>
              <a:t>-</a:t>
            </a:r>
            <a:r>
              <a:rPr lang="en-US" sz="2400" smtClean="0">
                <a:sym typeface="Wingdings" pitchFamily="2" charset="2"/>
              </a:rPr>
              <a:t> 	K</a:t>
            </a:r>
            <a:r>
              <a:rPr lang="en-US" sz="2400" baseline="-25000" smtClean="0">
                <a:sym typeface="Wingdings" pitchFamily="2" charset="2"/>
              </a:rPr>
              <a:t>w</a:t>
            </a:r>
            <a:r>
              <a:rPr lang="en-US" sz="2400" smtClean="0">
                <a:sym typeface="Wingdings" pitchFamily="2" charset="2"/>
              </a:rPr>
              <a:t>/K</a:t>
            </a:r>
            <a:r>
              <a:rPr lang="en-US" sz="2400" baseline="-25000" smtClean="0">
                <a:sym typeface="Wingdings" pitchFamily="2" charset="2"/>
              </a:rPr>
              <a:t>a1</a:t>
            </a:r>
            <a:r>
              <a:rPr lang="en-US" sz="2400" smtClean="0">
                <a:sym typeface="Wingdings" pitchFamily="2" charset="2"/>
              </a:rPr>
              <a:t> = 1.4 x 10</a:t>
            </a:r>
            <a:r>
              <a:rPr lang="en-US" sz="2400" baseline="30000" smtClean="0">
                <a:sym typeface="Wingdings" pitchFamily="2" charset="2"/>
              </a:rPr>
              <a:t>-12</a:t>
            </a:r>
            <a:endParaRPr lang="en-US" sz="2400" smtClean="0">
              <a:sym typeface="Wingdings" pitchFamily="2" charset="2"/>
            </a:endParaRPr>
          </a:p>
          <a:p>
            <a:pPr eaLnBrk="1" hangingPunct="1"/>
            <a:r>
              <a:rPr lang="en-US" sz="2800" b="1" smtClean="0">
                <a:sym typeface="Wingdings" pitchFamily="2" charset="2"/>
              </a:rPr>
              <a:t>(4) </a:t>
            </a:r>
            <a:r>
              <a:rPr lang="en-US" sz="2400" smtClean="0">
                <a:sym typeface="Wingdings" pitchFamily="2" charset="2"/>
              </a:rPr>
              <a:t>HOH   + HOH    H</a:t>
            </a:r>
            <a:r>
              <a:rPr lang="en-US" sz="2400" baseline="-25000" smtClean="0">
                <a:sym typeface="Wingdings" pitchFamily="2" charset="2"/>
              </a:rPr>
              <a:t>3</a:t>
            </a:r>
            <a:r>
              <a:rPr lang="en-US" sz="2400" smtClean="0">
                <a:sym typeface="Wingdings" pitchFamily="2" charset="2"/>
              </a:rPr>
              <a:t>O</a:t>
            </a:r>
            <a:r>
              <a:rPr lang="en-US" sz="2400" baseline="30000" smtClean="0">
                <a:sym typeface="Wingdings" pitchFamily="2" charset="2"/>
              </a:rPr>
              <a:t>+</a:t>
            </a:r>
            <a:r>
              <a:rPr lang="en-US" sz="2400" smtClean="0">
                <a:sym typeface="Wingdings" pitchFamily="2" charset="2"/>
              </a:rPr>
              <a:t>    + OH</a:t>
            </a:r>
            <a:r>
              <a:rPr lang="en-US" sz="2400" baseline="30000" smtClean="0">
                <a:sym typeface="Wingdings" pitchFamily="2" charset="2"/>
              </a:rPr>
              <a:t>-	</a:t>
            </a:r>
            <a:r>
              <a:rPr lang="en-US" sz="2400" smtClean="0">
                <a:sym typeface="Wingdings" pitchFamily="2" charset="2"/>
              </a:rPr>
              <a:t>K</a:t>
            </a:r>
            <a:r>
              <a:rPr lang="en-US" sz="2400" baseline="-25000" smtClean="0">
                <a:sym typeface="Wingdings" pitchFamily="2" charset="2"/>
              </a:rPr>
              <a:t>w</a:t>
            </a:r>
            <a:r>
              <a:rPr lang="en-US" sz="2400" smtClean="0">
                <a:sym typeface="Wingdings" pitchFamily="2" charset="2"/>
              </a:rPr>
              <a:t> = 1.0 x 10</a:t>
            </a:r>
            <a:r>
              <a:rPr lang="en-US" sz="2400" baseline="30000" smtClean="0">
                <a:sym typeface="Wingdings" pitchFamily="2" charset="2"/>
              </a:rPr>
              <a:t>-14</a:t>
            </a:r>
          </a:p>
          <a:p>
            <a:pPr eaLnBrk="1" hangingPunct="1"/>
            <a:r>
              <a:rPr lang="en-US" sz="2400" b="1" u="sng" smtClean="0">
                <a:solidFill>
                  <a:srgbClr val="0070C0"/>
                </a:solidFill>
                <a:sym typeface="Wingdings" pitchFamily="2" charset="2"/>
              </a:rPr>
              <a:t>Mass Balance Equations:</a:t>
            </a:r>
          </a:p>
          <a:p>
            <a:pPr eaLnBrk="1" hangingPunct="1"/>
            <a:r>
              <a:rPr lang="en-US" sz="2800" smtClean="0">
                <a:sym typeface="Wingdings" pitchFamily="2" charset="2"/>
              </a:rPr>
              <a:t>(5) </a:t>
            </a:r>
            <a:r>
              <a:rPr lang="en-US" sz="2400" smtClean="0">
                <a:sym typeface="Wingdings" pitchFamily="2" charset="2"/>
              </a:rPr>
              <a:t>C</a:t>
            </a:r>
            <a:r>
              <a:rPr lang="en-US" sz="2400" baseline="-25000" smtClean="0">
                <a:sym typeface="Wingdings" pitchFamily="2" charset="2"/>
              </a:rPr>
              <a:t>s</a:t>
            </a:r>
            <a:r>
              <a:rPr lang="en-US" sz="2400" smtClean="0">
                <a:sym typeface="Wingdings" pitchFamily="2" charset="2"/>
              </a:rPr>
              <a:t> </a:t>
            </a:r>
            <a:r>
              <a:rPr lang="en-US" sz="2800" smtClean="0">
                <a:sym typeface="Wingdings" pitchFamily="2" charset="2"/>
              </a:rPr>
              <a:t>= </a:t>
            </a:r>
            <a:r>
              <a:rPr lang="en-US" sz="2400" smtClean="0">
                <a:sym typeface="Wingdings" pitchFamily="2" charset="2"/>
              </a:rPr>
              <a:t>[</a:t>
            </a:r>
            <a:r>
              <a:rPr lang="en-US" sz="2400" smtClean="0"/>
              <a:t>PO</a:t>
            </a:r>
            <a:r>
              <a:rPr lang="en-US" sz="2400" baseline="-25000" smtClean="0"/>
              <a:t>4</a:t>
            </a:r>
            <a:r>
              <a:rPr lang="en-US" sz="2400" baseline="30000" smtClean="0"/>
              <a:t>3-</a:t>
            </a:r>
            <a:r>
              <a:rPr lang="en-US" sz="2400" smtClean="0"/>
              <a:t>] + [</a:t>
            </a:r>
            <a:r>
              <a:rPr lang="en-US" sz="2400" smtClean="0">
                <a:sym typeface="Wingdings" pitchFamily="2" charset="2"/>
              </a:rPr>
              <a:t>HPO</a:t>
            </a:r>
            <a:r>
              <a:rPr lang="en-US" sz="2400" baseline="-25000" smtClean="0">
                <a:sym typeface="Wingdings" pitchFamily="2" charset="2"/>
              </a:rPr>
              <a:t>4</a:t>
            </a:r>
            <a:r>
              <a:rPr lang="en-US" sz="2400" baseline="30000" smtClean="0">
                <a:sym typeface="Wingdings" pitchFamily="2" charset="2"/>
              </a:rPr>
              <a:t>2-</a:t>
            </a:r>
            <a:r>
              <a:rPr lang="en-US" sz="2400" smtClean="0">
                <a:sym typeface="Wingdings" pitchFamily="2" charset="2"/>
              </a:rPr>
              <a:t>] + [H</a:t>
            </a:r>
            <a:r>
              <a:rPr lang="en-US" sz="2400" baseline="-25000" smtClean="0">
                <a:sym typeface="Wingdings" pitchFamily="2" charset="2"/>
              </a:rPr>
              <a:t>2</a:t>
            </a:r>
            <a:r>
              <a:rPr lang="en-US" sz="2400" smtClean="0">
                <a:sym typeface="Wingdings" pitchFamily="2" charset="2"/>
              </a:rPr>
              <a:t>PO</a:t>
            </a:r>
            <a:r>
              <a:rPr lang="en-US" sz="2400" baseline="-25000" smtClean="0">
                <a:sym typeface="Wingdings" pitchFamily="2" charset="2"/>
              </a:rPr>
              <a:t>4</a:t>
            </a:r>
            <a:r>
              <a:rPr lang="en-US" sz="2400" baseline="30000" smtClean="0">
                <a:sym typeface="Wingdings" pitchFamily="2" charset="2"/>
              </a:rPr>
              <a:t>-</a:t>
            </a:r>
            <a:r>
              <a:rPr lang="en-US" sz="2400" smtClean="0">
                <a:sym typeface="Wingdings" pitchFamily="2" charset="2"/>
              </a:rPr>
              <a:t>] + [H</a:t>
            </a:r>
            <a:r>
              <a:rPr lang="en-US" sz="2400" baseline="-25000" smtClean="0">
                <a:sym typeface="Wingdings" pitchFamily="2" charset="2"/>
              </a:rPr>
              <a:t>3</a:t>
            </a:r>
            <a:r>
              <a:rPr lang="en-US" sz="2400" smtClean="0">
                <a:sym typeface="Wingdings" pitchFamily="2" charset="2"/>
              </a:rPr>
              <a:t>PO</a:t>
            </a:r>
            <a:r>
              <a:rPr lang="en-US" sz="2400" baseline="-25000" smtClean="0">
                <a:sym typeface="Wingdings" pitchFamily="2" charset="2"/>
              </a:rPr>
              <a:t>4</a:t>
            </a:r>
            <a:r>
              <a:rPr lang="en-US" sz="2400" smtClean="0">
                <a:sym typeface="Wingdings" pitchFamily="2" charset="2"/>
              </a:rPr>
              <a:t>]</a:t>
            </a:r>
          </a:p>
          <a:p>
            <a:pPr eaLnBrk="1" hangingPunct="1"/>
            <a:r>
              <a:rPr lang="en-US" sz="2800" smtClean="0">
                <a:sym typeface="Wingdings" pitchFamily="2" charset="2"/>
              </a:rPr>
              <a:t>(6) </a:t>
            </a:r>
            <a:r>
              <a:rPr lang="en-US" sz="2400" smtClean="0">
                <a:sym typeface="Wingdings" pitchFamily="2" charset="2"/>
              </a:rPr>
              <a:t>[OH</a:t>
            </a:r>
            <a:r>
              <a:rPr lang="en-US" sz="2400" baseline="30000" smtClean="0">
                <a:sym typeface="Wingdings" pitchFamily="2" charset="2"/>
              </a:rPr>
              <a:t>-</a:t>
            </a:r>
            <a:r>
              <a:rPr lang="en-US" sz="2400" smtClean="0">
                <a:sym typeface="Wingdings" pitchFamily="2" charset="2"/>
              </a:rPr>
              <a:t>] = [</a:t>
            </a:r>
            <a:r>
              <a:rPr lang="en-US" sz="2400" smtClean="0"/>
              <a:t>H</a:t>
            </a:r>
            <a:r>
              <a:rPr lang="en-US" sz="2400" baseline="-25000" smtClean="0"/>
              <a:t>3</a:t>
            </a:r>
            <a:r>
              <a:rPr lang="en-US" sz="2400" smtClean="0"/>
              <a:t>O</a:t>
            </a:r>
            <a:r>
              <a:rPr lang="en-US" sz="2400" baseline="30000" smtClean="0"/>
              <a:t>+</a:t>
            </a:r>
            <a:r>
              <a:rPr lang="en-US" sz="2400" smtClean="0"/>
              <a:t>] + [</a:t>
            </a:r>
            <a:r>
              <a:rPr lang="en-US" sz="2400" smtClean="0">
                <a:sym typeface="Wingdings" pitchFamily="2" charset="2"/>
              </a:rPr>
              <a:t>HPO</a:t>
            </a:r>
            <a:r>
              <a:rPr lang="en-US" sz="2400" baseline="-25000" smtClean="0">
                <a:sym typeface="Wingdings" pitchFamily="2" charset="2"/>
              </a:rPr>
              <a:t>4</a:t>
            </a:r>
            <a:r>
              <a:rPr lang="en-US" sz="2400" baseline="30000" smtClean="0">
                <a:sym typeface="Wingdings" pitchFamily="2" charset="2"/>
              </a:rPr>
              <a:t>2-</a:t>
            </a:r>
            <a:r>
              <a:rPr lang="en-US" sz="2400" smtClean="0">
                <a:sym typeface="Wingdings" pitchFamily="2" charset="2"/>
              </a:rPr>
              <a:t>] + [H</a:t>
            </a:r>
            <a:r>
              <a:rPr lang="en-US" sz="2400" baseline="-25000" smtClean="0">
                <a:sym typeface="Wingdings" pitchFamily="2" charset="2"/>
              </a:rPr>
              <a:t>2</a:t>
            </a:r>
            <a:r>
              <a:rPr lang="en-US" sz="2400" smtClean="0">
                <a:sym typeface="Wingdings" pitchFamily="2" charset="2"/>
              </a:rPr>
              <a:t>PO</a:t>
            </a:r>
            <a:r>
              <a:rPr lang="en-US" sz="2400" baseline="-25000" smtClean="0">
                <a:sym typeface="Wingdings" pitchFamily="2" charset="2"/>
              </a:rPr>
              <a:t>4</a:t>
            </a:r>
            <a:r>
              <a:rPr lang="en-US" sz="2400" baseline="30000" smtClean="0">
                <a:sym typeface="Wingdings" pitchFamily="2" charset="2"/>
              </a:rPr>
              <a:t>-</a:t>
            </a:r>
            <a:r>
              <a:rPr lang="en-US" sz="2400" smtClean="0">
                <a:sym typeface="Wingdings" pitchFamily="2" charset="2"/>
              </a:rPr>
              <a:t>] + [H</a:t>
            </a:r>
            <a:r>
              <a:rPr lang="en-US" sz="2400" baseline="-25000" smtClean="0">
                <a:sym typeface="Wingdings" pitchFamily="2" charset="2"/>
              </a:rPr>
              <a:t>3</a:t>
            </a:r>
            <a:r>
              <a:rPr lang="en-US" sz="2400" smtClean="0">
                <a:sym typeface="Wingdings" pitchFamily="2" charset="2"/>
              </a:rPr>
              <a:t>PO</a:t>
            </a:r>
            <a:r>
              <a:rPr lang="en-US" sz="2400" baseline="-25000" smtClean="0">
                <a:sym typeface="Wingdings" pitchFamily="2" charset="2"/>
              </a:rPr>
              <a:t>4</a:t>
            </a:r>
            <a:r>
              <a:rPr lang="en-US" sz="2400" smtClean="0">
                <a:sym typeface="Wingdings" pitchFamily="2" charset="2"/>
              </a:rPr>
              <a:t>]</a:t>
            </a:r>
          </a:p>
          <a:p>
            <a:pPr eaLnBrk="1" hangingPunct="1"/>
            <a:r>
              <a:rPr lang="en-US" sz="2400" smtClean="0">
                <a:sym typeface="Wingdings" pitchFamily="2" charset="2"/>
              </a:rPr>
              <a:t>(*) K</a:t>
            </a:r>
            <a:r>
              <a:rPr lang="en-US" sz="2400" baseline="-25000" smtClean="0">
                <a:sym typeface="Wingdings" pitchFamily="2" charset="2"/>
              </a:rPr>
              <a:t>a1 </a:t>
            </a:r>
            <a:r>
              <a:rPr lang="en-US" sz="2400" smtClean="0">
                <a:sym typeface="Wingdings" pitchFamily="2" charset="2"/>
              </a:rPr>
              <a:t>= 7.1 x 10</a:t>
            </a:r>
            <a:r>
              <a:rPr lang="en-US" sz="2400" baseline="30000" smtClean="0">
                <a:sym typeface="Wingdings" pitchFamily="2" charset="2"/>
              </a:rPr>
              <a:t>-3</a:t>
            </a:r>
            <a:r>
              <a:rPr lang="en-US" sz="2400" smtClean="0">
                <a:sym typeface="Wingdings" pitchFamily="2" charset="2"/>
              </a:rPr>
              <a:t>		K</a:t>
            </a:r>
            <a:r>
              <a:rPr lang="en-US" sz="2400" baseline="-25000" smtClean="0">
                <a:sym typeface="Wingdings" pitchFamily="2" charset="2"/>
              </a:rPr>
              <a:t>a2</a:t>
            </a:r>
            <a:r>
              <a:rPr lang="en-US" sz="2400" baseline="30000" smtClean="0">
                <a:sym typeface="Wingdings" pitchFamily="2" charset="2"/>
              </a:rPr>
              <a:t> </a:t>
            </a:r>
            <a:r>
              <a:rPr lang="en-US" sz="2400" smtClean="0">
                <a:sym typeface="Wingdings" pitchFamily="2" charset="2"/>
              </a:rPr>
              <a:t> = 6.3 x 10</a:t>
            </a:r>
            <a:r>
              <a:rPr lang="en-US" sz="2400" baseline="30000" smtClean="0">
                <a:sym typeface="Wingdings" pitchFamily="2" charset="2"/>
              </a:rPr>
              <a:t>-8	</a:t>
            </a:r>
            <a:r>
              <a:rPr lang="en-US" sz="2400" smtClean="0">
                <a:sym typeface="Wingdings" pitchFamily="2" charset="2"/>
              </a:rPr>
              <a:t>K</a:t>
            </a:r>
            <a:r>
              <a:rPr lang="en-US" sz="2400" baseline="-25000" smtClean="0">
                <a:sym typeface="Wingdings" pitchFamily="2" charset="2"/>
              </a:rPr>
              <a:t>a3 </a:t>
            </a:r>
            <a:r>
              <a:rPr lang="en-US" sz="2400" smtClean="0">
                <a:sym typeface="Wingdings" pitchFamily="2" charset="2"/>
              </a:rPr>
              <a:t>= 4.2 x 10</a:t>
            </a:r>
            <a:r>
              <a:rPr lang="en-US" sz="2400" baseline="30000" smtClean="0">
                <a:sym typeface="Wingdings" pitchFamily="2" charset="2"/>
              </a:rPr>
              <a:t>-13</a:t>
            </a:r>
            <a:endParaRPr lang="en-US" sz="2400" baseline="-25000" smtClean="0">
              <a:sym typeface="Wingdings" pitchFamily="2" charset="2"/>
            </a:endParaRPr>
          </a:p>
        </p:txBody>
      </p:sp>
      <p:sp>
        <p:nvSpPr>
          <p:cNvPr id="99332"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7513D2B5-73C1-4103-BF31-21042D38F8B7}" type="datetime1">
              <a:rPr lang="en-US" sz="1400" smtClean="0"/>
              <a:pPr eaLnBrk="1" hangingPunct="1"/>
              <a:t>5/6/2021</a:t>
            </a:fld>
            <a:endParaRPr lang="en-US" sz="1400" smtClean="0"/>
          </a:p>
        </p:txBody>
      </p:sp>
      <p:sp>
        <p:nvSpPr>
          <p:cNvPr id="99333"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9EDC53F4-97BB-447E-8139-436EC77BB1EF}" type="slidenum">
              <a:rPr lang="en-US" sz="1400" smtClean="0"/>
              <a:pPr eaLnBrk="1" hangingPunct="1"/>
              <a:t>94</a:t>
            </a:fld>
            <a:endParaRPr lang="en-US" sz="1400" smtClean="0"/>
          </a:p>
        </p:txBody>
      </p:sp>
      <p:sp>
        <p:nvSpPr>
          <p:cNvPr id="99334"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3936606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1138"/>
                                        </p:tgtEl>
                                        <p:attrNameLst>
                                          <p:attrName>style.visibility</p:attrName>
                                        </p:attrNameLst>
                                      </p:cBhvr>
                                      <p:to>
                                        <p:strVal val="visible"/>
                                      </p:to>
                                    </p:set>
                                    <p:animEffect transition="in" filter="box(in)">
                                      <p:cBhvr>
                                        <p:cTn id="7" dur="500"/>
                                        <p:tgtEl>
                                          <p:spTgt spid="911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1139">
                                            <p:txEl>
                                              <p:pRg st="0" end="0"/>
                                            </p:txEl>
                                          </p:spTgt>
                                        </p:tgtEl>
                                        <p:attrNameLst>
                                          <p:attrName>style.visibility</p:attrName>
                                        </p:attrNameLst>
                                      </p:cBhvr>
                                      <p:to>
                                        <p:strVal val="visible"/>
                                      </p:to>
                                    </p:set>
                                    <p:animEffect transition="in" filter="box(in)">
                                      <p:cBhvr>
                                        <p:cTn id="12" dur="500"/>
                                        <p:tgtEl>
                                          <p:spTgt spid="9113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91139">
                                            <p:txEl>
                                              <p:pRg st="1" end="1"/>
                                            </p:txEl>
                                          </p:spTgt>
                                        </p:tgtEl>
                                        <p:attrNameLst>
                                          <p:attrName>style.visibility</p:attrName>
                                        </p:attrNameLst>
                                      </p:cBhvr>
                                      <p:to>
                                        <p:strVal val="visible"/>
                                      </p:to>
                                    </p:set>
                                    <p:animEffect transition="in" filter="box(in)">
                                      <p:cBhvr>
                                        <p:cTn id="17" dur="500"/>
                                        <p:tgtEl>
                                          <p:spTgt spid="9113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91139">
                                            <p:txEl>
                                              <p:pRg st="2" end="2"/>
                                            </p:txEl>
                                          </p:spTgt>
                                        </p:tgtEl>
                                        <p:attrNameLst>
                                          <p:attrName>style.visibility</p:attrName>
                                        </p:attrNameLst>
                                      </p:cBhvr>
                                      <p:to>
                                        <p:strVal val="visible"/>
                                      </p:to>
                                    </p:set>
                                    <p:animEffect transition="in" filter="box(in)">
                                      <p:cBhvr>
                                        <p:cTn id="22" dur="500"/>
                                        <p:tgtEl>
                                          <p:spTgt spid="91139">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91139">
                                            <p:txEl>
                                              <p:pRg st="3" end="3"/>
                                            </p:txEl>
                                          </p:spTgt>
                                        </p:tgtEl>
                                        <p:attrNameLst>
                                          <p:attrName>style.visibility</p:attrName>
                                        </p:attrNameLst>
                                      </p:cBhvr>
                                      <p:to>
                                        <p:strVal val="visible"/>
                                      </p:to>
                                    </p:set>
                                    <p:animEffect transition="in" filter="box(in)">
                                      <p:cBhvr>
                                        <p:cTn id="27" dur="500"/>
                                        <p:tgtEl>
                                          <p:spTgt spid="91139">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91139">
                                            <p:txEl>
                                              <p:pRg st="4" end="4"/>
                                            </p:txEl>
                                          </p:spTgt>
                                        </p:tgtEl>
                                        <p:attrNameLst>
                                          <p:attrName>style.visibility</p:attrName>
                                        </p:attrNameLst>
                                      </p:cBhvr>
                                      <p:to>
                                        <p:strVal val="visible"/>
                                      </p:to>
                                    </p:set>
                                    <p:animEffect transition="in" filter="box(in)">
                                      <p:cBhvr>
                                        <p:cTn id="32" dur="500"/>
                                        <p:tgtEl>
                                          <p:spTgt spid="91139">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91139">
                                            <p:txEl>
                                              <p:pRg st="5" end="5"/>
                                            </p:txEl>
                                          </p:spTgt>
                                        </p:tgtEl>
                                        <p:attrNameLst>
                                          <p:attrName>style.visibility</p:attrName>
                                        </p:attrNameLst>
                                      </p:cBhvr>
                                      <p:to>
                                        <p:strVal val="visible"/>
                                      </p:to>
                                    </p:set>
                                    <p:animEffect transition="in" filter="box(in)">
                                      <p:cBhvr>
                                        <p:cTn id="37" dur="500"/>
                                        <p:tgtEl>
                                          <p:spTgt spid="91139">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91139">
                                            <p:txEl>
                                              <p:pRg st="6" end="6"/>
                                            </p:txEl>
                                          </p:spTgt>
                                        </p:tgtEl>
                                        <p:attrNameLst>
                                          <p:attrName>style.visibility</p:attrName>
                                        </p:attrNameLst>
                                      </p:cBhvr>
                                      <p:to>
                                        <p:strVal val="visible"/>
                                      </p:to>
                                    </p:set>
                                    <p:animEffect transition="in" filter="box(in)">
                                      <p:cBhvr>
                                        <p:cTn id="42" dur="500"/>
                                        <p:tgtEl>
                                          <p:spTgt spid="91139">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91139">
                                            <p:txEl>
                                              <p:pRg st="7" end="7"/>
                                            </p:txEl>
                                          </p:spTgt>
                                        </p:tgtEl>
                                        <p:attrNameLst>
                                          <p:attrName>style.visibility</p:attrName>
                                        </p:attrNameLst>
                                      </p:cBhvr>
                                      <p:to>
                                        <p:strVal val="visible"/>
                                      </p:to>
                                    </p:set>
                                    <p:animEffect transition="in" filter="box(in)">
                                      <p:cBhvr>
                                        <p:cTn id="47" dur="500"/>
                                        <p:tgtEl>
                                          <p:spTgt spid="91139">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91139">
                                            <p:txEl>
                                              <p:pRg st="8" end="8"/>
                                            </p:txEl>
                                          </p:spTgt>
                                        </p:tgtEl>
                                        <p:attrNameLst>
                                          <p:attrName>style.visibility</p:attrName>
                                        </p:attrNameLst>
                                      </p:cBhvr>
                                      <p:to>
                                        <p:strVal val="visible"/>
                                      </p:to>
                                    </p:set>
                                    <p:animEffect transition="in" filter="box(in)">
                                      <p:cBhvr>
                                        <p:cTn id="52" dur="500"/>
                                        <p:tgtEl>
                                          <p:spTgt spid="91139">
                                            <p:txEl>
                                              <p:pRg st="8" end="8"/>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91139">
                                            <p:txEl>
                                              <p:pRg st="9" end="9"/>
                                            </p:txEl>
                                          </p:spTgt>
                                        </p:tgtEl>
                                        <p:attrNameLst>
                                          <p:attrName>style.visibility</p:attrName>
                                        </p:attrNameLst>
                                      </p:cBhvr>
                                      <p:to>
                                        <p:strVal val="visible"/>
                                      </p:to>
                                    </p:set>
                                    <p:animEffect transition="in" filter="box(in)">
                                      <p:cBhvr>
                                        <p:cTn id="57" dur="500"/>
                                        <p:tgtEl>
                                          <p:spTgt spid="91139">
                                            <p:txEl>
                                              <p:pRg st="9" end="9"/>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91139">
                                            <p:txEl>
                                              <p:pRg st="10" end="10"/>
                                            </p:txEl>
                                          </p:spTgt>
                                        </p:tgtEl>
                                        <p:attrNameLst>
                                          <p:attrName>style.visibility</p:attrName>
                                        </p:attrNameLst>
                                      </p:cBhvr>
                                      <p:to>
                                        <p:strVal val="visible"/>
                                      </p:to>
                                    </p:set>
                                    <p:animEffect transition="in" filter="box(in)">
                                      <p:cBhvr>
                                        <p:cTn id="62" dur="500"/>
                                        <p:tgtEl>
                                          <p:spTgt spid="9113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8" grpId="0"/>
      <p:bldP spid="91139"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685800" y="0"/>
            <a:ext cx="7772400" cy="1219200"/>
          </a:xfrm>
        </p:spPr>
        <p:txBody>
          <a:bodyPr/>
          <a:lstStyle/>
          <a:p>
            <a:pPr eaLnBrk="1" hangingPunct="1"/>
            <a:r>
              <a:rPr lang="en-US" sz="3600" b="1" smtClean="0"/>
              <a:t>Multiple Chemical Equilibria</a:t>
            </a:r>
            <a:br>
              <a:rPr lang="en-US" sz="3600" b="1" smtClean="0"/>
            </a:br>
            <a:r>
              <a:rPr lang="en-US" sz="3600" b="1" smtClean="0"/>
              <a:t>Example Problem  (2)</a:t>
            </a:r>
          </a:p>
        </p:txBody>
      </p:sp>
      <p:sp>
        <p:nvSpPr>
          <p:cNvPr id="92163" name="Rectangle 3"/>
          <p:cNvSpPr>
            <a:spLocks noGrp="1" noChangeArrowheads="1"/>
          </p:cNvSpPr>
          <p:nvPr>
            <p:ph type="body" idx="1"/>
          </p:nvPr>
        </p:nvSpPr>
        <p:spPr>
          <a:xfrm>
            <a:off x="228600" y="1600200"/>
            <a:ext cx="8915400" cy="5257800"/>
          </a:xfrm>
        </p:spPr>
        <p:txBody>
          <a:bodyPr/>
          <a:lstStyle/>
          <a:p>
            <a:pPr eaLnBrk="1" hangingPunct="1"/>
            <a:r>
              <a:rPr lang="en-US" sz="2800" b="1" u="sng" smtClean="0"/>
              <a:t>What is pH of 0.1 M Na</a:t>
            </a:r>
            <a:r>
              <a:rPr lang="en-US" sz="2800" b="1" u="sng" baseline="-25000" smtClean="0"/>
              <a:t>3</a:t>
            </a:r>
            <a:r>
              <a:rPr lang="en-US" sz="2800" b="1" u="sng" smtClean="0"/>
              <a:t>PO</a:t>
            </a:r>
            <a:r>
              <a:rPr lang="en-US" sz="2800" b="1" u="sng" baseline="-25000" smtClean="0"/>
              <a:t>4 </a:t>
            </a:r>
            <a:r>
              <a:rPr lang="en-US" sz="2800" b="1" u="sng" smtClean="0"/>
              <a:t>solution?</a:t>
            </a:r>
            <a:r>
              <a:rPr lang="en-US" sz="2800" b="1" smtClean="0"/>
              <a:t> 	(C</a:t>
            </a:r>
            <a:r>
              <a:rPr lang="en-US" sz="2800" b="1" baseline="-25000" smtClean="0"/>
              <a:t>s</a:t>
            </a:r>
            <a:r>
              <a:rPr lang="en-US" sz="2800" b="1" smtClean="0"/>
              <a:t> = 0.1 M)</a:t>
            </a:r>
            <a:endParaRPr lang="en-US" sz="2800" smtClean="0"/>
          </a:p>
          <a:p>
            <a:pPr eaLnBrk="1" hangingPunct="1"/>
            <a:r>
              <a:rPr lang="en-US" b="1" u="sng" smtClean="0"/>
              <a:t>Charge Balance:</a:t>
            </a:r>
            <a:endParaRPr lang="en-US" smtClean="0"/>
          </a:p>
          <a:p>
            <a:pPr eaLnBrk="1" hangingPunct="1"/>
            <a:r>
              <a:rPr lang="en-US" sz="2800" smtClean="0"/>
              <a:t>(7) </a:t>
            </a:r>
            <a:r>
              <a:rPr lang="en-US" sz="2400" smtClean="0"/>
              <a:t>[H</a:t>
            </a:r>
            <a:r>
              <a:rPr lang="en-US" sz="2400" baseline="-25000" smtClean="0"/>
              <a:t>3</a:t>
            </a:r>
            <a:r>
              <a:rPr lang="en-US" sz="2400" smtClean="0"/>
              <a:t>O</a:t>
            </a:r>
            <a:r>
              <a:rPr lang="en-US" sz="2400" baseline="30000" smtClean="0"/>
              <a:t>+</a:t>
            </a:r>
            <a:r>
              <a:rPr lang="en-US" sz="2400" smtClean="0"/>
              <a:t>] + [Na</a:t>
            </a:r>
            <a:r>
              <a:rPr lang="en-US" sz="2400" baseline="30000" smtClean="0"/>
              <a:t>+</a:t>
            </a:r>
            <a:r>
              <a:rPr lang="en-US" sz="2400" smtClean="0"/>
              <a:t>] = [OH</a:t>
            </a:r>
            <a:r>
              <a:rPr lang="en-US" sz="2400" baseline="30000" smtClean="0"/>
              <a:t>-</a:t>
            </a:r>
            <a:r>
              <a:rPr lang="en-US" sz="2400" smtClean="0"/>
              <a:t>] + [H</a:t>
            </a:r>
            <a:r>
              <a:rPr lang="en-US" sz="2400" baseline="-25000" smtClean="0"/>
              <a:t>2</a:t>
            </a:r>
            <a:r>
              <a:rPr lang="en-US" sz="2400" smtClean="0"/>
              <a:t>PO</a:t>
            </a:r>
            <a:r>
              <a:rPr lang="en-US" sz="2400" baseline="-25000" smtClean="0"/>
              <a:t>4</a:t>
            </a:r>
            <a:r>
              <a:rPr lang="en-US" sz="2400" baseline="30000" smtClean="0"/>
              <a:t>-</a:t>
            </a:r>
            <a:r>
              <a:rPr lang="en-US" sz="2400" smtClean="0"/>
              <a:t>] + 2 [HPO</a:t>
            </a:r>
            <a:r>
              <a:rPr lang="en-US" sz="2400" baseline="-25000" smtClean="0"/>
              <a:t>4</a:t>
            </a:r>
            <a:r>
              <a:rPr lang="en-US" sz="2400" baseline="30000" smtClean="0"/>
              <a:t>2-</a:t>
            </a:r>
            <a:r>
              <a:rPr lang="en-US" sz="2400" smtClean="0"/>
              <a:t>] + 3 [PO</a:t>
            </a:r>
            <a:r>
              <a:rPr lang="en-US" sz="2400" baseline="-25000" smtClean="0"/>
              <a:t>4</a:t>
            </a:r>
            <a:r>
              <a:rPr lang="en-US" sz="2400" baseline="30000" smtClean="0"/>
              <a:t>3-</a:t>
            </a:r>
            <a:r>
              <a:rPr lang="en-US" sz="2400" smtClean="0"/>
              <a:t>]</a:t>
            </a:r>
          </a:p>
          <a:p>
            <a:pPr eaLnBrk="1" hangingPunct="1"/>
            <a:r>
              <a:rPr lang="en-US" sz="2400" smtClean="0"/>
              <a:t>Note: [Na</a:t>
            </a:r>
            <a:r>
              <a:rPr lang="en-US" sz="2400" baseline="30000" smtClean="0"/>
              <a:t>+</a:t>
            </a:r>
            <a:r>
              <a:rPr lang="en-US" sz="2400" smtClean="0"/>
              <a:t>] = 3 C</a:t>
            </a:r>
            <a:r>
              <a:rPr lang="en-US" sz="2400" baseline="-25000" smtClean="0"/>
              <a:t>s</a:t>
            </a:r>
            <a:endParaRPr lang="en-US" sz="2400" smtClean="0"/>
          </a:p>
          <a:p>
            <a:pPr eaLnBrk="1" hangingPunct="1"/>
            <a:r>
              <a:rPr lang="en-US" sz="2800" b="1" u="sng" smtClean="0"/>
              <a:t>Is problem solvable?</a:t>
            </a:r>
            <a:endParaRPr lang="en-US" sz="2800" smtClean="0"/>
          </a:p>
          <a:p>
            <a:pPr eaLnBrk="1" hangingPunct="1"/>
            <a:r>
              <a:rPr lang="en-US" sz="2800" smtClean="0"/>
              <a:t>6 unknowns </a:t>
            </a:r>
            <a:r>
              <a:rPr lang="en-US" sz="2400" smtClean="0"/>
              <a:t>[H</a:t>
            </a:r>
            <a:r>
              <a:rPr lang="en-US" sz="2400" baseline="-25000" smtClean="0"/>
              <a:t>3</a:t>
            </a:r>
            <a:r>
              <a:rPr lang="en-US" sz="2400" smtClean="0"/>
              <a:t>O</a:t>
            </a:r>
            <a:r>
              <a:rPr lang="en-US" sz="2400" baseline="30000" smtClean="0"/>
              <a:t>+</a:t>
            </a:r>
            <a:r>
              <a:rPr lang="en-US" sz="2400" smtClean="0"/>
              <a:t>] ,[OH</a:t>
            </a:r>
            <a:r>
              <a:rPr lang="en-US" sz="2400" baseline="30000" smtClean="0"/>
              <a:t>-</a:t>
            </a:r>
            <a:r>
              <a:rPr lang="en-US" sz="2400" smtClean="0"/>
              <a:t>],[H</a:t>
            </a:r>
            <a:r>
              <a:rPr lang="en-US" sz="2400" baseline="-25000" smtClean="0"/>
              <a:t>2</a:t>
            </a:r>
            <a:r>
              <a:rPr lang="en-US" sz="2400" smtClean="0"/>
              <a:t>PO</a:t>
            </a:r>
            <a:r>
              <a:rPr lang="en-US" sz="2400" baseline="-25000" smtClean="0"/>
              <a:t>4</a:t>
            </a:r>
            <a:r>
              <a:rPr lang="en-US" sz="2400" baseline="30000" smtClean="0"/>
              <a:t>-</a:t>
            </a:r>
            <a:r>
              <a:rPr lang="en-US" sz="2400" smtClean="0"/>
              <a:t>],[HPO</a:t>
            </a:r>
            <a:r>
              <a:rPr lang="en-US" sz="2400" baseline="-25000" smtClean="0"/>
              <a:t>4</a:t>
            </a:r>
            <a:r>
              <a:rPr lang="en-US" sz="2400" baseline="30000" smtClean="0"/>
              <a:t>2-</a:t>
            </a:r>
            <a:r>
              <a:rPr lang="en-US" sz="2400" smtClean="0"/>
              <a:t>],[PO</a:t>
            </a:r>
            <a:r>
              <a:rPr lang="en-US" sz="2400" baseline="-25000" smtClean="0"/>
              <a:t>4</a:t>
            </a:r>
            <a:r>
              <a:rPr lang="en-US" sz="2400" baseline="30000" smtClean="0"/>
              <a:t>3-</a:t>
            </a:r>
            <a:r>
              <a:rPr lang="en-US" sz="2400" smtClean="0"/>
              <a:t>], [H</a:t>
            </a:r>
            <a:r>
              <a:rPr lang="en-US" sz="2400" baseline="-25000" smtClean="0"/>
              <a:t>3</a:t>
            </a:r>
            <a:r>
              <a:rPr lang="en-US" sz="2400" smtClean="0"/>
              <a:t>PO</a:t>
            </a:r>
            <a:r>
              <a:rPr lang="en-US" sz="2400" baseline="-25000" smtClean="0"/>
              <a:t>4</a:t>
            </a:r>
            <a:r>
              <a:rPr lang="en-US" sz="2400" smtClean="0"/>
              <a:t>] </a:t>
            </a:r>
          </a:p>
          <a:p>
            <a:pPr eaLnBrk="1" hangingPunct="1"/>
            <a:r>
              <a:rPr lang="en-US" sz="2800" smtClean="0"/>
              <a:t>7 equations (see 1-7)</a:t>
            </a:r>
          </a:p>
          <a:p>
            <a:pPr eaLnBrk="1" hangingPunct="1"/>
            <a:r>
              <a:rPr lang="en-US" sz="2800" smtClean="0"/>
              <a:t>Thus, the problem should be solvable.</a:t>
            </a:r>
          </a:p>
          <a:p>
            <a:pPr eaLnBrk="1" hangingPunct="1">
              <a:buFontTx/>
              <a:buNone/>
            </a:pPr>
            <a:r>
              <a:rPr lang="en-US" sz="2800" b="1" u="sng" smtClean="0"/>
              <a:t> </a:t>
            </a:r>
          </a:p>
        </p:txBody>
      </p:sp>
      <p:sp>
        <p:nvSpPr>
          <p:cNvPr id="100356"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E9CEFA68-2AB7-4679-AEAD-346752611C0E}" type="datetime1">
              <a:rPr lang="en-US" sz="1400" smtClean="0"/>
              <a:pPr eaLnBrk="1" hangingPunct="1"/>
              <a:t>5/6/2021</a:t>
            </a:fld>
            <a:endParaRPr lang="en-US" sz="1400" smtClean="0"/>
          </a:p>
        </p:txBody>
      </p:sp>
      <p:sp>
        <p:nvSpPr>
          <p:cNvPr id="100357"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87DFDF6D-CB90-44A4-AF45-54203B75875D}" type="slidenum">
              <a:rPr lang="en-US" sz="1400" smtClean="0"/>
              <a:pPr eaLnBrk="1" hangingPunct="1"/>
              <a:t>95</a:t>
            </a:fld>
            <a:endParaRPr lang="en-US" sz="1400" smtClean="0"/>
          </a:p>
        </p:txBody>
      </p:sp>
      <p:sp>
        <p:nvSpPr>
          <p:cNvPr id="100358"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29592475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2162"/>
                                        </p:tgtEl>
                                        <p:attrNameLst>
                                          <p:attrName>style.visibility</p:attrName>
                                        </p:attrNameLst>
                                      </p:cBhvr>
                                      <p:to>
                                        <p:strVal val="visible"/>
                                      </p:to>
                                    </p:set>
                                    <p:animEffect transition="in" filter="box(in)">
                                      <p:cBhvr>
                                        <p:cTn id="7" dur="500"/>
                                        <p:tgtEl>
                                          <p:spTgt spid="921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2163">
                                            <p:txEl>
                                              <p:pRg st="0" end="0"/>
                                            </p:txEl>
                                          </p:spTgt>
                                        </p:tgtEl>
                                        <p:attrNameLst>
                                          <p:attrName>style.visibility</p:attrName>
                                        </p:attrNameLst>
                                      </p:cBhvr>
                                      <p:to>
                                        <p:strVal val="visible"/>
                                      </p:to>
                                    </p:set>
                                    <p:animEffect transition="in" filter="box(in)">
                                      <p:cBhvr>
                                        <p:cTn id="12" dur="500"/>
                                        <p:tgtEl>
                                          <p:spTgt spid="9216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92163">
                                            <p:txEl>
                                              <p:pRg st="1" end="1"/>
                                            </p:txEl>
                                          </p:spTgt>
                                        </p:tgtEl>
                                        <p:attrNameLst>
                                          <p:attrName>style.visibility</p:attrName>
                                        </p:attrNameLst>
                                      </p:cBhvr>
                                      <p:to>
                                        <p:strVal val="visible"/>
                                      </p:to>
                                    </p:set>
                                    <p:animEffect transition="in" filter="box(in)">
                                      <p:cBhvr>
                                        <p:cTn id="17" dur="500"/>
                                        <p:tgtEl>
                                          <p:spTgt spid="9216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92163">
                                            <p:txEl>
                                              <p:pRg st="2" end="2"/>
                                            </p:txEl>
                                          </p:spTgt>
                                        </p:tgtEl>
                                        <p:attrNameLst>
                                          <p:attrName>style.visibility</p:attrName>
                                        </p:attrNameLst>
                                      </p:cBhvr>
                                      <p:to>
                                        <p:strVal val="visible"/>
                                      </p:to>
                                    </p:set>
                                    <p:animEffect transition="in" filter="box(in)">
                                      <p:cBhvr>
                                        <p:cTn id="22" dur="500"/>
                                        <p:tgtEl>
                                          <p:spTgt spid="9216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92163">
                                            <p:txEl>
                                              <p:pRg st="3" end="3"/>
                                            </p:txEl>
                                          </p:spTgt>
                                        </p:tgtEl>
                                        <p:attrNameLst>
                                          <p:attrName>style.visibility</p:attrName>
                                        </p:attrNameLst>
                                      </p:cBhvr>
                                      <p:to>
                                        <p:strVal val="visible"/>
                                      </p:to>
                                    </p:set>
                                    <p:animEffect transition="in" filter="box(in)">
                                      <p:cBhvr>
                                        <p:cTn id="27" dur="500"/>
                                        <p:tgtEl>
                                          <p:spTgt spid="9216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92163">
                                            <p:txEl>
                                              <p:pRg st="4" end="4"/>
                                            </p:txEl>
                                          </p:spTgt>
                                        </p:tgtEl>
                                        <p:attrNameLst>
                                          <p:attrName>style.visibility</p:attrName>
                                        </p:attrNameLst>
                                      </p:cBhvr>
                                      <p:to>
                                        <p:strVal val="visible"/>
                                      </p:to>
                                    </p:set>
                                    <p:animEffect transition="in" filter="box(in)">
                                      <p:cBhvr>
                                        <p:cTn id="32" dur="500"/>
                                        <p:tgtEl>
                                          <p:spTgt spid="92163">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92163">
                                            <p:txEl>
                                              <p:pRg st="5" end="5"/>
                                            </p:txEl>
                                          </p:spTgt>
                                        </p:tgtEl>
                                        <p:attrNameLst>
                                          <p:attrName>style.visibility</p:attrName>
                                        </p:attrNameLst>
                                      </p:cBhvr>
                                      <p:to>
                                        <p:strVal val="visible"/>
                                      </p:to>
                                    </p:set>
                                    <p:animEffect transition="in" filter="box(in)">
                                      <p:cBhvr>
                                        <p:cTn id="37" dur="500"/>
                                        <p:tgtEl>
                                          <p:spTgt spid="92163">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92163">
                                            <p:txEl>
                                              <p:pRg st="6" end="6"/>
                                            </p:txEl>
                                          </p:spTgt>
                                        </p:tgtEl>
                                        <p:attrNameLst>
                                          <p:attrName>style.visibility</p:attrName>
                                        </p:attrNameLst>
                                      </p:cBhvr>
                                      <p:to>
                                        <p:strVal val="visible"/>
                                      </p:to>
                                    </p:set>
                                    <p:animEffect transition="in" filter="box(in)">
                                      <p:cBhvr>
                                        <p:cTn id="42" dur="500"/>
                                        <p:tgtEl>
                                          <p:spTgt spid="92163">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92163">
                                            <p:txEl>
                                              <p:pRg st="7" end="7"/>
                                            </p:txEl>
                                          </p:spTgt>
                                        </p:tgtEl>
                                        <p:attrNameLst>
                                          <p:attrName>style.visibility</p:attrName>
                                        </p:attrNameLst>
                                      </p:cBhvr>
                                      <p:to>
                                        <p:strVal val="visible"/>
                                      </p:to>
                                    </p:set>
                                    <p:animEffect transition="in" filter="box(in)">
                                      <p:cBhvr>
                                        <p:cTn id="47" dur="500"/>
                                        <p:tgtEl>
                                          <p:spTgt spid="92163">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92163">
                                            <p:txEl>
                                              <p:pRg st="8" end="8"/>
                                            </p:txEl>
                                          </p:spTgt>
                                        </p:tgtEl>
                                        <p:attrNameLst>
                                          <p:attrName>style.visibility</p:attrName>
                                        </p:attrNameLst>
                                      </p:cBhvr>
                                      <p:to>
                                        <p:strVal val="visible"/>
                                      </p:to>
                                    </p:set>
                                    <p:animEffect transition="in" filter="box(in)">
                                      <p:cBhvr>
                                        <p:cTn id="52" dur="500"/>
                                        <p:tgtEl>
                                          <p:spTgt spid="9216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p:bldP spid="92163"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685800" y="0"/>
            <a:ext cx="7772400" cy="1219200"/>
          </a:xfrm>
        </p:spPr>
        <p:txBody>
          <a:bodyPr/>
          <a:lstStyle/>
          <a:p>
            <a:pPr eaLnBrk="1" hangingPunct="1"/>
            <a:r>
              <a:rPr lang="en-US" sz="3600" b="1" smtClean="0"/>
              <a:t>Multiple Chemical Equilibria</a:t>
            </a:r>
            <a:br>
              <a:rPr lang="en-US" sz="3600" b="1" smtClean="0"/>
            </a:br>
            <a:r>
              <a:rPr lang="en-US" sz="3600" b="1" smtClean="0"/>
              <a:t>Example Problem  (2)</a:t>
            </a:r>
          </a:p>
        </p:txBody>
      </p:sp>
      <p:sp>
        <p:nvSpPr>
          <p:cNvPr id="93187" name="Rectangle 3"/>
          <p:cNvSpPr>
            <a:spLocks noGrp="1" noChangeArrowheads="1"/>
          </p:cNvSpPr>
          <p:nvPr>
            <p:ph type="body" idx="1"/>
          </p:nvPr>
        </p:nvSpPr>
        <p:spPr>
          <a:xfrm>
            <a:off x="228600" y="1219200"/>
            <a:ext cx="8915400" cy="5638800"/>
          </a:xfrm>
        </p:spPr>
        <p:txBody>
          <a:bodyPr/>
          <a:lstStyle/>
          <a:p>
            <a:pPr eaLnBrk="1" hangingPunct="1"/>
            <a:r>
              <a:rPr lang="en-US" sz="2800" b="1" u="sng" smtClean="0"/>
              <a:t>What is pH of 0.1 M Na</a:t>
            </a:r>
            <a:r>
              <a:rPr lang="en-US" sz="2800" b="1" u="sng" baseline="-25000" smtClean="0"/>
              <a:t>3</a:t>
            </a:r>
            <a:r>
              <a:rPr lang="en-US" sz="2800" b="1" u="sng" smtClean="0"/>
              <a:t>PO</a:t>
            </a:r>
            <a:r>
              <a:rPr lang="en-US" sz="2800" b="1" u="sng" baseline="-25000" smtClean="0"/>
              <a:t>4 </a:t>
            </a:r>
            <a:r>
              <a:rPr lang="en-US" sz="2800" b="1" u="sng" smtClean="0"/>
              <a:t>solution?</a:t>
            </a:r>
            <a:r>
              <a:rPr lang="en-US" sz="2800" b="1" smtClean="0"/>
              <a:t> 	(C</a:t>
            </a:r>
            <a:r>
              <a:rPr lang="en-US" sz="2800" b="1" baseline="-25000" smtClean="0"/>
              <a:t>s</a:t>
            </a:r>
            <a:r>
              <a:rPr lang="en-US" sz="2800" b="1" smtClean="0"/>
              <a:t> = 0.1 M)</a:t>
            </a:r>
          </a:p>
          <a:p>
            <a:pPr eaLnBrk="1" hangingPunct="1"/>
            <a:r>
              <a:rPr lang="en-US" sz="2800" b="1" smtClean="0"/>
              <a:t>Assume </a:t>
            </a:r>
            <a:r>
              <a:rPr lang="en-US" sz="2800" smtClean="0">
                <a:sym typeface="Wingdings" pitchFamily="2" charset="2"/>
              </a:rPr>
              <a:t>[</a:t>
            </a:r>
            <a:r>
              <a:rPr lang="en-US" sz="2800" smtClean="0"/>
              <a:t>H</a:t>
            </a:r>
            <a:r>
              <a:rPr lang="en-US" sz="2800" baseline="-25000" smtClean="0"/>
              <a:t>3</a:t>
            </a:r>
            <a:r>
              <a:rPr lang="en-US" sz="2800" smtClean="0"/>
              <a:t>O</a:t>
            </a:r>
            <a:r>
              <a:rPr lang="en-US" sz="2800" baseline="30000" smtClean="0"/>
              <a:t>+</a:t>
            </a:r>
            <a:r>
              <a:rPr lang="en-US" sz="2800" smtClean="0"/>
              <a:t>] </a:t>
            </a:r>
            <a:r>
              <a:rPr lang="en-US" sz="2800" smtClean="0">
                <a:sym typeface="Wingdings" pitchFamily="2" charset="2"/>
              </a:rPr>
              <a:t>+ [H</a:t>
            </a:r>
            <a:r>
              <a:rPr lang="en-US" sz="2800" baseline="-25000" smtClean="0">
                <a:sym typeface="Wingdings" pitchFamily="2" charset="2"/>
              </a:rPr>
              <a:t>2</a:t>
            </a:r>
            <a:r>
              <a:rPr lang="en-US" sz="2800" smtClean="0">
                <a:sym typeface="Wingdings" pitchFamily="2" charset="2"/>
              </a:rPr>
              <a:t>PO</a:t>
            </a:r>
            <a:r>
              <a:rPr lang="en-US" sz="2800" baseline="-25000" smtClean="0">
                <a:sym typeface="Wingdings" pitchFamily="2" charset="2"/>
              </a:rPr>
              <a:t>4</a:t>
            </a:r>
            <a:r>
              <a:rPr lang="en-US" sz="2800" baseline="30000" smtClean="0">
                <a:sym typeface="Wingdings" pitchFamily="2" charset="2"/>
              </a:rPr>
              <a:t>-</a:t>
            </a:r>
            <a:r>
              <a:rPr lang="en-US" sz="2800" smtClean="0">
                <a:sym typeface="Wingdings" pitchFamily="2" charset="2"/>
              </a:rPr>
              <a:t>] + [H</a:t>
            </a:r>
            <a:r>
              <a:rPr lang="en-US" sz="2800" baseline="-25000" smtClean="0">
                <a:sym typeface="Wingdings" pitchFamily="2" charset="2"/>
              </a:rPr>
              <a:t>3</a:t>
            </a:r>
            <a:r>
              <a:rPr lang="en-US" sz="2800" smtClean="0">
                <a:sym typeface="Wingdings" pitchFamily="2" charset="2"/>
              </a:rPr>
              <a:t>PO</a:t>
            </a:r>
            <a:r>
              <a:rPr lang="en-US" sz="2800" baseline="-25000" smtClean="0">
                <a:sym typeface="Wingdings" pitchFamily="2" charset="2"/>
              </a:rPr>
              <a:t>4</a:t>
            </a:r>
            <a:r>
              <a:rPr lang="en-US" sz="2800" smtClean="0">
                <a:sym typeface="Wingdings" pitchFamily="2" charset="2"/>
              </a:rPr>
              <a:t>] &lt;&lt;</a:t>
            </a:r>
            <a:r>
              <a:rPr lang="en-US" sz="2800" smtClean="0"/>
              <a:t> [</a:t>
            </a:r>
            <a:r>
              <a:rPr lang="en-US" sz="2800" smtClean="0">
                <a:sym typeface="Wingdings" pitchFamily="2" charset="2"/>
              </a:rPr>
              <a:t>HPO</a:t>
            </a:r>
            <a:r>
              <a:rPr lang="en-US" sz="2800" baseline="-25000" smtClean="0">
                <a:sym typeface="Wingdings" pitchFamily="2" charset="2"/>
              </a:rPr>
              <a:t>4</a:t>
            </a:r>
            <a:r>
              <a:rPr lang="en-US" sz="2800" baseline="30000" smtClean="0">
                <a:sym typeface="Wingdings" pitchFamily="2" charset="2"/>
              </a:rPr>
              <a:t>2-</a:t>
            </a:r>
            <a:r>
              <a:rPr lang="en-US" sz="2800" smtClean="0">
                <a:sym typeface="Wingdings" pitchFamily="2" charset="2"/>
              </a:rPr>
              <a:t>] </a:t>
            </a:r>
          </a:p>
          <a:p>
            <a:pPr eaLnBrk="1" hangingPunct="1"/>
            <a:r>
              <a:rPr lang="en-US" sz="2800" smtClean="0">
                <a:sym typeface="Wingdings" pitchFamily="2" charset="2"/>
              </a:rPr>
              <a:t>Then from equation (6):   [OH</a:t>
            </a:r>
            <a:r>
              <a:rPr lang="en-US" sz="2800" baseline="30000" smtClean="0">
                <a:sym typeface="Wingdings" pitchFamily="2" charset="2"/>
              </a:rPr>
              <a:t>-</a:t>
            </a:r>
            <a:r>
              <a:rPr lang="en-US" sz="2800" smtClean="0">
                <a:sym typeface="Wingdings" pitchFamily="2" charset="2"/>
              </a:rPr>
              <a:t>] = </a:t>
            </a:r>
            <a:r>
              <a:rPr lang="en-US" sz="2800" smtClean="0"/>
              <a:t> [</a:t>
            </a:r>
            <a:r>
              <a:rPr lang="en-US" sz="2800" smtClean="0">
                <a:sym typeface="Wingdings" pitchFamily="2" charset="2"/>
              </a:rPr>
              <a:t>HPO</a:t>
            </a:r>
            <a:r>
              <a:rPr lang="en-US" sz="2800" baseline="-25000" smtClean="0">
                <a:sym typeface="Wingdings" pitchFamily="2" charset="2"/>
              </a:rPr>
              <a:t>4</a:t>
            </a:r>
            <a:r>
              <a:rPr lang="en-US" sz="2800" baseline="30000" smtClean="0">
                <a:sym typeface="Wingdings" pitchFamily="2" charset="2"/>
              </a:rPr>
              <a:t>2-</a:t>
            </a:r>
            <a:r>
              <a:rPr lang="en-US" sz="2800" smtClean="0">
                <a:sym typeface="Wingdings" pitchFamily="2" charset="2"/>
              </a:rPr>
              <a:t>]  =  x</a:t>
            </a:r>
          </a:p>
          <a:p>
            <a:pPr eaLnBrk="1" hangingPunct="1"/>
            <a:r>
              <a:rPr lang="en-US" sz="2800" smtClean="0">
                <a:sym typeface="Wingdings" pitchFamily="2" charset="2"/>
              </a:rPr>
              <a:t>Also Assume </a:t>
            </a:r>
            <a:r>
              <a:rPr lang="en-US" sz="2800" smtClean="0"/>
              <a:t> [</a:t>
            </a:r>
            <a:r>
              <a:rPr lang="en-US" sz="2800" smtClean="0">
                <a:sym typeface="Wingdings" pitchFamily="2" charset="2"/>
              </a:rPr>
              <a:t>HPO</a:t>
            </a:r>
            <a:r>
              <a:rPr lang="en-US" sz="2800" baseline="-25000" smtClean="0">
                <a:sym typeface="Wingdings" pitchFamily="2" charset="2"/>
              </a:rPr>
              <a:t>4</a:t>
            </a:r>
            <a:r>
              <a:rPr lang="en-US" sz="2800" baseline="30000" smtClean="0">
                <a:sym typeface="Wingdings" pitchFamily="2" charset="2"/>
              </a:rPr>
              <a:t>2-</a:t>
            </a:r>
            <a:r>
              <a:rPr lang="en-US" sz="2800" smtClean="0">
                <a:sym typeface="Wingdings" pitchFamily="2" charset="2"/>
              </a:rPr>
              <a:t>] + [H</a:t>
            </a:r>
            <a:r>
              <a:rPr lang="en-US" sz="2800" baseline="-25000" smtClean="0">
                <a:sym typeface="Wingdings" pitchFamily="2" charset="2"/>
              </a:rPr>
              <a:t>2</a:t>
            </a:r>
            <a:r>
              <a:rPr lang="en-US" sz="2800" smtClean="0">
                <a:sym typeface="Wingdings" pitchFamily="2" charset="2"/>
              </a:rPr>
              <a:t>PO</a:t>
            </a:r>
            <a:r>
              <a:rPr lang="en-US" sz="2800" baseline="-25000" smtClean="0">
                <a:sym typeface="Wingdings" pitchFamily="2" charset="2"/>
              </a:rPr>
              <a:t>4</a:t>
            </a:r>
            <a:r>
              <a:rPr lang="en-US" sz="2800" baseline="30000" smtClean="0">
                <a:sym typeface="Wingdings" pitchFamily="2" charset="2"/>
              </a:rPr>
              <a:t>-</a:t>
            </a:r>
            <a:r>
              <a:rPr lang="en-US" sz="2800" smtClean="0">
                <a:sym typeface="Wingdings" pitchFamily="2" charset="2"/>
              </a:rPr>
              <a:t>] + [H</a:t>
            </a:r>
            <a:r>
              <a:rPr lang="en-US" sz="2800" baseline="-25000" smtClean="0">
                <a:sym typeface="Wingdings" pitchFamily="2" charset="2"/>
              </a:rPr>
              <a:t>3</a:t>
            </a:r>
            <a:r>
              <a:rPr lang="en-US" sz="2800" smtClean="0">
                <a:sym typeface="Wingdings" pitchFamily="2" charset="2"/>
              </a:rPr>
              <a:t>PO</a:t>
            </a:r>
            <a:r>
              <a:rPr lang="en-US" sz="2800" baseline="-25000" smtClean="0">
                <a:sym typeface="Wingdings" pitchFamily="2" charset="2"/>
              </a:rPr>
              <a:t>4</a:t>
            </a:r>
            <a:r>
              <a:rPr lang="en-US" sz="2800" smtClean="0">
                <a:sym typeface="Wingdings" pitchFamily="2" charset="2"/>
              </a:rPr>
              <a:t>] &lt;&lt; [</a:t>
            </a:r>
            <a:r>
              <a:rPr lang="en-US" sz="2800" smtClean="0"/>
              <a:t>PO</a:t>
            </a:r>
            <a:r>
              <a:rPr lang="en-US" sz="2800" baseline="-25000" smtClean="0"/>
              <a:t>4</a:t>
            </a:r>
            <a:r>
              <a:rPr lang="en-US" sz="2800" baseline="30000" smtClean="0"/>
              <a:t>3-</a:t>
            </a:r>
            <a:r>
              <a:rPr lang="en-US" sz="2800" smtClean="0"/>
              <a:t>] </a:t>
            </a:r>
          </a:p>
          <a:p>
            <a:pPr eaLnBrk="1" hangingPunct="1"/>
            <a:r>
              <a:rPr lang="en-US" sz="2800" smtClean="0"/>
              <a:t>Then from equation (5): </a:t>
            </a:r>
            <a:r>
              <a:rPr lang="en-US" sz="2800" smtClean="0">
                <a:sym typeface="Wingdings" pitchFamily="2" charset="2"/>
              </a:rPr>
              <a:t>[</a:t>
            </a:r>
            <a:r>
              <a:rPr lang="en-US" sz="2800" smtClean="0"/>
              <a:t>PO</a:t>
            </a:r>
            <a:r>
              <a:rPr lang="en-US" sz="2800" baseline="-25000" smtClean="0"/>
              <a:t>4</a:t>
            </a:r>
            <a:r>
              <a:rPr lang="en-US" sz="2800" baseline="30000" smtClean="0"/>
              <a:t>3-</a:t>
            </a:r>
            <a:r>
              <a:rPr lang="en-US" sz="2800" smtClean="0"/>
              <a:t>] = C</a:t>
            </a:r>
            <a:r>
              <a:rPr lang="en-US" sz="2800" baseline="-25000" smtClean="0"/>
              <a:t>s</a:t>
            </a:r>
            <a:r>
              <a:rPr lang="en-US" sz="2800" smtClean="0"/>
              <a:t> = 0.1 M</a:t>
            </a:r>
          </a:p>
          <a:p>
            <a:pPr eaLnBrk="1" hangingPunct="1"/>
            <a:r>
              <a:rPr lang="en-US" sz="2800" smtClean="0"/>
              <a:t>equation (1): </a:t>
            </a:r>
            <a:r>
              <a:rPr lang="en-US" sz="2400" smtClean="0"/>
              <a:t>[</a:t>
            </a:r>
            <a:r>
              <a:rPr lang="en-US" sz="2400" smtClean="0">
                <a:sym typeface="Wingdings" pitchFamily="2" charset="2"/>
              </a:rPr>
              <a:t>HPO</a:t>
            </a:r>
            <a:r>
              <a:rPr lang="en-US" sz="2400" baseline="-25000" smtClean="0">
                <a:sym typeface="Wingdings" pitchFamily="2" charset="2"/>
              </a:rPr>
              <a:t>4</a:t>
            </a:r>
            <a:r>
              <a:rPr lang="en-US" sz="2400" baseline="30000" smtClean="0">
                <a:sym typeface="Wingdings" pitchFamily="2" charset="2"/>
              </a:rPr>
              <a:t>2-</a:t>
            </a:r>
            <a:r>
              <a:rPr lang="en-US" sz="2400" smtClean="0">
                <a:sym typeface="Wingdings" pitchFamily="2" charset="2"/>
              </a:rPr>
              <a:t>] [OH</a:t>
            </a:r>
            <a:r>
              <a:rPr lang="en-US" sz="2400" baseline="30000" smtClean="0">
                <a:sym typeface="Wingdings" pitchFamily="2" charset="2"/>
              </a:rPr>
              <a:t>-</a:t>
            </a:r>
            <a:r>
              <a:rPr lang="en-US" sz="2400" smtClean="0">
                <a:sym typeface="Wingdings" pitchFamily="2" charset="2"/>
              </a:rPr>
              <a:t>]/ [</a:t>
            </a:r>
            <a:r>
              <a:rPr lang="en-US" sz="2400" smtClean="0"/>
              <a:t>PO</a:t>
            </a:r>
            <a:r>
              <a:rPr lang="en-US" sz="2400" baseline="-25000" smtClean="0"/>
              <a:t>4</a:t>
            </a:r>
            <a:r>
              <a:rPr lang="en-US" sz="2400" baseline="30000" smtClean="0"/>
              <a:t>3-</a:t>
            </a:r>
            <a:r>
              <a:rPr lang="en-US" sz="2400" smtClean="0"/>
              <a:t>]</a:t>
            </a:r>
            <a:r>
              <a:rPr lang="en-US" sz="2400" smtClean="0">
                <a:sym typeface="Wingdings" pitchFamily="2" charset="2"/>
              </a:rPr>
              <a:t> </a:t>
            </a:r>
            <a:r>
              <a:rPr lang="en-US" sz="2400" smtClean="0"/>
              <a:t>= </a:t>
            </a:r>
            <a:r>
              <a:rPr lang="en-US" sz="2400" smtClean="0">
                <a:sym typeface="Wingdings" pitchFamily="2" charset="2"/>
              </a:rPr>
              <a:t>K</a:t>
            </a:r>
            <a:r>
              <a:rPr lang="en-US" sz="2400" baseline="-25000" smtClean="0">
                <a:sym typeface="Wingdings" pitchFamily="2" charset="2"/>
              </a:rPr>
              <a:t>w</a:t>
            </a:r>
            <a:r>
              <a:rPr lang="en-US" sz="2400" smtClean="0">
                <a:sym typeface="Wingdings" pitchFamily="2" charset="2"/>
              </a:rPr>
              <a:t>/K</a:t>
            </a:r>
            <a:r>
              <a:rPr lang="en-US" sz="2400" baseline="-25000" smtClean="0">
                <a:sym typeface="Wingdings" pitchFamily="2" charset="2"/>
              </a:rPr>
              <a:t>a3</a:t>
            </a:r>
            <a:r>
              <a:rPr lang="en-US" sz="2400" smtClean="0">
                <a:sym typeface="Wingdings" pitchFamily="2" charset="2"/>
              </a:rPr>
              <a:t> = 2.38 x 10</a:t>
            </a:r>
            <a:r>
              <a:rPr lang="en-US" sz="2400" baseline="30000" smtClean="0">
                <a:sym typeface="Wingdings" pitchFamily="2" charset="2"/>
              </a:rPr>
              <a:t>-2</a:t>
            </a:r>
          </a:p>
          <a:p>
            <a:pPr eaLnBrk="1" hangingPunct="1"/>
            <a:r>
              <a:rPr lang="en-US" sz="2800" smtClean="0">
                <a:sym typeface="Wingdings" pitchFamily="2" charset="2"/>
              </a:rPr>
              <a:t>Thus x</a:t>
            </a:r>
            <a:r>
              <a:rPr lang="en-US" sz="2800" baseline="30000" smtClean="0">
                <a:sym typeface="Wingdings" pitchFamily="2" charset="2"/>
              </a:rPr>
              <a:t>2</a:t>
            </a:r>
            <a:r>
              <a:rPr lang="en-US" sz="2800" smtClean="0">
                <a:sym typeface="Wingdings" pitchFamily="2" charset="2"/>
              </a:rPr>
              <a:t>/C</a:t>
            </a:r>
            <a:r>
              <a:rPr lang="en-US" sz="2800" baseline="-25000" smtClean="0">
                <a:sym typeface="Wingdings" pitchFamily="2" charset="2"/>
              </a:rPr>
              <a:t>s </a:t>
            </a:r>
            <a:r>
              <a:rPr lang="en-US" sz="2800" smtClean="0">
                <a:sym typeface="Wingdings" pitchFamily="2" charset="2"/>
              </a:rPr>
              <a:t>= 2.38 x 10</a:t>
            </a:r>
            <a:r>
              <a:rPr lang="en-US" sz="2800" baseline="30000" smtClean="0">
                <a:sym typeface="Wingdings" pitchFamily="2" charset="2"/>
              </a:rPr>
              <a:t>-2</a:t>
            </a:r>
            <a:r>
              <a:rPr lang="en-US" sz="2800" smtClean="0">
                <a:sym typeface="Wingdings" pitchFamily="2" charset="2"/>
              </a:rPr>
              <a:t>	x = [OH</a:t>
            </a:r>
            <a:r>
              <a:rPr lang="en-US" sz="2800" baseline="30000" smtClean="0">
                <a:sym typeface="Wingdings" pitchFamily="2" charset="2"/>
              </a:rPr>
              <a:t>-</a:t>
            </a:r>
            <a:r>
              <a:rPr lang="en-US" sz="2800" smtClean="0">
                <a:sym typeface="Wingdings" pitchFamily="2" charset="2"/>
              </a:rPr>
              <a:t>] = 4.9 x 10</a:t>
            </a:r>
            <a:r>
              <a:rPr lang="en-US" sz="2800" baseline="30000" smtClean="0">
                <a:sym typeface="Wingdings" pitchFamily="2" charset="2"/>
              </a:rPr>
              <a:t>-2</a:t>
            </a:r>
          </a:p>
          <a:p>
            <a:pPr eaLnBrk="1" hangingPunct="1"/>
            <a:r>
              <a:rPr lang="en-US" sz="2800" smtClean="0">
                <a:sym typeface="Wingdings" pitchFamily="2" charset="2"/>
              </a:rPr>
              <a:t>[</a:t>
            </a:r>
            <a:r>
              <a:rPr lang="en-US" sz="2800" smtClean="0"/>
              <a:t>H</a:t>
            </a:r>
            <a:r>
              <a:rPr lang="en-US" sz="2800" baseline="-25000" smtClean="0"/>
              <a:t>3</a:t>
            </a:r>
            <a:r>
              <a:rPr lang="en-US" sz="2800" smtClean="0"/>
              <a:t>O</a:t>
            </a:r>
            <a:r>
              <a:rPr lang="en-US" sz="2800" baseline="30000" smtClean="0"/>
              <a:t>+</a:t>
            </a:r>
            <a:r>
              <a:rPr lang="en-US" sz="2800" smtClean="0"/>
              <a:t>] = K</a:t>
            </a:r>
            <a:r>
              <a:rPr lang="en-US" sz="2800" baseline="-25000" smtClean="0"/>
              <a:t>w</a:t>
            </a:r>
            <a:r>
              <a:rPr lang="en-US" sz="2800" smtClean="0"/>
              <a:t>/[OH</a:t>
            </a:r>
            <a:r>
              <a:rPr lang="en-US" sz="2800" baseline="30000" smtClean="0"/>
              <a:t>-</a:t>
            </a:r>
            <a:r>
              <a:rPr lang="en-US" sz="2800" smtClean="0"/>
              <a:t>] = 2.0 x 10</a:t>
            </a:r>
            <a:r>
              <a:rPr lang="en-US" sz="2800" baseline="30000" smtClean="0"/>
              <a:t>-13</a:t>
            </a:r>
            <a:r>
              <a:rPr lang="en-US" sz="2800" smtClean="0"/>
              <a:t>M</a:t>
            </a:r>
          </a:p>
          <a:p>
            <a:pPr eaLnBrk="1" hangingPunct="1"/>
            <a:r>
              <a:rPr lang="en-US" b="1" smtClean="0"/>
              <a:t>pH = 12.69 (2 sig fig)</a:t>
            </a:r>
            <a:endParaRPr lang="en-US" sz="2800" smtClean="0">
              <a:sym typeface="Wingdings" pitchFamily="2" charset="2"/>
            </a:endParaRPr>
          </a:p>
          <a:p>
            <a:pPr eaLnBrk="1" hangingPunct="1"/>
            <a:r>
              <a:rPr lang="en-US" sz="2800" smtClean="0">
                <a:sym typeface="Wingdings" pitchFamily="2" charset="2"/>
              </a:rPr>
              <a:t>Note: Check assumptions</a:t>
            </a:r>
          </a:p>
        </p:txBody>
      </p:sp>
      <p:sp>
        <p:nvSpPr>
          <p:cNvPr id="101380" name="Date Placeholder 6"/>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D430A6F2-1C2D-4CA8-900B-3753E0573B49}" type="datetime1">
              <a:rPr lang="en-US" sz="1400" smtClean="0"/>
              <a:pPr eaLnBrk="1" hangingPunct="1"/>
              <a:t>5/6/2021</a:t>
            </a:fld>
            <a:endParaRPr lang="en-US" sz="1400" smtClean="0"/>
          </a:p>
        </p:txBody>
      </p:sp>
      <p:sp>
        <p:nvSpPr>
          <p:cNvPr id="101381"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812FDB71-B863-418C-A010-6222840D0968}" type="slidenum">
              <a:rPr lang="en-US" sz="1400" smtClean="0"/>
              <a:pPr eaLnBrk="1" hangingPunct="1"/>
              <a:t>96</a:t>
            </a:fld>
            <a:endParaRPr lang="en-US" sz="1400" smtClean="0"/>
          </a:p>
        </p:txBody>
      </p:sp>
      <p:sp>
        <p:nvSpPr>
          <p:cNvPr id="101382"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smtClean="0"/>
              <a:t>AMH</a:t>
            </a:r>
          </a:p>
        </p:txBody>
      </p:sp>
    </p:spTree>
    <p:extLst>
      <p:ext uri="{BB962C8B-B14F-4D97-AF65-F5344CB8AC3E}">
        <p14:creationId xmlns:p14="http://schemas.microsoft.com/office/powerpoint/2010/main" val="14802315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3186"/>
                                        </p:tgtEl>
                                        <p:attrNameLst>
                                          <p:attrName>style.visibility</p:attrName>
                                        </p:attrNameLst>
                                      </p:cBhvr>
                                      <p:to>
                                        <p:strVal val="visible"/>
                                      </p:to>
                                    </p:set>
                                    <p:animEffect transition="in" filter="box(in)">
                                      <p:cBhvr>
                                        <p:cTn id="7" dur="500"/>
                                        <p:tgtEl>
                                          <p:spTgt spid="931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3187">
                                            <p:txEl>
                                              <p:pRg st="0" end="0"/>
                                            </p:txEl>
                                          </p:spTgt>
                                        </p:tgtEl>
                                        <p:attrNameLst>
                                          <p:attrName>style.visibility</p:attrName>
                                        </p:attrNameLst>
                                      </p:cBhvr>
                                      <p:to>
                                        <p:strVal val="visible"/>
                                      </p:to>
                                    </p:set>
                                    <p:animEffect transition="in" filter="box(in)">
                                      <p:cBhvr>
                                        <p:cTn id="12" dur="500"/>
                                        <p:tgtEl>
                                          <p:spTgt spid="9318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93187">
                                            <p:txEl>
                                              <p:pRg st="1" end="1"/>
                                            </p:txEl>
                                          </p:spTgt>
                                        </p:tgtEl>
                                        <p:attrNameLst>
                                          <p:attrName>style.visibility</p:attrName>
                                        </p:attrNameLst>
                                      </p:cBhvr>
                                      <p:to>
                                        <p:strVal val="visible"/>
                                      </p:to>
                                    </p:set>
                                    <p:animEffect transition="in" filter="box(in)">
                                      <p:cBhvr>
                                        <p:cTn id="17" dur="500"/>
                                        <p:tgtEl>
                                          <p:spTgt spid="9318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93187">
                                            <p:txEl>
                                              <p:pRg st="2" end="2"/>
                                            </p:txEl>
                                          </p:spTgt>
                                        </p:tgtEl>
                                        <p:attrNameLst>
                                          <p:attrName>style.visibility</p:attrName>
                                        </p:attrNameLst>
                                      </p:cBhvr>
                                      <p:to>
                                        <p:strVal val="visible"/>
                                      </p:to>
                                    </p:set>
                                    <p:animEffect transition="in" filter="box(in)">
                                      <p:cBhvr>
                                        <p:cTn id="22" dur="500"/>
                                        <p:tgtEl>
                                          <p:spTgt spid="93187">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93187">
                                            <p:txEl>
                                              <p:pRg st="3" end="3"/>
                                            </p:txEl>
                                          </p:spTgt>
                                        </p:tgtEl>
                                        <p:attrNameLst>
                                          <p:attrName>style.visibility</p:attrName>
                                        </p:attrNameLst>
                                      </p:cBhvr>
                                      <p:to>
                                        <p:strVal val="visible"/>
                                      </p:to>
                                    </p:set>
                                    <p:animEffect transition="in" filter="box(in)">
                                      <p:cBhvr>
                                        <p:cTn id="27" dur="500"/>
                                        <p:tgtEl>
                                          <p:spTgt spid="93187">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93187">
                                            <p:txEl>
                                              <p:pRg st="4" end="4"/>
                                            </p:txEl>
                                          </p:spTgt>
                                        </p:tgtEl>
                                        <p:attrNameLst>
                                          <p:attrName>style.visibility</p:attrName>
                                        </p:attrNameLst>
                                      </p:cBhvr>
                                      <p:to>
                                        <p:strVal val="visible"/>
                                      </p:to>
                                    </p:set>
                                    <p:animEffect transition="in" filter="box(in)">
                                      <p:cBhvr>
                                        <p:cTn id="32" dur="500"/>
                                        <p:tgtEl>
                                          <p:spTgt spid="93187">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93187">
                                            <p:txEl>
                                              <p:pRg st="5" end="5"/>
                                            </p:txEl>
                                          </p:spTgt>
                                        </p:tgtEl>
                                        <p:attrNameLst>
                                          <p:attrName>style.visibility</p:attrName>
                                        </p:attrNameLst>
                                      </p:cBhvr>
                                      <p:to>
                                        <p:strVal val="visible"/>
                                      </p:to>
                                    </p:set>
                                    <p:animEffect transition="in" filter="box(in)">
                                      <p:cBhvr>
                                        <p:cTn id="37" dur="500"/>
                                        <p:tgtEl>
                                          <p:spTgt spid="93187">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93187">
                                            <p:txEl>
                                              <p:pRg st="6" end="6"/>
                                            </p:txEl>
                                          </p:spTgt>
                                        </p:tgtEl>
                                        <p:attrNameLst>
                                          <p:attrName>style.visibility</p:attrName>
                                        </p:attrNameLst>
                                      </p:cBhvr>
                                      <p:to>
                                        <p:strVal val="visible"/>
                                      </p:to>
                                    </p:set>
                                    <p:animEffect transition="in" filter="box(in)">
                                      <p:cBhvr>
                                        <p:cTn id="42" dur="500"/>
                                        <p:tgtEl>
                                          <p:spTgt spid="93187">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93187">
                                            <p:txEl>
                                              <p:pRg st="7" end="7"/>
                                            </p:txEl>
                                          </p:spTgt>
                                        </p:tgtEl>
                                        <p:attrNameLst>
                                          <p:attrName>style.visibility</p:attrName>
                                        </p:attrNameLst>
                                      </p:cBhvr>
                                      <p:to>
                                        <p:strVal val="visible"/>
                                      </p:to>
                                    </p:set>
                                    <p:animEffect transition="in" filter="box(in)">
                                      <p:cBhvr>
                                        <p:cTn id="47" dur="500"/>
                                        <p:tgtEl>
                                          <p:spTgt spid="93187">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93187">
                                            <p:txEl>
                                              <p:pRg st="8" end="8"/>
                                            </p:txEl>
                                          </p:spTgt>
                                        </p:tgtEl>
                                        <p:attrNameLst>
                                          <p:attrName>style.visibility</p:attrName>
                                        </p:attrNameLst>
                                      </p:cBhvr>
                                      <p:to>
                                        <p:strVal val="visible"/>
                                      </p:to>
                                    </p:set>
                                    <p:animEffect transition="in" filter="box(in)">
                                      <p:cBhvr>
                                        <p:cTn id="52" dur="500"/>
                                        <p:tgtEl>
                                          <p:spTgt spid="93187">
                                            <p:txEl>
                                              <p:pRg st="8" end="8"/>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93187">
                                            <p:txEl>
                                              <p:pRg st="9" end="9"/>
                                            </p:txEl>
                                          </p:spTgt>
                                        </p:tgtEl>
                                        <p:attrNameLst>
                                          <p:attrName>style.visibility</p:attrName>
                                        </p:attrNameLst>
                                      </p:cBhvr>
                                      <p:to>
                                        <p:strVal val="visible"/>
                                      </p:to>
                                    </p:set>
                                    <p:animEffect transition="in" filter="box(in)">
                                      <p:cBhvr>
                                        <p:cTn id="57" dur="500"/>
                                        <p:tgtEl>
                                          <p:spTgt spid="9318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p:bldP spid="93187"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883728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4006</Words>
  <Application>Microsoft Office PowerPoint</Application>
  <PresentationFormat>On-screen Show (4:3)</PresentationFormat>
  <Paragraphs>911</Paragraphs>
  <Slides>97</Slides>
  <Notes>1</Notes>
  <HiddenSlides>1</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97</vt:i4>
      </vt:variant>
    </vt:vector>
  </HeadingPairs>
  <TitlesOfParts>
    <vt:vector size="99" baseType="lpstr">
      <vt:lpstr>Office Theme</vt:lpstr>
      <vt:lpstr>Microsoft Equation 3.0</vt:lpstr>
      <vt:lpstr>PowerPoint Presentation</vt:lpstr>
      <vt:lpstr>PowerPoint Presentation</vt:lpstr>
      <vt:lpstr>How to Perform a Successful Gravimetric Analysis</vt:lpstr>
      <vt:lpstr>Gravimetric Analysis </vt:lpstr>
      <vt:lpstr>Gravimetric Analysis…..</vt:lpstr>
      <vt:lpstr>Gravimetric Analysis…..</vt:lpstr>
      <vt:lpstr>Gravimetric Analysis…..</vt:lpstr>
      <vt:lpstr>Gravimetric Analysis</vt:lpstr>
      <vt:lpstr>Gravimetry and Solution Equiliria</vt:lpstr>
      <vt:lpstr>Gravimetric Calculations</vt:lpstr>
      <vt:lpstr> Gravimetric Calculations</vt:lpstr>
      <vt:lpstr>Gravimetric Errors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Problem</vt:lpstr>
      <vt:lpstr>PowerPoint Presentation</vt:lpstr>
      <vt:lpstr>PowerPoint Presentation</vt:lpstr>
      <vt:lpstr>Answer</vt:lpstr>
      <vt:lpstr>PowerPoint Presentation</vt:lpstr>
      <vt:lpstr>Calculating Results from Gravimetric Data</vt:lpstr>
      <vt:lpstr>Calculating Results from Gravimetric Data</vt:lpstr>
      <vt:lpstr>Calculating Results from Gravimetric Data  </vt:lpstr>
      <vt:lpstr>Precipitation Equilibria: The Solubility Product</vt:lpstr>
      <vt:lpstr>Precipitation Equilibria: The Common Ion Effect</vt:lpstr>
      <vt:lpstr>Calculating Results from Gravimetric Data</vt:lpstr>
      <vt:lpstr>Calculating Results from Gravimetric Data</vt:lpstr>
      <vt:lpstr>Calculating Results from Gravimetric Data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Precipitation Equilibria</vt:lpstr>
      <vt:lpstr>PowerPoint Presentation</vt:lpstr>
      <vt:lpstr>PowerPoint Presentation</vt:lpstr>
      <vt:lpstr>Solubility in Pure Water</vt:lpstr>
      <vt:lpstr>PowerPoint Presentation</vt:lpstr>
      <vt:lpstr>PowerPoint Presentation</vt:lpstr>
      <vt:lpstr>PowerPoint Presentation</vt:lpstr>
      <vt:lpstr>PowerPoint Presentation</vt:lpstr>
      <vt:lpstr>PowerPoint Presentation</vt:lpstr>
      <vt:lpstr>PowerPoint Presentation</vt:lpstr>
      <vt:lpstr>Solubility in Presence of a Common 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Systematic Approach to Equilibrium Calculations</vt:lpstr>
      <vt:lpstr>PowerPoint Presentation</vt:lpstr>
      <vt:lpstr>PowerPoint Presentation</vt:lpstr>
      <vt:lpstr>Mass Balance Equations</vt:lpstr>
      <vt:lpstr>PowerPoint Presentation</vt:lpstr>
      <vt:lpstr>PowerPoint Presentation</vt:lpstr>
      <vt:lpstr>PowerPoint Presentation</vt:lpstr>
      <vt:lpstr>PowerPoint Presentation</vt:lpstr>
      <vt:lpstr>PowerPoint Presentation</vt:lpstr>
      <vt:lpstr>Charge Balance Equation</vt:lpstr>
      <vt:lpstr>PowerPoint Presentation</vt:lpstr>
      <vt:lpstr>PowerPoint Presentation</vt:lpstr>
      <vt:lpstr>PowerPoint Presentation</vt:lpstr>
      <vt:lpstr>Multiple Chemical Equilibria</vt:lpstr>
      <vt:lpstr>Multiple Chemical Equilibria Compositional Calculations</vt:lpstr>
      <vt:lpstr>Multiple Chemical Equilibria Compositional Calculations</vt:lpstr>
      <vt:lpstr>Multiple Chemical Equilibria Compositional Calculations</vt:lpstr>
      <vt:lpstr>Multiple Chemical Equilibria Example Problem  (1)</vt:lpstr>
      <vt:lpstr>Multiple Chemical Equilibria Example Problem  (1)</vt:lpstr>
      <vt:lpstr>Multiple Chemical Equilibria Example Problem  (2)</vt:lpstr>
      <vt:lpstr>Multiple Chemical Equilibria Example Problem  (2)</vt:lpstr>
      <vt:lpstr>Multiple Chemical Equilibria Example Problem  (2)</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1</cp:revision>
  <dcterms:created xsi:type="dcterms:W3CDTF">2021-05-06T18:11:58Z</dcterms:created>
  <dcterms:modified xsi:type="dcterms:W3CDTF">2021-05-06T18:12:45Z</dcterms:modified>
</cp:coreProperties>
</file>