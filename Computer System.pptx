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809"/>
  </p:normalViewPr>
  <p:slideViewPr>
    <p:cSldViewPr snapToGrid="0" snapToObjects="1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1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1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1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4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7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2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1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7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4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62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4166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36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88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62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79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9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6FC6A-5A53-AC4C-B46F-C8F154908617}" type="datetimeFigureOut">
              <a:rPr lang="en-US" smtClean="0"/>
              <a:t>11/22/21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04E56-F3B2-8C4F-82BF-F2F7127D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67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7581-3F7E-2D46-9019-CE4DFF9FF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computer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CBEA4-A2C9-3042-A20A-10A22ECDA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Introduction to computers  </a:t>
            </a:r>
            <a:r>
              <a:rPr lang="en-US" sz="2800"/>
              <a:t>FDN 1202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8020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4A14-D3D9-844E-9712-DBC4C700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184672"/>
            <a:ext cx="9905998" cy="1478570"/>
          </a:xfrm>
        </p:spPr>
        <p:txBody>
          <a:bodyPr/>
          <a:lstStyle/>
          <a:p>
            <a:r>
              <a:rPr lang="en-US" dirty="0"/>
              <a:t>A typical computer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E8508C-7B9C-AA41-980A-95D21B732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154" y="819659"/>
            <a:ext cx="8421845" cy="584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0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F546-2308-2340-9D84-27226192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Computer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46B81-C01F-A84B-A79E-5C288763A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410008"/>
          </a:xfrm>
        </p:spPr>
        <p:txBody>
          <a:bodyPr/>
          <a:lstStyle/>
          <a:p>
            <a:r>
              <a:rPr lang="en-US" dirty="0"/>
              <a:t>All types of computers follow a same basic logical structure and perform the following five basic operations for converting raw data into information useful to their users.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3F27A-D84C-9945-BA3F-D5D01415F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60" y="3659495"/>
            <a:ext cx="3639582" cy="28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2732-FDAE-CD4D-8B8E-63099FBD2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10352"/>
            <a:ext cx="9905998" cy="1478570"/>
          </a:xfrm>
        </p:spPr>
        <p:txBody>
          <a:bodyPr/>
          <a:lstStyle/>
          <a:p>
            <a:r>
              <a:rPr lang="en-US" dirty="0"/>
              <a:t>Functions of a Computer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263D0-5276-C843-A1E2-96B1091B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95" y="971827"/>
            <a:ext cx="8306410" cy="568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3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EBB2-0654-CB41-AE0C-2023B859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Components of a Computer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185AE-5CE3-4243-8CFB-3F05B4EA3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06" y="2097088"/>
            <a:ext cx="7313641" cy="38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4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A4BF5-F8A2-5F42-BC19-2E0F4F7A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57BB-861F-444A-93C9-9F3B3FB93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unit contains devices with the help of which we enter data into computer. </a:t>
            </a:r>
          </a:p>
          <a:p>
            <a:r>
              <a:rPr lang="en-US" dirty="0"/>
              <a:t>This unit makes link between user and computer. </a:t>
            </a:r>
          </a:p>
          <a:p>
            <a:r>
              <a:rPr lang="en-US" dirty="0"/>
              <a:t>The input devices translate the information into the form understandable by computer. </a:t>
            </a:r>
          </a:p>
        </p:txBody>
      </p:sp>
    </p:spTree>
    <p:extLst>
      <p:ext uri="{BB962C8B-B14F-4D97-AF65-F5344CB8AC3E}">
        <p14:creationId xmlns:p14="http://schemas.microsoft.com/office/powerpoint/2010/main" val="40866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4970-A219-EE47-B985-A9ABC5EB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Devices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7B0E-FF47-D34E-AD06-EE734A19C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which allow data to be stored within a computer system. </a:t>
            </a:r>
          </a:p>
          <a:p>
            <a:r>
              <a:rPr lang="en-US" dirty="0"/>
              <a:t>This includes devices such as hard disk drives and compact drives.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C84A3-590D-6243-AA5A-6D86B0F1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478" y="3818835"/>
            <a:ext cx="38100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15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7C24-F111-C243-A30B-3163FB28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B589B-21DF-4048-99E7-7FA72B3C5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Consists of devices with the help of which we get information from computer. </a:t>
            </a:r>
          </a:p>
          <a:p>
            <a:r>
              <a:rPr lang="en-US" dirty="0"/>
              <a:t>This unit is a link between computer and users. </a:t>
            </a:r>
          </a:p>
          <a:p>
            <a:r>
              <a:rPr lang="en-US" dirty="0"/>
              <a:t>Output devices translate the computer’s output into the form which can be understand by users.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4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5EB0-00F0-464E-8757-DCC281B1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7377"/>
            <a:ext cx="9905998" cy="1478570"/>
          </a:xfrm>
        </p:spPr>
        <p:txBody>
          <a:bodyPr/>
          <a:lstStyle/>
          <a:p>
            <a:r>
              <a:rPr lang="en-US" dirty="0"/>
              <a:t>CPU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D5DA-0745-6C4F-9242-3245BD93F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64105"/>
            <a:ext cx="9905999" cy="5306518"/>
          </a:xfrm>
        </p:spPr>
        <p:txBody>
          <a:bodyPr>
            <a:normAutofit/>
          </a:bodyPr>
          <a:lstStyle/>
          <a:p>
            <a:r>
              <a:rPr lang="en-US" dirty="0"/>
              <a:t>Fetch instructions.</a:t>
            </a:r>
          </a:p>
          <a:p>
            <a:pPr lvl="1"/>
            <a:r>
              <a:rPr lang="en-US" dirty="0"/>
              <a:t>CPU must read instructions from memory. </a:t>
            </a:r>
          </a:p>
          <a:p>
            <a:r>
              <a:rPr lang="en-US" dirty="0"/>
              <a:t> Interpret instructions.</a:t>
            </a:r>
          </a:p>
          <a:p>
            <a:pPr lvl="1"/>
            <a:r>
              <a:rPr lang="en-US" dirty="0"/>
              <a:t>Instructions must be decoded to determine what action is required. </a:t>
            </a:r>
          </a:p>
          <a:p>
            <a:r>
              <a:rPr lang="en-US" dirty="0"/>
              <a:t>Fetch data. </a:t>
            </a:r>
          </a:p>
          <a:p>
            <a:pPr lvl="1"/>
            <a:r>
              <a:rPr lang="en-US" dirty="0"/>
              <a:t>Execution of an instruction may require reading data from memory of an IO module. </a:t>
            </a:r>
          </a:p>
          <a:p>
            <a:r>
              <a:rPr lang="en-US" dirty="0"/>
              <a:t>Process data.</a:t>
            </a:r>
          </a:p>
          <a:p>
            <a:pPr lvl="1"/>
            <a:r>
              <a:rPr lang="en-US" dirty="0"/>
              <a:t>Execution of an instruction may require performing some arithmetic or logical operation on data. </a:t>
            </a:r>
          </a:p>
          <a:p>
            <a:r>
              <a:rPr lang="en-US" dirty="0"/>
              <a:t>Write data. </a:t>
            </a:r>
          </a:p>
          <a:p>
            <a:pPr lvl="1"/>
            <a:r>
              <a:rPr lang="en-US" dirty="0"/>
              <a:t>Results of an instruction execution </a:t>
            </a:r>
            <a:r>
              <a:rPr lang="en-US" dirty="0" err="1"/>
              <a:t>mayrequire</a:t>
            </a:r>
            <a:r>
              <a:rPr lang="en-US" dirty="0"/>
              <a:t> writing data to memory or an IO module. </a:t>
            </a:r>
          </a:p>
        </p:txBody>
      </p:sp>
    </p:spTree>
    <p:extLst>
      <p:ext uri="{BB962C8B-B14F-4D97-AF65-F5344CB8AC3E}">
        <p14:creationId xmlns:p14="http://schemas.microsoft.com/office/powerpoint/2010/main" val="28531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099B-974B-C746-8FC0-427DDEBE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90" y="262328"/>
            <a:ext cx="9905998" cy="1478570"/>
          </a:xfrm>
        </p:spPr>
        <p:txBody>
          <a:bodyPr/>
          <a:lstStyle/>
          <a:p>
            <a:r>
              <a:rPr lang="en-US" dirty="0"/>
              <a:t>Main Components of the CPU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443BE-D2FC-7049-BB6B-B4246D022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28998"/>
            <a:ext cx="10715808" cy="5066674"/>
          </a:xfrm>
        </p:spPr>
        <p:txBody>
          <a:bodyPr>
            <a:noAutofit/>
          </a:bodyPr>
          <a:lstStyle/>
          <a:p>
            <a:r>
              <a:rPr lang="en-US" dirty="0"/>
              <a:t>Control Unit(CU) </a:t>
            </a:r>
          </a:p>
          <a:p>
            <a:pPr lvl="1"/>
            <a:r>
              <a:rPr lang="en-US" sz="2400" dirty="0"/>
              <a:t>Controls the operation of the CPU and hence the computer. </a:t>
            </a:r>
          </a:p>
          <a:p>
            <a:r>
              <a:rPr lang="en-US" dirty="0"/>
              <a:t>Arithmetic and Logic Unit (ALU)</a:t>
            </a:r>
          </a:p>
          <a:p>
            <a:pPr lvl="1"/>
            <a:r>
              <a:rPr lang="en-US" sz="2400" dirty="0"/>
              <a:t>Performs computer’s data processing functions. </a:t>
            </a:r>
          </a:p>
          <a:p>
            <a:r>
              <a:rPr lang="en-US" dirty="0"/>
              <a:t>Registers</a:t>
            </a:r>
          </a:p>
          <a:p>
            <a:pPr lvl="1"/>
            <a:r>
              <a:rPr lang="en-US" sz="2400" dirty="0"/>
              <a:t>Provides storage internal to the CPU. </a:t>
            </a:r>
          </a:p>
          <a:p>
            <a:pPr lvl="1"/>
            <a:r>
              <a:rPr lang="en-US" sz="2400" dirty="0"/>
              <a:t>High speed memory locations. </a:t>
            </a:r>
          </a:p>
          <a:p>
            <a:r>
              <a:rPr lang="en-US" dirty="0"/>
              <a:t>CPU Interconnections(BUS) </a:t>
            </a:r>
          </a:p>
          <a:p>
            <a:pPr lvl="1"/>
            <a:r>
              <a:rPr lang="en-US" sz="2400" dirty="0"/>
              <a:t>Some mechanism that provides for communication among the control unit, ALU and registers. </a:t>
            </a:r>
          </a:p>
        </p:txBody>
      </p:sp>
    </p:spTree>
    <p:extLst>
      <p:ext uri="{BB962C8B-B14F-4D97-AF65-F5344CB8AC3E}">
        <p14:creationId xmlns:p14="http://schemas.microsoft.com/office/powerpoint/2010/main" val="377695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2ED4-B88E-E540-B413-35CE0721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view of a </a:t>
            </a:r>
            <a:r>
              <a:rPr lang="en-US" dirty="0" err="1"/>
              <a:t>cpu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277E2E-4E9F-D841-91FD-38D2C8721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258" y="1932196"/>
            <a:ext cx="5618490" cy="452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9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EBBC-0337-804B-AA25-5CD244CA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68813"/>
            <a:ext cx="9905998" cy="1478570"/>
          </a:xfrm>
        </p:spPr>
        <p:txBody>
          <a:bodyPr/>
          <a:lstStyle/>
          <a:p>
            <a:r>
              <a:rPr lang="en-US" dirty="0"/>
              <a:t>Internal Structure of the CPU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76FE7-92A2-9043-A408-BA9881823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165" y="1214203"/>
            <a:ext cx="6349669" cy="528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7AFF-3623-904F-8A72-E38D79AD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ALU (Arithmetic Logic Unit)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9D6A-5D82-0844-B863-B9F6434B4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44184"/>
            <a:ext cx="10745788" cy="5006714"/>
          </a:xfrm>
        </p:spPr>
        <p:txBody>
          <a:bodyPr>
            <a:normAutofit/>
          </a:bodyPr>
          <a:lstStyle/>
          <a:p>
            <a:r>
              <a:rPr lang="en-US" sz="3200" dirty="0"/>
              <a:t>This unit consists of two sub sections namely </a:t>
            </a:r>
          </a:p>
          <a:p>
            <a:pPr lvl="1"/>
            <a:r>
              <a:rPr lang="en-US" sz="3200" u="sng" dirty="0"/>
              <a:t>Arithmetic Section </a:t>
            </a:r>
          </a:p>
          <a:p>
            <a:pPr lvl="2"/>
            <a:r>
              <a:rPr lang="en-US" sz="3200" dirty="0"/>
              <a:t>Perform arithmetic operations like addition, subtraction, multiplication and division. All complex operations are done by making repetitive use of above operations. </a:t>
            </a:r>
          </a:p>
          <a:p>
            <a:pPr lvl="1"/>
            <a:r>
              <a:rPr lang="en-US" sz="3200" u="sng" dirty="0"/>
              <a:t>Logic section</a:t>
            </a:r>
          </a:p>
          <a:p>
            <a:pPr lvl="2"/>
            <a:r>
              <a:rPr lang="en-US" sz="3200" dirty="0"/>
              <a:t>Perform logical operations such as comparing, selecting, matching and merging of data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4560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339A-7018-D949-B9C2-03F5DB697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30990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Control Unit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15AA-A4E6-534A-9079-E10067DC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89351"/>
            <a:ext cx="10835729" cy="54864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This unit controls the operation of all parts of computer but does not carry out any actual data processing operations. </a:t>
            </a:r>
          </a:p>
          <a:p>
            <a:r>
              <a:rPr lang="en-US" sz="2800" dirty="0"/>
              <a:t>Functions of this unit are: </a:t>
            </a:r>
          </a:p>
          <a:p>
            <a:pPr lvl="1"/>
            <a:r>
              <a:rPr lang="en-US" sz="2800" dirty="0"/>
              <a:t>It is responsible for controlling the transfer of data and instructions among other units of a computer. </a:t>
            </a:r>
          </a:p>
          <a:p>
            <a:pPr lvl="1"/>
            <a:r>
              <a:rPr lang="en-US" sz="2800" dirty="0"/>
              <a:t>It manage and coordinated all the units of the computer. </a:t>
            </a:r>
          </a:p>
          <a:p>
            <a:pPr lvl="1"/>
            <a:r>
              <a:rPr lang="en-US" sz="2800" dirty="0"/>
              <a:t>It obtains the instructions from the memory, interprets them, and directs the operation of the computer. </a:t>
            </a:r>
          </a:p>
          <a:p>
            <a:pPr lvl="1"/>
            <a:r>
              <a:rPr lang="en-US" sz="2800" dirty="0"/>
              <a:t>It communicates with Input/output devices for transfer of data or results from storage.</a:t>
            </a:r>
          </a:p>
          <a:p>
            <a:pPr lvl="1"/>
            <a:r>
              <a:rPr lang="en-US" sz="2800" dirty="0"/>
              <a:t>It does not process or store data. </a:t>
            </a:r>
          </a:p>
        </p:txBody>
      </p:sp>
    </p:spTree>
    <p:extLst>
      <p:ext uri="{BB962C8B-B14F-4D97-AF65-F5344CB8AC3E}">
        <p14:creationId xmlns:p14="http://schemas.microsoft.com/office/powerpoint/2010/main" val="1603986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FA8D-F054-2C46-AA95-FB40B043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90951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CPU Registers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19277-1B75-1647-A692-3F5351A16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24459"/>
            <a:ext cx="10535926" cy="5876144"/>
          </a:xfrm>
        </p:spPr>
        <p:txBody>
          <a:bodyPr>
            <a:noAutofit/>
          </a:bodyPr>
          <a:lstStyle/>
          <a:p>
            <a:r>
              <a:rPr lang="en-US" sz="2800" dirty="0"/>
              <a:t>CPU needs to store instructions and data temporarily while an instruction is being executed. </a:t>
            </a:r>
          </a:p>
          <a:p>
            <a:pPr lvl="1"/>
            <a:r>
              <a:rPr lang="en-US" sz="2800" dirty="0"/>
              <a:t>To remember the location of the last instruction. </a:t>
            </a:r>
          </a:p>
          <a:p>
            <a:pPr lvl="1"/>
            <a:r>
              <a:rPr lang="en-US" sz="2800" dirty="0"/>
              <a:t>To remember the location of the next instruction. </a:t>
            </a:r>
          </a:p>
          <a:p>
            <a:pPr lvl="1"/>
            <a:r>
              <a:rPr lang="en-US" sz="2800" dirty="0"/>
              <a:t>To hold the operands and results. </a:t>
            </a:r>
          </a:p>
          <a:p>
            <a:r>
              <a:rPr lang="en-US" sz="2800" dirty="0"/>
              <a:t>CPU needs a small internal memory.</a:t>
            </a:r>
          </a:p>
          <a:p>
            <a:r>
              <a:rPr lang="en-US" sz="2800" dirty="0"/>
              <a:t>Called Registers. </a:t>
            </a:r>
          </a:p>
          <a:p>
            <a:pPr lvl="1"/>
            <a:r>
              <a:rPr lang="en-US" sz="2800" dirty="0"/>
              <a:t>Set of storage locations.</a:t>
            </a:r>
          </a:p>
          <a:p>
            <a:pPr lvl="1"/>
            <a:r>
              <a:rPr lang="en-US" sz="2800" dirty="0"/>
              <a:t>Faster, Smaller and more expensive.</a:t>
            </a:r>
          </a:p>
          <a:p>
            <a:pPr lvl="1"/>
            <a:r>
              <a:rPr lang="en-US" sz="2800" dirty="0"/>
              <a:t>Number ad function vary between processor designs. </a:t>
            </a:r>
          </a:p>
        </p:txBody>
      </p:sp>
    </p:spTree>
    <p:extLst>
      <p:ext uri="{BB962C8B-B14F-4D97-AF65-F5344CB8AC3E}">
        <p14:creationId xmlns:p14="http://schemas.microsoft.com/office/powerpoint/2010/main" val="144996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7340-E12D-314A-8049-683D91B4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System Interconnections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BB726-D118-8345-9E5A-FBD95CBF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99410"/>
            <a:ext cx="10610877" cy="556135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Bus</a:t>
            </a:r>
          </a:p>
          <a:p>
            <a:pPr lvl="1"/>
            <a:r>
              <a:rPr lang="en-US" sz="2800" dirty="0"/>
              <a:t>Communication pathway connecting two or more devices. </a:t>
            </a:r>
          </a:p>
          <a:p>
            <a:pPr lvl="1"/>
            <a:r>
              <a:rPr lang="en-US" sz="2800" dirty="0"/>
              <a:t>Shared transmission (transportation) media.</a:t>
            </a:r>
          </a:p>
          <a:p>
            <a:pPr lvl="2"/>
            <a:r>
              <a:rPr lang="en-US" sz="2800" dirty="0"/>
              <a:t>Multiple devices are connected to a bus.</a:t>
            </a:r>
          </a:p>
          <a:p>
            <a:pPr lvl="2"/>
            <a:r>
              <a:rPr lang="en-US" sz="2800" dirty="0"/>
              <a:t>Only one device an transmit data at a time. </a:t>
            </a:r>
          </a:p>
          <a:p>
            <a:pPr lvl="1"/>
            <a:r>
              <a:rPr lang="en-US" sz="2800" dirty="0"/>
              <a:t>A group of parallel wires. </a:t>
            </a:r>
          </a:p>
          <a:p>
            <a:pPr lvl="2"/>
            <a:r>
              <a:rPr lang="en-US" sz="2800" dirty="0"/>
              <a:t>Each wire in a bus can transfer one bit of information. </a:t>
            </a:r>
          </a:p>
          <a:p>
            <a:pPr lvl="2"/>
            <a:r>
              <a:rPr lang="en-US" sz="2800" dirty="0"/>
              <a:t>The number of parallel wires in a bus is equal to the word length of a computer (8 bits, 16 bits, 32 bits, 64 bits) </a:t>
            </a:r>
          </a:p>
          <a:p>
            <a:pPr lvl="2"/>
            <a:r>
              <a:rPr lang="en-US" sz="2800" dirty="0"/>
              <a:t>Bus can transfer word of information at a time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864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9188-0C5F-C34A-BD44-EB84C77D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18714"/>
            <a:ext cx="9905998" cy="1478570"/>
          </a:xfrm>
        </p:spPr>
        <p:txBody>
          <a:bodyPr/>
          <a:lstStyle/>
          <a:p>
            <a:r>
              <a:rPr lang="en-US" dirty="0"/>
              <a:t>System interconnections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7A8A7-359B-0146-A9B0-66F23FE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394" y="1653290"/>
            <a:ext cx="8197127" cy="4717530"/>
          </a:xfrm>
          <a:prstGeom prst="rect">
            <a:avLst/>
          </a:prstGeom>
        </p:spPr>
      </p:pic>
      <p:pic>
        <p:nvPicPr>
          <p:cNvPr id="1025" name="Picture 1" descr="page17image36861840">
            <a:extLst>
              <a:ext uri="{FF2B5EF4-FFF2-40B4-BE49-F238E27FC236}">
                <a16:creationId xmlns:a16="http://schemas.microsoft.com/office/drawing/2014/main" id="{3E128819-1063-E542-98F6-0895C8334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408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2657-0F94-AF46-807E-5D3CBEAC2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System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5CCA-B5D8-BE4C-B69B-F8F13CA74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39252"/>
            <a:ext cx="9905999" cy="5306517"/>
          </a:xfrm>
        </p:spPr>
        <p:txBody>
          <a:bodyPr>
            <a:normAutofit/>
          </a:bodyPr>
          <a:lstStyle/>
          <a:p>
            <a:r>
              <a:rPr lang="en-US" sz="2800" dirty="0"/>
              <a:t>Computer system contain a number of different buses.</a:t>
            </a:r>
          </a:p>
          <a:p>
            <a:r>
              <a:rPr lang="en-US" sz="2800" dirty="0"/>
              <a:t>A bus that connects major components (CPU, Memory, I/O) is called a System Bus. </a:t>
            </a:r>
          </a:p>
          <a:p>
            <a:r>
              <a:rPr lang="en-US" sz="2800" dirty="0"/>
              <a:t>On any bus, the lines can be classified into three functional groups. </a:t>
            </a:r>
          </a:p>
          <a:p>
            <a:r>
              <a:rPr lang="en-US" sz="2800" dirty="0"/>
              <a:t>Data Lines (Data Bus) </a:t>
            </a:r>
          </a:p>
          <a:p>
            <a:r>
              <a:rPr lang="en-US" sz="2800" dirty="0"/>
              <a:t>Address Lines(Address Bus) </a:t>
            </a:r>
          </a:p>
          <a:p>
            <a:r>
              <a:rPr lang="en-US" sz="2800" dirty="0"/>
              <a:t>Control Lines(Control Bus) </a:t>
            </a:r>
          </a:p>
        </p:txBody>
      </p:sp>
    </p:spTree>
    <p:extLst>
      <p:ext uri="{BB962C8B-B14F-4D97-AF65-F5344CB8AC3E}">
        <p14:creationId xmlns:p14="http://schemas.microsoft.com/office/powerpoint/2010/main" val="1668172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F861-F814-F546-B8FC-BEDFA7D5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8832"/>
            <a:ext cx="9905998" cy="1478570"/>
          </a:xfrm>
        </p:spPr>
        <p:txBody>
          <a:bodyPr/>
          <a:lstStyle/>
          <a:p>
            <a:r>
              <a:rPr lang="en-US" dirty="0"/>
              <a:t>Data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C68C-3240-584F-916B-ADE4A76DA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83830"/>
            <a:ext cx="9905999" cy="4766872"/>
          </a:xfrm>
        </p:spPr>
        <p:txBody>
          <a:bodyPr>
            <a:normAutofit/>
          </a:bodyPr>
          <a:lstStyle/>
          <a:p>
            <a:r>
              <a:rPr lang="en-US" sz="2800" dirty="0"/>
              <a:t>Provide a path for moving data between system modules. </a:t>
            </a:r>
          </a:p>
          <a:p>
            <a:r>
              <a:rPr lang="en-US" sz="2800" dirty="0"/>
              <a:t>No difference between “data” and “instruction” at this level. </a:t>
            </a:r>
          </a:p>
          <a:p>
            <a:r>
              <a:rPr lang="en-US" sz="2800" dirty="0"/>
              <a:t>The data bus typically consists of 6,16,or 32 separate lines. </a:t>
            </a:r>
          </a:p>
          <a:p>
            <a:r>
              <a:rPr lang="en-US" sz="2800" dirty="0"/>
              <a:t>Each line carry only 1 bit at a time, the number of lines determine how may bits can transferred at a time–overall system performance. </a:t>
            </a:r>
          </a:p>
          <a:p>
            <a:r>
              <a:rPr lang="en-US" sz="2800" dirty="0"/>
              <a:t>Width is a key determinant of performance. (Width = Number of lines.) </a:t>
            </a:r>
          </a:p>
        </p:txBody>
      </p:sp>
    </p:spTree>
    <p:extLst>
      <p:ext uri="{BB962C8B-B14F-4D97-AF65-F5344CB8AC3E}">
        <p14:creationId xmlns:p14="http://schemas.microsoft.com/office/powerpoint/2010/main" val="3870876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22C3-0360-EE4B-86FA-24C5F1FB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D4A5-39F8-1F48-B1B8-45DFC5D9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53849"/>
            <a:ext cx="9905999" cy="4037352"/>
          </a:xfrm>
        </p:spPr>
        <p:txBody>
          <a:bodyPr/>
          <a:lstStyle/>
          <a:p>
            <a:r>
              <a:rPr lang="en-US" sz="2800" dirty="0"/>
              <a:t>Identify the source or destination of data on the data bus. </a:t>
            </a:r>
          </a:p>
          <a:p>
            <a:r>
              <a:rPr lang="en-US" sz="2800" dirty="0"/>
              <a:t>Bus width determines maximum memory capacity of the system. </a:t>
            </a:r>
          </a:p>
          <a:p>
            <a:pPr lvl="1"/>
            <a:r>
              <a:rPr lang="en-US" sz="2800" dirty="0"/>
              <a:t>E.g. 8080 has 16 bit address bus giving 64k address space (memory size) </a:t>
            </a:r>
          </a:p>
          <a:p>
            <a:r>
              <a:rPr lang="en-US" sz="2800" dirty="0"/>
              <a:t>Also used to address I/O ports.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114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B207-D61B-BB48-8CEF-6E7A1832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1B61E-AA7B-6544-915F-FF640566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78898"/>
            <a:ext cx="9905999" cy="4961745"/>
          </a:xfrm>
        </p:spPr>
        <p:txBody>
          <a:bodyPr>
            <a:normAutofit/>
          </a:bodyPr>
          <a:lstStyle/>
          <a:p>
            <a:r>
              <a:rPr lang="en-US" sz="2800" dirty="0"/>
              <a:t>Used to control the use of data and address bus. </a:t>
            </a:r>
          </a:p>
          <a:p>
            <a:r>
              <a:rPr lang="en-US" sz="2800" dirty="0"/>
              <a:t>As a shared transmission medium. </a:t>
            </a:r>
          </a:p>
          <a:p>
            <a:pPr lvl="1"/>
            <a:r>
              <a:rPr lang="en-US" sz="2400" dirty="0"/>
              <a:t>E.g. Bus Request, Bus Grant etc.</a:t>
            </a:r>
          </a:p>
          <a:p>
            <a:r>
              <a:rPr lang="en-US" sz="2800" dirty="0"/>
              <a:t>Transfers control and timing information </a:t>
            </a:r>
          </a:p>
          <a:p>
            <a:pPr lvl="1"/>
            <a:r>
              <a:rPr lang="en-US" sz="2800" dirty="0"/>
              <a:t>Memory read/write signal. </a:t>
            </a:r>
          </a:p>
          <a:p>
            <a:pPr lvl="1"/>
            <a:r>
              <a:rPr lang="en-US" sz="2800" dirty="0"/>
              <a:t>Interrupt request.</a:t>
            </a:r>
          </a:p>
          <a:p>
            <a:pPr lvl="1"/>
            <a:r>
              <a:rPr lang="en-US" sz="2800" dirty="0"/>
              <a:t>Clock signals.</a:t>
            </a:r>
          </a:p>
          <a:p>
            <a:pPr lvl="1"/>
            <a:r>
              <a:rPr lang="en-US" sz="2800" dirty="0"/>
              <a:t>I/O read write.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051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C091-B849-7648-8143-97C07472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AE06-854D-DC46-8774-D21AC01D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63908"/>
            <a:ext cx="9905999" cy="4841823"/>
          </a:xfrm>
        </p:spPr>
        <p:txBody>
          <a:bodyPr>
            <a:normAutofit/>
          </a:bodyPr>
          <a:lstStyle/>
          <a:p>
            <a:r>
              <a:rPr lang="en-US" sz="2800" dirty="0"/>
              <a:t>Instruction Set is the complete collection of different instructions that are understood by a CPU. </a:t>
            </a:r>
          </a:p>
          <a:p>
            <a:r>
              <a:rPr lang="en-US" sz="2800" dirty="0"/>
              <a:t>Different Instruction Sets for different CPU designs. </a:t>
            </a:r>
          </a:p>
          <a:p>
            <a:r>
              <a:rPr lang="en-US" sz="2800" dirty="0"/>
              <a:t>A large part of the CPU design involves implementing the machine instruction set, referred to as Processor’s Instruction Set. </a:t>
            </a:r>
          </a:p>
        </p:txBody>
      </p:sp>
    </p:spTree>
    <p:extLst>
      <p:ext uri="{BB962C8B-B14F-4D97-AF65-F5344CB8AC3E}">
        <p14:creationId xmlns:p14="http://schemas.microsoft.com/office/powerpoint/2010/main" val="121617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5E7F-B2E0-B047-86B9-30F977C6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233819"/>
            <a:ext cx="9905998" cy="1478570"/>
          </a:xfrm>
        </p:spPr>
        <p:txBody>
          <a:bodyPr/>
          <a:lstStyle/>
          <a:p>
            <a:r>
              <a:rPr lang="en-US" dirty="0"/>
              <a:t>Instruction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B0C20-E373-B84A-AE8F-11D62FDC9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705499"/>
            <a:ext cx="9905999" cy="3541714"/>
          </a:xfrm>
        </p:spPr>
        <p:txBody>
          <a:bodyPr>
            <a:normAutofit/>
          </a:bodyPr>
          <a:lstStyle/>
          <a:p>
            <a:r>
              <a:rPr lang="en-US" sz="2800" dirty="0"/>
              <a:t>Instructions are</a:t>
            </a:r>
          </a:p>
          <a:p>
            <a:r>
              <a:rPr lang="en-US" sz="2800" dirty="0"/>
              <a:t>Machine Codes.</a:t>
            </a:r>
          </a:p>
          <a:p>
            <a:r>
              <a:rPr lang="en-US" sz="2800" dirty="0"/>
              <a:t>Binary Numbers(Stored in the Memory) </a:t>
            </a:r>
          </a:p>
          <a:p>
            <a:r>
              <a:rPr lang="en-US" sz="2800" dirty="0"/>
              <a:t>Usually represented by assembly codes.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CD566-E63B-3045-BF43-070286FA7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837" y="3429000"/>
            <a:ext cx="7394325" cy="327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51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2054-C8E4-FC4D-ABFD-FF0A16A1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2AB88-D578-E343-A8BA-3DFC77D5E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machine code each instruction has a unique bit pattern.</a:t>
            </a:r>
          </a:p>
          <a:p>
            <a:pPr lvl="1"/>
            <a:r>
              <a:rPr lang="en-US" dirty="0"/>
              <a:t>E.g.1010100010100011 </a:t>
            </a:r>
          </a:p>
          <a:p>
            <a:r>
              <a:rPr lang="en-US" dirty="0"/>
              <a:t>For human use, a symbolic representation is used. </a:t>
            </a:r>
          </a:p>
          <a:p>
            <a:pPr lvl="1"/>
            <a:r>
              <a:rPr lang="en-US" dirty="0"/>
              <a:t>E.g. ADD, SUB, LOAD </a:t>
            </a:r>
          </a:p>
          <a:p>
            <a:r>
              <a:rPr lang="en-US" dirty="0"/>
              <a:t>Operands can also be represented in the same way. </a:t>
            </a:r>
          </a:p>
          <a:p>
            <a:pPr lvl="1"/>
            <a:r>
              <a:rPr lang="en-US" dirty="0"/>
              <a:t>E.g. ADD A, B </a:t>
            </a:r>
          </a:p>
        </p:txBody>
      </p:sp>
    </p:spTree>
    <p:extLst>
      <p:ext uri="{BB962C8B-B14F-4D97-AF65-F5344CB8AC3E}">
        <p14:creationId xmlns:p14="http://schemas.microsoft.com/office/powerpoint/2010/main" val="3752632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F462-EF10-6049-B16F-D4EEB33C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Instruction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DC9DF-0CB7-584B-BCAD-E6E8FF5FA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89154"/>
            <a:ext cx="9905999" cy="5241332"/>
          </a:xfrm>
        </p:spPr>
        <p:txBody>
          <a:bodyPr>
            <a:normAutofit/>
          </a:bodyPr>
          <a:lstStyle/>
          <a:p>
            <a:r>
              <a:rPr lang="en-US" dirty="0"/>
              <a:t>Each instruction must contain four basic pieces of information. </a:t>
            </a:r>
          </a:p>
          <a:p>
            <a:pPr lvl="1"/>
            <a:r>
              <a:rPr lang="en-US" sz="2400" dirty="0"/>
              <a:t>Operation Code (</a:t>
            </a:r>
            <a:r>
              <a:rPr lang="en-US" sz="2400" dirty="0" err="1"/>
              <a:t>OpCode</a:t>
            </a:r>
            <a:r>
              <a:rPr lang="en-US" sz="2400" dirty="0"/>
              <a:t>) </a:t>
            </a:r>
          </a:p>
          <a:p>
            <a:pPr lvl="2"/>
            <a:r>
              <a:rPr lang="en-US" sz="2400" dirty="0"/>
              <a:t>Operation to be performed (Do this) </a:t>
            </a:r>
          </a:p>
          <a:p>
            <a:pPr lvl="2"/>
            <a:r>
              <a:rPr lang="en-US" sz="2400" dirty="0"/>
              <a:t>E.g. ADD, SUB, LOAD, STOR etc. </a:t>
            </a:r>
          </a:p>
          <a:p>
            <a:pPr lvl="1"/>
            <a:r>
              <a:rPr lang="en-US" sz="2400" dirty="0"/>
              <a:t>Source Operand Reference </a:t>
            </a:r>
          </a:p>
          <a:p>
            <a:pPr lvl="2"/>
            <a:r>
              <a:rPr lang="en-US" sz="2400" dirty="0"/>
              <a:t>Operands (inputs) for the operation (To this) </a:t>
            </a:r>
          </a:p>
          <a:p>
            <a:pPr lvl="1"/>
            <a:r>
              <a:rPr lang="en-US" sz="2400" dirty="0"/>
              <a:t>Result Operand Reference </a:t>
            </a:r>
          </a:p>
          <a:p>
            <a:pPr lvl="2"/>
            <a:r>
              <a:rPr lang="en-US" sz="2400" dirty="0"/>
              <a:t>Result of the operation (Put the answer here)</a:t>
            </a:r>
          </a:p>
          <a:p>
            <a:pPr lvl="1"/>
            <a:r>
              <a:rPr lang="en-US" sz="2400" dirty="0"/>
              <a:t>Next Instruction Reference </a:t>
            </a:r>
          </a:p>
          <a:p>
            <a:pPr lvl="2"/>
            <a:r>
              <a:rPr lang="en-US" sz="2400" dirty="0"/>
              <a:t>Next instruction to be fetched (When you have done that, do this...) </a:t>
            </a:r>
          </a:p>
        </p:txBody>
      </p:sp>
    </p:spTree>
    <p:extLst>
      <p:ext uri="{BB962C8B-B14F-4D97-AF65-F5344CB8AC3E}">
        <p14:creationId xmlns:p14="http://schemas.microsoft.com/office/powerpoint/2010/main" val="3200316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B757-E932-C441-8207-D12BD1F95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Hardware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1D84F-6204-254E-99B7-98771E48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69233"/>
            <a:ext cx="9905999" cy="5351488"/>
          </a:xfrm>
        </p:spPr>
        <p:txBody>
          <a:bodyPr>
            <a:noAutofit/>
          </a:bodyPr>
          <a:lstStyle/>
          <a:p>
            <a:r>
              <a:rPr lang="en-US" sz="2800" dirty="0"/>
              <a:t>A generic term used to describe any component of a computer system with a physical presence and which can, therefore, been seen and touched. </a:t>
            </a:r>
          </a:p>
          <a:p>
            <a:r>
              <a:rPr lang="en-US" sz="2800" dirty="0"/>
              <a:t>Hardware components are often categorized as; </a:t>
            </a:r>
          </a:p>
          <a:p>
            <a:pPr lvl="1"/>
            <a:r>
              <a:rPr lang="en-US" sz="2800" dirty="0"/>
              <a:t>Input </a:t>
            </a:r>
          </a:p>
          <a:p>
            <a:pPr lvl="1"/>
            <a:r>
              <a:rPr lang="en-US" sz="2800" dirty="0"/>
              <a:t>Output </a:t>
            </a:r>
          </a:p>
          <a:p>
            <a:pPr lvl="1"/>
            <a:r>
              <a:rPr lang="en-US" sz="2800" dirty="0"/>
              <a:t>Storage</a:t>
            </a:r>
          </a:p>
          <a:p>
            <a:r>
              <a:rPr lang="en-US" sz="2800" dirty="0"/>
              <a:t>Devices which are not an integral part of the CPU are referred to as peripherals. </a:t>
            </a:r>
          </a:p>
        </p:txBody>
      </p:sp>
    </p:spTree>
    <p:extLst>
      <p:ext uri="{BB962C8B-B14F-4D97-AF65-F5344CB8AC3E}">
        <p14:creationId xmlns:p14="http://schemas.microsoft.com/office/powerpoint/2010/main" val="3023952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7FF4-4C62-0246-85FC-4FE82A34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Devices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6F9F7-217C-2F43-A1E1-E8D540D5C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Text entry devices.</a:t>
            </a:r>
          </a:p>
          <a:p>
            <a:r>
              <a:rPr lang="en-US" sz="2800" dirty="0"/>
              <a:t>Positioning, pointing and drawing devices. </a:t>
            </a:r>
          </a:p>
          <a:p>
            <a:r>
              <a:rPr lang="en-US" sz="2800" dirty="0"/>
              <a:t>Scanning devices.</a:t>
            </a:r>
          </a:p>
          <a:p>
            <a:r>
              <a:rPr lang="en-US" sz="2800" dirty="0"/>
              <a:t>3Dinteraction devices </a:t>
            </a:r>
          </a:p>
        </p:txBody>
      </p:sp>
    </p:spTree>
    <p:extLst>
      <p:ext uri="{BB962C8B-B14F-4D97-AF65-F5344CB8AC3E}">
        <p14:creationId xmlns:p14="http://schemas.microsoft.com/office/powerpoint/2010/main" val="4076448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FA4F-EB75-CE4D-A6EC-B9BC4A6A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3823"/>
            <a:ext cx="9905998" cy="1478570"/>
          </a:xfrm>
        </p:spPr>
        <p:txBody>
          <a:bodyPr/>
          <a:lstStyle/>
          <a:p>
            <a:r>
              <a:rPr lang="en-US" dirty="0"/>
              <a:t>Output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23EC0-3BA4-E14B-9E1E-52D4825D8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32393"/>
            <a:ext cx="9905999" cy="4158808"/>
          </a:xfrm>
        </p:spPr>
        <p:txBody>
          <a:bodyPr>
            <a:normAutofit/>
          </a:bodyPr>
          <a:lstStyle/>
          <a:p>
            <a:r>
              <a:rPr lang="en-US" sz="2800" dirty="0"/>
              <a:t>Following are few of the important output devices which are used in a computer. </a:t>
            </a:r>
          </a:p>
          <a:p>
            <a:pPr lvl="1"/>
            <a:r>
              <a:rPr lang="en-US" sz="2800" dirty="0"/>
              <a:t>Monitors </a:t>
            </a:r>
          </a:p>
          <a:p>
            <a:pPr lvl="1"/>
            <a:r>
              <a:rPr lang="en-US" sz="2800" dirty="0"/>
              <a:t>Speakers </a:t>
            </a:r>
          </a:p>
          <a:p>
            <a:pPr lvl="1"/>
            <a:r>
              <a:rPr lang="en-US" sz="2800" dirty="0"/>
              <a:t>Printers </a:t>
            </a:r>
          </a:p>
        </p:txBody>
      </p:sp>
    </p:spTree>
    <p:extLst>
      <p:ext uri="{BB962C8B-B14F-4D97-AF65-F5344CB8AC3E}">
        <p14:creationId xmlns:p14="http://schemas.microsoft.com/office/powerpoint/2010/main" val="4092244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{BEC78ABA-3942-2643-89AC-4E046C66EDC2}tf10001122</Template>
  <TotalTime>110</TotalTime>
  <Words>1122</Words>
  <Application>Microsoft Macintosh PowerPoint</Application>
  <PresentationFormat>Widescreen</PresentationFormat>
  <Paragraphs>147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Tw Cen MT</vt:lpstr>
      <vt:lpstr>Circuit</vt:lpstr>
      <vt:lpstr>The computer system</vt:lpstr>
      <vt:lpstr>A typical computer</vt:lpstr>
      <vt:lpstr>Components of a Computer </vt:lpstr>
      <vt:lpstr>Functions of a Computer </vt:lpstr>
      <vt:lpstr>Basic Components of a Computer </vt:lpstr>
      <vt:lpstr>Input unit</vt:lpstr>
      <vt:lpstr>Storage Devices </vt:lpstr>
      <vt:lpstr>Output unit</vt:lpstr>
      <vt:lpstr>CPU Functions </vt:lpstr>
      <vt:lpstr>Main Components of the CPU </vt:lpstr>
      <vt:lpstr>Simplified view of a cpu</vt:lpstr>
      <vt:lpstr>Internal Structure of the CPU </vt:lpstr>
      <vt:lpstr>ALU (Arithmetic Logic Unit)</vt:lpstr>
      <vt:lpstr>Control Unit </vt:lpstr>
      <vt:lpstr>CPU Registers </vt:lpstr>
      <vt:lpstr>System Interconnections </vt:lpstr>
      <vt:lpstr>System interconnections</vt:lpstr>
      <vt:lpstr>System bus</vt:lpstr>
      <vt:lpstr>Data bus</vt:lpstr>
      <vt:lpstr>Address bus</vt:lpstr>
      <vt:lpstr>Control bus</vt:lpstr>
      <vt:lpstr>Instruction set</vt:lpstr>
      <vt:lpstr>Instruction set</vt:lpstr>
      <vt:lpstr>Instruction set</vt:lpstr>
      <vt:lpstr>Instruction set</vt:lpstr>
      <vt:lpstr>Hardware </vt:lpstr>
      <vt:lpstr>Input Devices </vt:lpstr>
      <vt:lpstr>Output devices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computer system</dc:title>
  <dc:creator>Microsoft Office User</dc:creator>
  <cp:lastModifiedBy>Microsoft Office User</cp:lastModifiedBy>
  <cp:revision>11</cp:revision>
  <dcterms:created xsi:type="dcterms:W3CDTF">2020-07-06T03:49:48Z</dcterms:created>
  <dcterms:modified xsi:type="dcterms:W3CDTF">2021-11-22T06:18:35Z</dcterms:modified>
</cp:coreProperties>
</file>